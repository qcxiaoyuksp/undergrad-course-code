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14" r:id="rId2"/>
    <p:sldId id="415" r:id="rId3"/>
    <p:sldId id="478" r:id="rId4"/>
    <p:sldId id="479" r:id="rId5"/>
    <p:sldId id="480" r:id="rId6"/>
    <p:sldId id="481" r:id="rId7"/>
    <p:sldId id="482" r:id="rId8"/>
    <p:sldId id="483" r:id="rId9"/>
    <p:sldId id="484" r:id="rId10"/>
    <p:sldId id="485" r:id="rId11"/>
    <p:sldId id="486" r:id="rId12"/>
    <p:sldId id="487" r:id="rId13"/>
    <p:sldId id="488" r:id="rId14"/>
    <p:sldId id="501" r:id="rId15"/>
    <p:sldId id="489" r:id="rId16"/>
    <p:sldId id="490" r:id="rId17"/>
    <p:sldId id="491" r:id="rId18"/>
    <p:sldId id="492" r:id="rId19"/>
    <p:sldId id="493" r:id="rId20"/>
    <p:sldId id="494" r:id="rId21"/>
    <p:sldId id="495" r:id="rId22"/>
    <p:sldId id="496" r:id="rId23"/>
    <p:sldId id="497" r:id="rId24"/>
    <p:sldId id="502" r:id="rId25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FF66"/>
    <a:srgbClr val="0000FF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09A19D-79D2-406D-92BF-15877A8F85D2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A5989D-BF96-4EE7-B7AE-B2019B238184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79B4DB-AE68-49F0-95C7-C051D2CFDA14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09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09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6B5886-C01A-400C-A6BE-2984DBF02C4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29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BCD981-2FB6-497F-8BAF-89FAA1ED409F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50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50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75D5D6-008E-4EFC-AA21-53D973DEFCF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70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9B2EF8-C7F2-4207-BF65-EC0CB23F5BE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013B14-EDC8-4469-8E07-8756DBDDA3B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11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1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8D29D7-F352-417C-8570-50CE11338CC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32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32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B2D675-3C07-4D13-9195-1FA785DF335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094D3C-CAA6-4801-8A8C-2442BEE0035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7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73E4F0-8A25-44FC-873F-2FD573E93E1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24596D-C717-4BB0-A1C0-903ED44E1FB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49895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24596D-C717-4BB0-A1C0-903ED44E1FB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BF7180-E1C9-4C23-8B6E-23A99232859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34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3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EDBEB46-C880-4F89-90F3-825710A12C7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8A1ABA-3670-40EE-8208-FA99620BF51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557E66-5709-4480-9D49-A20E7600573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C1B774-DB0A-4DAE-AD16-B51EC1D8C52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9302E-7F99-4F15-B8BA-43D7D0B0982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40F506-B0C1-4D26-9562-110108A9114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57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5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9302E-7F99-4F15-B8BA-43D7D0B0982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88850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smtClean="0">
                <a:latin typeface="Arial" panose="020B0604020202020204" pitchFamily="34" charset="0"/>
                <a:ea typeface="黑体" panose="02010609060101010101" pitchFamily="49" charset="-122"/>
              </a:rPr>
              <a:t>2 </a:t>
            </a:r>
            <a:r>
              <a:rPr lang="zh-CN" altLang="en-US" smtClean="0">
                <a:latin typeface="Arial" panose="020B0604020202020204" pitchFamily="34" charset="0"/>
                <a:ea typeface="黑体" panose="02010609060101010101" pitchFamily="49" charset="-122"/>
              </a:rPr>
              <a:t>章  物理层</a:t>
            </a:r>
          </a:p>
        </p:txBody>
      </p:sp>
      <p:sp>
        <p:nvSpPr>
          <p:cNvPr id="26009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2.6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260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BC8859-CD4D-4045-9F26-3E2DC3AA7F97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2601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2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zh-CN" smtClean="0">
                <a:ea typeface="黑体" panose="02010609060101010101" pitchFamily="49" charset="-122"/>
              </a:rPr>
              <a:t>物理层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6214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2.6  </a:t>
            </a:r>
            <a:r>
              <a:rPr lang="zh-CN" altLang="zh-CN" dirty="0" smtClean="0">
                <a:ea typeface="黑体" panose="02010609060101010101" pitchFamily="49" charset="-122"/>
              </a:rPr>
              <a:t>宽带接入技术</a:t>
            </a: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6214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C94AF7-322E-45EC-A303-85DAE4FFD40F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26214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  </a:t>
            </a:r>
            <a:r>
              <a:rPr lang="zh-CN" altLang="zh-CN" smtClean="0">
                <a:ea typeface="黑体" panose="02010609060101010101" pitchFamily="49" charset="-122"/>
              </a:rPr>
              <a:t>宽带接入技术</a:t>
            </a:r>
          </a:p>
        </p:txBody>
      </p:sp>
      <p:sp>
        <p:nvSpPr>
          <p:cNvPr id="37785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2.6.1  ADSL </a:t>
            </a:r>
            <a:r>
              <a:rPr lang="zh-CN" altLang="zh-CN" smtClean="0">
                <a:ea typeface="黑体" panose="02010609060101010101" pitchFamily="49" charset="-122"/>
              </a:rPr>
              <a:t>技术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2.6.2  </a:t>
            </a:r>
            <a:r>
              <a:rPr lang="zh-CN" altLang="zh-CN" smtClean="0">
                <a:ea typeface="黑体" panose="02010609060101010101" pitchFamily="49" charset="-122"/>
              </a:rPr>
              <a:t>光纤同轴混合网（</a:t>
            </a:r>
            <a:r>
              <a:rPr lang="en-US" altLang="zh-CN" smtClean="0">
                <a:ea typeface="黑体" panose="02010609060101010101" pitchFamily="49" charset="-122"/>
              </a:rPr>
              <a:t>HFC</a:t>
            </a:r>
            <a:r>
              <a:rPr lang="zh-CN" altLang="zh-CN" smtClean="0">
                <a:ea typeface="黑体" panose="02010609060101010101" pitchFamily="49" charset="-122"/>
              </a:rPr>
              <a:t>网）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2.6.3  FTTx </a:t>
            </a:r>
            <a:r>
              <a:rPr lang="zh-CN" altLang="zh-CN" smtClean="0">
                <a:ea typeface="黑体" panose="02010609060101010101" pitchFamily="49" charset="-122"/>
              </a:rPr>
              <a:t>技术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3778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B22F63-87ED-4CC5-ABA2-ECB63AC2FC73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3778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  </a:t>
            </a:r>
            <a:r>
              <a:rPr lang="zh-CN" altLang="zh-CN" smtClean="0">
                <a:ea typeface="黑体" panose="02010609060101010101" pitchFamily="49" charset="-122"/>
              </a:rPr>
              <a:t>宽带接入技术</a:t>
            </a:r>
          </a:p>
        </p:txBody>
      </p:sp>
      <p:sp>
        <p:nvSpPr>
          <p:cNvPr id="3799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用户要连接到互联网，必须先连接到某个</a:t>
            </a:r>
            <a:r>
              <a:rPr lang="en-US" altLang="zh-CN" smtClean="0">
                <a:ea typeface="黑体" panose="02010609060101010101" pitchFamily="49" charset="-122"/>
              </a:rPr>
              <a:t> ISP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在互联网的发展初期，用户都是利用电话的用户线通过调制解调器连接到</a:t>
            </a:r>
            <a:r>
              <a:rPr lang="en-US" altLang="zh-CN" smtClean="0">
                <a:ea typeface="黑体" panose="02010609060101010101" pitchFamily="49" charset="-122"/>
              </a:rPr>
              <a:t> ISP </a:t>
            </a:r>
            <a:r>
              <a:rPr lang="zh-CN" altLang="zh-CN" smtClean="0">
                <a:ea typeface="黑体" panose="02010609060101010101" pitchFamily="49" charset="-122"/>
              </a:rPr>
              <a:t>的，</a:t>
            </a:r>
            <a:r>
              <a:rPr lang="zh-CN" altLang="en-US" smtClean="0">
                <a:ea typeface="黑体" panose="02010609060101010101" pitchFamily="49" charset="-122"/>
              </a:rPr>
              <a:t>电话</a:t>
            </a:r>
            <a:r>
              <a:rPr lang="zh-CN" altLang="zh-CN" smtClean="0">
                <a:ea typeface="黑体" panose="02010609060101010101" pitchFamily="49" charset="-122"/>
              </a:rPr>
              <a:t>用户线接入到互联网的速率最高只能达到</a:t>
            </a:r>
            <a:r>
              <a:rPr lang="en-US" altLang="zh-CN" smtClean="0">
                <a:ea typeface="黑体" panose="02010609060101010101" pitchFamily="49" charset="-122"/>
              </a:rPr>
              <a:t> 56 kbit/s</a:t>
            </a:r>
            <a:r>
              <a:rPr lang="zh-CN" altLang="zh-CN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美国联邦通信委员会</a:t>
            </a:r>
            <a:r>
              <a:rPr lang="en-US" altLang="zh-CN" smtClean="0">
                <a:ea typeface="黑体" panose="02010609060101010101" pitchFamily="49" charset="-122"/>
              </a:rPr>
              <a:t> FCC </a:t>
            </a:r>
            <a:r>
              <a:rPr lang="zh-CN" altLang="zh-CN" smtClean="0">
                <a:ea typeface="黑体" panose="02010609060101010101" pitchFamily="49" charset="-122"/>
              </a:rPr>
              <a:t>认为只要双向速率之和超过</a:t>
            </a:r>
            <a:r>
              <a:rPr lang="en-US" altLang="zh-CN" smtClean="0">
                <a:ea typeface="黑体" panose="02010609060101010101" pitchFamily="49" charset="-122"/>
              </a:rPr>
              <a:t> 200 kbit/s </a:t>
            </a:r>
            <a:r>
              <a:rPr lang="zh-CN" altLang="zh-CN" smtClean="0">
                <a:ea typeface="黑体" panose="02010609060101010101" pitchFamily="49" charset="-122"/>
              </a:rPr>
              <a:t>就是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宽带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3799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80479D-2735-4E08-BEBF-DBEEF3C16FA8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3799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  </a:t>
            </a:r>
            <a:r>
              <a:rPr lang="zh-CN" altLang="zh-CN" smtClean="0">
                <a:ea typeface="黑体" panose="02010609060101010101" pitchFamily="49" charset="-122"/>
              </a:rPr>
              <a:t>宽带接入技术</a:t>
            </a:r>
          </a:p>
        </p:txBody>
      </p:sp>
      <p:sp>
        <p:nvSpPr>
          <p:cNvPr id="3819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从宽带接入的媒体来看，可以划分为两大类</a:t>
            </a:r>
            <a:r>
              <a:rPr lang="zh-CN" altLang="en-US" smtClean="0">
                <a:ea typeface="黑体" panose="02010609060101010101" pitchFamily="49" charset="-122"/>
              </a:rPr>
              <a:t>：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有线宽带接入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无线宽带接入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下面讨论有线的宽带接入。</a:t>
            </a:r>
          </a:p>
        </p:txBody>
      </p:sp>
      <p:sp>
        <p:nvSpPr>
          <p:cNvPr id="3819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7973E5-1E02-42F9-889E-105FD2D499EF}" type="slidenum">
              <a:rPr lang="zh-CN" altLang="en-US" smtClean="0"/>
              <a:pPr eaLnBrk="1" hangingPunct="1"/>
              <a:t>5</a:t>
            </a:fld>
            <a:endParaRPr lang="en-US" altLang="zh-CN" smtClean="0"/>
          </a:p>
        </p:txBody>
      </p:sp>
      <p:sp>
        <p:nvSpPr>
          <p:cNvPr id="3819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2.6.1  ADSL </a:t>
            </a:r>
            <a:r>
              <a:rPr lang="zh-CN" altLang="en-US" smtClean="0">
                <a:ea typeface="黑体" panose="02010609060101010101" pitchFamily="49" charset="-122"/>
              </a:rPr>
              <a:t>技术</a:t>
            </a:r>
          </a:p>
        </p:txBody>
      </p:sp>
      <p:sp>
        <p:nvSpPr>
          <p:cNvPr id="3840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【</a:t>
            </a:r>
            <a:r>
              <a:rPr lang="zh-CN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非对称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】</a:t>
            </a:r>
            <a:r>
              <a:rPr lang="zh-CN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数字用户线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ADSL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(Asymmetric Digital Subscriber Line) </a:t>
            </a:r>
            <a:r>
              <a:rPr lang="zh-CN" altLang="en-US" sz="2800" dirty="0" smtClean="0">
                <a:ea typeface="黑体" panose="02010609060101010101" pitchFamily="49" charset="-122"/>
              </a:rPr>
              <a:t>技术就是用数字技术对现有的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模拟电话用户线</a:t>
            </a:r>
            <a:r>
              <a:rPr lang="zh-CN" altLang="en-US" sz="2800" dirty="0" smtClean="0">
                <a:ea typeface="黑体" panose="02010609060101010101" pitchFamily="49" charset="-122"/>
              </a:rPr>
              <a:t>进行改造，使它能够承载宽带业务。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标准模拟电话信号的频带被限制在 </a:t>
            </a:r>
            <a:r>
              <a:rPr lang="en-US" altLang="zh-CN" sz="2800" dirty="0" smtClean="0">
                <a:ea typeface="黑体" panose="02010609060101010101" pitchFamily="49" charset="-122"/>
              </a:rPr>
              <a:t>300~3400 Hz </a:t>
            </a:r>
            <a:r>
              <a:rPr lang="zh-CN" altLang="en-US" sz="2800" dirty="0" smtClean="0">
                <a:ea typeface="黑体" panose="02010609060101010101" pitchFamily="49" charset="-122"/>
              </a:rPr>
              <a:t>的范围内，但用户线本身实际可通过的信号频率仍然超过 </a:t>
            </a:r>
            <a:r>
              <a:rPr lang="en-US" altLang="zh-CN" sz="2800" dirty="0" smtClean="0">
                <a:ea typeface="黑体" panose="02010609060101010101" pitchFamily="49" charset="-122"/>
              </a:rPr>
              <a:t>1 MHz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en-US" sz="2800" dirty="0" smtClean="0">
                <a:ea typeface="黑体" panose="02010609060101010101" pitchFamily="49" charset="-122"/>
              </a:rPr>
              <a:t>技术就把 </a:t>
            </a:r>
            <a:r>
              <a:rPr lang="en-US" altLang="zh-CN" sz="2800" dirty="0" smtClean="0">
                <a:ea typeface="黑体" panose="02010609060101010101" pitchFamily="49" charset="-122"/>
              </a:rPr>
              <a:t>0~4 kHz </a:t>
            </a:r>
            <a:r>
              <a:rPr lang="zh-CN" altLang="en-US" sz="2800" dirty="0" smtClean="0">
                <a:ea typeface="黑体" panose="02010609060101010101" pitchFamily="49" charset="-122"/>
              </a:rPr>
              <a:t>低端频谱留给传统电话使用，而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把原来没有被利用的高端频谱留给用户上网使用。</a:t>
            </a:r>
          </a:p>
          <a:p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DSL </a:t>
            </a:r>
            <a:r>
              <a:rPr lang="zh-CN" altLang="en-US" sz="2800" dirty="0" smtClean="0">
                <a:ea typeface="黑体" panose="02010609060101010101" pitchFamily="49" charset="-122"/>
              </a:rPr>
              <a:t>就是</a:t>
            </a: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数字用户线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(Digital Subscriber Line) </a:t>
            </a:r>
            <a:r>
              <a:rPr lang="zh-CN" altLang="en-US" sz="2800" dirty="0" smtClean="0">
                <a:ea typeface="黑体" panose="02010609060101010101" pitchFamily="49" charset="-122"/>
              </a:rPr>
              <a:t>的缩写。</a:t>
            </a:r>
          </a:p>
        </p:txBody>
      </p:sp>
      <p:sp>
        <p:nvSpPr>
          <p:cNvPr id="3840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6CC6C6-41A1-4D69-AA40-DE7F38CF21EC}" type="slidenum">
              <a:rPr lang="zh-CN" altLang="en-US" smtClean="0"/>
              <a:pPr eaLnBrk="1" hangingPunct="1"/>
              <a:t>6</a:t>
            </a:fld>
            <a:endParaRPr lang="en-US" altLang="zh-CN" smtClean="0"/>
          </a:p>
        </p:txBody>
      </p:sp>
      <p:sp>
        <p:nvSpPr>
          <p:cNvPr id="3840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DSL </a:t>
            </a:r>
            <a:r>
              <a:rPr lang="zh-CN" altLang="en-US" smtClean="0">
                <a:ea typeface="黑体" panose="02010609060101010101" pitchFamily="49" charset="-122"/>
              </a:rPr>
              <a:t>的几种类型 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ADSL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(Asymmetric Digital Subscriber Line)</a:t>
            </a:r>
            <a:r>
              <a:rPr lang="zh-CN" altLang="en-US" sz="2800" dirty="0" smtClean="0">
                <a:ea typeface="黑体" panose="02010609060101010101" pitchFamily="49" charset="-122"/>
              </a:rPr>
              <a:t>：非对称数字用户线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HDSL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(High speed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：高速数字用户线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SDSL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(Single-line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en-US" altLang="zh-CN" sz="2800" dirty="0" smtClean="0">
                <a:ea typeface="黑体" panose="02010609060101010101" pitchFamily="49" charset="-122"/>
              </a:rPr>
              <a:t>1 </a:t>
            </a:r>
            <a:r>
              <a:rPr lang="zh-CN" altLang="en-US" sz="2800" dirty="0" smtClean="0">
                <a:ea typeface="黑体" panose="02010609060101010101" pitchFamily="49" charset="-122"/>
              </a:rPr>
              <a:t>对线的数字用户线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VDSL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(Very high speed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：甚高速数字用户线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(Digital Subscriber Line) </a:t>
            </a:r>
            <a:r>
              <a:rPr lang="zh-CN" altLang="en-US" sz="2800" dirty="0" smtClean="0">
                <a:ea typeface="黑体" panose="02010609060101010101" pitchFamily="49" charset="-122"/>
              </a:rPr>
              <a:t>：数字用户线。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RADSL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(Rate-Adaptive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：速率自适应 </a:t>
            </a:r>
            <a:r>
              <a:rPr lang="en-US" altLang="zh-CN" sz="2800" dirty="0" smtClean="0">
                <a:ea typeface="黑体" panose="02010609060101010101" pitchFamily="49" charset="-122"/>
              </a:rPr>
              <a:t>DSL</a:t>
            </a:r>
            <a:r>
              <a:rPr lang="zh-CN" altLang="en-US" sz="2800" dirty="0" smtClean="0">
                <a:ea typeface="黑体" panose="02010609060101010101" pitchFamily="49" charset="-122"/>
              </a:rPr>
              <a:t>，是 </a:t>
            </a:r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en-US" sz="2800" dirty="0" smtClean="0">
                <a:ea typeface="黑体" panose="02010609060101010101" pitchFamily="49" charset="-122"/>
              </a:rPr>
              <a:t>的一个子集，可自动调节线路速率）。 </a:t>
            </a:r>
          </a:p>
        </p:txBody>
      </p:sp>
      <p:sp>
        <p:nvSpPr>
          <p:cNvPr id="3860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9F01D8-F501-476A-B457-3B82AD3A1430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3860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4000" smtClean="0">
                <a:ea typeface="黑体" panose="02010609060101010101" pitchFamily="49" charset="-122"/>
              </a:rPr>
              <a:t>ADSL </a:t>
            </a:r>
            <a:r>
              <a:rPr lang="zh-CN" altLang="en-US" sz="4000" smtClean="0">
                <a:ea typeface="黑体" panose="02010609060101010101" pitchFamily="49" charset="-122"/>
              </a:rPr>
              <a:t>的传输距离</a:t>
            </a:r>
          </a:p>
        </p:txBody>
      </p:sp>
      <p:sp>
        <p:nvSpPr>
          <p:cNvPr id="38809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zh-CN" sz="2800" dirty="0" smtClean="0">
                <a:ea typeface="黑体" panose="02010609060101010101" pitchFamily="49" charset="-122"/>
              </a:rPr>
              <a:t>的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传输距离</a:t>
            </a:r>
            <a:r>
              <a:rPr lang="zh-CN" altLang="zh-CN" sz="2800" dirty="0" smtClean="0">
                <a:ea typeface="黑体" panose="02010609060101010101" pitchFamily="49" charset="-122"/>
              </a:rPr>
              <a:t>取决于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数据率</a:t>
            </a:r>
            <a:r>
              <a:rPr lang="zh-CN" altLang="zh-CN" sz="2800" dirty="0" smtClean="0">
                <a:ea typeface="黑体" panose="02010609060101010101" pitchFamily="49" charset="-122"/>
              </a:rPr>
              <a:t>和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用户线的线径</a:t>
            </a:r>
            <a:r>
              <a:rPr lang="zh-CN" altLang="zh-CN" sz="2800" dirty="0" smtClean="0">
                <a:ea typeface="黑体" panose="02010609060101010101" pitchFamily="49" charset="-122"/>
              </a:rPr>
              <a:t>（用户线越细，信号传输时的衰减就越大）。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zh-CN" sz="2800" dirty="0" smtClean="0">
                <a:ea typeface="黑体" panose="02010609060101010101" pitchFamily="49" charset="-122"/>
              </a:rPr>
              <a:t>所能得到的最高数据传输速率与实际的用户线上的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信噪比</a:t>
            </a:r>
            <a:r>
              <a:rPr lang="zh-CN" altLang="zh-CN" sz="2800" dirty="0" smtClean="0">
                <a:ea typeface="黑体" panose="02010609060101010101" pitchFamily="49" charset="-122"/>
              </a:rPr>
              <a:t>密切相关。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例如：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400" dirty="0" smtClean="0">
                <a:ea typeface="黑体" panose="02010609060101010101" pitchFamily="49" charset="-122"/>
              </a:rPr>
              <a:t>0.5 </a:t>
            </a:r>
            <a:r>
              <a:rPr lang="zh-CN" altLang="en-US" sz="2400" dirty="0" smtClean="0">
                <a:ea typeface="黑体" panose="02010609060101010101" pitchFamily="49" charset="-122"/>
              </a:rPr>
              <a:t>毫米线径的用户线，传输速率为 </a:t>
            </a:r>
            <a:r>
              <a:rPr lang="en-US" altLang="zh-CN" sz="2400" dirty="0" smtClean="0">
                <a:ea typeface="黑体" panose="02010609060101010101" pitchFamily="49" charset="-122"/>
              </a:rPr>
              <a:t>1.5 ~ 2.0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时可传送 </a:t>
            </a:r>
            <a:r>
              <a:rPr lang="en-US" altLang="zh-CN" sz="2400" dirty="0" smtClean="0">
                <a:ea typeface="黑体" panose="02010609060101010101" pitchFamily="49" charset="-122"/>
              </a:rPr>
              <a:t>5.5 </a:t>
            </a:r>
            <a:r>
              <a:rPr lang="zh-CN" altLang="en-US" sz="2400" dirty="0" smtClean="0">
                <a:ea typeface="黑体" panose="02010609060101010101" pitchFamily="49" charset="-122"/>
              </a:rPr>
              <a:t>公里，但当传输速率提高到 </a:t>
            </a:r>
            <a:r>
              <a:rPr lang="en-US" altLang="zh-CN" sz="2400" dirty="0" smtClean="0">
                <a:ea typeface="黑体" panose="02010609060101010101" pitchFamily="49" charset="-122"/>
              </a:rPr>
              <a:t>6.1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时，传输距离就缩短为 </a:t>
            </a:r>
            <a:r>
              <a:rPr lang="en-US" altLang="zh-CN" sz="2400" dirty="0" smtClean="0">
                <a:ea typeface="黑体" panose="02010609060101010101" pitchFamily="49" charset="-122"/>
              </a:rPr>
              <a:t>3.7 </a:t>
            </a:r>
            <a:r>
              <a:rPr lang="zh-CN" altLang="en-US" sz="2400" dirty="0" smtClean="0">
                <a:ea typeface="黑体" panose="02010609060101010101" pitchFamily="49" charset="-122"/>
              </a:rPr>
              <a:t>公里。</a:t>
            </a: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如果把用户线的线径减小到 </a:t>
            </a:r>
            <a:r>
              <a:rPr lang="en-US" altLang="zh-CN" sz="2400" dirty="0" smtClean="0">
                <a:ea typeface="黑体" panose="02010609060101010101" pitchFamily="49" charset="-122"/>
              </a:rPr>
              <a:t>0.4 </a:t>
            </a:r>
            <a:r>
              <a:rPr lang="zh-CN" altLang="en-US" sz="2400" dirty="0" smtClean="0">
                <a:ea typeface="黑体" panose="02010609060101010101" pitchFamily="49" charset="-122"/>
              </a:rPr>
              <a:t>毫米，那么在 </a:t>
            </a:r>
            <a:r>
              <a:rPr lang="en-US" altLang="zh-CN" sz="2400" dirty="0" smtClean="0">
                <a:ea typeface="黑体" panose="02010609060101010101" pitchFamily="49" charset="-122"/>
              </a:rPr>
              <a:t>6.1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的传输速率下就只能传送 </a:t>
            </a:r>
            <a:r>
              <a:rPr lang="en-US" altLang="zh-CN" sz="2400" dirty="0" smtClean="0">
                <a:ea typeface="黑体" panose="02010609060101010101" pitchFamily="49" charset="-122"/>
              </a:rPr>
              <a:t>2.7 </a:t>
            </a:r>
            <a:r>
              <a:rPr lang="zh-CN" altLang="en-US" sz="2400" dirty="0" smtClean="0">
                <a:ea typeface="黑体" panose="02010609060101010101" pitchFamily="49" charset="-122"/>
              </a:rPr>
              <a:t>公里。</a:t>
            </a:r>
          </a:p>
        </p:txBody>
      </p:sp>
      <p:sp>
        <p:nvSpPr>
          <p:cNvPr id="388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CF472B-387B-4056-BD8A-FECE9B1E90AC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3881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ADSL </a:t>
            </a:r>
            <a:r>
              <a:rPr lang="zh-CN" altLang="en-US" dirty="0" smtClean="0">
                <a:ea typeface="黑体" panose="02010609060101010101" pitchFamily="49" charset="-122"/>
              </a:rPr>
              <a:t>的特点</a:t>
            </a:r>
          </a:p>
        </p:txBody>
      </p:sp>
      <p:sp>
        <p:nvSpPr>
          <p:cNvPr id="39014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上行和下行带宽做成不对称的。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上行指从用户到 </a:t>
            </a:r>
            <a:r>
              <a:rPr lang="en-US" altLang="zh-CN" dirty="0" smtClean="0">
                <a:ea typeface="黑体" panose="02010609060101010101" pitchFamily="49" charset="-122"/>
              </a:rPr>
              <a:t>ISP</a:t>
            </a:r>
            <a:r>
              <a:rPr lang="zh-CN" altLang="en-US" dirty="0" smtClean="0">
                <a:ea typeface="黑体" panose="02010609060101010101" pitchFamily="49" charset="-122"/>
              </a:rPr>
              <a:t>，而下行指从 </a:t>
            </a:r>
            <a:r>
              <a:rPr lang="en-US" altLang="zh-CN" dirty="0" smtClean="0">
                <a:ea typeface="黑体" panose="02010609060101010101" pitchFamily="49" charset="-122"/>
              </a:rPr>
              <a:t>ISP </a:t>
            </a:r>
            <a:r>
              <a:rPr lang="zh-CN" altLang="en-US" dirty="0" smtClean="0">
                <a:ea typeface="黑体" panose="02010609060101010101" pitchFamily="49" charset="-122"/>
              </a:rPr>
              <a:t>到用户。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ADSL </a:t>
            </a:r>
            <a:r>
              <a:rPr lang="zh-CN" altLang="en-US" dirty="0" smtClean="0">
                <a:ea typeface="黑体" panose="02010609060101010101" pitchFamily="49" charset="-122"/>
              </a:rPr>
              <a:t>在用户线（铜线）的两端各安装一个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调制解调器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我国目前采用的方案是</a:t>
            </a:r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离散多音调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DMT </a:t>
            </a:r>
            <a:r>
              <a:rPr lang="en-US" altLang="zh-CN" u="sng" dirty="0" smtClean="0">
                <a:ea typeface="黑体" panose="02010609060101010101" pitchFamily="49" charset="-122"/>
              </a:rPr>
              <a:t>(Discrete Multi-Tone)</a:t>
            </a:r>
            <a:r>
              <a:rPr lang="zh-CN" altLang="en-US" dirty="0" smtClean="0">
                <a:ea typeface="黑体" panose="02010609060101010101" pitchFamily="49" charset="-122"/>
              </a:rPr>
              <a:t>调制技术。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这里的“多音调”就是“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多载波</a:t>
            </a:r>
            <a:r>
              <a:rPr lang="zh-CN" altLang="en-US" dirty="0" smtClean="0">
                <a:ea typeface="黑体" panose="02010609060101010101" pitchFamily="49" charset="-122"/>
              </a:rPr>
              <a:t>”或“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多子信道</a:t>
            </a:r>
            <a:r>
              <a:rPr lang="zh-CN" altLang="en-US" dirty="0" smtClean="0">
                <a:ea typeface="黑体" panose="02010609060101010101" pitchFamily="49" charset="-122"/>
              </a:rPr>
              <a:t>”的意思。</a:t>
            </a:r>
          </a:p>
        </p:txBody>
      </p:sp>
      <p:sp>
        <p:nvSpPr>
          <p:cNvPr id="39014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E10B19-5F7A-4F57-A840-D6EFE6896C3F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39014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DMT </a:t>
            </a:r>
            <a:r>
              <a:rPr lang="zh-CN" altLang="en-US" smtClean="0">
                <a:ea typeface="黑体" panose="02010609060101010101" pitchFamily="49" charset="-122"/>
              </a:rPr>
              <a:t>技术</a:t>
            </a:r>
          </a:p>
        </p:txBody>
      </p:sp>
      <p:sp>
        <p:nvSpPr>
          <p:cNvPr id="3921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DMT </a:t>
            </a:r>
            <a:r>
              <a:rPr lang="zh-CN" altLang="en-US" dirty="0" smtClean="0">
                <a:ea typeface="黑体" panose="02010609060101010101" pitchFamily="49" charset="-122"/>
              </a:rPr>
              <a:t>调制技术采用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频分复用</a:t>
            </a:r>
            <a:r>
              <a:rPr lang="zh-CN" altLang="en-US" dirty="0" smtClean="0">
                <a:ea typeface="黑体" panose="02010609060101010101" pitchFamily="49" charset="-122"/>
              </a:rPr>
              <a:t>的方法，把 </a:t>
            </a:r>
            <a:r>
              <a:rPr lang="en-US" altLang="zh-CN" dirty="0" smtClean="0">
                <a:ea typeface="黑体" panose="02010609060101010101" pitchFamily="49" charset="-122"/>
              </a:rPr>
              <a:t>40 kHz </a:t>
            </a:r>
            <a:r>
              <a:rPr lang="zh-CN" altLang="en-US" dirty="0" smtClean="0">
                <a:ea typeface="黑体" panose="02010609060101010101" pitchFamily="49" charset="-122"/>
              </a:rPr>
              <a:t>以上一直到 </a:t>
            </a:r>
            <a:r>
              <a:rPr lang="en-US" altLang="zh-CN" dirty="0" smtClean="0">
                <a:ea typeface="黑体" panose="02010609060101010101" pitchFamily="49" charset="-122"/>
              </a:rPr>
              <a:t>1.1 MHz </a:t>
            </a:r>
            <a:r>
              <a:rPr lang="zh-CN" altLang="en-US" dirty="0" smtClean="0">
                <a:ea typeface="黑体" panose="02010609060101010101" pitchFamily="49" charset="-122"/>
              </a:rPr>
              <a:t>的高端频谱划分为许多的子信道，其中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25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个子信道用于上行信道，而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249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个子信道用于下行信道。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每个子信道占据 </a:t>
            </a:r>
            <a:r>
              <a:rPr lang="en-US" altLang="zh-CN" dirty="0" smtClean="0">
                <a:ea typeface="黑体" panose="02010609060101010101" pitchFamily="49" charset="-122"/>
              </a:rPr>
              <a:t>4 kHz </a:t>
            </a:r>
            <a:r>
              <a:rPr lang="zh-CN" altLang="en-US" dirty="0" smtClean="0">
                <a:ea typeface="黑体" panose="02010609060101010101" pitchFamily="49" charset="-122"/>
              </a:rPr>
              <a:t>带宽（严格讲是 </a:t>
            </a:r>
            <a:r>
              <a:rPr lang="en-US" altLang="zh-CN" dirty="0" smtClean="0">
                <a:ea typeface="黑体" panose="02010609060101010101" pitchFamily="49" charset="-122"/>
              </a:rPr>
              <a:t>4.3125 kHz</a:t>
            </a:r>
            <a:r>
              <a:rPr lang="zh-CN" altLang="en-US" dirty="0" smtClean="0">
                <a:ea typeface="黑体" panose="02010609060101010101" pitchFamily="49" charset="-122"/>
              </a:rPr>
              <a:t>），并使用不同的载波（即不同的音调）进行数字调制。这种做法相当于在一对用户线上使用许多小的调制解调器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并行地</a:t>
            </a:r>
            <a:r>
              <a:rPr lang="zh-CN" altLang="en-US" dirty="0" smtClean="0">
                <a:ea typeface="黑体" panose="02010609060101010101" pitchFamily="49" charset="-122"/>
              </a:rPr>
              <a:t>传送数据。</a:t>
            </a:r>
          </a:p>
          <a:p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sp>
        <p:nvSpPr>
          <p:cNvPr id="3921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32B767-9F44-4D85-B727-A6EC290ADE5A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3921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DMT </a:t>
            </a:r>
            <a:r>
              <a:rPr lang="zh-CN" altLang="en-US" smtClean="0">
                <a:ea typeface="黑体" panose="02010609060101010101" pitchFamily="49" charset="-122"/>
              </a:rPr>
              <a:t>技术的频谱分布 </a:t>
            </a:r>
          </a:p>
        </p:txBody>
      </p:sp>
      <p:grpSp>
        <p:nvGrpSpPr>
          <p:cNvPr id="394242" name="组合 3"/>
          <p:cNvGrpSpPr>
            <a:grpSpLocks/>
          </p:cNvGrpSpPr>
          <p:nvPr/>
        </p:nvGrpSpPr>
        <p:grpSpPr bwMode="auto">
          <a:xfrm>
            <a:off x="560388" y="1412875"/>
            <a:ext cx="8786812" cy="4140200"/>
            <a:chOff x="560512" y="1412776"/>
            <a:chExt cx="8786950" cy="4139959"/>
          </a:xfrm>
        </p:grpSpPr>
        <p:sp>
          <p:nvSpPr>
            <p:cNvPr id="394243" name="Rectangle 194"/>
            <p:cNvSpPr>
              <a:spLocks noChangeArrowheads="1"/>
            </p:cNvSpPr>
            <p:nvPr/>
          </p:nvSpPr>
          <p:spPr bwMode="auto">
            <a:xfrm>
              <a:off x="3010212" y="2882916"/>
              <a:ext cx="1412889" cy="189312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4" name="Line 196"/>
            <p:cNvSpPr>
              <a:spLocks noChangeShapeType="1"/>
            </p:cNvSpPr>
            <p:nvPr/>
          </p:nvSpPr>
          <p:spPr bwMode="auto">
            <a:xfrm>
              <a:off x="3010212" y="1687222"/>
              <a:ext cx="4805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5" name="Rectangle 194"/>
            <p:cNvSpPr>
              <a:spLocks noChangeArrowheads="1"/>
            </p:cNvSpPr>
            <p:nvPr/>
          </p:nvSpPr>
          <p:spPr bwMode="auto">
            <a:xfrm>
              <a:off x="4423102" y="2880861"/>
              <a:ext cx="3469890" cy="1893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6" name="Text Box 80"/>
            <p:cNvSpPr txBox="1">
              <a:spLocks noChangeArrowheads="1"/>
            </p:cNvSpPr>
            <p:nvPr/>
          </p:nvSpPr>
          <p:spPr bwMode="auto">
            <a:xfrm>
              <a:off x="3444469" y="318340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394247" name="Text Box 83"/>
            <p:cNvSpPr txBox="1">
              <a:spLocks noChangeArrowheads="1"/>
            </p:cNvSpPr>
            <p:nvPr/>
          </p:nvSpPr>
          <p:spPr bwMode="auto">
            <a:xfrm>
              <a:off x="560512" y="2102257"/>
              <a:ext cx="803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频谱</a:t>
              </a:r>
            </a:p>
          </p:txBody>
        </p:sp>
        <p:sp>
          <p:nvSpPr>
            <p:cNvPr id="394248" name="Line 84"/>
            <p:cNvSpPr>
              <a:spLocks noChangeShapeType="1"/>
            </p:cNvSpPr>
            <p:nvPr/>
          </p:nvSpPr>
          <p:spPr bwMode="auto">
            <a:xfrm rot="-5400000">
              <a:off x="246" y="3489284"/>
              <a:ext cx="265392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9" name="Text Box 85"/>
            <p:cNvSpPr txBox="1">
              <a:spLocks noChangeArrowheads="1"/>
            </p:cNvSpPr>
            <p:nvPr/>
          </p:nvSpPr>
          <p:spPr bwMode="auto">
            <a:xfrm>
              <a:off x="8409385" y="4767535"/>
              <a:ext cx="803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频率</a:t>
              </a:r>
            </a:p>
          </p:txBody>
        </p:sp>
        <p:sp>
          <p:nvSpPr>
            <p:cNvPr id="394250" name="Text Box 86"/>
            <p:cNvSpPr txBox="1">
              <a:spLocks noChangeArrowheads="1"/>
            </p:cNvSpPr>
            <p:nvPr/>
          </p:nvSpPr>
          <p:spPr bwMode="auto">
            <a:xfrm>
              <a:off x="4054454" y="1412776"/>
              <a:ext cx="3058786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ADSL </a:t>
              </a:r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的数字业务</a:t>
              </a:r>
            </a:p>
          </p:txBody>
        </p:sp>
        <p:sp>
          <p:nvSpPr>
            <p:cNvPr id="394251" name="Freeform 87"/>
            <p:cNvSpPr>
              <a:spLocks noChangeArrowheads="1"/>
            </p:cNvSpPr>
            <p:nvPr/>
          </p:nvSpPr>
          <p:spPr bwMode="auto">
            <a:xfrm>
              <a:off x="1327212" y="2845267"/>
              <a:ext cx="363612" cy="194428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2" name="Text Box 89"/>
            <p:cNvSpPr txBox="1">
              <a:spLocks noChangeArrowheads="1"/>
            </p:cNvSpPr>
            <p:nvPr/>
          </p:nvSpPr>
          <p:spPr bwMode="auto">
            <a:xfrm>
              <a:off x="2966089" y="1988840"/>
              <a:ext cx="14221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上行信道</a:t>
              </a:r>
            </a:p>
          </p:txBody>
        </p:sp>
        <p:sp>
          <p:nvSpPr>
            <p:cNvPr id="394253" name="Text Box 90"/>
            <p:cNvSpPr txBox="1">
              <a:spLocks noChangeArrowheads="1"/>
            </p:cNvSpPr>
            <p:nvPr/>
          </p:nvSpPr>
          <p:spPr bwMode="auto">
            <a:xfrm>
              <a:off x="1442583" y="2247255"/>
              <a:ext cx="14221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传统电话</a:t>
              </a:r>
            </a:p>
          </p:txBody>
        </p:sp>
        <p:sp>
          <p:nvSpPr>
            <p:cNvPr id="394254" name="Line 91"/>
            <p:cNvSpPr>
              <a:spLocks noChangeShapeType="1"/>
            </p:cNvSpPr>
            <p:nvPr/>
          </p:nvSpPr>
          <p:spPr bwMode="auto">
            <a:xfrm flipH="1">
              <a:off x="1562001" y="2693996"/>
              <a:ext cx="384388" cy="4426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5" name="Line 92"/>
            <p:cNvSpPr>
              <a:spLocks noChangeShapeType="1"/>
            </p:cNvSpPr>
            <p:nvPr/>
          </p:nvSpPr>
          <p:spPr bwMode="auto">
            <a:xfrm flipV="1">
              <a:off x="1327211" y="4796227"/>
              <a:ext cx="7551211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6" name="Text Box 93"/>
            <p:cNvSpPr txBox="1">
              <a:spLocks noChangeArrowheads="1"/>
            </p:cNvSpPr>
            <p:nvPr/>
          </p:nvSpPr>
          <p:spPr bwMode="auto">
            <a:xfrm>
              <a:off x="1030090" y="480290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394257" name="Text Box 94"/>
            <p:cNvSpPr txBox="1">
              <a:spLocks noChangeArrowheads="1"/>
            </p:cNvSpPr>
            <p:nvPr/>
          </p:nvSpPr>
          <p:spPr bwMode="auto">
            <a:xfrm>
              <a:off x="1505901" y="480290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394258" name="AutoShape 110"/>
            <p:cNvSpPr>
              <a:spLocks/>
            </p:cNvSpPr>
            <p:nvPr/>
          </p:nvSpPr>
          <p:spPr bwMode="auto">
            <a:xfrm rot="5400000" flipV="1">
              <a:off x="3518635" y="1969961"/>
              <a:ext cx="302543" cy="1319390"/>
            </a:xfrm>
            <a:prstGeom prst="leftBrace">
              <a:avLst>
                <a:gd name="adj1" fmla="val 3890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9" name="AutoShape 113"/>
            <p:cNvSpPr>
              <a:spLocks/>
            </p:cNvSpPr>
            <p:nvPr/>
          </p:nvSpPr>
          <p:spPr bwMode="auto">
            <a:xfrm rot="5400000" flipV="1">
              <a:off x="6017163" y="979900"/>
              <a:ext cx="302543" cy="3299512"/>
            </a:xfrm>
            <a:prstGeom prst="leftBrace">
              <a:avLst>
                <a:gd name="adj1" fmla="val 97295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0" name="Text Box 114"/>
            <p:cNvSpPr txBox="1">
              <a:spLocks noChangeArrowheads="1"/>
            </p:cNvSpPr>
            <p:nvPr/>
          </p:nvSpPr>
          <p:spPr bwMode="auto">
            <a:xfrm>
              <a:off x="5457056" y="1988840"/>
              <a:ext cx="14221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下行信道</a:t>
              </a:r>
            </a:p>
          </p:txBody>
        </p:sp>
        <p:sp>
          <p:nvSpPr>
            <p:cNvPr id="394261" name="Text Box 143"/>
            <p:cNvSpPr txBox="1">
              <a:spLocks noChangeArrowheads="1"/>
            </p:cNvSpPr>
            <p:nvPr/>
          </p:nvSpPr>
          <p:spPr bwMode="auto">
            <a:xfrm>
              <a:off x="5896247" y="318340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394262" name="Freeform 168"/>
            <p:cNvSpPr>
              <a:spLocks noChangeArrowheads="1"/>
            </p:cNvSpPr>
            <p:nvPr/>
          </p:nvSpPr>
          <p:spPr bwMode="auto">
            <a:xfrm>
              <a:off x="7627036" y="2878636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3" name="Freeform 169"/>
            <p:cNvSpPr>
              <a:spLocks noChangeArrowheads="1"/>
            </p:cNvSpPr>
            <p:nvPr/>
          </p:nvSpPr>
          <p:spPr bwMode="auto">
            <a:xfrm>
              <a:off x="7440036" y="2880861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4" name="Freeform 170"/>
            <p:cNvSpPr>
              <a:spLocks noChangeArrowheads="1"/>
            </p:cNvSpPr>
            <p:nvPr/>
          </p:nvSpPr>
          <p:spPr bwMode="auto">
            <a:xfrm>
              <a:off x="7253036" y="2883085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5" name="Freeform 171"/>
            <p:cNvSpPr>
              <a:spLocks noChangeArrowheads="1"/>
            </p:cNvSpPr>
            <p:nvPr/>
          </p:nvSpPr>
          <p:spPr bwMode="auto">
            <a:xfrm>
              <a:off x="7066036" y="2885310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6" name="Freeform 172"/>
            <p:cNvSpPr>
              <a:spLocks noChangeArrowheads="1"/>
            </p:cNvSpPr>
            <p:nvPr/>
          </p:nvSpPr>
          <p:spPr bwMode="auto">
            <a:xfrm>
              <a:off x="6879036" y="2887534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7" name="Freeform 173"/>
            <p:cNvSpPr>
              <a:spLocks noChangeArrowheads="1"/>
            </p:cNvSpPr>
            <p:nvPr/>
          </p:nvSpPr>
          <p:spPr bwMode="auto">
            <a:xfrm>
              <a:off x="6692036" y="2889759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8" name="Freeform 174"/>
            <p:cNvSpPr>
              <a:spLocks noChangeArrowheads="1"/>
            </p:cNvSpPr>
            <p:nvPr/>
          </p:nvSpPr>
          <p:spPr bwMode="auto">
            <a:xfrm>
              <a:off x="6505036" y="2891983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9" name="Freeform 175"/>
            <p:cNvSpPr>
              <a:spLocks noChangeArrowheads="1"/>
            </p:cNvSpPr>
            <p:nvPr/>
          </p:nvSpPr>
          <p:spPr bwMode="auto">
            <a:xfrm>
              <a:off x="6318036" y="2894208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0" name="Freeform 176"/>
            <p:cNvSpPr>
              <a:spLocks noChangeArrowheads="1"/>
            </p:cNvSpPr>
            <p:nvPr/>
          </p:nvSpPr>
          <p:spPr bwMode="auto">
            <a:xfrm>
              <a:off x="5648991" y="2880861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1" name="Freeform 177"/>
            <p:cNvSpPr>
              <a:spLocks noChangeArrowheads="1"/>
            </p:cNvSpPr>
            <p:nvPr/>
          </p:nvSpPr>
          <p:spPr bwMode="auto">
            <a:xfrm>
              <a:off x="5466147" y="2883085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2" name="Freeform 178"/>
            <p:cNvSpPr>
              <a:spLocks noChangeArrowheads="1"/>
            </p:cNvSpPr>
            <p:nvPr/>
          </p:nvSpPr>
          <p:spPr bwMode="auto">
            <a:xfrm>
              <a:off x="5283302" y="2885310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3" name="Freeform 179"/>
            <p:cNvSpPr>
              <a:spLocks noChangeArrowheads="1"/>
            </p:cNvSpPr>
            <p:nvPr/>
          </p:nvSpPr>
          <p:spPr bwMode="auto">
            <a:xfrm>
              <a:off x="5100458" y="2887534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4" name="Freeform 180"/>
            <p:cNvSpPr>
              <a:spLocks noChangeArrowheads="1"/>
            </p:cNvSpPr>
            <p:nvPr/>
          </p:nvSpPr>
          <p:spPr bwMode="auto">
            <a:xfrm>
              <a:off x="4917613" y="2889759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5" name="Freeform 181"/>
            <p:cNvSpPr>
              <a:spLocks noChangeArrowheads="1"/>
            </p:cNvSpPr>
            <p:nvPr/>
          </p:nvSpPr>
          <p:spPr bwMode="auto">
            <a:xfrm>
              <a:off x="4734769" y="2891983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6" name="Freeform 182"/>
            <p:cNvSpPr>
              <a:spLocks noChangeArrowheads="1"/>
            </p:cNvSpPr>
            <p:nvPr/>
          </p:nvSpPr>
          <p:spPr bwMode="auto">
            <a:xfrm>
              <a:off x="4551924" y="2894208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7" name="Freeform 184"/>
            <p:cNvSpPr>
              <a:spLocks noChangeArrowheads="1"/>
            </p:cNvSpPr>
            <p:nvPr/>
          </p:nvSpPr>
          <p:spPr bwMode="auto">
            <a:xfrm>
              <a:off x="4186235" y="2898657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8" name="Freeform 185"/>
            <p:cNvSpPr>
              <a:spLocks noChangeArrowheads="1"/>
            </p:cNvSpPr>
            <p:nvPr/>
          </p:nvSpPr>
          <p:spPr bwMode="auto">
            <a:xfrm>
              <a:off x="4003391" y="2900881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9" name="Freeform 186"/>
            <p:cNvSpPr>
              <a:spLocks noChangeArrowheads="1"/>
            </p:cNvSpPr>
            <p:nvPr/>
          </p:nvSpPr>
          <p:spPr bwMode="auto">
            <a:xfrm>
              <a:off x="3820546" y="2903107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0" name="Freeform 188"/>
            <p:cNvSpPr>
              <a:spLocks noChangeArrowheads="1"/>
            </p:cNvSpPr>
            <p:nvPr/>
          </p:nvSpPr>
          <p:spPr bwMode="auto">
            <a:xfrm>
              <a:off x="3375901" y="2907556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1" name="Freeform 189"/>
            <p:cNvSpPr>
              <a:spLocks noChangeArrowheads="1"/>
            </p:cNvSpPr>
            <p:nvPr/>
          </p:nvSpPr>
          <p:spPr bwMode="auto">
            <a:xfrm>
              <a:off x="3193057" y="2909780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2" name="Freeform 190"/>
            <p:cNvSpPr>
              <a:spLocks noChangeArrowheads="1"/>
            </p:cNvSpPr>
            <p:nvPr/>
          </p:nvSpPr>
          <p:spPr bwMode="auto">
            <a:xfrm>
              <a:off x="3010212" y="2912005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3" name="Text Box 191"/>
            <p:cNvSpPr txBox="1">
              <a:spLocks noChangeArrowheads="1"/>
            </p:cNvSpPr>
            <p:nvPr/>
          </p:nvSpPr>
          <p:spPr bwMode="auto">
            <a:xfrm>
              <a:off x="8409385" y="5091070"/>
              <a:ext cx="9380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(kHz)</a:t>
              </a:r>
            </a:p>
          </p:txBody>
        </p:sp>
        <p:sp>
          <p:nvSpPr>
            <p:cNvPr id="394284" name="Text Box 192"/>
            <p:cNvSpPr txBox="1">
              <a:spLocks noChangeArrowheads="1"/>
            </p:cNvSpPr>
            <p:nvPr/>
          </p:nvSpPr>
          <p:spPr bwMode="auto">
            <a:xfrm>
              <a:off x="2642446" y="4829596"/>
              <a:ext cx="7072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~40</a:t>
              </a:r>
            </a:p>
          </p:txBody>
        </p:sp>
        <p:sp>
          <p:nvSpPr>
            <p:cNvPr id="394285" name="Text Box 193"/>
            <p:cNvSpPr txBox="1">
              <a:spLocks noChangeArrowheads="1"/>
            </p:cNvSpPr>
            <p:nvPr/>
          </p:nvSpPr>
          <p:spPr bwMode="auto">
            <a:xfrm>
              <a:off x="4047025" y="4829596"/>
              <a:ext cx="878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~138</a:t>
              </a:r>
            </a:p>
          </p:txBody>
        </p:sp>
        <p:sp>
          <p:nvSpPr>
            <p:cNvPr id="394286" name="Text Box 195"/>
            <p:cNvSpPr txBox="1">
              <a:spLocks noChangeArrowheads="1"/>
            </p:cNvSpPr>
            <p:nvPr/>
          </p:nvSpPr>
          <p:spPr bwMode="auto">
            <a:xfrm>
              <a:off x="7329264" y="4829596"/>
              <a:ext cx="10332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~1100</a:t>
              </a:r>
            </a:p>
          </p:txBody>
        </p:sp>
      </p:grpSp>
      <p:sp>
        <p:nvSpPr>
          <p:cNvPr id="39428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08269C-333B-4EEC-9B7D-90288FFBED43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39428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ADSL </a:t>
            </a:r>
            <a:r>
              <a:rPr lang="zh-CN" altLang="en-US" smtClean="0">
                <a:ea typeface="黑体" panose="02010609060101010101" pitchFamily="49" charset="-122"/>
              </a:rPr>
              <a:t>的数据率</a:t>
            </a:r>
          </a:p>
        </p:txBody>
      </p:sp>
      <p:sp>
        <p:nvSpPr>
          <p:cNvPr id="39629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400" dirty="0" smtClean="0">
                <a:ea typeface="黑体" panose="02010609060101010101" pitchFamily="49" charset="-122"/>
              </a:rPr>
              <a:t>由于用户线的具体条件往往相差很大（距离、线径、受到相邻用户线的干扰程度等都不同），因此 </a:t>
            </a:r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采用自适应调制技术使用户线能够传送尽可能高的数据率。</a:t>
            </a:r>
          </a:p>
          <a:p>
            <a:r>
              <a:rPr lang="zh-CN" altLang="en-US" sz="2400" dirty="0" smtClean="0">
                <a:ea typeface="黑体" panose="02010609060101010101" pitchFamily="49" charset="-122"/>
              </a:rPr>
              <a:t>当 </a:t>
            </a:r>
            <a:r>
              <a:rPr lang="en-US" altLang="zh-CN" sz="2400" dirty="0" smtClean="0"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ea typeface="黑体" panose="02010609060101010101" pitchFamily="49" charset="-122"/>
              </a:rPr>
              <a:t>启动时，用户线两端的 </a:t>
            </a:r>
            <a:r>
              <a:rPr lang="en-US" altLang="zh-CN" sz="2400" dirty="0" smtClean="0"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ea typeface="黑体" panose="02010609060101010101" pitchFamily="49" charset="-122"/>
              </a:rPr>
              <a:t>调制解调器就测试可用的频率、各子信道受到的干扰情况，以及在每一个频率上测试信号的传输质量。</a:t>
            </a:r>
          </a:p>
          <a:p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不能保证固定的数据率。</a:t>
            </a:r>
            <a:r>
              <a:rPr lang="zh-CN" altLang="en-US" sz="2400" dirty="0" smtClean="0">
                <a:ea typeface="黑体" panose="02010609060101010101" pitchFamily="49" charset="-122"/>
              </a:rPr>
              <a:t>对于质量很差的用户线甚至无法开通 </a:t>
            </a:r>
            <a:r>
              <a:rPr lang="en-US" altLang="zh-CN" sz="2400" dirty="0" smtClean="0">
                <a:ea typeface="黑体" panose="02010609060101010101" pitchFamily="49" charset="-122"/>
              </a:rPr>
              <a:t>ADSL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400" dirty="0" smtClean="0">
                <a:ea typeface="黑体" panose="02010609060101010101" pitchFamily="49" charset="-122"/>
              </a:rPr>
              <a:t>通常下行数据率在 </a:t>
            </a:r>
            <a:r>
              <a:rPr lang="en-US" altLang="zh-CN" sz="2400" dirty="0" smtClean="0">
                <a:ea typeface="黑体" panose="02010609060101010101" pitchFamily="49" charset="-122"/>
              </a:rPr>
              <a:t>32 </a:t>
            </a:r>
            <a:r>
              <a:rPr lang="en-US" altLang="zh-CN" sz="24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400" dirty="0" smtClean="0">
                <a:ea typeface="黑体" panose="02010609060101010101" pitchFamily="49" charset="-122"/>
              </a:rPr>
              <a:t>/s </a:t>
            </a:r>
            <a:r>
              <a:rPr lang="zh-CN" altLang="en-US" sz="2400" dirty="0" smtClean="0">
                <a:ea typeface="黑体" panose="02010609060101010101" pitchFamily="49" charset="-122"/>
              </a:rPr>
              <a:t>到 </a:t>
            </a:r>
            <a:r>
              <a:rPr lang="en-US" altLang="zh-CN" sz="2400" dirty="0" smtClean="0">
                <a:ea typeface="黑体" panose="02010609060101010101" pitchFamily="49" charset="-122"/>
              </a:rPr>
              <a:t>6.4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之间，而上行数据率在 </a:t>
            </a:r>
            <a:r>
              <a:rPr lang="en-US" altLang="zh-CN" sz="2400" dirty="0" smtClean="0">
                <a:ea typeface="黑体" panose="02010609060101010101" pitchFamily="49" charset="-122"/>
              </a:rPr>
              <a:t>32 </a:t>
            </a:r>
            <a:r>
              <a:rPr lang="en-US" altLang="zh-CN" sz="24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400" dirty="0" smtClean="0">
                <a:ea typeface="黑体" panose="02010609060101010101" pitchFamily="49" charset="-122"/>
              </a:rPr>
              <a:t>/s </a:t>
            </a:r>
            <a:r>
              <a:rPr lang="zh-CN" altLang="en-US" sz="2400" dirty="0" smtClean="0">
                <a:ea typeface="黑体" panose="02010609060101010101" pitchFamily="49" charset="-122"/>
              </a:rPr>
              <a:t>到 </a:t>
            </a:r>
            <a:r>
              <a:rPr lang="en-US" altLang="zh-CN" sz="2400" dirty="0" smtClean="0">
                <a:ea typeface="黑体" panose="02010609060101010101" pitchFamily="49" charset="-122"/>
              </a:rPr>
              <a:t>640 </a:t>
            </a:r>
            <a:r>
              <a:rPr lang="en-US" altLang="zh-CN" sz="24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400" dirty="0" smtClean="0">
                <a:ea typeface="黑体" panose="02010609060101010101" pitchFamily="49" charset="-122"/>
              </a:rPr>
              <a:t>/s </a:t>
            </a:r>
            <a:r>
              <a:rPr lang="zh-CN" altLang="en-US" sz="2400" dirty="0" smtClean="0">
                <a:ea typeface="黑体" panose="02010609060101010101" pitchFamily="49" charset="-122"/>
              </a:rPr>
              <a:t>之间。</a:t>
            </a:r>
          </a:p>
        </p:txBody>
      </p:sp>
      <p:sp>
        <p:nvSpPr>
          <p:cNvPr id="3962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258343-94FC-4D26-9B63-4B37F7C069EF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3962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ADSL </a:t>
            </a:r>
            <a:r>
              <a:rPr lang="zh-CN" altLang="en-US" smtClean="0">
                <a:ea typeface="黑体" panose="02010609060101010101" pitchFamily="49" charset="-122"/>
              </a:rPr>
              <a:t>的组成 </a:t>
            </a:r>
          </a:p>
        </p:txBody>
      </p:sp>
      <p:sp>
        <p:nvSpPr>
          <p:cNvPr id="398338" name="AutoShape 3"/>
          <p:cNvSpPr>
            <a:spLocks noChangeArrowheads="1"/>
          </p:cNvSpPr>
          <p:nvPr/>
        </p:nvSpPr>
        <p:spPr bwMode="auto">
          <a:xfrm>
            <a:off x="2668588" y="1981200"/>
            <a:ext cx="2262187" cy="2816225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39" name="Freeform 4"/>
          <p:cNvSpPr>
            <a:spLocks noChangeArrowheads="1"/>
          </p:cNvSpPr>
          <p:nvPr/>
        </p:nvSpPr>
        <p:spPr bwMode="auto">
          <a:xfrm>
            <a:off x="1076325" y="1524000"/>
            <a:ext cx="465138" cy="1420813"/>
          </a:xfrm>
          <a:custGeom>
            <a:avLst/>
            <a:gdLst>
              <a:gd name="T0" fmla="*/ 280 w 280"/>
              <a:gd name="T1" fmla="*/ 600 h 600"/>
              <a:gd name="T2" fmla="*/ 144 w 280"/>
              <a:gd name="T3" fmla="*/ 200 h 600"/>
              <a:gd name="T4" fmla="*/ 112 w 280"/>
              <a:gd name="T5" fmla="*/ 280 h 600"/>
              <a:gd name="T6" fmla="*/ 0 w 280"/>
              <a:gd name="T7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0" h="600">
                <a:moveTo>
                  <a:pt x="280" y="600"/>
                </a:moveTo>
                <a:lnTo>
                  <a:pt x="144" y="200"/>
                </a:lnTo>
                <a:lnTo>
                  <a:pt x="112" y="2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0" name="Line 5"/>
          <p:cNvSpPr>
            <a:spLocks noChangeShapeType="1"/>
          </p:cNvSpPr>
          <p:nvPr/>
        </p:nvSpPr>
        <p:spPr bwMode="auto">
          <a:xfrm rot="-5400000">
            <a:off x="2789238" y="2951162"/>
            <a:ext cx="0" cy="714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1" name="Freeform 6"/>
          <p:cNvSpPr>
            <a:spLocks noChangeArrowheads="1"/>
          </p:cNvSpPr>
          <p:nvPr/>
        </p:nvSpPr>
        <p:spPr bwMode="auto">
          <a:xfrm rot="-989619">
            <a:off x="5233988" y="3068638"/>
            <a:ext cx="606425" cy="1387475"/>
          </a:xfrm>
          <a:custGeom>
            <a:avLst/>
            <a:gdLst>
              <a:gd name="T0" fmla="*/ 0 w 366"/>
              <a:gd name="T1" fmla="*/ 0 h 702"/>
              <a:gd name="T2" fmla="*/ 138 w 366"/>
              <a:gd name="T3" fmla="*/ 343 h 702"/>
              <a:gd name="T4" fmla="*/ 168 w 366"/>
              <a:gd name="T5" fmla="*/ 252 h 702"/>
              <a:gd name="T6" fmla="*/ 366 w 366"/>
              <a:gd name="T7" fmla="*/ 702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6" h="702">
                <a:moveTo>
                  <a:pt x="0" y="0"/>
                </a:moveTo>
                <a:lnTo>
                  <a:pt x="138" y="343"/>
                </a:lnTo>
                <a:lnTo>
                  <a:pt x="168" y="252"/>
                </a:lnTo>
                <a:lnTo>
                  <a:pt x="366" y="702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398342" name="Picture 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00" y="1981200"/>
            <a:ext cx="1139825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43" name="AutoShape 8"/>
          <p:cNvSpPr>
            <a:spLocks noChangeArrowheads="1"/>
          </p:cNvSpPr>
          <p:nvPr/>
        </p:nvSpPr>
        <p:spPr bwMode="auto">
          <a:xfrm>
            <a:off x="3773488" y="3275013"/>
            <a:ext cx="1030287" cy="569912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4" name="Text Box 9"/>
          <p:cNvSpPr txBox="1">
            <a:spLocks noChangeArrowheads="1"/>
          </p:cNvSpPr>
          <p:nvPr/>
        </p:nvSpPr>
        <p:spPr bwMode="auto">
          <a:xfrm>
            <a:off x="3711575" y="3417888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ATU-C</a:t>
            </a:r>
          </a:p>
        </p:txBody>
      </p:sp>
      <p:sp>
        <p:nvSpPr>
          <p:cNvPr id="398345" name="AutoShape 10"/>
          <p:cNvSpPr>
            <a:spLocks noChangeArrowheads="1"/>
          </p:cNvSpPr>
          <p:nvPr/>
        </p:nvSpPr>
        <p:spPr bwMode="auto">
          <a:xfrm>
            <a:off x="3773488" y="2771775"/>
            <a:ext cx="1030287" cy="571500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6" name="Text Box 11"/>
          <p:cNvSpPr txBox="1">
            <a:spLocks noChangeArrowheads="1"/>
          </p:cNvSpPr>
          <p:nvPr/>
        </p:nvSpPr>
        <p:spPr bwMode="auto">
          <a:xfrm>
            <a:off x="3711575" y="2897188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ATU-C</a:t>
            </a:r>
          </a:p>
        </p:txBody>
      </p:sp>
      <p:pic>
        <p:nvPicPr>
          <p:cNvPr id="398347" name="Picture 1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75" y="1600200"/>
            <a:ext cx="309562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48" name="Line 13"/>
          <p:cNvSpPr>
            <a:spLocks noChangeShapeType="1"/>
          </p:cNvSpPr>
          <p:nvPr/>
        </p:nvSpPr>
        <p:spPr bwMode="auto">
          <a:xfrm>
            <a:off x="7037388" y="3117850"/>
            <a:ext cx="0" cy="56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398349" name="Picture 1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825" y="3521075"/>
            <a:ext cx="614363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0" name="AutoShape 15"/>
          <p:cNvSpPr>
            <a:spLocks noChangeArrowheads="1"/>
          </p:cNvSpPr>
          <p:nvPr/>
        </p:nvSpPr>
        <p:spPr bwMode="auto">
          <a:xfrm>
            <a:off x="7375525" y="2822575"/>
            <a:ext cx="1030288" cy="569913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1" name="Text Box 16"/>
          <p:cNvSpPr txBox="1">
            <a:spLocks noChangeArrowheads="1"/>
          </p:cNvSpPr>
          <p:nvPr/>
        </p:nvSpPr>
        <p:spPr bwMode="auto">
          <a:xfrm>
            <a:off x="7302500" y="2962275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ATU-R</a:t>
            </a:r>
          </a:p>
        </p:txBody>
      </p:sp>
      <p:pic>
        <p:nvPicPr>
          <p:cNvPr id="398352" name="Picture 17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2459038"/>
            <a:ext cx="2320925" cy="1893887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3" name="Freeform 18"/>
          <p:cNvSpPr>
            <a:spLocks noChangeArrowheads="1"/>
          </p:cNvSpPr>
          <p:nvPr/>
        </p:nvSpPr>
        <p:spPr bwMode="auto">
          <a:xfrm>
            <a:off x="4724400" y="3068638"/>
            <a:ext cx="2659063" cy="96837"/>
          </a:xfrm>
          <a:custGeom>
            <a:avLst/>
            <a:gdLst>
              <a:gd name="T0" fmla="*/ 1608 w 1608"/>
              <a:gd name="T1" fmla="*/ 48 h 48"/>
              <a:gd name="T2" fmla="*/ 790 w 1608"/>
              <a:gd name="T3" fmla="*/ 48 h 48"/>
              <a:gd name="T4" fmla="*/ 844 w 1608"/>
              <a:gd name="T5" fmla="*/ 1 h 48"/>
              <a:gd name="T6" fmla="*/ 0 w 1608"/>
              <a:gd name="T7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08" h="48">
                <a:moveTo>
                  <a:pt x="1608" y="48"/>
                </a:moveTo>
                <a:lnTo>
                  <a:pt x="790" y="48"/>
                </a:lnTo>
                <a:lnTo>
                  <a:pt x="844" y="1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4" name="AutoShape 19"/>
          <p:cNvSpPr>
            <a:spLocks noChangeArrowheads="1"/>
          </p:cNvSpPr>
          <p:nvPr/>
        </p:nvSpPr>
        <p:spPr bwMode="auto">
          <a:xfrm>
            <a:off x="6956425" y="3003550"/>
            <a:ext cx="238125" cy="284163"/>
          </a:xfrm>
          <a:prstGeom prst="cube">
            <a:avLst>
              <a:gd name="adj" fmla="val 25000"/>
            </a:avLst>
          </a:prstGeom>
          <a:solidFill>
            <a:srgbClr val="969696"/>
          </a:solidFill>
          <a:ln w="9525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5" name="AutoShape 20"/>
          <p:cNvSpPr>
            <a:spLocks noChangeArrowheads="1"/>
          </p:cNvSpPr>
          <p:nvPr/>
        </p:nvSpPr>
        <p:spPr bwMode="auto">
          <a:xfrm>
            <a:off x="4972050" y="2928938"/>
            <a:ext cx="239713" cy="282575"/>
          </a:xfrm>
          <a:prstGeom prst="cube">
            <a:avLst>
              <a:gd name="adj" fmla="val 25000"/>
            </a:avLst>
          </a:prstGeom>
          <a:solidFill>
            <a:srgbClr val="969696"/>
          </a:solidFill>
          <a:ln w="9525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6" name="AutoShape 21"/>
          <p:cNvSpPr>
            <a:spLocks noChangeArrowheads="1"/>
          </p:cNvSpPr>
          <p:nvPr/>
        </p:nvSpPr>
        <p:spPr bwMode="auto">
          <a:xfrm>
            <a:off x="3773488" y="2282825"/>
            <a:ext cx="1030287" cy="569913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7" name="Text Box 22"/>
          <p:cNvSpPr txBox="1">
            <a:spLocks noChangeArrowheads="1"/>
          </p:cNvSpPr>
          <p:nvPr/>
        </p:nvSpPr>
        <p:spPr bwMode="auto">
          <a:xfrm>
            <a:off x="3711575" y="2451100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ATU-C</a:t>
            </a:r>
          </a:p>
        </p:txBody>
      </p:sp>
      <p:sp>
        <p:nvSpPr>
          <p:cNvPr id="398358" name="Freeform 23"/>
          <p:cNvSpPr>
            <a:spLocks noChangeArrowheads="1"/>
          </p:cNvSpPr>
          <p:nvPr/>
        </p:nvSpPr>
        <p:spPr bwMode="auto">
          <a:xfrm>
            <a:off x="8345488" y="3117850"/>
            <a:ext cx="317500" cy="307975"/>
          </a:xfrm>
          <a:custGeom>
            <a:avLst/>
            <a:gdLst>
              <a:gd name="T0" fmla="*/ 0 w 192"/>
              <a:gd name="T1" fmla="*/ 6 h 156"/>
              <a:gd name="T2" fmla="*/ 192 w 192"/>
              <a:gd name="T3" fmla="*/ 0 h 156"/>
              <a:gd name="T4" fmla="*/ 192 w 192"/>
              <a:gd name="T5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156">
                <a:moveTo>
                  <a:pt x="0" y="6"/>
                </a:moveTo>
                <a:lnTo>
                  <a:pt x="192" y="0"/>
                </a:lnTo>
                <a:lnTo>
                  <a:pt x="192" y="156"/>
                </a:lnTo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398359" name="Picture 24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3308350"/>
            <a:ext cx="61436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60" name="Text Box 25"/>
          <p:cNvSpPr txBox="1">
            <a:spLocks noChangeArrowheads="1"/>
          </p:cNvSpPr>
          <p:nvPr/>
        </p:nvSpPr>
        <p:spPr bwMode="auto">
          <a:xfrm>
            <a:off x="5503863" y="2671763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用户线</a:t>
            </a:r>
          </a:p>
        </p:txBody>
      </p:sp>
      <p:sp>
        <p:nvSpPr>
          <p:cNvPr id="398361" name="Text Box 26"/>
          <p:cNvSpPr txBox="1">
            <a:spLocks noChangeArrowheads="1"/>
          </p:cNvSpPr>
          <p:nvPr/>
        </p:nvSpPr>
        <p:spPr bwMode="auto">
          <a:xfrm>
            <a:off x="5553075" y="1739900"/>
            <a:ext cx="9540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电话</a:t>
            </a:r>
          </a:p>
          <a:p>
            <a:pPr eaLnBrk="0" hangingPunct="0">
              <a:lnSpc>
                <a:spcPct val="85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分离器</a:t>
            </a:r>
          </a:p>
        </p:txBody>
      </p:sp>
      <p:sp>
        <p:nvSpPr>
          <p:cNvPr id="398362" name="Line 27"/>
          <p:cNvSpPr>
            <a:spLocks noChangeShapeType="1"/>
          </p:cNvSpPr>
          <p:nvPr/>
        </p:nvSpPr>
        <p:spPr bwMode="auto">
          <a:xfrm flipH="1">
            <a:off x="5211763" y="2357438"/>
            <a:ext cx="473075" cy="5873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63" name="Line 28"/>
          <p:cNvSpPr>
            <a:spLocks noChangeShapeType="1"/>
          </p:cNvSpPr>
          <p:nvPr/>
        </p:nvSpPr>
        <p:spPr bwMode="auto">
          <a:xfrm rot="16200000" flipH="1">
            <a:off x="6305550" y="2373313"/>
            <a:ext cx="666750" cy="6350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64" name="Text Box 29"/>
          <p:cNvSpPr txBox="1">
            <a:spLocks noChangeArrowheads="1"/>
          </p:cNvSpPr>
          <p:nvPr/>
        </p:nvSpPr>
        <p:spPr bwMode="auto">
          <a:xfrm>
            <a:off x="596900" y="3176588"/>
            <a:ext cx="16049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区域宽带网</a:t>
            </a:r>
          </a:p>
        </p:txBody>
      </p:sp>
      <p:sp>
        <p:nvSpPr>
          <p:cNvPr id="398365" name="Text Box 30"/>
          <p:cNvSpPr txBox="1">
            <a:spLocks noChangeArrowheads="1"/>
          </p:cNvSpPr>
          <p:nvPr/>
        </p:nvSpPr>
        <p:spPr bwMode="auto">
          <a:xfrm>
            <a:off x="622300" y="1162050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至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ISP</a:t>
            </a:r>
          </a:p>
        </p:txBody>
      </p:sp>
      <p:sp>
        <p:nvSpPr>
          <p:cNvPr id="398366" name="Text Box 31"/>
          <p:cNvSpPr txBox="1">
            <a:spLocks noChangeArrowheads="1"/>
          </p:cNvSpPr>
          <p:nvPr/>
        </p:nvSpPr>
        <p:spPr bwMode="auto">
          <a:xfrm>
            <a:off x="7432675" y="3986213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居民家庭</a:t>
            </a:r>
          </a:p>
        </p:txBody>
      </p:sp>
      <p:sp>
        <p:nvSpPr>
          <p:cNvPr id="398367" name="Line 32"/>
          <p:cNvSpPr>
            <a:spLocks noChangeShapeType="1"/>
          </p:cNvSpPr>
          <p:nvPr/>
        </p:nvSpPr>
        <p:spPr bwMode="auto">
          <a:xfrm>
            <a:off x="2628900" y="1341438"/>
            <a:ext cx="642937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68" name="Text Box 33"/>
          <p:cNvSpPr txBox="1">
            <a:spLocks noChangeArrowheads="1"/>
          </p:cNvSpPr>
          <p:nvPr/>
        </p:nvSpPr>
        <p:spPr bwMode="auto">
          <a:xfrm>
            <a:off x="4521200" y="1144588"/>
            <a:ext cx="3032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基于 </a:t>
            </a: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的接入网</a:t>
            </a:r>
          </a:p>
        </p:txBody>
      </p:sp>
      <p:sp>
        <p:nvSpPr>
          <p:cNvPr id="398369" name="Text Box 34"/>
          <p:cNvSpPr txBox="1">
            <a:spLocks noChangeArrowheads="1"/>
          </p:cNvSpPr>
          <p:nvPr/>
        </p:nvSpPr>
        <p:spPr bwMode="auto">
          <a:xfrm>
            <a:off x="2889250" y="1520825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端局或远端站</a:t>
            </a:r>
          </a:p>
        </p:txBody>
      </p:sp>
      <p:sp>
        <p:nvSpPr>
          <p:cNvPr id="398370" name="Line 35"/>
          <p:cNvSpPr>
            <a:spLocks noChangeShapeType="1"/>
          </p:cNvSpPr>
          <p:nvPr/>
        </p:nvSpPr>
        <p:spPr bwMode="auto">
          <a:xfrm>
            <a:off x="2670175" y="4494213"/>
            <a:ext cx="2246313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71" name="Text Box 36"/>
          <p:cNvSpPr txBox="1">
            <a:spLocks noChangeArrowheads="1"/>
          </p:cNvSpPr>
          <p:nvPr/>
        </p:nvSpPr>
        <p:spPr bwMode="auto">
          <a:xfrm>
            <a:off x="3205163" y="4302125"/>
            <a:ext cx="1098550" cy="3540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DSLAM</a:t>
            </a:r>
          </a:p>
        </p:txBody>
      </p:sp>
      <p:sp>
        <p:nvSpPr>
          <p:cNvPr id="398372" name="Text Box 37"/>
          <p:cNvSpPr txBox="1">
            <a:spLocks noChangeArrowheads="1"/>
          </p:cNvSpPr>
          <p:nvPr/>
        </p:nvSpPr>
        <p:spPr bwMode="auto">
          <a:xfrm>
            <a:off x="5259388" y="4256088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至本地电话局</a:t>
            </a:r>
          </a:p>
        </p:txBody>
      </p:sp>
      <p:sp>
        <p:nvSpPr>
          <p:cNvPr id="398373" name="Text Box 38"/>
          <p:cNvSpPr txBox="1">
            <a:spLocks noChangeArrowheads="1"/>
          </p:cNvSpPr>
          <p:nvPr/>
        </p:nvSpPr>
        <p:spPr bwMode="auto">
          <a:xfrm>
            <a:off x="4878388" y="2205038"/>
            <a:ext cx="528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PS</a:t>
            </a:r>
          </a:p>
        </p:txBody>
      </p:sp>
      <p:sp>
        <p:nvSpPr>
          <p:cNvPr id="398374" name="Text Box 39"/>
          <p:cNvSpPr txBox="1">
            <a:spLocks noChangeArrowheads="1"/>
          </p:cNvSpPr>
          <p:nvPr/>
        </p:nvSpPr>
        <p:spPr bwMode="auto">
          <a:xfrm>
            <a:off x="6921500" y="2671763"/>
            <a:ext cx="528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PS</a:t>
            </a:r>
          </a:p>
        </p:txBody>
      </p:sp>
      <p:sp>
        <p:nvSpPr>
          <p:cNvPr id="398375" name="Freeform 40"/>
          <p:cNvSpPr>
            <a:spLocks noChangeArrowheads="1"/>
          </p:cNvSpPr>
          <p:nvPr/>
        </p:nvSpPr>
        <p:spPr bwMode="auto">
          <a:xfrm>
            <a:off x="4746625" y="3544888"/>
            <a:ext cx="323850" cy="1587"/>
          </a:xfrm>
          <a:custGeom>
            <a:avLst/>
            <a:gdLst>
              <a:gd name="T0" fmla="*/ 0 w 196"/>
              <a:gd name="T1" fmla="*/ 0 h 1"/>
              <a:gd name="T2" fmla="*/ 196 w 19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6" h="1">
                <a:moveTo>
                  <a:pt x="0" y="0"/>
                </a:moveTo>
                <a:lnTo>
                  <a:pt x="196" y="0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76" name="Freeform 41"/>
          <p:cNvSpPr>
            <a:spLocks noChangeArrowheads="1"/>
          </p:cNvSpPr>
          <p:nvPr/>
        </p:nvSpPr>
        <p:spPr bwMode="auto">
          <a:xfrm>
            <a:off x="4746625" y="2547938"/>
            <a:ext cx="323850" cy="0"/>
          </a:xfrm>
          <a:custGeom>
            <a:avLst/>
            <a:gdLst>
              <a:gd name="T0" fmla="*/ 0 w 196"/>
              <a:gd name="T1" fmla="*/ 0 h 1"/>
              <a:gd name="T2" fmla="*/ 196 w 19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6" h="1">
                <a:moveTo>
                  <a:pt x="0" y="0"/>
                </a:moveTo>
                <a:lnTo>
                  <a:pt x="196" y="0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77" name="TextBox 1"/>
          <p:cNvSpPr txBox="1">
            <a:spLocks noChangeArrowheads="1"/>
          </p:cNvSpPr>
          <p:nvPr/>
        </p:nvSpPr>
        <p:spPr bwMode="auto">
          <a:xfrm>
            <a:off x="836613" y="4932363"/>
            <a:ext cx="8637587" cy="132397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DSLAM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(DSL Access Multiplexer)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：数字用户线接入复用器 </a:t>
            </a:r>
            <a:endParaRPr lang="en-US" altLang="zh-CN" sz="20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ATU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(Access Termination Unit)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：接入端接单元</a:t>
            </a:r>
            <a:endParaRPr lang="en-US" altLang="zh-CN" sz="20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ATU-C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(C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代表端局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Central Office) 	</a:t>
            </a:r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ATU-R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(R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代表远端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Remote)</a:t>
            </a:r>
          </a:p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PS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(POTS Splitter)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：电话分离器</a:t>
            </a:r>
          </a:p>
        </p:txBody>
      </p:sp>
      <p:sp>
        <p:nvSpPr>
          <p:cNvPr id="398378" name="矩形 2"/>
          <p:cNvSpPr>
            <a:spLocks noChangeArrowheads="1"/>
          </p:cNvSpPr>
          <p:nvPr/>
        </p:nvSpPr>
        <p:spPr bwMode="auto">
          <a:xfrm>
            <a:off x="2201863" y="6256338"/>
            <a:ext cx="5835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基于</a:t>
            </a:r>
            <a:r>
              <a:rPr lang="en-US" altLang="zh-CN" sz="2400" b="1">
                <a:ea typeface="黑体" panose="02010609060101010101" pitchFamily="49" charset="-122"/>
              </a:rPr>
              <a:t> ADSL </a:t>
            </a:r>
            <a:r>
              <a:rPr lang="zh-CN" altLang="zh-CN" sz="2400" b="1">
                <a:ea typeface="黑体" panose="02010609060101010101" pitchFamily="49" charset="-122"/>
              </a:rPr>
              <a:t>的接入网的组成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39837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8FF02C-AE24-4367-A7CD-1D2B55C9762D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39838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ADSL</a:t>
            </a:r>
            <a:r>
              <a:rPr lang="zh-CN" altLang="en-US" dirty="0" smtClean="0">
                <a:ea typeface="黑体" panose="02010609060101010101" pitchFamily="49" charset="-122"/>
              </a:rPr>
              <a:t>好处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endParaRPr lang="zh-CN" altLang="en-US" sz="3200" dirty="0" smtClean="0">
              <a:ea typeface="黑体" panose="02010609060101010101" pitchFamily="49" charset="-122"/>
            </a:endParaRPr>
          </a:p>
        </p:txBody>
      </p:sp>
      <p:sp>
        <p:nvSpPr>
          <p:cNvPr id="4003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ea typeface="黑体" panose="02010609060101010101" pitchFamily="49" charset="-122"/>
              </a:rPr>
              <a:t>利用原有电话线，无需重新铺设，增加设备即可。</a:t>
            </a:r>
          </a:p>
        </p:txBody>
      </p:sp>
      <p:sp>
        <p:nvSpPr>
          <p:cNvPr id="4003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B7098C-8F53-4AC4-A352-7A0CCD8BF0C7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4003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18" b="7268"/>
          <a:stretch/>
        </p:blipFill>
        <p:spPr>
          <a:xfrm>
            <a:off x="599973" y="1988880"/>
            <a:ext cx="3528294" cy="3756872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 bwMode="auto">
          <a:xfrm>
            <a:off x="2792820" y="1988880"/>
            <a:ext cx="1224102" cy="576048"/>
          </a:xfrm>
          <a:prstGeom prst="wedgeRoundRectCallout">
            <a:avLst>
              <a:gd name="adj1" fmla="val -10162"/>
              <a:gd name="adj2" fmla="val 919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电话线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467505" y="3903780"/>
            <a:ext cx="1224102" cy="576048"/>
          </a:xfrm>
          <a:prstGeom prst="wedgeRoundRectCallout">
            <a:avLst>
              <a:gd name="adj1" fmla="val 69873"/>
              <a:gd name="adj2" fmla="val 807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电话机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3036633" y="3789030"/>
            <a:ext cx="1224102" cy="576048"/>
          </a:xfrm>
          <a:prstGeom prst="wedgeRoundRectCallout">
            <a:avLst>
              <a:gd name="adj1" fmla="val -96600"/>
              <a:gd name="adj2" fmla="val 11012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ATU-R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704646" y="2235260"/>
            <a:ext cx="1599012" cy="977722"/>
          </a:xfrm>
          <a:prstGeom prst="wedgeRoundRectCallout">
            <a:avLst>
              <a:gd name="adj1" fmla="val 31583"/>
              <a:gd name="adj2" fmla="val 75947"/>
              <a:gd name="adj3" fmla="val 1666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个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RJ-11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插头</a:t>
            </a:r>
          </a:p>
        </p:txBody>
      </p:sp>
      <p:pic>
        <p:nvPicPr>
          <p:cNvPr id="3074" name="Picture 2" descr="https://timgsa.baidu.com/timg?image&amp;quality=80&amp;size=b9999_10000&amp;sec=1583735591127&amp;di=cbb8851bf5585af7be230854be980c52&amp;imgtype=0&amp;src=http%3A%2F%2Fyouxi.youth.cn%2Fshrd%2F201708%2FW020170801318021100914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0"/>
          <a:stretch/>
        </p:blipFill>
        <p:spPr bwMode="auto">
          <a:xfrm>
            <a:off x="5351462" y="2852952"/>
            <a:ext cx="3495675" cy="209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64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第二代 </a:t>
            </a:r>
            <a:r>
              <a:rPr lang="en-US" altLang="zh-CN" smtClean="0">
                <a:ea typeface="黑体" panose="02010609060101010101" pitchFamily="49" charset="-122"/>
              </a:rPr>
              <a:t>ADSL </a:t>
            </a:r>
            <a:endParaRPr lang="zh-CN" altLang="en-US" sz="3200" smtClean="0">
              <a:ea typeface="黑体" panose="02010609060101010101" pitchFamily="49" charset="-122"/>
            </a:endParaRPr>
          </a:p>
        </p:txBody>
      </p:sp>
      <p:sp>
        <p:nvSpPr>
          <p:cNvPr id="4003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400" smtClean="0">
                <a:ea typeface="黑体" panose="02010609060101010101" pitchFamily="49" charset="-122"/>
              </a:rPr>
              <a:t>包括 </a:t>
            </a:r>
            <a:r>
              <a:rPr lang="en-US" altLang="zh-CN" sz="2400" smtClean="0">
                <a:ea typeface="黑体" panose="02010609060101010101" pitchFamily="49" charset="-122"/>
              </a:rPr>
              <a:t>ADSL2</a:t>
            </a:r>
            <a:r>
              <a:rPr lang="zh-CN" altLang="en-US" sz="2400" smtClean="0">
                <a:ea typeface="黑体" panose="02010609060101010101" pitchFamily="49" charset="-122"/>
              </a:rPr>
              <a:t>（</a:t>
            </a:r>
            <a:r>
              <a:rPr lang="en-US" altLang="zh-CN" sz="2400" smtClean="0">
                <a:ea typeface="黑体" panose="02010609060101010101" pitchFamily="49" charset="-122"/>
              </a:rPr>
              <a:t>G.992.3 </a:t>
            </a:r>
            <a:r>
              <a:rPr lang="zh-CN" altLang="en-US" sz="2400" smtClean="0">
                <a:ea typeface="黑体" panose="02010609060101010101" pitchFamily="49" charset="-122"/>
              </a:rPr>
              <a:t>和 </a:t>
            </a:r>
            <a:r>
              <a:rPr lang="en-US" altLang="zh-CN" sz="2400" smtClean="0">
                <a:ea typeface="黑体" panose="02010609060101010101" pitchFamily="49" charset="-122"/>
              </a:rPr>
              <a:t>G.992.4</a:t>
            </a:r>
            <a:r>
              <a:rPr lang="zh-CN" altLang="en-US" sz="2400" smtClean="0">
                <a:ea typeface="黑体" panose="02010609060101010101" pitchFamily="49" charset="-122"/>
              </a:rPr>
              <a:t>）和 </a:t>
            </a:r>
            <a:r>
              <a:rPr lang="en-US" altLang="zh-CN" sz="2400" smtClean="0">
                <a:ea typeface="黑体" panose="02010609060101010101" pitchFamily="49" charset="-122"/>
              </a:rPr>
              <a:t>ADSL2+</a:t>
            </a:r>
            <a:r>
              <a:rPr lang="zh-CN" altLang="en-US" sz="2400" smtClean="0">
                <a:ea typeface="黑体" panose="02010609060101010101" pitchFamily="49" charset="-122"/>
              </a:rPr>
              <a:t>（</a:t>
            </a:r>
            <a:r>
              <a:rPr lang="en-US" altLang="zh-CN" sz="2400" smtClean="0">
                <a:ea typeface="黑体" panose="02010609060101010101" pitchFamily="49" charset="-122"/>
              </a:rPr>
              <a:t>G.992.5</a:t>
            </a:r>
            <a:r>
              <a:rPr lang="zh-CN" altLang="en-US" sz="2400" smtClean="0">
                <a:ea typeface="黑体" panose="02010609060101010101" pitchFamily="49" charset="-122"/>
              </a:rPr>
              <a:t>）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r>
              <a:rPr lang="zh-CN" altLang="en-US" sz="2400" smtClean="0">
                <a:ea typeface="黑体" panose="02010609060101010101" pitchFamily="49" charset="-122"/>
              </a:rPr>
              <a:t>通过提高调制效率得到了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更高的数据率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000" smtClean="0">
                <a:ea typeface="黑体" panose="02010609060101010101" pitchFamily="49" charset="-122"/>
              </a:rPr>
              <a:t>ADSL2 </a:t>
            </a:r>
            <a:r>
              <a:rPr lang="zh-CN" altLang="en-US" sz="2000" smtClean="0">
                <a:ea typeface="黑体" panose="02010609060101010101" pitchFamily="49" charset="-122"/>
              </a:rPr>
              <a:t>要求至少应支持下行 </a:t>
            </a:r>
            <a:r>
              <a:rPr lang="en-US" altLang="zh-CN" sz="2000" smtClean="0">
                <a:ea typeface="黑体" panose="02010609060101010101" pitchFamily="49" charset="-122"/>
              </a:rPr>
              <a:t>8 Mbit/s</a:t>
            </a:r>
            <a:r>
              <a:rPr lang="zh-CN" altLang="en-US" sz="2000" smtClean="0">
                <a:ea typeface="黑体" panose="02010609060101010101" pitchFamily="49" charset="-122"/>
              </a:rPr>
              <a:t>、上行 </a:t>
            </a:r>
            <a:r>
              <a:rPr lang="en-US" altLang="zh-CN" sz="2000" smtClean="0">
                <a:ea typeface="黑体" panose="02010609060101010101" pitchFamily="49" charset="-122"/>
              </a:rPr>
              <a:t>800 kbit/s</a:t>
            </a:r>
            <a:r>
              <a:rPr lang="zh-CN" altLang="en-US" sz="2000" smtClean="0">
                <a:ea typeface="黑体" panose="02010609060101010101" pitchFamily="49" charset="-122"/>
              </a:rPr>
              <a:t>的速率。</a:t>
            </a:r>
            <a:endParaRPr lang="en-US" altLang="zh-CN" sz="200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000" smtClean="0">
                <a:ea typeface="黑体" panose="02010609060101010101" pitchFamily="49" charset="-122"/>
              </a:rPr>
              <a:t>ADSL2+ </a:t>
            </a:r>
            <a:r>
              <a:rPr lang="zh-CN" altLang="en-US" sz="2000" smtClean="0">
                <a:ea typeface="黑体" panose="02010609060101010101" pitchFamily="49" charset="-122"/>
              </a:rPr>
              <a:t>则将频谱范围从 </a:t>
            </a:r>
            <a:r>
              <a:rPr lang="en-US" altLang="zh-CN" sz="2000" smtClean="0">
                <a:ea typeface="黑体" panose="02010609060101010101" pitchFamily="49" charset="-122"/>
              </a:rPr>
              <a:t>1.1 MHz </a:t>
            </a:r>
            <a:r>
              <a:rPr lang="zh-CN" altLang="en-US" sz="2000" smtClean="0">
                <a:ea typeface="黑体" panose="02010609060101010101" pitchFamily="49" charset="-122"/>
              </a:rPr>
              <a:t>扩展至 </a:t>
            </a:r>
            <a:r>
              <a:rPr lang="en-US" altLang="zh-CN" sz="2000" smtClean="0">
                <a:ea typeface="黑体" panose="02010609060101010101" pitchFamily="49" charset="-122"/>
              </a:rPr>
              <a:t>2.2 MHz</a:t>
            </a:r>
            <a:r>
              <a:rPr lang="zh-CN" altLang="en-US" sz="2000" smtClean="0">
                <a:ea typeface="黑体" panose="02010609060101010101" pitchFamily="49" charset="-122"/>
              </a:rPr>
              <a:t>，下行速率可达 </a:t>
            </a:r>
            <a:r>
              <a:rPr lang="en-US" altLang="zh-CN" sz="2000" smtClean="0">
                <a:ea typeface="黑体" panose="02010609060101010101" pitchFamily="49" charset="-122"/>
              </a:rPr>
              <a:t>16 Mbit/s</a:t>
            </a:r>
            <a:r>
              <a:rPr lang="zh-CN" altLang="en-US" sz="2000" smtClean="0">
                <a:ea typeface="黑体" panose="02010609060101010101" pitchFamily="49" charset="-122"/>
              </a:rPr>
              <a:t>（最大传输速率可达 </a:t>
            </a:r>
            <a:r>
              <a:rPr lang="en-US" altLang="zh-CN" sz="2000" smtClean="0">
                <a:ea typeface="黑体" panose="02010609060101010101" pitchFamily="49" charset="-122"/>
              </a:rPr>
              <a:t>25 Mbit/s</a:t>
            </a:r>
            <a:r>
              <a:rPr lang="zh-CN" altLang="en-US" sz="2000" smtClean="0">
                <a:ea typeface="黑体" panose="02010609060101010101" pitchFamily="49" charset="-122"/>
              </a:rPr>
              <a:t>），而上行速率可达 </a:t>
            </a:r>
            <a:r>
              <a:rPr lang="en-US" altLang="zh-CN" sz="2000" smtClean="0">
                <a:ea typeface="黑体" panose="02010609060101010101" pitchFamily="49" charset="-122"/>
              </a:rPr>
              <a:t>800 kbit/s</a:t>
            </a:r>
            <a:r>
              <a:rPr lang="zh-CN" altLang="en-US" sz="200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400" smtClean="0">
                <a:ea typeface="黑体" panose="02010609060101010101" pitchFamily="49" charset="-122"/>
              </a:rPr>
              <a:t>采用了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无缝速率自适应技术 </a:t>
            </a:r>
            <a:r>
              <a:rPr lang="en-US" altLang="zh-CN" sz="2400" smtClean="0">
                <a:ea typeface="黑体" panose="02010609060101010101" pitchFamily="49" charset="-122"/>
              </a:rPr>
              <a:t>SRA (Seamless Rate Adaptation)</a:t>
            </a:r>
            <a:r>
              <a:rPr lang="zh-CN" altLang="en-US" sz="2400" smtClean="0">
                <a:ea typeface="黑体" panose="02010609060101010101" pitchFamily="49" charset="-122"/>
              </a:rPr>
              <a:t>，可在运营中不中断通信和不产生误码的情况下，自适应地调整数据率。</a:t>
            </a:r>
          </a:p>
          <a:p>
            <a:r>
              <a:rPr lang="zh-CN" altLang="en-US" sz="2400" smtClean="0">
                <a:ea typeface="黑体" panose="02010609060101010101" pitchFamily="49" charset="-122"/>
              </a:rPr>
              <a:t>改善了线路质量评测和故障定位功能，这对提高网络的运行维护水平具有非常重要的意义。</a:t>
            </a:r>
          </a:p>
        </p:txBody>
      </p:sp>
      <p:sp>
        <p:nvSpPr>
          <p:cNvPr id="4003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B7098C-8F53-4AC4-A352-7A0CCD8BF0C7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4003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2.6.2  </a:t>
            </a:r>
            <a:r>
              <a:rPr lang="zh-CN" altLang="en-US" dirty="0" smtClean="0">
                <a:ea typeface="黑体" panose="02010609060101010101" pitchFamily="49" charset="-122"/>
              </a:rPr>
              <a:t>光纤同轴混合网</a:t>
            </a:r>
            <a:r>
              <a:rPr lang="zh-CN" altLang="zh-CN" dirty="0" smtClean="0">
                <a:ea typeface="黑体" panose="02010609060101010101" pitchFamily="49" charset="-122"/>
              </a:rPr>
              <a:t>（</a:t>
            </a:r>
            <a:r>
              <a:rPr lang="en-US" altLang="zh-CN" dirty="0" smtClean="0">
                <a:ea typeface="黑体" panose="02010609060101010101" pitchFamily="49" charset="-122"/>
              </a:rPr>
              <a:t>HFC</a:t>
            </a:r>
            <a:r>
              <a:rPr lang="zh-CN" altLang="zh-CN" dirty="0" smtClean="0">
                <a:ea typeface="黑体" panose="02010609060101010101" pitchFamily="49" charset="-122"/>
              </a:rPr>
              <a:t>网）</a:t>
            </a:r>
            <a:endParaRPr lang="en-US" altLang="zh-CN" sz="3600" dirty="0" smtClean="0">
              <a:ea typeface="黑体" panose="02010609060101010101" pitchFamily="49" charset="-122"/>
            </a:endParaRPr>
          </a:p>
        </p:txBody>
      </p:sp>
      <p:sp>
        <p:nvSpPr>
          <p:cNvPr id="4024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HFC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(Hybrid Fiber Coax) </a:t>
            </a:r>
            <a:r>
              <a:rPr lang="zh-CN" altLang="en-US" dirty="0" smtClean="0">
                <a:ea typeface="黑体" panose="02010609060101010101" pitchFamily="49" charset="-122"/>
              </a:rPr>
              <a:t>网是在目前覆盖面很广的有线电视网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的基础上开发的一种居民宽带接入网。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HFC </a:t>
            </a:r>
            <a:r>
              <a:rPr lang="zh-CN" altLang="en-US" dirty="0" smtClean="0">
                <a:ea typeface="黑体" panose="02010609060101010101" pitchFamily="49" charset="-122"/>
              </a:rPr>
              <a:t>网除可传送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外，还提供电话、数据和其他宽带交互型业务。</a:t>
            </a:r>
          </a:p>
          <a:p>
            <a:pPr>
              <a:lnSpc>
                <a:spcPct val="100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现有的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网是树形拓扑结构的同轴电缆网络，它采用模拟技术的频分复用对电视节目进行单向传输。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HFC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网对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网进行了改造。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024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99E716-4718-4EDF-877F-ECD1DB7A85B1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4024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HFC </a:t>
            </a:r>
            <a:r>
              <a:rPr lang="zh-CN" altLang="en-US" smtClean="0">
                <a:ea typeface="黑体" panose="02010609060101010101" pitchFamily="49" charset="-122"/>
              </a:rPr>
              <a:t>网的主干线路采用光纤</a:t>
            </a:r>
          </a:p>
        </p:txBody>
      </p:sp>
      <p:sp>
        <p:nvSpPr>
          <p:cNvPr id="4044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HFC </a:t>
            </a:r>
            <a:r>
              <a:rPr lang="zh-CN" altLang="en-US" dirty="0" smtClean="0">
                <a:ea typeface="黑体" panose="02010609060101010101" pitchFamily="49" charset="-122"/>
              </a:rPr>
              <a:t>网将原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网中的同轴电缆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主干部分改换为光纤，</a:t>
            </a:r>
            <a:r>
              <a:rPr lang="zh-CN" altLang="en-US" dirty="0" smtClean="0">
                <a:ea typeface="黑体" panose="02010609060101010101" pitchFamily="49" charset="-122"/>
              </a:rPr>
              <a:t>并使用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模拟光纤技术。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在模拟光纤中采用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光的振幅调制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AM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en-US" dirty="0" smtClean="0">
                <a:ea typeface="黑体" panose="02010609060101010101" pitchFamily="49" charset="-122"/>
              </a:rPr>
              <a:t>这比使用数字光纤更为经济。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模拟光纤从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头端</a:t>
            </a:r>
            <a:r>
              <a:rPr lang="zh-CN" altLang="en-US" dirty="0" smtClean="0">
                <a:ea typeface="黑体" panose="02010609060101010101" pitchFamily="49" charset="-122"/>
              </a:rPr>
              <a:t>连接到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光纤结点 </a:t>
            </a:r>
            <a:r>
              <a:rPr lang="en-US" altLang="zh-CN" dirty="0" smtClean="0">
                <a:ea typeface="黑体" panose="02010609060101010101" pitchFamily="49" charset="-122"/>
              </a:rPr>
              <a:t>(fiber node)</a:t>
            </a:r>
            <a:r>
              <a:rPr lang="zh-CN" altLang="en-US" dirty="0" smtClean="0">
                <a:ea typeface="黑体" panose="02010609060101010101" pitchFamily="49" charset="-122"/>
              </a:rPr>
              <a:t>，即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光分配结点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ODN </a:t>
            </a:r>
            <a:r>
              <a:rPr lang="en-US" altLang="zh-CN" dirty="0" smtClean="0">
                <a:ea typeface="黑体" panose="02010609060101010101" pitchFamily="49" charset="-122"/>
              </a:rPr>
              <a:t>(Optical Distribution Node)</a:t>
            </a:r>
            <a:r>
              <a:rPr lang="zh-CN" altLang="en-US" dirty="0" smtClean="0">
                <a:ea typeface="黑体" panose="02010609060101010101" pitchFamily="49" charset="-122"/>
              </a:rPr>
              <a:t>。在光纤结点光信号被转换为电信号。在光纤结点以下就是同轴电缆。   </a:t>
            </a:r>
          </a:p>
        </p:txBody>
      </p:sp>
      <p:sp>
        <p:nvSpPr>
          <p:cNvPr id="4044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7962D0-6D73-424A-9B80-FC6D53826AB9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40448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HFC </a:t>
            </a:r>
            <a:r>
              <a:rPr lang="zh-CN" altLang="en-US" smtClean="0">
                <a:ea typeface="黑体" panose="02010609060101010101" pitchFamily="49" charset="-122"/>
              </a:rPr>
              <a:t>网采用结点体系结构 </a:t>
            </a:r>
          </a:p>
        </p:txBody>
      </p:sp>
      <p:grpSp>
        <p:nvGrpSpPr>
          <p:cNvPr id="406530" name="组合 2"/>
          <p:cNvGrpSpPr>
            <a:grpSpLocks/>
          </p:cNvGrpSpPr>
          <p:nvPr/>
        </p:nvGrpSpPr>
        <p:grpSpPr bwMode="auto">
          <a:xfrm>
            <a:off x="992188" y="1412875"/>
            <a:ext cx="8089900" cy="3887788"/>
            <a:chOff x="849333" y="1916113"/>
            <a:chExt cx="8045029" cy="2952751"/>
          </a:xfrm>
        </p:grpSpPr>
        <p:sp>
          <p:nvSpPr>
            <p:cNvPr id="406531" name="Line 155"/>
            <p:cNvSpPr>
              <a:spLocks noChangeShapeType="1"/>
            </p:cNvSpPr>
            <p:nvPr/>
          </p:nvSpPr>
          <p:spPr bwMode="auto">
            <a:xfrm>
              <a:off x="3004476" y="3427413"/>
              <a:ext cx="1637242" cy="6477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2" name="Line 156"/>
            <p:cNvSpPr>
              <a:spLocks noChangeShapeType="1"/>
            </p:cNvSpPr>
            <p:nvPr/>
          </p:nvSpPr>
          <p:spPr bwMode="auto">
            <a:xfrm>
              <a:off x="3081867" y="3355975"/>
              <a:ext cx="155985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3" name="Line 157"/>
            <p:cNvSpPr>
              <a:spLocks noChangeShapeType="1"/>
            </p:cNvSpPr>
            <p:nvPr/>
          </p:nvSpPr>
          <p:spPr bwMode="auto">
            <a:xfrm flipV="1">
              <a:off x="3081867" y="2563814"/>
              <a:ext cx="1559852" cy="71913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4" name="Line 158"/>
            <p:cNvSpPr>
              <a:spLocks noChangeShapeType="1"/>
            </p:cNvSpPr>
            <p:nvPr/>
          </p:nvSpPr>
          <p:spPr bwMode="auto">
            <a:xfrm flipH="1" flipV="1">
              <a:off x="1599406" y="3427413"/>
              <a:ext cx="701675" cy="64770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5" name="Line 159"/>
            <p:cNvSpPr>
              <a:spLocks noChangeShapeType="1"/>
            </p:cNvSpPr>
            <p:nvPr/>
          </p:nvSpPr>
          <p:spPr bwMode="auto">
            <a:xfrm flipV="1">
              <a:off x="1755908" y="2563813"/>
              <a:ext cx="701675" cy="576262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6" name="Line 160"/>
            <p:cNvSpPr>
              <a:spLocks noChangeShapeType="1"/>
            </p:cNvSpPr>
            <p:nvPr/>
          </p:nvSpPr>
          <p:spPr bwMode="auto">
            <a:xfrm flipV="1">
              <a:off x="1755908" y="3355975"/>
              <a:ext cx="1169458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7" name="AutoShape 161"/>
            <p:cNvSpPr>
              <a:spLocks noChangeArrowheads="1"/>
            </p:cNvSpPr>
            <p:nvPr/>
          </p:nvSpPr>
          <p:spPr bwMode="auto">
            <a:xfrm>
              <a:off x="4564327" y="3211513"/>
              <a:ext cx="290645" cy="239712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8" name="AutoShape 162"/>
            <p:cNvSpPr>
              <a:spLocks noChangeArrowheads="1"/>
            </p:cNvSpPr>
            <p:nvPr/>
          </p:nvSpPr>
          <p:spPr bwMode="auto">
            <a:xfrm>
              <a:off x="4564327" y="3932239"/>
              <a:ext cx="290645" cy="250825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9" name="Text Box 163"/>
            <p:cNvSpPr txBox="1">
              <a:spLocks noChangeArrowheads="1"/>
            </p:cNvSpPr>
            <p:nvPr/>
          </p:nvSpPr>
          <p:spPr bwMode="auto">
            <a:xfrm>
              <a:off x="7684029" y="1916113"/>
              <a:ext cx="1210333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同轴电缆</a:t>
              </a:r>
            </a:p>
          </p:txBody>
        </p:sp>
        <p:sp>
          <p:nvSpPr>
            <p:cNvPr id="406540" name="AutoShape 164"/>
            <p:cNvSpPr>
              <a:spLocks noChangeArrowheads="1"/>
            </p:cNvSpPr>
            <p:nvPr/>
          </p:nvSpPr>
          <p:spPr bwMode="auto">
            <a:xfrm>
              <a:off x="4564327" y="2419350"/>
              <a:ext cx="290645" cy="241300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1" name="Line 165"/>
            <p:cNvSpPr>
              <a:spLocks noChangeShapeType="1"/>
            </p:cNvSpPr>
            <p:nvPr/>
          </p:nvSpPr>
          <p:spPr bwMode="auto">
            <a:xfrm>
              <a:off x="4875611" y="4075113"/>
              <a:ext cx="3510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542" name="Picture 16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613" y="35718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543" name="Picture 16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0702" y="2851151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544" name="Line 168"/>
            <p:cNvSpPr>
              <a:spLocks noChangeShapeType="1"/>
            </p:cNvSpPr>
            <p:nvPr/>
          </p:nvSpPr>
          <p:spPr bwMode="auto">
            <a:xfrm flipH="1">
              <a:off x="7840531" y="2203451"/>
              <a:ext cx="311282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5" name="Line 169"/>
            <p:cNvSpPr>
              <a:spLocks noChangeShapeType="1"/>
            </p:cNvSpPr>
            <p:nvPr/>
          </p:nvSpPr>
          <p:spPr bwMode="auto">
            <a:xfrm>
              <a:off x="1755908" y="2346326"/>
              <a:ext cx="311282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6" name="Text Box 170"/>
            <p:cNvSpPr txBox="1">
              <a:spLocks noChangeArrowheads="1"/>
            </p:cNvSpPr>
            <p:nvPr/>
          </p:nvSpPr>
          <p:spPr bwMode="auto">
            <a:xfrm>
              <a:off x="3159258" y="2274888"/>
              <a:ext cx="69699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光纤</a:t>
              </a:r>
            </a:p>
          </p:txBody>
        </p:sp>
        <p:sp>
          <p:nvSpPr>
            <p:cNvPr id="406547" name="Line 171"/>
            <p:cNvSpPr>
              <a:spLocks noChangeShapeType="1"/>
            </p:cNvSpPr>
            <p:nvPr/>
          </p:nvSpPr>
          <p:spPr bwMode="auto">
            <a:xfrm>
              <a:off x="4173935" y="2203450"/>
              <a:ext cx="467783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8" name="Text Box 172"/>
            <p:cNvSpPr txBox="1">
              <a:spLocks noChangeArrowheads="1"/>
            </p:cNvSpPr>
            <p:nvPr/>
          </p:nvSpPr>
          <p:spPr bwMode="auto">
            <a:xfrm>
              <a:off x="3627041" y="1916113"/>
              <a:ext cx="121033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光纤结点</a:t>
              </a:r>
            </a:p>
          </p:txBody>
        </p:sp>
        <p:sp>
          <p:nvSpPr>
            <p:cNvPr id="406549" name="Freeform 173"/>
            <p:cNvSpPr>
              <a:spLocks noChangeArrowheads="1"/>
            </p:cNvSpPr>
            <p:nvPr/>
          </p:nvSpPr>
          <p:spPr bwMode="auto">
            <a:xfrm>
              <a:off x="5343394" y="3787776"/>
              <a:ext cx="8599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50" name="Freeform 174"/>
            <p:cNvSpPr>
              <a:spLocks noChangeArrowheads="1"/>
            </p:cNvSpPr>
            <p:nvPr/>
          </p:nvSpPr>
          <p:spPr bwMode="auto">
            <a:xfrm>
              <a:off x="7247202" y="3067051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51" name="Freeform 175"/>
            <p:cNvSpPr>
              <a:spLocks noChangeArrowheads="1"/>
            </p:cNvSpPr>
            <p:nvPr/>
          </p:nvSpPr>
          <p:spPr bwMode="auto">
            <a:xfrm>
              <a:off x="5967677" y="3787776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552" name="Picture 17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1177" y="35718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06553" name="Group 177"/>
            <p:cNvGrpSpPr>
              <a:grpSpLocks/>
            </p:cNvGrpSpPr>
            <p:nvPr/>
          </p:nvGrpSpPr>
          <p:grpSpPr bwMode="auto">
            <a:xfrm>
              <a:off x="1064553" y="2706688"/>
              <a:ext cx="806582" cy="830262"/>
              <a:chOff x="2092" y="722"/>
              <a:chExt cx="469" cy="523"/>
            </a:xfrm>
          </p:grpSpPr>
          <p:sp>
            <p:nvSpPr>
              <p:cNvPr id="406554" name="AutoShape 178"/>
              <p:cNvSpPr>
                <a:spLocks noChangeArrowheads="1"/>
              </p:cNvSpPr>
              <p:nvPr/>
            </p:nvSpPr>
            <p:spPr bwMode="auto">
              <a:xfrm>
                <a:off x="2138" y="941"/>
                <a:ext cx="423" cy="304"/>
              </a:xfrm>
              <a:prstGeom prst="cube">
                <a:avLst>
                  <a:gd name="adj" fmla="val 25000"/>
                </a:avLst>
              </a:prstGeom>
              <a:solidFill>
                <a:srgbClr val="EAEAE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06555" name="Text Box 179"/>
              <p:cNvSpPr txBox="1">
                <a:spLocks noChangeArrowheads="1"/>
              </p:cNvSpPr>
              <p:nvPr/>
            </p:nvSpPr>
            <p:spPr bwMode="auto">
              <a:xfrm>
                <a:off x="2092" y="1023"/>
                <a:ext cx="405" cy="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000" b="1">
                    <a:solidFill>
                      <a:srgbClr val="FF0000"/>
                    </a:solidFill>
                    <a:ea typeface="黑体" panose="02010609060101010101" pitchFamily="49" charset="-122"/>
                  </a:rPr>
                  <a:t>头端</a:t>
                </a:r>
              </a:p>
            </p:txBody>
          </p:sp>
          <p:grpSp>
            <p:nvGrpSpPr>
              <p:cNvPr id="406556" name="Group 180"/>
              <p:cNvGrpSpPr>
                <a:grpSpLocks noChangeAspect="1"/>
              </p:cNvGrpSpPr>
              <p:nvPr/>
            </p:nvGrpSpPr>
            <p:grpSpPr bwMode="auto">
              <a:xfrm>
                <a:off x="2246" y="722"/>
                <a:ext cx="228" cy="292"/>
                <a:chOff x="2246" y="722"/>
                <a:chExt cx="228" cy="292"/>
              </a:xfrm>
            </p:grpSpPr>
            <p:sp>
              <p:nvSpPr>
                <p:cNvPr id="406557" name="AutoShape 181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246" y="722"/>
                  <a:ext cx="228" cy="2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4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406558" name="Group 182"/>
                <p:cNvGrpSpPr>
                  <a:grpSpLocks/>
                </p:cNvGrpSpPr>
                <p:nvPr/>
              </p:nvGrpSpPr>
              <p:grpSpPr bwMode="auto">
                <a:xfrm>
                  <a:off x="2248" y="734"/>
                  <a:ext cx="224" cy="279"/>
                  <a:chOff x="2248" y="734"/>
                  <a:chExt cx="224" cy="279"/>
                </a:xfrm>
              </p:grpSpPr>
              <p:grpSp>
                <p:nvGrpSpPr>
                  <p:cNvPr id="406559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2328" y="898"/>
                    <a:ext cx="9" cy="37"/>
                    <a:chOff x="2328" y="898"/>
                    <a:chExt cx="9" cy="37"/>
                  </a:xfrm>
                </p:grpSpPr>
                <p:sp>
                  <p:nvSpPr>
                    <p:cNvPr id="406560" name="Rectangle 1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28" y="898"/>
                      <a:ext cx="9" cy="37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1588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06561" name="Line 1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2" y="898"/>
                      <a:ext cx="1" cy="33"/>
                    </a:xfrm>
                    <a:prstGeom prst="line">
                      <a:avLst/>
                    </a:prstGeom>
                    <a:no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406562" name="Rectangle 186"/>
                  <p:cNvSpPr>
                    <a:spLocks noChangeArrowheads="1"/>
                  </p:cNvSpPr>
                  <p:nvPr/>
                </p:nvSpPr>
                <p:spPr bwMode="auto">
                  <a:xfrm>
                    <a:off x="2295" y="876"/>
                    <a:ext cx="25" cy="57"/>
                  </a:xfrm>
                  <a:prstGeom prst="rect">
                    <a:avLst/>
                  </a:pr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3" name="Freeform 187"/>
                  <p:cNvSpPr>
                    <a:spLocks noChangeArrowheads="1"/>
                  </p:cNvSpPr>
                  <p:nvPr/>
                </p:nvSpPr>
                <p:spPr bwMode="auto">
                  <a:xfrm>
                    <a:off x="2385" y="888"/>
                    <a:ext cx="16" cy="12"/>
                  </a:xfrm>
                  <a:custGeom>
                    <a:avLst/>
                    <a:gdLst>
                      <a:gd name="T0" fmla="*/ 0 w 112"/>
                      <a:gd name="T1" fmla="*/ 0 h 84"/>
                      <a:gd name="T2" fmla="*/ 0 w 112"/>
                      <a:gd name="T3" fmla="*/ 84 h 84"/>
                      <a:gd name="T4" fmla="*/ 112 w 112"/>
                      <a:gd name="T5" fmla="*/ 84 h 84"/>
                      <a:gd name="T6" fmla="*/ 112 w 112"/>
                      <a:gd name="T7" fmla="*/ 17 h 84"/>
                      <a:gd name="T8" fmla="*/ 0 w 112"/>
                      <a:gd name="T9" fmla="*/ 0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2" h="84">
                        <a:moveTo>
                          <a:pt x="0" y="0"/>
                        </a:moveTo>
                        <a:lnTo>
                          <a:pt x="0" y="84"/>
                        </a:lnTo>
                        <a:lnTo>
                          <a:pt x="112" y="84"/>
                        </a:lnTo>
                        <a:lnTo>
                          <a:pt x="112" y="1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4" name="Freeform 188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866"/>
                    <a:ext cx="11" cy="11"/>
                  </a:xfrm>
                  <a:custGeom>
                    <a:avLst/>
                    <a:gdLst>
                      <a:gd name="T0" fmla="*/ 42 w 77"/>
                      <a:gd name="T1" fmla="*/ 0 h 76"/>
                      <a:gd name="T2" fmla="*/ 0 w 77"/>
                      <a:gd name="T3" fmla="*/ 76 h 76"/>
                      <a:gd name="T4" fmla="*/ 56 w 77"/>
                      <a:gd name="T5" fmla="*/ 70 h 76"/>
                      <a:gd name="T6" fmla="*/ 77 w 77"/>
                      <a:gd name="T7" fmla="*/ 19 h 76"/>
                      <a:gd name="T8" fmla="*/ 42 w 77"/>
                      <a:gd name="T9" fmla="*/ 0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7" h="76">
                        <a:moveTo>
                          <a:pt x="42" y="0"/>
                        </a:moveTo>
                        <a:lnTo>
                          <a:pt x="0" y="76"/>
                        </a:lnTo>
                        <a:lnTo>
                          <a:pt x="56" y="70"/>
                        </a:lnTo>
                        <a:lnTo>
                          <a:pt x="77" y="19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5" name="Freeform 189"/>
                  <p:cNvSpPr>
                    <a:spLocks noChangeArrowheads="1"/>
                  </p:cNvSpPr>
                  <p:nvPr/>
                </p:nvSpPr>
                <p:spPr bwMode="auto">
                  <a:xfrm>
                    <a:off x="2333" y="938"/>
                    <a:ext cx="51" cy="4"/>
                  </a:xfrm>
                  <a:custGeom>
                    <a:avLst/>
                    <a:gdLst>
                      <a:gd name="T0" fmla="*/ 0 w 356"/>
                      <a:gd name="T1" fmla="*/ 0 h 26"/>
                      <a:gd name="T2" fmla="*/ 356 w 356"/>
                      <a:gd name="T3" fmla="*/ 0 h 26"/>
                      <a:gd name="T4" fmla="*/ 356 w 356"/>
                      <a:gd name="T5" fmla="*/ 26 h 26"/>
                      <a:gd name="T6" fmla="*/ 5 w 356"/>
                      <a:gd name="T7" fmla="*/ 26 h 26"/>
                      <a:gd name="T8" fmla="*/ 0 w 356"/>
                      <a:gd name="T9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56" h="26">
                        <a:moveTo>
                          <a:pt x="0" y="0"/>
                        </a:moveTo>
                        <a:lnTo>
                          <a:pt x="356" y="0"/>
                        </a:lnTo>
                        <a:lnTo>
                          <a:pt x="356" y="26"/>
                        </a:lnTo>
                        <a:lnTo>
                          <a:pt x="5" y="2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6" name="Freeform 190"/>
                  <p:cNvSpPr>
                    <a:spLocks noChangeArrowheads="1"/>
                  </p:cNvSpPr>
                  <p:nvPr/>
                </p:nvSpPr>
                <p:spPr bwMode="auto">
                  <a:xfrm>
                    <a:off x="2294" y="795"/>
                    <a:ext cx="22" cy="24"/>
                  </a:xfrm>
                  <a:custGeom>
                    <a:avLst/>
                    <a:gdLst>
                      <a:gd name="T0" fmla="*/ 140 w 149"/>
                      <a:gd name="T1" fmla="*/ 0 h 163"/>
                      <a:gd name="T2" fmla="*/ 2 w 149"/>
                      <a:gd name="T3" fmla="*/ 117 h 163"/>
                      <a:gd name="T4" fmla="*/ 0 w 149"/>
                      <a:gd name="T5" fmla="*/ 163 h 163"/>
                      <a:gd name="T6" fmla="*/ 149 w 149"/>
                      <a:gd name="T7" fmla="*/ 54 h 163"/>
                      <a:gd name="T8" fmla="*/ 140 w 149"/>
                      <a:gd name="T9" fmla="*/ 0 h 1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9" h="163">
                        <a:moveTo>
                          <a:pt x="140" y="0"/>
                        </a:moveTo>
                        <a:lnTo>
                          <a:pt x="2" y="117"/>
                        </a:lnTo>
                        <a:lnTo>
                          <a:pt x="0" y="163"/>
                        </a:lnTo>
                        <a:lnTo>
                          <a:pt x="149" y="54"/>
                        </a:lnTo>
                        <a:lnTo>
                          <a:pt x="14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7" name="Freeform 191"/>
                  <p:cNvSpPr>
                    <a:spLocks noChangeArrowheads="1"/>
                  </p:cNvSpPr>
                  <p:nvPr/>
                </p:nvSpPr>
                <p:spPr bwMode="auto">
                  <a:xfrm>
                    <a:off x="2289" y="734"/>
                    <a:ext cx="32" cy="199"/>
                  </a:xfrm>
                  <a:custGeom>
                    <a:avLst/>
                    <a:gdLst>
                      <a:gd name="T0" fmla="*/ 225 w 225"/>
                      <a:gd name="T1" fmla="*/ 0 h 1395"/>
                      <a:gd name="T2" fmla="*/ 0 w 225"/>
                      <a:gd name="T3" fmla="*/ 82 h 1395"/>
                      <a:gd name="T4" fmla="*/ 0 w 225"/>
                      <a:gd name="T5" fmla="*/ 1395 h 1395"/>
                      <a:gd name="T6" fmla="*/ 42 w 225"/>
                      <a:gd name="T7" fmla="*/ 1395 h 1395"/>
                      <a:gd name="T8" fmla="*/ 42 w 225"/>
                      <a:gd name="T9" fmla="*/ 202 h 1395"/>
                      <a:gd name="T10" fmla="*/ 225 w 225"/>
                      <a:gd name="T11" fmla="*/ 133 h 1395"/>
                      <a:gd name="T12" fmla="*/ 225 w 225"/>
                      <a:gd name="T13" fmla="*/ 0 h 13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25" h="1395">
                        <a:moveTo>
                          <a:pt x="225" y="0"/>
                        </a:moveTo>
                        <a:lnTo>
                          <a:pt x="0" y="82"/>
                        </a:lnTo>
                        <a:lnTo>
                          <a:pt x="0" y="1395"/>
                        </a:lnTo>
                        <a:lnTo>
                          <a:pt x="42" y="1395"/>
                        </a:lnTo>
                        <a:lnTo>
                          <a:pt x="42" y="202"/>
                        </a:lnTo>
                        <a:lnTo>
                          <a:pt x="225" y="133"/>
                        </a:lnTo>
                        <a:lnTo>
                          <a:pt x="225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8" name="Freeform 192"/>
                  <p:cNvSpPr>
                    <a:spLocks noChangeArrowheads="1"/>
                  </p:cNvSpPr>
                  <p:nvPr/>
                </p:nvSpPr>
                <p:spPr bwMode="auto">
                  <a:xfrm>
                    <a:off x="2288" y="933"/>
                    <a:ext cx="184" cy="44"/>
                  </a:xfrm>
                  <a:custGeom>
                    <a:avLst/>
                    <a:gdLst>
                      <a:gd name="T0" fmla="*/ 0 w 1290"/>
                      <a:gd name="T1" fmla="*/ 304 h 304"/>
                      <a:gd name="T2" fmla="*/ 0 w 1290"/>
                      <a:gd name="T3" fmla="*/ 0 h 304"/>
                      <a:gd name="T4" fmla="*/ 281 w 1290"/>
                      <a:gd name="T5" fmla="*/ 0 h 304"/>
                      <a:gd name="T6" fmla="*/ 337 w 1290"/>
                      <a:gd name="T7" fmla="*/ 51 h 304"/>
                      <a:gd name="T8" fmla="*/ 505 w 1290"/>
                      <a:gd name="T9" fmla="*/ 51 h 304"/>
                      <a:gd name="T10" fmla="*/ 561 w 1290"/>
                      <a:gd name="T11" fmla="*/ 102 h 304"/>
                      <a:gd name="T12" fmla="*/ 1122 w 1290"/>
                      <a:gd name="T13" fmla="*/ 102 h 304"/>
                      <a:gd name="T14" fmla="*/ 1122 w 1290"/>
                      <a:gd name="T15" fmla="*/ 203 h 304"/>
                      <a:gd name="T16" fmla="*/ 1290 w 1290"/>
                      <a:gd name="T17" fmla="*/ 203 h 304"/>
                      <a:gd name="T18" fmla="*/ 1290 w 1290"/>
                      <a:gd name="T19" fmla="*/ 304 h 304"/>
                      <a:gd name="T20" fmla="*/ 0 w 1290"/>
                      <a:gd name="T21" fmla="*/ 304 h 3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290" h="304">
                        <a:moveTo>
                          <a:pt x="0" y="304"/>
                        </a:moveTo>
                        <a:lnTo>
                          <a:pt x="0" y="0"/>
                        </a:lnTo>
                        <a:lnTo>
                          <a:pt x="281" y="0"/>
                        </a:lnTo>
                        <a:lnTo>
                          <a:pt x="337" y="51"/>
                        </a:lnTo>
                        <a:lnTo>
                          <a:pt x="505" y="51"/>
                        </a:lnTo>
                        <a:lnTo>
                          <a:pt x="561" y="102"/>
                        </a:lnTo>
                        <a:lnTo>
                          <a:pt x="1122" y="102"/>
                        </a:lnTo>
                        <a:lnTo>
                          <a:pt x="1122" y="203"/>
                        </a:lnTo>
                        <a:lnTo>
                          <a:pt x="1290" y="203"/>
                        </a:lnTo>
                        <a:lnTo>
                          <a:pt x="1290" y="304"/>
                        </a:lnTo>
                        <a:lnTo>
                          <a:pt x="0" y="304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9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2288" y="962"/>
                    <a:ext cx="136" cy="15"/>
                  </a:xfrm>
                  <a:prstGeom prst="rect">
                    <a:avLst/>
                  </a:pr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0" name="Line 194"/>
                  <p:cNvSpPr>
                    <a:spLocks noChangeShapeType="1"/>
                  </p:cNvSpPr>
                  <p:nvPr/>
                </p:nvSpPr>
                <p:spPr bwMode="auto">
                  <a:xfrm>
                    <a:off x="2282" y="873"/>
                    <a:ext cx="1" cy="2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1" name="Freeform 195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98"/>
                    <a:ext cx="12" cy="13"/>
                  </a:xfrm>
                  <a:custGeom>
                    <a:avLst/>
                    <a:gdLst>
                      <a:gd name="T0" fmla="*/ 0 w 84"/>
                      <a:gd name="T1" fmla="*/ 89 h 89"/>
                      <a:gd name="T2" fmla="*/ 0 w 84"/>
                      <a:gd name="T3" fmla="*/ 0 h 89"/>
                      <a:gd name="T4" fmla="*/ 84 w 84"/>
                      <a:gd name="T5" fmla="*/ 0 h 89"/>
                      <a:gd name="T6" fmla="*/ 84 w 84"/>
                      <a:gd name="T7" fmla="*/ 32 h 89"/>
                      <a:gd name="T8" fmla="*/ 28 w 84"/>
                      <a:gd name="T9" fmla="*/ 32 h 89"/>
                      <a:gd name="T10" fmla="*/ 28 w 84"/>
                      <a:gd name="T11" fmla="*/ 89 h 89"/>
                      <a:gd name="T12" fmla="*/ 0 w 84"/>
                      <a:gd name="T13" fmla="*/ 89 h 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9">
                        <a:moveTo>
                          <a:pt x="0" y="89"/>
                        </a:moveTo>
                        <a:lnTo>
                          <a:pt x="0" y="0"/>
                        </a:lnTo>
                        <a:lnTo>
                          <a:pt x="84" y="0"/>
                        </a:lnTo>
                        <a:lnTo>
                          <a:pt x="84" y="32"/>
                        </a:lnTo>
                        <a:lnTo>
                          <a:pt x="28" y="32"/>
                        </a:lnTo>
                        <a:lnTo>
                          <a:pt x="28" y="89"/>
                        </a:lnTo>
                        <a:lnTo>
                          <a:pt x="0" y="89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2" name="Freeform 196"/>
                  <p:cNvSpPr>
                    <a:spLocks noChangeArrowheads="1"/>
                  </p:cNvSpPr>
                  <p:nvPr/>
                </p:nvSpPr>
                <p:spPr bwMode="auto">
                  <a:xfrm>
                    <a:off x="2344" y="889"/>
                    <a:ext cx="41" cy="53"/>
                  </a:xfrm>
                  <a:custGeom>
                    <a:avLst/>
                    <a:gdLst>
                      <a:gd name="T0" fmla="*/ 0 w 287"/>
                      <a:gd name="T1" fmla="*/ 0 h 367"/>
                      <a:gd name="T2" fmla="*/ 287 w 287"/>
                      <a:gd name="T3" fmla="*/ 367 h 367"/>
                      <a:gd name="T4" fmla="*/ 245 w 287"/>
                      <a:gd name="T5" fmla="*/ 360 h 367"/>
                      <a:gd name="T6" fmla="*/ 0 w 287"/>
                      <a:gd name="T7" fmla="*/ 51 h 367"/>
                      <a:gd name="T8" fmla="*/ 0 w 287"/>
                      <a:gd name="T9" fmla="*/ 0 h 3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87" h="367">
                        <a:moveTo>
                          <a:pt x="0" y="0"/>
                        </a:moveTo>
                        <a:lnTo>
                          <a:pt x="287" y="367"/>
                        </a:lnTo>
                        <a:lnTo>
                          <a:pt x="245" y="360"/>
                        </a:lnTo>
                        <a:lnTo>
                          <a:pt x="0" y="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3" name="Freeform 197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919"/>
                    <a:ext cx="32" cy="58"/>
                  </a:xfrm>
                  <a:custGeom>
                    <a:avLst/>
                    <a:gdLst>
                      <a:gd name="T0" fmla="*/ 168 w 224"/>
                      <a:gd name="T1" fmla="*/ 0 h 405"/>
                      <a:gd name="T2" fmla="*/ 0 w 224"/>
                      <a:gd name="T3" fmla="*/ 152 h 405"/>
                      <a:gd name="T4" fmla="*/ 0 w 224"/>
                      <a:gd name="T5" fmla="*/ 405 h 405"/>
                      <a:gd name="T6" fmla="*/ 224 w 224"/>
                      <a:gd name="T7" fmla="*/ 405 h 405"/>
                      <a:gd name="T8" fmla="*/ 224 w 224"/>
                      <a:gd name="T9" fmla="*/ 101 h 405"/>
                      <a:gd name="T10" fmla="*/ 168 w 224"/>
                      <a:gd name="T11" fmla="*/ 0 h 4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24" h="405">
                        <a:moveTo>
                          <a:pt x="168" y="0"/>
                        </a:moveTo>
                        <a:lnTo>
                          <a:pt x="0" y="152"/>
                        </a:lnTo>
                        <a:lnTo>
                          <a:pt x="0" y="405"/>
                        </a:lnTo>
                        <a:lnTo>
                          <a:pt x="224" y="405"/>
                        </a:lnTo>
                        <a:lnTo>
                          <a:pt x="224" y="101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4" name="Rectangle 198"/>
                  <p:cNvSpPr>
                    <a:spLocks noChangeArrowheads="1"/>
                  </p:cNvSpPr>
                  <p:nvPr/>
                </p:nvSpPr>
                <p:spPr bwMode="auto">
                  <a:xfrm>
                    <a:off x="2248" y="1004"/>
                    <a:ext cx="224" cy="9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5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2248" y="991"/>
                    <a:ext cx="224" cy="13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6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2248" y="977"/>
                    <a:ext cx="224" cy="14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7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2442" y="966"/>
                    <a:ext cx="24" cy="7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8" name="Oval 202"/>
                  <p:cNvSpPr>
                    <a:spLocks noChangeArrowheads="1"/>
                  </p:cNvSpPr>
                  <p:nvPr/>
                </p:nvSpPr>
                <p:spPr bwMode="auto">
                  <a:xfrm>
                    <a:off x="2271" y="911"/>
                    <a:ext cx="18" cy="16"/>
                  </a:xfrm>
                  <a:prstGeom prst="ellipse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9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83"/>
                    <a:ext cx="16" cy="14"/>
                  </a:xfrm>
                  <a:prstGeom prst="rect">
                    <a:avLst/>
                  </a:pr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80" name="Freeform 204"/>
                  <p:cNvSpPr>
                    <a:spLocks noChangeArrowheads="1"/>
                  </p:cNvSpPr>
                  <p:nvPr/>
                </p:nvSpPr>
                <p:spPr bwMode="auto">
                  <a:xfrm>
                    <a:off x="2320" y="876"/>
                    <a:ext cx="64" cy="57"/>
                  </a:xfrm>
                  <a:custGeom>
                    <a:avLst/>
                    <a:gdLst>
                      <a:gd name="T0" fmla="*/ 56 w 448"/>
                      <a:gd name="T1" fmla="*/ 403 h 403"/>
                      <a:gd name="T2" fmla="*/ 56 w 448"/>
                      <a:gd name="T3" fmla="*/ 50 h 403"/>
                      <a:gd name="T4" fmla="*/ 448 w 448"/>
                      <a:gd name="T5" fmla="*/ 50 h 403"/>
                      <a:gd name="T6" fmla="*/ 448 w 448"/>
                      <a:gd name="T7" fmla="*/ 0 h 403"/>
                      <a:gd name="T8" fmla="*/ 0 w 448"/>
                      <a:gd name="T9" fmla="*/ 0 h 403"/>
                      <a:gd name="T10" fmla="*/ 0 w 448"/>
                      <a:gd name="T11" fmla="*/ 403 h 403"/>
                      <a:gd name="T12" fmla="*/ 56 w 448"/>
                      <a:gd name="T13" fmla="*/ 403 h 4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48" h="403">
                        <a:moveTo>
                          <a:pt x="56" y="403"/>
                        </a:moveTo>
                        <a:lnTo>
                          <a:pt x="56" y="50"/>
                        </a:lnTo>
                        <a:lnTo>
                          <a:pt x="448" y="50"/>
                        </a:lnTo>
                        <a:lnTo>
                          <a:pt x="448" y="0"/>
                        </a:lnTo>
                        <a:lnTo>
                          <a:pt x="0" y="0"/>
                        </a:lnTo>
                        <a:lnTo>
                          <a:pt x="0" y="403"/>
                        </a:lnTo>
                        <a:lnTo>
                          <a:pt x="56" y="403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grpSp>
                <p:nvGrpSpPr>
                  <p:cNvPr id="406581" name="Group 205"/>
                  <p:cNvGrpSpPr>
                    <a:grpSpLocks/>
                  </p:cNvGrpSpPr>
                  <p:nvPr/>
                </p:nvGrpSpPr>
                <p:grpSpPr bwMode="auto">
                  <a:xfrm>
                    <a:off x="2267" y="821"/>
                    <a:ext cx="73" cy="59"/>
                    <a:chOff x="2267" y="821"/>
                    <a:chExt cx="73" cy="59"/>
                  </a:xfrm>
                </p:grpSpPr>
                <p:sp>
                  <p:nvSpPr>
                    <p:cNvPr id="406582" name="Oval 2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3" y="821"/>
                      <a:ext cx="67" cy="59"/>
                    </a:xfrm>
                    <a:prstGeom prst="ellipse">
                      <a:avLst/>
                    </a:prstGeom>
                    <a:solidFill>
                      <a:srgbClr val="808080"/>
                    </a:solidFill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06583" name="Oval 2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7" y="821"/>
                      <a:ext cx="66" cy="59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406584" name="Group 208"/>
                  <p:cNvGrpSpPr>
                    <a:grpSpLocks/>
                  </p:cNvGrpSpPr>
                  <p:nvPr/>
                </p:nvGrpSpPr>
                <p:grpSpPr bwMode="auto">
                  <a:xfrm>
                    <a:off x="2296" y="933"/>
                    <a:ext cx="24" cy="58"/>
                    <a:chOff x="2296" y="933"/>
                    <a:chExt cx="24" cy="58"/>
                  </a:xfrm>
                </p:grpSpPr>
                <p:sp>
                  <p:nvSpPr>
                    <p:cNvPr id="406585" name="Rectangle 2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96" y="933"/>
                      <a:ext cx="24" cy="58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1588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grpSp>
                  <p:nvGrpSpPr>
                    <p:cNvPr id="406586" name="Group 2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96" y="941"/>
                      <a:ext cx="24" cy="44"/>
                      <a:chOff x="2296" y="941"/>
                      <a:chExt cx="24" cy="44"/>
                    </a:xfrm>
                  </p:grpSpPr>
                  <p:sp>
                    <p:nvSpPr>
                      <p:cNvPr id="406587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48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88" name="Line 21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70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89" name="Line 21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62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0" name="Line 2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55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1" name="Line 2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41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2" name="Line 21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77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3" name="Line 21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84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406594" name="Rectangle 218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948"/>
                    <a:ext cx="8" cy="14"/>
                  </a:xfrm>
                  <a:prstGeom prst="rect">
                    <a:avLst/>
                  </a:pr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595" name="Group 219"/>
                <p:cNvGrpSpPr>
                  <a:grpSpLocks/>
                </p:cNvGrpSpPr>
                <p:nvPr/>
              </p:nvGrpSpPr>
              <p:grpSpPr bwMode="auto">
                <a:xfrm>
                  <a:off x="2382" y="788"/>
                  <a:ext cx="40" cy="40"/>
                  <a:chOff x="2382" y="788"/>
                  <a:chExt cx="40" cy="40"/>
                </a:xfrm>
              </p:grpSpPr>
              <p:sp>
                <p:nvSpPr>
                  <p:cNvPr id="406596" name="Freeform 220"/>
                  <p:cNvSpPr>
                    <a:spLocks noChangeArrowheads="1"/>
                  </p:cNvSpPr>
                  <p:nvPr/>
                </p:nvSpPr>
                <p:spPr bwMode="auto">
                  <a:xfrm>
                    <a:off x="2404" y="800"/>
                    <a:ext cx="18" cy="28"/>
                  </a:xfrm>
                  <a:custGeom>
                    <a:avLst/>
                    <a:gdLst>
                      <a:gd name="T0" fmla="*/ 106 w 127"/>
                      <a:gd name="T1" fmla="*/ 0 h 195"/>
                      <a:gd name="T2" fmla="*/ 0 w 127"/>
                      <a:gd name="T3" fmla="*/ 164 h 195"/>
                      <a:gd name="T4" fmla="*/ 21 w 127"/>
                      <a:gd name="T5" fmla="*/ 195 h 195"/>
                      <a:gd name="T6" fmla="*/ 127 w 127"/>
                      <a:gd name="T7" fmla="*/ 6 h 195"/>
                      <a:gd name="T8" fmla="*/ 106 w 127"/>
                      <a:gd name="T9" fmla="*/ 0 h 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7" h="195">
                        <a:moveTo>
                          <a:pt x="106" y="0"/>
                        </a:moveTo>
                        <a:lnTo>
                          <a:pt x="0" y="164"/>
                        </a:lnTo>
                        <a:lnTo>
                          <a:pt x="21" y="195"/>
                        </a:lnTo>
                        <a:lnTo>
                          <a:pt x="127" y="6"/>
                        </a:lnTo>
                        <a:lnTo>
                          <a:pt x="106" y="0"/>
                        </a:lnTo>
                        <a:close/>
                      </a:path>
                    </a:pathLst>
                  </a:custGeom>
                  <a:solidFill>
                    <a:srgbClr val="BFBFD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97" name="Freeform 221"/>
                  <p:cNvSpPr>
                    <a:spLocks noChangeArrowheads="1"/>
                  </p:cNvSpPr>
                  <p:nvPr/>
                </p:nvSpPr>
                <p:spPr bwMode="auto">
                  <a:xfrm>
                    <a:off x="2382" y="788"/>
                    <a:ext cx="35" cy="8"/>
                  </a:xfrm>
                  <a:custGeom>
                    <a:avLst/>
                    <a:gdLst>
                      <a:gd name="T0" fmla="*/ 238 w 246"/>
                      <a:gd name="T1" fmla="*/ 0 h 57"/>
                      <a:gd name="T2" fmla="*/ 0 w 246"/>
                      <a:gd name="T3" fmla="*/ 31 h 57"/>
                      <a:gd name="T4" fmla="*/ 35 w 246"/>
                      <a:gd name="T5" fmla="*/ 57 h 57"/>
                      <a:gd name="T6" fmla="*/ 246 w 246"/>
                      <a:gd name="T7" fmla="*/ 19 h 57"/>
                      <a:gd name="T8" fmla="*/ 238 w 246"/>
                      <a:gd name="T9" fmla="*/ 0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6" h="57">
                        <a:moveTo>
                          <a:pt x="238" y="0"/>
                        </a:moveTo>
                        <a:lnTo>
                          <a:pt x="0" y="31"/>
                        </a:lnTo>
                        <a:lnTo>
                          <a:pt x="35" y="57"/>
                        </a:lnTo>
                        <a:lnTo>
                          <a:pt x="246" y="19"/>
                        </a:lnTo>
                        <a:lnTo>
                          <a:pt x="238" y="0"/>
                        </a:lnTo>
                        <a:close/>
                      </a:path>
                    </a:pathLst>
                  </a:custGeom>
                  <a:solidFill>
                    <a:srgbClr val="BFBFD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598" name="Group 222"/>
                <p:cNvGrpSpPr>
                  <a:grpSpLocks/>
                </p:cNvGrpSpPr>
                <p:nvPr/>
              </p:nvGrpSpPr>
              <p:grpSpPr bwMode="auto">
                <a:xfrm>
                  <a:off x="2302" y="723"/>
                  <a:ext cx="132" cy="186"/>
                  <a:chOff x="2302" y="723"/>
                  <a:chExt cx="132" cy="186"/>
                </a:xfrm>
              </p:grpSpPr>
              <p:sp>
                <p:nvSpPr>
                  <p:cNvPr id="406599" name="Freeform 223"/>
                  <p:cNvSpPr>
                    <a:spLocks noChangeArrowheads="1"/>
                  </p:cNvSpPr>
                  <p:nvPr/>
                </p:nvSpPr>
                <p:spPr bwMode="auto">
                  <a:xfrm>
                    <a:off x="2302" y="724"/>
                    <a:ext cx="132" cy="185"/>
                  </a:xfrm>
                  <a:custGeom>
                    <a:avLst/>
                    <a:gdLst>
                      <a:gd name="T0" fmla="*/ 30 w 920"/>
                      <a:gd name="T1" fmla="*/ 47 h 1300"/>
                      <a:gd name="T2" fmla="*/ 16 w 920"/>
                      <a:gd name="T3" fmla="*/ 85 h 1300"/>
                      <a:gd name="T4" fmla="*/ 4 w 920"/>
                      <a:gd name="T5" fmla="*/ 132 h 1300"/>
                      <a:gd name="T6" fmla="*/ 0 w 920"/>
                      <a:gd name="T7" fmla="*/ 183 h 1300"/>
                      <a:gd name="T8" fmla="*/ 0 w 920"/>
                      <a:gd name="T9" fmla="*/ 233 h 1300"/>
                      <a:gd name="T10" fmla="*/ 12 w 920"/>
                      <a:gd name="T11" fmla="*/ 299 h 1300"/>
                      <a:gd name="T12" fmla="*/ 23 w 920"/>
                      <a:gd name="T13" fmla="*/ 381 h 1300"/>
                      <a:gd name="T14" fmla="*/ 44 w 920"/>
                      <a:gd name="T15" fmla="*/ 473 h 1300"/>
                      <a:gd name="T16" fmla="*/ 79 w 920"/>
                      <a:gd name="T17" fmla="*/ 578 h 1300"/>
                      <a:gd name="T18" fmla="*/ 131 w 920"/>
                      <a:gd name="T19" fmla="*/ 679 h 1300"/>
                      <a:gd name="T20" fmla="*/ 215 w 920"/>
                      <a:gd name="T21" fmla="*/ 799 h 1300"/>
                      <a:gd name="T22" fmla="*/ 299 w 920"/>
                      <a:gd name="T23" fmla="*/ 912 h 1300"/>
                      <a:gd name="T24" fmla="*/ 369 w 920"/>
                      <a:gd name="T25" fmla="*/ 988 h 1300"/>
                      <a:gd name="T26" fmla="*/ 467 w 920"/>
                      <a:gd name="T27" fmla="*/ 1079 h 1300"/>
                      <a:gd name="T28" fmla="*/ 569 w 920"/>
                      <a:gd name="T29" fmla="*/ 1155 h 1300"/>
                      <a:gd name="T30" fmla="*/ 660 w 920"/>
                      <a:gd name="T31" fmla="*/ 1215 h 1300"/>
                      <a:gd name="T32" fmla="*/ 726 w 920"/>
                      <a:gd name="T33" fmla="*/ 1253 h 1300"/>
                      <a:gd name="T34" fmla="*/ 793 w 920"/>
                      <a:gd name="T35" fmla="*/ 1281 h 1300"/>
                      <a:gd name="T36" fmla="*/ 846 w 920"/>
                      <a:gd name="T37" fmla="*/ 1300 h 1300"/>
                      <a:gd name="T38" fmla="*/ 888 w 920"/>
                      <a:gd name="T39" fmla="*/ 1300 h 1300"/>
                      <a:gd name="T40" fmla="*/ 920 w 920"/>
                      <a:gd name="T41" fmla="*/ 1284 h 1300"/>
                      <a:gd name="T42" fmla="*/ 61 w 920"/>
                      <a:gd name="T43" fmla="*/ 0 h 1300"/>
                      <a:gd name="T44" fmla="*/ 30 w 920"/>
                      <a:gd name="T45" fmla="*/ 47 h 13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920" h="1300">
                        <a:moveTo>
                          <a:pt x="30" y="47"/>
                        </a:moveTo>
                        <a:lnTo>
                          <a:pt x="16" y="85"/>
                        </a:lnTo>
                        <a:lnTo>
                          <a:pt x="4" y="132"/>
                        </a:lnTo>
                        <a:lnTo>
                          <a:pt x="0" y="183"/>
                        </a:lnTo>
                        <a:lnTo>
                          <a:pt x="0" y="233"/>
                        </a:lnTo>
                        <a:lnTo>
                          <a:pt x="12" y="299"/>
                        </a:lnTo>
                        <a:lnTo>
                          <a:pt x="23" y="381"/>
                        </a:lnTo>
                        <a:lnTo>
                          <a:pt x="44" y="473"/>
                        </a:lnTo>
                        <a:lnTo>
                          <a:pt x="79" y="578"/>
                        </a:lnTo>
                        <a:lnTo>
                          <a:pt x="131" y="679"/>
                        </a:lnTo>
                        <a:lnTo>
                          <a:pt x="215" y="799"/>
                        </a:lnTo>
                        <a:lnTo>
                          <a:pt x="299" y="912"/>
                        </a:lnTo>
                        <a:lnTo>
                          <a:pt x="369" y="988"/>
                        </a:lnTo>
                        <a:lnTo>
                          <a:pt x="467" y="1079"/>
                        </a:lnTo>
                        <a:lnTo>
                          <a:pt x="569" y="1155"/>
                        </a:lnTo>
                        <a:lnTo>
                          <a:pt x="660" y="1215"/>
                        </a:lnTo>
                        <a:lnTo>
                          <a:pt x="726" y="1253"/>
                        </a:lnTo>
                        <a:lnTo>
                          <a:pt x="793" y="1281"/>
                        </a:lnTo>
                        <a:lnTo>
                          <a:pt x="846" y="1300"/>
                        </a:lnTo>
                        <a:lnTo>
                          <a:pt x="888" y="1300"/>
                        </a:lnTo>
                        <a:lnTo>
                          <a:pt x="920" y="1284"/>
                        </a:lnTo>
                        <a:lnTo>
                          <a:pt x="61" y="0"/>
                        </a:lnTo>
                        <a:lnTo>
                          <a:pt x="30" y="4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0" name="Freeform 224"/>
                  <p:cNvSpPr>
                    <a:spLocks noChangeArrowheads="1"/>
                  </p:cNvSpPr>
                  <p:nvPr/>
                </p:nvSpPr>
                <p:spPr bwMode="auto">
                  <a:xfrm>
                    <a:off x="2310" y="723"/>
                    <a:ext cx="124" cy="184"/>
                  </a:xfrm>
                  <a:custGeom>
                    <a:avLst/>
                    <a:gdLst>
                      <a:gd name="T0" fmla="*/ 7 w 866"/>
                      <a:gd name="T1" fmla="*/ 0 h 1288"/>
                      <a:gd name="T2" fmla="*/ 0 w 866"/>
                      <a:gd name="T3" fmla="*/ 26 h 1288"/>
                      <a:gd name="T4" fmla="*/ 0 w 866"/>
                      <a:gd name="T5" fmla="*/ 82 h 1288"/>
                      <a:gd name="T6" fmla="*/ 4 w 866"/>
                      <a:gd name="T7" fmla="*/ 149 h 1288"/>
                      <a:gd name="T8" fmla="*/ 11 w 866"/>
                      <a:gd name="T9" fmla="*/ 202 h 1288"/>
                      <a:gd name="T10" fmla="*/ 21 w 866"/>
                      <a:gd name="T11" fmla="*/ 272 h 1288"/>
                      <a:gd name="T12" fmla="*/ 35 w 866"/>
                      <a:gd name="T13" fmla="*/ 354 h 1288"/>
                      <a:gd name="T14" fmla="*/ 56 w 866"/>
                      <a:gd name="T15" fmla="*/ 439 h 1288"/>
                      <a:gd name="T16" fmla="*/ 98 w 866"/>
                      <a:gd name="T17" fmla="*/ 547 h 1288"/>
                      <a:gd name="T18" fmla="*/ 161 w 866"/>
                      <a:gd name="T19" fmla="*/ 670 h 1288"/>
                      <a:gd name="T20" fmla="*/ 231 w 866"/>
                      <a:gd name="T21" fmla="*/ 771 h 1288"/>
                      <a:gd name="T22" fmla="*/ 315 w 866"/>
                      <a:gd name="T23" fmla="*/ 878 h 1288"/>
                      <a:gd name="T24" fmla="*/ 392 w 866"/>
                      <a:gd name="T25" fmla="*/ 960 h 1288"/>
                      <a:gd name="T26" fmla="*/ 452 w 866"/>
                      <a:gd name="T27" fmla="*/ 1016 h 1288"/>
                      <a:gd name="T28" fmla="*/ 508 w 866"/>
                      <a:gd name="T29" fmla="*/ 1068 h 1288"/>
                      <a:gd name="T30" fmla="*/ 567 w 866"/>
                      <a:gd name="T31" fmla="*/ 1118 h 1288"/>
                      <a:gd name="T32" fmla="*/ 634 w 866"/>
                      <a:gd name="T33" fmla="*/ 1168 h 1288"/>
                      <a:gd name="T34" fmla="*/ 679 w 866"/>
                      <a:gd name="T35" fmla="*/ 1200 h 1288"/>
                      <a:gd name="T36" fmla="*/ 728 w 866"/>
                      <a:gd name="T37" fmla="*/ 1228 h 1288"/>
                      <a:gd name="T38" fmla="*/ 782 w 866"/>
                      <a:gd name="T39" fmla="*/ 1256 h 1288"/>
                      <a:gd name="T40" fmla="*/ 827 w 866"/>
                      <a:gd name="T41" fmla="*/ 1282 h 1288"/>
                      <a:gd name="T42" fmla="*/ 855 w 866"/>
                      <a:gd name="T43" fmla="*/ 1288 h 1288"/>
                      <a:gd name="T44" fmla="*/ 866 w 866"/>
                      <a:gd name="T45" fmla="*/ 1270 h 1288"/>
                      <a:gd name="T46" fmla="*/ 863 w 866"/>
                      <a:gd name="T47" fmla="*/ 1243 h 1288"/>
                      <a:gd name="T48" fmla="*/ 856 w 866"/>
                      <a:gd name="T49" fmla="*/ 1213 h 1288"/>
                      <a:gd name="T50" fmla="*/ 845 w 866"/>
                      <a:gd name="T51" fmla="*/ 1159 h 1288"/>
                      <a:gd name="T52" fmla="*/ 831 w 866"/>
                      <a:gd name="T53" fmla="*/ 1089 h 1288"/>
                      <a:gd name="T54" fmla="*/ 813 w 866"/>
                      <a:gd name="T55" fmla="*/ 1023 h 1288"/>
                      <a:gd name="T56" fmla="*/ 792 w 866"/>
                      <a:gd name="T57" fmla="*/ 947 h 1288"/>
                      <a:gd name="T58" fmla="*/ 764 w 866"/>
                      <a:gd name="T59" fmla="*/ 866 h 1288"/>
                      <a:gd name="T60" fmla="*/ 733 w 866"/>
                      <a:gd name="T61" fmla="*/ 802 h 1288"/>
                      <a:gd name="T62" fmla="*/ 707 w 866"/>
                      <a:gd name="T63" fmla="*/ 746 h 1288"/>
                      <a:gd name="T64" fmla="*/ 666 w 866"/>
                      <a:gd name="T65" fmla="*/ 672 h 1288"/>
                      <a:gd name="T66" fmla="*/ 627 w 866"/>
                      <a:gd name="T67" fmla="*/ 607 h 1288"/>
                      <a:gd name="T68" fmla="*/ 579 w 866"/>
                      <a:gd name="T69" fmla="*/ 537 h 1288"/>
                      <a:gd name="T70" fmla="*/ 504 w 866"/>
                      <a:gd name="T71" fmla="*/ 448 h 1288"/>
                      <a:gd name="T72" fmla="*/ 452 w 866"/>
                      <a:gd name="T73" fmla="*/ 385 h 1288"/>
                      <a:gd name="T74" fmla="*/ 376 w 866"/>
                      <a:gd name="T75" fmla="*/ 299 h 1288"/>
                      <a:gd name="T76" fmla="*/ 305 w 866"/>
                      <a:gd name="T77" fmla="*/ 237 h 1288"/>
                      <a:gd name="T78" fmla="*/ 235 w 866"/>
                      <a:gd name="T79" fmla="*/ 173 h 1288"/>
                      <a:gd name="T80" fmla="*/ 182 w 866"/>
                      <a:gd name="T81" fmla="*/ 127 h 1288"/>
                      <a:gd name="T82" fmla="*/ 126 w 866"/>
                      <a:gd name="T83" fmla="*/ 78 h 1288"/>
                      <a:gd name="T84" fmla="*/ 84 w 866"/>
                      <a:gd name="T85" fmla="*/ 45 h 1288"/>
                      <a:gd name="T86" fmla="*/ 42 w 866"/>
                      <a:gd name="T87" fmla="*/ 13 h 1288"/>
                      <a:gd name="T88" fmla="*/ 7 w 866"/>
                      <a:gd name="T89" fmla="*/ 0 h 1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866" h="1288">
                        <a:moveTo>
                          <a:pt x="7" y="0"/>
                        </a:moveTo>
                        <a:lnTo>
                          <a:pt x="0" y="26"/>
                        </a:lnTo>
                        <a:lnTo>
                          <a:pt x="0" y="82"/>
                        </a:lnTo>
                        <a:lnTo>
                          <a:pt x="4" y="149"/>
                        </a:lnTo>
                        <a:lnTo>
                          <a:pt x="11" y="202"/>
                        </a:lnTo>
                        <a:lnTo>
                          <a:pt x="21" y="272"/>
                        </a:lnTo>
                        <a:lnTo>
                          <a:pt x="35" y="354"/>
                        </a:lnTo>
                        <a:lnTo>
                          <a:pt x="56" y="439"/>
                        </a:lnTo>
                        <a:lnTo>
                          <a:pt x="98" y="547"/>
                        </a:lnTo>
                        <a:lnTo>
                          <a:pt x="161" y="670"/>
                        </a:lnTo>
                        <a:lnTo>
                          <a:pt x="231" y="771"/>
                        </a:lnTo>
                        <a:lnTo>
                          <a:pt x="315" y="878"/>
                        </a:lnTo>
                        <a:lnTo>
                          <a:pt x="392" y="960"/>
                        </a:lnTo>
                        <a:lnTo>
                          <a:pt x="452" y="1016"/>
                        </a:lnTo>
                        <a:lnTo>
                          <a:pt x="508" y="1068"/>
                        </a:lnTo>
                        <a:lnTo>
                          <a:pt x="567" y="1118"/>
                        </a:lnTo>
                        <a:lnTo>
                          <a:pt x="634" y="1168"/>
                        </a:lnTo>
                        <a:lnTo>
                          <a:pt x="679" y="1200"/>
                        </a:lnTo>
                        <a:lnTo>
                          <a:pt x="728" y="1228"/>
                        </a:lnTo>
                        <a:lnTo>
                          <a:pt x="782" y="1256"/>
                        </a:lnTo>
                        <a:lnTo>
                          <a:pt x="827" y="1282"/>
                        </a:lnTo>
                        <a:lnTo>
                          <a:pt x="855" y="1288"/>
                        </a:lnTo>
                        <a:lnTo>
                          <a:pt x="866" y="1270"/>
                        </a:lnTo>
                        <a:lnTo>
                          <a:pt x="863" y="1243"/>
                        </a:lnTo>
                        <a:lnTo>
                          <a:pt x="856" y="1213"/>
                        </a:lnTo>
                        <a:lnTo>
                          <a:pt x="845" y="1159"/>
                        </a:lnTo>
                        <a:lnTo>
                          <a:pt x="831" y="1089"/>
                        </a:lnTo>
                        <a:lnTo>
                          <a:pt x="813" y="1023"/>
                        </a:lnTo>
                        <a:lnTo>
                          <a:pt x="792" y="947"/>
                        </a:lnTo>
                        <a:lnTo>
                          <a:pt x="764" y="866"/>
                        </a:lnTo>
                        <a:lnTo>
                          <a:pt x="733" y="802"/>
                        </a:lnTo>
                        <a:lnTo>
                          <a:pt x="707" y="746"/>
                        </a:lnTo>
                        <a:lnTo>
                          <a:pt x="666" y="672"/>
                        </a:lnTo>
                        <a:lnTo>
                          <a:pt x="627" y="607"/>
                        </a:lnTo>
                        <a:lnTo>
                          <a:pt x="579" y="537"/>
                        </a:lnTo>
                        <a:lnTo>
                          <a:pt x="504" y="448"/>
                        </a:lnTo>
                        <a:lnTo>
                          <a:pt x="452" y="385"/>
                        </a:lnTo>
                        <a:lnTo>
                          <a:pt x="376" y="299"/>
                        </a:lnTo>
                        <a:lnTo>
                          <a:pt x="305" y="237"/>
                        </a:lnTo>
                        <a:lnTo>
                          <a:pt x="235" y="173"/>
                        </a:lnTo>
                        <a:lnTo>
                          <a:pt x="182" y="127"/>
                        </a:lnTo>
                        <a:lnTo>
                          <a:pt x="126" y="78"/>
                        </a:lnTo>
                        <a:lnTo>
                          <a:pt x="84" y="45"/>
                        </a:lnTo>
                        <a:lnTo>
                          <a:pt x="42" y="13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601" name="Group 225"/>
                <p:cNvGrpSpPr>
                  <a:grpSpLocks/>
                </p:cNvGrpSpPr>
                <p:nvPr/>
              </p:nvGrpSpPr>
              <p:grpSpPr bwMode="auto">
                <a:xfrm>
                  <a:off x="2315" y="770"/>
                  <a:ext cx="126" cy="121"/>
                  <a:chOff x="2315" y="770"/>
                  <a:chExt cx="126" cy="121"/>
                </a:xfrm>
              </p:grpSpPr>
              <p:sp>
                <p:nvSpPr>
                  <p:cNvPr id="406602" name="Freeform 226"/>
                  <p:cNvSpPr>
                    <a:spLocks noChangeArrowheads="1"/>
                  </p:cNvSpPr>
                  <p:nvPr/>
                </p:nvSpPr>
                <p:spPr bwMode="auto">
                  <a:xfrm>
                    <a:off x="2315" y="770"/>
                    <a:ext cx="121" cy="8"/>
                  </a:xfrm>
                  <a:custGeom>
                    <a:avLst/>
                    <a:gdLst>
                      <a:gd name="T0" fmla="*/ 0 w 851"/>
                      <a:gd name="T1" fmla="*/ 0 h 57"/>
                      <a:gd name="T2" fmla="*/ 851 w 851"/>
                      <a:gd name="T3" fmla="*/ 32 h 57"/>
                      <a:gd name="T4" fmla="*/ 844 w 851"/>
                      <a:gd name="T5" fmla="*/ 57 h 57"/>
                      <a:gd name="T6" fmla="*/ 3 w 851"/>
                      <a:gd name="T7" fmla="*/ 26 h 57"/>
                      <a:gd name="T8" fmla="*/ 0 w 851"/>
                      <a:gd name="T9" fmla="*/ 0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51" h="57">
                        <a:moveTo>
                          <a:pt x="0" y="0"/>
                        </a:moveTo>
                        <a:lnTo>
                          <a:pt x="851" y="32"/>
                        </a:lnTo>
                        <a:lnTo>
                          <a:pt x="844" y="57"/>
                        </a:lnTo>
                        <a:lnTo>
                          <a:pt x="3" y="2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DFDFF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3" name="Freeform 227"/>
                  <p:cNvSpPr>
                    <a:spLocks noChangeArrowheads="1"/>
                  </p:cNvSpPr>
                  <p:nvPr/>
                </p:nvSpPr>
                <p:spPr bwMode="auto">
                  <a:xfrm>
                    <a:off x="2398" y="794"/>
                    <a:ext cx="43" cy="97"/>
                  </a:xfrm>
                  <a:custGeom>
                    <a:avLst/>
                    <a:gdLst>
                      <a:gd name="T0" fmla="*/ 267 w 302"/>
                      <a:gd name="T1" fmla="*/ 13 h 673"/>
                      <a:gd name="T2" fmla="*/ 0 w 302"/>
                      <a:gd name="T3" fmla="*/ 657 h 673"/>
                      <a:gd name="T4" fmla="*/ 25 w 302"/>
                      <a:gd name="T5" fmla="*/ 673 h 673"/>
                      <a:gd name="T6" fmla="*/ 302 w 302"/>
                      <a:gd name="T7" fmla="*/ 0 h 673"/>
                      <a:gd name="T8" fmla="*/ 267 w 302"/>
                      <a:gd name="T9" fmla="*/ 13 h 6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2" h="673">
                        <a:moveTo>
                          <a:pt x="267" y="13"/>
                        </a:moveTo>
                        <a:lnTo>
                          <a:pt x="0" y="657"/>
                        </a:lnTo>
                        <a:lnTo>
                          <a:pt x="25" y="673"/>
                        </a:lnTo>
                        <a:lnTo>
                          <a:pt x="302" y="0"/>
                        </a:lnTo>
                        <a:lnTo>
                          <a:pt x="267" y="13"/>
                        </a:lnTo>
                        <a:close/>
                      </a:path>
                    </a:pathLst>
                  </a:custGeom>
                  <a:solidFill>
                    <a:srgbClr val="DFDFF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604" name="Group 228"/>
                <p:cNvGrpSpPr>
                  <a:grpSpLocks/>
                </p:cNvGrpSpPr>
                <p:nvPr/>
              </p:nvGrpSpPr>
              <p:grpSpPr bwMode="auto">
                <a:xfrm>
                  <a:off x="2413" y="772"/>
                  <a:ext cx="51" cy="30"/>
                  <a:chOff x="2413" y="772"/>
                  <a:chExt cx="51" cy="30"/>
                </a:xfrm>
              </p:grpSpPr>
              <p:sp>
                <p:nvSpPr>
                  <p:cNvPr id="406605" name="Freeform 229"/>
                  <p:cNvSpPr>
                    <a:spLocks noChangeArrowheads="1"/>
                  </p:cNvSpPr>
                  <p:nvPr/>
                </p:nvSpPr>
                <p:spPr bwMode="auto">
                  <a:xfrm>
                    <a:off x="2413" y="776"/>
                    <a:ext cx="36" cy="26"/>
                  </a:xfrm>
                  <a:custGeom>
                    <a:avLst/>
                    <a:gdLst>
                      <a:gd name="T0" fmla="*/ 187 w 250"/>
                      <a:gd name="T1" fmla="*/ 0 h 184"/>
                      <a:gd name="T2" fmla="*/ 11 w 250"/>
                      <a:gd name="T3" fmla="*/ 57 h 184"/>
                      <a:gd name="T4" fmla="*/ 4 w 250"/>
                      <a:gd name="T5" fmla="*/ 67 h 184"/>
                      <a:gd name="T6" fmla="*/ 0 w 250"/>
                      <a:gd name="T7" fmla="*/ 86 h 184"/>
                      <a:gd name="T8" fmla="*/ 2 w 250"/>
                      <a:gd name="T9" fmla="*/ 112 h 184"/>
                      <a:gd name="T10" fmla="*/ 5 w 250"/>
                      <a:gd name="T11" fmla="*/ 128 h 184"/>
                      <a:gd name="T12" fmla="*/ 15 w 250"/>
                      <a:gd name="T13" fmla="*/ 151 h 184"/>
                      <a:gd name="T14" fmla="*/ 33 w 250"/>
                      <a:gd name="T15" fmla="*/ 169 h 184"/>
                      <a:gd name="T16" fmla="*/ 57 w 250"/>
                      <a:gd name="T17" fmla="*/ 181 h 184"/>
                      <a:gd name="T18" fmla="*/ 71 w 250"/>
                      <a:gd name="T19" fmla="*/ 184 h 184"/>
                      <a:gd name="T20" fmla="*/ 85 w 250"/>
                      <a:gd name="T21" fmla="*/ 184 h 184"/>
                      <a:gd name="T22" fmla="*/ 250 w 250"/>
                      <a:gd name="T23" fmla="*/ 114 h 184"/>
                      <a:gd name="T24" fmla="*/ 218 w 250"/>
                      <a:gd name="T25" fmla="*/ 92 h 184"/>
                      <a:gd name="T26" fmla="*/ 201 w 250"/>
                      <a:gd name="T27" fmla="*/ 70 h 184"/>
                      <a:gd name="T28" fmla="*/ 187 w 250"/>
                      <a:gd name="T29" fmla="*/ 0 h 1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50" h="184">
                        <a:moveTo>
                          <a:pt x="187" y="0"/>
                        </a:moveTo>
                        <a:lnTo>
                          <a:pt x="11" y="57"/>
                        </a:lnTo>
                        <a:lnTo>
                          <a:pt x="4" y="67"/>
                        </a:lnTo>
                        <a:lnTo>
                          <a:pt x="0" y="86"/>
                        </a:lnTo>
                        <a:lnTo>
                          <a:pt x="2" y="112"/>
                        </a:lnTo>
                        <a:lnTo>
                          <a:pt x="5" y="128"/>
                        </a:lnTo>
                        <a:lnTo>
                          <a:pt x="15" y="151"/>
                        </a:lnTo>
                        <a:lnTo>
                          <a:pt x="33" y="169"/>
                        </a:lnTo>
                        <a:lnTo>
                          <a:pt x="57" y="181"/>
                        </a:lnTo>
                        <a:lnTo>
                          <a:pt x="71" y="184"/>
                        </a:lnTo>
                        <a:lnTo>
                          <a:pt x="85" y="184"/>
                        </a:lnTo>
                        <a:lnTo>
                          <a:pt x="250" y="114"/>
                        </a:lnTo>
                        <a:lnTo>
                          <a:pt x="218" y="92"/>
                        </a:lnTo>
                        <a:lnTo>
                          <a:pt x="201" y="70"/>
                        </a:lnTo>
                        <a:lnTo>
                          <a:pt x="187" y="0"/>
                        </a:lnTo>
                        <a:close/>
                      </a:path>
                    </a:pathLst>
                  </a:custGeom>
                  <a:solidFill>
                    <a:srgbClr val="BFBFD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6" name="Freeform 230"/>
                  <p:cNvSpPr>
                    <a:spLocks noChangeArrowheads="1"/>
                  </p:cNvSpPr>
                  <p:nvPr/>
                </p:nvSpPr>
                <p:spPr bwMode="auto">
                  <a:xfrm>
                    <a:off x="2434" y="772"/>
                    <a:ext cx="20" cy="25"/>
                  </a:xfrm>
                  <a:custGeom>
                    <a:avLst/>
                    <a:gdLst>
                      <a:gd name="T0" fmla="*/ 81 w 139"/>
                      <a:gd name="T1" fmla="*/ 25 h 173"/>
                      <a:gd name="T2" fmla="*/ 74 w 139"/>
                      <a:gd name="T3" fmla="*/ 15 h 173"/>
                      <a:gd name="T4" fmla="*/ 60 w 139"/>
                      <a:gd name="T5" fmla="*/ 5 h 173"/>
                      <a:gd name="T6" fmla="*/ 36 w 139"/>
                      <a:gd name="T7" fmla="*/ 0 h 173"/>
                      <a:gd name="T8" fmla="*/ 22 w 139"/>
                      <a:gd name="T9" fmla="*/ 2 h 173"/>
                      <a:gd name="T10" fmla="*/ 13 w 139"/>
                      <a:gd name="T11" fmla="*/ 12 h 173"/>
                      <a:gd name="T12" fmla="*/ 4 w 139"/>
                      <a:gd name="T13" fmla="*/ 25 h 173"/>
                      <a:gd name="T14" fmla="*/ 0 w 139"/>
                      <a:gd name="T15" fmla="*/ 46 h 173"/>
                      <a:gd name="T16" fmla="*/ 1 w 139"/>
                      <a:gd name="T17" fmla="*/ 58 h 173"/>
                      <a:gd name="T18" fmla="*/ 3 w 139"/>
                      <a:gd name="T19" fmla="*/ 74 h 173"/>
                      <a:gd name="T20" fmla="*/ 9 w 139"/>
                      <a:gd name="T21" fmla="*/ 97 h 173"/>
                      <a:gd name="T22" fmla="*/ 20 w 139"/>
                      <a:gd name="T23" fmla="*/ 116 h 173"/>
                      <a:gd name="T24" fmla="*/ 31 w 139"/>
                      <a:gd name="T25" fmla="*/ 133 h 173"/>
                      <a:gd name="T26" fmla="*/ 44 w 139"/>
                      <a:gd name="T27" fmla="*/ 147 h 173"/>
                      <a:gd name="T28" fmla="*/ 58 w 139"/>
                      <a:gd name="T29" fmla="*/ 160 h 173"/>
                      <a:gd name="T30" fmla="*/ 76 w 139"/>
                      <a:gd name="T31" fmla="*/ 167 h 173"/>
                      <a:gd name="T32" fmla="*/ 97 w 139"/>
                      <a:gd name="T33" fmla="*/ 173 h 173"/>
                      <a:gd name="T34" fmla="*/ 114 w 139"/>
                      <a:gd name="T35" fmla="*/ 173 h 173"/>
                      <a:gd name="T36" fmla="*/ 130 w 139"/>
                      <a:gd name="T37" fmla="*/ 164 h 173"/>
                      <a:gd name="T38" fmla="*/ 137 w 139"/>
                      <a:gd name="T39" fmla="*/ 151 h 173"/>
                      <a:gd name="T40" fmla="*/ 139 w 139"/>
                      <a:gd name="T41" fmla="*/ 132 h 173"/>
                      <a:gd name="T42" fmla="*/ 134 w 139"/>
                      <a:gd name="T43" fmla="*/ 111 h 173"/>
                      <a:gd name="T44" fmla="*/ 123 w 139"/>
                      <a:gd name="T45" fmla="*/ 82 h 173"/>
                      <a:gd name="T46" fmla="*/ 99 w 139"/>
                      <a:gd name="T47" fmla="*/ 46 h 173"/>
                      <a:gd name="T48" fmla="*/ 81 w 139"/>
                      <a:gd name="T49" fmla="*/ 25 h 1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139" h="173">
                        <a:moveTo>
                          <a:pt x="81" y="25"/>
                        </a:moveTo>
                        <a:lnTo>
                          <a:pt x="74" y="15"/>
                        </a:lnTo>
                        <a:lnTo>
                          <a:pt x="60" y="5"/>
                        </a:lnTo>
                        <a:lnTo>
                          <a:pt x="36" y="0"/>
                        </a:lnTo>
                        <a:lnTo>
                          <a:pt x="22" y="2"/>
                        </a:lnTo>
                        <a:lnTo>
                          <a:pt x="13" y="12"/>
                        </a:lnTo>
                        <a:lnTo>
                          <a:pt x="4" y="25"/>
                        </a:lnTo>
                        <a:lnTo>
                          <a:pt x="0" y="46"/>
                        </a:lnTo>
                        <a:lnTo>
                          <a:pt x="1" y="58"/>
                        </a:lnTo>
                        <a:lnTo>
                          <a:pt x="3" y="74"/>
                        </a:lnTo>
                        <a:lnTo>
                          <a:pt x="9" y="97"/>
                        </a:lnTo>
                        <a:lnTo>
                          <a:pt x="20" y="116"/>
                        </a:lnTo>
                        <a:lnTo>
                          <a:pt x="31" y="133"/>
                        </a:lnTo>
                        <a:lnTo>
                          <a:pt x="44" y="147"/>
                        </a:lnTo>
                        <a:lnTo>
                          <a:pt x="58" y="160"/>
                        </a:lnTo>
                        <a:lnTo>
                          <a:pt x="76" y="167"/>
                        </a:lnTo>
                        <a:lnTo>
                          <a:pt x="97" y="173"/>
                        </a:lnTo>
                        <a:lnTo>
                          <a:pt x="114" y="173"/>
                        </a:lnTo>
                        <a:lnTo>
                          <a:pt x="130" y="164"/>
                        </a:lnTo>
                        <a:lnTo>
                          <a:pt x="137" y="151"/>
                        </a:lnTo>
                        <a:lnTo>
                          <a:pt x="139" y="132"/>
                        </a:lnTo>
                        <a:lnTo>
                          <a:pt x="134" y="111"/>
                        </a:lnTo>
                        <a:lnTo>
                          <a:pt x="123" y="82"/>
                        </a:lnTo>
                        <a:lnTo>
                          <a:pt x="99" y="46"/>
                        </a:lnTo>
                        <a:lnTo>
                          <a:pt x="81" y="2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7" name="Freeform 231"/>
                  <p:cNvSpPr>
                    <a:spLocks noChangeArrowheads="1"/>
                  </p:cNvSpPr>
                  <p:nvPr/>
                </p:nvSpPr>
                <p:spPr bwMode="auto">
                  <a:xfrm>
                    <a:off x="2439" y="774"/>
                    <a:ext cx="25" cy="17"/>
                  </a:xfrm>
                  <a:custGeom>
                    <a:avLst/>
                    <a:gdLst>
                      <a:gd name="T0" fmla="*/ 13 w 171"/>
                      <a:gd name="T1" fmla="*/ 27 h 123"/>
                      <a:gd name="T2" fmla="*/ 120 w 171"/>
                      <a:gd name="T3" fmla="*/ 3 h 123"/>
                      <a:gd name="T4" fmla="*/ 146 w 171"/>
                      <a:gd name="T5" fmla="*/ 0 h 123"/>
                      <a:gd name="T6" fmla="*/ 164 w 171"/>
                      <a:gd name="T7" fmla="*/ 3 h 123"/>
                      <a:gd name="T8" fmla="*/ 169 w 171"/>
                      <a:gd name="T9" fmla="*/ 9 h 123"/>
                      <a:gd name="T10" fmla="*/ 171 w 171"/>
                      <a:gd name="T11" fmla="*/ 22 h 123"/>
                      <a:gd name="T12" fmla="*/ 164 w 171"/>
                      <a:gd name="T13" fmla="*/ 41 h 123"/>
                      <a:gd name="T14" fmla="*/ 64 w 171"/>
                      <a:gd name="T15" fmla="*/ 123 h 123"/>
                      <a:gd name="T16" fmla="*/ 50 w 171"/>
                      <a:gd name="T17" fmla="*/ 122 h 123"/>
                      <a:gd name="T18" fmla="*/ 34 w 171"/>
                      <a:gd name="T19" fmla="*/ 116 h 123"/>
                      <a:gd name="T20" fmla="*/ 22 w 171"/>
                      <a:gd name="T21" fmla="*/ 106 h 123"/>
                      <a:gd name="T22" fmla="*/ 8 w 171"/>
                      <a:gd name="T23" fmla="*/ 90 h 123"/>
                      <a:gd name="T24" fmla="*/ 1 w 171"/>
                      <a:gd name="T25" fmla="*/ 74 h 123"/>
                      <a:gd name="T26" fmla="*/ 0 w 171"/>
                      <a:gd name="T27" fmla="*/ 56 h 123"/>
                      <a:gd name="T28" fmla="*/ 5 w 171"/>
                      <a:gd name="T29" fmla="*/ 40 h 123"/>
                      <a:gd name="T30" fmla="*/ 13 w 171"/>
                      <a:gd name="T31" fmla="*/ 27 h 1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71" h="123">
                        <a:moveTo>
                          <a:pt x="13" y="27"/>
                        </a:moveTo>
                        <a:lnTo>
                          <a:pt x="120" y="3"/>
                        </a:lnTo>
                        <a:lnTo>
                          <a:pt x="146" y="0"/>
                        </a:lnTo>
                        <a:lnTo>
                          <a:pt x="164" y="3"/>
                        </a:lnTo>
                        <a:lnTo>
                          <a:pt x="169" y="9"/>
                        </a:lnTo>
                        <a:lnTo>
                          <a:pt x="171" y="22"/>
                        </a:lnTo>
                        <a:lnTo>
                          <a:pt x="164" y="41"/>
                        </a:lnTo>
                        <a:lnTo>
                          <a:pt x="64" y="123"/>
                        </a:lnTo>
                        <a:lnTo>
                          <a:pt x="50" y="122"/>
                        </a:lnTo>
                        <a:lnTo>
                          <a:pt x="34" y="116"/>
                        </a:lnTo>
                        <a:lnTo>
                          <a:pt x="22" y="106"/>
                        </a:lnTo>
                        <a:lnTo>
                          <a:pt x="8" y="90"/>
                        </a:lnTo>
                        <a:lnTo>
                          <a:pt x="1" y="74"/>
                        </a:lnTo>
                        <a:lnTo>
                          <a:pt x="0" y="56"/>
                        </a:lnTo>
                        <a:lnTo>
                          <a:pt x="5" y="40"/>
                        </a:lnTo>
                        <a:lnTo>
                          <a:pt x="13" y="27"/>
                        </a:lnTo>
                        <a:close/>
                      </a:path>
                    </a:pathLst>
                  </a:custGeom>
                  <a:solidFill>
                    <a:srgbClr val="9F9FB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8" name="Freeform 232"/>
                  <p:cNvSpPr>
                    <a:spLocks noChangeArrowheads="1"/>
                  </p:cNvSpPr>
                  <p:nvPr/>
                </p:nvSpPr>
                <p:spPr bwMode="auto">
                  <a:xfrm>
                    <a:off x="2421" y="782"/>
                    <a:ext cx="10" cy="18"/>
                  </a:xfrm>
                  <a:custGeom>
                    <a:avLst/>
                    <a:gdLst>
                      <a:gd name="T0" fmla="*/ 4 w 73"/>
                      <a:gd name="T1" fmla="*/ 0 h 124"/>
                      <a:gd name="T2" fmla="*/ 0 w 73"/>
                      <a:gd name="T3" fmla="*/ 20 h 124"/>
                      <a:gd name="T4" fmla="*/ 0 w 73"/>
                      <a:gd name="T5" fmla="*/ 37 h 124"/>
                      <a:gd name="T6" fmla="*/ 5 w 73"/>
                      <a:gd name="T7" fmla="*/ 60 h 124"/>
                      <a:gd name="T8" fmla="*/ 11 w 73"/>
                      <a:gd name="T9" fmla="*/ 78 h 124"/>
                      <a:gd name="T10" fmla="*/ 26 w 73"/>
                      <a:gd name="T11" fmla="*/ 96 h 124"/>
                      <a:gd name="T12" fmla="*/ 40 w 73"/>
                      <a:gd name="T13" fmla="*/ 108 h 124"/>
                      <a:gd name="T14" fmla="*/ 51 w 73"/>
                      <a:gd name="T15" fmla="*/ 114 h 124"/>
                      <a:gd name="T16" fmla="*/ 61 w 73"/>
                      <a:gd name="T17" fmla="*/ 118 h 124"/>
                      <a:gd name="T18" fmla="*/ 73 w 73"/>
                      <a:gd name="T19" fmla="*/ 124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3" h="124">
                        <a:moveTo>
                          <a:pt x="4" y="0"/>
                        </a:moveTo>
                        <a:lnTo>
                          <a:pt x="0" y="20"/>
                        </a:lnTo>
                        <a:lnTo>
                          <a:pt x="0" y="37"/>
                        </a:lnTo>
                        <a:lnTo>
                          <a:pt x="5" y="60"/>
                        </a:lnTo>
                        <a:lnTo>
                          <a:pt x="11" y="78"/>
                        </a:lnTo>
                        <a:lnTo>
                          <a:pt x="26" y="96"/>
                        </a:lnTo>
                        <a:lnTo>
                          <a:pt x="40" y="108"/>
                        </a:lnTo>
                        <a:lnTo>
                          <a:pt x="51" y="114"/>
                        </a:lnTo>
                        <a:lnTo>
                          <a:pt x="61" y="118"/>
                        </a:lnTo>
                        <a:lnTo>
                          <a:pt x="73" y="12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9" name="Freeform 233"/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780"/>
                    <a:ext cx="11" cy="18"/>
                  </a:xfrm>
                  <a:custGeom>
                    <a:avLst/>
                    <a:gdLst>
                      <a:gd name="T0" fmla="*/ 5 w 74"/>
                      <a:gd name="T1" fmla="*/ 0 h 124"/>
                      <a:gd name="T2" fmla="*/ 0 w 74"/>
                      <a:gd name="T3" fmla="*/ 20 h 124"/>
                      <a:gd name="T4" fmla="*/ 0 w 74"/>
                      <a:gd name="T5" fmla="*/ 38 h 124"/>
                      <a:gd name="T6" fmla="*/ 6 w 74"/>
                      <a:gd name="T7" fmla="*/ 60 h 124"/>
                      <a:gd name="T8" fmla="*/ 12 w 74"/>
                      <a:gd name="T9" fmla="*/ 79 h 124"/>
                      <a:gd name="T10" fmla="*/ 27 w 74"/>
                      <a:gd name="T11" fmla="*/ 95 h 124"/>
                      <a:gd name="T12" fmla="*/ 41 w 74"/>
                      <a:gd name="T13" fmla="*/ 108 h 124"/>
                      <a:gd name="T14" fmla="*/ 51 w 74"/>
                      <a:gd name="T15" fmla="*/ 114 h 124"/>
                      <a:gd name="T16" fmla="*/ 62 w 74"/>
                      <a:gd name="T17" fmla="*/ 119 h 124"/>
                      <a:gd name="T18" fmla="*/ 74 w 74"/>
                      <a:gd name="T19" fmla="*/ 124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4" h="124">
                        <a:moveTo>
                          <a:pt x="5" y="0"/>
                        </a:moveTo>
                        <a:lnTo>
                          <a:pt x="0" y="20"/>
                        </a:lnTo>
                        <a:lnTo>
                          <a:pt x="0" y="38"/>
                        </a:lnTo>
                        <a:lnTo>
                          <a:pt x="6" y="60"/>
                        </a:lnTo>
                        <a:lnTo>
                          <a:pt x="12" y="79"/>
                        </a:lnTo>
                        <a:lnTo>
                          <a:pt x="27" y="95"/>
                        </a:lnTo>
                        <a:lnTo>
                          <a:pt x="41" y="108"/>
                        </a:lnTo>
                        <a:lnTo>
                          <a:pt x="51" y="114"/>
                        </a:lnTo>
                        <a:lnTo>
                          <a:pt x="62" y="119"/>
                        </a:lnTo>
                        <a:lnTo>
                          <a:pt x="74" y="12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sp>
          <p:nvSpPr>
            <p:cNvPr id="406610" name="Line 234"/>
            <p:cNvSpPr>
              <a:spLocks noChangeShapeType="1"/>
            </p:cNvSpPr>
            <p:nvPr/>
          </p:nvSpPr>
          <p:spPr bwMode="auto">
            <a:xfrm>
              <a:off x="4875611" y="2563813"/>
              <a:ext cx="3510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11" name="Picture 23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613" y="20605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612" name="Picture 23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5461" y="20605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13" name="Freeform 237"/>
            <p:cNvSpPr>
              <a:spLocks noChangeArrowheads="1"/>
            </p:cNvSpPr>
            <p:nvPr/>
          </p:nvSpPr>
          <p:spPr bwMode="auto">
            <a:xfrm>
              <a:off x="5343394" y="2276476"/>
              <a:ext cx="8599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14" name="Freeform 238"/>
            <p:cNvSpPr>
              <a:spLocks noChangeArrowheads="1"/>
            </p:cNvSpPr>
            <p:nvPr/>
          </p:nvSpPr>
          <p:spPr bwMode="auto">
            <a:xfrm>
              <a:off x="6591963" y="2276476"/>
              <a:ext cx="84269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15" name="Freeform 239"/>
            <p:cNvSpPr>
              <a:spLocks noChangeArrowheads="1"/>
            </p:cNvSpPr>
            <p:nvPr/>
          </p:nvSpPr>
          <p:spPr bwMode="auto">
            <a:xfrm>
              <a:off x="5967677" y="2276476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16" name="Picture 24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1177" y="20605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17" name="Line 241"/>
            <p:cNvSpPr>
              <a:spLocks noChangeShapeType="1"/>
            </p:cNvSpPr>
            <p:nvPr/>
          </p:nvSpPr>
          <p:spPr bwMode="auto">
            <a:xfrm>
              <a:off x="4875611" y="3355975"/>
              <a:ext cx="3510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18" name="Picture 24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613" y="2852738"/>
              <a:ext cx="436827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619" name="Picture 24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5461" y="2852738"/>
              <a:ext cx="436827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20" name="Freeform 244"/>
            <p:cNvSpPr>
              <a:spLocks noChangeArrowheads="1"/>
            </p:cNvSpPr>
            <p:nvPr/>
          </p:nvSpPr>
          <p:spPr bwMode="auto">
            <a:xfrm>
              <a:off x="5343394" y="3068639"/>
              <a:ext cx="8599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1" name="Freeform 245"/>
            <p:cNvSpPr>
              <a:spLocks noChangeArrowheads="1"/>
            </p:cNvSpPr>
            <p:nvPr/>
          </p:nvSpPr>
          <p:spPr bwMode="auto">
            <a:xfrm>
              <a:off x="6591963" y="3068639"/>
              <a:ext cx="84269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2" name="Freeform 246"/>
            <p:cNvSpPr>
              <a:spLocks noChangeArrowheads="1"/>
            </p:cNvSpPr>
            <p:nvPr/>
          </p:nvSpPr>
          <p:spPr bwMode="auto">
            <a:xfrm>
              <a:off x="5967677" y="3068639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23" name="Picture 24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1177" y="2852738"/>
              <a:ext cx="436827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624" name="Picture 24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4986" y="2851151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25" name="Freeform 249"/>
            <p:cNvSpPr>
              <a:spLocks noChangeArrowheads="1"/>
            </p:cNvSpPr>
            <p:nvPr/>
          </p:nvSpPr>
          <p:spPr bwMode="auto">
            <a:xfrm>
              <a:off x="7871488" y="3067051"/>
              <a:ext cx="84269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6" name="AutoShape 250"/>
            <p:cNvSpPr>
              <a:spLocks noChangeArrowheads="1"/>
            </p:cNvSpPr>
            <p:nvPr/>
          </p:nvSpPr>
          <p:spPr bwMode="auto">
            <a:xfrm>
              <a:off x="2768865" y="3140075"/>
              <a:ext cx="445427" cy="388938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7" name="AutoShape 251"/>
            <p:cNvSpPr>
              <a:spLocks noChangeArrowheads="1"/>
            </p:cNvSpPr>
            <p:nvPr/>
          </p:nvSpPr>
          <p:spPr bwMode="auto">
            <a:xfrm>
              <a:off x="2223691" y="3859214"/>
              <a:ext cx="445426" cy="388937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8" name="AutoShape 252"/>
            <p:cNvSpPr>
              <a:spLocks noChangeArrowheads="1"/>
            </p:cNvSpPr>
            <p:nvPr/>
          </p:nvSpPr>
          <p:spPr bwMode="auto">
            <a:xfrm>
              <a:off x="2301082" y="2274889"/>
              <a:ext cx="445427" cy="388937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9" name="Text Box 253"/>
            <p:cNvSpPr txBox="1">
              <a:spLocks noChangeArrowheads="1"/>
            </p:cNvSpPr>
            <p:nvPr/>
          </p:nvSpPr>
          <p:spPr bwMode="auto">
            <a:xfrm>
              <a:off x="849333" y="2025474"/>
              <a:ext cx="146700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高带宽光纤</a:t>
              </a:r>
            </a:p>
          </p:txBody>
        </p:sp>
        <p:sp>
          <p:nvSpPr>
            <p:cNvPr id="406630" name="Line 254"/>
            <p:cNvSpPr>
              <a:spLocks noChangeShapeType="1"/>
            </p:cNvSpPr>
            <p:nvPr/>
          </p:nvSpPr>
          <p:spPr bwMode="auto">
            <a:xfrm>
              <a:off x="3549650" y="2563813"/>
              <a:ext cx="350838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31" name="Line 255"/>
            <p:cNvSpPr>
              <a:spLocks noChangeShapeType="1"/>
            </p:cNvSpPr>
            <p:nvPr/>
          </p:nvSpPr>
          <p:spPr bwMode="auto">
            <a:xfrm>
              <a:off x="1539214" y="4724400"/>
              <a:ext cx="31025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32" name="Line 256"/>
            <p:cNvSpPr>
              <a:spLocks noChangeShapeType="1"/>
            </p:cNvSpPr>
            <p:nvPr/>
          </p:nvSpPr>
          <p:spPr bwMode="auto">
            <a:xfrm>
              <a:off x="4641718" y="4724400"/>
              <a:ext cx="41343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33" name="Text Box 257"/>
            <p:cNvSpPr txBox="1">
              <a:spLocks noChangeArrowheads="1"/>
            </p:cNvSpPr>
            <p:nvPr/>
          </p:nvSpPr>
          <p:spPr bwMode="auto">
            <a:xfrm>
              <a:off x="6201569" y="4364038"/>
              <a:ext cx="121033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同轴电缆</a:t>
              </a:r>
            </a:p>
          </p:txBody>
        </p:sp>
        <p:sp>
          <p:nvSpPr>
            <p:cNvPr id="406634" name="Text Box 258"/>
            <p:cNvSpPr txBox="1">
              <a:spLocks noChangeArrowheads="1"/>
            </p:cNvSpPr>
            <p:nvPr/>
          </p:nvSpPr>
          <p:spPr bwMode="auto">
            <a:xfrm>
              <a:off x="2925366" y="4364038"/>
              <a:ext cx="69699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光纤</a:t>
              </a:r>
            </a:p>
          </p:txBody>
        </p:sp>
        <p:sp>
          <p:nvSpPr>
            <p:cNvPr id="406635" name="Line 259"/>
            <p:cNvSpPr>
              <a:spLocks noChangeShapeType="1"/>
            </p:cNvSpPr>
            <p:nvPr/>
          </p:nvSpPr>
          <p:spPr bwMode="auto">
            <a:xfrm>
              <a:off x="4641718" y="4579939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06636" name="矩形 3"/>
          <p:cNvSpPr>
            <a:spLocks noChangeArrowheads="1"/>
          </p:cNvSpPr>
          <p:nvPr/>
        </p:nvSpPr>
        <p:spPr bwMode="auto">
          <a:xfrm>
            <a:off x="2932113" y="5445125"/>
            <a:ext cx="4659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HFC </a:t>
            </a:r>
            <a:r>
              <a:rPr lang="zh-CN" altLang="zh-CN" sz="2400" b="1">
                <a:ea typeface="黑体" panose="02010609060101010101" pitchFamily="49" charset="-122"/>
              </a:rPr>
              <a:t>网的结构图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40663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CCA7E6-8177-425F-B226-8F8013C9A939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40663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604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3200" dirty="0" smtClean="0">
                <a:ea typeface="黑体" panose="02010609060101010101" pitchFamily="49" charset="-122"/>
              </a:rPr>
              <a:t/>
            </a:r>
            <a:br>
              <a:rPr lang="en-US" altLang="zh-CN" sz="3200" dirty="0" smtClean="0">
                <a:ea typeface="黑体" panose="02010609060101010101" pitchFamily="49" charset="-122"/>
              </a:rPr>
            </a:br>
            <a:r>
              <a:rPr lang="en-US" altLang="zh-CN" sz="3200" dirty="0" smtClean="0">
                <a:ea typeface="黑体" panose="02010609060101010101" pitchFamily="49" charset="-122"/>
              </a:rPr>
              <a:t>HFC </a:t>
            </a:r>
            <a:r>
              <a:rPr lang="zh-CN" altLang="zh-CN" sz="3200" dirty="0" smtClean="0">
                <a:ea typeface="黑体" panose="02010609060101010101" pitchFamily="49" charset="-122"/>
              </a:rPr>
              <a:t>网具有双向传输功能，扩展了传输频带</a:t>
            </a:r>
            <a:endParaRPr lang="zh-CN" altLang="en-US" sz="3200" dirty="0" smtClean="0">
              <a:ea typeface="黑体" panose="02010609060101010101" pitchFamily="49" charset="-122"/>
            </a:endParaRPr>
          </a:p>
        </p:txBody>
      </p:sp>
      <p:sp>
        <p:nvSpPr>
          <p:cNvPr id="408578" name="Line 16"/>
          <p:cNvSpPr>
            <a:spLocks noChangeShapeType="1"/>
          </p:cNvSpPr>
          <p:nvPr/>
        </p:nvSpPr>
        <p:spPr bwMode="auto">
          <a:xfrm>
            <a:off x="2341563" y="2286000"/>
            <a:ext cx="53387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79" name="Text Box 17"/>
          <p:cNvSpPr txBox="1">
            <a:spLocks noChangeArrowheads="1"/>
          </p:cNvSpPr>
          <p:nvPr/>
        </p:nvSpPr>
        <p:spPr bwMode="auto">
          <a:xfrm>
            <a:off x="4456113" y="1757363"/>
            <a:ext cx="14224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下行信道</a:t>
            </a:r>
          </a:p>
        </p:txBody>
      </p:sp>
      <p:sp>
        <p:nvSpPr>
          <p:cNvPr id="408580" name="Rectangle 18"/>
          <p:cNvSpPr>
            <a:spLocks noChangeArrowheads="1"/>
          </p:cNvSpPr>
          <p:nvPr/>
        </p:nvSpPr>
        <p:spPr bwMode="auto">
          <a:xfrm>
            <a:off x="1019175" y="2538413"/>
            <a:ext cx="873125" cy="1195387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81" name="Text Box 19"/>
          <p:cNvSpPr txBox="1">
            <a:spLocks noChangeArrowheads="1"/>
          </p:cNvSpPr>
          <p:nvPr/>
        </p:nvSpPr>
        <p:spPr bwMode="auto">
          <a:xfrm>
            <a:off x="1028700" y="2762250"/>
            <a:ext cx="828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上行</a:t>
            </a:r>
          </a:p>
          <a:p>
            <a:pPr eaLnBrk="0" hangingPunct="0">
              <a:lnSpc>
                <a:spcPct val="9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信道</a:t>
            </a:r>
          </a:p>
        </p:txBody>
      </p:sp>
      <p:sp>
        <p:nvSpPr>
          <p:cNvPr id="408582" name="Text Box 20"/>
          <p:cNvSpPr txBox="1">
            <a:spLocks noChangeArrowheads="1"/>
          </p:cNvSpPr>
          <p:nvPr/>
        </p:nvSpPr>
        <p:spPr bwMode="auto">
          <a:xfrm>
            <a:off x="822325" y="3702050"/>
            <a:ext cx="73709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5    </a:t>
            </a:r>
            <a:r>
              <a:rPr lang="en-US" altLang="zh-CN" sz="20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65 </a:t>
            </a:r>
            <a:r>
              <a:rPr lang="en-US" altLang="zh-CN" sz="20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87                                         </a:t>
            </a:r>
            <a:r>
              <a:rPr lang="en-US" altLang="zh-CN" sz="20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                       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1000</a:t>
            </a:r>
          </a:p>
        </p:txBody>
      </p:sp>
      <p:sp>
        <p:nvSpPr>
          <p:cNvPr id="408583" name="Rectangle 21"/>
          <p:cNvSpPr>
            <a:spLocks noChangeArrowheads="1"/>
          </p:cNvSpPr>
          <p:nvPr/>
        </p:nvSpPr>
        <p:spPr bwMode="auto">
          <a:xfrm>
            <a:off x="2328863" y="2538413"/>
            <a:ext cx="5286375" cy="1195387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84" name="Text Box 22"/>
          <p:cNvSpPr txBox="1">
            <a:spLocks noChangeArrowheads="1"/>
          </p:cNvSpPr>
          <p:nvPr/>
        </p:nvSpPr>
        <p:spPr bwMode="auto">
          <a:xfrm>
            <a:off x="2465388" y="2970213"/>
            <a:ext cx="50085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200" b="1">
                <a:solidFill>
                  <a:srgbClr val="000099"/>
                </a:solidFill>
                <a:ea typeface="黑体" panose="02010609060101010101" pitchFamily="49" charset="-122"/>
              </a:rPr>
              <a:t>调频广播、模拟和数字电视、数据业务</a:t>
            </a:r>
          </a:p>
        </p:txBody>
      </p:sp>
      <p:sp>
        <p:nvSpPr>
          <p:cNvPr id="408585" name="Text Box 23"/>
          <p:cNvSpPr txBox="1">
            <a:spLocks noChangeArrowheads="1"/>
          </p:cNvSpPr>
          <p:nvPr/>
        </p:nvSpPr>
        <p:spPr bwMode="auto">
          <a:xfrm>
            <a:off x="7981950" y="3821113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频率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(MHz)</a:t>
            </a:r>
          </a:p>
        </p:txBody>
      </p:sp>
      <p:sp>
        <p:nvSpPr>
          <p:cNvPr id="408586" name="Line 24"/>
          <p:cNvSpPr>
            <a:spLocks noChangeShapeType="1"/>
          </p:cNvSpPr>
          <p:nvPr/>
        </p:nvSpPr>
        <p:spPr bwMode="auto">
          <a:xfrm>
            <a:off x="584200" y="3733800"/>
            <a:ext cx="8064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87" name="矩形 1"/>
          <p:cNvSpPr>
            <a:spLocks noChangeArrowheads="1"/>
          </p:cNvSpPr>
          <p:nvPr/>
        </p:nvSpPr>
        <p:spPr bwMode="auto">
          <a:xfrm>
            <a:off x="2328863" y="4365625"/>
            <a:ext cx="5286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我国的</a:t>
            </a:r>
            <a:r>
              <a:rPr lang="en-US" altLang="zh-CN" sz="2400" b="1">
                <a:ea typeface="黑体" panose="02010609060101010101" pitchFamily="49" charset="-122"/>
              </a:rPr>
              <a:t> HFC </a:t>
            </a:r>
            <a:r>
              <a:rPr lang="zh-CN" altLang="zh-CN" sz="2400" b="1">
                <a:ea typeface="黑体" panose="02010609060101010101" pitchFamily="49" charset="-122"/>
              </a:rPr>
              <a:t>网的频谱划分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40858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A827CA-65E3-45E9-B6FE-920A08A6155F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40858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每个家庭要安装一个用户接口盒 </a:t>
            </a:r>
          </a:p>
        </p:txBody>
      </p:sp>
      <p:sp>
        <p:nvSpPr>
          <p:cNvPr id="41062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用户接口盒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UIB </a:t>
            </a:r>
            <a:r>
              <a:rPr lang="en-US" altLang="zh-CN" dirty="0" smtClean="0">
                <a:ea typeface="黑体" panose="02010609060101010101" pitchFamily="49" charset="-122"/>
              </a:rPr>
              <a:t>(User Interface Box) </a:t>
            </a:r>
            <a:r>
              <a:rPr lang="zh-CN" altLang="en-US" dirty="0" smtClean="0">
                <a:ea typeface="黑体" panose="02010609060101010101" pitchFamily="49" charset="-122"/>
              </a:rPr>
              <a:t>要提供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三种连接，</a:t>
            </a:r>
            <a:r>
              <a:rPr lang="zh-CN" altLang="en-US" dirty="0" smtClean="0">
                <a:ea typeface="黑体" panose="02010609060101010101" pitchFamily="49" charset="-122"/>
              </a:rPr>
              <a:t>即：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使用同轴电缆连接到机顶盒 </a:t>
            </a:r>
            <a:r>
              <a:rPr lang="en-US" altLang="zh-CN" dirty="0" smtClean="0">
                <a:ea typeface="黑体" panose="02010609060101010101" pitchFamily="49" charset="-122"/>
              </a:rPr>
              <a:t>(set-top box)</a:t>
            </a:r>
            <a:r>
              <a:rPr lang="zh-CN" altLang="en-US" dirty="0" smtClean="0">
                <a:ea typeface="黑体" panose="02010609060101010101" pitchFamily="49" charset="-122"/>
              </a:rPr>
              <a:t>，然后再连接到用户的电视机。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使用双绞线连接到用户的电话机。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使用电缆调制解调器连接到用户的计算机。</a:t>
            </a:r>
          </a:p>
        </p:txBody>
      </p:sp>
      <p:sp>
        <p:nvSpPr>
          <p:cNvPr id="41062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1EF2D8-8C9C-4D1C-B847-F7E6A34A3C03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41062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电缆调制解调器 </a:t>
            </a:r>
            <a:r>
              <a:rPr lang="en-US" altLang="zh-CN" sz="4000" smtClean="0">
                <a:ea typeface="黑体" panose="02010609060101010101" pitchFamily="49" charset="-122"/>
              </a:rPr>
              <a:t>(Cable Modem) </a:t>
            </a:r>
          </a:p>
        </p:txBody>
      </p:sp>
      <p:sp>
        <p:nvSpPr>
          <p:cNvPr id="41267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电缆调制解调器</a:t>
            </a:r>
            <a:r>
              <a:rPr lang="zh-CN" altLang="en-US" sz="2800" dirty="0" smtClean="0">
                <a:ea typeface="黑体" panose="02010609060101010101" pitchFamily="49" charset="-122"/>
              </a:rPr>
              <a:t>是为 </a:t>
            </a:r>
            <a:r>
              <a:rPr lang="en-US" altLang="zh-CN" sz="2800" dirty="0" smtClean="0">
                <a:ea typeface="黑体" panose="02010609060101010101" pitchFamily="49" charset="-122"/>
              </a:rPr>
              <a:t>HFC </a:t>
            </a:r>
            <a:r>
              <a:rPr lang="zh-CN" altLang="en-US" sz="2800" dirty="0" smtClean="0">
                <a:ea typeface="黑体" panose="02010609060101010101" pitchFamily="49" charset="-122"/>
              </a:rPr>
              <a:t>网而使用的调制解调器。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电缆调制解调器最大的特点就是传输速率高。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下行速率一般在 </a:t>
            </a:r>
            <a:r>
              <a:rPr lang="en-US" altLang="zh-CN" sz="2400" dirty="0" smtClean="0">
                <a:ea typeface="黑体" panose="02010609060101010101" pitchFamily="49" charset="-122"/>
              </a:rPr>
              <a:t>3 </a:t>
            </a:r>
            <a:r>
              <a:rPr lang="en-US" altLang="zh-CN" sz="2400" dirty="0" smtClean="0">
                <a:ea typeface="黑体" panose="02010609060101010101" pitchFamily="49" charset="-122"/>
                <a:sym typeface="Symbol" panose="05050102010706020507" pitchFamily="18" charset="2"/>
              </a:rPr>
              <a:t> </a:t>
            </a:r>
            <a:r>
              <a:rPr lang="en-US" altLang="zh-CN" sz="2400" dirty="0" smtClean="0">
                <a:ea typeface="黑体" panose="02010609060101010101" pitchFamily="49" charset="-122"/>
              </a:rPr>
              <a:t>10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之间，最高可达 </a:t>
            </a:r>
            <a:r>
              <a:rPr lang="en-US" altLang="zh-CN" sz="2400" dirty="0" smtClean="0">
                <a:ea typeface="黑体" panose="02010609060101010101" pitchFamily="49" charset="-122"/>
              </a:rPr>
              <a:t>30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上行速率一般为 </a:t>
            </a:r>
            <a:r>
              <a:rPr lang="en-US" altLang="zh-CN" sz="2400" dirty="0" smtClean="0">
                <a:ea typeface="黑体" panose="02010609060101010101" pitchFamily="49" charset="-122"/>
              </a:rPr>
              <a:t>0.2 </a:t>
            </a:r>
            <a:r>
              <a:rPr lang="en-US" altLang="zh-CN" sz="2400" dirty="0" smtClean="0">
                <a:ea typeface="黑体" panose="02010609060101010101" pitchFamily="49" charset="-122"/>
                <a:sym typeface="Symbol" panose="05050102010706020507" pitchFamily="18" charset="2"/>
              </a:rPr>
              <a:t> </a:t>
            </a:r>
            <a:r>
              <a:rPr lang="en-US" altLang="zh-CN" sz="2400" dirty="0" smtClean="0">
                <a:ea typeface="黑体" panose="02010609060101010101" pitchFamily="49" charset="-122"/>
              </a:rPr>
              <a:t>2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，最高可达 </a:t>
            </a:r>
            <a:r>
              <a:rPr lang="en-US" altLang="zh-CN" sz="2400" dirty="0" smtClean="0">
                <a:ea typeface="黑体" panose="02010609060101010101" pitchFamily="49" charset="-122"/>
              </a:rPr>
              <a:t>10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电缆调制解调器比在普通电话线上使用的调制解调器要复杂得多（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多用户共享信道，需解决冲突问题</a:t>
            </a:r>
            <a:r>
              <a:rPr lang="zh-CN" altLang="en-US" sz="2800" dirty="0" smtClean="0">
                <a:ea typeface="黑体" panose="02010609060101010101" pitchFamily="49" charset="-122"/>
              </a:rPr>
              <a:t>），并且不是成对使用，而是只安装在用户端。 </a:t>
            </a:r>
          </a:p>
        </p:txBody>
      </p:sp>
      <p:sp>
        <p:nvSpPr>
          <p:cNvPr id="412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3D0FCD-14A4-4B66-B271-DD35708ED08B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412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2.6.3  FTTx </a:t>
            </a:r>
            <a:r>
              <a:rPr lang="zh-CN" altLang="en-US" smtClean="0">
                <a:ea typeface="黑体" panose="02010609060101010101" pitchFamily="49" charset="-122"/>
              </a:rPr>
              <a:t>技术 </a:t>
            </a:r>
          </a:p>
        </p:txBody>
      </p:sp>
      <p:sp>
        <p:nvSpPr>
          <p:cNvPr id="4147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dirty="0" err="1" smtClean="0">
                <a:ea typeface="黑体" panose="02010609060101010101" pitchFamily="49" charset="-122"/>
              </a:rPr>
              <a:t>FTTx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en-US" sz="2800" dirty="0" smtClean="0">
                <a:ea typeface="黑体" panose="02010609060101010101" pitchFamily="49" charset="-122"/>
              </a:rPr>
              <a:t>是一种实现宽带居民接入网的方案，代表</a:t>
            </a:r>
            <a:r>
              <a:rPr lang="zh-CN" altLang="zh-CN" sz="2800" dirty="0" smtClean="0">
                <a:ea typeface="黑体" panose="02010609060101010101" pitchFamily="49" charset="-122"/>
              </a:rPr>
              <a:t>多种宽带光纤接入方式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err="1" smtClean="0">
                <a:ea typeface="黑体" panose="02010609060101010101" pitchFamily="49" charset="-122"/>
              </a:rPr>
              <a:t>FTTx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表示</a:t>
            </a:r>
            <a:r>
              <a:rPr lang="en-US" altLang="zh-CN" sz="2800" dirty="0" smtClean="0">
                <a:ea typeface="黑体" panose="02010609060101010101" pitchFamily="49" charset="-122"/>
              </a:rPr>
              <a:t> Fiber To The…</a:t>
            </a:r>
            <a:r>
              <a:rPr lang="zh-CN" altLang="en-US" sz="2800" dirty="0" smtClean="0">
                <a:ea typeface="黑体" panose="02010609060101010101" pitchFamily="49" charset="-122"/>
              </a:rPr>
              <a:t>（光纤到</a:t>
            </a:r>
            <a:r>
              <a:rPr lang="en-US" altLang="zh-CN" sz="2800" dirty="0" smtClean="0">
                <a:ea typeface="黑体" panose="02010609060101010101" pitchFamily="49" charset="-122"/>
              </a:rPr>
              <a:t>…</a:t>
            </a:r>
            <a:r>
              <a:rPr lang="zh-CN" altLang="en-US" sz="2800" dirty="0" smtClean="0">
                <a:ea typeface="黑体" panose="02010609060101010101" pitchFamily="49" charset="-122"/>
              </a:rPr>
              <a:t>），例如：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光纤到户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FTTH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To The Home)</a:t>
            </a:r>
            <a:r>
              <a:rPr lang="zh-CN" altLang="en-US" sz="2400" dirty="0" smtClean="0">
                <a:ea typeface="黑体" panose="02010609060101010101" pitchFamily="49" charset="-122"/>
              </a:rPr>
              <a:t>：光纤一直铺设到用户家庭，可能是居民接入网最后的解决方法。</a:t>
            </a:r>
          </a:p>
          <a:p>
            <a:pPr lvl="1"/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光纤到大楼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FTTB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To The Building)</a:t>
            </a:r>
            <a:r>
              <a:rPr lang="zh-CN" altLang="en-US" sz="2400" dirty="0" smtClean="0">
                <a:ea typeface="黑体" panose="02010609060101010101" pitchFamily="49" charset="-122"/>
              </a:rPr>
              <a:t>：光纤进入大楼后就转换为电信号，然后用电缆或双绞线分配到各用户。</a:t>
            </a:r>
          </a:p>
          <a:p>
            <a:pPr lvl="1"/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光纤到路边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FTTC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To The Curb)</a:t>
            </a:r>
            <a:r>
              <a:rPr lang="zh-CN" altLang="en-US" sz="2400" dirty="0" smtClean="0">
                <a:ea typeface="黑体" panose="02010609060101010101" pitchFamily="49" charset="-122"/>
              </a:rPr>
              <a:t>：光纤铺到路边，从路边到各用户可使用星形结构双绞线作为传输媒体。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zh-CN" altLang="en-US" sz="2400" dirty="0" smtClean="0">
                <a:solidFill>
                  <a:srgbClr val="0000CC"/>
                </a:solidFill>
                <a:ea typeface="黑体" panose="02010609060101010101" pitchFamily="49" charset="-122"/>
              </a:rPr>
              <a:t>还有</a:t>
            </a:r>
            <a:r>
              <a:rPr lang="zh-CN" altLang="en-US" sz="2400" u="sng" dirty="0">
                <a:solidFill>
                  <a:srgbClr val="FF0000"/>
                </a:solidFill>
                <a:ea typeface="黑体" panose="02010609060101010101" pitchFamily="49" charset="-122"/>
              </a:rPr>
              <a:t>光纤</a:t>
            </a:r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到楼层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FTTF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</a:t>
            </a:r>
            <a:r>
              <a:rPr lang="en-US" altLang="zh-CN" sz="2400" dirty="0">
                <a:ea typeface="黑体" panose="02010609060101010101" pitchFamily="49" charset="-122"/>
              </a:rPr>
              <a:t>To The </a:t>
            </a:r>
            <a:r>
              <a:rPr lang="en-US" altLang="zh-CN" sz="2400" dirty="0" smtClean="0">
                <a:ea typeface="黑体" panose="02010609060101010101" pitchFamily="49" charset="-122"/>
              </a:rPr>
              <a:t>Floor)</a:t>
            </a:r>
            <a:r>
              <a:rPr lang="zh-CN" altLang="en-US" sz="2400" dirty="0" smtClean="0">
                <a:ea typeface="黑体" panose="02010609060101010101" pitchFamily="49" charset="-122"/>
              </a:rPr>
              <a:t>、</a:t>
            </a:r>
            <a:r>
              <a:rPr lang="zh-CN" altLang="en-US" sz="24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光纤到办公室 </a:t>
            </a:r>
            <a:r>
              <a:rPr lang="en-US" altLang="zh-CN" sz="2400" dirty="0" smtClean="0">
                <a:solidFill>
                  <a:srgbClr val="0000CC"/>
                </a:solidFill>
                <a:ea typeface="黑体" panose="02010609060101010101" pitchFamily="49" charset="-122"/>
              </a:rPr>
              <a:t>FTTO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</a:t>
            </a:r>
            <a:r>
              <a:rPr lang="en-US" altLang="zh-CN" sz="2400" dirty="0">
                <a:ea typeface="黑体" panose="02010609060101010101" pitchFamily="49" charset="-122"/>
              </a:rPr>
              <a:t>To The </a:t>
            </a:r>
            <a:r>
              <a:rPr lang="en-US" altLang="zh-CN" sz="2400" dirty="0" smtClean="0">
                <a:ea typeface="黑体" panose="02010609060101010101" pitchFamily="49" charset="-122"/>
              </a:rPr>
              <a:t>Office)</a:t>
            </a:r>
            <a:r>
              <a:rPr lang="zh-CN" altLang="en-US" sz="2400" dirty="0" smtClean="0">
                <a:ea typeface="黑体" panose="02010609060101010101" pitchFamily="49" charset="-122"/>
              </a:rPr>
              <a:t>和</a:t>
            </a:r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光纤到桌面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FTTD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</a:t>
            </a:r>
            <a:r>
              <a:rPr lang="en-US" altLang="zh-CN" sz="2400" dirty="0">
                <a:ea typeface="黑体" panose="02010609060101010101" pitchFamily="49" charset="-122"/>
              </a:rPr>
              <a:t>To The </a:t>
            </a:r>
            <a:r>
              <a:rPr lang="en-US" altLang="zh-CN" sz="2400" dirty="0" smtClean="0">
                <a:ea typeface="黑体" panose="02010609060101010101" pitchFamily="49" charset="-122"/>
              </a:rPr>
              <a:t>Desk)</a:t>
            </a:r>
            <a:r>
              <a:rPr lang="zh-CN" altLang="en-US" sz="2400" dirty="0" smtClean="0">
                <a:ea typeface="黑体" panose="02010609060101010101" pitchFamily="49" charset="-122"/>
              </a:rPr>
              <a:t> 。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1"/>
            <a:endParaRPr lang="en-US" altLang="zh-CN" sz="2400" dirty="0" smtClean="0">
              <a:ea typeface="黑体" panose="02010609060101010101" pitchFamily="49" charset="-122"/>
            </a:endParaRPr>
          </a:p>
        </p:txBody>
      </p:sp>
      <p:sp>
        <p:nvSpPr>
          <p:cNvPr id="4147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572C1B-6C7D-44BF-996A-026B00AD74A5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4147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769" name="组合 2"/>
          <p:cNvGrpSpPr>
            <a:grpSpLocks/>
          </p:cNvGrpSpPr>
          <p:nvPr/>
        </p:nvGrpSpPr>
        <p:grpSpPr bwMode="auto">
          <a:xfrm>
            <a:off x="1146175" y="968375"/>
            <a:ext cx="7880350" cy="2519363"/>
            <a:chOff x="816902" y="630238"/>
            <a:chExt cx="7880086" cy="2519362"/>
          </a:xfrm>
        </p:grpSpPr>
        <p:grpSp>
          <p:nvGrpSpPr>
            <p:cNvPr id="416770" name="Group 4"/>
            <p:cNvGrpSpPr>
              <a:grpSpLocks/>
            </p:cNvGrpSpPr>
            <p:nvPr/>
          </p:nvGrpSpPr>
          <p:grpSpPr bwMode="auto">
            <a:xfrm>
              <a:off x="6980636" y="1182688"/>
              <a:ext cx="1716352" cy="1751012"/>
              <a:chOff x="3606" y="1238"/>
              <a:chExt cx="1270" cy="1103"/>
            </a:xfrm>
          </p:grpSpPr>
          <p:sp>
            <p:nvSpPr>
              <p:cNvPr id="416771" name="Line 5"/>
              <p:cNvSpPr>
                <a:spLocks noChangeShapeType="1"/>
              </p:cNvSpPr>
              <p:nvPr/>
            </p:nvSpPr>
            <p:spPr bwMode="auto">
              <a:xfrm>
                <a:off x="3606" y="1752"/>
                <a:ext cx="1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772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773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6774" name="Text Box 8"/>
            <p:cNvSpPr txBox="1">
              <a:spLocks noChangeArrowheads="1"/>
            </p:cNvSpPr>
            <p:nvPr/>
          </p:nvSpPr>
          <p:spPr bwMode="auto">
            <a:xfrm>
              <a:off x="2180696" y="1446213"/>
              <a:ext cx="5982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头端</a:t>
              </a:r>
            </a:p>
          </p:txBody>
        </p:sp>
        <p:sp>
          <p:nvSpPr>
            <p:cNvPr id="416775" name="Rectangle 9"/>
            <p:cNvSpPr>
              <a:spLocks noChangeArrowheads="1"/>
            </p:cNvSpPr>
            <p:nvPr/>
          </p:nvSpPr>
          <p:spPr bwMode="auto">
            <a:xfrm>
              <a:off x="4249606" y="1782763"/>
              <a:ext cx="701675" cy="431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1:N</a:t>
              </a:r>
            </a:p>
          </p:txBody>
        </p:sp>
        <p:sp>
          <p:nvSpPr>
            <p:cNvPr id="416776" name="Rectangle 10"/>
            <p:cNvSpPr>
              <a:spLocks noChangeArrowheads="1"/>
            </p:cNvSpPr>
            <p:nvPr/>
          </p:nvSpPr>
          <p:spPr bwMode="auto">
            <a:xfrm>
              <a:off x="6824133" y="2717800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777" name="Rectangle 11"/>
            <p:cNvSpPr>
              <a:spLocks noChangeArrowheads="1"/>
            </p:cNvSpPr>
            <p:nvPr/>
          </p:nvSpPr>
          <p:spPr bwMode="auto">
            <a:xfrm>
              <a:off x="6824133" y="1782763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778" name="Line 12"/>
            <p:cNvSpPr>
              <a:spLocks noChangeShapeType="1"/>
            </p:cNvSpPr>
            <p:nvPr/>
          </p:nvSpPr>
          <p:spPr bwMode="auto">
            <a:xfrm>
              <a:off x="870214" y="1998663"/>
              <a:ext cx="12468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79" name="Rectangle 13"/>
            <p:cNvSpPr>
              <a:spLocks noChangeArrowheads="1"/>
            </p:cNvSpPr>
            <p:nvPr/>
          </p:nvSpPr>
          <p:spPr bwMode="auto">
            <a:xfrm>
              <a:off x="2118783" y="1782763"/>
              <a:ext cx="701675" cy="43180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OLT</a:t>
              </a:r>
            </a:p>
          </p:txBody>
        </p:sp>
        <p:sp>
          <p:nvSpPr>
            <p:cNvPr id="416780" name="Text Box 14"/>
            <p:cNvSpPr txBox="1">
              <a:spLocks noChangeArrowheads="1"/>
            </p:cNvSpPr>
            <p:nvPr/>
          </p:nvSpPr>
          <p:spPr bwMode="auto">
            <a:xfrm>
              <a:off x="816902" y="1638300"/>
              <a:ext cx="101181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光纤干线</a:t>
              </a:r>
            </a:p>
          </p:txBody>
        </p:sp>
        <p:sp>
          <p:nvSpPr>
            <p:cNvPr id="416781" name="Line 15"/>
            <p:cNvSpPr>
              <a:spLocks noChangeShapeType="1"/>
            </p:cNvSpPr>
            <p:nvPr/>
          </p:nvSpPr>
          <p:spPr bwMode="auto">
            <a:xfrm>
              <a:off x="2846256" y="1998663"/>
              <a:ext cx="14033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2" name="Line 16"/>
            <p:cNvSpPr>
              <a:spLocks noChangeShapeType="1"/>
            </p:cNvSpPr>
            <p:nvPr/>
          </p:nvSpPr>
          <p:spPr bwMode="auto">
            <a:xfrm flipV="1">
              <a:off x="4951281" y="1171576"/>
              <a:ext cx="1869413" cy="682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3" name="Line 17"/>
            <p:cNvSpPr>
              <a:spLocks noChangeShapeType="1"/>
            </p:cNvSpPr>
            <p:nvPr/>
          </p:nvSpPr>
          <p:spPr bwMode="auto">
            <a:xfrm>
              <a:off x="4951281" y="2141538"/>
              <a:ext cx="1872853" cy="792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4" name="Line 18"/>
            <p:cNvSpPr>
              <a:spLocks noChangeShapeType="1"/>
            </p:cNvSpPr>
            <p:nvPr/>
          </p:nvSpPr>
          <p:spPr bwMode="auto">
            <a:xfrm>
              <a:off x="4951281" y="1998663"/>
              <a:ext cx="18728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5" name="Text Box 19"/>
            <p:cNvSpPr txBox="1">
              <a:spLocks noChangeArrowheads="1"/>
            </p:cNvSpPr>
            <p:nvPr/>
          </p:nvSpPr>
          <p:spPr bwMode="auto">
            <a:xfrm rot="5400000">
              <a:off x="7042034" y="2326759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16786" name="Text Box 20"/>
            <p:cNvSpPr txBox="1">
              <a:spLocks noChangeArrowheads="1"/>
            </p:cNvSpPr>
            <p:nvPr/>
          </p:nvSpPr>
          <p:spPr bwMode="auto">
            <a:xfrm>
              <a:off x="4027752" y="1422400"/>
              <a:ext cx="101181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光分路器</a:t>
              </a:r>
            </a:p>
          </p:txBody>
        </p:sp>
        <p:sp>
          <p:nvSpPr>
            <p:cNvPr id="416787" name="Text Box 21"/>
            <p:cNvSpPr txBox="1">
              <a:spLocks noChangeArrowheads="1"/>
            </p:cNvSpPr>
            <p:nvPr/>
          </p:nvSpPr>
          <p:spPr bwMode="auto">
            <a:xfrm>
              <a:off x="6512851" y="630238"/>
              <a:ext cx="12186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光网络单元</a:t>
              </a:r>
            </a:p>
          </p:txBody>
        </p:sp>
        <p:sp>
          <p:nvSpPr>
            <p:cNvPr id="416788" name="Rectangle 22"/>
            <p:cNvSpPr>
              <a:spLocks noChangeArrowheads="1"/>
            </p:cNvSpPr>
            <p:nvPr/>
          </p:nvSpPr>
          <p:spPr bwMode="auto">
            <a:xfrm>
              <a:off x="6824133" y="966788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789" name="Text Box 23"/>
            <p:cNvSpPr txBox="1">
              <a:spLocks noChangeArrowheads="1"/>
            </p:cNvSpPr>
            <p:nvPr/>
          </p:nvSpPr>
          <p:spPr bwMode="auto">
            <a:xfrm>
              <a:off x="2846256" y="1655763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0" name="Text Box 24"/>
            <p:cNvSpPr txBox="1">
              <a:spLocks noChangeArrowheads="1"/>
            </p:cNvSpPr>
            <p:nvPr/>
          </p:nvSpPr>
          <p:spPr bwMode="auto">
            <a:xfrm>
              <a:off x="5334794" y="1665288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1" name="Text Box 25"/>
            <p:cNvSpPr txBox="1">
              <a:spLocks noChangeArrowheads="1"/>
            </p:cNvSpPr>
            <p:nvPr/>
          </p:nvSpPr>
          <p:spPr bwMode="auto">
            <a:xfrm>
              <a:off x="7838810" y="2574926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●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792" name="Text Box 26"/>
            <p:cNvSpPr txBox="1">
              <a:spLocks noChangeArrowheads="1"/>
            </p:cNvSpPr>
            <p:nvPr/>
          </p:nvSpPr>
          <p:spPr bwMode="auto">
            <a:xfrm rot="1462546">
              <a:off x="5295205" y="2140228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3" name="Text Box 27"/>
            <p:cNvSpPr txBox="1">
              <a:spLocks noChangeArrowheads="1"/>
            </p:cNvSpPr>
            <p:nvPr/>
          </p:nvSpPr>
          <p:spPr bwMode="auto">
            <a:xfrm rot="-1261310">
              <a:off x="5295205" y="1198842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4" name="Text Box 28"/>
            <p:cNvSpPr txBox="1">
              <a:spLocks noChangeArrowheads="1"/>
            </p:cNvSpPr>
            <p:nvPr/>
          </p:nvSpPr>
          <p:spPr bwMode="auto">
            <a:xfrm>
              <a:off x="7849130" y="1638301"/>
              <a:ext cx="412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5" name="Text Box 29"/>
            <p:cNvSpPr txBox="1">
              <a:spLocks noChangeArrowheads="1"/>
            </p:cNvSpPr>
            <p:nvPr/>
          </p:nvSpPr>
          <p:spPr bwMode="auto">
            <a:xfrm>
              <a:off x="7838810" y="825500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796" name="Line 30"/>
            <p:cNvSpPr>
              <a:spLocks noChangeShapeType="1"/>
            </p:cNvSpPr>
            <p:nvPr/>
          </p:nvSpPr>
          <p:spPr bwMode="auto">
            <a:xfrm>
              <a:off x="3781823" y="185420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97" name="Line 31"/>
            <p:cNvSpPr>
              <a:spLocks noChangeShapeType="1"/>
            </p:cNvSpPr>
            <p:nvPr/>
          </p:nvSpPr>
          <p:spPr bwMode="auto">
            <a:xfrm rot="-1251268">
              <a:off x="6199850" y="120650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98" name="Line 32"/>
            <p:cNvSpPr>
              <a:spLocks noChangeShapeType="1"/>
            </p:cNvSpPr>
            <p:nvPr/>
          </p:nvSpPr>
          <p:spPr bwMode="auto">
            <a:xfrm>
              <a:off x="8306594" y="2790825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99" name="Line 33"/>
            <p:cNvSpPr>
              <a:spLocks noChangeShapeType="1"/>
            </p:cNvSpPr>
            <p:nvPr/>
          </p:nvSpPr>
          <p:spPr bwMode="auto">
            <a:xfrm>
              <a:off x="8306594" y="1854200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0" name="Line 34"/>
            <p:cNvSpPr>
              <a:spLocks noChangeShapeType="1"/>
            </p:cNvSpPr>
            <p:nvPr/>
          </p:nvSpPr>
          <p:spPr bwMode="auto">
            <a:xfrm rot="1377025">
              <a:off x="6160294" y="259238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1" name="Line 35"/>
            <p:cNvSpPr>
              <a:spLocks noChangeShapeType="1"/>
            </p:cNvSpPr>
            <p:nvPr/>
          </p:nvSpPr>
          <p:spPr bwMode="auto">
            <a:xfrm>
              <a:off x="6278960" y="185420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2" name="Line 36"/>
            <p:cNvSpPr>
              <a:spLocks noChangeShapeType="1"/>
            </p:cNvSpPr>
            <p:nvPr/>
          </p:nvSpPr>
          <p:spPr bwMode="auto">
            <a:xfrm>
              <a:off x="8311754" y="103505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3" name="AutoShape 68"/>
            <p:cNvSpPr>
              <a:spLocks noChangeArrowheads="1"/>
            </p:cNvSpPr>
            <p:nvPr/>
          </p:nvSpPr>
          <p:spPr bwMode="auto">
            <a:xfrm>
              <a:off x="1050793" y="919164"/>
              <a:ext cx="2419746" cy="358775"/>
            </a:xfrm>
            <a:prstGeom prst="wedgeRoundRectCallout">
              <a:avLst>
                <a:gd name="adj1" fmla="val 45685"/>
                <a:gd name="adj2" fmla="val 158213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4" name="Text Box 69"/>
            <p:cNvSpPr txBox="1">
              <a:spLocks noChangeArrowheads="1"/>
            </p:cNvSpPr>
            <p:nvPr/>
          </p:nvSpPr>
          <p:spPr bwMode="auto">
            <a:xfrm>
              <a:off x="1129904" y="919163"/>
              <a:ext cx="220284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发往特定 </a:t>
              </a: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ONU </a:t>
              </a:r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的数据</a:t>
              </a:r>
            </a:p>
          </p:txBody>
        </p:sp>
        <p:sp>
          <p:nvSpPr>
            <p:cNvPr id="416805" name="Text Box 72"/>
            <p:cNvSpPr txBox="1">
              <a:spLocks noChangeArrowheads="1"/>
            </p:cNvSpPr>
            <p:nvPr/>
          </p:nvSpPr>
          <p:spPr bwMode="auto">
            <a:xfrm>
              <a:off x="4180159" y="868650"/>
              <a:ext cx="700833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下行</a:t>
              </a:r>
            </a:p>
          </p:txBody>
        </p:sp>
        <p:sp>
          <p:nvSpPr>
            <p:cNvPr id="416806" name="Line 74"/>
            <p:cNvSpPr>
              <a:spLocks noChangeShapeType="1"/>
            </p:cNvSpPr>
            <p:nvPr/>
          </p:nvSpPr>
          <p:spPr bwMode="auto">
            <a:xfrm>
              <a:off x="4172215" y="1277938"/>
              <a:ext cx="77906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416807" name="组合 4"/>
          <p:cNvGrpSpPr>
            <a:grpSpLocks/>
          </p:cNvGrpSpPr>
          <p:nvPr/>
        </p:nvGrpSpPr>
        <p:grpSpPr bwMode="auto">
          <a:xfrm>
            <a:off x="1498600" y="5999163"/>
            <a:ext cx="7370763" cy="525462"/>
            <a:chOff x="1169459" y="5805264"/>
            <a:chExt cx="7371027" cy="526494"/>
          </a:xfrm>
        </p:grpSpPr>
        <p:sp>
          <p:nvSpPr>
            <p:cNvPr id="416808" name="Text Box 76"/>
            <p:cNvSpPr txBox="1">
              <a:spLocks noChangeArrowheads="1"/>
            </p:cNvSpPr>
            <p:nvPr/>
          </p:nvSpPr>
          <p:spPr bwMode="auto">
            <a:xfrm>
              <a:off x="1754187" y="5949726"/>
              <a:ext cx="6495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局端</a:t>
              </a:r>
            </a:p>
          </p:txBody>
        </p:sp>
        <p:sp>
          <p:nvSpPr>
            <p:cNvPr id="416809" name="AutoShape 77"/>
            <p:cNvSpPr>
              <a:spLocks/>
            </p:cNvSpPr>
            <p:nvPr/>
          </p:nvSpPr>
          <p:spPr bwMode="auto">
            <a:xfrm rot="-5400000">
              <a:off x="1975908" y="4998814"/>
              <a:ext cx="141287" cy="1754188"/>
            </a:xfrm>
            <a:prstGeom prst="leftBrace">
              <a:avLst>
                <a:gd name="adj1" fmla="val 95475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10" name="AutoShape 78"/>
            <p:cNvSpPr>
              <a:spLocks/>
            </p:cNvSpPr>
            <p:nvPr/>
          </p:nvSpPr>
          <p:spPr bwMode="auto">
            <a:xfrm rot="-5400000">
              <a:off x="4743187" y="4025279"/>
              <a:ext cx="144462" cy="3704431"/>
            </a:xfrm>
            <a:prstGeom prst="leftBrace">
              <a:avLst>
                <a:gd name="adj1" fmla="val 19718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11" name="AutoShape 79"/>
            <p:cNvSpPr>
              <a:spLocks/>
            </p:cNvSpPr>
            <p:nvPr/>
          </p:nvSpPr>
          <p:spPr bwMode="auto">
            <a:xfrm rot="-5400000">
              <a:off x="7592747" y="4998814"/>
              <a:ext cx="141287" cy="1754188"/>
            </a:xfrm>
            <a:prstGeom prst="leftBrace">
              <a:avLst>
                <a:gd name="adj1" fmla="val 95475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12" name="Text Box 80"/>
            <p:cNvSpPr txBox="1">
              <a:spLocks noChangeArrowheads="1"/>
            </p:cNvSpPr>
            <p:nvPr/>
          </p:nvSpPr>
          <p:spPr bwMode="auto">
            <a:xfrm>
              <a:off x="7214527" y="5949726"/>
              <a:ext cx="8819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用户端</a:t>
              </a:r>
            </a:p>
          </p:txBody>
        </p:sp>
        <p:sp>
          <p:nvSpPr>
            <p:cNvPr id="416813" name="Text Box 81"/>
            <p:cNvSpPr txBox="1">
              <a:spLocks noChangeArrowheads="1"/>
            </p:cNvSpPr>
            <p:nvPr/>
          </p:nvSpPr>
          <p:spPr bwMode="auto">
            <a:xfrm>
              <a:off x="4093105" y="5962426"/>
              <a:ext cx="184537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光配线网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(ODN)</a:t>
              </a:r>
            </a:p>
          </p:txBody>
        </p:sp>
      </p:grpSp>
      <p:sp>
        <p:nvSpPr>
          <p:cNvPr id="416814" name="Text Box 82"/>
          <p:cNvSpPr txBox="1">
            <a:spLocks noChangeArrowheads="1"/>
          </p:cNvSpPr>
          <p:nvPr/>
        </p:nvSpPr>
        <p:spPr bwMode="auto">
          <a:xfrm>
            <a:off x="561975" y="115888"/>
            <a:ext cx="8278813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zh-CN" altLang="zh-CN" sz="3200" b="1" u="sng" dirty="0">
                <a:solidFill>
                  <a:srgbClr val="FF0000"/>
                </a:solidFill>
                <a:ea typeface="黑体" panose="02010609060101010101" pitchFamily="49" charset="-122"/>
              </a:rPr>
              <a:t>无源光网络</a:t>
            </a:r>
            <a:r>
              <a:rPr lang="en-US" altLang="zh-CN" sz="3200" b="1" u="sng" dirty="0">
                <a:solidFill>
                  <a:srgbClr val="FF0000"/>
                </a:solidFill>
                <a:ea typeface="黑体" panose="02010609060101010101" pitchFamily="49" charset="-122"/>
              </a:rPr>
              <a:t> PON</a:t>
            </a:r>
          </a:p>
          <a:p>
            <a:pPr algn="ctr"/>
            <a:r>
              <a:rPr lang="en-US" altLang="zh-CN" sz="3200" b="1" dirty="0">
                <a:solidFill>
                  <a:srgbClr val="333399"/>
                </a:solidFill>
                <a:ea typeface="黑体" panose="02010609060101010101" pitchFamily="49" charset="-122"/>
              </a:rPr>
              <a:t> (Passive Optical Network) </a:t>
            </a:r>
            <a:r>
              <a:rPr lang="zh-CN" altLang="en-US" sz="3200" b="1" dirty="0">
                <a:solidFill>
                  <a:srgbClr val="333399"/>
                </a:solidFill>
                <a:ea typeface="黑体" panose="02010609060101010101" pitchFamily="49" charset="-122"/>
              </a:rPr>
              <a:t>的组成 </a:t>
            </a:r>
          </a:p>
        </p:txBody>
      </p:sp>
      <p:grpSp>
        <p:nvGrpSpPr>
          <p:cNvPr id="416815" name="组合 3"/>
          <p:cNvGrpSpPr>
            <a:grpSpLocks/>
          </p:cNvGrpSpPr>
          <p:nvPr/>
        </p:nvGrpSpPr>
        <p:grpSpPr bwMode="auto">
          <a:xfrm>
            <a:off x="1177925" y="3622675"/>
            <a:ext cx="7878763" cy="2324100"/>
            <a:chOff x="816902" y="3405188"/>
            <a:chExt cx="7880086" cy="2324100"/>
          </a:xfrm>
        </p:grpSpPr>
        <p:grpSp>
          <p:nvGrpSpPr>
            <p:cNvPr id="416816" name="Group 37"/>
            <p:cNvGrpSpPr>
              <a:grpSpLocks/>
            </p:cNvGrpSpPr>
            <p:nvPr/>
          </p:nvGrpSpPr>
          <p:grpSpPr bwMode="auto">
            <a:xfrm>
              <a:off x="6980636" y="3762376"/>
              <a:ext cx="1716352" cy="1751013"/>
              <a:chOff x="3606" y="1238"/>
              <a:chExt cx="1270" cy="1103"/>
            </a:xfrm>
          </p:grpSpPr>
          <p:sp>
            <p:nvSpPr>
              <p:cNvPr id="416817" name="Line 38"/>
              <p:cNvSpPr>
                <a:spLocks noChangeShapeType="1"/>
              </p:cNvSpPr>
              <p:nvPr/>
            </p:nvSpPr>
            <p:spPr bwMode="auto">
              <a:xfrm>
                <a:off x="3606" y="1752"/>
                <a:ext cx="1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81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81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6820" name="Text Box 41"/>
            <p:cNvSpPr txBox="1">
              <a:spLocks noChangeArrowheads="1"/>
            </p:cNvSpPr>
            <p:nvPr/>
          </p:nvSpPr>
          <p:spPr bwMode="auto">
            <a:xfrm>
              <a:off x="2180696" y="4025900"/>
              <a:ext cx="5982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头端</a:t>
              </a:r>
            </a:p>
          </p:txBody>
        </p:sp>
        <p:sp>
          <p:nvSpPr>
            <p:cNvPr id="416821" name="Rectangle 42"/>
            <p:cNvSpPr>
              <a:spLocks noChangeArrowheads="1"/>
            </p:cNvSpPr>
            <p:nvPr/>
          </p:nvSpPr>
          <p:spPr bwMode="auto">
            <a:xfrm>
              <a:off x="4249606" y="4362450"/>
              <a:ext cx="701675" cy="431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1:N</a:t>
              </a:r>
            </a:p>
          </p:txBody>
        </p:sp>
        <p:sp>
          <p:nvSpPr>
            <p:cNvPr id="416822" name="Rectangle 43"/>
            <p:cNvSpPr>
              <a:spLocks noChangeArrowheads="1"/>
            </p:cNvSpPr>
            <p:nvPr/>
          </p:nvSpPr>
          <p:spPr bwMode="auto">
            <a:xfrm>
              <a:off x="6824133" y="5297488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823" name="Rectangle 44"/>
            <p:cNvSpPr>
              <a:spLocks noChangeArrowheads="1"/>
            </p:cNvSpPr>
            <p:nvPr/>
          </p:nvSpPr>
          <p:spPr bwMode="auto">
            <a:xfrm>
              <a:off x="6824133" y="4362450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824" name="Line 45"/>
            <p:cNvSpPr>
              <a:spLocks noChangeShapeType="1"/>
            </p:cNvSpPr>
            <p:nvPr/>
          </p:nvSpPr>
          <p:spPr bwMode="auto">
            <a:xfrm>
              <a:off x="870214" y="4578350"/>
              <a:ext cx="12468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25" name="Rectangle 46"/>
            <p:cNvSpPr>
              <a:spLocks noChangeArrowheads="1"/>
            </p:cNvSpPr>
            <p:nvPr/>
          </p:nvSpPr>
          <p:spPr bwMode="auto">
            <a:xfrm>
              <a:off x="2118783" y="4362450"/>
              <a:ext cx="701675" cy="43180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OLT</a:t>
              </a:r>
            </a:p>
          </p:txBody>
        </p:sp>
        <p:sp>
          <p:nvSpPr>
            <p:cNvPr id="416826" name="Text Box 47"/>
            <p:cNvSpPr txBox="1">
              <a:spLocks noChangeArrowheads="1"/>
            </p:cNvSpPr>
            <p:nvPr/>
          </p:nvSpPr>
          <p:spPr bwMode="auto">
            <a:xfrm>
              <a:off x="816902" y="4217988"/>
              <a:ext cx="101181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光纤干线</a:t>
              </a:r>
            </a:p>
          </p:txBody>
        </p:sp>
        <p:sp>
          <p:nvSpPr>
            <p:cNvPr id="416827" name="Line 48"/>
            <p:cNvSpPr>
              <a:spLocks noChangeShapeType="1"/>
            </p:cNvSpPr>
            <p:nvPr/>
          </p:nvSpPr>
          <p:spPr bwMode="auto">
            <a:xfrm>
              <a:off x="2846256" y="4578350"/>
              <a:ext cx="14033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28" name="Line 49"/>
            <p:cNvSpPr>
              <a:spLocks noChangeShapeType="1"/>
            </p:cNvSpPr>
            <p:nvPr/>
          </p:nvSpPr>
          <p:spPr bwMode="auto">
            <a:xfrm flipV="1">
              <a:off x="4951281" y="3751264"/>
              <a:ext cx="1869413" cy="682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29" name="Line 50"/>
            <p:cNvSpPr>
              <a:spLocks noChangeShapeType="1"/>
            </p:cNvSpPr>
            <p:nvPr/>
          </p:nvSpPr>
          <p:spPr bwMode="auto">
            <a:xfrm>
              <a:off x="4951281" y="4721226"/>
              <a:ext cx="1872853" cy="792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30" name="Line 51"/>
            <p:cNvSpPr>
              <a:spLocks noChangeShapeType="1"/>
            </p:cNvSpPr>
            <p:nvPr/>
          </p:nvSpPr>
          <p:spPr bwMode="auto">
            <a:xfrm>
              <a:off x="4951281" y="4578350"/>
              <a:ext cx="18728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31" name="Text Box 52"/>
            <p:cNvSpPr txBox="1">
              <a:spLocks noChangeArrowheads="1"/>
            </p:cNvSpPr>
            <p:nvPr/>
          </p:nvSpPr>
          <p:spPr bwMode="auto">
            <a:xfrm rot="5400000">
              <a:off x="7042034" y="4906447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16832" name="Rectangle 53"/>
            <p:cNvSpPr>
              <a:spLocks noChangeArrowheads="1"/>
            </p:cNvSpPr>
            <p:nvPr/>
          </p:nvSpPr>
          <p:spPr bwMode="auto">
            <a:xfrm>
              <a:off x="6824133" y="3546475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833" name="Text Box 54"/>
            <p:cNvSpPr txBox="1">
              <a:spLocks noChangeArrowheads="1"/>
            </p:cNvSpPr>
            <p:nvPr/>
          </p:nvSpPr>
          <p:spPr bwMode="auto">
            <a:xfrm>
              <a:off x="3233209" y="42354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●</a:t>
              </a:r>
            </a:p>
          </p:txBody>
        </p:sp>
        <p:sp>
          <p:nvSpPr>
            <p:cNvPr id="416834" name="Text Box 55"/>
            <p:cNvSpPr txBox="1">
              <a:spLocks noChangeArrowheads="1"/>
            </p:cNvSpPr>
            <p:nvPr/>
          </p:nvSpPr>
          <p:spPr bwMode="auto">
            <a:xfrm>
              <a:off x="5912644" y="4244976"/>
              <a:ext cx="412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835" name="Text Box 56"/>
            <p:cNvSpPr txBox="1">
              <a:spLocks noChangeArrowheads="1"/>
            </p:cNvSpPr>
            <p:nvPr/>
          </p:nvSpPr>
          <p:spPr bwMode="auto">
            <a:xfrm>
              <a:off x="7993592" y="5154613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●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36" name="Text Box 57"/>
            <p:cNvSpPr txBox="1">
              <a:spLocks noChangeArrowheads="1"/>
            </p:cNvSpPr>
            <p:nvPr/>
          </p:nvSpPr>
          <p:spPr bwMode="auto">
            <a:xfrm rot="1462546">
              <a:off x="5924226" y="4870728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●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37" name="Text Box 58"/>
            <p:cNvSpPr txBox="1">
              <a:spLocks noChangeArrowheads="1"/>
            </p:cNvSpPr>
            <p:nvPr/>
          </p:nvSpPr>
          <p:spPr bwMode="auto">
            <a:xfrm rot="-1261310">
              <a:off x="5903589" y="3653116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38" name="Text Box 59"/>
            <p:cNvSpPr txBox="1">
              <a:spLocks noChangeArrowheads="1"/>
            </p:cNvSpPr>
            <p:nvPr/>
          </p:nvSpPr>
          <p:spPr bwMode="auto">
            <a:xfrm>
              <a:off x="8003911" y="4217988"/>
              <a:ext cx="412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839" name="Text Box 60"/>
            <p:cNvSpPr txBox="1">
              <a:spLocks noChangeArrowheads="1"/>
            </p:cNvSpPr>
            <p:nvPr/>
          </p:nvSpPr>
          <p:spPr bwMode="auto">
            <a:xfrm>
              <a:off x="7993592" y="3405188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40" name="Line 61"/>
            <p:cNvSpPr>
              <a:spLocks noChangeShapeType="1"/>
            </p:cNvSpPr>
            <p:nvPr/>
          </p:nvSpPr>
          <p:spPr bwMode="auto">
            <a:xfrm flipH="1">
              <a:off x="2923646" y="443388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1" name="Line 62"/>
            <p:cNvSpPr>
              <a:spLocks noChangeShapeType="1"/>
            </p:cNvSpPr>
            <p:nvPr/>
          </p:nvSpPr>
          <p:spPr bwMode="auto">
            <a:xfrm rot="9548732">
              <a:off x="5575565" y="401478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2" name="Line 63"/>
            <p:cNvSpPr>
              <a:spLocks noChangeShapeType="1"/>
            </p:cNvSpPr>
            <p:nvPr/>
          </p:nvSpPr>
          <p:spPr bwMode="auto">
            <a:xfrm flipH="1">
              <a:off x="7682310" y="5370513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3" name="Line 64"/>
            <p:cNvSpPr>
              <a:spLocks noChangeShapeType="1"/>
            </p:cNvSpPr>
            <p:nvPr/>
          </p:nvSpPr>
          <p:spPr bwMode="auto">
            <a:xfrm flipH="1">
              <a:off x="7682310" y="4433888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4" name="Line 65"/>
            <p:cNvSpPr>
              <a:spLocks noChangeShapeType="1"/>
            </p:cNvSpPr>
            <p:nvPr/>
          </p:nvSpPr>
          <p:spPr bwMode="auto">
            <a:xfrm rot="1366384" flipH="1">
              <a:off x="5522252" y="4872038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5" name="Line 66"/>
            <p:cNvSpPr>
              <a:spLocks noChangeShapeType="1"/>
            </p:cNvSpPr>
            <p:nvPr/>
          </p:nvSpPr>
          <p:spPr bwMode="auto">
            <a:xfrm flipH="1">
              <a:off x="5577285" y="4433888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6" name="Line 67"/>
            <p:cNvSpPr>
              <a:spLocks noChangeShapeType="1"/>
            </p:cNvSpPr>
            <p:nvPr/>
          </p:nvSpPr>
          <p:spPr bwMode="auto">
            <a:xfrm flipH="1">
              <a:off x="7687469" y="361473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7" name="AutoShape 70"/>
            <p:cNvSpPr>
              <a:spLocks noChangeArrowheads="1"/>
            </p:cNvSpPr>
            <p:nvPr/>
          </p:nvSpPr>
          <p:spPr bwMode="auto">
            <a:xfrm>
              <a:off x="1093094" y="3405188"/>
              <a:ext cx="2419746" cy="393701"/>
            </a:xfrm>
            <a:prstGeom prst="wedgeRoundRectCallout">
              <a:avLst>
                <a:gd name="adj1" fmla="val 53481"/>
                <a:gd name="adj2" fmla="val 170352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8" name="Text Box 71"/>
            <p:cNvSpPr txBox="1">
              <a:spLocks noChangeArrowheads="1"/>
            </p:cNvSpPr>
            <p:nvPr/>
          </p:nvSpPr>
          <p:spPr bwMode="auto">
            <a:xfrm>
              <a:off x="1129904" y="3440113"/>
              <a:ext cx="220284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特定 </a:t>
              </a: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ONU </a:t>
              </a:r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发来的数据</a:t>
              </a:r>
            </a:p>
          </p:txBody>
        </p:sp>
        <p:sp>
          <p:nvSpPr>
            <p:cNvPr id="416849" name="Text Box 73"/>
            <p:cNvSpPr txBox="1">
              <a:spLocks noChangeArrowheads="1"/>
            </p:cNvSpPr>
            <p:nvPr/>
          </p:nvSpPr>
          <p:spPr bwMode="auto">
            <a:xfrm>
              <a:off x="4232920" y="3779748"/>
              <a:ext cx="6495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C00000"/>
                  </a:solidFill>
                  <a:ea typeface="黑体" panose="02010609060101010101" pitchFamily="49" charset="-122"/>
                </a:rPr>
                <a:t>上行</a:t>
              </a:r>
            </a:p>
          </p:txBody>
        </p:sp>
        <p:sp>
          <p:nvSpPr>
            <p:cNvPr id="416850" name="Line 75"/>
            <p:cNvSpPr>
              <a:spLocks noChangeShapeType="1"/>
            </p:cNvSpPr>
            <p:nvPr/>
          </p:nvSpPr>
          <p:spPr bwMode="auto">
            <a:xfrm flipH="1">
              <a:off x="4172215" y="4159250"/>
              <a:ext cx="77906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51" name="矩形 1"/>
            <p:cNvSpPr>
              <a:spLocks noChangeArrowheads="1"/>
            </p:cNvSpPr>
            <p:nvPr/>
          </p:nvSpPr>
          <p:spPr bwMode="auto">
            <a:xfrm>
              <a:off x="1496616" y="4869160"/>
              <a:ext cx="20543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OLT</a:t>
              </a:r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：</a:t>
              </a:r>
              <a:r>
                <a:rPr lang="zh-CN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光线路终端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16852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90204D66-2E37-46DC-8CCF-726DEFCAFCD6}" type="slidenum">
              <a:rPr lang="zh-CN" altLang="en-US" smtClean="0"/>
              <a:pPr/>
              <a:t>23</a:t>
            </a:fld>
            <a:endParaRPr lang="en-US" altLang="zh-CN" smtClean="0"/>
          </a:p>
        </p:txBody>
      </p:sp>
      <p:sp>
        <p:nvSpPr>
          <p:cNvPr id="416853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52700" y="2641814"/>
            <a:ext cx="2448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Optical Line Terminal</a:t>
            </a:r>
          </a:p>
          <a:p>
            <a:r>
              <a:rPr lang="zh-CN" altLang="en-US" dirty="0" smtClean="0"/>
              <a:t>光主干终端</a:t>
            </a:r>
            <a:endParaRPr lang="zh-CN" altLang="en-US" dirty="0"/>
          </a:p>
        </p:txBody>
      </p:sp>
      <p:sp>
        <p:nvSpPr>
          <p:cNvPr id="88" name="文本框 87"/>
          <p:cNvSpPr txBox="1"/>
          <p:nvPr/>
        </p:nvSpPr>
        <p:spPr>
          <a:xfrm>
            <a:off x="4572842" y="2664381"/>
            <a:ext cx="110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Splitter</a:t>
            </a:r>
            <a:endParaRPr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6538873" y="1733834"/>
            <a:ext cx="2871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Optical Network Unit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dirty="0" smtClean="0">
                <a:ea typeface="黑体" panose="02010609060101010101" pitchFamily="49" charset="-122"/>
              </a:rPr>
              <a:t>流行的无源光网络（</a:t>
            </a:r>
            <a:r>
              <a:rPr lang="en-US" altLang="zh-CN" sz="4000" dirty="0" smtClean="0">
                <a:ea typeface="黑体" panose="02010609060101010101" pitchFamily="49" charset="-122"/>
              </a:rPr>
              <a:t>PON</a:t>
            </a:r>
            <a:r>
              <a:rPr lang="zh-CN" altLang="en-US" sz="4000" dirty="0" smtClean="0">
                <a:ea typeface="黑体" panose="02010609060101010101" pitchFamily="49" charset="-122"/>
              </a:rPr>
              <a:t>）</a:t>
            </a:r>
            <a:r>
              <a:rPr lang="en-US" altLang="zh-CN" sz="4000" dirty="0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1267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以太网无源光网络</a:t>
            </a:r>
            <a:r>
              <a:rPr lang="en-US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EPON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Ethernet PON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en-US" altLang="zh-CN" sz="2800" dirty="0" smtClean="0">
                <a:ea typeface="黑体" panose="02010609060101010101" pitchFamily="49" charset="-122"/>
              </a:rPr>
              <a:t>PON</a:t>
            </a:r>
            <a:r>
              <a:rPr lang="zh-CN" altLang="en-US" sz="2800" dirty="0" smtClean="0">
                <a:ea typeface="黑体" panose="02010609060101010101" pitchFamily="49" charset="-122"/>
              </a:rPr>
              <a:t>拓扑以太网协议，与现有以太网兼容好。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吉比特无源光网络（</a:t>
            </a:r>
            <a:r>
              <a:rPr lang="en-US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Gigabit PON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800" dirty="0" smtClean="0">
                <a:ea typeface="黑体" panose="02010609060101010101" pitchFamily="49" charset="-122"/>
              </a:rPr>
              <a:t>：采用通用封装方法</a:t>
            </a:r>
            <a:r>
              <a:rPr lang="en-US" altLang="zh-CN" sz="2800" dirty="0" smtClean="0">
                <a:ea typeface="黑体" panose="02010609060101010101" pitchFamily="49" charset="-122"/>
              </a:rPr>
              <a:t>GEM</a:t>
            </a:r>
            <a:r>
              <a:rPr lang="zh-CN" altLang="en-US" sz="2800" dirty="0" smtClean="0">
                <a:ea typeface="黑体" panose="02010609060101010101" pitchFamily="49" charset="-122"/>
              </a:rPr>
              <a:t>（</a:t>
            </a:r>
            <a:r>
              <a:rPr lang="en-US" altLang="zh-CN" sz="2800" dirty="0" smtClean="0">
                <a:ea typeface="黑体" panose="02010609060101010101" pitchFamily="49" charset="-122"/>
              </a:rPr>
              <a:t>Generic Encapsulation Method</a:t>
            </a:r>
            <a:r>
              <a:rPr lang="zh-CN" altLang="en-US" sz="2800" dirty="0" smtClean="0">
                <a:ea typeface="黑体" panose="02010609060101010101" pitchFamily="49" charset="-122"/>
              </a:rPr>
              <a:t>）为业务提供服务质量保证。</a:t>
            </a:r>
          </a:p>
        </p:txBody>
      </p:sp>
      <p:sp>
        <p:nvSpPr>
          <p:cNvPr id="412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3D0FCD-14A4-4B66-B271-DD35708ED08B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412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53681917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358</TotalTime>
  <Words>1784</Words>
  <Application>Microsoft Office PowerPoint</Application>
  <PresentationFormat>A4 纸张(210x297 毫米)</PresentationFormat>
  <Paragraphs>524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黑体</vt:lpstr>
      <vt:lpstr>宋体</vt:lpstr>
      <vt:lpstr>Arial</vt:lpstr>
      <vt:lpstr>Symbol</vt:lpstr>
      <vt:lpstr>Times New Roman</vt:lpstr>
      <vt:lpstr>Wingdings</vt:lpstr>
      <vt:lpstr>Presentation</vt:lpstr>
      <vt:lpstr>第 2 章  物理层</vt:lpstr>
      <vt:lpstr>第 2 章  物理层</vt:lpstr>
      <vt:lpstr>2.6  宽带接入技术</vt:lpstr>
      <vt:lpstr>2.6  宽带接入技术</vt:lpstr>
      <vt:lpstr>2.6  宽带接入技术</vt:lpstr>
      <vt:lpstr>2.6.1  ADSL 技术</vt:lpstr>
      <vt:lpstr>DSL 的几种类型 </vt:lpstr>
      <vt:lpstr>ADSL 的传输距离</vt:lpstr>
      <vt:lpstr>ADSL 的特点</vt:lpstr>
      <vt:lpstr>DMT 技术</vt:lpstr>
      <vt:lpstr>DMT 技术的频谱分布 </vt:lpstr>
      <vt:lpstr>ADSL 的数据率</vt:lpstr>
      <vt:lpstr>ADSL 的组成 </vt:lpstr>
      <vt:lpstr>ADSL好处 </vt:lpstr>
      <vt:lpstr>第二代 ADSL </vt:lpstr>
      <vt:lpstr>2.6.2  光纤同轴混合网（HFC网）</vt:lpstr>
      <vt:lpstr>HFC 网的主干线路采用光纤</vt:lpstr>
      <vt:lpstr>HFC 网采用结点体系结构 </vt:lpstr>
      <vt:lpstr> HFC 网具有双向传输功能，扩展了传输频带</vt:lpstr>
      <vt:lpstr>每个家庭要安装一个用户接口盒 </vt:lpstr>
      <vt:lpstr>电缆调制解调器 (Cable Modem) </vt:lpstr>
      <vt:lpstr>2.6.3  FTTx 技术 </vt:lpstr>
      <vt:lpstr>PowerPoint 演示文稿</vt:lpstr>
      <vt:lpstr>流行的无源光网络（PON） 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91</cp:revision>
  <dcterms:created xsi:type="dcterms:W3CDTF">2016-10-01T05:27:00Z</dcterms:created>
  <dcterms:modified xsi:type="dcterms:W3CDTF">2021-01-14T03:50:12Z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
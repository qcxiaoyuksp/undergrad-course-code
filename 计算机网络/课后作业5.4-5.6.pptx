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426" r:id="rId2"/>
    <p:sldId id="431" r:id="rId3"/>
    <p:sldId id="432" r:id="rId4"/>
    <p:sldId id="433" r:id="rId5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第五章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5.4-5.6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/>
              <a:t>、假设使用连续</a:t>
            </a:r>
            <a:r>
              <a:rPr lang="en-US" altLang="zh-CN" sz="2400" dirty="0"/>
              <a:t>ARQ</a:t>
            </a:r>
            <a:r>
              <a:rPr lang="zh-CN" altLang="en-US" sz="2400" dirty="0"/>
              <a:t>协议，发送窗口大小是</a:t>
            </a:r>
            <a:r>
              <a:rPr lang="en-US" altLang="zh-CN" sz="2400" dirty="0"/>
              <a:t>3</a:t>
            </a:r>
            <a:r>
              <a:rPr lang="zh-CN" altLang="en-US" sz="2400" dirty="0"/>
              <a:t>，而序列范围</a:t>
            </a:r>
            <a:r>
              <a:rPr lang="en-US" altLang="zh-CN" sz="2400" dirty="0"/>
              <a:t>[0,15],</a:t>
            </a:r>
            <a:r>
              <a:rPr lang="zh-CN" altLang="en-US" sz="2400" dirty="0"/>
              <a:t>而传输媒体保证在接收方能够按序收到分组。在某时刻，在接收方，下一个期望收到序号是</a:t>
            </a:r>
            <a:r>
              <a:rPr lang="en-US" altLang="zh-CN" sz="2400" dirty="0"/>
              <a:t>5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zh-CN" altLang="en-US" sz="2400" dirty="0" smtClean="0"/>
              <a:t>试问：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  </a:t>
            </a:r>
            <a:r>
              <a:rPr lang="zh-CN" altLang="en-US" sz="2400" dirty="0" smtClean="0"/>
              <a:t>①</a:t>
            </a:r>
            <a:r>
              <a:rPr lang="zh-CN" altLang="en-US" sz="2400" dirty="0"/>
              <a:t>在发送方的发送窗口中可能有出现的序号组合有哪几种</a:t>
            </a:r>
            <a:r>
              <a:rPr lang="zh-CN" altLang="en-US" sz="2400" dirty="0" smtClean="0"/>
              <a:t>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  </a:t>
            </a:r>
            <a:r>
              <a:rPr lang="zh-CN" altLang="en-US" sz="2400" dirty="0" smtClean="0"/>
              <a:t>②</a:t>
            </a:r>
            <a:r>
              <a:rPr lang="zh-CN" altLang="en-US" sz="2400" dirty="0"/>
              <a:t>接收方已经发送出去的、但在网络中（即还未到达发送方）的确认分组可能有哪些？说明这些确认分组是用来确认哪些序号的分组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请写到作业本上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dirty="0" smtClean="0"/>
              <a:t>2</a:t>
            </a:r>
            <a:r>
              <a:rPr lang="zh-CN" altLang="en-US" sz="2800" dirty="0" smtClean="0"/>
              <a:t>、主机</a:t>
            </a:r>
            <a:r>
              <a:rPr lang="en-US" altLang="zh-CN" sz="2800" dirty="0"/>
              <a:t>A</a:t>
            </a:r>
            <a:r>
              <a:rPr lang="zh-CN" altLang="en-US" sz="2800" dirty="0"/>
              <a:t>向主机</a:t>
            </a:r>
            <a:r>
              <a:rPr lang="en-US" altLang="zh-CN" sz="2800" dirty="0"/>
              <a:t>B</a:t>
            </a:r>
            <a:r>
              <a:rPr lang="zh-CN" altLang="en-US" sz="2800" dirty="0"/>
              <a:t>连续发送了两个</a:t>
            </a:r>
            <a:r>
              <a:rPr lang="en-US" altLang="zh-CN" sz="2800" dirty="0"/>
              <a:t>TCP</a:t>
            </a:r>
            <a:r>
              <a:rPr lang="zh-CN" altLang="en-US" sz="2800" dirty="0"/>
              <a:t>报文段</a:t>
            </a:r>
            <a:r>
              <a:rPr lang="en-US" altLang="zh-CN" sz="2800" dirty="0"/>
              <a:t>,</a:t>
            </a:r>
            <a:r>
              <a:rPr lang="zh-CN" altLang="en-US" sz="2800" dirty="0"/>
              <a:t>其序列号分别是</a:t>
            </a:r>
            <a:r>
              <a:rPr lang="en-US" altLang="zh-CN" sz="2800" dirty="0"/>
              <a:t>70</a:t>
            </a:r>
            <a:r>
              <a:rPr lang="zh-CN" altLang="en-US" sz="2800" dirty="0"/>
              <a:t>和</a:t>
            </a:r>
            <a:r>
              <a:rPr lang="en-US" altLang="zh-CN" sz="2800" dirty="0"/>
              <a:t>100</a:t>
            </a:r>
            <a:r>
              <a:rPr lang="zh-CN" altLang="en-US" sz="2800" dirty="0"/>
              <a:t>。试问：</a:t>
            </a:r>
          </a:p>
          <a:p>
            <a:pPr marL="0" indent="0"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）第一个报文段携带了多少字节的数据？</a:t>
            </a:r>
          </a:p>
          <a:p>
            <a:pPr marL="0" indent="0"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）主机</a:t>
            </a:r>
            <a:r>
              <a:rPr lang="en-US" altLang="zh-CN" sz="2800" dirty="0"/>
              <a:t>B</a:t>
            </a:r>
            <a:r>
              <a:rPr lang="zh-CN" altLang="en-US" sz="2800" dirty="0"/>
              <a:t>收到第一个报文段后发回的确认中的确认号应当是多少？</a:t>
            </a:r>
          </a:p>
          <a:p>
            <a:pPr marL="0" indent="0"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）如果</a:t>
            </a:r>
            <a:r>
              <a:rPr lang="en-US" altLang="zh-CN" sz="2800" dirty="0"/>
              <a:t>B</a:t>
            </a:r>
            <a:r>
              <a:rPr lang="zh-CN" altLang="en-US" sz="2800" dirty="0"/>
              <a:t>收到第二个报文段后发回的确认中的确认号是</a:t>
            </a:r>
            <a:r>
              <a:rPr lang="en-US" altLang="zh-CN" sz="2800" dirty="0"/>
              <a:t>180</a:t>
            </a:r>
            <a:r>
              <a:rPr lang="zh-CN" altLang="en-US" sz="2800" dirty="0"/>
              <a:t>，试问</a:t>
            </a:r>
            <a:r>
              <a:rPr lang="en-US" altLang="zh-CN" sz="2800" dirty="0"/>
              <a:t>A</a:t>
            </a:r>
            <a:r>
              <a:rPr lang="zh-CN" altLang="en-US" sz="2800" dirty="0"/>
              <a:t>发送的第二个报文段中的数据有多少字节？</a:t>
            </a:r>
          </a:p>
          <a:p>
            <a:pPr marL="0" indent="0"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）如果</a:t>
            </a:r>
            <a:r>
              <a:rPr lang="en-US" altLang="zh-CN" sz="2800" dirty="0"/>
              <a:t>A</a:t>
            </a:r>
            <a:r>
              <a:rPr lang="zh-CN" altLang="en-US" sz="2800" dirty="0"/>
              <a:t>发送的第一个报文段丢失了，但第二个报文段到达了</a:t>
            </a:r>
            <a:r>
              <a:rPr lang="en-US" altLang="zh-CN" sz="2800" dirty="0"/>
              <a:t>B</a:t>
            </a:r>
            <a:r>
              <a:rPr lang="zh-CN" altLang="en-US" sz="2800" dirty="0"/>
              <a:t>。</a:t>
            </a:r>
            <a:r>
              <a:rPr lang="en-US" altLang="zh-CN" sz="2800" dirty="0"/>
              <a:t>B</a:t>
            </a:r>
            <a:r>
              <a:rPr lang="zh-CN" altLang="en-US" sz="2800" dirty="0"/>
              <a:t>在第二个报文段到达后向</a:t>
            </a:r>
            <a:r>
              <a:rPr lang="en-US" altLang="zh-CN" sz="2800" dirty="0"/>
              <a:t>A</a:t>
            </a:r>
            <a:r>
              <a:rPr lang="zh-CN" altLang="en-US" sz="2800" dirty="0"/>
              <a:t>发送确认。试问这个确认号应当是多少？</a:t>
            </a:r>
          </a:p>
        </p:txBody>
      </p:sp>
    </p:spTree>
    <p:extLst>
      <p:ext uri="{BB962C8B-B14F-4D97-AF65-F5344CB8AC3E}">
        <p14:creationId xmlns:p14="http://schemas.microsoft.com/office/powerpoint/2010/main" val="4260866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请写到作业本上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dirty="0" smtClean="0"/>
              <a:t>3</a:t>
            </a:r>
            <a:r>
              <a:rPr lang="zh-CN" altLang="en-US" sz="2800" dirty="0" smtClean="0"/>
              <a:t>、假定</a:t>
            </a:r>
            <a:r>
              <a:rPr lang="en-US" altLang="zh-CN" sz="2800" dirty="0"/>
              <a:t>TCP</a:t>
            </a:r>
            <a:r>
              <a:rPr lang="zh-CN" altLang="en-US" sz="2800" dirty="0"/>
              <a:t>在开始建立连接时，发送方设定超时重传时间</a:t>
            </a:r>
            <a:r>
              <a:rPr lang="en-US" altLang="zh-CN" sz="2800" dirty="0"/>
              <a:t>RTO=6</a:t>
            </a:r>
            <a:r>
              <a:rPr lang="zh-CN" altLang="en-US" sz="2800" dirty="0"/>
              <a:t>秒。 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(</a:t>
            </a:r>
            <a:r>
              <a:rPr lang="en-US" altLang="zh-CN" sz="2800" dirty="0"/>
              <a:t>1)</a:t>
            </a:r>
            <a:r>
              <a:rPr lang="zh-CN" altLang="en-US" sz="2800" dirty="0"/>
              <a:t>当发送方收到对方的连接确认报文段时，测量出</a:t>
            </a:r>
            <a:r>
              <a:rPr lang="en-US" altLang="zh-CN" sz="2800" dirty="0"/>
              <a:t>RTT</a:t>
            </a:r>
            <a:r>
              <a:rPr lang="zh-CN" altLang="en-US" sz="2800" dirty="0"/>
              <a:t>。样本值为</a:t>
            </a:r>
            <a:r>
              <a:rPr lang="en-US" altLang="zh-CN" sz="2800" dirty="0" smtClean="0"/>
              <a:t>1.5</a:t>
            </a:r>
            <a:r>
              <a:rPr lang="zh-CN" altLang="en-US" sz="2800" dirty="0"/>
              <a:t>秒，试计算现在的</a:t>
            </a:r>
            <a:r>
              <a:rPr lang="en-US" altLang="zh-CN" sz="2800" dirty="0"/>
              <a:t>RTO</a:t>
            </a:r>
            <a:r>
              <a:rPr lang="zh-CN" altLang="en-US" sz="2800" dirty="0"/>
              <a:t>值。 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(</a:t>
            </a:r>
            <a:r>
              <a:rPr lang="en-US" altLang="zh-CN" sz="2800" dirty="0"/>
              <a:t>2)</a:t>
            </a:r>
            <a:r>
              <a:rPr lang="zh-CN" altLang="en-US" sz="2800" dirty="0"/>
              <a:t>当发送方发送数据报文段并收到确认时，测量出</a:t>
            </a:r>
            <a:r>
              <a:rPr lang="en-US" altLang="zh-CN" sz="2800" dirty="0"/>
              <a:t>RTT</a:t>
            </a:r>
            <a:r>
              <a:rPr lang="zh-CN" altLang="en-US" sz="2800" dirty="0"/>
              <a:t>样本值为</a:t>
            </a:r>
            <a:r>
              <a:rPr lang="en-US" altLang="zh-CN" sz="2800" dirty="0" smtClean="0"/>
              <a:t>2.5</a:t>
            </a:r>
            <a:r>
              <a:rPr lang="zh-CN" altLang="en-US" sz="2800" dirty="0"/>
              <a:t>秒，试计算现在的</a:t>
            </a:r>
            <a:r>
              <a:rPr lang="en-US" altLang="zh-CN" sz="2800" dirty="0"/>
              <a:t>RTO</a:t>
            </a:r>
            <a:r>
              <a:rPr lang="zh-CN" altLang="en-US" sz="2800" dirty="0"/>
              <a:t>值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4</a:t>
            </a:r>
            <a:r>
              <a:rPr lang="zh-CN" altLang="en-US" sz="2800" dirty="0"/>
              <a:t>、写出下列英文术语缩写的全称和中文译名</a:t>
            </a:r>
          </a:p>
          <a:p>
            <a:pPr marL="0" indent="0">
              <a:buNone/>
            </a:pPr>
            <a:r>
              <a:rPr lang="en-US" altLang="zh-CN" sz="2800"/>
              <a:t>ARQ </a:t>
            </a:r>
            <a:r>
              <a:rPr lang="en-US" altLang="zh-CN" sz="2800"/>
              <a:t>MSS RTO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835433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417</TotalTime>
  <Words>373</Words>
  <Application>Microsoft Office PowerPoint</Application>
  <PresentationFormat>A4 纸张(210x297 毫米)</PresentationFormat>
  <Paragraphs>21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黑体</vt:lpstr>
      <vt:lpstr>宋体</vt:lpstr>
      <vt:lpstr>Arial</vt:lpstr>
      <vt:lpstr>Times New Roman</vt:lpstr>
      <vt:lpstr>Wingdings</vt:lpstr>
      <vt:lpstr>Presentation</vt:lpstr>
      <vt:lpstr>第五章 5.4-5.6课后作业</vt:lpstr>
      <vt:lpstr>请写到作业本上</vt:lpstr>
      <vt:lpstr>请写到作业本上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107</cp:revision>
  <dcterms:created xsi:type="dcterms:W3CDTF">2016-10-01T05:27:00Z</dcterms:created>
  <dcterms:modified xsi:type="dcterms:W3CDTF">2021-01-24T12:55:53Z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
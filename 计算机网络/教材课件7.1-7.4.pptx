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1495" r:id="rId2"/>
    <p:sldId id="1496" r:id="rId3"/>
    <p:sldId id="1497" r:id="rId4"/>
    <p:sldId id="1498" r:id="rId5"/>
    <p:sldId id="1499" r:id="rId6"/>
    <p:sldId id="1500" r:id="rId7"/>
    <p:sldId id="1501" r:id="rId8"/>
    <p:sldId id="1502" r:id="rId9"/>
    <p:sldId id="1503" r:id="rId10"/>
    <p:sldId id="1504" r:id="rId11"/>
    <p:sldId id="1505" r:id="rId12"/>
    <p:sldId id="1506" r:id="rId13"/>
    <p:sldId id="1507" r:id="rId14"/>
    <p:sldId id="1508" r:id="rId15"/>
    <p:sldId id="1509" r:id="rId16"/>
    <p:sldId id="1510" r:id="rId17"/>
    <p:sldId id="1511" r:id="rId18"/>
    <p:sldId id="1512" r:id="rId19"/>
    <p:sldId id="1513" r:id="rId20"/>
    <p:sldId id="1514" r:id="rId21"/>
    <p:sldId id="1515" r:id="rId22"/>
    <p:sldId id="1516" r:id="rId23"/>
    <p:sldId id="1517" r:id="rId24"/>
    <p:sldId id="1518" r:id="rId25"/>
    <p:sldId id="1519" r:id="rId26"/>
    <p:sldId id="1520" r:id="rId27"/>
    <p:sldId id="1521" r:id="rId28"/>
    <p:sldId id="1522" r:id="rId29"/>
    <p:sldId id="1523" r:id="rId30"/>
    <p:sldId id="1524" r:id="rId31"/>
    <p:sldId id="1525" r:id="rId32"/>
    <p:sldId id="1526" r:id="rId33"/>
    <p:sldId id="1527" r:id="rId34"/>
    <p:sldId id="1528" r:id="rId35"/>
    <p:sldId id="1529" r:id="rId36"/>
    <p:sldId id="1530" r:id="rId37"/>
    <p:sldId id="1531" r:id="rId38"/>
    <p:sldId id="1533" r:id="rId39"/>
    <p:sldId id="1534" r:id="rId40"/>
    <p:sldId id="1535" r:id="rId41"/>
    <p:sldId id="1536" r:id="rId42"/>
    <p:sldId id="1537" r:id="rId43"/>
    <p:sldId id="1538" r:id="rId44"/>
    <p:sldId id="1539" r:id="rId45"/>
    <p:sldId id="1540" r:id="rId46"/>
    <p:sldId id="1541" r:id="rId47"/>
    <p:sldId id="1542" r:id="rId48"/>
    <p:sldId id="1543" r:id="rId49"/>
    <p:sldId id="1544" r:id="rId50"/>
    <p:sldId id="1545" r:id="rId51"/>
    <p:sldId id="1546" r:id="rId52"/>
    <p:sldId id="1547" r:id="rId53"/>
    <p:sldId id="1548" r:id="rId54"/>
    <p:sldId id="1549" r:id="rId55"/>
    <p:sldId id="1550" r:id="rId56"/>
    <p:sldId id="1551" r:id="rId57"/>
    <p:sldId id="1552" r:id="rId58"/>
    <p:sldId id="1553" r:id="rId59"/>
    <p:sldId id="1554" r:id="rId60"/>
    <p:sldId id="1555" r:id="rId61"/>
    <p:sldId id="1556" r:id="rId62"/>
    <p:sldId id="1557" r:id="rId6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CC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C0E8ACEC-BE51-4C28-9719-6AEAC1A1CC5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FF05FA4A-B8E9-4A1C-BCD1-7761336334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0C77CE-7797-456D-8EF1-C79E1756C5D5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01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101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F100AC-853F-4E09-B40E-F8298D8EFEE8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31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131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EE183E-D751-4921-AC9B-8289A5A89AB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523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152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58F4B1-115A-4D82-9546-1C19044375A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72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172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15E5789-A495-484B-B8AE-1BDA53986C4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93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193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E102CD-4DB9-44AC-8A4C-0F59CE302DF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213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213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4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234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234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ADC732-640F-4244-88B1-4F19F172C529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47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2547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2547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E4C6E0-4915-48C6-B456-47805F51D28A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2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2752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2752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E1F6A8-21C0-4981-B5B6-2490E89F26AB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56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2957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2957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5B062D-8E84-4275-95A5-C8799583029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61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3161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316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F036B4-EEE9-4875-9F22-6761A4993F02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66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3366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3366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387AA7-F116-45FB-AE98-1CA4610FA798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7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3571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3571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FF7523-2BE2-4521-970B-DDE62DD60D73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6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3776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3776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C0B238-7DE9-405F-A9CC-E3F52E56DEB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80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3981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3981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62A817-F216-455E-9A07-CD92D9C0FB10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85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4185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4185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66F263-FAD2-421A-A34C-794F530AD78C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1D5ABB-939B-4296-B2BB-1DE8A95F8AE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439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439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95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4595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4595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D90545-FBFF-4E6F-AE2E-C4BEF9AA298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490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490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FA711E5-EE52-42E4-A25E-6AC635A1397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07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5107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5107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2921F5-C91E-4965-94F0-DCE93741636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12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5312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5312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FF2827-7DE5-4949-BCF7-99EECD4EFFA5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16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5517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5517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6A78C2-DB91-482B-A959-B460C63F92B1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21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5721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0572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45B0D4-B086-48D2-826E-3AC7EFB022D9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28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6029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6029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2EEEDFA-EDB4-4D5C-974C-62E9B35A3B17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33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6233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6233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B4D540-27B6-4291-93FE-426D4F3DFA31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38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6438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643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066525-972B-4E1A-872B-FBAB40F12880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43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6643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6643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3899A0-2CA6-451A-B446-C389A008085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8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6848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6848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2D5190A-B3F1-4B89-A858-812635AADAC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55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7155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7155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3BD7643-AC33-48E3-A8D9-1F57CB516849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6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746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746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14201C-3E2D-4135-A7A9-DD784EC5356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74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7974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7974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42FCA4-369E-4060-9B08-9418E4CBE39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81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8281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828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14BFEA-B0C0-4486-B034-1C351160D473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86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8486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8486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A60903-A9B2-4FC0-BDB0-3BCA80FC249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9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8691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8691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CF67B82-6B10-4958-904E-D11ED48E4CF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6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8896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8896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24EE74-8EC2-4A32-8B82-206264CC4B3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00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9101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101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E26050-C527-48B0-B965-3BEA07326B5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05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9305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305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46EEB7-D10E-4ECF-9B52-8AF7E27F665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10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9510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510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137260-47E1-4C93-86EB-F763634E7E4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15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9715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715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188631-8E4E-452D-B712-647692AEF2F8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0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09920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920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7458A0F-4BA4-432E-9B98-FA9F471A270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24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0125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0125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387AC4-29A5-42A2-AA12-50FCB84EB6D3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29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0329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0329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7538D8-33BC-4932-82F0-2BA66B8D78DC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34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0534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0534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724C81C-F9C6-425F-A3DD-DD41040650B7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39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0739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0739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CA77F7-C61D-4B2D-8F88-9EFFA3F55151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4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0944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0944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FE5F0A-9946-4D5D-9C38-66BF68323B6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48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1149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1149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AB5E85-8221-475F-AEE8-9DDCE3DD87B7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53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1353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1353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07A879-E74D-4A97-91F2-5C409C350E2A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58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1558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1155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8A640D6-A09C-4E92-AFAE-209E8BCDEFE8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63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1763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1763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D93FEF-9352-4950-8A8B-DE92E6296ACB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72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2173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2173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E7CBA2-A79B-43B3-B943-3A696E3664C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60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77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2377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2377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44A106D-1670-42B3-B1EB-6860AEF69B61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61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8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258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258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4C5FD3-BD28-43CF-AC84-EFF5308AED92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62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7955F-A69E-4467-A82C-EE60FDDCFF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7999172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7CA65C-4566-4F22-82C0-F7928AFB6C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508641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B45BCF-6D22-4878-8FB5-A81CDEA859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071423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A8425-2754-4992-85DA-093F73B1EF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332707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364BCD-9FF8-4EEA-802F-02E81612248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865732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24188-8841-4DE9-B734-E97410F80EA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60111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0D0CB9-BE1A-4B7E-9987-D843BFDBDFA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861276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047895-56BC-40E7-B54D-786187ABECC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851595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A5DC6C-E8EB-4CB9-82BE-2566C17B859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5482523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DFB998-1A56-45AA-8238-C823889BAE5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196966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9DF3D8-F2BE-4C56-8077-B7A99E011FD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7725478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9285C9-D267-4602-BC5B-004CB60C2F6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541545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FD7FADE1-BAB0-4FD4-85EF-FEBC2CE45A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945494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D74A896-9AB5-4D15-8402-862059E5A9B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447998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0EDAF7A-0A16-47FB-BF04-01BDDD727E3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11.jpeg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9.wmf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8.wmf"/><Relationship Id="rId10" Type="http://schemas.openxmlformats.org/officeDocument/2006/relationships/image" Target="../media/image2.w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0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08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第 </a:t>
            </a:r>
            <a:r>
              <a:rPr lang="en-US" altLang="zh-CN" dirty="0" smtClean="0">
                <a:latin typeface="Arial" panose="020B0604020202020204" pitchFamily="34" charset="0"/>
                <a:ea typeface="黑体" panose="02010609060101010101" pitchFamily="49" charset="-122"/>
              </a:rPr>
              <a:t>7 </a:t>
            </a:r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章  网络安全</a:t>
            </a:r>
          </a:p>
        </p:txBody>
      </p:sp>
      <p:sp>
        <p:nvSpPr>
          <p:cNvPr id="200909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anose="02010609060101010101" pitchFamily="49" charset="-122"/>
                <a:ea typeface="宋体" panose="02010600030101010101" pitchFamily="2" charset="-122"/>
              </a:rPr>
              <a:t>7.1-7.4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20090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ED7D0B-4B30-42B4-B58A-F8A878FF6802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20090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13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第</a:t>
            </a:r>
            <a:r>
              <a:rPr lang="en-US" altLang="zh-CN" smtClean="0">
                <a:ea typeface="黑体" panose="02010609060101010101" pitchFamily="49" charset="-122"/>
              </a:rPr>
              <a:t> 7 </a:t>
            </a:r>
            <a:r>
              <a:rPr lang="zh-CN" altLang="zh-CN" smtClean="0">
                <a:ea typeface="黑体" panose="02010609060101010101" pitchFamily="49" charset="-122"/>
              </a:rPr>
              <a:t>章</a:t>
            </a:r>
            <a:r>
              <a:rPr lang="en-US" altLang="zh-CN" smtClean="0">
                <a:ea typeface="黑体" panose="02010609060101010101" pitchFamily="49" charset="-122"/>
              </a:rPr>
              <a:t>  </a:t>
            </a:r>
            <a:r>
              <a:rPr lang="zh-CN" altLang="en-US" smtClean="0">
                <a:ea typeface="黑体" panose="02010609060101010101" pitchFamily="49" charset="-122"/>
              </a:rPr>
              <a:t>网络安全</a:t>
            </a:r>
          </a:p>
        </p:txBody>
      </p:sp>
      <p:sp>
        <p:nvSpPr>
          <p:cNvPr id="20111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7.1  </a:t>
            </a:r>
            <a:r>
              <a:rPr lang="zh-CN" altLang="zh-CN" dirty="0" smtClean="0">
                <a:ea typeface="黑体" panose="02010609060101010101" pitchFamily="49" charset="-122"/>
              </a:rPr>
              <a:t>网络安全问题概述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7.2  </a:t>
            </a:r>
            <a:r>
              <a:rPr lang="zh-CN" altLang="zh-CN" dirty="0" smtClean="0">
                <a:ea typeface="黑体" panose="02010609060101010101" pitchFamily="49" charset="-122"/>
              </a:rPr>
              <a:t>两类密码体制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7.3  </a:t>
            </a:r>
            <a:r>
              <a:rPr lang="zh-CN" altLang="zh-CN" dirty="0" smtClean="0">
                <a:ea typeface="黑体" panose="02010609060101010101" pitchFamily="49" charset="-122"/>
              </a:rPr>
              <a:t>数字签名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7.4  </a:t>
            </a:r>
            <a:r>
              <a:rPr lang="zh-CN" altLang="zh-CN" dirty="0" smtClean="0">
                <a:ea typeface="黑体" panose="02010609060101010101" pitchFamily="49" charset="-122"/>
              </a:rPr>
              <a:t>鉴别</a:t>
            </a:r>
          </a:p>
        </p:txBody>
      </p:sp>
      <p:sp>
        <p:nvSpPr>
          <p:cNvPr id="201113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CB047A-EDFE-4CAA-8881-D53CFF6E4B9F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201114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1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7.1  </a:t>
            </a:r>
            <a:r>
              <a:rPr lang="zh-CN" altLang="zh-CN" smtClean="0">
                <a:ea typeface="黑体" panose="02010609060101010101" pitchFamily="49" charset="-122"/>
              </a:rPr>
              <a:t>网络安全问题概述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1216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随着计算机网络的发展，网络中的安全问题也日趋严重。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本节讨论计算机网络面临的安全性威胁、安全的内容和一般的数据加密模型。</a:t>
            </a:r>
            <a:endParaRPr lang="zh-CN" altLang="en-US" smtClean="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0121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DF13AE-70C2-41EB-B2F5-9A85F9C7D9A7}" type="slidenum">
              <a:rPr lang="zh-CN" altLang="en-US" smtClean="0"/>
              <a:pPr eaLnBrk="1" hangingPunct="1"/>
              <a:t>3</a:t>
            </a:fld>
            <a:endParaRPr lang="en-US" altLang="zh-CN" smtClean="0"/>
          </a:p>
        </p:txBody>
      </p:sp>
      <p:sp>
        <p:nvSpPr>
          <p:cNvPr id="20121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7.1  </a:t>
            </a:r>
            <a:r>
              <a:rPr lang="zh-CN" altLang="zh-CN" smtClean="0">
                <a:ea typeface="黑体" panose="02010609060101010101" pitchFamily="49" charset="-122"/>
              </a:rPr>
              <a:t>网络安全问题概述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1421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7.1.1  </a:t>
            </a:r>
            <a:r>
              <a:rPr lang="zh-CN" altLang="zh-CN" smtClean="0">
                <a:ea typeface="黑体" panose="02010609060101010101" pitchFamily="49" charset="-122"/>
              </a:rPr>
              <a:t>计算机网络面临的安全性威胁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7.1.2  </a:t>
            </a:r>
            <a:r>
              <a:rPr lang="zh-CN" altLang="zh-CN" smtClean="0">
                <a:ea typeface="黑体" panose="02010609060101010101" pitchFamily="49" charset="-122"/>
              </a:rPr>
              <a:t>安全的计算机网络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7.1.3  </a:t>
            </a:r>
            <a:r>
              <a:rPr lang="zh-CN" altLang="zh-CN" smtClean="0">
                <a:ea typeface="黑体" panose="02010609060101010101" pitchFamily="49" charset="-122"/>
              </a:rPr>
              <a:t>数据加密模型</a:t>
            </a:r>
          </a:p>
        </p:txBody>
      </p:sp>
      <p:sp>
        <p:nvSpPr>
          <p:cNvPr id="201421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F571C7-88E9-41B1-A863-EE68917570F1}" type="slidenum">
              <a:rPr lang="zh-CN" altLang="en-US" smtClean="0"/>
              <a:pPr eaLnBrk="1" hangingPunct="1"/>
              <a:t>4</a:t>
            </a:fld>
            <a:endParaRPr lang="en-US" altLang="zh-CN" smtClean="0"/>
          </a:p>
        </p:txBody>
      </p:sp>
      <p:sp>
        <p:nvSpPr>
          <p:cNvPr id="201421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25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49" charset="-122"/>
              </a:rPr>
              <a:t>7.1.1  </a:t>
            </a:r>
            <a:r>
              <a:rPr lang="zh-CN" altLang="zh-CN" sz="4000" smtClean="0">
                <a:ea typeface="黑体" panose="02010609060101010101" pitchFamily="49" charset="-122"/>
              </a:rPr>
              <a:t>计算机网络面临的安全性威胁</a:t>
            </a:r>
            <a:endParaRPr lang="zh-CN" altLang="en-US" sz="4000" smtClean="0">
              <a:ea typeface="黑体" panose="02010609060101010101" pitchFamily="49" charset="-122"/>
            </a:endParaRPr>
          </a:p>
        </p:txBody>
      </p:sp>
      <p:sp>
        <p:nvSpPr>
          <p:cNvPr id="201625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计算机网络上的通信面临以下两大类威胁：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被动攻击</a:t>
            </a:r>
            <a:r>
              <a:rPr lang="zh-CN" altLang="en-US" smtClean="0">
                <a:ea typeface="黑体" panose="02010609060101010101" pitchFamily="49" charset="-122"/>
              </a:rPr>
              <a:t>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主动攻击。</a:t>
            </a:r>
            <a:endParaRPr lang="zh-CN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4" name="Rectangle 99"/>
          <p:cNvSpPr>
            <a:spLocks noChangeArrowheads="1"/>
          </p:cNvSpPr>
          <p:nvPr/>
        </p:nvSpPr>
        <p:spPr bwMode="auto">
          <a:xfrm>
            <a:off x="704850" y="2420938"/>
            <a:ext cx="8824913" cy="2165350"/>
          </a:xfrm>
          <a:prstGeom prst="rect">
            <a:avLst/>
          </a:prstGeom>
          <a:solidFill>
            <a:srgbClr val="FFFF66"/>
          </a:solidFill>
          <a:ln w="9525">
            <a:solidFill>
              <a:srgbClr val="000000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" name="Rectangle 66"/>
          <p:cNvSpPr>
            <a:spLocks noChangeArrowheads="1"/>
          </p:cNvSpPr>
          <p:nvPr/>
        </p:nvSpPr>
        <p:spPr bwMode="auto">
          <a:xfrm>
            <a:off x="2976563" y="4084638"/>
            <a:ext cx="6540500" cy="48736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6" name="Oval 68"/>
          <p:cNvSpPr>
            <a:spLocks noChangeArrowheads="1"/>
          </p:cNvSpPr>
          <p:nvPr/>
        </p:nvSpPr>
        <p:spPr bwMode="auto">
          <a:xfrm>
            <a:off x="3205163" y="3032125"/>
            <a:ext cx="263525" cy="279400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7" name="Oval 69"/>
          <p:cNvSpPr>
            <a:spLocks noChangeArrowheads="1"/>
          </p:cNvSpPr>
          <p:nvPr/>
        </p:nvSpPr>
        <p:spPr bwMode="auto">
          <a:xfrm>
            <a:off x="4568825" y="3032125"/>
            <a:ext cx="263525" cy="279400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8" name="Oval 71"/>
          <p:cNvSpPr>
            <a:spLocks noChangeArrowheads="1"/>
          </p:cNvSpPr>
          <p:nvPr/>
        </p:nvSpPr>
        <p:spPr bwMode="auto">
          <a:xfrm>
            <a:off x="989013" y="3032125"/>
            <a:ext cx="263525" cy="276225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9" name="Oval 72"/>
          <p:cNvSpPr>
            <a:spLocks noChangeArrowheads="1"/>
          </p:cNvSpPr>
          <p:nvPr/>
        </p:nvSpPr>
        <p:spPr bwMode="auto">
          <a:xfrm>
            <a:off x="2354263" y="3032125"/>
            <a:ext cx="263525" cy="276225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0" name="Line 73"/>
          <p:cNvSpPr>
            <a:spLocks noChangeShapeType="1"/>
          </p:cNvSpPr>
          <p:nvPr/>
        </p:nvSpPr>
        <p:spPr bwMode="auto">
          <a:xfrm>
            <a:off x="1252538" y="3171825"/>
            <a:ext cx="1101725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1" name="Arc 74"/>
          <p:cNvSpPr/>
          <p:nvPr/>
        </p:nvSpPr>
        <p:spPr bwMode="auto">
          <a:xfrm>
            <a:off x="1252538" y="3171825"/>
            <a:ext cx="568325" cy="395288"/>
          </a:xfrm>
          <a:custGeom>
            <a:avLst/>
            <a:gdLst>
              <a:gd name="G0" fmla="+- 0 0 0"/>
              <a:gd name="G1" fmla="+- 19891 0 0"/>
              <a:gd name="G2" fmla="+- 21600 0 0"/>
              <a:gd name="T0" fmla="*/ 8421 w 21600"/>
              <a:gd name="T1" fmla="*/ 0 h 19891"/>
              <a:gd name="T2" fmla="*/ 21600 w 21600"/>
              <a:gd name="T3" fmla="*/ 19891 h 19891"/>
              <a:gd name="T4" fmla="*/ 0 w 21600"/>
              <a:gd name="T5" fmla="*/ 19891 h 198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891" fill="none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</a:path>
              <a:path w="21600" h="19891" stroke="0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  <a:lnTo>
                  <a:pt x="0" y="1989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2" name="Oval 75"/>
          <p:cNvSpPr>
            <a:spLocks noChangeArrowheads="1"/>
          </p:cNvSpPr>
          <p:nvPr/>
        </p:nvSpPr>
        <p:spPr bwMode="auto">
          <a:xfrm>
            <a:off x="1651000" y="3586163"/>
            <a:ext cx="393700" cy="231775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68" name="Text Box 76"/>
          <p:cNvSpPr txBox="1">
            <a:spLocks noChangeArrowheads="1"/>
          </p:cNvSpPr>
          <p:nvPr/>
        </p:nvSpPr>
        <p:spPr bwMode="auto">
          <a:xfrm>
            <a:off x="2044700" y="3544888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截获</a:t>
            </a:r>
          </a:p>
        </p:txBody>
      </p:sp>
      <p:sp>
        <p:nvSpPr>
          <p:cNvPr id="14" name="Oval 77"/>
          <p:cNvSpPr>
            <a:spLocks noChangeArrowheads="1"/>
          </p:cNvSpPr>
          <p:nvPr/>
        </p:nvSpPr>
        <p:spPr bwMode="auto">
          <a:xfrm>
            <a:off x="5405438" y="302736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5" name="Oval 78"/>
          <p:cNvSpPr>
            <a:spLocks noChangeArrowheads="1"/>
          </p:cNvSpPr>
          <p:nvPr/>
        </p:nvSpPr>
        <p:spPr bwMode="auto">
          <a:xfrm>
            <a:off x="6770688" y="3027363"/>
            <a:ext cx="265112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6" name="Oval 83"/>
          <p:cNvSpPr>
            <a:spLocks noChangeArrowheads="1"/>
          </p:cNvSpPr>
          <p:nvPr/>
        </p:nvSpPr>
        <p:spPr bwMode="auto">
          <a:xfrm>
            <a:off x="7654925" y="302736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72" name="Text Box 85"/>
          <p:cNvSpPr txBox="1">
            <a:spLocks noChangeArrowheads="1"/>
          </p:cNvSpPr>
          <p:nvPr/>
        </p:nvSpPr>
        <p:spPr bwMode="auto">
          <a:xfrm>
            <a:off x="8877300" y="3376613"/>
            <a:ext cx="7000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拒绝</a:t>
            </a:r>
          </a:p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服务</a:t>
            </a:r>
          </a:p>
        </p:txBody>
      </p:sp>
      <p:sp>
        <p:nvSpPr>
          <p:cNvPr id="18" name="Oval 86"/>
          <p:cNvSpPr>
            <a:spLocks noChangeArrowheads="1"/>
          </p:cNvSpPr>
          <p:nvPr/>
        </p:nvSpPr>
        <p:spPr bwMode="auto">
          <a:xfrm>
            <a:off x="9020175" y="302736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74" name="Text Box 90"/>
          <p:cNvSpPr txBox="1">
            <a:spLocks noChangeArrowheads="1"/>
          </p:cNvSpPr>
          <p:nvPr/>
        </p:nvSpPr>
        <p:spPr bwMode="auto">
          <a:xfrm>
            <a:off x="5429250" y="4098925"/>
            <a:ext cx="1639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主  动  攻  击</a:t>
            </a:r>
          </a:p>
        </p:txBody>
      </p:sp>
      <p:sp>
        <p:nvSpPr>
          <p:cNvPr id="2016275" name="Text Box 91"/>
          <p:cNvSpPr txBox="1">
            <a:spLocks noChangeArrowheads="1"/>
          </p:cNvSpPr>
          <p:nvPr/>
        </p:nvSpPr>
        <p:spPr bwMode="auto">
          <a:xfrm>
            <a:off x="8672513" y="24511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目的站</a:t>
            </a:r>
          </a:p>
        </p:txBody>
      </p:sp>
      <p:sp>
        <p:nvSpPr>
          <p:cNvPr id="2016276" name="Text Box 92"/>
          <p:cNvSpPr txBox="1">
            <a:spLocks noChangeArrowheads="1"/>
          </p:cNvSpPr>
          <p:nvPr/>
        </p:nvSpPr>
        <p:spPr bwMode="auto">
          <a:xfrm>
            <a:off x="7446963" y="2451100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源站</a:t>
            </a:r>
          </a:p>
        </p:txBody>
      </p:sp>
      <p:sp>
        <p:nvSpPr>
          <p:cNvPr id="2016277" name="Text Box 93"/>
          <p:cNvSpPr txBox="1">
            <a:spLocks noChangeArrowheads="1"/>
          </p:cNvSpPr>
          <p:nvPr/>
        </p:nvSpPr>
        <p:spPr bwMode="auto">
          <a:xfrm>
            <a:off x="5319713" y="2451100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源站</a:t>
            </a:r>
          </a:p>
        </p:txBody>
      </p:sp>
      <p:sp>
        <p:nvSpPr>
          <p:cNvPr id="2016278" name="Text Box 94"/>
          <p:cNvSpPr txBox="1">
            <a:spLocks noChangeArrowheads="1"/>
          </p:cNvSpPr>
          <p:nvPr/>
        </p:nvSpPr>
        <p:spPr bwMode="auto">
          <a:xfrm>
            <a:off x="3111500" y="2451100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源站</a:t>
            </a:r>
          </a:p>
        </p:txBody>
      </p:sp>
      <p:sp>
        <p:nvSpPr>
          <p:cNvPr id="2016279" name="Text Box 95"/>
          <p:cNvSpPr txBox="1">
            <a:spLocks noChangeArrowheads="1"/>
          </p:cNvSpPr>
          <p:nvPr/>
        </p:nvSpPr>
        <p:spPr bwMode="auto">
          <a:xfrm>
            <a:off x="820738" y="2451100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源站</a:t>
            </a:r>
          </a:p>
        </p:txBody>
      </p:sp>
      <p:sp>
        <p:nvSpPr>
          <p:cNvPr id="2016280" name="Text Box 96"/>
          <p:cNvSpPr txBox="1">
            <a:spLocks noChangeArrowheads="1"/>
          </p:cNvSpPr>
          <p:nvPr/>
        </p:nvSpPr>
        <p:spPr bwMode="auto">
          <a:xfrm>
            <a:off x="6464300" y="24511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目的站</a:t>
            </a:r>
          </a:p>
        </p:txBody>
      </p:sp>
      <p:sp>
        <p:nvSpPr>
          <p:cNvPr id="2016281" name="Text Box 97"/>
          <p:cNvSpPr txBox="1">
            <a:spLocks noChangeArrowheads="1"/>
          </p:cNvSpPr>
          <p:nvPr/>
        </p:nvSpPr>
        <p:spPr bwMode="auto">
          <a:xfrm>
            <a:off x="4256088" y="24511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目的站</a:t>
            </a:r>
          </a:p>
        </p:txBody>
      </p:sp>
      <p:sp>
        <p:nvSpPr>
          <p:cNvPr id="2016282" name="Text Box 98"/>
          <p:cNvSpPr txBox="1">
            <a:spLocks noChangeArrowheads="1"/>
          </p:cNvSpPr>
          <p:nvPr/>
        </p:nvSpPr>
        <p:spPr bwMode="auto">
          <a:xfrm>
            <a:off x="2047875" y="24511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目的站</a:t>
            </a:r>
          </a:p>
        </p:txBody>
      </p:sp>
      <p:sp>
        <p:nvSpPr>
          <p:cNvPr id="30" name="Line 101"/>
          <p:cNvSpPr>
            <a:spLocks noChangeShapeType="1"/>
          </p:cNvSpPr>
          <p:nvPr/>
        </p:nvSpPr>
        <p:spPr bwMode="auto">
          <a:xfrm>
            <a:off x="2979738" y="2420938"/>
            <a:ext cx="0" cy="21653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1" name="Line 102"/>
          <p:cNvSpPr>
            <a:spLocks noChangeShapeType="1"/>
          </p:cNvSpPr>
          <p:nvPr/>
        </p:nvSpPr>
        <p:spPr bwMode="auto">
          <a:xfrm>
            <a:off x="5162550" y="2420938"/>
            <a:ext cx="0" cy="16462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2" name="Line 103"/>
          <p:cNvSpPr>
            <a:spLocks noChangeShapeType="1"/>
          </p:cNvSpPr>
          <p:nvPr/>
        </p:nvSpPr>
        <p:spPr bwMode="auto">
          <a:xfrm>
            <a:off x="7437438" y="2420938"/>
            <a:ext cx="0" cy="16462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3" name="Arc 105"/>
          <p:cNvSpPr/>
          <p:nvPr/>
        </p:nvSpPr>
        <p:spPr bwMode="auto">
          <a:xfrm>
            <a:off x="3448050" y="3151188"/>
            <a:ext cx="569913" cy="430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3333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4" name="Oval 106"/>
          <p:cNvSpPr>
            <a:spLocks noChangeArrowheads="1"/>
          </p:cNvSpPr>
          <p:nvPr/>
        </p:nvSpPr>
        <p:spPr bwMode="auto">
          <a:xfrm>
            <a:off x="3846513" y="3581400"/>
            <a:ext cx="395287" cy="230188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5" name="Arc 107"/>
          <p:cNvSpPr/>
          <p:nvPr/>
        </p:nvSpPr>
        <p:spPr bwMode="auto">
          <a:xfrm flipH="1">
            <a:off x="4065588" y="3163888"/>
            <a:ext cx="484187" cy="428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89" name="Text Box 108"/>
          <p:cNvSpPr txBox="1">
            <a:spLocks noChangeArrowheads="1"/>
          </p:cNvSpPr>
          <p:nvPr/>
        </p:nvSpPr>
        <p:spPr bwMode="auto">
          <a:xfrm>
            <a:off x="4241800" y="3538538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篡改</a:t>
            </a:r>
          </a:p>
        </p:txBody>
      </p:sp>
      <p:sp>
        <p:nvSpPr>
          <p:cNvPr id="37" name="Arc 109"/>
          <p:cNvSpPr/>
          <p:nvPr/>
        </p:nvSpPr>
        <p:spPr bwMode="auto">
          <a:xfrm flipH="1">
            <a:off x="6253163" y="3160713"/>
            <a:ext cx="484187" cy="428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91" name="Text Box 110"/>
          <p:cNvSpPr txBox="1">
            <a:spLocks noChangeArrowheads="1"/>
          </p:cNvSpPr>
          <p:nvPr/>
        </p:nvSpPr>
        <p:spPr bwMode="auto">
          <a:xfrm>
            <a:off x="6429375" y="3376613"/>
            <a:ext cx="7000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恶意</a:t>
            </a:r>
          </a:p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程序</a:t>
            </a:r>
          </a:p>
        </p:txBody>
      </p:sp>
      <p:sp>
        <p:nvSpPr>
          <p:cNvPr id="39" name="Oval 111"/>
          <p:cNvSpPr>
            <a:spLocks noChangeArrowheads="1"/>
          </p:cNvSpPr>
          <p:nvPr/>
        </p:nvSpPr>
        <p:spPr bwMode="auto">
          <a:xfrm>
            <a:off x="6088063" y="3559175"/>
            <a:ext cx="395287" cy="230188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0" name="Oval 112"/>
          <p:cNvSpPr>
            <a:spLocks noChangeArrowheads="1"/>
          </p:cNvSpPr>
          <p:nvPr/>
        </p:nvSpPr>
        <p:spPr bwMode="auto">
          <a:xfrm>
            <a:off x="7769225" y="3592513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1" name="Oval 113"/>
          <p:cNvSpPr>
            <a:spLocks noChangeArrowheads="1"/>
          </p:cNvSpPr>
          <p:nvPr/>
        </p:nvSpPr>
        <p:spPr bwMode="auto">
          <a:xfrm>
            <a:off x="7985125" y="3665538"/>
            <a:ext cx="393700" cy="2159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2" name="Oval 87"/>
          <p:cNvSpPr>
            <a:spLocks noChangeArrowheads="1"/>
          </p:cNvSpPr>
          <p:nvPr/>
        </p:nvSpPr>
        <p:spPr bwMode="auto">
          <a:xfrm>
            <a:off x="8201025" y="3736975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3" name="Oval 114"/>
          <p:cNvSpPr>
            <a:spLocks noChangeArrowheads="1"/>
          </p:cNvSpPr>
          <p:nvPr/>
        </p:nvSpPr>
        <p:spPr bwMode="auto">
          <a:xfrm>
            <a:off x="8489950" y="3736975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4" name="Line 115"/>
          <p:cNvSpPr>
            <a:spLocks noChangeShapeType="1"/>
          </p:cNvSpPr>
          <p:nvPr/>
        </p:nvSpPr>
        <p:spPr bwMode="auto">
          <a:xfrm flipV="1">
            <a:off x="7985125" y="3192463"/>
            <a:ext cx="1016000" cy="400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5" name="Line 116"/>
          <p:cNvSpPr>
            <a:spLocks noChangeShapeType="1"/>
          </p:cNvSpPr>
          <p:nvPr/>
        </p:nvSpPr>
        <p:spPr bwMode="auto">
          <a:xfrm flipV="1">
            <a:off x="8253413" y="3244850"/>
            <a:ext cx="771525" cy="4302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6" name="Line 117"/>
          <p:cNvSpPr>
            <a:spLocks noChangeShapeType="1"/>
          </p:cNvSpPr>
          <p:nvPr/>
        </p:nvSpPr>
        <p:spPr bwMode="auto">
          <a:xfrm flipV="1">
            <a:off x="8416925" y="3290888"/>
            <a:ext cx="654050" cy="4286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7" name="Line 118"/>
          <p:cNvSpPr>
            <a:spLocks noChangeShapeType="1"/>
          </p:cNvSpPr>
          <p:nvPr/>
        </p:nvSpPr>
        <p:spPr bwMode="auto">
          <a:xfrm flipV="1">
            <a:off x="8756650" y="3278188"/>
            <a:ext cx="368300" cy="4667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301" name="矩形 1"/>
          <p:cNvSpPr>
            <a:spLocks noChangeArrowheads="1"/>
          </p:cNvSpPr>
          <p:nvPr/>
        </p:nvSpPr>
        <p:spPr bwMode="auto">
          <a:xfrm>
            <a:off x="731838" y="4081463"/>
            <a:ext cx="2232025" cy="487362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16302" name="Text Box 89"/>
          <p:cNvSpPr txBox="1">
            <a:spLocks noChangeArrowheads="1"/>
          </p:cNvSpPr>
          <p:nvPr/>
        </p:nvSpPr>
        <p:spPr bwMode="auto">
          <a:xfrm>
            <a:off x="1152525" y="4097338"/>
            <a:ext cx="121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被动攻击</a:t>
            </a:r>
          </a:p>
        </p:txBody>
      </p:sp>
      <p:sp>
        <p:nvSpPr>
          <p:cNvPr id="29" name="Line 100"/>
          <p:cNvSpPr>
            <a:spLocks noChangeShapeType="1"/>
          </p:cNvSpPr>
          <p:nvPr/>
        </p:nvSpPr>
        <p:spPr bwMode="auto">
          <a:xfrm>
            <a:off x="704850" y="4067175"/>
            <a:ext cx="882491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304" name="灯片编号占位符 4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D55ACB-AB90-453E-965F-B225C9DBB7D5}" type="slidenum">
              <a:rPr lang="zh-CN" altLang="en-US" smtClean="0"/>
              <a:pPr eaLnBrk="1" hangingPunct="1"/>
              <a:t>5</a:t>
            </a:fld>
            <a:endParaRPr lang="en-US" altLang="zh-CN" smtClean="0"/>
          </a:p>
        </p:txBody>
      </p:sp>
      <p:sp>
        <p:nvSpPr>
          <p:cNvPr id="2016305" name="页脚占位符 49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49" charset="-122"/>
              </a:rPr>
              <a:t>7.1.1  </a:t>
            </a:r>
            <a:r>
              <a:rPr lang="zh-CN" altLang="zh-CN" sz="4000" smtClean="0">
                <a:ea typeface="黑体" panose="02010609060101010101" pitchFamily="49" charset="-122"/>
              </a:rPr>
              <a:t>计算机网络面临的安全性威胁</a:t>
            </a:r>
            <a:endParaRPr lang="zh-CN" altLang="en-US" sz="4000" smtClean="0">
              <a:ea typeface="黑体" panose="02010609060101010101" pitchFamily="49" charset="-122"/>
            </a:endParaRPr>
          </a:p>
        </p:txBody>
      </p:sp>
      <p:sp>
        <p:nvSpPr>
          <p:cNvPr id="20183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被动攻击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指攻击者从网络上窃听他人的通信内容。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通常把这类攻击成为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截获。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在被动攻击中，攻击者只是观察和分析某一个协议数据单元</a:t>
            </a:r>
            <a:r>
              <a:rPr lang="en-US" altLang="zh-CN" smtClean="0">
                <a:ea typeface="黑体" panose="02010609060101010101" pitchFamily="49" charset="-122"/>
              </a:rPr>
              <a:t> PDU</a:t>
            </a:r>
            <a:r>
              <a:rPr lang="zh-CN" altLang="en-US" smtClean="0">
                <a:ea typeface="黑体" panose="02010609060101010101" pitchFamily="49" charset="-122"/>
              </a:rPr>
              <a:t>，</a:t>
            </a:r>
            <a:r>
              <a:rPr lang="zh-CN" altLang="zh-CN" smtClean="0">
                <a:ea typeface="黑体" panose="02010609060101010101" pitchFamily="49" charset="-122"/>
              </a:rPr>
              <a:t>以便了解所交换的数据的某种性质。</a:t>
            </a:r>
            <a:r>
              <a:rPr lang="zh-CN" altLang="en-US" smtClean="0">
                <a:ea typeface="黑体" panose="02010609060101010101" pitchFamily="49" charset="-122"/>
              </a:rPr>
              <a:t>但</a:t>
            </a:r>
            <a:r>
              <a:rPr lang="zh-CN" altLang="zh-CN" smtClean="0">
                <a:ea typeface="黑体" panose="02010609060101010101" pitchFamily="49" charset="-122"/>
              </a:rPr>
              <a:t>不干扰信息流。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这种被动攻击又称为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流量分析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mtClean="0">
                <a:ea typeface="黑体" panose="02010609060101010101" pitchFamily="49" charset="-122"/>
              </a:rPr>
              <a:t>(traffic analysis)</a:t>
            </a:r>
            <a:r>
              <a:rPr lang="zh-CN" altLang="zh-CN" smtClean="0">
                <a:ea typeface="黑体" panose="02010609060101010101" pitchFamily="49" charset="-122"/>
              </a:rPr>
              <a:t>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1830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294A55-2E9E-463A-9886-E63BC751F260}" type="slidenum">
              <a:rPr lang="zh-CN" altLang="en-US" smtClean="0"/>
              <a:pPr eaLnBrk="1" hangingPunct="1"/>
              <a:t>6</a:t>
            </a:fld>
            <a:endParaRPr lang="en-US" altLang="zh-CN" smtClean="0"/>
          </a:p>
        </p:txBody>
      </p:sp>
      <p:sp>
        <p:nvSpPr>
          <p:cNvPr id="201830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3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49" charset="-122"/>
              </a:rPr>
              <a:t>7.1.1  </a:t>
            </a:r>
            <a:r>
              <a:rPr lang="zh-CN" altLang="zh-CN" sz="4000" smtClean="0">
                <a:ea typeface="黑体" panose="02010609060101010101" pitchFamily="49" charset="-122"/>
              </a:rPr>
              <a:t>计算机网络面临的安全性威胁</a:t>
            </a:r>
            <a:endParaRPr lang="zh-CN" altLang="en-US" sz="4000" smtClean="0">
              <a:ea typeface="黑体" panose="02010609060101010101" pitchFamily="49" charset="-122"/>
            </a:endParaRPr>
          </a:p>
        </p:txBody>
      </p:sp>
      <p:sp>
        <p:nvSpPr>
          <p:cNvPr id="20203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主动攻击</a:t>
            </a:r>
            <a:r>
              <a:rPr lang="zh-CN" altLang="en-US" smtClean="0">
                <a:ea typeface="黑体" panose="02010609060101010101" pitchFamily="49" charset="-122"/>
              </a:rPr>
              <a:t>主要有：</a:t>
            </a:r>
          </a:p>
          <a:p>
            <a:pPr lvl="1"/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(1)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篡改</a:t>
            </a:r>
            <a:r>
              <a:rPr lang="en-US" altLang="zh-CN" smtClean="0">
                <a:ea typeface="黑体" panose="02010609060101010101" pitchFamily="49" charset="-122"/>
              </a:rPr>
              <a:t>——</a:t>
            </a:r>
            <a:r>
              <a:rPr lang="zh-CN" altLang="en-US" smtClean="0">
                <a:ea typeface="黑体" panose="02010609060101010101" pitchFamily="49" charset="-122"/>
              </a:rPr>
              <a:t>故意篡改网络上传送的报文。</a:t>
            </a:r>
            <a:r>
              <a:rPr lang="zh-CN" altLang="zh-CN" smtClean="0">
                <a:ea typeface="黑体" panose="02010609060101010101" pitchFamily="49" charset="-122"/>
              </a:rPr>
              <a:t>这种攻击方式有时也称为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更改报文流。</a:t>
            </a:r>
            <a:endParaRPr lang="zh-CN" altLang="en-US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(2)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恶意程序</a:t>
            </a:r>
            <a:r>
              <a:rPr lang="en-US" altLang="zh-CN" smtClean="0">
                <a:ea typeface="黑体" panose="02010609060101010101" pitchFamily="49" charset="-122"/>
              </a:rPr>
              <a:t>——</a:t>
            </a:r>
            <a:r>
              <a:rPr lang="zh-CN" altLang="zh-CN" smtClean="0">
                <a:ea typeface="黑体" panose="02010609060101010101" pitchFamily="49" charset="-122"/>
              </a:rPr>
              <a:t>种类繁多，对网络安全威胁较大的主要</a:t>
            </a:r>
            <a:r>
              <a:rPr lang="zh-CN" altLang="en-US" smtClean="0">
                <a:ea typeface="黑体" panose="02010609060101010101" pitchFamily="49" charset="-122"/>
              </a:rPr>
              <a:t>包括：计算机病毒、计算机蠕虫、特洛伊木马、逻辑炸弹、后门入侵、流氓软件等。</a:t>
            </a:r>
          </a:p>
          <a:p>
            <a:pPr lvl="1"/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(3)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拒绝服务</a:t>
            </a:r>
            <a:r>
              <a:rPr lang="en-US" altLang="zh-CN" smtClean="0">
                <a:ea typeface="黑体" panose="02010609060101010101" pitchFamily="49" charset="-122"/>
              </a:rPr>
              <a:t>——</a:t>
            </a:r>
            <a:r>
              <a:rPr lang="zh-CN" altLang="zh-CN" smtClean="0">
                <a:ea typeface="黑体" panose="02010609060101010101" pitchFamily="49" charset="-122"/>
              </a:rPr>
              <a:t>指攻击者向互联网上的某个服务器不停地发送大量分组，使该服务器无法提供正常服务，甚至完全瘫痪。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202035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4CCEE8-1B7E-437C-97E1-D08F501BF5B7}" type="slidenum">
              <a:rPr lang="zh-CN" altLang="en-US" smtClean="0"/>
              <a:pPr eaLnBrk="1" hangingPunct="1"/>
              <a:t>7</a:t>
            </a:fld>
            <a:endParaRPr lang="en-US" altLang="zh-CN" smtClean="0"/>
          </a:p>
        </p:txBody>
      </p:sp>
      <p:sp>
        <p:nvSpPr>
          <p:cNvPr id="202035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40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分布式拒绝服务</a:t>
            </a:r>
            <a:r>
              <a:rPr lang="en-US" altLang="zh-CN" smtClean="0">
                <a:ea typeface="黑体" panose="02010609060101010101" pitchFamily="49" charset="-122"/>
              </a:rPr>
              <a:t> DDoS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2240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若从互联网上的成百上千的网站集中攻击一个网站，则称为</a:t>
            </a:r>
            <a:r>
              <a:rPr lang="zh-CN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分布式拒绝服务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u="sng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DDoS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u="sng" dirty="0" smtClean="0">
                <a:ea typeface="黑体" panose="02010609060101010101" pitchFamily="49" charset="-122"/>
              </a:rPr>
              <a:t>(Distributed Denial of Service)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有时也把这种攻击称为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网络带宽攻击</a:t>
            </a:r>
            <a:r>
              <a:rPr lang="zh-CN" altLang="zh-CN" dirty="0" smtClean="0">
                <a:ea typeface="黑体" panose="02010609060101010101" pitchFamily="49" charset="-122"/>
              </a:rPr>
              <a:t>或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连通性攻击。</a:t>
            </a:r>
            <a:endParaRPr lang="zh-CN" altLang="en-US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02240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0AB262-F1A1-4F14-9604-72B85675F5BD}" type="slidenum">
              <a:rPr lang="zh-CN" altLang="en-US" smtClean="0"/>
              <a:pPr eaLnBrk="1" hangingPunct="1"/>
              <a:t>8</a:t>
            </a:fld>
            <a:endParaRPr lang="en-US" altLang="zh-CN" smtClean="0"/>
          </a:p>
        </p:txBody>
      </p:sp>
      <p:sp>
        <p:nvSpPr>
          <p:cNvPr id="202240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44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计算机网络通信安全的目标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2445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smtClean="0">
                <a:ea typeface="黑体" panose="02010609060101010101" pitchFamily="49" charset="-122"/>
              </a:rPr>
              <a:t>对于主动攻击，可以采取适当措施加以检测。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r>
              <a:rPr lang="zh-CN" altLang="zh-CN" sz="2800" smtClean="0">
                <a:ea typeface="黑体" panose="02010609060101010101" pitchFamily="49" charset="-122"/>
              </a:rPr>
              <a:t>对于被动攻击，通常却是检测不出来的。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r>
              <a:rPr lang="zh-CN" altLang="zh-CN" sz="2800" smtClean="0">
                <a:ea typeface="黑体" panose="02010609060101010101" pitchFamily="49" charset="-122"/>
              </a:rPr>
              <a:t>根据这些特点，可得出计算机网络通信安全的目标：</a:t>
            </a:r>
          </a:p>
          <a:p>
            <a:pPr lvl="1"/>
            <a:r>
              <a:rPr lang="en-US" altLang="zh-CN" sz="2400" smtClean="0">
                <a:solidFill>
                  <a:srgbClr val="0000FF"/>
                </a:solidFill>
                <a:ea typeface="黑体" panose="02010609060101010101" pitchFamily="49" charset="-122"/>
              </a:rPr>
              <a:t>(1) </a:t>
            </a:r>
            <a:r>
              <a:rPr lang="zh-CN" altLang="zh-CN" sz="2400" smtClean="0">
                <a:solidFill>
                  <a:srgbClr val="0000FF"/>
                </a:solidFill>
                <a:ea typeface="黑体" panose="02010609060101010101" pitchFamily="49" charset="-122"/>
              </a:rPr>
              <a:t>防止析出报文内容和流量分析。</a:t>
            </a:r>
          </a:p>
          <a:p>
            <a:pPr lvl="1"/>
            <a:r>
              <a:rPr lang="en-US" altLang="zh-CN" sz="2400" smtClean="0">
                <a:solidFill>
                  <a:srgbClr val="0000FF"/>
                </a:solidFill>
                <a:ea typeface="黑体" panose="02010609060101010101" pitchFamily="49" charset="-122"/>
              </a:rPr>
              <a:t>(2) </a:t>
            </a:r>
            <a:r>
              <a:rPr lang="zh-CN" altLang="zh-CN" sz="2400" smtClean="0">
                <a:solidFill>
                  <a:srgbClr val="0000FF"/>
                </a:solidFill>
                <a:ea typeface="黑体" panose="02010609060101010101" pitchFamily="49" charset="-122"/>
              </a:rPr>
              <a:t>防止恶意程序。</a:t>
            </a:r>
          </a:p>
          <a:p>
            <a:pPr lvl="1"/>
            <a:r>
              <a:rPr lang="en-US" altLang="zh-CN" sz="2400" smtClean="0">
                <a:solidFill>
                  <a:srgbClr val="0000FF"/>
                </a:solidFill>
                <a:ea typeface="黑体" panose="02010609060101010101" pitchFamily="49" charset="-122"/>
              </a:rPr>
              <a:t>(3) </a:t>
            </a:r>
            <a:r>
              <a:rPr lang="zh-CN" altLang="zh-CN" sz="2400" smtClean="0">
                <a:solidFill>
                  <a:srgbClr val="0000FF"/>
                </a:solidFill>
                <a:ea typeface="黑体" panose="02010609060101010101" pitchFamily="49" charset="-122"/>
              </a:rPr>
              <a:t>检测更改报文流和拒绝服务。</a:t>
            </a:r>
          </a:p>
          <a:p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对付被动攻击</a:t>
            </a:r>
            <a:r>
              <a:rPr lang="zh-CN" altLang="zh-CN" sz="2800" smtClean="0">
                <a:ea typeface="黑体" panose="02010609060101010101" pitchFamily="49" charset="-122"/>
              </a:rPr>
              <a:t>可采用各种数据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加密</a:t>
            </a:r>
            <a:r>
              <a:rPr lang="zh-CN" altLang="zh-CN" sz="2800" smtClean="0">
                <a:ea typeface="黑体" panose="02010609060101010101" pitchFamily="49" charset="-122"/>
              </a:rPr>
              <a:t>技术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对付主动攻击</a:t>
            </a:r>
            <a:r>
              <a:rPr lang="zh-CN" altLang="zh-CN" sz="2800" smtClean="0">
                <a:ea typeface="黑体" panose="02010609060101010101" pitchFamily="49" charset="-122"/>
              </a:rPr>
              <a:t>则需将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加密</a:t>
            </a:r>
            <a:r>
              <a:rPr lang="zh-CN" altLang="zh-CN" sz="2800" smtClean="0">
                <a:ea typeface="黑体" panose="02010609060101010101" pitchFamily="49" charset="-122"/>
              </a:rPr>
              <a:t>技术与适当的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鉴别</a:t>
            </a:r>
            <a:r>
              <a:rPr lang="zh-CN" altLang="zh-CN" sz="2800" smtClean="0">
                <a:ea typeface="黑体" panose="02010609060101010101" pitchFamily="49" charset="-122"/>
              </a:rPr>
              <a:t>技术相结合。</a:t>
            </a:r>
            <a:endParaRPr lang="zh-CN" altLang="en-US" sz="2800" smtClean="0">
              <a:ea typeface="黑体" panose="02010609060101010101" pitchFamily="49" charset="-122"/>
            </a:endParaRPr>
          </a:p>
        </p:txBody>
      </p:sp>
      <p:sp>
        <p:nvSpPr>
          <p:cNvPr id="202445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28A6A9-20F4-45BD-9161-09D3AA9AFABF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202445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49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7.1.2  </a:t>
            </a:r>
            <a:r>
              <a:rPr lang="zh-CN" altLang="zh-CN" smtClean="0">
                <a:ea typeface="黑体" panose="02010609060101010101" pitchFamily="49" charset="-122"/>
              </a:rPr>
              <a:t>安全的计算机网络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2649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网络的安全性是不可判定的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一个安全的计算机网络应达到四个目标：</a:t>
            </a: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1. </a:t>
            </a:r>
            <a:r>
              <a:rPr lang="zh-CN" altLang="zh-CN" smtClean="0">
                <a:ea typeface="黑体" panose="02010609060101010101" pitchFamily="49" charset="-122"/>
              </a:rPr>
              <a:t>保密性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2. </a:t>
            </a:r>
            <a:r>
              <a:rPr lang="zh-CN" altLang="zh-CN" smtClean="0">
                <a:ea typeface="黑体" panose="02010609060101010101" pitchFamily="49" charset="-122"/>
              </a:rPr>
              <a:t>端点鉴别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3. </a:t>
            </a:r>
            <a:r>
              <a:rPr lang="zh-CN" altLang="zh-CN" smtClean="0">
                <a:ea typeface="黑体" panose="02010609060101010101" pitchFamily="49" charset="-122"/>
              </a:rPr>
              <a:t>信息的完整性</a:t>
            </a: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zh-CN" smtClean="0">
                <a:ea typeface="黑体" panose="02010609060101010101" pitchFamily="49" charset="-122"/>
              </a:rPr>
              <a:t>运行的安全性</a:t>
            </a:r>
          </a:p>
        </p:txBody>
      </p:sp>
      <p:sp>
        <p:nvSpPr>
          <p:cNvPr id="2026499" name="矩形标注 6"/>
          <p:cNvSpPr>
            <a:spLocks noChangeArrowheads="1"/>
          </p:cNvSpPr>
          <p:nvPr/>
        </p:nvSpPr>
        <p:spPr bwMode="auto">
          <a:xfrm>
            <a:off x="4448175" y="2565400"/>
            <a:ext cx="4968875" cy="3600450"/>
          </a:xfrm>
          <a:prstGeom prst="wedgeRectCallout">
            <a:avLst>
              <a:gd name="adj1" fmla="val -79806"/>
              <a:gd name="adj2" fmla="val -46412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>
                <a:solidFill>
                  <a:srgbClr val="000099"/>
                </a:solidFill>
                <a:ea typeface="黑体" panose="02010609060101010101" pitchFamily="49" charset="-122"/>
              </a:rPr>
              <a:t>只有信息的发送方和接收方才能懂得所发送信息的内容</a:t>
            </a:r>
            <a:r>
              <a:rPr lang="zh-CN" altLang="en-US" sz="2600" b="1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  <a:endParaRPr lang="en-US" altLang="zh-CN" sz="26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en-US" sz="2600" b="1">
                <a:solidFill>
                  <a:srgbClr val="000099"/>
                </a:solidFill>
                <a:ea typeface="黑体" panose="02010609060101010101" pitchFamily="49" charset="-122"/>
              </a:rPr>
              <a:t>是网络安全通信的</a:t>
            </a:r>
            <a:r>
              <a:rPr lang="zh-CN" altLang="en-US" sz="2600" b="1">
                <a:solidFill>
                  <a:srgbClr val="FF0000"/>
                </a:solidFill>
                <a:ea typeface="黑体" panose="02010609060101010101" pitchFamily="49" charset="-122"/>
              </a:rPr>
              <a:t>最基本</a:t>
            </a:r>
            <a:r>
              <a:rPr lang="zh-CN" altLang="en-US" sz="2600" b="1">
                <a:solidFill>
                  <a:srgbClr val="000099"/>
                </a:solidFill>
                <a:ea typeface="黑体" panose="02010609060101010101" pitchFamily="49" charset="-122"/>
              </a:rPr>
              <a:t>的内容，也是对付被动攻击必须具备的功能。</a:t>
            </a:r>
            <a:endParaRPr lang="en-US" altLang="zh-CN" sz="26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>
                <a:solidFill>
                  <a:srgbClr val="000099"/>
                </a:solidFill>
                <a:ea typeface="黑体" panose="02010609060101010101" pitchFamily="49" charset="-122"/>
              </a:rPr>
              <a:t>为了使网络具有保密性，需要使用各种</a:t>
            </a:r>
            <a:r>
              <a:rPr lang="zh-CN" altLang="zh-CN" sz="2600" b="1">
                <a:solidFill>
                  <a:srgbClr val="FF0000"/>
                </a:solidFill>
                <a:ea typeface="黑体" panose="02010609060101010101" pitchFamily="49" charset="-122"/>
              </a:rPr>
              <a:t>密码技术。</a:t>
            </a:r>
            <a:endParaRPr lang="zh-CN" altLang="en-US" sz="2600" b="1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02650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22B205-5583-4F4A-A2FC-D920F395227A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2026501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54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7.1.2  </a:t>
            </a:r>
            <a:r>
              <a:rPr lang="zh-CN" altLang="zh-CN" smtClean="0">
                <a:ea typeface="黑体" panose="02010609060101010101" pitchFamily="49" charset="-122"/>
              </a:rPr>
              <a:t>安全的计算机网络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2854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网络的安全性是不可判定的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一个安全的计算机网络应达到四个目标：</a:t>
            </a: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1. </a:t>
            </a:r>
            <a:r>
              <a:rPr lang="zh-CN" altLang="zh-CN" smtClean="0">
                <a:ea typeface="黑体" panose="02010609060101010101" pitchFamily="49" charset="-122"/>
              </a:rPr>
              <a:t>保密性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2. </a:t>
            </a:r>
            <a:r>
              <a:rPr lang="zh-CN" altLang="zh-CN" smtClean="0">
                <a:ea typeface="黑体" panose="02010609060101010101" pitchFamily="49" charset="-122"/>
              </a:rPr>
              <a:t>端点鉴别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3. </a:t>
            </a:r>
            <a:r>
              <a:rPr lang="zh-CN" altLang="zh-CN" smtClean="0">
                <a:ea typeface="黑体" panose="02010609060101010101" pitchFamily="49" charset="-122"/>
              </a:rPr>
              <a:t>信息的完整性</a:t>
            </a: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zh-CN" smtClean="0">
                <a:ea typeface="黑体" panose="02010609060101010101" pitchFamily="49" charset="-122"/>
              </a:rPr>
              <a:t>运行的安全性</a:t>
            </a:r>
          </a:p>
        </p:txBody>
      </p:sp>
      <p:sp>
        <p:nvSpPr>
          <p:cNvPr id="2028547" name="矩形标注 6"/>
          <p:cNvSpPr>
            <a:spLocks noChangeArrowheads="1"/>
          </p:cNvSpPr>
          <p:nvPr/>
        </p:nvSpPr>
        <p:spPr bwMode="auto">
          <a:xfrm>
            <a:off x="4448175" y="2565400"/>
            <a:ext cx="4968875" cy="3600450"/>
          </a:xfrm>
          <a:prstGeom prst="wedgeRectCallout">
            <a:avLst>
              <a:gd name="adj1" fmla="val -73245"/>
              <a:gd name="adj2" fmla="val -31421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>
                <a:solidFill>
                  <a:srgbClr val="000099"/>
                </a:solidFill>
                <a:ea typeface="黑体" panose="02010609060101010101" pitchFamily="49" charset="-122"/>
              </a:rPr>
              <a:t>鉴别信息的发送方和接收方的</a:t>
            </a:r>
            <a:r>
              <a:rPr lang="zh-CN" altLang="zh-CN" sz="2600" b="1">
                <a:solidFill>
                  <a:srgbClr val="FF0000"/>
                </a:solidFill>
                <a:ea typeface="黑体" panose="02010609060101010101" pitchFamily="49" charset="-122"/>
              </a:rPr>
              <a:t>真实身份。 </a:t>
            </a:r>
            <a:endParaRPr lang="en-US" altLang="zh-CN" sz="2600" b="1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en-US" sz="2600" b="1">
                <a:solidFill>
                  <a:srgbClr val="000099"/>
                </a:solidFill>
                <a:ea typeface="黑体" panose="02010609060101010101" pitchFamily="49" charset="-122"/>
              </a:rPr>
              <a:t>在</a:t>
            </a:r>
            <a:r>
              <a:rPr lang="zh-CN" altLang="zh-CN" sz="2600" b="1">
                <a:solidFill>
                  <a:srgbClr val="000099"/>
                </a:solidFill>
                <a:ea typeface="黑体" panose="02010609060101010101" pitchFamily="49" charset="-122"/>
              </a:rPr>
              <a:t>对付主动攻击</a:t>
            </a:r>
            <a:r>
              <a:rPr lang="zh-CN" altLang="en-US" sz="2600" b="1">
                <a:solidFill>
                  <a:srgbClr val="000099"/>
                </a:solidFill>
                <a:ea typeface="黑体" panose="02010609060101010101" pitchFamily="49" charset="-122"/>
              </a:rPr>
              <a:t>中是</a:t>
            </a:r>
            <a:r>
              <a:rPr lang="zh-CN" altLang="zh-CN" sz="2600" b="1">
                <a:solidFill>
                  <a:srgbClr val="000099"/>
                </a:solidFill>
                <a:ea typeface="黑体" panose="02010609060101010101" pitchFamily="49" charset="-122"/>
              </a:rPr>
              <a:t>非常重要的</a:t>
            </a:r>
            <a:r>
              <a:rPr lang="zh-CN" altLang="en-US" sz="2600" b="1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  <a:endParaRPr lang="en-US" altLang="zh-CN" sz="26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2854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1D1791-BBD4-4905-8E23-2C1F2DA213CA}" type="slidenum">
              <a:rPr lang="zh-CN" altLang="en-US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2028549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59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7.1.2  </a:t>
            </a:r>
            <a:r>
              <a:rPr lang="zh-CN" altLang="zh-CN" smtClean="0">
                <a:ea typeface="黑体" panose="02010609060101010101" pitchFamily="49" charset="-122"/>
              </a:rPr>
              <a:t>安全的计算机网络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3059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网络的安全性是不可判定的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一个安全的计算机网络应达到四个目标：</a:t>
            </a: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1. </a:t>
            </a:r>
            <a:r>
              <a:rPr lang="zh-CN" altLang="zh-CN" smtClean="0">
                <a:ea typeface="黑体" panose="02010609060101010101" pitchFamily="49" charset="-122"/>
              </a:rPr>
              <a:t>保密性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2. </a:t>
            </a:r>
            <a:r>
              <a:rPr lang="zh-CN" altLang="zh-CN" smtClean="0">
                <a:ea typeface="黑体" panose="02010609060101010101" pitchFamily="49" charset="-122"/>
              </a:rPr>
              <a:t>端点鉴别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3. </a:t>
            </a:r>
            <a:r>
              <a:rPr lang="zh-CN" altLang="zh-CN" smtClean="0">
                <a:ea typeface="黑体" panose="02010609060101010101" pitchFamily="49" charset="-122"/>
              </a:rPr>
              <a:t>信息的完整性</a:t>
            </a: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zh-CN" smtClean="0">
                <a:ea typeface="黑体" panose="02010609060101010101" pitchFamily="49" charset="-122"/>
              </a:rPr>
              <a:t>运行的安全性</a:t>
            </a:r>
          </a:p>
        </p:txBody>
      </p:sp>
      <p:sp>
        <p:nvSpPr>
          <p:cNvPr id="2030595" name="矩形标注 6"/>
          <p:cNvSpPr>
            <a:spLocks noChangeArrowheads="1"/>
          </p:cNvSpPr>
          <p:nvPr/>
        </p:nvSpPr>
        <p:spPr bwMode="auto">
          <a:xfrm>
            <a:off x="4448175" y="2565400"/>
            <a:ext cx="4968875" cy="3600450"/>
          </a:xfrm>
          <a:prstGeom prst="wedgeRectCallout">
            <a:avLst>
              <a:gd name="adj1" fmla="val -58704"/>
              <a:gd name="adj2" fmla="val -16019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信息的内容</a:t>
            </a:r>
            <a:r>
              <a:rPr lang="zh-CN" altLang="en-US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未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被篡改过。</a:t>
            </a:r>
            <a:endParaRPr lang="en-US" altLang="zh-CN" sz="26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在应对主动攻击中是必不可少的。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信息的完整性与端点鉴别往往是不可分割的。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在谈到“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鉴别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”时，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也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同时包含了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端点鉴别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和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报文完整性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3059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C49F3D-DB1E-4B91-BB8F-D8D48EC3F3E0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2030597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64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7.1.2  </a:t>
            </a:r>
            <a:r>
              <a:rPr lang="zh-CN" altLang="zh-CN" smtClean="0">
                <a:ea typeface="黑体" panose="02010609060101010101" pitchFamily="49" charset="-122"/>
              </a:rPr>
              <a:t>安全的计算机网络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3264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网络的安全性是不可判定的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一个安全的计算机网络应达到四个目标：</a:t>
            </a: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1. </a:t>
            </a:r>
            <a:r>
              <a:rPr lang="zh-CN" altLang="zh-CN" smtClean="0">
                <a:ea typeface="黑体" panose="02010609060101010101" pitchFamily="49" charset="-122"/>
              </a:rPr>
              <a:t>保密性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2. </a:t>
            </a:r>
            <a:r>
              <a:rPr lang="zh-CN" altLang="zh-CN" smtClean="0">
                <a:ea typeface="黑体" panose="02010609060101010101" pitchFamily="49" charset="-122"/>
              </a:rPr>
              <a:t>端点鉴别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3. </a:t>
            </a:r>
            <a:r>
              <a:rPr lang="zh-CN" altLang="zh-CN" smtClean="0">
                <a:ea typeface="黑体" panose="02010609060101010101" pitchFamily="49" charset="-122"/>
              </a:rPr>
              <a:t>信息的完整性</a:t>
            </a:r>
          </a:p>
          <a:p>
            <a:pPr lvl="1"/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zh-CN" smtClean="0">
                <a:ea typeface="黑体" panose="02010609060101010101" pitchFamily="49" charset="-122"/>
              </a:rPr>
              <a:t>运行的安全性</a:t>
            </a:r>
          </a:p>
        </p:txBody>
      </p:sp>
      <p:sp>
        <p:nvSpPr>
          <p:cNvPr id="2032643" name="矩形标注 6"/>
          <p:cNvSpPr>
            <a:spLocks noChangeArrowheads="1"/>
          </p:cNvSpPr>
          <p:nvPr/>
        </p:nvSpPr>
        <p:spPr bwMode="auto">
          <a:xfrm>
            <a:off x="4448175" y="2565400"/>
            <a:ext cx="4968875" cy="3600450"/>
          </a:xfrm>
          <a:prstGeom prst="wedgeRectCallout">
            <a:avLst>
              <a:gd name="adj1" fmla="val -59273"/>
              <a:gd name="adj2" fmla="val -611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系统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能正常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运行并提供服务。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访问控制</a:t>
            </a:r>
            <a:r>
              <a:rPr lang="en-US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(access control) 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对计算机系统的安全性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是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非常重要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的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。必须对访问网络的权限加以控制，并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规定每个用户的访问权限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3264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017F9F-AB5E-43C7-80D3-7876E926007A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2032645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68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7.1.3  </a:t>
            </a:r>
            <a:r>
              <a:rPr lang="zh-CN" altLang="zh-CN" smtClean="0">
                <a:ea typeface="黑体" panose="02010609060101010101" pitchFamily="49" charset="-122"/>
              </a:rPr>
              <a:t>数据加密模型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pSp>
        <p:nvGrpSpPr>
          <p:cNvPr id="2034690" name="组合 2"/>
          <p:cNvGrpSpPr>
            <a:grpSpLocks/>
          </p:cNvGrpSpPr>
          <p:nvPr/>
        </p:nvGrpSpPr>
        <p:grpSpPr bwMode="auto">
          <a:xfrm>
            <a:off x="398463" y="1304925"/>
            <a:ext cx="9523412" cy="5022850"/>
            <a:chOff x="397670" y="1304603"/>
            <a:chExt cx="9523882" cy="5022720"/>
          </a:xfrm>
        </p:grpSpPr>
        <p:sp>
          <p:nvSpPr>
            <p:cNvPr id="4" name="Line 52"/>
            <p:cNvSpPr>
              <a:spLocks noChangeShapeType="1"/>
            </p:cNvSpPr>
            <p:nvPr/>
          </p:nvSpPr>
          <p:spPr bwMode="auto">
            <a:xfrm>
              <a:off x="2475810" y="2955560"/>
              <a:ext cx="139071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5" name="Line 53"/>
            <p:cNvSpPr>
              <a:spLocks noChangeShapeType="1"/>
            </p:cNvSpPr>
            <p:nvPr/>
          </p:nvSpPr>
          <p:spPr bwMode="auto">
            <a:xfrm>
              <a:off x="4885753" y="2966673"/>
              <a:ext cx="220038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" name="Text Box 56"/>
            <p:cNvSpPr txBox="1">
              <a:spLocks noChangeArrowheads="1"/>
            </p:cNvSpPr>
            <p:nvPr/>
          </p:nvSpPr>
          <p:spPr bwMode="auto">
            <a:xfrm>
              <a:off x="8491144" y="2776178"/>
              <a:ext cx="1057327" cy="584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r>
                <a:rPr kumimoji="1" lang="en-US" altLang="zh-CN" sz="32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</a:p>
          </p:txBody>
        </p:sp>
        <p:sp>
          <p:nvSpPr>
            <p:cNvPr id="7" name="Freeform 51"/>
            <p:cNvSpPr/>
            <p:nvPr/>
          </p:nvSpPr>
          <p:spPr bwMode="auto">
            <a:xfrm>
              <a:off x="1213685" y="2515835"/>
              <a:ext cx="349267" cy="454013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" name="Text Box 65"/>
            <p:cNvSpPr txBox="1">
              <a:spLocks noChangeArrowheads="1"/>
            </p:cNvSpPr>
            <p:nvPr/>
          </p:nvSpPr>
          <p:spPr bwMode="auto">
            <a:xfrm>
              <a:off x="3412481" y="1304603"/>
              <a:ext cx="698534" cy="4000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FF"/>
                  </a:solidFill>
                  <a:latin typeface="+mn-lt"/>
                  <a:ea typeface="黑体" panose="02010609060101010101" pitchFamily="2" charset="-122"/>
                </a:rPr>
                <a:t>截获</a:t>
              </a:r>
            </a:p>
          </p:txBody>
        </p:sp>
        <p:sp>
          <p:nvSpPr>
            <p:cNvPr id="9" name="Freeform 72"/>
            <p:cNvSpPr/>
            <p:nvPr/>
          </p:nvSpPr>
          <p:spPr bwMode="auto">
            <a:xfrm flipH="1" flipV="1">
              <a:off x="2118605" y="2179293"/>
              <a:ext cx="79379" cy="420676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" name="Freeform 134"/>
            <p:cNvSpPr/>
            <p:nvPr/>
          </p:nvSpPr>
          <p:spPr bwMode="auto">
            <a:xfrm flipH="1" flipV="1">
              <a:off x="7629089" y="2179293"/>
              <a:ext cx="79379" cy="420676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1" name="Freeform 50"/>
            <p:cNvSpPr/>
            <p:nvPr/>
          </p:nvSpPr>
          <p:spPr bwMode="auto">
            <a:xfrm rot="16200000">
              <a:off x="8457813" y="2569787"/>
              <a:ext cx="219069" cy="574703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2" name="Text Box 68"/>
            <p:cNvSpPr txBox="1">
              <a:spLocks noChangeArrowheads="1"/>
            </p:cNvSpPr>
            <p:nvPr/>
          </p:nvSpPr>
          <p:spPr bwMode="auto">
            <a:xfrm>
              <a:off x="6006584" y="2565045"/>
              <a:ext cx="960485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</a:p>
          </p:txBody>
        </p:sp>
        <p:sp>
          <p:nvSpPr>
            <p:cNvPr id="14" name="Text Box 55"/>
            <p:cNvSpPr txBox="1">
              <a:spLocks noChangeArrowheads="1"/>
            </p:cNvSpPr>
            <p:nvPr/>
          </p:nvSpPr>
          <p:spPr bwMode="auto">
            <a:xfrm>
              <a:off x="416721" y="2955560"/>
              <a:ext cx="1039863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</a:p>
          </p:txBody>
        </p:sp>
        <p:sp>
          <p:nvSpPr>
            <p:cNvPr id="15" name="Text Box 57"/>
            <p:cNvSpPr txBox="1">
              <a:spLocks noChangeArrowheads="1"/>
            </p:cNvSpPr>
            <p:nvPr/>
          </p:nvSpPr>
          <p:spPr bwMode="auto">
            <a:xfrm>
              <a:off x="2844128" y="2565045"/>
              <a:ext cx="960485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</a:p>
          </p:txBody>
        </p:sp>
        <p:sp>
          <p:nvSpPr>
            <p:cNvPr id="16" name="Text Box 58"/>
            <p:cNvSpPr txBox="1">
              <a:spLocks noChangeArrowheads="1"/>
            </p:cNvSpPr>
            <p:nvPr/>
          </p:nvSpPr>
          <p:spPr bwMode="auto">
            <a:xfrm>
              <a:off x="4488859" y="1376039"/>
              <a:ext cx="1112893" cy="461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截取者</a:t>
              </a:r>
            </a:p>
          </p:txBody>
        </p:sp>
        <p:sp>
          <p:nvSpPr>
            <p:cNvPr id="17" name="Rectangle 59"/>
            <p:cNvSpPr>
              <a:spLocks noChangeArrowheads="1"/>
            </p:cNvSpPr>
            <p:nvPr/>
          </p:nvSpPr>
          <p:spPr bwMode="auto">
            <a:xfrm>
              <a:off x="3979247" y="1749091"/>
              <a:ext cx="354029" cy="35876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8" name="Rectangle 60"/>
            <p:cNvSpPr>
              <a:spLocks noChangeArrowheads="1"/>
            </p:cNvSpPr>
            <p:nvPr/>
          </p:nvSpPr>
          <p:spPr bwMode="auto">
            <a:xfrm>
              <a:off x="5650966" y="1749091"/>
              <a:ext cx="354030" cy="35876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9" name="Line 61"/>
            <p:cNvSpPr>
              <a:spLocks noChangeShapeType="1"/>
            </p:cNvSpPr>
            <p:nvPr/>
          </p:nvSpPr>
          <p:spPr bwMode="auto">
            <a:xfrm>
              <a:off x="3623629" y="1928475"/>
              <a:ext cx="1063677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0" name="Line 62"/>
            <p:cNvSpPr>
              <a:spLocks noChangeShapeType="1"/>
            </p:cNvSpPr>
            <p:nvPr/>
          </p:nvSpPr>
          <p:spPr bwMode="auto">
            <a:xfrm flipV="1">
              <a:off x="4155467" y="1366514"/>
              <a:ext cx="0" cy="56196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" name="Freeform 63"/>
            <p:cNvSpPr/>
            <p:nvPr/>
          </p:nvSpPr>
          <p:spPr bwMode="auto">
            <a:xfrm>
              <a:off x="5341389" y="1345877"/>
              <a:ext cx="427058" cy="574660"/>
            </a:xfrm>
            <a:custGeom>
              <a:avLst/>
              <a:gdLst>
                <a:gd name="T0" fmla="*/ 0 w 290"/>
                <a:gd name="T1" fmla="*/ 384 h 385"/>
                <a:gd name="T2" fmla="*/ 215 w 290"/>
                <a:gd name="T3" fmla="*/ 384 h 385"/>
                <a:gd name="T4" fmla="*/ 246 w 290"/>
                <a:gd name="T5" fmla="*/ 381 h 385"/>
                <a:gd name="T6" fmla="*/ 276 w 290"/>
                <a:gd name="T7" fmla="*/ 369 h 385"/>
                <a:gd name="T8" fmla="*/ 288 w 290"/>
                <a:gd name="T9" fmla="*/ 336 h 385"/>
                <a:gd name="T10" fmla="*/ 288 w 290"/>
                <a:gd name="T11" fmla="*/ 291 h 385"/>
                <a:gd name="T12" fmla="*/ 288 w 290"/>
                <a:gd name="T1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385">
                  <a:moveTo>
                    <a:pt x="0" y="384"/>
                  </a:moveTo>
                  <a:lnTo>
                    <a:pt x="215" y="384"/>
                  </a:lnTo>
                  <a:cubicBezTo>
                    <a:pt x="256" y="384"/>
                    <a:pt x="257" y="377"/>
                    <a:pt x="246" y="381"/>
                  </a:cubicBezTo>
                  <a:cubicBezTo>
                    <a:pt x="235" y="385"/>
                    <a:pt x="269" y="377"/>
                    <a:pt x="276" y="369"/>
                  </a:cubicBezTo>
                  <a:cubicBezTo>
                    <a:pt x="283" y="361"/>
                    <a:pt x="286" y="349"/>
                    <a:pt x="288" y="336"/>
                  </a:cubicBezTo>
                  <a:cubicBezTo>
                    <a:pt x="290" y="323"/>
                    <a:pt x="288" y="347"/>
                    <a:pt x="288" y="291"/>
                  </a:cubicBezTo>
                  <a:lnTo>
                    <a:pt x="288" y="0"/>
                  </a:lnTo>
                </a:path>
              </a:pathLst>
            </a:custGeom>
            <a:noFill/>
            <a:ln w="19050" cmpd="sng">
              <a:solidFill>
                <a:srgbClr val="3333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2" name="Freeform 64"/>
            <p:cNvSpPr/>
            <p:nvPr/>
          </p:nvSpPr>
          <p:spPr bwMode="auto">
            <a:xfrm>
              <a:off x="5909742" y="1341115"/>
              <a:ext cx="428646" cy="577835"/>
            </a:xfrm>
            <a:custGeom>
              <a:avLst/>
              <a:gdLst>
                <a:gd name="T0" fmla="*/ 290 w 290"/>
                <a:gd name="T1" fmla="*/ 384 h 387"/>
                <a:gd name="T2" fmla="*/ 75 w 290"/>
                <a:gd name="T3" fmla="*/ 384 h 387"/>
                <a:gd name="T4" fmla="*/ 45 w 290"/>
                <a:gd name="T5" fmla="*/ 384 h 387"/>
                <a:gd name="T6" fmla="*/ 14 w 290"/>
                <a:gd name="T7" fmla="*/ 369 h 387"/>
                <a:gd name="T8" fmla="*/ 2 w 290"/>
                <a:gd name="T9" fmla="*/ 336 h 387"/>
                <a:gd name="T10" fmla="*/ 2 w 290"/>
                <a:gd name="T11" fmla="*/ 291 h 387"/>
                <a:gd name="T12" fmla="*/ 2 w 290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387">
                  <a:moveTo>
                    <a:pt x="290" y="384"/>
                  </a:moveTo>
                  <a:lnTo>
                    <a:pt x="75" y="384"/>
                  </a:lnTo>
                  <a:cubicBezTo>
                    <a:pt x="75" y="384"/>
                    <a:pt x="55" y="387"/>
                    <a:pt x="45" y="384"/>
                  </a:cubicBezTo>
                  <a:cubicBezTo>
                    <a:pt x="35" y="381"/>
                    <a:pt x="21" y="377"/>
                    <a:pt x="14" y="369"/>
                  </a:cubicBezTo>
                  <a:cubicBezTo>
                    <a:pt x="7" y="361"/>
                    <a:pt x="4" y="349"/>
                    <a:pt x="2" y="336"/>
                  </a:cubicBezTo>
                  <a:cubicBezTo>
                    <a:pt x="0" y="323"/>
                    <a:pt x="2" y="347"/>
                    <a:pt x="2" y="291"/>
                  </a:cubicBez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333399"/>
              </a:solidFill>
              <a:round/>
              <a:headEnd type="triangle" w="med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3" name="Text Box 66"/>
            <p:cNvSpPr txBox="1">
              <a:spLocks noChangeArrowheads="1"/>
            </p:cNvSpPr>
            <p:nvPr/>
          </p:nvSpPr>
          <p:spPr bwMode="auto">
            <a:xfrm>
              <a:off x="6116127" y="1315716"/>
              <a:ext cx="701710" cy="4000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FF"/>
                  </a:solidFill>
                  <a:latin typeface="+mn-lt"/>
                  <a:ea typeface="黑体" panose="02010609060101010101" pitchFamily="2" charset="-122"/>
                </a:rPr>
                <a:t>篡改</a:t>
              </a:r>
            </a:p>
          </p:txBody>
        </p:sp>
        <p:sp>
          <p:nvSpPr>
            <p:cNvPr id="24" name="Oval 67"/>
            <p:cNvSpPr>
              <a:spLocks noChangeArrowheads="1"/>
            </p:cNvSpPr>
            <p:nvPr/>
          </p:nvSpPr>
          <p:spPr bwMode="auto">
            <a:xfrm>
              <a:off x="4120541" y="1884026"/>
              <a:ext cx="69853" cy="7143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pic>
          <p:nvPicPr>
            <p:cNvPr id="2034711" name="Picture 6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2222600" y="3567929"/>
              <a:ext cx="503238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 Box 70"/>
            <p:cNvSpPr txBox="1">
              <a:spLocks noChangeArrowheads="1"/>
            </p:cNvSpPr>
            <p:nvPr/>
          </p:nvSpPr>
          <p:spPr bwMode="auto">
            <a:xfrm>
              <a:off x="596117" y="2017373"/>
              <a:ext cx="369906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A</a:t>
              </a:r>
            </a:p>
          </p:txBody>
        </p:sp>
        <p:sp>
          <p:nvSpPr>
            <p:cNvPr id="27" name="Text Box 71"/>
            <p:cNvSpPr txBox="1">
              <a:spLocks noChangeArrowheads="1"/>
            </p:cNvSpPr>
            <p:nvPr/>
          </p:nvSpPr>
          <p:spPr bwMode="auto">
            <a:xfrm>
              <a:off x="9067435" y="2017373"/>
              <a:ext cx="371493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B</a:t>
              </a:r>
            </a:p>
          </p:txBody>
        </p:sp>
        <p:graphicFrame>
          <p:nvGraphicFramePr>
            <p:cNvPr id="2034714" name="Object 73"/>
            <p:cNvGraphicFramePr>
              <a:graphicFrameLocks noChangeAspect="1"/>
            </p:cNvGraphicFramePr>
            <p:nvPr/>
          </p:nvGraphicFramePr>
          <p:xfrm>
            <a:off x="3786312" y="2290440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4803" r:id="rId5" imgW="1687068" imgH="964692" progId="Visio.Drawing.6">
                    <p:embed/>
                  </p:oleObj>
                </mc:Choice>
                <mc:Fallback>
                  <p:oleObj r:id="rId5" imgW="1687068" imgH="964692" progId="Visio.Drawing.6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6312" y="2290440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34715" name="Group 74"/>
            <p:cNvGrpSpPr>
              <a:grpSpLocks/>
            </p:cNvGrpSpPr>
            <p:nvPr/>
          </p:nvGrpSpPr>
          <p:grpSpPr bwMode="auto">
            <a:xfrm>
              <a:off x="889125" y="2157090"/>
              <a:ext cx="574675" cy="620713"/>
              <a:chOff x="921" y="2412"/>
              <a:chExt cx="284" cy="265"/>
            </a:xfrm>
          </p:grpSpPr>
          <p:grpSp>
            <p:nvGrpSpPr>
              <p:cNvPr id="2034716" name="Group 7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44" name="Freeform 76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5" name="Freeform 77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6" name="Freeform 78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7" name="Freeform 79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8" name="Rectangle 80"/>
                <p:cNvSpPr>
                  <a:spLocks noChangeArrowheads="1"/>
                </p:cNvSpPr>
                <p:nvPr/>
              </p:nvSpPr>
              <p:spPr bwMode="auto">
                <a:xfrm>
                  <a:off x="975" y="2434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9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0" name="Rectangle 82"/>
                <p:cNvSpPr>
                  <a:spLocks noChangeArrowheads="1"/>
                </p:cNvSpPr>
                <p:nvPr/>
              </p:nvSpPr>
              <p:spPr bwMode="auto">
                <a:xfrm>
                  <a:off x="993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1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34725" name="Group 8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53" name="Freeform 8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54" name="Freeform 8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55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1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34729" name="Group 8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32" name="Freeform 8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3" name="Freeform 9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4" name="Freeform 9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5" name="Freeform 9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6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7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8" name="Rectangle 95"/>
                <p:cNvSpPr>
                  <a:spLocks noChangeArrowheads="1"/>
                </p:cNvSpPr>
                <p:nvPr/>
              </p:nvSpPr>
              <p:spPr bwMode="auto">
                <a:xfrm>
                  <a:off x="986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9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34738" name="Group 9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41" name="Freeform 9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42" name="Freeform 9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43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56" name="Rectangle 102"/>
            <p:cNvSpPr>
              <a:spLocks noChangeArrowheads="1"/>
            </p:cNvSpPr>
            <p:nvPr/>
          </p:nvSpPr>
          <p:spPr bwMode="auto">
            <a:xfrm>
              <a:off x="1562953" y="2609494"/>
              <a:ext cx="1276413" cy="715944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E</a:t>
              </a: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加密算法</a:t>
              </a:r>
            </a:p>
          </p:txBody>
        </p:sp>
        <p:sp>
          <p:nvSpPr>
            <p:cNvPr id="57" name="Rectangle 103"/>
            <p:cNvSpPr>
              <a:spLocks noChangeArrowheads="1"/>
            </p:cNvSpPr>
            <p:nvPr/>
          </p:nvSpPr>
          <p:spPr bwMode="auto">
            <a:xfrm>
              <a:off x="7086137" y="2609494"/>
              <a:ext cx="1278001" cy="715944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D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解密算法</a:t>
              </a:r>
            </a:p>
          </p:txBody>
        </p:sp>
        <p:grpSp>
          <p:nvGrpSpPr>
            <p:cNvPr id="2034744" name="Group 104"/>
            <p:cNvGrpSpPr>
              <a:grpSpLocks/>
            </p:cNvGrpSpPr>
            <p:nvPr/>
          </p:nvGrpSpPr>
          <p:grpSpPr bwMode="auto">
            <a:xfrm>
              <a:off x="8583737" y="2131690"/>
              <a:ext cx="574675" cy="620713"/>
              <a:chOff x="921" y="2412"/>
              <a:chExt cx="284" cy="265"/>
            </a:xfrm>
          </p:grpSpPr>
          <p:grpSp>
            <p:nvGrpSpPr>
              <p:cNvPr id="2034745" name="Group 10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73" name="Freeform 106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4" name="Freeform 107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5" name="Freeform 108"/>
                <p:cNvSpPr/>
                <p:nvPr/>
              </p:nvSpPr>
              <p:spPr bwMode="auto">
                <a:xfrm>
                  <a:off x="974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6" name="Freeform 109"/>
                <p:cNvSpPr/>
                <p:nvPr/>
              </p:nvSpPr>
              <p:spPr bwMode="auto">
                <a:xfrm>
                  <a:off x="974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7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8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6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9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0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34754" name="Group 11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82" name="Freeform 11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83" name="Freeform 11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84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34758" name="Group 11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61" name="Freeform 11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2" name="Freeform 12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3" name="Freeform 12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4" name="Freeform 12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5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6" name="Rectangle 124"/>
                <p:cNvSpPr>
                  <a:spLocks noChangeArrowheads="1"/>
                </p:cNvSpPr>
                <p:nvPr/>
              </p:nvSpPr>
              <p:spPr bwMode="auto">
                <a:xfrm>
                  <a:off x="929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7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8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7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34767" name="Group 12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70" name="Freeform 12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71" name="Freeform 12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72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85" name="Text Box 131"/>
            <p:cNvSpPr txBox="1">
              <a:spLocks noChangeArrowheads="1"/>
            </p:cNvSpPr>
            <p:nvPr/>
          </p:nvSpPr>
          <p:spPr bwMode="auto">
            <a:xfrm>
              <a:off x="4449170" y="2787290"/>
              <a:ext cx="1112892" cy="4619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互联网</a:t>
              </a:r>
            </a:p>
          </p:txBody>
        </p:sp>
        <p:pic>
          <p:nvPicPr>
            <p:cNvPr id="2034772" name="Picture 13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7324972" y="3640731"/>
              <a:ext cx="503238" cy="225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Line 101"/>
            <p:cNvSpPr>
              <a:spLocks noChangeShapeType="1"/>
            </p:cNvSpPr>
            <p:nvPr/>
          </p:nvSpPr>
          <p:spPr bwMode="auto">
            <a:xfrm rot="16200000">
              <a:off x="4547637" y="2309465"/>
              <a:ext cx="977875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034774" name="矩形 88"/>
            <p:cNvSpPr>
              <a:spLocks noChangeArrowheads="1"/>
            </p:cNvSpPr>
            <p:nvPr/>
          </p:nvSpPr>
          <p:spPr bwMode="auto">
            <a:xfrm>
              <a:off x="1032794" y="5373216"/>
              <a:ext cx="8234602" cy="954107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>
              <a:outerShdw dist="35921" sx="999" sy="999" algn="ctr" rotWithShape="0">
                <a:srgbClr val="1C1C1C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用户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 A 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向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 B 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发送明文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 X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，通过加密算法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 E 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运算后，就得出密文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 Y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。</a:t>
              </a:r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34775" name="Freeform 20"/>
            <p:cNvSpPr>
              <a:spLocks noChangeArrowheads="1"/>
            </p:cNvSpPr>
            <p:nvPr/>
          </p:nvSpPr>
          <p:spPr bwMode="auto">
            <a:xfrm>
              <a:off x="5653112" y="3361754"/>
              <a:ext cx="2108200" cy="765175"/>
            </a:xfrm>
            <a:custGeom>
              <a:avLst/>
              <a:gdLst>
                <a:gd name="T0" fmla="*/ 0 w 1056"/>
                <a:gd name="T1" fmla="*/ 384 h 384"/>
                <a:gd name="T2" fmla="*/ 1056 w 1056"/>
                <a:gd name="T3" fmla="*/ 384 h 384"/>
                <a:gd name="T4" fmla="*/ 1056 w 1056"/>
                <a:gd name="T5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6" h="384">
                  <a:moveTo>
                    <a:pt x="0" y="384"/>
                  </a:moveTo>
                  <a:lnTo>
                    <a:pt x="1056" y="384"/>
                  </a:lnTo>
                  <a:lnTo>
                    <a:pt x="1056" y="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34776" name="AutoShape 21"/>
            <p:cNvSpPr>
              <a:spLocks noChangeArrowheads="1"/>
            </p:cNvSpPr>
            <p:nvPr/>
          </p:nvSpPr>
          <p:spPr bwMode="auto">
            <a:xfrm rot="-5400000">
              <a:off x="4798107" y="1956705"/>
              <a:ext cx="587375" cy="4330924"/>
            </a:xfrm>
            <a:prstGeom prst="can">
              <a:avLst>
                <a:gd name="adj" fmla="val 41407"/>
              </a:avLst>
            </a:prstGeom>
            <a:gradFill rotWithShape="1">
              <a:gsLst>
                <a:gs pos="0">
                  <a:srgbClr val="333399"/>
                </a:gs>
                <a:gs pos="50000">
                  <a:srgbClr val="66FFFF"/>
                </a:gs>
                <a:gs pos="100000">
                  <a:srgbClr val="33339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34777" name="Line 28"/>
            <p:cNvSpPr>
              <a:spLocks noChangeShapeType="1"/>
            </p:cNvSpPr>
            <p:nvPr/>
          </p:nvSpPr>
          <p:spPr bwMode="auto">
            <a:xfrm rot="-5400000">
              <a:off x="1626171" y="4001517"/>
              <a:ext cx="1277938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34778" name="Text Box 29"/>
            <p:cNvSpPr txBox="1">
              <a:spLocks noChangeArrowheads="1"/>
            </p:cNvSpPr>
            <p:nvPr/>
          </p:nvSpPr>
          <p:spPr bwMode="auto">
            <a:xfrm>
              <a:off x="397670" y="3450456"/>
              <a:ext cx="186509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加密密钥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E</a:t>
              </a:r>
            </a:p>
          </p:txBody>
        </p:sp>
        <p:sp>
          <p:nvSpPr>
            <p:cNvPr id="2034779" name="Text Box 30"/>
            <p:cNvSpPr txBox="1">
              <a:spLocks noChangeArrowheads="1"/>
            </p:cNvSpPr>
            <p:nvPr/>
          </p:nvSpPr>
          <p:spPr bwMode="auto">
            <a:xfrm>
              <a:off x="7819702" y="3475856"/>
              <a:ext cx="2101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解密密钥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2034780" name="Rectangle 46"/>
            <p:cNvSpPr>
              <a:spLocks noChangeArrowheads="1"/>
            </p:cNvSpPr>
            <p:nvPr/>
          </p:nvSpPr>
          <p:spPr bwMode="auto">
            <a:xfrm>
              <a:off x="1713484" y="4517454"/>
              <a:ext cx="1233488" cy="4826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密钥源</a:t>
              </a:r>
            </a:p>
          </p:txBody>
        </p:sp>
        <p:sp>
          <p:nvSpPr>
            <p:cNvPr id="2034781" name="Line 47"/>
            <p:cNvSpPr>
              <a:spLocks noChangeShapeType="1"/>
            </p:cNvSpPr>
            <p:nvPr/>
          </p:nvSpPr>
          <p:spPr bwMode="auto">
            <a:xfrm>
              <a:off x="2262759" y="4126930"/>
              <a:ext cx="9083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34782" name="Text Box 48"/>
            <p:cNvSpPr txBox="1">
              <a:spLocks noChangeArrowheads="1"/>
            </p:cNvSpPr>
            <p:nvPr/>
          </p:nvSpPr>
          <p:spPr bwMode="auto">
            <a:xfrm>
              <a:off x="4250896" y="3903439"/>
              <a:ext cx="14221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安全信道</a:t>
              </a:r>
            </a:p>
          </p:txBody>
        </p:sp>
      </p:grpSp>
      <p:sp>
        <p:nvSpPr>
          <p:cNvPr id="2034783" name="灯片编号占位符 9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294697-7229-46C1-922D-FD56E660CA31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  <p:sp>
        <p:nvSpPr>
          <p:cNvPr id="2034784" name="页脚占位符 9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73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密钥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367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smtClean="0">
                <a:ea typeface="黑体" panose="02010609060101010101" pitchFamily="49" charset="-122"/>
              </a:rPr>
              <a:t>加密和解密用的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密钥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800" smtClean="0">
                <a:ea typeface="黑体" panose="02010609060101010101" pitchFamily="49" charset="-122"/>
              </a:rPr>
              <a:t> (key) </a:t>
            </a:r>
            <a:r>
              <a:rPr lang="zh-CN" altLang="zh-CN" sz="2800" smtClean="0">
                <a:ea typeface="黑体" panose="02010609060101010101" pitchFamily="49" charset="-122"/>
              </a:rPr>
              <a:t>是一串秘密的字符串（即比特串）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r>
              <a:rPr lang="zh-CN" altLang="zh-CN" sz="2800" smtClean="0">
                <a:ea typeface="黑体" panose="02010609060101010101" pitchFamily="49" charset="-122"/>
              </a:rPr>
              <a:t>明文通过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加密算法</a:t>
            </a:r>
            <a:r>
              <a:rPr lang="en-US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49" charset="-122"/>
              </a:rPr>
              <a:t>E  </a:t>
            </a:r>
            <a:r>
              <a:rPr lang="zh-CN" altLang="en-US" sz="2800" smtClean="0">
                <a:ea typeface="黑体" panose="02010609060101010101" pitchFamily="49" charset="-122"/>
              </a:rPr>
              <a:t>和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加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密密钥</a:t>
            </a:r>
            <a:r>
              <a:rPr lang="en-US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49" charset="-122"/>
              </a:rPr>
              <a:t>K  </a:t>
            </a:r>
            <a:r>
              <a:rPr lang="zh-CN" altLang="zh-CN" sz="2800" smtClean="0">
                <a:ea typeface="黑体" panose="02010609060101010101" pitchFamily="49" charset="-122"/>
              </a:rPr>
              <a:t>变成密文</a:t>
            </a:r>
            <a:r>
              <a:rPr lang="zh-CN" altLang="en-US" sz="2800" smtClean="0">
                <a:ea typeface="黑体" panose="02010609060101010101" pitchFamily="49" charset="-122"/>
              </a:rPr>
              <a:t>：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endParaRPr lang="en-US" altLang="zh-CN" sz="2800" smtClean="0">
              <a:ea typeface="黑体" panose="02010609060101010101" pitchFamily="49" charset="-122"/>
            </a:endParaRPr>
          </a:p>
          <a:p>
            <a:r>
              <a:rPr lang="zh-CN" altLang="zh-CN" sz="2800" smtClean="0">
                <a:ea typeface="黑体" panose="02010609060101010101" pitchFamily="49" charset="-122"/>
              </a:rPr>
              <a:t>接收端利用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解密算法</a:t>
            </a:r>
            <a:r>
              <a:rPr lang="en-US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49" charset="-122"/>
              </a:rPr>
              <a:t>D </a:t>
            </a:r>
            <a:r>
              <a:rPr lang="zh-CN" altLang="zh-CN" sz="2800" smtClean="0">
                <a:ea typeface="黑体" panose="02010609060101010101" pitchFamily="49" charset="-122"/>
              </a:rPr>
              <a:t>运算和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解密密钥</a:t>
            </a:r>
            <a:r>
              <a:rPr lang="en-US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49" charset="-122"/>
              </a:rPr>
              <a:t>K </a:t>
            </a:r>
            <a:r>
              <a:rPr lang="zh-CN" altLang="zh-CN" sz="2800" smtClean="0">
                <a:ea typeface="黑体" panose="02010609060101010101" pitchFamily="49" charset="-122"/>
              </a:rPr>
              <a:t>解出明文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X</a:t>
            </a:r>
            <a:r>
              <a:rPr lang="zh-CN" altLang="zh-CN" sz="2800" smtClean="0">
                <a:ea typeface="黑体" panose="02010609060101010101" pitchFamily="49" charset="-122"/>
              </a:rPr>
              <a:t>。解密算法是加密算法的逆运算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036739" name="矩形 3"/>
          <p:cNvSpPr>
            <a:spLocks noChangeArrowheads="1"/>
          </p:cNvSpPr>
          <p:nvPr/>
        </p:nvSpPr>
        <p:spPr bwMode="auto">
          <a:xfrm>
            <a:off x="1208088" y="2708275"/>
            <a:ext cx="7489825" cy="5762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  Y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E</a:t>
            </a:r>
            <a:r>
              <a:rPr lang="en-US" altLang="zh-CN" sz="2800" b="1" i="1" baseline="-25000">
                <a:solidFill>
                  <a:srgbClr val="000099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)                                      (7-1)</a:t>
            </a:r>
            <a:endParaRPr lang="zh-CN" altLang="en-US" sz="28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36740" name="矩形 4"/>
          <p:cNvSpPr>
            <a:spLocks noChangeArrowheads="1"/>
          </p:cNvSpPr>
          <p:nvPr/>
        </p:nvSpPr>
        <p:spPr bwMode="auto">
          <a:xfrm>
            <a:off x="1208088" y="4292600"/>
            <a:ext cx="7489825" cy="5762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  D</a:t>
            </a:r>
            <a:r>
              <a:rPr lang="en-US" altLang="zh-CN" sz="2800" b="1" i="1" baseline="-25000">
                <a:solidFill>
                  <a:srgbClr val="000099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(Y) 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 D</a:t>
            </a:r>
            <a:r>
              <a:rPr lang="en-US" altLang="zh-CN" sz="2800" b="1" i="1" baseline="-25000">
                <a:solidFill>
                  <a:srgbClr val="000099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(E</a:t>
            </a:r>
            <a:r>
              <a:rPr lang="en-US" altLang="zh-CN" sz="2800" b="1" i="1" baseline="-25000">
                <a:solidFill>
                  <a:srgbClr val="000099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(X)) 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 X                 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(7-2)</a:t>
            </a:r>
            <a:endParaRPr lang="zh-CN" altLang="en-US" sz="28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36741" name="矩形 5"/>
          <p:cNvSpPr>
            <a:spLocks noChangeArrowheads="1"/>
          </p:cNvSpPr>
          <p:nvPr/>
        </p:nvSpPr>
        <p:spPr bwMode="auto">
          <a:xfrm>
            <a:off x="849313" y="5157788"/>
            <a:ext cx="8567737" cy="1200150"/>
          </a:xfrm>
          <a:prstGeom prst="rect">
            <a:avLst/>
          </a:prstGeom>
          <a:solidFill>
            <a:srgbClr val="FFC000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>
            <a:spAutoFit/>
          </a:bodyPr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70000"/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加密密钥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和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解密密钥</a:t>
            </a:r>
            <a:r>
              <a:rPr lang="zh-CN" altLang="en-US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可以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一样</a:t>
            </a:r>
            <a:r>
              <a:rPr lang="zh-CN" altLang="en-US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，也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可以不一样</a:t>
            </a:r>
            <a:r>
              <a:rPr lang="zh-CN" altLang="en-US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。</a:t>
            </a:r>
            <a:endParaRPr lang="en-US" altLang="zh-CN" sz="2400" b="1" dirty="0">
              <a:solidFill>
                <a:srgbClr val="000066"/>
              </a:solidFill>
              <a:ea typeface="黑体" panose="02010609060101010101" pitchFamily="49" charset="-122"/>
            </a:endParaRPr>
          </a:p>
          <a:p>
            <a:pPr>
              <a:buSzPct val="70000"/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密钥通常是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由密钥中心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提供。</a:t>
            </a:r>
            <a:endParaRPr lang="en-US" altLang="zh-CN" sz="2400" b="1" dirty="0">
              <a:solidFill>
                <a:srgbClr val="000066"/>
              </a:solidFill>
              <a:ea typeface="黑体" panose="02010609060101010101" pitchFamily="49" charset="-122"/>
            </a:endParaRPr>
          </a:p>
          <a:p>
            <a:pPr>
              <a:buSzPct val="70000"/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当密钥需要向远地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传送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时，一定要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通过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另一个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安全信道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2036742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A211E2-867D-42A5-88EF-5CADB8941F68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2036743" name="页脚占位符 9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7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800" smtClean="0">
                <a:ea typeface="黑体" panose="02010609060101010101" pitchFamily="49" charset="-122"/>
              </a:rPr>
              <a:t>一些重要概念 </a:t>
            </a:r>
          </a:p>
        </p:txBody>
      </p:sp>
      <p:sp>
        <p:nvSpPr>
          <p:cNvPr id="203878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密码编码学 </a:t>
            </a:r>
            <a:r>
              <a:rPr lang="en-US" altLang="zh-CN" smtClean="0">
                <a:ea typeface="黑体" panose="02010609060101010101" pitchFamily="49" charset="-122"/>
              </a:rPr>
              <a:t>(cryptography) </a:t>
            </a:r>
            <a:r>
              <a:rPr lang="zh-CN" altLang="en-US" smtClean="0">
                <a:ea typeface="黑体" panose="02010609060101010101" pitchFamily="49" charset="-122"/>
              </a:rPr>
              <a:t>是密码体制的设计学。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密码分析学 </a:t>
            </a:r>
            <a:r>
              <a:rPr lang="en-US" altLang="zh-CN" smtClean="0">
                <a:ea typeface="黑体" panose="02010609060101010101" pitchFamily="49" charset="-122"/>
              </a:rPr>
              <a:t>(cryptanalysis) </a:t>
            </a:r>
            <a:r>
              <a:rPr lang="zh-CN" altLang="en-US" smtClean="0">
                <a:ea typeface="黑体" panose="02010609060101010101" pitchFamily="49" charset="-122"/>
              </a:rPr>
              <a:t>则是在未知密钥的情况下从密文推演出明文或密钥的技术。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ea typeface="黑体" panose="02010609060101010101" pitchFamily="49" charset="-122"/>
              </a:rPr>
              <a:t>密码编码学与密码分析学合起来即为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密码学 </a:t>
            </a:r>
            <a:r>
              <a:rPr lang="en-US" altLang="zh-CN" smtClean="0">
                <a:ea typeface="黑体" panose="02010609060101010101" pitchFamily="49" charset="-122"/>
              </a:rPr>
              <a:t>(cryptology)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0387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A954E4-BFF2-42AD-8BCE-4B3DDDBF78A9}" type="slidenum">
              <a:rPr lang="zh-CN" altLang="en-US" smtClean="0"/>
              <a:pPr eaLnBrk="1" hangingPunct="1"/>
              <a:t>16</a:t>
            </a:fld>
            <a:endParaRPr lang="en-US" altLang="zh-CN" smtClean="0"/>
          </a:p>
        </p:txBody>
      </p:sp>
      <p:sp>
        <p:nvSpPr>
          <p:cNvPr id="203878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8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800" smtClean="0">
                <a:ea typeface="黑体" panose="02010609060101010101" pitchFamily="49" charset="-122"/>
              </a:rPr>
              <a:t>一些重要概念 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如果不论截取者获得了多少密文，但在密文中都没有足够的信息来唯一地确定出对应的明文，则这一密码体制称为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无条件安全的，</a:t>
            </a:r>
            <a:r>
              <a:rPr lang="zh-CN" altLang="en-US" smtClean="0">
                <a:ea typeface="黑体" panose="02010609060101010101" pitchFamily="49" charset="-122"/>
              </a:rPr>
              <a:t>或称为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理论上是不可破的。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如果密码体制中的密码不能被可使用的计算资源破译，则这一密码体制称为在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计算上是安全的。 </a:t>
            </a:r>
          </a:p>
        </p:txBody>
      </p:sp>
      <p:sp>
        <p:nvSpPr>
          <p:cNvPr id="20408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8B91EB-616D-48E2-988C-3D14DDDFE73B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20408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88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7.2  </a:t>
            </a:r>
            <a:r>
              <a:rPr lang="zh-CN" altLang="zh-CN" smtClean="0">
                <a:ea typeface="黑体" panose="02010609060101010101" pitchFamily="49" charset="-122"/>
              </a:rPr>
              <a:t>两类密码体制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4288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7.2.1  </a:t>
            </a:r>
            <a:r>
              <a:rPr lang="zh-CN" altLang="zh-CN" smtClean="0">
                <a:ea typeface="黑体" panose="02010609060101010101" pitchFamily="49" charset="-122"/>
              </a:rPr>
              <a:t>对称密钥密码体制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7.2.2  </a:t>
            </a:r>
            <a:r>
              <a:rPr lang="zh-CN" altLang="zh-CN" smtClean="0">
                <a:ea typeface="黑体" panose="02010609060101010101" pitchFamily="49" charset="-122"/>
              </a:rPr>
              <a:t>公钥密码体制</a:t>
            </a:r>
          </a:p>
        </p:txBody>
      </p:sp>
      <p:sp>
        <p:nvSpPr>
          <p:cNvPr id="204288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C414E3-D6CD-4173-9168-628BDA5E2293}" type="slidenum">
              <a:rPr lang="zh-CN" altLang="en-US" smtClean="0"/>
              <a:pPr eaLnBrk="1" hangingPunct="1"/>
              <a:t>18</a:t>
            </a:fld>
            <a:endParaRPr lang="en-US" altLang="zh-CN" smtClean="0"/>
          </a:p>
        </p:txBody>
      </p:sp>
      <p:sp>
        <p:nvSpPr>
          <p:cNvPr id="204288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92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7.2.1   </a:t>
            </a:r>
            <a:r>
              <a:rPr lang="zh-CN" altLang="en-US" smtClean="0">
                <a:ea typeface="黑体" panose="02010609060101010101" pitchFamily="49" charset="-122"/>
              </a:rPr>
              <a:t>对称密钥密码体制 </a:t>
            </a:r>
          </a:p>
        </p:txBody>
      </p:sp>
      <p:sp>
        <p:nvSpPr>
          <p:cNvPr id="204493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所谓常规密钥密码体制，即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加密密钥</a:t>
            </a:r>
            <a:r>
              <a:rPr lang="zh-CN" altLang="en-US" smtClean="0">
                <a:ea typeface="黑体" panose="02010609060101010101" pitchFamily="49" charset="-122"/>
              </a:rPr>
              <a:t>与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解密密钥是相同的密码体制。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这种加密系统又称为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对称密钥系统。</a:t>
            </a:r>
          </a:p>
        </p:txBody>
      </p:sp>
      <p:sp>
        <p:nvSpPr>
          <p:cNvPr id="6" name="Line 52"/>
          <p:cNvSpPr>
            <a:spLocks noChangeShapeType="1"/>
          </p:cNvSpPr>
          <p:nvPr/>
        </p:nvSpPr>
        <p:spPr bwMode="auto">
          <a:xfrm>
            <a:off x="2546350" y="4972050"/>
            <a:ext cx="139223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auto">
          <a:xfrm>
            <a:off x="4957763" y="4983163"/>
            <a:ext cx="22002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8562975" y="4792663"/>
            <a:ext cx="10572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明文 </a:t>
            </a:r>
            <a:r>
              <a:rPr kumimoji="1" lang="en-US" altLang="zh-CN" sz="20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X</a:t>
            </a:r>
            <a:r>
              <a:rPr kumimoji="1" lang="en-US" altLang="zh-CN" sz="32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9" name="Freeform 51"/>
          <p:cNvSpPr/>
          <p:nvPr/>
        </p:nvSpPr>
        <p:spPr bwMode="auto">
          <a:xfrm>
            <a:off x="1284288" y="4532313"/>
            <a:ext cx="349250" cy="45402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1" name="Freeform 72"/>
          <p:cNvSpPr/>
          <p:nvPr/>
        </p:nvSpPr>
        <p:spPr bwMode="auto">
          <a:xfrm flipH="1" flipV="1">
            <a:off x="2189163" y="4195763"/>
            <a:ext cx="79375" cy="42068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2" name="Freeform 134"/>
          <p:cNvSpPr/>
          <p:nvPr/>
        </p:nvSpPr>
        <p:spPr bwMode="auto">
          <a:xfrm flipH="1" flipV="1">
            <a:off x="7700963" y="4195763"/>
            <a:ext cx="79375" cy="42068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3" name="Freeform 50"/>
          <p:cNvSpPr/>
          <p:nvPr/>
        </p:nvSpPr>
        <p:spPr bwMode="auto">
          <a:xfrm rot="16200000">
            <a:off x="8529638" y="4586288"/>
            <a:ext cx="219075" cy="57467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4" name="Text Box 68"/>
          <p:cNvSpPr txBox="1">
            <a:spLocks noChangeArrowheads="1"/>
          </p:cNvSpPr>
          <p:nvPr/>
        </p:nvSpPr>
        <p:spPr bwMode="auto">
          <a:xfrm>
            <a:off x="6078538" y="4581525"/>
            <a:ext cx="9604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密文 </a:t>
            </a:r>
            <a:r>
              <a:rPr kumimoji="1" lang="en-US" altLang="zh-CN" sz="20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Y</a:t>
            </a:r>
          </a:p>
        </p:txBody>
      </p:sp>
      <p:sp>
        <p:nvSpPr>
          <p:cNvPr id="15" name="Text Box 54"/>
          <p:cNvSpPr txBox="1">
            <a:spLocks noChangeArrowheads="1"/>
          </p:cNvSpPr>
          <p:nvPr/>
        </p:nvSpPr>
        <p:spPr bwMode="auto">
          <a:xfrm>
            <a:off x="488950" y="3357563"/>
            <a:ext cx="17287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加密密钥 </a:t>
            </a:r>
            <a:r>
              <a:rPr kumimoji="1" lang="en-US" altLang="zh-CN" sz="24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K</a:t>
            </a:r>
          </a:p>
        </p:txBody>
      </p:sp>
      <p:sp>
        <p:nvSpPr>
          <p:cNvPr id="16" name="Text Box 55"/>
          <p:cNvSpPr txBox="1">
            <a:spLocks noChangeArrowheads="1"/>
          </p:cNvSpPr>
          <p:nvPr/>
        </p:nvSpPr>
        <p:spPr bwMode="auto">
          <a:xfrm>
            <a:off x="488950" y="4972050"/>
            <a:ext cx="10382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明文 </a:t>
            </a:r>
            <a:r>
              <a: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X</a:t>
            </a:r>
          </a:p>
        </p:txBody>
      </p:sp>
      <p:sp>
        <p:nvSpPr>
          <p:cNvPr id="17" name="Text Box 57"/>
          <p:cNvSpPr txBox="1">
            <a:spLocks noChangeArrowheads="1"/>
          </p:cNvSpPr>
          <p:nvPr/>
        </p:nvSpPr>
        <p:spPr bwMode="auto">
          <a:xfrm>
            <a:off x="2914650" y="4581525"/>
            <a:ext cx="9604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密文 </a:t>
            </a:r>
            <a:r>
              <a: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Y</a:t>
            </a:r>
          </a:p>
        </p:txBody>
      </p:sp>
      <p:pic>
        <p:nvPicPr>
          <p:cNvPr id="2044942" name="Picture 6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041526" y="3532187"/>
            <a:ext cx="741362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 Box 70"/>
          <p:cNvSpPr txBox="1">
            <a:spLocks noChangeArrowheads="1"/>
          </p:cNvSpPr>
          <p:nvPr/>
        </p:nvSpPr>
        <p:spPr bwMode="auto">
          <a:xfrm>
            <a:off x="666750" y="4033838"/>
            <a:ext cx="3714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A</a:t>
            </a:r>
          </a:p>
        </p:txBody>
      </p:sp>
      <p:sp>
        <p:nvSpPr>
          <p:cNvPr id="29" name="Text Box 71"/>
          <p:cNvSpPr txBox="1">
            <a:spLocks noChangeArrowheads="1"/>
          </p:cNvSpPr>
          <p:nvPr/>
        </p:nvSpPr>
        <p:spPr bwMode="auto">
          <a:xfrm>
            <a:off x="9139238" y="4033838"/>
            <a:ext cx="3714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B</a:t>
            </a:r>
          </a:p>
        </p:txBody>
      </p:sp>
      <p:graphicFrame>
        <p:nvGraphicFramePr>
          <p:cNvPr id="2044945" name="Object 73"/>
          <p:cNvGraphicFramePr>
            <a:graphicFrameLocks noChangeAspect="1"/>
          </p:cNvGraphicFramePr>
          <p:nvPr/>
        </p:nvGraphicFramePr>
        <p:xfrm>
          <a:off x="3857625" y="4310063"/>
          <a:ext cx="2293938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5029" r:id="rId5" imgW="1687068" imgH="964692" progId="Visio.Drawing.6">
                  <p:embed/>
                </p:oleObj>
              </mc:Choice>
              <mc:Fallback>
                <p:oleObj r:id="rId5" imgW="1687068" imgH="964692" progId="Visio.Drawing.6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4310063"/>
                        <a:ext cx="2293938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4946" name="Group 74"/>
          <p:cNvGrpSpPr>
            <a:grpSpLocks/>
          </p:cNvGrpSpPr>
          <p:nvPr/>
        </p:nvGrpSpPr>
        <p:grpSpPr bwMode="auto">
          <a:xfrm>
            <a:off x="960438" y="4173538"/>
            <a:ext cx="574675" cy="620712"/>
            <a:chOff x="921" y="2412"/>
            <a:chExt cx="284" cy="265"/>
          </a:xfrm>
        </p:grpSpPr>
        <p:grpSp>
          <p:nvGrpSpPr>
            <p:cNvPr id="2044947" name="Group 75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46" name="Freeform 76"/>
              <p:cNvSpPr/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7" name="Freeform 77"/>
              <p:cNvSpPr/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8" name="Freeform 78"/>
              <p:cNvSpPr/>
              <p:nvPr/>
            </p:nvSpPr>
            <p:spPr bwMode="auto">
              <a:xfrm>
                <a:off x="974" y="2417"/>
                <a:ext cx="184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9" name="Freeform 79"/>
              <p:cNvSpPr/>
              <p:nvPr/>
            </p:nvSpPr>
            <p:spPr bwMode="auto">
              <a:xfrm>
                <a:off x="974" y="2417"/>
                <a:ext cx="184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0" name="Rectangle 80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4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1" name="Rectangle 81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2" name="Rectangle 82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3" name="Line 83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grpSp>
            <p:nvGrpSpPr>
              <p:cNvPr id="2044956" name="Group 84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55" name="Freeform 85"/>
                <p:cNvSpPr/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6" name="Freeform 86"/>
                <p:cNvSpPr/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7" name="Rectangle 87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044960" name="Group 88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34" name="Freeform 89"/>
              <p:cNvSpPr/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5" name="Freeform 90"/>
              <p:cNvSpPr/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6" name="Freeform 91"/>
              <p:cNvSpPr/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7" name="Freeform 92"/>
              <p:cNvSpPr/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8" name="Rectangle 93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9" name="Rectangle 94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0" name="Rectangle 95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1" name="Line 96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grpSp>
            <p:nvGrpSpPr>
              <p:cNvPr id="2044969" name="Group 97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43" name="Freeform 98"/>
                <p:cNvSpPr/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4" name="Freeform 99"/>
                <p:cNvSpPr/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5" name="Rectangle 100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58" name="Rectangle 102"/>
          <p:cNvSpPr>
            <a:spLocks noChangeArrowheads="1"/>
          </p:cNvSpPr>
          <p:nvPr/>
        </p:nvSpPr>
        <p:spPr bwMode="auto">
          <a:xfrm>
            <a:off x="1633538" y="4625975"/>
            <a:ext cx="1276350" cy="715963"/>
          </a:xfrm>
          <a:prstGeom prst="rect">
            <a:avLst/>
          </a:prstGeom>
          <a:solidFill>
            <a:srgbClr val="FF66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E</a:t>
            </a:r>
            <a:r>
              <a:rPr kumimoji="1" lang="en-US" altLang="zh-CN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 </a:t>
            </a: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运算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加密算法</a:t>
            </a:r>
          </a:p>
        </p:txBody>
      </p:sp>
      <p:sp>
        <p:nvSpPr>
          <p:cNvPr id="59" name="Rectangle 103"/>
          <p:cNvSpPr>
            <a:spLocks noChangeArrowheads="1"/>
          </p:cNvSpPr>
          <p:nvPr/>
        </p:nvSpPr>
        <p:spPr bwMode="auto">
          <a:xfrm>
            <a:off x="7158038" y="4625975"/>
            <a:ext cx="1277937" cy="715963"/>
          </a:xfrm>
          <a:prstGeom prst="rect">
            <a:avLst/>
          </a:prstGeom>
          <a:solidFill>
            <a:srgbClr val="FFFF66"/>
          </a:solidFill>
          <a:ln w="12700" algn="ctr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D </a:t>
            </a: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运算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解密算法</a:t>
            </a:r>
          </a:p>
        </p:txBody>
      </p:sp>
      <p:grpSp>
        <p:nvGrpSpPr>
          <p:cNvPr id="2044975" name="Group 104"/>
          <p:cNvGrpSpPr>
            <a:grpSpLocks/>
          </p:cNvGrpSpPr>
          <p:nvPr/>
        </p:nvGrpSpPr>
        <p:grpSpPr bwMode="auto">
          <a:xfrm>
            <a:off x="8655050" y="4148138"/>
            <a:ext cx="574675" cy="620712"/>
            <a:chOff x="921" y="2412"/>
            <a:chExt cx="284" cy="265"/>
          </a:xfrm>
        </p:grpSpPr>
        <p:grpSp>
          <p:nvGrpSpPr>
            <p:cNvPr id="2044976" name="Group 105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75" name="Freeform 106"/>
              <p:cNvSpPr/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6" name="Freeform 107"/>
              <p:cNvSpPr/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7" name="Freeform 108"/>
              <p:cNvSpPr/>
              <p:nvPr/>
            </p:nvSpPr>
            <p:spPr bwMode="auto">
              <a:xfrm>
                <a:off x="974" y="2417"/>
                <a:ext cx="184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8" name="Freeform 109"/>
              <p:cNvSpPr/>
              <p:nvPr/>
            </p:nvSpPr>
            <p:spPr bwMode="auto">
              <a:xfrm>
                <a:off x="974" y="2417"/>
                <a:ext cx="184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9" name="Rectangle 110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4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0" name="Rectangle 111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1" name="Rectangle 112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2" name="Line 113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grpSp>
            <p:nvGrpSpPr>
              <p:cNvPr id="2044985" name="Group 114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84" name="Freeform 115"/>
                <p:cNvSpPr/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5" name="Freeform 116"/>
                <p:cNvSpPr/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" name="Rectangle 117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044989" name="Group 118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3" name="Freeform 119"/>
              <p:cNvSpPr/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4" name="Freeform 120"/>
              <p:cNvSpPr/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5" name="Freeform 121"/>
              <p:cNvSpPr/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6" name="Freeform 122"/>
              <p:cNvSpPr/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7" name="Rectangle 123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8" name="Rectangle 124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9" name="Rectangle 125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0" name="Line 126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grpSp>
            <p:nvGrpSpPr>
              <p:cNvPr id="2044998" name="Group 127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72" name="Freeform 128"/>
                <p:cNvSpPr/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3" name="Freeform 129"/>
                <p:cNvSpPr/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4" name="Rectangle 130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521200" y="4803775"/>
            <a:ext cx="11128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7816850" y="3357563"/>
            <a:ext cx="17303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解密密钥 </a:t>
            </a:r>
            <a:r>
              <a:rPr kumimoji="1" lang="en-US" altLang="zh-CN" sz="24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K</a:t>
            </a:r>
          </a:p>
        </p:txBody>
      </p:sp>
      <p:pic>
        <p:nvPicPr>
          <p:cNvPr id="2045004" name="Picture 13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296944" y="3534569"/>
            <a:ext cx="7413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4" name="组合 93"/>
          <p:cNvGrpSpPr>
            <a:grpSpLocks/>
          </p:cNvGrpSpPr>
          <p:nvPr/>
        </p:nvGrpSpPr>
        <p:grpSpPr bwMode="auto">
          <a:xfrm>
            <a:off x="2674938" y="3492500"/>
            <a:ext cx="4725987" cy="584200"/>
            <a:chOff x="2674219" y="3348281"/>
            <a:chExt cx="4727052" cy="584775"/>
          </a:xfrm>
        </p:grpSpPr>
        <p:sp>
          <p:nvSpPr>
            <p:cNvPr id="2045006" name="TextBox 90"/>
            <p:cNvSpPr txBox="1">
              <a:spLocks noChangeArrowheads="1"/>
            </p:cNvSpPr>
            <p:nvPr/>
          </p:nvSpPr>
          <p:spPr bwMode="auto">
            <a:xfrm>
              <a:off x="4128559" y="3348281"/>
              <a:ext cx="183255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黑体" panose="02010609060101010101" pitchFamily="49" charset="-122"/>
                </a:rPr>
                <a:t>相同秘钥</a:t>
              </a:r>
            </a:p>
          </p:txBody>
        </p:sp>
        <p:sp>
          <p:nvSpPr>
            <p:cNvPr id="2045007" name="左箭头 92"/>
            <p:cNvSpPr>
              <a:spLocks noChangeArrowheads="1"/>
            </p:cNvSpPr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45008" name="左箭头 95"/>
            <p:cNvSpPr>
              <a:spLocks noChangeArrowheads="1"/>
            </p:cNvSpPr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04500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1B27B6-DA22-4FFD-9CE8-7B22905AED8C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204501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97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数据加密标准 </a:t>
            </a:r>
            <a:r>
              <a:rPr lang="en-US" altLang="zh-CN" smtClean="0">
                <a:ea typeface="黑体" panose="02010609060101010101" pitchFamily="49" charset="-122"/>
              </a:rPr>
              <a:t>DES</a:t>
            </a:r>
          </a:p>
        </p:txBody>
      </p:sp>
      <p:sp>
        <p:nvSpPr>
          <p:cNvPr id="238596" name="Rectangle 4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数据加密标准 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DES </a:t>
            </a:r>
            <a:r>
              <a:rPr lang="zh-CN" altLang="en-US" sz="2800" u="sng" dirty="0" smtClean="0">
                <a:ea typeface="黑体" panose="02010609060101010101" pitchFamily="49" charset="-122"/>
              </a:rPr>
              <a:t>（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Data Encryption Standard</a:t>
            </a:r>
            <a:r>
              <a:rPr lang="zh-CN" altLang="en-US" sz="2800" u="sng" dirty="0" smtClean="0">
                <a:ea typeface="黑体" panose="02010609060101010101" pitchFamily="49" charset="-122"/>
              </a:rPr>
              <a:t>）</a:t>
            </a:r>
            <a:r>
              <a:rPr lang="zh-CN" altLang="en-US" sz="2800" dirty="0" smtClean="0">
                <a:ea typeface="黑体" panose="02010609060101010101" pitchFamily="49" charset="-122"/>
              </a:rPr>
              <a:t>属于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对称密钥密码体制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en-US" sz="2800" dirty="0" smtClean="0">
                <a:ea typeface="黑体" panose="02010609060101010101" pitchFamily="49" charset="-122"/>
              </a:rPr>
              <a:t>是一种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分组密码。</a:t>
            </a: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在加密前，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先</a:t>
            </a:r>
            <a:r>
              <a:rPr lang="zh-CN" altLang="en-US" sz="2800" dirty="0" smtClean="0">
                <a:ea typeface="黑体" panose="02010609060101010101" pitchFamily="49" charset="-122"/>
              </a:rPr>
              <a:t>对整个明文进行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分组</a:t>
            </a:r>
            <a:r>
              <a:rPr lang="zh-CN" altLang="en-US" sz="2800" dirty="0" smtClean="0">
                <a:ea typeface="黑体" panose="02010609060101010101" pitchFamily="49" charset="-122"/>
              </a:rPr>
              <a:t>。每一个组长为 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64 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位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然后对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每一个 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64 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位 </a:t>
            </a:r>
            <a:r>
              <a:rPr lang="zh-CN" altLang="en-US" sz="2800" dirty="0" smtClean="0">
                <a:ea typeface="黑体" panose="02010609060101010101" pitchFamily="49" charset="-122"/>
              </a:rPr>
              <a:t>二进制数据进行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加密</a:t>
            </a:r>
            <a:r>
              <a:rPr lang="zh-CN" altLang="en-US" sz="2800" dirty="0" smtClean="0">
                <a:ea typeface="黑体" panose="02010609060101010101" pitchFamily="49" charset="-122"/>
              </a:rPr>
              <a:t>处理，产生一组 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64 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位密文</a:t>
            </a:r>
            <a:r>
              <a:rPr lang="zh-CN" altLang="en-US" sz="2800" dirty="0" smtClean="0">
                <a:ea typeface="黑体" panose="02010609060101010101" pitchFamily="49" charset="-122"/>
              </a:rPr>
              <a:t>数据。</a:t>
            </a: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最后将各组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密文串接</a:t>
            </a:r>
            <a:r>
              <a:rPr lang="zh-CN" altLang="en-US" sz="2800" dirty="0" smtClean="0">
                <a:ea typeface="黑体" panose="02010609060101010101" pitchFamily="49" charset="-122"/>
              </a:rPr>
              <a:t>起来，即得出整个的密文。</a:t>
            </a: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使用的密钥为 </a:t>
            </a:r>
            <a:r>
              <a:rPr lang="en-US" altLang="zh-CN" sz="2800" dirty="0" smtClean="0">
                <a:ea typeface="黑体" panose="02010609060101010101" pitchFamily="49" charset="-122"/>
              </a:rPr>
              <a:t>64 </a:t>
            </a:r>
            <a:r>
              <a:rPr lang="zh-CN" altLang="en-US" sz="2800" dirty="0" smtClean="0">
                <a:ea typeface="黑体" panose="02010609060101010101" pitchFamily="49" charset="-122"/>
              </a:rPr>
              <a:t>位（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实际密钥长度为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56 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位，</a:t>
            </a:r>
            <a:r>
              <a:rPr lang="zh-CN" altLang="en-US" sz="2800" dirty="0" smtClean="0">
                <a:ea typeface="黑体" panose="02010609060101010101" pitchFamily="49" charset="-122"/>
              </a:rPr>
              <a:t>有 </a:t>
            </a:r>
            <a:r>
              <a:rPr lang="en-US" altLang="zh-CN" sz="2800" dirty="0" smtClean="0">
                <a:ea typeface="黑体" panose="02010609060101010101" pitchFamily="49" charset="-122"/>
              </a:rPr>
              <a:t>8 </a:t>
            </a:r>
            <a:r>
              <a:rPr lang="zh-CN" altLang="en-US" sz="2800" dirty="0" smtClean="0">
                <a:ea typeface="黑体" panose="02010609060101010101" pitchFamily="49" charset="-122"/>
              </a:rPr>
              <a:t>位用于奇偶校验</a:t>
            </a:r>
            <a:r>
              <a:rPr lang="en-US" altLang="zh-CN" sz="2800" dirty="0" smtClean="0">
                <a:ea typeface="黑体" panose="02010609060101010101" pitchFamily="49" charset="-122"/>
              </a:rPr>
              <a:t>)</a:t>
            </a:r>
            <a:r>
              <a:rPr lang="zh-CN" altLang="en-US" sz="2800" dirty="0" smtClean="0">
                <a:ea typeface="黑体" panose="02010609060101010101" pitchFamily="49" charset="-122"/>
              </a:rPr>
              <a:t>。  </a:t>
            </a:r>
            <a:endParaRPr lang="en-US" altLang="zh-CN" sz="2800" dirty="0" smtClean="0">
              <a:ea typeface="黑体" panose="02010609060101010101" pitchFamily="49" charset="-122"/>
            </a:endParaRPr>
          </a:p>
        </p:txBody>
      </p:sp>
      <p:sp>
        <p:nvSpPr>
          <p:cNvPr id="204697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63CFE41-7310-40CD-9C45-02441CC071E8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204698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01" name="标题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数据加密标准 </a:t>
            </a:r>
            <a:r>
              <a:rPr lang="en-US" altLang="zh-CN" smtClean="0">
                <a:ea typeface="黑体" panose="02010609060101010101" pitchFamily="49" charset="-122"/>
              </a:rPr>
              <a:t>DES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pSp>
        <p:nvGrpSpPr>
          <p:cNvPr id="2048002" name="Group 5"/>
          <p:cNvGrpSpPr>
            <a:grpSpLocks/>
          </p:cNvGrpSpPr>
          <p:nvPr/>
        </p:nvGrpSpPr>
        <p:grpSpPr bwMode="auto">
          <a:xfrm>
            <a:off x="2649538" y="1196975"/>
            <a:ext cx="5400675" cy="5189538"/>
            <a:chOff x="1104" y="768"/>
            <a:chExt cx="3312" cy="3088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104" y="1456"/>
              <a:ext cx="2256" cy="139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248" y="1600"/>
              <a:ext cx="100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L</a:t>
              </a:r>
              <a:r>
                <a:rPr lang="en-US" altLang="zh-CN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(32</a:t>
              </a: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en-US" altLang="zh-CN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256" y="1600"/>
              <a:ext cx="960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(32</a:t>
              </a: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zh-CN" altLang="en-US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286" y="774"/>
              <a:ext cx="83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64 位明文</a:t>
              </a:r>
              <a:endParaRPr kumimoji="1" lang="en-US" altLang="zh-CN" sz="2000" b="1" kern="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226" y="3184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226" y="3568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H="1">
              <a:off x="1872" y="1136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V="1">
              <a:off x="2256" y="1184"/>
              <a:ext cx="0" cy="19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680" y="1376"/>
              <a:ext cx="115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256" y="784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824" y="768"/>
              <a:ext cx="4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输入</a:t>
              </a: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1248" y="1024"/>
              <a:ext cx="1968" cy="208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初始置换 </a:t>
              </a:r>
              <a:r>
                <a:rPr kumimoji="1" lang="en-US" altLang="zh-CN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IP</a:t>
              </a:r>
              <a:endParaRPr kumimoji="1" lang="en-US" altLang="zh-CN" sz="2000" b="1" kern="0" baseline="-2500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2256" y="3574"/>
              <a:ext cx="83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64 位密文</a:t>
              </a:r>
              <a:endParaRPr kumimoji="1" lang="en-US" altLang="zh-CN" sz="2000" b="1" kern="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794" y="356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输出</a:t>
              </a: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1248" y="2992"/>
              <a:ext cx="1968" cy="193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32 位变换</a:t>
              </a:r>
              <a:endParaRPr kumimoji="1" lang="en-US" altLang="zh-CN" sz="2000" b="1" kern="0" baseline="3000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1680" y="1376"/>
              <a:ext cx="0" cy="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832" y="1376"/>
              <a:ext cx="0" cy="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1672" y="275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2824" y="275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1248" y="3376"/>
              <a:ext cx="1968" cy="192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末置换 </a:t>
              </a:r>
              <a:r>
                <a:rPr kumimoji="1" lang="en-US" altLang="zh-CN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IP</a:t>
              </a:r>
              <a:r>
                <a:rPr kumimoji="1" lang="en-US" altLang="zh-CN" sz="2000" b="1" kern="0" baseline="3000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-1</a:t>
              </a: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248" y="1792"/>
              <a:ext cx="19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第1轮计算</a:t>
              </a:r>
              <a:endParaRPr lang="zh-CN" altLang="en-US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1248" y="2368"/>
              <a:ext cx="100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L</a:t>
              </a:r>
              <a:r>
                <a:rPr lang="en-US" altLang="zh-CN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15</a:t>
              </a:r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(32</a:t>
              </a: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en-US" altLang="zh-CN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2256" y="2368"/>
              <a:ext cx="960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15</a:t>
              </a:r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(32</a:t>
              </a: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zh-CN" altLang="en-US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1248" y="2560"/>
              <a:ext cx="19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第 16 轮计算</a:t>
              </a:r>
              <a:endParaRPr lang="zh-CN" altLang="en-US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1526" y="1984"/>
              <a:ext cx="34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>
                  <a:solidFill>
                    <a:sysClr val="windowText" lastClr="000000"/>
                  </a:solidFill>
                  <a:latin typeface="Times New Roman" panose="02020603050405020304"/>
                </a:rPr>
                <a:t>…</a:t>
              </a:r>
              <a:endParaRPr kumimoji="1" lang="zh-CN" altLang="en-US" sz="2400" b="1" kern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1632" y="2224"/>
              <a:ext cx="0" cy="1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2688" y="1984"/>
              <a:ext cx="34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>
                  <a:solidFill>
                    <a:sysClr val="windowText" lastClr="000000"/>
                  </a:solidFill>
                  <a:latin typeface="Times New Roman" panose="02020603050405020304"/>
                </a:rPr>
                <a:t>…</a:t>
              </a:r>
              <a:endParaRPr kumimoji="1" lang="zh-CN" altLang="en-US" sz="2400" b="1" kern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2794" y="2224"/>
              <a:ext cx="0" cy="1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4176" y="1456"/>
              <a:ext cx="240" cy="1392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56</a:t>
              </a:r>
            </a:p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</a:t>
              </a:r>
            </a:p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密</a:t>
              </a:r>
            </a:p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钥</a:t>
              </a:r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H="1">
              <a:off x="3216" y="1888"/>
              <a:ext cx="9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 flipH="1">
              <a:off x="3216" y="2656"/>
              <a:ext cx="9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3350" y="1652"/>
              <a:ext cx="8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(48</a:t>
              </a:r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3350" y="2406"/>
              <a:ext cx="8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16</a:t>
              </a:r>
              <a:r>
                <a:rPr lang="en-US" altLang="zh-CN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(48</a:t>
              </a:r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</a:p>
          </p:txBody>
        </p:sp>
      </p:grpSp>
      <p:sp>
        <p:nvSpPr>
          <p:cNvPr id="2048036" name="灯片编号占位符 3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FA8683-7EAD-4CD1-B7EB-B03214484B7C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2048037" name="页脚占位符 39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0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z="4800" smtClean="0">
                <a:ea typeface="黑体" panose="02010609060101010101" pitchFamily="49" charset="-122"/>
              </a:rPr>
              <a:t>DES </a:t>
            </a:r>
            <a:r>
              <a:rPr lang="zh-CN" altLang="en-US" sz="4800" smtClean="0">
                <a:ea typeface="黑体" panose="02010609060101010101" pitchFamily="49" charset="-122"/>
              </a:rPr>
              <a:t>的保密性</a:t>
            </a:r>
          </a:p>
        </p:txBody>
      </p:sp>
      <p:sp>
        <p:nvSpPr>
          <p:cNvPr id="54477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DES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的保密性仅取决于对密钥的保密，</a:t>
            </a:r>
            <a:r>
              <a:rPr lang="zh-CN" altLang="en-US" smtClean="0">
                <a:ea typeface="黑体" panose="02010609060101010101" pitchFamily="49" charset="-122"/>
              </a:rPr>
              <a:t>其算法是公开的。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ea typeface="黑体" panose="02010609060101010101" pitchFamily="49" charset="-122"/>
              </a:rPr>
              <a:t>目前较为严重的问题是 </a:t>
            </a:r>
            <a:r>
              <a:rPr lang="en-US" altLang="zh-CN" smtClean="0">
                <a:ea typeface="黑体" panose="02010609060101010101" pitchFamily="49" charset="-122"/>
              </a:rPr>
              <a:t>DES </a:t>
            </a:r>
            <a:r>
              <a:rPr lang="zh-CN" altLang="en-US" smtClean="0">
                <a:ea typeface="黑体" panose="02010609060101010101" pitchFamily="49" charset="-122"/>
              </a:rPr>
              <a:t>的密钥的长度。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ea typeface="黑体" panose="02010609060101010101" pitchFamily="49" charset="-122"/>
              </a:rPr>
              <a:t>现在已经设计出搜索 </a:t>
            </a:r>
            <a:r>
              <a:rPr lang="en-US" altLang="zh-CN" smtClean="0">
                <a:ea typeface="黑体" panose="02010609060101010101" pitchFamily="49" charset="-122"/>
              </a:rPr>
              <a:t>DES </a:t>
            </a:r>
            <a:r>
              <a:rPr lang="zh-CN" altLang="en-US" smtClean="0">
                <a:ea typeface="黑体" panose="02010609060101010101" pitchFamily="49" charset="-122"/>
              </a:rPr>
              <a:t>密钥的专用芯片。</a:t>
            </a:r>
            <a:r>
              <a:rPr lang="en-US" altLang="zh-CN" sz="3600" smtClean="0">
                <a:ea typeface="黑体" panose="02010609060101010101" pitchFamily="49" charset="-122"/>
              </a:rPr>
              <a:t>56</a:t>
            </a:r>
            <a:r>
              <a:rPr lang="zh-CN" altLang="zh-CN" sz="3600" smtClean="0">
                <a:ea typeface="黑体" panose="02010609060101010101" pitchFamily="49" charset="-122"/>
              </a:rPr>
              <a:t>位</a:t>
            </a:r>
            <a:r>
              <a:rPr lang="en-US" altLang="zh-CN" sz="3600" smtClean="0">
                <a:ea typeface="黑体" panose="02010609060101010101" pitchFamily="49" charset="-122"/>
              </a:rPr>
              <a:t> DES </a:t>
            </a:r>
            <a:r>
              <a:rPr lang="zh-CN" altLang="zh-CN" sz="3600" smtClean="0">
                <a:ea typeface="黑体" panose="02010609060101010101" pitchFamily="49" charset="-122"/>
              </a:rPr>
              <a:t>已不再认为是安全的了</a:t>
            </a:r>
            <a:r>
              <a:rPr lang="zh-CN" altLang="en-US" sz="3600" smtClean="0">
                <a:ea typeface="黑体" panose="02010609060101010101" pitchFamily="49" charset="-122"/>
              </a:rPr>
              <a:t>。  </a:t>
            </a:r>
            <a:r>
              <a:rPr lang="zh-CN" altLang="en-US" smtClean="0"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20500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B57947-86C6-4952-A10C-17EDBE2016A5}" type="slidenum">
              <a:rPr lang="zh-CN" altLang="en-US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20500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09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三重 </a:t>
            </a:r>
            <a:r>
              <a:rPr lang="en-US" altLang="zh-CN" smtClean="0">
                <a:ea typeface="黑体" panose="02010609060101010101" pitchFamily="49" charset="-122"/>
              </a:rPr>
              <a:t>DES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5209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使用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两个 </a:t>
            </a:r>
            <a:r>
              <a:rPr lang="en-US" altLang="zh-CN" smtClean="0">
                <a:ea typeface="黑体" panose="02010609060101010101" pitchFamily="49" charset="-122"/>
              </a:rPr>
              <a:t>56 </a:t>
            </a:r>
            <a:r>
              <a:rPr lang="zh-CN" altLang="en-US" smtClean="0">
                <a:ea typeface="黑体" panose="02010609060101010101" pitchFamily="49" charset="-122"/>
              </a:rPr>
              <a:t>位的密钥。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把一个</a:t>
            </a:r>
            <a:r>
              <a:rPr lang="en-US" altLang="zh-CN" smtClean="0">
                <a:ea typeface="黑体" panose="02010609060101010101" pitchFamily="49" charset="-122"/>
              </a:rPr>
              <a:t> 64 </a:t>
            </a:r>
            <a:r>
              <a:rPr lang="zh-CN" altLang="zh-CN" smtClean="0">
                <a:ea typeface="黑体" panose="02010609060101010101" pitchFamily="49" charset="-122"/>
              </a:rPr>
              <a:t>位明文用一个密钥加密，再用另一个密钥解密，然后再使用第一个密钥加密，即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pSp>
        <p:nvGrpSpPr>
          <p:cNvPr id="2052099" name="Group 4"/>
          <p:cNvGrpSpPr>
            <a:grpSpLocks/>
          </p:cNvGrpSpPr>
          <p:nvPr/>
        </p:nvGrpSpPr>
        <p:grpSpPr bwMode="auto">
          <a:xfrm>
            <a:off x="788988" y="4005263"/>
            <a:ext cx="3803650" cy="1865312"/>
            <a:chOff x="1470" y="1026"/>
            <a:chExt cx="2396" cy="1175"/>
          </a:xfrm>
        </p:grpSpPr>
        <p:sp>
          <p:nvSpPr>
            <p:cNvPr id="2052100" name="Rectangle 5"/>
            <p:cNvSpPr>
              <a:spLocks noChangeArrowheads="1"/>
            </p:cNvSpPr>
            <p:nvPr/>
          </p:nvSpPr>
          <p:spPr bwMode="auto">
            <a:xfrm>
              <a:off x="1860" y="1510"/>
              <a:ext cx="276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E</a:t>
              </a:r>
            </a:p>
          </p:txBody>
        </p:sp>
        <p:sp>
          <p:nvSpPr>
            <p:cNvPr id="2052101" name="Rectangle 6"/>
            <p:cNvSpPr>
              <a:spLocks noChangeArrowheads="1"/>
            </p:cNvSpPr>
            <p:nvPr/>
          </p:nvSpPr>
          <p:spPr bwMode="auto">
            <a:xfrm>
              <a:off x="2503" y="1510"/>
              <a:ext cx="275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2052102" name="Rectangle 7"/>
            <p:cNvSpPr>
              <a:spLocks noChangeArrowheads="1"/>
            </p:cNvSpPr>
            <p:nvPr/>
          </p:nvSpPr>
          <p:spPr bwMode="auto">
            <a:xfrm>
              <a:off x="3145" y="1510"/>
              <a:ext cx="276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E</a:t>
              </a:r>
            </a:p>
          </p:txBody>
        </p:sp>
        <p:sp>
          <p:nvSpPr>
            <p:cNvPr id="2052103" name="Line 8"/>
            <p:cNvSpPr>
              <a:spLocks noChangeShapeType="1"/>
            </p:cNvSpPr>
            <p:nvPr/>
          </p:nvSpPr>
          <p:spPr bwMode="auto">
            <a:xfrm>
              <a:off x="1524" y="1642"/>
              <a:ext cx="33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04" name="Line 9"/>
            <p:cNvSpPr>
              <a:spLocks noChangeShapeType="1"/>
            </p:cNvSpPr>
            <p:nvPr/>
          </p:nvSpPr>
          <p:spPr bwMode="auto">
            <a:xfrm>
              <a:off x="2136" y="1642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05" name="Line 10"/>
            <p:cNvSpPr>
              <a:spLocks noChangeShapeType="1"/>
            </p:cNvSpPr>
            <p:nvPr/>
          </p:nvSpPr>
          <p:spPr bwMode="auto">
            <a:xfrm>
              <a:off x="2778" y="1642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06" name="Line 11"/>
            <p:cNvSpPr>
              <a:spLocks noChangeShapeType="1"/>
            </p:cNvSpPr>
            <p:nvPr/>
          </p:nvSpPr>
          <p:spPr bwMode="auto">
            <a:xfrm>
              <a:off x="3421" y="1642"/>
              <a:ext cx="3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07" name="Line 12"/>
            <p:cNvSpPr>
              <a:spLocks noChangeShapeType="1"/>
            </p:cNvSpPr>
            <p:nvPr/>
          </p:nvSpPr>
          <p:spPr bwMode="auto">
            <a:xfrm rot="5400000">
              <a:off x="1883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08" name="Line 13"/>
            <p:cNvSpPr>
              <a:spLocks noChangeShapeType="1"/>
            </p:cNvSpPr>
            <p:nvPr/>
          </p:nvSpPr>
          <p:spPr bwMode="auto">
            <a:xfrm rot="5400000">
              <a:off x="2525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09" name="Line 14"/>
            <p:cNvSpPr>
              <a:spLocks noChangeShapeType="1"/>
            </p:cNvSpPr>
            <p:nvPr/>
          </p:nvSpPr>
          <p:spPr bwMode="auto">
            <a:xfrm rot="5400000">
              <a:off x="3167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10" name="Text Box 15"/>
            <p:cNvSpPr txBox="1">
              <a:spLocks noChangeArrowheads="1"/>
            </p:cNvSpPr>
            <p:nvPr/>
          </p:nvSpPr>
          <p:spPr bwMode="auto">
            <a:xfrm>
              <a:off x="1904" y="1026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11" name="Text Box 16"/>
            <p:cNvSpPr txBox="1">
              <a:spLocks noChangeArrowheads="1"/>
            </p:cNvSpPr>
            <p:nvPr/>
          </p:nvSpPr>
          <p:spPr bwMode="auto">
            <a:xfrm>
              <a:off x="2531" y="1026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12" name="Text Box 17"/>
            <p:cNvSpPr txBox="1">
              <a:spLocks noChangeArrowheads="1"/>
            </p:cNvSpPr>
            <p:nvPr/>
          </p:nvSpPr>
          <p:spPr bwMode="auto">
            <a:xfrm>
              <a:off x="3181" y="1026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13" name="Text Box 18"/>
            <p:cNvSpPr txBox="1">
              <a:spLocks noChangeArrowheads="1"/>
            </p:cNvSpPr>
            <p:nvPr/>
          </p:nvSpPr>
          <p:spPr bwMode="auto">
            <a:xfrm>
              <a:off x="1470" y="1349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明文</a:t>
              </a:r>
            </a:p>
          </p:txBody>
        </p:sp>
        <p:sp>
          <p:nvSpPr>
            <p:cNvPr id="2052114" name="Text Box 19"/>
            <p:cNvSpPr txBox="1">
              <a:spLocks noChangeArrowheads="1"/>
            </p:cNvSpPr>
            <p:nvPr/>
          </p:nvSpPr>
          <p:spPr bwMode="auto">
            <a:xfrm>
              <a:off x="3428" y="1356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密文</a:t>
              </a:r>
            </a:p>
          </p:txBody>
        </p:sp>
        <p:sp>
          <p:nvSpPr>
            <p:cNvPr id="2052115" name="Text Box 20"/>
            <p:cNvSpPr txBox="1">
              <a:spLocks noChangeArrowheads="1"/>
            </p:cNvSpPr>
            <p:nvPr/>
          </p:nvSpPr>
          <p:spPr bwMode="auto">
            <a:xfrm>
              <a:off x="2342" y="1871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加密</a:t>
              </a:r>
            </a:p>
          </p:txBody>
        </p:sp>
      </p:grpSp>
      <p:grpSp>
        <p:nvGrpSpPr>
          <p:cNvPr id="2052116" name="Group 21"/>
          <p:cNvGrpSpPr>
            <a:grpSpLocks/>
          </p:cNvGrpSpPr>
          <p:nvPr/>
        </p:nvGrpSpPr>
        <p:grpSpPr bwMode="auto">
          <a:xfrm>
            <a:off x="5613400" y="4005263"/>
            <a:ext cx="3803650" cy="1865312"/>
            <a:chOff x="1432" y="2387"/>
            <a:chExt cx="2396" cy="1175"/>
          </a:xfrm>
        </p:grpSpPr>
        <p:sp>
          <p:nvSpPr>
            <p:cNvPr id="2052117" name="Rectangle 22"/>
            <p:cNvSpPr>
              <a:spLocks noChangeArrowheads="1"/>
            </p:cNvSpPr>
            <p:nvPr/>
          </p:nvSpPr>
          <p:spPr bwMode="auto">
            <a:xfrm>
              <a:off x="1822" y="2871"/>
              <a:ext cx="276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2052118" name="Rectangle 23"/>
            <p:cNvSpPr>
              <a:spLocks noChangeArrowheads="1"/>
            </p:cNvSpPr>
            <p:nvPr/>
          </p:nvSpPr>
          <p:spPr bwMode="auto">
            <a:xfrm>
              <a:off x="2465" y="2871"/>
              <a:ext cx="275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E</a:t>
              </a:r>
            </a:p>
          </p:txBody>
        </p:sp>
        <p:sp>
          <p:nvSpPr>
            <p:cNvPr id="2052119" name="Rectangle 24"/>
            <p:cNvSpPr>
              <a:spLocks noChangeArrowheads="1"/>
            </p:cNvSpPr>
            <p:nvPr/>
          </p:nvSpPr>
          <p:spPr bwMode="auto">
            <a:xfrm>
              <a:off x="3107" y="2871"/>
              <a:ext cx="276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2052120" name="Line 25"/>
            <p:cNvSpPr>
              <a:spLocks noChangeShapeType="1"/>
            </p:cNvSpPr>
            <p:nvPr/>
          </p:nvSpPr>
          <p:spPr bwMode="auto">
            <a:xfrm>
              <a:off x="1486" y="3003"/>
              <a:ext cx="33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1" name="Line 26"/>
            <p:cNvSpPr>
              <a:spLocks noChangeShapeType="1"/>
            </p:cNvSpPr>
            <p:nvPr/>
          </p:nvSpPr>
          <p:spPr bwMode="auto">
            <a:xfrm>
              <a:off x="2098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2" name="Line 27"/>
            <p:cNvSpPr>
              <a:spLocks noChangeShapeType="1"/>
            </p:cNvSpPr>
            <p:nvPr/>
          </p:nvSpPr>
          <p:spPr bwMode="auto">
            <a:xfrm>
              <a:off x="2740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3" name="Line 28"/>
            <p:cNvSpPr>
              <a:spLocks noChangeShapeType="1"/>
            </p:cNvSpPr>
            <p:nvPr/>
          </p:nvSpPr>
          <p:spPr bwMode="auto">
            <a:xfrm>
              <a:off x="3383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4" name="Freeform 29"/>
            <p:cNvSpPr>
              <a:spLocks noChangeArrowheads="1"/>
            </p:cNvSpPr>
            <p:nvPr/>
          </p:nvSpPr>
          <p:spPr bwMode="auto">
            <a:xfrm>
              <a:off x="1961" y="2644"/>
              <a:ext cx="2" cy="227"/>
            </a:xfrm>
            <a:custGeom>
              <a:avLst/>
              <a:gdLst>
                <a:gd name="T0" fmla="*/ 0 w 3"/>
                <a:gd name="T1" fmla="*/ 0 h 249"/>
                <a:gd name="T2" fmla="*/ 3 w 3"/>
                <a:gd name="T3" fmla="*/ 24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9">
                  <a:moveTo>
                    <a:pt x="0" y="0"/>
                  </a:moveTo>
                  <a:lnTo>
                    <a:pt x="3" y="24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5" name="Freeform 30"/>
            <p:cNvSpPr>
              <a:spLocks noChangeArrowheads="1"/>
            </p:cNvSpPr>
            <p:nvPr/>
          </p:nvSpPr>
          <p:spPr bwMode="auto">
            <a:xfrm>
              <a:off x="2603" y="2644"/>
              <a:ext cx="3" cy="235"/>
            </a:xfrm>
            <a:custGeom>
              <a:avLst/>
              <a:gdLst>
                <a:gd name="T0" fmla="*/ 0 w 3"/>
                <a:gd name="T1" fmla="*/ 0 h 257"/>
                <a:gd name="T2" fmla="*/ 3 w 3"/>
                <a:gd name="T3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7">
                  <a:moveTo>
                    <a:pt x="0" y="0"/>
                  </a:moveTo>
                  <a:lnTo>
                    <a:pt x="3" y="257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6" name="Text Box 31"/>
            <p:cNvSpPr txBox="1">
              <a:spLocks noChangeArrowheads="1"/>
            </p:cNvSpPr>
            <p:nvPr/>
          </p:nvSpPr>
          <p:spPr bwMode="auto">
            <a:xfrm>
              <a:off x="1866" y="2387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7" name="Text Box 32"/>
            <p:cNvSpPr txBox="1">
              <a:spLocks noChangeArrowheads="1"/>
            </p:cNvSpPr>
            <p:nvPr/>
          </p:nvSpPr>
          <p:spPr bwMode="auto">
            <a:xfrm>
              <a:off x="2494" y="2387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8" name="Text Box 33"/>
            <p:cNvSpPr txBox="1">
              <a:spLocks noChangeArrowheads="1"/>
            </p:cNvSpPr>
            <p:nvPr/>
          </p:nvSpPr>
          <p:spPr bwMode="auto">
            <a:xfrm>
              <a:off x="3143" y="2387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129" name="Text Box 34"/>
            <p:cNvSpPr txBox="1">
              <a:spLocks noChangeArrowheads="1"/>
            </p:cNvSpPr>
            <p:nvPr/>
          </p:nvSpPr>
          <p:spPr bwMode="auto">
            <a:xfrm>
              <a:off x="1432" y="2710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密文</a:t>
              </a:r>
            </a:p>
          </p:txBody>
        </p:sp>
        <p:sp>
          <p:nvSpPr>
            <p:cNvPr id="2052130" name="Text Box 35"/>
            <p:cNvSpPr txBox="1">
              <a:spLocks noChangeArrowheads="1"/>
            </p:cNvSpPr>
            <p:nvPr/>
          </p:nvSpPr>
          <p:spPr bwMode="auto">
            <a:xfrm>
              <a:off x="3390" y="2717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明文</a:t>
              </a:r>
            </a:p>
          </p:txBody>
        </p:sp>
        <p:sp>
          <p:nvSpPr>
            <p:cNvPr id="2052131" name="Text Box 36"/>
            <p:cNvSpPr txBox="1">
              <a:spLocks noChangeArrowheads="1"/>
            </p:cNvSpPr>
            <p:nvPr/>
          </p:nvSpPr>
          <p:spPr bwMode="auto">
            <a:xfrm>
              <a:off x="2304" y="3232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解密</a:t>
              </a:r>
            </a:p>
          </p:txBody>
        </p:sp>
        <p:sp>
          <p:nvSpPr>
            <p:cNvPr id="2052132" name="Freeform 37"/>
            <p:cNvSpPr>
              <a:spLocks noChangeArrowheads="1"/>
            </p:cNvSpPr>
            <p:nvPr/>
          </p:nvSpPr>
          <p:spPr bwMode="auto">
            <a:xfrm>
              <a:off x="3245" y="2644"/>
              <a:ext cx="3" cy="221"/>
            </a:xfrm>
            <a:custGeom>
              <a:avLst/>
              <a:gdLst>
                <a:gd name="T0" fmla="*/ 0 w 3"/>
                <a:gd name="T1" fmla="*/ 0 h 241"/>
                <a:gd name="T2" fmla="*/ 3 w 3"/>
                <a:gd name="T3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1">
                  <a:moveTo>
                    <a:pt x="0" y="0"/>
                  </a:moveTo>
                  <a:lnTo>
                    <a:pt x="3" y="241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052133" name="矩形 37"/>
          <p:cNvSpPr>
            <a:spLocks noChangeArrowheads="1"/>
          </p:cNvSpPr>
          <p:nvPr/>
        </p:nvSpPr>
        <p:spPr bwMode="auto">
          <a:xfrm>
            <a:off x="1306513" y="3041650"/>
            <a:ext cx="7488237" cy="72072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49" charset="-122"/>
              </a:rPr>
              <a:t>Y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 = </a:t>
            </a:r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49" charset="-122"/>
              </a:rPr>
              <a:t>DES</a:t>
            </a:r>
            <a:r>
              <a:rPr lang="en-GB" altLang="zh-CN" sz="3200" b="1" i="1" baseline="-25000">
                <a:solidFill>
                  <a:srgbClr val="000099"/>
                </a:solidFill>
                <a:ea typeface="黑体" panose="02010609060101010101" pitchFamily="49" charset="-122"/>
              </a:rPr>
              <a:t>K</a:t>
            </a:r>
            <a:r>
              <a:rPr lang="en-GB" altLang="zh-CN" sz="32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(</a:t>
            </a:r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49" charset="-122"/>
              </a:rPr>
              <a:t>DES</a:t>
            </a:r>
            <a:r>
              <a:rPr lang="en-GB" altLang="zh-CN" sz="3200" b="1" baseline="30000">
                <a:solidFill>
                  <a:srgbClr val="000099"/>
                </a:solidFill>
                <a:ea typeface="黑体" panose="02010609060101010101" pitchFamily="49" charset="-122"/>
              </a:rPr>
              <a:t>-1</a:t>
            </a:r>
            <a:r>
              <a:rPr lang="en-GB" altLang="zh-CN" sz="3200" b="1" i="1" baseline="-25000">
                <a:solidFill>
                  <a:srgbClr val="000099"/>
                </a:solidFill>
                <a:ea typeface="黑体" panose="02010609060101010101" pitchFamily="49" charset="-122"/>
              </a:rPr>
              <a:t>K</a:t>
            </a:r>
            <a:r>
              <a:rPr lang="en-GB" altLang="zh-CN" sz="32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(</a:t>
            </a:r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49" charset="-122"/>
              </a:rPr>
              <a:t>DES</a:t>
            </a:r>
            <a:r>
              <a:rPr lang="en-GB" altLang="zh-CN" sz="32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K1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(</a:t>
            </a:r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)))</a:t>
            </a:r>
            <a:endParaRPr lang="zh-CN" altLang="en-US" sz="32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52134" name="灯片编号占位符 4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1E04069-65B0-4447-BB67-2E1805F4FBD3}" type="slidenum">
              <a:rPr lang="zh-CN" altLang="en-US" smtClean="0"/>
              <a:pPr eaLnBrk="1" hangingPunct="1"/>
              <a:t>23</a:t>
            </a:fld>
            <a:endParaRPr lang="en-US" altLang="zh-CN" smtClean="0"/>
          </a:p>
        </p:txBody>
      </p:sp>
      <p:sp>
        <p:nvSpPr>
          <p:cNvPr id="2052135" name="页脚占位符 41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14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49" charset="-122"/>
              </a:rPr>
              <a:t>7.2.2  </a:t>
            </a:r>
            <a:r>
              <a:rPr lang="zh-CN" altLang="en-US" sz="4800" smtClean="0">
                <a:ea typeface="黑体" panose="02010609060101010101" pitchFamily="49" charset="-122"/>
              </a:rPr>
              <a:t>公钥密码体制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55091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公钥密码体制</a:t>
            </a:r>
            <a:r>
              <a:rPr lang="zh-CN" altLang="zh-CN" dirty="0" smtClean="0">
                <a:ea typeface="黑体" panose="02010609060101010101" pitchFamily="49" charset="-122"/>
              </a:rPr>
              <a:t>（又称为公开密钥密码体制）</a:t>
            </a:r>
            <a:r>
              <a:rPr lang="zh-CN" altLang="en-US" dirty="0" smtClean="0">
                <a:ea typeface="黑体" panose="02010609060101010101" pitchFamily="49" charset="-122"/>
              </a:rPr>
              <a:t>使用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不同的加密密钥与解密密钥，</a:t>
            </a:r>
            <a:r>
              <a:rPr lang="zh-CN" altLang="en-US" dirty="0" smtClean="0">
                <a:ea typeface="黑体" panose="02010609060101010101" pitchFamily="49" charset="-122"/>
              </a:rPr>
              <a:t>是一种“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由已知加密密钥推导出解密密钥在计算上是不可行的</a:t>
            </a:r>
            <a:r>
              <a:rPr lang="zh-CN" altLang="en-US" dirty="0" smtClean="0">
                <a:ea typeface="黑体" panose="02010609060101010101" pitchFamily="49" charset="-122"/>
              </a:rPr>
              <a:t>”密码体制。 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公钥密码体制产生的主要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原因：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常规密钥密码体制的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密钥分配</a:t>
            </a:r>
            <a:r>
              <a:rPr lang="zh-CN" altLang="en-US" dirty="0" smtClean="0">
                <a:ea typeface="黑体" panose="02010609060101010101" pitchFamily="49" charset="-122"/>
              </a:rPr>
              <a:t>问题。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对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数字签名</a:t>
            </a:r>
            <a:r>
              <a:rPr lang="zh-CN" altLang="en-US" dirty="0" smtClean="0">
                <a:ea typeface="黑体" panose="02010609060101010101" pitchFamily="49" charset="-122"/>
              </a:rPr>
              <a:t>的需求。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05414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8AAB23-7371-4CD0-8DCA-5C25EFB6773C}" type="slidenum">
              <a:rPr lang="zh-CN" altLang="en-US" smtClean="0"/>
              <a:pPr eaLnBrk="1" hangingPunct="1"/>
              <a:t>24</a:t>
            </a:fld>
            <a:endParaRPr lang="en-US" altLang="zh-CN" smtClean="0"/>
          </a:p>
        </p:txBody>
      </p:sp>
      <p:sp>
        <p:nvSpPr>
          <p:cNvPr id="205414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1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加密密钥与解密密钥 </a:t>
            </a:r>
          </a:p>
        </p:txBody>
      </p:sp>
      <p:sp>
        <p:nvSpPr>
          <p:cNvPr id="552963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在公钥密码体制中，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加密密钥</a:t>
            </a:r>
            <a:r>
              <a:rPr lang="en-US" altLang="zh-CN" smtClean="0">
                <a:ea typeface="黑体" panose="02010609060101010101" pitchFamily="49" charset="-122"/>
              </a:rPr>
              <a:t>(</a:t>
            </a:r>
            <a:r>
              <a:rPr lang="zh-CN" altLang="en-US" smtClean="0">
                <a:ea typeface="黑体" panose="02010609060101010101" pitchFamily="49" charset="-122"/>
              </a:rPr>
              <a:t>即公钥</a:t>
            </a:r>
            <a:r>
              <a:rPr lang="en-US" altLang="zh-CN" smtClean="0">
                <a:ea typeface="黑体" panose="02010609060101010101" pitchFamily="49" charset="-122"/>
              </a:rPr>
              <a:t>) PK </a:t>
            </a:r>
            <a:r>
              <a:rPr lang="zh-CN" altLang="en-US" smtClean="0">
                <a:ea typeface="黑体" panose="02010609060101010101" pitchFamily="49" charset="-122"/>
              </a:rPr>
              <a:t>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公开</a:t>
            </a:r>
            <a:r>
              <a:rPr lang="zh-CN" altLang="en-US" smtClean="0">
                <a:ea typeface="黑体" panose="02010609060101010101" pitchFamily="49" charset="-122"/>
              </a:rPr>
              <a:t>信息，而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解密密钥</a:t>
            </a:r>
            <a:r>
              <a:rPr lang="en-US" altLang="zh-CN" smtClean="0">
                <a:ea typeface="黑体" panose="02010609060101010101" pitchFamily="49" charset="-122"/>
              </a:rPr>
              <a:t>(</a:t>
            </a:r>
            <a:r>
              <a:rPr lang="zh-CN" altLang="en-US" smtClean="0">
                <a:ea typeface="黑体" panose="02010609060101010101" pitchFamily="49" charset="-122"/>
              </a:rPr>
              <a:t>即私钥或秘钥</a:t>
            </a:r>
            <a:r>
              <a:rPr lang="en-US" altLang="zh-CN" smtClean="0">
                <a:ea typeface="黑体" panose="02010609060101010101" pitchFamily="49" charset="-122"/>
              </a:rPr>
              <a:t>) SK </a:t>
            </a:r>
            <a:r>
              <a:rPr lang="zh-CN" altLang="en-US" smtClean="0">
                <a:ea typeface="黑体" panose="02010609060101010101" pitchFamily="49" charset="-122"/>
              </a:rPr>
              <a:t>是需要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保密</a:t>
            </a:r>
            <a:r>
              <a:rPr lang="zh-CN" altLang="en-US" smtClean="0">
                <a:ea typeface="黑体" panose="02010609060101010101" pitchFamily="49" charset="-122"/>
              </a:rPr>
              <a:t>的。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加密算法 </a:t>
            </a:r>
            <a:r>
              <a:rPr lang="en-US" altLang="zh-CN" smtClean="0">
                <a:ea typeface="黑体" panose="02010609060101010101" pitchFamily="49" charset="-122"/>
              </a:rPr>
              <a:t>E </a:t>
            </a:r>
            <a:r>
              <a:rPr lang="zh-CN" altLang="en-US" smtClean="0">
                <a:ea typeface="黑体" panose="02010609060101010101" pitchFamily="49" charset="-122"/>
              </a:rPr>
              <a:t>和解密算法 </a:t>
            </a:r>
            <a:r>
              <a:rPr lang="en-US" altLang="zh-CN" smtClean="0">
                <a:ea typeface="黑体" panose="02010609060101010101" pitchFamily="49" charset="-122"/>
              </a:rPr>
              <a:t>D </a:t>
            </a:r>
            <a:r>
              <a:rPr lang="zh-CN" altLang="en-US" smtClean="0">
                <a:ea typeface="黑体" panose="02010609060101010101" pitchFamily="49" charset="-122"/>
              </a:rPr>
              <a:t>也都是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公开</a:t>
            </a:r>
            <a:r>
              <a:rPr lang="zh-CN" altLang="en-US" smtClean="0">
                <a:ea typeface="黑体" panose="02010609060101010101" pitchFamily="49" charset="-122"/>
              </a:rPr>
              <a:t>的。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虽然秘钥 </a:t>
            </a:r>
            <a:r>
              <a:rPr lang="en-US" altLang="zh-CN" smtClean="0">
                <a:ea typeface="黑体" panose="02010609060101010101" pitchFamily="49" charset="-122"/>
              </a:rPr>
              <a:t>SK </a:t>
            </a:r>
            <a:r>
              <a:rPr lang="zh-CN" altLang="en-US" smtClean="0">
                <a:ea typeface="黑体" panose="02010609060101010101" pitchFamily="49" charset="-122"/>
              </a:rPr>
              <a:t>是由公钥 </a:t>
            </a:r>
            <a:r>
              <a:rPr lang="en-US" altLang="zh-CN" smtClean="0">
                <a:ea typeface="黑体" panose="02010609060101010101" pitchFamily="49" charset="-122"/>
              </a:rPr>
              <a:t>PK </a:t>
            </a:r>
            <a:r>
              <a:rPr lang="zh-CN" altLang="en-US" smtClean="0">
                <a:ea typeface="黑体" panose="02010609060101010101" pitchFamily="49" charset="-122"/>
              </a:rPr>
              <a:t>决定的，但却不能根据 </a:t>
            </a:r>
            <a:r>
              <a:rPr lang="en-US" altLang="zh-CN" smtClean="0">
                <a:ea typeface="黑体" panose="02010609060101010101" pitchFamily="49" charset="-122"/>
              </a:rPr>
              <a:t>PK </a:t>
            </a:r>
            <a:r>
              <a:rPr lang="zh-CN" altLang="en-US" smtClean="0">
                <a:ea typeface="黑体" panose="02010609060101010101" pitchFamily="49" charset="-122"/>
              </a:rPr>
              <a:t>计算出 </a:t>
            </a:r>
            <a:r>
              <a:rPr lang="en-US" altLang="zh-CN" smtClean="0">
                <a:ea typeface="黑体" panose="02010609060101010101" pitchFamily="49" charset="-122"/>
              </a:rPr>
              <a:t>SK</a:t>
            </a:r>
            <a:r>
              <a:rPr lang="zh-CN" altLang="en-US" smtClean="0"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20561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0FF267-2323-4EE5-A1ED-C50260BED50A}" type="slidenum">
              <a:rPr lang="zh-CN" altLang="en-US" smtClean="0"/>
              <a:pPr eaLnBrk="1" hangingPunct="1"/>
              <a:t>25</a:t>
            </a:fld>
            <a:endParaRPr lang="en-US" altLang="zh-CN" smtClean="0"/>
          </a:p>
        </p:txBody>
      </p:sp>
      <p:sp>
        <p:nvSpPr>
          <p:cNvPr id="20561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4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应当注意 </a:t>
            </a:r>
          </a:p>
        </p:txBody>
      </p:sp>
      <p:sp>
        <p:nvSpPr>
          <p:cNvPr id="55705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任何加密方法的安全性取决于密钥的长度，以及攻破密文所需的计算量。</a:t>
            </a:r>
            <a:r>
              <a:rPr lang="zh-CN" altLang="en-US" smtClean="0">
                <a:ea typeface="黑体" panose="02010609060101010101" pitchFamily="49" charset="-122"/>
              </a:rPr>
              <a:t>在这方面，公钥密码体制并不具有比传统加密体制更加优越之处。 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由于目前公钥加密算法的开销较大，在可见的将来还看不出来要放弃传统的加密方法。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ea typeface="黑体" panose="02010609060101010101" pitchFamily="49" charset="-122"/>
              </a:rPr>
              <a:t>公钥还需要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密钥分配协议，</a:t>
            </a:r>
            <a:r>
              <a:rPr lang="zh-CN" altLang="en-US" smtClean="0">
                <a:ea typeface="黑体" panose="02010609060101010101" pitchFamily="49" charset="-122"/>
              </a:rPr>
              <a:t>具体的分配过程并不比采用传统加密方法时更简单。  </a:t>
            </a:r>
          </a:p>
        </p:txBody>
      </p:sp>
      <p:sp>
        <p:nvSpPr>
          <p:cNvPr id="20582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22AC98-9D65-4BF3-9F5B-1312A3C661B0}" type="slidenum">
              <a:rPr lang="zh-CN" altLang="en-US" smtClean="0"/>
              <a:pPr eaLnBrk="1" hangingPunct="1"/>
              <a:t>26</a:t>
            </a:fld>
            <a:endParaRPr lang="en-US" altLang="zh-CN" smtClean="0"/>
          </a:p>
        </p:txBody>
      </p:sp>
      <p:sp>
        <p:nvSpPr>
          <p:cNvPr id="20582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26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公钥算法的特点 </a:t>
            </a:r>
          </a:p>
        </p:txBody>
      </p:sp>
      <p:sp>
        <p:nvSpPr>
          <p:cNvPr id="205926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smtClean="0">
                <a:ea typeface="黑体" panose="02010609060101010101" pitchFamily="49" charset="-122"/>
              </a:rPr>
              <a:t>密钥对产生器产生出接收者</a:t>
            </a:r>
            <a:r>
              <a:rPr lang="en-US" altLang="zh-CN" sz="2800" smtClean="0">
                <a:ea typeface="黑体" panose="02010609060101010101" pitchFamily="49" charset="-122"/>
              </a:rPr>
              <a:t> B </a:t>
            </a:r>
            <a:r>
              <a:rPr lang="zh-CN" altLang="zh-CN" sz="2800" smtClean="0">
                <a:ea typeface="黑体" panose="02010609060101010101" pitchFamily="49" charset="-122"/>
              </a:rPr>
              <a:t>的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一对密钥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：</a:t>
            </a:r>
            <a:r>
              <a:rPr lang="zh-CN" altLang="zh-CN" sz="2800" smtClean="0">
                <a:ea typeface="黑体" panose="02010609060101010101" pitchFamily="49" charset="-122"/>
              </a:rPr>
              <a:t>加密密钥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PK</a:t>
            </a:r>
            <a:r>
              <a:rPr lang="en-US" altLang="zh-CN" sz="2800" i="1" baseline="-25000" smtClean="0">
                <a:ea typeface="黑体" panose="02010609060101010101" pitchFamily="49" charset="-122"/>
              </a:rPr>
              <a:t>B </a:t>
            </a:r>
            <a:r>
              <a:rPr lang="zh-CN" altLang="zh-CN" sz="2800" smtClean="0">
                <a:ea typeface="黑体" panose="02010609060101010101" pitchFamily="49" charset="-122"/>
              </a:rPr>
              <a:t>和解密密钥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SK</a:t>
            </a:r>
            <a:r>
              <a:rPr lang="en-US" altLang="zh-CN" sz="2800" i="1" baseline="-25000" smtClean="0">
                <a:ea typeface="黑体" panose="02010609060101010101" pitchFamily="49" charset="-122"/>
              </a:rPr>
              <a:t>B</a:t>
            </a:r>
            <a:r>
              <a:rPr lang="zh-CN" altLang="zh-CN" sz="2800" smtClean="0">
                <a:ea typeface="黑体" panose="02010609060101010101" pitchFamily="49" charset="-122"/>
              </a:rPr>
              <a:t>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pPr lvl="1"/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加密密钥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PK</a:t>
            </a:r>
            <a:r>
              <a:rPr lang="en-US" altLang="zh-CN" sz="2400" i="1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400" i="1" smtClean="0">
                <a:ea typeface="黑体" panose="02010609060101010101" pitchFamily="49" charset="-122"/>
              </a:rPr>
              <a:t> </a:t>
            </a:r>
            <a:r>
              <a:rPr lang="zh-CN" altLang="zh-CN" sz="2400" smtClean="0">
                <a:ea typeface="黑体" panose="02010609060101010101" pitchFamily="49" charset="-122"/>
              </a:rPr>
              <a:t>就是接收者</a:t>
            </a:r>
            <a:r>
              <a:rPr lang="en-US" altLang="zh-CN" sz="2400" smtClean="0">
                <a:ea typeface="黑体" panose="02010609060101010101" pitchFamily="49" charset="-122"/>
              </a:rPr>
              <a:t>B</a:t>
            </a:r>
            <a:r>
              <a:rPr lang="zh-CN" altLang="zh-CN" sz="2400" smtClean="0">
                <a:ea typeface="黑体" panose="02010609060101010101" pitchFamily="49" charset="-122"/>
              </a:rPr>
              <a:t>的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公钥，</a:t>
            </a:r>
            <a:r>
              <a:rPr lang="zh-CN" altLang="zh-CN" sz="2400" smtClean="0">
                <a:ea typeface="黑体" panose="02010609060101010101" pitchFamily="49" charset="-122"/>
              </a:rPr>
              <a:t>它向公众公开。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pPr lvl="1"/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解密密钥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SK</a:t>
            </a:r>
            <a:r>
              <a:rPr lang="en-US" altLang="zh-CN" sz="2400" i="1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400" i="1" smtClean="0">
                <a:ea typeface="黑体" panose="02010609060101010101" pitchFamily="49" charset="-122"/>
              </a:rPr>
              <a:t> </a:t>
            </a:r>
            <a:r>
              <a:rPr lang="zh-CN" altLang="zh-CN" sz="2400" smtClean="0">
                <a:ea typeface="黑体" panose="02010609060101010101" pitchFamily="49" charset="-122"/>
              </a:rPr>
              <a:t>就是接收者</a:t>
            </a:r>
            <a:r>
              <a:rPr lang="en-US" altLang="zh-CN" sz="2400" smtClean="0">
                <a:ea typeface="黑体" panose="02010609060101010101" pitchFamily="49" charset="-122"/>
              </a:rPr>
              <a:t>B</a:t>
            </a:r>
            <a:r>
              <a:rPr lang="zh-CN" altLang="zh-CN" sz="2400" smtClean="0">
                <a:ea typeface="黑体" panose="02010609060101010101" pitchFamily="49" charset="-122"/>
              </a:rPr>
              <a:t>的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私钥，</a:t>
            </a:r>
            <a:r>
              <a:rPr lang="zh-CN" altLang="zh-CN" sz="2400" smtClean="0">
                <a:ea typeface="黑体" panose="02010609060101010101" pitchFamily="49" charset="-122"/>
              </a:rPr>
              <a:t>对其他人都保密。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r>
              <a:rPr lang="zh-CN" altLang="en-US" sz="2800" smtClean="0">
                <a:ea typeface="黑体" panose="02010609060101010101" pitchFamily="49" charset="-122"/>
              </a:rPr>
              <a:t>发送者 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用 </a:t>
            </a: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的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公钥</a:t>
            </a:r>
            <a:r>
              <a:rPr lang="zh-CN" altLang="en-US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对明文 </a:t>
            </a:r>
            <a:r>
              <a:rPr lang="en-US" altLang="zh-CN" sz="2800" i="1" smtClean="0">
                <a:ea typeface="黑体" panose="02010609060101010101" pitchFamily="49" charset="-122"/>
              </a:rPr>
              <a:t>X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加密</a:t>
            </a:r>
            <a:r>
              <a:rPr lang="zh-CN" altLang="en-US" sz="2800" smtClean="0">
                <a:ea typeface="黑体" panose="02010609060101010101" pitchFamily="49" charset="-122"/>
              </a:rPr>
              <a:t>（</a:t>
            </a:r>
            <a:r>
              <a:rPr lang="en-US" altLang="zh-CN" sz="2800" i="1" smtClean="0">
                <a:ea typeface="黑体" panose="02010609060101010101" pitchFamily="49" charset="-122"/>
              </a:rPr>
              <a:t>E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运算）后，在接收者 </a:t>
            </a: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用自己的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私钥</a:t>
            </a:r>
            <a:r>
              <a:rPr lang="zh-CN" altLang="en-US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解密</a:t>
            </a:r>
            <a:r>
              <a:rPr lang="zh-CN" altLang="en-US" sz="2800" smtClean="0">
                <a:ea typeface="黑体" panose="02010609060101010101" pitchFamily="49" charset="-122"/>
              </a:rPr>
              <a:t>（</a:t>
            </a:r>
            <a:r>
              <a:rPr lang="en-US" altLang="zh-CN" sz="2800" i="1" smtClean="0">
                <a:ea typeface="黑体" panose="02010609060101010101" pitchFamily="49" charset="-122"/>
              </a:rPr>
              <a:t>D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运算），即可恢复出明文：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endParaRPr lang="en-US" altLang="zh-CN" sz="2800" smtClean="0">
              <a:ea typeface="黑体" panose="02010609060101010101" pitchFamily="49" charset="-122"/>
            </a:endParaRPr>
          </a:p>
        </p:txBody>
      </p:sp>
      <p:grpSp>
        <p:nvGrpSpPr>
          <p:cNvPr id="2059267" name="组合 3"/>
          <p:cNvGrpSpPr>
            <a:grpSpLocks/>
          </p:cNvGrpSpPr>
          <p:nvPr/>
        </p:nvGrpSpPr>
        <p:grpSpPr bwMode="auto">
          <a:xfrm>
            <a:off x="849313" y="4797425"/>
            <a:ext cx="8712200" cy="935038"/>
            <a:chOff x="848544" y="2924945"/>
            <a:chExt cx="8712967" cy="741103"/>
          </a:xfrm>
        </p:grpSpPr>
        <p:grpSp>
          <p:nvGrpSpPr>
            <p:cNvPr id="2059268" name="组合 4"/>
            <p:cNvGrpSpPr>
              <a:grpSpLocks/>
            </p:cNvGrpSpPr>
            <p:nvPr/>
          </p:nvGrpSpPr>
          <p:grpSpPr bwMode="auto">
            <a:xfrm>
              <a:off x="848544" y="2924945"/>
              <a:ext cx="8712967" cy="741103"/>
              <a:chOff x="848544" y="3042297"/>
              <a:chExt cx="8712967" cy="860537"/>
            </a:xfrm>
          </p:grpSpPr>
          <p:sp>
            <p:nvSpPr>
              <p:cNvPr id="2059269" name="矩形 6"/>
              <p:cNvSpPr>
                <a:spLocks noChangeArrowheads="1"/>
              </p:cNvSpPr>
              <p:nvPr/>
            </p:nvSpPr>
            <p:spPr bwMode="auto">
              <a:xfrm>
                <a:off x="848544" y="3042297"/>
                <a:ext cx="8712967" cy="827348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eaLnBrk="0" hangingPunct="0"/>
                <a:r>
                  <a:rPr lang="zh-CN" altLang="zh-CN" sz="3200">
                    <a:ea typeface="宋体" panose="02010600030101010101" pitchFamily="2" charset="-122"/>
                  </a:rPr>
                  <a:t> </a:t>
                </a:r>
                <a:endParaRPr lang="en-GB" altLang="zh-CN" sz="32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2059270" name="对象 7"/>
              <p:cNvGraphicFramePr>
                <a:graphicFrameLocks noChangeAspect="1"/>
              </p:cNvGraphicFramePr>
              <p:nvPr/>
            </p:nvGraphicFramePr>
            <p:xfrm>
              <a:off x="1136576" y="3182754"/>
              <a:ext cx="5328592" cy="7200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9292" r:id="rId4" imgW="45720000" imgH="5791200" progId="Equation.3">
                      <p:embed/>
                    </p:oleObj>
                  </mc:Choice>
                  <mc:Fallback>
                    <p:oleObj r:id="rId4" imgW="45720000" imgH="5791200" progId="Equation.3">
                      <p:embed/>
                      <p:pic>
                        <p:nvPicPr>
                          <p:cNvPr id="0" name="对象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6576" y="3182754"/>
                            <a:ext cx="5328592" cy="7200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59271" name="矩形 5"/>
            <p:cNvSpPr>
              <a:spLocks noChangeArrowheads="1"/>
            </p:cNvSpPr>
            <p:nvPr/>
          </p:nvSpPr>
          <p:spPr bwMode="auto">
            <a:xfrm>
              <a:off x="8296803" y="3060115"/>
              <a:ext cx="1048685" cy="462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 sz="3200" b="1">
                  <a:ea typeface="黑体" panose="02010609060101010101" pitchFamily="49" charset="-122"/>
                </a:rPr>
                <a:t>(7-</a:t>
              </a:r>
              <a:r>
                <a:rPr lang="en-US" altLang="zh-CN" sz="3200" b="1">
                  <a:ea typeface="黑体" panose="02010609060101010101" pitchFamily="49" charset="-122"/>
                </a:rPr>
                <a:t>4</a:t>
              </a:r>
              <a:r>
                <a:rPr lang="zh-CN" altLang="zh-CN" sz="3200" b="1">
                  <a:ea typeface="黑体" panose="02010609060101010101" pitchFamily="49" charset="-122"/>
                </a:rPr>
                <a:t>)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059272" name="灯片编号占位符 1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0FB121-92B7-4D2C-B885-99B9AE1A4780}" type="slidenum">
              <a:rPr lang="zh-CN" altLang="en-US" smtClean="0"/>
              <a:pPr eaLnBrk="1" hangingPunct="1"/>
              <a:t>27</a:t>
            </a:fld>
            <a:endParaRPr lang="en-US" altLang="zh-CN" smtClean="0"/>
          </a:p>
        </p:txBody>
      </p:sp>
      <p:sp>
        <p:nvSpPr>
          <p:cNvPr id="2059273" name="页脚占位符 11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31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公钥算法的特点 </a:t>
            </a:r>
          </a:p>
        </p:txBody>
      </p:sp>
      <p:sp>
        <p:nvSpPr>
          <p:cNvPr id="206131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algn="just"/>
            <a:r>
              <a:rPr lang="zh-CN" altLang="en-US" smtClean="0">
                <a:ea typeface="黑体" panose="02010609060101010101" pitchFamily="49" charset="-122"/>
              </a:rPr>
              <a:t>加密密钥是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公开</a:t>
            </a:r>
            <a:r>
              <a:rPr lang="zh-CN" altLang="en-US" smtClean="0">
                <a:ea typeface="黑体" panose="02010609060101010101" pitchFamily="49" charset="-122"/>
              </a:rPr>
              <a:t>的，但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不能</a:t>
            </a:r>
            <a:r>
              <a:rPr lang="zh-CN" altLang="en-US" smtClean="0">
                <a:ea typeface="黑体" panose="02010609060101010101" pitchFamily="49" charset="-122"/>
              </a:rPr>
              <a:t>用它来解密，即：</a:t>
            </a:r>
            <a:endParaRPr lang="en-US" altLang="zh-CN" smtClean="0">
              <a:ea typeface="黑体" panose="02010609060101010101" pitchFamily="49" charset="-122"/>
            </a:endParaRPr>
          </a:p>
          <a:p>
            <a:pPr algn="just"/>
            <a:endParaRPr lang="en-US" altLang="zh-CN" smtClean="0">
              <a:ea typeface="黑体" panose="02010609060101010101" pitchFamily="49" charset="-122"/>
            </a:endParaRPr>
          </a:p>
          <a:p>
            <a:pPr algn="just"/>
            <a:endParaRPr lang="en-US" altLang="zh-CN" smtClean="0">
              <a:ea typeface="黑体" panose="02010609060101010101" pitchFamily="49" charset="-122"/>
            </a:endParaRPr>
          </a:p>
          <a:p>
            <a:pPr algn="just"/>
            <a:r>
              <a:rPr lang="zh-CN" altLang="en-US" smtClean="0">
                <a:ea typeface="黑体" panose="02010609060101010101" pitchFamily="49" charset="-122"/>
              </a:rPr>
              <a:t>加密和解密运算可以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对调，</a:t>
            </a:r>
            <a:r>
              <a:rPr lang="zh-CN" altLang="en-US" smtClean="0">
                <a:ea typeface="黑体" panose="02010609060101010101" pitchFamily="49" charset="-122"/>
              </a:rPr>
              <a:t>即加密和解密是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互逆的：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2061315" name="组合 11"/>
          <p:cNvGrpSpPr>
            <a:grpSpLocks/>
          </p:cNvGrpSpPr>
          <p:nvPr/>
        </p:nvGrpSpPr>
        <p:grpSpPr bwMode="auto">
          <a:xfrm>
            <a:off x="920750" y="1916113"/>
            <a:ext cx="8712200" cy="900112"/>
            <a:chOff x="704528" y="1844823"/>
            <a:chExt cx="8712967" cy="900000"/>
          </a:xfrm>
        </p:grpSpPr>
        <p:sp>
          <p:nvSpPr>
            <p:cNvPr id="2061316" name="矩形 12"/>
            <p:cNvSpPr>
              <a:spLocks noChangeArrowheads="1"/>
            </p:cNvSpPr>
            <p:nvPr/>
          </p:nvSpPr>
          <p:spPr bwMode="auto">
            <a:xfrm>
              <a:off x="704528" y="1844823"/>
              <a:ext cx="8712967" cy="9000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eaLnBrk="0" hangingPunct="0"/>
              <a:r>
                <a:rPr lang="zh-CN" altLang="zh-CN" sz="3200">
                  <a:ea typeface="宋体" panose="02010600030101010101" pitchFamily="2" charset="-122"/>
                </a:rPr>
                <a:t> 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061317" name="对象 13"/>
            <p:cNvGraphicFramePr>
              <a:graphicFrameLocks noChangeAspect="1"/>
            </p:cNvGraphicFramePr>
            <p:nvPr/>
          </p:nvGraphicFramePr>
          <p:xfrm>
            <a:off x="955736" y="1972511"/>
            <a:ext cx="4105275" cy="720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361" r:id="rId4" imgW="1269449" imgH="241195" progId="Equation.3">
                    <p:embed/>
                  </p:oleObj>
                </mc:Choice>
                <mc:Fallback>
                  <p:oleObj r:id="rId4" imgW="1269449" imgH="241195" progId="Equation.3">
                    <p:embed/>
                    <p:pic>
                      <p:nvPicPr>
                        <p:cNvPr id="0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5736" y="1972511"/>
                          <a:ext cx="4105275" cy="7200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1318" name="矩形 14"/>
            <p:cNvSpPr>
              <a:spLocks noChangeArrowheads="1"/>
            </p:cNvSpPr>
            <p:nvPr/>
          </p:nvSpPr>
          <p:spPr bwMode="auto">
            <a:xfrm>
              <a:off x="8049343" y="1997815"/>
              <a:ext cx="104868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 sz="3200" b="1">
                  <a:ea typeface="黑体" panose="02010609060101010101" pitchFamily="49" charset="-122"/>
                </a:rPr>
                <a:t>(7-</a:t>
              </a:r>
              <a:r>
                <a:rPr lang="en-US" altLang="zh-CN" sz="3200" b="1">
                  <a:ea typeface="黑体" panose="02010609060101010101" pitchFamily="49" charset="-122"/>
                </a:rPr>
                <a:t>5</a:t>
              </a:r>
              <a:r>
                <a:rPr lang="zh-CN" altLang="zh-CN" sz="3200" b="1">
                  <a:ea typeface="黑体" panose="02010609060101010101" pitchFamily="49" charset="-122"/>
                </a:rPr>
                <a:t>)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061319" name="组合 15"/>
          <p:cNvGrpSpPr>
            <a:grpSpLocks/>
          </p:cNvGrpSpPr>
          <p:nvPr/>
        </p:nvGrpSpPr>
        <p:grpSpPr bwMode="auto">
          <a:xfrm>
            <a:off x="920750" y="4292600"/>
            <a:ext cx="8712200" cy="900113"/>
            <a:chOff x="920552" y="2420887"/>
            <a:chExt cx="8712967" cy="900000"/>
          </a:xfrm>
        </p:grpSpPr>
        <p:sp>
          <p:nvSpPr>
            <p:cNvPr id="2061320" name="矩形 16"/>
            <p:cNvSpPr>
              <a:spLocks noChangeArrowheads="1"/>
            </p:cNvSpPr>
            <p:nvPr/>
          </p:nvSpPr>
          <p:spPr bwMode="auto">
            <a:xfrm>
              <a:off x="920552" y="2420887"/>
              <a:ext cx="8712967" cy="9000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eaLnBrk="0" hangingPunct="0"/>
              <a:r>
                <a:rPr lang="zh-CN" altLang="zh-CN" sz="3200">
                  <a:ea typeface="宋体" panose="02010600030101010101" pitchFamily="2" charset="-122"/>
                </a:rPr>
                <a:t> 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61321" name="矩形 17"/>
            <p:cNvSpPr>
              <a:spLocks noChangeArrowheads="1"/>
            </p:cNvSpPr>
            <p:nvPr/>
          </p:nvSpPr>
          <p:spPr bwMode="auto">
            <a:xfrm>
              <a:off x="8265368" y="2573879"/>
              <a:ext cx="104868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 sz="3200" b="1">
                  <a:ea typeface="黑体" panose="02010609060101010101" pitchFamily="49" charset="-122"/>
                </a:rPr>
                <a:t>(7-</a:t>
              </a:r>
              <a:r>
                <a:rPr lang="en-US" altLang="zh-CN" sz="3200" b="1">
                  <a:ea typeface="黑体" panose="02010609060101010101" pitchFamily="49" charset="-122"/>
                </a:rPr>
                <a:t>6</a:t>
              </a:r>
              <a:r>
                <a:rPr lang="zh-CN" altLang="zh-CN" sz="3200" b="1">
                  <a:ea typeface="黑体" panose="02010609060101010101" pitchFamily="49" charset="-122"/>
                </a:rPr>
                <a:t>)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061322" name="对象 18"/>
            <p:cNvGraphicFramePr>
              <a:graphicFrameLocks noChangeAspect="1"/>
            </p:cNvGraphicFramePr>
            <p:nvPr/>
          </p:nvGraphicFramePr>
          <p:xfrm>
            <a:off x="1106081" y="2586683"/>
            <a:ext cx="6799247" cy="698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362" r:id="rId6" imgW="56388000" imgH="5791200" progId="Equation.3">
                    <p:embed/>
                  </p:oleObj>
                </mc:Choice>
                <mc:Fallback>
                  <p:oleObj r:id="rId6" imgW="56388000" imgH="5791200" progId="Equation.3">
                    <p:embed/>
                    <p:pic>
                      <p:nvPicPr>
                        <p:cNvPr id="0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081" y="2586683"/>
                          <a:ext cx="6799247" cy="698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13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AE797F-2F88-4709-A30E-6DF167C0CE6D}" type="slidenum">
              <a:rPr lang="zh-CN" altLang="en-US" smtClean="0"/>
              <a:pPr eaLnBrk="1" hangingPunct="1"/>
              <a:t>28</a:t>
            </a:fld>
            <a:endParaRPr lang="en-US" altLang="zh-CN" smtClean="0"/>
          </a:p>
        </p:txBody>
      </p:sp>
      <p:sp>
        <p:nvSpPr>
          <p:cNvPr id="206132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36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公钥密码体制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pic>
        <p:nvPicPr>
          <p:cNvPr id="2063362" name="Picture 13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218738" y="3098800"/>
            <a:ext cx="74136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4" name="组合 93"/>
          <p:cNvGrpSpPr>
            <a:grpSpLocks/>
          </p:cNvGrpSpPr>
          <p:nvPr/>
        </p:nvGrpSpPr>
        <p:grpSpPr bwMode="auto">
          <a:xfrm>
            <a:off x="2674938" y="2047875"/>
            <a:ext cx="4725987" cy="585788"/>
            <a:chOff x="2674219" y="3348281"/>
            <a:chExt cx="4727052" cy="584775"/>
          </a:xfrm>
        </p:grpSpPr>
        <p:sp>
          <p:nvSpPr>
            <p:cNvPr id="2063364" name="TextBox 94"/>
            <p:cNvSpPr txBox="1">
              <a:spLocks noChangeArrowheads="1"/>
            </p:cNvSpPr>
            <p:nvPr/>
          </p:nvSpPr>
          <p:spPr bwMode="auto">
            <a:xfrm>
              <a:off x="4128559" y="3348281"/>
              <a:ext cx="183255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黑体" panose="02010609060101010101" pitchFamily="49" charset="-122"/>
                </a:rPr>
                <a:t>不同密钥</a:t>
              </a:r>
            </a:p>
          </p:txBody>
        </p:sp>
        <p:sp>
          <p:nvSpPr>
            <p:cNvPr id="2063365" name="左箭头 95"/>
            <p:cNvSpPr>
              <a:spLocks noChangeArrowheads="1"/>
            </p:cNvSpPr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3366" name="左箭头 96"/>
            <p:cNvSpPr>
              <a:spLocks noChangeArrowheads="1"/>
            </p:cNvSpPr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2063367" name="组合 2"/>
          <p:cNvGrpSpPr>
            <a:grpSpLocks/>
          </p:cNvGrpSpPr>
          <p:nvPr/>
        </p:nvGrpSpPr>
        <p:grpSpPr bwMode="auto">
          <a:xfrm>
            <a:off x="344488" y="1401763"/>
            <a:ext cx="9275762" cy="3322637"/>
            <a:chOff x="344488" y="1402122"/>
            <a:chExt cx="9275882" cy="3323022"/>
          </a:xfrm>
        </p:grpSpPr>
        <p:sp>
          <p:nvSpPr>
            <p:cNvPr id="20" name="Line 52"/>
            <p:cNvSpPr>
              <a:spLocks noChangeShapeType="1"/>
            </p:cNvSpPr>
            <p:nvPr/>
          </p:nvSpPr>
          <p:spPr bwMode="auto">
            <a:xfrm>
              <a:off x="2546378" y="3891610"/>
              <a:ext cx="139225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" name="Line 53"/>
            <p:cNvSpPr>
              <a:spLocks noChangeShapeType="1"/>
            </p:cNvSpPr>
            <p:nvPr/>
          </p:nvSpPr>
          <p:spPr bwMode="auto">
            <a:xfrm>
              <a:off x="4957823" y="3902724"/>
              <a:ext cx="220030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2" name="Text Box 56"/>
            <p:cNvSpPr txBox="1">
              <a:spLocks noChangeArrowheads="1"/>
            </p:cNvSpPr>
            <p:nvPr/>
          </p:nvSpPr>
          <p:spPr bwMode="auto">
            <a:xfrm>
              <a:off x="8563081" y="3712202"/>
              <a:ext cx="1057289" cy="584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r>
                <a:rPr kumimoji="1" lang="en-US" altLang="zh-CN" sz="32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</a:p>
          </p:txBody>
        </p:sp>
        <p:sp>
          <p:nvSpPr>
            <p:cNvPr id="23" name="Freeform 51"/>
            <p:cNvSpPr/>
            <p:nvPr/>
          </p:nvSpPr>
          <p:spPr bwMode="auto">
            <a:xfrm>
              <a:off x="1141423" y="3451821"/>
              <a:ext cx="492131" cy="454078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4" name="Freeform 72"/>
            <p:cNvSpPr/>
            <p:nvPr/>
          </p:nvSpPr>
          <p:spPr bwMode="auto">
            <a:xfrm flipH="1" flipV="1">
              <a:off x="2189187" y="2686558"/>
              <a:ext cx="79376" cy="849411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5" name="Freeform 134"/>
            <p:cNvSpPr/>
            <p:nvPr/>
          </p:nvSpPr>
          <p:spPr bwMode="auto">
            <a:xfrm flipV="1">
              <a:off x="7780434" y="2686558"/>
              <a:ext cx="46038" cy="849411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6" name="Freeform 50"/>
            <p:cNvSpPr/>
            <p:nvPr/>
          </p:nvSpPr>
          <p:spPr bwMode="auto">
            <a:xfrm rot="16200000">
              <a:off x="8529733" y="3505832"/>
              <a:ext cx="219100" cy="574682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7" name="Text Box 68"/>
            <p:cNvSpPr txBox="1">
              <a:spLocks noChangeArrowheads="1"/>
            </p:cNvSpPr>
            <p:nvPr/>
          </p:nvSpPr>
          <p:spPr bwMode="auto">
            <a:xfrm>
              <a:off x="6078612" y="3501040"/>
              <a:ext cx="960449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</a:p>
          </p:txBody>
        </p:sp>
        <p:sp>
          <p:nvSpPr>
            <p:cNvPr id="28" name="Text Box 54"/>
            <p:cNvSpPr txBox="1">
              <a:spLocks noChangeArrowheads="1"/>
            </p:cNvSpPr>
            <p:nvPr/>
          </p:nvSpPr>
          <p:spPr bwMode="auto">
            <a:xfrm>
              <a:off x="1404952" y="1402122"/>
              <a:ext cx="2079652" cy="46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B </a:t>
              </a: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的公钥 </a:t>
              </a:r>
              <a:r>
                <a:rPr kumimoji="1" lang="en-US" altLang="zh-CN" sz="2400" b="1" i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PK</a:t>
              </a:r>
              <a:r>
                <a:rPr kumimoji="1" lang="en-US" altLang="zh-CN" sz="2400" b="1" i="1" kern="0" baseline="-2500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B</a:t>
              </a:r>
            </a:p>
          </p:txBody>
        </p:sp>
        <p:sp>
          <p:nvSpPr>
            <p:cNvPr id="29" name="Text Box 55"/>
            <p:cNvSpPr txBox="1">
              <a:spLocks noChangeArrowheads="1"/>
            </p:cNvSpPr>
            <p:nvPr/>
          </p:nvSpPr>
          <p:spPr bwMode="auto">
            <a:xfrm>
              <a:off x="344488" y="3891610"/>
              <a:ext cx="1039825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</a:p>
          </p:txBody>
        </p:sp>
        <p:sp>
          <p:nvSpPr>
            <p:cNvPr id="30" name="Text Box 57"/>
            <p:cNvSpPr txBox="1">
              <a:spLocks noChangeArrowheads="1"/>
            </p:cNvSpPr>
            <p:nvPr/>
          </p:nvSpPr>
          <p:spPr bwMode="auto">
            <a:xfrm>
              <a:off x="2914683" y="3501040"/>
              <a:ext cx="960450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</a:p>
          </p:txBody>
        </p:sp>
        <p:pic>
          <p:nvPicPr>
            <p:cNvPr id="2063379" name="Picture 6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1938146" y="2088053"/>
              <a:ext cx="741707" cy="39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Text Box 70"/>
            <p:cNvSpPr txBox="1">
              <a:spLocks noChangeArrowheads="1"/>
            </p:cNvSpPr>
            <p:nvPr/>
          </p:nvSpPr>
          <p:spPr bwMode="auto">
            <a:xfrm>
              <a:off x="523877" y="2953289"/>
              <a:ext cx="369893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A</a:t>
              </a:r>
            </a:p>
          </p:txBody>
        </p:sp>
        <p:sp>
          <p:nvSpPr>
            <p:cNvPr id="33" name="Text Box 71"/>
            <p:cNvSpPr txBox="1">
              <a:spLocks noChangeArrowheads="1"/>
            </p:cNvSpPr>
            <p:nvPr/>
          </p:nvSpPr>
          <p:spPr bwMode="auto">
            <a:xfrm>
              <a:off x="9139352" y="2953289"/>
              <a:ext cx="371480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B</a:t>
              </a:r>
            </a:p>
          </p:txBody>
        </p:sp>
        <p:graphicFrame>
          <p:nvGraphicFramePr>
            <p:cNvPr id="2063382" name="Object 73"/>
            <p:cNvGraphicFramePr>
              <a:graphicFrameLocks noChangeAspect="1"/>
            </p:cNvGraphicFramePr>
            <p:nvPr/>
          </p:nvGraphicFramePr>
          <p:xfrm>
            <a:off x="3858320" y="3226544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464" r:id="rId5" imgW="1687068" imgH="964692" progId="Visio.Drawing.6">
                    <p:embed/>
                  </p:oleObj>
                </mc:Choice>
                <mc:Fallback>
                  <p:oleObj r:id="rId5" imgW="1687068" imgH="964692" progId="Visio.Drawing.6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8320" y="3226544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63383" name="Group 74"/>
            <p:cNvGrpSpPr>
              <a:grpSpLocks/>
            </p:cNvGrpSpPr>
            <p:nvPr/>
          </p:nvGrpSpPr>
          <p:grpSpPr bwMode="auto">
            <a:xfrm>
              <a:off x="817117" y="3093194"/>
              <a:ext cx="574675" cy="620713"/>
              <a:chOff x="921" y="2412"/>
              <a:chExt cx="284" cy="265"/>
            </a:xfrm>
          </p:grpSpPr>
          <p:grpSp>
            <p:nvGrpSpPr>
              <p:cNvPr id="2063384" name="Group 7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50" name="Freeform 76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1" name="Freeform 77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2" name="Freeform 78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3" name="Freeform 79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4" name="Rectangle 80"/>
                <p:cNvSpPr>
                  <a:spLocks noChangeArrowheads="1"/>
                </p:cNvSpPr>
                <p:nvPr/>
              </p:nvSpPr>
              <p:spPr bwMode="auto">
                <a:xfrm>
                  <a:off x="975" y="2434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5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6" name="Rectangle 82"/>
                <p:cNvSpPr>
                  <a:spLocks noChangeArrowheads="1"/>
                </p:cNvSpPr>
                <p:nvPr/>
              </p:nvSpPr>
              <p:spPr bwMode="auto">
                <a:xfrm>
                  <a:off x="993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7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63393" name="Group 8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59" name="Freeform 8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60" name="Freeform 8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61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1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63397" name="Group 8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38" name="Freeform 8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9" name="Freeform 9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0" name="Freeform 9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1" name="Freeform 9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2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3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4" name="Rectangle 95"/>
                <p:cNvSpPr>
                  <a:spLocks noChangeArrowheads="1"/>
                </p:cNvSpPr>
                <p:nvPr/>
              </p:nvSpPr>
              <p:spPr bwMode="auto">
                <a:xfrm>
                  <a:off x="986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5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63406" name="Group 9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47" name="Freeform 9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48" name="Freeform 9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49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62" name="Rectangle 102"/>
            <p:cNvSpPr>
              <a:spLocks noChangeArrowheads="1"/>
            </p:cNvSpPr>
            <p:nvPr/>
          </p:nvSpPr>
          <p:spPr bwMode="auto">
            <a:xfrm>
              <a:off x="1633555" y="3545495"/>
              <a:ext cx="1276367" cy="716045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E</a:t>
              </a: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加密算法</a:t>
              </a:r>
            </a:p>
          </p:txBody>
        </p:sp>
        <p:sp>
          <p:nvSpPr>
            <p:cNvPr id="63" name="Rectangle 103"/>
            <p:cNvSpPr>
              <a:spLocks noChangeArrowheads="1"/>
            </p:cNvSpPr>
            <p:nvPr/>
          </p:nvSpPr>
          <p:spPr bwMode="auto">
            <a:xfrm>
              <a:off x="7158126" y="3545495"/>
              <a:ext cx="1277954" cy="716045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D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解密算法</a:t>
              </a:r>
            </a:p>
          </p:txBody>
        </p:sp>
        <p:grpSp>
          <p:nvGrpSpPr>
            <p:cNvPr id="2063412" name="Group 104"/>
            <p:cNvGrpSpPr>
              <a:grpSpLocks/>
            </p:cNvGrpSpPr>
            <p:nvPr/>
          </p:nvGrpSpPr>
          <p:grpSpPr bwMode="auto">
            <a:xfrm>
              <a:off x="8655745" y="3067794"/>
              <a:ext cx="574675" cy="620713"/>
              <a:chOff x="921" y="2412"/>
              <a:chExt cx="284" cy="265"/>
            </a:xfrm>
          </p:grpSpPr>
          <p:grpSp>
            <p:nvGrpSpPr>
              <p:cNvPr id="2063413" name="Group 10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79" name="Freeform 106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0" name="Freeform 107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1" name="Freeform 108"/>
                <p:cNvSpPr/>
                <p:nvPr/>
              </p:nvSpPr>
              <p:spPr bwMode="auto">
                <a:xfrm>
                  <a:off x="974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2" name="Freeform 109"/>
                <p:cNvSpPr/>
                <p:nvPr/>
              </p:nvSpPr>
              <p:spPr bwMode="auto">
                <a:xfrm>
                  <a:off x="974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3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4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6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5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4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63422" name="Group 11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88" name="Freeform 11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89" name="Freeform 11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63426" name="Group 11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67" name="Freeform 11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8" name="Freeform 12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9" name="Freeform 12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0" name="Freeform 12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1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2" name="Rectangle 124"/>
                <p:cNvSpPr>
                  <a:spLocks noChangeArrowheads="1"/>
                </p:cNvSpPr>
                <p:nvPr/>
              </p:nvSpPr>
              <p:spPr bwMode="auto">
                <a:xfrm>
                  <a:off x="929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3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4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7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63435" name="Group 12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76" name="Freeform 12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77" name="Freeform 12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78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91" name="Text Box 131"/>
            <p:cNvSpPr txBox="1">
              <a:spLocks noChangeArrowheads="1"/>
            </p:cNvSpPr>
            <p:nvPr/>
          </p:nvSpPr>
          <p:spPr bwMode="auto">
            <a:xfrm>
              <a:off x="4416478" y="3723316"/>
              <a:ext cx="1112852" cy="46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互联网</a:t>
              </a:r>
            </a:p>
          </p:txBody>
        </p:sp>
        <p:pic>
          <p:nvPicPr>
            <p:cNvPr id="2063440" name="Picture 7" descr="key 的图像结果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391524" y="1887224"/>
              <a:ext cx="809809" cy="79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Text Box 132"/>
            <p:cNvSpPr txBox="1">
              <a:spLocks noChangeArrowheads="1"/>
            </p:cNvSpPr>
            <p:nvPr/>
          </p:nvSpPr>
          <p:spPr bwMode="auto">
            <a:xfrm>
              <a:off x="7750271" y="2827862"/>
              <a:ext cx="803285" cy="46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解密</a:t>
              </a:r>
              <a:endParaRPr kumimoji="1" lang="en-US" altLang="zh-CN" sz="24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6" name="Text Box 54"/>
            <p:cNvSpPr txBox="1">
              <a:spLocks noChangeArrowheads="1"/>
            </p:cNvSpPr>
            <p:nvPr/>
          </p:nvSpPr>
          <p:spPr bwMode="auto">
            <a:xfrm>
              <a:off x="6834272" y="1402122"/>
              <a:ext cx="2079652" cy="46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B </a:t>
              </a: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的私钥 </a:t>
              </a: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S</a:t>
              </a:r>
              <a:r>
                <a:rPr kumimoji="1" lang="en-US" altLang="zh-CN" sz="2400" b="1" i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K</a:t>
              </a:r>
              <a:r>
                <a:rPr kumimoji="1" lang="en-US" altLang="zh-CN" sz="2400" b="1" i="1" kern="0" baseline="-2500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B</a:t>
              </a:r>
            </a:p>
          </p:txBody>
        </p:sp>
        <p:sp>
          <p:nvSpPr>
            <p:cNvPr id="107" name="Text Box 132"/>
            <p:cNvSpPr txBox="1">
              <a:spLocks noChangeArrowheads="1"/>
            </p:cNvSpPr>
            <p:nvPr/>
          </p:nvSpPr>
          <p:spPr bwMode="auto">
            <a:xfrm>
              <a:off x="1416064" y="2848502"/>
              <a:ext cx="803285" cy="4620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noProof="1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加</a:t>
              </a: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</a:t>
              </a:r>
              <a:endParaRPr kumimoji="1" lang="en-US" altLang="zh-CN" sz="24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206344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B7A383-D991-4513-B81E-03B1C2D4D2BA}" type="slidenum">
              <a:rPr lang="zh-CN" altLang="en-US" smtClean="0"/>
              <a:pPr eaLnBrk="1" hangingPunct="1"/>
              <a:t>29</a:t>
            </a:fld>
            <a:endParaRPr lang="en-US" altLang="zh-CN" smtClean="0"/>
          </a:p>
        </p:txBody>
      </p:sp>
      <p:sp>
        <p:nvSpPr>
          <p:cNvPr id="2063445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40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公开密钥与对称密钥</a:t>
            </a:r>
            <a:r>
              <a:rPr lang="zh-CN" altLang="en-US" smtClean="0">
                <a:ea typeface="黑体" panose="02010609060101010101" pitchFamily="49" charset="-122"/>
              </a:rPr>
              <a:t>的区别</a:t>
            </a:r>
          </a:p>
        </p:txBody>
      </p:sp>
      <p:sp>
        <p:nvSpPr>
          <p:cNvPr id="206541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在使用对称密钥时，由于双方使用同样的密钥，因此在通信信道上可以进行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一对一的双向保密通信，</a:t>
            </a:r>
            <a:r>
              <a:rPr lang="zh-CN" altLang="zh-CN" smtClean="0">
                <a:ea typeface="黑体" panose="02010609060101010101" pitchFamily="49" charset="-122"/>
              </a:rPr>
              <a:t>每一方既可用此密钥加密明文，并发送给对方，也可接收密文，用同一密钥对密文解密。这种保密通信仅限于持有此密钥的双方（如再有第三方就不保密了）。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在使用公开密钥时，在通信信道上可以是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多对一的单向保密通信。</a:t>
            </a:r>
            <a:endParaRPr lang="zh-CN" altLang="en-US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0654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2FAD51-3DAA-4FC8-8AC8-10A48DAB6059}" type="slidenum">
              <a:rPr lang="zh-CN" altLang="en-US" smtClean="0"/>
              <a:pPr eaLnBrk="1" hangingPunct="1"/>
              <a:t>30</a:t>
            </a:fld>
            <a:endParaRPr lang="en-US" altLang="zh-CN" smtClean="0"/>
          </a:p>
        </p:txBody>
      </p:sp>
      <p:sp>
        <p:nvSpPr>
          <p:cNvPr id="20654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45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公钥密码体制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67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如果某一信息用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公开密钥加密，</a:t>
            </a:r>
            <a:r>
              <a:rPr lang="zh-CN" altLang="en-US" smtClean="0">
                <a:ea typeface="黑体" panose="02010609060101010101" pitchFamily="49" charset="-122"/>
              </a:rPr>
              <a:t>则必须用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私有密钥解密，</a:t>
            </a:r>
            <a:r>
              <a:rPr lang="zh-CN" altLang="en-US" smtClean="0">
                <a:ea typeface="黑体" panose="02010609060101010101" pitchFamily="49" charset="-122"/>
              </a:rPr>
              <a:t>这就是实现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保密</a:t>
            </a:r>
            <a:r>
              <a:rPr lang="zh-CN" altLang="en-US" smtClean="0">
                <a:ea typeface="黑体" panose="02010609060101010101" pitchFamily="49" charset="-122"/>
              </a:rPr>
              <a:t>的方法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如果某一信息用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私有密钥加密</a:t>
            </a:r>
            <a:r>
              <a:rPr lang="zh-CN" altLang="en-US" smtClean="0">
                <a:ea typeface="黑体" panose="02010609060101010101" pitchFamily="49" charset="-122"/>
              </a:rPr>
              <a:t>，那么，它必须用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公开密钥解密。</a:t>
            </a:r>
            <a:r>
              <a:rPr lang="zh-CN" altLang="en-US" smtClean="0">
                <a:ea typeface="黑体" panose="02010609060101010101" pitchFamily="49" charset="-122"/>
              </a:rPr>
              <a:t>这就是实现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数字签名</a:t>
            </a:r>
            <a:r>
              <a:rPr lang="zh-CN" altLang="en-US" smtClean="0">
                <a:ea typeface="黑体" panose="02010609060101010101" pitchFamily="49" charset="-122"/>
              </a:rPr>
              <a:t>的方法</a:t>
            </a:r>
          </a:p>
        </p:txBody>
      </p:sp>
      <p:sp>
        <p:nvSpPr>
          <p:cNvPr id="20674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91C6F8-B846-4967-9DF0-B6EE43FC675F}" type="slidenum">
              <a:rPr lang="zh-CN" altLang="en-US" smtClean="0"/>
              <a:pPr eaLnBrk="1" hangingPunct="1"/>
              <a:t>31</a:t>
            </a:fld>
            <a:endParaRPr lang="en-US" altLang="zh-CN" smtClean="0"/>
          </a:p>
        </p:txBody>
      </p:sp>
      <p:sp>
        <p:nvSpPr>
          <p:cNvPr id="206746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5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49" charset="-122"/>
              </a:rPr>
              <a:t>7.3   </a:t>
            </a:r>
            <a:r>
              <a:rPr lang="zh-CN" altLang="en-US" sz="4800" smtClean="0">
                <a:ea typeface="黑体" panose="02010609060101010101" pitchFamily="49" charset="-122"/>
              </a:rPr>
              <a:t>数字签名</a:t>
            </a:r>
          </a:p>
        </p:txBody>
      </p:sp>
      <p:sp>
        <p:nvSpPr>
          <p:cNvPr id="20695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smtClean="0">
                <a:ea typeface="黑体" panose="02010609060101010101" pitchFamily="49" charset="-122"/>
              </a:rPr>
              <a:t>用于</a:t>
            </a:r>
            <a:r>
              <a:rPr lang="zh-CN" altLang="zh-CN" sz="2800" smtClean="0">
                <a:ea typeface="黑体" panose="02010609060101010101" pitchFamily="49" charset="-122"/>
              </a:rPr>
              <a:t>证明真实性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r>
              <a:rPr lang="zh-CN" altLang="en-US" sz="2800" smtClean="0">
                <a:ea typeface="黑体" panose="02010609060101010101" pitchFamily="49" charset="-122"/>
              </a:rPr>
              <a:t>数字签名必须保证以下三点：</a:t>
            </a:r>
          </a:p>
          <a:p>
            <a:pPr lvl="1"/>
            <a:r>
              <a:rPr lang="en-US" altLang="zh-CN" sz="2400" smtClean="0">
                <a:ea typeface="黑体" panose="02010609060101010101" pitchFamily="49" charset="-122"/>
              </a:rPr>
              <a:t>(1) </a:t>
            </a:r>
            <a:r>
              <a:rPr lang="zh-CN" altLang="en-US" sz="2400" smtClean="0">
                <a:ea typeface="黑体" panose="02010609060101010101" pitchFamily="49" charset="-122"/>
              </a:rPr>
              <a:t>报文鉴别</a:t>
            </a:r>
            <a:r>
              <a:rPr lang="en-US" altLang="zh-CN" sz="2400" smtClean="0">
                <a:ea typeface="黑体" panose="02010609060101010101" pitchFamily="49" charset="-122"/>
              </a:rPr>
              <a:t>——</a:t>
            </a:r>
            <a:r>
              <a:rPr lang="zh-CN" altLang="en-US" sz="2400" smtClean="0">
                <a:ea typeface="黑体" panose="02010609060101010101" pitchFamily="49" charset="-122"/>
              </a:rPr>
              <a:t>接收者能够核实发送者对报文的签名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（证明来源）</a:t>
            </a:r>
            <a:r>
              <a:rPr lang="zh-CN" altLang="en-US" sz="2400" smtClean="0">
                <a:ea typeface="黑体" panose="02010609060101010101" pitchFamily="49" charset="-122"/>
              </a:rPr>
              <a:t>；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pPr lvl="1"/>
            <a:r>
              <a:rPr lang="en-US" altLang="zh-CN" sz="2400" smtClean="0">
                <a:ea typeface="黑体" panose="02010609060101010101" pitchFamily="49" charset="-122"/>
              </a:rPr>
              <a:t>(2) </a:t>
            </a:r>
            <a:r>
              <a:rPr lang="zh-CN" altLang="en-US" sz="2400" smtClean="0">
                <a:ea typeface="黑体" panose="02010609060101010101" pitchFamily="49" charset="-122"/>
              </a:rPr>
              <a:t>报文的完整性</a:t>
            </a:r>
            <a:r>
              <a:rPr lang="en-US" altLang="zh-CN" sz="2400" smtClean="0">
                <a:ea typeface="黑体" panose="02010609060101010101" pitchFamily="49" charset="-122"/>
              </a:rPr>
              <a:t>——</a:t>
            </a:r>
            <a:r>
              <a:rPr lang="zh-CN" altLang="en-US" sz="2400" smtClean="0">
                <a:ea typeface="黑体" panose="02010609060101010101" pitchFamily="49" charset="-122"/>
              </a:rPr>
              <a:t>发送者事后不能抵赖对报文的签名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（防否认）</a:t>
            </a:r>
            <a:r>
              <a:rPr lang="zh-CN" altLang="en-US" sz="2400" smtClean="0">
                <a:ea typeface="黑体" panose="02010609060101010101" pitchFamily="49" charset="-122"/>
              </a:rPr>
              <a:t>；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pPr lvl="1"/>
            <a:r>
              <a:rPr lang="en-US" altLang="zh-CN" sz="2400" smtClean="0">
                <a:ea typeface="黑体" panose="02010609060101010101" pitchFamily="49" charset="-122"/>
              </a:rPr>
              <a:t>(3) </a:t>
            </a:r>
            <a:r>
              <a:rPr lang="zh-CN" altLang="en-US" sz="2400" smtClean="0">
                <a:ea typeface="黑体" panose="02010609060101010101" pitchFamily="49" charset="-122"/>
              </a:rPr>
              <a:t>不可否认</a:t>
            </a:r>
            <a:r>
              <a:rPr lang="en-US" altLang="zh-CN" sz="2400" smtClean="0">
                <a:ea typeface="黑体" panose="02010609060101010101" pitchFamily="49" charset="-122"/>
              </a:rPr>
              <a:t>——</a:t>
            </a:r>
            <a:r>
              <a:rPr lang="zh-CN" altLang="en-US" sz="2400" smtClean="0">
                <a:ea typeface="黑体" panose="02010609060101010101" pitchFamily="49" charset="-122"/>
              </a:rPr>
              <a:t>接收者不能伪造对报文的签名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（防伪造）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sz="2800" smtClean="0">
                <a:ea typeface="黑体" panose="02010609060101010101" pitchFamily="49" charset="-122"/>
              </a:rPr>
              <a:t>现在已有多种实现各种数字签名的方法。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但采用公钥算法更容易实现。  </a:t>
            </a:r>
          </a:p>
        </p:txBody>
      </p:sp>
      <p:sp>
        <p:nvSpPr>
          <p:cNvPr id="206950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4B948B-CF9F-41CC-94D9-43007727E160}" type="slidenum">
              <a:rPr lang="zh-CN" altLang="en-US" smtClean="0"/>
              <a:pPr eaLnBrk="1" hangingPunct="1"/>
              <a:t>32</a:t>
            </a:fld>
            <a:endParaRPr lang="en-US" altLang="zh-CN" smtClean="0"/>
          </a:p>
        </p:txBody>
      </p:sp>
      <p:sp>
        <p:nvSpPr>
          <p:cNvPr id="206950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52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基于公钥的数字签名的实现</a:t>
            </a:r>
          </a:p>
        </p:txBody>
      </p:sp>
      <p:grpSp>
        <p:nvGrpSpPr>
          <p:cNvPr id="2070530" name="组合 1"/>
          <p:cNvGrpSpPr>
            <a:grpSpLocks/>
          </p:cNvGrpSpPr>
          <p:nvPr/>
        </p:nvGrpSpPr>
        <p:grpSpPr bwMode="auto">
          <a:xfrm>
            <a:off x="430213" y="1454150"/>
            <a:ext cx="9275762" cy="3270250"/>
            <a:chOff x="429646" y="1453744"/>
            <a:chExt cx="9275882" cy="3271400"/>
          </a:xfrm>
        </p:grpSpPr>
        <p:sp>
          <p:nvSpPr>
            <p:cNvPr id="84" name="Line 52"/>
            <p:cNvSpPr>
              <a:spLocks noChangeShapeType="1"/>
            </p:cNvSpPr>
            <p:nvPr/>
          </p:nvSpPr>
          <p:spPr bwMode="auto">
            <a:xfrm>
              <a:off x="2631536" y="3891414"/>
              <a:ext cx="139225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5" name="Line 53"/>
            <p:cNvSpPr>
              <a:spLocks noChangeShapeType="1"/>
            </p:cNvSpPr>
            <p:nvPr/>
          </p:nvSpPr>
          <p:spPr bwMode="auto">
            <a:xfrm>
              <a:off x="5042981" y="3902530"/>
              <a:ext cx="220030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6" name="Text Box 56"/>
            <p:cNvSpPr txBox="1">
              <a:spLocks noChangeArrowheads="1"/>
            </p:cNvSpPr>
            <p:nvPr/>
          </p:nvSpPr>
          <p:spPr bwMode="auto">
            <a:xfrm>
              <a:off x="8648239" y="3711963"/>
              <a:ext cx="1057289" cy="584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r>
                <a:rPr kumimoji="1" lang="en-US" altLang="zh-CN" sz="32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</a:p>
          </p:txBody>
        </p:sp>
        <p:sp>
          <p:nvSpPr>
            <p:cNvPr id="87" name="Freeform 51"/>
            <p:cNvSpPr/>
            <p:nvPr/>
          </p:nvSpPr>
          <p:spPr bwMode="auto">
            <a:xfrm>
              <a:off x="1226581" y="3451521"/>
              <a:ext cx="492131" cy="454185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8" name="Freeform 72"/>
            <p:cNvSpPr/>
            <p:nvPr/>
          </p:nvSpPr>
          <p:spPr bwMode="auto">
            <a:xfrm flipH="1" flipV="1">
              <a:off x="2274345" y="2687666"/>
              <a:ext cx="79376" cy="848023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9" name="Freeform 134"/>
            <p:cNvSpPr/>
            <p:nvPr/>
          </p:nvSpPr>
          <p:spPr bwMode="auto">
            <a:xfrm flipV="1">
              <a:off x="7865592" y="2687666"/>
              <a:ext cx="46038" cy="848023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0" name="Freeform 50"/>
            <p:cNvSpPr/>
            <p:nvPr/>
          </p:nvSpPr>
          <p:spPr bwMode="auto">
            <a:xfrm rot="16200000">
              <a:off x="8614865" y="3505613"/>
              <a:ext cx="219152" cy="574682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1" name="Text Box 68"/>
            <p:cNvSpPr txBox="1">
              <a:spLocks noChangeArrowheads="1"/>
            </p:cNvSpPr>
            <p:nvPr/>
          </p:nvSpPr>
          <p:spPr bwMode="auto">
            <a:xfrm>
              <a:off x="6163770" y="3500752"/>
              <a:ext cx="960449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</a:p>
          </p:txBody>
        </p:sp>
        <p:sp>
          <p:nvSpPr>
            <p:cNvPr id="92" name="Text Box 54"/>
            <p:cNvSpPr txBox="1">
              <a:spLocks noChangeArrowheads="1"/>
            </p:cNvSpPr>
            <p:nvPr/>
          </p:nvSpPr>
          <p:spPr bwMode="auto">
            <a:xfrm>
              <a:off x="6919430" y="1453744"/>
              <a:ext cx="2079652" cy="46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noProof="1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A </a:t>
              </a: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的公钥 </a:t>
              </a:r>
              <a:r>
                <a:rPr kumimoji="1" lang="en-US" altLang="zh-CN" sz="2400" b="1" i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PK</a:t>
              </a:r>
              <a:r>
                <a:rPr kumimoji="1" lang="en-US" altLang="zh-CN" sz="2400" b="1" i="1" kern="0" baseline="-2500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A</a:t>
              </a:r>
            </a:p>
          </p:txBody>
        </p:sp>
        <p:sp>
          <p:nvSpPr>
            <p:cNvPr id="93" name="Text Box 55"/>
            <p:cNvSpPr txBox="1">
              <a:spLocks noChangeArrowheads="1"/>
            </p:cNvSpPr>
            <p:nvPr/>
          </p:nvSpPr>
          <p:spPr bwMode="auto">
            <a:xfrm>
              <a:off x="429646" y="3891414"/>
              <a:ext cx="1039825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</a:p>
          </p:txBody>
        </p:sp>
        <p:sp>
          <p:nvSpPr>
            <p:cNvPr id="94" name="Text Box 57"/>
            <p:cNvSpPr txBox="1">
              <a:spLocks noChangeArrowheads="1"/>
            </p:cNvSpPr>
            <p:nvPr/>
          </p:nvSpPr>
          <p:spPr bwMode="auto">
            <a:xfrm>
              <a:off x="2999841" y="3500752"/>
              <a:ext cx="960450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</a:p>
          </p:txBody>
        </p:sp>
        <p:pic>
          <p:nvPicPr>
            <p:cNvPr id="2070542" name="Picture 6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464279" y="2091959"/>
              <a:ext cx="741707" cy="39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Text Box 70"/>
            <p:cNvSpPr txBox="1">
              <a:spLocks noChangeArrowheads="1"/>
            </p:cNvSpPr>
            <p:nvPr/>
          </p:nvSpPr>
          <p:spPr bwMode="auto">
            <a:xfrm>
              <a:off x="609035" y="2952871"/>
              <a:ext cx="369893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A</a:t>
              </a:r>
            </a:p>
          </p:txBody>
        </p:sp>
        <p:sp>
          <p:nvSpPr>
            <p:cNvPr id="97" name="Text Box 71"/>
            <p:cNvSpPr txBox="1">
              <a:spLocks noChangeArrowheads="1"/>
            </p:cNvSpPr>
            <p:nvPr/>
          </p:nvSpPr>
          <p:spPr bwMode="auto">
            <a:xfrm>
              <a:off x="9224510" y="2952871"/>
              <a:ext cx="371480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B</a:t>
              </a:r>
            </a:p>
          </p:txBody>
        </p:sp>
        <p:graphicFrame>
          <p:nvGraphicFramePr>
            <p:cNvPr id="2070545" name="Object 73"/>
            <p:cNvGraphicFramePr>
              <a:graphicFrameLocks noChangeAspect="1"/>
            </p:cNvGraphicFramePr>
            <p:nvPr/>
          </p:nvGraphicFramePr>
          <p:xfrm>
            <a:off x="3943478" y="3226544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627" r:id="rId5" imgW="1687068" imgH="964692" progId="Visio.Drawing.6">
                    <p:embed/>
                  </p:oleObj>
                </mc:Choice>
                <mc:Fallback>
                  <p:oleObj r:id="rId5" imgW="1687068" imgH="964692" progId="Visio.Drawing.6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3478" y="3226544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70546" name="Group 74"/>
            <p:cNvGrpSpPr>
              <a:grpSpLocks/>
            </p:cNvGrpSpPr>
            <p:nvPr/>
          </p:nvGrpSpPr>
          <p:grpSpPr bwMode="auto">
            <a:xfrm>
              <a:off x="902275" y="3093194"/>
              <a:ext cx="574675" cy="620713"/>
              <a:chOff x="921" y="2412"/>
              <a:chExt cx="284" cy="265"/>
            </a:xfrm>
          </p:grpSpPr>
          <p:grpSp>
            <p:nvGrpSpPr>
              <p:cNvPr id="2070547" name="Group 7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48" name="Freeform 76"/>
                <p:cNvSpPr/>
                <p:nvPr/>
              </p:nvSpPr>
              <p:spPr bwMode="auto">
                <a:xfrm>
                  <a:off x="935" y="2551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9" name="Freeform 77"/>
                <p:cNvSpPr/>
                <p:nvPr/>
              </p:nvSpPr>
              <p:spPr bwMode="auto">
                <a:xfrm>
                  <a:off x="935" y="2551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0" name="Freeform 78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1" name="Freeform 79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2" name="Rectangle 80"/>
                <p:cNvSpPr>
                  <a:spLocks noChangeArrowheads="1"/>
                </p:cNvSpPr>
                <p:nvPr/>
              </p:nvSpPr>
              <p:spPr bwMode="auto">
                <a:xfrm>
                  <a:off x="975" y="2433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3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4" name="Rectangle 82"/>
                <p:cNvSpPr>
                  <a:spLocks noChangeArrowheads="1"/>
                </p:cNvSpPr>
                <p:nvPr/>
              </p:nvSpPr>
              <p:spPr bwMode="auto">
                <a:xfrm>
                  <a:off x="993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5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70556" name="Group 8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57" name="Freeform 8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58" name="Freeform 8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59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1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70560" name="Group 8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36" name="Freeform 8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37" name="Freeform 9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38" name="Freeform 9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39" name="Freeform 9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0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1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2" name="Rectangle 95"/>
                <p:cNvSpPr>
                  <a:spLocks noChangeArrowheads="1"/>
                </p:cNvSpPr>
                <p:nvPr/>
              </p:nvSpPr>
              <p:spPr bwMode="auto">
                <a:xfrm>
                  <a:off x="986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3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70569" name="Group 9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45" name="Freeform 9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46" name="Freeform 9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47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100" name="Rectangle 102"/>
            <p:cNvSpPr>
              <a:spLocks noChangeArrowheads="1"/>
            </p:cNvSpPr>
            <p:nvPr/>
          </p:nvSpPr>
          <p:spPr bwMode="auto">
            <a:xfrm>
              <a:off x="1718713" y="3545217"/>
              <a:ext cx="1276367" cy="716214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E</a:t>
              </a: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加密算法</a:t>
              </a:r>
            </a:p>
          </p:txBody>
        </p:sp>
        <p:sp>
          <p:nvSpPr>
            <p:cNvPr id="101" name="Rectangle 103"/>
            <p:cNvSpPr>
              <a:spLocks noChangeArrowheads="1"/>
            </p:cNvSpPr>
            <p:nvPr/>
          </p:nvSpPr>
          <p:spPr bwMode="auto">
            <a:xfrm>
              <a:off x="7243284" y="3545217"/>
              <a:ext cx="1277954" cy="716214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D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解密算法</a:t>
              </a:r>
            </a:p>
          </p:txBody>
        </p:sp>
        <p:grpSp>
          <p:nvGrpSpPr>
            <p:cNvPr id="2070575" name="Group 104"/>
            <p:cNvGrpSpPr>
              <a:grpSpLocks/>
            </p:cNvGrpSpPr>
            <p:nvPr/>
          </p:nvGrpSpPr>
          <p:grpSpPr bwMode="auto">
            <a:xfrm>
              <a:off x="8740903" y="3067794"/>
              <a:ext cx="574675" cy="620713"/>
              <a:chOff x="921" y="2412"/>
              <a:chExt cx="284" cy="265"/>
            </a:xfrm>
          </p:grpSpPr>
          <p:grpSp>
            <p:nvGrpSpPr>
              <p:cNvPr id="2070576" name="Group 10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22" name="Freeform 106"/>
                <p:cNvSpPr/>
                <p:nvPr/>
              </p:nvSpPr>
              <p:spPr bwMode="auto">
                <a:xfrm>
                  <a:off x="935" y="2551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3" name="Freeform 107"/>
                <p:cNvSpPr/>
                <p:nvPr/>
              </p:nvSpPr>
              <p:spPr bwMode="auto">
                <a:xfrm>
                  <a:off x="935" y="2551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4" name="Freeform 108"/>
                <p:cNvSpPr/>
                <p:nvPr/>
              </p:nvSpPr>
              <p:spPr bwMode="auto">
                <a:xfrm>
                  <a:off x="974" y="2416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5" name="Freeform 109"/>
                <p:cNvSpPr/>
                <p:nvPr/>
              </p:nvSpPr>
              <p:spPr bwMode="auto">
                <a:xfrm>
                  <a:off x="974" y="2416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6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3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7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6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8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9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4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70585" name="Group 11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31" name="Freeform 11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32" name="Freeform 11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33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70589" name="Group 11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10" name="Freeform 11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1" name="Freeform 12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2" name="Freeform 12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3" name="Freeform 12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4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5" name="Rectangle 124"/>
                <p:cNvSpPr>
                  <a:spLocks noChangeArrowheads="1"/>
                </p:cNvSpPr>
                <p:nvPr/>
              </p:nvSpPr>
              <p:spPr bwMode="auto">
                <a:xfrm>
                  <a:off x="929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6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7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7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70598" name="Group 12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19" name="Freeform 12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20" name="Freeform 12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21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103" name="Text Box 131"/>
            <p:cNvSpPr txBox="1">
              <a:spLocks noChangeArrowheads="1"/>
            </p:cNvSpPr>
            <p:nvPr/>
          </p:nvSpPr>
          <p:spPr bwMode="auto">
            <a:xfrm>
              <a:off x="4501636" y="3723080"/>
              <a:ext cx="1112852" cy="462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互联网</a:t>
              </a:r>
            </a:p>
          </p:txBody>
        </p:sp>
        <p:pic>
          <p:nvPicPr>
            <p:cNvPr id="2070603" name="Picture 7" descr="key 的图像结果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1952660" y="1887225"/>
              <a:ext cx="809809" cy="79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Text Box 132"/>
            <p:cNvSpPr txBox="1">
              <a:spLocks noChangeArrowheads="1"/>
            </p:cNvSpPr>
            <p:nvPr/>
          </p:nvSpPr>
          <p:spPr bwMode="auto">
            <a:xfrm>
              <a:off x="6449524" y="2852824"/>
              <a:ext cx="1422418" cy="462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noProof="1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核实签名</a:t>
              </a:r>
              <a:endParaRPr kumimoji="1" lang="en-US" altLang="zh-CN" sz="24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6" name="Text Box 54"/>
            <p:cNvSpPr txBox="1">
              <a:spLocks noChangeArrowheads="1"/>
            </p:cNvSpPr>
            <p:nvPr/>
          </p:nvSpPr>
          <p:spPr bwMode="auto">
            <a:xfrm>
              <a:off x="1447246" y="1453744"/>
              <a:ext cx="2079652" cy="46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noProof="1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A </a:t>
              </a: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的私钥 </a:t>
              </a: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S</a:t>
              </a:r>
              <a:r>
                <a:rPr kumimoji="1" lang="en-US" altLang="zh-CN" sz="2400" b="1" i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K</a:t>
              </a:r>
              <a:r>
                <a:rPr kumimoji="1" lang="en-US" altLang="zh-CN" sz="2400" b="1" i="1" kern="0" baseline="-2500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A</a:t>
              </a:r>
            </a:p>
          </p:txBody>
        </p:sp>
        <p:sp>
          <p:nvSpPr>
            <p:cNvPr id="107" name="Text Box 132"/>
            <p:cNvSpPr txBox="1">
              <a:spLocks noChangeArrowheads="1"/>
            </p:cNvSpPr>
            <p:nvPr/>
          </p:nvSpPr>
          <p:spPr bwMode="auto">
            <a:xfrm>
              <a:off x="1556786" y="2822650"/>
              <a:ext cx="803285" cy="46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签名</a:t>
              </a:r>
              <a:endParaRPr kumimoji="1" lang="en-US" altLang="zh-CN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207060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735C4C-2024-4334-8D90-80381BB6A3C4}" type="slidenum">
              <a:rPr lang="zh-CN" altLang="en-US" smtClean="0"/>
              <a:pPr eaLnBrk="1" hangingPunct="1"/>
              <a:t>33</a:t>
            </a:fld>
            <a:endParaRPr lang="en-US" altLang="zh-CN" smtClean="0"/>
          </a:p>
        </p:txBody>
      </p:sp>
      <p:sp>
        <p:nvSpPr>
          <p:cNvPr id="207060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57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基于公钥的数字签名的实现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因为除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外没有别人能具有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的私钥，所以除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外没有别人能产生这个密文。因此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相信报文 </a:t>
            </a:r>
            <a:r>
              <a:rPr lang="en-US" altLang="zh-CN" dirty="0" smtClean="0">
                <a:ea typeface="黑体" panose="02010609060101010101" pitchFamily="49" charset="-122"/>
              </a:rPr>
              <a:t>X </a:t>
            </a:r>
            <a:r>
              <a:rPr lang="zh-CN" altLang="en-US" dirty="0" smtClean="0">
                <a:ea typeface="黑体" panose="02010609060101010101" pitchFamily="49" charset="-122"/>
              </a:rPr>
              <a:t>是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签名发送的。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若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要抵赖曾发送报文给 </a:t>
            </a:r>
            <a:r>
              <a:rPr lang="en-US" altLang="zh-CN" dirty="0" smtClean="0">
                <a:ea typeface="黑体" panose="02010609060101010101" pitchFamily="49" charset="-122"/>
              </a:rPr>
              <a:t>B</a:t>
            </a:r>
            <a:r>
              <a:rPr lang="zh-CN" altLang="en-US" dirty="0" smtClean="0">
                <a:ea typeface="黑体" panose="02010609060101010101" pitchFamily="49" charset="-122"/>
              </a:rPr>
              <a:t>，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可将明文和对应的密文出示给第三者。第三者很容易用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的公钥去证实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确实发送 </a:t>
            </a:r>
            <a:r>
              <a:rPr lang="en-US" altLang="zh-CN" dirty="0" smtClean="0">
                <a:ea typeface="黑体" panose="02010609060101010101" pitchFamily="49" charset="-122"/>
              </a:rPr>
              <a:t>X </a:t>
            </a:r>
            <a:r>
              <a:rPr lang="zh-CN" altLang="en-US" dirty="0" smtClean="0">
                <a:ea typeface="黑体" panose="02010609060101010101" pitchFamily="49" charset="-122"/>
              </a:rPr>
              <a:t>给 </a:t>
            </a:r>
            <a:r>
              <a:rPr lang="en-US" altLang="zh-CN" dirty="0" smtClean="0">
                <a:ea typeface="黑体" panose="02010609060101010101" pitchFamily="49" charset="-122"/>
              </a:rPr>
              <a:t>B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反之，若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将 </a:t>
            </a:r>
            <a:r>
              <a:rPr lang="en-US" altLang="zh-CN" dirty="0" smtClean="0">
                <a:ea typeface="黑体" panose="02010609060101010101" pitchFamily="49" charset="-122"/>
              </a:rPr>
              <a:t>X </a:t>
            </a:r>
            <a:r>
              <a:rPr lang="zh-CN" altLang="en-US" dirty="0" smtClean="0">
                <a:ea typeface="黑体" panose="02010609060101010101" pitchFamily="49" charset="-122"/>
              </a:rPr>
              <a:t>伪造成 </a:t>
            </a:r>
            <a:r>
              <a:rPr lang="en-US" altLang="zh-CN" dirty="0" smtClean="0">
                <a:ea typeface="黑体" panose="02010609060101010101" pitchFamily="49" charset="-122"/>
              </a:rPr>
              <a:t>X‘</a:t>
            </a:r>
            <a:r>
              <a:rPr lang="zh-CN" altLang="en-US" dirty="0" smtClean="0">
                <a:ea typeface="黑体" panose="02010609060101010101" pitchFamily="49" charset="-122"/>
              </a:rPr>
              <a:t>，则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不能在第三者前出示对应的密文。这样就证明了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伪造了报文。  </a:t>
            </a:r>
          </a:p>
        </p:txBody>
      </p:sp>
      <p:sp>
        <p:nvSpPr>
          <p:cNvPr id="207257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8F7C1A-2C43-4CEB-ACE8-C6A03B7499E3}" type="slidenum">
              <a:rPr lang="zh-CN" altLang="en-US" smtClean="0"/>
              <a:pPr eaLnBrk="1" hangingPunct="1"/>
              <a:t>34</a:t>
            </a:fld>
            <a:endParaRPr lang="en-US" altLang="zh-CN" smtClean="0"/>
          </a:p>
        </p:txBody>
      </p:sp>
      <p:sp>
        <p:nvSpPr>
          <p:cNvPr id="207258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具有保密性的数字签名 </a:t>
            </a:r>
          </a:p>
        </p:txBody>
      </p:sp>
      <p:graphicFrame>
        <p:nvGraphicFramePr>
          <p:cNvPr id="2073602" name="Object 124"/>
          <p:cNvGraphicFramePr>
            <a:graphicFrameLocks noChangeAspect="1"/>
          </p:cNvGraphicFramePr>
          <p:nvPr/>
        </p:nvGraphicFramePr>
        <p:xfrm>
          <a:off x="7304088" y="3635375"/>
          <a:ext cx="9890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70" r:id="rId4" imgW="583947" imgH="241195" progId="Equation.3">
                  <p:embed/>
                </p:oleObj>
              </mc:Choice>
              <mc:Fallback>
                <p:oleObj r:id="rId4" imgW="583947" imgH="241195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4088" y="3635375"/>
                        <a:ext cx="9890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3603" name="Object 123"/>
          <p:cNvGraphicFramePr>
            <a:graphicFrameLocks noChangeAspect="1"/>
          </p:cNvGraphicFramePr>
          <p:nvPr/>
        </p:nvGraphicFramePr>
        <p:xfrm>
          <a:off x="2009775" y="3635375"/>
          <a:ext cx="9874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71" r:id="rId6" imgW="583947" imgH="241195" progId="Equation.3">
                  <p:embed/>
                </p:oleObj>
              </mc:Choice>
              <mc:Fallback>
                <p:oleObj r:id="rId6" imgW="583947" imgH="241195" progId="Equation.3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3635375"/>
                        <a:ext cx="9874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3604" name="Text Box 109"/>
          <p:cNvSpPr txBox="1">
            <a:spLocks noChangeArrowheads="1"/>
          </p:cNvSpPr>
          <p:nvPr/>
        </p:nvSpPr>
        <p:spPr bwMode="auto">
          <a:xfrm>
            <a:off x="7467600" y="3211513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核实签名</a:t>
            </a:r>
          </a:p>
        </p:txBody>
      </p:sp>
      <p:sp>
        <p:nvSpPr>
          <p:cNvPr id="2073605" name="Text Box 129"/>
          <p:cNvSpPr txBox="1">
            <a:spLocks noChangeArrowheads="1"/>
          </p:cNvSpPr>
          <p:nvPr/>
        </p:nvSpPr>
        <p:spPr bwMode="auto">
          <a:xfrm>
            <a:off x="6103938" y="3213100"/>
            <a:ext cx="712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解密 </a:t>
            </a:r>
          </a:p>
        </p:txBody>
      </p:sp>
      <p:sp>
        <p:nvSpPr>
          <p:cNvPr id="2073606" name="Text Box 128"/>
          <p:cNvSpPr txBox="1">
            <a:spLocks noChangeArrowheads="1"/>
          </p:cNvSpPr>
          <p:nvPr/>
        </p:nvSpPr>
        <p:spPr bwMode="auto">
          <a:xfrm>
            <a:off x="2574925" y="3213100"/>
            <a:ext cx="712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加密 </a:t>
            </a:r>
          </a:p>
        </p:txBody>
      </p:sp>
      <p:sp>
        <p:nvSpPr>
          <p:cNvPr id="2073607" name="Text Box 108"/>
          <p:cNvSpPr txBox="1">
            <a:spLocks noChangeArrowheads="1"/>
          </p:cNvSpPr>
          <p:nvPr/>
        </p:nvSpPr>
        <p:spPr bwMode="auto">
          <a:xfrm>
            <a:off x="969963" y="3213100"/>
            <a:ext cx="714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签名 </a:t>
            </a:r>
          </a:p>
        </p:txBody>
      </p:sp>
      <p:sp>
        <p:nvSpPr>
          <p:cNvPr id="2073608" name="Rectangle 38"/>
          <p:cNvSpPr>
            <a:spLocks noChangeArrowheads="1"/>
          </p:cNvSpPr>
          <p:nvPr/>
        </p:nvSpPr>
        <p:spPr bwMode="auto">
          <a:xfrm>
            <a:off x="2968625" y="3716338"/>
            <a:ext cx="736600" cy="581025"/>
          </a:xfrm>
          <a:prstGeom prst="rect">
            <a:avLst/>
          </a:prstGeom>
          <a:solidFill>
            <a:srgbClr val="FF66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b="1" i="1">
                <a:solidFill>
                  <a:srgbClr val="000099"/>
                </a:solidFill>
                <a:ea typeface="黑体" panose="02010609060101010101" pitchFamily="49" charset="-122"/>
              </a:rPr>
              <a:t>E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运算</a:t>
            </a:r>
          </a:p>
        </p:txBody>
      </p:sp>
      <p:sp>
        <p:nvSpPr>
          <p:cNvPr id="2073609" name="Line 39"/>
          <p:cNvSpPr>
            <a:spLocks noChangeShapeType="1"/>
          </p:cNvSpPr>
          <p:nvPr/>
        </p:nvSpPr>
        <p:spPr bwMode="auto">
          <a:xfrm>
            <a:off x="2014538" y="4005263"/>
            <a:ext cx="960437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10" name="Rectangle 40"/>
          <p:cNvSpPr>
            <a:spLocks noChangeArrowheads="1"/>
          </p:cNvSpPr>
          <p:nvPr/>
        </p:nvSpPr>
        <p:spPr bwMode="auto">
          <a:xfrm>
            <a:off x="1268413" y="3724275"/>
            <a:ext cx="738187" cy="581025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D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运算</a:t>
            </a:r>
          </a:p>
        </p:txBody>
      </p:sp>
      <p:sp>
        <p:nvSpPr>
          <p:cNvPr id="2073611" name="Text Box 41"/>
          <p:cNvSpPr txBox="1">
            <a:spLocks noChangeArrowheads="1"/>
          </p:cNvSpPr>
          <p:nvPr/>
        </p:nvSpPr>
        <p:spPr bwMode="auto">
          <a:xfrm>
            <a:off x="166688" y="4005263"/>
            <a:ext cx="884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明文 </a:t>
            </a:r>
            <a:r>
              <a:rPr lang="en-US" altLang="zh-CN" b="1" i="1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2073612" name="Text Box 42"/>
          <p:cNvSpPr txBox="1">
            <a:spLocks noChangeArrowheads="1"/>
          </p:cNvSpPr>
          <p:nvPr/>
        </p:nvSpPr>
        <p:spPr bwMode="auto">
          <a:xfrm>
            <a:off x="8993188" y="4005263"/>
            <a:ext cx="931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明文 </a:t>
            </a:r>
            <a:r>
              <a:rPr lang="en-US" altLang="zh-CN" b="1" i="1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2073613" name="Picture 43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397875" y="2782888"/>
            <a:ext cx="4095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614" name="Text Box 44"/>
          <p:cNvSpPr txBox="1">
            <a:spLocks noChangeArrowheads="1"/>
          </p:cNvSpPr>
          <p:nvPr/>
        </p:nvSpPr>
        <p:spPr bwMode="auto">
          <a:xfrm>
            <a:off x="409575" y="2917825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2073615" name="Text Box 45"/>
          <p:cNvSpPr txBox="1">
            <a:spLocks noChangeArrowheads="1"/>
          </p:cNvSpPr>
          <p:nvPr/>
        </p:nvSpPr>
        <p:spPr bwMode="auto">
          <a:xfrm>
            <a:off x="9234488" y="2924175"/>
            <a:ext cx="350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2073616" name="Text Box 47"/>
          <p:cNvSpPr txBox="1">
            <a:spLocks noChangeArrowheads="1"/>
          </p:cNvSpPr>
          <p:nvPr/>
        </p:nvSpPr>
        <p:spPr bwMode="auto">
          <a:xfrm>
            <a:off x="969963" y="2276475"/>
            <a:ext cx="16002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A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的私钥 </a:t>
            </a:r>
            <a:r>
              <a:rPr lang="en-US" altLang="zh-CN" b="1" i="1">
                <a:solidFill>
                  <a:srgbClr val="000099"/>
                </a:solidFill>
                <a:ea typeface="黑体" panose="02010609060101010101" pitchFamily="49" charset="-122"/>
              </a:rPr>
              <a:t>SK</a:t>
            </a:r>
            <a:r>
              <a:rPr lang="en-US" altLang="zh-CN" b="1" baseline="-25000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2073617" name="Freeform 48"/>
          <p:cNvSpPr>
            <a:spLocks noChangeArrowheads="1"/>
          </p:cNvSpPr>
          <p:nvPr/>
        </p:nvSpPr>
        <p:spPr bwMode="auto">
          <a:xfrm>
            <a:off x="1638300" y="3116263"/>
            <a:ext cx="3175" cy="61753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18" name="Freeform 49"/>
          <p:cNvSpPr>
            <a:spLocks noChangeArrowheads="1"/>
          </p:cNvSpPr>
          <p:nvPr/>
        </p:nvSpPr>
        <p:spPr bwMode="auto">
          <a:xfrm>
            <a:off x="8618538" y="3116263"/>
            <a:ext cx="12700" cy="600075"/>
          </a:xfrm>
          <a:custGeom>
            <a:avLst/>
            <a:gdLst>
              <a:gd name="T0" fmla="*/ 0 w 8"/>
              <a:gd name="T1" fmla="*/ 0 h 378"/>
              <a:gd name="T2" fmla="*/ 8 w 8"/>
              <a:gd name="T3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378">
                <a:moveTo>
                  <a:pt x="0" y="0"/>
                </a:moveTo>
                <a:lnTo>
                  <a:pt x="8" y="378"/>
                </a:lnTo>
              </a:path>
            </a:pathLst>
          </a:cu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073619" name="Object 50"/>
          <p:cNvGraphicFramePr>
            <a:graphicFrameLocks noChangeAspect="1"/>
          </p:cNvGraphicFramePr>
          <p:nvPr/>
        </p:nvGraphicFramePr>
        <p:xfrm>
          <a:off x="3776663" y="3190875"/>
          <a:ext cx="256857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72" r:id="rId9" imgW="1687068" imgH="964692" progId="Visio.Drawing.6">
                  <p:embed/>
                </p:oleObj>
              </mc:Choice>
              <mc:Fallback>
                <p:oleObj r:id="rId9" imgW="1687068" imgH="964692" progId="Visio.Drawing.6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3190875"/>
                        <a:ext cx="2568575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3620" name="Freeform 51"/>
          <p:cNvSpPr>
            <a:spLocks noChangeArrowheads="1"/>
          </p:cNvSpPr>
          <p:nvPr/>
        </p:nvSpPr>
        <p:spPr bwMode="auto">
          <a:xfrm rot="-5400000">
            <a:off x="8901906" y="3477420"/>
            <a:ext cx="225425" cy="849312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21" name="Freeform 52"/>
          <p:cNvSpPr>
            <a:spLocks noChangeArrowheads="1"/>
          </p:cNvSpPr>
          <p:nvPr/>
        </p:nvSpPr>
        <p:spPr bwMode="auto">
          <a:xfrm>
            <a:off x="650875" y="3648075"/>
            <a:ext cx="625475" cy="36830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073622" name="Group 53"/>
          <p:cNvGrpSpPr>
            <a:grpSpLocks/>
          </p:cNvGrpSpPr>
          <p:nvPr/>
        </p:nvGrpSpPr>
        <p:grpSpPr bwMode="auto">
          <a:xfrm>
            <a:off x="333375" y="3286125"/>
            <a:ext cx="563563" cy="503238"/>
            <a:chOff x="921" y="2412"/>
            <a:chExt cx="284" cy="265"/>
          </a:xfrm>
        </p:grpSpPr>
        <p:grpSp>
          <p:nvGrpSpPr>
            <p:cNvPr id="2073623" name="Group 5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073624" name="Freeform 55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25" name="Freeform 56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26" name="Freeform 57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27" name="Freeform 58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28" name="Rectangle 5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29" name="Rectangle 6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30" name="Rectangle 6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31" name="Line 6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073632" name="Group 6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073633" name="Freeform 64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73634" name="Freeform 65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73635" name="Rectangle 6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2073636" name="Group 6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73637" name="Freeform 68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38" name="Freeform 69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39" name="Freeform 70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40" name="Freeform 71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41" name="Rectangle 7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42" name="Rectangle 7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43" name="Rectangle 7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44" name="Line 7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073645" name="Group 7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073646" name="Freeform 77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73647" name="Freeform 78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73648" name="Rectangle 7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073649" name="Group 80"/>
          <p:cNvGrpSpPr>
            <a:grpSpLocks/>
          </p:cNvGrpSpPr>
          <p:nvPr/>
        </p:nvGrpSpPr>
        <p:grpSpPr bwMode="auto">
          <a:xfrm>
            <a:off x="9144000" y="3286125"/>
            <a:ext cx="563563" cy="503238"/>
            <a:chOff x="921" y="2412"/>
            <a:chExt cx="284" cy="265"/>
          </a:xfrm>
        </p:grpSpPr>
        <p:grpSp>
          <p:nvGrpSpPr>
            <p:cNvPr id="2073650" name="Group 81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073651" name="Freeform 82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52" name="Freeform 83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53" name="Freeform 84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54" name="Freeform 85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55" name="Rectangle 86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56" name="Rectangle 87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57" name="Rectangle 88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58" name="Line 89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073659" name="Group 90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073660" name="Freeform 91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73661" name="Freeform 92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73662" name="Rectangle 93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2073663" name="Group 94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73664" name="Freeform 95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65" name="Freeform 96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66" name="Freeform 97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67" name="Freeform 98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68" name="Rectangle 99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69" name="Rectangle 100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70" name="Rectangle 101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73671" name="Line 102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073672" name="Group 103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073673" name="Freeform 104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73674" name="Freeform 105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73675" name="Rectangle 106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2073676" name="Text Box 107"/>
          <p:cNvSpPr txBox="1">
            <a:spLocks noChangeArrowheads="1"/>
          </p:cNvSpPr>
          <p:nvPr/>
        </p:nvSpPr>
        <p:spPr bwMode="auto">
          <a:xfrm>
            <a:off x="4500563" y="2771775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因特网</a:t>
            </a:r>
          </a:p>
        </p:txBody>
      </p:sp>
      <p:sp>
        <p:nvSpPr>
          <p:cNvPr id="2073677" name="Rectangle 110"/>
          <p:cNvSpPr>
            <a:spLocks noChangeArrowheads="1"/>
          </p:cNvSpPr>
          <p:nvPr/>
        </p:nvSpPr>
        <p:spPr bwMode="auto">
          <a:xfrm>
            <a:off x="8247063" y="3716338"/>
            <a:ext cx="738187" cy="581025"/>
          </a:xfrm>
          <a:prstGeom prst="rect">
            <a:avLst/>
          </a:prstGeom>
          <a:solidFill>
            <a:srgbClr val="FF66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b="1" i="1">
                <a:solidFill>
                  <a:srgbClr val="000099"/>
                </a:solidFill>
                <a:ea typeface="黑体" panose="02010609060101010101" pitchFamily="49" charset="-122"/>
              </a:rPr>
              <a:t>E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运算</a:t>
            </a:r>
          </a:p>
        </p:txBody>
      </p:sp>
      <p:pic>
        <p:nvPicPr>
          <p:cNvPr id="2073678" name="Picture 111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3121025" y="2782888"/>
            <a:ext cx="409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679" name="Text Box 113"/>
          <p:cNvSpPr txBox="1">
            <a:spLocks noChangeArrowheads="1"/>
          </p:cNvSpPr>
          <p:nvPr/>
        </p:nvSpPr>
        <p:spPr bwMode="auto">
          <a:xfrm>
            <a:off x="6024563" y="2276475"/>
            <a:ext cx="1608137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B 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的私钥 </a:t>
            </a:r>
            <a:r>
              <a:rPr lang="en-US" altLang="zh-CN" b="1" i="1">
                <a:solidFill>
                  <a:srgbClr val="FF0000"/>
                </a:solidFill>
                <a:ea typeface="黑体" panose="02010609060101010101" pitchFamily="49" charset="-122"/>
              </a:rPr>
              <a:t>SK</a:t>
            </a:r>
            <a:r>
              <a:rPr lang="en-US" altLang="zh-CN" b="1" baseline="-25000">
                <a:solidFill>
                  <a:srgbClr val="FF0000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2073680" name="Line 114"/>
          <p:cNvSpPr>
            <a:spLocks noChangeShapeType="1"/>
          </p:cNvSpPr>
          <p:nvPr/>
        </p:nvSpPr>
        <p:spPr bwMode="auto">
          <a:xfrm>
            <a:off x="3698875" y="4005263"/>
            <a:ext cx="2806700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81" name="Rectangle 115"/>
          <p:cNvSpPr>
            <a:spLocks noChangeArrowheads="1"/>
          </p:cNvSpPr>
          <p:nvPr/>
        </p:nvSpPr>
        <p:spPr bwMode="auto">
          <a:xfrm>
            <a:off x="6483350" y="3716338"/>
            <a:ext cx="738188" cy="581025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D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运算</a:t>
            </a:r>
          </a:p>
        </p:txBody>
      </p:sp>
      <p:sp>
        <p:nvSpPr>
          <p:cNvPr id="2073682" name="Line 116"/>
          <p:cNvSpPr>
            <a:spLocks noChangeShapeType="1"/>
          </p:cNvSpPr>
          <p:nvPr/>
        </p:nvSpPr>
        <p:spPr bwMode="auto">
          <a:xfrm>
            <a:off x="7227888" y="4005263"/>
            <a:ext cx="1042987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83" name="Freeform 117"/>
          <p:cNvSpPr>
            <a:spLocks noChangeArrowheads="1"/>
          </p:cNvSpPr>
          <p:nvPr/>
        </p:nvSpPr>
        <p:spPr bwMode="auto">
          <a:xfrm>
            <a:off x="3313113" y="3167063"/>
            <a:ext cx="9525" cy="584200"/>
          </a:xfrm>
          <a:custGeom>
            <a:avLst/>
            <a:gdLst>
              <a:gd name="T0" fmla="*/ 0 w 6"/>
              <a:gd name="T1" fmla="*/ 0 h 368"/>
              <a:gd name="T2" fmla="*/ 6 w 6"/>
              <a:gd name="T3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368">
                <a:moveTo>
                  <a:pt x="0" y="0"/>
                </a:moveTo>
                <a:lnTo>
                  <a:pt x="6" y="368"/>
                </a:lnTo>
              </a:path>
            </a:pathLst>
          </a:cu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84" name="Freeform 118"/>
          <p:cNvSpPr>
            <a:spLocks noChangeArrowheads="1"/>
          </p:cNvSpPr>
          <p:nvPr/>
        </p:nvSpPr>
        <p:spPr bwMode="auto">
          <a:xfrm>
            <a:off x="6823075" y="3116263"/>
            <a:ext cx="3175" cy="61753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85" name="Line 119"/>
          <p:cNvSpPr>
            <a:spLocks noChangeShapeType="1"/>
          </p:cNvSpPr>
          <p:nvPr/>
        </p:nvSpPr>
        <p:spPr bwMode="auto">
          <a:xfrm>
            <a:off x="2974975" y="4868863"/>
            <a:ext cx="42529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86" name="Text Box 120"/>
          <p:cNvSpPr txBox="1">
            <a:spLocks noChangeArrowheads="1"/>
          </p:cNvSpPr>
          <p:nvPr/>
        </p:nvSpPr>
        <p:spPr bwMode="auto">
          <a:xfrm>
            <a:off x="4260850" y="4627563"/>
            <a:ext cx="1722438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加密与解密</a:t>
            </a:r>
          </a:p>
        </p:txBody>
      </p:sp>
      <p:sp>
        <p:nvSpPr>
          <p:cNvPr id="2073687" name="Line 121"/>
          <p:cNvSpPr>
            <a:spLocks noChangeShapeType="1"/>
          </p:cNvSpPr>
          <p:nvPr/>
        </p:nvSpPr>
        <p:spPr bwMode="auto">
          <a:xfrm>
            <a:off x="1316038" y="5275263"/>
            <a:ext cx="7661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88" name="Text Box 122"/>
          <p:cNvSpPr txBox="1">
            <a:spLocks noChangeArrowheads="1"/>
          </p:cNvSpPr>
          <p:nvPr/>
        </p:nvSpPr>
        <p:spPr bwMode="auto">
          <a:xfrm>
            <a:off x="3857625" y="5059363"/>
            <a:ext cx="233997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签名与核实签名</a:t>
            </a:r>
          </a:p>
        </p:txBody>
      </p:sp>
      <p:graphicFrame>
        <p:nvGraphicFramePr>
          <p:cNvPr id="2073689" name="Object 125"/>
          <p:cNvGraphicFramePr>
            <a:graphicFrameLocks noChangeAspect="1"/>
          </p:cNvGraphicFramePr>
          <p:nvPr/>
        </p:nvGraphicFramePr>
        <p:xfrm>
          <a:off x="4249738" y="3652838"/>
          <a:ext cx="16351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73" r:id="rId11" imgW="977900" imgH="241300" progId="Equation.3">
                  <p:embed/>
                </p:oleObj>
              </mc:Choice>
              <mc:Fallback>
                <p:oleObj r:id="rId11" imgW="977900" imgH="241300" progId="Equation.3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3652838"/>
                        <a:ext cx="16351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3690" name="Text Box 126"/>
          <p:cNvSpPr txBox="1">
            <a:spLocks noChangeArrowheads="1"/>
          </p:cNvSpPr>
          <p:nvPr/>
        </p:nvSpPr>
        <p:spPr bwMode="auto">
          <a:xfrm>
            <a:off x="2655888" y="2276475"/>
            <a:ext cx="1608137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B 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的公钥 </a:t>
            </a:r>
            <a:r>
              <a:rPr lang="en-US" altLang="zh-CN" b="1" i="1">
                <a:solidFill>
                  <a:srgbClr val="FF0000"/>
                </a:solidFill>
                <a:ea typeface="黑体" panose="02010609060101010101" pitchFamily="49" charset="-122"/>
              </a:rPr>
              <a:t>PK</a:t>
            </a:r>
            <a:r>
              <a:rPr lang="en-US" altLang="zh-CN" b="1" baseline="-25000">
                <a:solidFill>
                  <a:srgbClr val="FF0000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2073691" name="Text Box 127"/>
          <p:cNvSpPr txBox="1">
            <a:spLocks noChangeArrowheads="1"/>
          </p:cNvSpPr>
          <p:nvPr/>
        </p:nvSpPr>
        <p:spPr bwMode="auto">
          <a:xfrm>
            <a:off x="7870825" y="2205038"/>
            <a:ext cx="159861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A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的公钥 </a:t>
            </a:r>
            <a:r>
              <a:rPr lang="en-US" altLang="zh-CN" b="1" i="1">
                <a:solidFill>
                  <a:srgbClr val="000099"/>
                </a:solidFill>
                <a:ea typeface="黑体" panose="02010609060101010101" pitchFamily="49" charset="-122"/>
              </a:rPr>
              <a:t>PK</a:t>
            </a:r>
            <a:r>
              <a:rPr lang="en-US" altLang="zh-CN" b="1" baseline="-25000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2073692" name="Text Box 130"/>
          <p:cNvSpPr txBox="1">
            <a:spLocks noChangeArrowheads="1"/>
          </p:cNvSpPr>
          <p:nvPr/>
        </p:nvSpPr>
        <p:spPr bwMode="auto">
          <a:xfrm>
            <a:off x="4821238" y="3352800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密文</a:t>
            </a:r>
            <a:endParaRPr lang="zh-CN" altLang="en-US" b="1" i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73693" name="矩形 2"/>
          <p:cNvSpPr>
            <a:spLocks noChangeArrowheads="1"/>
          </p:cNvSpPr>
          <p:nvPr/>
        </p:nvSpPr>
        <p:spPr bwMode="auto">
          <a:xfrm>
            <a:off x="2292350" y="1268413"/>
            <a:ext cx="5540375" cy="58578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同时实现秘密通信和数字签名</a:t>
            </a:r>
            <a:endParaRPr lang="zh-CN" altLang="en-US" sz="32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2073694" name="Picture 7" descr="key 的图像结果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346200" y="2628900"/>
            <a:ext cx="531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3695" name="Picture 7" descr="key 的图像结果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51612" y="2628901"/>
            <a:ext cx="531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69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34D559-5C36-4D4E-BA3D-811768CCBE1B}" type="slidenum">
              <a:rPr lang="zh-CN" altLang="en-US" smtClean="0"/>
              <a:pPr eaLnBrk="1" hangingPunct="1"/>
              <a:t>35</a:t>
            </a:fld>
            <a:endParaRPr lang="en-US" altLang="zh-CN" smtClean="0"/>
          </a:p>
        </p:txBody>
      </p:sp>
      <p:sp>
        <p:nvSpPr>
          <p:cNvPr id="207369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6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49" charset="-122"/>
              </a:rPr>
              <a:t>7.4  </a:t>
            </a:r>
            <a:r>
              <a:rPr lang="zh-CN" altLang="zh-CN" sz="4800" smtClean="0">
                <a:ea typeface="黑体" panose="02010609060101010101" pitchFamily="49" charset="-122"/>
              </a:rPr>
              <a:t>鉴别</a:t>
            </a:r>
            <a:endParaRPr lang="zh-CN" altLang="en-US" sz="4800" smtClean="0">
              <a:ea typeface="黑体" panose="02010609060101010101" pitchFamily="49" charset="-122"/>
            </a:endParaRPr>
          </a:p>
        </p:txBody>
      </p:sp>
      <p:sp>
        <p:nvSpPr>
          <p:cNvPr id="207565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7.4.1  </a:t>
            </a:r>
            <a:r>
              <a:rPr lang="zh-CN" altLang="zh-CN" smtClean="0">
                <a:ea typeface="黑体" panose="02010609060101010101" pitchFamily="49" charset="-122"/>
              </a:rPr>
              <a:t>报文鉴别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7.4.2  </a:t>
            </a:r>
            <a:r>
              <a:rPr lang="zh-CN" altLang="zh-CN" smtClean="0">
                <a:ea typeface="黑体" panose="02010609060101010101" pitchFamily="49" charset="-122"/>
              </a:rPr>
              <a:t>实体鉴别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756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FB838E-90AD-40B9-9FF0-12DBB27560DB}" type="slidenum">
              <a:rPr lang="zh-CN" altLang="en-US" smtClean="0"/>
              <a:pPr eaLnBrk="1" hangingPunct="1"/>
              <a:t>36</a:t>
            </a:fld>
            <a:endParaRPr lang="en-US" altLang="zh-CN" smtClean="0"/>
          </a:p>
        </p:txBody>
      </p:sp>
      <p:sp>
        <p:nvSpPr>
          <p:cNvPr id="20756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49" charset="-122"/>
              </a:rPr>
              <a:t>7.4  </a:t>
            </a:r>
            <a:r>
              <a:rPr lang="zh-CN" altLang="en-US" sz="4800" smtClean="0">
                <a:ea typeface="黑体" panose="02010609060101010101" pitchFamily="49" charset="-122"/>
              </a:rPr>
              <a:t>鉴别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在信息的安全领域中，对付被动攻击的重要措施是加密，而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对付主动攻击中的篡改和伪造则要用鉴别 </a:t>
            </a:r>
            <a:r>
              <a:rPr lang="en-US" altLang="zh-CN" dirty="0" smtClean="0">
                <a:ea typeface="黑体" panose="02010609060101010101" pitchFamily="49" charset="-122"/>
              </a:rPr>
              <a:t>(authentication)</a:t>
            </a:r>
            <a:r>
              <a:rPr lang="en-US" altLang="zh-CN" sz="3600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ea typeface="黑体" panose="02010609060101010101" pitchFamily="49" charset="-122"/>
              </a:rPr>
              <a:t>鉴别与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授权 </a:t>
            </a:r>
            <a:r>
              <a:rPr lang="en-US" altLang="zh-CN" dirty="0">
                <a:ea typeface="黑体" panose="02010609060101010101" pitchFamily="49" charset="-122"/>
              </a:rPr>
              <a:t>(authorization)</a:t>
            </a:r>
            <a:r>
              <a:rPr lang="zh-CN" altLang="en-US" dirty="0">
                <a:ea typeface="黑体" panose="02010609060101010101" pitchFamily="49" charset="-122"/>
              </a:rPr>
              <a:t>是不同的概念。</a:t>
            </a:r>
          </a:p>
          <a:p>
            <a:pPr>
              <a:spcBef>
                <a:spcPts val="1200"/>
              </a:spcBef>
            </a:pPr>
            <a:r>
              <a:rPr lang="zh-CN" altLang="en-US" dirty="0">
                <a:ea typeface="黑体" panose="02010609060101010101" pitchFamily="49" charset="-122"/>
              </a:rPr>
              <a:t>授权涉及到的问题是：所进行的过程是否被允许（如是否可以对某文件进行读或写</a:t>
            </a:r>
            <a:r>
              <a:rPr lang="zh-CN" altLang="en-US" dirty="0" smtClean="0">
                <a:ea typeface="黑体" panose="02010609060101010101" pitchFamily="49" charset="-122"/>
              </a:rPr>
              <a:t>）。</a:t>
            </a:r>
          </a:p>
        </p:txBody>
      </p:sp>
      <p:sp>
        <p:nvSpPr>
          <p:cNvPr id="20766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E37B7D-8277-4046-99D5-102A631F4386}" type="slidenum">
              <a:rPr lang="zh-CN" altLang="en-US" smtClean="0"/>
              <a:pPr eaLnBrk="1" hangingPunct="1"/>
              <a:t>37</a:t>
            </a:fld>
            <a:endParaRPr lang="en-US" altLang="zh-CN" smtClean="0"/>
          </a:p>
        </p:txBody>
      </p:sp>
      <p:sp>
        <p:nvSpPr>
          <p:cNvPr id="20766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鉴别分类</a:t>
            </a:r>
          </a:p>
        </p:txBody>
      </p:sp>
      <p:sp>
        <p:nvSpPr>
          <p:cNvPr id="207872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可再把鉴别细分为两种。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报文鉴别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：</a:t>
            </a:r>
            <a:r>
              <a:rPr lang="zh-CN" altLang="zh-CN" dirty="0" smtClean="0">
                <a:ea typeface="黑体" panose="02010609060101010101" pitchFamily="49" charset="-122"/>
              </a:rPr>
              <a:t>即鉴别所收到的报文的确是报文的发送者所发送的，而不是其他人伪造的或篡改的。这就包含了端点鉴别和报文完整性的鉴别。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实体鉴别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：</a:t>
            </a:r>
            <a:r>
              <a:rPr lang="zh-CN" altLang="zh-CN" dirty="0" smtClean="0">
                <a:ea typeface="黑体" panose="02010609060101010101" pitchFamily="49" charset="-122"/>
              </a:rPr>
              <a:t>仅仅鉴别发送报文的实体。实体可以是一个人，也可以是一个进程（客户或服务器）。这就是端点鉴别。</a:t>
            </a:r>
          </a:p>
        </p:txBody>
      </p:sp>
      <p:sp>
        <p:nvSpPr>
          <p:cNvPr id="207872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E855B8-19F8-44B5-856A-02FC306912F9}" type="slidenum">
              <a:rPr lang="zh-CN" altLang="en-US" smtClean="0"/>
              <a:pPr eaLnBrk="1" hangingPunct="1"/>
              <a:t>38</a:t>
            </a:fld>
            <a:endParaRPr lang="en-US" altLang="zh-CN" smtClean="0"/>
          </a:p>
        </p:txBody>
      </p:sp>
      <p:sp>
        <p:nvSpPr>
          <p:cNvPr id="207872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7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7.4.1  </a:t>
            </a:r>
            <a:r>
              <a:rPr lang="zh-CN" altLang="en-US" smtClean="0">
                <a:ea typeface="黑体" panose="02010609060101010101" pitchFamily="49" charset="-122"/>
              </a:rPr>
              <a:t>报文鉴别 </a:t>
            </a:r>
          </a:p>
        </p:txBody>
      </p:sp>
      <p:sp>
        <p:nvSpPr>
          <p:cNvPr id="208077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许多报文并不需要加密，但却需要数字签名，以便让报文的接收者能够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鉴别报文的真伪。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然而对很长的报文进行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数字签名</a:t>
            </a:r>
            <a:r>
              <a:rPr lang="zh-CN" altLang="en-US" dirty="0" smtClean="0">
                <a:ea typeface="黑体" panose="02010609060101010101" pitchFamily="49" charset="-122"/>
              </a:rPr>
              <a:t>会使计算机增加很大的负担（需要进行很长时间的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运算</a:t>
            </a:r>
            <a:r>
              <a:rPr lang="zh-CN" altLang="en-US" dirty="0" smtClean="0">
                <a:ea typeface="黑体" panose="02010609060101010101" pitchFamily="49" charset="-122"/>
              </a:rPr>
              <a:t>）。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当我们传送不需要加密的报文时，应当使接收者能用很简单的方法鉴别报文的真伪。</a:t>
            </a:r>
          </a:p>
        </p:txBody>
      </p:sp>
      <p:sp>
        <p:nvSpPr>
          <p:cNvPr id="208077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642344-FCCC-4AB4-A9B9-85DA5A5725C8}" type="slidenum">
              <a:rPr lang="zh-CN" altLang="en-US" smtClean="0"/>
              <a:pPr eaLnBrk="1" hangingPunct="1"/>
              <a:t>39</a:t>
            </a:fld>
            <a:endParaRPr lang="en-US" altLang="zh-CN" smtClean="0"/>
          </a:p>
        </p:txBody>
      </p:sp>
      <p:sp>
        <p:nvSpPr>
          <p:cNvPr id="208077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7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 </a:t>
            </a:r>
            <a:r>
              <a:rPr lang="zh-CN" altLang="zh-CN" smtClean="0">
                <a:ea typeface="黑体" panose="02010609060101010101" pitchFamily="49" charset="-122"/>
              </a:rPr>
              <a:t>密码散列函数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208179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数字签名就能够实现对报文的鉴别。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但</a:t>
            </a:r>
            <a:r>
              <a:rPr lang="zh-CN" altLang="zh-CN" dirty="0" smtClean="0">
                <a:ea typeface="黑体" panose="02010609060101010101" pitchFamily="49" charset="-122"/>
              </a:rPr>
              <a:t>这种方法有一个很大的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缺点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：</a:t>
            </a:r>
            <a:r>
              <a:rPr lang="zh-CN" altLang="zh-CN" dirty="0" smtClean="0">
                <a:ea typeface="黑体" panose="02010609060101010101" pitchFamily="49" charset="-122"/>
              </a:rPr>
              <a:t>对较长的报文（这是很常见的）进行数字签名会使计算机增加非常大的负担，因为这需要进行较多的时间来进行运算。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密码散列函数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(cryptographic hash function)</a:t>
            </a:r>
            <a:r>
              <a:rPr lang="zh-CN" altLang="en-US" dirty="0" smtClean="0">
                <a:ea typeface="黑体" panose="02010609060101010101" pitchFamily="49" charset="-122"/>
              </a:rPr>
              <a:t>是</a:t>
            </a:r>
            <a:r>
              <a:rPr lang="zh-CN" altLang="zh-CN" dirty="0" smtClean="0">
                <a:ea typeface="黑体" panose="02010609060101010101" pitchFamily="49" charset="-122"/>
              </a:rPr>
              <a:t>一种相对简单的对报文进行鉴别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zh-CN" altLang="zh-CN" dirty="0" smtClean="0">
                <a:ea typeface="黑体" panose="02010609060101010101" pitchFamily="49" charset="-122"/>
              </a:rPr>
              <a:t>方法。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0817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2F9187-BEA4-482E-8096-2B4C89CC4272}" type="slidenum">
              <a:rPr lang="zh-CN" altLang="en-US" smtClean="0"/>
              <a:pPr eaLnBrk="1" hangingPunct="1"/>
              <a:t>40</a:t>
            </a:fld>
            <a:endParaRPr lang="en-US" altLang="zh-CN" smtClean="0"/>
          </a:p>
        </p:txBody>
      </p:sp>
      <p:sp>
        <p:nvSpPr>
          <p:cNvPr id="20817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散列函数</a:t>
            </a:r>
            <a:r>
              <a:rPr lang="zh-CN" altLang="en-US" smtClean="0">
                <a:ea typeface="黑体" panose="02010609060101010101" pitchFamily="49" charset="-122"/>
              </a:rPr>
              <a:t>的</a:t>
            </a:r>
            <a:r>
              <a:rPr lang="zh-CN" altLang="zh-CN" smtClean="0">
                <a:ea typeface="黑体" panose="02010609060101010101" pitchFamily="49" charset="-122"/>
              </a:rPr>
              <a:t>两个特点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208384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(1) </a:t>
            </a:r>
            <a:r>
              <a:rPr lang="zh-CN" altLang="zh-CN" smtClean="0">
                <a:ea typeface="黑体" panose="02010609060101010101" pitchFamily="49" charset="-122"/>
              </a:rPr>
              <a:t>散列函数的输入长度可以很长，但其输出长度则是固定的，并且较短。散列函数的输出叫做散列值，或更简单些，称为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散列。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(2) </a:t>
            </a:r>
            <a:r>
              <a:rPr lang="zh-CN" altLang="zh-CN" smtClean="0">
                <a:ea typeface="黑体" panose="02010609060101010101" pitchFamily="49" charset="-122"/>
              </a:rPr>
              <a:t>不同的散列值肯定对应于不同的输入，但不同的输入却可能得出相同的散列值。这就是说，散列函数的输入和输出并非一一对应的，而是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多对一</a:t>
            </a:r>
            <a:r>
              <a:rPr lang="zh-CN" altLang="zh-CN" smtClean="0">
                <a:ea typeface="黑体" panose="02010609060101010101" pitchFamily="49" charset="-122"/>
              </a:rPr>
              <a:t>的。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0838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647136-2EC2-49BD-BB40-E6C6412E6FC9}" type="slidenum">
              <a:rPr lang="zh-CN" altLang="en-US" smtClean="0"/>
              <a:pPr eaLnBrk="1" hangingPunct="1"/>
              <a:t>41</a:t>
            </a:fld>
            <a:endParaRPr lang="en-US" altLang="zh-CN" smtClean="0"/>
          </a:p>
        </p:txBody>
      </p:sp>
      <p:sp>
        <p:nvSpPr>
          <p:cNvPr id="20838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密码散列函数</a:t>
            </a:r>
            <a:r>
              <a:rPr lang="zh-CN" altLang="en-US" smtClean="0">
                <a:ea typeface="黑体" panose="02010609060101010101" pitchFamily="49" charset="-122"/>
              </a:rPr>
              <a:t>的</a:t>
            </a:r>
            <a:r>
              <a:rPr lang="zh-CN" altLang="zh-CN" smtClean="0">
                <a:ea typeface="黑体" panose="02010609060101010101" pitchFamily="49" charset="-122"/>
              </a:rPr>
              <a:t>特点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208589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在密码学中使用的散列函数称为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密码散列函数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特点：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单向性。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要找到两个不同的报文，它们具有同样的密码散列函数输出，在计算上是不可行的。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也就是说，密码散列函数实际上是一种单向函数</a:t>
            </a:r>
            <a:r>
              <a:rPr lang="en-US" altLang="zh-CN" dirty="0" smtClean="0">
                <a:ea typeface="黑体" panose="02010609060101010101" pitchFamily="49" charset="-122"/>
              </a:rPr>
              <a:t> (one-way function)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0858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E43C89-A7E5-4E96-933C-DC3716282FD1}" type="slidenum">
              <a:rPr lang="zh-CN" altLang="en-US" smtClean="0"/>
              <a:pPr eaLnBrk="1" hangingPunct="1"/>
              <a:t>42</a:t>
            </a:fld>
            <a:endParaRPr lang="en-US" altLang="zh-CN" smtClean="0"/>
          </a:p>
        </p:txBody>
      </p:sp>
      <p:sp>
        <p:nvSpPr>
          <p:cNvPr id="20858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密码散列函数</a:t>
            </a:r>
            <a:r>
              <a:rPr lang="zh-CN" altLang="en-US" smtClean="0">
                <a:ea typeface="黑体" panose="02010609060101010101" pitchFamily="49" charset="-122"/>
              </a:rPr>
              <a:t>的</a:t>
            </a:r>
            <a:r>
              <a:rPr lang="zh-CN" altLang="zh-CN" smtClean="0">
                <a:ea typeface="黑体" panose="02010609060101010101" pitchFamily="49" charset="-122"/>
              </a:rPr>
              <a:t>特点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grpSp>
        <p:nvGrpSpPr>
          <p:cNvPr id="2087938" name="组合 1"/>
          <p:cNvGrpSpPr>
            <a:grpSpLocks/>
          </p:cNvGrpSpPr>
          <p:nvPr/>
        </p:nvGrpSpPr>
        <p:grpSpPr bwMode="auto">
          <a:xfrm>
            <a:off x="1281113" y="1228725"/>
            <a:ext cx="7632700" cy="2200275"/>
            <a:chOff x="2864768" y="3887122"/>
            <a:chExt cx="5904655" cy="1980279"/>
          </a:xfrm>
        </p:grpSpPr>
        <p:sp>
          <p:nvSpPr>
            <p:cNvPr id="2087939" name="TextBox 5"/>
            <p:cNvSpPr txBox="1">
              <a:spLocks noChangeArrowheads="1"/>
            </p:cNvSpPr>
            <p:nvPr/>
          </p:nvSpPr>
          <p:spPr bwMode="auto">
            <a:xfrm>
              <a:off x="2976177" y="3887122"/>
              <a:ext cx="1128702" cy="360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长的明文 </a:t>
              </a:r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X</a:t>
              </a:r>
              <a:endParaRPr lang="zh-CN" altLang="en-US" sz="2000" b="1" i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67961" y="4552930"/>
              <a:ext cx="1440549" cy="53293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/>
              <a:r>
                <a:rPr lang="zh-CN" altLang="en-US" sz="2000" b="1" noProof="1">
                  <a:solidFill>
                    <a:srgbClr val="000099"/>
                  </a:solidFill>
                  <a:ea typeface="黑体" panose="02010609060101010101" pitchFamily="2" charset="-122"/>
                </a:rPr>
                <a:t>散列函数 </a:t>
              </a:r>
              <a:r>
                <a:rPr lang="en-US" altLang="zh-CN" sz="2000" b="1" i="1" noProof="1">
                  <a:solidFill>
                    <a:srgbClr val="000099"/>
                  </a:solidFill>
                  <a:ea typeface="黑体" panose="0201060906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000" b="1" noProof="1">
                  <a:solidFill>
                    <a:srgbClr val="000099"/>
                  </a:solidFill>
                  <a:ea typeface="黑体" panose="0201060906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000" b="1" i="1" noProof="1">
                  <a:solidFill>
                    <a:srgbClr val="000099"/>
                  </a:solidFill>
                  <a:ea typeface="黑体" panose="02010609060101010101" pitchFamily="2" charset="-122"/>
                  <a:cs typeface="Times New Roman" panose="02020603050405020304" pitchFamily="18" charset="0"/>
                  <a:sym typeface="Wingdings" panose="05000000000000000000"/>
                </a:rPr>
                <a:t>X</a:t>
              </a:r>
              <a:r>
                <a:rPr lang="en-US" altLang="zh-CN" sz="2000" b="1" noProof="1">
                  <a:solidFill>
                    <a:srgbClr val="000099"/>
                  </a:solidFill>
                  <a:ea typeface="黑体" panose="0201060906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2000" b="1" noProof="1">
                <a:solidFill>
                  <a:srgbClr val="000099"/>
                </a:solidFill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流程图: 文档 7"/>
            <p:cNvSpPr/>
            <p:nvPr/>
          </p:nvSpPr>
          <p:spPr>
            <a:xfrm>
              <a:off x="7403787" y="4681520"/>
              <a:ext cx="1365636" cy="764394"/>
            </a:xfrm>
            <a:prstGeom prst="flowChartDocumen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0" hangingPunct="0"/>
              <a:r>
                <a:rPr lang="en-US" altLang="zh-CN" sz="2400" b="1" noProof="1">
                  <a:solidFill>
                    <a:srgbClr val="000099"/>
                  </a:solidFill>
                  <a:ea typeface="黑体" panose="02010609060101010101" pitchFamily="2" charset="-122"/>
                </a:rPr>
                <a:t>10010…1011</a:t>
              </a:r>
              <a:endParaRPr lang="zh-CN" altLang="en-US" sz="24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9" name="右箭头 8"/>
            <p:cNvSpPr/>
            <p:nvPr/>
          </p:nvSpPr>
          <p:spPr>
            <a:xfrm>
              <a:off x="4213210" y="4791536"/>
              <a:ext cx="825276" cy="150021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0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10" name="右箭头 9"/>
            <p:cNvSpPr/>
            <p:nvPr/>
          </p:nvSpPr>
          <p:spPr>
            <a:xfrm>
              <a:off x="6517107" y="4797251"/>
              <a:ext cx="864575" cy="162880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0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11" name="流程图: 文档 10"/>
            <p:cNvSpPr/>
            <p:nvPr/>
          </p:nvSpPr>
          <p:spPr>
            <a:xfrm>
              <a:off x="2864768" y="4211454"/>
              <a:ext cx="1348442" cy="1655947"/>
            </a:xfrm>
            <a:prstGeom prst="flowChartDocumen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14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87945" name="TextBox 11"/>
            <p:cNvSpPr txBox="1">
              <a:spLocks noChangeArrowheads="1"/>
            </p:cNvSpPr>
            <p:nvPr/>
          </p:nvSpPr>
          <p:spPr bwMode="auto">
            <a:xfrm>
              <a:off x="2864768" y="4246057"/>
              <a:ext cx="1348656" cy="1578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The ABC Computer Network………………</a:t>
              </a:r>
            </a:p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………………………</a:t>
              </a:r>
            </a:p>
          </p:txBody>
        </p:sp>
        <p:sp>
          <p:nvSpPr>
            <p:cNvPr id="2087946" name="TextBox 12"/>
            <p:cNvSpPr txBox="1">
              <a:spLocks noChangeArrowheads="1"/>
            </p:cNvSpPr>
            <p:nvPr/>
          </p:nvSpPr>
          <p:spPr bwMode="auto">
            <a:xfrm>
              <a:off x="4870123" y="4149080"/>
              <a:ext cx="1740051" cy="360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多对一的单向变换</a:t>
              </a:r>
            </a:p>
          </p:txBody>
        </p:sp>
        <p:sp>
          <p:nvSpPr>
            <p:cNvPr id="2087947" name="TextBox 13"/>
            <p:cNvSpPr txBox="1">
              <a:spLocks noChangeArrowheads="1"/>
            </p:cNvSpPr>
            <p:nvPr/>
          </p:nvSpPr>
          <p:spPr bwMode="auto">
            <a:xfrm>
              <a:off x="7353652" y="4063772"/>
              <a:ext cx="1340752" cy="637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得出固定长度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的散列值</a:t>
              </a:r>
            </a:p>
          </p:txBody>
        </p:sp>
        <p:sp>
          <p:nvSpPr>
            <p:cNvPr id="15" name="右箭头 14"/>
            <p:cNvSpPr/>
            <p:nvPr/>
          </p:nvSpPr>
          <p:spPr>
            <a:xfrm rot="10800000">
              <a:off x="4213210" y="5228740"/>
              <a:ext cx="3168471" cy="164308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0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87949" name="TextBox 15"/>
            <p:cNvSpPr txBox="1">
              <a:spLocks noChangeArrowheads="1"/>
            </p:cNvSpPr>
            <p:nvPr/>
          </p:nvSpPr>
          <p:spPr bwMode="auto">
            <a:xfrm>
              <a:off x="5437560" y="4697269"/>
              <a:ext cx="534713" cy="1080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7200" b="1">
                  <a:solidFill>
                    <a:srgbClr val="FF0000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</a:t>
              </a:r>
              <a:endParaRPr lang="zh-CN" altLang="en-US" sz="7200" b="1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87950" name="TextBox 16"/>
            <p:cNvSpPr txBox="1">
              <a:spLocks noChangeArrowheads="1"/>
            </p:cNvSpPr>
            <p:nvPr/>
          </p:nvSpPr>
          <p:spPr bwMode="auto">
            <a:xfrm>
              <a:off x="4861496" y="5466710"/>
              <a:ext cx="1939701" cy="360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逆向变换是不可能的</a:t>
              </a:r>
            </a:p>
          </p:txBody>
        </p:sp>
      </p:grpSp>
      <p:sp>
        <p:nvSpPr>
          <p:cNvPr id="2087951" name="矩形 2"/>
          <p:cNvSpPr>
            <a:spLocks noChangeArrowheads="1"/>
          </p:cNvSpPr>
          <p:nvPr/>
        </p:nvSpPr>
        <p:spPr bwMode="auto">
          <a:xfrm>
            <a:off x="1281113" y="3933825"/>
            <a:ext cx="7632700" cy="12890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散列</a:t>
            </a:r>
            <a:r>
              <a:rPr lang="en-US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3200" b="1" i="1">
                <a:solidFill>
                  <a:srgbClr val="000099"/>
                </a:solidFill>
                <a:ea typeface="黑体" panose="02010609060101010101" pitchFamily="49" charset="-122"/>
              </a:rPr>
              <a:t>H(X)</a:t>
            </a:r>
            <a:r>
              <a:rPr lang="en-US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可用来保护明文</a:t>
            </a:r>
            <a:r>
              <a:rPr lang="en-US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  <a:r>
              <a:rPr lang="zh-CN" altLang="zh-CN" sz="3200" b="1">
                <a:solidFill>
                  <a:srgbClr val="000099"/>
                </a:solidFill>
                <a:ea typeface="黑体" panose="02010609060101010101" pitchFamily="49" charset="-122"/>
              </a:rPr>
              <a:t>的完整性</a:t>
            </a:r>
            <a:r>
              <a:rPr lang="zh-CN" altLang="en-US" sz="3200" b="1">
                <a:solidFill>
                  <a:srgbClr val="000099"/>
                </a:solidFill>
                <a:ea typeface="黑体" panose="02010609060101010101" pitchFamily="49" charset="-122"/>
              </a:rPr>
              <a:t>，</a:t>
            </a:r>
            <a:endParaRPr lang="en-US" altLang="zh-CN" sz="32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algn="ctr" eaLnBrk="0" hangingPunct="0"/>
            <a:r>
              <a:rPr lang="zh-CN" altLang="en-US" sz="3200" b="1">
                <a:solidFill>
                  <a:srgbClr val="000099"/>
                </a:solidFill>
                <a:ea typeface="黑体" panose="02010609060101010101" pitchFamily="49" charset="-122"/>
              </a:rPr>
              <a:t>防篡改和伪造。</a:t>
            </a:r>
          </a:p>
        </p:txBody>
      </p:sp>
      <p:sp>
        <p:nvSpPr>
          <p:cNvPr id="2087952" name="灯片编号占位符 1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7FB6EE-979B-4DE7-97F9-A8E560C7D0DB}" type="slidenum">
              <a:rPr lang="zh-CN" altLang="en-US" smtClean="0"/>
              <a:pPr eaLnBrk="1" hangingPunct="1"/>
              <a:t>43</a:t>
            </a:fld>
            <a:endParaRPr lang="en-US" altLang="zh-CN" smtClean="0"/>
          </a:p>
        </p:txBody>
      </p:sp>
      <p:sp>
        <p:nvSpPr>
          <p:cNvPr id="2087953" name="页脚占位符 1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98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49" charset="-122"/>
              </a:rPr>
              <a:t>2. </a:t>
            </a:r>
            <a:r>
              <a:rPr lang="zh-CN" altLang="zh-CN" sz="4000" smtClean="0">
                <a:ea typeface="黑体" panose="02010609060101010101" pitchFamily="49" charset="-122"/>
              </a:rPr>
              <a:t>实用的密码散列函数</a:t>
            </a:r>
            <a:r>
              <a:rPr lang="en-US" altLang="zh-CN" sz="4000" smtClean="0">
                <a:ea typeface="黑体" panose="02010609060101010101" pitchFamily="49" charset="-122"/>
              </a:rPr>
              <a:t>MD5</a:t>
            </a:r>
            <a:r>
              <a:rPr lang="zh-CN" altLang="zh-CN" sz="4000" smtClean="0">
                <a:ea typeface="黑体" panose="02010609060101010101" pitchFamily="49" charset="-122"/>
              </a:rPr>
              <a:t>和</a:t>
            </a:r>
            <a:r>
              <a:rPr lang="en-US" altLang="zh-CN" sz="4000" smtClean="0">
                <a:ea typeface="黑体" panose="02010609060101010101" pitchFamily="49" charset="-122"/>
              </a:rPr>
              <a:t>SHA-1</a:t>
            </a:r>
            <a:endParaRPr lang="zh-CN" altLang="en-US" sz="4000" smtClean="0">
              <a:ea typeface="黑体" panose="02010609060101010101" pitchFamily="49" charset="-122"/>
            </a:endParaRPr>
          </a:p>
        </p:txBody>
      </p:sp>
      <p:sp>
        <p:nvSpPr>
          <p:cNvPr id="208998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通过许多学者的不断努力，已经设计出一些实用的密码散列函数（或称为散列算法），其中最出名的就是</a:t>
            </a:r>
            <a:r>
              <a:rPr lang="en-US" altLang="zh-CN" dirty="0" smtClean="0">
                <a:ea typeface="黑体" panose="02010609060101010101" pitchFamily="49" charset="-122"/>
              </a:rPr>
              <a:t> MD5 </a:t>
            </a:r>
            <a:r>
              <a:rPr lang="zh-CN" altLang="zh-CN" dirty="0" smtClean="0">
                <a:ea typeface="黑体" panose="02010609060101010101" pitchFamily="49" charset="-122"/>
              </a:rPr>
              <a:t>和</a:t>
            </a:r>
            <a:r>
              <a:rPr lang="en-US" altLang="zh-CN" dirty="0" smtClean="0">
                <a:ea typeface="黑体" panose="02010609060101010101" pitchFamily="49" charset="-122"/>
              </a:rPr>
              <a:t> SHA-1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报文摘要算法</a:t>
            </a:r>
            <a:r>
              <a:rPr lang="en-US" altLang="zh-CN" dirty="0" smtClean="0">
                <a:ea typeface="黑体" panose="02010609060101010101" pitchFamily="49" charset="-122"/>
              </a:rPr>
              <a:t> MD5 </a:t>
            </a:r>
            <a:r>
              <a:rPr lang="zh-CN" altLang="zh-CN" dirty="0" smtClean="0">
                <a:ea typeface="黑体" panose="02010609060101010101" pitchFamily="49" charset="-122"/>
              </a:rPr>
              <a:t>公布于</a:t>
            </a:r>
            <a:r>
              <a:rPr lang="en-US" altLang="zh-CN" dirty="0" smtClean="0">
                <a:ea typeface="黑体" panose="02010609060101010101" pitchFamily="49" charset="-122"/>
              </a:rPr>
              <a:t>RFC 1321 (1991</a:t>
            </a:r>
            <a:r>
              <a:rPr lang="zh-CN" altLang="zh-CN" dirty="0" smtClean="0">
                <a:ea typeface="黑体" panose="02010609060101010101" pitchFamily="49" charset="-122"/>
              </a:rPr>
              <a:t>年</a:t>
            </a:r>
            <a:r>
              <a:rPr lang="en-US" altLang="zh-CN" dirty="0" smtClean="0">
                <a:ea typeface="黑体" panose="02010609060101010101" pitchFamily="49" charset="-122"/>
              </a:rPr>
              <a:t>)</a:t>
            </a:r>
            <a:r>
              <a:rPr lang="zh-CN" altLang="zh-CN" dirty="0" smtClean="0">
                <a:ea typeface="黑体" panose="02010609060101010101" pitchFamily="49" charset="-122"/>
              </a:rPr>
              <a:t>，并获得了非常广泛的应用。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SHA-1</a:t>
            </a:r>
            <a:r>
              <a:rPr lang="zh-CN" altLang="zh-CN" dirty="0" smtClean="0">
                <a:ea typeface="黑体" panose="02010609060101010101" pitchFamily="49" charset="-122"/>
              </a:rPr>
              <a:t>比</a:t>
            </a:r>
            <a:r>
              <a:rPr lang="en-US" altLang="zh-CN" dirty="0" smtClean="0">
                <a:ea typeface="黑体" panose="02010609060101010101" pitchFamily="49" charset="-122"/>
              </a:rPr>
              <a:t> MD5 </a:t>
            </a:r>
            <a:r>
              <a:rPr lang="zh-CN" altLang="zh-CN" dirty="0" smtClean="0">
                <a:ea typeface="黑体" panose="02010609060101010101" pitchFamily="49" charset="-122"/>
              </a:rPr>
              <a:t>更安全，但计算起来却比</a:t>
            </a:r>
            <a:r>
              <a:rPr lang="en-US" altLang="zh-CN" dirty="0" smtClean="0">
                <a:ea typeface="黑体" panose="02010609060101010101" pitchFamily="49" charset="-122"/>
              </a:rPr>
              <a:t> MD5 </a:t>
            </a:r>
            <a:r>
              <a:rPr lang="zh-CN" altLang="zh-CN" dirty="0" smtClean="0">
                <a:ea typeface="黑体" panose="02010609060101010101" pitchFamily="49" charset="-122"/>
              </a:rPr>
              <a:t>要慢些。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08998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26F155-9803-4421-B7D1-DF80ADA705A8}" type="slidenum">
              <a:rPr lang="zh-CN" altLang="en-US" smtClean="0"/>
              <a:pPr eaLnBrk="1" hangingPunct="1"/>
              <a:t>44</a:t>
            </a:fld>
            <a:endParaRPr lang="en-US" altLang="zh-CN" smtClean="0"/>
          </a:p>
        </p:txBody>
      </p:sp>
      <p:sp>
        <p:nvSpPr>
          <p:cNvPr id="208998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03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MD5 </a:t>
            </a:r>
            <a:r>
              <a:rPr lang="zh-CN" altLang="en-US" smtClean="0">
                <a:ea typeface="黑体" panose="02010609060101010101" pitchFamily="49" charset="-122"/>
              </a:rPr>
              <a:t>算法</a:t>
            </a:r>
          </a:p>
        </p:txBody>
      </p:sp>
      <p:sp>
        <p:nvSpPr>
          <p:cNvPr id="209203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800" dirty="0" smtClean="0">
                <a:ea typeface="黑体" panose="02010609060101010101" pitchFamily="49" charset="-122"/>
              </a:rPr>
              <a:t>MD5</a:t>
            </a:r>
            <a:r>
              <a:rPr lang="zh-CN" altLang="en-US" sz="2800" dirty="0" smtClean="0">
                <a:ea typeface="黑体" panose="02010609060101010101" pitchFamily="49" charset="-122"/>
              </a:rPr>
              <a:t>是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报文摘要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MD (Message Digest) </a:t>
            </a:r>
            <a:r>
              <a:rPr lang="zh-CN" altLang="en-US" sz="2800" dirty="0" smtClean="0">
                <a:ea typeface="黑体" panose="02010609060101010101" pitchFamily="49" charset="-122"/>
              </a:rPr>
              <a:t>的第</a:t>
            </a:r>
            <a:r>
              <a:rPr lang="en-US" altLang="zh-CN" sz="2800" dirty="0" smtClean="0">
                <a:ea typeface="黑体" panose="02010609060101010101" pitchFamily="49" charset="-122"/>
              </a:rPr>
              <a:t>5</a:t>
            </a:r>
            <a:r>
              <a:rPr lang="zh-CN" altLang="en-US" sz="2800" dirty="0" smtClean="0">
                <a:ea typeface="黑体" panose="02010609060101010101" pitchFamily="49" charset="-122"/>
              </a:rPr>
              <a:t>个版本。</a:t>
            </a:r>
            <a:r>
              <a:rPr lang="zh-CN" altLang="zh-CN" sz="2800" dirty="0" smtClean="0">
                <a:ea typeface="黑体" panose="02010609060101010101" pitchFamily="49" charset="-122"/>
              </a:rPr>
              <a:t>报文摘要算法</a:t>
            </a:r>
            <a:r>
              <a:rPr lang="en-US" altLang="zh-CN" sz="2800" dirty="0" smtClean="0">
                <a:ea typeface="黑体" panose="02010609060101010101" pitchFamily="49" charset="-122"/>
              </a:rPr>
              <a:t>MD5</a:t>
            </a:r>
            <a:r>
              <a:rPr lang="zh-CN" altLang="zh-CN" sz="2800" dirty="0" smtClean="0">
                <a:ea typeface="黑体" panose="02010609060101010101" pitchFamily="49" charset="-122"/>
              </a:rPr>
              <a:t>公布于</a:t>
            </a:r>
            <a:r>
              <a:rPr lang="en-US" altLang="zh-CN" sz="2800" dirty="0" smtClean="0">
                <a:ea typeface="黑体" panose="02010609060101010101" pitchFamily="49" charset="-122"/>
              </a:rPr>
              <a:t>RFC 1321 (1991</a:t>
            </a:r>
            <a:r>
              <a:rPr lang="zh-CN" altLang="zh-CN" sz="2800" dirty="0" smtClean="0">
                <a:ea typeface="黑体" panose="02010609060101010101" pitchFamily="49" charset="-122"/>
              </a:rPr>
              <a:t>年</a:t>
            </a:r>
            <a:r>
              <a:rPr lang="en-US" altLang="zh-CN" sz="2800" dirty="0" smtClean="0">
                <a:ea typeface="黑体" panose="02010609060101010101" pitchFamily="49" charset="-122"/>
              </a:rPr>
              <a:t>)</a:t>
            </a:r>
            <a:r>
              <a:rPr lang="zh-CN" altLang="zh-CN" sz="2800" dirty="0" smtClean="0">
                <a:ea typeface="黑体" panose="02010609060101010101" pitchFamily="49" charset="-122"/>
              </a:rPr>
              <a:t>，并获得了非常广泛的应用。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 smtClean="0">
                <a:ea typeface="黑体" panose="02010609060101010101" pitchFamily="49" charset="-122"/>
              </a:rPr>
              <a:t>MD5 </a:t>
            </a:r>
            <a:r>
              <a:rPr lang="zh-CN" altLang="zh-CN" sz="2800" dirty="0" smtClean="0">
                <a:ea typeface="黑体" panose="02010609060101010101" pitchFamily="49" charset="-122"/>
              </a:rPr>
              <a:t>的设计者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Rivest</a:t>
            </a:r>
            <a:r>
              <a:rPr lang="zh-CN" altLang="zh-CN" sz="2800" dirty="0" smtClean="0">
                <a:ea typeface="黑体" panose="02010609060101010101" pitchFamily="49" charset="-122"/>
              </a:rPr>
              <a:t>曾提出一个猜想，即根据给定的</a:t>
            </a:r>
            <a:r>
              <a:rPr lang="en-US" altLang="zh-CN" sz="2800" dirty="0" smtClean="0">
                <a:ea typeface="黑体" panose="02010609060101010101" pitchFamily="49" charset="-122"/>
              </a:rPr>
              <a:t> MD5 </a:t>
            </a:r>
            <a:r>
              <a:rPr lang="zh-CN" altLang="zh-CN" sz="2800" dirty="0" smtClean="0">
                <a:ea typeface="黑体" panose="02010609060101010101" pitchFamily="49" charset="-122"/>
              </a:rPr>
              <a:t>报文摘要代码，要找出一个与原来报文有相同报文摘要的另一报文，其难度在计算上几乎是不可能的。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基本思想：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 smtClean="0">
                <a:ea typeface="黑体" panose="02010609060101010101" pitchFamily="49" charset="-122"/>
              </a:rPr>
              <a:t>用足够复杂的方法将报文的数据位充分“弄乱”，</a:t>
            </a:r>
            <a:r>
              <a:rPr lang="zh-CN" altLang="zh-CN" sz="2400" dirty="0" smtClean="0">
                <a:ea typeface="黑体" panose="02010609060101010101" pitchFamily="49" charset="-122"/>
              </a:rPr>
              <a:t>报文摘要代码中的每一位都与原来报文中的每一位有关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ea typeface="黑体" panose="02010609060101010101" pitchFamily="49" charset="-122"/>
            </a:endParaRPr>
          </a:p>
        </p:txBody>
      </p:sp>
      <p:sp>
        <p:nvSpPr>
          <p:cNvPr id="20920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883C13-C861-46AC-89DB-9D6877115EA4}" type="slidenum">
              <a:rPr lang="zh-CN" altLang="en-US" smtClean="0"/>
              <a:pPr eaLnBrk="1" hangingPunct="1"/>
              <a:t>45</a:t>
            </a:fld>
            <a:endParaRPr lang="en-US" altLang="zh-CN" smtClean="0"/>
          </a:p>
        </p:txBody>
      </p:sp>
      <p:sp>
        <p:nvSpPr>
          <p:cNvPr id="20920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081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MD5 </a:t>
            </a:r>
            <a:r>
              <a:rPr lang="zh-CN" altLang="en-US" smtClean="0">
                <a:ea typeface="黑体" panose="02010609060101010101" pitchFamily="49" charset="-122"/>
              </a:rPr>
              <a:t>算法</a:t>
            </a:r>
          </a:p>
        </p:txBody>
      </p:sp>
      <p:sp>
        <p:nvSpPr>
          <p:cNvPr id="209408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计算步骤：</a:t>
            </a: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，附加：</a:t>
            </a:r>
            <a:r>
              <a:rPr lang="zh-CN" altLang="zh-CN" dirty="0" smtClean="0">
                <a:ea typeface="黑体" panose="02010609060101010101" pitchFamily="49" charset="-122"/>
              </a:rPr>
              <a:t>把任意长的报文按模</a:t>
            </a:r>
            <a:r>
              <a:rPr lang="en-US" altLang="zh-CN" dirty="0" smtClean="0">
                <a:ea typeface="黑体" panose="02010609060101010101" pitchFamily="49" charset="-122"/>
              </a:rPr>
              <a:t> 2</a:t>
            </a:r>
            <a:r>
              <a:rPr lang="en-US" altLang="zh-CN" baseline="30000" dirty="0" smtClean="0">
                <a:ea typeface="黑体" panose="02010609060101010101" pitchFamily="49" charset="-122"/>
              </a:rPr>
              <a:t>64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计算其余数（</a:t>
            </a:r>
            <a:r>
              <a:rPr lang="en-US" altLang="zh-CN" dirty="0" smtClean="0">
                <a:ea typeface="黑体" panose="02010609060101010101" pitchFamily="49" charset="-122"/>
              </a:rPr>
              <a:t>64</a:t>
            </a:r>
            <a:r>
              <a:rPr lang="zh-CN" altLang="zh-CN" dirty="0" smtClean="0">
                <a:ea typeface="黑体" panose="02010609060101010101" pitchFamily="49" charset="-122"/>
              </a:rPr>
              <a:t>位），追加在报文的后面</a:t>
            </a:r>
            <a:r>
              <a:rPr lang="zh-CN" altLang="en-US" dirty="0" smtClean="0">
                <a:ea typeface="黑体" panose="02010609060101010101" pitchFamily="49" charset="-122"/>
              </a:rPr>
              <a:t>（长度项）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，填充：</a:t>
            </a:r>
            <a:r>
              <a:rPr lang="zh-CN" altLang="zh-CN" dirty="0" smtClean="0">
                <a:ea typeface="黑体" panose="02010609060101010101" pitchFamily="49" charset="-122"/>
              </a:rPr>
              <a:t>在报文和</a:t>
            </a:r>
            <a:r>
              <a:rPr lang="zh-CN" altLang="en-US" dirty="0" smtClean="0">
                <a:ea typeface="黑体" panose="02010609060101010101" pitchFamily="49" charset="-122"/>
              </a:rPr>
              <a:t>长度项</a:t>
            </a:r>
            <a:r>
              <a:rPr lang="zh-CN" altLang="zh-CN" dirty="0" smtClean="0">
                <a:ea typeface="黑体" panose="02010609060101010101" pitchFamily="49" charset="-122"/>
              </a:rPr>
              <a:t>之间填充</a:t>
            </a:r>
            <a:r>
              <a:rPr lang="en-US" altLang="zh-CN" dirty="0" smtClean="0">
                <a:ea typeface="黑体" panose="02010609060101010101" pitchFamily="49" charset="-122"/>
              </a:rPr>
              <a:t> 1</a:t>
            </a:r>
            <a:r>
              <a:rPr lang="en-US" altLang="zh-CN" dirty="0" smtClean="0">
                <a:ea typeface="黑体" panose="02010609060101010101" pitchFamily="49" charset="-122"/>
                <a:sym typeface="Symbol" panose="05050102010706020507" pitchFamily="18" charset="2"/>
              </a:rPr>
              <a:t></a:t>
            </a:r>
            <a:r>
              <a:rPr lang="en-US" altLang="zh-CN" dirty="0" smtClean="0">
                <a:ea typeface="黑体" panose="02010609060101010101" pitchFamily="49" charset="-122"/>
              </a:rPr>
              <a:t>512 </a:t>
            </a:r>
            <a:r>
              <a:rPr lang="zh-CN" altLang="zh-CN" dirty="0" smtClean="0">
                <a:ea typeface="黑体" panose="02010609060101010101" pitchFamily="49" charset="-122"/>
              </a:rPr>
              <a:t>位，使得填充后的总长度是</a:t>
            </a:r>
            <a:r>
              <a:rPr lang="en-US" altLang="zh-CN" dirty="0" smtClean="0">
                <a:ea typeface="黑体" panose="02010609060101010101" pitchFamily="49" charset="-122"/>
              </a:rPr>
              <a:t> 512 </a:t>
            </a:r>
            <a:r>
              <a:rPr lang="zh-CN" altLang="zh-CN" dirty="0" smtClean="0">
                <a:ea typeface="黑体" panose="02010609060101010101" pitchFamily="49" charset="-122"/>
              </a:rPr>
              <a:t>的整数倍。填充的首位是</a:t>
            </a:r>
            <a:r>
              <a:rPr lang="en-US" altLang="zh-CN" dirty="0" smtClean="0">
                <a:ea typeface="黑体" panose="02010609060101010101" pitchFamily="49" charset="-122"/>
              </a:rPr>
              <a:t> 1</a:t>
            </a:r>
            <a:r>
              <a:rPr lang="zh-CN" altLang="zh-CN" dirty="0" smtClean="0">
                <a:ea typeface="黑体" panose="02010609060101010101" pitchFamily="49" charset="-122"/>
              </a:rPr>
              <a:t>，后面都是</a:t>
            </a:r>
            <a:r>
              <a:rPr lang="en-US" altLang="zh-CN" dirty="0" smtClean="0">
                <a:ea typeface="黑体" panose="02010609060101010101" pitchFamily="49" charset="-122"/>
              </a:rPr>
              <a:t> 0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2094083" name="组合 9"/>
          <p:cNvGrpSpPr>
            <a:grpSpLocks/>
          </p:cNvGrpSpPr>
          <p:nvPr/>
        </p:nvGrpSpPr>
        <p:grpSpPr bwMode="auto">
          <a:xfrm>
            <a:off x="1568450" y="4437063"/>
            <a:ext cx="6840538" cy="1871662"/>
            <a:chOff x="1568624" y="4437112"/>
            <a:chExt cx="6840760" cy="1872208"/>
          </a:xfrm>
        </p:grpSpPr>
        <p:sp>
          <p:nvSpPr>
            <p:cNvPr id="2094084" name="矩形 21"/>
            <p:cNvSpPr>
              <a:spLocks noChangeArrowheads="1"/>
            </p:cNvSpPr>
            <p:nvPr/>
          </p:nvSpPr>
          <p:spPr bwMode="auto">
            <a:xfrm>
              <a:off x="1568624" y="4437112"/>
              <a:ext cx="3672408" cy="5040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报文</a:t>
              </a:r>
            </a:p>
          </p:txBody>
        </p:sp>
        <p:sp>
          <p:nvSpPr>
            <p:cNvPr id="2094085" name="矩形 22"/>
            <p:cNvSpPr>
              <a:spLocks noChangeArrowheads="1"/>
            </p:cNvSpPr>
            <p:nvPr/>
          </p:nvSpPr>
          <p:spPr bwMode="auto">
            <a:xfrm>
              <a:off x="5241032" y="4437112"/>
              <a:ext cx="1728192" cy="50405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1000…00</a:t>
              </a:r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94086" name="矩形 25"/>
            <p:cNvSpPr>
              <a:spLocks noChangeArrowheads="1"/>
            </p:cNvSpPr>
            <p:nvPr/>
          </p:nvSpPr>
          <p:spPr bwMode="auto">
            <a:xfrm>
              <a:off x="6969224" y="4437112"/>
              <a:ext cx="1440160" cy="504056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长度项</a:t>
              </a:r>
            </a:p>
          </p:txBody>
        </p:sp>
        <p:cxnSp>
          <p:nvCxnSpPr>
            <p:cNvPr id="2094087" name="直接连接符 26"/>
            <p:cNvCxnSpPr>
              <a:cxnSpLocks noChangeShapeType="1"/>
            </p:cNvCxnSpPr>
            <p:nvPr/>
          </p:nvCxnSpPr>
          <p:spPr bwMode="auto">
            <a:xfrm>
              <a:off x="1568624" y="5013176"/>
              <a:ext cx="0" cy="1296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94088" name="直接连接符 27"/>
            <p:cNvCxnSpPr>
              <a:cxnSpLocks noChangeShapeType="1"/>
            </p:cNvCxnSpPr>
            <p:nvPr/>
          </p:nvCxnSpPr>
          <p:spPr bwMode="auto">
            <a:xfrm>
              <a:off x="5241032" y="5013176"/>
              <a:ext cx="0" cy="504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94089" name="直接连接符 28"/>
            <p:cNvCxnSpPr>
              <a:cxnSpLocks noChangeShapeType="1"/>
            </p:cNvCxnSpPr>
            <p:nvPr/>
          </p:nvCxnSpPr>
          <p:spPr bwMode="auto">
            <a:xfrm>
              <a:off x="6969224" y="5013176"/>
              <a:ext cx="0" cy="936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94090" name="直接连接符 29"/>
            <p:cNvCxnSpPr>
              <a:cxnSpLocks noChangeShapeType="1"/>
            </p:cNvCxnSpPr>
            <p:nvPr/>
          </p:nvCxnSpPr>
          <p:spPr bwMode="auto">
            <a:xfrm>
              <a:off x="8376997" y="5013176"/>
              <a:ext cx="0" cy="1296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94091" name="直接箭头连接符 30"/>
            <p:cNvCxnSpPr>
              <a:cxnSpLocks noChangeShapeType="1"/>
            </p:cNvCxnSpPr>
            <p:nvPr/>
          </p:nvCxnSpPr>
          <p:spPr bwMode="auto">
            <a:xfrm>
              <a:off x="1568624" y="5265204"/>
              <a:ext cx="367240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094092" name="直接箭头连接符 31"/>
            <p:cNvCxnSpPr>
              <a:cxnSpLocks noChangeShapeType="1"/>
            </p:cNvCxnSpPr>
            <p:nvPr/>
          </p:nvCxnSpPr>
          <p:spPr bwMode="auto">
            <a:xfrm>
              <a:off x="1568624" y="5661248"/>
              <a:ext cx="540060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094093" name="直接箭头连接符 32"/>
            <p:cNvCxnSpPr>
              <a:cxnSpLocks noChangeShapeType="1"/>
            </p:cNvCxnSpPr>
            <p:nvPr/>
          </p:nvCxnSpPr>
          <p:spPr bwMode="auto">
            <a:xfrm>
              <a:off x="1568624" y="6093296"/>
              <a:ext cx="680837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sp>
          <p:nvSpPr>
            <p:cNvPr id="2094094" name="TextBox 33"/>
            <p:cNvSpPr txBox="1">
              <a:spLocks noChangeArrowheads="1"/>
            </p:cNvSpPr>
            <p:nvPr/>
          </p:nvSpPr>
          <p:spPr bwMode="auto">
            <a:xfrm>
              <a:off x="2727888" y="5085184"/>
              <a:ext cx="1217000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ea typeface="黑体" panose="02010609060101010101" pitchFamily="49" charset="-122"/>
                </a:rPr>
                <a:t>报文长度</a:t>
              </a:r>
            </a:p>
          </p:txBody>
        </p:sp>
        <p:sp>
          <p:nvSpPr>
            <p:cNvPr id="2094095" name="TextBox 34"/>
            <p:cNvSpPr txBox="1">
              <a:spLocks noChangeArrowheads="1"/>
            </p:cNvSpPr>
            <p:nvPr/>
          </p:nvSpPr>
          <p:spPr bwMode="auto">
            <a:xfrm>
              <a:off x="2288704" y="5481228"/>
              <a:ext cx="3833101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ea typeface="黑体" panose="02010609060101010101" pitchFamily="49" charset="-122"/>
                </a:rPr>
                <a:t>带填充位的长度，模 </a:t>
              </a:r>
              <a:r>
                <a:rPr lang="en-US" altLang="zh-CN" sz="2000" b="1">
                  <a:ea typeface="黑体" panose="02010609060101010101" pitchFamily="49" charset="-122"/>
                </a:rPr>
                <a:t>512 </a:t>
              </a:r>
              <a:r>
                <a:rPr lang="zh-CN" altLang="en-US" sz="2000" b="1">
                  <a:ea typeface="黑体" panose="02010609060101010101" pitchFamily="49" charset="-122"/>
                </a:rPr>
                <a:t>余 </a:t>
              </a:r>
              <a:r>
                <a:rPr lang="en-US" altLang="zh-CN" sz="2000" b="1">
                  <a:ea typeface="黑体" panose="02010609060101010101" pitchFamily="49" charset="-122"/>
                </a:rPr>
                <a:t>448</a:t>
              </a:r>
              <a:endParaRPr lang="zh-CN" altLang="en-US" sz="2000" b="1">
                <a:ea typeface="黑体" panose="02010609060101010101" pitchFamily="49" charset="-122"/>
              </a:endParaRPr>
            </a:p>
          </p:txBody>
        </p:sp>
        <p:sp>
          <p:nvSpPr>
            <p:cNvPr id="2094096" name="TextBox 35"/>
            <p:cNvSpPr txBox="1">
              <a:spLocks noChangeArrowheads="1"/>
            </p:cNvSpPr>
            <p:nvPr/>
          </p:nvSpPr>
          <p:spPr bwMode="auto">
            <a:xfrm>
              <a:off x="3427792" y="5893241"/>
              <a:ext cx="2747868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ea typeface="黑体" panose="02010609060101010101" pitchFamily="49" charset="-122"/>
                </a:rPr>
                <a:t>总长度，</a:t>
              </a:r>
              <a:r>
                <a:rPr lang="en-US" altLang="zh-CN" sz="2000" b="1">
                  <a:ea typeface="黑体" panose="02010609060101010101" pitchFamily="49" charset="-122"/>
                </a:rPr>
                <a:t>512 </a:t>
              </a:r>
              <a:r>
                <a:rPr lang="zh-CN" altLang="en-US" sz="2000" b="1">
                  <a:ea typeface="黑体" panose="02010609060101010101" pitchFamily="49" charset="-122"/>
                </a:rPr>
                <a:t>的整数倍</a:t>
              </a:r>
            </a:p>
          </p:txBody>
        </p:sp>
        <p:grpSp>
          <p:nvGrpSpPr>
            <p:cNvPr id="2094097" name="组合 8"/>
            <p:cNvGrpSpPr>
              <a:grpSpLocks/>
            </p:cNvGrpSpPr>
            <p:nvPr/>
          </p:nvGrpSpPr>
          <p:grpSpPr bwMode="auto">
            <a:xfrm>
              <a:off x="6969224" y="5477162"/>
              <a:ext cx="1407773" cy="400110"/>
              <a:chOff x="6969224" y="5477162"/>
              <a:chExt cx="1407773" cy="400110"/>
            </a:xfrm>
          </p:grpSpPr>
          <p:cxnSp>
            <p:nvCxnSpPr>
              <p:cNvPr id="2094098" name="直接箭头连接符 36"/>
              <p:cNvCxnSpPr>
                <a:cxnSpLocks noChangeShapeType="1"/>
              </p:cNvCxnSpPr>
              <p:nvPr/>
            </p:nvCxnSpPr>
            <p:spPr bwMode="auto">
              <a:xfrm>
                <a:off x="6969224" y="5657182"/>
                <a:ext cx="1407773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094099" name="TextBox 37"/>
              <p:cNvSpPr txBox="1">
                <a:spLocks noChangeArrowheads="1"/>
              </p:cNvSpPr>
              <p:nvPr/>
            </p:nvSpPr>
            <p:spPr bwMode="auto">
              <a:xfrm>
                <a:off x="7321260" y="5477162"/>
                <a:ext cx="798617" cy="400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ea typeface="黑体" panose="02010609060101010101" pitchFamily="49" charset="-122"/>
                  </a:rPr>
                  <a:t>64 </a:t>
                </a:r>
                <a:r>
                  <a:rPr lang="zh-CN" altLang="en-US" sz="2000" b="1">
                    <a:ea typeface="黑体" panose="02010609060101010101" pitchFamily="49" charset="-122"/>
                  </a:rPr>
                  <a:t>位</a:t>
                </a:r>
              </a:p>
            </p:txBody>
          </p:sp>
        </p:grpSp>
      </p:grpSp>
      <p:sp>
        <p:nvSpPr>
          <p:cNvPr id="209410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3FC29E-183B-40DA-BBA7-A59781CB5BE7}" type="slidenum">
              <a:rPr lang="zh-CN" altLang="en-US" smtClean="0"/>
              <a:pPr eaLnBrk="1" hangingPunct="1"/>
              <a:t>46</a:t>
            </a:fld>
            <a:endParaRPr lang="en-US" altLang="zh-CN" smtClean="0"/>
          </a:p>
        </p:txBody>
      </p:sp>
      <p:sp>
        <p:nvSpPr>
          <p:cNvPr id="2094101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12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MD5 </a:t>
            </a:r>
            <a:r>
              <a:rPr lang="zh-CN" altLang="en-US" smtClean="0">
                <a:ea typeface="黑体" panose="02010609060101010101" pitchFamily="49" charset="-122"/>
              </a:rPr>
              <a:t>算法</a:t>
            </a:r>
          </a:p>
        </p:txBody>
      </p:sp>
      <p:sp>
        <p:nvSpPr>
          <p:cNvPr id="209613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计算步骤（续）：</a:t>
            </a:r>
          </a:p>
          <a:p>
            <a:pPr lvl="1"/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3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，分组：</a:t>
            </a:r>
            <a:r>
              <a:rPr lang="zh-CN" altLang="zh-CN" smtClean="0">
                <a:ea typeface="黑体" panose="02010609060101010101" pitchFamily="49" charset="-122"/>
              </a:rPr>
              <a:t>把追加和填充后的报文分割为一个个</a:t>
            </a:r>
            <a:r>
              <a:rPr lang="en-US" altLang="zh-CN" smtClean="0">
                <a:ea typeface="黑体" panose="02010609060101010101" pitchFamily="49" charset="-122"/>
              </a:rPr>
              <a:t> 512 </a:t>
            </a:r>
            <a:r>
              <a:rPr lang="zh-CN" altLang="zh-CN" smtClean="0">
                <a:ea typeface="黑体" panose="02010609060101010101" pitchFamily="49" charset="-122"/>
              </a:rPr>
              <a:t>位的数据块，每个</a:t>
            </a:r>
            <a:r>
              <a:rPr lang="en-US" altLang="zh-CN" smtClean="0">
                <a:ea typeface="黑体" panose="02010609060101010101" pitchFamily="49" charset="-122"/>
              </a:rPr>
              <a:t> 512 </a:t>
            </a:r>
            <a:r>
              <a:rPr lang="zh-CN" altLang="zh-CN" smtClean="0">
                <a:ea typeface="黑体" panose="02010609060101010101" pitchFamily="49" charset="-122"/>
              </a:rPr>
              <a:t>位的报文数据再分成</a:t>
            </a:r>
            <a:r>
              <a:rPr lang="en-US" altLang="zh-CN" smtClean="0">
                <a:ea typeface="黑体" panose="02010609060101010101" pitchFamily="49" charset="-122"/>
              </a:rPr>
              <a:t> 4 </a:t>
            </a:r>
            <a:r>
              <a:rPr lang="zh-CN" altLang="zh-CN" smtClean="0">
                <a:ea typeface="黑体" panose="02010609060101010101" pitchFamily="49" charset="-122"/>
              </a:rPr>
              <a:t>个</a:t>
            </a:r>
            <a:r>
              <a:rPr lang="en-US" altLang="zh-CN" smtClean="0">
                <a:ea typeface="黑体" panose="02010609060101010101" pitchFamily="49" charset="-122"/>
              </a:rPr>
              <a:t> 128 </a:t>
            </a:r>
            <a:r>
              <a:rPr lang="zh-CN" altLang="zh-CN" smtClean="0">
                <a:ea typeface="黑体" panose="02010609060101010101" pitchFamily="49" charset="-122"/>
              </a:rPr>
              <a:t>位的数据块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，计算：</a:t>
            </a:r>
            <a:r>
              <a:rPr lang="zh-CN" altLang="en-US" smtClean="0">
                <a:ea typeface="黑体" panose="02010609060101010101" pitchFamily="49" charset="-122"/>
              </a:rPr>
              <a:t>将 </a:t>
            </a:r>
            <a:r>
              <a:rPr lang="en-US" altLang="zh-CN" smtClean="0">
                <a:ea typeface="黑体" panose="02010609060101010101" pitchFamily="49" charset="-122"/>
              </a:rPr>
              <a:t>4 </a:t>
            </a:r>
            <a:r>
              <a:rPr lang="zh-CN" altLang="en-US" smtClean="0">
                <a:ea typeface="黑体" panose="02010609060101010101" pitchFamily="49" charset="-122"/>
              </a:rPr>
              <a:t>个 </a:t>
            </a:r>
            <a:r>
              <a:rPr lang="en-US" altLang="zh-CN" smtClean="0">
                <a:ea typeface="黑体" panose="02010609060101010101" pitchFamily="49" charset="-122"/>
              </a:rPr>
              <a:t>128 </a:t>
            </a:r>
            <a:r>
              <a:rPr lang="zh-CN" altLang="en-US" smtClean="0">
                <a:ea typeface="黑体" panose="02010609060101010101" pitchFamily="49" charset="-122"/>
              </a:rPr>
              <a:t>位的数据块</a:t>
            </a:r>
            <a:r>
              <a:rPr lang="zh-CN" altLang="zh-CN" smtClean="0">
                <a:ea typeface="黑体" panose="02010609060101010101" pitchFamily="49" charset="-122"/>
              </a:rPr>
              <a:t>依次送到不同的散列函数进行</a:t>
            </a:r>
            <a:r>
              <a:rPr lang="en-US" altLang="zh-CN" smtClean="0">
                <a:ea typeface="黑体" panose="02010609060101010101" pitchFamily="49" charset="-122"/>
              </a:rPr>
              <a:t>4</a:t>
            </a:r>
            <a:r>
              <a:rPr lang="zh-CN" altLang="zh-CN" smtClean="0">
                <a:ea typeface="黑体" panose="02010609060101010101" pitchFamily="49" charset="-122"/>
              </a:rPr>
              <a:t>轮计算。每一轮又都按</a:t>
            </a:r>
            <a:r>
              <a:rPr lang="en-US" altLang="zh-CN" smtClean="0">
                <a:ea typeface="黑体" panose="02010609060101010101" pitchFamily="49" charset="-122"/>
              </a:rPr>
              <a:t> 32 </a:t>
            </a:r>
            <a:r>
              <a:rPr lang="zh-CN" altLang="zh-CN" smtClean="0">
                <a:ea typeface="黑体" panose="02010609060101010101" pitchFamily="49" charset="-122"/>
              </a:rPr>
              <a:t>位的小数据块进行复杂的运算。一直到最后计算出</a:t>
            </a:r>
            <a:r>
              <a:rPr lang="en-US" altLang="zh-CN" smtClean="0">
                <a:ea typeface="黑体" panose="02010609060101010101" pitchFamily="49" charset="-122"/>
              </a:rPr>
              <a:t> MD5 </a:t>
            </a:r>
            <a:r>
              <a:rPr lang="zh-CN" altLang="zh-CN" smtClean="0">
                <a:ea typeface="黑体" panose="02010609060101010101" pitchFamily="49" charset="-122"/>
              </a:rPr>
              <a:t>报文摘要代码（</a:t>
            </a:r>
            <a:r>
              <a:rPr lang="en-US" altLang="zh-CN" smtClean="0">
                <a:ea typeface="黑体" panose="02010609060101010101" pitchFamily="49" charset="-122"/>
              </a:rPr>
              <a:t>128</a:t>
            </a:r>
            <a:r>
              <a:rPr lang="zh-CN" altLang="zh-CN" smtClean="0">
                <a:ea typeface="黑体" panose="02010609060101010101" pitchFamily="49" charset="-122"/>
              </a:rPr>
              <a:t>位）。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09613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C6A750F-E2C3-4043-8B18-0390D05E1BD7}" type="slidenum">
              <a:rPr lang="zh-CN" altLang="en-US" smtClean="0"/>
              <a:pPr eaLnBrk="1" hangingPunct="1"/>
              <a:t>47</a:t>
            </a:fld>
            <a:endParaRPr lang="en-US" altLang="zh-CN" smtClean="0"/>
          </a:p>
        </p:txBody>
      </p:sp>
      <p:sp>
        <p:nvSpPr>
          <p:cNvPr id="209613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17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安全散列算法（</a:t>
            </a:r>
            <a:r>
              <a:rPr lang="en-US" altLang="zh-CN" smtClean="0">
                <a:ea typeface="黑体" panose="02010609060101010101" pitchFamily="49" charset="-122"/>
              </a:rPr>
              <a:t>SHA-1</a:t>
            </a:r>
            <a:r>
              <a:rPr lang="zh-CN" altLang="en-US" smtClean="0"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098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安全散列算法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SHA (Secure Hash Algorithm)</a:t>
            </a:r>
            <a:r>
              <a:rPr lang="zh-CN" altLang="zh-CN" dirty="0" smtClean="0">
                <a:ea typeface="黑体" panose="02010609060101010101" pitchFamily="49" charset="-122"/>
              </a:rPr>
              <a:t>是由美国标准与技术协会</a:t>
            </a:r>
            <a:r>
              <a:rPr lang="en-US" altLang="zh-CN" dirty="0" smtClean="0">
                <a:ea typeface="黑体" panose="02010609060101010101" pitchFamily="49" charset="-122"/>
              </a:rPr>
              <a:t> NIST </a:t>
            </a:r>
            <a:r>
              <a:rPr lang="zh-CN" altLang="zh-CN" dirty="0" smtClean="0">
                <a:ea typeface="黑体" panose="02010609060101010101" pitchFamily="49" charset="-122"/>
              </a:rPr>
              <a:t>提出一个散列算法系列。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SHA </a:t>
            </a:r>
            <a:r>
              <a:rPr lang="zh-CN" altLang="zh-CN" dirty="0" smtClean="0">
                <a:ea typeface="黑体" panose="02010609060101010101" pitchFamily="49" charset="-122"/>
              </a:rPr>
              <a:t>比</a:t>
            </a:r>
            <a:r>
              <a:rPr lang="en-US" altLang="zh-CN" dirty="0" smtClean="0">
                <a:ea typeface="黑体" panose="02010609060101010101" pitchFamily="49" charset="-122"/>
              </a:rPr>
              <a:t> MD5 </a:t>
            </a:r>
            <a:r>
              <a:rPr lang="zh-CN" altLang="zh-CN" dirty="0" smtClean="0">
                <a:ea typeface="黑体" panose="02010609060101010101" pitchFamily="49" charset="-122"/>
              </a:rPr>
              <a:t>更安全，但计算起来却比</a:t>
            </a:r>
            <a:r>
              <a:rPr lang="en-US" altLang="zh-CN" dirty="0" smtClean="0">
                <a:ea typeface="黑体" panose="02010609060101010101" pitchFamily="49" charset="-122"/>
              </a:rPr>
              <a:t> MD5 </a:t>
            </a:r>
            <a:r>
              <a:rPr lang="zh-CN" altLang="zh-CN" dirty="0" smtClean="0">
                <a:ea typeface="黑体" panose="02010609060101010101" pitchFamily="49" charset="-122"/>
              </a:rPr>
              <a:t>要慢些。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已制定 </a:t>
            </a:r>
            <a:r>
              <a:rPr lang="en-US" altLang="zh-CN" dirty="0" smtClean="0">
                <a:ea typeface="黑体" panose="02010609060101010101" pitchFamily="49" charset="-122"/>
              </a:rPr>
              <a:t>SHA-1</a:t>
            </a:r>
            <a:r>
              <a:rPr lang="zh-CN" altLang="en-US" dirty="0" smtClean="0"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ea typeface="黑体" panose="02010609060101010101" pitchFamily="49" charset="-122"/>
              </a:rPr>
              <a:t>SHA-2</a:t>
            </a:r>
            <a:r>
              <a:rPr lang="zh-CN" altLang="en-US" dirty="0" smtClean="0"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ea typeface="黑体" panose="02010609060101010101" pitchFamily="49" charset="-122"/>
              </a:rPr>
              <a:t> SHA-3 </a:t>
            </a:r>
            <a:r>
              <a:rPr lang="zh-CN" altLang="en-US" dirty="0" smtClean="0">
                <a:ea typeface="黑体" panose="02010609060101010101" pitchFamily="49" charset="-122"/>
              </a:rPr>
              <a:t>等版本。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09817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E47F77-AC30-4E36-B4C4-73201EA3CEA9}" type="slidenum">
              <a:rPr lang="zh-CN" altLang="en-US" smtClean="0"/>
              <a:pPr eaLnBrk="1" hangingPunct="1"/>
              <a:t>48</a:t>
            </a:fld>
            <a:endParaRPr lang="en-US" altLang="zh-CN" smtClean="0"/>
          </a:p>
        </p:txBody>
      </p:sp>
      <p:sp>
        <p:nvSpPr>
          <p:cNvPr id="209818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22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dirty="0" smtClean="0">
                <a:ea typeface="黑体" panose="02010609060101010101" pitchFamily="49" charset="-122"/>
              </a:rPr>
              <a:t>安全散列算法（</a:t>
            </a:r>
            <a:r>
              <a:rPr lang="en-US" altLang="zh-CN" dirty="0" smtClean="0">
                <a:ea typeface="黑体" panose="02010609060101010101" pitchFamily="49" charset="-122"/>
              </a:rPr>
              <a:t>SHA-1</a:t>
            </a:r>
            <a:r>
              <a:rPr lang="zh-CN" altLang="en-US" dirty="0" smtClean="0"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100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基本思想：</a:t>
            </a: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输出</a:t>
            </a:r>
            <a:r>
              <a:rPr lang="zh-CN" altLang="en-US" dirty="0" smtClean="0">
                <a:ea typeface="黑体" panose="02010609060101010101" pitchFamily="49" charset="-122"/>
              </a:rPr>
              <a:t>码长为 </a:t>
            </a:r>
            <a:r>
              <a:rPr lang="en-US" altLang="zh-CN" dirty="0" smtClean="0">
                <a:ea typeface="黑体" panose="02010609060101010101" pitchFamily="49" charset="-122"/>
              </a:rPr>
              <a:t>160 </a:t>
            </a:r>
            <a:r>
              <a:rPr lang="zh-CN" altLang="en-US" dirty="0" smtClean="0">
                <a:ea typeface="黑体" panose="02010609060101010101" pitchFamily="49" charset="-122"/>
              </a:rPr>
              <a:t>位。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将明文分成若干 </a:t>
            </a:r>
            <a:r>
              <a:rPr lang="en-US" altLang="zh-CN" dirty="0" smtClean="0">
                <a:ea typeface="黑体" panose="02010609060101010101" pitchFamily="49" charset="-122"/>
              </a:rPr>
              <a:t>512 </a:t>
            </a:r>
            <a:r>
              <a:rPr lang="zh-CN" altLang="en-US" dirty="0" smtClean="0">
                <a:ea typeface="黑体" panose="02010609060101010101" pitchFamily="49" charset="-122"/>
              </a:rPr>
              <a:t>位的定长块，每一块与当前的报文摘要值结合，产生报文摘要的下一个中间结果，直到处理完毕</a:t>
            </a: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共扫描 </a:t>
            </a:r>
            <a:r>
              <a:rPr lang="en-US" altLang="zh-CN" dirty="0" smtClean="0">
                <a:ea typeface="黑体" panose="02010609060101010101" pitchFamily="49" charset="-122"/>
              </a:rPr>
              <a:t>5 </a:t>
            </a:r>
            <a:r>
              <a:rPr lang="zh-CN" altLang="en-US" dirty="0" smtClean="0">
                <a:ea typeface="黑体" panose="02010609060101010101" pitchFamily="49" charset="-122"/>
              </a:rPr>
              <a:t>遍，效率略低于 </a:t>
            </a:r>
            <a:r>
              <a:rPr lang="en-US" altLang="zh-CN" dirty="0" smtClean="0">
                <a:ea typeface="黑体" panose="02010609060101010101" pitchFamily="49" charset="-122"/>
              </a:rPr>
              <a:t>MD5</a:t>
            </a:r>
            <a:r>
              <a:rPr lang="zh-CN" altLang="en-US" dirty="0" smtClean="0">
                <a:ea typeface="黑体" panose="02010609060101010101" pitchFamily="49" charset="-122"/>
              </a:rPr>
              <a:t>，抗穷举性更高。</a:t>
            </a:r>
          </a:p>
        </p:txBody>
      </p:sp>
      <p:sp>
        <p:nvSpPr>
          <p:cNvPr id="2100227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EA7EA3-872E-4139-A36F-F29A9CFF45CE}" type="slidenum">
              <a:rPr lang="zh-CN" altLang="en-US" smtClean="0"/>
              <a:pPr eaLnBrk="1" hangingPunct="1"/>
              <a:t>49</a:t>
            </a:fld>
            <a:endParaRPr lang="en-US" altLang="zh-CN" smtClean="0"/>
          </a:p>
        </p:txBody>
      </p:sp>
      <p:sp>
        <p:nvSpPr>
          <p:cNvPr id="2100228" name="页脚占位符 3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27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GB" altLang="zh-CN" smtClean="0">
                <a:ea typeface="黑体" panose="02010609060101010101" pitchFamily="49" charset="-122"/>
              </a:rPr>
              <a:t>3. </a:t>
            </a:r>
            <a:r>
              <a:rPr lang="zh-CN" altLang="zh-CN" smtClean="0">
                <a:ea typeface="黑体" panose="02010609060101010101" pitchFamily="49" charset="-122"/>
              </a:rPr>
              <a:t>报文鉴别码</a:t>
            </a:r>
            <a:r>
              <a:rPr lang="en-US" altLang="zh-CN" smtClean="0">
                <a:ea typeface="黑体" panose="02010609060101010101" pitchFamily="49" charset="-122"/>
              </a:rPr>
              <a:t> MAC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0227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MD5 </a:t>
            </a:r>
            <a:r>
              <a:rPr lang="zh-CN" altLang="en-US" dirty="0" smtClean="0">
                <a:ea typeface="黑体" panose="02010609060101010101" pitchFamily="49" charset="-122"/>
              </a:rPr>
              <a:t>实现的报文鉴别可以防篡改，但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不能防伪造，</a:t>
            </a:r>
            <a:r>
              <a:rPr lang="zh-CN" altLang="en-US" dirty="0" smtClean="0">
                <a:ea typeface="黑体" panose="02010609060101010101" pitchFamily="49" charset="-122"/>
              </a:rPr>
              <a:t>因而不能真正实现报文鉴别。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例如：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入侵者创建了一个伪造的报文</a:t>
            </a:r>
            <a:r>
              <a:rPr lang="en-GB" altLang="zh-CN" i="1" dirty="0" smtClean="0">
                <a:ea typeface="黑体" panose="02010609060101010101" pitchFamily="49" charset="-122"/>
              </a:rPr>
              <a:t>M</a:t>
            </a:r>
            <a:r>
              <a:rPr lang="zh-CN" altLang="zh-CN" dirty="0" smtClean="0">
                <a:ea typeface="黑体" panose="02010609060101010101" pitchFamily="49" charset="-122"/>
              </a:rPr>
              <a:t>，然后计算出其散列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GB" altLang="zh-CN" i="1" dirty="0" smtClean="0">
                <a:ea typeface="黑体" panose="02010609060101010101" pitchFamily="49" charset="-122"/>
              </a:rPr>
              <a:t>H</a:t>
            </a:r>
            <a:r>
              <a:rPr lang="en-GB" altLang="zh-CN" dirty="0" smtClean="0">
                <a:ea typeface="黑体" panose="02010609060101010101" pitchFamily="49" charset="-122"/>
              </a:rPr>
              <a:t>(</a:t>
            </a:r>
            <a:r>
              <a:rPr lang="en-GB" altLang="zh-CN" i="1" dirty="0" smtClean="0">
                <a:ea typeface="黑体" panose="02010609060101010101" pitchFamily="49" charset="-122"/>
              </a:rPr>
              <a:t>M</a:t>
            </a:r>
            <a:r>
              <a:rPr lang="en-GB" altLang="zh-CN" dirty="0" smtClean="0">
                <a:ea typeface="黑体" panose="02010609060101010101" pitchFamily="49" charset="-122"/>
              </a:rPr>
              <a:t>)</a:t>
            </a:r>
            <a:r>
              <a:rPr lang="zh-CN" altLang="zh-CN" dirty="0" smtClean="0">
                <a:ea typeface="黑体" panose="02010609060101010101" pitchFamily="49" charset="-122"/>
              </a:rPr>
              <a:t>，并把拼接有散列的扩展报文冒充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GB" altLang="zh-CN" dirty="0" smtClean="0">
                <a:ea typeface="黑体" panose="02010609060101010101" pitchFamily="49" charset="-122"/>
              </a:rPr>
              <a:t>A </a:t>
            </a:r>
            <a:r>
              <a:rPr lang="zh-CN" altLang="zh-CN" dirty="0" smtClean="0">
                <a:ea typeface="黑体" panose="02010609060101010101" pitchFamily="49" charset="-122"/>
              </a:rPr>
              <a:t>发送给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GB" altLang="zh-CN" dirty="0" smtClean="0">
                <a:ea typeface="黑体" panose="02010609060101010101" pitchFamily="49" charset="-122"/>
              </a:rPr>
              <a:t>B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en-GB" altLang="zh-CN" dirty="0" smtClean="0">
                <a:ea typeface="黑体" panose="02010609060101010101" pitchFamily="49" charset="-122"/>
              </a:rPr>
              <a:t>B </a:t>
            </a:r>
            <a:r>
              <a:rPr lang="zh-CN" altLang="zh-CN" dirty="0" smtClean="0">
                <a:ea typeface="黑体" panose="02010609060101010101" pitchFamily="49" charset="-122"/>
              </a:rPr>
              <a:t>收到扩展的报文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GB" altLang="zh-CN" dirty="0" smtClean="0">
                <a:ea typeface="黑体" panose="02010609060101010101" pitchFamily="49" charset="-122"/>
              </a:rPr>
              <a:t>(</a:t>
            </a:r>
            <a:r>
              <a:rPr lang="en-GB" altLang="zh-CN" i="1" dirty="0" smtClean="0">
                <a:ea typeface="黑体" panose="02010609060101010101" pitchFamily="49" charset="-122"/>
              </a:rPr>
              <a:t>M</a:t>
            </a:r>
            <a:r>
              <a:rPr lang="en-GB" altLang="zh-CN" dirty="0" smtClean="0">
                <a:ea typeface="黑体" panose="02010609060101010101" pitchFamily="49" charset="-122"/>
              </a:rPr>
              <a:t>, </a:t>
            </a:r>
            <a:r>
              <a:rPr lang="en-GB" altLang="zh-CN" i="1" dirty="0" smtClean="0">
                <a:ea typeface="黑体" panose="02010609060101010101" pitchFamily="49" charset="-122"/>
              </a:rPr>
              <a:t>H</a:t>
            </a:r>
            <a:r>
              <a:rPr lang="en-GB" altLang="zh-CN" dirty="0" smtClean="0">
                <a:ea typeface="黑体" panose="02010609060101010101" pitchFamily="49" charset="-122"/>
              </a:rPr>
              <a:t>(</a:t>
            </a:r>
            <a:r>
              <a:rPr lang="en-GB" altLang="zh-CN" i="1" dirty="0" smtClean="0">
                <a:ea typeface="黑体" panose="02010609060101010101" pitchFamily="49" charset="-122"/>
              </a:rPr>
              <a:t>M</a:t>
            </a:r>
            <a:r>
              <a:rPr lang="en-GB" altLang="zh-CN" dirty="0" smtClean="0">
                <a:ea typeface="黑体" panose="02010609060101010101" pitchFamily="49" charset="-122"/>
              </a:rPr>
              <a:t>)) </a:t>
            </a:r>
            <a:r>
              <a:rPr lang="zh-CN" altLang="zh-CN" dirty="0" smtClean="0">
                <a:ea typeface="黑体" panose="02010609060101010101" pitchFamily="49" charset="-122"/>
              </a:rPr>
              <a:t>后，</a:t>
            </a:r>
            <a:r>
              <a:rPr lang="en-GB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通过散列函数的运算，计算出收到的</a:t>
            </a:r>
            <a:r>
              <a:rPr lang="zh-CN" altLang="en-US" dirty="0" smtClean="0">
                <a:ea typeface="黑体" panose="02010609060101010101" pitchFamily="49" charset="-122"/>
              </a:rPr>
              <a:t>报文 </a:t>
            </a:r>
            <a:r>
              <a:rPr lang="en-US" altLang="zh-CN" dirty="0" smtClean="0">
                <a:ea typeface="黑体" panose="02010609060101010101" pitchFamily="49" charset="-122"/>
              </a:rPr>
              <a:t>M</a:t>
            </a:r>
            <a:r>
              <a:rPr lang="en-US" altLang="zh-CN" baseline="-25000" dirty="0" smtClean="0">
                <a:ea typeface="黑体" panose="02010609060101010101" pitchFamily="49" charset="-122"/>
              </a:rPr>
              <a:t>R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的散列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GB" altLang="zh-CN" i="1" dirty="0" smtClean="0">
                <a:ea typeface="黑体" panose="02010609060101010101" pitchFamily="49" charset="-122"/>
              </a:rPr>
              <a:t>H</a:t>
            </a:r>
            <a:r>
              <a:rPr lang="en-GB" altLang="zh-CN" dirty="0" smtClean="0">
                <a:ea typeface="黑体" panose="02010609060101010101" pitchFamily="49" charset="-122"/>
              </a:rPr>
              <a:t>(</a:t>
            </a:r>
            <a:r>
              <a:rPr lang="en-US" altLang="zh-CN" dirty="0" smtClean="0">
                <a:ea typeface="黑体" panose="02010609060101010101" pitchFamily="49" charset="-122"/>
              </a:rPr>
              <a:t>M</a:t>
            </a:r>
            <a:r>
              <a:rPr lang="en-US" altLang="zh-CN" baseline="-25000" dirty="0" smtClean="0">
                <a:ea typeface="黑体" panose="02010609060101010101" pitchFamily="49" charset="-122"/>
              </a:rPr>
              <a:t>R</a:t>
            </a:r>
            <a:r>
              <a:rPr lang="en-GB" altLang="zh-CN" dirty="0" smtClean="0">
                <a:ea typeface="黑体" panose="02010609060101010101" pitchFamily="49" charset="-122"/>
              </a:rPr>
              <a:t>)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若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GB" altLang="zh-CN" i="1" dirty="0" smtClean="0">
                <a:ea typeface="黑体" panose="02010609060101010101" pitchFamily="49" charset="-122"/>
              </a:rPr>
              <a:t>H</a:t>
            </a:r>
            <a:r>
              <a:rPr lang="en-GB" altLang="zh-CN" dirty="0" smtClean="0"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ea typeface="黑体" panose="02010609060101010101" pitchFamily="49" charset="-122"/>
              </a:rPr>
              <a:t>M</a:t>
            </a:r>
            <a:r>
              <a:rPr lang="en-GB" altLang="zh-CN" dirty="0" smtClean="0">
                <a:ea typeface="黑体" panose="02010609060101010101" pitchFamily="49" charset="-122"/>
              </a:rPr>
              <a:t>) = </a:t>
            </a:r>
            <a:r>
              <a:rPr lang="en-GB" altLang="zh-CN" i="1" dirty="0" smtClean="0">
                <a:ea typeface="黑体" panose="02010609060101010101" pitchFamily="49" charset="-122"/>
              </a:rPr>
              <a:t>H</a:t>
            </a:r>
            <a:r>
              <a:rPr lang="en-US" altLang="zh-CN" i="1" dirty="0" smtClean="0">
                <a:ea typeface="黑体" panose="02010609060101010101" pitchFamily="49" charset="-122"/>
              </a:rPr>
              <a:t>(M</a:t>
            </a:r>
            <a:r>
              <a:rPr lang="en-US" altLang="zh-CN" i="1" baseline="-25000" dirty="0" smtClean="0">
                <a:ea typeface="黑体" panose="02010609060101010101" pitchFamily="49" charset="-122"/>
              </a:rPr>
              <a:t>R</a:t>
            </a:r>
            <a:r>
              <a:rPr lang="en-US" altLang="zh-CN" i="1" dirty="0" smtClean="0">
                <a:ea typeface="黑体" panose="02010609060101010101" pitchFamily="49" charset="-122"/>
              </a:rPr>
              <a:t>)</a:t>
            </a:r>
            <a:r>
              <a:rPr lang="zh-CN" altLang="zh-CN" dirty="0" smtClean="0">
                <a:ea typeface="黑体" panose="02010609060101010101" pitchFamily="49" charset="-122"/>
              </a:rPr>
              <a:t>，则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GB" altLang="zh-CN" dirty="0" smtClean="0">
                <a:ea typeface="黑体" panose="02010609060101010101" pitchFamily="49" charset="-122"/>
              </a:rPr>
              <a:t>B </a:t>
            </a:r>
            <a:r>
              <a:rPr lang="zh-CN" altLang="zh-CN" dirty="0" smtClean="0">
                <a:ea typeface="黑体" panose="02010609060101010101" pitchFamily="49" charset="-122"/>
              </a:rPr>
              <a:t>就会误认为所收到的伪造报文就是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GB" altLang="zh-CN" dirty="0" smtClean="0">
                <a:ea typeface="黑体" panose="02010609060101010101" pitchFamily="49" charset="-122"/>
              </a:rPr>
              <a:t>A </a:t>
            </a:r>
            <a:r>
              <a:rPr lang="zh-CN" altLang="zh-CN" dirty="0" smtClean="0">
                <a:ea typeface="黑体" panose="02010609060101010101" pitchFamily="49" charset="-122"/>
              </a:rPr>
              <a:t>发送的。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0227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F95B16-E7F7-4701-BE44-58D0CA78728D}" type="slidenum">
              <a:rPr lang="zh-CN" altLang="en-US" smtClean="0"/>
              <a:pPr eaLnBrk="1" hangingPunct="1"/>
              <a:t>50</a:t>
            </a:fld>
            <a:endParaRPr lang="en-US" altLang="zh-CN" smtClean="0"/>
          </a:p>
        </p:txBody>
      </p:sp>
      <p:sp>
        <p:nvSpPr>
          <p:cNvPr id="210227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32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GB" altLang="zh-CN" smtClean="0">
                <a:ea typeface="黑体" panose="02010609060101010101" pitchFamily="49" charset="-122"/>
              </a:rPr>
              <a:t>3. </a:t>
            </a:r>
            <a:r>
              <a:rPr lang="zh-CN" altLang="zh-CN" smtClean="0">
                <a:ea typeface="黑体" panose="02010609060101010101" pitchFamily="49" charset="-122"/>
              </a:rPr>
              <a:t>报文鉴别码</a:t>
            </a:r>
            <a:r>
              <a:rPr lang="en-US" altLang="zh-CN" smtClean="0">
                <a:ea typeface="黑体" panose="02010609060101010101" pitchFamily="49" charset="-122"/>
              </a:rPr>
              <a:t> MAC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0432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为防范上述</a:t>
            </a:r>
            <a:r>
              <a:rPr lang="zh-CN" altLang="zh-CN" dirty="0" smtClean="0">
                <a:ea typeface="黑体" panose="02010609060101010101" pitchFamily="49" charset="-122"/>
              </a:rPr>
              <a:t>攻击</a:t>
            </a:r>
            <a:r>
              <a:rPr lang="zh-CN" altLang="en-US" dirty="0" smtClean="0">
                <a:ea typeface="黑体" panose="02010609060101010101" pitchFamily="49" charset="-122"/>
              </a:rPr>
              <a:t>，可以</a:t>
            </a:r>
            <a:r>
              <a:rPr lang="zh-CN" altLang="zh-CN" dirty="0" smtClean="0">
                <a:ea typeface="黑体" panose="02010609060101010101" pitchFamily="49" charset="-122"/>
              </a:rPr>
              <a:t>对散列进行一次加密。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散列加密</a:t>
            </a:r>
            <a:r>
              <a:rPr lang="zh-CN" altLang="en-US" dirty="0" smtClean="0">
                <a:ea typeface="黑体" panose="02010609060101010101" pitchFamily="49" charset="-122"/>
              </a:rPr>
              <a:t>后的</a:t>
            </a:r>
            <a:r>
              <a:rPr lang="zh-CN" altLang="zh-CN" dirty="0" smtClean="0">
                <a:ea typeface="黑体" panose="02010609060101010101" pitchFamily="49" charset="-122"/>
              </a:rPr>
              <a:t>结果叫做</a:t>
            </a:r>
            <a:r>
              <a:rPr lang="zh-CN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报文鉴别码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MAC </a:t>
            </a:r>
            <a:r>
              <a:rPr lang="en-US" altLang="zh-CN" u="sng" dirty="0" smtClean="0">
                <a:ea typeface="黑体" panose="02010609060101010101" pitchFamily="49" charset="-122"/>
              </a:rPr>
              <a:t>(Message Authentication Code)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由于入侵者不掌握密钥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i="1" dirty="0" smtClean="0">
                <a:ea typeface="黑体" panose="02010609060101010101" pitchFamily="49" charset="-122"/>
              </a:rPr>
              <a:t>K</a:t>
            </a:r>
            <a:r>
              <a:rPr lang="zh-CN" altLang="zh-CN" dirty="0" smtClean="0">
                <a:ea typeface="黑体" panose="02010609060101010101" pitchFamily="49" charset="-122"/>
              </a:rPr>
              <a:t>，所以入侵者无法伪造</a:t>
            </a:r>
            <a:r>
              <a:rPr lang="en-US" altLang="zh-CN" dirty="0" smtClean="0">
                <a:ea typeface="黑体" panose="02010609060101010101" pitchFamily="49" charset="-122"/>
              </a:rPr>
              <a:t> A </a:t>
            </a:r>
            <a:r>
              <a:rPr lang="zh-CN" altLang="zh-CN" dirty="0" smtClean="0">
                <a:ea typeface="黑体" panose="02010609060101010101" pitchFamily="49" charset="-122"/>
              </a:rPr>
              <a:t>的报文鉴别码</a:t>
            </a:r>
            <a:r>
              <a:rPr lang="en-US" altLang="zh-CN" dirty="0" smtClean="0">
                <a:ea typeface="黑体" panose="02010609060101010101" pitchFamily="49" charset="-122"/>
              </a:rPr>
              <a:t> MAC</a:t>
            </a:r>
            <a:r>
              <a:rPr lang="zh-CN" altLang="zh-CN" dirty="0" smtClean="0">
                <a:ea typeface="黑体" panose="02010609060101010101" pitchFamily="49" charset="-122"/>
              </a:rPr>
              <a:t>，因而无法伪造</a:t>
            </a:r>
            <a:r>
              <a:rPr lang="en-US" altLang="zh-CN" dirty="0" smtClean="0">
                <a:ea typeface="黑体" panose="02010609060101010101" pitchFamily="49" charset="-122"/>
              </a:rPr>
              <a:t> A </a:t>
            </a:r>
            <a:r>
              <a:rPr lang="zh-CN" altLang="zh-CN" dirty="0" smtClean="0">
                <a:ea typeface="黑体" panose="02010609060101010101" pitchFamily="49" charset="-122"/>
              </a:rPr>
              <a:t>发送的报文。这样就完成了对报文的鉴别。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1043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BE42F1-E390-4145-A77E-1A1391C43C0E}" type="slidenum">
              <a:rPr lang="zh-CN" altLang="en-US" smtClean="0"/>
              <a:pPr eaLnBrk="1" hangingPunct="1"/>
              <a:t>51</a:t>
            </a:fld>
            <a:endParaRPr lang="en-US" altLang="zh-CN" smtClean="0"/>
          </a:p>
        </p:txBody>
      </p:sp>
      <p:sp>
        <p:nvSpPr>
          <p:cNvPr id="210432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mtClean="0">
                <a:ea typeface="黑体" panose="02010609060101010101" pitchFamily="49" charset="-122"/>
              </a:rPr>
              <a:t>3. </a:t>
            </a:r>
            <a:r>
              <a:rPr lang="zh-CN" altLang="zh-CN" smtClean="0">
                <a:ea typeface="黑体" panose="02010609060101010101" pitchFamily="49" charset="-122"/>
              </a:rPr>
              <a:t>报文鉴别码</a:t>
            </a:r>
            <a:r>
              <a:rPr lang="en-US" altLang="zh-CN" smtClean="0">
                <a:ea typeface="黑体" panose="02010609060101010101" pitchFamily="49" charset="-122"/>
              </a:rPr>
              <a:t> MAC</a:t>
            </a:r>
          </a:p>
        </p:txBody>
      </p:sp>
      <p:sp>
        <p:nvSpPr>
          <p:cNvPr id="2106370" name="Text Box 34"/>
          <p:cNvSpPr txBox="1">
            <a:spLocks noChangeArrowheads="1"/>
          </p:cNvSpPr>
          <p:nvPr/>
        </p:nvSpPr>
        <p:spPr bwMode="auto">
          <a:xfrm>
            <a:off x="1784350" y="6146800"/>
            <a:ext cx="7300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b="1" dirty="0">
                <a:ea typeface="黑体" panose="02010609060101010101" pitchFamily="49" charset="-122"/>
              </a:rPr>
              <a:t>使用公开密钥密码体制鉴别报文（防伪造，防否认）</a:t>
            </a:r>
          </a:p>
        </p:txBody>
      </p:sp>
      <p:sp>
        <p:nvSpPr>
          <p:cNvPr id="2106371" name="Text Box 35"/>
          <p:cNvSpPr txBox="1">
            <a:spLocks noChangeArrowheads="1"/>
          </p:cNvSpPr>
          <p:nvPr/>
        </p:nvSpPr>
        <p:spPr bwMode="auto">
          <a:xfrm>
            <a:off x="2605088" y="3187700"/>
            <a:ext cx="5443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b="1" dirty="0">
                <a:ea typeface="黑体" panose="02010609060101010101" pitchFamily="49" charset="-122"/>
              </a:rPr>
              <a:t>使用传统加密方法鉴别报文（防伪造）</a:t>
            </a:r>
          </a:p>
        </p:txBody>
      </p:sp>
      <p:grpSp>
        <p:nvGrpSpPr>
          <p:cNvPr id="2106372" name="组合 602118"/>
          <p:cNvGrpSpPr>
            <a:grpSpLocks/>
          </p:cNvGrpSpPr>
          <p:nvPr/>
        </p:nvGrpSpPr>
        <p:grpSpPr bwMode="auto">
          <a:xfrm>
            <a:off x="488950" y="1195388"/>
            <a:ext cx="9121775" cy="1970087"/>
            <a:chOff x="488504" y="1195611"/>
            <a:chExt cx="9121924" cy="1970087"/>
          </a:xfrm>
        </p:grpSpPr>
        <p:grpSp>
          <p:nvGrpSpPr>
            <p:cNvPr id="2106373" name="组合 2"/>
            <p:cNvGrpSpPr>
              <a:grpSpLocks/>
            </p:cNvGrpSpPr>
            <p:nvPr/>
          </p:nvGrpSpPr>
          <p:grpSpPr bwMode="auto">
            <a:xfrm>
              <a:off x="6292403" y="1195611"/>
              <a:ext cx="3318025" cy="1970087"/>
              <a:chOff x="5860355" y="1195611"/>
              <a:chExt cx="3318025" cy="1970087"/>
            </a:xfrm>
          </p:grpSpPr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5860451" y="1195611"/>
                <a:ext cx="60961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</a:p>
            </p:txBody>
          </p:sp>
          <p:sp>
            <p:nvSpPr>
              <p:cNvPr id="21" name="Rectangle 18" descr="浅色竖线"/>
              <p:cNvSpPr>
                <a:spLocks noChangeArrowheads="1"/>
              </p:cNvSpPr>
              <p:nvPr/>
            </p:nvSpPr>
            <p:spPr bwMode="auto">
              <a:xfrm>
                <a:off x="5860451" y="2262411"/>
                <a:ext cx="60961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" name="Oval 19"/>
              <p:cNvSpPr>
                <a:spLocks noChangeArrowheads="1"/>
              </p:cNvSpPr>
              <p:nvPr/>
            </p:nvSpPr>
            <p:spPr bwMode="auto">
              <a:xfrm>
                <a:off x="6938382" y="2730723"/>
                <a:ext cx="434982" cy="434975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D</a:t>
                </a:r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7917884" y="2719611"/>
                <a:ext cx="609610" cy="381000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</a:p>
            </p:txBody>
          </p:sp>
          <p:sp>
            <p:nvSpPr>
              <p:cNvPr id="24" name="Line 21"/>
              <p:cNvSpPr>
                <a:spLocks noChangeShapeType="1"/>
              </p:cNvSpPr>
              <p:nvPr/>
            </p:nvSpPr>
            <p:spPr bwMode="auto">
              <a:xfrm>
                <a:off x="7308275" y="2948211"/>
                <a:ext cx="60961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5" name="Line 22"/>
              <p:cNvSpPr>
                <a:spLocks noChangeShapeType="1"/>
              </p:cNvSpPr>
              <p:nvPr/>
            </p:nvSpPr>
            <p:spPr bwMode="auto">
              <a:xfrm>
                <a:off x="6317658" y="2948211"/>
                <a:ext cx="68581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 flipV="1">
                <a:off x="6317658" y="26434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7917884" y="1500411"/>
                <a:ext cx="609610" cy="38100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7079671" y="1282923"/>
                <a:ext cx="40799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H</a:t>
                </a:r>
              </a:p>
            </p:txBody>
          </p:sp>
          <p:sp>
            <p:nvSpPr>
              <p:cNvPr id="29" name="AutoShape 26"/>
              <p:cNvSpPr/>
              <p:nvPr/>
            </p:nvSpPr>
            <p:spPr bwMode="auto">
              <a:xfrm>
                <a:off x="6546262" y="1195611"/>
                <a:ext cx="304805" cy="1066800"/>
              </a:xfrm>
              <a:prstGeom prst="rightBrace">
                <a:avLst>
                  <a:gd name="adj1" fmla="val 29167"/>
                  <a:gd name="adj2" fmla="val 50000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0" name="Line 27"/>
              <p:cNvSpPr>
                <a:spLocks noChangeShapeType="1"/>
              </p:cNvSpPr>
              <p:nvPr/>
            </p:nvSpPr>
            <p:spPr bwMode="auto">
              <a:xfrm>
                <a:off x="7003470" y="1729011"/>
                <a:ext cx="68581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1" name="AutoShape 28"/>
              <p:cNvSpPr>
                <a:spLocks noChangeArrowheads="1"/>
              </p:cNvSpPr>
              <p:nvPr/>
            </p:nvSpPr>
            <p:spPr bwMode="auto">
              <a:xfrm>
                <a:off x="8146488" y="1957611"/>
                <a:ext cx="228604" cy="685800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66FF"/>
              </a:solidFill>
              <a:ln w="1270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2" name="Text Box 29"/>
              <p:cNvSpPr txBox="1">
                <a:spLocks noChangeArrowheads="1"/>
              </p:cNvSpPr>
              <p:nvPr/>
            </p:nvSpPr>
            <p:spPr bwMode="auto">
              <a:xfrm>
                <a:off x="8375092" y="1995711"/>
                <a:ext cx="803288" cy="4619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比较</a:t>
                </a:r>
              </a:p>
            </p:txBody>
          </p:sp>
          <p:sp>
            <p:nvSpPr>
              <p:cNvPr id="35" name="Text Box 32"/>
              <p:cNvSpPr txBox="1">
                <a:spLocks noChangeArrowheads="1"/>
              </p:cNvSpPr>
              <p:nvPr/>
            </p:nvSpPr>
            <p:spPr bwMode="auto">
              <a:xfrm>
                <a:off x="7003470" y="1984598"/>
                <a:ext cx="40799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K</a:t>
                </a:r>
              </a:p>
            </p:txBody>
          </p:sp>
          <p:sp>
            <p:nvSpPr>
              <p:cNvPr id="36" name="Line 33"/>
              <p:cNvSpPr>
                <a:spLocks noChangeShapeType="1"/>
              </p:cNvSpPr>
              <p:nvPr/>
            </p:nvSpPr>
            <p:spPr bwMode="auto">
              <a:xfrm>
                <a:off x="7155872" y="24148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06389" name="组合 602111"/>
            <p:cNvGrpSpPr>
              <a:grpSpLocks/>
            </p:cNvGrpSpPr>
            <p:nvPr/>
          </p:nvGrpSpPr>
          <p:grpSpPr bwMode="auto">
            <a:xfrm>
              <a:off x="4641155" y="1455167"/>
              <a:ext cx="1319957" cy="760412"/>
              <a:chOff x="4641155" y="1455167"/>
              <a:chExt cx="1319957" cy="760412"/>
            </a:xfrm>
          </p:grpSpPr>
          <p:sp>
            <p:nvSpPr>
              <p:cNvPr id="2106390" name="右箭头 3"/>
              <p:cNvSpPr>
                <a:spLocks noChangeArrowheads="1"/>
              </p:cNvSpPr>
              <p:nvPr/>
            </p:nvSpPr>
            <p:spPr bwMode="auto">
              <a:xfrm>
                <a:off x="4641155" y="1744885"/>
                <a:ext cx="1319957" cy="470694"/>
              </a:xfrm>
              <a:prstGeom prst="rightArrow">
                <a:avLst>
                  <a:gd name="adj1" fmla="val 50000"/>
                  <a:gd name="adj2" fmla="val 4999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06391" name="TextBox 4"/>
              <p:cNvSpPr txBox="1">
                <a:spLocks noChangeArrowheads="1"/>
              </p:cNvSpPr>
              <p:nvPr/>
            </p:nvSpPr>
            <p:spPr bwMode="auto">
              <a:xfrm>
                <a:off x="4808984" y="1455167"/>
                <a:ext cx="8034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FF0000"/>
                    </a:solidFill>
                    <a:ea typeface="黑体" panose="02010609060101010101" pitchFamily="49" charset="-122"/>
                  </a:rPr>
                  <a:t>发送</a:t>
                </a:r>
              </a:p>
            </p:txBody>
          </p:sp>
        </p:grpSp>
        <p:grpSp>
          <p:nvGrpSpPr>
            <p:cNvPr id="2106392" name="组合 602115"/>
            <p:cNvGrpSpPr>
              <a:grpSpLocks/>
            </p:cNvGrpSpPr>
            <p:nvPr/>
          </p:nvGrpSpPr>
          <p:grpSpPr bwMode="auto">
            <a:xfrm>
              <a:off x="488504" y="1195611"/>
              <a:ext cx="3708400" cy="1970087"/>
              <a:chOff x="488504" y="1195611"/>
              <a:chExt cx="3708400" cy="1970087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539305" y="1195611"/>
                <a:ext cx="60961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</a:p>
            </p:txBody>
          </p:sp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539305" y="2719611"/>
                <a:ext cx="609610" cy="381000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</a:p>
            </p:txBody>
          </p:sp>
          <p:sp>
            <p:nvSpPr>
              <p:cNvPr id="10" name="Oval 7"/>
              <p:cNvSpPr>
                <a:spLocks noChangeArrowheads="1"/>
              </p:cNvSpPr>
              <p:nvPr/>
            </p:nvSpPr>
            <p:spPr bwMode="auto">
              <a:xfrm>
                <a:off x="1693437" y="2730723"/>
                <a:ext cx="434982" cy="434975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E</a:t>
                </a:r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>
                <a:off x="844110" y="2262411"/>
                <a:ext cx="0" cy="4572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2" name="Text Box 9"/>
              <p:cNvSpPr txBox="1">
                <a:spLocks noChangeArrowheads="1"/>
              </p:cNvSpPr>
              <p:nvPr/>
            </p:nvSpPr>
            <p:spPr bwMode="auto">
              <a:xfrm>
                <a:off x="488504" y="2273523"/>
                <a:ext cx="40799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H</a:t>
                </a:r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1148915" y="2948211"/>
                <a:ext cx="60961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2063330" y="2948211"/>
                <a:ext cx="60961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" name="Rectangle 12" descr="浅色竖线"/>
              <p:cNvSpPr>
                <a:spLocks noChangeArrowheads="1"/>
              </p:cNvSpPr>
              <p:nvPr/>
            </p:nvSpPr>
            <p:spPr bwMode="auto">
              <a:xfrm>
                <a:off x="2672940" y="2719611"/>
                <a:ext cx="533409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3587355" y="1195611"/>
                <a:ext cx="60961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</a:p>
            </p:txBody>
          </p:sp>
          <p:sp>
            <p:nvSpPr>
              <p:cNvPr id="17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587355" y="2262411"/>
                <a:ext cx="60961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>
                <a:off x="3206349" y="2948211"/>
                <a:ext cx="68581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 flipV="1">
                <a:off x="3892160" y="26434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3" name="Text Box 30"/>
              <p:cNvSpPr txBox="1">
                <a:spLocks noChangeArrowheads="1"/>
              </p:cNvSpPr>
              <p:nvPr/>
            </p:nvSpPr>
            <p:spPr bwMode="auto">
              <a:xfrm>
                <a:off x="1758525" y="1984598"/>
                <a:ext cx="40799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K</a:t>
                </a:r>
              </a:p>
            </p:txBody>
          </p:sp>
          <p:sp>
            <p:nvSpPr>
              <p:cNvPr id="34" name="Line 31"/>
              <p:cNvSpPr>
                <a:spLocks noChangeShapeType="1"/>
              </p:cNvSpPr>
              <p:nvPr/>
            </p:nvSpPr>
            <p:spPr bwMode="auto">
              <a:xfrm>
                <a:off x="1910927" y="24148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06407" name="TextBox 69"/>
              <p:cNvSpPr txBox="1">
                <a:spLocks noChangeArrowheads="1"/>
              </p:cNvSpPr>
              <p:nvPr/>
            </p:nvSpPr>
            <p:spPr bwMode="auto">
              <a:xfrm>
                <a:off x="2539591" y="2380818"/>
                <a:ext cx="7697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solidFill>
                      <a:srgbClr val="FF0000"/>
                    </a:solidFill>
                    <a:ea typeface="黑体" panose="02010609060101010101" pitchFamily="49" charset="-122"/>
                  </a:rPr>
                  <a:t>MAC</a:t>
                </a:r>
                <a:endPara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2106408" name="组合 602117"/>
          <p:cNvGrpSpPr>
            <a:grpSpLocks/>
          </p:cNvGrpSpPr>
          <p:nvPr/>
        </p:nvGrpSpPr>
        <p:grpSpPr bwMode="auto">
          <a:xfrm>
            <a:off x="488950" y="4076700"/>
            <a:ext cx="9185275" cy="2062163"/>
            <a:chOff x="488504" y="4077072"/>
            <a:chExt cx="9185448" cy="2062014"/>
          </a:xfrm>
        </p:grpSpPr>
        <p:grpSp>
          <p:nvGrpSpPr>
            <p:cNvPr id="2106409" name="组合 602114"/>
            <p:cNvGrpSpPr>
              <a:grpSpLocks/>
            </p:cNvGrpSpPr>
            <p:nvPr/>
          </p:nvGrpSpPr>
          <p:grpSpPr bwMode="auto">
            <a:xfrm>
              <a:off x="6321152" y="4154711"/>
              <a:ext cx="3352800" cy="1984375"/>
              <a:chOff x="6321152" y="4154711"/>
              <a:chExt cx="3352800" cy="1984375"/>
            </a:xfrm>
          </p:grpSpPr>
          <p:sp>
            <p:nvSpPr>
              <p:cNvPr id="52" name="Rectangle 49"/>
              <p:cNvSpPr>
                <a:spLocks noChangeArrowheads="1"/>
              </p:cNvSpPr>
              <p:nvPr/>
            </p:nvSpPr>
            <p:spPr bwMode="auto">
              <a:xfrm>
                <a:off x="6321089" y="4154854"/>
                <a:ext cx="609611" cy="1066723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</a:p>
            </p:txBody>
          </p:sp>
          <p:sp>
            <p:nvSpPr>
              <p:cNvPr id="53" name="Rectangle 50" descr="浅色竖线"/>
              <p:cNvSpPr>
                <a:spLocks noChangeArrowheads="1"/>
              </p:cNvSpPr>
              <p:nvPr/>
            </p:nvSpPr>
            <p:spPr bwMode="auto">
              <a:xfrm>
                <a:off x="6321089" y="5221577"/>
                <a:ext cx="609611" cy="380973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4" name="Oval 51"/>
              <p:cNvSpPr>
                <a:spLocks noChangeArrowheads="1"/>
              </p:cNvSpPr>
              <p:nvPr/>
            </p:nvSpPr>
            <p:spPr bwMode="auto">
              <a:xfrm>
                <a:off x="7384734" y="5675569"/>
                <a:ext cx="463559" cy="463517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D</a:t>
                </a:r>
              </a:p>
            </p:txBody>
          </p:sp>
          <p:sp>
            <p:nvSpPr>
              <p:cNvPr id="55" name="Rectangle 52"/>
              <p:cNvSpPr>
                <a:spLocks noChangeArrowheads="1"/>
              </p:cNvSpPr>
              <p:nvPr/>
            </p:nvSpPr>
            <p:spPr bwMode="auto">
              <a:xfrm>
                <a:off x="8378528" y="5678744"/>
                <a:ext cx="609611" cy="380973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</a:p>
            </p:txBody>
          </p:sp>
          <p:sp>
            <p:nvSpPr>
              <p:cNvPr id="56" name="Line 53"/>
              <p:cNvSpPr>
                <a:spLocks noChangeShapeType="1"/>
              </p:cNvSpPr>
              <p:nvPr/>
            </p:nvSpPr>
            <p:spPr bwMode="auto">
              <a:xfrm>
                <a:off x="7768916" y="5907328"/>
                <a:ext cx="60961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7" name="Line 54"/>
              <p:cNvSpPr>
                <a:spLocks noChangeShapeType="1"/>
              </p:cNvSpPr>
              <p:nvPr/>
            </p:nvSpPr>
            <p:spPr bwMode="auto">
              <a:xfrm>
                <a:off x="6778298" y="5907328"/>
                <a:ext cx="685813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8" name="Line 55"/>
              <p:cNvSpPr>
                <a:spLocks noChangeShapeType="1"/>
              </p:cNvSpPr>
              <p:nvPr/>
            </p:nvSpPr>
            <p:spPr bwMode="auto">
              <a:xfrm flipV="1">
                <a:off x="6778298" y="5602550"/>
                <a:ext cx="0" cy="30477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9" name="Rectangle 56"/>
              <p:cNvSpPr>
                <a:spLocks noChangeArrowheads="1"/>
              </p:cNvSpPr>
              <p:nvPr/>
            </p:nvSpPr>
            <p:spPr bwMode="auto">
              <a:xfrm>
                <a:off x="8378528" y="4459632"/>
                <a:ext cx="609611" cy="380973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  <a:endParaRPr kumimoji="1" lang="zh-CN" altLang="en-US" sz="2400" b="1" kern="0" dirty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0" name="Text Box 57"/>
              <p:cNvSpPr txBox="1">
                <a:spLocks noChangeArrowheads="1"/>
              </p:cNvSpPr>
              <p:nvPr/>
            </p:nvSpPr>
            <p:spPr bwMode="auto">
              <a:xfrm>
                <a:off x="7540312" y="4242160"/>
                <a:ext cx="407996" cy="4619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H</a:t>
                </a:r>
              </a:p>
            </p:txBody>
          </p:sp>
          <p:sp>
            <p:nvSpPr>
              <p:cNvPr id="61" name="AutoShape 58"/>
              <p:cNvSpPr/>
              <p:nvPr/>
            </p:nvSpPr>
            <p:spPr bwMode="auto">
              <a:xfrm>
                <a:off x="7006902" y="4154854"/>
                <a:ext cx="304806" cy="1066723"/>
              </a:xfrm>
              <a:prstGeom prst="rightBrace">
                <a:avLst>
                  <a:gd name="adj1" fmla="val 29167"/>
                  <a:gd name="adj2" fmla="val 50000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2" name="Line 59"/>
              <p:cNvSpPr>
                <a:spLocks noChangeShapeType="1"/>
              </p:cNvSpPr>
              <p:nvPr/>
            </p:nvSpPr>
            <p:spPr bwMode="auto">
              <a:xfrm>
                <a:off x="7464110" y="4688216"/>
                <a:ext cx="685813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3" name="AutoShape 60"/>
              <p:cNvSpPr>
                <a:spLocks noChangeArrowheads="1"/>
              </p:cNvSpPr>
              <p:nvPr/>
            </p:nvSpPr>
            <p:spPr bwMode="auto">
              <a:xfrm>
                <a:off x="8607132" y="4916799"/>
                <a:ext cx="228604" cy="685751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66FF"/>
              </a:solidFill>
              <a:ln w="12700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6" name="Text Box 63"/>
              <p:cNvSpPr txBox="1">
                <a:spLocks noChangeArrowheads="1"/>
              </p:cNvSpPr>
              <p:nvPr/>
            </p:nvSpPr>
            <p:spPr bwMode="auto">
              <a:xfrm>
                <a:off x="7464110" y="4956483"/>
                <a:ext cx="544523" cy="4619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K</a:t>
                </a:r>
                <a:r>
                  <a:rPr kumimoji="1" lang="en-US" altLang="zh-CN" sz="2400" b="1" kern="0" baseline="-2500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P</a:t>
                </a:r>
              </a:p>
            </p:txBody>
          </p:sp>
          <p:sp>
            <p:nvSpPr>
              <p:cNvPr id="67" name="Line 64"/>
              <p:cNvSpPr>
                <a:spLocks noChangeShapeType="1"/>
              </p:cNvSpPr>
              <p:nvPr/>
            </p:nvSpPr>
            <p:spPr bwMode="auto">
              <a:xfrm>
                <a:off x="7616513" y="5386665"/>
                <a:ext cx="0" cy="30477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8" name="Rectangle 65"/>
              <p:cNvSpPr>
                <a:spLocks noChangeArrowheads="1"/>
              </p:cNvSpPr>
              <p:nvPr/>
            </p:nvSpPr>
            <p:spPr bwMode="auto">
              <a:xfrm>
                <a:off x="8870662" y="4964421"/>
                <a:ext cx="803290" cy="4619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比较</a:t>
                </a:r>
              </a:p>
            </p:txBody>
          </p:sp>
        </p:grpSp>
        <p:grpSp>
          <p:nvGrpSpPr>
            <p:cNvPr id="2106425" name="组合 602116"/>
            <p:cNvGrpSpPr>
              <a:grpSpLocks/>
            </p:cNvGrpSpPr>
            <p:nvPr/>
          </p:nvGrpSpPr>
          <p:grpSpPr bwMode="auto">
            <a:xfrm>
              <a:off x="488504" y="4077072"/>
              <a:ext cx="3708400" cy="1984375"/>
              <a:chOff x="488504" y="4077072"/>
              <a:chExt cx="3708400" cy="1984375"/>
            </a:xfrm>
          </p:grpSpPr>
          <p:sp>
            <p:nvSpPr>
              <p:cNvPr id="40" name="Rectangle 37"/>
              <p:cNvSpPr>
                <a:spLocks noChangeArrowheads="1"/>
              </p:cNvSpPr>
              <p:nvPr/>
            </p:nvSpPr>
            <p:spPr bwMode="auto">
              <a:xfrm>
                <a:off x="539305" y="4077072"/>
                <a:ext cx="609612" cy="1066723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</a:p>
            </p:txBody>
          </p:sp>
          <p:sp>
            <p:nvSpPr>
              <p:cNvPr id="41" name="Rectangle 38"/>
              <p:cNvSpPr>
                <a:spLocks noChangeArrowheads="1"/>
              </p:cNvSpPr>
              <p:nvPr/>
            </p:nvSpPr>
            <p:spPr bwMode="auto">
              <a:xfrm>
                <a:off x="539305" y="5600962"/>
                <a:ext cx="609612" cy="380973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</a:p>
            </p:txBody>
          </p:sp>
          <p:sp>
            <p:nvSpPr>
              <p:cNvPr id="42" name="Oval 39"/>
              <p:cNvSpPr>
                <a:spLocks noChangeArrowheads="1"/>
              </p:cNvSpPr>
              <p:nvPr/>
            </p:nvSpPr>
            <p:spPr bwMode="auto">
              <a:xfrm>
                <a:off x="1679151" y="5597787"/>
                <a:ext cx="463559" cy="463517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E</a:t>
                </a:r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844111" y="5143795"/>
                <a:ext cx="0" cy="4571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88504" y="5154907"/>
                <a:ext cx="407996" cy="4619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H</a:t>
                </a:r>
              </a:p>
            </p:txBody>
          </p:sp>
          <p:sp>
            <p:nvSpPr>
              <p:cNvPr id="45" name="Line 42"/>
              <p:cNvSpPr>
                <a:spLocks noChangeShapeType="1"/>
              </p:cNvSpPr>
              <p:nvPr/>
            </p:nvSpPr>
            <p:spPr bwMode="auto">
              <a:xfrm>
                <a:off x="1148916" y="5829546"/>
                <a:ext cx="6096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6" name="Line 43"/>
              <p:cNvSpPr>
                <a:spLocks noChangeShapeType="1"/>
              </p:cNvSpPr>
              <p:nvPr/>
            </p:nvSpPr>
            <p:spPr bwMode="auto">
              <a:xfrm>
                <a:off x="2063334" y="5829546"/>
                <a:ext cx="6096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7" name="Rectangle 44" descr="浅色竖线"/>
              <p:cNvSpPr>
                <a:spLocks noChangeArrowheads="1"/>
              </p:cNvSpPr>
              <p:nvPr/>
            </p:nvSpPr>
            <p:spPr bwMode="auto">
              <a:xfrm>
                <a:off x="2672945" y="5600962"/>
                <a:ext cx="533410" cy="380973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8" name="Rectangle 45"/>
              <p:cNvSpPr>
                <a:spLocks noChangeArrowheads="1"/>
              </p:cNvSpPr>
              <p:nvPr/>
            </p:nvSpPr>
            <p:spPr bwMode="auto">
              <a:xfrm>
                <a:off x="3587362" y="4077072"/>
                <a:ext cx="609612" cy="1066723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</a:p>
            </p:txBody>
          </p:sp>
          <p:sp>
            <p:nvSpPr>
              <p:cNvPr id="49" name="Rectangle 46" descr="浅色竖线"/>
              <p:cNvSpPr>
                <a:spLocks noChangeArrowheads="1"/>
              </p:cNvSpPr>
              <p:nvPr/>
            </p:nvSpPr>
            <p:spPr bwMode="auto">
              <a:xfrm>
                <a:off x="3587362" y="5143795"/>
                <a:ext cx="609612" cy="380973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0" name="Line 47"/>
              <p:cNvSpPr>
                <a:spLocks noChangeShapeType="1"/>
              </p:cNvSpPr>
              <p:nvPr/>
            </p:nvSpPr>
            <p:spPr bwMode="auto">
              <a:xfrm>
                <a:off x="3206355" y="5829546"/>
                <a:ext cx="685813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 flipV="1">
                <a:off x="3892168" y="5524768"/>
                <a:ext cx="0" cy="30477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4" name="Text Box 61"/>
              <p:cNvSpPr txBox="1">
                <a:spLocks noChangeArrowheads="1"/>
              </p:cNvSpPr>
              <p:nvPr/>
            </p:nvSpPr>
            <p:spPr bwMode="auto">
              <a:xfrm>
                <a:off x="1758528" y="4878702"/>
                <a:ext cx="544523" cy="4619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K</a:t>
                </a:r>
                <a:r>
                  <a:rPr kumimoji="1" lang="en-US" altLang="zh-CN" sz="2400" b="1" kern="0" baseline="-2500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S</a:t>
                </a:r>
              </a:p>
            </p:txBody>
          </p:sp>
          <p:sp>
            <p:nvSpPr>
              <p:cNvPr id="65" name="Line 62"/>
              <p:cNvSpPr>
                <a:spLocks noChangeShapeType="1"/>
              </p:cNvSpPr>
              <p:nvPr/>
            </p:nvSpPr>
            <p:spPr bwMode="auto">
              <a:xfrm>
                <a:off x="1910931" y="5308883"/>
                <a:ext cx="0" cy="30477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06440" name="TextBox 72"/>
              <p:cNvSpPr txBox="1">
                <a:spLocks noChangeArrowheads="1"/>
              </p:cNvSpPr>
              <p:nvPr/>
            </p:nvSpPr>
            <p:spPr bwMode="auto">
              <a:xfrm>
                <a:off x="2539591" y="5208492"/>
                <a:ext cx="7697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solidFill>
                      <a:srgbClr val="FF0000"/>
                    </a:solidFill>
                    <a:ea typeface="黑体" panose="02010609060101010101" pitchFamily="49" charset="-122"/>
                  </a:rPr>
                  <a:t>MAC</a:t>
                </a:r>
                <a:endPara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106441" name="组合 76"/>
            <p:cNvGrpSpPr>
              <a:grpSpLocks/>
            </p:cNvGrpSpPr>
            <p:nvPr/>
          </p:nvGrpSpPr>
          <p:grpSpPr bwMode="auto">
            <a:xfrm>
              <a:off x="4641155" y="4394573"/>
              <a:ext cx="1319957" cy="760412"/>
              <a:chOff x="4641155" y="1455167"/>
              <a:chExt cx="1319957" cy="760412"/>
            </a:xfrm>
          </p:grpSpPr>
          <p:sp>
            <p:nvSpPr>
              <p:cNvPr id="2106442" name="右箭头 77"/>
              <p:cNvSpPr>
                <a:spLocks noChangeArrowheads="1"/>
              </p:cNvSpPr>
              <p:nvPr/>
            </p:nvSpPr>
            <p:spPr bwMode="auto">
              <a:xfrm>
                <a:off x="4641155" y="1744885"/>
                <a:ext cx="1319957" cy="470694"/>
              </a:xfrm>
              <a:prstGeom prst="rightArrow">
                <a:avLst>
                  <a:gd name="adj1" fmla="val 50000"/>
                  <a:gd name="adj2" fmla="val 4999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06443" name="TextBox 78"/>
              <p:cNvSpPr txBox="1">
                <a:spLocks noChangeArrowheads="1"/>
              </p:cNvSpPr>
              <p:nvPr/>
            </p:nvSpPr>
            <p:spPr bwMode="auto">
              <a:xfrm>
                <a:off x="4808984" y="1455167"/>
                <a:ext cx="8034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FF0000"/>
                    </a:solidFill>
                    <a:ea typeface="黑体" panose="02010609060101010101" pitchFamily="49" charset="-122"/>
                  </a:rPr>
                  <a:t>发送</a:t>
                </a:r>
              </a:p>
            </p:txBody>
          </p:sp>
        </p:grpSp>
      </p:grpSp>
      <p:sp>
        <p:nvSpPr>
          <p:cNvPr id="210644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F15E27-E432-4930-A811-4A4C1421C1DE}" type="slidenum">
              <a:rPr lang="zh-CN" altLang="en-US" smtClean="0"/>
              <a:pPr eaLnBrk="1" hangingPunct="1"/>
              <a:t>52</a:t>
            </a:fld>
            <a:endParaRPr lang="en-US" altLang="zh-CN" dirty="0" smtClean="0"/>
          </a:p>
        </p:txBody>
      </p:sp>
      <p:sp>
        <p:nvSpPr>
          <p:cNvPr id="2106445" name="页脚占位符 3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41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GB" altLang="zh-CN" smtClean="0">
                <a:ea typeface="黑体" panose="02010609060101010101" pitchFamily="49" charset="-122"/>
              </a:rPr>
              <a:t>3. </a:t>
            </a:r>
            <a:r>
              <a:rPr lang="zh-CN" altLang="zh-CN" smtClean="0">
                <a:ea typeface="黑体" panose="02010609060101010101" pitchFamily="49" charset="-122"/>
              </a:rPr>
              <a:t>报文鉴别码</a:t>
            </a:r>
            <a:r>
              <a:rPr lang="en-US" altLang="zh-CN" smtClean="0">
                <a:ea typeface="黑体" panose="02010609060101010101" pitchFamily="49" charset="-122"/>
              </a:rPr>
              <a:t> MAC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0841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注意到，现在整个的报文是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不需要加密</a:t>
            </a:r>
            <a:r>
              <a:rPr lang="zh-CN" altLang="zh-CN" dirty="0" smtClean="0">
                <a:ea typeface="黑体" panose="02010609060101010101" pitchFamily="49" charset="-122"/>
              </a:rPr>
              <a:t>的。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虽然从散列</a:t>
            </a:r>
            <a:r>
              <a:rPr lang="en-US" altLang="zh-CN" i="1" dirty="0" smtClean="0">
                <a:ea typeface="黑体" panose="02010609060101010101" pitchFamily="49" charset="-122"/>
              </a:rPr>
              <a:t>H</a:t>
            </a:r>
            <a:r>
              <a:rPr lang="zh-CN" altLang="zh-CN" dirty="0" smtClean="0">
                <a:ea typeface="黑体" panose="02010609060101010101" pitchFamily="49" charset="-122"/>
              </a:rPr>
              <a:t>导出报文鉴别码</a:t>
            </a:r>
            <a:r>
              <a:rPr lang="en-US" altLang="zh-CN" dirty="0" smtClean="0">
                <a:ea typeface="黑体" panose="02010609060101010101" pitchFamily="49" charset="-122"/>
              </a:rPr>
              <a:t> MAC </a:t>
            </a:r>
            <a:r>
              <a:rPr lang="zh-CN" altLang="zh-CN" dirty="0" smtClean="0">
                <a:ea typeface="黑体" panose="02010609060101010101" pitchFamily="49" charset="-122"/>
              </a:rPr>
              <a:t>需要加密算法，但由于散列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i="1" dirty="0" smtClean="0">
                <a:ea typeface="黑体" panose="02010609060101010101" pitchFamily="49" charset="-122"/>
              </a:rPr>
              <a:t>H </a:t>
            </a:r>
            <a:r>
              <a:rPr lang="zh-CN" altLang="zh-CN" dirty="0" smtClean="0">
                <a:ea typeface="黑体" panose="02010609060101010101" pitchFamily="49" charset="-122"/>
              </a:rPr>
              <a:t>的长度通常都远远小于报文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i="1" dirty="0" smtClean="0">
                <a:ea typeface="黑体" panose="02010609060101010101" pitchFamily="49" charset="-122"/>
              </a:rPr>
              <a:t>X </a:t>
            </a:r>
            <a:r>
              <a:rPr lang="zh-CN" altLang="zh-CN" dirty="0" smtClean="0">
                <a:ea typeface="黑体" panose="02010609060101010101" pitchFamily="49" charset="-122"/>
              </a:rPr>
              <a:t>的长度，因此这种加密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不会消耗很多的计算资源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因此，</a:t>
            </a:r>
            <a:r>
              <a:rPr lang="zh-CN" altLang="zh-CN" dirty="0" smtClean="0">
                <a:ea typeface="黑体" panose="02010609060101010101" pitchFamily="49" charset="-122"/>
              </a:rPr>
              <a:t>使用鉴别码</a:t>
            </a:r>
            <a:r>
              <a:rPr lang="en-US" altLang="zh-CN" dirty="0" smtClean="0">
                <a:ea typeface="黑体" panose="02010609060101010101" pitchFamily="49" charset="-122"/>
              </a:rPr>
              <a:t> MAC </a:t>
            </a:r>
            <a:r>
              <a:rPr lang="zh-CN" altLang="zh-CN" dirty="0" smtClean="0">
                <a:ea typeface="黑体" panose="02010609060101010101" pitchFamily="49" charset="-122"/>
              </a:rPr>
              <a:t>就能够很方便地保护报文的完整性。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0841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F497B6-A595-4DB7-A965-57E6BB40CB5D}" type="slidenum">
              <a:rPr lang="zh-CN" altLang="en-US" smtClean="0"/>
              <a:pPr eaLnBrk="1" hangingPunct="1"/>
              <a:t>53</a:t>
            </a:fld>
            <a:endParaRPr lang="en-US" altLang="zh-CN" smtClean="0"/>
          </a:p>
        </p:txBody>
      </p:sp>
      <p:sp>
        <p:nvSpPr>
          <p:cNvPr id="210842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4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7.4.2  </a:t>
            </a:r>
            <a:r>
              <a:rPr lang="zh-CN" altLang="en-US" smtClean="0">
                <a:ea typeface="黑体" panose="02010609060101010101" pitchFamily="49" charset="-122"/>
              </a:rPr>
              <a:t>实体鉴别 </a:t>
            </a:r>
          </a:p>
        </p:txBody>
      </p:sp>
      <p:sp>
        <p:nvSpPr>
          <p:cNvPr id="211046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实体鉴别与报文鉴别不同。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报文鉴别是对每一个收到的报文都要鉴别报文的发送者。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实体鉴别是在系统接入的全部持续时间内对和自己通信的对方实体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只需验证一次。</a:t>
            </a:r>
            <a:r>
              <a:rPr lang="zh-CN" altLang="en-US" dirty="0" smtClean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1104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584EF3-0B9E-427F-ABE5-59EDDF22206F}" type="slidenum">
              <a:rPr lang="zh-CN" altLang="en-US" smtClean="0"/>
              <a:pPr eaLnBrk="1" hangingPunct="1"/>
              <a:t>54</a:t>
            </a:fld>
            <a:endParaRPr lang="en-US" altLang="zh-CN" smtClean="0"/>
          </a:p>
        </p:txBody>
      </p:sp>
      <p:sp>
        <p:nvSpPr>
          <p:cNvPr id="21104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51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最简单的实体鉴别过程 </a:t>
            </a:r>
          </a:p>
        </p:txBody>
      </p:sp>
      <p:sp>
        <p:nvSpPr>
          <p:cNvPr id="2112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可以使用共享的对称密钥实现实体鉴别。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发送给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的报文的被加密，使用的是对称密钥 </a:t>
            </a:r>
            <a:r>
              <a:rPr lang="en-US" altLang="zh-CN" i="1" smtClean="0">
                <a:ea typeface="黑体" panose="02010609060101010101" pitchFamily="49" charset="-122"/>
              </a:rPr>
              <a:t>K</a:t>
            </a:r>
            <a:r>
              <a:rPr lang="en-US" altLang="zh-CN" baseline="-25000" smtClean="0">
                <a:ea typeface="黑体" panose="02010609060101010101" pitchFamily="49" charset="-122"/>
              </a:rPr>
              <a:t>AB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收到此报文后，用共享对称密钥 </a:t>
            </a:r>
            <a:r>
              <a:rPr lang="en-US" altLang="zh-CN" i="1" smtClean="0">
                <a:ea typeface="黑体" panose="02010609060101010101" pitchFamily="49" charset="-122"/>
              </a:rPr>
              <a:t>K</a:t>
            </a:r>
            <a:r>
              <a:rPr lang="en-US" altLang="zh-CN" baseline="-25000" smtClean="0">
                <a:ea typeface="黑体" panose="02010609060101010101" pitchFamily="49" charset="-122"/>
              </a:rPr>
              <a:t>AB </a:t>
            </a:r>
            <a:r>
              <a:rPr lang="zh-CN" altLang="en-US" smtClean="0">
                <a:ea typeface="黑体" panose="02010609060101010101" pitchFamily="49" charset="-122"/>
              </a:rPr>
              <a:t>进行解密，因而鉴别了实体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的身份。 因为该密钥只有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和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知道。</a:t>
            </a:r>
          </a:p>
        </p:txBody>
      </p:sp>
      <p:grpSp>
        <p:nvGrpSpPr>
          <p:cNvPr id="2112515" name="组合 1"/>
          <p:cNvGrpSpPr>
            <a:grpSpLocks/>
          </p:cNvGrpSpPr>
          <p:nvPr/>
        </p:nvGrpSpPr>
        <p:grpSpPr bwMode="auto">
          <a:xfrm>
            <a:off x="1281113" y="4652963"/>
            <a:ext cx="7762875" cy="1584325"/>
            <a:chOff x="128464" y="3571527"/>
            <a:chExt cx="9218675" cy="1951280"/>
          </a:xfrm>
        </p:grpSpPr>
        <p:sp>
          <p:nvSpPr>
            <p:cNvPr id="2112516" name="Line 4"/>
            <p:cNvSpPr>
              <a:spLocks noChangeShapeType="1"/>
            </p:cNvSpPr>
            <p:nvPr/>
          </p:nvSpPr>
          <p:spPr bwMode="auto">
            <a:xfrm>
              <a:off x="850777" y="5044729"/>
              <a:ext cx="7615818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12517" name="Text Box 6"/>
            <p:cNvSpPr txBox="1">
              <a:spLocks noChangeArrowheads="1"/>
            </p:cNvSpPr>
            <p:nvPr/>
          </p:nvSpPr>
          <p:spPr bwMode="auto">
            <a:xfrm>
              <a:off x="128464" y="3620740"/>
              <a:ext cx="483851" cy="568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grpSp>
          <p:nvGrpSpPr>
            <p:cNvPr id="2112518" name="Group 7"/>
            <p:cNvGrpSpPr>
              <a:grpSpLocks/>
            </p:cNvGrpSpPr>
            <p:nvPr/>
          </p:nvGrpSpPr>
          <p:grpSpPr bwMode="auto">
            <a:xfrm>
              <a:off x="412230" y="3571527"/>
              <a:ext cx="935567" cy="939800"/>
              <a:chOff x="921" y="2412"/>
              <a:chExt cx="284" cy="265"/>
            </a:xfrm>
          </p:grpSpPr>
          <p:grpSp>
            <p:nvGrpSpPr>
              <p:cNvPr id="2112519" name="Group 8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2112520" name="Freeform 9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21" name="Freeform 10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22" name="Freeform 11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23" name="Freeform 12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24" name="Rectangle 13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25" name="Rectangle 14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26" name="Rectangle 15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27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12528" name="Group 17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2112529" name="Freeform 18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12530" name="Freeform 19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12531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12532" name="Group 21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2112533" name="Freeform 22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34" name="Freeform 23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35" name="Freeform 24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36" name="Freeform 25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37" name="Rectangle 26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38" name="Rectangle 27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39" name="Rectangle 28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40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12541" name="Group 30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2112542" name="Freeform 31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12543" name="Freeform 32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12544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</p:grpSp>
        <p:sp>
          <p:nvSpPr>
            <p:cNvPr id="2112545" name="Text Box 35"/>
            <p:cNvSpPr txBox="1">
              <a:spLocks noChangeArrowheads="1"/>
            </p:cNvSpPr>
            <p:nvPr/>
          </p:nvSpPr>
          <p:spPr bwMode="auto">
            <a:xfrm>
              <a:off x="8863288" y="3620740"/>
              <a:ext cx="483851" cy="568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grpSp>
          <p:nvGrpSpPr>
            <p:cNvPr id="2112546" name="Group 36"/>
            <p:cNvGrpSpPr>
              <a:grpSpLocks/>
            </p:cNvGrpSpPr>
            <p:nvPr/>
          </p:nvGrpSpPr>
          <p:grpSpPr bwMode="auto">
            <a:xfrm>
              <a:off x="8011988" y="3571527"/>
              <a:ext cx="935567" cy="939800"/>
              <a:chOff x="921" y="2412"/>
              <a:chExt cx="284" cy="265"/>
            </a:xfrm>
          </p:grpSpPr>
          <p:grpSp>
            <p:nvGrpSpPr>
              <p:cNvPr id="2112547" name="Group 37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2112548" name="Freeform 38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49" name="Freeform 39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50" name="Freeform 40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51" name="Freeform 41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52" name="Rectangle 42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53" name="Rectangle 43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54" name="Rectangle 44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55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12556" name="Group 46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2112557" name="Freeform 47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12558" name="Freeform 48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12559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12560" name="Group 50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2112561" name="Freeform 51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62" name="Freeform 52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63" name="Freeform 53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64" name="Freeform 54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65" name="Rectangle 55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66" name="Rectangle 56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67" name="Rectangle 57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2568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12569" name="Group 59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2112570" name="Freeform 60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12571" name="Freeform 61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12572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</p:grpSp>
        <p:sp>
          <p:nvSpPr>
            <p:cNvPr id="2112573" name="Line 63"/>
            <p:cNvSpPr>
              <a:spLocks noChangeShapeType="1"/>
            </p:cNvSpPr>
            <p:nvPr/>
          </p:nvSpPr>
          <p:spPr bwMode="auto">
            <a:xfrm rot="16200000" flipH="1">
              <a:off x="388681" y="5041675"/>
              <a:ext cx="941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12574" name="Line 64"/>
            <p:cNvSpPr>
              <a:spLocks noChangeShapeType="1"/>
            </p:cNvSpPr>
            <p:nvPr/>
          </p:nvSpPr>
          <p:spPr bwMode="auto">
            <a:xfrm rot="16200000" flipH="1">
              <a:off x="8029715" y="5052113"/>
              <a:ext cx="941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12575" name="Rectangle 65"/>
            <p:cNvSpPr>
              <a:spLocks noChangeArrowheads="1"/>
            </p:cNvSpPr>
            <p:nvPr/>
          </p:nvSpPr>
          <p:spPr bwMode="auto">
            <a:xfrm>
              <a:off x="3432184" y="4712940"/>
              <a:ext cx="2801540" cy="671513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A, </a:t>
              </a:r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口令</a:t>
              </a:r>
            </a:p>
          </p:txBody>
        </p:sp>
        <p:pic>
          <p:nvPicPr>
            <p:cNvPr id="2112576" name="Picture 6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4071" y="4156686"/>
              <a:ext cx="522834" cy="748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2577" name="Text Box 67"/>
            <p:cNvSpPr txBox="1">
              <a:spLocks noChangeArrowheads="1"/>
            </p:cNvSpPr>
            <p:nvPr/>
          </p:nvSpPr>
          <p:spPr bwMode="auto">
            <a:xfrm>
              <a:off x="2389991" y="4076352"/>
              <a:ext cx="834080" cy="568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</p:grpSp>
      <p:sp>
        <p:nvSpPr>
          <p:cNvPr id="211257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A55F1A-E0B6-4A0D-9F9A-266053597C65}" type="slidenum">
              <a:rPr lang="zh-CN" altLang="en-US" smtClean="0"/>
              <a:pPr eaLnBrk="1" hangingPunct="1"/>
              <a:t>55</a:t>
            </a:fld>
            <a:endParaRPr lang="en-US" altLang="zh-CN" smtClean="0"/>
          </a:p>
        </p:txBody>
      </p:sp>
      <p:sp>
        <p:nvSpPr>
          <p:cNvPr id="211257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5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存在明显漏洞</a:t>
            </a:r>
          </a:p>
        </p:txBody>
      </p:sp>
      <p:sp>
        <p:nvSpPr>
          <p:cNvPr id="211456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入侵者 </a:t>
            </a:r>
            <a:r>
              <a:rPr lang="en-US" altLang="zh-CN" dirty="0" smtClean="0">
                <a:ea typeface="黑体" panose="02010609060101010101" pitchFamily="49" charset="-122"/>
              </a:rPr>
              <a:t>C </a:t>
            </a:r>
            <a:r>
              <a:rPr lang="zh-CN" altLang="en-US" dirty="0" smtClean="0">
                <a:ea typeface="黑体" panose="02010609060101010101" pitchFamily="49" charset="-122"/>
              </a:rPr>
              <a:t>可以从网络上截获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发给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的报文。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C </a:t>
            </a:r>
            <a:r>
              <a:rPr lang="zh-CN" altLang="en-US" dirty="0" smtClean="0">
                <a:ea typeface="黑体" panose="02010609060101010101" pitchFamily="49" charset="-122"/>
              </a:rPr>
              <a:t>并不需要破译这个报文，而是直接把这个截获的、</a:t>
            </a:r>
            <a:r>
              <a:rPr lang="zh-CN" altLang="zh-CN" dirty="0" smtClean="0">
                <a:ea typeface="黑体" panose="02010609060101010101" pitchFamily="49" charset="-122"/>
              </a:rPr>
              <a:t>由</a:t>
            </a:r>
            <a:r>
              <a:rPr lang="en-US" altLang="zh-CN" dirty="0" smtClean="0">
                <a:ea typeface="黑体" panose="02010609060101010101" pitchFamily="49" charset="-122"/>
              </a:rPr>
              <a:t>A</a:t>
            </a:r>
            <a:r>
              <a:rPr lang="zh-CN" altLang="zh-CN" dirty="0" smtClean="0">
                <a:ea typeface="黑体" panose="02010609060101010101" pitchFamily="49" charset="-122"/>
              </a:rPr>
              <a:t>加密的</a:t>
            </a:r>
            <a:r>
              <a:rPr lang="zh-CN" altLang="en-US" dirty="0" smtClean="0">
                <a:ea typeface="黑体" panose="02010609060101010101" pitchFamily="49" charset="-122"/>
              </a:rPr>
              <a:t>报文发送给 </a:t>
            </a:r>
            <a:r>
              <a:rPr lang="en-US" altLang="zh-CN" dirty="0" smtClean="0">
                <a:ea typeface="黑体" panose="02010609060101010101" pitchFamily="49" charset="-122"/>
              </a:rPr>
              <a:t>B</a:t>
            </a:r>
            <a:r>
              <a:rPr lang="zh-CN" altLang="en-US" dirty="0" smtClean="0">
                <a:ea typeface="黑体" panose="02010609060101010101" pitchFamily="49" charset="-122"/>
              </a:rPr>
              <a:t>，使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误认为 </a:t>
            </a:r>
            <a:r>
              <a:rPr lang="en-US" altLang="zh-CN" dirty="0" smtClean="0">
                <a:ea typeface="黑体" panose="02010609060101010101" pitchFamily="49" charset="-122"/>
              </a:rPr>
              <a:t>C </a:t>
            </a:r>
            <a:r>
              <a:rPr lang="zh-CN" altLang="en-US" dirty="0" smtClean="0">
                <a:ea typeface="黑体" panose="02010609060101010101" pitchFamily="49" charset="-122"/>
              </a:rPr>
              <a:t>就是 </a:t>
            </a:r>
            <a:r>
              <a:rPr lang="en-US" altLang="zh-CN" dirty="0" smtClean="0">
                <a:ea typeface="黑体" panose="02010609060101010101" pitchFamily="49" charset="-122"/>
              </a:rPr>
              <a:t>A</a:t>
            </a:r>
            <a:r>
              <a:rPr lang="zh-CN" altLang="en-US" dirty="0" smtClean="0">
                <a:ea typeface="黑体" panose="02010609060101010101" pitchFamily="49" charset="-122"/>
              </a:rPr>
              <a:t>。然后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就向伪装是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的 </a:t>
            </a:r>
            <a:r>
              <a:rPr lang="en-US" altLang="zh-CN" dirty="0" smtClean="0">
                <a:ea typeface="黑体" panose="02010609060101010101" pitchFamily="49" charset="-122"/>
              </a:rPr>
              <a:t>C </a:t>
            </a:r>
            <a:r>
              <a:rPr lang="zh-CN" altLang="en-US" dirty="0" smtClean="0">
                <a:ea typeface="黑体" panose="02010609060101010101" pitchFamily="49" charset="-122"/>
              </a:rPr>
              <a:t>发送应发给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的报文。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这种攻击被称为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重放攻击</a:t>
            </a:r>
            <a:r>
              <a:rPr lang="en-US" altLang="zh-CN" dirty="0" smtClean="0">
                <a:ea typeface="黑体" panose="02010609060101010101" pitchFamily="49" charset="-122"/>
              </a:rPr>
              <a:t>(replay attack)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r>
              <a:rPr lang="en-US" altLang="zh-CN" dirty="0" smtClean="0">
                <a:ea typeface="黑体" panose="02010609060101010101" pitchFamily="49" charset="-122"/>
              </a:rPr>
              <a:t>C </a:t>
            </a:r>
            <a:r>
              <a:rPr lang="zh-CN" altLang="en-US" dirty="0" smtClean="0">
                <a:ea typeface="黑体" panose="02010609060101010101" pitchFamily="49" charset="-122"/>
              </a:rPr>
              <a:t>甚至还可以截获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的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地址，然后把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的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地址冒充为自己的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地址（这叫做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欺骗</a:t>
            </a:r>
            <a:r>
              <a:rPr lang="zh-CN" altLang="en-US" dirty="0" smtClean="0">
                <a:ea typeface="黑体" panose="02010609060101010101" pitchFamily="49" charset="-122"/>
              </a:rPr>
              <a:t>），使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更加容易受骗。 </a:t>
            </a:r>
          </a:p>
        </p:txBody>
      </p:sp>
      <p:sp>
        <p:nvSpPr>
          <p:cNvPr id="21145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8BAE15D-160D-40F2-B636-D57B46B31FFD}" type="slidenum">
              <a:rPr lang="zh-CN" altLang="en-US" smtClean="0"/>
              <a:pPr eaLnBrk="1" hangingPunct="1"/>
              <a:t>56</a:t>
            </a:fld>
            <a:endParaRPr lang="en-US" altLang="zh-CN" smtClean="0"/>
          </a:p>
        </p:txBody>
      </p:sp>
      <p:sp>
        <p:nvSpPr>
          <p:cNvPr id="21145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6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ea typeface="黑体" panose="02010609060101010101" pitchFamily="49" charset="-122"/>
              </a:rPr>
              <a:t>使用不重数进行鉴别</a:t>
            </a:r>
          </a:p>
        </p:txBody>
      </p:sp>
      <p:sp>
        <p:nvSpPr>
          <p:cNvPr id="2116610" name="Text Box 7"/>
          <p:cNvSpPr txBox="1">
            <a:spLocks noChangeArrowheads="1"/>
          </p:cNvSpPr>
          <p:nvPr/>
        </p:nvSpPr>
        <p:spPr bwMode="auto">
          <a:xfrm>
            <a:off x="1573213" y="2830513"/>
            <a:ext cx="346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</p:txBody>
      </p:sp>
      <p:grpSp>
        <p:nvGrpSpPr>
          <p:cNvPr id="2116611" name="Group 8"/>
          <p:cNvGrpSpPr>
            <a:grpSpLocks/>
          </p:cNvGrpSpPr>
          <p:nvPr/>
        </p:nvGrpSpPr>
        <p:grpSpPr bwMode="auto">
          <a:xfrm>
            <a:off x="2044700" y="2786063"/>
            <a:ext cx="577850" cy="515937"/>
            <a:chOff x="921" y="2412"/>
            <a:chExt cx="284" cy="265"/>
          </a:xfrm>
        </p:grpSpPr>
        <p:grpSp>
          <p:nvGrpSpPr>
            <p:cNvPr id="2116612" name="Group 9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16613" name="Freeform 10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14" name="Freeform 11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15" name="Freeform 12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16" name="Freeform 13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17" name="Rectangle 14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18" name="Rectangle 15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19" name="Rectangle 16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20" name="Line 17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16621" name="Group 18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16622" name="Freeform 19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6623" name="Freeform 20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6624" name="Rectangle 21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2116625" name="Group 22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16626" name="Freeform 23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27" name="Freeform 24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28" name="Freeform 25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29" name="Freeform 26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30" name="Rectangle 27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31" name="Rectangle 28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32" name="Rectangle 29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33" name="Line 30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16634" name="Group 31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16635" name="Freeform 32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6636" name="Freeform 33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6637" name="Rectangle 34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2116638" name="Text Box 36"/>
          <p:cNvSpPr txBox="1">
            <a:spLocks noChangeArrowheads="1"/>
          </p:cNvSpPr>
          <p:nvPr/>
        </p:nvSpPr>
        <p:spPr bwMode="auto">
          <a:xfrm>
            <a:off x="8351838" y="2855913"/>
            <a:ext cx="346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</a:p>
        </p:txBody>
      </p:sp>
      <p:grpSp>
        <p:nvGrpSpPr>
          <p:cNvPr id="2116639" name="Group 37"/>
          <p:cNvGrpSpPr>
            <a:grpSpLocks/>
          </p:cNvGrpSpPr>
          <p:nvPr/>
        </p:nvGrpSpPr>
        <p:grpSpPr bwMode="auto">
          <a:xfrm>
            <a:off x="7716838" y="2786063"/>
            <a:ext cx="576262" cy="515937"/>
            <a:chOff x="921" y="2412"/>
            <a:chExt cx="284" cy="265"/>
          </a:xfrm>
        </p:grpSpPr>
        <p:grpSp>
          <p:nvGrpSpPr>
            <p:cNvPr id="2116640" name="Group 38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16641" name="Freeform 39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42" name="Freeform 40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43" name="Freeform 41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44" name="Freeform 42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45" name="Rectangle 43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46" name="Rectangle 44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47" name="Rectangle 45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48" name="Line 46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16649" name="Group 47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16650" name="Freeform 48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6651" name="Freeform 49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6652" name="Rectangle 50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2116653" name="Group 51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16654" name="Freeform 52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55" name="Freeform 53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56" name="Freeform 54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57" name="Freeform 55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58" name="Rectangle 56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59" name="Rectangle 57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60" name="Rectangle 58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16661" name="Line 59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16662" name="Group 60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16663" name="Freeform 61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6664" name="Freeform 62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16665" name="Rectangle 63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2116666" name="Line 64"/>
          <p:cNvSpPr>
            <a:spLocks noChangeShapeType="1"/>
          </p:cNvSpPr>
          <p:nvPr/>
        </p:nvSpPr>
        <p:spPr bwMode="auto">
          <a:xfrm rot="-5400000" flipH="1" flipV="1">
            <a:off x="816769" y="4839494"/>
            <a:ext cx="300513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16667" name="Line 65"/>
          <p:cNvSpPr>
            <a:spLocks noChangeShapeType="1"/>
          </p:cNvSpPr>
          <p:nvPr/>
        </p:nvSpPr>
        <p:spPr bwMode="auto">
          <a:xfrm rot="16200000" flipH="1">
            <a:off x="6514306" y="4829969"/>
            <a:ext cx="30241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693328" name="Group 80"/>
          <p:cNvGrpSpPr>
            <a:grpSpLocks/>
          </p:cNvGrpSpPr>
          <p:nvPr/>
        </p:nvGrpSpPr>
        <p:grpSpPr bwMode="auto">
          <a:xfrm>
            <a:off x="2312988" y="3392488"/>
            <a:ext cx="5691187" cy="406400"/>
            <a:chOff x="1036" y="1899"/>
            <a:chExt cx="3900" cy="388"/>
          </a:xfrm>
        </p:grpSpPr>
        <p:sp>
          <p:nvSpPr>
            <p:cNvPr id="2116669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16670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A, </a:t>
              </a:r>
              <a:r>
                <a:rPr lang="en-US" altLang="zh-CN" sz="28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</p:grpSp>
      <p:grpSp>
        <p:nvGrpSpPr>
          <p:cNvPr id="693330" name="Group 82"/>
          <p:cNvGrpSpPr>
            <a:grpSpLocks/>
          </p:cNvGrpSpPr>
          <p:nvPr/>
        </p:nvGrpSpPr>
        <p:grpSpPr bwMode="auto">
          <a:xfrm>
            <a:off x="2357438" y="5387975"/>
            <a:ext cx="5599112" cy="738188"/>
            <a:chOff x="1062" y="3275"/>
            <a:chExt cx="3837" cy="706"/>
          </a:xfrm>
        </p:grpSpPr>
        <p:sp>
          <p:nvSpPr>
            <p:cNvPr id="2116672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16673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r" eaLnBrk="0" hangingPunct="0"/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pic>
          <p:nvPicPr>
            <p:cNvPr id="2116674" name="Picture 7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6675" name="Text Box 74"/>
            <p:cNvSpPr txBox="1">
              <a:spLocks noChangeArrowheads="1"/>
            </p:cNvSpPr>
            <p:nvPr/>
          </p:nvSpPr>
          <p:spPr bwMode="auto">
            <a:xfrm>
              <a:off x="2378" y="3275"/>
              <a:ext cx="4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</p:grpSp>
      <p:grpSp>
        <p:nvGrpSpPr>
          <p:cNvPr id="693329" name="Group 81"/>
          <p:cNvGrpSpPr>
            <a:grpSpLocks/>
          </p:cNvGrpSpPr>
          <p:nvPr/>
        </p:nvGrpSpPr>
        <p:grpSpPr bwMode="auto">
          <a:xfrm>
            <a:off x="2341563" y="4241800"/>
            <a:ext cx="5638800" cy="947738"/>
            <a:chOff x="1053" y="2434"/>
            <a:chExt cx="3864" cy="907"/>
          </a:xfrm>
        </p:grpSpPr>
        <p:sp>
          <p:nvSpPr>
            <p:cNvPr id="2116677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16678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16679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r" eaLnBrk="0" hangingPunct="0"/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2116680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5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  <a:r>
                <a: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，</a:t>
              </a:r>
              <a:endParaRPr lang="en-US" altLang="zh-CN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2116681" name="Picture 7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6682" name="Text Box 76"/>
            <p:cNvSpPr txBox="1">
              <a:spLocks noChangeArrowheads="1"/>
            </p:cNvSpPr>
            <p:nvPr/>
          </p:nvSpPr>
          <p:spPr bwMode="auto">
            <a:xfrm>
              <a:off x="2780" y="2504"/>
              <a:ext cx="4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</p:grpSp>
      <p:sp>
        <p:nvSpPr>
          <p:cNvPr id="2116683" name="Text Box 78"/>
          <p:cNvSpPr txBox="1">
            <a:spLocks noChangeArrowheads="1"/>
          </p:cNvSpPr>
          <p:nvPr/>
        </p:nvSpPr>
        <p:spPr bwMode="auto">
          <a:xfrm>
            <a:off x="1595438" y="5622925"/>
            <a:ext cx="679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时间</a:t>
            </a:r>
            <a:endParaRPr lang="zh-CN" altLang="en-US" sz="2400" b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16684" name="矩形 1"/>
          <p:cNvSpPr>
            <a:spLocks noChangeArrowheads="1"/>
          </p:cNvSpPr>
          <p:nvPr/>
        </p:nvSpPr>
        <p:spPr bwMode="auto">
          <a:xfrm>
            <a:off x="560388" y="1155700"/>
            <a:ext cx="9145587" cy="14097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eaLnBrk="0" hangingPunct="0"/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不重数</a:t>
            </a: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(nonce)</a:t>
            </a: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就是一个不重复使用的大随机数，即“一次一数”。</a:t>
            </a:r>
            <a:r>
              <a:rPr lang="zh-CN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由于不重数不能重复使用，所以</a:t>
            </a: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 C </a:t>
            </a:r>
            <a:r>
              <a:rPr lang="zh-CN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在进行重放攻击时无法重复使用所截获的不重数。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1668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39B7FD-70ED-453D-833F-A646C880AFCB}" type="slidenum">
              <a:rPr lang="zh-CN" altLang="en-US" smtClean="0"/>
              <a:pPr eaLnBrk="1" hangingPunct="1"/>
              <a:t>57</a:t>
            </a:fld>
            <a:endParaRPr lang="en-US" altLang="zh-CN" smtClean="0"/>
          </a:p>
        </p:txBody>
      </p:sp>
      <p:sp>
        <p:nvSpPr>
          <p:cNvPr id="2116686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9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69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9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65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使用不重数进行鉴别</a:t>
            </a:r>
          </a:p>
        </p:txBody>
      </p:sp>
      <p:sp>
        <p:nvSpPr>
          <p:cNvPr id="211865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dirty="0" smtClean="0">
                <a:ea typeface="黑体" panose="02010609060101010101" pitchFamily="49" charset="-122"/>
              </a:rPr>
              <a:t>在使用公钥密码体制时，可以对不重数进行签名鉴别。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B </a:t>
            </a:r>
            <a:r>
              <a:rPr lang="zh-CN" altLang="zh-CN" sz="2800" dirty="0" smtClean="0">
                <a:ea typeface="黑体" panose="02010609060101010101" pitchFamily="49" charset="-122"/>
              </a:rPr>
              <a:t>用其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私钥</a:t>
            </a:r>
            <a:r>
              <a:rPr lang="zh-CN" altLang="zh-CN" sz="2800" dirty="0" smtClean="0">
                <a:ea typeface="黑体" panose="02010609060101010101" pitchFamily="49" charset="-122"/>
              </a:rPr>
              <a:t>对不重数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i="1" dirty="0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dirty="0" smtClean="0">
                <a:ea typeface="黑体" panose="02010609060101010101" pitchFamily="49" charset="-122"/>
              </a:rPr>
              <a:t>A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进行签名后发回给</a:t>
            </a:r>
            <a:r>
              <a:rPr lang="en-US" altLang="zh-CN" sz="2800" dirty="0" smtClean="0">
                <a:ea typeface="黑体" panose="02010609060101010101" pitchFamily="49" charset="-122"/>
              </a:rPr>
              <a:t> A</a:t>
            </a:r>
            <a:r>
              <a:rPr lang="zh-CN" altLang="zh-CN" sz="2800" dirty="0" smtClean="0">
                <a:ea typeface="黑体" panose="02010609060101010101" pitchFamily="49" charset="-122"/>
              </a:rPr>
              <a:t>。</a:t>
            </a:r>
            <a:r>
              <a:rPr lang="en-US" altLang="zh-CN" sz="2800" dirty="0" smtClean="0">
                <a:ea typeface="黑体" panose="02010609060101010101" pitchFamily="49" charset="-122"/>
              </a:rPr>
              <a:t>A </a:t>
            </a:r>
            <a:r>
              <a:rPr lang="zh-CN" altLang="zh-CN" sz="2800" dirty="0" smtClean="0">
                <a:ea typeface="黑体" panose="02010609060101010101" pitchFamily="49" charset="-122"/>
              </a:rPr>
              <a:t>用</a:t>
            </a:r>
            <a:r>
              <a:rPr lang="en-US" altLang="zh-CN" sz="2800" dirty="0" smtClean="0">
                <a:ea typeface="黑体" panose="02010609060101010101" pitchFamily="49" charset="-122"/>
              </a:rPr>
              <a:t> B </a:t>
            </a:r>
            <a:r>
              <a:rPr lang="zh-CN" altLang="zh-CN" sz="2800" dirty="0" smtClean="0">
                <a:ea typeface="黑体" panose="02010609060101010101" pitchFamily="49" charset="-122"/>
              </a:rPr>
              <a:t>的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公钥</a:t>
            </a:r>
            <a:r>
              <a:rPr lang="zh-CN" altLang="zh-CN" sz="2800" dirty="0" smtClean="0">
                <a:ea typeface="黑体" panose="02010609060101010101" pitchFamily="49" charset="-122"/>
              </a:rPr>
              <a:t>核实签名。如能得出自己原来发送的不重数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i="1" dirty="0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dirty="0" smtClean="0">
                <a:ea typeface="黑体" panose="02010609060101010101" pitchFamily="49" charset="-122"/>
              </a:rPr>
              <a:t>A</a:t>
            </a:r>
            <a:r>
              <a:rPr lang="zh-CN" altLang="zh-CN" sz="2800" dirty="0" smtClean="0">
                <a:ea typeface="黑体" panose="02010609060101010101" pitchFamily="49" charset="-122"/>
              </a:rPr>
              <a:t>，就核实了和自己通信的对方的确是</a:t>
            </a:r>
            <a:r>
              <a:rPr lang="en-US" altLang="zh-CN" sz="2800" dirty="0" smtClean="0">
                <a:ea typeface="黑体" panose="02010609060101010101" pitchFamily="49" charset="-122"/>
              </a:rPr>
              <a:t> B</a:t>
            </a:r>
            <a:r>
              <a:rPr lang="zh-CN" altLang="zh-CN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同样，</a:t>
            </a:r>
            <a:r>
              <a:rPr lang="en-US" altLang="zh-CN" sz="2800" dirty="0" smtClean="0">
                <a:ea typeface="黑体" panose="02010609060101010101" pitchFamily="49" charset="-122"/>
              </a:rPr>
              <a:t>A </a:t>
            </a:r>
            <a:r>
              <a:rPr lang="zh-CN" altLang="zh-CN" sz="2800" dirty="0" smtClean="0">
                <a:ea typeface="黑体" panose="02010609060101010101" pitchFamily="49" charset="-122"/>
              </a:rPr>
              <a:t>也用自己的私钥对不重数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i="1" dirty="0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dirty="0" smtClean="0">
                <a:ea typeface="黑体" panose="02010609060101010101" pitchFamily="49" charset="-122"/>
              </a:rPr>
              <a:t>B </a:t>
            </a:r>
            <a:r>
              <a:rPr lang="zh-CN" altLang="zh-CN" sz="2800" dirty="0" smtClean="0">
                <a:ea typeface="黑体" panose="02010609060101010101" pitchFamily="49" charset="-122"/>
              </a:rPr>
              <a:t>进行签名后发送给</a:t>
            </a:r>
            <a:r>
              <a:rPr lang="en-US" altLang="zh-CN" sz="2800" dirty="0" smtClean="0">
                <a:ea typeface="黑体" panose="02010609060101010101" pitchFamily="49" charset="-122"/>
              </a:rPr>
              <a:t> B</a:t>
            </a:r>
            <a:r>
              <a:rPr lang="zh-CN" altLang="zh-CN" sz="2800" dirty="0" smtClean="0">
                <a:ea typeface="黑体" panose="02010609060101010101" pitchFamily="49" charset="-122"/>
              </a:rPr>
              <a:t>。</a:t>
            </a:r>
            <a:r>
              <a:rPr lang="en-US" altLang="zh-CN" sz="2800" dirty="0" smtClean="0">
                <a:ea typeface="黑体" panose="02010609060101010101" pitchFamily="49" charset="-122"/>
              </a:rPr>
              <a:t>B </a:t>
            </a:r>
            <a:r>
              <a:rPr lang="zh-CN" altLang="zh-CN" sz="2800" dirty="0" smtClean="0">
                <a:ea typeface="黑体" panose="02010609060101010101" pitchFamily="49" charset="-122"/>
              </a:rPr>
              <a:t>用</a:t>
            </a:r>
            <a:r>
              <a:rPr lang="en-US" altLang="zh-CN" sz="2800" dirty="0" smtClean="0">
                <a:ea typeface="黑体" panose="02010609060101010101" pitchFamily="49" charset="-122"/>
              </a:rPr>
              <a:t> A </a:t>
            </a:r>
            <a:r>
              <a:rPr lang="zh-CN" altLang="zh-CN" sz="2800" dirty="0" smtClean="0">
                <a:ea typeface="黑体" panose="02010609060101010101" pitchFamily="49" charset="-122"/>
              </a:rPr>
              <a:t>的公钥核实签名，鉴别了</a:t>
            </a:r>
            <a:r>
              <a:rPr lang="en-US" altLang="zh-CN" sz="2800" dirty="0" smtClean="0">
                <a:ea typeface="黑体" panose="02010609060101010101" pitchFamily="49" charset="-122"/>
              </a:rPr>
              <a:t> A </a:t>
            </a:r>
            <a:r>
              <a:rPr lang="zh-CN" altLang="zh-CN" sz="2800" dirty="0" smtClean="0">
                <a:ea typeface="黑体" panose="02010609060101010101" pitchFamily="49" charset="-122"/>
              </a:rPr>
              <a:t>的身份。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公钥密码体制虽然不必在互相通信的用户之间秘密地分配共享密钥，但仍有受到攻击的可能。</a:t>
            </a:r>
          </a:p>
          <a:p>
            <a:endParaRPr lang="zh-CN" altLang="en-US" sz="2800" dirty="0" smtClean="0">
              <a:ea typeface="黑体" panose="02010609060101010101" pitchFamily="49" charset="-122"/>
            </a:endParaRPr>
          </a:p>
        </p:txBody>
      </p:sp>
      <p:sp>
        <p:nvSpPr>
          <p:cNvPr id="211865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B4BC7E-D901-4559-B6E9-37E62527E001}" type="slidenum">
              <a:rPr lang="zh-CN" altLang="en-US" smtClean="0"/>
              <a:pPr eaLnBrk="1" hangingPunct="1"/>
              <a:t>58</a:t>
            </a:fld>
            <a:endParaRPr lang="en-US" altLang="zh-CN" smtClean="0"/>
          </a:p>
        </p:txBody>
      </p:sp>
      <p:sp>
        <p:nvSpPr>
          <p:cNvPr id="211866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68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使用不重数进行鉴别</a:t>
            </a:r>
          </a:p>
        </p:txBody>
      </p:sp>
      <p:sp>
        <p:nvSpPr>
          <p:cNvPr id="211968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zh-CN" sz="2800" smtClean="0">
                <a:ea typeface="黑体" panose="02010609060101010101" pitchFamily="49" charset="-122"/>
              </a:rPr>
              <a:t>冒充是</a:t>
            </a:r>
            <a:r>
              <a:rPr lang="en-US" altLang="zh-CN" sz="2800" smtClean="0">
                <a:ea typeface="黑体" panose="02010609060101010101" pitchFamily="49" charset="-122"/>
              </a:rPr>
              <a:t> A</a:t>
            </a:r>
            <a:r>
              <a:rPr lang="zh-CN" altLang="zh-CN" sz="2800" smtClean="0">
                <a:ea typeface="黑体" panose="02010609060101010101" pitchFamily="49" charset="-122"/>
              </a:rPr>
              <a:t>，发送报文给</a:t>
            </a:r>
            <a:r>
              <a:rPr lang="en-US" altLang="zh-CN" sz="2800" smtClean="0">
                <a:ea typeface="黑体" panose="02010609060101010101" pitchFamily="49" charset="-122"/>
              </a:rPr>
              <a:t> B</a:t>
            </a:r>
            <a:r>
              <a:rPr lang="zh-CN" altLang="zh-CN" sz="2800" smtClean="0">
                <a:ea typeface="黑体" panose="02010609060101010101" pitchFamily="49" charset="-122"/>
              </a:rPr>
              <a:t>，说：“我是</a:t>
            </a:r>
            <a:r>
              <a:rPr lang="en-US" altLang="zh-CN" sz="2800" smtClean="0">
                <a:ea typeface="黑体" panose="02010609060101010101" pitchFamily="49" charset="-122"/>
              </a:rPr>
              <a:t> A</a:t>
            </a:r>
            <a:r>
              <a:rPr lang="zh-CN" altLang="zh-CN" sz="2800" smtClean="0">
                <a:ea typeface="黑体" panose="02010609060101010101" pitchFamily="49" charset="-122"/>
              </a:rPr>
              <a:t>”。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zh-CN" sz="2800" smtClean="0">
                <a:ea typeface="黑体" panose="02010609060101010101" pitchFamily="49" charset="-122"/>
              </a:rPr>
              <a:t>选择一个不重数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zh-CN" altLang="zh-CN" sz="2800" smtClean="0">
                <a:ea typeface="黑体" panose="02010609060101010101" pitchFamily="49" charset="-122"/>
              </a:rPr>
              <a:t>，发送给</a:t>
            </a:r>
            <a:r>
              <a:rPr lang="en-US" altLang="zh-CN" sz="2800" smtClean="0">
                <a:ea typeface="黑体" panose="02010609060101010101" pitchFamily="49" charset="-122"/>
              </a:rPr>
              <a:t> A</a:t>
            </a:r>
            <a:r>
              <a:rPr lang="zh-CN" altLang="zh-CN" sz="2800" smtClean="0">
                <a:ea typeface="黑体" panose="02010609060101010101" pitchFamily="49" charset="-122"/>
              </a:rPr>
              <a:t>，但被</a:t>
            </a:r>
            <a:r>
              <a:rPr lang="en-US" altLang="zh-CN" sz="2800" smtClean="0">
                <a:ea typeface="黑体" panose="02010609060101010101" pitchFamily="49" charset="-122"/>
              </a:rPr>
              <a:t> C 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截获</a:t>
            </a:r>
            <a:r>
              <a:rPr lang="zh-CN" altLang="zh-CN" sz="2800" smtClean="0">
                <a:ea typeface="黑体" panose="02010609060101010101" pitchFamily="49" charset="-122"/>
              </a:rPr>
              <a:t>了。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zh-CN" sz="2800" smtClean="0">
                <a:ea typeface="黑体" panose="02010609060101010101" pitchFamily="49" charset="-122"/>
              </a:rPr>
              <a:t>用自己的私钥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C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冒充</a:t>
            </a:r>
            <a:r>
              <a:rPr lang="zh-CN" altLang="zh-CN" sz="2800" smtClean="0">
                <a:ea typeface="黑体" panose="02010609060101010101" pitchFamily="49" charset="-122"/>
              </a:rPr>
              <a:t>是</a:t>
            </a:r>
            <a:r>
              <a:rPr lang="en-US" altLang="zh-CN" sz="2800" smtClean="0">
                <a:ea typeface="黑体" panose="02010609060101010101" pitchFamily="49" charset="-122"/>
              </a:rPr>
              <a:t>A</a:t>
            </a:r>
            <a:r>
              <a:rPr lang="zh-CN" altLang="zh-CN" sz="2800" smtClean="0">
                <a:ea typeface="黑体" panose="02010609060101010101" pitchFamily="49" charset="-122"/>
              </a:rPr>
              <a:t>的私钥，对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zh-CN" sz="2800" smtClean="0">
                <a:ea typeface="黑体" panose="02010609060101010101" pitchFamily="49" charset="-122"/>
              </a:rPr>
              <a:t>加密，并发送给</a:t>
            </a:r>
            <a:r>
              <a:rPr lang="en-US" altLang="zh-CN" sz="2800" smtClean="0">
                <a:ea typeface="黑体" panose="02010609060101010101" pitchFamily="49" charset="-122"/>
              </a:rPr>
              <a:t> B</a:t>
            </a:r>
            <a:r>
              <a:rPr lang="zh-CN" altLang="zh-CN" sz="280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zh-CN" sz="2800" smtClean="0">
                <a:ea typeface="黑体" panose="02010609060101010101" pitchFamily="49" charset="-122"/>
              </a:rPr>
              <a:t>向</a:t>
            </a:r>
            <a:r>
              <a:rPr lang="en-US" altLang="zh-CN" sz="2800" smtClean="0">
                <a:ea typeface="黑体" panose="02010609060101010101" pitchFamily="49" charset="-122"/>
              </a:rPr>
              <a:t> A </a:t>
            </a:r>
            <a:r>
              <a:rPr lang="zh-CN" altLang="zh-CN" sz="2800" smtClean="0">
                <a:ea typeface="黑体" panose="02010609060101010101" pitchFamily="49" charset="-122"/>
              </a:rPr>
              <a:t>发送报文，要求对方把解密用的公钥发送过来，但这报文也被</a:t>
            </a:r>
            <a:r>
              <a:rPr lang="en-US" altLang="zh-CN" sz="2800" smtClean="0">
                <a:ea typeface="黑体" panose="02010609060101010101" pitchFamily="49" charset="-122"/>
              </a:rPr>
              <a:t> C 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截获</a:t>
            </a:r>
            <a:r>
              <a:rPr lang="zh-CN" altLang="zh-CN" sz="2800" smtClean="0">
                <a:ea typeface="黑体" panose="02010609060101010101" pitchFamily="49" charset="-122"/>
              </a:rPr>
              <a:t>了。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zh-CN" sz="2800" smtClean="0">
                <a:ea typeface="黑体" panose="02010609060101010101" pitchFamily="49" charset="-122"/>
              </a:rPr>
              <a:t>把自己的公钥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C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冒充</a:t>
            </a:r>
            <a:r>
              <a:rPr lang="zh-CN" altLang="zh-CN" sz="2800" smtClean="0">
                <a:ea typeface="黑体" panose="02010609060101010101" pitchFamily="49" charset="-122"/>
              </a:rPr>
              <a:t>是</a:t>
            </a:r>
            <a:r>
              <a:rPr lang="en-US" altLang="zh-CN" sz="2800" smtClean="0">
                <a:ea typeface="黑体" panose="02010609060101010101" pitchFamily="49" charset="-122"/>
              </a:rPr>
              <a:t> A </a:t>
            </a:r>
            <a:r>
              <a:rPr lang="zh-CN" altLang="zh-CN" sz="2800" smtClean="0">
                <a:ea typeface="黑体" panose="02010609060101010101" pitchFamily="49" charset="-122"/>
              </a:rPr>
              <a:t>的公钥发送给</a:t>
            </a:r>
            <a:r>
              <a:rPr lang="en-US" altLang="zh-CN" sz="2800" smtClean="0">
                <a:ea typeface="黑体" panose="02010609060101010101" pitchFamily="49" charset="-122"/>
              </a:rPr>
              <a:t> B</a:t>
            </a:r>
            <a:r>
              <a:rPr lang="zh-CN" altLang="zh-CN" sz="280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zh-CN" sz="2800" smtClean="0">
                <a:ea typeface="黑体" panose="02010609060101010101" pitchFamily="49" charset="-122"/>
              </a:rPr>
              <a:t>用收到的公钥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C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zh-CN" sz="2800" smtClean="0">
                <a:ea typeface="黑体" panose="02010609060101010101" pitchFamily="49" charset="-122"/>
              </a:rPr>
              <a:t>对收到的加密的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zh-CN" sz="2800" smtClean="0">
                <a:ea typeface="黑体" panose="02010609060101010101" pitchFamily="49" charset="-122"/>
              </a:rPr>
              <a:t>进行解密，其结果当然正确。于是</a:t>
            </a:r>
            <a:r>
              <a:rPr lang="en-US" altLang="zh-CN" sz="2800" smtClean="0">
                <a:ea typeface="黑体" panose="02010609060101010101" pitchFamily="49" charset="-122"/>
              </a:rPr>
              <a:t> B </a:t>
            </a:r>
            <a:r>
              <a:rPr lang="zh-CN" altLang="zh-CN" sz="2800" smtClean="0">
                <a:ea typeface="黑体" panose="02010609060101010101" pitchFamily="49" charset="-122"/>
              </a:rPr>
              <a:t>相信通信的对方是</a:t>
            </a:r>
            <a:r>
              <a:rPr lang="en-US" altLang="zh-CN" sz="2800" smtClean="0">
                <a:ea typeface="黑体" panose="02010609060101010101" pitchFamily="49" charset="-122"/>
              </a:rPr>
              <a:t> A</a:t>
            </a:r>
            <a:r>
              <a:rPr lang="zh-CN" altLang="zh-CN" sz="2800" smtClean="0">
                <a:ea typeface="黑体" panose="02010609060101010101" pitchFamily="49" charset="-122"/>
              </a:rPr>
              <a:t>，接着就向</a:t>
            </a:r>
            <a:r>
              <a:rPr lang="en-US" altLang="zh-CN" sz="2800" smtClean="0">
                <a:ea typeface="黑体" panose="02010609060101010101" pitchFamily="49" charset="-122"/>
              </a:rPr>
              <a:t> A </a:t>
            </a:r>
            <a:r>
              <a:rPr lang="zh-CN" altLang="zh-CN" sz="2800" smtClean="0">
                <a:ea typeface="黑体" panose="02010609060101010101" pitchFamily="49" charset="-122"/>
              </a:rPr>
              <a:t>发送许多敏感数据，但都被</a:t>
            </a:r>
            <a:r>
              <a:rPr lang="en-US" altLang="zh-CN" sz="2800" smtClean="0">
                <a:ea typeface="黑体" panose="02010609060101010101" pitchFamily="49" charset="-122"/>
              </a:rPr>
              <a:t> C </a:t>
            </a:r>
            <a:r>
              <a:rPr lang="zh-CN" altLang="zh-CN" sz="2800" smtClean="0">
                <a:ea typeface="黑体" panose="02010609060101010101" pitchFamily="49" charset="-122"/>
              </a:rPr>
              <a:t>截获了。</a:t>
            </a:r>
          </a:p>
          <a:p>
            <a:endParaRPr lang="zh-CN" altLang="en-US" sz="2800" smtClean="0">
              <a:ea typeface="黑体" panose="02010609060101010101" pitchFamily="49" charset="-122"/>
            </a:endParaRPr>
          </a:p>
        </p:txBody>
      </p:sp>
      <p:sp>
        <p:nvSpPr>
          <p:cNvPr id="21196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4885F2-BBF0-43AD-B0CA-191A8ACFA517}" type="slidenum">
              <a:rPr lang="zh-CN" altLang="en-US" smtClean="0"/>
              <a:pPr eaLnBrk="1" hangingPunct="1"/>
              <a:t>59</a:t>
            </a:fld>
            <a:endParaRPr lang="en-US" altLang="zh-CN" smtClean="0"/>
          </a:p>
        </p:txBody>
      </p:sp>
      <p:sp>
        <p:nvSpPr>
          <p:cNvPr id="211968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7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ea typeface="黑体" panose="02010609060101010101" pitchFamily="49" charset="-122"/>
              </a:rPr>
              <a:t>中间人攻击 </a:t>
            </a:r>
          </a:p>
        </p:txBody>
      </p:sp>
      <p:sp>
        <p:nvSpPr>
          <p:cNvPr id="2120706" name="Text Box 7"/>
          <p:cNvSpPr txBox="1">
            <a:spLocks noChangeArrowheads="1"/>
          </p:cNvSpPr>
          <p:nvPr/>
        </p:nvSpPr>
        <p:spPr bwMode="auto">
          <a:xfrm>
            <a:off x="1103313" y="1196975"/>
            <a:ext cx="407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</p:txBody>
      </p:sp>
      <p:grpSp>
        <p:nvGrpSpPr>
          <p:cNvPr id="2120707" name="Group 8"/>
          <p:cNvGrpSpPr>
            <a:grpSpLocks/>
          </p:cNvGrpSpPr>
          <p:nvPr/>
        </p:nvGrpSpPr>
        <p:grpSpPr bwMode="auto">
          <a:xfrm>
            <a:off x="579438" y="1225550"/>
            <a:ext cx="620712" cy="660400"/>
            <a:chOff x="921" y="2412"/>
            <a:chExt cx="284" cy="265"/>
          </a:xfrm>
        </p:grpSpPr>
        <p:grpSp>
          <p:nvGrpSpPr>
            <p:cNvPr id="2120708" name="Group 9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20709" name="Freeform 10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10" name="Freeform 11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11" name="Freeform 12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12" name="Freeform 13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13" name="Rectangle 14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14" name="Rectangle 15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15" name="Rectangle 16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16" name="Line 17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20717" name="Group 18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20718" name="Freeform 19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19" name="Freeform 20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20" name="Rectangle 21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2120721" name="Group 22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20722" name="Freeform 23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23" name="Freeform 24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24" name="Freeform 25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25" name="Freeform 26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26" name="Rectangle 27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27" name="Rectangle 28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28" name="Rectangle 29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29" name="Line 30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20730" name="Group 31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20731" name="Freeform 32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32" name="Freeform 33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33" name="Rectangle 34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2120734" name="Text Box 36"/>
          <p:cNvSpPr txBox="1">
            <a:spLocks noChangeArrowheads="1"/>
          </p:cNvSpPr>
          <p:nvPr/>
        </p:nvSpPr>
        <p:spPr bwMode="auto">
          <a:xfrm>
            <a:off x="8874125" y="1196975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</a:p>
        </p:txBody>
      </p:sp>
      <p:grpSp>
        <p:nvGrpSpPr>
          <p:cNvPr id="2120735" name="Group 37"/>
          <p:cNvGrpSpPr>
            <a:grpSpLocks/>
          </p:cNvGrpSpPr>
          <p:nvPr/>
        </p:nvGrpSpPr>
        <p:grpSpPr bwMode="auto">
          <a:xfrm>
            <a:off x="9174163" y="1225550"/>
            <a:ext cx="622300" cy="660400"/>
            <a:chOff x="921" y="2412"/>
            <a:chExt cx="284" cy="265"/>
          </a:xfrm>
        </p:grpSpPr>
        <p:grpSp>
          <p:nvGrpSpPr>
            <p:cNvPr id="2120736" name="Group 38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20737" name="Freeform 39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38" name="Freeform 40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39" name="Freeform 41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40" name="Freeform 42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41" name="Rectangle 43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42" name="Rectangle 44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43" name="Rectangle 45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44" name="Line 46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20745" name="Group 47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20746" name="Freeform 48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47" name="Freeform 49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48" name="Rectangle 50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2120749" name="Group 51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20750" name="Freeform 52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51" name="Freeform 53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52" name="Freeform 54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53" name="Freeform 55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54" name="Rectangle 56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55" name="Rectangle 57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56" name="Rectangle 58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57" name="Line 59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20758" name="Group 60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20759" name="Freeform 61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60" name="Freeform 62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61" name="Rectangle 63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2120762" name="Line 64"/>
          <p:cNvSpPr>
            <a:spLocks noChangeShapeType="1"/>
          </p:cNvSpPr>
          <p:nvPr/>
        </p:nvSpPr>
        <p:spPr bwMode="auto">
          <a:xfrm rot="5400000">
            <a:off x="-869950" y="3725863"/>
            <a:ext cx="3489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20763" name="Line 65"/>
          <p:cNvSpPr>
            <a:spLocks noChangeShapeType="1"/>
          </p:cNvSpPr>
          <p:nvPr/>
        </p:nvSpPr>
        <p:spPr bwMode="auto">
          <a:xfrm rot="16200000" flipH="1">
            <a:off x="7763669" y="3690144"/>
            <a:ext cx="3460750" cy="79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695849" name="Group 553"/>
          <p:cNvGrpSpPr>
            <a:grpSpLocks/>
          </p:cNvGrpSpPr>
          <p:nvPr/>
        </p:nvGrpSpPr>
        <p:grpSpPr bwMode="auto">
          <a:xfrm>
            <a:off x="865188" y="1933575"/>
            <a:ext cx="4318000" cy="423863"/>
            <a:chOff x="428" y="1792"/>
            <a:chExt cx="2511" cy="267"/>
          </a:xfrm>
        </p:grpSpPr>
        <p:sp>
          <p:nvSpPr>
            <p:cNvPr id="2120765" name="Line 6"/>
            <p:cNvSpPr>
              <a:spLocks noChangeShapeType="1"/>
            </p:cNvSpPr>
            <p:nvPr/>
          </p:nvSpPr>
          <p:spPr bwMode="auto">
            <a:xfrm>
              <a:off x="428" y="1927"/>
              <a:ext cx="2511" cy="11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66" name="Rectangle 66"/>
            <p:cNvSpPr>
              <a:spLocks noChangeArrowheads="1"/>
            </p:cNvSpPr>
            <p:nvPr/>
          </p:nvSpPr>
          <p:spPr bwMode="auto">
            <a:xfrm>
              <a:off x="1031" y="1792"/>
              <a:ext cx="568" cy="26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我是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  <a:endParaRPr lang="en-US" altLang="zh-CN" b="1" i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120767" name="Group 67"/>
          <p:cNvGrpSpPr>
            <a:grpSpLocks/>
          </p:cNvGrpSpPr>
          <p:nvPr/>
        </p:nvGrpSpPr>
        <p:grpSpPr bwMode="auto">
          <a:xfrm>
            <a:off x="4738688" y="1319213"/>
            <a:ext cx="798512" cy="644525"/>
            <a:chOff x="624" y="2968"/>
            <a:chExt cx="1331" cy="920"/>
          </a:xfrm>
        </p:grpSpPr>
        <p:sp>
          <p:nvSpPr>
            <p:cNvPr id="2120768" name="Freeform 68"/>
            <p:cNvSpPr>
              <a:spLocks noChangeArrowheads="1"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69" name="Freeform 69"/>
            <p:cNvSpPr>
              <a:spLocks noChangeArrowheads="1"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0" name="Freeform 70"/>
            <p:cNvSpPr>
              <a:spLocks noChangeArrowheads="1"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1" name="Freeform 71"/>
            <p:cNvSpPr>
              <a:spLocks noChangeArrowheads="1"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2" name="Freeform 72"/>
            <p:cNvSpPr>
              <a:spLocks noChangeArrowheads="1"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3" name="Freeform 73"/>
            <p:cNvSpPr>
              <a:spLocks noChangeArrowheads="1"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4" name="Freeform 74"/>
            <p:cNvSpPr>
              <a:spLocks noChangeArrowheads="1"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5" name="Freeform 75"/>
            <p:cNvSpPr>
              <a:spLocks noChangeArrowheads="1"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6" name="Freeform 76"/>
            <p:cNvSpPr>
              <a:spLocks noChangeArrowheads="1"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7" name="Freeform 77"/>
            <p:cNvSpPr>
              <a:spLocks noChangeArrowheads="1"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8" name="Freeform 78"/>
            <p:cNvSpPr>
              <a:spLocks noChangeArrowheads="1"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0779" name="Freeform 79"/>
            <p:cNvSpPr>
              <a:spLocks noChangeArrowheads="1"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2120780" name="Group 80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2120781" name="Group 81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2120782" name="Freeform 82"/>
                <p:cNvSpPr>
                  <a:spLocks noChangeArrowheads="1"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83" name="Freeform 83"/>
                <p:cNvSpPr>
                  <a:spLocks noChangeArrowheads="1"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84" name="Freeform 84"/>
                <p:cNvSpPr>
                  <a:spLocks noChangeArrowheads="1"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785" name="Group 85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2120786" name="Freeform 86"/>
                <p:cNvSpPr>
                  <a:spLocks noChangeArrowheads="1"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87" name="Freeform 87"/>
                <p:cNvSpPr>
                  <a:spLocks noChangeArrowheads="1"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88" name="Freeform 88"/>
                <p:cNvSpPr>
                  <a:spLocks noChangeArrowheads="1"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120789" name="Freeform 89"/>
              <p:cNvSpPr>
                <a:spLocks noChangeArrowheads="1"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90" name="Freeform 90"/>
              <p:cNvSpPr>
                <a:spLocks noChangeArrowheads="1"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91" name="Freeform 91"/>
              <p:cNvSpPr>
                <a:spLocks noChangeArrowheads="1"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792" name="Freeform 92"/>
              <p:cNvSpPr>
                <a:spLocks noChangeArrowheads="1"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20793" name="Group 93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2120794" name="Freeform 94"/>
                <p:cNvSpPr>
                  <a:spLocks noChangeArrowheads="1"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95" name="Freeform 95"/>
                <p:cNvSpPr>
                  <a:spLocks noChangeArrowheads="1"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96" name="Freeform 96"/>
                <p:cNvSpPr>
                  <a:spLocks noChangeArrowheads="1"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797" name="Group 97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2120798" name="Freeform 98"/>
                <p:cNvSpPr>
                  <a:spLocks noChangeArrowheads="1"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799" name="Freeform 99"/>
                <p:cNvSpPr>
                  <a:spLocks noChangeArrowheads="1"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00" name="Freeform 100"/>
                <p:cNvSpPr>
                  <a:spLocks noChangeArrowheads="1"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01" name="Group 101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2120802" name="Freeform 102"/>
                <p:cNvSpPr>
                  <a:spLocks noChangeArrowheads="1"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03" name="Freeform 103"/>
                <p:cNvSpPr>
                  <a:spLocks noChangeArrowheads="1"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04" name="Freeform 104"/>
                <p:cNvSpPr>
                  <a:spLocks noChangeArrowheads="1"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05" name="Group 105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2120806" name="Freeform 106"/>
                <p:cNvSpPr>
                  <a:spLocks noChangeArrowheads="1"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07" name="Freeform 107"/>
                <p:cNvSpPr>
                  <a:spLocks noChangeArrowheads="1"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08" name="Freeform 108"/>
                <p:cNvSpPr>
                  <a:spLocks noChangeArrowheads="1"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09" name="Group 109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2120810" name="Group 110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2120811" name="Freeform 111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12" name="Freeform 112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13" name="Freeform 113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14" name="Group 114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2120815" name="Freeform 115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16" name="Freeform 116"/>
                  <p:cNvSpPr>
                    <a:spLocks noChangeArrowheads="1"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17" name="Freeform 117"/>
                  <p:cNvSpPr>
                    <a:spLocks noChangeArrowheads="1"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18" name="Group 118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2120819" name="Freeform 119"/>
                  <p:cNvSpPr>
                    <a:spLocks noChangeArrowheads="1"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20" name="Freeform 120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21" name="Freeform 121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22" name="Group 122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2120823" name="Freeform 123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24" name="Freeform 124"/>
                  <p:cNvSpPr>
                    <a:spLocks noChangeArrowheads="1"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25" name="Freeform 125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26" name="Group 126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2120827" name="Freeform 127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28" name="Freeform 128"/>
                  <p:cNvSpPr>
                    <a:spLocks noChangeArrowheads="1"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29" name="Freeform 129"/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0830" name="Group 130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2120831" name="Group 131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2120832" name="Freeform 132"/>
                  <p:cNvSpPr>
                    <a:spLocks noChangeArrowheads="1"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33" name="Freeform 133"/>
                  <p:cNvSpPr>
                    <a:spLocks noChangeArrowheads="1"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34" name="Freeform 134"/>
                  <p:cNvSpPr>
                    <a:spLocks noChangeArrowheads="1"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35" name="Group 135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2120836" name="Freeform 136"/>
                  <p:cNvSpPr>
                    <a:spLocks noChangeArrowheads="1"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37" name="Freeform 137"/>
                  <p:cNvSpPr>
                    <a:spLocks noChangeArrowheads="1"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38" name="Freeform 138"/>
                  <p:cNvSpPr>
                    <a:spLocks noChangeArrowheads="1"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39" name="Group 139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2120840" name="Freeform 140"/>
                  <p:cNvSpPr>
                    <a:spLocks noChangeArrowheads="1"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41" name="Freeform 141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42" name="Freeform 142"/>
                  <p:cNvSpPr>
                    <a:spLocks noChangeArrowheads="1"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43" name="Group 143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2120844" name="Freeform 144"/>
                  <p:cNvSpPr>
                    <a:spLocks noChangeArrowheads="1"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45" name="Freeform 145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46" name="Freeform 146"/>
                  <p:cNvSpPr>
                    <a:spLocks noChangeArrowheads="1"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47" name="Group 147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2120848" name="Freeform 148"/>
                  <p:cNvSpPr>
                    <a:spLocks noChangeArrowheads="1"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49" name="Freeform 149"/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50" name="Freeform 150"/>
                  <p:cNvSpPr>
                    <a:spLocks noChangeArrowheads="1"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0851" name="Group 151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2120852" name="Freeform 152"/>
                <p:cNvSpPr>
                  <a:spLocks noChangeArrowheads="1"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53" name="Freeform 153"/>
                <p:cNvSpPr>
                  <a:spLocks noChangeArrowheads="1"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54" name="Freeform 154"/>
                <p:cNvSpPr>
                  <a:spLocks noChangeArrowheads="1"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55" name="Group 155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2120856" name="Freeform 156"/>
                <p:cNvSpPr>
                  <a:spLocks noChangeArrowheads="1"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57" name="Freeform 157"/>
                <p:cNvSpPr>
                  <a:spLocks noChangeArrowheads="1"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58" name="Freeform 158"/>
                <p:cNvSpPr>
                  <a:spLocks noChangeArrowheads="1"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59" name="Group 159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2120860" name="Freeform 160"/>
                <p:cNvSpPr>
                  <a:spLocks noChangeArrowheads="1"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61" name="Freeform 161"/>
                <p:cNvSpPr>
                  <a:spLocks noChangeArrowheads="1"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62" name="Freeform 162"/>
                <p:cNvSpPr>
                  <a:spLocks noChangeArrowheads="1"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120863" name="Freeform 163"/>
              <p:cNvSpPr>
                <a:spLocks noChangeArrowheads="1"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864" name="Freeform 164"/>
              <p:cNvSpPr>
                <a:spLocks noChangeArrowheads="1"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865" name="Freeform 165"/>
              <p:cNvSpPr>
                <a:spLocks noChangeArrowheads="1"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20866" name="Group 166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2120867" name="Freeform 167"/>
                <p:cNvSpPr>
                  <a:spLocks noChangeArrowheads="1"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68" name="Freeform 168"/>
                <p:cNvSpPr>
                  <a:spLocks noChangeArrowheads="1"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69" name="Freeform 169"/>
                <p:cNvSpPr>
                  <a:spLocks noChangeArrowheads="1"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70" name="Group 170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2120871" name="Freeform 171"/>
                <p:cNvSpPr>
                  <a:spLocks noChangeArrowheads="1"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72" name="Freeform 172"/>
                <p:cNvSpPr>
                  <a:spLocks noChangeArrowheads="1"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73" name="Freeform 173"/>
                <p:cNvSpPr>
                  <a:spLocks noChangeArrowheads="1"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74" name="Group 174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2120875" name="Freeform 175"/>
                <p:cNvSpPr>
                  <a:spLocks noChangeArrowheads="1"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76" name="Freeform 176"/>
                <p:cNvSpPr>
                  <a:spLocks noChangeArrowheads="1"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77" name="Freeform 177"/>
                <p:cNvSpPr>
                  <a:spLocks noChangeArrowheads="1"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78" name="Group 178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2120879" name="Freeform 179"/>
                <p:cNvSpPr>
                  <a:spLocks noChangeArrowheads="1"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80" name="Freeform 180"/>
                <p:cNvSpPr>
                  <a:spLocks noChangeArrowheads="1"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881" name="Freeform 181"/>
                <p:cNvSpPr>
                  <a:spLocks noChangeArrowheads="1"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882" name="Group 182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2120883" name="Group 183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2120884" name="Freeform 184"/>
                  <p:cNvSpPr>
                    <a:spLocks noChangeArrowheads="1"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85" name="Freeform 185"/>
                  <p:cNvSpPr>
                    <a:spLocks noChangeArrowheads="1"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86" name="Freeform 186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87" name="Group 187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2120888" name="Freeform 188"/>
                  <p:cNvSpPr>
                    <a:spLocks noChangeArrowheads="1"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89" name="Freeform 189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90" name="Freeform 190"/>
                  <p:cNvSpPr>
                    <a:spLocks noChangeArrowheads="1"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91" name="Group 191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2120892" name="Freeform 192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93" name="Freeform 193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94" name="Freeform 194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95" name="Group 195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2120896" name="Freeform 196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97" name="Freeform 197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898" name="Freeform 198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899" name="Group 199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2120900" name="Freeform 200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01" name="Freeform 201"/>
                  <p:cNvSpPr>
                    <a:spLocks noChangeArrowheads="1"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02" name="Freeform 202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0903" name="Group 203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2120904" name="Group 204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2120905" name="Freeform 205"/>
                  <p:cNvSpPr>
                    <a:spLocks noChangeArrowheads="1"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06" name="Freeform 206"/>
                  <p:cNvSpPr>
                    <a:spLocks noChangeArrowheads="1"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07" name="Freeform 207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08" name="Group 208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2120909" name="Freeform 209"/>
                  <p:cNvSpPr>
                    <a:spLocks noChangeArrowheads="1"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10" name="Freeform 210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11" name="Freeform 211"/>
                  <p:cNvSpPr>
                    <a:spLocks noChangeArrowheads="1"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12" name="Group 212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2120913" name="Freeform 213"/>
                  <p:cNvSpPr>
                    <a:spLocks noChangeArrowheads="1"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14" name="Freeform 214"/>
                  <p:cNvSpPr>
                    <a:spLocks noChangeArrowheads="1"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15" name="Freeform 215"/>
                  <p:cNvSpPr>
                    <a:spLocks noChangeArrowheads="1"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16" name="Group 216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2120917" name="Freeform 217"/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18" name="Freeform 218"/>
                  <p:cNvSpPr>
                    <a:spLocks noChangeArrowheads="1"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19" name="Freeform 219"/>
                  <p:cNvSpPr>
                    <a:spLocks noChangeArrowheads="1"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20" name="Group 220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2120921" name="Freeform 221"/>
                  <p:cNvSpPr>
                    <a:spLocks noChangeArrowheads="1"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22" name="Freeform 222"/>
                  <p:cNvSpPr>
                    <a:spLocks noChangeArrowheads="1"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23" name="Freeform 223"/>
                  <p:cNvSpPr>
                    <a:spLocks noChangeArrowheads="1"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0924" name="Group 224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2120925" name="Freeform 225"/>
                <p:cNvSpPr>
                  <a:spLocks noChangeArrowheads="1"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26" name="Freeform 226"/>
                <p:cNvSpPr>
                  <a:spLocks noChangeArrowheads="1"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27" name="Freeform 227"/>
                <p:cNvSpPr>
                  <a:spLocks noChangeArrowheads="1"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928" name="Group 228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2120929" name="Freeform 229"/>
                <p:cNvSpPr>
                  <a:spLocks noChangeArrowheads="1"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30" name="Freeform 230"/>
                <p:cNvSpPr>
                  <a:spLocks noChangeArrowheads="1"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31" name="Freeform 231"/>
                <p:cNvSpPr>
                  <a:spLocks noChangeArrowheads="1"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932" name="Group 232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2120933" name="Freeform 233"/>
                <p:cNvSpPr>
                  <a:spLocks noChangeArrowheads="1"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34" name="Freeform 234"/>
                <p:cNvSpPr>
                  <a:spLocks noChangeArrowheads="1"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35" name="Freeform 235"/>
                <p:cNvSpPr>
                  <a:spLocks noChangeArrowheads="1"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120936" name="Freeform 236"/>
              <p:cNvSpPr>
                <a:spLocks noChangeArrowheads="1"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937" name="Freeform 237"/>
              <p:cNvSpPr>
                <a:spLocks noChangeArrowheads="1"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0938" name="Freeform 238"/>
              <p:cNvSpPr>
                <a:spLocks noChangeArrowheads="1"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20939" name="Group 239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2120940" name="Freeform 240"/>
                <p:cNvSpPr>
                  <a:spLocks noChangeArrowheads="1"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41" name="Freeform 241"/>
                <p:cNvSpPr>
                  <a:spLocks noChangeArrowheads="1"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42" name="Freeform 242"/>
                <p:cNvSpPr>
                  <a:spLocks noChangeArrowheads="1"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943" name="Group 243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2120944" name="Freeform 244"/>
                <p:cNvSpPr>
                  <a:spLocks noChangeArrowheads="1"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45" name="Freeform 245"/>
                <p:cNvSpPr>
                  <a:spLocks noChangeArrowheads="1"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46" name="Freeform 246"/>
                <p:cNvSpPr>
                  <a:spLocks noChangeArrowheads="1"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947" name="Group 247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2120948" name="Freeform 248"/>
                <p:cNvSpPr>
                  <a:spLocks noChangeArrowheads="1"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49" name="Freeform 249"/>
                <p:cNvSpPr>
                  <a:spLocks noChangeArrowheads="1"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50" name="Freeform 250"/>
                <p:cNvSpPr>
                  <a:spLocks noChangeArrowheads="1"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951" name="Group 251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2120952" name="Freeform 252"/>
                <p:cNvSpPr>
                  <a:spLocks noChangeArrowheads="1"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53" name="Freeform 253"/>
                <p:cNvSpPr>
                  <a:spLocks noChangeArrowheads="1"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54" name="Freeform 254"/>
                <p:cNvSpPr>
                  <a:spLocks noChangeArrowheads="1"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0955" name="Group 255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2120956" name="Group 256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2120957" name="Freeform 257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58" name="Freeform 258"/>
                  <p:cNvSpPr>
                    <a:spLocks noChangeArrowheads="1"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59" name="Freeform 259"/>
                  <p:cNvSpPr>
                    <a:spLocks noChangeArrowheads="1"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60" name="Group 260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2120961" name="Freeform 261"/>
                  <p:cNvSpPr>
                    <a:spLocks noChangeArrowheads="1"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62" name="Freeform 262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63" name="Freeform 263"/>
                  <p:cNvSpPr>
                    <a:spLocks noChangeArrowheads="1"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64" name="Group 264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2120965" name="Freeform 265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66" name="Freeform 266"/>
                  <p:cNvSpPr>
                    <a:spLocks noChangeArrowheads="1"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67" name="Freeform 267"/>
                  <p:cNvSpPr>
                    <a:spLocks noChangeArrowheads="1"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68" name="Group 268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2120969" name="Freeform 269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70" name="Freeform 270"/>
                  <p:cNvSpPr>
                    <a:spLocks noChangeArrowheads="1"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71" name="Freeform 271"/>
                  <p:cNvSpPr>
                    <a:spLocks noChangeArrowheads="1"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72" name="Group 272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2120973" name="Freeform 273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74" name="Freeform 274"/>
                  <p:cNvSpPr>
                    <a:spLocks noChangeArrowheads="1"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75" name="Freeform 275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0976" name="Group 276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2120977" name="Group 277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2120978" name="Freeform 278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79" name="Freeform 279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80" name="Freeform 280"/>
                  <p:cNvSpPr>
                    <a:spLocks noChangeArrowheads="1"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81" name="Group 281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2120982" name="Freeform 282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83" name="Freeform 283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84" name="Freeform 284"/>
                  <p:cNvSpPr>
                    <a:spLocks noChangeArrowheads="1"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85" name="Group 285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2120986" name="Freeform 286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87" name="Freeform 287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88" name="Freeform 288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89" name="Group 289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2120990" name="Freeform 290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91" name="Freeform 291"/>
                  <p:cNvSpPr>
                    <a:spLocks noChangeArrowheads="1"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92" name="Freeform 292"/>
                  <p:cNvSpPr>
                    <a:spLocks noChangeArrowheads="1"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0993" name="Group 293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2120994" name="Freeform 294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95" name="Freeform 295"/>
                  <p:cNvSpPr>
                    <a:spLocks noChangeArrowheads="1"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0996" name="Freeform 296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0997" name="Group 297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2120998" name="Freeform 298"/>
                <p:cNvSpPr>
                  <a:spLocks noChangeArrowheads="1"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0999" name="Freeform 299"/>
                <p:cNvSpPr>
                  <a:spLocks noChangeArrowheads="1"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00" name="Freeform 300"/>
                <p:cNvSpPr>
                  <a:spLocks noChangeArrowheads="1"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01" name="Group 301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2121002" name="Freeform 302"/>
                <p:cNvSpPr>
                  <a:spLocks noChangeArrowheads="1"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03" name="Freeform 303"/>
                <p:cNvSpPr>
                  <a:spLocks noChangeArrowheads="1"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04" name="Freeform 304"/>
                <p:cNvSpPr>
                  <a:spLocks noChangeArrowheads="1"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05" name="Group 305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2121006" name="Freeform 306"/>
                <p:cNvSpPr>
                  <a:spLocks noChangeArrowheads="1"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07" name="Freeform 307"/>
                <p:cNvSpPr>
                  <a:spLocks noChangeArrowheads="1"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08" name="Freeform 308"/>
                <p:cNvSpPr>
                  <a:spLocks noChangeArrowheads="1"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09" name="Group 309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2121010" name="Freeform 310"/>
                <p:cNvSpPr>
                  <a:spLocks noChangeArrowheads="1"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11" name="Freeform 311"/>
                <p:cNvSpPr>
                  <a:spLocks noChangeArrowheads="1"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12" name="Freeform 312"/>
                <p:cNvSpPr>
                  <a:spLocks noChangeArrowheads="1"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13" name="Group 313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2121014" name="Freeform 314"/>
                <p:cNvSpPr>
                  <a:spLocks noChangeArrowheads="1"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15" name="Freeform 315"/>
                <p:cNvSpPr>
                  <a:spLocks noChangeArrowheads="1"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16" name="Freeform 316"/>
                <p:cNvSpPr>
                  <a:spLocks noChangeArrowheads="1"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17" name="Group 317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2121018" name="Group 318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2121019" name="Freeform 319"/>
                  <p:cNvSpPr>
                    <a:spLocks noChangeArrowheads="1"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20" name="Freeform 320"/>
                  <p:cNvSpPr>
                    <a:spLocks noChangeArrowheads="1"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21" name="Freeform 321"/>
                  <p:cNvSpPr>
                    <a:spLocks noChangeArrowheads="1"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22" name="Group 322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2121023" name="Freeform 323"/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24" name="Freeform 324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25" name="Freeform 325"/>
                  <p:cNvSpPr>
                    <a:spLocks noChangeArrowheads="1"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26" name="Group 326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2121027" name="Freeform 327"/>
                  <p:cNvSpPr>
                    <a:spLocks noChangeArrowheads="1"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28" name="Freeform 328"/>
                  <p:cNvSpPr>
                    <a:spLocks noChangeArrowheads="1"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29" name="Freeform 329"/>
                  <p:cNvSpPr>
                    <a:spLocks noChangeArrowheads="1"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30" name="Group 330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2121031" name="Freeform 33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32" name="Freeform 332"/>
                  <p:cNvSpPr>
                    <a:spLocks noChangeArrowheads="1"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33" name="Freeform 333"/>
                  <p:cNvSpPr>
                    <a:spLocks noChangeArrowheads="1"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34" name="Group 334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2121035" name="Freeform 335"/>
                  <p:cNvSpPr>
                    <a:spLocks noChangeArrowheads="1"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36" name="Freeform 336"/>
                  <p:cNvSpPr>
                    <a:spLocks noChangeArrowheads="1"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37" name="Freeform 337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1038" name="Group 338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2121039" name="Group 339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2121040" name="Freeform 340"/>
                  <p:cNvSpPr>
                    <a:spLocks noChangeArrowheads="1"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41" name="Freeform 341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42" name="Freeform 342"/>
                  <p:cNvSpPr>
                    <a:spLocks noChangeArrowheads="1"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43" name="Group 343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2121044" name="Freeform 344"/>
                  <p:cNvSpPr>
                    <a:spLocks noChangeArrowheads="1"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45" name="Freeform 345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46" name="Freeform 346"/>
                  <p:cNvSpPr>
                    <a:spLocks noChangeArrowheads="1"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47" name="Group 347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2121048" name="Freeform 348"/>
                  <p:cNvSpPr>
                    <a:spLocks noChangeArrowheads="1"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49" name="Freeform 349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50" name="Freeform 350"/>
                  <p:cNvSpPr>
                    <a:spLocks noChangeArrowheads="1"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51" name="Group 351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2121052" name="Freeform 352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53" name="Freeform 353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54" name="Freeform 354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55" name="Group 355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2121056" name="Freeform 356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57" name="Freeform 357"/>
                  <p:cNvSpPr>
                    <a:spLocks noChangeArrowheads="1"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58" name="Freeform 358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1059" name="Group 359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2121060" name="Freeform 360"/>
                <p:cNvSpPr>
                  <a:spLocks noChangeArrowheads="1"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61" name="Freeform 361"/>
                <p:cNvSpPr>
                  <a:spLocks noChangeArrowheads="1"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62" name="Freeform 362"/>
                <p:cNvSpPr>
                  <a:spLocks noChangeArrowheads="1"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63" name="Group 363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2121064" name="Freeform 364"/>
                <p:cNvSpPr>
                  <a:spLocks noChangeArrowheads="1"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65" name="Freeform 365"/>
                <p:cNvSpPr>
                  <a:spLocks noChangeArrowheads="1"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66" name="Freeform 366"/>
                <p:cNvSpPr>
                  <a:spLocks noChangeArrowheads="1"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67" name="Group 367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2121068" name="Freeform 368"/>
                <p:cNvSpPr>
                  <a:spLocks noChangeArrowheads="1"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69" name="Freeform 369"/>
                <p:cNvSpPr>
                  <a:spLocks noChangeArrowheads="1"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70" name="Freeform 370"/>
                <p:cNvSpPr>
                  <a:spLocks noChangeArrowheads="1"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71" name="Group 371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2121072" name="Freeform 372"/>
                <p:cNvSpPr>
                  <a:spLocks noChangeArrowheads="1"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73" name="Freeform 373"/>
                <p:cNvSpPr>
                  <a:spLocks noChangeArrowheads="1"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74" name="Freeform 374"/>
                <p:cNvSpPr>
                  <a:spLocks noChangeArrowheads="1"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75" name="Group 375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2121076" name="Freeform 376"/>
                <p:cNvSpPr>
                  <a:spLocks noChangeArrowheads="1"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77" name="Freeform 377"/>
                <p:cNvSpPr>
                  <a:spLocks noChangeArrowheads="1"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078" name="Freeform 378"/>
                <p:cNvSpPr>
                  <a:spLocks noChangeArrowheads="1"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079" name="Group 379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121080" name="Group 380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121081" name="Freeform 381"/>
                  <p:cNvSpPr>
                    <a:spLocks noChangeArrowheads="1"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82" name="Freeform 382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83" name="Freeform 383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84" name="Group 384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121085" name="Freeform 385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86" name="Freeform 386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87" name="Freeform 387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88" name="Group 388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121089" name="Freeform 389"/>
                  <p:cNvSpPr>
                    <a:spLocks noChangeArrowheads="1"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90" name="Freeform 390"/>
                  <p:cNvSpPr>
                    <a:spLocks noChangeArrowheads="1"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91" name="Freeform 391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092" name="Group 392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121093" name="Freeform 393"/>
                  <p:cNvSpPr>
                    <a:spLocks noChangeArrowheads="1"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94" name="Freeform 394"/>
                  <p:cNvSpPr>
                    <a:spLocks noChangeArrowheads="1"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95" name="Freeform 395"/>
                  <p:cNvSpPr>
                    <a:spLocks noChangeArrowheads="1"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1096" name="Group 396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121097" name="Group 397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121098" name="Freeform 398"/>
                  <p:cNvSpPr>
                    <a:spLocks noChangeArrowheads="1"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099" name="Freeform 399"/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100" name="Freeform 400"/>
                  <p:cNvSpPr>
                    <a:spLocks noChangeArrowheads="1"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101" name="Group 401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121102" name="Freeform 402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103" name="Freeform 403"/>
                  <p:cNvSpPr>
                    <a:spLocks noChangeArrowheads="1"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104" name="Freeform 404"/>
                  <p:cNvSpPr>
                    <a:spLocks noChangeArrowheads="1"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105" name="Group 405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121106" name="Freeform 406"/>
                  <p:cNvSpPr>
                    <a:spLocks noChangeArrowheads="1"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107" name="Freeform 407"/>
                  <p:cNvSpPr>
                    <a:spLocks noChangeArrowheads="1"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108" name="Freeform 408"/>
                  <p:cNvSpPr>
                    <a:spLocks noChangeArrowheads="1"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21109" name="Group 409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121110" name="Freeform 410"/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111" name="Freeform 411"/>
                  <p:cNvSpPr>
                    <a:spLocks noChangeArrowheads="1"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21112" name="Freeform 412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21113" name="Group 413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121114" name="Freeform 414"/>
                <p:cNvSpPr>
                  <a:spLocks noChangeArrowheads="1"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15" name="Freeform 415"/>
                <p:cNvSpPr>
                  <a:spLocks noChangeArrowheads="1"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16" name="Freeform 416"/>
                <p:cNvSpPr>
                  <a:spLocks noChangeArrowheads="1"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17" name="Group 417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121118" name="Freeform 418"/>
                <p:cNvSpPr>
                  <a:spLocks noChangeArrowheads="1"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19" name="Freeform 419"/>
                <p:cNvSpPr>
                  <a:spLocks noChangeArrowheads="1"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20" name="Freeform 420"/>
                <p:cNvSpPr>
                  <a:spLocks noChangeArrowheads="1"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21" name="Group 421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121122" name="Freeform 422"/>
                <p:cNvSpPr>
                  <a:spLocks noChangeArrowheads="1"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23" name="Freeform 423"/>
                <p:cNvSpPr>
                  <a:spLocks noChangeArrowheads="1"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24" name="Freeform 424"/>
                <p:cNvSpPr>
                  <a:spLocks noChangeArrowheads="1"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25" name="Group 425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121126" name="Freeform 426"/>
                <p:cNvSpPr>
                  <a:spLocks noChangeArrowheads="1"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27" name="Freeform 427"/>
                <p:cNvSpPr>
                  <a:spLocks noChangeArrowheads="1"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28" name="Freeform 428"/>
                <p:cNvSpPr>
                  <a:spLocks noChangeArrowheads="1"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29" name="Group 429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121130" name="Freeform 430"/>
                <p:cNvSpPr>
                  <a:spLocks noChangeArrowheads="1"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31" name="Freeform 431"/>
                <p:cNvSpPr>
                  <a:spLocks noChangeArrowheads="1"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32" name="Freeform 432"/>
                <p:cNvSpPr>
                  <a:spLocks noChangeArrowheads="1"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33" name="Group 433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121134" name="Freeform 434"/>
                <p:cNvSpPr>
                  <a:spLocks noChangeArrowheads="1"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35" name="Freeform 435"/>
                <p:cNvSpPr>
                  <a:spLocks noChangeArrowheads="1"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36" name="Freeform 436"/>
                <p:cNvSpPr>
                  <a:spLocks noChangeArrowheads="1"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37" name="Group 437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121138" name="Freeform 438"/>
                <p:cNvSpPr>
                  <a:spLocks noChangeArrowheads="1"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39" name="Freeform 439"/>
                <p:cNvSpPr>
                  <a:spLocks noChangeArrowheads="1"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40" name="Freeform 440"/>
                <p:cNvSpPr>
                  <a:spLocks noChangeArrowheads="1"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121141" name="Freeform 441"/>
              <p:cNvSpPr>
                <a:spLocks noChangeArrowheads="1"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42" name="Freeform 442"/>
              <p:cNvSpPr>
                <a:spLocks noChangeArrowheads="1"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43" name="Freeform 443"/>
              <p:cNvSpPr>
                <a:spLocks noChangeArrowheads="1"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44" name="Freeform 444"/>
              <p:cNvSpPr>
                <a:spLocks noChangeArrowheads="1"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45" name="Freeform 445"/>
              <p:cNvSpPr>
                <a:spLocks noChangeArrowheads="1"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46" name="Freeform 446"/>
              <p:cNvSpPr>
                <a:spLocks noChangeArrowheads="1"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47" name="Freeform 447"/>
              <p:cNvSpPr>
                <a:spLocks noChangeArrowheads="1"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48" name="Freeform 448"/>
              <p:cNvSpPr>
                <a:spLocks noChangeArrowheads="1"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49" name="Freeform 449"/>
              <p:cNvSpPr>
                <a:spLocks noChangeArrowheads="1"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50" name="Freeform 450"/>
              <p:cNvSpPr>
                <a:spLocks noChangeArrowheads="1"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51" name="Freeform 451"/>
              <p:cNvSpPr>
                <a:spLocks noChangeArrowheads="1"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21152" name="Group 452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121153" name="Freeform 453"/>
                <p:cNvSpPr>
                  <a:spLocks noChangeArrowheads="1"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54" name="Freeform 454"/>
                <p:cNvSpPr>
                  <a:spLocks noChangeArrowheads="1"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55" name="Freeform 455"/>
                <p:cNvSpPr>
                  <a:spLocks noChangeArrowheads="1"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56" name="Group 456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121157" name="Freeform 457"/>
                <p:cNvSpPr>
                  <a:spLocks noChangeArrowheads="1"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58" name="Freeform 458"/>
                <p:cNvSpPr>
                  <a:spLocks noChangeArrowheads="1"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59" name="Freeform 459"/>
                <p:cNvSpPr>
                  <a:spLocks noChangeArrowheads="1"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60" name="Group 460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121161" name="Freeform 461"/>
                <p:cNvSpPr>
                  <a:spLocks noChangeArrowheads="1"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62" name="Freeform 462"/>
                <p:cNvSpPr>
                  <a:spLocks noChangeArrowheads="1"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63" name="Freeform 463"/>
                <p:cNvSpPr>
                  <a:spLocks noChangeArrowheads="1"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64" name="Group 464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121165" name="Freeform 465"/>
                <p:cNvSpPr>
                  <a:spLocks noChangeArrowheads="1"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66" name="Freeform 466"/>
                <p:cNvSpPr>
                  <a:spLocks noChangeArrowheads="1"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67" name="Freeform 467"/>
                <p:cNvSpPr>
                  <a:spLocks noChangeArrowheads="1"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68" name="Group 468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121169" name="Freeform 469"/>
                <p:cNvSpPr>
                  <a:spLocks noChangeArrowheads="1"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70" name="Freeform 470"/>
                <p:cNvSpPr>
                  <a:spLocks noChangeArrowheads="1"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71" name="Freeform 471"/>
                <p:cNvSpPr>
                  <a:spLocks noChangeArrowheads="1"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72" name="Group 472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121173" name="Freeform 473"/>
                <p:cNvSpPr>
                  <a:spLocks noChangeArrowheads="1"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74" name="Freeform 474"/>
                <p:cNvSpPr>
                  <a:spLocks noChangeArrowheads="1"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75" name="Freeform 475"/>
                <p:cNvSpPr>
                  <a:spLocks noChangeArrowheads="1"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76" name="Group 476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121177" name="Freeform 477"/>
                <p:cNvSpPr>
                  <a:spLocks noChangeArrowheads="1"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78" name="Freeform 478"/>
                <p:cNvSpPr>
                  <a:spLocks noChangeArrowheads="1"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79" name="Freeform 479"/>
                <p:cNvSpPr>
                  <a:spLocks noChangeArrowheads="1"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80" name="Group 480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121181" name="Freeform 481"/>
                <p:cNvSpPr>
                  <a:spLocks noChangeArrowheads="1"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82" name="Freeform 482"/>
                <p:cNvSpPr>
                  <a:spLocks noChangeArrowheads="1"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83" name="Freeform 483"/>
                <p:cNvSpPr>
                  <a:spLocks noChangeArrowheads="1"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84" name="Group 484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121185" name="Freeform 485"/>
                <p:cNvSpPr>
                  <a:spLocks noChangeArrowheads="1"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86" name="Freeform 486"/>
                <p:cNvSpPr>
                  <a:spLocks noChangeArrowheads="1"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87" name="Freeform 487"/>
                <p:cNvSpPr>
                  <a:spLocks noChangeArrowheads="1"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21188" name="Group 488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121189" name="Freeform 489"/>
                <p:cNvSpPr>
                  <a:spLocks noChangeArrowheads="1"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90" name="Freeform 490"/>
                <p:cNvSpPr>
                  <a:spLocks noChangeArrowheads="1"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21191" name="Freeform 491"/>
                <p:cNvSpPr>
                  <a:spLocks noChangeArrowheads="1"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121192" name="Freeform 492"/>
              <p:cNvSpPr>
                <a:spLocks noChangeArrowheads="1"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93" name="Freeform 493"/>
              <p:cNvSpPr>
                <a:spLocks noChangeArrowheads="1"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94" name="Freeform 494"/>
              <p:cNvSpPr>
                <a:spLocks noChangeArrowheads="1"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121195" name="Group 495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2121196" name="Freeform 496"/>
              <p:cNvSpPr>
                <a:spLocks noChangeArrowheads="1"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97" name="Freeform 497"/>
              <p:cNvSpPr>
                <a:spLocks noChangeArrowheads="1"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98" name="Rectangle 498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199" name="Rectangle 499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121200" name="Group 500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2121201" name="Freeform 501"/>
              <p:cNvSpPr>
                <a:spLocks noChangeArrowheads="1"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02" name="Freeform 502"/>
              <p:cNvSpPr>
                <a:spLocks noChangeArrowheads="1"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03" name="Freeform 503"/>
              <p:cNvSpPr>
                <a:spLocks noChangeArrowheads="1"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04" name="Line 504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05" name="Freeform 505"/>
              <p:cNvSpPr>
                <a:spLocks noChangeArrowheads="1"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06" name="Freeform 506"/>
              <p:cNvSpPr>
                <a:spLocks noChangeArrowheads="1"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07" name="Freeform 507"/>
              <p:cNvSpPr>
                <a:spLocks noChangeArrowheads="1"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08" name="Freeform 508"/>
              <p:cNvSpPr>
                <a:spLocks noChangeArrowheads="1"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09" name="Freeform 509"/>
              <p:cNvSpPr>
                <a:spLocks noChangeArrowheads="1"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0" name="Freeform 510"/>
              <p:cNvSpPr>
                <a:spLocks noChangeArrowheads="1"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1" name="Freeform 511"/>
              <p:cNvSpPr>
                <a:spLocks noChangeArrowheads="1"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2" name="Freeform 512"/>
              <p:cNvSpPr>
                <a:spLocks noChangeArrowheads="1"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3" name="Freeform 513"/>
              <p:cNvSpPr>
                <a:spLocks noChangeArrowheads="1"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4" name="Freeform 514"/>
              <p:cNvSpPr>
                <a:spLocks noChangeArrowheads="1"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5" name="Oval 515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6" name="Oval 516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7" name="Freeform 517"/>
              <p:cNvSpPr>
                <a:spLocks noChangeArrowheads="1"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8" name="Oval 518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21219" name="Oval 519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2121220" name="Text Box 520"/>
          <p:cNvSpPr txBox="1">
            <a:spLocks noChangeArrowheads="1"/>
          </p:cNvSpPr>
          <p:nvPr/>
        </p:nvSpPr>
        <p:spPr bwMode="auto">
          <a:xfrm>
            <a:off x="3660775" y="120332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中间人 </a:t>
            </a: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2121221" name="Line 521"/>
          <p:cNvSpPr>
            <a:spLocks noChangeShapeType="1"/>
          </p:cNvSpPr>
          <p:nvPr/>
        </p:nvSpPr>
        <p:spPr bwMode="auto">
          <a:xfrm rot="5400000">
            <a:off x="3463925" y="3683001"/>
            <a:ext cx="34321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695850" name="Group 554"/>
          <p:cNvGrpSpPr>
            <a:grpSpLocks/>
          </p:cNvGrpSpPr>
          <p:nvPr/>
        </p:nvGrpSpPr>
        <p:grpSpPr bwMode="auto">
          <a:xfrm>
            <a:off x="5183188" y="2027238"/>
            <a:ext cx="4319587" cy="423862"/>
            <a:chOff x="2939" y="1851"/>
            <a:chExt cx="2512" cy="267"/>
          </a:xfrm>
        </p:grpSpPr>
        <p:sp>
          <p:nvSpPr>
            <p:cNvPr id="2121223" name="Line 522"/>
            <p:cNvSpPr>
              <a:spLocks noChangeShapeType="1"/>
            </p:cNvSpPr>
            <p:nvPr/>
          </p:nvSpPr>
          <p:spPr bwMode="auto">
            <a:xfrm>
              <a:off x="2939" y="1987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24" name="Rectangle 523"/>
            <p:cNvSpPr>
              <a:spLocks noChangeArrowheads="1"/>
            </p:cNvSpPr>
            <p:nvPr/>
          </p:nvSpPr>
          <p:spPr bwMode="auto">
            <a:xfrm>
              <a:off x="3506" y="1851"/>
              <a:ext cx="619" cy="26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我是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</p:grpSp>
      <p:grpSp>
        <p:nvGrpSpPr>
          <p:cNvPr id="695851" name="Group 555"/>
          <p:cNvGrpSpPr>
            <a:grpSpLocks/>
          </p:cNvGrpSpPr>
          <p:nvPr/>
        </p:nvGrpSpPr>
        <p:grpSpPr bwMode="auto">
          <a:xfrm>
            <a:off x="5156200" y="2546350"/>
            <a:ext cx="4319588" cy="423863"/>
            <a:chOff x="2923" y="2178"/>
            <a:chExt cx="2512" cy="267"/>
          </a:xfrm>
        </p:grpSpPr>
        <p:sp>
          <p:nvSpPr>
            <p:cNvPr id="2121226" name="Line 524"/>
            <p:cNvSpPr>
              <a:spLocks noChangeShapeType="1"/>
            </p:cNvSpPr>
            <p:nvPr/>
          </p:nvSpPr>
          <p:spPr bwMode="auto">
            <a:xfrm flipH="1">
              <a:off x="2923" y="2314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27" name="Rectangle 525"/>
            <p:cNvSpPr>
              <a:spLocks noChangeArrowheads="1"/>
            </p:cNvSpPr>
            <p:nvPr/>
          </p:nvSpPr>
          <p:spPr bwMode="auto">
            <a:xfrm>
              <a:off x="4383" y="2178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</p:grpSp>
      <p:grpSp>
        <p:nvGrpSpPr>
          <p:cNvPr id="695854" name="Group 558"/>
          <p:cNvGrpSpPr>
            <a:grpSpLocks/>
          </p:cNvGrpSpPr>
          <p:nvPr/>
        </p:nvGrpSpPr>
        <p:grpSpPr bwMode="auto">
          <a:xfrm>
            <a:off x="5156200" y="2805113"/>
            <a:ext cx="4319588" cy="731837"/>
            <a:chOff x="2923" y="2341"/>
            <a:chExt cx="2512" cy="461"/>
          </a:xfrm>
        </p:grpSpPr>
        <p:sp>
          <p:nvSpPr>
            <p:cNvPr id="2121229" name="Line 526"/>
            <p:cNvSpPr>
              <a:spLocks noChangeShapeType="1"/>
            </p:cNvSpPr>
            <p:nvPr/>
          </p:nvSpPr>
          <p:spPr bwMode="auto">
            <a:xfrm>
              <a:off x="2923" y="2671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30" name="Rectangle 527"/>
            <p:cNvSpPr>
              <a:spLocks noChangeArrowheads="1"/>
            </p:cNvSpPr>
            <p:nvPr/>
          </p:nvSpPr>
          <p:spPr bwMode="auto">
            <a:xfrm>
              <a:off x="3567" y="2534"/>
              <a:ext cx="567" cy="2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pic>
          <p:nvPicPr>
            <p:cNvPr id="2121231" name="Picture 52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" y="2386"/>
              <a:ext cx="227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1232" name="Text Box 529"/>
            <p:cNvSpPr txBox="1">
              <a:spLocks noChangeArrowheads="1"/>
            </p:cNvSpPr>
            <p:nvPr/>
          </p:nvSpPr>
          <p:spPr bwMode="auto">
            <a:xfrm>
              <a:off x="3094" y="2341"/>
              <a:ext cx="3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SK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</p:grpSp>
      <p:grpSp>
        <p:nvGrpSpPr>
          <p:cNvPr id="695855" name="Group 559"/>
          <p:cNvGrpSpPr>
            <a:grpSpLocks/>
          </p:cNvGrpSpPr>
          <p:nvPr/>
        </p:nvGrpSpPr>
        <p:grpSpPr bwMode="auto">
          <a:xfrm>
            <a:off x="5183188" y="3582988"/>
            <a:ext cx="4319587" cy="423862"/>
            <a:chOff x="2939" y="2831"/>
            <a:chExt cx="2512" cy="267"/>
          </a:xfrm>
        </p:grpSpPr>
        <p:sp>
          <p:nvSpPr>
            <p:cNvPr id="2121234" name="Line 5"/>
            <p:cNvSpPr>
              <a:spLocks noChangeShapeType="1"/>
            </p:cNvSpPr>
            <p:nvPr/>
          </p:nvSpPr>
          <p:spPr bwMode="auto">
            <a:xfrm flipH="1">
              <a:off x="2939" y="2950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35" name="Rectangle 530"/>
            <p:cNvSpPr>
              <a:spLocks noChangeArrowheads="1"/>
            </p:cNvSpPr>
            <p:nvPr/>
          </p:nvSpPr>
          <p:spPr bwMode="auto">
            <a:xfrm>
              <a:off x="4281" y="2831"/>
              <a:ext cx="980" cy="267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请把公钥发来</a:t>
              </a:r>
              <a:endParaRPr lang="zh-CN" altLang="en-US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695859" name="Group 563"/>
          <p:cNvGrpSpPr>
            <a:grpSpLocks/>
          </p:cNvGrpSpPr>
          <p:nvPr/>
        </p:nvGrpSpPr>
        <p:grpSpPr bwMode="auto">
          <a:xfrm>
            <a:off x="5183188" y="4038600"/>
            <a:ext cx="4319587" cy="423863"/>
            <a:chOff x="2939" y="3118"/>
            <a:chExt cx="2512" cy="267"/>
          </a:xfrm>
        </p:grpSpPr>
        <p:sp>
          <p:nvSpPr>
            <p:cNvPr id="2121237" name="Line 531"/>
            <p:cNvSpPr>
              <a:spLocks noChangeShapeType="1"/>
            </p:cNvSpPr>
            <p:nvPr/>
          </p:nvSpPr>
          <p:spPr bwMode="auto">
            <a:xfrm>
              <a:off x="2939" y="3264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38" name="Rectangle 532"/>
            <p:cNvSpPr>
              <a:spLocks noChangeArrowheads="1"/>
            </p:cNvSpPr>
            <p:nvPr/>
          </p:nvSpPr>
          <p:spPr bwMode="auto">
            <a:xfrm>
              <a:off x="3559" y="3118"/>
              <a:ext cx="567" cy="26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PK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</p:grpSp>
      <p:grpSp>
        <p:nvGrpSpPr>
          <p:cNvPr id="695852" name="Group 556"/>
          <p:cNvGrpSpPr>
            <a:grpSpLocks/>
          </p:cNvGrpSpPr>
          <p:nvPr/>
        </p:nvGrpSpPr>
        <p:grpSpPr bwMode="auto">
          <a:xfrm>
            <a:off x="838200" y="2687638"/>
            <a:ext cx="4321175" cy="423862"/>
            <a:chOff x="413" y="2267"/>
            <a:chExt cx="2512" cy="267"/>
          </a:xfrm>
        </p:grpSpPr>
        <p:sp>
          <p:nvSpPr>
            <p:cNvPr id="2121240" name="Line 533"/>
            <p:cNvSpPr>
              <a:spLocks noChangeShapeType="1"/>
            </p:cNvSpPr>
            <p:nvPr/>
          </p:nvSpPr>
          <p:spPr bwMode="auto">
            <a:xfrm flipH="1">
              <a:off x="413" y="2386"/>
              <a:ext cx="2512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41" name="Rectangle 534"/>
            <p:cNvSpPr>
              <a:spLocks noChangeArrowheads="1"/>
            </p:cNvSpPr>
            <p:nvPr/>
          </p:nvSpPr>
          <p:spPr bwMode="auto">
            <a:xfrm>
              <a:off x="2011" y="2267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</p:grpSp>
      <p:grpSp>
        <p:nvGrpSpPr>
          <p:cNvPr id="695853" name="Group 557"/>
          <p:cNvGrpSpPr>
            <a:grpSpLocks/>
          </p:cNvGrpSpPr>
          <p:nvPr/>
        </p:nvGrpSpPr>
        <p:grpSpPr bwMode="auto">
          <a:xfrm>
            <a:off x="865188" y="2898775"/>
            <a:ext cx="4318000" cy="782638"/>
            <a:chOff x="428" y="2400"/>
            <a:chExt cx="2511" cy="493"/>
          </a:xfrm>
        </p:grpSpPr>
        <p:sp>
          <p:nvSpPr>
            <p:cNvPr id="2121243" name="Line 535"/>
            <p:cNvSpPr>
              <a:spLocks noChangeShapeType="1"/>
            </p:cNvSpPr>
            <p:nvPr/>
          </p:nvSpPr>
          <p:spPr bwMode="auto">
            <a:xfrm>
              <a:off x="428" y="2762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44" name="Rectangle 536"/>
            <p:cNvSpPr>
              <a:spLocks noChangeArrowheads="1"/>
            </p:cNvSpPr>
            <p:nvPr/>
          </p:nvSpPr>
          <p:spPr bwMode="auto">
            <a:xfrm>
              <a:off x="1071" y="2626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pic>
          <p:nvPicPr>
            <p:cNvPr id="2121245" name="Picture 5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2478"/>
              <a:ext cx="227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1246" name="Text Box 538"/>
            <p:cNvSpPr txBox="1">
              <a:spLocks noChangeArrowheads="1"/>
            </p:cNvSpPr>
            <p:nvPr/>
          </p:nvSpPr>
          <p:spPr bwMode="auto">
            <a:xfrm>
              <a:off x="595" y="2400"/>
              <a:ext cx="3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SK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</p:grpSp>
      <p:grpSp>
        <p:nvGrpSpPr>
          <p:cNvPr id="695856" name="Group 560"/>
          <p:cNvGrpSpPr>
            <a:grpSpLocks/>
          </p:cNvGrpSpPr>
          <p:nvPr/>
        </p:nvGrpSpPr>
        <p:grpSpPr bwMode="auto">
          <a:xfrm>
            <a:off x="865188" y="3771900"/>
            <a:ext cx="4318000" cy="423863"/>
            <a:chOff x="428" y="2950"/>
            <a:chExt cx="2511" cy="267"/>
          </a:xfrm>
        </p:grpSpPr>
        <p:sp>
          <p:nvSpPr>
            <p:cNvPr id="2121248" name="Line 539"/>
            <p:cNvSpPr>
              <a:spLocks noChangeShapeType="1"/>
            </p:cNvSpPr>
            <p:nvPr/>
          </p:nvSpPr>
          <p:spPr bwMode="auto">
            <a:xfrm flipH="1">
              <a:off x="428" y="3069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49" name="Rectangle 540"/>
            <p:cNvSpPr>
              <a:spLocks noChangeArrowheads="1"/>
            </p:cNvSpPr>
            <p:nvPr/>
          </p:nvSpPr>
          <p:spPr bwMode="auto">
            <a:xfrm>
              <a:off x="1769" y="2950"/>
              <a:ext cx="980" cy="267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请把公钥发来</a:t>
              </a:r>
              <a:endParaRPr lang="zh-CN" altLang="en-US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695858" name="Group 562"/>
          <p:cNvGrpSpPr>
            <a:grpSpLocks/>
          </p:cNvGrpSpPr>
          <p:nvPr/>
        </p:nvGrpSpPr>
        <p:grpSpPr bwMode="auto">
          <a:xfrm>
            <a:off x="865188" y="4246563"/>
            <a:ext cx="4318000" cy="423862"/>
            <a:chOff x="428" y="3249"/>
            <a:chExt cx="2511" cy="267"/>
          </a:xfrm>
        </p:grpSpPr>
        <p:sp>
          <p:nvSpPr>
            <p:cNvPr id="2121251" name="Line 541"/>
            <p:cNvSpPr>
              <a:spLocks noChangeShapeType="1"/>
            </p:cNvSpPr>
            <p:nvPr/>
          </p:nvSpPr>
          <p:spPr bwMode="auto">
            <a:xfrm>
              <a:off x="428" y="3382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52" name="Rectangle 542"/>
            <p:cNvSpPr>
              <a:spLocks noChangeArrowheads="1"/>
            </p:cNvSpPr>
            <p:nvPr/>
          </p:nvSpPr>
          <p:spPr bwMode="auto">
            <a:xfrm>
              <a:off x="1047" y="3249"/>
              <a:ext cx="568" cy="26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PK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</p:grpSp>
      <p:grpSp>
        <p:nvGrpSpPr>
          <p:cNvPr id="695861" name="Group 565"/>
          <p:cNvGrpSpPr>
            <a:grpSpLocks/>
          </p:cNvGrpSpPr>
          <p:nvPr/>
        </p:nvGrpSpPr>
        <p:grpSpPr bwMode="auto">
          <a:xfrm>
            <a:off x="5183188" y="4408488"/>
            <a:ext cx="4319587" cy="779462"/>
            <a:chOff x="2939" y="3351"/>
            <a:chExt cx="2512" cy="491"/>
          </a:xfrm>
        </p:grpSpPr>
        <p:sp>
          <p:nvSpPr>
            <p:cNvPr id="2121254" name="Line 543"/>
            <p:cNvSpPr>
              <a:spLocks noChangeShapeType="1"/>
            </p:cNvSpPr>
            <p:nvPr/>
          </p:nvSpPr>
          <p:spPr bwMode="auto">
            <a:xfrm flipH="1">
              <a:off x="2939" y="3711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55" name="Rectangle 544"/>
            <p:cNvSpPr>
              <a:spLocks noChangeArrowheads="1"/>
            </p:cNvSpPr>
            <p:nvPr/>
          </p:nvSpPr>
          <p:spPr bwMode="auto">
            <a:xfrm>
              <a:off x="4693" y="3575"/>
              <a:ext cx="567" cy="26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DATA</a:t>
              </a:r>
              <a:endParaRPr lang="en-US" altLang="zh-CN" b="1" i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2121256" name="Picture 54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427"/>
              <a:ext cx="227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1257" name="Text Box 546"/>
            <p:cNvSpPr txBox="1">
              <a:spLocks noChangeArrowheads="1"/>
            </p:cNvSpPr>
            <p:nvPr/>
          </p:nvSpPr>
          <p:spPr bwMode="auto">
            <a:xfrm>
              <a:off x="4272" y="3351"/>
              <a:ext cx="3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PK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</p:grpSp>
      <p:grpSp>
        <p:nvGrpSpPr>
          <p:cNvPr id="695860" name="Group 564"/>
          <p:cNvGrpSpPr>
            <a:grpSpLocks/>
          </p:cNvGrpSpPr>
          <p:nvPr/>
        </p:nvGrpSpPr>
        <p:grpSpPr bwMode="auto">
          <a:xfrm>
            <a:off x="865188" y="4600575"/>
            <a:ext cx="4318000" cy="776288"/>
            <a:chOff x="428" y="3472"/>
            <a:chExt cx="2511" cy="489"/>
          </a:xfrm>
        </p:grpSpPr>
        <p:sp>
          <p:nvSpPr>
            <p:cNvPr id="2121259" name="Line 547"/>
            <p:cNvSpPr>
              <a:spLocks noChangeShapeType="1"/>
            </p:cNvSpPr>
            <p:nvPr/>
          </p:nvSpPr>
          <p:spPr bwMode="auto">
            <a:xfrm flipH="1">
              <a:off x="428" y="3830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21260" name="Rectangle 548"/>
            <p:cNvSpPr>
              <a:spLocks noChangeArrowheads="1"/>
            </p:cNvSpPr>
            <p:nvPr/>
          </p:nvSpPr>
          <p:spPr bwMode="auto">
            <a:xfrm>
              <a:off x="2166" y="3694"/>
              <a:ext cx="568" cy="26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DATA</a:t>
              </a:r>
            </a:p>
          </p:txBody>
        </p:sp>
        <p:pic>
          <p:nvPicPr>
            <p:cNvPr id="2121261" name="Picture 5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3546"/>
              <a:ext cx="22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1262" name="Text Box 550"/>
            <p:cNvSpPr txBox="1">
              <a:spLocks noChangeArrowheads="1"/>
            </p:cNvSpPr>
            <p:nvPr/>
          </p:nvSpPr>
          <p:spPr bwMode="auto">
            <a:xfrm>
              <a:off x="1737" y="3472"/>
              <a:ext cx="3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PK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</p:grpSp>
      <p:sp>
        <p:nvSpPr>
          <p:cNvPr id="2121263" name="Text Box 551"/>
          <p:cNvSpPr txBox="1">
            <a:spLocks noChangeArrowheads="1"/>
          </p:cNvSpPr>
          <p:nvPr/>
        </p:nvSpPr>
        <p:spPr bwMode="auto">
          <a:xfrm>
            <a:off x="274638" y="5002213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703388" y="5589588"/>
            <a:ext cx="6983412" cy="719137"/>
          </a:xfrm>
          <a:prstGeom prst="rect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eaLnBrk="0" hangingPunct="0"/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49" charset="-122"/>
              </a:rPr>
              <a:t>由此可见，公钥的分配以及认证公钥的真实性也是一个非常重要的问题。</a:t>
            </a:r>
            <a:endParaRPr lang="zh-CN" altLang="en-US" sz="2400" b="1" dirty="0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212126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2BE35A8-2AA7-4DC8-8DC3-C87D41C14D49}" type="slidenum">
              <a:rPr lang="zh-CN" altLang="en-US" smtClean="0"/>
              <a:pPr eaLnBrk="1" hangingPunct="1"/>
              <a:t>60</a:t>
            </a:fld>
            <a:endParaRPr lang="en-US" altLang="zh-CN" smtClean="0"/>
          </a:p>
        </p:txBody>
      </p:sp>
      <p:sp>
        <p:nvSpPr>
          <p:cNvPr id="2121266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9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9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69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69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9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9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69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69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9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69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69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69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7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中间人攻击说明</a:t>
            </a:r>
          </a:p>
        </p:txBody>
      </p:sp>
      <p:sp>
        <p:nvSpPr>
          <p:cNvPr id="21227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向 </a:t>
            </a: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发送“我是 </a:t>
            </a:r>
            <a:r>
              <a:rPr lang="en-US" altLang="zh-CN" sz="2800" smtClean="0">
                <a:ea typeface="黑体" panose="02010609060101010101" pitchFamily="49" charset="-122"/>
              </a:rPr>
              <a:t>A”</a:t>
            </a:r>
            <a:r>
              <a:rPr lang="zh-CN" altLang="en-US" sz="2800" smtClean="0">
                <a:ea typeface="黑体" panose="02010609060101010101" pitchFamily="49" charset="-122"/>
              </a:rPr>
              <a:t>的报文，并给出了自己的身份。此报文被“中间人” </a:t>
            </a: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截获，</a:t>
            </a: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把此报文原封不动地转发给 </a:t>
            </a:r>
            <a:r>
              <a:rPr lang="en-US" altLang="zh-CN" sz="2800" smtClean="0">
                <a:ea typeface="黑体" panose="02010609060101010101" pitchFamily="49" charset="-122"/>
              </a:rPr>
              <a:t>B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选择一个不重数 </a:t>
            </a:r>
            <a:r>
              <a:rPr lang="en-US" altLang="zh-CN" sz="2800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发送给 </a:t>
            </a:r>
            <a:r>
              <a:rPr lang="en-US" altLang="zh-CN" sz="2800" smtClean="0">
                <a:ea typeface="黑体" panose="02010609060101010101" pitchFamily="49" charset="-122"/>
              </a:rPr>
              <a:t>A</a:t>
            </a:r>
            <a:r>
              <a:rPr lang="zh-CN" altLang="en-US" sz="2800" smtClean="0">
                <a:ea typeface="黑体" panose="02010609060101010101" pitchFamily="49" charset="-122"/>
              </a:rPr>
              <a:t>，但同样被 </a:t>
            </a: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截获后也照样转发给 </a:t>
            </a:r>
            <a:r>
              <a:rPr lang="en-US" altLang="zh-CN" sz="2800" smtClean="0">
                <a:ea typeface="黑体" panose="02010609060101010101" pitchFamily="49" charset="-122"/>
              </a:rPr>
              <a:t>A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zh-CN" altLang="en-US" sz="2800" smtClean="0">
                <a:ea typeface="黑体" panose="02010609060101010101" pitchFamily="49" charset="-122"/>
              </a:rPr>
              <a:t>中间人 </a:t>
            </a: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用自己的私钥 </a:t>
            </a:r>
            <a:r>
              <a:rPr lang="en-US" altLang="zh-CN" sz="2800" smtClean="0">
                <a:ea typeface="黑体" panose="02010609060101010101" pitchFamily="49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C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对 </a:t>
            </a:r>
            <a:r>
              <a:rPr lang="en-US" altLang="zh-CN" sz="2800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加密后发回给 </a:t>
            </a:r>
            <a:r>
              <a:rPr lang="en-US" altLang="zh-CN" sz="2800" smtClean="0">
                <a:ea typeface="黑体" panose="02010609060101010101" pitchFamily="49" charset="-122"/>
              </a:rPr>
              <a:t>B</a:t>
            </a:r>
            <a:r>
              <a:rPr lang="zh-CN" altLang="en-US" sz="2800" smtClean="0">
                <a:ea typeface="黑体" panose="02010609060101010101" pitchFamily="49" charset="-122"/>
              </a:rPr>
              <a:t>，使 </a:t>
            </a: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误以为是 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发来的。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收到 </a:t>
            </a:r>
            <a:r>
              <a:rPr lang="en-US" altLang="zh-CN" sz="2800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后也用自己的私钥 </a:t>
            </a:r>
            <a:r>
              <a:rPr lang="en-US" altLang="zh-CN" sz="2800" smtClean="0">
                <a:ea typeface="黑体" panose="02010609060101010101" pitchFamily="49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A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对 </a:t>
            </a:r>
            <a:r>
              <a:rPr lang="en-US" altLang="zh-CN" sz="2800" smtClean="0">
                <a:ea typeface="黑体" panose="02010609060101010101" pitchFamily="49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zh-CN" altLang="en-US" sz="2800" smtClean="0">
                <a:ea typeface="黑体" panose="02010609060101010101" pitchFamily="49" charset="-122"/>
              </a:rPr>
              <a:t>加密后发回给 </a:t>
            </a:r>
            <a:r>
              <a:rPr lang="en-US" altLang="zh-CN" sz="2800" smtClean="0">
                <a:ea typeface="黑体" panose="02010609060101010101" pitchFamily="49" charset="-122"/>
              </a:rPr>
              <a:t>B</a:t>
            </a:r>
            <a:r>
              <a:rPr lang="zh-CN" altLang="en-US" sz="2800" smtClean="0">
                <a:ea typeface="黑体" panose="02010609060101010101" pitchFamily="49" charset="-122"/>
              </a:rPr>
              <a:t>，中途被 </a:t>
            </a: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截获并丢弃。</a:t>
            </a: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向 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索取其公钥，此报文被 </a:t>
            </a:r>
            <a:r>
              <a:rPr lang="en-US" altLang="zh-CN" sz="2800" smtClean="0">
                <a:ea typeface="黑体" panose="02010609060101010101" pitchFamily="49" charset="-122"/>
              </a:rPr>
              <a:t>C</a:t>
            </a:r>
            <a:r>
              <a:rPr lang="zh-CN" altLang="en-US" sz="2800" smtClean="0">
                <a:ea typeface="黑体" panose="02010609060101010101" pitchFamily="49" charset="-122"/>
              </a:rPr>
              <a:t>截获后转发给 </a:t>
            </a:r>
            <a:r>
              <a:rPr lang="en-US" altLang="zh-CN" sz="2800" smtClean="0">
                <a:ea typeface="黑体" panose="02010609060101010101" pitchFamily="49" charset="-122"/>
              </a:rPr>
              <a:t>A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12275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DFF8AE-1623-4887-A4D6-3F22A2D4A75A}" type="slidenum">
              <a:rPr lang="zh-CN" altLang="en-US" smtClean="0"/>
              <a:pPr eaLnBrk="1" hangingPunct="1"/>
              <a:t>61</a:t>
            </a:fld>
            <a:endParaRPr lang="en-US" altLang="zh-CN" smtClean="0"/>
          </a:p>
        </p:txBody>
      </p:sp>
      <p:sp>
        <p:nvSpPr>
          <p:cNvPr id="212275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8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中间人攻击说明</a:t>
            </a:r>
          </a:p>
        </p:txBody>
      </p:sp>
      <p:sp>
        <p:nvSpPr>
          <p:cNvPr id="212480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把自己的公钥 </a:t>
            </a:r>
            <a:r>
              <a:rPr lang="en-US" altLang="zh-CN" sz="2800" i="1" smtClean="0">
                <a:ea typeface="黑体" panose="02010609060101010101" pitchFamily="49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冒充是 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的发送给 </a:t>
            </a:r>
            <a:r>
              <a:rPr lang="en-US" altLang="zh-CN" sz="2800" smtClean="0">
                <a:ea typeface="黑体" panose="02010609060101010101" pitchFamily="49" charset="-122"/>
              </a:rPr>
              <a:t>B</a:t>
            </a:r>
            <a:r>
              <a:rPr lang="zh-CN" altLang="en-US" sz="2800" smtClean="0">
                <a:ea typeface="黑体" panose="02010609060101010101" pitchFamily="49" charset="-122"/>
              </a:rPr>
              <a:t>，而 </a:t>
            </a: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也截获到 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发送给 </a:t>
            </a: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的公钥 </a:t>
            </a:r>
            <a:r>
              <a:rPr lang="en-US" altLang="zh-CN" sz="2800" i="1" smtClean="0">
                <a:ea typeface="黑体" panose="02010609060101010101" pitchFamily="49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A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用收到的公钥 </a:t>
            </a:r>
            <a:r>
              <a:rPr lang="en-US" altLang="zh-CN" sz="2800" i="1" smtClean="0">
                <a:ea typeface="黑体" panose="02010609060101010101" pitchFamily="49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C</a:t>
            </a:r>
            <a:r>
              <a:rPr lang="zh-CN" altLang="en-US" sz="2800" smtClean="0">
                <a:ea typeface="黑体" panose="02010609060101010101" pitchFamily="49" charset="-122"/>
              </a:rPr>
              <a:t>（以为是 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的）对数据加密发送给 </a:t>
            </a:r>
            <a:r>
              <a:rPr lang="en-US" altLang="zh-CN" sz="2800" smtClean="0">
                <a:ea typeface="黑体" panose="02010609060101010101" pitchFamily="49" charset="-122"/>
              </a:rPr>
              <a:t>A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截获后用自己的私钥 </a:t>
            </a:r>
            <a:r>
              <a:rPr lang="en-US" altLang="zh-CN" sz="2800" i="1" smtClean="0">
                <a:ea typeface="黑体" panose="02010609060101010101" pitchFamily="49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解密，复制一份留下，再用 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的公钥 </a:t>
            </a:r>
            <a:r>
              <a:rPr lang="en-US" altLang="zh-CN" sz="2800" i="1" smtClean="0">
                <a:ea typeface="黑体" panose="02010609060101010101" pitchFamily="49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对数据加密后发送给 </a:t>
            </a:r>
            <a:r>
              <a:rPr lang="en-US" altLang="zh-CN" sz="2800" smtClean="0">
                <a:ea typeface="黑体" panose="02010609060101010101" pitchFamily="49" charset="-122"/>
              </a:rPr>
              <a:t>A</a:t>
            </a:r>
            <a:r>
              <a:rPr lang="zh-CN" altLang="en-US" sz="2800" smtClean="0">
                <a:ea typeface="黑体" panose="02010609060101010101" pitchFamily="49" charset="-122"/>
              </a:rPr>
              <a:t>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收到数据后，用自己的私钥 </a:t>
            </a:r>
            <a:r>
              <a:rPr lang="en-US" altLang="zh-CN" sz="2800" i="1" smtClean="0">
                <a:ea typeface="黑体" panose="02010609060101010101" pitchFamily="49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解密，以为和</a:t>
            </a:r>
            <a:r>
              <a:rPr lang="en-US" altLang="zh-CN" sz="2800" smtClean="0">
                <a:ea typeface="黑体" panose="02010609060101010101" pitchFamily="49" charset="-122"/>
              </a:rPr>
              <a:t>B</a:t>
            </a:r>
            <a:r>
              <a:rPr lang="zh-CN" altLang="en-US" sz="2800" smtClean="0">
                <a:ea typeface="黑体" panose="02010609060101010101" pitchFamily="49" charset="-122"/>
              </a:rPr>
              <a:t>进行了保密通信。其实，</a:t>
            </a:r>
            <a:r>
              <a:rPr lang="en-US" altLang="zh-CN" sz="2800" smtClean="0">
                <a:ea typeface="黑体" panose="02010609060101010101" pitchFamily="49" charset="-122"/>
              </a:rPr>
              <a:t>B</a:t>
            </a:r>
            <a:r>
              <a:rPr lang="zh-CN" altLang="en-US" sz="2800" smtClean="0">
                <a:ea typeface="黑体" panose="02010609060101010101" pitchFamily="49" charset="-122"/>
              </a:rPr>
              <a:t>发送给</a:t>
            </a:r>
            <a:r>
              <a:rPr lang="en-US" altLang="zh-CN" sz="2800" smtClean="0">
                <a:ea typeface="黑体" panose="02010609060101010101" pitchFamily="49" charset="-122"/>
              </a:rPr>
              <a:t>A</a:t>
            </a:r>
            <a:r>
              <a:rPr lang="zh-CN" altLang="en-US" sz="2800" smtClean="0">
                <a:ea typeface="黑体" panose="02010609060101010101" pitchFamily="49" charset="-122"/>
              </a:rPr>
              <a:t>的加密数据已被中间人 </a:t>
            </a:r>
            <a:r>
              <a:rPr lang="en-US" altLang="zh-CN" sz="2800" smtClean="0">
                <a:ea typeface="黑体" panose="02010609060101010101" pitchFamily="49" charset="-122"/>
              </a:rPr>
              <a:t>C </a:t>
            </a:r>
            <a:r>
              <a:rPr lang="zh-CN" altLang="en-US" sz="2800" smtClean="0">
                <a:ea typeface="黑体" panose="02010609060101010101" pitchFamily="49" charset="-122"/>
              </a:rPr>
              <a:t>截获并解密了一份。但 </a:t>
            </a:r>
            <a:r>
              <a:rPr lang="en-US" altLang="zh-CN" sz="2800" smtClean="0">
                <a:ea typeface="黑体" panose="02010609060101010101" pitchFamily="49" charset="-122"/>
              </a:rPr>
              <a:t>A </a:t>
            </a:r>
            <a:r>
              <a:rPr lang="zh-CN" altLang="en-US" sz="2800" smtClean="0">
                <a:ea typeface="黑体" panose="02010609060101010101" pitchFamily="49" charset="-122"/>
              </a:rPr>
              <a:t>和 </a:t>
            </a:r>
            <a:r>
              <a:rPr lang="en-US" altLang="zh-CN" sz="2800" smtClean="0">
                <a:ea typeface="黑体" panose="02010609060101010101" pitchFamily="49" charset="-122"/>
              </a:rPr>
              <a:t>B </a:t>
            </a:r>
            <a:r>
              <a:rPr lang="zh-CN" altLang="en-US" sz="2800" smtClean="0">
                <a:ea typeface="黑体" panose="02010609060101010101" pitchFamily="49" charset="-122"/>
              </a:rPr>
              <a:t>却都不知道。 </a:t>
            </a:r>
          </a:p>
        </p:txBody>
      </p:sp>
      <p:sp>
        <p:nvSpPr>
          <p:cNvPr id="212480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126671-8540-425B-A342-5677754795C0}" type="slidenum">
              <a:rPr lang="zh-CN" altLang="en-US" smtClean="0"/>
              <a:pPr eaLnBrk="1" hangingPunct="1"/>
              <a:t>62</a:t>
            </a:fld>
            <a:endParaRPr lang="en-US" altLang="zh-CN" smtClean="0"/>
          </a:p>
        </p:txBody>
      </p:sp>
      <p:sp>
        <p:nvSpPr>
          <p:cNvPr id="212480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677</TotalTime>
  <Words>4775</Words>
  <Application>Microsoft Office PowerPoint</Application>
  <PresentationFormat>A4 纸张(210x297 毫米)</PresentationFormat>
  <Paragraphs>717</Paragraphs>
  <Slides>62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62</vt:i4>
      </vt:variant>
    </vt:vector>
  </HeadingPairs>
  <TitlesOfParts>
    <vt:vector size="72" baseType="lpstr">
      <vt:lpstr>黑体</vt:lpstr>
      <vt:lpstr>宋体</vt:lpstr>
      <vt:lpstr>Arial</vt:lpstr>
      <vt:lpstr>Symbol</vt:lpstr>
      <vt:lpstr>Tahoma</vt:lpstr>
      <vt:lpstr>Times New Roman</vt:lpstr>
      <vt:lpstr>Wingdings</vt:lpstr>
      <vt:lpstr>Presentation</vt:lpstr>
      <vt:lpstr>Microsoft Visio 2000/2002 Drawing</vt:lpstr>
      <vt:lpstr>Equation.3</vt:lpstr>
      <vt:lpstr>第 7 章  网络安全</vt:lpstr>
      <vt:lpstr>第 7 章  网络安全</vt:lpstr>
      <vt:lpstr>7.1  网络安全问题概述</vt:lpstr>
      <vt:lpstr>7.1  网络安全问题概述</vt:lpstr>
      <vt:lpstr>7.1.1  计算机网络面临的安全性威胁</vt:lpstr>
      <vt:lpstr>7.1.1  计算机网络面临的安全性威胁</vt:lpstr>
      <vt:lpstr>7.1.1  计算机网络面临的安全性威胁</vt:lpstr>
      <vt:lpstr>分布式拒绝服务 DDoS</vt:lpstr>
      <vt:lpstr>计算机网络通信安全的目标</vt:lpstr>
      <vt:lpstr>7.1.2  安全的计算机网络</vt:lpstr>
      <vt:lpstr>7.1.2  安全的计算机网络</vt:lpstr>
      <vt:lpstr>7.1.2  安全的计算机网络</vt:lpstr>
      <vt:lpstr>7.1.2  安全的计算机网络</vt:lpstr>
      <vt:lpstr>7.1.3  数据加密模型</vt:lpstr>
      <vt:lpstr>密钥</vt:lpstr>
      <vt:lpstr>一些重要概念 </vt:lpstr>
      <vt:lpstr>一些重要概念 </vt:lpstr>
      <vt:lpstr>7.2  两类密码体制</vt:lpstr>
      <vt:lpstr>7.2.1   对称密钥密码体制 </vt:lpstr>
      <vt:lpstr>数据加密标准 DES</vt:lpstr>
      <vt:lpstr>数据加密标准 DES</vt:lpstr>
      <vt:lpstr>DES 的保密性</vt:lpstr>
      <vt:lpstr>三重 DES</vt:lpstr>
      <vt:lpstr>7.2.2  公钥密码体制</vt:lpstr>
      <vt:lpstr>加密密钥与解密密钥 </vt:lpstr>
      <vt:lpstr>应当注意 </vt:lpstr>
      <vt:lpstr>公钥算法的特点 </vt:lpstr>
      <vt:lpstr>公钥算法的特点 </vt:lpstr>
      <vt:lpstr>公钥密码体制</vt:lpstr>
      <vt:lpstr>公开密钥与对称密钥的区别</vt:lpstr>
      <vt:lpstr>公钥密码体制</vt:lpstr>
      <vt:lpstr>7.3   数字签名</vt:lpstr>
      <vt:lpstr>基于公钥的数字签名的实现</vt:lpstr>
      <vt:lpstr>基于公钥的数字签名的实现</vt:lpstr>
      <vt:lpstr>具有保密性的数字签名 </vt:lpstr>
      <vt:lpstr>7.4  鉴别</vt:lpstr>
      <vt:lpstr>7.4  鉴别</vt:lpstr>
      <vt:lpstr>鉴别分类</vt:lpstr>
      <vt:lpstr>7.4.1  报文鉴别 </vt:lpstr>
      <vt:lpstr>1. 密码散列函数</vt:lpstr>
      <vt:lpstr>散列函数的两个特点</vt:lpstr>
      <vt:lpstr>密码散列函数的特点</vt:lpstr>
      <vt:lpstr>密码散列函数的特点</vt:lpstr>
      <vt:lpstr>2. 实用的密码散列函数MD5和SHA-1</vt:lpstr>
      <vt:lpstr>MD5 算法</vt:lpstr>
      <vt:lpstr>MD5 算法</vt:lpstr>
      <vt:lpstr>MD5 算法</vt:lpstr>
      <vt:lpstr>安全散列算法（SHA-1）</vt:lpstr>
      <vt:lpstr>安全散列算法（SHA-1）</vt:lpstr>
      <vt:lpstr>3. 报文鉴别码 MAC</vt:lpstr>
      <vt:lpstr>3. 报文鉴别码 MAC</vt:lpstr>
      <vt:lpstr>3. 报文鉴别码 MAC</vt:lpstr>
      <vt:lpstr>3. 报文鉴别码 MAC</vt:lpstr>
      <vt:lpstr>7.4.2  实体鉴别 </vt:lpstr>
      <vt:lpstr>最简单的实体鉴别过程 </vt:lpstr>
      <vt:lpstr>存在明显漏洞</vt:lpstr>
      <vt:lpstr>使用不重数进行鉴别</vt:lpstr>
      <vt:lpstr>使用不重数进行鉴别</vt:lpstr>
      <vt:lpstr>使用不重数进行鉴别</vt:lpstr>
      <vt:lpstr>中间人攻击 </vt:lpstr>
      <vt:lpstr>中间人攻击说明</vt:lpstr>
      <vt:lpstr>中间人攻击说明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63</cp:revision>
  <dcterms:created xsi:type="dcterms:W3CDTF">2016-10-01T05:27:00Z</dcterms:created>
  <dcterms:modified xsi:type="dcterms:W3CDTF">2024-05-05T14:41:23Z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
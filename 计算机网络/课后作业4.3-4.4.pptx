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26" r:id="rId2"/>
    <p:sldId id="431" r:id="rId3"/>
    <p:sldId id="432" r:id="rId4"/>
    <p:sldId id="433" r:id="rId5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4.3-4.4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、设某路由器建立了如下路由表</a:t>
            </a:r>
            <a:r>
              <a:rPr lang="en-US" altLang="zh-CN" sz="2400" dirty="0"/>
              <a:t>(</a:t>
            </a:r>
            <a:r>
              <a:rPr lang="zh-CN" altLang="en-US" sz="2400" dirty="0"/>
              <a:t>这三列分别是目的网络、子网掩码和下一跳路由器，若直接交付则最后一列表示应当从哪一个接口转发以去</a:t>
            </a:r>
            <a:r>
              <a:rPr lang="en-US" altLang="zh-CN" sz="2400" dirty="0"/>
              <a:t>)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zh-CN" altLang="en-US" sz="2400" dirty="0"/>
          </a:p>
          <a:p>
            <a:pPr marL="0" indent="0" algn="just">
              <a:buNone/>
            </a:pPr>
            <a:r>
              <a:rPr lang="zh-CN" altLang="en-US" sz="2400" dirty="0" smtClean="0"/>
              <a:t>现</a:t>
            </a:r>
            <a:r>
              <a:rPr lang="zh-CN" altLang="en-US" sz="2400" dirty="0"/>
              <a:t>共收到</a:t>
            </a:r>
            <a:r>
              <a:rPr lang="en-US" altLang="zh-CN" sz="2400" dirty="0"/>
              <a:t>5</a:t>
            </a:r>
            <a:r>
              <a:rPr lang="zh-CN" altLang="en-US" sz="2400" dirty="0"/>
              <a:t>个分组，其目的站</a:t>
            </a:r>
            <a:r>
              <a:rPr lang="en-US" altLang="zh-CN" sz="2400" dirty="0"/>
              <a:t>IP</a:t>
            </a:r>
            <a:r>
              <a:rPr lang="zh-CN" altLang="en-US" sz="2400" dirty="0"/>
              <a:t>地址分别</a:t>
            </a:r>
            <a:r>
              <a:rPr lang="zh-CN" altLang="en-US" sz="2400" dirty="0" smtClean="0"/>
              <a:t>为：</a:t>
            </a:r>
            <a:r>
              <a:rPr lang="en-US" altLang="zh-CN" sz="2400" dirty="0" smtClean="0"/>
              <a:t>(1)128.96.39.10 (2)128.96.40.12 (3)128.96.40.151 (4)192.4.153.17 (5)192.4.153.90 </a:t>
            </a:r>
            <a:r>
              <a:rPr lang="zh-CN" altLang="en-US" sz="2400" dirty="0" smtClean="0"/>
              <a:t>试</a:t>
            </a:r>
            <a:r>
              <a:rPr lang="zh-CN" altLang="en-US" sz="2400" dirty="0"/>
              <a:t>分别计算其下一跳。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473692"/>
              </p:ext>
            </p:extLst>
          </p:nvPr>
        </p:nvGraphicFramePr>
        <p:xfrm>
          <a:off x="1212088" y="2727722"/>
          <a:ext cx="7632635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2543905">
                  <a:extLst>
                    <a:ext uri="{9D8B030D-6E8A-4147-A177-3AD203B41FA5}">
                      <a16:colId xmlns:a16="http://schemas.microsoft.com/office/drawing/2014/main" val="1598957230"/>
                    </a:ext>
                  </a:extLst>
                </a:gridCol>
                <a:gridCol w="2543905">
                  <a:extLst>
                    <a:ext uri="{9D8B030D-6E8A-4147-A177-3AD203B41FA5}">
                      <a16:colId xmlns:a16="http://schemas.microsoft.com/office/drawing/2014/main" val="632633890"/>
                    </a:ext>
                  </a:extLst>
                </a:gridCol>
                <a:gridCol w="2544825">
                  <a:extLst>
                    <a:ext uri="{9D8B030D-6E8A-4147-A177-3AD203B41FA5}">
                      <a16:colId xmlns:a16="http://schemas.microsoft.com/office/drawing/2014/main" val="426615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目的网络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子网掩码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下一跳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048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128.96.39.0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255.255.255.128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接口</a:t>
                      </a:r>
                      <a:r>
                        <a:rPr lang="en-US" altLang="zh-CN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128.96.39.128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255.255.255.128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接口</a:t>
                      </a:r>
                      <a:r>
                        <a:rPr lang="en-US" altLang="zh-CN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106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128.96.40.0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255.255.255.128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R2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91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192.4.153.0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255.255.255.192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R3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02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*(</a:t>
                      </a:r>
                      <a:r>
                        <a:rPr lang="zh-CN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默认</a:t>
                      </a: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R4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27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、某单位分配到一个</a:t>
            </a:r>
            <a:r>
              <a:rPr lang="en-US" altLang="zh-CN" sz="2400" dirty="0"/>
              <a:t>B</a:t>
            </a:r>
            <a:r>
              <a:rPr lang="zh-CN" altLang="en-US" sz="2400" dirty="0"/>
              <a:t>类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地址，其网络地址为：</a:t>
            </a:r>
            <a:r>
              <a:rPr lang="en-US" altLang="zh-CN" sz="2400" dirty="0"/>
              <a:t>129.250.0.0</a:t>
            </a:r>
            <a:r>
              <a:rPr lang="zh-CN" altLang="en-US" sz="2400" dirty="0" smtClean="0"/>
              <a:t>，该</a:t>
            </a:r>
            <a:r>
              <a:rPr lang="zh-CN" altLang="en-US" sz="2400" dirty="0"/>
              <a:t>单位有</a:t>
            </a:r>
            <a:r>
              <a:rPr lang="en-US" altLang="zh-CN" sz="2400" dirty="0"/>
              <a:t>4000</a:t>
            </a:r>
            <a:r>
              <a:rPr lang="zh-CN" altLang="en-US" sz="2400" dirty="0"/>
              <a:t>台计算机，并且分布在</a:t>
            </a:r>
            <a:r>
              <a:rPr lang="en-US" altLang="zh-CN" sz="2400" dirty="0"/>
              <a:t>16</a:t>
            </a:r>
            <a:r>
              <a:rPr lang="zh-CN" altLang="en-US" sz="2400" dirty="0"/>
              <a:t>个不同的地点</a:t>
            </a:r>
            <a:r>
              <a:rPr lang="zh-CN" altLang="en-US" sz="2400" dirty="0" smtClean="0"/>
              <a:t>，如选用子网</a:t>
            </a:r>
            <a:r>
              <a:rPr lang="zh-CN" altLang="en-US" sz="2400" dirty="0"/>
              <a:t>掩码为</a:t>
            </a:r>
            <a:r>
              <a:rPr lang="en-US" altLang="zh-CN" sz="2400" dirty="0" smtClean="0"/>
              <a:t>255.255.255.0</a:t>
            </a:r>
            <a:r>
              <a:rPr lang="zh-CN" altLang="en-US" sz="2400" dirty="0" smtClean="0"/>
              <a:t>。试给每</a:t>
            </a:r>
            <a:r>
              <a:rPr lang="zh-CN" altLang="en-US" sz="2400" dirty="0"/>
              <a:t>一个地点分配一个子网号码</a:t>
            </a:r>
            <a:r>
              <a:rPr lang="zh-CN" altLang="en-US" sz="2400" dirty="0" smtClean="0"/>
              <a:t>，并</a:t>
            </a:r>
            <a:r>
              <a:rPr lang="zh-CN" altLang="en-US" sz="2400" dirty="0"/>
              <a:t>给出每个地点主机号码的最大值和最小值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/>
              <a:t>、有如下的</a:t>
            </a:r>
            <a:r>
              <a:rPr lang="en-US" altLang="zh-CN" sz="2400" dirty="0"/>
              <a:t>4</a:t>
            </a:r>
            <a:r>
              <a:rPr lang="zh-CN" altLang="en-US" sz="2400" dirty="0"/>
              <a:t>个／</a:t>
            </a:r>
            <a:r>
              <a:rPr lang="en-US" altLang="zh-CN" sz="2400" dirty="0"/>
              <a:t>24</a:t>
            </a:r>
            <a:r>
              <a:rPr lang="zh-CN" altLang="en-US" sz="2400" dirty="0"/>
              <a:t>地址块，试进行最大可能的聚合。</a:t>
            </a:r>
          </a:p>
          <a:p>
            <a:pPr marL="0" indent="0" algn="just">
              <a:buNone/>
            </a:pPr>
            <a:r>
              <a:rPr lang="en-US" altLang="zh-CN" sz="2400" dirty="0"/>
              <a:t>212</a:t>
            </a:r>
            <a:r>
              <a:rPr lang="zh-CN" altLang="en-US" sz="2400" dirty="0"/>
              <a:t>．</a:t>
            </a:r>
            <a:r>
              <a:rPr lang="en-US" altLang="zh-CN" sz="2400" dirty="0"/>
              <a:t>56</a:t>
            </a:r>
            <a:r>
              <a:rPr lang="zh-CN" altLang="en-US" sz="2400" dirty="0"/>
              <a:t>．</a:t>
            </a:r>
            <a:r>
              <a:rPr lang="en-US" altLang="zh-CN" sz="2400" dirty="0"/>
              <a:t>132</a:t>
            </a:r>
            <a:r>
              <a:rPr lang="zh-CN" altLang="en-US" sz="2400" dirty="0"/>
              <a:t>．</a:t>
            </a:r>
            <a:r>
              <a:rPr lang="en-US" altLang="zh-CN" sz="2400" dirty="0"/>
              <a:t>0</a:t>
            </a:r>
            <a:r>
              <a:rPr lang="zh-CN" altLang="en-US" sz="2400" dirty="0"/>
              <a:t>／</a:t>
            </a:r>
            <a:r>
              <a:rPr lang="en-US" altLang="zh-CN" sz="2400" dirty="0" smtClean="0"/>
              <a:t>24</a:t>
            </a:r>
            <a:r>
              <a:rPr lang="zh-CN" altLang="en-US" sz="2400" dirty="0"/>
              <a:t> </a:t>
            </a:r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212</a:t>
            </a:r>
            <a:r>
              <a:rPr lang="zh-CN" altLang="en-US" sz="2400" dirty="0"/>
              <a:t>．</a:t>
            </a:r>
            <a:r>
              <a:rPr lang="en-US" altLang="zh-CN" sz="2400" dirty="0"/>
              <a:t>56</a:t>
            </a:r>
            <a:r>
              <a:rPr lang="zh-CN" altLang="en-US" sz="2400" dirty="0"/>
              <a:t>．</a:t>
            </a:r>
            <a:r>
              <a:rPr lang="en-US" altLang="zh-CN" sz="2400" dirty="0"/>
              <a:t>133</a:t>
            </a:r>
            <a:r>
              <a:rPr lang="zh-CN" altLang="en-US" sz="2400" dirty="0"/>
              <a:t>．</a:t>
            </a:r>
            <a:r>
              <a:rPr lang="en-US" altLang="zh-CN" sz="2400" dirty="0"/>
              <a:t>0</a:t>
            </a:r>
            <a:r>
              <a:rPr lang="zh-CN" altLang="en-US" sz="2400" dirty="0"/>
              <a:t>／</a:t>
            </a:r>
            <a:r>
              <a:rPr lang="en-US" altLang="zh-CN" sz="2400" dirty="0" smtClean="0"/>
              <a:t>24</a:t>
            </a:r>
            <a:endParaRPr lang="zh-CN" altLang="en-US" sz="2400" dirty="0"/>
          </a:p>
          <a:p>
            <a:pPr marL="0" indent="0" algn="just">
              <a:buNone/>
            </a:pPr>
            <a:r>
              <a:rPr lang="en-US" altLang="zh-CN" sz="2400" dirty="0"/>
              <a:t>212</a:t>
            </a:r>
            <a:r>
              <a:rPr lang="zh-CN" altLang="en-US" sz="2400" dirty="0"/>
              <a:t>．</a:t>
            </a:r>
            <a:r>
              <a:rPr lang="en-US" altLang="zh-CN" sz="2400" dirty="0"/>
              <a:t>56</a:t>
            </a:r>
            <a:r>
              <a:rPr lang="zh-CN" altLang="en-US" sz="2400" dirty="0"/>
              <a:t>．</a:t>
            </a:r>
            <a:r>
              <a:rPr lang="en-US" altLang="zh-CN" sz="2400" dirty="0"/>
              <a:t>134</a:t>
            </a:r>
            <a:r>
              <a:rPr lang="zh-CN" altLang="en-US" sz="2400" dirty="0"/>
              <a:t>．</a:t>
            </a:r>
            <a:r>
              <a:rPr lang="en-US" altLang="zh-CN" sz="2400" dirty="0"/>
              <a:t>0</a:t>
            </a:r>
            <a:r>
              <a:rPr lang="zh-CN" altLang="en-US" sz="2400" dirty="0"/>
              <a:t>／</a:t>
            </a:r>
            <a:r>
              <a:rPr lang="en-US" altLang="zh-CN" sz="2400" dirty="0" smtClean="0"/>
              <a:t>24          212</a:t>
            </a:r>
            <a:r>
              <a:rPr lang="zh-CN" altLang="en-US" sz="2400" dirty="0"/>
              <a:t>．</a:t>
            </a:r>
            <a:r>
              <a:rPr lang="en-US" altLang="zh-CN" sz="2400" dirty="0"/>
              <a:t>56</a:t>
            </a:r>
            <a:r>
              <a:rPr lang="zh-CN" altLang="en-US" sz="2400" dirty="0"/>
              <a:t>．</a:t>
            </a:r>
            <a:r>
              <a:rPr lang="en-US" altLang="zh-CN" sz="2400" dirty="0"/>
              <a:t>135</a:t>
            </a:r>
            <a:r>
              <a:rPr lang="zh-CN" altLang="en-US" sz="2400" dirty="0"/>
              <a:t>．</a:t>
            </a:r>
            <a:r>
              <a:rPr lang="en-US" altLang="zh-CN" sz="2400" dirty="0"/>
              <a:t>0</a:t>
            </a:r>
            <a:r>
              <a:rPr lang="zh-CN" altLang="en-US" sz="2400" dirty="0"/>
              <a:t>／</a:t>
            </a:r>
            <a:r>
              <a:rPr lang="en-US" altLang="zh-CN" sz="2400" dirty="0" smtClean="0"/>
              <a:t>24</a:t>
            </a:r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/>
              <a:t>、已知地址块中的一个地址</a:t>
            </a:r>
            <a:r>
              <a:rPr lang="en-US" altLang="zh-CN" sz="2400" dirty="0"/>
              <a:t>140.120.82.24/20</a:t>
            </a:r>
            <a:r>
              <a:rPr lang="zh-CN" altLang="en-US" sz="2400" dirty="0"/>
              <a:t>，试求这个地址块中的最小地址和最大地址。地址的子网掩码是什么</a:t>
            </a:r>
            <a:r>
              <a:rPr lang="zh-CN" altLang="en-US" sz="2400" dirty="0" smtClean="0"/>
              <a:t>？地址块中一共有多少个地址？相当于多少个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类地址</a:t>
            </a:r>
            <a:r>
              <a:rPr lang="zh-CN" altLang="en-US" sz="2400" dirty="0" smtClean="0"/>
              <a:t>？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/>
              <a:t>、写出下列英文术语缩写的全称和中文译名</a:t>
            </a:r>
          </a:p>
          <a:p>
            <a:pPr marL="0" indent="0" algn="just">
              <a:buNone/>
            </a:pPr>
            <a:r>
              <a:rPr lang="en-US" altLang="zh-CN" sz="2400" smtClean="0"/>
              <a:t>CIDR VLSM ICMP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195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请写到作业本上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6</a:t>
            </a:r>
            <a:r>
              <a:rPr lang="zh-CN" altLang="en-US" sz="2400" dirty="0" smtClean="0"/>
              <a:t>、一</a:t>
            </a:r>
            <a:r>
              <a:rPr lang="zh-CN" altLang="en-US" sz="2400" dirty="0"/>
              <a:t>个大公司有一个总部和三个下属部门。公司分配到的网络前缀是</a:t>
            </a:r>
            <a:r>
              <a:rPr lang="en-US" altLang="zh-CN" sz="2400" dirty="0"/>
              <a:t>192.77.33/24</a:t>
            </a:r>
            <a:r>
              <a:rPr lang="zh-CN" altLang="en-US" sz="2400" dirty="0"/>
              <a:t>。公司的网络布局如下图所示。总部共有五个局域网，其中</a:t>
            </a:r>
            <a:r>
              <a:rPr lang="en-US" altLang="zh-CN" sz="2400" dirty="0"/>
              <a:t>LAN1</a:t>
            </a:r>
            <a:r>
              <a:rPr lang="zh-CN" altLang="en-US" sz="2400" dirty="0"/>
              <a:t>～</a:t>
            </a:r>
            <a:r>
              <a:rPr lang="en-US" altLang="zh-CN" sz="2400" dirty="0"/>
              <a:t>LAN4</a:t>
            </a:r>
            <a:r>
              <a:rPr lang="zh-CN" altLang="en-US" sz="2400" dirty="0"/>
              <a:t>都连接到路由器</a:t>
            </a:r>
            <a:r>
              <a:rPr lang="en-US" altLang="zh-CN" sz="2400" dirty="0"/>
              <a:t>R1</a:t>
            </a:r>
            <a:r>
              <a:rPr lang="zh-CN" altLang="en-US" sz="2400" dirty="0"/>
              <a:t>上，</a:t>
            </a:r>
            <a:r>
              <a:rPr lang="en-US" altLang="zh-CN" sz="2400" dirty="0"/>
              <a:t>R1</a:t>
            </a:r>
            <a:r>
              <a:rPr lang="zh-CN" altLang="en-US" sz="2400" dirty="0"/>
              <a:t>再通过</a:t>
            </a:r>
            <a:r>
              <a:rPr lang="en-US" altLang="zh-CN" sz="2400" dirty="0"/>
              <a:t>LAN5</a:t>
            </a:r>
            <a:r>
              <a:rPr lang="zh-CN" altLang="en-US" sz="2400" dirty="0"/>
              <a:t>与路由其</a:t>
            </a:r>
            <a:r>
              <a:rPr lang="en-US" altLang="zh-CN" sz="2400" dirty="0"/>
              <a:t>R5</a:t>
            </a:r>
            <a:r>
              <a:rPr lang="zh-CN" altLang="en-US" sz="2400" dirty="0"/>
              <a:t>相连。</a:t>
            </a:r>
            <a:r>
              <a:rPr lang="en-US" altLang="zh-CN" sz="2400" dirty="0"/>
              <a:t>R5</a:t>
            </a:r>
            <a:r>
              <a:rPr lang="zh-CN" altLang="en-US" sz="2400" dirty="0"/>
              <a:t>和远地的三个部门的局域网</a:t>
            </a:r>
            <a:r>
              <a:rPr lang="en-US" altLang="zh-CN" sz="2400" dirty="0"/>
              <a:t>LAN6</a:t>
            </a:r>
            <a:r>
              <a:rPr lang="zh-CN" altLang="en-US" sz="2400" dirty="0"/>
              <a:t>～</a:t>
            </a:r>
            <a:r>
              <a:rPr lang="en-US" altLang="zh-CN" sz="2400" dirty="0"/>
              <a:t>LAN8</a:t>
            </a:r>
            <a:r>
              <a:rPr lang="zh-CN" altLang="en-US" sz="2400" dirty="0"/>
              <a:t>通过广域网相连。每个局域网旁边标明的数字是局域网上主机数。试给每个局域网分配一个合适的网络前缀。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64" y="3789030"/>
            <a:ext cx="7020586" cy="280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0743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423</TotalTime>
  <Words>415</Words>
  <Application>Microsoft Office PowerPoint</Application>
  <PresentationFormat>A4 纸张(210x297 毫米)</PresentationFormat>
  <Paragraphs>41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黑体</vt:lpstr>
      <vt:lpstr>宋体</vt:lpstr>
      <vt:lpstr>Arial</vt:lpstr>
      <vt:lpstr>Times New Roman</vt:lpstr>
      <vt:lpstr>Wingdings</vt:lpstr>
      <vt:lpstr>Presentation</vt:lpstr>
      <vt:lpstr>第四章 4.3-4.4课后作业</vt:lpstr>
      <vt:lpstr>请写到作业本上</vt:lpstr>
      <vt:lpstr>请写到作业本上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106</cp:revision>
  <dcterms:created xsi:type="dcterms:W3CDTF">2016-10-01T05:27:00Z</dcterms:created>
  <dcterms:modified xsi:type="dcterms:W3CDTF">2021-01-22T03:56:47Z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
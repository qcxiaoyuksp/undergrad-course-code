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1956" r:id="rId2"/>
    <p:sldId id="1957" r:id="rId3"/>
    <p:sldId id="2002" r:id="rId4"/>
    <p:sldId id="2004" r:id="rId5"/>
    <p:sldId id="2005" r:id="rId6"/>
    <p:sldId id="2006" r:id="rId7"/>
    <p:sldId id="2007" r:id="rId8"/>
    <p:sldId id="2008" r:id="rId9"/>
    <p:sldId id="2009" r:id="rId10"/>
    <p:sldId id="2010" r:id="rId11"/>
    <p:sldId id="2011" r:id="rId12"/>
    <p:sldId id="2012" r:id="rId13"/>
    <p:sldId id="2013" r:id="rId14"/>
    <p:sldId id="2014" r:id="rId15"/>
    <p:sldId id="2015" r:id="rId16"/>
    <p:sldId id="2016" r:id="rId17"/>
    <p:sldId id="2017" r:id="rId18"/>
    <p:sldId id="2018" r:id="rId19"/>
    <p:sldId id="2019" r:id="rId20"/>
    <p:sldId id="2020" r:id="rId21"/>
    <p:sldId id="2021" r:id="rId22"/>
    <p:sldId id="2022" r:id="rId23"/>
    <p:sldId id="2023" r:id="rId24"/>
    <p:sldId id="2024" r:id="rId25"/>
    <p:sldId id="2025" r:id="rId26"/>
    <p:sldId id="2026" r:id="rId27"/>
    <p:sldId id="2027" r:id="rId28"/>
    <p:sldId id="2028" r:id="rId29"/>
    <p:sldId id="2029" r:id="rId30"/>
    <p:sldId id="2030" r:id="rId31"/>
    <p:sldId id="2031" r:id="rId32"/>
    <p:sldId id="2032" r:id="rId33"/>
    <p:sldId id="2033" r:id="rId34"/>
    <p:sldId id="2034" r:id="rId35"/>
    <p:sldId id="2035" r:id="rId36"/>
    <p:sldId id="2036" r:id="rId37"/>
    <p:sldId id="2037" r:id="rId38"/>
    <p:sldId id="2038" r:id="rId39"/>
    <p:sldId id="2039" r:id="rId40"/>
    <p:sldId id="2040" r:id="rId41"/>
    <p:sldId id="2041" r:id="rId42"/>
    <p:sldId id="2042" r:id="rId43"/>
    <p:sldId id="2043" r:id="rId44"/>
    <p:sldId id="2044" r:id="rId45"/>
    <p:sldId id="2045" r:id="rId46"/>
    <p:sldId id="2046" r:id="rId47"/>
    <p:sldId id="2047" r:id="rId48"/>
    <p:sldId id="2048" r:id="rId49"/>
    <p:sldId id="2049" r:id="rId50"/>
    <p:sldId id="2050" r:id="rId51"/>
    <p:sldId id="2051" r:id="rId52"/>
    <p:sldId id="2052" r:id="rId53"/>
    <p:sldId id="2053" r:id="rId54"/>
    <p:sldId id="2054" r:id="rId55"/>
    <p:sldId id="2055" r:id="rId56"/>
    <p:sldId id="2056" r:id="rId57"/>
    <p:sldId id="2057" r:id="rId58"/>
    <p:sldId id="2058" r:id="rId59"/>
    <p:sldId id="2059" r:id="rId60"/>
    <p:sldId id="2060" r:id="rId61"/>
    <p:sldId id="2061" r:id="rId62"/>
    <p:sldId id="2062" r:id="rId63"/>
    <p:sldId id="2063" r:id="rId64"/>
    <p:sldId id="2064" r:id="rId65"/>
    <p:sldId id="2065" r:id="rId66"/>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D3D4F-8AFC-4693-A6E9-41E1313FB157}"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288194" name="Rectangle 2"/>
          <p:cNvSpPr>
            <a:spLocks noGrp="1" noRot="1" noChangeAspect="1" noChangeArrowheads="1" noTextEdit="1"/>
          </p:cNvSpPr>
          <p:nvPr>
            <p:ph type="sldImg" idx="4294967295"/>
          </p:nvPr>
        </p:nvSpPr>
        <p:spPr>
          <a:ln/>
        </p:spPr>
      </p:sp>
      <p:sp>
        <p:nvSpPr>
          <p:cNvPr id="1288195"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7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1DFAC8-FCCE-45AC-BC6D-6B689FA395B6}"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377282" name="Rectangle 2"/>
          <p:cNvSpPr>
            <a:spLocks noGrp="1" noRot="1" noChangeAspect="1" noChangeArrowheads="1" noTextEdit="1"/>
          </p:cNvSpPr>
          <p:nvPr>
            <p:ph type="sldImg" idx="4294967295"/>
          </p:nvPr>
        </p:nvSpPr>
        <p:spPr>
          <a:ln/>
        </p:spPr>
      </p:sp>
      <p:sp>
        <p:nvSpPr>
          <p:cNvPr id="13772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13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997742-CB01-4F06-AA11-695A4AE543D2}"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381378" name="Rectangle 2"/>
          <p:cNvSpPr>
            <a:spLocks noGrp="1" noRot="1" noChangeAspect="1" noChangeArrowheads="1" noTextEdit="1"/>
          </p:cNvSpPr>
          <p:nvPr>
            <p:ph type="sldImg" idx="4294967295"/>
          </p:nvPr>
        </p:nvSpPr>
        <p:spPr>
          <a:ln/>
        </p:spPr>
      </p:sp>
      <p:sp>
        <p:nvSpPr>
          <p:cNvPr id="13813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95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05F99-3E58-498E-B531-B39389BEEDF2}"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389570" name="Rectangle 2"/>
          <p:cNvSpPr>
            <a:spLocks noGrp="1" noRot="1" noChangeAspect="1" noChangeArrowheads="1" noTextEdit="1"/>
          </p:cNvSpPr>
          <p:nvPr>
            <p:ph type="sldImg" idx="4294967295"/>
          </p:nvPr>
        </p:nvSpPr>
        <p:spPr>
          <a:ln/>
        </p:spPr>
      </p:sp>
      <p:sp>
        <p:nvSpPr>
          <p:cNvPr id="13895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8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699A64-3015-487E-825E-BA02571289C1}"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1398786" name="Rectangle 2"/>
          <p:cNvSpPr>
            <a:spLocks noGrp="1" noRot="1" noChangeAspect="1" noChangeArrowheads="1" noTextEdit="1"/>
          </p:cNvSpPr>
          <p:nvPr>
            <p:ph type="sldImg" idx="4294967295"/>
          </p:nvPr>
        </p:nvSpPr>
        <p:spPr>
          <a:ln/>
        </p:spPr>
      </p:sp>
      <p:sp>
        <p:nvSpPr>
          <p:cNvPr id="1398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08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EC8E37-DDF6-44F4-98C1-4546292AF4DB}"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400834" name="Rectangle 2"/>
          <p:cNvSpPr>
            <a:spLocks noGrp="1" noRot="1" noChangeAspect="1" noChangeArrowheads="1" noTextEdit="1"/>
          </p:cNvSpPr>
          <p:nvPr>
            <p:ph type="sldImg" idx="4294967295"/>
          </p:nvPr>
        </p:nvSpPr>
        <p:spPr>
          <a:ln/>
        </p:spPr>
      </p:sp>
      <p:sp>
        <p:nvSpPr>
          <p:cNvPr id="14008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27F6F4-30FC-4451-BEB1-2043FEC5E274}"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402882" name="Rectangle 2"/>
          <p:cNvSpPr>
            <a:spLocks noGrp="1" noRot="1" noChangeAspect="1" noChangeArrowheads="1" noTextEdit="1"/>
          </p:cNvSpPr>
          <p:nvPr>
            <p:ph type="sldImg" idx="4294967295"/>
          </p:nvPr>
        </p:nvSpPr>
        <p:spPr>
          <a:ln/>
        </p:spPr>
      </p:sp>
      <p:sp>
        <p:nvSpPr>
          <p:cNvPr id="14028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ED2433-ACF8-4A4C-BF39-4C1039B37284}"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404930" name="Rectangle 2"/>
          <p:cNvSpPr>
            <a:spLocks noGrp="1" noRot="1" noChangeAspect="1" noChangeArrowheads="1" noTextEdit="1"/>
          </p:cNvSpPr>
          <p:nvPr>
            <p:ph type="sldImg" idx="4294967295"/>
          </p:nvPr>
        </p:nvSpPr>
        <p:spPr>
          <a:ln/>
        </p:spPr>
      </p:sp>
      <p:sp>
        <p:nvSpPr>
          <p:cNvPr id="14049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69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E0E7413-6F86-4321-A555-8AF0E3755BD9}" type="slidenum">
              <a:rPr lang="en-US" altLang="zh-CN" smtClean="0"/>
              <a:pPr/>
              <a:t>23</a:t>
            </a:fld>
            <a:endParaRPr lang="en-US" altLang="zh-CN" smtClean="0"/>
          </a:p>
        </p:txBody>
      </p:sp>
      <p:sp>
        <p:nvSpPr>
          <p:cNvPr id="1406978" name="Rectangle 2"/>
          <p:cNvSpPr>
            <a:spLocks noGrp="1" noRot="1" noChangeAspect="1" noChangeArrowheads="1" noTextEdit="1"/>
          </p:cNvSpPr>
          <p:nvPr>
            <p:ph type="sldImg" idx="4294967295"/>
          </p:nvPr>
        </p:nvSpPr>
        <p:spPr>
          <a:ln/>
        </p:spPr>
      </p:sp>
      <p:sp>
        <p:nvSpPr>
          <p:cNvPr id="14069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90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107C28A-45A9-4F69-B0A7-B7BA44E565AB}" type="slidenum">
              <a:rPr lang="en-US" altLang="zh-CN" smtClean="0"/>
              <a:pPr/>
              <a:t>24</a:t>
            </a:fld>
            <a:endParaRPr lang="en-US" altLang="zh-CN" smtClean="0"/>
          </a:p>
        </p:txBody>
      </p:sp>
      <p:sp>
        <p:nvSpPr>
          <p:cNvPr id="1409026" name="Rectangle 2"/>
          <p:cNvSpPr>
            <a:spLocks noGrp="1" noRot="1" noChangeAspect="1" noChangeArrowheads="1" noTextEdit="1"/>
          </p:cNvSpPr>
          <p:nvPr>
            <p:ph type="sldImg" idx="4294967295"/>
          </p:nvPr>
        </p:nvSpPr>
        <p:spPr>
          <a:ln/>
        </p:spPr>
      </p:sp>
      <p:sp>
        <p:nvSpPr>
          <p:cNvPr id="14090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10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4E5F982-7092-4B62-A221-25910D65A86D}" type="slidenum">
              <a:rPr lang="en-US" altLang="zh-CN" smtClean="0"/>
              <a:pPr/>
              <a:t>25</a:t>
            </a:fld>
            <a:endParaRPr lang="en-US" altLang="zh-CN" smtClean="0"/>
          </a:p>
        </p:txBody>
      </p:sp>
      <p:sp>
        <p:nvSpPr>
          <p:cNvPr id="1411074" name="Rectangle 2"/>
          <p:cNvSpPr>
            <a:spLocks noGrp="1" noRot="1" noChangeAspect="1" noChangeArrowheads="1" noTextEdit="1"/>
          </p:cNvSpPr>
          <p:nvPr>
            <p:ph type="sldImg" idx="4294967295"/>
          </p:nvPr>
        </p:nvSpPr>
        <p:spPr>
          <a:ln/>
        </p:spPr>
      </p:sp>
      <p:sp>
        <p:nvSpPr>
          <p:cNvPr id="14110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FD0FF91-B3BF-44EB-A30A-96F149E4E12A}" type="slidenum">
              <a:rPr lang="en-US" altLang="zh-CN" smtClean="0"/>
              <a:pPr/>
              <a:t>26</a:t>
            </a:fld>
            <a:endParaRPr lang="en-US" altLang="zh-CN" smtClean="0"/>
          </a:p>
        </p:txBody>
      </p:sp>
      <p:sp>
        <p:nvSpPr>
          <p:cNvPr id="1413122" name="Rectangle 2"/>
          <p:cNvSpPr>
            <a:spLocks noGrp="1" noRot="1" noChangeAspect="1" noChangeArrowheads="1" noTextEdit="1"/>
          </p:cNvSpPr>
          <p:nvPr>
            <p:ph type="sldImg" idx="4294967295"/>
          </p:nvPr>
        </p:nvSpPr>
        <p:spPr>
          <a:ln/>
        </p:spPr>
      </p:sp>
      <p:sp>
        <p:nvSpPr>
          <p:cNvPr id="14131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5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D9DCF36-8711-42D8-BB23-3B678322C622}" type="slidenum">
              <a:rPr lang="en-US" altLang="zh-CN" smtClean="0"/>
              <a:pPr/>
              <a:t>27</a:t>
            </a:fld>
            <a:endParaRPr lang="en-US" altLang="zh-CN" smtClean="0"/>
          </a:p>
        </p:txBody>
      </p:sp>
      <p:sp>
        <p:nvSpPr>
          <p:cNvPr id="1415170" name="Rectangle 2"/>
          <p:cNvSpPr>
            <a:spLocks noGrp="1" noRot="1" noChangeAspect="1" noChangeArrowheads="1" noTextEdit="1"/>
          </p:cNvSpPr>
          <p:nvPr>
            <p:ph type="sldImg" idx="4294967295"/>
          </p:nvPr>
        </p:nvSpPr>
        <p:spPr>
          <a:ln/>
        </p:spPr>
      </p:sp>
      <p:sp>
        <p:nvSpPr>
          <p:cNvPr id="1415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7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542B306-457F-4397-AAD3-9C2E28314FCD}" type="slidenum">
              <a:rPr lang="en-US" altLang="zh-CN" smtClean="0"/>
              <a:pPr/>
              <a:t>28</a:t>
            </a:fld>
            <a:endParaRPr lang="en-US" altLang="zh-CN" smtClean="0"/>
          </a:p>
        </p:txBody>
      </p:sp>
      <p:sp>
        <p:nvSpPr>
          <p:cNvPr id="1417218" name="Rectangle 2"/>
          <p:cNvSpPr>
            <a:spLocks noGrp="1" noRot="1" noChangeAspect="1" noChangeArrowheads="1" noTextEdit="1"/>
          </p:cNvSpPr>
          <p:nvPr>
            <p:ph type="sldImg" idx="4294967295"/>
          </p:nvPr>
        </p:nvSpPr>
        <p:spPr>
          <a:ln/>
        </p:spPr>
      </p:sp>
      <p:sp>
        <p:nvSpPr>
          <p:cNvPr id="14172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92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91E4FFF-3381-4DB9-B0EF-49FA9717F66C}" type="slidenum">
              <a:rPr lang="en-US" altLang="zh-CN" smtClean="0"/>
              <a:pPr/>
              <a:t>29</a:t>
            </a:fld>
            <a:endParaRPr lang="en-US" altLang="zh-CN" smtClean="0"/>
          </a:p>
        </p:txBody>
      </p:sp>
      <p:sp>
        <p:nvSpPr>
          <p:cNvPr id="1419266" name="Rectangle 2"/>
          <p:cNvSpPr>
            <a:spLocks noGrp="1" noRot="1" noChangeAspect="1" noChangeArrowheads="1" noTextEdit="1"/>
          </p:cNvSpPr>
          <p:nvPr>
            <p:ph type="sldImg" idx="4294967295"/>
          </p:nvPr>
        </p:nvSpPr>
        <p:spPr>
          <a:ln/>
        </p:spPr>
      </p:sp>
      <p:sp>
        <p:nvSpPr>
          <p:cNvPr id="14192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13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E2A2F6C-11DB-4BB2-9332-7AC30329D1E2}" type="slidenum">
              <a:rPr lang="en-US" altLang="zh-CN" smtClean="0"/>
              <a:pPr/>
              <a:t>30</a:t>
            </a:fld>
            <a:endParaRPr lang="en-US" altLang="zh-CN" smtClean="0"/>
          </a:p>
        </p:txBody>
      </p:sp>
      <p:sp>
        <p:nvSpPr>
          <p:cNvPr id="1421314" name="Rectangle 2"/>
          <p:cNvSpPr>
            <a:spLocks noGrp="1" noRot="1" noChangeAspect="1" noChangeArrowheads="1" noTextEdit="1"/>
          </p:cNvSpPr>
          <p:nvPr>
            <p:ph type="sldImg" idx="4294967295"/>
          </p:nvPr>
        </p:nvSpPr>
        <p:spPr>
          <a:ln/>
        </p:spPr>
      </p:sp>
      <p:sp>
        <p:nvSpPr>
          <p:cNvPr id="14213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9819FB3-EC68-4A42-98BA-31D2F6A31D17}" type="slidenum">
              <a:rPr lang="en-US" altLang="zh-CN" smtClean="0"/>
              <a:pPr/>
              <a:t>31</a:t>
            </a:fld>
            <a:endParaRPr lang="en-US" altLang="zh-CN" smtClean="0"/>
          </a:p>
        </p:txBody>
      </p:sp>
      <p:sp>
        <p:nvSpPr>
          <p:cNvPr id="1423362" name="Rectangle 2"/>
          <p:cNvSpPr>
            <a:spLocks noGrp="1" noRot="1" noChangeAspect="1" noChangeArrowheads="1" noTextEdit="1"/>
          </p:cNvSpPr>
          <p:nvPr>
            <p:ph type="sldImg" idx="4294967295"/>
          </p:nvPr>
        </p:nvSpPr>
        <p:spPr>
          <a:ln/>
        </p:spPr>
      </p:sp>
      <p:sp>
        <p:nvSpPr>
          <p:cNvPr id="14233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54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3E74A0-781D-4C7D-8C53-315F8D408305}" type="slidenum">
              <a:rPr lang="en-US" altLang="zh-CN" smtClean="0"/>
              <a:pPr/>
              <a:t>32</a:t>
            </a:fld>
            <a:endParaRPr lang="en-US" altLang="zh-CN" smtClean="0"/>
          </a:p>
        </p:txBody>
      </p:sp>
      <p:sp>
        <p:nvSpPr>
          <p:cNvPr id="1425410" name="Rectangle 2"/>
          <p:cNvSpPr>
            <a:spLocks noGrp="1" noRot="1" noChangeAspect="1" noChangeArrowheads="1" noTextEdit="1"/>
          </p:cNvSpPr>
          <p:nvPr>
            <p:ph type="sldImg" idx="4294967295"/>
          </p:nvPr>
        </p:nvSpPr>
        <p:spPr>
          <a:ln/>
        </p:spPr>
      </p:sp>
      <p:sp>
        <p:nvSpPr>
          <p:cNvPr id="14254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74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B2D7711-B471-42EA-B452-C145B448922D}" type="slidenum">
              <a:rPr lang="en-US" altLang="zh-CN" smtClean="0"/>
              <a:pPr/>
              <a:t>33</a:t>
            </a:fld>
            <a:endParaRPr lang="en-US" altLang="zh-CN" smtClean="0"/>
          </a:p>
        </p:txBody>
      </p:sp>
      <p:sp>
        <p:nvSpPr>
          <p:cNvPr id="1427458" name="Rectangle 2"/>
          <p:cNvSpPr>
            <a:spLocks noGrp="1" noRot="1" noChangeAspect="1" noChangeArrowheads="1" noTextEdit="1"/>
          </p:cNvSpPr>
          <p:nvPr>
            <p:ph type="sldImg" idx="4294967295"/>
          </p:nvPr>
        </p:nvSpPr>
        <p:spPr>
          <a:ln/>
        </p:spPr>
      </p:sp>
      <p:sp>
        <p:nvSpPr>
          <p:cNvPr id="14274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95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D3B1A42-B0D4-4A51-A331-F8FA4A64571B}" type="slidenum">
              <a:rPr lang="en-US" altLang="zh-CN" smtClean="0"/>
              <a:pPr/>
              <a:t>34</a:t>
            </a:fld>
            <a:endParaRPr lang="en-US" altLang="zh-CN" smtClean="0"/>
          </a:p>
        </p:txBody>
      </p:sp>
      <p:sp>
        <p:nvSpPr>
          <p:cNvPr id="1429506" name="Rectangle 2"/>
          <p:cNvSpPr>
            <a:spLocks noGrp="1" noRot="1" noChangeAspect="1" noChangeArrowheads="1" noTextEdit="1"/>
          </p:cNvSpPr>
          <p:nvPr>
            <p:ph type="sldImg" idx="4294967295"/>
          </p:nvPr>
        </p:nvSpPr>
        <p:spPr>
          <a:ln/>
        </p:spPr>
      </p:sp>
      <p:sp>
        <p:nvSpPr>
          <p:cNvPr id="14295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1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FEE6AB-7C6C-4316-94C7-736661879249}"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431554" name="Rectangle 2"/>
          <p:cNvSpPr>
            <a:spLocks noGrp="1" noRot="1" noChangeAspect="1" noChangeArrowheads="1" noTextEdit="1"/>
          </p:cNvSpPr>
          <p:nvPr>
            <p:ph type="sldImg" idx="4294967295"/>
          </p:nvPr>
        </p:nvSpPr>
        <p:spPr>
          <a:ln/>
        </p:spPr>
      </p:sp>
      <p:sp>
        <p:nvSpPr>
          <p:cNvPr id="14315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687B00-CC42-4802-9DD2-B3B52E8A562F}"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1433602" name="Rectangle 2"/>
          <p:cNvSpPr>
            <a:spLocks noGrp="1" noRot="1" noChangeAspect="1" noChangeArrowheads="1" noTextEdit="1"/>
          </p:cNvSpPr>
          <p:nvPr>
            <p:ph type="sldImg" idx="4294967295"/>
          </p:nvPr>
        </p:nvSpPr>
        <p:spPr>
          <a:ln/>
        </p:spPr>
      </p:sp>
      <p:sp>
        <p:nvSpPr>
          <p:cNvPr id="14336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6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0A43DC-8F12-49EA-BFB9-286AFD792F98}"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1435650" name="Rectangle 2"/>
          <p:cNvSpPr>
            <a:spLocks noGrp="1" noRot="1" noChangeAspect="1" noChangeArrowheads="1" noTextEdit="1"/>
          </p:cNvSpPr>
          <p:nvPr>
            <p:ph type="sldImg" idx="4294967295"/>
          </p:nvPr>
        </p:nvSpPr>
        <p:spPr>
          <a:ln/>
        </p:spPr>
      </p:sp>
      <p:sp>
        <p:nvSpPr>
          <p:cNvPr id="14356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76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5DE082-7D9D-4F08-BD0C-12BE4D227A84}"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437698" name="Rectangle 2"/>
          <p:cNvSpPr>
            <a:spLocks noGrp="1" noRot="1" noChangeAspect="1" noChangeArrowheads="1" noTextEdit="1"/>
          </p:cNvSpPr>
          <p:nvPr>
            <p:ph type="sldImg" idx="4294967295"/>
          </p:nvPr>
        </p:nvSpPr>
        <p:spPr>
          <a:ln/>
        </p:spPr>
      </p:sp>
      <p:sp>
        <p:nvSpPr>
          <p:cNvPr id="14376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1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FF507-73E8-460C-8467-26638CD4B8EE}"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441794" name="Rectangle 2"/>
          <p:cNvSpPr>
            <a:spLocks noGrp="1" noRot="1" noChangeAspect="1" noChangeArrowheads="1" noTextEdit="1"/>
          </p:cNvSpPr>
          <p:nvPr>
            <p:ph type="sldImg" idx="4294967295"/>
          </p:nvPr>
        </p:nvSpPr>
        <p:spPr>
          <a:ln/>
        </p:spPr>
      </p:sp>
      <p:sp>
        <p:nvSpPr>
          <p:cNvPr id="1441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FDF8D3-0FB4-462C-8FF7-935C02F9AAA2}"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1443842" name="Rectangle 2"/>
          <p:cNvSpPr>
            <a:spLocks noGrp="1" noRot="1" noChangeAspect="1" noChangeArrowheads="1" noTextEdit="1"/>
          </p:cNvSpPr>
          <p:nvPr>
            <p:ph type="sldImg" idx="4294967295"/>
          </p:nvPr>
        </p:nvSpPr>
        <p:spPr>
          <a:ln/>
        </p:spPr>
      </p:sp>
      <p:sp>
        <p:nvSpPr>
          <p:cNvPr id="1443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5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293F17-7321-4DD2-AEF6-937AE3F568B1}"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445890" name="Rectangle 2"/>
          <p:cNvSpPr>
            <a:spLocks noGrp="1" noRot="1" noChangeAspect="1" noChangeArrowheads="1" noTextEdit="1"/>
          </p:cNvSpPr>
          <p:nvPr>
            <p:ph type="sldImg" idx="4294967295"/>
          </p:nvPr>
        </p:nvSpPr>
        <p:spPr>
          <a:ln/>
        </p:spPr>
      </p:sp>
      <p:sp>
        <p:nvSpPr>
          <p:cNvPr id="1445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8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2597940-E08C-4A4A-B861-03FF697CC1CA}" type="slidenum">
              <a:rPr lang="en-US" altLang="zh-CN" smtClean="0"/>
              <a:pPr/>
              <a:t>45</a:t>
            </a:fld>
            <a:endParaRPr lang="en-US" altLang="zh-CN" smtClean="0"/>
          </a:p>
        </p:txBody>
      </p:sp>
      <p:sp>
        <p:nvSpPr>
          <p:cNvPr id="1448962" name="Rectangle 2"/>
          <p:cNvSpPr>
            <a:spLocks noGrp="1" noRot="1" noChangeAspect="1" noChangeArrowheads="1" noTextEdit="1"/>
          </p:cNvSpPr>
          <p:nvPr>
            <p:ph type="sldImg" idx="4294967295"/>
          </p:nvPr>
        </p:nvSpPr>
        <p:spPr>
          <a:ln/>
        </p:spPr>
      </p:sp>
      <p:sp>
        <p:nvSpPr>
          <p:cNvPr id="1448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1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EFC1E56-F73E-4A50-A74B-74C2013241C4}" type="slidenum">
              <a:rPr lang="en-US" altLang="zh-CN" smtClean="0"/>
              <a:pPr/>
              <a:t>46</a:t>
            </a:fld>
            <a:endParaRPr lang="en-US" altLang="zh-CN" smtClean="0"/>
          </a:p>
        </p:txBody>
      </p:sp>
      <p:sp>
        <p:nvSpPr>
          <p:cNvPr id="1451010" name="Rectangle 2"/>
          <p:cNvSpPr>
            <a:spLocks noGrp="1" noRot="1" noChangeAspect="1" noChangeArrowheads="1" noTextEdit="1"/>
          </p:cNvSpPr>
          <p:nvPr>
            <p:ph type="sldImg" idx="4294967295"/>
          </p:nvPr>
        </p:nvSpPr>
        <p:spPr>
          <a:ln/>
        </p:spPr>
      </p:sp>
      <p:sp>
        <p:nvSpPr>
          <p:cNvPr id="14510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3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A0AE8E5-5D4C-4E1C-B07E-09BBBB50A15D}" type="slidenum">
              <a:rPr lang="en-US" altLang="zh-CN" smtClean="0"/>
              <a:pPr/>
              <a:t>47</a:t>
            </a:fld>
            <a:endParaRPr lang="en-US" altLang="zh-CN" smtClean="0"/>
          </a:p>
        </p:txBody>
      </p:sp>
      <p:sp>
        <p:nvSpPr>
          <p:cNvPr id="1453058" name="Rectangle 2"/>
          <p:cNvSpPr>
            <a:spLocks noGrp="1" noRot="1" noChangeAspect="1" noChangeArrowheads="1" noTextEdit="1"/>
          </p:cNvSpPr>
          <p:nvPr>
            <p:ph type="sldImg" idx="4294967295"/>
          </p:nvPr>
        </p:nvSpPr>
        <p:spPr>
          <a:ln/>
        </p:spPr>
      </p:sp>
      <p:sp>
        <p:nvSpPr>
          <p:cNvPr id="1453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5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120EC72-43DD-4F3E-BFDF-1C2210F60C63}" type="slidenum">
              <a:rPr lang="en-US" altLang="zh-CN" smtClean="0"/>
              <a:pPr/>
              <a:t>48</a:t>
            </a:fld>
            <a:endParaRPr lang="en-US" altLang="zh-CN" smtClean="0"/>
          </a:p>
        </p:txBody>
      </p:sp>
      <p:sp>
        <p:nvSpPr>
          <p:cNvPr id="1455106" name="Rectangle 2"/>
          <p:cNvSpPr>
            <a:spLocks noGrp="1" noRot="1" noChangeAspect="1" noChangeArrowheads="1" noTextEdit="1"/>
          </p:cNvSpPr>
          <p:nvPr>
            <p:ph type="sldImg" idx="4294967295"/>
          </p:nvPr>
        </p:nvSpPr>
        <p:spPr>
          <a:ln/>
        </p:spPr>
      </p:sp>
      <p:sp>
        <p:nvSpPr>
          <p:cNvPr id="1455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7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E31490-D249-4043-8B84-A38ADF8FBC6C}"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1457154" name="Rectangle 2"/>
          <p:cNvSpPr>
            <a:spLocks noGrp="1" noRot="1" noChangeAspect="1" noChangeArrowheads="1" noTextEdit="1"/>
          </p:cNvSpPr>
          <p:nvPr>
            <p:ph type="sldImg" idx="4294967295"/>
          </p:nvPr>
        </p:nvSpPr>
        <p:spPr>
          <a:ln/>
        </p:spPr>
      </p:sp>
      <p:sp>
        <p:nvSpPr>
          <p:cNvPr id="1457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9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A48F1E-359F-4723-B61A-DD106E0655EC}"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1459202" name="Rectangle 2"/>
          <p:cNvSpPr>
            <a:spLocks noGrp="1" noRot="1" noChangeAspect="1" noChangeArrowheads="1" noTextEdit="1"/>
          </p:cNvSpPr>
          <p:nvPr>
            <p:ph type="sldImg" idx="4294967295"/>
          </p:nvPr>
        </p:nvSpPr>
        <p:spPr>
          <a:ln/>
        </p:spPr>
      </p:sp>
      <p:sp>
        <p:nvSpPr>
          <p:cNvPr id="1459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1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CA24D7-1196-4F43-B42A-BC371C9931E4}"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1461250" name="Rectangle 2"/>
          <p:cNvSpPr>
            <a:spLocks noGrp="1" noRot="1" noChangeAspect="1" noChangeArrowheads="1" noTextEdit="1"/>
          </p:cNvSpPr>
          <p:nvPr>
            <p:ph type="sldImg" idx="4294967295"/>
          </p:nvPr>
        </p:nvSpPr>
        <p:spPr>
          <a:ln/>
        </p:spPr>
      </p:sp>
      <p:sp>
        <p:nvSpPr>
          <p:cNvPr id="1461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3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4465A6-0616-4894-A038-4A182F62F1F5}" type="slidenum">
              <a:rPr lang="en-US" altLang="zh-CN" smtClean="0">
                <a:latin typeface="宋体" panose="02010600030101010101" pitchFamily="2" charset="-122"/>
              </a:rPr>
              <a:pPr eaLnBrk="1" hangingPunct="1"/>
              <a:t>52</a:t>
            </a:fld>
            <a:endParaRPr lang="en-US" altLang="zh-CN" smtClean="0">
              <a:latin typeface="宋体" panose="02010600030101010101" pitchFamily="2" charset="-122"/>
            </a:endParaRPr>
          </a:p>
        </p:txBody>
      </p:sp>
      <p:sp>
        <p:nvSpPr>
          <p:cNvPr id="1463298" name="Rectangle 2"/>
          <p:cNvSpPr>
            <a:spLocks noGrp="1" noRot="1" noChangeAspect="1" noChangeArrowheads="1" noTextEdit="1"/>
          </p:cNvSpPr>
          <p:nvPr>
            <p:ph type="sldImg" idx="4294967295"/>
          </p:nvPr>
        </p:nvSpPr>
        <p:spPr>
          <a:ln/>
        </p:spPr>
      </p:sp>
      <p:sp>
        <p:nvSpPr>
          <p:cNvPr id="1463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5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BC16E8-AEC4-4305-859C-7881133AC6B3}"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1465346" name="Rectangle 2"/>
          <p:cNvSpPr>
            <a:spLocks noGrp="1" noRot="1" noChangeAspect="1" noChangeArrowheads="1" noTextEdit="1"/>
          </p:cNvSpPr>
          <p:nvPr>
            <p:ph type="sldImg" idx="4294967295"/>
          </p:nvPr>
        </p:nvSpPr>
        <p:spPr>
          <a:ln/>
        </p:spPr>
      </p:sp>
      <p:sp>
        <p:nvSpPr>
          <p:cNvPr id="1465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7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47E178-59A5-4550-B40E-EEF547EB6DAE}"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1467394" name="Rectangle 2"/>
          <p:cNvSpPr>
            <a:spLocks noGrp="1" noRot="1" noChangeAspect="1" noChangeArrowheads="1" noTextEdit="1"/>
          </p:cNvSpPr>
          <p:nvPr>
            <p:ph type="sldImg" idx="4294967295"/>
          </p:nvPr>
        </p:nvSpPr>
        <p:spPr>
          <a:ln/>
        </p:spPr>
      </p:sp>
      <p:sp>
        <p:nvSpPr>
          <p:cNvPr id="1467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9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6E66CE-D28F-4CFA-97C3-0E02498128A6}"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1469442" name="Rectangle 2"/>
          <p:cNvSpPr>
            <a:spLocks noGrp="1" noRot="1" noChangeAspect="1" noChangeArrowheads="1" noTextEdit="1"/>
          </p:cNvSpPr>
          <p:nvPr>
            <p:ph type="sldImg" idx="4294967295"/>
          </p:nvPr>
        </p:nvSpPr>
        <p:spPr>
          <a:ln/>
        </p:spPr>
      </p:sp>
      <p:sp>
        <p:nvSpPr>
          <p:cNvPr id="1469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1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CE5B6D-2814-4450-B58D-87EBBD35F594}"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1471490" name="Rectangle 2"/>
          <p:cNvSpPr>
            <a:spLocks noGrp="1" noRot="1" noChangeAspect="1" noChangeArrowheads="1" noTextEdit="1"/>
          </p:cNvSpPr>
          <p:nvPr>
            <p:ph type="sldImg" idx="4294967295"/>
          </p:nvPr>
        </p:nvSpPr>
        <p:spPr>
          <a:ln/>
        </p:spPr>
      </p:sp>
      <p:sp>
        <p:nvSpPr>
          <p:cNvPr id="1471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5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C749C7-F313-455B-9F58-54A2B22068B8}" type="slidenum">
              <a:rPr lang="en-US" altLang="zh-CN" smtClean="0">
                <a:latin typeface="宋体" panose="02010600030101010101" pitchFamily="2" charset="-122"/>
              </a:rPr>
              <a:pPr eaLnBrk="1" hangingPunct="1"/>
              <a:t>59</a:t>
            </a:fld>
            <a:endParaRPr lang="en-US" altLang="zh-CN" smtClean="0">
              <a:latin typeface="宋体" panose="02010600030101010101" pitchFamily="2" charset="-122"/>
            </a:endParaRPr>
          </a:p>
        </p:txBody>
      </p:sp>
      <p:sp>
        <p:nvSpPr>
          <p:cNvPr id="1475586" name="Rectangle 2"/>
          <p:cNvSpPr>
            <a:spLocks noGrp="1" noRot="1" noChangeAspect="1" noChangeArrowheads="1" noTextEdit="1"/>
          </p:cNvSpPr>
          <p:nvPr>
            <p:ph type="sldImg" idx="4294967295"/>
          </p:nvPr>
        </p:nvSpPr>
        <p:spPr>
          <a:ln/>
        </p:spPr>
      </p:sp>
      <p:sp>
        <p:nvSpPr>
          <p:cNvPr id="1475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2B50B8-6955-4367-99A0-60B99CB4B9DB}" type="slidenum">
              <a:rPr lang="en-US" altLang="zh-CN" smtClean="0">
                <a:latin typeface="宋体" panose="02010600030101010101" pitchFamily="2" charset="-122"/>
              </a:rPr>
              <a:pPr eaLnBrk="1" hangingPunct="1"/>
              <a:t>60</a:t>
            </a:fld>
            <a:endParaRPr lang="en-US" altLang="zh-CN" smtClean="0">
              <a:latin typeface="宋体" panose="02010600030101010101" pitchFamily="2" charset="-122"/>
            </a:endParaRPr>
          </a:p>
        </p:txBody>
      </p:sp>
      <p:sp>
        <p:nvSpPr>
          <p:cNvPr id="1477634" name="Rectangle 2"/>
          <p:cNvSpPr>
            <a:spLocks noGrp="1" noRot="1" noChangeAspect="1" noChangeArrowheads="1" noTextEdit="1"/>
          </p:cNvSpPr>
          <p:nvPr>
            <p:ph type="sldImg" idx="4294967295"/>
          </p:nvPr>
        </p:nvSpPr>
        <p:spPr>
          <a:ln/>
        </p:spPr>
      </p:sp>
      <p:sp>
        <p:nvSpPr>
          <p:cNvPr id="1477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9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A5AA78-255B-421D-ACE3-D3F4A60A41AF}" type="slidenum">
              <a:rPr lang="en-US" altLang="zh-CN" smtClean="0">
                <a:latin typeface="宋体" panose="02010600030101010101" pitchFamily="2" charset="-122"/>
              </a:rPr>
              <a:pPr eaLnBrk="1" hangingPunct="1"/>
              <a:t>61</a:t>
            </a:fld>
            <a:endParaRPr lang="en-US" altLang="zh-CN" smtClean="0">
              <a:latin typeface="宋体" panose="02010600030101010101" pitchFamily="2" charset="-122"/>
            </a:endParaRPr>
          </a:p>
        </p:txBody>
      </p:sp>
      <p:sp>
        <p:nvSpPr>
          <p:cNvPr id="1479682" name="Rectangle 2"/>
          <p:cNvSpPr>
            <a:spLocks noGrp="1" noRot="1" noChangeAspect="1" noChangeArrowheads="1" noTextEdit="1"/>
          </p:cNvSpPr>
          <p:nvPr>
            <p:ph type="sldImg" idx="4294967295"/>
          </p:nvPr>
        </p:nvSpPr>
        <p:spPr>
          <a:ln/>
        </p:spPr>
      </p:sp>
      <p:sp>
        <p:nvSpPr>
          <p:cNvPr id="1479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69"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5 </a:t>
            </a:r>
            <a:r>
              <a:rPr lang="zh-CN" altLang="en-US" smtClean="0">
                <a:latin typeface="Arial" panose="020B0604020202020204" pitchFamily="34" charset="0"/>
                <a:ea typeface="黑体" panose="02010609060101010101" pitchFamily="49" charset="-122"/>
              </a:rPr>
              <a:t>章  运输层</a:t>
            </a:r>
          </a:p>
        </p:txBody>
      </p:sp>
      <p:sp>
        <p:nvSpPr>
          <p:cNvPr id="1287170"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5.4-5.6</a:t>
            </a:r>
            <a:endParaRPr lang="zh-CN" altLang="en-US" dirty="0" smtClean="0">
              <a:latin typeface="黑体" panose="02010609060101010101" pitchFamily="49" charset="-122"/>
              <a:ea typeface="宋体" panose="02010600030101010101" pitchFamily="2" charset="-122"/>
            </a:endParaRPr>
          </a:p>
        </p:txBody>
      </p:sp>
      <p:sp>
        <p:nvSpPr>
          <p:cNvPr id="1287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5DFF6-F5DA-465C-B287-F18645B4BE58}" type="slidenum">
              <a:rPr lang="zh-CN" altLang="en-US" smtClean="0"/>
              <a:pPr eaLnBrk="1" hangingPunct="1"/>
              <a:t>1</a:t>
            </a:fld>
            <a:endParaRPr lang="en-US" altLang="zh-CN" smtClean="0"/>
          </a:p>
        </p:txBody>
      </p:sp>
      <p:sp>
        <p:nvSpPr>
          <p:cNvPr id="1287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7"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5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运输</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128921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5.4  </a:t>
            </a:r>
            <a:r>
              <a:rPr lang="zh-CN" altLang="zh-CN" sz="2800" dirty="0" smtClean="0">
                <a:ea typeface="黑体" panose="02010609060101010101" pitchFamily="49" charset="-122"/>
              </a:rPr>
              <a:t>可靠传输的工作原理</a:t>
            </a:r>
          </a:p>
          <a:p>
            <a:r>
              <a:rPr lang="en-US" altLang="zh-CN" sz="2800" dirty="0" smtClean="0">
                <a:ea typeface="黑体" panose="02010609060101010101" pitchFamily="49" charset="-122"/>
              </a:rPr>
              <a:t>5.5  TCP </a:t>
            </a:r>
            <a:r>
              <a:rPr lang="zh-CN" altLang="zh-CN" sz="2800" dirty="0" smtClean="0">
                <a:ea typeface="黑体" panose="02010609060101010101" pitchFamily="49" charset="-122"/>
              </a:rPr>
              <a:t>报文段的首部格式</a:t>
            </a:r>
          </a:p>
          <a:p>
            <a:r>
              <a:rPr lang="en-US" altLang="zh-CN" sz="2800" dirty="0" smtClean="0">
                <a:ea typeface="黑体" panose="02010609060101010101" pitchFamily="49" charset="-122"/>
              </a:rPr>
              <a:t>5.6  TCP </a:t>
            </a:r>
            <a:r>
              <a:rPr lang="zh-CN" altLang="zh-CN" sz="2800" dirty="0" smtClean="0">
                <a:ea typeface="黑体" panose="02010609060101010101" pitchFamily="49" charset="-122"/>
              </a:rPr>
              <a:t>可靠传输</a:t>
            </a:r>
            <a:r>
              <a:rPr lang="zh-CN" altLang="zh-CN" sz="2800" smtClean="0">
                <a:ea typeface="黑体" panose="02010609060101010101" pitchFamily="49" charset="-122"/>
              </a:rPr>
              <a:t>的实现</a:t>
            </a:r>
            <a:endParaRPr lang="zh-CN" altLang="zh-CN" sz="2800" dirty="0" smtClean="0">
              <a:ea typeface="黑体" panose="02010609060101010101" pitchFamily="49" charset="-122"/>
            </a:endParaRPr>
          </a:p>
        </p:txBody>
      </p:sp>
      <p:sp>
        <p:nvSpPr>
          <p:cNvPr id="1289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9FFB69-87C2-430A-9CCD-5067B2933901}" type="slidenum">
              <a:rPr lang="zh-CN" altLang="en-US" smtClean="0"/>
              <a:pPr eaLnBrk="1" hangingPunct="1"/>
              <a:t>2</a:t>
            </a:fld>
            <a:endParaRPr lang="en-US" altLang="zh-CN" smtClean="0"/>
          </a:p>
        </p:txBody>
      </p:sp>
      <p:sp>
        <p:nvSpPr>
          <p:cNvPr id="1289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625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5.4  </a:t>
            </a:r>
            <a:r>
              <a:rPr lang="zh-CN" altLang="zh-CN" smtClean="0">
                <a:ea typeface="黑体" panose="02010609060101010101" pitchFamily="49" charset="-122"/>
              </a:rPr>
              <a:t>可靠传输的工作原理</a:t>
            </a:r>
          </a:p>
        </p:txBody>
      </p:sp>
      <p:sp>
        <p:nvSpPr>
          <p:cNvPr id="137625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5.4.1  </a:t>
            </a:r>
            <a:r>
              <a:rPr lang="zh-CN" altLang="zh-CN" smtClean="0">
                <a:ea typeface="黑体" panose="02010609060101010101" pitchFamily="49" charset="-122"/>
              </a:rPr>
              <a:t>停止等待协议</a:t>
            </a:r>
          </a:p>
          <a:p>
            <a:r>
              <a:rPr lang="en-US" altLang="zh-CN" smtClean="0">
                <a:ea typeface="黑体" panose="02010609060101010101" pitchFamily="49" charset="-122"/>
              </a:rPr>
              <a:t>5.4.2  </a:t>
            </a:r>
            <a:r>
              <a:rPr lang="zh-CN" altLang="zh-CN" smtClean="0">
                <a:ea typeface="黑体" panose="02010609060101010101" pitchFamily="49" charset="-122"/>
              </a:rPr>
              <a:t>连续</a:t>
            </a:r>
            <a:r>
              <a:rPr lang="en-US" altLang="zh-CN" smtClean="0">
                <a:ea typeface="黑体" panose="02010609060101010101" pitchFamily="49" charset="-122"/>
              </a:rPr>
              <a:t> ARQ </a:t>
            </a:r>
            <a:r>
              <a:rPr lang="zh-CN" altLang="zh-CN" smtClean="0">
                <a:ea typeface="黑体" panose="02010609060101010101" pitchFamily="49" charset="-122"/>
              </a:rPr>
              <a:t>协议</a:t>
            </a:r>
          </a:p>
        </p:txBody>
      </p:sp>
      <p:sp>
        <p:nvSpPr>
          <p:cNvPr id="13762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1B4BCC-9A4C-410F-A577-0B60115FA5E9}" type="slidenum">
              <a:rPr lang="zh-CN" altLang="en-US" smtClean="0"/>
              <a:pPr eaLnBrk="1" hangingPunct="1"/>
              <a:t>3</a:t>
            </a:fld>
            <a:endParaRPr lang="en-US" altLang="zh-CN" smtClean="0"/>
          </a:p>
        </p:txBody>
      </p:sp>
      <p:sp>
        <p:nvSpPr>
          <p:cNvPr id="13762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5.4.1  </a:t>
            </a:r>
            <a:r>
              <a:rPr lang="zh-CN" altLang="zh-CN" smtClean="0">
                <a:ea typeface="黑体" panose="02010609060101010101" pitchFamily="49" charset="-122"/>
              </a:rPr>
              <a:t>停止等待协议</a:t>
            </a:r>
          </a:p>
        </p:txBody>
      </p:sp>
      <p:sp>
        <p:nvSpPr>
          <p:cNvPr id="1380354"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“停止等待”就是每发送完一个分组就停止发送，等待对方的确认。在收到确认后再发送下一个分组。</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全双工通信的双方既是发送方也是接收方。</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为了讨论问题的方便，我们仅考虑</a:t>
            </a:r>
            <a:r>
              <a:rPr lang="en-US" altLang="zh-CN" smtClean="0">
                <a:ea typeface="黑体" panose="02010609060101010101" pitchFamily="49" charset="-122"/>
              </a:rPr>
              <a:t> A </a:t>
            </a:r>
            <a:r>
              <a:rPr lang="zh-CN" altLang="zh-CN" smtClean="0">
                <a:ea typeface="黑体" panose="02010609060101010101" pitchFamily="49" charset="-122"/>
              </a:rPr>
              <a:t>发送数据而</a:t>
            </a:r>
            <a:r>
              <a:rPr lang="en-US" altLang="zh-CN" smtClean="0">
                <a:ea typeface="黑体" panose="02010609060101010101" pitchFamily="49" charset="-122"/>
              </a:rPr>
              <a:t> B </a:t>
            </a:r>
            <a:r>
              <a:rPr lang="zh-CN" altLang="zh-CN" smtClean="0">
                <a:ea typeface="黑体" panose="02010609060101010101" pitchFamily="49" charset="-122"/>
              </a:rPr>
              <a:t>接收数据并发送确认。因此</a:t>
            </a:r>
            <a:r>
              <a:rPr lang="en-US" altLang="zh-CN" smtClean="0">
                <a:ea typeface="黑体" panose="02010609060101010101" pitchFamily="49" charset="-122"/>
              </a:rPr>
              <a:t> A </a:t>
            </a:r>
            <a:r>
              <a:rPr lang="zh-CN" altLang="zh-CN" smtClean="0">
                <a:ea typeface="黑体" panose="02010609060101010101" pitchFamily="49" charset="-122"/>
              </a:rPr>
              <a:t>叫做</a:t>
            </a:r>
            <a:r>
              <a:rPr lang="zh-CN" altLang="zh-CN" smtClean="0">
                <a:solidFill>
                  <a:srgbClr val="FF0000"/>
                </a:solidFill>
                <a:ea typeface="黑体" panose="02010609060101010101" pitchFamily="49" charset="-122"/>
              </a:rPr>
              <a:t>发送方，</a:t>
            </a:r>
            <a:r>
              <a:rPr lang="zh-CN" altLang="zh-CN" smtClean="0">
                <a:ea typeface="黑体" panose="02010609060101010101" pitchFamily="49" charset="-122"/>
              </a:rPr>
              <a:t>而</a:t>
            </a:r>
            <a:r>
              <a:rPr lang="en-US" altLang="zh-CN" smtClean="0">
                <a:ea typeface="黑体" panose="02010609060101010101" pitchFamily="49" charset="-122"/>
              </a:rPr>
              <a:t> B </a:t>
            </a:r>
            <a:r>
              <a:rPr lang="zh-CN" altLang="zh-CN" smtClean="0">
                <a:ea typeface="黑体" panose="02010609060101010101" pitchFamily="49" charset="-122"/>
              </a:rPr>
              <a:t>叫做</a:t>
            </a:r>
            <a:r>
              <a:rPr lang="zh-CN" altLang="zh-CN" smtClean="0">
                <a:solidFill>
                  <a:srgbClr val="FF0000"/>
                </a:solidFill>
                <a:ea typeface="黑体" panose="02010609060101010101" pitchFamily="49" charset="-122"/>
              </a:rPr>
              <a:t>接收方。</a:t>
            </a:r>
          </a:p>
        </p:txBody>
      </p:sp>
      <p:sp>
        <p:nvSpPr>
          <p:cNvPr id="13803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6289AA-1DAC-4C99-9F23-5F8F2BEB75E0}" type="slidenum">
              <a:rPr lang="zh-CN" altLang="en-US" smtClean="0"/>
              <a:pPr eaLnBrk="1" hangingPunct="1"/>
              <a:t>4</a:t>
            </a:fld>
            <a:endParaRPr lang="en-US" altLang="zh-CN" smtClean="0"/>
          </a:p>
        </p:txBody>
      </p:sp>
      <p:sp>
        <p:nvSpPr>
          <p:cNvPr id="13803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01" name="标题 1"/>
          <p:cNvSpPr>
            <a:spLocks noGrp="1" noChangeArrowheads="1"/>
          </p:cNvSpPr>
          <p:nvPr>
            <p:ph type="title"/>
          </p:nvPr>
        </p:nvSpPr>
        <p:spPr/>
        <p:txBody>
          <a:bodyPr/>
          <a:lstStyle/>
          <a:p>
            <a:r>
              <a:rPr lang="en-US" altLang="zh-CN" smtClean="0">
                <a:ea typeface="黑体" panose="02010609060101010101" pitchFamily="49" charset="-122"/>
              </a:rPr>
              <a:t>1. </a:t>
            </a:r>
            <a:r>
              <a:rPr lang="zh-CN" altLang="zh-CN" smtClean="0">
                <a:ea typeface="黑体" panose="02010609060101010101" pitchFamily="49" charset="-122"/>
              </a:rPr>
              <a:t>无差错情况</a:t>
            </a:r>
            <a:endParaRPr lang="zh-CN" altLang="en-US" smtClean="0">
              <a:ea typeface="黑体" panose="02010609060101010101" pitchFamily="49" charset="-122"/>
            </a:endParaRPr>
          </a:p>
        </p:txBody>
      </p:sp>
      <p:sp>
        <p:nvSpPr>
          <p:cNvPr id="1382402" name="矩形 3"/>
          <p:cNvSpPr>
            <a:spLocks noChangeArrowheads="1"/>
          </p:cNvSpPr>
          <p:nvPr/>
        </p:nvSpPr>
        <p:spPr bwMode="auto">
          <a:xfrm>
            <a:off x="560388" y="1125538"/>
            <a:ext cx="9058275" cy="1292225"/>
          </a:xfrm>
          <a:prstGeom prst="rect">
            <a:avLst/>
          </a:prstGeom>
          <a:solidFill>
            <a:srgbClr val="66FF66"/>
          </a:solidFill>
          <a:ln w="9525">
            <a:solidFill>
              <a:srgbClr val="000099"/>
            </a:solidFill>
            <a:round/>
            <a:headEnd/>
            <a:tailEnd/>
          </a:ln>
        </p:spPr>
        <p:txBody>
          <a:bodyPr>
            <a:spAutoFit/>
          </a:bodyPr>
          <a:lstStyle/>
          <a:p>
            <a:pPr eaLnBrk="0" hangingPunct="0"/>
            <a:r>
              <a:rPr lang="en-US" altLang="zh-CN" sz="2600" b="1">
                <a:solidFill>
                  <a:srgbClr val="000099"/>
                </a:solidFill>
                <a:ea typeface="黑体" panose="02010609060101010101" pitchFamily="49" charset="-122"/>
              </a:rPr>
              <a:t>A </a:t>
            </a:r>
            <a:r>
              <a:rPr lang="zh-CN" altLang="zh-CN" sz="2600" b="1">
                <a:solidFill>
                  <a:srgbClr val="000099"/>
                </a:solidFill>
                <a:ea typeface="黑体" panose="02010609060101010101" pitchFamily="49" charset="-122"/>
              </a:rPr>
              <a:t>发送分组</a:t>
            </a:r>
            <a:r>
              <a:rPr lang="en-US" altLang="zh-CN" sz="2600" b="1">
                <a:solidFill>
                  <a:srgbClr val="000099"/>
                </a:solidFill>
                <a:ea typeface="黑体" panose="02010609060101010101" pitchFamily="49" charset="-122"/>
              </a:rPr>
              <a:t> M1</a:t>
            </a:r>
            <a:r>
              <a:rPr lang="zh-CN" altLang="zh-CN" sz="2600" b="1">
                <a:solidFill>
                  <a:srgbClr val="000099"/>
                </a:solidFill>
                <a:ea typeface="黑体" panose="02010609060101010101" pitchFamily="49" charset="-122"/>
              </a:rPr>
              <a:t>，发完就暂停发送，等待</a:t>
            </a:r>
            <a:r>
              <a:rPr lang="en-US" altLang="zh-CN" sz="2600" b="1">
                <a:solidFill>
                  <a:srgbClr val="000099"/>
                </a:solidFill>
                <a:ea typeface="黑体" panose="02010609060101010101" pitchFamily="49" charset="-122"/>
              </a:rPr>
              <a:t> B </a:t>
            </a:r>
            <a:r>
              <a:rPr lang="zh-CN" altLang="zh-CN" sz="2600" b="1">
                <a:solidFill>
                  <a:srgbClr val="000099"/>
                </a:solidFill>
                <a:ea typeface="黑体" panose="02010609060101010101" pitchFamily="49" charset="-122"/>
              </a:rPr>
              <a:t>的确认</a:t>
            </a:r>
            <a:r>
              <a:rPr lang="en-US" altLang="zh-CN" sz="2600" b="1">
                <a:solidFill>
                  <a:srgbClr val="000099"/>
                </a:solidFill>
                <a:ea typeface="黑体" panose="02010609060101010101" pitchFamily="49" charset="-122"/>
              </a:rPr>
              <a:t> (ACK)</a:t>
            </a:r>
            <a:r>
              <a:rPr lang="zh-CN" altLang="zh-CN" sz="2600" b="1">
                <a:solidFill>
                  <a:srgbClr val="000099"/>
                </a:solidFill>
                <a:ea typeface="黑体" panose="02010609060101010101" pitchFamily="49" charset="-122"/>
              </a:rPr>
              <a:t>。</a:t>
            </a:r>
            <a:r>
              <a:rPr lang="en-US" altLang="zh-CN" sz="2600" b="1">
                <a:solidFill>
                  <a:srgbClr val="000099"/>
                </a:solidFill>
                <a:ea typeface="黑体" panose="02010609060101010101" pitchFamily="49" charset="-122"/>
              </a:rPr>
              <a:t>B </a:t>
            </a:r>
            <a:r>
              <a:rPr lang="zh-CN" altLang="zh-CN" sz="2600" b="1">
                <a:solidFill>
                  <a:srgbClr val="000099"/>
                </a:solidFill>
                <a:ea typeface="黑体" panose="02010609060101010101" pitchFamily="49" charset="-122"/>
              </a:rPr>
              <a:t>收到了</a:t>
            </a:r>
            <a:r>
              <a:rPr lang="en-US" altLang="zh-CN" sz="2600" b="1">
                <a:solidFill>
                  <a:srgbClr val="000099"/>
                </a:solidFill>
                <a:ea typeface="黑体" panose="02010609060101010101" pitchFamily="49" charset="-122"/>
              </a:rPr>
              <a:t> M1 </a:t>
            </a:r>
            <a:r>
              <a:rPr lang="zh-CN" altLang="zh-CN" sz="2600" b="1">
                <a:solidFill>
                  <a:srgbClr val="000099"/>
                </a:solidFill>
                <a:ea typeface="黑体" panose="02010609060101010101" pitchFamily="49" charset="-122"/>
              </a:rPr>
              <a:t>向</a:t>
            </a:r>
            <a:r>
              <a:rPr lang="en-US" altLang="zh-CN" sz="2600" b="1">
                <a:solidFill>
                  <a:srgbClr val="000099"/>
                </a:solidFill>
                <a:ea typeface="黑体" panose="02010609060101010101" pitchFamily="49" charset="-122"/>
              </a:rPr>
              <a:t> A </a:t>
            </a:r>
            <a:r>
              <a:rPr lang="zh-CN" altLang="zh-CN" sz="2600" b="1">
                <a:solidFill>
                  <a:srgbClr val="000099"/>
                </a:solidFill>
                <a:ea typeface="黑体" panose="02010609060101010101" pitchFamily="49" charset="-122"/>
              </a:rPr>
              <a:t>发送</a:t>
            </a:r>
            <a:r>
              <a:rPr lang="en-US" altLang="zh-CN" sz="2600" b="1">
                <a:solidFill>
                  <a:srgbClr val="000099"/>
                </a:solidFill>
                <a:ea typeface="黑体" panose="02010609060101010101" pitchFamily="49" charset="-122"/>
              </a:rPr>
              <a:t>  ACK</a:t>
            </a:r>
            <a:r>
              <a:rPr lang="zh-CN" altLang="zh-CN" sz="2600" b="1">
                <a:solidFill>
                  <a:srgbClr val="000099"/>
                </a:solidFill>
                <a:ea typeface="黑体" panose="02010609060101010101" pitchFamily="49" charset="-122"/>
              </a:rPr>
              <a:t>。</a:t>
            </a:r>
            <a:r>
              <a:rPr lang="en-US" altLang="zh-CN" sz="2600" b="1">
                <a:solidFill>
                  <a:srgbClr val="000099"/>
                </a:solidFill>
                <a:ea typeface="黑体" panose="02010609060101010101" pitchFamily="49" charset="-122"/>
              </a:rPr>
              <a:t>A </a:t>
            </a:r>
            <a:r>
              <a:rPr lang="zh-CN" altLang="zh-CN" sz="2600" b="1">
                <a:solidFill>
                  <a:srgbClr val="000099"/>
                </a:solidFill>
                <a:ea typeface="黑体" panose="02010609060101010101" pitchFamily="49" charset="-122"/>
              </a:rPr>
              <a:t>在收到了对</a:t>
            </a:r>
            <a:r>
              <a:rPr lang="en-US" altLang="zh-CN" sz="2600" b="1">
                <a:solidFill>
                  <a:srgbClr val="000099"/>
                </a:solidFill>
                <a:ea typeface="黑体" panose="02010609060101010101" pitchFamily="49" charset="-122"/>
              </a:rPr>
              <a:t> M1 </a:t>
            </a:r>
            <a:r>
              <a:rPr lang="zh-CN" altLang="zh-CN" sz="2600" b="1">
                <a:solidFill>
                  <a:srgbClr val="000099"/>
                </a:solidFill>
                <a:ea typeface="黑体" panose="02010609060101010101" pitchFamily="49" charset="-122"/>
              </a:rPr>
              <a:t>的确认后，就再发送下一个分组</a:t>
            </a:r>
            <a:r>
              <a:rPr lang="en-US" altLang="zh-CN" sz="2600" b="1">
                <a:solidFill>
                  <a:srgbClr val="000099"/>
                </a:solidFill>
                <a:ea typeface="黑体" panose="02010609060101010101" pitchFamily="49" charset="-122"/>
              </a:rPr>
              <a:t>  M2</a:t>
            </a:r>
            <a:r>
              <a:rPr lang="zh-CN" altLang="zh-CN" sz="2600" b="1">
                <a:solidFill>
                  <a:srgbClr val="000099"/>
                </a:solidFill>
                <a:ea typeface="黑体" panose="02010609060101010101" pitchFamily="49" charset="-122"/>
              </a:rPr>
              <a:t>。</a:t>
            </a:r>
            <a:endParaRPr lang="zh-CN" altLang="en-US" sz="2600" b="1">
              <a:solidFill>
                <a:srgbClr val="000099"/>
              </a:solidFill>
              <a:ea typeface="黑体" panose="02010609060101010101" pitchFamily="49" charset="-122"/>
            </a:endParaRPr>
          </a:p>
        </p:txBody>
      </p:sp>
      <p:sp>
        <p:nvSpPr>
          <p:cNvPr id="1382403" name="Rectangle 6"/>
          <p:cNvSpPr>
            <a:spLocks noChangeArrowheads="1"/>
          </p:cNvSpPr>
          <p:nvPr/>
        </p:nvSpPr>
        <p:spPr bwMode="auto">
          <a:xfrm>
            <a:off x="3856038" y="2462213"/>
            <a:ext cx="406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A</a:t>
            </a:r>
          </a:p>
        </p:txBody>
      </p:sp>
      <p:sp>
        <p:nvSpPr>
          <p:cNvPr id="1382404" name="Rectangle 7"/>
          <p:cNvSpPr>
            <a:spLocks noChangeArrowheads="1"/>
          </p:cNvSpPr>
          <p:nvPr/>
        </p:nvSpPr>
        <p:spPr bwMode="auto">
          <a:xfrm>
            <a:off x="5721350" y="2462213"/>
            <a:ext cx="406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B</a:t>
            </a:r>
          </a:p>
        </p:txBody>
      </p:sp>
      <p:grpSp>
        <p:nvGrpSpPr>
          <p:cNvPr id="17" name="Group 16"/>
          <p:cNvGrpSpPr>
            <a:grpSpLocks/>
          </p:cNvGrpSpPr>
          <p:nvPr/>
        </p:nvGrpSpPr>
        <p:grpSpPr bwMode="auto">
          <a:xfrm>
            <a:off x="4052888" y="3046413"/>
            <a:ext cx="1835150" cy="777875"/>
            <a:chOff x="3439" y="3564"/>
            <a:chExt cx="1156" cy="490"/>
          </a:xfrm>
        </p:grpSpPr>
        <p:sp>
          <p:nvSpPr>
            <p:cNvPr id="1382406" name="Freeform 17"/>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sz="2400">
                <a:solidFill>
                  <a:srgbClr val="0000FF"/>
                </a:solidFill>
                <a:ea typeface="宋体" panose="02010600030101010101" pitchFamily="2" charset="-122"/>
              </a:endParaRPr>
            </a:p>
          </p:txBody>
        </p:sp>
        <p:sp>
          <p:nvSpPr>
            <p:cNvPr id="1382407" name="AutoShape 18"/>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sz="2400">
                <a:solidFill>
                  <a:srgbClr val="0000FF"/>
                </a:solidFill>
                <a:ea typeface="宋体" panose="02010600030101010101" pitchFamily="2" charset="-122"/>
              </a:endParaRPr>
            </a:p>
          </p:txBody>
        </p:sp>
        <p:sp>
          <p:nvSpPr>
            <p:cNvPr id="1382408" name="Rectangle 19"/>
            <p:cNvSpPr>
              <a:spLocks noChangeArrowheads="1"/>
            </p:cNvSpPr>
            <p:nvPr/>
          </p:nvSpPr>
          <p:spPr bwMode="auto">
            <a:xfrm rot="540000">
              <a:off x="3616" y="3633"/>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21" name="Group 20"/>
          <p:cNvGrpSpPr>
            <a:grpSpLocks/>
          </p:cNvGrpSpPr>
          <p:nvPr/>
        </p:nvGrpSpPr>
        <p:grpSpPr bwMode="auto">
          <a:xfrm>
            <a:off x="4051300" y="4370388"/>
            <a:ext cx="1835150" cy="777875"/>
            <a:chOff x="3439" y="3564"/>
            <a:chExt cx="1156" cy="490"/>
          </a:xfrm>
        </p:grpSpPr>
        <p:sp>
          <p:nvSpPr>
            <p:cNvPr id="1382410" name="Freeform 21"/>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sz="2400">
                <a:solidFill>
                  <a:srgbClr val="0000FF"/>
                </a:solidFill>
                <a:ea typeface="宋体" panose="02010600030101010101" pitchFamily="2" charset="-122"/>
              </a:endParaRPr>
            </a:p>
          </p:txBody>
        </p:sp>
        <p:sp>
          <p:nvSpPr>
            <p:cNvPr id="1382411" name="AutoShape 22"/>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sz="2400">
                <a:solidFill>
                  <a:srgbClr val="0000FF"/>
                </a:solidFill>
                <a:ea typeface="宋体" panose="02010600030101010101" pitchFamily="2" charset="-122"/>
              </a:endParaRPr>
            </a:p>
          </p:txBody>
        </p:sp>
        <p:sp>
          <p:nvSpPr>
            <p:cNvPr id="1382412" name="Rectangle 23"/>
            <p:cNvSpPr>
              <a:spLocks noChangeArrowheads="1"/>
            </p:cNvSpPr>
            <p:nvPr/>
          </p:nvSpPr>
          <p:spPr bwMode="auto">
            <a:xfrm rot="540000">
              <a:off x="3616" y="3633"/>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M2</a:t>
              </a:r>
            </a:p>
          </p:txBody>
        </p:sp>
      </p:grpSp>
      <p:grpSp>
        <p:nvGrpSpPr>
          <p:cNvPr id="25" name="Group 25"/>
          <p:cNvGrpSpPr>
            <a:grpSpLocks/>
          </p:cNvGrpSpPr>
          <p:nvPr/>
        </p:nvGrpSpPr>
        <p:grpSpPr bwMode="auto">
          <a:xfrm>
            <a:off x="4037013" y="3749675"/>
            <a:ext cx="1868487" cy="517525"/>
            <a:chOff x="2012" y="2290"/>
            <a:chExt cx="1177" cy="326"/>
          </a:xfrm>
        </p:grpSpPr>
        <p:sp>
          <p:nvSpPr>
            <p:cNvPr id="1382414" name="Line 26"/>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82415" name="Text Box 27"/>
            <p:cNvSpPr txBox="1">
              <a:spLocks noChangeArrowheads="1"/>
            </p:cNvSpPr>
            <p:nvPr/>
          </p:nvSpPr>
          <p:spPr bwMode="auto">
            <a:xfrm rot="-430230">
              <a:off x="2101" y="2290"/>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宋体" panose="02010600030101010101" pitchFamily="2" charset="-122"/>
                </a:rPr>
                <a:t>ACK 1</a:t>
              </a:r>
            </a:p>
          </p:txBody>
        </p:sp>
      </p:grpSp>
      <p:grpSp>
        <p:nvGrpSpPr>
          <p:cNvPr id="28" name="Group 28"/>
          <p:cNvGrpSpPr>
            <a:grpSpLocks/>
          </p:cNvGrpSpPr>
          <p:nvPr/>
        </p:nvGrpSpPr>
        <p:grpSpPr bwMode="auto">
          <a:xfrm>
            <a:off x="4024313" y="5132388"/>
            <a:ext cx="1868487" cy="525462"/>
            <a:chOff x="2012" y="2285"/>
            <a:chExt cx="1177" cy="331"/>
          </a:xfrm>
        </p:grpSpPr>
        <p:sp>
          <p:nvSpPr>
            <p:cNvPr id="1382417" name="Line 29"/>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82418" name="Text Box 30"/>
            <p:cNvSpPr txBox="1">
              <a:spLocks noChangeArrowheads="1"/>
            </p:cNvSpPr>
            <p:nvPr/>
          </p:nvSpPr>
          <p:spPr bwMode="auto">
            <a:xfrm rot="-430230">
              <a:off x="2109" y="2285"/>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宋体" panose="02010600030101010101" pitchFamily="2" charset="-122"/>
                </a:rPr>
                <a:t>ACK 2</a:t>
              </a:r>
            </a:p>
          </p:txBody>
        </p:sp>
      </p:grpSp>
      <p:grpSp>
        <p:nvGrpSpPr>
          <p:cNvPr id="31" name="Group 33"/>
          <p:cNvGrpSpPr>
            <a:grpSpLocks/>
          </p:cNvGrpSpPr>
          <p:nvPr/>
        </p:nvGrpSpPr>
        <p:grpSpPr bwMode="auto">
          <a:xfrm>
            <a:off x="1208088" y="3148013"/>
            <a:ext cx="2682875" cy="830262"/>
            <a:chOff x="230" y="1632"/>
            <a:chExt cx="1690" cy="523"/>
          </a:xfrm>
        </p:grpSpPr>
        <p:sp>
          <p:nvSpPr>
            <p:cNvPr id="1382420" name="Text Box 31"/>
            <p:cNvSpPr txBox="1">
              <a:spLocks noChangeArrowheads="1"/>
            </p:cNvSpPr>
            <p:nvPr/>
          </p:nvSpPr>
          <p:spPr bwMode="auto">
            <a:xfrm>
              <a:off x="230" y="1632"/>
              <a:ext cx="116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FF0000"/>
                  </a:solidFill>
                  <a:ea typeface="黑体" panose="02010609060101010101" pitchFamily="49" charset="-122"/>
                </a:rPr>
                <a:t>停止发送，等待 </a:t>
              </a:r>
              <a:r>
                <a:rPr lang="en-US" altLang="zh-CN" sz="2400" b="1">
                  <a:solidFill>
                    <a:srgbClr val="FF0000"/>
                  </a:solidFill>
                  <a:ea typeface="黑体" panose="02010609060101010101" pitchFamily="49" charset="-122"/>
                </a:rPr>
                <a:t>ACK</a:t>
              </a:r>
            </a:p>
          </p:txBody>
        </p:sp>
        <p:sp>
          <p:nvSpPr>
            <p:cNvPr id="1382421" name="Line 32"/>
            <p:cNvSpPr>
              <a:spLocks noChangeShapeType="1"/>
            </p:cNvSpPr>
            <p:nvPr/>
          </p:nvSpPr>
          <p:spPr bwMode="auto">
            <a:xfrm>
              <a:off x="1296" y="1920"/>
              <a:ext cx="624" cy="0"/>
            </a:xfrm>
            <a:prstGeom prst="line">
              <a:avLst/>
            </a:prstGeom>
            <a:noFill/>
            <a:ln w="28575">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hangingPunct="0"/>
              <a:endParaRPr lang="zh-CN" altLang="en-US" b="1">
                <a:ea typeface="黑体" panose="02010609060101010101" pitchFamily="49" charset="-122"/>
              </a:endParaRPr>
            </a:p>
          </p:txBody>
        </p:sp>
      </p:grpSp>
      <p:grpSp>
        <p:nvGrpSpPr>
          <p:cNvPr id="34" name="Group 37"/>
          <p:cNvGrpSpPr>
            <a:grpSpLocks/>
          </p:cNvGrpSpPr>
          <p:nvPr/>
        </p:nvGrpSpPr>
        <p:grpSpPr bwMode="auto">
          <a:xfrm>
            <a:off x="1208088" y="3910013"/>
            <a:ext cx="2682875" cy="830262"/>
            <a:chOff x="230" y="2160"/>
            <a:chExt cx="1690" cy="523"/>
          </a:xfrm>
        </p:grpSpPr>
        <p:sp>
          <p:nvSpPr>
            <p:cNvPr id="1382423" name="Text Box 35"/>
            <p:cNvSpPr txBox="1">
              <a:spLocks noChangeArrowheads="1"/>
            </p:cNvSpPr>
            <p:nvPr/>
          </p:nvSpPr>
          <p:spPr bwMode="auto">
            <a:xfrm>
              <a:off x="230" y="2160"/>
              <a:ext cx="111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solidFill>
                    <a:srgbClr val="0000CC"/>
                  </a:solidFill>
                  <a:ea typeface="黑体" panose="02010609060101010101" pitchFamily="49" charset="-122"/>
                </a:rPr>
                <a:t>收到 </a:t>
              </a:r>
              <a:r>
                <a:rPr lang="en-US" altLang="zh-CN" sz="2400" b="1">
                  <a:solidFill>
                    <a:srgbClr val="0000CC"/>
                  </a:solidFill>
                  <a:ea typeface="黑体" panose="02010609060101010101" pitchFamily="49" charset="-122"/>
                </a:rPr>
                <a:t>ACK</a:t>
              </a:r>
              <a:r>
                <a:rPr lang="zh-CN" altLang="en-US" sz="2400" b="1">
                  <a:solidFill>
                    <a:srgbClr val="0000CC"/>
                  </a:solidFill>
                  <a:ea typeface="黑体" panose="02010609060101010101" pitchFamily="49" charset="-122"/>
                </a:rPr>
                <a:t>，继续发送</a:t>
              </a:r>
            </a:p>
          </p:txBody>
        </p:sp>
        <p:sp>
          <p:nvSpPr>
            <p:cNvPr id="1382424"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xtLst>
              <a:ext uri="{909E8E84-426E-40DD-AFC4-6F175D3DCCD1}">
                <a14:hiddenFill xmlns:a14="http://schemas.microsoft.com/office/drawing/2010/main">
                  <a:noFill/>
                </a14:hiddenFill>
              </a:ext>
            </a:extLst>
          </p:spPr>
          <p:txBody>
            <a:bodyPr wrap="none"/>
            <a:lstStyle/>
            <a:p>
              <a:pPr eaLnBrk="0" hangingPunct="0"/>
              <a:endParaRPr lang="zh-CN" altLang="en-US" b="1">
                <a:ea typeface="黑体" panose="02010609060101010101" pitchFamily="49" charset="-122"/>
              </a:endParaRPr>
            </a:p>
          </p:txBody>
        </p:sp>
      </p:grpSp>
      <p:sp>
        <p:nvSpPr>
          <p:cNvPr id="9" name="TextBox 8"/>
          <p:cNvSpPr txBox="1">
            <a:spLocks noChangeArrowheads="1"/>
          </p:cNvSpPr>
          <p:nvPr/>
        </p:nvSpPr>
        <p:spPr bwMode="auto">
          <a:xfrm>
            <a:off x="5961063" y="3708400"/>
            <a:ext cx="13160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FF"/>
                </a:solidFill>
                <a:ea typeface="黑体" panose="02010609060101010101" pitchFamily="49" charset="-122"/>
              </a:rPr>
              <a:t>确认 </a:t>
            </a:r>
            <a:r>
              <a:rPr lang="en-US" altLang="zh-CN" sz="2400" b="1">
                <a:solidFill>
                  <a:srgbClr val="0000FF"/>
                </a:solidFill>
                <a:ea typeface="黑体" panose="02010609060101010101" pitchFamily="49" charset="-122"/>
              </a:rPr>
              <a:t>M1</a:t>
            </a:r>
            <a:endParaRPr lang="zh-CN" altLang="en-US" sz="2400" b="1">
              <a:solidFill>
                <a:srgbClr val="0000FF"/>
              </a:solidFill>
              <a:ea typeface="黑体" panose="02010609060101010101" pitchFamily="49" charset="-122"/>
            </a:endParaRPr>
          </a:p>
        </p:txBody>
      </p:sp>
      <p:sp>
        <p:nvSpPr>
          <p:cNvPr id="37" name="TextBox 36"/>
          <p:cNvSpPr txBox="1">
            <a:spLocks noChangeArrowheads="1"/>
          </p:cNvSpPr>
          <p:nvPr/>
        </p:nvSpPr>
        <p:spPr bwMode="auto">
          <a:xfrm>
            <a:off x="5961063" y="5035550"/>
            <a:ext cx="1316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FF"/>
                </a:solidFill>
                <a:ea typeface="黑体" panose="02010609060101010101" pitchFamily="49" charset="-122"/>
              </a:rPr>
              <a:t>确认 </a:t>
            </a:r>
            <a:r>
              <a:rPr lang="en-US" altLang="zh-CN" sz="2400" b="1">
                <a:solidFill>
                  <a:srgbClr val="0000FF"/>
                </a:solidFill>
                <a:ea typeface="黑体" panose="02010609060101010101" pitchFamily="49" charset="-122"/>
              </a:rPr>
              <a:t>M2</a:t>
            </a:r>
            <a:endParaRPr lang="zh-CN" altLang="en-US" sz="2400" b="1">
              <a:solidFill>
                <a:srgbClr val="0000FF"/>
              </a:solidFill>
              <a:ea typeface="黑体" panose="02010609060101010101" pitchFamily="49" charset="-122"/>
            </a:endParaRPr>
          </a:p>
        </p:txBody>
      </p:sp>
      <p:grpSp>
        <p:nvGrpSpPr>
          <p:cNvPr id="1382427" name="组合 9"/>
          <p:cNvGrpSpPr>
            <a:grpSpLocks/>
          </p:cNvGrpSpPr>
          <p:nvPr/>
        </p:nvGrpSpPr>
        <p:grpSpPr bwMode="auto">
          <a:xfrm>
            <a:off x="3714750" y="2913063"/>
            <a:ext cx="2533650" cy="3548062"/>
            <a:chOff x="3714343" y="2912516"/>
            <a:chExt cx="2533449" cy="3549095"/>
          </a:xfrm>
        </p:grpSpPr>
        <p:sp>
          <p:nvSpPr>
            <p:cNvPr id="1382428" name="Line 4"/>
            <p:cNvSpPr>
              <a:spLocks noChangeShapeType="1"/>
            </p:cNvSpPr>
            <p:nvPr/>
          </p:nvSpPr>
          <p:spPr bwMode="auto">
            <a:xfrm>
              <a:off x="4031159" y="2912516"/>
              <a:ext cx="0" cy="31797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382429" name="Line 5"/>
            <p:cNvSpPr>
              <a:spLocks noChangeShapeType="1"/>
            </p:cNvSpPr>
            <p:nvPr/>
          </p:nvSpPr>
          <p:spPr bwMode="auto">
            <a:xfrm>
              <a:off x="5909172" y="2912516"/>
              <a:ext cx="0" cy="31607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382430" name="TextBox 2"/>
            <p:cNvSpPr txBox="1">
              <a:spLocks noChangeArrowheads="1"/>
            </p:cNvSpPr>
            <p:nvPr/>
          </p:nvSpPr>
          <p:spPr bwMode="auto">
            <a:xfrm>
              <a:off x="5601461" y="609227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ea typeface="黑体" panose="02010609060101010101" pitchFamily="49" charset="-122"/>
                </a:rPr>
                <a:t>时间</a:t>
              </a:r>
            </a:p>
          </p:txBody>
        </p:sp>
        <p:sp>
          <p:nvSpPr>
            <p:cNvPr id="1382431" name="TextBox 37"/>
            <p:cNvSpPr txBox="1">
              <a:spLocks noChangeArrowheads="1"/>
            </p:cNvSpPr>
            <p:nvPr/>
          </p:nvSpPr>
          <p:spPr bwMode="auto">
            <a:xfrm>
              <a:off x="3714343" y="6092279"/>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ea typeface="黑体" panose="02010609060101010101" pitchFamily="49" charset="-122"/>
                </a:rPr>
                <a:t>时间</a:t>
              </a:r>
            </a:p>
          </p:txBody>
        </p:sp>
      </p:grpSp>
      <p:sp>
        <p:nvSpPr>
          <p:cNvPr id="1382432" name="灯片编号占位符 1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0DBF86-1A96-4210-89A8-5A018C444B6C}" type="slidenum">
              <a:rPr lang="zh-CN" altLang="en-US" smtClean="0"/>
              <a:pPr eaLnBrk="1" hangingPunct="1"/>
              <a:t>5</a:t>
            </a:fld>
            <a:endParaRPr lang="en-US" altLang="zh-CN" smtClean="0"/>
          </a:p>
        </p:txBody>
      </p:sp>
      <p:sp>
        <p:nvSpPr>
          <p:cNvPr id="1382433" name="页脚占位符 1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nodeType="afterGroup">
                            <p:stCondLst>
                              <p:cond delay="1"/>
                            </p:stCondLst>
                            <p:childTnLst>
                              <p:par>
                                <p:cTn id="16" presetID="35" presetClass="emph" presetSubtype="0" repeatCount="4000" fill="hold" grpId="1" nodeType="afterEffect">
                                  <p:stCondLst>
                                    <p:cond delay="0"/>
                                  </p:stCondLst>
                                  <p:childTnLst>
                                    <p:anim calcmode="discrete" valueType="str">
                                      <p:cBhvr>
                                        <p:cTn id="17"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right)">
                                      <p:cBhvr>
                                        <p:cTn id="22" dur="500"/>
                                        <p:tgtEl>
                                          <p:spTgt spid="25"/>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par>
                          <p:cTn id="35" fill="hold" nodeType="afterGroup">
                            <p:stCondLst>
                              <p:cond delay="1"/>
                            </p:stCondLst>
                            <p:childTnLst>
                              <p:par>
                                <p:cTn id="36" presetID="35" presetClass="emph" presetSubtype="0" repeatCount="4000" fill="hold" grpId="1" nodeType="afterEffect">
                                  <p:stCondLst>
                                    <p:cond delay="0"/>
                                  </p:stCondLst>
                                  <p:childTnLst>
                                    <p:anim calcmode="discrete" valueType="str">
                                      <p:cBhvr>
                                        <p:cTn id="37" dur="1000" fill="hold"/>
                                        <p:tgtEl>
                                          <p:spTgt spid="37"/>
                                        </p:tgtEl>
                                        <p:attrNameLst>
                                          <p:attrName>style.visibility</p:attrName>
                                        </p:attrNameLst>
                                      </p:cBhvr>
                                      <p:tavLst>
                                        <p:tav tm="0">
                                          <p:val>
                                            <p:strVal val="hidden"/>
                                          </p:val>
                                        </p:tav>
                                        <p:tav tm="50000">
                                          <p:val>
                                            <p:strVal val="visible"/>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right)">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37" grpId="0"/>
      <p:bldP spid="37"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42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出现</a:t>
            </a:r>
            <a:r>
              <a:rPr lang="zh-CN" altLang="zh-CN" smtClean="0">
                <a:ea typeface="黑体" panose="02010609060101010101" pitchFamily="49" charset="-122"/>
              </a:rPr>
              <a:t>差错</a:t>
            </a:r>
            <a:endParaRPr lang="zh-CN" altLang="en-US" smtClean="0">
              <a:ea typeface="黑体" panose="02010609060101010101" pitchFamily="49" charset="-122"/>
            </a:endParaRPr>
          </a:p>
        </p:txBody>
      </p:sp>
      <p:sp>
        <p:nvSpPr>
          <p:cNvPr id="3" name="内容占位符 2"/>
          <p:cNvSpPr>
            <a:spLocks noGrp="1" noChangeArrowheads="1"/>
          </p:cNvSpPr>
          <p:nvPr>
            <p:ph idx="1"/>
          </p:nvPr>
        </p:nvSpPr>
        <p:spPr>
          <a:xfrm>
            <a:off x="495300" y="1196975"/>
            <a:ext cx="9066213" cy="4933950"/>
          </a:xfrm>
        </p:spPr>
        <p:txBody>
          <a:bodyPr/>
          <a:lstStyle/>
          <a:p>
            <a:pPr>
              <a:lnSpc>
                <a:spcPct val="100000"/>
              </a:lnSpc>
            </a:pPr>
            <a:r>
              <a:rPr lang="zh-CN" altLang="en-US" sz="2800" dirty="0" smtClean="0">
                <a:ea typeface="黑体" panose="02010609060101010101" pitchFamily="49" charset="-122"/>
              </a:rPr>
              <a:t>在接收方 </a:t>
            </a:r>
            <a:r>
              <a:rPr lang="en-US" altLang="zh-CN" sz="2800" dirty="0" smtClean="0">
                <a:ea typeface="黑体" panose="02010609060101010101" pitchFamily="49" charset="-122"/>
              </a:rPr>
              <a:t>B </a:t>
            </a:r>
            <a:r>
              <a:rPr lang="zh-CN" altLang="en-US" sz="2800" dirty="0" smtClean="0">
                <a:ea typeface="黑体" panose="02010609060101010101" pitchFamily="49" charset="-122"/>
              </a:rPr>
              <a:t>会出现两种情况：</a:t>
            </a:r>
            <a:endParaRPr lang="en-US" altLang="zh-CN" sz="2800" dirty="0" smtClean="0">
              <a:ea typeface="黑体" panose="02010609060101010101" pitchFamily="49" charset="-122"/>
            </a:endParaRPr>
          </a:p>
          <a:p>
            <a:pPr lvl="1">
              <a:lnSpc>
                <a:spcPct val="100000"/>
              </a:lnSpc>
            </a:pPr>
            <a:r>
              <a:rPr lang="en-US" altLang="zh-CN" sz="2400" dirty="0" smtClean="0">
                <a:solidFill>
                  <a:srgbClr val="0000FF"/>
                </a:solidFill>
                <a:ea typeface="黑体" panose="02010609060101010101" pitchFamily="49" charset="-122"/>
              </a:rPr>
              <a:t>B </a:t>
            </a:r>
            <a:r>
              <a:rPr lang="zh-CN" altLang="zh-CN" sz="2400" dirty="0" smtClean="0">
                <a:solidFill>
                  <a:srgbClr val="0000FF"/>
                </a:solidFill>
                <a:ea typeface="黑体" panose="02010609060101010101" pitchFamily="49" charset="-122"/>
              </a:rPr>
              <a:t>接收</a:t>
            </a:r>
            <a:r>
              <a:rPr lang="en-US" altLang="zh-CN" sz="2400" dirty="0" smtClean="0">
                <a:solidFill>
                  <a:srgbClr val="0000FF"/>
                </a:solidFill>
                <a:ea typeface="黑体" panose="02010609060101010101" pitchFamily="49" charset="-122"/>
              </a:rPr>
              <a:t> M1 </a:t>
            </a:r>
            <a:r>
              <a:rPr lang="zh-CN" altLang="zh-CN" sz="2400" dirty="0" smtClean="0">
                <a:solidFill>
                  <a:srgbClr val="0000FF"/>
                </a:solidFill>
                <a:ea typeface="黑体" panose="02010609060101010101" pitchFamily="49" charset="-122"/>
              </a:rPr>
              <a:t>时检测出了差错，</a:t>
            </a:r>
            <a:r>
              <a:rPr lang="zh-CN" altLang="zh-CN" sz="2400" dirty="0" smtClean="0">
                <a:ea typeface="黑体" panose="02010609060101010101" pitchFamily="49" charset="-122"/>
              </a:rPr>
              <a:t>就</a:t>
            </a:r>
            <a:r>
              <a:rPr lang="zh-CN" altLang="zh-CN" sz="2400" dirty="0" smtClean="0">
                <a:solidFill>
                  <a:srgbClr val="FF0000"/>
                </a:solidFill>
                <a:ea typeface="黑体" panose="02010609060101010101" pitchFamily="49" charset="-122"/>
              </a:rPr>
              <a:t>丢弃</a:t>
            </a:r>
            <a:r>
              <a:rPr lang="en-US" altLang="zh-CN" sz="2400" dirty="0" smtClean="0">
                <a:solidFill>
                  <a:srgbClr val="FF0000"/>
                </a:solidFill>
                <a:ea typeface="黑体" panose="02010609060101010101" pitchFamily="49" charset="-122"/>
              </a:rPr>
              <a:t> </a:t>
            </a:r>
            <a:r>
              <a:rPr lang="en-US" altLang="zh-CN" sz="2400" dirty="0" smtClean="0">
                <a:ea typeface="黑体" panose="02010609060101010101" pitchFamily="49" charset="-122"/>
              </a:rPr>
              <a:t>M1</a:t>
            </a:r>
            <a:r>
              <a:rPr lang="zh-CN" altLang="zh-CN" sz="2400" dirty="0" smtClean="0">
                <a:ea typeface="黑体" panose="02010609060101010101" pitchFamily="49" charset="-122"/>
              </a:rPr>
              <a:t>，其他什么也不做（不通知</a:t>
            </a:r>
            <a:r>
              <a:rPr lang="en-US" altLang="zh-CN" sz="2400" dirty="0" smtClean="0">
                <a:ea typeface="黑体" panose="02010609060101010101" pitchFamily="49" charset="-122"/>
              </a:rPr>
              <a:t> A </a:t>
            </a:r>
            <a:r>
              <a:rPr lang="zh-CN" altLang="zh-CN" sz="2400" dirty="0" smtClean="0">
                <a:ea typeface="黑体" panose="02010609060101010101" pitchFamily="49" charset="-122"/>
              </a:rPr>
              <a:t>收到有差错的分组）</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lvl="1">
              <a:lnSpc>
                <a:spcPct val="100000"/>
              </a:lnSpc>
            </a:pPr>
            <a:r>
              <a:rPr lang="en-US" altLang="zh-CN" sz="2400" dirty="0" smtClean="0">
                <a:solidFill>
                  <a:srgbClr val="0000FF"/>
                </a:solidFill>
                <a:ea typeface="黑体" panose="02010609060101010101" pitchFamily="49" charset="-122"/>
              </a:rPr>
              <a:t>M1 </a:t>
            </a:r>
            <a:r>
              <a:rPr lang="zh-CN" altLang="zh-CN" sz="2400" dirty="0" smtClean="0">
                <a:solidFill>
                  <a:srgbClr val="0000FF"/>
                </a:solidFill>
                <a:ea typeface="黑体" panose="02010609060101010101" pitchFamily="49" charset="-122"/>
              </a:rPr>
              <a:t>在传输过程中丢失了，</a:t>
            </a:r>
            <a:r>
              <a:rPr lang="zh-CN" altLang="zh-CN" sz="2400" dirty="0" smtClean="0">
                <a:ea typeface="黑体" panose="02010609060101010101" pitchFamily="49" charset="-122"/>
              </a:rPr>
              <a:t>这时</a:t>
            </a:r>
            <a:r>
              <a:rPr lang="en-US" altLang="zh-CN" sz="2400" dirty="0" smtClean="0">
                <a:ea typeface="黑体" panose="02010609060101010101" pitchFamily="49" charset="-122"/>
              </a:rPr>
              <a:t> B </a:t>
            </a:r>
            <a:r>
              <a:rPr lang="zh-CN" altLang="zh-CN" sz="2400" dirty="0" smtClean="0">
                <a:ea typeface="黑体" panose="02010609060101010101" pitchFamily="49" charset="-122"/>
              </a:rPr>
              <a:t>当然什么都不知道</a:t>
            </a:r>
            <a:r>
              <a:rPr lang="zh-CN" altLang="en-US" sz="2400" dirty="0" smtClean="0">
                <a:ea typeface="黑体" panose="02010609060101010101" pitchFamily="49" charset="-122"/>
              </a:rPr>
              <a:t>，也什么都不做。</a:t>
            </a:r>
            <a:endParaRPr lang="en-US" altLang="zh-CN" sz="2400" dirty="0" smtClean="0">
              <a:ea typeface="黑体" panose="02010609060101010101" pitchFamily="49" charset="-122"/>
            </a:endParaRPr>
          </a:p>
          <a:p>
            <a:pPr>
              <a:lnSpc>
                <a:spcPct val="100000"/>
              </a:lnSpc>
            </a:pPr>
            <a:r>
              <a:rPr lang="zh-CN" altLang="zh-CN" sz="2800" dirty="0" smtClean="0">
                <a:solidFill>
                  <a:srgbClr val="0000FF"/>
                </a:solidFill>
                <a:ea typeface="黑体" panose="02010609060101010101" pitchFamily="49" charset="-122"/>
              </a:rPr>
              <a:t>在这两种情况下，</a:t>
            </a:r>
            <a:r>
              <a:rPr lang="en-US" altLang="zh-CN" sz="2800" dirty="0" smtClean="0">
                <a:solidFill>
                  <a:srgbClr val="0000FF"/>
                </a:solidFill>
                <a:ea typeface="黑体" panose="02010609060101010101" pitchFamily="49" charset="-122"/>
              </a:rPr>
              <a:t>B </a:t>
            </a:r>
            <a:r>
              <a:rPr lang="zh-CN" altLang="zh-CN" sz="2800" dirty="0" smtClean="0">
                <a:solidFill>
                  <a:srgbClr val="0000FF"/>
                </a:solidFill>
                <a:ea typeface="黑体" panose="02010609060101010101" pitchFamily="49" charset="-122"/>
              </a:rPr>
              <a:t>都不会发送任何信息。</a:t>
            </a:r>
            <a:endParaRPr lang="en-US" altLang="zh-CN" sz="2800" dirty="0" smtClean="0">
              <a:solidFill>
                <a:srgbClr val="0000FF"/>
              </a:solidFill>
              <a:ea typeface="黑体" panose="02010609060101010101" pitchFamily="49" charset="-122"/>
            </a:endParaRPr>
          </a:p>
          <a:p>
            <a:pPr>
              <a:lnSpc>
                <a:spcPct val="100000"/>
              </a:lnSpc>
            </a:pPr>
            <a:r>
              <a:rPr lang="zh-CN" altLang="en-US" sz="2800" dirty="0" smtClean="0">
                <a:solidFill>
                  <a:srgbClr val="FF0000"/>
                </a:solidFill>
                <a:ea typeface="黑体" panose="02010609060101010101" pitchFamily="49" charset="-122"/>
              </a:rPr>
              <a:t>如何保证 </a:t>
            </a:r>
            <a:r>
              <a:rPr lang="en-US" altLang="zh-CN" sz="2800" dirty="0" smtClean="0">
                <a:solidFill>
                  <a:srgbClr val="FF0000"/>
                </a:solidFill>
                <a:ea typeface="黑体" panose="02010609060101010101" pitchFamily="49" charset="-122"/>
              </a:rPr>
              <a:t>B </a:t>
            </a:r>
            <a:r>
              <a:rPr lang="zh-CN" altLang="en-US" sz="2800" dirty="0" smtClean="0">
                <a:solidFill>
                  <a:srgbClr val="FF0000"/>
                </a:solidFill>
                <a:ea typeface="黑体" panose="02010609060101010101" pitchFamily="49" charset="-122"/>
              </a:rPr>
              <a:t>正确收到了 </a:t>
            </a:r>
            <a:r>
              <a:rPr lang="en-US" altLang="zh-CN" sz="2800" dirty="0" smtClean="0">
                <a:solidFill>
                  <a:srgbClr val="FF0000"/>
                </a:solidFill>
                <a:ea typeface="黑体" panose="02010609060101010101" pitchFamily="49" charset="-122"/>
              </a:rPr>
              <a:t>M1</a:t>
            </a:r>
            <a:r>
              <a:rPr lang="zh-CN" altLang="en-US" sz="2800" dirty="0" smtClean="0">
                <a:solidFill>
                  <a:srgbClr val="FF0000"/>
                </a:solidFill>
                <a:ea typeface="黑体" panose="02010609060101010101" pitchFamily="49" charset="-122"/>
              </a:rPr>
              <a:t> 呢？</a:t>
            </a:r>
            <a:endParaRPr lang="en-US" altLang="zh-CN" sz="2800" dirty="0" smtClean="0">
              <a:solidFill>
                <a:srgbClr val="FF0000"/>
              </a:solidFill>
              <a:ea typeface="黑体" panose="02010609060101010101" pitchFamily="49" charset="-122"/>
            </a:endParaRPr>
          </a:p>
          <a:p>
            <a:pPr>
              <a:lnSpc>
                <a:spcPct val="100000"/>
              </a:lnSpc>
            </a:pPr>
            <a:r>
              <a:rPr lang="zh-CN" altLang="en-US" sz="2800" dirty="0" smtClean="0">
                <a:solidFill>
                  <a:srgbClr val="0000FF"/>
                </a:solidFill>
                <a:ea typeface="黑体" panose="02010609060101010101" pitchFamily="49" charset="-122"/>
              </a:rPr>
              <a:t>解决方法：</a:t>
            </a:r>
            <a:r>
              <a:rPr lang="zh-CN" altLang="zh-CN" sz="2800" dirty="0" smtClean="0">
                <a:solidFill>
                  <a:srgbClr val="0000FF"/>
                </a:solidFill>
                <a:ea typeface="黑体" panose="02010609060101010101" pitchFamily="49" charset="-122"/>
              </a:rPr>
              <a:t>超时重传</a:t>
            </a:r>
            <a:endParaRPr lang="en-US" altLang="zh-CN" sz="2800" dirty="0" smtClean="0">
              <a:solidFill>
                <a:srgbClr val="0000FF"/>
              </a:solidFill>
              <a:ea typeface="黑体" panose="02010609060101010101" pitchFamily="49" charset="-122"/>
            </a:endParaRPr>
          </a:p>
          <a:p>
            <a:pPr lvl="1">
              <a:lnSpc>
                <a:spcPct val="100000"/>
              </a:lnSpc>
            </a:pPr>
            <a:r>
              <a:rPr lang="en-US" altLang="zh-CN" sz="2400" dirty="0" smtClean="0">
                <a:ea typeface="黑体" panose="02010609060101010101" pitchFamily="49" charset="-122"/>
              </a:rPr>
              <a:t>A </a:t>
            </a:r>
            <a:r>
              <a:rPr lang="zh-CN" altLang="zh-CN" sz="2400" dirty="0" smtClean="0">
                <a:ea typeface="黑体" panose="02010609060101010101" pitchFamily="49" charset="-122"/>
              </a:rPr>
              <a:t>为每一个已发送的分组都设置了一个</a:t>
            </a:r>
            <a:r>
              <a:rPr lang="zh-CN" altLang="zh-CN" sz="2400" dirty="0" smtClean="0">
                <a:solidFill>
                  <a:srgbClr val="FF0000"/>
                </a:solidFill>
                <a:ea typeface="黑体" panose="02010609060101010101" pitchFamily="49" charset="-122"/>
              </a:rPr>
              <a:t>超时计时器。</a:t>
            </a:r>
            <a:endParaRPr lang="en-US" altLang="zh-CN" sz="2400" dirty="0" smtClean="0">
              <a:solidFill>
                <a:srgbClr val="FF0000"/>
              </a:solidFill>
              <a:ea typeface="黑体" panose="02010609060101010101" pitchFamily="49" charset="-122"/>
            </a:endParaRPr>
          </a:p>
          <a:p>
            <a:pPr lvl="1">
              <a:lnSpc>
                <a:spcPct val="100000"/>
              </a:lnSpc>
            </a:pPr>
            <a:r>
              <a:rPr lang="en-US" altLang="zh-CN" sz="2400" dirty="0" smtClean="0">
                <a:ea typeface="黑体" panose="02010609060101010101" pitchFamily="49" charset="-122"/>
              </a:rPr>
              <a:t>A </a:t>
            </a:r>
            <a:r>
              <a:rPr lang="zh-CN" altLang="zh-CN" sz="2400" dirty="0" smtClean="0">
                <a:ea typeface="黑体" panose="02010609060101010101" pitchFamily="49" charset="-122"/>
              </a:rPr>
              <a:t>只要在超时计时器到期之前收到了相应的确认，就撤销该超时计时器</a:t>
            </a:r>
            <a:r>
              <a:rPr lang="zh-CN" altLang="en-US" sz="2400" dirty="0" smtClean="0">
                <a:ea typeface="黑体" panose="02010609060101010101" pitchFamily="49" charset="-122"/>
              </a:rPr>
              <a:t>，继续发送下一个分组 </a:t>
            </a:r>
            <a:r>
              <a:rPr lang="en-US" altLang="zh-CN" sz="2400" dirty="0" smtClean="0">
                <a:ea typeface="黑体" panose="02010609060101010101" pitchFamily="49" charset="-122"/>
              </a:rPr>
              <a:t>M2</a:t>
            </a:r>
            <a:r>
              <a:rPr lang="zh-CN" altLang="en-US" sz="2400" dirty="0" smtClean="0">
                <a:ea typeface="黑体" panose="02010609060101010101" pitchFamily="49" charset="-122"/>
              </a:rPr>
              <a:t> 。</a:t>
            </a:r>
            <a:endParaRPr lang="en-US" altLang="zh-CN" sz="2400" dirty="0" smtClean="0">
              <a:ea typeface="黑体" panose="02010609060101010101" pitchFamily="49" charset="-122"/>
            </a:endParaRPr>
          </a:p>
          <a:p>
            <a:pPr lvl="1">
              <a:lnSpc>
                <a:spcPct val="100000"/>
              </a:lnSpc>
            </a:pPr>
            <a:endParaRPr lang="zh-CN" altLang="en-US" sz="2400" dirty="0" smtClean="0">
              <a:ea typeface="黑体" panose="02010609060101010101" pitchFamily="49" charset="-122"/>
            </a:endParaRPr>
          </a:p>
        </p:txBody>
      </p:sp>
      <p:sp>
        <p:nvSpPr>
          <p:cNvPr id="13834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6F35C27-E6D4-4D2A-B738-26078C57A4B5}" type="slidenum">
              <a:rPr lang="zh-CN" altLang="en-US" smtClean="0"/>
              <a:pPr eaLnBrk="1" hangingPunct="1"/>
              <a:t>6</a:t>
            </a:fld>
            <a:endParaRPr lang="en-US" altLang="zh-CN" smtClean="0"/>
          </a:p>
        </p:txBody>
      </p:sp>
      <p:sp>
        <p:nvSpPr>
          <p:cNvPr id="13834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nodeType="afterGroup">
                            <p:stCondLst>
                              <p:cond delay="2"/>
                            </p:stCondLst>
                            <p:childTnLst>
                              <p:par>
                                <p:cTn id="11" presetID="1" presetClass="entr" presetSubtype="0" fill="hold" grpId="0"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par>
                          <p:cTn id="17" fill="hold" nodeType="afterGroup">
                            <p:stCondLst>
                              <p:cond delay="1"/>
                            </p:stCondLst>
                            <p:childTnLst>
                              <p:par>
                                <p:cTn id="18" presetID="1" presetClass="entr" presetSubtype="0" fill="hold" grpId="0"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childTnLst>
                                </p:cTn>
                              </p:par>
                            </p:childTnLst>
                          </p:cTn>
                        </p:par>
                        <p:par>
                          <p:cTn id="24" fill="hold" nodeType="afterGroup">
                            <p:stCondLst>
                              <p:cond delay="1"/>
                            </p:stCondLst>
                            <p:childTnLst>
                              <p:par>
                                <p:cTn id="25" presetID="1" presetClass="entr" presetSubtype="0" fill="hold" grpId="0"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par>
                          <p:cTn id="27" fill="hold" nodeType="afterGroup">
                            <p:stCondLst>
                              <p:cond delay="2"/>
                            </p:stCondLst>
                            <p:childTnLst>
                              <p:par>
                                <p:cTn id="28" presetID="1" presetClass="entr" presetSubtype="0" fill="hold" grpId="0" nodeType="after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4449" name="标题 1"/>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出现</a:t>
            </a:r>
            <a:r>
              <a:rPr lang="zh-CN" altLang="zh-CN" smtClean="0">
                <a:ea typeface="黑体" panose="02010609060101010101" pitchFamily="49" charset="-122"/>
              </a:rPr>
              <a:t>差错</a:t>
            </a:r>
            <a:endParaRPr lang="zh-CN" altLang="en-US" smtClean="0">
              <a:ea typeface="黑体" panose="02010609060101010101" pitchFamily="49" charset="-122"/>
            </a:endParaRPr>
          </a:p>
        </p:txBody>
      </p:sp>
      <p:sp>
        <p:nvSpPr>
          <p:cNvPr id="1384450" name="Text Box 28"/>
          <p:cNvSpPr txBox="1">
            <a:spLocks noChangeArrowheads="1"/>
          </p:cNvSpPr>
          <p:nvPr/>
        </p:nvSpPr>
        <p:spPr bwMode="auto">
          <a:xfrm>
            <a:off x="2162175" y="5343525"/>
            <a:ext cx="1422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分组错误</a:t>
            </a:r>
          </a:p>
        </p:txBody>
      </p:sp>
      <p:grpSp>
        <p:nvGrpSpPr>
          <p:cNvPr id="1384451" name="组合 2"/>
          <p:cNvGrpSpPr>
            <a:grpSpLocks/>
          </p:cNvGrpSpPr>
          <p:nvPr/>
        </p:nvGrpSpPr>
        <p:grpSpPr bwMode="auto">
          <a:xfrm>
            <a:off x="1949450" y="1662113"/>
            <a:ext cx="1878013" cy="3594100"/>
            <a:chOff x="1949810" y="1662782"/>
            <a:chExt cx="1878013" cy="3179762"/>
          </a:xfrm>
        </p:grpSpPr>
        <p:sp>
          <p:nvSpPr>
            <p:cNvPr id="1384452" name="Line 36"/>
            <p:cNvSpPr>
              <a:spLocks noChangeShapeType="1"/>
            </p:cNvSpPr>
            <p:nvPr/>
          </p:nvSpPr>
          <p:spPr bwMode="auto">
            <a:xfrm>
              <a:off x="1949810" y="1662782"/>
              <a:ext cx="0" cy="31797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384453" name="Line 37"/>
            <p:cNvSpPr>
              <a:spLocks noChangeShapeType="1"/>
            </p:cNvSpPr>
            <p:nvPr/>
          </p:nvSpPr>
          <p:spPr bwMode="auto">
            <a:xfrm>
              <a:off x="3827823" y="1662782"/>
              <a:ext cx="0" cy="316071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1384454" name="Rectangle 38"/>
          <p:cNvSpPr>
            <a:spLocks noChangeArrowheads="1"/>
          </p:cNvSpPr>
          <p:nvPr/>
        </p:nvSpPr>
        <p:spPr bwMode="auto">
          <a:xfrm>
            <a:off x="1774825" y="1211263"/>
            <a:ext cx="406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A</a:t>
            </a:r>
          </a:p>
        </p:txBody>
      </p:sp>
      <p:sp>
        <p:nvSpPr>
          <p:cNvPr id="1384455" name="Rectangle 39"/>
          <p:cNvSpPr>
            <a:spLocks noChangeArrowheads="1"/>
          </p:cNvSpPr>
          <p:nvPr/>
        </p:nvSpPr>
        <p:spPr bwMode="auto">
          <a:xfrm>
            <a:off x="3640138" y="1211263"/>
            <a:ext cx="406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B</a:t>
            </a:r>
          </a:p>
        </p:txBody>
      </p:sp>
      <p:grpSp>
        <p:nvGrpSpPr>
          <p:cNvPr id="73" name="Group 40"/>
          <p:cNvGrpSpPr>
            <a:grpSpLocks/>
          </p:cNvGrpSpPr>
          <p:nvPr/>
        </p:nvGrpSpPr>
        <p:grpSpPr bwMode="auto">
          <a:xfrm>
            <a:off x="1971675" y="1795463"/>
            <a:ext cx="1835150" cy="777875"/>
            <a:chOff x="3439" y="3564"/>
            <a:chExt cx="1156" cy="490"/>
          </a:xfrm>
        </p:grpSpPr>
        <p:sp>
          <p:nvSpPr>
            <p:cNvPr id="1384457" name="Freeform 41"/>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a:ea typeface="宋体" panose="02010600030101010101" pitchFamily="2" charset="-122"/>
              </a:endParaRPr>
            </a:p>
          </p:txBody>
        </p:sp>
        <p:sp>
          <p:nvSpPr>
            <p:cNvPr id="1384458" name="AutoShape 42"/>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384459" name="Rectangle 43"/>
            <p:cNvSpPr>
              <a:spLocks noChangeArrowheads="1"/>
            </p:cNvSpPr>
            <p:nvPr/>
          </p:nvSpPr>
          <p:spPr bwMode="auto">
            <a:xfrm rot="540000">
              <a:off x="3668"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77" name="Group 44"/>
          <p:cNvGrpSpPr>
            <a:grpSpLocks/>
          </p:cNvGrpSpPr>
          <p:nvPr/>
        </p:nvGrpSpPr>
        <p:grpSpPr bwMode="auto">
          <a:xfrm>
            <a:off x="1970088" y="3357563"/>
            <a:ext cx="1835150" cy="777875"/>
            <a:chOff x="3439" y="3564"/>
            <a:chExt cx="1156" cy="490"/>
          </a:xfrm>
        </p:grpSpPr>
        <p:sp>
          <p:nvSpPr>
            <p:cNvPr id="1384461" name="Freeform 45"/>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a:ea typeface="宋体" panose="02010600030101010101" pitchFamily="2" charset="-122"/>
              </a:endParaRPr>
            </a:p>
          </p:txBody>
        </p:sp>
        <p:sp>
          <p:nvSpPr>
            <p:cNvPr id="1384462" name="AutoShape 46"/>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384463" name="Rectangle 47"/>
            <p:cNvSpPr>
              <a:spLocks noChangeArrowheads="1"/>
            </p:cNvSpPr>
            <p:nvPr/>
          </p:nvSpPr>
          <p:spPr bwMode="auto">
            <a:xfrm rot="540000">
              <a:off x="3668"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84" name="Group 51"/>
          <p:cNvGrpSpPr>
            <a:grpSpLocks/>
          </p:cNvGrpSpPr>
          <p:nvPr/>
        </p:nvGrpSpPr>
        <p:grpSpPr bwMode="auto">
          <a:xfrm>
            <a:off x="1943100" y="4124325"/>
            <a:ext cx="1868488" cy="520700"/>
            <a:chOff x="2012" y="2288"/>
            <a:chExt cx="1177" cy="328"/>
          </a:xfrm>
        </p:grpSpPr>
        <p:sp>
          <p:nvSpPr>
            <p:cNvPr id="1384465" name="Line 5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384466" name="Text Box 53"/>
            <p:cNvSpPr txBox="1">
              <a:spLocks noChangeArrowheads="1"/>
            </p:cNvSpPr>
            <p:nvPr/>
          </p:nvSpPr>
          <p:spPr bwMode="auto">
            <a:xfrm rot="-430230">
              <a:off x="2122" y="2288"/>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宋体" panose="02010600030101010101" pitchFamily="2" charset="-122"/>
                </a:rPr>
                <a:t>ACK 1</a:t>
              </a:r>
            </a:p>
          </p:txBody>
        </p:sp>
      </p:grpSp>
      <p:sp>
        <p:nvSpPr>
          <p:cNvPr id="89" name="Rectangle 56"/>
          <p:cNvSpPr>
            <a:spLocks noChangeArrowheads="1"/>
          </p:cNvSpPr>
          <p:nvPr/>
        </p:nvSpPr>
        <p:spPr bwMode="auto">
          <a:xfrm>
            <a:off x="4506913" y="2178050"/>
            <a:ext cx="8016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lgn="ctr" eaLnBrk="0" hangingPunct="0"/>
            <a:r>
              <a:rPr lang="zh-CN" altLang="en-US" sz="2400" b="1">
                <a:solidFill>
                  <a:srgbClr val="FF0000"/>
                </a:solidFill>
                <a:ea typeface="黑体" panose="02010609060101010101" pitchFamily="49" charset="-122"/>
              </a:rPr>
              <a:t>丢弃</a:t>
            </a:r>
            <a:endParaRPr lang="zh-CN" altLang="en-US" sz="2400" b="1" baseline="-25000">
              <a:solidFill>
                <a:srgbClr val="FF0000"/>
              </a:solidFill>
              <a:ea typeface="黑体" panose="02010609060101010101" pitchFamily="49" charset="-122"/>
            </a:endParaRPr>
          </a:p>
        </p:txBody>
      </p:sp>
      <p:sp>
        <p:nvSpPr>
          <p:cNvPr id="93" name="AutoShape 60"/>
          <p:cNvSpPr>
            <a:spLocks noChangeArrowheads="1"/>
          </p:cNvSpPr>
          <p:nvPr/>
        </p:nvSpPr>
        <p:spPr bwMode="auto">
          <a:xfrm>
            <a:off x="3857625" y="2071688"/>
            <a:ext cx="688975" cy="660400"/>
          </a:xfrm>
          <a:prstGeom prst="irregularSeal1">
            <a:avLst/>
          </a:prstGeom>
          <a:solidFill>
            <a:srgbClr val="FF5050"/>
          </a:solidFill>
          <a:ln w="9525">
            <a:solidFill>
              <a:schemeClr val="tx1"/>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94" name="Text Box 24"/>
          <p:cNvSpPr txBox="1">
            <a:spLocks noChangeArrowheads="1"/>
          </p:cNvSpPr>
          <p:nvPr/>
        </p:nvSpPr>
        <p:spPr bwMode="auto">
          <a:xfrm>
            <a:off x="560388" y="340518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0000"/>
                </a:solidFill>
                <a:latin typeface="黑体" panose="02010609060101010101" pitchFamily="49" charset="-122"/>
                <a:ea typeface="黑体" panose="02010609060101010101" pitchFamily="49" charset="-122"/>
              </a:rPr>
              <a:t>超时重发</a:t>
            </a:r>
          </a:p>
        </p:txBody>
      </p:sp>
      <p:grpSp>
        <p:nvGrpSpPr>
          <p:cNvPr id="95" name="Group 25"/>
          <p:cNvGrpSpPr>
            <a:grpSpLocks/>
          </p:cNvGrpSpPr>
          <p:nvPr/>
        </p:nvGrpSpPr>
        <p:grpSpPr bwMode="auto">
          <a:xfrm>
            <a:off x="1062038" y="2343150"/>
            <a:ext cx="798512" cy="927100"/>
            <a:chOff x="3153" y="2204"/>
            <a:chExt cx="503" cy="584"/>
          </a:xfrm>
        </p:grpSpPr>
        <p:sp>
          <p:nvSpPr>
            <p:cNvPr id="1384471" name="AutoShape 26"/>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384472" name="Text Box 27"/>
            <p:cNvSpPr txBox="1">
              <a:spLocks noChangeArrowheads="1"/>
            </p:cNvSpPr>
            <p:nvPr/>
          </p:nvSpPr>
          <p:spPr bwMode="auto">
            <a:xfrm>
              <a:off x="3153" y="2311"/>
              <a:ext cx="4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latin typeface="Tahoma" panose="020B0604030504040204" pitchFamily="34" charset="0"/>
                  <a:ea typeface="宋体" panose="02010600030101010101" pitchFamily="2" charset="-122"/>
                </a:rPr>
                <a:t>t</a:t>
              </a:r>
              <a:r>
                <a:rPr lang="en-US" altLang="zh-CN" sz="2800" b="1" baseline="-25000">
                  <a:latin typeface="Tahoma" panose="020B0604030504040204" pitchFamily="34" charset="0"/>
                  <a:ea typeface="宋体" panose="02010600030101010101" pitchFamily="2" charset="-122"/>
                </a:rPr>
                <a:t>out</a:t>
              </a:r>
            </a:p>
          </p:txBody>
        </p:sp>
      </p:grpSp>
      <p:grpSp>
        <p:nvGrpSpPr>
          <p:cNvPr id="1384473" name="组合 8"/>
          <p:cNvGrpSpPr>
            <a:grpSpLocks/>
          </p:cNvGrpSpPr>
          <p:nvPr/>
        </p:nvGrpSpPr>
        <p:grpSpPr bwMode="auto">
          <a:xfrm>
            <a:off x="6865938" y="1647825"/>
            <a:ext cx="1878012" cy="3587750"/>
            <a:chOff x="6866706" y="1647602"/>
            <a:chExt cx="1878013" cy="3179763"/>
          </a:xfrm>
        </p:grpSpPr>
        <p:sp>
          <p:nvSpPr>
            <p:cNvPr id="1384474" name="Line 4"/>
            <p:cNvSpPr>
              <a:spLocks noChangeShapeType="1"/>
            </p:cNvSpPr>
            <p:nvPr/>
          </p:nvSpPr>
          <p:spPr bwMode="auto">
            <a:xfrm>
              <a:off x="6866706" y="1647602"/>
              <a:ext cx="0" cy="31797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384475" name="Line 5"/>
            <p:cNvSpPr>
              <a:spLocks noChangeShapeType="1"/>
            </p:cNvSpPr>
            <p:nvPr/>
          </p:nvSpPr>
          <p:spPr bwMode="auto">
            <a:xfrm>
              <a:off x="8744719" y="1647602"/>
              <a:ext cx="0" cy="31607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grpSp>
      <p:sp>
        <p:nvSpPr>
          <p:cNvPr id="1384476" name="Rectangle 6"/>
          <p:cNvSpPr>
            <a:spLocks noChangeArrowheads="1"/>
          </p:cNvSpPr>
          <p:nvPr/>
        </p:nvSpPr>
        <p:spPr bwMode="auto">
          <a:xfrm>
            <a:off x="6691313" y="1125538"/>
            <a:ext cx="406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A</a:t>
            </a:r>
          </a:p>
        </p:txBody>
      </p:sp>
      <p:sp>
        <p:nvSpPr>
          <p:cNvPr id="1384477" name="Rectangle 7"/>
          <p:cNvSpPr>
            <a:spLocks noChangeArrowheads="1"/>
          </p:cNvSpPr>
          <p:nvPr/>
        </p:nvSpPr>
        <p:spPr bwMode="auto">
          <a:xfrm>
            <a:off x="8556625" y="1125538"/>
            <a:ext cx="4064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B</a:t>
            </a:r>
          </a:p>
        </p:txBody>
      </p:sp>
      <p:grpSp>
        <p:nvGrpSpPr>
          <p:cNvPr id="102" name="Group 8"/>
          <p:cNvGrpSpPr>
            <a:grpSpLocks/>
          </p:cNvGrpSpPr>
          <p:nvPr/>
        </p:nvGrpSpPr>
        <p:grpSpPr bwMode="auto">
          <a:xfrm>
            <a:off x="6888163" y="1781175"/>
            <a:ext cx="1701800" cy="777875"/>
            <a:chOff x="3769" y="1868"/>
            <a:chExt cx="1072" cy="490"/>
          </a:xfrm>
        </p:grpSpPr>
        <p:sp>
          <p:nvSpPr>
            <p:cNvPr id="1384479" name="Freeform 9"/>
            <p:cNvSpPr>
              <a:spLocks noChangeArrowheads="1"/>
            </p:cNvSpPr>
            <p:nvPr/>
          </p:nvSpPr>
          <p:spPr bwMode="auto">
            <a:xfrm>
              <a:off x="3769" y="1868"/>
              <a:ext cx="1072"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4480" name="AutoShape 10"/>
            <p:cNvSpPr>
              <a:spLocks noChangeArrowheads="1"/>
            </p:cNvSpPr>
            <p:nvPr/>
          </p:nvSpPr>
          <p:spPr bwMode="auto">
            <a:xfrm rot="480000">
              <a:off x="4521" y="2114"/>
              <a:ext cx="291" cy="100"/>
            </a:xfrm>
            <a:prstGeom prst="rightArrow">
              <a:avLst>
                <a:gd name="adj1" fmla="val 50000"/>
                <a:gd name="adj2" fmla="val 145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4481" name="Rectangle 11"/>
            <p:cNvSpPr>
              <a:spLocks noChangeArrowheads="1"/>
            </p:cNvSpPr>
            <p:nvPr/>
          </p:nvSpPr>
          <p:spPr bwMode="auto">
            <a:xfrm rot="540000">
              <a:off x="3995" y="1949"/>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106" name="Group 12"/>
          <p:cNvGrpSpPr>
            <a:grpSpLocks/>
          </p:cNvGrpSpPr>
          <p:nvPr/>
        </p:nvGrpSpPr>
        <p:grpSpPr bwMode="auto">
          <a:xfrm>
            <a:off x="6886575" y="3257550"/>
            <a:ext cx="1835150" cy="777875"/>
            <a:chOff x="3439" y="3564"/>
            <a:chExt cx="1156" cy="490"/>
          </a:xfrm>
        </p:grpSpPr>
        <p:sp>
          <p:nvSpPr>
            <p:cNvPr id="1384483" name="Freeform 13"/>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4484" name="AutoShape 14"/>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4485" name="Rectangle 15"/>
            <p:cNvSpPr>
              <a:spLocks noChangeArrowheads="1"/>
            </p:cNvSpPr>
            <p:nvPr/>
          </p:nvSpPr>
          <p:spPr bwMode="auto">
            <a:xfrm rot="540000">
              <a:off x="3669"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sp>
        <p:nvSpPr>
          <p:cNvPr id="1384486" name="Text Box 16"/>
          <p:cNvSpPr txBox="1">
            <a:spLocks noChangeArrowheads="1"/>
          </p:cNvSpPr>
          <p:nvPr/>
        </p:nvSpPr>
        <p:spPr bwMode="auto">
          <a:xfrm>
            <a:off x="7131050" y="5272088"/>
            <a:ext cx="1422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分组丢失</a:t>
            </a:r>
          </a:p>
        </p:txBody>
      </p:sp>
      <p:grpSp>
        <p:nvGrpSpPr>
          <p:cNvPr id="111" name="Group 17"/>
          <p:cNvGrpSpPr>
            <a:grpSpLocks/>
          </p:cNvGrpSpPr>
          <p:nvPr/>
        </p:nvGrpSpPr>
        <p:grpSpPr bwMode="auto">
          <a:xfrm>
            <a:off x="6859588" y="4000500"/>
            <a:ext cx="1868487" cy="544513"/>
            <a:chOff x="2012" y="2273"/>
            <a:chExt cx="1177" cy="343"/>
          </a:xfrm>
        </p:grpSpPr>
        <p:sp>
          <p:nvSpPr>
            <p:cNvPr id="1384488" name="Line 18"/>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84489" name="Text Box 19"/>
            <p:cNvSpPr txBox="1">
              <a:spLocks noChangeArrowheads="1"/>
            </p:cNvSpPr>
            <p:nvPr/>
          </p:nvSpPr>
          <p:spPr bwMode="auto">
            <a:xfrm rot="-430230">
              <a:off x="2142" y="2273"/>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ACK 1</a:t>
              </a:r>
            </a:p>
          </p:txBody>
        </p:sp>
      </p:grpSp>
      <p:sp>
        <p:nvSpPr>
          <p:cNvPr id="114" name="AutoShape 20"/>
          <p:cNvSpPr>
            <a:spLocks noChangeArrowheads="1"/>
          </p:cNvSpPr>
          <p:nvPr/>
        </p:nvSpPr>
        <p:spPr bwMode="auto">
          <a:xfrm>
            <a:off x="8301038" y="1677988"/>
            <a:ext cx="755650" cy="728662"/>
          </a:xfrm>
          <a:prstGeom prst="irregularSeal1">
            <a:avLst/>
          </a:prstGeom>
          <a:solidFill>
            <a:srgbClr val="FF5050"/>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15" name="Text Box 24"/>
          <p:cNvSpPr txBox="1">
            <a:spLocks noChangeArrowheads="1"/>
          </p:cNvSpPr>
          <p:nvPr/>
        </p:nvSpPr>
        <p:spPr bwMode="auto">
          <a:xfrm>
            <a:off x="5408613" y="329088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0000"/>
                </a:solidFill>
                <a:ea typeface="黑体" panose="02010609060101010101" pitchFamily="49" charset="-122"/>
              </a:rPr>
              <a:t>超时重发</a:t>
            </a:r>
          </a:p>
        </p:txBody>
      </p:sp>
      <p:grpSp>
        <p:nvGrpSpPr>
          <p:cNvPr id="116" name="Group 25"/>
          <p:cNvGrpSpPr>
            <a:grpSpLocks/>
          </p:cNvGrpSpPr>
          <p:nvPr/>
        </p:nvGrpSpPr>
        <p:grpSpPr bwMode="auto">
          <a:xfrm>
            <a:off x="5910263" y="2327275"/>
            <a:ext cx="798512" cy="927100"/>
            <a:chOff x="3153" y="2204"/>
            <a:chExt cx="503" cy="584"/>
          </a:xfrm>
        </p:grpSpPr>
        <p:sp>
          <p:nvSpPr>
            <p:cNvPr id="1384493" name="AutoShape 26"/>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84494" name="Text Box 27"/>
            <p:cNvSpPr txBox="1">
              <a:spLocks noChangeArrowheads="1"/>
            </p:cNvSpPr>
            <p:nvPr/>
          </p:nvSpPr>
          <p:spPr bwMode="auto">
            <a:xfrm>
              <a:off x="3153" y="2311"/>
              <a:ext cx="4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t</a:t>
              </a:r>
              <a:r>
                <a:rPr lang="en-US" altLang="zh-CN" sz="2800" b="1" baseline="-25000">
                  <a:ea typeface="黑体" panose="02010609060101010101" pitchFamily="49" charset="-122"/>
                </a:rPr>
                <a:t>out</a:t>
              </a:r>
            </a:p>
          </p:txBody>
        </p:sp>
      </p:grpSp>
      <p:sp>
        <p:nvSpPr>
          <p:cNvPr id="138449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6C11DA-B87A-47D3-A649-26B88E75B480}" type="slidenum">
              <a:rPr lang="zh-CN" altLang="en-US" smtClean="0"/>
              <a:pPr eaLnBrk="1" hangingPunct="1"/>
              <a:t>7</a:t>
            </a:fld>
            <a:endParaRPr lang="en-US" altLang="zh-CN" smtClean="0"/>
          </a:p>
        </p:txBody>
      </p:sp>
      <p:sp>
        <p:nvSpPr>
          <p:cNvPr id="138449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childTnLst>
                                </p:cTn>
                              </p:par>
                            </p:childTnLst>
                          </p:cTn>
                        </p:par>
                        <p:par>
                          <p:cTn id="12" fill="hold" nodeType="afterGroup">
                            <p:stCondLst>
                              <p:cond delay="1"/>
                            </p:stCondLst>
                            <p:childTnLst>
                              <p:par>
                                <p:cTn id="13" presetID="35" presetClass="emph" presetSubtype="0" repeatCount="5000" fill="hold" grpId="1" nodeType="afterEffect">
                                  <p:stCondLst>
                                    <p:cond delay="0"/>
                                  </p:stCondLst>
                                  <p:childTnLst>
                                    <p:anim calcmode="discrete" valueType="str">
                                      <p:cBhvr>
                                        <p:cTn id="14" dur="500" fill="hold"/>
                                        <p:tgtEl>
                                          <p:spTgt spid="93"/>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2501"/>
                            </p:stCondLst>
                            <p:childTnLst>
                              <p:par>
                                <p:cTn id="16" presetID="1" presetClass="entr" presetSubtype="0" fill="hold" grpId="0" nodeType="after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childTnLst>
                          </p:cTn>
                        </p:par>
                        <p:par>
                          <p:cTn id="18" fill="hold" nodeType="afterGroup">
                            <p:stCondLst>
                              <p:cond delay="2502"/>
                            </p:stCondLst>
                            <p:childTnLst>
                              <p:par>
                                <p:cTn id="19" presetID="1" presetClass="entr" presetSubtype="0" fill="hold" nodeType="afterEffect">
                                  <p:stCondLst>
                                    <p:cond delay="500"/>
                                  </p:stCondLst>
                                  <p:childTnLst>
                                    <p:set>
                                      <p:cBhvr>
                                        <p:cTn id="20" dur="1" fill="hold">
                                          <p:stCondLst>
                                            <p:cond delay="0"/>
                                          </p:stCondLst>
                                        </p:cTn>
                                        <p:tgtEl>
                                          <p:spTgt spid="95"/>
                                        </p:tgtEl>
                                        <p:attrNameLst>
                                          <p:attrName>style.visibility</p:attrName>
                                        </p:attrNameLst>
                                      </p:cBhvr>
                                      <p:to>
                                        <p:strVal val="visible"/>
                                      </p:to>
                                    </p:set>
                                  </p:childTnLst>
                                </p:cTn>
                              </p:par>
                              <p:par>
                                <p:cTn id="21" presetID="35" presetClass="emph" presetSubtype="0" repeatCount="5000" fill="hold" nodeType="withEffect">
                                  <p:stCondLst>
                                    <p:cond delay="500"/>
                                  </p:stCondLst>
                                  <p:childTnLst>
                                    <p:anim calcmode="discrete" valueType="str">
                                      <p:cBhvr>
                                        <p:cTn id="22" dur="500" fill="hold"/>
                                        <p:tgtEl>
                                          <p:spTgt spid="95"/>
                                        </p:tgtEl>
                                        <p:attrNameLst>
                                          <p:attrName>style.visibility</p:attrName>
                                        </p:attrNameLst>
                                      </p:cBhvr>
                                      <p:tavLst>
                                        <p:tav tm="0">
                                          <p:val>
                                            <p:strVal val="hidden"/>
                                          </p:val>
                                        </p:tav>
                                        <p:tav tm="50000">
                                          <p:val>
                                            <p:strVal val="visible"/>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4"/>
                                        </p:tgtEl>
                                        <p:attrNameLst>
                                          <p:attrName>style.visibility</p:attrName>
                                        </p:attrNameLst>
                                      </p:cBhvr>
                                      <p:to>
                                        <p:strVal val="visible"/>
                                      </p:to>
                                    </p:set>
                                  </p:childTnLst>
                                </p:cTn>
                              </p:par>
                            </p:childTnLst>
                          </p:cTn>
                        </p:par>
                        <p:par>
                          <p:cTn id="27" fill="hold" nodeType="afterGroup">
                            <p:stCondLst>
                              <p:cond delay="1"/>
                            </p:stCondLst>
                            <p:childTnLst>
                              <p:par>
                                <p:cTn id="28" presetID="35" presetClass="emph" presetSubtype="0" repeatCount="5000" fill="hold" grpId="1" nodeType="afterEffect">
                                  <p:stCondLst>
                                    <p:cond delay="0"/>
                                  </p:stCondLst>
                                  <p:childTnLst>
                                    <p:anim calcmode="discrete" valueType="str">
                                      <p:cBhvr>
                                        <p:cTn id="29" dur="500" fill="hold"/>
                                        <p:tgtEl>
                                          <p:spTgt spid="94"/>
                                        </p:tgtEl>
                                        <p:attrNameLst>
                                          <p:attrName>style.visibility</p:attrName>
                                        </p:attrNameLst>
                                      </p:cBhvr>
                                      <p:tavLst>
                                        <p:tav tm="0">
                                          <p:val>
                                            <p:strVal val="hidden"/>
                                          </p:val>
                                        </p:tav>
                                        <p:tav tm="50000">
                                          <p:val>
                                            <p:strVal val="visible"/>
                                          </p:val>
                                        </p:tav>
                                      </p:tavLst>
                                    </p:anim>
                                  </p:childTnLst>
                                </p:cTn>
                              </p:par>
                            </p:childTnLst>
                          </p:cTn>
                        </p:par>
                        <p:par>
                          <p:cTn id="30" fill="hold" nodeType="afterGroup">
                            <p:stCondLst>
                              <p:cond delay="2501"/>
                            </p:stCondLst>
                            <p:childTnLst>
                              <p:par>
                                <p:cTn id="31" presetID="22" presetClass="entr" presetSubtype="8" fill="hold" nodeType="after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wipe(left)">
                                      <p:cBhvr>
                                        <p:cTn id="33" dur="500"/>
                                        <p:tgtEl>
                                          <p:spTgt spid="7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nodeType="clickEffect">
                                  <p:stCondLst>
                                    <p:cond delay="0"/>
                                  </p:stCondLst>
                                  <p:childTnLst>
                                    <p:set>
                                      <p:cBhvr>
                                        <p:cTn id="37" dur="1" fill="hold">
                                          <p:stCondLst>
                                            <p:cond delay="0"/>
                                          </p:stCondLst>
                                        </p:cTn>
                                        <p:tgtEl>
                                          <p:spTgt spid="84"/>
                                        </p:tgtEl>
                                        <p:attrNameLst>
                                          <p:attrName>style.visibility</p:attrName>
                                        </p:attrNameLst>
                                      </p:cBhvr>
                                      <p:to>
                                        <p:strVal val="visible"/>
                                      </p:to>
                                    </p:set>
                                    <p:animEffect transition="in" filter="wipe(right)">
                                      <p:cBhvr>
                                        <p:cTn id="38" dur="500"/>
                                        <p:tgtEl>
                                          <p:spTgt spid="8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102"/>
                                        </p:tgtEl>
                                        <p:attrNameLst>
                                          <p:attrName>style.visibility</p:attrName>
                                        </p:attrNameLst>
                                      </p:cBhvr>
                                      <p:to>
                                        <p:strVal val="visible"/>
                                      </p:to>
                                    </p:set>
                                    <p:animEffect transition="in" filter="wipe(left)">
                                      <p:cBhvr>
                                        <p:cTn id="43" dur="500"/>
                                        <p:tgtEl>
                                          <p:spTgt spid="102"/>
                                        </p:tgtEl>
                                      </p:cBhvr>
                                    </p:animEffect>
                                  </p:childTnLst>
                                </p:cTn>
                              </p:par>
                              <p:par>
                                <p:cTn id="44" presetID="1" presetClass="entr" presetSubtype="0" fill="hold" nodeType="withEffect">
                                  <p:stCondLst>
                                    <p:cond delay="0"/>
                                  </p:stCondLst>
                                  <p:childTnLst>
                                    <p:set>
                                      <p:cBhvr>
                                        <p:cTn id="45" dur="1" fill="hold">
                                          <p:stCondLst>
                                            <p:cond delay="0"/>
                                          </p:stCondLst>
                                        </p:cTn>
                                        <p:tgtEl>
                                          <p:spTgt spid="116"/>
                                        </p:tgtEl>
                                        <p:attrNameLst>
                                          <p:attrName>style.visibility</p:attrName>
                                        </p:attrNameLst>
                                      </p:cBhvr>
                                      <p:to>
                                        <p:strVal val="visible"/>
                                      </p:to>
                                    </p:set>
                                  </p:childTnLst>
                                </p:cTn>
                              </p:par>
                            </p:childTnLst>
                          </p:cTn>
                        </p:par>
                        <p:par>
                          <p:cTn id="46" fill="hold" nodeType="afterGroup">
                            <p:stCondLst>
                              <p:cond delay="500"/>
                            </p:stCondLst>
                            <p:childTnLst>
                              <p:par>
                                <p:cTn id="47" presetID="1" presetClass="entr" presetSubtype="0" fill="hold" grpId="0" nodeType="afterEffect">
                                  <p:stCondLst>
                                    <p:cond delay="500"/>
                                  </p:stCondLst>
                                  <p:childTnLst>
                                    <p:set>
                                      <p:cBhvr>
                                        <p:cTn id="48" dur="1" fill="hold">
                                          <p:stCondLst>
                                            <p:cond delay="0"/>
                                          </p:stCondLst>
                                        </p:cTn>
                                        <p:tgtEl>
                                          <p:spTgt spid="114"/>
                                        </p:tgtEl>
                                        <p:attrNameLst>
                                          <p:attrName>style.visibility</p:attrName>
                                        </p:attrNameLst>
                                      </p:cBhvr>
                                      <p:to>
                                        <p:strVal val="visible"/>
                                      </p:to>
                                    </p:set>
                                  </p:childTnLst>
                                </p:cTn>
                              </p:par>
                            </p:childTnLst>
                          </p:cTn>
                        </p:par>
                        <p:par>
                          <p:cTn id="49" fill="hold" nodeType="afterGroup">
                            <p:stCondLst>
                              <p:cond delay="1001"/>
                            </p:stCondLst>
                            <p:childTnLst>
                              <p:par>
                                <p:cTn id="50" presetID="35" presetClass="emph" presetSubtype="0" repeatCount="5000" fill="hold" grpId="1" nodeType="afterEffect">
                                  <p:stCondLst>
                                    <p:cond delay="0"/>
                                  </p:stCondLst>
                                  <p:childTnLst>
                                    <p:anim calcmode="discrete" valueType="str">
                                      <p:cBhvr>
                                        <p:cTn id="51" dur="500" fill="hold"/>
                                        <p:tgtEl>
                                          <p:spTgt spid="114"/>
                                        </p:tgtEl>
                                        <p:attrNameLst>
                                          <p:attrName>style.visibility</p:attrName>
                                        </p:attrNameLst>
                                      </p:cBhvr>
                                      <p:tavLst>
                                        <p:tav tm="0">
                                          <p:val>
                                            <p:strVal val="hidden"/>
                                          </p:val>
                                        </p:tav>
                                        <p:tav tm="50000">
                                          <p:val>
                                            <p:strVal val="visible"/>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35" presetClass="emph" presetSubtype="0" repeatCount="5000" fill="hold" nodeType="clickEffect">
                                  <p:stCondLst>
                                    <p:cond delay="0"/>
                                  </p:stCondLst>
                                  <p:childTnLst>
                                    <p:anim calcmode="discrete" valueType="str">
                                      <p:cBhvr>
                                        <p:cTn id="55" dur="500" fill="hold"/>
                                        <p:tgtEl>
                                          <p:spTgt spid="116"/>
                                        </p:tgtEl>
                                        <p:attrNameLst>
                                          <p:attrName>style.visibility</p:attrName>
                                        </p:attrNameLst>
                                      </p:cBhvr>
                                      <p:tavLst>
                                        <p:tav tm="0">
                                          <p:val>
                                            <p:strVal val="hidden"/>
                                          </p:val>
                                        </p:tav>
                                        <p:tav tm="50000">
                                          <p:val>
                                            <p:strVal val="visible"/>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115"/>
                                        </p:tgtEl>
                                        <p:attrNameLst>
                                          <p:attrName>style.visibility</p:attrName>
                                        </p:attrNameLst>
                                      </p:cBhvr>
                                      <p:to>
                                        <p:strVal val="visible"/>
                                      </p:to>
                                    </p:set>
                                  </p:childTnLst>
                                </p:cTn>
                              </p:par>
                            </p:childTnLst>
                          </p:cTn>
                        </p:par>
                        <p:par>
                          <p:cTn id="60" fill="hold" nodeType="afterGroup">
                            <p:stCondLst>
                              <p:cond delay="1"/>
                            </p:stCondLst>
                            <p:childTnLst>
                              <p:par>
                                <p:cTn id="61" presetID="35" presetClass="emph" presetSubtype="0" repeatCount="5000" fill="hold" grpId="1" nodeType="afterEffect">
                                  <p:stCondLst>
                                    <p:cond delay="0"/>
                                  </p:stCondLst>
                                  <p:childTnLst>
                                    <p:anim calcmode="discrete" valueType="str">
                                      <p:cBhvr>
                                        <p:cTn id="62" dur="500" fill="hold"/>
                                        <p:tgtEl>
                                          <p:spTgt spid="115"/>
                                        </p:tgtEl>
                                        <p:attrNameLst>
                                          <p:attrName>style.visibility</p:attrName>
                                        </p:attrNameLst>
                                      </p:cBhvr>
                                      <p:tavLst>
                                        <p:tav tm="0">
                                          <p:val>
                                            <p:strVal val="hidden"/>
                                          </p:val>
                                        </p:tav>
                                        <p:tav tm="50000">
                                          <p:val>
                                            <p:strVal val="visible"/>
                                          </p:val>
                                        </p:tav>
                                      </p:tavLst>
                                    </p:anim>
                                  </p:childTnLst>
                                </p:cTn>
                              </p:par>
                            </p:childTnLst>
                          </p:cTn>
                        </p:par>
                        <p:par>
                          <p:cTn id="63" fill="hold" nodeType="afterGroup">
                            <p:stCondLst>
                              <p:cond delay="2501"/>
                            </p:stCondLst>
                            <p:childTnLst>
                              <p:par>
                                <p:cTn id="64" presetID="22" presetClass="entr" presetSubtype="8" fill="hold" nodeType="afterEffect">
                                  <p:stCondLst>
                                    <p:cond delay="0"/>
                                  </p:stCondLst>
                                  <p:childTnLst>
                                    <p:set>
                                      <p:cBhvr>
                                        <p:cTn id="65" dur="1" fill="hold">
                                          <p:stCondLst>
                                            <p:cond delay="0"/>
                                          </p:stCondLst>
                                        </p:cTn>
                                        <p:tgtEl>
                                          <p:spTgt spid="106"/>
                                        </p:tgtEl>
                                        <p:attrNameLst>
                                          <p:attrName>style.visibility</p:attrName>
                                        </p:attrNameLst>
                                      </p:cBhvr>
                                      <p:to>
                                        <p:strVal val="visible"/>
                                      </p:to>
                                    </p:set>
                                    <p:animEffect transition="in" filter="wipe(left)">
                                      <p:cBhvr>
                                        <p:cTn id="66" dur="500"/>
                                        <p:tgtEl>
                                          <p:spTgt spid="10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2" fill="hold" nodeType="clickEffect">
                                  <p:stCondLst>
                                    <p:cond delay="0"/>
                                  </p:stCondLst>
                                  <p:childTnLst>
                                    <p:set>
                                      <p:cBhvr>
                                        <p:cTn id="70" dur="1" fill="hold">
                                          <p:stCondLst>
                                            <p:cond delay="0"/>
                                          </p:stCondLst>
                                        </p:cTn>
                                        <p:tgtEl>
                                          <p:spTgt spid="111"/>
                                        </p:tgtEl>
                                        <p:attrNameLst>
                                          <p:attrName>style.visibility</p:attrName>
                                        </p:attrNameLst>
                                      </p:cBhvr>
                                      <p:to>
                                        <p:strVal val="visible"/>
                                      </p:to>
                                    </p:set>
                                    <p:animEffect transition="in" filter="wipe(right)">
                                      <p:cBhvr>
                                        <p:cTn id="71"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P spid="93" grpId="0" animBg="1"/>
      <p:bldP spid="93" grpId="1" animBg="1"/>
      <p:bldP spid="94" grpId="0"/>
      <p:bldP spid="94" grpId="1"/>
      <p:bldP spid="114" grpId="0" animBg="1"/>
      <p:bldP spid="114" grpId="1" animBg="1"/>
      <p:bldP spid="115" grpId="0"/>
      <p:bldP spid="115"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547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zh-CN" smtClean="0">
                <a:ea typeface="黑体" panose="02010609060101010101" pitchFamily="49" charset="-122"/>
              </a:rPr>
              <a:t>确认丢失和确认迟到</a:t>
            </a:r>
            <a:endParaRPr lang="zh-CN" altLang="en-US" smtClean="0">
              <a:ea typeface="黑体" panose="02010609060101010101" pitchFamily="49" charset="-122"/>
            </a:endParaRPr>
          </a:p>
        </p:txBody>
      </p:sp>
      <p:sp>
        <p:nvSpPr>
          <p:cNvPr id="1385474" name="内容占位符 9"/>
          <p:cNvSpPr>
            <a:spLocks noGrp="1" noChangeArrowheads="1"/>
          </p:cNvSpPr>
          <p:nvPr>
            <p:ph idx="1"/>
          </p:nvPr>
        </p:nvSpPr>
        <p:spPr>
          <a:xfrm>
            <a:off x="495300" y="1196975"/>
            <a:ext cx="9066213" cy="4933950"/>
          </a:xfrm>
        </p:spPr>
        <p:txBody>
          <a:bodyPr/>
          <a:lstStyle/>
          <a:p>
            <a:r>
              <a:rPr lang="zh-CN" altLang="en-US" sz="3000" dirty="0" smtClean="0">
                <a:solidFill>
                  <a:srgbClr val="FF0000"/>
                </a:solidFill>
                <a:ea typeface="黑体" panose="02010609060101010101" pitchFamily="49" charset="-122"/>
              </a:rPr>
              <a:t>确认丢失</a:t>
            </a:r>
            <a:endParaRPr lang="en-US" altLang="zh-CN" sz="3000" dirty="0" smtClean="0">
              <a:solidFill>
                <a:srgbClr val="FF0000"/>
              </a:solidFill>
              <a:ea typeface="黑体" panose="02010609060101010101" pitchFamily="49" charset="-122"/>
            </a:endParaRPr>
          </a:p>
          <a:p>
            <a:pPr lvl="1"/>
            <a:r>
              <a:rPr lang="zh-CN" altLang="en-US" sz="2600" dirty="0" smtClean="0">
                <a:ea typeface="黑体" panose="02010609060101010101" pitchFamily="49" charset="-122"/>
              </a:rPr>
              <a:t>若 </a:t>
            </a:r>
            <a:r>
              <a:rPr lang="en-US" altLang="zh-CN" sz="2600" dirty="0" smtClean="0">
                <a:ea typeface="黑体" panose="02010609060101010101" pitchFamily="49" charset="-122"/>
              </a:rPr>
              <a:t>B </a:t>
            </a:r>
            <a:r>
              <a:rPr lang="zh-CN" altLang="zh-CN" sz="2600" dirty="0" smtClean="0">
                <a:ea typeface="黑体" panose="02010609060101010101" pitchFamily="49" charset="-122"/>
              </a:rPr>
              <a:t>所发送的对</a:t>
            </a:r>
            <a:r>
              <a:rPr lang="en-US" altLang="zh-CN" sz="2600" dirty="0" smtClean="0">
                <a:ea typeface="黑体" panose="02010609060101010101" pitchFamily="49" charset="-122"/>
              </a:rPr>
              <a:t> M1 </a:t>
            </a:r>
            <a:r>
              <a:rPr lang="zh-CN" altLang="zh-CN" sz="2600" dirty="0" smtClean="0">
                <a:ea typeface="黑体" panose="02010609060101010101" pitchFamily="49" charset="-122"/>
              </a:rPr>
              <a:t>的确认丢失了</a:t>
            </a:r>
            <a:r>
              <a:rPr lang="zh-CN" altLang="en-US" sz="2600" dirty="0" smtClean="0">
                <a:ea typeface="黑体" panose="02010609060101010101" pitchFamily="49" charset="-122"/>
              </a:rPr>
              <a:t>，那么 </a:t>
            </a:r>
            <a:r>
              <a:rPr lang="en-US" altLang="zh-CN" sz="2600" dirty="0" smtClean="0">
                <a:ea typeface="黑体" panose="02010609060101010101" pitchFamily="49" charset="-122"/>
              </a:rPr>
              <a:t>A </a:t>
            </a:r>
            <a:r>
              <a:rPr lang="zh-CN" altLang="zh-CN" sz="2600" dirty="0" smtClean="0">
                <a:ea typeface="黑体" panose="02010609060101010101" pitchFamily="49" charset="-122"/>
              </a:rPr>
              <a:t>在设定的超时重传时间内</a:t>
            </a:r>
            <a:r>
              <a:rPr lang="zh-CN" altLang="en-US" sz="2600" dirty="0" smtClean="0">
                <a:ea typeface="黑体" panose="02010609060101010101" pitchFamily="49" charset="-122"/>
              </a:rPr>
              <a:t>不能</a:t>
            </a:r>
            <a:r>
              <a:rPr lang="zh-CN" altLang="zh-CN" sz="2600" dirty="0" smtClean="0">
                <a:ea typeface="黑体" panose="02010609060101010101" pitchFamily="49" charset="-122"/>
              </a:rPr>
              <a:t>收到确认，但</a:t>
            </a:r>
            <a:r>
              <a:rPr lang="en-US" altLang="zh-CN" sz="2600" dirty="0" smtClean="0">
                <a:ea typeface="黑体" panose="02010609060101010101" pitchFamily="49" charset="-122"/>
              </a:rPr>
              <a:t> A </a:t>
            </a:r>
            <a:r>
              <a:rPr lang="zh-CN" altLang="zh-CN" sz="2600" dirty="0" smtClean="0">
                <a:ea typeface="黑体" panose="02010609060101010101" pitchFamily="49" charset="-122"/>
              </a:rPr>
              <a:t>并无法知道</a:t>
            </a:r>
            <a:r>
              <a:rPr lang="zh-CN" altLang="en-US" sz="2600" dirty="0" smtClean="0">
                <a:ea typeface="黑体" panose="02010609060101010101" pitchFamily="49" charset="-122"/>
              </a:rPr>
              <a:t>：</a:t>
            </a:r>
            <a:r>
              <a:rPr lang="zh-CN" altLang="zh-CN" sz="2600" dirty="0" smtClean="0">
                <a:ea typeface="黑体" panose="02010609060101010101" pitchFamily="49" charset="-122"/>
              </a:rPr>
              <a:t>是自己发送的分组出错、丢失</a:t>
            </a:r>
            <a:r>
              <a:rPr lang="zh-CN" altLang="en-US" sz="2600" dirty="0" smtClean="0">
                <a:ea typeface="黑体" panose="02010609060101010101" pitchFamily="49" charset="-122"/>
              </a:rPr>
              <a:t>了</a:t>
            </a:r>
            <a:r>
              <a:rPr lang="zh-CN" altLang="zh-CN" sz="2600" dirty="0" smtClean="0">
                <a:ea typeface="黑体" panose="02010609060101010101" pitchFamily="49" charset="-122"/>
              </a:rPr>
              <a:t>，</a:t>
            </a:r>
            <a:r>
              <a:rPr lang="zh-CN" altLang="zh-CN" sz="2600" dirty="0" smtClean="0">
                <a:solidFill>
                  <a:srgbClr val="0000FF"/>
                </a:solidFill>
                <a:ea typeface="黑体" panose="02010609060101010101" pitchFamily="49" charset="-122"/>
              </a:rPr>
              <a:t>或者</a:t>
            </a:r>
            <a:r>
              <a:rPr lang="en-US" altLang="zh-CN" sz="2600" dirty="0" smtClean="0">
                <a:solidFill>
                  <a:srgbClr val="0000FF"/>
                </a:solidFill>
                <a:ea typeface="黑体" panose="02010609060101010101" pitchFamily="49" charset="-122"/>
              </a:rPr>
              <a:t> </a:t>
            </a:r>
            <a:r>
              <a:rPr lang="zh-CN" altLang="zh-CN" sz="2600" dirty="0" smtClean="0">
                <a:ea typeface="黑体" panose="02010609060101010101" pitchFamily="49" charset="-122"/>
              </a:rPr>
              <a:t>是</a:t>
            </a:r>
            <a:r>
              <a:rPr lang="en-US" altLang="zh-CN" sz="2600" dirty="0" smtClean="0">
                <a:ea typeface="黑体" panose="02010609060101010101" pitchFamily="49" charset="-122"/>
              </a:rPr>
              <a:t> B </a:t>
            </a:r>
            <a:r>
              <a:rPr lang="zh-CN" altLang="zh-CN" sz="2600" dirty="0" smtClean="0">
                <a:ea typeface="黑体" panose="02010609060101010101" pitchFamily="49" charset="-122"/>
              </a:rPr>
              <a:t>发送的确认丢失了。因此</a:t>
            </a:r>
            <a:r>
              <a:rPr lang="en-US" altLang="zh-CN" sz="2600" dirty="0" smtClean="0">
                <a:ea typeface="黑体" panose="02010609060101010101" pitchFamily="49" charset="-122"/>
              </a:rPr>
              <a:t> </a:t>
            </a:r>
            <a:r>
              <a:rPr lang="en-US" altLang="zh-CN" sz="2600" dirty="0" smtClean="0">
                <a:solidFill>
                  <a:srgbClr val="FF0000"/>
                </a:solidFill>
                <a:ea typeface="黑体" panose="02010609060101010101" pitchFamily="49" charset="-122"/>
              </a:rPr>
              <a:t>A </a:t>
            </a:r>
            <a:r>
              <a:rPr lang="zh-CN" altLang="zh-CN" sz="2600" dirty="0" smtClean="0">
                <a:solidFill>
                  <a:srgbClr val="FF0000"/>
                </a:solidFill>
                <a:ea typeface="黑体" panose="02010609060101010101" pitchFamily="49" charset="-122"/>
              </a:rPr>
              <a:t>在超时计时器到期后就要重传</a:t>
            </a:r>
            <a:r>
              <a:rPr lang="en-US" altLang="zh-CN" sz="2600" dirty="0" smtClean="0">
                <a:solidFill>
                  <a:srgbClr val="FF0000"/>
                </a:solidFill>
                <a:ea typeface="黑体" panose="02010609060101010101" pitchFamily="49" charset="-122"/>
              </a:rPr>
              <a:t> M1</a:t>
            </a:r>
            <a:r>
              <a:rPr lang="zh-CN" altLang="zh-CN" sz="2600" dirty="0" smtClean="0">
                <a:solidFill>
                  <a:srgbClr val="FF0000"/>
                </a:solidFill>
                <a:ea typeface="黑体" panose="02010609060101010101" pitchFamily="49" charset="-122"/>
              </a:rPr>
              <a:t>。</a:t>
            </a:r>
            <a:endParaRPr lang="en-US" altLang="zh-CN" sz="2600" dirty="0" smtClean="0">
              <a:solidFill>
                <a:srgbClr val="FF0000"/>
              </a:solidFill>
              <a:ea typeface="黑体" panose="02010609060101010101" pitchFamily="49" charset="-122"/>
            </a:endParaRPr>
          </a:p>
          <a:p>
            <a:pPr lvl="1"/>
            <a:r>
              <a:rPr lang="zh-CN" altLang="zh-CN" sz="2600" dirty="0" smtClean="0">
                <a:ea typeface="黑体" panose="02010609060101010101" pitchFamily="49" charset="-122"/>
              </a:rPr>
              <a:t>假定</a:t>
            </a:r>
            <a:r>
              <a:rPr lang="en-US" altLang="zh-CN" sz="2600" dirty="0" smtClean="0">
                <a:ea typeface="黑体" panose="02010609060101010101" pitchFamily="49" charset="-122"/>
              </a:rPr>
              <a:t> B </a:t>
            </a:r>
            <a:r>
              <a:rPr lang="zh-CN" altLang="zh-CN" sz="2600" dirty="0" smtClean="0">
                <a:ea typeface="黑体" panose="02010609060101010101" pitchFamily="49" charset="-122"/>
              </a:rPr>
              <a:t>又收到了重传的分组</a:t>
            </a:r>
            <a:r>
              <a:rPr lang="en-US" altLang="zh-CN" sz="2600" dirty="0" smtClean="0">
                <a:ea typeface="黑体" panose="02010609060101010101" pitchFamily="49" charset="-122"/>
              </a:rPr>
              <a:t> M1</a:t>
            </a:r>
            <a:r>
              <a:rPr lang="zh-CN" altLang="zh-CN" sz="2600" dirty="0" smtClean="0">
                <a:ea typeface="黑体" panose="02010609060101010101" pitchFamily="49" charset="-122"/>
              </a:rPr>
              <a:t>。这时</a:t>
            </a:r>
            <a:r>
              <a:rPr lang="en-US" altLang="zh-CN" sz="2600" dirty="0" smtClean="0">
                <a:ea typeface="黑体" panose="02010609060101010101" pitchFamily="49" charset="-122"/>
              </a:rPr>
              <a:t> B </a:t>
            </a:r>
            <a:r>
              <a:rPr lang="zh-CN" altLang="zh-CN" sz="2600" dirty="0" smtClean="0">
                <a:ea typeface="黑体" panose="02010609060101010101" pitchFamily="49" charset="-122"/>
              </a:rPr>
              <a:t>应采取两个行动</a:t>
            </a:r>
            <a:r>
              <a:rPr lang="zh-CN" altLang="en-US" sz="2600" dirty="0" smtClean="0">
                <a:ea typeface="黑体" panose="02010609060101010101" pitchFamily="49" charset="-122"/>
              </a:rPr>
              <a:t>：</a:t>
            </a:r>
            <a:endParaRPr lang="zh-CN" altLang="zh-CN" sz="2600" dirty="0" smtClean="0">
              <a:ea typeface="黑体" panose="02010609060101010101" pitchFamily="49" charset="-122"/>
            </a:endParaRPr>
          </a:p>
          <a:p>
            <a:pPr lvl="2"/>
            <a:r>
              <a:rPr lang="zh-CN" altLang="zh-CN" sz="2200" dirty="0" smtClean="0">
                <a:ea typeface="黑体" panose="02010609060101010101" pitchFamily="49" charset="-122"/>
              </a:rPr>
              <a:t>第一，</a:t>
            </a:r>
            <a:r>
              <a:rPr lang="zh-CN" altLang="zh-CN" sz="2200" dirty="0" smtClean="0">
                <a:solidFill>
                  <a:srgbClr val="FF0000"/>
                </a:solidFill>
                <a:ea typeface="黑体" panose="02010609060101010101" pitchFamily="49" charset="-122"/>
              </a:rPr>
              <a:t>丢弃</a:t>
            </a:r>
            <a:r>
              <a:rPr lang="zh-CN" altLang="zh-CN" sz="2200" dirty="0" smtClean="0">
                <a:ea typeface="黑体" panose="02010609060101010101" pitchFamily="49" charset="-122"/>
              </a:rPr>
              <a:t>这个重复的分组</a:t>
            </a:r>
            <a:r>
              <a:rPr lang="en-US" altLang="zh-CN" sz="2200" dirty="0" smtClean="0">
                <a:ea typeface="黑体" panose="02010609060101010101" pitchFamily="49" charset="-122"/>
              </a:rPr>
              <a:t> M1</a:t>
            </a:r>
            <a:r>
              <a:rPr lang="zh-CN" altLang="zh-CN" sz="2200" dirty="0" smtClean="0">
                <a:ea typeface="黑体" panose="02010609060101010101" pitchFamily="49" charset="-122"/>
              </a:rPr>
              <a:t>，不向上层交付。</a:t>
            </a:r>
          </a:p>
          <a:p>
            <a:pPr lvl="2"/>
            <a:r>
              <a:rPr lang="zh-CN" altLang="zh-CN" sz="2200" dirty="0" smtClean="0">
                <a:ea typeface="黑体" panose="02010609060101010101" pitchFamily="49" charset="-122"/>
              </a:rPr>
              <a:t>第二，</a:t>
            </a:r>
            <a:r>
              <a:rPr lang="zh-CN" altLang="zh-CN" sz="2200" dirty="0" smtClean="0">
                <a:solidFill>
                  <a:srgbClr val="FF0000"/>
                </a:solidFill>
                <a:ea typeface="黑体" panose="02010609060101010101" pitchFamily="49" charset="-122"/>
              </a:rPr>
              <a:t>向</a:t>
            </a:r>
            <a:r>
              <a:rPr lang="en-US" altLang="zh-CN" sz="2200" dirty="0" smtClean="0">
                <a:solidFill>
                  <a:srgbClr val="FF0000"/>
                </a:solidFill>
                <a:ea typeface="黑体" panose="02010609060101010101" pitchFamily="49" charset="-122"/>
              </a:rPr>
              <a:t> A </a:t>
            </a:r>
            <a:r>
              <a:rPr lang="zh-CN" altLang="zh-CN" sz="2200" dirty="0" smtClean="0">
                <a:solidFill>
                  <a:srgbClr val="FF0000"/>
                </a:solidFill>
                <a:ea typeface="黑体" panose="02010609060101010101" pitchFamily="49" charset="-122"/>
              </a:rPr>
              <a:t>发送确认。</a:t>
            </a:r>
            <a:r>
              <a:rPr lang="zh-CN" altLang="zh-CN" sz="2200" dirty="0" smtClean="0">
                <a:ea typeface="黑体" panose="02010609060101010101" pitchFamily="49" charset="-122"/>
              </a:rPr>
              <a:t>不能认为已经发送过确认就不再发送，因为</a:t>
            </a:r>
            <a:r>
              <a:rPr lang="en-US" altLang="zh-CN" sz="2200" dirty="0" smtClean="0">
                <a:ea typeface="黑体" panose="02010609060101010101" pitchFamily="49" charset="-122"/>
              </a:rPr>
              <a:t> A </a:t>
            </a:r>
            <a:r>
              <a:rPr lang="zh-CN" altLang="zh-CN" sz="2200" dirty="0" smtClean="0">
                <a:ea typeface="黑体" panose="02010609060101010101" pitchFamily="49" charset="-122"/>
              </a:rPr>
              <a:t>之所以重传</a:t>
            </a:r>
            <a:r>
              <a:rPr lang="en-US" altLang="zh-CN" sz="2200" dirty="0" smtClean="0">
                <a:ea typeface="黑体" panose="02010609060101010101" pitchFamily="49" charset="-122"/>
              </a:rPr>
              <a:t> M1 </a:t>
            </a:r>
            <a:r>
              <a:rPr lang="zh-CN" altLang="zh-CN" sz="2200" dirty="0" smtClean="0">
                <a:ea typeface="黑体" panose="02010609060101010101" pitchFamily="49" charset="-122"/>
              </a:rPr>
              <a:t>就表示</a:t>
            </a:r>
            <a:r>
              <a:rPr lang="en-US" altLang="zh-CN" sz="2200" dirty="0" smtClean="0">
                <a:ea typeface="黑体" panose="02010609060101010101" pitchFamily="49" charset="-122"/>
              </a:rPr>
              <a:t> A </a:t>
            </a:r>
            <a:r>
              <a:rPr lang="zh-CN" altLang="zh-CN" sz="2200" dirty="0" smtClean="0">
                <a:ea typeface="黑体" panose="02010609060101010101" pitchFamily="49" charset="-122"/>
              </a:rPr>
              <a:t>没有收到对</a:t>
            </a:r>
            <a:r>
              <a:rPr lang="en-US" altLang="zh-CN" sz="2200" dirty="0" smtClean="0">
                <a:ea typeface="黑体" panose="02010609060101010101" pitchFamily="49" charset="-122"/>
              </a:rPr>
              <a:t> M1 </a:t>
            </a:r>
            <a:r>
              <a:rPr lang="zh-CN" altLang="zh-CN" sz="2200" dirty="0" smtClean="0">
                <a:ea typeface="黑体" panose="02010609060101010101" pitchFamily="49" charset="-122"/>
              </a:rPr>
              <a:t>的确认。</a:t>
            </a:r>
            <a:endParaRPr lang="en-US" altLang="zh-CN" sz="2200" dirty="0" smtClean="0">
              <a:ea typeface="黑体" panose="02010609060101010101" pitchFamily="49" charset="-122"/>
            </a:endParaRPr>
          </a:p>
          <a:p>
            <a:pPr lvl="1"/>
            <a:endParaRPr lang="en-US" altLang="zh-CN" sz="2400" dirty="0" smtClean="0">
              <a:ea typeface="黑体" panose="02010609060101010101" pitchFamily="49" charset="-122"/>
            </a:endParaRPr>
          </a:p>
        </p:txBody>
      </p:sp>
      <p:sp>
        <p:nvSpPr>
          <p:cNvPr id="138547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5AA9EB-AC0B-4F18-868B-C61D9F68E63B}" type="slidenum">
              <a:rPr lang="zh-CN" altLang="en-US" smtClean="0"/>
              <a:pPr eaLnBrk="1" hangingPunct="1"/>
              <a:t>8</a:t>
            </a:fld>
            <a:endParaRPr lang="en-US" altLang="zh-CN" smtClean="0"/>
          </a:p>
        </p:txBody>
      </p:sp>
      <p:sp>
        <p:nvSpPr>
          <p:cNvPr id="138547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64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zh-CN" smtClean="0">
                <a:ea typeface="黑体" panose="02010609060101010101" pitchFamily="49" charset="-122"/>
              </a:rPr>
              <a:t>确认丢失和确认迟到</a:t>
            </a:r>
            <a:endParaRPr lang="zh-CN" altLang="en-US" smtClean="0">
              <a:ea typeface="黑体" panose="02010609060101010101" pitchFamily="49" charset="-122"/>
            </a:endParaRPr>
          </a:p>
        </p:txBody>
      </p:sp>
      <p:sp>
        <p:nvSpPr>
          <p:cNvPr id="1386498" name="内容占位符 9"/>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确认迟到</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传输过程中没有出现差错，但</a:t>
            </a:r>
            <a:r>
              <a:rPr lang="en-US" altLang="zh-CN" dirty="0" smtClean="0">
                <a:ea typeface="黑体" panose="02010609060101010101" pitchFamily="49" charset="-122"/>
              </a:rPr>
              <a:t> B </a:t>
            </a:r>
            <a:r>
              <a:rPr lang="zh-CN" altLang="zh-CN" dirty="0" smtClean="0">
                <a:ea typeface="黑体" panose="02010609060101010101" pitchFamily="49" charset="-122"/>
              </a:rPr>
              <a:t>对分组</a:t>
            </a:r>
            <a:r>
              <a:rPr lang="en-US" altLang="zh-CN" dirty="0" smtClean="0">
                <a:ea typeface="黑体" panose="02010609060101010101" pitchFamily="49" charset="-122"/>
              </a:rPr>
              <a:t> M1 </a:t>
            </a:r>
            <a:r>
              <a:rPr lang="zh-CN" altLang="zh-CN" dirty="0" smtClean="0">
                <a:ea typeface="黑体" panose="02010609060101010101" pitchFamily="49" charset="-122"/>
              </a:rPr>
              <a:t>的确认迟到了。</a:t>
            </a:r>
            <a:endParaRPr lang="en-US" altLang="zh-CN" dirty="0" smtClean="0">
              <a:ea typeface="黑体" panose="02010609060101010101" pitchFamily="49" charset="-122"/>
            </a:endParaRPr>
          </a:p>
          <a:p>
            <a:pPr lvl="1"/>
            <a:r>
              <a:rPr lang="en-US" altLang="zh-CN" dirty="0">
                <a:ea typeface="黑体" panose="02010609060101010101" pitchFamily="49" charset="-122"/>
              </a:rPr>
              <a:t>B </a:t>
            </a:r>
            <a:r>
              <a:rPr lang="zh-CN" altLang="zh-CN" dirty="0">
                <a:ea typeface="黑体" panose="02010609060101010101" pitchFamily="49" charset="-122"/>
              </a:rPr>
              <a:t>仍然会收到重复的</a:t>
            </a:r>
            <a:r>
              <a:rPr lang="en-US" altLang="zh-CN" dirty="0">
                <a:ea typeface="黑体" panose="02010609060101010101" pitchFamily="49" charset="-122"/>
              </a:rPr>
              <a:t> M1</a:t>
            </a:r>
            <a:r>
              <a:rPr lang="zh-CN" altLang="zh-CN" dirty="0">
                <a:ea typeface="黑体" panose="02010609060101010101" pitchFamily="49" charset="-122"/>
              </a:rPr>
              <a:t>，并且同样要丢弃重复的</a:t>
            </a:r>
            <a:r>
              <a:rPr lang="en-US" altLang="zh-CN" dirty="0">
                <a:ea typeface="黑体" panose="02010609060101010101" pitchFamily="49" charset="-122"/>
              </a:rPr>
              <a:t> M1</a:t>
            </a:r>
            <a:r>
              <a:rPr lang="zh-CN" altLang="zh-CN" dirty="0">
                <a:ea typeface="黑体" panose="02010609060101010101" pitchFamily="49" charset="-122"/>
              </a:rPr>
              <a:t>，并重传确认分组。</a:t>
            </a:r>
            <a:endParaRPr lang="zh-CN" altLang="en-US" dirty="0">
              <a:ea typeface="黑体" panose="02010609060101010101" pitchFamily="49" charset="-122"/>
            </a:endParaRPr>
          </a:p>
          <a:p>
            <a:pPr lvl="1"/>
            <a:r>
              <a:rPr lang="en-US" altLang="zh-CN" dirty="0" smtClean="0">
                <a:ea typeface="黑体" panose="02010609060101010101" pitchFamily="49" charset="-122"/>
              </a:rPr>
              <a:t>A </a:t>
            </a:r>
            <a:r>
              <a:rPr lang="zh-CN" altLang="zh-CN" dirty="0" smtClean="0">
                <a:ea typeface="黑体" panose="02010609060101010101" pitchFamily="49" charset="-122"/>
              </a:rPr>
              <a:t>会收到重复的确认。对重复的确认的处理很简单：收下后就丢弃。</a:t>
            </a:r>
            <a:endParaRPr lang="en-US" altLang="zh-CN" dirty="0" smtClean="0">
              <a:ea typeface="黑体" panose="02010609060101010101" pitchFamily="49" charset="-122"/>
            </a:endParaRPr>
          </a:p>
        </p:txBody>
      </p:sp>
      <p:sp>
        <p:nvSpPr>
          <p:cNvPr id="138649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40FC7C-478B-46CC-9F4D-9B5079930A75}" type="slidenum">
              <a:rPr lang="zh-CN" altLang="en-US" smtClean="0"/>
              <a:pPr eaLnBrk="1" hangingPunct="1"/>
              <a:t>9</a:t>
            </a:fld>
            <a:endParaRPr lang="en-US" altLang="zh-CN" smtClean="0"/>
          </a:p>
        </p:txBody>
      </p:sp>
      <p:sp>
        <p:nvSpPr>
          <p:cNvPr id="138650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7521" name="标题 1"/>
          <p:cNvSpPr>
            <a:spLocks noGrp="1" noChangeArrowheads="1"/>
          </p:cNvSpPr>
          <p:nvPr>
            <p:ph type="title"/>
          </p:nvPr>
        </p:nvSpPr>
        <p:spPr/>
        <p:txBody>
          <a:bodyPr/>
          <a:lstStyle/>
          <a:p>
            <a:r>
              <a:rPr lang="en-US" altLang="zh-CN" smtClean="0">
                <a:ea typeface="黑体" panose="02010609060101010101" pitchFamily="49" charset="-122"/>
              </a:rPr>
              <a:t>3. </a:t>
            </a:r>
            <a:r>
              <a:rPr lang="zh-CN" altLang="zh-CN" smtClean="0">
                <a:ea typeface="黑体" panose="02010609060101010101" pitchFamily="49" charset="-122"/>
              </a:rPr>
              <a:t>确认丢失和确认迟到</a:t>
            </a:r>
            <a:endParaRPr lang="zh-CN" altLang="en-US" smtClean="0">
              <a:ea typeface="黑体" panose="02010609060101010101" pitchFamily="49" charset="-122"/>
            </a:endParaRPr>
          </a:p>
        </p:txBody>
      </p:sp>
      <p:grpSp>
        <p:nvGrpSpPr>
          <p:cNvPr id="1387522" name="组合 4"/>
          <p:cNvGrpSpPr>
            <a:grpSpLocks/>
          </p:cNvGrpSpPr>
          <p:nvPr/>
        </p:nvGrpSpPr>
        <p:grpSpPr bwMode="auto">
          <a:xfrm>
            <a:off x="1943100" y="1647825"/>
            <a:ext cx="1900238" cy="3559175"/>
            <a:chOff x="1943654" y="1647602"/>
            <a:chExt cx="1899246" cy="3179763"/>
          </a:xfrm>
        </p:grpSpPr>
        <p:sp>
          <p:nvSpPr>
            <p:cNvPr id="1387523" name="Line 28"/>
            <p:cNvSpPr>
              <a:spLocks noChangeShapeType="1"/>
            </p:cNvSpPr>
            <p:nvPr/>
          </p:nvSpPr>
          <p:spPr bwMode="auto">
            <a:xfrm>
              <a:off x="1943654" y="1647602"/>
              <a:ext cx="0" cy="31797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387524" name="Line 29"/>
            <p:cNvSpPr>
              <a:spLocks noChangeShapeType="1"/>
            </p:cNvSpPr>
            <p:nvPr/>
          </p:nvSpPr>
          <p:spPr bwMode="auto">
            <a:xfrm>
              <a:off x="3842900" y="1647602"/>
              <a:ext cx="0" cy="31607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grpSp>
      <p:sp>
        <p:nvSpPr>
          <p:cNvPr id="1387525" name="Rectangle 30"/>
          <p:cNvSpPr>
            <a:spLocks noChangeArrowheads="1"/>
          </p:cNvSpPr>
          <p:nvPr/>
        </p:nvSpPr>
        <p:spPr bwMode="auto">
          <a:xfrm>
            <a:off x="1771650" y="1196975"/>
            <a:ext cx="4048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A</a:t>
            </a:r>
          </a:p>
        </p:txBody>
      </p:sp>
      <p:sp>
        <p:nvSpPr>
          <p:cNvPr id="1387526" name="Rectangle 31"/>
          <p:cNvSpPr>
            <a:spLocks noChangeArrowheads="1"/>
          </p:cNvSpPr>
          <p:nvPr/>
        </p:nvSpPr>
        <p:spPr bwMode="auto">
          <a:xfrm>
            <a:off x="3636963" y="1196975"/>
            <a:ext cx="4048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B</a:t>
            </a:r>
          </a:p>
        </p:txBody>
      </p:sp>
      <p:grpSp>
        <p:nvGrpSpPr>
          <p:cNvPr id="114" name="Group 32"/>
          <p:cNvGrpSpPr>
            <a:grpSpLocks/>
          </p:cNvGrpSpPr>
          <p:nvPr/>
        </p:nvGrpSpPr>
        <p:grpSpPr bwMode="auto">
          <a:xfrm>
            <a:off x="1968500" y="1781175"/>
            <a:ext cx="1857375" cy="777875"/>
            <a:chOff x="3769" y="1868"/>
            <a:chExt cx="1072" cy="490"/>
          </a:xfrm>
        </p:grpSpPr>
        <p:sp>
          <p:nvSpPr>
            <p:cNvPr id="1387528" name="Freeform 33"/>
            <p:cNvSpPr>
              <a:spLocks noChangeArrowheads="1"/>
            </p:cNvSpPr>
            <p:nvPr/>
          </p:nvSpPr>
          <p:spPr bwMode="auto">
            <a:xfrm>
              <a:off x="3769" y="1868"/>
              <a:ext cx="1072"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7529" name="AutoShape 34"/>
            <p:cNvSpPr>
              <a:spLocks noChangeArrowheads="1"/>
            </p:cNvSpPr>
            <p:nvPr/>
          </p:nvSpPr>
          <p:spPr bwMode="auto">
            <a:xfrm rot="480000">
              <a:off x="4521" y="2114"/>
              <a:ext cx="291" cy="100"/>
            </a:xfrm>
            <a:prstGeom prst="rightArrow">
              <a:avLst>
                <a:gd name="adj1" fmla="val 50000"/>
                <a:gd name="adj2" fmla="val 145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7530" name="Rectangle 35"/>
            <p:cNvSpPr>
              <a:spLocks noChangeArrowheads="1"/>
            </p:cNvSpPr>
            <p:nvPr/>
          </p:nvSpPr>
          <p:spPr bwMode="auto">
            <a:xfrm rot="540000">
              <a:off x="3980" y="1943"/>
              <a:ext cx="35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118" name="Group 36"/>
          <p:cNvGrpSpPr>
            <a:grpSpLocks/>
          </p:cNvGrpSpPr>
          <p:nvPr/>
        </p:nvGrpSpPr>
        <p:grpSpPr bwMode="auto">
          <a:xfrm>
            <a:off x="1966913" y="3257550"/>
            <a:ext cx="1835150" cy="777875"/>
            <a:chOff x="3439" y="3564"/>
            <a:chExt cx="1156" cy="490"/>
          </a:xfrm>
        </p:grpSpPr>
        <p:sp>
          <p:nvSpPr>
            <p:cNvPr id="1387532" name="Freeform 37"/>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7533" name="AutoShape 38"/>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7534" name="Rectangle 39"/>
            <p:cNvSpPr>
              <a:spLocks noChangeArrowheads="1"/>
            </p:cNvSpPr>
            <p:nvPr/>
          </p:nvSpPr>
          <p:spPr bwMode="auto">
            <a:xfrm rot="540000">
              <a:off x="3669"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sp>
        <p:nvSpPr>
          <p:cNvPr id="1387535" name="Text Box 40"/>
          <p:cNvSpPr txBox="1">
            <a:spLocks noChangeArrowheads="1"/>
          </p:cNvSpPr>
          <p:nvPr/>
        </p:nvSpPr>
        <p:spPr bwMode="auto">
          <a:xfrm>
            <a:off x="2216150" y="5272088"/>
            <a:ext cx="1422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确认丢失</a:t>
            </a:r>
          </a:p>
        </p:txBody>
      </p:sp>
      <p:grpSp>
        <p:nvGrpSpPr>
          <p:cNvPr id="123" name="Group 41"/>
          <p:cNvGrpSpPr>
            <a:grpSpLocks/>
          </p:cNvGrpSpPr>
          <p:nvPr/>
        </p:nvGrpSpPr>
        <p:grpSpPr bwMode="auto">
          <a:xfrm>
            <a:off x="1939925" y="4019550"/>
            <a:ext cx="1868488" cy="525463"/>
            <a:chOff x="2012" y="2285"/>
            <a:chExt cx="1177" cy="331"/>
          </a:xfrm>
        </p:grpSpPr>
        <p:sp>
          <p:nvSpPr>
            <p:cNvPr id="1387537" name="Line 4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87538" name="Text Box 43"/>
            <p:cNvSpPr txBox="1">
              <a:spLocks noChangeArrowheads="1"/>
            </p:cNvSpPr>
            <p:nvPr/>
          </p:nvSpPr>
          <p:spPr bwMode="auto">
            <a:xfrm rot="-430230">
              <a:off x="2131" y="2285"/>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ACK 1</a:t>
              </a:r>
            </a:p>
          </p:txBody>
        </p:sp>
      </p:grpSp>
      <p:sp>
        <p:nvSpPr>
          <p:cNvPr id="129" name="Text Box 47"/>
          <p:cNvSpPr txBox="1">
            <a:spLocks noChangeArrowheads="1"/>
          </p:cNvSpPr>
          <p:nvPr/>
        </p:nvSpPr>
        <p:spPr bwMode="auto">
          <a:xfrm>
            <a:off x="488950" y="329088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0000"/>
                </a:solidFill>
                <a:ea typeface="黑体" panose="02010609060101010101" pitchFamily="49" charset="-122"/>
              </a:rPr>
              <a:t>超时重发</a:t>
            </a:r>
          </a:p>
        </p:txBody>
      </p:sp>
      <p:grpSp>
        <p:nvGrpSpPr>
          <p:cNvPr id="130" name="Group 48"/>
          <p:cNvGrpSpPr>
            <a:grpSpLocks/>
          </p:cNvGrpSpPr>
          <p:nvPr/>
        </p:nvGrpSpPr>
        <p:grpSpPr bwMode="auto">
          <a:xfrm>
            <a:off x="990600" y="2327275"/>
            <a:ext cx="798513" cy="927100"/>
            <a:chOff x="3153" y="2204"/>
            <a:chExt cx="503" cy="584"/>
          </a:xfrm>
        </p:grpSpPr>
        <p:sp>
          <p:nvSpPr>
            <p:cNvPr id="1387541" name="AutoShape 49"/>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87542" name="Text Box 50"/>
            <p:cNvSpPr txBox="1">
              <a:spLocks noChangeArrowheads="1"/>
            </p:cNvSpPr>
            <p:nvPr/>
          </p:nvSpPr>
          <p:spPr bwMode="auto">
            <a:xfrm>
              <a:off x="3153" y="2311"/>
              <a:ext cx="4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t</a:t>
              </a:r>
              <a:r>
                <a:rPr lang="en-US" altLang="zh-CN" sz="2800" b="1" baseline="-25000">
                  <a:ea typeface="黑体" panose="02010609060101010101" pitchFamily="49" charset="-122"/>
                </a:rPr>
                <a:t>out</a:t>
              </a:r>
            </a:p>
          </p:txBody>
        </p:sp>
      </p:grpSp>
      <p:grpSp>
        <p:nvGrpSpPr>
          <p:cNvPr id="133" name="Group 51"/>
          <p:cNvGrpSpPr>
            <a:grpSpLocks/>
          </p:cNvGrpSpPr>
          <p:nvPr/>
        </p:nvGrpSpPr>
        <p:grpSpPr bwMode="auto">
          <a:xfrm>
            <a:off x="2246313" y="2505075"/>
            <a:ext cx="1589087" cy="563563"/>
            <a:chOff x="4012" y="2401"/>
            <a:chExt cx="1001" cy="355"/>
          </a:xfrm>
        </p:grpSpPr>
        <p:sp>
          <p:nvSpPr>
            <p:cNvPr id="1387544" name="Line 52"/>
            <p:cNvSpPr>
              <a:spLocks noChangeShapeType="1"/>
            </p:cNvSpPr>
            <p:nvPr/>
          </p:nvSpPr>
          <p:spPr bwMode="auto">
            <a:xfrm flipH="1">
              <a:off x="4012" y="2555"/>
              <a:ext cx="1001"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87545" name="Text Box 53"/>
            <p:cNvSpPr txBox="1">
              <a:spLocks noChangeArrowheads="1"/>
            </p:cNvSpPr>
            <p:nvPr/>
          </p:nvSpPr>
          <p:spPr bwMode="auto">
            <a:xfrm rot="-430230">
              <a:off x="4145" y="2401"/>
              <a:ext cx="7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a:ea typeface="黑体" panose="02010609060101010101" pitchFamily="49" charset="-122"/>
                </a:rPr>
                <a:t>ACK 1</a:t>
              </a:r>
            </a:p>
          </p:txBody>
        </p:sp>
      </p:grpSp>
      <p:sp>
        <p:nvSpPr>
          <p:cNvPr id="139" name="AutoShape 57"/>
          <p:cNvSpPr>
            <a:spLocks noChangeArrowheads="1"/>
          </p:cNvSpPr>
          <p:nvPr/>
        </p:nvSpPr>
        <p:spPr bwMode="auto">
          <a:xfrm>
            <a:off x="1868488" y="2676525"/>
            <a:ext cx="703262" cy="577850"/>
          </a:xfrm>
          <a:prstGeom prst="irregularSeal1">
            <a:avLst/>
          </a:prstGeom>
          <a:solidFill>
            <a:srgbClr val="FF5050"/>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grpSp>
        <p:nvGrpSpPr>
          <p:cNvPr id="1387547" name="组合 2"/>
          <p:cNvGrpSpPr>
            <a:grpSpLocks/>
          </p:cNvGrpSpPr>
          <p:nvPr/>
        </p:nvGrpSpPr>
        <p:grpSpPr bwMode="auto">
          <a:xfrm>
            <a:off x="6624638" y="1647825"/>
            <a:ext cx="1898650" cy="4564063"/>
            <a:chOff x="6870178" y="1647602"/>
            <a:chExt cx="1899246" cy="3179763"/>
          </a:xfrm>
        </p:grpSpPr>
        <p:sp>
          <p:nvSpPr>
            <p:cNvPr id="1387548" name="Line 28"/>
            <p:cNvSpPr>
              <a:spLocks noChangeShapeType="1"/>
            </p:cNvSpPr>
            <p:nvPr/>
          </p:nvSpPr>
          <p:spPr bwMode="auto">
            <a:xfrm>
              <a:off x="6870178" y="1647602"/>
              <a:ext cx="0" cy="31797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387549" name="Line 29"/>
            <p:cNvSpPr>
              <a:spLocks noChangeShapeType="1"/>
            </p:cNvSpPr>
            <p:nvPr/>
          </p:nvSpPr>
          <p:spPr bwMode="auto">
            <a:xfrm>
              <a:off x="8769424" y="1647602"/>
              <a:ext cx="0" cy="316071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grpSp>
      <p:sp>
        <p:nvSpPr>
          <p:cNvPr id="1387550" name="Rectangle 30"/>
          <p:cNvSpPr>
            <a:spLocks noChangeArrowheads="1"/>
          </p:cNvSpPr>
          <p:nvPr/>
        </p:nvSpPr>
        <p:spPr bwMode="auto">
          <a:xfrm>
            <a:off x="6451600" y="1196975"/>
            <a:ext cx="4064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A</a:t>
            </a:r>
          </a:p>
        </p:txBody>
      </p:sp>
      <p:sp>
        <p:nvSpPr>
          <p:cNvPr id="1387551" name="Rectangle 31"/>
          <p:cNvSpPr>
            <a:spLocks noChangeArrowheads="1"/>
          </p:cNvSpPr>
          <p:nvPr/>
        </p:nvSpPr>
        <p:spPr bwMode="auto">
          <a:xfrm>
            <a:off x="8316913" y="1196975"/>
            <a:ext cx="4064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黑体" panose="02010609060101010101" pitchFamily="49" charset="-122"/>
              </a:rPr>
              <a:t>B</a:t>
            </a:r>
          </a:p>
        </p:txBody>
      </p:sp>
      <p:grpSp>
        <p:nvGrpSpPr>
          <p:cNvPr id="144" name="Group 32"/>
          <p:cNvGrpSpPr>
            <a:grpSpLocks/>
          </p:cNvGrpSpPr>
          <p:nvPr/>
        </p:nvGrpSpPr>
        <p:grpSpPr bwMode="auto">
          <a:xfrm>
            <a:off x="6648450" y="1781175"/>
            <a:ext cx="1857375" cy="777875"/>
            <a:chOff x="3769" y="1868"/>
            <a:chExt cx="1072" cy="490"/>
          </a:xfrm>
        </p:grpSpPr>
        <p:sp>
          <p:nvSpPr>
            <p:cNvPr id="1387553" name="Freeform 33"/>
            <p:cNvSpPr>
              <a:spLocks noChangeArrowheads="1"/>
            </p:cNvSpPr>
            <p:nvPr/>
          </p:nvSpPr>
          <p:spPr bwMode="auto">
            <a:xfrm>
              <a:off x="3769" y="1868"/>
              <a:ext cx="1072"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7554" name="AutoShape 34"/>
            <p:cNvSpPr>
              <a:spLocks noChangeArrowheads="1"/>
            </p:cNvSpPr>
            <p:nvPr/>
          </p:nvSpPr>
          <p:spPr bwMode="auto">
            <a:xfrm rot="480000">
              <a:off x="4521" y="2114"/>
              <a:ext cx="291" cy="100"/>
            </a:xfrm>
            <a:prstGeom prst="rightArrow">
              <a:avLst>
                <a:gd name="adj1" fmla="val 50000"/>
                <a:gd name="adj2" fmla="val 145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7555" name="Rectangle 35"/>
            <p:cNvSpPr>
              <a:spLocks noChangeArrowheads="1"/>
            </p:cNvSpPr>
            <p:nvPr/>
          </p:nvSpPr>
          <p:spPr bwMode="auto">
            <a:xfrm rot="540000">
              <a:off x="3980" y="1943"/>
              <a:ext cx="35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grpSp>
        <p:nvGrpSpPr>
          <p:cNvPr id="148" name="Group 36"/>
          <p:cNvGrpSpPr>
            <a:grpSpLocks/>
          </p:cNvGrpSpPr>
          <p:nvPr/>
        </p:nvGrpSpPr>
        <p:grpSpPr bwMode="auto">
          <a:xfrm>
            <a:off x="6646863" y="3257550"/>
            <a:ext cx="1835150" cy="777875"/>
            <a:chOff x="3439" y="3564"/>
            <a:chExt cx="1156" cy="490"/>
          </a:xfrm>
        </p:grpSpPr>
        <p:sp>
          <p:nvSpPr>
            <p:cNvPr id="1387557" name="Freeform 37"/>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7558" name="AutoShape 38"/>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7559" name="Rectangle 39"/>
            <p:cNvSpPr>
              <a:spLocks noChangeArrowheads="1"/>
            </p:cNvSpPr>
            <p:nvPr/>
          </p:nvSpPr>
          <p:spPr bwMode="auto">
            <a:xfrm rot="540000">
              <a:off x="3669"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M1</a:t>
              </a:r>
            </a:p>
          </p:txBody>
        </p:sp>
      </p:grpSp>
      <p:sp>
        <p:nvSpPr>
          <p:cNvPr id="1387560" name="Text Box 40"/>
          <p:cNvSpPr txBox="1">
            <a:spLocks noChangeArrowheads="1"/>
          </p:cNvSpPr>
          <p:nvPr/>
        </p:nvSpPr>
        <p:spPr bwMode="auto">
          <a:xfrm>
            <a:off x="6897688" y="6211888"/>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确认迟到</a:t>
            </a:r>
          </a:p>
        </p:txBody>
      </p:sp>
      <p:grpSp>
        <p:nvGrpSpPr>
          <p:cNvPr id="153" name="Group 41"/>
          <p:cNvGrpSpPr>
            <a:grpSpLocks/>
          </p:cNvGrpSpPr>
          <p:nvPr/>
        </p:nvGrpSpPr>
        <p:grpSpPr bwMode="auto">
          <a:xfrm>
            <a:off x="6619875" y="4019550"/>
            <a:ext cx="1868488" cy="525463"/>
            <a:chOff x="2012" y="2285"/>
            <a:chExt cx="1177" cy="331"/>
          </a:xfrm>
        </p:grpSpPr>
        <p:sp>
          <p:nvSpPr>
            <p:cNvPr id="1387562" name="Line 42"/>
            <p:cNvSpPr>
              <a:spLocks noChangeShapeType="1"/>
            </p:cNvSpPr>
            <p:nvPr/>
          </p:nvSpPr>
          <p:spPr bwMode="auto">
            <a:xfrm flipH="1">
              <a:off x="2012" y="2415"/>
              <a:ext cx="1177" cy="20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1387563" name="Text Box 43"/>
            <p:cNvSpPr txBox="1">
              <a:spLocks noChangeArrowheads="1"/>
            </p:cNvSpPr>
            <p:nvPr/>
          </p:nvSpPr>
          <p:spPr bwMode="auto">
            <a:xfrm rot="-430230">
              <a:off x="2131" y="2285"/>
              <a:ext cx="6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ACK 1</a:t>
              </a:r>
            </a:p>
          </p:txBody>
        </p:sp>
      </p:grpSp>
      <p:sp>
        <p:nvSpPr>
          <p:cNvPr id="156" name="Text Box 47"/>
          <p:cNvSpPr txBox="1">
            <a:spLocks noChangeArrowheads="1"/>
          </p:cNvSpPr>
          <p:nvPr/>
        </p:nvSpPr>
        <p:spPr bwMode="auto">
          <a:xfrm>
            <a:off x="5168900" y="3290888"/>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FF0000"/>
                </a:solidFill>
                <a:ea typeface="黑体" panose="02010609060101010101" pitchFamily="49" charset="-122"/>
              </a:rPr>
              <a:t>超时重发</a:t>
            </a:r>
          </a:p>
        </p:txBody>
      </p:sp>
      <p:grpSp>
        <p:nvGrpSpPr>
          <p:cNvPr id="157" name="Group 48"/>
          <p:cNvGrpSpPr>
            <a:grpSpLocks/>
          </p:cNvGrpSpPr>
          <p:nvPr/>
        </p:nvGrpSpPr>
        <p:grpSpPr bwMode="auto">
          <a:xfrm>
            <a:off x="5670550" y="2327275"/>
            <a:ext cx="798513" cy="927100"/>
            <a:chOff x="3153" y="2204"/>
            <a:chExt cx="503" cy="584"/>
          </a:xfrm>
        </p:grpSpPr>
        <p:sp>
          <p:nvSpPr>
            <p:cNvPr id="1387566" name="AutoShape 49"/>
            <p:cNvSpPr>
              <a:spLocks/>
            </p:cNvSpPr>
            <p:nvPr/>
          </p:nvSpPr>
          <p:spPr bwMode="auto">
            <a:xfrm>
              <a:off x="3600" y="2204"/>
              <a:ext cx="56" cy="584"/>
            </a:xfrm>
            <a:prstGeom prst="leftBrace">
              <a:avLst>
                <a:gd name="adj1" fmla="val 86905"/>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387567" name="Text Box 50"/>
            <p:cNvSpPr txBox="1">
              <a:spLocks noChangeArrowheads="1"/>
            </p:cNvSpPr>
            <p:nvPr/>
          </p:nvSpPr>
          <p:spPr bwMode="auto">
            <a:xfrm>
              <a:off x="3153" y="2311"/>
              <a:ext cx="42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t</a:t>
              </a:r>
              <a:r>
                <a:rPr lang="en-US" altLang="zh-CN" sz="2800" b="1" baseline="-25000">
                  <a:ea typeface="黑体" panose="02010609060101010101" pitchFamily="49" charset="-122"/>
                </a:rPr>
                <a:t>out</a:t>
              </a:r>
            </a:p>
          </p:txBody>
        </p:sp>
      </p:grpSp>
      <p:grpSp>
        <p:nvGrpSpPr>
          <p:cNvPr id="164" name="Group 36"/>
          <p:cNvGrpSpPr>
            <a:grpSpLocks/>
          </p:cNvGrpSpPr>
          <p:nvPr/>
        </p:nvGrpSpPr>
        <p:grpSpPr bwMode="auto">
          <a:xfrm>
            <a:off x="6646863" y="4637088"/>
            <a:ext cx="1835150" cy="777875"/>
            <a:chOff x="3439" y="3564"/>
            <a:chExt cx="1156" cy="490"/>
          </a:xfrm>
        </p:grpSpPr>
        <p:sp>
          <p:nvSpPr>
            <p:cNvPr id="1387569" name="Freeform 37"/>
            <p:cNvSpPr>
              <a:spLocks noChangeArrowheads="1"/>
            </p:cNvSpPr>
            <p:nvPr/>
          </p:nvSpPr>
          <p:spPr bwMode="auto">
            <a:xfrm>
              <a:off x="3439" y="3564"/>
              <a:ext cx="1156" cy="490"/>
            </a:xfrm>
            <a:custGeom>
              <a:avLst/>
              <a:gdLst>
                <a:gd name="T0" fmla="*/ 0 w 1033"/>
                <a:gd name="T1" fmla="*/ 0 h 457"/>
                <a:gd name="T2" fmla="*/ 1032 w 1033"/>
                <a:gd name="T3" fmla="*/ 142 h 457"/>
                <a:gd name="T4" fmla="*/ 1032 w 1033"/>
                <a:gd name="T5" fmla="*/ 456 h 457"/>
                <a:gd name="T6" fmla="*/ 0 w 1033"/>
                <a:gd name="T7" fmla="*/ 314 h 457"/>
                <a:gd name="T8" fmla="*/ 0 w 1033"/>
                <a:gd name="T9" fmla="*/ 0 h 457"/>
              </a:gdLst>
              <a:ahLst/>
              <a:cxnLst>
                <a:cxn ang="0">
                  <a:pos x="T0" y="T1"/>
                </a:cxn>
                <a:cxn ang="0">
                  <a:pos x="T2" y="T3"/>
                </a:cxn>
                <a:cxn ang="0">
                  <a:pos x="T4" y="T5"/>
                </a:cxn>
                <a:cxn ang="0">
                  <a:pos x="T6" y="T7"/>
                </a:cxn>
                <a:cxn ang="0">
                  <a:pos x="T8" y="T9"/>
                </a:cxn>
              </a:cxnLst>
              <a:rect l="0" t="0" r="r" b="b"/>
              <a:pathLst>
                <a:path w="1033" h="457">
                  <a:moveTo>
                    <a:pt x="0" y="0"/>
                  </a:moveTo>
                  <a:lnTo>
                    <a:pt x="1032" y="142"/>
                  </a:lnTo>
                  <a:lnTo>
                    <a:pt x="1032" y="456"/>
                  </a:lnTo>
                  <a:lnTo>
                    <a:pt x="0" y="314"/>
                  </a:lnTo>
                  <a:lnTo>
                    <a:pt x="0" y="0"/>
                  </a:lnTo>
                </a:path>
              </a:pathLst>
            </a:custGeom>
            <a:solidFill>
              <a:srgbClr val="FFFF66"/>
            </a:solidFill>
            <a:ln w="28575" cap="rnd">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1387570" name="AutoShape 38"/>
            <p:cNvSpPr>
              <a:spLocks noChangeArrowheads="1"/>
            </p:cNvSpPr>
            <p:nvPr/>
          </p:nvSpPr>
          <p:spPr bwMode="auto">
            <a:xfrm rot="480000">
              <a:off x="4164" y="3802"/>
              <a:ext cx="313" cy="100"/>
            </a:xfrm>
            <a:prstGeom prst="rightArrow">
              <a:avLst>
                <a:gd name="adj1" fmla="val 50000"/>
                <a:gd name="adj2" fmla="val 156500"/>
              </a:avLst>
            </a:prstGeom>
            <a:solidFill>
              <a:schemeClr val="bg1"/>
            </a:solidFill>
            <a:ln w="12700">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sp>
          <p:nvSpPr>
            <p:cNvPr id="1387571" name="Rectangle 39"/>
            <p:cNvSpPr>
              <a:spLocks noChangeArrowheads="1"/>
            </p:cNvSpPr>
            <p:nvPr/>
          </p:nvSpPr>
          <p:spPr bwMode="auto">
            <a:xfrm rot="540000">
              <a:off x="3598" y="3641"/>
              <a:ext cx="385"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FF"/>
                  </a:solidFill>
                  <a:ea typeface="黑体" panose="02010609060101010101" pitchFamily="49" charset="-122"/>
                </a:rPr>
                <a:t>M2</a:t>
              </a:r>
            </a:p>
          </p:txBody>
        </p:sp>
      </p:grpSp>
      <p:sp>
        <p:nvSpPr>
          <p:cNvPr id="7" name="矩形 6"/>
          <p:cNvSpPr>
            <a:spLocks noChangeArrowheads="1"/>
          </p:cNvSpPr>
          <p:nvPr/>
        </p:nvSpPr>
        <p:spPr bwMode="auto">
          <a:xfrm>
            <a:off x="5295900" y="4892675"/>
            <a:ext cx="1498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0000FF"/>
                </a:solidFill>
                <a:ea typeface="黑体" panose="02010609060101010101" pitchFamily="49" charset="-122"/>
              </a:rPr>
              <a:t>收下，</a:t>
            </a:r>
            <a:endParaRPr lang="en-US" altLang="zh-CN" sz="2400" b="1">
              <a:solidFill>
                <a:srgbClr val="0000FF"/>
              </a:solidFill>
              <a:ea typeface="黑体" panose="02010609060101010101" pitchFamily="49" charset="-122"/>
            </a:endParaRPr>
          </a:p>
          <a:p>
            <a:pPr eaLnBrk="0" hangingPunct="0"/>
            <a:r>
              <a:rPr lang="zh-CN" altLang="en-US" sz="2400" b="1">
                <a:solidFill>
                  <a:srgbClr val="0000FF"/>
                </a:solidFill>
                <a:ea typeface="黑体" panose="02010609060101010101" pitchFamily="49" charset="-122"/>
              </a:rPr>
              <a:t>重复的，</a:t>
            </a:r>
            <a:endParaRPr lang="en-US" altLang="zh-CN" sz="2400" b="1">
              <a:solidFill>
                <a:srgbClr val="0000FF"/>
              </a:solidFill>
              <a:ea typeface="黑体" panose="02010609060101010101" pitchFamily="49" charset="-122"/>
            </a:endParaRPr>
          </a:p>
          <a:p>
            <a:pPr eaLnBrk="0" hangingPunct="0"/>
            <a:r>
              <a:rPr lang="zh-CN" altLang="en-US" sz="2400" b="1">
                <a:solidFill>
                  <a:srgbClr val="0000FF"/>
                </a:solidFill>
                <a:ea typeface="黑体" panose="02010609060101010101" pitchFamily="49" charset="-122"/>
              </a:rPr>
              <a:t>丢弃</a:t>
            </a:r>
            <a:endParaRPr lang="zh-CN" altLang="en-US" sz="2400">
              <a:solidFill>
                <a:srgbClr val="0000FF"/>
              </a:solidFill>
              <a:ea typeface="宋体" panose="02010600030101010101" pitchFamily="2" charset="-122"/>
            </a:endParaRPr>
          </a:p>
        </p:txBody>
      </p:sp>
      <p:grpSp>
        <p:nvGrpSpPr>
          <p:cNvPr id="9" name="组合 8"/>
          <p:cNvGrpSpPr>
            <a:grpSpLocks/>
          </p:cNvGrpSpPr>
          <p:nvPr/>
        </p:nvGrpSpPr>
        <p:grpSpPr bwMode="auto">
          <a:xfrm>
            <a:off x="6654800" y="2643188"/>
            <a:ext cx="1827213" cy="2840037"/>
            <a:chOff x="6900509" y="2643731"/>
            <a:chExt cx="1827632" cy="2839271"/>
          </a:xfrm>
        </p:grpSpPr>
        <p:sp>
          <p:nvSpPr>
            <p:cNvPr id="1387574" name="Freeform 48"/>
            <p:cNvSpPr>
              <a:spLocks noChangeArrowheads="1"/>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1387575" name="矩形 7"/>
            <p:cNvSpPr>
              <a:spLocks noChangeArrowheads="1"/>
            </p:cNvSpPr>
            <p:nvPr/>
          </p:nvSpPr>
          <p:spPr bwMode="auto">
            <a:xfrm rot="-1484301">
              <a:off x="7480880" y="2643731"/>
              <a:ext cx="11095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ACK 1</a:t>
              </a:r>
            </a:p>
          </p:txBody>
        </p:sp>
      </p:grpSp>
      <p:sp>
        <p:nvSpPr>
          <p:cNvPr id="4" name="矩形 3"/>
          <p:cNvSpPr>
            <a:spLocks noChangeArrowheads="1"/>
          </p:cNvSpPr>
          <p:nvPr/>
        </p:nvSpPr>
        <p:spPr bwMode="auto">
          <a:xfrm>
            <a:off x="8580438" y="3429000"/>
            <a:ext cx="14557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FF0000"/>
                </a:solidFill>
                <a:ea typeface="黑体" panose="02010609060101010101" pitchFamily="49" charset="-122"/>
              </a:rPr>
              <a:t>重复的，</a:t>
            </a:r>
            <a:endParaRPr lang="en-US" altLang="zh-CN" sz="2400" b="1">
              <a:solidFill>
                <a:srgbClr val="FF0000"/>
              </a:solidFill>
              <a:ea typeface="黑体" panose="02010609060101010101" pitchFamily="49" charset="-122"/>
            </a:endParaRPr>
          </a:p>
          <a:p>
            <a:pPr eaLnBrk="0" hangingPunct="0"/>
            <a:r>
              <a:rPr lang="zh-CN" altLang="en-US" sz="2400" b="1">
                <a:solidFill>
                  <a:srgbClr val="FF0000"/>
                </a:solidFill>
                <a:ea typeface="黑体" panose="02010609060101010101" pitchFamily="49" charset="-122"/>
              </a:rPr>
              <a:t>丢弃</a:t>
            </a:r>
          </a:p>
        </p:txBody>
      </p:sp>
      <p:sp>
        <p:nvSpPr>
          <p:cNvPr id="1387577" name="灯片编号占位符 1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B5895A-7610-42DC-960F-AB2FAE669469}" type="slidenum">
              <a:rPr lang="zh-CN" altLang="en-US" smtClean="0"/>
              <a:pPr eaLnBrk="1" hangingPunct="1"/>
              <a:t>10</a:t>
            </a:fld>
            <a:endParaRPr lang="en-US" altLang="zh-CN" smtClean="0"/>
          </a:p>
        </p:txBody>
      </p:sp>
      <p:sp>
        <p:nvSpPr>
          <p:cNvPr id="1387578" name="页脚占位符 1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wipe(left)">
                                      <p:cBhvr>
                                        <p:cTn id="7" dur="500"/>
                                        <p:tgtEl>
                                          <p:spTgt spid="114"/>
                                        </p:tgtEl>
                                      </p:cBhvr>
                                    </p:animEffect>
                                  </p:childTnLst>
                                </p:cTn>
                              </p:par>
                              <p:par>
                                <p:cTn id="8" presetID="1" presetClass="entr" presetSubtype="0" fill="hold" nodeType="withEffect">
                                  <p:stCondLst>
                                    <p:cond delay="0"/>
                                  </p:stCondLst>
                                  <p:childTnLst>
                                    <p:set>
                                      <p:cBhvr>
                                        <p:cTn id="9" dur="1" fill="hold">
                                          <p:stCondLst>
                                            <p:cond delay="0"/>
                                          </p:stCondLst>
                                        </p:cTn>
                                        <p:tgtEl>
                                          <p:spTgt spid="130"/>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2" fill="hold" nodeType="clickEffect">
                                  <p:stCondLst>
                                    <p:cond delay="0"/>
                                  </p:stCondLst>
                                  <p:childTnLst>
                                    <p:set>
                                      <p:cBhvr>
                                        <p:cTn id="13" dur="1" fill="hold">
                                          <p:stCondLst>
                                            <p:cond delay="0"/>
                                          </p:stCondLst>
                                        </p:cTn>
                                        <p:tgtEl>
                                          <p:spTgt spid="133"/>
                                        </p:tgtEl>
                                        <p:attrNameLst>
                                          <p:attrName>style.visibility</p:attrName>
                                        </p:attrNameLst>
                                      </p:cBhvr>
                                      <p:to>
                                        <p:strVal val="visible"/>
                                      </p:to>
                                    </p:set>
                                    <p:animEffect transition="in" filter="wipe(right)">
                                      <p:cBhvr>
                                        <p:cTn id="14" dur="500"/>
                                        <p:tgtEl>
                                          <p:spTgt spid="133"/>
                                        </p:tgtEl>
                                      </p:cBhvr>
                                    </p:animEffect>
                                  </p:childTnLst>
                                </p:cTn>
                              </p:par>
                            </p:childTnLst>
                          </p:cTn>
                        </p:par>
                        <p:par>
                          <p:cTn id="15" fill="hold" nodeType="afterGroup">
                            <p:stCondLst>
                              <p:cond delay="500"/>
                            </p:stCondLst>
                            <p:childTnLst>
                              <p:par>
                                <p:cTn id="16" presetID="22" presetClass="entr" presetSubtype="2" fill="hold" grpId="0" nodeType="afterEffect">
                                  <p:stCondLst>
                                    <p:cond delay="0"/>
                                  </p:stCondLst>
                                  <p:childTnLst>
                                    <p:set>
                                      <p:cBhvr>
                                        <p:cTn id="17" dur="1" fill="hold">
                                          <p:stCondLst>
                                            <p:cond delay="0"/>
                                          </p:stCondLst>
                                        </p:cTn>
                                        <p:tgtEl>
                                          <p:spTgt spid="139"/>
                                        </p:tgtEl>
                                        <p:attrNameLst>
                                          <p:attrName>style.visibility</p:attrName>
                                        </p:attrNameLst>
                                      </p:cBhvr>
                                      <p:to>
                                        <p:strVal val="visible"/>
                                      </p:to>
                                    </p:set>
                                    <p:animEffect transition="in" filter="wipe(right)">
                                      <p:cBhvr>
                                        <p:cTn id="18" dur="500"/>
                                        <p:tgtEl>
                                          <p:spTgt spid="139"/>
                                        </p:tgtEl>
                                      </p:cBhvr>
                                    </p:animEffect>
                                  </p:childTnLst>
                                </p:cTn>
                              </p:par>
                            </p:childTnLst>
                          </p:cTn>
                        </p:par>
                        <p:par>
                          <p:cTn id="19" fill="hold" nodeType="afterGroup">
                            <p:stCondLst>
                              <p:cond delay="1000"/>
                            </p:stCondLst>
                            <p:childTnLst>
                              <p:par>
                                <p:cTn id="20" presetID="35" presetClass="emph" presetSubtype="0" repeatCount="5000" fill="hold" grpId="1" nodeType="afterEffect">
                                  <p:stCondLst>
                                    <p:cond delay="0"/>
                                  </p:stCondLst>
                                  <p:childTnLst>
                                    <p:anim calcmode="discrete" valueType="str">
                                      <p:cBhvr>
                                        <p:cTn id="21" dur="500" fill="hold"/>
                                        <p:tgtEl>
                                          <p:spTgt spid="139"/>
                                        </p:tgtEl>
                                        <p:attrNameLst>
                                          <p:attrName>style.visibility</p:attrName>
                                        </p:attrNameLst>
                                      </p:cBhvr>
                                      <p:tavLst>
                                        <p:tav tm="0">
                                          <p:val>
                                            <p:strVal val="hidden"/>
                                          </p:val>
                                        </p:tav>
                                        <p:tav tm="50000">
                                          <p:val>
                                            <p:strVal val="visible"/>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35" presetClass="emph" presetSubtype="0" repeatCount="5000" fill="hold" nodeType="clickEffect">
                                  <p:stCondLst>
                                    <p:cond delay="0"/>
                                  </p:stCondLst>
                                  <p:childTnLst>
                                    <p:anim calcmode="discrete" valueType="str">
                                      <p:cBhvr>
                                        <p:cTn id="25" dur="500" fill="hold"/>
                                        <p:tgtEl>
                                          <p:spTgt spid="130"/>
                                        </p:tgtEl>
                                        <p:attrNameLst>
                                          <p:attrName>style.visibility</p:attrName>
                                        </p:attrNameLst>
                                      </p:cBhvr>
                                      <p:tavLst>
                                        <p:tav tm="0">
                                          <p:val>
                                            <p:strVal val="hidden"/>
                                          </p:val>
                                        </p:tav>
                                        <p:tav tm="50000">
                                          <p:val>
                                            <p:strVal val="visible"/>
                                          </p:val>
                                        </p:tav>
                                      </p:tavLst>
                                    </p:anim>
                                  </p:childTnLst>
                                </p:cTn>
                              </p:par>
                            </p:childTnLst>
                          </p:cTn>
                        </p:par>
                        <p:par>
                          <p:cTn id="26" fill="hold" nodeType="afterGroup">
                            <p:stCondLst>
                              <p:cond delay="2500"/>
                            </p:stCondLst>
                            <p:childTnLst>
                              <p:par>
                                <p:cTn id="27" presetID="1" presetClass="entr" presetSubtype="0" fill="hold" grpId="0" nodeType="afterEffect">
                                  <p:stCondLst>
                                    <p:cond delay="0"/>
                                  </p:stCondLst>
                                  <p:childTnLst>
                                    <p:set>
                                      <p:cBhvr>
                                        <p:cTn id="28" dur="1" fill="hold">
                                          <p:stCondLst>
                                            <p:cond delay="0"/>
                                          </p:stCondLst>
                                        </p:cTn>
                                        <p:tgtEl>
                                          <p:spTgt spid="129"/>
                                        </p:tgtEl>
                                        <p:attrNameLst>
                                          <p:attrName>style.visibility</p:attrName>
                                        </p:attrNameLst>
                                      </p:cBhvr>
                                      <p:to>
                                        <p:strVal val="visible"/>
                                      </p:to>
                                    </p:set>
                                  </p:childTnLst>
                                </p:cTn>
                              </p:par>
                            </p:childTnLst>
                          </p:cTn>
                        </p:par>
                        <p:par>
                          <p:cTn id="29" fill="hold" nodeType="afterGroup">
                            <p:stCondLst>
                              <p:cond delay="2501"/>
                            </p:stCondLst>
                            <p:childTnLst>
                              <p:par>
                                <p:cTn id="30" presetID="35" presetClass="emph" presetSubtype="0" repeatCount="5000" fill="hold" grpId="1" nodeType="afterEffect">
                                  <p:stCondLst>
                                    <p:cond delay="0"/>
                                  </p:stCondLst>
                                  <p:childTnLst>
                                    <p:anim calcmode="discrete" valueType="str">
                                      <p:cBhvr>
                                        <p:cTn id="31" dur="500" fill="hold"/>
                                        <p:tgtEl>
                                          <p:spTgt spid="129"/>
                                        </p:tgtEl>
                                        <p:attrNameLst>
                                          <p:attrName>style.visibility</p:attrName>
                                        </p:attrNameLst>
                                      </p:cBhvr>
                                      <p:tavLst>
                                        <p:tav tm="0">
                                          <p:val>
                                            <p:strVal val="hidden"/>
                                          </p:val>
                                        </p:tav>
                                        <p:tav tm="50000">
                                          <p:val>
                                            <p:strVal val="visible"/>
                                          </p:val>
                                        </p:tav>
                                      </p:tavLst>
                                    </p:anim>
                                  </p:childTnLst>
                                </p:cTn>
                              </p:par>
                            </p:childTnLst>
                          </p:cTn>
                        </p:par>
                        <p:par>
                          <p:cTn id="32" fill="hold" nodeType="afterGroup">
                            <p:stCondLst>
                              <p:cond delay="5001"/>
                            </p:stCondLst>
                            <p:childTnLst>
                              <p:par>
                                <p:cTn id="33" presetID="22" presetClass="entr" presetSubtype="8"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wipe(left)">
                                      <p:cBhvr>
                                        <p:cTn id="35" dur="500"/>
                                        <p:tgtEl>
                                          <p:spTgt spid="1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123"/>
                                        </p:tgtEl>
                                        <p:attrNameLst>
                                          <p:attrName>style.visibility</p:attrName>
                                        </p:attrNameLst>
                                      </p:cBhvr>
                                      <p:to>
                                        <p:strVal val="visible"/>
                                      </p:to>
                                    </p:set>
                                    <p:animEffect transition="in" filter="wipe(right)">
                                      <p:cBhvr>
                                        <p:cTn id="40" dur="500"/>
                                        <p:tgtEl>
                                          <p:spTgt spid="1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44"/>
                                        </p:tgtEl>
                                        <p:attrNameLst>
                                          <p:attrName>style.visibility</p:attrName>
                                        </p:attrNameLst>
                                      </p:cBhvr>
                                      <p:to>
                                        <p:strVal val="visible"/>
                                      </p:to>
                                    </p:set>
                                    <p:animEffect transition="in" filter="wipe(left)">
                                      <p:cBhvr>
                                        <p:cTn id="45" dur="500"/>
                                        <p:tgtEl>
                                          <p:spTgt spid="144"/>
                                        </p:tgtEl>
                                      </p:cBhvr>
                                    </p:animEffect>
                                  </p:childTnLst>
                                </p:cTn>
                              </p:par>
                              <p:par>
                                <p:cTn id="46" presetID="1" presetClass="entr" presetSubtype="0" fill="hold" nodeType="withEffect">
                                  <p:stCondLst>
                                    <p:cond delay="0"/>
                                  </p:stCondLst>
                                  <p:childTnLst>
                                    <p:set>
                                      <p:cBhvr>
                                        <p:cTn id="47" dur="1" fill="hold">
                                          <p:stCondLst>
                                            <p:cond delay="0"/>
                                          </p:stCondLst>
                                        </p:cTn>
                                        <p:tgtEl>
                                          <p:spTgt spid="157"/>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up)">
                                      <p:cBhvr>
                                        <p:cTn id="52" dur="10000"/>
                                        <p:tgtEl>
                                          <p:spTgt spid="9"/>
                                        </p:tgtEl>
                                      </p:cBhvr>
                                    </p:animEffect>
                                  </p:childTnLst>
                                </p:cTn>
                              </p:par>
                              <p:par>
                                <p:cTn id="53" presetID="35" presetClass="emph" presetSubtype="0" repeatCount="5000" fill="hold" nodeType="withEffect">
                                  <p:stCondLst>
                                    <p:cond delay="0"/>
                                  </p:stCondLst>
                                  <p:childTnLst>
                                    <p:anim calcmode="discrete" valueType="str">
                                      <p:cBhvr>
                                        <p:cTn id="54" dur="500" fill="hold"/>
                                        <p:tgtEl>
                                          <p:spTgt spid="157"/>
                                        </p:tgtEl>
                                        <p:attrNameLst>
                                          <p:attrName>style.visibility</p:attrName>
                                        </p:attrNameLst>
                                      </p:cBhvr>
                                      <p:tavLst>
                                        <p:tav tm="0">
                                          <p:val>
                                            <p:strVal val="hidden"/>
                                          </p:val>
                                        </p:tav>
                                        <p:tav tm="50000">
                                          <p:val>
                                            <p:strVal val="visible"/>
                                          </p:val>
                                        </p:tav>
                                      </p:tavLst>
                                    </p:anim>
                                  </p:childTnLst>
                                </p:cTn>
                              </p:par>
                              <p:par>
                                <p:cTn id="55" presetID="1" presetClass="entr" presetSubtype="0" fill="hold" grpId="0" nodeType="withEffect">
                                  <p:stCondLst>
                                    <p:cond delay="2500"/>
                                  </p:stCondLst>
                                  <p:childTnLst>
                                    <p:set>
                                      <p:cBhvr>
                                        <p:cTn id="56" dur="1" fill="hold">
                                          <p:stCondLst>
                                            <p:cond delay="0"/>
                                          </p:stCondLst>
                                        </p:cTn>
                                        <p:tgtEl>
                                          <p:spTgt spid="156"/>
                                        </p:tgtEl>
                                        <p:attrNameLst>
                                          <p:attrName>style.visibility</p:attrName>
                                        </p:attrNameLst>
                                      </p:cBhvr>
                                      <p:to>
                                        <p:strVal val="visible"/>
                                      </p:to>
                                    </p:set>
                                  </p:childTnLst>
                                </p:cTn>
                              </p:par>
                              <p:par>
                                <p:cTn id="57" presetID="35" presetClass="emph" presetSubtype="0" repeatCount="5000" fill="hold" grpId="1" nodeType="withEffect">
                                  <p:stCondLst>
                                    <p:cond delay="2500"/>
                                  </p:stCondLst>
                                  <p:childTnLst>
                                    <p:anim calcmode="discrete" valueType="str">
                                      <p:cBhvr>
                                        <p:cTn id="58" dur="500" fill="hold"/>
                                        <p:tgtEl>
                                          <p:spTgt spid="156"/>
                                        </p:tgtEl>
                                        <p:attrNameLst>
                                          <p:attrName>style.visibility</p:attrName>
                                        </p:attrNameLst>
                                      </p:cBhvr>
                                      <p:tavLst>
                                        <p:tav tm="0">
                                          <p:val>
                                            <p:strVal val="hidden"/>
                                          </p:val>
                                        </p:tav>
                                        <p:tav tm="50000">
                                          <p:val>
                                            <p:strVal val="visible"/>
                                          </p:val>
                                        </p:tav>
                                      </p:tavLst>
                                    </p:anim>
                                  </p:childTnLst>
                                </p:cTn>
                              </p:par>
                              <p:par>
                                <p:cTn id="59" presetID="22" presetClass="entr" presetSubtype="8" fill="hold" nodeType="withEffect">
                                  <p:stCondLst>
                                    <p:cond delay="5000"/>
                                  </p:stCondLst>
                                  <p:childTnLst>
                                    <p:set>
                                      <p:cBhvr>
                                        <p:cTn id="60" dur="1" fill="hold">
                                          <p:stCondLst>
                                            <p:cond delay="0"/>
                                          </p:stCondLst>
                                        </p:cTn>
                                        <p:tgtEl>
                                          <p:spTgt spid="148"/>
                                        </p:tgtEl>
                                        <p:attrNameLst>
                                          <p:attrName>style.visibility</p:attrName>
                                        </p:attrNameLst>
                                      </p:cBhvr>
                                      <p:to>
                                        <p:strVal val="visible"/>
                                      </p:to>
                                    </p:set>
                                    <p:animEffect transition="in" filter="wipe(left)">
                                      <p:cBhvr>
                                        <p:cTn id="61" dur="1000"/>
                                        <p:tgtEl>
                                          <p:spTgt spid="148"/>
                                        </p:tgtEl>
                                      </p:cBhvr>
                                    </p:animEffect>
                                  </p:childTnLst>
                                </p:cTn>
                              </p:par>
                              <p:par>
                                <p:cTn id="62" presetID="16" presetClass="entr" presetSubtype="21" fill="hold" grpId="0" nodeType="withEffect">
                                  <p:stCondLst>
                                    <p:cond delay="6000"/>
                                  </p:stCondLst>
                                  <p:childTnLst>
                                    <p:set>
                                      <p:cBhvr>
                                        <p:cTn id="63" dur="1" fill="hold">
                                          <p:stCondLst>
                                            <p:cond delay="0"/>
                                          </p:stCondLst>
                                        </p:cTn>
                                        <p:tgtEl>
                                          <p:spTgt spid="4"/>
                                        </p:tgtEl>
                                        <p:attrNameLst>
                                          <p:attrName>style.visibility</p:attrName>
                                        </p:attrNameLst>
                                      </p:cBhvr>
                                      <p:to>
                                        <p:strVal val="visible"/>
                                      </p:to>
                                    </p:set>
                                    <p:animEffect transition="in" filter="barn(inVertical)">
                                      <p:cBhvr>
                                        <p:cTn id="64" dur="1000"/>
                                        <p:tgtEl>
                                          <p:spTgt spid="4"/>
                                        </p:tgtEl>
                                      </p:cBhvr>
                                    </p:animEffect>
                                  </p:childTnLst>
                                </p:cTn>
                              </p:par>
                              <p:par>
                                <p:cTn id="65" presetID="22" presetClass="entr" presetSubtype="2" fill="hold" nodeType="withEffect">
                                  <p:stCondLst>
                                    <p:cond delay="7000"/>
                                  </p:stCondLst>
                                  <p:childTnLst>
                                    <p:set>
                                      <p:cBhvr>
                                        <p:cTn id="66" dur="1" fill="hold">
                                          <p:stCondLst>
                                            <p:cond delay="0"/>
                                          </p:stCondLst>
                                        </p:cTn>
                                        <p:tgtEl>
                                          <p:spTgt spid="153"/>
                                        </p:tgtEl>
                                        <p:attrNameLst>
                                          <p:attrName>style.visibility</p:attrName>
                                        </p:attrNameLst>
                                      </p:cBhvr>
                                      <p:to>
                                        <p:strVal val="visible"/>
                                      </p:to>
                                    </p:set>
                                    <p:animEffect transition="in" filter="wipe(right)">
                                      <p:cBhvr>
                                        <p:cTn id="67" dur="1000"/>
                                        <p:tgtEl>
                                          <p:spTgt spid="153"/>
                                        </p:tgtEl>
                                      </p:cBhvr>
                                    </p:animEffect>
                                  </p:childTnLst>
                                </p:cTn>
                              </p:par>
                              <p:par>
                                <p:cTn id="68" presetID="22" presetClass="entr" presetSubtype="8" fill="hold" nodeType="withEffect">
                                  <p:stCondLst>
                                    <p:cond delay="8000"/>
                                  </p:stCondLst>
                                  <p:childTnLst>
                                    <p:set>
                                      <p:cBhvr>
                                        <p:cTn id="69" dur="1" fill="hold">
                                          <p:stCondLst>
                                            <p:cond delay="0"/>
                                          </p:stCondLst>
                                        </p:cTn>
                                        <p:tgtEl>
                                          <p:spTgt spid="164"/>
                                        </p:tgtEl>
                                        <p:attrNameLst>
                                          <p:attrName>style.visibility</p:attrName>
                                        </p:attrNameLst>
                                      </p:cBhvr>
                                      <p:to>
                                        <p:strVal val="visible"/>
                                      </p:to>
                                    </p:set>
                                    <p:animEffect transition="in" filter="wipe(left)">
                                      <p:cBhvr>
                                        <p:cTn id="70" dur="1000"/>
                                        <p:tgtEl>
                                          <p:spTgt spid="164"/>
                                        </p:tgtEl>
                                      </p:cBhvr>
                                    </p:animEffect>
                                  </p:childTnLst>
                                </p:cTn>
                              </p:par>
                            </p:childTnLst>
                          </p:cTn>
                        </p:par>
                        <p:par>
                          <p:cTn id="71" fill="hold" nodeType="afterGroup">
                            <p:stCondLst>
                              <p:cond delay="10000"/>
                            </p:stCondLst>
                            <p:childTnLst>
                              <p:par>
                                <p:cTn id="72" presetID="16" presetClass="entr" presetSubtype="2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barn(inVertical)">
                                      <p:cBhvr>
                                        <p:cTn id="7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p:bldP spid="129" grpId="1"/>
      <p:bldP spid="139" grpId="0" animBg="1"/>
      <p:bldP spid="139" grpId="1" animBg="1"/>
      <p:bldP spid="156" grpId="0"/>
      <p:bldP spid="156" grpId="1"/>
      <p:bldP spid="7"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85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请注意</a:t>
            </a:r>
          </a:p>
        </p:txBody>
      </p:sp>
      <p:sp>
        <p:nvSpPr>
          <p:cNvPr id="138854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在发送完一个分组后，必须</a:t>
            </a:r>
            <a:r>
              <a:rPr lang="zh-CN" altLang="en-US" smtClean="0">
                <a:solidFill>
                  <a:srgbClr val="FF0000"/>
                </a:solidFill>
                <a:ea typeface="黑体" panose="02010609060101010101" pitchFamily="49" charset="-122"/>
              </a:rPr>
              <a:t>暂时保留</a:t>
            </a:r>
            <a:r>
              <a:rPr lang="zh-CN" altLang="en-US" smtClean="0">
                <a:ea typeface="黑体" panose="02010609060101010101" pitchFamily="49" charset="-122"/>
              </a:rPr>
              <a:t>已发送的分组的副本，以备重发。</a:t>
            </a:r>
          </a:p>
          <a:p>
            <a:r>
              <a:rPr lang="zh-CN" altLang="en-US" smtClean="0">
                <a:solidFill>
                  <a:srgbClr val="FF0000"/>
                </a:solidFill>
                <a:ea typeface="黑体" panose="02010609060101010101" pitchFamily="49" charset="-122"/>
              </a:rPr>
              <a:t>分组和确认分组都必须进行编号。</a:t>
            </a:r>
          </a:p>
          <a:p>
            <a:r>
              <a:rPr lang="zh-CN" altLang="en-US" smtClean="0">
                <a:ea typeface="黑体" panose="02010609060101010101" pitchFamily="49" charset="-122"/>
              </a:rPr>
              <a:t>超时计时器的重传时间应当比数据在分组传输的平均往返时间</a:t>
            </a:r>
            <a:r>
              <a:rPr lang="zh-CN" altLang="en-US" smtClean="0">
                <a:solidFill>
                  <a:srgbClr val="FF0000"/>
                </a:solidFill>
                <a:ea typeface="黑体" panose="02010609060101010101" pitchFamily="49" charset="-122"/>
              </a:rPr>
              <a:t>更长一些。 </a:t>
            </a:r>
          </a:p>
        </p:txBody>
      </p:sp>
      <p:sp>
        <p:nvSpPr>
          <p:cNvPr id="13885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D347B1-4E14-4D84-B22C-027EA87CF9DF}" type="slidenum">
              <a:rPr lang="zh-CN" altLang="en-US" smtClean="0"/>
              <a:pPr eaLnBrk="1" hangingPunct="1"/>
              <a:t>11</a:t>
            </a:fld>
            <a:endParaRPr lang="en-US" altLang="zh-CN" smtClean="0"/>
          </a:p>
        </p:txBody>
      </p:sp>
      <p:sp>
        <p:nvSpPr>
          <p:cNvPr id="13885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0593" name="标题 1"/>
          <p:cNvSpPr>
            <a:spLocks noGrp="1" noChangeArrowheads="1"/>
          </p:cNvSpPr>
          <p:nvPr>
            <p:ph type="title"/>
          </p:nvPr>
        </p:nvSpPr>
        <p:spPr>
          <a:xfrm>
            <a:off x="495300" y="188913"/>
            <a:ext cx="9066213" cy="792162"/>
          </a:xfrm>
        </p:spPr>
        <p:txBody>
          <a:bodyPr/>
          <a:lstStyle/>
          <a:p>
            <a:pPr algn="ctr"/>
            <a:r>
              <a:rPr lang="zh-CN" altLang="zh-CN" dirty="0" smtClean="0">
                <a:ea typeface="黑体" panose="02010609060101010101" pitchFamily="49" charset="-122"/>
              </a:rPr>
              <a:t>自动重传请求</a:t>
            </a:r>
            <a:r>
              <a:rPr lang="en-US" altLang="zh-CN" dirty="0" smtClean="0">
                <a:ea typeface="黑体" panose="02010609060101010101" pitchFamily="49" charset="-122"/>
              </a:rPr>
              <a:t> ARQ</a:t>
            </a:r>
            <a:endParaRPr lang="zh-CN" altLang="en-US" dirty="0" smtClean="0">
              <a:ea typeface="黑体" panose="02010609060101010101" pitchFamily="49" charset="-122"/>
            </a:endParaRPr>
          </a:p>
        </p:txBody>
      </p:sp>
      <p:sp>
        <p:nvSpPr>
          <p:cNvPr id="1390594" name="内容占位符 2"/>
          <p:cNvSpPr>
            <a:spLocks noGrp="1" noChangeArrowheads="1"/>
          </p:cNvSpPr>
          <p:nvPr>
            <p:ph idx="1"/>
          </p:nvPr>
        </p:nvSpPr>
        <p:spPr>
          <a:xfrm>
            <a:off x="495300" y="1196975"/>
            <a:ext cx="9066213" cy="4933950"/>
          </a:xfrm>
        </p:spPr>
        <p:txBody>
          <a:bodyPr/>
          <a:lstStyle/>
          <a:p>
            <a:pPr>
              <a:spcBef>
                <a:spcPts val="1200"/>
              </a:spcBef>
            </a:pPr>
            <a:r>
              <a:rPr lang="zh-CN" altLang="zh-CN" sz="2800" dirty="0" smtClean="0">
                <a:solidFill>
                  <a:srgbClr val="FF0000"/>
                </a:solidFill>
                <a:ea typeface="黑体" panose="02010609060101010101" pitchFamily="49" charset="-122"/>
              </a:rPr>
              <a:t>通常</a:t>
            </a:r>
            <a:r>
              <a:rPr lang="en-US" altLang="zh-CN" sz="2800" dirty="0" smtClean="0">
                <a:solidFill>
                  <a:srgbClr val="FF0000"/>
                </a:solidFill>
                <a:ea typeface="黑体" panose="02010609060101010101" pitchFamily="49" charset="-122"/>
              </a:rPr>
              <a:t> A </a:t>
            </a:r>
            <a:r>
              <a:rPr lang="zh-CN" altLang="zh-CN" sz="2800" dirty="0" smtClean="0">
                <a:solidFill>
                  <a:srgbClr val="FF0000"/>
                </a:solidFill>
                <a:ea typeface="黑体" panose="02010609060101010101" pitchFamily="49" charset="-122"/>
              </a:rPr>
              <a:t>最终总是可以收到对所有发出的分组的确认。</a:t>
            </a:r>
            <a:r>
              <a:rPr lang="zh-CN" altLang="zh-CN" sz="2800" dirty="0" smtClean="0">
                <a:ea typeface="黑体" panose="02010609060101010101" pitchFamily="49" charset="-122"/>
              </a:rPr>
              <a:t>如果</a:t>
            </a:r>
            <a:r>
              <a:rPr lang="en-US" altLang="zh-CN" sz="2800" dirty="0" smtClean="0">
                <a:ea typeface="黑体" panose="02010609060101010101" pitchFamily="49" charset="-122"/>
              </a:rPr>
              <a:t> A </a:t>
            </a:r>
            <a:r>
              <a:rPr lang="zh-CN" altLang="zh-CN" sz="2800" dirty="0" smtClean="0">
                <a:ea typeface="黑体" panose="02010609060101010101" pitchFamily="49" charset="-122"/>
              </a:rPr>
              <a:t>不断重传分组但总是收不到确认，就说明通信线路太差，不能进行通信。</a:t>
            </a:r>
          </a:p>
          <a:p>
            <a:pPr>
              <a:spcBef>
                <a:spcPts val="1200"/>
              </a:spcBef>
            </a:pPr>
            <a:r>
              <a:rPr lang="zh-CN" altLang="zh-CN" sz="2800" dirty="0" smtClean="0">
                <a:solidFill>
                  <a:srgbClr val="FF0000"/>
                </a:solidFill>
                <a:ea typeface="黑体" panose="02010609060101010101" pitchFamily="49" charset="-122"/>
              </a:rPr>
              <a:t>使用上述的确认和重传机制，我们就可以在不可靠的传输网络上实现可靠的通信。</a:t>
            </a:r>
          </a:p>
          <a:p>
            <a:pPr>
              <a:spcBef>
                <a:spcPts val="1200"/>
              </a:spcBef>
            </a:pPr>
            <a:r>
              <a:rPr lang="zh-CN" altLang="zh-CN" sz="2800" dirty="0" smtClean="0">
                <a:ea typeface="黑体" panose="02010609060101010101" pitchFamily="49" charset="-122"/>
              </a:rPr>
              <a:t>像上述的这种可靠传输协议常称为</a:t>
            </a:r>
            <a:r>
              <a:rPr lang="zh-CN" altLang="zh-CN" sz="2800" u="sng" dirty="0" smtClean="0">
                <a:solidFill>
                  <a:srgbClr val="FF0000"/>
                </a:solidFill>
                <a:ea typeface="黑体" panose="02010609060101010101" pitchFamily="49" charset="-122"/>
              </a:rPr>
              <a:t>自动重传请求</a:t>
            </a:r>
            <a:r>
              <a:rPr lang="en-US" altLang="zh-CN" sz="2800" u="sng" dirty="0" smtClean="0">
                <a:solidFill>
                  <a:srgbClr val="FF0000"/>
                </a:solidFill>
                <a:ea typeface="黑体" panose="02010609060101010101" pitchFamily="49" charset="-122"/>
              </a:rPr>
              <a:t> ARQ  </a:t>
            </a:r>
            <a:r>
              <a:rPr lang="en-US" altLang="zh-CN" sz="2800" u="sng" dirty="0" smtClean="0">
                <a:ea typeface="黑体" panose="02010609060101010101" pitchFamily="49" charset="-122"/>
              </a:rPr>
              <a:t>(Automatic Repeat </a:t>
            </a:r>
            <a:r>
              <a:rPr lang="en-US" altLang="zh-CN" sz="2800" u="sng" dirty="0" err="1" smtClean="0">
                <a:ea typeface="黑体" panose="02010609060101010101" pitchFamily="49" charset="-122"/>
              </a:rPr>
              <a:t>reQuest</a:t>
            </a:r>
            <a:r>
              <a:rPr lang="en-US" altLang="zh-CN" sz="2800" u="sng" dirty="0" smtClean="0">
                <a:ea typeface="黑体" panose="02010609060101010101" pitchFamily="49" charset="-122"/>
              </a:rPr>
              <a:t>)</a:t>
            </a:r>
            <a:r>
              <a:rPr lang="zh-CN" altLang="zh-CN" sz="2800" dirty="0" smtClean="0">
                <a:ea typeface="黑体" panose="02010609060101010101" pitchFamily="49" charset="-122"/>
              </a:rPr>
              <a:t>。意思是重传的请求是自动进行的</a:t>
            </a:r>
            <a:r>
              <a:rPr lang="zh-CN" altLang="en-US" sz="2800" dirty="0" smtClean="0">
                <a:ea typeface="黑体" panose="02010609060101010101" pitchFamily="49" charset="-122"/>
              </a:rPr>
              <a:t>，</a:t>
            </a:r>
            <a:r>
              <a:rPr lang="zh-CN" altLang="zh-CN" sz="2800" dirty="0" smtClean="0">
                <a:ea typeface="黑体" panose="02010609060101010101" pitchFamily="49" charset="-122"/>
              </a:rPr>
              <a:t>接收方不需要请求发送方重传某个出错的分组。</a:t>
            </a:r>
          </a:p>
          <a:p>
            <a:pPr>
              <a:spcBef>
                <a:spcPts val="1200"/>
              </a:spcBef>
            </a:pPr>
            <a:endParaRPr lang="zh-CN" altLang="en-US" sz="2800" dirty="0" smtClean="0">
              <a:ea typeface="黑体" panose="02010609060101010101" pitchFamily="49" charset="-122"/>
            </a:endParaRPr>
          </a:p>
        </p:txBody>
      </p:sp>
      <p:sp>
        <p:nvSpPr>
          <p:cNvPr id="139059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892739-4BF8-49E5-8B9C-A19440408D94}" type="slidenum">
              <a:rPr lang="zh-CN" altLang="en-US" smtClean="0"/>
              <a:pPr eaLnBrk="1" hangingPunct="1"/>
              <a:t>12</a:t>
            </a:fld>
            <a:endParaRPr lang="en-US" altLang="zh-CN" smtClean="0"/>
          </a:p>
        </p:txBody>
      </p:sp>
      <p:sp>
        <p:nvSpPr>
          <p:cNvPr id="139059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1617" name="标题 1"/>
          <p:cNvSpPr>
            <a:spLocks noGrp="1" noChangeArrowheads="1"/>
          </p:cNvSpPr>
          <p:nvPr>
            <p:ph type="title"/>
          </p:nvPr>
        </p:nvSpPr>
        <p:spPr/>
        <p:txBody>
          <a:bodyPr/>
          <a:lstStyle/>
          <a:p>
            <a:r>
              <a:rPr lang="en-US" altLang="zh-CN" smtClean="0">
                <a:ea typeface="黑体" panose="02010609060101010101" pitchFamily="49" charset="-122"/>
              </a:rPr>
              <a:t>4. </a:t>
            </a:r>
            <a:r>
              <a:rPr lang="zh-CN" altLang="zh-CN" smtClean="0">
                <a:ea typeface="黑体" panose="02010609060101010101" pitchFamily="49" charset="-122"/>
              </a:rPr>
              <a:t>信道利用率</a:t>
            </a:r>
            <a:endParaRPr lang="zh-CN" altLang="en-US" smtClean="0">
              <a:ea typeface="黑体" panose="02010609060101010101" pitchFamily="49" charset="-122"/>
            </a:endParaRPr>
          </a:p>
        </p:txBody>
      </p:sp>
      <p:sp>
        <p:nvSpPr>
          <p:cNvPr id="1391618" name="Text Box 4"/>
          <p:cNvSpPr txBox="1">
            <a:spLocks noChangeArrowheads="1"/>
          </p:cNvSpPr>
          <p:nvPr/>
        </p:nvSpPr>
        <p:spPr bwMode="auto">
          <a:xfrm>
            <a:off x="1400175" y="3594100"/>
            <a:ext cx="520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i="1">
                <a:solidFill>
                  <a:srgbClr val="000099"/>
                </a:solidFill>
                <a:ea typeface="黑体" panose="02010609060101010101" pitchFamily="49" charset="-122"/>
              </a:rPr>
              <a:t>T</a:t>
            </a:r>
            <a:r>
              <a:rPr lang="en-US" altLang="zh-CN" sz="2400" b="1" i="1" baseline="-25000">
                <a:solidFill>
                  <a:srgbClr val="000099"/>
                </a:solidFill>
                <a:ea typeface="黑体" panose="02010609060101010101" pitchFamily="49" charset="-122"/>
              </a:rPr>
              <a:t>D</a:t>
            </a:r>
          </a:p>
        </p:txBody>
      </p:sp>
      <p:sp>
        <p:nvSpPr>
          <p:cNvPr id="1391619" name="Line 5"/>
          <p:cNvSpPr>
            <a:spLocks noChangeShapeType="1"/>
          </p:cNvSpPr>
          <p:nvPr/>
        </p:nvSpPr>
        <p:spPr bwMode="auto">
          <a:xfrm flipV="1">
            <a:off x="1489075" y="3616325"/>
            <a:ext cx="0" cy="793750"/>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0" name="Line 6"/>
          <p:cNvSpPr>
            <a:spLocks noChangeShapeType="1"/>
          </p:cNvSpPr>
          <p:nvPr/>
        </p:nvSpPr>
        <p:spPr bwMode="auto">
          <a:xfrm>
            <a:off x="1862138" y="3678238"/>
            <a:ext cx="0" cy="3952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1" name="Line 7"/>
          <p:cNvSpPr>
            <a:spLocks noChangeShapeType="1"/>
          </p:cNvSpPr>
          <p:nvPr/>
        </p:nvSpPr>
        <p:spPr bwMode="auto">
          <a:xfrm>
            <a:off x="5132388" y="3678238"/>
            <a:ext cx="0" cy="3952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2" name="Line 8"/>
          <p:cNvSpPr>
            <a:spLocks noChangeShapeType="1"/>
          </p:cNvSpPr>
          <p:nvPr/>
        </p:nvSpPr>
        <p:spPr bwMode="auto">
          <a:xfrm>
            <a:off x="1860550" y="3873500"/>
            <a:ext cx="3270250"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3" name="Text Box 9"/>
          <p:cNvSpPr txBox="1">
            <a:spLocks noChangeArrowheads="1"/>
          </p:cNvSpPr>
          <p:nvPr/>
        </p:nvSpPr>
        <p:spPr bwMode="auto">
          <a:xfrm>
            <a:off x="3051175" y="3617913"/>
            <a:ext cx="782638"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RTT</a:t>
            </a:r>
          </a:p>
        </p:txBody>
      </p:sp>
      <p:sp>
        <p:nvSpPr>
          <p:cNvPr id="1391624" name="Line 10"/>
          <p:cNvSpPr>
            <a:spLocks noChangeShapeType="1"/>
          </p:cNvSpPr>
          <p:nvPr/>
        </p:nvSpPr>
        <p:spPr bwMode="auto">
          <a:xfrm rot="5400000" flipH="1" flipV="1">
            <a:off x="1265238" y="3651250"/>
            <a:ext cx="0" cy="44450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5" name="Text Box 11"/>
          <p:cNvSpPr txBox="1">
            <a:spLocks noChangeArrowheads="1"/>
          </p:cNvSpPr>
          <p:nvPr/>
        </p:nvSpPr>
        <p:spPr bwMode="auto">
          <a:xfrm>
            <a:off x="776288" y="3336925"/>
            <a:ext cx="4079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A</a:t>
            </a:r>
          </a:p>
        </p:txBody>
      </p:sp>
      <p:sp>
        <p:nvSpPr>
          <p:cNvPr id="1391626" name="Line 12"/>
          <p:cNvSpPr>
            <a:spLocks noChangeShapeType="1"/>
          </p:cNvSpPr>
          <p:nvPr/>
        </p:nvSpPr>
        <p:spPr bwMode="auto">
          <a:xfrm flipV="1">
            <a:off x="5207000" y="3616325"/>
            <a:ext cx="0" cy="793750"/>
          </a:xfrm>
          <a:prstGeom prst="line">
            <a:avLst/>
          </a:prstGeom>
          <a:noFill/>
          <a:ln w="19050">
            <a:solidFill>
              <a:schemeClr val="tx1"/>
            </a:solidFill>
            <a:round/>
            <a:headEnd/>
            <a:tailEnd type="non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7" name="Line 13"/>
          <p:cNvSpPr>
            <a:spLocks noChangeShapeType="1"/>
          </p:cNvSpPr>
          <p:nvPr/>
        </p:nvSpPr>
        <p:spPr bwMode="auto">
          <a:xfrm>
            <a:off x="1489075" y="4271963"/>
            <a:ext cx="37179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28" name="Text Box 14"/>
          <p:cNvSpPr txBox="1">
            <a:spLocks noChangeArrowheads="1"/>
          </p:cNvSpPr>
          <p:nvPr/>
        </p:nvSpPr>
        <p:spPr bwMode="auto">
          <a:xfrm>
            <a:off x="2263775" y="4051300"/>
            <a:ext cx="21209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i="1">
                <a:solidFill>
                  <a:srgbClr val="000099"/>
                </a:solidFill>
                <a:ea typeface="黑体" panose="02010609060101010101" pitchFamily="49" charset="-122"/>
              </a:rPr>
              <a:t>T</a:t>
            </a:r>
            <a:r>
              <a:rPr lang="en-US" altLang="zh-CN" sz="2400" b="1" i="1" baseline="-25000">
                <a:solidFill>
                  <a:srgbClr val="000099"/>
                </a:solidFill>
                <a:ea typeface="黑体" panose="02010609060101010101" pitchFamily="49" charset="-122"/>
              </a:rPr>
              <a:t>D</a:t>
            </a:r>
            <a:r>
              <a:rPr lang="en-US" altLang="zh-CN" sz="2400" b="1">
                <a:solidFill>
                  <a:srgbClr val="000099"/>
                </a:solidFill>
                <a:ea typeface="黑体" panose="02010609060101010101" pitchFamily="49" charset="-122"/>
              </a:rPr>
              <a:t> + RTT + </a:t>
            </a:r>
            <a:r>
              <a:rPr lang="en-US" altLang="zh-CN" sz="2400" b="1" i="1">
                <a:solidFill>
                  <a:srgbClr val="000099"/>
                </a:solidFill>
                <a:ea typeface="黑体" panose="02010609060101010101" pitchFamily="49" charset="-122"/>
              </a:rPr>
              <a:t>T</a:t>
            </a:r>
            <a:r>
              <a:rPr lang="en-US" altLang="zh-CN" sz="2400" b="1" i="1" baseline="-25000">
                <a:solidFill>
                  <a:srgbClr val="000099"/>
                </a:solidFill>
                <a:ea typeface="黑体" panose="02010609060101010101" pitchFamily="49" charset="-122"/>
              </a:rPr>
              <a:t>A</a:t>
            </a:r>
          </a:p>
        </p:txBody>
      </p:sp>
      <p:sp>
        <p:nvSpPr>
          <p:cNvPr id="1391629" name="Freeform 16"/>
          <p:cNvSpPr>
            <a:spLocks noChangeArrowheads="1"/>
          </p:cNvSpPr>
          <p:nvPr/>
        </p:nvSpPr>
        <p:spPr bwMode="auto">
          <a:xfrm>
            <a:off x="1489075" y="2166938"/>
            <a:ext cx="1998663" cy="1449387"/>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391630" name="Text Box 17"/>
          <p:cNvSpPr txBox="1">
            <a:spLocks noChangeArrowheads="1"/>
          </p:cNvSpPr>
          <p:nvPr/>
        </p:nvSpPr>
        <p:spPr bwMode="auto">
          <a:xfrm>
            <a:off x="790575" y="1916113"/>
            <a:ext cx="407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B</a:t>
            </a:r>
          </a:p>
        </p:txBody>
      </p:sp>
      <p:sp>
        <p:nvSpPr>
          <p:cNvPr id="1391631" name="Line 18"/>
          <p:cNvSpPr>
            <a:spLocks noChangeShapeType="1"/>
          </p:cNvSpPr>
          <p:nvPr/>
        </p:nvSpPr>
        <p:spPr bwMode="auto">
          <a:xfrm flipV="1">
            <a:off x="1489075" y="2170113"/>
            <a:ext cx="1635125" cy="1446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32" name="Line 19"/>
          <p:cNvSpPr>
            <a:spLocks noChangeShapeType="1"/>
          </p:cNvSpPr>
          <p:nvPr/>
        </p:nvSpPr>
        <p:spPr bwMode="auto">
          <a:xfrm flipV="1">
            <a:off x="1860550" y="2170113"/>
            <a:ext cx="1633538" cy="1446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33" name="Text Box 22"/>
          <p:cNvSpPr txBox="1">
            <a:spLocks noChangeArrowheads="1"/>
          </p:cNvSpPr>
          <p:nvPr/>
        </p:nvSpPr>
        <p:spPr bwMode="auto">
          <a:xfrm rot="-2468030">
            <a:off x="1466850" y="272732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分组</a:t>
            </a:r>
          </a:p>
        </p:txBody>
      </p:sp>
      <p:sp>
        <p:nvSpPr>
          <p:cNvPr id="1391634" name="Text Box 23"/>
          <p:cNvSpPr txBox="1">
            <a:spLocks noChangeArrowheads="1"/>
          </p:cNvSpPr>
          <p:nvPr/>
        </p:nvSpPr>
        <p:spPr bwMode="auto">
          <a:xfrm rot="2307784">
            <a:off x="3951288" y="2341563"/>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确认</a:t>
            </a:r>
          </a:p>
        </p:txBody>
      </p:sp>
      <p:sp>
        <p:nvSpPr>
          <p:cNvPr id="1391635" name="Text Box 24"/>
          <p:cNvSpPr txBox="1">
            <a:spLocks noChangeArrowheads="1"/>
          </p:cNvSpPr>
          <p:nvPr/>
        </p:nvSpPr>
        <p:spPr bwMode="auto">
          <a:xfrm>
            <a:off x="9148763" y="1916113"/>
            <a:ext cx="287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i="1">
                <a:solidFill>
                  <a:srgbClr val="000099"/>
                </a:solidFill>
                <a:ea typeface="黑体" panose="02010609060101010101" pitchFamily="49" charset="-122"/>
              </a:rPr>
              <a:t>t</a:t>
            </a:r>
          </a:p>
        </p:txBody>
      </p:sp>
      <p:sp>
        <p:nvSpPr>
          <p:cNvPr id="1391636" name="Text Box 25"/>
          <p:cNvSpPr txBox="1">
            <a:spLocks noChangeArrowheads="1"/>
          </p:cNvSpPr>
          <p:nvPr/>
        </p:nvSpPr>
        <p:spPr bwMode="auto">
          <a:xfrm>
            <a:off x="9148763" y="3298825"/>
            <a:ext cx="2873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i="1">
                <a:solidFill>
                  <a:srgbClr val="000099"/>
                </a:solidFill>
                <a:ea typeface="黑体" panose="02010609060101010101" pitchFamily="49" charset="-122"/>
              </a:rPr>
              <a:t>t</a:t>
            </a:r>
          </a:p>
        </p:txBody>
      </p:sp>
      <p:sp>
        <p:nvSpPr>
          <p:cNvPr id="1391637" name="Line 26"/>
          <p:cNvSpPr>
            <a:spLocks noChangeShapeType="1"/>
          </p:cNvSpPr>
          <p:nvPr/>
        </p:nvSpPr>
        <p:spPr bwMode="auto">
          <a:xfrm>
            <a:off x="4611688" y="2894013"/>
            <a:ext cx="284162" cy="247650"/>
          </a:xfrm>
          <a:prstGeom prst="line">
            <a:avLst/>
          </a:prstGeom>
          <a:noFill/>
          <a:ln w="3810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38" name="Line 27"/>
          <p:cNvSpPr>
            <a:spLocks noChangeShapeType="1"/>
          </p:cNvSpPr>
          <p:nvPr/>
        </p:nvSpPr>
        <p:spPr bwMode="auto">
          <a:xfrm rot="-5705339">
            <a:off x="2256632" y="2513806"/>
            <a:ext cx="230188" cy="307975"/>
          </a:xfrm>
          <a:prstGeom prst="line">
            <a:avLst/>
          </a:prstGeom>
          <a:noFill/>
          <a:ln w="3810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39" name="Freeform 28"/>
          <p:cNvSpPr>
            <a:spLocks noChangeArrowheads="1"/>
          </p:cNvSpPr>
          <p:nvPr/>
        </p:nvSpPr>
        <p:spPr bwMode="auto">
          <a:xfrm>
            <a:off x="7256463" y="2170113"/>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391640" name="Freeform 29"/>
          <p:cNvSpPr>
            <a:spLocks noChangeArrowheads="1"/>
          </p:cNvSpPr>
          <p:nvPr/>
        </p:nvSpPr>
        <p:spPr bwMode="auto">
          <a:xfrm>
            <a:off x="5237163" y="2170113"/>
            <a:ext cx="1998662" cy="1450975"/>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391641" name="Line 30"/>
          <p:cNvSpPr>
            <a:spLocks noChangeShapeType="1"/>
          </p:cNvSpPr>
          <p:nvPr/>
        </p:nvSpPr>
        <p:spPr bwMode="auto">
          <a:xfrm flipV="1">
            <a:off x="5237163" y="2174875"/>
            <a:ext cx="1635125" cy="1446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2" name="Line 31"/>
          <p:cNvSpPr>
            <a:spLocks noChangeShapeType="1"/>
          </p:cNvSpPr>
          <p:nvPr/>
        </p:nvSpPr>
        <p:spPr bwMode="auto">
          <a:xfrm flipV="1">
            <a:off x="5608638" y="2174875"/>
            <a:ext cx="1633537" cy="1446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3" name="Line 32"/>
          <p:cNvSpPr>
            <a:spLocks noChangeShapeType="1"/>
          </p:cNvSpPr>
          <p:nvPr/>
        </p:nvSpPr>
        <p:spPr bwMode="auto">
          <a:xfrm flipH="1" flipV="1">
            <a:off x="7351713" y="2174875"/>
            <a:ext cx="1633537" cy="1446213"/>
          </a:xfrm>
          <a:prstGeom prst="line">
            <a:avLst/>
          </a:prstGeom>
          <a:noFill/>
          <a:ln w="9525">
            <a:solidFill>
              <a:srgbClr val="FF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4" name="Line 33"/>
          <p:cNvSpPr>
            <a:spLocks noChangeShapeType="1"/>
          </p:cNvSpPr>
          <p:nvPr/>
        </p:nvSpPr>
        <p:spPr bwMode="auto">
          <a:xfrm flipH="1" flipV="1">
            <a:off x="7278688" y="2174875"/>
            <a:ext cx="1635125" cy="1446213"/>
          </a:xfrm>
          <a:prstGeom prst="line">
            <a:avLst/>
          </a:prstGeom>
          <a:noFill/>
          <a:ln w="15875">
            <a:solidFill>
              <a:srgbClr val="FF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5" name="Text Box 34"/>
          <p:cNvSpPr txBox="1">
            <a:spLocks noChangeArrowheads="1"/>
          </p:cNvSpPr>
          <p:nvPr/>
        </p:nvSpPr>
        <p:spPr bwMode="auto">
          <a:xfrm rot="-2555241">
            <a:off x="5141913" y="280035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分组</a:t>
            </a:r>
          </a:p>
        </p:txBody>
      </p:sp>
      <p:sp>
        <p:nvSpPr>
          <p:cNvPr id="1391646" name="Line 35"/>
          <p:cNvSpPr>
            <a:spLocks noChangeShapeType="1"/>
          </p:cNvSpPr>
          <p:nvPr/>
        </p:nvSpPr>
        <p:spPr bwMode="auto">
          <a:xfrm rot="-5705339">
            <a:off x="5957888" y="2547938"/>
            <a:ext cx="230187" cy="306387"/>
          </a:xfrm>
          <a:prstGeom prst="line">
            <a:avLst/>
          </a:prstGeom>
          <a:noFill/>
          <a:ln w="3810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7" name="Text Box 36"/>
          <p:cNvSpPr txBox="1">
            <a:spLocks noChangeArrowheads="1"/>
          </p:cNvSpPr>
          <p:nvPr/>
        </p:nvSpPr>
        <p:spPr bwMode="auto">
          <a:xfrm rot="2510398">
            <a:off x="7785100" y="241617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确认</a:t>
            </a:r>
          </a:p>
        </p:txBody>
      </p:sp>
      <p:sp>
        <p:nvSpPr>
          <p:cNvPr id="1391648" name="Line 37"/>
          <p:cNvSpPr>
            <a:spLocks noChangeShapeType="1"/>
          </p:cNvSpPr>
          <p:nvPr/>
        </p:nvSpPr>
        <p:spPr bwMode="auto">
          <a:xfrm>
            <a:off x="8410575" y="2933700"/>
            <a:ext cx="284163" cy="247650"/>
          </a:xfrm>
          <a:prstGeom prst="line">
            <a:avLst/>
          </a:prstGeom>
          <a:noFill/>
          <a:ln w="3810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49" name="Line 38"/>
          <p:cNvSpPr>
            <a:spLocks noChangeShapeType="1"/>
          </p:cNvSpPr>
          <p:nvPr/>
        </p:nvSpPr>
        <p:spPr bwMode="auto">
          <a:xfrm>
            <a:off x="1263650" y="2170113"/>
            <a:ext cx="7913688"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50" name="Line 39"/>
          <p:cNvSpPr>
            <a:spLocks noChangeShapeType="1"/>
          </p:cNvSpPr>
          <p:nvPr/>
        </p:nvSpPr>
        <p:spPr bwMode="auto">
          <a:xfrm>
            <a:off x="1263650" y="3616325"/>
            <a:ext cx="7913688"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51" name="Freeform 28"/>
          <p:cNvSpPr>
            <a:spLocks noChangeArrowheads="1"/>
          </p:cNvSpPr>
          <p:nvPr/>
        </p:nvSpPr>
        <p:spPr bwMode="auto">
          <a:xfrm>
            <a:off x="3482975" y="2170113"/>
            <a:ext cx="1695450" cy="1450975"/>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391652" name="Line 32"/>
          <p:cNvSpPr>
            <a:spLocks noChangeShapeType="1"/>
          </p:cNvSpPr>
          <p:nvPr/>
        </p:nvSpPr>
        <p:spPr bwMode="auto">
          <a:xfrm flipH="1" flipV="1">
            <a:off x="3578225" y="2174875"/>
            <a:ext cx="1633538" cy="1446213"/>
          </a:xfrm>
          <a:prstGeom prst="line">
            <a:avLst/>
          </a:prstGeom>
          <a:noFill/>
          <a:ln w="9525">
            <a:solidFill>
              <a:srgbClr val="FF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391653" name="Line 33"/>
          <p:cNvSpPr>
            <a:spLocks noChangeShapeType="1"/>
          </p:cNvSpPr>
          <p:nvPr/>
        </p:nvSpPr>
        <p:spPr bwMode="auto">
          <a:xfrm flipH="1" flipV="1">
            <a:off x="3503613" y="2174875"/>
            <a:ext cx="1635125" cy="1446213"/>
          </a:xfrm>
          <a:prstGeom prst="line">
            <a:avLst/>
          </a:prstGeom>
          <a:noFill/>
          <a:ln w="15875">
            <a:solidFill>
              <a:srgbClr val="FF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391654" name="组合 46"/>
          <p:cNvGrpSpPr>
            <a:grpSpLocks/>
          </p:cNvGrpSpPr>
          <p:nvPr/>
        </p:nvGrpSpPr>
        <p:grpSpPr bwMode="auto">
          <a:xfrm>
            <a:off x="849313" y="5300663"/>
            <a:ext cx="8566150" cy="1152525"/>
            <a:chOff x="848544" y="5085184"/>
            <a:chExt cx="8566947" cy="1152128"/>
          </a:xfrm>
        </p:grpSpPr>
        <p:sp>
          <p:nvSpPr>
            <p:cNvPr id="1391655" name="矩形 44"/>
            <p:cNvSpPr>
              <a:spLocks noChangeArrowheads="1"/>
            </p:cNvSpPr>
            <p:nvPr/>
          </p:nvSpPr>
          <p:spPr bwMode="auto">
            <a:xfrm>
              <a:off x="848544" y="5085184"/>
              <a:ext cx="8566947" cy="1152128"/>
            </a:xfrm>
            <a:prstGeom prst="rect">
              <a:avLst/>
            </a:prstGeom>
            <a:solidFill>
              <a:srgbClr val="FFFF66"/>
            </a:solidFill>
            <a:ln w="9525">
              <a:solidFill>
                <a:schemeClr val="tx1"/>
              </a:solidFill>
              <a:round/>
              <a:headEnd/>
              <a:tailEnd/>
            </a:ln>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graphicFrame>
          <p:nvGraphicFramePr>
            <p:cNvPr id="1391656" name="Object 4"/>
            <p:cNvGraphicFramePr>
              <a:graphicFrameLocks noChangeAspect="1"/>
            </p:cNvGraphicFramePr>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spid="_x0000_s1391693" r:id="rId3" imgW="1091726" imgH="380835" progId="Equation.3">
                    <p:embed/>
                  </p:oleObj>
                </mc:Choice>
                <mc:Fallback>
                  <p:oleObj r:id="rId3" imgW="1091726" imgH="380835"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1657" name="Text Box 6"/>
            <p:cNvSpPr txBox="1">
              <a:spLocks noChangeArrowheads="1"/>
            </p:cNvSpPr>
            <p:nvPr/>
          </p:nvSpPr>
          <p:spPr bwMode="auto">
            <a:xfrm>
              <a:off x="7749318" y="5364505"/>
              <a:ext cx="10486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200" b="1">
                  <a:solidFill>
                    <a:srgbClr val="000099"/>
                  </a:solidFill>
                  <a:ea typeface="黑体" panose="02010609060101010101" pitchFamily="49" charset="-122"/>
                </a:rPr>
                <a:t>(5-3)</a:t>
              </a:r>
            </a:p>
          </p:txBody>
        </p:sp>
        <p:sp>
          <p:nvSpPr>
            <p:cNvPr id="1391658" name="TextBox 45"/>
            <p:cNvSpPr txBox="1">
              <a:spLocks noChangeArrowheads="1"/>
            </p:cNvSpPr>
            <p:nvPr/>
          </p:nvSpPr>
          <p:spPr bwMode="auto">
            <a:xfrm>
              <a:off x="1050286" y="5301208"/>
              <a:ext cx="22445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000099"/>
                  </a:solidFill>
                  <a:ea typeface="黑体" panose="02010609060101010101" pitchFamily="49" charset="-122"/>
                </a:rPr>
                <a:t>信道利用率</a:t>
              </a:r>
            </a:p>
          </p:txBody>
        </p:sp>
      </p:grpSp>
      <p:sp>
        <p:nvSpPr>
          <p:cNvPr id="1391659" name="矩形 47"/>
          <p:cNvSpPr>
            <a:spLocks noChangeArrowheads="1"/>
          </p:cNvSpPr>
          <p:nvPr/>
        </p:nvSpPr>
        <p:spPr bwMode="auto">
          <a:xfrm>
            <a:off x="2200275" y="4652963"/>
            <a:ext cx="5595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停止等待协议的信道利用率太低</a:t>
            </a:r>
            <a:endParaRPr lang="zh-CN" altLang="en-US" sz="2400" b="1">
              <a:ea typeface="黑体" panose="02010609060101010101" pitchFamily="49" charset="-122"/>
            </a:endParaRPr>
          </a:p>
        </p:txBody>
      </p:sp>
      <p:sp>
        <p:nvSpPr>
          <p:cNvPr id="1391660" name="矩形 49"/>
          <p:cNvSpPr>
            <a:spLocks noChangeArrowheads="1"/>
          </p:cNvSpPr>
          <p:nvPr/>
        </p:nvSpPr>
        <p:spPr bwMode="auto">
          <a:xfrm>
            <a:off x="776288" y="1249363"/>
            <a:ext cx="8785225" cy="523875"/>
          </a:xfrm>
          <a:prstGeom prst="rect">
            <a:avLst/>
          </a:prstGeom>
          <a:solidFill>
            <a:srgbClr val="66FF66"/>
          </a:solidFill>
          <a:ln w="9525">
            <a:solidFill>
              <a:schemeClr val="tx1"/>
            </a:solidFill>
            <a:round/>
            <a:headEnd/>
            <a:tailEnd/>
          </a:ln>
        </p:spPr>
        <p:txBody>
          <a:bodyPr>
            <a:spAutoFit/>
          </a:bodyPr>
          <a:lstStyle/>
          <a:p>
            <a:pPr eaLnBrk="0" hangingPunct="0"/>
            <a:r>
              <a:rPr lang="zh-CN" altLang="zh-CN" sz="2800" b="1">
                <a:ea typeface="黑体" panose="02010609060101010101" pitchFamily="49" charset="-122"/>
              </a:rPr>
              <a:t>停止等待协议的优点是简单，缺点是信道利用率太低。</a:t>
            </a:r>
            <a:endParaRPr lang="en-US" altLang="zh-CN" sz="2800" b="1">
              <a:ea typeface="黑体" panose="02010609060101010101" pitchFamily="49" charset="-122"/>
            </a:endParaRPr>
          </a:p>
        </p:txBody>
      </p:sp>
      <p:sp>
        <p:nvSpPr>
          <p:cNvPr id="1391661" name="灯片编号占位符 1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5DE11C-2B89-42CB-8AB5-AB866100D254}" type="slidenum">
              <a:rPr lang="zh-CN" altLang="en-US" smtClean="0"/>
              <a:pPr eaLnBrk="1" hangingPunct="1"/>
              <a:t>13</a:t>
            </a:fld>
            <a:endParaRPr lang="en-US" altLang="zh-CN" smtClean="0"/>
          </a:p>
        </p:txBody>
      </p:sp>
      <p:sp>
        <p:nvSpPr>
          <p:cNvPr id="1391662" name="页脚占位符 2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4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 </a:t>
            </a:r>
            <a:r>
              <a:rPr lang="zh-CN" altLang="zh-CN" smtClean="0">
                <a:ea typeface="黑体" panose="02010609060101010101" pitchFamily="49" charset="-122"/>
              </a:rPr>
              <a:t>信道利用率</a:t>
            </a:r>
            <a:endParaRPr lang="zh-CN" altLang="en-US" smtClean="0">
              <a:ea typeface="黑体" panose="02010609060101010101" pitchFamily="49" charset="-122"/>
            </a:endParaRPr>
          </a:p>
        </p:txBody>
      </p:sp>
      <p:sp>
        <p:nvSpPr>
          <p:cNvPr id="1392642" name="内容占位符 2"/>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可以</a:t>
            </a:r>
            <a:r>
              <a:rPr lang="zh-CN" altLang="zh-CN" dirty="0" smtClean="0">
                <a:ea typeface="黑体" panose="02010609060101010101" pitchFamily="49" charset="-122"/>
              </a:rPr>
              <a:t>看出，当往返时间</a:t>
            </a:r>
            <a:r>
              <a:rPr lang="en-US" altLang="zh-CN" dirty="0" smtClean="0">
                <a:ea typeface="黑体" panose="02010609060101010101" pitchFamily="49" charset="-122"/>
              </a:rPr>
              <a:t> RTT </a:t>
            </a:r>
            <a:r>
              <a:rPr lang="zh-CN" altLang="zh-CN" dirty="0" smtClean="0">
                <a:ea typeface="黑体" panose="02010609060101010101" pitchFamily="49" charset="-122"/>
              </a:rPr>
              <a:t>远大于分组发送时间</a:t>
            </a:r>
            <a:r>
              <a:rPr lang="en-US" altLang="zh-CN" dirty="0" smtClean="0">
                <a:ea typeface="黑体" panose="02010609060101010101" pitchFamily="49" charset="-122"/>
              </a:rPr>
              <a:t> </a:t>
            </a:r>
            <a:r>
              <a:rPr lang="en-US" altLang="zh-CN" i="1" dirty="0" smtClean="0">
                <a:ea typeface="黑体" panose="02010609060101010101" pitchFamily="49" charset="-122"/>
              </a:rPr>
              <a:t>T</a:t>
            </a:r>
            <a:r>
              <a:rPr lang="en-US" altLang="zh-CN" i="1" baseline="-25000" dirty="0" smtClean="0">
                <a:ea typeface="黑体" panose="02010609060101010101" pitchFamily="49" charset="-122"/>
              </a:rPr>
              <a:t>D</a:t>
            </a:r>
            <a:r>
              <a:rPr lang="en-US" altLang="zh-CN" i="1" dirty="0" smtClean="0">
                <a:ea typeface="黑体" panose="02010609060101010101" pitchFamily="49" charset="-122"/>
              </a:rPr>
              <a:t> </a:t>
            </a:r>
            <a:r>
              <a:rPr lang="zh-CN" altLang="zh-CN" dirty="0" smtClean="0">
                <a:ea typeface="黑体" panose="02010609060101010101" pitchFamily="49" charset="-122"/>
              </a:rPr>
              <a:t>时，信道的利用率就会非常低。</a:t>
            </a:r>
            <a:endParaRPr lang="en-US" altLang="zh-CN" dirty="0" smtClean="0">
              <a:ea typeface="黑体" panose="02010609060101010101" pitchFamily="49" charset="-122"/>
            </a:endParaRPr>
          </a:p>
          <a:p>
            <a:pPr>
              <a:spcBef>
                <a:spcPts val="1200"/>
              </a:spcBef>
            </a:pPr>
            <a:r>
              <a:rPr lang="zh-CN" altLang="zh-CN" dirty="0" smtClean="0">
                <a:ea typeface="黑体" panose="02010609060101010101" pitchFamily="49" charset="-122"/>
              </a:rPr>
              <a:t>若出现重传，则对传送有用的数据信息来说，信道的利用率就还要降低。</a:t>
            </a:r>
            <a:endParaRPr lang="zh-CN" altLang="en-US" dirty="0" smtClean="0">
              <a:ea typeface="黑体" panose="02010609060101010101" pitchFamily="49" charset="-122"/>
            </a:endParaRPr>
          </a:p>
        </p:txBody>
      </p:sp>
      <p:sp>
        <p:nvSpPr>
          <p:cNvPr id="1392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9927C0-68F1-4327-882B-87D978A0CC27}" type="slidenum">
              <a:rPr lang="zh-CN" altLang="en-US" smtClean="0"/>
              <a:pPr eaLnBrk="1" hangingPunct="1"/>
              <a:t>14</a:t>
            </a:fld>
            <a:endParaRPr lang="en-US" altLang="zh-CN" smtClean="0"/>
          </a:p>
        </p:txBody>
      </p:sp>
      <p:sp>
        <p:nvSpPr>
          <p:cNvPr id="13926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3665"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流水线传输</a:t>
            </a:r>
            <a:endParaRPr lang="zh-CN" altLang="en-US" smtClean="0">
              <a:ea typeface="黑体" panose="02010609060101010101" pitchFamily="49" charset="-122"/>
            </a:endParaRPr>
          </a:p>
        </p:txBody>
      </p:sp>
      <p:sp>
        <p:nvSpPr>
          <p:cNvPr id="1393666"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为了</a:t>
            </a:r>
            <a:r>
              <a:rPr lang="zh-CN" altLang="zh-CN" dirty="0" smtClean="0">
                <a:solidFill>
                  <a:srgbClr val="0000FF"/>
                </a:solidFill>
                <a:ea typeface="黑体" panose="02010609060101010101" pitchFamily="49" charset="-122"/>
              </a:rPr>
              <a:t>提高传输效率</a:t>
            </a:r>
            <a:r>
              <a:rPr lang="zh-CN" altLang="zh-CN" dirty="0" smtClean="0">
                <a:ea typeface="黑体" panose="02010609060101010101" pitchFamily="49" charset="-122"/>
              </a:rPr>
              <a:t>，发送方可以不使用低效率的停止等待协议，而是采用流水线传输</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FF0000"/>
                </a:solidFill>
                <a:ea typeface="黑体" panose="02010609060101010101" pitchFamily="49" charset="-122"/>
              </a:rPr>
              <a:t>流水线传输</a:t>
            </a:r>
            <a:r>
              <a:rPr lang="zh-CN" altLang="zh-CN" dirty="0" smtClean="0">
                <a:ea typeface="黑体" panose="02010609060101010101" pitchFamily="49" charset="-122"/>
              </a:rPr>
              <a:t>就是</a:t>
            </a:r>
            <a:r>
              <a:rPr lang="zh-CN" altLang="zh-CN" dirty="0" smtClean="0">
                <a:solidFill>
                  <a:srgbClr val="0000FF"/>
                </a:solidFill>
                <a:ea typeface="黑体" panose="02010609060101010101" pitchFamily="49" charset="-122"/>
              </a:rPr>
              <a:t>发送方可连续发送多个分组，不必每发完一个分组就停顿下来等待对方的确认</a:t>
            </a:r>
            <a:r>
              <a:rPr lang="zh-CN" altLang="zh-CN" dirty="0" smtClean="0">
                <a:ea typeface="黑体" panose="02010609060101010101" pitchFamily="49" charset="-122"/>
              </a:rPr>
              <a:t>。这样可使信道上一直有数据不间断地传送。</a:t>
            </a:r>
            <a:endParaRPr lang="en-US" altLang="zh-CN" dirty="0" smtClean="0">
              <a:ea typeface="黑体" panose="02010609060101010101" pitchFamily="49" charset="-122"/>
            </a:endParaRPr>
          </a:p>
          <a:p>
            <a:r>
              <a:rPr lang="zh-CN" altLang="en-US" dirty="0" smtClean="0">
                <a:ea typeface="黑体" panose="02010609060101010101" pitchFamily="49" charset="-122"/>
              </a:rPr>
              <a:t>由于信道上一直有数据不间断地传送，这种传输方式可获得很高的信道利用率。 </a:t>
            </a:r>
          </a:p>
        </p:txBody>
      </p:sp>
      <p:sp>
        <p:nvSpPr>
          <p:cNvPr id="1393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195C9B-249B-4C01-94A4-7E06B7931957}" type="slidenum">
              <a:rPr lang="zh-CN" altLang="en-US" smtClean="0"/>
              <a:pPr eaLnBrk="1" hangingPunct="1"/>
              <a:t>15</a:t>
            </a:fld>
            <a:endParaRPr lang="en-US" altLang="zh-CN" smtClean="0"/>
          </a:p>
        </p:txBody>
      </p:sp>
      <p:sp>
        <p:nvSpPr>
          <p:cNvPr id="1393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4689" name="标题 1"/>
          <p:cNvSpPr>
            <a:spLocks noGrp="1" noChangeArrowheads="1"/>
          </p:cNvSpPr>
          <p:nvPr>
            <p:ph type="title"/>
          </p:nvPr>
        </p:nvSpPr>
        <p:spPr/>
        <p:txBody>
          <a:bodyPr/>
          <a:lstStyle/>
          <a:p>
            <a:pPr algn="ctr"/>
            <a:r>
              <a:rPr lang="zh-CN" altLang="zh-CN" smtClean="0">
                <a:ea typeface="黑体" panose="02010609060101010101" pitchFamily="49" charset="-122"/>
              </a:rPr>
              <a:t>流水线传输</a:t>
            </a:r>
            <a:endParaRPr lang="zh-CN" altLang="en-US" smtClean="0">
              <a:ea typeface="黑体" panose="02010609060101010101" pitchFamily="49" charset="-122"/>
            </a:endParaRPr>
          </a:p>
        </p:txBody>
      </p:sp>
      <p:sp>
        <p:nvSpPr>
          <p:cNvPr id="1394690" name="Freeform 4"/>
          <p:cNvSpPr>
            <a:spLocks noChangeArrowheads="1"/>
          </p:cNvSpPr>
          <p:nvPr/>
        </p:nvSpPr>
        <p:spPr bwMode="auto">
          <a:xfrm>
            <a:off x="1319213" y="3084513"/>
            <a:ext cx="7015162" cy="1627187"/>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FF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691" name="Line 5"/>
          <p:cNvSpPr>
            <a:spLocks noChangeShapeType="1"/>
          </p:cNvSpPr>
          <p:nvPr/>
        </p:nvSpPr>
        <p:spPr bwMode="auto">
          <a:xfrm>
            <a:off x="1044575" y="4711700"/>
            <a:ext cx="819785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692" name="Line 6"/>
          <p:cNvSpPr>
            <a:spLocks noChangeShapeType="1"/>
          </p:cNvSpPr>
          <p:nvPr/>
        </p:nvSpPr>
        <p:spPr bwMode="auto">
          <a:xfrm>
            <a:off x="1044575" y="3084513"/>
            <a:ext cx="8197850" cy="0"/>
          </a:xfrm>
          <a:prstGeom prst="line">
            <a:avLst/>
          </a:prstGeom>
          <a:noFill/>
          <a:ln w="19050">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693" name="Text Box 7"/>
          <p:cNvSpPr txBox="1">
            <a:spLocks noChangeArrowheads="1"/>
          </p:cNvSpPr>
          <p:nvPr/>
        </p:nvSpPr>
        <p:spPr bwMode="auto">
          <a:xfrm>
            <a:off x="682625" y="2806700"/>
            <a:ext cx="4445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B</a:t>
            </a:r>
          </a:p>
        </p:txBody>
      </p:sp>
      <p:sp>
        <p:nvSpPr>
          <p:cNvPr id="1394694" name="Line 8"/>
          <p:cNvSpPr>
            <a:spLocks noChangeShapeType="1"/>
          </p:cNvSpPr>
          <p:nvPr/>
        </p:nvSpPr>
        <p:spPr bwMode="auto">
          <a:xfrm flipV="1">
            <a:off x="1308100" y="3084513"/>
            <a:ext cx="1693863"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695" name="Line 9"/>
          <p:cNvSpPr>
            <a:spLocks noChangeShapeType="1"/>
          </p:cNvSpPr>
          <p:nvPr/>
        </p:nvSpPr>
        <p:spPr bwMode="auto">
          <a:xfrm flipV="1">
            <a:off x="1695450" y="308451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696" name="Text Box 10"/>
          <p:cNvSpPr txBox="1">
            <a:spLocks noChangeArrowheads="1"/>
          </p:cNvSpPr>
          <p:nvPr/>
        </p:nvSpPr>
        <p:spPr bwMode="auto">
          <a:xfrm rot="-2681777">
            <a:off x="1228725" y="3709988"/>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分组</a:t>
            </a:r>
          </a:p>
        </p:txBody>
      </p:sp>
      <p:sp>
        <p:nvSpPr>
          <p:cNvPr id="1394697" name="Text Box 11"/>
          <p:cNvSpPr txBox="1">
            <a:spLocks noChangeArrowheads="1"/>
          </p:cNvSpPr>
          <p:nvPr/>
        </p:nvSpPr>
        <p:spPr bwMode="auto">
          <a:xfrm>
            <a:off x="9221788" y="2781300"/>
            <a:ext cx="3048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99"/>
                </a:solidFill>
                <a:ea typeface="黑体" panose="02010609060101010101" pitchFamily="49" charset="-122"/>
              </a:rPr>
              <a:t>t</a:t>
            </a:r>
          </a:p>
        </p:txBody>
      </p:sp>
      <p:sp>
        <p:nvSpPr>
          <p:cNvPr id="1394698" name="Text Box 12"/>
          <p:cNvSpPr txBox="1">
            <a:spLocks noChangeArrowheads="1"/>
          </p:cNvSpPr>
          <p:nvPr/>
        </p:nvSpPr>
        <p:spPr bwMode="auto">
          <a:xfrm>
            <a:off x="9221788" y="4367213"/>
            <a:ext cx="3048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i="1">
                <a:solidFill>
                  <a:srgbClr val="000099"/>
                </a:solidFill>
                <a:ea typeface="黑体" panose="02010609060101010101" pitchFamily="49" charset="-122"/>
              </a:rPr>
              <a:t>t</a:t>
            </a:r>
          </a:p>
        </p:txBody>
      </p:sp>
      <p:sp>
        <p:nvSpPr>
          <p:cNvPr id="1394699" name="Text Box 13"/>
          <p:cNvSpPr txBox="1">
            <a:spLocks noChangeArrowheads="1"/>
          </p:cNvSpPr>
          <p:nvPr/>
        </p:nvSpPr>
        <p:spPr bwMode="auto">
          <a:xfrm>
            <a:off x="668338" y="4421188"/>
            <a:ext cx="4445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A</a:t>
            </a:r>
          </a:p>
        </p:txBody>
      </p:sp>
      <p:sp>
        <p:nvSpPr>
          <p:cNvPr id="1394700" name="Line 14"/>
          <p:cNvSpPr>
            <a:spLocks noChangeShapeType="1"/>
          </p:cNvSpPr>
          <p:nvPr/>
        </p:nvSpPr>
        <p:spPr bwMode="auto">
          <a:xfrm rot="-5705339">
            <a:off x="2035175" y="3348038"/>
            <a:ext cx="350838" cy="461962"/>
          </a:xfrm>
          <a:prstGeom prst="line">
            <a:avLst/>
          </a:prstGeom>
          <a:noFill/>
          <a:ln w="5715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1" name="Line 15"/>
          <p:cNvSpPr>
            <a:spLocks noChangeShapeType="1"/>
          </p:cNvSpPr>
          <p:nvPr/>
        </p:nvSpPr>
        <p:spPr bwMode="auto">
          <a:xfrm flipV="1">
            <a:off x="2078038" y="3089275"/>
            <a:ext cx="1693862" cy="16271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2" name="Line 16"/>
          <p:cNvSpPr>
            <a:spLocks noChangeShapeType="1"/>
          </p:cNvSpPr>
          <p:nvPr/>
        </p:nvSpPr>
        <p:spPr bwMode="auto">
          <a:xfrm flipV="1">
            <a:off x="5545138" y="3089275"/>
            <a:ext cx="1693862" cy="1627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3" name="Line 17"/>
          <p:cNvSpPr>
            <a:spLocks noChangeShapeType="1"/>
          </p:cNvSpPr>
          <p:nvPr/>
        </p:nvSpPr>
        <p:spPr bwMode="auto">
          <a:xfrm flipH="1" flipV="1">
            <a:off x="3389313" y="3089275"/>
            <a:ext cx="1693862"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4" name="Text Box 18"/>
          <p:cNvSpPr txBox="1">
            <a:spLocks noChangeArrowheads="1"/>
          </p:cNvSpPr>
          <p:nvPr/>
        </p:nvSpPr>
        <p:spPr bwMode="auto">
          <a:xfrm rot="2268438">
            <a:off x="3314700" y="3494088"/>
            <a:ext cx="963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ACK</a:t>
            </a:r>
          </a:p>
        </p:txBody>
      </p:sp>
      <p:sp>
        <p:nvSpPr>
          <p:cNvPr id="1394705" name="Line 19"/>
          <p:cNvSpPr>
            <a:spLocks noChangeShapeType="1"/>
          </p:cNvSpPr>
          <p:nvPr/>
        </p:nvSpPr>
        <p:spPr bwMode="auto">
          <a:xfrm>
            <a:off x="4089400" y="3981450"/>
            <a:ext cx="292100" cy="279400"/>
          </a:xfrm>
          <a:prstGeom prst="line">
            <a:avLst/>
          </a:prstGeom>
          <a:noFill/>
          <a:ln w="38100">
            <a:solidFill>
              <a:srgbClr val="FF0000"/>
            </a:solidFill>
            <a:round/>
            <a:headEnd type="none" w="sm" len="me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6" name="Line 20"/>
          <p:cNvSpPr>
            <a:spLocks noChangeShapeType="1"/>
          </p:cNvSpPr>
          <p:nvPr/>
        </p:nvSpPr>
        <p:spPr bwMode="auto">
          <a:xfrm flipV="1">
            <a:off x="2462213" y="308451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7" name="Line 21"/>
          <p:cNvSpPr>
            <a:spLocks noChangeShapeType="1"/>
          </p:cNvSpPr>
          <p:nvPr/>
        </p:nvSpPr>
        <p:spPr bwMode="auto">
          <a:xfrm flipV="1">
            <a:off x="2847975" y="3084513"/>
            <a:ext cx="1693863"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8" name="Line 22"/>
          <p:cNvSpPr>
            <a:spLocks noChangeShapeType="1"/>
          </p:cNvSpPr>
          <p:nvPr/>
        </p:nvSpPr>
        <p:spPr bwMode="auto">
          <a:xfrm flipV="1">
            <a:off x="3251200" y="310356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09" name="Line 23"/>
          <p:cNvSpPr>
            <a:spLocks noChangeShapeType="1"/>
          </p:cNvSpPr>
          <p:nvPr/>
        </p:nvSpPr>
        <p:spPr bwMode="auto">
          <a:xfrm flipV="1">
            <a:off x="3621088" y="3084513"/>
            <a:ext cx="1695450"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0" name="Line 24"/>
          <p:cNvSpPr>
            <a:spLocks noChangeShapeType="1"/>
          </p:cNvSpPr>
          <p:nvPr/>
        </p:nvSpPr>
        <p:spPr bwMode="auto">
          <a:xfrm flipV="1">
            <a:off x="4395788" y="3084513"/>
            <a:ext cx="1695450"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1" name="Line 25"/>
          <p:cNvSpPr>
            <a:spLocks noChangeShapeType="1"/>
          </p:cNvSpPr>
          <p:nvPr/>
        </p:nvSpPr>
        <p:spPr bwMode="auto">
          <a:xfrm flipV="1">
            <a:off x="4784725" y="308451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2" name="Line 26"/>
          <p:cNvSpPr>
            <a:spLocks noChangeShapeType="1"/>
          </p:cNvSpPr>
          <p:nvPr/>
        </p:nvSpPr>
        <p:spPr bwMode="auto">
          <a:xfrm flipV="1">
            <a:off x="5170488" y="3084513"/>
            <a:ext cx="1693862"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3" name="Line 27"/>
          <p:cNvSpPr>
            <a:spLocks noChangeShapeType="1"/>
          </p:cNvSpPr>
          <p:nvPr/>
        </p:nvSpPr>
        <p:spPr bwMode="auto">
          <a:xfrm flipV="1">
            <a:off x="5559425" y="308451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4" name="Line 28"/>
          <p:cNvSpPr>
            <a:spLocks noChangeShapeType="1"/>
          </p:cNvSpPr>
          <p:nvPr/>
        </p:nvSpPr>
        <p:spPr bwMode="auto">
          <a:xfrm flipV="1">
            <a:off x="4003675" y="3084513"/>
            <a:ext cx="1695450"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5" name="Line 29"/>
          <p:cNvSpPr>
            <a:spLocks noChangeShapeType="1"/>
          </p:cNvSpPr>
          <p:nvPr/>
        </p:nvSpPr>
        <p:spPr bwMode="auto">
          <a:xfrm flipV="1">
            <a:off x="5929313" y="3084513"/>
            <a:ext cx="1693862"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6" name="Line 30"/>
          <p:cNvSpPr>
            <a:spLocks noChangeShapeType="1"/>
          </p:cNvSpPr>
          <p:nvPr/>
        </p:nvSpPr>
        <p:spPr bwMode="auto">
          <a:xfrm flipV="1">
            <a:off x="6302375" y="3084513"/>
            <a:ext cx="1692275"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7" name="Line 31"/>
          <p:cNvSpPr>
            <a:spLocks noChangeShapeType="1"/>
          </p:cNvSpPr>
          <p:nvPr/>
        </p:nvSpPr>
        <p:spPr bwMode="auto">
          <a:xfrm flipV="1">
            <a:off x="6673850" y="3084513"/>
            <a:ext cx="1693863" cy="16271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8" name="Line 32"/>
          <p:cNvSpPr>
            <a:spLocks noChangeShapeType="1"/>
          </p:cNvSpPr>
          <p:nvPr/>
        </p:nvSpPr>
        <p:spPr bwMode="auto">
          <a:xfrm flipH="1" flipV="1">
            <a:off x="3773488" y="3089275"/>
            <a:ext cx="1693862"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19" name="Line 33"/>
          <p:cNvSpPr>
            <a:spLocks noChangeShapeType="1"/>
          </p:cNvSpPr>
          <p:nvPr/>
        </p:nvSpPr>
        <p:spPr bwMode="auto">
          <a:xfrm flipH="1" flipV="1">
            <a:off x="4156075" y="3089275"/>
            <a:ext cx="1693863"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0" name="Line 34"/>
          <p:cNvSpPr>
            <a:spLocks noChangeShapeType="1"/>
          </p:cNvSpPr>
          <p:nvPr/>
        </p:nvSpPr>
        <p:spPr bwMode="auto">
          <a:xfrm flipH="1" flipV="1">
            <a:off x="4541838" y="3089275"/>
            <a:ext cx="1692275"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1" name="Line 35"/>
          <p:cNvSpPr>
            <a:spLocks noChangeShapeType="1"/>
          </p:cNvSpPr>
          <p:nvPr/>
        </p:nvSpPr>
        <p:spPr bwMode="auto">
          <a:xfrm flipH="1" flipV="1">
            <a:off x="4926013" y="3089275"/>
            <a:ext cx="1692275"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2" name="Line 36"/>
          <p:cNvSpPr>
            <a:spLocks noChangeShapeType="1"/>
          </p:cNvSpPr>
          <p:nvPr/>
        </p:nvSpPr>
        <p:spPr bwMode="auto">
          <a:xfrm flipH="1" flipV="1">
            <a:off x="5308600" y="3089275"/>
            <a:ext cx="1693863"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3" name="Line 37"/>
          <p:cNvSpPr>
            <a:spLocks noChangeShapeType="1"/>
          </p:cNvSpPr>
          <p:nvPr/>
        </p:nvSpPr>
        <p:spPr bwMode="auto">
          <a:xfrm flipH="1" flipV="1">
            <a:off x="5692775" y="3089275"/>
            <a:ext cx="1692275"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4" name="Line 38"/>
          <p:cNvSpPr>
            <a:spLocks noChangeShapeType="1"/>
          </p:cNvSpPr>
          <p:nvPr/>
        </p:nvSpPr>
        <p:spPr bwMode="auto">
          <a:xfrm flipH="1" flipV="1">
            <a:off x="6076950" y="3089275"/>
            <a:ext cx="1692275"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5" name="Line 39"/>
          <p:cNvSpPr>
            <a:spLocks noChangeShapeType="1"/>
          </p:cNvSpPr>
          <p:nvPr/>
        </p:nvSpPr>
        <p:spPr bwMode="auto">
          <a:xfrm flipH="1" flipV="1">
            <a:off x="6459538" y="3089275"/>
            <a:ext cx="1695450"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6" name="Line 40"/>
          <p:cNvSpPr>
            <a:spLocks noChangeShapeType="1"/>
          </p:cNvSpPr>
          <p:nvPr/>
        </p:nvSpPr>
        <p:spPr bwMode="auto">
          <a:xfrm flipH="1" flipV="1">
            <a:off x="6843713" y="3089275"/>
            <a:ext cx="1692275"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7" name="Line 41"/>
          <p:cNvSpPr>
            <a:spLocks noChangeShapeType="1"/>
          </p:cNvSpPr>
          <p:nvPr/>
        </p:nvSpPr>
        <p:spPr bwMode="auto">
          <a:xfrm flipH="1" flipV="1">
            <a:off x="7227888" y="3089275"/>
            <a:ext cx="1693862" cy="1627188"/>
          </a:xfrm>
          <a:prstGeom prst="line">
            <a:avLst/>
          </a:prstGeom>
          <a:noFill/>
          <a:ln w="38100">
            <a:solidFill>
              <a:srgbClr val="0000CC"/>
            </a:solidFill>
            <a:round/>
            <a:headEnd type="triangle" w="med" len="lg"/>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1394728" name="矩形 41"/>
          <p:cNvSpPr>
            <a:spLocks noChangeArrowheads="1"/>
          </p:cNvSpPr>
          <p:nvPr/>
        </p:nvSpPr>
        <p:spPr bwMode="auto">
          <a:xfrm>
            <a:off x="1423988" y="1487488"/>
            <a:ext cx="7561262" cy="1077912"/>
          </a:xfrm>
          <a:prstGeom prst="rect">
            <a:avLst/>
          </a:prstGeom>
          <a:solidFill>
            <a:srgbClr val="FFFF66"/>
          </a:solidFill>
          <a:ln w="9525">
            <a:solidFill>
              <a:schemeClr val="tx1"/>
            </a:solidFill>
            <a:round/>
            <a:headEnd/>
            <a:tailEnd/>
          </a:ln>
        </p:spPr>
        <p:txBody>
          <a:bodyPr>
            <a:spAutoFit/>
          </a:bodyPr>
          <a:lstStyle/>
          <a:p>
            <a:pPr eaLnBrk="0" hangingPunct="0"/>
            <a:r>
              <a:rPr lang="zh-CN" altLang="en-US" sz="3200" b="1">
                <a:ea typeface="黑体" panose="02010609060101010101" pitchFamily="49" charset="-122"/>
              </a:rPr>
              <a:t>由于信道上一直有数据不间断地传送，这种传输方式可获得很高的信道利用率。 </a:t>
            </a:r>
          </a:p>
        </p:txBody>
      </p:sp>
      <p:sp>
        <p:nvSpPr>
          <p:cNvPr id="1394729" name="矩形 42"/>
          <p:cNvSpPr>
            <a:spLocks noChangeArrowheads="1"/>
          </p:cNvSpPr>
          <p:nvPr/>
        </p:nvSpPr>
        <p:spPr bwMode="auto">
          <a:xfrm>
            <a:off x="1963738" y="4943475"/>
            <a:ext cx="65643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流水线传输可提高信道利用率</a:t>
            </a:r>
            <a:endParaRPr lang="zh-CN" altLang="en-US" sz="2400" b="1">
              <a:ea typeface="黑体" panose="02010609060101010101" pitchFamily="49" charset="-122"/>
            </a:endParaRPr>
          </a:p>
        </p:txBody>
      </p:sp>
      <p:sp>
        <p:nvSpPr>
          <p:cNvPr id="1394730" name="灯片编号占位符 4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504520-5E0A-49C3-A2F9-F8EF7D1E77E4}" type="slidenum">
              <a:rPr lang="zh-CN" altLang="en-US" smtClean="0"/>
              <a:pPr eaLnBrk="1" hangingPunct="1"/>
              <a:t>16</a:t>
            </a:fld>
            <a:endParaRPr lang="en-US" altLang="zh-CN" smtClean="0"/>
          </a:p>
        </p:txBody>
      </p:sp>
      <p:sp>
        <p:nvSpPr>
          <p:cNvPr id="1394731" name="页脚占位符 4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571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5.4.2  </a:t>
            </a:r>
            <a:r>
              <a:rPr lang="zh-CN" altLang="zh-CN" smtClean="0">
                <a:ea typeface="黑体" panose="02010609060101010101" pitchFamily="49" charset="-122"/>
              </a:rPr>
              <a:t>连续</a:t>
            </a:r>
            <a:r>
              <a:rPr lang="en-US" altLang="zh-CN" smtClean="0">
                <a:ea typeface="黑体" panose="02010609060101010101" pitchFamily="49" charset="-122"/>
              </a:rPr>
              <a:t> ARQ </a:t>
            </a:r>
            <a:r>
              <a:rPr lang="zh-CN" altLang="zh-CN" smtClean="0">
                <a:ea typeface="黑体" panose="02010609060101010101" pitchFamily="49" charset="-122"/>
              </a:rPr>
              <a:t>协议</a:t>
            </a:r>
            <a:endParaRPr lang="zh-CN" altLang="en-US" smtClean="0">
              <a:ea typeface="黑体" panose="02010609060101010101" pitchFamily="49" charset="-122"/>
            </a:endParaRPr>
          </a:p>
        </p:txBody>
      </p:sp>
      <p:sp>
        <p:nvSpPr>
          <p:cNvPr id="1395714"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滑动窗口协议比较复杂，是</a:t>
            </a:r>
            <a:r>
              <a:rPr lang="en-US" altLang="zh-CN" smtClean="0">
                <a:ea typeface="黑体" panose="02010609060101010101" pitchFamily="49" charset="-122"/>
              </a:rPr>
              <a:t> TCP </a:t>
            </a:r>
            <a:r>
              <a:rPr lang="zh-CN" altLang="zh-CN" smtClean="0">
                <a:ea typeface="黑体" panose="02010609060101010101" pitchFamily="49" charset="-122"/>
              </a:rPr>
              <a:t>协议的精髓所在。</a:t>
            </a:r>
            <a:endParaRPr lang="en-US" altLang="zh-CN" smtClean="0">
              <a:ea typeface="黑体" panose="02010609060101010101" pitchFamily="49" charset="-122"/>
            </a:endParaRPr>
          </a:p>
          <a:p>
            <a:r>
              <a:rPr lang="zh-CN" altLang="zh-CN" smtClean="0">
                <a:ea typeface="黑体" panose="02010609060101010101" pitchFamily="49" charset="-122"/>
              </a:rPr>
              <a:t>发送方维持的</a:t>
            </a:r>
            <a:r>
              <a:rPr lang="zh-CN" altLang="zh-CN" smtClean="0">
                <a:solidFill>
                  <a:srgbClr val="FF0000"/>
                </a:solidFill>
                <a:ea typeface="黑体" panose="02010609060101010101" pitchFamily="49" charset="-122"/>
              </a:rPr>
              <a:t>发送窗口，</a:t>
            </a:r>
            <a:r>
              <a:rPr lang="zh-CN" altLang="zh-CN" smtClean="0">
                <a:ea typeface="黑体" panose="02010609060101010101" pitchFamily="49" charset="-122"/>
              </a:rPr>
              <a:t>它的意义是：</a:t>
            </a:r>
            <a:r>
              <a:rPr lang="zh-CN" altLang="zh-CN" smtClean="0">
                <a:solidFill>
                  <a:srgbClr val="0000FF"/>
                </a:solidFill>
                <a:ea typeface="黑体" panose="02010609060101010101" pitchFamily="49" charset="-122"/>
              </a:rPr>
              <a:t>位于发送窗口内的分组都可连续发送出去，而不需要等待对方的确认。</a:t>
            </a:r>
            <a:r>
              <a:rPr lang="zh-CN" altLang="zh-CN" smtClean="0">
                <a:ea typeface="黑体" panose="02010609060101010101" pitchFamily="49" charset="-122"/>
              </a:rPr>
              <a:t>这样，信道利用率就提高了。</a:t>
            </a:r>
            <a:endParaRPr lang="en-US" altLang="zh-CN" smtClean="0">
              <a:ea typeface="黑体" panose="02010609060101010101" pitchFamily="49" charset="-122"/>
            </a:endParaRPr>
          </a:p>
          <a:p>
            <a:r>
              <a:rPr lang="zh-CN" altLang="zh-CN" smtClean="0">
                <a:ea typeface="黑体" panose="02010609060101010101" pitchFamily="49" charset="-122"/>
              </a:rPr>
              <a:t>连续</a:t>
            </a:r>
            <a:r>
              <a:rPr lang="en-US" altLang="zh-CN" smtClean="0">
                <a:ea typeface="黑体" panose="02010609060101010101" pitchFamily="49" charset="-122"/>
              </a:rPr>
              <a:t> ARQ </a:t>
            </a:r>
            <a:r>
              <a:rPr lang="zh-CN" altLang="zh-CN" smtClean="0">
                <a:ea typeface="黑体" panose="02010609060101010101" pitchFamily="49" charset="-122"/>
              </a:rPr>
              <a:t>协议规定，</a:t>
            </a:r>
            <a:r>
              <a:rPr lang="zh-CN" altLang="zh-CN" smtClean="0">
                <a:solidFill>
                  <a:srgbClr val="FF0000"/>
                </a:solidFill>
                <a:ea typeface="黑体" panose="02010609060101010101" pitchFamily="49" charset="-122"/>
              </a:rPr>
              <a:t>发送方每收到一个确认，就把发送窗口向前滑动一个分组的位置。</a:t>
            </a:r>
            <a:endParaRPr lang="zh-CN" altLang="en-US" smtClean="0">
              <a:solidFill>
                <a:srgbClr val="FF0000"/>
              </a:solidFill>
              <a:ea typeface="黑体" panose="02010609060101010101" pitchFamily="49" charset="-122"/>
            </a:endParaRPr>
          </a:p>
        </p:txBody>
      </p:sp>
      <p:sp>
        <p:nvSpPr>
          <p:cNvPr id="13957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FC1045-A549-4953-B0CB-BAB0BC3C5A25}" type="slidenum">
              <a:rPr lang="zh-CN" altLang="en-US" smtClean="0"/>
              <a:pPr eaLnBrk="1" hangingPunct="1"/>
              <a:t>17</a:t>
            </a:fld>
            <a:endParaRPr lang="en-US" altLang="zh-CN" smtClean="0"/>
          </a:p>
        </p:txBody>
      </p:sp>
      <p:sp>
        <p:nvSpPr>
          <p:cNvPr id="13957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6737" name="标题 1"/>
          <p:cNvSpPr>
            <a:spLocks noGrp="1" noChangeArrowheads="1"/>
          </p:cNvSpPr>
          <p:nvPr>
            <p:ph type="title"/>
          </p:nvPr>
        </p:nvSpPr>
        <p:spPr/>
        <p:txBody>
          <a:bodyPr/>
          <a:lstStyle/>
          <a:p>
            <a:r>
              <a:rPr lang="en-US" altLang="zh-CN" smtClean="0">
                <a:ea typeface="黑体" panose="02010609060101010101" pitchFamily="49" charset="-122"/>
              </a:rPr>
              <a:t>5.4.2  </a:t>
            </a:r>
            <a:r>
              <a:rPr lang="zh-CN" altLang="zh-CN" smtClean="0">
                <a:ea typeface="黑体" panose="02010609060101010101" pitchFamily="49" charset="-122"/>
              </a:rPr>
              <a:t>连续</a:t>
            </a:r>
            <a:r>
              <a:rPr lang="en-US" altLang="zh-CN" smtClean="0">
                <a:ea typeface="黑体" panose="02010609060101010101" pitchFamily="49" charset="-122"/>
              </a:rPr>
              <a:t>ARQ</a:t>
            </a:r>
            <a:r>
              <a:rPr lang="zh-CN" altLang="zh-CN" smtClean="0">
                <a:ea typeface="黑体" panose="02010609060101010101" pitchFamily="49" charset="-122"/>
              </a:rPr>
              <a:t>协议</a:t>
            </a:r>
            <a:endParaRPr lang="zh-CN" altLang="en-US" smtClean="0">
              <a:ea typeface="黑体" panose="02010609060101010101" pitchFamily="49" charset="-122"/>
            </a:endParaRPr>
          </a:p>
        </p:txBody>
      </p:sp>
      <p:grpSp>
        <p:nvGrpSpPr>
          <p:cNvPr id="1396738" name="组合 119"/>
          <p:cNvGrpSpPr>
            <a:grpSpLocks/>
          </p:cNvGrpSpPr>
          <p:nvPr/>
        </p:nvGrpSpPr>
        <p:grpSpPr bwMode="auto">
          <a:xfrm>
            <a:off x="930275" y="1341438"/>
            <a:ext cx="8199438" cy="2016125"/>
            <a:chOff x="930027" y="1412776"/>
            <a:chExt cx="8199437" cy="2016224"/>
          </a:xfrm>
        </p:grpSpPr>
        <p:sp>
          <p:nvSpPr>
            <p:cNvPr id="1396739"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96740" name="Rectangle 17"/>
            <p:cNvSpPr>
              <a:spLocks noChangeArrowheads="1"/>
            </p:cNvSpPr>
            <p:nvPr/>
          </p:nvSpPr>
          <p:spPr bwMode="auto">
            <a:xfrm>
              <a:off x="930027" y="2136676"/>
              <a:ext cx="8189912" cy="504825"/>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sz="2800" b="1">
                <a:solidFill>
                  <a:srgbClr val="000099"/>
                </a:solidFill>
                <a:ea typeface="黑体" panose="02010609060101010101" pitchFamily="49" charset="-122"/>
              </a:endParaRPr>
            </a:p>
          </p:txBody>
        </p:sp>
        <p:sp>
          <p:nvSpPr>
            <p:cNvPr id="1396741" name="Rectangle 5"/>
            <p:cNvSpPr>
              <a:spLocks noChangeArrowheads="1"/>
            </p:cNvSpPr>
            <p:nvPr/>
          </p:nvSpPr>
          <p:spPr bwMode="auto">
            <a:xfrm>
              <a:off x="930027"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a:t>
              </a:r>
            </a:p>
          </p:txBody>
        </p:sp>
        <p:sp>
          <p:nvSpPr>
            <p:cNvPr id="1396742" name="Rectangle 6"/>
            <p:cNvSpPr>
              <a:spLocks noChangeArrowheads="1"/>
            </p:cNvSpPr>
            <p:nvPr/>
          </p:nvSpPr>
          <p:spPr bwMode="auto">
            <a:xfrm>
              <a:off x="1612652"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2</a:t>
              </a:r>
            </a:p>
          </p:txBody>
        </p:sp>
        <p:sp>
          <p:nvSpPr>
            <p:cNvPr id="1396743" name="Rectangle 7"/>
            <p:cNvSpPr>
              <a:spLocks noChangeArrowheads="1"/>
            </p:cNvSpPr>
            <p:nvPr/>
          </p:nvSpPr>
          <p:spPr bwMode="auto">
            <a:xfrm>
              <a:off x="2296864"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3</a:t>
              </a:r>
            </a:p>
          </p:txBody>
        </p:sp>
        <p:sp>
          <p:nvSpPr>
            <p:cNvPr id="1396744" name="Rectangle 8"/>
            <p:cNvSpPr>
              <a:spLocks noChangeArrowheads="1"/>
            </p:cNvSpPr>
            <p:nvPr/>
          </p:nvSpPr>
          <p:spPr bwMode="auto">
            <a:xfrm>
              <a:off x="2979489" y="2136676"/>
              <a:ext cx="6810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4</a:t>
              </a:r>
            </a:p>
          </p:txBody>
        </p:sp>
        <p:sp>
          <p:nvSpPr>
            <p:cNvPr id="1396745" name="Rectangle 9"/>
            <p:cNvSpPr>
              <a:spLocks noChangeArrowheads="1"/>
            </p:cNvSpPr>
            <p:nvPr/>
          </p:nvSpPr>
          <p:spPr bwMode="auto">
            <a:xfrm>
              <a:off x="3663702" y="2136676"/>
              <a:ext cx="6810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5</a:t>
              </a:r>
            </a:p>
          </p:txBody>
        </p:sp>
        <p:sp>
          <p:nvSpPr>
            <p:cNvPr id="1396746" name="Rectangle 10"/>
            <p:cNvSpPr>
              <a:spLocks noChangeArrowheads="1"/>
            </p:cNvSpPr>
            <p:nvPr/>
          </p:nvSpPr>
          <p:spPr bwMode="auto">
            <a:xfrm>
              <a:off x="4347914"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6</a:t>
              </a:r>
            </a:p>
          </p:txBody>
        </p:sp>
        <p:sp>
          <p:nvSpPr>
            <p:cNvPr id="1396747" name="Rectangle 11"/>
            <p:cNvSpPr>
              <a:spLocks noChangeArrowheads="1"/>
            </p:cNvSpPr>
            <p:nvPr/>
          </p:nvSpPr>
          <p:spPr bwMode="auto">
            <a:xfrm>
              <a:off x="5030539" y="2136676"/>
              <a:ext cx="6810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7</a:t>
              </a:r>
            </a:p>
          </p:txBody>
        </p:sp>
        <p:sp>
          <p:nvSpPr>
            <p:cNvPr id="1396748" name="Rectangle 12"/>
            <p:cNvSpPr>
              <a:spLocks noChangeArrowheads="1"/>
            </p:cNvSpPr>
            <p:nvPr/>
          </p:nvSpPr>
          <p:spPr bwMode="auto">
            <a:xfrm>
              <a:off x="5714752" y="2136676"/>
              <a:ext cx="6810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8</a:t>
              </a:r>
            </a:p>
          </p:txBody>
        </p:sp>
        <p:sp>
          <p:nvSpPr>
            <p:cNvPr id="1396749" name="Rectangle 13"/>
            <p:cNvSpPr>
              <a:spLocks noChangeArrowheads="1"/>
            </p:cNvSpPr>
            <p:nvPr/>
          </p:nvSpPr>
          <p:spPr bwMode="auto">
            <a:xfrm>
              <a:off x="6395789"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9</a:t>
              </a:r>
            </a:p>
          </p:txBody>
        </p:sp>
        <p:sp>
          <p:nvSpPr>
            <p:cNvPr id="1396750" name="Rectangle 14"/>
            <p:cNvSpPr>
              <a:spLocks noChangeArrowheads="1"/>
            </p:cNvSpPr>
            <p:nvPr/>
          </p:nvSpPr>
          <p:spPr bwMode="auto">
            <a:xfrm>
              <a:off x="7081589" y="2136676"/>
              <a:ext cx="6810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10</a:t>
              </a:r>
            </a:p>
          </p:txBody>
        </p:sp>
        <p:sp>
          <p:nvSpPr>
            <p:cNvPr id="1396751" name="Rectangle 15"/>
            <p:cNvSpPr>
              <a:spLocks noChangeArrowheads="1"/>
            </p:cNvSpPr>
            <p:nvPr/>
          </p:nvSpPr>
          <p:spPr bwMode="auto">
            <a:xfrm>
              <a:off x="7765802" y="2136676"/>
              <a:ext cx="6810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11</a:t>
              </a:r>
            </a:p>
          </p:txBody>
        </p:sp>
        <p:sp>
          <p:nvSpPr>
            <p:cNvPr id="1396752" name="Rectangle 16"/>
            <p:cNvSpPr>
              <a:spLocks noChangeArrowheads="1"/>
            </p:cNvSpPr>
            <p:nvPr/>
          </p:nvSpPr>
          <p:spPr bwMode="auto">
            <a:xfrm>
              <a:off x="8446839" y="2136676"/>
              <a:ext cx="6826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12</a:t>
              </a:r>
            </a:p>
          </p:txBody>
        </p:sp>
        <p:sp>
          <p:nvSpPr>
            <p:cNvPr id="1396753" name="Line 18"/>
            <p:cNvSpPr>
              <a:spLocks noChangeShapeType="1"/>
            </p:cNvSpPr>
            <p:nvPr/>
          </p:nvSpPr>
          <p:spPr bwMode="auto">
            <a:xfrm>
              <a:off x="1612652"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4" name="Line 19"/>
            <p:cNvSpPr>
              <a:spLocks noChangeShapeType="1"/>
            </p:cNvSpPr>
            <p:nvPr/>
          </p:nvSpPr>
          <p:spPr bwMode="auto">
            <a:xfrm>
              <a:off x="2295277"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5" name="Line 20"/>
            <p:cNvSpPr>
              <a:spLocks noChangeShapeType="1"/>
            </p:cNvSpPr>
            <p:nvPr/>
          </p:nvSpPr>
          <p:spPr bwMode="auto">
            <a:xfrm>
              <a:off x="2976314"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6" name="Line 21"/>
            <p:cNvSpPr>
              <a:spLocks noChangeShapeType="1"/>
            </p:cNvSpPr>
            <p:nvPr/>
          </p:nvSpPr>
          <p:spPr bwMode="auto">
            <a:xfrm>
              <a:off x="3658939"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7" name="Line 22"/>
            <p:cNvSpPr>
              <a:spLocks noChangeShapeType="1"/>
            </p:cNvSpPr>
            <p:nvPr/>
          </p:nvSpPr>
          <p:spPr bwMode="auto">
            <a:xfrm>
              <a:off x="4339977"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8" name="Line 23"/>
            <p:cNvSpPr>
              <a:spLocks noChangeShapeType="1"/>
            </p:cNvSpPr>
            <p:nvPr/>
          </p:nvSpPr>
          <p:spPr bwMode="auto">
            <a:xfrm>
              <a:off x="5022602"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59" name="Line 24"/>
            <p:cNvSpPr>
              <a:spLocks noChangeShapeType="1"/>
            </p:cNvSpPr>
            <p:nvPr/>
          </p:nvSpPr>
          <p:spPr bwMode="auto">
            <a:xfrm>
              <a:off x="5705227"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60" name="Line 25"/>
            <p:cNvSpPr>
              <a:spLocks noChangeShapeType="1"/>
            </p:cNvSpPr>
            <p:nvPr/>
          </p:nvSpPr>
          <p:spPr bwMode="auto">
            <a:xfrm>
              <a:off x="6386264"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61" name="Line 26"/>
            <p:cNvSpPr>
              <a:spLocks noChangeShapeType="1"/>
            </p:cNvSpPr>
            <p:nvPr/>
          </p:nvSpPr>
          <p:spPr bwMode="auto">
            <a:xfrm>
              <a:off x="7068889"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62" name="Line 27"/>
            <p:cNvSpPr>
              <a:spLocks noChangeShapeType="1"/>
            </p:cNvSpPr>
            <p:nvPr/>
          </p:nvSpPr>
          <p:spPr bwMode="auto">
            <a:xfrm>
              <a:off x="7749927"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63" name="Line 28"/>
            <p:cNvSpPr>
              <a:spLocks noChangeShapeType="1"/>
            </p:cNvSpPr>
            <p:nvPr/>
          </p:nvSpPr>
          <p:spPr bwMode="auto">
            <a:xfrm>
              <a:off x="8432552" y="2136676"/>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64" name="Text Box 30"/>
            <p:cNvSpPr txBox="1">
              <a:spLocks noChangeArrowheads="1"/>
            </p:cNvSpPr>
            <p:nvPr/>
          </p:nvSpPr>
          <p:spPr bwMode="auto">
            <a:xfrm>
              <a:off x="2288927" y="2967335"/>
              <a:ext cx="58528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(a) </a:t>
              </a:r>
              <a:r>
                <a:rPr lang="zh-CN" altLang="en-US" sz="2400" b="1">
                  <a:ea typeface="黑体" panose="02010609060101010101" pitchFamily="49" charset="-122"/>
                </a:rPr>
                <a:t>发送方维持发送窗口（发送窗口是 </a:t>
              </a:r>
              <a:r>
                <a:rPr lang="en-US" altLang="zh-CN" sz="2400" b="1">
                  <a:ea typeface="黑体" panose="02010609060101010101" pitchFamily="49" charset="-122"/>
                </a:rPr>
                <a:t>5</a:t>
              </a:r>
              <a:r>
                <a:rPr lang="zh-CN" altLang="en-US" sz="2400" b="1">
                  <a:ea typeface="黑体" panose="02010609060101010101" pitchFamily="49" charset="-122"/>
                </a:rPr>
                <a:t>）</a:t>
              </a:r>
            </a:p>
          </p:txBody>
        </p:sp>
        <p:sp>
          <p:nvSpPr>
            <p:cNvPr id="1396765" name="Text Box 31"/>
            <p:cNvSpPr txBox="1">
              <a:spLocks noChangeArrowheads="1"/>
            </p:cNvSpPr>
            <p:nvPr/>
          </p:nvSpPr>
          <p:spPr bwMode="auto">
            <a:xfrm>
              <a:off x="1858714" y="1412776"/>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发送窗口</a:t>
              </a:r>
            </a:p>
          </p:txBody>
        </p:sp>
      </p:grpSp>
      <p:grpSp>
        <p:nvGrpSpPr>
          <p:cNvPr id="1396766" name="组合 120"/>
          <p:cNvGrpSpPr>
            <a:grpSpLocks/>
          </p:cNvGrpSpPr>
          <p:nvPr/>
        </p:nvGrpSpPr>
        <p:grpSpPr bwMode="auto">
          <a:xfrm>
            <a:off x="920750" y="3597275"/>
            <a:ext cx="8199438" cy="1919288"/>
            <a:chOff x="920502" y="3597178"/>
            <a:chExt cx="8199437" cy="1920054"/>
          </a:xfrm>
        </p:grpSpPr>
        <p:sp>
          <p:nvSpPr>
            <p:cNvPr id="1396767" name="Rectangle 60"/>
            <p:cNvSpPr>
              <a:spLocks noChangeArrowheads="1"/>
            </p:cNvSpPr>
            <p:nvPr/>
          </p:nvSpPr>
          <p:spPr bwMode="auto">
            <a:xfrm>
              <a:off x="1612652" y="4086128"/>
              <a:ext cx="3413125" cy="912813"/>
            </a:xfrm>
            <a:prstGeom prst="rect">
              <a:avLst/>
            </a:prstGeom>
            <a:solidFill>
              <a:srgbClr val="66FF66"/>
            </a:solidFill>
            <a:ln w="28575">
              <a:solidFill>
                <a:srgbClr val="000066"/>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1396768" name="Rectangle 48"/>
            <p:cNvSpPr>
              <a:spLocks noChangeArrowheads="1"/>
            </p:cNvSpPr>
            <p:nvPr/>
          </p:nvSpPr>
          <p:spPr bwMode="auto">
            <a:xfrm>
              <a:off x="920502" y="4289329"/>
              <a:ext cx="8188325" cy="506413"/>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sz="2800" b="1">
                <a:solidFill>
                  <a:srgbClr val="000099"/>
                </a:solidFill>
                <a:ea typeface="黑体" panose="02010609060101010101" pitchFamily="49" charset="-122"/>
              </a:endParaRPr>
            </a:p>
          </p:txBody>
        </p:sp>
        <p:sp>
          <p:nvSpPr>
            <p:cNvPr id="1396769" name="Text Box 32"/>
            <p:cNvSpPr txBox="1">
              <a:spLocks noChangeArrowheads="1"/>
            </p:cNvSpPr>
            <p:nvPr/>
          </p:nvSpPr>
          <p:spPr bwMode="auto">
            <a:xfrm>
              <a:off x="2306389" y="5055567"/>
              <a:ext cx="53030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(b) </a:t>
              </a:r>
              <a:r>
                <a:rPr lang="zh-CN" altLang="en-US" sz="2400" b="1">
                  <a:ea typeface="黑体" panose="02010609060101010101" pitchFamily="49" charset="-122"/>
                </a:rPr>
                <a:t>收到一个确认后发送窗口向前滑动</a:t>
              </a:r>
            </a:p>
          </p:txBody>
        </p:sp>
        <p:sp>
          <p:nvSpPr>
            <p:cNvPr id="1396770" name="Line 33"/>
            <p:cNvSpPr>
              <a:spLocks noChangeShapeType="1"/>
            </p:cNvSpPr>
            <p:nvPr/>
          </p:nvSpPr>
          <p:spPr bwMode="auto">
            <a:xfrm>
              <a:off x="5097214" y="4173441"/>
              <a:ext cx="668337" cy="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71" name="Text Box 34"/>
            <p:cNvSpPr txBox="1">
              <a:spLocks noChangeArrowheads="1"/>
            </p:cNvSpPr>
            <p:nvPr/>
          </p:nvSpPr>
          <p:spPr bwMode="auto">
            <a:xfrm>
              <a:off x="5744914" y="3813078"/>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向前</a:t>
              </a:r>
            </a:p>
          </p:txBody>
        </p:sp>
        <p:sp>
          <p:nvSpPr>
            <p:cNvPr id="1396772" name="Rectangle 36"/>
            <p:cNvSpPr>
              <a:spLocks noChangeArrowheads="1"/>
            </p:cNvSpPr>
            <p:nvPr/>
          </p:nvSpPr>
          <p:spPr bwMode="auto">
            <a:xfrm>
              <a:off x="920502"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a:t>
              </a:r>
            </a:p>
          </p:txBody>
        </p:sp>
        <p:sp>
          <p:nvSpPr>
            <p:cNvPr id="1396773" name="Rectangle 37"/>
            <p:cNvSpPr>
              <a:spLocks noChangeArrowheads="1"/>
            </p:cNvSpPr>
            <p:nvPr/>
          </p:nvSpPr>
          <p:spPr bwMode="auto">
            <a:xfrm>
              <a:off x="1603127" y="4289329"/>
              <a:ext cx="681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2</a:t>
              </a:r>
            </a:p>
          </p:txBody>
        </p:sp>
        <p:sp>
          <p:nvSpPr>
            <p:cNvPr id="1396774" name="Rectangle 38"/>
            <p:cNvSpPr>
              <a:spLocks noChangeArrowheads="1"/>
            </p:cNvSpPr>
            <p:nvPr/>
          </p:nvSpPr>
          <p:spPr bwMode="auto">
            <a:xfrm>
              <a:off x="2287339" y="4289329"/>
              <a:ext cx="681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3</a:t>
              </a:r>
            </a:p>
          </p:txBody>
        </p:sp>
        <p:sp>
          <p:nvSpPr>
            <p:cNvPr id="1396775" name="Rectangle 39"/>
            <p:cNvSpPr>
              <a:spLocks noChangeArrowheads="1"/>
            </p:cNvSpPr>
            <p:nvPr/>
          </p:nvSpPr>
          <p:spPr bwMode="auto">
            <a:xfrm>
              <a:off x="2968377"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4</a:t>
              </a:r>
            </a:p>
          </p:txBody>
        </p:sp>
        <p:sp>
          <p:nvSpPr>
            <p:cNvPr id="1396776" name="Rectangle 40"/>
            <p:cNvSpPr>
              <a:spLocks noChangeArrowheads="1"/>
            </p:cNvSpPr>
            <p:nvPr/>
          </p:nvSpPr>
          <p:spPr bwMode="auto">
            <a:xfrm>
              <a:off x="3654177" y="4289329"/>
              <a:ext cx="681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5</a:t>
              </a:r>
            </a:p>
          </p:txBody>
        </p:sp>
        <p:sp>
          <p:nvSpPr>
            <p:cNvPr id="1396777" name="Rectangle 41"/>
            <p:cNvSpPr>
              <a:spLocks noChangeArrowheads="1"/>
            </p:cNvSpPr>
            <p:nvPr/>
          </p:nvSpPr>
          <p:spPr bwMode="auto">
            <a:xfrm>
              <a:off x="4338389" y="4289329"/>
              <a:ext cx="681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6</a:t>
              </a:r>
            </a:p>
          </p:txBody>
        </p:sp>
        <p:sp>
          <p:nvSpPr>
            <p:cNvPr id="1396778" name="Rectangle 42"/>
            <p:cNvSpPr>
              <a:spLocks noChangeArrowheads="1"/>
            </p:cNvSpPr>
            <p:nvPr/>
          </p:nvSpPr>
          <p:spPr bwMode="auto">
            <a:xfrm>
              <a:off x="5019427"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7</a:t>
              </a:r>
            </a:p>
          </p:txBody>
        </p:sp>
        <p:sp>
          <p:nvSpPr>
            <p:cNvPr id="1396779" name="Rectangle 43"/>
            <p:cNvSpPr>
              <a:spLocks noChangeArrowheads="1"/>
            </p:cNvSpPr>
            <p:nvPr/>
          </p:nvSpPr>
          <p:spPr bwMode="auto">
            <a:xfrm>
              <a:off x="5705227" y="4289329"/>
              <a:ext cx="6810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8</a:t>
              </a:r>
            </a:p>
          </p:txBody>
        </p:sp>
        <p:sp>
          <p:nvSpPr>
            <p:cNvPr id="1396780" name="Rectangle 44"/>
            <p:cNvSpPr>
              <a:spLocks noChangeArrowheads="1"/>
            </p:cNvSpPr>
            <p:nvPr/>
          </p:nvSpPr>
          <p:spPr bwMode="auto">
            <a:xfrm>
              <a:off x="6386264"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9</a:t>
              </a:r>
            </a:p>
          </p:txBody>
        </p:sp>
        <p:sp>
          <p:nvSpPr>
            <p:cNvPr id="1396781" name="Rectangle 45"/>
            <p:cNvSpPr>
              <a:spLocks noChangeArrowheads="1"/>
            </p:cNvSpPr>
            <p:nvPr/>
          </p:nvSpPr>
          <p:spPr bwMode="auto">
            <a:xfrm>
              <a:off x="7070477"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10</a:t>
              </a:r>
            </a:p>
          </p:txBody>
        </p:sp>
        <p:sp>
          <p:nvSpPr>
            <p:cNvPr id="1396782" name="Rectangle 46"/>
            <p:cNvSpPr>
              <a:spLocks noChangeArrowheads="1"/>
            </p:cNvSpPr>
            <p:nvPr/>
          </p:nvSpPr>
          <p:spPr bwMode="auto">
            <a:xfrm>
              <a:off x="7754689"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11</a:t>
              </a:r>
            </a:p>
          </p:txBody>
        </p:sp>
        <p:sp>
          <p:nvSpPr>
            <p:cNvPr id="1396783" name="Rectangle 47"/>
            <p:cNvSpPr>
              <a:spLocks noChangeArrowheads="1"/>
            </p:cNvSpPr>
            <p:nvPr/>
          </p:nvSpPr>
          <p:spPr bwMode="auto">
            <a:xfrm>
              <a:off x="8437314" y="4289329"/>
              <a:ext cx="68262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800" b="1">
                  <a:solidFill>
                    <a:srgbClr val="000099"/>
                  </a:solidFill>
                  <a:ea typeface="黑体" panose="02010609060101010101" pitchFamily="49" charset="-122"/>
                </a:rPr>
                <a:t>12</a:t>
              </a:r>
            </a:p>
          </p:txBody>
        </p:sp>
        <p:sp>
          <p:nvSpPr>
            <p:cNvPr id="1396784" name="Line 49"/>
            <p:cNvSpPr>
              <a:spLocks noChangeShapeType="1"/>
            </p:cNvSpPr>
            <p:nvPr/>
          </p:nvSpPr>
          <p:spPr bwMode="auto">
            <a:xfrm>
              <a:off x="1603127"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85" name="Line 50"/>
            <p:cNvSpPr>
              <a:spLocks noChangeShapeType="1"/>
            </p:cNvSpPr>
            <p:nvPr/>
          </p:nvSpPr>
          <p:spPr bwMode="auto">
            <a:xfrm>
              <a:off x="2284164"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86" name="Line 51"/>
            <p:cNvSpPr>
              <a:spLocks noChangeShapeType="1"/>
            </p:cNvSpPr>
            <p:nvPr/>
          </p:nvSpPr>
          <p:spPr bwMode="auto">
            <a:xfrm>
              <a:off x="2966789"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87" name="Line 52"/>
            <p:cNvSpPr>
              <a:spLocks noChangeShapeType="1"/>
            </p:cNvSpPr>
            <p:nvPr/>
          </p:nvSpPr>
          <p:spPr bwMode="auto">
            <a:xfrm>
              <a:off x="3647827"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88" name="Line 53"/>
            <p:cNvSpPr>
              <a:spLocks noChangeShapeType="1"/>
            </p:cNvSpPr>
            <p:nvPr/>
          </p:nvSpPr>
          <p:spPr bwMode="auto">
            <a:xfrm>
              <a:off x="4330452"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89" name="Line 54"/>
            <p:cNvSpPr>
              <a:spLocks noChangeShapeType="1"/>
            </p:cNvSpPr>
            <p:nvPr/>
          </p:nvSpPr>
          <p:spPr bwMode="auto">
            <a:xfrm>
              <a:off x="5013077"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0" name="Line 55"/>
            <p:cNvSpPr>
              <a:spLocks noChangeShapeType="1"/>
            </p:cNvSpPr>
            <p:nvPr/>
          </p:nvSpPr>
          <p:spPr bwMode="auto">
            <a:xfrm>
              <a:off x="5694114"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1" name="Line 56"/>
            <p:cNvSpPr>
              <a:spLocks noChangeShapeType="1"/>
            </p:cNvSpPr>
            <p:nvPr/>
          </p:nvSpPr>
          <p:spPr bwMode="auto">
            <a:xfrm>
              <a:off x="6376739"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2" name="Line 57"/>
            <p:cNvSpPr>
              <a:spLocks noChangeShapeType="1"/>
            </p:cNvSpPr>
            <p:nvPr/>
          </p:nvSpPr>
          <p:spPr bwMode="auto">
            <a:xfrm>
              <a:off x="7057777"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3" name="Line 58"/>
            <p:cNvSpPr>
              <a:spLocks noChangeShapeType="1"/>
            </p:cNvSpPr>
            <p:nvPr/>
          </p:nvSpPr>
          <p:spPr bwMode="auto">
            <a:xfrm>
              <a:off x="7740402"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4" name="Line 59"/>
            <p:cNvSpPr>
              <a:spLocks noChangeShapeType="1"/>
            </p:cNvSpPr>
            <p:nvPr/>
          </p:nvSpPr>
          <p:spPr bwMode="auto">
            <a:xfrm>
              <a:off x="8423027" y="4289329"/>
              <a:ext cx="0" cy="506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800" b="1">
                <a:solidFill>
                  <a:srgbClr val="000099"/>
                </a:solidFill>
                <a:ea typeface="黑体" panose="02010609060101010101" pitchFamily="49" charset="-122"/>
              </a:endParaRPr>
            </a:p>
          </p:txBody>
        </p:sp>
        <p:sp>
          <p:nvSpPr>
            <p:cNvPr id="1396795" name="Text Box 61"/>
            <p:cNvSpPr txBox="1">
              <a:spLocks noChangeArrowheads="1"/>
            </p:cNvSpPr>
            <p:nvPr/>
          </p:nvSpPr>
          <p:spPr bwMode="auto">
            <a:xfrm>
              <a:off x="2685802" y="3597178"/>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发送窗口</a:t>
              </a:r>
            </a:p>
          </p:txBody>
        </p:sp>
      </p:grpSp>
      <p:sp>
        <p:nvSpPr>
          <p:cNvPr id="1396796" name="矩形 118"/>
          <p:cNvSpPr>
            <a:spLocks noChangeArrowheads="1"/>
          </p:cNvSpPr>
          <p:nvPr/>
        </p:nvSpPr>
        <p:spPr bwMode="auto">
          <a:xfrm>
            <a:off x="2484438" y="5805488"/>
            <a:ext cx="52562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连续</a:t>
            </a:r>
            <a:r>
              <a:rPr lang="en-US" altLang="zh-CN" sz="2400" b="1">
                <a:ea typeface="黑体" panose="02010609060101010101" pitchFamily="49" charset="-122"/>
              </a:rPr>
              <a:t> ARQ </a:t>
            </a:r>
            <a:r>
              <a:rPr lang="zh-CN" altLang="zh-CN" sz="2400" b="1">
                <a:ea typeface="黑体" panose="02010609060101010101" pitchFamily="49" charset="-122"/>
              </a:rPr>
              <a:t>协议的工作原理</a:t>
            </a:r>
            <a:endParaRPr lang="zh-CN" altLang="en-US" sz="2400" b="1">
              <a:ea typeface="黑体" panose="02010609060101010101" pitchFamily="49" charset="-122"/>
            </a:endParaRPr>
          </a:p>
        </p:txBody>
      </p:sp>
      <p:sp>
        <p:nvSpPr>
          <p:cNvPr id="139679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943151-9573-48A6-8C01-1A1D2D9D590C}" type="slidenum">
              <a:rPr lang="zh-CN" altLang="en-US" smtClean="0"/>
              <a:pPr eaLnBrk="1" hangingPunct="1"/>
              <a:t>18</a:t>
            </a:fld>
            <a:endParaRPr lang="en-US" altLang="zh-CN" smtClean="0"/>
          </a:p>
        </p:txBody>
      </p:sp>
      <p:sp>
        <p:nvSpPr>
          <p:cNvPr id="139679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77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累积确认 </a:t>
            </a:r>
          </a:p>
        </p:txBody>
      </p:sp>
      <p:sp>
        <p:nvSpPr>
          <p:cNvPr id="139776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接收方一般采用</a:t>
            </a:r>
            <a:r>
              <a:rPr lang="zh-CN" altLang="en-US" smtClean="0">
                <a:solidFill>
                  <a:srgbClr val="FF0000"/>
                </a:solidFill>
                <a:ea typeface="黑体" panose="02010609060101010101" pitchFamily="49" charset="-122"/>
              </a:rPr>
              <a:t>累积确认</a:t>
            </a:r>
            <a:r>
              <a:rPr lang="zh-CN" altLang="en-US" smtClean="0">
                <a:ea typeface="黑体" panose="02010609060101010101" pitchFamily="49" charset="-122"/>
              </a:rPr>
              <a:t>的方式。即不必对收到的分组逐个发送确认，而是</a:t>
            </a:r>
            <a:r>
              <a:rPr lang="zh-CN" altLang="en-US" smtClean="0">
                <a:solidFill>
                  <a:srgbClr val="FF0000"/>
                </a:solidFill>
                <a:ea typeface="黑体" panose="02010609060101010101" pitchFamily="49" charset="-122"/>
              </a:rPr>
              <a:t>对按序到达的最后一个分组发送确认</a:t>
            </a:r>
            <a:r>
              <a:rPr lang="zh-CN" altLang="en-US" smtClean="0">
                <a:ea typeface="黑体" panose="02010609060101010101" pitchFamily="49" charset="-122"/>
              </a:rPr>
              <a:t>，这样就表示：</a:t>
            </a:r>
            <a:r>
              <a:rPr lang="zh-CN" altLang="en-US" smtClean="0">
                <a:solidFill>
                  <a:srgbClr val="0000FF"/>
                </a:solidFill>
                <a:ea typeface="黑体" panose="02010609060101010101" pitchFamily="49" charset="-122"/>
              </a:rPr>
              <a:t>到这个分组为止的所有分组都已正确收到了。</a:t>
            </a:r>
          </a:p>
          <a:p>
            <a:r>
              <a:rPr lang="zh-CN" altLang="en-US" smtClean="0">
                <a:solidFill>
                  <a:srgbClr val="FF0000"/>
                </a:solidFill>
                <a:ea typeface="黑体" panose="02010609060101010101" pitchFamily="49" charset="-122"/>
              </a:rPr>
              <a:t>优点：</a:t>
            </a:r>
            <a:r>
              <a:rPr lang="zh-CN" altLang="en-US" smtClean="0">
                <a:ea typeface="黑体" panose="02010609060101010101" pitchFamily="49" charset="-122"/>
              </a:rPr>
              <a:t>容易实现，即使确认丢失也不必重传。</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缺点：</a:t>
            </a:r>
            <a:r>
              <a:rPr lang="zh-CN" altLang="en-US" smtClean="0">
                <a:ea typeface="黑体" panose="02010609060101010101" pitchFamily="49" charset="-122"/>
              </a:rPr>
              <a:t>不能向发送方反映出接收方已经正确收到的所有分组的信息。</a:t>
            </a:r>
          </a:p>
        </p:txBody>
      </p:sp>
      <p:sp>
        <p:nvSpPr>
          <p:cNvPr id="1397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1B72B5-4720-4603-A010-1509FEBEC4DA}" type="slidenum">
              <a:rPr lang="zh-CN" altLang="en-US" smtClean="0"/>
              <a:pPr eaLnBrk="1" hangingPunct="1"/>
              <a:t>19</a:t>
            </a:fld>
            <a:endParaRPr lang="en-US" altLang="zh-CN" smtClean="0"/>
          </a:p>
        </p:txBody>
      </p:sp>
      <p:sp>
        <p:nvSpPr>
          <p:cNvPr id="1397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98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Go-back-N</a:t>
            </a:r>
            <a:r>
              <a:rPr lang="zh-CN" altLang="en-US" smtClean="0">
                <a:ea typeface="黑体" panose="02010609060101010101" pitchFamily="49" charset="-122"/>
              </a:rPr>
              <a:t>（回退 </a:t>
            </a:r>
            <a:r>
              <a:rPr lang="en-US" altLang="zh-CN" smtClean="0">
                <a:ea typeface="黑体" panose="02010609060101010101" pitchFamily="49" charset="-122"/>
              </a:rPr>
              <a:t>N</a:t>
            </a:r>
            <a:r>
              <a:rPr lang="zh-CN" altLang="en-US" smtClean="0">
                <a:ea typeface="黑体" panose="02010609060101010101" pitchFamily="49" charset="-122"/>
              </a:rPr>
              <a:t>） </a:t>
            </a:r>
          </a:p>
        </p:txBody>
      </p:sp>
      <p:sp>
        <p:nvSpPr>
          <p:cNvPr id="139981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如果发送方发送了前 </a:t>
            </a:r>
            <a:r>
              <a:rPr lang="en-US" altLang="zh-CN" smtClean="0">
                <a:ea typeface="黑体" panose="02010609060101010101" pitchFamily="49" charset="-122"/>
              </a:rPr>
              <a:t>5 </a:t>
            </a:r>
            <a:r>
              <a:rPr lang="zh-CN" altLang="en-US" smtClean="0">
                <a:ea typeface="黑体" panose="02010609060101010101" pitchFamily="49" charset="-122"/>
              </a:rPr>
              <a:t>个分组，而中间的第 </a:t>
            </a:r>
            <a:r>
              <a:rPr lang="en-US" altLang="zh-CN" smtClean="0">
                <a:ea typeface="黑体" panose="02010609060101010101" pitchFamily="49" charset="-122"/>
              </a:rPr>
              <a:t>3 </a:t>
            </a:r>
            <a:r>
              <a:rPr lang="zh-CN" altLang="en-US" smtClean="0">
                <a:ea typeface="黑体" panose="02010609060101010101" pitchFamily="49" charset="-122"/>
              </a:rPr>
              <a:t>个分组丢失了。这时接收方只能对前两个分组发出确认。发送方无法知道后面三个分组的下落，而</a:t>
            </a:r>
            <a:r>
              <a:rPr lang="zh-CN" altLang="en-US" smtClean="0">
                <a:solidFill>
                  <a:srgbClr val="0000FF"/>
                </a:solidFill>
                <a:ea typeface="黑体" panose="02010609060101010101" pitchFamily="49" charset="-122"/>
              </a:rPr>
              <a:t>只好把后面的三个分组都再重传一次。</a:t>
            </a:r>
          </a:p>
          <a:p>
            <a:r>
              <a:rPr lang="zh-CN" altLang="en-US" smtClean="0">
                <a:ea typeface="黑体" panose="02010609060101010101" pitchFamily="49" charset="-122"/>
              </a:rPr>
              <a:t>这就叫做 </a:t>
            </a:r>
            <a:r>
              <a:rPr lang="en-US" altLang="zh-CN" smtClean="0">
                <a:ea typeface="黑体" panose="02010609060101010101" pitchFamily="49" charset="-122"/>
              </a:rPr>
              <a:t>Go-back-N</a:t>
            </a: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回退 </a:t>
            </a:r>
            <a:r>
              <a:rPr lang="en-US" altLang="zh-CN" smtClean="0">
                <a:solidFill>
                  <a:srgbClr val="FF0000"/>
                </a:solidFill>
                <a:ea typeface="黑体" panose="02010609060101010101" pitchFamily="49" charset="-122"/>
              </a:rPr>
              <a:t>N</a:t>
            </a:r>
            <a:r>
              <a:rPr lang="zh-CN" altLang="en-US" smtClean="0">
                <a:ea typeface="黑体" panose="02010609060101010101" pitchFamily="49" charset="-122"/>
              </a:rPr>
              <a:t>），</a:t>
            </a:r>
            <a:r>
              <a:rPr lang="zh-CN" altLang="en-US" smtClean="0">
                <a:solidFill>
                  <a:srgbClr val="FF0000"/>
                </a:solidFill>
                <a:ea typeface="黑体" panose="02010609060101010101" pitchFamily="49" charset="-122"/>
              </a:rPr>
              <a:t>表示需要再退回来重传已发送过的 </a:t>
            </a:r>
            <a:r>
              <a:rPr lang="en-US" altLang="zh-CN" smtClean="0">
                <a:solidFill>
                  <a:srgbClr val="FF0000"/>
                </a:solidFill>
                <a:ea typeface="黑体" panose="02010609060101010101" pitchFamily="49" charset="-122"/>
              </a:rPr>
              <a:t>N </a:t>
            </a:r>
            <a:r>
              <a:rPr lang="zh-CN" altLang="en-US" smtClean="0">
                <a:solidFill>
                  <a:srgbClr val="FF0000"/>
                </a:solidFill>
                <a:ea typeface="黑体" panose="02010609060101010101" pitchFamily="49" charset="-122"/>
              </a:rPr>
              <a:t>个分组。</a:t>
            </a:r>
          </a:p>
          <a:p>
            <a:r>
              <a:rPr lang="zh-CN" altLang="en-US" smtClean="0">
                <a:ea typeface="黑体" panose="02010609060101010101" pitchFamily="49" charset="-122"/>
              </a:rPr>
              <a:t>可见当通信线路质量不好时，连续 </a:t>
            </a:r>
            <a:r>
              <a:rPr lang="en-US" altLang="zh-CN" smtClean="0">
                <a:ea typeface="黑体" panose="02010609060101010101" pitchFamily="49" charset="-122"/>
              </a:rPr>
              <a:t>ARQ </a:t>
            </a:r>
            <a:r>
              <a:rPr lang="zh-CN" altLang="en-US" smtClean="0">
                <a:ea typeface="黑体" panose="02010609060101010101" pitchFamily="49" charset="-122"/>
              </a:rPr>
              <a:t>协议会带来负面的影响。 </a:t>
            </a:r>
          </a:p>
        </p:txBody>
      </p:sp>
      <p:sp>
        <p:nvSpPr>
          <p:cNvPr id="13998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406348-5B69-436F-8995-27EFE959F348}" type="slidenum">
              <a:rPr lang="zh-CN" altLang="en-US" smtClean="0"/>
              <a:pPr eaLnBrk="1" hangingPunct="1"/>
              <a:t>20</a:t>
            </a:fld>
            <a:endParaRPr lang="en-US" altLang="zh-CN" smtClean="0"/>
          </a:p>
        </p:txBody>
      </p:sp>
      <p:sp>
        <p:nvSpPr>
          <p:cNvPr id="13998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1857"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TCP </a:t>
            </a:r>
            <a:r>
              <a:rPr lang="zh-CN" altLang="en-US" sz="4000" smtClean="0">
                <a:ea typeface="黑体" panose="02010609060101010101" pitchFamily="49" charset="-122"/>
              </a:rPr>
              <a:t>可靠通信的具体实现 </a:t>
            </a:r>
          </a:p>
        </p:txBody>
      </p:sp>
      <p:sp>
        <p:nvSpPr>
          <p:cNvPr id="140185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en-US" smtClean="0">
                <a:ea typeface="黑体" panose="02010609060101010101" pitchFamily="49" charset="-122"/>
              </a:rPr>
              <a:t>连接的每一端都必须设有两个窗口</a:t>
            </a:r>
            <a:r>
              <a:rPr lang="en-US" altLang="zh-CN" smtClean="0">
                <a:ea typeface="黑体" panose="02010609060101010101" pitchFamily="49" charset="-122"/>
              </a:rPr>
              <a:t>——</a:t>
            </a:r>
            <a:r>
              <a:rPr lang="zh-CN" altLang="en-US" smtClean="0">
                <a:ea typeface="黑体" panose="02010609060101010101" pitchFamily="49" charset="-122"/>
              </a:rPr>
              <a:t>一个</a:t>
            </a:r>
            <a:r>
              <a:rPr lang="zh-CN" altLang="en-US" smtClean="0">
                <a:solidFill>
                  <a:srgbClr val="FF0000"/>
                </a:solidFill>
                <a:ea typeface="黑体" panose="02010609060101010101" pitchFamily="49" charset="-122"/>
              </a:rPr>
              <a:t>发送窗口</a:t>
            </a:r>
            <a:r>
              <a:rPr lang="zh-CN" altLang="en-US" smtClean="0">
                <a:ea typeface="黑体" panose="02010609060101010101" pitchFamily="49" charset="-122"/>
              </a:rPr>
              <a:t>和一个</a:t>
            </a:r>
            <a:r>
              <a:rPr lang="zh-CN" altLang="en-US" smtClean="0">
                <a:solidFill>
                  <a:srgbClr val="FF0000"/>
                </a:solidFill>
                <a:ea typeface="黑体" panose="02010609060101010101" pitchFamily="49" charset="-122"/>
              </a:rPr>
              <a:t>接收窗口。</a:t>
            </a:r>
          </a:p>
          <a:p>
            <a:r>
              <a:rPr lang="en-US" altLang="zh-CN" smtClean="0">
                <a:ea typeface="黑体" panose="02010609060101010101" pitchFamily="49" charset="-122"/>
              </a:rPr>
              <a:t>TCP </a:t>
            </a:r>
            <a:r>
              <a:rPr lang="zh-CN" altLang="en-US" smtClean="0">
                <a:ea typeface="黑体" panose="02010609060101010101" pitchFamily="49" charset="-122"/>
              </a:rPr>
              <a:t>的可靠传输机制用</a:t>
            </a:r>
            <a:r>
              <a:rPr lang="zh-CN" altLang="en-US" smtClean="0">
                <a:solidFill>
                  <a:srgbClr val="FF0000"/>
                </a:solidFill>
                <a:ea typeface="黑体" panose="02010609060101010101" pitchFamily="49" charset="-122"/>
              </a:rPr>
              <a:t>字节的序号</a:t>
            </a:r>
            <a:r>
              <a:rPr lang="zh-CN" altLang="en-US" smtClean="0">
                <a:ea typeface="黑体" panose="02010609060101010101" pitchFamily="49" charset="-122"/>
              </a:rPr>
              <a:t>进行控制。</a:t>
            </a:r>
            <a:r>
              <a:rPr lang="en-US" altLang="zh-CN" smtClean="0">
                <a:ea typeface="黑体" panose="02010609060101010101" pitchFamily="49" charset="-122"/>
              </a:rPr>
              <a:t>TCP </a:t>
            </a:r>
            <a:r>
              <a:rPr lang="zh-CN" altLang="en-US" smtClean="0">
                <a:ea typeface="黑体" panose="02010609060101010101" pitchFamily="49" charset="-122"/>
              </a:rPr>
              <a:t>所有的确认都是基于序号而不是基于报文段。</a:t>
            </a:r>
          </a:p>
          <a:p>
            <a:r>
              <a:rPr lang="en-US" altLang="zh-CN" smtClean="0">
                <a:ea typeface="黑体" panose="02010609060101010101" pitchFamily="49" charset="-122"/>
              </a:rPr>
              <a:t>TCP </a:t>
            </a:r>
            <a:r>
              <a:rPr lang="zh-CN" altLang="en-US" smtClean="0">
                <a:ea typeface="黑体" panose="02010609060101010101" pitchFamily="49" charset="-122"/>
              </a:rPr>
              <a:t>两端的四个窗口经常处于</a:t>
            </a:r>
            <a:r>
              <a:rPr lang="zh-CN" altLang="en-US" smtClean="0">
                <a:solidFill>
                  <a:srgbClr val="FF0000"/>
                </a:solidFill>
                <a:ea typeface="黑体" panose="02010609060101010101" pitchFamily="49" charset="-122"/>
              </a:rPr>
              <a:t>动态变化</a:t>
            </a:r>
            <a:r>
              <a:rPr lang="zh-CN" altLang="en-US" smtClean="0">
                <a:ea typeface="黑体" panose="02010609060101010101" pitchFamily="49" charset="-122"/>
              </a:rPr>
              <a:t>之中。</a:t>
            </a:r>
          </a:p>
          <a:p>
            <a:r>
              <a:rPr lang="en-US" altLang="zh-CN" smtClean="0">
                <a:ea typeface="黑体" panose="02010609060101010101" pitchFamily="49" charset="-122"/>
              </a:rPr>
              <a:t>TCP</a:t>
            </a:r>
            <a:r>
              <a:rPr lang="zh-CN" altLang="en-US" smtClean="0">
                <a:ea typeface="黑体" panose="02010609060101010101" pitchFamily="49" charset="-122"/>
              </a:rPr>
              <a:t>连接的往返时间 </a:t>
            </a:r>
            <a:r>
              <a:rPr lang="en-US" altLang="zh-CN" smtClean="0">
                <a:ea typeface="黑体" panose="02010609060101010101" pitchFamily="49" charset="-122"/>
              </a:rPr>
              <a:t>RTT </a:t>
            </a:r>
            <a:r>
              <a:rPr lang="zh-CN" altLang="en-US" smtClean="0">
                <a:ea typeface="黑体" panose="02010609060101010101" pitchFamily="49" charset="-122"/>
              </a:rPr>
              <a:t>也不是固定不变的。需要使用特定的算法</a:t>
            </a:r>
            <a:r>
              <a:rPr lang="zh-CN" altLang="en-US" smtClean="0">
                <a:solidFill>
                  <a:srgbClr val="FF0000"/>
                </a:solidFill>
                <a:ea typeface="黑体" panose="02010609060101010101" pitchFamily="49" charset="-122"/>
              </a:rPr>
              <a:t>估算较为合理的重传时间。</a:t>
            </a:r>
            <a:r>
              <a:rPr lang="zh-CN" altLang="en-US" smtClean="0">
                <a:ea typeface="黑体" panose="02010609060101010101" pitchFamily="49" charset="-122"/>
              </a:rPr>
              <a:t>  </a:t>
            </a:r>
          </a:p>
        </p:txBody>
      </p:sp>
      <p:sp>
        <p:nvSpPr>
          <p:cNvPr id="14018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EC7D14-6CF2-4D5E-B6BE-21E41B7F898C}" type="slidenum">
              <a:rPr lang="zh-CN" altLang="en-US" smtClean="0"/>
              <a:pPr eaLnBrk="1" hangingPunct="1"/>
              <a:t>21</a:t>
            </a:fld>
            <a:endParaRPr lang="en-US" altLang="zh-CN" smtClean="0"/>
          </a:p>
        </p:txBody>
      </p:sp>
      <p:sp>
        <p:nvSpPr>
          <p:cNvPr id="14018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39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5.5  TCP </a:t>
            </a:r>
            <a:r>
              <a:rPr lang="zh-CN" altLang="zh-CN" smtClean="0">
                <a:ea typeface="黑体" panose="02010609060101010101" pitchFamily="49" charset="-122"/>
              </a:rPr>
              <a:t>报文段的首部格式</a:t>
            </a:r>
          </a:p>
        </p:txBody>
      </p:sp>
      <p:sp>
        <p:nvSpPr>
          <p:cNvPr id="140390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TCP </a:t>
            </a:r>
            <a:r>
              <a:rPr lang="zh-CN" altLang="zh-CN" dirty="0" smtClean="0">
                <a:ea typeface="黑体" panose="02010609060101010101" pitchFamily="49" charset="-122"/>
              </a:rPr>
              <a:t>虽然是面向字节流的，但</a:t>
            </a:r>
            <a:r>
              <a:rPr lang="en-US" altLang="zh-CN" dirty="0" smtClean="0">
                <a:ea typeface="黑体" panose="02010609060101010101" pitchFamily="49" charset="-122"/>
              </a:rPr>
              <a:t> TCP </a:t>
            </a:r>
            <a:r>
              <a:rPr lang="zh-CN" altLang="zh-CN" dirty="0" smtClean="0">
                <a:ea typeface="黑体" panose="02010609060101010101" pitchFamily="49" charset="-122"/>
              </a:rPr>
              <a:t>传送的数据单元却是</a:t>
            </a:r>
            <a:r>
              <a:rPr lang="zh-CN" altLang="zh-CN" dirty="0" smtClean="0">
                <a:solidFill>
                  <a:srgbClr val="0000FF"/>
                </a:solidFill>
                <a:ea typeface="黑体" panose="02010609060101010101" pitchFamily="49" charset="-122"/>
              </a:rPr>
              <a:t>报文段</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一个</a:t>
            </a:r>
            <a:r>
              <a:rPr lang="en-US" altLang="zh-CN" dirty="0" smtClean="0">
                <a:ea typeface="黑体" panose="02010609060101010101" pitchFamily="49" charset="-122"/>
              </a:rPr>
              <a:t> TCP </a:t>
            </a:r>
            <a:r>
              <a:rPr lang="zh-CN" altLang="zh-CN" dirty="0" smtClean="0">
                <a:ea typeface="黑体" panose="02010609060101010101" pitchFamily="49" charset="-122"/>
              </a:rPr>
              <a:t>报文段分为</a:t>
            </a:r>
            <a:r>
              <a:rPr lang="zh-CN" altLang="zh-CN" dirty="0" smtClean="0">
                <a:solidFill>
                  <a:srgbClr val="0000FF"/>
                </a:solidFill>
                <a:ea typeface="黑体" panose="02010609060101010101" pitchFamily="49" charset="-122"/>
              </a:rPr>
              <a:t>首部</a:t>
            </a:r>
            <a:r>
              <a:rPr lang="zh-CN" altLang="zh-CN" dirty="0" smtClean="0">
                <a:ea typeface="黑体" panose="02010609060101010101" pitchFamily="49" charset="-122"/>
              </a:rPr>
              <a:t>和</a:t>
            </a:r>
            <a:r>
              <a:rPr lang="zh-CN" altLang="zh-CN" dirty="0" smtClean="0">
                <a:solidFill>
                  <a:srgbClr val="0000FF"/>
                </a:solidFill>
                <a:ea typeface="黑体" panose="02010609060101010101" pitchFamily="49" charset="-122"/>
              </a:rPr>
              <a:t>数据</a:t>
            </a:r>
            <a:r>
              <a:rPr lang="zh-CN" altLang="zh-CN" dirty="0" smtClean="0">
                <a:ea typeface="黑体" panose="02010609060101010101" pitchFamily="49" charset="-122"/>
              </a:rPr>
              <a:t>两部分，而</a:t>
            </a:r>
            <a:r>
              <a:rPr lang="en-US" altLang="zh-CN" dirty="0" smtClean="0">
                <a:ea typeface="黑体" panose="02010609060101010101" pitchFamily="49" charset="-122"/>
              </a:rPr>
              <a:t> TCP </a:t>
            </a:r>
            <a:r>
              <a:rPr lang="zh-CN" altLang="zh-CN" dirty="0" smtClean="0">
                <a:ea typeface="黑体" panose="02010609060101010101" pitchFamily="49" charset="-122"/>
              </a:rPr>
              <a:t>的全部功能都体现在它首部中各字段的作用。</a:t>
            </a:r>
            <a:endParaRPr lang="en-US" altLang="zh-CN" dirty="0" smtClean="0">
              <a:ea typeface="黑体" panose="02010609060101010101" pitchFamily="49" charset="-122"/>
            </a:endParaRPr>
          </a:p>
          <a:p>
            <a:r>
              <a:rPr lang="en-US" altLang="zh-CN" dirty="0" smtClean="0">
                <a:ea typeface="黑体" panose="02010609060101010101" pitchFamily="49" charset="-122"/>
              </a:rPr>
              <a:t>TCP </a:t>
            </a:r>
            <a:r>
              <a:rPr lang="zh-CN" altLang="zh-CN" dirty="0" smtClean="0">
                <a:ea typeface="黑体" panose="02010609060101010101" pitchFamily="49" charset="-122"/>
              </a:rPr>
              <a:t>报文段首部的前</a:t>
            </a:r>
            <a:r>
              <a:rPr lang="en-US" altLang="zh-CN" dirty="0" smtClean="0">
                <a:ea typeface="黑体" panose="02010609060101010101" pitchFamily="49" charset="-122"/>
              </a:rPr>
              <a:t> 20 </a:t>
            </a:r>
            <a:r>
              <a:rPr lang="zh-CN" altLang="zh-CN" dirty="0" smtClean="0">
                <a:ea typeface="黑体" panose="02010609060101010101" pitchFamily="49" charset="-122"/>
              </a:rPr>
              <a:t>个字节是固定的，后面有</a:t>
            </a:r>
            <a:r>
              <a:rPr lang="en-US" altLang="zh-CN" dirty="0" smtClean="0">
                <a:ea typeface="黑体" panose="02010609060101010101" pitchFamily="49" charset="-122"/>
              </a:rPr>
              <a:t> 4</a:t>
            </a:r>
            <a:r>
              <a:rPr lang="en-US" altLang="zh-CN" i="1" dirty="0" smtClean="0">
                <a:ea typeface="黑体" panose="02010609060101010101" pitchFamily="49" charset="-122"/>
              </a:rPr>
              <a:t>n </a:t>
            </a:r>
            <a:r>
              <a:rPr lang="zh-CN" altLang="zh-CN" dirty="0" smtClean="0">
                <a:ea typeface="黑体" panose="02010609060101010101" pitchFamily="49" charset="-122"/>
              </a:rPr>
              <a:t>字节是根据需要而增加的选项</a:t>
            </a:r>
            <a:r>
              <a:rPr lang="en-US" altLang="zh-CN" dirty="0" smtClean="0">
                <a:ea typeface="黑体" panose="02010609060101010101" pitchFamily="49" charset="-122"/>
              </a:rPr>
              <a:t> (</a:t>
            </a:r>
            <a:r>
              <a:rPr lang="en-US" altLang="zh-CN" i="1" dirty="0" smtClean="0">
                <a:ea typeface="黑体" panose="02010609060101010101" pitchFamily="49" charset="-122"/>
              </a:rPr>
              <a:t>n </a:t>
            </a:r>
            <a:r>
              <a:rPr lang="zh-CN" altLang="zh-CN" dirty="0" smtClean="0">
                <a:ea typeface="黑体" panose="02010609060101010101" pitchFamily="49" charset="-122"/>
              </a:rPr>
              <a:t>是整数</a:t>
            </a:r>
            <a:r>
              <a:rPr lang="en-US" altLang="zh-CN" dirty="0" smtClean="0">
                <a:ea typeface="黑体" panose="02010609060101010101" pitchFamily="49" charset="-122"/>
              </a:rPr>
              <a:t>)</a:t>
            </a:r>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因此</a:t>
            </a:r>
            <a:r>
              <a:rPr lang="en-US" altLang="zh-CN" dirty="0" smtClean="0">
                <a:solidFill>
                  <a:srgbClr val="FF0000"/>
                </a:solidFill>
                <a:ea typeface="黑体" panose="02010609060101010101" pitchFamily="49" charset="-122"/>
              </a:rPr>
              <a:t> TCP </a:t>
            </a:r>
            <a:r>
              <a:rPr lang="zh-CN" altLang="zh-CN" dirty="0" smtClean="0">
                <a:solidFill>
                  <a:srgbClr val="FF0000"/>
                </a:solidFill>
                <a:ea typeface="黑体" panose="02010609060101010101" pitchFamily="49" charset="-122"/>
              </a:rPr>
              <a:t>首部的最小长度是</a:t>
            </a:r>
            <a:r>
              <a:rPr lang="en-US" altLang="zh-CN" dirty="0" smtClean="0">
                <a:solidFill>
                  <a:srgbClr val="FF0000"/>
                </a:solidFill>
                <a:ea typeface="黑体" panose="02010609060101010101" pitchFamily="49" charset="-122"/>
              </a:rPr>
              <a:t> 20 </a:t>
            </a:r>
            <a:r>
              <a:rPr lang="zh-CN" altLang="zh-CN" dirty="0" smtClean="0">
                <a:solidFill>
                  <a:srgbClr val="FF0000"/>
                </a:solidFill>
                <a:ea typeface="黑体" panose="02010609060101010101" pitchFamily="49" charset="-122"/>
              </a:rPr>
              <a:t>字节。</a:t>
            </a:r>
          </a:p>
        </p:txBody>
      </p:sp>
      <p:sp>
        <p:nvSpPr>
          <p:cNvPr id="14039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B4E896-67D6-4630-9219-79EB30616B83}" type="slidenum">
              <a:rPr lang="zh-CN" altLang="en-US" smtClean="0"/>
              <a:pPr eaLnBrk="1" hangingPunct="1"/>
              <a:t>22</a:t>
            </a:fld>
            <a:endParaRPr lang="en-US" altLang="zh-CN" smtClean="0"/>
          </a:p>
        </p:txBody>
      </p:sp>
      <p:sp>
        <p:nvSpPr>
          <p:cNvPr id="14039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5953" name="AutoShape 4"/>
          <p:cNvSpPr>
            <a:spLocks noChangeArrowheads="1"/>
          </p:cNvSpPr>
          <p:nvPr/>
        </p:nvSpPr>
        <p:spPr bwMode="auto">
          <a:xfrm>
            <a:off x="768350" y="5843588"/>
            <a:ext cx="688975" cy="252412"/>
          </a:xfrm>
          <a:prstGeom prst="leftArrow">
            <a:avLst>
              <a:gd name="adj1" fmla="val 50000"/>
              <a:gd name="adj2" fmla="val 62982"/>
            </a:avLst>
          </a:prstGeom>
          <a:solidFill>
            <a:srgbClr val="C00000"/>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54" name="Rectangle 106"/>
          <p:cNvSpPr>
            <a:spLocks noChangeArrowheads="1"/>
          </p:cNvSpPr>
          <p:nvPr/>
        </p:nvSpPr>
        <p:spPr bwMode="auto">
          <a:xfrm>
            <a:off x="1420813" y="5718175"/>
            <a:ext cx="1327150" cy="504825"/>
          </a:xfrm>
          <a:prstGeom prst="rect">
            <a:avLst/>
          </a:prstGeom>
          <a:solidFill>
            <a:srgbClr val="66FF66"/>
          </a:solidFill>
          <a:ln w="1905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55" name="Line 33"/>
          <p:cNvSpPr>
            <a:spLocks noChangeShapeType="1"/>
          </p:cNvSpPr>
          <p:nvPr/>
        </p:nvSpPr>
        <p:spPr bwMode="auto">
          <a:xfrm flipH="1">
            <a:off x="1063625" y="1552575"/>
            <a:ext cx="15875" cy="2757488"/>
          </a:xfrm>
          <a:prstGeom prst="line">
            <a:avLst/>
          </a:prstGeom>
          <a:noFill/>
          <a:ln w="1270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56" name="Rectangle 34"/>
          <p:cNvSpPr>
            <a:spLocks noChangeArrowheads="1"/>
          </p:cNvSpPr>
          <p:nvPr/>
        </p:nvSpPr>
        <p:spPr bwMode="auto">
          <a:xfrm>
            <a:off x="747713" y="2622550"/>
            <a:ext cx="593725"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ea typeface="黑体" panose="02010609060101010101" pitchFamily="49" charset="-122"/>
              </a:rPr>
              <a:t>TCP</a:t>
            </a:r>
          </a:p>
          <a:p>
            <a:pPr>
              <a:lnSpc>
                <a:spcPct val="90000"/>
              </a:lnSpc>
            </a:pPr>
            <a:r>
              <a:rPr lang="zh-CN" altLang="en-US" sz="1600" b="1">
                <a:solidFill>
                  <a:srgbClr val="000099"/>
                </a:solidFill>
                <a:ea typeface="黑体" panose="02010609060101010101" pitchFamily="49" charset="-122"/>
              </a:rPr>
              <a:t>首部</a:t>
            </a:r>
          </a:p>
        </p:txBody>
      </p:sp>
      <p:sp>
        <p:nvSpPr>
          <p:cNvPr id="1405957" name="Line 35"/>
          <p:cNvSpPr>
            <a:spLocks noChangeShapeType="1"/>
          </p:cNvSpPr>
          <p:nvPr/>
        </p:nvSpPr>
        <p:spPr bwMode="auto">
          <a:xfrm>
            <a:off x="9215438" y="1546225"/>
            <a:ext cx="0" cy="2316163"/>
          </a:xfrm>
          <a:prstGeom prst="line">
            <a:avLst/>
          </a:prstGeom>
          <a:noFill/>
          <a:ln w="1270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58" name="Rectangle 36"/>
          <p:cNvSpPr>
            <a:spLocks noChangeArrowheads="1"/>
          </p:cNvSpPr>
          <p:nvPr/>
        </p:nvSpPr>
        <p:spPr bwMode="auto">
          <a:xfrm>
            <a:off x="8750300" y="2365375"/>
            <a:ext cx="1116013"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1600" b="1">
                <a:solidFill>
                  <a:srgbClr val="000099"/>
                </a:solidFill>
                <a:ea typeface="黑体" panose="02010609060101010101" pitchFamily="49" charset="-122"/>
              </a:rPr>
              <a:t>20 </a:t>
            </a:r>
            <a:r>
              <a:rPr lang="zh-CN" altLang="en-US" sz="1600" b="1">
                <a:solidFill>
                  <a:srgbClr val="000099"/>
                </a:solidFill>
                <a:ea typeface="黑体" panose="02010609060101010101" pitchFamily="49" charset="-122"/>
              </a:rPr>
              <a:t>字节的</a:t>
            </a:r>
          </a:p>
          <a:p>
            <a:pPr algn="ctr">
              <a:lnSpc>
                <a:spcPct val="90000"/>
              </a:lnSpc>
            </a:pPr>
            <a:r>
              <a:rPr lang="zh-CN" altLang="en-US" sz="1600" b="1">
                <a:solidFill>
                  <a:srgbClr val="000099"/>
                </a:solidFill>
                <a:ea typeface="黑体" panose="02010609060101010101" pitchFamily="49" charset="-122"/>
              </a:rPr>
              <a:t>固定首部</a:t>
            </a:r>
          </a:p>
        </p:txBody>
      </p:sp>
      <p:sp>
        <p:nvSpPr>
          <p:cNvPr id="1405959" name="Rectangle 75"/>
          <p:cNvSpPr>
            <a:spLocks noChangeArrowheads="1"/>
          </p:cNvSpPr>
          <p:nvPr/>
        </p:nvSpPr>
        <p:spPr bwMode="auto">
          <a:xfrm>
            <a:off x="1376363" y="1550988"/>
            <a:ext cx="7377112" cy="276383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0" name="Freeform 5"/>
          <p:cNvSpPr>
            <a:spLocks noChangeArrowheads="1"/>
          </p:cNvSpPr>
          <p:nvPr/>
        </p:nvSpPr>
        <p:spPr bwMode="auto">
          <a:xfrm>
            <a:off x="1385888" y="4314825"/>
            <a:ext cx="7396162" cy="554038"/>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B2B28E"/>
              </a:gs>
              <a:gs pos="100000">
                <a:srgbClr val="FFFF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405961" name="Line 6"/>
          <p:cNvSpPr>
            <a:spLocks noChangeShapeType="1"/>
          </p:cNvSpPr>
          <p:nvPr/>
        </p:nvSpPr>
        <p:spPr bwMode="auto">
          <a:xfrm>
            <a:off x="1368425" y="2020888"/>
            <a:ext cx="7391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2" name="Line 7"/>
          <p:cNvSpPr>
            <a:spLocks noChangeShapeType="1"/>
          </p:cNvSpPr>
          <p:nvPr/>
        </p:nvSpPr>
        <p:spPr bwMode="auto">
          <a:xfrm>
            <a:off x="1382713" y="2486025"/>
            <a:ext cx="73771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3" name="Line 8"/>
          <p:cNvSpPr>
            <a:spLocks noChangeShapeType="1"/>
          </p:cNvSpPr>
          <p:nvPr/>
        </p:nvSpPr>
        <p:spPr bwMode="auto">
          <a:xfrm>
            <a:off x="1368425" y="2949575"/>
            <a:ext cx="7391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4" name="Line 9"/>
          <p:cNvSpPr>
            <a:spLocks noChangeShapeType="1"/>
          </p:cNvSpPr>
          <p:nvPr/>
        </p:nvSpPr>
        <p:spPr bwMode="auto">
          <a:xfrm>
            <a:off x="1368425" y="3413125"/>
            <a:ext cx="7391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5" name="Line 10"/>
          <p:cNvSpPr>
            <a:spLocks noChangeShapeType="1"/>
          </p:cNvSpPr>
          <p:nvPr/>
        </p:nvSpPr>
        <p:spPr bwMode="auto">
          <a:xfrm>
            <a:off x="1382713" y="3878263"/>
            <a:ext cx="73771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6" name="Line 11"/>
          <p:cNvSpPr>
            <a:spLocks noChangeShapeType="1"/>
          </p:cNvSpPr>
          <p:nvPr/>
        </p:nvSpPr>
        <p:spPr bwMode="auto">
          <a:xfrm>
            <a:off x="5067300" y="1555750"/>
            <a:ext cx="0" cy="4746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67" name="Rectangle 12"/>
          <p:cNvSpPr>
            <a:spLocks noChangeArrowheads="1"/>
          </p:cNvSpPr>
          <p:nvPr/>
        </p:nvSpPr>
        <p:spPr bwMode="auto">
          <a:xfrm>
            <a:off x="6218238" y="1641475"/>
            <a:ext cx="13573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目  的  端  口</a:t>
            </a:r>
          </a:p>
        </p:txBody>
      </p:sp>
      <p:sp>
        <p:nvSpPr>
          <p:cNvPr id="1405968" name="Rectangle 13"/>
          <p:cNvSpPr>
            <a:spLocks noChangeArrowheads="1"/>
          </p:cNvSpPr>
          <p:nvPr/>
        </p:nvSpPr>
        <p:spPr bwMode="auto">
          <a:xfrm>
            <a:off x="1524000" y="2890838"/>
            <a:ext cx="5937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数据</a:t>
            </a:r>
          </a:p>
          <a:p>
            <a:r>
              <a:rPr lang="zh-CN" altLang="en-US" sz="1600" b="1">
                <a:solidFill>
                  <a:srgbClr val="000099"/>
                </a:solidFill>
                <a:ea typeface="黑体" panose="02010609060101010101" pitchFamily="49" charset="-122"/>
              </a:rPr>
              <a:t>偏移</a:t>
            </a:r>
          </a:p>
        </p:txBody>
      </p:sp>
      <p:sp>
        <p:nvSpPr>
          <p:cNvPr id="1405969" name="Rectangle 14"/>
          <p:cNvSpPr>
            <a:spLocks noChangeArrowheads="1"/>
          </p:cNvSpPr>
          <p:nvPr/>
        </p:nvSpPr>
        <p:spPr bwMode="auto">
          <a:xfrm>
            <a:off x="2559050" y="3505200"/>
            <a:ext cx="1149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检   验   和</a:t>
            </a:r>
          </a:p>
        </p:txBody>
      </p:sp>
      <p:sp>
        <p:nvSpPr>
          <p:cNvPr id="1405970" name="Rectangle 15"/>
          <p:cNvSpPr>
            <a:spLocks noChangeArrowheads="1"/>
          </p:cNvSpPr>
          <p:nvPr/>
        </p:nvSpPr>
        <p:spPr bwMode="auto">
          <a:xfrm>
            <a:off x="2754313" y="3933825"/>
            <a:ext cx="30686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选    项    （长  度  可  变）</a:t>
            </a:r>
          </a:p>
        </p:txBody>
      </p:sp>
      <p:sp>
        <p:nvSpPr>
          <p:cNvPr id="1405971" name="Rectangle 16"/>
          <p:cNvSpPr>
            <a:spLocks noChangeArrowheads="1"/>
          </p:cNvSpPr>
          <p:nvPr/>
        </p:nvSpPr>
        <p:spPr bwMode="auto">
          <a:xfrm>
            <a:off x="2668588" y="1641475"/>
            <a:ext cx="1035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源  端  口</a:t>
            </a:r>
          </a:p>
        </p:txBody>
      </p:sp>
      <p:sp>
        <p:nvSpPr>
          <p:cNvPr id="1405972" name="Rectangle 17"/>
          <p:cNvSpPr>
            <a:spLocks noChangeArrowheads="1"/>
          </p:cNvSpPr>
          <p:nvPr/>
        </p:nvSpPr>
        <p:spPr bwMode="auto">
          <a:xfrm>
            <a:off x="4640263" y="2100263"/>
            <a:ext cx="8334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序   号</a:t>
            </a:r>
          </a:p>
        </p:txBody>
      </p:sp>
      <p:sp>
        <p:nvSpPr>
          <p:cNvPr id="1405973" name="Line 18"/>
          <p:cNvSpPr>
            <a:spLocks noChangeShapeType="1"/>
          </p:cNvSpPr>
          <p:nvPr/>
        </p:nvSpPr>
        <p:spPr bwMode="auto">
          <a:xfrm>
            <a:off x="5072063" y="2955925"/>
            <a:ext cx="0" cy="9159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74" name="Rectangle 19"/>
          <p:cNvSpPr>
            <a:spLocks noChangeArrowheads="1"/>
          </p:cNvSpPr>
          <p:nvPr/>
        </p:nvSpPr>
        <p:spPr bwMode="auto">
          <a:xfrm>
            <a:off x="6064250" y="3505200"/>
            <a:ext cx="1528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紧   急   指   针</a:t>
            </a:r>
          </a:p>
        </p:txBody>
      </p:sp>
      <p:sp>
        <p:nvSpPr>
          <p:cNvPr id="1405975" name="Rectangle 20"/>
          <p:cNvSpPr>
            <a:spLocks noChangeArrowheads="1"/>
          </p:cNvSpPr>
          <p:nvPr/>
        </p:nvSpPr>
        <p:spPr bwMode="auto">
          <a:xfrm>
            <a:off x="6496050" y="3024188"/>
            <a:ext cx="7699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窗   口</a:t>
            </a:r>
          </a:p>
        </p:txBody>
      </p:sp>
      <p:sp>
        <p:nvSpPr>
          <p:cNvPr id="1405976" name="Rectangle 21"/>
          <p:cNvSpPr>
            <a:spLocks noChangeArrowheads="1"/>
          </p:cNvSpPr>
          <p:nvPr/>
        </p:nvSpPr>
        <p:spPr bwMode="auto">
          <a:xfrm>
            <a:off x="4405313" y="2584450"/>
            <a:ext cx="1404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确    认    号</a:t>
            </a:r>
          </a:p>
        </p:txBody>
      </p:sp>
      <p:sp>
        <p:nvSpPr>
          <p:cNvPr id="1405977" name="Line 22"/>
          <p:cNvSpPr>
            <a:spLocks noChangeShapeType="1"/>
          </p:cNvSpPr>
          <p:nvPr/>
        </p:nvSpPr>
        <p:spPr bwMode="auto">
          <a:xfrm>
            <a:off x="2293938" y="2955925"/>
            <a:ext cx="0" cy="463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78" name="Line 23"/>
          <p:cNvSpPr>
            <a:spLocks noChangeShapeType="1"/>
          </p:cNvSpPr>
          <p:nvPr/>
        </p:nvSpPr>
        <p:spPr bwMode="auto">
          <a:xfrm>
            <a:off x="4144963" y="2951163"/>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79" name="Line 24"/>
          <p:cNvSpPr>
            <a:spLocks noChangeShapeType="1"/>
          </p:cNvSpPr>
          <p:nvPr/>
        </p:nvSpPr>
        <p:spPr bwMode="auto">
          <a:xfrm>
            <a:off x="3670300" y="2955925"/>
            <a:ext cx="0" cy="4635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0" name="Line 25"/>
          <p:cNvSpPr>
            <a:spLocks noChangeShapeType="1"/>
          </p:cNvSpPr>
          <p:nvPr/>
        </p:nvSpPr>
        <p:spPr bwMode="auto">
          <a:xfrm>
            <a:off x="3905250" y="2955925"/>
            <a:ext cx="0" cy="455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1" name="Line 26"/>
          <p:cNvSpPr>
            <a:spLocks noChangeShapeType="1"/>
          </p:cNvSpPr>
          <p:nvPr/>
        </p:nvSpPr>
        <p:spPr bwMode="auto">
          <a:xfrm>
            <a:off x="4605338" y="2955925"/>
            <a:ext cx="0" cy="455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2" name="Line 27"/>
          <p:cNvSpPr>
            <a:spLocks noChangeShapeType="1"/>
          </p:cNvSpPr>
          <p:nvPr/>
        </p:nvSpPr>
        <p:spPr bwMode="auto">
          <a:xfrm>
            <a:off x="4375150" y="2955925"/>
            <a:ext cx="0" cy="455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3" name="Line 28"/>
          <p:cNvSpPr>
            <a:spLocks noChangeShapeType="1"/>
          </p:cNvSpPr>
          <p:nvPr/>
        </p:nvSpPr>
        <p:spPr bwMode="auto">
          <a:xfrm>
            <a:off x="4841875" y="2955925"/>
            <a:ext cx="0" cy="455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4" name="Rectangle 29"/>
          <p:cNvSpPr>
            <a:spLocks noChangeArrowheads="1"/>
          </p:cNvSpPr>
          <p:nvPr/>
        </p:nvSpPr>
        <p:spPr bwMode="auto">
          <a:xfrm>
            <a:off x="2582863" y="3033713"/>
            <a:ext cx="769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保   留</a:t>
            </a:r>
          </a:p>
        </p:txBody>
      </p:sp>
      <p:sp>
        <p:nvSpPr>
          <p:cNvPr id="1405985" name="Rectangle 30"/>
          <p:cNvSpPr>
            <a:spLocks noChangeArrowheads="1"/>
          </p:cNvSpPr>
          <p:nvPr/>
        </p:nvSpPr>
        <p:spPr bwMode="auto">
          <a:xfrm>
            <a:off x="4824413" y="2968625"/>
            <a:ext cx="29368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200" b="1">
                <a:solidFill>
                  <a:srgbClr val="000099"/>
                </a:solidFill>
                <a:ea typeface="黑体" panose="02010609060101010101" pitchFamily="49" charset="-122"/>
              </a:rPr>
              <a:t>F</a:t>
            </a:r>
          </a:p>
          <a:p>
            <a:pPr algn="ctr">
              <a:lnSpc>
                <a:spcPct val="75000"/>
              </a:lnSpc>
            </a:pPr>
            <a:r>
              <a:rPr lang="en-US" altLang="zh-CN" sz="1200" b="1">
                <a:solidFill>
                  <a:srgbClr val="000099"/>
                </a:solidFill>
                <a:ea typeface="黑体" panose="02010609060101010101" pitchFamily="49" charset="-122"/>
              </a:rPr>
              <a:t>I</a:t>
            </a:r>
          </a:p>
          <a:p>
            <a:pPr algn="ctr">
              <a:lnSpc>
                <a:spcPct val="75000"/>
              </a:lnSpc>
            </a:pPr>
            <a:r>
              <a:rPr lang="en-US" altLang="zh-CN" sz="1200" b="1">
                <a:solidFill>
                  <a:srgbClr val="000099"/>
                </a:solidFill>
                <a:ea typeface="黑体" panose="02010609060101010101" pitchFamily="49" charset="-122"/>
              </a:rPr>
              <a:t>N</a:t>
            </a:r>
          </a:p>
        </p:txBody>
      </p:sp>
      <p:sp>
        <p:nvSpPr>
          <p:cNvPr id="1405986" name="Line 31"/>
          <p:cNvSpPr>
            <a:spLocks noChangeShapeType="1"/>
          </p:cNvSpPr>
          <p:nvPr/>
        </p:nvSpPr>
        <p:spPr bwMode="auto">
          <a:xfrm>
            <a:off x="1387475" y="925513"/>
            <a:ext cx="7361238" cy="0"/>
          </a:xfrm>
          <a:prstGeom prst="line">
            <a:avLst/>
          </a:prstGeom>
          <a:noFill/>
          <a:ln w="1270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7" name="Rectangle 32"/>
          <p:cNvSpPr>
            <a:spLocks noChangeArrowheads="1"/>
          </p:cNvSpPr>
          <p:nvPr/>
        </p:nvSpPr>
        <p:spPr bwMode="auto">
          <a:xfrm>
            <a:off x="5008563" y="765175"/>
            <a:ext cx="73660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32 </a:t>
            </a:r>
            <a:r>
              <a:rPr lang="zh-CN" altLang="en-US" b="1">
                <a:solidFill>
                  <a:srgbClr val="000099"/>
                </a:solidFill>
                <a:ea typeface="黑体" panose="02010609060101010101" pitchFamily="49" charset="-122"/>
              </a:rPr>
              <a:t>位</a:t>
            </a:r>
          </a:p>
        </p:txBody>
      </p:sp>
      <p:sp>
        <p:nvSpPr>
          <p:cNvPr id="1405988" name="Line 37"/>
          <p:cNvSpPr>
            <a:spLocks noChangeShapeType="1"/>
          </p:cNvSpPr>
          <p:nvPr/>
        </p:nvSpPr>
        <p:spPr bwMode="auto">
          <a:xfrm>
            <a:off x="1373188" y="1446213"/>
            <a:ext cx="73675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89" name="Line 38"/>
          <p:cNvSpPr>
            <a:spLocks noChangeShapeType="1"/>
          </p:cNvSpPr>
          <p:nvPr/>
        </p:nvSpPr>
        <p:spPr bwMode="auto">
          <a:xfrm>
            <a:off x="1373188" y="1312863"/>
            <a:ext cx="0" cy="13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0" name="Line 39"/>
          <p:cNvSpPr>
            <a:spLocks noChangeShapeType="1"/>
          </p:cNvSpPr>
          <p:nvPr/>
        </p:nvSpPr>
        <p:spPr bwMode="auto">
          <a:xfrm>
            <a:off x="160337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1" name="Line 40"/>
          <p:cNvSpPr>
            <a:spLocks noChangeShapeType="1"/>
          </p:cNvSpPr>
          <p:nvPr/>
        </p:nvSpPr>
        <p:spPr bwMode="auto">
          <a:xfrm>
            <a:off x="183356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2" name="Line 41"/>
          <p:cNvSpPr>
            <a:spLocks noChangeShapeType="1"/>
          </p:cNvSpPr>
          <p:nvPr/>
        </p:nvSpPr>
        <p:spPr bwMode="auto">
          <a:xfrm>
            <a:off x="206375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3" name="Line 42"/>
          <p:cNvSpPr>
            <a:spLocks noChangeShapeType="1"/>
          </p:cNvSpPr>
          <p:nvPr/>
        </p:nvSpPr>
        <p:spPr bwMode="auto">
          <a:xfrm>
            <a:off x="2293938"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4" name="Line 43"/>
          <p:cNvSpPr>
            <a:spLocks noChangeShapeType="1"/>
          </p:cNvSpPr>
          <p:nvPr/>
        </p:nvSpPr>
        <p:spPr bwMode="auto">
          <a:xfrm>
            <a:off x="252412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5" name="Line 44"/>
          <p:cNvSpPr>
            <a:spLocks noChangeShapeType="1"/>
          </p:cNvSpPr>
          <p:nvPr/>
        </p:nvSpPr>
        <p:spPr bwMode="auto">
          <a:xfrm>
            <a:off x="27543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6" name="Line 45"/>
          <p:cNvSpPr>
            <a:spLocks noChangeShapeType="1"/>
          </p:cNvSpPr>
          <p:nvPr/>
        </p:nvSpPr>
        <p:spPr bwMode="auto">
          <a:xfrm>
            <a:off x="298450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7" name="Line 46"/>
          <p:cNvSpPr>
            <a:spLocks noChangeShapeType="1"/>
          </p:cNvSpPr>
          <p:nvPr/>
        </p:nvSpPr>
        <p:spPr bwMode="auto">
          <a:xfrm>
            <a:off x="3214688" y="1312863"/>
            <a:ext cx="0" cy="13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8" name="Line 47"/>
          <p:cNvSpPr>
            <a:spLocks noChangeShapeType="1"/>
          </p:cNvSpPr>
          <p:nvPr/>
        </p:nvSpPr>
        <p:spPr bwMode="auto">
          <a:xfrm>
            <a:off x="344487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5999" name="Line 48"/>
          <p:cNvSpPr>
            <a:spLocks noChangeShapeType="1"/>
          </p:cNvSpPr>
          <p:nvPr/>
        </p:nvSpPr>
        <p:spPr bwMode="auto">
          <a:xfrm>
            <a:off x="367506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0" name="Line 49"/>
          <p:cNvSpPr>
            <a:spLocks noChangeShapeType="1"/>
          </p:cNvSpPr>
          <p:nvPr/>
        </p:nvSpPr>
        <p:spPr bwMode="auto">
          <a:xfrm>
            <a:off x="390525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1" name="Line 50"/>
          <p:cNvSpPr>
            <a:spLocks noChangeShapeType="1"/>
          </p:cNvSpPr>
          <p:nvPr/>
        </p:nvSpPr>
        <p:spPr bwMode="auto">
          <a:xfrm>
            <a:off x="413702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2" name="Line 51"/>
          <p:cNvSpPr>
            <a:spLocks noChangeShapeType="1"/>
          </p:cNvSpPr>
          <p:nvPr/>
        </p:nvSpPr>
        <p:spPr bwMode="auto">
          <a:xfrm>
            <a:off x="43672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3" name="Line 52"/>
          <p:cNvSpPr>
            <a:spLocks noChangeShapeType="1"/>
          </p:cNvSpPr>
          <p:nvPr/>
        </p:nvSpPr>
        <p:spPr bwMode="auto">
          <a:xfrm>
            <a:off x="45958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4" name="Line 53"/>
          <p:cNvSpPr>
            <a:spLocks noChangeShapeType="1"/>
          </p:cNvSpPr>
          <p:nvPr/>
        </p:nvSpPr>
        <p:spPr bwMode="auto">
          <a:xfrm>
            <a:off x="482600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5" name="Line 54"/>
          <p:cNvSpPr>
            <a:spLocks noChangeShapeType="1"/>
          </p:cNvSpPr>
          <p:nvPr/>
        </p:nvSpPr>
        <p:spPr bwMode="auto">
          <a:xfrm>
            <a:off x="5056188" y="1312863"/>
            <a:ext cx="0" cy="13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6" name="Line 55"/>
          <p:cNvSpPr>
            <a:spLocks noChangeShapeType="1"/>
          </p:cNvSpPr>
          <p:nvPr/>
        </p:nvSpPr>
        <p:spPr bwMode="auto">
          <a:xfrm>
            <a:off x="528637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7" name="Line 56"/>
          <p:cNvSpPr>
            <a:spLocks noChangeShapeType="1"/>
          </p:cNvSpPr>
          <p:nvPr/>
        </p:nvSpPr>
        <p:spPr bwMode="auto">
          <a:xfrm>
            <a:off x="551656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8" name="Line 57"/>
          <p:cNvSpPr>
            <a:spLocks noChangeShapeType="1"/>
          </p:cNvSpPr>
          <p:nvPr/>
        </p:nvSpPr>
        <p:spPr bwMode="auto">
          <a:xfrm>
            <a:off x="5748338"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09" name="Line 58"/>
          <p:cNvSpPr>
            <a:spLocks noChangeShapeType="1"/>
          </p:cNvSpPr>
          <p:nvPr/>
        </p:nvSpPr>
        <p:spPr bwMode="auto">
          <a:xfrm>
            <a:off x="597852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0" name="Line 59"/>
          <p:cNvSpPr>
            <a:spLocks noChangeShapeType="1"/>
          </p:cNvSpPr>
          <p:nvPr/>
        </p:nvSpPr>
        <p:spPr bwMode="auto">
          <a:xfrm>
            <a:off x="62087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1" name="Line 60"/>
          <p:cNvSpPr>
            <a:spLocks noChangeShapeType="1"/>
          </p:cNvSpPr>
          <p:nvPr/>
        </p:nvSpPr>
        <p:spPr bwMode="auto">
          <a:xfrm>
            <a:off x="64373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2" name="Line 61"/>
          <p:cNvSpPr>
            <a:spLocks noChangeShapeType="1"/>
          </p:cNvSpPr>
          <p:nvPr/>
        </p:nvSpPr>
        <p:spPr bwMode="auto">
          <a:xfrm>
            <a:off x="666750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3" name="Line 62"/>
          <p:cNvSpPr>
            <a:spLocks noChangeShapeType="1"/>
          </p:cNvSpPr>
          <p:nvPr/>
        </p:nvSpPr>
        <p:spPr bwMode="auto">
          <a:xfrm>
            <a:off x="6897688" y="1312863"/>
            <a:ext cx="0" cy="13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4" name="Line 63"/>
          <p:cNvSpPr>
            <a:spLocks noChangeShapeType="1"/>
          </p:cNvSpPr>
          <p:nvPr/>
        </p:nvSpPr>
        <p:spPr bwMode="auto">
          <a:xfrm>
            <a:off x="712946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5" name="Line 64"/>
          <p:cNvSpPr>
            <a:spLocks noChangeShapeType="1"/>
          </p:cNvSpPr>
          <p:nvPr/>
        </p:nvSpPr>
        <p:spPr bwMode="auto">
          <a:xfrm>
            <a:off x="735965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6" name="Line 65"/>
          <p:cNvSpPr>
            <a:spLocks noChangeShapeType="1"/>
          </p:cNvSpPr>
          <p:nvPr/>
        </p:nvSpPr>
        <p:spPr bwMode="auto">
          <a:xfrm>
            <a:off x="7589838"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7" name="Line 66"/>
          <p:cNvSpPr>
            <a:spLocks noChangeShapeType="1"/>
          </p:cNvSpPr>
          <p:nvPr/>
        </p:nvSpPr>
        <p:spPr bwMode="auto">
          <a:xfrm>
            <a:off x="7820025"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8" name="Line 67"/>
          <p:cNvSpPr>
            <a:spLocks noChangeShapeType="1"/>
          </p:cNvSpPr>
          <p:nvPr/>
        </p:nvSpPr>
        <p:spPr bwMode="auto">
          <a:xfrm>
            <a:off x="80502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19" name="Line 68"/>
          <p:cNvSpPr>
            <a:spLocks noChangeShapeType="1"/>
          </p:cNvSpPr>
          <p:nvPr/>
        </p:nvSpPr>
        <p:spPr bwMode="auto">
          <a:xfrm>
            <a:off x="8278813"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0" name="Line 69"/>
          <p:cNvSpPr>
            <a:spLocks noChangeShapeType="1"/>
          </p:cNvSpPr>
          <p:nvPr/>
        </p:nvSpPr>
        <p:spPr bwMode="auto">
          <a:xfrm>
            <a:off x="8509000" y="1246188"/>
            <a:ext cx="0" cy="200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1" name="Line 70"/>
          <p:cNvSpPr>
            <a:spLocks noChangeShapeType="1"/>
          </p:cNvSpPr>
          <p:nvPr/>
        </p:nvSpPr>
        <p:spPr bwMode="auto">
          <a:xfrm>
            <a:off x="8740775" y="1312863"/>
            <a:ext cx="0" cy="133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2" name="Rectangle 71"/>
          <p:cNvSpPr>
            <a:spLocks noChangeArrowheads="1"/>
          </p:cNvSpPr>
          <p:nvPr/>
        </p:nvSpPr>
        <p:spPr bwMode="auto">
          <a:xfrm>
            <a:off x="1525588" y="1179513"/>
            <a:ext cx="1535112" cy="20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3" name="Rectangle 72"/>
          <p:cNvSpPr>
            <a:spLocks noChangeArrowheads="1"/>
          </p:cNvSpPr>
          <p:nvPr/>
        </p:nvSpPr>
        <p:spPr bwMode="auto">
          <a:xfrm>
            <a:off x="3367088" y="1179513"/>
            <a:ext cx="1536700" cy="20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4" name="Rectangle 73"/>
          <p:cNvSpPr>
            <a:spLocks noChangeArrowheads="1"/>
          </p:cNvSpPr>
          <p:nvPr/>
        </p:nvSpPr>
        <p:spPr bwMode="auto">
          <a:xfrm>
            <a:off x="5210175" y="1179513"/>
            <a:ext cx="1535113" cy="20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5" name="Rectangle 74"/>
          <p:cNvSpPr>
            <a:spLocks noChangeArrowheads="1"/>
          </p:cNvSpPr>
          <p:nvPr/>
        </p:nvSpPr>
        <p:spPr bwMode="auto">
          <a:xfrm>
            <a:off x="7051675" y="1179513"/>
            <a:ext cx="1535113" cy="200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26" name="Rectangle 76"/>
          <p:cNvSpPr>
            <a:spLocks noChangeArrowheads="1"/>
          </p:cNvSpPr>
          <p:nvPr/>
        </p:nvSpPr>
        <p:spPr bwMode="auto">
          <a:xfrm>
            <a:off x="4595813" y="2968625"/>
            <a:ext cx="29368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200" b="1">
                <a:solidFill>
                  <a:srgbClr val="000099"/>
                </a:solidFill>
                <a:ea typeface="黑体" panose="02010609060101010101" pitchFamily="49" charset="-122"/>
              </a:rPr>
              <a:t>S</a:t>
            </a:r>
          </a:p>
          <a:p>
            <a:pPr>
              <a:lnSpc>
                <a:spcPct val="75000"/>
              </a:lnSpc>
            </a:pPr>
            <a:r>
              <a:rPr lang="en-US" altLang="zh-CN" sz="1200" b="1">
                <a:solidFill>
                  <a:srgbClr val="000099"/>
                </a:solidFill>
                <a:ea typeface="黑体" panose="02010609060101010101" pitchFamily="49" charset="-122"/>
              </a:rPr>
              <a:t>Y</a:t>
            </a:r>
          </a:p>
          <a:p>
            <a:pPr>
              <a:lnSpc>
                <a:spcPct val="75000"/>
              </a:lnSpc>
            </a:pPr>
            <a:r>
              <a:rPr lang="en-US" altLang="zh-CN" sz="1200" b="1">
                <a:solidFill>
                  <a:srgbClr val="000099"/>
                </a:solidFill>
                <a:ea typeface="黑体" panose="02010609060101010101" pitchFamily="49" charset="-122"/>
              </a:rPr>
              <a:t>N</a:t>
            </a:r>
          </a:p>
        </p:txBody>
      </p:sp>
      <p:sp>
        <p:nvSpPr>
          <p:cNvPr id="1406027" name="Rectangle 77"/>
          <p:cNvSpPr>
            <a:spLocks noChangeArrowheads="1"/>
          </p:cNvSpPr>
          <p:nvPr/>
        </p:nvSpPr>
        <p:spPr bwMode="auto">
          <a:xfrm>
            <a:off x="4367213" y="2968625"/>
            <a:ext cx="29368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200" b="1">
                <a:solidFill>
                  <a:srgbClr val="000099"/>
                </a:solidFill>
                <a:ea typeface="黑体" panose="02010609060101010101" pitchFamily="49" charset="-122"/>
              </a:rPr>
              <a:t>R</a:t>
            </a:r>
          </a:p>
          <a:p>
            <a:pPr>
              <a:lnSpc>
                <a:spcPct val="75000"/>
              </a:lnSpc>
            </a:pPr>
            <a:r>
              <a:rPr lang="en-US" altLang="zh-CN" sz="1200" b="1">
                <a:solidFill>
                  <a:srgbClr val="000099"/>
                </a:solidFill>
                <a:ea typeface="黑体" panose="02010609060101010101" pitchFamily="49" charset="-122"/>
              </a:rPr>
              <a:t>S</a:t>
            </a:r>
          </a:p>
          <a:p>
            <a:pPr>
              <a:lnSpc>
                <a:spcPct val="75000"/>
              </a:lnSpc>
            </a:pPr>
            <a:r>
              <a:rPr lang="en-US" altLang="zh-CN" sz="1200" b="1">
                <a:solidFill>
                  <a:srgbClr val="000099"/>
                </a:solidFill>
                <a:ea typeface="黑体" panose="02010609060101010101" pitchFamily="49" charset="-122"/>
              </a:rPr>
              <a:t>T</a:t>
            </a:r>
          </a:p>
        </p:txBody>
      </p:sp>
      <p:sp>
        <p:nvSpPr>
          <p:cNvPr id="1406028" name="Rectangle 78"/>
          <p:cNvSpPr>
            <a:spLocks noChangeArrowheads="1"/>
          </p:cNvSpPr>
          <p:nvPr/>
        </p:nvSpPr>
        <p:spPr bwMode="auto">
          <a:xfrm>
            <a:off x="4121150" y="2968625"/>
            <a:ext cx="293688"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200" b="1">
                <a:solidFill>
                  <a:srgbClr val="000099"/>
                </a:solidFill>
                <a:ea typeface="黑体" panose="02010609060101010101" pitchFamily="49" charset="-122"/>
              </a:rPr>
              <a:t>P</a:t>
            </a:r>
          </a:p>
          <a:p>
            <a:pPr>
              <a:lnSpc>
                <a:spcPct val="75000"/>
              </a:lnSpc>
            </a:pPr>
            <a:r>
              <a:rPr lang="en-US" altLang="zh-CN" sz="1200" b="1">
                <a:solidFill>
                  <a:srgbClr val="000099"/>
                </a:solidFill>
                <a:ea typeface="黑体" panose="02010609060101010101" pitchFamily="49" charset="-122"/>
              </a:rPr>
              <a:t>S</a:t>
            </a:r>
          </a:p>
          <a:p>
            <a:pPr>
              <a:lnSpc>
                <a:spcPct val="75000"/>
              </a:lnSpc>
            </a:pPr>
            <a:r>
              <a:rPr lang="en-US" altLang="zh-CN" sz="1200" b="1">
                <a:solidFill>
                  <a:srgbClr val="000099"/>
                </a:solidFill>
                <a:ea typeface="黑体" panose="02010609060101010101" pitchFamily="49" charset="-122"/>
              </a:rPr>
              <a:t>H</a:t>
            </a:r>
          </a:p>
        </p:txBody>
      </p:sp>
      <p:sp>
        <p:nvSpPr>
          <p:cNvPr id="1406029" name="Rectangle 79"/>
          <p:cNvSpPr>
            <a:spLocks noChangeArrowheads="1"/>
          </p:cNvSpPr>
          <p:nvPr/>
        </p:nvSpPr>
        <p:spPr bwMode="auto">
          <a:xfrm>
            <a:off x="3890963" y="2968625"/>
            <a:ext cx="2921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200" b="1">
                <a:solidFill>
                  <a:srgbClr val="000099"/>
                </a:solidFill>
                <a:ea typeface="黑体" panose="02010609060101010101" pitchFamily="49" charset="-122"/>
              </a:rPr>
              <a:t>A</a:t>
            </a:r>
          </a:p>
          <a:p>
            <a:pPr>
              <a:lnSpc>
                <a:spcPct val="75000"/>
              </a:lnSpc>
            </a:pPr>
            <a:r>
              <a:rPr lang="en-US" altLang="zh-CN" sz="1200" b="1">
                <a:solidFill>
                  <a:srgbClr val="000099"/>
                </a:solidFill>
                <a:ea typeface="黑体" panose="02010609060101010101" pitchFamily="49" charset="-122"/>
              </a:rPr>
              <a:t>C</a:t>
            </a:r>
          </a:p>
          <a:p>
            <a:pPr>
              <a:lnSpc>
                <a:spcPct val="75000"/>
              </a:lnSpc>
            </a:pPr>
            <a:r>
              <a:rPr lang="en-US" altLang="zh-CN" sz="1200" b="1">
                <a:solidFill>
                  <a:srgbClr val="000099"/>
                </a:solidFill>
                <a:ea typeface="黑体" panose="02010609060101010101" pitchFamily="49" charset="-122"/>
              </a:rPr>
              <a:t>K</a:t>
            </a:r>
          </a:p>
        </p:txBody>
      </p:sp>
      <p:sp>
        <p:nvSpPr>
          <p:cNvPr id="1406030" name="Rectangle 80"/>
          <p:cNvSpPr>
            <a:spLocks noChangeArrowheads="1"/>
          </p:cNvSpPr>
          <p:nvPr/>
        </p:nvSpPr>
        <p:spPr bwMode="auto">
          <a:xfrm>
            <a:off x="3638550" y="2968625"/>
            <a:ext cx="30321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200" b="1">
                <a:solidFill>
                  <a:srgbClr val="000099"/>
                </a:solidFill>
                <a:ea typeface="黑体" panose="02010609060101010101" pitchFamily="49" charset="-122"/>
              </a:rPr>
              <a:t>U</a:t>
            </a:r>
          </a:p>
          <a:p>
            <a:pPr>
              <a:lnSpc>
                <a:spcPct val="75000"/>
              </a:lnSpc>
            </a:pPr>
            <a:r>
              <a:rPr lang="en-US" altLang="zh-CN" sz="1200" b="1">
                <a:solidFill>
                  <a:srgbClr val="000099"/>
                </a:solidFill>
                <a:ea typeface="黑体" panose="02010609060101010101" pitchFamily="49" charset="-122"/>
              </a:rPr>
              <a:t>R</a:t>
            </a:r>
          </a:p>
          <a:p>
            <a:pPr>
              <a:lnSpc>
                <a:spcPct val="75000"/>
              </a:lnSpc>
            </a:pPr>
            <a:r>
              <a:rPr lang="en-US" altLang="zh-CN" sz="1200" b="1">
                <a:solidFill>
                  <a:srgbClr val="000099"/>
                </a:solidFill>
                <a:ea typeface="黑体" panose="02010609060101010101" pitchFamily="49" charset="-122"/>
              </a:rPr>
              <a:t>G</a:t>
            </a:r>
          </a:p>
        </p:txBody>
      </p:sp>
      <p:sp>
        <p:nvSpPr>
          <p:cNvPr id="1406031" name="Rectangle 81"/>
          <p:cNvSpPr>
            <a:spLocks noChangeArrowheads="1"/>
          </p:cNvSpPr>
          <p:nvPr/>
        </p:nvSpPr>
        <p:spPr bwMode="auto">
          <a:xfrm>
            <a:off x="1016000" y="1060450"/>
            <a:ext cx="73596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位  </a:t>
            </a:r>
            <a:r>
              <a:rPr lang="en-US" altLang="zh-CN" sz="1600" b="1">
                <a:solidFill>
                  <a:srgbClr val="000099"/>
                </a:solidFill>
                <a:ea typeface="黑体" panose="02010609060101010101" pitchFamily="49" charset="-122"/>
              </a:rPr>
              <a:t>0                           8                           16                          24                       31</a:t>
            </a:r>
          </a:p>
        </p:txBody>
      </p:sp>
      <p:sp>
        <p:nvSpPr>
          <p:cNvPr id="1406032" name="Line 82"/>
          <p:cNvSpPr>
            <a:spLocks noChangeShapeType="1"/>
          </p:cNvSpPr>
          <p:nvPr/>
        </p:nvSpPr>
        <p:spPr bwMode="auto">
          <a:xfrm flipH="1">
            <a:off x="6896100" y="3889375"/>
            <a:ext cx="3175" cy="430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33" name="Rectangle 105"/>
          <p:cNvSpPr>
            <a:spLocks noChangeArrowheads="1"/>
          </p:cNvSpPr>
          <p:nvPr/>
        </p:nvSpPr>
        <p:spPr bwMode="auto">
          <a:xfrm>
            <a:off x="4308475" y="4894263"/>
            <a:ext cx="4664075" cy="49371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34" name="Rectangle 83"/>
          <p:cNvSpPr>
            <a:spLocks noChangeArrowheads="1"/>
          </p:cNvSpPr>
          <p:nvPr/>
        </p:nvSpPr>
        <p:spPr bwMode="auto">
          <a:xfrm>
            <a:off x="7388225" y="3933825"/>
            <a:ext cx="890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填    充</a:t>
            </a:r>
          </a:p>
        </p:txBody>
      </p:sp>
      <p:sp>
        <p:nvSpPr>
          <p:cNvPr id="1406035" name="Rectangle 84"/>
          <p:cNvSpPr>
            <a:spLocks noChangeArrowheads="1"/>
          </p:cNvSpPr>
          <p:nvPr/>
        </p:nvSpPr>
        <p:spPr bwMode="auto">
          <a:xfrm>
            <a:off x="5810250" y="4949825"/>
            <a:ext cx="179546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数据部分</a:t>
            </a:r>
          </a:p>
        </p:txBody>
      </p:sp>
      <p:sp>
        <p:nvSpPr>
          <p:cNvPr id="1406036" name="Rectangle 85"/>
          <p:cNvSpPr>
            <a:spLocks noChangeArrowheads="1"/>
          </p:cNvSpPr>
          <p:nvPr/>
        </p:nvSpPr>
        <p:spPr bwMode="auto">
          <a:xfrm>
            <a:off x="2762250" y="4868863"/>
            <a:ext cx="1524000" cy="5064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37" name="Rectangle 86"/>
          <p:cNvSpPr>
            <a:spLocks noChangeArrowheads="1"/>
          </p:cNvSpPr>
          <p:nvPr/>
        </p:nvSpPr>
        <p:spPr bwMode="auto">
          <a:xfrm>
            <a:off x="2762250" y="4868863"/>
            <a:ext cx="6237288" cy="506412"/>
          </a:xfrm>
          <a:prstGeom prst="rect">
            <a:avLst/>
          </a:prstGeom>
          <a:noFill/>
          <a:ln w="19050">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38" name="Line 87"/>
          <p:cNvSpPr>
            <a:spLocks noChangeShapeType="1"/>
          </p:cNvSpPr>
          <p:nvPr/>
        </p:nvSpPr>
        <p:spPr bwMode="auto">
          <a:xfrm flipH="1">
            <a:off x="4286250" y="4879975"/>
            <a:ext cx="0" cy="495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39" name="Rectangle 88"/>
          <p:cNvSpPr>
            <a:spLocks noChangeArrowheads="1"/>
          </p:cNvSpPr>
          <p:nvPr/>
        </p:nvSpPr>
        <p:spPr bwMode="auto">
          <a:xfrm>
            <a:off x="2973388" y="4997450"/>
            <a:ext cx="78105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40" name="Rectangle 89"/>
          <p:cNvSpPr>
            <a:spLocks noChangeArrowheads="1"/>
          </p:cNvSpPr>
          <p:nvPr/>
        </p:nvSpPr>
        <p:spPr bwMode="auto">
          <a:xfrm>
            <a:off x="2982913" y="4949825"/>
            <a:ext cx="12795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首部</a:t>
            </a:r>
          </a:p>
        </p:txBody>
      </p:sp>
      <p:sp>
        <p:nvSpPr>
          <p:cNvPr id="1406041" name="Rectangle 93"/>
          <p:cNvSpPr>
            <a:spLocks noChangeArrowheads="1"/>
          </p:cNvSpPr>
          <p:nvPr/>
        </p:nvSpPr>
        <p:spPr bwMode="auto">
          <a:xfrm>
            <a:off x="920750" y="4941888"/>
            <a:ext cx="176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r"/>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报文段</a:t>
            </a:r>
          </a:p>
        </p:txBody>
      </p:sp>
      <p:sp>
        <p:nvSpPr>
          <p:cNvPr id="1406042" name="Rectangle 94"/>
          <p:cNvSpPr>
            <a:spLocks noChangeArrowheads="1"/>
          </p:cNvSpPr>
          <p:nvPr/>
        </p:nvSpPr>
        <p:spPr bwMode="auto">
          <a:xfrm>
            <a:off x="2747963" y="5718175"/>
            <a:ext cx="6251575" cy="504825"/>
          </a:xfrm>
          <a:prstGeom prst="rect">
            <a:avLst/>
          </a:prstGeom>
          <a:solidFill>
            <a:srgbClr val="FF66FF"/>
          </a:solidFill>
          <a:ln w="1905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43" name="Rectangle 96"/>
          <p:cNvSpPr>
            <a:spLocks noChangeArrowheads="1"/>
          </p:cNvSpPr>
          <p:nvPr/>
        </p:nvSpPr>
        <p:spPr bwMode="auto">
          <a:xfrm>
            <a:off x="4554538" y="5767388"/>
            <a:ext cx="263048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a:t>
            </a:r>
            <a:r>
              <a:rPr lang="zh-CN" altLang="en-US" sz="2000" b="1">
                <a:solidFill>
                  <a:srgbClr val="000099"/>
                </a:solidFill>
                <a:ea typeface="黑体" panose="02010609060101010101" pitchFamily="49" charset="-122"/>
              </a:rPr>
              <a:t>数据报的</a:t>
            </a:r>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数据部分</a:t>
            </a:r>
          </a:p>
        </p:txBody>
      </p:sp>
      <p:sp>
        <p:nvSpPr>
          <p:cNvPr id="1406044" name="Rectangle 97"/>
          <p:cNvSpPr>
            <a:spLocks noChangeArrowheads="1"/>
          </p:cNvSpPr>
          <p:nvPr/>
        </p:nvSpPr>
        <p:spPr bwMode="auto">
          <a:xfrm>
            <a:off x="1641475" y="577691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首部</a:t>
            </a:r>
          </a:p>
        </p:txBody>
      </p:sp>
      <p:sp>
        <p:nvSpPr>
          <p:cNvPr id="1406045" name="Line 100"/>
          <p:cNvSpPr>
            <a:spLocks noChangeShapeType="1"/>
          </p:cNvSpPr>
          <p:nvPr/>
        </p:nvSpPr>
        <p:spPr bwMode="auto">
          <a:xfrm>
            <a:off x="8855075" y="1535113"/>
            <a:ext cx="7985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46" name="Line 101"/>
          <p:cNvSpPr>
            <a:spLocks noChangeShapeType="1"/>
          </p:cNvSpPr>
          <p:nvPr/>
        </p:nvSpPr>
        <p:spPr bwMode="auto">
          <a:xfrm>
            <a:off x="8855075" y="3871913"/>
            <a:ext cx="79851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47" name="Line 102"/>
          <p:cNvSpPr>
            <a:spLocks noChangeShapeType="1"/>
          </p:cNvSpPr>
          <p:nvPr/>
        </p:nvSpPr>
        <p:spPr bwMode="auto">
          <a:xfrm>
            <a:off x="804863" y="1560513"/>
            <a:ext cx="50958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48" name="Line 103"/>
          <p:cNvSpPr>
            <a:spLocks noChangeShapeType="1"/>
          </p:cNvSpPr>
          <p:nvPr/>
        </p:nvSpPr>
        <p:spPr bwMode="auto">
          <a:xfrm>
            <a:off x="819150" y="4302125"/>
            <a:ext cx="508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6049" name="Rectangle 104"/>
          <p:cNvSpPr>
            <a:spLocks noChangeArrowheads="1"/>
          </p:cNvSpPr>
          <p:nvPr/>
        </p:nvSpPr>
        <p:spPr bwMode="auto">
          <a:xfrm>
            <a:off x="328613" y="5445125"/>
            <a:ext cx="11064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发送在前</a:t>
            </a:r>
          </a:p>
        </p:txBody>
      </p:sp>
      <p:sp>
        <p:nvSpPr>
          <p:cNvPr id="1406050" name="Text Box 107"/>
          <p:cNvSpPr txBox="1">
            <a:spLocks noChangeArrowheads="1"/>
          </p:cNvSpPr>
          <p:nvPr/>
        </p:nvSpPr>
        <p:spPr bwMode="auto">
          <a:xfrm>
            <a:off x="2747963" y="44450"/>
            <a:ext cx="4508500" cy="584200"/>
          </a:xfrm>
          <a:prstGeom prst="rect">
            <a:avLst/>
          </a:prstGeom>
          <a:solidFill>
            <a:srgbClr val="66FF66"/>
          </a:solidFill>
          <a:ln w="9525">
            <a:solidFill>
              <a:srgbClr val="000099"/>
            </a:solidFill>
            <a:miter lim="800000"/>
            <a:headEnd/>
            <a:tailEnd/>
          </a:ln>
        </p:spPr>
        <p:txBody>
          <a:bodyPr wrap="none">
            <a:spAutoFit/>
          </a:bodyPr>
          <a:lstStyle/>
          <a:p>
            <a:pPr eaLnBrk="0" hangingPunct="0"/>
            <a:r>
              <a:rPr lang="en-US" altLang="zh-CN" sz="3200" b="1">
                <a:solidFill>
                  <a:srgbClr val="000099"/>
                </a:solidFill>
                <a:ea typeface="黑体" panose="02010609060101010101" pitchFamily="49" charset="-122"/>
              </a:rPr>
              <a:t>TCP </a:t>
            </a:r>
            <a:r>
              <a:rPr lang="zh-CN" altLang="en-US" sz="3200" b="1">
                <a:solidFill>
                  <a:srgbClr val="000099"/>
                </a:solidFill>
                <a:ea typeface="黑体" panose="02010609060101010101" pitchFamily="49" charset="-122"/>
              </a:rPr>
              <a:t>报文段的首部格式 </a:t>
            </a:r>
          </a:p>
        </p:txBody>
      </p:sp>
      <p:sp>
        <p:nvSpPr>
          <p:cNvPr id="1406051" name="矩形 1"/>
          <p:cNvSpPr>
            <a:spLocks noChangeArrowheads="1"/>
          </p:cNvSpPr>
          <p:nvPr/>
        </p:nvSpPr>
        <p:spPr bwMode="auto">
          <a:xfrm>
            <a:off x="2762250" y="5410200"/>
            <a:ext cx="6210300" cy="298450"/>
          </a:xfrm>
          <a:prstGeom prst="rect">
            <a:avLst/>
          </a:prstGeom>
          <a:gradFill rotWithShape="1">
            <a:gsLst>
              <a:gs pos="0">
                <a:srgbClr val="D9D9D9"/>
              </a:gs>
              <a:gs pos="100000">
                <a:srgbClr val="7F7F7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zh-CN" altLang="en-US">
              <a:ea typeface="宋体" panose="02010600030101010101" pitchFamily="2" charset="-122"/>
            </a:endParaRPr>
          </a:p>
        </p:txBody>
      </p:sp>
      <p:sp>
        <p:nvSpPr>
          <p:cNvPr id="1406052" name="AutoShape 99"/>
          <p:cNvSpPr>
            <a:spLocks noChangeArrowheads="1"/>
          </p:cNvSpPr>
          <p:nvPr/>
        </p:nvSpPr>
        <p:spPr bwMode="auto">
          <a:xfrm rot="-5400000">
            <a:off x="5580857" y="5391944"/>
            <a:ext cx="469900" cy="433387"/>
          </a:xfrm>
          <a:prstGeom prst="leftArrow">
            <a:avLst>
              <a:gd name="adj1" fmla="val 50000"/>
              <a:gd name="adj2" fmla="val 52953"/>
            </a:avLst>
          </a:prstGeom>
          <a:solidFill>
            <a:schemeClr val="bg1">
              <a:alpha val="79999"/>
            </a:schemeClr>
          </a:solidFill>
          <a:ln w="12700">
            <a:solidFill>
              <a:srgbClr val="3333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605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AC5CF09-AD47-48E0-A201-6EDE00B8004E}" type="slidenum">
              <a:rPr lang="zh-CN" altLang="en-US" smtClean="0"/>
              <a:pPr/>
              <a:t>23</a:t>
            </a:fld>
            <a:endParaRPr lang="en-US" altLang="zh-CN" smtClean="0"/>
          </a:p>
        </p:txBody>
      </p:sp>
      <p:sp>
        <p:nvSpPr>
          <p:cNvPr id="140605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08001" name="组合 1"/>
          <p:cNvGrpSpPr>
            <a:grpSpLocks/>
          </p:cNvGrpSpPr>
          <p:nvPr/>
        </p:nvGrpSpPr>
        <p:grpSpPr bwMode="auto">
          <a:xfrm>
            <a:off x="214313" y="77788"/>
            <a:ext cx="9853612" cy="4873625"/>
            <a:chOff x="214869" y="78539"/>
            <a:chExt cx="9852335" cy="4873626"/>
          </a:xfrm>
        </p:grpSpPr>
        <p:sp>
          <p:nvSpPr>
            <p:cNvPr id="1408002"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03"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08004"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05"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08006"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07"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08"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09"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10"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11"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12"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13"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08014"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08015"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08016"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08017"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08018"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08019"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0"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08021"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08022"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08023"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4"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5"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6"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7"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8"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29"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0"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08031"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08032"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3"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4"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5"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6"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7"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8"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39"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0"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1"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2"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3"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4"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5"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6"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7"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8"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49"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0"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1"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2"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3"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4"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5"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6"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7"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8"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59"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0"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1"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2"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3"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4"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5"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6"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7"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8"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69"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70"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08071"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08072"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08073"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08074"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08075"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08076"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8077"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08078"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8079"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8080"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08081"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408082" name="Text Box 103"/>
          <p:cNvSpPr txBox="1">
            <a:spLocks noChangeArrowheads="1"/>
          </p:cNvSpPr>
          <p:nvPr/>
        </p:nvSpPr>
        <p:spPr bwMode="auto">
          <a:xfrm>
            <a:off x="534988" y="5046663"/>
            <a:ext cx="90217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源端口和目的端口字段</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各占 </a:t>
            </a:r>
            <a:r>
              <a:rPr lang="en-US" altLang="zh-CN" sz="2400" b="1" dirty="0">
                <a:solidFill>
                  <a:srgbClr val="000099"/>
                </a:solidFill>
                <a:ea typeface="黑体" panose="02010609060101010101" pitchFamily="49" charset="-122"/>
              </a:rPr>
              <a:t>2 </a:t>
            </a:r>
            <a:r>
              <a:rPr lang="zh-CN" altLang="en-US" sz="2400" b="1" dirty="0">
                <a:solidFill>
                  <a:srgbClr val="000099"/>
                </a:solidFill>
                <a:ea typeface="黑体" panose="02010609060101010101" pitchFamily="49" charset="-122"/>
              </a:rPr>
              <a:t>字节。端口是运输层与应用层的服务接口。运输层的复用和分用功能都要通过端口才能实现。  </a:t>
            </a:r>
          </a:p>
        </p:txBody>
      </p:sp>
      <p:sp>
        <p:nvSpPr>
          <p:cNvPr id="503912" name="Rectangle 104"/>
          <p:cNvSpPr>
            <a:spLocks noChangeArrowheads="1"/>
          </p:cNvSpPr>
          <p:nvPr/>
        </p:nvSpPr>
        <p:spPr bwMode="auto">
          <a:xfrm>
            <a:off x="749300" y="796925"/>
            <a:ext cx="8401050"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080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310BEB0-E84A-4F9A-A462-F2B37E6C35CE}" type="slidenum">
              <a:rPr lang="zh-CN" altLang="en-US" smtClean="0"/>
              <a:pPr/>
              <a:t>24</a:t>
            </a:fld>
            <a:endParaRPr lang="en-US" altLang="zh-CN" smtClean="0"/>
          </a:p>
        </p:txBody>
      </p:sp>
      <p:sp>
        <p:nvSpPr>
          <p:cNvPr id="14080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0049" name="Text Box 82"/>
          <p:cNvSpPr txBox="1">
            <a:spLocks noChangeArrowheads="1"/>
          </p:cNvSpPr>
          <p:nvPr/>
        </p:nvSpPr>
        <p:spPr bwMode="auto">
          <a:xfrm>
            <a:off x="534988" y="5037138"/>
            <a:ext cx="90201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序号字段</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4 </a:t>
            </a:r>
            <a:r>
              <a:rPr lang="zh-CN" altLang="en-US" sz="2400" b="1" dirty="0">
                <a:solidFill>
                  <a:srgbClr val="000099"/>
                </a:solidFill>
                <a:ea typeface="黑体" panose="02010609060101010101" pitchFamily="49" charset="-122"/>
              </a:rPr>
              <a:t>字节。</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连接中传送的数据流中的每一个字节都编上一个序号。序号字段的值则指的是本报文段所发送的数据的第一个字节的序号。 </a:t>
            </a:r>
          </a:p>
        </p:txBody>
      </p:sp>
      <p:grpSp>
        <p:nvGrpSpPr>
          <p:cNvPr id="1410050" name="组合 83"/>
          <p:cNvGrpSpPr>
            <a:grpSpLocks/>
          </p:cNvGrpSpPr>
          <p:nvPr/>
        </p:nvGrpSpPr>
        <p:grpSpPr bwMode="auto">
          <a:xfrm>
            <a:off x="214313" y="77788"/>
            <a:ext cx="9853612" cy="4873625"/>
            <a:chOff x="214869" y="78539"/>
            <a:chExt cx="9852335" cy="4873626"/>
          </a:xfrm>
        </p:grpSpPr>
        <p:sp>
          <p:nvSpPr>
            <p:cNvPr id="1410051"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2"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10053"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4"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10055"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6"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7"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8"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59"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60"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61"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62"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10063"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10064"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10065"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10066"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10067"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10068"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69"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10070"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10071"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10072"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3"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4"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5"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6"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7"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8"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79"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10080"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10081"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2"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3"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4"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5"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6"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7"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8"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89"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0"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1"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2"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3"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4"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5"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6"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7"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8"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099"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0"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1"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2"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3"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4"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5"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6"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7"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8"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09"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0"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1"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2"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3"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4"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5"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6"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7"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8"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0119"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10120"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10121"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10122"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10123"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10124"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10125"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0126"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10127"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0128"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0129"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0130"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04915" name="Rectangle 83"/>
          <p:cNvSpPr>
            <a:spLocks noChangeArrowheads="1"/>
          </p:cNvSpPr>
          <p:nvPr/>
        </p:nvSpPr>
        <p:spPr bwMode="auto">
          <a:xfrm>
            <a:off x="787400" y="1487488"/>
            <a:ext cx="8318500"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101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E813A3-653E-44DA-A5BB-2A4A6F096D61}" type="slidenum">
              <a:rPr lang="zh-CN" altLang="en-US" smtClean="0"/>
              <a:pPr/>
              <a:t>25</a:t>
            </a:fld>
            <a:endParaRPr lang="en-US" altLang="zh-CN" smtClean="0"/>
          </a:p>
        </p:txBody>
      </p:sp>
      <p:sp>
        <p:nvSpPr>
          <p:cNvPr id="14101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2097" name="Text Box 82"/>
          <p:cNvSpPr txBox="1">
            <a:spLocks noChangeArrowheads="1"/>
          </p:cNvSpPr>
          <p:nvPr/>
        </p:nvSpPr>
        <p:spPr bwMode="auto">
          <a:xfrm>
            <a:off x="534988" y="5046663"/>
            <a:ext cx="90201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确认号字段</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4 </a:t>
            </a:r>
            <a:r>
              <a:rPr lang="zh-CN" altLang="en-US" sz="2400" b="1" dirty="0">
                <a:solidFill>
                  <a:srgbClr val="000099"/>
                </a:solidFill>
                <a:ea typeface="黑体" panose="02010609060101010101" pitchFamily="49" charset="-122"/>
              </a:rPr>
              <a:t>字节，是期望收到对方的下一个报文段的数据的第一个字节的序号。 </a:t>
            </a:r>
          </a:p>
        </p:txBody>
      </p:sp>
      <p:grpSp>
        <p:nvGrpSpPr>
          <p:cNvPr id="1412098" name="组合 83"/>
          <p:cNvGrpSpPr>
            <a:grpSpLocks/>
          </p:cNvGrpSpPr>
          <p:nvPr/>
        </p:nvGrpSpPr>
        <p:grpSpPr bwMode="auto">
          <a:xfrm>
            <a:off x="214313" y="77788"/>
            <a:ext cx="9853612" cy="4873625"/>
            <a:chOff x="214869" y="78539"/>
            <a:chExt cx="9852335" cy="4873626"/>
          </a:xfrm>
        </p:grpSpPr>
        <p:sp>
          <p:nvSpPr>
            <p:cNvPr id="1412099"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0"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12101"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2"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12103"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4"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5"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6"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7"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8"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09"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10"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12111"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12112"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12113"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12114"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12115"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12116"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17"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12118"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12119"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12120"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1"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2"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3"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4"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5"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6"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27"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12128"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12129"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0"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1"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2"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3"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4"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5"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6"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7"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8"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39"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0"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1"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2"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3"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4"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5"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6"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7"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8"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49"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0"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1"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2"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3"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4"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5"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6"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7"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8"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59"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0"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1"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2"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3"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4"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5"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6"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2167"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12168"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12169"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12170"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12171"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12172"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12173"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2174"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12175"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2176"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2177"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2178"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05939" name="Rectangle 83"/>
          <p:cNvSpPr>
            <a:spLocks noChangeArrowheads="1"/>
          </p:cNvSpPr>
          <p:nvPr/>
        </p:nvSpPr>
        <p:spPr bwMode="auto">
          <a:xfrm>
            <a:off x="787400" y="2206625"/>
            <a:ext cx="8342313"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1218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B0EDFF1-B57D-494B-A990-C49D15BC8779}" type="slidenum">
              <a:rPr lang="zh-CN" altLang="en-US" smtClean="0"/>
              <a:pPr/>
              <a:t>26</a:t>
            </a:fld>
            <a:endParaRPr lang="en-US" altLang="zh-CN" smtClean="0"/>
          </a:p>
        </p:txBody>
      </p:sp>
      <p:sp>
        <p:nvSpPr>
          <p:cNvPr id="141218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4145" name="Text Box 82"/>
          <p:cNvSpPr txBox="1">
            <a:spLocks noChangeArrowheads="1"/>
          </p:cNvSpPr>
          <p:nvPr/>
        </p:nvSpPr>
        <p:spPr bwMode="auto">
          <a:xfrm>
            <a:off x="534988" y="5037138"/>
            <a:ext cx="921543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数据偏移</a:t>
            </a:r>
            <a:r>
              <a:rPr lang="zh-CN" altLang="en-US" sz="2400" b="1" dirty="0">
                <a:solidFill>
                  <a:srgbClr val="000099"/>
                </a:solidFill>
                <a:ea typeface="黑体" panose="02010609060101010101" pitchFamily="49" charset="-122"/>
              </a:rPr>
              <a:t>（即首部长度）</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4 </a:t>
            </a:r>
            <a:r>
              <a:rPr lang="zh-CN" altLang="en-US" sz="2400" b="1" dirty="0">
                <a:solidFill>
                  <a:srgbClr val="000099"/>
                </a:solidFill>
                <a:ea typeface="黑体" panose="02010609060101010101" pitchFamily="49" charset="-122"/>
              </a:rPr>
              <a:t>位，它指出 </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报文段的数据起始处距离 </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报文段的起始处有多远。“数据偏移”的单位是 </a:t>
            </a:r>
            <a:r>
              <a:rPr lang="en-US" altLang="zh-CN" sz="2400" b="1" dirty="0">
                <a:solidFill>
                  <a:srgbClr val="000099"/>
                </a:solidFill>
                <a:ea typeface="黑体" panose="02010609060101010101" pitchFamily="49" charset="-122"/>
              </a:rPr>
              <a:t>32 </a:t>
            </a:r>
            <a:r>
              <a:rPr lang="zh-CN" altLang="en-US" sz="2400" b="1" dirty="0">
                <a:solidFill>
                  <a:srgbClr val="000099"/>
                </a:solidFill>
                <a:ea typeface="黑体" panose="02010609060101010101" pitchFamily="49" charset="-122"/>
              </a:rPr>
              <a:t>位字（以 </a:t>
            </a:r>
            <a:r>
              <a:rPr lang="en-US" altLang="zh-CN" sz="2400" b="1" dirty="0">
                <a:solidFill>
                  <a:srgbClr val="000099"/>
                </a:solidFill>
                <a:ea typeface="黑体" panose="02010609060101010101" pitchFamily="49" charset="-122"/>
              </a:rPr>
              <a:t>4 </a:t>
            </a:r>
            <a:r>
              <a:rPr lang="zh-CN" altLang="en-US" sz="2400" b="1" dirty="0">
                <a:solidFill>
                  <a:srgbClr val="000099"/>
                </a:solidFill>
                <a:ea typeface="黑体" panose="02010609060101010101" pitchFamily="49" charset="-122"/>
              </a:rPr>
              <a:t>字节为计算单位）。  </a:t>
            </a:r>
          </a:p>
        </p:txBody>
      </p:sp>
      <p:grpSp>
        <p:nvGrpSpPr>
          <p:cNvPr id="1414146" name="组合 83"/>
          <p:cNvGrpSpPr>
            <a:grpSpLocks/>
          </p:cNvGrpSpPr>
          <p:nvPr/>
        </p:nvGrpSpPr>
        <p:grpSpPr bwMode="auto">
          <a:xfrm>
            <a:off x="214313" y="77788"/>
            <a:ext cx="9853612" cy="4873625"/>
            <a:chOff x="214869" y="78539"/>
            <a:chExt cx="9852335" cy="4873626"/>
          </a:xfrm>
        </p:grpSpPr>
        <p:sp>
          <p:nvSpPr>
            <p:cNvPr id="141414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48"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1414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0"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1415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2"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3"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4"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5"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6"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7"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58"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14159"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14160"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14161"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14162"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14163"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14164"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65"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14166"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14167"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14168"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69"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0"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1"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2"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3"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4"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5"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14176"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14177"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8"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79"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0"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1"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2"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3"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4"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5"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6"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7"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8"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89"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0"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1"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2"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3"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4"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5"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6"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7"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8"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199"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0"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1"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2"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3"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4"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5"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6"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7"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8"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09"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0"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1"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2"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3"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4"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4215"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14216"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14217"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14218"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14219"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14220"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14221"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4222"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14223"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4224"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4225"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4226"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06963" name="Rectangle 83"/>
          <p:cNvSpPr>
            <a:spLocks noChangeArrowheads="1"/>
          </p:cNvSpPr>
          <p:nvPr/>
        </p:nvSpPr>
        <p:spPr bwMode="auto">
          <a:xfrm>
            <a:off x="765175" y="2905125"/>
            <a:ext cx="1092200" cy="665163"/>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142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980EAC-CFF2-4C46-81A7-B7FAAE672F38}" type="slidenum">
              <a:rPr lang="zh-CN" altLang="en-US" smtClean="0"/>
              <a:pPr/>
              <a:t>27</a:t>
            </a:fld>
            <a:endParaRPr lang="en-US" altLang="zh-CN" smtClean="0"/>
          </a:p>
        </p:txBody>
      </p:sp>
      <p:sp>
        <p:nvSpPr>
          <p:cNvPr id="14142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6193" name="Text Box 82"/>
          <p:cNvSpPr txBox="1">
            <a:spLocks noChangeArrowheads="1"/>
          </p:cNvSpPr>
          <p:nvPr/>
        </p:nvSpPr>
        <p:spPr bwMode="auto">
          <a:xfrm>
            <a:off x="534988" y="5056188"/>
            <a:ext cx="8739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保留字段</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6 </a:t>
            </a:r>
            <a:r>
              <a:rPr lang="zh-CN" altLang="en-US" sz="2400" b="1" dirty="0">
                <a:solidFill>
                  <a:srgbClr val="000099"/>
                </a:solidFill>
                <a:ea typeface="黑体" panose="02010609060101010101" pitchFamily="49" charset="-122"/>
              </a:rPr>
              <a:t>位，保留为今后使用，但目前应置为 </a:t>
            </a:r>
            <a:r>
              <a:rPr lang="en-US" altLang="zh-CN" sz="2400" b="1" dirty="0">
                <a:solidFill>
                  <a:srgbClr val="000099"/>
                </a:solidFill>
                <a:ea typeface="黑体" panose="02010609060101010101" pitchFamily="49" charset="-122"/>
              </a:rPr>
              <a:t>0</a:t>
            </a:r>
            <a:r>
              <a:rPr lang="zh-CN" altLang="en-US" sz="2400" b="1" dirty="0">
                <a:solidFill>
                  <a:srgbClr val="000099"/>
                </a:solidFill>
                <a:ea typeface="黑体" panose="02010609060101010101" pitchFamily="49" charset="-122"/>
              </a:rPr>
              <a:t>。 </a:t>
            </a:r>
          </a:p>
        </p:txBody>
      </p:sp>
      <p:grpSp>
        <p:nvGrpSpPr>
          <p:cNvPr id="1416194" name="组合 83"/>
          <p:cNvGrpSpPr>
            <a:grpSpLocks/>
          </p:cNvGrpSpPr>
          <p:nvPr/>
        </p:nvGrpSpPr>
        <p:grpSpPr bwMode="auto">
          <a:xfrm>
            <a:off x="214313" y="77788"/>
            <a:ext cx="9853612" cy="4873625"/>
            <a:chOff x="214869" y="78539"/>
            <a:chExt cx="9852335" cy="4873626"/>
          </a:xfrm>
        </p:grpSpPr>
        <p:sp>
          <p:nvSpPr>
            <p:cNvPr id="141619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196"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1619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198"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1619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0"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1"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2"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3"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4"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5"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06"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16207"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16208"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16209"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16210"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16211"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16212"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13"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16214"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16215"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16216"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17"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18"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19"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0"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1"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2"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3"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16224"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16225"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6"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7"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8"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29"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0"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1"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2"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3"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4"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5"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6"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7"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8"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39"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0"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1"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2"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3"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4"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5"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6"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7"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8"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49"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0"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1"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2"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3"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4"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5"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6"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7"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8"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59"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60"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61"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62"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6263"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16264"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16265"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16266"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16267"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16268"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1626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6270"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16271"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6272"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6273"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6274"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07987" name="Rectangle 83"/>
          <p:cNvSpPr>
            <a:spLocks noChangeArrowheads="1"/>
          </p:cNvSpPr>
          <p:nvPr/>
        </p:nvSpPr>
        <p:spPr bwMode="auto">
          <a:xfrm>
            <a:off x="1857375" y="2927350"/>
            <a:ext cx="1547813"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1627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7A0BDC7-0915-446C-9243-5F813D8C243B}" type="slidenum">
              <a:rPr lang="zh-CN" altLang="en-US" smtClean="0"/>
              <a:pPr/>
              <a:t>28</a:t>
            </a:fld>
            <a:endParaRPr lang="en-US" altLang="zh-CN" smtClean="0"/>
          </a:p>
        </p:txBody>
      </p:sp>
      <p:sp>
        <p:nvSpPr>
          <p:cNvPr id="141627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8241" name="Text Box 82"/>
          <p:cNvSpPr txBox="1">
            <a:spLocks noChangeArrowheads="1"/>
          </p:cNvSpPr>
          <p:nvPr/>
        </p:nvSpPr>
        <p:spPr bwMode="auto">
          <a:xfrm>
            <a:off x="534988" y="5037138"/>
            <a:ext cx="92900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紧急 </a:t>
            </a:r>
            <a:r>
              <a:rPr lang="en-US" altLang="zh-CN" sz="2400" b="1" dirty="0">
                <a:solidFill>
                  <a:srgbClr val="FF0000"/>
                </a:solidFill>
                <a:ea typeface="黑体" panose="02010609060101010101" pitchFamily="49" charset="-122"/>
              </a:rPr>
              <a:t>URG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当 </a:t>
            </a:r>
            <a:r>
              <a:rPr lang="en-US" altLang="zh-CN" sz="2400" b="1" dirty="0">
                <a:solidFill>
                  <a:srgbClr val="000099"/>
                </a:solidFill>
                <a:ea typeface="黑体" panose="02010609060101010101" pitchFamily="49" charset="-122"/>
              </a:rPr>
              <a:t>URG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1 </a:t>
            </a:r>
            <a:r>
              <a:rPr lang="zh-CN" altLang="en-US" sz="2400" b="1" dirty="0">
                <a:solidFill>
                  <a:srgbClr val="000099"/>
                </a:solidFill>
                <a:ea typeface="黑体" panose="02010609060101010101" pitchFamily="49" charset="-122"/>
              </a:rPr>
              <a:t>时，表明紧急指针字段有效。它告诉系统此报文段中有紧急数据，应尽快传送</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相当于高优先级的数据</a:t>
            </a:r>
            <a:r>
              <a:rPr lang="en-US" altLang="zh-CN" sz="2400" b="1" dirty="0">
                <a:solidFill>
                  <a:srgbClr val="000099"/>
                </a:solidFill>
                <a:ea typeface="黑体" panose="02010609060101010101" pitchFamily="49" charset="-122"/>
              </a:rPr>
              <a:t>)</a:t>
            </a:r>
            <a:r>
              <a:rPr lang="zh-CN" altLang="en-US" sz="2400" b="1" dirty="0">
                <a:solidFill>
                  <a:srgbClr val="000099"/>
                </a:solidFill>
                <a:ea typeface="黑体" panose="02010609060101010101" pitchFamily="49" charset="-122"/>
              </a:rPr>
              <a:t>。 </a:t>
            </a:r>
          </a:p>
        </p:txBody>
      </p:sp>
      <p:grpSp>
        <p:nvGrpSpPr>
          <p:cNvPr id="1418242" name="组合 83"/>
          <p:cNvGrpSpPr>
            <a:grpSpLocks/>
          </p:cNvGrpSpPr>
          <p:nvPr/>
        </p:nvGrpSpPr>
        <p:grpSpPr bwMode="auto">
          <a:xfrm>
            <a:off x="214313" y="77788"/>
            <a:ext cx="9853612" cy="4873625"/>
            <a:chOff x="214869" y="78539"/>
            <a:chExt cx="9852335" cy="4873626"/>
          </a:xfrm>
        </p:grpSpPr>
        <p:sp>
          <p:nvSpPr>
            <p:cNvPr id="1418243"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44"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18245"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46"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18247"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48"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49"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50"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51"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52"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53"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54"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18255"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18256"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18257"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18258"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18259"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18260"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1"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18262"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18263"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18264"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5"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6"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7"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8"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69"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0"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1"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18272"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18273"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4"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5"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6"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7"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8"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79"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0"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1"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2"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3"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4"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5"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6"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7"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8"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89"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0"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1"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2"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3"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4"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5"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6"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7"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8"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299"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0"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1"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2"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3"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4"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5"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6"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7"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8"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09"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10"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18311"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18312"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18313"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18314"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18315"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18316"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18317"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8318"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18319"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8320"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8321"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18322"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09011" name="Rectangle 83"/>
          <p:cNvSpPr>
            <a:spLocks noChangeArrowheads="1"/>
          </p:cNvSpPr>
          <p:nvPr/>
        </p:nvSpPr>
        <p:spPr bwMode="auto">
          <a:xfrm>
            <a:off x="3368675" y="2897188"/>
            <a:ext cx="282575" cy="701675"/>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1832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C3DBB51-9676-439E-B2D4-B241F0A14E6D}" type="slidenum">
              <a:rPr lang="zh-CN" altLang="en-US" smtClean="0"/>
              <a:pPr/>
              <a:t>29</a:t>
            </a:fld>
            <a:endParaRPr lang="en-US" altLang="zh-CN" smtClean="0"/>
          </a:p>
        </p:txBody>
      </p:sp>
      <p:sp>
        <p:nvSpPr>
          <p:cNvPr id="141832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0289" name="Text Box 82"/>
          <p:cNvSpPr txBox="1">
            <a:spLocks noChangeArrowheads="1"/>
          </p:cNvSpPr>
          <p:nvPr/>
        </p:nvSpPr>
        <p:spPr bwMode="auto">
          <a:xfrm>
            <a:off x="631825" y="5046663"/>
            <a:ext cx="86121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确认 </a:t>
            </a:r>
            <a:r>
              <a:rPr lang="en-US" altLang="zh-CN" sz="2400" b="1" dirty="0">
                <a:solidFill>
                  <a:srgbClr val="FF0000"/>
                </a:solidFill>
                <a:ea typeface="黑体" panose="02010609060101010101" pitchFamily="49" charset="-122"/>
              </a:rPr>
              <a:t>ACK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只有当 </a:t>
            </a:r>
            <a:r>
              <a:rPr lang="en-US" altLang="zh-CN" sz="2400" b="1" dirty="0">
                <a:solidFill>
                  <a:srgbClr val="000099"/>
                </a:solidFill>
                <a:ea typeface="黑体" panose="02010609060101010101" pitchFamily="49" charset="-122"/>
              </a:rPr>
              <a:t>ACK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1 </a:t>
            </a:r>
            <a:r>
              <a:rPr lang="zh-CN" altLang="en-US" sz="2400" b="1" dirty="0">
                <a:solidFill>
                  <a:srgbClr val="000099"/>
                </a:solidFill>
                <a:ea typeface="黑体" panose="02010609060101010101" pitchFamily="49" charset="-122"/>
              </a:rPr>
              <a:t>时确认号字段才有效。当 </a:t>
            </a:r>
            <a:r>
              <a:rPr lang="en-US" altLang="zh-CN" sz="2400" b="1" dirty="0">
                <a:solidFill>
                  <a:srgbClr val="000099"/>
                </a:solidFill>
                <a:ea typeface="黑体" panose="02010609060101010101" pitchFamily="49" charset="-122"/>
              </a:rPr>
              <a:t>ACK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0 </a:t>
            </a:r>
            <a:r>
              <a:rPr lang="zh-CN" altLang="en-US" sz="2400" b="1" dirty="0">
                <a:solidFill>
                  <a:srgbClr val="000099"/>
                </a:solidFill>
                <a:ea typeface="黑体" panose="02010609060101010101" pitchFamily="49" charset="-122"/>
              </a:rPr>
              <a:t>时，确认号无效。 </a:t>
            </a:r>
          </a:p>
        </p:txBody>
      </p:sp>
      <p:grpSp>
        <p:nvGrpSpPr>
          <p:cNvPr id="1420290" name="组合 83"/>
          <p:cNvGrpSpPr>
            <a:grpSpLocks/>
          </p:cNvGrpSpPr>
          <p:nvPr/>
        </p:nvGrpSpPr>
        <p:grpSpPr bwMode="auto">
          <a:xfrm>
            <a:off x="214313" y="77788"/>
            <a:ext cx="9853612" cy="4873625"/>
            <a:chOff x="214869" y="78539"/>
            <a:chExt cx="9852335" cy="4873626"/>
          </a:xfrm>
        </p:grpSpPr>
        <p:sp>
          <p:nvSpPr>
            <p:cNvPr id="1420291"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2"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20293"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4"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20295"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6"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7"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8"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299"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00"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01"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02"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20303"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20304"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20305"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20306"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20307"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20308"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09"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20310"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20311"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20312"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3"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4"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5"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6"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7"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8"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19"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20320"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20321"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2"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3"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4"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5"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6"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7"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8"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29"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0"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1"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2"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3"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4"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5"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6"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7"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8"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39"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0"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1"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2"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3"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4"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5"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6"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7"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8"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49"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0"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1"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2"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3"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4"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5"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6"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7"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8"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0359"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20360"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20361"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20362"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20363"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20364"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20365"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0366"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20367"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0368"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0369"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0370"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0035" name="Rectangle 83"/>
          <p:cNvSpPr>
            <a:spLocks noChangeArrowheads="1"/>
          </p:cNvSpPr>
          <p:nvPr/>
        </p:nvSpPr>
        <p:spPr bwMode="auto">
          <a:xfrm>
            <a:off x="3632200" y="2903538"/>
            <a:ext cx="328613" cy="701675"/>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037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8521807-7642-4569-A67B-A9710B6C3015}" type="slidenum">
              <a:rPr lang="zh-CN" altLang="en-US" smtClean="0"/>
              <a:pPr/>
              <a:t>30</a:t>
            </a:fld>
            <a:endParaRPr lang="en-US" altLang="zh-CN" smtClean="0"/>
          </a:p>
        </p:txBody>
      </p:sp>
      <p:sp>
        <p:nvSpPr>
          <p:cNvPr id="142037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2337" name="Text Box 82"/>
          <p:cNvSpPr txBox="1">
            <a:spLocks noChangeArrowheads="1"/>
          </p:cNvSpPr>
          <p:nvPr/>
        </p:nvSpPr>
        <p:spPr bwMode="auto">
          <a:xfrm>
            <a:off x="631825" y="5037138"/>
            <a:ext cx="8651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推送 </a:t>
            </a:r>
            <a:r>
              <a:rPr lang="en-US" altLang="zh-CN" sz="2400" b="1" dirty="0">
                <a:solidFill>
                  <a:srgbClr val="FF0000"/>
                </a:solidFill>
                <a:ea typeface="黑体" panose="02010609060101010101" pitchFamily="49" charset="-122"/>
              </a:rPr>
              <a:t>PSH (</a:t>
            </a:r>
            <a:r>
              <a:rPr lang="en-US" altLang="zh-CN" sz="2400" b="1" dirty="0" err="1">
                <a:solidFill>
                  <a:srgbClr val="FF0000"/>
                </a:solidFill>
                <a:ea typeface="黑体" panose="02010609060101010101" pitchFamily="49" charset="-122"/>
              </a:rPr>
              <a:t>PuSH</a:t>
            </a:r>
            <a:r>
              <a:rPr lang="en-US" altLang="zh-CN" sz="2400" b="1" dirty="0">
                <a:solidFill>
                  <a:srgbClr val="FF0000"/>
                </a:solidFill>
                <a:ea typeface="黑体" panose="02010609060101010101" pitchFamily="49" charset="-122"/>
              </a:rPr>
              <a:t>)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接收 </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收到 </a:t>
            </a:r>
            <a:r>
              <a:rPr lang="en-US" altLang="zh-CN" sz="2400" b="1" dirty="0">
                <a:solidFill>
                  <a:srgbClr val="000099"/>
                </a:solidFill>
                <a:ea typeface="黑体" panose="02010609060101010101" pitchFamily="49" charset="-122"/>
              </a:rPr>
              <a:t>PSH = 1 </a:t>
            </a:r>
            <a:r>
              <a:rPr lang="zh-CN" altLang="en-US" sz="2400" b="1" dirty="0">
                <a:solidFill>
                  <a:srgbClr val="000099"/>
                </a:solidFill>
                <a:ea typeface="黑体" panose="02010609060101010101" pitchFamily="49" charset="-122"/>
              </a:rPr>
              <a:t>的报文段，就尽快地交付接收应用进程，而不再等到整个缓存都填满了后再向上交付。  </a:t>
            </a:r>
          </a:p>
        </p:txBody>
      </p:sp>
      <p:grpSp>
        <p:nvGrpSpPr>
          <p:cNvPr id="1422338" name="组合 83"/>
          <p:cNvGrpSpPr>
            <a:grpSpLocks/>
          </p:cNvGrpSpPr>
          <p:nvPr/>
        </p:nvGrpSpPr>
        <p:grpSpPr bwMode="auto">
          <a:xfrm>
            <a:off x="214313" y="77788"/>
            <a:ext cx="9853612" cy="4873625"/>
            <a:chOff x="214869" y="78539"/>
            <a:chExt cx="9852335" cy="4873626"/>
          </a:xfrm>
        </p:grpSpPr>
        <p:sp>
          <p:nvSpPr>
            <p:cNvPr id="1422339"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0"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22341"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2"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22343"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4"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5"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6"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7"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8"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49"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50"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22351"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22352"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22353"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22354"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22355"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22356"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57"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22358"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22359"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22360"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1"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2"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3"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4"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5"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6"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67"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22368"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22369"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0"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1"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2"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3"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4"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5"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6"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7"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8"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79"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0"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1"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2"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3"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4"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5"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6"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7"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8"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89"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0"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1"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2"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3"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4"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5"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6"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7"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8"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399"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0"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1"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2"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3"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4"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5"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6"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2407"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22408"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22409"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22410"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22411"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22412"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22413"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2414"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22415"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2416"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2417"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2418"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1059" name="Rectangle 83"/>
          <p:cNvSpPr>
            <a:spLocks noChangeArrowheads="1"/>
          </p:cNvSpPr>
          <p:nvPr/>
        </p:nvSpPr>
        <p:spPr bwMode="auto">
          <a:xfrm>
            <a:off x="3892550" y="2909888"/>
            <a:ext cx="304800" cy="677862"/>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242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4643F7C-9265-4433-94DA-B2D183A8D640}" type="slidenum">
              <a:rPr lang="zh-CN" altLang="en-US" smtClean="0"/>
              <a:pPr/>
              <a:t>31</a:t>
            </a:fld>
            <a:endParaRPr lang="en-US" altLang="zh-CN" smtClean="0"/>
          </a:p>
        </p:txBody>
      </p:sp>
      <p:sp>
        <p:nvSpPr>
          <p:cNvPr id="142242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4385" name="Text Box 82"/>
          <p:cNvSpPr txBox="1">
            <a:spLocks noChangeArrowheads="1"/>
          </p:cNvSpPr>
          <p:nvPr/>
        </p:nvSpPr>
        <p:spPr bwMode="auto">
          <a:xfrm>
            <a:off x="631825" y="5037138"/>
            <a:ext cx="86518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复位 </a:t>
            </a:r>
            <a:r>
              <a:rPr lang="en-US" altLang="zh-CN" sz="2400" b="1" dirty="0">
                <a:solidFill>
                  <a:srgbClr val="FF0000"/>
                </a:solidFill>
                <a:ea typeface="黑体" panose="02010609060101010101" pitchFamily="49" charset="-122"/>
              </a:rPr>
              <a:t>RST (</a:t>
            </a:r>
            <a:r>
              <a:rPr lang="en-US" altLang="zh-CN" sz="2400" b="1" dirty="0" err="1">
                <a:solidFill>
                  <a:srgbClr val="FF0000"/>
                </a:solidFill>
                <a:ea typeface="黑体" panose="02010609060101010101" pitchFamily="49" charset="-122"/>
              </a:rPr>
              <a:t>ReSeT</a:t>
            </a:r>
            <a:r>
              <a:rPr lang="en-US" altLang="zh-CN" sz="2400" b="1" dirty="0">
                <a:solidFill>
                  <a:srgbClr val="FF0000"/>
                </a:solidFill>
                <a:ea typeface="黑体" panose="02010609060101010101" pitchFamily="49" charset="-122"/>
              </a:rPr>
              <a:t>)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当 </a:t>
            </a:r>
            <a:r>
              <a:rPr lang="en-US" altLang="zh-CN" sz="2400" b="1" dirty="0">
                <a:solidFill>
                  <a:srgbClr val="000099"/>
                </a:solidFill>
                <a:ea typeface="黑体" panose="02010609060101010101" pitchFamily="49" charset="-122"/>
              </a:rPr>
              <a:t>RST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1 </a:t>
            </a:r>
            <a:r>
              <a:rPr lang="zh-CN" altLang="en-US" sz="2400" b="1" dirty="0">
                <a:solidFill>
                  <a:srgbClr val="000099"/>
                </a:solidFill>
                <a:ea typeface="黑体" panose="02010609060101010101" pitchFamily="49" charset="-122"/>
              </a:rPr>
              <a:t>时，表明 </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连接中出现严重差错（如由于主机崩溃或其他原因），必须释放连接，然后再重新建立运输连接。 </a:t>
            </a:r>
          </a:p>
        </p:txBody>
      </p:sp>
      <p:grpSp>
        <p:nvGrpSpPr>
          <p:cNvPr id="1424386" name="组合 83"/>
          <p:cNvGrpSpPr>
            <a:grpSpLocks/>
          </p:cNvGrpSpPr>
          <p:nvPr/>
        </p:nvGrpSpPr>
        <p:grpSpPr bwMode="auto">
          <a:xfrm>
            <a:off x="214313" y="77788"/>
            <a:ext cx="9853612" cy="4873625"/>
            <a:chOff x="214869" y="78539"/>
            <a:chExt cx="9852335" cy="4873626"/>
          </a:xfrm>
        </p:grpSpPr>
        <p:sp>
          <p:nvSpPr>
            <p:cNvPr id="142438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88"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2438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0"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2439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2"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3"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4"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5"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6"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7"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398"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24399"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24400"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24401"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24402"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24403"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24404"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05"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24406"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24407"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24408"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09"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0"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1"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2"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3"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4"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5"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24416"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24417"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8"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19"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0"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1"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2"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3"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4"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5"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6"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7"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8"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29"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0"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1"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2"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3"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4"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5"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6"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7"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8"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39"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0"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1"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2"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3"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4"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5"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6"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7"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8"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49"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0"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1"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2"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3"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4"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4455"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24456"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24457"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24458"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24459"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24460"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24461"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4462"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24463"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4464"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4465"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4466"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2083" name="Rectangle 83"/>
          <p:cNvSpPr>
            <a:spLocks noChangeArrowheads="1"/>
          </p:cNvSpPr>
          <p:nvPr/>
        </p:nvSpPr>
        <p:spPr bwMode="auto">
          <a:xfrm>
            <a:off x="4179888" y="2927350"/>
            <a:ext cx="261937" cy="677863"/>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44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E535704-CD47-497E-92DE-C6B5EB5689FA}" type="slidenum">
              <a:rPr lang="zh-CN" altLang="en-US" smtClean="0"/>
              <a:pPr/>
              <a:t>32</a:t>
            </a:fld>
            <a:endParaRPr lang="en-US" altLang="zh-CN" smtClean="0"/>
          </a:p>
        </p:txBody>
      </p:sp>
      <p:sp>
        <p:nvSpPr>
          <p:cNvPr id="14244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6433" name="Text Box 82"/>
          <p:cNvSpPr txBox="1">
            <a:spLocks noChangeArrowheads="1"/>
          </p:cNvSpPr>
          <p:nvPr/>
        </p:nvSpPr>
        <p:spPr bwMode="auto">
          <a:xfrm>
            <a:off x="631825" y="5046663"/>
            <a:ext cx="87661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同步 </a:t>
            </a:r>
            <a:r>
              <a:rPr lang="en-US" altLang="zh-CN" sz="2400" b="1" dirty="0">
                <a:solidFill>
                  <a:srgbClr val="FF0000"/>
                </a:solidFill>
                <a:ea typeface="黑体" panose="02010609060101010101" pitchFamily="49" charset="-122"/>
              </a:rPr>
              <a:t>SYN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同步 </a:t>
            </a:r>
            <a:r>
              <a:rPr lang="en-US" altLang="zh-CN" sz="2400" b="1" dirty="0">
                <a:solidFill>
                  <a:srgbClr val="000099"/>
                </a:solidFill>
                <a:ea typeface="黑体" panose="02010609060101010101" pitchFamily="49" charset="-122"/>
              </a:rPr>
              <a:t>SYN = 1 </a:t>
            </a:r>
            <a:r>
              <a:rPr lang="zh-CN" altLang="en-US" sz="2400" b="1" dirty="0">
                <a:solidFill>
                  <a:srgbClr val="000099"/>
                </a:solidFill>
                <a:ea typeface="黑体" panose="02010609060101010101" pitchFamily="49" charset="-122"/>
              </a:rPr>
              <a:t>表示这是一个连接请求或连接接受报文。 </a:t>
            </a:r>
          </a:p>
        </p:txBody>
      </p:sp>
      <p:grpSp>
        <p:nvGrpSpPr>
          <p:cNvPr id="1426434" name="组合 83"/>
          <p:cNvGrpSpPr>
            <a:grpSpLocks/>
          </p:cNvGrpSpPr>
          <p:nvPr/>
        </p:nvGrpSpPr>
        <p:grpSpPr bwMode="auto">
          <a:xfrm>
            <a:off x="214313" y="77788"/>
            <a:ext cx="9853612" cy="4873625"/>
            <a:chOff x="214869" y="78539"/>
            <a:chExt cx="9852335" cy="4873626"/>
          </a:xfrm>
        </p:grpSpPr>
        <p:sp>
          <p:nvSpPr>
            <p:cNvPr id="142643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36"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2643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38"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2643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0"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1"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2"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3"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4"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5"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46"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26447"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26448"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26449"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26450"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26451"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26452"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53"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26454"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26455"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26456"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57"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58"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59"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0"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1"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2"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3"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26464"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26465"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6"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7"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8"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69"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0"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1"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2"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3"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4"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5"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6"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7"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8"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79"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0"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1"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2"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3"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4"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5"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6"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7"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8"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89"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0"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1"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2"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3"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4"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5"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6"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7"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8"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499"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500"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501"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502"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6503"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26504"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26505"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26506"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26507"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26508"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2650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6510"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26511"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6512"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6513"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6514"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3107" name="Rectangle 83"/>
          <p:cNvSpPr>
            <a:spLocks noChangeArrowheads="1"/>
          </p:cNvSpPr>
          <p:nvPr/>
        </p:nvSpPr>
        <p:spPr bwMode="auto">
          <a:xfrm>
            <a:off x="4441825" y="2913063"/>
            <a:ext cx="295275" cy="6921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65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80D186B-6321-4AB6-B696-144A489A3646}" type="slidenum">
              <a:rPr lang="zh-CN" altLang="en-US" smtClean="0"/>
              <a:pPr/>
              <a:t>33</a:t>
            </a:fld>
            <a:endParaRPr lang="en-US" altLang="zh-CN" smtClean="0"/>
          </a:p>
        </p:txBody>
      </p:sp>
      <p:sp>
        <p:nvSpPr>
          <p:cNvPr id="14265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8481" name="Text Box 82"/>
          <p:cNvSpPr txBox="1">
            <a:spLocks noChangeArrowheads="1"/>
          </p:cNvSpPr>
          <p:nvPr/>
        </p:nvSpPr>
        <p:spPr bwMode="auto">
          <a:xfrm>
            <a:off x="631825" y="5046663"/>
            <a:ext cx="87661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FF0000"/>
                </a:solidFill>
                <a:ea typeface="黑体" panose="02010609060101010101" pitchFamily="49" charset="-122"/>
              </a:rPr>
              <a:t>终止 </a:t>
            </a:r>
            <a:r>
              <a:rPr lang="en-US" altLang="zh-CN" sz="2400" b="1" dirty="0">
                <a:solidFill>
                  <a:srgbClr val="FF0000"/>
                </a:solidFill>
                <a:ea typeface="黑体" panose="02010609060101010101" pitchFamily="49" charset="-122"/>
              </a:rPr>
              <a:t>FIN (</a:t>
            </a:r>
            <a:r>
              <a:rPr lang="en-US" altLang="zh-CN" sz="2400" b="1" dirty="0" err="1">
                <a:solidFill>
                  <a:srgbClr val="FF0000"/>
                </a:solidFill>
                <a:ea typeface="黑体" panose="02010609060101010101" pitchFamily="49" charset="-122"/>
              </a:rPr>
              <a:t>FINish</a:t>
            </a:r>
            <a:r>
              <a:rPr lang="en-US" altLang="zh-CN" sz="2400" b="1" dirty="0">
                <a:solidFill>
                  <a:srgbClr val="FF0000"/>
                </a:solidFill>
                <a:ea typeface="黑体" panose="02010609060101010101" pitchFamily="49" charset="-122"/>
              </a:rPr>
              <a:t>)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用来释放一个连接。</a:t>
            </a:r>
            <a:r>
              <a:rPr lang="en-US" altLang="zh-CN" sz="2400" b="1" dirty="0">
                <a:solidFill>
                  <a:srgbClr val="000099"/>
                </a:solidFill>
                <a:ea typeface="黑体" panose="02010609060101010101" pitchFamily="49" charset="-122"/>
              </a:rPr>
              <a:t>FIN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1 </a:t>
            </a:r>
            <a:r>
              <a:rPr lang="zh-CN" altLang="en-US" sz="2400" b="1" dirty="0">
                <a:solidFill>
                  <a:srgbClr val="000099"/>
                </a:solidFill>
                <a:ea typeface="黑体" panose="02010609060101010101" pitchFamily="49" charset="-122"/>
              </a:rPr>
              <a:t>表明此报文段的发送端的数据已发送完毕，并要求释放运输连接。 </a:t>
            </a:r>
          </a:p>
        </p:txBody>
      </p:sp>
      <p:grpSp>
        <p:nvGrpSpPr>
          <p:cNvPr id="1428482" name="组合 83"/>
          <p:cNvGrpSpPr>
            <a:grpSpLocks/>
          </p:cNvGrpSpPr>
          <p:nvPr/>
        </p:nvGrpSpPr>
        <p:grpSpPr bwMode="auto">
          <a:xfrm>
            <a:off x="214313" y="77788"/>
            <a:ext cx="9853612" cy="4873625"/>
            <a:chOff x="214869" y="78539"/>
            <a:chExt cx="9852335" cy="4873626"/>
          </a:xfrm>
        </p:grpSpPr>
        <p:sp>
          <p:nvSpPr>
            <p:cNvPr id="1428483"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84"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28485"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86"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28487"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88"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89"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90"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91"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92"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93"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494"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28495"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28496"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28497"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28498"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28499"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28500"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1"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28502"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28503"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28504"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5"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6"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7"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8"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09"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0"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1"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28512"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28513"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4"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5"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6"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7"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8"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19"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0"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1"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2"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3"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4"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5"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6"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7"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8"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29"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0"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1"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2"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3"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4"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5"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6"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7"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8"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39"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0"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1"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2"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3"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4"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5"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6"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7"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8"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49"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50"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28551"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28552"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28553"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28554"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28555"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28556"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28557"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8558"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28559"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8560"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8561"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28562"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4131" name="Rectangle 83"/>
          <p:cNvSpPr>
            <a:spLocks noChangeArrowheads="1"/>
          </p:cNvSpPr>
          <p:nvPr/>
        </p:nvSpPr>
        <p:spPr bwMode="auto">
          <a:xfrm>
            <a:off x="4673600" y="2897188"/>
            <a:ext cx="320675" cy="693737"/>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2856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67ACDF6-3DAC-4176-877E-368F8A0AA0FA}" type="slidenum">
              <a:rPr lang="zh-CN" altLang="en-US" smtClean="0"/>
              <a:pPr/>
              <a:t>34</a:t>
            </a:fld>
            <a:endParaRPr lang="en-US" altLang="zh-CN" smtClean="0"/>
          </a:p>
        </p:txBody>
      </p:sp>
      <p:sp>
        <p:nvSpPr>
          <p:cNvPr id="142856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0529" name="Rectangle 84"/>
          <p:cNvSpPr>
            <a:spLocks noGrp="1" noChangeArrowheads="1"/>
          </p:cNvSpPr>
          <p:nvPr>
            <p:ph type="title"/>
          </p:nvPr>
        </p:nvSpPr>
        <p:spPr>
          <a:xfrm>
            <a:off x="631825" y="5046663"/>
            <a:ext cx="8845550" cy="830262"/>
          </a:xfrm>
        </p:spPr>
        <p:txBody>
          <a:bodyPr>
            <a:spAutoFit/>
          </a:bodyPr>
          <a:lstStyle/>
          <a:p>
            <a:pPr eaLnBrk="0" hangingPunct="0"/>
            <a:r>
              <a:rPr lang="zh-CN" altLang="en-US" sz="2400" dirty="0" smtClean="0">
                <a:solidFill>
                  <a:srgbClr val="FF0000"/>
                </a:solidFill>
                <a:ea typeface="黑体" panose="02010609060101010101" pitchFamily="49" charset="-122"/>
              </a:rPr>
              <a:t>窗口字段 </a:t>
            </a:r>
            <a:r>
              <a:rPr lang="en-US" altLang="zh-CN" sz="2400" dirty="0" smtClean="0">
                <a:solidFill>
                  <a:srgbClr val="000099"/>
                </a:solidFill>
                <a:ea typeface="黑体" panose="02010609060101010101" pitchFamily="49" charset="-122"/>
              </a:rPr>
              <a:t>—— </a:t>
            </a:r>
            <a:r>
              <a:rPr lang="zh-CN" altLang="en-US" sz="2400" dirty="0" smtClean="0">
                <a:solidFill>
                  <a:srgbClr val="000099"/>
                </a:solidFill>
                <a:ea typeface="黑体" panose="02010609060101010101" pitchFamily="49" charset="-122"/>
              </a:rPr>
              <a:t>占 </a:t>
            </a:r>
            <a:r>
              <a:rPr lang="en-US" altLang="zh-CN" sz="2400" dirty="0" smtClean="0">
                <a:solidFill>
                  <a:srgbClr val="000099"/>
                </a:solidFill>
                <a:ea typeface="黑体" panose="02010609060101010101" pitchFamily="49" charset="-122"/>
              </a:rPr>
              <a:t>2 </a:t>
            </a:r>
            <a:r>
              <a:rPr lang="zh-CN" altLang="en-US" sz="2400" dirty="0" smtClean="0">
                <a:solidFill>
                  <a:srgbClr val="000099"/>
                </a:solidFill>
                <a:ea typeface="黑体" panose="02010609060101010101" pitchFamily="49" charset="-122"/>
              </a:rPr>
              <a:t>字节，用来让对方设置发送窗口的依据，单位为字节。</a:t>
            </a:r>
          </a:p>
        </p:txBody>
      </p:sp>
      <p:grpSp>
        <p:nvGrpSpPr>
          <p:cNvPr id="1430530" name="组合 83"/>
          <p:cNvGrpSpPr>
            <a:grpSpLocks/>
          </p:cNvGrpSpPr>
          <p:nvPr/>
        </p:nvGrpSpPr>
        <p:grpSpPr bwMode="auto">
          <a:xfrm>
            <a:off x="214313" y="77788"/>
            <a:ext cx="9853612" cy="4873625"/>
            <a:chOff x="214869" y="78539"/>
            <a:chExt cx="9852335" cy="4873626"/>
          </a:xfrm>
        </p:grpSpPr>
        <p:sp>
          <p:nvSpPr>
            <p:cNvPr id="1430531"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2"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30533"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4"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30535"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6"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7"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8"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39"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40"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41"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42"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30543"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30544"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30545"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30546"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30547"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30548"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49"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30550"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30551"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30552"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3"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4"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5"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6"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7"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8"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59"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30560"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30561"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2"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3"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4"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5"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6"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7"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8"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69"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0"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1"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2"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3"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4"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5"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6"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7"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8"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79"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0"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1"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2"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3"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4"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5"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6"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7"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8"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89"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0"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1"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2"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3"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4"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5"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6"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7"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8"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0599"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30600"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30601"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30602"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30603"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30604"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30605"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0606"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30607"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0608"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0609"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0610"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5155" name="Rectangle 83"/>
          <p:cNvSpPr>
            <a:spLocks noChangeArrowheads="1"/>
          </p:cNvSpPr>
          <p:nvPr/>
        </p:nvSpPr>
        <p:spPr bwMode="auto">
          <a:xfrm>
            <a:off x="4956175" y="2927350"/>
            <a:ext cx="4173538"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061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765A3E-E455-4ECF-B1CB-0D79ECCE5053}" type="slidenum">
              <a:rPr lang="zh-CN" altLang="en-US" smtClean="0"/>
              <a:pPr eaLnBrk="1" hangingPunct="1"/>
              <a:t>35</a:t>
            </a:fld>
            <a:endParaRPr lang="en-US" altLang="zh-CN" smtClean="0"/>
          </a:p>
        </p:txBody>
      </p:sp>
      <p:sp>
        <p:nvSpPr>
          <p:cNvPr id="143061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2577" name="Text Box 84"/>
          <p:cNvSpPr txBox="1">
            <a:spLocks noChangeArrowheads="1"/>
          </p:cNvSpPr>
          <p:nvPr/>
        </p:nvSpPr>
        <p:spPr bwMode="auto">
          <a:xfrm>
            <a:off x="534988" y="5053013"/>
            <a:ext cx="8942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eaLnBrk="0" hangingPunct="0"/>
            <a:r>
              <a:rPr lang="zh-CN" altLang="en-US" sz="2400" b="1" dirty="0">
                <a:solidFill>
                  <a:srgbClr val="FF0000"/>
                </a:solidFill>
                <a:ea typeface="黑体" panose="02010609060101010101" pitchFamily="49" charset="-122"/>
              </a:rPr>
              <a:t>检验和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2 </a:t>
            </a:r>
            <a:r>
              <a:rPr lang="zh-CN" altLang="en-US" sz="2400" b="1" dirty="0">
                <a:solidFill>
                  <a:srgbClr val="000099"/>
                </a:solidFill>
                <a:ea typeface="黑体" panose="02010609060101010101" pitchFamily="49" charset="-122"/>
              </a:rPr>
              <a:t>字节。检验和字段检验的范围包括</a:t>
            </a:r>
            <a:r>
              <a:rPr lang="zh-CN" altLang="en-US" sz="2400" b="1" dirty="0">
                <a:solidFill>
                  <a:srgbClr val="FF0000"/>
                </a:solidFill>
                <a:ea typeface="黑体" panose="02010609060101010101" pitchFamily="49" charset="-122"/>
              </a:rPr>
              <a:t>首部</a:t>
            </a:r>
            <a:r>
              <a:rPr lang="zh-CN" altLang="en-US" sz="2400" b="1" dirty="0">
                <a:solidFill>
                  <a:srgbClr val="000099"/>
                </a:solidFill>
                <a:ea typeface="黑体" panose="02010609060101010101" pitchFamily="49" charset="-122"/>
              </a:rPr>
              <a:t>和</a:t>
            </a:r>
            <a:r>
              <a:rPr lang="zh-CN" altLang="en-US" sz="2400" b="1" dirty="0">
                <a:solidFill>
                  <a:srgbClr val="FF0000"/>
                </a:solidFill>
                <a:ea typeface="黑体" panose="02010609060101010101" pitchFamily="49" charset="-122"/>
              </a:rPr>
              <a:t>数据</a:t>
            </a:r>
            <a:r>
              <a:rPr lang="zh-CN" altLang="en-US" sz="2400" b="1" dirty="0">
                <a:solidFill>
                  <a:srgbClr val="000099"/>
                </a:solidFill>
                <a:ea typeface="黑体" panose="02010609060101010101" pitchFamily="49" charset="-122"/>
              </a:rPr>
              <a:t>这两部分。在计算检验和时，要在 </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报文段的前面加上 </a:t>
            </a:r>
            <a:r>
              <a:rPr lang="en-US" altLang="zh-CN" sz="2400" b="1" dirty="0">
                <a:solidFill>
                  <a:srgbClr val="000099"/>
                </a:solidFill>
                <a:ea typeface="黑体" panose="02010609060101010101" pitchFamily="49" charset="-122"/>
              </a:rPr>
              <a:t>12 </a:t>
            </a:r>
            <a:r>
              <a:rPr lang="zh-CN" altLang="en-US" sz="2400" b="1" dirty="0">
                <a:solidFill>
                  <a:srgbClr val="000099"/>
                </a:solidFill>
                <a:ea typeface="黑体" panose="02010609060101010101" pitchFamily="49" charset="-122"/>
              </a:rPr>
              <a:t>字节的伪首部。</a:t>
            </a:r>
          </a:p>
        </p:txBody>
      </p:sp>
      <p:grpSp>
        <p:nvGrpSpPr>
          <p:cNvPr id="1432578" name="组合 83"/>
          <p:cNvGrpSpPr>
            <a:grpSpLocks/>
          </p:cNvGrpSpPr>
          <p:nvPr/>
        </p:nvGrpSpPr>
        <p:grpSpPr bwMode="auto">
          <a:xfrm>
            <a:off x="214313" y="77788"/>
            <a:ext cx="9853612" cy="4873625"/>
            <a:chOff x="214869" y="78539"/>
            <a:chExt cx="9852335" cy="4873626"/>
          </a:xfrm>
        </p:grpSpPr>
        <p:sp>
          <p:nvSpPr>
            <p:cNvPr id="1432579"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0"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32581"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2"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32583"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4"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5"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6"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7"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8"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89"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90"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32591"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32592"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32593"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32594"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32595"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32596"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597"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32598"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32599"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32600"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1"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2"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3"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4"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5"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6"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07"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32608"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32609"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0"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1"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2"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3"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4"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5"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6"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7"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8"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19"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0"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1"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2"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3"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4"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5"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6"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7"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8"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29"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0"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1"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2"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3"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4"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5"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6"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7"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8"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39"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0"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1"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2"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3"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4"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5"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6"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2647"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32648"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32649"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32650"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32651"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32652"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32653"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2654"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32655"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2656"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2657"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2658"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7202" name="Rectangle 82"/>
          <p:cNvSpPr>
            <a:spLocks noChangeArrowheads="1"/>
          </p:cNvSpPr>
          <p:nvPr/>
        </p:nvSpPr>
        <p:spPr bwMode="auto">
          <a:xfrm>
            <a:off x="779463" y="3575050"/>
            <a:ext cx="4173537"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266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6E703D-4136-47DC-BDDB-0C7BC1274B93}" type="slidenum">
              <a:rPr lang="zh-CN" altLang="en-US" smtClean="0"/>
              <a:pPr eaLnBrk="1" hangingPunct="1"/>
              <a:t>36</a:t>
            </a:fld>
            <a:endParaRPr lang="en-US" altLang="zh-CN" smtClean="0"/>
          </a:p>
        </p:txBody>
      </p:sp>
      <p:sp>
        <p:nvSpPr>
          <p:cNvPr id="143266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25" name="Text Box 83"/>
          <p:cNvSpPr txBox="1">
            <a:spLocks noChangeArrowheads="1"/>
          </p:cNvSpPr>
          <p:nvPr/>
        </p:nvSpPr>
        <p:spPr bwMode="auto">
          <a:xfrm>
            <a:off x="534988" y="5046663"/>
            <a:ext cx="89423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eaLnBrk="0" hangingPunct="0"/>
            <a:r>
              <a:rPr lang="zh-CN" altLang="en-US" sz="2400" b="1" dirty="0">
                <a:solidFill>
                  <a:srgbClr val="FF0000"/>
                </a:solidFill>
                <a:ea typeface="黑体" panose="02010609060101010101" pitchFamily="49" charset="-122"/>
              </a:rPr>
              <a:t>紧急指针字段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占 </a:t>
            </a:r>
            <a:r>
              <a:rPr lang="en-US" altLang="zh-CN" sz="2400" b="1" dirty="0">
                <a:solidFill>
                  <a:srgbClr val="000099"/>
                </a:solidFill>
                <a:ea typeface="黑体" panose="02010609060101010101" pitchFamily="49" charset="-122"/>
              </a:rPr>
              <a:t>16 </a:t>
            </a:r>
            <a:r>
              <a:rPr lang="zh-CN" altLang="en-US" sz="2400" b="1" dirty="0">
                <a:solidFill>
                  <a:srgbClr val="000099"/>
                </a:solidFill>
                <a:ea typeface="黑体" panose="02010609060101010101" pitchFamily="49" charset="-122"/>
              </a:rPr>
              <a:t>位，指出在本报文段中紧急数据共有多少个字节（紧急数据放在本报文段数据的最前面）。  </a:t>
            </a:r>
          </a:p>
        </p:txBody>
      </p:sp>
      <p:grpSp>
        <p:nvGrpSpPr>
          <p:cNvPr id="1434626" name="组合 83"/>
          <p:cNvGrpSpPr>
            <a:grpSpLocks/>
          </p:cNvGrpSpPr>
          <p:nvPr/>
        </p:nvGrpSpPr>
        <p:grpSpPr bwMode="auto">
          <a:xfrm>
            <a:off x="214313" y="77788"/>
            <a:ext cx="9853612" cy="4873625"/>
            <a:chOff x="214869" y="78539"/>
            <a:chExt cx="9852335" cy="4873626"/>
          </a:xfrm>
        </p:grpSpPr>
        <p:sp>
          <p:nvSpPr>
            <p:cNvPr id="1434627"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28"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34629"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0"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34631"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2"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3"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4"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5"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6"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7"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38"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34639"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34640"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34641"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34642"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34643"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34644"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45"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34646"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34647"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34648"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49"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0"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1"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2"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3"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4"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5"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34656"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34657"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8"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59"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0"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1"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2"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3"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4"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5"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6"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7"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8"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69"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0"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1"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2"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3"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4"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5"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6"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7"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8"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79"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0"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1"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2"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3"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4"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5"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6"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7"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8"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89"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0"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1"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2"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3"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4"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4695"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34696"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34697"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34698"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34699"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34700"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34701"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4702"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34703"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4704"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4705"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4706"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8226" name="Rectangle 82"/>
          <p:cNvSpPr>
            <a:spLocks noChangeArrowheads="1"/>
          </p:cNvSpPr>
          <p:nvPr/>
        </p:nvSpPr>
        <p:spPr bwMode="auto">
          <a:xfrm>
            <a:off x="4956175" y="3575050"/>
            <a:ext cx="4173538" cy="71755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3470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A452CD-1B82-4B33-975D-891004624A0B}" type="slidenum">
              <a:rPr lang="zh-CN" altLang="en-US" smtClean="0"/>
              <a:pPr eaLnBrk="1" hangingPunct="1"/>
              <a:t>37</a:t>
            </a:fld>
            <a:endParaRPr lang="en-US" altLang="zh-CN" smtClean="0"/>
          </a:p>
        </p:txBody>
      </p:sp>
      <p:sp>
        <p:nvSpPr>
          <p:cNvPr id="143470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6673" name="Text Box 83"/>
          <p:cNvSpPr txBox="1">
            <a:spLocks noChangeArrowheads="1"/>
          </p:cNvSpPr>
          <p:nvPr/>
        </p:nvSpPr>
        <p:spPr bwMode="auto">
          <a:xfrm>
            <a:off x="534988" y="5037138"/>
            <a:ext cx="89423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eaLnBrk="0" hangingPunct="0"/>
            <a:r>
              <a:rPr lang="zh-CN" altLang="en-US" sz="2400" b="1" dirty="0">
                <a:solidFill>
                  <a:srgbClr val="FF0000"/>
                </a:solidFill>
                <a:ea typeface="黑体" panose="02010609060101010101" pitchFamily="49" charset="-122"/>
              </a:rPr>
              <a:t>选项字段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长度可变。</a:t>
            </a:r>
            <a:r>
              <a:rPr lang="en-US" altLang="zh-CN" sz="2400" b="1" dirty="0">
                <a:solidFill>
                  <a:srgbClr val="000099"/>
                </a:solidFill>
                <a:ea typeface="黑体" panose="02010609060101010101" pitchFamily="49" charset="-122"/>
              </a:rPr>
              <a:t>TCP </a:t>
            </a:r>
            <a:r>
              <a:rPr lang="zh-CN" altLang="en-US" sz="2400" b="1" dirty="0">
                <a:solidFill>
                  <a:srgbClr val="000099"/>
                </a:solidFill>
                <a:ea typeface="黑体" panose="02010609060101010101" pitchFamily="49" charset="-122"/>
              </a:rPr>
              <a:t>最初只规定了一种选项，即</a:t>
            </a:r>
            <a:r>
              <a:rPr lang="zh-CN" altLang="en-US" sz="2400" b="1" dirty="0">
                <a:solidFill>
                  <a:srgbClr val="C00000"/>
                </a:solidFill>
                <a:ea typeface="黑体" panose="02010609060101010101" pitchFamily="49" charset="-122"/>
              </a:rPr>
              <a:t>最大报文段长度 </a:t>
            </a:r>
            <a:r>
              <a:rPr lang="en-US" altLang="zh-CN" sz="2400" b="1" dirty="0">
                <a:solidFill>
                  <a:srgbClr val="C00000"/>
                </a:solidFill>
                <a:ea typeface="黑体" panose="02010609060101010101" pitchFamily="49" charset="-122"/>
              </a:rPr>
              <a:t>MSS</a:t>
            </a:r>
            <a:r>
              <a:rPr lang="zh-CN" altLang="en-US" sz="2400" b="1" dirty="0">
                <a:solidFill>
                  <a:srgbClr val="C00000"/>
                </a:solidFill>
                <a:ea typeface="黑体" panose="02010609060101010101" pitchFamily="49" charset="-122"/>
              </a:rPr>
              <a:t>。</a:t>
            </a:r>
            <a:r>
              <a:rPr lang="en-US" altLang="zh-CN" sz="2400" b="1" dirty="0">
                <a:solidFill>
                  <a:srgbClr val="000099"/>
                </a:solidFill>
                <a:ea typeface="黑体" panose="02010609060101010101" pitchFamily="49" charset="-122"/>
              </a:rPr>
              <a:t>MSS </a:t>
            </a:r>
            <a:r>
              <a:rPr lang="zh-CN" altLang="en-US" sz="2400" b="1" dirty="0">
                <a:solidFill>
                  <a:srgbClr val="000099"/>
                </a:solidFill>
                <a:ea typeface="黑体" panose="02010609060101010101" pitchFamily="49" charset="-122"/>
              </a:rPr>
              <a:t>告诉对方 </a:t>
            </a:r>
            <a:r>
              <a:rPr lang="en-US" altLang="zh-CN" sz="2400" b="1" dirty="0">
                <a:solidFill>
                  <a:srgbClr val="000099"/>
                </a:solidFill>
                <a:ea typeface="黑体" panose="02010609060101010101" pitchFamily="49" charset="-122"/>
              </a:rPr>
              <a:t>TCP</a:t>
            </a:r>
            <a:r>
              <a:rPr lang="zh-CN" altLang="en-US" sz="2400" b="1" dirty="0">
                <a:solidFill>
                  <a:srgbClr val="000099"/>
                </a:solidFill>
                <a:ea typeface="黑体" panose="02010609060101010101" pitchFamily="49" charset="-122"/>
              </a:rPr>
              <a:t>：“我的缓存所能接收的报文段的数据字段的最大长度是 </a:t>
            </a:r>
            <a:r>
              <a:rPr lang="en-US" altLang="zh-CN" sz="2400" b="1" dirty="0">
                <a:solidFill>
                  <a:srgbClr val="000099"/>
                </a:solidFill>
                <a:ea typeface="黑体" panose="02010609060101010101" pitchFamily="49" charset="-122"/>
              </a:rPr>
              <a:t>MSS </a:t>
            </a:r>
            <a:r>
              <a:rPr lang="zh-CN" altLang="en-US" sz="2400" b="1" dirty="0">
                <a:solidFill>
                  <a:srgbClr val="000099"/>
                </a:solidFill>
                <a:ea typeface="黑体" panose="02010609060101010101" pitchFamily="49" charset="-122"/>
              </a:rPr>
              <a:t>个字节。” </a:t>
            </a:r>
          </a:p>
        </p:txBody>
      </p:sp>
      <p:grpSp>
        <p:nvGrpSpPr>
          <p:cNvPr id="1436674" name="组合 85"/>
          <p:cNvGrpSpPr>
            <a:grpSpLocks/>
          </p:cNvGrpSpPr>
          <p:nvPr/>
        </p:nvGrpSpPr>
        <p:grpSpPr bwMode="auto">
          <a:xfrm>
            <a:off x="214313" y="77788"/>
            <a:ext cx="9853612" cy="4873625"/>
            <a:chOff x="214869" y="78539"/>
            <a:chExt cx="9852335" cy="4873626"/>
          </a:xfrm>
        </p:grpSpPr>
        <p:sp>
          <p:nvSpPr>
            <p:cNvPr id="1436675"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76"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36677"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78"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36679"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0"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1"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2"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3"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4"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5"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86"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36687"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36688"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36689"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36690"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36691"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36692"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93"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36694"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36695"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36696"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97"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98"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699"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0"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1"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2"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3"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36704"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36705"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6"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7"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8"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09"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0"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1"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2"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3"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4"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5"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6"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7"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8"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19"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0"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1"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2"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3"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4"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5"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6"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7"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8"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29"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0"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1"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2"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3"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4"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5"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6"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7"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8"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39"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40"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41"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42"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36743"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36744"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36745"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36746"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36747"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36748"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36749"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6750"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36751"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6752"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6753"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36754"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19250" name="Rectangle 82"/>
          <p:cNvSpPr>
            <a:spLocks noChangeArrowheads="1"/>
          </p:cNvSpPr>
          <p:nvPr/>
        </p:nvSpPr>
        <p:spPr bwMode="auto">
          <a:xfrm>
            <a:off x="790575" y="4281488"/>
            <a:ext cx="6249988" cy="660400"/>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519252" name="Rectangle 84"/>
          <p:cNvSpPr>
            <a:spLocks noChangeArrowheads="1"/>
          </p:cNvSpPr>
          <p:nvPr/>
        </p:nvSpPr>
        <p:spPr bwMode="auto">
          <a:xfrm>
            <a:off x="273050" y="787400"/>
            <a:ext cx="9632950" cy="28575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lnSpc>
                <a:spcPct val="130000"/>
              </a:lnSpc>
            </a:pPr>
            <a:endParaRPr lang="zh-CN" altLang="zh-CN">
              <a:ea typeface="宋体" panose="02010600030101010101" pitchFamily="2" charset="-122"/>
            </a:endParaRPr>
          </a:p>
        </p:txBody>
      </p:sp>
      <p:sp>
        <p:nvSpPr>
          <p:cNvPr id="519255" name="Text Box 87"/>
          <p:cNvSpPr txBox="1">
            <a:spLocks noChangeArrowheads="1"/>
          </p:cNvSpPr>
          <p:nvPr/>
        </p:nvSpPr>
        <p:spPr bwMode="auto">
          <a:xfrm>
            <a:off x="534988" y="1166813"/>
            <a:ext cx="9290050" cy="204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ts val="600"/>
              </a:spcBef>
            </a:pPr>
            <a:r>
              <a:rPr lang="en-US" altLang="zh-CN" sz="2800" b="1">
                <a:solidFill>
                  <a:srgbClr val="0000CC"/>
                </a:solidFill>
                <a:ea typeface="黑体" panose="02010609060101010101" pitchFamily="49" charset="-122"/>
              </a:rPr>
              <a:t>MSS (Maximum Segment Size)</a:t>
            </a:r>
          </a:p>
          <a:p>
            <a:pPr algn="ctr" eaLnBrk="0" hangingPunct="0">
              <a:spcBef>
                <a:spcPts val="600"/>
              </a:spcBef>
            </a:pPr>
            <a:r>
              <a:rPr lang="zh-CN" altLang="en-US" sz="2800" b="1">
                <a:solidFill>
                  <a:srgbClr val="0000CC"/>
                </a:solidFill>
                <a:ea typeface="黑体" panose="02010609060101010101" pitchFamily="49" charset="-122"/>
              </a:rPr>
              <a:t>是 </a:t>
            </a:r>
            <a:r>
              <a:rPr lang="en-US" altLang="zh-CN" sz="2800" b="1">
                <a:solidFill>
                  <a:srgbClr val="0000CC"/>
                </a:solidFill>
                <a:ea typeface="黑体" panose="02010609060101010101" pitchFamily="49" charset="-122"/>
              </a:rPr>
              <a:t>TCP </a:t>
            </a:r>
            <a:r>
              <a:rPr lang="zh-CN" altLang="en-US" sz="2800" b="1">
                <a:solidFill>
                  <a:srgbClr val="0000CC"/>
                </a:solidFill>
                <a:ea typeface="黑体" panose="02010609060101010101" pitchFamily="49" charset="-122"/>
              </a:rPr>
              <a:t>报文段中的</a:t>
            </a:r>
            <a:r>
              <a:rPr lang="zh-CN" altLang="en-US" sz="2800" b="1">
                <a:solidFill>
                  <a:srgbClr val="C00000"/>
                </a:solidFill>
                <a:ea typeface="黑体" panose="02010609060101010101" pitchFamily="49" charset="-122"/>
              </a:rPr>
              <a:t>数据字段</a:t>
            </a:r>
            <a:r>
              <a:rPr lang="zh-CN" altLang="en-US" sz="2800" b="1">
                <a:solidFill>
                  <a:srgbClr val="0000CC"/>
                </a:solidFill>
                <a:ea typeface="黑体" panose="02010609060101010101" pitchFamily="49" charset="-122"/>
              </a:rPr>
              <a:t>的最大长度。</a:t>
            </a:r>
          </a:p>
          <a:p>
            <a:pPr algn="ctr" eaLnBrk="0" hangingPunct="0">
              <a:spcBef>
                <a:spcPts val="600"/>
              </a:spcBef>
            </a:pPr>
            <a:r>
              <a:rPr lang="zh-CN" altLang="en-US" sz="2800" b="1">
                <a:solidFill>
                  <a:srgbClr val="0000CC"/>
                </a:solidFill>
                <a:ea typeface="黑体" panose="02010609060101010101" pitchFamily="49" charset="-122"/>
              </a:rPr>
              <a:t>数据字段加上 </a:t>
            </a:r>
            <a:r>
              <a:rPr lang="en-US" altLang="zh-CN" sz="2800" b="1">
                <a:solidFill>
                  <a:srgbClr val="0000CC"/>
                </a:solidFill>
                <a:ea typeface="黑体" panose="02010609060101010101" pitchFamily="49" charset="-122"/>
              </a:rPr>
              <a:t>TCP </a:t>
            </a:r>
            <a:r>
              <a:rPr lang="zh-CN" altLang="en-US" sz="2800" b="1">
                <a:solidFill>
                  <a:srgbClr val="0000CC"/>
                </a:solidFill>
                <a:ea typeface="黑体" panose="02010609060101010101" pitchFamily="49" charset="-122"/>
              </a:rPr>
              <a:t>首部才等于整个的 </a:t>
            </a:r>
            <a:r>
              <a:rPr lang="en-US" altLang="zh-CN" sz="2800" b="1">
                <a:solidFill>
                  <a:srgbClr val="0000CC"/>
                </a:solidFill>
                <a:ea typeface="黑体" panose="02010609060101010101" pitchFamily="49" charset="-122"/>
              </a:rPr>
              <a:t>TCP </a:t>
            </a:r>
            <a:r>
              <a:rPr lang="zh-CN" altLang="en-US" sz="2800" b="1">
                <a:solidFill>
                  <a:srgbClr val="0000CC"/>
                </a:solidFill>
                <a:ea typeface="黑体" panose="02010609060101010101" pitchFamily="49" charset="-122"/>
              </a:rPr>
              <a:t>报文段。</a:t>
            </a:r>
            <a:endParaRPr lang="en-US" altLang="zh-CN" sz="2800" b="1">
              <a:solidFill>
                <a:srgbClr val="0000CC"/>
              </a:solidFill>
              <a:ea typeface="黑体" panose="02010609060101010101" pitchFamily="49" charset="-122"/>
            </a:endParaRPr>
          </a:p>
          <a:p>
            <a:pPr algn="ctr" eaLnBrk="0" hangingPunct="0">
              <a:spcBef>
                <a:spcPts val="600"/>
              </a:spcBef>
            </a:pPr>
            <a:r>
              <a:rPr lang="zh-CN" altLang="zh-CN" sz="2800" b="1">
                <a:solidFill>
                  <a:srgbClr val="0000CC"/>
                </a:solidFill>
                <a:ea typeface="黑体" panose="02010609060101010101" pitchFamily="49" charset="-122"/>
              </a:rPr>
              <a:t>所以</a:t>
            </a:r>
            <a:r>
              <a:rPr lang="zh-CN" altLang="en-US" sz="2800" b="1">
                <a:solidFill>
                  <a:srgbClr val="0000CC"/>
                </a:solidFill>
                <a:ea typeface="黑体" panose="02010609060101010101" pitchFamily="49" charset="-122"/>
              </a:rPr>
              <a:t>，</a:t>
            </a:r>
            <a:r>
              <a:rPr lang="en-US" altLang="zh-CN" sz="2800" b="1">
                <a:solidFill>
                  <a:srgbClr val="0000CC"/>
                </a:solidFill>
                <a:ea typeface="黑体" panose="02010609060101010101" pitchFamily="49" charset="-122"/>
              </a:rPr>
              <a:t>MSS</a:t>
            </a:r>
            <a:r>
              <a:rPr lang="zh-CN" altLang="zh-CN" sz="2800" b="1">
                <a:solidFill>
                  <a:srgbClr val="0000CC"/>
                </a:solidFill>
                <a:ea typeface="黑体" panose="02010609060101010101" pitchFamily="49" charset="-122"/>
              </a:rPr>
              <a:t>是“</a:t>
            </a:r>
            <a:r>
              <a:rPr lang="en-US" altLang="zh-CN" sz="2800" b="1">
                <a:solidFill>
                  <a:srgbClr val="0000CC"/>
                </a:solidFill>
                <a:ea typeface="黑体" panose="02010609060101010101" pitchFamily="49" charset="-122"/>
              </a:rPr>
              <a:t>TCP </a:t>
            </a:r>
            <a:r>
              <a:rPr lang="zh-CN" altLang="zh-CN" sz="2800" b="1">
                <a:solidFill>
                  <a:srgbClr val="0000CC"/>
                </a:solidFill>
                <a:ea typeface="黑体" panose="02010609060101010101" pitchFamily="49" charset="-122"/>
              </a:rPr>
              <a:t>报文段长度减去</a:t>
            </a:r>
            <a:r>
              <a:rPr lang="en-US" altLang="zh-CN" sz="2800" b="1">
                <a:solidFill>
                  <a:srgbClr val="0000CC"/>
                </a:solidFill>
                <a:ea typeface="黑体" panose="02010609060101010101" pitchFamily="49" charset="-122"/>
              </a:rPr>
              <a:t> TCP </a:t>
            </a:r>
            <a:r>
              <a:rPr lang="zh-CN" altLang="zh-CN" sz="2800" b="1">
                <a:solidFill>
                  <a:srgbClr val="0000CC"/>
                </a:solidFill>
                <a:ea typeface="黑体" panose="02010609060101010101" pitchFamily="49" charset="-122"/>
              </a:rPr>
              <a:t>首部长度”。</a:t>
            </a:r>
            <a:endParaRPr lang="zh-CN" altLang="en-US" sz="2800" b="1">
              <a:solidFill>
                <a:srgbClr val="0000CC"/>
              </a:solidFill>
              <a:ea typeface="黑体" panose="02010609060101010101" pitchFamily="49" charset="-122"/>
            </a:endParaRPr>
          </a:p>
        </p:txBody>
      </p:sp>
      <p:sp>
        <p:nvSpPr>
          <p:cNvPr id="143675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B5F567-671F-4F64-9230-E5075D33349C}" type="slidenum">
              <a:rPr lang="zh-CN" altLang="en-US" smtClean="0"/>
              <a:pPr eaLnBrk="1" hangingPunct="1"/>
              <a:t>38</a:t>
            </a:fld>
            <a:endParaRPr lang="en-US" altLang="zh-CN" smtClean="0"/>
          </a:p>
        </p:txBody>
      </p:sp>
      <p:sp>
        <p:nvSpPr>
          <p:cNvPr id="143675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nodeType="afterGroup">
                            <p:stCondLst>
                              <p:cond delay="1"/>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8721"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为什么要规定</a:t>
            </a:r>
            <a:r>
              <a:rPr lang="en-US" altLang="zh-CN" smtClean="0">
                <a:ea typeface="黑体" panose="02010609060101010101" pitchFamily="49" charset="-122"/>
              </a:rPr>
              <a:t> MSS </a:t>
            </a:r>
            <a:r>
              <a:rPr lang="zh-CN" altLang="en-US" smtClean="0">
                <a:ea typeface="黑体" panose="02010609060101010101" pitchFamily="49" charset="-122"/>
              </a:rPr>
              <a:t>？</a:t>
            </a:r>
          </a:p>
        </p:txBody>
      </p:sp>
      <p:sp>
        <p:nvSpPr>
          <p:cNvPr id="1438722" name="内容占位符 2"/>
          <p:cNvSpPr>
            <a:spLocks noGrp="1" noChangeArrowheads="1"/>
          </p:cNvSpPr>
          <p:nvPr>
            <p:ph idx="1"/>
          </p:nvPr>
        </p:nvSpPr>
        <p:spPr>
          <a:xfrm>
            <a:off x="495300" y="1196975"/>
            <a:ext cx="9066213" cy="4933950"/>
          </a:xfrm>
        </p:spPr>
        <p:txBody>
          <a:bodyPr/>
          <a:lstStyle/>
          <a:p>
            <a:r>
              <a:rPr lang="en-US" altLang="zh-CN" sz="2800" smtClean="0">
                <a:solidFill>
                  <a:srgbClr val="0000FF"/>
                </a:solidFill>
                <a:ea typeface="黑体" panose="02010609060101010101" pitchFamily="49" charset="-122"/>
              </a:rPr>
              <a:t>MSS </a:t>
            </a:r>
            <a:r>
              <a:rPr lang="zh-CN" altLang="zh-CN" sz="2800" smtClean="0">
                <a:solidFill>
                  <a:srgbClr val="0000FF"/>
                </a:solidFill>
                <a:ea typeface="黑体" panose="02010609060101010101" pitchFamily="49" charset="-122"/>
              </a:rPr>
              <a:t>与接收窗口值没有关系。</a:t>
            </a:r>
            <a:endParaRPr lang="en-US" altLang="zh-CN" sz="2800" smtClean="0">
              <a:solidFill>
                <a:srgbClr val="0000FF"/>
              </a:solidFill>
              <a:ea typeface="黑体" panose="02010609060101010101" pitchFamily="49" charset="-122"/>
            </a:endParaRPr>
          </a:p>
          <a:p>
            <a:r>
              <a:rPr lang="zh-CN" altLang="zh-CN" sz="2800" smtClean="0">
                <a:solidFill>
                  <a:srgbClr val="FF0000"/>
                </a:solidFill>
                <a:ea typeface="黑体" panose="02010609060101010101" pitchFamily="49" charset="-122"/>
              </a:rPr>
              <a:t>若选择较小的</a:t>
            </a:r>
            <a:r>
              <a:rPr lang="en-US" altLang="zh-CN" sz="2800" smtClean="0">
                <a:solidFill>
                  <a:srgbClr val="FF0000"/>
                </a:solidFill>
                <a:ea typeface="黑体" panose="02010609060101010101" pitchFamily="49" charset="-122"/>
              </a:rPr>
              <a:t> MSS </a:t>
            </a:r>
            <a:r>
              <a:rPr lang="zh-CN" altLang="zh-CN" sz="2800" smtClean="0">
                <a:solidFill>
                  <a:srgbClr val="FF0000"/>
                </a:solidFill>
                <a:ea typeface="黑体" panose="02010609060101010101" pitchFamily="49" charset="-122"/>
              </a:rPr>
              <a:t>长度，网络的利用率就降低。</a:t>
            </a:r>
            <a:endParaRPr lang="en-US" altLang="zh-CN" sz="2800" smtClean="0">
              <a:solidFill>
                <a:srgbClr val="FF0000"/>
              </a:solidFill>
              <a:ea typeface="黑体" panose="02010609060101010101" pitchFamily="49" charset="-122"/>
            </a:endParaRPr>
          </a:p>
          <a:p>
            <a:r>
              <a:rPr lang="zh-CN" altLang="zh-CN" sz="2800" smtClean="0">
                <a:ea typeface="黑体" panose="02010609060101010101" pitchFamily="49" charset="-122"/>
              </a:rPr>
              <a:t>当</a:t>
            </a:r>
            <a:r>
              <a:rPr lang="en-US" altLang="zh-CN" sz="2800" smtClean="0">
                <a:ea typeface="黑体" panose="02010609060101010101" pitchFamily="49" charset="-122"/>
              </a:rPr>
              <a:t> TCP </a:t>
            </a:r>
            <a:r>
              <a:rPr lang="zh-CN" altLang="zh-CN" sz="2800" smtClean="0">
                <a:ea typeface="黑体" panose="02010609060101010101" pitchFamily="49" charset="-122"/>
              </a:rPr>
              <a:t>报文段</a:t>
            </a:r>
            <a:r>
              <a:rPr lang="zh-CN" altLang="zh-CN" sz="2800" smtClean="0">
                <a:solidFill>
                  <a:srgbClr val="FF0000"/>
                </a:solidFill>
                <a:ea typeface="黑体" panose="02010609060101010101" pitchFamily="49" charset="-122"/>
              </a:rPr>
              <a:t>只含有</a:t>
            </a:r>
            <a:r>
              <a:rPr lang="en-US" altLang="zh-CN" sz="2800" smtClean="0">
                <a:solidFill>
                  <a:srgbClr val="FF0000"/>
                </a:solidFill>
                <a:ea typeface="黑体" panose="02010609060101010101" pitchFamily="49" charset="-122"/>
              </a:rPr>
              <a:t> 1 </a:t>
            </a:r>
            <a:r>
              <a:rPr lang="zh-CN" altLang="zh-CN" sz="2800" smtClean="0">
                <a:solidFill>
                  <a:srgbClr val="FF0000"/>
                </a:solidFill>
                <a:ea typeface="黑体" panose="02010609060101010101" pitchFamily="49" charset="-122"/>
              </a:rPr>
              <a:t>字节的数据时，</a:t>
            </a:r>
            <a:r>
              <a:rPr lang="zh-CN" altLang="zh-CN" sz="2800" smtClean="0">
                <a:ea typeface="黑体" panose="02010609060101010101" pitchFamily="49" charset="-122"/>
              </a:rPr>
              <a:t>在</a:t>
            </a:r>
            <a:r>
              <a:rPr lang="en-US" altLang="zh-CN" sz="2800" smtClean="0">
                <a:ea typeface="黑体" panose="02010609060101010101" pitchFamily="49" charset="-122"/>
              </a:rPr>
              <a:t> IP </a:t>
            </a:r>
            <a:r>
              <a:rPr lang="zh-CN" altLang="zh-CN" sz="2800" smtClean="0">
                <a:ea typeface="黑体" panose="02010609060101010101" pitchFamily="49" charset="-122"/>
              </a:rPr>
              <a:t>层传输的数据报的开销至少有</a:t>
            </a:r>
            <a:r>
              <a:rPr lang="en-US" altLang="zh-CN" sz="2800" smtClean="0">
                <a:ea typeface="黑体" panose="02010609060101010101" pitchFamily="49" charset="-122"/>
              </a:rPr>
              <a:t> 40 </a:t>
            </a:r>
            <a:r>
              <a:rPr lang="zh-CN" altLang="zh-CN" sz="2800" smtClean="0">
                <a:ea typeface="黑体" panose="02010609060101010101" pitchFamily="49" charset="-122"/>
              </a:rPr>
              <a:t>字节</a:t>
            </a:r>
            <a:r>
              <a:rPr lang="en-US" altLang="zh-CN" sz="2800" smtClean="0">
                <a:ea typeface="黑体" panose="02010609060101010101" pitchFamily="49" charset="-122"/>
              </a:rPr>
              <a:t>(</a:t>
            </a:r>
            <a:r>
              <a:rPr lang="zh-CN" altLang="zh-CN" sz="2800" smtClean="0">
                <a:ea typeface="黑体" panose="02010609060101010101" pitchFamily="49" charset="-122"/>
              </a:rPr>
              <a:t>包括</a:t>
            </a:r>
            <a:r>
              <a:rPr lang="en-US" altLang="zh-CN" sz="2800" smtClean="0">
                <a:ea typeface="黑体" panose="02010609060101010101" pitchFamily="49" charset="-122"/>
              </a:rPr>
              <a:t> TCP </a:t>
            </a:r>
            <a:r>
              <a:rPr lang="zh-CN" altLang="zh-CN" sz="2800" smtClean="0">
                <a:ea typeface="黑体" panose="02010609060101010101" pitchFamily="49" charset="-122"/>
              </a:rPr>
              <a:t>报文段的首部和</a:t>
            </a:r>
            <a:r>
              <a:rPr lang="en-US" altLang="zh-CN" sz="2800" smtClean="0">
                <a:ea typeface="黑体" panose="02010609060101010101" pitchFamily="49" charset="-122"/>
              </a:rPr>
              <a:t> IP </a:t>
            </a:r>
            <a:r>
              <a:rPr lang="zh-CN" altLang="zh-CN" sz="2800" smtClean="0">
                <a:ea typeface="黑体" panose="02010609060101010101" pitchFamily="49" charset="-122"/>
              </a:rPr>
              <a:t>数据报的首部</a:t>
            </a:r>
            <a:r>
              <a:rPr lang="en-US" altLang="zh-CN" sz="2800" smtClean="0">
                <a:ea typeface="黑体" panose="02010609060101010101" pitchFamily="49" charset="-122"/>
              </a:rPr>
              <a:t>)</a:t>
            </a:r>
            <a:r>
              <a:rPr lang="zh-CN" altLang="zh-CN" sz="2800" smtClean="0">
                <a:ea typeface="黑体" panose="02010609060101010101" pitchFamily="49" charset="-122"/>
              </a:rPr>
              <a:t>。这样，对网络的利用率就不会超过</a:t>
            </a:r>
            <a:r>
              <a:rPr lang="en-US" altLang="zh-CN" sz="2800" smtClean="0">
                <a:ea typeface="黑体" panose="02010609060101010101" pitchFamily="49" charset="-122"/>
              </a:rPr>
              <a:t> 1/41</a:t>
            </a:r>
            <a:r>
              <a:rPr lang="zh-CN" altLang="zh-CN" sz="2800" smtClean="0">
                <a:ea typeface="黑体" panose="02010609060101010101" pitchFamily="49" charset="-122"/>
              </a:rPr>
              <a:t>。到了数据链路层还要加上一些开销。</a:t>
            </a:r>
            <a:endParaRPr lang="en-US" altLang="zh-CN" sz="2800" smtClean="0">
              <a:ea typeface="黑体" panose="02010609060101010101" pitchFamily="49" charset="-122"/>
            </a:endParaRPr>
          </a:p>
          <a:p>
            <a:r>
              <a:rPr lang="zh-CN" altLang="zh-CN" sz="2800" smtClean="0">
                <a:ea typeface="黑体" panose="02010609060101010101" pitchFamily="49" charset="-122"/>
              </a:rPr>
              <a:t>若</a:t>
            </a:r>
            <a:r>
              <a:rPr lang="en-US" altLang="zh-CN" sz="2800" smtClean="0">
                <a:ea typeface="黑体" panose="02010609060101010101" pitchFamily="49" charset="-122"/>
              </a:rPr>
              <a:t> </a:t>
            </a:r>
            <a:r>
              <a:rPr lang="en-US" altLang="zh-CN" sz="2800" smtClean="0">
                <a:solidFill>
                  <a:srgbClr val="FF0000"/>
                </a:solidFill>
                <a:ea typeface="黑体" panose="02010609060101010101" pitchFamily="49" charset="-122"/>
              </a:rPr>
              <a:t>TCP </a:t>
            </a:r>
            <a:r>
              <a:rPr lang="zh-CN" altLang="zh-CN" sz="2800" smtClean="0">
                <a:solidFill>
                  <a:srgbClr val="FF0000"/>
                </a:solidFill>
                <a:ea typeface="黑体" panose="02010609060101010101" pitchFamily="49" charset="-122"/>
              </a:rPr>
              <a:t>报文段非常长，</a:t>
            </a:r>
            <a:r>
              <a:rPr lang="zh-CN" altLang="zh-CN" sz="2800" smtClean="0">
                <a:ea typeface="黑体" panose="02010609060101010101" pitchFamily="49" charset="-122"/>
              </a:rPr>
              <a:t>那么在</a:t>
            </a:r>
            <a:r>
              <a:rPr lang="en-US" altLang="zh-CN" sz="2800" smtClean="0">
                <a:ea typeface="黑体" panose="02010609060101010101" pitchFamily="49" charset="-122"/>
              </a:rPr>
              <a:t> IP </a:t>
            </a:r>
            <a:r>
              <a:rPr lang="zh-CN" altLang="zh-CN" sz="2800" smtClean="0">
                <a:ea typeface="黑体" panose="02010609060101010101" pitchFamily="49" charset="-122"/>
              </a:rPr>
              <a:t>层传输时就有可能要分解成多个短数据报片。在终点要把收到的各个短数据报片装配成原来的</a:t>
            </a:r>
            <a:r>
              <a:rPr lang="en-US" altLang="zh-CN" sz="2800" smtClean="0">
                <a:ea typeface="黑体" panose="02010609060101010101" pitchFamily="49" charset="-122"/>
              </a:rPr>
              <a:t> TCP </a:t>
            </a:r>
            <a:r>
              <a:rPr lang="zh-CN" altLang="zh-CN" sz="2800" smtClean="0">
                <a:ea typeface="黑体" panose="02010609060101010101" pitchFamily="49" charset="-122"/>
              </a:rPr>
              <a:t>报文段。当传输出错时还要进行重传。这些也都会使开销增大。</a:t>
            </a:r>
            <a:endParaRPr lang="zh-CN" altLang="en-US" sz="2800" smtClean="0">
              <a:ea typeface="黑体" panose="02010609060101010101" pitchFamily="49" charset="-122"/>
            </a:endParaRPr>
          </a:p>
        </p:txBody>
      </p:sp>
      <p:sp>
        <p:nvSpPr>
          <p:cNvPr id="14387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439B9E-6DCA-4376-AC2A-97891591C93E}" type="slidenum">
              <a:rPr lang="zh-CN" altLang="en-US" smtClean="0"/>
              <a:pPr eaLnBrk="1" hangingPunct="1"/>
              <a:t>39</a:t>
            </a:fld>
            <a:endParaRPr lang="en-US" altLang="zh-CN" smtClean="0"/>
          </a:p>
        </p:txBody>
      </p:sp>
      <p:sp>
        <p:nvSpPr>
          <p:cNvPr id="14387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745"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为什么要规定</a:t>
            </a:r>
            <a:r>
              <a:rPr lang="en-US" altLang="zh-CN" smtClean="0">
                <a:ea typeface="黑体" panose="02010609060101010101" pitchFamily="49" charset="-122"/>
              </a:rPr>
              <a:t> MSS </a:t>
            </a:r>
            <a:r>
              <a:rPr lang="zh-CN" altLang="en-US" smtClean="0">
                <a:ea typeface="黑体" panose="02010609060101010101" pitchFamily="49" charset="-122"/>
              </a:rPr>
              <a:t>？</a:t>
            </a:r>
          </a:p>
        </p:txBody>
      </p:sp>
      <p:sp>
        <p:nvSpPr>
          <p:cNvPr id="1439746"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因此，</a:t>
            </a:r>
            <a:r>
              <a:rPr lang="en-US" altLang="zh-CN" dirty="0" smtClean="0">
                <a:solidFill>
                  <a:srgbClr val="0000FF"/>
                </a:solidFill>
                <a:ea typeface="黑体" panose="02010609060101010101" pitchFamily="49" charset="-122"/>
              </a:rPr>
              <a:t>MSS </a:t>
            </a:r>
            <a:r>
              <a:rPr lang="zh-CN" altLang="zh-CN" dirty="0" smtClean="0">
                <a:solidFill>
                  <a:srgbClr val="0000FF"/>
                </a:solidFill>
                <a:ea typeface="黑体" panose="02010609060101010101" pitchFamily="49" charset="-122"/>
              </a:rPr>
              <a:t>应尽可能大些，只要在</a:t>
            </a:r>
            <a:r>
              <a:rPr lang="en-US" altLang="zh-CN" dirty="0" smtClean="0">
                <a:solidFill>
                  <a:srgbClr val="0000FF"/>
                </a:solidFill>
                <a:ea typeface="黑体" panose="02010609060101010101" pitchFamily="49" charset="-122"/>
              </a:rPr>
              <a:t> IP </a:t>
            </a:r>
            <a:r>
              <a:rPr lang="zh-CN" altLang="zh-CN" dirty="0" smtClean="0">
                <a:solidFill>
                  <a:srgbClr val="0000FF"/>
                </a:solidFill>
                <a:ea typeface="黑体" panose="02010609060101010101" pitchFamily="49" charset="-122"/>
              </a:rPr>
              <a:t>层传输时不需要再分片就行</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由于</a:t>
            </a:r>
            <a:r>
              <a:rPr lang="en-US" altLang="zh-CN" dirty="0" smtClean="0">
                <a:ea typeface="黑体" panose="02010609060101010101" pitchFamily="49" charset="-122"/>
              </a:rPr>
              <a:t> IP </a:t>
            </a:r>
            <a:r>
              <a:rPr lang="zh-CN" altLang="zh-CN" dirty="0" smtClean="0">
                <a:ea typeface="黑体" panose="02010609060101010101" pitchFamily="49" charset="-122"/>
              </a:rPr>
              <a:t>数据报所经历的路径是动态变化的，因此在这条路径上确定的不需要分片的</a:t>
            </a:r>
            <a:r>
              <a:rPr lang="en-US" altLang="zh-CN" dirty="0" smtClean="0">
                <a:ea typeface="黑体" panose="02010609060101010101" pitchFamily="49" charset="-122"/>
              </a:rPr>
              <a:t> MSS</a:t>
            </a:r>
            <a:r>
              <a:rPr lang="zh-CN" altLang="zh-CN" dirty="0" smtClean="0">
                <a:ea typeface="黑体" panose="02010609060101010101" pitchFamily="49" charset="-122"/>
              </a:rPr>
              <a:t>，如果改走另一条路径就可能需要进行分片。</a:t>
            </a:r>
            <a:endParaRPr lang="en-US" altLang="zh-CN" dirty="0" smtClean="0">
              <a:ea typeface="黑体" panose="02010609060101010101" pitchFamily="49" charset="-122"/>
            </a:endParaRPr>
          </a:p>
          <a:p>
            <a:r>
              <a:rPr lang="zh-CN" altLang="zh-CN" dirty="0" smtClean="0">
                <a:ea typeface="黑体" panose="02010609060101010101" pitchFamily="49" charset="-122"/>
              </a:rPr>
              <a:t>因此</a:t>
            </a:r>
            <a:r>
              <a:rPr lang="zh-CN" altLang="zh-CN" dirty="0" smtClean="0">
                <a:solidFill>
                  <a:srgbClr val="FF0000"/>
                </a:solidFill>
                <a:ea typeface="黑体" panose="02010609060101010101" pitchFamily="49" charset="-122"/>
              </a:rPr>
              <a:t>最佳的</a:t>
            </a:r>
            <a:r>
              <a:rPr lang="en-US" altLang="zh-CN" dirty="0" smtClean="0">
                <a:solidFill>
                  <a:srgbClr val="FF0000"/>
                </a:solidFill>
                <a:ea typeface="黑体" panose="02010609060101010101" pitchFamily="49" charset="-122"/>
              </a:rPr>
              <a:t> MSS </a:t>
            </a:r>
            <a:r>
              <a:rPr lang="zh-CN" altLang="zh-CN" dirty="0" smtClean="0">
                <a:solidFill>
                  <a:srgbClr val="FF0000"/>
                </a:solidFill>
                <a:ea typeface="黑体" panose="02010609060101010101" pitchFamily="49" charset="-122"/>
              </a:rPr>
              <a:t>是很难确定的。</a:t>
            </a:r>
            <a:endParaRPr lang="zh-CN" altLang="en-US" dirty="0" smtClean="0">
              <a:solidFill>
                <a:srgbClr val="FF0000"/>
              </a:solidFill>
              <a:ea typeface="黑体" panose="02010609060101010101" pitchFamily="49" charset="-122"/>
            </a:endParaRPr>
          </a:p>
        </p:txBody>
      </p:sp>
      <p:sp>
        <p:nvSpPr>
          <p:cNvPr id="14397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B9F4E7-7E69-45B8-868D-66CE9A5FD5C2}" type="slidenum">
              <a:rPr lang="zh-CN" altLang="en-US" smtClean="0"/>
              <a:pPr eaLnBrk="1" hangingPunct="1"/>
              <a:t>40</a:t>
            </a:fld>
            <a:endParaRPr lang="en-US" altLang="zh-CN" smtClean="0"/>
          </a:p>
        </p:txBody>
      </p:sp>
      <p:sp>
        <p:nvSpPr>
          <p:cNvPr id="14397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0769"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其他选项</a:t>
            </a:r>
          </a:p>
        </p:txBody>
      </p:sp>
      <p:sp>
        <p:nvSpPr>
          <p:cNvPr id="1440770" name="Rectangle 3"/>
          <p:cNvSpPr>
            <a:spLocks noGrp="1" noChangeArrowheads="1"/>
          </p:cNvSpPr>
          <p:nvPr>
            <p:ph idx="1"/>
          </p:nvPr>
        </p:nvSpPr>
        <p:spPr>
          <a:xfrm>
            <a:off x="495300" y="1196975"/>
            <a:ext cx="9066213" cy="4933950"/>
          </a:xfrm>
        </p:spPr>
        <p:txBody>
          <a:bodyPr/>
          <a:lstStyle/>
          <a:p>
            <a:r>
              <a:rPr lang="zh-CN" altLang="en-US" dirty="0" smtClean="0">
                <a:solidFill>
                  <a:srgbClr val="0000FF"/>
                </a:solidFill>
                <a:ea typeface="黑体" panose="02010609060101010101" pitchFamily="49" charset="-122"/>
              </a:rPr>
              <a:t>窗口扩大选项 </a:t>
            </a:r>
            <a:r>
              <a:rPr lang="en-US" altLang="zh-CN" dirty="0" smtClean="0">
                <a:ea typeface="黑体" panose="02010609060101010101" pitchFamily="49" charset="-122"/>
              </a:rPr>
              <a:t>——</a:t>
            </a:r>
            <a:r>
              <a:rPr lang="zh-CN" altLang="en-US" dirty="0" smtClean="0">
                <a:ea typeface="黑体" panose="02010609060101010101" pitchFamily="49" charset="-122"/>
              </a:rPr>
              <a:t>占 </a:t>
            </a:r>
            <a:r>
              <a:rPr lang="en-US" altLang="zh-CN" dirty="0" smtClean="0">
                <a:ea typeface="黑体" panose="02010609060101010101" pitchFamily="49" charset="-122"/>
              </a:rPr>
              <a:t>3 </a:t>
            </a:r>
            <a:r>
              <a:rPr lang="zh-CN" altLang="en-US" dirty="0" smtClean="0">
                <a:ea typeface="黑体" panose="02010609060101010101" pitchFamily="49" charset="-122"/>
              </a:rPr>
              <a:t>字节，其中有一个字节表示移位值 </a:t>
            </a:r>
            <a:r>
              <a:rPr lang="en-US" altLang="zh-CN" dirty="0" smtClean="0">
                <a:ea typeface="黑体" panose="02010609060101010101" pitchFamily="49" charset="-122"/>
              </a:rPr>
              <a:t>S</a:t>
            </a:r>
            <a:r>
              <a:rPr lang="zh-CN" altLang="en-US" dirty="0" smtClean="0">
                <a:ea typeface="黑体" panose="02010609060101010101" pitchFamily="49" charset="-122"/>
              </a:rPr>
              <a:t>。新的窗口值等于 </a:t>
            </a:r>
            <a:r>
              <a:rPr lang="en-US" altLang="zh-CN" dirty="0" smtClean="0">
                <a:ea typeface="黑体" panose="02010609060101010101" pitchFamily="49" charset="-122"/>
              </a:rPr>
              <a:t>TCP </a:t>
            </a:r>
            <a:r>
              <a:rPr lang="zh-CN" altLang="en-US" dirty="0" smtClean="0">
                <a:ea typeface="黑体" panose="02010609060101010101" pitchFamily="49" charset="-122"/>
              </a:rPr>
              <a:t>首部中的窗口位数增大到 </a:t>
            </a:r>
            <a:r>
              <a:rPr lang="en-US" altLang="zh-CN" dirty="0" smtClean="0">
                <a:ea typeface="黑体" panose="02010609060101010101" pitchFamily="49" charset="-122"/>
              </a:rPr>
              <a:t>(16 + S)</a:t>
            </a:r>
            <a:r>
              <a:rPr lang="zh-CN" altLang="en-US" dirty="0" smtClean="0">
                <a:ea typeface="黑体" panose="02010609060101010101" pitchFamily="49" charset="-122"/>
              </a:rPr>
              <a:t>，相当于把窗口值向左移动 </a:t>
            </a:r>
            <a:r>
              <a:rPr lang="en-US" altLang="zh-CN" dirty="0" smtClean="0">
                <a:ea typeface="黑体" panose="02010609060101010101" pitchFamily="49" charset="-122"/>
              </a:rPr>
              <a:t>S </a:t>
            </a:r>
            <a:r>
              <a:rPr lang="zh-CN" altLang="en-US" dirty="0" smtClean="0">
                <a:ea typeface="黑体" panose="02010609060101010101" pitchFamily="49" charset="-122"/>
              </a:rPr>
              <a:t>位后获得实际的窗口大小</a:t>
            </a:r>
            <a:r>
              <a:rPr lang="zh-CN" altLang="en-US" dirty="0" smtClean="0">
                <a:ea typeface="黑体" panose="02010609060101010101" pitchFamily="49" charset="-122"/>
              </a:rPr>
              <a:t>。</a:t>
            </a:r>
            <a:r>
              <a:rPr lang="en-US" altLang="zh-CN" dirty="0" smtClean="0">
                <a:ea typeface="黑体" panose="02010609060101010101" pitchFamily="49" charset="-122"/>
              </a:rPr>
              <a:t>—</a:t>
            </a:r>
            <a:r>
              <a:rPr lang="zh-CN" altLang="en-US" dirty="0" smtClean="0">
                <a:ea typeface="黑体" panose="02010609060101010101" pitchFamily="49" charset="-122"/>
              </a:rPr>
              <a:t>协商窗口</a:t>
            </a:r>
            <a:endParaRPr lang="zh-CN" altLang="en-US" dirty="0" smtClean="0">
              <a:ea typeface="黑体" panose="02010609060101010101" pitchFamily="49" charset="-122"/>
            </a:endParaRPr>
          </a:p>
          <a:p>
            <a:r>
              <a:rPr lang="zh-CN" altLang="en-US" dirty="0" smtClean="0">
                <a:solidFill>
                  <a:srgbClr val="0000FF"/>
                </a:solidFill>
                <a:ea typeface="黑体" panose="02010609060101010101" pitchFamily="49" charset="-122"/>
              </a:rPr>
              <a:t>时间戳选项</a:t>
            </a:r>
            <a:r>
              <a:rPr lang="en-US" altLang="zh-CN" dirty="0" smtClean="0">
                <a:ea typeface="黑体" panose="02010609060101010101" pitchFamily="49" charset="-122"/>
              </a:rPr>
              <a:t>——</a:t>
            </a:r>
            <a:r>
              <a:rPr lang="zh-CN" altLang="en-US" dirty="0" smtClean="0">
                <a:ea typeface="黑体" panose="02010609060101010101" pitchFamily="49" charset="-122"/>
              </a:rPr>
              <a:t>占 </a:t>
            </a:r>
            <a:r>
              <a:rPr lang="en-US" altLang="zh-CN" dirty="0" smtClean="0">
                <a:ea typeface="黑体" panose="02010609060101010101" pitchFamily="49" charset="-122"/>
              </a:rPr>
              <a:t>10 </a:t>
            </a:r>
            <a:r>
              <a:rPr lang="zh-CN" altLang="en-US" dirty="0" smtClean="0">
                <a:ea typeface="黑体" panose="02010609060101010101" pitchFamily="49" charset="-122"/>
              </a:rPr>
              <a:t>字节，其中最主要的字段时间戳值字段（</a:t>
            </a:r>
            <a:r>
              <a:rPr lang="en-US" altLang="zh-CN" dirty="0" smtClean="0">
                <a:ea typeface="黑体" panose="02010609060101010101" pitchFamily="49" charset="-122"/>
              </a:rPr>
              <a:t>4 </a:t>
            </a:r>
            <a:r>
              <a:rPr lang="zh-CN" altLang="en-US" dirty="0" smtClean="0">
                <a:ea typeface="黑体" panose="02010609060101010101" pitchFamily="49" charset="-122"/>
              </a:rPr>
              <a:t>字节）和时间戳回送回答字段（</a:t>
            </a:r>
            <a:r>
              <a:rPr lang="en-US" altLang="zh-CN" dirty="0" smtClean="0">
                <a:ea typeface="黑体" panose="02010609060101010101" pitchFamily="49" charset="-122"/>
              </a:rPr>
              <a:t>4 </a:t>
            </a:r>
            <a:r>
              <a:rPr lang="zh-CN" altLang="en-US" dirty="0" smtClean="0">
                <a:ea typeface="黑体" panose="02010609060101010101" pitchFamily="49" charset="-122"/>
              </a:rPr>
              <a:t>字节）</a:t>
            </a:r>
            <a:r>
              <a:rPr lang="zh-CN" altLang="en-US" dirty="0" smtClean="0">
                <a:ea typeface="黑体" panose="02010609060101010101" pitchFamily="49" charset="-122"/>
              </a:rPr>
              <a:t>。</a:t>
            </a:r>
            <a:r>
              <a:rPr lang="en-US" altLang="zh-CN" dirty="0" smtClean="0">
                <a:ea typeface="黑体" panose="02010609060101010101" pitchFamily="49" charset="-122"/>
              </a:rPr>
              <a:t>—</a:t>
            </a:r>
            <a:r>
              <a:rPr lang="zh-CN" altLang="en-US" dirty="0" smtClean="0">
                <a:ea typeface="黑体" panose="02010609060101010101" pitchFamily="49" charset="-122"/>
              </a:rPr>
              <a:t>测试</a:t>
            </a:r>
            <a:r>
              <a:rPr lang="en-US" altLang="zh-CN" dirty="0">
                <a:ea typeface="黑体" panose="02010609060101010101" pitchFamily="49" charset="-122"/>
              </a:rPr>
              <a:t>RTT</a:t>
            </a:r>
            <a:endParaRPr lang="zh-CN" altLang="en-US" dirty="0" smtClean="0">
              <a:ea typeface="黑体" panose="02010609060101010101" pitchFamily="49" charset="-122"/>
            </a:endParaRPr>
          </a:p>
          <a:p>
            <a:r>
              <a:rPr lang="zh-CN" altLang="en-US" dirty="0" smtClean="0">
                <a:solidFill>
                  <a:srgbClr val="0000FF"/>
                </a:solidFill>
                <a:ea typeface="黑体" panose="02010609060101010101" pitchFamily="49" charset="-122"/>
              </a:rPr>
              <a:t>选择确认选项</a:t>
            </a:r>
            <a:r>
              <a:rPr lang="en-US" altLang="zh-CN" dirty="0" smtClean="0">
                <a:ea typeface="黑体" panose="02010609060101010101" pitchFamily="49" charset="-122"/>
              </a:rPr>
              <a:t>——</a:t>
            </a:r>
            <a:r>
              <a:rPr lang="zh-CN" altLang="en-US" dirty="0" smtClean="0">
                <a:ea typeface="黑体" panose="02010609060101010101" pitchFamily="49" charset="-122"/>
              </a:rPr>
              <a:t>在后面的 </a:t>
            </a:r>
            <a:r>
              <a:rPr lang="en-US" altLang="zh-CN" dirty="0" smtClean="0">
                <a:ea typeface="黑体" panose="02010609060101010101" pitchFamily="49" charset="-122"/>
              </a:rPr>
              <a:t>5.6.3 </a:t>
            </a:r>
            <a:r>
              <a:rPr lang="zh-CN" altLang="en-US" dirty="0" smtClean="0">
                <a:ea typeface="黑体" panose="02010609060101010101" pitchFamily="49" charset="-122"/>
              </a:rPr>
              <a:t>节介绍。 </a:t>
            </a:r>
          </a:p>
        </p:txBody>
      </p:sp>
      <p:sp>
        <p:nvSpPr>
          <p:cNvPr id="1440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D94247-F9B7-476C-9D36-2EC46580292C}" type="slidenum">
              <a:rPr lang="zh-CN" altLang="en-US" smtClean="0"/>
              <a:pPr eaLnBrk="1" hangingPunct="1"/>
              <a:t>41</a:t>
            </a:fld>
            <a:endParaRPr lang="en-US" altLang="zh-CN" smtClean="0"/>
          </a:p>
        </p:txBody>
      </p:sp>
      <p:sp>
        <p:nvSpPr>
          <p:cNvPr id="1440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2817" name="Text Box 83"/>
          <p:cNvSpPr txBox="1">
            <a:spLocks noChangeArrowheads="1"/>
          </p:cNvSpPr>
          <p:nvPr/>
        </p:nvSpPr>
        <p:spPr bwMode="auto">
          <a:xfrm>
            <a:off x="631825" y="5056188"/>
            <a:ext cx="88455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p>
            <a:pPr eaLnBrk="0" hangingPunct="0"/>
            <a:r>
              <a:rPr lang="zh-CN" altLang="en-US" sz="2400" b="1" dirty="0">
                <a:solidFill>
                  <a:srgbClr val="FF0000"/>
                </a:solidFill>
                <a:ea typeface="黑体" panose="02010609060101010101" pitchFamily="49" charset="-122"/>
              </a:rPr>
              <a:t>填充字段 </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这是为了使整个首部长度是 </a:t>
            </a:r>
            <a:r>
              <a:rPr lang="en-US" altLang="zh-CN" sz="2400" b="1" dirty="0">
                <a:solidFill>
                  <a:srgbClr val="000099"/>
                </a:solidFill>
                <a:ea typeface="黑体" panose="02010609060101010101" pitchFamily="49" charset="-122"/>
              </a:rPr>
              <a:t>4 </a:t>
            </a:r>
            <a:r>
              <a:rPr lang="zh-CN" altLang="en-US" sz="2400" b="1" dirty="0">
                <a:solidFill>
                  <a:srgbClr val="000099"/>
                </a:solidFill>
                <a:ea typeface="黑体" panose="02010609060101010101" pitchFamily="49" charset="-122"/>
              </a:rPr>
              <a:t>字节的整数倍。 </a:t>
            </a:r>
          </a:p>
        </p:txBody>
      </p:sp>
      <p:grpSp>
        <p:nvGrpSpPr>
          <p:cNvPr id="1442818" name="组合 83"/>
          <p:cNvGrpSpPr>
            <a:grpSpLocks/>
          </p:cNvGrpSpPr>
          <p:nvPr/>
        </p:nvGrpSpPr>
        <p:grpSpPr bwMode="auto">
          <a:xfrm>
            <a:off x="214313" y="77788"/>
            <a:ext cx="9853612" cy="4873625"/>
            <a:chOff x="214869" y="78539"/>
            <a:chExt cx="9852335" cy="4873626"/>
          </a:xfrm>
        </p:grpSpPr>
        <p:sp>
          <p:nvSpPr>
            <p:cNvPr id="1442819" name="Line 3"/>
            <p:cNvSpPr>
              <a:spLocks noChangeShapeType="1"/>
            </p:cNvSpPr>
            <p:nvPr/>
          </p:nvSpPr>
          <p:spPr bwMode="auto">
            <a:xfrm flipH="1">
              <a:off x="507233" y="815141"/>
              <a:ext cx="18917" cy="4122737"/>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0" name="Rectangle 4"/>
            <p:cNvSpPr>
              <a:spLocks noChangeArrowheads="1"/>
            </p:cNvSpPr>
            <p:nvPr/>
          </p:nvSpPr>
          <p:spPr bwMode="auto">
            <a:xfrm>
              <a:off x="277167" y="2060848"/>
              <a:ext cx="515142" cy="17167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90488" tIns="44450" rIns="90488" bIns="44450" anchor="ctr">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400" b="1">
                  <a:solidFill>
                    <a:srgbClr val="000099"/>
                  </a:solidFill>
                  <a:ea typeface="黑体" panose="02010609060101010101" pitchFamily="49" charset="-122"/>
                </a:rPr>
                <a:t>TCP</a:t>
              </a:r>
              <a:r>
                <a:rPr lang="zh-CN" altLang="en-US" sz="2400" b="1">
                  <a:solidFill>
                    <a:srgbClr val="000099"/>
                  </a:solidFill>
                  <a:ea typeface="黑体" panose="02010609060101010101" pitchFamily="49" charset="-122"/>
                </a:rPr>
                <a:t>首部</a:t>
              </a:r>
            </a:p>
          </p:txBody>
        </p:sp>
        <p:sp>
          <p:nvSpPr>
            <p:cNvPr id="1442821" name="Line 5"/>
            <p:cNvSpPr>
              <a:spLocks noChangeShapeType="1"/>
            </p:cNvSpPr>
            <p:nvPr/>
          </p:nvSpPr>
          <p:spPr bwMode="auto">
            <a:xfrm>
              <a:off x="9494513" y="805616"/>
              <a:ext cx="0" cy="3463925"/>
            </a:xfrm>
            <a:prstGeom prst="line">
              <a:avLst/>
            </a:prstGeom>
            <a:noFill/>
            <a:ln w="28575">
              <a:solidFill>
                <a:srgbClr val="000099"/>
              </a:solidFill>
              <a:round/>
              <a:headEnd type="triangle" w="med" len="lg"/>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2" name="Rectangle 6"/>
            <p:cNvSpPr>
              <a:spLocks noChangeArrowheads="1"/>
            </p:cNvSpPr>
            <p:nvPr/>
          </p:nvSpPr>
          <p:spPr bwMode="auto">
            <a:xfrm>
              <a:off x="9129464" y="1883527"/>
              <a:ext cx="695704" cy="11977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20</a:t>
              </a:r>
            </a:p>
            <a:p>
              <a:pPr algn="ctr">
                <a:lnSpc>
                  <a:spcPct val="90000"/>
                </a:lnSpc>
              </a:pPr>
              <a:r>
                <a:rPr lang="zh-CN" altLang="en-US" sz="2000" b="1">
                  <a:solidFill>
                    <a:srgbClr val="000099"/>
                  </a:solidFill>
                  <a:ea typeface="黑体" panose="02010609060101010101" pitchFamily="49" charset="-122"/>
                </a:rPr>
                <a:t>字节</a:t>
              </a:r>
            </a:p>
            <a:p>
              <a:pPr algn="ctr">
                <a:lnSpc>
                  <a:spcPct val="90000"/>
                </a:lnSpc>
              </a:pPr>
              <a:r>
                <a:rPr lang="zh-CN" altLang="en-US" sz="2000" b="1">
                  <a:solidFill>
                    <a:srgbClr val="000099"/>
                  </a:solidFill>
                  <a:ea typeface="黑体" panose="02010609060101010101" pitchFamily="49" charset="-122"/>
                </a:rPr>
                <a:t>固定</a:t>
              </a:r>
            </a:p>
            <a:p>
              <a:pPr algn="ctr">
                <a:lnSpc>
                  <a:spcPct val="90000"/>
                </a:lnSpc>
              </a:pPr>
              <a:r>
                <a:rPr lang="zh-CN" altLang="en-US" sz="2000" b="1">
                  <a:solidFill>
                    <a:srgbClr val="000099"/>
                  </a:solidFill>
                  <a:ea typeface="黑体" panose="02010609060101010101" pitchFamily="49" charset="-122"/>
                </a:rPr>
                <a:t>首部</a:t>
              </a:r>
            </a:p>
          </p:txBody>
        </p:sp>
        <p:sp>
          <p:nvSpPr>
            <p:cNvPr id="1442823" name="Rectangle 7"/>
            <p:cNvSpPr>
              <a:spLocks noChangeArrowheads="1"/>
            </p:cNvSpPr>
            <p:nvPr/>
          </p:nvSpPr>
          <p:spPr bwMode="auto">
            <a:xfrm>
              <a:off x="795668" y="811965"/>
              <a:ext cx="8327231" cy="4133850"/>
            </a:xfrm>
            <a:prstGeom prst="rect">
              <a:avLst/>
            </a:prstGeom>
            <a:solidFill>
              <a:srgbClr val="FFFFCC"/>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4" name="Line 10"/>
            <p:cNvSpPr>
              <a:spLocks noChangeShapeType="1"/>
            </p:cNvSpPr>
            <p:nvPr/>
          </p:nvSpPr>
          <p:spPr bwMode="auto">
            <a:xfrm>
              <a:off x="787069" y="1515227"/>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5" name="Line 11"/>
            <p:cNvSpPr>
              <a:spLocks noChangeShapeType="1"/>
            </p:cNvSpPr>
            <p:nvPr/>
          </p:nvSpPr>
          <p:spPr bwMode="auto">
            <a:xfrm>
              <a:off x="802546" y="2210552"/>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6" name="Line 12"/>
            <p:cNvSpPr>
              <a:spLocks noChangeShapeType="1"/>
            </p:cNvSpPr>
            <p:nvPr/>
          </p:nvSpPr>
          <p:spPr bwMode="auto">
            <a:xfrm>
              <a:off x="787069" y="290429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7" name="Line 13"/>
            <p:cNvSpPr>
              <a:spLocks noChangeShapeType="1"/>
            </p:cNvSpPr>
            <p:nvPr/>
          </p:nvSpPr>
          <p:spPr bwMode="auto">
            <a:xfrm>
              <a:off x="787069" y="3596440"/>
              <a:ext cx="83409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8" name="Line 14"/>
            <p:cNvSpPr>
              <a:spLocks noChangeShapeType="1"/>
            </p:cNvSpPr>
            <p:nvPr/>
          </p:nvSpPr>
          <p:spPr bwMode="auto">
            <a:xfrm>
              <a:off x="802546" y="4291765"/>
              <a:ext cx="832551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29" name="Line 15"/>
            <p:cNvSpPr>
              <a:spLocks noChangeShapeType="1"/>
            </p:cNvSpPr>
            <p:nvPr/>
          </p:nvSpPr>
          <p:spPr bwMode="auto">
            <a:xfrm>
              <a:off x="4961003" y="819903"/>
              <a:ext cx="0" cy="7096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30" name="Rectangle 16"/>
            <p:cNvSpPr>
              <a:spLocks noChangeArrowheads="1"/>
            </p:cNvSpPr>
            <p:nvPr/>
          </p:nvSpPr>
          <p:spPr bwMode="auto">
            <a:xfrm>
              <a:off x="6261166" y="946902"/>
              <a:ext cx="163827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  的  端  口</a:t>
              </a:r>
            </a:p>
          </p:txBody>
        </p:sp>
        <p:sp>
          <p:nvSpPr>
            <p:cNvPr id="1442831" name="Rectangle 17"/>
            <p:cNvSpPr>
              <a:spLocks noChangeArrowheads="1"/>
            </p:cNvSpPr>
            <p:nvPr/>
          </p:nvSpPr>
          <p:spPr bwMode="auto">
            <a:xfrm>
              <a:off x="962488" y="2869365"/>
              <a:ext cx="695704" cy="705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数据</a:t>
              </a:r>
            </a:p>
            <a:p>
              <a:r>
                <a:rPr lang="zh-CN" altLang="en-US" sz="2000" b="1">
                  <a:solidFill>
                    <a:srgbClr val="000099"/>
                  </a:solidFill>
                  <a:ea typeface="黑体" panose="02010609060101010101" pitchFamily="49" charset="-122"/>
                </a:rPr>
                <a:t>偏移</a:t>
              </a:r>
            </a:p>
          </p:txBody>
        </p:sp>
        <p:sp>
          <p:nvSpPr>
            <p:cNvPr id="1442832" name="Rectangle 18"/>
            <p:cNvSpPr>
              <a:spLocks noChangeArrowheads="1"/>
            </p:cNvSpPr>
            <p:nvPr/>
          </p:nvSpPr>
          <p:spPr bwMode="auto">
            <a:xfrm>
              <a:off x="2131946" y="3734552"/>
              <a:ext cx="138018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检   验   和</a:t>
              </a:r>
            </a:p>
          </p:txBody>
        </p:sp>
        <p:sp>
          <p:nvSpPr>
            <p:cNvPr id="1442833" name="Rectangle 19"/>
            <p:cNvSpPr>
              <a:spLocks noChangeArrowheads="1"/>
            </p:cNvSpPr>
            <p:nvPr/>
          </p:nvSpPr>
          <p:spPr bwMode="auto">
            <a:xfrm>
              <a:off x="2350359" y="4375902"/>
              <a:ext cx="34653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选    项    （长  度  可  变）</a:t>
              </a:r>
            </a:p>
          </p:txBody>
        </p:sp>
        <p:sp>
          <p:nvSpPr>
            <p:cNvPr id="1442834" name="Rectangle 20"/>
            <p:cNvSpPr>
              <a:spLocks noChangeArrowheads="1"/>
            </p:cNvSpPr>
            <p:nvPr/>
          </p:nvSpPr>
          <p:spPr bwMode="auto">
            <a:xfrm>
              <a:off x="2255771" y="946902"/>
              <a:ext cx="1239123"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  端  口</a:t>
              </a:r>
            </a:p>
          </p:txBody>
        </p:sp>
        <p:sp>
          <p:nvSpPr>
            <p:cNvPr id="1442835" name="Rectangle 21"/>
            <p:cNvSpPr>
              <a:spLocks noChangeArrowheads="1"/>
            </p:cNvSpPr>
            <p:nvPr/>
          </p:nvSpPr>
          <p:spPr bwMode="auto">
            <a:xfrm>
              <a:off x="4479461" y="1634290"/>
              <a:ext cx="1496219"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序   号</a:t>
              </a:r>
            </a:p>
          </p:txBody>
        </p:sp>
        <p:sp>
          <p:nvSpPr>
            <p:cNvPr id="1442836" name="Line 22"/>
            <p:cNvSpPr>
              <a:spLocks noChangeShapeType="1"/>
            </p:cNvSpPr>
            <p:nvPr/>
          </p:nvSpPr>
          <p:spPr bwMode="auto">
            <a:xfrm>
              <a:off x="4967882" y="2913815"/>
              <a:ext cx="0" cy="13700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37" name="Rectangle 23"/>
            <p:cNvSpPr>
              <a:spLocks noChangeArrowheads="1"/>
            </p:cNvSpPr>
            <p:nvPr/>
          </p:nvSpPr>
          <p:spPr bwMode="auto">
            <a:xfrm>
              <a:off x="6087467" y="3734552"/>
              <a:ext cx="1849866"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紧   急   指   针</a:t>
              </a:r>
            </a:p>
          </p:txBody>
        </p:sp>
        <p:sp>
          <p:nvSpPr>
            <p:cNvPr id="1442838" name="Rectangle 24"/>
            <p:cNvSpPr>
              <a:spLocks noChangeArrowheads="1"/>
            </p:cNvSpPr>
            <p:nvPr/>
          </p:nvSpPr>
          <p:spPr bwMode="auto">
            <a:xfrm>
              <a:off x="6574168" y="3015415"/>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窗   口</a:t>
              </a:r>
            </a:p>
          </p:txBody>
        </p:sp>
        <p:sp>
          <p:nvSpPr>
            <p:cNvPr id="1442839" name="Rectangle 25"/>
            <p:cNvSpPr>
              <a:spLocks noChangeArrowheads="1"/>
            </p:cNvSpPr>
            <p:nvPr/>
          </p:nvSpPr>
          <p:spPr bwMode="auto">
            <a:xfrm>
              <a:off x="4214613" y="2358190"/>
              <a:ext cx="1994958"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确    认    号</a:t>
              </a:r>
            </a:p>
          </p:txBody>
        </p:sp>
        <p:sp>
          <p:nvSpPr>
            <p:cNvPr id="1442840" name="Line 26"/>
            <p:cNvSpPr>
              <a:spLocks noChangeShapeType="1"/>
            </p:cNvSpPr>
            <p:nvPr/>
          </p:nvSpPr>
          <p:spPr bwMode="auto">
            <a:xfrm>
              <a:off x="1832702"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1" name="Line 27"/>
            <p:cNvSpPr>
              <a:spLocks noChangeShapeType="1"/>
            </p:cNvSpPr>
            <p:nvPr/>
          </p:nvSpPr>
          <p:spPr bwMode="auto">
            <a:xfrm>
              <a:off x="3920529" y="2905878"/>
              <a:ext cx="0" cy="6842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2" name="Line 28"/>
            <p:cNvSpPr>
              <a:spLocks noChangeShapeType="1"/>
            </p:cNvSpPr>
            <p:nvPr/>
          </p:nvSpPr>
          <p:spPr bwMode="auto">
            <a:xfrm>
              <a:off x="3385673" y="2913815"/>
              <a:ext cx="0" cy="692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3" name="Line 29"/>
            <p:cNvSpPr>
              <a:spLocks noChangeShapeType="1"/>
            </p:cNvSpPr>
            <p:nvPr/>
          </p:nvSpPr>
          <p:spPr bwMode="auto">
            <a:xfrm>
              <a:off x="3650521"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4" name="Line 30"/>
            <p:cNvSpPr>
              <a:spLocks noChangeShapeType="1"/>
            </p:cNvSpPr>
            <p:nvPr/>
          </p:nvSpPr>
          <p:spPr bwMode="auto">
            <a:xfrm>
              <a:off x="4441626"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5" name="Line 31"/>
            <p:cNvSpPr>
              <a:spLocks noChangeShapeType="1"/>
            </p:cNvSpPr>
            <p:nvPr/>
          </p:nvSpPr>
          <p:spPr bwMode="auto">
            <a:xfrm>
              <a:off x="4180217"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6" name="Line 32"/>
            <p:cNvSpPr>
              <a:spLocks noChangeShapeType="1"/>
            </p:cNvSpPr>
            <p:nvPr/>
          </p:nvSpPr>
          <p:spPr bwMode="auto">
            <a:xfrm>
              <a:off x="4706473" y="2913816"/>
              <a:ext cx="0" cy="6810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47" name="Rectangle 33"/>
            <p:cNvSpPr>
              <a:spLocks noChangeArrowheads="1"/>
            </p:cNvSpPr>
            <p:nvPr/>
          </p:nvSpPr>
          <p:spPr bwMode="auto">
            <a:xfrm>
              <a:off x="2157743" y="3029702"/>
              <a:ext cx="910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a:t>
              </a:r>
            </a:p>
          </p:txBody>
        </p:sp>
        <p:sp>
          <p:nvSpPr>
            <p:cNvPr id="1442848" name="Rectangle 34"/>
            <p:cNvSpPr>
              <a:spLocks noChangeArrowheads="1"/>
            </p:cNvSpPr>
            <p:nvPr/>
          </p:nvSpPr>
          <p:spPr bwMode="auto">
            <a:xfrm>
              <a:off x="4689265" y="2932865"/>
              <a:ext cx="3302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75000"/>
                </a:lnSpc>
              </a:pPr>
              <a:r>
                <a:rPr lang="en-US" altLang="zh-CN" sz="1600" b="1">
                  <a:solidFill>
                    <a:srgbClr val="000099"/>
                  </a:solidFill>
                  <a:ea typeface="黑体" panose="02010609060101010101" pitchFamily="49" charset="-122"/>
                </a:rPr>
                <a:t>F</a:t>
              </a:r>
            </a:p>
            <a:p>
              <a:pPr algn="ctr">
                <a:lnSpc>
                  <a:spcPct val="75000"/>
                </a:lnSpc>
              </a:pPr>
              <a:r>
                <a:rPr lang="en-US" altLang="zh-CN" sz="1600" b="1">
                  <a:solidFill>
                    <a:srgbClr val="000099"/>
                  </a:solidFill>
                  <a:ea typeface="黑体" panose="02010609060101010101" pitchFamily="49" charset="-122"/>
                </a:rPr>
                <a:t>I</a:t>
              </a:r>
            </a:p>
            <a:p>
              <a:pPr algn="ctr">
                <a:lnSpc>
                  <a:spcPct val="75000"/>
                </a:lnSpc>
              </a:pPr>
              <a:r>
                <a:rPr lang="en-US" altLang="zh-CN" sz="1600" b="1">
                  <a:solidFill>
                    <a:srgbClr val="000099"/>
                  </a:solidFill>
                  <a:ea typeface="黑体" panose="02010609060101010101" pitchFamily="49" charset="-122"/>
                </a:rPr>
                <a:t>N</a:t>
              </a:r>
            </a:p>
          </p:txBody>
        </p:sp>
        <p:sp>
          <p:nvSpPr>
            <p:cNvPr id="1442849" name="Line 37"/>
            <p:cNvSpPr>
              <a:spLocks noChangeShapeType="1"/>
            </p:cNvSpPr>
            <p:nvPr/>
          </p:nvSpPr>
          <p:spPr bwMode="auto">
            <a:xfrm>
              <a:off x="792228" y="654802"/>
              <a:ext cx="831519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0" name="Line 38"/>
            <p:cNvSpPr>
              <a:spLocks noChangeShapeType="1"/>
            </p:cNvSpPr>
            <p:nvPr/>
          </p:nvSpPr>
          <p:spPr bwMode="auto">
            <a:xfrm>
              <a:off x="792228"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1" name="Line 39"/>
            <p:cNvSpPr>
              <a:spLocks noChangeShapeType="1"/>
            </p:cNvSpPr>
            <p:nvPr/>
          </p:nvSpPr>
          <p:spPr bwMode="auto">
            <a:xfrm>
              <a:off x="105191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2" name="Line 40"/>
            <p:cNvSpPr>
              <a:spLocks noChangeShapeType="1"/>
            </p:cNvSpPr>
            <p:nvPr/>
          </p:nvSpPr>
          <p:spPr bwMode="auto">
            <a:xfrm>
              <a:off x="131160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3" name="Line 41"/>
            <p:cNvSpPr>
              <a:spLocks noChangeShapeType="1"/>
            </p:cNvSpPr>
            <p:nvPr/>
          </p:nvSpPr>
          <p:spPr bwMode="auto">
            <a:xfrm>
              <a:off x="157129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4" name="Line 42"/>
            <p:cNvSpPr>
              <a:spLocks noChangeShapeType="1"/>
            </p:cNvSpPr>
            <p:nvPr/>
          </p:nvSpPr>
          <p:spPr bwMode="auto">
            <a:xfrm>
              <a:off x="183270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5" name="Line 43"/>
            <p:cNvSpPr>
              <a:spLocks noChangeShapeType="1"/>
            </p:cNvSpPr>
            <p:nvPr/>
          </p:nvSpPr>
          <p:spPr bwMode="auto">
            <a:xfrm>
              <a:off x="20923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6" name="Line 44"/>
            <p:cNvSpPr>
              <a:spLocks noChangeShapeType="1"/>
            </p:cNvSpPr>
            <p:nvPr/>
          </p:nvSpPr>
          <p:spPr bwMode="auto">
            <a:xfrm>
              <a:off x="235035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7" name="Line 45"/>
            <p:cNvSpPr>
              <a:spLocks noChangeShapeType="1"/>
            </p:cNvSpPr>
            <p:nvPr/>
          </p:nvSpPr>
          <p:spPr bwMode="auto">
            <a:xfrm>
              <a:off x="261004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8" name="Line 46"/>
            <p:cNvSpPr>
              <a:spLocks noChangeShapeType="1"/>
            </p:cNvSpPr>
            <p:nvPr/>
          </p:nvSpPr>
          <p:spPr bwMode="auto">
            <a:xfrm>
              <a:off x="2871456"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59" name="Line 47"/>
            <p:cNvSpPr>
              <a:spLocks noChangeShapeType="1"/>
            </p:cNvSpPr>
            <p:nvPr/>
          </p:nvSpPr>
          <p:spPr bwMode="auto">
            <a:xfrm>
              <a:off x="31311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0" name="Line 48"/>
            <p:cNvSpPr>
              <a:spLocks noChangeShapeType="1"/>
            </p:cNvSpPr>
            <p:nvPr/>
          </p:nvSpPr>
          <p:spPr bwMode="auto">
            <a:xfrm>
              <a:off x="339083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1" name="Line 49"/>
            <p:cNvSpPr>
              <a:spLocks noChangeShapeType="1"/>
            </p:cNvSpPr>
            <p:nvPr/>
          </p:nvSpPr>
          <p:spPr bwMode="auto">
            <a:xfrm>
              <a:off x="365052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2" name="Line 50"/>
            <p:cNvSpPr>
              <a:spLocks noChangeShapeType="1"/>
            </p:cNvSpPr>
            <p:nvPr/>
          </p:nvSpPr>
          <p:spPr bwMode="auto">
            <a:xfrm>
              <a:off x="391193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3" name="Line 51"/>
            <p:cNvSpPr>
              <a:spLocks noChangeShapeType="1"/>
            </p:cNvSpPr>
            <p:nvPr/>
          </p:nvSpPr>
          <p:spPr bwMode="auto">
            <a:xfrm>
              <a:off x="4171619"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4" name="Line 52"/>
            <p:cNvSpPr>
              <a:spLocks noChangeShapeType="1"/>
            </p:cNvSpPr>
            <p:nvPr/>
          </p:nvSpPr>
          <p:spPr bwMode="auto">
            <a:xfrm>
              <a:off x="442958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5" name="Line 53"/>
            <p:cNvSpPr>
              <a:spLocks noChangeShapeType="1"/>
            </p:cNvSpPr>
            <p:nvPr/>
          </p:nvSpPr>
          <p:spPr bwMode="auto">
            <a:xfrm>
              <a:off x="468927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6" name="Line 54"/>
            <p:cNvSpPr>
              <a:spLocks noChangeShapeType="1"/>
            </p:cNvSpPr>
            <p:nvPr/>
          </p:nvSpPr>
          <p:spPr bwMode="auto">
            <a:xfrm>
              <a:off x="4948965"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7" name="Line 55"/>
            <p:cNvSpPr>
              <a:spLocks noChangeShapeType="1"/>
            </p:cNvSpPr>
            <p:nvPr/>
          </p:nvSpPr>
          <p:spPr bwMode="auto">
            <a:xfrm>
              <a:off x="5210373"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8" name="Line 56"/>
            <p:cNvSpPr>
              <a:spLocks noChangeShapeType="1"/>
            </p:cNvSpPr>
            <p:nvPr/>
          </p:nvSpPr>
          <p:spPr bwMode="auto">
            <a:xfrm>
              <a:off x="547006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69" name="Line 57"/>
            <p:cNvSpPr>
              <a:spLocks noChangeShapeType="1"/>
            </p:cNvSpPr>
            <p:nvPr/>
          </p:nvSpPr>
          <p:spPr bwMode="auto">
            <a:xfrm>
              <a:off x="572975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0" name="Line 58"/>
            <p:cNvSpPr>
              <a:spLocks noChangeShapeType="1"/>
            </p:cNvSpPr>
            <p:nvPr/>
          </p:nvSpPr>
          <p:spPr bwMode="auto">
            <a:xfrm>
              <a:off x="598943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1" name="Line 59"/>
            <p:cNvSpPr>
              <a:spLocks noChangeShapeType="1"/>
            </p:cNvSpPr>
            <p:nvPr/>
          </p:nvSpPr>
          <p:spPr bwMode="auto">
            <a:xfrm>
              <a:off x="6250846"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2" name="Line 60"/>
            <p:cNvSpPr>
              <a:spLocks noChangeShapeType="1"/>
            </p:cNvSpPr>
            <p:nvPr/>
          </p:nvSpPr>
          <p:spPr bwMode="auto">
            <a:xfrm>
              <a:off x="650881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3" name="Line 61"/>
            <p:cNvSpPr>
              <a:spLocks noChangeShapeType="1"/>
            </p:cNvSpPr>
            <p:nvPr/>
          </p:nvSpPr>
          <p:spPr bwMode="auto">
            <a:xfrm>
              <a:off x="676850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4" name="Line 62"/>
            <p:cNvSpPr>
              <a:spLocks noChangeShapeType="1"/>
            </p:cNvSpPr>
            <p:nvPr/>
          </p:nvSpPr>
          <p:spPr bwMode="auto">
            <a:xfrm>
              <a:off x="7028192"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5" name="Line 63"/>
            <p:cNvSpPr>
              <a:spLocks noChangeShapeType="1"/>
            </p:cNvSpPr>
            <p:nvPr/>
          </p:nvSpPr>
          <p:spPr bwMode="auto">
            <a:xfrm>
              <a:off x="7287881"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6" name="Line 64"/>
            <p:cNvSpPr>
              <a:spLocks noChangeShapeType="1"/>
            </p:cNvSpPr>
            <p:nvPr/>
          </p:nvSpPr>
          <p:spPr bwMode="auto">
            <a:xfrm>
              <a:off x="7549290"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7" name="Line 65"/>
            <p:cNvSpPr>
              <a:spLocks noChangeShapeType="1"/>
            </p:cNvSpPr>
            <p:nvPr/>
          </p:nvSpPr>
          <p:spPr bwMode="auto">
            <a:xfrm>
              <a:off x="7808978"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8" name="Line 66"/>
            <p:cNvSpPr>
              <a:spLocks noChangeShapeType="1"/>
            </p:cNvSpPr>
            <p:nvPr/>
          </p:nvSpPr>
          <p:spPr bwMode="auto">
            <a:xfrm>
              <a:off x="8068667"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79" name="Line 67"/>
            <p:cNvSpPr>
              <a:spLocks noChangeShapeType="1"/>
            </p:cNvSpPr>
            <p:nvPr/>
          </p:nvSpPr>
          <p:spPr bwMode="auto">
            <a:xfrm>
              <a:off x="8328355"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0" name="Line 68"/>
            <p:cNvSpPr>
              <a:spLocks noChangeShapeType="1"/>
            </p:cNvSpPr>
            <p:nvPr/>
          </p:nvSpPr>
          <p:spPr bwMode="auto">
            <a:xfrm>
              <a:off x="8588044"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1" name="Line 69"/>
            <p:cNvSpPr>
              <a:spLocks noChangeShapeType="1"/>
            </p:cNvSpPr>
            <p:nvPr/>
          </p:nvSpPr>
          <p:spPr bwMode="auto">
            <a:xfrm>
              <a:off x="8847732" y="356352"/>
              <a:ext cx="0" cy="298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2" name="Line 70"/>
            <p:cNvSpPr>
              <a:spLocks noChangeShapeType="1"/>
            </p:cNvSpPr>
            <p:nvPr/>
          </p:nvSpPr>
          <p:spPr bwMode="auto">
            <a:xfrm>
              <a:off x="9107421" y="456365"/>
              <a:ext cx="0" cy="1984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3" name="Rectangle 71"/>
            <p:cNvSpPr>
              <a:spLocks noChangeArrowheads="1"/>
            </p:cNvSpPr>
            <p:nvPr/>
          </p:nvSpPr>
          <p:spPr bwMode="auto">
            <a:xfrm>
              <a:off x="964207"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4" name="Rectangle 72"/>
            <p:cNvSpPr>
              <a:spLocks noChangeArrowheads="1"/>
            </p:cNvSpPr>
            <p:nvPr/>
          </p:nvSpPr>
          <p:spPr bwMode="auto">
            <a:xfrm>
              <a:off x="3043435"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5" name="Rectangle 73"/>
            <p:cNvSpPr>
              <a:spLocks noChangeArrowheads="1"/>
            </p:cNvSpPr>
            <p:nvPr/>
          </p:nvSpPr>
          <p:spPr bwMode="auto">
            <a:xfrm>
              <a:off x="5122663"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6" name="Rectangle 74"/>
            <p:cNvSpPr>
              <a:spLocks noChangeArrowheads="1"/>
            </p:cNvSpPr>
            <p:nvPr/>
          </p:nvSpPr>
          <p:spPr bwMode="auto">
            <a:xfrm>
              <a:off x="7201892" y="256341"/>
              <a:ext cx="1733550" cy="300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2887" name="Rectangle 75"/>
            <p:cNvSpPr>
              <a:spLocks noChangeArrowheads="1"/>
            </p:cNvSpPr>
            <p:nvPr/>
          </p:nvSpPr>
          <p:spPr bwMode="auto">
            <a:xfrm>
              <a:off x="4429588"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Y</a:t>
              </a:r>
            </a:p>
            <a:p>
              <a:pPr>
                <a:lnSpc>
                  <a:spcPct val="75000"/>
                </a:lnSpc>
              </a:pPr>
              <a:r>
                <a:rPr lang="en-US" altLang="zh-CN" sz="1600" b="1">
                  <a:solidFill>
                    <a:srgbClr val="000099"/>
                  </a:solidFill>
                  <a:ea typeface="黑体" panose="02010609060101010101" pitchFamily="49" charset="-122"/>
                </a:rPr>
                <a:t>N</a:t>
              </a:r>
            </a:p>
          </p:txBody>
        </p:sp>
        <p:sp>
          <p:nvSpPr>
            <p:cNvPr id="1442888" name="Rectangle 76"/>
            <p:cNvSpPr>
              <a:spLocks noChangeArrowheads="1"/>
            </p:cNvSpPr>
            <p:nvPr/>
          </p:nvSpPr>
          <p:spPr bwMode="auto">
            <a:xfrm>
              <a:off x="4171619"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T</a:t>
              </a:r>
            </a:p>
          </p:txBody>
        </p:sp>
        <p:sp>
          <p:nvSpPr>
            <p:cNvPr id="1442889" name="Rectangle 77"/>
            <p:cNvSpPr>
              <a:spLocks noChangeArrowheads="1"/>
            </p:cNvSpPr>
            <p:nvPr/>
          </p:nvSpPr>
          <p:spPr bwMode="auto">
            <a:xfrm>
              <a:off x="3893013"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P</a:t>
              </a:r>
            </a:p>
            <a:p>
              <a:pPr>
                <a:lnSpc>
                  <a:spcPct val="75000"/>
                </a:lnSpc>
              </a:pPr>
              <a:r>
                <a:rPr lang="en-US" altLang="zh-CN" sz="1600" b="1">
                  <a:solidFill>
                    <a:srgbClr val="000099"/>
                  </a:solidFill>
                  <a:ea typeface="黑体" panose="02010609060101010101" pitchFamily="49" charset="-122"/>
                </a:rPr>
                <a:t>S</a:t>
              </a:r>
            </a:p>
            <a:p>
              <a:pPr>
                <a:lnSpc>
                  <a:spcPct val="75000"/>
                </a:lnSpc>
              </a:pPr>
              <a:r>
                <a:rPr lang="en-US" altLang="zh-CN" sz="1600" b="1">
                  <a:solidFill>
                    <a:srgbClr val="000099"/>
                  </a:solidFill>
                  <a:ea typeface="黑体" panose="02010609060101010101" pitchFamily="49" charset="-122"/>
                </a:rPr>
                <a:t>H</a:t>
              </a:r>
            </a:p>
          </p:txBody>
        </p:sp>
        <p:sp>
          <p:nvSpPr>
            <p:cNvPr id="1442890" name="Rectangle 78"/>
            <p:cNvSpPr>
              <a:spLocks noChangeArrowheads="1"/>
            </p:cNvSpPr>
            <p:nvPr/>
          </p:nvSpPr>
          <p:spPr bwMode="auto">
            <a:xfrm>
              <a:off x="3633324" y="2932865"/>
              <a:ext cx="33022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A</a:t>
              </a:r>
            </a:p>
            <a:p>
              <a:pPr>
                <a:lnSpc>
                  <a:spcPct val="75000"/>
                </a:lnSpc>
              </a:pPr>
              <a:r>
                <a:rPr lang="en-US" altLang="zh-CN" sz="1600" b="1">
                  <a:solidFill>
                    <a:srgbClr val="000099"/>
                  </a:solidFill>
                  <a:ea typeface="黑体" panose="02010609060101010101" pitchFamily="49" charset="-122"/>
                </a:rPr>
                <a:t>C</a:t>
              </a:r>
            </a:p>
            <a:p>
              <a:pPr>
                <a:lnSpc>
                  <a:spcPct val="75000"/>
                </a:lnSpc>
              </a:pPr>
              <a:r>
                <a:rPr lang="en-US" altLang="zh-CN" sz="1600" b="1">
                  <a:solidFill>
                    <a:srgbClr val="000099"/>
                  </a:solidFill>
                  <a:ea typeface="黑体" panose="02010609060101010101" pitchFamily="49" charset="-122"/>
                </a:rPr>
                <a:t>K</a:t>
              </a:r>
            </a:p>
          </p:txBody>
        </p:sp>
        <p:sp>
          <p:nvSpPr>
            <p:cNvPr id="1442891" name="Rectangle 79"/>
            <p:cNvSpPr>
              <a:spLocks noChangeArrowheads="1"/>
            </p:cNvSpPr>
            <p:nvPr/>
          </p:nvSpPr>
          <p:spPr bwMode="auto">
            <a:xfrm>
              <a:off x="3349559" y="2932865"/>
              <a:ext cx="343044"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75000"/>
                </a:lnSpc>
              </a:pPr>
              <a:r>
                <a:rPr lang="en-US" altLang="zh-CN" sz="1600" b="1">
                  <a:solidFill>
                    <a:srgbClr val="000099"/>
                  </a:solidFill>
                  <a:ea typeface="黑体" panose="02010609060101010101" pitchFamily="49" charset="-122"/>
                </a:rPr>
                <a:t>U</a:t>
              </a:r>
            </a:p>
            <a:p>
              <a:pPr>
                <a:lnSpc>
                  <a:spcPct val="75000"/>
                </a:lnSpc>
              </a:pPr>
              <a:r>
                <a:rPr lang="en-US" altLang="zh-CN" sz="1600" b="1">
                  <a:solidFill>
                    <a:srgbClr val="000099"/>
                  </a:solidFill>
                  <a:ea typeface="黑体" panose="02010609060101010101" pitchFamily="49" charset="-122"/>
                </a:rPr>
                <a:t>R</a:t>
              </a:r>
            </a:p>
            <a:p>
              <a:pPr>
                <a:lnSpc>
                  <a:spcPct val="75000"/>
                </a:lnSpc>
              </a:pPr>
              <a:r>
                <a:rPr lang="en-US" altLang="zh-CN" sz="1600" b="1">
                  <a:solidFill>
                    <a:srgbClr val="000099"/>
                  </a:solidFill>
                  <a:ea typeface="黑体" panose="02010609060101010101" pitchFamily="49" charset="-122"/>
                </a:rPr>
                <a:t>G</a:t>
              </a:r>
            </a:p>
          </p:txBody>
        </p:sp>
        <p:sp>
          <p:nvSpPr>
            <p:cNvPr id="1442892" name="Rectangle 80"/>
            <p:cNvSpPr>
              <a:spLocks noChangeArrowheads="1"/>
            </p:cNvSpPr>
            <p:nvPr/>
          </p:nvSpPr>
          <p:spPr bwMode="auto">
            <a:xfrm>
              <a:off x="365720" y="78539"/>
              <a:ext cx="891750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0                         8                          16                          24                          31</a:t>
              </a:r>
            </a:p>
          </p:txBody>
        </p:sp>
        <p:sp>
          <p:nvSpPr>
            <p:cNvPr id="1442893" name="Line 81"/>
            <p:cNvSpPr>
              <a:spLocks noChangeShapeType="1"/>
            </p:cNvSpPr>
            <p:nvPr/>
          </p:nvSpPr>
          <p:spPr bwMode="auto">
            <a:xfrm flipH="1">
              <a:off x="7026473" y="4309227"/>
              <a:ext cx="3440" cy="6429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2894" name="Rectangle 83"/>
            <p:cNvSpPr>
              <a:spLocks noChangeArrowheads="1"/>
            </p:cNvSpPr>
            <p:nvPr/>
          </p:nvSpPr>
          <p:spPr bwMode="auto">
            <a:xfrm>
              <a:off x="7581966" y="4375902"/>
              <a:ext cx="135863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填    充</a:t>
              </a:r>
            </a:p>
          </p:txBody>
        </p:sp>
        <p:sp>
          <p:nvSpPr>
            <p:cNvPr id="1442895" name="Line 96"/>
            <p:cNvSpPr>
              <a:spLocks noChangeShapeType="1"/>
            </p:cNvSpPr>
            <p:nvPr/>
          </p:nvSpPr>
          <p:spPr bwMode="auto">
            <a:xfrm>
              <a:off x="9167753" y="788152"/>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2896" name="Line 97"/>
            <p:cNvSpPr>
              <a:spLocks noChangeShapeType="1"/>
            </p:cNvSpPr>
            <p:nvPr/>
          </p:nvSpPr>
          <p:spPr bwMode="auto">
            <a:xfrm>
              <a:off x="9167753" y="4283827"/>
              <a:ext cx="89945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2897" name="Line 98"/>
            <p:cNvSpPr>
              <a:spLocks noChangeShapeType="1"/>
            </p:cNvSpPr>
            <p:nvPr/>
          </p:nvSpPr>
          <p:spPr bwMode="auto">
            <a:xfrm>
              <a:off x="214869" y="826252"/>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2898" name="Line 99"/>
            <p:cNvSpPr>
              <a:spLocks noChangeShapeType="1"/>
            </p:cNvSpPr>
            <p:nvPr/>
          </p:nvSpPr>
          <p:spPr bwMode="auto">
            <a:xfrm>
              <a:off x="230346" y="4926765"/>
              <a:ext cx="57441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520274" name="Rectangle 82"/>
          <p:cNvSpPr>
            <a:spLocks noChangeArrowheads="1"/>
          </p:cNvSpPr>
          <p:nvPr/>
        </p:nvSpPr>
        <p:spPr bwMode="auto">
          <a:xfrm>
            <a:off x="7043738" y="4295775"/>
            <a:ext cx="2085975" cy="655638"/>
          </a:xfrm>
          <a:prstGeom prst="rect">
            <a:avLst/>
          </a:prstGeom>
          <a:noFill/>
          <a:ln w="762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44290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20EA09-049F-4475-BF95-8DA895619698}" type="slidenum">
              <a:rPr lang="zh-CN" altLang="en-US" smtClean="0"/>
              <a:pPr eaLnBrk="1" hangingPunct="1"/>
              <a:t>42</a:t>
            </a:fld>
            <a:endParaRPr lang="en-US" altLang="zh-CN" smtClean="0"/>
          </a:p>
        </p:txBody>
      </p:sp>
      <p:sp>
        <p:nvSpPr>
          <p:cNvPr id="144290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486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5.6  TCP </a:t>
            </a:r>
            <a:r>
              <a:rPr lang="zh-CN" altLang="zh-CN" smtClean="0">
                <a:ea typeface="黑体" panose="02010609060101010101" pitchFamily="49" charset="-122"/>
              </a:rPr>
              <a:t>可靠传输的实现</a:t>
            </a:r>
          </a:p>
        </p:txBody>
      </p:sp>
      <p:sp>
        <p:nvSpPr>
          <p:cNvPr id="1444866"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5.6.1  </a:t>
            </a:r>
            <a:r>
              <a:rPr lang="zh-CN" altLang="zh-CN" smtClean="0">
                <a:ea typeface="黑体" panose="02010609060101010101" pitchFamily="49" charset="-122"/>
              </a:rPr>
              <a:t>以字节为单位的滑动窗口</a:t>
            </a:r>
          </a:p>
          <a:p>
            <a:r>
              <a:rPr lang="en-US" altLang="zh-CN" smtClean="0">
                <a:ea typeface="黑体" panose="02010609060101010101" pitchFamily="49" charset="-122"/>
              </a:rPr>
              <a:t>5.6.2  </a:t>
            </a:r>
            <a:r>
              <a:rPr lang="zh-CN" altLang="zh-CN" smtClean="0">
                <a:ea typeface="黑体" panose="02010609060101010101" pitchFamily="49" charset="-122"/>
              </a:rPr>
              <a:t>超时重传时间的选择</a:t>
            </a:r>
            <a:r>
              <a:rPr lang="en-US" altLang="zh-CN" smtClean="0">
                <a:ea typeface="黑体" panose="02010609060101010101" pitchFamily="49" charset="-122"/>
              </a:rPr>
              <a:t>  </a:t>
            </a:r>
            <a:endParaRPr lang="zh-CN" altLang="zh-CN" smtClean="0">
              <a:ea typeface="黑体" panose="02010609060101010101" pitchFamily="49" charset="-122"/>
            </a:endParaRPr>
          </a:p>
          <a:p>
            <a:r>
              <a:rPr lang="en-US" altLang="zh-CN" smtClean="0">
                <a:ea typeface="黑体" panose="02010609060101010101" pitchFamily="49" charset="-122"/>
              </a:rPr>
              <a:t>5.6.3  </a:t>
            </a:r>
            <a:r>
              <a:rPr lang="zh-CN" altLang="zh-CN" smtClean="0">
                <a:ea typeface="黑体" panose="02010609060101010101" pitchFamily="49" charset="-122"/>
              </a:rPr>
              <a:t>选择确认</a:t>
            </a:r>
            <a:r>
              <a:rPr lang="en-US" altLang="zh-CN" smtClean="0">
                <a:ea typeface="黑体" panose="02010609060101010101" pitchFamily="49" charset="-122"/>
              </a:rPr>
              <a:t> SACK</a:t>
            </a:r>
            <a:endParaRPr lang="zh-CN" altLang="zh-CN" smtClean="0">
              <a:ea typeface="黑体" panose="02010609060101010101" pitchFamily="49" charset="-122"/>
            </a:endParaRPr>
          </a:p>
        </p:txBody>
      </p:sp>
      <p:sp>
        <p:nvSpPr>
          <p:cNvPr id="1444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BE475D-E492-4D3F-A21A-30061AC366A4}" type="slidenum">
              <a:rPr lang="zh-CN" altLang="en-US" smtClean="0"/>
              <a:pPr eaLnBrk="1" hangingPunct="1"/>
              <a:t>43</a:t>
            </a:fld>
            <a:endParaRPr lang="en-US" altLang="zh-CN" smtClean="0"/>
          </a:p>
        </p:txBody>
      </p:sp>
      <p:sp>
        <p:nvSpPr>
          <p:cNvPr id="1444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691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5.6.1  </a:t>
            </a:r>
            <a:r>
              <a:rPr lang="zh-CN" altLang="zh-CN" smtClean="0">
                <a:ea typeface="黑体" panose="02010609060101010101" pitchFamily="49" charset="-122"/>
              </a:rPr>
              <a:t>以字节为单位的滑动窗口</a:t>
            </a:r>
            <a:endParaRPr lang="zh-CN" altLang="en-US" smtClean="0">
              <a:ea typeface="黑体" panose="02010609060101010101" pitchFamily="49" charset="-122"/>
            </a:endParaRPr>
          </a:p>
        </p:txBody>
      </p:sp>
      <p:sp>
        <p:nvSpPr>
          <p:cNvPr id="1446914"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TCP </a:t>
            </a:r>
            <a:r>
              <a:rPr lang="zh-CN" altLang="zh-CN" dirty="0" smtClean="0">
                <a:ea typeface="黑体" panose="02010609060101010101" pitchFamily="49" charset="-122"/>
              </a:rPr>
              <a:t>的滑动窗口是以</a:t>
            </a:r>
            <a:r>
              <a:rPr lang="zh-CN" altLang="zh-CN" dirty="0" smtClean="0">
                <a:solidFill>
                  <a:srgbClr val="0000FF"/>
                </a:solidFill>
                <a:ea typeface="黑体" panose="02010609060101010101" pitchFamily="49" charset="-122"/>
              </a:rPr>
              <a:t>字节为单位</a:t>
            </a:r>
            <a:r>
              <a:rPr lang="zh-CN" altLang="zh-CN" dirty="0" smtClean="0">
                <a:ea typeface="黑体" panose="02010609060101010101" pitchFamily="49" charset="-122"/>
              </a:rPr>
              <a:t>的。</a:t>
            </a:r>
            <a:endParaRPr lang="en-US" altLang="zh-CN" dirty="0" smtClean="0">
              <a:ea typeface="黑体" panose="02010609060101010101" pitchFamily="49" charset="-122"/>
            </a:endParaRPr>
          </a:p>
          <a:p>
            <a:r>
              <a:rPr lang="zh-CN" altLang="zh-CN" dirty="0" smtClean="0">
                <a:ea typeface="黑体" panose="02010609060101010101" pitchFamily="49" charset="-122"/>
              </a:rPr>
              <a:t>现假定</a:t>
            </a:r>
            <a:r>
              <a:rPr lang="en-US" altLang="zh-CN" dirty="0" smtClean="0">
                <a:ea typeface="黑体" panose="02010609060101010101" pitchFamily="49" charset="-122"/>
              </a:rPr>
              <a:t> A </a:t>
            </a:r>
            <a:r>
              <a:rPr lang="zh-CN" altLang="zh-CN" dirty="0" smtClean="0">
                <a:ea typeface="黑体" panose="02010609060101010101" pitchFamily="49" charset="-122"/>
              </a:rPr>
              <a:t>收到了</a:t>
            </a:r>
            <a:r>
              <a:rPr lang="en-US" altLang="zh-CN" dirty="0" smtClean="0">
                <a:ea typeface="黑体" panose="02010609060101010101" pitchFamily="49" charset="-122"/>
              </a:rPr>
              <a:t> B </a:t>
            </a:r>
            <a:r>
              <a:rPr lang="zh-CN" altLang="zh-CN" dirty="0" smtClean="0">
                <a:ea typeface="黑体" panose="02010609060101010101" pitchFamily="49" charset="-122"/>
              </a:rPr>
              <a:t>发来的确认报文段，其中窗口是</a:t>
            </a:r>
            <a:r>
              <a:rPr lang="en-US" altLang="zh-CN" dirty="0" smtClean="0">
                <a:ea typeface="黑体" panose="02010609060101010101" pitchFamily="49" charset="-122"/>
              </a:rPr>
              <a:t> 20 </a:t>
            </a:r>
            <a:r>
              <a:rPr lang="zh-CN" altLang="zh-CN" dirty="0" smtClean="0">
                <a:ea typeface="黑体" panose="02010609060101010101" pitchFamily="49" charset="-122"/>
              </a:rPr>
              <a:t>字节，而确认号是</a:t>
            </a:r>
            <a:r>
              <a:rPr lang="en-US" altLang="zh-CN" dirty="0" smtClean="0">
                <a:ea typeface="黑体" panose="02010609060101010101" pitchFamily="49" charset="-122"/>
              </a:rPr>
              <a:t> 31</a:t>
            </a:r>
            <a:r>
              <a:rPr lang="zh-CN" altLang="zh-CN" dirty="0" smtClean="0">
                <a:ea typeface="黑体" panose="02010609060101010101" pitchFamily="49" charset="-122"/>
              </a:rPr>
              <a:t>（这表明</a:t>
            </a:r>
            <a:r>
              <a:rPr lang="en-US" altLang="zh-CN" dirty="0" smtClean="0">
                <a:ea typeface="黑体" panose="02010609060101010101" pitchFamily="49" charset="-122"/>
              </a:rPr>
              <a:t> B </a:t>
            </a:r>
            <a:r>
              <a:rPr lang="zh-CN" altLang="zh-CN" dirty="0" smtClean="0">
                <a:ea typeface="黑体" panose="02010609060101010101" pitchFamily="49" charset="-122"/>
              </a:rPr>
              <a:t>期望收到的下一个序号是</a:t>
            </a:r>
            <a:r>
              <a:rPr lang="en-US" altLang="zh-CN" dirty="0" smtClean="0">
                <a:ea typeface="黑体" panose="02010609060101010101" pitchFamily="49" charset="-122"/>
              </a:rPr>
              <a:t> 31</a:t>
            </a:r>
            <a:r>
              <a:rPr lang="zh-CN" altLang="zh-CN" dirty="0" smtClean="0">
                <a:ea typeface="黑体" panose="02010609060101010101" pitchFamily="49" charset="-122"/>
              </a:rPr>
              <a:t>，而序号</a:t>
            </a:r>
            <a:r>
              <a:rPr lang="en-US" altLang="zh-CN" dirty="0" smtClean="0">
                <a:ea typeface="黑体" panose="02010609060101010101" pitchFamily="49" charset="-122"/>
              </a:rPr>
              <a:t> 30 </a:t>
            </a:r>
            <a:r>
              <a:rPr lang="zh-CN" altLang="zh-CN" dirty="0" smtClean="0">
                <a:ea typeface="黑体" panose="02010609060101010101" pitchFamily="49" charset="-122"/>
              </a:rPr>
              <a:t>为止的数据已经收到了）。</a:t>
            </a:r>
            <a:endParaRPr lang="en-US" altLang="zh-CN" dirty="0" smtClean="0">
              <a:ea typeface="黑体" panose="02010609060101010101" pitchFamily="49" charset="-122"/>
            </a:endParaRPr>
          </a:p>
          <a:p>
            <a:r>
              <a:rPr lang="zh-CN" altLang="zh-CN" dirty="0" smtClean="0">
                <a:ea typeface="黑体" panose="02010609060101010101" pitchFamily="49" charset="-122"/>
              </a:rPr>
              <a:t>根据这两个数据，</a:t>
            </a:r>
            <a:r>
              <a:rPr lang="en-US" altLang="zh-CN" dirty="0" smtClean="0">
                <a:ea typeface="黑体" panose="02010609060101010101" pitchFamily="49" charset="-122"/>
              </a:rPr>
              <a:t>A </a:t>
            </a:r>
            <a:r>
              <a:rPr lang="zh-CN" altLang="zh-CN" dirty="0" smtClean="0">
                <a:ea typeface="黑体" panose="02010609060101010101" pitchFamily="49" charset="-122"/>
              </a:rPr>
              <a:t>就构造出自己的发送窗口，</a:t>
            </a:r>
            <a:endParaRPr lang="zh-CN" altLang="en-US" dirty="0" smtClean="0">
              <a:ea typeface="黑体" panose="02010609060101010101" pitchFamily="49" charset="-122"/>
            </a:endParaRPr>
          </a:p>
        </p:txBody>
      </p:sp>
      <p:sp>
        <p:nvSpPr>
          <p:cNvPr id="14469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B6B9A2-4DEE-4F7F-8F99-02BD7A18D7E7}" type="slidenum">
              <a:rPr lang="zh-CN" altLang="en-US" smtClean="0"/>
              <a:pPr eaLnBrk="1" hangingPunct="1"/>
              <a:t>44</a:t>
            </a:fld>
            <a:endParaRPr lang="en-US" altLang="zh-CN" smtClean="0"/>
          </a:p>
        </p:txBody>
      </p:sp>
      <p:sp>
        <p:nvSpPr>
          <p:cNvPr id="14469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7937" name="Text Box 4"/>
          <p:cNvSpPr txBox="1">
            <a:spLocks noChangeArrowheads="1"/>
          </p:cNvSpPr>
          <p:nvPr/>
        </p:nvSpPr>
        <p:spPr bwMode="auto">
          <a:xfrm>
            <a:off x="8483600" y="3081338"/>
            <a:ext cx="6969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前移</a:t>
            </a:r>
          </a:p>
        </p:txBody>
      </p:sp>
      <p:sp>
        <p:nvSpPr>
          <p:cNvPr id="1447938" name="AutoShape 5"/>
          <p:cNvSpPr>
            <a:spLocks noChangeArrowheads="1"/>
          </p:cNvSpPr>
          <p:nvPr/>
        </p:nvSpPr>
        <p:spPr bwMode="auto">
          <a:xfrm>
            <a:off x="8016875" y="3251200"/>
            <a:ext cx="544513" cy="144463"/>
          </a:xfrm>
          <a:prstGeom prst="rightArrow">
            <a:avLst>
              <a:gd name="adj1" fmla="val 50000"/>
              <a:gd name="adj2" fmla="val 86971"/>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7939" name="AutoShape 6"/>
          <p:cNvSpPr>
            <a:spLocks noChangeArrowheads="1"/>
          </p:cNvSpPr>
          <p:nvPr/>
        </p:nvSpPr>
        <p:spPr bwMode="auto">
          <a:xfrm flipH="1">
            <a:off x="7497763" y="3251200"/>
            <a:ext cx="544512" cy="144463"/>
          </a:xfrm>
          <a:prstGeom prst="rightArrow">
            <a:avLst>
              <a:gd name="adj1" fmla="val 50000"/>
              <a:gd name="adj2" fmla="val 86971"/>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7940" name="AutoShape 7"/>
          <p:cNvSpPr>
            <a:spLocks noChangeArrowheads="1"/>
          </p:cNvSpPr>
          <p:nvPr/>
        </p:nvSpPr>
        <p:spPr bwMode="auto">
          <a:xfrm>
            <a:off x="1784350" y="3251200"/>
            <a:ext cx="544513" cy="144463"/>
          </a:xfrm>
          <a:prstGeom prst="rightArrow">
            <a:avLst>
              <a:gd name="adj1" fmla="val 50000"/>
              <a:gd name="adj2" fmla="val 86971"/>
            </a:avLst>
          </a:prstGeom>
          <a:solidFill>
            <a:srgbClr val="C00000"/>
          </a:solidFill>
          <a:ln w="9525">
            <a:solidFill>
              <a:srgbClr val="C00000"/>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7941" name="Text Box 8"/>
          <p:cNvSpPr txBox="1">
            <a:spLocks noChangeArrowheads="1"/>
          </p:cNvSpPr>
          <p:nvPr/>
        </p:nvSpPr>
        <p:spPr bwMode="auto">
          <a:xfrm>
            <a:off x="8221663" y="4284663"/>
            <a:ext cx="1466850"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黑体" panose="02010609060101010101" pitchFamily="49" charset="-122"/>
              </a:rPr>
              <a:t>不允许发送</a:t>
            </a:r>
          </a:p>
        </p:txBody>
      </p:sp>
      <p:sp>
        <p:nvSpPr>
          <p:cNvPr id="1447942" name="Text Box 9"/>
          <p:cNvSpPr txBox="1">
            <a:spLocks noChangeArrowheads="1"/>
          </p:cNvSpPr>
          <p:nvPr/>
        </p:nvSpPr>
        <p:spPr bwMode="auto">
          <a:xfrm>
            <a:off x="393700" y="4271963"/>
            <a:ext cx="1209675"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黑体" panose="02010609060101010101" pitchFamily="49" charset="-122"/>
              </a:rPr>
              <a:t>已发送并</a:t>
            </a:r>
          </a:p>
          <a:p>
            <a:pPr algn="ctr" eaLnBrk="0" hangingPunct="0"/>
            <a:r>
              <a:rPr lang="zh-CN" altLang="en-US" sz="2000" b="1">
                <a:solidFill>
                  <a:srgbClr val="C00000"/>
                </a:solidFill>
                <a:ea typeface="黑体" panose="02010609060101010101" pitchFamily="49" charset="-122"/>
              </a:rPr>
              <a:t>收到确认</a:t>
            </a:r>
          </a:p>
        </p:txBody>
      </p:sp>
      <p:sp>
        <p:nvSpPr>
          <p:cNvPr id="1447943" name="Line 10"/>
          <p:cNvSpPr>
            <a:spLocks noChangeShapeType="1"/>
          </p:cNvSpPr>
          <p:nvPr/>
        </p:nvSpPr>
        <p:spPr bwMode="auto">
          <a:xfrm>
            <a:off x="1793875" y="3589338"/>
            <a:ext cx="6242050"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7944" name="Text Box 11"/>
          <p:cNvSpPr txBox="1">
            <a:spLocks noChangeArrowheads="1"/>
          </p:cNvSpPr>
          <p:nvPr/>
        </p:nvSpPr>
        <p:spPr bwMode="auto">
          <a:xfrm>
            <a:off x="3703638" y="3371850"/>
            <a:ext cx="23844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 </a:t>
            </a:r>
            <a:r>
              <a:rPr lang="zh-CN" altLang="en-US" sz="2000" b="1">
                <a:solidFill>
                  <a:srgbClr val="000099"/>
                </a:solidFill>
                <a:ea typeface="黑体" panose="02010609060101010101" pitchFamily="49" charset="-122"/>
              </a:rPr>
              <a:t>的</a:t>
            </a:r>
            <a:r>
              <a:rPr lang="zh-CN" altLang="en-US" sz="2000" b="1">
                <a:solidFill>
                  <a:srgbClr val="FF0000"/>
                </a:solidFill>
                <a:ea typeface="黑体" panose="02010609060101010101" pitchFamily="49" charset="-122"/>
              </a:rPr>
              <a:t>发送窗口 </a:t>
            </a:r>
            <a:r>
              <a:rPr lang="en-US" altLang="zh-CN" sz="2000" b="1">
                <a:solidFill>
                  <a:srgbClr val="000099"/>
                </a:solidFill>
                <a:ea typeface="黑体" panose="02010609060101010101" pitchFamily="49" charset="-122"/>
              </a:rPr>
              <a:t>= 20</a:t>
            </a:r>
          </a:p>
        </p:txBody>
      </p:sp>
      <p:sp>
        <p:nvSpPr>
          <p:cNvPr id="1447945" name="Text Box 12"/>
          <p:cNvSpPr txBox="1">
            <a:spLocks noChangeArrowheads="1"/>
          </p:cNvSpPr>
          <p:nvPr/>
        </p:nvSpPr>
        <p:spPr bwMode="auto">
          <a:xfrm>
            <a:off x="3744913" y="4440238"/>
            <a:ext cx="23495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FF"/>
                </a:solidFill>
                <a:ea typeface="黑体" panose="02010609060101010101" pitchFamily="49" charset="-122"/>
              </a:rPr>
              <a:t>允许发送的序号</a:t>
            </a:r>
          </a:p>
        </p:txBody>
      </p:sp>
      <p:sp>
        <p:nvSpPr>
          <p:cNvPr id="1447946" name="Rectangle 13"/>
          <p:cNvSpPr>
            <a:spLocks noChangeArrowheads="1"/>
          </p:cNvSpPr>
          <p:nvPr/>
        </p:nvSpPr>
        <p:spPr bwMode="auto">
          <a:xfrm>
            <a:off x="1793875" y="3757613"/>
            <a:ext cx="6248400" cy="649287"/>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47947" name="Rectangle 14"/>
          <p:cNvSpPr>
            <a:spLocks noChangeArrowheads="1"/>
          </p:cNvSpPr>
          <p:nvPr/>
        </p:nvSpPr>
        <p:spPr bwMode="auto">
          <a:xfrm>
            <a:off x="273050" y="3973513"/>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26</a:t>
            </a:r>
          </a:p>
        </p:txBody>
      </p:sp>
      <p:sp>
        <p:nvSpPr>
          <p:cNvPr id="1447948" name="Rectangle 15"/>
          <p:cNvSpPr>
            <a:spLocks noChangeArrowheads="1"/>
          </p:cNvSpPr>
          <p:nvPr/>
        </p:nvSpPr>
        <p:spPr bwMode="auto">
          <a:xfrm>
            <a:off x="585788" y="3971925"/>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27</a:t>
            </a:r>
          </a:p>
        </p:txBody>
      </p:sp>
      <p:sp>
        <p:nvSpPr>
          <p:cNvPr id="1447949" name="Rectangle 16"/>
          <p:cNvSpPr>
            <a:spLocks noChangeArrowheads="1"/>
          </p:cNvSpPr>
          <p:nvPr/>
        </p:nvSpPr>
        <p:spPr bwMode="auto">
          <a:xfrm>
            <a:off x="898525" y="3970338"/>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28</a:t>
            </a:r>
          </a:p>
        </p:txBody>
      </p:sp>
      <p:sp>
        <p:nvSpPr>
          <p:cNvPr id="1447950" name="Rectangle 17"/>
          <p:cNvSpPr>
            <a:spLocks noChangeArrowheads="1"/>
          </p:cNvSpPr>
          <p:nvPr/>
        </p:nvSpPr>
        <p:spPr bwMode="auto">
          <a:xfrm>
            <a:off x="1211263" y="3968750"/>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29</a:t>
            </a:r>
          </a:p>
        </p:txBody>
      </p:sp>
      <p:sp>
        <p:nvSpPr>
          <p:cNvPr id="1447951" name="Rectangle 18"/>
          <p:cNvSpPr>
            <a:spLocks noChangeArrowheads="1"/>
          </p:cNvSpPr>
          <p:nvPr/>
        </p:nvSpPr>
        <p:spPr bwMode="auto">
          <a:xfrm>
            <a:off x="1524000" y="3967163"/>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30</a:t>
            </a:r>
          </a:p>
        </p:txBody>
      </p:sp>
      <p:sp>
        <p:nvSpPr>
          <p:cNvPr id="1447952" name="Rectangle 19"/>
          <p:cNvSpPr>
            <a:spLocks noChangeArrowheads="1"/>
          </p:cNvSpPr>
          <p:nvPr/>
        </p:nvSpPr>
        <p:spPr bwMode="auto">
          <a:xfrm>
            <a:off x="1836738" y="3965575"/>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31</a:t>
            </a:r>
          </a:p>
        </p:txBody>
      </p:sp>
      <p:sp>
        <p:nvSpPr>
          <p:cNvPr id="1447953" name="Rectangle 20"/>
          <p:cNvSpPr>
            <a:spLocks noChangeArrowheads="1"/>
          </p:cNvSpPr>
          <p:nvPr/>
        </p:nvSpPr>
        <p:spPr bwMode="auto">
          <a:xfrm>
            <a:off x="2151063" y="396398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32</a:t>
            </a:r>
          </a:p>
        </p:txBody>
      </p:sp>
      <p:sp>
        <p:nvSpPr>
          <p:cNvPr id="1447954" name="Rectangle 21"/>
          <p:cNvSpPr>
            <a:spLocks noChangeArrowheads="1"/>
          </p:cNvSpPr>
          <p:nvPr/>
        </p:nvSpPr>
        <p:spPr bwMode="auto">
          <a:xfrm>
            <a:off x="2463800" y="3962400"/>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33</a:t>
            </a:r>
          </a:p>
        </p:txBody>
      </p:sp>
      <p:sp>
        <p:nvSpPr>
          <p:cNvPr id="1447955" name="Rectangle 22"/>
          <p:cNvSpPr>
            <a:spLocks noChangeArrowheads="1"/>
          </p:cNvSpPr>
          <p:nvPr/>
        </p:nvSpPr>
        <p:spPr bwMode="auto">
          <a:xfrm>
            <a:off x="2776538" y="3960813"/>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34</a:t>
            </a:r>
          </a:p>
        </p:txBody>
      </p:sp>
      <p:sp>
        <p:nvSpPr>
          <p:cNvPr id="1447956" name="Rectangle 23"/>
          <p:cNvSpPr>
            <a:spLocks noChangeArrowheads="1"/>
          </p:cNvSpPr>
          <p:nvPr/>
        </p:nvSpPr>
        <p:spPr bwMode="auto">
          <a:xfrm>
            <a:off x="3089275" y="3959225"/>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35</a:t>
            </a:r>
          </a:p>
        </p:txBody>
      </p:sp>
      <p:sp>
        <p:nvSpPr>
          <p:cNvPr id="1447957" name="Rectangle 24"/>
          <p:cNvSpPr>
            <a:spLocks noChangeArrowheads="1"/>
          </p:cNvSpPr>
          <p:nvPr/>
        </p:nvSpPr>
        <p:spPr bwMode="auto">
          <a:xfrm>
            <a:off x="3402013" y="3957638"/>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36</a:t>
            </a:r>
          </a:p>
        </p:txBody>
      </p:sp>
      <p:sp>
        <p:nvSpPr>
          <p:cNvPr id="1447958" name="Rectangle 25"/>
          <p:cNvSpPr>
            <a:spLocks noChangeArrowheads="1"/>
          </p:cNvSpPr>
          <p:nvPr/>
        </p:nvSpPr>
        <p:spPr bwMode="auto">
          <a:xfrm>
            <a:off x="3714750" y="3956050"/>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37</a:t>
            </a:r>
          </a:p>
        </p:txBody>
      </p:sp>
      <p:sp>
        <p:nvSpPr>
          <p:cNvPr id="1447959" name="Rectangle 26"/>
          <p:cNvSpPr>
            <a:spLocks noChangeArrowheads="1"/>
          </p:cNvSpPr>
          <p:nvPr/>
        </p:nvSpPr>
        <p:spPr bwMode="auto">
          <a:xfrm>
            <a:off x="4029075" y="3954463"/>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38</a:t>
            </a:r>
          </a:p>
        </p:txBody>
      </p:sp>
      <p:sp>
        <p:nvSpPr>
          <p:cNvPr id="1447960" name="Rectangle 27"/>
          <p:cNvSpPr>
            <a:spLocks noChangeArrowheads="1"/>
          </p:cNvSpPr>
          <p:nvPr/>
        </p:nvSpPr>
        <p:spPr bwMode="auto">
          <a:xfrm>
            <a:off x="4341813" y="3952875"/>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39</a:t>
            </a:r>
          </a:p>
        </p:txBody>
      </p:sp>
      <p:sp>
        <p:nvSpPr>
          <p:cNvPr id="1447961" name="Rectangle 28"/>
          <p:cNvSpPr>
            <a:spLocks noChangeArrowheads="1"/>
          </p:cNvSpPr>
          <p:nvPr/>
        </p:nvSpPr>
        <p:spPr bwMode="auto">
          <a:xfrm>
            <a:off x="4654550" y="3951288"/>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40</a:t>
            </a:r>
          </a:p>
        </p:txBody>
      </p:sp>
      <p:sp>
        <p:nvSpPr>
          <p:cNvPr id="1447962" name="Rectangle 29"/>
          <p:cNvSpPr>
            <a:spLocks noChangeArrowheads="1"/>
          </p:cNvSpPr>
          <p:nvPr/>
        </p:nvSpPr>
        <p:spPr bwMode="auto">
          <a:xfrm>
            <a:off x="4967288" y="3949700"/>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41</a:t>
            </a:r>
          </a:p>
        </p:txBody>
      </p:sp>
      <p:sp>
        <p:nvSpPr>
          <p:cNvPr id="1447963" name="Rectangle 30"/>
          <p:cNvSpPr>
            <a:spLocks noChangeArrowheads="1"/>
          </p:cNvSpPr>
          <p:nvPr/>
        </p:nvSpPr>
        <p:spPr bwMode="auto">
          <a:xfrm>
            <a:off x="5280025" y="3948113"/>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42</a:t>
            </a:r>
          </a:p>
        </p:txBody>
      </p:sp>
      <p:sp>
        <p:nvSpPr>
          <p:cNvPr id="1447964" name="Rectangle 31"/>
          <p:cNvSpPr>
            <a:spLocks noChangeArrowheads="1"/>
          </p:cNvSpPr>
          <p:nvPr/>
        </p:nvSpPr>
        <p:spPr bwMode="auto">
          <a:xfrm>
            <a:off x="5592763" y="3946525"/>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43</a:t>
            </a:r>
          </a:p>
        </p:txBody>
      </p:sp>
      <p:sp>
        <p:nvSpPr>
          <p:cNvPr id="1447965" name="Rectangle 32"/>
          <p:cNvSpPr>
            <a:spLocks noChangeArrowheads="1"/>
          </p:cNvSpPr>
          <p:nvPr/>
        </p:nvSpPr>
        <p:spPr bwMode="auto">
          <a:xfrm>
            <a:off x="5907088" y="394493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44</a:t>
            </a:r>
          </a:p>
        </p:txBody>
      </p:sp>
      <p:sp>
        <p:nvSpPr>
          <p:cNvPr id="1447966" name="Rectangle 33"/>
          <p:cNvSpPr>
            <a:spLocks noChangeArrowheads="1"/>
          </p:cNvSpPr>
          <p:nvPr/>
        </p:nvSpPr>
        <p:spPr bwMode="auto">
          <a:xfrm>
            <a:off x="6219825" y="3943350"/>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45</a:t>
            </a:r>
          </a:p>
        </p:txBody>
      </p:sp>
      <p:sp>
        <p:nvSpPr>
          <p:cNvPr id="1447967" name="Rectangle 34"/>
          <p:cNvSpPr>
            <a:spLocks noChangeArrowheads="1"/>
          </p:cNvSpPr>
          <p:nvPr/>
        </p:nvSpPr>
        <p:spPr bwMode="auto">
          <a:xfrm>
            <a:off x="6532563" y="3941763"/>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46</a:t>
            </a:r>
          </a:p>
        </p:txBody>
      </p:sp>
      <p:sp>
        <p:nvSpPr>
          <p:cNvPr id="1447968" name="Rectangle 35"/>
          <p:cNvSpPr>
            <a:spLocks noChangeArrowheads="1"/>
          </p:cNvSpPr>
          <p:nvPr/>
        </p:nvSpPr>
        <p:spPr bwMode="auto">
          <a:xfrm>
            <a:off x="6845300" y="3940175"/>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47</a:t>
            </a:r>
          </a:p>
        </p:txBody>
      </p:sp>
      <p:sp>
        <p:nvSpPr>
          <p:cNvPr id="1447969" name="Rectangle 36"/>
          <p:cNvSpPr>
            <a:spLocks noChangeArrowheads="1"/>
          </p:cNvSpPr>
          <p:nvPr/>
        </p:nvSpPr>
        <p:spPr bwMode="auto">
          <a:xfrm>
            <a:off x="7158038" y="3938588"/>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48</a:t>
            </a:r>
          </a:p>
        </p:txBody>
      </p:sp>
      <p:sp>
        <p:nvSpPr>
          <p:cNvPr id="1447970" name="Rectangle 37"/>
          <p:cNvSpPr>
            <a:spLocks noChangeArrowheads="1"/>
          </p:cNvSpPr>
          <p:nvPr/>
        </p:nvSpPr>
        <p:spPr bwMode="auto">
          <a:xfrm>
            <a:off x="7470775" y="3937000"/>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49</a:t>
            </a:r>
          </a:p>
        </p:txBody>
      </p:sp>
      <p:sp>
        <p:nvSpPr>
          <p:cNvPr id="1447971" name="Rectangle 38"/>
          <p:cNvSpPr>
            <a:spLocks noChangeArrowheads="1"/>
          </p:cNvSpPr>
          <p:nvPr/>
        </p:nvSpPr>
        <p:spPr bwMode="auto">
          <a:xfrm>
            <a:off x="7785100" y="3935413"/>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50</a:t>
            </a:r>
          </a:p>
        </p:txBody>
      </p:sp>
      <p:sp>
        <p:nvSpPr>
          <p:cNvPr id="1447972" name="Rectangle 39"/>
          <p:cNvSpPr>
            <a:spLocks noChangeArrowheads="1"/>
          </p:cNvSpPr>
          <p:nvPr/>
        </p:nvSpPr>
        <p:spPr bwMode="auto">
          <a:xfrm>
            <a:off x="8097838" y="3933825"/>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51</a:t>
            </a:r>
          </a:p>
        </p:txBody>
      </p:sp>
      <p:sp>
        <p:nvSpPr>
          <p:cNvPr id="1447973" name="Rectangle 40"/>
          <p:cNvSpPr>
            <a:spLocks noChangeArrowheads="1"/>
          </p:cNvSpPr>
          <p:nvPr/>
        </p:nvSpPr>
        <p:spPr bwMode="auto">
          <a:xfrm>
            <a:off x="8410575" y="3932238"/>
            <a:ext cx="233363"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52</a:t>
            </a:r>
          </a:p>
        </p:txBody>
      </p:sp>
      <p:sp>
        <p:nvSpPr>
          <p:cNvPr id="1447974" name="Rectangle 41"/>
          <p:cNvSpPr>
            <a:spLocks noChangeArrowheads="1"/>
          </p:cNvSpPr>
          <p:nvPr/>
        </p:nvSpPr>
        <p:spPr bwMode="auto">
          <a:xfrm>
            <a:off x="8723313" y="3930650"/>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53</a:t>
            </a:r>
          </a:p>
        </p:txBody>
      </p:sp>
      <p:sp>
        <p:nvSpPr>
          <p:cNvPr id="1447975" name="Rectangle 42"/>
          <p:cNvSpPr>
            <a:spLocks noChangeArrowheads="1"/>
          </p:cNvSpPr>
          <p:nvPr/>
        </p:nvSpPr>
        <p:spPr bwMode="auto">
          <a:xfrm>
            <a:off x="9036050" y="3929063"/>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54</a:t>
            </a:r>
          </a:p>
        </p:txBody>
      </p:sp>
      <p:sp>
        <p:nvSpPr>
          <p:cNvPr id="1447976" name="Rectangle 43"/>
          <p:cNvSpPr>
            <a:spLocks noChangeArrowheads="1"/>
          </p:cNvSpPr>
          <p:nvPr/>
        </p:nvSpPr>
        <p:spPr bwMode="auto">
          <a:xfrm>
            <a:off x="9348788" y="3927475"/>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55</a:t>
            </a:r>
          </a:p>
        </p:txBody>
      </p:sp>
      <p:sp>
        <p:nvSpPr>
          <p:cNvPr id="1447977" name="Rectangle 44"/>
          <p:cNvSpPr>
            <a:spLocks noChangeArrowheads="1"/>
          </p:cNvSpPr>
          <p:nvPr/>
        </p:nvSpPr>
        <p:spPr bwMode="auto">
          <a:xfrm>
            <a:off x="9653588" y="3927475"/>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99"/>
                </a:solidFill>
                <a:ea typeface="黑体" panose="02010609060101010101" pitchFamily="49" charset="-122"/>
              </a:rPr>
              <a:t>56</a:t>
            </a:r>
          </a:p>
        </p:txBody>
      </p:sp>
      <p:sp>
        <p:nvSpPr>
          <p:cNvPr id="1447978" name="Line 45"/>
          <p:cNvSpPr>
            <a:spLocks noChangeShapeType="1"/>
          </p:cNvSpPr>
          <p:nvPr/>
        </p:nvSpPr>
        <p:spPr bwMode="auto">
          <a:xfrm flipH="1" flipV="1">
            <a:off x="1954213" y="4275138"/>
            <a:ext cx="11112" cy="511175"/>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7979" name="Text Box 46"/>
          <p:cNvSpPr txBox="1">
            <a:spLocks noChangeArrowheads="1"/>
          </p:cNvSpPr>
          <p:nvPr/>
        </p:nvSpPr>
        <p:spPr bwMode="auto">
          <a:xfrm>
            <a:off x="1401763" y="4764088"/>
            <a:ext cx="14668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9900CC"/>
                </a:solidFill>
                <a:ea typeface="黑体" panose="02010609060101010101" pitchFamily="49" charset="-122"/>
              </a:rPr>
              <a:t>B </a:t>
            </a:r>
            <a:r>
              <a:rPr lang="zh-CN" altLang="en-US" sz="2000" b="1">
                <a:solidFill>
                  <a:srgbClr val="9900CC"/>
                </a:solidFill>
                <a:ea typeface="黑体" panose="02010609060101010101" pitchFamily="49" charset="-122"/>
              </a:rPr>
              <a:t>期望</a:t>
            </a:r>
          </a:p>
          <a:p>
            <a:pPr algn="ctr" eaLnBrk="0" hangingPunct="0">
              <a:lnSpc>
                <a:spcPct val="90000"/>
              </a:lnSpc>
            </a:pPr>
            <a:r>
              <a:rPr lang="zh-CN" altLang="en-US" sz="2000" b="1">
                <a:solidFill>
                  <a:srgbClr val="9900CC"/>
                </a:solidFill>
                <a:ea typeface="黑体" panose="02010609060101010101" pitchFamily="49" charset="-122"/>
              </a:rPr>
              <a:t>收到的序号</a:t>
            </a:r>
          </a:p>
        </p:txBody>
      </p:sp>
      <p:sp>
        <p:nvSpPr>
          <p:cNvPr id="1447980" name="Line 47"/>
          <p:cNvSpPr>
            <a:spLocks noChangeShapeType="1"/>
          </p:cNvSpPr>
          <p:nvPr/>
        </p:nvSpPr>
        <p:spPr bwMode="auto">
          <a:xfrm>
            <a:off x="1784350" y="3116263"/>
            <a:ext cx="7938" cy="135731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7981" name="Text Box 48"/>
          <p:cNvSpPr txBox="1">
            <a:spLocks noChangeArrowheads="1"/>
          </p:cNvSpPr>
          <p:nvPr/>
        </p:nvSpPr>
        <p:spPr bwMode="auto">
          <a:xfrm>
            <a:off x="7635875" y="2708275"/>
            <a:ext cx="8001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前沿</a:t>
            </a:r>
          </a:p>
        </p:txBody>
      </p:sp>
      <p:sp>
        <p:nvSpPr>
          <p:cNvPr id="1447982" name="Text Box 49"/>
          <p:cNvSpPr txBox="1">
            <a:spLocks noChangeArrowheads="1"/>
          </p:cNvSpPr>
          <p:nvPr/>
        </p:nvSpPr>
        <p:spPr bwMode="auto">
          <a:xfrm>
            <a:off x="1403350" y="2708275"/>
            <a:ext cx="8001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后沿</a:t>
            </a:r>
          </a:p>
        </p:txBody>
      </p:sp>
      <p:sp>
        <p:nvSpPr>
          <p:cNvPr id="1447983" name="Line 50"/>
          <p:cNvSpPr>
            <a:spLocks noChangeShapeType="1"/>
          </p:cNvSpPr>
          <p:nvPr/>
        </p:nvSpPr>
        <p:spPr bwMode="auto">
          <a:xfrm>
            <a:off x="8034338" y="3101975"/>
            <a:ext cx="7937" cy="1357313"/>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7984" name="Text Box 51"/>
          <p:cNvSpPr txBox="1">
            <a:spLocks noChangeArrowheads="1"/>
          </p:cNvSpPr>
          <p:nvPr/>
        </p:nvSpPr>
        <p:spPr bwMode="auto">
          <a:xfrm>
            <a:off x="2276475" y="3082925"/>
            <a:ext cx="6969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前移</a:t>
            </a:r>
          </a:p>
        </p:txBody>
      </p:sp>
      <p:sp>
        <p:nvSpPr>
          <p:cNvPr id="1447985" name="Text Box 52"/>
          <p:cNvSpPr txBox="1">
            <a:spLocks noChangeArrowheads="1"/>
          </p:cNvSpPr>
          <p:nvPr/>
        </p:nvSpPr>
        <p:spPr bwMode="auto">
          <a:xfrm>
            <a:off x="6872288" y="3079750"/>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收缩</a:t>
            </a:r>
          </a:p>
        </p:txBody>
      </p:sp>
      <p:grpSp>
        <p:nvGrpSpPr>
          <p:cNvPr id="1447986" name="Group 53"/>
          <p:cNvGrpSpPr>
            <a:grpSpLocks/>
          </p:cNvGrpSpPr>
          <p:nvPr/>
        </p:nvGrpSpPr>
        <p:grpSpPr bwMode="auto">
          <a:xfrm>
            <a:off x="6665913" y="3157538"/>
            <a:ext cx="234950" cy="288925"/>
            <a:chOff x="3833" y="1298"/>
            <a:chExt cx="136" cy="182"/>
          </a:xfrm>
        </p:grpSpPr>
        <p:sp>
          <p:nvSpPr>
            <p:cNvPr id="1447987" name="Line 54"/>
            <p:cNvSpPr>
              <a:spLocks noChangeShapeType="1"/>
            </p:cNvSpPr>
            <p:nvPr/>
          </p:nvSpPr>
          <p:spPr bwMode="auto">
            <a:xfrm flipH="1">
              <a:off x="3833" y="1298"/>
              <a:ext cx="136" cy="182"/>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47988" name="Line 55"/>
            <p:cNvSpPr>
              <a:spLocks noChangeShapeType="1"/>
            </p:cNvSpPr>
            <p:nvPr/>
          </p:nvSpPr>
          <p:spPr bwMode="auto">
            <a:xfrm>
              <a:off x="3833" y="1298"/>
              <a:ext cx="136" cy="182"/>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447989" name="Text Box 56"/>
          <p:cNvSpPr txBox="1">
            <a:spLocks noChangeArrowheads="1"/>
          </p:cNvSpPr>
          <p:nvPr/>
        </p:nvSpPr>
        <p:spPr bwMode="auto">
          <a:xfrm>
            <a:off x="511175" y="225425"/>
            <a:ext cx="9072563" cy="2308225"/>
          </a:xfrm>
          <a:prstGeom prst="rect">
            <a:avLst/>
          </a:prstGeom>
          <a:solidFill>
            <a:srgbClr val="FFFF99"/>
          </a:solidFill>
          <a:ln w="9525">
            <a:solidFill>
              <a:schemeClr val="folHlink"/>
            </a:solidFill>
            <a:miter lim="800000"/>
            <a:headEnd/>
            <a:tailEnd/>
          </a:ln>
        </p:spPr>
        <p:txBody>
          <a:bodyPr>
            <a:spAutoFit/>
          </a:bodyPr>
          <a:lstStyle>
            <a:lvl1pPr marL="179388" indent="-179388"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Font typeface="Arial" panose="020B0604020202020204" pitchFamily="34" charset="0"/>
              <a:buChar char="•"/>
            </a:pPr>
            <a:r>
              <a:rPr lang="zh-CN" altLang="en-US" sz="2400" b="1">
                <a:solidFill>
                  <a:srgbClr val="000099"/>
                </a:solidFill>
                <a:ea typeface="黑体" panose="02010609060101010101" pitchFamily="49" charset="-122"/>
              </a:rPr>
              <a:t>根据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给出的窗口值，</a:t>
            </a:r>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构造出自己的发送窗口。</a:t>
            </a:r>
            <a:endParaRPr lang="en-US" altLang="zh-CN" sz="2400" b="1">
              <a:solidFill>
                <a:srgbClr val="000099"/>
              </a:solidFill>
              <a:ea typeface="黑体" panose="02010609060101010101" pitchFamily="49" charset="-122"/>
            </a:endParaRPr>
          </a:p>
          <a:p>
            <a:pPr>
              <a:buFont typeface="Arial" panose="020B0604020202020204" pitchFamily="34" charset="0"/>
              <a:buChar char="•"/>
            </a:pPr>
            <a:r>
              <a:rPr lang="zh-CN" altLang="zh-CN" sz="2400" b="1">
                <a:solidFill>
                  <a:srgbClr val="FF0000"/>
                </a:solidFill>
                <a:ea typeface="黑体" panose="02010609060101010101" pitchFamily="49" charset="-122"/>
              </a:rPr>
              <a:t>发送窗口表示：在没有收到</a:t>
            </a:r>
            <a:r>
              <a:rPr lang="en-US" altLang="zh-CN" sz="2400" b="1">
                <a:solidFill>
                  <a:srgbClr val="FF0000"/>
                </a:solidFill>
                <a:ea typeface="黑体" panose="02010609060101010101" pitchFamily="49" charset="-122"/>
              </a:rPr>
              <a:t> B </a:t>
            </a:r>
            <a:r>
              <a:rPr lang="zh-CN" altLang="zh-CN" sz="2400" b="1">
                <a:solidFill>
                  <a:srgbClr val="FF0000"/>
                </a:solidFill>
                <a:ea typeface="黑体" panose="02010609060101010101" pitchFamily="49" charset="-122"/>
              </a:rPr>
              <a:t>的确认的情况下，</a:t>
            </a:r>
            <a:r>
              <a:rPr lang="en-US" altLang="zh-CN" sz="2400" b="1">
                <a:solidFill>
                  <a:srgbClr val="FF0000"/>
                </a:solidFill>
                <a:ea typeface="黑体" panose="02010609060101010101" pitchFamily="49" charset="-122"/>
              </a:rPr>
              <a:t>A </a:t>
            </a:r>
            <a:r>
              <a:rPr lang="zh-CN" altLang="zh-CN" sz="2400" b="1">
                <a:solidFill>
                  <a:srgbClr val="FF0000"/>
                </a:solidFill>
                <a:ea typeface="黑体" panose="02010609060101010101" pitchFamily="49" charset="-122"/>
              </a:rPr>
              <a:t>可以连续把窗口内的数据都发送出去。</a:t>
            </a:r>
            <a:r>
              <a:rPr lang="zh-CN" altLang="en-US" sz="2400" b="1">
                <a:solidFill>
                  <a:srgbClr val="FF0000"/>
                </a:solidFill>
                <a:ea typeface="黑体" panose="02010609060101010101" pitchFamily="49" charset="-122"/>
              </a:rPr>
              <a:t> </a:t>
            </a:r>
            <a:endParaRPr lang="en-US" altLang="zh-CN" sz="2400" b="1">
              <a:solidFill>
                <a:srgbClr val="FF0000"/>
              </a:solidFill>
              <a:ea typeface="黑体" panose="02010609060101010101" pitchFamily="49" charset="-122"/>
            </a:endParaRPr>
          </a:p>
          <a:p>
            <a:pPr>
              <a:buFont typeface="Arial" panose="020B0604020202020204" pitchFamily="34" charset="0"/>
              <a:buChar char="•"/>
            </a:pPr>
            <a:r>
              <a:rPr lang="zh-CN" altLang="zh-CN" sz="2400" b="1">
                <a:solidFill>
                  <a:srgbClr val="FF0000"/>
                </a:solidFill>
                <a:ea typeface="黑体" panose="02010609060101010101" pitchFamily="49" charset="-122"/>
              </a:rPr>
              <a:t>发送窗口里面的序号表示允许发送的序号。</a:t>
            </a:r>
            <a:endParaRPr lang="en-US" altLang="zh-CN" sz="2400" b="1">
              <a:solidFill>
                <a:srgbClr val="FF0000"/>
              </a:solidFill>
              <a:ea typeface="黑体" panose="02010609060101010101" pitchFamily="49" charset="-122"/>
            </a:endParaRPr>
          </a:p>
          <a:p>
            <a:pPr>
              <a:buFont typeface="Arial" panose="020B0604020202020204" pitchFamily="34" charset="0"/>
              <a:buChar char="•"/>
            </a:pPr>
            <a:r>
              <a:rPr lang="zh-CN" altLang="zh-CN" sz="2400" b="1">
                <a:solidFill>
                  <a:srgbClr val="000099"/>
                </a:solidFill>
                <a:ea typeface="黑体" panose="02010609060101010101" pitchFamily="49" charset="-122"/>
              </a:rPr>
              <a:t>显然，窗口越大，发送方就可以在收到对方确认之前连续发送更多的数据，因而可能获得更高的传输效率。</a:t>
            </a:r>
            <a:endParaRPr lang="zh-CN" altLang="en-US" sz="2400" b="1">
              <a:solidFill>
                <a:srgbClr val="000099"/>
              </a:solidFill>
              <a:ea typeface="黑体" panose="02010609060101010101" pitchFamily="49" charset="-122"/>
            </a:endParaRPr>
          </a:p>
        </p:txBody>
      </p:sp>
      <p:sp>
        <p:nvSpPr>
          <p:cNvPr id="1447990" name="Text Box 57"/>
          <p:cNvSpPr txBox="1">
            <a:spLocks noChangeArrowheads="1"/>
          </p:cNvSpPr>
          <p:nvPr/>
        </p:nvSpPr>
        <p:spPr bwMode="auto">
          <a:xfrm>
            <a:off x="5006975" y="5045075"/>
            <a:ext cx="3890963" cy="954088"/>
          </a:xfrm>
          <a:prstGeom prst="rect">
            <a:avLst/>
          </a:prstGeom>
          <a:solidFill>
            <a:srgbClr val="000099"/>
          </a:solidFill>
          <a:ln w="9525">
            <a:solidFill>
              <a:schemeClr val="folHlink"/>
            </a:solidFill>
            <a:miter lim="800000"/>
            <a:headEnd/>
            <a:tailEnd/>
          </a:ln>
        </p:spPr>
        <p:txBody>
          <a:bodyPr wrap="none">
            <a:spAutoFit/>
          </a:bodyPr>
          <a:lstStyle/>
          <a:p>
            <a:pPr algn="ctr" eaLnBrk="0" hangingPunct="0"/>
            <a:r>
              <a:rPr lang="en-US" altLang="zh-CN" sz="2800" b="1">
                <a:solidFill>
                  <a:schemeClr val="bg1"/>
                </a:solidFill>
                <a:ea typeface="黑体" panose="02010609060101010101" pitchFamily="49" charset="-122"/>
              </a:rPr>
              <a:t>TCP </a:t>
            </a:r>
            <a:r>
              <a:rPr lang="zh-CN" altLang="en-US" sz="2800" b="1">
                <a:solidFill>
                  <a:schemeClr val="bg1"/>
                </a:solidFill>
                <a:ea typeface="黑体" panose="02010609060101010101" pitchFamily="49" charset="-122"/>
              </a:rPr>
              <a:t>标准强烈不赞成</a:t>
            </a:r>
          </a:p>
          <a:p>
            <a:pPr algn="ctr" eaLnBrk="0" hangingPunct="0"/>
            <a:r>
              <a:rPr lang="zh-CN" altLang="en-US" sz="2800" b="1">
                <a:solidFill>
                  <a:schemeClr val="bg1"/>
                </a:solidFill>
                <a:ea typeface="黑体" panose="02010609060101010101" pitchFamily="49" charset="-122"/>
              </a:rPr>
              <a:t>发送窗口前沿向后收缩 </a:t>
            </a:r>
          </a:p>
        </p:txBody>
      </p:sp>
      <p:sp>
        <p:nvSpPr>
          <p:cNvPr id="14479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C706E94-464D-4967-A04A-1406C19E97AB}" type="slidenum">
              <a:rPr lang="zh-CN" altLang="en-US" smtClean="0"/>
              <a:pPr/>
              <a:t>45</a:t>
            </a:fld>
            <a:endParaRPr lang="en-US" altLang="zh-CN" smtClean="0"/>
          </a:p>
        </p:txBody>
      </p:sp>
      <p:sp>
        <p:nvSpPr>
          <p:cNvPr id="14479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9985" name="Line 4"/>
          <p:cNvSpPr>
            <a:spLocks noChangeShapeType="1"/>
          </p:cNvSpPr>
          <p:nvPr/>
        </p:nvSpPr>
        <p:spPr bwMode="auto">
          <a:xfrm flipV="1">
            <a:off x="1789113" y="3346450"/>
            <a:ext cx="6249987" cy="11113"/>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49986" name="Line 5"/>
          <p:cNvSpPr>
            <a:spLocks noChangeShapeType="1"/>
          </p:cNvSpPr>
          <p:nvPr/>
        </p:nvSpPr>
        <p:spPr bwMode="auto">
          <a:xfrm flipV="1">
            <a:off x="1789113" y="1204913"/>
            <a:ext cx="6249987" cy="11112"/>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49987" name="Text Box 6"/>
          <p:cNvSpPr txBox="1">
            <a:spLocks noChangeArrowheads="1"/>
          </p:cNvSpPr>
          <p:nvPr/>
        </p:nvSpPr>
        <p:spPr bwMode="auto">
          <a:xfrm>
            <a:off x="8223250" y="2201863"/>
            <a:ext cx="146843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黑体" panose="02010609060101010101" pitchFamily="49" charset="-122"/>
              </a:rPr>
              <a:t>不允许发送</a:t>
            </a:r>
          </a:p>
        </p:txBody>
      </p:sp>
      <p:sp>
        <p:nvSpPr>
          <p:cNvPr id="1449988" name="Text Box 7"/>
          <p:cNvSpPr txBox="1">
            <a:spLocks noChangeArrowheads="1"/>
          </p:cNvSpPr>
          <p:nvPr/>
        </p:nvSpPr>
        <p:spPr bwMode="auto">
          <a:xfrm>
            <a:off x="407988" y="2201863"/>
            <a:ext cx="1211262"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黑体" panose="02010609060101010101" pitchFamily="49" charset="-122"/>
              </a:rPr>
              <a:t>已发送并</a:t>
            </a:r>
          </a:p>
          <a:p>
            <a:pPr algn="ctr" eaLnBrk="0" hangingPunct="0"/>
            <a:r>
              <a:rPr lang="zh-CN" altLang="en-US" sz="2000" b="1">
                <a:solidFill>
                  <a:srgbClr val="C00000"/>
                </a:solidFill>
                <a:ea typeface="黑体" panose="02010609060101010101" pitchFamily="49" charset="-122"/>
              </a:rPr>
              <a:t>收到确认</a:t>
            </a:r>
          </a:p>
        </p:txBody>
      </p:sp>
      <p:sp>
        <p:nvSpPr>
          <p:cNvPr id="1449989" name="Text Box 8"/>
          <p:cNvSpPr txBox="1">
            <a:spLocks noChangeArrowheads="1"/>
          </p:cNvSpPr>
          <p:nvPr/>
        </p:nvSpPr>
        <p:spPr bwMode="auto">
          <a:xfrm>
            <a:off x="3157538" y="981075"/>
            <a:ext cx="27559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 </a:t>
            </a:r>
            <a:r>
              <a:rPr lang="zh-CN" altLang="en-US" sz="2000" b="1">
                <a:solidFill>
                  <a:srgbClr val="0000CC"/>
                </a:solidFill>
                <a:ea typeface="黑体" panose="02010609060101010101" pitchFamily="49" charset="-122"/>
              </a:rPr>
              <a:t>的</a:t>
            </a:r>
            <a:r>
              <a:rPr lang="zh-CN" altLang="en-US" sz="2000" b="1">
                <a:solidFill>
                  <a:srgbClr val="FF0000"/>
                </a:solidFill>
                <a:ea typeface="黑体" panose="02010609060101010101" pitchFamily="49" charset="-122"/>
              </a:rPr>
              <a:t>发送窗口</a:t>
            </a:r>
            <a:r>
              <a:rPr lang="zh-CN" altLang="en-US" sz="2000" b="1">
                <a:solidFill>
                  <a:srgbClr val="0000CC"/>
                </a:solidFill>
                <a:ea typeface="黑体" panose="02010609060101010101" pitchFamily="49" charset="-122"/>
              </a:rPr>
              <a:t>位置不变</a:t>
            </a:r>
          </a:p>
        </p:txBody>
      </p:sp>
      <p:sp>
        <p:nvSpPr>
          <p:cNvPr id="1449990" name="Text Box 9"/>
          <p:cNvSpPr txBox="1">
            <a:spLocks noChangeArrowheads="1"/>
          </p:cNvSpPr>
          <p:nvPr/>
        </p:nvSpPr>
        <p:spPr bwMode="auto">
          <a:xfrm>
            <a:off x="5422900" y="2368550"/>
            <a:ext cx="249396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允许发送但尚未发送</a:t>
            </a:r>
          </a:p>
        </p:txBody>
      </p:sp>
      <p:sp>
        <p:nvSpPr>
          <p:cNvPr id="1449991" name="Rectangle 10"/>
          <p:cNvSpPr>
            <a:spLocks noChangeArrowheads="1"/>
          </p:cNvSpPr>
          <p:nvPr/>
        </p:nvSpPr>
        <p:spPr bwMode="auto">
          <a:xfrm>
            <a:off x="1795463" y="1708150"/>
            <a:ext cx="6248400" cy="649288"/>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449992" name="Rectangle 11"/>
          <p:cNvSpPr>
            <a:spLocks noChangeArrowheads="1"/>
          </p:cNvSpPr>
          <p:nvPr/>
        </p:nvSpPr>
        <p:spPr bwMode="auto">
          <a:xfrm>
            <a:off x="274638" y="1924050"/>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26</a:t>
            </a:r>
          </a:p>
        </p:txBody>
      </p:sp>
      <p:sp>
        <p:nvSpPr>
          <p:cNvPr id="1449993" name="Rectangle 12"/>
          <p:cNvSpPr>
            <a:spLocks noChangeArrowheads="1"/>
          </p:cNvSpPr>
          <p:nvPr/>
        </p:nvSpPr>
        <p:spPr bwMode="auto">
          <a:xfrm>
            <a:off x="587375" y="1922463"/>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27</a:t>
            </a:r>
          </a:p>
        </p:txBody>
      </p:sp>
      <p:sp>
        <p:nvSpPr>
          <p:cNvPr id="1449994" name="Rectangle 13"/>
          <p:cNvSpPr>
            <a:spLocks noChangeArrowheads="1"/>
          </p:cNvSpPr>
          <p:nvPr/>
        </p:nvSpPr>
        <p:spPr bwMode="auto">
          <a:xfrm>
            <a:off x="900113" y="1920875"/>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28</a:t>
            </a:r>
          </a:p>
        </p:txBody>
      </p:sp>
      <p:sp>
        <p:nvSpPr>
          <p:cNvPr id="1449995" name="Rectangle 14"/>
          <p:cNvSpPr>
            <a:spLocks noChangeArrowheads="1"/>
          </p:cNvSpPr>
          <p:nvPr/>
        </p:nvSpPr>
        <p:spPr bwMode="auto">
          <a:xfrm>
            <a:off x="1212850" y="1919288"/>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29</a:t>
            </a:r>
          </a:p>
        </p:txBody>
      </p:sp>
      <p:sp>
        <p:nvSpPr>
          <p:cNvPr id="1449996" name="Rectangle 15"/>
          <p:cNvSpPr>
            <a:spLocks noChangeArrowheads="1"/>
          </p:cNvSpPr>
          <p:nvPr/>
        </p:nvSpPr>
        <p:spPr bwMode="auto">
          <a:xfrm>
            <a:off x="1525588" y="1917700"/>
            <a:ext cx="234950"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30</a:t>
            </a:r>
          </a:p>
        </p:txBody>
      </p:sp>
      <p:sp>
        <p:nvSpPr>
          <p:cNvPr id="1449997" name="Rectangle 16"/>
          <p:cNvSpPr>
            <a:spLocks noChangeArrowheads="1"/>
          </p:cNvSpPr>
          <p:nvPr/>
        </p:nvSpPr>
        <p:spPr bwMode="auto">
          <a:xfrm>
            <a:off x="1839913" y="1916113"/>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31</a:t>
            </a:r>
          </a:p>
        </p:txBody>
      </p:sp>
      <p:sp>
        <p:nvSpPr>
          <p:cNvPr id="1449998" name="Rectangle 17"/>
          <p:cNvSpPr>
            <a:spLocks noChangeArrowheads="1"/>
          </p:cNvSpPr>
          <p:nvPr/>
        </p:nvSpPr>
        <p:spPr bwMode="auto">
          <a:xfrm>
            <a:off x="2152650" y="1914525"/>
            <a:ext cx="233363"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32</a:t>
            </a:r>
          </a:p>
        </p:txBody>
      </p:sp>
      <p:sp>
        <p:nvSpPr>
          <p:cNvPr id="1449999" name="Rectangle 18"/>
          <p:cNvSpPr>
            <a:spLocks noChangeArrowheads="1"/>
          </p:cNvSpPr>
          <p:nvPr/>
        </p:nvSpPr>
        <p:spPr bwMode="auto">
          <a:xfrm>
            <a:off x="2465388" y="1912938"/>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33</a:t>
            </a:r>
          </a:p>
        </p:txBody>
      </p:sp>
      <p:sp>
        <p:nvSpPr>
          <p:cNvPr id="1450000" name="Rectangle 19"/>
          <p:cNvSpPr>
            <a:spLocks noChangeArrowheads="1"/>
          </p:cNvSpPr>
          <p:nvPr/>
        </p:nvSpPr>
        <p:spPr bwMode="auto">
          <a:xfrm>
            <a:off x="2778125" y="1911350"/>
            <a:ext cx="233363"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34</a:t>
            </a:r>
          </a:p>
        </p:txBody>
      </p:sp>
      <p:sp>
        <p:nvSpPr>
          <p:cNvPr id="1450001" name="Rectangle 20"/>
          <p:cNvSpPr>
            <a:spLocks noChangeArrowheads="1"/>
          </p:cNvSpPr>
          <p:nvPr/>
        </p:nvSpPr>
        <p:spPr bwMode="auto">
          <a:xfrm>
            <a:off x="3090863" y="1909763"/>
            <a:ext cx="234950"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35</a:t>
            </a:r>
          </a:p>
        </p:txBody>
      </p:sp>
      <p:sp>
        <p:nvSpPr>
          <p:cNvPr id="1450002" name="Rectangle 21"/>
          <p:cNvSpPr>
            <a:spLocks noChangeArrowheads="1"/>
          </p:cNvSpPr>
          <p:nvPr/>
        </p:nvSpPr>
        <p:spPr bwMode="auto">
          <a:xfrm>
            <a:off x="3403600" y="1908175"/>
            <a:ext cx="234950"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36</a:t>
            </a:r>
          </a:p>
        </p:txBody>
      </p:sp>
      <p:sp>
        <p:nvSpPr>
          <p:cNvPr id="1450003" name="Rectangle 22"/>
          <p:cNvSpPr>
            <a:spLocks noChangeArrowheads="1"/>
          </p:cNvSpPr>
          <p:nvPr/>
        </p:nvSpPr>
        <p:spPr bwMode="auto">
          <a:xfrm>
            <a:off x="3717925" y="1906588"/>
            <a:ext cx="233363"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37</a:t>
            </a:r>
          </a:p>
        </p:txBody>
      </p:sp>
      <p:sp>
        <p:nvSpPr>
          <p:cNvPr id="1450004" name="Rectangle 23"/>
          <p:cNvSpPr>
            <a:spLocks noChangeArrowheads="1"/>
          </p:cNvSpPr>
          <p:nvPr/>
        </p:nvSpPr>
        <p:spPr bwMode="auto">
          <a:xfrm>
            <a:off x="4030663" y="1905000"/>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38</a:t>
            </a:r>
          </a:p>
        </p:txBody>
      </p:sp>
      <p:sp>
        <p:nvSpPr>
          <p:cNvPr id="1450005" name="Rectangle 24"/>
          <p:cNvSpPr>
            <a:spLocks noChangeArrowheads="1"/>
          </p:cNvSpPr>
          <p:nvPr/>
        </p:nvSpPr>
        <p:spPr bwMode="auto">
          <a:xfrm>
            <a:off x="4343400" y="1903413"/>
            <a:ext cx="233363"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39</a:t>
            </a:r>
          </a:p>
        </p:txBody>
      </p:sp>
      <p:sp>
        <p:nvSpPr>
          <p:cNvPr id="1450006" name="Rectangle 25"/>
          <p:cNvSpPr>
            <a:spLocks noChangeArrowheads="1"/>
          </p:cNvSpPr>
          <p:nvPr/>
        </p:nvSpPr>
        <p:spPr bwMode="auto">
          <a:xfrm>
            <a:off x="4656138" y="1901825"/>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40</a:t>
            </a:r>
          </a:p>
        </p:txBody>
      </p:sp>
      <p:sp>
        <p:nvSpPr>
          <p:cNvPr id="1450007" name="Rectangle 26"/>
          <p:cNvSpPr>
            <a:spLocks noChangeArrowheads="1"/>
          </p:cNvSpPr>
          <p:nvPr/>
        </p:nvSpPr>
        <p:spPr bwMode="auto">
          <a:xfrm>
            <a:off x="4968875" y="1900238"/>
            <a:ext cx="234950"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41</a:t>
            </a:r>
          </a:p>
        </p:txBody>
      </p:sp>
      <p:sp>
        <p:nvSpPr>
          <p:cNvPr id="1450008" name="Rectangle 27"/>
          <p:cNvSpPr>
            <a:spLocks noChangeArrowheads="1"/>
          </p:cNvSpPr>
          <p:nvPr/>
        </p:nvSpPr>
        <p:spPr bwMode="auto">
          <a:xfrm>
            <a:off x="5281613" y="1898650"/>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42</a:t>
            </a:r>
          </a:p>
        </p:txBody>
      </p:sp>
      <p:sp>
        <p:nvSpPr>
          <p:cNvPr id="1450009" name="Rectangle 28"/>
          <p:cNvSpPr>
            <a:spLocks noChangeArrowheads="1"/>
          </p:cNvSpPr>
          <p:nvPr/>
        </p:nvSpPr>
        <p:spPr bwMode="auto">
          <a:xfrm>
            <a:off x="5595938" y="1897063"/>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43</a:t>
            </a:r>
          </a:p>
        </p:txBody>
      </p:sp>
      <p:sp>
        <p:nvSpPr>
          <p:cNvPr id="1450010" name="Rectangle 29"/>
          <p:cNvSpPr>
            <a:spLocks noChangeArrowheads="1"/>
          </p:cNvSpPr>
          <p:nvPr/>
        </p:nvSpPr>
        <p:spPr bwMode="auto">
          <a:xfrm>
            <a:off x="5908675" y="1895475"/>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44</a:t>
            </a:r>
          </a:p>
        </p:txBody>
      </p:sp>
      <p:sp>
        <p:nvSpPr>
          <p:cNvPr id="1450011" name="Rectangle 30"/>
          <p:cNvSpPr>
            <a:spLocks noChangeArrowheads="1"/>
          </p:cNvSpPr>
          <p:nvPr/>
        </p:nvSpPr>
        <p:spPr bwMode="auto">
          <a:xfrm>
            <a:off x="6221413" y="189388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45</a:t>
            </a:r>
          </a:p>
        </p:txBody>
      </p:sp>
      <p:sp>
        <p:nvSpPr>
          <p:cNvPr id="1450012" name="Rectangle 31"/>
          <p:cNvSpPr>
            <a:spLocks noChangeArrowheads="1"/>
          </p:cNvSpPr>
          <p:nvPr/>
        </p:nvSpPr>
        <p:spPr bwMode="auto">
          <a:xfrm>
            <a:off x="6534150" y="1892300"/>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46</a:t>
            </a:r>
          </a:p>
        </p:txBody>
      </p:sp>
      <p:sp>
        <p:nvSpPr>
          <p:cNvPr id="1450013" name="Rectangle 32"/>
          <p:cNvSpPr>
            <a:spLocks noChangeArrowheads="1"/>
          </p:cNvSpPr>
          <p:nvPr/>
        </p:nvSpPr>
        <p:spPr bwMode="auto">
          <a:xfrm>
            <a:off x="6846888" y="1890713"/>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47</a:t>
            </a:r>
          </a:p>
        </p:txBody>
      </p:sp>
      <p:sp>
        <p:nvSpPr>
          <p:cNvPr id="1450014" name="Rectangle 33"/>
          <p:cNvSpPr>
            <a:spLocks noChangeArrowheads="1"/>
          </p:cNvSpPr>
          <p:nvPr/>
        </p:nvSpPr>
        <p:spPr bwMode="auto">
          <a:xfrm>
            <a:off x="7159625" y="1889125"/>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48</a:t>
            </a:r>
          </a:p>
        </p:txBody>
      </p:sp>
      <p:sp>
        <p:nvSpPr>
          <p:cNvPr id="1450015" name="Rectangle 34"/>
          <p:cNvSpPr>
            <a:spLocks noChangeArrowheads="1"/>
          </p:cNvSpPr>
          <p:nvPr/>
        </p:nvSpPr>
        <p:spPr bwMode="auto">
          <a:xfrm>
            <a:off x="7473950" y="1887538"/>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49</a:t>
            </a:r>
          </a:p>
        </p:txBody>
      </p:sp>
      <p:sp>
        <p:nvSpPr>
          <p:cNvPr id="1450016" name="Rectangle 35"/>
          <p:cNvSpPr>
            <a:spLocks noChangeArrowheads="1"/>
          </p:cNvSpPr>
          <p:nvPr/>
        </p:nvSpPr>
        <p:spPr bwMode="auto">
          <a:xfrm>
            <a:off x="7786688" y="1885950"/>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50</a:t>
            </a:r>
          </a:p>
        </p:txBody>
      </p:sp>
      <p:sp>
        <p:nvSpPr>
          <p:cNvPr id="1450017" name="Rectangle 36"/>
          <p:cNvSpPr>
            <a:spLocks noChangeArrowheads="1"/>
          </p:cNvSpPr>
          <p:nvPr/>
        </p:nvSpPr>
        <p:spPr bwMode="auto">
          <a:xfrm>
            <a:off x="8099425" y="1884363"/>
            <a:ext cx="233363"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51</a:t>
            </a:r>
          </a:p>
        </p:txBody>
      </p:sp>
      <p:sp>
        <p:nvSpPr>
          <p:cNvPr id="1450018" name="Rectangle 37"/>
          <p:cNvSpPr>
            <a:spLocks noChangeArrowheads="1"/>
          </p:cNvSpPr>
          <p:nvPr/>
        </p:nvSpPr>
        <p:spPr bwMode="auto">
          <a:xfrm>
            <a:off x="8412163" y="1882775"/>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52</a:t>
            </a:r>
          </a:p>
        </p:txBody>
      </p:sp>
      <p:sp>
        <p:nvSpPr>
          <p:cNvPr id="1450019" name="Rectangle 38"/>
          <p:cNvSpPr>
            <a:spLocks noChangeArrowheads="1"/>
          </p:cNvSpPr>
          <p:nvPr/>
        </p:nvSpPr>
        <p:spPr bwMode="auto">
          <a:xfrm>
            <a:off x="8724900" y="1881188"/>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53</a:t>
            </a:r>
          </a:p>
        </p:txBody>
      </p:sp>
      <p:sp>
        <p:nvSpPr>
          <p:cNvPr id="1450020" name="Rectangle 39"/>
          <p:cNvSpPr>
            <a:spLocks noChangeArrowheads="1"/>
          </p:cNvSpPr>
          <p:nvPr/>
        </p:nvSpPr>
        <p:spPr bwMode="auto">
          <a:xfrm>
            <a:off x="9037638" y="1879600"/>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54</a:t>
            </a:r>
          </a:p>
        </p:txBody>
      </p:sp>
      <p:sp>
        <p:nvSpPr>
          <p:cNvPr id="1450021" name="Rectangle 40"/>
          <p:cNvSpPr>
            <a:spLocks noChangeArrowheads="1"/>
          </p:cNvSpPr>
          <p:nvPr/>
        </p:nvSpPr>
        <p:spPr bwMode="auto">
          <a:xfrm>
            <a:off x="9351963" y="1878013"/>
            <a:ext cx="233362"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55</a:t>
            </a:r>
          </a:p>
        </p:txBody>
      </p:sp>
      <p:sp>
        <p:nvSpPr>
          <p:cNvPr id="1450022" name="Text Box 41"/>
          <p:cNvSpPr txBox="1">
            <a:spLocks noChangeArrowheads="1"/>
          </p:cNvSpPr>
          <p:nvPr/>
        </p:nvSpPr>
        <p:spPr bwMode="auto">
          <a:xfrm>
            <a:off x="2355850" y="2386013"/>
            <a:ext cx="2492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FF"/>
                </a:solidFill>
                <a:ea typeface="黑体" panose="02010609060101010101" pitchFamily="49" charset="-122"/>
              </a:rPr>
              <a:t>已发送但未收到确认</a:t>
            </a:r>
          </a:p>
        </p:txBody>
      </p:sp>
      <p:sp>
        <p:nvSpPr>
          <p:cNvPr id="1450023" name="Rectangle 42"/>
          <p:cNvSpPr>
            <a:spLocks noChangeArrowheads="1"/>
          </p:cNvSpPr>
          <p:nvPr/>
        </p:nvSpPr>
        <p:spPr bwMode="auto">
          <a:xfrm>
            <a:off x="9655175" y="1878013"/>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56</a:t>
            </a:r>
          </a:p>
        </p:txBody>
      </p:sp>
      <p:sp>
        <p:nvSpPr>
          <p:cNvPr id="1450024" name="Line 44"/>
          <p:cNvSpPr>
            <a:spLocks noChangeShapeType="1"/>
          </p:cNvSpPr>
          <p:nvPr/>
        </p:nvSpPr>
        <p:spPr bwMode="auto">
          <a:xfrm flipV="1">
            <a:off x="1955800" y="221297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0025" name="Text Box 45"/>
          <p:cNvSpPr txBox="1">
            <a:spLocks noChangeArrowheads="1"/>
          </p:cNvSpPr>
          <p:nvPr/>
        </p:nvSpPr>
        <p:spPr bwMode="auto">
          <a:xfrm>
            <a:off x="1771650" y="2760663"/>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1</a:t>
            </a:r>
          </a:p>
        </p:txBody>
      </p:sp>
      <p:sp>
        <p:nvSpPr>
          <p:cNvPr id="1450026" name="Line 47"/>
          <p:cNvSpPr>
            <a:spLocks noChangeShapeType="1"/>
          </p:cNvSpPr>
          <p:nvPr/>
        </p:nvSpPr>
        <p:spPr bwMode="auto">
          <a:xfrm flipV="1">
            <a:off x="5399088" y="221297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0027" name="Text Box 48"/>
          <p:cNvSpPr txBox="1">
            <a:spLocks noChangeArrowheads="1"/>
          </p:cNvSpPr>
          <p:nvPr/>
        </p:nvSpPr>
        <p:spPr bwMode="auto">
          <a:xfrm>
            <a:off x="5232400" y="2760663"/>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2</a:t>
            </a:r>
          </a:p>
        </p:txBody>
      </p:sp>
      <p:sp>
        <p:nvSpPr>
          <p:cNvPr id="1450028" name="Line 50"/>
          <p:cNvSpPr>
            <a:spLocks noChangeShapeType="1"/>
          </p:cNvSpPr>
          <p:nvPr/>
        </p:nvSpPr>
        <p:spPr bwMode="auto">
          <a:xfrm flipV="1">
            <a:off x="8228013" y="221297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0029" name="Text Box 51"/>
          <p:cNvSpPr txBox="1">
            <a:spLocks noChangeArrowheads="1"/>
          </p:cNvSpPr>
          <p:nvPr/>
        </p:nvSpPr>
        <p:spPr bwMode="auto">
          <a:xfrm>
            <a:off x="8048625" y="2760663"/>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3</a:t>
            </a:r>
          </a:p>
        </p:txBody>
      </p:sp>
      <p:sp>
        <p:nvSpPr>
          <p:cNvPr id="1450030" name="Text Box 52"/>
          <p:cNvSpPr txBox="1">
            <a:spLocks noChangeArrowheads="1"/>
          </p:cNvSpPr>
          <p:nvPr/>
        </p:nvSpPr>
        <p:spPr bwMode="auto">
          <a:xfrm>
            <a:off x="8221663" y="3971925"/>
            <a:ext cx="146685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黑体" panose="02010609060101010101" pitchFamily="49" charset="-122"/>
              </a:rPr>
              <a:t>不允许接收</a:t>
            </a:r>
          </a:p>
        </p:txBody>
      </p:sp>
      <p:sp>
        <p:nvSpPr>
          <p:cNvPr id="1450031" name="Text Box 53"/>
          <p:cNvSpPr txBox="1">
            <a:spLocks noChangeArrowheads="1"/>
          </p:cNvSpPr>
          <p:nvPr/>
        </p:nvSpPr>
        <p:spPr bwMode="auto">
          <a:xfrm>
            <a:off x="277813" y="3971925"/>
            <a:ext cx="1468437"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黑体" panose="02010609060101010101" pitchFamily="49" charset="-122"/>
              </a:rPr>
              <a:t>已发送确认</a:t>
            </a:r>
          </a:p>
          <a:p>
            <a:pPr algn="ctr" eaLnBrk="0" hangingPunct="0"/>
            <a:r>
              <a:rPr lang="zh-CN" altLang="en-US" sz="2000" b="1">
                <a:solidFill>
                  <a:srgbClr val="C00000"/>
                </a:solidFill>
                <a:ea typeface="黑体" panose="02010609060101010101" pitchFamily="49" charset="-122"/>
              </a:rPr>
              <a:t>并交付主机</a:t>
            </a:r>
          </a:p>
        </p:txBody>
      </p:sp>
      <p:sp>
        <p:nvSpPr>
          <p:cNvPr id="1450032" name="Text Box 54"/>
          <p:cNvSpPr txBox="1">
            <a:spLocks noChangeArrowheads="1"/>
          </p:cNvSpPr>
          <p:nvPr/>
        </p:nvSpPr>
        <p:spPr bwMode="auto">
          <a:xfrm>
            <a:off x="3938588" y="3141663"/>
            <a:ext cx="1731962"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B </a:t>
            </a:r>
            <a:r>
              <a:rPr lang="zh-CN" altLang="en-US" sz="2000" b="1">
                <a:solidFill>
                  <a:srgbClr val="0000CC"/>
                </a:solidFill>
                <a:ea typeface="黑体" panose="02010609060101010101" pitchFamily="49" charset="-122"/>
              </a:rPr>
              <a:t>的</a:t>
            </a:r>
            <a:r>
              <a:rPr lang="zh-CN" altLang="en-US" sz="2000" b="1">
                <a:solidFill>
                  <a:srgbClr val="FF0000"/>
                </a:solidFill>
                <a:ea typeface="黑体" panose="02010609060101010101" pitchFamily="49" charset="-122"/>
              </a:rPr>
              <a:t>接收窗口</a:t>
            </a:r>
          </a:p>
        </p:txBody>
      </p:sp>
      <p:sp>
        <p:nvSpPr>
          <p:cNvPr id="1450033" name="Text Box 55"/>
          <p:cNvSpPr txBox="1">
            <a:spLocks noChangeArrowheads="1"/>
          </p:cNvSpPr>
          <p:nvPr/>
        </p:nvSpPr>
        <p:spPr bwMode="auto">
          <a:xfrm>
            <a:off x="4371975" y="4191000"/>
            <a:ext cx="14224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FF"/>
                </a:solidFill>
                <a:ea typeface="黑体" panose="02010609060101010101" pitchFamily="49" charset="-122"/>
              </a:rPr>
              <a:t>允许接收</a:t>
            </a:r>
          </a:p>
        </p:txBody>
      </p:sp>
      <p:sp>
        <p:nvSpPr>
          <p:cNvPr id="1450034" name="Rectangle 56"/>
          <p:cNvSpPr>
            <a:spLocks noChangeArrowheads="1"/>
          </p:cNvSpPr>
          <p:nvPr/>
        </p:nvSpPr>
        <p:spPr bwMode="auto">
          <a:xfrm>
            <a:off x="1793875" y="3500438"/>
            <a:ext cx="6248400" cy="649287"/>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450035" name="Rectangle 57"/>
          <p:cNvSpPr>
            <a:spLocks noChangeArrowheads="1"/>
          </p:cNvSpPr>
          <p:nvPr/>
        </p:nvSpPr>
        <p:spPr bwMode="auto">
          <a:xfrm>
            <a:off x="273050" y="3716338"/>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26</a:t>
            </a:r>
          </a:p>
        </p:txBody>
      </p:sp>
      <p:sp>
        <p:nvSpPr>
          <p:cNvPr id="1450036" name="Rectangle 58"/>
          <p:cNvSpPr>
            <a:spLocks noChangeArrowheads="1"/>
          </p:cNvSpPr>
          <p:nvPr/>
        </p:nvSpPr>
        <p:spPr bwMode="auto">
          <a:xfrm>
            <a:off x="585788" y="3714750"/>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27</a:t>
            </a:r>
          </a:p>
        </p:txBody>
      </p:sp>
      <p:sp>
        <p:nvSpPr>
          <p:cNvPr id="1450037" name="Rectangle 59"/>
          <p:cNvSpPr>
            <a:spLocks noChangeArrowheads="1"/>
          </p:cNvSpPr>
          <p:nvPr/>
        </p:nvSpPr>
        <p:spPr bwMode="auto">
          <a:xfrm>
            <a:off x="898525" y="3713163"/>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28</a:t>
            </a:r>
          </a:p>
        </p:txBody>
      </p:sp>
      <p:sp>
        <p:nvSpPr>
          <p:cNvPr id="1450038" name="Rectangle 60"/>
          <p:cNvSpPr>
            <a:spLocks noChangeArrowheads="1"/>
          </p:cNvSpPr>
          <p:nvPr/>
        </p:nvSpPr>
        <p:spPr bwMode="auto">
          <a:xfrm>
            <a:off x="1211263" y="3711575"/>
            <a:ext cx="233362"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29</a:t>
            </a:r>
          </a:p>
        </p:txBody>
      </p:sp>
      <p:sp>
        <p:nvSpPr>
          <p:cNvPr id="1450039" name="Rectangle 61"/>
          <p:cNvSpPr>
            <a:spLocks noChangeArrowheads="1"/>
          </p:cNvSpPr>
          <p:nvPr/>
        </p:nvSpPr>
        <p:spPr bwMode="auto">
          <a:xfrm>
            <a:off x="1524000" y="3709988"/>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30</a:t>
            </a:r>
          </a:p>
        </p:txBody>
      </p:sp>
      <p:sp>
        <p:nvSpPr>
          <p:cNvPr id="1450040" name="Rectangle 62"/>
          <p:cNvSpPr>
            <a:spLocks noChangeArrowheads="1"/>
          </p:cNvSpPr>
          <p:nvPr/>
        </p:nvSpPr>
        <p:spPr bwMode="auto">
          <a:xfrm>
            <a:off x="1836738" y="3708400"/>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31</a:t>
            </a:r>
          </a:p>
        </p:txBody>
      </p:sp>
      <p:sp>
        <p:nvSpPr>
          <p:cNvPr id="1450041" name="Rectangle 63"/>
          <p:cNvSpPr>
            <a:spLocks noChangeArrowheads="1"/>
          </p:cNvSpPr>
          <p:nvPr/>
        </p:nvSpPr>
        <p:spPr bwMode="auto">
          <a:xfrm>
            <a:off x="2151063" y="3706813"/>
            <a:ext cx="233362" cy="287337"/>
          </a:xfrm>
          <a:prstGeom prst="rect">
            <a:avLst/>
          </a:prstGeom>
          <a:solidFill>
            <a:srgbClr val="CC9900"/>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32</a:t>
            </a:r>
          </a:p>
        </p:txBody>
      </p:sp>
      <p:sp>
        <p:nvSpPr>
          <p:cNvPr id="1450042" name="Rectangle 64"/>
          <p:cNvSpPr>
            <a:spLocks noChangeArrowheads="1"/>
          </p:cNvSpPr>
          <p:nvPr/>
        </p:nvSpPr>
        <p:spPr bwMode="auto">
          <a:xfrm>
            <a:off x="2463800" y="3705225"/>
            <a:ext cx="233363" cy="287338"/>
          </a:xfrm>
          <a:prstGeom prst="rect">
            <a:avLst/>
          </a:prstGeom>
          <a:solidFill>
            <a:srgbClr val="CC9900"/>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33</a:t>
            </a:r>
          </a:p>
        </p:txBody>
      </p:sp>
      <p:sp>
        <p:nvSpPr>
          <p:cNvPr id="1450043" name="Rectangle 65"/>
          <p:cNvSpPr>
            <a:spLocks noChangeArrowheads="1"/>
          </p:cNvSpPr>
          <p:nvPr/>
        </p:nvSpPr>
        <p:spPr bwMode="auto">
          <a:xfrm>
            <a:off x="2776538" y="370363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34</a:t>
            </a:r>
          </a:p>
        </p:txBody>
      </p:sp>
      <p:sp>
        <p:nvSpPr>
          <p:cNvPr id="1450044" name="Rectangle 66"/>
          <p:cNvSpPr>
            <a:spLocks noChangeArrowheads="1"/>
          </p:cNvSpPr>
          <p:nvPr/>
        </p:nvSpPr>
        <p:spPr bwMode="auto">
          <a:xfrm>
            <a:off x="3089275" y="3702050"/>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35</a:t>
            </a:r>
          </a:p>
        </p:txBody>
      </p:sp>
      <p:sp>
        <p:nvSpPr>
          <p:cNvPr id="1450045" name="Rectangle 67"/>
          <p:cNvSpPr>
            <a:spLocks noChangeArrowheads="1"/>
          </p:cNvSpPr>
          <p:nvPr/>
        </p:nvSpPr>
        <p:spPr bwMode="auto">
          <a:xfrm>
            <a:off x="3402013" y="3700463"/>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36</a:t>
            </a:r>
          </a:p>
        </p:txBody>
      </p:sp>
      <p:sp>
        <p:nvSpPr>
          <p:cNvPr id="1450046" name="Rectangle 68"/>
          <p:cNvSpPr>
            <a:spLocks noChangeArrowheads="1"/>
          </p:cNvSpPr>
          <p:nvPr/>
        </p:nvSpPr>
        <p:spPr bwMode="auto">
          <a:xfrm>
            <a:off x="3714750" y="3698875"/>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37</a:t>
            </a:r>
          </a:p>
        </p:txBody>
      </p:sp>
      <p:sp>
        <p:nvSpPr>
          <p:cNvPr id="1450047" name="Rectangle 69"/>
          <p:cNvSpPr>
            <a:spLocks noChangeArrowheads="1"/>
          </p:cNvSpPr>
          <p:nvPr/>
        </p:nvSpPr>
        <p:spPr bwMode="auto">
          <a:xfrm>
            <a:off x="4029075" y="3697288"/>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38</a:t>
            </a:r>
          </a:p>
        </p:txBody>
      </p:sp>
      <p:sp>
        <p:nvSpPr>
          <p:cNvPr id="1450048" name="Rectangle 70"/>
          <p:cNvSpPr>
            <a:spLocks noChangeArrowheads="1"/>
          </p:cNvSpPr>
          <p:nvPr/>
        </p:nvSpPr>
        <p:spPr bwMode="auto">
          <a:xfrm>
            <a:off x="4341813" y="3695700"/>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39</a:t>
            </a:r>
          </a:p>
        </p:txBody>
      </p:sp>
      <p:sp>
        <p:nvSpPr>
          <p:cNvPr id="1450049" name="Rectangle 71"/>
          <p:cNvSpPr>
            <a:spLocks noChangeArrowheads="1"/>
          </p:cNvSpPr>
          <p:nvPr/>
        </p:nvSpPr>
        <p:spPr bwMode="auto">
          <a:xfrm>
            <a:off x="4654550" y="3694113"/>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40</a:t>
            </a:r>
          </a:p>
        </p:txBody>
      </p:sp>
      <p:sp>
        <p:nvSpPr>
          <p:cNvPr id="1450050" name="Rectangle 72"/>
          <p:cNvSpPr>
            <a:spLocks noChangeArrowheads="1"/>
          </p:cNvSpPr>
          <p:nvPr/>
        </p:nvSpPr>
        <p:spPr bwMode="auto">
          <a:xfrm>
            <a:off x="4967288" y="3692525"/>
            <a:ext cx="233362"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41</a:t>
            </a:r>
          </a:p>
        </p:txBody>
      </p:sp>
      <p:sp>
        <p:nvSpPr>
          <p:cNvPr id="1450051" name="Rectangle 73"/>
          <p:cNvSpPr>
            <a:spLocks noChangeArrowheads="1"/>
          </p:cNvSpPr>
          <p:nvPr/>
        </p:nvSpPr>
        <p:spPr bwMode="auto">
          <a:xfrm>
            <a:off x="5280025" y="3690938"/>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42</a:t>
            </a:r>
          </a:p>
        </p:txBody>
      </p:sp>
      <p:sp>
        <p:nvSpPr>
          <p:cNvPr id="1450052" name="Rectangle 74"/>
          <p:cNvSpPr>
            <a:spLocks noChangeArrowheads="1"/>
          </p:cNvSpPr>
          <p:nvPr/>
        </p:nvSpPr>
        <p:spPr bwMode="auto">
          <a:xfrm>
            <a:off x="5592763" y="3689350"/>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43</a:t>
            </a:r>
          </a:p>
        </p:txBody>
      </p:sp>
      <p:sp>
        <p:nvSpPr>
          <p:cNvPr id="1450053" name="Rectangle 75"/>
          <p:cNvSpPr>
            <a:spLocks noChangeArrowheads="1"/>
          </p:cNvSpPr>
          <p:nvPr/>
        </p:nvSpPr>
        <p:spPr bwMode="auto">
          <a:xfrm>
            <a:off x="5907088" y="3687763"/>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44</a:t>
            </a:r>
          </a:p>
        </p:txBody>
      </p:sp>
      <p:sp>
        <p:nvSpPr>
          <p:cNvPr id="1450054" name="Rectangle 76"/>
          <p:cNvSpPr>
            <a:spLocks noChangeArrowheads="1"/>
          </p:cNvSpPr>
          <p:nvPr/>
        </p:nvSpPr>
        <p:spPr bwMode="auto">
          <a:xfrm>
            <a:off x="6219825" y="3686175"/>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45</a:t>
            </a:r>
          </a:p>
        </p:txBody>
      </p:sp>
      <p:sp>
        <p:nvSpPr>
          <p:cNvPr id="1450055" name="Rectangle 77"/>
          <p:cNvSpPr>
            <a:spLocks noChangeArrowheads="1"/>
          </p:cNvSpPr>
          <p:nvPr/>
        </p:nvSpPr>
        <p:spPr bwMode="auto">
          <a:xfrm>
            <a:off x="6532563" y="3684588"/>
            <a:ext cx="233362"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46</a:t>
            </a:r>
          </a:p>
        </p:txBody>
      </p:sp>
      <p:sp>
        <p:nvSpPr>
          <p:cNvPr id="1450056" name="Rectangle 78"/>
          <p:cNvSpPr>
            <a:spLocks noChangeArrowheads="1"/>
          </p:cNvSpPr>
          <p:nvPr/>
        </p:nvSpPr>
        <p:spPr bwMode="auto">
          <a:xfrm>
            <a:off x="6845300" y="3683000"/>
            <a:ext cx="233363"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47</a:t>
            </a:r>
          </a:p>
        </p:txBody>
      </p:sp>
      <p:sp>
        <p:nvSpPr>
          <p:cNvPr id="1450057" name="Rectangle 79"/>
          <p:cNvSpPr>
            <a:spLocks noChangeArrowheads="1"/>
          </p:cNvSpPr>
          <p:nvPr/>
        </p:nvSpPr>
        <p:spPr bwMode="auto">
          <a:xfrm>
            <a:off x="7158038" y="3681413"/>
            <a:ext cx="234950"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48</a:t>
            </a:r>
          </a:p>
        </p:txBody>
      </p:sp>
      <p:sp>
        <p:nvSpPr>
          <p:cNvPr id="1450058" name="Rectangle 80"/>
          <p:cNvSpPr>
            <a:spLocks noChangeArrowheads="1"/>
          </p:cNvSpPr>
          <p:nvPr/>
        </p:nvSpPr>
        <p:spPr bwMode="auto">
          <a:xfrm>
            <a:off x="7470775" y="3679825"/>
            <a:ext cx="234950" cy="287338"/>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49</a:t>
            </a:r>
          </a:p>
        </p:txBody>
      </p:sp>
      <p:sp>
        <p:nvSpPr>
          <p:cNvPr id="1450059" name="Rectangle 81"/>
          <p:cNvSpPr>
            <a:spLocks noChangeArrowheads="1"/>
          </p:cNvSpPr>
          <p:nvPr/>
        </p:nvSpPr>
        <p:spPr bwMode="auto">
          <a:xfrm>
            <a:off x="7785100" y="3678238"/>
            <a:ext cx="233363" cy="287337"/>
          </a:xfrm>
          <a:prstGeom prst="rect">
            <a:avLst/>
          </a:prstGeom>
          <a:solidFill>
            <a:srgbClr val="FFCC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50</a:t>
            </a:r>
          </a:p>
        </p:txBody>
      </p:sp>
      <p:sp>
        <p:nvSpPr>
          <p:cNvPr id="1450060" name="Rectangle 82"/>
          <p:cNvSpPr>
            <a:spLocks noChangeArrowheads="1"/>
          </p:cNvSpPr>
          <p:nvPr/>
        </p:nvSpPr>
        <p:spPr bwMode="auto">
          <a:xfrm>
            <a:off x="8097838" y="3676650"/>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51</a:t>
            </a:r>
          </a:p>
        </p:txBody>
      </p:sp>
      <p:sp>
        <p:nvSpPr>
          <p:cNvPr id="1450061" name="Rectangle 83"/>
          <p:cNvSpPr>
            <a:spLocks noChangeArrowheads="1"/>
          </p:cNvSpPr>
          <p:nvPr/>
        </p:nvSpPr>
        <p:spPr bwMode="auto">
          <a:xfrm>
            <a:off x="8410575" y="3675063"/>
            <a:ext cx="233363"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52</a:t>
            </a:r>
          </a:p>
        </p:txBody>
      </p:sp>
      <p:sp>
        <p:nvSpPr>
          <p:cNvPr id="1450062" name="Rectangle 84"/>
          <p:cNvSpPr>
            <a:spLocks noChangeArrowheads="1"/>
          </p:cNvSpPr>
          <p:nvPr/>
        </p:nvSpPr>
        <p:spPr bwMode="auto">
          <a:xfrm>
            <a:off x="8723313" y="3673475"/>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53</a:t>
            </a:r>
          </a:p>
        </p:txBody>
      </p:sp>
      <p:sp>
        <p:nvSpPr>
          <p:cNvPr id="1450063" name="Rectangle 85"/>
          <p:cNvSpPr>
            <a:spLocks noChangeArrowheads="1"/>
          </p:cNvSpPr>
          <p:nvPr/>
        </p:nvSpPr>
        <p:spPr bwMode="auto">
          <a:xfrm>
            <a:off x="9036050" y="3671888"/>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54</a:t>
            </a:r>
          </a:p>
        </p:txBody>
      </p:sp>
      <p:sp>
        <p:nvSpPr>
          <p:cNvPr id="1450064" name="Rectangle 86"/>
          <p:cNvSpPr>
            <a:spLocks noChangeArrowheads="1"/>
          </p:cNvSpPr>
          <p:nvPr/>
        </p:nvSpPr>
        <p:spPr bwMode="auto">
          <a:xfrm>
            <a:off x="9348788" y="3670300"/>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55</a:t>
            </a:r>
          </a:p>
        </p:txBody>
      </p:sp>
      <p:sp>
        <p:nvSpPr>
          <p:cNvPr id="1450065" name="Rectangle 87"/>
          <p:cNvSpPr>
            <a:spLocks noChangeArrowheads="1"/>
          </p:cNvSpPr>
          <p:nvPr/>
        </p:nvSpPr>
        <p:spPr bwMode="auto">
          <a:xfrm>
            <a:off x="9653588" y="3670300"/>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56</a:t>
            </a:r>
          </a:p>
        </p:txBody>
      </p:sp>
      <p:grpSp>
        <p:nvGrpSpPr>
          <p:cNvPr id="1450066" name="Group 93"/>
          <p:cNvGrpSpPr>
            <a:grpSpLocks/>
          </p:cNvGrpSpPr>
          <p:nvPr/>
        </p:nvGrpSpPr>
        <p:grpSpPr bwMode="auto">
          <a:xfrm>
            <a:off x="2273300" y="3992563"/>
            <a:ext cx="339725" cy="876300"/>
            <a:chOff x="1231" y="3150"/>
            <a:chExt cx="182" cy="272"/>
          </a:xfrm>
        </p:grpSpPr>
        <p:sp>
          <p:nvSpPr>
            <p:cNvPr id="1450067" name="Line 88"/>
            <p:cNvSpPr>
              <a:spLocks noChangeShapeType="1"/>
            </p:cNvSpPr>
            <p:nvPr/>
          </p:nvSpPr>
          <p:spPr bwMode="auto">
            <a:xfrm flipV="1">
              <a:off x="1231" y="3150"/>
              <a:ext cx="0" cy="27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0068" name="Line 89"/>
            <p:cNvSpPr>
              <a:spLocks noChangeShapeType="1"/>
            </p:cNvSpPr>
            <p:nvPr/>
          </p:nvSpPr>
          <p:spPr bwMode="auto">
            <a:xfrm flipV="1">
              <a:off x="1413" y="3150"/>
              <a:ext cx="0" cy="272"/>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450069" name="Text Box 90"/>
          <p:cNvSpPr txBox="1">
            <a:spLocks noChangeArrowheads="1"/>
          </p:cNvSpPr>
          <p:nvPr/>
        </p:nvSpPr>
        <p:spPr bwMode="auto">
          <a:xfrm>
            <a:off x="1716088" y="4822825"/>
            <a:ext cx="1466850" cy="400050"/>
          </a:xfrm>
          <a:prstGeom prst="rect">
            <a:avLst/>
          </a:prstGeom>
          <a:solidFill>
            <a:srgbClr val="FFFF99"/>
          </a:solidFill>
          <a:ln w="9525">
            <a:solidFill>
              <a:schemeClr val="tx1"/>
            </a:solidFill>
            <a:miter lim="800000"/>
            <a:headEnd/>
            <a:tailEnd/>
          </a:ln>
        </p:spPr>
        <p:txBody>
          <a:bodyPr wrap="none">
            <a:spAutoFit/>
          </a:bodyPr>
          <a:lstStyle/>
          <a:p>
            <a:pPr algn="ctr" eaLnBrk="0" hangingPunct="0"/>
            <a:r>
              <a:rPr lang="zh-CN" altLang="en-US" sz="2000" b="1">
                <a:solidFill>
                  <a:srgbClr val="0000CC"/>
                </a:solidFill>
                <a:ea typeface="黑体" panose="02010609060101010101" pitchFamily="49" charset="-122"/>
              </a:rPr>
              <a:t>未按序收到</a:t>
            </a:r>
          </a:p>
        </p:txBody>
      </p:sp>
      <p:sp>
        <p:nvSpPr>
          <p:cNvPr id="1450070" name="AutoShape 91"/>
          <p:cNvSpPr>
            <a:spLocks/>
          </p:cNvSpPr>
          <p:nvPr/>
        </p:nvSpPr>
        <p:spPr bwMode="auto">
          <a:xfrm rot="5400000">
            <a:off x="6538119" y="292894"/>
            <a:ext cx="184150" cy="2728912"/>
          </a:xfrm>
          <a:prstGeom prst="leftBrace">
            <a:avLst>
              <a:gd name="adj1" fmla="val 113955"/>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450071" name="Text Box 92"/>
          <p:cNvSpPr txBox="1">
            <a:spLocks noChangeArrowheads="1"/>
          </p:cNvSpPr>
          <p:nvPr/>
        </p:nvSpPr>
        <p:spPr bwMode="auto">
          <a:xfrm>
            <a:off x="5967413" y="12239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可用窗口</a:t>
            </a:r>
          </a:p>
        </p:txBody>
      </p:sp>
      <p:sp>
        <p:nvSpPr>
          <p:cNvPr id="1450072" name="Text Box 94"/>
          <p:cNvSpPr txBox="1">
            <a:spLocks noChangeArrowheads="1"/>
          </p:cNvSpPr>
          <p:nvPr/>
        </p:nvSpPr>
        <p:spPr bwMode="auto">
          <a:xfrm>
            <a:off x="1989138" y="185738"/>
            <a:ext cx="6084887" cy="6508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a:spAutoFit/>
          </a:bodyPr>
          <a:lstStyle/>
          <a:p>
            <a:pPr algn="ctr" eaLnBrk="0" hangingPunct="0"/>
            <a:r>
              <a:rPr lang="en-US" altLang="zh-CN" sz="3600" b="1">
                <a:solidFill>
                  <a:srgbClr val="0000CC"/>
                </a:solidFill>
                <a:ea typeface="黑体" panose="02010609060101010101" pitchFamily="49" charset="-122"/>
              </a:rPr>
              <a:t>A </a:t>
            </a:r>
            <a:r>
              <a:rPr lang="zh-CN" altLang="en-US" sz="3600" b="1">
                <a:solidFill>
                  <a:srgbClr val="0000CC"/>
                </a:solidFill>
                <a:ea typeface="黑体" panose="02010609060101010101" pitchFamily="49" charset="-122"/>
              </a:rPr>
              <a:t>发送了 </a:t>
            </a:r>
            <a:r>
              <a:rPr lang="en-US" altLang="zh-CN" sz="3600" b="1">
                <a:solidFill>
                  <a:srgbClr val="0000CC"/>
                </a:solidFill>
                <a:ea typeface="黑体" panose="02010609060101010101" pitchFamily="49" charset="-122"/>
              </a:rPr>
              <a:t>11 </a:t>
            </a:r>
            <a:r>
              <a:rPr lang="zh-CN" altLang="en-US" sz="3600" b="1">
                <a:solidFill>
                  <a:srgbClr val="0000CC"/>
                </a:solidFill>
                <a:ea typeface="黑体" panose="02010609060101010101" pitchFamily="49" charset="-122"/>
              </a:rPr>
              <a:t>个字节的数据 </a:t>
            </a:r>
          </a:p>
        </p:txBody>
      </p:sp>
      <p:sp>
        <p:nvSpPr>
          <p:cNvPr id="1450073" name="Text Box 95"/>
          <p:cNvSpPr txBox="1">
            <a:spLocks noChangeArrowheads="1"/>
          </p:cNvSpPr>
          <p:nvPr/>
        </p:nvSpPr>
        <p:spPr bwMode="auto">
          <a:xfrm>
            <a:off x="652463" y="5373688"/>
            <a:ext cx="8404225" cy="1200150"/>
          </a:xfrm>
          <a:prstGeom prst="rect">
            <a:avLst/>
          </a:prstGeom>
          <a:solidFill>
            <a:srgbClr val="FFFF99"/>
          </a:solidFill>
          <a:ln w="9525">
            <a:solidFill>
              <a:schemeClr val="folHlink"/>
            </a:solidFill>
            <a:miter lim="800000"/>
            <a:headEnd/>
            <a:tailEnd/>
          </a:ln>
        </p:spPr>
        <p:txBody>
          <a:bodyPr wrap="none">
            <a:spAutoFit/>
          </a:bodyPr>
          <a:lstStyle/>
          <a:p>
            <a:pPr eaLnBrk="0" hangingPunct="0"/>
            <a:r>
              <a:rPr lang="en-US" altLang="zh-CN" sz="2400" b="1">
                <a:solidFill>
                  <a:srgbClr val="0000CC"/>
                </a:solidFill>
                <a:ea typeface="黑体" panose="02010609060101010101" pitchFamily="49" charset="-122"/>
              </a:rPr>
              <a:t>P</a:t>
            </a:r>
            <a:r>
              <a:rPr lang="en-US" altLang="zh-CN" sz="2400" b="1" baseline="-25000">
                <a:solidFill>
                  <a:srgbClr val="0000CC"/>
                </a:solidFill>
                <a:ea typeface="黑体" panose="02010609060101010101" pitchFamily="49" charset="-122"/>
              </a:rPr>
              <a:t>3</a:t>
            </a:r>
            <a:r>
              <a:rPr lang="en-US" altLang="zh-CN" sz="2400" b="1">
                <a:solidFill>
                  <a:srgbClr val="0000CC"/>
                </a:solidFill>
                <a:ea typeface="黑体" panose="02010609060101010101" pitchFamily="49" charset="-122"/>
              </a:rPr>
              <a:t> – P</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 A </a:t>
            </a:r>
            <a:r>
              <a:rPr lang="zh-CN" altLang="en-US" sz="2400" b="1">
                <a:solidFill>
                  <a:srgbClr val="0000CC"/>
                </a:solidFill>
                <a:ea typeface="黑体" panose="02010609060101010101" pitchFamily="49" charset="-122"/>
              </a:rPr>
              <a:t>的发送窗口（又称为通知窗口）</a:t>
            </a:r>
          </a:p>
          <a:p>
            <a:pPr eaLnBrk="0" hangingPunct="0"/>
            <a:r>
              <a:rPr lang="en-US" altLang="zh-CN" sz="2400" b="1">
                <a:solidFill>
                  <a:srgbClr val="0000CC"/>
                </a:solidFill>
                <a:ea typeface="黑体" panose="02010609060101010101" pitchFamily="49" charset="-122"/>
              </a:rPr>
              <a:t>P</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 P</a:t>
            </a:r>
            <a:r>
              <a:rPr lang="en-US" altLang="zh-CN" sz="2400" b="1" baseline="-25000">
                <a:solidFill>
                  <a:srgbClr val="0000CC"/>
                </a:solidFill>
                <a:ea typeface="黑体" panose="02010609060101010101" pitchFamily="49" charset="-122"/>
              </a:rPr>
              <a:t>1</a:t>
            </a:r>
            <a:r>
              <a:rPr lang="en-US" altLang="zh-CN" sz="2400" b="1">
                <a:solidFill>
                  <a:srgbClr val="0000CC"/>
                </a:solidFill>
                <a:ea typeface="黑体" panose="02010609060101010101" pitchFamily="49" charset="-122"/>
              </a:rPr>
              <a:t> = </a:t>
            </a:r>
            <a:r>
              <a:rPr lang="zh-CN" altLang="en-US" sz="2400" b="1">
                <a:solidFill>
                  <a:srgbClr val="0000CC"/>
                </a:solidFill>
                <a:ea typeface="黑体" panose="02010609060101010101" pitchFamily="49" charset="-122"/>
              </a:rPr>
              <a:t>已发送但尚未收到确认的字节数</a:t>
            </a:r>
          </a:p>
          <a:p>
            <a:pPr eaLnBrk="0" hangingPunct="0"/>
            <a:r>
              <a:rPr lang="en-US" altLang="zh-CN" sz="2400" b="1">
                <a:solidFill>
                  <a:srgbClr val="0000CC"/>
                </a:solidFill>
                <a:ea typeface="黑体" panose="02010609060101010101" pitchFamily="49" charset="-122"/>
              </a:rPr>
              <a:t>P</a:t>
            </a:r>
            <a:r>
              <a:rPr lang="en-US" altLang="zh-CN" sz="2400" b="1" baseline="-25000">
                <a:solidFill>
                  <a:srgbClr val="0000CC"/>
                </a:solidFill>
                <a:ea typeface="黑体" panose="02010609060101010101" pitchFamily="49" charset="-122"/>
              </a:rPr>
              <a:t>3</a:t>
            </a:r>
            <a:r>
              <a:rPr lang="en-US" altLang="zh-CN" sz="2400" b="1">
                <a:solidFill>
                  <a:srgbClr val="0000CC"/>
                </a:solidFill>
                <a:ea typeface="黑体" panose="02010609060101010101" pitchFamily="49" charset="-122"/>
              </a:rPr>
              <a:t> – P</a:t>
            </a:r>
            <a:r>
              <a:rPr lang="en-US" altLang="zh-CN" sz="2400" b="1" baseline="-25000">
                <a:solidFill>
                  <a:srgbClr val="0000CC"/>
                </a:solidFill>
                <a:ea typeface="黑体" panose="02010609060101010101" pitchFamily="49" charset="-122"/>
              </a:rPr>
              <a:t>2</a:t>
            </a:r>
            <a:r>
              <a:rPr lang="en-US" altLang="zh-CN" sz="2400" b="1">
                <a:solidFill>
                  <a:srgbClr val="0000CC"/>
                </a:solidFill>
                <a:ea typeface="黑体" panose="02010609060101010101" pitchFamily="49" charset="-122"/>
              </a:rPr>
              <a:t> = </a:t>
            </a:r>
            <a:r>
              <a:rPr lang="zh-CN" altLang="en-US" sz="2400" b="1">
                <a:solidFill>
                  <a:srgbClr val="0000CC"/>
                </a:solidFill>
                <a:ea typeface="黑体" panose="02010609060101010101" pitchFamily="49" charset="-122"/>
              </a:rPr>
              <a:t>允许发送但尚未发送的字节数（又称为可用窗口） </a:t>
            </a:r>
          </a:p>
        </p:txBody>
      </p:sp>
      <p:sp>
        <p:nvSpPr>
          <p:cNvPr id="1450074" name="矩形 1"/>
          <p:cNvSpPr>
            <a:spLocks noChangeArrowheads="1"/>
          </p:cNvSpPr>
          <p:nvPr/>
        </p:nvSpPr>
        <p:spPr bwMode="auto">
          <a:xfrm>
            <a:off x="6140450" y="4437063"/>
            <a:ext cx="3632200" cy="708025"/>
          </a:xfrm>
          <a:prstGeom prst="rect">
            <a:avLst/>
          </a:prstGeom>
          <a:solidFill>
            <a:srgbClr val="0000CC"/>
          </a:solidFill>
          <a:ln w="9525">
            <a:solidFill>
              <a:schemeClr val="folHlink"/>
            </a:solidFill>
            <a:miter lim="800000"/>
            <a:headEnd/>
            <a:tailEnd/>
          </a:ln>
        </p:spPr>
        <p:txBody>
          <a:bodyPr>
            <a:spAutoFit/>
          </a:bodyPr>
          <a:lstStyle/>
          <a:p>
            <a:pPr algn="ctr" eaLnBrk="0" hangingPunct="0"/>
            <a:r>
              <a:rPr lang="zh-CN" altLang="zh-CN" sz="2000" b="1">
                <a:solidFill>
                  <a:schemeClr val="bg1"/>
                </a:solidFill>
                <a:ea typeface="黑体" panose="02010609060101010101" pitchFamily="49" charset="-122"/>
              </a:rPr>
              <a:t>接收窗口内的序号（</a:t>
            </a:r>
            <a:r>
              <a:rPr lang="en-US" altLang="zh-CN" sz="2000" b="1">
                <a:solidFill>
                  <a:schemeClr val="bg1"/>
                </a:solidFill>
                <a:ea typeface="黑体" panose="02010609060101010101" pitchFamily="49" charset="-122"/>
              </a:rPr>
              <a:t>31 ~ 50</a:t>
            </a:r>
            <a:r>
              <a:rPr lang="zh-CN" altLang="zh-CN" sz="2000" b="1">
                <a:solidFill>
                  <a:schemeClr val="bg1"/>
                </a:solidFill>
                <a:ea typeface="黑体" panose="02010609060101010101" pitchFamily="49" charset="-122"/>
              </a:rPr>
              <a:t>）</a:t>
            </a:r>
            <a:endParaRPr lang="en-US" altLang="zh-CN" sz="2000" b="1">
              <a:solidFill>
                <a:schemeClr val="bg1"/>
              </a:solidFill>
              <a:ea typeface="黑体" panose="02010609060101010101" pitchFamily="49" charset="-122"/>
            </a:endParaRPr>
          </a:p>
          <a:p>
            <a:pPr algn="ctr" eaLnBrk="0" hangingPunct="0"/>
            <a:r>
              <a:rPr lang="zh-CN" altLang="zh-CN" sz="2000" b="1">
                <a:solidFill>
                  <a:schemeClr val="bg1"/>
                </a:solidFill>
                <a:ea typeface="黑体" panose="02010609060101010101" pitchFamily="49" charset="-122"/>
              </a:rPr>
              <a:t>是允许接收的</a:t>
            </a:r>
            <a:r>
              <a:rPr lang="zh-CN" altLang="en-US" sz="2000" b="1">
                <a:solidFill>
                  <a:schemeClr val="bg1"/>
                </a:solidFill>
                <a:ea typeface="黑体" panose="02010609060101010101" pitchFamily="49" charset="-122"/>
              </a:rPr>
              <a:t>序号</a:t>
            </a:r>
            <a:r>
              <a:rPr lang="zh-CN" altLang="zh-CN" sz="2000" b="1">
                <a:solidFill>
                  <a:schemeClr val="bg1"/>
                </a:solidFill>
                <a:ea typeface="黑体" panose="02010609060101010101" pitchFamily="49" charset="-122"/>
              </a:rPr>
              <a:t>。</a:t>
            </a:r>
            <a:endParaRPr lang="zh-CN" altLang="en-US" sz="2000" b="1">
              <a:solidFill>
                <a:schemeClr val="bg1"/>
              </a:solidFill>
              <a:ea typeface="黑体" panose="02010609060101010101" pitchFamily="49" charset="-122"/>
            </a:endParaRPr>
          </a:p>
        </p:txBody>
      </p:sp>
      <p:sp>
        <p:nvSpPr>
          <p:cNvPr id="145007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4BAFA61-DE15-47C9-A275-CEDBC1623534}" type="slidenum">
              <a:rPr lang="zh-CN" altLang="en-US" smtClean="0"/>
              <a:pPr/>
              <a:t>46</a:t>
            </a:fld>
            <a:endParaRPr lang="en-US" altLang="zh-CN" smtClean="0"/>
          </a:p>
        </p:txBody>
      </p:sp>
      <p:sp>
        <p:nvSpPr>
          <p:cNvPr id="145007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2033" name="Text Box 4"/>
          <p:cNvSpPr txBox="1">
            <a:spLocks noChangeArrowheads="1"/>
          </p:cNvSpPr>
          <p:nvPr/>
        </p:nvSpPr>
        <p:spPr bwMode="auto">
          <a:xfrm>
            <a:off x="5883275" y="2132013"/>
            <a:ext cx="249237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允许发送但尚未发送</a:t>
            </a:r>
          </a:p>
        </p:txBody>
      </p:sp>
      <p:sp>
        <p:nvSpPr>
          <p:cNvPr id="1452034" name="Text Box 5"/>
          <p:cNvSpPr txBox="1">
            <a:spLocks noChangeArrowheads="1"/>
          </p:cNvSpPr>
          <p:nvPr/>
        </p:nvSpPr>
        <p:spPr bwMode="auto">
          <a:xfrm>
            <a:off x="4402138" y="1125538"/>
            <a:ext cx="2754312"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 </a:t>
            </a:r>
            <a:r>
              <a:rPr lang="zh-CN" altLang="en-US" sz="2000" b="1">
                <a:solidFill>
                  <a:srgbClr val="0000CC"/>
                </a:solidFill>
                <a:ea typeface="黑体" panose="02010609060101010101" pitchFamily="49" charset="-122"/>
              </a:rPr>
              <a:t>的</a:t>
            </a:r>
            <a:r>
              <a:rPr lang="zh-CN" altLang="en-US" sz="2000" b="1">
                <a:solidFill>
                  <a:srgbClr val="FF0000"/>
                </a:solidFill>
                <a:ea typeface="黑体" panose="02010609060101010101" pitchFamily="49" charset="-122"/>
              </a:rPr>
              <a:t>发送窗口</a:t>
            </a:r>
            <a:r>
              <a:rPr lang="zh-CN" altLang="en-US" sz="2000" b="1">
                <a:solidFill>
                  <a:srgbClr val="0000CC"/>
                </a:solidFill>
                <a:ea typeface="黑体" panose="02010609060101010101" pitchFamily="49" charset="-122"/>
              </a:rPr>
              <a:t>向前滑动</a:t>
            </a:r>
          </a:p>
        </p:txBody>
      </p:sp>
      <p:sp>
        <p:nvSpPr>
          <p:cNvPr id="1452035" name="Rectangle 6"/>
          <p:cNvSpPr>
            <a:spLocks noChangeArrowheads="1"/>
          </p:cNvSpPr>
          <p:nvPr/>
        </p:nvSpPr>
        <p:spPr bwMode="auto">
          <a:xfrm>
            <a:off x="2722563" y="1512888"/>
            <a:ext cx="6273800" cy="647700"/>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452036" name="Rectangle 7"/>
          <p:cNvSpPr>
            <a:spLocks noChangeArrowheads="1"/>
          </p:cNvSpPr>
          <p:nvPr/>
        </p:nvSpPr>
        <p:spPr bwMode="auto">
          <a:xfrm>
            <a:off x="268288" y="1706563"/>
            <a:ext cx="234950"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26</a:t>
            </a:r>
          </a:p>
        </p:txBody>
      </p:sp>
      <p:sp>
        <p:nvSpPr>
          <p:cNvPr id="1452037" name="Rectangle 8"/>
          <p:cNvSpPr>
            <a:spLocks noChangeArrowheads="1"/>
          </p:cNvSpPr>
          <p:nvPr/>
        </p:nvSpPr>
        <p:spPr bwMode="auto">
          <a:xfrm>
            <a:off x="582613" y="1706563"/>
            <a:ext cx="233362"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27</a:t>
            </a:r>
          </a:p>
        </p:txBody>
      </p:sp>
      <p:sp>
        <p:nvSpPr>
          <p:cNvPr id="1452038" name="Rectangle 9"/>
          <p:cNvSpPr>
            <a:spLocks noChangeArrowheads="1"/>
          </p:cNvSpPr>
          <p:nvPr/>
        </p:nvSpPr>
        <p:spPr bwMode="auto">
          <a:xfrm>
            <a:off x="895350" y="1706563"/>
            <a:ext cx="233363"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28</a:t>
            </a:r>
          </a:p>
        </p:txBody>
      </p:sp>
      <p:sp>
        <p:nvSpPr>
          <p:cNvPr id="1452039" name="Rectangle 10"/>
          <p:cNvSpPr>
            <a:spLocks noChangeArrowheads="1"/>
          </p:cNvSpPr>
          <p:nvPr/>
        </p:nvSpPr>
        <p:spPr bwMode="auto">
          <a:xfrm>
            <a:off x="1208088" y="1706563"/>
            <a:ext cx="233362"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29</a:t>
            </a:r>
          </a:p>
        </p:txBody>
      </p:sp>
      <p:sp>
        <p:nvSpPr>
          <p:cNvPr id="1452040" name="Rectangle 11"/>
          <p:cNvSpPr>
            <a:spLocks noChangeArrowheads="1"/>
          </p:cNvSpPr>
          <p:nvPr/>
        </p:nvSpPr>
        <p:spPr bwMode="auto">
          <a:xfrm>
            <a:off x="1520825" y="1706563"/>
            <a:ext cx="233363"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30</a:t>
            </a:r>
          </a:p>
        </p:txBody>
      </p:sp>
      <p:sp>
        <p:nvSpPr>
          <p:cNvPr id="1452041" name="Rectangle 12"/>
          <p:cNvSpPr>
            <a:spLocks noChangeArrowheads="1"/>
          </p:cNvSpPr>
          <p:nvPr/>
        </p:nvSpPr>
        <p:spPr bwMode="auto">
          <a:xfrm>
            <a:off x="1833563" y="1706563"/>
            <a:ext cx="234950"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31</a:t>
            </a:r>
          </a:p>
        </p:txBody>
      </p:sp>
      <p:sp>
        <p:nvSpPr>
          <p:cNvPr id="1452042" name="Rectangle 13"/>
          <p:cNvSpPr>
            <a:spLocks noChangeArrowheads="1"/>
          </p:cNvSpPr>
          <p:nvPr/>
        </p:nvSpPr>
        <p:spPr bwMode="auto">
          <a:xfrm>
            <a:off x="2146300" y="1706563"/>
            <a:ext cx="234950"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32</a:t>
            </a:r>
          </a:p>
        </p:txBody>
      </p:sp>
      <p:sp>
        <p:nvSpPr>
          <p:cNvPr id="1452043" name="Rectangle 14"/>
          <p:cNvSpPr>
            <a:spLocks noChangeArrowheads="1"/>
          </p:cNvSpPr>
          <p:nvPr/>
        </p:nvSpPr>
        <p:spPr bwMode="auto">
          <a:xfrm>
            <a:off x="2460625" y="1706563"/>
            <a:ext cx="233363" cy="285750"/>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33</a:t>
            </a:r>
          </a:p>
        </p:txBody>
      </p:sp>
      <p:sp>
        <p:nvSpPr>
          <p:cNvPr id="1452044" name="Rectangle 15"/>
          <p:cNvSpPr>
            <a:spLocks noChangeArrowheads="1"/>
          </p:cNvSpPr>
          <p:nvPr/>
        </p:nvSpPr>
        <p:spPr bwMode="auto">
          <a:xfrm>
            <a:off x="2773363" y="1706563"/>
            <a:ext cx="233362"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34</a:t>
            </a:r>
          </a:p>
        </p:txBody>
      </p:sp>
      <p:sp>
        <p:nvSpPr>
          <p:cNvPr id="1452045" name="Rectangle 16"/>
          <p:cNvSpPr>
            <a:spLocks noChangeArrowheads="1"/>
          </p:cNvSpPr>
          <p:nvPr/>
        </p:nvSpPr>
        <p:spPr bwMode="auto">
          <a:xfrm>
            <a:off x="3086100" y="1706563"/>
            <a:ext cx="233363"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35</a:t>
            </a:r>
          </a:p>
        </p:txBody>
      </p:sp>
      <p:sp>
        <p:nvSpPr>
          <p:cNvPr id="1452046" name="Rectangle 17"/>
          <p:cNvSpPr>
            <a:spLocks noChangeArrowheads="1"/>
          </p:cNvSpPr>
          <p:nvPr/>
        </p:nvSpPr>
        <p:spPr bwMode="auto">
          <a:xfrm>
            <a:off x="3398838" y="1706563"/>
            <a:ext cx="233362"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36</a:t>
            </a:r>
          </a:p>
        </p:txBody>
      </p:sp>
      <p:sp>
        <p:nvSpPr>
          <p:cNvPr id="1452047" name="Rectangle 18"/>
          <p:cNvSpPr>
            <a:spLocks noChangeArrowheads="1"/>
          </p:cNvSpPr>
          <p:nvPr/>
        </p:nvSpPr>
        <p:spPr bwMode="auto">
          <a:xfrm>
            <a:off x="3711575" y="1706563"/>
            <a:ext cx="234950"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37</a:t>
            </a:r>
          </a:p>
        </p:txBody>
      </p:sp>
      <p:sp>
        <p:nvSpPr>
          <p:cNvPr id="1452048" name="Rectangle 19"/>
          <p:cNvSpPr>
            <a:spLocks noChangeArrowheads="1"/>
          </p:cNvSpPr>
          <p:nvPr/>
        </p:nvSpPr>
        <p:spPr bwMode="auto">
          <a:xfrm>
            <a:off x="4024313" y="1706563"/>
            <a:ext cx="234950"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38</a:t>
            </a:r>
          </a:p>
        </p:txBody>
      </p:sp>
      <p:sp>
        <p:nvSpPr>
          <p:cNvPr id="1452049" name="Rectangle 20"/>
          <p:cNvSpPr>
            <a:spLocks noChangeArrowheads="1"/>
          </p:cNvSpPr>
          <p:nvPr/>
        </p:nvSpPr>
        <p:spPr bwMode="auto">
          <a:xfrm>
            <a:off x="4338638" y="1706563"/>
            <a:ext cx="233362"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39</a:t>
            </a:r>
          </a:p>
        </p:txBody>
      </p:sp>
      <p:sp>
        <p:nvSpPr>
          <p:cNvPr id="1452050" name="Rectangle 21"/>
          <p:cNvSpPr>
            <a:spLocks noChangeArrowheads="1"/>
          </p:cNvSpPr>
          <p:nvPr/>
        </p:nvSpPr>
        <p:spPr bwMode="auto">
          <a:xfrm>
            <a:off x="4651375" y="1706563"/>
            <a:ext cx="233363" cy="285750"/>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40</a:t>
            </a:r>
          </a:p>
        </p:txBody>
      </p:sp>
      <p:sp>
        <p:nvSpPr>
          <p:cNvPr id="1452051" name="Rectangle 22"/>
          <p:cNvSpPr>
            <a:spLocks noChangeArrowheads="1"/>
          </p:cNvSpPr>
          <p:nvPr/>
        </p:nvSpPr>
        <p:spPr bwMode="auto">
          <a:xfrm>
            <a:off x="4964113" y="1703388"/>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41</a:t>
            </a:r>
          </a:p>
        </p:txBody>
      </p:sp>
      <p:sp>
        <p:nvSpPr>
          <p:cNvPr id="1452052" name="Rectangle 23"/>
          <p:cNvSpPr>
            <a:spLocks noChangeArrowheads="1"/>
          </p:cNvSpPr>
          <p:nvPr/>
        </p:nvSpPr>
        <p:spPr bwMode="auto">
          <a:xfrm>
            <a:off x="5276850" y="1703388"/>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42</a:t>
            </a:r>
          </a:p>
        </p:txBody>
      </p:sp>
      <p:sp>
        <p:nvSpPr>
          <p:cNvPr id="1452053" name="Rectangle 24"/>
          <p:cNvSpPr>
            <a:spLocks noChangeArrowheads="1"/>
          </p:cNvSpPr>
          <p:nvPr/>
        </p:nvSpPr>
        <p:spPr bwMode="auto">
          <a:xfrm>
            <a:off x="5589588" y="1703388"/>
            <a:ext cx="234950"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43</a:t>
            </a:r>
          </a:p>
        </p:txBody>
      </p:sp>
      <p:sp>
        <p:nvSpPr>
          <p:cNvPr id="1452054" name="Rectangle 25"/>
          <p:cNvSpPr>
            <a:spLocks noChangeArrowheads="1"/>
          </p:cNvSpPr>
          <p:nvPr/>
        </p:nvSpPr>
        <p:spPr bwMode="auto">
          <a:xfrm>
            <a:off x="5902325" y="1703388"/>
            <a:ext cx="234950"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44</a:t>
            </a:r>
          </a:p>
        </p:txBody>
      </p:sp>
      <p:sp>
        <p:nvSpPr>
          <p:cNvPr id="1452055" name="Rectangle 26"/>
          <p:cNvSpPr>
            <a:spLocks noChangeArrowheads="1"/>
          </p:cNvSpPr>
          <p:nvPr/>
        </p:nvSpPr>
        <p:spPr bwMode="auto">
          <a:xfrm>
            <a:off x="6216650" y="1703388"/>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45</a:t>
            </a:r>
          </a:p>
        </p:txBody>
      </p:sp>
      <p:sp>
        <p:nvSpPr>
          <p:cNvPr id="1452056" name="Rectangle 27"/>
          <p:cNvSpPr>
            <a:spLocks noChangeArrowheads="1"/>
          </p:cNvSpPr>
          <p:nvPr/>
        </p:nvSpPr>
        <p:spPr bwMode="auto">
          <a:xfrm>
            <a:off x="6529388" y="1703388"/>
            <a:ext cx="233362"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46</a:t>
            </a:r>
          </a:p>
        </p:txBody>
      </p:sp>
      <p:sp>
        <p:nvSpPr>
          <p:cNvPr id="1452057" name="Rectangle 28"/>
          <p:cNvSpPr>
            <a:spLocks noChangeArrowheads="1"/>
          </p:cNvSpPr>
          <p:nvPr/>
        </p:nvSpPr>
        <p:spPr bwMode="auto">
          <a:xfrm>
            <a:off x="6842125" y="1703388"/>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47</a:t>
            </a:r>
          </a:p>
        </p:txBody>
      </p:sp>
      <p:sp>
        <p:nvSpPr>
          <p:cNvPr id="1452058" name="Rectangle 29"/>
          <p:cNvSpPr>
            <a:spLocks noChangeArrowheads="1"/>
          </p:cNvSpPr>
          <p:nvPr/>
        </p:nvSpPr>
        <p:spPr bwMode="auto">
          <a:xfrm>
            <a:off x="7154863" y="1703388"/>
            <a:ext cx="233362"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48</a:t>
            </a:r>
          </a:p>
        </p:txBody>
      </p:sp>
      <p:sp>
        <p:nvSpPr>
          <p:cNvPr id="1452059" name="Rectangle 30"/>
          <p:cNvSpPr>
            <a:spLocks noChangeArrowheads="1"/>
          </p:cNvSpPr>
          <p:nvPr/>
        </p:nvSpPr>
        <p:spPr bwMode="auto">
          <a:xfrm>
            <a:off x="7467600" y="1703388"/>
            <a:ext cx="234950"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49</a:t>
            </a:r>
          </a:p>
        </p:txBody>
      </p:sp>
      <p:sp>
        <p:nvSpPr>
          <p:cNvPr id="1452060" name="Rectangle 31"/>
          <p:cNvSpPr>
            <a:spLocks noChangeArrowheads="1"/>
          </p:cNvSpPr>
          <p:nvPr/>
        </p:nvSpPr>
        <p:spPr bwMode="auto">
          <a:xfrm>
            <a:off x="7780338" y="1703388"/>
            <a:ext cx="234950"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50</a:t>
            </a:r>
          </a:p>
        </p:txBody>
      </p:sp>
      <p:sp>
        <p:nvSpPr>
          <p:cNvPr id="1452061" name="Rectangle 32"/>
          <p:cNvSpPr>
            <a:spLocks noChangeArrowheads="1"/>
          </p:cNvSpPr>
          <p:nvPr/>
        </p:nvSpPr>
        <p:spPr bwMode="auto">
          <a:xfrm>
            <a:off x="8094663" y="1703388"/>
            <a:ext cx="233362"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51</a:t>
            </a:r>
          </a:p>
        </p:txBody>
      </p:sp>
      <p:sp>
        <p:nvSpPr>
          <p:cNvPr id="1452062" name="Rectangle 33"/>
          <p:cNvSpPr>
            <a:spLocks noChangeArrowheads="1"/>
          </p:cNvSpPr>
          <p:nvPr/>
        </p:nvSpPr>
        <p:spPr bwMode="auto">
          <a:xfrm>
            <a:off x="8407400" y="1703388"/>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52</a:t>
            </a:r>
          </a:p>
        </p:txBody>
      </p:sp>
      <p:sp>
        <p:nvSpPr>
          <p:cNvPr id="1452063" name="Rectangle 34"/>
          <p:cNvSpPr>
            <a:spLocks noChangeArrowheads="1"/>
          </p:cNvSpPr>
          <p:nvPr/>
        </p:nvSpPr>
        <p:spPr bwMode="auto">
          <a:xfrm>
            <a:off x="8720138" y="1703388"/>
            <a:ext cx="233362"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53</a:t>
            </a:r>
          </a:p>
        </p:txBody>
      </p:sp>
      <p:sp>
        <p:nvSpPr>
          <p:cNvPr id="1452064" name="Rectangle 35"/>
          <p:cNvSpPr>
            <a:spLocks noChangeArrowheads="1"/>
          </p:cNvSpPr>
          <p:nvPr/>
        </p:nvSpPr>
        <p:spPr bwMode="auto">
          <a:xfrm>
            <a:off x="9032875" y="1703388"/>
            <a:ext cx="233363"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54</a:t>
            </a:r>
          </a:p>
        </p:txBody>
      </p:sp>
      <p:sp>
        <p:nvSpPr>
          <p:cNvPr id="1452065" name="Rectangle 36"/>
          <p:cNvSpPr>
            <a:spLocks noChangeArrowheads="1"/>
          </p:cNvSpPr>
          <p:nvPr/>
        </p:nvSpPr>
        <p:spPr bwMode="auto">
          <a:xfrm>
            <a:off x="9345613" y="1703388"/>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55</a:t>
            </a:r>
          </a:p>
        </p:txBody>
      </p:sp>
      <p:sp>
        <p:nvSpPr>
          <p:cNvPr id="1452066" name="Text Box 37"/>
          <p:cNvSpPr txBox="1">
            <a:spLocks noChangeArrowheads="1"/>
          </p:cNvSpPr>
          <p:nvPr/>
        </p:nvSpPr>
        <p:spPr bwMode="auto">
          <a:xfrm>
            <a:off x="352425" y="2036763"/>
            <a:ext cx="22367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黑体" panose="02010609060101010101" pitchFamily="49" charset="-122"/>
              </a:rPr>
              <a:t>已发送并收到确认</a:t>
            </a:r>
          </a:p>
        </p:txBody>
      </p:sp>
      <p:sp>
        <p:nvSpPr>
          <p:cNvPr id="1452067" name="Text Box 38"/>
          <p:cNvSpPr txBox="1">
            <a:spLocks noChangeArrowheads="1"/>
          </p:cNvSpPr>
          <p:nvPr/>
        </p:nvSpPr>
        <p:spPr bwMode="auto">
          <a:xfrm>
            <a:off x="9053513" y="1985963"/>
            <a:ext cx="954087"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黑体" panose="02010609060101010101" pitchFamily="49" charset="-122"/>
              </a:rPr>
              <a:t>不允许</a:t>
            </a:r>
          </a:p>
          <a:p>
            <a:pPr algn="ctr" eaLnBrk="0" hangingPunct="0"/>
            <a:r>
              <a:rPr lang="zh-CN" altLang="en-US" sz="2000" b="1">
                <a:solidFill>
                  <a:srgbClr val="FF0000"/>
                </a:solidFill>
                <a:ea typeface="黑体" panose="02010609060101010101" pitchFamily="49" charset="-122"/>
              </a:rPr>
              <a:t>发送</a:t>
            </a:r>
          </a:p>
        </p:txBody>
      </p:sp>
      <p:sp>
        <p:nvSpPr>
          <p:cNvPr id="1452068" name="Text Box 39"/>
          <p:cNvSpPr txBox="1">
            <a:spLocks noChangeArrowheads="1"/>
          </p:cNvSpPr>
          <p:nvPr/>
        </p:nvSpPr>
        <p:spPr bwMode="auto">
          <a:xfrm>
            <a:off x="3238500" y="2166938"/>
            <a:ext cx="1724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已发送</a:t>
            </a:r>
          </a:p>
          <a:p>
            <a:pPr algn="ctr" eaLnBrk="0" hangingPunct="0"/>
            <a:r>
              <a:rPr lang="zh-CN" altLang="en-US" sz="2000" b="1">
                <a:solidFill>
                  <a:srgbClr val="0000FF"/>
                </a:solidFill>
                <a:ea typeface="黑体" panose="02010609060101010101" pitchFamily="49" charset="-122"/>
              </a:rPr>
              <a:t>但未收到确认</a:t>
            </a:r>
          </a:p>
        </p:txBody>
      </p:sp>
      <p:sp>
        <p:nvSpPr>
          <p:cNvPr id="1452069" name="Rectangle 40"/>
          <p:cNvSpPr>
            <a:spLocks noChangeArrowheads="1"/>
          </p:cNvSpPr>
          <p:nvPr/>
        </p:nvSpPr>
        <p:spPr bwMode="auto">
          <a:xfrm>
            <a:off x="9650413" y="1703388"/>
            <a:ext cx="233362"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56</a:t>
            </a:r>
          </a:p>
        </p:txBody>
      </p:sp>
      <p:sp>
        <p:nvSpPr>
          <p:cNvPr id="1452070" name="Line 42"/>
          <p:cNvSpPr>
            <a:spLocks noChangeShapeType="1"/>
          </p:cNvSpPr>
          <p:nvPr/>
        </p:nvSpPr>
        <p:spPr bwMode="auto">
          <a:xfrm flipV="1">
            <a:off x="2879725" y="201612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071" name="Text Box 43"/>
          <p:cNvSpPr txBox="1">
            <a:spLocks noChangeArrowheads="1"/>
          </p:cNvSpPr>
          <p:nvPr/>
        </p:nvSpPr>
        <p:spPr bwMode="auto">
          <a:xfrm>
            <a:off x="2652713" y="2541588"/>
            <a:ext cx="4508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1</a:t>
            </a:r>
          </a:p>
        </p:txBody>
      </p:sp>
      <p:sp>
        <p:nvSpPr>
          <p:cNvPr id="1452072" name="Line 45"/>
          <p:cNvSpPr>
            <a:spLocks noChangeShapeType="1"/>
          </p:cNvSpPr>
          <p:nvPr/>
        </p:nvSpPr>
        <p:spPr bwMode="auto">
          <a:xfrm flipV="1">
            <a:off x="5400675" y="201612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073" name="Text Box 46"/>
          <p:cNvSpPr txBox="1">
            <a:spLocks noChangeArrowheads="1"/>
          </p:cNvSpPr>
          <p:nvPr/>
        </p:nvSpPr>
        <p:spPr bwMode="auto">
          <a:xfrm>
            <a:off x="5233988" y="2541588"/>
            <a:ext cx="4508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2</a:t>
            </a:r>
          </a:p>
        </p:txBody>
      </p:sp>
      <p:sp>
        <p:nvSpPr>
          <p:cNvPr id="1452074" name="Line 48"/>
          <p:cNvSpPr>
            <a:spLocks noChangeShapeType="1"/>
          </p:cNvSpPr>
          <p:nvPr/>
        </p:nvSpPr>
        <p:spPr bwMode="auto">
          <a:xfrm flipV="1">
            <a:off x="9093200" y="201612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075" name="Text Box 49"/>
          <p:cNvSpPr txBox="1">
            <a:spLocks noChangeArrowheads="1"/>
          </p:cNvSpPr>
          <p:nvPr/>
        </p:nvSpPr>
        <p:spPr bwMode="auto">
          <a:xfrm>
            <a:off x="8913813" y="2541588"/>
            <a:ext cx="4508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黑体" panose="02010609060101010101" pitchFamily="49" charset="-122"/>
              </a:rPr>
              <a:t>P</a:t>
            </a:r>
            <a:r>
              <a:rPr lang="en-US" altLang="zh-CN" sz="2000" b="1" baseline="-25000">
                <a:solidFill>
                  <a:srgbClr val="0000CC"/>
                </a:solidFill>
                <a:ea typeface="黑体" panose="02010609060101010101" pitchFamily="49" charset="-122"/>
              </a:rPr>
              <a:t>3</a:t>
            </a:r>
          </a:p>
        </p:txBody>
      </p:sp>
      <p:sp>
        <p:nvSpPr>
          <p:cNvPr id="1452076" name="Line 50"/>
          <p:cNvSpPr>
            <a:spLocks noChangeShapeType="1"/>
          </p:cNvSpPr>
          <p:nvPr/>
        </p:nvSpPr>
        <p:spPr bwMode="auto">
          <a:xfrm rot="-5400000">
            <a:off x="7863681" y="804069"/>
            <a:ext cx="1588" cy="1028700"/>
          </a:xfrm>
          <a:prstGeom prst="line">
            <a:avLst/>
          </a:prstGeom>
          <a:noFill/>
          <a:ln w="5715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077" name="Text Box 51"/>
          <p:cNvSpPr txBox="1">
            <a:spLocks noChangeArrowheads="1"/>
          </p:cNvSpPr>
          <p:nvPr/>
        </p:nvSpPr>
        <p:spPr bwMode="auto">
          <a:xfrm>
            <a:off x="5041900" y="4551363"/>
            <a:ext cx="14224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FF"/>
                </a:solidFill>
                <a:ea typeface="黑体" panose="02010609060101010101" pitchFamily="49" charset="-122"/>
              </a:rPr>
              <a:t>允许接收</a:t>
            </a:r>
          </a:p>
        </p:txBody>
      </p:sp>
      <p:sp>
        <p:nvSpPr>
          <p:cNvPr id="1452078" name="Text Box 52"/>
          <p:cNvSpPr txBox="1">
            <a:spLocks noChangeArrowheads="1"/>
          </p:cNvSpPr>
          <p:nvPr/>
        </p:nvSpPr>
        <p:spPr bwMode="auto">
          <a:xfrm>
            <a:off x="4402138" y="3429000"/>
            <a:ext cx="276383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B </a:t>
            </a:r>
            <a:r>
              <a:rPr lang="zh-CN" altLang="en-US" sz="2000" b="1">
                <a:solidFill>
                  <a:srgbClr val="0000CC"/>
                </a:solidFill>
                <a:ea typeface="黑体" panose="02010609060101010101" pitchFamily="49" charset="-122"/>
              </a:rPr>
              <a:t>的</a:t>
            </a:r>
            <a:r>
              <a:rPr lang="zh-CN" altLang="en-US" sz="2000" b="1">
                <a:solidFill>
                  <a:srgbClr val="FF0000"/>
                </a:solidFill>
                <a:ea typeface="黑体" panose="02010609060101010101" pitchFamily="49" charset="-122"/>
              </a:rPr>
              <a:t>接收窗口</a:t>
            </a:r>
            <a:r>
              <a:rPr lang="zh-CN" altLang="en-US" sz="2000" b="1">
                <a:solidFill>
                  <a:srgbClr val="0000CC"/>
                </a:solidFill>
                <a:ea typeface="黑体" panose="02010609060101010101" pitchFamily="49" charset="-122"/>
              </a:rPr>
              <a:t>向前滑动</a:t>
            </a:r>
          </a:p>
        </p:txBody>
      </p:sp>
      <p:sp>
        <p:nvSpPr>
          <p:cNvPr id="1452079" name="Rectangle 53"/>
          <p:cNvSpPr>
            <a:spLocks noChangeArrowheads="1"/>
          </p:cNvSpPr>
          <p:nvPr/>
        </p:nvSpPr>
        <p:spPr bwMode="auto">
          <a:xfrm>
            <a:off x="2720975" y="3824288"/>
            <a:ext cx="6273800" cy="649287"/>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452080" name="Rectangle 54"/>
          <p:cNvSpPr>
            <a:spLocks noChangeArrowheads="1"/>
          </p:cNvSpPr>
          <p:nvPr/>
        </p:nvSpPr>
        <p:spPr bwMode="auto">
          <a:xfrm>
            <a:off x="266700" y="4017963"/>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26</a:t>
            </a:r>
          </a:p>
        </p:txBody>
      </p:sp>
      <p:sp>
        <p:nvSpPr>
          <p:cNvPr id="1452081" name="Rectangle 55"/>
          <p:cNvSpPr>
            <a:spLocks noChangeArrowheads="1"/>
          </p:cNvSpPr>
          <p:nvPr/>
        </p:nvSpPr>
        <p:spPr bwMode="auto">
          <a:xfrm>
            <a:off x="581025" y="4017963"/>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27</a:t>
            </a:r>
          </a:p>
        </p:txBody>
      </p:sp>
      <p:sp>
        <p:nvSpPr>
          <p:cNvPr id="1452082" name="Rectangle 56"/>
          <p:cNvSpPr>
            <a:spLocks noChangeArrowheads="1"/>
          </p:cNvSpPr>
          <p:nvPr/>
        </p:nvSpPr>
        <p:spPr bwMode="auto">
          <a:xfrm>
            <a:off x="893763" y="4017963"/>
            <a:ext cx="233362"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28</a:t>
            </a:r>
          </a:p>
        </p:txBody>
      </p:sp>
      <p:sp>
        <p:nvSpPr>
          <p:cNvPr id="1452083" name="Rectangle 57"/>
          <p:cNvSpPr>
            <a:spLocks noChangeArrowheads="1"/>
          </p:cNvSpPr>
          <p:nvPr/>
        </p:nvSpPr>
        <p:spPr bwMode="auto">
          <a:xfrm>
            <a:off x="1206500" y="4017963"/>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29</a:t>
            </a:r>
          </a:p>
        </p:txBody>
      </p:sp>
      <p:sp>
        <p:nvSpPr>
          <p:cNvPr id="1452084" name="Rectangle 58"/>
          <p:cNvSpPr>
            <a:spLocks noChangeArrowheads="1"/>
          </p:cNvSpPr>
          <p:nvPr/>
        </p:nvSpPr>
        <p:spPr bwMode="auto">
          <a:xfrm>
            <a:off x="1519238" y="4017963"/>
            <a:ext cx="233362"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30</a:t>
            </a:r>
          </a:p>
        </p:txBody>
      </p:sp>
      <p:sp>
        <p:nvSpPr>
          <p:cNvPr id="1452085" name="Rectangle 59"/>
          <p:cNvSpPr>
            <a:spLocks noChangeArrowheads="1"/>
          </p:cNvSpPr>
          <p:nvPr/>
        </p:nvSpPr>
        <p:spPr bwMode="auto">
          <a:xfrm>
            <a:off x="1831975" y="4017963"/>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31</a:t>
            </a:r>
          </a:p>
        </p:txBody>
      </p:sp>
      <p:sp>
        <p:nvSpPr>
          <p:cNvPr id="1452086" name="Rectangle 60"/>
          <p:cNvSpPr>
            <a:spLocks noChangeArrowheads="1"/>
          </p:cNvSpPr>
          <p:nvPr/>
        </p:nvSpPr>
        <p:spPr bwMode="auto">
          <a:xfrm>
            <a:off x="2144713" y="4017963"/>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32</a:t>
            </a:r>
          </a:p>
        </p:txBody>
      </p:sp>
      <p:sp>
        <p:nvSpPr>
          <p:cNvPr id="1452087" name="Rectangle 61"/>
          <p:cNvSpPr>
            <a:spLocks noChangeArrowheads="1"/>
          </p:cNvSpPr>
          <p:nvPr/>
        </p:nvSpPr>
        <p:spPr bwMode="auto">
          <a:xfrm>
            <a:off x="2459038" y="4017963"/>
            <a:ext cx="233362"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33</a:t>
            </a:r>
          </a:p>
        </p:txBody>
      </p:sp>
      <p:sp>
        <p:nvSpPr>
          <p:cNvPr id="1452088" name="Rectangle 62"/>
          <p:cNvSpPr>
            <a:spLocks noChangeArrowheads="1"/>
          </p:cNvSpPr>
          <p:nvPr/>
        </p:nvSpPr>
        <p:spPr bwMode="auto">
          <a:xfrm>
            <a:off x="2771775" y="4017963"/>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34</a:t>
            </a:r>
          </a:p>
        </p:txBody>
      </p:sp>
      <p:sp>
        <p:nvSpPr>
          <p:cNvPr id="1452089" name="Rectangle 63"/>
          <p:cNvSpPr>
            <a:spLocks noChangeArrowheads="1"/>
          </p:cNvSpPr>
          <p:nvPr/>
        </p:nvSpPr>
        <p:spPr bwMode="auto">
          <a:xfrm>
            <a:off x="3084513" y="4017963"/>
            <a:ext cx="233362"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35</a:t>
            </a:r>
          </a:p>
        </p:txBody>
      </p:sp>
      <p:sp>
        <p:nvSpPr>
          <p:cNvPr id="1452090" name="Rectangle 64"/>
          <p:cNvSpPr>
            <a:spLocks noChangeArrowheads="1"/>
          </p:cNvSpPr>
          <p:nvPr/>
        </p:nvSpPr>
        <p:spPr bwMode="auto">
          <a:xfrm>
            <a:off x="3397250" y="4017963"/>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36</a:t>
            </a:r>
          </a:p>
        </p:txBody>
      </p:sp>
      <p:sp>
        <p:nvSpPr>
          <p:cNvPr id="1452091" name="Rectangle 65"/>
          <p:cNvSpPr>
            <a:spLocks noChangeArrowheads="1"/>
          </p:cNvSpPr>
          <p:nvPr/>
        </p:nvSpPr>
        <p:spPr bwMode="auto">
          <a:xfrm>
            <a:off x="3709988" y="4017963"/>
            <a:ext cx="234950" cy="287337"/>
          </a:xfrm>
          <a:prstGeom prst="rect">
            <a:avLst/>
          </a:prstGeom>
          <a:solidFill>
            <a:srgbClr val="CC9900"/>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37</a:t>
            </a:r>
          </a:p>
        </p:txBody>
      </p:sp>
      <p:sp>
        <p:nvSpPr>
          <p:cNvPr id="1452092" name="Rectangle 66"/>
          <p:cNvSpPr>
            <a:spLocks noChangeArrowheads="1"/>
          </p:cNvSpPr>
          <p:nvPr/>
        </p:nvSpPr>
        <p:spPr bwMode="auto">
          <a:xfrm>
            <a:off x="4022725" y="4017963"/>
            <a:ext cx="234950" cy="287337"/>
          </a:xfrm>
          <a:prstGeom prst="rect">
            <a:avLst/>
          </a:prstGeom>
          <a:solidFill>
            <a:srgbClr val="CC9900"/>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38</a:t>
            </a:r>
          </a:p>
        </p:txBody>
      </p:sp>
      <p:sp>
        <p:nvSpPr>
          <p:cNvPr id="1452093" name="Rectangle 67"/>
          <p:cNvSpPr>
            <a:spLocks noChangeArrowheads="1"/>
          </p:cNvSpPr>
          <p:nvPr/>
        </p:nvSpPr>
        <p:spPr bwMode="auto">
          <a:xfrm>
            <a:off x="4337050" y="4017963"/>
            <a:ext cx="233363" cy="287337"/>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39</a:t>
            </a:r>
          </a:p>
        </p:txBody>
      </p:sp>
      <p:sp>
        <p:nvSpPr>
          <p:cNvPr id="1452094" name="Rectangle 68"/>
          <p:cNvSpPr>
            <a:spLocks noChangeArrowheads="1"/>
          </p:cNvSpPr>
          <p:nvPr/>
        </p:nvSpPr>
        <p:spPr bwMode="auto">
          <a:xfrm>
            <a:off x="4649788" y="4017963"/>
            <a:ext cx="233362" cy="287337"/>
          </a:xfrm>
          <a:prstGeom prst="rect">
            <a:avLst/>
          </a:prstGeom>
          <a:solidFill>
            <a:srgbClr val="CC9900"/>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40</a:t>
            </a:r>
          </a:p>
        </p:txBody>
      </p:sp>
      <p:sp>
        <p:nvSpPr>
          <p:cNvPr id="1452095" name="Rectangle 69"/>
          <p:cNvSpPr>
            <a:spLocks noChangeArrowheads="1"/>
          </p:cNvSpPr>
          <p:nvPr/>
        </p:nvSpPr>
        <p:spPr bwMode="auto">
          <a:xfrm>
            <a:off x="4962525" y="4016375"/>
            <a:ext cx="233363"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41</a:t>
            </a:r>
          </a:p>
        </p:txBody>
      </p:sp>
      <p:sp>
        <p:nvSpPr>
          <p:cNvPr id="1452096" name="Rectangle 70"/>
          <p:cNvSpPr>
            <a:spLocks noChangeArrowheads="1"/>
          </p:cNvSpPr>
          <p:nvPr/>
        </p:nvSpPr>
        <p:spPr bwMode="auto">
          <a:xfrm>
            <a:off x="5275263" y="4016375"/>
            <a:ext cx="233362"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42</a:t>
            </a:r>
          </a:p>
        </p:txBody>
      </p:sp>
      <p:sp>
        <p:nvSpPr>
          <p:cNvPr id="1452097" name="Rectangle 71"/>
          <p:cNvSpPr>
            <a:spLocks noChangeArrowheads="1"/>
          </p:cNvSpPr>
          <p:nvPr/>
        </p:nvSpPr>
        <p:spPr bwMode="auto">
          <a:xfrm>
            <a:off x="5588000" y="4016375"/>
            <a:ext cx="234950"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43</a:t>
            </a:r>
          </a:p>
        </p:txBody>
      </p:sp>
      <p:sp>
        <p:nvSpPr>
          <p:cNvPr id="1452098" name="Rectangle 72"/>
          <p:cNvSpPr>
            <a:spLocks noChangeArrowheads="1"/>
          </p:cNvSpPr>
          <p:nvPr/>
        </p:nvSpPr>
        <p:spPr bwMode="auto">
          <a:xfrm>
            <a:off x="5900738" y="4016375"/>
            <a:ext cx="234950"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44</a:t>
            </a:r>
          </a:p>
        </p:txBody>
      </p:sp>
      <p:sp>
        <p:nvSpPr>
          <p:cNvPr id="1452099" name="Rectangle 73"/>
          <p:cNvSpPr>
            <a:spLocks noChangeArrowheads="1"/>
          </p:cNvSpPr>
          <p:nvPr/>
        </p:nvSpPr>
        <p:spPr bwMode="auto">
          <a:xfrm>
            <a:off x="6215063" y="4016375"/>
            <a:ext cx="233362"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45</a:t>
            </a:r>
          </a:p>
        </p:txBody>
      </p:sp>
      <p:sp>
        <p:nvSpPr>
          <p:cNvPr id="1452100" name="Rectangle 74"/>
          <p:cNvSpPr>
            <a:spLocks noChangeArrowheads="1"/>
          </p:cNvSpPr>
          <p:nvPr/>
        </p:nvSpPr>
        <p:spPr bwMode="auto">
          <a:xfrm>
            <a:off x="6527800" y="4016375"/>
            <a:ext cx="233363"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46</a:t>
            </a:r>
          </a:p>
        </p:txBody>
      </p:sp>
      <p:sp>
        <p:nvSpPr>
          <p:cNvPr id="1452101" name="Rectangle 75"/>
          <p:cNvSpPr>
            <a:spLocks noChangeArrowheads="1"/>
          </p:cNvSpPr>
          <p:nvPr/>
        </p:nvSpPr>
        <p:spPr bwMode="auto">
          <a:xfrm>
            <a:off x="6840538" y="4016375"/>
            <a:ext cx="233362"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47</a:t>
            </a:r>
          </a:p>
        </p:txBody>
      </p:sp>
      <p:sp>
        <p:nvSpPr>
          <p:cNvPr id="1452102" name="Rectangle 76"/>
          <p:cNvSpPr>
            <a:spLocks noChangeArrowheads="1"/>
          </p:cNvSpPr>
          <p:nvPr/>
        </p:nvSpPr>
        <p:spPr bwMode="auto">
          <a:xfrm>
            <a:off x="7153275" y="4016375"/>
            <a:ext cx="233363"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48</a:t>
            </a:r>
          </a:p>
        </p:txBody>
      </p:sp>
      <p:sp>
        <p:nvSpPr>
          <p:cNvPr id="1452103" name="Rectangle 77"/>
          <p:cNvSpPr>
            <a:spLocks noChangeArrowheads="1"/>
          </p:cNvSpPr>
          <p:nvPr/>
        </p:nvSpPr>
        <p:spPr bwMode="auto">
          <a:xfrm>
            <a:off x="7466013" y="4016375"/>
            <a:ext cx="234950"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49</a:t>
            </a:r>
          </a:p>
        </p:txBody>
      </p:sp>
      <p:sp>
        <p:nvSpPr>
          <p:cNvPr id="1452104" name="Rectangle 78"/>
          <p:cNvSpPr>
            <a:spLocks noChangeArrowheads="1"/>
          </p:cNvSpPr>
          <p:nvPr/>
        </p:nvSpPr>
        <p:spPr bwMode="auto">
          <a:xfrm>
            <a:off x="7778750" y="4016375"/>
            <a:ext cx="234950"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50</a:t>
            </a:r>
          </a:p>
        </p:txBody>
      </p:sp>
      <p:sp>
        <p:nvSpPr>
          <p:cNvPr id="1452105" name="Rectangle 79"/>
          <p:cNvSpPr>
            <a:spLocks noChangeArrowheads="1"/>
          </p:cNvSpPr>
          <p:nvPr/>
        </p:nvSpPr>
        <p:spPr bwMode="auto">
          <a:xfrm>
            <a:off x="8093075" y="4016375"/>
            <a:ext cx="233363"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51</a:t>
            </a:r>
          </a:p>
        </p:txBody>
      </p:sp>
      <p:sp>
        <p:nvSpPr>
          <p:cNvPr id="1452106" name="Rectangle 80"/>
          <p:cNvSpPr>
            <a:spLocks noChangeArrowheads="1"/>
          </p:cNvSpPr>
          <p:nvPr/>
        </p:nvSpPr>
        <p:spPr bwMode="auto">
          <a:xfrm>
            <a:off x="8405813" y="4016375"/>
            <a:ext cx="233362"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52</a:t>
            </a:r>
          </a:p>
        </p:txBody>
      </p:sp>
      <p:sp>
        <p:nvSpPr>
          <p:cNvPr id="1452107" name="Rectangle 81"/>
          <p:cNvSpPr>
            <a:spLocks noChangeArrowheads="1"/>
          </p:cNvSpPr>
          <p:nvPr/>
        </p:nvSpPr>
        <p:spPr bwMode="auto">
          <a:xfrm>
            <a:off x="8718550" y="4016375"/>
            <a:ext cx="233363" cy="287338"/>
          </a:xfrm>
          <a:prstGeom prst="rect">
            <a:avLst/>
          </a:prstGeom>
          <a:solidFill>
            <a:srgbClr val="FF99FF"/>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53</a:t>
            </a:r>
          </a:p>
        </p:txBody>
      </p:sp>
      <p:sp>
        <p:nvSpPr>
          <p:cNvPr id="1452108" name="Rectangle 82"/>
          <p:cNvSpPr>
            <a:spLocks noChangeArrowheads="1"/>
          </p:cNvSpPr>
          <p:nvPr/>
        </p:nvSpPr>
        <p:spPr bwMode="auto">
          <a:xfrm>
            <a:off x="9031288" y="4016375"/>
            <a:ext cx="233362"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54</a:t>
            </a:r>
          </a:p>
        </p:txBody>
      </p:sp>
      <p:sp>
        <p:nvSpPr>
          <p:cNvPr id="1452109" name="Rectangle 83"/>
          <p:cNvSpPr>
            <a:spLocks noChangeArrowheads="1"/>
          </p:cNvSpPr>
          <p:nvPr/>
        </p:nvSpPr>
        <p:spPr bwMode="auto">
          <a:xfrm>
            <a:off x="9344025" y="4016375"/>
            <a:ext cx="234950"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55</a:t>
            </a:r>
          </a:p>
        </p:txBody>
      </p:sp>
      <p:sp>
        <p:nvSpPr>
          <p:cNvPr id="1452110" name="Text Box 84"/>
          <p:cNvSpPr txBox="1">
            <a:spLocks noChangeArrowheads="1"/>
          </p:cNvSpPr>
          <p:nvPr/>
        </p:nvSpPr>
        <p:spPr bwMode="auto">
          <a:xfrm>
            <a:off x="736600" y="4348163"/>
            <a:ext cx="1466850"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黑体" panose="02010609060101010101" pitchFamily="49" charset="-122"/>
              </a:rPr>
              <a:t>已发送确认</a:t>
            </a:r>
          </a:p>
          <a:p>
            <a:pPr algn="ctr" eaLnBrk="0" hangingPunct="0"/>
            <a:r>
              <a:rPr lang="zh-CN" altLang="en-US" sz="2000" b="1">
                <a:solidFill>
                  <a:srgbClr val="C00000"/>
                </a:solidFill>
                <a:ea typeface="黑体" panose="02010609060101010101" pitchFamily="49" charset="-122"/>
              </a:rPr>
              <a:t>并交付主机</a:t>
            </a:r>
          </a:p>
        </p:txBody>
      </p:sp>
      <p:sp>
        <p:nvSpPr>
          <p:cNvPr id="1452111" name="Text Box 85"/>
          <p:cNvSpPr txBox="1">
            <a:spLocks noChangeArrowheads="1"/>
          </p:cNvSpPr>
          <p:nvPr/>
        </p:nvSpPr>
        <p:spPr bwMode="auto">
          <a:xfrm>
            <a:off x="9039225" y="4348163"/>
            <a:ext cx="9540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黑体" panose="02010609060101010101" pitchFamily="49" charset="-122"/>
              </a:rPr>
              <a:t>不允许</a:t>
            </a:r>
          </a:p>
          <a:p>
            <a:pPr algn="ctr" eaLnBrk="0" hangingPunct="0"/>
            <a:r>
              <a:rPr lang="zh-CN" altLang="en-US" sz="2000" b="1">
                <a:solidFill>
                  <a:srgbClr val="FF0000"/>
                </a:solidFill>
                <a:ea typeface="黑体" panose="02010609060101010101" pitchFamily="49" charset="-122"/>
              </a:rPr>
              <a:t>接收</a:t>
            </a:r>
          </a:p>
        </p:txBody>
      </p:sp>
      <p:sp>
        <p:nvSpPr>
          <p:cNvPr id="1452112" name="Rectangle 86"/>
          <p:cNvSpPr>
            <a:spLocks noChangeArrowheads="1"/>
          </p:cNvSpPr>
          <p:nvPr/>
        </p:nvSpPr>
        <p:spPr bwMode="auto">
          <a:xfrm>
            <a:off x="9648825" y="4016375"/>
            <a:ext cx="233363"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黑体" panose="02010609060101010101" pitchFamily="49" charset="-122"/>
              </a:rPr>
              <a:t>56</a:t>
            </a:r>
          </a:p>
        </p:txBody>
      </p:sp>
      <p:sp>
        <p:nvSpPr>
          <p:cNvPr id="1452113" name="Line 87"/>
          <p:cNvSpPr>
            <a:spLocks noChangeShapeType="1"/>
          </p:cNvSpPr>
          <p:nvPr/>
        </p:nvSpPr>
        <p:spPr bwMode="auto">
          <a:xfrm rot="-5400000">
            <a:off x="7786688" y="3165475"/>
            <a:ext cx="1588" cy="1030287"/>
          </a:xfrm>
          <a:prstGeom prst="line">
            <a:avLst/>
          </a:prstGeom>
          <a:noFill/>
          <a:ln w="5715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114" name="Text Box 88"/>
          <p:cNvSpPr txBox="1">
            <a:spLocks noChangeArrowheads="1"/>
          </p:cNvSpPr>
          <p:nvPr/>
        </p:nvSpPr>
        <p:spPr bwMode="auto">
          <a:xfrm>
            <a:off x="3589338" y="4930775"/>
            <a:ext cx="1466850" cy="400050"/>
          </a:xfrm>
          <a:prstGeom prst="rect">
            <a:avLst/>
          </a:prstGeom>
          <a:solidFill>
            <a:srgbClr val="FFFF99"/>
          </a:solidFill>
          <a:ln w="9525">
            <a:solidFill>
              <a:schemeClr val="tx1"/>
            </a:solidFill>
            <a:miter lim="800000"/>
            <a:headEnd/>
            <a:tailEnd/>
          </a:ln>
        </p:spPr>
        <p:txBody>
          <a:bodyPr wrap="none">
            <a:spAutoFit/>
          </a:bodyPr>
          <a:lstStyle/>
          <a:p>
            <a:pPr algn="ctr" eaLnBrk="0" hangingPunct="0"/>
            <a:r>
              <a:rPr lang="zh-CN" altLang="en-US" sz="2000" b="1">
                <a:solidFill>
                  <a:srgbClr val="0000CC"/>
                </a:solidFill>
                <a:ea typeface="黑体" panose="02010609060101010101" pitchFamily="49" charset="-122"/>
              </a:rPr>
              <a:t>未按序收到</a:t>
            </a:r>
          </a:p>
        </p:txBody>
      </p:sp>
      <p:grpSp>
        <p:nvGrpSpPr>
          <p:cNvPr id="1452115" name="Group 89"/>
          <p:cNvGrpSpPr>
            <a:grpSpLocks/>
          </p:cNvGrpSpPr>
          <p:nvPr/>
        </p:nvGrpSpPr>
        <p:grpSpPr bwMode="auto">
          <a:xfrm>
            <a:off x="3835400" y="4316413"/>
            <a:ext cx="928688" cy="588962"/>
            <a:chOff x="2143" y="3150"/>
            <a:chExt cx="540" cy="272"/>
          </a:xfrm>
        </p:grpSpPr>
        <p:sp>
          <p:nvSpPr>
            <p:cNvPr id="1452116" name="Line 90"/>
            <p:cNvSpPr>
              <a:spLocks noChangeShapeType="1"/>
            </p:cNvSpPr>
            <p:nvPr/>
          </p:nvSpPr>
          <p:spPr bwMode="auto">
            <a:xfrm flipV="1">
              <a:off x="2143" y="3150"/>
              <a:ext cx="0" cy="272"/>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117" name="Line 91"/>
            <p:cNvSpPr>
              <a:spLocks noChangeShapeType="1"/>
            </p:cNvSpPr>
            <p:nvPr/>
          </p:nvSpPr>
          <p:spPr bwMode="auto">
            <a:xfrm flipV="1">
              <a:off x="2325" y="3150"/>
              <a:ext cx="0" cy="272"/>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452118" name="Line 92"/>
            <p:cNvSpPr>
              <a:spLocks noChangeShapeType="1"/>
            </p:cNvSpPr>
            <p:nvPr/>
          </p:nvSpPr>
          <p:spPr bwMode="auto">
            <a:xfrm flipV="1">
              <a:off x="2683" y="3150"/>
              <a:ext cx="0" cy="272"/>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452119" name="Text Box 93"/>
          <p:cNvSpPr txBox="1">
            <a:spLocks noChangeArrowheads="1"/>
          </p:cNvSpPr>
          <p:nvPr/>
        </p:nvSpPr>
        <p:spPr bwMode="auto">
          <a:xfrm>
            <a:off x="1436688" y="257175"/>
            <a:ext cx="7396162" cy="58420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pPr eaLnBrk="0" hangingPunct="0"/>
            <a:r>
              <a:rPr lang="en-US" altLang="zh-CN" sz="3200" b="1">
                <a:solidFill>
                  <a:srgbClr val="0000CC"/>
                </a:solidFill>
                <a:ea typeface="黑体" panose="02010609060101010101" pitchFamily="49" charset="-122"/>
              </a:rPr>
              <a:t>A </a:t>
            </a:r>
            <a:r>
              <a:rPr lang="zh-CN" altLang="en-US" sz="3200" b="1">
                <a:solidFill>
                  <a:srgbClr val="0000CC"/>
                </a:solidFill>
                <a:ea typeface="黑体" panose="02010609060101010101" pitchFamily="49" charset="-122"/>
              </a:rPr>
              <a:t>收到新的确认号，发送窗口向前滑动 </a:t>
            </a:r>
          </a:p>
        </p:txBody>
      </p:sp>
      <p:sp>
        <p:nvSpPr>
          <p:cNvPr id="1452120" name="Text Box 94"/>
          <p:cNvSpPr txBox="1">
            <a:spLocks noChangeArrowheads="1"/>
          </p:cNvSpPr>
          <p:nvPr/>
        </p:nvSpPr>
        <p:spPr bwMode="auto">
          <a:xfrm>
            <a:off x="3143250" y="5408613"/>
            <a:ext cx="2492375"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先存下，等待缺少的</a:t>
            </a:r>
          </a:p>
          <a:p>
            <a:pPr algn="ctr" eaLnBrk="0" hangingPunct="0"/>
            <a:r>
              <a:rPr lang="zh-CN" altLang="en-US" sz="2000" b="1">
                <a:solidFill>
                  <a:srgbClr val="0000CC"/>
                </a:solidFill>
                <a:ea typeface="黑体" panose="02010609060101010101" pitchFamily="49" charset="-122"/>
              </a:rPr>
              <a:t>数据的到达</a:t>
            </a:r>
          </a:p>
        </p:txBody>
      </p:sp>
      <p:sp>
        <p:nvSpPr>
          <p:cNvPr id="145212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C342F76-FE4E-4C34-8D08-DB57D24311D9}" type="slidenum">
              <a:rPr lang="zh-CN" altLang="en-US" smtClean="0"/>
              <a:pPr/>
              <a:t>47</a:t>
            </a:fld>
            <a:endParaRPr lang="en-US" altLang="zh-CN" smtClean="0"/>
          </a:p>
        </p:txBody>
      </p:sp>
      <p:sp>
        <p:nvSpPr>
          <p:cNvPr id="145212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81" name="Text Box 4"/>
          <p:cNvSpPr txBox="1">
            <a:spLocks noChangeArrowheads="1"/>
          </p:cNvSpPr>
          <p:nvPr/>
        </p:nvSpPr>
        <p:spPr bwMode="auto">
          <a:xfrm>
            <a:off x="9053513" y="2555875"/>
            <a:ext cx="9540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FF0000"/>
                </a:solidFill>
                <a:ea typeface="宋体" panose="02010600030101010101" pitchFamily="2" charset="-122"/>
              </a:rPr>
              <a:t>不允许</a:t>
            </a:r>
          </a:p>
          <a:p>
            <a:pPr algn="ctr" eaLnBrk="0" hangingPunct="0"/>
            <a:r>
              <a:rPr lang="zh-CN" altLang="en-US" sz="2000" b="1">
                <a:solidFill>
                  <a:srgbClr val="FF0000"/>
                </a:solidFill>
                <a:ea typeface="宋体" panose="02010600030101010101" pitchFamily="2" charset="-122"/>
              </a:rPr>
              <a:t>发送</a:t>
            </a:r>
          </a:p>
        </p:txBody>
      </p:sp>
      <p:sp>
        <p:nvSpPr>
          <p:cNvPr id="1454082" name="Text Box 5"/>
          <p:cNvSpPr txBox="1">
            <a:spLocks noChangeArrowheads="1"/>
          </p:cNvSpPr>
          <p:nvPr/>
        </p:nvSpPr>
        <p:spPr bwMode="auto">
          <a:xfrm>
            <a:off x="352425" y="2600325"/>
            <a:ext cx="22367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C00000"/>
                </a:solidFill>
                <a:ea typeface="宋体" panose="02010600030101010101" pitchFamily="2" charset="-122"/>
              </a:rPr>
              <a:t>已发送并收到确认</a:t>
            </a:r>
          </a:p>
        </p:txBody>
      </p:sp>
      <p:sp>
        <p:nvSpPr>
          <p:cNvPr id="1454083" name="Text Box 6"/>
          <p:cNvSpPr txBox="1">
            <a:spLocks noChangeArrowheads="1"/>
          </p:cNvSpPr>
          <p:nvPr/>
        </p:nvSpPr>
        <p:spPr bwMode="auto">
          <a:xfrm>
            <a:off x="3440113" y="1671638"/>
            <a:ext cx="48133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宋体" panose="02010600030101010101" pitchFamily="2" charset="-122"/>
              </a:rPr>
              <a:t>A </a:t>
            </a:r>
            <a:r>
              <a:rPr lang="zh-CN" altLang="en-US" sz="2400" b="1">
                <a:solidFill>
                  <a:srgbClr val="0000CC"/>
                </a:solidFill>
                <a:ea typeface="宋体" panose="02010600030101010101" pitchFamily="2" charset="-122"/>
              </a:rPr>
              <a:t>的发送窗口已满，有效窗口为零</a:t>
            </a:r>
          </a:p>
        </p:txBody>
      </p:sp>
      <p:sp>
        <p:nvSpPr>
          <p:cNvPr id="1454084" name="Rectangle 7"/>
          <p:cNvSpPr>
            <a:spLocks noChangeArrowheads="1"/>
          </p:cNvSpPr>
          <p:nvPr/>
        </p:nvSpPr>
        <p:spPr bwMode="auto">
          <a:xfrm>
            <a:off x="2722563" y="2108200"/>
            <a:ext cx="6273800" cy="649288"/>
          </a:xfrm>
          <a:prstGeom prst="rect">
            <a:avLst/>
          </a:prstGeom>
          <a:solidFill>
            <a:srgbClr val="33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宋体" panose="02010600030101010101" pitchFamily="2" charset="-122"/>
            </a:endParaRPr>
          </a:p>
        </p:txBody>
      </p:sp>
      <p:sp>
        <p:nvSpPr>
          <p:cNvPr id="1454085" name="Rectangle 8"/>
          <p:cNvSpPr>
            <a:spLocks noChangeArrowheads="1"/>
          </p:cNvSpPr>
          <p:nvPr/>
        </p:nvSpPr>
        <p:spPr bwMode="auto">
          <a:xfrm>
            <a:off x="268288" y="2324100"/>
            <a:ext cx="234950"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26</a:t>
            </a:r>
          </a:p>
        </p:txBody>
      </p:sp>
      <p:sp>
        <p:nvSpPr>
          <p:cNvPr id="1454086" name="Rectangle 9"/>
          <p:cNvSpPr>
            <a:spLocks noChangeArrowheads="1"/>
          </p:cNvSpPr>
          <p:nvPr/>
        </p:nvSpPr>
        <p:spPr bwMode="auto">
          <a:xfrm>
            <a:off x="582613" y="2322513"/>
            <a:ext cx="233362"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27</a:t>
            </a:r>
          </a:p>
        </p:txBody>
      </p:sp>
      <p:sp>
        <p:nvSpPr>
          <p:cNvPr id="1454087" name="Rectangle 10"/>
          <p:cNvSpPr>
            <a:spLocks noChangeArrowheads="1"/>
          </p:cNvSpPr>
          <p:nvPr/>
        </p:nvSpPr>
        <p:spPr bwMode="auto">
          <a:xfrm>
            <a:off x="895350" y="2320925"/>
            <a:ext cx="233363"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28</a:t>
            </a:r>
          </a:p>
        </p:txBody>
      </p:sp>
      <p:sp>
        <p:nvSpPr>
          <p:cNvPr id="1454088" name="Rectangle 11"/>
          <p:cNvSpPr>
            <a:spLocks noChangeArrowheads="1"/>
          </p:cNvSpPr>
          <p:nvPr/>
        </p:nvSpPr>
        <p:spPr bwMode="auto">
          <a:xfrm>
            <a:off x="1208088" y="2319338"/>
            <a:ext cx="233362"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29</a:t>
            </a:r>
          </a:p>
        </p:txBody>
      </p:sp>
      <p:sp>
        <p:nvSpPr>
          <p:cNvPr id="1454089" name="Rectangle 12"/>
          <p:cNvSpPr>
            <a:spLocks noChangeArrowheads="1"/>
          </p:cNvSpPr>
          <p:nvPr/>
        </p:nvSpPr>
        <p:spPr bwMode="auto">
          <a:xfrm>
            <a:off x="1520825" y="2317750"/>
            <a:ext cx="233363"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30</a:t>
            </a:r>
          </a:p>
        </p:txBody>
      </p:sp>
      <p:sp>
        <p:nvSpPr>
          <p:cNvPr id="1454090" name="Rectangle 13"/>
          <p:cNvSpPr>
            <a:spLocks noChangeArrowheads="1"/>
          </p:cNvSpPr>
          <p:nvPr/>
        </p:nvSpPr>
        <p:spPr bwMode="auto">
          <a:xfrm>
            <a:off x="1833563" y="2316163"/>
            <a:ext cx="234950"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31</a:t>
            </a:r>
          </a:p>
        </p:txBody>
      </p:sp>
      <p:sp>
        <p:nvSpPr>
          <p:cNvPr id="1454091" name="Rectangle 14"/>
          <p:cNvSpPr>
            <a:spLocks noChangeArrowheads="1"/>
          </p:cNvSpPr>
          <p:nvPr/>
        </p:nvSpPr>
        <p:spPr bwMode="auto">
          <a:xfrm>
            <a:off x="2146300" y="2314575"/>
            <a:ext cx="234950" cy="287338"/>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32</a:t>
            </a:r>
          </a:p>
        </p:txBody>
      </p:sp>
      <p:sp>
        <p:nvSpPr>
          <p:cNvPr id="1454092" name="Rectangle 15"/>
          <p:cNvSpPr>
            <a:spLocks noChangeArrowheads="1"/>
          </p:cNvSpPr>
          <p:nvPr/>
        </p:nvSpPr>
        <p:spPr bwMode="auto">
          <a:xfrm>
            <a:off x="2460625" y="2312988"/>
            <a:ext cx="233363" cy="287337"/>
          </a:xfrm>
          <a:prstGeom prst="rect">
            <a:avLst/>
          </a:prstGeom>
          <a:solidFill>
            <a:srgbClr val="66FF33"/>
          </a:solidFill>
          <a:ln w="2857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33</a:t>
            </a:r>
          </a:p>
        </p:txBody>
      </p:sp>
      <p:sp>
        <p:nvSpPr>
          <p:cNvPr id="1454093" name="Rectangle 16"/>
          <p:cNvSpPr>
            <a:spLocks noChangeArrowheads="1"/>
          </p:cNvSpPr>
          <p:nvPr/>
        </p:nvSpPr>
        <p:spPr bwMode="auto">
          <a:xfrm>
            <a:off x="2773363" y="2311400"/>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34</a:t>
            </a:r>
          </a:p>
        </p:txBody>
      </p:sp>
      <p:sp>
        <p:nvSpPr>
          <p:cNvPr id="1454094" name="Rectangle 17"/>
          <p:cNvSpPr>
            <a:spLocks noChangeArrowheads="1"/>
          </p:cNvSpPr>
          <p:nvPr/>
        </p:nvSpPr>
        <p:spPr bwMode="auto">
          <a:xfrm>
            <a:off x="3086100" y="2309813"/>
            <a:ext cx="233363"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35</a:t>
            </a:r>
          </a:p>
        </p:txBody>
      </p:sp>
      <p:sp>
        <p:nvSpPr>
          <p:cNvPr id="1454095" name="Rectangle 18"/>
          <p:cNvSpPr>
            <a:spLocks noChangeArrowheads="1"/>
          </p:cNvSpPr>
          <p:nvPr/>
        </p:nvSpPr>
        <p:spPr bwMode="auto">
          <a:xfrm>
            <a:off x="3398838" y="2308225"/>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36</a:t>
            </a:r>
          </a:p>
        </p:txBody>
      </p:sp>
      <p:sp>
        <p:nvSpPr>
          <p:cNvPr id="1454096" name="Rectangle 19"/>
          <p:cNvSpPr>
            <a:spLocks noChangeArrowheads="1"/>
          </p:cNvSpPr>
          <p:nvPr/>
        </p:nvSpPr>
        <p:spPr bwMode="auto">
          <a:xfrm>
            <a:off x="3711575" y="2306638"/>
            <a:ext cx="234950"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37</a:t>
            </a:r>
          </a:p>
        </p:txBody>
      </p:sp>
      <p:sp>
        <p:nvSpPr>
          <p:cNvPr id="1454097" name="Rectangle 20"/>
          <p:cNvSpPr>
            <a:spLocks noChangeArrowheads="1"/>
          </p:cNvSpPr>
          <p:nvPr/>
        </p:nvSpPr>
        <p:spPr bwMode="auto">
          <a:xfrm>
            <a:off x="4024313" y="2305050"/>
            <a:ext cx="234950"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38</a:t>
            </a:r>
          </a:p>
        </p:txBody>
      </p:sp>
      <p:sp>
        <p:nvSpPr>
          <p:cNvPr id="1454098" name="Rectangle 21"/>
          <p:cNvSpPr>
            <a:spLocks noChangeArrowheads="1"/>
          </p:cNvSpPr>
          <p:nvPr/>
        </p:nvSpPr>
        <p:spPr bwMode="auto">
          <a:xfrm>
            <a:off x="4338638" y="2303463"/>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39</a:t>
            </a:r>
          </a:p>
        </p:txBody>
      </p:sp>
      <p:sp>
        <p:nvSpPr>
          <p:cNvPr id="1454099" name="Rectangle 22"/>
          <p:cNvSpPr>
            <a:spLocks noChangeArrowheads="1"/>
          </p:cNvSpPr>
          <p:nvPr/>
        </p:nvSpPr>
        <p:spPr bwMode="auto">
          <a:xfrm>
            <a:off x="4651375" y="2301875"/>
            <a:ext cx="233363"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40</a:t>
            </a:r>
          </a:p>
        </p:txBody>
      </p:sp>
      <p:sp>
        <p:nvSpPr>
          <p:cNvPr id="1454100" name="Rectangle 23"/>
          <p:cNvSpPr>
            <a:spLocks noChangeArrowheads="1"/>
          </p:cNvSpPr>
          <p:nvPr/>
        </p:nvSpPr>
        <p:spPr bwMode="auto">
          <a:xfrm>
            <a:off x="4964113" y="2300288"/>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41</a:t>
            </a:r>
          </a:p>
        </p:txBody>
      </p:sp>
      <p:sp>
        <p:nvSpPr>
          <p:cNvPr id="1454101" name="Rectangle 24"/>
          <p:cNvSpPr>
            <a:spLocks noChangeArrowheads="1"/>
          </p:cNvSpPr>
          <p:nvPr/>
        </p:nvSpPr>
        <p:spPr bwMode="auto">
          <a:xfrm>
            <a:off x="5276850" y="2298700"/>
            <a:ext cx="233363"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42</a:t>
            </a:r>
          </a:p>
        </p:txBody>
      </p:sp>
      <p:sp>
        <p:nvSpPr>
          <p:cNvPr id="1454102" name="Rectangle 25"/>
          <p:cNvSpPr>
            <a:spLocks noChangeArrowheads="1"/>
          </p:cNvSpPr>
          <p:nvPr/>
        </p:nvSpPr>
        <p:spPr bwMode="auto">
          <a:xfrm>
            <a:off x="5589588" y="2297113"/>
            <a:ext cx="234950"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43</a:t>
            </a:r>
          </a:p>
        </p:txBody>
      </p:sp>
      <p:sp>
        <p:nvSpPr>
          <p:cNvPr id="1454103" name="Rectangle 26"/>
          <p:cNvSpPr>
            <a:spLocks noChangeArrowheads="1"/>
          </p:cNvSpPr>
          <p:nvPr/>
        </p:nvSpPr>
        <p:spPr bwMode="auto">
          <a:xfrm>
            <a:off x="5902325" y="2295525"/>
            <a:ext cx="234950"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44</a:t>
            </a:r>
          </a:p>
        </p:txBody>
      </p:sp>
      <p:sp>
        <p:nvSpPr>
          <p:cNvPr id="1454104" name="Rectangle 27"/>
          <p:cNvSpPr>
            <a:spLocks noChangeArrowheads="1"/>
          </p:cNvSpPr>
          <p:nvPr/>
        </p:nvSpPr>
        <p:spPr bwMode="auto">
          <a:xfrm>
            <a:off x="6216650" y="2293938"/>
            <a:ext cx="233363"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45</a:t>
            </a:r>
          </a:p>
        </p:txBody>
      </p:sp>
      <p:sp>
        <p:nvSpPr>
          <p:cNvPr id="1454105" name="Rectangle 28"/>
          <p:cNvSpPr>
            <a:spLocks noChangeArrowheads="1"/>
          </p:cNvSpPr>
          <p:nvPr/>
        </p:nvSpPr>
        <p:spPr bwMode="auto">
          <a:xfrm>
            <a:off x="6529388" y="2292350"/>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46</a:t>
            </a:r>
          </a:p>
        </p:txBody>
      </p:sp>
      <p:sp>
        <p:nvSpPr>
          <p:cNvPr id="1454106" name="Rectangle 29"/>
          <p:cNvSpPr>
            <a:spLocks noChangeArrowheads="1"/>
          </p:cNvSpPr>
          <p:nvPr/>
        </p:nvSpPr>
        <p:spPr bwMode="auto">
          <a:xfrm>
            <a:off x="6842125" y="2290763"/>
            <a:ext cx="233363"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47</a:t>
            </a:r>
          </a:p>
        </p:txBody>
      </p:sp>
      <p:sp>
        <p:nvSpPr>
          <p:cNvPr id="1454107" name="Rectangle 30"/>
          <p:cNvSpPr>
            <a:spLocks noChangeArrowheads="1"/>
          </p:cNvSpPr>
          <p:nvPr/>
        </p:nvSpPr>
        <p:spPr bwMode="auto">
          <a:xfrm>
            <a:off x="7154863" y="2289175"/>
            <a:ext cx="233362"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48</a:t>
            </a:r>
          </a:p>
        </p:txBody>
      </p:sp>
      <p:sp>
        <p:nvSpPr>
          <p:cNvPr id="1454108" name="Rectangle 31"/>
          <p:cNvSpPr>
            <a:spLocks noChangeArrowheads="1"/>
          </p:cNvSpPr>
          <p:nvPr/>
        </p:nvSpPr>
        <p:spPr bwMode="auto">
          <a:xfrm>
            <a:off x="7467600" y="2287588"/>
            <a:ext cx="234950"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49</a:t>
            </a:r>
          </a:p>
        </p:txBody>
      </p:sp>
      <p:sp>
        <p:nvSpPr>
          <p:cNvPr id="1454109" name="Rectangle 32"/>
          <p:cNvSpPr>
            <a:spLocks noChangeArrowheads="1"/>
          </p:cNvSpPr>
          <p:nvPr/>
        </p:nvSpPr>
        <p:spPr bwMode="auto">
          <a:xfrm>
            <a:off x="7780338" y="2286000"/>
            <a:ext cx="234950"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50</a:t>
            </a:r>
          </a:p>
        </p:txBody>
      </p:sp>
      <p:sp>
        <p:nvSpPr>
          <p:cNvPr id="1454110" name="Rectangle 33"/>
          <p:cNvSpPr>
            <a:spLocks noChangeArrowheads="1"/>
          </p:cNvSpPr>
          <p:nvPr/>
        </p:nvSpPr>
        <p:spPr bwMode="auto">
          <a:xfrm>
            <a:off x="8094663" y="2284413"/>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51</a:t>
            </a:r>
          </a:p>
        </p:txBody>
      </p:sp>
      <p:sp>
        <p:nvSpPr>
          <p:cNvPr id="1454111" name="Rectangle 34"/>
          <p:cNvSpPr>
            <a:spLocks noChangeArrowheads="1"/>
          </p:cNvSpPr>
          <p:nvPr/>
        </p:nvSpPr>
        <p:spPr bwMode="auto">
          <a:xfrm>
            <a:off x="8407400" y="2282825"/>
            <a:ext cx="233363" cy="287338"/>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52</a:t>
            </a:r>
          </a:p>
        </p:txBody>
      </p:sp>
      <p:sp>
        <p:nvSpPr>
          <p:cNvPr id="1454112" name="Rectangle 35"/>
          <p:cNvSpPr>
            <a:spLocks noChangeArrowheads="1"/>
          </p:cNvSpPr>
          <p:nvPr/>
        </p:nvSpPr>
        <p:spPr bwMode="auto">
          <a:xfrm>
            <a:off x="8720138" y="2281238"/>
            <a:ext cx="233362" cy="287337"/>
          </a:xfrm>
          <a:prstGeom prst="rect">
            <a:avLst/>
          </a:prstGeom>
          <a:solidFill>
            <a:srgbClr val="FF00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53</a:t>
            </a:r>
          </a:p>
        </p:txBody>
      </p:sp>
      <p:sp>
        <p:nvSpPr>
          <p:cNvPr id="1454113" name="Rectangle 36"/>
          <p:cNvSpPr>
            <a:spLocks noChangeArrowheads="1"/>
          </p:cNvSpPr>
          <p:nvPr/>
        </p:nvSpPr>
        <p:spPr bwMode="auto">
          <a:xfrm>
            <a:off x="9032875" y="2279650"/>
            <a:ext cx="233363" cy="287338"/>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54</a:t>
            </a:r>
          </a:p>
        </p:txBody>
      </p:sp>
      <p:sp>
        <p:nvSpPr>
          <p:cNvPr id="1454114" name="Rectangle 37"/>
          <p:cNvSpPr>
            <a:spLocks noChangeArrowheads="1"/>
          </p:cNvSpPr>
          <p:nvPr/>
        </p:nvSpPr>
        <p:spPr bwMode="auto">
          <a:xfrm>
            <a:off x="9345613" y="2278063"/>
            <a:ext cx="234950"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55</a:t>
            </a:r>
          </a:p>
        </p:txBody>
      </p:sp>
      <p:sp>
        <p:nvSpPr>
          <p:cNvPr id="1454115" name="Text Box 38"/>
          <p:cNvSpPr txBox="1">
            <a:spLocks noChangeArrowheads="1"/>
          </p:cNvSpPr>
          <p:nvPr/>
        </p:nvSpPr>
        <p:spPr bwMode="auto">
          <a:xfrm>
            <a:off x="4665663" y="2781300"/>
            <a:ext cx="2968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FF"/>
                </a:solidFill>
                <a:ea typeface="宋体" panose="02010600030101010101" pitchFamily="2" charset="-122"/>
              </a:rPr>
              <a:t>已发送但未收到确认</a:t>
            </a:r>
          </a:p>
        </p:txBody>
      </p:sp>
      <p:sp>
        <p:nvSpPr>
          <p:cNvPr id="1454116" name="Rectangle 39"/>
          <p:cNvSpPr>
            <a:spLocks noChangeArrowheads="1"/>
          </p:cNvSpPr>
          <p:nvPr/>
        </p:nvSpPr>
        <p:spPr bwMode="auto">
          <a:xfrm>
            <a:off x="9650413" y="2278063"/>
            <a:ext cx="233362" cy="287337"/>
          </a:xfrm>
          <a:prstGeom prst="rect">
            <a:avLst/>
          </a:prstGeom>
          <a:solidFill>
            <a:srgbClr val="FFFF66"/>
          </a:solidFill>
          <a:ln w="9525">
            <a:solidFill>
              <a:schemeClr val="tx1"/>
            </a:solidFill>
            <a:miter lim="800000"/>
            <a:headEnd/>
            <a:tailEnd/>
          </a:ln>
        </p:spPr>
        <p:txBody>
          <a:bodyPr wrap="none" anchor="ctr"/>
          <a:lstStyle/>
          <a:p>
            <a:pPr algn="ctr" eaLnBrk="0" hangingPunct="0"/>
            <a:r>
              <a:rPr lang="en-US" altLang="zh-CN" sz="1600" b="1">
                <a:solidFill>
                  <a:srgbClr val="0000CC"/>
                </a:solidFill>
                <a:ea typeface="宋体" panose="02010600030101010101" pitchFamily="2" charset="-122"/>
              </a:rPr>
              <a:t>56</a:t>
            </a:r>
          </a:p>
        </p:txBody>
      </p:sp>
      <p:sp>
        <p:nvSpPr>
          <p:cNvPr id="1454117" name="Line 41"/>
          <p:cNvSpPr>
            <a:spLocks noChangeShapeType="1"/>
          </p:cNvSpPr>
          <p:nvPr/>
        </p:nvSpPr>
        <p:spPr bwMode="auto">
          <a:xfrm flipV="1">
            <a:off x="2879725" y="2613025"/>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454118" name="Text Box 42"/>
          <p:cNvSpPr txBox="1">
            <a:spLocks noChangeArrowheads="1"/>
          </p:cNvSpPr>
          <p:nvPr/>
        </p:nvSpPr>
        <p:spPr bwMode="auto">
          <a:xfrm>
            <a:off x="2686050" y="3176588"/>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宋体" panose="02010600030101010101" pitchFamily="2" charset="-122"/>
              </a:rPr>
              <a:t>P</a:t>
            </a:r>
            <a:r>
              <a:rPr lang="en-US" altLang="zh-CN" sz="2000" b="1" baseline="-25000">
                <a:solidFill>
                  <a:srgbClr val="0000CC"/>
                </a:solidFill>
                <a:ea typeface="宋体" panose="02010600030101010101" pitchFamily="2" charset="-122"/>
              </a:rPr>
              <a:t>1</a:t>
            </a:r>
          </a:p>
        </p:txBody>
      </p:sp>
      <p:sp>
        <p:nvSpPr>
          <p:cNvPr id="1454119" name="Text Box 43"/>
          <p:cNvSpPr txBox="1">
            <a:spLocks noChangeArrowheads="1"/>
          </p:cNvSpPr>
          <p:nvPr/>
        </p:nvSpPr>
        <p:spPr bwMode="auto">
          <a:xfrm>
            <a:off x="8913813" y="3176588"/>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宋体" panose="02010600030101010101" pitchFamily="2" charset="-122"/>
              </a:rPr>
              <a:t>P</a:t>
            </a:r>
            <a:r>
              <a:rPr lang="en-US" altLang="zh-CN" sz="2000" b="1" baseline="-25000">
                <a:solidFill>
                  <a:srgbClr val="0000CC"/>
                </a:solidFill>
                <a:ea typeface="宋体" panose="02010600030101010101" pitchFamily="2" charset="-122"/>
              </a:rPr>
              <a:t>2</a:t>
            </a:r>
          </a:p>
        </p:txBody>
      </p:sp>
      <p:sp>
        <p:nvSpPr>
          <p:cNvPr id="1454120" name="Line 44"/>
          <p:cNvSpPr>
            <a:spLocks noChangeShapeType="1"/>
          </p:cNvSpPr>
          <p:nvPr/>
        </p:nvSpPr>
        <p:spPr bwMode="auto">
          <a:xfrm flipV="1">
            <a:off x="9069388" y="2565400"/>
            <a:ext cx="0" cy="5762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宋体" panose="02010600030101010101" pitchFamily="2" charset="-122"/>
            </a:endParaRPr>
          </a:p>
        </p:txBody>
      </p:sp>
      <p:sp>
        <p:nvSpPr>
          <p:cNvPr id="1454121" name="Text Box 45"/>
          <p:cNvSpPr txBox="1">
            <a:spLocks noChangeArrowheads="1"/>
          </p:cNvSpPr>
          <p:nvPr/>
        </p:nvSpPr>
        <p:spPr bwMode="auto">
          <a:xfrm>
            <a:off x="8913813" y="3463925"/>
            <a:ext cx="450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CC"/>
                </a:solidFill>
                <a:ea typeface="宋体" panose="02010600030101010101" pitchFamily="2" charset="-122"/>
              </a:rPr>
              <a:t>P</a:t>
            </a:r>
            <a:r>
              <a:rPr lang="en-US" altLang="zh-CN" sz="2000" b="1" baseline="-25000">
                <a:solidFill>
                  <a:srgbClr val="0000CC"/>
                </a:solidFill>
                <a:ea typeface="宋体" panose="02010600030101010101" pitchFamily="2" charset="-122"/>
              </a:rPr>
              <a:t>3</a:t>
            </a:r>
          </a:p>
        </p:txBody>
      </p:sp>
      <p:sp>
        <p:nvSpPr>
          <p:cNvPr id="1454122" name="Text Box 46"/>
          <p:cNvSpPr txBox="1">
            <a:spLocks noChangeArrowheads="1"/>
          </p:cNvSpPr>
          <p:nvPr/>
        </p:nvSpPr>
        <p:spPr bwMode="auto">
          <a:xfrm>
            <a:off x="1325563" y="201613"/>
            <a:ext cx="7394575" cy="107791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spAutoFit/>
          </a:bodyPr>
          <a:lstStyle/>
          <a:p>
            <a:pPr algn="ctr" eaLnBrk="0" hangingPunct="0"/>
            <a:r>
              <a:rPr lang="en-US" altLang="zh-CN" sz="3200" b="1">
                <a:solidFill>
                  <a:srgbClr val="0000CC"/>
                </a:solidFill>
                <a:ea typeface="黑体" panose="02010609060101010101" pitchFamily="49" charset="-122"/>
              </a:rPr>
              <a:t>A </a:t>
            </a:r>
            <a:r>
              <a:rPr lang="zh-CN" altLang="en-US" sz="3200" b="1">
                <a:solidFill>
                  <a:srgbClr val="0000CC"/>
                </a:solidFill>
                <a:ea typeface="黑体" panose="02010609060101010101" pitchFamily="49" charset="-122"/>
              </a:rPr>
              <a:t>的发送窗口内的序号都已用完，</a:t>
            </a:r>
          </a:p>
          <a:p>
            <a:pPr algn="ctr" eaLnBrk="0" hangingPunct="0"/>
            <a:r>
              <a:rPr lang="zh-CN" altLang="en-US" sz="3200" b="1">
                <a:solidFill>
                  <a:srgbClr val="0000CC"/>
                </a:solidFill>
                <a:ea typeface="黑体" panose="02010609060101010101" pitchFamily="49" charset="-122"/>
              </a:rPr>
              <a:t>但还没有再收到确认，必须停止发送。 </a:t>
            </a:r>
          </a:p>
        </p:txBody>
      </p:sp>
      <p:sp>
        <p:nvSpPr>
          <p:cNvPr id="1454123" name="矩形 1"/>
          <p:cNvSpPr>
            <a:spLocks noChangeArrowheads="1"/>
          </p:cNvSpPr>
          <p:nvPr/>
        </p:nvSpPr>
        <p:spPr bwMode="auto">
          <a:xfrm>
            <a:off x="1441450" y="3865563"/>
            <a:ext cx="7615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发送窗口内的序号都属于已发送但未被确认</a:t>
            </a:r>
            <a:endParaRPr lang="zh-CN" altLang="en-US" sz="2400" b="1">
              <a:ea typeface="黑体" panose="02010609060101010101" pitchFamily="49" charset="-122"/>
            </a:endParaRPr>
          </a:p>
        </p:txBody>
      </p:sp>
      <p:sp>
        <p:nvSpPr>
          <p:cNvPr id="145412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1104A76-9378-4723-8078-0CBE74F73E5C}" type="slidenum">
              <a:rPr lang="zh-CN" altLang="en-US" smtClean="0"/>
              <a:pPr/>
              <a:t>48</a:t>
            </a:fld>
            <a:endParaRPr lang="en-US" altLang="zh-CN" smtClean="0"/>
          </a:p>
        </p:txBody>
      </p:sp>
      <p:sp>
        <p:nvSpPr>
          <p:cNvPr id="145412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6129" name="Rectangle 4"/>
          <p:cNvSpPr>
            <a:spLocks noGrp="1" noChangeArrowheads="1"/>
          </p:cNvSpPr>
          <p:nvPr>
            <p:ph type="title"/>
          </p:nvPr>
        </p:nvSpPr>
        <p:spPr/>
        <p:txBody>
          <a:bodyPr/>
          <a:lstStyle/>
          <a:p>
            <a:pPr algn="ctr"/>
            <a:r>
              <a:rPr lang="zh-CN" altLang="en-US" smtClean="0">
                <a:ea typeface="黑体" panose="02010609060101010101" pitchFamily="49" charset="-122"/>
              </a:rPr>
              <a:t>发送缓存 </a:t>
            </a:r>
          </a:p>
        </p:txBody>
      </p:sp>
      <p:sp>
        <p:nvSpPr>
          <p:cNvPr id="1456130" name="Line 5"/>
          <p:cNvSpPr>
            <a:spLocks noChangeShapeType="1"/>
          </p:cNvSpPr>
          <p:nvPr/>
        </p:nvSpPr>
        <p:spPr bwMode="auto">
          <a:xfrm flipV="1">
            <a:off x="2220913" y="3644900"/>
            <a:ext cx="567213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31" name="Text Box 6"/>
          <p:cNvSpPr txBox="1">
            <a:spLocks noChangeArrowheads="1"/>
          </p:cNvSpPr>
          <p:nvPr/>
        </p:nvSpPr>
        <p:spPr bwMode="auto">
          <a:xfrm>
            <a:off x="1295400" y="5414963"/>
            <a:ext cx="17240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最后被确认</a:t>
            </a:r>
          </a:p>
          <a:p>
            <a:pPr algn="ctr" eaLnBrk="0" hangingPunct="0"/>
            <a:r>
              <a:rPr lang="zh-CN" altLang="en-US" sz="2400" b="1">
                <a:solidFill>
                  <a:srgbClr val="000099"/>
                </a:solidFill>
                <a:ea typeface="黑体" panose="02010609060101010101" pitchFamily="49" charset="-122"/>
              </a:rPr>
              <a:t>的字节</a:t>
            </a:r>
          </a:p>
        </p:txBody>
      </p:sp>
      <p:sp>
        <p:nvSpPr>
          <p:cNvPr id="1456132" name="Rectangle 7"/>
          <p:cNvSpPr>
            <a:spLocks noChangeArrowheads="1"/>
          </p:cNvSpPr>
          <p:nvPr/>
        </p:nvSpPr>
        <p:spPr bwMode="auto">
          <a:xfrm>
            <a:off x="5407025" y="4456113"/>
            <a:ext cx="1746250" cy="534987"/>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56133" name="Oval 8"/>
          <p:cNvSpPr>
            <a:spLocks noChangeArrowheads="1"/>
          </p:cNvSpPr>
          <p:nvPr/>
        </p:nvSpPr>
        <p:spPr bwMode="auto">
          <a:xfrm>
            <a:off x="3771900" y="1989138"/>
            <a:ext cx="2765425" cy="754062"/>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发送应用程序</a:t>
            </a:r>
          </a:p>
        </p:txBody>
      </p:sp>
      <p:sp>
        <p:nvSpPr>
          <p:cNvPr id="1456134" name="Line 9"/>
          <p:cNvSpPr>
            <a:spLocks noChangeShapeType="1"/>
          </p:cNvSpPr>
          <p:nvPr/>
        </p:nvSpPr>
        <p:spPr bwMode="auto">
          <a:xfrm>
            <a:off x="463550" y="3067050"/>
            <a:ext cx="9313863" cy="3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35" name="Rectangle 30"/>
          <p:cNvSpPr>
            <a:spLocks noChangeArrowheads="1"/>
          </p:cNvSpPr>
          <p:nvPr/>
        </p:nvSpPr>
        <p:spPr bwMode="auto">
          <a:xfrm>
            <a:off x="2206625" y="4243388"/>
            <a:ext cx="3930650" cy="962025"/>
          </a:xfrm>
          <a:prstGeom prst="rect">
            <a:avLst/>
          </a:prstGeom>
          <a:solidFill>
            <a:srgbClr val="00B0F0"/>
          </a:solidFill>
          <a:ln w="12700">
            <a:solidFill>
              <a:schemeClr val="tx1"/>
            </a:solidFill>
            <a:prstDash val="dash"/>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56136" name="Line 10"/>
          <p:cNvSpPr>
            <a:spLocks noChangeShapeType="1"/>
          </p:cNvSpPr>
          <p:nvPr/>
        </p:nvSpPr>
        <p:spPr bwMode="auto">
          <a:xfrm>
            <a:off x="463550" y="4456113"/>
            <a:ext cx="8143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37" name="Line 11"/>
          <p:cNvSpPr>
            <a:spLocks noChangeShapeType="1"/>
          </p:cNvSpPr>
          <p:nvPr/>
        </p:nvSpPr>
        <p:spPr bwMode="auto">
          <a:xfrm>
            <a:off x="463550" y="4991100"/>
            <a:ext cx="8143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38" name="Line 12"/>
          <p:cNvSpPr>
            <a:spLocks noChangeShapeType="1"/>
          </p:cNvSpPr>
          <p:nvPr/>
        </p:nvSpPr>
        <p:spPr bwMode="auto">
          <a:xfrm>
            <a:off x="2206625" y="4456113"/>
            <a:ext cx="0" cy="534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39" name="Line 13"/>
          <p:cNvSpPr>
            <a:spLocks noChangeShapeType="1"/>
          </p:cNvSpPr>
          <p:nvPr/>
        </p:nvSpPr>
        <p:spPr bwMode="auto">
          <a:xfrm flipH="1">
            <a:off x="7153275" y="4456113"/>
            <a:ext cx="0" cy="5349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40" name="Text Box 14"/>
          <p:cNvSpPr txBox="1">
            <a:spLocks noChangeArrowheads="1"/>
          </p:cNvSpPr>
          <p:nvPr/>
        </p:nvSpPr>
        <p:spPr bwMode="auto">
          <a:xfrm>
            <a:off x="3952875" y="3282950"/>
            <a:ext cx="141605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发送缓存</a:t>
            </a:r>
          </a:p>
        </p:txBody>
      </p:sp>
      <p:sp>
        <p:nvSpPr>
          <p:cNvPr id="1456141" name="Text Box 16"/>
          <p:cNvSpPr txBox="1">
            <a:spLocks noChangeArrowheads="1"/>
          </p:cNvSpPr>
          <p:nvPr/>
        </p:nvSpPr>
        <p:spPr bwMode="auto">
          <a:xfrm>
            <a:off x="4648200" y="5414963"/>
            <a:ext cx="14160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最后发送</a:t>
            </a:r>
          </a:p>
          <a:p>
            <a:pPr algn="ctr" eaLnBrk="0" hangingPunct="0"/>
            <a:r>
              <a:rPr lang="zh-CN" altLang="en-US" sz="2400" b="1">
                <a:solidFill>
                  <a:srgbClr val="000099"/>
                </a:solidFill>
                <a:ea typeface="黑体" panose="02010609060101010101" pitchFamily="49" charset="-122"/>
              </a:rPr>
              <a:t>的字节</a:t>
            </a:r>
          </a:p>
        </p:txBody>
      </p:sp>
      <p:sp>
        <p:nvSpPr>
          <p:cNvPr id="1456142" name="Line 17"/>
          <p:cNvSpPr>
            <a:spLocks noChangeShapeType="1"/>
          </p:cNvSpPr>
          <p:nvPr/>
        </p:nvSpPr>
        <p:spPr bwMode="auto">
          <a:xfrm>
            <a:off x="5407025" y="4456113"/>
            <a:ext cx="0" cy="5349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43" name="Text Box 18"/>
          <p:cNvSpPr txBox="1">
            <a:spLocks noChangeArrowheads="1"/>
          </p:cNvSpPr>
          <p:nvPr/>
        </p:nvSpPr>
        <p:spPr bwMode="auto">
          <a:xfrm>
            <a:off x="3343275" y="3763963"/>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发送窗口</a:t>
            </a:r>
          </a:p>
        </p:txBody>
      </p:sp>
      <p:sp>
        <p:nvSpPr>
          <p:cNvPr id="1456144" name="Rectangle 19"/>
          <p:cNvSpPr>
            <a:spLocks noChangeArrowheads="1"/>
          </p:cNvSpPr>
          <p:nvPr/>
        </p:nvSpPr>
        <p:spPr bwMode="auto">
          <a:xfrm>
            <a:off x="2206625" y="4456113"/>
            <a:ext cx="3200400" cy="534987"/>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已发送</a:t>
            </a:r>
          </a:p>
        </p:txBody>
      </p:sp>
      <p:grpSp>
        <p:nvGrpSpPr>
          <p:cNvPr id="1456145" name="Group 35"/>
          <p:cNvGrpSpPr>
            <a:grpSpLocks/>
          </p:cNvGrpSpPr>
          <p:nvPr/>
        </p:nvGrpSpPr>
        <p:grpSpPr bwMode="auto">
          <a:xfrm>
            <a:off x="2206625" y="4991100"/>
            <a:ext cx="3200400" cy="500063"/>
            <a:chOff x="1154" y="3189"/>
            <a:chExt cx="1861" cy="270"/>
          </a:xfrm>
        </p:grpSpPr>
        <p:sp>
          <p:nvSpPr>
            <p:cNvPr id="1456146" name="Line 15"/>
            <p:cNvSpPr>
              <a:spLocks noChangeShapeType="1"/>
            </p:cNvSpPr>
            <p:nvPr/>
          </p:nvSpPr>
          <p:spPr bwMode="auto">
            <a:xfrm flipV="1">
              <a:off x="1154" y="3189"/>
              <a:ext cx="0" cy="27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47" name="Line 23"/>
            <p:cNvSpPr>
              <a:spLocks noChangeShapeType="1"/>
            </p:cNvSpPr>
            <p:nvPr/>
          </p:nvSpPr>
          <p:spPr bwMode="auto">
            <a:xfrm flipV="1">
              <a:off x="3015" y="3189"/>
              <a:ext cx="0" cy="270"/>
            </a:xfrm>
            <a:prstGeom prst="line">
              <a:avLst/>
            </a:prstGeom>
            <a:noFill/>
            <a:ln w="571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456148" name="Line 24"/>
          <p:cNvSpPr>
            <a:spLocks noChangeShapeType="1"/>
          </p:cNvSpPr>
          <p:nvPr/>
        </p:nvSpPr>
        <p:spPr bwMode="auto">
          <a:xfrm>
            <a:off x="2206625" y="3387725"/>
            <a:ext cx="0" cy="8556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49" name="Line 25"/>
          <p:cNvSpPr>
            <a:spLocks noChangeShapeType="1"/>
          </p:cNvSpPr>
          <p:nvPr/>
        </p:nvSpPr>
        <p:spPr bwMode="auto">
          <a:xfrm>
            <a:off x="7880350" y="3387725"/>
            <a:ext cx="0" cy="16033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50" name="Freeform 26"/>
          <p:cNvSpPr>
            <a:spLocks noChangeArrowheads="1"/>
          </p:cNvSpPr>
          <p:nvPr/>
        </p:nvSpPr>
        <p:spPr bwMode="auto">
          <a:xfrm>
            <a:off x="5154613" y="2741613"/>
            <a:ext cx="1998662"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a:solidFill>
              <a:srgbClr val="0000FF"/>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51" name="Text Box 27"/>
          <p:cNvSpPr txBox="1">
            <a:spLocks noChangeArrowheads="1"/>
          </p:cNvSpPr>
          <p:nvPr/>
        </p:nvSpPr>
        <p:spPr bwMode="auto">
          <a:xfrm>
            <a:off x="914400" y="3043238"/>
            <a:ext cx="8001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FF0000"/>
                </a:solidFill>
                <a:ea typeface="黑体" panose="02010609060101010101" pitchFamily="49" charset="-122"/>
              </a:rPr>
              <a:t>TCP</a:t>
            </a:r>
          </a:p>
        </p:txBody>
      </p:sp>
      <p:sp>
        <p:nvSpPr>
          <p:cNvPr id="1456152" name="Freeform 28"/>
          <p:cNvSpPr>
            <a:spLocks noChangeArrowheads="1"/>
          </p:cNvSpPr>
          <p:nvPr/>
        </p:nvSpPr>
        <p:spPr bwMode="auto">
          <a:xfrm>
            <a:off x="8543925" y="4387850"/>
            <a:ext cx="141288" cy="636588"/>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53" name="Freeform 29"/>
          <p:cNvSpPr>
            <a:spLocks noChangeArrowheads="1"/>
          </p:cNvSpPr>
          <p:nvPr/>
        </p:nvSpPr>
        <p:spPr bwMode="auto">
          <a:xfrm>
            <a:off x="366713" y="4411663"/>
            <a:ext cx="211137" cy="646112"/>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54" name="Line 31"/>
          <p:cNvSpPr>
            <a:spLocks noChangeShapeType="1"/>
          </p:cNvSpPr>
          <p:nvPr/>
        </p:nvSpPr>
        <p:spPr bwMode="auto">
          <a:xfrm>
            <a:off x="7008813" y="5300663"/>
            <a:ext cx="1454150"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6155" name="Text Box 32"/>
          <p:cNvSpPr txBox="1">
            <a:spLocks noChangeArrowheads="1"/>
          </p:cNvSpPr>
          <p:nvPr/>
        </p:nvSpPr>
        <p:spPr bwMode="auto">
          <a:xfrm>
            <a:off x="7035800" y="5343525"/>
            <a:ext cx="1414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序号增大</a:t>
            </a:r>
          </a:p>
        </p:txBody>
      </p:sp>
      <p:sp>
        <p:nvSpPr>
          <p:cNvPr id="1456156" name="矩形 1"/>
          <p:cNvSpPr>
            <a:spLocks noChangeArrowheads="1"/>
          </p:cNvSpPr>
          <p:nvPr/>
        </p:nvSpPr>
        <p:spPr bwMode="auto">
          <a:xfrm>
            <a:off x="849313" y="1136650"/>
            <a:ext cx="8704262" cy="523875"/>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a:spAutoFit/>
          </a:bodyPr>
          <a:lstStyle/>
          <a:p>
            <a:pPr algn="ctr" eaLnBrk="0" hangingPunct="0"/>
            <a:r>
              <a:rPr lang="zh-CN" altLang="zh-CN" sz="2800" b="1">
                <a:solidFill>
                  <a:srgbClr val="0000CC"/>
                </a:solidFill>
                <a:ea typeface="黑体" panose="02010609060101010101" pitchFamily="49" charset="-122"/>
              </a:rPr>
              <a:t>发送方的应用进程把字节流写入</a:t>
            </a:r>
            <a:r>
              <a:rPr lang="en-US" altLang="zh-CN" sz="2800" b="1">
                <a:solidFill>
                  <a:srgbClr val="0000CC"/>
                </a:solidFill>
                <a:ea typeface="黑体" panose="02010609060101010101" pitchFamily="49" charset="-122"/>
              </a:rPr>
              <a:t> TCP </a:t>
            </a:r>
            <a:r>
              <a:rPr lang="zh-CN" altLang="zh-CN" sz="2800" b="1">
                <a:solidFill>
                  <a:srgbClr val="0000CC"/>
                </a:solidFill>
                <a:ea typeface="黑体" panose="02010609060101010101" pitchFamily="49" charset="-122"/>
              </a:rPr>
              <a:t>的发送缓存</a:t>
            </a:r>
            <a:r>
              <a:rPr lang="zh-CN" altLang="en-US" sz="2800" b="1">
                <a:solidFill>
                  <a:srgbClr val="0000CC"/>
                </a:solidFill>
                <a:ea typeface="黑体" panose="02010609060101010101" pitchFamily="49" charset="-122"/>
              </a:rPr>
              <a:t>。</a:t>
            </a:r>
          </a:p>
        </p:txBody>
      </p:sp>
      <p:sp>
        <p:nvSpPr>
          <p:cNvPr id="1456157" name="矩形 2"/>
          <p:cNvSpPr>
            <a:spLocks noChangeArrowheads="1"/>
          </p:cNvSpPr>
          <p:nvPr/>
        </p:nvSpPr>
        <p:spPr bwMode="auto">
          <a:xfrm>
            <a:off x="536575" y="1916113"/>
            <a:ext cx="3048000" cy="831850"/>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400" b="1">
                <a:solidFill>
                  <a:schemeClr val="bg1"/>
                </a:solidFill>
                <a:ea typeface="黑体" panose="02010609060101010101" pitchFamily="49" charset="-122"/>
              </a:rPr>
              <a:t>发送窗口通常只是发送缓存的一部分。</a:t>
            </a:r>
            <a:endParaRPr lang="zh-CN" altLang="en-US" sz="2400" b="1">
              <a:solidFill>
                <a:schemeClr val="bg1"/>
              </a:solidFill>
              <a:ea typeface="黑体" panose="02010609060101010101" pitchFamily="49" charset="-122"/>
            </a:endParaRPr>
          </a:p>
        </p:txBody>
      </p:sp>
      <p:sp>
        <p:nvSpPr>
          <p:cNvPr id="145615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6AD322-C990-4D97-AF33-8A08E352A90B}" type="slidenum">
              <a:rPr lang="zh-CN" altLang="en-US" smtClean="0"/>
              <a:pPr eaLnBrk="1" hangingPunct="1"/>
              <a:t>49</a:t>
            </a:fld>
            <a:endParaRPr lang="en-US" altLang="zh-CN" smtClean="0"/>
          </a:p>
        </p:txBody>
      </p:sp>
      <p:sp>
        <p:nvSpPr>
          <p:cNvPr id="145615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8177" name="Rectangle 4"/>
          <p:cNvSpPr>
            <a:spLocks noGrp="1" noChangeArrowheads="1"/>
          </p:cNvSpPr>
          <p:nvPr>
            <p:ph type="title"/>
          </p:nvPr>
        </p:nvSpPr>
        <p:spPr/>
        <p:txBody>
          <a:bodyPr/>
          <a:lstStyle/>
          <a:p>
            <a:pPr algn="ctr"/>
            <a:r>
              <a:rPr lang="zh-CN" altLang="en-US" smtClean="0">
                <a:ea typeface="黑体" panose="02010609060101010101" pitchFamily="49" charset="-122"/>
              </a:rPr>
              <a:t>接收缓存</a:t>
            </a:r>
          </a:p>
        </p:txBody>
      </p:sp>
      <p:sp>
        <p:nvSpPr>
          <p:cNvPr id="1458178" name="Rectangle 20"/>
          <p:cNvSpPr>
            <a:spLocks noChangeArrowheads="1"/>
          </p:cNvSpPr>
          <p:nvPr/>
        </p:nvSpPr>
        <p:spPr bwMode="auto">
          <a:xfrm>
            <a:off x="4427538" y="4260850"/>
            <a:ext cx="3963987" cy="1016000"/>
          </a:xfrm>
          <a:prstGeom prst="rect">
            <a:avLst/>
          </a:prstGeom>
          <a:solidFill>
            <a:srgbClr val="3399FF"/>
          </a:solidFill>
          <a:ln w="9525">
            <a:solidFill>
              <a:schemeClr val="tx1"/>
            </a:solidFill>
            <a:prstDash val="dash"/>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58179" name="Oval 5"/>
          <p:cNvSpPr>
            <a:spLocks noChangeArrowheads="1"/>
          </p:cNvSpPr>
          <p:nvPr/>
        </p:nvSpPr>
        <p:spPr bwMode="auto">
          <a:xfrm>
            <a:off x="3987800" y="1979613"/>
            <a:ext cx="2789238" cy="796925"/>
          </a:xfrm>
          <a:prstGeom prst="ellipse">
            <a:avLst/>
          </a:prstGeom>
          <a:solidFill>
            <a:srgbClr val="FFFF99"/>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r>
              <a:rPr lang="zh-CN" altLang="en-US" sz="2400" b="1">
                <a:solidFill>
                  <a:srgbClr val="000099"/>
                </a:solidFill>
                <a:ea typeface="黑体" panose="02010609060101010101" pitchFamily="49" charset="-122"/>
              </a:rPr>
              <a:t>接收应用程序</a:t>
            </a:r>
          </a:p>
        </p:txBody>
      </p:sp>
      <p:sp>
        <p:nvSpPr>
          <p:cNvPr id="1458180" name="Line 6"/>
          <p:cNvSpPr>
            <a:spLocks noChangeShapeType="1"/>
          </p:cNvSpPr>
          <p:nvPr/>
        </p:nvSpPr>
        <p:spPr bwMode="auto">
          <a:xfrm>
            <a:off x="488950" y="3068638"/>
            <a:ext cx="9288463"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81" name="Line 7"/>
          <p:cNvSpPr>
            <a:spLocks noChangeShapeType="1"/>
          </p:cNvSpPr>
          <p:nvPr/>
        </p:nvSpPr>
        <p:spPr bwMode="auto">
          <a:xfrm>
            <a:off x="1349375" y="4484688"/>
            <a:ext cx="82153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82" name="Line 8"/>
          <p:cNvSpPr>
            <a:spLocks noChangeShapeType="1"/>
          </p:cNvSpPr>
          <p:nvPr/>
        </p:nvSpPr>
        <p:spPr bwMode="auto">
          <a:xfrm>
            <a:off x="1349375" y="5051425"/>
            <a:ext cx="82153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83" name="Rectangle 9"/>
          <p:cNvSpPr>
            <a:spLocks noChangeArrowheads="1"/>
          </p:cNvSpPr>
          <p:nvPr/>
        </p:nvSpPr>
        <p:spPr bwMode="auto">
          <a:xfrm>
            <a:off x="2667000" y="4484688"/>
            <a:ext cx="1760538" cy="566737"/>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sz="2400" b="1">
                <a:solidFill>
                  <a:srgbClr val="000099"/>
                </a:solidFill>
                <a:ea typeface="黑体" panose="02010609060101010101" pitchFamily="49" charset="-122"/>
              </a:rPr>
              <a:t>已收到</a:t>
            </a:r>
          </a:p>
        </p:txBody>
      </p:sp>
      <p:sp>
        <p:nvSpPr>
          <p:cNvPr id="1458184" name="Rectangle 10"/>
          <p:cNvSpPr>
            <a:spLocks noChangeArrowheads="1"/>
          </p:cNvSpPr>
          <p:nvPr/>
        </p:nvSpPr>
        <p:spPr bwMode="auto">
          <a:xfrm>
            <a:off x="5602288" y="4484688"/>
            <a:ext cx="293687" cy="566737"/>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58185" name="Text Box 14"/>
          <p:cNvSpPr txBox="1">
            <a:spLocks noChangeArrowheads="1"/>
          </p:cNvSpPr>
          <p:nvPr/>
        </p:nvSpPr>
        <p:spPr bwMode="auto">
          <a:xfrm>
            <a:off x="5670550" y="3808413"/>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接收窗口</a:t>
            </a:r>
          </a:p>
        </p:txBody>
      </p:sp>
      <p:sp>
        <p:nvSpPr>
          <p:cNvPr id="1458186" name="Line 15"/>
          <p:cNvSpPr>
            <a:spLocks noChangeShapeType="1"/>
          </p:cNvSpPr>
          <p:nvPr/>
        </p:nvSpPr>
        <p:spPr bwMode="auto">
          <a:xfrm>
            <a:off x="2667000" y="3357563"/>
            <a:ext cx="0" cy="112712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87" name="Text Box 16"/>
          <p:cNvSpPr txBox="1">
            <a:spLocks noChangeArrowheads="1"/>
          </p:cNvSpPr>
          <p:nvPr/>
        </p:nvSpPr>
        <p:spPr bwMode="auto">
          <a:xfrm>
            <a:off x="776288" y="3114675"/>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FF0000"/>
                </a:solidFill>
                <a:ea typeface="黑体" panose="02010609060101010101" pitchFamily="49" charset="-122"/>
              </a:rPr>
              <a:t>TCP</a:t>
            </a:r>
          </a:p>
        </p:txBody>
      </p:sp>
      <p:sp>
        <p:nvSpPr>
          <p:cNvPr id="1458188" name="Line 17"/>
          <p:cNvSpPr>
            <a:spLocks noChangeShapeType="1"/>
          </p:cNvSpPr>
          <p:nvPr/>
        </p:nvSpPr>
        <p:spPr bwMode="auto">
          <a:xfrm flipV="1">
            <a:off x="2667000" y="3629025"/>
            <a:ext cx="57245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89" name="Text Box 18"/>
          <p:cNvSpPr txBox="1">
            <a:spLocks noChangeArrowheads="1"/>
          </p:cNvSpPr>
          <p:nvPr/>
        </p:nvSpPr>
        <p:spPr bwMode="auto">
          <a:xfrm>
            <a:off x="4578350" y="3376613"/>
            <a:ext cx="141605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接收缓存</a:t>
            </a:r>
          </a:p>
        </p:txBody>
      </p:sp>
      <p:sp>
        <p:nvSpPr>
          <p:cNvPr id="1458190" name="Line 19"/>
          <p:cNvSpPr>
            <a:spLocks noChangeShapeType="1"/>
          </p:cNvSpPr>
          <p:nvPr/>
        </p:nvSpPr>
        <p:spPr bwMode="auto">
          <a:xfrm flipH="1">
            <a:off x="8391525" y="3376613"/>
            <a:ext cx="0" cy="8842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1" name="Freeform 21"/>
          <p:cNvSpPr>
            <a:spLocks noChangeArrowheads="1"/>
          </p:cNvSpPr>
          <p:nvPr/>
        </p:nvSpPr>
        <p:spPr bwMode="auto">
          <a:xfrm flipH="1">
            <a:off x="2679700" y="2779713"/>
            <a:ext cx="2427288" cy="1811337"/>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a:solidFill>
              <a:srgbClr val="CC33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2" name="Text Box 22"/>
          <p:cNvSpPr txBox="1">
            <a:spLocks noChangeArrowheads="1"/>
          </p:cNvSpPr>
          <p:nvPr/>
        </p:nvSpPr>
        <p:spPr bwMode="auto">
          <a:xfrm>
            <a:off x="955675" y="3586163"/>
            <a:ext cx="17240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下一个读取</a:t>
            </a:r>
          </a:p>
          <a:p>
            <a:pPr algn="ctr" eaLnBrk="0" hangingPunct="0"/>
            <a:r>
              <a:rPr lang="zh-CN" altLang="en-US" sz="2400" b="1">
                <a:solidFill>
                  <a:srgbClr val="000099"/>
                </a:solidFill>
                <a:ea typeface="黑体" panose="02010609060101010101" pitchFamily="49" charset="-122"/>
              </a:rPr>
              <a:t>的字节</a:t>
            </a:r>
          </a:p>
        </p:txBody>
      </p:sp>
      <p:sp>
        <p:nvSpPr>
          <p:cNvPr id="1458193" name="Line 23"/>
          <p:cNvSpPr>
            <a:spLocks noChangeShapeType="1"/>
          </p:cNvSpPr>
          <p:nvPr/>
        </p:nvSpPr>
        <p:spPr bwMode="auto">
          <a:xfrm>
            <a:off x="7659688" y="5487988"/>
            <a:ext cx="1470025" cy="0"/>
          </a:xfrm>
          <a:prstGeom prst="line">
            <a:avLst/>
          </a:prstGeom>
          <a:noFill/>
          <a:ln w="38100">
            <a:solidFill>
              <a:srgbClr val="C0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4" name="Text Box 24"/>
          <p:cNvSpPr txBox="1">
            <a:spLocks noChangeArrowheads="1"/>
          </p:cNvSpPr>
          <p:nvPr/>
        </p:nvSpPr>
        <p:spPr bwMode="auto">
          <a:xfrm>
            <a:off x="7691438" y="553085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序号增大</a:t>
            </a:r>
          </a:p>
        </p:txBody>
      </p:sp>
      <p:sp>
        <p:nvSpPr>
          <p:cNvPr id="1458195" name="Text Box 25"/>
          <p:cNvSpPr txBox="1">
            <a:spLocks noChangeArrowheads="1"/>
          </p:cNvSpPr>
          <p:nvPr/>
        </p:nvSpPr>
        <p:spPr bwMode="auto">
          <a:xfrm>
            <a:off x="3055938" y="5449888"/>
            <a:ext cx="26463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下一个期望收到的</a:t>
            </a:r>
          </a:p>
          <a:p>
            <a:pPr algn="ctr" eaLnBrk="0" hangingPunct="0"/>
            <a:r>
              <a:rPr lang="zh-CN" altLang="en-US" sz="2400" b="1">
                <a:solidFill>
                  <a:srgbClr val="000099"/>
                </a:solidFill>
                <a:ea typeface="黑体" panose="02010609060101010101" pitchFamily="49" charset="-122"/>
              </a:rPr>
              <a:t>字节（确认号）</a:t>
            </a:r>
          </a:p>
        </p:txBody>
      </p:sp>
      <p:sp>
        <p:nvSpPr>
          <p:cNvPr id="1458196" name="Line 26"/>
          <p:cNvSpPr>
            <a:spLocks noChangeShapeType="1"/>
          </p:cNvSpPr>
          <p:nvPr/>
        </p:nvSpPr>
        <p:spPr bwMode="auto">
          <a:xfrm flipV="1">
            <a:off x="4427538" y="5051425"/>
            <a:ext cx="0" cy="436563"/>
          </a:xfrm>
          <a:prstGeom prst="line">
            <a:avLst/>
          </a:prstGeom>
          <a:noFill/>
          <a:ln w="381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7" name="Freeform 27"/>
          <p:cNvSpPr>
            <a:spLocks noChangeArrowheads="1"/>
          </p:cNvSpPr>
          <p:nvPr/>
        </p:nvSpPr>
        <p:spPr bwMode="auto">
          <a:xfrm>
            <a:off x="9515475" y="4413250"/>
            <a:ext cx="142875" cy="673100"/>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8" name="Freeform 28"/>
          <p:cNvSpPr>
            <a:spLocks noChangeArrowheads="1"/>
          </p:cNvSpPr>
          <p:nvPr/>
        </p:nvSpPr>
        <p:spPr bwMode="auto">
          <a:xfrm>
            <a:off x="1279525" y="4438650"/>
            <a:ext cx="214313" cy="682625"/>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58199" name="矩形 26"/>
          <p:cNvSpPr>
            <a:spLocks noChangeArrowheads="1"/>
          </p:cNvSpPr>
          <p:nvPr/>
        </p:nvSpPr>
        <p:spPr bwMode="auto">
          <a:xfrm>
            <a:off x="704850" y="1136650"/>
            <a:ext cx="8809038" cy="523875"/>
          </a:xfrm>
          <a:prstGeom prst="rect">
            <a:avLst/>
          </a:prstGeom>
          <a:solidFill>
            <a:srgbClr val="66FF66"/>
          </a:solidFill>
          <a:ln w="9525">
            <a:solidFill>
              <a:schemeClr val="folHlink"/>
            </a:solidFill>
            <a:miter lim="800000"/>
            <a:headEnd/>
            <a:tailEnd/>
          </a:ln>
          <a:effectLst>
            <a:outerShdw dist="35921" dir="2700000" algn="ctr" rotWithShape="0">
              <a:schemeClr val="bg2"/>
            </a:outerShdw>
          </a:effectLst>
        </p:spPr>
        <p:txBody>
          <a:bodyPr>
            <a:spAutoFit/>
          </a:bodyPr>
          <a:lstStyle/>
          <a:p>
            <a:pPr algn="ctr" eaLnBrk="0" hangingPunct="0"/>
            <a:r>
              <a:rPr lang="zh-CN" altLang="zh-CN" sz="2800" b="1">
                <a:solidFill>
                  <a:srgbClr val="0000CC"/>
                </a:solidFill>
                <a:ea typeface="黑体" panose="02010609060101010101" pitchFamily="49" charset="-122"/>
              </a:rPr>
              <a:t>接收方的应用进程从</a:t>
            </a:r>
            <a:r>
              <a:rPr lang="en-US" altLang="zh-CN" sz="2800" b="1">
                <a:solidFill>
                  <a:srgbClr val="0000CC"/>
                </a:solidFill>
                <a:ea typeface="黑体" panose="02010609060101010101" pitchFamily="49" charset="-122"/>
              </a:rPr>
              <a:t> TCP </a:t>
            </a:r>
            <a:r>
              <a:rPr lang="zh-CN" altLang="zh-CN" sz="2800" b="1">
                <a:solidFill>
                  <a:srgbClr val="0000CC"/>
                </a:solidFill>
                <a:ea typeface="黑体" panose="02010609060101010101" pitchFamily="49" charset="-122"/>
              </a:rPr>
              <a:t>的接收缓存中读取字节流。</a:t>
            </a:r>
            <a:endParaRPr lang="zh-CN" altLang="en-US" sz="2800" b="1">
              <a:solidFill>
                <a:srgbClr val="0000CC"/>
              </a:solidFill>
              <a:ea typeface="黑体" panose="02010609060101010101" pitchFamily="49" charset="-122"/>
            </a:endParaRPr>
          </a:p>
        </p:txBody>
      </p:sp>
      <p:sp>
        <p:nvSpPr>
          <p:cNvPr id="145820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64426D-CB7D-45A3-86C9-FE2ABDEB72AC}" type="slidenum">
              <a:rPr lang="zh-CN" altLang="en-US" smtClean="0"/>
              <a:pPr eaLnBrk="1" hangingPunct="1"/>
              <a:t>50</a:t>
            </a:fld>
            <a:endParaRPr lang="en-US" altLang="zh-CN" smtClean="0"/>
          </a:p>
        </p:txBody>
      </p:sp>
      <p:sp>
        <p:nvSpPr>
          <p:cNvPr id="145820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0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发送缓存与接收缓存的作用</a:t>
            </a:r>
          </a:p>
        </p:txBody>
      </p:sp>
      <p:sp>
        <p:nvSpPr>
          <p:cNvPr id="1460226"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发送缓存</a:t>
            </a:r>
            <a:r>
              <a:rPr lang="zh-CN" altLang="en-US" smtClean="0">
                <a:ea typeface="黑体" panose="02010609060101010101" pitchFamily="49" charset="-122"/>
              </a:rPr>
              <a:t>用来暂时存放：</a:t>
            </a:r>
          </a:p>
          <a:p>
            <a:pPr lvl="1"/>
            <a:r>
              <a:rPr lang="zh-CN" altLang="en-US" smtClean="0">
                <a:solidFill>
                  <a:srgbClr val="0000FF"/>
                </a:solidFill>
                <a:ea typeface="黑体" panose="02010609060101010101" pitchFamily="49" charset="-122"/>
              </a:rPr>
              <a:t>发送应用程序传送给发送方 </a:t>
            </a:r>
            <a:r>
              <a:rPr lang="en-US" altLang="zh-CN" smtClean="0">
                <a:solidFill>
                  <a:srgbClr val="0000FF"/>
                </a:solidFill>
                <a:ea typeface="黑体" panose="02010609060101010101" pitchFamily="49" charset="-122"/>
              </a:rPr>
              <a:t>TCP </a:t>
            </a:r>
            <a:r>
              <a:rPr lang="zh-CN" altLang="en-US" smtClean="0">
                <a:solidFill>
                  <a:srgbClr val="0000FF"/>
                </a:solidFill>
                <a:ea typeface="黑体" panose="02010609060101010101" pitchFamily="49" charset="-122"/>
              </a:rPr>
              <a:t>准备发送的数据；</a:t>
            </a:r>
          </a:p>
          <a:p>
            <a:pPr lvl="1"/>
            <a:r>
              <a:rPr lang="en-US" altLang="zh-CN" smtClean="0">
                <a:solidFill>
                  <a:srgbClr val="0000FF"/>
                </a:solidFill>
                <a:ea typeface="黑体" panose="02010609060101010101" pitchFamily="49" charset="-122"/>
              </a:rPr>
              <a:t>TCP </a:t>
            </a:r>
            <a:r>
              <a:rPr lang="zh-CN" altLang="en-US" smtClean="0">
                <a:solidFill>
                  <a:srgbClr val="0000FF"/>
                </a:solidFill>
                <a:ea typeface="黑体" panose="02010609060101010101" pitchFamily="49" charset="-122"/>
              </a:rPr>
              <a:t>已发送出但尚未收到确认的数据。</a:t>
            </a:r>
          </a:p>
          <a:p>
            <a:r>
              <a:rPr lang="zh-CN" altLang="en-US" smtClean="0">
                <a:solidFill>
                  <a:srgbClr val="FF0000"/>
                </a:solidFill>
                <a:ea typeface="黑体" panose="02010609060101010101" pitchFamily="49" charset="-122"/>
              </a:rPr>
              <a:t>接收缓存</a:t>
            </a:r>
            <a:r>
              <a:rPr lang="zh-CN" altLang="en-US" smtClean="0">
                <a:ea typeface="黑体" panose="02010609060101010101" pitchFamily="49" charset="-122"/>
              </a:rPr>
              <a:t>用来暂时存放：</a:t>
            </a:r>
          </a:p>
          <a:p>
            <a:pPr lvl="1"/>
            <a:r>
              <a:rPr lang="zh-CN" altLang="en-US" smtClean="0">
                <a:solidFill>
                  <a:srgbClr val="0000FF"/>
                </a:solidFill>
                <a:latin typeface="黑体" panose="02010609060101010101" pitchFamily="49" charset="-122"/>
                <a:ea typeface="黑体" panose="02010609060101010101" pitchFamily="49" charset="-122"/>
              </a:rPr>
              <a:t>按序到达的、但尚未被接收应用程序读取的数据；</a:t>
            </a:r>
          </a:p>
          <a:p>
            <a:pPr lvl="1"/>
            <a:r>
              <a:rPr lang="zh-CN" altLang="en-US" smtClean="0">
                <a:solidFill>
                  <a:srgbClr val="0000FF"/>
                </a:solidFill>
                <a:latin typeface="黑体" panose="02010609060101010101" pitchFamily="49" charset="-122"/>
                <a:ea typeface="黑体" panose="02010609060101010101" pitchFamily="49" charset="-122"/>
              </a:rPr>
              <a:t>不按序到达的数据。</a:t>
            </a:r>
            <a:r>
              <a:rPr lang="zh-CN" altLang="en-US" smtClean="0">
                <a:solidFill>
                  <a:srgbClr val="0000FF"/>
                </a:solidFill>
                <a:ea typeface="黑体" panose="02010609060101010101" pitchFamily="49" charset="-122"/>
              </a:rPr>
              <a:t> </a:t>
            </a:r>
          </a:p>
        </p:txBody>
      </p:sp>
      <p:sp>
        <p:nvSpPr>
          <p:cNvPr id="1460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A61392-0157-41F2-BB40-49326617AF5E}" type="slidenum">
              <a:rPr lang="zh-CN" altLang="en-US" smtClean="0"/>
              <a:pPr eaLnBrk="1" hangingPunct="1"/>
              <a:t>51</a:t>
            </a:fld>
            <a:endParaRPr lang="en-US" altLang="zh-CN" smtClean="0"/>
          </a:p>
        </p:txBody>
      </p:sp>
      <p:sp>
        <p:nvSpPr>
          <p:cNvPr id="1460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22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需要强调三点</a:t>
            </a:r>
          </a:p>
        </p:txBody>
      </p:sp>
      <p:sp>
        <p:nvSpPr>
          <p:cNvPr id="146227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第一，</a:t>
            </a:r>
            <a:r>
              <a:rPr lang="en-US" altLang="zh-CN" smtClean="0">
                <a:ea typeface="黑体" panose="02010609060101010101" pitchFamily="49" charset="-122"/>
              </a:rPr>
              <a:t>A </a:t>
            </a:r>
            <a:r>
              <a:rPr lang="zh-CN" altLang="en-US" smtClean="0">
                <a:ea typeface="黑体" panose="02010609060101010101" pitchFamily="49" charset="-122"/>
              </a:rPr>
              <a:t>的发送窗口并</a:t>
            </a:r>
            <a:r>
              <a:rPr lang="zh-CN" altLang="en-US" smtClean="0">
                <a:solidFill>
                  <a:srgbClr val="FF0000"/>
                </a:solidFill>
                <a:ea typeface="黑体" panose="02010609060101010101" pitchFamily="49" charset="-122"/>
              </a:rPr>
              <a:t>不总是</a:t>
            </a:r>
            <a:r>
              <a:rPr lang="zh-CN" altLang="en-US" smtClean="0">
                <a:ea typeface="黑体" panose="02010609060101010101" pitchFamily="49" charset="-122"/>
              </a:rPr>
              <a:t>和 </a:t>
            </a:r>
            <a:r>
              <a:rPr lang="en-US" altLang="zh-CN" smtClean="0">
                <a:ea typeface="黑体" panose="02010609060101010101" pitchFamily="49" charset="-122"/>
              </a:rPr>
              <a:t>B </a:t>
            </a:r>
            <a:r>
              <a:rPr lang="zh-CN" altLang="en-US" smtClean="0">
                <a:ea typeface="黑体" panose="02010609060101010101" pitchFamily="49" charset="-122"/>
              </a:rPr>
              <a:t>的接收窗口一样大（因为有一定的时间滞后）。</a:t>
            </a:r>
          </a:p>
          <a:p>
            <a:r>
              <a:rPr lang="zh-CN" altLang="en-US" smtClean="0">
                <a:solidFill>
                  <a:srgbClr val="FF0000"/>
                </a:solidFill>
                <a:ea typeface="黑体" panose="02010609060101010101" pitchFamily="49" charset="-122"/>
              </a:rPr>
              <a:t>第二，</a:t>
            </a:r>
            <a:r>
              <a:rPr lang="en-US" altLang="zh-CN" smtClean="0">
                <a:ea typeface="黑体" panose="02010609060101010101" pitchFamily="49" charset="-122"/>
              </a:rPr>
              <a:t>TCP </a:t>
            </a:r>
            <a:r>
              <a:rPr lang="zh-CN" altLang="en-US" smtClean="0">
                <a:ea typeface="黑体" panose="02010609060101010101" pitchFamily="49" charset="-122"/>
              </a:rPr>
              <a:t>标准</a:t>
            </a:r>
            <a:r>
              <a:rPr lang="zh-CN" altLang="en-US" smtClean="0">
                <a:solidFill>
                  <a:srgbClr val="FF0000"/>
                </a:solidFill>
                <a:ea typeface="黑体" panose="02010609060101010101" pitchFamily="49" charset="-122"/>
              </a:rPr>
              <a:t>没有规定</a:t>
            </a:r>
            <a:r>
              <a:rPr lang="zh-CN" altLang="en-US" smtClean="0">
                <a:ea typeface="黑体" panose="02010609060101010101" pitchFamily="49" charset="-122"/>
              </a:rPr>
              <a:t>对不按序到达的数据应如何处理。通常是先临时存放在接收窗口中，等到字节流中所缺少的字节收到后，再按序交付上层的应用进程。</a:t>
            </a:r>
          </a:p>
          <a:p>
            <a:r>
              <a:rPr lang="zh-CN" altLang="en-US" smtClean="0">
                <a:solidFill>
                  <a:srgbClr val="FF0000"/>
                </a:solidFill>
                <a:ea typeface="黑体" panose="02010609060101010101" pitchFamily="49" charset="-122"/>
              </a:rPr>
              <a:t>第三，</a:t>
            </a:r>
            <a:r>
              <a:rPr lang="en-US" altLang="zh-CN" smtClean="0">
                <a:ea typeface="黑体" panose="02010609060101010101" pitchFamily="49" charset="-122"/>
              </a:rPr>
              <a:t>TCP </a:t>
            </a:r>
            <a:r>
              <a:rPr lang="zh-CN" altLang="en-US" smtClean="0">
                <a:ea typeface="黑体" panose="02010609060101010101" pitchFamily="49" charset="-122"/>
              </a:rPr>
              <a:t>要求接收方必须有</a:t>
            </a:r>
            <a:r>
              <a:rPr lang="zh-CN" altLang="en-US" smtClean="0">
                <a:solidFill>
                  <a:srgbClr val="FF0000"/>
                </a:solidFill>
                <a:ea typeface="黑体" panose="02010609060101010101" pitchFamily="49" charset="-122"/>
              </a:rPr>
              <a:t>累积确认</a:t>
            </a:r>
            <a:r>
              <a:rPr lang="zh-CN" altLang="en-US" smtClean="0">
                <a:ea typeface="黑体" panose="02010609060101010101" pitchFamily="49" charset="-122"/>
              </a:rPr>
              <a:t>的功能，这样可以减小传输开销。  </a:t>
            </a:r>
          </a:p>
        </p:txBody>
      </p:sp>
      <p:sp>
        <p:nvSpPr>
          <p:cNvPr id="1462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9D3839-2E32-45C7-A808-075750A8C71B}" type="slidenum">
              <a:rPr lang="zh-CN" altLang="en-US" smtClean="0"/>
              <a:pPr eaLnBrk="1" hangingPunct="1"/>
              <a:t>52</a:t>
            </a:fld>
            <a:endParaRPr lang="en-US" altLang="zh-CN" smtClean="0"/>
          </a:p>
        </p:txBody>
      </p:sp>
      <p:sp>
        <p:nvSpPr>
          <p:cNvPr id="1462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接收方发送确认</a:t>
            </a:r>
          </a:p>
        </p:txBody>
      </p:sp>
      <p:sp>
        <p:nvSpPr>
          <p:cNvPr id="1464322"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接收方可以在</a:t>
            </a:r>
            <a:r>
              <a:rPr lang="zh-CN" altLang="zh-CN" dirty="0" smtClean="0">
                <a:solidFill>
                  <a:srgbClr val="FF0000"/>
                </a:solidFill>
                <a:ea typeface="黑体" panose="02010609060101010101" pitchFamily="49" charset="-122"/>
              </a:rPr>
              <a:t>合适的时候发送确认</a:t>
            </a:r>
            <a:r>
              <a:rPr lang="zh-CN" altLang="zh-CN" dirty="0" smtClean="0">
                <a:ea typeface="黑体" panose="02010609060101010101" pitchFamily="49" charset="-122"/>
              </a:rPr>
              <a:t>，也可以在自己有数据要发送时把确认信息</a:t>
            </a:r>
            <a:r>
              <a:rPr lang="zh-CN" altLang="zh-CN" dirty="0" smtClean="0">
                <a:solidFill>
                  <a:srgbClr val="FF0000"/>
                </a:solidFill>
                <a:ea typeface="黑体" panose="02010609060101010101" pitchFamily="49" charset="-122"/>
              </a:rPr>
              <a:t>顺便捎带上</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但请注意两点</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lvl="1"/>
            <a:r>
              <a:rPr lang="zh-CN" altLang="zh-CN" dirty="0" smtClean="0">
                <a:ea typeface="黑体" panose="02010609060101010101" pitchFamily="49" charset="-122"/>
              </a:rPr>
              <a:t>第一，</a:t>
            </a:r>
            <a:r>
              <a:rPr lang="zh-CN" altLang="zh-CN" dirty="0" smtClean="0">
                <a:solidFill>
                  <a:srgbClr val="0000FF"/>
                </a:solidFill>
                <a:ea typeface="黑体" panose="02010609060101010101" pitchFamily="49" charset="-122"/>
              </a:rPr>
              <a:t>接收方不应过分推迟发送确认</a:t>
            </a:r>
            <a:r>
              <a:rPr lang="zh-CN" altLang="zh-CN" dirty="0" smtClean="0">
                <a:ea typeface="黑体" panose="02010609060101010101" pitchFamily="49" charset="-122"/>
              </a:rPr>
              <a:t>，否则会导致发送方不必要的重传，这反而浪费了网络的资源。。 </a:t>
            </a:r>
            <a:endParaRPr lang="en-US" altLang="zh-CN" dirty="0" smtClean="0">
              <a:ea typeface="黑体" panose="02010609060101010101" pitchFamily="49" charset="-122"/>
            </a:endParaRPr>
          </a:p>
          <a:p>
            <a:pPr lvl="1"/>
            <a:r>
              <a:rPr lang="zh-CN" altLang="zh-CN" dirty="0" smtClean="0">
                <a:ea typeface="黑体" panose="02010609060101010101" pitchFamily="49" charset="-122"/>
              </a:rPr>
              <a:t>第二，</a:t>
            </a:r>
            <a:r>
              <a:rPr lang="zh-CN" altLang="zh-CN" dirty="0" smtClean="0">
                <a:solidFill>
                  <a:srgbClr val="0000FF"/>
                </a:solidFill>
                <a:ea typeface="黑体" panose="02010609060101010101" pitchFamily="49" charset="-122"/>
              </a:rPr>
              <a:t>捎带确认实际上并不经常发生</a:t>
            </a:r>
            <a:r>
              <a:rPr lang="zh-CN" altLang="zh-CN" dirty="0" smtClean="0">
                <a:ea typeface="黑体" panose="02010609060101010101" pitchFamily="49" charset="-122"/>
              </a:rPr>
              <a:t>，因为大多数应用程序很少同时在两个方向上发送数据。</a:t>
            </a:r>
          </a:p>
        </p:txBody>
      </p:sp>
      <p:sp>
        <p:nvSpPr>
          <p:cNvPr id="1464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63EB3C-C00E-49EF-99F8-65BD7D33B801}" type="slidenum">
              <a:rPr lang="zh-CN" altLang="en-US" smtClean="0"/>
              <a:pPr eaLnBrk="1" hangingPunct="1"/>
              <a:t>53</a:t>
            </a:fld>
            <a:endParaRPr lang="en-US" altLang="zh-CN" smtClean="0"/>
          </a:p>
        </p:txBody>
      </p:sp>
      <p:sp>
        <p:nvSpPr>
          <p:cNvPr id="1464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63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5.6.2  </a:t>
            </a:r>
            <a:r>
              <a:rPr lang="zh-CN" altLang="en-US" smtClean="0">
                <a:ea typeface="黑体" panose="02010609060101010101" pitchFamily="49" charset="-122"/>
              </a:rPr>
              <a:t>超时重传时间的选择</a:t>
            </a:r>
          </a:p>
        </p:txBody>
      </p:sp>
      <p:sp>
        <p:nvSpPr>
          <p:cNvPr id="75571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重传机制是 </a:t>
            </a:r>
            <a:r>
              <a:rPr lang="en-US" altLang="zh-CN" smtClean="0">
                <a:ea typeface="黑体" panose="02010609060101010101" pitchFamily="49" charset="-122"/>
              </a:rPr>
              <a:t>TCP </a:t>
            </a:r>
            <a:r>
              <a:rPr lang="zh-CN" altLang="en-US" smtClean="0">
                <a:ea typeface="黑体" panose="02010609060101010101" pitchFamily="49" charset="-122"/>
              </a:rPr>
              <a:t>中最重要和最复杂的问题之一。</a:t>
            </a:r>
          </a:p>
          <a:p>
            <a:r>
              <a:rPr lang="en-US" altLang="zh-CN" smtClean="0">
                <a:ea typeface="黑体" panose="02010609060101010101" pitchFamily="49" charset="-122"/>
              </a:rPr>
              <a:t>TCP </a:t>
            </a:r>
            <a:r>
              <a:rPr lang="zh-CN" altLang="en-US" smtClean="0">
                <a:ea typeface="黑体" panose="02010609060101010101" pitchFamily="49" charset="-122"/>
              </a:rPr>
              <a:t>每发送一个报文段，就对这个报文段设置一次计时器。</a:t>
            </a:r>
            <a:endParaRPr lang="en-US" altLang="zh-CN" smtClean="0">
              <a:ea typeface="黑体" panose="02010609060101010101" pitchFamily="49" charset="-122"/>
            </a:endParaRPr>
          </a:p>
          <a:p>
            <a:r>
              <a:rPr lang="zh-CN" altLang="en-US" smtClean="0">
                <a:ea typeface="黑体" panose="02010609060101010101" pitchFamily="49" charset="-122"/>
              </a:rPr>
              <a:t>只要计时器设置的重传时间到但还没有收到确认，就要重传这一报文段。</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重传时间的选择是</a:t>
            </a:r>
            <a:r>
              <a:rPr lang="en-US" altLang="zh-CN" smtClean="0">
                <a:solidFill>
                  <a:srgbClr val="FF0000"/>
                </a:solidFill>
                <a:ea typeface="黑体" panose="02010609060101010101" pitchFamily="49" charset="-122"/>
              </a:rPr>
              <a:t> TCP </a:t>
            </a:r>
            <a:r>
              <a:rPr lang="zh-CN" altLang="zh-CN" smtClean="0">
                <a:solidFill>
                  <a:srgbClr val="FF0000"/>
                </a:solidFill>
                <a:ea typeface="黑体" panose="02010609060101010101" pitchFamily="49" charset="-122"/>
              </a:rPr>
              <a:t>最复杂的问题之一</a:t>
            </a:r>
            <a:r>
              <a:rPr lang="zh-CN" altLang="en-US" smtClean="0">
                <a:solidFill>
                  <a:srgbClr val="FF0000"/>
                </a:solidFill>
                <a:ea typeface="黑体" panose="02010609060101010101" pitchFamily="49" charset="-122"/>
              </a:rPr>
              <a:t>。</a:t>
            </a:r>
          </a:p>
        </p:txBody>
      </p:sp>
      <p:sp>
        <p:nvSpPr>
          <p:cNvPr id="1466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B94CEE-0E7C-496E-8344-12EF2EF1C822}" type="slidenum">
              <a:rPr lang="zh-CN" altLang="en-US" smtClean="0"/>
              <a:pPr eaLnBrk="1" hangingPunct="1"/>
              <a:t>54</a:t>
            </a:fld>
            <a:endParaRPr lang="en-US" altLang="zh-CN" smtClean="0"/>
          </a:p>
        </p:txBody>
      </p:sp>
      <p:sp>
        <p:nvSpPr>
          <p:cNvPr id="1466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5571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557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8417" name="Rectangle 2"/>
          <p:cNvSpPr>
            <a:spLocks noGrp="1" noChangeArrowheads="1"/>
          </p:cNvSpPr>
          <p:nvPr>
            <p:ph type="title"/>
          </p:nvPr>
        </p:nvSpPr>
        <p:spPr/>
        <p:txBody>
          <a:bodyPr/>
          <a:lstStyle/>
          <a:p>
            <a:pPr algn="ctr"/>
            <a:r>
              <a:rPr lang="zh-CN" altLang="en-US" smtClean="0">
                <a:ea typeface="黑体" panose="02010609060101010101" pitchFamily="49" charset="-122"/>
              </a:rPr>
              <a:t>往返时延的方差很大</a:t>
            </a:r>
          </a:p>
        </p:txBody>
      </p:sp>
      <p:sp>
        <p:nvSpPr>
          <p:cNvPr id="1468418" name="Line 4"/>
          <p:cNvSpPr>
            <a:spLocks noChangeShapeType="1"/>
          </p:cNvSpPr>
          <p:nvPr/>
        </p:nvSpPr>
        <p:spPr bwMode="auto">
          <a:xfrm>
            <a:off x="779463" y="5435600"/>
            <a:ext cx="8659812" cy="0"/>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19" name="Line 5"/>
          <p:cNvSpPr>
            <a:spLocks noChangeShapeType="1"/>
          </p:cNvSpPr>
          <p:nvPr/>
        </p:nvSpPr>
        <p:spPr bwMode="auto">
          <a:xfrm rot="5400000" flipH="1">
            <a:off x="-515937" y="4140200"/>
            <a:ext cx="2587625" cy="3175"/>
          </a:xfrm>
          <a:prstGeom prst="line">
            <a:avLst/>
          </a:prstGeom>
          <a:noFill/>
          <a:ln w="28575">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0" name="Freeform 6"/>
          <p:cNvSpPr>
            <a:spLocks noChangeArrowheads="1"/>
          </p:cNvSpPr>
          <p:nvPr/>
        </p:nvSpPr>
        <p:spPr bwMode="auto">
          <a:xfrm>
            <a:off x="2954338" y="2817813"/>
            <a:ext cx="2005012"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1" name="Freeform 7"/>
          <p:cNvSpPr>
            <a:spLocks noChangeArrowheads="1"/>
          </p:cNvSpPr>
          <p:nvPr/>
        </p:nvSpPr>
        <p:spPr bwMode="auto">
          <a:xfrm>
            <a:off x="2495550" y="4999038"/>
            <a:ext cx="5897563" cy="436562"/>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2" name="Line 8"/>
          <p:cNvSpPr>
            <a:spLocks noChangeShapeType="1"/>
          </p:cNvSpPr>
          <p:nvPr/>
        </p:nvSpPr>
        <p:spPr bwMode="auto">
          <a:xfrm>
            <a:off x="4014788" y="2708275"/>
            <a:ext cx="0" cy="2727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3" name="Line 9"/>
          <p:cNvSpPr>
            <a:spLocks noChangeShapeType="1"/>
          </p:cNvSpPr>
          <p:nvPr/>
        </p:nvSpPr>
        <p:spPr bwMode="auto">
          <a:xfrm>
            <a:off x="4959350" y="3254375"/>
            <a:ext cx="0" cy="21812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4" name="Line 10"/>
          <p:cNvSpPr>
            <a:spLocks noChangeShapeType="1"/>
          </p:cNvSpPr>
          <p:nvPr/>
        </p:nvSpPr>
        <p:spPr bwMode="auto">
          <a:xfrm>
            <a:off x="7947025" y="3254375"/>
            <a:ext cx="0" cy="21812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5" name="Text Box 11"/>
          <p:cNvSpPr txBox="1">
            <a:spLocks noChangeArrowheads="1"/>
          </p:cNvSpPr>
          <p:nvPr/>
        </p:nvSpPr>
        <p:spPr bwMode="auto">
          <a:xfrm>
            <a:off x="8586788" y="4945063"/>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时间</a:t>
            </a:r>
          </a:p>
        </p:txBody>
      </p:sp>
      <p:sp>
        <p:nvSpPr>
          <p:cNvPr id="1468426" name="Line 12"/>
          <p:cNvSpPr>
            <a:spLocks noChangeShapeType="1"/>
          </p:cNvSpPr>
          <p:nvPr/>
        </p:nvSpPr>
        <p:spPr bwMode="auto">
          <a:xfrm>
            <a:off x="2795588" y="4418013"/>
            <a:ext cx="969962" cy="361950"/>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68427" name="Text Box 13"/>
          <p:cNvSpPr txBox="1">
            <a:spLocks noChangeArrowheads="1"/>
          </p:cNvSpPr>
          <p:nvPr/>
        </p:nvSpPr>
        <p:spPr bwMode="auto">
          <a:xfrm>
            <a:off x="1716088" y="4010025"/>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数据链路层</a:t>
            </a:r>
          </a:p>
        </p:txBody>
      </p:sp>
      <p:grpSp>
        <p:nvGrpSpPr>
          <p:cNvPr id="1468428" name="Group 14"/>
          <p:cNvGrpSpPr>
            <a:grpSpLocks/>
          </p:cNvGrpSpPr>
          <p:nvPr/>
        </p:nvGrpSpPr>
        <p:grpSpPr bwMode="auto">
          <a:xfrm>
            <a:off x="5083175" y="4514850"/>
            <a:ext cx="1331913" cy="720725"/>
            <a:chOff x="2978" y="3249"/>
            <a:chExt cx="775" cy="454"/>
          </a:xfrm>
        </p:grpSpPr>
        <p:sp>
          <p:nvSpPr>
            <p:cNvPr id="1468429" name="Text Box 15"/>
            <p:cNvSpPr txBox="1">
              <a:spLocks noChangeArrowheads="1"/>
            </p:cNvSpPr>
            <p:nvPr/>
          </p:nvSpPr>
          <p:spPr bwMode="auto">
            <a:xfrm>
              <a:off x="3198" y="3249"/>
              <a:ext cx="5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运输层</a:t>
              </a:r>
            </a:p>
          </p:txBody>
        </p:sp>
        <p:sp>
          <p:nvSpPr>
            <p:cNvPr id="1468430" name="Line 16"/>
            <p:cNvSpPr>
              <a:spLocks noChangeShapeType="1"/>
            </p:cNvSpPr>
            <p:nvPr/>
          </p:nvSpPr>
          <p:spPr bwMode="auto">
            <a:xfrm flipH="1">
              <a:off x="2978" y="3486"/>
              <a:ext cx="276" cy="217"/>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1468431" name="Text Box 17"/>
          <p:cNvSpPr txBox="1">
            <a:spLocks noChangeArrowheads="1"/>
          </p:cNvSpPr>
          <p:nvPr/>
        </p:nvSpPr>
        <p:spPr bwMode="auto">
          <a:xfrm>
            <a:off x="3740150" y="5411788"/>
            <a:ext cx="436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rPr>
              <a:t>T</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468432" name="Text Box 18"/>
          <p:cNvSpPr txBox="1">
            <a:spLocks noChangeArrowheads="1"/>
          </p:cNvSpPr>
          <p:nvPr/>
        </p:nvSpPr>
        <p:spPr bwMode="auto">
          <a:xfrm>
            <a:off x="4667250" y="5411788"/>
            <a:ext cx="436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rPr>
              <a:t>T</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468433" name="Text Box 19"/>
          <p:cNvSpPr txBox="1">
            <a:spLocks noChangeArrowheads="1"/>
          </p:cNvSpPr>
          <p:nvPr/>
        </p:nvSpPr>
        <p:spPr bwMode="auto">
          <a:xfrm>
            <a:off x="7653338" y="5411788"/>
            <a:ext cx="436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rPr>
              <a:t>T</a:t>
            </a:r>
            <a:r>
              <a:rPr lang="en-US" altLang="zh-CN" sz="2000" b="1" baseline="-25000">
                <a:solidFill>
                  <a:srgbClr val="000099"/>
                </a:solidFill>
                <a:ea typeface="黑体" panose="02010609060101010101" pitchFamily="49" charset="-122"/>
              </a:rPr>
              <a:t>3</a:t>
            </a:r>
            <a:endParaRPr lang="en-US" altLang="zh-CN" sz="2000" b="1">
              <a:solidFill>
                <a:srgbClr val="000099"/>
              </a:solidFill>
              <a:ea typeface="黑体" panose="02010609060101010101" pitchFamily="49" charset="-122"/>
            </a:endParaRPr>
          </a:p>
        </p:txBody>
      </p:sp>
      <p:sp>
        <p:nvSpPr>
          <p:cNvPr id="1468434" name="Text Box 20"/>
          <p:cNvSpPr txBox="1">
            <a:spLocks noChangeArrowheads="1"/>
          </p:cNvSpPr>
          <p:nvPr/>
        </p:nvSpPr>
        <p:spPr bwMode="auto">
          <a:xfrm>
            <a:off x="857250" y="2713038"/>
            <a:ext cx="1466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往返时间的</a:t>
            </a:r>
          </a:p>
          <a:p>
            <a:pPr eaLnBrk="0" hangingPunct="0"/>
            <a:r>
              <a:rPr lang="zh-CN" altLang="en-US" sz="2000" b="1">
                <a:solidFill>
                  <a:srgbClr val="000099"/>
                </a:solidFill>
                <a:ea typeface="黑体" panose="02010609060101010101" pitchFamily="49" charset="-122"/>
              </a:rPr>
              <a:t>概率分布</a:t>
            </a:r>
          </a:p>
        </p:txBody>
      </p:sp>
      <p:sp>
        <p:nvSpPr>
          <p:cNvPr id="1468435" name="矩形 1"/>
          <p:cNvSpPr>
            <a:spLocks noChangeArrowheads="1"/>
          </p:cNvSpPr>
          <p:nvPr/>
        </p:nvSpPr>
        <p:spPr bwMode="auto">
          <a:xfrm>
            <a:off x="857250" y="1125538"/>
            <a:ext cx="8426450" cy="1384300"/>
          </a:xfrm>
          <a:prstGeom prst="rect">
            <a:avLst/>
          </a:prstGeom>
          <a:solidFill>
            <a:srgbClr val="FFFF66"/>
          </a:solidFill>
          <a:ln w="9525">
            <a:solidFill>
              <a:srgbClr val="000099"/>
            </a:solidFill>
            <a:round/>
            <a:headEnd/>
            <a:tailEnd/>
          </a:ln>
        </p:spPr>
        <p:txBody>
          <a:bodyPr>
            <a:spAutoFit/>
          </a:bodyPr>
          <a:lstStyle/>
          <a:p>
            <a:pPr eaLnBrk="0" hangingPunct="0"/>
            <a:r>
              <a:rPr lang="zh-CN" altLang="en-US" sz="2800" b="1" dirty="0">
                <a:solidFill>
                  <a:srgbClr val="000099"/>
                </a:solidFill>
                <a:ea typeface="黑体" panose="02010609060101010101" pitchFamily="49" charset="-122"/>
              </a:rPr>
              <a:t>由于 </a:t>
            </a:r>
            <a:r>
              <a:rPr lang="en-US" altLang="zh-CN" sz="2800" b="1" dirty="0">
                <a:solidFill>
                  <a:srgbClr val="000099"/>
                </a:solidFill>
                <a:ea typeface="黑体" panose="02010609060101010101" pitchFamily="49" charset="-122"/>
              </a:rPr>
              <a:t>TCP </a:t>
            </a:r>
            <a:r>
              <a:rPr lang="zh-CN" altLang="en-US" sz="2800" b="1" dirty="0">
                <a:solidFill>
                  <a:srgbClr val="000099"/>
                </a:solidFill>
                <a:ea typeface="黑体" panose="02010609060101010101" pitchFamily="49" charset="-122"/>
              </a:rPr>
              <a:t>的下层是一个互联网环境，</a:t>
            </a:r>
            <a:r>
              <a:rPr lang="en-US" altLang="zh-CN" sz="2800" b="1" dirty="0">
                <a:solidFill>
                  <a:srgbClr val="000099"/>
                </a:solidFill>
                <a:ea typeface="黑体" panose="02010609060101010101" pitchFamily="49" charset="-122"/>
              </a:rPr>
              <a:t>IP </a:t>
            </a:r>
            <a:r>
              <a:rPr lang="zh-CN" altLang="en-US" sz="2800" b="1" dirty="0">
                <a:solidFill>
                  <a:srgbClr val="000099"/>
                </a:solidFill>
                <a:ea typeface="黑体" panose="02010609060101010101" pitchFamily="49" charset="-122"/>
              </a:rPr>
              <a:t>数据报所选择的路由变化很大。因而运输层的往返</a:t>
            </a:r>
            <a:r>
              <a:rPr lang="zh-CN" altLang="en-US" sz="2800" b="1" dirty="0">
                <a:solidFill>
                  <a:srgbClr val="0000FF"/>
                </a:solidFill>
                <a:ea typeface="黑体" panose="02010609060101010101" pitchFamily="49" charset="-122"/>
              </a:rPr>
              <a:t>时间 </a:t>
            </a:r>
            <a:r>
              <a:rPr lang="en-US" altLang="zh-CN" sz="2800" b="1" dirty="0">
                <a:solidFill>
                  <a:srgbClr val="0000FF"/>
                </a:solidFill>
                <a:ea typeface="黑体" panose="02010609060101010101" pitchFamily="49" charset="-122"/>
              </a:rPr>
              <a:t>(RTT) </a:t>
            </a:r>
            <a:r>
              <a:rPr lang="zh-CN" altLang="en-US" sz="2800" b="1" dirty="0">
                <a:solidFill>
                  <a:srgbClr val="0000FF"/>
                </a:solidFill>
                <a:ea typeface="黑体" panose="02010609060101010101" pitchFamily="49" charset="-122"/>
              </a:rPr>
              <a:t>的方差也很大</a:t>
            </a:r>
            <a:r>
              <a:rPr lang="zh-CN" altLang="en-US" sz="2800" b="1" dirty="0">
                <a:solidFill>
                  <a:srgbClr val="000099"/>
                </a:solidFill>
                <a:ea typeface="黑体" panose="02010609060101010101" pitchFamily="49" charset="-122"/>
              </a:rPr>
              <a:t>。</a:t>
            </a:r>
          </a:p>
        </p:txBody>
      </p:sp>
      <p:sp>
        <p:nvSpPr>
          <p:cNvPr id="146843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ADEDBD-3528-4DFE-922D-FB6E7B3ED5E0}" type="slidenum">
              <a:rPr lang="zh-CN" altLang="en-US" smtClean="0"/>
              <a:pPr eaLnBrk="1" hangingPunct="1"/>
              <a:t>55</a:t>
            </a:fld>
            <a:endParaRPr lang="en-US" altLang="zh-CN" smtClean="0"/>
          </a:p>
        </p:txBody>
      </p:sp>
      <p:sp>
        <p:nvSpPr>
          <p:cNvPr id="146843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04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TCP </a:t>
            </a:r>
            <a:r>
              <a:rPr lang="zh-CN" altLang="zh-CN" smtClean="0">
                <a:ea typeface="黑体" panose="02010609060101010101" pitchFamily="49" charset="-122"/>
              </a:rPr>
              <a:t>超时重传时间设置</a:t>
            </a:r>
            <a:endParaRPr lang="zh-CN" altLang="en-US" smtClean="0">
              <a:ea typeface="黑体" panose="02010609060101010101" pitchFamily="49" charset="-122"/>
            </a:endParaRPr>
          </a:p>
        </p:txBody>
      </p:sp>
      <p:sp>
        <p:nvSpPr>
          <p:cNvPr id="1470466"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如果把超时重传时间设置得</a:t>
            </a:r>
            <a:r>
              <a:rPr lang="zh-CN" altLang="zh-CN" dirty="0" smtClean="0">
                <a:solidFill>
                  <a:srgbClr val="0000FF"/>
                </a:solidFill>
                <a:ea typeface="黑体" panose="02010609060101010101" pitchFamily="49" charset="-122"/>
              </a:rPr>
              <a:t>太短</a:t>
            </a:r>
            <a:r>
              <a:rPr lang="zh-CN" altLang="zh-CN" dirty="0" smtClean="0">
                <a:ea typeface="黑体" panose="02010609060101010101" pitchFamily="49" charset="-122"/>
              </a:rPr>
              <a:t>，就会引起很多报文段的</a:t>
            </a:r>
            <a:r>
              <a:rPr lang="zh-CN" altLang="zh-CN" dirty="0" smtClean="0">
                <a:solidFill>
                  <a:srgbClr val="0000FF"/>
                </a:solidFill>
                <a:ea typeface="黑体" panose="02010609060101010101" pitchFamily="49" charset="-122"/>
              </a:rPr>
              <a:t>不必要的重传</a:t>
            </a:r>
            <a:r>
              <a:rPr lang="zh-CN" altLang="zh-CN" dirty="0" smtClean="0">
                <a:ea typeface="黑体" panose="02010609060101010101" pitchFamily="49" charset="-122"/>
              </a:rPr>
              <a:t>，使网络负荷增大。</a:t>
            </a:r>
            <a:endParaRPr lang="en-US" altLang="zh-CN" dirty="0" smtClean="0">
              <a:ea typeface="黑体" panose="02010609060101010101" pitchFamily="49" charset="-122"/>
            </a:endParaRPr>
          </a:p>
          <a:p>
            <a:r>
              <a:rPr lang="zh-CN" altLang="zh-CN" dirty="0" smtClean="0">
                <a:ea typeface="黑体" panose="02010609060101010101" pitchFamily="49" charset="-122"/>
              </a:rPr>
              <a:t>但若把超时重传时间设置得</a:t>
            </a:r>
            <a:r>
              <a:rPr lang="zh-CN" altLang="zh-CN" dirty="0" smtClean="0">
                <a:solidFill>
                  <a:srgbClr val="0000FF"/>
                </a:solidFill>
                <a:ea typeface="黑体" panose="02010609060101010101" pitchFamily="49" charset="-122"/>
              </a:rPr>
              <a:t>过长</a:t>
            </a:r>
            <a:r>
              <a:rPr lang="zh-CN" altLang="zh-CN" dirty="0" smtClean="0">
                <a:ea typeface="黑体" panose="02010609060101010101" pitchFamily="49" charset="-122"/>
              </a:rPr>
              <a:t>，则又使网络的空闲时间增大，</a:t>
            </a:r>
            <a:r>
              <a:rPr lang="zh-CN" altLang="zh-CN" dirty="0" smtClean="0">
                <a:solidFill>
                  <a:srgbClr val="0000FF"/>
                </a:solidFill>
                <a:ea typeface="黑体" panose="02010609060101010101" pitchFamily="49" charset="-122"/>
              </a:rPr>
              <a:t>降低了传输效率</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solidFill>
                  <a:srgbClr val="FF0000"/>
                </a:solidFill>
                <a:ea typeface="黑体" panose="02010609060101010101" pitchFamily="49" charset="-122"/>
              </a:rPr>
              <a:t>TCP </a:t>
            </a:r>
            <a:r>
              <a:rPr lang="zh-CN" altLang="zh-CN" dirty="0" smtClean="0">
                <a:solidFill>
                  <a:srgbClr val="FF0000"/>
                </a:solidFill>
                <a:ea typeface="黑体" panose="02010609060101010101" pitchFamily="49" charset="-122"/>
              </a:rPr>
              <a:t>采用了一种自适应算法，</a:t>
            </a:r>
            <a:r>
              <a:rPr lang="zh-CN" altLang="zh-CN" dirty="0" smtClean="0">
                <a:ea typeface="黑体" panose="02010609060101010101" pitchFamily="49" charset="-122"/>
              </a:rPr>
              <a:t>它记录一个</a:t>
            </a:r>
            <a:r>
              <a:rPr lang="zh-CN" altLang="zh-CN" dirty="0" smtClean="0">
                <a:solidFill>
                  <a:srgbClr val="0000FF"/>
                </a:solidFill>
                <a:ea typeface="黑体" panose="02010609060101010101" pitchFamily="49" charset="-122"/>
              </a:rPr>
              <a:t>报文段发出的时间</a:t>
            </a:r>
            <a:r>
              <a:rPr lang="zh-CN" altLang="zh-CN" dirty="0" smtClean="0">
                <a:ea typeface="黑体" panose="02010609060101010101" pitchFamily="49" charset="-122"/>
              </a:rPr>
              <a:t>，以及</a:t>
            </a:r>
            <a:r>
              <a:rPr lang="zh-CN" altLang="zh-CN" dirty="0" smtClean="0">
                <a:solidFill>
                  <a:srgbClr val="0000FF"/>
                </a:solidFill>
                <a:ea typeface="黑体" panose="02010609060101010101" pitchFamily="49" charset="-122"/>
              </a:rPr>
              <a:t>收到相应的确认的时间</a:t>
            </a:r>
            <a:r>
              <a:rPr lang="zh-CN" altLang="zh-CN" dirty="0" smtClean="0">
                <a:ea typeface="黑体" panose="02010609060101010101" pitchFamily="49" charset="-122"/>
              </a:rPr>
              <a:t>。这两个时间之差就是报文段的往返时间</a:t>
            </a:r>
            <a:r>
              <a:rPr lang="en-US" altLang="zh-CN" dirty="0" smtClean="0">
                <a:ea typeface="黑体" panose="02010609060101010101" pitchFamily="49" charset="-122"/>
              </a:rPr>
              <a:t> RTT</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14704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EC2E57-2516-4DBF-8689-4C6CE8DFF7C9}" type="slidenum">
              <a:rPr lang="zh-CN" altLang="en-US" smtClean="0"/>
              <a:pPr eaLnBrk="1" hangingPunct="1"/>
              <a:t>56</a:t>
            </a:fld>
            <a:endParaRPr lang="en-US" altLang="zh-CN" smtClean="0"/>
          </a:p>
        </p:txBody>
      </p:sp>
      <p:sp>
        <p:nvSpPr>
          <p:cNvPr id="14704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25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加权平均往返时间</a:t>
            </a:r>
          </a:p>
        </p:txBody>
      </p:sp>
      <p:sp>
        <p:nvSpPr>
          <p:cNvPr id="1472514" name="Rectangle 3"/>
          <p:cNvSpPr>
            <a:spLocks noGrp="1" noChangeArrowheads="1"/>
          </p:cNvSpPr>
          <p:nvPr>
            <p:ph idx="1"/>
          </p:nvPr>
        </p:nvSpPr>
        <p:spPr>
          <a:xfrm>
            <a:off x="495300" y="1196975"/>
            <a:ext cx="9066213" cy="4933950"/>
          </a:xfrm>
        </p:spPr>
        <p:txBody>
          <a:bodyPr/>
          <a:lstStyle/>
          <a:p>
            <a:r>
              <a:rPr lang="en-US" altLang="zh-CN" sz="2400" dirty="0" smtClean="0">
                <a:ea typeface="黑体" panose="02010609060101010101" pitchFamily="49" charset="-122"/>
              </a:rPr>
              <a:t>TCP </a:t>
            </a:r>
            <a:r>
              <a:rPr lang="zh-CN" altLang="en-US" sz="2400" dirty="0" smtClean="0">
                <a:ea typeface="黑体" panose="02010609060101010101" pitchFamily="49" charset="-122"/>
              </a:rPr>
              <a:t>保留了 </a:t>
            </a:r>
            <a:r>
              <a:rPr lang="en-US" altLang="zh-CN" sz="2400" dirty="0" smtClean="0">
                <a:ea typeface="黑体" panose="02010609060101010101" pitchFamily="49" charset="-122"/>
              </a:rPr>
              <a:t>RTT </a:t>
            </a:r>
            <a:r>
              <a:rPr lang="zh-CN" altLang="en-US" sz="2400" dirty="0" smtClean="0">
                <a:ea typeface="黑体" panose="02010609060101010101" pitchFamily="49" charset="-122"/>
              </a:rPr>
              <a:t>的一个</a:t>
            </a:r>
            <a:r>
              <a:rPr lang="zh-CN" altLang="en-US" sz="2400" dirty="0" smtClean="0">
                <a:solidFill>
                  <a:srgbClr val="FF0000"/>
                </a:solidFill>
                <a:ea typeface="黑体" panose="02010609060101010101" pitchFamily="49" charset="-122"/>
              </a:rPr>
              <a:t>加权平均往返时间 </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S</a:t>
            </a:r>
            <a:r>
              <a:rPr lang="zh-CN" altLang="en-US" sz="2400" dirty="0" smtClean="0">
                <a:ea typeface="黑体" panose="02010609060101010101" pitchFamily="49" charset="-122"/>
              </a:rPr>
              <a:t>（这又称为</a:t>
            </a:r>
            <a:r>
              <a:rPr lang="zh-CN" altLang="en-US" sz="2400" dirty="0" smtClean="0">
                <a:solidFill>
                  <a:srgbClr val="FF0000"/>
                </a:solidFill>
                <a:ea typeface="黑体" panose="02010609060101010101" pitchFamily="49" charset="-122"/>
              </a:rPr>
              <a:t>平滑的往返时间</a:t>
            </a:r>
            <a:r>
              <a:rPr lang="zh-CN" altLang="en-US" sz="2400" dirty="0" smtClean="0">
                <a:ea typeface="黑体" panose="02010609060101010101" pitchFamily="49" charset="-122"/>
              </a:rPr>
              <a:t>）。</a:t>
            </a:r>
          </a:p>
          <a:p>
            <a:r>
              <a:rPr lang="zh-CN" altLang="en-US" sz="2400" dirty="0" smtClean="0">
                <a:ea typeface="黑体" panose="02010609060101010101" pitchFamily="49" charset="-122"/>
              </a:rPr>
              <a:t>第一次测量到 </a:t>
            </a:r>
            <a:r>
              <a:rPr lang="en-US" altLang="zh-CN" sz="2400" dirty="0" smtClean="0">
                <a:ea typeface="黑体" panose="02010609060101010101" pitchFamily="49" charset="-122"/>
              </a:rPr>
              <a:t>RTT </a:t>
            </a:r>
            <a:r>
              <a:rPr lang="zh-CN" altLang="en-US" sz="2400" dirty="0" smtClean="0">
                <a:ea typeface="黑体" panose="02010609060101010101" pitchFamily="49" charset="-122"/>
              </a:rPr>
              <a:t>样本时，</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S </a:t>
            </a:r>
            <a:r>
              <a:rPr lang="zh-CN" altLang="en-US" sz="2400" dirty="0" smtClean="0">
                <a:ea typeface="黑体" panose="02010609060101010101" pitchFamily="49" charset="-122"/>
              </a:rPr>
              <a:t>值就取为所测量到的 </a:t>
            </a:r>
            <a:r>
              <a:rPr lang="en-US" altLang="zh-CN" sz="2400" dirty="0" smtClean="0">
                <a:ea typeface="黑体" panose="02010609060101010101" pitchFamily="49" charset="-122"/>
              </a:rPr>
              <a:t>RTT </a:t>
            </a:r>
            <a:r>
              <a:rPr lang="zh-CN" altLang="en-US" sz="2400" dirty="0" smtClean="0">
                <a:ea typeface="黑体" panose="02010609060101010101" pitchFamily="49" charset="-122"/>
              </a:rPr>
              <a:t>样本值。以后每测量到一个新的 </a:t>
            </a:r>
            <a:r>
              <a:rPr lang="en-US" altLang="zh-CN" sz="2400" dirty="0" smtClean="0">
                <a:ea typeface="黑体" panose="02010609060101010101" pitchFamily="49" charset="-122"/>
              </a:rPr>
              <a:t>RTT </a:t>
            </a:r>
            <a:r>
              <a:rPr lang="zh-CN" altLang="en-US" sz="2400" dirty="0" smtClean="0">
                <a:ea typeface="黑体" panose="02010609060101010101" pitchFamily="49" charset="-122"/>
              </a:rPr>
              <a:t>样本，就按下式重新计算一次 </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S</a:t>
            </a:r>
            <a:r>
              <a:rPr lang="zh-CN" altLang="en-US" sz="2400" dirty="0" smtClean="0">
                <a:ea typeface="黑体" panose="02010609060101010101" pitchFamily="49" charset="-122"/>
              </a:rPr>
              <a:t>：</a:t>
            </a:r>
          </a:p>
          <a:p>
            <a:endParaRPr lang="en-US" altLang="zh-CN" sz="2400" dirty="0" smtClean="0">
              <a:ea typeface="黑体" panose="02010609060101010101" pitchFamily="49" charset="-122"/>
            </a:endParaRPr>
          </a:p>
          <a:p>
            <a:endParaRPr lang="en-US" altLang="zh-CN" sz="2400" dirty="0" smtClean="0">
              <a:ea typeface="黑体" panose="02010609060101010101" pitchFamily="49" charset="-122"/>
            </a:endParaRPr>
          </a:p>
          <a:p>
            <a:r>
              <a:rPr lang="zh-CN" altLang="en-US" sz="2400" dirty="0" smtClean="0">
                <a:ea typeface="黑体" panose="02010609060101010101" pitchFamily="49" charset="-122"/>
              </a:rPr>
              <a:t>式中，</a:t>
            </a:r>
            <a:r>
              <a:rPr lang="en-US" altLang="zh-CN" sz="2400" dirty="0" smtClean="0">
                <a:ea typeface="黑体" panose="02010609060101010101" pitchFamily="49" charset="-122"/>
              </a:rPr>
              <a:t>0 </a:t>
            </a:r>
            <a:r>
              <a:rPr lang="en-US" altLang="zh-CN" sz="2400" dirty="0" smtClean="0">
                <a:ea typeface="黑体" panose="02010609060101010101" pitchFamily="49" charset="-122"/>
                <a:sym typeface="Symbol" panose="05050102010706020507" pitchFamily="18" charset="2"/>
              </a:rPr>
              <a:t></a:t>
            </a:r>
            <a:r>
              <a:rPr lang="en-US" altLang="zh-CN" sz="2400" dirty="0" smtClean="0">
                <a:ea typeface="黑体" panose="02010609060101010101" pitchFamily="49" charset="-122"/>
              </a:rPr>
              <a:t> </a:t>
            </a:r>
            <a:r>
              <a:rPr lang="en-US" altLang="zh-CN" sz="2400" dirty="0" smtClean="0">
                <a:ea typeface="黑体" panose="02010609060101010101" pitchFamily="49" charset="-122"/>
                <a:sym typeface="Symbol" panose="05050102010706020507" pitchFamily="18" charset="2"/>
              </a:rPr>
              <a:t></a:t>
            </a:r>
            <a:r>
              <a:rPr lang="en-US" altLang="zh-CN" sz="2400" dirty="0" smtClean="0">
                <a:ea typeface="黑体" panose="02010609060101010101" pitchFamily="49" charset="-122"/>
              </a:rPr>
              <a:t> </a:t>
            </a:r>
            <a:r>
              <a:rPr lang="en-US" altLang="zh-CN" sz="2400" dirty="0" smtClean="0">
                <a:ea typeface="黑体" panose="02010609060101010101" pitchFamily="49" charset="-122"/>
                <a:sym typeface="Symbol" panose="05050102010706020507" pitchFamily="18" charset="2"/>
              </a:rPr>
              <a:t></a:t>
            </a:r>
            <a:r>
              <a:rPr lang="en-US" altLang="zh-CN" sz="2400" dirty="0" smtClean="0">
                <a:ea typeface="黑体" panose="02010609060101010101" pitchFamily="49" charset="-122"/>
              </a:rPr>
              <a:t> 1</a:t>
            </a:r>
            <a:r>
              <a:rPr lang="zh-CN" altLang="en-US" sz="2400" dirty="0" smtClean="0">
                <a:ea typeface="黑体" panose="02010609060101010101" pitchFamily="49" charset="-122"/>
              </a:rPr>
              <a:t>。若 </a:t>
            </a:r>
            <a:r>
              <a:rPr lang="zh-CN" altLang="en-US" sz="2400" dirty="0" smtClean="0">
                <a:ea typeface="黑体" panose="02010609060101010101" pitchFamily="49" charset="-122"/>
                <a:sym typeface="Symbol" panose="05050102010706020507" pitchFamily="18" charset="2"/>
              </a:rPr>
              <a:t> </a:t>
            </a:r>
            <a:r>
              <a:rPr lang="zh-CN" altLang="en-US" sz="2400" dirty="0" smtClean="0">
                <a:ea typeface="黑体" panose="02010609060101010101" pitchFamily="49" charset="-122"/>
              </a:rPr>
              <a:t>很接近于零，表示 </a:t>
            </a:r>
            <a:r>
              <a:rPr lang="en-US" altLang="zh-CN" sz="2400" dirty="0" smtClean="0">
                <a:ea typeface="黑体" panose="02010609060101010101" pitchFamily="49" charset="-122"/>
              </a:rPr>
              <a:t>RTT </a:t>
            </a:r>
            <a:r>
              <a:rPr lang="zh-CN" altLang="en-US" sz="2400" dirty="0" smtClean="0">
                <a:ea typeface="黑体" panose="02010609060101010101" pitchFamily="49" charset="-122"/>
              </a:rPr>
              <a:t>值更新较慢。若选择 </a:t>
            </a:r>
            <a:r>
              <a:rPr lang="zh-CN" altLang="en-US" sz="2400" dirty="0" smtClean="0">
                <a:ea typeface="黑体" panose="02010609060101010101" pitchFamily="49" charset="-122"/>
                <a:sym typeface="Symbol" panose="05050102010706020507" pitchFamily="18" charset="2"/>
              </a:rPr>
              <a:t> </a:t>
            </a:r>
            <a:r>
              <a:rPr lang="zh-CN" altLang="en-US" sz="2400" dirty="0" smtClean="0">
                <a:ea typeface="黑体" panose="02010609060101010101" pitchFamily="49" charset="-122"/>
              </a:rPr>
              <a:t>接近于 </a:t>
            </a:r>
            <a:r>
              <a:rPr lang="en-US" altLang="zh-CN" sz="2400" dirty="0" smtClean="0">
                <a:ea typeface="黑体" panose="02010609060101010101" pitchFamily="49" charset="-122"/>
              </a:rPr>
              <a:t>1</a:t>
            </a:r>
            <a:r>
              <a:rPr lang="zh-CN" altLang="en-US" sz="2400" dirty="0" smtClean="0">
                <a:ea typeface="黑体" panose="02010609060101010101" pitchFamily="49" charset="-122"/>
              </a:rPr>
              <a:t>，则表示 </a:t>
            </a:r>
            <a:r>
              <a:rPr lang="en-US" altLang="zh-CN" sz="2400" dirty="0" smtClean="0">
                <a:ea typeface="黑体" panose="02010609060101010101" pitchFamily="49" charset="-122"/>
              </a:rPr>
              <a:t>RTT </a:t>
            </a:r>
            <a:r>
              <a:rPr lang="zh-CN" altLang="en-US" sz="2400" dirty="0" smtClean="0">
                <a:ea typeface="黑体" panose="02010609060101010101" pitchFamily="49" charset="-122"/>
              </a:rPr>
              <a:t>值更新较快。</a:t>
            </a:r>
          </a:p>
          <a:p>
            <a:r>
              <a:rPr lang="en-US" altLang="zh-CN" sz="2400" dirty="0" smtClean="0">
                <a:ea typeface="黑体" panose="02010609060101010101" pitchFamily="49" charset="-122"/>
              </a:rPr>
              <a:t>RFC 2988 </a:t>
            </a:r>
            <a:r>
              <a:rPr lang="zh-CN" altLang="en-US" sz="2400" dirty="0" smtClean="0">
                <a:ea typeface="黑体" panose="02010609060101010101" pitchFamily="49" charset="-122"/>
              </a:rPr>
              <a:t>推荐的 </a:t>
            </a:r>
            <a:r>
              <a:rPr lang="zh-CN" altLang="en-US" sz="2400" dirty="0" smtClean="0">
                <a:ea typeface="黑体" panose="02010609060101010101" pitchFamily="49" charset="-122"/>
                <a:sym typeface="Symbol" panose="05050102010706020507" pitchFamily="18" charset="2"/>
              </a:rPr>
              <a:t> </a:t>
            </a:r>
            <a:r>
              <a:rPr lang="zh-CN" altLang="en-US" sz="2400" dirty="0" smtClean="0">
                <a:ea typeface="黑体" panose="02010609060101010101" pitchFamily="49" charset="-122"/>
              </a:rPr>
              <a:t>值为 </a:t>
            </a:r>
            <a:r>
              <a:rPr lang="en-US" altLang="zh-CN" sz="2400" dirty="0" smtClean="0">
                <a:solidFill>
                  <a:srgbClr val="0000FF"/>
                </a:solidFill>
                <a:ea typeface="黑体" panose="02010609060101010101" pitchFamily="49" charset="-122"/>
              </a:rPr>
              <a:t>1/8</a:t>
            </a:r>
            <a:r>
              <a:rPr lang="zh-CN" altLang="en-US" sz="2400" dirty="0" smtClean="0">
                <a:ea typeface="黑体" panose="02010609060101010101" pitchFamily="49" charset="-122"/>
              </a:rPr>
              <a:t>，即 </a:t>
            </a:r>
            <a:r>
              <a:rPr lang="en-US" altLang="zh-CN" sz="2400" dirty="0" smtClean="0">
                <a:ea typeface="黑体" panose="02010609060101010101" pitchFamily="49" charset="-122"/>
              </a:rPr>
              <a:t>0.125</a:t>
            </a:r>
            <a:r>
              <a:rPr lang="zh-CN" altLang="en-US" sz="2400" dirty="0" smtClean="0">
                <a:ea typeface="黑体" panose="02010609060101010101" pitchFamily="49" charset="-122"/>
              </a:rPr>
              <a:t>。 </a:t>
            </a:r>
          </a:p>
        </p:txBody>
      </p:sp>
      <p:sp>
        <p:nvSpPr>
          <p:cNvPr id="1472515" name="Rectangle 4"/>
          <p:cNvSpPr>
            <a:spLocks noChangeArrowheads="1"/>
          </p:cNvSpPr>
          <p:nvPr/>
        </p:nvSpPr>
        <p:spPr bwMode="auto">
          <a:xfrm>
            <a:off x="776288" y="3357563"/>
            <a:ext cx="8785225" cy="935037"/>
          </a:xfrm>
          <a:prstGeom prst="rect">
            <a:avLst/>
          </a:prstGeom>
          <a:solidFill>
            <a:srgbClr val="FFFF99"/>
          </a:solidFill>
          <a:ln w="9525">
            <a:solidFill>
              <a:srgbClr val="000066"/>
            </a:solidFill>
            <a:miter lim="800000"/>
            <a:headEnd/>
            <a:tailEnd/>
          </a:ln>
          <a:effectLst>
            <a:outerShdw dist="35921" sx="999" sy="999" algn="ctr" rotWithShape="0">
              <a:schemeClr val="bg2"/>
            </a:outerShdw>
          </a:effectLst>
        </p:spPr>
        <p:txBody>
          <a:bodyPr wrap="none" anchor="ctr"/>
          <a:lstStyle/>
          <a:p>
            <a:pPr eaLnBrk="0" hangingPunct="0">
              <a:spcBef>
                <a:spcPct val="30000"/>
              </a:spcBef>
            </a:pPr>
            <a:r>
              <a:rPr lang="zh-CN" altLang="zh-CN" sz="2400" b="1" dirty="0">
                <a:solidFill>
                  <a:srgbClr val="000099"/>
                </a:solidFill>
                <a:ea typeface="黑体" panose="02010609060101010101" pitchFamily="49" charset="-122"/>
              </a:rPr>
              <a:t>新的</a:t>
            </a:r>
            <a:r>
              <a:rPr lang="en-US" altLang="zh-CN" sz="2400" b="1" dirty="0">
                <a:solidFill>
                  <a:srgbClr val="000099"/>
                </a:solidFill>
                <a:ea typeface="黑体" panose="02010609060101010101" pitchFamily="49" charset="-122"/>
              </a:rPr>
              <a:t>RTT</a:t>
            </a:r>
            <a:r>
              <a:rPr lang="en-US" altLang="zh-CN" sz="2400" b="1" baseline="-25000" dirty="0">
                <a:solidFill>
                  <a:srgbClr val="000099"/>
                </a:solidFill>
                <a:ea typeface="黑体" panose="02010609060101010101" pitchFamily="49" charset="-122"/>
              </a:rPr>
              <a:t>S</a:t>
            </a:r>
            <a:r>
              <a:rPr lang="en-US" altLang="zh-CN" sz="2400" b="1" dirty="0">
                <a:solidFill>
                  <a:srgbClr val="000099"/>
                </a:solidFill>
                <a:ea typeface="黑体" panose="02010609060101010101" pitchFamily="49" charset="-122"/>
              </a:rPr>
              <a:t>  </a:t>
            </a:r>
            <a:r>
              <a:rPr lang="en-US" altLang="zh-CN" sz="2400" b="1" dirty="0">
                <a:solidFill>
                  <a:srgbClr val="000099"/>
                </a:solidFill>
                <a:ea typeface="黑体" panose="02010609060101010101" pitchFamily="49" charset="-122"/>
                <a:sym typeface="Symbol" panose="05050102010706020507" pitchFamily="18" charset="2"/>
              </a:rPr>
              <a:t> </a:t>
            </a:r>
            <a:r>
              <a:rPr lang="en-US" altLang="zh-CN" sz="2400" b="1" dirty="0">
                <a:solidFill>
                  <a:srgbClr val="000099"/>
                </a:solidFill>
                <a:ea typeface="黑体" panose="02010609060101010101" pitchFamily="49" charset="-122"/>
              </a:rPr>
              <a:t> (1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a:t>
            </a:r>
            <a:r>
              <a:rPr lang="zh-CN" altLang="zh-CN" sz="2400" b="1" dirty="0">
                <a:solidFill>
                  <a:srgbClr val="000099"/>
                </a:solidFill>
                <a:ea typeface="黑体" panose="02010609060101010101" pitchFamily="49" charset="-122"/>
              </a:rPr>
              <a:t>旧的</a:t>
            </a:r>
            <a:r>
              <a:rPr lang="en-US" altLang="zh-CN" sz="2400" b="1" dirty="0">
                <a:solidFill>
                  <a:srgbClr val="000099"/>
                </a:solidFill>
                <a:ea typeface="黑体" panose="02010609060101010101" pitchFamily="49" charset="-122"/>
              </a:rPr>
              <a:t>RTT</a:t>
            </a:r>
            <a:r>
              <a:rPr lang="en-US" altLang="zh-CN" sz="2400" b="1" baseline="-25000" dirty="0">
                <a:solidFill>
                  <a:srgbClr val="000099"/>
                </a:solidFill>
                <a:ea typeface="黑体" panose="02010609060101010101" pitchFamily="49" charset="-122"/>
              </a:rPr>
              <a:t>S</a:t>
            </a:r>
            <a:r>
              <a:rPr lang="en-US" altLang="zh-CN" sz="2400" b="1" dirty="0">
                <a:solidFill>
                  <a:srgbClr val="000099"/>
                </a:solidFill>
                <a:ea typeface="黑体" panose="02010609060101010101" pitchFamily="49" charset="-122"/>
              </a:rPr>
              <a:t>) </a:t>
            </a:r>
          </a:p>
          <a:p>
            <a:pPr eaLnBrk="0" hangingPunct="0">
              <a:spcBef>
                <a:spcPct val="30000"/>
              </a:spcBef>
            </a:pPr>
            <a:r>
              <a:rPr lang="en-US" altLang="zh-CN" sz="2400" b="1" dirty="0">
                <a:solidFill>
                  <a:srgbClr val="000099"/>
                </a:solidFill>
                <a:ea typeface="黑体" panose="02010609060101010101" pitchFamily="49" charset="-122"/>
                <a:sym typeface="Symbol" panose="05050102010706020507" pitchFamily="18" charset="2"/>
              </a:rPr>
              <a:t>		</a:t>
            </a:r>
            <a:r>
              <a:rPr lang="en-US" altLang="zh-CN" sz="2400" b="1" dirty="0">
                <a:solidFill>
                  <a:srgbClr val="000099"/>
                </a:solidFill>
                <a:ea typeface="黑体" panose="02010609060101010101" pitchFamily="49" charset="-122"/>
              </a:rPr>
              <a:t>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a:t>
            </a:r>
            <a:r>
              <a:rPr lang="en-US" altLang="zh-CN" sz="2400" b="1" dirty="0">
                <a:solidFill>
                  <a:srgbClr val="000099"/>
                </a:solidFill>
                <a:ea typeface="黑体" panose="02010609060101010101" pitchFamily="49" charset="-122"/>
                <a:sym typeface="Symbol" panose="05050102010706020507" pitchFamily="18" charset="2"/>
              </a:rPr>
              <a:t></a:t>
            </a:r>
            <a:r>
              <a:rPr lang="en-US" altLang="zh-CN" sz="2400" b="1" dirty="0">
                <a:solidFill>
                  <a:srgbClr val="000099"/>
                </a:solidFill>
                <a:ea typeface="黑体" panose="02010609060101010101" pitchFamily="49" charset="-122"/>
              </a:rPr>
              <a:t> (</a:t>
            </a:r>
            <a:r>
              <a:rPr lang="zh-CN" altLang="zh-CN" sz="2400" b="1" dirty="0">
                <a:solidFill>
                  <a:srgbClr val="000099"/>
                </a:solidFill>
                <a:ea typeface="黑体" panose="02010609060101010101" pitchFamily="49" charset="-122"/>
              </a:rPr>
              <a:t>新的</a:t>
            </a:r>
            <a:r>
              <a:rPr lang="en-US" altLang="zh-CN" sz="2400" b="1" dirty="0">
                <a:solidFill>
                  <a:srgbClr val="000099"/>
                </a:solidFill>
                <a:ea typeface="黑体" panose="02010609060101010101" pitchFamily="49" charset="-122"/>
              </a:rPr>
              <a:t>RTT</a:t>
            </a:r>
            <a:r>
              <a:rPr lang="zh-CN" altLang="zh-CN" sz="2400" b="1" dirty="0">
                <a:solidFill>
                  <a:srgbClr val="000099"/>
                </a:solidFill>
                <a:ea typeface="黑体" panose="02010609060101010101" pitchFamily="49" charset="-122"/>
              </a:rPr>
              <a:t>样本</a:t>
            </a:r>
            <a:r>
              <a:rPr lang="en-US" altLang="zh-CN" sz="2400" b="1" dirty="0">
                <a:solidFill>
                  <a:srgbClr val="000099"/>
                </a:solidFill>
                <a:ea typeface="黑体" panose="02010609060101010101" pitchFamily="49" charset="-122"/>
              </a:rPr>
              <a:t>)                           (5-4)</a:t>
            </a:r>
          </a:p>
        </p:txBody>
      </p:sp>
      <p:sp>
        <p:nvSpPr>
          <p:cNvPr id="147251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516CC0-002A-4580-B447-1DA87ED114DD}" type="slidenum">
              <a:rPr lang="zh-CN" altLang="en-US" smtClean="0"/>
              <a:pPr eaLnBrk="1" hangingPunct="1"/>
              <a:t>57</a:t>
            </a:fld>
            <a:endParaRPr lang="en-US" altLang="zh-CN" smtClean="0"/>
          </a:p>
        </p:txBody>
      </p:sp>
      <p:sp>
        <p:nvSpPr>
          <p:cNvPr id="147251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3537" name="Rectangle 2"/>
          <p:cNvSpPr>
            <a:spLocks noGrp="1" noChangeArrowheads="1"/>
          </p:cNvSpPr>
          <p:nvPr>
            <p:ph type="title"/>
          </p:nvPr>
        </p:nvSpPr>
        <p:spPr>
          <a:xfrm>
            <a:off x="495300" y="188913"/>
            <a:ext cx="9066213" cy="792162"/>
          </a:xfrm>
        </p:spPr>
        <p:txBody>
          <a:bodyPr/>
          <a:lstStyle/>
          <a:p>
            <a:pPr algn="ctr"/>
            <a:r>
              <a:rPr lang="zh-CN" altLang="en-US" u="sng" dirty="0" smtClean="0">
                <a:ea typeface="黑体" panose="02010609060101010101" pitchFamily="49" charset="-122"/>
              </a:rPr>
              <a:t>超时重传时间 </a:t>
            </a:r>
            <a:r>
              <a:rPr lang="en-US" altLang="zh-CN" dirty="0" smtClean="0">
                <a:ea typeface="黑体" panose="02010609060101010101" pitchFamily="49" charset="-122"/>
              </a:rPr>
              <a:t>RTO</a:t>
            </a:r>
          </a:p>
        </p:txBody>
      </p:sp>
      <p:sp>
        <p:nvSpPr>
          <p:cNvPr id="1473538" name="Rectangle 3"/>
          <p:cNvSpPr>
            <a:spLocks noGrp="1" noChangeArrowheads="1"/>
          </p:cNvSpPr>
          <p:nvPr>
            <p:ph idx="1"/>
          </p:nvPr>
        </p:nvSpPr>
        <p:spPr>
          <a:xfrm>
            <a:off x="495300" y="1196975"/>
            <a:ext cx="9066213" cy="4933950"/>
          </a:xfrm>
        </p:spPr>
        <p:txBody>
          <a:bodyPr/>
          <a:lstStyle/>
          <a:p>
            <a:pPr>
              <a:lnSpc>
                <a:spcPct val="100000"/>
              </a:lnSpc>
            </a:pPr>
            <a:r>
              <a:rPr lang="en-US" altLang="zh-CN" sz="2400" u="sng" dirty="0" smtClean="0">
                <a:solidFill>
                  <a:srgbClr val="FF0000"/>
                </a:solidFill>
                <a:ea typeface="黑体" panose="02010609060101010101" pitchFamily="49" charset="-122"/>
              </a:rPr>
              <a:t>RTO (Retransmission Time-Out) </a:t>
            </a:r>
            <a:r>
              <a:rPr lang="zh-CN" altLang="en-US" sz="2400" dirty="0" smtClean="0">
                <a:solidFill>
                  <a:srgbClr val="FF0000"/>
                </a:solidFill>
                <a:ea typeface="黑体" panose="02010609060101010101" pitchFamily="49" charset="-122"/>
              </a:rPr>
              <a:t>应略大于上面得出的加权平均往返时间 </a:t>
            </a:r>
            <a:r>
              <a:rPr lang="en-US" altLang="zh-CN" sz="2400" dirty="0" smtClean="0">
                <a:solidFill>
                  <a:srgbClr val="FF0000"/>
                </a:solidFill>
                <a:ea typeface="黑体" panose="02010609060101010101" pitchFamily="49" charset="-122"/>
              </a:rPr>
              <a:t>RTT</a:t>
            </a:r>
            <a:r>
              <a:rPr lang="en-US" altLang="zh-CN" sz="2400" baseline="-25000" dirty="0" smtClean="0">
                <a:solidFill>
                  <a:srgbClr val="FF0000"/>
                </a:solidFill>
                <a:ea typeface="黑体" panose="02010609060101010101" pitchFamily="49" charset="-122"/>
              </a:rPr>
              <a:t>S</a:t>
            </a:r>
            <a:r>
              <a:rPr lang="zh-CN" altLang="en-US" sz="2400" dirty="0" smtClean="0">
                <a:solidFill>
                  <a:srgbClr val="FF0000"/>
                </a:solidFill>
                <a:ea typeface="黑体" panose="02010609060101010101" pitchFamily="49" charset="-122"/>
              </a:rPr>
              <a:t>。</a:t>
            </a:r>
          </a:p>
          <a:p>
            <a:pPr>
              <a:lnSpc>
                <a:spcPct val="100000"/>
              </a:lnSpc>
            </a:pPr>
            <a:r>
              <a:rPr lang="en-US" altLang="zh-CN" sz="2400" dirty="0" smtClean="0">
                <a:ea typeface="黑体" panose="02010609060101010101" pitchFamily="49" charset="-122"/>
              </a:rPr>
              <a:t>RFC 2988 </a:t>
            </a:r>
            <a:r>
              <a:rPr lang="zh-CN" altLang="en-US" sz="2400" dirty="0" smtClean="0">
                <a:ea typeface="黑体" panose="02010609060101010101" pitchFamily="49" charset="-122"/>
              </a:rPr>
              <a:t>建议使用下式计算 </a:t>
            </a:r>
            <a:r>
              <a:rPr lang="en-US" altLang="zh-CN" sz="2400" dirty="0" smtClean="0">
                <a:ea typeface="黑体" panose="02010609060101010101" pitchFamily="49" charset="-122"/>
              </a:rPr>
              <a:t>RTO</a:t>
            </a:r>
            <a:r>
              <a:rPr lang="zh-CN" altLang="en-US" sz="2400" dirty="0" smtClean="0">
                <a:ea typeface="黑体" panose="02010609060101010101" pitchFamily="49" charset="-122"/>
              </a:rPr>
              <a:t>：</a:t>
            </a:r>
          </a:p>
          <a:p>
            <a:pPr>
              <a:lnSpc>
                <a:spcPct val="100000"/>
              </a:lnSpc>
              <a:spcAft>
                <a:spcPct val="10000"/>
              </a:spcAft>
            </a:pPr>
            <a:endParaRPr lang="en-US" altLang="zh-CN" sz="2400" dirty="0" smtClean="0">
              <a:ea typeface="黑体" panose="02010609060101010101" pitchFamily="49" charset="-122"/>
            </a:endParaRPr>
          </a:p>
          <a:p>
            <a:pPr>
              <a:lnSpc>
                <a:spcPct val="100000"/>
              </a:lnSpc>
              <a:spcAft>
                <a:spcPct val="10000"/>
              </a:spcAft>
            </a:pP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D </a:t>
            </a:r>
            <a:r>
              <a:rPr lang="zh-CN" altLang="en-US" sz="2400" dirty="0" smtClean="0">
                <a:ea typeface="黑体" panose="02010609060101010101" pitchFamily="49" charset="-122"/>
              </a:rPr>
              <a:t>是 </a:t>
            </a:r>
            <a:r>
              <a:rPr lang="en-US" altLang="zh-CN" sz="2400" dirty="0" smtClean="0">
                <a:solidFill>
                  <a:srgbClr val="FF0000"/>
                </a:solidFill>
                <a:ea typeface="黑体" panose="02010609060101010101" pitchFamily="49" charset="-122"/>
              </a:rPr>
              <a:t>RTT </a:t>
            </a:r>
            <a:r>
              <a:rPr lang="zh-CN" altLang="en-US" sz="2400" dirty="0" smtClean="0">
                <a:solidFill>
                  <a:srgbClr val="FF0000"/>
                </a:solidFill>
                <a:ea typeface="黑体" panose="02010609060101010101" pitchFamily="49" charset="-122"/>
              </a:rPr>
              <a:t>的偏差的加权平均值</a:t>
            </a:r>
            <a:r>
              <a:rPr lang="zh-CN" altLang="en-US" sz="2400" dirty="0" smtClean="0">
                <a:ea typeface="黑体" panose="02010609060101010101" pitchFamily="49" charset="-122"/>
              </a:rPr>
              <a:t>。</a:t>
            </a:r>
          </a:p>
          <a:p>
            <a:pPr>
              <a:lnSpc>
                <a:spcPct val="100000"/>
              </a:lnSpc>
            </a:pPr>
            <a:r>
              <a:rPr lang="en-US" altLang="zh-CN" sz="2400" dirty="0" smtClean="0">
                <a:ea typeface="黑体" panose="02010609060101010101" pitchFamily="49" charset="-122"/>
              </a:rPr>
              <a:t>RFC 2988 </a:t>
            </a:r>
            <a:r>
              <a:rPr lang="zh-CN" altLang="en-US" sz="2400" dirty="0" smtClean="0">
                <a:ea typeface="黑体" panose="02010609060101010101" pitchFamily="49" charset="-122"/>
              </a:rPr>
              <a:t>建议这样计算 </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D</a:t>
            </a:r>
            <a:r>
              <a:rPr lang="zh-CN" altLang="en-US" sz="2400" dirty="0" smtClean="0">
                <a:ea typeface="黑体" panose="02010609060101010101" pitchFamily="49" charset="-122"/>
              </a:rPr>
              <a:t>。第一次测量时，</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D </a:t>
            </a:r>
            <a:r>
              <a:rPr lang="zh-CN" altLang="en-US" sz="2400" dirty="0" smtClean="0">
                <a:ea typeface="黑体" panose="02010609060101010101" pitchFamily="49" charset="-122"/>
              </a:rPr>
              <a:t>值取为测量到的 </a:t>
            </a:r>
            <a:r>
              <a:rPr lang="en-US" altLang="zh-CN" sz="2400" dirty="0" smtClean="0">
                <a:ea typeface="黑体" panose="02010609060101010101" pitchFamily="49" charset="-122"/>
              </a:rPr>
              <a:t>RTT </a:t>
            </a:r>
            <a:r>
              <a:rPr lang="zh-CN" altLang="en-US" sz="2400" dirty="0" smtClean="0">
                <a:ea typeface="黑体" panose="02010609060101010101" pitchFamily="49" charset="-122"/>
              </a:rPr>
              <a:t>样本值的一半。在以后的测量中，则使用下式计算加权平均的 </a:t>
            </a:r>
            <a:r>
              <a:rPr lang="en-US" altLang="zh-CN" sz="2400" dirty="0" smtClean="0">
                <a:ea typeface="黑体" panose="02010609060101010101" pitchFamily="49" charset="-122"/>
              </a:rPr>
              <a:t>RTT</a:t>
            </a:r>
            <a:r>
              <a:rPr lang="en-US" altLang="zh-CN" sz="2400" baseline="-25000" dirty="0" smtClean="0">
                <a:ea typeface="黑体" panose="02010609060101010101" pitchFamily="49" charset="-122"/>
              </a:rPr>
              <a:t>D</a:t>
            </a:r>
            <a:r>
              <a:rPr lang="zh-CN" altLang="en-US" sz="2400" dirty="0" smtClean="0">
                <a:ea typeface="黑体" panose="02010609060101010101" pitchFamily="49" charset="-122"/>
              </a:rPr>
              <a:t>：</a:t>
            </a:r>
          </a:p>
          <a:p>
            <a:pPr>
              <a:lnSpc>
                <a:spcPct val="100000"/>
              </a:lnSpc>
              <a:spcBef>
                <a:spcPct val="40000"/>
              </a:spcBef>
            </a:pPr>
            <a:endParaRPr lang="en-US" altLang="zh-CN" sz="2400" dirty="0" smtClean="0">
              <a:ea typeface="黑体" panose="02010609060101010101" pitchFamily="49" charset="-122"/>
              <a:sym typeface="Symbol" panose="05050102010706020507" pitchFamily="18" charset="2"/>
            </a:endParaRPr>
          </a:p>
          <a:p>
            <a:pPr>
              <a:lnSpc>
                <a:spcPct val="100000"/>
              </a:lnSpc>
              <a:spcBef>
                <a:spcPct val="40000"/>
              </a:spcBef>
            </a:pPr>
            <a:endParaRPr lang="en-US" altLang="zh-CN" sz="2400" dirty="0" smtClean="0">
              <a:ea typeface="黑体" panose="02010609060101010101" pitchFamily="49" charset="-122"/>
              <a:sym typeface="Symbol" panose="05050102010706020507" pitchFamily="18" charset="2"/>
            </a:endParaRPr>
          </a:p>
          <a:p>
            <a:pPr>
              <a:lnSpc>
                <a:spcPct val="100000"/>
              </a:lnSpc>
              <a:spcBef>
                <a:spcPct val="40000"/>
              </a:spcBef>
            </a:pPr>
            <a:r>
              <a:rPr lang="en-US" altLang="zh-CN" sz="2400" dirty="0" smtClean="0">
                <a:ea typeface="黑体" panose="02010609060101010101" pitchFamily="49" charset="-122"/>
                <a:sym typeface="Symbol" panose="05050102010706020507" pitchFamily="18" charset="2"/>
              </a:rPr>
              <a:t> </a:t>
            </a:r>
            <a:r>
              <a:rPr lang="zh-CN" altLang="en-US" sz="2400" dirty="0" smtClean="0">
                <a:ea typeface="黑体" panose="02010609060101010101" pitchFamily="49" charset="-122"/>
              </a:rPr>
              <a:t>是个小于 </a:t>
            </a:r>
            <a:r>
              <a:rPr lang="en-US" altLang="zh-CN" sz="2400" dirty="0" smtClean="0">
                <a:ea typeface="黑体" panose="02010609060101010101" pitchFamily="49" charset="-122"/>
              </a:rPr>
              <a:t>1 </a:t>
            </a:r>
            <a:r>
              <a:rPr lang="zh-CN" altLang="en-US" sz="2400" dirty="0" smtClean="0">
                <a:ea typeface="黑体" panose="02010609060101010101" pitchFamily="49" charset="-122"/>
              </a:rPr>
              <a:t>的系数，其推荐值是 </a:t>
            </a:r>
            <a:r>
              <a:rPr lang="en-US" altLang="zh-CN" sz="2400" dirty="0" smtClean="0">
                <a:solidFill>
                  <a:srgbClr val="0000FF"/>
                </a:solidFill>
                <a:ea typeface="黑体" panose="02010609060101010101" pitchFamily="49" charset="-122"/>
              </a:rPr>
              <a:t>1/4</a:t>
            </a:r>
            <a:r>
              <a:rPr lang="zh-CN" altLang="en-US" sz="2400" dirty="0" smtClean="0">
                <a:ea typeface="黑体" panose="02010609060101010101" pitchFamily="49" charset="-122"/>
              </a:rPr>
              <a:t>，即 </a:t>
            </a:r>
            <a:r>
              <a:rPr lang="en-US" altLang="zh-CN" sz="2400" dirty="0" smtClean="0">
                <a:ea typeface="黑体" panose="02010609060101010101" pitchFamily="49" charset="-122"/>
              </a:rPr>
              <a:t>0.25</a:t>
            </a:r>
            <a:r>
              <a:rPr lang="zh-CN" altLang="en-US" sz="2400" dirty="0" smtClean="0">
                <a:ea typeface="黑体" panose="02010609060101010101" pitchFamily="49" charset="-122"/>
              </a:rPr>
              <a:t>。</a:t>
            </a:r>
          </a:p>
        </p:txBody>
      </p:sp>
      <p:sp>
        <p:nvSpPr>
          <p:cNvPr id="1473539" name="Rectangle 4"/>
          <p:cNvSpPr>
            <a:spLocks noChangeArrowheads="1"/>
          </p:cNvSpPr>
          <p:nvPr/>
        </p:nvSpPr>
        <p:spPr bwMode="auto">
          <a:xfrm>
            <a:off x="920750" y="2420938"/>
            <a:ext cx="8640763" cy="503237"/>
          </a:xfrm>
          <a:prstGeom prst="rect">
            <a:avLst/>
          </a:prstGeom>
          <a:solidFill>
            <a:srgbClr val="FFFF99"/>
          </a:solidFill>
          <a:ln w="9525">
            <a:solidFill>
              <a:srgbClr val="000066"/>
            </a:solidFill>
            <a:miter lim="800000"/>
            <a:headEnd/>
            <a:tailEnd/>
          </a:ln>
          <a:effectLst>
            <a:outerShdw dist="35921" sx="999" sy="999" algn="ctr" rotWithShape="0">
              <a:schemeClr val="bg2"/>
            </a:outerShdw>
          </a:effectLst>
        </p:spPr>
        <p:txBody>
          <a:bodyPr wrap="none" anchor="ctr"/>
          <a:lstStyle/>
          <a:p>
            <a:pPr eaLnBrk="0" hangingPunct="0">
              <a:spcBef>
                <a:spcPct val="30000"/>
              </a:spcBef>
              <a:spcAft>
                <a:spcPct val="20000"/>
              </a:spcAft>
            </a:pPr>
            <a:r>
              <a:rPr lang="en-US" altLang="zh-CN" sz="2400" b="1">
                <a:solidFill>
                  <a:srgbClr val="000099"/>
                </a:solidFill>
                <a:ea typeface="黑体" panose="02010609060101010101" pitchFamily="49" charset="-122"/>
              </a:rPr>
              <a:t>RTO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RTT</a:t>
            </a:r>
            <a:r>
              <a:rPr lang="en-US" altLang="zh-CN" sz="2400" b="1" baseline="-25000">
                <a:solidFill>
                  <a:srgbClr val="000099"/>
                </a:solidFill>
                <a:ea typeface="黑体" panose="02010609060101010101" pitchFamily="49" charset="-122"/>
              </a:rPr>
              <a:t>S</a:t>
            </a:r>
            <a:r>
              <a:rPr lang="en-US" altLang="zh-CN" sz="2400" b="1">
                <a:solidFill>
                  <a:srgbClr val="000099"/>
                </a:solidFill>
                <a:ea typeface="黑体" panose="02010609060101010101" pitchFamily="49" charset="-122"/>
              </a:rPr>
              <a:t> + 4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RTT</a:t>
            </a:r>
            <a:r>
              <a:rPr lang="en-US" altLang="zh-CN" sz="2400" b="1" baseline="-25000">
                <a:solidFill>
                  <a:srgbClr val="000099"/>
                </a:solidFill>
                <a:ea typeface="黑体" panose="02010609060101010101" pitchFamily="49" charset="-122"/>
              </a:rPr>
              <a:t>D</a:t>
            </a:r>
            <a:r>
              <a:rPr lang="en-US" altLang="zh-CN" sz="2400" b="1">
                <a:solidFill>
                  <a:srgbClr val="000099"/>
                </a:solidFill>
                <a:ea typeface="黑体" panose="02010609060101010101" pitchFamily="49" charset="-122"/>
              </a:rPr>
              <a:t>                                         (5-5)</a:t>
            </a:r>
          </a:p>
        </p:txBody>
      </p:sp>
      <p:sp>
        <p:nvSpPr>
          <p:cNvPr id="1473540" name="Rectangle 4"/>
          <p:cNvSpPr>
            <a:spLocks noChangeArrowheads="1"/>
          </p:cNvSpPr>
          <p:nvPr/>
        </p:nvSpPr>
        <p:spPr bwMode="auto">
          <a:xfrm>
            <a:off x="920750" y="4652963"/>
            <a:ext cx="8640763" cy="1008062"/>
          </a:xfrm>
          <a:prstGeom prst="rect">
            <a:avLst/>
          </a:prstGeom>
          <a:solidFill>
            <a:srgbClr val="FFFF99"/>
          </a:solidFill>
          <a:ln w="9525">
            <a:solidFill>
              <a:srgbClr val="000066"/>
            </a:solidFill>
            <a:miter lim="800000"/>
            <a:headEnd/>
            <a:tailEnd/>
          </a:ln>
          <a:effectLst>
            <a:outerShdw dist="35921" sx="999" sy="999" algn="ctr" rotWithShape="0">
              <a:schemeClr val="bg2"/>
            </a:outerShdw>
          </a:effectLst>
        </p:spPr>
        <p:txBody>
          <a:bodyPr wrap="none" anchor="ctr"/>
          <a:lstStyle/>
          <a:p>
            <a:pPr eaLnBrk="0" hangingPunct="0">
              <a:spcBef>
                <a:spcPts val="600"/>
              </a:spcBef>
            </a:pPr>
            <a:r>
              <a:rPr lang="zh-CN" altLang="en-US" sz="2400" b="1">
                <a:solidFill>
                  <a:srgbClr val="000099"/>
                </a:solidFill>
                <a:ea typeface="黑体" panose="02010609060101010101" pitchFamily="49" charset="-122"/>
              </a:rPr>
              <a:t>新的 </a:t>
            </a:r>
            <a:r>
              <a:rPr lang="en-US" altLang="zh-CN" sz="2400" b="1">
                <a:solidFill>
                  <a:srgbClr val="000099"/>
                </a:solidFill>
                <a:ea typeface="黑体" panose="02010609060101010101" pitchFamily="49" charset="-122"/>
              </a:rPr>
              <a:t>RTT</a:t>
            </a:r>
            <a:r>
              <a:rPr lang="en-US" altLang="zh-CN" sz="2400" b="1" baseline="-25000">
                <a:solidFill>
                  <a:srgbClr val="000099"/>
                </a:solidFill>
                <a:ea typeface="黑体" panose="02010609060101010101" pitchFamily="49" charset="-122"/>
              </a:rPr>
              <a:t>D</a:t>
            </a:r>
            <a:r>
              <a:rPr lang="en-US" altLang="zh-CN" sz="2400" b="1">
                <a:solidFill>
                  <a:srgbClr val="000099"/>
                </a:solidFill>
                <a:ea typeface="黑体" panose="02010609060101010101" pitchFamily="49" charset="-122"/>
              </a:rPr>
              <a:t> = (1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旧的</a:t>
            </a:r>
            <a:r>
              <a:rPr lang="en-US" altLang="zh-CN" sz="2400" b="1">
                <a:solidFill>
                  <a:srgbClr val="000099"/>
                </a:solidFill>
                <a:ea typeface="黑体" panose="02010609060101010101" pitchFamily="49" charset="-122"/>
              </a:rPr>
              <a:t>RTT</a:t>
            </a:r>
            <a:r>
              <a:rPr lang="en-US" altLang="zh-CN" sz="2400" b="1" baseline="-25000">
                <a:solidFill>
                  <a:srgbClr val="000099"/>
                </a:solidFill>
                <a:ea typeface="黑体" panose="02010609060101010101" pitchFamily="49" charset="-122"/>
              </a:rPr>
              <a:t>D</a:t>
            </a:r>
            <a:r>
              <a:rPr lang="en-US" altLang="zh-CN" sz="2400" b="1">
                <a:solidFill>
                  <a:srgbClr val="000099"/>
                </a:solidFill>
                <a:ea typeface="黑体" panose="02010609060101010101" pitchFamily="49" charset="-122"/>
              </a:rPr>
              <a:t>) </a:t>
            </a:r>
          </a:p>
          <a:p>
            <a:pPr eaLnBrk="0" hangingPunct="0">
              <a:spcBef>
                <a:spcPts val="600"/>
              </a:spcBef>
            </a:pPr>
            <a:r>
              <a:rPr lang="en-US" altLang="zh-CN" sz="2400" b="1">
                <a:solidFill>
                  <a:srgbClr val="000099"/>
                </a:solidFill>
                <a:ea typeface="黑体" panose="02010609060101010101" pitchFamily="49" charset="-122"/>
              </a:rPr>
              <a:t>                   +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RTT</a:t>
            </a:r>
            <a:r>
              <a:rPr lang="en-US" altLang="zh-CN" sz="2400" b="1" baseline="-25000">
                <a:solidFill>
                  <a:srgbClr val="000099"/>
                </a:solidFill>
                <a:ea typeface="黑体" panose="02010609060101010101" pitchFamily="49" charset="-122"/>
              </a:rPr>
              <a:t>S</a:t>
            </a:r>
            <a:r>
              <a:rPr lang="en-US" altLang="zh-CN"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sym typeface="Symbol" panose="05050102010706020507" pitchFamily="18" charset="2"/>
              </a:rPr>
              <a:t></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新的 </a:t>
            </a:r>
            <a:r>
              <a:rPr lang="en-US" altLang="zh-CN" sz="2400" b="1">
                <a:solidFill>
                  <a:srgbClr val="000099"/>
                </a:solidFill>
                <a:ea typeface="黑体" panose="02010609060101010101" pitchFamily="49" charset="-122"/>
              </a:rPr>
              <a:t>RTT </a:t>
            </a:r>
            <a:r>
              <a:rPr lang="zh-CN" altLang="en-US" sz="2400" b="1">
                <a:solidFill>
                  <a:srgbClr val="000099"/>
                </a:solidFill>
                <a:ea typeface="黑体" panose="02010609060101010101" pitchFamily="49" charset="-122"/>
              </a:rPr>
              <a:t>样本</a:t>
            </a:r>
            <a:r>
              <a:rPr lang="zh-CN" altLang="en-US" sz="2400" b="1">
                <a:solidFill>
                  <a:srgbClr val="000099"/>
                </a:solidFill>
                <a:ea typeface="黑体" panose="02010609060101010101" pitchFamily="49" charset="-122"/>
                <a:sym typeface="Symbol" panose="05050102010706020507" pitchFamily="18" charset="2"/>
              </a:rPr>
              <a:t></a:t>
            </a:r>
            <a:r>
              <a:rPr lang="zh-CN" altLang="en-US" sz="2400" b="1">
                <a:solidFill>
                  <a:srgbClr val="000099"/>
                </a:solidFill>
                <a:ea typeface="黑体" panose="02010609060101010101" pitchFamily="49" charset="-122"/>
              </a:rPr>
              <a:t>           </a:t>
            </a:r>
            <a:r>
              <a:rPr lang="en-US" altLang="zh-CN" sz="2400" b="1">
                <a:solidFill>
                  <a:srgbClr val="000099"/>
                </a:solidFill>
                <a:ea typeface="黑体" panose="02010609060101010101" pitchFamily="49" charset="-122"/>
              </a:rPr>
              <a:t>(5-6)</a:t>
            </a:r>
          </a:p>
        </p:txBody>
      </p:sp>
      <p:sp>
        <p:nvSpPr>
          <p:cNvPr id="147354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920B9F-0077-4C51-BFBA-04771C27D7AA}" type="slidenum">
              <a:rPr lang="zh-CN" altLang="en-US" smtClean="0"/>
              <a:pPr eaLnBrk="1" hangingPunct="1"/>
              <a:t>58</a:t>
            </a:fld>
            <a:endParaRPr lang="en-US" altLang="zh-CN" smtClean="0"/>
          </a:p>
        </p:txBody>
      </p:sp>
      <p:sp>
        <p:nvSpPr>
          <p:cNvPr id="147354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61" name="Rectangle 4"/>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往返时间 </a:t>
            </a:r>
            <a:r>
              <a:rPr lang="en-US" altLang="zh-CN" sz="4000" smtClean="0">
                <a:ea typeface="黑体" panose="02010609060101010101" pitchFamily="49" charset="-122"/>
              </a:rPr>
              <a:t>(RTT) </a:t>
            </a:r>
            <a:r>
              <a:rPr lang="zh-CN" altLang="en-US" sz="4000" smtClean="0">
                <a:ea typeface="黑体" panose="02010609060101010101" pitchFamily="49" charset="-122"/>
              </a:rPr>
              <a:t>的测量相当复杂 </a:t>
            </a:r>
          </a:p>
        </p:txBody>
      </p:sp>
      <p:sp>
        <p:nvSpPr>
          <p:cNvPr id="1474562" name="Rectangle 5"/>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TCP </a:t>
            </a:r>
            <a:r>
              <a:rPr lang="zh-CN" altLang="en-US" sz="2800" smtClean="0">
                <a:ea typeface="黑体" panose="02010609060101010101" pitchFamily="49" charset="-122"/>
              </a:rPr>
              <a:t>报文段 </a:t>
            </a:r>
            <a:r>
              <a:rPr lang="en-US" altLang="zh-CN" sz="2800" smtClean="0">
                <a:ea typeface="黑体" panose="02010609060101010101" pitchFamily="49" charset="-122"/>
              </a:rPr>
              <a:t>1 </a:t>
            </a:r>
            <a:r>
              <a:rPr lang="zh-CN" altLang="en-US" sz="2800" smtClean="0">
                <a:ea typeface="黑体" panose="02010609060101010101" pitchFamily="49" charset="-122"/>
              </a:rPr>
              <a:t>没有收到确认。重传（即报文段 </a:t>
            </a:r>
            <a:r>
              <a:rPr lang="en-US" altLang="zh-CN" sz="2800" smtClean="0">
                <a:ea typeface="黑体" panose="02010609060101010101" pitchFamily="49" charset="-122"/>
              </a:rPr>
              <a:t>2</a:t>
            </a:r>
            <a:r>
              <a:rPr lang="zh-CN" altLang="en-US" sz="2800" smtClean="0">
                <a:ea typeface="黑体" panose="02010609060101010101" pitchFamily="49" charset="-122"/>
              </a:rPr>
              <a:t>）后，收到了确认报文段 </a:t>
            </a:r>
            <a:r>
              <a:rPr lang="en-US" altLang="zh-CN" sz="2800" smtClean="0">
                <a:ea typeface="黑体" panose="02010609060101010101" pitchFamily="49" charset="-122"/>
              </a:rPr>
              <a:t>ACK</a:t>
            </a:r>
            <a:r>
              <a:rPr lang="zh-CN" altLang="en-US" sz="2800" smtClean="0">
                <a:ea typeface="黑体" panose="02010609060101010101" pitchFamily="49" charset="-122"/>
              </a:rPr>
              <a:t>。</a:t>
            </a:r>
          </a:p>
          <a:p>
            <a:r>
              <a:rPr lang="zh-CN" altLang="en-US" sz="2800" smtClean="0">
                <a:solidFill>
                  <a:srgbClr val="FF0000"/>
                </a:solidFill>
                <a:ea typeface="黑体" panose="02010609060101010101" pitchFamily="49" charset="-122"/>
              </a:rPr>
              <a:t>如何判定此确认报文段是对原来的报文段 </a:t>
            </a:r>
            <a:r>
              <a:rPr lang="en-US" altLang="zh-CN" sz="2800" smtClean="0">
                <a:solidFill>
                  <a:srgbClr val="FF0000"/>
                </a:solidFill>
                <a:ea typeface="黑体" panose="02010609060101010101" pitchFamily="49" charset="-122"/>
              </a:rPr>
              <a:t>1 </a:t>
            </a:r>
            <a:r>
              <a:rPr lang="zh-CN" altLang="en-US" sz="2800" smtClean="0">
                <a:solidFill>
                  <a:srgbClr val="FF0000"/>
                </a:solidFill>
                <a:ea typeface="黑体" panose="02010609060101010101" pitchFamily="49" charset="-122"/>
              </a:rPr>
              <a:t>的确认，还是对重传的报文段 </a:t>
            </a:r>
            <a:r>
              <a:rPr lang="en-US" altLang="zh-CN" sz="2800" smtClean="0">
                <a:solidFill>
                  <a:srgbClr val="FF0000"/>
                </a:solidFill>
                <a:ea typeface="黑体" panose="02010609060101010101" pitchFamily="49" charset="-122"/>
              </a:rPr>
              <a:t>2 </a:t>
            </a:r>
            <a:r>
              <a:rPr lang="zh-CN" altLang="en-US" sz="2800" smtClean="0">
                <a:solidFill>
                  <a:srgbClr val="FF0000"/>
                </a:solidFill>
                <a:ea typeface="黑体" panose="02010609060101010101" pitchFamily="49" charset="-122"/>
              </a:rPr>
              <a:t>的确认？ </a:t>
            </a:r>
          </a:p>
        </p:txBody>
      </p:sp>
      <p:sp>
        <p:nvSpPr>
          <p:cNvPr id="1474563" name="Line 2"/>
          <p:cNvSpPr>
            <a:spLocks noChangeShapeType="1"/>
          </p:cNvSpPr>
          <p:nvPr/>
        </p:nvSpPr>
        <p:spPr bwMode="auto">
          <a:xfrm>
            <a:off x="4017963" y="5424488"/>
            <a:ext cx="3784600"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64" name="Text Box 3"/>
          <p:cNvSpPr txBox="1">
            <a:spLocks noChangeArrowheads="1"/>
          </p:cNvSpPr>
          <p:nvPr/>
        </p:nvSpPr>
        <p:spPr bwMode="auto">
          <a:xfrm>
            <a:off x="5027613" y="5189538"/>
            <a:ext cx="1944687"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往返时间 </a:t>
            </a:r>
            <a:r>
              <a:rPr lang="en-US" altLang="zh-CN" sz="2000" b="1">
                <a:solidFill>
                  <a:srgbClr val="0000FF"/>
                </a:solidFill>
                <a:ea typeface="黑体" panose="02010609060101010101" pitchFamily="49" charset="-122"/>
              </a:rPr>
              <a:t>RTT?</a:t>
            </a:r>
          </a:p>
        </p:txBody>
      </p:sp>
      <p:sp>
        <p:nvSpPr>
          <p:cNvPr id="1474565" name="Line 6"/>
          <p:cNvSpPr>
            <a:spLocks noChangeShapeType="1"/>
          </p:cNvSpPr>
          <p:nvPr/>
        </p:nvSpPr>
        <p:spPr bwMode="auto">
          <a:xfrm>
            <a:off x="863600" y="5124450"/>
            <a:ext cx="8516938" cy="0"/>
          </a:xfrm>
          <a:prstGeom prst="line">
            <a:avLst/>
          </a:prstGeom>
          <a:noFill/>
          <a:ln w="28575">
            <a:solidFill>
              <a:srgbClr val="333399"/>
            </a:solidFill>
            <a:round/>
            <a:headEnd type="non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66" name="Line 7"/>
          <p:cNvSpPr>
            <a:spLocks noChangeShapeType="1"/>
          </p:cNvSpPr>
          <p:nvPr/>
        </p:nvSpPr>
        <p:spPr bwMode="auto">
          <a:xfrm rot="-5400000">
            <a:off x="888207" y="4833144"/>
            <a:ext cx="582612" cy="0"/>
          </a:xfrm>
          <a:prstGeom prst="line">
            <a:avLst/>
          </a:prstGeom>
          <a:noFill/>
          <a:ln w="762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67" name="Text Box 8"/>
          <p:cNvSpPr txBox="1">
            <a:spLocks noChangeArrowheads="1"/>
          </p:cNvSpPr>
          <p:nvPr/>
        </p:nvSpPr>
        <p:spPr bwMode="auto">
          <a:xfrm>
            <a:off x="449263" y="3927475"/>
            <a:ext cx="15351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发送一个</a:t>
            </a:r>
          </a:p>
          <a:p>
            <a:pPr algn="ctr" eaLnBrk="0" hangingPunct="0"/>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报文段</a:t>
            </a:r>
          </a:p>
        </p:txBody>
      </p:sp>
      <p:sp>
        <p:nvSpPr>
          <p:cNvPr id="1474568" name="Line 9"/>
          <p:cNvSpPr>
            <a:spLocks noChangeShapeType="1"/>
          </p:cNvSpPr>
          <p:nvPr/>
        </p:nvSpPr>
        <p:spPr bwMode="auto">
          <a:xfrm rot="-5400000">
            <a:off x="3726657" y="4833144"/>
            <a:ext cx="582612" cy="0"/>
          </a:xfrm>
          <a:prstGeom prst="line">
            <a:avLst/>
          </a:prstGeom>
          <a:noFill/>
          <a:ln w="762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69" name="Text Box 10"/>
          <p:cNvSpPr txBox="1">
            <a:spLocks noChangeArrowheads="1"/>
          </p:cNvSpPr>
          <p:nvPr/>
        </p:nvSpPr>
        <p:spPr bwMode="auto">
          <a:xfrm>
            <a:off x="3214688" y="3927475"/>
            <a:ext cx="15351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超时重传</a:t>
            </a:r>
          </a:p>
          <a:p>
            <a:pPr algn="ctr" eaLnBrk="0" hangingPunct="0"/>
            <a:r>
              <a:rPr lang="en-US" altLang="zh-CN" sz="2000" b="1">
                <a:solidFill>
                  <a:srgbClr val="000099"/>
                </a:solidFill>
                <a:ea typeface="黑体" panose="02010609060101010101" pitchFamily="49" charset="-122"/>
              </a:rPr>
              <a:t>TCP </a:t>
            </a:r>
            <a:r>
              <a:rPr lang="zh-CN" altLang="en-US" sz="2000" b="1">
                <a:solidFill>
                  <a:srgbClr val="000099"/>
                </a:solidFill>
                <a:ea typeface="黑体" panose="02010609060101010101" pitchFamily="49" charset="-122"/>
              </a:rPr>
              <a:t>报文段</a:t>
            </a:r>
          </a:p>
        </p:txBody>
      </p:sp>
      <p:sp>
        <p:nvSpPr>
          <p:cNvPr id="1474570" name="Line 11"/>
          <p:cNvSpPr>
            <a:spLocks noChangeShapeType="1"/>
          </p:cNvSpPr>
          <p:nvPr/>
        </p:nvSpPr>
        <p:spPr bwMode="auto">
          <a:xfrm rot="-5400000">
            <a:off x="7511257" y="4833144"/>
            <a:ext cx="582612" cy="0"/>
          </a:xfrm>
          <a:prstGeom prst="line">
            <a:avLst/>
          </a:prstGeom>
          <a:noFill/>
          <a:ln w="7620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71" name="Text Box 12"/>
          <p:cNvSpPr txBox="1">
            <a:spLocks noChangeArrowheads="1"/>
          </p:cNvSpPr>
          <p:nvPr/>
        </p:nvSpPr>
        <p:spPr bwMode="auto">
          <a:xfrm>
            <a:off x="7143750" y="4235450"/>
            <a:ext cx="1319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收到 </a:t>
            </a:r>
            <a:r>
              <a:rPr lang="en-US" altLang="zh-CN" sz="2000" b="1">
                <a:solidFill>
                  <a:srgbClr val="000099"/>
                </a:solidFill>
                <a:ea typeface="黑体" panose="02010609060101010101" pitchFamily="49" charset="-122"/>
              </a:rPr>
              <a:t>ACK</a:t>
            </a:r>
          </a:p>
        </p:txBody>
      </p:sp>
      <p:sp>
        <p:nvSpPr>
          <p:cNvPr id="1474572" name="Text Box 13"/>
          <p:cNvSpPr txBox="1">
            <a:spLocks noChangeArrowheads="1"/>
          </p:cNvSpPr>
          <p:nvPr/>
        </p:nvSpPr>
        <p:spPr bwMode="auto">
          <a:xfrm>
            <a:off x="8985250" y="5140325"/>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时间</a:t>
            </a:r>
          </a:p>
        </p:txBody>
      </p:sp>
      <p:sp>
        <p:nvSpPr>
          <p:cNvPr id="1474573" name="Text Box 14"/>
          <p:cNvSpPr txBox="1">
            <a:spLocks noChangeArrowheads="1"/>
          </p:cNvSpPr>
          <p:nvPr/>
        </p:nvSpPr>
        <p:spPr bwMode="auto">
          <a:xfrm>
            <a:off x="800100" y="4678363"/>
            <a:ext cx="328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a:t>
            </a:r>
          </a:p>
        </p:txBody>
      </p:sp>
      <p:sp>
        <p:nvSpPr>
          <p:cNvPr id="1474574" name="Text Box 15"/>
          <p:cNvSpPr txBox="1">
            <a:spLocks noChangeArrowheads="1"/>
          </p:cNvSpPr>
          <p:nvPr/>
        </p:nvSpPr>
        <p:spPr bwMode="auto">
          <a:xfrm>
            <a:off x="3649663" y="4678363"/>
            <a:ext cx="328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2</a:t>
            </a:r>
          </a:p>
        </p:txBody>
      </p:sp>
      <p:sp>
        <p:nvSpPr>
          <p:cNvPr id="1474575" name="Line 16"/>
          <p:cNvSpPr>
            <a:spLocks noChangeShapeType="1"/>
          </p:cNvSpPr>
          <p:nvPr/>
        </p:nvSpPr>
        <p:spPr bwMode="auto">
          <a:xfrm>
            <a:off x="4017963" y="5207000"/>
            <a:ext cx="0" cy="2508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76" name="Line 17"/>
          <p:cNvSpPr>
            <a:spLocks noChangeShapeType="1"/>
          </p:cNvSpPr>
          <p:nvPr/>
        </p:nvSpPr>
        <p:spPr bwMode="auto">
          <a:xfrm>
            <a:off x="7802563" y="5207000"/>
            <a:ext cx="0" cy="7397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77" name="Line 18"/>
          <p:cNvSpPr>
            <a:spLocks noChangeShapeType="1"/>
          </p:cNvSpPr>
          <p:nvPr/>
        </p:nvSpPr>
        <p:spPr bwMode="auto">
          <a:xfrm>
            <a:off x="1179513" y="5207000"/>
            <a:ext cx="0" cy="7397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78" name="Line 19"/>
          <p:cNvSpPr>
            <a:spLocks noChangeShapeType="1"/>
          </p:cNvSpPr>
          <p:nvPr/>
        </p:nvSpPr>
        <p:spPr bwMode="auto">
          <a:xfrm>
            <a:off x="1179513" y="5778500"/>
            <a:ext cx="6623050" cy="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79" name="Text Box 20"/>
          <p:cNvSpPr txBox="1">
            <a:spLocks noChangeArrowheads="1"/>
          </p:cNvSpPr>
          <p:nvPr/>
        </p:nvSpPr>
        <p:spPr bwMode="auto">
          <a:xfrm>
            <a:off x="3365500" y="5549900"/>
            <a:ext cx="1944688"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往返时间 </a:t>
            </a:r>
            <a:r>
              <a:rPr lang="en-US" altLang="zh-CN" sz="2000" b="1">
                <a:solidFill>
                  <a:srgbClr val="0000FF"/>
                </a:solidFill>
                <a:ea typeface="黑体" panose="02010609060101010101" pitchFamily="49" charset="-122"/>
              </a:rPr>
              <a:t>RTT?</a:t>
            </a:r>
          </a:p>
        </p:txBody>
      </p:sp>
      <p:sp>
        <p:nvSpPr>
          <p:cNvPr id="1474580" name="Freeform 21"/>
          <p:cNvSpPr>
            <a:spLocks noChangeArrowheads="1"/>
          </p:cNvSpPr>
          <p:nvPr/>
        </p:nvSpPr>
        <p:spPr bwMode="auto">
          <a:xfrm>
            <a:off x="4649788" y="3921125"/>
            <a:ext cx="2943225" cy="328613"/>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a:solidFill>
              <a:srgbClr val="FF0000"/>
            </a:solidFill>
            <a:prstDash val="sysDot"/>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81" name="Freeform 22"/>
          <p:cNvSpPr>
            <a:spLocks noChangeArrowheads="1"/>
          </p:cNvSpPr>
          <p:nvPr/>
        </p:nvSpPr>
        <p:spPr bwMode="auto">
          <a:xfrm>
            <a:off x="1811338" y="3630613"/>
            <a:ext cx="5781675" cy="577850"/>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76200">
            <a:solidFill>
              <a:srgbClr val="FF0000"/>
            </a:solidFill>
            <a:prstDash val="sysDot"/>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74582" name="Text Box 23"/>
          <p:cNvSpPr txBox="1">
            <a:spLocks noChangeArrowheads="1"/>
          </p:cNvSpPr>
          <p:nvPr/>
        </p:nvSpPr>
        <p:spPr bwMode="auto">
          <a:xfrm>
            <a:off x="6897688" y="3411538"/>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FF"/>
                </a:solidFill>
                <a:ea typeface="黑体" panose="02010609060101010101" pitchFamily="49" charset="-122"/>
              </a:rPr>
              <a:t>是对哪一个报文段</a:t>
            </a:r>
          </a:p>
          <a:p>
            <a:pPr algn="ctr" eaLnBrk="0" hangingPunct="0"/>
            <a:r>
              <a:rPr lang="zh-CN" altLang="en-US" sz="2000" b="1">
                <a:solidFill>
                  <a:srgbClr val="0000FF"/>
                </a:solidFill>
                <a:ea typeface="黑体" panose="02010609060101010101" pitchFamily="49" charset="-122"/>
              </a:rPr>
              <a:t>的确认？</a:t>
            </a:r>
          </a:p>
        </p:txBody>
      </p:sp>
      <p:sp>
        <p:nvSpPr>
          <p:cNvPr id="14745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702A88B-250D-4063-81D6-7A5BDF8CAD3D}" type="slidenum">
              <a:rPr lang="zh-CN" altLang="en-US" smtClean="0"/>
              <a:pPr eaLnBrk="1" hangingPunct="1"/>
              <a:t>59</a:t>
            </a:fld>
            <a:endParaRPr lang="en-US" altLang="zh-CN" smtClean="0"/>
          </a:p>
        </p:txBody>
      </p:sp>
      <p:sp>
        <p:nvSpPr>
          <p:cNvPr id="14745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66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Karn </a:t>
            </a:r>
            <a:r>
              <a:rPr lang="zh-CN" altLang="en-US" smtClean="0">
                <a:ea typeface="黑体" panose="02010609060101010101" pitchFamily="49" charset="-122"/>
              </a:rPr>
              <a:t>算法 </a:t>
            </a:r>
          </a:p>
        </p:txBody>
      </p:sp>
      <p:sp>
        <p:nvSpPr>
          <p:cNvPr id="751619" name="Rectangle 3"/>
          <p:cNvSpPr>
            <a:spLocks noGrp="1" noChangeArrowheads="1"/>
          </p:cNvSpPr>
          <p:nvPr>
            <p:ph idx="1"/>
          </p:nvPr>
        </p:nvSpPr>
        <p:spPr>
          <a:xfrm>
            <a:off x="495300" y="1196975"/>
            <a:ext cx="9066213" cy="4933950"/>
          </a:xfrm>
        </p:spPr>
        <p:txBody>
          <a:bodyPr/>
          <a:lstStyle/>
          <a:p>
            <a:r>
              <a:rPr lang="zh-CN" altLang="en-US" smtClean="0">
                <a:solidFill>
                  <a:srgbClr val="0000FF"/>
                </a:solidFill>
                <a:ea typeface="黑体" panose="02010609060101010101" pitchFamily="49" charset="-122"/>
              </a:rPr>
              <a:t>在计算平均往返时间 </a:t>
            </a:r>
            <a:r>
              <a:rPr lang="en-US" altLang="zh-CN" smtClean="0">
                <a:solidFill>
                  <a:srgbClr val="0000FF"/>
                </a:solidFill>
                <a:ea typeface="黑体" panose="02010609060101010101" pitchFamily="49" charset="-122"/>
              </a:rPr>
              <a:t>RTT </a:t>
            </a:r>
            <a:r>
              <a:rPr lang="zh-CN" altLang="en-US" smtClean="0">
                <a:solidFill>
                  <a:srgbClr val="0000FF"/>
                </a:solidFill>
                <a:ea typeface="黑体" panose="02010609060101010101" pitchFamily="49" charset="-122"/>
              </a:rPr>
              <a:t>时，只要报文段重传了，就不采用其往返时间样本。</a:t>
            </a:r>
          </a:p>
          <a:p>
            <a:r>
              <a:rPr lang="zh-CN" altLang="en-US" smtClean="0">
                <a:ea typeface="黑体" panose="02010609060101010101" pitchFamily="49" charset="-122"/>
              </a:rPr>
              <a:t>这样得出的加权平均平均往返时间 </a:t>
            </a:r>
            <a:r>
              <a:rPr lang="en-US" altLang="zh-CN" smtClean="0">
                <a:ea typeface="黑体" panose="02010609060101010101" pitchFamily="49" charset="-122"/>
              </a:rPr>
              <a:t>RTT</a:t>
            </a:r>
            <a:r>
              <a:rPr lang="en-US" altLang="zh-CN" baseline="-25000" smtClean="0">
                <a:ea typeface="黑体" panose="02010609060101010101" pitchFamily="49" charset="-122"/>
              </a:rPr>
              <a:t>S</a:t>
            </a:r>
            <a:r>
              <a:rPr lang="en-US" altLang="zh-CN" smtClean="0">
                <a:ea typeface="黑体" panose="02010609060101010101" pitchFamily="49" charset="-122"/>
              </a:rPr>
              <a:t> </a:t>
            </a:r>
            <a:r>
              <a:rPr lang="zh-CN" altLang="en-US" smtClean="0">
                <a:ea typeface="黑体" panose="02010609060101010101" pitchFamily="49" charset="-122"/>
              </a:rPr>
              <a:t>和超时重传时间 </a:t>
            </a:r>
            <a:r>
              <a:rPr lang="en-US" altLang="zh-CN" smtClean="0">
                <a:ea typeface="黑体" panose="02010609060101010101" pitchFamily="49" charset="-122"/>
              </a:rPr>
              <a:t>RTO </a:t>
            </a:r>
            <a:r>
              <a:rPr lang="zh-CN" altLang="en-US" smtClean="0">
                <a:ea typeface="黑体" panose="02010609060101010101" pitchFamily="49" charset="-122"/>
              </a:rPr>
              <a:t>就较准确。</a:t>
            </a:r>
            <a:endParaRPr lang="en-US" altLang="zh-CN" smtClean="0">
              <a:ea typeface="黑体" panose="02010609060101010101" pitchFamily="49" charset="-122"/>
            </a:endParaRPr>
          </a:p>
          <a:p>
            <a:r>
              <a:rPr lang="zh-CN" altLang="zh-CN" smtClean="0">
                <a:ea typeface="黑体" panose="02010609060101010101" pitchFamily="49" charset="-122"/>
              </a:rPr>
              <a:t>但是，这又引起</a:t>
            </a:r>
            <a:r>
              <a:rPr lang="zh-CN" altLang="zh-CN" smtClean="0">
                <a:solidFill>
                  <a:srgbClr val="FF0000"/>
                </a:solidFill>
                <a:ea typeface="黑体" panose="02010609060101010101" pitchFamily="49" charset="-122"/>
              </a:rPr>
              <a:t>新的问题。</a:t>
            </a:r>
            <a:r>
              <a:rPr lang="zh-CN" altLang="en-US" smtClean="0">
                <a:ea typeface="黑体" panose="02010609060101010101" pitchFamily="49" charset="-122"/>
              </a:rPr>
              <a:t>当</a:t>
            </a:r>
            <a:r>
              <a:rPr lang="zh-CN" altLang="zh-CN" smtClean="0">
                <a:ea typeface="黑体" panose="02010609060101010101" pitchFamily="49" charset="-122"/>
              </a:rPr>
              <a:t>报文段的时延突然增大了很多</a:t>
            </a:r>
            <a:r>
              <a:rPr lang="zh-CN" altLang="en-US" smtClean="0">
                <a:ea typeface="黑体" panose="02010609060101010101" pitchFamily="49" charset="-122"/>
              </a:rPr>
              <a:t>时，</a:t>
            </a:r>
            <a:r>
              <a:rPr lang="zh-CN" altLang="zh-CN" smtClean="0">
                <a:ea typeface="黑体" panose="02010609060101010101" pitchFamily="49" charset="-122"/>
              </a:rPr>
              <a:t>在原来得出的重传时间内，不会收到确认报文段。于是就重传报文段。但根据</a:t>
            </a:r>
            <a:r>
              <a:rPr lang="en-US" altLang="zh-CN" smtClean="0">
                <a:ea typeface="黑体" panose="02010609060101010101" pitchFamily="49" charset="-122"/>
              </a:rPr>
              <a:t> Karn </a:t>
            </a:r>
            <a:r>
              <a:rPr lang="zh-CN" altLang="zh-CN" smtClean="0">
                <a:ea typeface="黑体" panose="02010609060101010101" pitchFamily="49" charset="-122"/>
              </a:rPr>
              <a:t>算法，不考虑重传的报文段的往返时间样本。这样，</a:t>
            </a:r>
            <a:r>
              <a:rPr lang="zh-CN" altLang="zh-CN" smtClean="0">
                <a:solidFill>
                  <a:srgbClr val="FF0000"/>
                </a:solidFill>
                <a:ea typeface="黑体" panose="02010609060101010101" pitchFamily="49" charset="-122"/>
              </a:rPr>
              <a:t>超时重传时间就无法更新。</a:t>
            </a:r>
          </a:p>
        </p:txBody>
      </p:sp>
      <p:sp>
        <p:nvSpPr>
          <p:cNvPr id="1476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582659-F247-4DF5-BDF7-B13D13C1E0DC}" type="slidenum">
              <a:rPr lang="zh-CN" altLang="en-US" smtClean="0"/>
              <a:pPr eaLnBrk="1" hangingPunct="1"/>
              <a:t>60</a:t>
            </a:fld>
            <a:endParaRPr lang="en-US" altLang="zh-CN" smtClean="0"/>
          </a:p>
        </p:txBody>
      </p:sp>
      <p:sp>
        <p:nvSpPr>
          <p:cNvPr id="1476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51619">
                                            <p:txEl>
                                              <p:pRg st="0" end="0"/>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0"/>
                                  </p:stCondLst>
                                  <p:childTnLst>
                                    <p:set>
                                      <p:cBhvr>
                                        <p:cTn id="9" dur="1" fill="hold">
                                          <p:stCondLst>
                                            <p:cond delay="0"/>
                                          </p:stCondLst>
                                        </p:cTn>
                                        <p:tgtEl>
                                          <p:spTgt spid="751619">
                                            <p:txEl>
                                              <p:pRg st="1" end="1"/>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516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1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865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修正的 </a:t>
            </a:r>
            <a:r>
              <a:rPr lang="en-US" altLang="zh-CN" smtClean="0">
                <a:ea typeface="黑体" panose="02010609060101010101" pitchFamily="49" charset="-122"/>
              </a:rPr>
              <a:t>Karn </a:t>
            </a:r>
            <a:r>
              <a:rPr lang="zh-CN" altLang="en-US" smtClean="0">
                <a:ea typeface="黑体" panose="02010609060101010101" pitchFamily="49" charset="-122"/>
              </a:rPr>
              <a:t>算法 </a:t>
            </a:r>
          </a:p>
        </p:txBody>
      </p:sp>
      <p:sp>
        <p:nvSpPr>
          <p:cNvPr id="1478658" name="Rectangle 4"/>
          <p:cNvSpPr>
            <a:spLocks noGrp="1" noChangeArrowheads="1"/>
          </p:cNvSpPr>
          <p:nvPr>
            <p:ph idx="1"/>
          </p:nvPr>
        </p:nvSpPr>
        <p:spPr>
          <a:xfrm>
            <a:off x="495300" y="1196975"/>
            <a:ext cx="9066213" cy="4933950"/>
          </a:xfrm>
        </p:spPr>
        <p:txBody>
          <a:bodyPr/>
          <a:lstStyle/>
          <a:p>
            <a:pPr algn="just"/>
            <a:r>
              <a:rPr lang="zh-CN" altLang="en-US" dirty="0" smtClean="0">
                <a:ea typeface="黑体" panose="02010609060101010101" pitchFamily="49" charset="-122"/>
              </a:rPr>
              <a:t>报文段每重传一次，就把 </a:t>
            </a:r>
            <a:r>
              <a:rPr lang="en-US" altLang="zh-CN" dirty="0" smtClean="0">
                <a:ea typeface="黑体" panose="02010609060101010101" pitchFamily="49" charset="-122"/>
              </a:rPr>
              <a:t>RTO </a:t>
            </a:r>
            <a:r>
              <a:rPr lang="zh-CN" altLang="en-US" dirty="0" smtClean="0">
                <a:ea typeface="黑体" panose="02010609060101010101" pitchFamily="49" charset="-122"/>
              </a:rPr>
              <a:t>增大一些：</a:t>
            </a:r>
          </a:p>
          <a:p>
            <a:endParaRPr lang="en-US" altLang="zh-CN" dirty="0" smtClean="0">
              <a:ea typeface="黑体" panose="02010609060101010101" pitchFamily="49" charset="-122"/>
            </a:endParaRPr>
          </a:p>
          <a:p>
            <a:endParaRPr lang="en-US" altLang="zh-CN" dirty="0" smtClean="0">
              <a:ea typeface="黑体" panose="02010609060101010101" pitchFamily="49" charset="-122"/>
            </a:endParaRPr>
          </a:p>
          <a:p>
            <a:r>
              <a:rPr lang="zh-CN" altLang="en-US" dirty="0" smtClean="0">
                <a:ea typeface="黑体" panose="02010609060101010101" pitchFamily="49" charset="-122"/>
              </a:rPr>
              <a:t>系数 </a:t>
            </a:r>
            <a:r>
              <a:rPr lang="zh-CN" altLang="en-US"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的典型值是 </a:t>
            </a:r>
            <a:r>
              <a:rPr lang="en-US" altLang="zh-CN" dirty="0" smtClean="0">
                <a:solidFill>
                  <a:srgbClr val="0000FF"/>
                </a:solidFill>
                <a:ea typeface="黑体" panose="02010609060101010101" pitchFamily="49" charset="-122"/>
              </a:rPr>
              <a:t>2</a:t>
            </a:r>
            <a:r>
              <a:rPr lang="en-US" altLang="zh-CN" dirty="0" smtClean="0">
                <a:ea typeface="黑体" panose="02010609060101010101" pitchFamily="49" charset="-122"/>
              </a:rPr>
              <a:t> </a:t>
            </a:r>
            <a:r>
              <a:rPr lang="zh-CN" altLang="en-US" dirty="0" smtClean="0">
                <a:ea typeface="黑体" panose="02010609060101010101" pitchFamily="49" charset="-122"/>
              </a:rPr>
              <a:t>。</a:t>
            </a:r>
          </a:p>
          <a:p>
            <a:r>
              <a:rPr lang="zh-CN" altLang="en-US" dirty="0" smtClean="0">
                <a:ea typeface="黑体" panose="02010609060101010101" pitchFamily="49" charset="-122"/>
              </a:rPr>
              <a:t>当不再发生报文段的重传时，才根据报文段的往返时延更新平均往返时延 </a:t>
            </a:r>
            <a:r>
              <a:rPr lang="en-US" altLang="zh-CN" dirty="0" smtClean="0">
                <a:ea typeface="黑体" panose="02010609060101010101" pitchFamily="49" charset="-122"/>
              </a:rPr>
              <a:t>RTT </a:t>
            </a:r>
            <a:r>
              <a:rPr lang="zh-CN" altLang="en-US" dirty="0" smtClean="0">
                <a:ea typeface="黑体" panose="02010609060101010101" pitchFamily="49" charset="-122"/>
              </a:rPr>
              <a:t>和超时重传时间 </a:t>
            </a:r>
            <a:r>
              <a:rPr lang="en-US" altLang="zh-CN" dirty="0" smtClean="0">
                <a:ea typeface="黑体" panose="02010609060101010101" pitchFamily="49" charset="-122"/>
              </a:rPr>
              <a:t>RTO </a:t>
            </a:r>
            <a:r>
              <a:rPr lang="zh-CN" altLang="en-US" dirty="0" smtClean="0">
                <a:ea typeface="黑体" panose="02010609060101010101" pitchFamily="49" charset="-122"/>
              </a:rPr>
              <a:t>的数值。</a:t>
            </a:r>
          </a:p>
          <a:p>
            <a:r>
              <a:rPr lang="zh-CN" altLang="en-US" dirty="0" smtClean="0">
                <a:ea typeface="黑体" panose="02010609060101010101" pitchFamily="49" charset="-122"/>
              </a:rPr>
              <a:t>实践证明，这种策略较为合理。 </a:t>
            </a:r>
          </a:p>
        </p:txBody>
      </p:sp>
      <p:sp>
        <p:nvSpPr>
          <p:cNvPr id="1478659" name="Rectangle 2"/>
          <p:cNvSpPr>
            <a:spLocks noChangeArrowheads="1"/>
          </p:cNvSpPr>
          <p:nvPr/>
        </p:nvSpPr>
        <p:spPr bwMode="auto">
          <a:xfrm>
            <a:off x="920750" y="1989138"/>
            <a:ext cx="8496300" cy="841375"/>
          </a:xfrm>
          <a:prstGeom prst="rect">
            <a:avLst/>
          </a:prstGeom>
          <a:solidFill>
            <a:srgbClr val="66FF66"/>
          </a:solidFill>
          <a:ln w="9525">
            <a:solidFill>
              <a:srgbClr val="000066"/>
            </a:solidFill>
            <a:miter lim="800000"/>
            <a:headEnd/>
            <a:tailEnd/>
          </a:ln>
          <a:effectLst>
            <a:outerShdw dist="35921" sx="999" sy="999" algn="ctr" rotWithShape="0">
              <a:schemeClr val="bg2"/>
            </a:outerShdw>
          </a:effectLst>
        </p:spPr>
        <p:txBody>
          <a:bodyPr wrap="none" anchor="ctr"/>
          <a:lstStyle/>
          <a:p>
            <a:pPr eaLnBrk="0" hangingPunct="0">
              <a:spcBef>
                <a:spcPct val="30000"/>
              </a:spcBef>
            </a:pPr>
            <a:r>
              <a:rPr lang="zh-CN" altLang="en-US" sz="3200" b="1" dirty="0">
                <a:solidFill>
                  <a:srgbClr val="000099"/>
                </a:solidFill>
                <a:ea typeface="黑体" panose="02010609060101010101" pitchFamily="49" charset="-122"/>
              </a:rPr>
              <a:t>新的 </a:t>
            </a:r>
            <a:r>
              <a:rPr lang="en-US" altLang="zh-CN" sz="3200" b="1" dirty="0">
                <a:solidFill>
                  <a:srgbClr val="000099"/>
                </a:solidFill>
                <a:ea typeface="黑体" panose="02010609060101010101" pitchFamily="49" charset="-122"/>
              </a:rPr>
              <a:t>RTO </a:t>
            </a:r>
            <a:r>
              <a:rPr lang="en-US" altLang="zh-CN" sz="3200" b="1" dirty="0">
                <a:solidFill>
                  <a:srgbClr val="000099"/>
                </a:solidFill>
                <a:ea typeface="黑体" panose="02010609060101010101" pitchFamily="49" charset="-122"/>
                <a:sym typeface="Symbol" panose="05050102010706020507" pitchFamily="18" charset="2"/>
              </a:rPr>
              <a:t></a:t>
            </a:r>
            <a:r>
              <a:rPr lang="en-US" altLang="zh-CN" sz="3200" b="1" dirty="0">
                <a:solidFill>
                  <a:srgbClr val="000099"/>
                </a:solidFill>
                <a:ea typeface="黑体" panose="02010609060101010101" pitchFamily="49" charset="-122"/>
              </a:rPr>
              <a:t> </a:t>
            </a:r>
            <a:r>
              <a:rPr lang="en-US" altLang="zh-CN" sz="3200" b="1" dirty="0">
                <a:solidFill>
                  <a:srgbClr val="000099"/>
                </a:solidFill>
                <a:ea typeface="黑体" panose="02010609060101010101" pitchFamily="49" charset="-122"/>
                <a:sym typeface="Symbol" panose="05050102010706020507" pitchFamily="18" charset="2"/>
              </a:rPr>
              <a:t></a:t>
            </a:r>
            <a:r>
              <a:rPr lang="en-US" altLang="zh-CN" sz="3200" b="1" dirty="0">
                <a:solidFill>
                  <a:srgbClr val="000099"/>
                </a:solidFill>
                <a:ea typeface="黑体" panose="02010609060101010101" pitchFamily="49" charset="-122"/>
              </a:rPr>
              <a:t> </a:t>
            </a:r>
            <a:r>
              <a:rPr lang="en-US" altLang="zh-CN" sz="3200" b="1" dirty="0">
                <a:solidFill>
                  <a:srgbClr val="000099"/>
                </a:solidFill>
                <a:ea typeface="黑体" panose="02010609060101010101" pitchFamily="49" charset="-122"/>
                <a:sym typeface="Symbol" panose="05050102010706020507" pitchFamily="18" charset="2"/>
              </a:rPr>
              <a:t></a:t>
            </a:r>
            <a:r>
              <a:rPr lang="en-US" altLang="zh-CN" sz="3200" b="1" dirty="0">
                <a:solidFill>
                  <a:srgbClr val="000099"/>
                </a:solidFill>
                <a:ea typeface="黑体" panose="02010609060101010101" pitchFamily="49" charset="-122"/>
              </a:rPr>
              <a:t> (</a:t>
            </a:r>
            <a:r>
              <a:rPr lang="zh-CN" altLang="en-US" sz="3200" b="1" dirty="0">
                <a:solidFill>
                  <a:srgbClr val="000099"/>
                </a:solidFill>
                <a:ea typeface="黑体" panose="02010609060101010101" pitchFamily="49" charset="-122"/>
              </a:rPr>
              <a:t>旧的 </a:t>
            </a:r>
            <a:r>
              <a:rPr lang="en-US" altLang="zh-CN" sz="3200" b="1" dirty="0">
                <a:solidFill>
                  <a:srgbClr val="000099"/>
                </a:solidFill>
                <a:ea typeface="黑体" panose="02010609060101010101" pitchFamily="49" charset="-122"/>
              </a:rPr>
              <a:t>RTO) </a:t>
            </a:r>
            <a:endParaRPr lang="zh-CN" altLang="en-US" sz="3200" b="1" dirty="0">
              <a:solidFill>
                <a:srgbClr val="000099"/>
              </a:solidFill>
              <a:ea typeface="黑体" panose="02010609060101010101" pitchFamily="49" charset="-122"/>
            </a:endParaRPr>
          </a:p>
        </p:txBody>
      </p:sp>
      <p:sp>
        <p:nvSpPr>
          <p:cNvPr id="147866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A92E2B-A7B8-48DF-8E2F-C836F5FC49A7}" type="slidenum">
              <a:rPr lang="zh-CN" altLang="en-US" smtClean="0"/>
              <a:pPr eaLnBrk="1" hangingPunct="1"/>
              <a:t>61</a:t>
            </a:fld>
            <a:endParaRPr lang="en-US" altLang="zh-CN" smtClean="0"/>
          </a:p>
        </p:txBody>
      </p:sp>
      <p:sp>
        <p:nvSpPr>
          <p:cNvPr id="147866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07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5.6.3  </a:t>
            </a:r>
            <a:r>
              <a:rPr lang="zh-CN" altLang="en-US" smtClean="0">
                <a:ea typeface="黑体" panose="02010609060101010101" pitchFamily="49" charset="-122"/>
              </a:rPr>
              <a:t>选择确认 </a:t>
            </a:r>
            <a:r>
              <a:rPr lang="en-US" altLang="zh-CN" smtClean="0">
                <a:ea typeface="黑体" panose="02010609060101010101" pitchFamily="49" charset="-122"/>
              </a:rPr>
              <a:t>SACK</a:t>
            </a:r>
          </a:p>
        </p:txBody>
      </p:sp>
      <p:sp>
        <p:nvSpPr>
          <p:cNvPr id="148070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问题：</a:t>
            </a:r>
            <a:r>
              <a:rPr lang="zh-CN" altLang="zh-CN" dirty="0" smtClean="0">
                <a:ea typeface="黑体" panose="02010609060101010101" pitchFamily="49" charset="-122"/>
              </a:rPr>
              <a:t>若收到的报文段</a:t>
            </a:r>
            <a:r>
              <a:rPr lang="zh-CN" altLang="zh-CN" dirty="0" smtClean="0">
                <a:solidFill>
                  <a:srgbClr val="0000FF"/>
                </a:solidFill>
                <a:ea typeface="黑体" panose="02010609060101010101" pitchFamily="49" charset="-122"/>
              </a:rPr>
              <a:t>无差错</a:t>
            </a:r>
            <a:r>
              <a:rPr lang="zh-CN" altLang="zh-CN" dirty="0" smtClean="0">
                <a:ea typeface="黑体" panose="02010609060101010101" pitchFamily="49" charset="-122"/>
              </a:rPr>
              <a:t>，只是</a:t>
            </a:r>
            <a:r>
              <a:rPr lang="zh-CN" altLang="zh-CN" dirty="0" smtClean="0">
                <a:solidFill>
                  <a:srgbClr val="0000FF"/>
                </a:solidFill>
                <a:ea typeface="黑体" panose="02010609060101010101" pitchFamily="49" charset="-122"/>
              </a:rPr>
              <a:t>未按序号</a:t>
            </a:r>
            <a:r>
              <a:rPr lang="zh-CN" altLang="zh-CN" dirty="0" smtClean="0">
                <a:ea typeface="黑体" panose="02010609060101010101" pitchFamily="49" charset="-122"/>
              </a:rPr>
              <a:t>，中间还缺少一些序号的数据，那么能否设法只传送缺少的数据而不重传已经正确到达接收方的数据？</a:t>
            </a:r>
            <a:endParaRPr lang="en-US" altLang="zh-CN" dirty="0" smtClean="0">
              <a:ea typeface="黑体" panose="02010609060101010101" pitchFamily="49" charset="-122"/>
            </a:endParaRPr>
          </a:p>
          <a:p>
            <a:r>
              <a:rPr lang="zh-CN" altLang="zh-CN" dirty="0" smtClean="0">
                <a:ea typeface="黑体" panose="02010609060101010101" pitchFamily="49" charset="-122"/>
              </a:rPr>
              <a:t>答案是可以的。</a:t>
            </a:r>
            <a:r>
              <a:rPr lang="zh-CN" altLang="zh-CN" dirty="0" smtClean="0">
                <a:solidFill>
                  <a:srgbClr val="FF0000"/>
                </a:solidFill>
                <a:ea typeface="黑体" panose="02010609060101010101" pitchFamily="49" charset="-122"/>
              </a:rPr>
              <a:t>选择确认</a:t>
            </a:r>
            <a:r>
              <a:rPr lang="en-US" altLang="zh-CN" dirty="0" smtClean="0">
                <a:solidFill>
                  <a:srgbClr val="FF0000"/>
                </a:solidFill>
                <a:ea typeface="黑体" panose="02010609060101010101" pitchFamily="49" charset="-122"/>
              </a:rPr>
              <a:t> SACK </a:t>
            </a:r>
            <a:r>
              <a:rPr lang="en-US" altLang="zh-CN" dirty="0" smtClean="0">
                <a:ea typeface="黑体" panose="02010609060101010101" pitchFamily="49" charset="-122"/>
              </a:rPr>
              <a:t/>
            </a:r>
            <a:br>
              <a:rPr lang="en-US" altLang="zh-CN" dirty="0" smtClean="0">
                <a:ea typeface="黑体" panose="02010609060101010101" pitchFamily="49" charset="-122"/>
              </a:rPr>
            </a:br>
            <a:r>
              <a:rPr lang="en-US" altLang="zh-CN" dirty="0" smtClean="0">
                <a:ea typeface="黑体" panose="02010609060101010101" pitchFamily="49" charset="-122"/>
              </a:rPr>
              <a:t> (Selective ACK) </a:t>
            </a:r>
            <a:r>
              <a:rPr lang="zh-CN" altLang="zh-CN" dirty="0" smtClean="0">
                <a:ea typeface="黑体" panose="02010609060101010101" pitchFamily="49" charset="-122"/>
              </a:rPr>
              <a:t>就是一种可行的处理方法。</a:t>
            </a:r>
          </a:p>
        </p:txBody>
      </p:sp>
      <p:sp>
        <p:nvSpPr>
          <p:cNvPr id="1480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0F68A3A-5305-41A6-9C58-AAC98DA0449C}" type="slidenum">
              <a:rPr lang="zh-CN" altLang="en-US" smtClean="0"/>
              <a:pPr eaLnBrk="1" hangingPunct="1"/>
              <a:t>62</a:t>
            </a:fld>
            <a:endParaRPr lang="en-US" altLang="zh-CN" smtClean="0"/>
          </a:p>
        </p:txBody>
      </p:sp>
      <p:sp>
        <p:nvSpPr>
          <p:cNvPr id="1480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1729" name="Rectangle 4"/>
          <p:cNvSpPr>
            <a:spLocks noGrp="1" noChangeArrowheads="1"/>
          </p:cNvSpPr>
          <p:nvPr>
            <p:ph type="title"/>
          </p:nvPr>
        </p:nvSpPr>
        <p:spPr/>
        <p:txBody>
          <a:bodyPr/>
          <a:lstStyle/>
          <a:p>
            <a:pPr algn="ctr"/>
            <a:r>
              <a:rPr lang="zh-CN" altLang="en-US" smtClean="0">
                <a:ea typeface="黑体" panose="02010609060101010101" pitchFamily="49" charset="-122"/>
              </a:rPr>
              <a:t>接收到的字节流序号不连续 </a:t>
            </a:r>
          </a:p>
        </p:txBody>
      </p:sp>
      <p:sp>
        <p:nvSpPr>
          <p:cNvPr id="1481730" name="Rectangle 6"/>
          <p:cNvSpPr>
            <a:spLocks noChangeArrowheads="1"/>
          </p:cNvSpPr>
          <p:nvPr/>
        </p:nvSpPr>
        <p:spPr bwMode="auto">
          <a:xfrm>
            <a:off x="325438" y="2759075"/>
            <a:ext cx="2262187" cy="43180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1731" name="Rectangle 7"/>
          <p:cNvSpPr>
            <a:spLocks noChangeArrowheads="1"/>
          </p:cNvSpPr>
          <p:nvPr/>
        </p:nvSpPr>
        <p:spPr bwMode="auto">
          <a:xfrm>
            <a:off x="3524250" y="2759075"/>
            <a:ext cx="2106613" cy="43180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1732" name="Rectangle 8"/>
          <p:cNvSpPr>
            <a:spLocks noChangeArrowheads="1"/>
          </p:cNvSpPr>
          <p:nvPr/>
        </p:nvSpPr>
        <p:spPr bwMode="auto">
          <a:xfrm>
            <a:off x="6486525" y="2759075"/>
            <a:ext cx="2965450" cy="431800"/>
          </a:xfrm>
          <a:prstGeom prst="rect">
            <a:avLst/>
          </a:prstGeom>
          <a:solidFill>
            <a:schemeClr val="bg1"/>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481733" name="Text Box 15"/>
          <p:cNvSpPr txBox="1">
            <a:spLocks noChangeArrowheads="1"/>
          </p:cNvSpPr>
          <p:nvPr/>
        </p:nvSpPr>
        <p:spPr bwMode="auto">
          <a:xfrm>
            <a:off x="365125" y="2806700"/>
            <a:ext cx="94122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1600" b="1">
                <a:solidFill>
                  <a:srgbClr val="0000FF"/>
                </a:solidFill>
                <a:ea typeface="黑体" panose="02010609060101010101" pitchFamily="49" charset="-122"/>
              </a:rPr>
              <a:t>1                           1000                 1501                    3000                3501                                  4500</a:t>
            </a:r>
          </a:p>
        </p:txBody>
      </p:sp>
      <p:sp>
        <p:nvSpPr>
          <p:cNvPr id="1481734" name="Text Box 19"/>
          <p:cNvSpPr txBox="1">
            <a:spLocks noChangeArrowheads="1"/>
          </p:cNvSpPr>
          <p:nvPr/>
        </p:nvSpPr>
        <p:spPr bwMode="auto">
          <a:xfrm>
            <a:off x="1423988" y="3478213"/>
            <a:ext cx="1658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FF0000"/>
                </a:solidFill>
                <a:ea typeface="黑体" panose="02010609060101010101" pitchFamily="49" charset="-122"/>
              </a:rPr>
              <a:t>确认号 </a:t>
            </a:r>
            <a:r>
              <a:rPr lang="en-US" altLang="zh-CN" b="1">
                <a:solidFill>
                  <a:srgbClr val="FF0000"/>
                </a:solidFill>
                <a:ea typeface="黑体" panose="02010609060101010101" pitchFamily="49" charset="-122"/>
              </a:rPr>
              <a:t>= 1001</a:t>
            </a:r>
          </a:p>
        </p:txBody>
      </p:sp>
      <p:sp>
        <p:nvSpPr>
          <p:cNvPr id="1481735" name="Text Box 26"/>
          <p:cNvSpPr txBox="1">
            <a:spLocks noChangeArrowheads="1"/>
          </p:cNvSpPr>
          <p:nvPr/>
        </p:nvSpPr>
        <p:spPr bwMode="auto">
          <a:xfrm>
            <a:off x="3144838" y="3478213"/>
            <a:ext cx="11858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L</a:t>
            </a:r>
            <a:r>
              <a:rPr lang="en-US" altLang="zh-CN"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 1501</a:t>
            </a:r>
          </a:p>
        </p:txBody>
      </p:sp>
      <p:sp>
        <p:nvSpPr>
          <p:cNvPr id="1481736" name="Text Box 27"/>
          <p:cNvSpPr txBox="1">
            <a:spLocks noChangeArrowheads="1"/>
          </p:cNvSpPr>
          <p:nvPr/>
        </p:nvSpPr>
        <p:spPr bwMode="auto">
          <a:xfrm>
            <a:off x="6107113" y="3478213"/>
            <a:ext cx="1187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L</a:t>
            </a:r>
            <a:r>
              <a:rPr lang="en-US" altLang="zh-CN" b="1" baseline="-25000">
                <a:solidFill>
                  <a:srgbClr val="000099"/>
                </a:solidFill>
                <a:ea typeface="黑体" panose="02010609060101010101" pitchFamily="49" charset="-122"/>
              </a:rPr>
              <a:t>2</a:t>
            </a:r>
            <a:r>
              <a:rPr lang="en-US" altLang="zh-CN" b="1">
                <a:solidFill>
                  <a:srgbClr val="000099"/>
                </a:solidFill>
                <a:ea typeface="黑体" panose="02010609060101010101" pitchFamily="49" charset="-122"/>
              </a:rPr>
              <a:t> = 3501</a:t>
            </a:r>
          </a:p>
        </p:txBody>
      </p:sp>
      <p:sp>
        <p:nvSpPr>
          <p:cNvPr id="1481737" name="Text Box 28"/>
          <p:cNvSpPr txBox="1">
            <a:spLocks noChangeArrowheads="1"/>
          </p:cNvSpPr>
          <p:nvPr/>
        </p:nvSpPr>
        <p:spPr bwMode="auto">
          <a:xfrm>
            <a:off x="4953000" y="3478213"/>
            <a:ext cx="1212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 3001</a:t>
            </a:r>
          </a:p>
        </p:txBody>
      </p:sp>
      <p:sp>
        <p:nvSpPr>
          <p:cNvPr id="1481738" name="Text Box 29"/>
          <p:cNvSpPr txBox="1">
            <a:spLocks noChangeArrowheads="1"/>
          </p:cNvSpPr>
          <p:nvPr/>
        </p:nvSpPr>
        <p:spPr bwMode="auto">
          <a:xfrm>
            <a:off x="8686800" y="3455988"/>
            <a:ext cx="1212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R</a:t>
            </a:r>
            <a:r>
              <a:rPr lang="en-US" altLang="zh-CN" b="1" baseline="-25000">
                <a:solidFill>
                  <a:srgbClr val="000099"/>
                </a:solidFill>
                <a:ea typeface="黑体" panose="02010609060101010101" pitchFamily="49" charset="-122"/>
              </a:rPr>
              <a:t>1</a:t>
            </a:r>
            <a:r>
              <a:rPr lang="en-US" altLang="zh-CN" b="1">
                <a:solidFill>
                  <a:srgbClr val="000099"/>
                </a:solidFill>
                <a:ea typeface="黑体" panose="02010609060101010101" pitchFamily="49" charset="-122"/>
              </a:rPr>
              <a:t> = 4501</a:t>
            </a:r>
          </a:p>
        </p:txBody>
      </p:sp>
      <p:sp>
        <p:nvSpPr>
          <p:cNvPr id="1481739" name="Line 5"/>
          <p:cNvSpPr>
            <a:spLocks noChangeShapeType="1"/>
          </p:cNvSpPr>
          <p:nvPr/>
        </p:nvSpPr>
        <p:spPr bwMode="auto">
          <a:xfrm>
            <a:off x="325438" y="2566988"/>
            <a:ext cx="226218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40" name="Text Box 9"/>
          <p:cNvSpPr txBox="1">
            <a:spLocks noChangeArrowheads="1"/>
          </p:cNvSpPr>
          <p:nvPr/>
        </p:nvSpPr>
        <p:spPr bwMode="auto">
          <a:xfrm>
            <a:off x="2722563" y="2497138"/>
            <a:ext cx="6461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b="1">
                <a:solidFill>
                  <a:srgbClr val="000099"/>
                </a:solidFill>
                <a:ea typeface="黑体" panose="02010609060101010101" pitchFamily="49" charset="-122"/>
              </a:rPr>
              <a:t>…</a:t>
            </a:r>
          </a:p>
        </p:txBody>
      </p:sp>
      <p:sp>
        <p:nvSpPr>
          <p:cNvPr id="1481741" name="Text Box 10"/>
          <p:cNvSpPr txBox="1">
            <a:spLocks noChangeArrowheads="1"/>
          </p:cNvSpPr>
          <p:nvPr/>
        </p:nvSpPr>
        <p:spPr bwMode="auto">
          <a:xfrm>
            <a:off x="5745163" y="2401888"/>
            <a:ext cx="7493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400" b="1">
                <a:solidFill>
                  <a:srgbClr val="000099"/>
                </a:solidFill>
                <a:ea typeface="黑体" panose="02010609060101010101" pitchFamily="49" charset="-122"/>
              </a:rPr>
              <a:t>…</a:t>
            </a:r>
          </a:p>
        </p:txBody>
      </p:sp>
      <p:sp>
        <p:nvSpPr>
          <p:cNvPr id="1481742" name="Line 11"/>
          <p:cNvSpPr>
            <a:spLocks noChangeShapeType="1"/>
          </p:cNvSpPr>
          <p:nvPr/>
        </p:nvSpPr>
        <p:spPr bwMode="auto">
          <a:xfrm flipH="1">
            <a:off x="344488" y="2470150"/>
            <a:ext cx="0" cy="265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43" name="Text Box 12"/>
          <p:cNvSpPr txBox="1">
            <a:spLocks noChangeArrowheads="1"/>
          </p:cNvSpPr>
          <p:nvPr/>
        </p:nvSpPr>
        <p:spPr bwMode="auto">
          <a:xfrm>
            <a:off x="715963" y="2371725"/>
            <a:ext cx="1425575" cy="338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连续的字节流</a:t>
            </a:r>
          </a:p>
        </p:txBody>
      </p:sp>
      <p:sp>
        <p:nvSpPr>
          <p:cNvPr id="1481744" name="Line 14"/>
          <p:cNvSpPr>
            <a:spLocks noChangeShapeType="1"/>
          </p:cNvSpPr>
          <p:nvPr/>
        </p:nvSpPr>
        <p:spPr bwMode="auto">
          <a:xfrm flipV="1">
            <a:off x="2638425" y="3046413"/>
            <a:ext cx="0" cy="43180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45" name="Text Box 16"/>
          <p:cNvSpPr txBox="1">
            <a:spLocks noChangeArrowheads="1"/>
          </p:cNvSpPr>
          <p:nvPr/>
        </p:nvSpPr>
        <p:spPr bwMode="auto">
          <a:xfrm>
            <a:off x="1200150" y="2660650"/>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a:t>
            </a:r>
          </a:p>
        </p:txBody>
      </p:sp>
      <p:sp>
        <p:nvSpPr>
          <p:cNvPr id="1481746" name="Text Box 17"/>
          <p:cNvSpPr txBox="1">
            <a:spLocks noChangeArrowheads="1"/>
          </p:cNvSpPr>
          <p:nvPr/>
        </p:nvSpPr>
        <p:spPr bwMode="auto">
          <a:xfrm>
            <a:off x="4319588" y="2660650"/>
            <a:ext cx="493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a:t>
            </a:r>
          </a:p>
        </p:txBody>
      </p:sp>
      <p:sp>
        <p:nvSpPr>
          <p:cNvPr id="1481747" name="Text Box 18"/>
          <p:cNvSpPr txBox="1">
            <a:spLocks noChangeArrowheads="1"/>
          </p:cNvSpPr>
          <p:nvPr/>
        </p:nvSpPr>
        <p:spPr bwMode="auto">
          <a:xfrm>
            <a:off x="7829550" y="2660650"/>
            <a:ext cx="493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99"/>
                </a:solidFill>
                <a:ea typeface="黑体" panose="02010609060101010101" pitchFamily="49" charset="-122"/>
              </a:rPr>
              <a:t>…</a:t>
            </a:r>
          </a:p>
        </p:txBody>
      </p:sp>
      <p:sp>
        <p:nvSpPr>
          <p:cNvPr id="1481748" name="Line 20"/>
          <p:cNvSpPr>
            <a:spLocks noChangeShapeType="1"/>
          </p:cNvSpPr>
          <p:nvPr/>
        </p:nvSpPr>
        <p:spPr bwMode="auto">
          <a:xfrm flipV="1">
            <a:off x="3757613" y="3046413"/>
            <a:ext cx="0" cy="43180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49" name="Line 21"/>
          <p:cNvSpPr>
            <a:spLocks noChangeShapeType="1"/>
          </p:cNvSpPr>
          <p:nvPr/>
        </p:nvSpPr>
        <p:spPr bwMode="auto">
          <a:xfrm flipV="1">
            <a:off x="5708650" y="3046413"/>
            <a:ext cx="0" cy="43180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50" name="Line 22"/>
          <p:cNvSpPr>
            <a:spLocks noChangeShapeType="1"/>
          </p:cNvSpPr>
          <p:nvPr/>
        </p:nvSpPr>
        <p:spPr bwMode="auto">
          <a:xfrm flipV="1">
            <a:off x="6723063" y="3046413"/>
            <a:ext cx="0" cy="43180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51" name="Line 23"/>
          <p:cNvSpPr>
            <a:spLocks noChangeShapeType="1"/>
          </p:cNvSpPr>
          <p:nvPr/>
        </p:nvSpPr>
        <p:spPr bwMode="auto">
          <a:xfrm flipV="1">
            <a:off x="9529763" y="3046413"/>
            <a:ext cx="0" cy="431800"/>
          </a:xfrm>
          <a:prstGeom prst="line">
            <a:avLst/>
          </a:prstGeom>
          <a:noFill/>
          <a:ln w="28575">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52" name="Text Box 24"/>
          <p:cNvSpPr txBox="1">
            <a:spLocks noChangeArrowheads="1"/>
          </p:cNvSpPr>
          <p:nvPr/>
        </p:nvSpPr>
        <p:spPr bwMode="auto">
          <a:xfrm>
            <a:off x="3835400" y="2359025"/>
            <a:ext cx="1425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第一个字节块</a:t>
            </a:r>
          </a:p>
        </p:txBody>
      </p:sp>
      <p:sp>
        <p:nvSpPr>
          <p:cNvPr id="1481753" name="Text Box 25"/>
          <p:cNvSpPr txBox="1">
            <a:spLocks noChangeArrowheads="1"/>
          </p:cNvSpPr>
          <p:nvPr/>
        </p:nvSpPr>
        <p:spPr bwMode="auto">
          <a:xfrm>
            <a:off x="7307263" y="2349500"/>
            <a:ext cx="1425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solidFill>
                  <a:srgbClr val="000099"/>
                </a:solidFill>
                <a:ea typeface="黑体" panose="02010609060101010101" pitchFamily="49" charset="-122"/>
              </a:rPr>
              <a:t>第二个字节块</a:t>
            </a:r>
          </a:p>
        </p:txBody>
      </p:sp>
      <p:sp>
        <p:nvSpPr>
          <p:cNvPr id="760862" name="Text Box 30"/>
          <p:cNvSpPr txBox="1">
            <a:spLocks noChangeArrowheads="1"/>
          </p:cNvSpPr>
          <p:nvPr/>
        </p:nvSpPr>
        <p:spPr bwMode="auto">
          <a:xfrm>
            <a:off x="488950" y="4098925"/>
            <a:ext cx="9144000" cy="1938338"/>
          </a:xfrm>
          <a:prstGeom prst="rect">
            <a:avLst/>
          </a:prstGeom>
          <a:solidFill>
            <a:srgbClr val="FFFF66"/>
          </a:solidFill>
          <a:ln w="9525">
            <a:solidFill>
              <a:schemeClr val="folHlink"/>
            </a:solidFill>
            <a:miter lim="800000"/>
          </a:ln>
          <a:effectLst/>
        </p:spPr>
        <p:txBody>
          <a:bodyPr>
            <a:spAutoFit/>
          </a:bodyPr>
          <a:lstStyle/>
          <a:p>
            <a:pPr eaLnBrk="0" hangingPunct="0"/>
            <a:r>
              <a:rPr lang="zh-CN" altLang="en-US" sz="2400" b="1">
                <a:solidFill>
                  <a:srgbClr val="000099"/>
                </a:solidFill>
                <a:ea typeface="黑体" panose="02010609060101010101" pitchFamily="49" charset="-122"/>
              </a:rPr>
              <a:t>和前后字节不连续的每一个字节块都有</a:t>
            </a:r>
            <a:r>
              <a:rPr lang="zh-CN" altLang="en-US" sz="2400" b="1">
                <a:solidFill>
                  <a:srgbClr val="FF0000"/>
                </a:solidFill>
                <a:ea typeface="黑体" panose="02010609060101010101" pitchFamily="49" charset="-122"/>
              </a:rPr>
              <a:t>两个边界：边界和右边界。</a:t>
            </a:r>
          </a:p>
          <a:p>
            <a:pPr eaLnBrk="0" hangingPunct="0">
              <a:buSzPct val="80000"/>
              <a:buFont typeface="Wingdings" panose="05000000000000000000" pitchFamily="2" charset="2"/>
              <a:buChar char="l"/>
            </a:pPr>
            <a:r>
              <a:rPr lang="zh-CN" altLang="en-US" sz="2400" b="1">
                <a:solidFill>
                  <a:srgbClr val="000099"/>
                </a:solidFill>
                <a:ea typeface="黑体" panose="02010609060101010101" pitchFamily="49" charset="-122"/>
              </a:rPr>
              <a:t>第一个字节块的左边界 </a:t>
            </a:r>
            <a:r>
              <a:rPr lang="en-US" altLang="zh-CN" sz="2400" b="1">
                <a:solidFill>
                  <a:srgbClr val="000099"/>
                </a:solidFill>
                <a:ea typeface="黑体" panose="02010609060101010101" pitchFamily="49" charset="-122"/>
              </a:rPr>
              <a:t>L</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 1501</a:t>
            </a:r>
            <a:r>
              <a:rPr lang="zh-CN" altLang="en-US" sz="2400" b="1">
                <a:solidFill>
                  <a:srgbClr val="000099"/>
                </a:solidFill>
                <a:ea typeface="黑体" panose="02010609060101010101" pitchFamily="49" charset="-122"/>
              </a:rPr>
              <a:t>，但右边界 </a:t>
            </a:r>
            <a:r>
              <a:rPr lang="en-US" altLang="zh-CN" sz="2400" b="1">
                <a:solidFill>
                  <a:srgbClr val="000099"/>
                </a:solidFill>
                <a:ea typeface="黑体" panose="02010609060101010101" pitchFamily="49" charset="-122"/>
              </a:rPr>
              <a:t>R</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 3001</a:t>
            </a:r>
            <a:r>
              <a:rPr lang="zh-CN" altLang="en-US" sz="2400" b="1">
                <a:solidFill>
                  <a:srgbClr val="000099"/>
                </a:solidFill>
                <a:ea typeface="黑体" panose="02010609060101010101" pitchFamily="49" charset="-122"/>
              </a:rPr>
              <a:t>。左边界指出字节块的第一个字节的序号，但右边界减 </a:t>
            </a:r>
            <a:r>
              <a:rPr lang="en-US" altLang="zh-CN" sz="2400" b="1">
                <a:solidFill>
                  <a:srgbClr val="000099"/>
                </a:solidFill>
                <a:ea typeface="黑体" panose="02010609060101010101" pitchFamily="49" charset="-122"/>
              </a:rPr>
              <a:t>1 </a:t>
            </a:r>
            <a:r>
              <a:rPr lang="zh-CN" altLang="en-US" sz="2400" b="1">
                <a:solidFill>
                  <a:srgbClr val="000099"/>
                </a:solidFill>
                <a:ea typeface="黑体" panose="02010609060101010101" pitchFamily="49" charset="-122"/>
              </a:rPr>
              <a:t>才是字节块中的最后一个序号。</a:t>
            </a:r>
            <a:endParaRPr lang="en-US" altLang="zh-CN" sz="2400" b="1">
              <a:solidFill>
                <a:srgbClr val="000099"/>
              </a:solidFill>
              <a:ea typeface="黑体" panose="02010609060101010101" pitchFamily="49" charset="-122"/>
            </a:endParaRPr>
          </a:p>
          <a:p>
            <a:pPr eaLnBrk="0" hangingPunct="0">
              <a:buSzPct val="80000"/>
              <a:buFont typeface="Wingdings" panose="05000000000000000000" pitchFamily="2" charset="2"/>
              <a:buChar char="l"/>
            </a:pPr>
            <a:r>
              <a:rPr lang="zh-CN" altLang="en-US" sz="2400" b="1">
                <a:solidFill>
                  <a:srgbClr val="000099"/>
                </a:solidFill>
                <a:ea typeface="黑体" panose="02010609060101010101" pitchFamily="49" charset="-122"/>
              </a:rPr>
              <a:t>第二个字节块的左边界 </a:t>
            </a:r>
            <a:r>
              <a:rPr lang="en-US" altLang="zh-CN" sz="2400" b="1">
                <a:solidFill>
                  <a:srgbClr val="000099"/>
                </a:solidFill>
                <a:ea typeface="黑体" panose="02010609060101010101" pitchFamily="49" charset="-122"/>
              </a:rPr>
              <a:t>L</a:t>
            </a:r>
            <a:r>
              <a:rPr lang="en-US" altLang="zh-CN" sz="2400" b="1" baseline="-25000">
                <a:solidFill>
                  <a:srgbClr val="000099"/>
                </a:solidFill>
                <a:ea typeface="黑体" panose="02010609060101010101" pitchFamily="49" charset="-122"/>
              </a:rPr>
              <a:t>2</a:t>
            </a:r>
            <a:r>
              <a:rPr lang="en-US" altLang="zh-CN" sz="2400" b="1">
                <a:solidFill>
                  <a:srgbClr val="000099"/>
                </a:solidFill>
                <a:ea typeface="黑体" panose="02010609060101010101" pitchFamily="49" charset="-122"/>
              </a:rPr>
              <a:t> = 3501</a:t>
            </a:r>
            <a:r>
              <a:rPr lang="zh-CN" altLang="en-US" sz="2400" b="1">
                <a:solidFill>
                  <a:srgbClr val="000099"/>
                </a:solidFill>
                <a:ea typeface="黑体" panose="02010609060101010101" pitchFamily="49" charset="-122"/>
              </a:rPr>
              <a:t>，而右边界 </a:t>
            </a:r>
            <a:r>
              <a:rPr lang="en-US" altLang="zh-CN" sz="2400" b="1">
                <a:solidFill>
                  <a:srgbClr val="000099"/>
                </a:solidFill>
                <a:ea typeface="黑体" panose="02010609060101010101" pitchFamily="49" charset="-122"/>
              </a:rPr>
              <a:t>R</a:t>
            </a:r>
            <a:r>
              <a:rPr lang="en-US" altLang="zh-CN" sz="2400" b="1" baseline="-25000">
                <a:solidFill>
                  <a:srgbClr val="000099"/>
                </a:solidFill>
                <a:ea typeface="黑体" panose="02010609060101010101" pitchFamily="49" charset="-122"/>
              </a:rPr>
              <a:t>2</a:t>
            </a:r>
            <a:r>
              <a:rPr lang="en-US" altLang="zh-CN" sz="2400" b="1">
                <a:solidFill>
                  <a:srgbClr val="000099"/>
                </a:solidFill>
                <a:ea typeface="黑体" panose="02010609060101010101" pitchFamily="49" charset="-122"/>
              </a:rPr>
              <a:t> = 4501</a:t>
            </a:r>
            <a:r>
              <a:rPr lang="zh-CN" altLang="en-US" sz="2400" b="1">
                <a:solidFill>
                  <a:srgbClr val="000099"/>
                </a:solidFill>
                <a:ea typeface="黑体" panose="02010609060101010101" pitchFamily="49" charset="-122"/>
              </a:rPr>
              <a:t>。 </a:t>
            </a:r>
          </a:p>
        </p:txBody>
      </p:sp>
      <p:sp>
        <p:nvSpPr>
          <p:cNvPr id="1481755" name="Line 11"/>
          <p:cNvSpPr>
            <a:spLocks noChangeShapeType="1"/>
          </p:cNvSpPr>
          <p:nvPr/>
        </p:nvSpPr>
        <p:spPr bwMode="auto">
          <a:xfrm flipH="1">
            <a:off x="2587625" y="2470150"/>
            <a:ext cx="0" cy="265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481756" name="矩形 1"/>
          <p:cNvSpPr>
            <a:spLocks noChangeArrowheads="1"/>
          </p:cNvSpPr>
          <p:nvPr/>
        </p:nvSpPr>
        <p:spPr bwMode="auto">
          <a:xfrm>
            <a:off x="706438" y="1196975"/>
            <a:ext cx="8745537" cy="954088"/>
          </a:xfrm>
          <a:prstGeom prst="rect">
            <a:avLst/>
          </a:prstGeom>
          <a:solidFill>
            <a:srgbClr val="66FF66"/>
          </a:solidFill>
          <a:ln w="9525">
            <a:solidFill>
              <a:srgbClr val="003399"/>
            </a:solidFill>
            <a:round/>
            <a:headEnd/>
            <a:tailEnd/>
          </a:ln>
        </p:spPr>
        <p:txBody>
          <a:bodyPr>
            <a:spAutoFit/>
          </a:bodyPr>
          <a:lstStyle/>
          <a:p>
            <a:pPr eaLnBrk="0" hangingPunct="0"/>
            <a:r>
              <a:rPr lang="en-US" altLang="zh-CN" sz="2800" b="1" dirty="0">
                <a:solidFill>
                  <a:srgbClr val="000099"/>
                </a:solidFill>
                <a:ea typeface="黑体" panose="02010609060101010101" pitchFamily="49" charset="-122"/>
              </a:rPr>
              <a:t>TCP </a:t>
            </a:r>
            <a:r>
              <a:rPr lang="zh-CN" altLang="zh-CN" sz="2800" b="1" dirty="0">
                <a:solidFill>
                  <a:srgbClr val="000099"/>
                </a:solidFill>
                <a:ea typeface="黑体" panose="02010609060101010101" pitchFamily="49" charset="-122"/>
              </a:rPr>
              <a:t>的接收方在接收对方发送过来的数据字节流的序号不连续，结果就形成了一些</a:t>
            </a:r>
            <a:r>
              <a:rPr lang="zh-CN" altLang="zh-CN" sz="2800" b="1" dirty="0">
                <a:solidFill>
                  <a:srgbClr val="FF0000"/>
                </a:solidFill>
                <a:ea typeface="黑体" panose="02010609060101010101" pitchFamily="49" charset="-122"/>
              </a:rPr>
              <a:t>不连续的字节块</a:t>
            </a:r>
            <a:r>
              <a:rPr lang="zh-CN" altLang="en-US" sz="2800" b="1" dirty="0">
                <a:solidFill>
                  <a:srgbClr val="000099"/>
                </a:solidFill>
                <a:ea typeface="黑体" panose="02010609060101010101" pitchFamily="49" charset="-122"/>
              </a:rPr>
              <a:t>。</a:t>
            </a:r>
          </a:p>
        </p:txBody>
      </p:sp>
      <p:sp>
        <p:nvSpPr>
          <p:cNvPr id="148175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870B9A-6A08-4990-9B5B-EEB66F5A9685}" type="slidenum">
              <a:rPr lang="zh-CN" altLang="en-US" smtClean="0"/>
              <a:pPr eaLnBrk="1" hangingPunct="1"/>
              <a:t>63</a:t>
            </a:fld>
            <a:endParaRPr lang="en-US" altLang="zh-CN" smtClean="0"/>
          </a:p>
        </p:txBody>
      </p:sp>
      <p:sp>
        <p:nvSpPr>
          <p:cNvPr id="148175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27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5.6.3  </a:t>
            </a:r>
            <a:r>
              <a:rPr lang="zh-CN" altLang="en-US" smtClean="0">
                <a:ea typeface="黑体" panose="02010609060101010101" pitchFamily="49" charset="-122"/>
              </a:rPr>
              <a:t>选择确认 </a:t>
            </a:r>
            <a:r>
              <a:rPr lang="en-US" altLang="zh-CN" smtClean="0">
                <a:ea typeface="黑体" panose="02010609060101010101" pitchFamily="49" charset="-122"/>
              </a:rPr>
              <a:t>SACK</a:t>
            </a:r>
          </a:p>
        </p:txBody>
      </p:sp>
      <p:sp>
        <p:nvSpPr>
          <p:cNvPr id="1482754"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接收方收到了和前面的字节流不连续的两个字节块。</a:t>
            </a:r>
          </a:p>
          <a:p>
            <a:r>
              <a:rPr lang="zh-CN" altLang="en-US" smtClean="0">
                <a:ea typeface="黑体" panose="02010609060101010101" pitchFamily="49" charset="-122"/>
              </a:rPr>
              <a:t>如果这些字节的序号都在接收窗口之内，那么接收方就</a:t>
            </a:r>
            <a:r>
              <a:rPr lang="zh-CN" altLang="en-US" smtClean="0">
                <a:solidFill>
                  <a:srgbClr val="FF0000"/>
                </a:solidFill>
                <a:ea typeface="黑体" panose="02010609060101010101" pitchFamily="49" charset="-122"/>
              </a:rPr>
              <a:t>先收下</a:t>
            </a:r>
            <a:r>
              <a:rPr lang="zh-CN" altLang="en-US" smtClean="0">
                <a:ea typeface="黑体" panose="02010609060101010101" pitchFamily="49" charset="-122"/>
              </a:rPr>
              <a:t>这些数据，</a:t>
            </a:r>
            <a:r>
              <a:rPr lang="zh-CN" altLang="en-US" smtClean="0">
                <a:solidFill>
                  <a:srgbClr val="0000FF"/>
                </a:solidFill>
                <a:ea typeface="黑体" panose="02010609060101010101" pitchFamily="49" charset="-122"/>
              </a:rPr>
              <a:t>但要把这些信息准确地告诉发送方，使发送方不要再重复发送这些已收到的数据。</a:t>
            </a:r>
          </a:p>
        </p:txBody>
      </p:sp>
      <p:sp>
        <p:nvSpPr>
          <p:cNvPr id="14827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532E18-3F55-458E-8863-DCB137A6714E}" type="slidenum">
              <a:rPr lang="zh-CN" altLang="en-US" smtClean="0"/>
              <a:pPr eaLnBrk="1" hangingPunct="1"/>
              <a:t>64</a:t>
            </a:fld>
            <a:endParaRPr lang="en-US" altLang="zh-CN" smtClean="0"/>
          </a:p>
        </p:txBody>
      </p:sp>
      <p:sp>
        <p:nvSpPr>
          <p:cNvPr id="14827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3777"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RFC 2018 </a:t>
            </a:r>
            <a:r>
              <a:rPr lang="zh-CN" altLang="en-US" dirty="0" smtClean="0">
                <a:ea typeface="黑体" panose="02010609060101010101" pitchFamily="49" charset="-122"/>
              </a:rPr>
              <a:t>的规定</a:t>
            </a:r>
          </a:p>
        </p:txBody>
      </p:sp>
      <p:sp>
        <p:nvSpPr>
          <p:cNvPr id="1483778"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如果要使用</a:t>
            </a:r>
            <a:r>
              <a:rPr lang="zh-CN" altLang="en-US" sz="2800" dirty="0" smtClean="0">
                <a:solidFill>
                  <a:srgbClr val="0000FF"/>
                </a:solidFill>
                <a:ea typeface="黑体" panose="02010609060101010101" pitchFamily="49" charset="-122"/>
              </a:rPr>
              <a:t>选择确认</a:t>
            </a:r>
            <a:r>
              <a:rPr lang="zh-CN" altLang="en-US" sz="2800" dirty="0" smtClean="0">
                <a:ea typeface="黑体" panose="02010609060101010101" pitchFamily="49" charset="-122"/>
              </a:rPr>
              <a:t>，那么在</a:t>
            </a:r>
            <a:r>
              <a:rPr lang="zh-CN" altLang="en-US" sz="2800" dirty="0" smtClean="0">
                <a:solidFill>
                  <a:srgbClr val="0000FF"/>
                </a:solidFill>
                <a:ea typeface="黑体" panose="02010609060101010101" pitchFamily="49" charset="-122"/>
              </a:rPr>
              <a:t>建立 </a:t>
            </a:r>
            <a:r>
              <a:rPr lang="en-US" altLang="zh-CN" sz="2800" dirty="0" smtClean="0">
                <a:solidFill>
                  <a:srgbClr val="0000FF"/>
                </a:solidFill>
                <a:ea typeface="黑体" panose="02010609060101010101" pitchFamily="49" charset="-122"/>
              </a:rPr>
              <a:t>TCP </a:t>
            </a:r>
            <a:r>
              <a:rPr lang="zh-CN" altLang="en-US" sz="2800" dirty="0" smtClean="0">
                <a:solidFill>
                  <a:srgbClr val="0000FF"/>
                </a:solidFill>
                <a:ea typeface="黑体" panose="02010609060101010101" pitchFamily="49" charset="-122"/>
              </a:rPr>
              <a:t>连接</a:t>
            </a:r>
            <a:r>
              <a:rPr lang="zh-CN" altLang="en-US" sz="2800" dirty="0" smtClean="0">
                <a:ea typeface="黑体" panose="02010609060101010101" pitchFamily="49" charset="-122"/>
              </a:rPr>
              <a:t>时，就要在 </a:t>
            </a:r>
            <a:r>
              <a:rPr lang="en-US" altLang="zh-CN" sz="2800" dirty="0" smtClean="0">
                <a:ea typeface="黑体" panose="02010609060101010101" pitchFamily="49" charset="-122"/>
              </a:rPr>
              <a:t>TCP </a:t>
            </a:r>
            <a:r>
              <a:rPr lang="zh-CN" altLang="en-US" sz="2800" dirty="0" smtClean="0">
                <a:ea typeface="黑体" panose="02010609060101010101" pitchFamily="49" charset="-122"/>
              </a:rPr>
              <a:t>首部的选项中加上</a:t>
            </a:r>
            <a:r>
              <a:rPr lang="zh-CN" altLang="en-US" sz="2800" dirty="0" smtClean="0">
                <a:solidFill>
                  <a:srgbClr val="0000FF"/>
                </a:solidFill>
                <a:ea typeface="黑体" panose="02010609060101010101" pitchFamily="49" charset="-122"/>
              </a:rPr>
              <a:t>“允许 </a:t>
            </a:r>
            <a:r>
              <a:rPr lang="en-US" altLang="zh-CN" sz="2800" dirty="0" smtClean="0">
                <a:solidFill>
                  <a:srgbClr val="0000FF"/>
                </a:solidFill>
                <a:ea typeface="黑体" panose="02010609060101010101" pitchFamily="49" charset="-122"/>
              </a:rPr>
              <a:t>SACK”</a:t>
            </a:r>
            <a:r>
              <a:rPr lang="zh-CN" altLang="en-US" sz="2800" dirty="0" smtClean="0">
                <a:ea typeface="黑体" panose="02010609060101010101" pitchFamily="49" charset="-122"/>
              </a:rPr>
              <a:t>的选项，而双方必须都事先商定好。</a:t>
            </a:r>
          </a:p>
          <a:p>
            <a:r>
              <a:rPr lang="zh-CN" altLang="en-US" sz="2800" dirty="0" smtClean="0">
                <a:ea typeface="黑体" panose="02010609060101010101" pitchFamily="49" charset="-122"/>
              </a:rPr>
              <a:t>如果使用选择确认，那么</a:t>
            </a:r>
            <a:r>
              <a:rPr lang="zh-CN" altLang="en-US" sz="2800" dirty="0" smtClean="0">
                <a:solidFill>
                  <a:srgbClr val="0000FF"/>
                </a:solidFill>
                <a:ea typeface="黑体" panose="02010609060101010101" pitchFamily="49" charset="-122"/>
              </a:rPr>
              <a:t>原来首部中的“确认号字段”的用法仍然不变</a:t>
            </a:r>
            <a:r>
              <a:rPr lang="zh-CN" altLang="en-US" sz="2800" dirty="0" smtClean="0">
                <a:ea typeface="黑体" panose="02010609060101010101" pitchFamily="49" charset="-122"/>
              </a:rPr>
              <a:t>。只是以后在 </a:t>
            </a:r>
            <a:r>
              <a:rPr lang="en-US" altLang="zh-CN" sz="2800" dirty="0" smtClean="0">
                <a:ea typeface="黑体" panose="02010609060101010101" pitchFamily="49" charset="-122"/>
              </a:rPr>
              <a:t>TCP </a:t>
            </a:r>
            <a:r>
              <a:rPr lang="zh-CN" altLang="en-US" sz="2800" dirty="0" smtClean="0">
                <a:ea typeface="黑体" panose="02010609060101010101" pitchFamily="49" charset="-122"/>
              </a:rPr>
              <a:t>报文段的首部中都增加了 </a:t>
            </a:r>
            <a:r>
              <a:rPr lang="en-US" altLang="zh-CN" sz="2800" dirty="0" smtClean="0">
                <a:solidFill>
                  <a:srgbClr val="0000FF"/>
                </a:solidFill>
                <a:ea typeface="黑体" panose="02010609060101010101" pitchFamily="49" charset="-122"/>
              </a:rPr>
              <a:t>SACK </a:t>
            </a:r>
            <a:r>
              <a:rPr lang="zh-CN" altLang="en-US" sz="2800" dirty="0" smtClean="0">
                <a:solidFill>
                  <a:srgbClr val="0000FF"/>
                </a:solidFill>
                <a:ea typeface="黑体" panose="02010609060101010101" pitchFamily="49" charset="-122"/>
              </a:rPr>
              <a:t>选项</a:t>
            </a:r>
            <a:r>
              <a:rPr lang="zh-CN" altLang="en-US" sz="2800" dirty="0" smtClean="0">
                <a:ea typeface="黑体" panose="02010609060101010101" pitchFamily="49" charset="-122"/>
              </a:rPr>
              <a:t>，以便报告收到的不连续的字节块的边界。</a:t>
            </a:r>
          </a:p>
          <a:p>
            <a:r>
              <a:rPr lang="zh-CN" altLang="en-US" sz="2800" dirty="0" smtClean="0">
                <a:ea typeface="黑体" panose="02010609060101010101" pitchFamily="49" charset="-122"/>
              </a:rPr>
              <a:t>由于</a:t>
            </a:r>
            <a:r>
              <a:rPr lang="zh-CN" altLang="en-US" sz="2800" dirty="0" smtClean="0">
                <a:solidFill>
                  <a:srgbClr val="0000FF"/>
                </a:solidFill>
                <a:ea typeface="黑体" panose="02010609060101010101" pitchFamily="49" charset="-122"/>
              </a:rPr>
              <a:t>首部选项的长度最多只有 </a:t>
            </a:r>
            <a:r>
              <a:rPr lang="en-US" altLang="zh-CN" sz="2800" dirty="0" smtClean="0">
                <a:solidFill>
                  <a:srgbClr val="0000FF"/>
                </a:solidFill>
                <a:ea typeface="黑体" panose="02010609060101010101" pitchFamily="49" charset="-122"/>
              </a:rPr>
              <a:t>40 </a:t>
            </a:r>
            <a:r>
              <a:rPr lang="zh-CN" altLang="en-US" sz="2800" dirty="0" smtClean="0">
                <a:solidFill>
                  <a:srgbClr val="0000FF"/>
                </a:solidFill>
                <a:ea typeface="黑体" panose="02010609060101010101" pitchFamily="49" charset="-122"/>
              </a:rPr>
              <a:t>字节</a:t>
            </a:r>
            <a:r>
              <a:rPr lang="zh-CN" altLang="en-US" sz="2800" dirty="0" smtClean="0">
                <a:ea typeface="黑体" panose="02010609060101010101" pitchFamily="49" charset="-122"/>
              </a:rPr>
              <a:t>，而指明一个边界就要用掉 </a:t>
            </a:r>
            <a:r>
              <a:rPr lang="en-US" altLang="zh-CN" sz="2800" dirty="0" smtClean="0">
                <a:ea typeface="黑体" panose="02010609060101010101" pitchFamily="49" charset="-122"/>
              </a:rPr>
              <a:t>4 </a:t>
            </a:r>
            <a:r>
              <a:rPr lang="zh-CN" altLang="en-US" sz="2800" dirty="0" smtClean="0">
                <a:ea typeface="黑体" panose="02010609060101010101" pitchFamily="49" charset="-122"/>
              </a:rPr>
              <a:t>字节，因此在选项中</a:t>
            </a:r>
            <a:r>
              <a:rPr lang="zh-CN" altLang="en-US" sz="2800" dirty="0" smtClean="0">
                <a:solidFill>
                  <a:srgbClr val="0000FF"/>
                </a:solidFill>
                <a:ea typeface="黑体" panose="02010609060101010101" pitchFamily="49" charset="-122"/>
              </a:rPr>
              <a:t>最多只能指明 </a:t>
            </a:r>
            <a:r>
              <a:rPr lang="en-US" altLang="zh-CN" sz="2800" dirty="0" smtClean="0">
                <a:solidFill>
                  <a:srgbClr val="0000FF"/>
                </a:solidFill>
                <a:ea typeface="黑体" panose="02010609060101010101" pitchFamily="49" charset="-122"/>
              </a:rPr>
              <a:t>4 </a:t>
            </a:r>
            <a:r>
              <a:rPr lang="zh-CN" altLang="en-US" sz="2800" dirty="0" smtClean="0">
                <a:solidFill>
                  <a:srgbClr val="0000FF"/>
                </a:solidFill>
                <a:ea typeface="黑体" panose="02010609060101010101" pitchFamily="49" charset="-122"/>
              </a:rPr>
              <a:t>个字节块的边界信息</a:t>
            </a:r>
            <a:r>
              <a:rPr lang="zh-CN" altLang="en-US" sz="2800" dirty="0" smtClean="0">
                <a:ea typeface="黑体" panose="02010609060101010101" pitchFamily="49" charset="-122"/>
              </a:rPr>
              <a:t>。</a:t>
            </a:r>
          </a:p>
        </p:txBody>
      </p:sp>
      <p:sp>
        <p:nvSpPr>
          <p:cNvPr id="14837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7D18B9-2ACF-4C65-A91B-D8416986CFB8}" type="slidenum">
              <a:rPr lang="zh-CN" altLang="en-US" smtClean="0"/>
              <a:pPr eaLnBrk="1" hangingPunct="1"/>
              <a:t>65</a:t>
            </a:fld>
            <a:endParaRPr lang="en-US" altLang="zh-CN" smtClean="0"/>
          </a:p>
        </p:txBody>
      </p:sp>
      <p:sp>
        <p:nvSpPr>
          <p:cNvPr id="14837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424</TotalTime>
  <Words>5887</Words>
  <Application>Microsoft Office PowerPoint</Application>
  <PresentationFormat>A4 纸张(210x297 毫米)</PresentationFormat>
  <Paragraphs>1408</Paragraphs>
  <Slides>65</Slides>
  <Notes>42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4" baseType="lpstr">
      <vt:lpstr>黑体</vt:lpstr>
      <vt:lpstr>宋体</vt:lpstr>
      <vt:lpstr>Arial</vt:lpstr>
      <vt:lpstr>Symbol</vt:lpstr>
      <vt:lpstr>Tahoma</vt:lpstr>
      <vt:lpstr>Times New Roman</vt:lpstr>
      <vt:lpstr>Wingdings</vt:lpstr>
      <vt:lpstr>Presentation</vt:lpstr>
      <vt:lpstr>Equation.3</vt:lpstr>
      <vt:lpstr>第 5 章  运输层</vt:lpstr>
      <vt:lpstr>第 5 章  运输层</vt:lpstr>
      <vt:lpstr>5.4  可靠传输的工作原理</vt:lpstr>
      <vt:lpstr>5.4.1  停止等待协议</vt:lpstr>
      <vt:lpstr>1. 无差错情况</vt:lpstr>
      <vt:lpstr>2. 出现差错</vt:lpstr>
      <vt:lpstr>2. 出现差错</vt:lpstr>
      <vt:lpstr>3. 确认丢失和确认迟到</vt:lpstr>
      <vt:lpstr>3. 确认丢失和确认迟到</vt:lpstr>
      <vt:lpstr>3. 确认丢失和确认迟到</vt:lpstr>
      <vt:lpstr>请注意</vt:lpstr>
      <vt:lpstr>自动重传请求 ARQ</vt:lpstr>
      <vt:lpstr>4. 信道利用率</vt:lpstr>
      <vt:lpstr>4. 信道利用率</vt:lpstr>
      <vt:lpstr>流水线传输</vt:lpstr>
      <vt:lpstr>流水线传输</vt:lpstr>
      <vt:lpstr>5.4.2  连续 ARQ 协议</vt:lpstr>
      <vt:lpstr>5.4.2  连续ARQ协议</vt:lpstr>
      <vt:lpstr>累积确认 </vt:lpstr>
      <vt:lpstr>Go-back-N（回退 N） </vt:lpstr>
      <vt:lpstr>TCP 可靠通信的具体实现 </vt:lpstr>
      <vt:lpstr>5.5  TCP 报文段的首部格式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为什么要规定 MSS ？</vt:lpstr>
      <vt:lpstr>为什么要规定 MSS ？</vt:lpstr>
      <vt:lpstr>其他选项</vt:lpstr>
      <vt:lpstr>PowerPoint 演示文稿</vt:lpstr>
      <vt:lpstr>5.6  TCP 可靠传输的实现</vt:lpstr>
      <vt:lpstr>5.6.1  以字节为单位的滑动窗口</vt:lpstr>
      <vt:lpstr>PowerPoint 演示文稿</vt:lpstr>
      <vt:lpstr>PowerPoint 演示文稿</vt:lpstr>
      <vt:lpstr>PowerPoint 演示文稿</vt:lpstr>
      <vt:lpstr>PowerPoint 演示文稿</vt:lpstr>
      <vt:lpstr>发送缓存 </vt:lpstr>
      <vt:lpstr>接收缓存</vt:lpstr>
      <vt:lpstr>发送缓存与接收缓存的作用</vt:lpstr>
      <vt:lpstr>需要强调三点</vt:lpstr>
      <vt:lpstr>接收方发送确认</vt:lpstr>
      <vt:lpstr>5.6.2  超时重传时间的选择</vt:lpstr>
      <vt:lpstr>往返时延的方差很大</vt:lpstr>
      <vt:lpstr>TCP 超时重传时间设置</vt:lpstr>
      <vt:lpstr>加权平均往返时间</vt:lpstr>
      <vt:lpstr>超时重传时间 RTO</vt:lpstr>
      <vt:lpstr>往返时间 (RTT) 的测量相当复杂 </vt:lpstr>
      <vt:lpstr>Karn 算法 </vt:lpstr>
      <vt:lpstr>修正的 Karn 算法 </vt:lpstr>
      <vt:lpstr>5.6.3  选择确认 SACK</vt:lpstr>
      <vt:lpstr>接收到的字节流序号不连续 </vt:lpstr>
      <vt:lpstr>5.6.3  选择确认 SACK</vt:lpstr>
      <vt:lpstr>RFC 2018 的规定</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76</cp:revision>
  <cp:lastPrinted>2020-04-09T07:55:40Z</cp:lastPrinted>
  <dcterms:created xsi:type="dcterms:W3CDTF">2016-10-01T05:27:00Z</dcterms:created>
  <dcterms:modified xsi:type="dcterms:W3CDTF">2021-01-24T12:55:48Z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
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414" r:id="rId2"/>
    <p:sldId id="415" r:id="rId3"/>
    <p:sldId id="416" r:id="rId4"/>
    <p:sldId id="439" r:id="rId5"/>
    <p:sldId id="417" r:id="rId6"/>
    <p:sldId id="418" r:id="rId7"/>
    <p:sldId id="419" r:id="rId8"/>
    <p:sldId id="420" r:id="rId9"/>
    <p:sldId id="421" r:id="rId10"/>
    <p:sldId id="422" r:id="rId11"/>
    <p:sldId id="423" r:id="rId12"/>
    <p:sldId id="424" r:id="rId13"/>
    <p:sldId id="425" r:id="rId14"/>
    <p:sldId id="426" r:id="rId15"/>
    <p:sldId id="427" r:id="rId16"/>
    <p:sldId id="428" r:id="rId17"/>
    <p:sldId id="429" r:id="rId18"/>
    <p:sldId id="430" r:id="rId19"/>
    <p:sldId id="431" r:id="rId20"/>
    <p:sldId id="432" r:id="rId21"/>
    <p:sldId id="433" r:id="rId22"/>
    <p:sldId id="434" r:id="rId23"/>
    <p:sldId id="435" r:id="rId24"/>
    <p:sldId id="436" r:id="rId25"/>
    <p:sldId id="437" r:id="rId26"/>
    <p:sldId id="438" r:id="rId27"/>
    <p:sldId id="456" r:id="rId28"/>
    <p:sldId id="440"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53" r:id="rId42"/>
    <p:sldId id="454" r:id="rId43"/>
    <p:sldId id="455" r:id="rId44"/>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6"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09A19D-79D2-406D-92BF-15877A8F85D2}"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261122" name="Rectangle 2"/>
          <p:cNvSpPr>
            <a:spLocks noGrp="1" noRot="1" noChangeAspect="1" noChangeArrowheads="1" noTextEdit="1"/>
          </p:cNvSpPr>
          <p:nvPr>
            <p:ph type="sldImg" idx="4294967295"/>
          </p:nvPr>
        </p:nvSpPr>
        <p:spPr>
          <a:ln/>
        </p:spPr>
      </p:sp>
      <p:sp>
        <p:nvSpPr>
          <p:cNvPr id="261123"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EFD6CC-0079-477D-AB4B-FB960709CFCB}"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264194" name="Rectangle 2"/>
          <p:cNvSpPr>
            <a:spLocks noGrp="1" noRot="1" noChangeAspect="1" noChangeArrowheads="1" noTextEdit="1"/>
          </p:cNvSpPr>
          <p:nvPr>
            <p:ph type="sldImg" idx="4294967295"/>
          </p:nvPr>
        </p:nvSpPr>
        <p:spPr>
          <a:ln/>
        </p:spPr>
      </p:sp>
      <p:sp>
        <p:nvSpPr>
          <p:cNvPr id="264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E7CA12-EA5F-45B9-8A2B-625443C1BAA8}"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266242" name="Rectangle 2"/>
          <p:cNvSpPr>
            <a:spLocks noGrp="1" noRot="1" noChangeAspect="1" noChangeArrowheads="1" noTextEdit="1"/>
          </p:cNvSpPr>
          <p:nvPr>
            <p:ph type="sldImg" idx="4294967295"/>
          </p:nvPr>
        </p:nvSpPr>
        <p:spPr>
          <a:ln/>
        </p:spPr>
      </p:sp>
      <p:sp>
        <p:nvSpPr>
          <p:cNvPr id="2662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44061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E7CA12-EA5F-45B9-8A2B-625443C1BAA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266242" name="Rectangle 2"/>
          <p:cNvSpPr>
            <a:spLocks noGrp="1" noRot="1" noChangeAspect="1" noChangeArrowheads="1" noTextEdit="1"/>
          </p:cNvSpPr>
          <p:nvPr>
            <p:ph type="sldImg" idx="4294967295"/>
          </p:nvPr>
        </p:nvSpPr>
        <p:spPr>
          <a:ln/>
        </p:spPr>
      </p:sp>
      <p:sp>
        <p:nvSpPr>
          <p:cNvPr id="266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30CF49-84CC-4900-AB95-8BAF7618EBDF}"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268290" name="Rectangle 2"/>
          <p:cNvSpPr>
            <a:spLocks noGrp="1" noRot="1" noChangeAspect="1" noChangeArrowheads="1" noTextEdit="1"/>
          </p:cNvSpPr>
          <p:nvPr>
            <p:ph type="sldImg" idx="4294967295"/>
          </p:nvPr>
        </p:nvSpPr>
        <p:spPr>
          <a:ln/>
        </p:spPr>
      </p:sp>
      <p:sp>
        <p:nvSpPr>
          <p:cNvPr id="268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68C3D3-F768-4B28-AB72-377D662B4E7E}"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270338" name="Rectangle 2"/>
          <p:cNvSpPr>
            <a:spLocks noGrp="1" noRot="1" noChangeAspect="1" noChangeArrowheads="1" noTextEdit="1"/>
          </p:cNvSpPr>
          <p:nvPr>
            <p:ph type="sldImg" idx="4294967295"/>
          </p:nvPr>
        </p:nvSpPr>
        <p:spPr>
          <a:ln/>
        </p:spPr>
      </p:sp>
      <p:sp>
        <p:nvSpPr>
          <p:cNvPr id="270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49141A-8483-4888-94CD-CB609040D82C}"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272386" name="Rectangle 2"/>
          <p:cNvSpPr>
            <a:spLocks noGrp="1" noRot="1" noChangeAspect="1" noChangeArrowheads="1" noTextEdit="1"/>
          </p:cNvSpPr>
          <p:nvPr>
            <p:ph type="sldImg" idx="4294967295"/>
          </p:nvPr>
        </p:nvSpPr>
        <p:spPr>
          <a:ln/>
        </p:spPr>
      </p:sp>
      <p:sp>
        <p:nvSpPr>
          <p:cNvPr id="272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051A79-0593-46B6-8997-56B16098DB72}"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275458" name="Rectangle 2"/>
          <p:cNvSpPr>
            <a:spLocks noGrp="1" noRot="1" noChangeAspect="1" noChangeArrowheads="1" noTextEdit="1"/>
          </p:cNvSpPr>
          <p:nvPr>
            <p:ph type="sldImg" idx="4294967295"/>
          </p:nvPr>
        </p:nvSpPr>
        <p:spPr>
          <a:ln/>
        </p:spPr>
      </p:sp>
      <p:sp>
        <p:nvSpPr>
          <p:cNvPr id="275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223B43-831B-4E97-A44D-E6322C7DAC4F}"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277506" name="Rectangle 2"/>
          <p:cNvSpPr>
            <a:spLocks noGrp="1" noRot="1" noChangeAspect="1" noChangeArrowheads="1" noTextEdit="1"/>
          </p:cNvSpPr>
          <p:nvPr>
            <p:ph type="sldImg" idx="4294967295"/>
          </p:nvPr>
        </p:nvSpPr>
        <p:spPr>
          <a:ln/>
        </p:spPr>
      </p:sp>
      <p:sp>
        <p:nvSpPr>
          <p:cNvPr id="277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180129-66E2-4D47-9D56-91E82687D93C}"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282626" name="Rectangle 2"/>
          <p:cNvSpPr>
            <a:spLocks noGrp="1" noRot="1" noChangeAspect="1" noChangeArrowheads="1" noTextEdit="1"/>
          </p:cNvSpPr>
          <p:nvPr>
            <p:ph type="sldImg" idx="4294967295"/>
          </p:nvPr>
        </p:nvSpPr>
        <p:spPr>
          <a:ln/>
        </p:spPr>
      </p:sp>
      <p:sp>
        <p:nvSpPr>
          <p:cNvPr id="282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83C8C3-85EF-4705-A72A-893A271352CE}"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284674" name="Rectangle 2"/>
          <p:cNvSpPr>
            <a:spLocks noGrp="1" noRot="1" noChangeAspect="1" noChangeArrowheads="1" noTextEdit="1"/>
          </p:cNvSpPr>
          <p:nvPr>
            <p:ph type="sldImg" idx="4294967295"/>
          </p:nvPr>
        </p:nvSpPr>
        <p:spPr>
          <a:ln/>
        </p:spPr>
      </p:sp>
      <p:sp>
        <p:nvSpPr>
          <p:cNvPr id="284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CE9622-8D25-4708-A511-CFD2ED449370}"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286722" name="Rectangle 2"/>
          <p:cNvSpPr>
            <a:spLocks noGrp="1" noRot="1" noChangeAspect="1" noChangeArrowheads="1" noTextEdit="1"/>
          </p:cNvSpPr>
          <p:nvPr>
            <p:ph type="sldImg" idx="4294967295"/>
          </p:nvPr>
        </p:nvSpPr>
        <p:spPr>
          <a:ln/>
        </p:spPr>
      </p:sp>
      <p:sp>
        <p:nvSpPr>
          <p:cNvPr id="286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3BF7A8-5062-496B-9534-CD1CA98219C6}"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288770" name="Rectangle 2"/>
          <p:cNvSpPr>
            <a:spLocks noGrp="1" noRot="1" noChangeAspect="1" noChangeArrowheads="1" noTextEdit="1"/>
          </p:cNvSpPr>
          <p:nvPr>
            <p:ph type="sldImg" idx="4294967295"/>
          </p:nvPr>
        </p:nvSpPr>
        <p:spPr>
          <a:ln/>
        </p:spPr>
      </p:sp>
      <p:sp>
        <p:nvSpPr>
          <p:cNvPr id="288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512FCD-D78A-4117-A4CD-B041260F3FEF}"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290818" name="Rectangle 2"/>
          <p:cNvSpPr>
            <a:spLocks noGrp="1" noRot="1" noChangeAspect="1" noChangeArrowheads="1" noTextEdit="1"/>
          </p:cNvSpPr>
          <p:nvPr>
            <p:ph type="sldImg" idx="4294967295"/>
          </p:nvPr>
        </p:nvSpPr>
        <p:spPr>
          <a:ln/>
        </p:spPr>
      </p:sp>
      <p:sp>
        <p:nvSpPr>
          <p:cNvPr id="290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E2C42C-15CD-406B-9EAB-4C6D40CFC834}"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293890" name="Rectangle 2"/>
          <p:cNvSpPr>
            <a:spLocks noGrp="1" noRot="1" noChangeAspect="1" noChangeArrowheads="1" noTextEdit="1"/>
          </p:cNvSpPr>
          <p:nvPr>
            <p:ph type="sldImg" idx="4294967295"/>
          </p:nvPr>
        </p:nvSpPr>
        <p:spPr>
          <a:ln/>
        </p:spPr>
      </p:sp>
      <p:sp>
        <p:nvSpPr>
          <p:cNvPr id="293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CA8D66-9A03-41FD-BF65-8DA2B89E13FA}"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295938" name="Rectangle 2"/>
          <p:cNvSpPr>
            <a:spLocks noGrp="1" noRot="1" noChangeAspect="1" noChangeArrowheads="1" noTextEdit="1"/>
          </p:cNvSpPr>
          <p:nvPr>
            <p:ph type="sldImg" idx="4294967295"/>
          </p:nvPr>
        </p:nvSpPr>
        <p:spPr>
          <a:ln/>
        </p:spPr>
      </p:sp>
      <p:sp>
        <p:nvSpPr>
          <p:cNvPr id="295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B963FF-6CC1-4A35-9C3B-98404ADCA316}"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297986" name="Rectangle 2"/>
          <p:cNvSpPr>
            <a:spLocks noGrp="1" noRot="1" noChangeAspect="1" noChangeArrowheads="1" noTextEdit="1"/>
          </p:cNvSpPr>
          <p:nvPr>
            <p:ph type="sldImg" idx="4294967295"/>
          </p:nvPr>
        </p:nvSpPr>
        <p:spPr>
          <a:ln/>
        </p:spPr>
      </p:sp>
      <p:sp>
        <p:nvSpPr>
          <p:cNvPr id="2979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2EFF78-2158-4FB3-A072-A2F327590703}"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300034" name="Rectangle 2"/>
          <p:cNvSpPr>
            <a:spLocks noGrp="1" noRot="1" noChangeAspect="1" noChangeArrowheads="1" noTextEdit="1"/>
          </p:cNvSpPr>
          <p:nvPr>
            <p:ph type="sldImg" idx="4294967295"/>
          </p:nvPr>
        </p:nvSpPr>
        <p:spPr>
          <a:ln/>
        </p:spPr>
      </p:sp>
      <p:sp>
        <p:nvSpPr>
          <p:cNvPr id="3000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1F85C6-372F-481A-87C4-AE700091DF2E}"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302082" name="Rectangle 2"/>
          <p:cNvSpPr>
            <a:spLocks noGrp="1" noRot="1" noChangeAspect="1" noChangeArrowheads="1" noTextEdit="1"/>
          </p:cNvSpPr>
          <p:nvPr>
            <p:ph type="sldImg" idx="4294967295"/>
          </p:nvPr>
        </p:nvSpPr>
        <p:spPr>
          <a:ln/>
        </p:spPr>
      </p:sp>
      <p:sp>
        <p:nvSpPr>
          <p:cNvPr id="3020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2CF255-F2C1-46B7-9D16-8B79EA225BB2}"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304130" name="Rectangle 2"/>
          <p:cNvSpPr>
            <a:spLocks noGrp="1" noRot="1" noChangeAspect="1" noChangeArrowheads="1" noTextEdit="1"/>
          </p:cNvSpPr>
          <p:nvPr>
            <p:ph type="sldImg" idx="4294967295"/>
          </p:nvPr>
        </p:nvSpPr>
        <p:spPr>
          <a:ln/>
        </p:spPr>
      </p:sp>
      <p:sp>
        <p:nvSpPr>
          <p:cNvPr id="3041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2EA800-F712-455B-92C3-31B2CB6ABBAE}" type="slidenum">
              <a:rPr altLang="zh-CN" smtClean="0">
                <a:latin typeface="宋体" panose="02010600030101010101" pitchFamily="2" charset="-122"/>
              </a:rPr>
              <a:pPr/>
              <a:t>27</a:t>
            </a:fld>
            <a:endParaRPr lang="zh-CN" altLang="zh-CN" smtClean="0">
              <a:latin typeface="宋体" panose="02010600030101010101" pitchFamily="2" charset="-122"/>
            </a:endParaRPr>
          </a:p>
        </p:txBody>
      </p:sp>
      <p:sp>
        <p:nvSpPr>
          <p:cNvPr id="16387" name="Rectangle 2"/>
          <p:cNvSpPr>
            <a:spLocks noGrp="1" noRot="1" noChangeAspect="1" noChangeArrowheads="1" noTextEdit="1"/>
          </p:cNvSpPr>
          <p:nvPr>
            <p:ph type="sldImg" idx="4294967295"/>
          </p:nvPr>
        </p:nvSpPr>
        <p:spPr>
          <a:ln/>
        </p:spPr>
      </p:sp>
      <p:sp>
        <p:nvSpPr>
          <p:cNvPr id="16388"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065717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749777-67CE-45DF-BEBB-35B522002505}" type="slidenum">
              <a:rPr altLang="zh-CN" smtClean="0">
                <a:latin typeface="宋体" panose="02010600030101010101" pitchFamily="2" charset="-122"/>
              </a:rPr>
              <a:pPr/>
              <a:t>28</a:t>
            </a:fld>
            <a:endParaRPr lang="zh-CN" altLang="zh-CN" smtClean="0">
              <a:latin typeface="宋体" panose="02010600030101010101" pitchFamily="2" charset="-122"/>
            </a:endParaRPr>
          </a:p>
        </p:txBody>
      </p:sp>
      <p:sp>
        <p:nvSpPr>
          <p:cNvPr id="18435" name="Rectangle 2"/>
          <p:cNvSpPr>
            <a:spLocks noGrp="1" noRot="1" noChangeAspect="1" noChangeArrowheads="1" noTextEdit="1"/>
          </p:cNvSpPr>
          <p:nvPr>
            <p:ph type="sldImg" idx="4294967295"/>
          </p:nvPr>
        </p:nvSpPr>
        <p:spPr>
          <a:ln/>
        </p:spPr>
      </p:sp>
      <p:sp>
        <p:nvSpPr>
          <p:cNvPr id="18436"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6189690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FC774A-FD4F-417C-BDA0-409BE96C9C98}" type="slidenum">
              <a:rPr altLang="zh-CN" smtClean="0">
                <a:latin typeface="宋体" panose="02010600030101010101" pitchFamily="2" charset="-122"/>
              </a:rPr>
              <a:pPr/>
              <a:t>29</a:t>
            </a:fld>
            <a:endParaRPr lang="zh-CN" altLang="zh-CN" smtClean="0">
              <a:latin typeface="宋体" panose="02010600030101010101" pitchFamily="2" charset="-122"/>
            </a:endParaRPr>
          </a:p>
        </p:txBody>
      </p:sp>
      <p:sp>
        <p:nvSpPr>
          <p:cNvPr id="20483" name="Rectangle 2"/>
          <p:cNvSpPr>
            <a:spLocks noGrp="1" noRot="1" noChangeAspect="1" noChangeArrowheads="1" noTextEdit="1"/>
          </p:cNvSpPr>
          <p:nvPr>
            <p:ph type="sldImg" idx="4294967295"/>
          </p:nvPr>
        </p:nvSpPr>
        <p:spPr>
          <a:ln/>
        </p:spPr>
      </p:sp>
      <p:sp>
        <p:nvSpPr>
          <p:cNvPr id="20484"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752060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2BFE97-12FC-4FDA-A513-080284043E2E}" type="slidenum">
              <a:rPr altLang="zh-CN" smtClean="0">
                <a:latin typeface="宋体" panose="02010600030101010101" pitchFamily="2" charset="-122"/>
              </a:rPr>
              <a:pPr/>
              <a:t>30</a:t>
            </a:fld>
            <a:endParaRPr lang="zh-CN" altLang="zh-CN" smtClean="0">
              <a:latin typeface="宋体" panose="02010600030101010101" pitchFamily="2" charset="-122"/>
            </a:endParaRPr>
          </a:p>
        </p:txBody>
      </p:sp>
      <p:sp>
        <p:nvSpPr>
          <p:cNvPr id="22531" name="Rectangle 2"/>
          <p:cNvSpPr>
            <a:spLocks noGrp="1" noRot="1" noChangeAspect="1" noChangeArrowheads="1" noTextEdit="1"/>
          </p:cNvSpPr>
          <p:nvPr>
            <p:ph type="sldImg" idx="4294967295"/>
          </p:nvPr>
        </p:nvSpPr>
        <p:spPr>
          <a:ln/>
        </p:spPr>
      </p:sp>
      <p:sp>
        <p:nvSpPr>
          <p:cNvPr id="22532"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506940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28D175-3513-480B-9579-5768A827FED8}" type="slidenum">
              <a:rPr altLang="zh-CN" smtClean="0">
                <a:latin typeface="宋体" panose="02010600030101010101" pitchFamily="2" charset="-122"/>
              </a:rPr>
              <a:pPr/>
              <a:t>31</a:t>
            </a:fld>
            <a:endParaRPr lang="zh-CN" altLang="zh-CN" smtClean="0">
              <a:latin typeface="宋体" panose="02010600030101010101" pitchFamily="2" charset="-122"/>
            </a:endParaRPr>
          </a:p>
        </p:txBody>
      </p:sp>
      <p:sp>
        <p:nvSpPr>
          <p:cNvPr id="24579" name="Rectangle 2"/>
          <p:cNvSpPr>
            <a:spLocks noGrp="1" noRot="1" noChangeAspect="1" noChangeArrowheads="1" noTextEdit="1"/>
          </p:cNvSpPr>
          <p:nvPr>
            <p:ph type="sldImg" idx="4294967295"/>
          </p:nvPr>
        </p:nvSpPr>
        <p:spPr>
          <a:ln/>
        </p:spPr>
      </p:sp>
      <p:sp>
        <p:nvSpPr>
          <p:cNvPr id="24580"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523949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B1CFF6-8D3B-4697-8799-F8423BE5E17B}" type="slidenum">
              <a:rPr altLang="zh-CN" smtClean="0">
                <a:latin typeface="宋体" panose="02010600030101010101" pitchFamily="2" charset="-122"/>
              </a:rPr>
              <a:pPr/>
              <a:t>32</a:t>
            </a:fld>
            <a:endParaRPr lang="zh-CN" altLang="zh-CN" smtClean="0">
              <a:latin typeface="宋体" panose="02010600030101010101" pitchFamily="2" charset="-122"/>
            </a:endParaRPr>
          </a:p>
        </p:txBody>
      </p:sp>
      <p:sp>
        <p:nvSpPr>
          <p:cNvPr id="26627" name="Rectangle 2"/>
          <p:cNvSpPr>
            <a:spLocks noGrp="1" noRot="1" noChangeAspect="1" noChangeArrowheads="1" noTextEdit="1"/>
          </p:cNvSpPr>
          <p:nvPr>
            <p:ph type="sldImg" idx="4294967295"/>
          </p:nvPr>
        </p:nvSpPr>
        <p:spPr>
          <a:ln/>
        </p:spPr>
      </p:sp>
      <p:sp>
        <p:nvSpPr>
          <p:cNvPr id="26628"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855799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3A26F8-A00D-46E8-BD68-97F0E32470E5}" type="slidenum">
              <a:rPr altLang="zh-CN" smtClean="0">
                <a:latin typeface="宋体" panose="02010600030101010101" pitchFamily="2" charset="-122"/>
              </a:rPr>
              <a:pPr/>
              <a:t>33</a:t>
            </a:fld>
            <a:endParaRPr lang="zh-CN" altLang="zh-CN" smtClean="0">
              <a:latin typeface="宋体" panose="02010600030101010101" pitchFamily="2" charset="-122"/>
            </a:endParaRPr>
          </a:p>
        </p:txBody>
      </p:sp>
      <p:sp>
        <p:nvSpPr>
          <p:cNvPr id="28675" name="Rectangle 2"/>
          <p:cNvSpPr>
            <a:spLocks noGrp="1" noRot="1" noChangeAspect="1" noChangeArrowheads="1" noTextEdit="1"/>
          </p:cNvSpPr>
          <p:nvPr>
            <p:ph type="sldImg" idx="4294967295"/>
          </p:nvPr>
        </p:nvSpPr>
        <p:spPr>
          <a:ln/>
        </p:spPr>
      </p:sp>
      <p:sp>
        <p:nvSpPr>
          <p:cNvPr id="28676"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510772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C08287-36C0-42CC-B95C-621F9683A8E9}" type="slidenum">
              <a:rPr altLang="zh-CN" smtClean="0">
                <a:latin typeface="宋体" panose="02010600030101010101" pitchFamily="2" charset="-122"/>
              </a:rPr>
              <a:pPr/>
              <a:t>34</a:t>
            </a:fld>
            <a:endParaRPr lang="zh-CN" altLang="zh-CN" smtClean="0">
              <a:latin typeface="宋体" panose="02010600030101010101" pitchFamily="2" charset="-122"/>
            </a:endParaRPr>
          </a:p>
        </p:txBody>
      </p:sp>
      <p:sp>
        <p:nvSpPr>
          <p:cNvPr id="30723" name="Rectangle 2"/>
          <p:cNvSpPr>
            <a:spLocks noGrp="1" noRot="1" noChangeAspect="1" noChangeArrowheads="1" noTextEdit="1"/>
          </p:cNvSpPr>
          <p:nvPr>
            <p:ph type="sldImg" idx="4294967295"/>
          </p:nvPr>
        </p:nvSpPr>
        <p:spPr>
          <a:ln/>
        </p:spPr>
      </p:sp>
      <p:sp>
        <p:nvSpPr>
          <p:cNvPr id="30724"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197135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561F371-7228-4BA2-819D-9D6A435798DA}" type="slidenum">
              <a:rPr altLang="zh-CN" smtClean="0">
                <a:latin typeface="宋体" panose="02010600030101010101" pitchFamily="2" charset="-122"/>
              </a:rPr>
              <a:pPr/>
              <a:t>36</a:t>
            </a:fld>
            <a:endParaRPr lang="zh-CN" altLang="zh-CN" smtClean="0">
              <a:latin typeface="宋体" panose="02010600030101010101" pitchFamily="2" charset="-122"/>
            </a:endParaRPr>
          </a:p>
        </p:txBody>
      </p:sp>
      <p:sp>
        <p:nvSpPr>
          <p:cNvPr id="33795" name="Rectangle 2"/>
          <p:cNvSpPr>
            <a:spLocks noGrp="1" noRot="1" noChangeAspect="1" noChangeArrowheads="1" noTextEdit="1"/>
          </p:cNvSpPr>
          <p:nvPr>
            <p:ph type="sldImg" idx="4294967295"/>
          </p:nvPr>
        </p:nvSpPr>
        <p:spPr>
          <a:ln/>
        </p:spPr>
      </p:sp>
      <p:sp>
        <p:nvSpPr>
          <p:cNvPr id="33796"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8202292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051FE5E-F735-42BE-BA12-7B624F707BF7}" type="slidenum">
              <a:rPr altLang="zh-CN" smtClean="0">
                <a:latin typeface="宋体" panose="02010600030101010101" pitchFamily="2" charset="-122"/>
              </a:rPr>
              <a:pPr/>
              <a:t>37</a:t>
            </a:fld>
            <a:endParaRPr lang="zh-CN" altLang="zh-CN" smtClean="0">
              <a:latin typeface="宋体" panose="02010600030101010101" pitchFamily="2" charset="-122"/>
            </a:endParaRPr>
          </a:p>
        </p:txBody>
      </p:sp>
      <p:sp>
        <p:nvSpPr>
          <p:cNvPr id="35843" name="Rectangle 2"/>
          <p:cNvSpPr>
            <a:spLocks noGrp="1" noRot="1" noChangeAspect="1" noChangeArrowheads="1" noTextEdit="1"/>
          </p:cNvSpPr>
          <p:nvPr>
            <p:ph type="sldImg" idx="4294967295"/>
          </p:nvPr>
        </p:nvSpPr>
        <p:spPr>
          <a:ln/>
        </p:spPr>
      </p:sp>
      <p:sp>
        <p:nvSpPr>
          <p:cNvPr id="35844"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699469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41CFC3F-722F-4263-AC23-2CF93DC9615A}" type="slidenum">
              <a:rPr altLang="zh-CN" smtClean="0">
                <a:latin typeface="宋体" panose="02010600030101010101" pitchFamily="2" charset="-122"/>
              </a:rPr>
              <a:pPr/>
              <a:t>39</a:t>
            </a:fld>
            <a:endParaRPr lang="zh-CN" altLang="zh-CN" smtClean="0">
              <a:latin typeface="宋体" panose="02010600030101010101" pitchFamily="2" charset="-122"/>
            </a:endParaRPr>
          </a:p>
        </p:txBody>
      </p:sp>
      <p:sp>
        <p:nvSpPr>
          <p:cNvPr id="38915" name="Rectangle 2"/>
          <p:cNvSpPr>
            <a:spLocks noGrp="1" noRot="1" noChangeAspect="1" noChangeArrowheads="1" noTextEdit="1"/>
          </p:cNvSpPr>
          <p:nvPr>
            <p:ph type="sldImg" idx="4294967295"/>
          </p:nvPr>
        </p:nvSpPr>
        <p:spPr>
          <a:ln/>
        </p:spPr>
      </p:sp>
      <p:sp>
        <p:nvSpPr>
          <p:cNvPr id="38916"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2343451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EE93FBC-C464-4317-B5FD-7A2A7DB92C61}" type="slidenum">
              <a:rPr altLang="zh-CN" smtClean="0">
                <a:latin typeface="宋体" panose="02010600030101010101" pitchFamily="2" charset="-122"/>
              </a:rPr>
              <a:pPr/>
              <a:t>42</a:t>
            </a:fld>
            <a:endParaRPr lang="zh-CN" altLang="zh-CN" smtClean="0">
              <a:latin typeface="宋体" panose="02010600030101010101" pitchFamily="2" charset="-122"/>
            </a:endParaRPr>
          </a:p>
        </p:txBody>
      </p:sp>
      <p:sp>
        <p:nvSpPr>
          <p:cNvPr id="43011" name="Rectangle 2"/>
          <p:cNvSpPr>
            <a:spLocks noGrp="1" noRot="1" noChangeAspect="1" noChangeArrowheads="1" noTextEdit="1"/>
          </p:cNvSpPr>
          <p:nvPr>
            <p:ph type="sldImg" idx="4294967295"/>
          </p:nvPr>
        </p:nvSpPr>
        <p:spPr>
          <a:ln/>
        </p:spPr>
      </p:sp>
      <p:sp>
        <p:nvSpPr>
          <p:cNvPr id="43012" name="Rectangle 3"/>
          <p:cNvSpPr>
            <a:spLocks noGrp="1" noChangeArrowheads="1"/>
          </p:cNvSpPr>
          <p:nvPr>
            <p:ph type="body" idx="4294967295"/>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042815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2 </a:t>
            </a:r>
            <a:r>
              <a:rPr lang="zh-CN" altLang="en-US" smtClean="0">
                <a:latin typeface="Arial" panose="020B0604020202020204" pitchFamily="34" charset="0"/>
                <a:ea typeface="黑体" panose="02010609060101010101" pitchFamily="49" charset="-122"/>
              </a:rPr>
              <a:t>章  物理层</a:t>
            </a:r>
          </a:p>
        </p:txBody>
      </p:sp>
      <p:sp>
        <p:nvSpPr>
          <p:cNvPr id="260098"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2600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BC8859-CD4D-4045-9F26-3E2DC3AA7F97}" type="slidenum">
              <a:rPr lang="zh-CN" altLang="en-US" smtClean="0"/>
              <a:pPr eaLnBrk="1" hangingPunct="1"/>
              <a:t>1</a:t>
            </a:fld>
            <a:endParaRPr lang="en-US" altLang="zh-CN" smtClean="0"/>
          </a:p>
        </p:txBody>
      </p:sp>
      <p:sp>
        <p:nvSpPr>
          <p:cNvPr id="2601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2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物理层</a:t>
            </a:r>
            <a:endParaRPr lang="zh-CN" altLang="en-US" smtClean="0">
              <a:ea typeface="黑体" panose="02010609060101010101" pitchFamily="49" charset="-122"/>
            </a:endParaRPr>
          </a:p>
        </p:txBody>
      </p:sp>
      <p:sp>
        <p:nvSpPr>
          <p:cNvPr id="262146"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2.1  </a:t>
            </a:r>
            <a:r>
              <a:rPr lang="zh-CN" altLang="zh-CN" dirty="0" smtClean="0">
                <a:ea typeface="黑体" panose="02010609060101010101" pitchFamily="49" charset="-122"/>
              </a:rPr>
              <a:t>物理层的基本概念</a:t>
            </a:r>
          </a:p>
          <a:p>
            <a:r>
              <a:rPr lang="en-US" altLang="zh-CN" dirty="0" smtClean="0">
                <a:ea typeface="黑体" panose="02010609060101010101" pitchFamily="49" charset="-122"/>
              </a:rPr>
              <a:t>2.2  </a:t>
            </a:r>
            <a:r>
              <a:rPr lang="zh-CN" altLang="zh-CN" dirty="0" smtClean="0">
                <a:ea typeface="黑体" panose="02010609060101010101" pitchFamily="49" charset="-122"/>
              </a:rPr>
              <a:t>数据通信的基础知识</a:t>
            </a:r>
            <a:endParaRPr lang="en-US" altLang="zh-CN" dirty="0" smtClean="0">
              <a:ea typeface="黑体" panose="02010609060101010101" pitchFamily="49" charset="-122"/>
            </a:endParaRPr>
          </a:p>
          <a:p>
            <a:r>
              <a:rPr lang="en-US" altLang="zh-CN" dirty="0">
                <a:ea typeface="黑体" panose="02010609060101010101" pitchFamily="49" charset="-122"/>
              </a:rPr>
              <a:t>2.3  </a:t>
            </a:r>
            <a:r>
              <a:rPr lang="zh-CN" altLang="zh-CN">
                <a:ea typeface="黑体" panose="02010609060101010101" pitchFamily="49" charset="-122"/>
              </a:rPr>
              <a:t>物理层下面的传输媒体</a:t>
            </a:r>
          </a:p>
          <a:p>
            <a:endParaRPr lang="zh-CN"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2621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C94AF7-322E-45EC-A303-85DAE4FFD40F}" type="slidenum">
              <a:rPr lang="zh-CN" altLang="en-US" smtClean="0"/>
              <a:pPr eaLnBrk="1" hangingPunct="1"/>
              <a:t>2</a:t>
            </a:fld>
            <a:endParaRPr lang="en-US" altLang="zh-CN" smtClean="0"/>
          </a:p>
        </p:txBody>
      </p:sp>
      <p:sp>
        <p:nvSpPr>
          <p:cNvPr id="2621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p:cNvSpPr>
            <a:spLocks noGrp="1" noChangeArrowheads="1"/>
          </p:cNvSpPr>
          <p:nvPr>
            <p:ph type="title"/>
          </p:nvPr>
        </p:nvSpPr>
        <p:spPr>
          <a:xfrm>
            <a:off x="495300" y="188913"/>
            <a:ext cx="9066213" cy="792162"/>
          </a:xfrm>
        </p:spPr>
        <p:txBody>
          <a:bodyPr/>
          <a:lstStyle/>
          <a:p>
            <a:r>
              <a:rPr lang="en-US" altLang="zh-CN" smtClean="0">
                <a:ea typeface="Arial Unicode MS" pitchFamily="34" charset="-122"/>
              </a:rPr>
              <a:t>2.1  </a:t>
            </a:r>
            <a:r>
              <a:rPr lang="zh-CN" altLang="en-US" smtClean="0">
                <a:ea typeface="黑体" panose="02010609060101010101" pitchFamily="49" charset="-122"/>
              </a:rPr>
              <a:t>物理层的基本概念</a:t>
            </a:r>
          </a:p>
        </p:txBody>
      </p:sp>
      <p:sp>
        <p:nvSpPr>
          <p:cNvPr id="263170"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物理层考虑的是怎样才能在连接各种计算机的传输媒体上</a:t>
            </a:r>
            <a:r>
              <a:rPr lang="zh-CN" altLang="zh-CN" dirty="0" smtClean="0">
                <a:solidFill>
                  <a:srgbClr val="FF0000"/>
                </a:solidFill>
                <a:ea typeface="黑体" panose="02010609060101010101" pitchFamily="49" charset="-122"/>
              </a:rPr>
              <a:t>传输数据比特流，</a:t>
            </a:r>
            <a:r>
              <a:rPr lang="zh-CN" altLang="zh-CN" dirty="0" smtClean="0">
                <a:ea typeface="黑体" panose="02010609060101010101" pitchFamily="49" charset="-122"/>
              </a:rPr>
              <a:t>而</a:t>
            </a:r>
            <a:r>
              <a:rPr lang="zh-CN" altLang="zh-CN" dirty="0" smtClean="0">
                <a:solidFill>
                  <a:srgbClr val="FF0000"/>
                </a:solidFill>
                <a:ea typeface="黑体" panose="02010609060101010101" pitchFamily="49" charset="-122"/>
              </a:rPr>
              <a:t>不是指具体的传输媒体。</a:t>
            </a:r>
            <a:endParaRPr lang="en-US" altLang="zh-CN" dirty="0" smtClean="0">
              <a:solidFill>
                <a:srgbClr val="FF0000"/>
              </a:solidFill>
              <a:ea typeface="黑体" panose="02010609060101010101" pitchFamily="49" charset="-122"/>
            </a:endParaRPr>
          </a:p>
          <a:p>
            <a:r>
              <a:rPr lang="zh-CN" altLang="zh-CN" dirty="0" smtClean="0">
                <a:ea typeface="黑体" panose="02010609060101010101" pitchFamily="49" charset="-122"/>
              </a:rPr>
              <a:t>物理层的作用是要尽可能地</a:t>
            </a:r>
            <a:r>
              <a:rPr lang="zh-CN" altLang="zh-CN" dirty="0" smtClean="0">
                <a:solidFill>
                  <a:srgbClr val="FF0000"/>
                </a:solidFill>
                <a:ea typeface="黑体" panose="02010609060101010101" pitchFamily="49" charset="-122"/>
              </a:rPr>
              <a:t>屏蔽</a:t>
            </a:r>
            <a:r>
              <a:rPr lang="zh-CN" altLang="zh-CN" dirty="0" smtClean="0">
                <a:ea typeface="黑体" panose="02010609060101010101" pitchFamily="49" charset="-122"/>
              </a:rPr>
              <a:t>掉</a:t>
            </a:r>
            <a:r>
              <a:rPr lang="zh-CN" altLang="en-US" dirty="0" smtClean="0">
                <a:ea typeface="黑体" panose="02010609060101010101" pitchFamily="49" charset="-122"/>
              </a:rPr>
              <a:t>不同</a:t>
            </a:r>
            <a:r>
              <a:rPr lang="zh-CN" altLang="zh-CN" dirty="0" smtClean="0">
                <a:ea typeface="黑体" panose="02010609060101010101" pitchFamily="49" charset="-122"/>
              </a:rPr>
              <a:t>传输媒体和通信手段的差异</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用于物理层的协议也常称为物理层</a:t>
            </a:r>
            <a:r>
              <a:rPr lang="zh-CN" altLang="zh-CN" dirty="0" smtClean="0">
                <a:solidFill>
                  <a:srgbClr val="FF0000"/>
                </a:solidFill>
                <a:ea typeface="黑体" panose="02010609060101010101" pitchFamily="49" charset="-122"/>
              </a:rPr>
              <a:t>规程</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(procedure)</a:t>
            </a:r>
            <a:r>
              <a:rPr lang="zh-CN" altLang="en-US" dirty="0" smtClean="0">
                <a:ea typeface="黑体" panose="02010609060101010101" pitchFamily="49" charset="-122"/>
              </a:rPr>
              <a:t>。</a:t>
            </a:r>
          </a:p>
        </p:txBody>
      </p:sp>
      <p:sp>
        <p:nvSpPr>
          <p:cNvPr id="263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27683E-24B5-4564-A9C9-71113370856F}" type="slidenum">
              <a:rPr lang="zh-CN" altLang="en-US" smtClean="0"/>
              <a:pPr eaLnBrk="1" hangingPunct="1"/>
              <a:t>3</a:t>
            </a:fld>
            <a:endParaRPr lang="en-US" altLang="zh-CN" smtClean="0"/>
          </a:p>
        </p:txBody>
      </p:sp>
      <p:sp>
        <p:nvSpPr>
          <p:cNvPr id="263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物理层的主要任务</a:t>
            </a:r>
          </a:p>
        </p:txBody>
      </p:sp>
      <p:sp>
        <p:nvSpPr>
          <p:cNvPr id="265218" name="Rectangle 3"/>
          <p:cNvSpPr>
            <a:spLocks noGrp="1" noChangeArrowheads="1"/>
          </p:cNvSpPr>
          <p:nvPr>
            <p:ph idx="1"/>
          </p:nvPr>
        </p:nvSpPr>
        <p:spPr>
          <a:xfrm>
            <a:off x="495300" y="1989138"/>
            <a:ext cx="9066213" cy="4141787"/>
          </a:xfrm>
        </p:spPr>
        <p:txBody>
          <a:bodyPr/>
          <a:lstStyle/>
          <a:p>
            <a:r>
              <a:rPr lang="zh-CN" altLang="en-US" sz="2800" smtClean="0">
                <a:solidFill>
                  <a:srgbClr val="FF0000"/>
                </a:solidFill>
                <a:ea typeface="黑体" panose="02010609060101010101" pitchFamily="49" charset="-122"/>
              </a:rPr>
              <a:t>机械特性 ：</a:t>
            </a:r>
            <a:r>
              <a:rPr lang="zh-CN" altLang="en-US" sz="2800" smtClean="0">
                <a:ea typeface="黑体" panose="02010609060101010101" pitchFamily="49" charset="-122"/>
              </a:rPr>
              <a:t>指明接口所用接线器的形状和尺寸、引线数目和排列、固定和锁定装置等。</a:t>
            </a:r>
          </a:p>
          <a:p>
            <a:r>
              <a:rPr lang="zh-CN" altLang="en-US" sz="2800" smtClean="0">
                <a:solidFill>
                  <a:srgbClr val="FF0000"/>
                </a:solidFill>
                <a:ea typeface="黑体" panose="02010609060101010101" pitchFamily="49" charset="-122"/>
              </a:rPr>
              <a:t>电气特性：</a:t>
            </a:r>
            <a:r>
              <a:rPr lang="zh-CN" altLang="en-US" sz="2800" smtClean="0">
                <a:ea typeface="黑体" panose="02010609060101010101" pitchFamily="49" charset="-122"/>
              </a:rPr>
              <a:t>指明在接口电缆的各条线上出现的电压的范围。</a:t>
            </a:r>
          </a:p>
          <a:p>
            <a:r>
              <a:rPr lang="zh-CN" altLang="en-US" sz="2800" smtClean="0">
                <a:solidFill>
                  <a:srgbClr val="FF0000"/>
                </a:solidFill>
                <a:ea typeface="黑体" panose="02010609060101010101" pitchFamily="49" charset="-122"/>
              </a:rPr>
              <a:t>功能特性：</a:t>
            </a:r>
            <a:r>
              <a:rPr lang="zh-CN" altLang="en-US" sz="2800" smtClean="0">
                <a:ea typeface="黑体" panose="02010609060101010101" pitchFamily="49" charset="-122"/>
              </a:rPr>
              <a:t>指明某条线上出现的某一电平的电压表示何种意义。</a:t>
            </a:r>
          </a:p>
          <a:p>
            <a:r>
              <a:rPr lang="zh-CN" altLang="en-US" sz="2800" smtClean="0">
                <a:solidFill>
                  <a:srgbClr val="FF0000"/>
                </a:solidFill>
                <a:ea typeface="黑体" panose="02010609060101010101" pitchFamily="49" charset="-122"/>
              </a:rPr>
              <a:t>过程特性 ：</a:t>
            </a:r>
            <a:r>
              <a:rPr lang="zh-CN" altLang="en-US" sz="2800" smtClean="0">
                <a:ea typeface="黑体" panose="02010609060101010101" pitchFamily="49" charset="-122"/>
              </a:rPr>
              <a:t>指明对于不同功能的各种可能事件的出现顺序。 </a:t>
            </a:r>
          </a:p>
        </p:txBody>
      </p:sp>
      <p:sp>
        <p:nvSpPr>
          <p:cNvPr id="265219" name="矩形 2"/>
          <p:cNvSpPr>
            <a:spLocks noChangeArrowheads="1"/>
          </p:cNvSpPr>
          <p:nvPr/>
        </p:nvSpPr>
        <p:spPr bwMode="auto">
          <a:xfrm>
            <a:off x="488950" y="1196975"/>
            <a:ext cx="9072563" cy="647700"/>
          </a:xfrm>
          <a:prstGeom prst="rect">
            <a:avLst/>
          </a:prstGeom>
          <a:solidFill>
            <a:srgbClr val="FFFF00"/>
          </a:solidFill>
          <a:ln w="9525">
            <a:solidFill>
              <a:schemeClr val="tx1"/>
            </a:solidFill>
            <a:round/>
            <a:headEnd/>
            <a:tailEnd/>
          </a:ln>
        </p:spPr>
        <p:txBody>
          <a:bodyPr/>
          <a:lstStyle/>
          <a:p>
            <a:pPr algn="ctr" eaLnBrk="0" hangingPunct="0"/>
            <a:r>
              <a:rPr lang="zh-CN" altLang="en-US" sz="3200" b="1">
                <a:ea typeface="黑体" panose="02010609060101010101" pitchFamily="49" charset="-122"/>
              </a:rPr>
              <a:t>主要任务：确定与传输媒体的接口的一些特性。</a:t>
            </a:r>
          </a:p>
        </p:txBody>
      </p:sp>
      <p:sp>
        <p:nvSpPr>
          <p:cNvPr id="26522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2E7835-F47D-4E7A-8406-45F543FC00A3}" type="slidenum">
              <a:rPr lang="zh-CN" altLang="en-US" smtClean="0"/>
              <a:pPr eaLnBrk="1" hangingPunct="1"/>
              <a:t>4</a:t>
            </a:fld>
            <a:endParaRPr lang="en-US" altLang="zh-CN" smtClean="0"/>
          </a:p>
        </p:txBody>
      </p:sp>
      <p:sp>
        <p:nvSpPr>
          <p:cNvPr id="26522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855246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物理层的主要任务</a:t>
            </a:r>
          </a:p>
        </p:txBody>
      </p:sp>
      <p:sp>
        <p:nvSpPr>
          <p:cNvPr id="26522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2E7835-F47D-4E7A-8406-45F543FC00A3}" type="slidenum">
              <a:rPr lang="zh-CN" altLang="en-US" smtClean="0"/>
              <a:pPr eaLnBrk="1" hangingPunct="1"/>
              <a:t>5</a:t>
            </a:fld>
            <a:endParaRPr lang="en-US" altLang="zh-CN" smtClean="0"/>
          </a:p>
        </p:txBody>
      </p:sp>
      <p:sp>
        <p:nvSpPr>
          <p:cNvPr id="26522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pic>
        <p:nvPicPr>
          <p:cNvPr id="2" name="图片 1"/>
          <p:cNvPicPr>
            <a:picLocks noChangeAspect="1"/>
          </p:cNvPicPr>
          <p:nvPr/>
        </p:nvPicPr>
        <p:blipFill>
          <a:blip r:embed="rId3"/>
          <a:stretch>
            <a:fillRect/>
          </a:stretch>
        </p:blipFill>
        <p:spPr>
          <a:xfrm>
            <a:off x="2792820" y="1124808"/>
            <a:ext cx="4627582" cy="56167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  </a:t>
            </a:r>
            <a:r>
              <a:rPr lang="zh-CN" altLang="zh-CN" smtClean="0">
                <a:ea typeface="黑体" panose="02010609060101010101" pitchFamily="49" charset="-122"/>
              </a:rPr>
              <a:t>数据通信的基础知识</a:t>
            </a:r>
            <a:endParaRPr lang="zh-CN" altLang="en-US" smtClean="0">
              <a:ea typeface="黑体" panose="02010609060101010101" pitchFamily="49" charset="-122"/>
            </a:endParaRPr>
          </a:p>
        </p:txBody>
      </p:sp>
      <p:sp>
        <p:nvSpPr>
          <p:cNvPr id="26726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2.2.1  </a:t>
            </a:r>
            <a:r>
              <a:rPr lang="zh-CN" altLang="zh-CN" smtClean="0">
                <a:ea typeface="黑体" panose="02010609060101010101" pitchFamily="49" charset="-122"/>
              </a:rPr>
              <a:t>数据通信系统的模型</a:t>
            </a:r>
          </a:p>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p>
          <a:p>
            <a:r>
              <a:rPr lang="en-US" altLang="zh-CN" smtClean="0">
                <a:ea typeface="黑体" panose="02010609060101010101" pitchFamily="49" charset="-122"/>
              </a:rPr>
              <a:t>2.2.3  </a:t>
            </a:r>
            <a:r>
              <a:rPr lang="zh-CN" altLang="zh-CN" smtClean="0">
                <a:ea typeface="黑体" panose="02010609060101010101" pitchFamily="49" charset="-122"/>
              </a:rPr>
              <a:t>信道的极限容量</a:t>
            </a:r>
          </a:p>
        </p:txBody>
      </p:sp>
      <p:sp>
        <p:nvSpPr>
          <p:cNvPr id="2672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92B3D9-48A6-4FA2-AACA-1CB358A57361}" type="slidenum">
              <a:rPr lang="zh-CN" altLang="en-US" smtClean="0"/>
              <a:pPr eaLnBrk="1" hangingPunct="1"/>
              <a:t>6</a:t>
            </a:fld>
            <a:endParaRPr lang="en-US" altLang="zh-CN" smtClean="0"/>
          </a:p>
        </p:txBody>
      </p:sp>
      <p:sp>
        <p:nvSpPr>
          <p:cNvPr id="2672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p:cNvSpPr>
            <a:spLocks noGrp="1" noChangeArrowheads="1"/>
          </p:cNvSpPr>
          <p:nvPr>
            <p:ph type="title"/>
          </p:nvPr>
        </p:nvSpPr>
        <p:spPr/>
        <p:txBody>
          <a:bodyPr/>
          <a:lstStyle/>
          <a:p>
            <a:r>
              <a:rPr lang="en-US" altLang="zh-CN" smtClean="0">
                <a:ea typeface="黑体" panose="02010609060101010101" pitchFamily="49" charset="-122"/>
              </a:rPr>
              <a:t>2.2.1  </a:t>
            </a:r>
            <a:r>
              <a:rPr lang="zh-CN" altLang="zh-CN" smtClean="0">
                <a:ea typeface="黑体" panose="02010609060101010101" pitchFamily="49" charset="-122"/>
              </a:rPr>
              <a:t>数据通信系统的模型</a:t>
            </a:r>
            <a:endParaRPr lang="zh-CN" altLang="en-US" smtClean="0">
              <a:ea typeface="黑体" panose="02010609060101010101" pitchFamily="49" charset="-122"/>
            </a:endParaRPr>
          </a:p>
        </p:txBody>
      </p:sp>
      <p:sp>
        <p:nvSpPr>
          <p:cNvPr id="269314" name="矩形 2"/>
          <p:cNvSpPr>
            <a:spLocks noChangeArrowheads="1"/>
          </p:cNvSpPr>
          <p:nvPr/>
        </p:nvSpPr>
        <p:spPr bwMode="auto">
          <a:xfrm>
            <a:off x="415925" y="1104900"/>
            <a:ext cx="9290050" cy="869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10000"/>
              </a:lnSpc>
            </a:pPr>
            <a:r>
              <a:rPr lang="zh-CN" altLang="zh-CN" sz="2400" b="1">
                <a:ea typeface="黑体" panose="02010609060101010101" pitchFamily="49" charset="-122"/>
              </a:rPr>
              <a:t>一个数据通信系统</a:t>
            </a:r>
            <a:r>
              <a:rPr lang="zh-CN" altLang="en-US" sz="2400" b="1">
                <a:ea typeface="黑体" panose="02010609060101010101" pitchFamily="49" charset="-122"/>
              </a:rPr>
              <a:t>包括</a:t>
            </a:r>
            <a:r>
              <a:rPr lang="zh-CN" altLang="zh-CN" sz="2400" b="1">
                <a:solidFill>
                  <a:srgbClr val="FF0000"/>
                </a:solidFill>
                <a:ea typeface="黑体" panose="02010609060101010101" pitchFamily="49" charset="-122"/>
              </a:rPr>
              <a:t>三大部分</a:t>
            </a:r>
            <a:r>
              <a:rPr lang="zh-CN" altLang="en-US" sz="2400" b="1">
                <a:solidFill>
                  <a:srgbClr val="FF0000"/>
                </a:solidFill>
                <a:ea typeface="黑体" panose="02010609060101010101" pitchFamily="49" charset="-122"/>
              </a:rPr>
              <a:t>：</a:t>
            </a:r>
            <a:r>
              <a:rPr lang="zh-CN" altLang="zh-CN" sz="2400" b="1">
                <a:ea typeface="黑体" panose="02010609060101010101" pitchFamily="49" charset="-122"/>
              </a:rPr>
              <a:t>源系统（或发送端、发送方）、传输系统（或传输网络）和目的系统（或接收端、接收方）</a:t>
            </a:r>
            <a:r>
              <a:rPr lang="zh-CN" altLang="en-US" sz="2400" b="1">
                <a:ea typeface="黑体" panose="02010609060101010101" pitchFamily="49" charset="-122"/>
              </a:rPr>
              <a:t>。</a:t>
            </a:r>
          </a:p>
        </p:txBody>
      </p:sp>
      <p:grpSp>
        <p:nvGrpSpPr>
          <p:cNvPr id="6" name="Group 107"/>
          <p:cNvGrpSpPr>
            <a:grpSpLocks/>
          </p:cNvGrpSpPr>
          <p:nvPr/>
        </p:nvGrpSpPr>
        <p:grpSpPr bwMode="auto">
          <a:xfrm>
            <a:off x="4457700" y="4641850"/>
            <a:ext cx="1111250" cy="727075"/>
            <a:chOff x="2463" y="2931"/>
            <a:chExt cx="646" cy="458"/>
          </a:xfrm>
        </p:grpSpPr>
        <p:sp>
          <p:nvSpPr>
            <p:cNvPr id="269316" name="AutoShape 13"/>
            <p:cNvSpPr>
              <a:spLocks noChangeArrowheads="1"/>
            </p:cNvSpPr>
            <p:nvPr/>
          </p:nvSpPr>
          <p:spPr bwMode="auto">
            <a:xfrm>
              <a:off x="2463" y="2931"/>
              <a:ext cx="646" cy="458"/>
            </a:xfrm>
            <a:prstGeom prst="cube">
              <a:avLst>
                <a:gd name="adj" fmla="val 13069"/>
              </a:avLst>
            </a:prstGeom>
            <a:solidFill>
              <a:srgbClr val="66FF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17" name="Rectangle 16"/>
            <p:cNvSpPr>
              <a:spLocks noChangeArrowheads="1"/>
            </p:cNvSpPr>
            <p:nvPr/>
          </p:nvSpPr>
          <p:spPr bwMode="auto">
            <a:xfrm>
              <a:off x="2546" y="2985"/>
              <a:ext cx="50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传输</a:t>
              </a:r>
            </a:p>
            <a:p>
              <a:r>
                <a:rPr lang="zh-CN" altLang="en-US" b="1">
                  <a:solidFill>
                    <a:srgbClr val="0000CC"/>
                  </a:solidFill>
                  <a:ea typeface="黑体" panose="02010609060101010101" pitchFamily="49" charset="-122"/>
                </a:rPr>
                <a:t>系统</a:t>
              </a:r>
            </a:p>
          </p:txBody>
        </p:sp>
      </p:grpSp>
      <p:grpSp>
        <p:nvGrpSpPr>
          <p:cNvPr id="9" name="Group 102"/>
          <p:cNvGrpSpPr>
            <a:grpSpLocks/>
          </p:cNvGrpSpPr>
          <p:nvPr/>
        </p:nvGrpSpPr>
        <p:grpSpPr bwMode="auto">
          <a:xfrm>
            <a:off x="341313" y="5005388"/>
            <a:ext cx="614362" cy="1233487"/>
            <a:chOff x="69" y="3160"/>
            <a:chExt cx="357" cy="777"/>
          </a:xfrm>
        </p:grpSpPr>
        <p:sp>
          <p:nvSpPr>
            <p:cNvPr id="269319" name="Rectangle 5"/>
            <p:cNvSpPr>
              <a:spLocks noChangeArrowheads="1"/>
            </p:cNvSpPr>
            <p:nvPr/>
          </p:nvSpPr>
          <p:spPr bwMode="auto">
            <a:xfrm>
              <a:off x="69" y="3189"/>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输入信息</a:t>
              </a:r>
            </a:p>
          </p:txBody>
        </p:sp>
        <p:sp>
          <p:nvSpPr>
            <p:cNvPr id="269320" name="Line 17"/>
            <p:cNvSpPr>
              <a:spLocks noChangeShapeType="1"/>
            </p:cNvSpPr>
            <p:nvPr/>
          </p:nvSpPr>
          <p:spPr bwMode="auto">
            <a:xfrm>
              <a:off x="94" y="3160"/>
              <a:ext cx="313"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2" name="Group 104"/>
          <p:cNvGrpSpPr>
            <a:grpSpLocks/>
          </p:cNvGrpSpPr>
          <p:nvPr/>
        </p:nvGrpSpPr>
        <p:grpSpPr bwMode="auto">
          <a:xfrm>
            <a:off x="1787525" y="5005388"/>
            <a:ext cx="679450" cy="1189037"/>
            <a:chOff x="910" y="3160"/>
            <a:chExt cx="395" cy="749"/>
          </a:xfrm>
        </p:grpSpPr>
        <p:sp>
          <p:nvSpPr>
            <p:cNvPr id="269322" name="Rectangle 7"/>
            <p:cNvSpPr>
              <a:spLocks noChangeArrowheads="1"/>
            </p:cNvSpPr>
            <p:nvPr/>
          </p:nvSpPr>
          <p:spPr bwMode="auto">
            <a:xfrm>
              <a:off x="948" y="3161"/>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输入数据</a:t>
              </a:r>
            </a:p>
          </p:txBody>
        </p:sp>
        <p:sp>
          <p:nvSpPr>
            <p:cNvPr id="269323" name="Line 18"/>
            <p:cNvSpPr>
              <a:spLocks noChangeShapeType="1"/>
            </p:cNvSpPr>
            <p:nvPr/>
          </p:nvSpPr>
          <p:spPr bwMode="auto">
            <a:xfrm>
              <a:off x="910" y="3160"/>
              <a:ext cx="34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5" name="Group 106"/>
          <p:cNvGrpSpPr>
            <a:grpSpLocks/>
          </p:cNvGrpSpPr>
          <p:nvPr/>
        </p:nvGrpSpPr>
        <p:grpSpPr bwMode="auto">
          <a:xfrm>
            <a:off x="3281363" y="4999038"/>
            <a:ext cx="1319212" cy="1271587"/>
            <a:chOff x="1779" y="3156"/>
            <a:chExt cx="742" cy="801"/>
          </a:xfrm>
        </p:grpSpPr>
        <p:sp>
          <p:nvSpPr>
            <p:cNvPr id="269325" name="Rectangle 9"/>
            <p:cNvSpPr>
              <a:spLocks noChangeArrowheads="1"/>
            </p:cNvSpPr>
            <p:nvPr/>
          </p:nvSpPr>
          <p:spPr bwMode="auto">
            <a:xfrm>
              <a:off x="1791" y="3203"/>
              <a:ext cx="730"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发送</a:t>
              </a:r>
              <a:endParaRPr lang="en-US" altLang="zh-CN" b="1">
                <a:solidFill>
                  <a:srgbClr val="0000CC"/>
                </a:solidFill>
                <a:ea typeface="黑体" panose="02010609060101010101" pitchFamily="49" charset="-122"/>
              </a:endParaRPr>
            </a:p>
            <a:p>
              <a:r>
                <a:rPr lang="zh-CN" altLang="en-US" b="1">
                  <a:solidFill>
                    <a:srgbClr val="0000CC"/>
                  </a:solidFill>
                  <a:ea typeface="黑体" panose="02010609060101010101" pitchFamily="49" charset="-122"/>
                </a:rPr>
                <a:t>的信号</a:t>
              </a:r>
              <a:endParaRPr lang="en-US" altLang="zh-CN" b="1">
                <a:solidFill>
                  <a:srgbClr val="0000CC"/>
                </a:solidFill>
                <a:ea typeface="黑体" panose="02010609060101010101" pitchFamily="49" charset="-122"/>
              </a:endParaRPr>
            </a:p>
            <a:p>
              <a:r>
                <a:rPr lang="en-US" altLang="zh-CN" b="1">
                  <a:solidFill>
                    <a:srgbClr val="0000CC"/>
                  </a:solidFill>
                  <a:ea typeface="黑体" panose="02010609060101010101" pitchFamily="49" charset="-122"/>
                </a:rPr>
                <a:t>(</a:t>
              </a:r>
              <a:r>
                <a:rPr lang="zh-CN" altLang="en-US" b="1">
                  <a:solidFill>
                    <a:srgbClr val="0000CC"/>
                  </a:solidFill>
                  <a:ea typeface="黑体" panose="02010609060101010101" pitchFamily="49" charset="-122"/>
                </a:rPr>
                <a:t>数字的或模拟的</a:t>
              </a:r>
              <a:r>
                <a:rPr lang="en-US" altLang="zh-CN" b="1">
                  <a:solidFill>
                    <a:srgbClr val="0000CC"/>
                  </a:solidFill>
                  <a:ea typeface="黑体" panose="02010609060101010101" pitchFamily="49" charset="-122"/>
                </a:rPr>
                <a:t>)</a:t>
              </a:r>
              <a:endParaRPr lang="zh-CN" altLang="en-US" b="1">
                <a:solidFill>
                  <a:srgbClr val="0000CC"/>
                </a:solidFill>
                <a:ea typeface="黑体" panose="02010609060101010101" pitchFamily="49" charset="-122"/>
              </a:endParaRPr>
            </a:p>
          </p:txBody>
        </p:sp>
        <p:sp>
          <p:nvSpPr>
            <p:cNvPr id="269326" name="Line 19"/>
            <p:cNvSpPr>
              <a:spLocks noChangeShapeType="1"/>
            </p:cNvSpPr>
            <p:nvPr/>
          </p:nvSpPr>
          <p:spPr bwMode="auto">
            <a:xfrm>
              <a:off x="1779" y="3156"/>
              <a:ext cx="684" cy="4"/>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8" name="Group 108"/>
          <p:cNvGrpSpPr>
            <a:grpSpLocks/>
          </p:cNvGrpSpPr>
          <p:nvPr/>
        </p:nvGrpSpPr>
        <p:grpSpPr bwMode="auto">
          <a:xfrm>
            <a:off x="5538788" y="5005388"/>
            <a:ext cx="1227137" cy="1231900"/>
            <a:chOff x="3091" y="3160"/>
            <a:chExt cx="729" cy="776"/>
          </a:xfrm>
        </p:grpSpPr>
        <p:sp>
          <p:nvSpPr>
            <p:cNvPr id="269328" name="Rectangle 10"/>
            <p:cNvSpPr>
              <a:spLocks noChangeArrowheads="1"/>
            </p:cNvSpPr>
            <p:nvPr/>
          </p:nvSpPr>
          <p:spPr bwMode="auto">
            <a:xfrm>
              <a:off x="3111" y="3182"/>
              <a:ext cx="709"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接收</a:t>
              </a:r>
            </a:p>
            <a:p>
              <a:r>
                <a:rPr lang="zh-CN" altLang="en-US" b="1">
                  <a:solidFill>
                    <a:srgbClr val="0000CC"/>
                  </a:solidFill>
                  <a:ea typeface="黑体" panose="02010609060101010101" pitchFamily="49" charset="-122"/>
                </a:rPr>
                <a:t>的信号</a:t>
              </a:r>
              <a:endParaRPr lang="en-US" altLang="zh-CN" b="1">
                <a:solidFill>
                  <a:srgbClr val="0000CC"/>
                </a:solidFill>
                <a:ea typeface="黑体" panose="02010609060101010101" pitchFamily="49" charset="-122"/>
              </a:endParaRPr>
            </a:p>
            <a:p>
              <a:r>
                <a:rPr lang="en-US" altLang="zh-CN" b="1">
                  <a:solidFill>
                    <a:srgbClr val="0000CC"/>
                  </a:solidFill>
                  <a:ea typeface="黑体" panose="02010609060101010101" pitchFamily="49" charset="-122"/>
                </a:rPr>
                <a:t>(</a:t>
              </a:r>
              <a:r>
                <a:rPr lang="zh-CN" altLang="en-US" b="1">
                  <a:solidFill>
                    <a:srgbClr val="0000CC"/>
                  </a:solidFill>
                  <a:ea typeface="黑体" panose="02010609060101010101" pitchFamily="49" charset="-122"/>
                </a:rPr>
                <a:t>数字的或模拟的</a:t>
              </a:r>
              <a:r>
                <a:rPr lang="en-US" altLang="zh-CN" b="1">
                  <a:solidFill>
                    <a:srgbClr val="0000CC"/>
                  </a:solidFill>
                  <a:ea typeface="黑体" panose="02010609060101010101" pitchFamily="49" charset="-122"/>
                </a:rPr>
                <a:t>)</a:t>
              </a:r>
              <a:endParaRPr lang="zh-CN" altLang="en-US" b="1">
                <a:solidFill>
                  <a:srgbClr val="0000CC"/>
                </a:solidFill>
                <a:ea typeface="黑体" panose="02010609060101010101" pitchFamily="49" charset="-122"/>
              </a:endParaRPr>
            </a:p>
          </p:txBody>
        </p:sp>
        <p:sp>
          <p:nvSpPr>
            <p:cNvPr id="269329"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21" name="Group 110"/>
          <p:cNvGrpSpPr>
            <a:grpSpLocks/>
          </p:cNvGrpSpPr>
          <p:nvPr/>
        </p:nvGrpSpPr>
        <p:grpSpPr bwMode="auto">
          <a:xfrm>
            <a:off x="7648575" y="5005388"/>
            <a:ext cx="641350" cy="1262062"/>
            <a:chOff x="4318" y="3160"/>
            <a:chExt cx="373" cy="795"/>
          </a:xfrm>
        </p:grpSpPr>
        <p:sp>
          <p:nvSpPr>
            <p:cNvPr id="269331" name="Rectangle 8"/>
            <p:cNvSpPr>
              <a:spLocks noChangeArrowheads="1"/>
            </p:cNvSpPr>
            <p:nvPr/>
          </p:nvSpPr>
          <p:spPr bwMode="auto">
            <a:xfrm>
              <a:off x="4334" y="3207"/>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输出数据</a:t>
              </a:r>
            </a:p>
          </p:txBody>
        </p:sp>
        <p:sp>
          <p:nvSpPr>
            <p:cNvPr id="269332" name="Line 21"/>
            <p:cNvSpPr>
              <a:spLocks noChangeShapeType="1"/>
            </p:cNvSpPr>
            <p:nvPr/>
          </p:nvSpPr>
          <p:spPr bwMode="auto">
            <a:xfrm>
              <a:off x="4318" y="3160"/>
              <a:ext cx="33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24" name="Group 103"/>
          <p:cNvGrpSpPr>
            <a:grpSpLocks/>
          </p:cNvGrpSpPr>
          <p:nvPr/>
        </p:nvGrpSpPr>
        <p:grpSpPr bwMode="auto">
          <a:xfrm>
            <a:off x="922338" y="4641850"/>
            <a:ext cx="922337" cy="727075"/>
            <a:chOff x="407" y="2931"/>
            <a:chExt cx="536" cy="458"/>
          </a:xfrm>
        </p:grpSpPr>
        <p:sp>
          <p:nvSpPr>
            <p:cNvPr id="269334" name="AutoShape 11"/>
            <p:cNvSpPr>
              <a:spLocks noChangeArrowheads="1"/>
            </p:cNvSpPr>
            <p:nvPr/>
          </p:nvSpPr>
          <p:spPr bwMode="auto">
            <a:xfrm>
              <a:off x="407" y="2931"/>
              <a:ext cx="536" cy="458"/>
            </a:xfrm>
            <a:prstGeom prst="cube">
              <a:avLst>
                <a:gd name="adj" fmla="val 13069"/>
              </a:avLst>
            </a:prstGeom>
            <a:solidFill>
              <a:srgbClr val="FFFF00"/>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35" name="Rectangle 22"/>
            <p:cNvSpPr>
              <a:spLocks noChangeArrowheads="1"/>
            </p:cNvSpPr>
            <p:nvPr/>
          </p:nvSpPr>
          <p:spPr bwMode="auto">
            <a:xfrm>
              <a:off x="449" y="3059"/>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源点</a:t>
              </a:r>
            </a:p>
          </p:txBody>
        </p:sp>
      </p:grpSp>
      <p:grpSp>
        <p:nvGrpSpPr>
          <p:cNvPr id="27" name="Group 111"/>
          <p:cNvGrpSpPr>
            <a:grpSpLocks/>
          </p:cNvGrpSpPr>
          <p:nvPr/>
        </p:nvGrpSpPr>
        <p:grpSpPr bwMode="auto">
          <a:xfrm>
            <a:off x="8226425" y="4641850"/>
            <a:ext cx="922338" cy="727075"/>
            <a:chOff x="4654" y="2931"/>
            <a:chExt cx="536" cy="458"/>
          </a:xfrm>
        </p:grpSpPr>
        <p:sp>
          <p:nvSpPr>
            <p:cNvPr id="269337" name="AutoShape 15"/>
            <p:cNvSpPr>
              <a:spLocks noChangeArrowheads="1"/>
            </p:cNvSpPr>
            <p:nvPr/>
          </p:nvSpPr>
          <p:spPr bwMode="auto">
            <a:xfrm>
              <a:off x="4654" y="2931"/>
              <a:ext cx="536" cy="458"/>
            </a:xfrm>
            <a:prstGeom prst="cube">
              <a:avLst>
                <a:gd name="adj" fmla="val 13069"/>
              </a:avLst>
            </a:pr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38" name="Rectangle 23"/>
            <p:cNvSpPr>
              <a:spLocks noChangeArrowheads="1"/>
            </p:cNvSpPr>
            <p:nvPr/>
          </p:nvSpPr>
          <p:spPr bwMode="auto">
            <a:xfrm>
              <a:off x="4699" y="3068"/>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终点</a:t>
              </a:r>
            </a:p>
          </p:txBody>
        </p:sp>
      </p:grpSp>
      <p:grpSp>
        <p:nvGrpSpPr>
          <p:cNvPr id="30" name="Group 105"/>
          <p:cNvGrpSpPr>
            <a:grpSpLocks/>
          </p:cNvGrpSpPr>
          <p:nvPr/>
        </p:nvGrpSpPr>
        <p:grpSpPr bwMode="auto">
          <a:xfrm>
            <a:off x="2333625" y="4641850"/>
            <a:ext cx="1000125" cy="727075"/>
            <a:chOff x="1228" y="2931"/>
            <a:chExt cx="581" cy="458"/>
          </a:xfrm>
        </p:grpSpPr>
        <p:sp>
          <p:nvSpPr>
            <p:cNvPr id="269340" name="AutoShape 12"/>
            <p:cNvSpPr>
              <a:spLocks noChangeArrowheads="1"/>
            </p:cNvSpPr>
            <p:nvPr/>
          </p:nvSpPr>
          <p:spPr bwMode="auto">
            <a:xfrm>
              <a:off x="1256" y="2931"/>
              <a:ext cx="537" cy="458"/>
            </a:xfrm>
            <a:prstGeom prst="cube">
              <a:avLst>
                <a:gd name="adj" fmla="val 13069"/>
              </a:avLst>
            </a:prstGeom>
            <a:solidFill>
              <a:srgbClr val="FFFF00"/>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1" name="Rectangle 24"/>
            <p:cNvSpPr>
              <a:spLocks noChangeArrowheads="1"/>
            </p:cNvSpPr>
            <p:nvPr/>
          </p:nvSpPr>
          <p:spPr bwMode="auto">
            <a:xfrm>
              <a:off x="1228" y="3068"/>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发送器</a:t>
              </a:r>
            </a:p>
          </p:txBody>
        </p:sp>
      </p:grpSp>
      <p:grpSp>
        <p:nvGrpSpPr>
          <p:cNvPr id="33" name="Group 109"/>
          <p:cNvGrpSpPr>
            <a:grpSpLocks/>
          </p:cNvGrpSpPr>
          <p:nvPr/>
        </p:nvGrpSpPr>
        <p:grpSpPr bwMode="auto">
          <a:xfrm>
            <a:off x="6719888" y="4641850"/>
            <a:ext cx="998537" cy="727075"/>
            <a:chOff x="3778" y="2931"/>
            <a:chExt cx="581" cy="458"/>
          </a:xfrm>
        </p:grpSpPr>
        <p:sp>
          <p:nvSpPr>
            <p:cNvPr id="269343" name="AutoShape 14"/>
            <p:cNvSpPr>
              <a:spLocks noChangeArrowheads="1"/>
            </p:cNvSpPr>
            <p:nvPr/>
          </p:nvSpPr>
          <p:spPr bwMode="auto">
            <a:xfrm>
              <a:off x="3805" y="2931"/>
              <a:ext cx="535" cy="458"/>
            </a:xfrm>
            <a:prstGeom prst="cube">
              <a:avLst>
                <a:gd name="adj" fmla="val 13069"/>
              </a:avLst>
            </a:pr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4" name="Rectangle 25"/>
            <p:cNvSpPr>
              <a:spLocks noChangeArrowheads="1"/>
            </p:cNvSpPr>
            <p:nvPr/>
          </p:nvSpPr>
          <p:spPr bwMode="auto">
            <a:xfrm>
              <a:off x="3778" y="3059"/>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接收器</a:t>
              </a:r>
            </a:p>
          </p:txBody>
        </p:sp>
      </p:grpSp>
      <p:sp>
        <p:nvSpPr>
          <p:cNvPr id="269345" name="Line 26"/>
          <p:cNvSpPr>
            <a:spLocks noChangeShapeType="1"/>
          </p:cNvSpPr>
          <p:nvPr/>
        </p:nvSpPr>
        <p:spPr bwMode="auto">
          <a:xfrm>
            <a:off x="2995613" y="3228975"/>
            <a:ext cx="377031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6" name="Line 27"/>
          <p:cNvSpPr>
            <a:spLocks noChangeShapeType="1"/>
          </p:cNvSpPr>
          <p:nvPr/>
        </p:nvSpPr>
        <p:spPr bwMode="auto">
          <a:xfrm>
            <a:off x="1690688" y="3228975"/>
            <a:ext cx="919162" cy="3175"/>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7" name="Rectangle 28"/>
          <p:cNvSpPr>
            <a:spLocks noChangeArrowheads="1"/>
          </p:cNvSpPr>
          <p:nvPr/>
        </p:nvSpPr>
        <p:spPr bwMode="auto">
          <a:xfrm>
            <a:off x="2055813" y="3446463"/>
            <a:ext cx="146685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调制解调器</a:t>
            </a:r>
          </a:p>
        </p:txBody>
      </p:sp>
      <p:sp>
        <p:nvSpPr>
          <p:cNvPr id="269348" name="Line 29"/>
          <p:cNvSpPr>
            <a:spLocks noChangeShapeType="1"/>
          </p:cNvSpPr>
          <p:nvPr/>
        </p:nvSpPr>
        <p:spPr bwMode="auto">
          <a:xfrm>
            <a:off x="7380288" y="3228975"/>
            <a:ext cx="998537" cy="0"/>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269349" name="Group 80"/>
          <p:cNvGrpSpPr>
            <a:grpSpLocks/>
          </p:cNvGrpSpPr>
          <p:nvPr/>
        </p:nvGrpSpPr>
        <p:grpSpPr bwMode="auto">
          <a:xfrm>
            <a:off x="4160838" y="2697163"/>
            <a:ext cx="1714500" cy="1009650"/>
            <a:chOff x="385" y="2795"/>
            <a:chExt cx="1769" cy="816"/>
          </a:xfrm>
        </p:grpSpPr>
        <p:sp>
          <p:nvSpPr>
            <p:cNvPr id="269350"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1"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2"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3"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4"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5"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6"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7"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8"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9"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0"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1"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2"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3"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4"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5"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6" name="Freeform 9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269367" name="Rectangle 42"/>
          <p:cNvSpPr>
            <a:spLocks noChangeArrowheads="1"/>
          </p:cNvSpPr>
          <p:nvPr/>
        </p:nvSpPr>
        <p:spPr bwMode="auto">
          <a:xfrm>
            <a:off x="1112838" y="3519488"/>
            <a:ext cx="942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rPr>
              <a:t>PC </a:t>
            </a:r>
          </a:p>
        </p:txBody>
      </p:sp>
      <p:sp>
        <p:nvSpPr>
          <p:cNvPr id="269368" name="Rectangle 43"/>
          <p:cNvSpPr>
            <a:spLocks noChangeArrowheads="1"/>
          </p:cNvSpPr>
          <p:nvPr/>
        </p:nvSpPr>
        <p:spPr bwMode="auto">
          <a:xfrm>
            <a:off x="4351338" y="3054350"/>
            <a:ext cx="1336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公用电话网</a:t>
            </a:r>
          </a:p>
        </p:txBody>
      </p:sp>
      <p:pic>
        <p:nvPicPr>
          <p:cNvPr id="269369" name="Picture 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838" y="2990850"/>
            <a:ext cx="9223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370"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6325" y="2844800"/>
            <a:ext cx="7683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371" name="Rectangle 46"/>
          <p:cNvSpPr>
            <a:spLocks noChangeArrowheads="1"/>
          </p:cNvSpPr>
          <p:nvPr/>
        </p:nvSpPr>
        <p:spPr bwMode="auto">
          <a:xfrm>
            <a:off x="6380163" y="3475038"/>
            <a:ext cx="14605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调制解调器</a:t>
            </a:r>
          </a:p>
        </p:txBody>
      </p:sp>
      <p:grpSp>
        <p:nvGrpSpPr>
          <p:cNvPr id="269372" name="Group 47"/>
          <p:cNvGrpSpPr>
            <a:grpSpLocks/>
          </p:cNvGrpSpPr>
          <p:nvPr/>
        </p:nvGrpSpPr>
        <p:grpSpPr bwMode="auto">
          <a:xfrm>
            <a:off x="3228975" y="2795588"/>
            <a:ext cx="706438" cy="339725"/>
            <a:chOff x="2315" y="3965"/>
            <a:chExt cx="496" cy="254"/>
          </a:xfrm>
        </p:grpSpPr>
        <p:sp>
          <p:nvSpPr>
            <p:cNvPr id="269373" name="Freeform 48"/>
            <p:cNvSpPr>
              <a:spLocks noChangeArrowheads="1"/>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4" name="Freeform 49"/>
            <p:cNvSpPr>
              <a:spLocks noChangeArrowheads="1"/>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5" name="Freeform 50"/>
            <p:cNvSpPr>
              <a:spLocks noChangeArrowheads="1"/>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6" name="Freeform 51"/>
            <p:cNvSpPr>
              <a:spLocks noChangeArrowheads="1"/>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269377" name="Freeform 52"/>
          <p:cNvSpPr>
            <a:spLocks noChangeArrowheads="1"/>
          </p:cNvSpPr>
          <p:nvPr/>
        </p:nvSpPr>
        <p:spPr bwMode="auto">
          <a:xfrm>
            <a:off x="1809750" y="2897188"/>
            <a:ext cx="803275"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8" name="Rectangle 53"/>
          <p:cNvSpPr>
            <a:spLocks noChangeArrowheads="1"/>
          </p:cNvSpPr>
          <p:nvPr/>
        </p:nvSpPr>
        <p:spPr bwMode="auto">
          <a:xfrm>
            <a:off x="1508125" y="2409825"/>
            <a:ext cx="15732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数字比特流</a:t>
            </a:r>
          </a:p>
        </p:txBody>
      </p:sp>
      <p:sp>
        <p:nvSpPr>
          <p:cNvPr id="269379" name="Rectangle 54"/>
          <p:cNvSpPr>
            <a:spLocks noChangeArrowheads="1"/>
          </p:cNvSpPr>
          <p:nvPr/>
        </p:nvSpPr>
        <p:spPr bwMode="auto">
          <a:xfrm>
            <a:off x="7224713" y="2409825"/>
            <a:ext cx="15398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数字比特流</a:t>
            </a:r>
          </a:p>
        </p:txBody>
      </p:sp>
      <p:sp>
        <p:nvSpPr>
          <p:cNvPr id="269380" name="Rectangle 55"/>
          <p:cNvSpPr>
            <a:spLocks noChangeArrowheads="1"/>
          </p:cNvSpPr>
          <p:nvPr/>
        </p:nvSpPr>
        <p:spPr bwMode="auto">
          <a:xfrm>
            <a:off x="3068638" y="2409825"/>
            <a:ext cx="13049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模拟信号</a:t>
            </a:r>
          </a:p>
        </p:txBody>
      </p:sp>
      <p:sp>
        <p:nvSpPr>
          <p:cNvPr id="269381" name="Rectangle 56"/>
          <p:cNvSpPr>
            <a:spLocks noChangeArrowheads="1"/>
          </p:cNvSpPr>
          <p:nvPr/>
        </p:nvSpPr>
        <p:spPr bwMode="auto">
          <a:xfrm>
            <a:off x="5881688" y="2409825"/>
            <a:ext cx="13208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模拟信号 </a:t>
            </a:r>
          </a:p>
        </p:txBody>
      </p:sp>
      <p:sp>
        <p:nvSpPr>
          <p:cNvPr id="269382" name="Rectangle 57"/>
          <p:cNvSpPr>
            <a:spLocks noChangeArrowheads="1"/>
          </p:cNvSpPr>
          <p:nvPr/>
        </p:nvSpPr>
        <p:spPr bwMode="auto">
          <a:xfrm>
            <a:off x="538163" y="2409825"/>
            <a:ext cx="7699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输入</a:t>
            </a:r>
          </a:p>
          <a:p>
            <a:r>
              <a:rPr lang="zh-CN" altLang="en-US" b="1">
                <a:solidFill>
                  <a:srgbClr val="0000CC"/>
                </a:solidFill>
                <a:ea typeface="黑体" panose="02010609060101010101" pitchFamily="49" charset="-122"/>
              </a:rPr>
              <a:t>汉字</a:t>
            </a:r>
          </a:p>
        </p:txBody>
      </p:sp>
      <p:sp>
        <p:nvSpPr>
          <p:cNvPr id="269383" name="Rectangle 58"/>
          <p:cNvSpPr>
            <a:spLocks noChangeArrowheads="1"/>
          </p:cNvSpPr>
          <p:nvPr/>
        </p:nvSpPr>
        <p:spPr bwMode="auto">
          <a:xfrm>
            <a:off x="8916988" y="2409825"/>
            <a:ext cx="7699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显示</a:t>
            </a:r>
          </a:p>
          <a:p>
            <a:r>
              <a:rPr lang="zh-CN" altLang="en-US" b="1">
                <a:solidFill>
                  <a:srgbClr val="0000CC"/>
                </a:solidFill>
                <a:ea typeface="黑体" panose="02010609060101010101" pitchFamily="49" charset="-122"/>
              </a:rPr>
              <a:t>汉字</a:t>
            </a:r>
          </a:p>
        </p:txBody>
      </p:sp>
      <p:sp>
        <p:nvSpPr>
          <p:cNvPr id="269384" name="Freeform 59"/>
          <p:cNvSpPr>
            <a:spLocks noChangeArrowheads="1"/>
          </p:cNvSpPr>
          <p:nvPr/>
        </p:nvSpPr>
        <p:spPr bwMode="auto">
          <a:xfrm>
            <a:off x="7421563" y="2917825"/>
            <a:ext cx="804862"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269385" name="Group 60"/>
          <p:cNvGrpSpPr>
            <a:grpSpLocks/>
          </p:cNvGrpSpPr>
          <p:nvPr/>
        </p:nvGrpSpPr>
        <p:grpSpPr bwMode="auto">
          <a:xfrm>
            <a:off x="6057900" y="2795588"/>
            <a:ext cx="708025" cy="339725"/>
            <a:chOff x="2315" y="3965"/>
            <a:chExt cx="496" cy="254"/>
          </a:xfrm>
        </p:grpSpPr>
        <p:sp>
          <p:nvSpPr>
            <p:cNvPr id="269386" name="Freeform 61"/>
            <p:cNvSpPr>
              <a:spLocks noChangeArrowheads="1"/>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87" name="Freeform 62"/>
            <p:cNvSpPr>
              <a:spLocks noChangeArrowheads="1"/>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88" name="Freeform 63"/>
            <p:cNvSpPr>
              <a:spLocks noChangeArrowheads="1"/>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89" name="Freeform 64"/>
            <p:cNvSpPr>
              <a:spLocks noChangeArrowheads="1"/>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81" name="Group 113"/>
          <p:cNvGrpSpPr>
            <a:grpSpLocks/>
          </p:cNvGrpSpPr>
          <p:nvPr/>
        </p:nvGrpSpPr>
        <p:grpSpPr bwMode="auto">
          <a:xfrm>
            <a:off x="631825" y="1989138"/>
            <a:ext cx="8920163" cy="420687"/>
            <a:chOff x="317" y="1260"/>
            <a:chExt cx="4873" cy="229"/>
          </a:xfrm>
        </p:grpSpPr>
        <p:sp>
          <p:nvSpPr>
            <p:cNvPr id="269391" name="Line 65"/>
            <p:cNvSpPr>
              <a:spLocks noChangeShapeType="1"/>
            </p:cNvSpPr>
            <p:nvPr/>
          </p:nvSpPr>
          <p:spPr bwMode="auto">
            <a:xfrm>
              <a:off x="317" y="1373"/>
              <a:ext cx="4873"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92" name="Rectangle 66"/>
            <p:cNvSpPr>
              <a:spLocks noChangeArrowheads="1"/>
            </p:cNvSpPr>
            <p:nvPr/>
          </p:nvSpPr>
          <p:spPr bwMode="auto">
            <a:xfrm>
              <a:off x="2294" y="1260"/>
              <a:ext cx="994" cy="2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数据通信系统</a:t>
              </a:r>
            </a:p>
          </p:txBody>
        </p:sp>
      </p:grpSp>
      <p:grpSp>
        <p:nvGrpSpPr>
          <p:cNvPr id="84" name="Group 99"/>
          <p:cNvGrpSpPr>
            <a:grpSpLocks/>
          </p:cNvGrpSpPr>
          <p:nvPr/>
        </p:nvGrpSpPr>
        <p:grpSpPr bwMode="auto">
          <a:xfrm>
            <a:off x="692150" y="3308350"/>
            <a:ext cx="3074988" cy="1660525"/>
            <a:chOff x="273" y="2091"/>
            <a:chExt cx="1788" cy="1046"/>
          </a:xfrm>
        </p:grpSpPr>
        <p:sp>
          <p:nvSpPr>
            <p:cNvPr id="269394" name="Line 68"/>
            <p:cNvSpPr>
              <a:spLocks noChangeShapeType="1"/>
            </p:cNvSpPr>
            <p:nvPr/>
          </p:nvSpPr>
          <p:spPr bwMode="auto">
            <a:xfrm>
              <a:off x="2061" y="2091"/>
              <a:ext cx="0" cy="1046"/>
            </a:xfrm>
            <a:prstGeom prst="line">
              <a:avLst/>
            </a:prstGeom>
            <a:noFill/>
            <a:ln w="28575">
              <a:solidFill>
                <a:srgbClr val="FF0000"/>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269395" name="Group 98"/>
            <p:cNvGrpSpPr>
              <a:grpSpLocks/>
            </p:cNvGrpSpPr>
            <p:nvPr/>
          </p:nvGrpSpPr>
          <p:grpSpPr bwMode="auto">
            <a:xfrm>
              <a:off x="273" y="2523"/>
              <a:ext cx="1788" cy="237"/>
              <a:chOff x="273" y="2523"/>
              <a:chExt cx="1788" cy="237"/>
            </a:xfrm>
          </p:grpSpPr>
          <p:sp>
            <p:nvSpPr>
              <p:cNvPr id="269396"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97" name="Rectangle 71"/>
              <p:cNvSpPr>
                <a:spLocks noChangeArrowheads="1"/>
              </p:cNvSpPr>
              <p:nvPr/>
            </p:nvSpPr>
            <p:spPr bwMode="auto">
              <a:xfrm>
                <a:off x="854" y="2523"/>
                <a:ext cx="620" cy="237"/>
              </a:xfrm>
              <a:prstGeom prst="rect">
                <a:avLst/>
              </a:prstGeom>
              <a:solidFill>
                <a:srgbClr val="FFFF00"/>
              </a:solidFill>
              <a:ln w="12700">
                <a:solidFill>
                  <a:srgbClr val="333399"/>
                </a:solidFill>
                <a:miter lim="800000"/>
                <a:headEnd/>
                <a:tailEnd/>
              </a:ln>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CC"/>
                    </a:solidFill>
                    <a:ea typeface="黑体" panose="02010609060101010101" pitchFamily="49" charset="-122"/>
                  </a:rPr>
                  <a:t>源系统</a:t>
                </a:r>
              </a:p>
            </p:txBody>
          </p:sp>
        </p:grpSp>
      </p:grpSp>
      <p:grpSp>
        <p:nvGrpSpPr>
          <p:cNvPr id="89" name="Group 101"/>
          <p:cNvGrpSpPr>
            <a:grpSpLocks/>
          </p:cNvGrpSpPr>
          <p:nvPr/>
        </p:nvGrpSpPr>
        <p:grpSpPr bwMode="auto">
          <a:xfrm>
            <a:off x="6226175" y="4010025"/>
            <a:ext cx="3076575" cy="376238"/>
            <a:chOff x="3491" y="2533"/>
            <a:chExt cx="1789" cy="237"/>
          </a:xfrm>
        </p:grpSpPr>
        <p:sp>
          <p:nvSpPr>
            <p:cNvPr id="269399"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400" name="Rectangle 73"/>
            <p:cNvSpPr>
              <a:spLocks noChangeArrowheads="1"/>
            </p:cNvSpPr>
            <p:nvPr/>
          </p:nvSpPr>
          <p:spPr bwMode="auto">
            <a:xfrm>
              <a:off x="4028" y="2533"/>
              <a:ext cx="712" cy="237"/>
            </a:xfrm>
            <a:prstGeom prst="rect">
              <a:avLst/>
            </a:prstGeom>
            <a:solidFill>
              <a:srgbClr val="FF99FF"/>
            </a:solidFill>
            <a:ln w="12700">
              <a:solidFill>
                <a:srgbClr val="333399"/>
              </a:solidFill>
              <a:miter lim="800000"/>
              <a:headEnd/>
              <a:tailEnd/>
            </a:ln>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目的系统</a:t>
              </a:r>
            </a:p>
          </p:txBody>
        </p:sp>
      </p:grpSp>
      <p:grpSp>
        <p:nvGrpSpPr>
          <p:cNvPr id="92" name="Group 100"/>
          <p:cNvGrpSpPr>
            <a:grpSpLocks/>
          </p:cNvGrpSpPr>
          <p:nvPr/>
        </p:nvGrpSpPr>
        <p:grpSpPr bwMode="auto">
          <a:xfrm>
            <a:off x="3767138" y="3279775"/>
            <a:ext cx="2459037" cy="1725613"/>
            <a:chOff x="2061" y="2073"/>
            <a:chExt cx="1430" cy="1087"/>
          </a:xfrm>
        </p:grpSpPr>
        <p:sp>
          <p:nvSpPr>
            <p:cNvPr id="269402"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403" name="Rectangle 72"/>
            <p:cNvSpPr>
              <a:spLocks noChangeArrowheads="1"/>
            </p:cNvSpPr>
            <p:nvPr/>
          </p:nvSpPr>
          <p:spPr bwMode="auto">
            <a:xfrm>
              <a:off x="2418" y="2533"/>
              <a:ext cx="734" cy="237"/>
            </a:xfrm>
            <a:prstGeom prst="rect">
              <a:avLst/>
            </a:prstGeom>
            <a:solidFill>
              <a:srgbClr val="66FFFF"/>
            </a:solidFill>
            <a:ln w="12700">
              <a:solidFill>
                <a:srgbClr val="333399"/>
              </a:solidFill>
              <a:miter lim="800000"/>
              <a:headEnd/>
              <a:tailEnd/>
            </a:ln>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传输系统</a:t>
              </a:r>
            </a:p>
          </p:txBody>
        </p:sp>
        <p:sp>
          <p:nvSpPr>
            <p:cNvPr id="269404" name="Line 74"/>
            <p:cNvSpPr>
              <a:spLocks noChangeShapeType="1"/>
            </p:cNvSpPr>
            <p:nvPr/>
          </p:nvSpPr>
          <p:spPr bwMode="auto">
            <a:xfrm flipH="1">
              <a:off x="3486" y="2073"/>
              <a:ext cx="5" cy="1087"/>
            </a:xfrm>
            <a:prstGeom prst="line">
              <a:avLst/>
            </a:prstGeom>
            <a:noFill/>
            <a:ln w="28575">
              <a:solidFill>
                <a:srgbClr val="FF0000"/>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269405"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1938" y="3041650"/>
            <a:ext cx="9223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406"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6425" y="2844800"/>
            <a:ext cx="7683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8" name="Group 112"/>
          <p:cNvGrpSpPr>
            <a:grpSpLocks/>
          </p:cNvGrpSpPr>
          <p:nvPr/>
        </p:nvGrpSpPr>
        <p:grpSpPr bwMode="auto">
          <a:xfrm>
            <a:off x="9110663" y="5005388"/>
            <a:ext cx="666750" cy="1262062"/>
            <a:chOff x="5168" y="3160"/>
            <a:chExt cx="388" cy="795"/>
          </a:xfrm>
        </p:grpSpPr>
        <p:sp>
          <p:nvSpPr>
            <p:cNvPr id="269408" name="Rectangle 6"/>
            <p:cNvSpPr>
              <a:spLocks noChangeArrowheads="1"/>
            </p:cNvSpPr>
            <p:nvPr/>
          </p:nvSpPr>
          <p:spPr bwMode="auto">
            <a:xfrm>
              <a:off x="5199" y="3207"/>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输出信息</a:t>
              </a:r>
            </a:p>
          </p:txBody>
        </p:sp>
        <p:sp>
          <p:nvSpPr>
            <p:cNvPr id="269409" name="Line 77"/>
            <p:cNvSpPr>
              <a:spLocks noChangeShapeType="1"/>
            </p:cNvSpPr>
            <p:nvPr/>
          </p:nvSpPr>
          <p:spPr bwMode="auto">
            <a:xfrm>
              <a:off x="5168" y="3160"/>
              <a:ext cx="335"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269410" name="Rectangle 79"/>
          <p:cNvSpPr>
            <a:spLocks noChangeArrowheads="1"/>
          </p:cNvSpPr>
          <p:nvPr/>
        </p:nvSpPr>
        <p:spPr bwMode="auto">
          <a:xfrm>
            <a:off x="8348663" y="3516313"/>
            <a:ext cx="8842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rPr>
              <a:t>PC</a:t>
            </a:r>
          </a:p>
        </p:txBody>
      </p:sp>
      <p:sp>
        <p:nvSpPr>
          <p:cNvPr id="269411" name="矩形 3"/>
          <p:cNvSpPr>
            <a:spLocks noChangeArrowheads="1"/>
          </p:cNvSpPr>
          <p:nvPr/>
        </p:nvSpPr>
        <p:spPr bwMode="auto">
          <a:xfrm>
            <a:off x="3081338" y="6238875"/>
            <a:ext cx="36845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数据通信系统的模型</a:t>
            </a:r>
            <a:endParaRPr lang="zh-CN" altLang="en-US" sz="2400" b="1">
              <a:ea typeface="黑体" panose="02010609060101010101" pitchFamily="49" charset="-122"/>
            </a:endParaRPr>
          </a:p>
        </p:txBody>
      </p:sp>
      <p:sp>
        <p:nvSpPr>
          <p:cNvPr id="269412" name="灯片编号占位符 10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976DAA-C216-4B0A-B862-2D37AA5BFCF7}" type="slidenum">
              <a:rPr lang="zh-CN" altLang="en-US" smtClean="0"/>
              <a:pPr eaLnBrk="1" hangingPunct="1"/>
              <a:t>7</a:t>
            </a:fld>
            <a:endParaRPr lang="en-US" altLang="zh-CN" smtClean="0"/>
          </a:p>
        </p:txBody>
      </p:sp>
      <p:sp>
        <p:nvSpPr>
          <p:cNvPr id="269413" name="页脚占位符 10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nodeType="afterGroup">
                            <p:stCondLst>
                              <p:cond delay="3"/>
                            </p:stCondLst>
                            <p:childTnLst>
                              <p:par>
                                <p:cTn id="8" presetID="35" presetClass="emph" presetSubtype="0" repeatCount="3000" fill="hold" nodeType="afterEffect">
                                  <p:stCondLst>
                                    <p:cond delay="0"/>
                                  </p:stCondLst>
                                  <p:childTnLst>
                                    <p:anim calcmode="discrete" valueType="str">
                                      <p:cBhvr>
                                        <p:cTn id="9" dur="1000" fill="hold"/>
                                        <p:tgtEl>
                                          <p:spTgt spid="8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84"/>
                                        </p:tgtEl>
                                        <p:attrNameLst>
                                          <p:attrName>style.visibility</p:attrName>
                                        </p:attrNameLst>
                                      </p:cBhvr>
                                      <p:to>
                                        <p:strVal val="visible"/>
                                      </p:to>
                                    </p:set>
                                  </p:childTnLst>
                                </p:cTn>
                              </p:par>
                            </p:childTnLst>
                          </p:cTn>
                        </p:par>
                        <p:par>
                          <p:cTn id="14" fill="hold" nodeType="afterGroup">
                            <p:stCondLst>
                              <p:cond delay="1"/>
                            </p:stCondLst>
                            <p:childTnLst>
                              <p:par>
                                <p:cTn id="15" presetID="35" presetClass="emph" presetSubtype="0" repeatCount="3000" fill="hold" nodeType="afterEffect">
                                  <p:stCondLst>
                                    <p:cond delay="0"/>
                                  </p:stCondLst>
                                  <p:childTnLst>
                                    <p:anim calcmode="discrete" valueType="str">
                                      <p:cBhvr>
                                        <p:cTn id="1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childTnLst>
                          </p:cTn>
                        </p:par>
                        <p:par>
                          <p:cTn id="21" fill="hold" nodeType="afterGroup">
                            <p:stCondLst>
                              <p:cond delay="1"/>
                            </p:stCondLst>
                            <p:childTnLst>
                              <p:par>
                                <p:cTn id="22" presetID="35" presetClass="emph" presetSubtype="0" repeatCount="3000" fill="hold" nodeType="afterEffect">
                                  <p:stCondLst>
                                    <p:cond delay="0"/>
                                  </p:stCondLst>
                                  <p:childTnLst>
                                    <p:anim calcmode="discrete" valueType="str">
                                      <p:cBhvr>
                                        <p:cTn id="23" dur="1000" fill="hold"/>
                                        <p:tgtEl>
                                          <p:spTgt spid="92"/>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9"/>
                                        </p:tgtEl>
                                        <p:attrNameLst>
                                          <p:attrName>style.visibility</p:attrName>
                                        </p:attrNameLst>
                                      </p:cBhvr>
                                      <p:to>
                                        <p:strVal val="visible"/>
                                      </p:to>
                                    </p:set>
                                  </p:childTnLst>
                                </p:cTn>
                              </p:par>
                            </p:childTnLst>
                          </p:cTn>
                        </p:par>
                        <p:par>
                          <p:cTn id="28" fill="hold" nodeType="afterGroup">
                            <p:stCondLst>
                              <p:cond delay="1"/>
                            </p:stCondLst>
                            <p:childTnLst>
                              <p:par>
                                <p:cTn id="29" presetID="35" presetClass="emph" presetSubtype="0" repeatCount="3000" fill="hold" nodeType="afterEffect">
                                  <p:stCondLst>
                                    <p:cond delay="0"/>
                                  </p:stCondLst>
                                  <p:childTnLst>
                                    <p:anim calcmode="discrete" valueType="str">
                                      <p:cBhvr>
                                        <p:cTn id="30"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par>
                          <p:cTn id="35" fill="hold" nodeType="afterGroup">
                            <p:stCondLst>
                              <p:cond delay="1"/>
                            </p:stCondLst>
                            <p:childTnLst>
                              <p:par>
                                <p:cTn id="36" presetID="1" presetClass="entr" presetSubtype="0" fill="hold" nodeType="afterEffect">
                                  <p:stCondLst>
                                    <p:cond delay="500"/>
                                  </p:stCondLst>
                                  <p:childTnLst>
                                    <p:set>
                                      <p:cBhvr>
                                        <p:cTn id="37" dur="1" fill="hold">
                                          <p:stCondLst>
                                            <p:cond delay="0"/>
                                          </p:stCondLst>
                                        </p:cTn>
                                        <p:tgtEl>
                                          <p:spTgt spid="24"/>
                                        </p:tgtEl>
                                        <p:attrNameLst>
                                          <p:attrName>style.visibility</p:attrName>
                                        </p:attrNameLst>
                                      </p:cBhvr>
                                      <p:to>
                                        <p:strVal val="visible"/>
                                      </p:to>
                                    </p:set>
                                  </p:childTnLst>
                                </p:cTn>
                              </p:par>
                            </p:childTnLst>
                          </p:cTn>
                        </p:par>
                        <p:par>
                          <p:cTn id="38" fill="hold" nodeType="afterGroup">
                            <p:stCondLst>
                              <p:cond delay="502"/>
                            </p:stCondLst>
                            <p:childTnLst>
                              <p:par>
                                <p:cTn id="39" presetID="1" presetClass="entr" presetSubtype="0" fill="hold" nodeType="afterEffect">
                                  <p:stCondLst>
                                    <p:cond delay="1000"/>
                                  </p:stCondLst>
                                  <p:childTnLst>
                                    <p:set>
                                      <p:cBhvr>
                                        <p:cTn id="40" dur="1" fill="hold">
                                          <p:stCondLst>
                                            <p:cond delay="0"/>
                                          </p:stCondLst>
                                        </p:cTn>
                                        <p:tgtEl>
                                          <p:spTgt spid="12"/>
                                        </p:tgtEl>
                                        <p:attrNameLst>
                                          <p:attrName>style.visibility</p:attrName>
                                        </p:attrNameLst>
                                      </p:cBhvr>
                                      <p:to>
                                        <p:strVal val="visible"/>
                                      </p:to>
                                    </p:set>
                                  </p:childTnLst>
                                </p:cTn>
                              </p:par>
                            </p:childTnLst>
                          </p:cTn>
                        </p:par>
                        <p:par>
                          <p:cTn id="41" fill="hold" nodeType="afterGroup">
                            <p:stCondLst>
                              <p:cond delay="1503"/>
                            </p:stCondLst>
                            <p:childTnLst>
                              <p:par>
                                <p:cTn id="42" presetID="1" presetClass="entr" presetSubtype="0" fill="hold" nodeType="afterEffect">
                                  <p:stCondLst>
                                    <p:cond delay="1000"/>
                                  </p:stCondLst>
                                  <p:childTnLst>
                                    <p:set>
                                      <p:cBhvr>
                                        <p:cTn id="43" dur="1" fill="hold">
                                          <p:stCondLst>
                                            <p:cond delay="0"/>
                                          </p:stCondLst>
                                        </p:cTn>
                                        <p:tgtEl>
                                          <p:spTgt spid="30"/>
                                        </p:tgtEl>
                                        <p:attrNameLst>
                                          <p:attrName>style.visibility</p:attrName>
                                        </p:attrNameLst>
                                      </p:cBhvr>
                                      <p:to>
                                        <p:strVal val="visible"/>
                                      </p:to>
                                    </p:set>
                                  </p:childTnLst>
                                </p:cTn>
                              </p:par>
                            </p:childTnLst>
                          </p:cTn>
                        </p:par>
                        <p:par>
                          <p:cTn id="44" fill="hold" nodeType="afterGroup">
                            <p:stCondLst>
                              <p:cond delay="2504"/>
                            </p:stCondLst>
                            <p:childTnLst>
                              <p:par>
                                <p:cTn id="45" presetID="1" presetClass="entr" presetSubtype="0" fill="hold" nodeType="afterEffect">
                                  <p:stCondLst>
                                    <p:cond delay="1000"/>
                                  </p:stCondLst>
                                  <p:childTnLst>
                                    <p:set>
                                      <p:cBhvr>
                                        <p:cTn id="46" dur="1" fill="hold">
                                          <p:stCondLst>
                                            <p:cond delay="0"/>
                                          </p:stCondLst>
                                        </p:cTn>
                                        <p:tgtEl>
                                          <p:spTgt spid="15"/>
                                        </p:tgtEl>
                                        <p:attrNameLst>
                                          <p:attrName>style.visibility</p:attrName>
                                        </p:attrNameLst>
                                      </p:cBhvr>
                                      <p:to>
                                        <p:strVal val="visible"/>
                                      </p:to>
                                    </p:set>
                                  </p:childTnLst>
                                </p:cTn>
                              </p:par>
                            </p:childTnLst>
                          </p:cTn>
                        </p:par>
                        <p:par>
                          <p:cTn id="47" fill="hold" nodeType="afterGroup">
                            <p:stCondLst>
                              <p:cond delay="3505"/>
                            </p:stCondLst>
                            <p:childTnLst>
                              <p:par>
                                <p:cTn id="48" presetID="1" presetClass="entr" presetSubtype="0" fill="hold" nodeType="afterEffect">
                                  <p:stCondLst>
                                    <p:cond delay="1000"/>
                                  </p:stCondLst>
                                  <p:childTnLst>
                                    <p:set>
                                      <p:cBhvr>
                                        <p:cTn id="49" dur="1" fill="hold">
                                          <p:stCondLst>
                                            <p:cond delay="0"/>
                                          </p:stCondLst>
                                        </p:cTn>
                                        <p:tgtEl>
                                          <p:spTgt spid="6"/>
                                        </p:tgtEl>
                                        <p:attrNameLst>
                                          <p:attrName>style.visibility</p:attrName>
                                        </p:attrNameLst>
                                      </p:cBhvr>
                                      <p:to>
                                        <p:strVal val="visible"/>
                                      </p:to>
                                    </p:set>
                                  </p:childTnLst>
                                </p:cTn>
                              </p:par>
                            </p:childTnLst>
                          </p:cTn>
                        </p:par>
                        <p:par>
                          <p:cTn id="50" fill="hold" nodeType="afterGroup">
                            <p:stCondLst>
                              <p:cond delay="4506"/>
                            </p:stCondLst>
                            <p:childTnLst>
                              <p:par>
                                <p:cTn id="51" presetID="1" presetClass="entr" presetSubtype="0" fill="hold" nodeType="afterEffect">
                                  <p:stCondLst>
                                    <p:cond delay="1000"/>
                                  </p:stCondLst>
                                  <p:childTnLst>
                                    <p:set>
                                      <p:cBhvr>
                                        <p:cTn id="52" dur="1" fill="hold">
                                          <p:stCondLst>
                                            <p:cond delay="0"/>
                                          </p:stCondLst>
                                        </p:cTn>
                                        <p:tgtEl>
                                          <p:spTgt spid="18"/>
                                        </p:tgtEl>
                                        <p:attrNameLst>
                                          <p:attrName>style.visibility</p:attrName>
                                        </p:attrNameLst>
                                      </p:cBhvr>
                                      <p:to>
                                        <p:strVal val="visible"/>
                                      </p:to>
                                    </p:set>
                                  </p:childTnLst>
                                </p:cTn>
                              </p:par>
                            </p:childTnLst>
                          </p:cTn>
                        </p:par>
                        <p:par>
                          <p:cTn id="53" fill="hold" nodeType="afterGroup">
                            <p:stCondLst>
                              <p:cond delay="5507"/>
                            </p:stCondLst>
                            <p:childTnLst>
                              <p:par>
                                <p:cTn id="54" presetID="1" presetClass="entr" presetSubtype="0" fill="hold" nodeType="afterEffect">
                                  <p:stCondLst>
                                    <p:cond delay="1000"/>
                                  </p:stCondLst>
                                  <p:childTnLst>
                                    <p:set>
                                      <p:cBhvr>
                                        <p:cTn id="55" dur="1" fill="hold">
                                          <p:stCondLst>
                                            <p:cond delay="0"/>
                                          </p:stCondLst>
                                        </p:cTn>
                                        <p:tgtEl>
                                          <p:spTgt spid="33"/>
                                        </p:tgtEl>
                                        <p:attrNameLst>
                                          <p:attrName>style.visibility</p:attrName>
                                        </p:attrNameLst>
                                      </p:cBhvr>
                                      <p:to>
                                        <p:strVal val="visible"/>
                                      </p:to>
                                    </p:set>
                                  </p:childTnLst>
                                </p:cTn>
                              </p:par>
                            </p:childTnLst>
                          </p:cTn>
                        </p:par>
                        <p:par>
                          <p:cTn id="56" fill="hold" nodeType="afterGroup">
                            <p:stCondLst>
                              <p:cond delay="6508"/>
                            </p:stCondLst>
                            <p:childTnLst>
                              <p:par>
                                <p:cTn id="57" presetID="1" presetClass="entr" presetSubtype="0" fill="hold" nodeType="afterEffect">
                                  <p:stCondLst>
                                    <p:cond delay="1000"/>
                                  </p:stCondLst>
                                  <p:childTnLst>
                                    <p:set>
                                      <p:cBhvr>
                                        <p:cTn id="58" dur="1" fill="hold">
                                          <p:stCondLst>
                                            <p:cond delay="0"/>
                                          </p:stCondLst>
                                        </p:cTn>
                                        <p:tgtEl>
                                          <p:spTgt spid="21"/>
                                        </p:tgtEl>
                                        <p:attrNameLst>
                                          <p:attrName>style.visibility</p:attrName>
                                        </p:attrNameLst>
                                      </p:cBhvr>
                                      <p:to>
                                        <p:strVal val="visible"/>
                                      </p:to>
                                    </p:set>
                                  </p:childTnLst>
                                </p:cTn>
                              </p:par>
                            </p:childTnLst>
                          </p:cTn>
                        </p:par>
                        <p:par>
                          <p:cTn id="59" fill="hold" nodeType="afterGroup">
                            <p:stCondLst>
                              <p:cond delay="7509"/>
                            </p:stCondLst>
                            <p:childTnLst>
                              <p:par>
                                <p:cTn id="60" presetID="1" presetClass="entr" presetSubtype="0" fill="hold" nodeType="afterEffect">
                                  <p:stCondLst>
                                    <p:cond delay="1000"/>
                                  </p:stCondLst>
                                  <p:childTnLst>
                                    <p:set>
                                      <p:cBhvr>
                                        <p:cTn id="61" dur="1" fill="hold">
                                          <p:stCondLst>
                                            <p:cond delay="0"/>
                                          </p:stCondLst>
                                        </p:cTn>
                                        <p:tgtEl>
                                          <p:spTgt spid="27"/>
                                        </p:tgtEl>
                                        <p:attrNameLst>
                                          <p:attrName>style.visibility</p:attrName>
                                        </p:attrNameLst>
                                      </p:cBhvr>
                                      <p:to>
                                        <p:strVal val="visible"/>
                                      </p:to>
                                    </p:set>
                                  </p:childTnLst>
                                </p:cTn>
                              </p:par>
                            </p:childTnLst>
                          </p:cTn>
                        </p:par>
                        <p:par>
                          <p:cTn id="62" fill="hold" nodeType="afterGroup">
                            <p:stCondLst>
                              <p:cond delay="8510"/>
                            </p:stCondLst>
                            <p:childTnLst>
                              <p:par>
                                <p:cTn id="63" presetID="1" presetClass="entr" presetSubtype="0" fill="hold" nodeType="afterEffect">
                                  <p:stCondLst>
                                    <p:cond delay="1000"/>
                                  </p:stCondLst>
                                  <p:childTnLst>
                                    <p:set>
                                      <p:cBhvr>
                                        <p:cTn id="64"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常用术语</a:t>
            </a:r>
          </a:p>
        </p:txBody>
      </p:sp>
      <p:sp>
        <p:nvSpPr>
          <p:cNvPr id="28675" name="Rectangle 3"/>
          <p:cNvSpPr>
            <a:spLocks noGrp="1" noChangeArrowheads="1"/>
          </p:cNvSpPr>
          <p:nvPr>
            <p:ph idx="1"/>
          </p:nvPr>
        </p:nvSpPr>
        <p:spPr>
          <a:xfrm>
            <a:off x="495300" y="1196975"/>
            <a:ext cx="9066213" cy="4933950"/>
          </a:xfrm>
        </p:spPr>
        <p:txBody>
          <a:bodyPr/>
          <a:lstStyle/>
          <a:p>
            <a:pPr>
              <a:lnSpc>
                <a:spcPct val="120000"/>
              </a:lnSpc>
            </a:pPr>
            <a:r>
              <a:rPr lang="zh-CN" altLang="en-US" sz="2800" dirty="0" smtClean="0">
                <a:solidFill>
                  <a:srgbClr val="0000CC"/>
                </a:solidFill>
                <a:ea typeface="黑体" panose="02010609060101010101" pitchFamily="49" charset="-122"/>
              </a:rPr>
              <a:t>双方通信的目的</a:t>
            </a:r>
            <a:r>
              <a:rPr lang="en-US" altLang="zh-CN" sz="2800" dirty="0" smtClean="0">
                <a:ea typeface="黑体" panose="02010609060101010101" pitchFamily="49" charset="-122"/>
              </a:rPr>
              <a:t>——</a:t>
            </a:r>
            <a:r>
              <a:rPr lang="zh-CN" altLang="en-US" sz="2800" dirty="0" smtClean="0">
                <a:ea typeface="黑体" panose="02010609060101010101" pitchFamily="49" charset="-122"/>
              </a:rPr>
              <a:t>传送消息（</a:t>
            </a:r>
            <a:r>
              <a:rPr lang="en-US" altLang="zh-CN" sz="2800" dirty="0" smtClean="0">
                <a:ea typeface="黑体" panose="02010609060101010101" pitchFamily="49" charset="-122"/>
              </a:rPr>
              <a:t>message</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pPr>
              <a:lnSpc>
                <a:spcPct val="120000"/>
              </a:lnSpc>
            </a:pPr>
            <a:r>
              <a:rPr lang="zh-CN" altLang="en-US" sz="2800" dirty="0" smtClean="0">
                <a:solidFill>
                  <a:srgbClr val="0000CC"/>
                </a:solidFill>
                <a:ea typeface="黑体" panose="02010609060101010101" pitchFamily="49" charset="-122"/>
              </a:rPr>
              <a:t>数据 </a:t>
            </a:r>
            <a:r>
              <a:rPr lang="en-US" altLang="zh-CN" sz="2800" dirty="0" smtClean="0">
                <a:solidFill>
                  <a:srgbClr val="0000CC"/>
                </a:solidFill>
                <a:ea typeface="黑体" panose="02010609060101010101" pitchFamily="49" charset="-122"/>
              </a:rPr>
              <a:t>(data) </a:t>
            </a:r>
            <a:r>
              <a:rPr lang="en-US" altLang="zh-CN" sz="2800" dirty="0" smtClean="0">
                <a:ea typeface="黑体" panose="02010609060101010101" pitchFamily="49" charset="-122"/>
              </a:rPr>
              <a:t>—— </a:t>
            </a:r>
            <a:r>
              <a:rPr lang="zh-CN" altLang="en-US" sz="2800" dirty="0" smtClean="0">
                <a:ea typeface="黑体" panose="02010609060101010101" pitchFamily="49" charset="-122"/>
              </a:rPr>
              <a:t>运送消息的实体。</a:t>
            </a:r>
          </a:p>
          <a:p>
            <a:pPr>
              <a:lnSpc>
                <a:spcPct val="120000"/>
              </a:lnSpc>
            </a:pPr>
            <a:r>
              <a:rPr lang="zh-CN" altLang="en-US" sz="2800" dirty="0" smtClean="0">
                <a:solidFill>
                  <a:srgbClr val="0000CC"/>
                </a:solidFill>
                <a:ea typeface="黑体" panose="02010609060101010101" pitchFamily="49" charset="-122"/>
              </a:rPr>
              <a:t>信号 </a:t>
            </a:r>
            <a:r>
              <a:rPr lang="en-US" altLang="zh-CN" sz="2800" dirty="0" smtClean="0">
                <a:solidFill>
                  <a:srgbClr val="0000CC"/>
                </a:solidFill>
                <a:ea typeface="黑体" panose="02010609060101010101" pitchFamily="49" charset="-122"/>
              </a:rPr>
              <a:t>(signal) </a:t>
            </a:r>
            <a:r>
              <a:rPr lang="en-US" altLang="zh-CN" sz="2800" dirty="0" smtClean="0">
                <a:ea typeface="黑体" panose="02010609060101010101" pitchFamily="49" charset="-122"/>
              </a:rPr>
              <a:t>—— </a:t>
            </a:r>
            <a:r>
              <a:rPr lang="zh-CN" altLang="en-US" sz="2800" dirty="0" smtClean="0">
                <a:ea typeface="黑体" panose="02010609060101010101" pitchFamily="49" charset="-122"/>
              </a:rPr>
              <a:t>数据的电气的或电磁的表现。 </a:t>
            </a:r>
          </a:p>
          <a:p>
            <a:pPr lvl="1">
              <a:lnSpc>
                <a:spcPct val="120000"/>
              </a:lnSpc>
            </a:pPr>
            <a:r>
              <a:rPr lang="zh-CN" altLang="en-US" dirty="0" smtClean="0">
                <a:solidFill>
                  <a:srgbClr val="0000CC"/>
                </a:solidFill>
                <a:ea typeface="黑体" panose="02010609060101010101" pitchFamily="49" charset="-122"/>
              </a:rPr>
              <a:t>模拟信号 </a:t>
            </a:r>
            <a:r>
              <a:rPr lang="en-US" altLang="zh-CN" dirty="0" smtClean="0">
                <a:solidFill>
                  <a:srgbClr val="0000CC"/>
                </a:solidFill>
                <a:ea typeface="黑体" panose="02010609060101010101" pitchFamily="49" charset="-122"/>
              </a:rPr>
              <a:t>(analogous signal) </a:t>
            </a:r>
            <a:r>
              <a:rPr lang="en-US" altLang="zh-CN" dirty="0" smtClean="0">
                <a:ea typeface="黑体" panose="02010609060101010101" pitchFamily="49" charset="-122"/>
              </a:rPr>
              <a:t>—— </a:t>
            </a:r>
            <a:r>
              <a:rPr lang="zh-CN" altLang="en-US" dirty="0" smtClean="0">
                <a:ea typeface="黑体" panose="02010609060101010101" pitchFamily="49" charset="-122"/>
              </a:rPr>
              <a:t>代表消息的参数的取值是连续的。 </a:t>
            </a:r>
          </a:p>
          <a:p>
            <a:pPr lvl="1">
              <a:lnSpc>
                <a:spcPct val="120000"/>
              </a:lnSpc>
            </a:pPr>
            <a:r>
              <a:rPr lang="zh-CN" altLang="en-US" dirty="0" smtClean="0">
                <a:solidFill>
                  <a:srgbClr val="0000CC"/>
                </a:solidFill>
                <a:ea typeface="黑体" panose="02010609060101010101" pitchFamily="49" charset="-122"/>
              </a:rPr>
              <a:t>数字信号 </a:t>
            </a:r>
            <a:r>
              <a:rPr lang="en-US" altLang="zh-CN" dirty="0" smtClean="0">
                <a:solidFill>
                  <a:srgbClr val="0000CC"/>
                </a:solidFill>
                <a:ea typeface="黑体" panose="02010609060101010101" pitchFamily="49" charset="-122"/>
              </a:rPr>
              <a:t>(digital signal) </a:t>
            </a:r>
            <a:r>
              <a:rPr lang="en-US" altLang="zh-CN" dirty="0" smtClean="0">
                <a:ea typeface="黑体" panose="02010609060101010101" pitchFamily="49" charset="-122"/>
              </a:rPr>
              <a:t>—— </a:t>
            </a:r>
            <a:r>
              <a:rPr lang="zh-CN" altLang="en-US" dirty="0" smtClean="0">
                <a:ea typeface="黑体" panose="02010609060101010101" pitchFamily="49" charset="-122"/>
              </a:rPr>
              <a:t>代表消息的参数的取值是离散的。 </a:t>
            </a:r>
          </a:p>
          <a:p>
            <a:pPr>
              <a:lnSpc>
                <a:spcPct val="120000"/>
              </a:lnSpc>
            </a:pPr>
            <a:r>
              <a:rPr lang="zh-CN" altLang="en-US" sz="2800" dirty="0" smtClean="0">
                <a:solidFill>
                  <a:srgbClr val="0000CC"/>
                </a:solidFill>
                <a:ea typeface="黑体" panose="02010609060101010101" pitchFamily="49" charset="-122"/>
              </a:rPr>
              <a:t>码元 </a:t>
            </a:r>
            <a:r>
              <a:rPr lang="en-US" altLang="zh-CN" sz="2800" dirty="0" smtClean="0">
                <a:solidFill>
                  <a:srgbClr val="0000CC"/>
                </a:solidFill>
                <a:ea typeface="黑体" panose="02010609060101010101" pitchFamily="49" charset="-122"/>
              </a:rPr>
              <a:t>(code) </a:t>
            </a:r>
            <a:r>
              <a:rPr lang="en-US" altLang="zh-CN" sz="2800" dirty="0" smtClean="0">
                <a:ea typeface="黑体" panose="02010609060101010101" pitchFamily="49" charset="-122"/>
              </a:rPr>
              <a:t>—— </a:t>
            </a:r>
            <a:r>
              <a:rPr lang="zh-CN" altLang="en-US" sz="2800" dirty="0" smtClean="0">
                <a:ea typeface="黑体" panose="02010609060101010101" pitchFamily="49" charset="-122"/>
              </a:rPr>
              <a:t>在使用时间域（或简称为时域）的波形表示数字信号时，代表不同离散数值的基本波形。</a:t>
            </a:r>
          </a:p>
        </p:txBody>
      </p:sp>
      <p:sp>
        <p:nvSpPr>
          <p:cNvPr id="271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0190E7-FAB2-4016-B19C-6A204E499557}" type="slidenum">
              <a:rPr lang="zh-CN" altLang="en-US" smtClean="0"/>
              <a:pPr eaLnBrk="1" hangingPunct="1"/>
              <a:t>8</a:t>
            </a:fld>
            <a:endParaRPr lang="en-US" altLang="zh-CN" smtClean="0"/>
          </a:p>
        </p:txBody>
      </p:sp>
      <p:sp>
        <p:nvSpPr>
          <p:cNvPr id="271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endParaRPr lang="zh-CN" altLang="en-US" smtClean="0">
              <a:ea typeface="黑体" panose="02010609060101010101" pitchFamily="49" charset="-122"/>
            </a:endParaRPr>
          </a:p>
        </p:txBody>
      </p:sp>
      <p:sp>
        <p:nvSpPr>
          <p:cNvPr id="273410" name="内容占位符 2"/>
          <p:cNvSpPr>
            <a:spLocks noGrp="1" noChangeArrowheads="1"/>
          </p:cNvSpPr>
          <p:nvPr>
            <p:ph idx="1"/>
          </p:nvPr>
        </p:nvSpPr>
        <p:spPr>
          <a:xfrm>
            <a:off x="495300" y="1196975"/>
            <a:ext cx="9066213" cy="4933950"/>
          </a:xfrm>
        </p:spPr>
        <p:txBody>
          <a:bodyPr/>
          <a:lstStyle/>
          <a:p>
            <a:pPr>
              <a:lnSpc>
                <a:spcPct val="100000"/>
              </a:lnSpc>
            </a:pPr>
            <a:r>
              <a:rPr lang="zh-CN" altLang="en-US" dirty="0" smtClean="0">
                <a:solidFill>
                  <a:srgbClr val="0000CC"/>
                </a:solidFill>
                <a:ea typeface="黑体" panose="02010609060101010101" pitchFamily="49" charset="-122"/>
              </a:rPr>
              <a:t>信道 （</a:t>
            </a:r>
            <a:r>
              <a:rPr lang="en-US" altLang="zh-CN" dirty="0" smtClean="0">
                <a:solidFill>
                  <a:srgbClr val="0000CC"/>
                </a:solidFill>
                <a:ea typeface="黑体" panose="02010609060101010101" pitchFamily="49" charset="-122"/>
              </a:rPr>
              <a:t>channel</a:t>
            </a:r>
            <a:r>
              <a:rPr lang="zh-CN" altLang="en-US" dirty="0" smtClean="0">
                <a:solidFill>
                  <a:srgbClr val="0000CC"/>
                </a:solidFill>
                <a:ea typeface="黑体" panose="02010609060101010101" pitchFamily="49" charset="-122"/>
              </a:rPr>
              <a:t>）</a:t>
            </a:r>
            <a:r>
              <a:rPr lang="en-US" altLang="zh-CN" dirty="0" smtClean="0">
                <a:ea typeface="黑体" panose="02010609060101010101" pitchFamily="49" charset="-122"/>
              </a:rPr>
              <a:t>—— </a:t>
            </a:r>
            <a:r>
              <a:rPr lang="zh-CN" altLang="zh-CN" dirty="0" smtClean="0">
                <a:ea typeface="黑体" panose="02010609060101010101" pitchFamily="49" charset="-122"/>
              </a:rPr>
              <a:t>一般用来表示向某一个方向传送信息的媒体。</a:t>
            </a:r>
            <a:endParaRPr lang="en-US" altLang="zh-CN" dirty="0" smtClean="0">
              <a:ea typeface="黑体" panose="02010609060101010101" pitchFamily="49" charset="-122"/>
            </a:endParaRPr>
          </a:p>
          <a:p>
            <a:pPr lvl="1">
              <a:lnSpc>
                <a:spcPct val="100000"/>
              </a:lnSpc>
              <a:spcAft>
                <a:spcPct val="15000"/>
              </a:spcAft>
            </a:pPr>
            <a:r>
              <a:rPr lang="zh-CN" altLang="en-US" dirty="0" smtClean="0">
                <a:solidFill>
                  <a:srgbClr val="0000CC"/>
                </a:solidFill>
                <a:ea typeface="黑体" panose="02010609060101010101" pitchFamily="49" charset="-122"/>
              </a:rPr>
              <a:t>单向通信</a:t>
            </a:r>
            <a:r>
              <a:rPr lang="zh-CN" altLang="en-US" dirty="0" smtClean="0">
                <a:ea typeface="黑体" panose="02010609060101010101" pitchFamily="49" charset="-122"/>
              </a:rPr>
              <a:t>（单工通信）</a:t>
            </a:r>
            <a:r>
              <a:rPr lang="en-US" altLang="zh-CN" dirty="0" smtClean="0">
                <a:ea typeface="黑体" panose="02010609060101010101" pitchFamily="49" charset="-122"/>
              </a:rPr>
              <a:t>——</a:t>
            </a:r>
            <a:r>
              <a:rPr lang="zh-CN" altLang="en-US" dirty="0" smtClean="0">
                <a:ea typeface="黑体" panose="02010609060101010101" pitchFamily="49" charset="-122"/>
              </a:rPr>
              <a:t>只能有一个方向的通信而没有反方向的交互。</a:t>
            </a:r>
          </a:p>
          <a:p>
            <a:pPr lvl="1">
              <a:lnSpc>
                <a:spcPct val="100000"/>
              </a:lnSpc>
              <a:spcAft>
                <a:spcPct val="15000"/>
              </a:spcAft>
            </a:pPr>
            <a:r>
              <a:rPr lang="zh-CN" altLang="en-US" dirty="0" smtClean="0">
                <a:solidFill>
                  <a:srgbClr val="0000CC"/>
                </a:solidFill>
                <a:ea typeface="黑体" panose="02010609060101010101" pitchFamily="49" charset="-122"/>
              </a:rPr>
              <a:t>双向交替通信</a:t>
            </a:r>
            <a:r>
              <a:rPr lang="zh-CN" altLang="en-US" dirty="0" smtClean="0">
                <a:ea typeface="黑体" panose="02010609060101010101" pitchFamily="49" charset="-122"/>
              </a:rPr>
              <a:t>（半双工通信）</a:t>
            </a:r>
            <a:r>
              <a:rPr lang="en-US" altLang="zh-CN" dirty="0" smtClean="0">
                <a:ea typeface="黑体" panose="02010609060101010101" pitchFamily="49" charset="-122"/>
              </a:rPr>
              <a:t>——</a:t>
            </a:r>
            <a:r>
              <a:rPr lang="zh-CN" altLang="en-US" dirty="0" smtClean="0">
                <a:ea typeface="黑体" panose="02010609060101010101" pitchFamily="49" charset="-122"/>
              </a:rPr>
              <a:t>通信的双方都可以发送信息，但不能双方同时发送</a:t>
            </a:r>
            <a:r>
              <a:rPr lang="en-US" altLang="zh-CN" dirty="0" smtClean="0">
                <a:ea typeface="黑体" panose="02010609060101010101" pitchFamily="49" charset="-122"/>
              </a:rPr>
              <a:t>(</a:t>
            </a:r>
            <a:r>
              <a:rPr lang="zh-CN" altLang="en-US" dirty="0" smtClean="0">
                <a:ea typeface="黑体" panose="02010609060101010101" pitchFamily="49" charset="-122"/>
              </a:rPr>
              <a:t>当然也就不能同时接收</a:t>
            </a:r>
            <a:r>
              <a:rPr lang="en-US" altLang="zh-CN" dirty="0" smtClean="0">
                <a:ea typeface="黑体" panose="02010609060101010101" pitchFamily="49" charset="-122"/>
              </a:rPr>
              <a:t>)</a:t>
            </a:r>
            <a:r>
              <a:rPr lang="zh-CN" altLang="en-US" dirty="0" smtClean="0">
                <a:ea typeface="黑体" panose="02010609060101010101" pitchFamily="49" charset="-122"/>
              </a:rPr>
              <a:t>。</a:t>
            </a:r>
          </a:p>
          <a:p>
            <a:pPr lvl="1">
              <a:lnSpc>
                <a:spcPct val="100000"/>
              </a:lnSpc>
              <a:spcAft>
                <a:spcPct val="15000"/>
              </a:spcAft>
            </a:pPr>
            <a:r>
              <a:rPr lang="zh-CN" altLang="en-US" dirty="0" smtClean="0">
                <a:solidFill>
                  <a:srgbClr val="0000CC"/>
                </a:solidFill>
                <a:ea typeface="黑体" panose="02010609060101010101" pitchFamily="49" charset="-122"/>
              </a:rPr>
              <a:t>双向同时通信</a:t>
            </a:r>
            <a:r>
              <a:rPr lang="zh-CN" altLang="en-US" dirty="0" smtClean="0">
                <a:ea typeface="黑体" panose="02010609060101010101" pitchFamily="49" charset="-122"/>
              </a:rPr>
              <a:t>（全双工通信）</a:t>
            </a:r>
            <a:r>
              <a:rPr lang="en-US" altLang="zh-CN" dirty="0" smtClean="0">
                <a:ea typeface="黑体" panose="02010609060101010101" pitchFamily="49" charset="-122"/>
              </a:rPr>
              <a:t>——</a:t>
            </a:r>
            <a:r>
              <a:rPr lang="zh-CN" altLang="en-US" dirty="0" smtClean="0">
                <a:ea typeface="黑体" panose="02010609060101010101" pitchFamily="49" charset="-122"/>
              </a:rPr>
              <a:t>通信的双方可以同时发送和接收信息。 </a:t>
            </a:r>
          </a:p>
        </p:txBody>
      </p:sp>
      <p:sp>
        <p:nvSpPr>
          <p:cNvPr id="273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D55636-FC84-41E0-8509-65375D8D1B25}" type="slidenum">
              <a:rPr lang="zh-CN" altLang="en-US" smtClean="0"/>
              <a:pPr eaLnBrk="1" hangingPunct="1"/>
              <a:t>9</a:t>
            </a:fld>
            <a:endParaRPr lang="en-US" altLang="zh-CN" smtClean="0"/>
          </a:p>
        </p:txBody>
      </p:sp>
      <p:sp>
        <p:nvSpPr>
          <p:cNvPr id="2734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endParaRPr lang="zh-CN" altLang="en-US" smtClean="0">
              <a:ea typeface="黑体" panose="02010609060101010101" pitchFamily="49" charset="-122"/>
            </a:endParaRPr>
          </a:p>
        </p:txBody>
      </p:sp>
      <p:sp>
        <p:nvSpPr>
          <p:cNvPr id="274434" name="Rectangle 3"/>
          <p:cNvSpPr>
            <a:spLocks noGrp="1" noChangeArrowheads="1"/>
          </p:cNvSpPr>
          <p:nvPr>
            <p:ph idx="1"/>
          </p:nvPr>
        </p:nvSpPr>
        <p:spPr>
          <a:xfrm>
            <a:off x="495300" y="1196975"/>
            <a:ext cx="9066213" cy="4933950"/>
          </a:xfrm>
        </p:spPr>
        <p:txBody>
          <a:bodyPr/>
          <a:lstStyle/>
          <a:p>
            <a:pPr>
              <a:spcAft>
                <a:spcPct val="15000"/>
              </a:spcAft>
            </a:pPr>
            <a:r>
              <a:rPr lang="zh-CN" altLang="en-US" dirty="0" smtClean="0">
                <a:solidFill>
                  <a:srgbClr val="FF0000"/>
                </a:solidFill>
                <a:ea typeface="黑体" panose="02010609060101010101" pitchFamily="49" charset="-122"/>
              </a:rPr>
              <a:t>基带信号</a:t>
            </a:r>
            <a:r>
              <a:rPr lang="zh-CN" altLang="en-US" dirty="0" smtClean="0">
                <a:ea typeface="黑体" panose="02010609060101010101" pitchFamily="49" charset="-122"/>
              </a:rPr>
              <a:t>（即基本频带信号）</a:t>
            </a:r>
            <a:r>
              <a:rPr lang="en-US" altLang="zh-CN" dirty="0" smtClean="0">
                <a:ea typeface="黑体" panose="02010609060101010101" pitchFamily="49" charset="-122"/>
              </a:rPr>
              <a:t>—— </a:t>
            </a:r>
            <a:r>
              <a:rPr lang="zh-CN" altLang="en-US" dirty="0" smtClean="0">
                <a:ea typeface="黑体" panose="02010609060101010101" pitchFamily="49" charset="-122"/>
              </a:rPr>
              <a:t>来自信源的信号。像计算机输出的代表各种文字或图像文件的数据信号都属于基带信号。</a:t>
            </a:r>
          </a:p>
          <a:p>
            <a:pPr>
              <a:spcAft>
                <a:spcPct val="15000"/>
              </a:spcAft>
            </a:pPr>
            <a:r>
              <a:rPr lang="zh-CN" altLang="en-US" dirty="0" smtClean="0">
                <a:ea typeface="黑体" panose="02010609060101010101" pitchFamily="49" charset="-122"/>
              </a:rPr>
              <a:t>基带信号往往包含有较多的低频成分，甚至有直流成分，而许多信道并不能传输这种低频分量或直流分量。因此必须对基带信号进行</a:t>
            </a:r>
            <a:r>
              <a:rPr lang="zh-CN" altLang="en-US" dirty="0" smtClean="0">
                <a:solidFill>
                  <a:srgbClr val="FF0000"/>
                </a:solidFill>
                <a:ea typeface="黑体" panose="02010609060101010101" pitchFamily="49" charset="-122"/>
              </a:rPr>
              <a:t>调制 </a:t>
            </a:r>
            <a:r>
              <a:rPr lang="en-US" altLang="zh-CN" dirty="0" smtClean="0">
                <a:solidFill>
                  <a:srgbClr val="FF0000"/>
                </a:solidFill>
                <a:ea typeface="黑体" panose="02010609060101010101" pitchFamily="49" charset="-122"/>
              </a:rPr>
              <a:t>(modulation)</a:t>
            </a:r>
            <a:r>
              <a:rPr lang="zh-CN" altLang="en-US" dirty="0" smtClean="0">
                <a:ea typeface="黑体" panose="02010609060101010101" pitchFamily="49" charset="-122"/>
              </a:rPr>
              <a:t>。   </a:t>
            </a:r>
          </a:p>
        </p:txBody>
      </p:sp>
      <p:sp>
        <p:nvSpPr>
          <p:cNvPr id="274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6F212D-8C39-4C32-ADB8-798932C8B0EB}" type="slidenum">
              <a:rPr lang="zh-CN" altLang="en-US" smtClean="0"/>
              <a:pPr eaLnBrk="1" hangingPunct="1"/>
              <a:t>10</a:t>
            </a:fld>
            <a:endParaRPr lang="en-US" altLang="zh-CN" smtClean="0"/>
          </a:p>
        </p:txBody>
      </p:sp>
      <p:sp>
        <p:nvSpPr>
          <p:cNvPr id="274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428" y="5199052"/>
            <a:ext cx="4424395" cy="13858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endParaRPr lang="zh-CN" altLang="en-US" smtClean="0">
              <a:ea typeface="黑体" panose="02010609060101010101" pitchFamily="49" charset="-122"/>
            </a:endParaRPr>
          </a:p>
        </p:txBody>
      </p:sp>
      <p:sp>
        <p:nvSpPr>
          <p:cNvPr id="120835" name="Rectangle 3"/>
          <p:cNvSpPr>
            <a:spLocks noGrp="1" noChangeArrowheads="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indent="0">
              <a:spcAft>
                <a:spcPct val="15000"/>
              </a:spcAft>
              <a:buFont typeface="Wingdings" panose="05000000000000000000" pitchFamily="2" charset="2"/>
              <a:buNone/>
            </a:pPr>
            <a:r>
              <a:rPr lang="zh-CN" altLang="en-US" noProof="1"/>
              <a:t>调制</a:t>
            </a:r>
            <a:r>
              <a:rPr lang="zh-CN" altLang="zh-CN" noProof="1"/>
              <a:t>分为两大类</a:t>
            </a:r>
            <a:r>
              <a:rPr lang="zh-CN" altLang="en-US" noProof="1"/>
              <a:t>：</a:t>
            </a:r>
            <a:endParaRPr lang="en-US" altLang="zh-CN" noProof="1"/>
          </a:p>
          <a:p>
            <a:pPr>
              <a:spcAft>
                <a:spcPct val="15000"/>
              </a:spcAft>
            </a:pPr>
            <a:r>
              <a:rPr lang="zh-CN" altLang="zh-CN" sz="2800" noProof="1">
                <a:solidFill>
                  <a:srgbClr val="FF0000"/>
                </a:solidFill>
              </a:rPr>
              <a:t>基带调制</a:t>
            </a:r>
            <a:r>
              <a:rPr lang="zh-CN" altLang="en-US" sz="2800" noProof="1">
                <a:solidFill>
                  <a:srgbClr val="FF0000"/>
                </a:solidFill>
              </a:rPr>
              <a:t>：</a:t>
            </a:r>
            <a:r>
              <a:rPr lang="zh-CN" altLang="zh-CN" sz="2800" noProof="1"/>
              <a:t>仅对基带信号的波形进行变换，使它能够与信道特性相适应。</a:t>
            </a:r>
            <a:r>
              <a:rPr lang="zh-CN" altLang="zh-CN" sz="2800" noProof="1">
                <a:solidFill>
                  <a:srgbClr val="FF0000"/>
                </a:solidFill>
              </a:rPr>
              <a:t>变换后的信号仍然是基带信号</a:t>
            </a:r>
            <a:r>
              <a:rPr lang="zh-CN" altLang="en-US" sz="2800" noProof="1">
                <a:solidFill>
                  <a:srgbClr val="FF0000"/>
                </a:solidFill>
              </a:rPr>
              <a:t>。</a:t>
            </a:r>
            <a:r>
              <a:rPr lang="zh-CN" altLang="zh-CN" sz="2800" noProof="1"/>
              <a:t>把这种过程称为</a:t>
            </a:r>
            <a:r>
              <a:rPr lang="zh-CN" altLang="zh-CN" sz="2800" noProof="1">
                <a:solidFill>
                  <a:srgbClr val="FF0000"/>
                </a:solidFill>
              </a:rPr>
              <a:t>编码</a:t>
            </a:r>
            <a:r>
              <a:rPr lang="en-US" altLang="zh-CN" sz="2800" noProof="1">
                <a:solidFill>
                  <a:srgbClr val="FF0000"/>
                </a:solidFill>
              </a:rPr>
              <a:t> (coding)</a:t>
            </a:r>
            <a:r>
              <a:rPr lang="zh-CN" altLang="en-US" sz="2800" noProof="1"/>
              <a:t>。</a:t>
            </a:r>
            <a:endParaRPr lang="en-US" altLang="zh-CN" sz="2800" noProof="1">
              <a:solidFill>
                <a:srgbClr val="0000CC"/>
              </a:solidFill>
            </a:endParaRPr>
          </a:p>
          <a:p>
            <a:pPr>
              <a:spcAft>
                <a:spcPct val="15000"/>
              </a:spcAft>
            </a:pPr>
            <a:r>
              <a:rPr lang="zh-CN" altLang="zh-CN" sz="2800" noProof="1">
                <a:solidFill>
                  <a:srgbClr val="FF0000"/>
                </a:solidFill>
              </a:rPr>
              <a:t>带通调制</a:t>
            </a:r>
            <a:r>
              <a:rPr lang="zh-CN" altLang="en-US" sz="2800" noProof="1">
                <a:solidFill>
                  <a:srgbClr val="FF0000"/>
                </a:solidFill>
              </a:rPr>
              <a:t>：</a:t>
            </a:r>
            <a:r>
              <a:rPr lang="zh-CN" altLang="zh-CN" sz="2800" noProof="1"/>
              <a:t>使用</a:t>
            </a:r>
            <a:r>
              <a:rPr lang="zh-CN" altLang="zh-CN" sz="2800" noProof="1">
                <a:solidFill>
                  <a:srgbClr val="FF0000"/>
                </a:solidFill>
              </a:rPr>
              <a:t>载波</a:t>
            </a:r>
            <a:r>
              <a:rPr lang="en-US" altLang="zh-CN" sz="2800" noProof="1">
                <a:solidFill>
                  <a:srgbClr val="FF0000"/>
                </a:solidFill>
              </a:rPr>
              <a:t> (carrier)</a:t>
            </a:r>
            <a:r>
              <a:rPr lang="zh-CN" altLang="zh-CN" sz="2800" noProof="1"/>
              <a:t>进行调制，把基带信号的频率范围搬移到较高的频段，并</a:t>
            </a:r>
            <a:r>
              <a:rPr lang="zh-CN" altLang="zh-CN" sz="2800" noProof="1">
                <a:solidFill>
                  <a:srgbClr val="FF0000"/>
                </a:solidFill>
              </a:rPr>
              <a:t>转换为模拟信号，</a:t>
            </a:r>
            <a:r>
              <a:rPr lang="zh-CN" altLang="zh-CN" sz="2800" noProof="1"/>
              <a:t>这样就能够更好地在模拟信道中传输</a:t>
            </a:r>
            <a:r>
              <a:rPr lang="zh-CN" altLang="en-US" sz="2800" noProof="1"/>
              <a:t>（即仅在一段频率范围内能够通过信道） 。</a:t>
            </a:r>
            <a:endParaRPr lang="en-US" altLang="zh-CN" sz="2800" noProof="1"/>
          </a:p>
          <a:p>
            <a:pPr>
              <a:spcAft>
                <a:spcPct val="15000"/>
              </a:spcAft>
            </a:pPr>
            <a:r>
              <a:rPr lang="zh-CN" altLang="en-US" sz="2800" noProof="1">
                <a:solidFill>
                  <a:srgbClr val="FF0000"/>
                </a:solidFill>
              </a:rPr>
              <a:t>带通信号 ：</a:t>
            </a:r>
            <a:r>
              <a:rPr lang="zh-CN" altLang="zh-CN" sz="2800" noProof="1"/>
              <a:t>经过</a:t>
            </a:r>
            <a:r>
              <a:rPr lang="zh-CN" altLang="zh-CN" sz="2800" noProof="1">
                <a:solidFill>
                  <a:srgbClr val="FF0000"/>
                </a:solidFill>
              </a:rPr>
              <a:t>载波调制</a:t>
            </a:r>
            <a:r>
              <a:rPr lang="zh-CN" altLang="zh-CN" sz="2800" noProof="1"/>
              <a:t>后的信号</a:t>
            </a:r>
            <a:r>
              <a:rPr lang="zh-CN" altLang="en-US" sz="2800" noProof="1"/>
              <a:t>。</a:t>
            </a:r>
            <a:endParaRPr lang="en-US" altLang="zh-CN" noProof="1">
              <a:solidFill>
                <a:srgbClr val="0000CC"/>
              </a:solidFill>
            </a:endParaRPr>
          </a:p>
        </p:txBody>
      </p:sp>
      <p:sp>
        <p:nvSpPr>
          <p:cNvPr id="276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320ED7-8777-48AC-89EC-FAA0C198BF5A}" type="slidenum">
              <a:rPr lang="zh-CN" altLang="en-US" smtClean="0"/>
              <a:pPr eaLnBrk="1" hangingPunct="1"/>
              <a:t>11</a:t>
            </a:fld>
            <a:endParaRPr lang="en-US" altLang="zh-CN" smtClean="0"/>
          </a:p>
        </p:txBody>
      </p:sp>
      <p:sp>
        <p:nvSpPr>
          <p:cNvPr id="276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(1) </a:t>
            </a:r>
            <a:r>
              <a:rPr lang="zh-CN" altLang="en-US" dirty="0" smtClean="0">
                <a:ea typeface="黑体" panose="02010609060101010101" pitchFamily="49" charset="-122"/>
              </a:rPr>
              <a:t>常用编码方式</a:t>
            </a:r>
          </a:p>
        </p:txBody>
      </p:sp>
      <p:sp>
        <p:nvSpPr>
          <p:cNvPr id="278530"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不归零制：</a:t>
            </a:r>
            <a:r>
              <a:rPr lang="zh-CN" altLang="zh-CN" dirty="0" smtClean="0">
                <a:ea typeface="黑体" panose="02010609060101010101" pitchFamily="49" charset="-122"/>
              </a:rPr>
              <a:t>正电平代表</a:t>
            </a:r>
            <a:r>
              <a:rPr lang="en-US" altLang="zh-CN" dirty="0" smtClean="0">
                <a:ea typeface="黑体" panose="02010609060101010101" pitchFamily="49" charset="-122"/>
              </a:rPr>
              <a:t> 1</a:t>
            </a:r>
            <a:r>
              <a:rPr lang="zh-CN" altLang="zh-CN" dirty="0" smtClean="0">
                <a:ea typeface="黑体" panose="02010609060101010101" pitchFamily="49" charset="-122"/>
              </a:rPr>
              <a:t>，负电平代表</a:t>
            </a:r>
            <a:r>
              <a:rPr lang="en-US" altLang="zh-CN" dirty="0" smtClean="0">
                <a:ea typeface="黑体" panose="02010609060101010101" pitchFamily="49" charset="-122"/>
              </a:rPr>
              <a:t> 0</a:t>
            </a:r>
            <a:r>
              <a:rPr lang="zh-CN" altLang="zh-CN" dirty="0" smtClean="0">
                <a:ea typeface="黑体" panose="02010609060101010101" pitchFamily="49" charset="-122"/>
              </a:rPr>
              <a:t>。</a:t>
            </a:r>
          </a:p>
          <a:p>
            <a:r>
              <a:rPr lang="zh-CN" altLang="zh-CN" dirty="0" smtClean="0">
                <a:solidFill>
                  <a:srgbClr val="FF0000"/>
                </a:solidFill>
                <a:ea typeface="黑体" panose="02010609060101010101" pitchFamily="49" charset="-122"/>
              </a:rPr>
              <a:t>归零制：</a:t>
            </a:r>
            <a:r>
              <a:rPr lang="zh-CN" altLang="zh-CN" dirty="0" smtClean="0">
                <a:ea typeface="黑体" panose="02010609060101010101" pitchFamily="49" charset="-122"/>
              </a:rPr>
              <a:t>正脉冲代表</a:t>
            </a:r>
            <a:r>
              <a:rPr lang="en-US" altLang="zh-CN" dirty="0" smtClean="0">
                <a:ea typeface="黑体" panose="02010609060101010101" pitchFamily="49" charset="-122"/>
              </a:rPr>
              <a:t> 1</a:t>
            </a:r>
            <a:r>
              <a:rPr lang="zh-CN" altLang="zh-CN" dirty="0" smtClean="0">
                <a:ea typeface="黑体" panose="02010609060101010101" pitchFamily="49" charset="-122"/>
              </a:rPr>
              <a:t>，负脉冲代表</a:t>
            </a:r>
            <a:r>
              <a:rPr lang="en-US" altLang="zh-CN" dirty="0" smtClean="0">
                <a:ea typeface="黑体" panose="02010609060101010101" pitchFamily="49" charset="-122"/>
              </a:rPr>
              <a:t> 0</a:t>
            </a:r>
            <a:r>
              <a:rPr lang="zh-CN" altLang="zh-CN" dirty="0" smtClean="0">
                <a:ea typeface="黑体" panose="02010609060101010101" pitchFamily="49" charset="-122"/>
              </a:rPr>
              <a:t>。</a:t>
            </a:r>
          </a:p>
          <a:p>
            <a:r>
              <a:rPr lang="zh-CN" altLang="zh-CN" dirty="0" smtClean="0">
                <a:solidFill>
                  <a:srgbClr val="FF0000"/>
                </a:solidFill>
                <a:ea typeface="黑体" panose="02010609060101010101" pitchFamily="49" charset="-122"/>
              </a:rPr>
              <a:t>曼彻斯特编码：</a:t>
            </a:r>
            <a:r>
              <a:rPr lang="zh-CN" altLang="zh-CN" dirty="0" smtClean="0">
                <a:ea typeface="黑体" panose="02010609060101010101" pitchFamily="49" charset="-122"/>
              </a:rPr>
              <a:t>位周期中心的向上跳变代表</a:t>
            </a:r>
            <a:r>
              <a:rPr lang="en-US" altLang="zh-CN" dirty="0" smtClean="0">
                <a:ea typeface="黑体" panose="02010609060101010101" pitchFamily="49" charset="-122"/>
              </a:rPr>
              <a:t> 0</a:t>
            </a:r>
            <a:r>
              <a:rPr lang="zh-CN" altLang="zh-CN" dirty="0" smtClean="0">
                <a:ea typeface="黑体" panose="02010609060101010101" pitchFamily="49" charset="-122"/>
              </a:rPr>
              <a:t>，位周期中心的向下跳变代表</a:t>
            </a:r>
            <a:r>
              <a:rPr lang="en-US" altLang="zh-CN" dirty="0" smtClean="0">
                <a:ea typeface="黑体" panose="02010609060101010101" pitchFamily="49" charset="-122"/>
              </a:rPr>
              <a:t> 1</a:t>
            </a:r>
            <a:r>
              <a:rPr lang="zh-CN" altLang="zh-CN" dirty="0" smtClean="0">
                <a:ea typeface="黑体" panose="02010609060101010101" pitchFamily="49" charset="-122"/>
              </a:rPr>
              <a:t>。但也可反过来定义。</a:t>
            </a:r>
          </a:p>
          <a:p>
            <a:r>
              <a:rPr lang="zh-CN" altLang="zh-CN" dirty="0" smtClean="0">
                <a:solidFill>
                  <a:srgbClr val="FF0000"/>
                </a:solidFill>
                <a:ea typeface="黑体" panose="02010609060101010101" pitchFamily="49" charset="-122"/>
              </a:rPr>
              <a:t>差分曼彻斯特编码：</a:t>
            </a:r>
            <a:r>
              <a:rPr lang="zh-CN" altLang="zh-CN" dirty="0" smtClean="0">
                <a:ea typeface="黑体" panose="02010609060101010101" pitchFamily="49" charset="-122"/>
              </a:rPr>
              <a:t>在每一位的中心处始终都有跳变。位开始边界有跳变代表</a:t>
            </a:r>
            <a:r>
              <a:rPr lang="en-US" altLang="zh-CN" dirty="0" smtClean="0">
                <a:ea typeface="黑体" panose="02010609060101010101" pitchFamily="49" charset="-122"/>
              </a:rPr>
              <a:t> 0</a:t>
            </a:r>
            <a:r>
              <a:rPr lang="zh-CN" altLang="zh-CN" dirty="0" smtClean="0">
                <a:ea typeface="黑体" panose="02010609060101010101" pitchFamily="49" charset="-122"/>
              </a:rPr>
              <a:t>，而位开始边界没有跳变代表</a:t>
            </a:r>
            <a:r>
              <a:rPr lang="en-US" altLang="zh-CN" dirty="0" smtClean="0">
                <a:ea typeface="黑体" panose="02010609060101010101" pitchFamily="49" charset="-122"/>
              </a:rPr>
              <a:t> 1</a:t>
            </a:r>
            <a:r>
              <a:rPr lang="zh-CN" altLang="zh-CN" dirty="0" smtClean="0">
                <a:ea typeface="黑体" panose="02010609060101010101" pitchFamily="49" charset="-122"/>
              </a:rPr>
              <a:t>。</a:t>
            </a:r>
          </a:p>
          <a:p>
            <a:endParaRPr lang="zh-CN" altLang="en-US" dirty="0" smtClean="0">
              <a:ea typeface="黑体" panose="02010609060101010101" pitchFamily="49" charset="-122"/>
            </a:endParaRPr>
          </a:p>
        </p:txBody>
      </p:sp>
      <p:sp>
        <p:nvSpPr>
          <p:cNvPr id="27853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35C474-7B2C-421E-9317-A38BEC11EAD2}" type="slidenum">
              <a:rPr lang="zh-CN" altLang="en-US" smtClean="0"/>
              <a:pPr eaLnBrk="1" hangingPunct="1"/>
              <a:t>12</a:t>
            </a:fld>
            <a:endParaRPr lang="en-US" altLang="zh-CN" smtClean="0"/>
          </a:p>
        </p:txBody>
      </p:sp>
      <p:sp>
        <p:nvSpPr>
          <p:cNvPr id="27853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3" name="标题 1"/>
          <p:cNvSpPr>
            <a:spLocks noGrp="1" noChangeArrowheads="1"/>
          </p:cNvSpPr>
          <p:nvPr>
            <p:ph type="title"/>
          </p:nvPr>
        </p:nvSpPr>
        <p:spPr/>
        <p:txBody>
          <a:bodyPr/>
          <a:lstStyle/>
          <a:p>
            <a:pPr algn="ctr"/>
            <a:r>
              <a:rPr lang="en-US" altLang="zh-CN" smtClean="0">
                <a:ea typeface="黑体" panose="02010609060101010101" pitchFamily="49" charset="-122"/>
              </a:rPr>
              <a:t>(1) </a:t>
            </a:r>
            <a:r>
              <a:rPr lang="zh-CN" altLang="en-US" smtClean="0">
                <a:ea typeface="黑体" panose="02010609060101010101" pitchFamily="49" charset="-122"/>
              </a:rPr>
              <a:t>常用编码方式</a:t>
            </a:r>
          </a:p>
        </p:txBody>
      </p:sp>
      <p:grpSp>
        <p:nvGrpSpPr>
          <p:cNvPr id="279554" name="组合 66"/>
          <p:cNvGrpSpPr>
            <a:grpSpLocks/>
          </p:cNvGrpSpPr>
          <p:nvPr/>
        </p:nvGrpSpPr>
        <p:grpSpPr bwMode="auto">
          <a:xfrm>
            <a:off x="582613" y="1381125"/>
            <a:ext cx="8978900" cy="4208463"/>
            <a:chOff x="581859" y="1380600"/>
            <a:chExt cx="8979653" cy="4208640"/>
          </a:xfrm>
        </p:grpSpPr>
        <p:sp>
          <p:nvSpPr>
            <p:cNvPr id="279555" name="Rectangle 6"/>
            <p:cNvSpPr>
              <a:spLocks noChangeArrowheads="1"/>
            </p:cNvSpPr>
            <p:nvPr/>
          </p:nvSpPr>
          <p:spPr bwMode="auto">
            <a:xfrm>
              <a:off x="581859" y="2326798"/>
              <a:ext cx="145071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不归零制</a:t>
              </a:r>
            </a:p>
          </p:txBody>
        </p:sp>
        <p:sp>
          <p:nvSpPr>
            <p:cNvPr id="279556" name="Rectangle 7"/>
            <p:cNvSpPr>
              <a:spLocks noChangeArrowheads="1"/>
            </p:cNvSpPr>
            <p:nvPr/>
          </p:nvSpPr>
          <p:spPr bwMode="auto">
            <a:xfrm>
              <a:off x="612316" y="4122038"/>
              <a:ext cx="14202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曼彻斯特</a:t>
              </a:r>
            </a:p>
          </p:txBody>
        </p:sp>
        <p:sp>
          <p:nvSpPr>
            <p:cNvPr id="279557" name="Rectangle 8"/>
            <p:cNvSpPr>
              <a:spLocks noChangeArrowheads="1"/>
            </p:cNvSpPr>
            <p:nvPr/>
          </p:nvSpPr>
          <p:spPr bwMode="auto">
            <a:xfrm>
              <a:off x="8098451" y="1430383"/>
              <a:ext cx="720633"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58" name="Rectangle 9"/>
            <p:cNvSpPr>
              <a:spLocks noChangeArrowheads="1"/>
            </p:cNvSpPr>
            <p:nvPr/>
          </p:nvSpPr>
          <p:spPr bwMode="auto">
            <a:xfrm>
              <a:off x="3579275" y="1430383"/>
              <a:ext cx="751616"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59" name="Rectangle 10"/>
            <p:cNvSpPr>
              <a:spLocks noChangeArrowheads="1"/>
            </p:cNvSpPr>
            <p:nvPr/>
          </p:nvSpPr>
          <p:spPr bwMode="auto">
            <a:xfrm>
              <a:off x="5090095" y="1425619"/>
              <a:ext cx="731598"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60" name="Rectangle 11"/>
            <p:cNvSpPr>
              <a:spLocks noChangeArrowheads="1"/>
            </p:cNvSpPr>
            <p:nvPr/>
          </p:nvSpPr>
          <p:spPr bwMode="auto">
            <a:xfrm>
              <a:off x="6604736" y="1425619"/>
              <a:ext cx="713017"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61" name="Rectangle 12"/>
            <p:cNvSpPr>
              <a:spLocks noChangeArrowheads="1"/>
            </p:cNvSpPr>
            <p:nvPr/>
          </p:nvSpPr>
          <p:spPr bwMode="auto">
            <a:xfrm>
              <a:off x="2094102" y="1418724"/>
              <a:ext cx="720123" cy="408200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62" name="Rectangle 13"/>
            <p:cNvSpPr>
              <a:spLocks noChangeArrowheads="1"/>
            </p:cNvSpPr>
            <p:nvPr/>
          </p:nvSpPr>
          <p:spPr bwMode="auto">
            <a:xfrm>
              <a:off x="2267281"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3" name="Rectangle 14"/>
            <p:cNvSpPr>
              <a:spLocks noChangeArrowheads="1"/>
            </p:cNvSpPr>
            <p:nvPr/>
          </p:nvSpPr>
          <p:spPr bwMode="auto">
            <a:xfrm>
              <a:off x="9004886"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4" name="Rectangle 15"/>
            <p:cNvSpPr>
              <a:spLocks noChangeArrowheads="1"/>
            </p:cNvSpPr>
            <p:nvPr/>
          </p:nvSpPr>
          <p:spPr bwMode="auto">
            <a:xfrm>
              <a:off x="5307467"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5" name="Rectangle 16"/>
            <p:cNvSpPr>
              <a:spLocks noChangeArrowheads="1"/>
            </p:cNvSpPr>
            <p:nvPr/>
          </p:nvSpPr>
          <p:spPr bwMode="auto">
            <a:xfrm>
              <a:off x="8249377" y="1490708"/>
              <a:ext cx="2984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6" name="Rectangle 17"/>
            <p:cNvSpPr>
              <a:spLocks noChangeArrowheads="1"/>
            </p:cNvSpPr>
            <p:nvPr/>
          </p:nvSpPr>
          <p:spPr bwMode="auto">
            <a:xfrm>
              <a:off x="7539715"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7" name="Rectangle 18"/>
            <p:cNvSpPr>
              <a:spLocks noChangeArrowheads="1"/>
            </p:cNvSpPr>
            <p:nvPr/>
          </p:nvSpPr>
          <p:spPr bwMode="auto">
            <a:xfrm>
              <a:off x="3028222"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68" name="Rectangle 19"/>
            <p:cNvSpPr>
              <a:spLocks noChangeArrowheads="1"/>
            </p:cNvSpPr>
            <p:nvPr/>
          </p:nvSpPr>
          <p:spPr bwMode="auto">
            <a:xfrm>
              <a:off x="3820310"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69" name="Rectangle 20"/>
            <p:cNvSpPr>
              <a:spLocks noChangeArrowheads="1"/>
            </p:cNvSpPr>
            <p:nvPr/>
          </p:nvSpPr>
          <p:spPr bwMode="auto">
            <a:xfrm>
              <a:off x="4540390"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70" name="Rectangle 21"/>
            <p:cNvSpPr>
              <a:spLocks noChangeArrowheads="1"/>
            </p:cNvSpPr>
            <p:nvPr/>
          </p:nvSpPr>
          <p:spPr bwMode="auto">
            <a:xfrm>
              <a:off x="6052558"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71" name="Rectangle 22"/>
            <p:cNvSpPr>
              <a:spLocks noChangeArrowheads="1"/>
            </p:cNvSpPr>
            <p:nvPr/>
          </p:nvSpPr>
          <p:spPr bwMode="auto">
            <a:xfrm>
              <a:off x="6772638"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grpSp>
          <p:nvGrpSpPr>
            <p:cNvPr id="279572" name="组合 65"/>
            <p:cNvGrpSpPr>
              <a:grpSpLocks/>
            </p:cNvGrpSpPr>
            <p:nvPr/>
          </p:nvGrpSpPr>
          <p:grpSpPr bwMode="auto">
            <a:xfrm>
              <a:off x="2060906" y="2145700"/>
              <a:ext cx="7475110" cy="704406"/>
              <a:chOff x="2060906" y="2145700"/>
              <a:chExt cx="7475110" cy="704406"/>
            </a:xfrm>
          </p:grpSpPr>
          <p:sp>
            <p:nvSpPr>
              <p:cNvPr id="279573" name="Freeform 24"/>
              <p:cNvSpPr>
                <a:spLocks noChangeArrowheads="1"/>
              </p:cNvSpPr>
              <p:nvPr/>
            </p:nvSpPr>
            <p:spPr bwMode="auto">
              <a:xfrm>
                <a:off x="2060906" y="2154468"/>
                <a:ext cx="7475110" cy="695638"/>
              </a:xfrm>
              <a:custGeom>
                <a:avLst/>
                <a:gdLst>
                  <a:gd name="T0" fmla="*/ 0 w 10020"/>
                  <a:gd name="T1" fmla="*/ 0 h 10000"/>
                  <a:gd name="T2" fmla="*/ 1020 w 10020"/>
                  <a:gd name="T3" fmla="*/ 0 h 10000"/>
                  <a:gd name="T4" fmla="*/ 1020 w 10020"/>
                  <a:gd name="T5" fmla="*/ 10000 h 10000"/>
                  <a:gd name="T6" fmla="*/ 4037 w 10020"/>
                  <a:gd name="T7" fmla="*/ 10000 h 10000"/>
                  <a:gd name="T8" fmla="*/ 4037 w 10020"/>
                  <a:gd name="T9" fmla="*/ 0 h 10000"/>
                  <a:gd name="T10" fmla="*/ 5057 w 10020"/>
                  <a:gd name="T11" fmla="*/ 0 h 10000"/>
                  <a:gd name="T12" fmla="*/ 5057 w 10020"/>
                  <a:gd name="T13" fmla="*/ 10000 h 10000"/>
                  <a:gd name="T14" fmla="*/ 7076 w 10020"/>
                  <a:gd name="T15" fmla="*/ 10000 h 10000"/>
                  <a:gd name="T16" fmla="*/ 7076 w 10020"/>
                  <a:gd name="T17" fmla="*/ 0 h 10000"/>
                  <a:gd name="T18" fmla="*/ 10020 w 10020"/>
                  <a:gd name="T19" fmla="*/ 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20" h="10000">
                    <a:moveTo>
                      <a:pt x="0" y="0"/>
                    </a:moveTo>
                    <a:lnTo>
                      <a:pt x="1020" y="0"/>
                    </a:lnTo>
                    <a:lnTo>
                      <a:pt x="1020" y="10000"/>
                    </a:lnTo>
                    <a:lnTo>
                      <a:pt x="4037" y="10000"/>
                    </a:lnTo>
                    <a:lnTo>
                      <a:pt x="4037" y="0"/>
                    </a:lnTo>
                    <a:lnTo>
                      <a:pt x="5057" y="0"/>
                    </a:lnTo>
                    <a:lnTo>
                      <a:pt x="5057" y="10000"/>
                    </a:lnTo>
                    <a:lnTo>
                      <a:pt x="7076" y="10000"/>
                    </a:lnTo>
                    <a:lnTo>
                      <a:pt x="7076" y="0"/>
                    </a:lnTo>
                    <a:lnTo>
                      <a:pt x="10020" y="0"/>
                    </a:lnTo>
                  </a:path>
                </a:pathLst>
              </a:cu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74" name="Line 25"/>
              <p:cNvSpPr>
                <a:spLocks noChangeShapeType="1"/>
              </p:cNvSpPr>
              <p:nvPr/>
            </p:nvSpPr>
            <p:spPr bwMode="auto">
              <a:xfrm flipV="1">
                <a:off x="6583655" y="2778465"/>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5" name="Line 26"/>
              <p:cNvSpPr>
                <a:spLocks noChangeShapeType="1"/>
              </p:cNvSpPr>
              <p:nvPr/>
            </p:nvSpPr>
            <p:spPr bwMode="auto">
              <a:xfrm flipV="1">
                <a:off x="8078714" y="2145700"/>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6" name="Line 27"/>
              <p:cNvSpPr>
                <a:spLocks noChangeShapeType="1"/>
              </p:cNvSpPr>
              <p:nvPr/>
            </p:nvSpPr>
            <p:spPr bwMode="auto">
              <a:xfrm flipV="1">
                <a:off x="8828592" y="2155199"/>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7" name="Line 28"/>
              <p:cNvSpPr>
                <a:spLocks noChangeShapeType="1"/>
              </p:cNvSpPr>
              <p:nvPr/>
            </p:nvSpPr>
            <p:spPr bwMode="auto">
              <a:xfrm flipV="1">
                <a:off x="4330891" y="2777004"/>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8" name="Line 29"/>
              <p:cNvSpPr>
                <a:spLocks noChangeShapeType="1"/>
              </p:cNvSpPr>
              <p:nvPr/>
            </p:nvSpPr>
            <p:spPr bwMode="auto">
              <a:xfrm flipV="1">
                <a:off x="3570055" y="2777734"/>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grpSp>
        <p:sp>
          <p:nvSpPr>
            <p:cNvPr id="279579" name="Freeform 30"/>
            <p:cNvSpPr>
              <a:spLocks noChangeArrowheads="1"/>
            </p:cNvSpPr>
            <p:nvPr/>
          </p:nvSpPr>
          <p:spPr bwMode="auto">
            <a:xfrm>
              <a:off x="2062492" y="3988564"/>
              <a:ext cx="7473339" cy="690711"/>
            </a:xfrm>
            <a:custGeom>
              <a:avLst/>
              <a:gdLst>
                <a:gd name="T0" fmla="*/ 0 w 10122"/>
                <a:gd name="T1" fmla="*/ 0 h 10000"/>
                <a:gd name="T2" fmla="*/ 504 w 10122"/>
                <a:gd name="T3" fmla="*/ 0 h 10000"/>
                <a:gd name="T4" fmla="*/ 504 w 10122"/>
                <a:gd name="T5" fmla="*/ 10000 h 10000"/>
                <a:gd name="T6" fmla="*/ 1536 w 10122"/>
                <a:gd name="T7" fmla="*/ 10000 h 10000"/>
                <a:gd name="T8" fmla="*/ 1536 w 10122"/>
                <a:gd name="T9" fmla="*/ 0 h 10000"/>
                <a:gd name="T10" fmla="*/ 2040 w 10122"/>
                <a:gd name="T11" fmla="*/ 0 h 10000"/>
                <a:gd name="T12" fmla="*/ 2040 w 10122"/>
                <a:gd name="T13" fmla="*/ 10000 h 10000"/>
                <a:gd name="T14" fmla="*/ 2565 w 10122"/>
                <a:gd name="T15" fmla="*/ 10000 h 10000"/>
                <a:gd name="T16" fmla="*/ 2565 w 10122"/>
                <a:gd name="T17" fmla="*/ 0 h 10000"/>
                <a:gd name="T18" fmla="*/ 3070 w 10122"/>
                <a:gd name="T19" fmla="*/ 0 h 10000"/>
                <a:gd name="T20" fmla="*/ 3070 w 10122"/>
                <a:gd name="T21" fmla="*/ 10000 h 10000"/>
                <a:gd name="T22" fmla="*/ 3574 w 10122"/>
                <a:gd name="T23" fmla="*/ 10000 h 10000"/>
                <a:gd name="T24" fmla="*/ 3574 w 10122"/>
                <a:gd name="T25" fmla="*/ 0 h 10000"/>
                <a:gd name="T26" fmla="*/ 4606 w 10122"/>
                <a:gd name="T27" fmla="*/ 0 h 10000"/>
                <a:gd name="T28" fmla="*/ 4606 w 10122"/>
                <a:gd name="T29" fmla="*/ 10000 h 10000"/>
                <a:gd name="T30" fmla="*/ 5615 w 10122"/>
                <a:gd name="T31" fmla="*/ 10000 h 10000"/>
                <a:gd name="T32" fmla="*/ 5615 w 10122"/>
                <a:gd name="T33" fmla="*/ 122 h 10000"/>
                <a:gd name="T34" fmla="*/ 6119 w 10122"/>
                <a:gd name="T35" fmla="*/ 0 h 10000"/>
                <a:gd name="T36" fmla="*/ 6119 w 10122"/>
                <a:gd name="T37" fmla="*/ 10000 h 10000"/>
                <a:gd name="T38" fmla="*/ 6623 w 10122"/>
                <a:gd name="T39" fmla="*/ 10000 h 10000"/>
                <a:gd name="T40" fmla="*/ 6623 w 10122"/>
                <a:gd name="T41" fmla="*/ 0 h 10000"/>
                <a:gd name="T42" fmla="*/ 7653 w 10122"/>
                <a:gd name="T43" fmla="*/ 0 h 10000"/>
                <a:gd name="T44" fmla="*/ 7653 w 10122"/>
                <a:gd name="T45" fmla="*/ 10000 h 10000"/>
                <a:gd name="T46" fmla="*/ 8157 w 10122"/>
                <a:gd name="T47" fmla="*/ 10000 h 10000"/>
                <a:gd name="T48" fmla="*/ 8157 w 10122"/>
                <a:gd name="T49" fmla="*/ 0 h 10000"/>
                <a:gd name="T50" fmla="*/ 8662 w 10122"/>
                <a:gd name="T51" fmla="*/ 0 h 10000"/>
                <a:gd name="T52" fmla="*/ 8662 w 10122"/>
                <a:gd name="T53" fmla="*/ 10000 h 10000"/>
                <a:gd name="T54" fmla="*/ 9166 w 10122"/>
                <a:gd name="T55" fmla="*/ 10000 h 10000"/>
                <a:gd name="T56" fmla="*/ 9166 w 10122"/>
                <a:gd name="T57" fmla="*/ 0 h 10000"/>
                <a:gd name="T58" fmla="*/ 9671 w 10122"/>
                <a:gd name="T59" fmla="*/ 0 h 10000"/>
                <a:gd name="T60" fmla="*/ 9671 w 10122"/>
                <a:gd name="T61" fmla="*/ 10000 h 10000"/>
                <a:gd name="T62" fmla="*/ 10122 w 10122"/>
                <a:gd name="T63" fmla="*/ 1000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22"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22" y="10000"/>
                  </a:lnTo>
                </a:path>
              </a:pathLst>
            </a:cu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80" name="Line 32"/>
            <p:cNvSpPr>
              <a:spLocks noChangeShapeType="1"/>
            </p:cNvSpPr>
            <p:nvPr/>
          </p:nvSpPr>
          <p:spPr bwMode="auto">
            <a:xfrm flipH="1" flipV="1">
              <a:off x="2067107" y="1399876"/>
              <a:ext cx="3175"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279581" name="Line 33"/>
            <p:cNvSpPr>
              <a:spLocks noChangeShapeType="1"/>
            </p:cNvSpPr>
            <p:nvPr/>
          </p:nvSpPr>
          <p:spPr bwMode="auto">
            <a:xfrm flipV="1">
              <a:off x="2817167" y="1380600"/>
              <a:ext cx="0" cy="412265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2" name="Line 34"/>
            <p:cNvSpPr>
              <a:spLocks noChangeShapeType="1"/>
            </p:cNvSpPr>
            <p:nvPr/>
          </p:nvSpPr>
          <p:spPr bwMode="auto">
            <a:xfrm flipV="1">
              <a:off x="3564285"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3" name="Line 35"/>
            <p:cNvSpPr>
              <a:spLocks noChangeShapeType="1"/>
            </p:cNvSpPr>
            <p:nvPr/>
          </p:nvSpPr>
          <p:spPr bwMode="auto">
            <a:xfrm flipH="1" flipV="1">
              <a:off x="4326393" y="1399876"/>
              <a:ext cx="0" cy="411735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4" name="Line 36"/>
            <p:cNvSpPr>
              <a:spLocks noChangeShapeType="1"/>
            </p:cNvSpPr>
            <p:nvPr/>
          </p:nvSpPr>
          <p:spPr bwMode="auto">
            <a:xfrm flipV="1">
              <a:off x="5075808"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5" name="Line 37"/>
            <p:cNvSpPr>
              <a:spLocks noChangeShapeType="1"/>
            </p:cNvSpPr>
            <p:nvPr/>
          </p:nvSpPr>
          <p:spPr bwMode="auto">
            <a:xfrm flipV="1">
              <a:off x="5838561"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6" name="Line 38"/>
            <p:cNvSpPr>
              <a:spLocks noChangeShapeType="1"/>
            </p:cNvSpPr>
            <p:nvPr/>
          </p:nvSpPr>
          <p:spPr bwMode="auto">
            <a:xfrm flipV="1">
              <a:off x="6591563"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7" name="Line 39"/>
            <p:cNvSpPr>
              <a:spLocks noChangeShapeType="1"/>
            </p:cNvSpPr>
            <p:nvPr/>
          </p:nvSpPr>
          <p:spPr bwMode="auto">
            <a:xfrm flipV="1">
              <a:off x="7332743"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8" name="Line 40"/>
            <p:cNvSpPr>
              <a:spLocks noChangeShapeType="1"/>
            </p:cNvSpPr>
            <p:nvPr/>
          </p:nvSpPr>
          <p:spPr bwMode="auto">
            <a:xfrm flipH="1" flipV="1">
              <a:off x="8084212" y="1399876"/>
              <a:ext cx="1587"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9" name="Line 41"/>
            <p:cNvSpPr>
              <a:spLocks noChangeShapeType="1"/>
            </p:cNvSpPr>
            <p:nvPr/>
          </p:nvSpPr>
          <p:spPr bwMode="auto">
            <a:xfrm flipV="1">
              <a:off x="8811941" y="1402285"/>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90" name="Rectangle 42"/>
            <p:cNvSpPr>
              <a:spLocks noChangeArrowheads="1"/>
            </p:cNvSpPr>
            <p:nvPr/>
          </p:nvSpPr>
          <p:spPr bwMode="auto">
            <a:xfrm>
              <a:off x="697274" y="1498645"/>
              <a:ext cx="133530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比特流</a:t>
              </a:r>
            </a:p>
          </p:txBody>
        </p:sp>
        <p:grpSp>
          <p:nvGrpSpPr>
            <p:cNvPr id="279591" name="Group 66"/>
            <p:cNvGrpSpPr>
              <a:grpSpLocks/>
            </p:cNvGrpSpPr>
            <p:nvPr/>
          </p:nvGrpSpPr>
          <p:grpSpPr bwMode="auto">
            <a:xfrm>
              <a:off x="2062493" y="3067440"/>
              <a:ext cx="7499019" cy="705100"/>
              <a:chOff x="1260" y="3138"/>
              <a:chExt cx="4470" cy="192"/>
            </a:xfrm>
          </p:grpSpPr>
          <p:sp>
            <p:nvSpPr>
              <p:cNvPr id="279592" name="Freeform 46"/>
              <p:cNvSpPr>
                <a:spLocks noChangeArrowheads="1"/>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3" name="Freeform 47"/>
              <p:cNvSpPr>
                <a:spLocks noChangeArrowheads="1"/>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4" name="Freeform 48"/>
              <p:cNvSpPr>
                <a:spLocks noChangeArrowheads="1"/>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5" name="Freeform 49"/>
              <p:cNvSpPr>
                <a:spLocks noChangeArrowheads="1"/>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6" name="Freeform 50"/>
              <p:cNvSpPr>
                <a:spLocks noChangeArrowheads="1"/>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7" name="Freeform 51"/>
              <p:cNvSpPr>
                <a:spLocks noChangeArrowheads="1"/>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8" name="Freeform 52"/>
              <p:cNvSpPr>
                <a:spLocks noChangeArrowheads="1"/>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9" name="Freeform 53"/>
              <p:cNvSpPr>
                <a:spLocks noChangeArrowheads="1"/>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600" name="Freeform 54"/>
              <p:cNvSpPr>
                <a:spLocks noChangeArrowheads="1"/>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601" name="Freeform 55"/>
              <p:cNvSpPr>
                <a:spLocks noChangeArrowheads="1"/>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grpSp>
          <p:nvGrpSpPr>
            <p:cNvPr id="279602" name="Group 65"/>
            <p:cNvGrpSpPr>
              <a:grpSpLocks/>
            </p:cNvGrpSpPr>
            <p:nvPr/>
          </p:nvGrpSpPr>
          <p:grpSpPr bwMode="auto">
            <a:xfrm>
              <a:off x="2072017" y="4810021"/>
              <a:ext cx="7483921" cy="690711"/>
              <a:chOff x="1264" y="2804"/>
              <a:chExt cx="4461" cy="258"/>
            </a:xfrm>
          </p:grpSpPr>
          <p:sp>
            <p:nvSpPr>
              <p:cNvPr id="279603" name="Freeform 63"/>
              <p:cNvSpPr>
                <a:spLocks noChangeArrowheads="1"/>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604" name="Freeform 64"/>
              <p:cNvSpPr>
                <a:spLocks noChangeArrowheads="1"/>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sp>
          <p:nvSpPr>
            <p:cNvPr id="279605" name="Rectangle 68"/>
            <p:cNvSpPr>
              <a:spLocks noChangeArrowheads="1"/>
            </p:cNvSpPr>
            <p:nvPr/>
          </p:nvSpPr>
          <p:spPr bwMode="auto">
            <a:xfrm>
              <a:off x="612316" y="4760808"/>
              <a:ext cx="1420262"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差分</a:t>
              </a:r>
              <a:endParaRPr lang="en-US" altLang="zh-CN" sz="2400" b="1">
                <a:solidFill>
                  <a:srgbClr val="000099"/>
                </a:solidFill>
                <a:ea typeface="黑体" panose="02010609060101010101" pitchFamily="49" charset="-122"/>
              </a:endParaRPr>
            </a:p>
            <a:p>
              <a:pPr algn="r"/>
              <a:r>
                <a:rPr lang="zh-CN" altLang="en-US" sz="2400" b="1">
                  <a:solidFill>
                    <a:srgbClr val="000099"/>
                  </a:solidFill>
                  <a:ea typeface="黑体" panose="02010609060101010101" pitchFamily="49" charset="-122"/>
                </a:rPr>
                <a:t>曼彻斯特</a:t>
              </a:r>
            </a:p>
          </p:txBody>
        </p:sp>
        <p:sp>
          <p:nvSpPr>
            <p:cNvPr id="279606" name="Rectangle 69"/>
            <p:cNvSpPr>
              <a:spLocks noChangeArrowheads="1"/>
            </p:cNvSpPr>
            <p:nvPr/>
          </p:nvSpPr>
          <p:spPr bwMode="auto">
            <a:xfrm>
              <a:off x="666816" y="3208850"/>
              <a:ext cx="13657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归零制</a:t>
              </a:r>
            </a:p>
          </p:txBody>
        </p:sp>
        <p:cxnSp>
          <p:nvCxnSpPr>
            <p:cNvPr id="279607" name="直接连接符 59"/>
            <p:cNvCxnSpPr>
              <a:cxnSpLocks noChangeShapeType="1"/>
            </p:cNvCxnSpPr>
            <p:nvPr/>
          </p:nvCxnSpPr>
          <p:spPr bwMode="auto">
            <a:xfrm>
              <a:off x="2060839" y="5167044"/>
              <a:ext cx="7495099" cy="0"/>
            </a:xfrm>
            <a:prstGeom prst="line">
              <a:avLst/>
            </a:prstGeom>
            <a:noFill/>
            <a:ln w="12700">
              <a:solidFill>
                <a:schemeClr val="tx1"/>
              </a:solidFill>
              <a:round/>
              <a:headEnd/>
              <a:tailEnd/>
            </a:ln>
          </p:spPr>
        </p:cxnSp>
        <p:cxnSp>
          <p:nvCxnSpPr>
            <p:cNvPr id="279608" name="直接连接符 60"/>
            <p:cNvCxnSpPr>
              <a:cxnSpLocks noChangeShapeType="1"/>
            </p:cNvCxnSpPr>
            <p:nvPr/>
          </p:nvCxnSpPr>
          <p:spPr bwMode="auto">
            <a:xfrm>
              <a:off x="2060839" y="4333919"/>
              <a:ext cx="7495099" cy="0"/>
            </a:xfrm>
            <a:prstGeom prst="line">
              <a:avLst/>
            </a:prstGeom>
            <a:noFill/>
            <a:ln w="12700">
              <a:solidFill>
                <a:schemeClr val="tx1"/>
              </a:solidFill>
              <a:round/>
              <a:headEnd/>
              <a:tailEnd/>
            </a:ln>
          </p:spPr>
        </p:cxnSp>
        <p:cxnSp>
          <p:nvCxnSpPr>
            <p:cNvPr id="279609" name="直接连接符 61"/>
            <p:cNvCxnSpPr>
              <a:cxnSpLocks noChangeShapeType="1"/>
            </p:cNvCxnSpPr>
            <p:nvPr/>
          </p:nvCxnSpPr>
          <p:spPr bwMode="auto">
            <a:xfrm>
              <a:off x="2060839" y="3422871"/>
              <a:ext cx="7495099" cy="0"/>
            </a:xfrm>
            <a:prstGeom prst="line">
              <a:avLst/>
            </a:prstGeom>
            <a:noFill/>
            <a:ln w="12700">
              <a:solidFill>
                <a:schemeClr val="tx1"/>
              </a:solidFill>
              <a:round/>
              <a:headEnd/>
              <a:tailEnd/>
            </a:ln>
          </p:spPr>
        </p:cxnSp>
        <p:cxnSp>
          <p:nvCxnSpPr>
            <p:cNvPr id="279610" name="直接连接符 62"/>
            <p:cNvCxnSpPr>
              <a:cxnSpLocks noChangeShapeType="1"/>
            </p:cNvCxnSpPr>
            <p:nvPr/>
          </p:nvCxnSpPr>
          <p:spPr bwMode="auto">
            <a:xfrm>
              <a:off x="2060839" y="2505690"/>
              <a:ext cx="7495099" cy="0"/>
            </a:xfrm>
            <a:prstGeom prst="line">
              <a:avLst/>
            </a:prstGeom>
            <a:noFill/>
            <a:ln w="12700">
              <a:solidFill>
                <a:schemeClr val="tx1"/>
              </a:solidFill>
              <a:round/>
              <a:headEnd/>
              <a:tailEnd/>
            </a:ln>
          </p:spPr>
        </p:cxnSp>
        <p:sp>
          <p:nvSpPr>
            <p:cNvPr id="279611" name="Line 41"/>
            <p:cNvSpPr>
              <a:spLocks noChangeShapeType="1"/>
            </p:cNvSpPr>
            <p:nvPr/>
          </p:nvSpPr>
          <p:spPr bwMode="auto">
            <a:xfrm flipV="1">
              <a:off x="9541651" y="1402285"/>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grpSp>
      <p:sp>
        <p:nvSpPr>
          <p:cNvPr id="279612" name="矩形 67"/>
          <p:cNvSpPr>
            <a:spLocks noChangeArrowheads="1"/>
          </p:cNvSpPr>
          <p:nvPr/>
        </p:nvSpPr>
        <p:spPr bwMode="auto">
          <a:xfrm>
            <a:off x="2997200" y="5775325"/>
            <a:ext cx="4979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数字信号常用的编码方式</a:t>
            </a:r>
            <a:endParaRPr lang="zh-CN" altLang="en-US" sz="2400" b="1">
              <a:ea typeface="黑体" panose="02010609060101010101" pitchFamily="49" charset="-122"/>
            </a:endParaRPr>
          </a:p>
        </p:txBody>
      </p:sp>
      <p:sp>
        <p:nvSpPr>
          <p:cNvPr id="279613" name="灯片编号占位符 2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13462C-3B43-4F6C-8275-385AB986C411}" type="slidenum">
              <a:rPr lang="zh-CN" altLang="en-US" smtClean="0"/>
              <a:pPr eaLnBrk="1" hangingPunct="1"/>
              <a:t>13</a:t>
            </a:fld>
            <a:endParaRPr lang="en-US" altLang="zh-CN" smtClean="0"/>
          </a:p>
        </p:txBody>
      </p:sp>
      <p:sp>
        <p:nvSpPr>
          <p:cNvPr id="279614" name="页脚占位符 5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标题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(1) </a:t>
            </a:r>
            <a:r>
              <a:rPr lang="zh-CN" altLang="en-US" smtClean="0">
                <a:ea typeface="黑体" panose="02010609060101010101" pitchFamily="49" charset="-122"/>
              </a:rPr>
              <a:t>常用编码方式</a:t>
            </a:r>
          </a:p>
        </p:txBody>
      </p:sp>
      <p:sp>
        <p:nvSpPr>
          <p:cNvPr id="280578" name="内容占位符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从信号波形中可以看出，曼彻斯特</a:t>
            </a:r>
            <a:r>
              <a:rPr lang="en-US" altLang="zh-CN" dirty="0" smtClean="0">
                <a:ea typeface="黑体" panose="02010609060101010101" pitchFamily="49" charset="-122"/>
              </a:rPr>
              <a:t> (Manchester) </a:t>
            </a:r>
            <a:r>
              <a:rPr lang="zh-CN" altLang="zh-CN" dirty="0" smtClean="0">
                <a:ea typeface="黑体" panose="02010609060101010101" pitchFamily="49" charset="-122"/>
              </a:rPr>
              <a:t>编码</a:t>
            </a:r>
            <a:r>
              <a:rPr lang="zh-CN" altLang="en-US" dirty="0" smtClean="0">
                <a:ea typeface="黑体" panose="02010609060101010101" pitchFamily="49" charset="-122"/>
              </a:rPr>
              <a:t>和差分</a:t>
            </a:r>
            <a:r>
              <a:rPr lang="zh-CN" altLang="zh-CN" dirty="0" smtClean="0">
                <a:ea typeface="黑体" panose="02010609060101010101" pitchFamily="49" charset="-122"/>
              </a:rPr>
              <a:t>曼彻斯特</a:t>
            </a:r>
            <a:r>
              <a:rPr lang="zh-CN" altLang="en-US" dirty="0" smtClean="0">
                <a:ea typeface="黑体" panose="02010609060101010101" pitchFamily="49" charset="-122"/>
              </a:rPr>
              <a:t>编码</a:t>
            </a:r>
            <a:r>
              <a:rPr lang="zh-CN" altLang="zh-CN" dirty="0" smtClean="0">
                <a:ea typeface="黑体" panose="02010609060101010101" pitchFamily="49" charset="-122"/>
              </a:rPr>
              <a:t>产生的信号频率比不归零制高。</a:t>
            </a:r>
            <a:endParaRPr lang="en-US" altLang="zh-CN" dirty="0" smtClean="0">
              <a:ea typeface="黑体" panose="02010609060101010101" pitchFamily="49" charset="-122"/>
            </a:endParaRPr>
          </a:p>
          <a:p>
            <a:r>
              <a:rPr lang="zh-CN" altLang="zh-CN" dirty="0" smtClean="0">
                <a:ea typeface="黑体" panose="02010609060101010101" pitchFamily="49" charset="-122"/>
              </a:rPr>
              <a:t>从自同步能力来看，不归零制不能从信号波形本身中提取信号时钟频率（这叫</a:t>
            </a:r>
            <a:r>
              <a:rPr lang="zh-CN" altLang="en-US" dirty="0" smtClean="0">
                <a:ea typeface="黑体" panose="02010609060101010101" pitchFamily="49" charset="-122"/>
              </a:rPr>
              <a:t>作</a:t>
            </a:r>
            <a:r>
              <a:rPr lang="zh-CN" altLang="zh-CN" dirty="0" smtClean="0">
                <a:ea typeface="黑体" panose="02010609060101010101" pitchFamily="49" charset="-122"/>
              </a:rPr>
              <a:t>没有自同步能力），</a:t>
            </a:r>
            <a:r>
              <a:rPr lang="zh-CN" altLang="zh-CN" dirty="0" smtClean="0">
                <a:solidFill>
                  <a:srgbClr val="0000FF"/>
                </a:solidFill>
                <a:ea typeface="黑体" panose="02010609060101010101" pitchFamily="49" charset="-122"/>
              </a:rPr>
              <a:t>而曼彻斯特编码</a:t>
            </a:r>
            <a:r>
              <a:rPr lang="zh-CN" altLang="en-US" dirty="0" smtClean="0">
                <a:solidFill>
                  <a:srgbClr val="0000FF"/>
                </a:solidFill>
                <a:ea typeface="黑体" panose="02010609060101010101" pitchFamily="49" charset="-122"/>
              </a:rPr>
              <a:t>和差分</a:t>
            </a:r>
            <a:r>
              <a:rPr lang="zh-CN" altLang="zh-CN" dirty="0" smtClean="0">
                <a:solidFill>
                  <a:srgbClr val="0000FF"/>
                </a:solidFill>
                <a:ea typeface="黑体" panose="02010609060101010101" pitchFamily="49" charset="-122"/>
              </a:rPr>
              <a:t>曼彻斯特</a:t>
            </a:r>
            <a:r>
              <a:rPr lang="zh-CN" altLang="en-US" dirty="0" smtClean="0">
                <a:solidFill>
                  <a:srgbClr val="0000FF"/>
                </a:solidFill>
                <a:ea typeface="黑体" panose="02010609060101010101" pitchFamily="49" charset="-122"/>
              </a:rPr>
              <a:t>编码</a:t>
            </a:r>
            <a:r>
              <a:rPr lang="zh-CN" altLang="zh-CN" dirty="0" smtClean="0">
                <a:solidFill>
                  <a:srgbClr val="0000FF"/>
                </a:solidFill>
                <a:ea typeface="黑体" panose="02010609060101010101" pitchFamily="49" charset="-122"/>
              </a:rPr>
              <a:t>具有</a:t>
            </a:r>
            <a:r>
              <a:rPr lang="zh-CN" altLang="zh-CN" dirty="0" smtClean="0">
                <a:solidFill>
                  <a:srgbClr val="FF0000"/>
                </a:solidFill>
                <a:ea typeface="黑体" panose="02010609060101010101" pitchFamily="49" charset="-122"/>
              </a:rPr>
              <a:t>自同步能力。</a:t>
            </a:r>
          </a:p>
          <a:p>
            <a:endParaRPr lang="zh-CN" altLang="en-US" dirty="0" smtClean="0">
              <a:ea typeface="黑体" panose="02010609060101010101" pitchFamily="49" charset="-122"/>
            </a:endParaRPr>
          </a:p>
        </p:txBody>
      </p:sp>
      <p:sp>
        <p:nvSpPr>
          <p:cNvPr id="28057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8FC09D-DE34-4BC2-B8B0-7F7EC91CC392}" type="slidenum">
              <a:rPr lang="zh-CN" altLang="en-US" smtClean="0"/>
              <a:pPr eaLnBrk="1" hangingPunct="1"/>
              <a:t>14</a:t>
            </a:fld>
            <a:endParaRPr lang="en-US" altLang="zh-CN" smtClean="0"/>
          </a:p>
        </p:txBody>
      </p:sp>
      <p:sp>
        <p:nvSpPr>
          <p:cNvPr id="28058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基本的带通调制方法</a:t>
            </a:r>
          </a:p>
        </p:txBody>
      </p:sp>
      <p:sp>
        <p:nvSpPr>
          <p:cNvPr id="246787"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基带信号往往包含有较多的低频成分，甚至有直流成分，而许多信道并不能传输这种低频分量或直流分量。为了解决这一问题，就必须对基带信号进行</a:t>
            </a:r>
            <a:r>
              <a:rPr lang="zh-CN" altLang="en-US" sz="2800" dirty="0" smtClean="0">
                <a:solidFill>
                  <a:srgbClr val="FF0000"/>
                </a:solidFill>
                <a:ea typeface="黑体" panose="02010609060101010101" pitchFamily="49" charset="-122"/>
              </a:rPr>
              <a:t>调制 </a:t>
            </a:r>
            <a:r>
              <a:rPr lang="en-US" altLang="zh-CN" sz="2800" dirty="0" smtClean="0">
                <a:ea typeface="黑体" panose="02010609060101010101" pitchFamily="49" charset="-122"/>
              </a:rPr>
              <a:t>(modulation)</a:t>
            </a:r>
            <a:r>
              <a:rPr lang="zh-CN" altLang="en-US" sz="2800" dirty="0" smtClean="0">
                <a:ea typeface="黑体" panose="02010609060101010101" pitchFamily="49" charset="-122"/>
              </a:rPr>
              <a:t>。 </a:t>
            </a:r>
          </a:p>
          <a:p>
            <a:r>
              <a:rPr lang="zh-CN" altLang="en-US" sz="2800" dirty="0" smtClean="0">
                <a:ea typeface="黑体" panose="02010609060101010101" pitchFamily="49" charset="-122"/>
              </a:rPr>
              <a:t>最基本的</a:t>
            </a:r>
            <a:r>
              <a:rPr lang="zh-CN" altLang="en-US" sz="2800" dirty="0" smtClean="0">
                <a:solidFill>
                  <a:srgbClr val="FF0000"/>
                </a:solidFill>
                <a:ea typeface="黑体" panose="02010609060101010101" pitchFamily="49" charset="-122"/>
              </a:rPr>
              <a:t>二元制</a:t>
            </a:r>
            <a:r>
              <a:rPr lang="zh-CN" altLang="en-US" sz="2800" dirty="0" smtClean="0">
                <a:ea typeface="黑体" panose="02010609060101010101" pitchFamily="49" charset="-122"/>
              </a:rPr>
              <a:t>调制方法有以下几种：</a:t>
            </a:r>
          </a:p>
          <a:p>
            <a:pPr lvl="1"/>
            <a:r>
              <a:rPr lang="zh-CN" altLang="en-US" u="sng" dirty="0" smtClean="0">
                <a:solidFill>
                  <a:srgbClr val="FF0000"/>
                </a:solidFill>
                <a:ea typeface="黑体" panose="02010609060101010101" pitchFamily="49" charset="-122"/>
              </a:rPr>
              <a:t>调幅</a:t>
            </a:r>
            <a:r>
              <a:rPr lang="en-US" altLang="zh-CN" u="sng" dirty="0" smtClean="0">
                <a:solidFill>
                  <a:srgbClr val="FF0000"/>
                </a:solidFill>
                <a:ea typeface="黑体" panose="02010609060101010101" pitchFamily="49" charset="-122"/>
              </a:rPr>
              <a:t>(Amplitude Modulation)</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载波的振幅随基带数字信号而变化。 </a:t>
            </a:r>
          </a:p>
          <a:p>
            <a:pPr lvl="1"/>
            <a:r>
              <a:rPr lang="zh-CN" altLang="en-US" u="sng" dirty="0" smtClean="0">
                <a:solidFill>
                  <a:srgbClr val="FF0000"/>
                </a:solidFill>
                <a:ea typeface="黑体" panose="02010609060101010101" pitchFamily="49" charset="-122"/>
              </a:rPr>
              <a:t>调频</a:t>
            </a:r>
            <a:r>
              <a:rPr lang="en-US" altLang="zh-CN" u="sng" dirty="0" smtClean="0">
                <a:solidFill>
                  <a:srgbClr val="FF0000"/>
                </a:solidFill>
                <a:ea typeface="黑体" panose="02010609060101010101" pitchFamily="49" charset="-122"/>
              </a:rPr>
              <a:t>(Frequency Modulation)</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载波的频率随基带数字信号而变化。</a:t>
            </a:r>
          </a:p>
          <a:p>
            <a:pPr lvl="1"/>
            <a:r>
              <a:rPr lang="zh-CN" altLang="en-US" dirty="0" smtClean="0">
                <a:solidFill>
                  <a:srgbClr val="FF0000"/>
                </a:solidFill>
                <a:ea typeface="黑体" panose="02010609060101010101" pitchFamily="49" charset="-122"/>
              </a:rPr>
              <a:t>调相</a:t>
            </a:r>
            <a:r>
              <a:rPr lang="en-US" altLang="zh-CN" dirty="0" smtClean="0">
                <a:solidFill>
                  <a:srgbClr val="FF0000"/>
                </a:solidFill>
                <a:ea typeface="黑体" panose="02010609060101010101" pitchFamily="49" charset="-122"/>
              </a:rPr>
              <a:t>(Phase Modulation) </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载波的初始相位随基带数字信号而变化。  </a:t>
            </a:r>
          </a:p>
        </p:txBody>
      </p:sp>
      <p:sp>
        <p:nvSpPr>
          <p:cNvPr id="281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435B51-75F9-46D9-926B-E3BA4077B23A}" type="slidenum">
              <a:rPr lang="zh-CN" altLang="en-US" smtClean="0"/>
              <a:pPr eaLnBrk="1" hangingPunct="1"/>
              <a:t>15</a:t>
            </a:fld>
            <a:endParaRPr lang="en-US" altLang="zh-CN" smtClean="0"/>
          </a:p>
        </p:txBody>
      </p:sp>
      <p:sp>
        <p:nvSpPr>
          <p:cNvPr id="281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2"/>
          <p:cNvSpPr>
            <a:spLocks noGrp="1" noChangeArrowheads="1"/>
          </p:cNvSpPr>
          <p:nvPr>
            <p:ph type="title"/>
          </p:nvPr>
        </p:nvSpPr>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基本的带通调制方法</a:t>
            </a:r>
          </a:p>
        </p:txBody>
      </p:sp>
      <p:grpSp>
        <p:nvGrpSpPr>
          <p:cNvPr id="283650" name="组合 6"/>
          <p:cNvGrpSpPr>
            <a:grpSpLocks/>
          </p:cNvGrpSpPr>
          <p:nvPr/>
        </p:nvGrpSpPr>
        <p:grpSpPr bwMode="auto">
          <a:xfrm>
            <a:off x="344488" y="1341438"/>
            <a:ext cx="9217025" cy="4048125"/>
            <a:chOff x="200472" y="1412776"/>
            <a:chExt cx="9217024" cy="4048125"/>
          </a:xfrm>
        </p:grpSpPr>
        <p:sp>
          <p:nvSpPr>
            <p:cNvPr id="283651" name="Rectangle 3"/>
            <p:cNvSpPr>
              <a:spLocks noChangeArrowheads="1"/>
            </p:cNvSpPr>
            <p:nvPr/>
          </p:nvSpPr>
          <p:spPr bwMode="auto">
            <a:xfrm>
              <a:off x="2053794"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2" name="Rectangle 4"/>
            <p:cNvSpPr>
              <a:spLocks noChangeArrowheads="1"/>
            </p:cNvSpPr>
            <p:nvPr/>
          </p:nvSpPr>
          <p:spPr bwMode="auto">
            <a:xfrm>
              <a:off x="2942551"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3" name="Rectangle 5"/>
            <p:cNvSpPr>
              <a:spLocks noChangeArrowheads="1"/>
            </p:cNvSpPr>
            <p:nvPr/>
          </p:nvSpPr>
          <p:spPr bwMode="auto">
            <a:xfrm>
              <a:off x="3734639"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4" name="Rectangle 6"/>
            <p:cNvSpPr>
              <a:spLocks noChangeArrowheads="1"/>
            </p:cNvSpPr>
            <p:nvPr/>
          </p:nvSpPr>
          <p:spPr bwMode="auto">
            <a:xfrm>
              <a:off x="4535454"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5" name="Rectangle 7"/>
            <p:cNvSpPr>
              <a:spLocks noChangeArrowheads="1"/>
            </p:cNvSpPr>
            <p:nvPr/>
          </p:nvSpPr>
          <p:spPr bwMode="auto">
            <a:xfrm>
              <a:off x="5462831"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6" name="Rectangle 8"/>
            <p:cNvSpPr>
              <a:spLocks noChangeArrowheads="1"/>
            </p:cNvSpPr>
            <p:nvPr/>
          </p:nvSpPr>
          <p:spPr bwMode="auto">
            <a:xfrm>
              <a:off x="6254919"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7" name="Rectangle 9"/>
            <p:cNvSpPr>
              <a:spLocks noChangeArrowheads="1"/>
            </p:cNvSpPr>
            <p:nvPr/>
          </p:nvSpPr>
          <p:spPr bwMode="auto">
            <a:xfrm>
              <a:off x="6965519"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8" name="Rectangle 10"/>
            <p:cNvSpPr>
              <a:spLocks noChangeArrowheads="1"/>
            </p:cNvSpPr>
            <p:nvPr/>
          </p:nvSpPr>
          <p:spPr bwMode="auto">
            <a:xfrm>
              <a:off x="7827136"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9" name="Rectangle 11"/>
            <p:cNvSpPr>
              <a:spLocks noChangeArrowheads="1"/>
            </p:cNvSpPr>
            <p:nvPr/>
          </p:nvSpPr>
          <p:spPr bwMode="auto">
            <a:xfrm>
              <a:off x="8662954"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60" name="Freeform 12"/>
            <p:cNvSpPr>
              <a:spLocks noChangeArrowheads="1"/>
            </p:cNvSpPr>
            <p:nvPr/>
          </p:nvSpPr>
          <p:spPr bwMode="auto">
            <a:xfrm>
              <a:off x="1842261" y="1412776"/>
              <a:ext cx="7431219" cy="577850"/>
            </a:xfrm>
            <a:custGeom>
              <a:avLst/>
              <a:gdLst>
                <a:gd name="T0" fmla="*/ 0 w 4321"/>
                <a:gd name="T1" fmla="*/ 486 h 487"/>
                <a:gd name="T2" fmla="*/ 477 w 4321"/>
                <a:gd name="T3" fmla="*/ 486 h 487"/>
                <a:gd name="T4" fmla="*/ 477 w 4321"/>
                <a:gd name="T5" fmla="*/ 0 h 487"/>
                <a:gd name="T6" fmla="*/ 963 w 4321"/>
                <a:gd name="T7" fmla="*/ 0 h 487"/>
                <a:gd name="T8" fmla="*/ 963 w 4321"/>
                <a:gd name="T9" fmla="*/ 486 h 487"/>
                <a:gd name="T10" fmla="*/ 1926 w 4321"/>
                <a:gd name="T11" fmla="*/ 486 h 487"/>
                <a:gd name="T12" fmla="*/ 1926 w 4321"/>
                <a:gd name="T13" fmla="*/ 0 h 487"/>
                <a:gd name="T14" fmla="*/ 3357 w 4321"/>
                <a:gd name="T15" fmla="*/ 0 h 487"/>
                <a:gd name="T16" fmla="*/ 3357 w 4321"/>
                <a:gd name="T17" fmla="*/ 486 h 487"/>
                <a:gd name="T18" fmla="*/ 4320 w 4321"/>
                <a:gd name="T19" fmla="*/ 486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1" name="Freeform 13"/>
            <p:cNvSpPr>
              <a:spLocks noChangeArrowheads="1"/>
            </p:cNvSpPr>
            <p:nvPr/>
          </p:nvSpPr>
          <p:spPr bwMode="auto">
            <a:xfrm>
              <a:off x="9271761" y="1989038"/>
              <a:ext cx="1719"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noFill/>
            <a:ln w="38100" cap="rnd">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62" name="组合 1"/>
            <p:cNvGrpSpPr>
              <a:grpSpLocks/>
            </p:cNvGrpSpPr>
            <p:nvPr/>
          </p:nvGrpSpPr>
          <p:grpSpPr bwMode="auto">
            <a:xfrm>
              <a:off x="1845699" y="3427314"/>
              <a:ext cx="7407143" cy="865187"/>
              <a:chOff x="1845699" y="3427314"/>
              <a:chExt cx="7407143" cy="865187"/>
            </a:xfrm>
          </p:grpSpPr>
          <p:sp>
            <p:nvSpPr>
              <p:cNvPr id="283663" name="Freeform 46"/>
              <p:cNvSpPr>
                <a:spLocks noChangeArrowheads="1"/>
              </p:cNvSpPr>
              <p:nvPr/>
            </p:nvSpPr>
            <p:spPr bwMode="auto">
              <a:xfrm>
                <a:off x="2662601" y="3433664"/>
                <a:ext cx="65352" cy="460375"/>
              </a:xfrm>
              <a:custGeom>
                <a:avLst/>
                <a:gdLst>
                  <a:gd name="T0" fmla="*/ 0 w 38"/>
                  <a:gd name="T1" fmla="*/ 290 h 290"/>
                  <a:gd name="T2" fmla="*/ 26 w 38"/>
                  <a:gd name="T3" fmla="*/ 40 h 290"/>
                  <a:gd name="T4" fmla="*/ 27 w 38"/>
                  <a:gd name="T5" fmla="*/ 28 h 290"/>
                  <a:gd name="T6" fmla="*/ 28 w 38"/>
                  <a:gd name="T7" fmla="*/ 19 h 290"/>
                  <a:gd name="T8" fmla="*/ 30 w 38"/>
                  <a:gd name="T9" fmla="*/ 11 h 290"/>
                  <a:gd name="T10" fmla="*/ 33 w 38"/>
                  <a:gd name="T11" fmla="*/ 4 h 290"/>
                  <a:gd name="T12" fmla="*/ 38 w 38"/>
                  <a:gd name="T13" fmla="*/ 0 h 290"/>
                </a:gdLst>
                <a:ahLst/>
                <a:cxnLst>
                  <a:cxn ang="0">
                    <a:pos x="T0" y="T1"/>
                  </a:cxn>
                  <a:cxn ang="0">
                    <a:pos x="T2" y="T3"/>
                  </a:cxn>
                  <a:cxn ang="0">
                    <a:pos x="T4" y="T5"/>
                  </a:cxn>
                  <a:cxn ang="0">
                    <a:pos x="T6" y="T7"/>
                  </a:cxn>
                  <a:cxn ang="0">
                    <a:pos x="T8" y="T9"/>
                  </a:cxn>
                  <a:cxn ang="0">
                    <a:pos x="T10" y="T11"/>
                  </a:cxn>
                  <a:cxn ang="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4" name="Freeform 47"/>
              <p:cNvSpPr>
                <a:spLocks noChangeArrowheads="1"/>
              </p:cNvSpPr>
              <p:nvPr/>
            </p:nvSpPr>
            <p:spPr bwMode="auto">
              <a:xfrm>
                <a:off x="2729673" y="3438426"/>
                <a:ext cx="149621" cy="842962"/>
              </a:xfrm>
              <a:custGeom>
                <a:avLst/>
                <a:gdLst>
                  <a:gd name="T0" fmla="*/ 0 w 87"/>
                  <a:gd name="T1" fmla="*/ 0 h 709"/>
                  <a:gd name="T2" fmla="*/ 7 w 87"/>
                  <a:gd name="T3" fmla="*/ 4 h 709"/>
                  <a:gd name="T4" fmla="*/ 12 w 87"/>
                  <a:gd name="T5" fmla="*/ 16 h 709"/>
                  <a:gd name="T6" fmla="*/ 14 w 87"/>
                  <a:gd name="T7" fmla="*/ 33 h 709"/>
                  <a:gd name="T8" fmla="*/ 16 w 87"/>
                  <a:gd name="T9" fmla="*/ 59 h 709"/>
                  <a:gd name="T10" fmla="*/ 43 w 87"/>
                  <a:gd name="T11" fmla="*/ 651 h 709"/>
                  <a:gd name="T12" fmla="*/ 46 w 87"/>
                  <a:gd name="T13" fmla="*/ 684 h 709"/>
                  <a:gd name="T14" fmla="*/ 48 w 87"/>
                  <a:gd name="T15" fmla="*/ 694 h 709"/>
                  <a:gd name="T16" fmla="*/ 53 w 87"/>
                  <a:gd name="T17" fmla="*/ 704 h 709"/>
                  <a:gd name="T18" fmla="*/ 58 w 87"/>
                  <a:gd name="T19" fmla="*/ 708 h 709"/>
                  <a:gd name="T20" fmla="*/ 64 w 87"/>
                  <a:gd name="T21" fmla="*/ 700 h 709"/>
                  <a:gd name="T22" fmla="*/ 68 w 87"/>
                  <a:gd name="T23" fmla="*/ 684 h 709"/>
                  <a:gd name="T24" fmla="*/ 86 w 87"/>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65" name="Group 48"/>
              <p:cNvGrpSpPr>
                <a:grpSpLocks/>
              </p:cNvGrpSpPr>
              <p:nvPr/>
            </p:nvGrpSpPr>
            <p:grpSpPr bwMode="auto">
              <a:xfrm>
                <a:off x="2879294" y="3433664"/>
                <a:ext cx="204656" cy="847725"/>
                <a:chOff x="1557" y="2272"/>
                <a:chExt cx="119" cy="713"/>
              </a:xfrm>
            </p:grpSpPr>
            <p:sp>
              <p:nvSpPr>
                <p:cNvPr id="283666" name="Freeform 49"/>
                <p:cNvSpPr>
                  <a:spLocks noChangeArrowheads="1"/>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7" name="Freeform 50"/>
                <p:cNvSpPr>
                  <a:spLocks noChangeArrowheads="1"/>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668" name="Freeform 51"/>
              <p:cNvSpPr>
                <a:spLocks noChangeArrowheads="1"/>
              </p:cNvSpPr>
              <p:nvPr/>
            </p:nvSpPr>
            <p:spPr bwMode="auto">
              <a:xfrm>
                <a:off x="3080510" y="3427314"/>
                <a:ext cx="60192" cy="466725"/>
              </a:xfrm>
              <a:custGeom>
                <a:avLst/>
                <a:gdLst>
                  <a:gd name="T0" fmla="*/ 0 w 35"/>
                  <a:gd name="T1" fmla="*/ 294 h 294"/>
                  <a:gd name="T2" fmla="*/ 22 w 35"/>
                  <a:gd name="T3" fmla="*/ 40 h 294"/>
                  <a:gd name="T4" fmla="*/ 24 w 35"/>
                  <a:gd name="T5" fmla="*/ 28 h 294"/>
                  <a:gd name="T6" fmla="*/ 25 w 35"/>
                  <a:gd name="T7" fmla="*/ 19 h 294"/>
                  <a:gd name="T8" fmla="*/ 26 w 35"/>
                  <a:gd name="T9" fmla="*/ 11 h 294"/>
                  <a:gd name="T10" fmla="*/ 30 w 35"/>
                  <a:gd name="T11" fmla="*/ 4 h 294"/>
                  <a:gd name="T12" fmla="*/ 35 w 35"/>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9" name="Freeform 52"/>
              <p:cNvSpPr>
                <a:spLocks noChangeArrowheads="1"/>
              </p:cNvSpPr>
              <p:nvPr/>
            </p:nvSpPr>
            <p:spPr bwMode="auto">
              <a:xfrm>
                <a:off x="3142423" y="3432076"/>
                <a:ext cx="146182" cy="842962"/>
              </a:xfrm>
              <a:custGeom>
                <a:avLst/>
                <a:gdLst>
                  <a:gd name="T0" fmla="*/ 0 w 85"/>
                  <a:gd name="T1" fmla="*/ 0 h 709"/>
                  <a:gd name="T2" fmla="*/ 7 w 85"/>
                  <a:gd name="T3" fmla="*/ 4 h 709"/>
                  <a:gd name="T4" fmla="*/ 12 w 85"/>
                  <a:gd name="T5" fmla="*/ 16 h 709"/>
                  <a:gd name="T6" fmla="*/ 14 w 85"/>
                  <a:gd name="T7" fmla="*/ 33 h 709"/>
                  <a:gd name="T8" fmla="*/ 15 w 85"/>
                  <a:gd name="T9" fmla="*/ 59 h 709"/>
                  <a:gd name="T10" fmla="*/ 42 w 85"/>
                  <a:gd name="T11" fmla="*/ 651 h 709"/>
                  <a:gd name="T12" fmla="*/ 45 w 85"/>
                  <a:gd name="T13" fmla="*/ 684 h 709"/>
                  <a:gd name="T14" fmla="*/ 47 w 85"/>
                  <a:gd name="T15" fmla="*/ 694 h 709"/>
                  <a:gd name="T16" fmla="*/ 52 w 85"/>
                  <a:gd name="T17" fmla="*/ 704 h 709"/>
                  <a:gd name="T18" fmla="*/ 57 w 85"/>
                  <a:gd name="T19" fmla="*/ 708 h 709"/>
                  <a:gd name="T20" fmla="*/ 62 w 85"/>
                  <a:gd name="T21" fmla="*/ 700 h 709"/>
                  <a:gd name="T22" fmla="*/ 66 w 85"/>
                  <a:gd name="T23" fmla="*/ 684 h 709"/>
                  <a:gd name="T24" fmla="*/ 84 w 85"/>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0" name="Freeform 53"/>
              <p:cNvSpPr>
                <a:spLocks noChangeArrowheads="1"/>
              </p:cNvSpPr>
              <p:nvPr/>
            </p:nvSpPr>
            <p:spPr bwMode="auto">
              <a:xfrm>
                <a:off x="3286885" y="3427314"/>
                <a:ext cx="60192" cy="442913"/>
              </a:xfrm>
              <a:custGeom>
                <a:avLst/>
                <a:gdLst>
                  <a:gd name="T0" fmla="*/ 0 w 35"/>
                  <a:gd name="T1" fmla="*/ 279 h 279"/>
                  <a:gd name="T2" fmla="*/ 22 w 35"/>
                  <a:gd name="T3" fmla="*/ 40 h 279"/>
                  <a:gd name="T4" fmla="*/ 23 w 35"/>
                  <a:gd name="T5" fmla="*/ 28 h 279"/>
                  <a:gd name="T6" fmla="*/ 24 w 35"/>
                  <a:gd name="T7" fmla="*/ 19 h 279"/>
                  <a:gd name="T8" fmla="*/ 26 w 35"/>
                  <a:gd name="T9" fmla="*/ 11 h 279"/>
                  <a:gd name="T10" fmla="*/ 30 w 35"/>
                  <a:gd name="T11" fmla="*/ 4 h 279"/>
                  <a:gd name="T12" fmla="*/ 35 w 35"/>
                  <a:gd name="T13" fmla="*/ 0 h 279"/>
                </a:gdLst>
                <a:ahLst/>
                <a:cxnLst>
                  <a:cxn ang="0">
                    <a:pos x="T0" y="T1"/>
                  </a:cxn>
                  <a:cxn ang="0">
                    <a:pos x="T2" y="T3"/>
                  </a:cxn>
                  <a:cxn ang="0">
                    <a:pos x="T4" y="T5"/>
                  </a:cxn>
                  <a:cxn ang="0">
                    <a:pos x="T6" y="T7"/>
                  </a:cxn>
                  <a:cxn ang="0">
                    <a:pos x="T8" y="T9"/>
                  </a:cxn>
                  <a:cxn ang="0">
                    <a:pos x="T10" y="T11"/>
                  </a:cxn>
                  <a:cxn ang="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1" name="Freeform 54"/>
              <p:cNvSpPr>
                <a:spLocks noChangeArrowheads="1"/>
              </p:cNvSpPr>
              <p:nvPr/>
            </p:nvSpPr>
            <p:spPr bwMode="auto">
              <a:xfrm>
                <a:off x="3348797" y="3432077"/>
                <a:ext cx="165100" cy="841375"/>
              </a:xfrm>
              <a:custGeom>
                <a:avLst/>
                <a:gdLst>
                  <a:gd name="T0" fmla="*/ 0 w 96"/>
                  <a:gd name="T1" fmla="*/ 0 h 530"/>
                  <a:gd name="T2" fmla="*/ 7 w 96"/>
                  <a:gd name="T3" fmla="*/ 3 h 530"/>
                  <a:gd name="T4" fmla="*/ 12 w 96"/>
                  <a:gd name="T5" fmla="*/ 12 h 530"/>
                  <a:gd name="T6" fmla="*/ 14 w 96"/>
                  <a:gd name="T7" fmla="*/ 25 h 530"/>
                  <a:gd name="T8" fmla="*/ 15 w 96"/>
                  <a:gd name="T9" fmla="*/ 44 h 530"/>
                  <a:gd name="T10" fmla="*/ 42 w 96"/>
                  <a:gd name="T11" fmla="*/ 488 h 530"/>
                  <a:gd name="T12" fmla="*/ 45 w 96"/>
                  <a:gd name="T13" fmla="*/ 512 h 530"/>
                  <a:gd name="T14" fmla="*/ 47 w 96"/>
                  <a:gd name="T15" fmla="*/ 520 h 530"/>
                  <a:gd name="T16" fmla="*/ 52 w 96"/>
                  <a:gd name="T17" fmla="*/ 527 h 530"/>
                  <a:gd name="T18" fmla="*/ 57 w 96"/>
                  <a:gd name="T19" fmla="*/ 530 h 530"/>
                  <a:gd name="T20" fmla="*/ 62 w 96"/>
                  <a:gd name="T21" fmla="*/ 524 h 530"/>
                  <a:gd name="T22" fmla="*/ 66 w 96"/>
                  <a:gd name="T23" fmla="*/ 512 h 530"/>
                  <a:gd name="T24" fmla="*/ 96 w 96"/>
                  <a:gd name="T25" fmla="*/ 28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2" name="Freeform 55"/>
              <p:cNvSpPr>
                <a:spLocks noChangeArrowheads="1"/>
              </p:cNvSpPr>
              <p:nvPr/>
            </p:nvSpPr>
            <p:spPr bwMode="auto">
              <a:xfrm>
                <a:off x="6798700" y="343683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3" name="Freeform 56"/>
              <p:cNvSpPr>
                <a:spLocks noChangeArrowheads="1"/>
              </p:cNvSpPr>
              <p:nvPr/>
            </p:nvSpPr>
            <p:spPr bwMode="auto">
              <a:xfrm>
                <a:off x="6855452" y="3441602"/>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3 w 85"/>
                  <a:gd name="T11" fmla="*/ 488 h 530"/>
                  <a:gd name="T12" fmla="*/ 45 w 85"/>
                  <a:gd name="T13" fmla="*/ 512 h 530"/>
                  <a:gd name="T14" fmla="*/ 47 w 85"/>
                  <a:gd name="T15" fmla="*/ 520 h 530"/>
                  <a:gd name="T16" fmla="*/ 53 w 85"/>
                  <a:gd name="T17" fmla="*/ 527 h 530"/>
                  <a:gd name="T18" fmla="*/ 57 w 85"/>
                  <a:gd name="T19" fmla="*/ 530 h 530"/>
                  <a:gd name="T20" fmla="*/ 63 w 85"/>
                  <a:gd name="T21" fmla="*/ 524 h 530"/>
                  <a:gd name="T22" fmla="*/ 67 w 85"/>
                  <a:gd name="T23" fmla="*/ 512 h 530"/>
                  <a:gd name="T24" fmla="*/ 85 w 85"/>
                  <a:gd name="T25" fmla="*/ 27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4" name="Freeform 57"/>
              <p:cNvSpPr>
                <a:spLocks noChangeArrowheads="1"/>
              </p:cNvSpPr>
              <p:nvPr/>
            </p:nvSpPr>
            <p:spPr bwMode="auto">
              <a:xfrm>
                <a:off x="70033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5" name="Freeform 58"/>
              <p:cNvSpPr>
                <a:spLocks noChangeArrowheads="1"/>
              </p:cNvSpPr>
              <p:nvPr/>
            </p:nvSpPr>
            <p:spPr bwMode="auto">
              <a:xfrm>
                <a:off x="7058388" y="3441602"/>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2 w 87"/>
                  <a:gd name="T11" fmla="*/ 488 h 530"/>
                  <a:gd name="T12" fmla="*/ 45 w 87"/>
                  <a:gd name="T13" fmla="*/ 512 h 530"/>
                  <a:gd name="T14" fmla="*/ 47 w 87"/>
                  <a:gd name="T15" fmla="*/ 520 h 530"/>
                  <a:gd name="T16" fmla="*/ 52 w 87"/>
                  <a:gd name="T17" fmla="*/ 527 h 530"/>
                  <a:gd name="T18" fmla="*/ 57 w 87"/>
                  <a:gd name="T19" fmla="*/ 530 h 530"/>
                  <a:gd name="T20" fmla="*/ 62 w 87"/>
                  <a:gd name="T21" fmla="*/ 524 h 530"/>
                  <a:gd name="T22" fmla="*/ 66 w 87"/>
                  <a:gd name="T23" fmla="*/ 512 h 530"/>
                  <a:gd name="T24" fmla="*/ 87 w 87"/>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6" name="Freeform 59"/>
              <p:cNvSpPr>
                <a:spLocks noChangeArrowheads="1"/>
              </p:cNvSpPr>
              <p:nvPr/>
            </p:nvSpPr>
            <p:spPr bwMode="auto">
              <a:xfrm>
                <a:off x="7204571"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7" name="Freeform 60"/>
              <p:cNvSpPr>
                <a:spLocks noChangeArrowheads="1"/>
              </p:cNvSpPr>
              <p:nvPr/>
            </p:nvSpPr>
            <p:spPr bwMode="auto">
              <a:xfrm>
                <a:off x="7263044" y="3435252"/>
                <a:ext cx="146182" cy="841375"/>
              </a:xfrm>
              <a:custGeom>
                <a:avLst/>
                <a:gdLst>
                  <a:gd name="T0" fmla="*/ 0 w 85"/>
                  <a:gd name="T1" fmla="*/ 0 h 530"/>
                  <a:gd name="T2" fmla="*/ 7 w 85"/>
                  <a:gd name="T3" fmla="*/ 3 h 530"/>
                  <a:gd name="T4" fmla="*/ 12 w 85"/>
                  <a:gd name="T5" fmla="*/ 12 h 530"/>
                  <a:gd name="T6" fmla="*/ 13 w 85"/>
                  <a:gd name="T7" fmla="*/ 25 h 530"/>
                  <a:gd name="T8" fmla="*/ 15 w 85"/>
                  <a:gd name="T9" fmla="*/ 44 h 530"/>
                  <a:gd name="T10" fmla="*/ 42 w 85"/>
                  <a:gd name="T11" fmla="*/ 488 h 530"/>
                  <a:gd name="T12" fmla="*/ 44 w 85"/>
                  <a:gd name="T13" fmla="*/ 512 h 530"/>
                  <a:gd name="T14" fmla="*/ 46 w 85"/>
                  <a:gd name="T15" fmla="*/ 520 h 530"/>
                  <a:gd name="T16" fmla="*/ 52 w 85"/>
                  <a:gd name="T17" fmla="*/ 527 h 530"/>
                  <a:gd name="T18" fmla="*/ 56 w 85"/>
                  <a:gd name="T19" fmla="*/ 530 h 530"/>
                  <a:gd name="T20" fmla="*/ 62 w 85"/>
                  <a:gd name="T21" fmla="*/ 524 h 530"/>
                  <a:gd name="T22" fmla="*/ 65 w 85"/>
                  <a:gd name="T23" fmla="*/ 512 h 530"/>
                  <a:gd name="T24" fmla="*/ 85 w 85"/>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78" name="Group 61"/>
              <p:cNvGrpSpPr>
                <a:grpSpLocks/>
              </p:cNvGrpSpPr>
              <p:nvPr/>
            </p:nvGrpSpPr>
            <p:grpSpPr bwMode="auto">
              <a:xfrm>
                <a:off x="7407506" y="3430489"/>
                <a:ext cx="204655" cy="847725"/>
                <a:chOff x="4190" y="2269"/>
                <a:chExt cx="119" cy="713"/>
              </a:xfrm>
            </p:grpSpPr>
            <p:sp>
              <p:nvSpPr>
                <p:cNvPr id="283679" name="Freeform 62"/>
                <p:cNvSpPr>
                  <a:spLocks noChangeArrowheads="1"/>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0" name="Freeform 63"/>
                <p:cNvSpPr>
                  <a:spLocks noChangeArrowheads="1"/>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681" name="Freeform 64"/>
              <p:cNvSpPr>
                <a:spLocks noChangeArrowheads="1"/>
              </p:cNvSpPr>
              <p:nvPr/>
            </p:nvSpPr>
            <p:spPr bwMode="auto">
              <a:xfrm>
                <a:off x="5981798"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2" name="Freeform 65"/>
              <p:cNvSpPr>
                <a:spLocks noChangeArrowheads="1"/>
              </p:cNvSpPr>
              <p:nvPr/>
            </p:nvSpPr>
            <p:spPr bwMode="auto">
              <a:xfrm>
                <a:off x="6038552" y="3441602"/>
                <a:ext cx="153061" cy="841375"/>
              </a:xfrm>
              <a:custGeom>
                <a:avLst/>
                <a:gdLst>
                  <a:gd name="T0" fmla="*/ 0 w 89"/>
                  <a:gd name="T1" fmla="*/ 0 h 530"/>
                  <a:gd name="T2" fmla="*/ 7 w 89"/>
                  <a:gd name="T3" fmla="*/ 3 h 530"/>
                  <a:gd name="T4" fmla="*/ 12 w 89"/>
                  <a:gd name="T5" fmla="*/ 12 h 530"/>
                  <a:gd name="T6" fmla="*/ 14 w 89"/>
                  <a:gd name="T7" fmla="*/ 25 h 530"/>
                  <a:gd name="T8" fmla="*/ 15 w 89"/>
                  <a:gd name="T9" fmla="*/ 44 h 530"/>
                  <a:gd name="T10" fmla="*/ 43 w 89"/>
                  <a:gd name="T11" fmla="*/ 488 h 530"/>
                  <a:gd name="T12" fmla="*/ 45 w 89"/>
                  <a:gd name="T13" fmla="*/ 512 h 530"/>
                  <a:gd name="T14" fmla="*/ 47 w 89"/>
                  <a:gd name="T15" fmla="*/ 520 h 530"/>
                  <a:gd name="T16" fmla="*/ 53 w 89"/>
                  <a:gd name="T17" fmla="*/ 527 h 530"/>
                  <a:gd name="T18" fmla="*/ 57 w 89"/>
                  <a:gd name="T19" fmla="*/ 530 h 530"/>
                  <a:gd name="T20" fmla="*/ 63 w 89"/>
                  <a:gd name="T21" fmla="*/ 524 h 530"/>
                  <a:gd name="T22" fmla="*/ 67 w 89"/>
                  <a:gd name="T23" fmla="*/ 512 h 530"/>
                  <a:gd name="T24" fmla="*/ 89 w 89"/>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3" name="Freeform 66"/>
              <p:cNvSpPr>
                <a:spLocks noChangeArrowheads="1"/>
              </p:cNvSpPr>
              <p:nvPr/>
            </p:nvSpPr>
            <p:spPr bwMode="auto">
              <a:xfrm>
                <a:off x="61864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4" name="Freeform 67"/>
              <p:cNvSpPr>
                <a:spLocks noChangeArrowheads="1"/>
              </p:cNvSpPr>
              <p:nvPr/>
            </p:nvSpPr>
            <p:spPr bwMode="auto">
              <a:xfrm>
                <a:off x="6241487" y="3441602"/>
                <a:ext cx="146182"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5" name="Freeform 68"/>
              <p:cNvSpPr>
                <a:spLocks noChangeArrowheads="1"/>
              </p:cNvSpPr>
              <p:nvPr/>
            </p:nvSpPr>
            <p:spPr bwMode="auto">
              <a:xfrm>
                <a:off x="6387669"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6" name="Freeform 69"/>
              <p:cNvSpPr>
                <a:spLocks noChangeArrowheads="1"/>
              </p:cNvSpPr>
              <p:nvPr/>
            </p:nvSpPr>
            <p:spPr bwMode="auto">
              <a:xfrm>
                <a:off x="6446142" y="3435252"/>
                <a:ext cx="147902" cy="841375"/>
              </a:xfrm>
              <a:custGeom>
                <a:avLst/>
                <a:gdLst>
                  <a:gd name="T0" fmla="*/ 0 w 86"/>
                  <a:gd name="T1" fmla="*/ 0 h 530"/>
                  <a:gd name="T2" fmla="*/ 7 w 86"/>
                  <a:gd name="T3" fmla="*/ 3 h 530"/>
                  <a:gd name="T4" fmla="*/ 12 w 86"/>
                  <a:gd name="T5" fmla="*/ 12 h 530"/>
                  <a:gd name="T6" fmla="*/ 13 w 86"/>
                  <a:gd name="T7" fmla="*/ 25 h 530"/>
                  <a:gd name="T8" fmla="*/ 15 w 86"/>
                  <a:gd name="T9" fmla="*/ 44 h 530"/>
                  <a:gd name="T10" fmla="*/ 42 w 86"/>
                  <a:gd name="T11" fmla="*/ 488 h 530"/>
                  <a:gd name="T12" fmla="*/ 44 w 86"/>
                  <a:gd name="T13" fmla="*/ 512 h 530"/>
                  <a:gd name="T14" fmla="*/ 46 w 86"/>
                  <a:gd name="T15" fmla="*/ 520 h 530"/>
                  <a:gd name="T16" fmla="*/ 52 w 86"/>
                  <a:gd name="T17" fmla="*/ 527 h 530"/>
                  <a:gd name="T18" fmla="*/ 56 w 86"/>
                  <a:gd name="T19" fmla="*/ 530 h 530"/>
                  <a:gd name="T20" fmla="*/ 62 w 86"/>
                  <a:gd name="T21" fmla="*/ 524 h 530"/>
                  <a:gd name="T22" fmla="*/ 65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87" name="Group 70"/>
              <p:cNvGrpSpPr>
                <a:grpSpLocks/>
              </p:cNvGrpSpPr>
              <p:nvPr/>
            </p:nvGrpSpPr>
            <p:grpSpPr bwMode="auto">
              <a:xfrm>
                <a:off x="6590605" y="3430489"/>
                <a:ext cx="204656" cy="847725"/>
                <a:chOff x="3715" y="2269"/>
                <a:chExt cx="119" cy="713"/>
              </a:xfrm>
            </p:grpSpPr>
            <p:sp>
              <p:nvSpPr>
                <p:cNvPr id="283688" name="Freeform 71"/>
                <p:cNvSpPr>
                  <a:spLocks noChangeArrowheads="1"/>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9" name="Freeform 72"/>
                <p:cNvSpPr>
                  <a:spLocks noChangeArrowheads="1"/>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690" name="Freeform 73"/>
              <p:cNvSpPr>
                <a:spLocks noChangeArrowheads="1"/>
              </p:cNvSpPr>
              <p:nvPr/>
            </p:nvSpPr>
            <p:spPr bwMode="auto">
              <a:xfrm>
                <a:off x="5149419"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1" name="Freeform 74"/>
              <p:cNvSpPr>
                <a:spLocks noChangeArrowheads="1"/>
              </p:cNvSpPr>
              <p:nvPr/>
            </p:nvSpPr>
            <p:spPr bwMode="auto">
              <a:xfrm>
                <a:off x="5206173" y="3441602"/>
                <a:ext cx="149621"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2" name="Freeform 75"/>
              <p:cNvSpPr>
                <a:spLocks noChangeArrowheads="1"/>
              </p:cNvSpPr>
              <p:nvPr/>
            </p:nvSpPr>
            <p:spPr bwMode="auto">
              <a:xfrm>
                <a:off x="5354075"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3" name="Freeform 76"/>
              <p:cNvSpPr>
                <a:spLocks noChangeArrowheads="1"/>
              </p:cNvSpPr>
              <p:nvPr/>
            </p:nvSpPr>
            <p:spPr bwMode="auto">
              <a:xfrm>
                <a:off x="5409108" y="3441602"/>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4" name="Freeform 77"/>
              <p:cNvSpPr>
                <a:spLocks noChangeArrowheads="1"/>
              </p:cNvSpPr>
              <p:nvPr/>
            </p:nvSpPr>
            <p:spPr bwMode="auto">
              <a:xfrm>
                <a:off x="5557010" y="343048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5" name="Freeform 78"/>
              <p:cNvSpPr>
                <a:spLocks noChangeArrowheads="1"/>
              </p:cNvSpPr>
              <p:nvPr/>
            </p:nvSpPr>
            <p:spPr bwMode="auto">
              <a:xfrm>
                <a:off x="5613763" y="3435252"/>
                <a:ext cx="149622" cy="841375"/>
              </a:xfrm>
              <a:custGeom>
                <a:avLst/>
                <a:gdLst>
                  <a:gd name="T0" fmla="*/ 0 w 87"/>
                  <a:gd name="T1" fmla="*/ 0 h 530"/>
                  <a:gd name="T2" fmla="*/ 7 w 87"/>
                  <a:gd name="T3" fmla="*/ 3 h 530"/>
                  <a:gd name="T4" fmla="*/ 12 w 87"/>
                  <a:gd name="T5" fmla="*/ 12 h 530"/>
                  <a:gd name="T6" fmla="*/ 13 w 87"/>
                  <a:gd name="T7" fmla="*/ 25 h 530"/>
                  <a:gd name="T8" fmla="*/ 15 w 87"/>
                  <a:gd name="T9" fmla="*/ 44 h 530"/>
                  <a:gd name="T10" fmla="*/ 42 w 87"/>
                  <a:gd name="T11" fmla="*/ 488 h 530"/>
                  <a:gd name="T12" fmla="*/ 44 w 87"/>
                  <a:gd name="T13" fmla="*/ 512 h 530"/>
                  <a:gd name="T14" fmla="*/ 46 w 87"/>
                  <a:gd name="T15" fmla="*/ 520 h 530"/>
                  <a:gd name="T16" fmla="*/ 52 w 87"/>
                  <a:gd name="T17" fmla="*/ 527 h 530"/>
                  <a:gd name="T18" fmla="*/ 56 w 87"/>
                  <a:gd name="T19" fmla="*/ 530 h 530"/>
                  <a:gd name="T20" fmla="*/ 62 w 87"/>
                  <a:gd name="T21" fmla="*/ 524 h 530"/>
                  <a:gd name="T22" fmla="*/ 65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6" name="Freeform 79"/>
              <p:cNvSpPr>
                <a:spLocks noChangeArrowheads="1"/>
              </p:cNvSpPr>
              <p:nvPr/>
            </p:nvSpPr>
            <p:spPr bwMode="auto">
              <a:xfrm>
                <a:off x="5758226" y="3430488"/>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7" name="Freeform 80"/>
              <p:cNvSpPr>
                <a:spLocks noChangeArrowheads="1"/>
              </p:cNvSpPr>
              <p:nvPr/>
            </p:nvSpPr>
            <p:spPr bwMode="auto">
              <a:xfrm>
                <a:off x="5818419" y="3435252"/>
                <a:ext cx="161660" cy="841375"/>
              </a:xfrm>
              <a:custGeom>
                <a:avLst/>
                <a:gdLst>
                  <a:gd name="T0" fmla="*/ 0 w 94"/>
                  <a:gd name="T1" fmla="*/ 0 h 530"/>
                  <a:gd name="T2" fmla="*/ 7 w 94"/>
                  <a:gd name="T3" fmla="*/ 3 h 530"/>
                  <a:gd name="T4" fmla="*/ 12 w 94"/>
                  <a:gd name="T5" fmla="*/ 12 h 530"/>
                  <a:gd name="T6" fmla="*/ 13 w 94"/>
                  <a:gd name="T7" fmla="*/ 25 h 530"/>
                  <a:gd name="T8" fmla="*/ 15 w 94"/>
                  <a:gd name="T9" fmla="*/ 44 h 530"/>
                  <a:gd name="T10" fmla="*/ 42 w 94"/>
                  <a:gd name="T11" fmla="*/ 488 h 530"/>
                  <a:gd name="T12" fmla="*/ 44 w 94"/>
                  <a:gd name="T13" fmla="*/ 512 h 530"/>
                  <a:gd name="T14" fmla="*/ 46 w 94"/>
                  <a:gd name="T15" fmla="*/ 520 h 530"/>
                  <a:gd name="T16" fmla="*/ 52 w 94"/>
                  <a:gd name="T17" fmla="*/ 527 h 530"/>
                  <a:gd name="T18" fmla="*/ 56 w 94"/>
                  <a:gd name="T19" fmla="*/ 530 h 530"/>
                  <a:gd name="T20" fmla="*/ 62 w 94"/>
                  <a:gd name="T21" fmla="*/ 524 h 530"/>
                  <a:gd name="T22" fmla="*/ 65 w 94"/>
                  <a:gd name="T23" fmla="*/ 512 h 530"/>
                  <a:gd name="T24" fmla="*/ 94 w 94"/>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98" name="Group 81"/>
              <p:cNvGrpSpPr>
                <a:grpSpLocks/>
              </p:cNvGrpSpPr>
              <p:nvPr/>
            </p:nvGrpSpPr>
            <p:grpSpPr bwMode="auto">
              <a:xfrm>
                <a:off x="1845699" y="3447951"/>
                <a:ext cx="818621" cy="844550"/>
                <a:chOff x="956" y="2283"/>
                <a:chExt cx="476" cy="711"/>
              </a:xfrm>
            </p:grpSpPr>
            <p:sp>
              <p:nvSpPr>
                <p:cNvPr id="283699" name="Freeform 82"/>
                <p:cNvSpPr>
                  <a:spLocks noChangeArrowheads="1"/>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0" name="Freeform 83"/>
                <p:cNvSpPr>
                  <a:spLocks noChangeArrowheads="1"/>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1" name="Freeform 84"/>
                <p:cNvSpPr>
                  <a:spLocks noChangeArrowheads="1"/>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2" name="Freeform 85"/>
                <p:cNvSpPr>
                  <a:spLocks noChangeArrowheads="1"/>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03" name="Group 86"/>
              <p:cNvGrpSpPr>
                <a:grpSpLocks/>
              </p:cNvGrpSpPr>
              <p:nvPr/>
            </p:nvGrpSpPr>
            <p:grpSpPr bwMode="auto">
              <a:xfrm>
                <a:off x="3519056" y="3433664"/>
                <a:ext cx="818621" cy="847725"/>
                <a:chOff x="1929" y="2272"/>
                <a:chExt cx="476" cy="713"/>
              </a:xfrm>
            </p:grpSpPr>
            <p:grpSp>
              <p:nvGrpSpPr>
                <p:cNvPr id="283704" name="Group 87"/>
                <p:cNvGrpSpPr>
                  <a:grpSpLocks/>
                </p:cNvGrpSpPr>
                <p:nvPr/>
              </p:nvGrpSpPr>
              <p:grpSpPr bwMode="auto">
                <a:xfrm>
                  <a:off x="1929" y="2272"/>
                  <a:ext cx="238" cy="713"/>
                  <a:chOff x="1929" y="2272"/>
                  <a:chExt cx="238" cy="713"/>
                </a:xfrm>
              </p:grpSpPr>
              <p:sp>
                <p:nvSpPr>
                  <p:cNvPr id="283705" name="Freeform 88"/>
                  <p:cNvSpPr>
                    <a:spLocks noChangeArrowheads="1"/>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6" name="Freeform 89"/>
                  <p:cNvSpPr>
                    <a:spLocks noChangeArrowheads="1"/>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07" name="Group 90"/>
                <p:cNvGrpSpPr>
                  <a:grpSpLocks/>
                </p:cNvGrpSpPr>
                <p:nvPr/>
              </p:nvGrpSpPr>
              <p:grpSpPr bwMode="auto">
                <a:xfrm>
                  <a:off x="2169" y="2272"/>
                  <a:ext cx="236" cy="713"/>
                  <a:chOff x="2169" y="2272"/>
                  <a:chExt cx="236" cy="713"/>
                </a:xfrm>
              </p:grpSpPr>
              <p:sp>
                <p:nvSpPr>
                  <p:cNvPr id="283708" name="Freeform 91"/>
                  <p:cNvSpPr>
                    <a:spLocks noChangeArrowheads="1"/>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9" name="Freeform 92"/>
                  <p:cNvSpPr>
                    <a:spLocks noChangeArrowheads="1"/>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10" name="Freeform 93"/>
              <p:cNvSpPr>
                <a:spLocks noChangeArrowheads="1"/>
              </p:cNvSpPr>
              <p:nvPr/>
            </p:nvSpPr>
            <p:spPr bwMode="auto">
              <a:xfrm>
                <a:off x="4334237" y="3427314"/>
                <a:ext cx="116946" cy="466725"/>
              </a:xfrm>
              <a:custGeom>
                <a:avLst/>
                <a:gdLst>
                  <a:gd name="T0" fmla="*/ 0 w 68"/>
                  <a:gd name="T1" fmla="*/ 294 h 294"/>
                  <a:gd name="T2" fmla="*/ 43 w 68"/>
                  <a:gd name="T3" fmla="*/ 40 h 294"/>
                  <a:gd name="T4" fmla="*/ 45 w 68"/>
                  <a:gd name="T5" fmla="*/ 28 h 294"/>
                  <a:gd name="T6" fmla="*/ 47 w 68"/>
                  <a:gd name="T7" fmla="*/ 19 h 294"/>
                  <a:gd name="T8" fmla="*/ 51 w 68"/>
                  <a:gd name="T9" fmla="*/ 11 h 294"/>
                  <a:gd name="T10" fmla="*/ 58 w 68"/>
                  <a:gd name="T11" fmla="*/ 4 h 294"/>
                  <a:gd name="T12" fmla="*/ 68 w 68"/>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1" name="Freeform 94"/>
              <p:cNvSpPr>
                <a:spLocks noChangeArrowheads="1"/>
              </p:cNvSpPr>
              <p:nvPr/>
            </p:nvSpPr>
            <p:spPr bwMode="auto">
              <a:xfrm>
                <a:off x="4454623" y="3432076"/>
                <a:ext cx="288925" cy="842962"/>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2" name="Freeform 95"/>
              <p:cNvSpPr>
                <a:spLocks noChangeArrowheads="1"/>
              </p:cNvSpPr>
              <p:nvPr/>
            </p:nvSpPr>
            <p:spPr bwMode="auto">
              <a:xfrm>
                <a:off x="4741829" y="3427314"/>
                <a:ext cx="122105" cy="461963"/>
              </a:xfrm>
              <a:custGeom>
                <a:avLst/>
                <a:gdLst>
                  <a:gd name="T0" fmla="*/ 0 w 71"/>
                  <a:gd name="T1" fmla="*/ 291 h 291"/>
                  <a:gd name="T2" fmla="*/ 45 w 71"/>
                  <a:gd name="T3" fmla="*/ 40 h 291"/>
                  <a:gd name="T4" fmla="*/ 48 w 71"/>
                  <a:gd name="T5" fmla="*/ 28 h 291"/>
                  <a:gd name="T6" fmla="*/ 50 w 71"/>
                  <a:gd name="T7" fmla="*/ 19 h 291"/>
                  <a:gd name="T8" fmla="*/ 53 w 71"/>
                  <a:gd name="T9" fmla="*/ 11 h 291"/>
                  <a:gd name="T10" fmla="*/ 61 w 71"/>
                  <a:gd name="T11" fmla="*/ 4 h 291"/>
                  <a:gd name="T12" fmla="*/ 71 w 71"/>
                  <a:gd name="T13" fmla="*/ 0 h 291"/>
                </a:gdLst>
                <a:ahLst/>
                <a:cxnLst>
                  <a:cxn ang="0">
                    <a:pos x="T0" y="T1"/>
                  </a:cxn>
                  <a:cxn ang="0">
                    <a:pos x="T2" y="T3"/>
                  </a:cxn>
                  <a:cxn ang="0">
                    <a:pos x="T4" y="T5"/>
                  </a:cxn>
                  <a:cxn ang="0">
                    <a:pos x="T6" y="T7"/>
                  </a:cxn>
                  <a:cxn ang="0">
                    <a:pos x="T8" y="T9"/>
                  </a:cxn>
                  <a:cxn ang="0">
                    <a:pos x="T10" y="T11"/>
                  </a:cxn>
                  <a:cxn ang="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3" name="Freeform 96"/>
              <p:cNvSpPr>
                <a:spLocks noChangeArrowheads="1"/>
              </p:cNvSpPr>
              <p:nvPr/>
            </p:nvSpPr>
            <p:spPr bwMode="auto">
              <a:xfrm>
                <a:off x="4867373" y="3432077"/>
                <a:ext cx="282046" cy="841375"/>
              </a:xfrm>
              <a:custGeom>
                <a:avLst/>
                <a:gdLst>
                  <a:gd name="T0" fmla="*/ 0 w 164"/>
                  <a:gd name="T1" fmla="*/ 0 h 530"/>
                  <a:gd name="T2" fmla="*/ 14 w 164"/>
                  <a:gd name="T3" fmla="*/ 3 h 530"/>
                  <a:gd name="T4" fmla="*/ 24 w 164"/>
                  <a:gd name="T5" fmla="*/ 12 h 530"/>
                  <a:gd name="T6" fmla="*/ 27 w 164"/>
                  <a:gd name="T7" fmla="*/ 25 h 530"/>
                  <a:gd name="T8" fmla="*/ 30 w 164"/>
                  <a:gd name="T9" fmla="*/ 44 h 530"/>
                  <a:gd name="T10" fmla="*/ 84 w 164"/>
                  <a:gd name="T11" fmla="*/ 488 h 530"/>
                  <a:gd name="T12" fmla="*/ 89 w 164"/>
                  <a:gd name="T13" fmla="*/ 512 h 530"/>
                  <a:gd name="T14" fmla="*/ 93 w 164"/>
                  <a:gd name="T15" fmla="*/ 520 h 530"/>
                  <a:gd name="T16" fmla="*/ 104 w 164"/>
                  <a:gd name="T17" fmla="*/ 527 h 530"/>
                  <a:gd name="T18" fmla="*/ 113 w 164"/>
                  <a:gd name="T19" fmla="*/ 530 h 530"/>
                  <a:gd name="T20" fmla="*/ 124 w 164"/>
                  <a:gd name="T21" fmla="*/ 524 h 530"/>
                  <a:gd name="T22" fmla="*/ 132 w 164"/>
                  <a:gd name="T23" fmla="*/ 512 h 530"/>
                  <a:gd name="T24" fmla="*/ 164 w 164"/>
                  <a:gd name="T25" fmla="*/ 28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4" name="Freeform 97"/>
              <p:cNvSpPr>
                <a:spLocks noChangeArrowheads="1"/>
              </p:cNvSpPr>
              <p:nvPr/>
            </p:nvSpPr>
            <p:spPr bwMode="auto">
              <a:xfrm>
                <a:off x="7615600" y="3436838"/>
                <a:ext cx="111787" cy="431800"/>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5" name="Freeform 98"/>
              <p:cNvSpPr>
                <a:spLocks noChangeArrowheads="1"/>
              </p:cNvSpPr>
              <p:nvPr/>
            </p:nvSpPr>
            <p:spPr bwMode="auto">
              <a:xfrm>
                <a:off x="7729107" y="3441602"/>
                <a:ext cx="299244" cy="841375"/>
              </a:xfrm>
              <a:custGeom>
                <a:avLst/>
                <a:gdLst>
                  <a:gd name="T0" fmla="*/ 0 w 174"/>
                  <a:gd name="T1" fmla="*/ 0 h 530"/>
                  <a:gd name="T2" fmla="*/ 14 w 174"/>
                  <a:gd name="T3" fmla="*/ 3 h 530"/>
                  <a:gd name="T4" fmla="*/ 24 w 174"/>
                  <a:gd name="T5" fmla="*/ 12 h 530"/>
                  <a:gd name="T6" fmla="*/ 28 w 174"/>
                  <a:gd name="T7" fmla="*/ 25 h 530"/>
                  <a:gd name="T8" fmla="*/ 31 w 174"/>
                  <a:gd name="T9" fmla="*/ 44 h 530"/>
                  <a:gd name="T10" fmla="*/ 86 w 174"/>
                  <a:gd name="T11" fmla="*/ 488 h 530"/>
                  <a:gd name="T12" fmla="*/ 91 w 174"/>
                  <a:gd name="T13" fmla="*/ 512 h 530"/>
                  <a:gd name="T14" fmla="*/ 95 w 174"/>
                  <a:gd name="T15" fmla="*/ 520 h 530"/>
                  <a:gd name="T16" fmla="*/ 106 w 174"/>
                  <a:gd name="T17" fmla="*/ 527 h 530"/>
                  <a:gd name="T18" fmla="*/ 115 w 174"/>
                  <a:gd name="T19" fmla="*/ 530 h 530"/>
                  <a:gd name="T20" fmla="*/ 127 w 174"/>
                  <a:gd name="T21" fmla="*/ 524 h 530"/>
                  <a:gd name="T22" fmla="*/ 135 w 174"/>
                  <a:gd name="T23" fmla="*/ 512 h 530"/>
                  <a:gd name="T24" fmla="*/ 174 w 174"/>
                  <a:gd name="T25" fmla="*/ 26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6" name="Freeform 99"/>
              <p:cNvSpPr>
                <a:spLocks noChangeArrowheads="1"/>
              </p:cNvSpPr>
              <p:nvPr/>
            </p:nvSpPr>
            <p:spPr bwMode="auto">
              <a:xfrm>
                <a:off x="8028350" y="3436838"/>
                <a:ext cx="110067" cy="431800"/>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7" name="Freeform 100"/>
              <p:cNvSpPr>
                <a:spLocks noChangeArrowheads="1"/>
              </p:cNvSpPr>
              <p:nvPr/>
            </p:nvSpPr>
            <p:spPr bwMode="auto">
              <a:xfrm>
                <a:off x="8140137" y="3441602"/>
                <a:ext cx="300963" cy="841375"/>
              </a:xfrm>
              <a:custGeom>
                <a:avLst/>
                <a:gdLst>
                  <a:gd name="T0" fmla="*/ 0 w 175"/>
                  <a:gd name="T1" fmla="*/ 0 h 530"/>
                  <a:gd name="T2" fmla="*/ 14 w 175"/>
                  <a:gd name="T3" fmla="*/ 3 h 530"/>
                  <a:gd name="T4" fmla="*/ 24 w 175"/>
                  <a:gd name="T5" fmla="*/ 12 h 530"/>
                  <a:gd name="T6" fmla="*/ 28 w 175"/>
                  <a:gd name="T7" fmla="*/ 25 h 530"/>
                  <a:gd name="T8" fmla="*/ 31 w 175"/>
                  <a:gd name="T9" fmla="*/ 44 h 530"/>
                  <a:gd name="T10" fmla="*/ 85 w 175"/>
                  <a:gd name="T11" fmla="*/ 488 h 530"/>
                  <a:gd name="T12" fmla="*/ 90 w 175"/>
                  <a:gd name="T13" fmla="*/ 512 h 530"/>
                  <a:gd name="T14" fmla="*/ 95 w 175"/>
                  <a:gd name="T15" fmla="*/ 520 h 530"/>
                  <a:gd name="T16" fmla="*/ 106 w 175"/>
                  <a:gd name="T17" fmla="*/ 527 h 530"/>
                  <a:gd name="T18" fmla="*/ 115 w 175"/>
                  <a:gd name="T19" fmla="*/ 530 h 530"/>
                  <a:gd name="T20" fmla="*/ 126 w 175"/>
                  <a:gd name="T21" fmla="*/ 524 h 530"/>
                  <a:gd name="T22" fmla="*/ 134 w 175"/>
                  <a:gd name="T23" fmla="*/ 512 h 530"/>
                  <a:gd name="T24" fmla="*/ 175 w 175"/>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8" name="Freeform 101"/>
              <p:cNvSpPr>
                <a:spLocks noChangeArrowheads="1"/>
              </p:cNvSpPr>
              <p:nvPr/>
            </p:nvSpPr>
            <p:spPr bwMode="auto">
              <a:xfrm>
                <a:off x="8434221" y="3430488"/>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9" name="Freeform 102"/>
              <p:cNvSpPr>
                <a:spLocks noChangeArrowheads="1"/>
              </p:cNvSpPr>
              <p:nvPr/>
            </p:nvSpPr>
            <p:spPr bwMode="auto">
              <a:xfrm>
                <a:off x="8551167" y="3435252"/>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20" name="Group 103"/>
              <p:cNvGrpSpPr>
                <a:grpSpLocks/>
              </p:cNvGrpSpPr>
              <p:nvPr/>
            </p:nvGrpSpPr>
            <p:grpSpPr bwMode="auto">
              <a:xfrm>
                <a:off x="8843532" y="3430489"/>
                <a:ext cx="409310" cy="847725"/>
                <a:chOff x="5025" y="2269"/>
                <a:chExt cx="238" cy="713"/>
              </a:xfrm>
            </p:grpSpPr>
            <p:sp>
              <p:nvSpPr>
                <p:cNvPr id="283721" name="Freeform 104"/>
                <p:cNvSpPr>
                  <a:spLocks noChangeArrowheads="1"/>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22" name="Freeform 105"/>
                <p:cNvSpPr>
                  <a:spLocks noChangeArrowheads="1"/>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grpSp>
          <p:nvGrpSpPr>
            <p:cNvPr id="283723" name="组合 2"/>
            <p:cNvGrpSpPr>
              <a:grpSpLocks/>
            </p:cNvGrpSpPr>
            <p:nvPr/>
          </p:nvGrpSpPr>
          <p:grpSpPr bwMode="auto">
            <a:xfrm>
              <a:off x="1825063" y="4589363"/>
              <a:ext cx="7438098" cy="871538"/>
              <a:chOff x="1825063" y="4589363"/>
              <a:chExt cx="7438098" cy="871538"/>
            </a:xfrm>
          </p:grpSpPr>
          <p:grpSp>
            <p:nvGrpSpPr>
              <p:cNvPr id="283724" name="Group 106"/>
              <p:cNvGrpSpPr>
                <a:grpSpLocks/>
              </p:cNvGrpSpPr>
              <p:nvPr/>
            </p:nvGrpSpPr>
            <p:grpSpPr bwMode="auto">
              <a:xfrm>
                <a:off x="1825063" y="4595714"/>
                <a:ext cx="407590" cy="847725"/>
                <a:chOff x="944" y="3250"/>
                <a:chExt cx="237" cy="713"/>
              </a:xfrm>
            </p:grpSpPr>
            <p:sp>
              <p:nvSpPr>
                <p:cNvPr id="283725" name="Freeform 107"/>
                <p:cNvSpPr>
                  <a:spLocks noChangeArrowheads="1"/>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26" name="Freeform 108"/>
                <p:cNvSpPr>
                  <a:spLocks noChangeArrowheads="1"/>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27" name="Freeform 109"/>
              <p:cNvSpPr>
                <a:spLocks noChangeArrowheads="1"/>
              </p:cNvSpPr>
              <p:nvPr/>
            </p:nvSpPr>
            <p:spPr bwMode="auto">
              <a:xfrm>
                <a:off x="2234373" y="4595713"/>
                <a:ext cx="113506" cy="431800"/>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28" name="Freeform 110"/>
              <p:cNvSpPr>
                <a:spLocks noChangeArrowheads="1"/>
              </p:cNvSpPr>
              <p:nvPr/>
            </p:nvSpPr>
            <p:spPr bwMode="auto">
              <a:xfrm>
                <a:off x="2349598" y="4598889"/>
                <a:ext cx="318162" cy="842963"/>
              </a:xfrm>
              <a:custGeom>
                <a:avLst/>
                <a:gdLst>
                  <a:gd name="T0" fmla="*/ 0 w 185"/>
                  <a:gd name="T1" fmla="*/ 1 h 531"/>
                  <a:gd name="T2" fmla="*/ 8 w 185"/>
                  <a:gd name="T3" fmla="*/ 0 h 531"/>
                  <a:gd name="T4" fmla="*/ 24 w 185"/>
                  <a:gd name="T5" fmla="*/ 13 h 531"/>
                  <a:gd name="T6" fmla="*/ 28 w 185"/>
                  <a:gd name="T7" fmla="*/ 26 h 531"/>
                  <a:gd name="T8" fmla="*/ 31 w 185"/>
                  <a:gd name="T9" fmla="*/ 45 h 531"/>
                  <a:gd name="T10" fmla="*/ 85 w 185"/>
                  <a:gd name="T11" fmla="*/ 489 h 531"/>
                  <a:gd name="T12" fmla="*/ 90 w 185"/>
                  <a:gd name="T13" fmla="*/ 513 h 531"/>
                  <a:gd name="T14" fmla="*/ 95 w 185"/>
                  <a:gd name="T15" fmla="*/ 521 h 531"/>
                  <a:gd name="T16" fmla="*/ 106 w 185"/>
                  <a:gd name="T17" fmla="*/ 528 h 531"/>
                  <a:gd name="T18" fmla="*/ 115 w 185"/>
                  <a:gd name="T19" fmla="*/ 531 h 531"/>
                  <a:gd name="T20" fmla="*/ 126 w 185"/>
                  <a:gd name="T21" fmla="*/ 525 h 531"/>
                  <a:gd name="T22" fmla="*/ 134 w 185"/>
                  <a:gd name="T23" fmla="*/ 513 h 531"/>
                  <a:gd name="T24" fmla="*/ 185 w 185"/>
                  <a:gd name="T25" fmla="*/ 25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29" name="Group 111"/>
              <p:cNvGrpSpPr>
                <a:grpSpLocks/>
              </p:cNvGrpSpPr>
              <p:nvPr/>
            </p:nvGrpSpPr>
            <p:grpSpPr bwMode="auto">
              <a:xfrm>
                <a:off x="2671200" y="4595714"/>
                <a:ext cx="407590" cy="847725"/>
                <a:chOff x="1436" y="3250"/>
                <a:chExt cx="237" cy="713"/>
              </a:xfrm>
            </p:grpSpPr>
            <p:sp>
              <p:nvSpPr>
                <p:cNvPr id="283730" name="Freeform 112"/>
                <p:cNvSpPr>
                  <a:spLocks noChangeArrowheads="1"/>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1" name="Freeform 113"/>
                <p:cNvSpPr>
                  <a:spLocks noChangeArrowheads="1"/>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32" name="Freeform 114"/>
              <p:cNvSpPr>
                <a:spLocks noChangeArrowheads="1"/>
              </p:cNvSpPr>
              <p:nvPr/>
            </p:nvSpPr>
            <p:spPr bwMode="auto">
              <a:xfrm>
                <a:off x="3080511" y="5011638"/>
                <a:ext cx="113506" cy="431800"/>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3" name="Freeform 115"/>
              <p:cNvSpPr>
                <a:spLocks noChangeArrowheads="1"/>
              </p:cNvSpPr>
              <p:nvPr/>
            </p:nvSpPr>
            <p:spPr bwMode="auto">
              <a:xfrm>
                <a:off x="3195736" y="4595714"/>
                <a:ext cx="313002" cy="841375"/>
              </a:xfrm>
              <a:custGeom>
                <a:avLst/>
                <a:gdLst>
                  <a:gd name="T0" fmla="*/ 0 w 182"/>
                  <a:gd name="T1" fmla="*/ 530 h 530"/>
                  <a:gd name="T2" fmla="*/ 14 w 182"/>
                  <a:gd name="T3" fmla="*/ 527 h 530"/>
                  <a:gd name="T4" fmla="*/ 24 w 182"/>
                  <a:gd name="T5" fmla="*/ 518 h 530"/>
                  <a:gd name="T6" fmla="*/ 28 w 182"/>
                  <a:gd name="T7" fmla="*/ 506 h 530"/>
                  <a:gd name="T8" fmla="*/ 31 w 182"/>
                  <a:gd name="T9" fmla="*/ 486 h 530"/>
                  <a:gd name="T10" fmla="*/ 85 w 182"/>
                  <a:gd name="T11" fmla="*/ 43 h 530"/>
                  <a:gd name="T12" fmla="*/ 90 w 182"/>
                  <a:gd name="T13" fmla="*/ 18 h 530"/>
                  <a:gd name="T14" fmla="*/ 95 w 182"/>
                  <a:gd name="T15" fmla="*/ 10 h 530"/>
                  <a:gd name="T16" fmla="*/ 106 w 182"/>
                  <a:gd name="T17" fmla="*/ 3 h 530"/>
                  <a:gd name="T18" fmla="*/ 115 w 182"/>
                  <a:gd name="T19" fmla="*/ 0 h 530"/>
                  <a:gd name="T20" fmla="*/ 126 w 182"/>
                  <a:gd name="T21" fmla="*/ 6 h 530"/>
                  <a:gd name="T22" fmla="*/ 134 w 182"/>
                  <a:gd name="T23" fmla="*/ 18 h 530"/>
                  <a:gd name="T24" fmla="*/ 182 w 182"/>
                  <a:gd name="T25" fmla="*/ 29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4" name="Freeform 116"/>
              <p:cNvSpPr>
                <a:spLocks noChangeArrowheads="1"/>
              </p:cNvSpPr>
              <p:nvPr/>
            </p:nvSpPr>
            <p:spPr bwMode="auto">
              <a:xfrm>
                <a:off x="3519057" y="4598888"/>
                <a:ext cx="120385" cy="457200"/>
              </a:xfrm>
              <a:custGeom>
                <a:avLst/>
                <a:gdLst>
                  <a:gd name="T0" fmla="*/ 0 w 70"/>
                  <a:gd name="T1" fmla="*/ 288 h 288"/>
                  <a:gd name="T2" fmla="*/ 46 w 70"/>
                  <a:gd name="T3" fmla="*/ 40 h 288"/>
                  <a:gd name="T4" fmla="*/ 48 w 70"/>
                  <a:gd name="T5" fmla="*/ 28 h 288"/>
                  <a:gd name="T6" fmla="*/ 50 w 70"/>
                  <a:gd name="T7" fmla="*/ 19 h 288"/>
                  <a:gd name="T8" fmla="*/ 53 w 70"/>
                  <a:gd name="T9" fmla="*/ 11 h 288"/>
                  <a:gd name="T10" fmla="*/ 61 w 70"/>
                  <a:gd name="T11" fmla="*/ 4 h 288"/>
                  <a:gd name="T12" fmla="*/ 70 w 7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5" name="Freeform 117"/>
              <p:cNvSpPr>
                <a:spLocks noChangeArrowheads="1"/>
              </p:cNvSpPr>
              <p:nvPr/>
            </p:nvSpPr>
            <p:spPr bwMode="auto">
              <a:xfrm>
                <a:off x="3642881" y="4600476"/>
                <a:ext cx="295804" cy="842962"/>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6" name="Freeform 118"/>
              <p:cNvSpPr>
                <a:spLocks noChangeArrowheads="1"/>
              </p:cNvSpPr>
              <p:nvPr/>
            </p:nvSpPr>
            <p:spPr bwMode="auto">
              <a:xfrm>
                <a:off x="3942125" y="4610001"/>
                <a:ext cx="110067" cy="430212"/>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7" name="Freeform 119"/>
              <p:cNvSpPr>
                <a:spLocks noChangeArrowheads="1"/>
              </p:cNvSpPr>
              <p:nvPr/>
            </p:nvSpPr>
            <p:spPr bwMode="auto">
              <a:xfrm>
                <a:off x="4057352" y="4606827"/>
                <a:ext cx="302683" cy="841375"/>
              </a:xfrm>
              <a:custGeom>
                <a:avLst/>
                <a:gdLst>
                  <a:gd name="T0" fmla="*/ 0 w 176"/>
                  <a:gd name="T1" fmla="*/ 0 h 708"/>
                  <a:gd name="T2" fmla="*/ 15 w 176"/>
                  <a:gd name="T3" fmla="*/ 4 h 708"/>
                  <a:gd name="T4" fmla="*/ 25 w 176"/>
                  <a:gd name="T5" fmla="*/ 16 h 708"/>
                  <a:gd name="T6" fmla="*/ 28 w 176"/>
                  <a:gd name="T7" fmla="*/ 33 h 708"/>
                  <a:gd name="T8" fmla="*/ 32 w 176"/>
                  <a:gd name="T9" fmla="*/ 59 h 708"/>
                  <a:gd name="T10" fmla="*/ 88 w 176"/>
                  <a:gd name="T11" fmla="*/ 650 h 708"/>
                  <a:gd name="T12" fmla="*/ 93 w 176"/>
                  <a:gd name="T13" fmla="*/ 683 h 708"/>
                  <a:gd name="T14" fmla="*/ 97 w 176"/>
                  <a:gd name="T15" fmla="*/ 693 h 708"/>
                  <a:gd name="T16" fmla="*/ 109 w 176"/>
                  <a:gd name="T17" fmla="*/ 703 h 708"/>
                  <a:gd name="T18" fmla="*/ 118 w 176"/>
                  <a:gd name="T19" fmla="*/ 707 h 708"/>
                  <a:gd name="T20" fmla="*/ 130 w 176"/>
                  <a:gd name="T21" fmla="*/ 699 h 708"/>
                  <a:gd name="T22" fmla="*/ 138 w 176"/>
                  <a:gd name="T23" fmla="*/ 683 h 708"/>
                  <a:gd name="T24" fmla="*/ 175 w 176"/>
                  <a:gd name="T25" fmla="*/ 379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8" name="Freeform 120"/>
              <p:cNvSpPr>
                <a:spLocks noChangeArrowheads="1"/>
              </p:cNvSpPr>
              <p:nvPr/>
            </p:nvSpPr>
            <p:spPr bwMode="auto">
              <a:xfrm>
                <a:off x="4361755" y="4616351"/>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9" name="Freeform 121"/>
              <p:cNvSpPr>
                <a:spLocks noChangeArrowheads="1"/>
              </p:cNvSpPr>
              <p:nvPr/>
            </p:nvSpPr>
            <p:spPr bwMode="auto">
              <a:xfrm>
                <a:off x="4483860" y="4614764"/>
                <a:ext cx="288925" cy="841375"/>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0" name="Freeform 122"/>
              <p:cNvSpPr>
                <a:spLocks noChangeArrowheads="1"/>
              </p:cNvSpPr>
              <p:nvPr/>
            </p:nvSpPr>
            <p:spPr bwMode="auto">
              <a:xfrm>
                <a:off x="4774504" y="4616351"/>
                <a:ext cx="118666" cy="431800"/>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1" name="Freeform 123"/>
              <p:cNvSpPr>
                <a:spLocks noChangeArrowheads="1"/>
              </p:cNvSpPr>
              <p:nvPr/>
            </p:nvSpPr>
            <p:spPr bwMode="auto">
              <a:xfrm>
                <a:off x="4898329" y="4611589"/>
                <a:ext cx="288925" cy="842963"/>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42" name="Group 124"/>
              <p:cNvGrpSpPr>
                <a:grpSpLocks/>
              </p:cNvGrpSpPr>
              <p:nvPr/>
            </p:nvGrpSpPr>
            <p:grpSpPr bwMode="auto">
              <a:xfrm>
                <a:off x="5185535" y="4614763"/>
                <a:ext cx="404151" cy="846138"/>
                <a:chOff x="2898" y="3265"/>
                <a:chExt cx="235" cy="713"/>
              </a:xfrm>
            </p:grpSpPr>
            <p:sp>
              <p:nvSpPr>
                <p:cNvPr id="283743" name="Freeform 125"/>
                <p:cNvSpPr>
                  <a:spLocks noChangeArrowheads="1"/>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4" name="Freeform 126"/>
                <p:cNvSpPr>
                  <a:spLocks noChangeArrowheads="1"/>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45" name="Freeform 127"/>
              <p:cNvSpPr>
                <a:spLocks noChangeArrowheads="1"/>
              </p:cNvSpPr>
              <p:nvPr/>
            </p:nvSpPr>
            <p:spPr bwMode="auto">
              <a:xfrm>
                <a:off x="5587966" y="5014813"/>
                <a:ext cx="108346" cy="431800"/>
              </a:xfrm>
              <a:custGeom>
                <a:avLst/>
                <a:gdLst>
                  <a:gd name="T0" fmla="*/ 0 w 63"/>
                  <a:gd name="T1" fmla="*/ 0 h 363"/>
                  <a:gd name="T2" fmla="*/ 38 w 63"/>
                  <a:gd name="T3" fmla="*/ 308 h 363"/>
                  <a:gd name="T4" fmla="*/ 41 w 63"/>
                  <a:gd name="T5" fmla="*/ 324 h 363"/>
                  <a:gd name="T6" fmla="*/ 42 w 63"/>
                  <a:gd name="T7" fmla="*/ 337 h 363"/>
                  <a:gd name="T8" fmla="*/ 46 w 63"/>
                  <a:gd name="T9" fmla="*/ 347 h 363"/>
                  <a:gd name="T10" fmla="*/ 53 w 63"/>
                  <a:gd name="T11" fmla="*/ 356 h 363"/>
                  <a:gd name="T12" fmla="*/ 62 w 63"/>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6" name="Freeform 128"/>
              <p:cNvSpPr>
                <a:spLocks noChangeArrowheads="1"/>
              </p:cNvSpPr>
              <p:nvPr/>
            </p:nvSpPr>
            <p:spPr bwMode="auto">
              <a:xfrm>
                <a:off x="5698034" y="4614764"/>
                <a:ext cx="290644" cy="841375"/>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47" name="Group 129"/>
              <p:cNvGrpSpPr>
                <a:grpSpLocks/>
              </p:cNvGrpSpPr>
              <p:nvPr/>
            </p:nvGrpSpPr>
            <p:grpSpPr bwMode="auto">
              <a:xfrm>
                <a:off x="5988678" y="4603652"/>
                <a:ext cx="808302" cy="846137"/>
                <a:chOff x="3365" y="3256"/>
                <a:chExt cx="470" cy="713"/>
              </a:xfrm>
            </p:grpSpPr>
            <p:grpSp>
              <p:nvGrpSpPr>
                <p:cNvPr id="283748" name="Group 130"/>
                <p:cNvGrpSpPr>
                  <a:grpSpLocks/>
                </p:cNvGrpSpPr>
                <p:nvPr/>
              </p:nvGrpSpPr>
              <p:grpSpPr bwMode="auto">
                <a:xfrm>
                  <a:off x="3365" y="3256"/>
                  <a:ext cx="233" cy="713"/>
                  <a:chOff x="3365" y="3256"/>
                  <a:chExt cx="233" cy="713"/>
                </a:xfrm>
              </p:grpSpPr>
              <p:sp>
                <p:nvSpPr>
                  <p:cNvPr id="283749" name="Freeform 131"/>
                  <p:cNvSpPr>
                    <a:spLocks noChangeArrowheads="1"/>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0" name="Freeform 132"/>
                  <p:cNvSpPr>
                    <a:spLocks noChangeArrowheads="1"/>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51" name="Group 133"/>
                <p:cNvGrpSpPr>
                  <a:grpSpLocks/>
                </p:cNvGrpSpPr>
                <p:nvPr/>
              </p:nvGrpSpPr>
              <p:grpSpPr bwMode="auto">
                <a:xfrm>
                  <a:off x="3600" y="3256"/>
                  <a:ext cx="235" cy="713"/>
                  <a:chOff x="3600" y="3256"/>
                  <a:chExt cx="235" cy="713"/>
                </a:xfrm>
              </p:grpSpPr>
              <p:sp>
                <p:nvSpPr>
                  <p:cNvPr id="283752" name="Freeform 134"/>
                  <p:cNvSpPr>
                    <a:spLocks noChangeArrowheads="1"/>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3" name="Freeform 135"/>
                  <p:cNvSpPr>
                    <a:spLocks noChangeArrowheads="1"/>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grpSp>
            <p:nvGrpSpPr>
              <p:cNvPr id="283754" name="Group 136"/>
              <p:cNvGrpSpPr>
                <a:grpSpLocks/>
              </p:cNvGrpSpPr>
              <p:nvPr/>
            </p:nvGrpSpPr>
            <p:grpSpPr bwMode="auto">
              <a:xfrm>
                <a:off x="6793540" y="4592539"/>
                <a:ext cx="402431" cy="847725"/>
                <a:chOff x="3833" y="3247"/>
                <a:chExt cx="234" cy="713"/>
              </a:xfrm>
            </p:grpSpPr>
            <p:sp>
              <p:nvSpPr>
                <p:cNvPr id="283755" name="Freeform 137"/>
                <p:cNvSpPr>
                  <a:spLocks noChangeArrowheads="1"/>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6" name="Freeform 138"/>
                <p:cNvSpPr>
                  <a:spLocks noChangeArrowheads="1"/>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57" name="Freeform 139"/>
              <p:cNvSpPr>
                <a:spLocks noChangeArrowheads="1"/>
              </p:cNvSpPr>
              <p:nvPr/>
            </p:nvSpPr>
            <p:spPr bwMode="auto">
              <a:xfrm>
                <a:off x="7197691" y="5008464"/>
                <a:ext cx="110067" cy="430213"/>
              </a:xfrm>
              <a:custGeom>
                <a:avLst/>
                <a:gdLst>
                  <a:gd name="T0" fmla="*/ 0 w 64"/>
                  <a:gd name="T1" fmla="*/ 0 h 271"/>
                  <a:gd name="T2" fmla="*/ 40 w 64"/>
                  <a:gd name="T3" fmla="*/ 231 h 271"/>
                  <a:gd name="T4" fmla="*/ 42 w 64"/>
                  <a:gd name="T5" fmla="*/ 243 h 271"/>
                  <a:gd name="T6" fmla="*/ 44 w 64"/>
                  <a:gd name="T7" fmla="*/ 253 h 271"/>
                  <a:gd name="T8" fmla="*/ 55 w 64"/>
                  <a:gd name="T9" fmla="*/ 267 h 271"/>
                  <a:gd name="T10" fmla="*/ 64 w 64"/>
                  <a:gd name="T11" fmla="*/ 271 h 271"/>
                </a:gdLst>
                <a:ahLst/>
                <a:cxnLst>
                  <a:cxn ang="0">
                    <a:pos x="T0" y="T1"/>
                  </a:cxn>
                  <a:cxn ang="0">
                    <a:pos x="T2" y="T3"/>
                  </a:cxn>
                  <a:cxn ang="0">
                    <a:pos x="T4" y="T5"/>
                  </a:cxn>
                  <a:cxn ang="0">
                    <a:pos x="T6" y="T7"/>
                  </a:cxn>
                  <a:cxn ang="0">
                    <a:pos x="T8" y="T9"/>
                  </a:cxn>
                  <a:cxn ang="0">
                    <a:pos x="T10" y="T11"/>
                  </a:cxn>
                </a:cxnLst>
                <a:rect l="0" t="0" r="r" b="b"/>
                <a:pathLst>
                  <a:path w="64" h="271">
                    <a:moveTo>
                      <a:pt x="0" y="0"/>
                    </a:moveTo>
                    <a:lnTo>
                      <a:pt x="40" y="231"/>
                    </a:lnTo>
                    <a:lnTo>
                      <a:pt x="42" y="243"/>
                    </a:lnTo>
                    <a:lnTo>
                      <a:pt x="44" y="253"/>
                    </a:lnTo>
                    <a:lnTo>
                      <a:pt x="55" y="267"/>
                    </a:lnTo>
                    <a:lnTo>
                      <a:pt x="64"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8" name="Freeform 140"/>
              <p:cNvSpPr>
                <a:spLocks noChangeArrowheads="1"/>
              </p:cNvSpPr>
              <p:nvPr/>
            </p:nvSpPr>
            <p:spPr bwMode="auto">
              <a:xfrm>
                <a:off x="7311198" y="4592539"/>
                <a:ext cx="304403" cy="841375"/>
              </a:xfrm>
              <a:custGeom>
                <a:avLst/>
                <a:gdLst>
                  <a:gd name="T0" fmla="*/ 0 w 177"/>
                  <a:gd name="T1" fmla="*/ 530 h 530"/>
                  <a:gd name="T2" fmla="*/ 14 w 177"/>
                  <a:gd name="T3" fmla="*/ 527 h 530"/>
                  <a:gd name="T4" fmla="*/ 24 w 177"/>
                  <a:gd name="T5" fmla="*/ 518 h 530"/>
                  <a:gd name="T6" fmla="*/ 27 w 177"/>
                  <a:gd name="T7" fmla="*/ 506 h 530"/>
                  <a:gd name="T8" fmla="*/ 31 w 177"/>
                  <a:gd name="T9" fmla="*/ 486 h 530"/>
                  <a:gd name="T10" fmla="*/ 84 w 177"/>
                  <a:gd name="T11" fmla="*/ 43 h 530"/>
                  <a:gd name="T12" fmla="*/ 89 w 177"/>
                  <a:gd name="T13" fmla="*/ 18 h 530"/>
                  <a:gd name="T14" fmla="*/ 94 w 177"/>
                  <a:gd name="T15" fmla="*/ 10 h 530"/>
                  <a:gd name="T16" fmla="*/ 104 w 177"/>
                  <a:gd name="T17" fmla="*/ 3 h 530"/>
                  <a:gd name="T18" fmla="*/ 113 w 177"/>
                  <a:gd name="T19" fmla="*/ 0 h 530"/>
                  <a:gd name="T20" fmla="*/ 125 w 177"/>
                  <a:gd name="T21" fmla="*/ 6 h 530"/>
                  <a:gd name="T22" fmla="*/ 132 w 177"/>
                  <a:gd name="T23" fmla="*/ 18 h 530"/>
                  <a:gd name="T24" fmla="*/ 177 w 177"/>
                  <a:gd name="T25" fmla="*/ 28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59" name="Group 141"/>
              <p:cNvGrpSpPr>
                <a:grpSpLocks/>
              </p:cNvGrpSpPr>
              <p:nvPr/>
            </p:nvGrpSpPr>
            <p:grpSpPr bwMode="auto">
              <a:xfrm>
                <a:off x="7625919" y="4595714"/>
                <a:ext cx="818621" cy="847725"/>
                <a:chOff x="4317" y="3250"/>
                <a:chExt cx="476" cy="713"/>
              </a:xfrm>
            </p:grpSpPr>
            <p:grpSp>
              <p:nvGrpSpPr>
                <p:cNvPr id="283760" name="Group 142"/>
                <p:cNvGrpSpPr>
                  <a:grpSpLocks/>
                </p:cNvGrpSpPr>
                <p:nvPr/>
              </p:nvGrpSpPr>
              <p:grpSpPr bwMode="auto">
                <a:xfrm>
                  <a:off x="4317" y="3250"/>
                  <a:ext cx="238" cy="713"/>
                  <a:chOff x="4317" y="3250"/>
                  <a:chExt cx="238" cy="713"/>
                </a:xfrm>
              </p:grpSpPr>
              <p:sp>
                <p:nvSpPr>
                  <p:cNvPr id="283761" name="Freeform 143"/>
                  <p:cNvSpPr>
                    <a:spLocks noChangeArrowheads="1"/>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62" name="Freeform 144"/>
                  <p:cNvSpPr>
                    <a:spLocks noChangeArrowheads="1"/>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63" name="Group 145"/>
                <p:cNvGrpSpPr>
                  <a:grpSpLocks/>
                </p:cNvGrpSpPr>
                <p:nvPr/>
              </p:nvGrpSpPr>
              <p:grpSpPr bwMode="auto">
                <a:xfrm>
                  <a:off x="4557" y="3250"/>
                  <a:ext cx="236" cy="713"/>
                  <a:chOff x="4557" y="3250"/>
                  <a:chExt cx="236" cy="713"/>
                </a:xfrm>
              </p:grpSpPr>
              <p:sp>
                <p:nvSpPr>
                  <p:cNvPr id="283764" name="Freeform 146"/>
                  <p:cNvSpPr>
                    <a:spLocks noChangeArrowheads="1"/>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65" name="Freeform 147"/>
                  <p:cNvSpPr>
                    <a:spLocks noChangeArrowheads="1"/>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66" name="Freeform 148"/>
              <p:cNvSpPr>
                <a:spLocks noChangeArrowheads="1"/>
              </p:cNvSpPr>
              <p:nvPr/>
            </p:nvSpPr>
            <p:spPr bwMode="auto">
              <a:xfrm>
                <a:off x="8435941" y="4589363"/>
                <a:ext cx="122105" cy="490538"/>
              </a:xfrm>
              <a:custGeom>
                <a:avLst/>
                <a:gdLst>
                  <a:gd name="T0" fmla="*/ 0 w 71"/>
                  <a:gd name="T1" fmla="*/ 309 h 309"/>
                  <a:gd name="T2" fmla="*/ 46 w 71"/>
                  <a:gd name="T3" fmla="*/ 40 h 309"/>
                  <a:gd name="T4" fmla="*/ 48 w 71"/>
                  <a:gd name="T5" fmla="*/ 28 h 309"/>
                  <a:gd name="T6" fmla="*/ 50 w 71"/>
                  <a:gd name="T7" fmla="*/ 19 h 309"/>
                  <a:gd name="T8" fmla="*/ 54 w 71"/>
                  <a:gd name="T9" fmla="*/ 11 h 309"/>
                  <a:gd name="T10" fmla="*/ 61 w 71"/>
                  <a:gd name="T11" fmla="*/ 4 h 309"/>
                  <a:gd name="T12" fmla="*/ 71 w 71"/>
                  <a:gd name="T13" fmla="*/ 0 h 309"/>
                </a:gdLst>
                <a:ahLst/>
                <a:cxnLst>
                  <a:cxn ang="0">
                    <a:pos x="T0" y="T1"/>
                  </a:cxn>
                  <a:cxn ang="0">
                    <a:pos x="T2" y="T3"/>
                  </a:cxn>
                  <a:cxn ang="0">
                    <a:pos x="T4" y="T5"/>
                  </a:cxn>
                  <a:cxn ang="0">
                    <a:pos x="T6" y="T7"/>
                  </a:cxn>
                  <a:cxn ang="0">
                    <a:pos x="T8" y="T9"/>
                  </a:cxn>
                  <a:cxn ang="0">
                    <a:pos x="T10" y="T11"/>
                  </a:cxn>
                  <a:cxn ang="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67" name="Freeform 149"/>
              <p:cNvSpPr>
                <a:spLocks noChangeArrowheads="1"/>
              </p:cNvSpPr>
              <p:nvPr/>
            </p:nvSpPr>
            <p:spPr bwMode="auto">
              <a:xfrm>
                <a:off x="8561486" y="4594127"/>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7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68" name="Group 150"/>
              <p:cNvGrpSpPr>
                <a:grpSpLocks/>
              </p:cNvGrpSpPr>
              <p:nvPr/>
            </p:nvGrpSpPr>
            <p:grpSpPr bwMode="auto">
              <a:xfrm>
                <a:off x="8853851" y="4589364"/>
                <a:ext cx="409310" cy="847725"/>
                <a:chOff x="5031" y="3244"/>
                <a:chExt cx="238" cy="713"/>
              </a:xfrm>
            </p:grpSpPr>
            <p:sp>
              <p:nvSpPr>
                <p:cNvPr id="283769" name="Freeform 151"/>
                <p:cNvSpPr>
                  <a:spLocks noChangeArrowheads="1"/>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70" name="Freeform 152"/>
                <p:cNvSpPr>
                  <a:spLocks noChangeArrowheads="1"/>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71" name="Rectangle 153"/>
            <p:cNvSpPr>
              <a:spLocks noChangeArrowheads="1"/>
            </p:cNvSpPr>
            <p:nvPr/>
          </p:nvSpPr>
          <p:spPr bwMode="auto">
            <a:xfrm>
              <a:off x="200472" y="1557239"/>
              <a:ext cx="14202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基带信号</a:t>
              </a:r>
            </a:p>
          </p:txBody>
        </p:sp>
        <p:sp>
          <p:nvSpPr>
            <p:cNvPr id="283772" name="Rectangle 154"/>
            <p:cNvSpPr>
              <a:spLocks noChangeArrowheads="1"/>
            </p:cNvSpPr>
            <p:nvPr/>
          </p:nvSpPr>
          <p:spPr bwMode="auto">
            <a:xfrm>
              <a:off x="819232" y="2570064"/>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调幅</a:t>
              </a:r>
            </a:p>
          </p:txBody>
        </p:sp>
        <p:sp>
          <p:nvSpPr>
            <p:cNvPr id="283773" name="Rectangle 155"/>
            <p:cNvSpPr>
              <a:spLocks noChangeArrowheads="1"/>
            </p:cNvSpPr>
            <p:nvPr/>
          </p:nvSpPr>
          <p:spPr bwMode="auto">
            <a:xfrm>
              <a:off x="819232" y="3681314"/>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调频</a:t>
              </a:r>
            </a:p>
          </p:txBody>
        </p:sp>
        <p:sp>
          <p:nvSpPr>
            <p:cNvPr id="283774" name="Rectangle 156"/>
            <p:cNvSpPr>
              <a:spLocks noChangeArrowheads="1"/>
            </p:cNvSpPr>
            <p:nvPr/>
          </p:nvSpPr>
          <p:spPr bwMode="auto">
            <a:xfrm>
              <a:off x="819232" y="4864002"/>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调相</a:t>
              </a:r>
            </a:p>
          </p:txBody>
        </p:sp>
        <p:grpSp>
          <p:nvGrpSpPr>
            <p:cNvPr id="283775" name="组合 3"/>
            <p:cNvGrpSpPr>
              <a:grpSpLocks/>
            </p:cNvGrpSpPr>
            <p:nvPr/>
          </p:nvGrpSpPr>
          <p:grpSpPr bwMode="auto">
            <a:xfrm>
              <a:off x="1856018" y="2290663"/>
              <a:ext cx="7401984" cy="852489"/>
              <a:chOff x="1856018" y="2290663"/>
              <a:chExt cx="7401984" cy="852489"/>
            </a:xfrm>
          </p:grpSpPr>
          <p:sp>
            <p:nvSpPr>
              <p:cNvPr id="283776" name="Freeform 14"/>
              <p:cNvSpPr>
                <a:spLocks noChangeArrowheads="1"/>
              </p:cNvSpPr>
              <p:nvPr/>
            </p:nvSpPr>
            <p:spPr bwMode="auto">
              <a:xfrm>
                <a:off x="1856018" y="2735163"/>
                <a:ext cx="816901" cy="1588"/>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ea typeface="黑体" panose="02010609060101010101" pitchFamily="49" charset="-122"/>
                </a:endParaRPr>
              </a:p>
            </p:txBody>
          </p:sp>
          <p:sp>
            <p:nvSpPr>
              <p:cNvPr id="283777" name="Freeform 15"/>
              <p:cNvSpPr>
                <a:spLocks noChangeArrowheads="1"/>
              </p:cNvSpPr>
              <p:nvPr/>
            </p:nvSpPr>
            <p:spPr bwMode="auto">
              <a:xfrm>
                <a:off x="3493260" y="2731989"/>
                <a:ext cx="1666478" cy="4763"/>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ea typeface="黑体" panose="02010609060101010101" pitchFamily="49" charset="-122"/>
                </a:endParaRPr>
              </a:p>
            </p:txBody>
          </p:sp>
          <p:sp>
            <p:nvSpPr>
              <p:cNvPr id="283778" name="Line 16"/>
              <p:cNvSpPr>
                <a:spLocks noChangeShapeType="1"/>
              </p:cNvSpPr>
              <p:nvPr/>
            </p:nvSpPr>
            <p:spPr bwMode="auto">
              <a:xfrm>
                <a:off x="7629359" y="2735163"/>
                <a:ext cx="162864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283779" name="Freeform 17"/>
              <p:cNvSpPr>
                <a:spLocks noChangeArrowheads="1"/>
              </p:cNvSpPr>
              <p:nvPr/>
            </p:nvSpPr>
            <p:spPr bwMode="auto">
              <a:xfrm>
                <a:off x="6803858" y="2297013"/>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0" name="Freeform 18"/>
              <p:cNvSpPr>
                <a:spLocks noChangeArrowheads="1"/>
              </p:cNvSpPr>
              <p:nvPr/>
            </p:nvSpPr>
            <p:spPr bwMode="auto">
              <a:xfrm>
                <a:off x="6860612" y="2301777"/>
                <a:ext cx="151342" cy="841375"/>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1" name="Freeform 19"/>
              <p:cNvSpPr>
                <a:spLocks noChangeArrowheads="1"/>
              </p:cNvSpPr>
              <p:nvPr/>
            </p:nvSpPr>
            <p:spPr bwMode="auto">
              <a:xfrm>
                <a:off x="700851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2" name="Freeform 20"/>
              <p:cNvSpPr>
                <a:spLocks noChangeArrowheads="1"/>
              </p:cNvSpPr>
              <p:nvPr/>
            </p:nvSpPr>
            <p:spPr bwMode="auto">
              <a:xfrm>
                <a:off x="7063547" y="2301777"/>
                <a:ext cx="144463" cy="841375"/>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83" name="Group 21"/>
              <p:cNvGrpSpPr>
                <a:grpSpLocks/>
              </p:cNvGrpSpPr>
              <p:nvPr/>
            </p:nvGrpSpPr>
            <p:grpSpPr bwMode="auto">
              <a:xfrm>
                <a:off x="7209730" y="2290663"/>
                <a:ext cx="202935" cy="847725"/>
                <a:chOff x="4075" y="1309"/>
                <a:chExt cx="118" cy="713"/>
              </a:xfrm>
            </p:grpSpPr>
            <p:sp>
              <p:nvSpPr>
                <p:cNvPr id="283784" name="Freeform 22"/>
                <p:cNvSpPr>
                  <a:spLocks noChangeArrowheads="1"/>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5" name="Freeform 23"/>
                <p:cNvSpPr>
                  <a:spLocks noChangeArrowheads="1"/>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86" name="Freeform 24"/>
              <p:cNvSpPr>
                <a:spLocks noChangeArrowheads="1"/>
              </p:cNvSpPr>
              <p:nvPr/>
            </p:nvSpPr>
            <p:spPr bwMode="auto">
              <a:xfrm>
                <a:off x="7412665" y="2290663"/>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7" name="Freeform 25"/>
              <p:cNvSpPr>
                <a:spLocks noChangeArrowheads="1"/>
              </p:cNvSpPr>
              <p:nvPr/>
            </p:nvSpPr>
            <p:spPr bwMode="auto">
              <a:xfrm>
                <a:off x="7472858" y="2295427"/>
                <a:ext cx="142742" cy="841375"/>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8" name="Freeform 26"/>
              <p:cNvSpPr>
                <a:spLocks noChangeArrowheads="1"/>
              </p:cNvSpPr>
              <p:nvPr/>
            </p:nvSpPr>
            <p:spPr bwMode="auto">
              <a:xfrm>
                <a:off x="5986958"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9" name="Freeform 27"/>
              <p:cNvSpPr>
                <a:spLocks noChangeArrowheads="1"/>
              </p:cNvSpPr>
              <p:nvPr/>
            </p:nvSpPr>
            <p:spPr bwMode="auto">
              <a:xfrm>
                <a:off x="6043711"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0" name="Freeform 28"/>
              <p:cNvSpPr>
                <a:spLocks noChangeArrowheads="1"/>
              </p:cNvSpPr>
              <p:nvPr/>
            </p:nvSpPr>
            <p:spPr bwMode="auto">
              <a:xfrm>
                <a:off x="6191613"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1" name="Freeform 29"/>
              <p:cNvSpPr>
                <a:spLocks noChangeArrowheads="1"/>
              </p:cNvSpPr>
              <p:nvPr/>
            </p:nvSpPr>
            <p:spPr bwMode="auto">
              <a:xfrm>
                <a:off x="6246646" y="2301777"/>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92" name="Group 30"/>
              <p:cNvGrpSpPr>
                <a:grpSpLocks/>
              </p:cNvGrpSpPr>
              <p:nvPr/>
            </p:nvGrpSpPr>
            <p:grpSpPr bwMode="auto">
              <a:xfrm>
                <a:off x="6392829" y="2290663"/>
                <a:ext cx="407590" cy="847725"/>
                <a:chOff x="3600" y="1309"/>
                <a:chExt cx="237" cy="713"/>
              </a:xfrm>
            </p:grpSpPr>
            <p:grpSp>
              <p:nvGrpSpPr>
                <p:cNvPr id="283793" name="Group 31"/>
                <p:cNvGrpSpPr>
                  <a:grpSpLocks/>
                </p:cNvGrpSpPr>
                <p:nvPr/>
              </p:nvGrpSpPr>
              <p:grpSpPr bwMode="auto">
                <a:xfrm>
                  <a:off x="3600" y="1309"/>
                  <a:ext cx="118" cy="713"/>
                  <a:chOff x="3600" y="1309"/>
                  <a:chExt cx="118" cy="713"/>
                </a:xfrm>
              </p:grpSpPr>
              <p:sp>
                <p:nvSpPr>
                  <p:cNvPr id="283794" name="Freeform 32"/>
                  <p:cNvSpPr>
                    <a:spLocks noChangeArrowheads="1"/>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5" name="Freeform 33"/>
                  <p:cNvSpPr>
                    <a:spLocks noChangeArrowheads="1"/>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96" name="Group 34"/>
                <p:cNvGrpSpPr>
                  <a:grpSpLocks/>
                </p:cNvGrpSpPr>
                <p:nvPr/>
              </p:nvGrpSpPr>
              <p:grpSpPr bwMode="auto">
                <a:xfrm>
                  <a:off x="3718" y="1309"/>
                  <a:ext cx="119" cy="713"/>
                  <a:chOff x="3718" y="1309"/>
                  <a:chExt cx="119" cy="713"/>
                </a:xfrm>
              </p:grpSpPr>
              <p:sp>
                <p:nvSpPr>
                  <p:cNvPr id="283797" name="Freeform 35"/>
                  <p:cNvSpPr>
                    <a:spLocks noChangeArrowheads="1"/>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8" name="Freeform 36"/>
                  <p:cNvSpPr>
                    <a:spLocks noChangeArrowheads="1"/>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99" name="Freeform 37"/>
              <p:cNvSpPr>
                <a:spLocks noChangeArrowheads="1"/>
              </p:cNvSpPr>
              <p:nvPr/>
            </p:nvSpPr>
            <p:spPr bwMode="auto">
              <a:xfrm>
                <a:off x="5154579"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0" name="Freeform 38"/>
              <p:cNvSpPr>
                <a:spLocks noChangeArrowheads="1"/>
              </p:cNvSpPr>
              <p:nvPr/>
            </p:nvSpPr>
            <p:spPr bwMode="auto">
              <a:xfrm>
                <a:off x="5211332" y="2301777"/>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1" name="Freeform 39"/>
              <p:cNvSpPr>
                <a:spLocks noChangeArrowheads="1"/>
              </p:cNvSpPr>
              <p:nvPr/>
            </p:nvSpPr>
            <p:spPr bwMode="auto">
              <a:xfrm>
                <a:off x="535923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2" name="Freeform 40"/>
              <p:cNvSpPr>
                <a:spLocks noChangeArrowheads="1"/>
              </p:cNvSpPr>
              <p:nvPr/>
            </p:nvSpPr>
            <p:spPr bwMode="auto">
              <a:xfrm>
                <a:off x="5414267"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803" name="Group 41"/>
              <p:cNvGrpSpPr>
                <a:grpSpLocks/>
              </p:cNvGrpSpPr>
              <p:nvPr/>
            </p:nvGrpSpPr>
            <p:grpSpPr bwMode="auto">
              <a:xfrm>
                <a:off x="5562169" y="2290663"/>
                <a:ext cx="201216" cy="847725"/>
                <a:chOff x="3117" y="1309"/>
                <a:chExt cx="117" cy="713"/>
              </a:xfrm>
            </p:grpSpPr>
            <p:sp>
              <p:nvSpPr>
                <p:cNvPr id="283804" name="Freeform 42"/>
                <p:cNvSpPr>
                  <a:spLocks noChangeArrowheads="1"/>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5" name="Freeform 43"/>
                <p:cNvSpPr>
                  <a:spLocks noChangeArrowheads="1"/>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806" name="Freeform 44"/>
              <p:cNvSpPr>
                <a:spLocks noChangeArrowheads="1"/>
              </p:cNvSpPr>
              <p:nvPr/>
            </p:nvSpPr>
            <p:spPr bwMode="auto">
              <a:xfrm>
                <a:off x="5763385" y="2290663"/>
                <a:ext cx="60192"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7" name="Freeform 45"/>
              <p:cNvSpPr>
                <a:spLocks noChangeArrowheads="1"/>
              </p:cNvSpPr>
              <p:nvPr/>
            </p:nvSpPr>
            <p:spPr bwMode="auto">
              <a:xfrm>
                <a:off x="5823577" y="2295427"/>
                <a:ext cx="156502" cy="841375"/>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808" name="Group 157"/>
              <p:cNvGrpSpPr>
                <a:grpSpLocks/>
              </p:cNvGrpSpPr>
              <p:nvPr/>
            </p:nvGrpSpPr>
            <p:grpSpPr bwMode="auto">
              <a:xfrm>
                <a:off x="2676358" y="2298601"/>
                <a:ext cx="818621" cy="844550"/>
                <a:chOff x="1439" y="1316"/>
                <a:chExt cx="476" cy="711"/>
              </a:xfrm>
            </p:grpSpPr>
            <p:grpSp>
              <p:nvGrpSpPr>
                <p:cNvPr id="283809" name="Group 158"/>
                <p:cNvGrpSpPr>
                  <a:grpSpLocks/>
                </p:cNvGrpSpPr>
                <p:nvPr/>
              </p:nvGrpSpPr>
              <p:grpSpPr bwMode="auto">
                <a:xfrm>
                  <a:off x="1439" y="1316"/>
                  <a:ext cx="239" cy="711"/>
                  <a:chOff x="1439" y="1316"/>
                  <a:chExt cx="239" cy="711"/>
                </a:xfrm>
              </p:grpSpPr>
              <p:sp>
                <p:nvSpPr>
                  <p:cNvPr id="283810" name="Freeform 159"/>
                  <p:cNvSpPr>
                    <a:spLocks noChangeArrowheads="1"/>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1" name="Freeform 160"/>
                  <p:cNvSpPr>
                    <a:spLocks noChangeArrowheads="1"/>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2" name="Freeform 161"/>
                  <p:cNvSpPr>
                    <a:spLocks noChangeArrowheads="1"/>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3" name="Freeform 162"/>
                  <p:cNvSpPr>
                    <a:spLocks noChangeArrowheads="1"/>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814" name="Group 163"/>
                <p:cNvGrpSpPr>
                  <a:grpSpLocks/>
                </p:cNvGrpSpPr>
                <p:nvPr/>
              </p:nvGrpSpPr>
              <p:grpSpPr bwMode="auto">
                <a:xfrm>
                  <a:off x="1676" y="1316"/>
                  <a:ext cx="239" cy="711"/>
                  <a:chOff x="1676" y="1316"/>
                  <a:chExt cx="239" cy="711"/>
                </a:xfrm>
              </p:grpSpPr>
              <p:sp>
                <p:nvSpPr>
                  <p:cNvPr id="283815" name="Freeform 164"/>
                  <p:cNvSpPr>
                    <a:spLocks noChangeArrowheads="1"/>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6" name="Freeform 165"/>
                  <p:cNvSpPr>
                    <a:spLocks noChangeArrowheads="1"/>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7" name="Freeform 166"/>
                  <p:cNvSpPr>
                    <a:spLocks noChangeArrowheads="1"/>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8" name="Freeform 167"/>
                  <p:cNvSpPr>
                    <a:spLocks noChangeArrowheads="1"/>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819" name="Line 168"/>
                <p:cNvSpPr>
                  <a:spLocks noChangeShapeType="1"/>
                </p:cNvSpPr>
                <p:nvPr/>
              </p:nvSpPr>
              <p:spPr bwMode="auto">
                <a:xfrm flipV="1">
                  <a:off x="1674" y="1661"/>
                  <a:ext cx="3" cy="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grpSp>
        </p:grpSp>
        <p:cxnSp>
          <p:nvCxnSpPr>
            <p:cNvPr id="283820" name="直接连接符 5"/>
            <p:cNvCxnSpPr>
              <a:cxnSpLocks noChangeShapeType="1"/>
            </p:cNvCxnSpPr>
            <p:nvPr/>
          </p:nvCxnSpPr>
          <p:spPr bwMode="auto">
            <a:xfrm>
              <a:off x="1644198" y="5043156"/>
              <a:ext cx="7773298" cy="0"/>
            </a:xfrm>
            <a:prstGeom prst="line">
              <a:avLst/>
            </a:prstGeom>
            <a:noFill/>
            <a:ln w="12700">
              <a:solidFill>
                <a:schemeClr val="tx1"/>
              </a:solidFill>
              <a:round/>
              <a:headEnd/>
              <a:tailEnd/>
            </a:ln>
          </p:spPr>
        </p:cxnSp>
        <p:cxnSp>
          <p:nvCxnSpPr>
            <p:cNvPr id="283821" name="直接连接符 174"/>
            <p:cNvCxnSpPr>
              <a:cxnSpLocks noChangeShapeType="1"/>
            </p:cNvCxnSpPr>
            <p:nvPr/>
          </p:nvCxnSpPr>
          <p:spPr bwMode="auto">
            <a:xfrm>
              <a:off x="1644198" y="3880884"/>
              <a:ext cx="7773298" cy="0"/>
            </a:xfrm>
            <a:prstGeom prst="line">
              <a:avLst/>
            </a:prstGeom>
            <a:noFill/>
            <a:ln w="12700">
              <a:solidFill>
                <a:schemeClr val="tx1"/>
              </a:solidFill>
              <a:round/>
              <a:headEnd/>
              <a:tailEnd/>
            </a:ln>
          </p:spPr>
        </p:cxnSp>
        <p:cxnSp>
          <p:nvCxnSpPr>
            <p:cNvPr id="283822" name="直接连接符 175"/>
            <p:cNvCxnSpPr>
              <a:cxnSpLocks noChangeShapeType="1"/>
            </p:cNvCxnSpPr>
            <p:nvPr/>
          </p:nvCxnSpPr>
          <p:spPr bwMode="auto">
            <a:xfrm>
              <a:off x="1644198" y="2728813"/>
              <a:ext cx="7773298" cy="0"/>
            </a:xfrm>
            <a:prstGeom prst="line">
              <a:avLst/>
            </a:prstGeom>
            <a:noFill/>
            <a:ln w="12700">
              <a:solidFill>
                <a:schemeClr val="tx1"/>
              </a:solidFill>
              <a:round/>
              <a:headEnd/>
              <a:tailEnd/>
            </a:ln>
          </p:spPr>
        </p:cxnSp>
      </p:grpSp>
      <p:sp>
        <p:nvSpPr>
          <p:cNvPr id="283823" name="矩形 7"/>
          <p:cNvSpPr>
            <a:spLocks noChangeArrowheads="1"/>
          </p:cNvSpPr>
          <p:nvPr/>
        </p:nvSpPr>
        <p:spPr bwMode="auto">
          <a:xfrm>
            <a:off x="3025775" y="5661025"/>
            <a:ext cx="4659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最基本的三种调制方式</a:t>
            </a:r>
            <a:endParaRPr lang="zh-CN" altLang="en-US" sz="2400" b="1">
              <a:ea typeface="黑体" panose="02010609060101010101" pitchFamily="49" charset="-122"/>
            </a:endParaRPr>
          </a:p>
        </p:txBody>
      </p:sp>
      <p:sp>
        <p:nvSpPr>
          <p:cNvPr id="283824" name="灯片编号占位符 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7D56C8-9E69-4FFA-A25C-2D8E084E3297}" type="slidenum">
              <a:rPr lang="zh-CN" altLang="en-US" smtClean="0"/>
              <a:pPr eaLnBrk="1" hangingPunct="1"/>
              <a:t>16</a:t>
            </a:fld>
            <a:endParaRPr lang="en-US" altLang="zh-CN" smtClean="0"/>
          </a:p>
        </p:txBody>
      </p:sp>
      <p:sp>
        <p:nvSpPr>
          <p:cNvPr id="283825" name="页脚占位符 10"/>
          <p:cNvSpPr>
            <a:spLocks noGrp="1" noChangeArrowheads="1"/>
          </p:cNvSpPr>
          <p:nvPr>
            <p:ph type="ftr" sz="quarter" idx="11"/>
          </p:nvPr>
        </p:nvSpPr>
        <p:spPr>
          <a:xfrm>
            <a:off x="3394786" y="6351048"/>
            <a:ext cx="31369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2"/>
          <p:cNvSpPr>
            <a:spLocks noGrp="1" noChangeArrowheads="1"/>
          </p:cNvSpPr>
          <p:nvPr>
            <p:ph type="title"/>
          </p:nvPr>
        </p:nvSpPr>
        <p:spPr>
          <a:xfrm>
            <a:off x="495300" y="188913"/>
            <a:ext cx="9066213" cy="1474787"/>
          </a:xfrm>
        </p:spPr>
        <p:txBody>
          <a:bodyPr/>
          <a:lstStyle/>
          <a:p>
            <a:pPr algn="ctr"/>
            <a:r>
              <a:rPr lang="zh-CN" altLang="en-US" u="sng" dirty="0" smtClean="0">
                <a:ea typeface="黑体" panose="02010609060101010101" pitchFamily="49" charset="-122"/>
              </a:rPr>
              <a:t>正交振幅调制 </a:t>
            </a:r>
            <a:r>
              <a:rPr lang="en-US" altLang="zh-CN" u="sng" dirty="0" smtClean="0">
                <a:ea typeface="黑体" panose="02010609060101010101" pitchFamily="49" charset="-122"/>
              </a:rPr>
              <a:t>QAM</a:t>
            </a:r>
            <a:br>
              <a:rPr lang="en-US" altLang="zh-CN" u="sng" dirty="0" smtClean="0">
                <a:ea typeface="黑体" panose="02010609060101010101" pitchFamily="49" charset="-122"/>
              </a:rPr>
            </a:br>
            <a:r>
              <a:rPr lang="en-US" altLang="zh-CN" sz="3600" u="sng" dirty="0" smtClean="0">
                <a:ea typeface="黑体" panose="02010609060101010101" pitchFamily="49" charset="-122"/>
              </a:rPr>
              <a:t>(Quadrature Amplitude Modulation)</a:t>
            </a:r>
            <a:r>
              <a:rPr lang="en-US" altLang="zh-CN" u="sng" dirty="0" smtClean="0">
                <a:ea typeface="黑体" panose="02010609060101010101" pitchFamily="49" charset="-122"/>
              </a:rPr>
              <a:t> </a:t>
            </a:r>
          </a:p>
        </p:txBody>
      </p:sp>
      <p:grpSp>
        <p:nvGrpSpPr>
          <p:cNvPr id="285698" name="组合 2"/>
          <p:cNvGrpSpPr>
            <a:grpSpLocks/>
          </p:cNvGrpSpPr>
          <p:nvPr/>
        </p:nvGrpSpPr>
        <p:grpSpPr bwMode="auto">
          <a:xfrm>
            <a:off x="560388" y="2208213"/>
            <a:ext cx="3221037" cy="2949575"/>
            <a:chOff x="584729" y="2640013"/>
            <a:chExt cx="2971800" cy="2584450"/>
          </a:xfrm>
        </p:grpSpPr>
        <p:sp>
          <p:nvSpPr>
            <p:cNvPr id="285699" name="Line 4"/>
            <p:cNvSpPr>
              <a:spLocks noChangeShapeType="1"/>
            </p:cNvSpPr>
            <p:nvPr/>
          </p:nvSpPr>
          <p:spPr bwMode="auto">
            <a:xfrm>
              <a:off x="2077508" y="2640013"/>
              <a:ext cx="0" cy="2584450"/>
            </a:xfrm>
            <a:prstGeom prst="line">
              <a:avLst/>
            </a:prstGeom>
            <a:noFill/>
            <a:ln w="28575">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0" name="Oval 5"/>
            <p:cNvSpPr>
              <a:spLocks noChangeArrowheads="1"/>
            </p:cNvSpPr>
            <p:nvPr/>
          </p:nvSpPr>
          <p:spPr bwMode="auto">
            <a:xfrm>
              <a:off x="1172898" y="42306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1" name="Oval 6"/>
            <p:cNvSpPr>
              <a:spLocks noChangeArrowheads="1"/>
            </p:cNvSpPr>
            <p:nvPr/>
          </p:nvSpPr>
          <p:spPr bwMode="auto">
            <a:xfrm>
              <a:off x="1172898" y="31511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2" name="Oval 7"/>
            <p:cNvSpPr>
              <a:spLocks noChangeArrowheads="1"/>
            </p:cNvSpPr>
            <p:nvPr/>
          </p:nvSpPr>
          <p:spPr bwMode="auto">
            <a:xfrm>
              <a:off x="2344076" y="31511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3" name="Oval 8"/>
            <p:cNvSpPr>
              <a:spLocks noChangeArrowheads="1"/>
            </p:cNvSpPr>
            <p:nvPr/>
          </p:nvSpPr>
          <p:spPr bwMode="auto">
            <a:xfrm>
              <a:off x="1749029" y="31511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4" name="Oval 9"/>
            <p:cNvSpPr>
              <a:spLocks noChangeArrowheads="1"/>
            </p:cNvSpPr>
            <p:nvPr/>
          </p:nvSpPr>
          <p:spPr bwMode="auto">
            <a:xfrm>
              <a:off x="1172898" y="36972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5" name="Oval 10"/>
            <p:cNvSpPr>
              <a:spLocks noChangeArrowheads="1"/>
            </p:cNvSpPr>
            <p:nvPr/>
          </p:nvSpPr>
          <p:spPr bwMode="auto">
            <a:xfrm>
              <a:off x="2345796" y="3695701"/>
              <a:ext cx="80831" cy="74613"/>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6" name="Oval 11"/>
            <p:cNvSpPr>
              <a:spLocks noChangeArrowheads="1"/>
            </p:cNvSpPr>
            <p:nvPr/>
          </p:nvSpPr>
          <p:spPr bwMode="auto">
            <a:xfrm>
              <a:off x="1750748" y="36972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7" name="Oval 12"/>
            <p:cNvSpPr>
              <a:spLocks noChangeArrowheads="1"/>
            </p:cNvSpPr>
            <p:nvPr/>
          </p:nvSpPr>
          <p:spPr bwMode="auto">
            <a:xfrm>
              <a:off x="2918487" y="31511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zh-CN" sz="2800" b="1">
                <a:solidFill>
                  <a:srgbClr val="C00000"/>
                </a:solidFill>
                <a:ea typeface="宋体" panose="02010600030101010101" pitchFamily="2" charset="-122"/>
              </a:endParaRPr>
            </a:p>
          </p:txBody>
        </p:sp>
        <p:sp>
          <p:nvSpPr>
            <p:cNvPr id="285708" name="Oval 13"/>
            <p:cNvSpPr>
              <a:spLocks noChangeArrowheads="1"/>
            </p:cNvSpPr>
            <p:nvPr/>
          </p:nvSpPr>
          <p:spPr bwMode="auto">
            <a:xfrm>
              <a:off x="2345796" y="4229101"/>
              <a:ext cx="80831" cy="74613"/>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9" name="Oval 14"/>
            <p:cNvSpPr>
              <a:spLocks noChangeArrowheads="1"/>
            </p:cNvSpPr>
            <p:nvPr/>
          </p:nvSpPr>
          <p:spPr bwMode="auto">
            <a:xfrm>
              <a:off x="1750748" y="42306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0" name="Oval 15"/>
            <p:cNvSpPr>
              <a:spLocks noChangeArrowheads="1"/>
            </p:cNvSpPr>
            <p:nvPr/>
          </p:nvSpPr>
          <p:spPr bwMode="auto">
            <a:xfrm>
              <a:off x="2918487" y="3695701"/>
              <a:ext cx="80830" cy="74613"/>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1" name="Oval 16"/>
            <p:cNvSpPr>
              <a:spLocks noChangeArrowheads="1"/>
            </p:cNvSpPr>
            <p:nvPr/>
          </p:nvSpPr>
          <p:spPr bwMode="auto">
            <a:xfrm>
              <a:off x="2344076" y="4786313"/>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2" name="Oval 17"/>
            <p:cNvSpPr>
              <a:spLocks noChangeArrowheads="1"/>
            </p:cNvSpPr>
            <p:nvPr/>
          </p:nvSpPr>
          <p:spPr bwMode="auto">
            <a:xfrm>
              <a:off x="1172898" y="4786313"/>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3" name="Oval 18"/>
            <p:cNvSpPr>
              <a:spLocks noChangeArrowheads="1"/>
            </p:cNvSpPr>
            <p:nvPr/>
          </p:nvSpPr>
          <p:spPr bwMode="auto">
            <a:xfrm>
              <a:off x="2918487" y="42306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4" name="Oval 19"/>
            <p:cNvSpPr>
              <a:spLocks noChangeArrowheads="1"/>
            </p:cNvSpPr>
            <p:nvPr/>
          </p:nvSpPr>
          <p:spPr bwMode="auto">
            <a:xfrm>
              <a:off x="1749029" y="4786313"/>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5" name="Oval 20"/>
            <p:cNvSpPr>
              <a:spLocks noChangeArrowheads="1"/>
            </p:cNvSpPr>
            <p:nvPr/>
          </p:nvSpPr>
          <p:spPr bwMode="auto">
            <a:xfrm>
              <a:off x="2918487" y="4786313"/>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6" name="Line 21"/>
            <p:cNvSpPr>
              <a:spLocks noChangeShapeType="1"/>
            </p:cNvSpPr>
            <p:nvPr/>
          </p:nvSpPr>
          <p:spPr bwMode="auto">
            <a:xfrm>
              <a:off x="584729" y="4011613"/>
              <a:ext cx="26416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7" name="Line 22"/>
            <p:cNvSpPr>
              <a:spLocks noChangeShapeType="1"/>
            </p:cNvSpPr>
            <p:nvPr/>
          </p:nvSpPr>
          <p:spPr bwMode="auto">
            <a:xfrm>
              <a:off x="584729" y="4011613"/>
              <a:ext cx="29718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8" name="Line 23"/>
            <p:cNvSpPr>
              <a:spLocks noChangeShapeType="1"/>
            </p:cNvSpPr>
            <p:nvPr/>
          </p:nvSpPr>
          <p:spPr bwMode="auto">
            <a:xfrm flipV="1">
              <a:off x="2077508" y="3197225"/>
              <a:ext cx="297525" cy="8080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9" name="Freeform 24"/>
            <p:cNvSpPr>
              <a:spLocks noChangeArrowheads="1"/>
            </p:cNvSpPr>
            <p:nvPr/>
          </p:nvSpPr>
          <p:spPr bwMode="auto">
            <a:xfrm>
              <a:off x="2170378" y="3751263"/>
              <a:ext cx="189177" cy="260350"/>
            </a:xfrm>
            <a:custGeom>
              <a:avLst/>
              <a:gdLst>
                <a:gd name="T0" fmla="*/ 0 w 110"/>
                <a:gd name="T1" fmla="*/ 0 h 164"/>
                <a:gd name="T2" fmla="*/ 44 w 110"/>
                <a:gd name="T3" fmla="*/ 24 h 164"/>
                <a:gd name="T4" fmla="*/ 86 w 110"/>
                <a:gd name="T5" fmla="*/ 66 h 164"/>
                <a:gd name="T6" fmla="*/ 104 w 110"/>
                <a:gd name="T7" fmla="*/ 112 h 164"/>
                <a:gd name="T8" fmla="*/ 110 w 110"/>
                <a:gd name="T9" fmla="*/ 164 h 164"/>
              </a:gdLst>
              <a:ahLst/>
              <a:cxnLst>
                <a:cxn ang="0">
                  <a:pos x="T0" y="T1"/>
                </a:cxn>
                <a:cxn ang="0">
                  <a:pos x="T2" y="T3"/>
                </a:cxn>
                <a:cxn ang="0">
                  <a:pos x="T4" y="T5"/>
                </a:cxn>
                <a:cxn ang="0">
                  <a:pos x="T6" y="T7"/>
                </a:cxn>
                <a:cxn ang="0">
                  <a:pos x="T8" y="T9"/>
                </a:cxn>
              </a:cxnLst>
              <a:rect l="0" t="0" r="r" b="b"/>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20" name="Text Box 25"/>
            <p:cNvSpPr txBox="1">
              <a:spLocks noChangeArrowheads="1"/>
            </p:cNvSpPr>
            <p:nvPr/>
          </p:nvSpPr>
          <p:spPr bwMode="auto">
            <a:xfrm>
              <a:off x="2044833" y="3319463"/>
              <a:ext cx="264987" cy="32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C00000"/>
                  </a:solidFill>
                  <a:latin typeface="Times New Roman" panose="02020603050405020304" pitchFamily="18" charset="0"/>
                  <a:ea typeface="宋体" panose="02010600030101010101" pitchFamily="2" charset="-122"/>
                </a:rPr>
                <a:t>r</a:t>
              </a:r>
            </a:p>
          </p:txBody>
        </p:sp>
        <p:sp>
          <p:nvSpPr>
            <p:cNvPr id="285721" name="Text Box 26"/>
            <p:cNvSpPr txBox="1">
              <a:spLocks noChangeArrowheads="1"/>
            </p:cNvSpPr>
            <p:nvPr/>
          </p:nvSpPr>
          <p:spPr bwMode="auto">
            <a:xfrm>
              <a:off x="2287323" y="3646804"/>
              <a:ext cx="298998" cy="32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C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1">
                <a:solidFill>
                  <a:srgbClr val="C00000"/>
                </a:solidFill>
                <a:latin typeface="Times New Roman" panose="02020603050405020304" pitchFamily="18" charset="0"/>
                <a:ea typeface="宋体" panose="02010600030101010101" pitchFamily="2" charset="-122"/>
              </a:endParaRPr>
            </a:p>
          </p:txBody>
        </p:sp>
        <p:sp>
          <p:nvSpPr>
            <p:cNvPr id="285722" name="Text Box 27"/>
            <p:cNvSpPr txBox="1">
              <a:spLocks noChangeArrowheads="1"/>
            </p:cNvSpPr>
            <p:nvPr/>
          </p:nvSpPr>
          <p:spPr bwMode="auto">
            <a:xfrm>
              <a:off x="2131880" y="2826579"/>
              <a:ext cx="622543" cy="32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C00000"/>
                  </a:solidFill>
                  <a:latin typeface="Times New Roman" panose="02020603050405020304" pitchFamily="18" charset="0"/>
                  <a:ea typeface="宋体" panose="02010600030101010101" pitchFamily="2" charset="-122"/>
                  <a:sym typeface="Symbol" panose="05050102010706020507" pitchFamily="18" charset="2"/>
                </a:rPr>
                <a:t>(r, )</a:t>
              </a:r>
              <a:endParaRPr lang="en-US" altLang="zh-CN" b="1">
                <a:solidFill>
                  <a:srgbClr val="C00000"/>
                </a:solidFill>
                <a:latin typeface="Times New Roman" panose="02020603050405020304" pitchFamily="18" charset="0"/>
                <a:ea typeface="宋体" panose="02010600030101010101" pitchFamily="2" charset="-122"/>
              </a:endParaRPr>
            </a:p>
          </p:txBody>
        </p:sp>
      </p:grpSp>
      <p:sp>
        <p:nvSpPr>
          <p:cNvPr id="285723" name="Text Box 30"/>
          <p:cNvSpPr txBox="1">
            <a:spLocks noChangeArrowheads="1"/>
          </p:cNvSpPr>
          <p:nvPr/>
        </p:nvSpPr>
        <p:spPr bwMode="auto">
          <a:xfrm>
            <a:off x="488950" y="5445125"/>
            <a:ext cx="9144000" cy="831850"/>
          </a:xfrm>
          <a:prstGeom prst="rect">
            <a:avLst/>
          </a:prstGeom>
          <a:solidFill>
            <a:srgbClr val="66FFFF"/>
          </a:solidFill>
          <a:ln w="9525">
            <a:solidFill>
              <a:srgbClr val="000066"/>
            </a:solidFill>
            <a:round/>
            <a:headEnd/>
            <a:tailEnd/>
          </a:ln>
        </p:spPr>
        <p:txBody>
          <a:bodyPr>
            <a:spAutoFit/>
          </a:bodyPr>
          <a:lstStyle/>
          <a:p>
            <a:pPr eaLnBrk="0" hangingPunct="0"/>
            <a:r>
              <a:rPr lang="zh-CN" altLang="en-US" sz="2400" b="1">
                <a:solidFill>
                  <a:srgbClr val="000066"/>
                </a:solidFill>
                <a:ea typeface="黑体" panose="02010609060101010101" pitchFamily="49" charset="-122"/>
              </a:rPr>
              <a:t>不是码元越多越好。若每一个码元可表示的比特数越多，则在接收端进行解调时要正确识别每一种状态就越困难，出错率增加。 </a:t>
            </a:r>
          </a:p>
        </p:txBody>
      </p:sp>
      <p:sp>
        <p:nvSpPr>
          <p:cNvPr id="285724" name="Text Box 34"/>
          <p:cNvSpPr txBox="1">
            <a:spLocks noChangeArrowheads="1"/>
          </p:cNvSpPr>
          <p:nvPr/>
        </p:nvSpPr>
        <p:spPr bwMode="auto">
          <a:xfrm>
            <a:off x="560388" y="1692275"/>
            <a:ext cx="1004887" cy="584200"/>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zh-CN" altLang="en-US" sz="3200" b="1">
                <a:solidFill>
                  <a:srgbClr val="C00000"/>
                </a:solidFill>
                <a:ea typeface="黑体" panose="02010609060101010101" pitchFamily="49" charset="-122"/>
              </a:rPr>
              <a:t>举例</a:t>
            </a:r>
          </a:p>
        </p:txBody>
      </p:sp>
      <p:sp>
        <p:nvSpPr>
          <p:cNvPr id="285725" name="矩形 1"/>
          <p:cNvSpPr>
            <a:spLocks noChangeArrowheads="1"/>
          </p:cNvSpPr>
          <p:nvPr/>
        </p:nvSpPr>
        <p:spPr bwMode="auto">
          <a:xfrm>
            <a:off x="4089400" y="1701800"/>
            <a:ext cx="5472113" cy="1201738"/>
          </a:xfrm>
          <a:prstGeom prst="rect">
            <a:avLst/>
          </a:prstGeom>
          <a:solidFill>
            <a:srgbClr val="FFFF66"/>
          </a:solidFill>
          <a:ln w="9525">
            <a:solidFill>
              <a:srgbClr val="333399"/>
            </a:solidFill>
            <a:round/>
            <a:headEnd/>
            <a:tailEnd/>
          </a:ln>
        </p:spPr>
        <p:txBody>
          <a:bodyPr>
            <a:spAutoFit/>
          </a:bodyPr>
          <a:lstStyle/>
          <a:p>
            <a:pPr eaLnBrk="0" hangingPunct="0"/>
            <a:r>
              <a:rPr lang="zh-CN" altLang="zh-CN" sz="2400" b="1">
                <a:ea typeface="黑体" panose="02010609060101010101" pitchFamily="49" charset="-122"/>
              </a:rPr>
              <a:t>为了达到更高的信息传输速率，必须采用技术上更为复杂的多元制的振幅相位混合调制方法</a:t>
            </a:r>
            <a:r>
              <a:rPr lang="zh-CN" altLang="en-US" sz="2400" b="1">
                <a:ea typeface="黑体" panose="02010609060101010101" pitchFamily="49" charset="-122"/>
              </a:rPr>
              <a:t>。</a:t>
            </a:r>
          </a:p>
        </p:txBody>
      </p:sp>
      <p:sp>
        <p:nvSpPr>
          <p:cNvPr id="4" name="TextBox 3"/>
          <p:cNvSpPr txBox="1"/>
          <p:nvPr/>
        </p:nvSpPr>
        <p:spPr>
          <a:xfrm>
            <a:off x="4089400" y="2982913"/>
            <a:ext cx="5472113" cy="2246312"/>
          </a:xfrm>
          <a:prstGeom prst="rect">
            <a:avLst/>
          </a:prstGeom>
          <a:noFill/>
        </p:spPr>
        <p:txBody>
          <a:bodyPr>
            <a:spAutoFit/>
          </a:bodyPr>
          <a:lstStyle/>
          <a:p>
            <a:pPr eaLnBrk="0" hangingPunct="0"/>
            <a:r>
              <a:rPr lang="zh-CN" altLang="en-US" sz="2000" b="1" dirty="0">
                <a:solidFill>
                  <a:srgbClr val="000099"/>
                </a:solidFill>
                <a:ea typeface="黑体" panose="02010609060101010101" pitchFamily="49" charset="-122"/>
              </a:rPr>
              <a:t>例如：</a:t>
            </a:r>
            <a:endParaRPr lang="en-US" altLang="zh-CN" sz="2000" b="1" dirty="0">
              <a:solidFill>
                <a:srgbClr val="000099"/>
              </a:solidFill>
              <a:ea typeface="黑体" panose="02010609060101010101" pitchFamily="49" charset="-122"/>
            </a:endParaRPr>
          </a:p>
          <a:p>
            <a:pPr eaLnBrk="0" hangingPunct="0">
              <a:buSzPct val="85000"/>
              <a:buFont typeface="Wingdings" panose="05000000000000000000" pitchFamily="2" charset="2"/>
              <a:buChar char="n"/>
            </a:pPr>
            <a:r>
              <a:rPr lang="zh-CN" altLang="en-US" sz="2000" b="1" dirty="0">
                <a:solidFill>
                  <a:srgbClr val="000099"/>
                </a:solidFill>
                <a:ea typeface="黑体" panose="02010609060101010101" pitchFamily="49" charset="-122"/>
              </a:rPr>
              <a:t>可供选择的</a:t>
            </a:r>
            <a:r>
              <a:rPr lang="zh-CN" altLang="en-US" sz="2000" b="1" dirty="0">
                <a:solidFill>
                  <a:srgbClr val="FF0000"/>
                </a:solidFill>
                <a:ea typeface="黑体" panose="02010609060101010101" pitchFamily="49" charset="-122"/>
              </a:rPr>
              <a:t>相位有 </a:t>
            </a:r>
            <a:r>
              <a:rPr lang="en-US" altLang="zh-CN" sz="2000" b="1" dirty="0">
                <a:solidFill>
                  <a:srgbClr val="FF0000"/>
                </a:solidFill>
                <a:ea typeface="黑体" panose="02010609060101010101" pitchFamily="49" charset="-122"/>
              </a:rPr>
              <a:t>12 </a:t>
            </a:r>
            <a:r>
              <a:rPr lang="zh-CN" altLang="en-US" sz="2000" b="1" dirty="0">
                <a:solidFill>
                  <a:srgbClr val="FF0000"/>
                </a:solidFill>
                <a:ea typeface="黑体" panose="02010609060101010101" pitchFamily="49" charset="-122"/>
              </a:rPr>
              <a:t>种</a:t>
            </a:r>
            <a:r>
              <a:rPr lang="zh-CN" altLang="en-US" sz="2000" b="1" dirty="0">
                <a:solidFill>
                  <a:srgbClr val="000099"/>
                </a:solidFill>
                <a:ea typeface="黑体" panose="02010609060101010101" pitchFamily="49" charset="-122"/>
              </a:rPr>
              <a:t>，而对于</a:t>
            </a:r>
            <a:r>
              <a:rPr lang="zh-CN" altLang="en-US" sz="2000" b="1" dirty="0">
                <a:solidFill>
                  <a:srgbClr val="FF0000"/>
                </a:solidFill>
                <a:ea typeface="黑体" panose="02010609060101010101" pitchFamily="49" charset="-122"/>
              </a:rPr>
              <a:t>每一种相位有 </a:t>
            </a:r>
            <a:r>
              <a:rPr lang="en-US" altLang="zh-CN" sz="2000" b="1" dirty="0">
                <a:solidFill>
                  <a:srgbClr val="FF0000"/>
                </a:solidFill>
                <a:ea typeface="黑体" panose="02010609060101010101" pitchFamily="49" charset="-122"/>
              </a:rPr>
              <a:t>1 </a:t>
            </a:r>
            <a:r>
              <a:rPr lang="zh-CN" altLang="en-US" sz="2000" b="1" dirty="0">
                <a:solidFill>
                  <a:srgbClr val="FF0000"/>
                </a:solidFill>
                <a:ea typeface="黑体" panose="02010609060101010101" pitchFamily="49" charset="-122"/>
              </a:rPr>
              <a:t>或 </a:t>
            </a:r>
            <a:r>
              <a:rPr lang="en-US" altLang="zh-CN" sz="2000" b="1" dirty="0">
                <a:solidFill>
                  <a:srgbClr val="FF0000"/>
                </a:solidFill>
                <a:ea typeface="黑体" panose="02010609060101010101" pitchFamily="49" charset="-122"/>
              </a:rPr>
              <a:t>2 </a:t>
            </a:r>
            <a:r>
              <a:rPr lang="zh-CN" altLang="en-US" sz="2000" b="1" dirty="0">
                <a:solidFill>
                  <a:srgbClr val="FF0000"/>
                </a:solidFill>
                <a:ea typeface="黑体" panose="02010609060101010101" pitchFamily="49" charset="-122"/>
              </a:rPr>
              <a:t>种振幅</a:t>
            </a:r>
            <a:r>
              <a:rPr lang="zh-CN" altLang="en-US" sz="2000" b="1" dirty="0">
                <a:solidFill>
                  <a:srgbClr val="000099"/>
                </a:solidFill>
                <a:ea typeface="黑体" panose="02010609060101010101" pitchFamily="49" charset="-122"/>
              </a:rPr>
              <a:t>可供选择。总共有 </a:t>
            </a:r>
            <a:r>
              <a:rPr lang="en-US" altLang="zh-CN" sz="2000" b="1" dirty="0">
                <a:solidFill>
                  <a:srgbClr val="000099"/>
                </a:solidFill>
                <a:ea typeface="黑体" panose="02010609060101010101" pitchFamily="49" charset="-122"/>
              </a:rPr>
              <a:t>16 </a:t>
            </a:r>
            <a:r>
              <a:rPr lang="zh-CN" altLang="en-US" sz="2000" b="1" dirty="0">
                <a:solidFill>
                  <a:srgbClr val="000099"/>
                </a:solidFill>
                <a:ea typeface="黑体" panose="02010609060101010101" pitchFamily="49" charset="-122"/>
              </a:rPr>
              <a:t>种组合，即 </a:t>
            </a:r>
            <a:r>
              <a:rPr lang="en-US" altLang="zh-CN" sz="2000" b="1" dirty="0">
                <a:solidFill>
                  <a:srgbClr val="FF0000"/>
                </a:solidFill>
                <a:ea typeface="黑体" panose="02010609060101010101" pitchFamily="49" charset="-122"/>
              </a:rPr>
              <a:t>16 </a:t>
            </a:r>
            <a:r>
              <a:rPr lang="zh-CN" altLang="en-US" sz="2000" b="1" dirty="0">
                <a:solidFill>
                  <a:srgbClr val="FF0000"/>
                </a:solidFill>
                <a:ea typeface="黑体" panose="02010609060101010101" pitchFamily="49" charset="-122"/>
              </a:rPr>
              <a:t>个码元</a:t>
            </a:r>
            <a:r>
              <a:rPr lang="zh-CN" altLang="en-US" sz="2000" b="1" dirty="0">
                <a:solidFill>
                  <a:srgbClr val="000099"/>
                </a:solidFill>
                <a:ea typeface="黑体" panose="02010609060101010101" pitchFamily="49" charset="-122"/>
              </a:rPr>
              <a:t>。</a:t>
            </a:r>
            <a:endParaRPr lang="en-US" altLang="zh-CN" sz="2000" b="1" dirty="0">
              <a:solidFill>
                <a:srgbClr val="000099"/>
              </a:solidFill>
              <a:ea typeface="黑体" panose="02010609060101010101" pitchFamily="49" charset="-122"/>
            </a:endParaRPr>
          </a:p>
          <a:p>
            <a:pPr eaLnBrk="0" hangingPunct="0">
              <a:buSzPct val="85000"/>
              <a:buFont typeface="Wingdings" panose="05000000000000000000" pitchFamily="2" charset="2"/>
              <a:buChar char="n"/>
            </a:pPr>
            <a:r>
              <a:rPr lang="zh-CN" altLang="en-US" sz="2000" b="1" dirty="0">
                <a:solidFill>
                  <a:srgbClr val="000099"/>
                </a:solidFill>
                <a:ea typeface="黑体" panose="02010609060101010101" pitchFamily="49" charset="-122"/>
              </a:rPr>
              <a:t>由于 </a:t>
            </a:r>
            <a:r>
              <a:rPr lang="en-US" altLang="zh-CN" sz="2000" b="1" dirty="0">
                <a:solidFill>
                  <a:srgbClr val="000099"/>
                </a:solidFill>
                <a:ea typeface="黑体" panose="02010609060101010101" pitchFamily="49" charset="-122"/>
              </a:rPr>
              <a:t>4 bit </a:t>
            </a:r>
            <a:r>
              <a:rPr lang="zh-CN" altLang="en-US" sz="2000" b="1" dirty="0">
                <a:solidFill>
                  <a:srgbClr val="000099"/>
                </a:solidFill>
                <a:ea typeface="黑体" panose="02010609060101010101" pitchFamily="49" charset="-122"/>
              </a:rPr>
              <a:t>编码共有 </a:t>
            </a:r>
            <a:r>
              <a:rPr lang="en-US" altLang="zh-CN" sz="2000" b="1" dirty="0">
                <a:solidFill>
                  <a:srgbClr val="000099"/>
                </a:solidFill>
                <a:ea typeface="黑体" panose="02010609060101010101" pitchFamily="49" charset="-122"/>
              </a:rPr>
              <a:t>16 </a:t>
            </a:r>
            <a:r>
              <a:rPr lang="zh-CN" altLang="en-US" sz="2000" b="1" dirty="0">
                <a:solidFill>
                  <a:srgbClr val="000099"/>
                </a:solidFill>
                <a:ea typeface="黑体" panose="02010609060101010101" pitchFamily="49" charset="-122"/>
              </a:rPr>
              <a:t>种不同的组合，因此这 </a:t>
            </a:r>
            <a:r>
              <a:rPr lang="en-US" altLang="zh-CN" sz="2000" b="1" dirty="0">
                <a:solidFill>
                  <a:srgbClr val="000099"/>
                </a:solidFill>
                <a:ea typeface="黑体" panose="02010609060101010101" pitchFamily="49" charset="-122"/>
              </a:rPr>
              <a:t>16 </a:t>
            </a:r>
            <a:r>
              <a:rPr lang="zh-CN" altLang="en-US" sz="2000" b="1" dirty="0">
                <a:solidFill>
                  <a:srgbClr val="000099"/>
                </a:solidFill>
                <a:ea typeface="黑体" panose="02010609060101010101" pitchFamily="49" charset="-122"/>
              </a:rPr>
              <a:t>个点中的每个点可对应于一种 </a:t>
            </a:r>
            <a:r>
              <a:rPr lang="en-US" altLang="zh-CN" sz="2000" b="1" dirty="0">
                <a:solidFill>
                  <a:srgbClr val="000099"/>
                </a:solidFill>
                <a:ea typeface="黑体" panose="02010609060101010101" pitchFamily="49" charset="-122"/>
              </a:rPr>
              <a:t>4 bit </a:t>
            </a:r>
            <a:r>
              <a:rPr lang="zh-CN" altLang="en-US" sz="2000" b="1" dirty="0">
                <a:solidFill>
                  <a:srgbClr val="000099"/>
                </a:solidFill>
                <a:ea typeface="黑体" panose="02010609060101010101" pitchFamily="49" charset="-122"/>
              </a:rPr>
              <a:t>的编码。</a:t>
            </a:r>
            <a:r>
              <a:rPr lang="zh-CN" altLang="en-US" sz="2000" b="1" dirty="0">
                <a:solidFill>
                  <a:srgbClr val="FF0000"/>
                </a:solidFill>
                <a:ea typeface="黑体" panose="02010609060101010101" pitchFamily="49" charset="-122"/>
              </a:rPr>
              <a:t>数据传输率可提高 </a:t>
            </a:r>
            <a:r>
              <a:rPr lang="en-US" altLang="zh-CN" sz="2000" b="1" dirty="0">
                <a:solidFill>
                  <a:srgbClr val="FF0000"/>
                </a:solidFill>
                <a:ea typeface="黑体" panose="02010609060101010101" pitchFamily="49" charset="-122"/>
              </a:rPr>
              <a:t>4 </a:t>
            </a:r>
            <a:r>
              <a:rPr lang="zh-CN" altLang="en-US" sz="2000" b="1" dirty="0">
                <a:solidFill>
                  <a:srgbClr val="FF0000"/>
                </a:solidFill>
                <a:ea typeface="黑体" panose="02010609060101010101" pitchFamily="49" charset="-122"/>
              </a:rPr>
              <a:t>倍</a:t>
            </a:r>
            <a:r>
              <a:rPr lang="zh-CN" altLang="en-US" sz="2000" b="1" dirty="0">
                <a:solidFill>
                  <a:srgbClr val="000099"/>
                </a:solidFill>
                <a:ea typeface="黑体" panose="02010609060101010101" pitchFamily="49" charset="-122"/>
              </a:rPr>
              <a:t>。 </a:t>
            </a:r>
          </a:p>
        </p:txBody>
      </p:sp>
      <p:sp>
        <p:nvSpPr>
          <p:cNvPr id="28572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FA77B1C-6AAA-4014-8766-AB6E1378CB56}" type="slidenum">
              <a:rPr lang="zh-CN" altLang="en-US" smtClean="0"/>
              <a:pPr eaLnBrk="1" hangingPunct="1"/>
              <a:t>17</a:t>
            </a:fld>
            <a:endParaRPr lang="en-US" altLang="zh-CN" smtClean="0"/>
          </a:p>
        </p:txBody>
      </p:sp>
      <p:sp>
        <p:nvSpPr>
          <p:cNvPr id="285728"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2.2.3  </a:t>
            </a:r>
            <a:r>
              <a:rPr lang="zh-CN" altLang="en-US" smtClean="0">
                <a:ea typeface="黑体" panose="02010609060101010101" pitchFamily="49" charset="-122"/>
              </a:rPr>
              <a:t>信道的极限容量 </a:t>
            </a:r>
          </a:p>
        </p:txBody>
      </p:sp>
      <p:sp>
        <p:nvSpPr>
          <p:cNvPr id="3174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任何实际的信道都不是理想的，在传输信号时会产生各种失真以及带来多种干扰。</a:t>
            </a:r>
            <a:r>
              <a:rPr lang="zh-CN" altLang="en-US" sz="3600" smtClean="0">
                <a:ea typeface="黑体" panose="02010609060101010101" pitchFamily="49" charset="-122"/>
              </a:rPr>
              <a:t> </a:t>
            </a:r>
          </a:p>
          <a:p>
            <a:r>
              <a:rPr lang="zh-CN" altLang="en-US" smtClean="0">
                <a:ea typeface="黑体" panose="02010609060101010101" pitchFamily="49" charset="-122"/>
              </a:rPr>
              <a:t>码元传输的速率越高，或信号传输的距离越远，</a:t>
            </a:r>
            <a:r>
              <a:rPr lang="zh-CN" altLang="zh-CN" smtClean="0">
                <a:ea typeface="黑体" panose="02010609060101010101" pitchFamily="49" charset="-122"/>
              </a:rPr>
              <a:t>或传输媒体质量越差</a:t>
            </a:r>
            <a:r>
              <a:rPr lang="zh-CN" altLang="en-US" smtClean="0">
                <a:ea typeface="黑体" panose="02010609060101010101" pitchFamily="49" charset="-122"/>
              </a:rPr>
              <a:t>，在信道的输出端的波形的失真就越严重。 </a:t>
            </a:r>
          </a:p>
        </p:txBody>
      </p:sp>
      <p:sp>
        <p:nvSpPr>
          <p:cNvPr id="2877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DBE788-97E2-4D77-81CC-5294BFEDA69F}" type="slidenum">
              <a:rPr lang="zh-CN" altLang="en-US" smtClean="0"/>
              <a:pPr eaLnBrk="1" hangingPunct="1"/>
              <a:t>18</a:t>
            </a:fld>
            <a:endParaRPr lang="en-US" altLang="zh-CN" smtClean="0"/>
          </a:p>
        </p:txBody>
      </p:sp>
      <p:sp>
        <p:nvSpPr>
          <p:cNvPr id="2877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2"/>
          <p:cNvSpPr>
            <a:spLocks noGrp="1" noChangeArrowheads="1"/>
          </p:cNvSpPr>
          <p:nvPr>
            <p:ph type="title"/>
          </p:nvPr>
        </p:nvSpPr>
        <p:spPr/>
        <p:txBody>
          <a:bodyPr/>
          <a:lstStyle/>
          <a:p>
            <a:pPr algn="ctr"/>
            <a:r>
              <a:rPr lang="zh-CN" altLang="en-US" smtClean="0">
                <a:ea typeface="黑体" panose="02010609060101010101" pitchFamily="49" charset="-122"/>
              </a:rPr>
              <a:t>数字信号通过实际的信道 </a:t>
            </a:r>
          </a:p>
        </p:txBody>
      </p:sp>
      <p:grpSp>
        <p:nvGrpSpPr>
          <p:cNvPr id="4" name="组合 3"/>
          <p:cNvGrpSpPr>
            <a:grpSpLocks/>
          </p:cNvGrpSpPr>
          <p:nvPr/>
        </p:nvGrpSpPr>
        <p:grpSpPr bwMode="auto">
          <a:xfrm>
            <a:off x="627063" y="1268413"/>
            <a:ext cx="8502650" cy="2012950"/>
            <a:chOff x="626814" y="1426828"/>
            <a:chExt cx="8502650" cy="2011970"/>
          </a:xfrm>
        </p:grpSpPr>
        <p:sp>
          <p:nvSpPr>
            <p:cNvPr id="289795" name="AutoShape 4"/>
            <p:cNvSpPr>
              <a:spLocks noChangeArrowheads="1"/>
            </p:cNvSpPr>
            <p:nvPr/>
          </p:nvSpPr>
          <p:spPr bwMode="auto">
            <a:xfrm rot="-5400000">
              <a:off x="4592786" y="806590"/>
              <a:ext cx="395287" cy="4399227"/>
            </a:xfrm>
            <a:prstGeom prst="can">
              <a:avLst>
                <a:gd name="adj" fmla="val 66775"/>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89796" name="Freeform 5"/>
            <p:cNvSpPr>
              <a:spLocks noChangeArrowheads="1"/>
            </p:cNvSpPr>
            <p:nvPr/>
          </p:nvSpPr>
          <p:spPr bwMode="auto">
            <a:xfrm>
              <a:off x="693887" y="2214835"/>
              <a:ext cx="166819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797" name="Line 6"/>
            <p:cNvSpPr>
              <a:spLocks noChangeShapeType="1"/>
            </p:cNvSpPr>
            <p:nvPr/>
          </p:nvSpPr>
          <p:spPr bwMode="auto">
            <a:xfrm>
              <a:off x="693887" y="3005410"/>
              <a:ext cx="212394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798" name="Freeform 7"/>
            <p:cNvSpPr>
              <a:spLocks noChangeArrowheads="1"/>
            </p:cNvSpPr>
            <p:nvPr/>
          </p:nvSpPr>
          <p:spPr bwMode="auto">
            <a:xfrm>
              <a:off x="7292727" y="2214835"/>
              <a:ext cx="166991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799" name="Line 8"/>
            <p:cNvSpPr>
              <a:spLocks noChangeShapeType="1"/>
            </p:cNvSpPr>
            <p:nvPr/>
          </p:nvSpPr>
          <p:spPr bwMode="auto">
            <a:xfrm>
              <a:off x="6990044" y="3005410"/>
              <a:ext cx="212394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00" name="Freeform 9"/>
            <p:cNvSpPr>
              <a:spLocks noChangeArrowheads="1"/>
            </p:cNvSpPr>
            <p:nvPr/>
          </p:nvSpPr>
          <p:spPr bwMode="auto">
            <a:xfrm>
              <a:off x="7308206" y="2251348"/>
              <a:ext cx="1620044" cy="63341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01" name="Text Box 10"/>
            <p:cNvSpPr txBox="1">
              <a:spLocks noChangeArrowheads="1"/>
            </p:cNvSpPr>
            <p:nvPr/>
          </p:nvSpPr>
          <p:spPr bwMode="auto">
            <a:xfrm>
              <a:off x="2420557" y="2060848"/>
              <a:ext cx="428835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imes New Roman" panose="02020603050405020304" pitchFamily="18" charset="0"/>
                  <a:ea typeface="黑体" panose="02010609060101010101" pitchFamily="49" charset="-122"/>
                </a:rPr>
                <a:t>实际的信道</a:t>
              </a:r>
            </a:p>
            <a:p>
              <a:pPr eaLnBrk="0" hangingPunct="0"/>
              <a:r>
                <a:rPr lang="zh-CN" altLang="en-US" sz="2000" b="1">
                  <a:solidFill>
                    <a:srgbClr val="0000CC"/>
                  </a:solidFill>
                  <a:latin typeface="Times New Roman" panose="02020603050405020304" pitchFamily="18" charset="0"/>
                  <a:ea typeface="黑体" panose="02010609060101010101" pitchFamily="49" charset="-122"/>
                </a:rPr>
                <a:t>（带宽受限、有噪声、干扰和失真）</a:t>
              </a:r>
            </a:p>
          </p:txBody>
        </p:sp>
        <p:sp>
          <p:nvSpPr>
            <p:cNvPr id="289802" name="Text Box 11"/>
            <p:cNvSpPr txBox="1">
              <a:spLocks noChangeArrowheads="1"/>
            </p:cNvSpPr>
            <p:nvPr/>
          </p:nvSpPr>
          <p:spPr bwMode="auto">
            <a:xfrm>
              <a:off x="626814" y="3027636"/>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发送信号波形</a:t>
              </a:r>
            </a:p>
          </p:txBody>
        </p:sp>
        <p:sp>
          <p:nvSpPr>
            <p:cNvPr id="289803" name="Text Box 12"/>
            <p:cNvSpPr txBox="1">
              <a:spLocks noChangeArrowheads="1"/>
            </p:cNvSpPr>
            <p:nvPr/>
          </p:nvSpPr>
          <p:spPr bwMode="auto">
            <a:xfrm>
              <a:off x="7045076" y="3041923"/>
              <a:ext cx="2084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接收信号波形</a:t>
              </a:r>
            </a:p>
          </p:txBody>
        </p:sp>
        <p:sp>
          <p:nvSpPr>
            <p:cNvPr id="289804" name="矩形 1"/>
            <p:cNvSpPr>
              <a:spLocks noChangeArrowheads="1"/>
            </p:cNvSpPr>
            <p:nvPr/>
          </p:nvSpPr>
          <p:spPr bwMode="auto">
            <a:xfrm>
              <a:off x="776536" y="1426828"/>
              <a:ext cx="3480440" cy="63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110000"/>
                </a:lnSpc>
              </a:pPr>
              <a:r>
                <a:rPr lang="zh-CN" altLang="en-US" sz="3200" b="1">
                  <a:ea typeface="黑体" panose="02010609060101010101" pitchFamily="49" charset="-122"/>
                </a:rPr>
                <a:t>有失真，但</a:t>
              </a:r>
              <a:r>
                <a:rPr lang="zh-CN" altLang="en-US" sz="3200" b="1">
                  <a:solidFill>
                    <a:srgbClr val="FF0000"/>
                  </a:solidFill>
                  <a:ea typeface="黑体" panose="02010609060101010101" pitchFamily="49" charset="-122"/>
                </a:rPr>
                <a:t>可识别</a:t>
              </a:r>
            </a:p>
          </p:txBody>
        </p:sp>
      </p:grpSp>
      <p:grpSp>
        <p:nvGrpSpPr>
          <p:cNvPr id="5" name="组合 4"/>
          <p:cNvGrpSpPr>
            <a:grpSpLocks/>
          </p:cNvGrpSpPr>
          <p:nvPr/>
        </p:nvGrpSpPr>
        <p:grpSpPr bwMode="auto">
          <a:xfrm>
            <a:off x="560388" y="3622675"/>
            <a:ext cx="8486775" cy="2024063"/>
            <a:chOff x="560512" y="3780329"/>
            <a:chExt cx="8487172" cy="2024935"/>
          </a:xfrm>
        </p:grpSpPr>
        <p:grpSp>
          <p:nvGrpSpPr>
            <p:cNvPr id="289806" name="Group 24"/>
            <p:cNvGrpSpPr>
              <a:grpSpLocks/>
            </p:cNvGrpSpPr>
            <p:nvPr/>
          </p:nvGrpSpPr>
          <p:grpSpPr bwMode="auto">
            <a:xfrm>
              <a:off x="560512" y="4381276"/>
              <a:ext cx="8487172" cy="1423988"/>
              <a:chOff x="304" y="2886"/>
              <a:chExt cx="4935" cy="897"/>
            </a:xfrm>
          </p:grpSpPr>
          <p:sp>
            <p:nvSpPr>
              <p:cNvPr id="289807" name="AutoShape 13"/>
              <p:cNvSpPr>
                <a:spLocks noChangeArrowheads="1"/>
              </p:cNvSpPr>
              <p:nvPr/>
            </p:nvSpPr>
            <p:spPr bwMode="auto">
              <a:xfrm rot="-5400000">
                <a:off x="2600" y="2210"/>
                <a:ext cx="250" cy="2558"/>
              </a:xfrm>
              <a:prstGeom prst="can">
                <a:avLst>
                  <a:gd name="adj" fmla="val 66508"/>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89808" name="Freeform 14"/>
              <p:cNvSpPr>
                <a:spLocks noChangeArrowheads="1"/>
              </p:cNvSpPr>
              <p:nvPr/>
            </p:nvSpPr>
            <p:spPr bwMode="auto">
              <a:xfrm>
                <a:off x="343" y="2991"/>
                <a:ext cx="970"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09" name="Line 15"/>
              <p:cNvSpPr>
                <a:spLocks noChangeShapeType="1"/>
              </p:cNvSpPr>
              <p:nvPr/>
            </p:nvSpPr>
            <p:spPr bwMode="auto">
              <a:xfrm>
                <a:off x="343"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0" name="Freeform 16"/>
              <p:cNvSpPr>
                <a:spLocks noChangeArrowheads="1"/>
              </p:cNvSpPr>
              <p:nvPr/>
            </p:nvSpPr>
            <p:spPr bwMode="auto">
              <a:xfrm>
                <a:off x="4180" y="2991"/>
                <a:ext cx="971"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1" name="Line 17"/>
              <p:cNvSpPr>
                <a:spLocks noChangeShapeType="1"/>
              </p:cNvSpPr>
              <p:nvPr/>
            </p:nvSpPr>
            <p:spPr bwMode="auto">
              <a:xfrm>
                <a:off x="4004"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2" name="Freeform 18"/>
              <p:cNvSpPr>
                <a:spLocks noChangeArrowheads="1"/>
              </p:cNvSpPr>
              <p:nvPr/>
            </p:nvSpPr>
            <p:spPr bwMode="auto">
              <a:xfrm>
                <a:off x="4186" y="3270"/>
                <a:ext cx="934" cy="124"/>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3" name="Text Box 19"/>
              <p:cNvSpPr txBox="1">
                <a:spLocks noChangeArrowheads="1"/>
              </p:cNvSpPr>
              <p:nvPr/>
            </p:nvSpPr>
            <p:spPr bwMode="auto">
              <a:xfrm>
                <a:off x="304" y="3503"/>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发送信号波形</a:t>
                </a:r>
              </a:p>
            </p:txBody>
          </p:sp>
          <p:sp>
            <p:nvSpPr>
              <p:cNvPr id="289814" name="Text Box 22"/>
              <p:cNvSpPr txBox="1">
                <a:spLocks noChangeArrowheads="1"/>
              </p:cNvSpPr>
              <p:nvPr/>
            </p:nvSpPr>
            <p:spPr bwMode="auto">
              <a:xfrm>
                <a:off x="1361" y="2886"/>
                <a:ext cx="249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imes New Roman" panose="02020603050405020304" pitchFamily="18" charset="0"/>
                    <a:ea typeface="黑体" panose="02010609060101010101" pitchFamily="49" charset="-122"/>
                  </a:rPr>
                  <a:t>实际的信道</a:t>
                </a:r>
              </a:p>
              <a:p>
                <a:pPr eaLnBrk="0" hangingPunct="0"/>
                <a:r>
                  <a:rPr lang="zh-CN" altLang="en-US" sz="2000" b="1">
                    <a:solidFill>
                      <a:srgbClr val="0000CC"/>
                    </a:solidFill>
                    <a:latin typeface="Times New Roman" panose="02020603050405020304" pitchFamily="18" charset="0"/>
                    <a:ea typeface="黑体" panose="02010609060101010101" pitchFamily="49" charset="-122"/>
                  </a:rPr>
                  <a:t>（带宽受限、有噪声、干扰和失真）</a:t>
                </a:r>
              </a:p>
            </p:txBody>
          </p:sp>
          <p:sp>
            <p:nvSpPr>
              <p:cNvPr id="289815" name="Text Box 23"/>
              <p:cNvSpPr txBox="1">
                <a:spLocks noChangeArrowheads="1"/>
              </p:cNvSpPr>
              <p:nvPr/>
            </p:nvSpPr>
            <p:spPr bwMode="auto">
              <a:xfrm>
                <a:off x="3991" y="3533"/>
                <a:ext cx="11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接收信号波形</a:t>
                </a:r>
              </a:p>
            </p:txBody>
          </p:sp>
        </p:grpSp>
        <p:sp>
          <p:nvSpPr>
            <p:cNvPr id="289816" name="矩形 2"/>
            <p:cNvSpPr>
              <a:spLocks noChangeArrowheads="1"/>
            </p:cNvSpPr>
            <p:nvPr/>
          </p:nvSpPr>
          <p:spPr bwMode="auto">
            <a:xfrm>
              <a:off x="704528" y="3780329"/>
              <a:ext cx="359425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ea typeface="黑体" panose="02010609060101010101" pitchFamily="49" charset="-122"/>
                </a:rPr>
                <a:t>失真大，</a:t>
              </a:r>
              <a:r>
                <a:rPr lang="zh-CN" altLang="en-US" sz="3200" b="1">
                  <a:solidFill>
                    <a:srgbClr val="FF0000"/>
                  </a:solidFill>
                  <a:ea typeface="黑体" panose="02010609060101010101" pitchFamily="49" charset="-122"/>
                </a:rPr>
                <a:t>无法识别 </a:t>
              </a:r>
              <a:endParaRPr lang="zh-CN" altLang="en-US" sz="3200" b="1">
                <a:ea typeface="黑体" panose="02010609060101010101" pitchFamily="49" charset="-122"/>
              </a:endParaRPr>
            </a:p>
          </p:txBody>
        </p:sp>
      </p:grpSp>
      <p:sp>
        <p:nvSpPr>
          <p:cNvPr id="289817"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FFDCBE-8942-4450-9E92-93ED4969EB8D}" type="slidenum">
              <a:rPr lang="zh-CN" altLang="en-US" smtClean="0"/>
              <a:pPr eaLnBrk="1" hangingPunct="1"/>
              <a:t>19</a:t>
            </a:fld>
            <a:endParaRPr lang="en-US" altLang="zh-CN" smtClean="0"/>
          </a:p>
        </p:txBody>
      </p:sp>
      <p:sp>
        <p:nvSpPr>
          <p:cNvPr id="289818"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2.2.3  </a:t>
            </a:r>
            <a:r>
              <a:rPr lang="zh-CN" altLang="zh-CN" smtClean="0">
                <a:ea typeface="黑体" panose="02010609060101010101" pitchFamily="49" charset="-122"/>
              </a:rPr>
              <a:t>信道的极限容量</a:t>
            </a:r>
            <a:endParaRPr lang="zh-CN" altLang="en-US"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p:spPr>
        <p:txBody>
          <a:bodyPr/>
          <a:lstStyle/>
          <a:p>
            <a:pPr marL="0" indent="0">
              <a:buFont typeface="Wingdings" panose="05000000000000000000" pitchFamily="2" charset="2"/>
              <a:buNone/>
            </a:pPr>
            <a:r>
              <a:rPr lang="en-US" altLang="zh-CN" noProof="1"/>
              <a:t>	</a:t>
            </a:r>
            <a:r>
              <a:rPr lang="zh-CN" altLang="zh-CN" noProof="1"/>
              <a:t>从概念上讲，限制码元在信道上的传输速率的因素有以下两个</a:t>
            </a:r>
            <a:r>
              <a:rPr lang="zh-CN" altLang="en-US" noProof="1"/>
              <a:t>：</a:t>
            </a:r>
            <a:endParaRPr lang="en-US" altLang="zh-CN" noProof="1"/>
          </a:p>
          <a:p>
            <a:r>
              <a:rPr lang="zh-CN" altLang="zh-CN" noProof="1">
                <a:solidFill>
                  <a:srgbClr val="FF0000"/>
                </a:solidFill>
              </a:rPr>
              <a:t>信道能够通过的频率范围</a:t>
            </a:r>
            <a:endParaRPr lang="en-US" altLang="zh-CN" noProof="1">
              <a:solidFill>
                <a:srgbClr val="FF0000"/>
              </a:solidFill>
            </a:endParaRPr>
          </a:p>
          <a:p>
            <a:r>
              <a:rPr lang="zh-CN" altLang="zh-CN" noProof="1">
                <a:solidFill>
                  <a:srgbClr val="FF0000"/>
                </a:solidFill>
              </a:rPr>
              <a:t>信噪比</a:t>
            </a:r>
          </a:p>
          <a:p>
            <a:endParaRPr lang="zh-CN" altLang="en-US" noProof="1"/>
          </a:p>
        </p:txBody>
      </p:sp>
      <p:sp>
        <p:nvSpPr>
          <p:cNvPr id="291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FE8D33-4172-4B6D-89A0-41905BA341CB}" type="slidenum">
              <a:rPr lang="zh-CN" altLang="en-US" smtClean="0"/>
              <a:pPr eaLnBrk="1" hangingPunct="1"/>
              <a:t>20</a:t>
            </a:fld>
            <a:endParaRPr lang="en-US" altLang="zh-CN" smtClean="0"/>
          </a:p>
        </p:txBody>
      </p:sp>
      <p:sp>
        <p:nvSpPr>
          <p:cNvPr id="291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2"/>
          <p:cNvSpPr>
            <a:spLocks noGrp="1" noChangeArrowheads="1"/>
          </p:cNvSpPr>
          <p:nvPr>
            <p:ph type="title"/>
          </p:nvPr>
        </p:nvSpPr>
        <p:spPr>
          <a:xfrm>
            <a:off x="495300" y="188913"/>
            <a:ext cx="9066213" cy="792162"/>
          </a:xfrm>
        </p:spPr>
        <p:txBody>
          <a:bodyPr/>
          <a:lstStyle/>
          <a:p>
            <a:pPr marL="838200" indent="-838200" algn="ctr">
              <a:buFontTx/>
              <a:buAutoNum type="arabicParenBoth"/>
            </a:pPr>
            <a:r>
              <a:rPr lang="zh-CN" altLang="en-US" smtClean="0">
                <a:ea typeface="黑体" panose="02010609060101010101" pitchFamily="49" charset="-122"/>
              </a:rPr>
              <a:t>信道能够通过的频率范围</a:t>
            </a:r>
          </a:p>
        </p:txBody>
      </p:sp>
      <p:sp>
        <p:nvSpPr>
          <p:cNvPr id="33795"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具体的信道所能通过的频率范围总是有限的。信号中的许多高频分量往往不能通过信道</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1924</a:t>
            </a:r>
            <a:r>
              <a:rPr lang="zh-CN" altLang="en-US" dirty="0" smtClean="0">
                <a:ea typeface="黑体" panose="02010609060101010101" pitchFamily="49" charset="-122"/>
              </a:rPr>
              <a:t>年，奈奎斯特 </a:t>
            </a:r>
            <a:r>
              <a:rPr lang="en-US" altLang="zh-CN" dirty="0" smtClean="0">
                <a:ea typeface="黑体" panose="02010609060101010101" pitchFamily="49" charset="-122"/>
              </a:rPr>
              <a:t>(</a:t>
            </a:r>
            <a:r>
              <a:rPr lang="en-US" altLang="zh-CN" dirty="0" err="1" smtClean="0">
                <a:ea typeface="黑体" panose="02010609060101010101" pitchFamily="49" charset="-122"/>
              </a:rPr>
              <a:t>Nyquist</a:t>
            </a:r>
            <a:r>
              <a:rPr lang="en-US" altLang="zh-CN" dirty="0" smtClean="0">
                <a:ea typeface="黑体" panose="02010609060101010101" pitchFamily="49" charset="-122"/>
              </a:rPr>
              <a:t>) </a:t>
            </a:r>
            <a:r>
              <a:rPr lang="zh-CN" altLang="en-US" dirty="0" smtClean="0">
                <a:ea typeface="黑体" panose="02010609060101010101" pitchFamily="49" charset="-122"/>
              </a:rPr>
              <a:t>就推导出了著名的</a:t>
            </a:r>
            <a:r>
              <a:rPr lang="zh-CN" altLang="en-US" dirty="0" smtClean="0">
                <a:solidFill>
                  <a:srgbClr val="FF0000"/>
                </a:solidFill>
                <a:ea typeface="黑体" panose="02010609060101010101" pitchFamily="49" charset="-122"/>
              </a:rPr>
              <a:t>奈氏准则。</a:t>
            </a:r>
            <a:r>
              <a:rPr lang="zh-CN" altLang="en-US" dirty="0" smtClean="0">
                <a:ea typeface="黑体" panose="02010609060101010101" pitchFamily="49" charset="-122"/>
              </a:rPr>
              <a:t>他给出了在假定的理想条件下，为了避免</a:t>
            </a:r>
            <a:r>
              <a:rPr lang="zh-CN" altLang="en-US" dirty="0" smtClean="0">
                <a:solidFill>
                  <a:srgbClr val="FF0000"/>
                </a:solidFill>
                <a:ea typeface="黑体" panose="02010609060101010101" pitchFamily="49" charset="-122"/>
              </a:rPr>
              <a:t>码间串扰，</a:t>
            </a:r>
            <a:r>
              <a:rPr lang="zh-CN" altLang="en-US" dirty="0" smtClean="0">
                <a:ea typeface="黑体" panose="02010609060101010101" pitchFamily="49" charset="-122"/>
              </a:rPr>
              <a:t>码元的传输速率的上限值。</a:t>
            </a:r>
            <a:endParaRPr lang="en-US" altLang="zh-CN" dirty="0" smtClean="0">
              <a:ea typeface="黑体" panose="02010609060101010101" pitchFamily="49" charset="-122"/>
            </a:endParaRPr>
          </a:p>
          <a:p>
            <a:pPr marL="0" indent="0">
              <a:buNone/>
            </a:pPr>
            <a:r>
              <a:rPr lang="en-US" altLang="zh-CN" dirty="0">
                <a:ea typeface="黑体" panose="02010609060101010101" pitchFamily="49" charset="-122"/>
              </a:rPr>
              <a:t> </a:t>
            </a:r>
            <a:r>
              <a:rPr lang="en-US" altLang="zh-CN" dirty="0" smtClean="0">
                <a:ea typeface="黑体" panose="02010609060101010101" pitchFamily="49" charset="-122"/>
              </a:rPr>
              <a:t>                </a:t>
            </a:r>
          </a:p>
          <a:p>
            <a:pPr marL="0" indent="0" algn="ctr">
              <a:buNone/>
            </a:pPr>
            <a:r>
              <a:rPr lang="en-US" altLang="zh-CN" dirty="0" err="1" smtClean="0">
                <a:ea typeface="黑体" panose="02010609060101010101" pitchFamily="49" charset="-122"/>
              </a:rPr>
              <a:t>R</a:t>
            </a:r>
            <a:r>
              <a:rPr lang="en-US" altLang="zh-CN" baseline="-25000" dirty="0" err="1" smtClean="0">
                <a:ea typeface="黑体" panose="02010609060101010101" pitchFamily="49" charset="-122"/>
              </a:rPr>
              <a:t>max</a:t>
            </a:r>
            <a:r>
              <a:rPr lang="en-US" altLang="zh-CN" dirty="0" smtClean="0">
                <a:ea typeface="黑体" panose="02010609060101010101" pitchFamily="49" charset="-122"/>
              </a:rPr>
              <a:t>=2B(bps)</a:t>
            </a:r>
          </a:p>
          <a:p>
            <a:pPr marL="0" indent="0" algn="ctr">
              <a:buNone/>
            </a:pPr>
            <a:endParaRPr lang="en-US" altLang="zh-CN" dirty="0">
              <a:ea typeface="黑体" panose="02010609060101010101" pitchFamily="49" charset="-122"/>
            </a:endParaRPr>
          </a:p>
          <a:p>
            <a:pPr marL="0" indent="0" algn="ctr">
              <a:buNone/>
            </a:pPr>
            <a:r>
              <a:rPr lang="en-US" altLang="zh-CN" dirty="0" err="1" smtClean="0">
                <a:ea typeface="黑体" panose="02010609060101010101" pitchFamily="49" charset="-122"/>
              </a:rPr>
              <a:t>R</a:t>
            </a:r>
            <a:r>
              <a:rPr lang="en-US" altLang="zh-CN" baseline="-25000" dirty="0" err="1" smtClean="0">
                <a:ea typeface="黑体" panose="02010609060101010101" pitchFamily="49" charset="-122"/>
              </a:rPr>
              <a:t>max</a:t>
            </a:r>
            <a:r>
              <a:rPr lang="zh-CN" altLang="en-US" dirty="0" smtClean="0">
                <a:ea typeface="黑体" panose="02010609060101010101" pitchFamily="49" charset="-122"/>
              </a:rPr>
              <a:t>为最大速率，</a:t>
            </a:r>
            <a:r>
              <a:rPr lang="en-US" altLang="zh-CN" dirty="0" smtClean="0">
                <a:ea typeface="黑体" panose="02010609060101010101" pitchFamily="49" charset="-122"/>
              </a:rPr>
              <a:t>B</a:t>
            </a:r>
            <a:r>
              <a:rPr lang="zh-CN" altLang="en-US" dirty="0" smtClean="0">
                <a:ea typeface="黑体" panose="02010609060101010101" pitchFamily="49" charset="-122"/>
              </a:rPr>
              <a:t>为理想信道带宽</a:t>
            </a:r>
          </a:p>
        </p:txBody>
      </p:sp>
      <p:sp>
        <p:nvSpPr>
          <p:cNvPr id="292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8E63D8-A404-4024-97F4-5C2C1AE9A816}" type="slidenum">
              <a:rPr lang="zh-CN" altLang="en-US" smtClean="0"/>
              <a:pPr eaLnBrk="1" hangingPunct="1"/>
              <a:t>21</a:t>
            </a:fld>
            <a:endParaRPr lang="en-US" altLang="zh-CN" smtClean="0"/>
          </a:p>
        </p:txBody>
      </p:sp>
      <p:sp>
        <p:nvSpPr>
          <p:cNvPr id="292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2"/>
          <p:cNvSpPr>
            <a:spLocks noGrp="1" noChangeArrowheads="1"/>
          </p:cNvSpPr>
          <p:nvPr>
            <p:ph type="title"/>
          </p:nvPr>
        </p:nvSpPr>
        <p:spPr/>
        <p:txBody>
          <a:bodyPr/>
          <a:lstStyle/>
          <a:p>
            <a:pPr marL="838200" indent="-838200" algn="ctr">
              <a:buFontTx/>
              <a:buAutoNum type="arabicParenBoth"/>
            </a:pPr>
            <a:r>
              <a:rPr lang="zh-CN" altLang="en-US" smtClean="0">
                <a:ea typeface="黑体" panose="02010609060101010101" pitchFamily="49" charset="-122"/>
              </a:rPr>
              <a:t>信道能够通过的频率范围</a:t>
            </a:r>
          </a:p>
        </p:txBody>
      </p:sp>
      <p:sp>
        <p:nvSpPr>
          <p:cNvPr id="2" name="矩形 1"/>
          <p:cNvSpPr/>
          <p:nvPr/>
        </p:nvSpPr>
        <p:spPr>
          <a:xfrm>
            <a:off x="848544" y="1412776"/>
            <a:ext cx="8424936" cy="1569660"/>
          </a:xfrm>
          <a:prstGeom prst="rect">
            <a:avLst/>
          </a:prstGeom>
          <a:solidFill>
            <a:srgbClr val="66FF66"/>
          </a:solidFill>
          <a:ln w="28575" cmpd="thinThick">
            <a:solidFill>
              <a:schemeClr val="tx1"/>
            </a:solidFill>
            <a:prstDash val="solid"/>
          </a:ln>
          <a:effectLst>
            <a:glow rad="63500">
              <a:schemeClr val="accent1">
                <a:satMod val="175000"/>
                <a:alpha val="40000"/>
              </a:schemeClr>
            </a:glow>
          </a:effectLst>
        </p:spPr>
        <p:txBody>
          <a:bodyPr>
            <a:spAutoFit/>
          </a:bodyPr>
          <a:lstStyle/>
          <a:p>
            <a:pPr eaLnBrk="0" hangingPunct="0"/>
            <a:r>
              <a:rPr lang="zh-CN" altLang="en-US" sz="3200" b="1" noProof="1">
                <a:latin typeface="+mn-lt"/>
                <a:ea typeface="黑体" panose="02010609060101010101" pitchFamily="2" charset="-122"/>
              </a:rPr>
              <a:t>在任何信道中，</a:t>
            </a:r>
            <a:r>
              <a:rPr lang="zh-CN" altLang="en-US" sz="3200" b="1" noProof="1">
                <a:solidFill>
                  <a:srgbClr val="FF0000"/>
                </a:solidFill>
                <a:latin typeface="+mn-lt"/>
                <a:ea typeface="黑体" panose="02010609060101010101" pitchFamily="2" charset="-122"/>
              </a:rPr>
              <a:t>码元传输的速率是有上限的，</a:t>
            </a:r>
            <a:r>
              <a:rPr lang="zh-CN" altLang="en-US" sz="3200" b="1" noProof="1">
                <a:latin typeface="+mn-lt"/>
                <a:ea typeface="黑体" panose="02010609060101010101" pitchFamily="2" charset="-122"/>
              </a:rPr>
              <a:t>否则就会出现</a:t>
            </a:r>
            <a:r>
              <a:rPr lang="zh-CN" altLang="en-US" sz="3200" b="1" noProof="1">
                <a:solidFill>
                  <a:srgbClr val="FF0000"/>
                </a:solidFill>
                <a:latin typeface="+mn-lt"/>
                <a:ea typeface="黑体" panose="02010609060101010101" pitchFamily="2" charset="-122"/>
              </a:rPr>
              <a:t>码间串扰</a:t>
            </a:r>
            <a:r>
              <a:rPr lang="zh-CN" altLang="en-US" sz="3200" b="1" noProof="1">
                <a:latin typeface="+mn-lt"/>
                <a:ea typeface="黑体" panose="02010609060101010101" pitchFamily="2" charset="-122"/>
              </a:rPr>
              <a:t>的问题，使接收端对码元的判决（即识别）成为不可能。</a:t>
            </a:r>
          </a:p>
        </p:txBody>
      </p:sp>
      <p:sp>
        <p:nvSpPr>
          <p:cNvPr id="3" name="矩形 2"/>
          <p:cNvSpPr/>
          <p:nvPr/>
        </p:nvSpPr>
        <p:spPr>
          <a:xfrm>
            <a:off x="848544" y="3371508"/>
            <a:ext cx="8424936" cy="1569660"/>
          </a:xfrm>
          <a:prstGeom prst="rect">
            <a:avLst/>
          </a:prstGeom>
          <a:solidFill>
            <a:srgbClr val="FFFF66"/>
          </a:solidFill>
          <a:ln w="28575" cmpd="thinThick">
            <a:solidFill>
              <a:schemeClr val="tx1"/>
            </a:solidFill>
            <a:prstDash val="solid"/>
          </a:ln>
          <a:effectLst>
            <a:glow rad="101600">
              <a:schemeClr val="accent1">
                <a:satMod val="175000"/>
                <a:alpha val="40000"/>
              </a:schemeClr>
            </a:glow>
          </a:effectLst>
        </p:spPr>
        <p:txBody>
          <a:bodyPr>
            <a:spAutoFit/>
          </a:bodyPr>
          <a:lstStyle/>
          <a:p>
            <a:pPr eaLnBrk="0" hangingPunct="0"/>
            <a:r>
              <a:rPr lang="zh-CN" altLang="en-US" sz="3200" b="1" noProof="1">
                <a:latin typeface="+mn-lt"/>
                <a:ea typeface="黑体" panose="02010609060101010101" pitchFamily="2" charset="-122"/>
              </a:rPr>
              <a:t>如果信道的频带越宽，也就是能够通过的信号高频分量越多，那么就可以用更高的速率传送码元而不出现码间串扰。  </a:t>
            </a:r>
          </a:p>
        </p:txBody>
      </p:sp>
      <p:sp>
        <p:nvSpPr>
          <p:cNvPr id="29491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8691EE-0F1D-487A-A675-5B30797966FF}" type="slidenum">
              <a:rPr lang="zh-CN" altLang="en-US" smtClean="0"/>
              <a:pPr eaLnBrk="1" hangingPunct="1"/>
              <a:t>22</a:t>
            </a:fld>
            <a:endParaRPr lang="en-US" altLang="zh-CN" smtClean="0"/>
          </a:p>
        </p:txBody>
      </p:sp>
      <p:sp>
        <p:nvSpPr>
          <p:cNvPr id="29491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信噪比 </a:t>
            </a:r>
          </a:p>
        </p:txBody>
      </p:sp>
      <p:sp>
        <p:nvSpPr>
          <p:cNvPr id="113667" name="Rectangle 3"/>
          <p:cNvSpPr>
            <a:spLocks noGrp="1" noChangeArrowheads="1"/>
          </p:cNvSpPr>
          <p:nvPr>
            <p:ph idx="1"/>
          </p:nvPr>
        </p:nvSpPr>
        <p:spPr>
          <a:xfrm>
            <a:off x="495300" y="1196975"/>
            <a:ext cx="9066213" cy="4933950"/>
          </a:xfrm>
        </p:spPr>
        <p:txBody>
          <a:bodyPr/>
          <a:lstStyle/>
          <a:p>
            <a:r>
              <a:rPr lang="zh-CN" altLang="zh-CN" sz="2800" noProof="1"/>
              <a:t>噪声存在于所有的电子设备和通信信道中。</a:t>
            </a:r>
            <a:endParaRPr lang="en-US" altLang="zh-CN" sz="2800" noProof="1"/>
          </a:p>
          <a:p>
            <a:r>
              <a:rPr lang="zh-CN" altLang="zh-CN" sz="2800" noProof="1"/>
              <a:t>噪声是随机产生的，它的瞬时值有时会很大。因此噪声会使接收端对码元的判决产生错误</a:t>
            </a:r>
            <a:r>
              <a:rPr lang="zh-CN" altLang="en-US" sz="2800" noProof="1"/>
              <a:t>。</a:t>
            </a:r>
            <a:endParaRPr lang="en-US" altLang="zh-CN" sz="2800" noProof="1"/>
          </a:p>
          <a:p>
            <a:r>
              <a:rPr lang="zh-CN" altLang="zh-CN" sz="2800" noProof="1"/>
              <a:t>但噪声的影响是相对的</a:t>
            </a:r>
            <a:r>
              <a:rPr lang="zh-CN" altLang="en-US" sz="2800" noProof="1"/>
              <a:t>。</a:t>
            </a:r>
            <a:r>
              <a:rPr lang="zh-CN" altLang="zh-CN" sz="2800" noProof="1"/>
              <a:t>如果信号相对较强，那么噪声的影响就相对较小。</a:t>
            </a:r>
            <a:endParaRPr lang="en-US" altLang="zh-CN" sz="2800" noProof="1"/>
          </a:p>
          <a:p>
            <a:r>
              <a:rPr lang="zh-CN" altLang="zh-CN" sz="2800" noProof="1">
                <a:solidFill>
                  <a:srgbClr val="FF0000"/>
                </a:solidFill>
              </a:rPr>
              <a:t>信噪比</a:t>
            </a:r>
            <a:r>
              <a:rPr lang="zh-CN" altLang="zh-CN" sz="2800" noProof="1"/>
              <a:t>就是信号的平均功率和噪声的平均功率之比</a:t>
            </a:r>
            <a:r>
              <a:rPr lang="zh-CN" altLang="en-US" sz="2800" noProof="1"/>
              <a:t>。</a:t>
            </a:r>
            <a:r>
              <a:rPr lang="zh-CN" altLang="zh-CN" sz="2800" noProof="1"/>
              <a:t>常记为</a:t>
            </a:r>
            <a:r>
              <a:rPr lang="en-US" altLang="zh-CN" sz="2800" noProof="1"/>
              <a:t> </a:t>
            </a:r>
            <a:r>
              <a:rPr lang="en-US" altLang="zh-CN" sz="2800" i="1" noProof="1"/>
              <a:t>S</a:t>
            </a:r>
            <a:r>
              <a:rPr lang="en-US" altLang="zh-CN" sz="2800" noProof="1"/>
              <a:t>/</a:t>
            </a:r>
            <a:r>
              <a:rPr lang="en-US" altLang="zh-CN" sz="2800" i="1" noProof="1"/>
              <a:t>N</a:t>
            </a:r>
            <a:r>
              <a:rPr lang="zh-CN" altLang="zh-CN" sz="2800" noProof="1"/>
              <a:t>，并用分贝</a:t>
            </a:r>
            <a:r>
              <a:rPr lang="en-US" altLang="zh-CN" sz="2800" noProof="1"/>
              <a:t> (dB) </a:t>
            </a:r>
            <a:r>
              <a:rPr lang="zh-CN" altLang="zh-CN" sz="2800" noProof="1"/>
              <a:t>作为度量单位。即：</a:t>
            </a:r>
          </a:p>
          <a:p>
            <a:pPr marL="0" indent="0" latinLnBrk="1">
              <a:buFont typeface="Wingdings" panose="05000000000000000000" pitchFamily="2" charset="2"/>
              <a:buNone/>
            </a:pPr>
            <a:r>
              <a:rPr lang="en-US" altLang="zh-CN" sz="2800" noProof="1"/>
              <a:t>		</a:t>
            </a:r>
            <a:r>
              <a:rPr lang="zh-CN" altLang="zh-CN" noProof="1">
                <a:solidFill>
                  <a:srgbClr val="0000CC"/>
                </a:solidFill>
              </a:rPr>
              <a:t>信噪比</a:t>
            </a:r>
            <a:r>
              <a:rPr lang="en-US" altLang="zh-CN" noProof="1">
                <a:solidFill>
                  <a:srgbClr val="0000CC"/>
                </a:solidFill>
              </a:rPr>
              <a:t>(dB) = 10 log</a:t>
            </a:r>
            <a:r>
              <a:rPr lang="en-US" altLang="zh-CN" baseline="-25000" noProof="1">
                <a:solidFill>
                  <a:srgbClr val="0000CC"/>
                </a:solidFill>
              </a:rPr>
              <a:t>10</a:t>
            </a:r>
            <a:r>
              <a:rPr lang="en-US" altLang="zh-CN" noProof="1">
                <a:solidFill>
                  <a:srgbClr val="0000CC"/>
                </a:solidFill>
              </a:rPr>
              <a:t>(</a:t>
            </a:r>
            <a:r>
              <a:rPr lang="en-US" altLang="zh-CN" i="1" noProof="1">
                <a:solidFill>
                  <a:srgbClr val="0000CC"/>
                </a:solidFill>
              </a:rPr>
              <a:t>S</a:t>
            </a:r>
            <a:r>
              <a:rPr lang="en-US" altLang="zh-CN" noProof="1">
                <a:solidFill>
                  <a:srgbClr val="0000CC"/>
                </a:solidFill>
              </a:rPr>
              <a:t>/</a:t>
            </a:r>
            <a:r>
              <a:rPr lang="en-US" altLang="zh-CN" i="1" noProof="1">
                <a:solidFill>
                  <a:srgbClr val="0000CC"/>
                </a:solidFill>
              </a:rPr>
              <a:t>N</a:t>
            </a:r>
            <a:r>
              <a:rPr lang="en-US" altLang="zh-CN" noProof="1">
                <a:solidFill>
                  <a:srgbClr val="0000CC"/>
                </a:solidFill>
              </a:rPr>
              <a:t>)    (dB) </a:t>
            </a:r>
            <a:endParaRPr lang="zh-CN" altLang="zh-CN" sz="2800" noProof="1">
              <a:solidFill>
                <a:srgbClr val="0000CC"/>
              </a:solidFill>
            </a:endParaRPr>
          </a:p>
          <a:p>
            <a:r>
              <a:rPr lang="zh-CN" altLang="zh-CN" sz="2800" noProof="1"/>
              <a:t>例如，当</a:t>
            </a:r>
            <a:r>
              <a:rPr lang="en-US" altLang="zh-CN" sz="2800" noProof="1"/>
              <a:t> </a:t>
            </a:r>
            <a:r>
              <a:rPr lang="en-US" altLang="zh-CN" sz="2800" i="1" noProof="1"/>
              <a:t>S</a:t>
            </a:r>
            <a:r>
              <a:rPr lang="en-US" altLang="zh-CN" sz="2800" noProof="1"/>
              <a:t>/</a:t>
            </a:r>
            <a:r>
              <a:rPr lang="en-US" altLang="zh-CN" sz="2800" i="1" noProof="1"/>
              <a:t>N</a:t>
            </a:r>
            <a:r>
              <a:rPr lang="en-US" altLang="zh-CN" sz="2800" noProof="1"/>
              <a:t> = 10 </a:t>
            </a:r>
            <a:r>
              <a:rPr lang="zh-CN" altLang="zh-CN" sz="2800" noProof="1"/>
              <a:t>时，信噪比为</a:t>
            </a:r>
            <a:r>
              <a:rPr lang="en-US" altLang="zh-CN" sz="2800" noProof="1"/>
              <a:t> 10 dB</a:t>
            </a:r>
            <a:r>
              <a:rPr lang="zh-CN" altLang="zh-CN" sz="2800" noProof="1"/>
              <a:t>，而当</a:t>
            </a:r>
            <a:r>
              <a:rPr lang="en-US" altLang="zh-CN" sz="2800" noProof="1"/>
              <a:t> </a:t>
            </a:r>
            <a:r>
              <a:rPr lang="en-US" altLang="zh-CN" sz="2800" i="1" noProof="1"/>
              <a:t>S</a:t>
            </a:r>
            <a:r>
              <a:rPr lang="en-US" altLang="zh-CN" sz="2800" noProof="1"/>
              <a:t>/</a:t>
            </a:r>
            <a:r>
              <a:rPr lang="en-US" altLang="zh-CN" sz="2800" i="1" noProof="1"/>
              <a:t>N</a:t>
            </a:r>
            <a:r>
              <a:rPr lang="en-US" altLang="zh-CN" sz="2800" noProof="1"/>
              <a:t> = 1000</a:t>
            </a:r>
            <a:r>
              <a:rPr lang="zh-CN" altLang="zh-CN" sz="2800" noProof="1"/>
              <a:t>时，信噪比为</a:t>
            </a:r>
            <a:r>
              <a:rPr lang="en-US" altLang="zh-CN" sz="2800" noProof="1"/>
              <a:t> 30 dB</a:t>
            </a:r>
            <a:r>
              <a:rPr lang="zh-CN" altLang="zh-CN" sz="2800" noProof="1"/>
              <a:t>。</a:t>
            </a:r>
            <a:r>
              <a:rPr lang="zh-CN" altLang="en-US" sz="2800" noProof="1"/>
              <a:t>  </a:t>
            </a:r>
          </a:p>
        </p:txBody>
      </p:sp>
      <p:sp>
        <p:nvSpPr>
          <p:cNvPr id="296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880E0B-222E-4917-AE27-BD1FA0AA2839}" type="slidenum">
              <a:rPr lang="zh-CN" altLang="en-US" smtClean="0"/>
              <a:pPr eaLnBrk="1" hangingPunct="1"/>
              <a:t>23</a:t>
            </a:fld>
            <a:endParaRPr lang="en-US" altLang="zh-CN" smtClean="0"/>
          </a:p>
        </p:txBody>
      </p:sp>
      <p:sp>
        <p:nvSpPr>
          <p:cNvPr id="296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366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信噪比 </a:t>
            </a:r>
          </a:p>
        </p:txBody>
      </p:sp>
      <p:sp>
        <p:nvSpPr>
          <p:cNvPr id="113667" name="Rectangle 3"/>
          <p:cNvSpPr>
            <a:spLocks noGrp="1" noChangeArrowheads="1"/>
          </p:cNvSpPr>
          <p:nvPr>
            <p:ph idx="1"/>
          </p:nvPr>
        </p:nvSpPr>
        <p:spPr>
          <a:xfrm>
            <a:off x="495300" y="1196975"/>
            <a:ext cx="9066213" cy="4933950"/>
          </a:xfrm>
        </p:spPr>
        <p:txBody>
          <a:bodyPr/>
          <a:lstStyle/>
          <a:p>
            <a:r>
              <a:rPr lang="en-US" altLang="zh-CN" noProof="1"/>
              <a:t>1984</a:t>
            </a:r>
            <a:r>
              <a:rPr lang="zh-CN" altLang="en-US" noProof="1"/>
              <a:t>年，香农 </a:t>
            </a:r>
            <a:r>
              <a:rPr lang="en-US" altLang="zh-CN" noProof="1"/>
              <a:t>(Shannon) </a:t>
            </a:r>
            <a:r>
              <a:rPr lang="zh-CN" altLang="en-US" noProof="1"/>
              <a:t>用信息论的理论推导出了带宽受限且有高斯白噪声干扰的信道的</a:t>
            </a:r>
            <a:r>
              <a:rPr lang="zh-CN" altLang="en-US" noProof="1">
                <a:solidFill>
                  <a:srgbClr val="FF0000"/>
                </a:solidFill>
              </a:rPr>
              <a:t>极限</a:t>
            </a:r>
            <a:r>
              <a:rPr lang="zh-CN" altLang="en-US" noProof="1"/>
              <a:t>、</a:t>
            </a:r>
            <a:r>
              <a:rPr lang="zh-CN" altLang="en-US" noProof="1">
                <a:solidFill>
                  <a:srgbClr val="FF0000"/>
                </a:solidFill>
              </a:rPr>
              <a:t>无差错的</a:t>
            </a:r>
            <a:r>
              <a:rPr lang="zh-CN" altLang="en-US" noProof="1"/>
              <a:t>信息传输速率（</a:t>
            </a:r>
            <a:r>
              <a:rPr lang="zh-CN" altLang="en-US" noProof="1">
                <a:solidFill>
                  <a:srgbClr val="FF0000"/>
                </a:solidFill>
              </a:rPr>
              <a:t>香农公式</a:t>
            </a:r>
            <a:r>
              <a:rPr lang="zh-CN" altLang="en-US" noProof="1"/>
              <a:t>）。</a:t>
            </a:r>
          </a:p>
          <a:p>
            <a:r>
              <a:rPr lang="zh-CN" altLang="en-US" noProof="1"/>
              <a:t>信道的极限信息传输速率 </a:t>
            </a:r>
            <a:r>
              <a:rPr lang="en-US" altLang="zh-CN" i="1" noProof="1"/>
              <a:t>C </a:t>
            </a:r>
            <a:r>
              <a:rPr lang="zh-CN" altLang="en-US" noProof="1"/>
              <a:t>可表达为：</a:t>
            </a:r>
          </a:p>
          <a:p>
            <a:pPr marL="0" indent="0">
              <a:spcBef>
                <a:spcPct val="25000"/>
              </a:spcBef>
              <a:spcAft>
                <a:spcPct val="25000"/>
              </a:spcAft>
              <a:buFont typeface="Wingdings" panose="05000000000000000000" pitchFamily="2" charset="2"/>
              <a:buNone/>
            </a:pPr>
            <a:r>
              <a:rPr lang="en-US" altLang="zh-CN" i="1" noProof="1"/>
              <a:t>		</a:t>
            </a:r>
            <a:r>
              <a:rPr lang="en-US" altLang="zh-CN" i="1" noProof="1">
                <a:solidFill>
                  <a:srgbClr val="0000CC"/>
                </a:solidFill>
              </a:rPr>
              <a:t>C</a:t>
            </a:r>
            <a:r>
              <a:rPr lang="en-US" altLang="zh-CN" noProof="1">
                <a:solidFill>
                  <a:srgbClr val="0000CC"/>
                </a:solidFill>
              </a:rPr>
              <a:t> = </a:t>
            </a:r>
            <a:r>
              <a:rPr lang="en-US" altLang="zh-CN" i="1" noProof="1">
                <a:solidFill>
                  <a:srgbClr val="0000CC"/>
                </a:solidFill>
              </a:rPr>
              <a:t>W</a:t>
            </a:r>
            <a:r>
              <a:rPr lang="en-US" altLang="zh-CN" noProof="1">
                <a:solidFill>
                  <a:srgbClr val="0000CC"/>
                </a:solidFill>
              </a:rPr>
              <a:t> log</a:t>
            </a:r>
            <a:r>
              <a:rPr lang="en-US" altLang="zh-CN" baseline="-25000" noProof="1">
                <a:solidFill>
                  <a:srgbClr val="0000CC"/>
                </a:solidFill>
              </a:rPr>
              <a:t>2</a:t>
            </a:r>
            <a:r>
              <a:rPr lang="en-US" altLang="zh-CN" noProof="1">
                <a:solidFill>
                  <a:srgbClr val="0000CC"/>
                </a:solidFill>
              </a:rPr>
              <a:t>(1+</a:t>
            </a:r>
            <a:r>
              <a:rPr lang="en-US" altLang="zh-CN" i="1" noProof="1">
                <a:solidFill>
                  <a:srgbClr val="0000CC"/>
                </a:solidFill>
              </a:rPr>
              <a:t>S</a:t>
            </a:r>
            <a:r>
              <a:rPr lang="en-US" altLang="zh-CN" noProof="1">
                <a:solidFill>
                  <a:srgbClr val="0000CC"/>
                </a:solidFill>
              </a:rPr>
              <a:t>/</a:t>
            </a:r>
            <a:r>
              <a:rPr lang="en-US" altLang="zh-CN" i="1" noProof="1">
                <a:solidFill>
                  <a:srgbClr val="0000CC"/>
                </a:solidFill>
              </a:rPr>
              <a:t>N</a:t>
            </a:r>
            <a:r>
              <a:rPr lang="en-US" altLang="zh-CN" noProof="1">
                <a:solidFill>
                  <a:srgbClr val="0000CC"/>
                </a:solidFill>
              </a:rPr>
              <a:t>)    (bit/s) </a:t>
            </a:r>
          </a:p>
          <a:p>
            <a:pPr marL="457200" lvl="1" indent="0">
              <a:buFont typeface="Wingdings" panose="05000000000000000000" pitchFamily="2" charset="2"/>
              <a:buNone/>
            </a:pPr>
            <a:r>
              <a:rPr lang="zh-CN" altLang="en-US" noProof="1">
                <a:solidFill>
                  <a:srgbClr val="000099"/>
                </a:solidFill>
                <a:cs typeface="+mn-ea"/>
              </a:rPr>
              <a:t>其中：</a:t>
            </a:r>
            <a:r>
              <a:rPr lang="en-US" altLang="zh-CN" noProof="1">
                <a:solidFill>
                  <a:srgbClr val="000099"/>
                </a:solidFill>
                <a:cs typeface="+mn-ea"/>
              </a:rPr>
              <a:t>	</a:t>
            </a:r>
            <a:r>
              <a:rPr lang="en-US" altLang="zh-CN" i="1" noProof="1">
                <a:solidFill>
                  <a:srgbClr val="000099"/>
                </a:solidFill>
                <a:cs typeface="+mn-ea"/>
              </a:rPr>
              <a:t>W </a:t>
            </a:r>
            <a:r>
              <a:rPr lang="zh-CN" altLang="en-US" noProof="1">
                <a:solidFill>
                  <a:srgbClr val="000099"/>
                </a:solidFill>
                <a:cs typeface="+mn-ea"/>
              </a:rPr>
              <a:t>为信道的带宽（以 </a:t>
            </a:r>
            <a:r>
              <a:rPr lang="en-US" altLang="zh-CN" noProof="1">
                <a:solidFill>
                  <a:srgbClr val="000099"/>
                </a:solidFill>
                <a:cs typeface="+mn-ea"/>
              </a:rPr>
              <a:t>Hz </a:t>
            </a:r>
            <a:r>
              <a:rPr lang="zh-CN" altLang="en-US" noProof="1">
                <a:solidFill>
                  <a:srgbClr val="000099"/>
                </a:solidFill>
                <a:cs typeface="+mn-ea"/>
              </a:rPr>
              <a:t>为单位）；</a:t>
            </a:r>
          </a:p>
          <a:p>
            <a:pPr marL="457200" lvl="1" indent="0">
              <a:buFont typeface="Wingdings" panose="05000000000000000000" pitchFamily="2" charset="2"/>
              <a:buNone/>
            </a:pPr>
            <a:r>
              <a:rPr lang="en-US" altLang="zh-CN" i="1" noProof="1">
                <a:solidFill>
                  <a:srgbClr val="000099"/>
                </a:solidFill>
                <a:cs typeface="+mn-ea"/>
              </a:rPr>
              <a:t>		S </a:t>
            </a:r>
            <a:r>
              <a:rPr lang="zh-CN" altLang="en-US" noProof="1">
                <a:solidFill>
                  <a:srgbClr val="000099"/>
                </a:solidFill>
                <a:cs typeface="+mn-ea"/>
              </a:rPr>
              <a:t>为信道内所传信号的平均功率；</a:t>
            </a:r>
          </a:p>
          <a:p>
            <a:pPr marL="457200" lvl="1" indent="0">
              <a:buFont typeface="Wingdings" panose="05000000000000000000" pitchFamily="2" charset="2"/>
              <a:buNone/>
            </a:pPr>
            <a:r>
              <a:rPr lang="en-US" altLang="zh-CN" i="1" noProof="1">
                <a:solidFill>
                  <a:srgbClr val="000099"/>
                </a:solidFill>
                <a:cs typeface="+mn-ea"/>
              </a:rPr>
              <a:t>		N </a:t>
            </a:r>
            <a:r>
              <a:rPr lang="zh-CN" altLang="en-US" noProof="1">
                <a:solidFill>
                  <a:srgbClr val="000099"/>
                </a:solidFill>
                <a:cs typeface="+mn-ea"/>
              </a:rPr>
              <a:t>为信道内部的高斯噪声功率。  </a:t>
            </a:r>
          </a:p>
        </p:txBody>
      </p:sp>
      <p:sp>
        <p:nvSpPr>
          <p:cNvPr id="2990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999F86-7D2C-4BB8-B6C6-CCDFD1F2F1D3}" type="slidenum">
              <a:rPr lang="zh-CN" altLang="en-US" smtClean="0"/>
              <a:pPr eaLnBrk="1" hangingPunct="1"/>
              <a:t>24</a:t>
            </a:fld>
            <a:endParaRPr lang="en-US" altLang="zh-CN" smtClean="0"/>
          </a:p>
        </p:txBody>
      </p:sp>
      <p:sp>
        <p:nvSpPr>
          <p:cNvPr id="2990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香农公式表明 </a:t>
            </a:r>
          </a:p>
        </p:txBody>
      </p:sp>
      <p:sp>
        <p:nvSpPr>
          <p:cNvPr id="11469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信道的带宽或信道中的信噪比越大，则信息的极限传输速率就越高。 </a:t>
            </a:r>
          </a:p>
          <a:p>
            <a:r>
              <a:rPr lang="zh-CN" altLang="en-US" sz="2800" smtClean="0">
                <a:solidFill>
                  <a:srgbClr val="0000CC"/>
                </a:solidFill>
                <a:ea typeface="黑体" panose="02010609060101010101" pitchFamily="49" charset="-122"/>
              </a:rPr>
              <a:t>只要信息传输速率低于信道的极限信息传输速率，就一定可以找到某种办法来实现无差错的传输。 </a:t>
            </a:r>
          </a:p>
          <a:p>
            <a:r>
              <a:rPr lang="zh-CN" altLang="en-US" sz="2800" smtClean="0">
                <a:solidFill>
                  <a:srgbClr val="0000CC"/>
                </a:solidFill>
                <a:ea typeface="黑体" panose="02010609060101010101" pitchFamily="49" charset="-122"/>
              </a:rPr>
              <a:t>若信道带宽 </a:t>
            </a:r>
            <a:r>
              <a:rPr lang="en-US" altLang="zh-CN" sz="2800" i="1" smtClean="0">
                <a:solidFill>
                  <a:srgbClr val="0000CC"/>
                </a:solidFill>
                <a:ea typeface="黑体" panose="02010609060101010101" pitchFamily="49" charset="-122"/>
              </a:rPr>
              <a:t>W</a:t>
            </a:r>
            <a:r>
              <a:rPr lang="en-US" altLang="zh-CN" sz="2800" smtClean="0">
                <a:solidFill>
                  <a:srgbClr val="0000CC"/>
                </a:solidFill>
                <a:ea typeface="黑体" panose="02010609060101010101" pitchFamily="49" charset="-122"/>
              </a:rPr>
              <a:t> </a:t>
            </a:r>
            <a:r>
              <a:rPr lang="zh-CN" altLang="en-US" sz="2800" smtClean="0">
                <a:solidFill>
                  <a:srgbClr val="0000CC"/>
                </a:solidFill>
                <a:ea typeface="黑体" panose="02010609060101010101" pitchFamily="49" charset="-122"/>
              </a:rPr>
              <a:t>或信噪比 </a:t>
            </a:r>
            <a:r>
              <a:rPr lang="en-US" altLang="zh-CN" sz="2800" i="1" smtClean="0">
                <a:solidFill>
                  <a:srgbClr val="0000CC"/>
                </a:solidFill>
                <a:ea typeface="黑体" panose="02010609060101010101" pitchFamily="49" charset="-122"/>
              </a:rPr>
              <a:t>S/N</a:t>
            </a:r>
            <a:r>
              <a:rPr lang="en-US" altLang="zh-CN" sz="2800" smtClean="0">
                <a:solidFill>
                  <a:srgbClr val="0000CC"/>
                </a:solidFill>
                <a:ea typeface="黑体" panose="02010609060101010101" pitchFamily="49" charset="-122"/>
              </a:rPr>
              <a:t> </a:t>
            </a:r>
            <a:r>
              <a:rPr lang="zh-CN" altLang="en-US" sz="2800" smtClean="0">
                <a:solidFill>
                  <a:srgbClr val="0000CC"/>
                </a:solidFill>
                <a:ea typeface="黑体" panose="02010609060101010101" pitchFamily="49" charset="-122"/>
              </a:rPr>
              <a:t>没有上限（当然实际信道不可能是这样的），则信道的极限信息传输速率 </a:t>
            </a:r>
            <a:r>
              <a:rPr lang="en-US" altLang="zh-CN" sz="2800" i="1" smtClean="0">
                <a:solidFill>
                  <a:srgbClr val="0000CC"/>
                </a:solidFill>
                <a:ea typeface="黑体" panose="02010609060101010101" pitchFamily="49" charset="-122"/>
              </a:rPr>
              <a:t>C</a:t>
            </a:r>
            <a:r>
              <a:rPr lang="en-US" altLang="zh-CN" sz="2800" smtClean="0">
                <a:solidFill>
                  <a:srgbClr val="0000CC"/>
                </a:solidFill>
                <a:ea typeface="黑体" panose="02010609060101010101" pitchFamily="49" charset="-122"/>
              </a:rPr>
              <a:t> </a:t>
            </a:r>
            <a:r>
              <a:rPr lang="zh-CN" altLang="en-US" sz="2800" smtClean="0">
                <a:solidFill>
                  <a:srgbClr val="0000CC"/>
                </a:solidFill>
                <a:ea typeface="黑体" panose="02010609060101010101" pitchFamily="49" charset="-122"/>
              </a:rPr>
              <a:t>也就没有上限。</a:t>
            </a:r>
          </a:p>
          <a:p>
            <a:r>
              <a:rPr lang="zh-CN" altLang="en-US" sz="2800" smtClean="0">
                <a:ea typeface="黑体" panose="02010609060101010101" pitchFamily="49" charset="-122"/>
              </a:rPr>
              <a:t>实际信道上能够达到的信息传输速率要比香农的极限传输速率低不少。  </a:t>
            </a:r>
          </a:p>
        </p:txBody>
      </p:sp>
      <p:sp>
        <p:nvSpPr>
          <p:cNvPr id="3010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275D0B-ED4A-4803-962F-1E09DD31ABCA}" type="slidenum">
              <a:rPr lang="zh-CN" altLang="en-US" smtClean="0"/>
              <a:pPr eaLnBrk="1" hangingPunct="1"/>
              <a:t>25</a:t>
            </a:fld>
            <a:endParaRPr lang="en-US" altLang="zh-CN" smtClean="0"/>
          </a:p>
        </p:txBody>
      </p:sp>
      <p:sp>
        <p:nvSpPr>
          <p:cNvPr id="3010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请注意 </a:t>
            </a:r>
          </a:p>
        </p:txBody>
      </p:sp>
      <p:sp>
        <p:nvSpPr>
          <p:cNvPr id="30310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对于频带宽度已确定的信道，如果信噪比不能再提高了，并且码元传输速率也达到了上限值，那么还有办法提高信息的传输速率。</a:t>
            </a:r>
            <a:endParaRPr lang="en-US" altLang="zh-CN" dirty="0" smtClean="0">
              <a:ea typeface="黑体" panose="02010609060101010101" pitchFamily="49" charset="-122"/>
            </a:endParaRPr>
          </a:p>
          <a:p>
            <a:r>
              <a:rPr lang="zh-CN" altLang="en-US" dirty="0" smtClean="0">
                <a:solidFill>
                  <a:srgbClr val="FF0000"/>
                </a:solidFill>
                <a:ea typeface="黑体" panose="02010609060101010101" pitchFamily="49" charset="-122"/>
              </a:rPr>
              <a:t>这就是：</a:t>
            </a:r>
            <a:r>
              <a:rPr lang="zh-CN" altLang="en-US" dirty="0" smtClean="0">
                <a:solidFill>
                  <a:srgbClr val="0000CC"/>
                </a:solidFill>
                <a:ea typeface="黑体" panose="02010609060101010101" pitchFamily="49" charset="-122"/>
              </a:rPr>
              <a:t>用编码的方法让每一个码元携带更多比特的信息量。 </a:t>
            </a:r>
            <a:endParaRPr lang="en-US" altLang="zh-CN" dirty="0" smtClean="0">
              <a:solidFill>
                <a:srgbClr val="0000CC"/>
              </a:solidFill>
              <a:ea typeface="黑体" panose="02010609060101010101" pitchFamily="49" charset="-122"/>
            </a:endParaRPr>
          </a:p>
          <a:p>
            <a:pPr marL="0" indent="0">
              <a:buNone/>
            </a:pPr>
            <a:r>
              <a:rPr lang="en-US" altLang="zh-CN" dirty="0">
                <a:ea typeface="黑体" panose="02010609060101010101" pitchFamily="49" charset="-122"/>
              </a:rPr>
              <a:t> </a:t>
            </a:r>
            <a:r>
              <a:rPr lang="en-US" altLang="zh-CN" dirty="0" smtClean="0">
                <a:ea typeface="黑体" panose="02010609060101010101" pitchFamily="49" charset="-122"/>
              </a:rPr>
              <a:t>  </a:t>
            </a:r>
            <a:r>
              <a:rPr lang="zh-CN" altLang="en-US" dirty="0" smtClean="0">
                <a:ea typeface="黑体" panose="02010609060101010101" pitchFamily="49" charset="-122"/>
              </a:rPr>
              <a:t>例：   </a:t>
            </a:r>
            <a:r>
              <a:rPr lang="en-US" altLang="zh-CN" dirty="0" smtClean="0">
                <a:ea typeface="黑体" panose="02010609060101010101" pitchFamily="49" charset="-122"/>
              </a:rPr>
              <a:t>0100 1101 0010</a:t>
            </a:r>
          </a:p>
          <a:p>
            <a:pPr marL="0" indent="0">
              <a:buNone/>
            </a:pPr>
            <a:r>
              <a:rPr lang="zh-CN" altLang="en-US" dirty="0">
                <a:ea typeface="黑体" panose="02010609060101010101" pitchFamily="49" charset="-122"/>
              </a:rPr>
              <a:t>二</a:t>
            </a:r>
            <a:r>
              <a:rPr lang="zh-CN" altLang="en-US" dirty="0" smtClean="0">
                <a:ea typeface="黑体" panose="02010609060101010101" pitchFamily="49" charset="-122"/>
              </a:rPr>
              <a:t>元调制：</a:t>
            </a:r>
            <a:r>
              <a:rPr lang="en-US" altLang="zh-CN" dirty="0" smtClean="0">
                <a:ea typeface="黑体" panose="02010609060101010101" pitchFamily="49" charset="-122"/>
              </a:rPr>
              <a:t>12</a:t>
            </a:r>
            <a:r>
              <a:rPr lang="zh-CN" altLang="en-US" dirty="0" smtClean="0">
                <a:ea typeface="黑体" panose="02010609060101010101" pitchFamily="49" charset="-122"/>
              </a:rPr>
              <a:t>个码元</a:t>
            </a:r>
            <a:endParaRPr lang="en-US" altLang="zh-CN" dirty="0" smtClean="0">
              <a:ea typeface="黑体" panose="02010609060101010101" pitchFamily="49" charset="-122"/>
            </a:endParaRPr>
          </a:p>
          <a:p>
            <a:pPr marL="0" indent="0">
              <a:buNone/>
            </a:pPr>
            <a:r>
              <a:rPr lang="zh-CN" altLang="en-US" dirty="0" smtClean="0">
                <a:ea typeface="黑体" panose="02010609060101010101" pitchFamily="49" charset="-122"/>
              </a:rPr>
              <a:t>正交振幅调制：</a:t>
            </a:r>
            <a:r>
              <a:rPr lang="en-US" altLang="zh-CN" dirty="0" smtClean="0">
                <a:ea typeface="黑体" panose="02010609060101010101" pitchFamily="49" charset="-122"/>
              </a:rPr>
              <a:t>3</a:t>
            </a:r>
            <a:r>
              <a:rPr lang="zh-CN" altLang="en-US" dirty="0" smtClean="0">
                <a:ea typeface="黑体" panose="02010609060101010101" pitchFamily="49" charset="-122"/>
              </a:rPr>
              <a:t>个码元</a:t>
            </a:r>
            <a:endParaRPr lang="en-US" altLang="zh-CN" dirty="0" smtClean="0">
              <a:ea typeface="黑体" panose="02010609060101010101" pitchFamily="49" charset="-122"/>
            </a:endParaRPr>
          </a:p>
          <a:p>
            <a:pPr marL="0" indent="0">
              <a:buNone/>
            </a:pPr>
            <a:r>
              <a:rPr lang="en-US" altLang="zh-CN" dirty="0">
                <a:ea typeface="黑体" panose="02010609060101010101" pitchFamily="49" charset="-122"/>
              </a:rPr>
              <a:t> </a:t>
            </a:r>
            <a:r>
              <a:rPr lang="en-US" altLang="zh-CN" dirty="0" smtClean="0">
                <a:ea typeface="黑体" panose="02010609060101010101" pitchFamily="49" charset="-122"/>
              </a:rPr>
              <a:t>           </a:t>
            </a:r>
            <a:endParaRPr lang="zh-CN" altLang="en-US" dirty="0" smtClean="0">
              <a:ea typeface="黑体" panose="02010609060101010101" pitchFamily="49" charset="-122"/>
            </a:endParaRPr>
          </a:p>
        </p:txBody>
      </p:sp>
      <p:sp>
        <p:nvSpPr>
          <p:cNvPr id="3031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2BD1C9-F863-4FA7-A07D-3BAF9C9FAE80}" type="slidenum">
              <a:rPr lang="zh-CN" altLang="en-US" smtClean="0"/>
              <a:pPr eaLnBrk="1" hangingPunct="1"/>
              <a:t>26</a:t>
            </a:fld>
            <a:endParaRPr lang="en-US" altLang="zh-CN" smtClean="0"/>
          </a:p>
        </p:txBody>
      </p:sp>
      <p:sp>
        <p:nvSpPr>
          <p:cNvPr id="3031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  </a:t>
            </a:r>
            <a:r>
              <a:rPr lang="zh-CN" altLang="zh-CN" smtClean="0">
                <a:ea typeface="黑体" panose="02010609060101010101" pitchFamily="49" charset="-122"/>
              </a:rPr>
              <a:t>物理层下面的传输媒体</a:t>
            </a:r>
            <a:endParaRPr lang="zh-CN" altLang="en-US" smtClean="0">
              <a:ea typeface="黑体" panose="02010609060101010101" pitchFamily="49" charset="-122"/>
            </a:endParaRPr>
          </a:p>
        </p:txBody>
      </p:sp>
      <p:sp>
        <p:nvSpPr>
          <p:cNvPr id="15363" name="Rectangle 3"/>
          <p:cNvSpPr>
            <a:spLocks noGrp="1" noChangeArrowheads="1"/>
          </p:cNvSpPr>
          <p:nvPr>
            <p:ph idx="1"/>
          </p:nvPr>
        </p:nvSpPr>
        <p:spPr>
          <a:xfrm>
            <a:off x="495300" y="1196975"/>
            <a:ext cx="9066213" cy="4933950"/>
          </a:xfrm>
        </p:spPr>
        <p:txBody>
          <a:bodyPr/>
          <a:lstStyle/>
          <a:p>
            <a:pPr eaLnBrk="1" hangingPunct="1"/>
            <a:r>
              <a:rPr lang="en-US" altLang="zh-CN" smtClean="0">
                <a:ea typeface="黑体" panose="02010609060101010101" pitchFamily="49" charset="-122"/>
              </a:rPr>
              <a:t>2.3.1  </a:t>
            </a:r>
            <a:r>
              <a:rPr lang="zh-CN" altLang="zh-CN" smtClean="0">
                <a:ea typeface="黑体" panose="02010609060101010101" pitchFamily="49" charset="-122"/>
              </a:rPr>
              <a:t>导引型传输媒体</a:t>
            </a:r>
          </a:p>
          <a:p>
            <a:pPr eaLnBrk="1" hangingPunct="1"/>
            <a:r>
              <a:rPr lang="en-US" altLang="zh-CN" smtClean="0">
                <a:ea typeface="黑体" panose="02010609060101010101" pitchFamily="49" charset="-122"/>
              </a:rPr>
              <a:t>2.3.2  </a:t>
            </a:r>
            <a:r>
              <a:rPr lang="zh-CN" altLang="zh-CN" smtClean="0">
                <a:ea typeface="黑体" panose="02010609060101010101" pitchFamily="49" charset="-122"/>
              </a:rPr>
              <a:t>非导引型传输媒体</a:t>
            </a:r>
          </a:p>
        </p:txBody>
      </p:sp>
      <p:sp>
        <p:nvSpPr>
          <p:cNvPr id="153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2C17F01-EB81-4BE6-A165-0DF24E6282CE}" type="slidenum">
              <a:rPr altLang="en-US" smtClean="0"/>
              <a:pPr/>
              <a:t>27</a:t>
            </a:fld>
            <a:endParaRPr lang="zh-CN" altLang="zh-CN" smtClean="0"/>
          </a:p>
        </p:txBody>
      </p:sp>
      <p:sp>
        <p:nvSpPr>
          <p:cNvPr id="153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703515036"/>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  </a:t>
            </a:r>
            <a:r>
              <a:rPr lang="zh-CN" altLang="zh-CN" smtClean="0">
                <a:ea typeface="黑体" panose="02010609060101010101" pitchFamily="49" charset="-122"/>
              </a:rPr>
              <a:t>物理层下面的传输媒体</a:t>
            </a:r>
            <a:endParaRPr lang="zh-CN" altLang="en-US" smtClean="0">
              <a:ea typeface="黑体" panose="02010609060101010101" pitchFamily="49" charset="-122"/>
            </a:endParaRPr>
          </a:p>
        </p:txBody>
      </p:sp>
      <p:sp>
        <p:nvSpPr>
          <p:cNvPr id="17411" name="Rectangle 3"/>
          <p:cNvSpPr>
            <a:spLocks noGrp="1" noChangeArrowheads="1"/>
          </p:cNvSpPr>
          <p:nvPr>
            <p:ph idx="1"/>
          </p:nvPr>
        </p:nvSpPr>
        <p:spPr>
          <a:xfrm>
            <a:off x="495300" y="1196975"/>
            <a:ext cx="9066213" cy="4933950"/>
          </a:xfrm>
        </p:spPr>
        <p:txBody>
          <a:bodyPr/>
          <a:lstStyle/>
          <a:p>
            <a:pPr eaLnBrk="1" hangingPunct="1">
              <a:lnSpc>
                <a:spcPct val="100000"/>
              </a:lnSpc>
            </a:pPr>
            <a:r>
              <a:rPr lang="zh-CN" altLang="zh-CN" smtClean="0">
                <a:solidFill>
                  <a:srgbClr val="FF0000"/>
                </a:solidFill>
                <a:ea typeface="黑体" panose="02010609060101010101" pitchFamily="49" charset="-122"/>
              </a:rPr>
              <a:t>传输媒体也称为传输介质或传输媒介，</a:t>
            </a:r>
            <a:r>
              <a:rPr lang="zh-CN" altLang="zh-CN" smtClean="0">
                <a:ea typeface="黑体" panose="02010609060101010101" pitchFamily="49" charset="-122"/>
              </a:rPr>
              <a:t>它就是数据传输系统中在发送器和接收器之间的物理通路</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zh-CN" smtClean="0">
                <a:ea typeface="黑体" panose="02010609060101010101" pitchFamily="49" charset="-122"/>
              </a:rPr>
              <a:t>传输媒体可分为两大类，即导引型传输媒体和非导引型传输媒体</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zh-CN" smtClean="0">
                <a:solidFill>
                  <a:srgbClr val="FF0000"/>
                </a:solidFill>
                <a:ea typeface="黑体" panose="02010609060101010101" pitchFamily="49" charset="-122"/>
              </a:rPr>
              <a:t>在导引型传输媒体中，</a:t>
            </a:r>
            <a:r>
              <a:rPr lang="zh-CN" altLang="zh-CN" smtClean="0">
                <a:ea typeface="黑体" panose="02010609060101010101" pitchFamily="49" charset="-122"/>
              </a:rPr>
              <a:t>电磁波被导引沿着固体媒体（铜线或光纤）传播</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zh-CN" smtClean="0">
                <a:solidFill>
                  <a:srgbClr val="FF0000"/>
                </a:solidFill>
                <a:ea typeface="黑体" panose="02010609060101010101" pitchFamily="49" charset="-122"/>
              </a:rPr>
              <a:t>非导引型传输媒体就是指自由空间</a:t>
            </a:r>
            <a:r>
              <a:rPr lang="zh-CN" altLang="en-US" smtClean="0">
                <a:solidFill>
                  <a:srgbClr val="FF0000"/>
                </a:solidFill>
                <a:ea typeface="黑体" panose="02010609060101010101" pitchFamily="49" charset="-122"/>
              </a:rPr>
              <a:t>。</a:t>
            </a:r>
            <a:r>
              <a:rPr lang="zh-CN" altLang="zh-CN" smtClean="0">
                <a:ea typeface="黑体" panose="02010609060101010101" pitchFamily="49" charset="-122"/>
              </a:rPr>
              <a:t>在非导引型传输媒体中</a:t>
            </a:r>
            <a:r>
              <a:rPr lang="zh-CN" altLang="en-US" smtClean="0">
                <a:ea typeface="黑体" panose="02010609060101010101" pitchFamily="49" charset="-122"/>
              </a:rPr>
              <a:t>，</a:t>
            </a:r>
            <a:r>
              <a:rPr lang="zh-CN" altLang="zh-CN" smtClean="0">
                <a:ea typeface="黑体" panose="02010609060101010101" pitchFamily="49" charset="-122"/>
              </a:rPr>
              <a:t>电磁波的传输常称为无线传输。</a:t>
            </a:r>
          </a:p>
        </p:txBody>
      </p:sp>
      <p:sp>
        <p:nvSpPr>
          <p:cNvPr id="174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B15BE2-BCAE-4531-B36B-EFEC617AF565}" type="slidenum">
              <a:rPr altLang="en-US" smtClean="0"/>
              <a:pPr/>
              <a:t>28</a:t>
            </a:fld>
            <a:endParaRPr lang="zh-CN" altLang="zh-CN" smtClean="0"/>
          </a:p>
        </p:txBody>
      </p:sp>
      <p:sp>
        <p:nvSpPr>
          <p:cNvPr id="174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1940469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smtClean="0">
                <a:ea typeface="黑体" panose="02010609060101010101" pitchFamily="49" charset="-122"/>
              </a:rPr>
              <a:t>2.3  </a:t>
            </a:r>
            <a:r>
              <a:rPr lang="zh-CN" altLang="en-US" smtClean="0">
                <a:ea typeface="黑体" panose="02010609060101010101" pitchFamily="49" charset="-122"/>
              </a:rPr>
              <a:t>物理层下面的传输媒体</a:t>
            </a:r>
          </a:p>
        </p:txBody>
      </p:sp>
      <p:sp>
        <p:nvSpPr>
          <p:cNvPr id="19459" name="Line 6"/>
          <p:cNvSpPr>
            <a:spLocks noChangeShapeType="1"/>
          </p:cNvSpPr>
          <p:nvPr/>
        </p:nvSpPr>
        <p:spPr bwMode="auto">
          <a:xfrm>
            <a:off x="6383338" y="2887663"/>
            <a:ext cx="2544762" cy="83820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 name="Rectangle 7"/>
          <p:cNvSpPr>
            <a:spLocks noChangeArrowheads="1"/>
          </p:cNvSpPr>
          <p:nvPr/>
        </p:nvSpPr>
        <p:spPr bwMode="auto">
          <a:xfrm>
            <a:off x="8213725" y="3413125"/>
            <a:ext cx="392113" cy="238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1" name="Line 8"/>
          <p:cNvSpPr>
            <a:spLocks noChangeShapeType="1"/>
          </p:cNvSpPr>
          <p:nvPr/>
        </p:nvSpPr>
        <p:spPr bwMode="auto">
          <a:xfrm flipV="1">
            <a:off x="1304925" y="2887663"/>
            <a:ext cx="1270000" cy="83820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2" name="Rectangle 9"/>
          <p:cNvSpPr>
            <a:spLocks noChangeArrowheads="1"/>
          </p:cNvSpPr>
          <p:nvPr/>
        </p:nvSpPr>
        <p:spPr bwMode="auto">
          <a:xfrm>
            <a:off x="1196975" y="3413125"/>
            <a:ext cx="350838" cy="219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3" name="Line 10"/>
          <p:cNvSpPr>
            <a:spLocks noChangeShapeType="1"/>
          </p:cNvSpPr>
          <p:nvPr/>
        </p:nvSpPr>
        <p:spPr bwMode="auto">
          <a:xfrm>
            <a:off x="2571750" y="370681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4" name="Rectangle 11"/>
          <p:cNvSpPr>
            <a:spLocks noChangeArrowheads="1"/>
          </p:cNvSpPr>
          <p:nvPr/>
        </p:nvSpPr>
        <p:spPr bwMode="auto">
          <a:xfrm>
            <a:off x="2443163" y="4460875"/>
            <a:ext cx="347662" cy="5603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5" name="Line 12"/>
          <p:cNvSpPr>
            <a:spLocks noChangeShapeType="1"/>
          </p:cNvSpPr>
          <p:nvPr/>
        </p:nvSpPr>
        <p:spPr bwMode="auto">
          <a:xfrm>
            <a:off x="1944688" y="3709988"/>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Rectangle 13"/>
          <p:cNvSpPr>
            <a:spLocks noChangeArrowheads="1"/>
          </p:cNvSpPr>
          <p:nvPr/>
        </p:nvSpPr>
        <p:spPr bwMode="auto">
          <a:xfrm>
            <a:off x="1852613" y="4479925"/>
            <a:ext cx="214312" cy="568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7" name="Rectangle 14"/>
          <p:cNvSpPr>
            <a:spLocks noChangeArrowheads="1"/>
          </p:cNvSpPr>
          <p:nvPr/>
        </p:nvSpPr>
        <p:spPr bwMode="auto">
          <a:xfrm>
            <a:off x="1836738" y="3749675"/>
            <a:ext cx="242887"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8" name="Line 15"/>
          <p:cNvSpPr>
            <a:spLocks noChangeShapeType="1"/>
          </p:cNvSpPr>
          <p:nvPr/>
        </p:nvSpPr>
        <p:spPr bwMode="auto">
          <a:xfrm>
            <a:off x="3209925" y="371316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Rectangle 16"/>
          <p:cNvSpPr>
            <a:spLocks noChangeArrowheads="1"/>
          </p:cNvSpPr>
          <p:nvPr/>
        </p:nvSpPr>
        <p:spPr bwMode="auto">
          <a:xfrm>
            <a:off x="2765425" y="4102100"/>
            <a:ext cx="903288" cy="2825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70" name="Line 17"/>
          <p:cNvSpPr>
            <a:spLocks noChangeShapeType="1"/>
          </p:cNvSpPr>
          <p:nvPr/>
        </p:nvSpPr>
        <p:spPr bwMode="auto">
          <a:xfrm>
            <a:off x="3843338" y="371951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Rectangle 18"/>
          <p:cNvSpPr>
            <a:spLocks noChangeArrowheads="1"/>
          </p:cNvSpPr>
          <p:nvPr/>
        </p:nvSpPr>
        <p:spPr bwMode="auto">
          <a:xfrm>
            <a:off x="3695700" y="4487863"/>
            <a:ext cx="288925" cy="496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72" name="Line 19"/>
          <p:cNvSpPr>
            <a:spLocks noChangeShapeType="1"/>
          </p:cNvSpPr>
          <p:nvPr/>
        </p:nvSpPr>
        <p:spPr bwMode="auto">
          <a:xfrm>
            <a:off x="5114925" y="371316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3" name="Rectangle 20"/>
          <p:cNvSpPr>
            <a:spLocks noChangeArrowheads="1"/>
          </p:cNvSpPr>
          <p:nvPr/>
        </p:nvSpPr>
        <p:spPr bwMode="auto">
          <a:xfrm>
            <a:off x="5027613" y="4175125"/>
            <a:ext cx="250825"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74" name="Line 21"/>
          <p:cNvSpPr>
            <a:spLocks noChangeShapeType="1"/>
          </p:cNvSpPr>
          <p:nvPr/>
        </p:nvSpPr>
        <p:spPr bwMode="auto">
          <a:xfrm>
            <a:off x="1296988" y="2506663"/>
            <a:ext cx="8172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5" name="Line 22"/>
          <p:cNvSpPr>
            <a:spLocks noChangeShapeType="1"/>
          </p:cNvSpPr>
          <p:nvPr/>
        </p:nvSpPr>
        <p:spPr bwMode="auto">
          <a:xfrm>
            <a:off x="1317625" y="2887663"/>
            <a:ext cx="8172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6" name="Line 23"/>
          <p:cNvSpPr>
            <a:spLocks noChangeShapeType="1"/>
          </p:cNvSpPr>
          <p:nvPr/>
        </p:nvSpPr>
        <p:spPr bwMode="auto">
          <a:xfrm>
            <a:off x="1292225" y="2506663"/>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Line 24"/>
          <p:cNvSpPr>
            <a:spLocks noChangeShapeType="1"/>
          </p:cNvSpPr>
          <p:nvPr/>
        </p:nvSpPr>
        <p:spPr bwMode="auto">
          <a:xfrm>
            <a:off x="3686175" y="2511425"/>
            <a:ext cx="0" cy="376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25"/>
          <p:cNvSpPr>
            <a:spLocks noChangeShapeType="1"/>
          </p:cNvSpPr>
          <p:nvPr/>
        </p:nvSpPr>
        <p:spPr bwMode="auto">
          <a:xfrm>
            <a:off x="2582863" y="2522538"/>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26"/>
          <p:cNvSpPr>
            <a:spLocks noChangeShapeType="1"/>
          </p:cNvSpPr>
          <p:nvPr/>
        </p:nvSpPr>
        <p:spPr bwMode="auto">
          <a:xfrm>
            <a:off x="5988050" y="2506663"/>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0" name="Line 27"/>
          <p:cNvSpPr>
            <a:spLocks noChangeShapeType="1"/>
          </p:cNvSpPr>
          <p:nvPr/>
        </p:nvSpPr>
        <p:spPr bwMode="auto">
          <a:xfrm>
            <a:off x="8382000" y="2516188"/>
            <a:ext cx="0" cy="3667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1" name="Line 28"/>
          <p:cNvSpPr>
            <a:spLocks noChangeShapeType="1"/>
          </p:cNvSpPr>
          <p:nvPr/>
        </p:nvSpPr>
        <p:spPr bwMode="auto">
          <a:xfrm flipV="1">
            <a:off x="1300163" y="3713163"/>
            <a:ext cx="7637462"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2" name="Text Box 29"/>
          <p:cNvSpPr txBox="1">
            <a:spLocks noChangeArrowheads="1"/>
          </p:cNvSpPr>
          <p:nvPr/>
        </p:nvSpPr>
        <p:spPr bwMode="auto">
          <a:xfrm>
            <a:off x="2774950" y="2525713"/>
            <a:ext cx="800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dirty="0">
                <a:solidFill>
                  <a:srgbClr val="000099"/>
                </a:solidFill>
                <a:ea typeface="黑体" panose="02010609060101010101" pitchFamily="49" charset="-122"/>
              </a:rPr>
              <a:t>无线电</a:t>
            </a:r>
          </a:p>
        </p:txBody>
      </p:sp>
      <p:sp>
        <p:nvSpPr>
          <p:cNvPr id="19483" name="Text Box 30"/>
          <p:cNvSpPr txBox="1">
            <a:spLocks noChangeArrowheads="1"/>
          </p:cNvSpPr>
          <p:nvPr/>
        </p:nvSpPr>
        <p:spPr bwMode="auto">
          <a:xfrm>
            <a:off x="3838575" y="252571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微波</a:t>
            </a:r>
          </a:p>
        </p:txBody>
      </p:sp>
      <p:sp>
        <p:nvSpPr>
          <p:cNvPr id="19484" name="Line 31"/>
          <p:cNvSpPr>
            <a:spLocks noChangeShapeType="1"/>
          </p:cNvSpPr>
          <p:nvPr/>
        </p:nvSpPr>
        <p:spPr bwMode="auto">
          <a:xfrm>
            <a:off x="4829175" y="2506663"/>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5" name="Line 32"/>
          <p:cNvSpPr>
            <a:spLocks noChangeShapeType="1"/>
          </p:cNvSpPr>
          <p:nvPr/>
        </p:nvSpPr>
        <p:spPr bwMode="auto">
          <a:xfrm>
            <a:off x="5881688" y="2506663"/>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6" name="Text Box 33"/>
          <p:cNvSpPr txBox="1">
            <a:spLocks noChangeArrowheads="1"/>
          </p:cNvSpPr>
          <p:nvPr/>
        </p:nvSpPr>
        <p:spPr bwMode="auto">
          <a:xfrm>
            <a:off x="4965700" y="2525713"/>
            <a:ext cx="801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红外线</a:t>
            </a:r>
          </a:p>
        </p:txBody>
      </p:sp>
      <p:sp>
        <p:nvSpPr>
          <p:cNvPr id="19487" name="Text Box 34"/>
          <p:cNvSpPr txBox="1">
            <a:spLocks noChangeArrowheads="1"/>
          </p:cNvSpPr>
          <p:nvPr/>
        </p:nvSpPr>
        <p:spPr bwMode="auto">
          <a:xfrm>
            <a:off x="5254625" y="3040063"/>
            <a:ext cx="801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可见光</a:t>
            </a:r>
          </a:p>
        </p:txBody>
      </p:sp>
      <p:sp>
        <p:nvSpPr>
          <p:cNvPr id="19488" name="Text Box 35"/>
          <p:cNvSpPr txBox="1">
            <a:spLocks noChangeArrowheads="1"/>
          </p:cNvSpPr>
          <p:nvPr/>
        </p:nvSpPr>
        <p:spPr bwMode="auto">
          <a:xfrm>
            <a:off x="6121400" y="3040063"/>
            <a:ext cx="801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紫外线</a:t>
            </a:r>
          </a:p>
        </p:txBody>
      </p:sp>
      <p:sp>
        <p:nvSpPr>
          <p:cNvPr id="19489" name="Line 36"/>
          <p:cNvSpPr>
            <a:spLocks noChangeShapeType="1"/>
          </p:cNvSpPr>
          <p:nvPr/>
        </p:nvSpPr>
        <p:spPr bwMode="auto">
          <a:xfrm>
            <a:off x="6397625" y="2506663"/>
            <a:ext cx="0" cy="38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0" name="Text Box 37"/>
          <p:cNvSpPr txBox="1">
            <a:spLocks noChangeArrowheads="1"/>
          </p:cNvSpPr>
          <p:nvPr/>
        </p:nvSpPr>
        <p:spPr bwMode="auto">
          <a:xfrm>
            <a:off x="6892925" y="2525713"/>
            <a:ext cx="7334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X</a:t>
            </a:r>
            <a:r>
              <a:rPr lang="zh-CN" altLang="en-US" sz="1600" b="1">
                <a:solidFill>
                  <a:srgbClr val="000099"/>
                </a:solidFill>
                <a:ea typeface="黑体" panose="02010609060101010101" pitchFamily="49" charset="-122"/>
              </a:rPr>
              <a:t>射线</a:t>
            </a:r>
          </a:p>
        </p:txBody>
      </p:sp>
      <p:sp>
        <p:nvSpPr>
          <p:cNvPr id="19491" name="Text Box 38"/>
          <p:cNvSpPr txBox="1">
            <a:spLocks noChangeArrowheads="1"/>
          </p:cNvSpPr>
          <p:nvPr/>
        </p:nvSpPr>
        <p:spPr bwMode="auto">
          <a:xfrm>
            <a:off x="8543925" y="2493963"/>
            <a:ext cx="2698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sym typeface="Symbol" panose="05050102010706020507" pitchFamily="18" charset="2"/>
              </a:rPr>
              <a:t></a:t>
            </a:r>
          </a:p>
        </p:txBody>
      </p:sp>
      <p:sp>
        <p:nvSpPr>
          <p:cNvPr id="19492" name="Text Box 39"/>
          <p:cNvSpPr txBox="1">
            <a:spLocks noChangeArrowheads="1"/>
          </p:cNvSpPr>
          <p:nvPr/>
        </p:nvSpPr>
        <p:spPr bwMode="auto">
          <a:xfrm>
            <a:off x="8705850" y="2525713"/>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射线</a:t>
            </a:r>
          </a:p>
        </p:txBody>
      </p:sp>
      <p:sp>
        <p:nvSpPr>
          <p:cNvPr id="19493" name="Text Box 40"/>
          <p:cNvSpPr txBox="1">
            <a:spLocks noChangeArrowheads="1"/>
          </p:cNvSpPr>
          <p:nvPr/>
        </p:nvSpPr>
        <p:spPr bwMode="auto">
          <a:xfrm>
            <a:off x="1538288" y="3713163"/>
            <a:ext cx="800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双绞线</a:t>
            </a:r>
          </a:p>
        </p:txBody>
      </p:sp>
      <p:sp>
        <p:nvSpPr>
          <p:cNvPr id="19494" name="Line 41"/>
          <p:cNvSpPr>
            <a:spLocks noChangeShapeType="1"/>
          </p:cNvSpPr>
          <p:nvPr/>
        </p:nvSpPr>
        <p:spPr bwMode="auto">
          <a:xfrm>
            <a:off x="1300163" y="4030663"/>
            <a:ext cx="146526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5" name="Text Box 42"/>
          <p:cNvSpPr txBox="1">
            <a:spLocks noChangeArrowheads="1"/>
          </p:cNvSpPr>
          <p:nvPr/>
        </p:nvSpPr>
        <p:spPr bwMode="auto">
          <a:xfrm>
            <a:off x="2665413" y="4054475"/>
            <a:ext cx="10048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同轴电缆</a:t>
            </a:r>
          </a:p>
        </p:txBody>
      </p:sp>
      <p:sp>
        <p:nvSpPr>
          <p:cNvPr id="19496" name="Line 43"/>
          <p:cNvSpPr>
            <a:spLocks noChangeShapeType="1"/>
          </p:cNvSpPr>
          <p:nvPr/>
        </p:nvSpPr>
        <p:spPr bwMode="auto">
          <a:xfrm>
            <a:off x="1939925" y="4403725"/>
            <a:ext cx="247650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7" name="Text Box 44"/>
          <p:cNvSpPr txBox="1">
            <a:spLocks noChangeArrowheads="1"/>
          </p:cNvSpPr>
          <p:nvPr/>
        </p:nvSpPr>
        <p:spPr bwMode="auto">
          <a:xfrm>
            <a:off x="4498975" y="3717925"/>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卫星</a:t>
            </a:r>
          </a:p>
        </p:txBody>
      </p:sp>
      <p:sp>
        <p:nvSpPr>
          <p:cNvPr id="19498" name="Line 45"/>
          <p:cNvSpPr>
            <a:spLocks noChangeShapeType="1"/>
          </p:cNvSpPr>
          <p:nvPr/>
        </p:nvSpPr>
        <p:spPr bwMode="auto">
          <a:xfrm>
            <a:off x="4251325" y="4060825"/>
            <a:ext cx="123825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9" name="Text Box 46"/>
          <p:cNvSpPr txBox="1">
            <a:spLocks noChangeArrowheads="1"/>
          </p:cNvSpPr>
          <p:nvPr/>
        </p:nvSpPr>
        <p:spPr bwMode="auto">
          <a:xfrm>
            <a:off x="4660900" y="4137025"/>
            <a:ext cx="10048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地面微波</a:t>
            </a:r>
          </a:p>
        </p:txBody>
      </p:sp>
      <p:sp>
        <p:nvSpPr>
          <p:cNvPr id="19500" name="Line 47"/>
          <p:cNvSpPr>
            <a:spLocks noChangeShapeType="1"/>
          </p:cNvSpPr>
          <p:nvPr/>
        </p:nvSpPr>
        <p:spPr bwMode="auto">
          <a:xfrm>
            <a:off x="4649788" y="4487863"/>
            <a:ext cx="101758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1" name="Text Box 48"/>
          <p:cNvSpPr txBox="1">
            <a:spLocks noChangeArrowheads="1"/>
          </p:cNvSpPr>
          <p:nvPr/>
        </p:nvSpPr>
        <p:spPr bwMode="auto">
          <a:xfrm>
            <a:off x="2187575" y="4519613"/>
            <a:ext cx="8001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调幅</a:t>
            </a:r>
          </a:p>
          <a:p>
            <a:pPr>
              <a:lnSpc>
                <a:spcPct val="90000"/>
              </a:lnSpc>
            </a:pPr>
            <a:r>
              <a:rPr lang="zh-CN" altLang="en-US" sz="1600" b="1">
                <a:solidFill>
                  <a:srgbClr val="000099"/>
                </a:solidFill>
                <a:ea typeface="黑体" panose="02010609060101010101" pitchFamily="49" charset="-122"/>
              </a:rPr>
              <a:t>无线电</a:t>
            </a:r>
          </a:p>
        </p:txBody>
      </p:sp>
      <p:sp>
        <p:nvSpPr>
          <p:cNvPr id="19502" name="Text Box 49"/>
          <p:cNvSpPr txBox="1">
            <a:spLocks noChangeArrowheads="1"/>
          </p:cNvSpPr>
          <p:nvPr/>
        </p:nvSpPr>
        <p:spPr bwMode="auto">
          <a:xfrm>
            <a:off x="3343275" y="4467225"/>
            <a:ext cx="8001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调频</a:t>
            </a:r>
          </a:p>
          <a:p>
            <a:pPr>
              <a:lnSpc>
                <a:spcPct val="90000"/>
              </a:lnSpc>
            </a:pPr>
            <a:r>
              <a:rPr lang="zh-CN" altLang="en-US" sz="1600" b="1">
                <a:solidFill>
                  <a:srgbClr val="000099"/>
                </a:solidFill>
                <a:ea typeface="黑体" panose="02010609060101010101" pitchFamily="49" charset="-122"/>
              </a:rPr>
              <a:t>无线电</a:t>
            </a:r>
          </a:p>
        </p:txBody>
      </p:sp>
      <p:sp>
        <p:nvSpPr>
          <p:cNvPr id="19503" name="Text Box 50"/>
          <p:cNvSpPr txBox="1">
            <a:spLocks noChangeArrowheads="1"/>
          </p:cNvSpPr>
          <p:nvPr/>
        </p:nvSpPr>
        <p:spPr bwMode="auto">
          <a:xfrm>
            <a:off x="1400175" y="4522788"/>
            <a:ext cx="8001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海事</a:t>
            </a:r>
          </a:p>
          <a:p>
            <a:pPr>
              <a:lnSpc>
                <a:spcPct val="90000"/>
              </a:lnSpc>
            </a:pPr>
            <a:r>
              <a:rPr lang="zh-CN" altLang="en-US" sz="1600" b="1">
                <a:solidFill>
                  <a:srgbClr val="000099"/>
                </a:solidFill>
                <a:ea typeface="黑体" panose="02010609060101010101" pitchFamily="49" charset="-122"/>
              </a:rPr>
              <a:t>无线电</a:t>
            </a:r>
          </a:p>
        </p:txBody>
      </p:sp>
      <p:sp>
        <p:nvSpPr>
          <p:cNvPr id="19504" name="Line 51"/>
          <p:cNvSpPr>
            <a:spLocks noChangeShapeType="1"/>
          </p:cNvSpPr>
          <p:nvPr/>
        </p:nvSpPr>
        <p:spPr bwMode="auto">
          <a:xfrm>
            <a:off x="3632200" y="5021263"/>
            <a:ext cx="466725"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5" name="Text Box 52"/>
          <p:cNvSpPr txBox="1">
            <a:spLocks noChangeArrowheads="1"/>
          </p:cNvSpPr>
          <p:nvPr/>
        </p:nvSpPr>
        <p:spPr bwMode="auto">
          <a:xfrm>
            <a:off x="7662863" y="3741738"/>
            <a:ext cx="5953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光纤</a:t>
            </a:r>
          </a:p>
        </p:txBody>
      </p:sp>
      <p:sp>
        <p:nvSpPr>
          <p:cNvPr id="19506" name="Line 53"/>
          <p:cNvSpPr>
            <a:spLocks noChangeShapeType="1"/>
          </p:cNvSpPr>
          <p:nvPr/>
        </p:nvSpPr>
        <p:spPr bwMode="auto">
          <a:xfrm>
            <a:off x="7635875" y="4073525"/>
            <a:ext cx="646113"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7" name="Text Box 54"/>
          <p:cNvSpPr txBox="1">
            <a:spLocks noChangeArrowheads="1"/>
          </p:cNvSpPr>
          <p:nvPr/>
        </p:nvSpPr>
        <p:spPr bwMode="auto">
          <a:xfrm>
            <a:off x="3838575" y="506571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电视</a:t>
            </a:r>
          </a:p>
        </p:txBody>
      </p:sp>
      <p:sp>
        <p:nvSpPr>
          <p:cNvPr id="19508" name="Line 55"/>
          <p:cNvSpPr>
            <a:spLocks noChangeShapeType="1"/>
          </p:cNvSpPr>
          <p:nvPr/>
        </p:nvSpPr>
        <p:spPr bwMode="auto">
          <a:xfrm flipV="1">
            <a:off x="5737225" y="2659063"/>
            <a:ext cx="206375" cy="45720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9" name="Line 56"/>
          <p:cNvSpPr>
            <a:spLocks noChangeShapeType="1"/>
          </p:cNvSpPr>
          <p:nvPr/>
        </p:nvSpPr>
        <p:spPr bwMode="auto">
          <a:xfrm flipH="1" flipV="1">
            <a:off x="6203950" y="2659063"/>
            <a:ext cx="90488" cy="454025"/>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0" name="Line 57"/>
          <p:cNvSpPr>
            <a:spLocks noChangeShapeType="1"/>
          </p:cNvSpPr>
          <p:nvPr/>
        </p:nvSpPr>
        <p:spPr bwMode="auto">
          <a:xfrm>
            <a:off x="1444625" y="5097463"/>
            <a:ext cx="74295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1" name="Line 58"/>
          <p:cNvSpPr>
            <a:spLocks noChangeShapeType="1"/>
          </p:cNvSpPr>
          <p:nvPr/>
        </p:nvSpPr>
        <p:spPr bwMode="auto">
          <a:xfrm>
            <a:off x="2352675" y="5097463"/>
            <a:ext cx="49530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2" name="Line 59"/>
          <p:cNvSpPr>
            <a:spLocks noChangeShapeType="1"/>
          </p:cNvSpPr>
          <p:nvPr/>
        </p:nvSpPr>
        <p:spPr bwMode="auto">
          <a:xfrm>
            <a:off x="3673475" y="5402263"/>
            <a:ext cx="811213"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3" name="Line 60"/>
          <p:cNvSpPr>
            <a:spLocks noChangeShapeType="1"/>
          </p:cNvSpPr>
          <p:nvPr/>
        </p:nvSpPr>
        <p:spPr bwMode="auto">
          <a:xfrm>
            <a:off x="1295400" y="5470525"/>
            <a:ext cx="76469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4" name="Line 61"/>
          <p:cNvSpPr>
            <a:spLocks noChangeShapeType="1"/>
          </p:cNvSpPr>
          <p:nvPr/>
        </p:nvSpPr>
        <p:spPr bwMode="auto">
          <a:xfrm>
            <a:off x="1306513" y="371792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5" name="Line 62"/>
          <p:cNvSpPr>
            <a:spLocks noChangeShapeType="1"/>
          </p:cNvSpPr>
          <p:nvPr/>
        </p:nvSpPr>
        <p:spPr bwMode="auto">
          <a:xfrm>
            <a:off x="4481513" y="371157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6" name="Line 63"/>
          <p:cNvSpPr>
            <a:spLocks noChangeShapeType="1"/>
          </p:cNvSpPr>
          <p:nvPr/>
        </p:nvSpPr>
        <p:spPr bwMode="auto">
          <a:xfrm>
            <a:off x="5746750" y="371951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7" name="Line 64"/>
          <p:cNvSpPr>
            <a:spLocks noChangeShapeType="1"/>
          </p:cNvSpPr>
          <p:nvPr/>
        </p:nvSpPr>
        <p:spPr bwMode="auto">
          <a:xfrm>
            <a:off x="6380163" y="3716338"/>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8" name="Line 65"/>
          <p:cNvSpPr>
            <a:spLocks noChangeShapeType="1"/>
          </p:cNvSpPr>
          <p:nvPr/>
        </p:nvSpPr>
        <p:spPr bwMode="auto">
          <a:xfrm>
            <a:off x="7018338" y="371792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9" name="Line 66"/>
          <p:cNvSpPr>
            <a:spLocks noChangeShapeType="1"/>
          </p:cNvSpPr>
          <p:nvPr/>
        </p:nvSpPr>
        <p:spPr bwMode="auto">
          <a:xfrm>
            <a:off x="7656513" y="3729038"/>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0" name="Line 67"/>
          <p:cNvSpPr>
            <a:spLocks noChangeShapeType="1"/>
          </p:cNvSpPr>
          <p:nvPr/>
        </p:nvSpPr>
        <p:spPr bwMode="auto">
          <a:xfrm>
            <a:off x="8288338" y="3721100"/>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1" name="Line 68"/>
          <p:cNvSpPr>
            <a:spLocks noChangeShapeType="1"/>
          </p:cNvSpPr>
          <p:nvPr/>
        </p:nvSpPr>
        <p:spPr bwMode="auto">
          <a:xfrm>
            <a:off x="8926513" y="371792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522" name="Group 69"/>
          <p:cNvGrpSpPr>
            <a:grpSpLocks/>
          </p:cNvGrpSpPr>
          <p:nvPr/>
        </p:nvGrpSpPr>
        <p:grpSpPr bwMode="auto">
          <a:xfrm>
            <a:off x="371475" y="2201863"/>
            <a:ext cx="768350" cy="371475"/>
            <a:chOff x="6" y="352"/>
            <a:chExt cx="447" cy="234"/>
          </a:xfrm>
        </p:grpSpPr>
        <p:sp>
          <p:nvSpPr>
            <p:cNvPr id="19555" name="Text Box 70"/>
            <p:cNvSpPr txBox="1">
              <a:spLocks noChangeArrowheads="1"/>
            </p:cNvSpPr>
            <p:nvPr/>
          </p:nvSpPr>
          <p:spPr bwMode="auto">
            <a:xfrm>
              <a:off x="92" y="353"/>
              <a:ext cx="3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(Hz)</a:t>
              </a:r>
            </a:p>
          </p:txBody>
        </p:sp>
        <p:sp>
          <p:nvSpPr>
            <p:cNvPr id="19556" name="Text Box 71"/>
            <p:cNvSpPr txBox="1">
              <a:spLocks noChangeArrowheads="1"/>
            </p:cNvSpPr>
            <p:nvPr/>
          </p:nvSpPr>
          <p:spPr bwMode="auto">
            <a:xfrm>
              <a:off x="6" y="352"/>
              <a:ext cx="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a:t>
              </a:r>
            </a:p>
          </p:txBody>
        </p:sp>
      </p:grpSp>
      <p:grpSp>
        <p:nvGrpSpPr>
          <p:cNvPr id="19523" name="Group 72"/>
          <p:cNvGrpSpPr>
            <a:grpSpLocks/>
          </p:cNvGrpSpPr>
          <p:nvPr/>
        </p:nvGrpSpPr>
        <p:grpSpPr bwMode="auto">
          <a:xfrm>
            <a:off x="377825" y="3421063"/>
            <a:ext cx="763588" cy="374650"/>
            <a:chOff x="78" y="1589"/>
            <a:chExt cx="444" cy="236"/>
          </a:xfrm>
        </p:grpSpPr>
        <p:sp>
          <p:nvSpPr>
            <p:cNvPr id="19553" name="Text Box 73"/>
            <p:cNvSpPr txBox="1">
              <a:spLocks noChangeArrowheads="1"/>
            </p:cNvSpPr>
            <p:nvPr/>
          </p:nvSpPr>
          <p:spPr bwMode="auto">
            <a:xfrm>
              <a:off x="124" y="1589"/>
              <a:ext cx="3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 (Hz)</a:t>
              </a:r>
            </a:p>
          </p:txBody>
        </p:sp>
        <p:sp>
          <p:nvSpPr>
            <p:cNvPr id="19554" name="Text Box 74"/>
            <p:cNvSpPr txBox="1">
              <a:spLocks noChangeArrowheads="1"/>
            </p:cNvSpPr>
            <p:nvPr/>
          </p:nvSpPr>
          <p:spPr bwMode="auto">
            <a:xfrm>
              <a:off x="78" y="1592"/>
              <a:ext cx="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a:t>
              </a:r>
            </a:p>
          </p:txBody>
        </p:sp>
      </p:grpSp>
      <p:sp>
        <p:nvSpPr>
          <p:cNvPr id="19524" name="Line 75"/>
          <p:cNvSpPr>
            <a:spLocks noChangeShapeType="1"/>
          </p:cNvSpPr>
          <p:nvPr/>
        </p:nvSpPr>
        <p:spPr bwMode="auto">
          <a:xfrm>
            <a:off x="1527175" y="54705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5" name="Line 76"/>
          <p:cNvSpPr>
            <a:spLocks noChangeShapeType="1"/>
          </p:cNvSpPr>
          <p:nvPr/>
        </p:nvSpPr>
        <p:spPr bwMode="auto">
          <a:xfrm>
            <a:off x="2146300"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6" name="Line 77"/>
          <p:cNvSpPr>
            <a:spLocks noChangeShapeType="1"/>
          </p:cNvSpPr>
          <p:nvPr/>
        </p:nvSpPr>
        <p:spPr bwMode="auto">
          <a:xfrm>
            <a:off x="2770188" y="5484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7" name="Line 78"/>
          <p:cNvSpPr>
            <a:spLocks noChangeShapeType="1"/>
          </p:cNvSpPr>
          <p:nvPr/>
        </p:nvSpPr>
        <p:spPr bwMode="auto">
          <a:xfrm>
            <a:off x="3414713"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8" name="Line 79"/>
          <p:cNvSpPr>
            <a:spLocks noChangeShapeType="1"/>
          </p:cNvSpPr>
          <p:nvPr/>
        </p:nvSpPr>
        <p:spPr bwMode="auto">
          <a:xfrm>
            <a:off x="4029075"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9" name="Line 80"/>
          <p:cNvSpPr>
            <a:spLocks noChangeShapeType="1"/>
          </p:cNvSpPr>
          <p:nvPr/>
        </p:nvSpPr>
        <p:spPr bwMode="auto">
          <a:xfrm>
            <a:off x="4673600"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0" name="Line 81"/>
          <p:cNvSpPr>
            <a:spLocks noChangeShapeType="1"/>
          </p:cNvSpPr>
          <p:nvPr/>
        </p:nvSpPr>
        <p:spPr bwMode="auto">
          <a:xfrm>
            <a:off x="5313363"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1" name="Line 82"/>
          <p:cNvSpPr>
            <a:spLocks noChangeShapeType="1"/>
          </p:cNvSpPr>
          <p:nvPr/>
        </p:nvSpPr>
        <p:spPr bwMode="auto">
          <a:xfrm>
            <a:off x="5938838"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2" name="Line 83"/>
          <p:cNvSpPr>
            <a:spLocks noChangeShapeType="1"/>
          </p:cNvSpPr>
          <p:nvPr/>
        </p:nvSpPr>
        <p:spPr bwMode="auto">
          <a:xfrm>
            <a:off x="6588125" y="5484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3" name="Line 84"/>
          <p:cNvSpPr>
            <a:spLocks noChangeShapeType="1"/>
          </p:cNvSpPr>
          <p:nvPr/>
        </p:nvSpPr>
        <p:spPr bwMode="auto">
          <a:xfrm>
            <a:off x="7223125" y="54752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4" name="Line 85"/>
          <p:cNvSpPr>
            <a:spLocks noChangeShapeType="1"/>
          </p:cNvSpPr>
          <p:nvPr/>
        </p:nvSpPr>
        <p:spPr bwMode="auto">
          <a:xfrm>
            <a:off x="7867650" y="5484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5" name="Line 86"/>
          <p:cNvSpPr>
            <a:spLocks noChangeShapeType="1"/>
          </p:cNvSpPr>
          <p:nvPr/>
        </p:nvSpPr>
        <p:spPr bwMode="auto">
          <a:xfrm>
            <a:off x="8507413" y="54752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6" name="Text Box 87"/>
          <p:cNvSpPr txBox="1">
            <a:spLocks noChangeArrowheads="1"/>
          </p:cNvSpPr>
          <p:nvPr/>
        </p:nvSpPr>
        <p:spPr bwMode="auto">
          <a:xfrm>
            <a:off x="1597025" y="5480050"/>
            <a:ext cx="4349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LF</a:t>
            </a:r>
          </a:p>
        </p:txBody>
      </p:sp>
      <p:sp>
        <p:nvSpPr>
          <p:cNvPr id="19537" name="Text Box 88"/>
          <p:cNvSpPr txBox="1">
            <a:spLocks noChangeArrowheads="1"/>
          </p:cNvSpPr>
          <p:nvPr/>
        </p:nvSpPr>
        <p:spPr bwMode="auto">
          <a:xfrm>
            <a:off x="2232025" y="5480050"/>
            <a:ext cx="4810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MF</a:t>
            </a:r>
          </a:p>
        </p:txBody>
      </p:sp>
      <p:sp>
        <p:nvSpPr>
          <p:cNvPr id="19538" name="Text Box 89"/>
          <p:cNvSpPr txBox="1">
            <a:spLocks noChangeArrowheads="1"/>
          </p:cNvSpPr>
          <p:nvPr/>
        </p:nvSpPr>
        <p:spPr bwMode="auto">
          <a:xfrm>
            <a:off x="2867025" y="5480050"/>
            <a:ext cx="457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HF</a:t>
            </a:r>
          </a:p>
        </p:txBody>
      </p:sp>
      <p:sp>
        <p:nvSpPr>
          <p:cNvPr id="19539" name="Text Box 90"/>
          <p:cNvSpPr txBox="1">
            <a:spLocks noChangeArrowheads="1"/>
          </p:cNvSpPr>
          <p:nvPr/>
        </p:nvSpPr>
        <p:spPr bwMode="auto">
          <a:xfrm>
            <a:off x="3429000" y="5480050"/>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VHF</a:t>
            </a:r>
          </a:p>
        </p:txBody>
      </p:sp>
      <p:sp>
        <p:nvSpPr>
          <p:cNvPr id="19540" name="Text Box 91"/>
          <p:cNvSpPr txBox="1">
            <a:spLocks noChangeArrowheads="1"/>
          </p:cNvSpPr>
          <p:nvPr/>
        </p:nvSpPr>
        <p:spPr bwMode="auto">
          <a:xfrm>
            <a:off x="4048125" y="5480050"/>
            <a:ext cx="6048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UHF</a:t>
            </a:r>
          </a:p>
        </p:txBody>
      </p:sp>
      <p:sp>
        <p:nvSpPr>
          <p:cNvPr id="19541" name="Text Box 92"/>
          <p:cNvSpPr txBox="1">
            <a:spLocks noChangeArrowheads="1"/>
          </p:cNvSpPr>
          <p:nvPr/>
        </p:nvSpPr>
        <p:spPr bwMode="auto">
          <a:xfrm>
            <a:off x="4662488" y="5480050"/>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SHF</a:t>
            </a:r>
          </a:p>
        </p:txBody>
      </p:sp>
      <p:sp>
        <p:nvSpPr>
          <p:cNvPr id="19542" name="Text Box 93"/>
          <p:cNvSpPr txBox="1">
            <a:spLocks noChangeArrowheads="1"/>
          </p:cNvSpPr>
          <p:nvPr/>
        </p:nvSpPr>
        <p:spPr bwMode="auto">
          <a:xfrm>
            <a:off x="5311775" y="5480050"/>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EHF</a:t>
            </a:r>
          </a:p>
        </p:txBody>
      </p:sp>
      <p:sp>
        <p:nvSpPr>
          <p:cNvPr id="19543" name="Text Box 94"/>
          <p:cNvSpPr txBox="1">
            <a:spLocks noChangeArrowheads="1"/>
          </p:cNvSpPr>
          <p:nvPr/>
        </p:nvSpPr>
        <p:spPr bwMode="auto">
          <a:xfrm>
            <a:off x="5942013" y="5480050"/>
            <a:ext cx="581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THF</a:t>
            </a:r>
          </a:p>
        </p:txBody>
      </p:sp>
      <p:sp>
        <p:nvSpPr>
          <p:cNvPr id="19544" name="Text Box 95"/>
          <p:cNvSpPr txBox="1">
            <a:spLocks noChangeArrowheads="1"/>
          </p:cNvSpPr>
          <p:nvPr/>
        </p:nvSpPr>
        <p:spPr bwMode="auto">
          <a:xfrm>
            <a:off x="536575" y="540226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波段</a:t>
            </a:r>
          </a:p>
        </p:txBody>
      </p:sp>
      <p:sp>
        <p:nvSpPr>
          <p:cNvPr id="19545" name="Text Box 96"/>
          <p:cNvSpPr txBox="1">
            <a:spLocks noChangeArrowheads="1"/>
          </p:cNvSpPr>
          <p:nvPr/>
        </p:nvSpPr>
        <p:spPr bwMode="auto">
          <a:xfrm>
            <a:off x="1079500" y="3392488"/>
            <a:ext cx="83359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5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6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7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8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9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11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13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15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16</a:t>
            </a:r>
            <a:endParaRPr lang="en-US" altLang="zh-CN" sz="1600" b="1">
              <a:solidFill>
                <a:srgbClr val="000099"/>
              </a:solidFill>
              <a:ea typeface="黑体" panose="02010609060101010101" pitchFamily="49" charset="-122"/>
            </a:endParaRPr>
          </a:p>
        </p:txBody>
      </p:sp>
      <p:sp>
        <p:nvSpPr>
          <p:cNvPr id="19546" name="Text Box 97"/>
          <p:cNvSpPr txBox="1">
            <a:spLocks noChangeArrowheads="1"/>
          </p:cNvSpPr>
          <p:nvPr/>
        </p:nvSpPr>
        <p:spPr bwMode="auto">
          <a:xfrm>
            <a:off x="1114425" y="2170113"/>
            <a:ext cx="8418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6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8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16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18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24</a:t>
            </a:r>
            <a:endParaRPr lang="en-US" altLang="zh-CN" sz="1600" b="1">
              <a:solidFill>
                <a:srgbClr val="000099"/>
              </a:solidFill>
              <a:ea typeface="黑体" panose="02010609060101010101" pitchFamily="49" charset="-122"/>
            </a:endParaRPr>
          </a:p>
        </p:txBody>
      </p:sp>
      <p:sp>
        <p:nvSpPr>
          <p:cNvPr id="19547" name="Line 98"/>
          <p:cNvSpPr>
            <a:spLocks noChangeShapeType="1"/>
          </p:cNvSpPr>
          <p:nvPr/>
        </p:nvSpPr>
        <p:spPr bwMode="auto">
          <a:xfrm flipV="1">
            <a:off x="4278313" y="5018088"/>
            <a:ext cx="387350" cy="3175"/>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48" name="Rectangle 99"/>
          <p:cNvSpPr>
            <a:spLocks noChangeArrowheads="1"/>
          </p:cNvSpPr>
          <p:nvPr/>
        </p:nvSpPr>
        <p:spPr bwMode="auto">
          <a:xfrm>
            <a:off x="4416425" y="4487863"/>
            <a:ext cx="90488" cy="442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549" name="Text Box 100"/>
          <p:cNvSpPr txBox="1">
            <a:spLocks noChangeArrowheads="1"/>
          </p:cNvSpPr>
          <p:nvPr/>
        </p:nvSpPr>
        <p:spPr bwMode="auto">
          <a:xfrm>
            <a:off x="4081463" y="4483100"/>
            <a:ext cx="8620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移动</a:t>
            </a:r>
          </a:p>
          <a:p>
            <a:pPr>
              <a:lnSpc>
                <a:spcPct val="90000"/>
              </a:lnSpc>
            </a:pPr>
            <a:r>
              <a:rPr lang="zh-CN" altLang="en-US" sz="1600" b="1">
                <a:solidFill>
                  <a:srgbClr val="000099"/>
                </a:solidFill>
                <a:ea typeface="黑体" panose="02010609060101010101" pitchFamily="49" charset="-122"/>
              </a:rPr>
              <a:t>无线电 </a:t>
            </a:r>
          </a:p>
        </p:txBody>
      </p:sp>
      <p:sp>
        <p:nvSpPr>
          <p:cNvPr id="19550" name="Rectangle 101"/>
          <p:cNvSpPr>
            <a:spLocks noChangeArrowheads="1"/>
          </p:cNvSpPr>
          <p:nvPr/>
        </p:nvSpPr>
        <p:spPr bwMode="auto">
          <a:xfrm>
            <a:off x="793750" y="1304925"/>
            <a:ext cx="84423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3200" b="1">
                <a:solidFill>
                  <a:srgbClr val="000099"/>
                </a:solidFill>
                <a:ea typeface="黑体" panose="02010609060101010101" pitchFamily="49" charset="-122"/>
              </a:rPr>
              <a:t>电信领域使用的电磁波的频谱：</a:t>
            </a:r>
          </a:p>
        </p:txBody>
      </p:sp>
      <p:sp>
        <p:nvSpPr>
          <p:cNvPr id="195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049897-3413-4684-9BE0-6D5F16B62A30}" type="slidenum">
              <a:rPr altLang="en-US" smtClean="0"/>
              <a:pPr/>
              <a:t>29</a:t>
            </a:fld>
            <a:endParaRPr lang="zh-CN" altLang="zh-CN" smtClean="0"/>
          </a:p>
        </p:txBody>
      </p:sp>
      <p:sp>
        <p:nvSpPr>
          <p:cNvPr id="195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3765187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sp>
        <p:nvSpPr>
          <p:cNvPr id="21507" name="Rectangle 3"/>
          <p:cNvSpPr>
            <a:spLocks noGrp="1" noChangeArrowheads="1"/>
          </p:cNvSpPr>
          <p:nvPr>
            <p:ph idx="1"/>
          </p:nvPr>
        </p:nvSpPr>
        <p:spPr>
          <a:xfrm>
            <a:off x="495300" y="1196975"/>
            <a:ext cx="9066213" cy="4933950"/>
          </a:xfrm>
        </p:spPr>
        <p:txBody>
          <a:bodyPr/>
          <a:lstStyle/>
          <a:p>
            <a:pPr eaLnBrk="1" hangingPunct="1"/>
            <a:r>
              <a:rPr lang="zh-CN" altLang="en-US" dirty="0" smtClean="0">
                <a:solidFill>
                  <a:srgbClr val="FF0000"/>
                </a:solidFill>
                <a:ea typeface="黑体" panose="02010609060101010101" pitchFamily="49" charset="-122"/>
              </a:rPr>
              <a:t>双绞线</a:t>
            </a:r>
            <a:endParaRPr lang="en-US" altLang="zh-CN" dirty="0" smtClean="0">
              <a:solidFill>
                <a:srgbClr val="FF0000"/>
              </a:solidFill>
              <a:ea typeface="黑体" panose="02010609060101010101" pitchFamily="49" charset="-122"/>
            </a:endParaRPr>
          </a:p>
          <a:p>
            <a:pPr lvl="1" eaLnBrk="1" hangingPunct="1"/>
            <a:r>
              <a:rPr lang="zh-CN" altLang="zh-CN" dirty="0" smtClean="0">
                <a:ea typeface="黑体" panose="02010609060101010101" pitchFamily="49" charset="-122"/>
              </a:rPr>
              <a:t>最常用的传输媒体</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eaLnBrk="1" hangingPunct="1"/>
            <a:r>
              <a:rPr lang="zh-CN" altLang="zh-CN" dirty="0" smtClean="0">
                <a:solidFill>
                  <a:srgbClr val="0000CC"/>
                </a:solidFill>
                <a:ea typeface="黑体" panose="02010609060101010101" pitchFamily="49" charset="-122"/>
              </a:rPr>
              <a:t>模拟传输</a:t>
            </a:r>
            <a:r>
              <a:rPr lang="zh-CN" altLang="zh-CN" dirty="0" smtClean="0">
                <a:ea typeface="黑体" panose="02010609060101010101" pitchFamily="49" charset="-122"/>
              </a:rPr>
              <a:t>和</a:t>
            </a:r>
            <a:r>
              <a:rPr lang="zh-CN" altLang="zh-CN" dirty="0" smtClean="0">
                <a:solidFill>
                  <a:srgbClr val="0000CC"/>
                </a:solidFill>
                <a:ea typeface="黑体" panose="02010609060101010101" pitchFamily="49" charset="-122"/>
              </a:rPr>
              <a:t>数字传输</a:t>
            </a:r>
            <a:r>
              <a:rPr lang="zh-CN" altLang="zh-CN" dirty="0" smtClean="0">
                <a:ea typeface="黑体" panose="02010609060101010101" pitchFamily="49" charset="-122"/>
              </a:rPr>
              <a:t>都可以使用双绞线，其通信距离一般为几到十几公里。</a:t>
            </a:r>
            <a:endParaRPr lang="zh-CN" altLang="en-US" dirty="0" smtClean="0">
              <a:ea typeface="黑体" panose="02010609060101010101" pitchFamily="49" charset="-122"/>
            </a:endParaRPr>
          </a:p>
          <a:p>
            <a:pPr lvl="1" eaLnBrk="1" hangingPunct="1"/>
            <a:r>
              <a:rPr lang="zh-CN" altLang="en-US" u="sng" dirty="0" smtClean="0">
                <a:solidFill>
                  <a:srgbClr val="FF0000"/>
                </a:solidFill>
                <a:ea typeface="黑体" panose="02010609060101010101" pitchFamily="49" charset="-122"/>
              </a:rPr>
              <a:t>屏蔽双绞线 </a:t>
            </a:r>
            <a:r>
              <a:rPr lang="en-US" altLang="zh-CN" u="sng" dirty="0" smtClean="0">
                <a:solidFill>
                  <a:srgbClr val="FF0000"/>
                </a:solidFill>
                <a:ea typeface="黑体" panose="02010609060101010101" pitchFamily="49" charset="-122"/>
              </a:rPr>
              <a:t>STP </a:t>
            </a:r>
            <a:r>
              <a:rPr lang="en-US" altLang="zh-CN" dirty="0" smtClean="0">
                <a:solidFill>
                  <a:srgbClr val="0000CC"/>
                </a:solidFill>
                <a:ea typeface="黑体" panose="02010609060101010101" pitchFamily="49" charset="-122"/>
              </a:rPr>
              <a:t>(Shielded Twisted Pair)</a:t>
            </a:r>
          </a:p>
          <a:p>
            <a:pPr lvl="2" eaLnBrk="1" hangingPunct="1"/>
            <a:r>
              <a:rPr lang="zh-CN" altLang="en-US" dirty="0" smtClean="0">
                <a:ea typeface="黑体" panose="02010609060101010101" pitchFamily="49" charset="-122"/>
              </a:rPr>
              <a:t>带金属</a:t>
            </a:r>
            <a:r>
              <a:rPr lang="zh-CN" altLang="zh-CN" dirty="0" smtClean="0">
                <a:ea typeface="黑体" panose="02010609060101010101" pitchFamily="49" charset="-122"/>
              </a:rPr>
              <a:t>屏蔽层</a:t>
            </a:r>
            <a:endParaRPr lang="en-US" altLang="zh-CN" dirty="0" smtClean="0">
              <a:solidFill>
                <a:srgbClr val="0000CC"/>
              </a:solidFill>
              <a:ea typeface="黑体" panose="02010609060101010101" pitchFamily="49" charset="-122"/>
            </a:endParaRPr>
          </a:p>
          <a:p>
            <a:pPr lvl="1" eaLnBrk="1" hangingPunct="1"/>
            <a:r>
              <a:rPr lang="zh-CN" altLang="en-US" u="sng" dirty="0" smtClean="0">
                <a:solidFill>
                  <a:srgbClr val="FF0000"/>
                </a:solidFill>
                <a:ea typeface="黑体" panose="02010609060101010101" pitchFamily="49" charset="-122"/>
              </a:rPr>
              <a:t>无屏蔽双绞线 </a:t>
            </a:r>
            <a:r>
              <a:rPr lang="en-US" altLang="zh-CN" u="sng" dirty="0" smtClean="0">
                <a:solidFill>
                  <a:srgbClr val="FF0000"/>
                </a:solidFill>
                <a:ea typeface="黑体" panose="02010609060101010101" pitchFamily="49" charset="-122"/>
              </a:rPr>
              <a:t>UTP </a:t>
            </a:r>
            <a:r>
              <a:rPr lang="en-US" altLang="zh-CN" dirty="0" smtClean="0">
                <a:solidFill>
                  <a:srgbClr val="0000CC"/>
                </a:solidFill>
                <a:ea typeface="黑体" panose="02010609060101010101" pitchFamily="49" charset="-122"/>
              </a:rPr>
              <a:t>(Unshielded Twisted Pair) </a:t>
            </a:r>
          </a:p>
        </p:txBody>
      </p:sp>
      <p:sp>
        <p:nvSpPr>
          <p:cNvPr id="2150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F93B1E-510F-4D6B-9956-4F43B80E7713}" type="slidenum">
              <a:rPr altLang="en-US" smtClean="0"/>
              <a:pPr/>
              <a:t>30</a:t>
            </a:fld>
            <a:endParaRPr lang="zh-CN" altLang="zh-CN" smtClean="0"/>
          </a:p>
        </p:txBody>
      </p:sp>
      <p:sp>
        <p:nvSpPr>
          <p:cNvPr id="2150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856273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grpSp>
        <p:nvGrpSpPr>
          <p:cNvPr id="23555" name="组合 2"/>
          <p:cNvGrpSpPr>
            <a:grpSpLocks/>
          </p:cNvGrpSpPr>
          <p:nvPr/>
        </p:nvGrpSpPr>
        <p:grpSpPr bwMode="auto">
          <a:xfrm>
            <a:off x="704850" y="1484313"/>
            <a:ext cx="3856038" cy="2016125"/>
            <a:chOff x="1280592" y="1686499"/>
            <a:chExt cx="3279775" cy="1643970"/>
          </a:xfrm>
        </p:grpSpPr>
        <p:pic>
          <p:nvPicPr>
            <p:cNvPr id="23572" name="Picture 4" descr="223b"/>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1280592" y="1686499"/>
              <a:ext cx="32797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3" name="Text Box 7"/>
            <p:cNvSpPr txBox="1">
              <a:spLocks noChangeArrowheads="1"/>
            </p:cNvSpPr>
            <p:nvPr/>
          </p:nvSpPr>
          <p:spPr bwMode="auto">
            <a:xfrm>
              <a:off x="3926955" y="2546924"/>
              <a:ext cx="596128"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铜线</a:t>
              </a:r>
            </a:p>
          </p:txBody>
        </p:sp>
        <p:sp>
          <p:nvSpPr>
            <p:cNvPr id="23574" name="Text Box 9"/>
            <p:cNvSpPr txBox="1">
              <a:spLocks noChangeArrowheads="1"/>
            </p:cNvSpPr>
            <p:nvPr/>
          </p:nvSpPr>
          <p:spPr bwMode="auto">
            <a:xfrm>
              <a:off x="1432992" y="2554861"/>
              <a:ext cx="957263" cy="52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pPr>
              <a:r>
                <a:rPr lang="zh-CN" altLang="en-US" sz="2000" b="1">
                  <a:solidFill>
                    <a:srgbClr val="000099"/>
                  </a:solidFill>
                  <a:ea typeface="黑体" panose="02010609060101010101" pitchFamily="49" charset="-122"/>
                </a:rPr>
                <a:t>聚氯乙烯套层</a:t>
              </a:r>
            </a:p>
          </p:txBody>
        </p:sp>
        <p:sp>
          <p:nvSpPr>
            <p:cNvPr id="23575" name="Text Box 13"/>
            <p:cNvSpPr txBox="1">
              <a:spLocks noChangeArrowheads="1"/>
            </p:cNvSpPr>
            <p:nvPr/>
          </p:nvSpPr>
          <p:spPr bwMode="auto">
            <a:xfrm>
              <a:off x="2776017" y="2543749"/>
              <a:ext cx="815654"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绝缘层</a:t>
              </a:r>
            </a:p>
          </p:txBody>
        </p:sp>
        <p:sp>
          <p:nvSpPr>
            <p:cNvPr id="23576" name="Text Box 15"/>
            <p:cNvSpPr txBox="1">
              <a:spLocks noChangeArrowheads="1"/>
            </p:cNvSpPr>
            <p:nvPr/>
          </p:nvSpPr>
          <p:spPr bwMode="auto">
            <a:xfrm>
              <a:off x="2199755" y="3004124"/>
              <a:ext cx="1800111"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ea typeface="黑体" panose="02010609060101010101" pitchFamily="49" charset="-122"/>
                </a:rPr>
                <a:t>(a) </a:t>
              </a:r>
              <a:r>
                <a:rPr lang="zh-CN" altLang="zh-CN" sz="2000" b="1">
                  <a:ea typeface="黑体" panose="02010609060101010101" pitchFamily="49" charset="-122"/>
                </a:rPr>
                <a:t>无屏蔽双绞线</a:t>
              </a:r>
              <a:endParaRPr lang="en-US" altLang="zh-CN" sz="2000" b="1">
                <a:ea typeface="黑体" panose="02010609060101010101" pitchFamily="49" charset="-122"/>
              </a:endParaRPr>
            </a:p>
          </p:txBody>
        </p:sp>
      </p:grpSp>
      <p:grpSp>
        <p:nvGrpSpPr>
          <p:cNvPr id="23556" name="组合 3"/>
          <p:cNvGrpSpPr>
            <a:grpSpLocks/>
          </p:cNvGrpSpPr>
          <p:nvPr/>
        </p:nvGrpSpPr>
        <p:grpSpPr bwMode="auto">
          <a:xfrm>
            <a:off x="5484813" y="1508125"/>
            <a:ext cx="3571875" cy="1979613"/>
            <a:chOff x="5484192" y="1710311"/>
            <a:chExt cx="2997200" cy="1621729"/>
          </a:xfrm>
        </p:grpSpPr>
        <p:pic>
          <p:nvPicPr>
            <p:cNvPr id="23566" name="Picture 5" descr="223"/>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84192" y="1710311"/>
              <a:ext cx="29972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7" name="Text Box 8"/>
            <p:cNvSpPr txBox="1">
              <a:spLocks noChangeArrowheads="1"/>
            </p:cNvSpPr>
            <p:nvPr/>
          </p:nvSpPr>
          <p:spPr bwMode="auto">
            <a:xfrm>
              <a:off x="7860680" y="2534224"/>
              <a:ext cx="587848"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铜线</a:t>
              </a:r>
            </a:p>
          </p:txBody>
        </p:sp>
        <p:sp>
          <p:nvSpPr>
            <p:cNvPr id="23568" name="Text Box 10"/>
            <p:cNvSpPr txBox="1">
              <a:spLocks noChangeArrowheads="1"/>
            </p:cNvSpPr>
            <p:nvPr/>
          </p:nvSpPr>
          <p:spPr bwMode="auto">
            <a:xfrm>
              <a:off x="5484192" y="2510411"/>
              <a:ext cx="1020801" cy="580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聚氯乙烯</a:t>
              </a:r>
            </a:p>
            <a:p>
              <a:pPr eaLnBrk="1" hangingPunct="1"/>
              <a:r>
                <a:rPr lang="zh-CN" altLang="en-US" sz="2000" b="1">
                  <a:solidFill>
                    <a:srgbClr val="000099"/>
                  </a:solidFill>
                  <a:ea typeface="黑体" panose="02010609060101010101" pitchFamily="49" charset="-122"/>
                </a:rPr>
                <a:t>    套层</a:t>
              </a:r>
            </a:p>
          </p:txBody>
        </p:sp>
        <p:sp>
          <p:nvSpPr>
            <p:cNvPr id="23569" name="Text Box 11"/>
            <p:cNvSpPr txBox="1">
              <a:spLocks noChangeArrowheads="1"/>
            </p:cNvSpPr>
            <p:nvPr/>
          </p:nvSpPr>
          <p:spPr bwMode="auto">
            <a:xfrm>
              <a:off x="6563692" y="2513586"/>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屏蔽层</a:t>
              </a:r>
            </a:p>
          </p:txBody>
        </p:sp>
        <p:sp>
          <p:nvSpPr>
            <p:cNvPr id="23570" name="Text Box 14"/>
            <p:cNvSpPr txBox="1">
              <a:spLocks noChangeArrowheads="1"/>
            </p:cNvSpPr>
            <p:nvPr/>
          </p:nvSpPr>
          <p:spPr bwMode="auto">
            <a:xfrm>
              <a:off x="7212980" y="2534224"/>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绝缘层</a:t>
              </a:r>
            </a:p>
          </p:txBody>
        </p:sp>
        <p:sp>
          <p:nvSpPr>
            <p:cNvPr id="23571" name="Text Box 16"/>
            <p:cNvSpPr txBox="1">
              <a:spLocks noChangeArrowheads="1"/>
            </p:cNvSpPr>
            <p:nvPr/>
          </p:nvSpPr>
          <p:spPr bwMode="auto">
            <a:xfrm>
              <a:off x="6274767" y="3004124"/>
              <a:ext cx="1570733"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ea typeface="黑体" panose="02010609060101010101" pitchFamily="49" charset="-122"/>
                </a:rPr>
                <a:t>(b) </a:t>
              </a:r>
              <a:r>
                <a:rPr lang="zh-CN" altLang="zh-CN" sz="2000" b="1">
                  <a:ea typeface="黑体" panose="02010609060101010101" pitchFamily="49" charset="-122"/>
                </a:rPr>
                <a:t>屏蔽双绞线</a:t>
              </a:r>
              <a:endParaRPr lang="en-US" altLang="zh-CN" sz="2000" b="1">
                <a:ea typeface="黑体" panose="02010609060101010101" pitchFamily="49" charset="-122"/>
              </a:endParaRPr>
            </a:p>
          </p:txBody>
        </p:sp>
      </p:grpSp>
      <p:grpSp>
        <p:nvGrpSpPr>
          <p:cNvPr id="23557" name="组合 16"/>
          <p:cNvGrpSpPr>
            <a:grpSpLocks/>
          </p:cNvGrpSpPr>
          <p:nvPr/>
        </p:nvGrpSpPr>
        <p:grpSpPr bwMode="auto">
          <a:xfrm>
            <a:off x="2936875" y="3573463"/>
            <a:ext cx="3671888" cy="2055430"/>
            <a:chOff x="3252146" y="4016920"/>
            <a:chExt cx="2981475" cy="1508337"/>
          </a:xfrm>
        </p:grpSpPr>
        <p:pic>
          <p:nvPicPr>
            <p:cNvPr id="23561" name="Picture 19" descr="3UTP"/>
            <p:cNvPicPr>
              <a:picLocks noChangeAspect="1" noChangeArrowheads="1"/>
            </p:cNvPicPr>
            <p:nvPr/>
          </p:nvPicPr>
          <p:blipFill>
            <a:blip r:embed="rId5">
              <a:extLst>
                <a:ext uri="{28A0092B-C50C-407E-A947-70E740481C1C}">
                  <a14:useLocalDpi xmlns:a14="http://schemas.microsoft.com/office/drawing/2010/main" val="0"/>
                </a:ext>
              </a:extLst>
            </a:blip>
            <a:srcRect l="2864" t="5208" r="50562"/>
            <a:stretch>
              <a:fillRect/>
            </a:stretch>
          </p:blipFill>
          <p:spPr bwMode="auto">
            <a:xfrm>
              <a:off x="3446330" y="4175362"/>
              <a:ext cx="258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20" descr="3UTP"/>
            <p:cNvPicPr>
              <a:picLocks noChangeAspect="1" noChangeArrowheads="1"/>
            </p:cNvPicPr>
            <p:nvPr/>
          </p:nvPicPr>
          <p:blipFill>
            <a:blip r:embed="rId5">
              <a:extLst>
                <a:ext uri="{28A0092B-C50C-407E-A947-70E740481C1C}">
                  <a14:useLocalDpi xmlns:a14="http://schemas.microsoft.com/office/drawing/2010/main" val="0"/>
                </a:ext>
              </a:extLst>
            </a:blip>
            <a:srcRect l="50095" r="3209"/>
            <a:stretch>
              <a:fillRect/>
            </a:stretch>
          </p:blipFill>
          <p:spPr bwMode="auto">
            <a:xfrm>
              <a:off x="3438392" y="4771387"/>
              <a:ext cx="258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3" name="Text Box 22"/>
            <p:cNvSpPr txBox="1">
              <a:spLocks noChangeArrowheads="1"/>
            </p:cNvSpPr>
            <p:nvPr/>
          </p:nvSpPr>
          <p:spPr bwMode="auto">
            <a:xfrm>
              <a:off x="4295642" y="4016920"/>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solidFill>
                    <a:srgbClr val="000099"/>
                  </a:solidFill>
                  <a:ea typeface="黑体" panose="02010609060101010101" pitchFamily="49" charset="-122"/>
                </a:rPr>
                <a:t>3 </a:t>
              </a:r>
              <a:r>
                <a:rPr lang="zh-CN" altLang="en-US" sz="2000" b="1">
                  <a:solidFill>
                    <a:srgbClr val="000099"/>
                  </a:solidFill>
                  <a:ea typeface="黑体" panose="02010609060101010101" pitchFamily="49" charset="-122"/>
                </a:rPr>
                <a:t>类线</a:t>
              </a:r>
            </a:p>
          </p:txBody>
        </p:sp>
        <p:sp>
          <p:nvSpPr>
            <p:cNvPr id="23564" name="Text Box 23"/>
            <p:cNvSpPr txBox="1">
              <a:spLocks noChangeArrowheads="1"/>
            </p:cNvSpPr>
            <p:nvPr/>
          </p:nvSpPr>
          <p:spPr bwMode="auto">
            <a:xfrm>
              <a:off x="4295642" y="4650689"/>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solidFill>
                    <a:srgbClr val="000099"/>
                  </a:solidFill>
                  <a:ea typeface="黑体" panose="02010609060101010101" pitchFamily="49" charset="-122"/>
                </a:rPr>
                <a:t>5 </a:t>
              </a:r>
              <a:r>
                <a:rPr lang="zh-CN" altLang="en-US" sz="2000" b="1">
                  <a:solidFill>
                    <a:srgbClr val="000099"/>
                  </a:solidFill>
                  <a:ea typeface="黑体" panose="02010609060101010101" pitchFamily="49" charset="-122"/>
                </a:rPr>
                <a:t>类线</a:t>
              </a:r>
            </a:p>
          </p:txBody>
        </p:sp>
        <p:sp>
          <p:nvSpPr>
            <p:cNvPr id="23565" name="Text Box 24"/>
            <p:cNvSpPr txBox="1">
              <a:spLocks noChangeArrowheads="1"/>
            </p:cNvSpPr>
            <p:nvPr/>
          </p:nvSpPr>
          <p:spPr bwMode="auto">
            <a:xfrm>
              <a:off x="3252146" y="5231644"/>
              <a:ext cx="2981475" cy="29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000" b="1" dirty="0">
                  <a:ea typeface="黑体" panose="02010609060101010101" pitchFamily="49" charset="-122"/>
                </a:rPr>
                <a:t>(c) </a:t>
              </a:r>
              <a:r>
                <a:rPr lang="zh-CN" altLang="zh-CN" sz="2000" b="1" dirty="0">
                  <a:ea typeface="黑体" panose="02010609060101010101" pitchFamily="49" charset="-122"/>
                </a:rPr>
                <a:t>不同的</a:t>
              </a:r>
              <a:r>
                <a:rPr lang="zh-CN" altLang="zh-CN" sz="2000" b="1" dirty="0">
                  <a:solidFill>
                    <a:srgbClr val="0000CC"/>
                  </a:solidFill>
                  <a:ea typeface="黑体" panose="02010609060101010101" pitchFamily="49" charset="-122"/>
                </a:rPr>
                <a:t>绞合度</a:t>
              </a:r>
              <a:r>
                <a:rPr lang="zh-CN" altLang="zh-CN" sz="2000" b="1" dirty="0">
                  <a:ea typeface="黑体" panose="02010609060101010101" pitchFamily="49" charset="-122"/>
                </a:rPr>
                <a:t>的双绞线</a:t>
              </a:r>
              <a:endParaRPr lang="en-US" altLang="zh-CN" sz="2000" b="1" dirty="0">
                <a:ea typeface="黑体" panose="02010609060101010101" pitchFamily="49" charset="-122"/>
              </a:endParaRPr>
            </a:p>
          </p:txBody>
        </p:sp>
      </p:grpSp>
      <p:sp>
        <p:nvSpPr>
          <p:cNvPr id="23558" name="矩形 17"/>
          <p:cNvSpPr>
            <a:spLocks noChangeArrowheads="1"/>
          </p:cNvSpPr>
          <p:nvPr/>
        </p:nvSpPr>
        <p:spPr bwMode="auto">
          <a:xfrm>
            <a:off x="1928813" y="5848350"/>
            <a:ext cx="59769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双绞线的示意图</a:t>
            </a:r>
            <a:endParaRPr lang="zh-CN" altLang="en-US" sz="2400" b="1">
              <a:ea typeface="黑体" panose="02010609060101010101" pitchFamily="49" charset="-122"/>
            </a:endParaRPr>
          </a:p>
        </p:txBody>
      </p:sp>
      <p:sp>
        <p:nvSpPr>
          <p:cNvPr id="23559" name="灯片编号占位符 2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FDD0E0-A8B4-4847-908C-918677500BC0}" type="slidenum">
              <a:rPr altLang="en-US" smtClean="0"/>
              <a:pPr/>
              <a:t>31</a:t>
            </a:fld>
            <a:endParaRPr lang="zh-CN" altLang="zh-CN" smtClean="0"/>
          </a:p>
        </p:txBody>
      </p:sp>
      <p:sp>
        <p:nvSpPr>
          <p:cNvPr id="23560" name="页脚占位符 2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455973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双绞线标准</a:t>
            </a:r>
          </a:p>
        </p:txBody>
      </p:sp>
      <p:sp>
        <p:nvSpPr>
          <p:cNvPr id="25603" name="Rectangle 3"/>
          <p:cNvSpPr>
            <a:spLocks noGrp="1" noChangeArrowheads="1"/>
          </p:cNvSpPr>
          <p:nvPr>
            <p:ph idx="1"/>
          </p:nvPr>
        </p:nvSpPr>
        <p:spPr>
          <a:xfrm>
            <a:off x="495300" y="1196975"/>
            <a:ext cx="9066213" cy="4933950"/>
          </a:xfrm>
        </p:spPr>
        <p:txBody>
          <a:bodyPr/>
          <a:lstStyle/>
          <a:p>
            <a:pPr eaLnBrk="1" hangingPunct="1"/>
            <a:r>
              <a:rPr lang="en-US" altLang="zh-CN" dirty="0" smtClean="0">
                <a:ea typeface="黑体" panose="02010609060101010101" pitchFamily="49" charset="-122"/>
              </a:rPr>
              <a:t>1991</a:t>
            </a:r>
            <a:r>
              <a:rPr lang="zh-CN" altLang="zh-CN" dirty="0" smtClean="0">
                <a:ea typeface="黑体" panose="02010609060101010101" pitchFamily="49" charset="-122"/>
              </a:rPr>
              <a:t>年，美国电子工业协会</a:t>
            </a:r>
            <a:r>
              <a:rPr lang="en-US" altLang="zh-CN" dirty="0" smtClean="0">
                <a:ea typeface="黑体" panose="02010609060101010101" pitchFamily="49" charset="-122"/>
              </a:rPr>
              <a:t> EIA </a:t>
            </a:r>
            <a:r>
              <a:rPr lang="zh-CN" altLang="zh-CN" dirty="0" smtClean="0">
                <a:ea typeface="黑体" panose="02010609060101010101" pitchFamily="49" charset="-122"/>
              </a:rPr>
              <a:t>和电信行业协会联合发布了一个用于室内传送数据的无屏蔽双绞线和屏蔽双绞线的标准</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EIA/TIA-568</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eaLnBrk="1" hangingPunct="1"/>
            <a:r>
              <a:rPr lang="en-US" altLang="zh-CN" dirty="0" smtClean="0">
                <a:ea typeface="黑体" panose="02010609060101010101" pitchFamily="49" charset="-122"/>
              </a:rPr>
              <a:t>1995</a:t>
            </a:r>
            <a:r>
              <a:rPr lang="zh-CN" altLang="zh-CN" dirty="0" smtClean="0">
                <a:ea typeface="黑体" panose="02010609060101010101" pitchFamily="49" charset="-122"/>
              </a:rPr>
              <a:t>年将布线标准更新为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EIA/TIA-568-A</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eaLnBrk="1" hangingPunct="1"/>
            <a:r>
              <a:rPr lang="zh-CN" altLang="zh-CN" dirty="0" smtClean="0">
                <a:ea typeface="黑体" panose="02010609060101010101" pitchFamily="49" charset="-122"/>
              </a:rPr>
              <a:t>此标准规定了</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5 </a:t>
            </a:r>
            <a:r>
              <a:rPr lang="zh-CN" altLang="zh-CN" dirty="0" smtClean="0">
                <a:solidFill>
                  <a:srgbClr val="FF0000"/>
                </a:solidFill>
                <a:ea typeface="黑体" panose="02010609060101010101" pitchFamily="49" charset="-122"/>
              </a:rPr>
              <a:t>个种类的</a:t>
            </a:r>
            <a:r>
              <a:rPr lang="en-US" altLang="zh-CN" dirty="0" smtClean="0">
                <a:solidFill>
                  <a:srgbClr val="FF0000"/>
                </a:solidFill>
                <a:ea typeface="黑体" panose="02010609060101010101" pitchFamily="49" charset="-122"/>
              </a:rPr>
              <a:t> UTP </a:t>
            </a:r>
            <a:r>
              <a:rPr lang="zh-CN" altLang="zh-CN" dirty="0" smtClean="0">
                <a:solidFill>
                  <a:srgbClr val="FF0000"/>
                </a:solidFill>
                <a:ea typeface="黑体" panose="02010609060101010101" pitchFamily="49" charset="-122"/>
              </a:rPr>
              <a:t>标准</a:t>
            </a:r>
            <a:r>
              <a:rPr lang="zh-CN" altLang="zh-CN" dirty="0" smtClean="0">
                <a:ea typeface="黑体" panose="02010609060101010101" pitchFamily="49" charset="-122"/>
              </a:rPr>
              <a:t>（从</a:t>
            </a:r>
            <a:r>
              <a:rPr lang="en-US" altLang="zh-CN" dirty="0" smtClean="0">
                <a:ea typeface="黑体" panose="02010609060101010101" pitchFamily="49" charset="-122"/>
              </a:rPr>
              <a:t> 1 </a:t>
            </a:r>
            <a:r>
              <a:rPr lang="zh-CN" altLang="zh-CN" dirty="0" smtClean="0">
                <a:ea typeface="黑体" panose="02010609060101010101" pitchFamily="49" charset="-122"/>
              </a:rPr>
              <a:t>类线到</a:t>
            </a:r>
            <a:r>
              <a:rPr lang="en-US" altLang="zh-CN" dirty="0" smtClean="0">
                <a:ea typeface="黑体" panose="02010609060101010101" pitchFamily="49" charset="-122"/>
              </a:rPr>
              <a:t> 5 </a:t>
            </a:r>
            <a:r>
              <a:rPr lang="zh-CN" altLang="zh-CN" dirty="0" smtClean="0">
                <a:ea typeface="黑体" panose="02010609060101010101" pitchFamily="49" charset="-122"/>
              </a:rPr>
              <a:t>类线）。</a:t>
            </a:r>
            <a:endParaRPr lang="en-US" altLang="zh-CN" dirty="0" smtClean="0">
              <a:ea typeface="黑体" panose="02010609060101010101" pitchFamily="49" charset="-122"/>
            </a:endParaRPr>
          </a:p>
          <a:p>
            <a:pPr eaLnBrk="1" hangingPunct="1"/>
            <a:r>
              <a:rPr lang="zh-CN" altLang="zh-CN" dirty="0" smtClean="0">
                <a:solidFill>
                  <a:srgbClr val="0000CC"/>
                </a:solidFill>
                <a:ea typeface="黑体" panose="02010609060101010101" pitchFamily="49" charset="-122"/>
              </a:rPr>
              <a:t>对传送数据来说，现在最常用的</a:t>
            </a:r>
            <a:r>
              <a:rPr lang="en-US" altLang="zh-CN" dirty="0" smtClean="0">
                <a:solidFill>
                  <a:srgbClr val="0000CC"/>
                </a:solidFill>
                <a:ea typeface="黑体" panose="02010609060101010101" pitchFamily="49" charset="-122"/>
              </a:rPr>
              <a:t> UTP </a:t>
            </a:r>
            <a:r>
              <a:rPr lang="zh-CN" altLang="zh-CN" dirty="0" smtClean="0">
                <a:solidFill>
                  <a:srgbClr val="0000CC"/>
                </a:solidFill>
                <a:ea typeface="黑体" panose="02010609060101010101" pitchFamily="49" charset="-122"/>
              </a:rPr>
              <a:t>是</a:t>
            </a:r>
            <a:r>
              <a:rPr lang="en-US" altLang="zh-CN" dirty="0" smtClean="0">
                <a:solidFill>
                  <a:srgbClr val="0000CC"/>
                </a:solidFill>
                <a:ea typeface="黑体" panose="02010609060101010101" pitchFamily="49" charset="-122"/>
              </a:rPr>
              <a:t>5</a:t>
            </a:r>
            <a:r>
              <a:rPr lang="zh-CN" altLang="zh-CN" dirty="0" smtClean="0">
                <a:solidFill>
                  <a:srgbClr val="0000CC"/>
                </a:solidFill>
                <a:ea typeface="黑体" panose="02010609060101010101" pitchFamily="49" charset="-122"/>
              </a:rPr>
              <a:t>类线（</a:t>
            </a:r>
            <a:r>
              <a:rPr lang="en-US" altLang="zh-CN" dirty="0" smtClean="0">
                <a:solidFill>
                  <a:srgbClr val="0000CC"/>
                </a:solidFill>
                <a:ea typeface="黑体" panose="02010609060101010101" pitchFamily="49" charset="-122"/>
              </a:rPr>
              <a:t>Category 5 </a:t>
            </a:r>
            <a:r>
              <a:rPr lang="zh-CN" altLang="zh-CN" dirty="0" smtClean="0">
                <a:solidFill>
                  <a:srgbClr val="0000CC"/>
                </a:solidFill>
                <a:ea typeface="黑体" panose="02010609060101010101" pitchFamily="49" charset="-122"/>
              </a:rPr>
              <a:t>或</a:t>
            </a:r>
            <a:r>
              <a:rPr lang="en-US" altLang="zh-CN" dirty="0" smtClean="0">
                <a:solidFill>
                  <a:srgbClr val="0000CC"/>
                </a:solidFill>
                <a:ea typeface="黑体" panose="02010609060101010101" pitchFamily="49" charset="-122"/>
              </a:rPr>
              <a:t> CAT5</a:t>
            </a:r>
            <a:r>
              <a:rPr lang="zh-CN" altLang="zh-CN" dirty="0" smtClean="0">
                <a:solidFill>
                  <a:srgbClr val="0000CC"/>
                </a:solidFill>
                <a:ea typeface="黑体" panose="02010609060101010101" pitchFamily="49" charset="-122"/>
              </a:rPr>
              <a:t>）</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p:txBody>
      </p:sp>
      <p:sp>
        <p:nvSpPr>
          <p:cNvPr id="256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077EC3-A744-4C50-B973-096501605E48}" type="slidenum">
              <a:rPr altLang="en-US" smtClean="0"/>
              <a:pPr/>
              <a:t>32</a:t>
            </a:fld>
            <a:endParaRPr lang="zh-CN" altLang="zh-CN" smtClean="0"/>
          </a:p>
        </p:txBody>
      </p:sp>
      <p:sp>
        <p:nvSpPr>
          <p:cNvPr id="256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3634212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双绞线标准</a:t>
            </a:r>
          </a:p>
        </p:txBody>
      </p:sp>
      <p:graphicFrame>
        <p:nvGraphicFramePr>
          <p:cNvPr id="3" name="内容占位符 2"/>
          <p:cNvGraphicFramePr>
            <a:graphicFrameLocks noGrp="1"/>
          </p:cNvGraphicFramePr>
          <p:nvPr>
            <p:ph idx="1"/>
          </p:nvPr>
        </p:nvGraphicFramePr>
        <p:xfrm>
          <a:off x="488950" y="1700213"/>
          <a:ext cx="9217024" cy="4300536"/>
        </p:xfrm>
        <a:graphic>
          <a:graphicData uri="http://schemas.openxmlformats.org/drawingml/2006/table">
            <a:tbl>
              <a:tblPr firstRow="1" firstCol="1">
                <a:tableStyleId>{073A0DAA-6AF3-43AB-8588-CEC1D06C72B9}</a:tableStyleId>
              </a:tblPr>
              <a:tblGrid>
                <a:gridCol w="1484108">
                  <a:extLst>
                    <a:ext uri="{9D8B030D-6E8A-4147-A177-3AD203B41FA5}">
                      <a16:colId xmlns:a16="http://schemas.microsoft.com/office/drawing/2014/main" val="20000"/>
                    </a:ext>
                  </a:extLst>
                </a:gridCol>
                <a:gridCol w="139621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88432">
                  <a:extLst>
                    <a:ext uri="{9D8B030D-6E8A-4147-A177-3AD203B41FA5}">
                      <a16:colId xmlns:a16="http://schemas.microsoft.com/office/drawing/2014/main" val="20003"/>
                    </a:ext>
                  </a:extLst>
                </a:gridCol>
              </a:tblGrid>
              <a:tr h="630730">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绞合线类别</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带宽</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线缆特点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典型应用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9140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16 MHz</a:t>
                      </a:r>
                      <a:endParaRPr lang="zh-CN" sz="2000" b="1" dirty="0">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000" b="1" dirty="0">
                          <a:solidFill>
                            <a:schemeClr val="tx1"/>
                          </a:solidFill>
                          <a:effectLst/>
                          <a:latin typeface="+mn-lt"/>
                          <a:ea typeface="黑体" panose="02010609060101010101" pitchFamily="2" charset="-122"/>
                        </a:rPr>
                        <a:t>2</a:t>
                      </a:r>
                      <a:r>
                        <a:rPr lang="zh-CN" sz="2000" b="1" dirty="0">
                          <a:solidFill>
                            <a:schemeClr val="tx1"/>
                          </a:solidFill>
                          <a:effectLst/>
                          <a:latin typeface="+mn-lt"/>
                          <a:ea typeface="黑体" panose="02010609060101010101" pitchFamily="2" charset="-122"/>
                        </a:rPr>
                        <a:t>对</a:t>
                      </a:r>
                      <a:r>
                        <a:rPr lang="en-US" sz="2000" b="1" dirty="0">
                          <a:solidFill>
                            <a:schemeClr val="tx1"/>
                          </a:solidFill>
                          <a:effectLst/>
                          <a:latin typeface="+mn-lt"/>
                          <a:ea typeface="黑体" panose="02010609060101010101" pitchFamily="2" charset="-122"/>
                        </a:rPr>
                        <a:t>4</a:t>
                      </a:r>
                      <a:r>
                        <a:rPr lang="zh-CN" sz="2000" b="1" dirty="0">
                          <a:solidFill>
                            <a:schemeClr val="tx1"/>
                          </a:solidFill>
                          <a:effectLst/>
                          <a:latin typeface="+mn-lt"/>
                          <a:ea typeface="黑体" panose="02010609060101010101" pitchFamily="2" charset="-122"/>
                        </a:rPr>
                        <a:t>芯双绞线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模拟电话；曾用于传统以太网（</a:t>
                      </a:r>
                      <a:r>
                        <a:rPr lang="en-US" sz="2000" b="1" dirty="0">
                          <a:solidFill>
                            <a:schemeClr val="tx1"/>
                          </a:solidFill>
                          <a:effectLst/>
                          <a:latin typeface="+mn-lt"/>
                          <a:ea typeface="黑体" panose="02010609060101010101" pitchFamily="2" charset="-122"/>
                        </a:rPr>
                        <a:t>10 Mbit/s</a:t>
                      </a:r>
                      <a:r>
                        <a:rPr lang="zh-CN" sz="2000" b="1" dirty="0">
                          <a:solidFill>
                            <a:schemeClr val="tx1"/>
                          </a:solidFill>
                          <a:effectLst/>
                          <a:latin typeface="+mn-lt"/>
                          <a:ea typeface="黑体" panose="0201060906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31786">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20 MHz</a:t>
                      </a:r>
                      <a:endParaRPr lang="zh-CN" sz="2000" b="1" dirty="0">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000" b="1" dirty="0">
                          <a:solidFill>
                            <a:schemeClr val="tx1"/>
                          </a:solidFill>
                          <a:effectLst/>
                          <a:latin typeface="+mn-lt"/>
                          <a:ea typeface="黑体" panose="02010609060101010101" pitchFamily="2" charset="-122"/>
                        </a:rPr>
                        <a:t>4</a:t>
                      </a:r>
                      <a:r>
                        <a:rPr lang="zh-CN" sz="2000" b="1" dirty="0">
                          <a:solidFill>
                            <a:schemeClr val="tx1"/>
                          </a:solidFill>
                          <a:effectLst/>
                          <a:latin typeface="+mn-lt"/>
                          <a:ea typeface="黑体" panose="02010609060101010101" pitchFamily="2" charset="-122"/>
                        </a:rPr>
                        <a:t>对</a:t>
                      </a:r>
                      <a:r>
                        <a:rPr lang="en-US" sz="2000" b="1" dirty="0">
                          <a:solidFill>
                            <a:schemeClr val="tx1"/>
                          </a:solidFill>
                          <a:effectLst/>
                          <a:latin typeface="+mn-lt"/>
                          <a:ea typeface="黑体" panose="02010609060101010101" pitchFamily="2" charset="-122"/>
                        </a:rPr>
                        <a:t>8</a:t>
                      </a:r>
                      <a:r>
                        <a:rPr lang="zh-CN" sz="2000" b="1" dirty="0">
                          <a:solidFill>
                            <a:schemeClr val="tx1"/>
                          </a:solidFill>
                          <a:effectLst/>
                          <a:latin typeface="+mn-lt"/>
                          <a:ea typeface="黑体" panose="02010609060101010101" pitchFamily="2" charset="-122"/>
                        </a:rPr>
                        <a:t>芯双绞线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曾用于令牌局域网</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30730">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5</a:t>
                      </a:r>
                      <a:endParaRPr lang="zh-CN" sz="2000" b="1" dirty="0">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100 MHz</a:t>
                      </a:r>
                      <a:endParaRPr lang="zh-CN" sz="2000" b="1" dirty="0">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与</a:t>
                      </a: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类相比增加了绞合度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传输速率不超过</a:t>
                      </a:r>
                      <a:r>
                        <a:rPr lang="en-US" sz="2000" b="1" dirty="0">
                          <a:solidFill>
                            <a:schemeClr val="tx1"/>
                          </a:solidFill>
                          <a:effectLst/>
                          <a:latin typeface="+mn-lt"/>
                          <a:ea typeface="黑体" panose="02010609060101010101" pitchFamily="2" charset="-122"/>
                        </a:rPr>
                        <a:t>100 Mbit/s</a:t>
                      </a:r>
                      <a:r>
                        <a:rPr lang="zh-CN" sz="2000" b="1" dirty="0">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30730">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5E</a:t>
                      </a:r>
                      <a:r>
                        <a:rPr lang="zh-CN" sz="2000" b="1">
                          <a:solidFill>
                            <a:schemeClr val="tx1"/>
                          </a:solidFill>
                          <a:effectLst/>
                          <a:latin typeface="+mn-lt"/>
                          <a:ea typeface="黑体" panose="02010609060101010101" pitchFamily="2" charset="-122"/>
                        </a:rPr>
                        <a:t>（超</a:t>
                      </a:r>
                      <a:r>
                        <a:rPr lang="en-US" sz="2000" b="1">
                          <a:solidFill>
                            <a:schemeClr val="tx1"/>
                          </a:solidFill>
                          <a:effectLst/>
                          <a:latin typeface="+mn-lt"/>
                          <a:ea typeface="黑体" panose="02010609060101010101" pitchFamily="2" charset="-122"/>
                        </a:rPr>
                        <a:t>5</a:t>
                      </a:r>
                      <a:r>
                        <a:rPr lang="zh-CN" sz="2000" b="1">
                          <a:solidFill>
                            <a:schemeClr val="tx1"/>
                          </a:solidFill>
                          <a:effectLst/>
                          <a:latin typeface="+mn-lt"/>
                          <a:ea typeface="黑体" panose="02010609060101010101" pitchFamily="2" charset="-122"/>
                        </a:rPr>
                        <a:t>类）</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125 MHz</a:t>
                      </a:r>
                      <a:endParaRPr lang="zh-CN" sz="2000" b="1" dirty="0">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与</a:t>
                      </a:r>
                      <a:r>
                        <a:rPr lang="en-US" sz="2000" b="1" dirty="0">
                          <a:solidFill>
                            <a:schemeClr val="tx1"/>
                          </a:solidFill>
                          <a:effectLst/>
                          <a:latin typeface="+mn-lt"/>
                          <a:ea typeface="黑体" panose="02010609060101010101" pitchFamily="2" charset="-122"/>
                        </a:rPr>
                        <a:t>5</a:t>
                      </a:r>
                      <a:r>
                        <a:rPr lang="zh-CN" sz="2000" b="1" dirty="0">
                          <a:solidFill>
                            <a:schemeClr val="tx1"/>
                          </a:solidFill>
                          <a:effectLst/>
                          <a:latin typeface="+mn-lt"/>
                          <a:ea typeface="黑体" panose="02010609060101010101" pitchFamily="2" charset="-122"/>
                        </a:rPr>
                        <a:t>类相比衰减更小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传输速率不超过</a:t>
                      </a:r>
                      <a:r>
                        <a:rPr lang="en-US" sz="2000" b="1" dirty="0">
                          <a:solidFill>
                            <a:schemeClr val="tx1"/>
                          </a:solidFill>
                          <a:effectLst/>
                          <a:latin typeface="+mn-lt"/>
                          <a:ea typeface="黑体" panose="02010609060101010101" pitchFamily="2" charset="-122"/>
                        </a:rPr>
                        <a:t>1 </a:t>
                      </a:r>
                      <a:r>
                        <a:rPr lang="en-US" sz="2000" b="1" dirty="0" err="1">
                          <a:solidFill>
                            <a:schemeClr val="tx1"/>
                          </a:solidFill>
                          <a:effectLst/>
                          <a:latin typeface="+mn-lt"/>
                          <a:ea typeface="黑体" panose="02010609060101010101" pitchFamily="2" charset="-122"/>
                        </a:rPr>
                        <a:t>Gbit</a:t>
                      </a:r>
                      <a:r>
                        <a:rPr lang="en-US" sz="2000" b="1" dirty="0">
                          <a:solidFill>
                            <a:schemeClr val="tx1"/>
                          </a:solidFill>
                          <a:effectLst/>
                          <a:latin typeface="+mn-lt"/>
                          <a:ea typeface="黑体" panose="02010609060101010101" pitchFamily="2" charset="-122"/>
                        </a:rPr>
                        <a:t>/s</a:t>
                      </a:r>
                      <a:r>
                        <a:rPr lang="zh-CN" sz="2000" b="1" dirty="0">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30730">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6</a:t>
                      </a:r>
                      <a:endParaRPr lang="zh-CN" sz="2000" b="1" dirty="0">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250 MHz</a:t>
                      </a:r>
                      <a:endParaRPr lang="zh-CN" sz="2000" b="1" dirty="0">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与</a:t>
                      </a:r>
                      <a:r>
                        <a:rPr lang="en-US" sz="2000" b="1" dirty="0">
                          <a:solidFill>
                            <a:schemeClr val="tx1"/>
                          </a:solidFill>
                          <a:effectLst/>
                          <a:latin typeface="+mn-lt"/>
                          <a:ea typeface="黑体" panose="02010609060101010101" pitchFamily="2" charset="-122"/>
                        </a:rPr>
                        <a:t>5</a:t>
                      </a:r>
                      <a:r>
                        <a:rPr lang="zh-CN" sz="2000" b="1" dirty="0">
                          <a:solidFill>
                            <a:schemeClr val="tx1"/>
                          </a:solidFill>
                          <a:effectLst/>
                          <a:latin typeface="+mn-lt"/>
                          <a:ea typeface="黑体" panose="02010609060101010101" pitchFamily="2" charset="-122"/>
                        </a:rPr>
                        <a:t>类相比改善了串扰等性能</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传输速率高于</a:t>
                      </a:r>
                      <a:r>
                        <a:rPr lang="en-US" sz="2000" b="1" dirty="0">
                          <a:solidFill>
                            <a:schemeClr val="tx1"/>
                          </a:solidFill>
                          <a:effectLst/>
                          <a:latin typeface="+mn-lt"/>
                          <a:ea typeface="黑体" panose="02010609060101010101" pitchFamily="2" charset="-122"/>
                        </a:rPr>
                        <a:t>1 </a:t>
                      </a:r>
                      <a:r>
                        <a:rPr lang="en-US" sz="2000" b="1" dirty="0" err="1">
                          <a:solidFill>
                            <a:schemeClr val="tx1"/>
                          </a:solidFill>
                          <a:effectLst/>
                          <a:latin typeface="+mn-lt"/>
                          <a:ea typeface="黑体" panose="02010609060101010101" pitchFamily="2" charset="-122"/>
                        </a:rPr>
                        <a:t>Gbit</a:t>
                      </a:r>
                      <a:r>
                        <a:rPr lang="en-US" sz="2000" b="1" dirty="0">
                          <a:solidFill>
                            <a:schemeClr val="tx1"/>
                          </a:solidFill>
                          <a:effectLst/>
                          <a:latin typeface="+mn-lt"/>
                          <a:ea typeface="黑体" panose="02010609060101010101" pitchFamily="2" charset="-122"/>
                        </a:rPr>
                        <a:t>/s</a:t>
                      </a:r>
                      <a:r>
                        <a:rPr lang="zh-CN" sz="2000" b="1" dirty="0">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31786">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7</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600 MHz</a:t>
                      </a:r>
                      <a:endParaRPr lang="zh-CN" sz="2000" b="1" dirty="0">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使用屏蔽双绞线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传输速率高于</a:t>
                      </a:r>
                      <a:r>
                        <a:rPr lang="en-US" sz="2000" b="1" dirty="0">
                          <a:solidFill>
                            <a:schemeClr val="tx1"/>
                          </a:solidFill>
                          <a:effectLst/>
                          <a:latin typeface="+mn-lt"/>
                          <a:ea typeface="黑体" panose="02010609060101010101" pitchFamily="2" charset="-122"/>
                        </a:rPr>
                        <a:t>10 </a:t>
                      </a:r>
                      <a:r>
                        <a:rPr lang="en-US" sz="2000" b="1" dirty="0" err="1">
                          <a:solidFill>
                            <a:schemeClr val="tx1"/>
                          </a:solidFill>
                          <a:effectLst/>
                          <a:latin typeface="+mn-lt"/>
                          <a:ea typeface="黑体" panose="02010609060101010101" pitchFamily="2" charset="-122"/>
                        </a:rPr>
                        <a:t>Gbit</a:t>
                      </a:r>
                      <a:r>
                        <a:rPr lang="en-US" sz="2000" b="1" dirty="0">
                          <a:solidFill>
                            <a:schemeClr val="tx1"/>
                          </a:solidFill>
                          <a:effectLst/>
                          <a:latin typeface="+mn-lt"/>
                          <a:ea typeface="黑体" panose="02010609060101010101" pitchFamily="2" charset="-122"/>
                        </a:rPr>
                        <a:t>/s</a:t>
                      </a:r>
                      <a:r>
                        <a:rPr lang="zh-CN" sz="2000" b="1" dirty="0">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27693" name="矩形 3"/>
          <p:cNvSpPr>
            <a:spLocks noChangeArrowheads="1"/>
          </p:cNvSpPr>
          <p:nvPr/>
        </p:nvSpPr>
        <p:spPr bwMode="auto">
          <a:xfrm>
            <a:off x="2679700" y="1239838"/>
            <a:ext cx="5443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常用的绞合线的类别、带宽和典型应用</a:t>
            </a:r>
            <a:endParaRPr lang="zh-CN" altLang="en-US" sz="2400" b="1">
              <a:ea typeface="黑体" panose="02010609060101010101" pitchFamily="49" charset="-122"/>
            </a:endParaRPr>
          </a:p>
        </p:txBody>
      </p:sp>
      <p:sp>
        <p:nvSpPr>
          <p:cNvPr id="2769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E59AF3-BA2C-461C-9ED6-B045A79EF758}" type="slidenum">
              <a:rPr altLang="en-US" smtClean="0"/>
              <a:pPr/>
              <a:t>33</a:t>
            </a:fld>
            <a:endParaRPr lang="zh-CN" altLang="zh-CN" smtClean="0"/>
          </a:p>
        </p:txBody>
      </p:sp>
      <p:sp>
        <p:nvSpPr>
          <p:cNvPr id="2769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356897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sp>
        <p:nvSpPr>
          <p:cNvPr id="29699" name="Rectangle 3"/>
          <p:cNvSpPr>
            <a:spLocks noGrp="1" noChangeArrowheads="1"/>
          </p:cNvSpPr>
          <p:nvPr>
            <p:ph idx="1"/>
          </p:nvPr>
        </p:nvSpPr>
        <p:spPr>
          <a:xfrm>
            <a:off x="495300" y="1196975"/>
            <a:ext cx="9066213" cy="4933950"/>
          </a:xfrm>
        </p:spPr>
        <p:txBody>
          <a:bodyPr/>
          <a:lstStyle/>
          <a:p>
            <a:pPr eaLnBrk="1" hangingPunct="1">
              <a:lnSpc>
                <a:spcPct val="100000"/>
              </a:lnSpc>
            </a:pPr>
            <a:r>
              <a:rPr lang="zh-CN" altLang="en-US" smtClean="0">
                <a:solidFill>
                  <a:srgbClr val="FF0000"/>
                </a:solidFill>
                <a:ea typeface="黑体" panose="02010609060101010101" pitchFamily="49" charset="-122"/>
              </a:rPr>
              <a:t>同轴电缆</a:t>
            </a:r>
          </a:p>
          <a:p>
            <a:pPr lvl="1" eaLnBrk="1" hangingPunct="1">
              <a:lnSpc>
                <a:spcPct val="100000"/>
              </a:lnSpc>
            </a:pPr>
            <a:r>
              <a:rPr lang="zh-CN" altLang="zh-CN" smtClean="0">
                <a:ea typeface="黑体" panose="02010609060101010101" pitchFamily="49" charset="-122"/>
              </a:rPr>
              <a:t>同轴电缆具有很好的抗干扰特性，被广泛用于传输较高速率的数据</a:t>
            </a:r>
            <a:r>
              <a:rPr lang="zh-CN" altLang="en-US" smtClean="0">
                <a:ea typeface="黑体" panose="02010609060101010101" pitchFamily="49" charset="-122"/>
              </a:rPr>
              <a:t>。</a:t>
            </a:r>
            <a:endParaRPr lang="en-US" altLang="zh-CN" smtClean="0">
              <a:ea typeface="黑体" panose="02010609060101010101" pitchFamily="49" charset="-122"/>
            </a:endParaRPr>
          </a:p>
          <a:p>
            <a:pPr lvl="1" eaLnBrk="1" hangingPunct="1">
              <a:lnSpc>
                <a:spcPct val="100000"/>
              </a:lnSpc>
            </a:pPr>
            <a:r>
              <a:rPr lang="zh-CN" altLang="zh-CN" smtClean="0">
                <a:ea typeface="黑体" panose="02010609060101010101" pitchFamily="49" charset="-122"/>
              </a:rPr>
              <a:t>同轴电缆的带宽取决于电缆的质量</a:t>
            </a:r>
            <a:r>
              <a:rPr lang="zh-CN" altLang="en-US" smtClean="0">
                <a:ea typeface="黑体" panose="02010609060101010101" pitchFamily="49" charset="-122"/>
              </a:rPr>
              <a:t>。</a:t>
            </a:r>
            <a:endParaRPr lang="en-US" altLang="zh-CN" smtClean="0">
              <a:solidFill>
                <a:srgbClr val="0000CC"/>
              </a:solidFill>
              <a:ea typeface="黑体" panose="02010609060101010101" pitchFamily="49" charset="-122"/>
            </a:endParaRPr>
          </a:p>
          <a:p>
            <a:pPr lvl="1" eaLnBrk="1" hangingPunct="1">
              <a:lnSpc>
                <a:spcPct val="100000"/>
              </a:lnSpc>
            </a:pPr>
            <a:r>
              <a:rPr lang="en-US" altLang="zh-CN" smtClean="0">
                <a:solidFill>
                  <a:srgbClr val="FF0000"/>
                </a:solidFill>
                <a:ea typeface="黑体" panose="02010609060101010101" pitchFamily="49" charset="-122"/>
              </a:rPr>
              <a:t>50</a:t>
            </a:r>
            <a:r>
              <a:rPr lang="en-US" altLang="zh-CN" sz="1600" smtClean="0">
                <a:solidFill>
                  <a:srgbClr val="FF0000"/>
                </a:solidFill>
                <a:ea typeface="黑体" panose="02010609060101010101" pitchFamily="49" charset="-122"/>
              </a:rPr>
              <a:t> </a:t>
            </a:r>
            <a:r>
              <a:rPr lang="en-US" altLang="zh-CN" smtClean="0">
                <a:solidFill>
                  <a:srgbClr val="FF0000"/>
                </a:solidFill>
                <a:ea typeface="黑体" panose="02010609060101010101" pitchFamily="49" charset="-122"/>
                <a:sym typeface="Symbol" panose="05050102010706020507" pitchFamily="18" charset="2"/>
              </a:rPr>
              <a:t></a:t>
            </a:r>
            <a:r>
              <a:rPr lang="en-US" altLang="zh-CN" sz="1400"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同轴电缆 </a:t>
            </a:r>
            <a:r>
              <a:rPr lang="en-US" altLang="zh-CN" smtClean="0">
                <a:solidFill>
                  <a:srgbClr val="0000CC"/>
                </a:solidFill>
                <a:ea typeface="黑体" panose="02010609060101010101" pitchFamily="49" charset="-122"/>
              </a:rPr>
              <a:t>—— LAN / </a:t>
            </a:r>
            <a:r>
              <a:rPr lang="zh-CN" altLang="en-US" smtClean="0">
                <a:solidFill>
                  <a:srgbClr val="0000CC"/>
                </a:solidFill>
                <a:ea typeface="黑体" panose="02010609060101010101" pitchFamily="49" charset="-122"/>
              </a:rPr>
              <a:t>数字传输常用</a:t>
            </a:r>
          </a:p>
          <a:p>
            <a:pPr lvl="1" eaLnBrk="1" hangingPunct="1">
              <a:lnSpc>
                <a:spcPct val="100000"/>
              </a:lnSpc>
            </a:pPr>
            <a:r>
              <a:rPr lang="en-US" altLang="zh-CN" smtClean="0">
                <a:solidFill>
                  <a:srgbClr val="FF0000"/>
                </a:solidFill>
                <a:ea typeface="黑体" panose="02010609060101010101" pitchFamily="49" charset="-122"/>
              </a:rPr>
              <a:t>75</a:t>
            </a:r>
            <a:r>
              <a:rPr lang="en-US" altLang="zh-CN" sz="1600" smtClean="0">
                <a:solidFill>
                  <a:srgbClr val="FF0000"/>
                </a:solidFill>
                <a:ea typeface="黑体" panose="02010609060101010101" pitchFamily="49" charset="-122"/>
              </a:rPr>
              <a:t> </a:t>
            </a:r>
            <a:r>
              <a:rPr lang="en-US" altLang="zh-CN" smtClean="0">
                <a:solidFill>
                  <a:srgbClr val="FF0000"/>
                </a:solidFill>
                <a:ea typeface="黑体" panose="02010609060101010101" pitchFamily="49" charset="-122"/>
                <a:sym typeface="Symbol" panose="05050102010706020507" pitchFamily="18" charset="2"/>
              </a:rPr>
              <a:t></a:t>
            </a:r>
            <a:r>
              <a:rPr lang="en-US" altLang="zh-CN" sz="1400"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同轴电缆 </a:t>
            </a:r>
            <a:r>
              <a:rPr lang="en-US" altLang="zh-CN" smtClean="0">
                <a:solidFill>
                  <a:srgbClr val="0000CC"/>
                </a:solidFill>
                <a:ea typeface="黑体" panose="02010609060101010101" pitchFamily="49" charset="-122"/>
              </a:rPr>
              <a:t>—— </a:t>
            </a:r>
            <a:r>
              <a:rPr lang="zh-CN" altLang="en-US" smtClean="0">
                <a:solidFill>
                  <a:srgbClr val="0000CC"/>
                </a:solidFill>
                <a:ea typeface="黑体" panose="02010609060101010101" pitchFamily="49" charset="-122"/>
              </a:rPr>
              <a:t>有线电视 </a:t>
            </a:r>
            <a:r>
              <a:rPr lang="en-US" altLang="zh-CN" smtClean="0">
                <a:solidFill>
                  <a:srgbClr val="0000CC"/>
                </a:solidFill>
                <a:ea typeface="黑体" panose="02010609060101010101" pitchFamily="49" charset="-122"/>
              </a:rPr>
              <a:t>/ </a:t>
            </a:r>
            <a:r>
              <a:rPr lang="zh-CN" altLang="en-US" smtClean="0">
                <a:solidFill>
                  <a:srgbClr val="0000CC"/>
                </a:solidFill>
                <a:ea typeface="黑体" panose="02010609060101010101" pitchFamily="49" charset="-122"/>
              </a:rPr>
              <a:t>模拟传输常用</a:t>
            </a:r>
          </a:p>
        </p:txBody>
      </p:sp>
      <p:grpSp>
        <p:nvGrpSpPr>
          <p:cNvPr id="29700" name="组合 1"/>
          <p:cNvGrpSpPr>
            <a:grpSpLocks/>
          </p:cNvGrpSpPr>
          <p:nvPr/>
        </p:nvGrpSpPr>
        <p:grpSpPr bwMode="auto">
          <a:xfrm>
            <a:off x="2000250" y="4365625"/>
            <a:ext cx="6265863" cy="1389063"/>
            <a:chOff x="2505075" y="4067175"/>
            <a:chExt cx="4972050" cy="1280769"/>
          </a:xfrm>
        </p:grpSpPr>
        <p:pic>
          <p:nvPicPr>
            <p:cNvPr id="29704" name="Picture 3" descr="D:\1xxr\1paper\Cable\222.gif"/>
            <p:cNvPicPr>
              <a:picLocks noChangeAspect="1" noChangeArrowheads="1"/>
            </p:cNvPicPr>
            <p:nvPr/>
          </p:nvPicPr>
          <p:blipFill>
            <a:blip r:embed="rId3">
              <a:extLst>
                <a:ext uri="{28A0092B-C50C-407E-A947-70E740481C1C}">
                  <a14:useLocalDpi xmlns:a14="http://schemas.microsoft.com/office/drawing/2010/main" val="0"/>
                </a:ext>
              </a:extLst>
            </a:blip>
            <a:srcRect t="37741" r="21053" b="25261"/>
            <a:stretch>
              <a:fillRect/>
            </a:stretch>
          </p:blipFill>
          <p:spPr bwMode="auto">
            <a:xfrm>
              <a:off x="2505075" y="4408015"/>
              <a:ext cx="4114800" cy="939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Text Box 4"/>
            <p:cNvSpPr txBox="1">
              <a:spLocks noChangeArrowheads="1"/>
            </p:cNvSpPr>
            <p:nvPr/>
          </p:nvSpPr>
          <p:spPr bwMode="auto">
            <a:xfrm>
              <a:off x="6645275" y="4699000"/>
              <a:ext cx="831850" cy="36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内导体</a:t>
              </a:r>
            </a:p>
          </p:txBody>
        </p:sp>
        <p:sp>
          <p:nvSpPr>
            <p:cNvPr id="29706" name="Text Box 5"/>
            <p:cNvSpPr txBox="1">
              <a:spLocks noChangeArrowheads="1"/>
            </p:cNvSpPr>
            <p:nvPr/>
          </p:nvSpPr>
          <p:spPr bwMode="auto">
            <a:xfrm>
              <a:off x="4481513" y="4090988"/>
              <a:ext cx="1730376" cy="3686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外导体屏蔽层</a:t>
              </a:r>
            </a:p>
          </p:txBody>
        </p:sp>
        <p:sp>
          <p:nvSpPr>
            <p:cNvPr id="29707" name="Text Box 6"/>
            <p:cNvSpPr txBox="1">
              <a:spLocks noChangeArrowheads="1"/>
            </p:cNvSpPr>
            <p:nvPr/>
          </p:nvSpPr>
          <p:spPr bwMode="auto">
            <a:xfrm>
              <a:off x="6284913" y="4067175"/>
              <a:ext cx="963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绝缘层</a:t>
              </a:r>
            </a:p>
          </p:txBody>
        </p:sp>
        <p:sp>
          <p:nvSpPr>
            <p:cNvPr id="29708" name="Text Box 7"/>
            <p:cNvSpPr txBox="1">
              <a:spLocks noChangeArrowheads="1"/>
            </p:cNvSpPr>
            <p:nvPr/>
          </p:nvSpPr>
          <p:spPr bwMode="auto">
            <a:xfrm>
              <a:off x="2825751" y="4111625"/>
              <a:ext cx="1655762" cy="3686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绝缘保护套层</a:t>
              </a:r>
            </a:p>
          </p:txBody>
        </p:sp>
        <p:sp>
          <p:nvSpPr>
            <p:cNvPr id="29709" name="Rectangle 9"/>
            <p:cNvSpPr>
              <a:spLocks noChangeArrowheads="1"/>
            </p:cNvSpPr>
            <p:nvPr/>
          </p:nvSpPr>
          <p:spPr bwMode="auto">
            <a:xfrm>
              <a:off x="6276975" y="5005105"/>
              <a:ext cx="517525" cy="2762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400" b="1">
                <a:solidFill>
                  <a:srgbClr val="000099"/>
                </a:solidFill>
                <a:ea typeface="黑体" panose="02010609060101010101" pitchFamily="49" charset="-122"/>
              </a:endParaRPr>
            </a:p>
          </p:txBody>
        </p:sp>
      </p:grpSp>
      <p:sp>
        <p:nvSpPr>
          <p:cNvPr id="29701" name="矩形 2"/>
          <p:cNvSpPr>
            <a:spLocks noChangeArrowheads="1"/>
          </p:cNvSpPr>
          <p:nvPr/>
        </p:nvSpPr>
        <p:spPr bwMode="auto">
          <a:xfrm>
            <a:off x="2405063" y="5786438"/>
            <a:ext cx="467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同轴电缆的结构</a:t>
            </a:r>
            <a:endParaRPr lang="zh-CN" altLang="en-US" sz="2400" b="1">
              <a:ea typeface="黑体" panose="02010609060101010101" pitchFamily="49" charset="-122"/>
            </a:endParaRPr>
          </a:p>
        </p:txBody>
      </p:sp>
      <p:sp>
        <p:nvSpPr>
          <p:cNvPr id="29702" name="灯片编号占位符 1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5B007C-9FF7-4DA2-959A-7C466932292B}" type="slidenum">
              <a:rPr altLang="en-US" smtClean="0"/>
              <a:pPr/>
              <a:t>34</a:t>
            </a:fld>
            <a:endParaRPr lang="zh-CN" altLang="zh-CN" smtClean="0"/>
          </a:p>
        </p:txBody>
      </p:sp>
      <p:sp>
        <p:nvSpPr>
          <p:cNvPr id="29703" name="页脚占位符 1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3785912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sp>
        <p:nvSpPr>
          <p:cNvPr id="31747" name="内容占位符 2"/>
          <p:cNvSpPr>
            <a:spLocks noGrp="1" noChangeArrowheads="1"/>
          </p:cNvSpPr>
          <p:nvPr>
            <p:ph idx="1"/>
          </p:nvPr>
        </p:nvSpPr>
        <p:spPr>
          <a:xfrm>
            <a:off x="495300" y="1196975"/>
            <a:ext cx="9066213" cy="4933950"/>
          </a:xfrm>
        </p:spPr>
        <p:txBody>
          <a:bodyPr/>
          <a:lstStyle/>
          <a:p>
            <a:pPr eaLnBrk="1" hangingPunct="1"/>
            <a:r>
              <a:rPr lang="zh-CN" altLang="en-US" dirty="0" smtClean="0">
                <a:solidFill>
                  <a:srgbClr val="FF0000"/>
                </a:solidFill>
                <a:ea typeface="黑体" panose="02010609060101010101" pitchFamily="49" charset="-122"/>
              </a:rPr>
              <a:t>光缆</a:t>
            </a:r>
            <a:endParaRPr lang="en-US" altLang="zh-CN" dirty="0" smtClean="0">
              <a:solidFill>
                <a:srgbClr val="FF0000"/>
              </a:solidFill>
              <a:ea typeface="黑体" panose="02010609060101010101" pitchFamily="49" charset="-122"/>
            </a:endParaRPr>
          </a:p>
          <a:p>
            <a:pPr lvl="1" eaLnBrk="1" hangingPunct="1"/>
            <a:r>
              <a:rPr lang="zh-CN" altLang="en-US" dirty="0" smtClean="0">
                <a:ea typeface="黑体" panose="02010609060101010101" pitchFamily="49" charset="-122"/>
              </a:rPr>
              <a:t>由光纤组成，几十上百光纤组成光缆。</a:t>
            </a:r>
            <a:endParaRPr lang="en-US" altLang="zh-CN" dirty="0" smtClean="0">
              <a:ea typeface="黑体" panose="02010609060101010101" pitchFamily="49" charset="-122"/>
            </a:endParaRPr>
          </a:p>
          <a:p>
            <a:pPr lvl="1" eaLnBrk="1" hangingPunct="1"/>
            <a:r>
              <a:rPr lang="zh-CN" altLang="zh-CN" dirty="0">
                <a:ea typeface="黑体" panose="02010609060101010101" pitchFamily="49" charset="-122"/>
              </a:rPr>
              <a:t>光纤是光纤通信的传输媒体</a:t>
            </a:r>
            <a:r>
              <a:rPr lang="zh-CN" altLang="en-US" dirty="0" smtClean="0">
                <a:ea typeface="黑体" panose="02010609060101010101" pitchFamily="49" charset="-122"/>
              </a:rPr>
              <a:t>，透明玻璃拉成细丝，</a:t>
            </a:r>
            <a:r>
              <a:rPr lang="en-US" altLang="zh-CN" dirty="0" smtClean="0">
                <a:ea typeface="黑体" panose="02010609060101010101" pitchFamily="49" charset="-122"/>
              </a:rPr>
              <a:t>8-100</a:t>
            </a:r>
            <a:r>
              <a:rPr lang="zh-CN" altLang="en-US" dirty="0" smtClean="0">
                <a:ea typeface="黑体" panose="02010609060101010101" pitchFamily="49" charset="-122"/>
              </a:rPr>
              <a:t>微米。发送端需要有光源，接收端需要有光检测器。</a:t>
            </a:r>
            <a:endParaRPr lang="en-US" altLang="zh-CN" dirty="0" smtClean="0">
              <a:ea typeface="黑体" panose="02010609060101010101" pitchFamily="49" charset="-122"/>
            </a:endParaRPr>
          </a:p>
          <a:p>
            <a:pPr lvl="1" eaLnBrk="1" hangingPunct="1"/>
            <a:r>
              <a:rPr lang="zh-CN" altLang="zh-CN" dirty="0" smtClean="0">
                <a:ea typeface="黑体" panose="02010609060101010101" pitchFamily="49" charset="-122"/>
              </a:rPr>
              <a:t>由于可见光的频率非常高，约为</a:t>
            </a:r>
            <a:r>
              <a:rPr lang="en-US" altLang="zh-CN" dirty="0" smtClean="0">
                <a:ea typeface="黑体" panose="02010609060101010101" pitchFamily="49" charset="-122"/>
              </a:rPr>
              <a:t> 10</a:t>
            </a:r>
            <a:r>
              <a:rPr lang="en-US" altLang="zh-CN" baseline="30000" dirty="0" smtClean="0">
                <a:ea typeface="黑体" panose="02010609060101010101" pitchFamily="49" charset="-122"/>
              </a:rPr>
              <a:t>8</a:t>
            </a:r>
            <a:r>
              <a:rPr lang="en-US" altLang="zh-CN" dirty="0" smtClean="0">
                <a:ea typeface="黑体" panose="02010609060101010101" pitchFamily="49" charset="-122"/>
              </a:rPr>
              <a:t> MHz </a:t>
            </a:r>
            <a:r>
              <a:rPr lang="zh-CN" altLang="zh-CN" dirty="0" smtClean="0">
                <a:ea typeface="黑体" panose="02010609060101010101" pitchFamily="49" charset="-122"/>
              </a:rPr>
              <a:t>的量级，因此一个光纤通信系统的传输带宽远远大于目前其他各种传输媒体的带宽</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eaLnBrk="1" hangingPunct="1"/>
            <a:endParaRPr lang="zh-CN" altLang="en-US" dirty="0" smtClean="0">
              <a:ea typeface="黑体" panose="02010609060101010101" pitchFamily="49" charset="-122"/>
            </a:endParaRPr>
          </a:p>
        </p:txBody>
      </p:sp>
      <p:sp>
        <p:nvSpPr>
          <p:cNvPr id="31748" name="AutoShape 8" descr="http://img3.imgtn.bdimg.com/it/u=2687704668,3138418309&amp;fm=21&amp;gp=0.jp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31749" name="AutoShape 10" descr="http://img3.imgtn.bdimg.com/it/u=2687704668,3138418309&amp;fm=21&amp;gp=0.jpg"/>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3175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158C3E-105F-4E24-AB11-F2AE1E67A46A}" type="slidenum">
              <a:rPr altLang="en-US" smtClean="0"/>
              <a:pPr/>
              <a:t>35</a:t>
            </a:fld>
            <a:endParaRPr lang="zh-CN" altLang="zh-CN" smtClean="0"/>
          </a:p>
        </p:txBody>
      </p:sp>
      <p:sp>
        <p:nvSpPr>
          <p:cNvPr id="31751"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3409529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eaLnBrk="1" hangingPunct="1"/>
            <a:r>
              <a:rPr lang="zh-CN" altLang="en-US" smtClean="0">
                <a:ea typeface="黑体" panose="02010609060101010101" pitchFamily="49" charset="-122"/>
              </a:rPr>
              <a:t>光线在光纤中的折射 </a:t>
            </a:r>
          </a:p>
        </p:txBody>
      </p:sp>
      <p:grpSp>
        <p:nvGrpSpPr>
          <p:cNvPr id="32771" name="组合 2"/>
          <p:cNvGrpSpPr>
            <a:grpSpLocks/>
          </p:cNvGrpSpPr>
          <p:nvPr/>
        </p:nvGrpSpPr>
        <p:grpSpPr bwMode="auto">
          <a:xfrm>
            <a:off x="776288" y="1268413"/>
            <a:ext cx="8713787" cy="2974975"/>
            <a:chOff x="776536" y="1484784"/>
            <a:chExt cx="8712968" cy="2974836"/>
          </a:xfrm>
        </p:grpSpPr>
        <p:sp>
          <p:nvSpPr>
            <p:cNvPr id="32776" name="Arc 84"/>
            <p:cNvSpPr>
              <a:spLocks noChangeArrowheads="1"/>
            </p:cNvSpPr>
            <p:nvPr/>
          </p:nvSpPr>
          <p:spPr bwMode="auto">
            <a:xfrm rot="9720000">
              <a:off x="3682984" y="3278659"/>
              <a:ext cx="104908" cy="79375"/>
            </a:xfrm>
            <a:custGeom>
              <a:avLst/>
              <a:gdLst>
                <a:gd name="T0" fmla="*/ -5 w 21600"/>
                <a:gd name="T1" fmla="*/ 0 h 21600"/>
                <a:gd name="T2" fmla="*/ 104908 w 21600"/>
                <a:gd name="T3" fmla="*/ 79375 h 21600"/>
                <a:gd name="T4" fmla="*/ -5 w 21600"/>
                <a:gd name="T5" fmla="*/ 0 h 21600"/>
                <a:gd name="T6" fmla="*/ 104908 w 21600"/>
                <a:gd name="T7" fmla="*/ 79375 h 21600"/>
                <a:gd name="T8" fmla="*/ 0 w 21600"/>
                <a:gd name="T9" fmla="*/ 7937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2777" name="Group 85"/>
            <p:cNvGrpSpPr>
              <a:grpSpLocks/>
            </p:cNvGrpSpPr>
            <p:nvPr/>
          </p:nvGrpSpPr>
          <p:grpSpPr bwMode="auto">
            <a:xfrm>
              <a:off x="3167047" y="2459508"/>
              <a:ext cx="3190214" cy="488950"/>
              <a:chOff x="292" y="1032"/>
              <a:chExt cx="1732" cy="216"/>
            </a:xfrm>
          </p:grpSpPr>
          <p:grpSp>
            <p:nvGrpSpPr>
              <p:cNvPr id="32814" name="Group 86"/>
              <p:cNvGrpSpPr>
                <a:grpSpLocks/>
              </p:cNvGrpSpPr>
              <p:nvPr/>
            </p:nvGrpSpPr>
            <p:grpSpPr bwMode="auto">
              <a:xfrm>
                <a:off x="292" y="1032"/>
                <a:ext cx="1732" cy="216"/>
                <a:chOff x="292" y="1032"/>
                <a:chExt cx="1732" cy="216"/>
              </a:xfrm>
            </p:grpSpPr>
            <p:sp>
              <p:nvSpPr>
                <p:cNvPr id="32816" name="Line 87"/>
                <p:cNvSpPr>
                  <a:spLocks noChangeShapeType="1"/>
                </p:cNvSpPr>
                <p:nvPr/>
              </p:nvSpPr>
              <p:spPr bwMode="auto">
                <a:xfrm>
                  <a:off x="292" y="1032"/>
                  <a:ext cx="17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7" name="Line 88"/>
                <p:cNvSpPr>
                  <a:spLocks noChangeShapeType="1"/>
                </p:cNvSpPr>
                <p:nvPr/>
              </p:nvSpPr>
              <p:spPr bwMode="auto">
                <a:xfrm>
                  <a:off x="292" y="1248"/>
                  <a:ext cx="17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815" name="Rectangle 89"/>
              <p:cNvSpPr>
                <a:spLocks noChangeArrowheads="1"/>
              </p:cNvSpPr>
              <p:nvPr/>
            </p:nvSpPr>
            <p:spPr bwMode="auto">
              <a:xfrm>
                <a:off x="296" y="1041"/>
                <a:ext cx="1716" cy="198"/>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grpSp>
        <p:grpSp>
          <p:nvGrpSpPr>
            <p:cNvPr id="32778" name="Group 90"/>
            <p:cNvGrpSpPr>
              <a:grpSpLocks/>
            </p:cNvGrpSpPr>
            <p:nvPr/>
          </p:nvGrpSpPr>
          <p:grpSpPr bwMode="auto">
            <a:xfrm>
              <a:off x="3153289" y="3881908"/>
              <a:ext cx="3167856" cy="436562"/>
              <a:chOff x="284" y="1656"/>
              <a:chExt cx="1720" cy="192"/>
            </a:xfrm>
          </p:grpSpPr>
          <p:grpSp>
            <p:nvGrpSpPr>
              <p:cNvPr id="32810" name="Group 91"/>
              <p:cNvGrpSpPr>
                <a:grpSpLocks/>
              </p:cNvGrpSpPr>
              <p:nvPr/>
            </p:nvGrpSpPr>
            <p:grpSpPr bwMode="auto">
              <a:xfrm>
                <a:off x="284" y="1656"/>
                <a:ext cx="1720" cy="192"/>
                <a:chOff x="284" y="1656"/>
                <a:chExt cx="1720" cy="192"/>
              </a:xfrm>
            </p:grpSpPr>
            <p:sp>
              <p:nvSpPr>
                <p:cNvPr id="32812" name="Line 92"/>
                <p:cNvSpPr>
                  <a:spLocks noChangeShapeType="1"/>
                </p:cNvSpPr>
                <p:nvPr/>
              </p:nvSpPr>
              <p:spPr bwMode="auto">
                <a:xfrm>
                  <a:off x="284" y="1656"/>
                  <a:ext cx="17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3" name="Line 93"/>
                <p:cNvSpPr>
                  <a:spLocks noChangeShapeType="1"/>
                </p:cNvSpPr>
                <p:nvPr/>
              </p:nvSpPr>
              <p:spPr bwMode="auto">
                <a:xfrm>
                  <a:off x="284" y="1848"/>
                  <a:ext cx="17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811" name="Rectangle 94"/>
              <p:cNvSpPr>
                <a:spLocks noChangeArrowheads="1"/>
              </p:cNvSpPr>
              <p:nvPr/>
            </p:nvSpPr>
            <p:spPr bwMode="auto">
              <a:xfrm>
                <a:off x="288" y="1664"/>
                <a:ext cx="1704" cy="176"/>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grpSp>
        <p:sp>
          <p:nvSpPr>
            <p:cNvPr id="32779" name="Line 95"/>
            <p:cNvSpPr>
              <a:spLocks noChangeShapeType="1"/>
            </p:cNvSpPr>
            <p:nvPr/>
          </p:nvSpPr>
          <p:spPr bwMode="auto">
            <a:xfrm>
              <a:off x="3808529" y="1930870"/>
              <a:ext cx="0" cy="193198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0" name="Line 96"/>
            <p:cNvSpPr>
              <a:spLocks noChangeShapeType="1"/>
            </p:cNvSpPr>
            <p:nvPr/>
          </p:nvSpPr>
          <p:spPr bwMode="auto">
            <a:xfrm flipV="1">
              <a:off x="3815409" y="2596034"/>
              <a:ext cx="428228" cy="365125"/>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1" name="Line 97"/>
            <p:cNvSpPr>
              <a:spLocks noChangeShapeType="1"/>
            </p:cNvSpPr>
            <p:nvPr/>
          </p:nvSpPr>
          <p:spPr bwMode="auto">
            <a:xfrm flipV="1">
              <a:off x="3492087" y="2951633"/>
              <a:ext cx="316442" cy="749300"/>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2" name="Arc 98"/>
            <p:cNvSpPr>
              <a:spLocks noChangeArrowheads="1"/>
            </p:cNvSpPr>
            <p:nvPr/>
          </p:nvSpPr>
          <p:spPr bwMode="auto">
            <a:xfrm>
              <a:off x="3811970" y="2700809"/>
              <a:ext cx="154781" cy="123825"/>
            </a:xfrm>
            <a:custGeom>
              <a:avLst/>
              <a:gdLst>
                <a:gd name="T0" fmla="*/ -7 w 21600"/>
                <a:gd name="T1" fmla="*/ 0 h 21600"/>
                <a:gd name="T2" fmla="*/ 154781 w 21600"/>
                <a:gd name="T3" fmla="*/ 123825 h 21600"/>
                <a:gd name="T4" fmla="*/ -7 w 21600"/>
                <a:gd name="T5" fmla="*/ 0 h 21600"/>
                <a:gd name="T6" fmla="*/ 154781 w 21600"/>
                <a:gd name="T7" fmla="*/ 123825 h 21600"/>
                <a:gd name="T8" fmla="*/ 0 w 21600"/>
                <a:gd name="T9" fmla="*/ 12382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83" name="Line 99"/>
            <p:cNvSpPr>
              <a:spLocks noChangeShapeType="1"/>
            </p:cNvSpPr>
            <p:nvPr/>
          </p:nvSpPr>
          <p:spPr bwMode="auto">
            <a:xfrm>
              <a:off x="5237676" y="1949920"/>
              <a:ext cx="0" cy="193198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4" name="Line 100"/>
            <p:cNvSpPr>
              <a:spLocks noChangeShapeType="1"/>
            </p:cNvSpPr>
            <p:nvPr/>
          </p:nvSpPr>
          <p:spPr bwMode="auto">
            <a:xfrm flipV="1">
              <a:off x="4405297" y="2951634"/>
              <a:ext cx="844418" cy="346075"/>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5" name="Line 101"/>
            <p:cNvSpPr>
              <a:spLocks noChangeShapeType="1"/>
            </p:cNvSpPr>
            <p:nvPr/>
          </p:nvSpPr>
          <p:spPr bwMode="auto">
            <a:xfrm>
              <a:off x="5244555" y="2951633"/>
              <a:ext cx="966523" cy="355600"/>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6" name="Arc 102"/>
            <p:cNvSpPr>
              <a:spLocks noChangeArrowheads="1"/>
            </p:cNvSpPr>
            <p:nvPr/>
          </p:nvSpPr>
          <p:spPr bwMode="auto">
            <a:xfrm rot="9840000">
              <a:off x="4936713" y="3054821"/>
              <a:ext cx="256248" cy="328613"/>
            </a:xfrm>
            <a:custGeom>
              <a:avLst/>
              <a:gdLst>
                <a:gd name="T0" fmla="*/ -12 w 21600"/>
                <a:gd name="T1" fmla="*/ 0 h 21600"/>
                <a:gd name="T2" fmla="*/ 256248 w 21600"/>
                <a:gd name="T3" fmla="*/ 328613 h 21600"/>
                <a:gd name="T4" fmla="*/ -12 w 21600"/>
                <a:gd name="T5" fmla="*/ 0 h 21600"/>
                <a:gd name="T6" fmla="*/ 256248 w 21600"/>
                <a:gd name="T7" fmla="*/ 328613 h 21600"/>
                <a:gd name="T8" fmla="*/ 0 w 21600"/>
                <a:gd name="T9" fmla="*/ 328613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87" name="Freeform 103"/>
            <p:cNvSpPr>
              <a:spLocks noChangeArrowheads="1"/>
            </p:cNvSpPr>
            <p:nvPr/>
          </p:nvSpPr>
          <p:spPr bwMode="auto">
            <a:xfrm>
              <a:off x="3027745" y="2500783"/>
              <a:ext cx="166819" cy="1820862"/>
            </a:xfrm>
            <a:custGeom>
              <a:avLst/>
              <a:gdLst>
                <a:gd name="T0" fmla="*/ 142988 w 91"/>
                <a:gd name="T1" fmla="*/ 0 h 799"/>
                <a:gd name="T2" fmla="*/ 142988 w 91"/>
                <a:gd name="T3" fmla="*/ 41021 h 799"/>
                <a:gd name="T4" fmla="*/ 142988 w 91"/>
                <a:gd name="T5" fmla="*/ 82041 h 799"/>
                <a:gd name="T6" fmla="*/ 109991 w 91"/>
                <a:gd name="T7" fmla="*/ 123062 h 799"/>
                <a:gd name="T8" fmla="*/ 109991 w 91"/>
                <a:gd name="T9" fmla="*/ 164083 h 799"/>
                <a:gd name="T10" fmla="*/ 98991 w 91"/>
                <a:gd name="T11" fmla="*/ 205103 h 799"/>
                <a:gd name="T12" fmla="*/ 98991 w 91"/>
                <a:gd name="T13" fmla="*/ 246124 h 799"/>
                <a:gd name="T14" fmla="*/ 131989 w 91"/>
                <a:gd name="T15" fmla="*/ 287145 h 799"/>
                <a:gd name="T16" fmla="*/ 164986 w 91"/>
                <a:gd name="T17" fmla="*/ 328165 h 799"/>
                <a:gd name="T18" fmla="*/ 164986 w 91"/>
                <a:gd name="T19" fmla="*/ 369186 h 799"/>
                <a:gd name="T20" fmla="*/ 164986 w 91"/>
                <a:gd name="T21" fmla="*/ 410207 h 799"/>
                <a:gd name="T22" fmla="*/ 164986 w 91"/>
                <a:gd name="T23" fmla="*/ 451227 h 799"/>
                <a:gd name="T24" fmla="*/ 153987 w 91"/>
                <a:gd name="T25" fmla="*/ 451227 h 799"/>
                <a:gd name="T26" fmla="*/ 120990 w 91"/>
                <a:gd name="T27" fmla="*/ 478574 h 799"/>
                <a:gd name="T28" fmla="*/ 87992 w 91"/>
                <a:gd name="T29" fmla="*/ 519595 h 799"/>
                <a:gd name="T30" fmla="*/ 65994 w 91"/>
                <a:gd name="T31" fmla="*/ 560616 h 799"/>
                <a:gd name="T32" fmla="*/ 32997 w 91"/>
                <a:gd name="T33" fmla="*/ 587963 h 799"/>
                <a:gd name="T34" fmla="*/ 21998 w 91"/>
                <a:gd name="T35" fmla="*/ 628984 h 799"/>
                <a:gd name="T36" fmla="*/ 21998 w 91"/>
                <a:gd name="T37" fmla="*/ 670004 h 799"/>
                <a:gd name="T38" fmla="*/ 21998 w 91"/>
                <a:gd name="T39" fmla="*/ 711025 h 799"/>
                <a:gd name="T40" fmla="*/ 21998 w 91"/>
                <a:gd name="T41" fmla="*/ 752046 h 799"/>
                <a:gd name="T42" fmla="*/ 0 w 91"/>
                <a:gd name="T43" fmla="*/ 793066 h 799"/>
                <a:gd name="T44" fmla="*/ 0 w 91"/>
                <a:gd name="T45" fmla="*/ 834087 h 799"/>
                <a:gd name="T46" fmla="*/ 0 w 91"/>
                <a:gd name="T47" fmla="*/ 875108 h 799"/>
                <a:gd name="T48" fmla="*/ 0 w 91"/>
                <a:gd name="T49" fmla="*/ 916128 h 799"/>
                <a:gd name="T50" fmla="*/ 0 w 91"/>
                <a:gd name="T51" fmla="*/ 957149 h 799"/>
                <a:gd name="T52" fmla="*/ 0 w 91"/>
                <a:gd name="T53" fmla="*/ 998170 h 799"/>
                <a:gd name="T54" fmla="*/ 32997 w 91"/>
                <a:gd name="T55" fmla="*/ 1025517 h 799"/>
                <a:gd name="T56" fmla="*/ 65994 w 91"/>
                <a:gd name="T57" fmla="*/ 1052864 h 799"/>
                <a:gd name="T58" fmla="*/ 98991 w 91"/>
                <a:gd name="T59" fmla="*/ 1080211 h 799"/>
                <a:gd name="T60" fmla="*/ 109991 w 91"/>
                <a:gd name="T61" fmla="*/ 1121232 h 799"/>
                <a:gd name="T62" fmla="*/ 142988 w 91"/>
                <a:gd name="T63" fmla="*/ 1162252 h 799"/>
                <a:gd name="T64" fmla="*/ 153987 w 91"/>
                <a:gd name="T65" fmla="*/ 1203273 h 799"/>
                <a:gd name="T66" fmla="*/ 164986 w 91"/>
                <a:gd name="T67" fmla="*/ 1244294 h 799"/>
                <a:gd name="T68" fmla="*/ 164986 w 91"/>
                <a:gd name="T69" fmla="*/ 1285314 h 799"/>
                <a:gd name="T70" fmla="*/ 164986 w 91"/>
                <a:gd name="T71" fmla="*/ 1326335 h 799"/>
                <a:gd name="T72" fmla="*/ 164986 w 91"/>
                <a:gd name="T73" fmla="*/ 1367356 h 799"/>
                <a:gd name="T74" fmla="*/ 131989 w 91"/>
                <a:gd name="T75" fmla="*/ 1367356 h 799"/>
                <a:gd name="T76" fmla="*/ 120990 w 91"/>
                <a:gd name="T77" fmla="*/ 1408376 h 799"/>
                <a:gd name="T78" fmla="*/ 109991 w 91"/>
                <a:gd name="T79" fmla="*/ 1449397 h 799"/>
                <a:gd name="T80" fmla="*/ 98991 w 91"/>
                <a:gd name="T81" fmla="*/ 1490418 h 799"/>
                <a:gd name="T82" fmla="*/ 87992 w 91"/>
                <a:gd name="T83" fmla="*/ 1531438 h 799"/>
                <a:gd name="T84" fmla="*/ 87992 w 91"/>
                <a:gd name="T85" fmla="*/ 1572459 h 799"/>
                <a:gd name="T86" fmla="*/ 87992 w 91"/>
                <a:gd name="T87" fmla="*/ 1613480 h 799"/>
                <a:gd name="T88" fmla="*/ 87992 w 91"/>
                <a:gd name="T89" fmla="*/ 1654500 h 799"/>
                <a:gd name="T90" fmla="*/ 87992 w 91"/>
                <a:gd name="T91" fmla="*/ 1695521 h 799"/>
                <a:gd name="T92" fmla="*/ 98991 w 91"/>
                <a:gd name="T93" fmla="*/ 1736542 h 799"/>
                <a:gd name="T94" fmla="*/ 109991 w 91"/>
                <a:gd name="T95" fmla="*/ 1777562 h 799"/>
                <a:gd name="T96" fmla="*/ 131989 w 91"/>
                <a:gd name="T97" fmla="*/ 1818583 h 799"/>
                <a:gd name="T98" fmla="*/ 131989 w 91"/>
                <a:gd name="T99" fmla="*/ 1804910 h 799"/>
                <a:gd name="T100" fmla="*/ 131989 w 91"/>
                <a:gd name="T101" fmla="*/ 1791236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88" name="Rectangle 104"/>
            <p:cNvSpPr>
              <a:spLocks noChangeArrowheads="1"/>
            </p:cNvSpPr>
            <p:nvPr/>
          </p:nvSpPr>
          <p:spPr bwMode="auto">
            <a:xfrm>
              <a:off x="4835245" y="1484784"/>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折射角</a:t>
              </a:r>
            </a:p>
          </p:txBody>
        </p:sp>
        <p:sp>
          <p:nvSpPr>
            <p:cNvPr id="32789" name="Rectangle 105"/>
            <p:cNvSpPr>
              <a:spLocks noChangeArrowheads="1"/>
            </p:cNvSpPr>
            <p:nvPr/>
          </p:nvSpPr>
          <p:spPr bwMode="auto">
            <a:xfrm>
              <a:off x="3944888" y="3463503"/>
              <a:ext cx="118837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入射角</a:t>
              </a:r>
            </a:p>
          </p:txBody>
        </p:sp>
        <p:sp>
          <p:nvSpPr>
            <p:cNvPr id="32790" name="Line 106"/>
            <p:cNvSpPr>
              <a:spLocks noChangeShapeType="1"/>
            </p:cNvSpPr>
            <p:nvPr/>
          </p:nvSpPr>
          <p:spPr bwMode="auto">
            <a:xfrm>
              <a:off x="5333984" y="2003896"/>
              <a:ext cx="128985" cy="7207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1" name="Line 107"/>
            <p:cNvSpPr>
              <a:spLocks noChangeShapeType="1"/>
            </p:cNvSpPr>
            <p:nvPr/>
          </p:nvSpPr>
          <p:spPr bwMode="auto">
            <a:xfrm flipV="1">
              <a:off x="3896238" y="1959445"/>
              <a:ext cx="1135063" cy="768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2" name="Line 108"/>
            <p:cNvSpPr>
              <a:spLocks noChangeShapeType="1"/>
            </p:cNvSpPr>
            <p:nvPr/>
          </p:nvSpPr>
          <p:spPr bwMode="auto">
            <a:xfrm>
              <a:off x="3728864" y="3356992"/>
              <a:ext cx="323321" cy="2555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3" name="Line 109"/>
            <p:cNvSpPr>
              <a:spLocks noChangeShapeType="1"/>
            </p:cNvSpPr>
            <p:nvPr/>
          </p:nvSpPr>
          <p:spPr bwMode="auto">
            <a:xfrm flipV="1">
              <a:off x="4773332" y="3297709"/>
              <a:ext cx="270008" cy="3190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4" name="Line 110"/>
            <p:cNvSpPr>
              <a:spLocks noChangeShapeType="1"/>
            </p:cNvSpPr>
            <p:nvPr/>
          </p:nvSpPr>
          <p:spPr bwMode="auto">
            <a:xfrm flipV="1">
              <a:off x="6259232" y="3061171"/>
              <a:ext cx="658681" cy="32861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5" name="Line 111"/>
            <p:cNvSpPr>
              <a:spLocks noChangeShapeType="1"/>
            </p:cNvSpPr>
            <p:nvPr/>
          </p:nvSpPr>
          <p:spPr bwMode="auto">
            <a:xfrm flipH="1">
              <a:off x="6104451" y="2029296"/>
              <a:ext cx="543454" cy="7080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6" name="Freeform 112"/>
            <p:cNvSpPr>
              <a:spLocks noChangeArrowheads="1"/>
            </p:cNvSpPr>
            <p:nvPr/>
          </p:nvSpPr>
          <p:spPr bwMode="auto">
            <a:xfrm>
              <a:off x="6343503" y="2473796"/>
              <a:ext cx="24077" cy="493713"/>
            </a:xfrm>
            <a:custGeom>
              <a:avLst/>
              <a:gdLst>
                <a:gd name="T0" fmla="*/ 0 w 13"/>
                <a:gd name="T1" fmla="*/ 0 h 217"/>
                <a:gd name="T2" fmla="*/ 11112 w 13"/>
                <a:gd name="T3" fmla="*/ 40953 h 217"/>
                <a:gd name="T4" fmla="*/ 11112 w 13"/>
                <a:gd name="T5" fmla="*/ 81906 h 217"/>
                <a:gd name="T6" fmla="*/ 11112 w 13"/>
                <a:gd name="T7" fmla="*/ 122859 h 217"/>
                <a:gd name="T8" fmla="*/ 11112 w 13"/>
                <a:gd name="T9" fmla="*/ 163813 h 217"/>
                <a:gd name="T10" fmla="*/ 11112 w 13"/>
                <a:gd name="T11" fmla="*/ 204766 h 217"/>
                <a:gd name="T12" fmla="*/ 0 w 13"/>
                <a:gd name="T13" fmla="*/ 245719 h 217"/>
                <a:gd name="T14" fmla="*/ 0 w 13"/>
                <a:gd name="T15" fmla="*/ 286672 h 217"/>
                <a:gd name="T16" fmla="*/ 0 w 13"/>
                <a:gd name="T17" fmla="*/ 327625 h 217"/>
                <a:gd name="T18" fmla="*/ 0 w 13"/>
                <a:gd name="T19" fmla="*/ 368578 h 217"/>
                <a:gd name="T20" fmla="*/ 0 w 13"/>
                <a:gd name="T21" fmla="*/ 409532 h 217"/>
                <a:gd name="T22" fmla="*/ 11112 w 13"/>
                <a:gd name="T23" fmla="*/ 450485 h 217"/>
                <a:gd name="T24" fmla="*/ 22225 w 13"/>
                <a:gd name="T25" fmla="*/ 491438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7" name="Freeform 113"/>
            <p:cNvSpPr>
              <a:spLocks noChangeArrowheads="1"/>
            </p:cNvSpPr>
            <p:nvPr/>
          </p:nvSpPr>
          <p:spPr bwMode="auto">
            <a:xfrm>
              <a:off x="6310826" y="2951633"/>
              <a:ext cx="89429" cy="919162"/>
            </a:xfrm>
            <a:custGeom>
              <a:avLst/>
              <a:gdLst>
                <a:gd name="T0" fmla="*/ 32851 w 49"/>
                <a:gd name="T1" fmla="*/ 0 h 403"/>
                <a:gd name="T2" fmla="*/ 21901 w 49"/>
                <a:gd name="T3" fmla="*/ 41054 h 403"/>
                <a:gd name="T4" fmla="*/ 21901 w 49"/>
                <a:gd name="T5" fmla="*/ 82109 h 403"/>
                <a:gd name="T6" fmla="*/ 21901 w 49"/>
                <a:gd name="T7" fmla="*/ 123163 h 403"/>
                <a:gd name="T8" fmla="*/ 21901 w 49"/>
                <a:gd name="T9" fmla="*/ 164218 h 403"/>
                <a:gd name="T10" fmla="*/ 43802 w 49"/>
                <a:gd name="T11" fmla="*/ 205272 h 403"/>
                <a:gd name="T12" fmla="*/ 43802 w 49"/>
                <a:gd name="T13" fmla="*/ 246326 h 403"/>
                <a:gd name="T14" fmla="*/ 54752 w 49"/>
                <a:gd name="T15" fmla="*/ 287381 h 403"/>
                <a:gd name="T16" fmla="*/ 65703 w 49"/>
                <a:gd name="T17" fmla="*/ 328435 h 403"/>
                <a:gd name="T18" fmla="*/ 65703 w 49"/>
                <a:gd name="T19" fmla="*/ 369489 h 403"/>
                <a:gd name="T20" fmla="*/ 87604 w 49"/>
                <a:gd name="T21" fmla="*/ 410544 h 403"/>
                <a:gd name="T22" fmla="*/ 87604 w 49"/>
                <a:gd name="T23" fmla="*/ 451598 h 403"/>
                <a:gd name="T24" fmla="*/ 87604 w 49"/>
                <a:gd name="T25" fmla="*/ 492653 h 403"/>
                <a:gd name="T26" fmla="*/ 87604 w 49"/>
                <a:gd name="T27" fmla="*/ 533707 h 403"/>
                <a:gd name="T28" fmla="*/ 87604 w 49"/>
                <a:gd name="T29" fmla="*/ 574761 h 403"/>
                <a:gd name="T30" fmla="*/ 87604 w 49"/>
                <a:gd name="T31" fmla="*/ 615816 h 403"/>
                <a:gd name="T32" fmla="*/ 76653 w 49"/>
                <a:gd name="T33" fmla="*/ 656870 h 403"/>
                <a:gd name="T34" fmla="*/ 65703 w 49"/>
                <a:gd name="T35" fmla="*/ 697924 h 403"/>
                <a:gd name="T36" fmla="*/ 54752 w 49"/>
                <a:gd name="T37" fmla="*/ 738979 h 403"/>
                <a:gd name="T38" fmla="*/ 32851 w 49"/>
                <a:gd name="T39" fmla="*/ 780033 h 403"/>
                <a:gd name="T40" fmla="*/ 21901 w 49"/>
                <a:gd name="T41" fmla="*/ 834772 h 403"/>
                <a:gd name="T42" fmla="*/ 21901 w 49"/>
                <a:gd name="T43" fmla="*/ 875827 h 403"/>
                <a:gd name="T44" fmla="*/ 0 w 49"/>
                <a:gd name="T45" fmla="*/ 916881 h 403"/>
                <a:gd name="T46" fmla="*/ 0 w 49"/>
                <a:gd name="T47" fmla="*/ 916881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8" name="Freeform 114"/>
            <p:cNvSpPr>
              <a:spLocks noChangeArrowheads="1"/>
            </p:cNvSpPr>
            <p:nvPr/>
          </p:nvSpPr>
          <p:spPr bwMode="auto">
            <a:xfrm>
              <a:off x="6288469" y="3867621"/>
              <a:ext cx="24077" cy="454025"/>
            </a:xfrm>
            <a:custGeom>
              <a:avLst/>
              <a:gdLst>
                <a:gd name="T0" fmla="*/ 22225 w 13"/>
                <a:gd name="T1" fmla="*/ 0 h 199"/>
                <a:gd name="T2" fmla="*/ 22225 w 13"/>
                <a:gd name="T3" fmla="*/ 41068 h 199"/>
                <a:gd name="T4" fmla="*/ 22225 w 13"/>
                <a:gd name="T5" fmla="*/ 82135 h 199"/>
                <a:gd name="T6" fmla="*/ 22225 w 13"/>
                <a:gd name="T7" fmla="*/ 123203 h 199"/>
                <a:gd name="T8" fmla="*/ 22225 w 13"/>
                <a:gd name="T9" fmla="*/ 164270 h 199"/>
                <a:gd name="T10" fmla="*/ 22225 w 13"/>
                <a:gd name="T11" fmla="*/ 205338 h 199"/>
                <a:gd name="T12" fmla="*/ 22225 w 13"/>
                <a:gd name="T13" fmla="*/ 246406 h 199"/>
                <a:gd name="T14" fmla="*/ 22225 w 13"/>
                <a:gd name="T15" fmla="*/ 287473 h 199"/>
                <a:gd name="T16" fmla="*/ 22225 w 13"/>
                <a:gd name="T17" fmla="*/ 328541 h 199"/>
                <a:gd name="T18" fmla="*/ 22225 w 13"/>
                <a:gd name="T19" fmla="*/ 369608 h 199"/>
                <a:gd name="T20" fmla="*/ 11112 w 13"/>
                <a:gd name="T21" fmla="*/ 410676 h 199"/>
                <a:gd name="T22" fmla="*/ 0 w 13"/>
                <a:gd name="T23" fmla="*/ 451743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9" name="Arc 115"/>
            <p:cNvSpPr>
              <a:spLocks noChangeArrowheads="1"/>
            </p:cNvSpPr>
            <p:nvPr/>
          </p:nvSpPr>
          <p:spPr bwMode="auto">
            <a:xfrm rot="540000">
              <a:off x="5230797" y="2689696"/>
              <a:ext cx="383514" cy="346075"/>
            </a:xfrm>
            <a:custGeom>
              <a:avLst/>
              <a:gdLst>
                <a:gd name="T0" fmla="*/ -18 w 21600"/>
                <a:gd name="T1" fmla="*/ 0 h 21600"/>
                <a:gd name="T2" fmla="*/ 383514 w 21600"/>
                <a:gd name="T3" fmla="*/ 346075 h 21600"/>
                <a:gd name="T4" fmla="*/ -18 w 21600"/>
                <a:gd name="T5" fmla="*/ 0 h 21600"/>
                <a:gd name="T6" fmla="*/ 383514 w 21600"/>
                <a:gd name="T7" fmla="*/ 346075 h 21600"/>
                <a:gd name="T8" fmla="*/ 0 w 21600"/>
                <a:gd name="T9" fmla="*/ 34607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00" name="Text Box 116"/>
            <p:cNvSpPr txBox="1">
              <a:spLocks noChangeArrowheads="1"/>
            </p:cNvSpPr>
            <p:nvPr/>
          </p:nvSpPr>
          <p:spPr bwMode="auto">
            <a:xfrm>
              <a:off x="6334903" y="1592734"/>
              <a:ext cx="25074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包层</a:t>
              </a:r>
            </a:p>
            <a:p>
              <a:r>
                <a:rPr lang="zh-CN" altLang="en-US" sz="2000" b="1">
                  <a:solidFill>
                    <a:srgbClr val="000099"/>
                  </a:solidFill>
                  <a:ea typeface="黑体" panose="02010609060101010101" pitchFamily="49" charset="-122"/>
                </a:rPr>
                <a:t>（低折射率的媒体）</a:t>
              </a:r>
            </a:p>
          </p:txBody>
        </p:sp>
        <p:sp>
          <p:nvSpPr>
            <p:cNvPr id="32801" name="Line 117"/>
            <p:cNvSpPr>
              <a:spLocks noChangeShapeType="1"/>
            </p:cNvSpPr>
            <p:nvPr/>
          </p:nvSpPr>
          <p:spPr bwMode="auto">
            <a:xfrm flipH="1">
              <a:off x="6082094" y="4045420"/>
              <a:ext cx="706834" cy="10953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2" name="Text Box 118"/>
            <p:cNvSpPr txBox="1">
              <a:spLocks noChangeArrowheads="1"/>
            </p:cNvSpPr>
            <p:nvPr/>
          </p:nvSpPr>
          <p:spPr bwMode="auto">
            <a:xfrm>
              <a:off x="6647905" y="3751734"/>
              <a:ext cx="25074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包层</a:t>
              </a:r>
            </a:p>
            <a:p>
              <a:r>
                <a:rPr lang="zh-CN" altLang="en-US" sz="2000" b="1">
                  <a:solidFill>
                    <a:srgbClr val="000099"/>
                  </a:solidFill>
                  <a:ea typeface="黑体" panose="02010609060101010101" pitchFamily="49" charset="-122"/>
                </a:rPr>
                <a:t>（低折射率的媒体）</a:t>
              </a:r>
            </a:p>
          </p:txBody>
        </p:sp>
        <p:sp>
          <p:nvSpPr>
            <p:cNvPr id="32803" name="Text Box 119"/>
            <p:cNvSpPr txBox="1">
              <a:spLocks noChangeArrowheads="1"/>
            </p:cNvSpPr>
            <p:nvPr/>
          </p:nvSpPr>
          <p:spPr bwMode="auto">
            <a:xfrm>
              <a:off x="6725296" y="2676996"/>
              <a:ext cx="276420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纤芯</a:t>
              </a:r>
            </a:p>
            <a:p>
              <a:r>
                <a:rPr lang="zh-CN" altLang="en-US" sz="2000" b="1">
                  <a:solidFill>
                    <a:srgbClr val="000099"/>
                  </a:solidFill>
                  <a:ea typeface="黑体" panose="02010609060101010101" pitchFamily="49" charset="-122"/>
                </a:rPr>
                <a:t>（高折射率的媒体）            </a:t>
              </a:r>
            </a:p>
          </p:txBody>
        </p:sp>
        <p:sp>
          <p:nvSpPr>
            <p:cNvPr id="32804" name="AutoShape 120"/>
            <p:cNvSpPr>
              <a:spLocks noChangeArrowheads="1"/>
            </p:cNvSpPr>
            <p:nvPr/>
          </p:nvSpPr>
          <p:spPr bwMode="auto">
            <a:xfrm rot="5400000">
              <a:off x="541256" y="2682088"/>
              <a:ext cx="1885950" cy="1415389"/>
            </a:xfrm>
            <a:prstGeom prst="can">
              <a:avLst>
                <a:gd name="adj" fmla="val 29815"/>
              </a:avLst>
            </a:prstGeom>
            <a:gradFill rotWithShape="1">
              <a:gsLst>
                <a:gs pos="0">
                  <a:srgbClr val="2F7676"/>
                </a:gs>
                <a:gs pos="50000">
                  <a:srgbClr val="66FFFF"/>
                </a:gs>
                <a:gs pos="100000">
                  <a:srgbClr val="2F7676"/>
                </a:gs>
              </a:gsLst>
              <a:lin ang="0" scaled="1"/>
            </a:gradFill>
            <a:ln w="12700">
              <a:solidFill>
                <a:srgbClr val="333399"/>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32805" name="AutoShape 121"/>
            <p:cNvSpPr>
              <a:spLocks noChangeArrowheads="1"/>
            </p:cNvSpPr>
            <p:nvPr/>
          </p:nvSpPr>
          <p:spPr bwMode="auto">
            <a:xfrm rot="5400000">
              <a:off x="1828784" y="3062493"/>
              <a:ext cx="901700" cy="708554"/>
            </a:xfrm>
            <a:prstGeom prst="can">
              <a:avLst>
                <a:gd name="adj" fmla="val 27343"/>
              </a:avLst>
            </a:prstGeom>
            <a:solidFill>
              <a:srgbClr val="FFFFFF"/>
            </a:solidFill>
            <a:ln w="12700">
              <a:solidFill>
                <a:srgbClr val="333399"/>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32806" name="Text Box 122"/>
            <p:cNvSpPr txBox="1">
              <a:spLocks noChangeArrowheads="1"/>
            </p:cNvSpPr>
            <p:nvPr/>
          </p:nvSpPr>
          <p:spPr bwMode="auto">
            <a:xfrm>
              <a:off x="1218523" y="14895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包层</a:t>
              </a:r>
            </a:p>
          </p:txBody>
        </p:sp>
        <p:sp>
          <p:nvSpPr>
            <p:cNvPr id="32807" name="Line 123"/>
            <p:cNvSpPr>
              <a:spLocks noChangeShapeType="1"/>
            </p:cNvSpPr>
            <p:nvPr/>
          </p:nvSpPr>
          <p:spPr bwMode="auto">
            <a:xfrm flipH="1">
              <a:off x="1572800" y="2076920"/>
              <a:ext cx="3440" cy="65563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8" name="Text Box 124"/>
            <p:cNvSpPr txBox="1">
              <a:spLocks noChangeArrowheads="1"/>
            </p:cNvSpPr>
            <p:nvPr/>
          </p:nvSpPr>
          <p:spPr bwMode="auto">
            <a:xfrm>
              <a:off x="2191925" y="1857846"/>
              <a:ext cx="7549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纤芯</a:t>
              </a:r>
            </a:p>
          </p:txBody>
        </p:sp>
        <p:sp>
          <p:nvSpPr>
            <p:cNvPr id="32809" name="Line 125"/>
            <p:cNvSpPr>
              <a:spLocks noChangeShapeType="1"/>
            </p:cNvSpPr>
            <p:nvPr/>
          </p:nvSpPr>
          <p:spPr bwMode="auto">
            <a:xfrm flipH="1">
              <a:off x="2186765" y="2295996"/>
              <a:ext cx="270008" cy="87471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772" name="矩形 3"/>
          <p:cNvSpPr>
            <a:spLocks noChangeArrowheads="1"/>
          </p:cNvSpPr>
          <p:nvPr/>
        </p:nvSpPr>
        <p:spPr bwMode="auto">
          <a:xfrm>
            <a:off x="2289175" y="4365625"/>
            <a:ext cx="4862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光线在光纤中的折射</a:t>
            </a:r>
            <a:endParaRPr lang="zh-CN" altLang="en-US" sz="2400" b="1">
              <a:ea typeface="黑体" panose="02010609060101010101" pitchFamily="49" charset="-122"/>
            </a:endParaRPr>
          </a:p>
        </p:txBody>
      </p:sp>
      <p:sp>
        <p:nvSpPr>
          <p:cNvPr id="32773" name="矩形 4"/>
          <p:cNvSpPr>
            <a:spLocks noChangeArrowheads="1"/>
          </p:cNvSpPr>
          <p:nvPr/>
        </p:nvSpPr>
        <p:spPr bwMode="auto">
          <a:xfrm>
            <a:off x="776288" y="4941888"/>
            <a:ext cx="8713787" cy="1384300"/>
          </a:xfrm>
          <a:prstGeom prst="rect">
            <a:avLst/>
          </a:prstGeom>
          <a:solidFill>
            <a:srgbClr val="FF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800" b="1" dirty="0">
                <a:solidFill>
                  <a:srgbClr val="000099"/>
                </a:solidFill>
                <a:ea typeface="黑体" panose="02010609060101010101" pitchFamily="49" charset="-122"/>
              </a:rPr>
              <a:t>当光线从高折射率的媒体射向低折射率的媒体时，其折射角将大于入射角。因此，如果</a:t>
            </a:r>
            <a:r>
              <a:rPr lang="zh-CN" altLang="zh-CN" sz="2800" b="1" dirty="0">
                <a:solidFill>
                  <a:srgbClr val="FF0000"/>
                </a:solidFill>
                <a:ea typeface="黑体" panose="02010609060101010101" pitchFamily="49" charset="-122"/>
              </a:rPr>
              <a:t>入射角足够大</a:t>
            </a:r>
            <a:r>
              <a:rPr lang="zh-CN" altLang="zh-CN" sz="2800" b="1" dirty="0">
                <a:solidFill>
                  <a:srgbClr val="000099"/>
                </a:solidFill>
                <a:ea typeface="黑体" panose="02010609060101010101" pitchFamily="49" charset="-122"/>
              </a:rPr>
              <a:t>，就会出现</a:t>
            </a:r>
            <a:r>
              <a:rPr lang="zh-CN" altLang="zh-CN" sz="2800" b="1" dirty="0">
                <a:solidFill>
                  <a:srgbClr val="FF0000"/>
                </a:solidFill>
                <a:ea typeface="黑体" panose="02010609060101010101" pitchFamily="49" charset="-122"/>
              </a:rPr>
              <a:t>全反射</a:t>
            </a:r>
            <a:r>
              <a:rPr lang="zh-CN" altLang="en-US" sz="2800" b="1" dirty="0">
                <a:solidFill>
                  <a:srgbClr val="000099"/>
                </a:solidFill>
                <a:ea typeface="黑体" panose="02010609060101010101" pitchFamily="49" charset="-122"/>
              </a:rPr>
              <a:t>，</a:t>
            </a:r>
            <a:r>
              <a:rPr lang="zh-CN" altLang="zh-CN" sz="2800" b="1" dirty="0">
                <a:solidFill>
                  <a:srgbClr val="000099"/>
                </a:solidFill>
                <a:ea typeface="黑体" panose="02010609060101010101" pitchFamily="49" charset="-122"/>
              </a:rPr>
              <a:t>光也就沿着光纤传输下去</a:t>
            </a:r>
            <a:r>
              <a:rPr lang="zh-CN" altLang="en-US" sz="2800" b="1" dirty="0">
                <a:solidFill>
                  <a:srgbClr val="000099"/>
                </a:solidFill>
                <a:ea typeface="黑体" panose="02010609060101010101" pitchFamily="49" charset="-122"/>
              </a:rPr>
              <a:t>。</a:t>
            </a:r>
          </a:p>
        </p:txBody>
      </p:sp>
      <p:sp>
        <p:nvSpPr>
          <p:cNvPr id="32774"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6375EE5-FBC0-4DB5-A7B9-CB3C33BCB4CF}" type="slidenum">
              <a:rPr altLang="en-US" smtClean="0"/>
              <a:pPr/>
              <a:t>36</a:t>
            </a:fld>
            <a:endParaRPr lang="zh-CN" altLang="zh-CN" smtClean="0"/>
          </a:p>
        </p:txBody>
      </p:sp>
      <p:sp>
        <p:nvSpPr>
          <p:cNvPr id="32775"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91168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r>
              <a:rPr lang="zh-CN" altLang="en-US" smtClean="0">
                <a:ea typeface="黑体" panose="02010609060101010101" pitchFamily="49" charset="-122"/>
              </a:rPr>
              <a:t>光纤的工作原理</a:t>
            </a:r>
          </a:p>
        </p:txBody>
      </p:sp>
      <p:grpSp>
        <p:nvGrpSpPr>
          <p:cNvPr id="34819" name="组合 1"/>
          <p:cNvGrpSpPr>
            <a:grpSpLocks/>
          </p:cNvGrpSpPr>
          <p:nvPr/>
        </p:nvGrpSpPr>
        <p:grpSpPr bwMode="auto">
          <a:xfrm>
            <a:off x="981075" y="1268413"/>
            <a:ext cx="7643813" cy="2016125"/>
            <a:chOff x="741231" y="1989139"/>
            <a:chExt cx="7644474" cy="2016125"/>
          </a:xfrm>
        </p:grpSpPr>
        <p:sp>
          <p:nvSpPr>
            <p:cNvPr id="34825" name="Rectangle 3"/>
            <p:cNvSpPr>
              <a:spLocks noChangeArrowheads="1"/>
            </p:cNvSpPr>
            <p:nvPr/>
          </p:nvSpPr>
          <p:spPr bwMode="auto">
            <a:xfrm>
              <a:off x="2884091" y="3170239"/>
              <a:ext cx="5298678" cy="2444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6" name="Rectangle 4"/>
            <p:cNvSpPr>
              <a:spLocks noChangeArrowheads="1"/>
            </p:cNvSpPr>
            <p:nvPr/>
          </p:nvSpPr>
          <p:spPr bwMode="auto">
            <a:xfrm>
              <a:off x="2884091" y="3414713"/>
              <a:ext cx="5298678" cy="3444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7" name="Rectangle 5"/>
            <p:cNvSpPr>
              <a:spLocks noChangeArrowheads="1"/>
            </p:cNvSpPr>
            <p:nvPr/>
          </p:nvSpPr>
          <p:spPr bwMode="auto">
            <a:xfrm>
              <a:off x="2884091" y="3759201"/>
              <a:ext cx="5298678" cy="24606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8" name="AutoShape 6"/>
            <p:cNvSpPr>
              <a:spLocks noChangeArrowheads="1"/>
            </p:cNvSpPr>
            <p:nvPr/>
          </p:nvSpPr>
          <p:spPr bwMode="auto">
            <a:xfrm rot="5400000">
              <a:off x="1524132" y="3116528"/>
              <a:ext cx="835025" cy="942446"/>
            </a:xfrm>
            <a:prstGeom prst="can">
              <a:avLst>
                <a:gd name="adj" fmla="val 26048"/>
              </a:avLst>
            </a:prstGeom>
            <a:gradFill rotWithShape="1">
              <a:gsLst>
                <a:gs pos="0">
                  <a:srgbClr val="666666"/>
                </a:gs>
                <a:gs pos="50000">
                  <a:srgbClr val="DDDDDD"/>
                </a:gs>
                <a:gs pos="100000">
                  <a:srgbClr val="666666"/>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9" name="AutoShape 7"/>
            <p:cNvSpPr>
              <a:spLocks noChangeArrowheads="1"/>
            </p:cNvSpPr>
            <p:nvPr/>
          </p:nvSpPr>
          <p:spPr bwMode="auto">
            <a:xfrm rot="5400000">
              <a:off x="2299097" y="3351344"/>
              <a:ext cx="344487" cy="471223"/>
            </a:xfrm>
            <a:prstGeom prst="can">
              <a:avLst>
                <a:gd name="adj" fmla="val 20708"/>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grpSp>
          <p:nvGrpSpPr>
            <p:cNvPr id="34830" name="Group 8"/>
            <p:cNvGrpSpPr>
              <a:grpSpLocks/>
            </p:cNvGrpSpPr>
            <p:nvPr/>
          </p:nvGrpSpPr>
          <p:grpSpPr bwMode="auto">
            <a:xfrm>
              <a:off x="2884091" y="3170239"/>
              <a:ext cx="5298678" cy="835025"/>
              <a:chOff x="912" y="912"/>
              <a:chExt cx="4608" cy="816"/>
            </a:xfrm>
          </p:grpSpPr>
          <p:sp>
            <p:nvSpPr>
              <p:cNvPr id="34837" name="Line 9"/>
              <p:cNvSpPr>
                <a:spLocks noChangeShapeType="1"/>
              </p:cNvSpPr>
              <p:nvPr/>
            </p:nvSpPr>
            <p:spPr bwMode="auto">
              <a:xfrm>
                <a:off x="912" y="91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8" name="Line 10"/>
              <p:cNvSpPr>
                <a:spLocks noChangeShapeType="1"/>
              </p:cNvSpPr>
              <p:nvPr/>
            </p:nvSpPr>
            <p:spPr bwMode="auto">
              <a:xfrm>
                <a:off x="912" y="115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9" name="Line 11"/>
              <p:cNvSpPr>
                <a:spLocks noChangeShapeType="1"/>
              </p:cNvSpPr>
              <p:nvPr/>
            </p:nvSpPr>
            <p:spPr bwMode="auto">
              <a:xfrm>
                <a:off x="912" y="148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40" name="Line 12"/>
              <p:cNvSpPr>
                <a:spLocks noChangeShapeType="1"/>
              </p:cNvSpPr>
              <p:nvPr/>
            </p:nvSpPr>
            <p:spPr bwMode="auto">
              <a:xfrm>
                <a:off x="912" y="172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4831" name="Line 13"/>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2" name="Text Box 14"/>
            <p:cNvSpPr txBox="1">
              <a:spLocks noChangeArrowheads="1"/>
            </p:cNvSpPr>
            <p:nvPr/>
          </p:nvSpPr>
          <p:spPr bwMode="auto">
            <a:xfrm>
              <a:off x="2144581" y="1989139"/>
              <a:ext cx="121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黑体" panose="02010609060101010101" pitchFamily="49" charset="-122"/>
                  <a:ea typeface="黑体" panose="02010609060101010101" pitchFamily="49" charset="-122"/>
                </a:rPr>
                <a:t>高折射率</a:t>
              </a:r>
            </a:p>
            <a:p>
              <a:r>
                <a:rPr lang="en-US" altLang="zh-CN" sz="2000" b="1">
                  <a:solidFill>
                    <a:srgbClr val="000099"/>
                  </a:solidFill>
                  <a:latin typeface="黑体" panose="02010609060101010101" pitchFamily="49" charset="-122"/>
                  <a:ea typeface="黑体" panose="02010609060101010101" pitchFamily="49" charset="-122"/>
                </a:rPr>
                <a:t>(</a:t>
              </a:r>
              <a:r>
                <a:rPr lang="zh-CN" altLang="en-US" sz="2000" b="1">
                  <a:solidFill>
                    <a:srgbClr val="000099"/>
                  </a:solidFill>
                  <a:latin typeface="黑体" panose="02010609060101010101" pitchFamily="49" charset="-122"/>
                  <a:ea typeface="黑体" panose="02010609060101010101" pitchFamily="49" charset="-122"/>
                </a:rPr>
                <a:t>纤芯</a:t>
              </a:r>
              <a:r>
                <a:rPr lang="en-US" altLang="zh-CN" sz="2000" b="1">
                  <a:solidFill>
                    <a:srgbClr val="000099"/>
                  </a:solidFill>
                  <a:latin typeface="黑体" panose="02010609060101010101" pitchFamily="49" charset="-122"/>
                  <a:ea typeface="黑体" panose="02010609060101010101" pitchFamily="49" charset="-122"/>
                </a:rPr>
                <a:t>)</a:t>
              </a:r>
            </a:p>
          </p:txBody>
        </p:sp>
        <p:sp>
          <p:nvSpPr>
            <p:cNvPr id="34833" name="Text Box 15"/>
            <p:cNvSpPr txBox="1">
              <a:spLocks noChangeArrowheads="1"/>
            </p:cNvSpPr>
            <p:nvPr/>
          </p:nvSpPr>
          <p:spPr bwMode="auto">
            <a:xfrm>
              <a:off x="741231" y="1989139"/>
              <a:ext cx="121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黑体" panose="02010609060101010101" pitchFamily="49" charset="-122"/>
                  <a:ea typeface="黑体" panose="02010609060101010101" pitchFamily="49" charset="-122"/>
                </a:rPr>
                <a:t>低折射率</a:t>
              </a:r>
            </a:p>
            <a:p>
              <a:r>
                <a:rPr lang="en-US" altLang="zh-CN" sz="2000" b="1">
                  <a:solidFill>
                    <a:srgbClr val="000099"/>
                  </a:solidFill>
                  <a:latin typeface="黑体" panose="02010609060101010101" pitchFamily="49" charset="-122"/>
                  <a:ea typeface="黑体" panose="02010609060101010101" pitchFamily="49" charset="-122"/>
                </a:rPr>
                <a:t>(</a:t>
              </a:r>
              <a:r>
                <a:rPr lang="zh-CN" altLang="en-US" sz="2000" b="1">
                  <a:solidFill>
                    <a:srgbClr val="000099"/>
                  </a:solidFill>
                  <a:latin typeface="黑体" panose="02010609060101010101" pitchFamily="49" charset="-122"/>
                  <a:ea typeface="黑体" panose="02010609060101010101" pitchFamily="49" charset="-122"/>
                </a:rPr>
                <a:t>包层</a:t>
              </a:r>
              <a:r>
                <a:rPr lang="en-US" altLang="zh-CN" sz="2000" b="1">
                  <a:solidFill>
                    <a:srgbClr val="000099"/>
                  </a:solidFill>
                  <a:latin typeface="黑体" panose="02010609060101010101" pitchFamily="49" charset="-122"/>
                  <a:ea typeface="黑体" panose="02010609060101010101" pitchFamily="49" charset="-122"/>
                </a:rPr>
                <a:t>)</a:t>
              </a:r>
            </a:p>
          </p:txBody>
        </p:sp>
        <p:sp>
          <p:nvSpPr>
            <p:cNvPr id="34834" name="Line 16"/>
            <p:cNvSpPr>
              <a:spLocks noChangeShapeType="1"/>
            </p:cNvSpPr>
            <p:nvPr/>
          </p:nvSpPr>
          <p:spPr bwMode="auto">
            <a:xfrm flipH="1">
              <a:off x="2529814" y="2708275"/>
              <a:ext cx="239051" cy="70643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5" name="Line 17"/>
            <p:cNvSpPr>
              <a:spLocks noChangeShapeType="1"/>
            </p:cNvSpPr>
            <p:nvPr/>
          </p:nvSpPr>
          <p:spPr bwMode="auto">
            <a:xfrm>
              <a:off x="1520296" y="2636838"/>
              <a:ext cx="421350" cy="5334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6" name="Text Box 18"/>
            <p:cNvSpPr txBox="1">
              <a:spLocks noChangeArrowheads="1"/>
            </p:cNvSpPr>
            <p:nvPr/>
          </p:nvSpPr>
          <p:spPr bwMode="auto">
            <a:xfrm>
              <a:off x="3002756" y="2733676"/>
              <a:ext cx="4830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黑体" panose="02010609060101010101" pitchFamily="49" charset="-122"/>
                  <a:ea typeface="黑体" panose="02010609060101010101" pitchFamily="49" charset="-122"/>
                </a:rPr>
                <a:t>光线在纤芯中传输的方式是不断地全反射</a:t>
              </a:r>
            </a:p>
          </p:txBody>
        </p:sp>
      </p:grpSp>
      <p:sp>
        <p:nvSpPr>
          <p:cNvPr id="122899" name="Freeform 19"/>
          <p:cNvSpPr>
            <a:spLocks noChangeArrowheads="1"/>
          </p:cNvSpPr>
          <p:nvPr/>
        </p:nvSpPr>
        <p:spPr bwMode="auto">
          <a:xfrm>
            <a:off x="3152775" y="2695575"/>
            <a:ext cx="5276850" cy="342900"/>
          </a:xfrm>
          <a:custGeom>
            <a:avLst/>
            <a:gdLst>
              <a:gd name="T0" fmla="*/ 0 w 4302"/>
              <a:gd name="T1" fmla="*/ 110218 h 336"/>
              <a:gd name="T2" fmla="*/ 471016 w 4302"/>
              <a:gd name="T3" fmla="*/ 0 h 336"/>
              <a:gd name="T4" fmla="*/ 1913502 w 4302"/>
              <a:gd name="T5" fmla="*/ 342900 h 336"/>
              <a:gd name="T6" fmla="*/ 3363348 w 4302"/>
              <a:gd name="T7" fmla="*/ 0 h 336"/>
              <a:gd name="T8" fmla="*/ 4805834 w 4302"/>
              <a:gd name="T9" fmla="*/ 336777 h 336"/>
              <a:gd name="T10" fmla="*/ 5276850 w 4302"/>
              <a:gd name="T11" fmla="*/ 208189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02" h="336">
                <a:moveTo>
                  <a:pt x="0" y="108"/>
                </a:moveTo>
                <a:lnTo>
                  <a:pt x="384" y="0"/>
                </a:lnTo>
                <a:lnTo>
                  <a:pt x="1560" y="336"/>
                </a:lnTo>
                <a:lnTo>
                  <a:pt x="2742" y="0"/>
                </a:lnTo>
                <a:lnTo>
                  <a:pt x="3918" y="330"/>
                </a:lnTo>
                <a:lnTo>
                  <a:pt x="4302" y="204"/>
                </a:lnTo>
              </a:path>
            </a:pathLst>
          </a:custGeom>
          <a:noFill/>
          <a:ln w="57150">
            <a:solidFill>
              <a:srgbClr val="000099"/>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1" name="矩形 21"/>
          <p:cNvSpPr>
            <a:spLocks noChangeArrowheads="1"/>
          </p:cNvSpPr>
          <p:nvPr/>
        </p:nvSpPr>
        <p:spPr bwMode="auto">
          <a:xfrm>
            <a:off x="2144713" y="3573463"/>
            <a:ext cx="5502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光波在纤芯中的传播</a:t>
            </a:r>
            <a:endParaRPr lang="zh-CN" altLang="en-US" sz="2400" b="1">
              <a:ea typeface="黑体" panose="02010609060101010101" pitchFamily="49" charset="-122"/>
            </a:endParaRPr>
          </a:p>
        </p:txBody>
      </p:sp>
      <p:sp>
        <p:nvSpPr>
          <p:cNvPr id="34822" name="矩形 2"/>
          <p:cNvSpPr>
            <a:spLocks noChangeArrowheads="1"/>
          </p:cNvSpPr>
          <p:nvPr/>
        </p:nvSpPr>
        <p:spPr bwMode="auto">
          <a:xfrm>
            <a:off x="849313" y="4275138"/>
            <a:ext cx="8640762" cy="954087"/>
          </a:xfrm>
          <a:prstGeom prst="rect">
            <a:avLst/>
          </a:prstGeom>
          <a:solidFill>
            <a:srgbClr val="FF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800" b="1" dirty="0">
                <a:solidFill>
                  <a:srgbClr val="000099"/>
                </a:solidFill>
                <a:ea typeface="黑体" panose="02010609060101010101" pitchFamily="49" charset="-122"/>
              </a:rPr>
              <a:t>只要从纤芯中射到纤芯表面的光线的</a:t>
            </a:r>
            <a:r>
              <a:rPr lang="zh-CN" altLang="zh-CN" sz="2800" b="1" dirty="0">
                <a:solidFill>
                  <a:srgbClr val="FF0000"/>
                </a:solidFill>
                <a:ea typeface="黑体" panose="02010609060101010101" pitchFamily="49" charset="-122"/>
              </a:rPr>
              <a:t>入射角大于某个临界角度</a:t>
            </a:r>
            <a:r>
              <a:rPr lang="zh-CN" altLang="zh-CN" sz="2800" b="1" dirty="0">
                <a:solidFill>
                  <a:srgbClr val="000099"/>
                </a:solidFill>
                <a:ea typeface="黑体" panose="02010609060101010101" pitchFamily="49" charset="-122"/>
              </a:rPr>
              <a:t>，就可产生全反射</a:t>
            </a:r>
            <a:r>
              <a:rPr lang="zh-CN" altLang="en-US" sz="2800" b="1" dirty="0">
                <a:solidFill>
                  <a:srgbClr val="000099"/>
                </a:solidFill>
                <a:ea typeface="黑体" panose="02010609060101010101" pitchFamily="49" charset="-122"/>
              </a:rPr>
              <a:t>。</a:t>
            </a:r>
          </a:p>
        </p:txBody>
      </p:sp>
      <p:sp>
        <p:nvSpPr>
          <p:cNvPr id="348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97DD67-E9C7-42F0-9F8F-640575715AD7}" type="slidenum">
              <a:rPr altLang="en-US" smtClean="0"/>
              <a:pPr/>
              <a:t>37</a:t>
            </a:fld>
            <a:endParaRPr lang="zh-CN" altLang="zh-CN" smtClean="0"/>
          </a:p>
        </p:txBody>
      </p:sp>
      <p:sp>
        <p:nvSpPr>
          <p:cNvPr id="348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787399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多模光纤与单模光纤</a:t>
            </a:r>
          </a:p>
        </p:txBody>
      </p:sp>
      <p:sp>
        <p:nvSpPr>
          <p:cNvPr id="36867" name="内容占位符 2"/>
          <p:cNvSpPr>
            <a:spLocks noGrp="1" noChangeArrowheads="1"/>
          </p:cNvSpPr>
          <p:nvPr>
            <p:ph idx="1"/>
          </p:nvPr>
        </p:nvSpPr>
        <p:spPr>
          <a:xfrm>
            <a:off x="495300" y="1196975"/>
            <a:ext cx="9066213" cy="4933950"/>
          </a:xfrm>
        </p:spPr>
        <p:txBody>
          <a:bodyPr/>
          <a:lstStyle/>
          <a:p>
            <a:pPr eaLnBrk="1" hangingPunct="1"/>
            <a:r>
              <a:rPr lang="zh-CN" altLang="zh-CN" sz="2800" dirty="0" smtClean="0">
                <a:solidFill>
                  <a:srgbClr val="FF0000"/>
                </a:solidFill>
                <a:ea typeface="黑体" panose="02010609060101010101" pitchFamily="49" charset="-122"/>
              </a:rPr>
              <a:t>多模光纤</a:t>
            </a:r>
            <a:r>
              <a:rPr lang="en-US" altLang="zh-CN" sz="2800" dirty="0" smtClean="0">
                <a:solidFill>
                  <a:srgbClr val="FF0000"/>
                </a:solidFill>
                <a:ea typeface="黑体" panose="02010609060101010101" pitchFamily="49" charset="-122"/>
              </a:rPr>
              <a:t> </a:t>
            </a:r>
          </a:p>
          <a:p>
            <a:pPr marL="457200" lvl="1" indent="0" eaLnBrk="1" hangingPunct="1">
              <a:buFont typeface="Wingdings" panose="05000000000000000000" pitchFamily="2" charset="2"/>
              <a:buNone/>
            </a:pPr>
            <a:r>
              <a:rPr lang="zh-CN" altLang="zh-CN" dirty="0" smtClean="0">
                <a:ea typeface="黑体" panose="02010609060101010101" pitchFamily="49" charset="-122"/>
              </a:rPr>
              <a:t>可以存在</a:t>
            </a:r>
            <a:r>
              <a:rPr lang="zh-CN" altLang="zh-CN" dirty="0" smtClean="0">
                <a:solidFill>
                  <a:srgbClr val="0000CC"/>
                </a:solidFill>
                <a:ea typeface="黑体" panose="02010609060101010101" pitchFamily="49" charset="-122"/>
              </a:rPr>
              <a:t>多条不同角度入射的光线</a:t>
            </a:r>
            <a:r>
              <a:rPr lang="zh-CN" altLang="zh-CN" dirty="0" smtClean="0">
                <a:ea typeface="黑体" panose="02010609060101010101" pitchFamily="49" charset="-122"/>
              </a:rPr>
              <a:t>在一条光纤中传输。这种光纤就称为</a:t>
            </a:r>
            <a:r>
              <a:rPr lang="zh-CN" altLang="zh-CN" dirty="0" smtClean="0">
                <a:solidFill>
                  <a:srgbClr val="0000CC"/>
                </a:solidFill>
                <a:ea typeface="黑体" panose="02010609060101010101" pitchFamily="49" charset="-122"/>
              </a:rPr>
              <a:t>多模光纤</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a:p>
            <a:pPr marL="457200" lvl="1" indent="0" algn="r" eaLnBrk="1" hangingPunct="1">
              <a:buFont typeface="Wingdings" panose="05000000000000000000" pitchFamily="2" charset="2"/>
              <a:buNone/>
            </a:pPr>
            <a:r>
              <a:rPr lang="en-US" altLang="zh-CN" dirty="0" smtClean="0">
                <a:ea typeface="黑体" panose="02010609060101010101" pitchFamily="49" charset="-122"/>
              </a:rPr>
              <a:t>——</a:t>
            </a:r>
            <a:r>
              <a:rPr lang="zh-CN" altLang="en-US" dirty="0" smtClean="0">
                <a:ea typeface="黑体" panose="02010609060101010101" pitchFamily="49" charset="-122"/>
              </a:rPr>
              <a:t>光脉冲加宽易失真，适合</a:t>
            </a:r>
            <a:r>
              <a:rPr lang="zh-CN" altLang="en-US" dirty="0" smtClean="0">
                <a:ea typeface="黑体" panose="02010609060101010101" pitchFamily="49" charset="-122"/>
              </a:rPr>
              <a:t>近距离，</a:t>
            </a:r>
            <a:r>
              <a:rPr lang="en-US" altLang="zh-CN" dirty="0" smtClean="0">
                <a:ea typeface="黑体" panose="02010609060101010101" pitchFamily="49" charset="-122"/>
              </a:rPr>
              <a:t>1km</a:t>
            </a:r>
            <a:endParaRPr lang="en-US" altLang="zh-CN" dirty="0" smtClean="0">
              <a:ea typeface="黑体" panose="02010609060101010101" pitchFamily="49" charset="-122"/>
            </a:endParaRPr>
          </a:p>
          <a:p>
            <a:pPr eaLnBrk="1" hangingPunct="1"/>
            <a:r>
              <a:rPr lang="zh-CN" altLang="zh-CN" sz="2800" dirty="0" smtClean="0">
                <a:solidFill>
                  <a:srgbClr val="FF0000"/>
                </a:solidFill>
                <a:ea typeface="黑体" panose="02010609060101010101" pitchFamily="49" charset="-122"/>
              </a:rPr>
              <a:t>单模光纤</a:t>
            </a:r>
            <a:endParaRPr lang="en-US" altLang="zh-CN" sz="2800" dirty="0" smtClean="0">
              <a:solidFill>
                <a:srgbClr val="FF0000"/>
              </a:solidFill>
              <a:ea typeface="黑体" panose="02010609060101010101" pitchFamily="49" charset="-122"/>
            </a:endParaRPr>
          </a:p>
          <a:p>
            <a:pPr marL="457200" lvl="1" indent="0" eaLnBrk="1" hangingPunct="1">
              <a:buFont typeface="Wingdings" panose="05000000000000000000" pitchFamily="2" charset="2"/>
              <a:buNone/>
            </a:pPr>
            <a:r>
              <a:rPr lang="zh-CN" altLang="zh-CN" dirty="0" smtClean="0">
                <a:ea typeface="黑体" panose="02010609060101010101" pitchFamily="49" charset="-122"/>
              </a:rPr>
              <a:t>若光纤的</a:t>
            </a:r>
            <a:r>
              <a:rPr lang="zh-CN" altLang="zh-CN" dirty="0" smtClean="0">
                <a:solidFill>
                  <a:srgbClr val="0000CC"/>
                </a:solidFill>
                <a:ea typeface="黑体" panose="02010609060101010101" pitchFamily="49" charset="-122"/>
              </a:rPr>
              <a:t>直径减小到只有一个光的波长</a:t>
            </a:r>
            <a:r>
              <a:rPr lang="zh-CN" altLang="zh-CN" dirty="0" smtClean="0">
                <a:ea typeface="黑体" panose="02010609060101010101" pitchFamily="49" charset="-122"/>
              </a:rPr>
              <a:t>，则光纤就像一根波导那样，它可使光线一直向前传播，而不会产生多次反射。这样的光纤称为</a:t>
            </a:r>
            <a:r>
              <a:rPr lang="zh-CN" altLang="zh-CN" dirty="0" smtClean="0">
                <a:solidFill>
                  <a:srgbClr val="0000CC"/>
                </a:solidFill>
                <a:ea typeface="黑体" panose="02010609060101010101" pitchFamily="49" charset="-122"/>
              </a:rPr>
              <a:t>单模光纤</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a:p>
            <a:pPr marL="457200" lvl="1" indent="0" algn="r" eaLnBrk="1" hangingPunct="1">
              <a:buNone/>
            </a:pPr>
            <a:r>
              <a:rPr lang="en-US" altLang="zh-CN" dirty="0" smtClean="0">
                <a:ea typeface="黑体" panose="02010609060101010101" pitchFamily="49" charset="-122"/>
              </a:rPr>
              <a:t>——</a:t>
            </a:r>
            <a:r>
              <a:rPr lang="zh-CN" altLang="en-US" dirty="0" smtClean="0">
                <a:ea typeface="黑体" panose="02010609060101010101" pitchFamily="49" charset="-122"/>
              </a:rPr>
              <a:t>不易</a:t>
            </a:r>
            <a:r>
              <a:rPr lang="zh-CN" altLang="en-US" dirty="0">
                <a:ea typeface="黑体" panose="02010609060101010101" pitchFamily="49" charset="-122"/>
              </a:rPr>
              <a:t>失真</a:t>
            </a:r>
            <a:r>
              <a:rPr lang="zh-CN" altLang="en-US" dirty="0" smtClean="0">
                <a:ea typeface="黑体" panose="02010609060101010101" pitchFamily="49" charset="-122"/>
              </a:rPr>
              <a:t>，可达</a:t>
            </a:r>
            <a:r>
              <a:rPr lang="en-US" altLang="zh-CN" dirty="0" smtClean="0">
                <a:ea typeface="黑体" panose="02010609060101010101" pitchFamily="49" charset="-122"/>
              </a:rPr>
              <a:t>100Gbit/s</a:t>
            </a:r>
            <a:r>
              <a:rPr lang="zh-CN" altLang="en-US" dirty="0" smtClean="0">
                <a:ea typeface="黑体" panose="02010609060101010101" pitchFamily="49" charset="-122"/>
              </a:rPr>
              <a:t>，</a:t>
            </a:r>
            <a:r>
              <a:rPr lang="en-US" altLang="zh-CN" dirty="0" smtClean="0">
                <a:ea typeface="黑体" panose="02010609060101010101" pitchFamily="49" charset="-122"/>
              </a:rPr>
              <a:t>100km</a:t>
            </a:r>
            <a:endParaRPr lang="en-US" altLang="zh-CN" dirty="0">
              <a:ea typeface="黑体" panose="02010609060101010101" pitchFamily="49" charset="-122"/>
            </a:endParaRPr>
          </a:p>
          <a:p>
            <a:pPr marL="457200" lvl="1" indent="0" eaLnBrk="1" hangingPunct="1">
              <a:buFont typeface="Wingdings" panose="05000000000000000000" pitchFamily="2" charset="2"/>
              <a:buNone/>
            </a:pPr>
            <a:endParaRPr lang="zh-CN" altLang="en-US" dirty="0" smtClean="0">
              <a:solidFill>
                <a:srgbClr val="0000CC"/>
              </a:solidFill>
              <a:ea typeface="黑体" panose="02010609060101010101" pitchFamily="49" charset="-122"/>
            </a:endParaRPr>
          </a:p>
        </p:txBody>
      </p:sp>
      <p:sp>
        <p:nvSpPr>
          <p:cNvPr id="3686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73C9DF-DAF4-4DB0-8CDE-BA68B9106755}" type="slidenum">
              <a:rPr altLang="en-US" smtClean="0"/>
              <a:pPr/>
              <a:t>38</a:t>
            </a:fld>
            <a:endParaRPr lang="zh-CN" altLang="zh-CN" smtClean="0"/>
          </a:p>
        </p:txBody>
      </p:sp>
      <p:sp>
        <p:nvSpPr>
          <p:cNvPr id="36869"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07456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9"/>
          <p:cNvSpPr>
            <a:spLocks noGrp="1" noChangeArrowheads="1"/>
          </p:cNvSpPr>
          <p:nvPr>
            <p:ph type="title"/>
          </p:nvPr>
        </p:nvSpPr>
        <p:spPr/>
        <p:txBody>
          <a:bodyPr/>
          <a:lstStyle/>
          <a:p>
            <a:pPr algn="ctr" eaLnBrk="1" hangingPunct="1"/>
            <a:r>
              <a:rPr lang="zh-CN" altLang="en-US" smtClean="0">
                <a:ea typeface="黑体" panose="02010609060101010101" pitchFamily="49" charset="-122"/>
              </a:rPr>
              <a:t>多模光纤与单模光纤</a:t>
            </a:r>
          </a:p>
        </p:txBody>
      </p:sp>
      <p:grpSp>
        <p:nvGrpSpPr>
          <p:cNvPr id="116738" name="Group 2"/>
          <p:cNvGrpSpPr>
            <a:grpSpLocks/>
          </p:cNvGrpSpPr>
          <p:nvPr/>
        </p:nvGrpSpPr>
        <p:grpSpPr bwMode="auto">
          <a:xfrm>
            <a:off x="212725" y="3789363"/>
            <a:ext cx="9709150" cy="1550987"/>
            <a:chOff x="71" y="2709"/>
            <a:chExt cx="5645" cy="977"/>
          </a:xfrm>
        </p:grpSpPr>
        <p:grpSp>
          <p:nvGrpSpPr>
            <p:cNvPr id="37918" name="Group 3"/>
            <p:cNvGrpSpPr>
              <a:grpSpLocks/>
            </p:cNvGrpSpPr>
            <p:nvPr/>
          </p:nvGrpSpPr>
          <p:grpSpPr bwMode="auto">
            <a:xfrm>
              <a:off x="682" y="3158"/>
              <a:ext cx="4476" cy="528"/>
              <a:chOff x="682" y="3072"/>
              <a:chExt cx="4476" cy="528"/>
            </a:xfrm>
          </p:grpSpPr>
          <p:sp>
            <p:nvSpPr>
              <p:cNvPr id="37935" name="Rectangle 4"/>
              <p:cNvSpPr>
                <a:spLocks noChangeArrowheads="1"/>
              </p:cNvSpPr>
              <p:nvPr/>
            </p:nvSpPr>
            <p:spPr bwMode="auto">
              <a:xfrm>
                <a:off x="768" y="3168"/>
                <a:ext cx="4320" cy="33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grpSp>
            <p:nvGrpSpPr>
              <p:cNvPr id="37936" name="Group 5"/>
              <p:cNvGrpSpPr>
                <a:grpSpLocks/>
              </p:cNvGrpSpPr>
              <p:nvPr/>
            </p:nvGrpSpPr>
            <p:grpSpPr bwMode="auto">
              <a:xfrm>
                <a:off x="682" y="3072"/>
                <a:ext cx="4476" cy="528"/>
                <a:chOff x="682" y="3072"/>
                <a:chExt cx="4476" cy="528"/>
              </a:xfrm>
            </p:grpSpPr>
            <p:sp>
              <p:nvSpPr>
                <p:cNvPr id="37937" name="Rectangle 6"/>
                <p:cNvSpPr>
                  <a:spLocks noChangeArrowheads="1"/>
                </p:cNvSpPr>
                <p:nvPr/>
              </p:nvSpPr>
              <p:spPr bwMode="auto">
                <a:xfrm>
                  <a:off x="768" y="3072"/>
                  <a:ext cx="4320" cy="24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38" name="Rectangle 7"/>
                <p:cNvSpPr>
                  <a:spLocks noChangeArrowheads="1"/>
                </p:cNvSpPr>
                <p:nvPr/>
              </p:nvSpPr>
              <p:spPr bwMode="auto">
                <a:xfrm>
                  <a:off x="768" y="3360"/>
                  <a:ext cx="4320" cy="24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39" name="Line 8"/>
                <p:cNvSpPr>
                  <a:spLocks noChangeShapeType="1"/>
                </p:cNvSpPr>
                <p:nvPr/>
              </p:nvSpPr>
              <p:spPr bwMode="auto">
                <a:xfrm>
                  <a:off x="768" y="3072"/>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0" name="Line 9"/>
                <p:cNvSpPr>
                  <a:spLocks noChangeShapeType="1"/>
                </p:cNvSpPr>
                <p:nvPr/>
              </p:nvSpPr>
              <p:spPr bwMode="auto">
                <a:xfrm>
                  <a:off x="768" y="3312"/>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1" name="Line 10"/>
                <p:cNvSpPr>
                  <a:spLocks noChangeShapeType="1"/>
                </p:cNvSpPr>
                <p:nvPr/>
              </p:nvSpPr>
              <p:spPr bwMode="auto">
                <a:xfrm>
                  <a:off x="768" y="3360"/>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2" name="Line 11"/>
                <p:cNvSpPr>
                  <a:spLocks noChangeShapeType="1"/>
                </p:cNvSpPr>
                <p:nvPr/>
              </p:nvSpPr>
              <p:spPr bwMode="auto">
                <a:xfrm>
                  <a:off x="768" y="3600"/>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3" name="Line 12"/>
                <p:cNvSpPr>
                  <a:spLocks noChangeShapeType="1"/>
                </p:cNvSpPr>
                <p:nvPr/>
              </p:nvSpPr>
              <p:spPr bwMode="auto">
                <a:xfrm>
                  <a:off x="682" y="3333"/>
                  <a:ext cx="4476" cy="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37919" name="Group 13"/>
            <p:cNvGrpSpPr>
              <a:grpSpLocks/>
            </p:cNvGrpSpPr>
            <p:nvPr/>
          </p:nvGrpSpPr>
          <p:grpSpPr bwMode="auto">
            <a:xfrm>
              <a:off x="71" y="2840"/>
              <a:ext cx="5645" cy="818"/>
              <a:chOff x="71" y="2930"/>
              <a:chExt cx="5645" cy="818"/>
            </a:xfrm>
          </p:grpSpPr>
          <p:grpSp>
            <p:nvGrpSpPr>
              <p:cNvPr id="37921" name="Group 14"/>
              <p:cNvGrpSpPr>
                <a:grpSpLocks/>
              </p:cNvGrpSpPr>
              <p:nvPr/>
            </p:nvGrpSpPr>
            <p:grpSpPr bwMode="auto">
              <a:xfrm>
                <a:off x="71" y="2930"/>
                <a:ext cx="704" cy="818"/>
                <a:chOff x="71" y="2930"/>
                <a:chExt cx="704" cy="818"/>
              </a:xfrm>
            </p:grpSpPr>
            <p:grpSp>
              <p:nvGrpSpPr>
                <p:cNvPr id="37929" name="Group 15"/>
                <p:cNvGrpSpPr>
                  <a:grpSpLocks/>
                </p:cNvGrpSpPr>
                <p:nvPr/>
              </p:nvGrpSpPr>
              <p:grpSpPr bwMode="auto">
                <a:xfrm>
                  <a:off x="158" y="3220"/>
                  <a:ext cx="480" cy="528"/>
                  <a:chOff x="240" y="2448"/>
                  <a:chExt cx="480" cy="528"/>
                </a:xfrm>
              </p:grpSpPr>
              <p:grpSp>
                <p:nvGrpSpPr>
                  <p:cNvPr id="37931" name="Group 16"/>
                  <p:cNvGrpSpPr>
                    <a:grpSpLocks/>
                  </p:cNvGrpSpPr>
                  <p:nvPr/>
                </p:nvGrpSpPr>
                <p:grpSpPr bwMode="auto">
                  <a:xfrm>
                    <a:off x="240" y="2448"/>
                    <a:ext cx="480" cy="528"/>
                    <a:chOff x="240" y="2448"/>
                    <a:chExt cx="672" cy="672"/>
                  </a:xfrm>
                </p:grpSpPr>
                <p:sp>
                  <p:nvSpPr>
                    <p:cNvPr id="37933" name="Rectangle 17"/>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34" name="Line 18"/>
                    <p:cNvSpPr>
                      <a:spLocks noChangeShapeType="1"/>
                    </p:cNvSpPr>
                    <p:nvPr/>
                  </p:nvSpPr>
                  <p:spPr bwMode="auto">
                    <a:xfrm>
                      <a:off x="576" y="2448"/>
                      <a:ext cx="0" cy="672"/>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7932" name="Freeform 19"/>
                  <p:cNvSpPr>
                    <a:spLocks noChangeArrowheads="1"/>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930" name="Text Box 20"/>
                <p:cNvSpPr txBox="1">
                  <a:spLocks noChangeArrowheads="1"/>
                </p:cNvSpPr>
                <p:nvPr/>
              </p:nvSpPr>
              <p:spPr bwMode="auto">
                <a:xfrm>
                  <a:off x="71" y="2930"/>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输入脉冲</a:t>
                  </a:r>
                </a:p>
              </p:txBody>
            </p:sp>
          </p:grpSp>
          <p:grpSp>
            <p:nvGrpSpPr>
              <p:cNvPr id="37922" name="Group 21"/>
              <p:cNvGrpSpPr>
                <a:grpSpLocks/>
              </p:cNvGrpSpPr>
              <p:nvPr/>
            </p:nvGrpSpPr>
            <p:grpSpPr bwMode="auto">
              <a:xfrm>
                <a:off x="5012" y="2947"/>
                <a:ext cx="704" cy="801"/>
                <a:chOff x="5012" y="2947"/>
                <a:chExt cx="704" cy="801"/>
              </a:xfrm>
            </p:grpSpPr>
            <p:sp>
              <p:nvSpPr>
                <p:cNvPr id="37923" name="Text Box 22"/>
                <p:cNvSpPr txBox="1">
                  <a:spLocks noChangeArrowheads="1"/>
                </p:cNvSpPr>
                <p:nvPr/>
              </p:nvSpPr>
              <p:spPr bwMode="auto">
                <a:xfrm>
                  <a:off x="5012" y="2947"/>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输出脉冲</a:t>
                  </a:r>
                </a:p>
              </p:txBody>
            </p:sp>
            <p:grpSp>
              <p:nvGrpSpPr>
                <p:cNvPr id="37924" name="Group 23"/>
                <p:cNvGrpSpPr>
                  <a:grpSpLocks/>
                </p:cNvGrpSpPr>
                <p:nvPr/>
              </p:nvGrpSpPr>
              <p:grpSpPr bwMode="auto">
                <a:xfrm>
                  <a:off x="5148" y="3220"/>
                  <a:ext cx="480" cy="528"/>
                  <a:chOff x="240" y="2448"/>
                  <a:chExt cx="480" cy="528"/>
                </a:xfrm>
              </p:grpSpPr>
              <p:grpSp>
                <p:nvGrpSpPr>
                  <p:cNvPr id="37925" name="Group 24"/>
                  <p:cNvGrpSpPr>
                    <a:grpSpLocks/>
                  </p:cNvGrpSpPr>
                  <p:nvPr/>
                </p:nvGrpSpPr>
                <p:grpSpPr bwMode="auto">
                  <a:xfrm>
                    <a:off x="240" y="2448"/>
                    <a:ext cx="480" cy="528"/>
                    <a:chOff x="240" y="2448"/>
                    <a:chExt cx="672" cy="672"/>
                  </a:xfrm>
                </p:grpSpPr>
                <p:sp>
                  <p:nvSpPr>
                    <p:cNvPr id="37927" name="Rectangle 25"/>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28" name="Line 26"/>
                    <p:cNvSpPr>
                      <a:spLocks noChangeShapeType="1"/>
                    </p:cNvSpPr>
                    <p:nvPr/>
                  </p:nvSpPr>
                  <p:spPr bwMode="auto">
                    <a:xfrm>
                      <a:off x="576" y="2448"/>
                      <a:ext cx="0" cy="672"/>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7926" name="Freeform 27"/>
                  <p:cNvSpPr>
                    <a:spLocks noChangeArrowheads="1"/>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grpSp>
        <p:sp>
          <p:nvSpPr>
            <p:cNvPr id="37920" name="Text Box 28"/>
            <p:cNvSpPr txBox="1">
              <a:spLocks noChangeArrowheads="1"/>
            </p:cNvSpPr>
            <p:nvPr/>
          </p:nvSpPr>
          <p:spPr bwMode="auto">
            <a:xfrm>
              <a:off x="2381" y="2709"/>
              <a:ext cx="118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3600" b="1">
                  <a:solidFill>
                    <a:srgbClr val="0000CC"/>
                  </a:solidFill>
                  <a:ea typeface="黑体" panose="02010609060101010101" pitchFamily="49" charset="-122"/>
                </a:rPr>
                <a:t>单模光纤</a:t>
              </a:r>
            </a:p>
          </p:txBody>
        </p:sp>
      </p:grpSp>
      <p:sp>
        <p:nvSpPr>
          <p:cNvPr id="116766" name="Freeform 30"/>
          <p:cNvSpPr>
            <a:spLocks noChangeArrowheads="1"/>
          </p:cNvSpPr>
          <p:nvPr/>
        </p:nvSpPr>
        <p:spPr bwMode="auto">
          <a:xfrm>
            <a:off x="1493838" y="2514600"/>
            <a:ext cx="7326312" cy="533400"/>
          </a:xfrm>
          <a:custGeom>
            <a:avLst/>
            <a:gdLst>
              <a:gd name="T0" fmla="*/ 0 w 4260"/>
              <a:gd name="T1" fmla="*/ 238125 h 336"/>
              <a:gd name="T2" fmla="*/ 1145381 w 4260"/>
              <a:gd name="T3" fmla="*/ 0 h 336"/>
              <a:gd name="T4" fmla="*/ 3972718 w 4260"/>
              <a:gd name="T5" fmla="*/ 533400 h 336"/>
              <a:gd name="T6" fmla="*/ 6769100 w 4260"/>
              <a:gd name="T7" fmla="*/ 0 h 336"/>
              <a:gd name="T8" fmla="*/ 7326312 w 4260"/>
              <a:gd name="T9" fmla="*/ 11430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60" h="336">
                <a:moveTo>
                  <a:pt x="0" y="150"/>
                </a:moveTo>
                <a:lnTo>
                  <a:pt x="666" y="0"/>
                </a:lnTo>
                <a:lnTo>
                  <a:pt x="2310" y="336"/>
                </a:lnTo>
                <a:lnTo>
                  <a:pt x="3936" y="0"/>
                </a:lnTo>
                <a:lnTo>
                  <a:pt x="4260" y="72"/>
                </a:lnTo>
              </a:path>
            </a:pathLst>
          </a:custGeom>
          <a:noFill/>
          <a:ln w="38100">
            <a:solidFill>
              <a:srgbClr val="C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893" name="Rectangle 31"/>
          <p:cNvSpPr>
            <a:spLocks noChangeArrowheads="1"/>
          </p:cNvSpPr>
          <p:nvPr/>
        </p:nvSpPr>
        <p:spPr bwMode="auto">
          <a:xfrm>
            <a:off x="1377950" y="2143125"/>
            <a:ext cx="7429500" cy="3810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894" name="Rectangle 32"/>
          <p:cNvSpPr>
            <a:spLocks noChangeArrowheads="1"/>
          </p:cNvSpPr>
          <p:nvPr/>
        </p:nvSpPr>
        <p:spPr bwMode="auto">
          <a:xfrm>
            <a:off x="1395413" y="3055938"/>
            <a:ext cx="7429500" cy="3810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grpSp>
        <p:nvGrpSpPr>
          <p:cNvPr id="37895" name="Group 33"/>
          <p:cNvGrpSpPr>
            <a:grpSpLocks/>
          </p:cNvGrpSpPr>
          <p:nvPr/>
        </p:nvGrpSpPr>
        <p:grpSpPr bwMode="auto">
          <a:xfrm>
            <a:off x="1395413" y="2141538"/>
            <a:ext cx="7429500" cy="1295400"/>
            <a:chOff x="912" y="912"/>
            <a:chExt cx="4608" cy="816"/>
          </a:xfrm>
        </p:grpSpPr>
        <p:sp>
          <p:nvSpPr>
            <p:cNvPr id="37914" name="Line 34"/>
            <p:cNvSpPr>
              <a:spLocks noChangeShapeType="1"/>
            </p:cNvSpPr>
            <p:nvPr/>
          </p:nvSpPr>
          <p:spPr bwMode="auto">
            <a:xfrm>
              <a:off x="912" y="91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5" name="Line 35"/>
            <p:cNvSpPr>
              <a:spLocks noChangeShapeType="1"/>
            </p:cNvSpPr>
            <p:nvPr/>
          </p:nvSpPr>
          <p:spPr bwMode="auto">
            <a:xfrm>
              <a:off x="912" y="115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6" name="Line 36"/>
            <p:cNvSpPr>
              <a:spLocks noChangeShapeType="1"/>
            </p:cNvSpPr>
            <p:nvPr/>
          </p:nvSpPr>
          <p:spPr bwMode="auto">
            <a:xfrm>
              <a:off x="912" y="148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7" name="Line 37"/>
            <p:cNvSpPr>
              <a:spLocks noChangeShapeType="1"/>
            </p:cNvSpPr>
            <p:nvPr/>
          </p:nvSpPr>
          <p:spPr bwMode="auto">
            <a:xfrm>
              <a:off x="912" y="172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7896" name="Line 38"/>
          <p:cNvSpPr>
            <a:spLocks noChangeShapeType="1"/>
          </p:cNvSpPr>
          <p:nvPr/>
        </p:nvSpPr>
        <p:spPr bwMode="auto">
          <a:xfrm>
            <a:off x="1246188" y="2784475"/>
            <a:ext cx="7697787" cy="476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16775" name="Group 39"/>
          <p:cNvGrpSpPr>
            <a:grpSpLocks/>
          </p:cNvGrpSpPr>
          <p:nvPr/>
        </p:nvGrpSpPr>
        <p:grpSpPr bwMode="auto">
          <a:xfrm>
            <a:off x="212725" y="1936750"/>
            <a:ext cx="9709150" cy="1271588"/>
            <a:chOff x="71" y="1305"/>
            <a:chExt cx="5645" cy="801"/>
          </a:xfrm>
        </p:grpSpPr>
        <p:grpSp>
          <p:nvGrpSpPr>
            <p:cNvPr id="37904" name="Group 40"/>
            <p:cNvGrpSpPr>
              <a:grpSpLocks/>
            </p:cNvGrpSpPr>
            <p:nvPr/>
          </p:nvGrpSpPr>
          <p:grpSpPr bwMode="auto">
            <a:xfrm>
              <a:off x="71" y="1313"/>
              <a:ext cx="704" cy="793"/>
              <a:chOff x="71" y="1313"/>
              <a:chExt cx="704" cy="793"/>
            </a:xfrm>
          </p:grpSpPr>
          <p:sp>
            <p:nvSpPr>
              <p:cNvPr id="37910" name="Rectangle 41"/>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11" name="Line 42"/>
              <p:cNvSpPr>
                <a:spLocks noChangeShapeType="1"/>
              </p:cNvSpPr>
              <p:nvPr/>
            </p:nvSpPr>
            <p:spPr bwMode="auto">
              <a:xfrm>
                <a:off x="417" y="1578"/>
                <a:ext cx="0" cy="528"/>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2" name="Freeform 43"/>
              <p:cNvSpPr>
                <a:spLocks noChangeArrowheads="1"/>
              </p:cNvSpPr>
              <p:nvPr/>
            </p:nvSpPr>
            <p:spPr bwMode="auto">
              <a:xfrm>
                <a:off x="177" y="158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913" name="Text Box 44"/>
              <p:cNvSpPr txBox="1">
                <a:spLocks noChangeArrowheads="1"/>
              </p:cNvSpPr>
              <p:nvPr/>
            </p:nvSpPr>
            <p:spPr bwMode="auto">
              <a:xfrm>
                <a:off x="71" y="1313"/>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输入脉冲</a:t>
                </a:r>
              </a:p>
            </p:txBody>
          </p:sp>
        </p:grpSp>
        <p:grpSp>
          <p:nvGrpSpPr>
            <p:cNvPr id="37905" name="Group 45"/>
            <p:cNvGrpSpPr>
              <a:grpSpLocks/>
            </p:cNvGrpSpPr>
            <p:nvPr/>
          </p:nvGrpSpPr>
          <p:grpSpPr bwMode="auto">
            <a:xfrm>
              <a:off x="5012" y="1305"/>
              <a:ext cx="704" cy="801"/>
              <a:chOff x="5012" y="1305"/>
              <a:chExt cx="704" cy="801"/>
            </a:xfrm>
          </p:grpSpPr>
          <p:sp>
            <p:nvSpPr>
              <p:cNvPr id="37906" name="Rectangle 46"/>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07" name="Line 47"/>
              <p:cNvSpPr>
                <a:spLocks noChangeShapeType="1"/>
              </p:cNvSpPr>
              <p:nvPr/>
            </p:nvSpPr>
            <p:spPr bwMode="auto">
              <a:xfrm>
                <a:off x="5348" y="1578"/>
                <a:ext cx="0" cy="528"/>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8" name="Freeform 48"/>
              <p:cNvSpPr>
                <a:spLocks noChangeArrowheads="1"/>
              </p:cNvSpPr>
              <p:nvPr/>
            </p:nvSpPr>
            <p:spPr bwMode="auto">
              <a:xfrm>
                <a:off x="5108" y="1726"/>
                <a:ext cx="480" cy="222"/>
              </a:xfrm>
              <a:custGeom>
                <a:avLst/>
                <a:gdLst>
                  <a:gd name="T0" fmla="*/ 0 w 678"/>
                  <a:gd name="T1" fmla="*/ 220 h 283"/>
                  <a:gd name="T2" fmla="*/ 62 w 678"/>
                  <a:gd name="T3" fmla="*/ 191 h 283"/>
                  <a:gd name="T4" fmla="*/ 106 w 678"/>
                  <a:gd name="T5" fmla="*/ 151 h 283"/>
                  <a:gd name="T6" fmla="*/ 142 w 678"/>
                  <a:gd name="T7" fmla="*/ 102 h 283"/>
                  <a:gd name="T8" fmla="*/ 183 w 678"/>
                  <a:gd name="T9" fmla="*/ 34 h 283"/>
                  <a:gd name="T10" fmla="*/ 240 w 678"/>
                  <a:gd name="T11" fmla="*/ 1 h 283"/>
                  <a:gd name="T12" fmla="*/ 302 w 678"/>
                  <a:gd name="T13" fmla="*/ 29 h 283"/>
                  <a:gd name="T14" fmla="*/ 348 w 678"/>
                  <a:gd name="T15" fmla="*/ 109 h 283"/>
                  <a:gd name="T16" fmla="*/ 374 w 678"/>
                  <a:gd name="T17" fmla="*/ 149 h 283"/>
                  <a:gd name="T18" fmla="*/ 418 w 678"/>
                  <a:gd name="T19" fmla="*/ 187 h 283"/>
                  <a:gd name="T20" fmla="*/ 480 w 678"/>
                  <a:gd name="T21" fmla="*/ 222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909" name="Text Box 49"/>
              <p:cNvSpPr txBox="1">
                <a:spLocks noChangeArrowheads="1"/>
              </p:cNvSpPr>
              <p:nvPr/>
            </p:nvSpPr>
            <p:spPr bwMode="auto">
              <a:xfrm>
                <a:off x="5012" y="1305"/>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输出脉冲</a:t>
                </a:r>
              </a:p>
            </p:txBody>
          </p:sp>
        </p:grpSp>
      </p:grpSp>
      <p:sp>
        <p:nvSpPr>
          <p:cNvPr id="116786" name="Line 50"/>
          <p:cNvSpPr>
            <a:spLocks noChangeShapeType="1"/>
          </p:cNvSpPr>
          <p:nvPr/>
        </p:nvSpPr>
        <p:spPr bwMode="auto">
          <a:xfrm flipV="1">
            <a:off x="1411288" y="4921250"/>
            <a:ext cx="7531100" cy="11113"/>
          </a:xfrm>
          <a:prstGeom prst="line">
            <a:avLst/>
          </a:prstGeom>
          <a:noFill/>
          <a:ln w="38100">
            <a:solidFill>
              <a:srgbClr val="0000CC"/>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16787" name="Freeform 51"/>
          <p:cNvSpPr>
            <a:spLocks noChangeArrowheads="1"/>
          </p:cNvSpPr>
          <p:nvPr/>
        </p:nvSpPr>
        <p:spPr bwMode="auto">
          <a:xfrm>
            <a:off x="1377950" y="2514600"/>
            <a:ext cx="7421563" cy="523875"/>
          </a:xfrm>
          <a:custGeom>
            <a:avLst/>
            <a:gdLst>
              <a:gd name="T0" fmla="*/ 0 w 4316"/>
              <a:gd name="T1" fmla="*/ 203200 h 330"/>
              <a:gd name="T2" fmla="*/ 746283 w 4316"/>
              <a:gd name="T3" fmla="*/ 0 h 330"/>
              <a:gd name="T4" fmla="*/ 2727201 w 4316"/>
              <a:gd name="T5" fmla="*/ 523875 h 330"/>
              <a:gd name="T6" fmla="*/ 4708119 w 4316"/>
              <a:gd name="T7" fmla="*/ 0 h 330"/>
              <a:gd name="T8" fmla="*/ 6781892 w 4316"/>
              <a:gd name="T9" fmla="*/ 523875 h 330"/>
              <a:gd name="T10" fmla="*/ 7421563 w 4316"/>
              <a:gd name="T11" fmla="*/ 323850 h 3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16" h="330">
                <a:moveTo>
                  <a:pt x="0" y="128"/>
                </a:moveTo>
                <a:lnTo>
                  <a:pt x="434" y="0"/>
                </a:lnTo>
                <a:lnTo>
                  <a:pt x="1586" y="330"/>
                </a:lnTo>
                <a:lnTo>
                  <a:pt x="2738" y="0"/>
                </a:lnTo>
                <a:lnTo>
                  <a:pt x="3944" y="330"/>
                </a:lnTo>
                <a:lnTo>
                  <a:pt x="4316" y="204"/>
                </a:lnTo>
              </a:path>
            </a:pathLst>
          </a:custGeom>
          <a:noFill/>
          <a:ln w="38100">
            <a:solidFill>
              <a:srgbClr val="C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00" name="Text Box 52"/>
          <p:cNvSpPr txBox="1">
            <a:spLocks noChangeArrowheads="1"/>
          </p:cNvSpPr>
          <p:nvPr/>
        </p:nvSpPr>
        <p:spPr bwMode="auto">
          <a:xfrm>
            <a:off x="4186238" y="1412875"/>
            <a:ext cx="2030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3600" b="1">
                <a:solidFill>
                  <a:srgbClr val="0000CC"/>
                </a:solidFill>
                <a:ea typeface="黑体" panose="02010609060101010101" pitchFamily="49" charset="-122"/>
              </a:rPr>
              <a:t>多模光纤</a:t>
            </a:r>
          </a:p>
        </p:txBody>
      </p:sp>
      <p:sp>
        <p:nvSpPr>
          <p:cNvPr id="37901" name="矩形 1"/>
          <p:cNvSpPr>
            <a:spLocks noChangeArrowheads="1"/>
          </p:cNvSpPr>
          <p:nvPr/>
        </p:nvSpPr>
        <p:spPr bwMode="auto">
          <a:xfrm>
            <a:off x="2071688" y="5589588"/>
            <a:ext cx="6265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多模光纤</a:t>
            </a:r>
            <a:r>
              <a:rPr lang="en-US" altLang="zh-CN" sz="2400" b="1">
                <a:ea typeface="黑体" panose="02010609060101010101" pitchFamily="49" charset="-122"/>
              </a:rPr>
              <a:t>(a) </a:t>
            </a:r>
            <a:r>
              <a:rPr lang="zh-CN" altLang="zh-CN" sz="2400" b="1">
                <a:ea typeface="黑体" panose="02010609060101010101" pitchFamily="49" charset="-122"/>
              </a:rPr>
              <a:t>和</a:t>
            </a:r>
            <a:r>
              <a:rPr lang="en-US" altLang="zh-CN" sz="2400" b="1">
                <a:ea typeface="黑体" panose="02010609060101010101" pitchFamily="49" charset="-122"/>
              </a:rPr>
              <a:t> </a:t>
            </a:r>
            <a:r>
              <a:rPr lang="zh-CN" altLang="zh-CN" sz="2400" b="1">
                <a:ea typeface="黑体" panose="02010609060101010101" pitchFamily="49" charset="-122"/>
              </a:rPr>
              <a:t>单模光纤</a:t>
            </a:r>
            <a:r>
              <a:rPr lang="en-US" altLang="zh-CN" sz="2400" b="1">
                <a:ea typeface="黑体" panose="02010609060101010101" pitchFamily="49" charset="-122"/>
              </a:rPr>
              <a:t>(b) </a:t>
            </a:r>
            <a:r>
              <a:rPr lang="zh-CN" altLang="zh-CN" sz="2400" b="1">
                <a:ea typeface="黑体" panose="02010609060101010101" pitchFamily="49" charset="-122"/>
              </a:rPr>
              <a:t>的比较</a:t>
            </a:r>
            <a:endParaRPr lang="zh-CN" altLang="en-US" sz="2400" b="1">
              <a:ea typeface="黑体" panose="02010609060101010101" pitchFamily="49" charset="-122"/>
            </a:endParaRPr>
          </a:p>
        </p:txBody>
      </p:sp>
      <p:sp>
        <p:nvSpPr>
          <p:cNvPr id="3790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C9798C-19AD-44D4-9716-F9574D500FEF}" type="slidenum">
              <a:rPr altLang="en-US" smtClean="0"/>
              <a:pPr/>
              <a:t>39</a:t>
            </a:fld>
            <a:endParaRPr lang="zh-CN" altLang="zh-CN" smtClean="0"/>
          </a:p>
        </p:txBody>
      </p:sp>
      <p:sp>
        <p:nvSpPr>
          <p:cNvPr id="3790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3058613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16775"/>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8" fill="hold" nodeType="afterEffect">
                                  <p:stCondLst>
                                    <p:cond delay="0"/>
                                  </p:stCondLst>
                                  <p:childTnLst>
                                    <p:set>
                                      <p:cBhvr>
                                        <p:cTn id="9" dur="1" fill="hold">
                                          <p:stCondLst>
                                            <p:cond delay="0"/>
                                          </p:stCondLst>
                                        </p:cTn>
                                        <p:tgtEl>
                                          <p:spTgt spid="116787"/>
                                        </p:tgtEl>
                                        <p:attrNameLst>
                                          <p:attrName>style.visibility</p:attrName>
                                        </p:attrNameLst>
                                      </p:cBhvr>
                                      <p:to>
                                        <p:strVal val="visible"/>
                                      </p:to>
                                    </p:set>
                                    <p:animEffect transition="in" filter="wipe(left)">
                                      <p:cBhvr>
                                        <p:cTn id="10" dur="2000"/>
                                        <p:tgtEl>
                                          <p:spTgt spid="116787"/>
                                        </p:tgtEl>
                                      </p:cBhvr>
                                    </p:animEffect>
                                  </p:childTnLst>
                                </p:cTn>
                              </p:par>
                              <p:par>
                                <p:cTn id="11" presetID="22" presetClass="entr" presetSubtype="8" fill="hold" nodeType="withEffect">
                                  <p:stCondLst>
                                    <p:cond delay="0"/>
                                  </p:stCondLst>
                                  <p:childTnLst>
                                    <p:set>
                                      <p:cBhvr>
                                        <p:cTn id="12" dur="1" fill="hold">
                                          <p:stCondLst>
                                            <p:cond delay="0"/>
                                          </p:stCondLst>
                                        </p:cTn>
                                        <p:tgtEl>
                                          <p:spTgt spid="116766"/>
                                        </p:tgtEl>
                                        <p:attrNameLst>
                                          <p:attrName>style.visibility</p:attrName>
                                        </p:attrNameLst>
                                      </p:cBhvr>
                                      <p:to>
                                        <p:strVal val="visible"/>
                                      </p:to>
                                    </p:set>
                                    <p:animEffect transition="in" filter="wipe(left)">
                                      <p:cBhvr>
                                        <p:cTn id="13" dur="2000"/>
                                        <p:tgtEl>
                                          <p:spTgt spid="11676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16738"/>
                                        </p:tgtEl>
                                        <p:attrNameLst>
                                          <p:attrName>style.visibility</p:attrName>
                                        </p:attrNameLst>
                                      </p:cBhvr>
                                      <p:to>
                                        <p:strVal val="visible"/>
                                      </p:to>
                                    </p:set>
                                  </p:childTnLst>
                                </p:cTn>
                              </p:par>
                            </p:childTnLst>
                          </p:cTn>
                        </p:par>
                        <p:par>
                          <p:cTn id="18" fill="hold" nodeType="afterGroup">
                            <p:stCondLst>
                              <p:cond delay="1"/>
                            </p:stCondLst>
                            <p:childTnLst>
                              <p:par>
                                <p:cTn id="19" presetID="22" presetClass="entr" presetSubtype="8" fill="hold" nodeType="afterEffect">
                                  <p:stCondLst>
                                    <p:cond delay="0"/>
                                  </p:stCondLst>
                                  <p:childTnLst>
                                    <p:set>
                                      <p:cBhvr>
                                        <p:cTn id="20" dur="1" fill="hold">
                                          <p:stCondLst>
                                            <p:cond delay="0"/>
                                          </p:stCondLst>
                                        </p:cTn>
                                        <p:tgtEl>
                                          <p:spTgt spid="116786"/>
                                        </p:tgtEl>
                                        <p:attrNameLst>
                                          <p:attrName>style.visibility</p:attrName>
                                        </p:attrNameLst>
                                      </p:cBhvr>
                                      <p:to>
                                        <p:strVal val="visible"/>
                                      </p:to>
                                    </p:set>
                                    <p:animEffect transition="in" filter="wipe(left)">
                                      <p:cBhvr>
                                        <p:cTn id="21" dur="2000"/>
                                        <p:tgtEl>
                                          <p:spTgt spid="11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光纤通信中使用的光波的波段</a:t>
            </a:r>
          </a:p>
        </p:txBody>
      </p:sp>
      <p:sp>
        <p:nvSpPr>
          <p:cNvPr id="39939" name="内容占位符 2"/>
          <p:cNvSpPr>
            <a:spLocks noGrp="1" noChangeArrowheads="1"/>
          </p:cNvSpPr>
          <p:nvPr>
            <p:ph idx="1"/>
          </p:nvPr>
        </p:nvSpPr>
        <p:spPr>
          <a:xfrm>
            <a:off x="495300" y="1196975"/>
            <a:ext cx="9066213" cy="4933950"/>
          </a:xfrm>
        </p:spPr>
        <p:txBody>
          <a:bodyPr/>
          <a:lstStyle/>
          <a:p>
            <a:pPr eaLnBrk="1" hangingPunct="1"/>
            <a:r>
              <a:rPr lang="zh-CN" altLang="zh-CN" dirty="0" smtClean="0">
                <a:ea typeface="黑体" panose="02010609060101010101" pitchFamily="49" charset="-122"/>
              </a:rPr>
              <a:t>常用的三个波段的中心分别位于</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850 nm, 1300 nm </a:t>
            </a:r>
            <a:r>
              <a:rPr lang="zh-CN" altLang="zh-CN" dirty="0" smtClean="0">
                <a:solidFill>
                  <a:srgbClr val="0000CC"/>
                </a:solidFill>
                <a:ea typeface="黑体" panose="02010609060101010101" pitchFamily="49" charset="-122"/>
              </a:rPr>
              <a:t>和</a:t>
            </a:r>
            <a:r>
              <a:rPr lang="en-US" altLang="zh-CN" dirty="0" smtClean="0">
                <a:solidFill>
                  <a:srgbClr val="0000CC"/>
                </a:solidFill>
                <a:ea typeface="黑体" panose="02010609060101010101" pitchFamily="49" charset="-122"/>
              </a:rPr>
              <a:t> 1550 nm</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a:p>
            <a:pPr eaLnBrk="1" hangingPunct="1"/>
            <a:r>
              <a:rPr lang="zh-CN" altLang="zh-CN" dirty="0" smtClean="0">
                <a:ea typeface="黑体" panose="02010609060101010101" pitchFamily="49" charset="-122"/>
              </a:rPr>
              <a:t>所有这三个波段都具有</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25000~30000 GHz </a:t>
            </a:r>
            <a:r>
              <a:rPr lang="zh-CN" altLang="zh-CN" dirty="0" smtClean="0">
                <a:solidFill>
                  <a:srgbClr val="0000CC"/>
                </a:solidFill>
                <a:ea typeface="黑体" panose="02010609060101010101" pitchFamily="49" charset="-122"/>
              </a:rPr>
              <a:t>的带宽，</a:t>
            </a:r>
            <a:r>
              <a:rPr lang="zh-CN" altLang="zh-CN" dirty="0" smtClean="0">
                <a:ea typeface="黑体" panose="02010609060101010101" pitchFamily="49" charset="-122"/>
              </a:rPr>
              <a:t>可见光纤的通信容量非常大</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0" indent="0" algn="r" eaLnBrk="1" hangingPunct="1">
              <a:buNone/>
            </a:pPr>
            <a:r>
              <a:rPr lang="en-US" altLang="zh-CN" dirty="0" smtClean="0">
                <a:solidFill>
                  <a:srgbClr val="FF0000"/>
                </a:solidFill>
                <a:ea typeface="黑体" panose="02010609060101010101" pitchFamily="49" charset="-122"/>
              </a:rPr>
              <a:t>——</a:t>
            </a:r>
            <a:r>
              <a:rPr lang="zh-CN" altLang="en-US" dirty="0" smtClean="0">
                <a:solidFill>
                  <a:srgbClr val="FF0000"/>
                </a:solidFill>
                <a:ea typeface="黑体" panose="02010609060101010101" pitchFamily="49" charset="-122"/>
              </a:rPr>
              <a:t>广泛用于主干网</a:t>
            </a:r>
            <a:endParaRPr lang="en-US" altLang="zh-CN" dirty="0" smtClean="0">
              <a:solidFill>
                <a:srgbClr val="FF0000"/>
              </a:solidFill>
              <a:ea typeface="黑体" panose="02010609060101010101" pitchFamily="49" charset="-122"/>
            </a:endParaRPr>
          </a:p>
          <a:p>
            <a:pPr eaLnBrk="1" hangingPunct="1"/>
            <a:endParaRPr lang="zh-CN" altLang="en-US" dirty="0" smtClean="0">
              <a:ea typeface="黑体" panose="02010609060101010101" pitchFamily="49" charset="-122"/>
            </a:endParaRPr>
          </a:p>
        </p:txBody>
      </p:sp>
      <p:sp>
        <p:nvSpPr>
          <p:cNvPr id="3994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7189F1-A49F-4661-99F2-D0B7982A93B5}" type="slidenum">
              <a:rPr altLang="en-US" smtClean="0"/>
              <a:pPr/>
              <a:t>40</a:t>
            </a:fld>
            <a:endParaRPr lang="zh-CN" altLang="zh-CN" smtClean="0"/>
          </a:p>
        </p:txBody>
      </p:sp>
      <p:sp>
        <p:nvSpPr>
          <p:cNvPr id="3994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937913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光纤优点</a:t>
            </a:r>
          </a:p>
        </p:txBody>
      </p:sp>
      <p:sp>
        <p:nvSpPr>
          <p:cNvPr id="40963" name="内容占位符 2"/>
          <p:cNvSpPr>
            <a:spLocks noGrp="1" noChangeArrowheads="1"/>
          </p:cNvSpPr>
          <p:nvPr>
            <p:ph idx="1"/>
          </p:nvPr>
        </p:nvSpPr>
        <p:spPr>
          <a:xfrm>
            <a:off x="495300" y="1196975"/>
            <a:ext cx="9066213" cy="4933950"/>
          </a:xfrm>
        </p:spPr>
        <p:txBody>
          <a:bodyPr/>
          <a:lstStyle/>
          <a:p>
            <a:pPr marL="0" indent="0" eaLnBrk="1" hangingPunct="1">
              <a:buNone/>
            </a:pPr>
            <a:r>
              <a:rPr lang="en-US" altLang="zh-CN" dirty="0" smtClean="0">
                <a:ea typeface="黑体" panose="02010609060101010101" pitchFamily="49" charset="-122"/>
              </a:rPr>
              <a:t>(1) </a:t>
            </a:r>
            <a:r>
              <a:rPr lang="zh-CN" altLang="zh-CN" dirty="0" smtClean="0">
                <a:ea typeface="黑体" panose="02010609060101010101" pitchFamily="49" charset="-122"/>
              </a:rPr>
              <a:t>通信容量非常大</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0" indent="0" eaLnBrk="1" hangingPunct="1">
              <a:buNone/>
            </a:pPr>
            <a:r>
              <a:rPr lang="en-US" altLang="zh-CN" dirty="0" smtClean="0">
                <a:ea typeface="黑体" panose="02010609060101010101" pitchFamily="49" charset="-122"/>
              </a:rPr>
              <a:t>(2) </a:t>
            </a:r>
            <a:r>
              <a:rPr lang="zh-CN" altLang="zh-CN" dirty="0" smtClean="0">
                <a:ea typeface="黑体" panose="02010609060101010101" pitchFamily="49" charset="-122"/>
              </a:rPr>
              <a:t>传输损耗小，中继距离长。</a:t>
            </a:r>
          </a:p>
          <a:p>
            <a:pPr marL="0" indent="0" eaLnBrk="1" hangingPunct="1">
              <a:buNone/>
            </a:pPr>
            <a:r>
              <a:rPr lang="en-US" altLang="zh-CN" dirty="0" smtClean="0">
                <a:ea typeface="黑体" panose="02010609060101010101" pitchFamily="49" charset="-122"/>
              </a:rPr>
              <a:t>(2) </a:t>
            </a:r>
            <a:r>
              <a:rPr lang="zh-CN" altLang="zh-CN" dirty="0" smtClean="0">
                <a:ea typeface="黑体" panose="02010609060101010101" pitchFamily="49" charset="-122"/>
              </a:rPr>
              <a:t>抗雷电和电磁干扰性能好。</a:t>
            </a:r>
          </a:p>
          <a:p>
            <a:pPr marL="0" indent="0" eaLnBrk="1" hangingPunct="1">
              <a:buNone/>
            </a:pPr>
            <a:r>
              <a:rPr lang="en-US" altLang="zh-CN" dirty="0" smtClean="0">
                <a:ea typeface="黑体" panose="02010609060101010101" pitchFamily="49" charset="-122"/>
              </a:rPr>
              <a:t>(3) </a:t>
            </a:r>
            <a:r>
              <a:rPr lang="zh-CN" altLang="zh-CN" dirty="0" smtClean="0">
                <a:ea typeface="黑体" panose="02010609060101010101" pitchFamily="49" charset="-122"/>
              </a:rPr>
              <a:t>无串音干扰，保密性好。</a:t>
            </a:r>
          </a:p>
          <a:p>
            <a:pPr marL="0" indent="0" eaLnBrk="1" hangingPunct="1">
              <a:buNone/>
            </a:pPr>
            <a:r>
              <a:rPr lang="en-US" altLang="zh-CN" dirty="0" smtClean="0">
                <a:ea typeface="黑体" panose="02010609060101010101" pitchFamily="49" charset="-122"/>
              </a:rPr>
              <a:t>(4) </a:t>
            </a:r>
            <a:r>
              <a:rPr lang="zh-CN" altLang="zh-CN" dirty="0" smtClean="0">
                <a:ea typeface="黑体" panose="02010609060101010101" pitchFamily="49" charset="-122"/>
              </a:rPr>
              <a:t>体积小，重量轻。</a:t>
            </a:r>
            <a:endParaRPr lang="zh-CN" altLang="en-US" dirty="0" smtClean="0">
              <a:ea typeface="黑体" panose="02010609060101010101" pitchFamily="49" charset="-122"/>
            </a:endParaRPr>
          </a:p>
        </p:txBody>
      </p:sp>
      <p:sp>
        <p:nvSpPr>
          <p:cNvPr id="4096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67FEC0-2956-4B00-B280-563E378955A8}" type="slidenum">
              <a:rPr altLang="en-US" smtClean="0"/>
              <a:pPr/>
              <a:t>41</a:t>
            </a:fld>
            <a:endParaRPr lang="zh-CN" altLang="zh-CN" smtClean="0"/>
          </a:p>
        </p:txBody>
      </p:sp>
      <p:sp>
        <p:nvSpPr>
          <p:cNvPr id="4096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1216049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2.3.2  </a:t>
            </a:r>
            <a:r>
              <a:rPr lang="zh-CN" altLang="en-US" smtClean="0">
                <a:ea typeface="黑体" panose="02010609060101010101" pitchFamily="49" charset="-122"/>
              </a:rPr>
              <a:t>非导引型传输媒体 </a:t>
            </a:r>
          </a:p>
        </p:txBody>
      </p:sp>
      <p:sp>
        <p:nvSpPr>
          <p:cNvPr id="46083" name="Rectangle 3"/>
          <p:cNvSpPr>
            <a:spLocks noGrp="1" noChangeArrowheads="1"/>
          </p:cNvSpPr>
          <p:nvPr>
            <p:ph idx="1"/>
          </p:nvPr>
        </p:nvSpPr>
        <p:spPr>
          <a:xfrm>
            <a:off x="495300" y="1196975"/>
            <a:ext cx="9066213" cy="4933950"/>
          </a:xfrm>
        </p:spPr>
        <p:txBody>
          <a:bodyPr/>
          <a:lstStyle/>
          <a:p>
            <a:pPr eaLnBrk="1" hangingPunct="1"/>
            <a:r>
              <a:rPr lang="zh-CN" altLang="zh-CN" dirty="0" smtClean="0">
                <a:ea typeface="黑体" panose="02010609060101010101" pitchFamily="49" charset="-122"/>
              </a:rPr>
              <a:t>将自由空间称为“非导引型传输媒体”。</a:t>
            </a:r>
            <a:endParaRPr lang="en-US" altLang="zh-CN" dirty="0" smtClean="0">
              <a:ea typeface="黑体" panose="02010609060101010101" pitchFamily="49" charset="-122"/>
            </a:endParaRPr>
          </a:p>
          <a:p>
            <a:pPr eaLnBrk="1" hangingPunct="1"/>
            <a:r>
              <a:rPr lang="zh-CN" altLang="en-US" dirty="0" smtClean="0">
                <a:ea typeface="黑体" panose="02010609060101010101" pitchFamily="49" charset="-122"/>
              </a:rPr>
              <a:t>无线传输所使用的频段很广。</a:t>
            </a:r>
          </a:p>
          <a:p>
            <a:pPr eaLnBrk="1" hangingPunct="1"/>
            <a:r>
              <a:rPr lang="zh-CN" altLang="en-US" dirty="0" smtClean="0">
                <a:solidFill>
                  <a:srgbClr val="FF0000"/>
                </a:solidFill>
                <a:ea typeface="黑体" panose="02010609060101010101" pitchFamily="49" charset="-122"/>
              </a:rPr>
              <a:t>短波通信</a:t>
            </a:r>
            <a:r>
              <a:rPr lang="zh-CN" altLang="zh-CN" dirty="0" smtClean="0">
                <a:ea typeface="黑体" panose="02010609060101010101" pitchFamily="49" charset="-122"/>
              </a:rPr>
              <a:t>（即高频通信）</a:t>
            </a:r>
            <a:r>
              <a:rPr lang="zh-CN" altLang="en-US" dirty="0" smtClean="0">
                <a:ea typeface="黑体" panose="02010609060101010101" pitchFamily="49" charset="-122"/>
              </a:rPr>
              <a:t>主要是靠电离层的反射，但短波信道的通信质量较差，传输速率低。</a:t>
            </a:r>
          </a:p>
          <a:p>
            <a:pPr eaLnBrk="1" hangingPunct="1"/>
            <a:r>
              <a:rPr lang="zh-CN" altLang="en-US" dirty="0" smtClean="0">
                <a:solidFill>
                  <a:srgbClr val="FF0000"/>
                </a:solidFill>
                <a:ea typeface="黑体" panose="02010609060101010101" pitchFamily="49" charset="-122"/>
              </a:rPr>
              <a:t>微波</a:t>
            </a:r>
            <a:r>
              <a:rPr lang="zh-CN" altLang="en-US" dirty="0" smtClean="0">
                <a:ea typeface="黑体" panose="02010609060101010101" pitchFamily="49" charset="-122"/>
              </a:rPr>
              <a:t>在空间主要是直线传播。传统微波通信有两种方式： </a:t>
            </a:r>
          </a:p>
          <a:p>
            <a:pPr lvl="1" eaLnBrk="1" hangingPunct="1"/>
            <a:r>
              <a:rPr lang="zh-CN" altLang="en-US" dirty="0" smtClean="0">
                <a:solidFill>
                  <a:srgbClr val="0000CC"/>
                </a:solidFill>
                <a:ea typeface="黑体" panose="02010609060101010101" pitchFamily="49" charset="-122"/>
              </a:rPr>
              <a:t>地面微波接力通信：</a:t>
            </a:r>
            <a:r>
              <a:rPr lang="zh-CN" altLang="en-US" dirty="0" smtClean="0">
                <a:ea typeface="黑体" panose="02010609060101010101" pitchFamily="49" charset="-122"/>
              </a:rPr>
              <a:t>长距离地面需中继站接力</a:t>
            </a:r>
          </a:p>
          <a:p>
            <a:pPr lvl="1" eaLnBrk="1" hangingPunct="1"/>
            <a:r>
              <a:rPr lang="zh-CN" altLang="en-US" dirty="0" smtClean="0">
                <a:solidFill>
                  <a:srgbClr val="0000CC"/>
                </a:solidFill>
                <a:ea typeface="黑体" panose="02010609060101010101" pitchFamily="49" charset="-122"/>
              </a:rPr>
              <a:t>卫星通信：</a:t>
            </a:r>
            <a:r>
              <a:rPr lang="zh-CN" altLang="en-US" dirty="0" smtClean="0">
                <a:ea typeface="黑体" panose="02010609060101010101" pitchFamily="49" charset="-122"/>
              </a:rPr>
              <a:t>卫星接力，但时延大  </a:t>
            </a:r>
          </a:p>
        </p:txBody>
      </p:sp>
      <p:sp>
        <p:nvSpPr>
          <p:cNvPr id="4198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40C318-B0E7-4E62-B1BB-7B5B41007965}" type="slidenum">
              <a:rPr altLang="en-US" smtClean="0"/>
              <a:pPr/>
              <a:t>42</a:t>
            </a:fld>
            <a:endParaRPr lang="zh-CN" altLang="zh-CN" smtClean="0"/>
          </a:p>
        </p:txBody>
      </p:sp>
      <p:sp>
        <p:nvSpPr>
          <p:cNvPr id="4198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255790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p:txBody>
          <a:bodyPr/>
          <a:lstStyle/>
          <a:p>
            <a:pPr eaLnBrk="1" hangingPunct="1"/>
            <a:r>
              <a:rPr lang="en-US" altLang="zh-CN" dirty="0" smtClean="0">
                <a:ea typeface="黑体" panose="02010609060101010101" pitchFamily="49" charset="-122"/>
              </a:rPr>
              <a:t>  </a:t>
            </a:r>
            <a:r>
              <a:rPr lang="zh-CN" altLang="en-US" dirty="0" smtClean="0">
                <a:solidFill>
                  <a:srgbClr val="FF0000"/>
                </a:solidFill>
                <a:ea typeface="黑体" panose="02010609060101010101" pitchFamily="49" charset="-122"/>
              </a:rPr>
              <a:t>无线局域网</a:t>
            </a:r>
            <a:r>
              <a:rPr lang="zh-CN" altLang="en-US" dirty="0" smtClean="0">
                <a:ea typeface="黑体" panose="02010609060101010101" pitchFamily="49" charset="-122"/>
              </a:rPr>
              <a:t>使用的 </a:t>
            </a:r>
            <a:r>
              <a:rPr lang="en-US" altLang="zh-CN" dirty="0" smtClean="0">
                <a:ea typeface="黑体" panose="02010609060101010101" pitchFamily="49" charset="-122"/>
              </a:rPr>
              <a:t>ISM </a:t>
            </a:r>
            <a:r>
              <a:rPr lang="zh-CN" altLang="en-US" dirty="0" smtClean="0">
                <a:ea typeface="黑体" panose="02010609060101010101" pitchFamily="49" charset="-122"/>
              </a:rPr>
              <a:t>频段 </a:t>
            </a:r>
          </a:p>
        </p:txBody>
      </p:sp>
      <p:grpSp>
        <p:nvGrpSpPr>
          <p:cNvPr id="44035" name="组合 3"/>
          <p:cNvGrpSpPr>
            <a:grpSpLocks/>
          </p:cNvGrpSpPr>
          <p:nvPr/>
        </p:nvGrpSpPr>
        <p:grpSpPr bwMode="auto">
          <a:xfrm>
            <a:off x="508000" y="2895665"/>
            <a:ext cx="9077325" cy="2952750"/>
            <a:chOff x="507339" y="3213083"/>
            <a:chExt cx="9078126" cy="2952221"/>
          </a:xfrm>
        </p:grpSpPr>
        <p:sp>
          <p:nvSpPr>
            <p:cNvPr id="44040" name="Text Box 5"/>
            <p:cNvSpPr txBox="1">
              <a:spLocks noChangeArrowheads="1"/>
            </p:cNvSpPr>
            <p:nvPr/>
          </p:nvSpPr>
          <p:spPr bwMode="auto">
            <a:xfrm>
              <a:off x="507339" y="3213083"/>
              <a:ext cx="9054171"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2400" b="1">
                  <a:solidFill>
                    <a:srgbClr val="000099"/>
                  </a:solidFill>
                  <a:ea typeface="黑体" panose="02010609060101010101" pitchFamily="49" charset="-122"/>
                </a:rPr>
                <a:t>                26                      83.5                                    125</a:t>
              </a:r>
            </a:p>
            <a:p>
              <a:pPr>
                <a:lnSpc>
                  <a:spcPct val="85000"/>
                </a:lnSpc>
              </a:pPr>
              <a:r>
                <a:rPr lang="zh-CN" altLang="en-US" sz="2400" b="1">
                  <a:solidFill>
                    <a:srgbClr val="000099"/>
                  </a:solidFill>
                  <a:ea typeface="黑体" panose="02010609060101010101" pitchFamily="49" charset="-122"/>
                </a:rPr>
                <a:t>频带       </a:t>
              </a:r>
              <a:r>
                <a:rPr lang="en-US" altLang="zh-CN" sz="2400" b="1">
                  <a:solidFill>
                    <a:srgbClr val="000099"/>
                  </a:solidFill>
                  <a:ea typeface="黑体" panose="02010609060101010101" pitchFamily="49" charset="-122"/>
                </a:rPr>
                <a:t>MHz                    MHz                                    MHz</a:t>
              </a:r>
            </a:p>
          </p:txBody>
        </p:sp>
        <p:sp>
          <p:nvSpPr>
            <p:cNvPr id="44041" name="Text Box 6"/>
            <p:cNvSpPr txBox="1">
              <a:spLocks noChangeArrowheads="1"/>
            </p:cNvSpPr>
            <p:nvPr/>
          </p:nvSpPr>
          <p:spPr bwMode="auto">
            <a:xfrm>
              <a:off x="507339" y="5445107"/>
              <a:ext cx="9078126"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2400" b="1">
                  <a:solidFill>
                    <a:srgbClr val="000099"/>
                  </a:solidFill>
                  <a:ea typeface="黑体" panose="02010609060101010101" pitchFamily="49" charset="-122"/>
                </a:rPr>
                <a:t>频率    </a:t>
              </a:r>
              <a:r>
                <a:rPr lang="en-US" altLang="zh-CN" sz="2400" b="1">
                  <a:solidFill>
                    <a:srgbClr val="000099"/>
                  </a:solidFill>
                  <a:ea typeface="黑体" panose="02010609060101010101" pitchFamily="49" charset="-122"/>
                </a:rPr>
                <a:t>902    928       2.4            2.4835          5.725               5.850</a:t>
              </a:r>
            </a:p>
            <a:p>
              <a:pPr>
                <a:lnSpc>
                  <a:spcPct val="85000"/>
                </a:lnSpc>
              </a:pPr>
              <a:r>
                <a:rPr lang="en-US" altLang="zh-CN" sz="2400" b="1">
                  <a:solidFill>
                    <a:srgbClr val="000099"/>
                  </a:solidFill>
                  <a:ea typeface="黑体" panose="02010609060101010101" pitchFamily="49" charset="-122"/>
                </a:rPr>
                <a:t>           MHz   MHz     GHz             GHz            GHz                 GHz</a:t>
              </a:r>
            </a:p>
          </p:txBody>
        </p:sp>
        <p:sp>
          <p:nvSpPr>
            <p:cNvPr id="44042" name="Line 7"/>
            <p:cNvSpPr>
              <a:spLocks noChangeShapeType="1"/>
            </p:cNvSpPr>
            <p:nvPr/>
          </p:nvSpPr>
          <p:spPr bwMode="auto">
            <a:xfrm>
              <a:off x="1396471" y="4062395"/>
              <a:ext cx="801422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3" name="Line 8"/>
            <p:cNvSpPr>
              <a:spLocks noChangeShapeType="1"/>
            </p:cNvSpPr>
            <p:nvPr/>
          </p:nvSpPr>
          <p:spPr bwMode="auto">
            <a:xfrm>
              <a:off x="1396471" y="5356207"/>
              <a:ext cx="801422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4" name="Rectangle 9"/>
            <p:cNvSpPr>
              <a:spLocks noChangeArrowheads="1"/>
            </p:cNvSpPr>
            <p:nvPr/>
          </p:nvSpPr>
          <p:spPr bwMode="auto">
            <a:xfrm>
              <a:off x="1792023" y="4062395"/>
              <a:ext cx="693077" cy="1293812"/>
            </a:xfrm>
            <a:prstGeom prst="rect">
              <a:avLst/>
            </a:prstGeom>
            <a:solidFill>
              <a:srgbClr val="B2B2B2"/>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44045" name="Rectangle 10"/>
            <p:cNvSpPr>
              <a:spLocks noChangeArrowheads="1"/>
            </p:cNvSpPr>
            <p:nvPr/>
          </p:nvSpPr>
          <p:spPr bwMode="auto">
            <a:xfrm>
              <a:off x="3769783" y="4062395"/>
              <a:ext cx="1485900" cy="1293812"/>
            </a:xfrm>
            <a:prstGeom prst="rect">
              <a:avLst/>
            </a:prstGeom>
            <a:solidFill>
              <a:srgbClr val="B2B2B2"/>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44046" name="Rectangle 11"/>
            <p:cNvSpPr>
              <a:spLocks noChangeArrowheads="1"/>
            </p:cNvSpPr>
            <p:nvPr/>
          </p:nvSpPr>
          <p:spPr bwMode="auto">
            <a:xfrm>
              <a:off x="7035669" y="4062395"/>
              <a:ext cx="2079228" cy="1293812"/>
            </a:xfrm>
            <a:prstGeom prst="rect">
              <a:avLst/>
            </a:prstGeom>
            <a:solidFill>
              <a:srgbClr val="B2B2B2"/>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44047" name="Line 12"/>
            <p:cNvSpPr>
              <a:spLocks noChangeShapeType="1"/>
            </p:cNvSpPr>
            <p:nvPr/>
          </p:nvSpPr>
          <p:spPr bwMode="auto">
            <a:xfrm>
              <a:off x="1792023" y="3933807"/>
              <a:ext cx="693077"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48" name="Line 13"/>
            <p:cNvSpPr>
              <a:spLocks noChangeShapeType="1"/>
            </p:cNvSpPr>
            <p:nvPr/>
          </p:nvSpPr>
          <p:spPr bwMode="auto">
            <a:xfrm>
              <a:off x="3769783" y="3933807"/>
              <a:ext cx="14859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49" name="Line 14"/>
            <p:cNvSpPr>
              <a:spLocks noChangeShapeType="1"/>
            </p:cNvSpPr>
            <p:nvPr/>
          </p:nvSpPr>
          <p:spPr bwMode="auto">
            <a:xfrm>
              <a:off x="7035669" y="3933807"/>
              <a:ext cx="207922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50" name="Text Box 15"/>
            <p:cNvSpPr txBox="1">
              <a:spLocks noChangeArrowheads="1"/>
            </p:cNvSpPr>
            <p:nvPr/>
          </p:nvSpPr>
          <p:spPr bwMode="auto">
            <a:xfrm>
              <a:off x="2925366" y="3735370"/>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sp>
          <p:nvSpPr>
            <p:cNvPr id="44051" name="Text Box 16"/>
            <p:cNvSpPr txBox="1">
              <a:spLocks noChangeArrowheads="1"/>
            </p:cNvSpPr>
            <p:nvPr/>
          </p:nvSpPr>
          <p:spPr bwMode="auto">
            <a:xfrm>
              <a:off x="2904729" y="4991082"/>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sp>
          <p:nvSpPr>
            <p:cNvPr id="44052" name="Text Box 17"/>
            <p:cNvSpPr txBox="1">
              <a:spLocks noChangeArrowheads="1"/>
            </p:cNvSpPr>
            <p:nvPr/>
          </p:nvSpPr>
          <p:spPr bwMode="auto">
            <a:xfrm>
              <a:off x="5890287" y="3706795"/>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sp>
          <p:nvSpPr>
            <p:cNvPr id="44053" name="Text Box 18"/>
            <p:cNvSpPr txBox="1">
              <a:spLocks noChangeArrowheads="1"/>
            </p:cNvSpPr>
            <p:nvPr/>
          </p:nvSpPr>
          <p:spPr bwMode="auto">
            <a:xfrm>
              <a:off x="5919523" y="5021245"/>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grpSp>
      <p:sp>
        <p:nvSpPr>
          <p:cNvPr id="44036" name="矩形 2"/>
          <p:cNvSpPr>
            <a:spLocks noChangeArrowheads="1"/>
          </p:cNvSpPr>
          <p:nvPr/>
        </p:nvSpPr>
        <p:spPr bwMode="auto">
          <a:xfrm>
            <a:off x="508000" y="1196975"/>
            <a:ext cx="9053513" cy="1569660"/>
          </a:xfrm>
          <a:prstGeom prst="rect">
            <a:avLst/>
          </a:prstGeom>
          <a:solidFill>
            <a:srgbClr val="66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400" b="1" dirty="0">
                <a:solidFill>
                  <a:srgbClr val="000066"/>
                </a:solidFill>
                <a:ea typeface="黑体" panose="02010609060101010101" pitchFamily="49" charset="-122"/>
              </a:rPr>
              <a:t>要使用某一段无线电频谱进行通信，通常必须得到本国政府有关无线电频谱管理机构的许可证。但是，也有一些无线电频段是可以自由使用的</a:t>
            </a:r>
            <a:r>
              <a:rPr lang="zh-CN" altLang="en-US" sz="2400" b="1" dirty="0">
                <a:solidFill>
                  <a:srgbClr val="000066"/>
                </a:solidFill>
                <a:ea typeface="黑体" panose="02010609060101010101" pitchFamily="49" charset="-122"/>
              </a:rPr>
              <a:t>。例如：</a:t>
            </a:r>
            <a:r>
              <a:rPr lang="en-US" altLang="zh-CN" sz="2400" b="1" dirty="0" smtClean="0">
                <a:solidFill>
                  <a:srgbClr val="FF0000"/>
                </a:solidFill>
                <a:ea typeface="黑体" panose="02010609060101010101" pitchFamily="49" charset="-122"/>
              </a:rPr>
              <a:t>ISM</a:t>
            </a:r>
            <a:r>
              <a:rPr lang="zh-CN" altLang="en-US" sz="2400" b="1" dirty="0" smtClean="0">
                <a:solidFill>
                  <a:srgbClr val="000066"/>
                </a:solidFill>
                <a:ea typeface="黑体" panose="02010609060101010101" pitchFamily="49" charset="-122"/>
              </a:rPr>
              <a:t>（</a:t>
            </a:r>
            <a:r>
              <a:rPr lang="en-US" altLang="zh-CN" sz="2400" b="1" dirty="0" smtClean="0">
                <a:solidFill>
                  <a:srgbClr val="000066"/>
                </a:solidFill>
                <a:ea typeface="黑体" panose="02010609060101010101" pitchFamily="49" charset="-122"/>
              </a:rPr>
              <a:t>Industrial Scientific and Medical</a:t>
            </a:r>
            <a:r>
              <a:rPr lang="zh-CN" altLang="en-US" sz="2400" b="1" dirty="0" smtClean="0">
                <a:solidFill>
                  <a:srgbClr val="000066"/>
                </a:solidFill>
                <a:ea typeface="黑体" panose="02010609060101010101" pitchFamily="49" charset="-122"/>
              </a:rPr>
              <a:t>）。</a:t>
            </a:r>
            <a:r>
              <a:rPr lang="zh-CN" altLang="zh-CN" sz="2400" b="1" dirty="0">
                <a:solidFill>
                  <a:srgbClr val="000066"/>
                </a:solidFill>
                <a:ea typeface="黑体" panose="02010609060101010101" pitchFamily="49" charset="-122"/>
              </a:rPr>
              <a:t>各国的</a:t>
            </a:r>
            <a:r>
              <a:rPr lang="en-US" altLang="zh-CN" sz="2400" b="1" dirty="0">
                <a:solidFill>
                  <a:srgbClr val="000066"/>
                </a:solidFill>
                <a:ea typeface="黑体" panose="02010609060101010101" pitchFamily="49" charset="-122"/>
              </a:rPr>
              <a:t> ISM </a:t>
            </a:r>
            <a:r>
              <a:rPr lang="zh-CN" altLang="zh-CN" sz="2400" b="1" dirty="0">
                <a:solidFill>
                  <a:srgbClr val="000066"/>
                </a:solidFill>
                <a:ea typeface="黑体" panose="02010609060101010101" pitchFamily="49" charset="-122"/>
              </a:rPr>
              <a:t>标准有可能略有差别</a:t>
            </a:r>
            <a:r>
              <a:rPr lang="zh-CN" altLang="en-US" sz="2400" b="1" dirty="0">
                <a:solidFill>
                  <a:srgbClr val="000066"/>
                </a:solidFill>
                <a:ea typeface="黑体" panose="02010609060101010101" pitchFamily="49" charset="-122"/>
              </a:rPr>
              <a:t>。</a:t>
            </a:r>
          </a:p>
        </p:txBody>
      </p:sp>
      <p:sp>
        <p:nvSpPr>
          <p:cNvPr id="44037" name="矩形 4"/>
          <p:cNvSpPr>
            <a:spLocks noChangeArrowheads="1"/>
          </p:cNvSpPr>
          <p:nvPr/>
        </p:nvSpPr>
        <p:spPr bwMode="auto">
          <a:xfrm>
            <a:off x="2279650" y="5991290"/>
            <a:ext cx="5626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无线局域网使用的</a:t>
            </a:r>
            <a:r>
              <a:rPr lang="en-US" altLang="zh-CN" sz="2400" b="1">
                <a:ea typeface="黑体" panose="02010609060101010101" pitchFamily="49" charset="-122"/>
              </a:rPr>
              <a:t> ISM </a:t>
            </a:r>
            <a:r>
              <a:rPr lang="zh-CN" altLang="zh-CN" sz="2400" b="1">
                <a:ea typeface="黑体" panose="02010609060101010101" pitchFamily="49" charset="-122"/>
              </a:rPr>
              <a:t>频段</a:t>
            </a:r>
            <a:endParaRPr lang="zh-CN" altLang="en-US" sz="2400" b="1">
              <a:ea typeface="黑体" panose="02010609060101010101" pitchFamily="49" charset="-122"/>
            </a:endParaRPr>
          </a:p>
        </p:txBody>
      </p:sp>
      <p:sp>
        <p:nvSpPr>
          <p:cNvPr id="44038"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1FF5C0-C100-42C5-8D50-11B0D01FE239}" type="slidenum">
              <a:rPr altLang="en-US" smtClean="0"/>
              <a:pPr/>
              <a:t>43</a:t>
            </a:fld>
            <a:endParaRPr lang="zh-CN" altLang="zh-CN" smtClean="0"/>
          </a:p>
        </p:txBody>
      </p:sp>
      <p:sp>
        <p:nvSpPr>
          <p:cNvPr id="44039"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extLst>
      <p:ext uri="{BB962C8B-B14F-4D97-AF65-F5344CB8AC3E}">
        <p14:creationId xmlns:p14="http://schemas.microsoft.com/office/powerpoint/2010/main" val="3705543275"/>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213</TotalTime>
  <Words>3143</Words>
  <Application>Microsoft Office PowerPoint</Application>
  <PresentationFormat>A4 纸张(210x297 毫米)</PresentationFormat>
  <Paragraphs>489</Paragraphs>
  <Slides>43</Slides>
  <Notes>32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Arial Unicode MS</vt:lpstr>
      <vt:lpstr>黑体</vt:lpstr>
      <vt:lpstr>宋体</vt:lpstr>
      <vt:lpstr>Arial</vt:lpstr>
      <vt:lpstr>Arial Rounded MT Bold</vt:lpstr>
      <vt:lpstr>Symbol</vt:lpstr>
      <vt:lpstr>Times New Roman</vt:lpstr>
      <vt:lpstr>Wingdings</vt:lpstr>
      <vt:lpstr>Presentation</vt:lpstr>
      <vt:lpstr>第 2 章  物理层</vt:lpstr>
      <vt:lpstr>第 2 章  物理层</vt:lpstr>
      <vt:lpstr>2.1  物理层的基本概念</vt:lpstr>
      <vt:lpstr>物理层的主要任务</vt:lpstr>
      <vt:lpstr>物理层的主要任务</vt:lpstr>
      <vt:lpstr>2.2  数据通信的基础知识</vt:lpstr>
      <vt:lpstr>2.2.1  数据通信系统的模型</vt:lpstr>
      <vt:lpstr>常用术语</vt:lpstr>
      <vt:lpstr>2.2.2  有关信道的几个基本概念</vt:lpstr>
      <vt:lpstr>2.2.2  有关信道的几个基本概念</vt:lpstr>
      <vt:lpstr>2.2.2  有关信道的几个基本概念</vt:lpstr>
      <vt:lpstr>(1) 常用编码方式</vt:lpstr>
      <vt:lpstr>(1) 常用编码方式</vt:lpstr>
      <vt:lpstr>(1) 常用编码方式</vt:lpstr>
      <vt:lpstr>(2) 基本的带通调制方法</vt:lpstr>
      <vt:lpstr>(2) 基本的带通调制方法</vt:lpstr>
      <vt:lpstr>正交振幅调制 QAM (Quadrature Amplitude Modulation) </vt:lpstr>
      <vt:lpstr>2.2.3  信道的极限容量 </vt:lpstr>
      <vt:lpstr>数字信号通过实际的信道 </vt:lpstr>
      <vt:lpstr>2.2.3  信道的极限容量</vt:lpstr>
      <vt:lpstr>信道能够通过的频率范围</vt:lpstr>
      <vt:lpstr>信道能够通过的频率范围</vt:lpstr>
      <vt:lpstr>(2) 信噪比 </vt:lpstr>
      <vt:lpstr>(2) 信噪比 </vt:lpstr>
      <vt:lpstr>香农公式表明 </vt:lpstr>
      <vt:lpstr>请注意 </vt:lpstr>
      <vt:lpstr>2.3  物理层下面的传输媒体</vt:lpstr>
      <vt:lpstr>2.3  物理层下面的传输媒体</vt:lpstr>
      <vt:lpstr>2.3  物理层下面的传输媒体</vt:lpstr>
      <vt:lpstr>2.3.1  导引型传输媒体</vt:lpstr>
      <vt:lpstr>2.3.1  导引型传输媒体</vt:lpstr>
      <vt:lpstr>双绞线标准</vt:lpstr>
      <vt:lpstr>双绞线标准</vt:lpstr>
      <vt:lpstr>2.3.1  导引型传输媒体</vt:lpstr>
      <vt:lpstr>2.3.1  导引型传输媒体</vt:lpstr>
      <vt:lpstr>光线在光纤中的折射 </vt:lpstr>
      <vt:lpstr>光纤的工作原理</vt:lpstr>
      <vt:lpstr>多模光纤与单模光纤</vt:lpstr>
      <vt:lpstr>多模光纤与单模光纤</vt:lpstr>
      <vt:lpstr>光纤通信中使用的光波的波段</vt:lpstr>
      <vt:lpstr>光纤优点</vt:lpstr>
      <vt:lpstr>2.3.2  非导引型传输媒体 </vt:lpstr>
      <vt:lpstr>  无线局域网使用的 ISM 频段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74</cp:revision>
  <dcterms:created xsi:type="dcterms:W3CDTF">2016-10-01T05:27:00Z</dcterms:created>
  <dcterms:modified xsi:type="dcterms:W3CDTF">2024-03-06T05:41:05Z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
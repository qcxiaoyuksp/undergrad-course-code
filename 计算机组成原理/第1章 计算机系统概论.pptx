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handoutMasterIdLst>
    <p:handoutMasterId r:id="rId49"/>
  </p:handoutMasterIdLst>
  <p:sldIdLst>
    <p:sldId id="444" r:id="rId3"/>
    <p:sldId id="445" r:id="rId4"/>
    <p:sldId id="446" r:id="rId5"/>
    <p:sldId id="447" r:id="rId6"/>
    <p:sldId id="448" r:id="rId7"/>
    <p:sldId id="449" r:id="rId8"/>
    <p:sldId id="450" r:id="rId9"/>
    <p:sldId id="487" r:id="rId10"/>
    <p:sldId id="355" r:id="rId11"/>
    <p:sldId id="385" r:id="rId12"/>
    <p:sldId id="386" r:id="rId13"/>
    <p:sldId id="358" r:id="rId14"/>
    <p:sldId id="350" r:id="rId15"/>
    <p:sldId id="351" r:id="rId16"/>
    <p:sldId id="352" r:id="rId17"/>
    <p:sldId id="353" r:id="rId18"/>
    <p:sldId id="393" r:id="rId19"/>
    <p:sldId id="394" r:id="rId20"/>
    <p:sldId id="395" r:id="rId21"/>
    <p:sldId id="396" r:id="rId22"/>
    <p:sldId id="397" r:id="rId23"/>
    <p:sldId id="337" r:id="rId24"/>
    <p:sldId id="339" r:id="rId25"/>
    <p:sldId id="340" r:id="rId26"/>
    <p:sldId id="341" r:id="rId27"/>
    <p:sldId id="317" r:id="rId28"/>
    <p:sldId id="327" r:id="rId29"/>
    <p:sldId id="343" r:id="rId30"/>
    <p:sldId id="342" r:id="rId31"/>
    <p:sldId id="329" r:id="rId32"/>
    <p:sldId id="330" r:id="rId33"/>
    <p:sldId id="403" r:id="rId35"/>
    <p:sldId id="320" r:id="rId36"/>
    <p:sldId id="344" r:id="rId37"/>
    <p:sldId id="402" r:id="rId38"/>
    <p:sldId id="404" r:id="rId39"/>
    <p:sldId id="324" r:id="rId40"/>
    <p:sldId id="345" r:id="rId41"/>
    <p:sldId id="266" r:id="rId42"/>
    <p:sldId id="405" r:id="rId43"/>
    <p:sldId id="279" r:id="rId44"/>
    <p:sldId id="390" r:id="rId45"/>
    <p:sldId id="391" r:id="rId46"/>
    <p:sldId id="392" r:id="rId47"/>
    <p:sldId id="488" r:id="rId48"/>
  </p:sldIdLst>
  <p:sldSz cx="9144000" cy="6858000" type="screen4x3"/>
  <p:notesSz cx="6858000" cy="9144000"/>
  <p:custDataLst>
    <p:tags r:id="rId53"/>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8" d="100"/>
          <a:sy n="108" d="100"/>
        </p:scale>
        <p:origin x="-1704" y="-90"/>
      </p:cViewPr>
      <p:guideLst>
        <p:guide orient="horz" pos="2160"/>
        <p:guide pos="288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6.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00D22C86-EAA5-4577-90E9-AAFE94956D15}"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B9D31C66-959D-4533-BB90-433CC5480BA4}"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miter lim="800000"/>
          </a:ln>
        </p:spPr>
        <p:txBody>
          <a:bodyPr/>
          <a:lstStyle/>
          <a:p>
            <a:fld id="{43156A63-6186-40A3-8855-248DEBCFCEA8}" type="slidenum">
              <a:rPr lang="en-US" altLang="zh-CN" smtClean="0"/>
            </a:fld>
            <a:endParaRPr lang="en-US" altLang="zh-CN" smtClean="0"/>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miter lim="800000"/>
          </a:ln>
        </p:spPr>
        <p:txBody>
          <a:bodyPr/>
          <a:lstStyle/>
          <a:p>
            <a:fld id="{50E750A7-6117-4D93-804A-7F6889613521}" type="slidenum">
              <a:rPr lang="en-US" altLang="zh-CN" smtClean="0"/>
            </a:fld>
            <a:endParaRPr lang="en-US" altLang="zh-CN" smtClean="0"/>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smtClean="0"/>
              <a:t>单击此处编辑母版标题样式</a:t>
            </a:r>
            <a:endParaRPr lang="zh-CN" altLang="en-US" noProof="0" smtClean="0"/>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zh-CN" altLang="en-US" noProof="0" smtClean="0"/>
              <a:t>单击此处编辑母版副标题样式</a:t>
            </a:r>
            <a:endParaRPr lang="zh-CN" altLang="en-US" noProof="0" smtClean="0"/>
          </a:p>
        </p:txBody>
      </p:sp>
      <p:sp>
        <p:nvSpPr>
          <p:cNvPr id="38" name="Rectangle 5"/>
          <p:cNvSpPr>
            <a:spLocks noGrp="1" noChangeArrowheads="1"/>
          </p:cNvSpPr>
          <p:nvPr>
            <p:ph type="dt" sz="half" idx="10"/>
          </p:nvPr>
        </p:nvSpPr>
        <p:spPr/>
        <p:txBody>
          <a:bodyPr/>
          <a:lstStyle>
            <a:lvl1pPr>
              <a:defRPr/>
            </a:lvl1pPr>
          </a:lstStyle>
          <a:p>
            <a:pPr>
              <a:defRPr/>
            </a:pPr>
            <a:fld id="{A54B20E1-44D4-4708-A69C-4FEB017CDDCE}" type="datetime1">
              <a:rPr lang="zh-CN" altLang="en-US"/>
            </a:fld>
            <a:endParaRPr lang="en-US" altLang="zh-CN"/>
          </a:p>
        </p:txBody>
      </p:sp>
      <p:sp>
        <p:nvSpPr>
          <p:cNvPr id="39" name="Rectangle 6"/>
          <p:cNvSpPr>
            <a:spLocks noGrp="1" noChangeArrowheads="1"/>
          </p:cNvSpPr>
          <p:nvPr>
            <p:ph type="ftr" sz="quarter" idx="11"/>
          </p:nvPr>
        </p:nvSpPr>
        <p:spPr/>
        <p:txBody>
          <a:bodyPr/>
          <a:lstStyle>
            <a:lvl1pPr>
              <a:defRPr>
                <a:latin typeface="楷体_GB2312" pitchFamily="49" charset="-122"/>
                <a:ea typeface="楷体_GB2312" pitchFamily="49" charset="-122"/>
              </a:defRPr>
            </a:lvl1pPr>
          </a:lstStyle>
          <a:p>
            <a:pPr>
              <a:defRPr/>
            </a:pPr>
            <a:r>
              <a:rPr lang="zh-CN" altLang="en-US"/>
              <a:t>邮电大学</a:t>
            </a:r>
            <a:r>
              <a:rPr lang="en-US" altLang="zh-CN"/>
              <a:t>-</a:t>
            </a:r>
            <a:r>
              <a:rPr lang="zh-CN" altLang="en-US"/>
              <a:t>计算机学院杨旭东</a:t>
            </a:r>
            <a:endParaRPr lang="zh-CN" altLang="en-US"/>
          </a:p>
        </p:txBody>
      </p:sp>
      <p:sp>
        <p:nvSpPr>
          <p:cNvPr id="40" name="Rectangle 7"/>
          <p:cNvSpPr>
            <a:spLocks noGrp="1" noChangeArrowheads="1"/>
          </p:cNvSpPr>
          <p:nvPr>
            <p:ph type="sldNum" sz="quarter" idx="12"/>
          </p:nvPr>
        </p:nvSpPr>
        <p:spPr/>
        <p:txBody>
          <a:bodyPr/>
          <a:lstStyle>
            <a:lvl1pPr>
              <a:defRPr/>
            </a:lvl1pPr>
          </a:lstStyle>
          <a:p>
            <a:pPr>
              <a:defRPr/>
            </a:pPr>
            <a:fld id="{E08FDADB-E02B-475C-A9B6-133033E39257}"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7B44596F-3340-468F-ADAE-59886B289471}"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2FAD754-FEF0-47DB-8087-BCF5F560F039}"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5"/>
          <p:cNvSpPr>
            <a:spLocks noGrp="1" noChangeArrowheads="1"/>
          </p:cNvSpPr>
          <p:nvPr>
            <p:ph type="dt" sz="half" idx="10"/>
          </p:nvPr>
        </p:nvSpPr>
        <p:spPr/>
        <p:txBody>
          <a:bodyPr/>
          <a:lstStyle>
            <a:lvl1pPr>
              <a:defRPr/>
            </a:lvl1pPr>
          </a:lstStyle>
          <a:p>
            <a:pPr>
              <a:defRPr/>
            </a:pPr>
            <a:fld id="{216F9928-DC3C-41CD-9948-7E1F42ECD008}"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12C4B2C-9273-42E1-957D-21EC94C17203}"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7EB48E-FB34-4EDB-91F7-60FE1341C5AC}"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9E04DFB0-F183-4CA3-A137-3BEA972F4F5D}"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D946689D-B83D-4F05-BDA3-5DA2B11D10C9}" type="datetime1">
              <a:rPr lang="zh-CN" altLang="en-US"/>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A5BB603B-C8CD-42BB-B740-9E93F9AC618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951AF22B-3E99-45ED-A555-FE23EFBAA5E3}" type="datetime1">
              <a:rPr lang="zh-CN" altLang="en-US"/>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CCCC9E02-175B-4708-B97A-624F9F0B9A4C}"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891E18D8-9542-4FEF-A20F-CEAA0DBEEC04}" type="datetime1">
              <a:rPr lang="zh-CN" altLang="en-US"/>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EEA9E82F-BA66-4634-8F7A-1E6AB983ABE1}"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fld id="{5F8B56F7-2F05-45AF-9D99-23194C21ACF3}"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E245F5AD-B3B5-452F-9AED-8DAE1CCA5688}"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fld id="{E74923AE-325F-4F84-B3AD-7B4C87E1DB2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6726C6E4-7E74-4760-AC50-C10209B6C5C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3DE42256-F80C-47C8-9140-8A12BC9000F0}"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92DD6D1D-C2DA-4EE3-B4C4-CD6100936576}"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F0AEA96D-E104-49DD-BC5A-16ABF06E12D8}"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4E15485-3B56-4BF9-8BCA-03E1D5DDBDD5}"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3581793F-767E-4FCE-B234-EAD49CF04F6D}"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DA20724-878D-452B-89E8-0C338D03F274}"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9" name="Rectangle 5"/>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lstStyle>
            <a:lvl1pPr>
              <a:defRPr sz="1000"/>
            </a:lvl1pPr>
          </a:lstStyle>
          <a:p>
            <a:pPr>
              <a:defRPr/>
            </a:pPr>
            <a:fld id="{79389251-892C-4D84-8929-B874865682CA}" type="datetime1">
              <a:rPr lang="zh-CN" altLang="en-US"/>
            </a:fld>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a:defRPr sz="100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lstStyle>
            <a:lvl1pPr algn="r">
              <a:defRPr sz="1000"/>
            </a:lvl1pPr>
          </a:lstStyle>
          <a:p>
            <a:pPr>
              <a:defRPr/>
            </a:pPr>
            <a:fld id="{D63E6A5B-E3FD-4D5C-B982-749AD0603868}" type="slidenum">
              <a:rPr lang="en-US" altLang="zh-CN"/>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ln>
          </p:spPr>
          <p:txBody>
            <a:bodyPr wrap="none" anchor="ctr"/>
            <a:lstStyle/>
            <a:p>
              <a:endParaRPr lang="zh-CN" altLang="en-US"/>
            </a:p>
          </p:txBody>
        </p:sp>
        <p:sp>
          <p:nvSpPr>
            <p:cNvPr id="1035" name="Oval 11"/>
            <p:cNvSpPr>
              <a:spLocks noChangeArrowheads="1"/>
            </p:cNvSpPr>
            <p:nvPr/>
          </p:nvSpPr>
          <p:spPr bwMode="auto">
            <a:xfrm>
              <a:off x="5360" y="960"/>
              <a:ext cx="79" cy="80"/>
            </a:xfrm>
            <a:prstGeom prst="ellipse">
              <a:avLst/>
            </a:prstGeom>
            <a:solidFill>
              <a:schemeClr val="tx2"/>
            </a:solidFill>
            <a:ln w="9525">
              <a:noFill/>
              <a:round/>
            </a:ln>
          </p:spPr>
          <p:txBody>
            <a:bodyPr wrap="none" anchor="ctr"/>
            <a:lstStyle/>
            <a:p>
              <a:endParaRPr lang="zh-CN" altLang="en-US"/>
            </a:p>
          </p:txBody>
        </p:sp>
        <p:sp>
          <p:nvSpPr>
            <p:cNvPr id="1036" name="Oval 12"/>
            <p:cNvSpPr>
              <a:spLocks noChangeArrowheads="1"/>
            </p:cNvSpPr>
            <p:nvPr/>
          </p:nvSpPr>
          <p:spPr bwMode="auto">
            <a:xfrm>
              <a:off x="5136" y="1072"/>
              <a:ext cx="80" cy="79"/>
            </a:xfrm>
            <a:prstGeom prst="ellipse">
              <a:avLst/>
            </a:prstGeom>
            <a:solidFill>
              <a:schemeClr val="tx2"/>
            </a:solidFill>
            <a:ln w="9525">
              <a:noFill/>
              <a:round/>
            </a:ln>
          </p:spPr>
          <p:txBody>
            <a:bodyPr wrap="none" anchor="ctr"/>
            <a:lstStyle/>
            <a:p>
              <a:endParaRPr lang="zh-CN" altLang="en-US"/>
            </a:p>
          </p:txBody>
        </p:sp>
        <p:sp>
          <p:nvSpPr>
            <p:cNvPr id="1037" name="Oval 13"/>
            <p:cNvSpPr>
              <a:spLocks noChangeArrowheads="1"/>
            </p:cNvSpPr>
            <p:nvPr/>
          </p:nvSpPr>
          <p:spPr bwMode="auto">
            <a:xfrm>
              <a:off x="5248" y="1072"/>
              <a:ext cx="79" cy="79"/>
            </a:xfrm>
            <a:prstGeom prst="ellipse">
              <a:avLst/>
            </a:prstGeom>
            <a:solidFill>
              <a:schemeClr val="tx2"/>
            </a:solidFill>
            <a:ln w="9525">
              <a:noFill/>
              <a:round/>
            </a:ln>
          </p:spPr>
          <p:txBody>
            <a:bodyPr wrap="none" anchor="ctr"/>
            <a:lstStyle/>
            <a:p>
              <a:endParaRPr lang="zh-CN" altLang="en-US"/>
            </a:p>
          </p:txBody>
        </p:sp>
        <p:sp>
          <p:nvSpPr>
            <p:cNvPr id="1038" name="Oval 14"/>
            <p:cNvSpPr>
              <a:spLocks noChangeArrowheads="1"/>
            </p:cNvSpPr>
            <p:nvPr/>
          </p:nvSpPr>
          <p:spPr bwMode="auto">
            <a:xfrm>
              <a:off x="5360" y="1072"/>
              <a:ext cx="79" cy="79"/>
            </a:xfrm>
            <a:prstGeom prst="ellipse">
              <a:avLst/>
            </a:prstGeom>
            <a:solidFill>
              <a:schemeClr val="tx2"/>
            </a:solidFill>
            <a:ln w="9525">
              <a:noFill/>
              <a:round/>
            </a:ln>
          </p:spPr>
          <p:txBody>
            <a:bodyPr wrap="none" anchor="ctr"/>
            <a:lstStyle/>
            <a:p>
              <a:endParaRPr lang="zh-CN" altLang="en-US"/>
            </a:p>
          </p:txBody>
        </p:sp>
        <p:sp>
          <p:nvSpPr>
            <p:cNvPr id="1039" name="Oval 15"/>
            <p:cNvSpPr>
              <a:spLocks noChangeArrowheads="1"/>
            </p:cNvSpPr>
            <p:nvPr/>
          </p:nvSpPr>
          <p:spPr bwMode="auto">
            <a:xfrm>
              <a:off x="5472" y="1072"/>
              <a:ext cx="79" cy="79"/>
            </a:xfrm>
            <a:prstGeom prst="ellipse">
              <a:avLst/>
            </a:prstGeom>
            <a:solidFill>
              <a:schemeClr val="accent2"/>
            </a:solidFill>
            <a:ln w="9525">
              <a:noFill/>
              <a:round/>
            </a:ln>
          </p:spPr>
          <p:txBody>
            <a:bodyPr wrap="none" anchor="ctr"/>
            <a:lstStyle/>
            <a:p>
              <a:endParaRPr lang="zh-CN" altLang="en-US"/>
            </a:p>
          </p:txBody>
        </p:sp>
        <p:sp>
          <p:nvSpPr>
            <p:cNvPr id="1040" name="Oval 16"/>
            <p:cNvSpPr>
              <a:spLocks noChangeArrowheads="1"/>
            </p:cNvSpPr>
            <p:nvPr/>
          </p:nvSpPr>
          <p:spPr bwMode="auto">
            <a:xfrm>
              <a:off x="5136" y="1184"/>
              <a:ext cx="80" cy="79"/>
            </a:xfrm>
            <a:prstGeom prst="ellipse">
              <a:avLst/>
            </a:prstGeom>
            <a:solidFill>
              <a:schemeClr val="tx2"/>
            </a:solidFill>
            <a:ln w="9525">
              <a:noFill/>
              <a:round/>
            </a:ln>
          </p:spPr>
          <p:txBody>
            <a:bodyPr wrap="none" anchor="ctr"/>
            <a:lstStyle/>
            <a:p>
              <a:endParaRPr lang="zh-CN" altLang="en-US"/>
            </a:p>
          </p:txBody>
        </p:sp>
        <p:sp>
          <p:nvSpPr>
            <p:cNvPr id="1041" name="Oval 17"/>
            <p:cNvSpPr>
              <a:spLocks noChangeArrowheads="1"/>
            </p:cNvSpPr>
            <p:nvPr/>
          </p:nvSpPr>
          <p:spPr bwMode="auto">
            <a:xfrm>
              <a:off x="5248" y="1184"/>
              <a:ext cx="79" cy="79"/>
            </a:xfrm>
            <a:prstGeom prst="ellipse">
              <a:avLst/>
            </a:prstGeom>
            <a:solidFill>
              <a:schemeClr val="tx2"/>
            </a:solidFill>
            <a:ln w="9525">
              <a:noFill/>
              <a:round/>
            </a:ln>
          </p:spPr>
          <p:txBody>
            <a:bodyPr wrap="none" anchor="ctr"/>
            <a:lstStyle/>
            <a:p>
              <a:endParaRPr lang="zh-CN" altLang="en-US"/>
            </a:p>
          </p:txBody>
        </p:sp>
        <p:sp>
          <p:nvSpPr>
            <p:cNvPr id="1042" name="Oval 18"/>
            <p:cNvSpPr>
              <a:spLocks noChangeArrowheads="1"/>
            </p:cNvSpPr>
            <p:nvPr/>
          </p:nvSpPr>
          <p:spPr bwMode="auto">
            <a:xfrm>
              <a:off x="5360" y="1184"/>
              <a:ext cx="79" cy="79"/>
            </a:xfrm>
            <a:prstGeom prst="ellipse">
              <a:avLst/>
            </a:prstGeom>
            <a:solidFill>
              <a:schemeClr val="accent2"/>
            </a:solidFill>
            <a:ln w="9525">
              <a:noFill/>
              <a:round/>
            </a:ln>
          </p:spPr>
          <p:txBody>
            <a:bodyPr wrap="none" anchor="ctr"/>
            <a:lstStyle/>
            <a:p>
              <a:endParaRPr lang="zh-CN" altLang="en-US"/>
            </a:p>
          </p:txBody>
        </p:sp>
        <p:sp>
          <p:nvSpPr>
            <p:cNvPr id="1043" name="Oval 19"/>
            <p:cNvSpPr>
              <a:spLocks noChangeArrowheads="1"/>
            </p:cNvSpPr>
            <p:nvPr/>
          </p:nvSpPr>
          <p:spPr bwMode="auto">
            <a:xfrm>
              <a:off x="5472" y="1184"/>
              <a:ext cx="79" cy="79"/>
            </a:xfrm>
            <a:prstGeom prst="ellipse">
              <a:avLst/>
            </a:prstGeom>
            <a:solidFill>
              <a:schemeClr val="accent2"/>
            </a:solidFill>
            <a:ln w="9525">
              <a:noFill/>
              <a:round/>
            </a:ln>
          </p:spPr>
          <p:txBody>
            <a:bodyPr wrap="none" anchor="ctr"/>
            <a:lstStyle/>
            <a:p>
              <a:endParaRPr lang="zh-CN" altLang="en-US"/>
            </a:p>
          </p:txBody>
        </p:sp>
        <p:sp>
          <p:nvSpPr>
            <p:cNvPr id="1044" name="Oval 20"/>
            <p:cNvSpPr>
              <a:spLocks noChangeArrowheads="1"/>
            </p:cNvSpPr>
            <p:nvPr/>
          </p:nvSpPr>
          <p:spPr bwMode="auto">
            <a:xfrm>
              <a:off x="5584" y="1184"/>
              <a:ext cx="80" cy="79"/>
            </a:xfrm>
            <a:prstGeom prst="ellipse">
              <a:avLst/>
            </a:prstGeom>
            <a:solidFill>
              <a:schemeClr val="accent1"/>
            </a:solidFill>
            <a:ln w="9525">
              <a:noFill/>
              <a:rou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ln>
          </p:spPr>
          <p:txBody>
            <a:bodyPr wrap="none" anchor="ctr"/>
            <a:lstStyle/>
            <a:p>
              <a:endParaRPr lang="zh-CN" altLang="en-US"/>
            </a:p>
          </p:txBody>
        </p:sp>
        <p:sp>
          <p:nvSpPr>
            <p:cNvPr id="1047" name="Oval 23"/>
            <p:cNvSpPr>
              <a:spLocks noChangeArrowheads="1"/>
            </p:cNvSpPr>
            <p:nvPr/>
          </p:nvSpPr>
          <p:spPr bwMode="auto">
            <a:xfrm>
              <a:off x="5360" y="1296"/>
              <a:ext cx="79" cy="80"/>
            </a:xfrm>
            <a:prstGeom prst="ellipse">
              <a:avLst/>
            </a:prstGeom>
            <a:solidFill>
              <a:schemeClr val="accent2"/>
            </a:solidFill>
            <a:ln w="9525">
              <a:noFill/>
              <a:round/>
            </a:ln>
          </p:spPr>
          <p:txBody>
            <a:bodyPr wrap="none" anchor="ctr"/>
            <a:lstStyle/>
            <a:p>
              <a:endParaRPr lang="zh-CN" altLang="en-US"/>
            </a:p>
          </p:txBody>
        </p:sp>
        <p:sp>
          <p:nvSpPr>
            <p:cNvPr id="1048" name="Oval 24"/>
            <p:cNvSpPr>
              <a:spLocks noChangeArrowheads="1"/>
            </p:cNvSpPr>
            <p:nvPr/>
          </p:nvSpPr>
          <p:spPr bwMode="auto">
            <a:xfrm>
              <a:off x="5472" y="1296"/>
              <a:ext cx="79" cy="80"/>
            </a:xfrm>
            <a:prstGeom prst="ellipse">
              <a:avLst/>
            </a:prstGeom>
            <a:solidFill>
              <a:schemeClr val="accent1"/>
            </a:solidFill>
            <a:ln w="9525">
              <a:noFill/>
              <a:rou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ln>
          </p:spPr>
          <p:txBody>
            <a:bodyPr wrap="none" anchor="ctr"/>
            <a:lstStyle/>
            <a:p>
              <a:endParaRPr lang="zh-CN" altLang="en-US"/>
            </a:p>
          </p:txBody>
        </p:sp>
        <p:sp>
          <p:nvSpPr>
            <p:cNvPr id="1051" name="Oval 27"/>
            <p:cNvSpPr>
              <a:spLocks noChangeArrowheads="1"/>
            </p:cNvSpPr>
            <p:nvPr/>
          </p:nvSpPr>
          <p:spPr bwMode="auto">
            <a:xfrm>
              <a:off x="5360" y="1408"/>
              <a:ext cx="79" cy="80"/>
            </a:xfrm>
            <a:prstGeom prst="ellipse">
              <a:avLst/>
            </a:prstGeom>
            <a:solidFill>
              <a:schemeClr val="accent1"/>
            </a:solidFill>
            <a:ln w="9525">
              <a:noFill/>
              <a:round/>
            </a:ln>
          </p:spPr>
          <p:txBody>
            <a:bodyPr wrap="none" anchor="ctr"/>
            <a:lstStyle/>
            <a:p>
              <a:endParaRPr lang="zh-CN" altLang="en-US"/>
            </a:p>
          </p:txBody>
        </p:sp>
        <p:sp>
          <p:nvSpPr>
            <p:cNvPr id="1052" name="Oval 28"/>
            <p:cNvSpPr>
              <a:spLocks noChangeArrowheads="1"/>
            </p:cNvSpPr>
            <p:nvPr/>
          </p:nvSpPr>
          <p:spPr bwMode="auto">
            <a:xfrm>
              <a:off x="5472" y="1408"/>
              <a:ext cx="79" cy="80"/>
            </a:xfrm>
            <a:prstGeom prst="ellipse">
              <a:avLst/>
            </a:prstGeom>
            <a:solidFill>
              <a:schemeClr val="accent1"/>
            </a:solidFill>
            <a:ln w="9525">
              <a:noFill/>
              <a:rou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ln>
          </p:spPr>
          <p:txBody>
            <a:bodyPr wrap="none" anchor="ctr"/>
            <a:lstStyle/>
            <a:p>
              <a:endParaRPr lang="zh-CN" altLang="en-US"/>
            </a:p>
          </p:txBody>
        </p:sp>
        <p:sp>
          <p:nvSpPr>
            <p:cNvPr id="1056" name="Oval 32"/>
            <p:cNvSpPr>
              <a:spLocks noChangeArrowheads="1"/>
            </p:cNvSpPr>
            <p:nvPr/>
          </p:nvSpPr>
          <p:spPr bwMode="auto">
            <a:xfrm>
              <a:off x="5360" y="1520"/>
              <a:ext cx="79" cy="79"/>
            </a:xfrm>
            <a:prstGeom prst="ellipse">
              <a:avLst/>
            </a:prstGeom>
            <a:solidFill>
              <a:schemeClr val="accent1"/>
            </a:solidFill>
            <a:ln w="9525">
              <a:noFill/>
              <a:round/>
            </a:ln>
          </p:spPr>
          <p:txBody>
            <a:bodyPr wrap="none" anchor="ctr"/>
            <a:lstStyle/>
            <a:p>
              <a:endParaRPr lang="zh-CN" altLang="en-US"/>
            </a:p>
          </p:txBody>
        </p:sp>
        <p:sp>
          <p:nvSpPr>
            <p:cNvPr id="1057" name="Oval 33"/>
            <p:cNvSpPr>
              <a:spLocks noChangeArrowheads="1"/>
            </p:cNvSpPr>
            <p:nvPr/>
          </p:nvSpPr>
          <p:spPr bwMode="auto">
            <a:xfrm>
              <a:off x="5472" y="1520"/>
              <a:ext cx="79" cy="79"/>
            </a:xfrm>
            <a:prstGeom prst="ellipse">
              <a:avLst/>
            </a:prstGeom>
            <a:solidFill>
              <a:schemeClr val="folHlink"/>
            </a:solidFill>
            <a:ln w="9525">
              <a:noFill/>
              <a:round/>
            </a:ln>
          </p:spPr>
          <p:txBody>
            <a:bodyPr wrap="none" anchor="ctr"/>
            <a:lstStyle/>
            <a:p>
              <a:endParaRPr lang="zh-CN" altLang="en-US"/>
            </a:p>
          </p:txBody>
        </p:sp>
        <p:sp>
          <p:nvSpPr>
            <p:cNvPr id="1058" name="Oval 34"/>
            <p:cNvSpPr>
              <a:spLocks noChangeArrowheads="1"/>
            </p:cNvSpPr>
            <p:nvPr/>
          </p:nvSpPr>
          <p:spPr bwMode="auto">
            <a:xfrm>
              <a:off x="5136" y="1632"/>
              <a:ext cx="80" cy="79"/>
            </a:xfrm>
            <a:prstGeom prst="ellipse">
              <a:avLst/>
            </a:prstGeom>
            <a:solidFill>
              <a:schemeClr val="accent1"/>
            </a:solidFill>
            <a:ln w="9525">
              <a:noFill/>
              <a:round/>
            </a:ln>
          </p:spPr>
          <p:txBody>
            <a:bodyPr wrap="none" anchor="ctr"/>
            <a:lstStyle/>
            <a:p>
              <a:endParaRPr lang="zh-CN" altLang="en-US"/>
            </a:p>
          </p:txBody>
        </p:sp>
        <p:sp>
          <p:nvSpPr>
            <p:cNvPr id="1059" name="Oval 35"/>
            <p:cNvSpPr>
              <a:spLocks noChangeArrowheads="1"/>
            </p:cNvSpPr>
            <p:nvPr/>
          </p:nvSpPr>
          <p:spPr bwMode="auto">
            <a:xfrm>
              <a:off x="5248" y="1632"/>
              <a:ext cx="79" cy="79"/>
            </a:xfrm>
            <a:prstGeom prst="ellipse">
              <a:avLst/>
            </a:prstGeom>
            <a:solidFill>
              <a:schemeClr val="accent1"/>
            </a:solidFill>
            <a:ln w="9525">
              <a:noFill/>
              <a:round/>
            </a:ln>
          </p:spPr>
          <p:txBody>
            <a:bodyPr wrap="none" anchor="ctr"/>
            <a:lstStyle/>
            <a:p>
              <a:endParaRPr lang="zh-CN" altLang="en-US"/>
            </a:p>
          </p:txBody>
        </p:sp>
        <p:sp>
          <p:nvSpPr>
            <p:cNvPr id="1060" name="Oval 36"/>
            <p:cNvSpPr>
              <a:spLocks noChangeArrowheads="1"/>
            </p:cNvSpPr>
            <p:nvPr/>
          </p:nvSpPr>
          <p:spPr bwMode="auto">
            <a:xfrm>
              <a:off x="5360" y="1632"/>
              <a:ext cx="79" cy="79"/>
            </a:xfrm>
            <a:prstGeom prst="ellipse">
              <a:avLst/>
            </a:prstGeom>
            <a:solidFill>
              <a:schemeClr val="folHlink"/>
            </a:solidFill>
            <a:ln w="9525">
              <a:noFill/>
              <a:round/>
            </a:ln>
          </p:spPr>
          <p:txBody>
            <a:bodyPr wrap="none" anchor="ctr"/>
            <a:lstStyle/>
            <a:p>
              <a:endParaRPr lang="zh-CN" altLang="en-US"/>
            </a:p>
          </p:txBody>
        </p:sp>
        <p:sp>
          <p:nvSpPr>
            <p:cNvPr id="1061" name="Oval 37"/>
            <p:cNvSpPr>
              <a:spLocks noChangeArrowheads="1"/>
            </p:cNvSpPr>
            <p:nvPr/>
          </p:nvSpPr>
          <p:spPr bwMode="auto">
            <a:xfrm>
              <a:off x="5472" y="1632"/>
              <a:ext cx="79" cy="79"/>
            </a:xfrm>
            <a:prstGeom prst="ellipse">
              <a:avLst/>
            </a:prstGeom>
            <a:solidFill>
              <a:schemeClr val="folHlink"/>
            </a:solidFill>
            <a:ln w="9525">
              <a:noFill/>
              <a:rou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ln>
          </p:spPr>
          <p:txBody>
            <a:bodyPr wrap="none" anchor="ctr"/>
            <a:lstStyle/>
            <a:p>
              <a:endParaRPr lang="zh-CN" altLang="en-US"/>
            </a:p>
          </p:txBody>
        </p:sp>
        <p:sp>
          <p:nvSpPr>
            <p:cNvPr id="1063" name="Oval 39"/>
            <p:cNvSpPr>
              <a:spLocks noChangeArrowheads="1"/>
            </p:cNvSpPr>
            <p:nvPr/>
          </p:nvSpPr>
          <p:spPr bwMode="auto">
            <a:xfrm>
              <a:off x="5472" y="1744"/>
              <a:ext cx="79" cy="80"/>
            </a:xfrm>
            <a:prstGeom prst="ellipse">
              <a:avLst/>
            </a:prstGeom>
            <a:solidFill>
              <a:schemeClr val="folHlink"/>
            </a:solidFill>
            <a:ln w="9525">
              <a:noFill/>
              <a:rou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1" fontAlgn="base" hangingPunct="1">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1" fontAlgn="base" hangingPunct="1">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1" fontAlgn="base" hangingPunct="1">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eaLnBrk="1" fontAlgn="base" hangingPunct="1">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hyperlink" Target="1.5.swf" TargetMode="External"/><Relationship Id="rId2" Type="http://schemas.openxmlformats.org/officeDocument/2006/relationships/image" Target="../media/image9.png"/><Relationship Id="rId1" Type="http://schemas.openxmlformats.org/officeDocument/2006/relationships/hyperlink" Target="1.4.swf"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hyperlink" Target="1.6.swf"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hyperlink" Target="1.7.sw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p:txBody>
          <a:bodyPr anchor="t" anchorCtr="0"/>
          <a:p>
            <a:pPr eaLnBrk="1" hangingPunct="1"/>
            <a:endParaRPr lang="zh-CN" altLang="zh-CN" dirty="0"/>
          </a:p>
        </p:txBody>
      </p:sp>
      <p:sp>
        <p:nvSpPr>
          <p:cNvPr id="17410" name="Rectangle 3"/>
          <p:cNvSpPr>
            <a:spLocks noGrp="1"/>
          </p:cNvSpPr>
          <p:nvPr>
            <p:ph idx="1"/>
          </p:nvPr>
        </p:nvSpPr>
        <p:spPr/>
        <p:txBody>
          <a:bodyPr anchor="t" anchorCtr="0"/>
          <a:p>
            <a:pPr eaLnBrk="1" hangingPunct="1"/>
            <a:endParaRPr lang="zh-CN" altLang="zh-CN" dirty="0"/>
          </a:p>
        </p:txBody>
      </p:sp>
      <p:pic>
        <p:nvPicPr>
          <p:cNvPr id="17411" name="Picture 4"/>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17412" name="Picture 5" descr="a_1"/>
          <p:cNvPicPr>
            <a:picLocks noChangeAspect="1"/>
          </p:cNvPicPr>
          <p:nvPr/>
        </p:nvPicPr>
        <p:blipFill>
          <a:blip r:embed="rId2"/>
          <a:srcRect l="2174"/>
          <a:stretch>
            <a:fillRect/>
          </a:stretch>
        </p:blipFill>
        <p:spPr>
          <a:xfrm>
            <a:off x="0" y="0"/>
            <a:ext cx="9144000" cy="5308600"/>
          </a:xfrm>
          <a:prstGeom prst="rect">
            <a:avLst/>
          </a:prstGeom>
          <a:noFill/>
          <a:ln w="9525">
            <a:noFill/>
          </a:ln>
        </p:spPr>
      </p:pic>
      <p:sp>
        <p:nvSpPr>
          <p:cNvPr id="17413" name="Rectangle 6"/>
          <p:cNvSpPr/>
          <p:nvPr/>
        </p:nvSpPr>
        <p:spPr>
          <a:xfrm>
            <a:off x="0" y="2590800"/>
            <a:ext cx="9144000" cy="1066800"/>
          </a:xfrm>
          <a:prstGeom prst="rect">
            <a:avLst/>
          </a:prstGeom>
          <a:gradFill rotWithShape="1">
            <a:gsLst>
              <a:gs pos="0">
                <a:srgbClr val="3191D3"/>
              </a:gs>
              <a:gs pos="100000">
                <a:srgbClr val="174362"/>
              </a:gs>
            </a:gsLst>
            <a:lin ang="5400000" scaled="1"/>
            <a:tileRect/>
          </a:gradFill>
          <a:ln w="9525">
            <a:noFill/>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7414" name="Line 7"/>
          <p:cNvSpPr/>
          <p:nvPr/>
        </p:nvSpPr>
        <p:spPr>
          <a:xfrm>
            <a:off x="0" y="3657600"/>
            <a:ext cx="9144000" cy="0"/>
          </a:xfrm>
          <a:prstGeom prst="line">
            <a:avLst/>
          </a:prstGeom>
          <a:ln w="38100" cap="flat" cmpd="sng">
            <a:solidFill>
              <a:srgbClr val="FFFFFF"/>
            </a:solidFill>
            <a:prstDash val="solid"/>
            <a:round/>
            <a:headEnd type="none" w="med" len="med"/>
            <a:tailEnd type="none" w="med" len="med"/>
          </a:ln>
        </p:spPr>
      </p:sp>
      <p:sp>
        <p:nvSpPr>
          <p:cNvPr id="17415" name="Line 8"/>
          <p:cNvSpPr/>
          <p:nvPr/>
        </p:nvSpPr>
        <p:spPr>
          <a:xfrm>
            <a:off x="0" y="2590800"/>
            <a:ext cx="9144000" cy="0"/>
          </a:xfrm>
          <a:prstGeom prst="line">
            <a:avLst/>
          </a:prstGeom>
          <a:ln w="38100" cap="flat" cmpd="sng">
            <a:solidFill>
              <a:srgbClr val="FFFFFF"/>
            </a:solidFill>
            <a:prstDash val="solid"/>
            <a:round/>
            <a:headEnd type="none" w="med" len="med"/>
            <a:tailEnd type="none" w="med" len="med"/>
          </a:ln>
        </p:spPr>
      </p:sp>
      <p:sp>
        <p:nvSpPr>
          <p:cNvPr id="17416" name="Rectangle 9"/>
          <p:cNvSpPr/>
          <p:nvPr/>
        </p:nvSpPr>
        <p:spPr>
          <a:xfrm>
            <a:off x="0" y="0"/>
            <a:ext cx="9142413" cy="1447800"/>
          </a:xfrm>
          <a:prstGeom prst="rect">
            <a:avLst/>
          </a:prstGeom>
          <a:gradFill rotWithShape="1">
            <a:gsLst>
              <a:gs pos="0">
                <a:srgbClr val="81CFEB">
                  <a:alpha val="18999"/>
                </a:srgbClr>
              </a:gs>
              <a:gs pos="100000">
                <a:srgbClr val="FFFFFF"/>
              </a:gs>
            </a:gsLst>
            <a:lin ang="5400000" scaled="1"/>
            <a:tileRect/>
          </a:gradFill>
          <a:ln w="0">
            <a:noFill/>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7417" name="Rectangle 10"/>
          <p:cNvSpPr/>
          <p:nvPr/>
        </p:nvSpPr>
        <p:spPr>
          <a:xfrm>
            <a:off x="0" y="1447800"/>
            <a:ext cx="9144000" cy="1143000"/>
          </a:xfrm>
          <a:prstGeom prst="rect">
            <a:avLst/>
          </a:prstGeom>
          <a:solidFill>
            <a:srgbClr val="FFFFFF"/>
          </a:solidFill>
          <a:ln w="9525">
            <a:noFill/>
          </a:ln>
        </p:spPr>
        <p:txBody>
          <a:bodyPr wrap="none" anchor="ctr" anchorCtr="0"/>
          <a:p>
            <a:pPr eaLnBrk="0" hangingPunct="0"/>
            <a:endParaRPr lang="zh-CN" altLang="en-US" dirty="0">
              <a:latin typeface="Arial" panose="020B0604020202020204" pitchFamily="34" charset="0"/>
              <a:ea typeface="宋体" panose="02010600030101010101" pitchFamily="2" charset="-122"/>
            </a:endParaRPr>
          </a:p>
        </p:txBody>
      </p:sp>
      <p:sp>
        <p:nvSpPr>
          <p:cNvPr id="17418" name="Line 11"/>
          <p:cNvSpPr/>
          <p:nvPr/>
        </p:nvSpPr>
        <p:spPr>
          <a:xfrm>
            <a:off x="0" y="2590800"/>
            <a:ext cx="9144000" cy="0"/>
          </a:xfrm>
          <a:prstGeom prst="line">
            <a:avLst/>
          </a:prstGeom>
          <a:ln w="38100" cap="flat" cmpd="sng">
            <a:solidFill>
              <a:srgbClr val="FFFFFF"/>
            </a:solidFill>
            <a:prstDash val="solid"/>
            <a:round/>
            <a:headEnd type="none" w="med" len="med"/>
            <a:tailEnd type="none" w="med" len="med"/>
          </a:ln>
        </p:spPr>
      </p:sp>
      <p:sp>
        <p:nvSpPr>
          <p:cNvPr id="17419" name="Text Box 12"/>
          <p:cNvSpPr txBox="1"/>
          <p:nvPr/>
        </p:nvSpPr>
        <p:spPr>
          <a:xfrm>
            <a:off x="762000" y="1371600"/>
            <a:ext cx="4953000" cy="1322070"/>
          </a:xfrm>
          <a:prstGeom prst="rect">
            <a:avLst/>
          </a:prstGeom>
          <a:noFill/>
          <a:ln w="9525">
            <a:noFill/>
          </a:ln>
        </p:spPr>
        <p:txBody>
          <a:bodyPr anchor="t" anchorCtr="0">
            <a:spAutoFit/>
          </a:bodyPr>
          <a:p>
            <a:pPr algn="ctr" eaLnBrk="0" hangingPunct="0">
              <a:spcBef>
                <a:spcPct val="50000"/>
              </a:spcBef>
            </a:pPr>
            <a:r>
              <a:rPr lang="en-US" altLang="zh-CN" sz="3200" b="1" dirty="0">
                <a:solidFill>
                  <a:srgbClr val="006699"/>
                </a:solidFill>
                <a:latin typeface="Arial" panose="020B0604020202020204" pitchFamily="34" charset="0"/>
                <a:ea typeface="华文行楷" panose="02010800040101010101" pitchFamily="2" charset="-122"/>
              </a:rPr>
              <a:t> </a:t>
            </a:r>
            <a:r>
              <a:rPr lang="zh-CN" altLang="en-US" sz="3200" b="1" dirty="0">
                <a:solidFill>
                  <a:srgbClr val="006699"/>
                </a:solidFill>
                <a:latin typeface="Arial" panose="020B0604020202020204" pitchFamily="34" charset="0"/>
                <a:ea typeface="华文行楷" panose="02010800040101010101" pitchFamily="2" charset="-122"/>
              </a:rPr>
              <a:t>计算机科学与技术专业</a:t>
            </a:r>
            <a:endParaRPr lang="zh-CN" altLang="en-US" sz="3200" b="1" dirty="0">
              <a:solidFill>
                <a:srgbClr val="006699"/>
              </a:solidFill>
              <a:latin typeface="Arial" panose="020B0604020202020204" pitchFamily="34" charset="0"/>
              <a:ea typeface="华文行楷" panose="02010800040101010101" pitchFamily="2" charset="-122"/>
            </a:endParaRPr>
          </a:p>
          <a:p>
            <a:pPr algn="ctr" eaLnBrk="0" hangingPunct="0">
              <a:spcBef>
                <a:spcPct val="50000"/>
              </a:spcBef>
            </a:pPr>
            <a:r>
              <a:rPr lang="zh-CN" altLang="en-US" sz="3200" b="1" dirty="0">
                <a:solidFill>
                  <a:srgbClr val="006699"/>
                </a:solidFill>
                <a:latin typeface="Arial" panose="020B0604020202020204" pitchFamily="34" charset="0"/>
                <a:ea typeface="华文行楷" panose="02010800040101010101" pitchFamily="2" charset="-122"/>
              </a:rPr>
              <a:t>之</a:t>
            </a:r>
            <a:endParaRPr lang="zh-CN" altLang="en-US" sz="3200" b="1" dirty="0">
              <a:solidFill>
                <a:srgbClr val="006699"/>
              </a:solidFill>
              <a:latin typeface="Arial" panose="020B0604020202020204" pitchFamily="34" charset="0"/>
              <a:ea typeface="华文行楷" panose="02010800040101010101" pitchFamily="2" charset="-122"/>
            </a:endParaRPr>
          </a:p>
        </p:txBody>
      </p:sp>
      <p:sp>
        <p:nvSpPr>
          <p:cNvPr id="17420" name="Rectangle 13"/>
          <p:cNvSpPr/>
          <p:nvPr/>
        </p:nvSpPr>
        <p:spPr>
          <a:xfrm>
            <a:off x="609600" y="2743200"/>
            <a:ext cx="8305800" cy="685800"/>
          </a:xfrm>
          <a:prstGeom prst="rect">
            <a:avLst/>
          </a:prstGeom>
          <a:noFill/>
          <a:ln w="9525">
            <a:noFill/>
          </a:ln>
        </p:spPr>
        <p:txBody>
          <a:bodyPr anchor="ctr" anchorCtr="0"/>
          <a:p>
            <a:pPr algn="ctr" eaLnBrk="0" hangingPunct="0"/>
            <a:r>
              <a:rPr lang="zh-CN" altLang="en-US" sz="4400" dirty="0">
                <a:solidFill>
                  <a:schemeClr val="bg1"/>
                </a:solidFill>
                <a:latin typeface="Times New Roman" panose="02020603050405020304" pitchFamily="18" charset="0"/>
                <a:ea typeface="黑体" panose="02010609060101010101" pitchFamily="2" charset="-122"/>
              </a:rPr>
              <a:t>计算机组成原理</a:t>
            </a:r>
            <a:endParaRPr lang="zh-CN" altLang="en-US" sz="4400" dirty="0">
              <a:solidFill>
                <a:schemeClr val="bg1"/>
              </a:solidFill>
              <a:latin typeface="Times New Roman" panose="02020603050405020304" pitchFamily="18" charset="0"/>
              <a:ea typeface="黑体" panose="02010609060101010101" pitchFamily="2" charset="-122"/>
            </a:endParaRPr>
          </a:p>
        </p:txBody>
      </p:sp>
      <p:sp>
        <p:nvSpPr>
          <p:cNvPr id="17421" name="Rectangle 14"/>
          <p:cNvSpPr/>
          <p:nvPr/>
        </p:nvSpPr>
        <p:spPr>
          <a:xfrm>
            <a:off x="4391025" y="5153025"/>
            <a:ext cx="3995738" cy="704850"/>
          </a:xfrm>
          <a:prstGeom prst="rect">
            <a:avLst/>
          </a:prstGeom>
          <a:noFill/>
          <a:ln w="9525">
            <a:noFill/>
          </a:ln>
        </p:spPr>
        <p:txBody>
          <a:bodyPr anchor="t" anchorCtr="0"/>
          <a:p>
            <a:pPr marL="342900" indent="-342900" eaLnBrk="0" hangingPunct="0">
              <a:lnSpc>
                <a:spcPct val="120000"/>
              </a:lnSpc>
              <a:spcBef>
                <a:spcPct val="10000"/>
              </a:spcBef>
            </a:pPr>
            <a:r>
              <a:rPr lang="zh-CN" altLang="en-US" b="1" dirty="0">
                <a:solidFill>
                  <a:srgbClr val="0000CC"/>
                </a:solidFill>
                <a:latin typeface="黑体" panose="02010609060101010101" pitchFamily="2" charset="-122"/>
                <a:ea typeface="黑体" panose="02010609060101010101" pitchFamily="2" charset="-122"/>
              </a:rPr>
              <a:t>主讲： 郭  耸</a:t>
            </a:r>
            <a:endParaRPr lang="zh-CN" altLang="en-US" b="1" dirty="0">
              <a:solidFill>
                <a:srgbClr val="0000CC"/>
              </a:solidFill>
              <a:latin typeface="黑体" panose="02010609060101010101" pitchFamily="2" charset="-122"/>
              <a:ea typeface="黑体" panose="02010609060101010101" pitchFamily="2" charset="-122"/>
            </a:endParaRPr>
          </a:p>
          <a:p>
            <a:pPr marL="342900" indent="-342900" eaLnBrk="0" hangingPunct="0">
              <a:lnSpc>
                <a:spcPct val="120000"/>
              </a:lnSpc>
              <a:spcBef>
                <a:spcPct val="10000"/>
              </a:spcBef>
            </a:pPr>
            <a:endParaRPr lang="zh-CN" altLang="en-US" b="1" dirty="0">
              <a:solidFill>
                <a:srgbClr val="0000CC"/>
              </a:solidFill>
              <a:latin typeface="黑体" panose="02010609060101010101" pitchFamily="2" charset="-122"/>
              <a:ea typeface="黑体" panose="0201060906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p:nvPr/>
        </p:nvSpPr>
        <p:spPr>
          <a:xfrm>
            <a:off x="574675" y="390525"/>
            <a:ext cx="5926138" cy="685800"/>
          </a:xfrm>
          <a:prstGeom prst="rect">
            <a:avLst/>
          </a:prstGeom>
          <a:noFill/>
          <a:ln w="9525">
            <a:noFill/>
          </a:ln>
        </p:spPr>
        <p:txBody>
          <a:bodyPr anchor="ctr" anchorCtr="0"/>
          <a:p>
            <a:pPr eaLnBrk="0" hangingPunct="0"/>
            <a:r>
              <a:rPr lang="zh-CN" altLang="en-US" sz="3200" dirty="0">
                <a:solidFill>
                  <a:schemeClr val="accent2"/>
                </a:solidFill>
                <a:latin typeface="Times New Roman" panose="02020603050405020304" pitchFamily="18" charset="0"/>
                <a:ea typeface="华文新魏" panose="02010800040101010101" pitchFamily="2" charset="-122"/>
              </a:rPr>
              <a:t>课程相关介绍</a:t>
            </a:r>
            <a:endParaRPr lang="zh-CN" altLang="en-US" sz="3200" dirty="0">
              <a:solidFill>
                <a:schemeClr val="accent2"/>
              </a:solidFill>
              <a:latin typeface="Times New Roman" panose="02020603050405020304" pitchFamily="18" charset="0"/>
              <a:ea typeface="华文新魏" panose="02010800040101010101" pitchFamily="2" charset="-122"/>
            </a:endParaRPr>
          </a:p>
        </p:txBody>
      </p:sp>
      <p:sp>
        <p:nvSpPr>
          <p:cNvPr id="323602" name="Text Box 18"/>
          <p:cNvSpPr txBox="1"/>
          <p:nvPr/>
        </p:nvSpPr>
        <p:spPr>
          <a:xfrm>
            <a:off x="290513" y="2047875"/>
            <a:ext cx="8651875" cy="4523105"/>
          </a:xfrm>
          <a:prstGeom prst="rect">
            <a:avLst/>
          </a:prstGeom>
          <a:noFill/>
          <a:ln w="9525">
            <a:noFill/>
          </a:ln>
        </p:spPr>
        <p:txBody>
          <a:bodyPr anchor="t" anchorCtr="0">
            <a:spAutoFit/>
          </a:bodyPr>
          <a:p>
            <a:pPr marL="1066800" lvl="1" indent="-609600" algn="l" eaLnBrk="0" hangingPunct="0">
              <a:buClrTx/>
              <a:buSzTx/>
              <a:buFontTx/>
              <a:buNone/>
            </a:pPr>
            <a:r>
              <a:rPr lang="en-US" altLang="zh-CN" sz="2400" b="1" dirty="0">
                <a:latin typeface="Arial" panose="020B0604020202020204" pitchFamily="34" charset="0"/>
                <a:ea typeface="宋体" panose="02010600030101010101" pitchFamily="2" charset="-122"/>
              </a:rPr>
              <a:t>1</a:t>
            </a:r>
            <a:r>
              <a:rPr lang="zh-CN" altLang="en-US" sz="2400" b="1" dirty="0">
                <a:latin typeface="Arial" panose="020B0604020202020204" pitchFamily="34" charset="0"/>
                <a:ea typeface="宋体" panose="02010600030101010101" pitchFamily="2" charset="-122"/>
              </a:rPr>
              <a:t>、本课程是</a:t>
            </a:r>
            <a:r>
              <a:rPr lang="zh-CN" altLang="en-US" sz="2400" b="1" dirty="0">
                <a:sym typeface="+mn-ea"/>
              </a:rPr>
              <a:t>计算机专业学生必修的核心课程之一，在专业课程中起着承上启下的作用</a:t>
            </a:r>
            <a:r>
              <a:rPr lang="zh-CN" altLang="en-US" sz="2400" b="1" dirty="0">
                <a:latin typeface="Arial" panose="020B0604020202020204" pitchFamily="34" charset="0"/>
                <a:ea typeface="宋体" panose="02010600030101010101" pitchFamily="2" charset="-122"/>
              </a:rPr>
              <a:t>。</a:t>
            </a:r>
            <a:endParaRPr lang="zh-CN" altLang="en-US" sz="2400" b="1" dirty="0">
              <a:latin typeface="Arial" panose="020B0604020202020204" pitchFamily="34" charset="0"/>
              <a:ea typeface="宋体" panose="02010600030101010101" pitchFamily="2" charset="-122"/>
            </a:endParaRPr>
          </a:p>
          <a:p>
            <a:pPr marL="1066800" lvl="1" indent="-609600" eaLnBrk="0" hangingPunct="0"/>
            <a:endParaRPr lang="zh-CN" altLang="en-US" sz="2400" b="1" dirty="0">
              <a:latin typeface="Arial" panose="020B0604020202020204" pitchFamily="34" charset="0"/>
              <a:ea typeface="宋体" panose="02010600030101010101" pitchFamily="2" charset="-122"/>
            </a:endParaRPr>
          </a:p>
          <a:p>
            <a:pPr marL="1066800" lvl="1" indent="-609600" algn="l" eaLnBrk="0" hangingPunct="0">
              <a:buClrTx/>
              <a:buSzTx/>
              <a:buFontTx/>
              <a:buNone/>
            </a:pPr>
            <a:r>
              <a:rPr lang="en-US" altLang="zh-CN" sz="2400" b="1" dirty="0">
                <a:latin typeface="Arial" panose="020B0604020202020204" pitchFamily="34" charset="0"/>
                <a:ea typeface="宋体" panose="02010600030101010101" pitchFamily="2" charset="-122"/>
              </a:rPr>
              <a:t>2</a:t>
            </a:r>
            <a:r>
              <a:rPr lang="zh-CN" altLang="en-US" sz="2400" b="1" dirty="0">
                <a:latin typeface="Arial" panose="020B0604020202020204" pitchFamily="34" charset="0"/>
                <a:ea typeface="宋体" panose="02010600030101010101" pitchFamily="2" charset="-122"/>
              </a:rPr>
              <a:t>、本</a:t>
            </a:r>
            <a:r>
              <a:rPr lang="zh-CN" altLang="en-US" sz="2400" b="1" dirty="0">
                <a:latin typeface="Arial" panose="020B0604020202020204" pitchFamily="34" charset="0"/>
              </a:rPr>
              <a:t>课程重点讲授计算机硬件系统的基本组成原理与内部运行机制；通过本课程的学习学生能够建立起计算机系统的基本概念，理解和掌握计算机各部件的主要功能及其实现方法。</a:t>
            </a:r>
            <a:endParaRPr lang="zh-CN" altLang="en-US" sz="2400" b="1" dirty="0">
              <a:latin typeface="Arial" panose="020B0604020202020204" pitchFamily="34" charset="0"/>
            </a:endParaRPr>
          </a:p>
          <a:p>
            <a:pPr marL="1066800" lvl="1" indent="-609600" algn="l" eaLnBrk="0" hangingPunct="0">
              <a:buClrTx/>
              <a:buSzTx/>
              <a:buFontTx/>
              <a:buNone/>
            </a:pPr>
            <a:endParaRPr lang="zh-CN" altLang="en-US" sz="2400" b="1" dirty="0">
              <a:latin typeface="Arial" panose="020B0604020202020204" pitchFamily="34" charset="0"/>
            </a:endParaRPr>
          </a:p>
          <a:p>
            <a:pPr marL="1066800" lvl="1" indent="-609600" algn="l" eaLnBrk="0" hangingPunct="0">
              <a:buClrTx/>
              <a:buSzTx/>
              <a:buFontTx/>
              <a:buNone/>
            </a:pPr>
            <a:r>
              <a:rPr lang="zh-CN" altLang="en-US" sz="2400" b="1" dirty="0">
                <a:latin typeface="Arial" panose="020B0604020202020204" pitchFamily="34" charset="0"/>
                <a:ea typeface="宋体" panose="02010600030101010101" pitchFamily="2" charset="-122"/>
              </a:rPr>
              <a:t> </a:t>
            </a:r>
            <a:r>
              <a:rPr lang="en-US" altLang="zh-CN" sz="2400" b="1" dirty="0">
                <a:latin typeface="Arial" panose="020B0604020202020204" pitchFamily="34" charset="0"/>
                <a:ea typeface="宋体" panose="02010600030101010101" pitchFamily="2" charset="-122"/>
              </a:rPr>
              <a:t>3</a:t>
            </a:r>
            <a:r>
              <a:rPr lang="zh-CN" altLang="en-US" sz="2400" b="1" dirty="0">
                <a:latin typeface="Arial" panose="020B0604020202020204" pitchFamily="34" charset="0"/>
                <a:ea typeface="宋体" panose="02010600030101010101" pitchFamily="2" charset="-122"/>
              </a:rPr>
              <a:t>、</a:t>
            </a:r>
            <a:r>
              <a:rPr lang="zh-CN" altLang="en-US" sz="2400" b="1" dirty="0">
                <a:sym typeface="+mn-ea"/>
              </a:rPr>
              <a:t>使学生能够应用计算机组成基本原理分析计算机组成相关领域的复杂问题，具有解决计算机组成复杂工程问题的能力，为后续课程的学习打下良好的基础。</a:t>
            </a:r>
            <a:endParaRPr lang="zh-CN" altLang="en-US" sz="2400" b="1" dirty="0">
              <a:latin typeface="Arial" panose="020B0604020202020204" pitchFamily="34" charset="0"/>
            </a:endParaRPr>
          </a:p>
          <a:p>
            <a:pPr marL="1066800" lvl="1" indent="-609600" algn="l" eaLnBrk="0" hangingPunct="0">
              <a:buClrTx/>
              <a:buSzTx/>
              <a:buFontTx/>
              <a:buNone/>
            </a:pPr>
            <a:endParaRPr lang="zh-CN" altLang="en-US" sz="2400" b="1" dirty="0">
              <a:latin typeface="Arial" panose="020B0604020202020204" pitchFamily="34" charset="0"/>
              <a:ea typeface="宋体" panose="02010600030101010101" pitchFamily="2" charset="-122"/>
            </a:endParaRPr>
          </a:p>
        </p:txBody>
      </p:sp>
      <p:sp>
        <p:nvSpPr>
          <p:cNvPr id="323603" name="Text Box 19"/>
          <p:cNvSpPr txBox="1">
            <a:spLocks noChangeArrowheads="1"/>
          </p:cNvSpPr>
          <p:nvPr/>
        </p:nvSpPr>
        <p:spPr bwMode="auto">
          <a:xfrm>
            <a:off x="739775" y="1160463"/>
            <a:ext cx="58213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0" hangingPunct="0">
              <a:spcBef>
                <a:spcPct val="50000"/>
              </a:spcBef>
              <a:buClrTx/>
              <a:buSzTx/>
              <a:buFontTx/>
              <a:buNone/>
              <a:defRPr/>
            </a:pPr>
            <a:r>
              <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一、课程的重要性</a:t>
            </a:r>
            <a:endPar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3602">
                                            <p:txEl>
                                              <p:pRg st="0" end="0"/>
                                            </p:txEl>
                                          </p:spTgt>
                                        </p:tgtEl>
                                        <p:attrNameLst>
                                          <p:attrName>style.visibility</p:attrName>
                                        </p:attrNameLst>
                                      </p:cBhvr>
                                      <p:to>
                                        <p:strVal val="visible"/>
                                      </p:to>
                                    </p:set>
                                    <p:animEffect transition="in" filter="blinds(horizontal)">
                                      <p:cBhvr>
                                        <p:cTn id="7" dur="500"/>
                                        <p:tgtEl>
                                          <p:spTgt spid="3236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3602">
                                            <p:txEl>
                                              <p:pRg st="2" end="2"/>
                                            </p:txEl>
                                          </p:spTgt>
                                        </p:tgtEl>
                                        <p:attrNameLst>
                                          <p:attrName>style.visibility</p:attrName>
                                        </p:attrNameLst>
                                      </p:cBhvr>
                                      <p:to>
                                        <p:strVal val="visible"/>
                                      </p:to>
                                    </p:set>
                                    <p:animEffect transition="in" filter="blinds(horizontal)">
                                      <p:cBhvr>
                                        <p:cTn id="12" dur="500"/>
                                        <p:tgtEl>
                                          <p:spTgt spid="32360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3602">
                                            <p:txEl>
                                              <p:pRg st="4" end="4"/>
                                            </p:txEl>
                                          </p:spTgt>
                                        </p:tgtEl>
                                        <p:attrNameLst>
                                          <p:attrName>style.visibility</p:attrName>
                                        </p:attrNameLst>
                                      </p:cBhvr>
                                      <p:to>
                                        <p:strVal val="visible"/>
                                      </p:to>
                                    </p:set>
                                    <p:animEffect transition="in" filter="blinds(horizontal)">
                                      <p:cBhvr>
                                        <p:cTn id="17" dur="500"/>
                                        <p:tgtEl>
                                          <p:spTgt spid="3236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602" grpId="0" bldLvl="0"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p:nvPr/>
        </p:nvSpPr>
        <p:spPr>
          <a:xfrm>
            <a:off x="574675" y="390525"/>
            <a:ext cx="5926138" cy="685800"/>
          </a:xfrm>
          <a:prstGeom prst="rect">
            <a:avLst/>
          </a:prstGeom>
          <a:noFill/>
          <a:ln w="9525">
            <a:noFill/>
          </a:ln>
        </p:spPr>
        <p:txBody>
          <a:bodyPr anchor="ctr" anchorCtr="0"/>
          <a:p>
            <a:pPr eaLnBrk="0" hangingPunct="0"/>
            <a:r>
              <a:rPr lang="zh-CN" altLang="en-US" sz="3200" dirty="0">
                <a:solidFill>
                  <a:schemeClr val="accent2"/>
                </a:solidFill>
                <a:latin typeface="Times New Roman" panose="02020603050405020304" pitchFamily="18" charset="0"/>
                <a:ea typeface="华文新魏" panose="02010800040101010101" pitchFamily="2" charset="-122"/>
              </a:rPr>
              <a:t>课程相关介绍</a:t>
            </a:r>
            <a:endParaRPr lang="zh-CN" altLang="en-US" sz="3200" dirty="0">
              <a:solidFill>
                <a:schemeClr val="accent2"/>
              </a:solidFill>
              <a:latin typeface="Times New Roman" panose="02020603050405020304" pitchFamily="18" charset="0"/>
              <a:ea typeface="华文新魏" panose="02010800040101010101" pitchFamily="2" charset="-122"/>
            </a:endParaRPr>
          </a:p>
        </p:txBody>
      </p:sp>
      <p:sp>
        <p:nvSpPr>
          <p:cNvPr id="324611" name="Text Box 3"/>
          <p:cNvSpPr txBox="1">
            <a:spLocks noChangeArrowheads="1"/>
          </p:cNvSpPr>
          <p:nvPr/>
        </p:nvSpPr>
        <p:spPr bwMode="auto">
          <a:xfrm>
            <a:off x="766763" y="2105025"/>
            <a:ext cx="8129588"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524000" indent="-609600">
              <a:defRPr kumimoji="1" sz="2400">
                <a:solidFill>
                  <a:schemeClr val="tx1"/>
                </a:solidFill>
                <a:latin typeface="Times New Roman" panose="02020603050405020304" pitchFamily="18" charset="0"/>
                <a:ea typeface="宋体" panose="02010600030101010101" pitchFamily="2" charset="-122"/>
              </a:defRPr>
            </a:lvl3pPr>
            <a:lvl4pPr marL="1981200" indent="-609600">
              <a:defRPr kumimoji="1" sz="2400">
                <a:solidFill>
                  <a:schemeClr val="tx1"/>
                </a:solidFill>
                <a:latin typeface="Times New Roman" panose="02020603050405020304" pitchFamily="18" charset="0"/>
                <a:ea typeface="宋体" panose="02010600030101010101" pitchFamily="2" charset="-122"/>
              </a:defRPr>
            </a:lvl4pPr>
            <a:lvl5pPr marL="2438400" indent="-609600">
              <a:defRPr kumimoji="1"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1</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、计算机系统概论，</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2</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、运算方法和运算器，</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3</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、存储系统，</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4</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、指令系统，</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5</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、中央处理器， </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6</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、总线系统，</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7</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、外围设备， </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8</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、输入/输出系统。</a:t>
            </a:r>
            <a:r>
              <a:rPr kumimoji="1"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 </a:t>
            </a:r>
            <a:endParaRPr kumimoji="1"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4612" name="Text Box 4"/>
          <p:cNvSpPr txBox="1">
            <a:spLocks noChangeArrowheads="1"/>
          </p:cNvSpPr>
          <p:nvPr/>
        </p:nvSpPr>
        <p:spPr bwMode="auto">
          <a:xfrm>
            <a:off x="595313" y="1219200"/>
            <a:ext cx="6169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0" hangingPunct="0">
              <a:spcBef>
                <a:spcPct val="50000"/>
              </a:spcBef>
              <a:buClrTx/>
              <a:buSzTx/>
              <a:buFontTx/>
              <a:buNone/>
              <a:defRPr/>
            </a:pPr>
            <a:r>
              <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二、本课程的主要内容</a:t>
            </a:r>
            <a:endPar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4612"/>
                                        </p:tgtEl>
                                        <p:attrNameLst>
                                          <p:attrName>style.visibility</p:attrName>
                                        </p:attrNameLst>
                                      </p:cBhvr>
                                      <p:to>
                                        <p:strVal val="visible"/>
                                      </p:to>
                                    </p:set>
                                    <p:animEffect transition="in" filter="blinds(horizontal)">
                                      <p:cBhvr>
                                        <p:cTn id="7" dur="500"/>
                                        <p:tgtEl>
                                          <p:spTgt spid="3246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4611"/>
                                        </p:tgtEl>
                                        <p:attrNameLst>
                                          <p:attrName>style.visibility</p:attrName>
                                        </p:attrNameLst>
                                      </p:cBhvr>
                                      <p:to>
                                        <p:strVal val="visible"/>
                                      </p:to>
                                    </p:set>
                                    <p:animEffect transition="in" filter="blinds(horizontal)">
                                      <p:cBhvr>
                                        <p:cTn id="12" dur="500"/>
                                        <p:tgtEl>
                                          <p:spTgt spid="324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bldLvl="0" animBg="1"/>
      <p:bldP spid="324612"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p:nvPr/>
        </p:nvSpPr>
        <p:spPr>
          <a:xfrm>
            <a:off x="574675" y="390525"/>
            <a:ext cx="5926138" cy="685800"/>
          </a:xfrm>
          <a:prstGeom prst="rect">
            <a:avLst/>
          </a:prstGeom>
          <a:noFill/>
          <a:ln w="9525">
            <a:noFill/>
          </a:ln>
        </p:spPr>
        <p:txBody>
          <a:bodyPr anchor="ctr" anchorCtr="0"/>
          <a:p>
            <a:pPr eaLnBrk="0" hangingPunct="0"/>
            <a:r>
              <a:rPr lang="zh-CN" altLang="en-US" sz="3200" dirty="0">
                <a:solidFill>
                  <a:schemeClr val="accent2"/>
                </a:solidFill>
                <a:latin typeface="Times New Roman" panose="02020603050405020304" pitchFamily="18" charset="0"/>
                <a:ea typeface="华文新魏" panose="02010800040101010101" pitchFamily="2" charset="-122"/>
              </a:rPr>
              <a:t>课程相关介绍</a:t>
            </a:r>
            <a:endParaRPr lang="zh-CN" altLang="en-US" sz="3200" dirty="0">
              <a:solidFill>
                <a:schemeClr val="accent2"/>
              </a:solidFill>
              <a:latin typeface="Times New Roman" panose="02020603050405020304" pitchFamily="18" charset="0"/>
              <a:ea typeface="华文新魏" panose="02010800040101010101" pitchFamily="2" charset="-122"/>
            </a:endParaRPr>
          </a:p>
        </p:txBody>
      </p:sp>
      <p:sp>
        <p:nvSpPr>
          <p:cNvPr id="325635" name="Text Box 3"/>
          <p:cNvSpPr txBox="1">
            <a:spLocks noChangeArrowheads="1"/>
          </p:cNvSpPr>
          <p:nvPr/>
        </p:nvSpPr>
        <p:spPr bwMode="auto">
          <a:xfrm>
            <a:off x="536575" y="2149475"/>
            <a:ext cx="7867650" cy="489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524000" indent="-609600">
              <a:defRPr kumimoji="1" sz="2400">
                <a:solidFill>
                  <a:schemeClr val="tx1"/>
                </a:solidFill>
                <a:latin typeface="Times New Roman" panose="02020603050405020304" pitchFamily="18" charset="0"/>
                <a:ea typeface="宋体" panose="02010600030101010101" pitchFamily="2" charset="-122"/>
              </a:defRPr>
            </a:lvl3pPr>
            <a:lvl4pPr marL="1981200" indent="-609600">
              <a:defRPr kumimoji="1" sz="2400">
                <a:solidFill>
                  <a:schemeClr val="tx1"/>
                </a:solidFill>
                <a:latin typeface="Times New Roman" panose="02020603050405020304" pitchFamily="18" charset="0"/>
                <a:ea typeface="宋体" panose="02010600030101010101" pitchFamily="2" charset="-122"/>
              </a:defRPr>
            </a:lvl4pPr>
            <a:lvl5pPr marL="2438400" indent="-609600">
              <a:defRPr kumimoji="1"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主要把握几个环节：</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1</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、注重知识的连续性。</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2</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、课前做好预习，做到心中有数；课上认真听讲，做好课堂笔记；课后加强作业练习，以巩固知识的掌握。</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3</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、对学习中发现的问题，应及时解决。</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1" dirty="0" smtClean="0">
                <a:solidFill>
                  <a:schemeClr val="tx1"/>
                </a:solidFill>
                <a:latin typeface="Arial" panose="020B0604020202020204" pitchFamily="34" charset="0"/>
                <a:ea typeface="宋体" panose="02010600030101010101" pitchFamily="2" charset="-122"/>
                <a:cs typeface="+mn-cs"/>
                <a:sym typeface="+mn-ea"/>
              </a:rPr>
              <a:t>4</a:t>
            </a:r>
            <a:r>
              <a:rPr kumimoji="1" lang="zh-CN" altLang="en-US" sz="2400" b="1" i="0" u="none" strike="noStrike" kern="1200" cap="none" spc="0" normalizeH="0" baseline="0" noProof="1" dirty="0" smtClean="0">
                <a:solidFill>
                  <a:schemeClr val="tx1"/>
                </a:solidFill>
                <a:latin typeface="Arial" panose="020B0604020202020204" pitchFamily="34" charset="0"/>
                <a:ea typeface="宋体" panose="02010600030101010101" pitchFamily="2" charset="-122"/>
                <a:cs typeface="+mn-cs"/>
                <a:sym typeface="+mn-ea"/>
              </a:rPr>
              <a:t>、培养工程意识</a:t>
            </a:r>
            <a:r>
              <a:rPr lang="zh-CN" altLang="en-US" b="1" strike="noStrike" noProof="1" dirty="0" smtClean="0">
                <a:latin typeface="Arial" panose="020B0604020202020204" pitchFamily="34" charset="0"/>
                <a:ea typeface="宋体" panose="02010600030101010101" pitchFamily="2" charset="-122"/>
                <a:cs typeface="+mn-cs"/>
                <a:sym typeface="+mn-ea"/>
              </a:rPr>
              <a:t>、树立家国情怀</a:t>
            </a:r>
            <a:r>
              <a:rPr kumimoji="1" lang="zh-CN" altLang="en-US" sz="2400" b="1" i="0" u="none" strike="noStrike" kern="1200" cap="none" spc="0" normalizeH="0" baseline="0" noProof="1" dirty="0" smtClean="0">
                <a:solidFill>
                  <a:schemeClr val="tx1"/>
                </a:solidFill>
                <a:latin typeface="Arial" panose="020B0604020202020204" pitchFamily="34" charset="0"/>
                <a:ea typeface="宋体" panose="02010600030101010101" pitchFamily="2" charset="-122"/>
                <a:cs typeface="+mn-cs"/>
                <a:sym typeface="+mn-ea"/>
              </a:rPr>
              <a:t>，注重将理论知识、技术方法与实验实践、实际应用相结合。 </a:t>
            </a:r>
            <a:endParaRPr kumimoji="1" lang="zh-CN" altLang="en-US" sz="2400" b="1" i="0" u="none" strike="noStrike" kern="1200" cap="none" spc="0" normalizeH="0" baseline="0" noProof="1" dirty="0" smtClean="0">
              <a:solidFill>
                <a:schemeClr val="tx1"/>
              </a:solidFill>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5637" name="Text Box 5"/>
          <p:cNvSpPr txBox="1">
            <a:spLocks noChangeArrowheads="1"/>
          </p:cNvSpPr>
          <p:nvPr/>
        </p:nvSpPr>
        <p:spPr bwMode="auto">
          <a:xfrm>
            <a:off x="682625" y="1176338"/>
            <a:ext cx="7677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0" hangingPunct="0">
              <a:buClrTx/>
              <a:buSzTx/>
              <a:buFontTx/>
              <a:buNone/>
              <a:defRPr/>
            </a:pPr>
            <a:r>
              <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三、如何学好该课程</a:t>
            </a:r>
            <a:endPar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5637"/>
                                        </p:tgtEl>
                                        <p:attrNameLst>
                                          <p:attrName>style.visibility</p:attrName>
                                        </p:attrNameLst>
                                      </p:cBhvr>
                                      <p:to>
                                        <p:strVal val="visible"/>
                                      </p:to>
                                    </p:set>
                                    <p:animEffect transition="in" filter="blinds(horizontal)">
                                      <p:cBhvr>
                                        <p:cTn id="7" dur="500"/>
                                        <p:tgtEl>
                                          <p:spTgt spid="3256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5635">
                                            <p:txEl>
                                              <p:charRg st="0" end="10"/>
                                            </p:txEl>
                                          </p:spTgt>
                                        </p:tgtEl>
                                        <p:attrNameLst>
                                          <p:attrName>style.visibility</p:attrName>
                                        </p:attrNameLst>
                                      </p:cBhvr>
                                      <p:to>
                                        <p:strVal val="visible"/>
                                      </p:to>
                                    </p:set>
                                    <p:animEffect transition="in" filter="blinds(horizontal)">
                                      <p:cBhvr>
                                        <p:cTn id="12" dur="500"/>
                                        <p:tgtEl>
                                          <p:spTgt spid="325635">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25635">
                                            <p:txEl>
                                              <p:charRg st="11" end="23"/>
                                            </p:txEl>
                                          </p:spTgt>
                                        </p:tgtEl>
                                        <p:attrNameLst>
                                          <p:attrName>style.visibility</p:attrName>
                                        </p:attrNameLst>
                                      </p:cBhvr>
                                      <p:to>
                                        <p:strVal val="visible"/>
                                      </p:to>
                                    </p:set>
                                    <p:animEffect transition="in" filter="blinds(horizontal)">
                                      <p:cBhvr>
                                        <p:cTn id="17" dur="500"/>
                                        <p:tgtEl>
                                          <p:spTgt spid="325635">
                                            <p:txEl>
                                              <p:charRg st="11" end="2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25635">
                                            <p:txEl>
                                              <p:charRg st="24" end="73"/>
                                            </p:txEl>
                                          </p:spTgt>
                                        </p:tgtEl>
                                        <p:attrNameLst>
                                          <p:attrName>style.visibility</p:attrName>
                                        </p:attrNameLst>
                                      </p:cBhvr>
                                      <p:to>
                                        <p:strVal val="visible"/>
                                      </p:to>
                                    </p:set>
                                    <p:animEffect transition="in" filter="blinds(horizontal)">
                                      <p:cBhvr>
                                        <p:cTn id="22" dur="500"/>
                                        <p:tgtEl>
                                          <p:spTgt spid="325635">
                                            <p:txEl>
                                              <p:charRg st="24" end="7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5635">
                                            <p:txEl>
                                              <p:charRg st="74" end="93"/>
                                            </p:txEl>
                                          </p:spTgt>
                                        </p:tgtEl>
                                        <p:attrNameLst>
                                          <p:attrName>style.visibility</p:attrName>
                                        </p:attrNameLst>
                                      </p:cBhvr>
                                      <p:to>
                                        <p:strVal val="visible"/>
                                      </p:to>
                                    </p:set>
                                    <p:animEffect transition="in" filter="blinds(horizontal)">
                                      <p:cBhvr>
                                        <p:cTn id="27" dur="500"/>
                                        <p:tgtEl>
                                          <p:spTgt spid="325635">
                                            <p:txEl>
                                              <p:charRg st="74" end="9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25635">
                                            <p:txEl>
                                              <p:charRg st="94" end="129"/>
                                            </p:txEl>
                                          </p:spTgt>
                                        </p:tgtEl>
                                        <p:attrNameLst>
                                          <p:attrName>style.visibility</p:attrName>
                                        </p:attrNameLst>
                                      </p:cBhvr>
                                      <p:to>
                                        <p:strVal val="visible"/>
                                      </p:to>
                                    </p:set>
                                    <p:animEffect transition="in" filter="blinds(horizontal)">
                                      <p:cBhvr>
                                        <p:cTn id="32" dur="500"/>
                                        <p:tgtEl>
                                          <p:spTgt spid="325635">
                                            <p:txEl>
                                              <p:charRg st="94" end="1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p:nvPr/>
        </p:nvSpPr>
        <p:spPr>
          <a:xfrm>
            <a:off x="574675" y="390525"/>
            <a:ext cx="5926138" cy="685800"/>
          </a:xfrm>
          <a:prstGeom prst="rect">
            <a:avLst/>
          </a:prstGeom>
          <a:noFill/>
          <a:ln w="9525">
            <a:noFill/>
          </a:ln>
        </p:spPr>
        <p:txBody>
          <a:bodyPr anchor="ctr" anchorCtr="0"/>
          <a:p>
            <a:pPr eaLnBrk="0" hangingPunct="0"/>
            <a:r>
              <a:rPr lang="zh-CN" altLang="en-US" sz="3200" dirty="0">
                <a:solidFill>
                  <a:schemeClr val="accent2"/>
                </a:solidFill>
                <a:latin typeface="Times New Roman" panose="02020603050405020304" pitchFamily="18" charset="0"/>
                <a:ea typeface="华文新魏" panose="02010800040101010101" pitchFamily="2" charset="-122"/>
              </a:rPr>
              <a:t>课程相关介绍</a:t>
            </a:r>
            <a:endParaRPr lang="zh-CN" altLang="en-US" sz="3200" dirty="0">
              <a:solidFill>
                <a:schemeClr val="accent2"/>
              </a:solidFill>
              <a:latin typeface="Times New Roman" panose="02020603050405020304" pitchFamily="18" charset="0"/>
              <a:ea typeface="华文新魏" panose="02010800040101010101" pitchFamily="2" charset="-122"/>
            </a:endParaRPr>
          </a:p>
        </p:txBody>
      </p:sp>
      <p:sp>
        <p:nvSpPr>
          <p:cNvPr id="326659" name="Text Box 3"/>
          <p:cNvSpPr txBox="1">
            <a:spLocks noChangeArrowheads="1"/>
          </p:cNvSpPr>
          <p:nvPr/>
        </p:nvSpPr>
        <p:spPr bwMode="auto">
          <a:xfrm>
            <a:off x="477838" y="3224213"/>
            <a:ext cx="78676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524000" indent="-609600">
              <a:defRPr kumimoji="1" sz="2400">
                <a:solidFill>
                  <a:schemeClr val="tx1"/>
                </a:solidFill>
                <a:latin typeface="Times New Roman" panose="02020603050405020304" pitchFamily="18" charset="0"/>
                <a:ea typeface="宋体" panose="02010600030101010101" pitchFamily="2" charset="-122"/>
              </a:defRPr>
            </a:lvl3pPr>
            <a:lvl4pPr marL="1981200" indent="-609600">
              <a:defRPr kumimoji="1" sz="2400">
                <a:solidFill>
                  <a:schemeClr val="tx1"/>
                </a:solidFill>
                <a:latin typeface="Times New Roman" panose="02020603050405020304" pitchFamily="18" charset="0"/>
                <a:ea typeface="宋体" panose="02010600030101010101" pitchFamily="2" charset="-122"/>
              </a:defRPr>
            </a:lvl4pPr>
            <a:lvl5pPr marL="2438400" indent="-609600">
              <a:defRPr kumimoji="1"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smtClean="0">
                <a:ln>
                  <a:noFill/>
                </a:ln>
                <a:solidFill>
                  <a:srgbClr val="800080"/>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参考书：</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1.唐朔飞. 计算机组成原理（第3版）. 高等教育出版社, 2020.</a:t>
            </a:r>
            <a:endParaRPr kumimoji="1"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2.蒋本珊. 计算机组成原理（第6版）. 清华大学出版社, 2019.</a:t>
            </a:r>
            <a:endParaRPr kumimoji="1"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3.任国林. 计算机组成原理（第2版）. 电子工业出版社, 2018.</a:t>
            </a:r>
            <a:endParaRPr kumimoji="1"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26660" name="Text Box 4"/>
          <p:cNvSpPr txBox="1">
            <a:spLocks noChangeArrowheads="1"/>
          </p:cNvSpPr>
          <p:nvPr/>
        </p:nvSpPr>
        <p:spPr bwMode="auto">
          <a:xfrm>
            <a:off x="682625" y="1176338"/>
            <a:ext cx="7677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0" hangingPunct="0">
              <a:buClrTx/>
              <a:buSzTx/>
              <a:buFontTx/>
              <a:buNone/>
              <a:defRPr/>
            </a:pPr>
            <a:r>
              <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四、教材与参考书</a:t>
            </a:r>
            <a:endPar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326661" name="Text Box 5"/>
          <p:cNvSpPr txBox="1">
            <a:spLocks noChangeArrowheads="1"/>
          </p:cNvSpPr>
          <p:nvPr/>
        </p:nvSpPr>
        <p:spPr bwMode="auto">
          <a:xfrm>
            <a:off x="477838" y="1901825"/>
            <a:ext cx="772160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0" hangingPunct="0">
              <a:buClrTx/>
              <a:buSzTx/>
              <a:buFontTx/>
              <a:buNone/>
              <a:defRPr/>
            </a:pPr>
            <a:r>
              <a:rPr kumimoji="1" lang="zh-CN" altLang="en-US" sz="2400" b="1" kern="1200" cap="none" spc="0" normalizeH="0" baseline="0" noProof="0">
                <a:solidFill>
                  <a:srgbClr val="80008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教材：</a:t>
            </a:r>
            <a:endParaRPr kumimoji="1" lang="zh-CN" altLang="en-US" sz="2400" b="1" kern="1200" cap="none" spc="0" normalizeH="0" baseline="0" noProof="0">
              <a:solidFill>
                <a:srgbClr val="800080"/>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a:p>
            <a:pPr marR="0" defTabSz="914400" eaLnBrk="0" hangingPunct="0">
              <a:buClrTx/>
              <a:buSzTx/>
              <a:buFontTx/>
              <a:buNone/>
              <a:defRPr/>
            </a:pPr>
            <a:r>
              <a:rPr kumimoji="1" lang="en-US" altLang="zh-CN" sz="2400" b="1"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1.  </a:t>
            </a:r>
            <a:r>
              <a:rPr kumimoji="1" sz="2400" b="1"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白中英，戴志涛. 计算机组成原理（第六版）. 科学出版社, 2019.</a:t>
            </a:r>
            <a:endParaRPr kumimoji="1" sz="2400" b="1"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6660"/>
                                        </p:tgtEl>
                                        <p:attrNameLst>
                                          <p:attrName>style.visibility</p:attrName>
                                        </p:attrNameLst>
                                      </p:cBhvr>
                                      <p:to>
                                        <p:strVal val="visible"/>
                                      </p:to>
                                    </p:set>
                                    <p:animEffect transition="in" filter="blinds(horizontal)">
                                      <p:cBhvr>
                                        <p:cTn id="7" dur="500"/>
                                        <p:tgtEl>
                                          <p:spTgt spid="3266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6661"/>
                                        </p:tgtEl>
                                        <p:attrNameLst>
                                          <p:attrName>style.visibility</p:attrName>
                                        </p:attrNameLst>
                                      </p:cBhvr>
                                      <p:to>
                                        <p:strVal val="visible"/>
                                      </p:to>
                                    </p:set>
                                    <p:animEffect transition="in" filter="blinds(horizontal)">
                                      <p:cBhvr>
                                        <p:cTn id="12" dur="500"/>
                                        <p:tgtEl>
                                          <p:spTgt spid="32666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6659"/>
                                        </p:tgtEl>
                                        <p:attrNameLst>
                                          <p:attrName>style.visibility</p:attrName>
                                        </p:attrNameLst>
                                      </p:cBhvr>
                                      <p:to>
                                        <p:strVal val="visible"/>
                                      </p:to>
                                    </p:set>
                                    <p:animEffect transition="in" filter="blinds(horizontal)">
                                      <p:cBhvr>
                                        <p:cTn id="17" dur="500"/>
                                        <p:tgtEl>
                                          <p:spTgt spid="326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60" grpId="0" bldLvl="0" animBg="1"/>
      <p:bldP spid="326659" grpId="0" bldLvl="0" animBg="1"/>
      <p:bldP spid="326659" grpId="1" animBg="1"/>
      <p:bldP spid="326661" grpId="0" bldLvl="0" animBg="1"/>
      <p:bldP spid="326661"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p:nvPr/>
        </p:nvSpPr>
        <p:spPr>
          <a:xfrm>
            <a:off x="574675" y="390525"/>
            <a:ext cx="5926138" cy="685800"/>
          </a:xfrm>
          <a:prstGeom prst="rect">
            <a:avLst/>
          </a:prstGeom>
          <a:noFill/>
          <a:ln w="9525">
            <a:noFill/>
          </a:ln>
        </p:spPr>
        <p:txBody>
          <a:bodyPr anchor="ctr" anchorCtr="0"/>
          <a:p>
            <a:pPr eaLnBrk="0" hangingPunct="0"/>
            <a:r>
              <a:rPr lang="zh-CN" altLang="en-US" sz="3200" dirty="0">
                <a:solidFill>
                  <a:schemeClr val="accent2"/>
                </a:solidFill>
                <a:latin typeface="Times New Roman" panose="02020603050405020304" pitchFamily="18" charset="0"/>
                <a:ea typeface="华文新魏" panose="02010800040101010101" pitchFamily="2" charset="-122"/>
              </a:rPr>
              <a:t>课程相关介绍</a:t>
            </a:r>
            <a:endParaRPr lang="zh-CN" altLang="en-US" sz="3200" dirty="0">
              <a:solidFill>
                <a:schemeClr val="accent2"/>
              </a:solidFill>
              <a:latin typeface="Times New Roman" panose="02020603050405020304" pitchFamily="18" charset="0"/>
              <a:ea typeface="华文新魏" panose="02010800040101010101" pitchFamily="2" charset="-122"/>
            </a:endParaRPr>
          </a:p>
        </p:txBody>
      </p:sp>
      <p:sp>
        <p:nvSpPr>
          <p:cNvPr id="329731" name="Text Box 3"/>
          <p:cNvSpPr txBox="1">
            <a:spLocks noChangeArrowheads="1"/>
          </p:cNvSpPr>
          <p:nvPr/>
        </p:nvSpPr>
        <p:spPr bwMode="auto">
          <a:xfrm>
            <a:off x="536575" y="2149475"/>
            <a:ext cx="8245475" cy="3723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524000" indent="-609600">
              <a:defRPr kumimoji="1" sz="2400">
                <a:solidFill>
                  <a:schemeClr val="tx1"/>
                </a:solidFill>
                <a:latin typeface="Times New Roman" panose="02020603050405020304" pitchFamily="18" charset="0"/>
                <a:ea typeface="宋体" panose="02010600030101010101" pitchFamily="2" charset="-122"/>
              </a:defRPr>
            </a:lvl3pPr>
            <a:lvl4pPr marL="1981200" indent="-609600">
              <a:defRPr kumimoji="1" sz="2400">
                <a:solidFill>
                  <a:schemeClr val="tx1"/>
                </a:solidFill>
                <a:latin typeface="Times New Roman" panose="02020603050405020304" pitchFamily="18" charset="0"/>
                <a:ea typeface="宋体" panose="02010600030101010101" pitchFamily="2" charset="-122"/>
              </a:defRPr>
            </a:lvl4pPr>
            <a:lvl5pPr marL="2438400" indent="-609600">
              <a:defRPr kumimoji="1"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成绩主要由以下几部分组成：</a:t>
            </a:r>
            <a:endPar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1.</a:t>
            </a:r>
            <a:r>
              <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平时成绩（</a:t>
            </a:r>
            <a:r>
              <a:rPr kumimoji="1" lang="en-US" altLang="zh-CN"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3</a:t>
            </a:r>
            <a:r>
              <a:rPr kumimoji="1" lang="en-US" altLang="zh-CN"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0%</a:t>
            </a:r>
            <a:r>
              <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endParaRPr kumimoji="1" lang="en-US" altLang="zh-CN"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包括：（</a:t>
            </a:r>
            <a:r>
              <a:rPr kumimoji="1" lang="en-US" altLang="zh-CN"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1</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课堂表现</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a:t>
            </a:r>
            <a:r>
              <a:rPr kumimoji="1" lang="en-US" altLang="zh-CN"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10%</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en-US" altLang="zh-CN"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2</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作业（</a:t>
            </a:r>
            <a:r>
              <a:rPr kumimoji="1" lang="en-US" altLang="zh-CN"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10%</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a:t>
            </a:r>
            <a:endPar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1" lang="en-US" altLang="zh-CN"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3</a:t>
            </a: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）实验（10%）</a:t>
            </a:r>
            <a:endPar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2.</a:t>
            </a:r>
            <a:r>
              <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考试成绩（</a:t>
            </a:r>
            <a:r>
              <a:rPr kumimoji="1" lang="en-US" altLang="zh-CN"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70%</a:t>
            </a:r>
            <a:r>
              <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endParaRPr kumimoji="1" lang="zh-CN" altLang="en-US" sz="24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期末考试采用闭卷形式，试卷为百分制，最后折合成满分70分。期末考试试卷的卷面成绩*70%作为考试成绩。</a:t>
            </a:r>
            <a:endParaRPr kumimoji="1" lang="zh-CN" altLang="en-US"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en-US" altLang="zh-CN" sz="2000" b="1" i="0" u="none" strike="noStrike" kern="1200" cap="none" spc="0" normalizeH="0" baseline="0" noProof="0" dirty="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29732" name="Text Box 4"/>
          <p:cNvSpPr txBox="1">
            <a:spLocks noChangeArrowheads="1"/>
          </p:cNvSpPr>
          <p:nvPr/>
        </p:nvSpPr>
        <p:spPr bwMode="auto">
          <a:xfrm>
            <a:off x="682625" y="1176338"/>
            <a:ext cx="7677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0" hangingPunct="0">
              <a:buClrTx/>
              <a:buSzTx/>
              <a:buFontTx/>
              <a:buNone/>
              <a:defRPr/>
            </a:pPr>
            <a:r>
              <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五、考核方式</a:t>
            </a:r>
            <a:endParaRPr kumimoji="1" lang="zh-CN" altLang="en-US" sz="2800" b="1" kern="1200" cap="none" spc="0" normalizeH="0" baseline="0" noProof="0">
              <a:solidFill>
                <a:srgbClr val="80008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9732"/>
                                        </p:tgtEl>
                                        <p:attrNameLst>
                                          <p:attrName>style.visibility</p:attrName>
                                        </p:attrNameLst>
                                      </p:cBhvr>
                                      <p:to>
                                        <p:strVal val="visible"/>
                                      </p:to>
                                    </p:set>
                                    <p:animEffect transition="in" filter="blinds(horizontal)">
                                      <p:cBhvr>
                                        <p:cTn id="7" dur="500"/>
                                        <p:tgtEl>
                                          <p:spTgt spid="3297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9731"/>
                                        </p:tgtEl>
                                        <p:attrNameLst>
                                          <p:attrName>style.visibility</p:attrName>
                                        </p:attrNameLst>
                                      </p:cBhvr>
                                      <p:to>
                                        <p:strVal val="visible"/>
                                      </p:to>
                                    </p:set>
                                    <p:animEffect transition="in" filter="blinds(horizontal)">
                                      <p:cBhvr>
                                        <p:cTn id="12" dur="500"/>
                                        <p:tgtEl>
                                          <p:spTgt spid="329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2" grpId="0" bldLvl="0" animBg="1"/>
      <p:bldP spid="329731" grpId="0" bldLvl="0" animBg="1"/>
      <p:bldP spid="329731"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p:nvPr/>
        </p:nvSpPr>
        <p:spPr>
          <a:xfrm>
            <a:off x="574675" y="390525"/>
            <a:ext cx="5926138" cy="685800"/>
          </a:xfrm>
          <a:prstGeom prst="rect">
            <a:avLst/>
          </a:prstGeom>
          <a:noFill/>
          <a:ln w="9525">
            <a:noFill/>
          </a:ln>
        </p:spPr>
        <p:txBody>
          <a:bodyPr anchor="ctr" anchorCtr="0"/>
          <a:p>
            <a:pPr eaLnBrk="0" hangingPunct="0"/>
            <a:r>
              <a:rPr lang="zh-CN" altLang="en-US" sz="3200" dirty="0">
                <a:solidFill>
                  <a:schemeClr val="accent2"/>
                </a:solidFill>
                <a:latin typeface="Times New Roman" panose="02020603050405020304" pitchFamily="18" charset="0"/>
                <a:ea typeface="华文新魏" panose="02010800040101010101" pitchFamily="2" charset="-122"/>
              </a:rPr>
              <a:t>关于我的联系方式</a:t>
            </a:r>
            <a:endParaRPr lang="zh-CN" altLang="en-US" sz="3200" dirty="0">
              <a:solidFill>
                <a:schemeClr val="accent2"/>
              </a:solidFill>
              <a:latin typeface="Times New Roman" panose="02020603050405020304" pitchFamily="18" charset="0"/>
              <a:ea typeface="华文新魏" panose="02010800040101010101" pitchFamily="2" charset="-122"/>
            </a:endParaRPr>
          </a:p>
        </p:txBody>
      </p:sp>
      <p:sp>
        <p:nvSpPr>
          <p:cNvPr id="328707" name="Text Box 3"/>
          <p:cNvSpPr txBox="1">
            <a:spLocks noChangeArrowheads="1"/>
          </p:cNvSpPr>
          <p:nvPr/>
        </p:nvSpPr>
        <p:spPr bwMode="auto">
          <a:xfrm>
            <a:off x="711200" y="1754188"/>
            <a:ext cx="603885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524000" indent="-609600">
              <a:defRPr kumimoji="1" sz="2400">
                <a:solidFill>
                  <a:schemeClr val="tx1"/>
                </a:solidFill>
                <a:latin typeface="Times New Roman" panose="02020603050405020304" pitchFamily="18" charset="0"/>
                <a:ea typeface="宋体" panose="02010600030101010101" pitchFamily="2" charset="-122"/>
              </a:defRPr>
            </a:lvl3pPr>
            <a:lvl4pPr marL="1981200" indent="-609600">
              <a:defRPr kumimoji="1" sz="2400">
                <a:solidFill>
                  <a:schemeClr val="tx1"/>
                </a:solidFill>
                <a:latin typeface="Times New Roman" panose="02020603050405020304" pitchFamily="18" charset="0"/>
                <a:ea typeface="宋体" panose="02010600030101010101" pitchFamily="2" charset="-122"/>
              </a:defRPr>
            </a:lvl4pPr>
            <a:lvl5pPr marL="2438400" indent="-609600">
              <a:defRPr kumimoji="1"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en-US" altLang="zh-CN" sz="18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1</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、邮箱：</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guosong@sjzu.edu.cn</a:t>
            </a:r>
            <a:endPar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2</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、办公地点：戊</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2-307</a:t>
            </a:r>
            <a:endPar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p:nvPr/>
        </p:nvSpPr>
        <p:spPr>
          <a:xfrm>
            <a:off x="574675" y="390525"/>
            <a:ext cx="5926138" cy="685800"/>
          </a:xfrm>
          <a:prstGeom prst="rect">
            <a:avLst/>
          </a:prstGeom>
          <a:noFill/>
          <a:ln w="9525">
            <a:noFill/>
          </a:ln>
        </p:spPr>
        <p:txBody>
          <a:bodyPr anchor="ctr" anchorCtr="0"/>
          <a:p>
            <a:pPr eaLnBrk="0" hangingPunct="0"/>
            <a:r>
              <a:rPr lang="zh-CN" altLang="en-US" sz="3200" dirty="0">
                <a:solidFill>
                  <a:schemeClr val="accent2"/>
                </a:solidFill>
                <a:latin typeface="Times New Roman" panose="02020603050405020304" pitchFamily="18" charset="0"/>
                <a:ea typeface="华文新魏" panose="02010800040101010101" pitchFamily="2" charset="-122"/>
              </a:rPr>
              <a:t>课程群</a:t>
            </a:r>
            <a:endParaRPr lang="zh-CN" altLang="en-US" sz="3200" dirty="0">
              <a:solidFill>
                <a:schemeClr val="accent2"/>
              </a:solidFill>
              <a:latin typeface="Times New Roman" panose="02020603050405020304" pitchFamily="18" charset="0"/>
              <a:ea typeface="华文新魏" panose="02010800040101010101" pitchFamily="2" charset="-122"/>
            </a:endParaRPr>
          </a:p>
        </p:txBody>
      </p:sp>
      <p:sp>
        <p:nvSpPr>
          <p:cNvPr id="328707" name="Text Box 3"/>
          <p:cNvSpPr txBox="1">
            <a:spLocks noChangeArrowheads="1"/>
          </p:cNvSpPr>
          <p:nvPr/>
        </p:nvSpPr>
        <p:spPr bwMode="auto">
          <a:xfrm>
            <a:off x="539750" y="5085080"/>
            <a:ext cx="813879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1066800" indent="-609600">
              <a:defRPr kumimoji="1" sz="2400">
                <a:solidFill>
                  <a:schemeClr val="tx1"/>
                </a:solidFill>
                <a:latin typeface="Times New Roman" panose="02020603050405020304" pitchFamily="18" charset="0"/>
                <a:ea typeface="宋体" panose="02010600030101010101" pitchFamily="2" charset="-122"/>
              </a:defRPr>
            </a:lvl2pPr>
            <a:lvl3pPr marL="1524000" indent="-609600">
              <a:defRPr kumimoji="1" sz="2400">
                <a:solidFill>
                  <a:schemeClr val="tx1"/>
                </a:solidFill>
                <a:latin typeface="Times New Roman" panose="02020603050405020304" pitchFamily="18" charset="0"/>
                <a:ea typeface="宋体" panose="02010600030101010101" pitchFamily="2" charset="-122"/>
              </a:defRPr>
            </a:lvl3pPr>
            <a:lvl4pPr marL="1981200" indent="-609600">
              <a:defRPr kumimoji="1" sz="2400">
                <a:solidFill>
                  <a:schemeClr val="tx1"/>
                </a:solidFill>
                <a:latin typeface="Times New Roman" panose="02020603050405020304" pitchFamily="18" charset="0"/>
                <a:ea typeface="宋体" panose="02010600030101010101" pitchFamily="2" charset="-122"/>
              </a:defRPr>
            </a:lvl4pPr>
            <a:lvl5pPr marL="2438400" indent="-609600">
              <a:defRPr kumimoji="1"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609600" marR="0" lvl="0" indent="-609600" algn="l" defTabSz="914400" rtl="0" eaLnBrk="0" fontAlgn="base" latinLnBrk="0" hangingPunct="0">
              <a:lnSpc>
                <a:spcPct val="100000"/>
              </a:lnSpc>
              <a:spcBef>
                <a:spcPct val="0"/>
              </a:spcBef>
              <a:spcAft>
                <a:spcPct val="0"/>
              </a:spcAft>
              <a:buClrTx/>
              <a:buSzTx/>
              <a:buFontTx/>
              <a:buNone/>
              <a:defRPr/>
            </a:pPr>
            <a:endParaRPr kumimoji="1" lang="en-US" altLang="zh-CN" sz="18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a:p>
            <a:pPr marL="609600" marR="0" lvl="0" indent="-609600" algn="l"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1200" cap="none" spc="0" normalizeH="0" baseline="0" noProof="0" smtClean="0">
                <a:ln>
                  <a:noFill/>
                </a:ln>
                <a:solidFill>
                  <a:srgbClr val="FF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注：</a:t>
            </a:r>
            <a:r>
              <a:rPr kumimoji="1" 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本课程的相关通知以及课件等学习资料都会在本</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QQ</a:t>
            </a:r>
            <a:r>
              <a:rPr kumimoji="1" 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群中发布，请同学们尽快入群，入群后请修改实名，形式为</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班级</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学号</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姓名</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，如</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计</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1-2106410101-</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某某某</a:t>
            </a:r>
            <a:r>
              <a:rPr kumimoji="1"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r>
              <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endParaRPr kumimoji="1"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2645410" y="548640"/>
            <a:ext cx="3928110" cy="472122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259840" y="765175"/>
            <a:ext cx="6926580" cy="865505"/>
          </a:xfrm>
          <a:prstGeom prst="rect">
            <a:avLst/>
          </a:prstGeom>
          <a:noFill/>
          <a:ln w="9525">
            <a:noFill/>
            <a:miter lim="800000"/>
          </a:ln>
        </p:spPr>
        <p:txBody>
          <a:bodyPr anchor="b"/>
          <a:lstStyle/>
          <a:p>
            <a:r>
              <a:rPr lang="zh-CN" altLang="en-US" sz="4800" b="1">
                <a:solidFill>
                  <a:schemeClr val="tx2"/>
                </a:solidFill>
                <a:latin typeface="华文新魏" panose="02010800040101010101" pitchFamily="2" charset="-122"/>
                <a:ea typeface="华文新魏" panose="02010800040101010101" pitchFamily="2" charset="-122"/>
                <a:cs typeface="华文新魏" panose="02010800040101010101" pitchFamily="2" charset="-122"/>
              </a:rPr>
              <a:t>第一章  计算机系统概论</a:t>
            </a:r>
            <a:endParaRPr lang="zh-CN" altLang="en-US" sz="4800" b="1">
              <a:solidFill>
                <a:schemeClr val="tx2"/>
              </a:solidFill>
              <a:latin typeface="华文新魏" panose="02010800040101010101" pitchFamily="2" charset="-122"/>
              <a:ea typeface="华文新魏" panose="02010800040101010101" pitchFamily="2" charset="-122"/>
              <a:cs typeface="华文新魏" panose="02010800040101010101" pitchFamily="2" charset="-122"/>
            </a:endParaRPr>
          </a:p>
        </p:txBody>
      </p:sp>
      <p:sp>
        <p:nvSpPr>
          <p:cNvPr id="2" name="文本框 1"/>
          <p:cNvSpPr txBox="1"/>
          <p:nvPr/>
        </p:nvSpPr>
        <p:spPr>
          <a:xfrm>
            <a:off x="1115695" y="1988820"/>
            <a:ext cx="6903720" cy="3630930"/>
          </a:xfrm>
          <a:prstGeom prst="rect">
            <a:avLst/>
          </a:prstGeom>
          <a:noFill/>
        </p:spPr>
        <p:txBody>
          <a:bodyPr wrap="square" rtlCol="0">
            <a:spAutoFit/>
          </a:bodyPr>
          <a:p>
            <a:r>
              <a:rPr lang="zh-CN" altLang="en-US" sz="400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本章主要内容：</a:t>
            </a:r>
            <a:endParaRPr lang="zh-CN" altLang="en-US" sz="3600">
              <a:solidFill>
                <a:srgbClr val="00B050"/>
              </a:solidFill>
              <a:latin typeface="华文新魏" panose="02010800040101010101" pitchFamily="2" charset="-122"/>
              <a:ea typeface="华文新魏" panose="02010800040101010101" pitchFamily="2" charset="-122"/>
              <a:cs typeface="华文新魏" panose="02010800040101010101" pitchFamily="2" charset="-122"/>
            </a:endParaRPr>
          </a:p>
          <a:p>
            <a:endParaRPr lang="zh-CN" altLang="en-US" sz="1000">
              <a:latin typeface="华文新魏" panose="02010800040101010101" pitchFamily="2" charset="-122"/>
              <a:ea typeface="华文新魏" panose="02010800040101010101" pitchFamily="2" charset="-122"/>
              <a:cs typeface="华文新魏" panose="02010800040101010101" pitchFamily="2" charset="-122"/>
            </a:endParaRPr>
          </a:p>
          <a:p>
            <a:r>
              <a:rPr lang="en-US" altLang="zh-CN" sz="3600">
                <a:latin typeface="华文新魏" panose="02010800040101010101" pitchFamily="2" charset="-122"/>
                <a:ea typeface="华文新魏" panose="02010800040101010101" pitchFamily="2" charset="-122"/>
                <a:cs typeface="华文新魏" panose="02010800040101010101" pitchFamily="2" charset="-122"/>
              </a:rPr>
              <a:t>    </a:t>
            </a:r>
            <a:r>
              <a:rPr lang="zh-CN" altLang="en-US" sz="3600">
                <a:latin typeface="华文新魏" panose="02010800040101010101" pitchFamily="2" charset="-122"/>
                <a:ea typeface="华文新魏" panose="02010800040101010101" pitchFamily="2" charset="-122"/>
                <a:cs typeface="华文新魏" panose="02010800040101010101" pitchFamily="2" charset="-122"/>
              </a:rPr>
              <a:t>1.1计算机的分类</a:t>
            </a:r>
            <a:endParaRPr lang="zh-CN" altLang="en-US" sz="3600">
              <a:latin typeface="华文新魏" panose="02010800040101010101" pitchFamily="2" charset="-122"/>
              <a:ea typeface="华文新魏" panose="02010800040101010101" pitchFamily="2" charset="-122"/>
              <a:cs typeface="华文新魏" panose="02010800040101010101" pitchFamily="2" charset="-122"/>
            </a:endParaRPr>
          </a:p>
          <a:p>
            <a:r>
              <a:rPr lang="en-US" altLang="zh-CN" sz="3600">
                <a:latin typeface="华文新魏" panose="02010800040101010101" pitchFamily="2" charset="-122"/>
                <a:ea typeface="华文新魏" panose="02010800040101010101" pitchFamily="2" charset="-122"/>
                <a:cs typeface="华文新魏" panose="02010800040101010101" pitchFamily="2" charset="-122"/>
              </a:rPr>
              <a:t>    </a:t>
            </a:r>
            <a:r>
              <a:rPr lang="zh-CN" altLang="en-US" sz="3600">
                <a:latin typeface="华文新魏" panose="02010800040101010101" pitchFamily="2" charset="-122"/>
                <a:ea typeface="华文新魏" panose="02010800040101010101" pitchFamily="2" charset="-122"/>
                <a:cs typeface="华文新魏" panose="02010800040101010101" pitchFamily="2" charset="-122"/>
              </a:rPr>
              <a:t>1.2计算机的发展简史</a:t>
            </a:r>
            <a:endParaRPr lang="zh-CN" altLang="en-US" sz="3600">
              <a:latin typeface="华文新魏" panose="02010800040101010101" pitchFamily="2" charset="-122"/>
              <a:ea typeface="华文新魏" panose="02010800040101010101" pitchFamily="2" charset="-122"/>
              <a:cs typeface="华文新魏" panose="02010800040101010101" pitchFamily="2" charset="-122"/>
            </a:endParaRPr>
          </a:p>
          <a:p>
            <a:r>
              <a:rPr lang="en-US" altLang="zh-CN" sz="3600">
                <a:latin typeface="华文新魏" panose="02010800040101010101" pitchFamily="2" charset="-122"/>
                <a:ea typeface="华文新魏" panose="02010800040101010101" pitchFamily="2" charset="-122"/>
                <a:cs typeface="华文新魏" panose="02010800040101010101" pitchFamily="2" charset="-122"/>
              </a:rPr>
              <a:t>    </a:t>
            </a:r>
            <a:r>
              <a:rPr lang="zh-CN" altLang="en-US" sz="3600">
                <a:latin typeface="华文新魏" panose="02010800040101010101" pitchFamily="2" charset="-122"/>
                <a:ea typeface="华文新魏" panose="02010800040101010101" pitchFamily="2" charset="-122"/>
                <a:cs typeface="华文新魏" panose="02010800040101010101" pitchFamily="2" charset="-122"/>
              </a:rPr>
              <a:t>1.3计算机的硬件</a:t>
            </a:r>
            <a:endParaRPr lang="zh-CN" altLang="en-US" sz="3600">
              <a:latin typeface="华文新魏" panose="02010800040101010101" pitchFamily="2" charset="-122"/>
              <a:ea typeface="华文新魏" panose="02010800040101010101" pitchFamily="2" charset="-122"/>
              <a:cs typeface="华文新魏" panose="02010800040101010101" pitchFamily="2" charset="-122"/>
            </a:endParaRPr>
          </a:p>
          <a:p>
            <a:r>
              <a:rPr lang="en-US" altLang="zh-CN" sz="3600">
                <a:latin typeface="华文新魏" panose="02010800040101010101" pitchFamily="2" charset="-122"/>
                <a:ea typeface="华文新魏" panose="02010800040101010101" pitchFamily="2" charset="-122"/>
                <a:cs typeface="华文新魏" panose="02010800040101010101" pitchFamily="2" charset="-122"/>
              </a:rPr>
              <a:t>    </a:t>
            </a:r>
            <a:r>
              <a:rPr lang="zh-CN" altLang="en-US" sz="3600">
                <a:latin typeface="华文新魏" panose="02010800040101010101" pitchFamily="2" charset="-122"/>
                <a:ea typeface="华文新魏" panose="02010800040101010101" pitchFamily="2" charset="-122"/>
                <a:cs typeface="华文新魏" panose="02010800040101010101" pitchFamily="2" charset="-122"/>
              </a:rPr>
              <a:t>1.4计算机的软件</a:t>
            </a:r>
            <a:endParaRPr lang="zh-CN" altLang="en-US" sz="3600">
              <a:latin typeface="华文新魏" panose="02010800040101010101" pitchFamily="2" charset="-122"/>
              <a:ea typeface="华文新魏" panose="02010800040101010101" pitchFamily="2" charset="-122"/>
              <a:cs typeface="华文新魏" panose="02010800040101010101" pitchFamily="2" charset="-122"/>
            </a:endParaRPr>
          </a:p>
          <a:p>
            <a:r>
              <a:rPr lang="en-US" altLang="zh-CN" sz="3600">
                <a:latin typeface="华文新魏" panose="02010800040101010101" pitchFamily="2" charset="-122"/>
                <a:ea typeface="华文新魏" panose="02010800040101010101" pitchFamily="2" charset="-122"/>
                <a:cs typeface="华文新魏" panose="02010800040101010101" pitchFamily="2" charset="-122"/>
              </a:rPr>
              <a:t>    </a:t>
            </a:r>
            <a:r>
              <a:rPr lang="zh-CN" altLang="en-US" sz="3600">
                <a:latin typeface="华文新魏" panose="02010800040101010101" pitchFamily="2" charset="-122"/>
                <a:ea typeface="华文新魏" panose="02010800040101010101" pitchFamily="2" charset="-122"/>
                <a:cs typeface="华文新魏" panose="02010800040101010101" pitchFamily="2" charset="-122"/>
              </a:rPr>
              <a:t>1.5计算机系统的层次结构</a:t>
            </a:r>
            <a:endParaRPr lang="zh-CN" altLang="en-US" sz="3600">
              <a:latin typeface="华文新魏" panose="02010800040101010101" pitchFamily="2" charset="-122"/>
              <a:ea typeface="华文新魏" panose="02010800040101010101" pitchFamily="2" charset="-122"/>
              <a:cs typeface="华文新魏" panose="020108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2087563"/>
            <a:ext cx="9144000" cy="641350"/>
          </a:xfrm>
          <a:prstGeom prst="rect">
            <a:avLst/>
          </a:prstGeom>
          <a:noFill/>
          <a:ln w="9525">
            <a:noFill/>
            <a:miter lim="800000"/>
          </a:ln>
        </p:spPr>
        <p:txBody>
          <a:bodyPr>
            <a:spAutoFit/>
          </a:bodyPr>
          <a:lstStyle/>
          <a:p>
            <a:endParaRPr lang="en-US" altLang="zh-CN"/>
          </a:p>
          <a:p>
            <a:pPr lvl="1" eaLnBrk="0" hangingPunct="0"/>
            <a:endParaRPr lang="en-US" altLang="zh-CN"/>
          </a:p>
        </p:txBody>
      </p:sp>
      <p:sp>
        <p:nvSpPr>
          <p:cNvPr id="8195" name="Rectangle 3"/>
          <p:cNvSpPr>
            <a:spLocks noChangeArrowheads="1"/>
          </p:cNvSpPr>
          <p:nvPr/>
        </p:nvSpPr>
        <p:spPr bwMode="auto">
          <a:xfrm>
            <a:off x="152400" y="152400"/>
            <a:ext cx="8740775" cy="6585585"/>
          </a:xfrm>
          <a:prstGeom prst="rect">
            <a:avLst/>
          </a:prstGeom>
          <a:noFill/>
          <a:ln w="9525">
            <a:noFill/>
            <a:miter lim="800000"/>
          </a:ln>
        </p:spPr>
        <p:txBody>
          <a:bodyPr>
            <a:spAutoFit/>
          </a:bodyPr>
          <a:lstStyle/>
          <a:p>
            <a:pPr eaLnBrk="0" hangingPunct="0">
              <a:spcBef>
                <a:spcPts val="1200"/>
              </a:spcBef>
            </a:pPr>
            <a:r>
              <a:rPr lang="en-US" altLang="zh-CN" sz="4000" b="1" dirty="0">
                <a:solidFill>
                  <a:srgbClr val="CC0000"/>
                </a:solidFill>
                <a:latin typeface="黑体" panose="02010609060101010101" pitchFamily="2" charset="-122"/>
                <a:ea typeface="黑体" panose="02010609060101010101" pitchFamily="2" charset="-122"/>
              </a:rPr>
              <a:t>1.1</a:t>
            </a:r>
            <a:r>
              <a:rPr lang="zh-CN" altLang="en-US" sz="4000" b="1" dirty="0">
                <a:solidFill>
                  <a:srgbClr val="CC0000"/>
                </a:solidFill>
                <a:latin typeface="黑体" panose="02010609060101010101" pitchFamily="2" charset="-122"/>
                <a:ea typeface="黑体" panose="02010609060101010101" pitchFamily="2" charset="-122"/>
              </a:rPr>
              <a:t>计算机的分类</a:t>
            </a:r>
            <a:endParaRPr lang="zh-CN" altLang="en-US" sz="4000" b="1" dirty="0">
              <a:solidFill>
                <a:srgbClr val="CC0000"/>
              </a:solidFill>
              <a:latin typeface="黑体" panose="02010609060101010101" pitchFamily="2" charset="-122"/>
              <a:ea typeface="黑体" panose="02010609060101010101" pitchFamily="2" charset="-122"/>
            </a:endParaRPr>
          </a:p>
          <a:p>
            <a:pPr eaLnBrk="0" hangingPunct="0">
              <a:spcBef>
                <a:spcPts val="1200"/>
              </a:spcBef>
            </a:pPr>
            <a:r>
              <a:rPr lang="zh-CN" altLang="en-US" sz="3200" b="1" dirty="0">
                <a:latin typeface="黑体" panose="02010609060101010101" pitchFamily="2" charset="-122"/>
                <a:ea typeface="黑体" panose="02010609060101010101" pitchFamily="2" charset="-122"/>
              </a:rPr>
              <a:t>    按信息表示形式和处理方式的不同，计算机可分为模拟计算机和数字计算机。</a:t>
            </a:r>
            <a:endParaRPr lang="zh-CN" altLang="en-US" sz="3200" b="1" dirty="0">
              <a:latin typeface="黑体" panose="02010609060101010101" pitchFamily="2" charset="-122"/>
              <a:ea typeface="黑体" panose="02010609060101010101" pitchFamily="2" charset="-122"/>
            </a:endParaRPr>
          </a:p>
          <a:p>
            <a:pPr eaLnBrk="0" hangingPunct="0">
              <a:spcBef>
                <a:spcPts val="1200"/>
              </a:spcBef>
            </a:pPr>
            <a:r>
              <a:rPr lang="zh-CN" altLang="en-US" sz="3200" b="1" dirty="0">
                <a:latin typeface="黑体" panose="02010609060101010101" pitchFamily="2" charset="-122"/>
                <a:ea typeface="黑体" panose="02010609060101010101" pitchFamily="2" charset="-122"/>
              </a:rPr>
              <a:t>    </a:t>
            </a:r>
            <a:r>
              <a:rPr lang="zh-CN" altLang="en-US" sz="3200" b="1" dirty="0">
                <a:solidFill>
                  <a:srgbClr val="FF0000"/>
                </a:solidFill>
                <a:latin typeface="黑体" panose="02010609060101010101" pitchFamily="2" charset="-122"/>
                <a:ea typeface="黑体" panose="02010609060101010101" pitchFamily="2" charset="-122"/>
              </a:rPr>
              <a:t>模拟计算机：</a:t>
            </a:r>
            <a:r>
              <a:rPr lang="zh-CN" altLang="en-US" sz="3200" b="1" dirty="0">
                <a:latin typeface="黑体" panose="02010609060101010101" pitchFamily="2" charset="-122"/>
                <a:ea typeface="黑体" panose="02010609060101010101" pitchFamily="2" charset="-122"/>
              </a:rPr>
              <a:t>参与运算的数值由不间断的连续量表示，其运算过程是连续的，模拟计算机由于受元器件质量影响，其计算精度较低，应用范围较窄，目前已很少生产。 </a:t>
            </a:r>
            <a:endParaRPr lang="zh-CN" altLang="en-US" sz="3200" b="1" dirty="0">
              <a:latin typeface="黑体" panose="02010609060101010101" pitchFamily="2" charset="-122"/>
              <a:ea typeface="黑体" panose="02010609060101010101" pitchFamily="2" charset="-122"/>
            </a:endParaRPr>
          </a:p>
          <a:p>
            <a:pPr eaLnBrk="0" hangingPunct="0">
              <a:spcBef>
                <a:spcPts val="1200"/>
              </a:spcBef>
            </a:pPr>
            <a:r>
              <a:rPr lang="zh-CN" altLang="en-US" sz="3200" b="1" dirty="0">
                <a:ea typeface="黑体" panose="02010609060101010101" pitchFamily="2" charset="-122"/>
              </a:rPr>
              <a:t>        </a:t>
            </a:r>
            <a:r>
              <a:rPr lang="zh-CN" altLang="en-US" sz="3200" b="1" dirty="0">
                <a:solidFill>
                  <a:srgbClr val="FF0000"/>
                </a:solidFill>
                <a:latin typeface="黑体" panose="02010609060101010101" pitchFamily="2" charset="-122"/>
                <a:ea typeface="黑体" panose="02010609060101010101" pitchFamily="2" charset="-122"/>
              </a:rPr>
              <a:t>数字计算机：</a:t>
            </a:r>
            <a:r>
              <a:rPr lang="zh-CN" altLang="en-US" sz="3200" b="1" dirty="0">
                <a:latin typeface="黑体" panose="02010609060101010101" pitchFamily="2" charset="-122"/>
                <a:ea typeface="黑体" panose="02010609060101010101" pitchFamily="2" charset="-122"/>
              </a:rPr>
              <a:t>参与运算的数值用离散的数字量表示，其运算过程按数字位进行计算，数字计算机由于具有逻辑判断等功能，以近似人类大脑的</a:t>
            </a:r>
            <a:r>
              <a:rPr lang="zh-CN" altLang="en-US" sz="3200" b="1" dirty="0">
                <a:ea typeface="黑体" panose="02010609060101010101" pitchFamily="2" charset="-122"/>
              </a:rPr>
              <a:t>“</a:t>
            </a:r>
            <a:r>
              <a:rPr lang="zh-CN" altLang="en-US" sz="3200" b="1" dirty="0">
                <a:latin typeface="黑体" panose="02010609060101010101" pitchFamily="2" charset="-122"/>
                <a:ea typeface="黑体" panose="02010609060101010101" pitchFamily="2" charset="-122"/>
              </a:rPr>
              <a:t>思维</a:t>
            </a:r>
            <a:r>
              <a:rPr lang="zh-CN" altLang="en-US" sz="3200" b="1" dirty="0">
                <a:ea typeface="黑体" panose="02010609060101010101" pitchFamily="2" charset="-122"/>
              </a:rPr>
              <a:t>”</a:t>
            </a:r>
            <a:r>
              <a:rPr lang="zh-CN" altLang="en-US" sz="3200" b="1" dirty="0">
                <a:latin typeface="黑体" panose="02010609060101010101" pitchFamily="2" charset="-122"/>
                <a:ea typeface="黑体" panose="02010609060101010101" pitchFamily="2" charset="-122"/>
              </a:rPr>
              <a:t>方式进行工作，所以又被称为</a:t>
            </a:r>
            <a:r>
              <a:rPr lang="zh-CN" altLang="en-US" sz="3200" b="1" dirty="0">
                <a:ea typeface="黑体" panose="02010609060101010101" pitchFamily="2" charset="-122"/>
              </a:rPr>
              <a:t>“</a:t>
            </a:r>
            <a:r>
              <a:rPr lang="zh-CN" altLang="en-US" sz="3200" b="1" dirty="0">
                <a:latin typeface="黑体" panose="02010609060101010101" pitchFamily="2" charset="-122"/>
                <a:ea typeface="黑体" panose="02010609060101010101" pitchFamily="2" charset="-122"/>
              </a:rPr>
              <a:t>电脑</a:t>
            </a:r>
            <a:r>
              <a:rPr lang="zh-CN" altLang="en-US" sz="3200" b="1" dirty="0">
                <a:ea typeface="黑体" panose="02010609060101010101" pitchFamily="2" charset="-122"/>
              </a:rPr>
              <a:t>”。</a:t>
            </a:r>
            <a:r>
              <a:rPr lang="en-US" altLang="zh-CN" sz="3200" b="1" dirty="0">
                <a:latin typeface="黑体" panose="02010609060101010101" pitchFamily="2" charset="-122"/>
                <a:ea typeface="黑体" panose="02010609060101010101" pitchFamily="2" charset="-122"/>
              </a:rPr>
              <a:t> </a:t>
            </a:r>
            <a:endParaRPr lang="en-US" altLang="zh-CN" sz="3200" b="1" dirty="0">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250825" y="198625"/>
            <a:ext cx="8425631" cy="6587490"/>
          </a:xfrm>
          <a:prstGeom prst="rect">
            <a:avLst/>
          </a:prstGeom>
          <a:noFill/>
          <a:ln w="9525">
            <a:noFill/>
            <a:miter lim="800000"/>
          </a:ln>
        </p:spPr>
        <p:txBody>
          <a:bodyPr wrap="square">
            <a:spAutoFit/>
          </a:bodyPr>
          <a:lstStyle/>
          <a:p>
            <a:pPr>
              <a:lnSpc>
                <a:spcPct val="120000"/>
              </a:lnSpc>
            </a:pPr>
            <a:r>
              <a:rPr lang="en-US" altLang="zh-CN" sz="3200" b="1" dirty="0">
                <a:latin typeface="黑体" panose="02010609060101010101" pitchFamily="2" charset="-122"/>
                <a:ea typeface="黑体" panose="02010609060101010101" pitchFamily="2" charset="-122"/>
              </a:rPr>
              <a:t>    </a:t>
            </a:r>
            <a:r>
              <a:rPr lang="zh-CN" altLang="en-US" sz="3200" dirty="0">
                <a:latin typeface="微软雅黑" panose="020B0503020204020204" charset="-122"/>
                <a:ea typeface="微软雅黑" panose="020B0503020204020204" charset="-122"/>
              </a:rPr>
              <a:t>数字计算机按用途分为专用计算机</a:t>
            </a:r>
            <a:r>
              <a:rPr lang="zh-CN" altLang="en-US" sz="3200" dirty="0" smtClean="0">
                <a:latin typeface="微软雅黑" panose="020B0503020204020204" charset="-122"/>
                <a:ea typeface="微软雅黑" panose="020B0503020204020204" charset="-122"/>
              </a:rPr>
              <a:t>和</a:t>
            </a:r>
            <a:endParaRPr lang="en-US" altLang="zh-CN" sz="3200" dirty="0" smtClean="0">
              <a:latin typeface="微软雅黑" panose="020B0503020204020204" charset="-122"/>
              <a:ea typeface="微软雅黑" panose="020B0503020204020204" charset="-122"/>
            </a:endParaRPr>
          </a:p>
          <a:p>
            <a:pPr>
              <a:lnSpc>
                <a:spcPct val="120000"/>
              </a:lnSpc>
            </a:pPr>
            <a:r>
              <a:rPr lang="zh-CN" altLang="en-US" sz="3200" dirty="0" smtClean="0">
                <a:latin typeface="微软雅黑" panose="020B0503020204020204" charset="-122"/>
                <a:ea typeface="微软雅黑" panose="020B0503020204020204" charset="-122"/>
              </a:rPr>
              <a:t>通用计算机</a:t>
            </a:r>
            <a:r>
              <a:rPr lang="zh-CN" altLang="en-US" sz="3200" dirty="0">
                <a:latin typeface="微软雅黑" panose="020B0503020204020204" charset="-122"/>
                <a:ea typeface="微软雅黑" panose="020B0503020204020204" charset="-122"/>
              </a:rPr>
              <a:t>。专用与通用计算机在其效率</a:t>
            </a:r>
            <a:r>
              <a:rPr lang="zh-CN" altLang="en-US" sz="3200" dirty="0" smtClean="0">
                <a:latin typeface="微软雅黑" panose="020B0503020204020204" charset="-122"/>
                <a:ea typeface="微软雅黑" panose="020B0503020204020204" charset="-122"/>
              </a:rPr>
              <a:t>、</a:t>
            </a:r>
            <a:endParaRPr lang="en-US" altLang="zh-CN" sz="3200" dirty="0" smtClean="0">
              <a:latin typeface="微软雅黑" panose="020B0503020204020204" charset="-122"/>
              <a:ea typeface="微软雅黑" panose="020B0503020204020204" charset="-122"/>
            </a:endParaRPr>
          </a:p>
          <a:p>
            <a:pPr>
              <a:lnSpc>
                <a:spcPct val="120000"/>
              </a:lnSpc>
            </a:pPr>
            <a:r>
              <a:rPr lang="zh-CN" altLang="en-US" sz="3200" dirty="0" smtClean="0">
                <a:latin typeface="微软雅黑" panose="020B0503020204020204" charset="-122"/>
                <a:ea typeface="微软雅黑" panose="020B0503020204020204" charset="-122"/>
              </a:rPr>
              <a:t>速度</a:t>
            </a:r>
            <a:r>
              <a:rPr lang="zh-CN" altLang="en-US" sz="3200" dirty="0">
                <a:latin typeface="微软雅黑" panose="020B0503020204020204" charset="-122"/>
                <a:ea typeface="微软雅黑" panose="020B0503020204020204" charset="-122"/>
              </a:rPr>
              <a:t>、配置、结构复杂程度、造价和</a:t>
            </a:r>
            <a:r>
              <a:rPr lang="zh-CN" altLang="en-US" sz="3200" dirty="0" smtClean="0">
                <a:latin typeface="微软雅黑" panose="020B0503020204020204" charset="-122"/>
                <a:ea typeface="微软雅黑" panose="020B0503020204020204" charset="-122"/>
              </a:rPr>
              <a:t>适应</a:t>
            </a:r>
            <a:endParaRPr lang="en-US" altLang="zh-CN" sz="3200" dirty="0" smtClean="0">
              <a:latin typeface="微软雅黑" panose="020B0503020204020204" charset="-122"/>
              <a:ea typeface="微软雅黑" panose="020B0503020204020204" charset="-122"/>
            </a:endParaRPr>
          </a:p>
          <a:p>
            <a:pPr>
              <a:lnSpc>
                <a:spcPct val="120000"/>
              </a:lnSpc>
            </a:pPr>
            <a:r>
              <a:rPr lang="zh-CN" altLang="en-US" sz="3200" dirty="0" smtClean="0">
                <a:latin typeface="微软雅黑" panose="020B0503020204020204" charset="-122"/>
                <a:ea typeface="微软雅黑" panose="020B0503020204020204" charset="-122"/>
              </a:rPr>
              <a:t>性</a:t>
            </a:r>
            <a:r>
              <a:rPr lang="zh-CN" altLang="en-US" sz="3200" dirty="0">
                <a:latin typeface="微软雅黑" panose="020B0503020204020204" charset="-122"/>
                <a:ea typeface="微软雅黑" panose="020B0503020204020204" charset="-122"/>
              </a:rPr>
              <a:t>等方面是有区别的。</a:t>
            </a:r>
            <a:endParaRPr lang="zh-CN" altLang="en-US" sz="3200" dirty="0">
              <a:latin typeface="微软雅黑" panose="020B0503020204020204" charset="-122"/>
              <a:ea typeface="微软雅黑" panose="020B0503020204020204" charset="-122"/>
            </a:endParaRPr>
          </a:p>
          <a:p>
            <a:pPr>
              <a:lnSpc>
                <a:spcPct val="120000"/>
              </a:lnSpc>
            </a:pPr>
            <a:r>
              <a:rPr lang="zh-CN" altLang="en-US" sz="3200" dirty="0">
                <a:latin typeface="微软雅黑" panose="020B0503020204020204" charset="-122"/>
                <a:ea typeface="微软雅黑" panose="020B0503020204020204" charset="-122"/>
              </a:rPr>
              <a:t>    </a:t>
            </a:r>
            <a:r>
              <a:rPr lang="zh-CN" altLang="en-US" sz="3200" dirty="0">
                <a:solidFill>
                  <a:srgbClr val="FF0000"/>
                </a:solidFill>
                <a:latin typeface="微软雅黑" panose="020B0503020204020204" charset="-122"/>
                <a:ea typeface="微软雅黑" panose="020B0503020204020204" charset="-122"/>
              </a:rPr>
              <a:t>专用计算机</a:t>
            </a:r>
            <a:r>
              <a:rPr lang="zh-CN" altLang="en-US" sz="3200" dirty="0">
                <a:latin typeface="微软雅黑" panose="020B0503020204020204" charset="-122"/>
                <a:ea typeface="微软雅黑" panose="020B0503020204020204" charset="-122"/>
              </a:rPr>
              <a:t>针对某类问题能显示出最有效、最快速和最经济的特性，但它的适应性较差，不适于其它方面的应用。 </a:t>
            </a:r>
            <a:endParaRPr lang="zh-CN" altLang="en-US" sz="3200" dirty="0">
              <a:latin typeface="微软雅黑" panose="020B0503020204020204" charset="-122"/>
              <a:ea typeface="微软雅黑" panose="020B0503020204020204" charset="-122"/>
            </a:endParaRPr>
          </a:p>
          <a:p>
            <a:pPr>
              <a:lnSpc>
                <a:spcPct val="120000"/>
              </a:lnSpc>
            </a:pPr>
            <a:r>
              <a:rPr lang="zh-CN" altLang="en-US" sz="3200" dirty="0">
                <a:latin typeface="微软雅黑" panose="020B0503020204020204" charset="-122"/>
                <a:ea typeface="微软雅黑" panose="020B0503020204020204" charset="-122"/>
              </a:rPr>
              <a:t>    </a:t>
            </a:r>
            <a:r>
              <a:rPr lang="zh-CN" altLang="en-US" sz="3200" dirty="0">
                <a:solidFill>
                  <a:srgbClr val="FF0000"/>
                </a:solidFill>
                <a:latin typeface="微软雅黑" panose="020B0503020204020204" charset="-122"/>
                <a:ea typeface="微软雅黑" panose="020B0503020204020204" charset="-122"/>
              </a:rPr>
              <a:t>通用计算机</a:t>
            </a:r>
            <a:r>
              <a:rPr lang="zh-CN" altLang="en-US" sz="3200" dirty="0">
                <a:latin typeface="微软雅黑" panose="020B0503020204020204" charset="-122"/>
                <a:ea typeface="微软雅黑" panose="020B0503020204020204" charset="-122"/>
              </a:rPr>
              <a:t>按</a:t>
            </a:r>
            <a:r>
              <a:rPr lang="zh-CN" altLang="en-US" sz="3200" dirty="0" smtClean="0">
                <a:latin typeface="微软雅黑" panose="020B0503020204020204" charset="-122"/>
                <a:ea typeface="微软雅黑" panose="020B0503020204020204" charset="-122"/>
              </a:rPr>
              <a:t>其体积、简易型、功率损耗、性能指标、数据</a:t>
            </a:r>
            <a:r>
              <a:rPr lang="zh-CN" altLang="en-US" sz="3200" dirty="0">
                <a:latin typeface="微软雅黑" panose="020B0503020204020204" charset="-122"/>
                <a:ea typeface="微软雅黑" panose="020B0503020204020204" charset="-122"/>
              </a:rPr>
              <a:t>存储容量、指令系统规模和机器价格</a:t>
            </a:r>
            <a:r>
              <a:rPr lang="zh-CN" altLang="en-US" sz="3200" dirty="0" smtClean="0">
                <a:latin typeface="微软雅黑" panose="020B0503020204020204" charset="-122"/>
                <a:ea typeface="微软雅黑" panose="020B0503020204020204" charset="-122"/>
              </a:rPr>
              <a:t>等又</a:t>
            </a:r>
            <a:r>
              <a:rPr lang="zh-CN" altLang="en-US" sz="3200" dirty="0">
                <a:latin typeface="微软雅黑" panose="020B0503020204020204" charset="-122"/>
                <a:ea typeface="微软雅黑" panose="020B0503020204020204" charset="-122"/>
              </a:rPr>
              <a:t>可</a:t>
            </a:r>
            <a:r>
              <a:rPr lang="zh-CN" altLang="en-US" sz="3200" dirty="0" smtClean="0">
                <a:latin typeface="微软雅黑" panose="020B0503020204020204" charset="-122"/>
                <a:ea typeface="微软雅黑" panose="020B0503020204020204" charset="-122"/>
              </a:rPr>
              <a:t>分为超级计算机、</a:t>
            </a:r>
            <a:r>
              <a:rPr lang="zh-CN" altLang="en-US" sz="3200" dirty="0">
                <a:latin typeface="微软雅黑" panose="020B0503020204020204" charset="-122"/>
                <a:ea typeface="微软雅黑" panose="020B0503020204020204" charset="-122"/>
              </a:rPr>
              <a:t>大型机</a:t>
            </a:r>
            <a:r>
              <a:rPr lang="zh-CN" altLang="en-US" sz="3200" dirty="0" smtClean="0">
                <a:latin typeface="微软雅黑" panose="020B0503020204020204" charset="-122"/>
                <a:ea typeface="微软雅黑" panose="020B0503020204020204" charset="-122"/>
              </a:rPr>
              <a:t>、服务器、</a:t>
            </a:r>
            <a:r>
              <a:rPr lang="en-US" altLang="zh-CN" sz="3200" dirty="0" smtClean="0">
                <a:latin typeface="微软雅黑" panose="020B0503020204020204" charset="-122"/>
                <a:ea typeface="微软雅黑" panose="020B0503020204020204" charset="-122"/>
              </a:rPr>
              <a:t>PC</a:t>
            </a:r>
            <a:r>
              <a:rPr lang="zh-CN" altLang="en-US" sz="3200" dirty="0" smtClean="0">
                <a:latin typeface="微软雅黑" panose="020B0503020204020204" charset="-122"/>
                <a:ea typeface="微软雅黑" panose="020B0503020204020204" charset="-122"/>
              </a:rPr>
              <a:t>机、单片机和多核机。</a:t>
            </a:r>
            <a:endParaRPr lang="zh-CN" altLang="en-US" sz="3200" dirty="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074"/>
          <p:cNvSpPr>
            <a:spLocks noChangeArrowheads="1"/>
          </p:cNvSpPr>
          <p:nvPr/>
        </p:nvSpPr>
        <p:spPr bwMode="auto">
          <a:xfrm>
            <a:off x="182563" y="260350"/>
            <a:ext cx="8640762" cy="5507990"/>
          </a:xfrm>
          <a:prstGeom prst="rect">
            <a:avLst/>
          </a:prstGeom>
          <a:noFill/>
          <a:ln w="9525">
            <a:noFill/>
            <a:miter lim="800000"/>
          </a:ln>
        </p:spPr>
        <p:txBody>
          <a:bodyPr>
            <a:spAutoFit/>
          </a:bodyPr>
          <a:lstStyle/>
          <a:p>
            <a:pPr algn="just">
              <a:spcBef>
                <a:spcPts val="1200"/>
              </a:spcBef>
            </a:pPr>
            <a:r>
              <a:rPr lang="en-US" altLang="zh-CN" sz="4000" b="1">
                <a:solidFill>
                  <a:srgbClr val="CC0000"/>
                </a:solidFill>
                <a:latin typeface="黑体" panose="02010609060101010101" pitchFamily="2" charset="-122"/>
                <a:ea typeface="黑体" panose="02010609060101010101" pitchFamily="2" charset="-122"/>
              </a:rPr>
              <a:t>1.2 </a:t>
            </a:r>
            <a:r>
              <a:rPr lang="zh-CN" altLang="en-US" sz="4000" b="1">
                <a:solidFill>
                  <a:srgbClr val="CC0000"/>
                </a:solidFill>
                <a:latin typeface="黑体" panose="02010609060101010101" pitchFamily="2" charset="-122"/>
                <a:ea typeface="黑体" panose="02010609060101010101" pitchFamily="2" charset="-122"/>
              </a:rPr>
              <a:t>计算机的发展简史</a:t>
            </a:r>
            <a:endParaRPr lang="zh-CN" altLang="en-US" sz="4000" b="1">
              <a:solidFill>
                <a:srgbClr val="CC0000"/>
              </a:solidFill>
              <a:latin typeface="黑体" panose="02010609060101010101" pitchFamily="2" charset="-122"/>
              <a:ea typeface="黑体" panose="02010609060101010101" pitchFamily="2" charset="-122"/>
            </a:endParaRPr>
          </a:p>
          <a:p>
            <a:pPr algn="just" eaLnBrk="0" hangingPunct="0">
              <a:spcBef>
                <a:spcPts val="1200"/>
              </a:spcBef>
            </a:pPr>
            <a:r>
              <a:rPr lang="zh-CN" altLang="en-US" sz="3600" b="1">
                <a:latin typeface="黑体" panose="02010609060101010101" pitchFamily="2" charset="-122"/>
                <a:ea typeface="黑体" panose="02010609060101010101" pitchFamily="2" charset="-122"/>
              </a:rPr>
              <a:t> </a:t>
            </a:r>
            <a:r>
              <a:rPr lang="zh-CN" altLang="en-US" sz="3600" b="1">
                <a:solidFill>
                  <a:srgbClr val="FF0000"/>
                </a:solidFill>
                <a:latin typeface="黑体" panose="02010609060101010101" pitchFamily="2" charset="-122"/>
                <a:ea typeface="黑体" panose="02010609060101010101" pitchFamily="2" charset="-122"/>
              </a:rPr>
              <a:t>以计算机所采用的逻辑元件作为标准</a:t>
            </a:r>
            <a:endParaRPr lang="zh-CN" altLang="en-US" sz="3600" b="1">
              <a:solidFill>
                <a:srgbClr val="FF0000"/>
              </a:solidFill>
              <a:latin typeface="黑体" panose="02010609060101010101" pitchFamily="2" charset="-122"/>
              <a:ea typeface="黑体" panose="02010609060101010101" pitchFamily="2" charset="-122"/>
            </a:endParaRPr>
          </a:p>
          <a:p>
            <a:pPr algn="just" eaLnBrk="0" hangingPunct="0">
              <a:spcBef>
                <a:spcPts val="1200"/>
              </a:spcBef>
            </a:pPr>
            <a:r>
              <a:rPr lang="zh-CN" altLang="en-US" sz="3600" b="1">
                <a:latin typeface="黑体" panose="02010609060101010101" pitchFamily="2" charset="-122"/>
                <a:ea typeface="黑体" panose="02010609060101010101" pitchFamily="2" charset="-122"/>
              </a:rPr>
              <a:t>    第一代 电子管</a:t>
            </a:r>
            <a:endParaRPr lang="zh-CN" altLang="en-US" sz="3600" b="1">
              <a:latin typeface="黑体" panose="02010609060101010101" pitchFamily="2" charset="-122"/>
              <a:ea typeface="黑体" panose="02010609060101010101" pitchFamily="2" charset="-122"/>
            </a:endParaRPr>
          </a:p>
          <a:p>
            <a:pPr algn="just" eaLnBrk="0" hangingPunct="0">
              <a:spcBef>
                <a:spcPts val="1200"/>
              </a:spcBef>
            </a:pPr>
            <a:r>
              <a:rPr lang="zh-CN" altLang="en-US" sz="3600" b="1">
                <a:latin typeface="黑体" panose="02010609060101010101" pitchFamily="2" charset="-122"/>
                <a:ea typeface="黑体" panose="02010609060101010101" pitchFamily="2" charset="-122"/>
              </a:rPr>
              <a:t>    第二代 晶体管</a:t>
            </a:r>
            <a:endParaRPr lang="zh-CN" altLang="en-US" sz="3600" b="1">
              <a:latin typeface="黑体" panose="02010609060101010101" pitchFamily="2" charset="-122"/>
              <a:ea typeface="黑体" panose="02010609060101010101" pitchFamily="2" charset="-122"/>
            </a:endParaRPr>
          </a:p>
          <a:p>
            <a:pPr algn="just" eaLnBrk="0" hangingPunct="0">
              <a:spcBef>
                <a:spcPts val="1200"/>
              </a:spcBef>
            </a:pPr>
            <a:r>
              <a:rPr lang="zh-CN" altLang="en-US" sz="3600" b="1">
                <a:latin typeface="黑体" panose="02010609060101010101" pitchFamily="2" charset="-122"/>
                <a:ea typeface="黑体" panose="02010609060101010101" pitchFamily="2" charset="-122"/>
              </a:rPr>
              <a:t>    第三代 中、小规模集成</a:t>
            </a:r>
            <a:endParaRPr lang="zh-CN" altLang="en-US" sz="3600" b="1">
              <a:latin typeface="黑体" panose="02010609060101010101" pitchFamily="2" charset="-122"/>
              <a:ea typeface="黑体" panose="02010609060101010101" pitchFamily="2" charset="-122"/>
            </a:endParaRPr>
          </a:p>
          <a:p>
            <a:pPr eaLnBrk="0" hangingPunct="0">
              <a:spcBef>
                <a:spcPts val="1200"/>
              </a:spcBef>
            </a:pPr>
            <a:r>
              <a:rPr lang="zh-CN" altLang="en-US" sz="3600" b="1">
                <a:latin typeface="黑体" panose="02010609060101010101" pitchFamily="2" charset="-122"/>
                <a:ea typeface="黑体" panose="02010609060101010101" pitchFamily="2" charset="-122"/>
              </a:rPr>
              <a:t>    第四代 大规模和超大规模集成电路</a:t>
            </a:r>
            <a:endParaRPr lang="zh-CN" altLang="en-US" sz="3600" b="1">
              <a:latin typeface="黑体" panose="02010609060101010101" pitchFamily="2" charset="-122"/>
              <a:ea typeface="黑体" panose="02010609060101010101" pitchFamily="2" charset="-122"/>
            </a:endParaRPr>
          </a:p>
          <a:p>
            <a:pPr eaLnBrk="0" hangingPunct="0">
              <a:spcBef>
                <a:spcPts val="1200"/>
              </a:spcBef>
            </a:pPr>
            <a:r>
              <a:rPr lang="zh-CN" altLang="en-US" sz="3600" b="1">
                <a:latin typeface="黑体" panose="02010609060101010101" pitchFamily="2" charset="-122"/>
                <a:ea typeface="黑体" panose="02010609060101010101" pitchFamily="2" charset="-122"/>
              </a:rPr>
              <a:t>    第五代计算机，是对第四代计算机以</a:t>
            </a:r>
            <a:r>
              <a:rPr lang="en-US" altLang="zh-CN" sz="3600" b="1">
                <a:latin typeface="黑体" panose="02010609060101010101" pitchFamily="2" charset="-122"/>
                <a:ea typeface="黑体" panose="02010609060101010101" pitchFamily="2" charset="-122"/>
              </a:rPr>
              <a:t>    </a:t>
            </a:r>
            <a:r>
              <a:rPr lang="zh-CN" altLang="en-US" sz="3600" b="1">
                <a:latin typeface="黑体" panose="02010609060101010101" pitchFamily="2" charset="-122"/>
                <a:ea typeface="黑体" panose="02010609060101010101" pitchFamily="2" charset="-122"/>
              </a:rPr>
              <a:t>后的各种未来型计算机的总称。  </a:t>
            </a:r>
            <a:endParaRPr lang="zh-CN" altLang="en-US" sz="3600" b="1">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0" y="1768475"/>
            <a:ext cx="9144000" cy="641350"/>
          </a:xfrm>
          <a:prstGeom prst="rect">
            <a:avLst/>
          </a:prstGeom>
          <a:noFill/>
          <a:ln w="9525">
            <a:noFill/>
            <a:miter lim="800000"/>
          </a:ln>
        </p:spPr>
        <p:txBody>
          <a:bodyPr>
            <a:spAutoFit/>
          </a:bodyPr>
          <a:lstStyle/>
          <a:p>
            <a:endParaRPr lang="en-US" altLang="zh-CN"/>
          </a:p>
          <a:p>
            <a:pPr lvl="1" eaLnBrk="0" hangingPunct="0"/>
            <a:endParaRPr lang="en-US" altLang="zh-CN"/>
          </a:p>
        </p:txBody>
      </p:sp>
      <p:sp>
        <p:nvSpPr>
          <p:cNvPr id="19459" name="Rectangle 3"/>
          <p:cNvSpPr>
            <a:spLocks noChangeArrowheads="1"/>
          </p:cNvSpPr>
          <p:nvPr/>
        </p:nvSpPr>
        <p:spPr bwMode="auto">
          <a:xfrm>
            <a:off x="228600" y="228600"/>
            <a:ext cx="8686800" cy="6018213"/>
          </a:xfrm>
          <a:prstGeom prst="rect">
            <a:avLst/>
          </a:prstGeom>
          <a:noFill/>
          <a:ln w="9525">
            <a:noFill/>
            <a:miter lim="800000"/>
          </a:ln>
        </p:spPr>
        <p:txBody>
          <a:bodyPr tIns="15870" rIns="228528" bIns="92046">
            <a:spAutoFit/>
          </a:bodyPr>
          <a:lstStyle/>
          <a:p>
            <a:pPr eaLnBrk="0" hangingPunct="0">
              <a:spcBef>
                <a:spcPts val="1200"/>
              </a:spcBef>
            </a:pPr>
            <a:r>
              <a:rPr lang="zh-CN" altLang="en-US" sz="4000" dirty="0">
                <a:solidFill>
                  <a:srgbClr val="CC0000"/>
                </a:solidFill>
                <a:latin typeface="黑体" panose="02010609060101010101" pitchFamily="2" charset="-122"/>
                <a:ea typeface="黑体" panose="02010609060101010101" pitchFamily="2" charset="-122"/>
              </a:rPr>
              <a:t>计算机发展方向</a:t>
            </a:r>
            <a:endParaRPr lang="zh-CN" altLang="en-US" sz="4000" dirty="0">
              <a:solidFill>
                <a:srgbClr val="CC0000"/>
              </a:solidFill>
              <a:latin typeface="黑体" panose="02010609060101010101" pitchFamily="2" charset="-122"/>
              <a:ea typeface="黑体" panose="02010609060101010101" pitchFamily="2" charset="-122"/>
            </a:endParaRPr>
          </a:p>
          <a:p>
            <a:pPr eaLnBrk="0" hangingPunct="0">
              <a:spcBef>
                <a:spcPts val="1200"/>
              </a:spcBef>
            </a:pPr>
            <a:r>
              <a:rPr lang="zh-CN" altLang="en-US" sz="3600" dirty="0">
                <a:latin typeface="黑体" panose="02010609060101010101" pitchFamily="2" charset="-122"/>
                <a:ea typeface="黑体" panose="02010609060101010101" pitchFamily="2" charset="-122"/>
              </a:rPr>
              <a:t>    计算机技术是当今世界发展最快的科学技术之一，未来的计算机将向巨型化、微型化、网络化、智能化等的方向发展。</a:t>
            </a:r>
            <a:endParaRPr lang="zh-CN" altLang="en-US" sz="3600" dirty="0">
              <a:latin typeface="黑体" panose="02010609060101010101" pitchFamily="2" charset="-122"/>
              <a:ea typeface="黑体" panose="02010609060101010101" pitchFamily="2" charset="-122"/>
            </a:endParaRPr>
          </a:p>
          <a:p>
            <a:pPr eaLnBrk="0" hangingPunct="0">
              <a:spcBef>
                <a:spcPts val="1200"/>
              </a:spcBef>
            </a:pPr>
            <a:r>
              <a:rPr lang="zh-CN" altLang="en-US" sz="3600" dirty="0">
                <a:latin typeface="黑体" panose="02010609060101010101" pitchFamily="2" charset="-122"/>
                <a:ea typeface="黑体" panose="02010609060101010101" pitchFamily="2" charset="-122"/>
              </a:rPr>
              <a:t>    </a:t>
            </a:r>
            <a:r>
              <a:rPr lang="zh-CN" altLang="en-US" sz="3600" dirty="0">
                <a:solidFill>
                  <a:srgbClr val="FF0000"/>
                </a:solidFill>
                <a:latin typeface="黑体" panose="02010609060101010101" pitchFamily="2" charset="-122"/>
                <a:ea typeface="黑体" panose="02010609060101010101" pitchFamily="2" charset="-122"/>
              </a:rPr>
              <a:t>巨型化：</a:t>
            </a:r>
            <a:r>
              <a:rPr lang="zh-CN" altLang="en-US" sz="3600" dirty="0">
                <a:latin typeface="黑体" panose="02010609060101010101" pitchFamily="2" charset="-122"/>
                <a:ea typeface="黑体" panose="02010609060101010101" pitchFamily="2" charset="-122"/>
              </a:rPr>
              <a:t>发展高速的、大存储量和强大功能的巨型计算机。巨型计算机主要应用于天文、气象、地质和核技术、航天飞机、卫星轨道计算等尖端科学技术领域。研制巨型计算机的技术水平是衡量一个国家科学技术和工业发展水平的重要标志。</a:t>
            </a:r>
            <a:endParaRPr lang="zh-CN" altLang="en-US"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250825" y="260350"/>
            <a:ext cx="8686800" cy="6134100"/>
          </a:xfrm>
          <a:prstGeom prst="rect">
            <a:avLst/>
          </a:prstGeom>
          <a:noFill/>
          <a:ln w="9525">
            <a:noFill/>
            <a:miter lim="800000"/>
          </a:ln>
        </p:spPr>
        <p:txBody>
          <a:bodyPr>
            <a:spAutoFit/>
          </a:bodyPr>
          <a:lstStyle/>
          <a:p>
            <a:r>
              <a:rPr lang="en-US" altLang="zh-CN" sz="3600">
                <a:latin typeface="黑体" panose="02010609060101010101" pitchFamily="2" charset="-122"/>
                <a:ea typeface="黑体" panose="02010609060101010101" pitchFamily="2" charset="-122"/>
              </a:rPr>
              <a:t>    </a:t>
            </a:r>
            <a:r>
              <a:rPr lang="zh-CN" altLang="en-US" sz="3600">
                <a:solidFill>
                  <a:srgbClr val="FF0000"/>
                </a:solidFill>
                <a:latin typeface="黑体" panose="02010609060101010101" pitchFamily="2" charset="-122"/>
                <a:ea typeface="黑体" panose="02010609060101010101" pitchFamily="2" charset="-122"/>
              </a:rPr>
              <a:t>微型化：</a:t>
            </a:r>
            <a:r>
              <a:rPr lang="zh-CN" altLang="en-US" sz="3600">
                <a:latin typeface="黑体" panose="02010609060101010101" pitchFamily="2" charset="-122"/>
                <a:ea typeface="黑体" panose="02010609060101010101" pitchFamily="2" charset="-122"/>
              </a:rPr>
              <a:t>利用微电子技术和超大规模集成电路技术，把计算机的体积进一步缩小，价格进一步降低，计算机的微型化已成为计算机发展的重要方向。各种笔记本式计算机和掌上计算机的大量面世和使用，是计算机微型化的一个标志。嵌入式系统通常将微小的计算机系统埋藏在宿主设备中，此类计算机一般不被设备使用者在意，亦称埋藏式计算机。这是计算机的微型化应用最多的领域，典型机种如微控制器、微处理器和</a:t>
            </a:r>
            <a:r>
              <a:rPr lang="en-US" altLang="zh-CN" sz="3600">
                <a:latin typeface="黑体" panose="02010609060101010101" pitchFamily="2" charset="-122"/>
                <a:ea typeface="黑体" panose="02010609060101010101" pitchFamily="2" charset="-122"/>
              </a:rPr>
              <a:t>DSP</a:t>
            </a:r>
            <a:r>
              <a:rPr lang="zh-CN" altLang="en-US" sz="3600">
                <a:latin typeface="黑体" panose="02010609060101010101" pitchFamily="2" charset="-122"/>
                <a:ea typeface="黑体" panose="02010609060101010101" pitchFamily="2" charset="-122"/>
              </a:rPr>
              <a:t>等。</a:t>
            </a:r>
            <a:endParaRPr lang="zh-CN" altLang="en-US" sz="3600">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250825" y="404813"/>
            <a:ext cx="8610600" cy="4831080"/>
          </a:xfrm>
          <a:prstGeom prst="rect">
            <a:avLst/>
          </a:prstGeom>
          <a:noFill/>
          <a:ln w="9525">
            <a:noFill/>
            <a:miter lim="800000"/>
          </a:ln>
        </p:spPr>
        <p:txBody>
          <a:bodyPr>
            <a:spAutoFit/>
          </a:bodyPr>
          <a:lstStyle/>
          <a:p>
            <a:pPr>
              <a:spcBef>
                <a:spcPts val="1200"/>
              </a:spcBef>
              <a:spcAft>
                <a:spcPts val="1200"/>
              </a:spcAft>
              <a:tabLst>
                <a:tab pos="457200" algn="l"/>
              </a:tabLst>
            </a:pPr>
            <a:r>
              <a:rPr lang="en-US" altLang="zh-CN" sz="3600">
                <a:latin typeface="黑体" panose="02010609060101010101" pitchFamily="2" charset="-122"/>
                <a:ea typeface="黑体" panose="02010609060101010101" pitchFamily="2" charset="-122"/>
              </a:rPr>
              <a:t>    </a:t>
            </a:r>
            <a:r>
              <a:rPr lang="zh-CN" altLang="en-US" sz="3600">
                <a:solidFill>
                  <a:srgbClr val="FF0000"/>
                </a:solidFill>
                <a:latin typeface="黑体" panose="02010609060101010101" pitchFamily="2" charset="-122"/>
                <a:ea typeface="黑体" panose="02010609060101010101" pitchFamily="2" charset="-122"/>
              </a:rPr>
              <a:t>网络化：</a:t>
            </a:r>
            <a:r>
              <a:rPr lang="zh-CN" altLang="en-US" sz="3600">
                <a:latin typeface="黑体" panose="02010609060101010101" pitchFamily="2" charset="-122"/>
                <a:ea typeface="黑体" panose="02010609060101010101" pitchFamily="2" charset="-122"/>
              </a:rPr>
              <a:t>计算机发展的又一个趋势是</a:t>
            </a:r>
            <a:r>
              <a:rPr lang="zh-CN" altLang="en-US" sz="3600">
                <a:latin typeface="黑体" panose="02010609060101010101" pitchFamily="2" charset="-122"/>
                <a:ea typeface="黑体" panose="02010609060101010101" pitchFamily="2" charset="-122"/>
              </a:rPr>
              <a:t>从单机走向联网，是计算机应用发展的必然结果。所谓计算机网络化，是指用现代通讯技术和计算机技术把分布在不同地点的计算机互联起来，组成一个规模更大、功能更强的可以互相通信的网络结构。</a:t>
            </a:r>
            <a:endParaRPr lang="zh-CN" altLang="en-US" sz="3600">
              <a:latin typeface="黑体" panose="02010609060101010101" pitchFamily="2" charset="-122"/>
              <a:ea typeface="黑体" panose="02010609060101010101" pitchFamily="2" charset="-122"/>
            </a:endParaRPr>
          </a:p>
          <a:p>
            <a:pPr>
              <a:spcBef>
                <a:spcPts val="1200"/>
              </a:spcBef>
              <a:spcAft>
                <a:spcPts val="1200"/>
              </a:spcAft>
              <a:tabLst>
                <a:tab pos="457200" algn="l"/>
              </a:tabLst>
            </a:pPr>
            <a:r>
              <a:rPr lang="zh-CN" altLang="en-US" sz="3600">
                <a:latin typeface="黑体" panose="02010609060101010101" pitchFamily="2" charset="-122"/>
                <a:ea typeface="黑体" panose="02010609060101010101" pitchFamily="2" charset="-122"/>
              </a:rPr>
              <a:t>    网络化的目的是使网络中的软、硬件和数据等资源，能被网络上的用户所共享。</a:t>
            </a:r>
            <a:endParaRPr lang="en-US" altLang="zh-CN" sz="3600">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0" y="2492375"/>
            <a:ext cx="9144000" cy="641350"/>
          </a:xfrm>
          <a:prstGeom prst="rect">
            <a:avLst/>
          </a:prstGeom>
          <a:noFill/>
          <a:ln w="9525">
            <a:noFill/>
            <a:miter lim="800000"/>
          </a:ln>
        </p:spPr>
        <p:txBody>
          <a:bodyPr>
            <a:spAutoFit/>
          </a:bodyPr>
          <a:lstStyle/>
          <a:p>
            <a:endParaRPr lang="en-US" altLang="zh-CN"/>
          </a:p>
          <a:p>
            <a:pPr lvl="1" eaLnBrk="0" hangingPunct="0"/>
            <a:endParaRPr lang="en-US" altLang="zh-CN"/>
          </a:p>
        </p:txBody>
      </p:sp>
      <p:sp>
        <p:nvSpPr>
          <p:cNvPr id="22531" name="Rectangle 3"/>
          <p:cNvSpPr>
            <a:spLocks noChangeArrowheads="1"/>
          </p:cNvSpPr>
          <p:nvPr/>
        </p:nvSpPr>
        <p:spPr bwMode="auto">
          <a:xfrm>
            <a:off x="152400" y="115888"/>
            <a:ext cx="8686800" cy="6569710"/>
          </a:xfrm>
          <a:prstGeom prst="rect">
            <a:avLst/>
          </a:prstGeom>
          <a:noFill/>
          <a:ln w="9525">
            <a:noFill/>
            <a:miter lim="800000"/>
          </a:ln>
        </p:spPr>
        <p:txBody>
          <a:bodyPr tIns="15870" rIns="228528" bIns="92046">
            <a:spAutoFit/>
          </a:bodyPr>
          <a:lstStyle/>
          <a:p>
            <a:pPr>
              <a:spcBef>
                <a:spcPts val="1200"/>
              </a:spcBef>
              <a:spcAft>
                <a:spcPts val="1200"/>
              </a:spcAft>
            </a:pPr>
            <a:r>
              <a:rPr lang="en-US" altLang="zh-CN" sz="3600">
                <a:latin typeface="黑体" panose="02010609060101010101" pitchFamily="2" charset="-122"/>
                <a:ea typeface="黑体" panose="02010609060101010101" pitchFamily="2" charset="-122"/>
              </a:rPr>
              <a:t>    </a:t>
            </a:r>
            <a:r>
              <a:rPr lang="zh-CN" altLang="en-US" sz="3600">
                <a:solidFill>
                  <a:srgbClr val="FF0000"/>
                </a:solidFill>
                <a:latin typeface="黑体" panose="02010609060101010101" pitchFamily="2" charset="-122"/>
                <a:ea typeface="黑体" panose="02010609060101010101" pitchFamily="2" charset="-122"/>
              </a:rPr>
              <a:t>智能化：</a:t>
            </a:r>
            <a:r>
              <a:rPr lang="zh-CN" altLang="en-US" sz="3600">
                <a:latin typeface="黑体" panose="02010609060101010101" pitchFamily="2" charset="-122"/>
                <a:ea typeface="黑体" panose="02010609060101010101" pitchFamily="2" charset="-122"/>
              </a:rPr>
              <a:t>指使计算机具有模拟人的感觉和思维过程的能力。新一代计算机，将可以模拟人的感觉行为和思维过程的机理，进行“看、听、说、想、做”，具有逻辑推理、学习与证明的能力。</a:t>
            </a:r>
            <a:endParaRPr lang="en-US" altLang="zh-CN" sz="3600">
              <a:latin typeface="黑体" panose="02010609060101010101" pitchFamily="2" charset="-122"/>
              <a:ea typeface="黑体" panose="02010609060101010101" pitchFamily="2" charset="-122"/>
            </a:endParaRPr>
          </a:p>
          <a:p>
            <a:pPr>
              <a:spcBef>
                <a:spcPts val="1200"/>
              </a:spcBef>
              <a:spcAft>
                <a:spcPts val="1200"/>
              </a:spcAft>
            </a:pPr>
            <a:r>
              <a:rPr lang="en-US" altLang="zh-CN" sz="3600">
                <a:latin typeface="黑体" panose="02010609060101010101" pitchFamily="2" charset="-122"/>
                <a:ea typeface="黑体" panose="02010609060101010101" pitchFamily="2" charset="-122"/>
              </a:rPr>
              <a:t>    </a:t>
            </a:r>
            <a:r>
              <a:rPr lang="zh-CN" altLang="en-US" sz="3600">
                <a:latin typeface="黑体" panose="02010609060101010101" pitchFamily="2" charset="-122"/>
                <a:ea typeface="黑体" panose="02010609060101010101" pitchFamily="2" charset="-122"/>
              </a:rPr>
              <a:t>计算机的发展趋势是向</a:t>
            </a:r>
            <a:r>
              <a:rPr lang="en-US" altLang="zh-CN" sz="3600">
                <a:latin typeface="黑体" panose="02010609060101010101" pitchFamily="2" charset="-122"/>
                <a:ea typeface="黑体" panose="02010609060101010101" pitchFamily="2" charset="-122"/>
              </a:rPr>
              <a:t>"</a:t>
            </a:r>
            <a:r>
              <a:rPr lang="zh-CN" altLang="en-US" sz="3600">
                <a:latin typeface="黑体" panose="02010609060101010101" pitchFamily="2" charset="-122"/>
                <a:ea typeface="黑体" panose="02010609060101010101" pitchFamily="2" charset="-122"/>
              </a:rPr>
              <a:t>两极</a:t>
            </a:r>
            <a:r>
              <a:rPr lang="en-US" altLang="zh-CN" sz="3600">
                <a:latin typeface="黑体" panose="02010609060101010101" pitchFamily="2" charset="-122"/>
                <a:ea typeface="黑体" panose="02010609060101010101" pitchFamily="2" charset="-122"/>
              </a:rPr>
              <a:t>"</a:t>
            </a:r>
            <a:r>
              <a:rPr lang="zh-CN" altLang="en-US" sz="3600">
                <a:latin typeface="黑体" panose="02010609060101010101" pitchFamily="2" charset="-122"/>
                <a:ea typeface="黑体" panose="02010609060101010101" pitchFamily="2" charset="-122"/>
              </a:rPr>
              <a:t>分化。</a:t>
            </a:r>
            <a:endParaRPr lang="zh-CN" altLang="en-US" sz="3600">
              <a:latin typeface="黑体" panose="02010609060101010101" pitchFamily="2" charset="-122"/>
              <a:ea typeface="黑体" panose="02010609060101010101" pitchFamily="2" charset="-122"/>
            </a:endParaRPr>
          </a:p>
          <a:p>
            <a:pPr>
              <a:spcBef>
                <a:spcPts val="1200"/>
              </a:spcBef>
              <a:spcAft>
                <a:spcPts val="1200"/>
              </a:spcAft>
            </a:pPr>
            <a:r>
              <a:rPr lang="zh-CN" altLang="en-US" sz="3600">
                <a:latin typeface="黑体" panose="02010609060101010101" pitchFamily="2" charset="-122"/>
                <a:ea typeface="黑体" panose="02010609060101010101" pitchFamily="2" charset="-122"/>
              </a:rPr>
              <a:t>　　一极是微型机向更微型化、网络化、高性能、多用途方向发展。</a:t>
            </a:r>
            <a:endParaRPr lang="zh-CN" altLang="en-US" sz="3600">
              <a:latin typeface="黑体" panose="02010609060101010101" pitchFamily="2" charset="-122"/>
              <a:ea typeface="黑体" panose="02010609060101010101" pitchFamily="2" charset="-122"/>
            </a:endParaRPr>
          </a:p>
          <a:p>
            <a:pPr>
              <a:spcBef>
                <a:spcPts val="1200"/>
              </a:spcBef>
              <a:spcAft>
                <a:spcPts val="1200"/>
              </a:spcAft>
            </a:pPr>
            <a:r>
              <a:rPr lang="zh-CN" altLang="en-US" sz="3600">
                <a:latin typeface="黑体" panose="02010609060101010101" pitchFamily="2" charset="-122"/>
                <a:ea typeface="黑体" panose="02010609060101010101" pitchFamily="2" charset="-122"/>
              </a:rPr>
              <a:t>　　一极则是巨型机向更巨型化、超高速、并行处理、智能化方向发展。</a:t>
            </a:r>
            <a:endParaRPr lang="zh-CN" altLang="en-US" sz="3600">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3"/>
          <p:cNvSpPr>
            <a:spLocks noChangeArrowheads="1"/>
          </p:cNvSpPr>
          <p:nvPr/>
        </p:nvSpPr>
        <p:spPr bwMode="auto">
          <a:xfrm>
            <a:off x="323850" y="44450"/>
            <a:ext cx="8569325" cy="6916420"/>
          </a:xfrm>
          <a:prstGeom prst="rect">
            <a:avLst/>
          </a:prstGeom>
          <a:noFill/>
          <a:ln w="9525">
            <a:noFill/>
            <a:miter lim="800000"/>
          </a:ln>
        </p:spPr>
        <p:txBody>
          <a:bodyPr>
            <a:spAutoFit/>
          </a:bodyPr>
          <a:lstStyle/>
          <a:p>
            <a:pPr>
              <a:spcAft>
                <a:spcPts val="1800"/>
              </a:spcAft>
            </a:pPr>
            <a:r>
              <a:rPr lang="zh-CN" altLang="zh-CN" sz="4000">
                <a:solidFill>
                  <a:srgbClr val="FF0000"/>
                </a:solidFill>
                <a:latin typeface="黑体" panose="02010609060101010101" pitchFamily="2" charset="-122"/>
                <a:ea typeface="黑体" panose="02010609060101010101" pitchFamily="2" charset="-122"/>
              </a:rPr>
              <a:t>计算机的性能指标：</a:t>
            </a:r>
            <a:endParaRPr lang="zh-CN" altLang="zh-CN" sz="3600">
              <a:latin typeface="黑体" panose="02010609060101010101" pitchFamily="2" charset="-122"/>
              <a:ea typeface="黑体" panose="02010609060101010101" pitchFamily="2" charset="-122"/>
            </a:endParaRPr>
          </a:p>
          <a:p>
            <a:pPr>
              <a:lnSpc>
                <a:spcPct val="120000"/>
              </a:lnSpc>
            </a:pPr>
            <a:r>
              <a:rPr lang="zh-CN" altLang="zh-CN" sz="3600" b="1">
                <a:solidFill>
                  <a:srgbClr val="FF0000"/>
                </a:solidFill>
                <a:latin typeface="黑体" panose="02010609060101010101" pitchFamily="2" charset="-122"/>
                <a:ea typeface="黑体" panose="02010609060101010101" pitchFamily="2" charset="-122"/>
              </a:rPr>
              <a:t>吞吐量</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表征一台计算机在某一时间间隔内能够处理的信息量，单位是字节/秒（B/S）。</a:t>
            </a:r>
            <a:br>
              <a:rPr lang="zh-CN" altLang="zh-CN" sz="3600">
                <a:latin typeface="黑体" panose="02010609060101010101" pitchFamily="2" charset="-122"/>
                <a:ea typeface="黑体" panose="02010609060101010101" pitchFamily="2" charset="-122"/>
              </a:rPr>
            </a:br>
            <a:r>
              <a:rPr lang="zh-CN" altLang="zh-CN" sz="3600" b="1">
                <a:solidFill>
                  <a:srgbClr val="FF0000"/>
                </a:solidFill>
                <a:latin typeface="黑体" panose="02010609060101010101" pitchFamily="2" charset="-122"/>
                <a:ea typeface="黑体" panose="02010609060101010101" pitchFamily="2" charset="-122"/>
              </a:rPr>
              <a:t>响应时间</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表征从输入有效到系统产生响应之间的时间，用时间单位来度量，例如微秒（10</a:t>
            </a:r>
            <a:r>
              <a:rPr lang="zh-CN" altLang="zh-CN" sz="3600" baseline="30000">
                <a:latin typeface="黑体" panose="02010609060101010101" pitchFamily="2" charset="-122"/>
                <a:ea typeface="黑体" panose="02010609060101010101" pitchFamily="2" charset="-122"/>
              </a:rPr>
              <a:t>-6</a:t>
            </a:r>
            <a:r>
              <a:rPr lang="zh-CN" altLang="zh-CN" sz="3600">
                <a:latin typeface="黑体" panose="02010609060101010101" pitchFamily="2" charset="-122"/>
                <a:ea typeface="黑体" panose="02010609060101010101" pitchFamily="2" charset="-122"/>
              </a:rPr>
              <a:t>S）、纳秒（10</a:t>
            </a:r>
            <a:r>
              <a:rPr lang="zh-CN" altLang="zh-CN" sz="3600" baseline="30000">
                <a:latin typeface="黑体" panose="02010609060101010101" pitchFamily="2" charset="-122"/>
                <a:ea typeface="黑体" panose="02010609060101010101" pitchFamily="2" charset="-122"/>
              </a:rPr>
              <a:t>-9</a:t>
            </a:r>
            <a:r>
              <a:rPr lang="zh-CN" altLang="zh-CN" sz="3600">
                <a:latin typeface="黑体" panose="02010609060101010101" pitchFamily="2" charset="-122"/>
                <a:ea typeface="黑体" panose="02010609060101010101" pitchFamily="2" charset="-122"/>
              </a:rPr>
              <a:t>S）。</a:t>
            </a:r>
            <a:br>
              <a:rPr lang="zh-CN" altLang="zh-CN" sz="3600">
                <a:latin typeface="黑体" panose="02010609060101010101" pitchFamily="2" charset="-122"/>
                <a:ea typeface="黑体" panose="02010609060101010101" pitchFamily="2" charset="-122"/>
              </a:rPr>
            </a:br>
            <a:r>
              <a:rPr lang="zh-CN" altLang="zh-CN" sz="3600" b="1">
                <a:solidFill>
                  <a:srgbClr val="FF0000"/>
                </a:solidFill>
                <a:latin typeface="黑体" panose="02010609060101010101" pitchFamily="2" charset="-122"/>
                <a:ea typeface="黑体" panose="02010609060101010101" pitchFamily="2" charset="-122"/>
              </a:rPr>
              <a:t>利用率</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表示在给定的时间间隔内，系统被实际使用的时间所占的比率，一般用百分比表示。</a:t>
            </a:r>
            <a:endParaRPr lang="zh-CN" altLang="zh-CN" sz="360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3"/>
          <p:cNvSpPr>
            <a:spLocks noChangeArrowheads="1"/>
          </p:cNvSpPr>
          <p:nvPr/>
        </p:nvSpPr>
        <p:spPr bwMode="auto">
          <a:xfrm>
            <a:off x="179388" y="68263"/>
            <a:ext cx="8713787" cy="6740525"/>
          </a:xfrm>
          <a:prstGeom prst="rect">
            <a:avLst/>
          </a:prstGeom>
          <a:solidFill>
            <a:schemeClr val="bg1"/>
          </a:solidFill>
          <a:ln w="9525">
            <a:noFill/>
            <a:miter lim="800000"/>
          </a:ln>
        </p:spPr>
        <p:txBody>
          <a:bodyPr>
            <a:spAutoFit/>
          </a:bodyPr>
          <a:lstStyle/>
          <a:p>
            <a:pPr>
              <a:lnSpc>
                <a:spcPct val="120000"/>
              </a:lnSpc>
            </a:pPr>
            <a:r>
              <a:rPr lang="zh-CN" altLang="zh-CN" sz="3600" b="1">
                <a:solidFill>
                  <a:srgbClr val="FF0000"/>
                </a:solidFill>
                <a:latin typeface="黑体" panose="02010609060101010101" pitchFamily="2" charset="-122"/>
                <a:ea typeface="黑体" panose="02010609060101010101" pitchFamily="2" charset="-122"/>
              </a:rPr>
              <a:t>处理机字长</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指处理机运算器中一次能够完成二进制数运算的位数。当前处理机的字长有8位、16位、32位、64位。字长越长，表示计算的精度越高。 　</a:t>
            </a:r>
            <a:endParaRPr lang="en-US" altLang="zh-CN" sz="3600">
              <a:latin typeface="黑体" panose="02010609060101010101" pitchFamily="2" charset="-122"/>
              <a:ea typeface="黑体" panose="02010609060101010101" pitchFamily="2" charset="-122"/>
            </a:endParaRPr>
          </a:p>
          <a:p>
            <a:pPr>
              <a:lnSpc>
                <a:spcPct val="120000"/>
              </a:lnSpc>
            </a:pPr>
            <a:r>
              <a:rPr lang="zh-CN" altLang="zh-CN" sz="3600" b="1">
                <a:solidFill>
                  <a:srgbClr val="FF0000"/>
                </a:solidFill>
                <a:latin typeface="黑体" panose="02010609060101010101" pitchFamily="2" charset="-122"/>
                <a:ea typeface="黑体" panose="02010609060101010101" pitchFamily="2" charset="-122"/>
              </a:rPr>
              <a:t>总线宽度</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一般指CPU中运算器与存储器之间进行互连的内部总线二进制位数。</a:t>
            </a:r>
            <a:br>
              <a:rPr lang="zh-CN" altLang="zh-CN" sz="3600">
                <a:latin typeface="黑体" panose="02010609060101010101" pitchFamily="2" charset="-122"/>
                <a:ea typeface="黑体" panose="02010609060101010101" pitchFamily="2" charset="-122"/>
              </a:rPr>
            </a:br>
            <a:r>
              <a:rPr lang="zh-CN" altLang="zh-CN" sz="3600" b="1">
                <a:solidFill>
                  <a:srgbClr val="FF0000"/>
                </a:solidFill>
                <a:latin typeface="黑体" panose="02010609060101010101" pitchFamily="2" charset="-122"/>
                <a:ea typeface="黑体" panose="02010609060101010101" pitchFamily="2" charset="-122"/>
              </a:rPr>
              <a:t>存储器容量</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存储器中所有存储单元的总数目，通常用KB、MB、GB、TB来表示。</a:t>
            </a:r>
            <a:endParaRPr lang="en-US" altLang="zh-CN" sz="3600">
              <a:latin typeface="黑体" panose="02010609060101010101" pitchFamily="2" charset="-122"/>
              <a:ea typeface="黑体" panose="02010609060101010101" pitchFamily="2" charset="-122"/>
            </a:endParaRPr>
          </a:p>
          <a:p>
            <a:pPr>
              <a:lnSpc>
                <a:spcPct val="120000"/>
              </a:lnSpc>
            </a:pPr>
            <a:r>
              <a:rPr lang="en-US" altLang="zh-CN" sz="3600">
                <a:latin typeface="黑体" panose="02010609060101010101" pitchFamily="2" charset="-122"/>
                <a:ea typeface="黑体" panose="02010609060101010101" pitchFamily="2" charset="-122"/>
              </a:rPr>
              <a:t>    </a:t>
            </a:r>
            <a:r>
              <a:rPr lang="zh-CN" altLang="zh-CN" sz="3600">
                <a:latin typeface="黑体" panose="02010609060101010101" pitchFamily="2" charset="-122"/>
                <a:ea typeface="黑体" panose="02010609060101010101" pitchFamily="2" charset="-122"/>
              </a:rPr>
              <a:t>其中K=2</a:t>
            </a:r>
            <a:r>
              <a:rPr lang="zh-CN" altLang="zh-CN" sz="3600" baseline="30000">
                <a:latin typeface="黑体" panose="02010609060101010101" pitchFamily="2" charset="-122"/>
                <a:ea typeface="黑体" panose="02010609060101010101" pitchFamily="2" charset="-122"/>
              </a:rPr>
              <a:t>10</a:t>
            </a:r>
            <a:r>
              <a:rPr lang="zh-CN" altLang="zh-CN" sz="3600">
                <a:latin typeface="黑体" panose="02010609060101010101" pitchFamily="2" charset="-122"/>
                <a:ea typeface="黑体" panose="02010609060101010101" pitchFamily="2" charset="-122"/>
              </a:rPr>
              <a:t>，M=2</a:t>
            </a:r>
            <a:r>
              <a:rPr lang="zh-CN" altLang="zh-CN" sz="3600" baseline="30000">
                <a:latin typeface="黑体" panose="02010609060101010101" pitchFamily="2" charset="-122"/>
                <a:ea typeface="黑体" panose="02010609060101010101" pitchFamily="2" charset="-122"/>
              </a:rPr>
              <a:t>20</a:t>
            </a:r>
            <a:r>
              <a:rPr lang="zh-CN" altLang="zh-CN" sz="3600">
                <a:latin typeface="黑体" panose="02010609060101010101" pitchFamily="2" charset="-122"/>
                <a:ea typeface="黑体" panose="02010609060101010101" pitchFamily="2" charset="-122"/>
              </a:rPr>
              <a:t>，G=2</a:t>
            </a:r>
            <a:r>
              <a:rPr lang="zh-CN" altLang="zh-CN" sz="3600" baseline="30000">
                <a:latin typeface="黑体" panose="02010609060101010101" pitchFamily="2" charset="-122"/>
                <a:ea typeface="黑体" panose="02010609060101010101" pitchFamily="2" charset="-122"/>
              </a:rPr>
              <a:t>30</a:t>
            </a:r>
            <a:r>
              <a:rPr lang="zh-CN" altLang="zh-CN" sz="3600">
                <a:latin typeface="黑体" panose="02010609060101010101" pitchFamily="2" charset="-122"/>
                <a:ea typeface="黑体" panose="02010609060101010101" pitchFamily="2" charset="-122"/>
              </a:rPr>
              <a:t>，T=2</a:t>
            </a:r>
            <a:r>
              <a:rPr lang="zh-CN" altLang="zh-CN" sz="3600" baseline="30000">
                <a:latin typeface="黑体" panose="02010609060101010101" pitchFamily="2" charset="-122"/>
                <a:ea typeface="黑体" panose="02010609060101010101" pitchFamily="2" charset="-122"/>
              </a:rPr>
              <a:t>40</a:t>
            </a:r>
            <a:r>
              <a:rPr lang="zh-CN" altLang="zh-CN" sz="3600">
                <a:latin typeface="黑体" panose="02010609060101010101" pitchFamily="2" charset="-122"/>
                <a:ea typeface="黑体" panose="02010609060101010101" pitchFamily="2" charset="-122"/>
              </a:rPr>
              <a:t>，</a:t>
            </a:r>
            <a:endParaRPr lang="en-US" altLang="zh-CN" sz="3600">
              <a:latin typeface="黑体" panose="02010609060101010101" pitchFamily="2" charset="-122"/>
              <a:ea typeface="黑体" panose="02010609060101010101" pitchFamily="2" charset="-122"/>
            </a:endParaRPr>
          </a:p>
          <a:p>
            <a:pPr>
              <a:lnSpc>
                <a:spcPct val="120000"/>
              </a:lnSpc>
            </a:pPr>
            <a:r>
              <a:rPr lang="zh-CN" altLang="zh-CN" sz="3600">
                <a:latin typeface="黑体" panose="02010609060101010101" pitchFamily="2" charset="-122"/>
                <a:ea typeface="黑体" panose="02010609060101010101" pitchFamily="2" charset="-122"/>
              </a:rPr>
              <a:t>B=8位（1个字节）。</a:t>
            </a:r>
            <a:endParaRPr lang="zh-CN" altLang="zh-CN" sz="360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3"/>
          <p:cNvSpPr>
            <a:spLocks noChangeArrowheads="1"/>
          </p:cNvSpPr>
          <p:nvPr/>
        </p:nvSpPr>
        <p:spPr bwMode="auto">
          <a:xfrm>
            <a:off x="179388" y="115888"/>
            <a:ext cx="8785225" cy="6575425"/>
          </a:xfrm>
          <a:prstGeom prst="rect">
            <a:avLst/>
          </a:prstGeom>
          <a:solidFill>
            <a:schemeClr val="bg1"/>
          </a:solidFill>
          <a:ln w="9525">
            <a:noFill/>
            <a:miter lim="800000"/>
          </a:ln>
        </p:spPr>
        <p:txBody>
          <a:bodyPr>
            <a:spAutoFit/>
          </a:bodyPr>
          <a:lstStyle/>
          <a:p>
            <a:pPr>
              <a:lnSpc>
                <a:spcPct val="130000"/>
              </a:lnSpc>
            </a:pPr>
            <a:r>
              <a:rPr lang="zh-CN" altLang="zh-CN" sz="3600" b="1">
                <a:solidFill>
                  <a:srgbClr val="FF0000"/>
                </a:solidFill>
                <a:latin typeface="黑体" panose="02010609060101010101" pitchFamily="2" charset="-122"/>
                <a:ea typeface="黑体" panose="02010609060101010101" pitchFamily="2" charset="-122"/>
              </a:rPr>
              <a:t>存储器带宽</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存储器的速度指标，单位时间内从存储器读出的二进制数信息量，一般用字节数/秒表示。</a:t>
            </a:r>
            <a:br>
              <a:rPr lang="zh-CN" altLang="zh-CN" sz="3600">
                <a:latin typeface="黑体" panose="02010609060101010101" pitchFamily="2" charset="-122"/>
                <a:ea typeface="黑体" panose="02010609060101010101" pitchFamily="2" charset="-122"/>
              </a:rPr>
            </a:br>
            <a:r>
              <a:rPr lang="zh-CN" altLang="zh-CN" sz="3600" b="1">
                <a:solidFill>
                  <a:srgbClr val="FF0000"/>
                </a:solidFill>
                <a:latin typeface="黑体" panose="02010609060101010101" pitchFamily="2" charset="-122"/>
                <a:ea typeface="黑体" panose="02010609060101010101" pitchFamily="2" charset="-122"/>
              </a:rPr>
              <a:t>主频/时钟周期</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CPU的工作节拍受主时钟控制，主时钟不断产生固定频率的时钟，主时钟的频率（f）叫CPU的主频。度量单位是MHz（兆赫兹）、GHz（吉赫兹）。</a:t>
            </a:r>
            <a:endParaRPr lang="en-US" altLang="zh-CN" sz="3600">
              <a:latin typeface="黑体" panose="02010609060101010101" pitchFamily="2" charset="-122"/>
              <a:ea typeface="黑体" panose="02010609060101010101" pitchFamily="2" charset="-122"/>
            </a:endParaRPr>
          </a:p>
          <a:p>
            <a:pPr>
              <a:lnSpc>
                <a:spcPct val="130000"/>
              </a:lnSpc>
            </a:pPr>
            <a:r>
              <a:rPr lang="en-US" altLang="zh-CN" sz="3600">
                <a:latin typeface="黑体" panose="02010609060101010101" pitchFamily="2" charset="-122"/>
                <a:ea typeface="黑体" panose="02010609060101010101" pitchFamily="2" charset="-122"/>
              </a:rPr>
              <a:t>    </a:t>
            </a:r>
            <a:r>
              <a:rPr lang="zh-CN" altLang="zh-CN" sz="3600">
                <a:latin typeface="黑体" panose="02010609060101010101" pitchFamily="2" charset="-122"/>
                <a:ea typeface="黑体" panose="02010609060101010101" pitchFamily="2" charset="-122"/>
              </a:rPr>
              <a:t>主频的倒数称为CPU时钟周期（T），即T=1/f，度量单位是微秒、纳秒。</a:t>
            </a:r>
            <a:endParaRPr lang="zh-CN" altLang="en-US" sz="360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ChangeArrowheads="1"/>
          </p:cNvSpPr>
          <p:nvPr/>
        </p:nvSpPr>
        <p:spPr bwMode="auto">
          <a:xfrm>
            <a:off x="0" y="31750"/>
            <a:ext cx="9144000" cy="0"/>
          </a:xfrm>
          <a:prstGeom prst="rect">
            <a:avLst/>
          </a:prstGeom>
          <a:noFill/>
          <a:ln w="9525">
            <a:noFill/>
            <a:miter lim="800000"/>
          </a:ln>
        </p:spPr>
        <p:txBody>
          <a:bodyPr wrap="none" anchor="ctr">
            <a:spAutoFit/>
          </a:bodyPr>
          <a:lstStyle/>
          <a:p>
            <a:pPr eaLnBrk="0" hangingPunct="0"/>
            <a:endParaRPr lang="zh-CN" altLang="zh-CN"/>
          </a:p>
          <a:p>
            <a:pPr eaLnBrk="0" hangingPunct="0"/>
            <a:endParaRPr lang="zh-CN" altLang="zh-CN"/>
          </a:p>
        </p:txBody>
      </p:sp>
      <p:sp>
        <p:nvSpPr>
          <p:cNvPr id="26627" name="Rectangle 4"/>
          <p:cNvSpPr>
            <a:spLocks noChangeArrowheads="1"/>
          </p:cNvSpPr>
          <p:nvPr/>
        </p:nvSpPr>
        <p:spPr bwMode="auto">
          <a:xfrm>
            <a:off x="323850" y="260350"/>
            <a:ext cx="8424863" cy="4565650"/>
          </a:xfrm>
          <a:prstGeom prst="rect">
            <a:avLst/>
          </a:prstGeom>
          <a:solidFill>
            <a:schemeClr val="bg1"/>
          </a:solidFill>
          <a:ln w="9525">
            <a:noFill/>
            <a:miter lim="800000"/>
          </a:ln>
        </p:spPr>
        <p:txBody>
          <a:bodyPr lIns="0" tIns="0" rIns="0" bIns="0" anchor="ctr">
            <a:spAutoFit/>
          </a:bodyPr>
          <a:lstStyle/>
          <a:p>
            <a:pPr eaLnBrk="0" hangingPunct="0">
              <a:lnSpc>
                <a:spcPct val="120000"/>
              </a:lnSpc>
            </a:pPr>
            <a:r>
              <a:rPr lang="zh-CN" altLang="zh-CN" sz="3600" b="1">
                <a:solidFill>
                  <a:srgbClr val="FF0000"/>
                </a:solidFill>
                <a:latin typeface="黑体" panose="02010609060101010101" pitchFamily="2" charset="-122"/>
                <a:ea typeface="黑体" panose="02010609060101010101" pitchFamily="2" charset="-122"/>
              </a:rPr>
              <a:t>CPU</a:t>
            </a:r>
            <a:r>
              <a:rPr lang="zh-CN" sz="3600" b="1">
                <a:solidFill>
                  <a:srgbClr val="FF0000"/>
                </a:solidFill>
                <a:latin typeface="黑体" panose="02010609060101010101" pitchFamily="2" charset="-122"/>
                <a:ea typeface="黑体" panose="02010609060101010101" pitchFamily="2" charset="-122"/>
              </a:rPr>
              <a:t>执行时间</a:t>
            </a:r>
            <a:r>
              <a:rPr lang="zh-CN" altLang="en-US" sz="3600" b="1">
                <a:solidFill>
                  <a:srgbClr val="FF0000"/>
                </a:solidFill>
                <a:latin typeface="黑体" panose="02010609060101010101" pitchFamily="2" charset="-122"/>
                <a:ea typeface="黑体" panose="02010609060101010101" pitchFamily="2" charset="-122"/>
              </a:rPr>
              <a:t>：</a:t>
            </a:r>
            <a:r>
              <a:rPr lang="zh-CN" sz="3600">
                <a:latin typeface="黑体" panose="02010609060101010101" pitchFamily="2" charset="-122"/>
                <a:ea typeface="黑体" panose="02010609060101010101" pitchFamily="2" charset="-122"/>
              </a:rPr>
              <a:t>表示</a:t>
            </a:r>
            <a:r>
              <a:rPr lang="zh-CN" altLang="zh-CN" sz="3600">
                <a:latin typeface="黑体" panose="02010609060101010101" pitchFamily="2" charset="-122"/>
                <a:ea typeface="黑体" panose="02010609060101010101" pitchFamily="2" charset="-122"/>
              </a:rPr>
              <a:t>CPU</a:t>
            </a:r>
            <a:r>
              <a:rPr lang="zh-CN" sz="3600">
                <a:latin typeface="黑体" panose="02010609060101010101" pitchFamily="2" charset="-122"/>
                <a:ea typeface="黑体" panose="02010609060101010101" pitchFamily="2" charset="-122"/>
              </a:rPr>
              <a:t>执行一段程序所占用的</a:t>
            </a:r>
            <a:r>
              <a:rPr lang="zh-CN" altLang="zh-CN" sz="3600">
                <a:latin typeface="黑体" panose="02010609060101010101" pitchFamily="2" charset="-122"/>
                <a:ea typeface="黑体" panose="02010609060101010101" pitchFamily="2" charset="-122"/>
              </a:rPr>
              <a:t>CPU</a:t>
            </a:r>
            <a:r>
              <a:rPr lang="zh-CN" sz="3600">
                <a:latin typeface="黑体" panose="02010609060101010101" pitchFamily="2" charset="-122"/>
                <a:ea typeface="黑体" panose="02010609060101010101" pitchFamily="2" charset="-122"/>
              </a:rPr>
              <a:t>时间，可用下式计算：</a:t>
            </a:r>
            <a:endParaRPr lang="en-US" altLang="zh-CN" sz="3600">
              <a:latin typeface="黑体" panose="02010609060101010101" pitchFamily="2" charset="-122"/>
              <a:ea typeface="黑体" panose="02010609060101010101" pitchFamily="2" charset="-122"/>
            </a:endParaRPr>
          </a:p>
          <a:p>
            <a:pPr eaLnBrk="0" hangingPunct="0">
              <a:lnSpc>
                <a:spcPct val="120000"/>
              </a:lnSpc>
            </a:pPr>
            <a:r>
              <a:rPr lang="en-US" altLang="zh-CN" sz="3600">
                <a:latin typeface="黑体" panose="02010609060101010101" pitchFamily="2" charset="-122"/>
                <a:ea typeface="黑体" panose="02010609060101010101" pitchFamily="2" charset="-122"/>
              </a:rPr>
              <a:t>    </a:t>
            </a:r>
            <a:r>
              <a:rPr lang="zh-CN" altLang="zh-CN" sz="3600">
                <a:latin typeface="黑体" panose="02010609060101010101" pitchFamily="2" charset="-122"/>
                <a:ea typeface="黑体" panose="02010609060101010101" pitchFamily="2" charset="-122"/>
              </a:rPr>
              <a:t>CPU</a:t>
            </a:r>
            <a:r>
              <a:rPr lang="zh-CN" sz="3600">
                <a:latin typeface="黑体" panose="02010609060101010101" pitchFamily="2" charset="-122"/>
                <a:ea typeface="黑体" panose="02010609060101010101" pitchFamily="2" charset="-122"/>
              </a:rPr>
              <a:t>执行时间</a:t>
            </a:r>
            <a:r>
              <a:rPr lang="en-US" altLang="zh-CN" sz="3600">
                <a:latin typeface="黑体" panose="02010609060101010101" pitchFamily="2" charset="-122"/>
                <a:ea typeface="黑体" panose="02010609060101010101" pitchFamily="2" charset="-122"/>
              </a:rPr>
              <a:t> </a:t>
            </a:r>
            <a:r>
              <a:rPr lang="zh-CN" sz="3600">
                <a:latin typeface="黑体" panose="02010609060101010101" pitchFamily="2" charset="-122"/>
                <a:ea typeface="黑体" panose="02010609060101010101" pitchFamily="2" charset="-122"/>
              </a:rPr>
              <a:t>＝ </a:t>
            </a:r>
            <a:endParaRPr lang="en-US" altLang="zh-CN" sz="3600">
              <a:latin typeface="黑体" panose="02010609060101010101" pitchFamily="2" charset="-122"/>
              <a:ea typeface="黑体" panose="02010609060101010101" pitchFamily="2" charset="-122"/>
            </a:endParaRPr>
          </a:p>
          <a:p>
            <a:pPr eaLnBrk="0" hangingPunct="0">
              <a:lnSpc>
                <a:spcPct val="120000"/>
              </a:lnSpc>
            </a:pPr>
            <a:r>
              <a:rPr lang="en-US" altLang="zh-CN" sz="3600">
                <a:latin typeface="黑体" panose="02010609060101010101" pitchFamily="2" charset="-122"/>
                <a:ea typeface="黑体" panose="02010609060101010101" pitchFamily="2" charset="-122"/>
              </a:rPr>
              <a:t>    </a:t>
            </a:r>
            <a:r>
              <a:rPr lang="zh-CN" altLang="zh-CN" sz="3600">
                <a:latin typeface="黑体" panose="02010609060101010101" pitchFamily="2" charset="-122"/>
                <a:ea typeface="黑体" panose="02010609060101010101" pitchFamily="2" charset="-122"/>
              </a:rPr>
              <a:t>CPU</a:t>
            </a:r>
            <a:r>
              <a:rPr lang="zh-CN" sz="3600">
                <a:latin typeface="黑体" panose="02010609060101010101" pitchFamily="2" charset="-122"/>
                <a:ea typeface="黑体" panose="02010609060101010101" pitchFamily="2" charset="-122"/>
              </a:rPr>
              <a:t>时钟周期数 </a:t>
            </a:r>
            <a:r>
              <a:rPr lang="zh-CN" altLang="zh-CN" sz="3600">
                <a:latin typeface="黑体" panose="02010609060101010101" pitchFamily="2" charset="-122"/>
                <a:ea typeface="黑体" panose="02010609060101010101" pitchFamily="2" charset="-122"/>
              </a:rPr>
              <a:t>× CPU</a:t>
            </a:r>
            <a:r>
              <a:rPr lang="zh-CN" sz="3600">
                <a:latin typeface="黑体" panose="02010609060101010101" pitchFamily="2" charset="-122"/>
                <a:ea typeface="黑体" panose="02010609060101010101" pitchFamily="2" charset="-122"/>
              </a:rPr>
              <a:t>时钟周期长</a:t>
            </a:r>
            <a:endParaRPr lang="zh-CN" sz="3600">
              <a:latin typeface="黑体" panose="02010609060101010101" pitchFamily="2" charset="-122"/>
              <a:ea typeface="黑体" panose="02010609060101010101" pitchFamily="2" charset="-122"/>
            </a:endParaRPr>
          </a:p>
          <a:p>
            <a:pPr eaLnBrk="0" hangingPunct="0">
              <a:lnSpc>
                <a:spcPct val="120000"/>
              </a:lnSpc>
            </a:pPr>
            <a:r>
              <a:rPr lang="zh-CN" altLang="zh-CN" sz="3600" b="1">
                <a:solidFill>
                  <a:srgbClr val="FF0000"/>
                </a:solidFill>
                <a:latin typeface="黑体" panose="02010609060101010101" pitchFamily="2" charset="-122"/>
                <a:ea typeface="黑体" panose="02010609060101010101" pitchFamily="2" charset="-122"/>
              </a:rPr>
              <a:t>CPI</a:t>
            </a:r>
            <a:r>
              <a:rPr lang="zh-CN" altLang="en-US" sz="3600" b="1">
                <a:solidFill>
                  <a:srgbClr val="FF0000"/>
                </a:solidFill>
                <a:latin typeface="黑体" panose="02010609060101010101" pitchFamily="2" charset="-122"/>
                <a:ea typeface="黑体" panose="02010609060101010101" pitchFamily="2" charset="-122"/>
              </a:rPr>
              <a:t>：</a:t>
            </a:r>
            <a:r>
              <a:rPr lang="zh-CN" sz="3600">
                <a:latin typeface="黑体" panose="02010609060101010101" pitchFamily="2" charset="-122"/>
                <a:ea typeface="黑体" panose="02010609060101010101" pitchFamily="2" charset="-122"/>
              </a:rPr>
              <a:t>表示每条指令周期数，即执行一条指令所需的平均时钟周期数。</a:t>
            </a:r>
            <a:endParaRPr lang="en-US" altLang="zh-CN" sz="3600">
              <a:latin typeface="黑体" panose="02010609060101010101" pitchFamily="2" charset="-122"/>
              <a:ea typeface="黑体" panose="02010609060101010101" pitchFamily="2" charset="-122"/>
            </a:endParaRPr>
          </a:p>
          <a:p>
            <a:pPr eaLnBrk="0" hangingPunct="0">
              <a:lnSpc>
                <a:spcPct val="120000"/>
              </a:lnSpc>
            </a:pPr>
            <a:r>
              <a:rPr lang="en-US" altLang="zh-CN" sz="3600">
                <a:latin typeface="黑体" panose="02010609060101010101" pitchFamily="2" charset="-122"/>
                <a:ea typeface="黑体" panose="02010609060101010101" pitchFamily="2" charset="-122"/>
              </a:rPr>
              <a:t>    </a:t>
            </a:r>
            <a:r>
              <a:rPr lang="zh-CN" sz="3600">
                <a:latin typeface="黑体" panose="02010609060101010101" pitchFamily="2" charset="-122"/>
                <a:ea typeface="黑体" panose="02010609060101010101" pitchFamily="2" charset="-122"/>
              </a:rPr>
              <a:t>用下式计算：</a:t>
            </a:r>
            <a:endParaRPr lang="zh-CN" sz="3600">
              <a:latin typeface="黑体" panose="02010609060101010101" pitchFamily="2" charset="-122"/>
              <a:ea typeface="黑体" panose="02010609060101010101" pitchFamily="2" charset="-122"/>
            </a:endParaRPr>
          </a:p>
        </p:txBody>
      </p:sp>
      <p:pic>
        <p:nvPicPr>
          <p:cNvPr id="26628" name="Picture 5"/>
          <p:cNvPicPr>
            <a:picLocks noChangeAspect="1" noChangeArrowheads="1"/>
          </p:cNvPicPr>
          <p:nvPr/>
        </p:nvPicPr>
        <p:blipFill>
          <a:blip r:embed="rId1"/>
          <a:srcRect/>
          <a:stretch>
            <a:fillRect/>
          </a:stretch>
        </p:blipFill>
        <p:spPr bwMode="auto">
          <a:xfrm>
            <a:off x="566738" y="5084763"/>
            <a:ext cx="8037512" cy="1152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1"/>
          <p:cNvSpPr>
            <a:spLocks noChangeArrowheads="1"/>
          </p:cNvSpPr>
          <p:nvPr/>
        </p:nvSpPr>
        <p:spPr bwMode="auto">
          <a:xfrm>
            <a:off x="323850" y="260350"/>
            <a:ext cx="8351838" cy="812800"/>
          </a:xfrm>
          <a:prstGeom prst="rect">
            <a:avLst/>
          </a:prstGeom>
          <a:noFill/>
          <a:ln w="9525">
            <a:noFill/>
            <a:miter lim="800000"/>
          </a:ln>
        </p:spPr>
        <p:txBody>
          <a:bodyPr>
            <a:spAutoFit/>
          </a:bodyPr>
          <a:lstStyle/>
          <a:p>
            <a:pPr>
              <a:lnSpc>
                <a:spcPct val="130000"/>
              </a:lnSpc>
            </a:pPr>
            <a:r>
              <a:rPr lang="zh-CN" altLang="zh-CN" sz="3600" b="1">
                <a:solidFill>
                  <a:srgbClr val="FF0000"/>
                </a:solidFill>
                <a:latin typeface="黑体" panose="02010609060101010101" pitchFamily="2" charset="-122"/>
                <a:ea typeface="黑体" panose="02010609060101010101" pitchFamily="2" charset="-122"/>
              </a:rPr>
              <a:t>MIPS</a:t>
            </a:r>
            <a:r>
              <a:rPr lang="zh-CN" altLang="en-US" sz="3600" b="1">
                <a:solidFill>
                  <a:srgbClr val="FF0000"/>
                </a:solidFill>
                <a:latin typeface="黑体" panose="02010609060101010101" pitchFamily="2" charset="-122"/>
                <a:ea typeface="黑体" panose="02010609060101010101" pitchFamily="2" charset="-122"/>
              </a:rPr>
              <a:t>：</a:t>
            </a:r>
            <a:r>
              <a:rPr lang="zh-CN" altLang="zh-CN" sz="3600">
                <a:latin typeface="黑体" panose="02010609060101010101" pitchFamily="2" charset="-122"/>
                <a:ea typeface="黑体" panose="02010609060101010101" pitchFamily="2" charset="-122"/>
              </a:rPr>
              <a:t>表示每秒百万条指令数</a:t>
            </a:r>
            <a:r>
              <a:rPr lang="zh-CN" altLang="en-US" sz="3600">
                <a:latin typeface="黑体" panose="02010609060101010101" pitchFamily="2" charset="-122"/>
                <a:ea typeface="黑体" panose="02010609060101010101" pitchFamily="2" charset="-122"/>
              </a:rPr>
              <a:t>。</a:t>
            </a:r>
            <a:endParaRPr lang="zh-CN" altLang="en-US" sz="3600">
              <a:latin typeface="黑体" panose="02010609060101010101" pitchFamily="2" charset="-122"/>
              <a:ea typeface="黑体" panose="02010609060101010101" pitchFamily="2" charset="-122"/>
            </a:endParaRPr>
          </a:p>
        </p:txBody>
      </p:sp>
      <p:pic>
        <p:nvPicPr>
          <p:cNvPr id="27651" name="Picture 1"/>
          <p:cNvPicPr>
            <a:picLocks noChangeAspect="1" noChangeArrowheads="1"/>
          </p:cNvPicPr>
          <p:nvPr/>
        </p:nvPicPr>
        <p:blipFill>
          <a:blip r:embed="rId1"/>
          <a:srcRect/>
          <a:stretch>
            <a:fillRect/>
          </a:stretch>
        </p:blipFill>
        <p:spPr bwMode="auto">
          <a:xfrm>
            <a:off x="755650" y="1125538"/>
            <a:ext cx="7165975" cy="1008062"/>
          </a:xfrm>
          <a:prstGeom prst="rect">
            <a:avLst/>
          </a:prstGeom>
          <a:noFill/>
          <a:ln w="9525">
            <a:noFill/>
            <a:miter lim="800000"/>
            <a:headEnd/>
            <a:tailEnd/>
          </a:ln>
        </p:spPr>
      </p:pic>
      <p:sp>
        <p:nvSpPr>
          <p:cNvPr id="27652" name="矩形 3"/>
          <p:cNvSpPr>
            <a:spLocks noChangeArrowheads="1"/>
          </p:cNvSpPr>
          <p:nvPr/>
        </p:nvSpPr>
        <p:spPr bwMode="auto">
          <a:xfrm>
            <a:off x="323850" y="2420938"/>
            <a:ext cx="8424863" cy="645160"/>
          </a:xfrm>
          <a:prstGeom prst="rect">
            <a:avLst/>
          </a:prstGeom>
          <a:noFill/>
          <a:ln w="9525">
            <a:noFill/>
            <a:miter lim="800000"/>
          </a:ln>
        </p:spPr>
        <p:txBody>
          <a:bodyPr>
            <a:spAutoFit/>
          </a:bodyPr>
          <a:lstStyle/>
          <a:p>
            <a:r>
              <a:rPr lang="zh-CN" altLang="zh-CN" sz="3600" b="1" dirty="0" smtClean="0">
                <a:solidFill>
                  <a:srgbClr val="FF0000"/>
                </a:solidFill>
                <a:latin typeface="黑体" panose="02010609060101010101" pitchFamily="2" charset="-122"/>
                <a:ea typeface="黑体" panose="02010609060101010101" pitchFamily="2" charset="-122"/>
              </a:rPr>
              <a:t>FLOPS</a:t>
            </a:r>
            <a:r>
              <a:rPr lang="zh-CN" altLang="en-US" sz="3600" b="1" dirty="0">
                <a:solidFill>
                  <a:srgbClr val="FF0000"/>
                </a:solidFill>
                <a:latin typeface="黑体" panose="02010609060101010101" pitchFamily="2" charset="-122"/>
                <a:ea typeface="黑体" panose="02010609060101010101" pitchFamily="2" charset="-122"/>
              </a:rPr>
              <a:t>：</a:t>
            </a:r>
            <a:r>
              <a:rPr lang="zh-CN" altLang="zh-CN" sz="3600" dirty="0">
                <a:latin typeface="黑体" panose="02010609060101010101" pitchFamily="2" charset="-122"/>
                <a:ea typeface="黑体" panose="02010609060101010101" pitchFamily="2" charset="-122"/>
              </a:rPr>
              <a:t>表示每秒执行浮点操作的次数</a:t>
            </a:r>
            <a:r>
              <a:rPr lang="zh-CN" altLang="en-US" sz="3600" dirty="0">
                <a:latin typeface="黑体" panose="02010609060101010101" pitchFamily="2" charset="-122"/>
                <a:ea typeface="黑体" panose="02010609060101010101" pitchFamily="2" charset="-122"/>
              </a:rPr>
              <a:t>。</a:t>
            </a:r>
            <a:endParaRPr lang="zh-CN" altLang="en-US" sz="3600" dirty="0">
              <a:latin typeface="黑体" panose="02010609060101010101" pitchFamily="2" charset="-122"/>
              <a:ea typeface="黑体" panose="02010609060101010101" pitchFamily="2" charset="-122"/>
            </a:endParaRPr>
          </a:p>
        </p:txBody>
      </p:sp>
      <p:pic>
        <p:nvPicPr>
          <p:cNvPr id="27653" name="Picture 2"/>
          <p:cNvPicPr>
            <a:picLocks noChangeAspect="1" noChangeArrowheads="1"/>
          </p:cNvPicPr>
          <p:nvPr/>
        </p:nvPicPr>
        <p:blipFill>
          <a:blip r:embed="rId2"/>
          <a:srcRect/>
          <a:stretch>
            <a:fillRect/>
          </a:stretch>
        </p:blipFill>
        <p:spPr bwMode="auto">
          <a:xfrm>
            <a:off x="900113" y="3284538"/>
            <a:ext cx="5337175" cy="1008062"/>
          </a:xfrm>
          <a:prstGeom prst="rect">
            <a:avLst/>
          </a:prstGeom>
          <a:noFill/>
          <a:ln w="9525">
            <a:noFill/>
            <a:miter lim="800000"/>
            <a:headEnd/>
            <a:tailEnd/>
          </a:ln>
        </p:spPr>
      </p:pic>
      <p:sp>
        <p:nvSpPr>
          <p:cNvPr id="27654" name="矩形 5"/>
          <p:cNvSpPr>
            <a:spLocks noChangeArrowheads="1"/>
          </p:cNvSpPr>
          <p:nvPr/>
        </p:nvSpPr>
        <p:spPr bwMode="auto">
          <a:xfrm>
            <a:off x="323850" y="4437063"/>
            <a:ext cx="8424863" cy="2158365"/>
          </a:xfrm>
          <a:prstGeom prst="rect">
            <a:avLst/>
          </a:prstGeom>
          <a:noFill/>
          <a:ln w="9525">
            <a:noFill/>
            <a:miter lim="800000"/>
          </a:ln>
        </p:spPr>
        <p:txBody>
          <a:bodyPr>
            <a:spAutoFit/>
          </a:bodyPr>
          <a:lstStyle/>
          <a:p>
            <a:pPr>
              <a:lnSpc>
                <a:spcPct val="120000"/>
              </a:lnSpc>
            </a:pPr>
            <a:r>
              <a:rPr lang="en-US" altLang="zh-CN" sz="2800" dirty="0">
                <a:latin typeface="黑体" panose="02010609060101010101" pitchFamily="2" charset="-122"/>
                <a:ea typeface="黑体" panose="02010609060101010101" pitchFamily="2" charset="-122"/>
              </a:rPr>
              <a:t>    </a:t>
            </a:r>
            <a:r>
              <a:rPr lang="zh-CN" altLang="zh-CN" sz="2800" dirty="0">
                <a:latin typeface="黑体" panose="02010609060101010101" pitchFamily="2" charset="-122"/>
                <a:ea typeface="黑体" panose="02010609060101010101" pitchFamily="2" charset="-122"/>
              </a:rPr>
              <a:t>MIPS是单位时间内的执行指令数，所以MIPS值越高说明机器速度越快。</a:t>
            </a:r>
            <a:br>
              <a:rPr lang="zh-CN" altLang="zh-CN" sz="2800" dirty="0">
                <a:latin typeface="黑体" panose="02010609060101010101" pitchFamily="2" charset="-122"/>
                <a:ea typeface="黑体" panose="02010609060101010101" pitchFamily="2" charset="-122"/>
              </a:rPr>
            </a:br>
            <a:r>
              <a:rPr lang="zh-CN" altLang="zh-CN" sz="2800" dirty="0">
                <a:latin typeface="黑体" panose="02010609060101010101" pitchFamily="2" charset="-122"/>
                <a:ea typeface="黑体" panose="02010609060101010101" pitchFamily="2" charset="-122"/>
              </a:rPr>
              <a:t>　　</a:t>
            </a:r>
            <a:r>
              <a:rPr lang="zh-CN" altLang="zh-CN" sz="2800" dirty="0" smtClean="0">
                <a:latin typeface="黑体" panose="02010609060101010101" pitchFamily="2" charset="-122"/>
                <a:ea typeface="黑体" panose="02010609060101010101" pitchFamily="2" charset="-122"/>
              </a:rPr>
              <a:t>FLOPS</a:t>
            </a:r>
            <a:r>
              <a:rPr lang="zh-CN" altLang="zh-CN" sz="2800" dirty="0">
                <a:latin typeface="黑体" panose="02010609060101010101" pitchFamily="2" charset="-122"/>
                <a:ea typeface="黑体" panose="02010609060101010101" pitchFamily="2" charset="-122"/>
              </a:rPr>
              <a:t>是基于操作而非指令的，只能用来衡量机器浮点操作的性能，而不能体现机器的整体性能。</a:t>
            </a:r>
            <a:endParaRPr lang="zh-CN" alt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22238"/>
            <a:ext cx="7543800" cy="930275"/>
          </a:xfrm>
        </p:spPr>
        <p:txBody>
          <a:bodyPr/>
          <a:lstStyle/>
          <a:p>
            <a:pPr eaLnBrk="1" hangingPunct="1"/>
            <a:r>
              <a:rPr lang="en-US" altLang="zh-CN" sz="4000" smtClean="0">
                <a:cs typeface="Arial" panose="020B0604020202020204" pitchFamily="34" charset="0"/>
              </a:rPr>
              <a:t>1.3</a:t>
            </a:r>
            <a:r>
              <a:rPr lang="zh-CN" altLang="en-US" sz="4000" smtClean="0"/>
              <a:t>计算机的硬件</a:t>
            </a:r>
            <a:endParaRPr lang="zh-CN" altLang="en-US" sz="4000" smtClean="0"/>
          </a:p>
        </p:txBody>
      </p:sp>
      <p:sp>
        <p:nvSpPr>
          <p:cNvPr id="28675" name="Rectangle 3"/>
          <p:cNvSpPr>
            <a:spLocks noGrp="1" noChangeArrowheads="1"/>
          </p:cNvSpPr>
          <p:nvPr>
            <p:ph type="body" idx="1"/>
          </p:nvPr>
        </p:nvSpPr>
        <p:spPr>
          <a:xfrm>
            <a:off x="468313" y="1196975"/>
            <a:ext cx="8229600" cy="4411663"/>
          </a:xfrm>
        </p:spPr>
        <p:txBody>
          <a:bodyPr/>
          <a:lstStyle/>
          <a:p>
            <a:pPr eaLnBrk="1" hangingPunct="1">
              <a:spcAft>
                <a:spcPts val="1200"/>
              </a:spcAft>
              <a:buFont typeface="Wingdings" panose="05000000000000000000" pitchFamily="2" charset="2"/>
              <a:buNone/>
            </a:pPr>
            <a:r>
              <a:rPr lang="zh-CN" altLang="en-US" smtClean="0"/>
              <a:t>一、硬件组成要素</a:t>
            </a:r>
            <a:endParaRPr lang="zh-CN" altLang="en-US" smtClean="0"/>
          </a:p>
          <a:p>
            <a:pPr eaLnBrk="1" hangingPunct="1">
              <a:lnSpc>
                <a:spcPct val="150000"/>
              </a:lnSpc>
              <a:spcAft>
                <a:spcPts val="1200"/>
              </a:spcAft>
              <a:buFont typeface="Wingdings" panose="05000000000000000000" pitchFamily="2" charset="2"/>
              <a:buNone/>
            </a:pPr>
            <a:r>
              <a:rPr lang="zh-CN" altLang="en-US" smtClean="0"/>
              <a:t>		通过一个例子我们来了解数字计算机的主要组成和工作原理。</a:t>
            </a:r>
            <a:endParaRPr lang="zh-CN" altLang="en-US" smtClean="0"/>
          </a:p>
          <a:p>
            <a:pPr eaLnBrk="1" hangingPunct="1">
              <a:spcAft>
                <a:spcPts val="1200"/>
              </a:spcAft>
            </a:pPr>
            <a:r>
              <a:rPr lang="zh-CN" altLang="en-US" smtClean="0"/>
              <a:t>假设给一个算盘、一张带有横格的纸和一支笔，要求我们计算</a:t>
            </a:r>
            <a:r>
              <a:rPr lang="en-US" altLang="zh-CN" smtClean="0"/>
              <a:t>y=ax+b-c</a:t>
            </a:r>
            <a:r>
              <a:rPr lang="zh-CN" altLang="en-US" smtClean="0"/>
              <a:t>这样一个题目。</a:t>
            </a:r>
            <a:endParaRPr lang="zh-CN" altLang="en-US" smtClean="0"/>
          </a:p>
          <a:p>
            <a:pPr eaLnBrk="1" hangingPunct="1">
              <a:spcAft>
                <a:spcPts val="1200"/>
              </a:spcAft>
            </a:pPr>
            <a:r>
              <a:rPr lang="zh-CN" altLang="en-US" smtClean="0"/>
              <a:t>解题步骤和数据记录在横格纸上，请看过程。</a:t>
            </a:r>
            <a:endParaRPr lang="zh-CN" altLang="en-US"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122238"/>
            <a:ext cx="7543800" cy="858837"/>
          </a:xfrm>
        </p:spPr>
        <p:txBody>
          <a:bodyPr/>
          <a:lstStyle/>
          <a:p>
            <a:pPr eaLnBrk="1" hangingPunct="1"/>
            <a:r>
              <a:rPr lang="zh-CN" altLang="en-US" smtClean="0"/>
              <a:t>手工模仿计算机工作</a:t>
            </a:r>
            <a:endParaRPr lang="zh-CN" altLang="en-US" smtClean="0"/>
          </a:p>
        </p:txBody>
      </p:sp>
      <p:pic>
        <p:nvPicPr>
          <p:cNvPr id="29699" name="Picture 3" descr="1"/>
          <p:cNvPicPr>
            <a:picLocks noChangeAspect="1" noChangeArrowheads="1"/>
          </p:cNvPicPr>
          <p:nvPr/>
        </p:nvPicPr>
        <p:blipFill>
          <a:blip r:embed="rId1"/>
          <a:srcRect/>
          <a:stretch>
            <a:fillRect/>
          </a:stretch>
        </p:blipFill>
        <p:spPr bwMode="auto">
          <a:xfrm>
            <a:off x="1042988" y="908050"/>
            <a:ext cx="7110412" cy="5949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0723" name="Rectangle 3"/>
          <p:cNvSpPr>
            <a:spLocks noGrp="1" noChangeArrowheads="1"/>
          </p:cNvSpPr>
          <p:nvPr>
            <p:ph type="body" idx="1"/>
          </p:nvPr>
        </p:nvSpPr>
        <p:spPr>
          <a:xfrm>
            <a:off x="468313" y="1196975"/>
            <a:ext cx="8229600" cy="4608513"/>
          </a:xfrm>
        </p:spPr>
        <p:txBody>
          <a:bodyPr/>
          <a:lstStyle/>
          <a:p>
            <a:pPr eaLnBrk="1" hangingPunct="1">
              <a:lnSpc>
                <a:spcPct val="150000"/>
              </a:lnSpc>
              <a:buFont typeface="Wingdings" panose="05000000000000000000" pitchFamily="2" charset="2"/>
              <a:buNone/>
            </a:pPr>
            <a:r>
              <a:rPr lang="zh-CN" altLang="en-US" smtClean="0"/>
              <a:t>二、数字计算机基本组成</a:t>
            </a:r>
            <a:endParaRPr lang="zh-CN" altLang="en-US" smtClean="0"/>
          </a:p>
          <a:p>
            <a:pPr eaLnBrk="1" hangingPunct="1">
              <a:lnSpc>
                <a:spcPct val="150000"/>
              </a:lnSpc>
            </a:pPr>
            <a:r>
              <a:rPr lang="zh-CN" altLang="en-US" smtClean="0"/>
              <a:t>控制器：人的大脑的操作控制功能</a:t>
            </a:r>
            <a:endParaRPr lang="zh-CN" altLang="en-US" smtClean="0"/>
          </a:p>
          <a:p>
            <a:pPr eaLnBrk="1" hangingPunct="1">
              <a:lnSpc>
                <a:spcPct val="150000"/>
              </a:lnSpc>
            </a:pPr>
            <a:r>
              <a:rPr lang="zh-CN" altLang="en-US" smtClean="0"/>
              <a:t>运算器：算盘</a:t>
            </a:r>
            <a:endParaRPr lang="zh-CN" altLang="en-US" smtClean="0"/>
          </a:p>
          <a:p>
            <a:pPr eaLnBrk="1" hangingPunct="1">
              <a:lnSpc>
                <a:spcPct val="150000"/>
              </a:lnSpc>
            </a:pPr>
            <a:r>
              <a:rPr lang="zh-CN" altLang="en-US" smtClean="0"/>
              <a:t>存储器：纸</a:t>
            </a:r>
            <a:endParaRPr lang="zh-CN" altLang="en-US" smtClean="0"/>
          </a:p>
          <a:p>
            <a:pPr eaLnBrk="1" hangingPunct="1">
              <a:lnSpc>
                <a:spcPct val="150000"/>
              </a:lnSpc>
            </a:pPr>
            <a:r>
              <a:rPr lang="zh-CN" altLang="en-US" smtClean="0"/>
              <a:t>输入设备：交互接口，笔</a:t>
            </a:r>
            <a:endParaRPr lang="zh-CN" altLang="en-US" smtClean="0"/>
          </a:p>
          <a:p>
            <a:pPr eaLnBrk="1" hangingPunct="1">
              <a:lnSpc>
                <a:spcPct val="150000"/>
              </a:lnSpc>
            </a:pPr>
            <a:r>
              <a:rPr lang="zh-CN" altLang="en-US" smtClean="0"/>
              <a:t>输出设备：交互接口，笔</a:t>
            </a:r>
            <a:endParaRPr lang="zh-CN" altLang="en-US"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1747" name="Rectangle 3"/>
          <p:cNvSpPr>
            <a:spLocks noGrp="1" noChangeArrowheads="1"/>
          </p:cNvSpPr>
          <p:nvPr>
            <p:ph type="body" idx="1"/>
          </p:nvPr>
        </p:nvSpPr>
        <p:spPr>
          <a:xfrm>
            <a:off x="468313" y="1268413"/>
            <a:ext cx="8229600" cy="4411662"/>
          </a:xfrm>
        </p:spPr>
        <p:txBody>
          <a:bodyPr/>
          <a:lstStyle/>
          <a:p>
            <a:pPr eaLnBrk="1" hangingPunct="1">
              <a:lnSpc>
                <a:spcPct val="150000"/>
              </a:lnSpc>
              <a:buFont typeface="Wingdings" panose="05000000000000000000" pitchFamily="2" charset="2"/>
              <a:buNone/>
            </a:pPr>
            <a:r>
              <a:rPr lang="zh-CN" altLang="en-US" smtClean="0"/>
              <a:t>三、</a:t>
            </a:r>
            <a:r>
              <a:rPr lang="zh-CN" altLang="en-US" sz="3400" smtClean="0"/>
              <a:t>冯</a:t>
            </a:r>
            <a:r>
              <a:rPr lang="en-US" altLang="zh-CN" sz="3400" smtClean="0"/>
              <a:t>·</a:t>
            </a:r>
            <a:r>
              <a:rPr lang="zh-CN" altLang="en-US" sz="3400" smtClean="0"/>
              <a:t>诺依曼型计算机</a:t>
            </a:r>
            <a:r>
              <a:rPr lang="zh-CN" altLang="en-US" sz="3800" smtClean="0"/>
              <a:t> </a:t>
            </a:r>
            <a:endParaRPr lang="zh-CN" altLang="en-US" sz="3800" smtClean="0"/>
          </a:p>
          <a:p>
            <a:pPr lvl="1" eaLnBrk="1" hangingPunct="1"/>
            <a:r>
              <a:rPr lang="zh-CN" altLang="en-US" sz="2900" smtClean="0"/>
              <a:t>存储程序</a:t>
            </a:r>
            <a:endParaRPr lang="zh-CN" altLang="en-US" sz="2900" smtClean="0"/>
          </a:p>
          <a:p>
            <a:pPr lvl="1" eaLnBrk="1" hangingPunct="1"/>
            <a:r>
              <a:rPr lang="zh-CN" altLang="en-US" sz="2900" smtClean="0"/>
              <a:t>按地址自动执行</a:t>
            </a:r>
            <a:endParaRPr lang="zh-CN" altLang="en-US" sz="2900" smtClean="0"/>
          </a:p>
          <a:p>
            <a:pPr lvl="1" eaLnBrk="1" hangingPunct="1"/>
            <a:r>
              <a:rPr lang="zh-CN" altLang="en-US" sz="2900" smtClean="0"/>
              <a:t>采用二进制 </a:t>
            </a:r>
            <a:endParaRPr lang="zh-CN" altLang="en-US" sz="2900" smtClean="0"/>
          </a:p>
          <a:p>
            <a:pPr lvl="1" eaLnBrk="1" hangingPunct="1"/>
            <a:r>
              <a:rPr lang="zh-CN" altLang="en-US" sz="2900" smtClean="0"/>
              <a:t>五大部件：包括控制器、运算器、存储器、输入设备、输出设备</a:t>
            </a:r>
            <a:endParaRPr lang="zh-CN" altLang="en-US" sz="2900" smtClean="0"/>
          </a:p>
          <a:p>
            <a:pPr lvl="1" eaLnBrk="1" hangingPunct="1"/>
            <a:r>
              <a:rPr lang="zh-CN" altLang="en-US" sz="2900" smtClean="0"/>
              <a:t>以运算器为中心</a:t>
            </a:r>
            <a:endParaRPr lang="zh-CN" altLang="en-US" sz="2900" smtClean="0"/>
          </a:p>
          <a:p>
            <a:pPr lvl="1" eaLnBrk="1" hangingPunct="1">
              <a:buFont typeface="Wingdings" panose="05000000000000000000" pitchFamily="2" charset="2"/>
              <a:buNone/>
            </a:pPr>
            <a:endParaRPr lang="en-US" altLang="zh-CN"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122238"/>
            <a:ext cx="7543800" cy="1003300"/>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2771" name="Rectangle 3"/>
          <p:cNvSpPr>
            <a:spLocks noGrp="1" noChangeArrowheads="1"/>
          </p:cNvSpPr>
          <p:nvPr>
            <p:ph type="body" sz="half" idx="1"/>
          </p:nvPr>
        </p:nvSpPr>
        <p:spPr>
          <a:xfrm>
            <a:off x="684213" y="1557338"/>
            <a:ext cx="4038600" cy="4411662"/>
          </a:xfrm>
        </p:spPr>
        <p:txBody>
          <a:bodyPr/>
          <a:lstStyle/>
          <a:p>
            <a:pPr marL="571500" indent="-571500" eaLnBrk="1" hangingPunct="1">
              <a:buFont typeface="Wingdings" panose="05000000000000000000" pitchFamily="2" charset="2"/>
              <a:buNone/>
            </a:pPr>
            <a:r>
              <a:rPr lang="zh-CN" altLang="en-US" sz="2600" smtClean="0"/>
              <a:t>冯</a:t>
            </a:r>
            <a:r>
              <a:rPr lang="en-US" altLang="zh-CN" sz="2600" smtClean="0"/>
              <a:t>·</a:t>
            </a:r>
            <a:r>
              <a:rPr lang="zh-CN" altLang="en-US" sz="2600" smtClean="0"/>
              <a:t>诺依曼型计算机</a:t>
            </a:r>
            <a:endParaRPr lang="zh-CN" altLang="en-US" sz="2600" smtClean="0"/>
          </a:p>
        </p:txBody>
      </p:sp>
      <p:sp>
        <p:nvSpPr>
          <p:cNvPr id="32772" name="AutoShape 4"/>
          <p:cNvSpPr>
            <a:spLocks noChangeAspect="1" noChangeArrowheads="1" noTextEdit="1"/>
          </p:cNvSpPr>
          <p:nvPr/>
        </p:nvSpPr>
        <p:spPr bwMode="auto">
          <a:xfrm>
            <a:off x="1835150" y="2420938"/>
            <a:ext cx="6049963" cy="3949700"/>
          </a:xfrm>
          <a:prstGeom prst="rect">
            <a:avLst/>
          </a:prstGeom>
          <a:noFill/>
          <a:ln w="9525">
            <a:noFill/>
            <a:miter lim="800000"/>
          </a:ln>
        </p:spPr>
        <p:txBody>
          <a:bodyPr/>
          <a:lstStyle/>
          <a:p>
            <a:endParaRPr lang="zh-CN" altLang="en-US"/>
          </a:p>
        </p:txBody>
      </p:sp>
      <p:sp>
        <p:nvSpPr>
          <p:cNvPr id="32773" name="Rectangle 5"/>
          <p:cNvSpPr>
            <a:spLocks noChangeArrowheads="1"/>
          </p:cNvSpPr>
          <p:nvPr/>
        </p:nvSpPr>
        <p:spPr bwMode="auto">
          <a:xfrm>
            <a:off x="3262313" y="6034088"/>
            <a:ext cx="1587" cy="274637"/>
          </a:xfrm>
          <a:prstGeom prst="rect">
            <a:avLst/>
          </a:prstGeom>
          <a:noFill/>
          <a:ln w="9525">
            <a:noFill/>
            <a:miter lim="800000"/>
          </a:ln>
        </p:spPr>
        <p:txBody>
          <a:bodyPr wrap="none" lIns="0" tIns="0" rIns="0" bIns="0">
            <a:spAutoFit/>
          </a:bodyPr>
          <a:lstStyle/>
          <a:p>
            <a:endParaRPr lang="zh-CN" altLang="zh-CN"/>
          </a:p>
        </p:txBody>
      </p:sp>
      <p:sp>
        <p:nvSpPr>
          <p:cNvPr id="32774" name="Rectangle 6"/>
          <p:cNvSpPr>
            <a:spLocks noChangeArrowheads="1"/>
          </p:cNvSpPr>
          <p:nvPr/>
        </p:nvSpPr>
        <p:spPr bwMode="auto">
          <a:xfrm>
            <a:off x="3548063" y="6018213"/>
            <a:ext cx="1587" cy="274637"/>
          </a:xfrm>
          <a:prstGeom prst="rect">
            <a:avLst/>
          </a:prstGeom>
          <a:noFill/>
          <a:ln w="9525">
            <a:noFill/>
            <a:miter lim="800000"/>
          </a:ln>
        </p:spPr>
        <p:txBody>
          <a:bodyPr wrap="none" lIns="0" tIns="0" rIns="0" bIns="0">
            <a:spAutoFit/>
          </a:bodyPr>
          <a:lstStyle/>
          <a:p>
            <a:endParaRPr lang="zh-CN" altLang="zh-CN"/>
          </a:p>
        </p:txBody>
      </p:sp>
      <p:sp>
        <p:nvSpPr>
          <p:cNvPr id="32775" name="Rectangle 7"/>
          <p:cNvSpPr>
            <a:spLocks noChangeArrowheads="1"/>
          </p:cNvSpPr>
          <p:nvPr/>
        </p:nvSpPr>
        <p:spPr bwMode="auto">
          <a:xfrm>
            <a:off x="3984625" y="6034088"/>
            <a:ext cx="1588" cy="274637"/>
          </a:xfrm>
          <a:prstGeom prst="rect">
            <a:avLst/>
          </a:prstGeom>
          <a:noFill/>
          <a:ln w="9525">
            <a:noFill/>
            <a:miter lim="800000"/>
          </a:ln>
        </p:spPr>
        <p:txBody>
          <a:bodyPr wrap="none" lIns="0" tIns="0" rIns="0" bIns="0">
            <a:spAutoFit/>
          </a:bodyPr>
          <a:lstStyle/>
          <a:p>
            <a:endParaRPr lang="zh-CN" altLang="zh-CN"/>
          </a:p>
        </p:txBody>
      </p:sp>
      <p:grpSp>
        <p:nvGrpSpPr>
          <p:cNvPr id="32776" name="Group 8"/>
          <p:cNvGrpSpPr/>
          <p:nvPr/>
        </p:nvGrpSpPr>
        <p:grpSpPr bwMode="auto">
          <a:xfrm>
            <a:off x="3968750" y="2606675"/>
            <a:ext cx="1260475" cy="520700"/>
            <a:chOff x="2427" y="1493"/>
            <a:chExt cx="709" cy="293"/>
          </a:xfrm>
        </p:grpSpPr>
        <p:sp>
          <p:nvSpPr>
            <p:cNvPr id="32851" name="Freeform 9"/>
            <p:cNvSpPr/>
            <p:nvPr/>
          </p:nvSpPr>
          <p:spPr bwMode="auto">
            <a:xfrm>
              <a:off x="3107" y="1493"/>
              <a:ext cx="29" cy="293"/>
            </a:xfrm>
            <a:custGeom>
              <a:avLst/>
              <a:gdLst>
                <a:gd name="T0" fmla="*/ 0 w 29"/>
                <a:gd name="T1" fmla="*/ 293 h 293"/>
                <a:gd name="T2" fmla="*/ 0 w 29"/>
                <a:gd name="T3" fmla="*/ 28 h 293"/>
                <a:gd name="T4" fmla="*/ 29 w 29"/>
                <a:gd name="T5" fmla="*/ 0 h 293"/>
                <a:gd name="T6" fmla="*/ 29 w 29"/>
                <a:gd name="T7" fmla="*/ 265 h 293"/>
                <a:gd name="T8" fmla="*/ 0 w 29"/>
                <a:gd name="T9" fmla="*/ 293 h 293"/>
                <a:gd name="T10" fmla="*/ 0 60000 65536"/>
                <a:gd name="T11" fmla="*/ 0 60000 65536"/>
                <a:gd name="T12" fmla="*/ 0 60000 65536"/>
                <a:gd name="T13" fmla="*/ 0 60000 65536"/>
                <a:gd name="T14" fmla="*/ 0 60000 65536"/>
                <a:gd name="T15" fmla="*/ 0 w 29"/>
                <a:gd name="T16" fmla="*/ 0 h 293"/>
                <a:gd name="T17" fmla="*/ 29 w 29"/>
                <a:gd name="T18" fmla="*/ 293 h 293"/>
              </a:gdLst>
              <a:ahLst/>
              <a:cxnLst>
                <a:cxn ang="T10">
                  <a:pos x="T0" y="T1"/>
                </a:cxn>
                <a:cxn ang="T11">
                  <a:pos x="T2" y="T3"/>
                </a:cxn>
                <a:cxn ang="T12">
                  <a:pos x="T4" y="T5"/>
                </a:cxn>
                <a:cxn ang="T13">
                  <a:pos x="T6" y="T7"/>
                </a:cxn>
                <a:cxn ang="T14">
                  <a:pos x="T8" y="T9"/>
                </a:cxn>
              </a:cxnLst>
              <a:rect l="T15" t="T16" r="T17" b="T18"/>
              <a:pathLst>
                <a:path w="29" h="293">
                  <a:moveTo>
                    <a:pt x="0" y="293"/>
                  </a:moveTo>
                  <a:lnTo>
                    <a:pt x="0" y="28"/>
                  </a:lnTo>
                  <a:lnTo>
                    <a:pt x="29" y="0"/>
                  </a:lnTo>
                  <a:lnTo>
                    <a:pt x="29" y="265"/>
                  </a:lnTo>
                  <a:lnTo>
                    <a:pt x="0" y="293"/>
                  </a:lnTo>
                  <a:close/>
                </a:path>
              </a:pathLst>
            </a:custGeom>
            <a:solidFill>
              <a:srgbClr val="E0B386"/>
            </a:solidFill>
            <a:ln w="9525">
              <a:noFill/>
              <a:round/>
            </a:ln>
          </p:spPr>
          <p:txBody>
            <a:bodyPr/>
            <a:lstStyle/>
            <a:p>
              <a:endParaRPr lang="zh-CN" altLang="en-US"/>
            </a:p>
          </p:txBody>
        </p:sp>
        <p:sp>
          <p:nvSpPr>
            <p:cNvPr id="32852" name="Freeform 10"/>
            <p:cNvSpPr/>
            <p:nvPr/>
          </p:nvSpPr>
          <p:spPr bwMode="auto">
            <a:xfrm>
              <a:off x="2427" y="1493"/>
              <a:ext cx="709" cy="28"/>
            </a:xfrm>
            <a:custGeom>
              <a:avLst/>
              <a:gdLst>
                <a:gd name="T0" fmla="*/ 680 w 709"/>
                <a:gd name="T1" fmla="*/ 28 h 28"/>
                <a:gd name="T2" fmla="*/ 0 w 709"/>
                <a:gd name="T3" fmla="*/ 28 h 28"/>
                <a:gd name="T4" fmla="*/ 28 w 709"/>
                <a:gd name="T5" fmla="*/ 0 h 28"/>
                <a:gd name="T6" fmla="*/ 709 w 709"/>
                <a:gd name="T7" fmla="*/ 0 h 28"/>
                <a:gd name="T8" fmla="*/ 680 w 709"/>
                <a:gd name="T9" fmla="*/ 28 h 28"/>
                <a:gd name="T10" fmla="*/ 0 60000 65536"/>
                <a:gd name="T11" fmla="*/ 0 60000 65536"/>
                <a:gd name="T12" fmla="*/ 0 60000 65536"/>
                <a:gd name="T13" fmla="*/ 0 60000 65536"/>
                <a:gd name="T14" fmla="*/ 0 60000 65536"/>
                <a:gd name="T15" fmla="*/ 0 w 709"/>
                <a:gd name="T16" fmla="*/ 0 h 28"/>
                <a:gd name="T17" fmla="*/ 709 w 709"/>
                <a:gd name="T18" fmla="*/ 28 h 28"/>
              </a:gdLst>
              <a:ahLst/>
              <a:cxnLst>
                <a:cxn ang="T10">
                  <a:pos x="T0" y="T1"/>
                </a:cxn>
                <a:cxn ang="T11">
                  <a:pos x="T2" y="T3"/>
                </a:cxn>
                <a:cxn ang="T12">
                  <a:pos x="T4" y="T5"/>
                </a:cxn>
                <a:cxn ang="T13">
                  <a:pos x="T6" y="T7"/>
                </a:cxn>
                <a:cxn ang="T14">
                  <a:pos x="T8" y="T9"/>
                </a:cxn>
              </a:cxnLst>
              <a:rect l="T15" t="T16" r="T17" b="T18"/>
              <a:pathLst>
                <a:path w="709" h="28">
                  <a:moveTo>
                    <a:pt x="680" y="28"/>
                  </a:moveTo>
                  <a:lnTo>
                    <a:pt x="0" y="28"/>
                  </a:lnTo>
                  <a:lnTo>
                    <a:pt x="28" y="0"/>
                  </a:lnTo>
                  <a:lnTo>
                    <a:pt x="709" y="0"/>
                  </a:lnTo>
                  <a:lnTo>
                    <a:pt x="680" y="28"/>
                  </a:lnTo>
                  <a:close/>
                </a:path>
              </a:pathLst>
            </a:custGeom>
            <a:solidFill>
              <a:srgbClr val="97795B"/>
            </a:solidFill>
            <a:ln w="9525">
              <a:noFill/>
              <a:round/>
            </a:ln>
          </p:spPr>
          <p:txBody>
            <a:bodyPr/>
            <a:lstStyle/>
            <a:p>
              <a:endParaRPr lang="zh-CN" altLang="en-US"/>
            </a:p>
          </p:txBody>
        </p:sp>
        <p:sp>
          <p:nvSpPr>
            <p:cNvPr id="32853" name="Rectangle 11"/>
            <p:cNvSpPr>
              <a:spLocks noChangeArrowheads="1"/>
            </p:cNvSpPr>
            <p:nvPr/>
          </p:nvSpPr>
          <p:spPr bwMode="auto">
            <a:xfrm>
              <a:off x="2427" y="1521"/>
              <a:ext cx="680" cy="265"/>
            </a:xfrm>
            <a:prstGeom prst="rect">
              <a:avLst/>
            </a:prstGeom>
            <a:solidFill>
              <a:srgbClr val="C39C75"/>
            </a:solidFill>
            <a:ln w="9525">
              <a:noFill/>
              <a:miter lim="800000"/>
            </a:ln>
          </p:spPr>
          <p:txBody>
            <a:bodyPr/>
            <a:lstStyle/>
            <a:p>
              <a:endParaRPr lang="zh-CN" altLang="en-US"/>
            </a:p>
          </p:txBody>
        </p:sp>
      </p:grpSp>
      <p:sp>
        <p:nvSpPr>
          <p:cNvPr id="32777" name="Rectangle 12"/>
          <p:cNvSpPr>
            <a:spLocks noChangeArrowheads="1"/>
          </p:cNvSpPr>
          <p:nvPr/>
        </p:nvSpPr>
        <p:spPr bwMode="auto">
          <a:xfrm>
            <a:off x="4221163" y="2722563"/>
            <a:ext cx="646112" cy="258762"/>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存储器</a:t>
            </a:r>
            <a:endParaRPr lang="zh-CN" altLang="en-US"/>
          </a:p>
        </p:txBody>
      </p:sp>
      <p:grpSp>
        <p:nvGrpSpPr>
          <p:cNvPr id="32778" name="Group 13"/>
          <p:cNvGrpSpPr/>
          <p:nvPr/>
        </p:nvGrpSpPr>
        <p:grpSpPr bwMode="auto">
          <a:xfrm>
            <a:off x="5849938" y="2722563"/>
            <a:ext cx="857250" cy="1917700"/>
            <a:chOff x="3485" y="1559"/>
            <a:chExt cx="482" cy="1078"/>
          </a:xfrm>
        </p:grpSpPr>
        <p:sp>
          <p:nvSpPr>
            <p:cNvPr id="32848" name="Freeform 14"/>
            <p:cNvSpPr/>
            <p:nvPr/>
          </p:nvSpPr>
          <p:spPr bwMode="auto">
            <a:xfrm>
              <a:off x="3939" y="1559"/>
              <a:ext cx="28" cy="1078"/>
            </a:xfrm>
            <a:custGeom>
              <a:avLst/>
              <a:gdLst>
                <a:gd name="T0" fmla="*/ 0 w 28"/>
                <a:gd name="T1" fmla="*/ 1078 h 1078"/>
                <a:gd name="T2" fmla="*/ 0 w 28"/>
                <a:gd name="T3" fmla="*/ 28 h 1078"/>
                <a:gd name="T4" fmla="*/ 28 w 28"/>
                <a:gd name="T5" fmla="*/ 0 h 1078"/>
                <a:gd name="T6" fmla="*/ 28 w 28"/>
                <a:gd name="T7" fmla="*/ 1049 h 1078"/>
                <a:gd name="T8" fmla="*/ 0 w 28"/>
                <a:gd name="T9" fmla="*/ 1078 h 1078"/>
                <a:gd name="T10" fmla="*/ 0 60000 65536"/>
                <a:gd name="T11" fmla="*/ 0 60000 65536"/>
                <a:gd name="T12" fmla="*/ 0 60000 65536"/>
                <a:gd name="T13" fmla="*/ 0 60000 65536"/>
                <a:gd name="T14" fmla="*/ 0 60000 65536"/>
                <a:gd name="T15" fmla="*/ 0 w 28"/>
                <a:gd name="T16" fmla="*/ 0 h 1078"/>
                <a:gd name="T17" fmla="*/ 28 w 28"/>
                <a:gd name="T18" fmla="*/ 1078 h 1078"/>
              </a:gdLst>
              <a:ahLst/>
              <a:cxnLst>
                <a:cxn ang="T10">
                  <a:pos x="T0" y="T1"/>
                </a:cxn>
                <a:cxn ang="T11">
                  <a:pos x="T2" y="T3"/>
                </a:cxn>
                <a:cxn ang="T12">
                  <a:pos x="T4" y="T5"/>
                </a:cxn>
                <a:cxn ang="T13">
                  <a:pos x="T6" y="T7"/>
                </a:cxn>
                <a:cxn ang="T14">
                  <a:pos x="T8" y="T9"/>
                </a:cxn>
              </a:cxnLst>
              <a:rect l="T15" t="T16" r="T17" b="T18"/>
              <a:pathLst>
                <a:path w="28" h="1078">
                  <a:moveTo>
                    <a:pt x="0" y="1078"/>
                  </a:moveTo>
                  <a:lnTo>
                    <a:pt x="0" y="28"/>
                  </a:lnTo>
                  <a:lnTo>
                    <a:pt x="28" y="0"/>
                  </a:lnTo>
                  <a:lnTo>
                    <a:pt x="28" y="1049"/>
                  </a:lnTo>
                  <a:lnTo>
                    <a:pt x="0" y="1078"/>
                  </a:lnTo>
                  <a:close/>
                </a:path>
              </a:pathLst>
            </a:custGeom>
            <a:solidFill>
              <a:srgbClr val="E0E086"/>
            </a:solidFill>
            <a:ln w="9525">
              <a:noFill/>
              <a:round/>
            </a:ln>
          </p:spPr>
          <p:txBody>
            <a:bodyPr/>
            <a:lstStyle/>
            <a:p>
              <a:endParaRPr lang="zh-CN" altLang="en-US"/>
            </a:p>
          </p:txBody>
        </p:sp>
        <p:sp>
          <p:nvSpPr>
            <p:cNvPr id="32849" name="Freeform 15"/>
            <p:cNvSpPr/>
            <p:nvPr/>
          </p:nvSpPr>
          <p:spPr bwMode="auto">
            <a:xfrm>
              <a:off x="3485" y="1559"/>
              <a:ext cx="482" cy="28"/>
            </a:xfrm>
            <a:custGeom>
              <a:avLst/>
              <a:gdLst>
                <a:gd name="T0" fmla="*/ 454 w 482"/>
                <a:gd name="T1" fmla="*/ 28 h 28"/>
                <a:gd name="T2" fmla="*/ 0 w 482"/>
                <a:gd name="T3" fmla="*/ 28 h 28"/>
                <a:gd name="T4" fmla="*/ 29 w 482"/>
                <a:gd name="T5" fmla="*/ 0 h 28"/>
                <a:gd name="T6" fmla="*/ 482 w 482"/>
                <a:gd name="T7" fmla="*/ 0 h 28"/>
                <a:gd name="T8" fmla="*/ 454 w 482"/>
                <a:gd name="T9" fmla="*/ 28 h 28"/>
                <a:gd name="T10" fmla="*/ 0 60000 65536"/>
                <a:gd name="T11" fmla="*/ 0 60000 65536"/>
                <a:gd name="T12" fmla="*/ 0 60000 65536"/>
                <a:gd name="T13" fmla="*/ 0 60000 65536"/>
                <a:gd name="T14" fmla="*/ 0 60000 65536"/>
                <a:gd name="T15" fmla="*/ 0 w 482"/>
                <a:gd name="T16" fmla="*/ 0 h 28"/>
                <a:gd name="T17" fmla="*/ 482 w 482"/>
                <a:gd name="T18" fmla="*/ 28 h 28"/>
              </a:gdLst>
              <a:ahLst/>
              <a:cxnLst>
                <a:cxn ang="T10">
                  <a:pos x="T0" y="T1"/>
                </a:cxn>
                <a:cxn ang="T11">
                  <a:pos x="T2" y="T3"/>
                </a:cxn>
                <a:cxn ang="T12">
                  <a:pos x="T4" y="T5"/>
                </a:cxn>
                <a:cxn ang="T13">
                  <a:pos x="T6" y="T7"/>
                </a:cxn>
                <a:cxn ang="T14">
                  <a:pos x="T8" y="T9"/>
                </a:cxn>
              </a:cxnLst>
              <a:rect l="T15" t="T16" r="T17" b="T18"/>
              <a:pathLst>
                <a:path w="482" h="28">
                  <a:moveTo>
                    <a:pt x="454" y="28"/>
                  </a:moveTo>
                  <a:lnTo>
                    <a:pt x="0" y="28"/>
                  </a:lnTo>
                  <a:lnTo>
                    <a:pt x="29" y="0"/>
                  </a:lnTo>
                  <a:lnTo>
                    <a:pt x="482" y="0"/>
                  </a:lnTo>
                  <a:lnTo>
                    <a:pt x="454" y="28"/>
                  </a:lnTo>
                  <a:close/>
                </a:path>
              </a:pathLst>
            </a:custGeom>
            <a:solidFill>
              <a:srgbClr val="97975B"/>
            </a:solidFill>
            <a:ln w="9525">
              <a:noFill/>
              <a:round/>
            </a:ln>
          </p:spPr>
          <p:txBody>
            <a:bodyPr/>
            <a:lstStyle/>
            <a:p>
              <a:endParaRPr lang="zh-CN" altLang="en-US"/>
            </a:p>
          </p:txBody>
        </p:sp>
        <p:sp>
          <p:nvSpPr>
            <p:cNvPr id="32850" name="Rectangle 16"/>
            <p:cNvSpPr>
              <a:spLocks noChangeArrowheads="1"/>
            </p:cNvSpPr>
            <p:nvPr/>
          </p:nvSpPr>
          <p:spPr bwMode="auto">
            <a:xfrm>
              <a:off x="3485" y="1587"/>
              <a:ext cx="454" cy="1050"/>
            </a:xfrm>
            <a:prstGeom prst="rect">
              <a:avLst/>
            </a:prstGeom>
            <a:solidFill>
              <a:srgbClr val="C3C375"/>
            </a:solidFill>
            <a:ln w="9525">
              <a:noFill/>
              <a:miter lim="800000"/>
            </a:ln>
          </p:spPr>
          <p:txBody>
            <a:bodyPr/>
            <a:lstStyle/>
            <a:p>
              <a:endParaRPr lang="zh-CN" altLang="en-US"/>
            </a:p>
          </p:txBody>
        </p:sp>
      </p:grpSp>
      <p:sp>
        <p:nvSpPr>
          <p:cNvPr id="32779" name="Rectangle 17"/>
          <p:cNvSpPr>
            <a:spLocks noChangeArrowheads="1"/>
          </p:cNvSpPr>
          <p:nvPr/>
        </p:nvSpPr>
        <p:spPr bwMode="auto">
          <a:xfrm>
            <a:off x="6018213" y="3413125"/>
            <a:ext cx="431800" cy="258763"/>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输出</a:t>
            </a:r>
            <a:endParaRPr lang="zh-CN" altLang="en-US"/>
          </a:p>
        </p:txBody>
      </p:sp>
      <p:grpSp>
        <p:nvGrpSpPr>
          <p:cNvPr id="32780" name="Group 18"/>
          <p:cNvGrpSpPr/>
          <p:nvPr/>
        </p:nvGrpSpPr>
        <p:grpSpPr bwMode="auto">
          <a:xfrm>
            <a:off x="2624138" y="2722563"/>
            <a:ext cx="857250" cy="1917700"/>
            <a:chOff x="1671" y="1559"/>
            <a:chExt cx="482" cy="1078"/>
          </a:xfrm>
        </p:grpSpPr>
        <p:sp>
          <p:nvSpPr>
            <p:cNvPr id="32845" name="Freeform 19"/>
            <p:cNvSpPr/>
            <p:nvPr/>
          </p:nvSpPr>
          <p:spPr bwMode="auto">
            <a:xfrm>
              <a:off x="2124" y="1559"/>
              <a:ext cx="29" cy="1078"/>
            </a:xfrm>
            <a:custGeom>
              <a:avLst/>
              <a:gdLst>
                <a:gd name="T0" fmla="*/ 0 w 29"/>
                <a:gd name="T1" fmla="*/ 1078 h 1078"/>
                <a:gd name="T2" fmla="*/ 0 w 29"/>
                <a:gd name="T3" fmla="*/ 28 h 1078"/>
                <a:gd name="T4" fmla="*/ 29 w 29"/>
                <a:gd name="T5" fmla="*/ 0 h 1078"/>
                <a:gd name="T6" fmla="*/ 29 w 29"/>
                <a:gd name="T7" fmla="*/ 1049 h 1078"/>
                <a:gd name="T8" fmla="*/ 0 w 29"/>
                <a:gd name="T9" fmla="*/ 1078 h 1078"/>
                <a:gd name="T10" fmla="*/ 0 60000 65536"/>
                <a:gd name="T11" fmla="*/ 0 60000 65536"/>
                <a:gd name="T12" fmla="*/ 0 60000 65536"/>
                <a:gd name="T13" fmla="*/ 0 60000 65536"/>
                <a:gd name="T14" fmla="*/ 0 60000 65536"/>
                <a:gd name="T15" fmla="*/ 0 w 29"/>
                <a:gd name="T16" fmla="*/ 0 h 1078"/>
                <a:gd name="T17" fmla="*/ 29 w 29"/>
                <a:gd name="T18" fmla="*/ 1078 h 1078"/>
              </a:gdLst>
              <a:ahLst/>
              <a:cxnLst>
                <a:cxn ang="T10">
                  <a:pos x="T0" y="T1"/>
                </a:cxn>
                <a:cxn ang="T11">
                  <a:pos x="T2" y="T3"/>
                </a:cxn>
                <a:cxn ang="T12">
                  <a:pos x="T4" y="T5"/>
                </a:cxn>
                <a:cxn ang="T13">
                  <a:pos x="T6" y="T7"/>
                </a:cxn>
                <a:cxn ang="T14">
                  <a:pos x="T8" y="T9"/>
                </a:cxn>
              </a:cxnLst>
              <a:rect l="T15" t="T16" r="T17" b="T18"/>
              <a:pathLst>
                <a:path w="29" h="1078">
                  <a:moveTo>
                    <a:pt x="0" y="1078"/>
                  </a:moveTo>
                  <a:lnTo>
                    <a:pt x="0" y="28"/>
                  </a:lnTo>
                  <a:lnTo>
                    <a:pt x="29" y="0"/>
                  </a:lnTo>
                  <a:lnTo>
                    <a:pt x="29" y="1049"/>
                  </a:lnTo>
                  <a:lnTo>
                    <a:pt x="0" y="1078"/>
                  </a:lnTo>
                  <a:close/>
                </a:path>
              </a:pathLst>
            </a:custGeom>
            <a:solidFill>
              <a:srgbClr val="E0E086"/>
            </a:solidFill>
            <a:ln w="9525">
              <a:noFill/>
              <a:round/>
            </a:ln>
          </p:spPr>
          <p:txBody>
            <a:bodyPr/>
            <a:lstStyle/>
            <a:p>
              <a:endParaRPr lang="zh-CN" altLang="en-US"/>
            </a:p>
          </p:txBody>
        </p:sp>
        <p:sp>
          <p:nvSpPr>
            <p:cNvPr id="32846" name="Freeform 20"/>
            <p:cNvSpPr/>
            <p:nvPr/>
          </p:nvSpPr>
          <p:spPr bwMode="auto">
            <a:xfrm>
              <a:off x="1671" y="1559"/>
              <a:ext cx="482" cy="28"/>
            </a:xfrm>
            <a:custGeom>
              <a:avLst/>
              <a:gdLst>
                <a:gd name="T0" fmla="*/ 453 w 482"/>
                <a:gd name="T1" fmla="*/ 28 h 28"/>
                <a:gd name="T2" fmla="*/ 0 w 482"/>
                <a:gd name="T3" fmla="*/ 28 h 28"/>
                <a:gd name="T4" fmla="*/ 28 w 482"/>
                <a:gd name="T5" fmla="*/ 0 h 28"/>
                <a:gd name="T6" fmla="*/ 482 w 482"/>
                <a:gd name="T7" fmla="*/ 0 h 28"/>
                <a:gd name="T8" fmla="*/ 453 w 482"/>
                <a:gd name="T9" fmla="*/ 28 h 28"/>
                <a:gd name="T10" fmla="*/ 0 60000 65536"/>
                <a:gd name="T11" fmla="*/ 0 60000 65536"/>
                <a:gd name="T12" fmla="*/ 0 60000 65536"/>
                <a:gd name="T13" fmla="*/ 0 60000 65536"/>
                <a:gd name="T14" fmla="*/ 0 60000 65536"/>
                <a:gd name="T15" fmla="*/ 0 w 482"/>
                <a:gd name="T16" fmla="*/ 0 h 28"/>
                <a:gd name="T17" fmla="*/ 482 w 482"/>
                <a:gd name="T18" fmla="*/ 28 h 28"/>
              </a:gdLst>
              <a:ahLst/>
              <a:cxnLst>
                <a:cxn ang="T10">
                  <a:pos x="T0" y="T1"/>
                </a:cxn>
                <a:cxn ang="T11">
                  <a:pos x="T2" y="T3"/>
                </a:cxn>
                <a:cxn ang="T12">
                  <a:pos x="T4" y="T5"/>
                </a:cxn>
                <a:cxn ang="T13">
                  <a:pos x="T6" y="T7"/>
                </a:cxn>
                <a:cxn ang="T14">
                  <a:pos x="T8" y="T9"/>
                </a:cxn>
              </a:cxnLst>
              <a:rect l="T15" t="T16" r="T17" b="T18"/>
              <a:pathLst>
                <a:path w="482" h="28">
                  <a:moveTo>
                    <a:pt x="453" y="28"/>
                  </a:moveTo>
                  <a:lnTo>
                    <a:pt x="0" y="28"/>
                  </a:lnTo>
                  <a:lnTo>
                    <a:pt x="28" y="0"/>
                  </a:lnTo>
                  <a:lnTo>
                    <a:pt x="482" y="0"/>
                  </a:lnTo>
                  <a:lnTo>
                    <a:pt x="453" y="28"/>
                  </a:lnTo>
                  <a:close/>
                </a:path>
              </a:pathLst>
            </a:custGeom>
            <a:solidFill>
              <a:srgbClr val="97975B"/>
            </a:solidFill>
            <a:ln w="9525">
              <a:noFill/>
              <a:round/>
            </a:ln>
          </p:spPr>
          <p:txBody>
            <a:bodyPr/>
            <a:lstStyle/>
            <a:p>
              <a:endParaRPr lang="zh-CN" altLang="en-US"/>
            </a:p>
          </p:txBody>
        </p:sp>
        <p:sp>
          <p:nvSpPr>
            <p:cNvPr id="32847" name="Rectangle 21"/>
            <p:cNvSpPr>
              <a:spLocks noChangeArrowheads="1"/>
            </p:cNvSpPr>
            <p:nvPr/>
          </p:nvSpPr>
          <p:spPr bwMode="auto">
            <a:xfrm>
              <a:off x="1671" y="1587"/>
              <a:ext cx="453" cy="1050"/>
            </a:xfrm>
            <a:prstGeom prst="rect">
              <a:avLst/>
            </a:prstGeom>
            <a:solidFill>
              <a:srgbClr val="C3C375"/>
            </a:solidFill>
            <a:ln w="9525">
              <a:noFill/>
              <a:miter lim="800000"/>
            </a:ln>
          </p:spPr>
          <p:txBody>
            <a:bodyPr/>
            <a:lstStyle/>
            <a:p>
              <a:endParaRPr lang="zh-CN" altLang="en-US"/>
            </a:p>
          </p:txBody>
        </p:sp>
      </p:grpSp>
      <p:sp>
        <p:nvSpPr>
          <p:cNvPr id="32781" name="Rectangle 22"/>
          <p:cNvSpPr>
            <a:spLocks noChangeArrowheads="1"/>
          </p:cNvSpPr>
          <p:nvPr/>
        </p:nvSpPr>
        <p:spPr bwMode="auto">
          <a:xfrm>
            <a:off x="2790825" y="3413125"/>
            <a:ext cx="431800" cy="258763"/>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输入</a:t>
            </a:r>
            <a:endParaRPr lang="zh-CN" altLang="en-US"/>
          </a:p>
        </p:txBody>
      </p:sp>
      <p:grpSp>
        <p:nvGrpSpPr>
          <p:cNvPr id="32782" name="Group 23"/>
          <p:cNvGrpSpPr/>
          <p:nvPr/>
        </p:nvGrpSpPr>
        <p:grpSpPr bwMode="auto">
          <a:xfrm>
            <a:off x="3968750" y="3429000"/>
            <a:ext cx="1260475" cy="520700"/>
            <a:chOff x="2427" y="1956"/>
            <a:chExt cx="709" cy="293"/>
          </a:xfrm>
        </p:grpSpPr>
        <p:sp>
          <p:nvSpPr>
            <p:cNvPr id="32842" name="Freeform 24"/>
            <p:cNvSpPr/>
            <p:nvPr/>
          </p:nvSpPr>
          <p:spPr bwMode="auto">
            <a:xfrm>
              <a:off x="3107" y="1956"/>
              <a:ext cx="29" cy="293"/>
            </a:xfrm>
            <a:custGeom>
              <a:avLst/>
              <a:gdLst>
                <a:gd name="T0" fmla="*/ 0 w 29"/>
                <a:gd name="T1" fmla="*/ 293 h 293"/>
                <a:gd name="T2" fmla="*/ 0 w 29"/>
                <a:gd name="T3" fmla="*/ 28 h 293"/>
                <a:gd name="T4" fmla="*/ 29 w 29"/>
                <a:gd name="T5" fmla="*/ 0 h 293"/>
                <a:gd name="T6" fmla="*/ 29 w 29"/>
                <a:gd name="T7" fmla="*/ 265 h 293"/>
                <a:gd name="T8" fmla="*/ 0 w 29"/>
                <a:gd name="T9" fmla="*/ 293 h 293"/>
                <a:gd name="T10" fmla="*/ 0 60000 65536"/>
                <a:gd name="T11" fmla="*/ 0 60000 65536"/>
                <a:gd name="T12" fmla="*/ 0 60000 65536"/>
                <a:gd name="T13" fmla="*/ 0 60000 65536"/>
                <a:gd name="T14" fmla="*/ 0 60000 65536"/>
                <a:gd name="T15" fmla="*/ 0 w 29"/>
                <a:gd name="T16" fmla="*/ 0 h 293"/>
                <a:gd name="T17" fmla="*/ 29 w 29"/>
                <a:gd name="T18" fmla="*/ 293 h 293"/>
              </a:gdLst>
              <a:ahLst/>
              <a:cxnLst>
                <a:cxn ang="T10">
                  <a:pos x="T0" y="T1"/>
                </a:cxn>
                <a:cxn ang="T11">
                  <a:pos x="T2" y="T3"/>
                </a:cxn>
                <a:cxn ang="T12">
                  <a:pos x="T4" y="T5"/>
                </a:cxn>
                <a:cxn ang="T13">
                  <a:pos x="T6" y="T7"/>
                </a:cxn>
                <a:cxn ang="T14">
                  <a:pos x="T8" y="T9"/>
                </a:cxn>
              </a:cxnLst>
              <a:rect l="T15" t="T16" r="T17" b="T18"/>
              <a:pathLst>
                <a:path w="29" h="293">
                  <a:moveTo>
                    <a:pt x="0" y="293"/>
                  </a:moveTo>
                  <a:lnTo>
                    <a:pt x="0" y="28"/>
                  </a:lnTo>
                  <a:lnTo>
                    <a:pt x="29" y="0"/>
                  </a:lnTo>
                  <a:lnTo>
                    <a:pt x="29" y="265"/>
                  </a:lnTo>
                  <a:lnTo>
                    <a:pt x="0" y="293"/>
                  </a:lnTo>
                  <a:close/>
                </a:path>
              </a:pathLst>
            </a:custGeom>
            <a:solidFill>
              <a:srgbClr val="B3E0E0"/>
            </a:solidFill>
            <a:ln w="9525">
              <a:noFill/>
              <a:round/>
            </a:ln>
          </p:spPr>
          <p:txBody>
            <a:bodyPr/>
            <a:lstStyle/>
            <a:p>
              <a:endParaRPr lang="zh-CN" altLang="en-US"/>
            </a:p>
          </p:txBody>
        </p:sp>
        <p:sp>
          <p:nvSpPr>
            <p:cNvPr id="32843" name="Freeform 25"/>
            <p:cNvSpPr/>
            <p:nvPr/>
          </p:nvSpPr>
          <p:spPr bwMode="auto">
            <a:xfrm>
              <a:off x="2427" y="1956"/>
              <a:ext cx="709" cy="28"/>
            </a:xfrm>
            <a:custGeom>
              <a:avLst/>
              <a:gdLst>
                <a:gd name="T0" fmla="*/ 680 w 709"/>
                <a:gd name="T1" fmla="*/ 28 h 28"/>
                <a:gd name="T2" fmla="*/ 0 w 709"/>
                <a:gd name="T3" fmla="*/ 28 h 28"/>
                <a:gd name="T4" fmla="*/ 28 w 709"/>
                <a:gd name="T5" fmla="*/ 0 h 28"/>
                <a:gd name="T6" fmla="*/ 709 w 709"/>
                <a:gd name="T7" fmla="*/ 0 h 28"/>
                <a:gd name="T8" fmla="*/ 680 w 709"/>
                <a:gd name="T9" fmla="*/ 28 h 28"/>
                <a:gd name="T10" fmla="*/ 0 60000 65536"/>
                <a:gd name="T11" fmla="*/ 0 60000 65536"/>
                <a:gd name="T12" fmla="*/ 0 60000 65536"/>
                <a:gd name="T13" fmla="*/ 0 60000 65536"/>
                <a:gd name="T14" fmla="*/ 0 60000 65536"/>
                <a:gd name="T15" fmla="*/ 0 w 709"/>
                <a:gd name="T16" fmla="*/ 0 h 28"/>
                <a:gd name="T17" fmla="*/ 709 w 709"/>
                <a:gd name="T18" fmla="*/ 28 h 28"/>
              </a:gdLst>
              <a:ahLst/>
              <a:cxnLst>
                <a:cxn ang="T10">
                  <a:pos x="T0" y="T1"/>
                </a:cxn>
                <a:cxn ang="T11">
                  <a:pos x="T2" y="T3"/>
                </a:cxn>
                <a:cxn ang="T12">
                  <a:pos x="T4" y="T5"/>
                </a:cxn>
                <a:cxn ang="T13">
                  <a:pos x="T6" y="T7"/>
                </a:cxn>
                <a:cxn ang="T14">
                  <a:pos x="T8" y="T9"/>
                </a:cxn>
              </a:cxnLst>
              <a:rect l="T15" t="T16" r="T17" b="T18"/>
              <a:pathLst>
                <a:path w="709" h="28">
                  <a:moveTo>
                    <a:pt x="680" y="28"/>
                  </a:moveTo>
                  <a:lnTo>
                    <a:pt x="0" y="28"/>
                  </a:lnTo>
                  <a:lnTo>
                    <a:pt x="28" y="0"/>
                  </a:lnTo>
                  <a:lnTo>
                    <a:pt x="709" y="0"/>
                  </a:lnTo>
                  <a:lnTo>
                    <a:pt x="680" y="28"/>
                  </a:lnTo>
                  <a:close/>
                </a:path>
              </a:pathLst>
            </a:custGeom>
            <a:solidFill>
              <a:srgbClr val="799797"/>
            </a:solidFill>
            <a:ln w="9525">
              <a:noFill/>
              <a:round/>
            </a:ln>
          </p:spPr>
          <p:txBody>
            <a:bodyPr/>
            <a:lstStyle/>
            <a:p>
              <a:endParaRPr lang="zh-CN" altLang="en-US"/>
            </a:p>
          </p:txBody>
        </p:sp>
        <p:sp>
          <p:nvSpPr>
            <p:cNvPr id="32844" name="Rectangle 26"/>
            <p:cNvSpPr>
              <a:spLocks noChangeArrowheads="1"/>
            </p:cNvSpPr>
            <p:nvPr/>
          </p:nvSpPr>
          <p:spPr bwMode="auto">
            <a:xfrm>
              <a:off x="2427" y="1984"/>
              <a:ext cx="680" cy="265"/>
            </a:xfrm>
            <a:prstGeom prst="rect">
              <a:avLst/>
            </a:prstGeom>
            <a:solidFill>
              <a:srgbClr val="9CC3C3"/>
            </a:solidFill>
            <a:ln w="9525">
              <a:noFill/>
              <a:miter lim="800000"/>
            </a:ln>
          </p:spPr>
          <p:txBody>
            <a:bodyPr/>
            <a:lstStyle/>
            <a:p>
              <a:endParaRPr lang="zh-CN" altLang="en-US"/>
            </a:p>
          </p:txBody>
        </p:sp>
      </p:grpSp>
      <p:sp>
        <p:nvSpPr>
          <p:cNvPr id="32783" name="Rectangle 27"/>
          <p:cNvSpPr>
            <a:spLocks noChangeArrowheads="1"/>
          </p:cNvSpPr>
          <p:nvPr/>
        </p:nvSpPr>
        <p:spPr bwMode="auto">
          <a:xfrm>
            <a:off x="4221163" y="3546475"/>
            <a:ext cx="646112" cy="258763"/>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运算器</a:t>
            </a:r>
            <a:endParaRPr lang="zh-CN" altLang="en-US"/>
          </a:p>
        </p:txBody>
      </p:sp>
      <p:grpSp>
        <p:nvGrpSpPr>
          <p:cNvPr id="32784" name="Group 28"/>
          <p:cNvGrpSpPr/>
          <p:nvPr/>
        </p:nvGrpSpPr>
        <p:grpSpPr bwMode="auto">
          <a:xfrm>
            <a:off x="3962400" y="4267200"/>
            <a:ext cx="1260475" cy="520700"/>
            <a:chOff x="2427" y="2419"/>
            <a:chExt cx="709" cy="293"/>
          </a:xfrm>
        </p:grpSpPr>
        <p:sp>
          <p:nvSpPr>
            <p:cNvPr id="32839" name="Freeform 29"/>
            <p:cNvSpPr/>
            <p:nvPr/>
          </p:nvSpPr>
          <p:spPr bwMode="auto">
            <a:xfrm>
              <a:off x="3107" y="2419"/>
              <a:ext cx="29" cy="293"/>
            </a:xfrm>
            <a:custGeom>
              <a:avLst/>
              <a:gdLst>
                <a:gd name="T0" fmla="*/ 0 w 29"/>
                <a:gd name="T1" fmla="*/ 293 h 293"/>
                <a:gd name="T2" fmla="*/ 0 w 29"/>
                <a:gd name="T3" fmla="*/ 29 h 293"/>
                <a:gd name="T4" fmla="*/ 29 w 29"/>
                <a:gd name="T5" fmla="*/ 0 h 293"/>
                <a:gd name="T6" fmla="*/ 29 w 29"/>
                <a:gd name="T7" fmla="*/ 265 h 293"/>
                <a:gd name="T8" fmla="*/ 0 w 29"/>
                <a:gd name="T9" fmla="*/ 293 h 293"/>
                <a:gd name="T10" fmla="*/ 0 60000 65536"/>
                <a:gd name="T11" fmla="*/ 0 60000 65536"/>
                <a:gd name="T12" fmla="*/ 0 60000 65536"/>
                <a:gd name="T13" fmla="*/ 0 60000 65536"/>
                <a:gd name="T14" fmla="*/ 0 60000 65536"/>
                <a:gd name="T15" fmla="*/ 0 w 29"/>
                <a:gd name="T16" fmla="*/ 0 h 293"/>
                <a:gd name="T17" fmla="*/ 29 w 29"/>
                <a:gd name="T18" fmla="*/ 293 h 293"/>
              </a:gdLst>
              <a:ahLst/>
              <a:cxnLst>
                <a:cxn ang="T10">
                  <a:pos x="T0" y="T1"/>
                </a:cxn>
                <a:cxn ang="T11">
                  <a:pos x="T2" y="T3"/>
                </a:cxn>
                <a:cxn ang="T12">
                  <a:pos x="T4" y="T5"/>
                </a:cxn>
                <a:cxn ang="T13">
                  <a:pos x="T6" y="T7"/>
                </a:cxn>
                <a:cxn ang="T14">
                  <a:pos x="T8" y="T9"/>
                </a:cxn>
              </a:cxnLst>
              <a:rect l="T15" t="T16" r="T17" b="T18"/>
              <a:pathLst>
                <a:path w="29" h="293">
                  <a:moveTo>
                    <a:pt x="0" y="293"/>
                  </a:moveTo>
                  <a:lnTo>
                    <a:pt x="0" y="29"/>
                  </a:lnTo>
                  <a:lnTo>
                    <a:pt x="29" y="0"/>
                  </a:lnTo>
                  <a:lnTo>
                    <a:pt x="29" y="265"/>
                  </a:lnTo>
                  <a:lnTo>
                    <a:pt x="0" y="293"/>
                  </a:lnTo>
                  <a:close/>
                </a:path>
              </a:pathLst>
            </a:custGeom>
            <a:solidFill>
              <a:srgbClr val="B3E0B3"/>
            </a:solidFill>
            <a:ln w="9525">
              <a:noFill/>
              <a:round/>
            </a:ln>
          </p:spPr>
          <p:txBody>
            <a:bodyPr/>
            <a:lstStyle/>
            <a:p>
              <a:endParaRPr lang="zh-CN" altLang="en-US"/>
            </a:p>
          </p:txBody>
        </p:sp>
        <p:sp>
          <p:nvSpPr>
            <p:cNvPr id="32840" name="Freeform 30"/>
            <p:cNvSpPr/>
            <p:nvPr/>
          </p:nvSpPr>
          <p:spPr bwMode="auto">
            <a:xfrm>
              <a:off x="2427" y="2419"/>
              <a:ext cx="709" cy="29"/>
            </a:xfrm>
            <a:custGeom>
              <a:avLst/>
              <a:gdLst>
                <a:gd name="T0" fmla="*/ 680 w 709"/>
                <a:gd name="T1" fmla="*/ 29 h 29"/>
                <a:gd name="T2" fmla="*/ 0 w 709"/>
                <a:gd name="T3" fmla="*/ 29 h 29"/>
                <a:gd name="T4" fmla="*/ 28 w 709"/>
                <a:gd name="T5" fmla="*/ 0 h 29"/>
                <a:gd name="T6" fmla="*/ 709 w 709"/>
                <a:gd name="T7" fmla="*/ 0 h 29"/>
                <a:gd name="T8" fmla="*/ 680 w 709"/>
                <a:gd name="T9" fmla="*/ 29 h 29"/>
                <a:gd name="T10" fmla="*/ 0 60000 65536"/>
                <a:gd name="T11" fmla="*/ 0 60000 65536"/>
                <a:gd name="T12" fmla="*/ 0 60000 65536"/>
                <a:gd name="T13" fmla="*/ 0 60000 65536"/>
                <a:gd name="T14" fmla="*/ 0 60000 65536"/>
                <a:gd name="T15" fmla="*/ 0 w 709"/>
                <a:gd name="T16" fmla="*/ 0 h 29"/>
                <a:gd name="T17" fmla="*/ 709 w 709"/>
                <a:gd name="T18" fmla="*/ 29 h 29"/>
              </a:gdLst>
              <a:ahLst/>
              <a:cxnLst>
                <a:cxn ang="T10">
                  <a:pos x="T0" y="T1"/>
                </a:cxn>
                <a:cxn ang="T11">
                  <a:pos x="T2" y="T3"/>
                </a:cxn>
                <a:cxn ang="T12">
                  <a:pos x="T4" y="T5"/>
                </a:cxn>
                <a:cxn ang="T13">
                  <a:pos x="T6" y="T7"/>
                </a:cxn>
                <a:cxn ang="T14">
                  <a:pos x="T8" y="T9"/>
                </a:cxn>
              </a:cxnLst>
              <a:rect l="T15" t="T16" r="T17" b="T18"/>
              <a:pathLst>
                <a:path w="709" h="29">
                  <a:moveTo>
                    <a:pt x="680" y="29"/>
                  </a:moveTo>
                  <a:lnTo>
                    <a:pt x="0" y="29"/>
                  </a:lnTo>
                  <a:lnTo>
                    <a:pt x="28" y="0"/>
                  </a:lnTo>
                  <a:lnTo>
                    <a:pt x="709" y="0"/>
                  </a:lnTo>
                  <a:lnTo>
                    <a:pt x="680" y="29"/>
                  </a:lnTo>
                  <a:close/>
                </a:path>
              </a:pathLst>
            </a:custGeom>
            <a:solidFill>
              <a:srgbClr val="799779"/>
            </a:solidFill>
            <a:ln w="9525">
              <a:noFill/>
              <a:round/>
            </a:ln>
          </p:spPr>
          <p:txBody>
            <a:bodyPr/>
            <a:lstStyle/>
            <a:p>
              <a:endParaRPr lang="zh-CN" altLang="en-US"/>
            </a:p>
          </p:txBody>
        </p:sp>
        <p:sp>
          <p:nvSpPr>
            <p:cNvPr id="32841" name="Rectangle 31"/>
            <p:cNvSpPr>
              <a:spLocks noChangeArrowheads="1"/>
            </p:cNvSpPr>
            <p:nvPr/>
          </p:nvSpPr>
          <p:spPr bwMode="auto">
            <a:xfrm>
              <a:off x="2427" y="2448"/>
              <a:ext cx="680" cy="264"/>
            </a:xfrm>
            <a:prstGeom prst="rect">
              <a:avLst/>
            </a:prstGeom>
            <a:solidFill>
              <a:srgbClr val="9CC39C"/>
            </a:solidFill>
            <a:ln w="9525">
              <a:noFill/>
              <a:miter lim="800000"/>
            </a:ln>
          </p:spPr>
          <p:txBody>
            <a:bodyPr/>
            <a:lstStyle/>
            <a:p>
              <a:endParaRPr lang="zh-CN" altLang="en-US"/>
            </a:p>
          </p:txBody>
        </p:sp>
      </p:grpSp>
      <p:sp>
        <p:nvSpPr>
          <p:cNvPr id="32785" name="Rectangle 32"/>
          <p:cNvSpPr>
            <a:spLocks noChangeArrowheads="1"/>
          </p:cNvSpPr>
          <p:nvPr/>
        </p:nvSpPr>
        <p:spPr bwMode="auto">
          <a:xfrm>
            <a:off x="4221163" y="4370388"/>
            <a:ext cx="646112" cy="258762"/>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控制器</a:t>
            </a:r>
            <a:endParaRPr lang="zh-CN" altLang="en-US"/>
          </a:p>
        </p:txBody>
      </p:sp>
      <p:sp>
        <p:nvSpPr>
          <p:cNvPr id="32786" name="Rectangle 33"/>
          <p:cNvSpPr>
            <a:spLocks noChangeArrowheads="1"/>
          </p:cNvSpPr>
          <p:nvPr/>
        </p:nvSpPr>
        <p:spPr bwMode="auto">
          <a:xfrm>
            <a:off x="3027363" y="4891088"/>
            <a:ext cx="1225550" cy="487362"/>
          </a:xfrm>
          <a:prstGeom prst="rect">
            <a:avLst/>
          </a:prstGeom>
          <a:noFill/>
          <a:ln w="9525">
            <a:noFill/>
            <a:miter lim="800000"/>
          </a:ln>
        </p:spPr>
        <p:txBody>
          <a:bodyPr/>
          <a:lstStyle/>
          <a:p>
            <a:endParaRPr lang="zh-CN" altLang="en-US"/>
          </a:p>
        </p:txBody>
      </p:sp>
      <p:sp>
        <p:nvSpPr>
          <p:cNvPr id="32787" name="Rectangle 34"/>
          <p:cNvSpPr>
            <a:spLocks noChangeArrowheads="1"/>
          </p:cNvSpPr>
          <p:nvPr/>
        </p:nvSpPr>
        <p:spPr bwMode="auto">
          <a:xfrm>
            <a:off x="3144838" y="4941888"/>
            <a:ext cx="863600" cy="258762"/>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数据信号</a:t>
            </a:r>
            <a:endParaRPr lang="zh-CN" altLang="en-US"/>
          </a:p>
        </p:txBody>
      </p:sp>
      <p:sp>
        <p:nvSpPr>
          <p:cNvPr id="32788" name="Rectangle 35"/>
          <p:cNvSpPr>
            <a:spLocks noChangeArrowheads="1"/>
          </p:cNvSpPr>
          <p:nvPr/>
        </p:nvSpPr>
        <p:spPr bwMode="auto">
          <a:xfrm>
            <a:off x="3027363" y="5245100"/>
            <a:ext cx="1225550" cy="487363"/>
          </a:xfrm>
          <a:prstGeom prst="rect">
            <a:avLst/>
          </a:prstGeom>
          <a:noFill/>
          <a:ln w="9525">
            <a:noFill/>
            <a:miter lim="800000"/>
          </a:ln>
        </p:spPr>
        <p:txBody>
          <a:bodyPr/>
          <a:lstStyle/>
          <a:p>
            <a:endParaRPr lang="zh-CN" altLang="en-US"/>
          </a:p>
        </p:txBody>
      </p:sp>
      <p:sp>
        <p:nvSpPr>
          <p:cNvPr id="32789" name="Rectangle 36"/>
          <p:cNvSpPr>
            <a:spLocks noChangeArrowheads="1"/>
          </p:cNvSpPr>
          <p:nvPr/>
        </p:nvSpPr>
        <p:spPr bwMode="auto">
          <a:xfrm>
            <a:off x="3144838" y="5294313"/>
            <a:ext cx="863600" cy="258762"/>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控制信号</a:t>
            </a:r>
            <a:endParaRPr lang="zh-CN" altLang="en-US"/>
          </a:p>
        </p:txBody>
      </p:sp>
      <p:grpSp>
        <p:nvGrpSpPr>
          <p:cNvPr id="32790" name="Group 37"/>
          <p:cNvGrpSpPr/>
          <p:nvPr/>
        </p:nvGrpSpPr>
        <p:grpSpPr bwMode="auto">
          <a:xfrm>
            <a:off x="3429000" y="3663950"/>
            <a:ext cx="539750" cy="119063"/>
            <a:chOff x="2124" y="2088"/>
            <a:chExt cx="303" cy="67"/>
          </a:xfrm>
        </p:grpSpPr>
        <p:sp>
          <p:nvSpPr>
            <p:cNvPr id="32837" name="Line 38"/>
            <p:cNvSpPr>
              <a:spLocks noChangeShapeType="1"/>
            </p:cNvSpPr>
            <p:nvPr/>
          </p:nvSpPr>
          <p:spPr bwMode="auto">
            <a:xfrm>
              <a:off x="2124" y="2117"/>
              <a:ext cx="265" cy="1"/>
            </a:xfrm>
            <a:prstGeom prst="line">
              <a:avLst/>
            </a:prstGeom>
            <a:noFill/>
            <a:ln w="14288">
              <a:solidFill>
                <a:srgbClr val="000000"/>
              </a:solidFill>
              <a:round/>
            </a:ln>
          </p:spPr>
          <p:txBody>
            <a:bodyPr/>
            <a:lstStyle/>
            <a:p>
              <a:endParaRPr lang="zh-CN" altLang="en-US"/>
            </a:p>
          </p:txBody>
        </p:sp>
        <p:sp>
          <p:nvSpPr>
            <p:cNvPr id="32838" name="Freeform 39"/>
            <p:cNvSpPr/>
            <p:nvPr/>
          </p:nvSpPr>
          <p:spPr bwMode="auto">
            <a:xfrm>
              <a:off x="2370" y="2088"/>
              <a:ext cx="57" cy="67"/>
            </a:xfrm>
            <a:custGeom>
              <a:avLst/>
              <a:gdLst>
                <a:gd name="T0" fmla="*/ 0 w 57"/>
                <a:gd name="T1" fmla="*/ 67 h 67"/>
                <a:gd name="T2" fmla="*/ 57 w 57"/>
                <a:gd name="T3" fmla="*/ 29 h 67"/>
                <a:gd name="T4" fmla="*/ 0 w 57"/>
                <a:gd name="T5" fmla="*/ 0 h 67"/>
                <a:gd name="T6" fmla="*/ 0 w 57"/>
                <a:gd name="T7" fmla="*/ 67 h 67"/>
                <a:gd name="T8" fmla="*/ 0 60000 65536"/>
                <a:gd name="T9" fmla="*/ 0 60000 65536"/>
                <a:gd name="T10" fmla="*/ 0 60000 65536"/>
                <a:gd name="T11" fmla="*/ 0 60000 65536"/>
                <a:gd name="T12" fmla="*/ 0 w 57"/>
                <a:gd name="T13" fmla="*/ 0 h 67"/>
                <a:gd name="T14" fmla="*/ 57 w 57"/>
                <a:gd name="T15" fmla="*/ 67 h 67"/>
              </a:gdLst>
              <a:ahLst/>
              <a:cxnLst>
                <a:cxn ang="T8">
                  <a:pos x="T0" y="T1"/>
                </a:cxn>
                <a:cxn ang="T9">
                  <a:pos x="T2" y="T3"/>
                </a:cxn>
                <a:cxn ang="T10">
                  <a:pos x="T4" y="T5"/>
                </a:cxn>
                <a:cxn ang="T11">
                  <a:pos x="T6" y="T7"/>
                </a:cxn>
              </a:cxnLst>
              <a:rect l="T12" t="T13" r="T14" b="T15"/>
              <a:pathLst>
                <a:path w="57" h="67">
                  <a:moveTo>
                    <a:pt x="0" y="67"/>
                  </a:moveTo>
                  <a:lnTo>
                    <a:pt x="57" y="29"/>
                  </a:lnTo>
                  <a:lnTo>
                    <a:pt x="0" y="0"/>
                  </a:lnTo>
                  <a:lnTo>
                    <a:pt x="0" y="67"/>
                  </a:lnTo>
                  <a:close/>
                </a:path>
              </a:pathLst>
            </a:custGeom>
            <a:solidFill>
              <a:srgbClr val="000000"/>
            </a:solidFill>
            <a:ln w="9525">
              <a:noFill/>
              <a:round/>
            </a:ln>
          </p:spPr>
          <p:txBody>
            <a:bodyPr/>
            <a:lstStyle/>
            <a:p>
              <a:endParaRPr lang="zh-CN" altLang="en-US"/>
            </a:p>
          </p:txBody>
        </p:sp>
      </p:grpSp>
      <p:grpSp>
        <p:nvGrpSpPr>
          <p:cNvPr id="32791" name="Group 40"/>
          <p:cNvGrpSpPr/>
          <p:nvPr/>
        </p:nvGrpSpPr>
        <p:grpSpPr bwMode="auto">
          <a:xfrm>
            <a:off x="5176838" y="3663950"/>
            <a:ext cx="673100" cy="119063"/>
            <a:chOff x="3107" y="2088"/>
            <a:chExt cx="378" cy="67"/>
          </a:xfrm>
        </p:grpSpPr>
        <p:sp>
          <p:nvSpPr>
            <p:cNvPr id="32835" name="Line 41"/>
            <p:cNvSpPr>
              <a:spLocks noChangeShapeType="1"/>
            </p:cNvSpPr>
            <p:nvPr/>
          </p:nvSpPr>
          <p:spPr bwMode="auto">
            <a:xfrm>
              <a:off x="3107" y="2117"/>
              <a:ext cx="340" cy="1"/>
            </a:xfrm>
            <a:prstGeom prst="line">
              <a:avLst/>
            </a:prstGeom>
            <a:noFill/>
            <a:ln w="14288">
              <a:solidFill>
                <a:srgbClr val="000000"/>
              </a:solidFill>
              <a:round/>
            </a:ln>
          </p:spPr>
          <p:txBody>
            <a:bodyPr/>
            <a:lstStyle/>
            <a:p>
              <a:endParaRPr lang="zh-CN" altLang="en-US"/>
            </a:p>
          </p:txBody>
        </p:sp>
        <p:sp>
          <p:nvSpPr>
            <p:cNvPr id="32836" name="Freeform 42"/>
            <p:cNvSpPr/>
            <p:nvPr/>
          </p:nvSpPr>
          <p:spPr bwMode="auto">
            <a:xfrm>
              <a:off x="3429" y="2088"/>
              <a:ext cx="56" cy="67"/>
            </a:xfrm>
            <a:custGeom>
              <a:avLst/>
              <a:gdLst>
                <a:gd name="T0" fmla="*/ 0 w 56"/>
                <a:gd name="T1" fmla="*/ 67 h 67"/>
                <a:gd name="T2" fmla="*/ 56 w 56"/>
                <a:gd name="T3" fmla="*/ 29 h 67"/>
                <a:gd name="T4" fmla="*/ 0 w 56"/>
                <a:gd name="T5" fmla="*/ 0 h 67"/>
                <a:gd name="T6" fmla="*/ 0 w 56"/>
                <a:gd name="T7" fmla="*/ 67 h 67"/>
                <a:gd name="T8" fmla="*/ 0 60000 65536"/>
                <a:gd name="T9" fmla="*/ 0 60000 65536"/>
                <a:gd name="T10" fmla="*/ 0 60000 65536"/>
                <a:gd name="T11" fmla="*/ 0 60000 65536"/>
                <a:gd name="T12" fmla="*/ 0 w 56"/>
                <a:gd name="T13" fmla="*/ 0 h 67"/>
                <a:gd name="T14" fmla="*/ 56 w 56"/>
                <a:gd name="T15" fmla="*/ 67 h 67"/>
              </a:gdLst>
              <a:ahLst/>
              <a:cxnLst>
                <a:cxn ang="T8">
                  <a:pos x="T0" y="T1"/>
                </a:cxn>
                <a:cxn ang="T9">
                  <a:pos x="T2" y="T3"/>
                </a:cxn>
                <a:cxn ang="T10">
                  <a:pos x="T4" y="T5"/>
                </a:cxn>
                <a:cxn ang="T11">
                  <a:pos x="T6" y="T7"/>
                </a:cxn>
              </a:cxnLst>
              <a:rect l="T12" t="T13" r="T14" b="T15"/>
              <a:pathLst>
                <a:path w="56" h="67">
                  <a:moveTo>
                    <a:pt x="0" y="67"/>
                  </a:moveTo>
                  <a:lnTo>
                    <a:pt x="56" y="29"/>
                  </a:lnTo>
                  <a:lnTo>
                    <a:pt x="0" y="0"/>
                  </a:lnTo>
                  <a:lnTo>
                    <a:pt x="0" y="67"/>
                  </a:lnTo>
                  <a:close/>
                </a:path>
              </a:pathLst>
            </a:custGeom>
            <a:solidFill>
              <a:srgbClr val="000000"/>
            </a:solidFill>
            <a:ln w="9525">
              <a:noFill/>
              <a:round/>
            </a:ln>
          </p:spPr>
          <p:txBody>
            <a:bodyPr/>
            <a:lstStyle/>
            <a:p>
              <a:endParaRPr lang="zh-CN" altLang="en-US"/>
            </a:p>
          </p:txBody>
        </p:sp>
      </p:grpSp>
      <p:grpSp>
        <p:nvGrpSpPr>
          <p:cNvPr id="32792" name="Group 43"/>
          <p:cNvGrpSpPr/>
          <p:nvPr/>
        </p:nvGrpSpPr>
        <p:grpSpPr bwMode="auto">
          <a:xfrm>
            <a:off x="2219325" y="3648075"/>
            <a:ext cx="404813" cy="117475"/>
            <a:chOff x="1444" y="2079"/>
            <a:chExt cx="227" cy="66"/>
          </a:xfrm>
        </p:grpSpPr>
        <p:sp>
          <p:nvSpPr>
            <p:cNvPr id="32833" name="Line 44"/>
            <p:cNvSpPr>
              <a:spLocks noChangeShapeType="1"/>
            </p:cNvSpPr>
            <p:nvPr/>
          </p:nvSpPr>
          <p:spPr bwMode="auto">
            <a:xfrm>
              <a:off x="1444" y="2107"/>
              <a:ext cx="189" cy="1"/>
            </a:xfrm>
            <a:prstGeom prst="line">
              <a:avLst/>
            </a:prstGeom>
            <a:noFill/>
            <a:ln w="14288">
              <a:solidFill>
                <a:srgbClr val="000000"/>
              </a:solidFill>
              <a:round/>
            </a:ln>
          </p:spPr>
          <p:txBody>
            <a:bodyPr/>
            <a:lstStyle/>
            <a:p>
              <a:endParaRPr lang="zh-CN" altLang="en-US"/>
            </a:p>
          </p:txBody>
        </p:sp>
        <p:sp>
          <p:nvSpPr>
            <p:cNvPr id="32834" name="Freeform 45"/>
            <p:cNvSpPr/>
            <p:nvPr/>
          </p:nvSpPr>
          <p:spPr bwMode="auto">
            <a:xfrm>
              <a:off x="1614" y="2079"/>
              <a:ext cx="57" cy="66"/>
            </a:xfrm>
            <a:custGeom>
              <a:avLst/>
              <a:gdLst>
                <a:gd name="T0" fmla="*/ 0 w 57"/>
                <a:gd name="T1" fmla="*/ 66 h 66"/>
                <a:gd name="T2" fmla="*/ 57 w 57"/>
                <a:gd name="T3" fmla="*/ 28 h 66"/>
                <a:gd name="T4" fmla="*/ 0 w 57"/>
                <a:gd name="T5" fmla="*/ 0 h 66"/>
                <a:gd name="T6" fmla="*/ 0 w 57"/>
                <a:gd name="T7" fmla="*/ 66 h 66"/>
                <a:gd name="T8" fmla="*/ 0 60000 65536"/>
                <a:gd name="T9" fmla="*/ 0 60000 65536"/>
                <a:gd name="T10" fmla="*/ 0 60000 65536"/>
                <a:gd name="T11" fmla="*/ 0 60000 65536"/>
                <a:gd name="T12" fmla="*/ 0 w 57"/>
                <a:gd name="T13" fmla="*/ 0 h 66"/>
                <a:gd name="T14" fmla="*/ 57 w 57"/>
                <a:gd name="T15" fmla="*/ 66 h 66"/>
              </a:gdLst>
              <a:ahLst/>
              <a:cxnLst>
                <a:cxn ang="T8">
                  <a:pos x="T0" y="T1"/>
                </a:cxn>
                <a:cxn ang="T9">
                  <a:pos x="T2" y="T3"/>
                </a:cxn>
                <a:cxn ang="T10">
                  <a:pos x="T4" y="T5"/>
                </a:cxn>
                <a:cxn ang="T11">
                  <a:pos x="T6" y="T7"/>
                </a:cxn>
              </a:cxnLst>
              <a:rect l="T12" t="T13" r="T14" b="T15"/>
              <a:pathLst>
                <a:path w="57" h="66">
                  <a:moveTo>
                    <a:pt x="0" y="66"/>
                  </a:moveTo>
                  <a:lnTo>
                    <a:pt x="57" y="28"/>
                  </a:lnTo>
                  <a:lnTo>
                    <a:pt x="0" y="0"/>
                  </a:lnTo>
                  <a:lnTo>
                    <a:pt x="0" y="66"/>
                  </a:lnTo>
                  <a:close/>
                </a:path>
              </a:pathLst>
            </a:custGeom>
            <a:solidFill>
              <a:srgbClr val="000000"/>
            </a:solidFill>
            <a:ln w="9525">
              <a:noFill/>
              <a:round/>
            </a:ln>
          </p:spPr>
          <p:txBody>
            <a:bodyPr/>
            <a:lstStyle/>
            <a:p>
              <a:endParaRPr lang="zh-CN" altLang="en-US"/>
            </a:p>
          </p:txBody>
        </p:sp>
      </p:grpSp>
      <p:grpSp>
        <p:nvGrpSpPr>
          <p:cNvPr id="32793" name="Group 46"/>
          <p:cNvGrpSpPr/>
          <p:nvPr/>
        </p:nvGrpSpPr>
        <p:grpSpPr bwMode="auto">
          <a:xfrm>
            <a:off x="6656388" y="3663950"/>
            <a:ext cx="404812" cy="119063"/>
            <a:chOff x="3939" y="2088"/>
            <a:chExt cx="227" cy="67"/>
          </a:xfrm>
        </p:grpSpPr>
        <p:sp>
          <p:nvSpPr>
            <p:cNvPr id="32831" name="Line 47"/>
            <p:cNvSpPr>
              <a:spLocks noChangeShapeType="1"/>
            </p:cNvSpPr>
            <p:nvPr/>
          </p:nvSpPr>
          <p:spPr bwMode="auto">
            <a:xfrm>
              <a:off x="3939" y="2117"/>
              <a:ext cx="189" cy="1"/>
            </a:xfrm>
            <a:prstGeom prst="line">
              <a:avLst/>
            </a:prstGeom>
            <a:noFill/>
            <a:ln w="14288">
              <a:solidFill>
                <a:srgbClr val="000000"/>
              </a:solidFill>
              <a:round/>
            </a:ln>
          </p:spPr>
          <p:txBody>
            <a:bodyPr/>
            <a:lstStyle/>
            <a:p>
              <a:endParaRPr lang="zh-CN" altLang="en-US"/>
            </a:p>
          </p:txBody>
        </p:sp>
        <p:sp>
          <p:nvSpPr>
            <p:cNvPr id="32832" name="Freeform 48"/>
            <p:cNvSpPr/>
            <p:nvPr/>
          </p:nvSpPr>
          <p:spPr bwMode="auto">
            <a:xfrm>
              <a:off x="4109" y="2088"/>
              <a:ext cx="57" cy="67"/>
            </a:xfrm>
            <a:custGeom>
              <a:avLst/>
              <a:gdLst>
                <a:gd name="T0" fmla="*/ 0 w 57"/>
                <a:gd name="T1" fmla="*/ 67 h 67"/>
                <a:gd name="T2" fmla="*/ 57 w 57"/>
                <a:gd name="T3" fmla="*/ 29 h 67"/>
                <a:gd name="T4" fmla="*/ 0 w 57"/>
                <a:gd name="T5" fmla="*/ 0 h 67"/>
                <a:gd name="T6" fmla="*/ 0 w 57"/>
                <a:gd name="T7" fmla="*/ 67 h 67"/>
                <a:gd name="T8" fmla="*/ 0 60000 65536"/>
                <a:gd name="T9" fmla="*/ 0 60000 65536"/>
                <a:gd name="T10" fmla="*/ 0 60000 65536"/>
                <a:gd name="T11" fmla="*/ 0 60000 65536"/>
                <a:gd name="T12" fmla="*/ 0 w 57"/>
                <a:gd name="T13" fmla="*/ 0 h 67"/>
                <a:gd name="T14" fmla="*/ 57 w 57"/>
                <a:gd name="T15" fmla="*/ 67 h 67"/>
              </a:gdLst>
              <a:ahLst/>
              <a:cxnLst>
                <a:cxn ang="T8">
                  <a:pos x="T0" y="T1"/>
                </a:cxn>
                <a:cxn ang="T9">
                  <a:pos x="T2" y="T3"/>
                </a:cxn>
                <a:cxn ang="T10">
                  <a:pos x="T4" y="T5"/>
                </a:cxn>
                <a:cxn ang="T11">
                  <a:pos x="T6" y="T7"/>
                </a:cxn>
              </a:cxnLst>
              <a:rect l="T12" t="T13" r="T14" b="T15"/>
              <a:pathLst>
                <a:path w="57" h="67">
                  <a:moveTo>
                    <a:pt x="0" y="67"/>
                  </a:moveTo>
                  <a:lnTo>
                    <a:pt x="57" y="29"/>
                  </a:lnTo>
                  <a:lnTo>
                    <a:pt x="0" y="0"/>
                  </a:lnTo>
                  <a:lnTo>
                    <a:pt x="0" y="67"/>
                  </a:lnTo>
                  <a:close/>
                </a:path>
              </a:pathLst>
            </a:custGeom>
            <a:solidFill>
              <a:srgbClr val="000000"/>
            </a:solidFill>
            <a:ln w="9525">
              <a:noFill/>
              <a:round/>
            </a:ln>
          </p:spPr>
          <p:txBody>
            <a:bodyPr/>
            <a:lstStyle/>
            <a:p>
              <a:endParaRPr lang="zh-CN" altLang="en-US"/>
            </a:p>
          </p:txBody>
        </p:sp>
      </p:grpSp>
      <p:grpSp>
        <p:nvGrpSpPr>
          <p:cNvPr id="32794" name="Group 49"/>
          <p:cNvGrpSpPr/>
          <p:nvPr/>
        </p:nvGrpSpPr>
        <p:grpSpPr bwMode="auto">
          <a:xfrm>
            <a:off x="5176838" y="4354513"/>
            <a:ext cx="404812" cy="117475"/>
            <a:chOff x="3107" y="2476"/>
            <a:chExt cx="227" cy="66"/>
          </a:xfrm>
        </p:grpSpPr>
        <p:sp>
          <p:nvSpPr>
            <p:cNvPr id="32829" name="Line 50"/>
            <p:cNvSpPr>
              <a:spLocks noChangeShapeType="1"/>
            </p:cNvSpPr>
            <p:nvPr/>
          </p:nvSpPr>
          <p:spPr bwMode="auto">
            <a:xfrm flipH="1">
              <a:off x="3145" y="2514"/>
              <a:ext cx="189" cy="1"/>
            </a:xfrm>
            <a:prstGeom prst="line">
              <a:avLst/>
            </a:prstGeom>
            <a:noFill/>
            <a:ln w="14288">
              <a:solidFill>
                <a:schemeClr val="tx1"/>
              </a:solidFill>
              <a:round/>
            </a:ln>
          </p:spPr>
          <p:txBody>
            <a:bodyPr/>
            <a:lstStyle/>
            <a:p>
              <a:endParaRPr lang="zh-CN" altLang="en-US"/>
            </a:p>
          </p:txBody>
        </p:sp>
        <p:sp>
          <p:nvSpPr>
            <p:cNvPr id="32830" name="Freeform 51"/>
            <p:cNvSpPr/>
            <p:nvPr/>
          </p:nvSpPr>
          <p:spPr bwMode="auto">
            <a:xfrm>
              <a:off x="3107" y="2476"/>
              <a:ext cx="57" cy="66"/>
            </a:xfrm>
            <a:custGeom>
              <a:avLst/>
              <a:gdLst>
                <a:gd name="T0" fmla="*/ 57 w 57"/>
                <a:gd name="T1" fmla="*/ 0 h 66"/>
                <a:gd name="T2" fmla="*/ 0 w 57"/>
                <a:gd name="T3" fmla="*/ 38 h 66"/>
                <a:gd name="T4" fmla="*/ 57 w 57"/>
                <a:gd name="T5" fmla="*/ 66 h 66"/>
                <a:gd name="T6" fmla="*/ 57 w 57"/>
                <a:gd name="T7" fmla="*/ 0 h 66"/>
                <a:gd name="T8" fmla="*/ 0 60000 65536"/>
                <a:gd name="T9" fmla="*/ 0 60000 65536"/>
                <a:gd name="T10" fmla="*/ 0 60000 65536"/>
                <a:gd name="T11" fmla="*/ 0 60000 65536"/>
                <a:gd name="T12" fmla="*/ 0 w 57"/>
                <a:gd name="T13" fmla="*/ 0 h 66"/>
                <a:gd name="T14" fmla="*/ 57 w 57"/>
                <a:gd name="T15" fmla="*/ 66 h 66"/>
              </a:gdLst>
              <a:ahLst/>
              <a:cxnLst>
                <a:cxn ang="T8">
                  <a:pos x="T0" y="T1"/>
                </a:cxn>
                <a:cxn ang="T9">
                  <a:pos x="T2" y="T3"/>
                </a:cxn>
                <a:cxn ang="T10">
                  <a:pos x="T4" y="T5"/>
                </a:cxn>
                <a:cxn ang="T11">
                  <a:pos x="T6" y="T7"/>
                </a:cxn>
              </a:cxnLst>
              <a:rect l="T12" t="T13" r="T14" b="T15"/>
              <a:pathLst>
                <a:path w="57" h="66">
                  <a:moveTo>
                    <a:pt x="57" y="0"/>
                  </a:moveTo>
                  <a:lnTo>
                    <a:pt x="0" y="38"/>
                  </a:lnTo>
                  <a:lnTo>
                    <a:pt x="57" y="66"/>
                  </a:lnTo>
                  <a:lnTo>
                    <a:pt x="57" y="0"/>
                  </a:lnTo>
                  <a:close/>
                </a:path>
              </a:pathLst>
            </a:custGeom>
            <a:solidFill>
              <a:srgbClr val="000000"/>
            </a:solidFill>
            <a:ln w="9525">
              <a:solidFill>
                <a:schemeClr val="tx1"/>
              </a:solidFill>
              <a:round/>
            </a:ln>
          </p:spPr>
          <p:txBody>
            <a:bodyPr/>
            <a:lstStyle/>
            <a:p>
              <a:endParaRPr lang="zh-CN" altLang="en-US"/>
            </a:p>
          </p:txBody>
        </p:sp>
      </p:grpSp>
      <p:sp>
        <p:nvSpPr>
          <p:cNvPr id="32796" name="Line 53"/>
          <p:cNvSpPr>
            <a:spLocks noChangeShapeType="1"/>
          </p:cNvSpPr>
          <p:nvPr/>
        </p:nvSpPr>
        <p:spPr bwMode="auto">
          <a:xfrm>
            <a:off x="5581650" y="2773363"/>
            <a:ext cx="1588" cy="1630362"/>
          </a:xfrm>
          <a:prstGeom prst="line">
            <a:avLst/>
          </a:prstGeom>
          <a:noFill/>
          <a:ln w="14351">
            <a:solidFill>
              <a:schemeClr val="tx1"/>
            </a:solidFill>
            <a:round/>
          </a:ln>
        </p:spPr>
        <p:txBody>
          <a:bodyPr/>
          <a:lstStyle/>
          <a:p>
            <a:endParaRPr lang="zh-CN" altLang="en-US"/>
          </a:p>
        </p:txBody>
      </p:sp>
      <p:grpSp>
        <p:nvGrpSpPr>
          <p:cNvPr id="32797" name="Group 54"/>
          <p:cNvGrpSpPr/>
          <p:nvPr/>
        </p:nvGrpSpPr>
        <p:grpSpPr bwMode="auto">
          <a:xfrm>
            <a:off x="4437063" y="3127375"/>
            <a:ext cx="136525" cy="352425"/>
            <a:chOff x="2691" y="1786"/>
            <a:chExt cx="76" cy="198"/>
          </a:xfrm>
        </p:grpSpPr>
        <p:sp>
          <p:nvSpPr>
            <p:cNvPr id="32826" name="Line 55"/>
            <p:cNvSpPr>
              <a:spLocks noChangeShapeType="1"/>
            </p:cNvSpPr>
            <p:nvPr/>
          </p:nvSpPr>
          <p:spPr bwMode="auto">
            <a:xfrm>
              <a:off x="2729" y="1824"/>
              <a:ext cx="1" cy="123"/>
            </a:xfrm>
            <a:prstGeom prst="line">
              <a:avLst/>
            </a:prstGeom>
            <a:noFill/>
            <a:ln w="14288">
              <a:solidFill>
                <a:srgbClr val="000000"/>
              </a:solidFill>
              <a:round/>
            </a:ln>
          </p:spPr>
          <p:txBody>
            <a:bodyPr/>
            <a:lstStyle/>
            <a:p>
              <a:endParaRPr lang="zh-CN" altLang="en-US"/>
            </a:p>
          </p:txBody>
        </p:sp>
        <p:sp>
          <p:nvSpPr>
            <p:cNvPr id="32827" name="Freeform 56"/>
            <p:cNvSpPr/>
            <p:nvPr/>
          </p:nvSpPr>
          <p:spPr bwMode="auto">
            <a:xfrm>
              <a:off x="2701" y="1786"/>
              <a:ext cx="66" cy="57"/>
            </a:xfrm>
            <a:custGeom>
              <a:avLst/>
              <a:gdLst>
                <a:gd name="T0" fmla="*/ 66 w 66"/>
                <a:gd name="T1" fmla="*/ 57 h 57"/>
                <a:gd name="T2" fmla="*/ 28 w 66"/>
                <a:gd name="T3" fmla="*/ 0 h 57"/>
                <a:gd name="T4" fmla="*/ 0 w 66"/>
                <a:gd name="T5" fmla="*/ 57 h 57"/>
                <a:gd name="T6" fmla="*/ 66 w 66"/>
                <a:gd name="T7" fmla="*/ 57 h 57"/>
                <a:gd name="T8" fmla="*/ 0 60000 65536"/>
                <a:gd name="T9" fmla="*/ 0 60000 65536"/>
                <a:gd name="T10" fmla="*/ 0 60000 65536"/>
                <a:gd name="T11" fmla="*/ 0 60000 65536"/>
                <a:gd name="T12" fmla="*/ 0 w 66"/>
                <a:gd name="T13" fmla="*/ 0 h 57"/>
                <a:gd name="T14" fmla="*/ 66 w 66"/>
                <a:gd name="T15" fmla="*/ 57 h 57"/>
              </a:gdLst>
              <a:ahLst/>
              <a:cxnLst>
                <a:cxn ang="T8">
                  <a:pos x="T0" y="T1"/>
                </a:cxn>
                <a:cxn ang="T9">
                  <a:pos x="T2" y="T3"/>
                </a:cxn>
                <a:cxn ang="T10">
                  <a:pos x="T4" y="T5"/>
                </a:cxn>
                <a:cxn ang="T11">
                  <a:pos x="T6" y="T7"/>
                </a:cxn>
              </a:cxnLst>
              <a:rect l="T12" t="T13" r="T14" b="T15"/>
              <a:pathLst>
                <a:path w="66" h="57">
                  <a:moveTo>
                    <a:pt x="66" y="57"/>
                  </a:moveTo>
                  <a:lnTo>
                    <a:pt x="28" y="0"/>
                  </a:lnTo>
                  <a:lnTo>
                    <a:pt x="0" y="57"/>
                  </a:lnTo>
                  <a:lnTo>
                    <a:pt x="66" y="57"/>
                  </a:lnTo>
                  <a:close/>
                </a:path>
              </a:pathLst>
            </a:custGeom>
            <a:solidFill>
              <a:srgbClr val="000000"/>
            </a:solidFill>
            <a:ln w="9525">
              <a:noFill/>
              <a:round/>
            </a:ln>
          </p:spPr>
          <p:txBody>
            <a:bodyPr/>
            <a:lstStyle/>
            <a:p>
              <a:endParaRPr lang="zh-CN" altLang="en-US"/>
            </a:p>
          </p:txBody>
        </p:sp>
        <p:sp>
          <p:nvSpPr>
            <p:cNvPr id="32828" name="Freeform 57"/>
            <p:cNvSpPr/>
            <p:nvPr/>
          </p:nvSpPr>
          <p:spPr bwMode="auto">
            <a:xfrm>
              <a:off x="2691" y="1928"/>
              <a:ext cx="67" cy="56"/>
            </a:xfrm>
            <a:custGeom>
              <a:avLst/>
              <a:gdLst>
                <a:gd name="T0" fmla="*/ 0 w 67"/>
                <a:gd name="T1" fmla="*/ 0 h 56"/>
                <a:gd name="T2" fmla="*/ 38 w 67"/>
                <a:gd name="T3" fmla="*/ 56 h 56"/>
                <a:gd name="T4" fmla="*/ 67 w 67"/>
                <a:gd name="T5" fmla="*/ 0 h 56"/>
                <a:gd name="T6" fmla="*/ 0 w 67"/>
                <a:gd name="T7" fmla="*/ 0 h 56"/>
                <a:gd name="T8" fmla="*/ 0 60000 65536"/>
                <a:gd name="T9" fmla="*/ 0 60000 65536"/>
                <a:gd name="T10" fmla="*/ 0 60000 65536"/>
                <a:gd name="T11" fmla="*/ 0 60000 65536"/>
                <a:gd name="T12" fmla="*/ 0 w 67"/>
                <a:gd name="T13" fmla="*/ 0 h 56"/>
                <a:gd name="T14" fmla="*/ 67 w 67"/>
                <a:gd name="T15" fmla="*/ 56 h 56"/>
              </a:gdLst>
              <a:ahLst/>
              <a:cxnLst>
                <a:cxn ang="T8">
                  <a:pos x="T0" y="T1"/>
                </a:cxn>
                <a:cxn ang="T9">
                  <a:pos x="T2" y="T3"/>
                </a:cxn>
                <a:cxn ang="T10">
                  <a:pos x="T4" y="T5"/>
                </a:cxn>
                <a:cxn ang="T11">
                  <a:pos x="T6" y="T7"/>
                </a:cxn>
              </a:cxnLst>
              <a:rect l="T12" t="T13" r="T14" b="T15"/>
              <a:pathLst>
                <a:path w="67" h="56">
                  <a:moveTo>
                    <a:pt x="0" y="0"/>
                  </a:moveTo>
                  <a:lnTo>
                    <a:pt x="38" y="56"/>
                  </a:lnTo>
                  <a:lnTo>
                    <a:pt x="67" y="0"/>
                  </a:lnTo>
                  <a:lnTo>
                    <a:pt x="0" y="0"/>
                  </a:lnTo>
                  <a:close/>
                </a:path>
              </a:pathLst>
            </a:custGeom>
            <a:solidFill>
              <a:srgbClr val="000000"/>
            </a:solidFill>
            <a:ln w="9525">
              <a:noFill/>
              <a:round/>
            </a:ln>
          </p:spPr>
          <p:txBody>
            <a:bodyPr/>
            <a:lstStyle/>
            <a:p>
              <a:endParaRPr lang="zh-CN" altLang="en-US"/>
            </a:p>
          </p:txBody>
        </p:sp>
      </p:grpSp>
      <p:grpSp>
        <p:nvGrpSpPr>
          <p:cNvPr id="32798" name="Group 58"/>
          <p:cNvGrpSpPr/>
          <p:nvPr/>
        </p:nvGrpSpPr>
        <p:grpSpPr bwMode="auto">
          <a:xfrm>
            <a:off x="4437063" y="3949700"/>
            <a:ext cx="119062" cy="354013"/>
            <a:chOff x="2691" y="2249"/>
            <a:chExt cx="67" cy="199"/>
          </a:xfrm>
        </p:grpSpPr>
        <p:sp>
          <p:nvSpPr>
            <p:cNvPr id="32824" name="Line 59"/>
            <p:cNvSpPr>
              <a:spLocks noChangeShapeType="1"/>
            </p:cNvSpPr>
            <p:nvPr/>
          </p:nvSpPr>
          <p:spPr bwMode="auto">
            <a:xfrm flipV="1">
              <a:off x="2729" y="2249"/>
              <a:ext cx="1" cy="161"/>
            </a:xfrm>
            <a:prstGeom prst="line">
              <a:avLst/>
            </a:prstGeom>
            <a:noFill/>
            <a:ln w="14288">
              <a:solidFill>
                <a:srgbClr val="000000"/>
              </a:solidFill>
              <a:round/>
            </a:ln>
          </p:spPr>
          <p:txBody>
            <a:bodyPr/>
            <a:lstStyle/>
            <a:p>
              <a:endParaRPr lang="zh-CN" altLang="en-US"/>
            </a:p>
          </p:txBody>
        </p:sp>
        <p:sp>
          <p:nvSpPr>
            <p:cNvPr id="32825" name="Freeform 60"/>
            <p:cNvSpPr/>
            <p:nvPr/>
          </p:nvSpPr>
          <p:spPr bwMode="auto">
            <a:xfrm>
              <a:off x="2691" y="2391"/>
              <a:ext cx="67" cy="57"/>
            </a:xfrm>
            <a:custGeom>
              <a:avLst/>
              <a:gdLst>
                <a:gd name="T0" fmla="*/ 0 w 67"/>
                <a:gd name="T1" fmla="*/ 0 h 57"/>
                <a:gd name="T2" fmla="*/ 38 w 67"/>
                <a:gd name="T3" fmla="*/ 57 h 57"/>
                <a:gd name="T4" fmla="*/ 67 w 67"/>
                <a:gd name="T5" fmla="*/ 0 h 57"/>
                <a:gd name="T6" fmla="*/ 0 w 67"/>
                <a:gd name="T7" fmla="*/ 0 h 57"/>
                <a:gd name="T8" fmla="*/ 0 60000 65536"/>
                <a:gd name="T9" fmla="*/ 0 60000 65536"/>
                <a:gd name="T10" fmla="*/ 0 60000 65536"/>
                <a:gd name="T11" fmla="*/ 0 60000 65536"/>
                <a:gd name="T12" fmla="*/ 0 w 67"/>
                <a:gd name="T13" fmla="*/ 0 h 57"/>
                <a:gd name="T14" fmla="*/ 67 w 67"/>
                <a:gd name="T15" fmla="*/ 57 h 57"/>
              </a:gdLst>
              <a:ahLst/>
              <a:cxnLst>
                <a:cxn ang="T8">
                  <a:pos x="T0" y="T1"/>
                </a:cxn>
                <a:cxn ang="T9">
                  <a:pos x="T2" y="T3"/>
                </a:cxn>
                <a:cxn ang="T10">
                  <a:pos x="T4" y="T5"/>
                </a:cxn>
                <a:cxn ang="T11">
                  <a:pos x="T6" y="T7"/>
                </a:cxn>
              </a:cxnLst>
              <a:rect l="T12" t="T13" r="T14" b="T15"/>
              <a:pathLst>
                <a:path w="67" h="57">
                  <a:moveTo>
                    <a:pt x="0" y="0"/>
                  </a:moveTo>
                  <a:lnTo>
                    <a:pt x="38" y="57"/>
                  </a:lnTo>
                  <a:lnTo>
                    <a:pt x="67" y="0"/>
                  </a:lnTo>
                  <a:lnTo>
                    <a:pt x="0" y="0"/>
                  </a:lnTo>
                  <a:close/>
                </a:path>
              </a:pathLst>
            </a:custGeom>
            <a:solidFill>
              <a:srgbClr val="000000"/>
            </a:solidFill>
            <a:ln w="9525">
              <a:noFill/>
              <a:round/>
            </a:ln>
          </p:spPr>
          <p:txBody>
            <a:bodyPr/>
            <a:lstStyle/>
            <a:p>
              <a:endParaRPr lang="zh-CN" altLang="en-US"/>
            </a:p>
          </p:txBody>
        </p:sp>
      </p:grpSp>
      <p:grpSp>
        <p:nvGrpSpPr>
          <p:cNvPr id="32799" name="Group 61"/>
          <p:cNvGrpSpPr/>
          <p:nvPr/>
        </p:nvGrpSpPr>
        <p:grpSpPr bwMode="auto">
          <a:xfrm>
            <a:off x="3563938" y="2722563"/>
            <a:ext cx="404812" cy="117475"/>
            <a:chOff x="2200" y="1559"/>
            <a:chExt cx="227" cy="66"/>
          </a:xfrm>
        </p:grpSpPr>
        <p:sp>
          <p:nvSpPr>
            <p:cNvPr id="32822" name="Line 62"/>
            <p:cNvSpPr>
              <a:spLocks noChangeShapeType="1"/>
            </p:cNvSpPr>
            <p:nvPr/>
          </p:nvSpPr>
          <p:spPr bwMode="auto">
            <a:xfrm>
              <a:off x="2200" y="1587"/>
              <a:ext cx="227" cy="1"/>
            </a:xfrm>
            <a:prstGeom prst="line">
              <a:avLst/>
            </a:prstGeom>
            <a:noFill/>
            <a:ln w="14351">
              <a:solidFill>
                <a:srgbClr val="FF0000"/>
              </a:solidFill>
              <a:round/>
            </a:ln>
          </p:spPr>
          <p:txBody>
            <a:bodyPr/>
            <a:lstStyle/>
            <a:p>
              <a:endParaRPr lang="zh-CN" altLang="en-US"/>
            </a:p>
          </p:txBody>
        </p:sp>
        <p:sp>
          <p:nvSpPr>
            <p:cNvPr id="32823" name="Freeform 63"/>
            <p:cNvSpPr/>
            <p:nvPr/>
          </p:nvSpPr>
          <p:spPr bwMode="auto">
            <a:xfrm>
              <a:off x="2370" y="1559"/>
              <a:ext cx="57" cy="66"/>
            </a:xfrm>
            <a:custGeom>
              <a:avLst/>
              <a:gdLst>
                <a:gd name="T0" fmla="*/ 0 w 57"/>
                <a:gd name="T1" fmla="*/ 66 h 66"/>
                <a:gd name="T2" fmla="*/ 57 w 57"/>
                <a:gd name="T3" fmla="*/ 28 h 66"/>
                <a:gd name="T4" fmla="*/ 0 w 57"/>
                <a:gd name="T5" fmla="*/ 0 h 66"/>
                <a:gd name="T6" fmla="*/ 0 60000 65536"/>
                <a:gd name="T7" fmla="*/ 0 60000 65536"/>
                <a:gd name="T8" fmla="*/ 0 60000 65536"/>
                <a:gd name="T9" fmla="*/ 0 w 57"/>
                <a:gd name="T10" fmla="*/ 0 h 66"/>
                <a:gd name="T11" fmla="*/ 57 w 57"/>
                <a:gd name="T12" fmla="*/ 66 h 66"/>
              </a:gdLst>
              <a:ahLst/>
              <a:cxnLst>
                <a:cxn ang="T6">
                  <a:pos x="T0" y="T1"/>
                </a:cxn>
                <a:cxn ang="T7">
                  <a:pos x="T2" y="T3"/>
                </a:cxn>
                <a:cxn ang="T8">
                  <a:pos x="T4" y="T5"/>
                </a:cxn>
              </a:cxnLst>
              <a:rect l="T9" t="T10" r="T11" b="T12"/>
              <a:pathLst>
                <a:path w="57" h="66">
                  <a:moveTo>
                    <a:pt x="0" y="66"/>
                  </a:moveTo>
                  <a:lnTo>
                    <a:pt x="57" y="28"/>
                  </a:lnTo>
                  <a:lnTo>
                    <a:pt x="0" y="0"/>
                  </a:lnTo>
                </a:path>
              </a:pathLst>
            </a:custGeom>
            <a:noFill/>
            <a:ln w="14351">
              <a:solidFill>
                <a:srgbClr val="FF0000"/>
              </a:solidFill>
              <a:prstDash val="solid"/>
              <a:round/>
            </a:ln>
          </p:spPr>
          <p:txBody>
            <a:bodyPr/>
            <a:lstStyle/>
            <a:p>
              <a:endParaRPr lang="zh-CN" altLang="en-US"/>
            </a:p>
          </p:txBody>
        </p:sp>
      </p:grpSp>
      <p:sp>
        <p:nvSpPr>
          <p:cNvPr id="32800" name="Line 64"/>
          <p:cNvSpPr>
            <a:spLocks noChangeShapeType="1"/>
          </p:cNvSpPr>
          <p:nvPr/>
        </p:nvSpPr>
        <p:spPr bwMode="auto">
          <a:xfrm>
            <a:off x="3563938" y="4421188"/>
            <a:ext cx="404812" cy="1587"/>
          </a:xfrm>
          <a:prstGeom prst="line">
            <a:avLst/>
          </a:prstGeom>
          <a:noFill/>
          <a:ln w="14351">
            <a:solidFill>
              <a:srgbClr val="FF0000"/>
            </a:solidFill>
            <a:round/>
          </a:ln>
        </p:spPr>
        <p:txBody>
          <a:bodyPr/>
          <a:lstStyle/>
          <a:p>
            <a:endParaRPr lang="zh-CN" altLang="en-US"/>
          </a:p>
        </p:txBody>
      </p:sp>
      <p:sp>
        <p:nvSpPr>
          <p:cNvPr id="32801" name="Line 65"/>
          <p:cNvSpPr>
            <a:spLocks noChangeShapeType="1"/>
          </p:cNvSpPr>
          <p:nvPr/>
        </p:nvSpPr>
        <p:spPr bwMode="auto">
          <a:xfrm>
            <a:off x="3563938" y="2773363"/>
            <a:ext cx="1587" cy="1630362"/>
          </a:xfrm>
          <a:prstGeom prst="line">
            <a:avLst/>
          </a:prstGeom>
          <a:noFill/>
          <a:ln w="14351">
            <a:solidFill>
              <a:srgbClr val="FF0000"/>
            </a:solidFill>
            <a:round/>
          </a:ln>
        </p:spPr>
        <p:txBody>
          <a:bodyPr/>
          <a:lstStyle/>
          <a:p>
            <a:endParaRPr lang="zh-CN" altLang="en-US"/>
          </a:p>
        </p:txBody>
      </p:sp>
      <p:grpSp>
        <p:nvGrpSpPr>
          <p:cNvPr id="32802" name="Group 66"/>
          <p:cNvGrpSpPr/>
          <p:nvPr/>
        </p:nvGrpSpPr>
        <p:grpSpPr bwMode="auto">
          <a:xfrm>
            <a:off x="3429000" y="4471988"/>
            <a:ext cx="539750" cy="117475"/>
            <a:chOff x="2124" y="2542"/>
            <a:chExt cx="303" cy="66"/>
          </a:xfrm>
        </p:grpSpPr>
        <p:sp>
          <p:nvSpPr>
            <p:cNvPr id="32820" name="Line 67"/>
            <p:cNvSpPr>
              <a:spLocks noChangeShapeType="1"/>
            </p:cNvSpPr>
            <p:nvPr/>
          </p:nvSpPr>
          <p:spPr bwMode="auto">
            <a:xfrm>
              <a:off x="2124" y="2580"/>
              <a:ext cx="303" cy="1"/>
            </a:xfrm>
            <a:prstGeom prst="line">
              <a:avLst/>
            </a:prstGeom>
            <a:noFill/>
            <a:ln w="14351">
              <a:solidFill>
                <a:srgbClr val="0000FF"/>
              </a:solidFill>
              <a:round/>
            </a:ln>
          </p:spPr>
          <p:txBody>
            <a:bodyPr/>
            <a:lstStyle/>
            <a:p>
              <a:endParaRPr lang="zh-CN" altLang="en-US"/>
            </a:p>
          </p:txBody>
        </p:sp>
        <p:sp>
          <p:nvSpPr>
            <p:cNvPr id="32821" name="Freeform 68"/>
            <p:cNvSpPr/>
            <p:nvPr/>
          </p:nvSpPr>
          <p:spPr bwMode="auto">
            <a:xfrm>
              <a:off x="2124" y="2542"/>
              <a:ext cx="57" cy="66"/>
            </a:xfrm>
            <a:custGeom>
              <a:avLst/>
              <a:gdLst>
                <a:gd name="T0" fmla="*/ 57 w 57"/>
                <a:gd name="T1" fmla="*/ 0 h 66"/>
                <a:gd name="T2" fmla="*/ 0 w 57"/>
                <a:gd name="T3" fmla="*/ 38 h 66"/>
                <a:gd name="T4" fmla="*/ 57 w 57"/>
                <a:gd name="T5" fmla="*/ 66 h 66"/>
                <a:gd name="T6" fmla="*/ 0 60000 65536"/>
                <a:gd name="T7" fmla="*/ 0 60000 65536"/>
                <a:gd name="T8" fmla="*/ 0 60000 65536"/>
                <a:gd name="T9" fmla="*/ 0 w 57"/>
                <a:gd name="T10" fmla="*/ 0 h 66"/>
                <a:gd name="T11" fmla="*/ 57 w 57"/>
                <a:gd name="T12" fmla="*/ 66 h 66"/>
              </a:gdLst>
              <a:ahLst/>
              <a:cxnLst>
                <a:cxn ang="T6">
                  <a:pos x="T0" y="T1"/>
                </a:cxn>
                <a:cxn ang="T7">
                  <a:pos x="T2" y="T3"/>
                </a:cxn>
                <a:cxn ang="T8">
                  <a:pos x="T4" y="T5"/>
                </a:cxn>
              </a:cxnLst>
              <a:rect l="T9" t="T10" r="T11" b="T12"/>
              <a:pathLst>
                <a:path w="57" h="66">
                  <a:moveTo>
                    <a:pt x="57" y="0"/>
                  </a:moveTo>
                  <a:lnTo>
                    <a:pt x="0" y="38"/>
                  </a:lnTo>
                  <a:lnTo>
                    <a:pt x="57" y="66"/>
                  </a:lnTo>
                </a:path>
              </a:pathLst>
            </a:custGeom>
            <a:noFill/>
            <a:ln w="14351">
              <a:solidFill>
                <a:srgbClr val="0000FF"/>
              </a:solidFill>
              <a:prstDash val="solid"/>
              <a:round/>
            </a:ln>
          </p:spPr>
          <p:txBody>
            <a:bodyPr/>
            <a:lstStyle/>
            <a:p>
              <a:endParaRPr lang="zh-CN" altLang="en-US"/>
            </a:p>
          </p:txBody>
        </p:sp>
      </p:grpSp>
      <p:grpSp>
        <p:nvGrpSpPr>
          <p:cNvPr id="32803" name="Group 72"/>
          <p:cNvGrpSpPr/>
          <p:nvPr/>
        </p:nvGrpSpPr>
        <p:grpSpPr bwMode="auto">
          <a:xfrm>
            <a:off x="2219325" y="5454650"/>
            <a:ext cx="523875" cy="92075"/>
            <a:chOff x="1444" y="3081"/>
            <a:chExt cx="302" cy="66"/>
          </a:xfrm>
        </p:grpSpPr>
        <p:sp>
          <p:nvSpPr>
            <p:cNvPr id="32818" name="Line 73"/>
            <p:cNvSpPr>
              <a:spLocks noChangeShapeType="1"/>
            </p:cNvSpPr>
            <p:nvPr/>
          </p:nvSpPr>
          <p:spPr bwMode="auto">
            <a:xfrm>
              <a:off x="1444" y="3109"/>
              <a:ext cx="302" cy="1"/>
            </a:xfrm>
            <a:prstGeom prst="line">
              <a:avLst/>
            </a:prstGeom>
            <a:noFill/>
            <a:ln w="14351">
              <a:solidFill>
                <a:srgbClr val="0000FF"/>
              </a:solidFill>
              <a:round/>
            </a:ln>
          </p:spPr>
          <p:txBody>
            <a:bodyPr/>
            <a:lstStyle/>
            <a:p>
              <a:endParaRPr lang="zh-CN" altLang="en-US"/>
            </a:p>
          </p:txBody>
        </p:sp>
        <p:sp>
          <p:nvSpPr>
            <p:cNvPr id="32819" name="Freeform 74"/>
            <p:cNvSpPr/>
            <p:nvPr/>
          </p:nvSpPr>
          <p:spPr bwMode="auto">
            <a:xfrm>
              <a:off x="1690" y="3081"/>
              <a:ext cx="56" cy="66"/>
            </a:xfrm>
            <a:custGeom>
              <a:avLst/>
              <a:gdLst>
                <a:gd name="T0" fmla="*/ 0 w 56"/>
                <a:gd name="T1" fmla="*/ 66 h 66"/>
                <a:gd name="T2" fmla="*/ 56 w 56"/>
                <a:gd name="T3" fmla="*/ 28 h 66"/>
                <a:gd name="T4" fmla="*/ 0 w 56"/>
                <a:gd name="T5" fmla="*/ 0 h 66"/>
                <a:gd name="T6" fmla="*/ 0 60000 65536"/>
                <a:gd name="T7" fmla="*/ 0 60000 65536"/>
                <a:gd name="T8" fmla="*/ 0 60000 65536"/>
                <a:gd name="T9" fmla="*/ 0 w 56"/>
                <a:gd name="T10" fmla="*/ 0 h 66"/>
                <a:gd name="T11" fmla="*/ 56 w 56"/>
                <a:gd name="T12" fmla="*/ 66 h 66"/>
              </a:gdLst>
              <a:ahLst/>
              <a:cxnLst>
                <a:cxn ang="T6">
                  <a:pos x="T0" y="T1"/>
                </a:cxn>
                <a:cxn ang="T7">
                  <a:pos x="T2" y="T3"/>
                </a:cxn>
                <a:cxn ang="T8">
                  <a:pos x="T4" y="T5"/>
                </a:cxn>
              </a:cxnLst>
              <a:rect l="T9" t="T10" r="T11" b="T12"/>
              <a:pathLst>
                <a:path w="56" h="66">
                  <a:moveTo>
                    <a:pt x="0" y="66"/>
                  </a:moveTo>
                  <a:lnTo>
                    <a:pt x="56" y="28"/>
                  </a:lnTo>
                  <a:lnTo>
                    <a:pt x="0" y="0"/>
                  </a:lnTo>
                </a:path>
              </a:pathLst>
            </a:custGeom>
            <a:noFill/>
            <a:ln w="14351">
              <a:solidFill>
                <a:srgbClr val="0000FF"/>
              </a:solidFill>
              <a:prstDash val="solid"/>
              <a:round/>
            </a:ln>
          </p:spPr>
          <p:txBody>
            <a:bodyPr/>
            <a:lstStyle/>
            <a:p>
              <a:endParaRPr lang="zh-CN" altLang="en-US"/>
            </a:p>
          </p:txBody>
        </p:sp>
      </p:grpSp>
      <p:grpSp>
        <p:nvGrpSpPr>
          <p:cNvPr id="32804" name="Group 75"/>
          <p:cNvGrpSpPr/>
          <p:nvPr/>
        </p:nvGrpSpPr>
        <p:grpSpPr bwMode="auto">
          <a:xfrm>
            <a:off x="4724400" y="3933825"/>
            <a:ext cx="117475" cy="352425"/>
            <a:chOff x="2852" y="2240"/>
            <a:chExt cx="66" cy="198"/>
          </a:xfrm>
        </p:grpSpPr>
        <p:sp>
          <p:nvSpPr>
            <p:cNvPr id="32816" name="Line 76"/>
            <p:cNvSpPr>
              <a:spLocks noChangeShapeType="1"/>
            </p:cNvSpPr>
            <p:nvPr/>
          </p:nvSpPr>
          <p:spPr bwMode="auto">
            <a:xfrm flipV="1">
              <a:off x="2880" y="2240"/>
              <a:ext cx="1" cy="198"/>
            </a:xfrm>
            <a:prstGeom prst="line">
              <a:avLst/>
            </a:prstGeom>
            <a:noFill/>
            <a:ln w="14351">
              <a:solidFill>
                <a:srgbClr val="0000FF"/>
              </a:solidFill>
              <a:round/>
            </a:ln>
          </p:spPr>
          <p:txBody>
            <a:bodyPr/>
            <a:lstStyle/>
            <a:p>
              <a:endParaRPr lang="zh-CN" altLang="en-US"/>
            </a:p>
          </p:txBody>
        </p:sp>
        <p:sp>
          <p:nvSpPr>
            <p:cNvPr id="32817" name="Freeform 77"/>
            <p:cNvSpPr/>
            <p:nvPr/>
          </p:nvSpPr>
          <p:spPr bwMode="auto">
            <a:xfrm>
              <a:off x="2852" y="2240"/>
              <a:ext cx="66" cy="56"/>
            </a:xfrm>
            <a:custGeom>
              <a:avLst/>
              <a:gdLst>
                <a:gd name="T0" fmla="*/ 66 w 66"/>
                <a:gd name="T1" fmla="*/ 56 h 56"/>
                <a:gd name="T2" fmla="*/ 28 w 66"/>
                <a:gd name="T3" fmla="*/ 0 h 56"/>
                <a:gd name="T4" fmla="*/ 0 w 66"/>
                <a:gd name="T5" fmla="*/ 56 h 56"/>
                <a:gd name="T6" fmla="*/ 0 60000 65536"/>
                <a:gd name="T7" fmla="*/ 0 60000 65536"/>
                <a:gd name="T8" fmla="*/ 0 60000 65536"/>
                <a:gd name="T9" fmla="*/ 0 w 66"/>
                <a:gd name="T10" fmla="*/ 0 h 56"/>
                <a:gd name="T11" fmla="*/ 66 w 66"/>
                <a:gd name="T12" fmla="*/ 56 h 56"/>
              </a:gdLst>
              <a:ahLst/>
              <a:cxnLst>
                <a:cxn ang="T6">
                  <a:pos x="T0" y="T1"/>
                </a:cxn>
                <a:cxn ang="T7">
                  <a:pos x="T2" y="T3"/>
                </a:cxn>
                <a:cxn ang="T8">
                  <a:pos x="T4" y="T5"/>
                </a:cxn>
              </a:cxnLst>
              <a:rect l="T9" t="T10" r="T11" b="T12"/>
              <a:pathLst>
                <a:path w="66" h="56">
                  <a:moveTo>
                    <a:pt x="66" y="56"/>
                  </a:moveTo>
                  <a:lnTo>
                    <a:pt x="28" y="0"/>
                  </a:lnTo>
                  <a:lnTo>
                    <a:pt x="0" y="56"/>
                  </a:lnTo>
                </a:path>
              </a:pathLst>
            </a:custGeom>
            <a:noFill/>
            <a:ln w="14351">
              <a:solidFill>
                <a:srgbClr val="0000FF"/>
              </a:solidFill>
              <a:prstDash val="solid"/>
              <a:round/>
            </a:ln>
          </p:spPr>
          <p:txBody>
            <a:bodyPr/>
            <a:lstStyle/>
            <a:p>
              <a:endParaRPr lang="zh-CN" altLang="en-US"/>
            </a:p>
          </p:txBody>
        </p:sp>
      </p:grpSp>
      <p:grpSp>
        <p:nvGrpSpPr>
          <p:cNvPr id="32805" name="Group 78"/>
          <p:cNvGrpSpPr/>
          <p:nvPr/>
        </p:nvGrpSpPr>
        <p:grpSpPr bwMode="auto">
          <a:xfrm>
            <a:off x="5176838" y="4487863"/>
            <a:ext cx="673100" cy="119062"/>
            <a:chOff x="3107" y="2551"/>
            <a:chExt cx="378" cy="67"/>
          </a:xfrm>
        </p:grpSpPr>
        <p:sp>
          <p:nvSpPr>
            <p:cNvPr id="32814" name="Line 79"/>
            <p:cNvSpPr>
              <a:spLocks noChangeShapeType="1"/>
            </p:cNvSpPr>
            <p:nvPr/>
          </p:nvSpPr>
          <p:spPr bwMode="auto">
            <a:xfrm flipH="1">
              <a:off x="3107" y="2580"/>
              <a:ext cx="378" cy="1"/>
            </a:xfrm>
            <a:prstGeom prst="line">
              <a:avLst/>
            </a:prstGeom>
            <a:noFill/>
            <a:ln w="14351">
              <a:solidFill>
                <a:srgbClr val="0000FF"/>
              </a:solidFill>
              <a:round/>
            </a:ln>
          </p:spPr>
          <p:txBody>
            <a:bodyPr/>
            <a:lstStyle/>
            <a:p>
              <a:endParaRPr lang="zh-CN" altLang="en-US"/>
            </a:p>
          </p:txBody>
        </p:sp>
        <p:sp>
          <p:nvSpPr>
            <p:cNvPr id="32815" name="Freeform 80"/>
            <p:cNvSpPr/>
            <p:nvPr/>
          </p:nvSpPr>
          <p:spPr bwMode="auto">
            <a:xfrm>
              <a:off x="3429" y="2551"/>
              <a:ext cx="56" cy="67"/>
            </a:xfrm>
            <a:custGeom>
              <a:avLst/>
              <a:gdLst>
                <a:gd name="T0" fmla="*/ 0 w 56"/>
                <a:gd name="T1" fmla="*/ 67 h 67"/>
                <a:gd name="T2" fmla="*/ 56 w 56"/>
                <a:gd name="T3" fmla="*/ 29 h 67"/>
                <a:gd name="T4" fmla="*/ 0 w 56"/>
                <a:gd name="T5" fmla="*/ 0 h 67"/>
                <a:gd name="T6" fmla="*/ 0 60000 65536"/>
                <a:gd name="T7" fmla="*/ 0 60000 65536"/>
                <a:gd name="T8" fmla="*/ 0 60000 65536"/>
                <a:gd name="T9" fmla="*/ 0 w 56"/>
                <a:gd name="T10" fmla="*/ 0 h 67"/>
                <a:gd name="T11" fmla="*/ 56 w 56"/>
                <a:gd name="T12" fmla="*/ 67 h 67"/>
              </a:gdLst>
              <a:ahLst/>
              <a:cxnLst>
                <a:cxn ang="T6">
                  <a:pos x="T0" y="T1"/>
                </a:cxn>
                <a:cxn ang="T7">
                  <a:pos x="T2" y="T3"/>
                </a:cxn>
                <a:cxn ang="T8">
                  <a:pos x="T4" y="T5"/>
                </a:cxn>
              </a:cxnLst>
              <a:rect l="T9" t="T10" r="T11" b="T12"/>
              <a:pathLst>
                <a:path w="56" h="67">
                  <a:moveTo>
                    <a:pt x="0" y="67"/>
                  </a:moveTo>
                  <a:lnTo>
                    <a:pt x="56" y="29"/>
                  </a:lnTo>
                  <a:lnTo>
                    <a:pt x="0" y="0"/>
                  </a:lnTo>
                </a:path>
              </a:pathLst>
            </a:custGeom>
            <a:noFill/>
            <a:ln w="14351">
              <a:solidFill>
                <a:srgbClr val="0000FF"/>
              </a:solidFill>
              <a:prstDash val="solid"/>
              <a:round/>
            </a:ln>
          </p:spPr>
          <p:txBody>
            <a:bodyPr/>
            <a:lstStyle/>
            <a:p>
              <a:endParaRPr lang="zh-CN" altLang="en-US"/>
            </a:p>
          </p:txBody>
        </p:sp>
      </p:grpSp>
      <p:grpSp>
        <p:nvGrpSpPr>
          <p:cNvPr id="32806" name="Group 81"/>
          <p:cNvGrpSpPr/>
          <p:nvPr/>
        </p:nvGrpSpPr>
        <p:grpSpPr bwMode="auto">
          <a:xfrm>
            <a:off x="5181600" y="5040313"/>
            <a:ext cx="398463" cy="141287"/>
            <a:chOff x="2200" y="1559"/>
            <a:chExt cx="227" cy="66"/>
          </a:xfrm>
        </p:grpSpPr>
        <p:sp>
          <p:nvSpPr>
            <p:cNvPr id="32812" name="Line 82"/>
            <p:cNvSpPr>
              <a:spLocks noChangeShapeType="1"/>
            </p:cNvSpPr>
            <p:nvPr/>
          </p:nvSpPr>
          <p:spPr bwMode="auto">
            <a:xfrm>
              <a:off x="2200" y="1587"/>
              <a:ext cx="227" cy="1"/>
            </a:xfrm>
            <a:prstGeom prst="line">
              <a:avLst/>
            </a:prstGeom>
            <a:noFill/>
            <a:ln w="14351">
              <a:solidFill>
                <a:srgbClr val="FF0000"/>
              </a:solidFill>
              <a:round/>
            </a:ln>
          </p:spPr>
          <p:txBody>
            <a:bodyPr/>
            <a:lstStyle/>
            <a:p>
              <a:endParaRPr lang="zh-CN" altLang="en-US"/>
            </a:p>
          </p:txBody>
        </p:sp>
        <p:sp>
          <p:nvSpPr>
            <p:cNvPr id="32813" name="Freeform 83"/>
            <p:cNvSpPr/>
            <p:nvPr/>
          </p:nvSpPr>
          <p:spPr bwMode="auto">
            <a:xfrm>
              <a:off x="2370" y="1559"/>
              <a:ext cx="57" cy="66"/>
            </a:xfrm>
            <a:custGeom>
              <a:avLst/>
              <a:gdLst>
                <a:gd name="T0" fmla="*/ 0 w 57"/>
                <a:gd name="T1" fmla="*/ 66 h 66"/>
                <a:gd name="T2" fmla="*/ 57 w 57"/>
                <a:gd name="T3" fmla="*/ 28 h 66"/>
                <a:gd name="T4" fmla="*/ 0 w 57"/>
                <a:gd name="T5" fmla="*/ 0 h 66"/>
                <a:gd name="T6" fmla="*/ 0 60000 65536"/>
                <a:gd name="T7" fmla="*/ 0 60000 65536"/>
                <a:gd name="T8" fmla="*/ 0 60000 65536"/>
                <a:gd name="T9" fmla="*/ 0 w 57"/>
                <a:gd name="T10" fmla="*/ 0 h 66"/>
                <a:gd name="T11" fmla="*/ 57 w 57"/>
                <a:gd name="T12" fmla="*/ 66 h 66"/>
              </a:gdLst>
              <a:ahLst/>
              <a:cxnLst>
                <a:cxn ang="T6">
                  <a:pos x="T0" y="T1"/>
                </a:cxn>
                <a:cxn ang="T7">
                  <a:pos x="T2" y="T3"/>
                </a:cxn>
                <a:cxn ang="T8">
                  <a:pos x="T4" y="T5"/>
                </a:cxn>
              </a:cxnLst>
              <a:rect l="T9" t="T10" r="T11" b="T12"/>
              <a:pathLst>
                <a:path w="57" h="66">
                  <a:moveTo>
                    <a:pt x="0" y="66"/>
                  </a:moveTo>
                  <a:lnTo>
                    <a:pt x="57" y="28"/>
                  </a:lnTo>
                  <a:lnTo>
                    <a:pt x="0" y="0"/>
                  </a:lnTo>
                </a:path>
              </a:pathLst>
            </a:custGeom>
            <a:noFill/>
            <a:ln w="14351">
              <a:solidFill>
                <a:srgbClr val="FF0000"/>
              </a:solidFill>
              <a:prstDash val="solid"/>
              <a:round/>
            </a:ln>
          </p:spPr>
          <p:txBody>
            <a:bodyPr/>
            <a:lstStyle/>
            <a:p>
              <a:endParaRPr lang="zh-CN" altLang="en-US"/>
            </a:p>
          </p:txBody>
        </p:sp>
      </p:grpSp>
      <p:sp>
        <p:nvSpPr>
          <p:cNvPr id="32807" name="Rectangle 84"/>
          <p:cNvSpPr>
            <a:spLocks noChangeArrowheads="1"/>
          </p:cNvSpPr>
          <p:nvPr/>
        </p:nvSpPr>
        <p:spPr bwMode="auto">
          <a:xfrm>
            <a:off x="5867400" y="4941888"/>
            <a:ext cx="863600" cy="258762"/>
          </a:xfrm>
          <a:prstGeom prst="rect">
            <a:avLst/>
          </a:prstGeom>
          <a:noFill/>
          <a:ln w="9525">
            <a:noFill/>
            <a:miter lim="800000"/>
          </a:ln>
        </p:spPr>
        <p:txBody>
          <a:bodyPr wrap="none" lIns="0" tIns="0" rIns="0" bIns="0">
            <a:spAutoFit/>
          </a:bodyPr>
          <a:lstStyle/>
          <a:p>
            <a:r>
              <a:rPr lang="zh-CN" altLang="en-US" sz="1700">
                <a:solidFill>
                  <a:srgbClr val="000000"/>
                </a:solidFill>
                <a:latin typeface="宋体" panose="02010600030101010101" pitchFamily="2" charset="-122"/>
              </a:rPr>
              <a:t>地址信号</a:t>
            </a:r>
            <a:endParaRPr lang="zh-CN" altLang="en-US"/>
          </a:p>
        </p:txBody>
      </p:sp>
      <p:grpSp>
        <p:nvGrpSpPr>
          <p:cNvPr id="32808" name="Group 85"/>
          <p:cNvGrpSpPr/>
          <p:nvPr/>
        </p:nvGrpSpPr>
        <p:grpSpPr bwMode="auto">
          <a:xfrm>
            <a:off x="4932363" y="3068638"/>
            <a:ext cx="71437" cy="1152525"/>
            <a:chOff x="2852" y="2240"/>
            <a:chExt cx="66" cy="198"/>
          </a:xfrm>
        </p:grpSpPr>
        <p:sp>
          <p:nvSpPr>
            <p:cNvPr id="32810" name="Line 86"/>
            <p:cNvSpPr>
              <a:spLocks noChangeShapeType="1"/>
            </p:cNvSpPr>
            <p:nvPr/>
          </p:nvSpPr>
          <p:spPr bwMode="auto">
            <a:xfrm flipV="1">
              <a:off x="2880" y="2240"/>
              <a:ext cx="1" cy="198"/>
            </a:xfrm>
            <a:prstGeom prst="line">
              <a:avLst/>
            </a:prstGeom>
            <a:noFill/>
            <a:ln w="14351">
              <a:solidFill>
                <a:srgbClr val="0000FF"/>
              </a:solidFill>
              <a:round/>
            </a:ln>
          </p:spPr>
          <p:txBody>
            <a:bodyPr/>
            <a:lstStyle/>
            <a:p>
              <a:endParaRPr lang="zh-CN" altLang="en-US"/>
            </a:p>
          </p:txBody>
        </p:sp>
        <p:sp>
          <p:nvSpPr>
            <p:cNvPr id="32811" name="Freeform 87"/>
            <p:cNvSpPr/>
            <p:nvPr/>
          </p:nvSpPr>
          <p:spPr bwMode="auto">
            <a:xfrm>
              <a:off x="2852" y="2240"/>
              <a:ext cx="66" cy="56"/>
            </a:xfrm>
            <a:custGeom>
              <a:avLst/>
              <a:gdLst>
                <a:gd name="T0" fmla="*/ 66 w 66"/>
                <a:gd name="T1" fmla="*/ 56 h 56"/>
                <a:gd name="T2" fmla="*/ 28 w 66"/>
                <a:gd name="T3" fmla="*/ 0 h 56"/>
                <a:gd name="T4" fmla="*/ 0 w 66"/>
                <a:gd name="T5" fmla="*/ 56 h 56"/>
                <a:gd name="T6" fmla="*/ 0 60000 65536"/>
                <a:gd name="T7" fmla="*/ 0 60000 65536"/>
                <a:gd name="T8" fmla="*/ 0 60000 65536"/>
                <a:gd name="T9" fmla="*/ 0 w 66"/>
                <a:gd name="T10" fmla="*/ 0 h 56"/>
                <a:gd name="T11" fmla="*/ 66 w 66"/>
                <a:gd name="T12" fmla="*/ 56 h 56"/>
              </a:gdLst>
              <a:ahLst/>
              <a:cxnLst>
                <a:cxn ang="T6">
                  <a:pos x="T0" y="T1"/>
                </a:cxn>
                <a:cxn ang="T7">
                  <a:pos x="T2" y="T3"/>
                </a:cxn>
                <a:cxn ang="T8">
                  <a:pos x="T4" y="T5"/>
                </a:cxn>
              </a:cxnLst>
              <a:rect l="T9" t="T10" r="T11" b="T12"/>
              <a:pathLst>
                <a:path w="66" h="56">
                  <a:moveTo>
                    <a:pt x="66" y="56"/>
                  </a:moveTo>
                  <a:lnTo>
                    <a:pt x="28" y="0"/>
                  </a:lnTo>
                  <a:lnTo>
                    <a:pt x="0" y="56"/>
                  </a:lnTo>
                </a:path>
              </a:pathLst>
            </a:custGeom>
            <a:noFill/>
            <a:ln w="14351">
              <a:solidFill>
                <a:srgbClr val="0000FF"/>
              </a:solidFill>
              <a:prstDash val="solid"/>
              <a:round/>
            </a:ln>
          </p:spPr>
          <p:txBody>
            <a:bodyPr/>
            <a:lstStyle/>
            <a:p>
              <a:endParaRPr lang="zh-CN" altLang="en-US"/>
            </a:p>
          </p:txBody>
        </p:sp>
      </p:grpSp>
      <p:sp>
        <p:nvSpPr>
          <p:cNvPr id="32809" name="Line 88"/>
          <p:cNvSpPr>
            <a:spLocks noChangeShapeType="1"/>
          </p:cNvSpPr>
          <p:nvPr/>
        </p:nvSpPr>
        <p:spPr bwMode="auto">
          <a:xfrm>
            <a:off x="2209800" y="5105400"/>
            <a:ext cx="533400" cy="0"/>
          </a:xfrm>
          <a:prstGeom prst="line">
            <a:avLst/>
          </a:prstGeom>
          <a:noFill/>
          <a:ln w="9525">
            <a:solidFill>
              <a:schemeClr val="tx1"/>
            </a:solidFill>
            <a:round/>
            <a:headEnd type="triangle" w="lg" len="med"/>
            <a:tailEnd type="triangle" w="lg" len="med"/>
          </a:ln>
        </p:spPr>
        <p:txBody>
          <a:bodyPr wrap="none"/>
          <a:lstStyle/>
          <a:p>
            <a:endParaRPr lang="zh-CN" altLang="en-US"/>
          </a:p>
        </p:txBody>
      </p:sp>
      <p:cxnSp>
        <p:nvCxnSpPr>
          <p:cNvPr id="2" name="直接连接符 1"/>
          <p:cNvCxnSpPr>
            <a:stCxn id="32796" idx="0"/>
          </p:cNvCxnSpPr>
          <p:nvPr/>
        </p:nvCxnSpPr>
        <p:spPr>
          <a:xfrm flipH="1">
            <a:off x="5220335" y="2773680"/>
            <a:ext cx="361315" cy="7620"/>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122238"/>
            <a:ext cx="7543800" cy="858837"/>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3795" name="Rectangle 3"/>
          <p:cNvSpPr>
            <a:spLocks noGrp="1" noChangeArrowheads="1"/>
          </p:cNvSpPr>
          <p:nvPr>
            <p:ph type="body" sz="half" idx="1"/>
          </p:nvPr>
        </p:nvSpPr>
        <p:spPr>
          <a:xfrm>
            <a:off x="468313" y="1268413"/>
            <a:ext cx="4038600" cy="4608512"/>
          </a:xfrm>
        </p:spPr>
        <p:txBody>
          <a:bodyPr/>
          <a:lstStyle/>
          <a:p>
            <a:pPr marL="762000" indent="-762000" eaLnBrk="1" hangingPunct="1">
              <a:lnSpc>
                <a:spcPct val="150000"/>
              </a:lnSpc>
              <a:buFont typeface="Wingdings" panose="05000000000000000000" pitchFamily="2" charset="2"/>
              <a:buNone/>
            </a:pPr>
            <a:r>
              <a:rPr lang="zh-CN" altLang="en-US" sz="2600" smtClean="0"/>
              <a:t>四、运算器</a:t>
            </a:r>
            <a:endParaRPr lang="zh-CN" altLang="en-US" sz="2600" smtClean="0"/>
          </a:p>
          <a:p>
            <a:pPr marL="762000" indent="-762000" eaLnBrk="1" hangingPunct="1">
              <a:lnSpc>
                <a:spcPct val="150000"/>
              </a:lnSpc>
            </a:pPr>
            <a:r>
              <a:rPr lang="zh-CN" altLang="en-US" sz="2400" smtClean="0">
                <a:latin typeface="宋体" panose="02010600030101010101" pitchFamily="2" charset="-122"/>
              </a:rPr>
              <a:t>算术运算和逻辑运算</a:t>
            </a:r>
            <a:endParaRPr lang="zh-CN" altLang="en-US" sz="2400" smtClean="0">
              <a:latin typeface="宋体" panose="02010600030101010101" pitchFamily="2" charset="-122"/>
            </a:endParaRPr>
          </a:p>
          <a:p>
            <a:pPr marL="762000" indent="-762000" eaLnBrk="1" hangingPunct="1">
              <a:lnSpc>
                <a:spcPct val="150000"/>
              </a:lnSpc>
            </a:pPr>
            <a:r>
              <a:rPr lang="zh-CN" altLang="en-US" sz="2400" smtClean="0">
                <a:latin typeface="宋体" panose="02010600030101010101" pitchFamily="2" charset="-122"/>
              </a:rPr>
              <a:t>在计算机中参与运算的数是二进制的</a:t>
            </a:r>
            <a:endParaRPr lang="zh-CN" altLang="en-US" sz="2400" smtClean="0">
              <a:latin typeface="宋体" panose="02010600030101010101" pitchFamily="2" charset="-122"/>
            </a:endParaRPr>
          </a:p>
          <a:p>
            <a:pPr marL="762000" indent="-762000" eaLnBrk="1" hangingPunct="1">
              <a:lnSpc>
                <a:spcPct val="150000"/>
              </a:lnSpc>
            </a:pPr>
            <a:r>
              <a:rPr lang="zh-CN" altLang="en-US" sz="2400" smtClean="0">
                <a:latin typeface="宋体" panose="02010600030101010101" pitchFamily="2" charset="-122"/>
              </a:rPr>
              <a:t>运算器的长度一般是</a:t>
            </a:r>
            <a:r>
              <a:rPr lang="en-US" altLang="zh-CN" sz="2400" smtClean="0">
                <a:latin typeface="宋体" panose="02010600030101010101" pitchFamily="2" charset="-122"/>
              </a:rPr>
              <a:t>8</a:t>
            </a:r>
            <a:r>
              <a:rPr lang="zh-CN" altLang="en-US" sz="2400" smtClean="0">
                <a:latin typeface="宋体" panose="02010600030101010101" pitchFamily="2" charset="-122"/>
              </a:rPr>
              <a:t>、</a:t>
            </a:r>
            <a:r>
              <a:rPr lang="en-US" altLang="zh-CN" sz="2400" smtClean="0">
                <a:latin typeface="宋体" panose="02010600030101010101" pitchFamily="2" charset="-122"/>
              </a:rPr>
              <a:t>16</a:t>
            </a:r>
            <a:r>
              <a:rPr lang="zh-CN" altLang="en-US" sz="2400" smtClean="0">
                <a:latin typeface="宋体" panose="02010600030101010101" pitchFamily="2" charset="-122"/>
              </a:rPr>
              <a:t>、</a:t>
            </a:r>
            <a:r>
              <a:rPr lang="en-US" altLang="zh-CN" sz="2400" smtClean="0">
                <a:latin typeface="宋体" panose="02010600030101010101" pitchFamily="2" charset="-122"/>
              </a:rPr>
              <a:t>32</a:t>
            </a:r>
            <a:r>
              <a:rPr lang="zh-CN" altLang="en-US" sz="2400" smtClean="0">
                <a:latin typeface="宋体" panose="02010600030101010101" pitchFamily="2" charset="-122"/>
              </a:rPr>
              <a:t>或</a:t>
            </a:r>
            <a:r>
              <a:rPr lang="en-US" altLang="zh-CN" sz="2400" smtClean="0">
                <a:latin typeface="宋体" panose="02010600030101010101" pitchFamily="2" charset="-122"/>
              </a:rPr>
              <a:t>64</a:t>
            </a:r>
            <a:r>
              <a:rPr lang="zh-CN" altLang="en-US" sz="2400" smtClean="0">
                <a:latin typeface="宋体" panose="02010600030101010101" pitchFamily="2" charset="-122"/>
              </a:rPr>
              <a:t>位</a:t>
            </a:r>
            <a:endParaRPr lang="zh-CN" altLang="en-US" sz="2400" smtClean="0">
              <a:latin typeface="宋体" panose="02010600030101010101" pitchFamily="2" charset="-122"/>
            </a:endParaRPr>
          </a:p>
        </p:txBody>
      </p:sp>
      <p:graphicFrame>
        <p:nvGraphicFramePr>
          <p:cNvPr id="33796" name="Object 4"/>
          <p:cNvGraphicFramePr>
            <a:graphicFrameLocks noGrp="1" noChangeAspect="1"/>
          </p:cNvGraphicFramePr>
          <p:nvPr>
            <p:ph sz="half" idx="2"/>
          </p:nvPr>
        </p:nvGraphicFramePr>
        <p:xfrm>
          <a:off x="4859338" y="1700213"/>
          <a:ext cx="3171825" cy="2965450"/>
        </p:xfrm>
        <a:graphic>
          <a:graphicData uri="http://schemas.openxmlformats.org/presentationml/2006/ole">
            <mc:AlternateContent xmlns:mc="http://schemas.openxmlformats.org/markup-compatibility/2006">
              <mc:Choice xmlns:v="urn:schemas-microsoft-com:vml" Requires="v">
                <p:oleObj spid="_x0000_s33825" name="Visio" r:id="rId1" imgW="3171825" imgH="2966085" progId="Visio.Drawing.11">
                  <p:embed/>
                </p:oleObj>
              </mc:Choice>
              <mc:Fallback>
                <p:oleObj name="Visio" r:id="rId1" imgW="3171825" imgH="296608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1700213"/>
                        <a:ext cx="3171825" cy="296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4819" name="Rectangle 3"/>
          <p:cNvSpPr>
            <a:spLocks noGrp="1" noChangeArrowheads="1"/>
          </p:cNvSpPr>
          <p:nvPr>
            <p:ph type="body" idx="1"/>
          </p:nvPr>
        </p:nvSpPr>
        <p:spPr>
          <a:xfrm>
            <a:off x="468313" y="1196975"/>
            <a:ext cx="8229600" cy="4679950"/>
          </a:xfrm>
        </p:spPr>
        <p:txBody>
          <a:bodyPr/>
          <a:lstStyle/>
          <a:p>
            <a:pPr eaLnBrk="1" hangingPunct="1">
              <a:buFont typeface="Wingdings" panose="05000000000000000000" pitchFamily="2" charset="2"/>
              <a:buNone/>
            </a:pPr>
            <a:r>
              <a:rPr lang="zh-CN" altLang="en-US" smtClean="0"/>
              <a:t>五、存储器</a:t>
            </a:r>
            <a:endParaRPr lang="zh-CN" altLang="en-US" smtClean="0"/>
          </a:p>
          <a:p>
            <a:pPr eaLnBrk="1" hangingPunct="1"/>
            <a:r>
              <a:rPr lang="zh-CN" altLang="en-US" sz="3100" smtClean="0"/>
              <a:t>存储数据和程序（指令）</a:t>
            </a:r>
            <a:endParaRPr lang="zh-CN" altLang="en-US" sz="3100" smtClean="0"/>
          </a:p>
          <a:p>
            <a:pPr eaLnBrk="1" hangingPunct="1"/>
            <a:r>
              <a:rPr lang="zh-CN" altLang="en-US" sz="3100" smtClean="0"/>
              <a:t>容量（存储单元、存储单元地址、存储容量）</a:t>
            </a:r>
            <a:endParaRPr lang="zh-CN" altLang="en-US" sz="3100" smtClean="0"/>
          </a:p>
          <a:p>
            <a:pPr eaLnBrk="1" hangingPunct="1"/>
            <a:r>
              <a:rPr lang="zh-CN" altLang="en-US" sz="3100" smtClean="0"/>
              <a:t>分类内存（</a:t>
            </a:r>
            <a:r>
              <a:rPr lang="en-US" altLang="zh-CN" sz="3100" smtClean="0"/>
              <a:t>ROM</a:t>
            </a:r>
            <a:r>
              <a:rPr lang="zh-CN" altLang="en-US" sz="3100" smtClean="0"/>
              <a:t>、</a:t>
            </a:r>
            <a:r>
              <a:rPr lang="en-US" altLang="zh-CN" sz="3100" smtClean="0"/>
              <a:t>RAM</a:t>
            </a:r>
            <a:r>
              <a:rPr lang="zh-CN" altLang="en-US" sz="3100" smtClean="0"/>
              <a:t>）、外存</a:t>
            </a:r>
            <a:endParaRPr lang="zh-CN" altLang="en-US" sz="3100" smtClean="0"/>
          </a:p>
          <a:p>
            <a:pPr eaLnBrk="1" hangingPunct="1"/>
            <a:r>
              <a:rPr lang="zh-CN" altLang="en-US" sz="3100" smtClean="0"/>
              <a:t>存储容量单位：</a:t>
            </a:r>
            <a:endParaRPr lang="zh-CN" altLang="en-US" sz="3100" smtClean="0"/>
          </a:p>
          <a:p>
            <a:pPr lvl="2" eaLnBrk="1" hangingPunct="1"/>
            <a:r>
              <a:rPr kumimoji="1" lang="en-US" altLang="zh-CN" smtClean="0"/>
              <a:t>2</a:t>
            </a:r>
            <a:r>
              <a:rPr kumimoji="1" lang="en-US" altLang="zh-CN" baseline="30000" smtClean="0"/>
              <a:t>10</a:t>
            </a:r>
            <a:r>
              <a:rPr kumimoji="1" lang="en-US" altLang="zh-CN" smtClean="0"/>
              <a:t> byte</a:t>
            </a:r>
            <a:r>
              <a:rPr kumimoji="1" lang="zh-CN" altLang="en-US" smtClean="0"/>
              <a:t>＝</a:t>
            </a:r>
            <a:r>
              <a:rPr kumimoji="1" lang="en-US" altLang="zh-CN" smtClean="0"/>
              <a:t>1K</a:t>
            </a:r>
            <a:endParaRPr kumimoji="1" lang="en-US" altLang="zh-CN" smtClean="0"/>
          </a:p>
          <a:p>
            <a:pPr lvl="2" eaLnBrk="1" hangingPunct="1"/>
            <a:r>
              <a:rPr kumimoji="1" lang="en-US" altLang="zh-CN" smtClean="0"/>
              <a:t>2</a:t>
            </a:r>
            <a:r>
              <a:rPr kumimoji="1" lang="en-US" altLang="zh-CN" baseline="30000" smtClean="0"/>
              <a:t>10</a:t>
            </a:r>
            <a:r>
              <a:rPr kumimoji="1" lang="en-US" altLang="zh-CN" smtClean="0"/>
              <a:t> K</a:t>
            </a:r>
            <a:r>
              <a:rPr kumimoji="1" lang="zh-CN" altLang="en-US" smtClean="0"/>
              <a:t>＝</a:t>
            </a:r>
            <a:r>
              <a:rPr kumimoji="1" lang="en-US" altLang="zh-CN" smtClean="0"/>
              <a:t>1M</a:t>
            </a:r>
            <a:endParaRPr kumimoji="1" lang="en-US" altLang="zh-CN" smtClean="0"/>
          </a:p>
          <a:p>
            <a:pPr lvl="2" eaLnBrk="1" hangingPunct="1"/>
            <a:r>
              <a:rPr kumimoji="1" lang="en-US" altLang="zh-CN" smtClean="0"/>
              <a:t>2</a:t>
            </a:r>
            <a:r>
              <a:rPr kumimoji="1" lang="en-US" altLang="zh-CN" baseline="30000" smtClean="0"/>
              <a:t>10</a:t>
            </a:r>
            <a:r>
              <a:rPr kumimoji="1" lang="en-US" altLang="zh-CN" smtClean="0"/>
              <a:t> M</a:t>
            </a:r>
            <a:r>
              <a:rPr kumimoji="1" lang="zh-CN" altLang="en-US" smtClean="0"/>
              <a:t>＝</a:t>
            </a:r>
            <a:r>
              <a:rPr kumimoji="1" lang="en-US" altLang="zh-CN" smtClean="0"/>
              <a:t>1G</a:t>
            </a:r>
            <a:endParaRPr kumimoji="1" lang="en-US" altLang="zh-CN" smtClean="0"/>
          </a:p>
          <a:p>
            <a:pPr lvl="2" eaLnBrk="1" hangingPunct="1"/>
            <a:r>
              <a:rPr kumimoji="1" lang="en-US" altLang="zh-CN" smtClean="0"/>
              <a:t>2</a:t>
            </a:r>
            <a:r>
              <a:rPr kumimoji="1" lang="en-US" altLang="zh-CN" baseline="30000" smtClean="0"/>
              <a:t>10 </a:t>
            </a:r>
            <a:r>
              <a:rPr kumimoji="1" lang="en-US" altLang="zh-CN" smtClean="0"/>
              <a:t>G</a:t>
            </a:r>
            <a:r>
              <a:rPr kumimoji="1" lang="zh-CN" altLang="en-US" smtClean="0"/>
              <a:t>＝</a:t>
            </a:r>
            <a:r>
              <a:rPr kumimoji="1" lang="en-US" altLang="zh-CN" smtClean="0"/>
              <a:t>1T</a:t>
            </a:r>
            <a:endParaRPr kumimoji="1" lang="en-US" altLang="zh-CN" smtClean="0"/>
          </a:p>
        </p:txBody>
      </p:sp>
      <p:pic>
        <p:nvPicPr>
          <p:cNvPr id="34820" name="Picture 4" descr="1a4">
            <a:hlinkClick r:id="rId1" action="ppaction://hlinkfile"/>
          </p:cNvPr>
          <p:cNvPicPr>
            <a:picLocks noChangeAspect="1" noChangeArrowheads="1"/>
          </p:cNvPicPr>
          <p:nvPr/>
        </p:nvPicPr>
        <p:blipFill>
          <a:blip r:embed="rId2"/>
          <a:srcRect/>
          <a:stretch>
            <a:fillRect/>
          </a:stretch>
        </p:blipFill>
        <p:spPr bwMode="auto">
          <a:xfrm>
            <a:off x="3779838" y="3573463"/>
            <a:ext cx="2305050" cy="2628900"/>
          </a:xfrm>
          <a:prstGeom prst="rect">
            <a:avLst/>
          </a:prstGeom>
          <a:noFill/>
          <a:ln w="9525">
            <a:noFill/>
            <a:miter lim="800000"/>
            <a:headEnd/>
            <a:tailEnd/>
          </a:ln>
        </p:spPr>
      </p:pic>
      <p:pic>
        <p:nvPicPr>
          <p:cNvPr id="34821" name="Picture 5" descr="1a5">
            <a:hlinkClick r:id="rId3" action="ppaction://hlinkfile"/>
          </p:cNvPr>
          <p:cNvPicPr>
            <a:picLocks noChangeAspect="1" noChangeArrowheads="1"/>
          </p:cNvPicPr>
          <p:nvPr/>
        </p:nvPicPr>
        <p:blipFill>
          <a:blip r:embed="rId4"/>
          <a:srcRect/>
          <a:stretch>
            <a:fillRect/>
          </a:stretch>
        </p:blipFill>
        <p:spPr bwMode="auto">
          <a:xfrm>
            <a:off x="6084888" y="3573463"/>
            <a:ext cx="2519362" cy="26431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5843" name="Rectangle 3"/>
          <p:cNvSpPr>
            <a:spLocks noGrp="1" noChangeArrowheads="1"/>
          </p:cNvSpPr>
          <p:nvPr>
            <p:ph type="body" idx="1"/>
          </p:nvPr>
        </p:nvSpPr>
        <p:spPr>
          <a:xfrm>
            <a:off x="468313" y="1125538"/>
            <a:ext cx="8435975" cy="5327650"/>
          </a:xfrm>
        </p:spPr>
        <p:txBody>
          <a:bodyPr/>
          <a:lstStyle/>
          <a:p>
            <a:pPr marL="0" indent="0" eaLnBrk="1" hangingPunct="1">
              <a:buFont typeface="Wingdings" panose="05000000000000000000" pitchFamily="2" charset="2"/>
              <a:buNone/>
            </a:pPr>
            <a:r>
              <a:rPr lang="zh-CN" altLang="en-US" sz="2800" smtClean="0">
                <a:latin typeface="宋体" panose="02010600030101010101" pitchFamily="2" charset="-122"/>
              </a:rPr>
              <a:t>六、控制器</a:t>
            </a:r>
            <a:endParaRPr lang="zh-CN" altLang="en-US" sz="2800" b="1" smtClean="0">
              <a:latin typeface="宋体" panose="02010600030101010101" pitchFamily="2" charset="-122"/>
            </a:endParaRPr>
          </a:p>
          <a:p>
            <a:pPr marL="0" indent="0" eaLnBrk="1" hangingPunct="1">
              <a:buFont typeface="Wingdings" panose="05000000000000000000" pitchFamily="2" charset="2"/>
              <a:buNone/>
            </a:pPr>
            <a:r>
              <a:rPr lang="zh-CN" altLang="en-US" sz="2800" smtClean="0">
                <a:latin typeface="宋体" panose="02010600030101010101" pitchFamily="2" charset="-122"/>
              </a:rPr>
              <a:t>    控制器是分析和执行指令的部件，也是统一指挥和控制计算机各个部件按时序协调操作的部件。计算机之所以能够自动、连续地工作是依赖于人们事先编制好的程序（一组指令序列），而程序的执行则是由控制器统一指挥完成的，它保证计算机内部的数据、信息按照预定的目标和步骤有条不紊地操作和处理</a:t>
            </a:r>
            <a:r>
              <a:rPr lang="zh-CN" altLang="en-US" sz="2800" b="1" smtClean="0">
                <a:latin typeface="宋体" panose="02010600030101010101" pitchFamily="2" charset="-122"/>
              </a:rPr>
              <a:t>。</a:t>
            </a:r>
            <a:endParaRPr lang="zh-CN" altLang="en-US" sz="2800" b="1" smtClean="0">
              <a:latin typeface="宋体" panose="02010600030101010101" pitchFamily="2" charset="-122"/>
            </a:endParaRPr>
          </a:p>
          <a:p>
            <a:pPr marL="0" indent="0" eaLnBrk="1" hangingPunct="1">
              <a:buFont typeface="Wingdings" panose="05000000000000000000" pitchFamily="2" charset="2"/>
              <a:buNone/>
            </a:pPr>
            <a:r>
              <a:rPr lang="zh-CN" altLang="en-US" sz="2800" b="1" smtClean="0">
                <a:latin typeface="宋体" panose="02010600030101010101" pitchFamily="2" charset="-122"/>
              </a:rPr>
              <a:t>基本功能</a:t>
            </a:r>
            <a:endParaRPr lang="zh-CN" altLang="en-US" sz="2800" b="1" smtClean="0">
              <a:latin typeface="宋体" panose="02010600030101010101" pitchFamily="2" charset="-122"/>
            </a:endParaRPr>
          </a:p>
          <a:p>
            <a:pPr marL="0" indent="0" eaLnBrk="1" hangingPunct="1">
              <a:buFont typeface="Wingdings" panose="05000000000000000000" pitchFamily="2" charset="2"/>
              <a:buNone/>
            </a:pPr>
            <a:r>
              <a:rPr lang="zh-CN" altLang="en-US" sz="2800" smtClean="0">
                <a:latin typeface="宋体" panose="02010600030101010101" pitchFamily="2" charset="-122"/>
              </a:rPr>
              <a:t>  </a:t>
            </a:r>
            <a:r>
              <a:rPr lang="en-US" altLang="zh-CN" sz="2800" smtClean="0">
                <a:latin typeface="宋体" panose="02010600030101010101" pitchFamily="2" charset="-122"/>
              </a:rPr>
              <a:t>1</a:t>
            </a:r>
            <a:r>
              <a:rPr lang="zh-CN" altLang="en-US" sz="2800" smtClean="0">
                <a:latin typeface="宋体" panose="02010600030101010101" pitchFamily="2" charset="-122"/>
              </a:rPr>
              <a:t>．执行指令 </a:t>
            </a:r>
            <a:endParaRPr lang="zh-CN" altLang="en-US" sz="2800" smtClean="0">
              <a:latin typeface="宋体" panose="02010600030101010101" pitchFamily="2" charset="-122"/>
            </a:endParaRPr>
          </a:p>
          <a:p>
            <a:pPr marL="0" indent="0" eaLnBrk="1" hangingPunct="1">
              <a:buFont typeface="Wingdings" panose="05000000000000000000" pitchFamily="2" charset="2"/>
              <a:buNone/>
            </a:pPr>
            <a:r>
              <a:rPr lang="zh-CN" altLang="en-US" sz="2800" smtClean="0">
                <a:latin typeface="宋体" panose="02010600030101010101" pitchFamily="2" charset="-122"/>
              </a:rPr>
              <a:t>  </a:t>
            </a:r>
            <a:r>
              <a:rPr lang="en-US" altLang="zh-CN" sz="2800" smtClean="0">
                <a:latin typeface="宋体" panose="02010600030101010101" pitchFamily="2" charset="-122"/>
              </a:rPr>
              <a:t>2</a:t>
            </a:r>
            <a:r>
              <a:rPr lang="zh-CN" altLang="en-US" sz="2800" smtClean="0">
                <a:latin typeface="宋体" panose="02010600030101010101" pitchFamily="2" charset="-122"/>
              </a:rPr>
              <a:t>．控制程序、数据的输入和结果的输出</a:t>
            </a:r>
            <a:endParaRPr lang="zh-CN" altLang="en-US" sz="2800" smtClean="0">
              <a:latin typeface="宋体" panose="02010600030101010101" pitchFamily="2" charset="-122"/>
            </a:endParaRPr>
          </a:p>
          <a:p>
            <a:pPr marL="0" indent="0" eaLnBrk="1" hangingPunct="1">
              <a:buFont typeface="Wingdings" panose="05000000000000000000" pitchFamily="2" charset="2"/>
              <a:buNone/>
            </a:pPr>
            <a:r>
              <a:rPr lang="zh-CN" altLang="en-US" sz="2800" smtClean="0">
                <a:latin typeface="宋体" panose="02010600030101010101" pitchFamily="2" charset="-122"/>
              </a:rPr>
              <a:t>  </a:t>
            </a:r>
            <a:r>
              <a:rPr lang="en-US" altLang="zh-CN" sz="2800" smtClean="0">
                <a:latin typeface="宋体" panose="02010600030101010101" pitchFamily="2" charset="-122"/>
              </a:rPr>
              <a:t>3</a:t>
            </a:r>
            <a:r>
              <a:rPr lang="zh-CN" altLang="en-US" sz="2800" smtClean="0">
                <a:latin typeface="宋体" panose="02010600030101010101" pitchFamily="2" charset="-122"/>
              </a:rPr>
              <a:t>．异常情况和某些请求的处理</a:t>
            </a:r>
            <a:endParaRPr lang="zh-CN" altLang="en-US" sz="280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6867" name="Rectangle 3"/>
          <p:cNvSpPr>
            <a:spLocks noGrp="1" noChangeArrowheads="1"/>
          </p:cNvSpPr>
          <p:nvPr>
            <p:ph type="body" idx="1"/>
          </p:nvPr>
        </p:nvSpPr>
        <p:spPr>
          <a:xfrm>
            <a:off x="468313" y="1117600"/>
            <a:ext cx="8229600" cy="4411663"/>
          </a:xfrm>
        </p:spPr>
        <p:txBody>
          <a:bodyPr/>
          <a:lstStyle/>
          <a:p>
            <a:pPr eaLnBrk="1" hangingPunct="1">
              <a:buFont typeface="Wingdings" panose="05000000000000000000" pitchFamily="2" charset="2"/>
              <a:buNone/>
            </a:pPr>
            <a:r>
              <a:rPr lang="zh-CN" altLang="en-US" smtClean="0"/>
              <a:t>七、</a:t>
            </a:r>
            <a:r>
              <a:rPr lang="zh-CN" altLang="en-US" sz="2600" smtClean="0"/>
              <a:t>控制器的基本任务</a:t>
            </a:r>
            <a:endParaRPr lang="zh-CN" altLang="en-US" smtClean="0"/>
          </a:p>
          <a:p>
            <a:pPr eaLnBrk="1" hangingPunct="1">
              <a:buClr>
                <a:schemeClr val="accent2"/>
              </a:buClr>
            </a:pPr>
            <a:r>
              <a:rPr lang="zh-CN" altLang="en-US" sz="2600" smtClean="0">
                <a:solidFill>
                  <a:srgbClr val="FF0000"/>
                </a:solidFill>
              </a:rPr>
              <a:t>控制器的基本任务：</a:t>
            </a:r>
            <a:r>
              <a:rPr lang="zh-CN" altLang="en-US" sz="2600" smtClean="0"/>
              <a:t>按照一定的顺序一条接着一条取指令、指令译码、执行指令。</a:t>
            </a:r>
            <a:endParaRPr lang="zh-CN" altLang="en-US" sz="2600" smtClean="0"/>
          </a:p>
          <a:p>
            <a:pPr eaLnBrk="1" hangingPunct="1">
              <a:buClr>
                <a:schemeClr val="accent2"/>
              </a:buClr>
            </a:pPr>
            <a:r>
              <a:rPr lang="zh-CN" altLang="en-US" sz="2600" smtClean="0">
                <a:solidFill>
                  <a:srgbClr val="FF0000"/>
                </a:solidFill>
              </a:rPr>
              <a:t>取指周期、执行周期：</a:t>
            </a:r>
            <a:endParaRPr lang="zh-CN" altLang="en-US" sz="2600" smtClean="0"/>
          </a:p>
          <a:p>
            <a:pPr eaLnBrk="1" hangingPunct="1">
              <a:buClr>
                <a:schemeClr val="accent2"/>
              </a:buClr>
            </a:pPr>
            <a:r>
              <a:rPr lang="zh-CN" altLang="en-US" sz="2600" smtClean="0"/>
              <a:t>控制器完全可以区分开哪些是指令字，哪些是数据字。一般来讲，</a:t>
            </a:r>
            <a:r>
              <a:rPr lang="zh-CN" altLang="en-US" sz="2600" smtClean="0">
                <a:solidFill>
                  <a:srgbClr val="FF0000"/>
                </a:solidFill>
              </a:rPr>
              <a:t>取指周期</a:t>
            </a:r>
            <a:r>
              <a:rPr lang="zh-CN" altLang="en-US" sz="2600" smtClean="0"/>
              <a:t>中从内存读出的信息流是指令流，它流向控制器；而在</a:t>
            </a:r>
            <a:r>
              <a:rPr lang="zh-CN" altLang="en-US" sz="2600" smtClean="0">
                <a:solidFill>
                  <a:srgbClr val="FF0000"/>
                </a:solidFill>
              </a:rPr>
              <a:t>执行周期</a:t>
            </a:r>
            <a:r>
              <a:rPr lang="zh-CN" altLang="en-US" sz="2600" smtClean="0"/>
              <a:t>中从内存读出的信息流是数据流，它由内存流向运算器。</a:t>
            </a:r>
            <a:endParaRPr lang="zh-CN" altLang="en-US" sz="2600" smtClean="0"/>
          </a:p>
        </p:txBody>
      </p:sp>
      <p:pic>
        <p:nvPicPr>
          <p:cNvPr id="36868" name="Picture 4" descr="1a6">
            <a:hlinkClick r:id="rId1" action="ppaction://hlinkfile"/>
          </p:cNvPr>
          <p:cNvPicPr>
            <a:picLocks noChangeAspect="1" noChangeArrowheads="1"/>
          </p:cNvPicPr>
          <p:nvPr/>
        </p:nvPicPr>
        <p:blipFill>
          <a:blip r:embed="rId2"/>
          <a:srcRect/>
          <a:stretch>
            <a:fillRect/>
          </a:stretch>
        </p:blipFill>
        <p:spPr bwMode="auto">
          <a:xfrm>
            <a:off x="2051685" y="4653280"/>
            <a:ext cx="4824413" cy="1990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122238"/>
            <a:ext cx="7543800" cy="714375"/>
          </a:xfrm>
        </p:spPr>
        <p:txBody>
          <a:bodyPr/>
          <a:lstStyle/>
          <a:p>
            <a:pPr eaLnBrk="1" hangingPunct="1"/>
            <a:r>
              <a:rPr lang="en-US" altLang="zh-CN" smtClean="0">
                <a:cs typeface="Arial" panose="020B0604020202020204" pitchFamily="34" charset="0"/>
              </a:rPr>
              <a:t>1.3</a:t>
            </a:r>
            <a:r>
              <a:rPr lang="zh-CN" altLang="en-US" smtClean="0"/>
              <a:t>计算机的硬件</a:t>
            </a:r>
            <a:endParaRPr lang="zh-CN" altLang="en-US" smtClean="0"/>
          </a:p>
        </p:txBody>
      </p:sp>
      <p:sp>
        <p:nvSpPr>
          <p:cNvPr id="37891" name="Rectangle 3"/>
          <p:cNvSpPr>
            <a:spLocks noGrp="1" noChangeArrowheads="1"/>
          </p:cNvSpPr>
          <p:nvPr>
            <p:ph type="body" idx="1"/>
          </p:nvPr>
        </p:nvSpPr>
        <p:spPr>
          <a:xfrm>
            <a:off x="395288" y="908050"/>
            <a:ext cx="8229600" cy="5689600"/>
          </a:xfrm>
        </p:spPr>
        <p:txBody>
          <a:bodyPr/>
          <a:lstStyle/>
          <a:p>
            <a:pPr eaLnBrk="1" hangingPunct="1">
              <a:spcAft>
                <a:spcPts val="600"/>
              </a:spcAft>
              <a:buFont typeface="Wingdings" panose="05000000000000000000" pitchFamily="2" charset="2"/>
              <a:buNone/>
            </a:pPr>
            <a:r>
              <a:rPr lang="zh-CN" altLang="en-US" sz="2600" dirty="0" smtClean="0">
                <a:latin typeface="宋体" panose="02010600030101010101" pitchFamily="2" charset="-122"/>
              </a:rPr>
              <a:t>八、适配器与</a:t>
            </a:r>
            <a:r>
              <a:rPr lang="en-US" altLang="zh-CN" sz="2600" dirty="0" smtClean="0">
                <a:latin typeface="宋体" panose="02010600030101010101" pitchFamily="2" charset="-122"/>
              </a:rPr>
              <a:t>I/O</a:t>
            </a:r>
            <a:r>
              <a:rPr lang="zh-CN" altLang="en-US" sz="2600" dirty="0" smtClean="0">
                <a:latin typeface="宋体" panose="02010600030101010101" pitchFamily="2" charset="-122"/>
              </a:rPr>
              <a:t>设备</a:t>
            </a:r>
            <a:endParaRPr lang="zh-CN" altLang="en-US" sz="2600" dirty="0" smtClean="0">
              <a:latin typeface="宋体" panose="02010600030101010101" pitchFamily="2" charset="-122"/>
            </a:endParaRPr>
          </a:p>
          <a:p>
            <a:pPr eaLnBrk="1" hangingPunct="1">
              <a:spcAft>
                <a:spcPts val="600"/>
              </a:spcAft>
            </a:pPr>
            <a:r>
              <a:rPr lang="zh-CN" altLang="en-US" sz="2600" dirty="0" smtClean="0">
                <a:solidFill>
                  <a:srgbClr val="FF0000"/>
                </a:solidFill>
                <a:latin typeface="宋体" panose="02010600030101010101" pitchFamily="2" charset="-122"/>
              </a:rPr>
              <a:t>输入设备：</a:t>
            </a:r>
            <a:r>
              <a:rPr lang="zh-CN" altLang="en-US" sz="2600" dirty="0" smtClean="0"/>
              <a:t>把人们所熟悉的某种信息形式变换为机器内部所能接收和识别的二进制信息形式</a:t>
            </a:r>
            <a:endParaRPr lang="zh-CN" altLang="en-US" sz="2600" dirty="0" smtClean="0"/>
          </a:p>
          <a:p>
            <a:pPr eaLnBrk="1" hangingPunct="1">
              <a:spcAft>
                <a:spcPts val="600"/>
              </a:spcAft>
            </a:pPr>
            <a:r>
              <a:rPr lang="zh-CN" altLang="en-US" sz="2600" dirty="0" smtClean="0">
                <a:solidFill>
                  <a:srgbClr val="FF0000"/>
                </a:solidFill>
              </a:rPr>
              <a:t>输出设备：</a:t>
            </a:r>
            <a:r>
              <a:rPr lang="zh-CN" altLang="en-US" sz="2600" dirty="0" smtClean="0"/>
              <a:t>把计算机处理的结果变换为人或其他机器设备所能接收和识别的信息形式</a:t>
            </a:r>
            <a:endParaRPr lang="zh-CN" altLang="en-US" sz="2600" dirty="0" smtClean="0"/>
          </a:p>
          <a:p>
            <a:pPr eaLnBrk="1" hangingPunct="1">
              <a:spcAft>
                <a:spcPts val="600"/>
              </a:spcAft>
            </a:pPr>
            <a:r>
              <a:rPr lang="zh-CN" altLang="en-US" sz="2600" dirty="0" smtClean="0">
                <a:solidFill>
                  <a:srgbClr val="FF0000"/>
                </a:solidFill>
              </a:rPr>
              <a:t>适配器：</a:t>
            </a:r>
            <a:r>
              <a:rPr lang="zh-CN" altLang="en-US" sz="2600" dirty="0" smtClean="0"/>
              <a:t>它使得被连接的外围设备通过系统总线与主机进行联系，以便使主机和外围设备并行协调地工作</a:t>
            </a:r>
            <a:endParaRPr lang="zh-CN" altLang="en-US" sz="2600" dirty="0" smtClean="0"/>
          </a:p>
          <a:p>
            <a:pPr eaLnBrk="1" hangingPunct="1">
              <a:spcAft>
                <a:spcPts val="600"/>
              </a:spcAft>
            </a:pPr>
            <a:r>
              <a:rPr lang="zh-CN" altLang="en-US" sz="2600" dirty="0" smtClean="0">
                <a:solidFill>
                  <a:srgbClr val="FF0000"/>
                </a:solidFill>
              </a:rPr>
              <a:t>总线：</a:t>
            </a:r>
            <a:r>
              <a:rPr lang="zh-CN" altLang="en-US" sz="2600" dirty="0" smtClean="0"/>
              <a:t>构成计算机系统的骨架，是多个系统部件之间进行数据传送的公共通路。</a:t>
            </a:r>
            <a:endParaRPr lang="zh-CN" altLang="en-US" sz="2600" dirty="0" smtClean="0"/>
          </a:p>
          <a:p>
            <a:pPr eaLnBrk="1" hangingPunct="1">
              <a:spcAft>
                <a:spcPts val="600"/>
              </a:spcAft>
              <a:buFont typeface="Wingdings" panose="05000000000000000000" pitchFamily="2" charset="2"/>
              <a:buNone/>
            </a:pPr>
            <a:r>
              <a:rPr lang="zh-CN" altLang="en-US" sz="2600" dirty="0" smtClean="0"/>
              <a:t>		总之，现代电子计算机是由运算器、存储器、控制器、适配器、总线和输入</a:t>
            </a:r>
            <a:r>
              <a:rPr lang="en-US" altLang="zh-CN" sz="2600" dirty="0" smtClean="0"/>
              <a:t>/</a:t>
            </a:r>
            <a:r>
              <a:rPr lang="zh-CN" altLang="en-US" sz="2600" dirty="0" smtClean="0"/>
              <a:t>输出设备组成的。这也是人们常说的计算机硬件。</a:t>
            </a:r>
            <a:endParaRPr lang="zh-CN" altLang="en-US" sz="26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8"/>
          <p:cNvSpPr>
            <a:spLocks noChangeArrowheads="1"/>
          </p:cNvSpPr>
          <p:nvPr/>
        </p:nvSpPr>
        <p:spPr bwMode="auto">
          <a:xfrm>
            <a:off x="218012" y="284890"/>
            <a:ext cx="8712968" cy="646331"/>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eaLnBrk="0" hangingPunct="0">
              <a:spcBef>
                <a:spcPts val="0"/>
              </a:spcBef>
            </a:pPr>
            <a:r>
              <a:rPr lang="zh-CN" altLang="en-US" sz="3600" dirty="0" smtClean="0">
                <a:latin typeface="华文新魏" panose="02010800040101010101" pitchFamily="2" charset="-122"/>
                <a:ea typeface="华文新魏" panose="02010800040101010101" pitchFamily="2" charset="-122"/>
              </a:rPr>
              <a:t>冯</a:t>
            </a:r>
            <a:r>
              <a:rPr lang="en-US" altLang="zh-CN" sz="3600" dirty="0">
                <a:latin typeface="华文新魏" panose="02010800040101010101" pitchFamily="2" charset="-122"/>
                <a:ea typeface="华文新魏" panose="02010800040101010101" pitchFamily="2" charset="-122"/>
              </a:rPr>
              <a:t>·</a:t>
            </a:r>
            <a:r>
              <a:rPr lang="zh-CN" altLang="en-US" sz="3600" dirty="0">
                <a:latin typeface="华文新魏" panose="02010800040101010101" pitchFamily="2" charset="-122"/>
                <a:ea typeface="华文新魏" panose="02010800040101010101" pitchFamily="2" charset="-122"/>
              </a:rPr>
              <a:t>诺依曼型计算机设计思想</a:t>
            </a:r>
            <a:r>
              <a:rPr lang="zh-CN" altLang="en-US" sz="3600" dirty="0" smtClean="0">
                <a:latin typeface="华文新魏" panose="02010800040101010101" pitchFamily="2" charset="-122"/>
                <a:ea typeface="华文新魏" panose="02010800040101010101" pitchFamily="2" charset="-122"/>
              </a:rPr>
              <a:t>、主要特点</a:t>
            </a:r>
            <a:endParaRPr lang="zh-CN" altLang="en-US" sz="3600" dirty="0">
              <a:latin typeface="华文新魏" panose="02010800040101010101" pitchFamily="2" charset="-122"/>
              <a:ea typeface="华文新魏" panose="02010800040101010101" pitchFamily="2" charset="-122"/>
            </a:endParaRPr>
          </a:p>
        </p:txBody>
      </p:sp>
      <p:sp>
        <p:nvSpPr>
          <p:cNvPr id="3" name="Rectangle 8"/>
          <p:cNvSpPr>
            <a:spLocks noChangeArrowheads="1"/>
          </p:cNvSpPr>
          <p:nvPr/>
        </p:nvSpPr>
        <p:spPr bwMode="auto">
          <a:xfrm>
            <a:off x="270770" y="1216002"/>
            <a:ext cx="8712968" cy="5082225"/>
          </a:xfrm>
          <a:prstGeom prst="rect">
            <a:avLst/>
          </a:prstGeom>
          <a:noFill/>
          <a:ln w="9525">
            <a:noFill/>
            <a:miter lim="800000"/>
          </a:ln>
        </p:spPr>
        <p:txBody>
          <a:bodyPr wrap="square">
            <a:spAutoFit/>
          </a:bodyPr>
          <a:lstStyle/>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1. </a:t>
            </a:r>
            <a:r>
              <a:rPr lang="zh-CN" altLang="en-US" sz="3600" dirty="0" smtClean="0">
                <a:latin typeface="华文新魏" panose="02010800040101010101" pitchFamily="2" charset="-122"/>
                <a:ea typeface="华文新魏" panose="02010800040101010101" pitchFamily="2" charset="-122"/>
              </a:rPr>
              <a:t>计算机</a:t>
            </a:r>
            <a:r>
              <a:rPr lang="zh-CN" altLang="en-US" sz="3600" dirty="0">
                <a:latin typeface="华文新魏" panose="02010800040101010101" pitchFamily="2" charset="-122"/>
                <a:ea typeface="华文新魏" panose="02010800040101010101" pitchFamily="2" charset="-122"/>
              </a:rPr>
              <a:t>由运算器、控制器、存储器</a:t>
            </a:r>
            <a:r>
              <a:rPr lang="zh-CN" altLang="en-US" sz="3600" dirty="0" smtClean="0">
                <a:latin typeface="华文新魏" panose="02010800040101010101" pitchFamily="2" charset="-122"/>
                <a:ea typeface="华文新魏" panose="02010800040101010101" pitchFamily="2" charset="-122"/>
              </a:rPr>
              <a:t>、</a:t>
            </a:r>
            <a:endParaRPr lang="en-US" altLang="zh-CN" sz="3600" dirty="0" smtClean="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zh-CN" altLang="en-US" sz="3600" dirty="0" smtClean="0">
                <a:latin typeface="华文新魏" panose="02010800040101010101" pitchFamily="2" charset="-122"/>
                <a:ea typeface="华文新魏" panose="02010800040101010101" pitchFamily="2" charset="-122"/>
              </a:rPr>
              <a:t>   输入</a:t>
            </a:r>
            <a:r>
              <a:rPr lang="zh-CN" altLang="en-US" sz="3600" dirty="0">
                <a:latin typeface="华文新魏" panose="02010800040101010101" pitchFamily="2" charset="-122"/>
                <a:ea typeface="华文新魏" panose="02010800040101010101" pitchFamily="2" charset="-122"/>
              </a:rPr>
              <a:t>和输出设备五部分</a:t>
            </a:r>
            <a:r>
              <a:rPr lang="zh-CN" altLang="en-US" sz="3600" dirty="0" smtClean="0">
                <a:latin typeface="华文新魏" panose="02010800040101010101" pitchFamily="2" charset="-122"/>
                <a:ea typeface="华文新魏" panose="02010800040101010101" pitchFamily="2" charset="-122"/>
              </a:rPr>
              <a:t>组成；</a:t>
            </a:r>
            <a:endParaRPr lang="zh-CN" altLang="en-US" sz="3600" dirty="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2.</a:t>
            </a:r>
            <a:r>
              <a:rPr lang="zh-CN" altLang="en-US" sz="3600" dirty="0" smtClean="0">
                <a:latin typeface="华文新魏" panose="02010800040101010101" pitchFamily="2" charset="-122"/>
                <a:ea typeface="华文新魏" panose="02010800040101010101" pitchFamily="2" charset="-122"/>
              </a:rPr>
              <a:t> </a:t>
            </a:r>
            <a:r>
              <a:rPr lang="zh-CN" altLang="en-US" sz="3600" dirty="0">
                <a:latin typeface="华文新魏" panose="02010800040101010101" pitchFamily="2" charset="-122"/>
                <a:ea typeface="华文新魏" panose="02010800040101010101" pitchFamily="2" charset="-122"/>
              </a:rPr>
              <a:t>数据以二进制码</a:t>
            </a:r>
            <a:r>
              <a:rPr lang="zh-CN" altLang="en-US" sz="3600" dirty="0" smtClean="0">
                <a:latin typeface="华文新魏" panose="02010800040101010101" pitchFamily="2" charset="-122"/>
                <a:ea typeface="华文新魏" panose="02010800040101010101" pitchFamily="2" charset="-122"/>
              </a:rPr>
              <a:t>表示；</a:t>
            </a:r>
            <a:endParaRPr lang="zh-CN" altLang="en-US" sz="3600" dirty="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3. </a:t>
            </a:r>
            <a:r>
              <a:rPr lang="zh-CN" altLang="en-US" sz="3600" dirty="0" smtClean="0">
                <a:latin typeface="华文新魏" panose="02010800040101010101" pitchFamily="2" charset="-122"/>
                <a:ea typeface="华文新魏" panose="02010800040101010101" pitchFamily="2" charset="-122"/>
              </a:rPr>
              <a:t>采用</a:t>
            </a:r>
            <a:r>
              <a:rPr lang="zh-CN" altLang="en-US" sz="3600" dirty="0">
                <a:latin typeface="华文新魏" panose="02010800040101010101" pitchFamily="2" charset="-122"/>
                <a:ea typeface="华文新魏" panose="02010800040101010101" pitchFamily="2" charset="-122"/>
              </a:rPr>
              <a:t>存储程序的方式，程序和数据放</a:t>
            </a:r>
            <a:r>
              <a:rPr lang="zh-CN" altLang="en-US" sz="3600" dirty="0" smtClean="0">
                <a:latin typeface="华文新魏" panose="02010800040101010101" pitchFamily="2" charset="-122"/>
                <a:ea typeface="华文新魏" panose="02010800040101010101" pitchFamily="2" charset="-122"/>
              </a:rPr>
              <a:t>在</a:t>
            </a:r>
            <a:endParaRPr lang="en-US" altLang="zh-CN" sz="3600" dirty="0" smtClean="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a:latin typeface="华文新魏" panose="02010800040101010101" pitchFamily="2" charset="-122"/>
                <a:ea typeface="华文新魏" panose="02010800040101010101" pitchFamily="2" charset="-122"/>
              </a:rPr>
              <a:t> </a:t>
            </a:r>
            <a:r>
              <a:rPr lang="en-US" altLang="zh-CN" sz="3600" dirty="0" smtClean="0">
                <a:latin typeface="华文新魏" panose="02010800040101010101" pitchFamily="2" charset="-122"/>
                <a:ea typeface="华文新魏" panose="02010800040101010101" pitchFamily="2" charset="-122"/>
              </a:rPr>
              <a:t>    </a:t>
            </a:r>
            <a:r>
              <a:rPr lang="zh-CN" altLang="en-US" sz="3600" dirty="0" smtClean="0">
                <a:latin typeface="华文新魏" panose="02010800040101010101" pitchFamily="2" charset="-122"/>
                <a:ea typeface="华文新魏" panose="02010800040101010101" pitchFamily="2" charset="-122"/>
              </a:rPr>
              <a:t>同</a:t>
            </a:r>
            <a:r>
              <a:rPr lang="zh-CN" altLang="en-US" sz="3600" dirty="0">
                <a:latin typeface="华文新魏" panose="02010800040101010101" pitchFamily="2" charset="-122"/>
                <a:ea typeface="华文新魏" panose="02010800040101010101" pitchFamily="2" charset="-122"/>
              </a:rPr>
              <a:t>一个存储器中并按地址顺序</a:t>
            </a:r>
            <a:r>
              <a:rPr lang="zh-CN" altLang="en-US" sz="3600" dirty="0" smtClean="0">
                <a:latin typeface="华文新魏" panose="02010800040101010101" pitchFamily="2" charset="-122"/>
                <a:ea typeface="华文新魏" panose="02010800040101010101" pitchFamily="2" charset="-122"/>
              </a:rPr>
              <a:t>执行；</a:t>
            </a:r>
            <a:endParaRPr lang="zh-CN" altLang="en-US" sz="3600" dirty="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4. </a:t>
            </a:r>
            <a:r>
              <a:rPr lang="zh-CN" altLang="en-US" sz="3600" dirty="0" smtClean="0">
                <a:latin typeface="华文新魏" panose="02010800040101010101" pitchFamily="2" charset="-122"/>
                <a:ea typeface="华文新魏" panose="02010800040101010101" pitchFamily="2" charset="-122"/>
              </a:rPr>
              <a:t>机器</a:t>
            </a:r>
            <a:r>
              <a:rPr lang="zh-CN" altLang="en-US" sz="3600" dirty="0">
                <a:latin typeface="华文新魏" panose="02010800040101010101" pitchFamily="2" charset="-122"/>
                <a:ea typeface="华文新魏" panose="02010800040101010101" pitchFamily="2" charset="-122"/>
              </a:rPr>
              <a:t>以运算器为中心，输入输出设备</a:t>
            </a:r>
            <a:r>
              <a:rPr lang="zh-CN" altLang="en-US" sz="3600" dirty="0" smtClean="0">
                <a:latin typeface="华文新魏" panose="02010800040101010101" pitchFamily="2" charset="-122"/>
                <a:ea typeface="华文新魏" panose="02010800040101010101" pitchFamily="2" charset="-122"/>
              </a:rPr>
              <a:t>与</a:t>
            </a:r>
            <a:endParaRPr lang="en-US" altLang="zh-CN" sz="3600" dirty="0" smtClean="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a:latin typeface="华文新魏" panose="02010800040101010101" pitchFamily="2" charset="-122"/>
                <a:ea typeface="华文新魏" panose="02010800040101010101" pitchFamily="2" charset="-122"/>
              </a:rPr>
              <a:t> </a:t>
            </a:r>
            <a:r>
              <a:rPr lang="en-US" altLang="zh-CN" sz="3600" dirty="0" smtClean="0">
                <a:latin typeface="华文新魏" panose="02010800040101010101" pitchFamily="2" charset="-122"/>
                <a:ea typeface="华文新魏" panose="02010800040101010101" pitchFamily="2" charset="-122"/>
              </a:rPr>
              <a:t>    </a:t>
            </a:r>
            <a:r>
              <a:rPr lang="zh-CN" altLang="en-US" sz="3600" dirty="0" smtClean="0">
                <a:latin typeface="华文新魏" panose="02010800040101010101" pitchFamily="2" charset="-122"/>
                <a:ea typeface="华文新魏" panose="02010800040101010101" pitchFamily="2" charset="-122"/>
              </a:rPr>
              <a:t>存储器</a:t>
            </a:r>
            <a:r>
              <a:rPr lang="zh-CN" altLang="en-US" sz="3600" dirty="0">
                <a:latin typeface="华文新魏" panose="02010800040101010101" pitchFamily="2" charset="-122"/>
                <a:ea typeface="华文新魏" panose="02010800040101010101" pitchFamily="2" charset="-122"/>
              </a:rPr>
              <a:t>间的数据传送都通过运算器。</a:t>
            </a:r>
            <a:endParaRPr lang="zh-CN" altLang="en-US" sz="36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dissolve">
                                      <p:cBhvr>
                                        <p:cTn id="7" dur="500"/>
                                        <p:tgtEl>
                                          <p:spTgt spid="20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animBg="1"/>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122238"/>
            <a:ext cx="7543800" cy="715962"/>
          </a:xfrm>
        </p:spPr>
        <p:txBody>
          <a:bodyPr/>
          <a:lstStyle/>
          <a:p>
            <a:pPr eaLnBrk="1" hangingPunct="1"/>
            <a:r>
              <a:rPr lang="en-US" altLang="zh-CN" smtClean="0">
                <a:cs typeface="Arial" panose="020B0604020202020204" pitchFamily="34" charset="0"/>
              </a:rPr>
              <a:t>1.4</a:t>
            </a:r>
            <a:r>
              <a:rPr lang="zh-CN" altLang="en-US" smtClean="0"/>
              <a:t>计算机的软件</a:t>
            </a:r>
            <a:endParaRPr lang="zh-CN" altLang="en-US" smtClean="0"/>
          </a:p>
        </p:txBody>
      </p:sp>
      <p:sp>
        <p:nvSpPr>
          <p:cNvPr id="38915" name="Rectangle 3"/>
          <p:cNvSpPr>
            <a:spLocks noGrp="1" noChangeArrowheads="1"/>
          </p:cNvSpPr>
          <p:nvPr>
            <p:ph type="body" idx="1"/>
          </p:nvPr>
        </p:nvSpPr>
        <p:spPr>
          <a:xfrm>
            <a:off x="228600" y="914400"/>
            <a:ext cx="8663880" cy="5791200"/>
          </a:xfrm>
        </p:spPr>
        <p:txBody>
          <a:bodyPr/>
          <a:lstStyle/>
          <a:p>
            <a:pPr marL="762000" indent="-762000" eaLnBrk="1" hangingPunct="1">
              <a:buFont typeface="Wingdings" panose="05000000000000000000" pitchFamily="2" charset="2"/>
              <a:buNone/>
            </a:pPr>
            <a:r>
              <a:rPr lang="zh-CN" altLang="en-US" sz="2400" dirty="0" smtClean="0"/>
              <a:t>一、软件的组成与分类</a:t>
            </a:r>
            <a:endParaRPr lang="zh-CN" altLang="en-US" sz="2400" dirty="0" smtClean="0"/>
          </a:p>
          <a:p>
            <a:pPr marL="762000" indent="-762000" eaLnBrk="1" hangingPunct="1">
              <a:buFont typeface="Wingdings" panose="05000000000000000000" pitchFamily="2" charset="2"/>
              <a:buNone/>
            </a:pPr>
            <a:r>
              <a:rPr lang="zh-CN" altLang="en-US" sz="2400" dirty="0" smtClean="0"/>
              <a:t>	计算机软件相对计算机硬件来说是看不见，是计算机系统中不可少的无形部件。主要有两大类：</a:t>
            </a:r>
            <a:endParaRPr lang="zh-CN" altLang="en-US" sz="2400" dirty="0" smtClean="0"/>
          </a:p>
          <a:p>
            <a:pPr marL="762000" indent="-762000" eaLnBrk="1" hangingPunct="1"/>
            <a:r>
              <a:rPr lang="zh-CN" altLang="en-US" sz="2400" dirty="0" smtClean="0">
                <a:solidFill>
                  <a:srgbClr val="FF0000"/>
                </a:solidFill>
              </a:rPr>
              <a:t>系统软件：</a:t>
            </a:r>
            <a:r>
              <a:rPr lang="zh-CN" altLang="en-US" sz="2400" dirty="0" smtClean="0"/>
              <a:t>用来简化程序设计，简化使用方法，提高计算机的使用效率，发挥和扩大计算机的功能及用途。它包括以下四类：</a:t>
            </a:r>
            <a:endParaRPr lang="zh-CN" altLang="en-US" sz="2400" dirty="0" smtClean="0"/>
          </a:p>
          <a:p>
            <a:pPr marL="1278255" lvl="2" indent="-584200" eaLnBrk="1" hangingPunct="1">
              <a:buFont typeface="Wingdings" panose="05000000000000000000" pitchFamily="2" charset="2"/>
              <a:buNone/>
            </a:pPr>
            <a:r>
              <a:rPr lang="zh-CN" altLang="en-US" sz="2400" dirty="0" smtClean="0"/>
              <a:t>①各种服务性程序，如诊断程序、排错程序、练习程序等</a:t>
            </a:r>
            <a:endParaRPr lang="zh-CN" altLang="en-US" sz="2400" dirty="0" smtClean="0"/>
          </a:p>
          <a:p>
            <a:pPr marL="1278255" lvl="2" indent="-584200" eaLnBrk="1" hangingPunct="1">
              <a:buFont typeface="Wingdings" panose="05000000000000000000" pitchFamily="2" charset="2"/>
              <a:buNone/>
            </a:pPr>
            <a:r>
              <a:rPr lang="zh-CN" altLang="en-US" sz="2400" dirty="0" smtClean="0"/>
              <a:t>②语言程序，如汇编程序、编译程序、解释程序等</a:t>
            </a:r>
            <a:endParaRPr lang="zh-CN" altLang="en-US" sz="2400" dirty="0" smtClean="0"/>
          </a:p>
          <a:p>
            <a:pPr marL="1278255" lvl="2" indent="-584200" eaLnBrk="1" hangingPunct="1">
              <a:buFont typeface="Wingdings" panose="05000000000000000000" pitchFamily="2" charset="2"/>
              <a:buNone/>
            </a:pPr>
            <a:r>
              <a:rPr lang="zh-CN" altLang="en-US" sz="2400" dirty="0" smtClean="0"/>
              <a:t>③操作系统</a:t>
            </a:r>
            <a:endParaRPr lang="zh-CN" altLang="en-US" sz="2400" dirty="0" smtClean="0"/>
          </a:p>
          <a:p>
            <a:pPr marL="1278255" lvl="2" indent="-584200" eaLnBrk="1" hangingPunct="1">
              <a:buFont typeface="Wingdings" panose="05000000000000000000" pitchFamily="2" charset="2"/>
              <a:buNone/>
            </a:pPr>
            <a:r>
              <a:rPr lang="zh-CN" altLang="en-US" sz="2400" dirty="0" smtClean="0"/>
              <a:t>④数据库管理系统</a:t>
            </a:r>
            <a:endParaRPr lang="zh-CN" altLang="en-US" sz="2400" dirty="0" smtClean="0"/>
          </a:p>
          <a:p>
            <a:pPr marL="762000" indent="-762000" eaLnBrk="1" hangingPunct="1"/>
            <a:r>
              <a:rPr lang="zh-CN" altLang="en-US" sz="2400" dirty="0" smtClean="0">
                <a:solidFill>
                  <a:srgbClr val="FF0000"/>
                </a:solidFill>
              </a:rPr>
              <a:t>应用软件：</a:t>
            </a:r>
            <a:r>
              <a:rPr lang="zh-CN" altLang="en-US" sz="2400" dirty="0" smtClean="0"/>
              <a:t>用户利用计算机来解决某些问题而编制的程序，如工程设计程序、数据处理程序、自动控制程序、企业管理程序、情报检索程序、科学计算程序等</a:t>
            </a:r>
            <a:endParaRPr lang="zh-CN" altLang="en-US" sz="2400"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122238"/>
            <a:ext cx="7543800" cy="858837"/>
          </a:xfrm>
        </p:spPr>
        <p:txBody>
          <a:bodyPr/>
          <a:lstStyle/>
          <a:p>
            <a:pPr eaLnBrk="1" hangingPunct="1"/>
            <a:r>
              <a:rPr lang="en-US" altLang="zh-CN" smtClean="0">
                <a:cs typeface="Arial" panose="020B0604020202020204" pitchFamily="34" charset="0"/>
              </a:rPr>
              <a:t>1.4</a:t>
            </a:r>
            <a:r>
              <a:rPr lang="zh-CN" altLang="en-US" smtClean="0"/>
              <a:t>计算机的软件</a:t>
            </a:r>
            <a:endParaRPr lang="zh-CN" altLang="en-US" smtClean="0"/>
          </a:p>
        </p:txBody>
      </p:sp>
      <p:sp>
        <p:nvSpPr>
          <p:cNvPr id="39939" name="Rectangle 3"/>
          <p:cNvSpPr>
            <a:spLocks noGrp="1" noChangeArrowheads="1"/>
          </p:cNvSpPr>
          <p:nvPr>
            <p:ph type="body" idx="1"/>
          </p:nvPr>
        </p:nvSpPr>
        <p:spPr>
          <a:xfrm>
            <a:off x="468313" y="1125538"/>
            <a:ext cx="8229600" cy="5040312"/>
          </a:xfrm>
        </p:spPr>
        <p:txBody>
          <a:bodyPr/>
          <a:lstStyle/>
          <a:p>
            <a:pPr eaLnBrk="1" hangingPunct="1">
              <a:spcAft>
                <a:spcPts val="600"/>
              </a:spcAft>
              <a:buFont typeface="Wingdings" panose="05000000000000000000" pitchFamily="2" charset="2"/>
              <a:buNone/>
            </a:pPr>
            <a:r>
              <a:rPr lang="zh-CN" altLang="en-US" smtClean="0"/>
              <a:t>二、软件的发展演变</a:t>
            </a:r>
            <a:endParaRPr lang="zh-CN" altLang="en-US" smtClean="0"/>
          </a:p>
          <a:p>
            <a:pPr eaLnBrk="1" hangingPunct="1">
              <a:spcAft>
                <a:spcPts val="600"/>
              </a:spcAft>
            </a:pPr>
            <a:r>
              <a:rPr lang="zh-CN" altLang="en-US" smtClean="0"/>
              <a:t>编程语言的发展</a:t>
            </a:r>
            <a:endParaRPr lang="zh-CN" altLang="en-US" smtClean="0"/>
          </a:p>
          <a:p>
            <a:pPr lvl="1" eaLnBrk="1" hangingPunct="1">
              <a:spcAft>
                <a:spcPts val="600"/>
              </a:spcAft>
              <a:buFont typeface="Wingdings" panose="05000000000000000000" pitchFamily="2" charset="2"/>
              <a:buChar char="Ø"/>
            </a:pPr>
            <a:r>
              <a:rPr lang="zh-CN" altLang="en-US" smtClean="0"/>
              <a:t>手编程序：机器语言程序，手工编译二进制码</a:t>
            </a:r>
            <a:endParaRPr lang="zh-CN" altLang="en-US" smtClean="0"/>
          </a:p>
          <a:p>
            <a:pPr lvl="1" eaLnBrk="1" hangingPunct="1">
              <a:spcAft>
                <a:spcPts val="600"/>
              </a:spcAft>
              <a:buFont typeface="Wingdings" panose="05000000000000000000" pitchFamily="2" charset="2"/>
              <a:buChar char="Ø"/>
            </a:pPr>
            <a:r>
              <a:rPr lang="zh-CN" altLang="en-US" smtClean="0"/>
              <a:t>汇编程序：符号语言程序，汇编器翻译成机器语言</a:t>
            </a:r>
            <a:endParaRPr lang="zh-CN" altLang="en-US" smtClean="0"/>
          </a:p>
          <a:p>
            <a:pPr lvl="1" eaLnBrk="1" hangingPunct="1">
              <a:spcAft>
                <a:spcPts val="600"/>
              </a:spcAft>
              <a:buFont typeface="Wingdings" panose="05000000000000000000" pitchFamily="2" charset="2"/>
              <a:buChar char="Ø"/>
            </a:pPr>
            <a:r>
              <a:rPr lang="zh-CN" altLang="en-US" smtClean="0"/>
              <a:t>高级程序：算法语言</a:t>
            </a:r>
            <a:r>
              <a:rPr lang="en-US" altLang="zh-CN" smtClean="0"/>
              <a:t>/</a:t>
            </a:r>
            <a:r>
              <a:rPr lang="zh-CN" altLang="en-US" smtClean="0"/>
              <a:t>高级语言，机器编译程序</a:t>
            </a:r>
            <a:r>
              <a:rPr lang="en-US" altLang="zh-CN" smtClean="0"/>
              <a:t>/</a:t>
            </a:r>
            <a:r>
              <a:rPr lang="zh-CN" altLang="en-US" smtClean="0"/>
              <a:t>解释程序（编译器）</a:t>
            </a:r>
            <a:endParaRPr lang="zh-CN" altLang="en-US" smtClean="0"/>
          </a:p>
          <a:p>
            <a:pPr eaLnBrk="1" hangingPunct="1">
              <a:spcAft>
                <a:spcPts val="600"/>
              </a:spcAft>
            </a:pPr>
            <a:r>
              <a:rPr lang="zh-CN" altLang="en-US" smtClean="0"/>
              <a:t>系统软件的发展</a:t>
            </a:r>
            <a:endParaRPr lang="zh-CN" altLang="en-US" smtClean="0"/>
          </a:p>
          <a:p>
            <a:pPr lvl="1" eaLnBrk="1" hangingPunct="1">
              <a:spcAft>
                <a:spcPts val="600"/>
              </a:spcAft>
              <a:buFont typeface="Wingdings" panose="05000000000000000000" pitchFamily="2" charset="2"/>
              <a:buChar char="Ø"/>
            </a:pPr>
            <a:r>
              <a:rPr lang="zh-CN" altLang="en-US" smtClean="0"/>
              <a:t>操作系统</a:t>
            </a:r>
            <a:endParaRPr lang="zh-CN" altLang="en-US" smtClean="0"/>
          </a:p>
          <a:p>
            <a:pPr lvl="1" eaLnBrk="1" hangingPunct="1">
              <a:spcAft>
                <a:spcPts val="600"/>
              </a:spcAft>
              <a:buFont typeface="Wingdings" panose="05000000000000000000" pitchFamily="2" charset="2"/>
              <a:buChar char="Ø"/>
            </a:pPr>
            <a:r>
              <a:rPr lang="zh-CN" altLang="en-US" smtClean="0"/>
              <a:t>分布式系统软件</a:t>
            </a:r>
            <a:endParaRPr lang="zh-CN" altLang="en-US"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5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323528" y="968028"/>
            <a:ext cx="8423854" cy="3323987"/>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一</a:t>
            </a:r>
            <a:r>
              <a:rPr lang="zh-CN" altLang="zh-CN" sz="2800" dirty="0">
                <a:latin typeface="华文新魏" panose="02010800040101010101" pitchFamily="2" charset="-122"/>
                <a:ea typeface="华文新魏" panose="02010800040101010101" pitchFamily="2" charset="-122"/>
              </a:rPr>
              <a:t>台完整的计算机应包括</a:t>
            </a:r>
            <a:r>
              <a:rPr lang="en-US" altLang="zh-CN" sz="2800" dirty="0" smtClean="0">
                <a:latin typeface="华文新魏" panose="02010800040101010101" pitchFamily="2" charset="-122"/>
                <a:ea typeface="华文新魏" panose="02010800040101010101" pitchFamily="2" charset="-122"/>
              </a:rPr>
              <a:t>_________ </a:t>
            </a:r>
            <a:r>
              <a:rPr lang="zh-CN" altLang="zh-CN" sz="2800" dirty="0">
                <a:latin typeface="华文新魏" panose="02010800040101010101" pitchFamily="2" charset="-122"/>
                <a:ea typeface="华文新魏" panose="02010800040101010101" pitchFamily="2" charset="-122"/>
              </a:rPr>
              <a:t>。</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运算器</a:t>
            </a:r>
            <a:r>
              <a:rPr lang="zh-CN" altLang="zh-CN" sz="2800" dirty="0">
                <a:latin typeface="华文新魏" panose="02010800040101010101" pitchFamily="2" charset="-122"/>
                <a:ea typeface="华文新魏" panose="02010800040101010101" pitchFamily="2" charset="-122"/>
              </a:rPr>
              <a:t>、存储器、控制器</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外部设备和主机</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主机和实用程序</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配套的硬件设备和软件</a:t>
            </a:r>
            <a:r>
              <a:rPr lang="zh-CN" altLang="zh-CN" sz="2800" dirty="0" smtClean="0">
                <a:latin typeface="华文新魏" panose="02010800040101010101" pitchFamily="2" charset="-122"/>
                <a:ea typeface="华文新魏" panose="02010800040101010101" pitchFamily="2" charset="-122"/>
              </a:rPr>
              <a:t>系统</a:t>
            </a:r>
            <a:endParaRPr lang="zh-CN" altLang="zh-CN" sz="2800" dirty="0">
              <a:latin typeface="华文新魏" panose="02010800040101010101" pitchFamily="2" charset="-122"/>
              <a:ea typeface="华文新魏" panose="02010800040101010101" pitchFamily="2" charset="-122"/>
            </a:endParaRPr>
          </a:p>
        </p:txBody>
      </p:sp>
      <p:sp>
        <p:nvSpPr>
          <p:cNvPr id="14" name="矩形 13"/>
          <p:cNvSpPr/>
          <p:nvPr/>
        </p:nvSpPr>
        <p:spPr>
          <a:xfrm>
            <a:off x="323528" y="4365104"/>
            <a:ext cx="8820472" cy="2031325"/>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冯</a:t>
            </a:r>
            <a:r>
              <a:rPr lang="en-US" altLang="zh-CN" sz="2800" dirty="0">
                <a:latin typeface="华文新魏" panose="02010800040101010101" pitchFamily="2" charset="-122"/>
                <a:ea typeface="华文新魏" panose="02010800040101010101" pitchFamily="2" charset="-122"/>
              </a:rPr>
              <a:t>.</a:t>
            </a:r>
            <a:r>
              <a:rPr lang="zh-CN" altLang="zh-CN" sz="2800" dirty="0">
                <a:latin typeface="华文新魏" panose="02010800040101010101" pitchFamily="2" charset="-122"/>
                <a:ea typeface="华文新魏" panose="02010800040101010101" pitchFamily="2" charset="-122"/>
              </a:rPr>
              <a:t>诺依曼机工作的基本方式的特点</a:t>
            </a:r>
            <a:r>
              <a:rPr lang="zh-CN" altLang="zh-CN" sz="2800" dirty="0" smtClean="0">
                <a:latin typeface="华文新魏" panose="02010800040101010101" pitchFamily="2" charset="-122"/>
                <a:ea typeface="华文新魏" panose="02010800040101010101" pitchFamily="2" charset="-122"/>
              </a:rPr>
              <a:t>是</a:t>
            </a:r>
            <a:r>
              <a:rPr lang="en-US" altLang="zh-CN" sz="2800" dirty="0" smtClean="0">
                <a:latin typeface="华文新魏" panose="02010800040101010101" pitchFamily="2" charset="-122"/>
                <a:ea typeface="华文新魏" panose="02010800040101010101" pitchFamily="2" charset="-122"/>
              </a:rPr>
              <a:t>_____ </a:t>
            </a:r>
            <a:r>
              <a:rPr lang="zh-CN" altLang="zh-CN" sz="2800" dirty="0">
                <a:latin typeface="华文新魏" panose="02010800040101010101" pitchFamily="2" charset="-122"/>
                <a:ea typeface="华文新魏" panose="02010800040101010101" pitchFamily="2" charset="-122"/>
              </a:rPr>
              <a:t>。</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堆栈操作</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按地址访问并顺序执行指令</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zh-CN" altLang="zh-CN" sz="2800" dirty="0" smtClean="0">
                <a:latin typeface="华文新魏" panose="02010800040101010101" pitchFamily="2" charset="-122"/>
                <a:ea typeface="华文新魏" panose="02010800040101010101" pitchFamily="2" charset="-122"/>
              </a:rPr>
              <a:t>多指令流单数据流</a:t>
            </a: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存储器按内容选择</a:t>
            </a:r>
            <a:r>
              <a:rPr lang="zh-CN" altLang="zh-CN" sz="2800" dirty="0" smtClean="0">
                <a:latin typeface="华文新魏" panose="02010800040101010101" pitchFamily="2" charset="-122"/>
                <a:ea typeface="华文新魏" panose="02010800040101010101" pitchFamily="2" charset="-122"/>
              </a:rPr>
              <a:t>地址</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784008" y="365494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014705" y="514257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5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9" name="矩形 8"/>
          <p:cNvSpPr/>
          <p:nvPr/>
        </p:nvSpPr>
        <p:spPr>
          <a:xfrm>
            <a:off x="250861" y="1028649"/>
            <a:ext cx="8142196" cy="2031325"/>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对</a:t>
            </a:r>
            <a:r>
              <a:rPr lang="zh-CN" altLang="zh-CN" sz="2800" dirty="0">
                <a:latin typeface="华文新魏" panose="02010800040101010101" pitchFamily="2" charset="-122"/>
                <a:ea typeface="华文新魏" panose="02010800040101010101" pitchFamily="2" charset="-122"/>
              </a:rPr>
              <a:t>计算机的软、硬件资源进行管理</a:t>
            </a:r>
            <a:r>
              <a:rPr lang="zh-CN" altLang="zh-CN" sz="2800" dirty="0" smtClean="0">
                <a:latin typeface="华文新魏" panose="02010800040101010101" pitchFamily="2" charset="-122"/>
                <a:ea typeface="华文新魏" panose="02010800040101010101" pitchFamily="2" charset="-122"/>
              </a:rPr>
              <a:t>，是</a:t>
            </a:r>
            <a:r>
              <a:rPr lang="en-US" altLang="zh-CN" sz="2800" dirty="0" smtClean="0">
                <a:latin typeface="华文新魏" panose="02010800040101010101" pitchFamily="2" charset="-122"/>
                <a:ea typeface="华文新魏" panose="02010800040101010101" pitchFamily="2" charset="-122"/>
              </a:rPr>
              <a:t>___</a:t>
            </a:r>
            <a:r>
              <a:rPr lang="zh-CN" altLang="zh-CN" sz="2800" dirty="0">
                <a:latin typeface="华文新魏" panose="02010800040101010101" pitchFamily="2" charset="-122"/>
                <a:ea typeface="华文新魏" panose="02010800040101010101" pitchFamily="2" charset="-122"/>
              </a:rPr>
              <a:t>的功能。</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操作系统</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语言处理程序</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数据库管理系统</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用户程序 </a:t>
            </a:r>
            <a:endParaRPr lang="zh-CN" altLang="zh-CN" sz="2800" dirty="0">
              <a:latin typeface="华文新魏" panose="02010800040101010101" pitchFamily="2" charset="-122"/>
              <a:ea typeface="华文新魏" panose="02010800040101010101" pitchFamily="2" charset="-122"/>
            </a:endParaRPr>
          </a:p>
        </p:txBody>
      </p:sp>
      <p:sp>
        <p:nvSpPr>
          <p:cNvPr id="10" name="矩形 9"/>
          <p:cNvSpPr/>
          <p:nvPr/>
        </p:nvSpPr>
        <p:spPr>
          <a:xfrm>
            <a:off x="302550" y="3284984"/>
            <a:ext cx="8568952" cy="1600438"/>
          </a:xfrm>
          <a:prstGeom prst="rect">
            <a:avLst/>
          </a:prstGeom>
        </p:spPr>
        <p:txBody>
          <a:bodyPr wrap="square">
            <a:spAutoFit/>
          </a:bodyPr>
          <a:lstStyle/>
          <a:p>
            <a:r>
              <a:rPr lang="zh-TW" altLang="zh-CN" sz="2800" dirty="0" smtClean="0">
                <a:latin typeface="华文新魏" panose="02010800040101010101" pitchFamily="2" charset="-122"/>
                <a:ea typeface="华文新魏" panose="02010800040101010101" pitchFamily="2" charset="-122"/>
              </a:rPr>
              <a:t>系统软件</a:t>
            </a:r>
            <a:r>
              <a:rPr lang="zh-CN" altLang="zh-CN" sz="2800" dirty="0">
                <a:latin typeface="华文新魏" panose="02010800040101010101" pitchFamily="2" charset="-122"/>
                <a:ea typeface="华文新魏" panose="02010800040101010101" pitchFamily="2" charset="-122"/>
              </a:rPr>
              <a:t>是</a:t>
            </a:r>
            <a:r>
              <a:rPr lang="zh-TW" altLang="zh-CN" sz="2800" dirty="0">
                <a:latin typeface="华文新魏" panose="02010800040101010101" pitchFamily="2" charset="-122"/>
                <a:ea typeface="华文新魏" panose="02010800040101010101" pitchFamily="2" charset="-122"/>
              </a:rPr>
              <a:t>计算机系统的一部分，与具体的应用领域无关。</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对</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错</a:t>
            </a:r>
            <a:endParaRPr lang="zh-CN" altLang="zh-CN" sz="2800" i="1" dirty="0">
              <a:latin typeface="华文新魏" panose="02010800040101010101" pitchFamily="2" charset="-122"/>
              <a:ea typeface="华文新魏" panose="02010800040101010101" pitchFamily="2" charset="-122"/>
            </a:endParaRPr>
          </a:p>
        </p:txBody>
      </p:sp>
      <p:sp>
        <p:nvSpPr>
          <p:cNvPr id="12" name="矩形 11"/>
          <p:cNvSpPr/>
          <p:nvPr/>
        </p:nvSpPr>
        <p:spPr>
          <a:xfrm>
            <a:off x="307631" y="4995271"/>
            <a:ext cx="7992888" cy="1384995"/>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用</a:t>
            </a:r>
            <a:r>
              <a:rPr lang="zh-CN" altLang="zh-CN" sz="2800" dirty="0">
                <a:latin typeface="华文新魏" panose="02010800040101010101" pitchFamily="2" charset="-122"/>
                <a:ea typeface="华文新魏" panose="02010800040101010101" pitchFamily="2" charset="-122"/>
              </a:rPr>
              <a:t>机器语言编写的程序可以由计算机直接执行。</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对</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smtClean="0">
                <a:latin typeface="华文新魏" panose="02010800040101010101" pitchFamily="2" charset="-122"/>
                <a:ea typeface="华文新魏" panose="02010800040101010101" pitchFamily="2" charset="-122"/>
              </a:rPr>
              <a:t>错</a:t>
            </a:r>
            <a:endParaRPr lang="zh-CN" altLang="zh-CN" sz="2800" dirty="0">
              <a:latin typeface="华文新魏" panose="02010800040101010101" pitchFamily="2" charset="-122"/>
              <a:ea typeface="华文新魏" panose="02010800040101010101" pitchFamily="2" charset="-122"/>
            </a:endParaRPr>
          </a:p>
        </p:txBody>
      </p:sp>
      <p:sp>
        <p:nvSpPr>
          <p:cNvPr id="15" name="椭圆 14"/>
          <p:cNvSpPr/>
          <p:nvPr/>
        </p:nvSpPr>
        <p:spPr bwMode="auto">
          <a:xfrm>
            <a:off x="630008" y="181131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6" name="椭圆 15"/>
          <p:cNvSpPr/>
          <p:nvPr/>
        </p:nvSpPr>
        <p:spPr bwMode="auto">
          <a:xfrm>
            <a:off x="1883821" y="4293983"/>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7" name="椭圆 16"/>
          <p:cNvSpPr/>
          <p:nvPr/>
        </p:nvSpPr>
        <p:spPr bwMode="auto">
          <a:xfrm>
            <a:off x="1892169" y="578948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panose="020B0604020202020204" pitchFamily="34" charset="0"/>
              </a:rPr>
              <a:t>1.5</a:t>
            </a:r>
            <a:r>
              <a:rPr lang="zh-CN" altLang="en-US" smtClean="0"/>
              <a:t>计算机系统的层次结构</a:t>
            </a:r>
            <a:endParaRPr lang="zh-CN" altLang="en-US" smtClean="0"/>
          </a:p>
        </p:txBody>
      </p:sp>
      <p:sp>
        <p:nvSpPr>
          <p:cNvPr id="40963" name="Rectangle 3"/>
          <p:cNvSpPr>
            <a:spLocks noGrp="1" noChangeArrowheads="1"/>
          </p:cNvSpPr>
          <p:nvPr>
            <p:ph type="body" idx="1"/>
          </p:nvPr>
        </p:nvSpPr>
        <p:spPr>
          <a:xfrm>
            <a:off x="457200" y="1196975"/>
            <a:ext cx="8229600" cy="4933950"/>
          </a:xfrm>
        </p:spPr>
        <p:txBody>
          <a:bodyPr/>
          <a:lstStyle/>
          <a:p>
            <a:pPr eaLnBrk="1" hangingPunct="1">
              <a:buFont typeface="Wingdings" panose="05000000000000000000" pitchFamily="2" charset="2"/>
              <a:buNone/>
            </a:pPr>
            <a:r>
              <a:rPr lang="zh-CN" altLang="en-US" sz="2900" smtClean="0"/>
              <a:t>一、多级计算机系统</a:t>
            </a:r>
            <a:endParaRPr lang="zh-CN" altLang="en-US" sz="2900" smtClean="0"/>
          </a:p>
          <a:p>
            <a:pPr eaLnBrk="1" hangingPunct="1">
              <a:buFont typeface="Wingdings" panose="05000000000000000000" pitchFamily="2" charset="2"/>
              <a:buNone/>
            </a:pPr>
            <a:r>
              <a:rPr lang="zh-CN" altLang="en-US" smtClean="0"/>
              <a:t>         计算机不能简单地认为是一种电子设备，而是一个十分复杂的硬、软件结合而成的整体。它通常由五个以上不同的级组成，每一级都能进行程序设计，如图所示。</a:t>
            </a:r>
            <a:endParaRPr lang="zh-CN" altLang="en-US" smtClean="0"/>
          </a:p>
        </p:txBody>
      </p:sp>
      <p:pic>
        <p:nvPicPr>
          <p:cNvPr id="40964" name="Picture 4" descr="1a7">
            <a:hlinkClick r:id="rId1" action="ppaction://hlinkfile"/>
          </p:cNvPr>
          <p:cNvPicPr>
            <a:picLocks noChangeAspect="1" noChangeArrowheads="1"/>
          </p:cNvPicPr>
          <p:nvPr/>
        </p:nvPicPr>
        <p:blipFill>
          <a:blip r:embed="rId2"/>
          <a:srcRect/>
          <a:stretch>
            <a:fillRect/>
          </a:stretch>
        </p:blipFill>
        <p:spPr bwMode="auto">
          <a:xfrm>
            <a:off x="4643438" y="3789363"/>
            <a:ext cx="2735262" cy="25606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22238"/>
            <a:ext cx="7543800" cy="714375"/>
          </a:xfrm>
        </p:spPr>
        <p:txBody>
          <a:bodyPr/>
          <a:lstStyle/>
          <a:p>
            <a:pPr eaLnBrk="1" hangingPunct="1"/>
            <a:r>
              <a:rPr lang="en-US" altLang="zh-CN" smtClean="0">
                <a:cs typeface="Arial" panose="020B0604020202020204" pitchFamily="34" charset="0"/>
              </a:rPr>
              <a:t>1.5</a:t>
            </a:r>
            <a:r>
              <a:rPr lang="zh-CN" altLang="en-US" smtClean="0"/>
              <a:t>计算机系统的层次结构</a:t>
            </a:r>
            <a:endParaRPr lang="zh-CN" altLang="en-US" smtClean="0"/>
          </a:p>
        </p:txBody>
      </p:sp>
      <p:sp>
        <p:nvSpPr>
          <p:cNvPr id="41987" name="Rectangle 3"/>
          <p:cNvSpPr>
            <a:spLocks noGrp="1" noChangeArrowheads="1"/>
          </p:cNvSpPr>
          <p:nvPr>
            <p:ph type="body" idx="1"/>
          </p:nvPr>
        </p:nvSpPr>
        <p:spPr>
          <a:xfrm>
            <a:off x="457200" y="914400"/>
            <a:ext cx="8229600" cy="5394325"/>
          </a:xfrm>
        </p:spPr>
        <p:txBody>
          <a:bodyPr/>
          <a:lstStyle/>
          <a:p>
            <a:pPr eaLnBrk="1" hangingPunct="1">
              <a:lnSpc>
                <a:spcPct val="80000"/>
              </a:lnSpc>
              <a:buFont typeface="Wingdings" panose="05000000000000000000" pitchFamily="2" charset="2"/>
              <a:buNone/>
            </a:pPr>
            <a:r>
              <a:rPr lang="zh-CN" altLang="en-US" sz="2400" smtClean="0"/>
              <a:t>二、五级计算机层次系统</a:t>
            </a:r>
            <a:endParaRPr lang="zh-CN" altLang="en-US" sz="2400" smtClean="0"/>
          </a:p>
          <a:p>
            <a:pPr eaLnBrk="1" hangingPunct="1">
              <a:lnSpc>
                <a:spcPct val="80000"/>
              </a:lnSpc>
            </a:pPr>
            <a:r>
              <a:rPr lang="zh-CN" altLang="en-US" sz="2400" smtClean="0">
                <a:solidFill>
                  <a:srgbClr val="FF0000"/>
                </a:solidFill>
              </a:rPr>
              <a:t>第一级是微程序设计级</a:t>
            </a:r>
            <a:r>
              <a:rPr lang="zh-CN" altLang="en-US" sz="2400" smtClean="0"/>
              <a:t>。这是一个实在的硬件级，它由机器硬件直接执行微指令。如果某一个应用程序直接用微指令来编写，那么可在这一级上运行应用程序。</a:t>
            </a:r>
            <a:endParaRPr lang="zh-CN" altLang="en-US" sz="2400" smtClean="0"/>
          </a:p>
          <a:p>
            <a:pPr eaLnBrk="1" hangingPunct="1">
              <a:lnSpc>
                <a:spcPct val="80000"/>
              </a:lnSpc>
            </a:pPr>
            <a:r>
              <a:rPr lang="zh-CN" altLang="en-US" sz="2400" smtClean="0">
                <a:solidFill>
                  <a:srgbClr val="FF0000"/>
                </a:solidFill>
              </a:rPr>
              <a:t>第二级是一般机器级</a:t>
            </a:r>
            <a:r>
              <a:rPr lang="zh-CN" altLang="en-US" sz="2400" smtClean="0"/>
              <a:t>，也称为</a:t>
            </a:r>
            <a:r>
              <a:rPr lang="zh-CN" altLang="en-US" sz="2400" smtClean="0">
                <a:solidFill>
                  <a:srgbClr val="FF0000"/>
                </a:solidFill>
              </a:rPr>
              <a:t>机器语言级</a:t>
            </a:r>
            <a:r>
              <a:rPr lang="zh-CN" altLang="en-US" sz="2400" smtClean="0"/>
              <a:t>，它由微程序解释机器指令系统。这一级也是硬件级。</a:t>
            </a:r>
            <a:endParaRPr lang="zh-CN" altLang="en-US" sz="2400" smtClean="0"/>
          </a:p>
          <a:p>
            <a:pPr eaLnBrk="1" hangingPunct="1">
              <a:lnSpc>
                <a:spcPct val="80000"/>
              </a:lnSpc>
            </a:pPr>
            <a:r>
              <a:rPr lang="zh-CN" altLang="en-US" sz="2400" smtClean="0">
                <a:solidFill>
                  <a:srgbClr val="FF0000"/>
                </a:solidFill>
              </a:rPr>
              <a:t>第三级是操作系统级</a:t>
            </a:r>
            <a:r>
              <a:rPr lang="zh-CN" altLang="en-US" sz="2400" smtClean="0"/>
              <a:t>，它由操作系统程序实现。这些操作系统由机器指令和广义指令组成，广义指令是操作系统定义和解释的软件指令，所以这一级也称为混合级。</a:t>
            </a:r>
            <a:endParaRPr lang="zh-CN" altLang="en-US" sz="2400" smtClean="0"/>
          </a:p>
          <a:p>
            <a:pPr eaLnBrk="1" hangingPunct="1">
              <a:lnSpc>
                <a:spcPct val="80000"/>
              </a:lnSpc>
            </a:pPr>
            <a:r>
              <a:rPr lang="zh-CN" altLang="en-US" sz="2400" smtClean="0">
                <a:solidFill>
                  <a:srgbClr val="FF0000"/>
                </a:solidFill>
              </a:rPr>
              <a:t>第四级是汇编语言级</a:t>
            </a:r>
            <a:r>
              <a:rPr lang="zh-CN" altLang="en-US" sz="2400" smtClean="0"/>
              <a:t>，它给程序人员提供一种符号形式语言，以减少程序编写的复杂性。这一级由汇编程序支持和执行。如果应用程序采用汇编语言编写时，则机器必须要有这一级的功能；如果应用程序不采用汇编语言编写，则这一级可以不要。</a:t>
            </a:r>
            <a:endParaRPr lang="zh-CN" altLang="en-US" sz="2400" smtClean="0"/>
          </a:p>
          <a:p>
            <a:pPr eaLnBrk="1" hangingPunct="1">
              <a:lnSpc>
                <a:spcPct val="80000"/>
              </a:lnSpc>
            </a:pPr>
            <a:r>
              <a:rPr lang="zh-CN" altLang="en-US" sz="2400" smtClean="0">
                <a:solidFill>
                  <a:srgbClr val="FF0000"/>
                </a:solidFill>
              </a:rPr>
              <a:t>第五级是高级语言级</a:t>
            </a:r>
            <a:r>
              <a:rPr lang="zh-CN" altLang="en-US" sz="2400" smtClean="0"/>
              <a:t>，它是面向用户的，为方便用户编写应用程序而设置的。这一级由各种高级语言编译程序支持和执行。</a:t>
            </a:r>
            <a:endParaRPr lang="zh-CN" altLang="en-US" sz="240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122238"/>
            <a:ext cx="7543800" cy="858837"/>
          </a:xfrm>
        </p:spPr>
        <p:txBody>
          <a:bodyPr/>
          <a:lstStyle/>
          <a:p>
            <a:pPr eaLnBrk="1" hangingPunct="1"/>
            <a:r>
              <a:rPr lang="en-US" altLang="zh-CN" smtClean="0">
                <a:cs typeface="Arial" panose="020B0604020202020204" pitchFamily="34" charset="0"/>
              </a:rPr>
              <a:t>1.5</a:t>
            </a:r>
            <a:r>
              <a:rPr lang="zh-CN" altLang="en-US" smtClean="0"/>
              <a:t>计算机系统的层次结构</a:t>
            </a:r>
            <a:endParaRPr lang="zh-CN" altLang="en-US" smtClean="0"/>
          </a:p>
        </p:txBody>
      </p:sp>
      <p:sp>
        <p:nvSpPr>
          <p:cNvPr id="43011" name="Rectangle 3"/>
          <p:cNvSpPr>
            <a:spLocks noGrp="1" noChangeArrowheads="1"/>
          </p:cNvSpPr>
          <p:nvPr>
            <p:ph type="body" idx="1"/>
          </p:nvPr>
        </p:nvSpPr>
        <p:spPr>
          <a:xfrm>
            <a:off x="468313" y="1341438"/>
            <a:ext cx="8229600" cy="4646612"/>
          </a:xfrm>
        </p:spPr>
        <p:txBody>
          <a:bodyPr/>
          <a:lstStyle/>
          <a:p>
            <a:pPr eaLnBrk="1" hangingPunct="1">
              <a:buFont typeface="Wingdings" panose="05000000000000000000" pitchFamily="2" charset="2"/>
              <a:buNone/>
            </a:pPr>
            <a:r>
              <a:rPr lang="zh-CN" altLang="en-US" sz="2600" smtClean="0"/>
              <a:t>三、软件与硬件逻辑等价性</a:t>
            </a:r>
            <a:endParaRPr lang="zh-CN" altLang="en-US" sz="2600" smtClean="0"/>
          </a:p>
          <a:p>
            <a:pPr eaLnBrk="1" hangingPunct="1"/>
            <a:r>
              <a:rPr lang="zh-CN" altLang="en-US" sz="2600" smtClean="0"/>
              <a:t>随着大规模集成电路技术的发展和软件硬化的趋势，计算机系统的软、硬件界限已经变得模糊了。因为任何操作可以由软件来实现，也可以由硬件来实现；任何指令的执行可以由硬件完成，也可以由软件来完成。</a:t>
            </a:r>
            <a:endParaRPr lang="zh-CN" altLang="en-US" sz="2600" smtClean="0"/>
          </a:p>
          <a:p>
            <a:pPr eaLnBrk="1" hangingPunct="1"/>
            <a:r>
              <a:rPr lang="zh-CN" altLang="en-US" sz="2600" smtClean="0"/>
              <a:t>任何操作可以由软件来实现也可以有硬件来实现（设计计算机系统时，应考虑各个方面的因素：价格、速度、可靠性、存储容量、变更周期）</a:t>
            </a:r>
            <a:endParaRPr lang="zh-CN" altLang="en-US" sz="2600" smtClean="0"/>
          </a:p>
          <a:p>
            <a:pPr eaLnBrk="1" hangingPunct="1"/>
            <a:r>
              <a:rPr lang="zh-CN" altLang="en-US" sz="2600" smtClean="0"/>
              <a:t>把在一般机器级通过编程实现的操作，改为直接由硬件实现，</a:t>
            </a:r>
            <a:r>
              <a:rPr lang="zh-CN" altLang="en-US" sz="2600" smtClean="0">
                <a:solidFill>
                  <a:srgbClr val="FF0000"/>
                </a:solidFill>
              </a:rPr>
              <a:t>实体硬件机</a:t>
            </a:r>
            <a:r>
              <a:rPr lang="zh-CN" altLang="en-US" sz="2600" smtClean="0"/>
              <a:t>的功能范围在不断扩大。</a:t>
            </a:r>
            <a:endParaRPr lang="zh-CN" altLang="en-US" sz="2600" smtClean="0"/>
          </a:p>
          <a:p>
            <a:pPr eaLnBrk="1" hangingPunct="1"/>
            <a:r>
              <a:rPr lang="zh-CN" altLang="en-US" sz="2600" smtClean="0"/>
              <a:t>把许多复杂的、常用的程序制作成</a:t>
            </a:r>
            <a:r>
              <a:rPr lang="zh-CN" altLang="en-US" sz="2600" smtClean="0">
                <a:solidFill>
                  <a:srgbClr val="FF0000"/>
                </a:solidFill>
              </a:rPr>
              <a:t>固件</a:t>
            </a:r>
            <a:r>
              <a:rPr lang="zh-CN" altLang="en-US" sz="2600" smtClean="0"/>
              <a:t>（功能上是软件，形态上是硬件）</a:t>
            </a:r>
            <a:endParaRPr lang="zh-CN" altLang="en-US" sz="260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0998" y="476672"/>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9" name="矩形 8"/>
          <p:cNvSpPr/>
          <p:nvPr/>
        </p:nvSpPr>
        <p:spPr>
          <a:xfrm>
            <a:off x="179512" y="2276871"/>
            <a:ext cx="8754219" cy="1815882"/>
          </a:xfrm>
          <a:prstGeom prst="rect">
            <a:avLst/>
          </a:prstGeom>
        </p:spPr>
        <p:txBody>
          <a:bodyPr wrap="square">
            <a:spAutoFit/>
          </a:bodyPr>
          <a:lstStyle/>
          <a:p>
            <a:pPr>
              <a:lnSpc>
                <a:spcPct val="200000"/>
              </a:lnSpc>
            </a:pPr>
            <a:r>
              <a:rPr lang="zh-CN" altLang="zh-CN" sz="2800" dirty="0" smtClean="0">
                <a:latin typeface="华文新魏" panose="02010800040101010101" pitchFamily="2" charset="-122"/>
                <a:ea typeface="华文新魏" panose="02010800040101010101" pitchFamily="2" charset="-122"/>
              </a:rPr>
              <a:t>计算机系统</a:t>
            </a:r>
            <a:r>
              <a:rPr lang="zh-CN" altLang="zh-CN" sz="2800" dirty="0">
                <a:latin typeface="华文新魏" panose="02010800040101010101" pitchFamily="2" charset="-122"/>
                <a:ea typeface="华文新魏" panose="02010800040101010101" pitchFamily="2" charset="-122"/>
              </a:rPr>
              <a:t>中的硬件和软件在逻辑功能上可以是等价的。</a:t>
            </a:r>
            <a:endParaRPr lang="zh-CN" altLang="zh-CN" sz="2800" dirty="0">
              <a:latin typeface="华文新魏" panose="02010800040101010101" pitchFamily="2" charset="-122"/>
              <a:ea typeface="华文新魏" panose="02010800040101010101" pitchFamily="2" charset="-122"/>
            </a:endParaRPr>
          </a:p>
          <a:p>
            <a:pPr>
              <a:lnSpc>
                <a:spcPct val="200000"/>
              </a:lnSpc>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对</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B. </a:t>
            </a:r>
            <a:r>
              <a:rPr lang="zh-CN" altLang="zh-CN" sz="2800" dirty="0">
                <a:latin typeface="华文新魏" panose="02010800040101010101" pitchFamily="2" charset="-122"/>
                <a:ea typeface="华文新魏" panose="02010800040101010101" pitchFamily="2" charset="-122"/>
              </a:rPr>
              <a:t>错</a:t>
            </a:r>
            <a:endParaRPr lang="zh-CN" altLang="zh-CN" sz="2800" dirty="0">
              <a:latin typeface="华文新魏" panose="02010800040101010101" pitchFamily="2" charset="-122"/>
              <a:ea typeface="华文新魏" panose="02010800040101010101" pitchFamily="2" charset="-122"/>
            </a:endParaRPr>
          </a:p>
        </p:txBody>
      </p:sp>
      <p:sp>
        <p:nvSpPr>
          <p:cNvPr id="15" name="椭圆 14"/>
          <p:cNvSpPr/>
          <p:nvPr/>
        </p:nvSpPr>
        <p:spPr bwMode="auto">
          <a:xfrm>
            <a:off x="2725808" y="343862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152400"/>
            <a:ext cx="7543800" cy="609600"/>
          </a:xfrm>
        </p:spPr>
        <p:txBody>
          <a:bodyPr/>
          <a:lstStyle/>
          <a:p>
            <a:pPr eaLnBrk="1" hangingPunct="1"/>
            <a:r>
              <a:rPr lang="zh-CN" altLang="en-US" smtClean="0"/>
              <a:t>第一章小结</a:t>
            </a:r>
            <a:endParaRPr lang="zh-CN" altLang="en-US" smtClean="0"/>
          </a:p>
        </p:txBody>
      </p:sp>
      <p:pic>
        <p:nvPicPr>
          <p:cNvPr id="44035" name="Picture 8" descr="G:\第一章\image\jg.jpg"/>
          <p:cNvPicPr>
            <a:picLocks noChangeAspect="1" noChangeArrowheads="1"/>
          </p:cNvPicPr>
          <p:nvPr/>
        </p:nvPicPr>
        <p:blipFill>
          <a:blip r:embed="rId1"/>
          <a:srcRect/>
          <a:stretch>
            <a:fillRect/>
          </a:stretch>
        </p:blipFill>
        <p:spPr bwMode="auto">
          <a:xfrm>
            <a:off x="381000" y="762000"/>
            <a:ext cx="8382000" cy="594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539552" y="1916832"/>
            <a:ext cx="8280920" cy="2061210"/>
          </a:xfrm>
          <a:prstGeom prst="rect">
            <a:avLst/>
          </a:prstGeom>
          <a:solidFill>
            <a:srgbClr val="CCFFFF"/>
          </a:solidFill>
          <a:ln w="9525">
            <a:noFill/>
            <a:miter lim="800000"/>
          </a:ln>
        </p:spPr>
        <p:txBody>
          <a:bodyPr wrap="square">
            <a:spAutoFit/>
          </a:bodyPr>
          <a:lstStyle/>
          <a:p>
            <a:pPr>
              <a:spcBef>
                <a:spcPct val="50000"/>
              </a:spcBef>
            </a:pPr>
            <a:r>
              <a:rPr lang="zh-CN" sz="3200" dirty="0" smtClean="0">
                <a:latin typeface="微软雅黑" panose="020B0503020204020204" charset="-122"/>
                <a:ea typeface="微软雅黑" panose="020B0503020204020204" charset="-122"/>
              </a:rPr>
              <a:t>练习题：</a:t>
            </a:r>
            <a:endParaRPr lang="zh-CN" sz="3200" dirty="0" smtClean="0">
              <a:latin typeface="微软雅黑" panose="020B0503020204020204" charset="-122"/>
              <a:ea typeface="微软雅黑" panose="020B0503020204020204" charset="-122"/>
            </a:endParaRPr>
          </a:p>
          <a:p>
            <a:pPr>
              <a:spcBef>
                <a:spcPct val="50000"/>
              </a:spcBef>
            </a:pPr>
            <a:r>
              <a:rPr lang="en-US" altLang="zh-CN" sz="3200" dirty="0">
                <a:latin typeface="微软雅黑" panose="020B0503020204020204" charset="-122"/>
                <a:ea typeface="微软雅黑" panose="020B0503020204020204" charset="-122"/>
              </a:rPr>
              <a:t> 1</a:t>
            </a:r>
            <a:r>
              <a:rPr lang="zh-CN" altLang="en-US" sz="3200" dirty="0">
                <a:latin typeface="微软雅黑" panose="020B0503020204020204" charset="-122"/>
                <a:ea typeface="微软雅黑" panose="020B0503020204020204" charset="-122"/>
              </a:rPr>
              <a:t>、简述计算机系统。</a:t>
            </a:r>
            <a:endParaRPr lang="en-US" altLang="zh-CN" sz="3200" dirty="0">
              <a:latin typeface="微软雅黑" panose="020B0503020204020204" charset="-122"/>
              <a:ea typeface="微软雅黑" panose="020B0503020204020204" charset="-122"/>
            </a:endParaRPr>
          </a:p>
          <a:p>
            <a:pPr>
              <a:spcBef>
                <a:spcPct val="50000"/>
              </a:spcBef>
            </a:pPr>
            <a:r>
              <a:rPr lang="en-US" altLang="zh-CN" sz="3200" dirty="0">
                <a:latin typeface="微软雅黑" panose="020B0503020204020204" charset="-122"/>
                <a:ea typeface="微软雅黑" panose="020B0503020204020204" charset="-122"/>
              </a:rPr>
              <a:t> 2</a:t>
            </a:r>
            <a:r>
              <a:rPr lang="zh-CN" altLang="en-US" sz="3200" dirty="0">
                <a:latin typeface="微软雅黑" panose="020B0503020204020204" charset="-122"/>
                <a:ea typeface="微软雅黑" panose="020B0503020204020204" charset="-122"/>
              </a:rPr>
              <a:t>、冯</a:t>
            </a:r>
            <a:r>
              <a:rPr lang="en-US" altLang="zh-CN" sz="3200" dirty="0">
                <a:latin typeface="微软雅黑" panose="020B0503020204020204" charset="-122"/>
                <a:ea typeface="微软雅黑" panose="020B0503020204020204" charset="-122"/>
              </a:rPr>
              <a:t>·</a:t>
            </a:r>
            <a:r>
              <a:rPr lang="zh-CN" altLang="en-US" sz="3200" dirty="0">
                <a:latin typeface="微软雅黑" panose="020B0503020204020204" charset="-122"/>
                <a:ea typeface="微软雅黑" panose="020B0503020204020204" charset="-122"/>
              </a:rPr>
              <a:t>诺依曼型计算机设计思想、主要特点。</a:t>
            </a:r>
            <a:endParaRPr lang="zh-CN" altLang="en-US" sz="32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ChangeArrowheads="1"/>
          </p:cNvSpPr>
          <p:nvPr/>
        </p:nvSpPr>
        <p:spPr bwMode="auto">
          <a:xfrm>
            <a:off x="201613" y="415925"/>
            <a:ext cx="8763000" cy="5892800"/>
          </a:xfrm>
          <a:prstGeom prst="rect">
            <a:avLst/>
          </a:prstGeom>
          <a:solidFill>
            <a:srgbClr val="CCFFFF"/>
          </a:solidFill>
          <a:ln w="9525">
            <a:noFill/>
            <a:miter lim="800000"/>
          </a:ln>
        </p:spPr>
        <p:txBody>
          <a:bodyPr>
            <a:spAutoFit/>
          </a:bodyPr>
          <a:lstStyle/>
          <a:p>
            <a:pPr>
              <a:spcBef>
                <a:spcPct val="50000"/>
              </a:spcBef>
            </a:pPr>
            <a:r>
              <a:rPr lang="en-US" altLang="zh-CN" sz="2600">
                <a:latin typeface="宋体" panose="02010600030101010101" pitchFamily="2" charset="-122"/>
              </a:rPr>
              <a:t>1</a:t>
            </a:r>
            <a:r>
              <a:rPr lang="zh-CN" altLang="en-US" sz="2600">
                <a:latin typeface="宋体" panose="02010600030101010101" pitchFamily="2" charset="-122"/>
              </a:rPr>
              <a:t>、简述计算机系统</a:t>
            </a:r>
            <a:endParaRPr lang="zh-CN" altLang="en-US" sz="2600">
              <a:latin typeface="宋体" panose="02010600030101010101" pitchFamily="2" charset="-122"/>
            </a:endParaRPr>
          </a:p>
          <a:p>
            <a:pPr eaLnBrk="0" hangingPunct="0">
              <a:spcBef>
                <a:spcPct val="50000"/>
              </a:spcBef>
            </a:pPr>
            <a:r>
              <a:rPr lang="zh-CN" altLang="en-US" sz="2600">
                <a:latin typeface="宋体" panose="02010600030101010101" pitchFamily="2" charset="-122"/>
              </a:rPr>
              <a:t>    计算机系统是由硬件、软件组成的多级层次结构。</a:t>
            </a:r>
            <a:endParaRPr lang="zh-CN" altLang="en-US" sz="2600">
              <a:latin typeface="宋体" panose="02010600030101010101" pitchFamily="2" charset="-122"/>
            </a:endParaRPr>
          </a:p>
          <a:p>
            <a:pPr eaLnBrk="0" hangingPunct="0">
              <a:spcBef>
                <a:spcPct val="50000"/>
              </a:spcBef>
            </a:pPr>
            <a:r>
              <a:rPr lang="zh-CN" altLang="en-US" sz="2600">
                <a:latin typeface="宋体" panose="02010600030101010101" pitchFamily="2" charset="-122"/>
              </a:rPr>
              <a:t>    计算机硬件是由有形的电子器件等构成的，它包括运算器、存储器、控制器、适配器、输入输出设备。传统上将运算器和控制器称为ＣＰＵ，而将ＣＰＵ和存储器称为主机。</a:t>
            </a:r>
            <a:endParaRPr lang="zh-CN" altLang="en-US" sz="2600">
              <a:latin typeface="宋体" panose="02010600030101010101" pitchFamily="2" charset="-122"/>
            </a:endParaRPr>
          </a:p>
          <a:p>
            <a:pPr eaLnBrk="0" hangingPunct="0">
              <a:spcBef>
                <a:spcPct val="50000"/>
              </a:spcBef>
            </a:pPr>
            <a:r>
              <a:rPr lang="zh-CN" altLang="en-US" sz="2600">
                <a:latin typeface="宋体" panose="02010600030101010101" pitchFamily="2" charset="-122"/>
              </a:rPr>
              <a:t>    计算机软件是计算机系统结构的重要组成部分，也是计算机不同于一般电子设备的本质所在。计算机软件一般分为系统程序和应用程序两大类。系统程序用来简化程序设计，简化使用方法，提高计算机的使用效率，发挥和扩大计算机的功能和用途，它包括：</a:t>
            </a:r>
            <a:r>
              <a:rPr lang="en-US" altLang="zh-CN" sz="2600">
                <a:latin typeface="宋体" panose="02010600030101010101" pitchFamily="2" charset="-122"/>
              </a:rPr>
              <a:t>(1)</a:t>
            </a:r>
            <a:r>
              <a:rPr lang="zh-CN" altLang="en-US" sz="2600">
                <a:latin typeface="宋体" panose="02010600030101010101" pitchFamily="2" charset="-122"/>
              </a:rPr>
              <a:t>各种服务程序，</a:t>
            </a:r>
            <a:r>
              <a:rPr lang="en-US" altLang="zh-CN" sz="2600">
                <a:latin typeface="宋体" panose="02010600030101010101" pitchFamily="2" charset="-122"/>
              </a:rPr>
              <a:t>(2)</a:t>
            </a:r>
            <a:r>
              <a:rPr lang="zh-CN" altLang="en-US" sz="2600">
                <a:latin typeface="宋体" panose="02010600030101010101" pitchFamily="2" charset="-122"/>
              </a:rPr>
              <a:t>语言类程序，</a:t>
            </a:r>
            <a:r>
              <a:rPr lang="en-US" altLang="zh-CN" sz="2600">
                <a:latin typeface="宋体" panose="02010600030101010101" pitchFamily="2" charset="-122"/>
              </a:rPr>
              <a:t>(3)</a:t>
            </a:r>
            <a:r>
              <a:rPr lang="zh-CN" altLang="en-US" sz="2600">
                <a:latin typeface="宋体" panose="02010600030101010101" pitchFamily="2" charset="-122"/>
              </a:rPr>
              <a:t>操作系统，</a:t>
            </a:r>
            <a:r>
              <a:rPr lang="en-US" altLang="zh-CN" sz="2600">
                <a:latin typeface="宋体" panose="02010600030101010101" pitchFamily="2" charset="-122"/>
              </a:rPr>
              <a:t>(4)</a:t>
            </a:r>
            <a:r>
              <a:rPr lang="zh-CN" altLang="en-US" sz="2600">
                <a:latin typeface="宋体" panose="02010600030101010101" pitchFamily="2" charset="-122"/>
              </a:rPr>
              <a:t>数据库管理系统。应用程序是针对某一应用课题领域开发的软件。</a:t>
            </a:r>
            <a:endParaRPr lang="zh-CN" altLang="en-US" sz="260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8"/>
          <p:cNvSpPr>
            <a:spLocks noChangeArrowheads="1"/>
          </p:cNvSpPr>
          <p:nvPr/>
        </p:nvSpPr>
        <p:spPr bwMode="auto">
          <a:xfrm>
            <a:off x="179512" y="1268760"/>
            <a:ext cx="8839200" cy="4060825"/>
          </a:xfrm>
          <a:prstGeom prst="rect">
            <a:avLst/>
          </a:prstGeom>
          <a:solidFill>
            <a:srgbClr val="CCFFFF"/>
          </a:solidFill>
          <a:ln w="9525">
            <a:noFill/>
            <a:miter lim="800000"/>
          </a:ln>
        </p:spPr>
        <p:txBody>
          <a:bodyPr>
            <a:spAutoFit/>
          </a:bodyPr>
          <a:lstStyle/>
          <a:p>
            <a:pPr eaLnBrk="0" hangingPunct="0">
              <a:spcBef>
                <a:spcPct val="50000"/>
              </a:spcBef>
            </a:pPr>
            <a:r>
              <a:rPr lang="en-US" altLang="zh-CN" sz="2600" dirty="0">
                <a:latin typeface="宋体" panose="02010600030101010101" pitchFamily="2" charset="-122"/>
              </a:rPr>
              <a:t>2</a:t>
            </a:r>
            <a:r>
              <a:rPr lang="zh-CN" altLang="en-US" sz="2600" dirty="0">
                <a:latin typeface="宋体" panose="02010600030101010101" pitchFamily="2" charset="-122"/>
              </a:rPr>
              <a:t>、冯</a:t>
            </a:r>
            <a:r>
              <a:rPr lang="en-US" altLang="zh-CN" sz="2600" dirty="0"/>
              <a:t>·</a:t>
            </a:r>
            <a:r>
              <a:rPr lang="zh-CN" altLang="en-US" sz="2600" dirty="0">
                <a:latin typeface="宋体" panose="02010600030101010101" pitchFamily="2" charset="-122"/>
              </a:rPr>
              <a:t>诺依曼型计算机设计思想、主要特点。</a:t>
            </a:r>
            <a:endParaRPr lang="zh-CN" altLang="en-US" sz="2600" dirty="0">
              <a:latin typeface="宋体" panose="02010600030101010101" pitchFamily="2" charset="-122"/>
            </a:endParaRPr>
          </a:p>
          <a:p>
            <a:pPr eaLnBrk="0" hangingPunct="0">
              <a:spcBef>
                <a:spcPct val="50000"/>
              </a:spcBef>
            </a:pPr>
            <a:r>
              <a:rPr lang="zh-CN" altLang="en-US" sz="2600" dirty="0">
                <a:latin typeface="宋体" panose="02010600030101010101" pitchFamily="2" charset="-122"/>
              </a:rPr>
              <a:t>    计算机由运算器、控制器、存储器、输入和输出设备五部分</a:t>
            </a:r>
            <a:r>
              <a:rPr lang="zh-CN" altLang="en-US" sz="2600" dirty="0" smtClean="0">
                <a:latin typeface="宋体" panose="02010600030101010101" pitchFamily="2" charset="-122"/>
              </a:rPr>
              <a:t>组成；</a:t>
            </a:r>
            <a:endParaRPr lang="zh-CN" altLang="en-US" sz="2600" dirty="0">
              <a:latin typeface="宋体" panose="02010600030101010101" pitchFamily="2" charset="-122"/>
            </a:endParaRPr>
          </a:p>
          <a:p>
            <a:pPr eaLnBrk="0" hangingPunct="0">
              <a:spcBef>
                <a:spcPct val="50000"/>
              </a:spcBef>
            </a:pPr>
            <a:r>
              <a:rPr lang="zh-CN" altLang="en-US" sz="2600" dirty="0">
                <a:latin typeface="宋体" panose="02010600030101010101" pitchFamily="2" charset="-122"/>
              </a:rPr>
              <a:t>    数据以二进制码</a:t>
            </a:r>
            <a:r>
              <a:rPr lang="zh-CN" altLang="en-US" sz="2600" dirty="0" smtClean="0">
                <a:latin typeface="宋体" panose="02010600030101010101" pitchFamily="2" charset="-122"/>
              </a:rPr>
              <a:t>表示；</a:t>
            </a:r>
            <a:endParaRPr lang="zh-CN" altLang="en-US" sz="2600" dirty="0">
              <a:latin typeface="宋体" panose="02010600030101010101" pitchFamily="2" charset="-122"/>
            </a:endParaRPr>
          </a:p>
          <a:p>
            <a:pPr eaLnBrk="0" hangingPunct="0">
              <a:spcBef>
                <a:spcPct val="50000"/>
              </a:spcBef>
            </a:pPr>
            <a:r>
              <a:rPr lang="zh-CN" altLang="en-US" sz="2600" dirty="0">
                <a:latin typeface="宋体" panose="02010600030101010101" pitchFamily="2" charset="-122"/>
              </a:rPr>
              <a:t>    采用存储程序的方式，程序和数据放在同一个存储器中并按地址顺序</a:t>
            </a:r>
            <a:r>
              <a:rPr lang="zh-CN" altLang="en-US" sz="2600" dirty="0" smtClean="0">
                <a:latin typeface="宋体" panose="02010600030101010101" pitchFamily="2" charset="-122"/>
              </a:rPr>
              <a:t>执行；</a:t>
            </a:r>
            <a:endParaRPr lang="zh-CN" altLang="en-US" sz="2600" dirty="0">
              <a:latin typeface="宋体" panose="02010600030101010101" pitchFamily="2" charset="-122"/>
            </a:endParaRPr>
          </a:p>
          <a:p>
            <a:pPr eaLnBrk="0" hangingPunct="0">
              <a:spcBef>
                <a:spcPct val="50000"/>
              </a:spcBef>
            </a:pPr>
            <a:r>
              <a:rPr lang="zh-CN" altLang="en-US" sz="2600" dirty="0">
                <a:latin typeface="宋体" panose="02010600030101010101" pitchFamily="2" charset="-122"/>
              </a:rPr>
              <a:t>    机器以运算器为中心，输入输出设备与存储器间的数据传送都通过运算器。</a:t>
            </a:r>
            <a:endParaRPr lang="zh-CN" altLang="en-US" sz="2600"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dissolve">
                                      <p:cBhvr>
                                        <p:cTn id="7"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467995" y="1052830"/>
            <a:ext cx="7281545" cy="1995170"/>
          </a:xfrm>
          <a:prstGeom prst="rect">
            <a:avLst/>
          </a:prstGeom>
          <a:solidFill>
            <a:srgbClr val="CCFFFF"/>
          </a:solidFill>
          <a:ln w="9525">
            <a:noFill/>
            <a:miter lim="800000"/>
          </a:ln>
        </p:spPr>
        <p:txBody>
          <a:bodyPr wrap="square">
            <a:noAutofit/>
          </a:bodyPr>
          <a:lstStyle/>
          <a:p>
            <a:pPr>
              <a:spcBef>
                <a:spcPct val="50000"/>
              </a:spcBef>
            </a:pPr>
            <a:r>
              <a:rPr lang="zh-CN" sz="4000" dirty="0" smtClean="0">
                <a:latin typeface="微软雅黑" panose="020B0503020204020204" charset="-122"/>
                <a:ea typeface="微软雅黑" panose="020B0503020204020204" charset="-122"/>
              </a:rPr>
              <a:t>本章作业：</a:t>
            </a:r>
            <a:endParaRPr lang="zh-CN" sz="4000" dirty="0" smtClean="0">
              <a:latin typeface="微软雅黑" panose="020B0503020204020204" charset="-122"/>
              <a:ea typeface="微软雅黑" panose="020B0503020204020204" charset="-122"/>
            </a:endParaRPr>
          </a:p>
          <a:p>
            <a:pPr>
              <a:spcBef>
                <a:spcPct val="50000"/>
              </a:spcBef>
            </a:pPr>
            <a:r>
              <a:rPr lang="en-US" altLang="zh-CN" sz="4000" dirty="0">
                <a:latin typeface="微软雅黑" panose="020B0503020204020204" charset="-122"/>
                <a:ea typeface="微软雅黑" panose="020B0503020204020204" charset="-122"/>
              </a:rPr>
              <a:t> </a:t>
            </a:r>
            <a:r>
              <a:rPr sz="4000" dirty="0">
                <a:latin typeface="微软雅黑" panose="020B0503020204020204" charset="-122"/>
                <a:ea typeface="微软雅黑" panose="020B0503020204020204" charset="-122"/>
              </a:rPr>
              <a:t>P16：2、4、9、11、13</a:t>
            </a:r>
            <a:endParaRPr sz="40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Lst>
  </p:timing>
</p:sld>
</file>

<file path=ppt/tags/tag1.xml><?xml version="1.0" encoding="utf-8"?>
<p:tagLst xmlns:p="http://schemas.openxmlformats.org/presentationml/2006/main">
  <p:tag name="TIMING" val="|5.6|4.2|5.7|17.8"/>
</p:tagLst>
</file>

<file path=ppt/tags/tag2.xml><?xml version="1.0" encoding="utf-8"?>
<p:tagLst xmlns:p="http://schemas.openxmlformats.org/presentationml/2006/main">
  <p:tag name="TIMING" val="|0.8|1.3"/>
</p:tagLst>
</file>

<file path=ppt/tags/tag3.xml><?xml version="1.0" encoding="utf-8"?>
<p:tagLst xmlns:p="http://schemas.openxmlformats.org/presentationml/2006/main">
  <p:tag name="TIMING" val="|0.0|1.7|4.2|39.3|72.4|18.7"/>
</p:tagLst>
</file>

<file path=ppt/tags/tag4.xml><?xml version="1.0" encoding="utf-8"?>
<p:tagLst xmlns:p="http://schemas.openxmlformats.org/presentationml/2006/main">
  <p:tag name="TIMING" val="|1.4|1.2|1.8|3.8|0.8|1.2"/>
</p:tagLst>
</file>

<file path=ppt/tags/tag5.xml><?xml version="1.0" encoding="utf-8"?>
<p:tagLst xmlns:p="http://schemas.openxmlformats.org/presentationml/2006/main">
  <p:tag name="TIMING" val="|0.6|1.3|1.7|0.9"/>
</p:tagLst>
</file>

<file path=ppt/tags/tag6.xml><?xml version="1.0" encoding="utf-8"?>
<p:tagLst xmlns:p="http://schemas.openxmlformats.org/presentationml/2006/main">
  <p:tag name="COMMONDATA" val="eyJoZGlkIjoiZTRhYjRlMmM3ZTAzYTNmMjdlMWUyOGVkOWUyMDQ0MDEifQ=="/>
</p:tagLst>
</file>

<file path=ppt/theme/theme1.xml><?xml version="1.0" encoding="utf-8"?>
<a:theme xmlns:a="http://schemas.openxmlformats.org/drawingml/2006/main" name="chp1">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chp1</Template>
  <TotalTime>0</TotalTime>
  <Words>6363</Words>
  <Application>WPS 演示</Application>
  <PresentationFormat>全屏显示(4:3)</PresentationFormat>
  <Paragraphs>355</Paragraphs>
  <Slides>45</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8" baseType="lpstr">
      <vt:lpstr>Arial</vt:lpstr>
      <vt:lpstr>宋体</vt:lpstr>
      <vt:lpstr>Wingdings</vt:lpstr>
      <vt:lpstr>楷体_GB2312</vt:lpstr>
      <vt:lpstr>新宋体</vt:lpstr>
      <vt:lpstr>Times New Roman</vt:lpstr>
      <vt:lpstr>华文行楷</vt:lpstr>
      <vt:lpstr>黑体</vt:lpstr>
      <vt:lpstr>华文新魏</vt:lpstr>
      <vt:lpstr>微软雅黑</vt:lpstr>
      <vt:lpstr>Arial Unicode MS</vt:lpstr>
      <vt:lpstr>chp1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1.3计算机的硬件</vt:lpstr>
      <vt:lpstr>手工模仿计算机工作</vt:lpstr>
      <vt:lpstr>1.3计算机的硬件</vt:lpstr>
      <vt:lpstr>1.3计算机的硬件</vt:lpstr>
      <vt:lpstr>1.3计算机的硬件</vt:lpstr>
      <vt:lpstr>1.3计算机的硬件</vt:lpstr>
      <vt:lpstr>1.3计算机的硬件</vt:lpstr>
      <vt:lpstr>1.3计算机的硬件</vt:lpstr>
      <vt:lpstr>1.3计算机的硬件</vt:lpstr>
      <vt:lpstr>1.3计算机的硬件</vt:lpstr>
      <vt:lpstr>PowerPoint 演示文稿</vt:lpstr>
      <vt:lpstr>1.4计算机的软件</vt:lpstr>
      <vt:lpstr>1.4计算机的软件</vt:lpstr>
      <vt:lpstr>PowerPoint 演示文稿</vt:lpstr>
      <vt:lpstr>PowerPoint 演示文稿</vt:lpstr>
      <vt:lpstr>1.5计算机系统的层次结构</vt:lpstr>
      <vt:lpstr>1.5计算机系统的层次结构</vt:lpstr>
      <vt:lpstr>1.5计算机系统的层次结构</vt:lpstr>
      <vt:lpstr>PowerPoint 演示文稿</vt:lpstr>
      <vt:lpstr>第一章小结</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Sky123.Org</dc:creator>
  <cp:lastModifiedBy>李常有</cp:lastModifiedBy>
  <cp:revision>53</cp:revision>
  <dcterms:created xsi:type="dcterms:W3CDTF">2019-08-07T06:25:00Z</dcterms:created>
  <dcterms:modified xsi:type="dcterms:W3CDTF">2023-09-10T13:52:40Z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1C4D00F7DF294A48B5523C1BBCE010FC_12</vt:lpwstr>
  </property>
  <property fmtid="{D5CDD505-2E9C-101B-9397-08002B2CF9AE}" pid="3" name="KSOProductBuildVer">
    <vt:lpwstr>2052-12.1.0.15374</vt:lpwstr>
  </property>
</Properties>
</file>
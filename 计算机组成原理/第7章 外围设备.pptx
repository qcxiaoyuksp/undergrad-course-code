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3"/>
    <p:sldId id="308" r:id="rId4"/>
    <p:sldId id="310" r:id="rId5"/>
    <p:sldId id="312" r:id="rId6"/>
    <p:sldId id="356" r:id="rId7"/>
    <p:sldId id="457" r:id="rId8"/>
    <p:sldId id="318" r:id="rId9"/>
    <p:sldId id="358" r:id="rId10"/>
    <p:sldId id="359" r:id="rId11"/>
    <p:sldId id="360" r:id="rId12"/>
    <p:sldId id="361" r:id="rId13"/>
    <p:sldId id="362" r:id="rId14"/>
    <p:sldId id="364" r:id="rId15"/>
    <p:sldId id="325" r:id="rId16"/>
    <p:sldId id="366" r:id="rId17"/>
    <p:sldId id="425" r:id="rId18"/>
    <p:sldId id="426" r:id="rId19"/>
    <p:sldId id="427" r:id="rId20"/>
    <p:sldId id="328" r:id="rId21"/>
    <p:sldId id="429" r:id="rId23"/>
    <p:sldId id="340" r:id="rId24"/>
    <p:sldId id="341" r:id="rId25"/>
    <p:sldId id="369" r:id="rId26"/>
    <p:sldId id="371" r:id="rId27"/>
    <p:sldId id="372" r:id="rId28"/>
    <p:sldId id="373" r:id="rId29"/>
    <p:sldId id="375" r:id="rId30"/>
    <p:sldId id="377" r:id="rId31"/>
    <p:sldId id="378" r:id="rId32"/>
    <p:sldId id="446" r:id="rId33"/>
    <p:sldId id="447" r:id="rId34"/>
    <p:sldId id="448" r:id="rId35"/>
    <p:sldId id="422" r:id="rId36"/>
    <p:sldId id="423" r:id="rId37"/>
    <p:sldId id="424" r:id="rId38"/>
    <p:sldId id="416" r:id="rId39"/>
    <p:sldId id="428" r:id="rId40"/>
    <p:sldId id="383" r:id="rId41"/>
    <p:sldId id="449" r:id="rId42"/>
  </p:sldIdLst>
  <p:sldSz cx="9144000" cy="6858000" type="screen4x3"/>
  <p:notesSz cx="6858000" cy="9144000"/>
  <p:custDataLst>
    <p:tags r:id="rId4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1" userDrawn="1">
          <p15:clr>
            <a:srgbClr val="A4A3A4"/>
          </p15:clr>
        </p15:guide>
        <p15:guide id="2" pos="2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33" autoAdjust="0"/>
    <p:restoredTop sz="94660"/>
  </p:normalViewPr>
  <p:slideViewPr>
    <p:cSldViewPr showGuides="1">
      <p:cViewPr varScale="1">
        <p:scale>
          <a:sx n="108" d="100"/>
          <a:sy n="108" d="100"/>
        </p:scale>
        <p:origin x="-2094" y="-84"/>
      </p:cViewPr>
      <p:guideLst>
        <p:guide orient="horz" pos="2161"/>
        <p:guide pos="281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5.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charset="0"/>
              </a:defRPr>
            </a:lvl1pPr>
          </a:lstStyle>
          <a:p>
            <a:pPr>
              <a:defRPr/>
            </a:pPr>
            <a:endParaRPr lang="en-US" altLang="zh-CN"/>
          </a:p>
        </p:txBody>
      </p:sp>
      <p:sp>
        <p:nvSpPr>
          <p:cNvPr id="727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charset="0"/>
              </a:defRPr>
            </a:lvl1pPr>
          </a:lstStyle>
          <a:p>
            <a:pPr>
              <a:defRPr/>
            </a:pPr>
            <a:fld id="{6BFC13FA-8171-4BE5-B2B4-15BACF04374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BFC13FA-8171-4BE5-B2B4-15BACF04374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pPr>
              <a:defRPr/>
            </a:pPr>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pPr>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pPr>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pPr>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pPr>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pPr>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pPr>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pPr>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pPr>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pPr>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pPr>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pPr>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pPr>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pPr>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pPr>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pPr>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pPr>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pPr>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pPr>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pPr>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pPr>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pPr>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pPr>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pPr>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pPr>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pPr>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pPr>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pPr>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pPr>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pPr>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pPr>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pPr>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endParaRPr lang="zh-CN" altLang="en-US"/>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endParaRPr lang="zh-CN" altLang="en-US"/>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EB42E556-F340-4CD4-83AE-02AE4AF40ED2}"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608B3467-1473-4E61-84E9-B5B549C24C3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4F9A0525-9C15-4CAC-9459-C48E11443F52}"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11A9AB12-9C90-43A1-BC84-8B092601C7C6}"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B3344DCA-E167-4EB6-B6F7-67A0FD9FE0F3}"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360B251-7A2E-45E5-BC15-FF781F376575}"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1E45917D-9F7B-420C-AA2A-FC4ECA202B7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4379CF3-ED5C-4BDC-AAC5-1C809BCDE78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666230D3-A0B2-48FD-A2D7-551A73CAE04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A2E4A7FC-CEAC-4013-B7B0-7150DB4EC9D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FEAE675-5F8A-48B0-9808-FEED62D204B1}"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pPr>
              <a:defRPr/>
            </a:pPr>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a:lvl1pPr>
          </a:lstStyle>
          <a:p>
            <a:pPr>
              <a:defRPr/>
            </a:pPr>
            <a:fld id="{CF53AA3A-766C-4D93-8789-77DF561CBD36}" type="slidenum">
              <a:rPr lang="en-US" altLang="zh-CN"/>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pPr>
                <a:defRPr/>
              </a:pPr>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pPr>
                <a:defRPr/>
              </a:pPr>
              <a:endParaRPr lang="zh-CN" altLang="en-US"/>
            </a:p>
          </p:txBody>
        </p:sp>
        <p:sp>
          <p:nvSpPr>
            <p:cNvPr id="1035" name="Oval 11"/>
            <p:cNvSpPr>
              <a:spLocks noChangeArrowheads="1"/>
            </p:cNvSpPr>
            <p:nvPr/>
          </p:nvSpPr>
          <p:spPr bwMode="auto">
            <a:xfrm>
              <a:off x="5360" y="960"/>
              <a:ext cx="78" cy="80"/>
            </a:xfrm>
            <a:prstGeom prst="ellipse">
              <a:avLst/>
            </a:prstGeom>
            <a:solidFill>
              <a:schemeClr val="tx2"/>
            </a:solidFill>
            <a:ln w="9525">
              <a:noFill/>
              <a:round/>
            </a:ln>
          </p:spPr>
          <p:txBody>
            <a:bodyPr wrap="none" anchor="ctr"/>
            <a:lstStyle/>
            <a:p>
              <a:pPr>
                <a:defRPr/>
              </a:pPr>
              <a:endParaRPr lang="zh-CN" altLang="en-US"/>
            </a:p>
          </p:txBody>
        </p:sp>
        <p:sp>
          <p:nvSpPr>
            <p:cNvPr id="1036" name="Oval 12"/>
            <p:cNvSpPr>
              <a:spLocks noChangeArrowheads="1"/>
            </p:cNvSpPr>
            <p:nvPr/>
          </p:nvSpPr>
          <p:spPr bwMode="auto">
            <a:xfrm>
              <a:off x="5136" y="1072"/>
              <a:ext cx="80" cy="78"/>
            </a:xfrm>
            <a:prstGeom prst="ellipse">
              <a:avLst/>
            </a:prstGeom>
            <a:solidFill>
              <a:schemeClr val="tx2"/>
            </a:solidFill>
            <a:ln w="9525">
              <a:noFill/>
              <a:round/>
            </a:ln>
          </p:spPr>
          <p:txBody>
            <a:bodyPr wrap="none" anchor="ctr"/>
            <a:lstStyle/>
            <a:p>
              <a:pPr>
                <a:defRPr/>
              </a:pPr>
              <a:endParaRPr lang="zh-CN" altLang="en-US"/>
            </a:p>
          </p:txBody>
        </p:sp>
        <p:sp>
          <p:nvSpPr>
            <p:cNvPr id="1037" name="Oval 13"/>
            <p:cNvSpPr>
              <a:spLocks noChangeArrowheads="1"/>
            </p:cNvSpPr>
            <p:nvPr/>
          </p:nvSpPr>
          <p:spPr bwMode="auto">
            <a:xfrm>
              <a:off x="5248" y="1072"/>
              <a:ext cx="79" cy="78"/>
            </a:xfrm>
            <a:prstGeom prst="ellipse">
              <a:avLst/>
            </a:prstGeom>
            <a:solidFill>
              <a:schemeClr val="tx2"/>
            </a:solidFill>
            <a:ln w="9525">
              <a:noFill/>
              <a:round/>
            </a:ln>
          </p:spPr>
          <p:txBody>
            <a:bodyPr wrap="none" anchor="ctr"/>
            <a:lstStyle/>
            <a:p>
              <a:pPr>
                <a:defRPr/>
              </a:pPr>
              <a:endParaRPr lang="zh-CN" altLang="en-US"/>
            </a:p>
          </p:txBody>
        </p:sp>
        <p:sp>
          <p:nvSpPr>
            <p:cNvPr id="1038" name="Oval 14"/>
            <p:cNvSpPr>
              <a:spLocks noChangeArrowheads="1"/>
            </p:cNvSpPr>
            <p:nvPr/>
          </p:nvSpPr>
          <p:spPr bwMode="auto">
            <a:xfrm>
              <a:off x="5360" y="1072"/>
              <a:ext cx="78" cy="78"/>
            </a:xfrm>
            <a:prstGeom prst="ellipse">
              <a:avLst/>
            </a:prstGeom>
            <a:solidFill>
              <a:schemeClr val="tx2"/>
            </a:solidFill>
            <a:ln w="9525">
              <a:noFill/>
              <a:round/>
            </a:ln>
          </p:spPr>
          <p:txBody>
            <a:bodyPr wrap="none" anchor="ctr"/>
            <a:lstStyle/>
            <a:p>
              <a:pPr>
                <a:defRPr/>
              </a:pPr>
              <a:endParaRPr lang="zh-CN" altLang="en-US"/>
            </a:p>
          </p:txBody>
        </p:sp>
        <p:sp>
          <p:nvSpPr>
            <p:cNvPr id="1039" name="Oval 15"/>
            <p:cNvSpPr>
              <a:spLocks noChangeArrowheads="1"/>
            </p:cNvSpPr>
            <p:nvPr/>
          </p:nvSpPr>
          <p:spPr bwMode="auto">
            <a:xfrm>
              <a:off x="5472" y="1072"/>
              <a:ext cx="78" cy="78"/>
            </a:xfrm>
            <a:prstGeom prst="ellipse">
              <a:avLst/>
            </a:prstGeom>
            <a:solidFill>
              <a:schemeClr val="accent2"/>
            </a:solidFill>
            <a:ln w="9525">
              <a:noFill/>
              <a:round/>
            </a:ln>
          </p:spPr>
          <p:txBody>
            <a:bodyPr wrap="none" anchor="ctr"/>
            <a:lstStyle/>
            <a:p>
              <a:pPr>
                <a:defRPr/>
              </a:pPr>
              <a:endParaRPr lang="zh-CN" altLang="en-US"/>
            </a:p>
          </p:txBody>
        </p:sp>
        <p:sp>
          <p:nvSpPr>
            <p:cNvPr id="1040" name="Oval 16"/>
            <p:cNvSpPr>
              <a:spLocks noChangeArrowheads="1"/>
            </p:cNvSpPr>
            <p:nvPr/>
          </p:nvSpPr>
          <p:spPr bwMode="auto">
            <a:xfrm>
              <a:off x="5136" y="1184"/>
              <a:ext cx="80" cy="78"/>
            </a:xfrm>
            <a:prstGeom prst="ellipse">
              <a:avLst/>
            </a:prstGeom>
            <a:solidFill>
              <a:schemeClr val="tx2"/>
            </a:solidFill>
            <a:ln w="9525">
              <a:noFill/>
              <a:round/>
            </a:ln>
          </p:spPr>
          <p:txBody>
            <a:bodyPr wrap="none" anchor="ctr"/>
            <a:lstStyle/>
            <a:p>
              <a:pPr>
                <a:defRPr/>
              </a:pPr>
              <a:endParaRPr lang="zh-CN" altLang="en-US"/>
            </a:p>
          </p:txBody>
        </p:sp>
        <p:sp>
          <p:nvSpPr>
            <p:cNvPr id="1041" name="Oval 17"/>
            <p:cNvSpPr>
              <a:spLocks noChangeArrowheads="1"/>
            </p:cNvSpPr>
            <p:nvPr/>
          </p:nvSpPr>
          <p:spPr bwMode="auto">
            <a:xfrm>
              <a:off x="5248" y="1184"/>
              <a:ext cx="79" cy="78"/>
            </a:xfrm>
            <a:prstGeom prst="ellipse">
              <a:avLst/>
            </a:prstGeom>
            <a:solidFill>
              <a:schemeClr val="tx2"/>
            </a:solidFill>
            <a:ln w="9525">
              <a:noFill/>
              <a:round/>
            </a:ln>
          </p:spPr>
          <p:txBody>
            <a:bodyPr wrap="none" anchor="ctr"/>
            <a:lstStyle/>
            <a:p>
              <a:pPr>
                <a:defRPr/>
              </a:pPr>
              <a:endParaRPr lang="zh-CN" altLang="en-US"/>
            </a:p>
          </p:txBody>
        </p:sp>
        <p:sp>
          <p:nvSpPr>
            <p:cNvPr id="1042" name="Oval 18"/>
            <p:cNvSpPr>
              <a:spLocks noChangeArrowheads="1"/>
            </p:cNvSpPr>
            <p:nvPr/>
          </p:nvSpPr>
          <p:spPr bwMode="auto">
            <a:xfrm>
              <a:off x="5360" y="1184"/>
              <a:ext cx="78" cy="78"/>
            </a:xfrm>
            <a:prstGeom prst="ellipse">
              <a:avLst/>
            </a:prstGeom>
            <a:solidFill>
              <a:schemeClr val="accent2"/>
            </a:solidFill>
            <a:ln w="9525">
              <a:noFill/>
              <a:round/>
            </a:ln>
          </p:spPr>
          <p:txBody>
            <a:bodyPr wrap="none" anchor="ctr"/>
            <a:lstStyle/>
            <a:p>
              <a:pPr>
                <a:defRPr/>
              </a:pPr>
              <a:endParaRPr lang="zh-CN" altLang="en-US"/>
            </a:p>
          </p:txBody>
        </p:sp>
        <p:sp>
          <p:nvSpPr>
            <p:cNvPr id="1043" name="Oval 19"/>
            <p:cNvSpPr>
              <a:spLocks noChangeArrowheads="1"/>
            </p:cNvSpPr>
            <p:nvPr/>
          </p:nvSpPr>
          <p:spPr bwMode="auto">
            <a:xfrm>
              <a:off x="5472" y="1184"/>
              <a:ext cx="78" cy="78"/>
            </a:xfrm>
            <a:prstGeom prst="ellipse">
              <a:avLst/>
            </a:prstGeom>
            <a:solidFill>
              <a:schemeClr val="accent2"/>
            </a:solidFill>
            <a:ln w="9525">
              <a:noFill/>
              <a:round/>
            </a:ln>
          </p:spPr>
          <p:txBody>
            <a:bodyPr wrap="none" anchor="ctr"/>
            <a:lstStyle/>
            <a:p>
              <a:pPr>
                <a:defRPr/>
              </a:pPr>
              <a:endParaRPr lang="zh-CN" altLang="en-US"/>
            </a:p>
          </p:txBody>
        </p:sp>
        <p:sp>
          <p:nvSpPr>
            <p:cNvPr id="1044" name="Oval 20"/>
            <p:cNvSpPr>
              <a:spLocks noChangeArrowheads="1"/>
            </p:cNvSpPr>
            <p:nvPr/>
          </p:nvSpPr>
          <p:spPr bwMode="auto">
            <a:xfrm>
              <a:off x="5584" y="1184"/>
              <a:ext cx="80" cy="78"/>
            </a:xfrm>
            <a:prstGeom prst="ellipse">
              <a:avLst/>
            </a:prstGeom>
            <a:solidFill>
              <a:schemeClr val="accent1"/>
            </a:solidFill>
            <a:ln w="9525">
              <a:noFill/>
              <a:round/>
            </a:ln>
          </p:spPr>
          <p:txBody>
            <a:bodyPr wrap="none" anchor="ctr"/>
            <a:lstStyle/>
            <a:p>
              <a:pPr>
                <a:defRPr/>
              </a:pPr>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pPr>
                <a:defRPr/>
              </a:pPr>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pPr>
                <a:defRPr/>
              </a:pPr>
              <a:endParaRPr lang="zh-CN" altLang="en-US"/>
            </a:p>
          </p:txBody>
        </p:sp>
        <p:sp>
          <p:nvSpPr>
            <p:cNvPr id="1047" name="Oval 23"/>
            <p:cNvSpPr>
              <a:spLocks noChangeArrowheads="1"/>
            </p:cNvSpPr>
            <p:nvPr/>
          </p:nvSpPr>
          <p:spPr bwMode="auto">
            <a:xfrm>
              <a:off x="5360" y="1296"/>
              <a:ext cx="78" cy="80"/>
            </a:xfrm>
            <a:prstGeom prst="ellipse">
              <a:avLst/>
            </a:prstGeom>
            <a:solidFill>
              <a:schemeClr val="accent2"/>
            </a:solidFill>
            <a:ln w="9525">
              <a:noFill/>
              <a:round/>
            </a:ln>
          </p:spPr>
          <p:txBody>
            <a:bodyPr wrap="none" anchor="ctr"/>
            <a:lstStyle/>
            <a:p>
              <a:pPr>
                <a:defRPr/>
              </a:pPr>
              <a:endParaRPr lang="zh-CN" altLang="en-US"/>
            </a:p>
          </p:txBody>
        </p:sp>
        <p:sp>
          <p:nvSpPr>
            <p:cNvPr id="1048" name="Oval 24"/>
            <p:cNvSpPr>
              <a:spLocks noChangeArrowheads="1"/>
            </p:cNvSpPr>
            <p:nvPr/>
          </p:nvSpPr>
          <p:spPr bwMode="auto">
            <a:xfrm>
              <a:off x="5472" y="1296"/>
              <a:ext cx="78" cy="80"/>
            </a:xfrm>
            <a:prstGeom prst="ellipse">
              <a:avLst/>
            </a:prstGeom>
            <a:solidFill>
              <a:schemeClr val="accent1"/>
            </a:solidFill>
            <a:ln w="9525">
              <a:noFill/>
              <a:round/>
            </a:ln>
          </p:spPr>
          <p:txBody>
            <a:bodyPr wrap="none" anchor="ctr"/>
            <a:lstStyle/>
            <a:p>
              <a:pPr>
                <a:defRPr/>
              </a:pPr>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pPr>
                <a:defRPr/>
              </a:pPr>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pPr>
                <a:defRPr/>
              </a:pPr>
              <a:endParaRPr lang="zh-CN" altLang="en-US"/>
            </a:p>
          </p:txBody>
        </p:sp>
        <p:sp>
          <p:nvSpPr>
            <p:cNvPr id="1051" name="Oval 27"/>
            <p:cNvSpPr>
              <a:spLocks noChangeArrowheads="1"/>
            </p:cNvSpPr>
            <p:nvPr/>
          </p:nvSpPr>
          <p:spPr bwMode="auto">
            <a:xfrm>
              <a:off x="5360" y="1408"/>
              <a:ext cx="78" cy="80"/>
            </a:xfrm>
            <a:prstGeom prst="ellipse">
              <a:avLst/>
            </a:prstGeom>
            <a:solidFill>
              <a:schemeClr val="accent1"/>
            </a:solidFill>
            <a:ln w="9525">
              <a:noFill/>
              <a:round/>
            </a:ln>
          </p:spPr>
          <p:txBody>
            <a:bodyPr wrap="none" anchor="ctr"/>
            <a:lstStyle/>
            <a:p>
              <a:pPr>
                <a:defRPr/>
              </a:pPr>
              <a:endParaRPr lang="zh-CN" altLang="en-US"/>
            </a:p>
          </p:txBody>
        </p:sp>
        <p:sp>
          <p:nvSpPr>
            <p:cNvPr id="1052" name="Oval 28"/>
            <p:cNvSpPr>
              <a:spLocks noChangeArrowheads="1"/>
            </p:cNvSpPr>
            <p:nvPr/>
          </p:nvSpPr>
          <p:spPr bwMode="auto">
            <a:xfrm>
              <a:off x="5472" y="1408"/>
              <a:ext cx="78" cy="80"/>
            </a:xfrm>
            <a:prstGeom prst="ellipse">
              <a:avLst/>
            </a:prstGeom>
            <a:solidFill>
              <a:schemeClr val="accent1"/>
            </a:solidFill>
            <a:ln w="9525">
              <a:noFill/>
              <a:round/>
            </a:ln>
          </p:spPr>
          <p:txBody>
            <a:bodyPr wrap="none" anchor="ctr"/>
            <a:lstStyle/>
            <a:p>
              <a:pPr>
                <a:defRPr/>
              </a:pPr>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pPr>
                <a:defRPr/>
              </a:pPr>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pPr>
                <a:defRPr/>
              </a:pPr>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pPr>
                <a:defRPr/>
              </a:pPr>
              <a:endParaRPr lang="zh-CN" altLang="en-US"/>
            </a:p>
          </p:txBody>
        </p:sp>
        <p:sp>
          <p:nvSpPr>
            <p:cNvPr id="1056" name="Oval 32"/>
            <p:cNvSpPr>
              <a:spLocks noChangeArrowheads="1"/>
            </p:cNvSpPr>
            <p:nvPr/>
          </p:nvSpPr>
          <p:spPr bwMode="auto">
            <a:xfrm>
              <a:off x="5360" y="1520"/>
              <a:ext cx="78" cy="79"/>
            </a:xfrm>
            <a:prstGeom prst="ellipse">
              <a:avLst/>
            </a:prstGeom>
            <a:solidFill>
              <a:schemeClr val="accent1"/>
            </a:solidFill>
            <a:ln w="9525">
              <a:noFill/>
              <a:round/>
            </a:ln>
          </p:spPr>
          <p:txBody>
            <a:bodyPr wrap="none" anchor="ctr"/>
            <a:lstStyle/>
            <a:p>
              <a:pPr>
                <a:defRPr/>
              </a:pPr>
              <a:endParaRPr lang="zh-CN" altLang="en-US"/>
            </a:p>
          </p:txBody>
        </p:sp>
        <p:sp>
          <p:nvSpPr>
            <p:cNvPr id="1057" name="Oval 33"/>
            <p:cNvSpPr>
              <a:spLocks noChangeArrowheads="1"/>
            </p:cNvSpPr>
            <p:nvPr/>
          </p:nvSpPr>
          <p:spPr bwMode="auto">
            <a:xfrm>
              <a:off x="5472" y="1520"/>
              <a:ext cx="78" cy="79"/>
            </a:xfrm>
            <a:prstGeom prst="ellipse">
              <a:avLst/>
            </a:prstGeom>
            <a:solidFill>
              <a:schemeClr val="folHlink"/>
            </a:solidFill>
            <a:ln w="9525">
              <a:noFill/>
              <a:round/>
            </a:ln>
          </p:spPr>
          <p:txBody>
            <a:bodyPr wrap="none" anchor="ctr"/>
            <a:lstStyle/>
            <a:p>
              <a:pPr>
                <a:defRPr/>
              </a:pPr>
              <a:endParaRPr lang="zh-CN" altLang="en-US"/>
            </a:p>
          </p:txBody>
        </p:sp>
        <p:sp>
          <p:nvSpPr>
            <p:cNvPr id="1058" name="Oval 34"/>
            <p:cNvSpPr>
              <a:spLocks noChangeArrowheads="1"/>
            </p:cNvSpPr>
            <p:nvPr/>
          </p:nvSpPr>
          <p:spPr bwMode="auto">
            <a:xfrm>
              <a:off x="5136" y="1632"/>
              <a:ext cx="80" cy="78"/>
            </a:xfrm>
            <a:prstGeom prst="ellipse">
              <a:avLst/>
            </a:prstGeom>
            <a:solidFill>
              <a:schemeClr val="accent1"/>
            </a:solidFill>
            <a:ln w="9525">
              <a:noFill/>
              <a:round/>
            </a:ln>
          </p:spPr>
          <p:txBody>
            <a:bodyPr wrap="none" anchor="ctr"/>
            <a:lstStyle/>
            <a:p>
              <a:pPr>
                <a:defRPr/>
              </a:pPr>
              <a:endParaRPr lang="zh-CN" altLang="en-US"/>
            </a:p>
          </p:txBody>
        </p:sp>
        <p:sp>
          <p:nvSpPr>
            <p:cNvPr id="1059" name="Oval 35"/>
            <p:cNvSpPr>
              <a:spLocks noChangeArrowheads="1"/>
            </p:cNvSpPr>
            <p:nvPr/>
          </p:nvSpPr>
          <p:spPr bwMode="auto">
            <a:xfrm>
              <a:off x="5248" y="1632"/>
              <a:ext cx="79" cy="78"/>
            </a:xfrm>
            <a:prstGeom prst="ellipse">
              <a:avLst/>
            </a:prstGeom>
            <a:solidFill>
              <a:schemeClr val="accent1"/>
            </a:solidFill>
            <a:ln w="9525">
              <a:noFill/>
              <a:round/>
            </a:ln>
          </p:spPr>
          <p:txBody>
            <a:bodyPr wrap="none" anchor="ctr"/>
            <a:lstStyle/>
            <a:p>
              <a:pPr>
                <a:defRPr/>
              </a:pPr>
              <a:endParaRPr lang="zh-CN" altLang="en-US"/>
            </a:p>
          </p:txBody>
        </p:sp>
        <p:sp>
          <p:nvSpPr>
            <p:cNvPr id="1060" name="Oval 36"/>
            <p:cNvSpPr>
              <a:spLocks noChangeArrowheads="1"/>
            </p:cNvSpPr>
            <p:nvPr/>
          </p:nvSpPr>
          <p:spPr bwMode="auto">
            <a:xfrm>
              <a:off x="5360" y="1632"/>
              <a:ext cx="78" cy="78"/>
            </a:xfrm>
            <a:prstGeom prst="ellipse">
              <a:avLst/>
            </a:prstGeom>
            <a:solidFill>
              <a:schemeClr val="folHlink"/>
            </a:solidFill>
            <a:ln w="9525">
              <a:noFill/>
              <a:round/>
            </a:ln>
          </p:spPr>
          <p:txBody>
            <a:bodyPr wrap="none" anchor="ctr"/>
            <a:lstStyle/>
            <a:p>
              <a:pPr>
                <a:defRPr/>
              </a:pPr>
              <a:endParaRPr lang="zh-CN" altLang="en-US"/>
            </a:p>
          </p:txBody>
        </p:sp>
        <p:sp>
          <p:nvSpPr>
            <p:cNvPr id="1061" name="Oval 37"/>
            <p:cNvSpPr>
              <a:spLocks noChangeArrowheads="1"/>
            </p:cNvSpPr>
            <p:nvPr/>
          </p:nvSpPr>
          <p:spPr bwMode="auto">
            <a:xfrm>
              <a:off x="5472" y="1632"/>
              <a:ext cx="78" cy="78"/>
            </a:xfrm>
            <a:prstGeom prst="ellipse">
              <a:avLst/>
            </a:prstGeom>
            <a:solidFill>
              <a:schemeClr val="folHlink"/>
            </a:solidFill>
            <a:ln w="9525">
              <a:noFill/>
              <a:round/>
            </a:ln>
          </p:spPr>
          <p:txBody>
            <a:bodyPr wrap="none" anchor="ctr"/>
            <a:lstStyle/>
            <a:p>
              <a:pPr>
                <a:defRPr/>
              </a:pPr>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pPr>
                <a:defRPr/>
              </a:pPr>
              <a:endParaRPr lang="zh-CN" altLang="en-US"/>
            </a:p>
          </p:txBody>
        </p:sp>
        <p:sp>
          <p:nvSpPr>
            <p:cNvPr id="1063" name="Oval 39"/>
            <p:cNvSpPr>
              <a:spLocks noChangeArrowheads="1"/>
            </p:cNvSpPr>
            <p:nvPr/>
          </p:nvSpPr>
          <p:spPr bwMode="auto">
            <a:xfrm>
              <a:off x="5472" y="1744"/>
              <a:ext cx="78" cy="80"/>
            </a:xfrm>
            <a:prstGeom prst="ellipse">
              <a:avLst/>
            </a:prstGeom>
            <a:solidFill>
              <a:schemeClr val="folHlink"/>
            </a:solidFill>
            <a:ln w="9525">
              <a:noFill/>
              <a:round/>
            </a:ln>
          </p:spPr>
          <p:txBody>
            <a:bodyPr wrap="none" anchor="ctr"/>
            <a:lstStyle/>
            <a:p>
              <a:pPr>
                <a:defRPr/>
              </a:pP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0828;&#30424;&#32467;&#26500;.flv" TargetMode="Externa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hyperlink" Target="7.5.swf" TargetMode="Externa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30828;&#30424;&#32467;&#26500;.flv"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12"/>
          </p:nvPr>
        </p:nvSpPr>
        <p:spPr>
          <a:noFill/>
        </p:spPr>
        <p:txBody>
          <a:bodyPr/>
          <a:lstStyle/>
          <a:p>
            <a:fld id="{9CED17F8-11B3-4A20-83BD-6058E6772F9D}" type="slidenum">
              <a:rPr lang="en-US" altLang="zh-CN" smtClean="0"/>
            </a:fld>
            <a:endParaRPr lang="en-US" altLang="zh-CN" smtClean="0"/>
          </a:p>
        </p:txBody>
      </p:sp>
      <p:sp>
        <p:nvSpPr>
          <p:cNvPr id="3075" name="Rectangle 2"/>
          <p:cNvSpPr>
            <a:spLocks noGrp="1" noChangeArrowheads="1"/>
          </p:cNvSpPr>
          <p:nvPr>
            <p:ph type="ctrTitle"/>
          </p:nvPr>
        </p:nvSpPr>
        <p:spPr>
          <a:xfrm>
            <a:off x="826453" y="1412558"/>
            <a:ext cx="5834062" cy="1143000"/>
          </a:xfrm>
        </p:spPr>
        <p:txBody>
          <a:bodyPr/>
          <a:lstStyle/>
          <a:p>
            <a:pPr algn="l" eaLnBrk="1" hangingPunct="1"/>
            <a:r>
              <a:rPr lang="zh-CN" altLang="en-US" smtClean="0"/>
              <a:t>第七章   外围设备</a:t>
            </a:r>
            <a:endParaRPr lang="zh-CN" altLang="en-US" smtClean="0"/>
          </a:p>
        </p:txBody>
      </p:sp>
      <p:sp>
        <p:nvSpPr>
          <p:cNvPr id="2" name="文本框 1"/>
          <p:cNvSpPr txBox="1"/>
          <p:nvPr>
            <p:custDataLst>
              <p:tags r:id="rId1"/>
            </p:custDataLst>
          </p:nvPr>
        </p:nvSpPr>
        <p:spPr>
          <a:xfrm>
            <a:off x="972185" y="3286125"/>
            <a:ext cx="5816600" cy="1814830"/>
          </a:xfrm>
          <a:prstGeom prst="rect">
            <a:avLst/>
          </a:prstGeom>
          <a:noFill/>
        </p:spPr>
        <p:txBody>
          <a:bodyPr wrap="square" rtlCol="0">
            <a:spAutoFit/>
          </a:bodyPr>
          <a:p>
            <a:r>
              <a:rPr lang="en-US" altLang="zh-CN" sz="2800" b="0">
                <a:solidFill>
                  <a:schemeClr val="tx1"/>
                </a:solidFill>
                <a:latin typeface="+mj-lt"/>
                <a:cs typeface="+mj-lt"/>
              </a:rPr>
              <a:t>7.1 </a:t>
            </a:r>
            <a:r>
              <a:rPr lang="zh-CN" sz="2800" b="0" dirty="0" smtClean="0">
                <a:solidFill>
                  <a:schemeClr val="tx1"/>
                </a:solidFill>
                <a:latin typeface="+mj-lt"/>
                <a:ea typeface="微软雅黑" panose="020B0503020204020204" pitchFamily="34" charset="-122"/>
                <a:cs typeface="+mj-lt"/>
                <a:sym typeface="+mn-ea"/>
              </a:rPr>
              <a:t>外围设备概述</a:t>
            </a:r>
            <a:endParaRPr lang="zh-CN" sz="2800" b="0" dirty="0" smtClean="0">
              <a:solidFill>
                <a:schemeClr val="tx1"/>
              </a:solidFill>
              <a:latin typeface="+mj-lt"/>
              <a:ea typeface="微软雅黑" panose="020B0503020204020204" pitchFamily="34" charset="-122"/>
              <a:cs typeface="+mj-lt"/>
              <a:sym typeface="+mn-ea"/>
            </a:endParaRPr>
          </a:p>
          <a:p>
            <a:r>
              <a:rPr lang="en-US" altLang="zh-CN" sz="2800" b="0">
                <a:solidFill>
                  <a:schemeClr val="tx1"/>
                </a:solidFill>
                <a:latin typeface="+mj-lt"/>
                <a:cs typeface="+mj-lt"/>
              </a:rPr>
              <a:t>7.2</a:t>
            </a:r>
            <a:r>
              <a:rPr lang="zh-CN" altLang="en-US" sz="2800" b="0" dirty="0" smtClean="0">
                <a:solidFill>
                  <a:schemeClr val="tx1"/>
                </a:solidFill>
                <a:latin typeface="+mj-lt"/>
                <a:ea typeface="微软雅黑" panose="020B0503020204020204" pitchFamily="34" charset="-122"/>
                <a:cs typeface="+mj-lt"/>
              </a:rPr>
              <a:t> </a:t>
            </a:r>
            <a:r>
              <a:rPr lang="zh-CN" altLang="en-US" sz="2800" b="0" dirty="0" smtClean="0">
                <a:solidFill>
                  <a:schemeClr val="tx1"/>
                </a:solidFill>
                <a:latin typeface="+mj-lt"/>
                <a:ea typeface="微软雅黑" panose="020B0503020204020204" pitchFamily="34" charset="-122"/>
                <a:cs typeface="+mj-lt"/>
                <a:sym typeface="+mn-ea"/>
              </a:rPr>
              <a:t>磁盘存储设备</a:t>
            </a:r>
            <a:endParaRPr lang="zh-CN" altLang="en-US" sz="2800" b="0" smtClean="0">
              <a:solidFill>
                <a:schemeClr val="tx1"/>
              </a:solidFill>
              <a:latin typeface="+mj-lt"/>
              <a:cs typeface="+mj-lt"/>
            </a:endParaRPr>
          </a:p>
          <a:p>
            <a:r>
              <a:rPr lang="en-US" altLang="zh-CN" sz="2800" b="0">
                <a:solidFill>
                  <a:schemeClr val="tx1"/>
                </a:solidFill>
                <a:latin typeface="+mj-lt"/>
                <a:cs typeface="+mj-lt"/>
              </a:rPr>
              <a:t>7.5 </a:t>
            </a:r>
            <a:r>
              <a:rPr lang="zh-CN" altLang="en-US" sz="2800" b="0" dirty="0" smtClean="0">
                <a:solidFill>
                  <a:schemeClr val="tx1"/>
                </a:solidFill>
                <a:latin typeface="+mj-lt"/>
                <a:ea typeface="微软雅黑" panose="020B0503020204020204" pitchFamily="34" charset="-122"/>
                <a:cs typeface="+mj-lt"/>
                <a:sym typeface="+mn-ea"/>
              </a:rPr>
              <a:t>显示设备</a:t>
            </a:r>
            <a:endParaRPr lang="zh-CN" altLang="en-US" sz="2800" b="0" dirty="0" smtClean="0">
              <a:solidFill>
                <a:schemeClr val="tx1"/>
              </a:solidFill>
              <a:latin typeface="+mj-lt"/>
              <a:ea typeface="微软雅黑" panose="020B0503020204020204" pitchFamily="34" charset="-122"/>
              <a:cs typeface="+mj-lt"/>
              <a:sym typeface="+mn-ea"/>
            </a:endParaRPr>
          </a:p>
          <a:p>
            <a:r>
              <a:rPr lang="en-US" altLang="zh-CN" sz="2800" b="0" dirty="0" smtClean="0">
                <a:solidFill>
                  <a:schemeClr val="tx1"/>
                </a:solidFill>
                <a:latin typeface="+mj-lt"/>
                <a:ea typeface="微软雅黑" panose="020B0503020204020204" pitchFamily="34" charset="-122"/>
                <a:cs typeface="+mj-lt"/>
                <a:sym typeface="+mn-ea"/>
              </a:rPr>
              <a:t>7.6 </a:t>
            </a:r>
            <a:r>
              <a:rPr lang="zh-CN" altLang="en-US" sz="2800" b="0" dirty="0" smtClean="0">
                <a:solidFill>
                  <a:schemeClr val="tx1"/>
                </a:solidFill>
                <a:latin typeface="+mj-lt"/>
                <a:ea typeface="微软雅黑" panose="020B0503020204020204" pitchFamily="34" charset="-122"/>
                <a:cs typeface="+mj-lt"/>
                <a:sym typeface="+mn-ea"/>
              </a:rPr>
              <a:t>输入设备和打印设备</a:t>
            </a:r>
            <a:endParaRPr lang="zh-CN" altLang="en-US" sz="2800" b="0" dirty="0" smtClean="0">
              <a:solidFill>
                <a:schemeClr val="tx1"/>
              </a:solidFill>
              <a:latin typeface="+mj-lt"/>
              <a:ea typeface="微软雅黑" panose="020B0503020204020204" pitchFamily="34" charset="-122"/>
              <a:cs typeface="+mj-lt"/>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p>
            <a:fld id="{F1EEB673-94CA-4431-9406-4E7C965936F0}" type="slidenum">
              <a:rPr lang="en-US" altLang="zh-CN" smtClean="0"/>
            </a:fld>
            <a:endParaRPr lang="en-US" altLang="zh-CN" smtClean="0"/>
          </a:p>
        </p:txBody>
      </p:sp>
      <p:sp>
        <p:nvSpPr>
          <p:cNvPr id="4099" name="Rectangle 2"/>
          <p:cNvSpPr>
            <a:spLocks noGrp="1" noChangeArrowheads="1"/>
          </p:cNvSpPr>
          <p:nvPr>
            <p:ph type="title"/>
          </p:nvPr>
        </p:nvSpPr>
        <p:spPr>
          <a:xfrm>
            <a:off x="323850" y="115888"/>
            <a:ext cx="7543800" cy="858837"/>
          </a:xfrm>
        </p:spPr>
        <p:txBody>
          <a:bodyPr/>
          <a:lstStyle/>
          <a:p>
            <a:pPr eaLnBrk="1" hangingPunct="1"/>
            <a:r>
              <a:rPr lang="en-US" altLang="zh-CN" dirty="0" smtClean="0">
                <a:cs typeface="Arial" panose="020B0604020202020204" pitchFamily="34" charset="0"/>
              </a:rPr>
              <a:t>7.1 </a:t>
            </a:r>
            <a:r>
              <a:rPr lang="zh-CN" altLang="en-US" dirty="0" smtClean="0"/>
              <a:t>外围设备概述</a:t>
            </a:r>
            <a:endParaRPr lang="zh-CN" altLang="en-US" dirty="0" smtClean="0"/>
          </a:p>
        </p:txBody>
      </p:sp>
      <p:sp>
        <p:nvSpPr>
          <p:cNvPr id="4100" name="Rectangle 4"/>
          <p:cNvSpPr>
            <a:spLocks noChangeArrowheads="1"/>
          </p:cNvSpPr>
          <p:nvPr/>
        </p:nvSpPr>
        <p:spPr bwMode="auto">
          <a:xfrm>
            <a:off x="179388" y="950913"/>
            <a:ext cx="8713787" cy="5694362"/>
          </a:xfrm>
          <a:prstGeom prst="rect">
            <a:avLst/>
          </a:prstGeom>
          <a:noFill/>
          <a:ln w="9525">
            <a:noFill/>
            <a:miter lim="800000"/>
          </a:ln>
        </p:spPr>
        <p:txBody>
          <a:bodyPr anchor="ctr">
            <a:spAutoFit/>
          </a:bodyPr>
          <a:lstStyle/>
          <a:p>
            <a:r>
              <a:rPr lang="en-US" altLang="zh-CN" sz="2800" dirty="0">
                <a:latin typeface="宋体" panose="02010600030101010101" pitchFamily="2" charset="-122"/>
              </a:rPr>
              <a:t>7.1.1 </a:t>
            </a:r>
            <a:r>
              <a:rPr lang="zh-CN" altLang="en-US" sz="2800" dirty="0">
                <a:latin typeface="宋体" panose="02010600030101010101" pitchFamily="2" charset="-122"/>
              </a:rPr>
              <a:t>外围设备的一般功能</a:t>
            </a:r>
            <a:r>
              <a:rPr lang="zh-CN" altLang="en-US" sz="2400" dirty="0">
                <a:latin typeface="宋体" panose="02010600030101010101" pitchFamily="2" charset="-122"/>
              </a:rPr>
              <a:t>　 　 　　　</a:t>
            </a:r>
            <a:endParaRPr lang="zh-CN" altLang="en-US" sz="2400" dirty="0">
              <a:latin typeface="宋体" panose="02010600030101010101" pitchFamily="2" charset="-122"/>
            </a:endParaRPr>
          </a:p>
          <a:p>
            <a:r>
              <a:rPr lang="zh-CN" altLang="en-US" sz="2400" b="1" dirty="0">
                <a:latin typeface="宋体" panose="02010600030101010101" pitchFamily="2" charset="-122"/>
              </a:rPr>
              <a:t>    外围设备的定义：</a:t>
            </a:r>
            <a:endParaRPr lang="zh-CN" altLang="en-US" sz="2400" b="1" dirty="0">
              <a:latin typeface="宋体" panose="02010600030101010101" pitchFamily="2" charset="-122"/>
            </a:endParaRPr>
          </a:p>
          <a:p>
            <a:r>
              <a:rPr lang="zh-CN" altLang="en-US" sz="2400" dirty="0">
                <a:latin typeface="宋体" panose="02010600030101010101" pitchFamily="2" charset="-122"/>
              </a:rPr>
              <a:t>　　这个术语涉及到相当广泛的计算机部件。除了</a:t>
            </a:r>
            <a:r>
              <a:rPr lang="en-US" altLang="zh-CN" sz="2400" dirty="0">
                <a:latin typeface="宋体" panose="02010600030101010101" pitchFamily="2" charset="-122"/>
              </a:rPr>
              <a:t>CPU</a:t>
            </a:r>
            <a:r>
              <a:rPr lang="zh-CN" altLang="en-US" sz="2400" dirty="0">
                <a:latin typeface="宋体" panose="02010600030101010101" pitchFamily="2" charset="-122"/>
              </a:rPr>
              <a:t>和主存外，计算机系统的每一部分都可作为一个外围设备来看待。</a:t>
            </a:r>
            <a:endParaRPr lang="zh-CN" altLang="en-US" sz="2400" dirty="0">
              <a:latin typeface="宋体" panose="02010600030101010101" pitchFamily="2" charset="-122"/>
            </a:endParaRPr>
          </a:p>
          <a:p>
            <a:r>
              <a:rPr lang="zh-CN" altLang="en-US" sz="2400" b="1" dirty="0">
                <a:latin typeface="宋体" panose="02010600030101010101" pitchFamily="2" charset="-122"/>
              </a:rPr>
              <a:t>    外围设备的功能：</a:t>
            </a:r>
            <a:endParaRPr lang="zh-CN" altLang="en-US" sz="2400" b="1" dirty="0">
              <a:latin typeface="宋体" panose="02010600030101010101" pitchFamily="2" charset="-122"/>
            </a:endParaRPr>
          </a:p>
          <a:p>
            <a:r>
              <a:rPr lang="zh-CN" altLang="en-US" sz="2400" dirty="0">
                <a:latin typeface="宋体" panose="02010600030101010101" pitchFamily="2" charset="-122"/>
              </a:rPr>
              <a:t>在计算机和其他机器之间，以及计算机与用户之间提供联系。</a:t>
            </a:r>
            <a:endParaRPr lang="zh-CN" altLang="en-US" sz="2400" dirty="0">
              <a:latin typeface="宋体" panose="02010600030101010101" pitchFamily="2" charset="-122"/>
            </a:endParaRPr>
          </a:p>
          <a:p>
            <a:r>
              <a:rPr lang="zh-CN" altLang="en-US" sz="2400" b="1" dirty="0">
                <a:latin typeface="宋体" panose="02010600030101010101" pitchFamily="2" charset="-122"/>
              </a:rPr>
              <a:t>    通常外围设备由三个基本部分组成：</a:t>
            </a:r>
            <a:endParaRPr lang="zh-CN" altLang="en-US" sz="2400" b="1" dirty="0">
              <a:latin typeface="宋体" panose="02010600030101010101" pitchFamily="2" charset="-122"/>
            </a:endParaRPr>
          </a:p>
          <a:p>
            <a:r>
              <a:rPr lang="zh-CN" altLang="en-US" sz="2400" dirty="0">
                <a:latin typeface="宋体" panose="02010600030101010101" pitchFamily="2" charset="-122"/>
              </a:rPr>
              <a:t>    </a:t>
            </a:r>
            <a:r>
              <a:rPr lang="en-US" altLang="zh-CN" sz="2400" dirty="0">
                <a:latin typeface="宋体" panose="02010600030101010101" pitchFamily="2" charset="-122"/>
              </a:rPr>
              <a:t>(1) </a:t>
            </a:r>
            <a:r>
              <a:rPr lang="zh-CN" altLang="en-US" sz="2400" dirty="0">
                <a:latin typeface="宋体" panose="02010600030101010101" pitchFamily="2" charset="-122"/>
              </a:rPr>
              <a:t>存储介质，它具有保存信息的物理特征。例如磁盘就是一个存储介质的例子，它是用记录在盘上的磁化元表示信息。      </a:t>
            </a:r>
            <a:endParaRPr lang="zh-CN" altLang="en-US" sz="2400" dirty="0">
              <a:latin typeface="宋体" panose="02010600030101010101" pitchFamily="2" charset="-122"/>
            </a:endParaRPr>
          </a:p>
          <a:p>
            <a:r>
              <a:rPr lang="zh-CN" altLang="en-US" sz="2400" dirty="0">
                <a:latin typeface="宋体" panose="02010600030101010101" pitchFamily="2" charset="-122"/>
              </a:rPr>
              <a:t>    </a:t>
            </a:r>
            <a:r>
              <a:rPr lang="en-US" altLang="zh-CN" sz="2400" dirty="0">
                <a:latin typeface="宋体" panose="02010600030101010101" pitchFamily="2" charset="-122"/>
              </a:rPr>
              <a:t>(2) </a:t>
            </a:r>
            <a:r>
              <a:rPr lang="zh-CN" altLang="en-US" sz="2400" dirty="0">
                <a:latin typeface="宋体" panose="02010600030101010101" pitchFamily="2" charset="-122"/>
              </a:rPr>
              <a:t>驱动装置，它用于移动存储介质。例如，磁盘设备中，驱动装置用于转动磁盘并进行定位。</a:t>
            </a:r>
            <a:endParaRPr lang="zh-CN" altLang="en-US" sz="2400" dirty="0">
              <a:latin typeface="宋体" panose="02010600030101010101" pitchFamily="2" charset="-122"/>
            </a:endParaRPr>
          </a:p>
          <a:p>
            <a:r>
              <a:rPr lang="zh-CN" altLang="en-US" sz="2400" dirty="0">
                <a:latin typeface="宋体" panose="02010600030101010101" pitchFamily="2" charset="-122"/>
              </a:rPr>
              <a:t>    </a:t>
            </a:r>
            <a:r>
              <a:rPr lang="en-US" altLang="zh-CN" sz="2400" dirty="0">
                <a:latin typeface="宋体" panose="02010600030101010101" pitchFamily="2" charset="-122"/>
              </a:rPr>
              <a:t>(3)</a:t>
            </a:r>
            <a:r>
              <a:rPr lang="zh-CN" altLang="en-US" sz="2400" dirty="0">
                <a:latin typeface="宋体" panose="02010600030101010101" pitchFamily="2" charset="-122"/>
              </a:rPr>
              <a:t>控制电路，它向存储介质发送数据或从存储介质接受数据。例如，磁盘读出时，控制电路把盘上用磁化元形式表示的信息转换成计算机所需要的电信号，并把这些信号用电缆送给计算机主机。</a:t>
            </a:r>
            <a:endParaRPr lang="zh-CN" altLang="en-US" sz="2400"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p>
            <a:fld id="{037BA676-B2EA-46DB-8A56-A9E5BC0921EE}" type="slidenum">
              <a:rPr lang="en-US" altLang="zh-CN" smtClean="0"/>
            </a:fld>
            <a:endParaRPr lang="en-US" altLang="zh-CN" smtClean="0"/>
          </a:p>
        </p:txBody>
      </p:sp>
      <p:sp>
        <p:nvSpPr>
          <p:cNvPr id="5123" name="Rectangle 5"/>
          <p:cNvSpPr>
            <a:spLocks noChangeArrowheads="1"/>
          </p:cNvSpPr>
          <p:nvPr/>
        </p:nvSpPr>
        <p:spPr bwMode="auto">
          <a:xfrm>
            <a:off x="250825" y="188913"/>
            <a:ext cx="7634288" cy="1552575"/>
          </a:xfrm>
          <a:prstGeom prst="rect">
            <a:avLst/>
          </a:prstGeom>
          <a:noFill/>
          <a:ln w="9525">
            <a:noFill/>
            <a:miter lim="800000"/>
          </a:ln>
        </p:spPr>
        <p:txBody>
          <a:bodyPr>
            <a:spAutoFit/>
          </a:bodyPr>
          <a:lstStyle/>
          <a:p>
            <a:r>
              <a:rPr lang="en-US" altLang="zh-CN" sz="2400">
                <a:latin typeface="宋体" panose="02010600030101010101" pitchFamily="2" charset="-122"/>
              </a:rPr>
              <a:t>7.1.2 </a:t>
            </a:r>
            <a:r>
              <a:rPr lang="zh-CN" altLang="en-US" sz="2400">
                <a:latin typeface="宋体" panose="02010600030101010101" pitchFamily="2" charset="-122"/>
              </a:rPr>
              <a:t>外围设备的分类</a:t>
            </a:r>
            <a:endParaRPr lang="zh-CN" altLang="en-US" sz="2400">
              <a:latin typeface="宋体" panose="02010600030101010101" pitchFamily="2" charset="-122"/>
            </a:endParaRPr>
          </a:p>
          <a:p>
            <a:r>
              <a:rPr lang="zh-CN" altLang="en-US" sz="2400">
                <a:latin typeface="宋体" panose="02010600030101010101" pitchFamily="2" charset="-122"/>
              </a:rPr>
              <a:t>    一个计算机系统配备什么样的外围设备，是根据实际需要来决定的。如下图所示出了计算机的五大类外围设备，这只是一个典型化了的计算机环境。</a:t>
            </a:r>
            <a:endParaRPr lang="zh-CN" altLang="en-US" sz="2400">
              <a:latin typeface="宋体" panose="02010600030101010101" pitchFamily="2" charset="-122"/>
            </a:endParaRPr>
          </a:p>
        </p:txBody>
      </p:sp>
      <p:sp>
        <p:nvSpPr>
          <p:cNvPr id="8200" name="Rectangle 8"/>
          <p:cNvSpPr>
            <a:spLocks noChangeArrowheads="1"/>
          </p:cNvSpPr>
          <p:nvPr/>
        </p:nvSpPr>
        <p:spPr bwMode="auto">
          <a:xfrm>
            <a:off x="6443663" y="1989138"/>
            <a:ext cx="1944687" cy="4108450"/>
          </a:xfrm>
          <a:prstGeom prst="rect">
            <a:avLst/>
          </a:prstGeom>
          <a:noFill/>
          <a:ln w="9525">
            <a:noFill/>
            <a:miter lim="800000"/>
          </a:ln>
        </p:spPr>
        <p:txBody>
          <a:bodyPr>
            <a:spAutoFit/>
          </a:bodyPr>
          <a:lstStyle/>
          <a:p>
            <a:r>
              <a:rPr lang="zh-CN" altLang="en-US" sz="2400">
                <a:latin typeface="宋体" panose="02010600030101010101" pitchFamily="2" charset="-122"/>
              </a:rPr>
              <a:t>中央部分是</a:t>
            </a:r>
            <a:r>
              <a:rPr lang="en-US" altLang="zh-CN" sz="2400">
                <a:latin typeface="宋体" panose="02010600030101010101" pitchFamily="2" charset="-122"/>
              </a:rPr>
              <a:t>CPU</a:t>
            </a:r>
            <a:r>
              <a:rPr lang="zh-CN" altLang="en-US" sz="2400">
                <a:latin typeface="宋体" panose="02010600030101010101" pitchFamily="2" charset="-122"/>
              </a:rPr>
              <a:t>和主存，通过总线与第二层的适配器</a:t>
            </a:r>
            <a:r>
              <a:rPr lang="en-US" altLang="zh-CN" sz="2400">
                <a:latin typeface="宋体" panose="02010600030101010101" pitchFamily="2" charset="-122"/>
              </a:rPr>
              <a:t>(</a:t>
            </a:r>
            <a:r>
              <a:rPr lang="zh-CN" altLang="en-US" sz="2400">
                <a:latin typeface="宋体" panose="02010600030101010101" pitchFamily="2" charset="-122"/>
              </a:rPr>
              <a:t>接口</a:t>
            </a:r>
            <a:r>
              <a:rPr lang="en-US" altLang="zh-CN" sz="2400">
                <a:latin typeface="宋体" panose="02010600030101010101" pitchFamily="2" charset="-122"/>
              </a:rPr>
              <a:t>)</a:t>
            </a:r>
            <a:r>
              <a:rPr lang="zh-CN" altLang="en-US" sz="2400">
                <a:latin typeface="宋体" panose="02010600030101010101" pitchFamily="2" charset="-122"/>
              </a:rPr>
              <a:t>部件相连，第三层是各种外围设备控制器，最外层则是外围设备</a:t>
            </a:r>
            <a:endParaRPr lang="zh-CN" altLang="en-US" sz="2400">
              <a:latin typeface="宋体" panose="02010600030101010101" pitchFamily="2" charset="-122"/>
            </a:endParaRPr>
          </a:p>
        </p:txBody>
      </p:sp>
      <p:sp>
        <p:nvSpPr>
          <p:cNvPr id="8201" name="Rectangle 9"/>
          <p:cNvSpPr>
            <a:spLocks noChangeArrowheads="1"/>
          </p:cNvSpPr>
          <p:nvPr/>
        </p:nvSpPr>
        <p:spPr bwMode="auto">
          <a:xfrm>
            <a:off x="6372225" y="1989138"/>
            <a:ext cx="1728788" cy="4108450"/>
          </a:xfrm>
          <a:prstGeom prst="rect">
            <a:avLst/>
          </a:prstGeom>
          <a:noFill/>
          <a:ln w="9525">
            <a:noFill/>
            <a:miter lim="800000"/>
          </a:ln>
        </p:spPr>
        <p:txBody>
          <a:bodyPr>
            <a:spAutoFit/>
          </a:bodyPr>
          <a:lstStyle/>
          <a:p>
            <a:r>
              <a:rPr lang="zh-CN" altLang="en-US" sz="2400">
                <a:latin typeface="宋体" panose="02010600030101010101" pitchFamily="2" charset="-122"/>
              </a:rPr>
              <a:t>每一种外围设备，都是在它自己的设备控制器控制下进行工作，而设备控制器则通过适配器和主机连接，并受主机控制。 </a:t>
            </a:r>
            <a:endParaRPr lang="zh-CN" altLang="en-US" sz="2400">
              <a:latin typeface="宋体" panose="02010600030101010101" pitchFamily="2" charset="-122"/>
            </a:endParaRPr>
          </a:p>
        </p:txBody>
      </p:sp>
      <p:sp>
        <p:nvSpPr>
          <p:cNvPr id="8202" name="Rectangle 10"/>
          <p:cNvSpPr>
            <a:spLocks noChangeArrowheads="1"/>
          </p:cNvSpPr>
          <p:nvPr/>
        </p:nvSpPr>
        <p:spPr bwMode="auto">
          <a:xfrm>
            <a:off x="6443663" y="2133600"/>
            <a:ext cx="1655762" cy="3378200"/>
          </a:xfrm>
          <a:prstGeom prst="rect">
            <a:avLst/>
          </a:prstGeom>
          <a:noFill/>
          <a:ln w="9525">
            <a:noFill/>
            <a:miter lim="800000"/>
          </a:ln>
        </p:spPr>
        <p:txBody>
          <a:bodyPr>
            <a:spAutoFit/>
          </a:bodyPr>
          <a:lstStyle/>
          <a:p>
            <a:r>
              <a:rPr lang="zh-CN" altLang="en-US" sz="2400">
                <a:latin typeface="宋体" panose="02010600030101010101" pitchFamily="2" charset="-122"/>
              </a:rPr>
              <a:t>外围设备可分为</a:t>
            </a:r>
            <a:endParaRPr lang="zh-CN" altLang="en-US" sz="2400">
              <a:latin typeface="宋体" panose="02010600030101010101" pitchFamily="2" charset="-122"/>
            </a:endParaRPr>
          </a:p>
          <a:p>
            <a:r>
              <a:rPr lang="zh-CN" altLang="en-US" sz="2400">
                <a:solidFill>
                  <a:srgbClr val="0000FF"/>
                </a:solidFill>
                <a:latin typeface="宋体" panose="02010600030101010101" pitchFamily="2" charset="-122"/>
              </a:rPr>
              <a:t>输入设备、输出设备、外存设备、数据通信设备和过程控制设备</a:t>
            </a:r>
            <a:r>
              <a:rPr lang="zh-CN" altLang="en-US" sz="2400">
                <a:latin typeface="宋体" panose="02010600030101010101" pitchFamily="2" charset="-122"/>
              </a:rPr>
              <a:t>几大类。</a:t>
            </a:r>
            <a:endParaRPr lang="zh-CN" altLang="en-US" sz="2400">
              <a:latin typeface="宋体" panose="02010600030101010101" pitchFamily="2" charset="-122"/>
            </a:endParaRPr>
          </a:p>
        </p:txBody>
      </p:sp>
      <p:pic>
        <p:nvPicPr>
          <p:cNvPr id="5128" name="Picture 12"/>
          <p:cNvPicPr>
            <a:picLocks noChangeAspect="1" noChangeArrowheads="1"/>
          </p:cNvPicPr>
          <p:nvPr/>
        </p:nvPicPr>
        <p:blipFill>
          <a:blip r:embed="rId1"/>
          <a:srcRect/>
          <a:stretch>
            <a:fillRect/>
          </a:stretch>
        </p:blipFill>
        <p:spPr bwMode="auto">
          <a:xfrm>
            <a:off x="611188" y="1773238"/>
            <a:ext cx="5329237" cy="48577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dissolve">
                                      <p:cBhvr>
                                        <p:cTn id="7" dur="500"/>
                                        <p:tgtEl>
                                          <p:spTgt spid="8200"/>
                                        </p:tgtEl>
                                      </p:cBhvr>
                                    </p:animEffect>
                                  </p:childTnLst>
                                  <p:subTnLst>
                                    <p:set>
                                      <p:cBhvr override="childStyle">
                                        <p:cTn dur="1" fill="hold" display="0" masterRel="nextClick" afterEffect="1"/>
                                        <p:tgtEl>
                                          <p:spTgt spid="820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dissolve">
                                      <p:cBhvr>
                                        <p:cTn id="12" dur="500"/>
                                        <p:tgtEl>
                                          <p:spTgt spid="8202"/>
                                        </p:tgtEl>
                                      </p:cBhvr>
                                    </p:animEffect>
                                  </p:childTnLst>
                                  <p:subTnLst>
                                    <p:set>
                                      <p:cBhvr override="childStyle">
                                        <p:cTn dur="1" fill="hold" display="0" masterRel="nextClick" afterEffect="1"/>
                                        <p:tgtEl>
                                          <p:spTgt spid="820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201"/>
                                        </p:tgtEl>
                                        <p:attrNameLst>
                                          <p:attrName>style.visibility</p:attrName>
                                        </p:attrNameLst>
                                      </p:cBhvr>
                                      <p:to>
                                        <p:strVal val="visible"/>
                                      </p:to>
                                    </p:set>
                                    <p:animEffect transition="in" filter="dissolve">
                                      <p:cBhvr>
                                        <p:cTn id="17" dur="500"/>
                                        <p:tgtEl>
                                          <p:spTgt spid="8201"/>
                                        </p:tgtEl>
                                      </p:cBhvr>
                                    </p:animEffect>
                                  </p:childTnLst>
                                  <p:subTnLst>
                                    <p:set>
                                      <p:cBhvr override="childStyle">
                                        <p:cTn dur="1" fill="hold" display="0" masterRel="nextClick" afterEffect="1"/>
                                        <p:tgtEl>
                                          <p:spTgt spid="820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autoUpdateAnimBg="0"/>
      <p:bldP spid="8201" grpId="0" autoUpdateAnimBg="0"/>
      <p:bldP spid="820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3C770AE4-45DE-4EFA-9FB7-3A1611424FD2}" type="slidenum">
              <a:rPr lang="en-US" altLang="zh-CN" smtClean="0"/>
            </a:fld>
            <a:endParaRPr lang="en-US" altLang="zh-CN" smtClean="0"/>
          </a:p>
        </p:txBody>
      </p:sp>
      <p:sp>
        <p:nvSpPr>
          <p:cNvPr id="6147" name="Rectangle 2"/>
          <p:cNvSpPr>
            <a:spLocks noGrp="1" noChangeArrowheads="1"/>
          </p:cNvSpPr>
          <p:nvPr>
            <p:ph type="title"/>
          </p:nvPr>
        </p:nvSpPr>
        <p:spPr>
          <a:xfrm>
            <a:off x="468313" y="404813"/>
            <a:ext cx="7543800" cy="714375"/>
          </a:xfrm>
        </p:spPr>
        <p:txBody>
          <a:bodyPr/>
          <a:lstStyle/>
          <a:p>
            <a:pPr eaLnBrk="1" hangingPunct="1"/>
            <a:r>
              <a:rPr lang="en-US" altLang="zh-CN" dirty="0" smtClean="0"/>
              <a:t>7.2 </a:t>
            </a:r>
            <a:r>
              <a:rPr lang="zh-CN" altLang="en-US" dirty="0" smtClean="0">
                <a:hlinkClick r:id="rId1" action="ppaction://hlinkfile"/>
              </a:rPr>
              <a:t>磁盘存储设备</a:t>
            </a:r>
            <a:endParaRPr lang="zh-CN" altLang="en-US" dirty="0" smtClean="0"/>
          </a:p>
        </p:txBody>
      </p:sp>
      <p:sp>
        <p:nvSpPr>
          <p:cNvPr id="6148" name="Rectangle 3"/>
          <p:cNvSpPr>
            <a:spLocks noGrp="1" noChangeArrowheads="1"/>
          </p:cNvSpPr>
          <p:nvPr>
            <p:ph type="body" idx="1"/>
          </p:nvPr>
        </p:nvSpPr>
        <p:spPr>
          <a:xfrm>
            <a:off x="304800" y="1676400"/>
            <a:ext cx="8229600" cy="4824413"/>
          </a:xfrm>
        </p:spPr>
        <p:txBody>
          <a:bodyPr/>
          <a:lstStyle/>
          <a:p>
            <a:pPr eaLnBrk="1" hangingPunct="1">
              <a:lnSpc>
                <a:spcPct val="80000"/>
              </a:lnSpc>
            </a:pPr>
            <a:r>
              <a:rPr lang="zh-CN" altLang="en-US" sz="2400" smtClean="0"/>
              <a:t>计算机的外存储器又称磁表面存储设备。所谓磁表面存储，是用某些磁性材料薄薄地涂在金属铝或塑料表面作载磁体来存储信息。磁盘存储器、磁带存储器均属于磁表面存储器。磁表面存储器的优点：</a:t>
            </a:r>
            <a:endParaRPr lang="zh-CN" altLang="en-US" sz="2400" smtClean="0"/>
          </a:p>
          <a:p>
            <a:pPr lvl="1" eaLnBrk="1" hangingPunct="1">
              <a:lnSpc>
                <a:spcPct val="80000"/>
              </a:lnSpc>
              <a:buFont typeface="Wingdings" panose="05000000000000000000" pitchFamily="2" charset="2"/>
              <a:buNone/>
            </a:pPr>
            <a:r>
              <a:rPr lang="zh-CN" altLang="en-US" sz="2400" smtClean="0"/>
              <a:t>①存储容量大，位价格低；</a:t>
            </a:r>
            <a:endParaRPr lang="zh-CN" altLang="en-US" sz="2400" smtClean="0"/>
          </a:p>
          <a:p>
            <a:pPr lvl="1" eaLnBrk="1" hangingPunct="1">
              <a:lnSpc>
                <a:spcPct val="80000"/>
              </a:lnSpc>
              <a:buFont typeface="Wingdings" panose="05000000000000000000" pitchFamily="2" charset="2"/>
              <a:buNone/>
            </a:pPr>
            <a:r>
              <a:rPr lang="zh-CN" altLang="en-US" sz="2400" smtClean="0"/>
              <a:t>②记录介质可以重复使用；</a:t>
            </a:r>
            <a:endParaRPr lang="zh-CN" altLang="en-US" sz="2400" smtClean="0"/>
          </a:p>
          <a:p>
            <a:pPr lvl="1" eaLnBrk="1" hangingPunct="1">
              <a:lnSpc>
                <a:spcPct val="80000"/>
              </a:lnSpc>
              <a:buFont typeface="Wingdings" panose="05000000000000000000" pitchFamily="2" charset="2"/>
              <a:buNone/>
            </a:pPr>
            <a:r>
              <a:rPr lang="zh-CN" altLang="en-US" sz="2400" smtClean="0"/>
              <a:t>③记录信息可以长期保存而不丢失，甚至可以脱机存档；</a:t>
            </a:r>
            <a:endParaRPr lang="zh-CN" altLang="en-US" sz="2400" smtClean="0"/>
          </a:p>
          <a:p>
            <a:pPr lvl="1" eaLnBrk="1" hangingPunct="1">
              <a:lnSpc>
                <a:spcPct val="80000"/>
              </a:lnSpc>
              <a:buFont typeface="Wingdings" panose="05000000000000000000" pitchFamily="2" charset="2"/>
              <a:buNone/>
            </a:pPr>
            <a:r>
              <a:rPr lang="zh-CN" altLang="en-US" sz="2400" smtClean="0"/>
              <a:t>④非破坏性读出，读出时不需要再生信息。当然，磁表面存储器也有缺点，主要是存取速度较慢，机械结构复杂，对工作环境要求较高。</a:t>
            </a:r>
            <a:endParaRPr lang="zh-CN" altLang="en-US" sz="2400" smtClean="0"/>
          </a:p>
          <a:p>
            <a:pPr eaLnBrk="1" hangingPunct="1">
              <a:lnSpc>
                <a:spcPct val="80000"/>
              </a:lnSpc>
            </a:pPr>
            <a:r>
              <a:rPr lang="zh-CN" altLang="en-US" sz="2400" smtClean="0"/>
              <a:t>磁表面存储器由于存储容量大，位成本低，在计算机系统中作为辅助大容量存储器使用，用以存放系统软件、大型文件、数据库等大量程序与数据信息。</a:t>
            </a:r>
            <a:endParaRPr lang="zh-CN" altLang="en-US" sz="24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p:spPr>
        <p:txBody>
          <a:bodyPr/>
          <a:lstStyle/>
          <a:p>
            <a:fld id="{092F8B11-F5FB-4FA9-B30A-F5725E7BD787}" type="slidenum">
              <a:rPr lang="en-US" altLang="zh-CN" smtClean="0"/>
            </a:fld>
            <a:endParaRPr lang="en-US" altLang="zh-CN" smtClean="0"/>
          </a:p>
        </p:txBody>
      </p:sp>
      <p:pic>
        <p:nvPicPr>
          <p:cNvPr id="11267" name="Picture 5" descr="7"/>
          <p:cNvPicPr>
            <a:picLocks noChangeAspect="1" noChangeArrowheads="1"/>
          </p:cNvPicPr>
          <p:nvPr/>
        </p:nvPicPr>
        <p:blipFill>
          <a:blip r:embed="rId1"/>
          <a:srcRect/>
          <a:stretch>
            <a:fillRect/>
          </a:stretch>
        </p:blipFill>
        <p:spPr bwMode="auto">
          <a:xfrm>
            <a:off x="395288" y="2771775"/>
            <a:ext cx="7705725" cy="3681413"/>
          </a:xfrm>
          <a:prstGeom prst="rect">
            <a:avLst/>
          </a:prstGeom>
          <a:noFill/>
          <a:ln w="9525">
            <a:noFill/>
            <a:miter lim="800000"/>
            <a:headEnd/>
            <a:tailEnd/>
          </a:ln>
        </p:spPr>
      </p:pic>
      <p:sp>
        <p:nvSpPr>
          <p:cNvPr id="11268" name="Rectangle 6"/>
          <p:cNvSpPr>
            <a:spLocks noChangeArrowheads="1"/>
          </p:cNvSpPr>
          <p:nvPr/>
        </p:nvSpPr>
        <p:spPr bwMode="auto">
          <a:xfrm>
            <a:off x="323850" y="188913"/>
            <a:ext cx="3738880" cy="521970"/>
          </a:xfrm>
          <a:prstGeom prst="rect">
            <a:avLst/>
          </a:prstGeom>
          <a:noFill/>
          <a:ln w="9525">
            <a:noFill/>
            <a:miter lim="800000"/>
          </a:ln>
        </p:spPr>
        <p:txBody>
          <a:bodyPr wrap="none">
            <a:spAutoFit/>
          </a:bodyPr>
          <a:lstStyle/>
          <a:p>
            <a:r>
              <a:rPr lang="zh-CN" altLang="en-US" sz="2800">
                <a:latin typeface="宋体" panose="02010600030101010101" pitchFamily="2" charset="-122"/>
              </a:rPr>
              <a:t>一、磁盘的组成和分类</a:t>
            </a:r>
            <a:endParaRPr lang="zh-CN" altLang="en-US" sz="2800">
              <a:latin typeface="宋体" panose="02010600030101010101" pitchFamily="2" charset="-122"/>
            </a:endParaRPr>
          </a:p>
        </p:txBody>
      </p:sp>
      <p:sp>
        <p:nvSpPr>
          <p:cNvPr id="11269" name="Rectangle 8"/>
          <p:cNvSpPr>
            <a:spLocks noChangeArrowheads="1"/>
          </p:cNvSpPr>
          <p:nvPr/>
        </p:nvSpPr>
        <p:spPr bwMode="auto">
          <a:xfrm>
            <a:off x="250825" y="692150"/>
            <a:ext cx="8642350" cy="1917700"/>
          </a:xfrm>
          <a:prstGeom prst="rect">
            <a:avLst/>
          </a:prstGeom>
          <a:solidFill>
            <a:srgbClr val="CCFFFF"/>
          </a:solidFill>
          <a:ln w="9525">
            <a:noFill/>
            <a:miter lim="800000"/>
          </a:ln>
        </p:spPr>
        <p:txBody>
          <a:bodyPr>
            <a:spAutoFit/>
          </a:bodyPr>
          <a:lstStyle/>
          <a:p>
            <a:r>
              <a:rPr lang="en-US" altLang="zh-CN" sz="2400" b="1">
                <a:solidFill>
                  <a:srgbClr val="FF0000"/>
                </a:solidFill>
                <a:latin typeface="宋体" panose="02010600030101010101" pitchFamily="2" charset="-122"/>
              </a:rPr>
              <a:t>    </a:t>
            </a:r>
            <a:r>
              <a:rPr lang="zh-CN" altLang="en-US" sz="2400" b="1">
                <a:solidFill>
                  <a:srgbClr val="FF0000"/>
                </a:solidFill>
                <a:latin typeface="宋体" panose="02010600030101010101" pitchFamily="2" charset="-122"/>
              </a:rPr>
              <a:t>硬磁盘</a:t>
            </a:r>
            <a:r>
              <a:rPr lang="zh-CN" altLang="en-US" sz="2400">
                <a:latin typeface="宋体" panose="02010600030101010101" pitchFamily="2" charset="-122"/>
              </a:rPr>
              <a:t>是指记录介质为硬质圆形盘片的磁表面存储器。它主要由</a:t>
            </a:r>
            <a:r>
              <a:rPr lang="zh-CN" altLang="en-US" sz="2400" b="1">
                <a:solidFill>
                  <a:srgbClr val="FF0000"/>
                </a:solidFill>
                <a:latin typeface="宋体" panose="02010600030101010101" pitchFamily="2" charset="-122"/>
              </a:rPr>
              <a:t>磁记录介质、磁盘控制器、磁盘驱动器</a:t>
            </a:r>
            <a:r>
              <a:rPr lang="zh-CN" altLang="en-US" sz="2400">
                <a:latin typeface="宋体" panose="02010600030101010101" pitchFamily="2" charset="-122"/>
              </a:rPr>
              <a:t>三大部分组成。磁盘控制器包括控制逻辑与时序、数据并</a:t>
            </a:r>
            <a:r>
              <a:rPr lang="en-US" altLang="zh-CN" sz="2400">
                <a:latin typeface="宋体" panose="02010600030101010101" pitchFamily="2" charset="-122"/>
              </a:rPr>
              <a:t>-</a:t>
            </a:r>
            <a:r>
              <a:rPr lang="zh-CN" altLang="en-US" sz="2400">
                <a:latin typeface="宋体" panose="02010600030101010101" pitchFamily="2" charset="-122"/>
              </a:rPr>
              <a:t>串变换电路和串</a:t>
            </a:r>
            <a:r>
              <a:rPr lang="en-US" altLang="zh-CN" sz="2400">
                <a:latin typeface="宋体" panose="02010600030101010101" pitchFamily="2" charset="-122"/>
              </a:rPr>
              <a:t>-</a:t>
            </a:r>
            <a:r>
              <a:rPr lang="zh-CN" altLang="en-US" sz="2400">
                <a:latin typeface="宋体" panose="02010600030101010101" pitchFamily="2" charset="-122"/>
              </a:rPr>
              <a:t>并变换电路。磁盘驱动器包括写入电路与读出电路、读写转换开关、读写磁头与磁头定位伺服系统等。</a:t>
            </a:r>
            <a:endParaRPr lang="zh-CN" altLang="en-US" sz="2400">
              <a:latin typeface="宋体" panose="02010600030101010101" pitchFamily="2" charset="-122"/>
            </a:endParaRPr>
          </a:p>
        </p:txBody>
      </p:sp>
      <p:sp>
        <p:nvSpPr>
          <p:cNvPr id="66569" name="Rectangle 9"/>
          <p:cNvSpPr>
            <a:spLocks noChangeArrowheads="1"/>
          </p:cNvSpPr>
          <p:nvPr/>
        </p:nvSpPr>
        <p:spPr bwMode="auto">
          <a:xfrm>
            <a:off x="130175" y="46355"/>
            <a:ext cx="8763000" cy="2654300"/>
          </a:xfrm>
          <a:prstGeom prst="rect">
            <a:avLst/>
          </a:prstGeom>
          <a:solidFill>
            <a:schemeClr val="accent1"/>
          </a:solidFill>
          <a:ln w="9525">
            <a:noFill/>
            <a:miter lim="800000"/>
          </a:ln>
        </p:spPr>
        <p:txBody>
          <a:bodyPr anchor="ctr">
            <a:spAutoFit/>
          </a:bodyPr>
          <a:lstStyle/>
          <a:p>
            <a:r>
              <a:rPr lang="zh-CN" altLang="en-US" sz="2800" b="1">
                <a:latin typeface="宋体" panose="02010600030101010101" pitchFamily="2" charset="-122"/>
              </a:rPr>
              <a:t>　　读出时</a:t>
            </a:r>
            <a:r>
              <a:rPr lang="zh-CN" altLang="en-US" sz="2800">
                <a:latin typeface="宋体" panose="02010600030101010101" pitchFamily="2" charset="-122"/>
              </a:rPr>
              <a:t>，当记录介质相对磁头运动时，位磁化存储元形成的空间磁场在读磁头线圈中产生感应电势，此读出信息经放大检测就可还原成原来存入的数据。由于数据是一位一位串行读出的，故要送至串</a:t>
            </a:r>
            <a:r>
              <a:rPr lang="en-US" altLang="zh-CN" sz="2800">
                <a:latin typeface="宋体" panose="02010600030101010101" pitchFamily="2" charset="-122"/>
              </a:rPr>
              <a:t>-</a:t>
            </a:r>
            <a:r>
              <a:rPr lang="zh-CN" altLang="en-US" sz="2800">
                <a:latin typeface="宋体" panose="02010600030101010101" pitchFamily="2" charset="-122"/>
              </a:rPr>
              <a:t>并变换寄存器变换为并行数据，再并行送至计算机。</a:t>
            </a:r>
            <a:endParaRPr lang="zh-CN" altLang="en-US" sz="2800">
              <a:latin typeface="宋体" panose="02010600030101010101" pitchFamily="2" charset="-122"/>
            </a:endParaRPr>
          </a:p>
          <a:p>
            <a:endParaRPr lang="en-US" altLang="zh-CN" sz="2800">
              <a:latin typeface="宋体" panose="02010600030101010101" pitchFamily="2" charset="-122"/>
            </a:endParaRPr>
          </a:p>
        </p:txBody>
      </p:sp>
      <p:sp>
        <p:nvSpPr>
          <p:cNvPr id="66570" name="Rectangle 10"/>
          <p:cNvSpPr>
            <a:spLocks noChangeArrowheads="1"/>
          </p:cNvSpPr>
          <p:nvPr/>
        </p:nvSpPr>
        <p:spPr bwMode="auto">
          <a:xfrm>
            <a:off x="98425" y="45720"/>
            <a:ext cx="8794750" cy="2654300"/>
          </a:xfrm>
          <a:prstGeom prst="rect">
            <a:avLst/>
          </a:prstGeom>
          <a:solidFill>
            <a:schemeClr val="accent1"/>
          </a:solidFill>
          <a:ln w="9525">
            <a:noFill/>
            <a:miter lim="800000"/>
          </a:ln>
        </p:spPr>
        <p:txBody>
          <a:bodyPr anchor="ctr">
            <a:spAutoFit/>
          </a:bodyPr>
          <a:lstStyle/>
          <a:p>
            <a:r>
              <a:rPr lang="en-US" altLang="zh-CN" sz="2400" b="1">
                <a:latin typeface="宋体" panose="02010600030101010101" pitchFamily="2" charset="-122"/>
              </a:rPr>
              <a:t>    </a:t>
            </a:r>
            <a:r>
              <a:rPr lang="zh-CN" altLang="en-US" sz="2800" b="1">
                <a:latin typeface="宋体" panose="02010600030101010101" pitchFamily="2" charset="-122"/>
              </a:rPr>
              <a:t>写入时</a:t>
            </a:r>
            <a:r>
              <a:rPr lang="zh-CN" altLang="en-US" sz="2800">
                <a:latin typeface="宋体" panose="02010600030101010101" pitchFamily="2" charset="-122"/>
              </a:rPr>
              <a:t>，将计算机并行送来的数据取至并</a:t>
            </a:r>
            <a:r>
              <a:rPr lang="en-US" altLang="zh-CN" sz="2800">
                <a:latin typeface="宋体" panose="02010600030101010101" pitchFamily="2" charset="-122"/>
              </a:rPr>
              <a:t>-</a:t>
            </a:r>
            <a:r>
              <a:rPr lang="zh-CN" altLang="en-US" sz="2800">
                <a:latin typeface="宋体" panose="02010600030101010101" pitchFamily="2" charset="-122"/>
              </a:rPr>
              <a:t>串变换寄存器，变为串行数据，然后一位一位地由写电流驱动器作功率放大并加到写磁头线圈上产生电流，从而在盘片磁层上形成按位的磁化存储元。</a:t>
            </a:r>
            <a:endParaRPr lang="zh-CN" altLang="en-US" sz="2800">
              <a:latin typeface="宋体" panose="02010600030101010101" pitchFamily="2" charset="-122"/>
            </a:endParaRPr>
          </a:p>
          <a:p>
            <a:endParaRPr lang="zh-CN" altLang="en-US" sz="2800">
              <a:latin typeface="宋体" panose="02010600030101010101" pitchFamily="2" charset="-122"/>
            </a:endParaRPr>
          </a:p>
          <a:p>
            <a:endParaRPr lang="en-US" altLang="zh-CN" sz="2800">
              <a:latin typeface="宋体" panose="02010600030101010101" pitchFamily="2" charset="-122"/>
            </a:endParaRPr>
          </a:p>
        </p:txBody>
      </p:sp>
      <p:pic>
        <p:nvPicPr>
          <p:cNvPr id="11272" name="Picture 11">
            <a:hlinkClick r:id="rId2" action="ppaction://hlinkfile"/>
          </p:cNvPr>
          <p:cNvPicPr>
            <a:picLocks noChangeAspect="1" noChangeArrowheads="1"/>
          </p:cNvPicPr>
          <p:nvPr/>
        </p:nvPicPr>
        <p:blipFill>
          <a:blip r:embed="rId3"/>
          <a:srcRect/>
          <a:stretch>
            <a:fillRect/>
          </a:stretch>
        </p:blipFill>
        <p:spPr bwMode="auto">
          <a:xfrm>
            <a:off x="8172450" y="4076700"/>
            <a:ext cx="409575" cy="3810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70"/>
                                        </p:tgtEl>
                                        <p:attrNameLst>
                                          <p:attrName>style.visibility</p:attrName>
                                        </p:attrNameLst>
                                      </p:cBhvr>
                                      <p:to>
                                        <p:strVal val="visible"/>
                                      </p:to>
                                    </p:set>
                                    <p:animEffect transition="in" filter="dissolve">
                                      <p:cBhvr>
                                        <p:cTn id="7" dur="500"/>
                                        <p:tgtEl>
                                          <p:spTgt spid="66570"/>
                                        </p:tgtEl>
                                      </p:cBhvr>
                                    </p:animEffect>
                                  </p:childTnLst>
                                  <p:subTnLst>
                                    <p:set>
                                      <p:cBhvr override="childStyle">
                                        <p:cTn dur="1" fill="hold" display="0" masterRel="nextClick" afterEffect="1"/>
                                        <p:tgtEl>
                                          <p:spTgt spid="6657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6569"/>
                                        </p:tgtEl>
                                        <p:attrNameLst>
                                          <p:attrName>style.visibility</p:attrName>
                                        </p:attrNameLst>
                                      </p:cBhvr>
                                      <p:to>
                                        <p:strVal val="visible"/>
                                      </p:to>
                                    </p:set>
                                    <p:animEffect transition="in" filter="dissolve">
                                      <p:cBhvr>
                                        <p:cTn id="12" dur="500"/>
                                        <p:tgtEl>
                                          <p:spTgt spid="66569"/>
                                        </p:tgtEl>
                                      </p:cBhvr>
                                    </p:animEffect>
                                  </p:childTnLst>
                                  <p:subTnLst>
                                    <p:set>
                                      <p:cBhvr override="childStyle">
                                        <p:cTn dur="1" fill="hold" display="0" masterRel="nextClick" afterEffect="1"/>
                                        <p:tgtEl>
                                          <p:spTgt spid="665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9" grpId="0" bldLvl="0" animBg="1" autoUpdateAnimBg="0"/>
      <p:bldP spid="66570"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p>
            <a:fld id="{FA3B3F3C-7DF6-4F31-8D7A-29A9987A9240}" type="slidenum">
              <a:rPr lang="en-US" altLang="zh-CN" smtClean="0"/>
            </a:fld>
            <a:endParaRPr lang="en-US" altLang="zh-CN" smtClean="0"/>
          </a:p>
        </p:txBody>
      </p:sp>
      <p:sp>
        <p:nvSpPr>
          <p:cNvPr id="12291" name="Rectangle 6"/>
          <p:cNvSpPr>
            <a:spLocks noChangeArrowheads="1"/>
          </p:cNvSpPr>
          <p:nvPr/>
        </p:nvSpPr>
        <p:spPr bwMode="auto">
          <a:xfrm>
            <a:off x="96825" y="97879"/>
            <a:ext cx="8949296" cy="6631305"/>
          </a:xfrm>
          <a:prstGeom prst="rect">
            <a:avLst/>
          </a:prstGeom>
          <a:solidFill>
            <a:srgbClr val="CCFFFF"/>
          </a:solidFill>
          <a:ln w="9525">
            <a:noFill/>
            <a:miter lim="800000"/>
          </a:ln>
        </p:spPr>
        <p:txBody>
          <a:bodyPr wrap="square" anchor="ctr">
            <a:spAutoFit/>
          </a:bodyPr>
          <a:lstStyle/>
          <a:p>
            <a:pPr>
              <a:lnSpc>
                <a:spcPct val="125000"/>
              </a:lnSpc>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硬磁盘</a:t>
            </a:r>
            <a:r>
              <a:rPr lang="zh-CN" altLang="en-US" sz="2000" dirty="0">
                <a:latin typeface="微软雅黑" panose="020B0503020204020204" pitchFamily="34" charset="-122"/>
                <a:ea typeface="微软雅黑" panose="020B0503020204020204" pitchFamily="34" charset="-122"/>
              </a:rPr>
              <a:t>按盘片结构分成可换盘片式与固定盘片式两种；磁头也分为可移动磁头和固定磁头两种。</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可移动磁头固定盘片的磁盘机</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    特点是一片或一组盘片固定在主轴上，盘片不可更换。盘片每面只有一个磁头，存取数据时磁头沿盘面径向移动。</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固定磁头磁盘机</a:t>
            </a:r>
            <a:endParaRPr lang="zh-CN" altLang="en-US" sz="2000" b="1" dirty="0">
              <a:latin typeface="微软雅黑" panose="020B0503020204020204" pitchFamily="34" charset="-122"/>
              <a:ea typeface="微软雅黑" panose="020B0503020204020204" pitchFamily="34" charset="-122"/>
            </a:endParaRPr>
          </a:p>
          <a:p>
            <a:pPr>
              <a:lnSpc>
                <a:spcPct val="125000"/>
              </a:lnSpc>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 特点是磁头位置固定，磁盘的每一个磁道对应一个磁头，盘片不可更换。优点是存取速度快，省去磁头找道时间，缺点是结构复杂。</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可移动磁头可换盘片的磁盘机</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    盘片可以更换，磁头可沿盘面径向移动。优点是盘片可以脱机保存，同种型号的盘片具有互换性</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25000"/>
              </a:lnSpc>
            </a:pPr>
            <a:r>
              <a:rPr lang="en-US" altLang="zh-CN" sz="2000" b="1" dirty="0" smtClean="0">
                <a:latin typeface="微软雅黑" panose="020B0503020204020204" pitchFamily="34" charset="-122"/>
                <a:ea typeface="微软雅黑" panose="020B0503020204020204" pitchFamily="34" charset="-122"/>
              </a:rPr>
              <a:t>(4)</a:t>
            </a:r>
            <a:r>
              <a:rPr lang="zh-CN" altLang="en-US" sz="2000" b="1" dirty="0" smtClean="0">
                <a:latin typeface="微软雅黑" panose="020B0503020204020204" pitchFamily="34" charset="-122"/>
                <a:ea typeface="微软雅黑" panose="020B0503020204020204" pitchFamily="34" charset="-122"/>
              </a:rPr>
              <a:t>温彻斯特磁盘机（简称</a:t>
            </a:r>
            <a:r>
              <a:rPr lang="zh-CN" altLang="en-US" sz="2000" b="1" dirty="0">
                <a:latin typeface="微软雅黑" panose="020B0503020204020204" pitchFamily="34" charset="-122"/>
                <a:ea typeface="微软雅黑" panose="020B0503020204020204" pitchFamily="34" charset="-122"/>
              </a:rPr>
              <a:t>温</a:t>
            </a:r>
            <a:r>
              <a:rPr lang="zh-CN" altLang="en-US" sz="2000" b="1" dirty="0" smtClean="0">
                <a:latin typeface="微软雅黑" panose="020B0503020204020204" pitchFamily="34" charset="-122"/>
                <a:ea typeface="微软雅黑" panose="020B0503020204020204" pitchFamily="34" charset="-122"/>
              </a:rPr>
              <a:t>盘）</a:t>
            </a:r>
            <a:endParaRPr lang="en-US" altLang="zh-CN" sz="2000" b="1" dirty="0" smtClean="0">
              <a:latin typeface="微软雅黑" panose="020B0503020204020204" pitchFamily="34" charset="-122"/>
              <a:ea typeface="微软雅黑" panose="020B0503020204020204" pitchFamily="34" charset="-122"/>
            </a:endParaRPr>
          </a:p>
          <a:p>
            <a:pPr>
              <a:lnSpc>
                <a:spcPct val="125000"/>
              </a:lnSpc>
            </a:pPr>
            <a:r>
              <a:rPr lang="en-US" altLang="zh-CN" sz="2000" dirty="0">
                <a:latin typeface="微软雅黑" panose="020B0503020204020204" pitchFamily="34" charset="-122"/>
                <a:ea typeface="微软雅黑" panose="020B0503020204020204" pitchFamily="34" charset="-122"/>
              </a:rPr>
              <a:t> </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是</a:t>
            </a:r>
            <a:r>
              <a:rPr lang="zh-CN" altLang="en-US" sz="2000" dirty="0">
                <a:latin typeface="微软雅黑" panose="020B0503020204020204" pitchFamily="34" charset="-122"/>
                <a:ea typeface="微软雅黑" panose="020B0503020204020204" pitchFamily="34" charset="-122"/>
              </a:rPr>
              <a:t>一种采用先进技术研制的可移动磁头固定盘片的磁盘机。它是一种密封组合式的硬磁盘，即磁头、盘片、电机等驱动部件乃至读写电路等组装成一个不可随意拆卸的整体。优点是防尘性能好，可靠性高，对使用环境要求不高，成为最有代表性的硬磁盘存储器。而普通的硬磁盘要求具有超净环境，只能用于大型计算机中。</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p>
            <a:fld id="{EFE6B12B-D8DF-4FD0-9631-E3DF5E9CE2CA}" type="slidenum">
              <a:rPr lang="en-US" altLang="zh-CN" smtClean="0"/>
            </a:fld>
            <a:endParaRPr lang="en-US" altLang="zh-CN" smtClean="0"/>
          </a:p>
        </p:txBody>
      </p:sp>
      <p:sp>
        <p:nvSpPr>
          <p:cNvPr id="14339" name="Rectangle 5"/>
          <p:cNvSpPr>
            <a:spLocks noChangeArrowheads="1"/>
          </p:cNvSpPr>
          <p:nvPr/>
        </p:nvSpPr>
        <p:spPr bwMode="auto">
          <a:xfrm>
            <a:off x="250825" y="260985"/>
            <a:ext cx="8424863" cy="2738120"/>
          </a:xfrm>
          <a:prstGeom prst="rect">
            <a:avLst/>
          </a:prstGeom>
          <a:noFill/>
          <a:ln w="9525">
            <a:noFill/>
            <a:miter lim="800000"/>
          </a:ln>
        </p:spPr>
        <p:txBody>
          <a:bodyPr>
            <a:spAutoFit/>
          </a:bodyPr>
          <a:lstStyle/>
          <a:p>
            <a:r>
              <a:rPr lang="zh-CN" altLang="en-US" sz="3200">
                <a:latin typeface="宋体" panose="02010600030101010101" pitchFamily="2" charset="-122"/>
              </a:rPr>
              <a:t>二、磁盘驱动器和控制器</a:t>
            </a:r>
            <a:endParaRPr lang="zh-CN" altLang="en-US" sz="3200">
              <a:latin typeface="宋体" panose="02010600030101010101" pitchFamily="2" charset="-122"/>
            </a:endParaRPr>
          </a:p>
          <a:p>
            <a:r>
              <a:rPr lang="en-US" altLang="zh-CN" sz="2800" b="1">
                <a:latin typeface="宋体" panose="02010600030101010101" pitchFamily="2" charset="-122"/>
              </a:rPr>
              <a:t>1.</a:t>
            </a:r>
            <a:r>
              <a:rPr lang="zh-CN" altLang="en-US" sz="2800" b="1">
                <a:latin typeface="宋体" panose="02010600030101010101" pitchFamily="2" charset="-122"/>
              </a:rPr>
              <a:t>磁盘驱动器</a:t>
            </a:r>
            <a:endParaRPr lang="zh-CN" altLang="en-US" sz="2800" b="1">
              <a:latin typeface="宋体" panose="02010600030101010101" pitchFamily="2" charset="-122"/>
            </a:endParaRPr>
          </a:p>
          <a:p>
            <a:r>
              <a:rPr lang="zh-CN" altLang="en-US" sz="2800" b="1">
                <a:latin typeface="宋体" panose="02010600030101010101" pitchFamily="2" charset="-122"/>
              </a:rPr>
              <a:t>    磁盘驱动器</a:t>
            </a:r>
            <a:r>
              <a:rPr lang="zh-CN" altLang="en-US" sz="2800">
                <a:latin typeface="宋体" panose="02010600030101010101" pitchFamily="2" charset="-122"/>
              </a:rPr>
              <a:t>是一种精密的电子和机械装置，因此各部件的加工安装有严格的技术要求。各类磁盘驱动器的具体结构虽然有差别，但基本结构相同，主要由</a:t>
            </a:r>
            <a:r>
              <a:rPr lang="zh-CN" altLang="en-US" sz="2800" b="1">
                <a:latin typeface="宋体" panose="02010600030101010101" pitchFamily="2" charset="-122"/>
              </a:rPr>
              <a:t>定位驱动系统、主轴系统和数据转换系统</a:t>
            </a:r>
            <a:r>
              <a:rPr lang="zh-CN" altLang="en-US" sz="2800">
                <a:latin typeface="宋体" panose="02010600030101010101" pitchFamily="2" charset="-122"/>
              </a:rPr>
              <a:t>组成。 </a:t>
            </a:r>
            <a:endParaRPr lang="zh-CN" altLang="en-US" sz="2800">
              <a:latin typeface="宋体" panose="02010600030101010101" pitchFamily="2" charset="-122"/>
            </a:endParaRPr>
          </a:p>
        </p:txBody>
      </p:sp>
      <p:pic>
        <p:nvPicPr>
          <p:cNvPr id="14340" name="Picture 6" descr="7a6">
            <a:hlinkClick r:id="rId1"/>
          </p:cNvPr>
          <p:cNvPicPr>
            <a:picLocks noChangeAspect="1" noChangeArrowheads="1"/>
          </p:cNvPicPr>
          <p:nvPr/>
        </p:nvPicPr>
        <p:blipFill>
          <a:blip r:embed="rId2"/>
          <a:srcRect/>
          <a:stretch>
            <a:fillRect/>
          </a:stretch>
        </p:blipFill>
        <p:spPr bwMode="auto">
          <a:xfrm>
            <a:off x="539750" y="3500438"/>
            <a:ext cx="7561263" cy="31686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p>
            <a:fld id="{713CC880-6502-4989-81F0-FACC62F3ECFD}" type="slidenum">
              <a:rPr lang="en-US" altLang="zh-CN" smtClean="0"/>
            </a:fld>
            <a:endParaRPr lang="en-US" altLang="zh-CN" smtClean="0"/>
          </a:p>
        </p:txBody>
      </p:sp>
      <p:sp>
        <p:nvSpPr>
          <p:cNvPr id="15363" name="Rectangle 4"/>
          <p:cNvSpPr>
            <a:spLocks noChangeArrowheads="1"/>
          </p:cNvSpPr>
          <p:nvPr/>
        </p:nvSpPr>
        <p:spPr bwMode="auto">
          <a:xfrm>
            <a:off x="179388" y="93663"/>
            <a:ext cx="8785225" cy="3508375"/>
          </a:xfrm>
          <a:prstGeom prst="rect">
            <a:avLst/>
          </a:prstGeom>
          <a:solidFill>
            <a:srgbClr val="CCFFFF"/>
          </a:solidFill>
          <a:ln w="9525">
            <a:noFill/>
            <a:miter lim="800000"/>
          </a:ln>
        </p:spPr>
        <p:txBody>
          <a:bodyPr anchor="ctr">
            <a:spAutoFit/>
          </a:bodyPr>
          <a:lstStyle/>
          <a:p>
            <a:r>
              <a:rPr lang="en-US" altLang="zh-CN" sz="2800" b="1">
                <a:latin typeface="宋体" panose="02010600030101010101" pitchFamily="2" charset="-122"/>
              </a:rPr>
              <a:t>2.</a:t>
            </a:r>
            <a:r>
              <a:rPr lang="zh-CN" altLang="en-US" sz="2800" b="1">
                <a:latin typeface="宋体" panose="02010600030101010101" pitchFamily="2" charset="-122"/>
              </a:rPr>
              <a:t>磁盘控制器</a:t>
            </a:r>
            <a:r>
              <a:rPr lang="zh-CN" altLang="en-US" sz="2800" b="1" i="1">
                <a:latin typeface="宋体" panose="02010600030101010101" pitchFamily="2" charset="-122"/>
              </a:rPr>
              <a:t> </a:t>
            </a:r>
            <a:endParaRPr lang="zh-CN" altLang="en-US" sz="2800">
              <a:latin typeface="宋体" panose="02010600030101010101" pitchFamily="2" charset="-122"/>
            </a:endParaRPr>
          </a:p>
          <a:p>
            <a:r>
              <a:rPr lang="zh-CN" altLang="en-US" sz="2800" b="1">
                <a:latin typeface="宋体" panose="02010600030101010101" pitchFamily="2" charset="-122"/>
              </a:rPr>
              <a:t>　　磁盘控制器</a:t>
            </a:r>
            <a:r>
              <a:rPr lang="zh-CN" altLang="en-US" sz="2800">
                <a:latin typeface="宋体" panose="02010600030101010101" pitchFamily="2" charset="-122"/>
              </a:rPr>
              <a:t>是主机与磁盘驱动器之间的接口。由于磁盘存储器是高速外存设备，故与主机之间采用成批交换数据方式。作为主机与驱动器之间的控制器，它需要有两个方面的接口：一个是与主机的接口，控制外存与主机总线之间交换数据；另一个是与设备的接口，根据主机命令控制设备的操作。前者称为</a:t>
            </a:r>
            <a:r>
              <a:rPr lang="zh-CN" altLang="en-US" sz="2800" b="1">
                <a:latin typeface="宋体" panose="02010600030101010101" pitchFamily="2" charset="-122"/>
              </a:rPr>
              <a:t>系统级接口</a:t>
            </a:r>
            <a:r>
              <a:rPr lang="zh-CN" altLang="en-US" sz="2800">
                <a:latin typeface="宋体" panose="02010600030101010101" pitchFamily="2" charset="-122"/>
              </a:rPr>
              <a:t>，后者称为</a:t>
            </a:r>
            <a:r>
              <a:rPr lang="zh-CN" altLang="en-US" sz="2800" b="1">
                <a:latin typeface="宋体" panose="02010600030101010101" pitchFamily="2" charset="-122"/>
              </a:rPr>
              <a:t>设备级接口</a:t>
            </a:r>
            <a:r>
              <a:rPr lang="zh-CN" altLang="en-US" sz="2800">
                <a:latin typeface="宋体" panose="02010600030101010101" pitchFamily="2" charset="-122"/>
              </a:rPr>
              <a:t>。</a:t>
            </a:r>
            <a:endParaRPr lang="zh-CN" altLang="en-US" sz="2800">
              <a:latin typeface="宋体" panose="02010600030101010101" pitchFamily="2" charset="-122"/>
            </a:endParaRPr>
          </a:p>
        </p:txBody>
      </p:sp>
      <p:pic>
        <p:nvPicPr>
          <p:cNvPr id="15364" name="Picture 7"/>
          <p:cNvPicPr>
            <a:picLocks noChangeAspect="1" noChangeArrowheads="1"/>
          </p:cNvPicPr>
          <p:nvPr/>
        </p:nvPicPr>
        <p:blipFill>
          <a:blip r:embed="rId1"/>
          <a:srcRect/>
          <a:stretch>
            <a:fillRect/>
          </a:stretch>
        </p:blipFill>
        <p:spPr bwMode="auto">
          <a:xfrm>
            <a:off x="857224" y="3714752"/>
            <a:ext cx="4608513" cy="2919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p>
            <a:fld id="{B9CB8ABA-DCCE-424C-A623-4B40E7E959AD}" type="slidenum">
              <a:rPr lang="en-US" altLang="zh-CN" smtClean="0"/>
            </a:fld>
            <a:endParaRPr lang="en-US" altLang="zh-CN" smtClean="0"/>
          </a:p>
        </p:txBody>
      </p:sp>
      <p:sp>
        <p:nvSpPr>
          <p:cNvPr id="16387" name="Rectangle 6"/>
          <p:cNvSpPr>
            <a:spLocks noChangeArrowheads="1"/>
          </p:cNvSpPr>
          <p:nvPr/>
        </p:nvSpPr>
        <p:spPr bwMode="auto">
          <a:xfrm>
            <a:off x="179388" y="95250"/>
            <a:ext cx="8785225" cy="1800225"/>
          </a:xfrm>
          <a:prstGeom prst="rect">
            <a:avLst/>
          </a:prstGeom>
          <a:solidFill>
            <a:srgbClr val="CCFFFF"/>
          </a:solidFill>
          <a:ln w="9525">
            <a:noFill/>
            <a:miter lim="800000"/>
          </a:ln>
        </p:spPr>
        <p:txBody>
          <a:bodyPr anchor="ctr">
            <a:spAutoFit/>
          </a:bodyPr>
          <a:lstStyle/>
          <a:p>
            <a:pPr eaLnBrk="0" hangingPunct="0"/>
            <a:r>
              <a:rPr lang="en-US" altLang="zh-CN" sz="2800">
                <a:latin typeface="宋体" panose="02010600030101010101" pitchFamily="2" charset="-122"/>
              </a:rPr>
              <a:t>    </a:t>
            </a:r>
            <a:r>
              <a:rPr lang="zh-CN" altLang="en-US" sz="2800">
                <a:latin typeface="宋体" panose="02010600030101010101" pitchFamily="2" charset="-122"/>
              </a:rPr>
              <a:t>磁盘上的信息经读磁头读出以后送读出放大器，然后进行数据与时钟的分离，再进行串</a:t>
            </a:r>
            <a:r>
              <a:rPr lang="en-US" altLang="zh-CN" sz="2800">
                <a:latin typeface="宋体" panose="02010600030101010101" pitchFamily="2" charset="-122"/>
              </a:rPr>
              <a:t>-</a:t>
            </a:r>
            <a:r>
              <a:rPr lang="zh-CN" altLang="en-US" sz="2800">
                <a:latin typeface="宋体" panose="02010600030101010101" pitchFamily="2" charset="-122"/>
              </a:rPr>
              <a:t>并变换、格式变换，最后送入数据缓冲器，经</a:t>
            </a:r>
            <a:r>
              <a:rPr lang="en-US" altLang="zh-CN" sz="2800">
                <a:latin typeface="宋体" panose="02010600030101010101" pitchFamily="2" charset="-122"/>
              </a:rPr>
              <a:t>DMA(</a:t>
            </a:r>
            <a:r>
              <a:rPr lang="zh-CN" altLang="en-US" sz="2800">
                <a:latin typeface="宋体" panose="02010600030101010101" pitchFamily="2" charset="-122"/>
              </a:rPr>
              <a:t>直接存储器传送</a:t>
            </a:r>
            <a:r>
              <a:rPr lang="en-US" altLang="zh-CN" sz="2800">
                <a:latin typeface="宋体" panose="02010600030101010101" pitchFamily="2" charset="-122"/>
              </a:rPr>
              <a:t>)</a:t>
            </a:r>
            <a:r>
              <a:rPr lang="zh-CN" altLang="en-US" sz="2800">
                <a:latin typeface="宋体" panose="02010600030101010101" pitchFamily="2" charset="-122"/>
              </a:rPr>
              <a:t>控制将数据传送到主机总线。</a:t>
            </a:r>
            <a:endParaRPr lang="zh-CN" altLang="en-US"/>
          </a:p>
        </p:txBody>
      </p:sp>
      <p:pic>
        <p:nvPicPr>
          <p:cNvPr id="16388" name="Picture 8"/>
          <p:cNvPicPr>
            <a:picLocks noChangeAspect="1" noChangeArrowheads="1"/>
          </p:cNvPicPr>
          <p:nvPr/>
        </p:nvPicPr>
        <p:blipFill>
          <a:blip r:embed="rId1"/>
          <a:srcRect/>
          <a:stretch>
            <a:fillRect/>
          </a:stretch>
        </p:blipFill>
        <p:spPr bwMode="auto">
          <a:xfrm>
            <a:off x="179388" y="1989138"/>
            <a:ext cx="8640762" cy="47228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p>
            <a:fld id="{220DF58A-C306-4F8D-8306-9E98D01DB126}" type="slidenum">
              <a:rPr lang="en-US" altLang="zh-CN" smtClean="0"/>
            </a:fld>
            <a:endParaRPr lang="en-US" altLang="zh-CN" smtClean="0"/>
          </a:p>
        </p:txBody>
      </p:sp>
      <p:sp>
        <p:nvSpPr>
          <p:cNvPr id="17411" name="Rectangle 4"/>
          <p:cNvSpPr>
            <a:spLocks noChangeArrowheads="1"/>
          </p:cNvSpPr>
          <p:nvPr/>
        </p:nvSpPr>
        <p:spPr bwMode="auto">
          <a:xfrm>
            <a:off x="228600" y="150972"/>
            <a:ext cx="8713788" cy="521970"/>
          </a:xfrm>
          <a:prstGeom prst="rect">
            <a:avLst/>
          </a:prstGeom>
          <a:solidFill>
            <a:srgbClr val="CCFFFF"/>
          </a:solidFill>
          <a:ln w="9525">
            <a:noFill/>
            <a:miter lim="800000"/>
          </a:ln>
        </p:spPr>
        <p:txBody>
          <a:bodyPr anchor="ctr">
            <a:spAutoFit/>
          </a:bodyPr>
          <a:lstStyle/>
          <a:p>
            <a:pPr eaLnBrk="0" hangingPunct="0"/>
            <a:r>
              <a:rPr lang="zh-CN" altLang="en-US" sz="2800" smtClean="0">
                <a:latin typeface="宋体" panose="02010600030101010101" pitchFamily="2" charset="-122"/>
              </a:rPr>
              <a:t>三、</a:t>
            </a:r>
            <a:r>
              <a:rPr lang="zh-CN" altLang="en-US" sz="2800" dirty="0">
                <a:latin typeface="宋体" panose="02010600030101010101" pitchFamily="2" charset="-122"/>
              </a:rPr>
              <a:t>磁盘上信息的分布</a:t>
            </a:r>
            <a:endParaRPr lang="zh-CN" altLang="en-US" sz="2400" dirty="0">
              <a:latin typeface="宋体" panose="02010600030101010101" pitchFamily="2" charset="-122"/>
            </a:endParaRPr>
          </a:p>
        </p:txBody>
      </p:sp>
      <p:pic>
        <p:nvPicPr>
          <p:cNvPr id="17412" name="Picture 7"/>
          <p:cNvPicPr>
            <a:picLocks noChangeAspect="1" noChangeArrowheads="1"/>
          </p:cNvPicPr>
          <p:nvPr/>
        </p:nvPicPr>
        <p:blipFill>
          <a:blip r:embed="rId1"/>
          <a:srcRect/>
          <a:stretch>
            <a:fillRect/>
          </a:stretch>
        </p:blipFill>
        <p:spPr bwMode="auto">
          <a:xfrm>
            <a:off x="152400" y="762000"/>
            <a:ext cx="8785225" cy="5867400"/>
          </a:xfrm>
          <a:prstGeom prst="rect">
            <a:avLst/>
          </a:prstGeom>
          <a:noFill/>
          <a:ln w="9525">
            <a:noFill/>
            <a:miter lim="800000"/>
            <a:headEnd/>
            <a:tailEnd/>
          </a:ln>
        </p:spPr>
      </p:pic>
      <p:sp>
        <p:nvSpPr>
          <p:cNvPr id="70664" name="Rectangle 8"/>
          <p:cNvSpPr>
            <a:spLocks noChangeArrowheads="1"/>
          </p:cNvSpPr>
          <p:nvPr/>
        </p:nvSpPr>
        <p:spPr bwMode="auto">
          <a:xfrm>
            <a:off x="228600" y="3776663"/>
            <a:ext cx="8713788" cy="3081337"/>
          </a:xfrm>
          <a:prstGeom prst="rect">
            <a:avLst/>
          </a:prstGeom>
          <a:solidFill>
            <a:srgbClr val="CCFFFF"/>
          </a:solidFill>
          <a:ln w="9525">
            <a:noFill/>
            <a:miter lim="800000"/>
          </a:ln>
        </p:spPr>
        <p:txBody>
          <a:bodyPr anchor="ctr">
            <a:spAutoFit/>
          </a:bodyPr>
          <a:lstStyle/>
          <a:p>
            <a:pPr eaLnBrk="0" hangingPunct="0"/>
            <a:r>
              <a:rPr lang="en-US" altLang="zh-CN" sz="2800" b="1">
                <a:latin typeface="宋体" panose="02010600030101010101" pitchFamily="2" charset="-122"/>
              </a:rPr>
              <a:t>    ⑴ </a:t>
            </a:r>
            <a:r>
              <a:rPr lang="zh-CN" altLang="en-US" sz="2800" b="1">
                <a:latin typeface="宋体" panose="02010600030101010101" pitchFamily="2" charset="-122"/>
              </a:rPr>
              <a:t>记录面</a:t>
            </a:r>
            <a:r>
              <a:rPr lang="zh-CN" altLang="en-US" sz="2800">
                <a:latin typeface="宋体" panose="02010600030101010101" pitchFamily="2" charset="-122"/>
              </a:rPr>
              <a:t> 一台硬盘驱动器中有多个盘片，每个盘片有两个记录面。 </a:t>
            </a:r>
            <a:br>
              <a:rPr lang="zh-CN" altLang="en-US" sz="2800">
                <a:latin typeface="宋体" panose="02010600030101010101" pitchFamily="2" charset="-122"/>
              </a:rPr>
            </a:br>
            <a:r>
              <a:rPr lang="zh-CN" altLang="en-US" sz="2800">
                <a:latin typeface="宋体" panose="02010600030101010101" pitchFamily="2" charset="-122"/>
              </a:rPr>
              <a:t>    </a:t>
            </a:r>
            <a:r>
              <a:rPr lang="zh-CN" altLang="en-US" sz="2800" b="1">
                <a:latin typeface="宋体" panose="02010600030101010101" pitchFamily="2" charset="-122"/>
              </a:rPr>
              <a:t>⑵ 磁道 </a:t>
            </a:r>
            <a:r>
              <a:rPr lang="zh-CN" altLang="en-US" sz="2800">
                <a:latin typeface="宋体" panose="02010600030101010101" pitchFamily="2" charset="-122"/>
              </a:rPr>
              <a:t>在记录面上，一条条磁道形成一组同心圆，最外圈的磁道为</a:t>
            </a:r>
            <a:r>
              <a:rPr lang="en-US" altLang="zh-CN" sz="2800">
                <a:latin typeface="宋体" panose="02010600030101010101" pitchFamily="2" charset="-122"/>
              </a:rPr>
              <a:t>0</a:t>
            </a:r>
            <a:r>
              <a:rPr lang="zh-CN" altLang="en-US" sz="2800">
                <a:latin typeface="宋体" panose="02010600030101010101" pitchFamily="2" charset="-122"/>
              </a:rPr>
              <a:t>号，往内则磁道号逐步增加。</a:t>
            </a:r>
            <a:endParaRPr lang="zh-CN" altLang="en-US" sz="2800">
              <a:latin typeface="宋体" panose="02010600030101010101" pitchFamily="2" charset="-122"/>
            </a:endParaRPr>
          </a:p>
          <a:p>
            <a:pPr eaLnBrk="0" hangingPunct="0"/>
            <a:r>
              <a:rPr lang="zh-CN" altLang="en-US" sz="2800" b="1">
                <a:latin typeface="宋体" panose="02010600030101010101" pitchFamily="2" charset="-122"/>
              </a:rPr>
              <a:t>    ⑶ 扇区</a:t>
            </a:r>
            <a:r>
              <a:rPr lang="zh-CN" altLang="en-US" sz="2800">
                <a:latin typeface="宋体" panose="02010600030101010101" pitchFamily="2" charset="-122"/>
              </a:rPr>
              <a:t> 将一条磁道划分为若干个段，每个段称为一个扇区或扇段，每个扇区存放一个定长信息块。</a:t>
            </a:r>
            <a:endParaRPr lang="zh-CN" altLang="en-US" sz="2800">
              <a:latin typeface="宋体" panose="02010600030101010101" pitchFamily="2" charset="-122"/>
            </a:endParaRPr>
          </a:p>
          <a:p>
            <a:pPr eaLnBrk="0" hangingPunct="0"/>
            <a:endParaRPr lang="en-US" altLang="zh-CN" sz="2800">
              <a:latin typeface="宋体" panose="02010600030101010101" pitchFamily="2" charset="-122"/>
            </a:endParaRPr>
          </a:p>
        </p:txBody>
      </p:sp>
      <p:sp>
        <p:nvSpPr>
          <p:cNvPr id="70666" name="Rectangle 10"/>
          <p:cNvSpPr>
            <a:spLocks noChangeArrowheads="1"/>
          </p:cNvSpPr>
          <p:nvPr/>
        </p:nvSpPr>
        <p:spPr bwMode="auto">
          <a:xfrm>
            <a:off x="228600" y="685800"/>
            <a:ext cx="8713788" cy="3081338"/>
          </a:xfrm>
          <a:prstGeom prst="rect">
            <a:avLst/>
          </a:prstGeom>
          <a:solidFill>
            <a:srgbClr val="CCFFFF"/>
          </a:solidFill>
          <a:ln w="9525">
            <a:noFill/>
            <a:miter lim="800000"/>
          </a:ln>
        </p:spPr>
        <p:txBody>
          <a:bodyPr anchor="ctr">
            <a:spAutoFit/>
          </a:bodyPr>
          <a:lstStyle/>
          <a:p>
            <a:pPr eaLnBrk="0" hangingPunct="0"/>
            <a:r>
              <a:rPr lang="en-US" altLang="zh-CN" sz="2400" b="1">
                <a:latin typeface="宋体" panose="02010600030101010101" pitchFamily="2" charset="-122"/>
              </a:rPr>
              <a:t>  </a:t>
            </a:r>
            <a:r>
              <a:rPr lang="en-US" altLang="zh-CN" sz="2800">
                <a:latin typeface="宋体" panose="02010600030101010101" pitchFamily="2" charset="-122"/>
              </a:rPr>
              <a:t>  </a:t>
            </a:r>
            <a:r>
              <a:rPr lang="zh-CN" altLang="en-US" sz="2800">
                <a:latin typeface="宋体" panose="02010600030101010101" pitchFamily="2" charset="-122"/>
              </a:rPr>
              <a:t>每个记录面对应一个磁头，所以记录面号就是磁头号。所有磁头安装在一个公用的传动设备或支架上，磁头一致地沿盘面径向移动，单个磁头不能单独地移动。</a:t>
            </a:r>
            <a:endParaRPr lang="zh-CN" altLang="en-US" sz="2800">
              <a:latin typeface="宋体" panose="02010600030101010101" pitchFamily="2" charset="-122"/>
            </a:endParaRPr>
          </a:p>
          <a:p>
            <a:pPr eaLnBrk="0" hangingPunct="0"/>
            <a:r>
              <a:rPr lang="zh-CN" altLang="en-US" sz="2800">
                <a:latin typeface="宋体" panose="02010600030101010101" pitchFamily="2" charset="-122"/>
              </a:rPr>
              <a:t>    一条磁道划分多少扇区，每个扇区可存放多少字节，一般由操作系统决定。磁道上的扇区编号从</a:t>
            </a:r>
            <a:r>
              <a:rPr lang="en-US" altLang="zh-CN" sz="2800">
                <a:latin typeface="宋体" panose="02010600030101010101" pitchFamily="2" charset="-122"/>
              </a:rPr>
              <a:t>1</a:t>
            </a:r>
            <a:r>
              <a:rPr lang="zh-CN" altLang="en-US" sz="2800">
                <a:latin typeface="宋体" panose="02010600030101010101" pitchFamily="2" charset="-122"/>
              </a:rPr>
              <a:t>开始，不像磁头或柱面编号从</a:t>
            </a:r>
            <a:r>
              <a:rPr lang="en-US" altLang="zh-CN" sz="2800">
                <a:latin typeface="宋体" panose="02010600030101010101" pitchFamily="2" charset="-122"/>
              </a:rPr>
              <a:t>0</a:t>
            </a:r>
            <a:r>
              <a:rPr lang="zh-CN" altLang="en-US" sz="2800">
                <a:latin typeface="宋体" panose="02010600030101010101" pitchFamily="2" charset="-122"/>
              </a:rPr>
              <a:t>开始。</a:t>
            </a:r>
            <a:endParaRPr lang="zh-CN" altLang="en-US" sz="2800">
              <a:latin typeface="宋体" panose="02010600030101010101" pitchFamily="2" charset="-122"/>
            </a:endParaRPr>
          </a:p>
        </p:txBody>
      </p:sp>
      <p:sp>
        <p:nvSpPr>
          <p:cNvPr id="70667" name="Rectangle 11"/>
          <p:cNvSpPr>
            <a:spLocks noChangeArrowheads="1"/>
          </p:cNvSpPr>
          <p:nvPr/>
        </p:nvSpPr>
        <p:spPr bwMode="auto">
          <a:xfrm>
            <a:off x="228600" y="685800"/>
            <a:ext cx="8713788" cy="3081338"/>
          </a:xfrm>
          <a:prstGeom prst="rect">
            <a:avLst/>
          </a:prstGeom>
          <a:solidFill>
            <a:srgbClr val="CCFFFF"/>
          </a:solidFill>
          <a:ln w="9525">
            <a:noFill/>
            <a:miter lim="800000"/>
          </a:ln>
        </p:spPr>
        <p:txBody>
          <a:bodyPr anchor="ctr">
            <a:spAutoFit/>
          </a:bodyPr>
          <a:lstStyle/>
          <a:p>
            <a:pPr eaLnBrk="0" hangingPunct="0"/>
            <a:r>
              <a:rPr lang="zh-CN" altLang="en-US" sz="2800" b="1" dirty="0">
                <a:latin typeface="宋体" panose="02010600030101010101" pitchFamily="2" charset="-122"/>
              </a:rPr>
              <a:t>圆柱面</a:t>
            </a:r>
            <a:r>
              <a:rPr lang="zh-CN" altLang="en-US" sz="2800" dirty="0">
                <a:latin typeface="宋体" panose="02010600030101010101" pitchFamily="2" charset="-122"/>
              </a:rPr>
              <a:t> 在一个盘组中，各记录面上相同编号（位置）的诸磁道构成一个圆柱面。引入圆柱面的概念是为了提高硬盘的存储速度。当主机要存入一个较长的文件时，若一条磁道存不完，就需要存放在同一圆柱面上的不同磁道上。由于各记录面的磁头已同时定位，换道的时间只是磁头选择电路的译码时间，相对于定位操作可以忽略不计。</a:t>
            </a:r>
            <a:r>
              <a:rPr lang="zh-CN" altLang="en-US" sz="2400" dirty="0">
                <a:latin typeface="宋体" panose="02010600030101010101" pitchFamily="2" charset="-122"/>
              </a:rPr>
              <a:t>    </a:t>
            </a:r>
            <a:endParaRPr lang="zh-CN" altLang="en-US" sz="24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4"/>
                                        </p:tgtEl>
                                        <p:attrNameLst>
                                          <p:attrName>style.visibility</p:attrName>
                                        </p:attrNameLst>
                                      </p:cBhvr>
                                      <p:to>
                                        <p:strVal val="visible"/>
                                      </p:to>
                                    </p:set>
                                    <p:animEffect transition="in" filter="blinds(horizontal)">
                                      <p:cBhvr>
                                        <p:cTn id="7" dur="500"/>
                                        <p:tgtEl>
                                          <p:spTgt spid="70664"/>
                                        </p:tgtEl>
                                      </p:cBhvr>
                                    </p:animEffect>
                                  </p:childTnLst>
                                  <p:subTnLst>
                                    <p:set>
                                      <p:cBhvr override="childStyle">
                                        <p:cTn dur="1" fill="hold" display="0" masterRel="nextClick" afterEffect="1"/>
                                        <p:tgtEl>
                                          <p:spTgt spid="7066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66"/>
                                        </p:tgtEl>
                                        <p:attrNameLst>
                                          <p:attrName>style.visibility</p:attrName>
                                        </p:attrNameLst>
                                      </p:cBhvr>
                                      <p:to>
                                        <p:strVal val="visible"/>
                                      </p:to>
                                    </p:set>
                                    <p:animEffect transition="in" filter="blinds(horizontal)">
                                      <p:cBhvr>
                                        <p:cTn id="12" dur="500"/>
                                        <p:tgtEl>
                                          <p:spTgt spid="7066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0667"/>
                                        </p:tgtEl>
                                        <p:attrNameLst>
                                          <p:attrName>style.visibility</p:attrName>
                                        </p:attrNameLst>
                                      </p:cBhvr>
                                      <p:to>
                                        <p:strVal val="visible"/>
                                      </p:to>
                                    </p:set>
                                    <p:animEffect transition="in" filter="box(in)">
                                      <p:cBhvr>
                                        <p:cTn id="17" dur="500"/>
                                        <p:tgtEl>
                                          <p:spTgt spid="7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animBg="1" autoUpdateAnimBg="0"/>
      <p:bldP spid="70666" grpId="0" animBg="1" autoUpdateAnimBg="0"/>
      <p:bldP spid="70667"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p>
            <a:fld id="{74304155-8952-42E3-80F2-680943A8A979}" type="slidenum">
              <a:rPr lang="en-US" altLang="zh-CN" smtClean="0"/>
            </a:fld>
            <a:endParaRPr lang="en-US" altLang="zh-CN" smtClean="0"/>
          </a:p>
        </p:txBody>
      </p:sp>
      <p:sp>
        <p:nvSpPr>
          <p:cNvPr id="18435" name="Rectangle 7"/>
          <p:cNvSpPr>
            <a:spLocks noChangeArrowheads="1"/>
          </p:cNvSpPr>
          <p:nvPr/>
        </p:nvSpPr>
        <p:spPr bwMode="auto">
          <a:xfrm>
            <a:off x="179388" y="5445125"/>
            <a:ext cx="8785225" cy="1187450"/>
          </a:xfrm>
          <a:prstGeom prst="rect">
            <a:avLst/>
          </a:prstGeom>
          <a:solidFill>
            <a:srgbClr val="CCFFFF"/>
          </a:solidFill>
          <a:ln w="9525">
            <a:noFill/>
            <a:miter lim="800000"/>
          </a:ln>
        </p:spPr>
        <p:txBody>
          <a:bodyPr anchor="ctr">
            <a:spAutoFit/>
          </a:bodyPr>
          <a:lstStyle/>
          <a:p>
            <a:pPr eaLnBrk="0" hangingPunct="0"/>
            <a:r>
              <a:rPr lang="zh-CN" altLang="en-US" sz="2400" b="1">
                <a:latin typeface="宋体" panose="02010600030101010101" pitchFamily="2" charset="-122"/>
              </a:rPr>
              <a:t>磁盘地址</a:t>
            </a:r>
            <a:r>
              <a:rPr lang="zh-CN" altLang="en-US" sz="2400">
                <a:latin typeface="宋体" panose="02010600030101010101" pitchFamily="2" charset="-122"/>
              </a:rPr>
              <a:t> 主机向磁盘控制器送出有关寻址信息，磁盘地址一般表示为：</a:t>
            </a:r>
            <a:endParaRPr lang="zh-CN" altLang="en-US" sz="2400">
              <a:latin typeface="宋体" panose="02010600030101010101" pitchFamily="2" charset="-122"/>
            </a:endParaRPr>
          </a:p>
          <a:p>
            <a:pPr eaLnBrk="0" hangingPunct="0"/>
            <a:r>
              <a:rPr lang="zh-CN" altLang="en-US" sz="2400">
                <a:latin typeface="宋体" panose="02010600030101010101" pitchFamily="2" charset="-122"/>
              </a:rPr>
              <a:t>  驱动器号、圆柱面（磁道）号、记录面（磁头）号、扇区号</a:t>
            </a:r>
            <a:r>
              <a:rPr lang="zh-CN" altLang="en-US"/>
              <a:t> </a:t>
            </a:r>
            <a:endParaRPr lang="zh-CN" altLang="en-US"/>
          </a:p>
        </p:txBody>
      </p:sp>
      <p:pic>
        <p:nvPicPr>
          <p:cNvPr id="18436" name="Picture 8"/>
          <p:cNvPicPr>
            <a:picLocks noChangeAspect="1" noChangeArrowheads="1"/>
          </p:cNvPicPr>
          <p:nvPr/>
        </p:nvPicPr>
        <p:blipFill>
          <a:blip r:embed="rId1"/>
          <a:srcRect/>
          <a:stretch>
            <a:fillRect/>
          </a:stretch>
        </p:blipFill>
        <p:spPr bwMode="auto">
          <a:xfrm>
            <a:off x="179388" y="188913"/>
            <a:ext cx="8785225" cy="5111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p>
            <a:fld id="{CD25E59D-1155-4ED5-B7E8-5718AE856B15}" type="slidenum">
              <a:rPr lang="en-US" altLang="zh-CN" smtClean="0"/>
            </a:fld>
            <a:endParaRPr lang="en-US" altLang="zh-CN" smtClean="0"/>
          </a:p>
        </p:txBody>
      </p:sp>
      <p:sp>
        <p:nvSpPr>
          <p:cNvPr id="19459" name="Rectangle 4"/>
          <p:cNvSpPr>
            <a:spLocks noChangeArrowheads="1"/>
          </p:cNvSpPr>
          <p:nvPr/>
        </p:nvSpPr>
        <p:spPr bwMode="auto">
          <a:xfrm>
            <a:off x="179388" y="173038"/>
            <a:ext cx="8785225" cy="4473575"/>
          </a:xfrm>
          <a:prstGeom prst="rect">
            <a:avLst/>
          </a:prstGeom>
          <a:solidFill>
            <a:srgbClr val="CCFFFF"/>
          </a:solidFill>
          <a:ln w="9525">
            <a:noFill/>
            <a:miter lim="800000"/>
          </a:ln>
        </p:spPr>
        <p:txBody>
          <a:bodyPr anchor="ctr">
            <a:spAutoFit/>
          </a:bodyPr>
          <a:lstStyle/>
          <a:p>
            <a:pPr eaLnBrk="0" hangingPunct="0"/>
            <a:r>
              <a:rPr lang="en-US" altLang="zh-CN" sz="2400">
                <a:latin typeface="宋体" panose="02010600030101010101" pitchFamily="2" charset="-122"/>
              </a:rPr>
              <a:t>    </a:t>
            </a:r>
            <a:r>
              <a:rPr lang="zh-CN" altLang="en-US" sz="2400">
                <a:latin typeface="宋体" panose="02010600030101010101" pitchFamily="2" charset="-122"/>
              </a:rPr>
              <a:t>通常，主机通过一个硬盘控制器可以连接几台硬盘驱动器，所以需送出驱动器号或台号。调用磁盘常以文件为单位，故寻址信息一般应当给出文件起始位置所在的圆柱面号与记录面号（这就确定了具体磁道）、起始扇区号，并给出扇区数（交换量）。</a:t>
            </a:r>
            <a:endParaRPr lang="zh-CN" altLang="en-US" sz="2400">
              <a:latin typeface="宋体" panose="02010600030101010101" pitchFamily="2" charset="-122"/>
            </a:endParaRPr>
          </a:p>
          <a:p>
            <a:pPr eaLnBrk="0" hangingPunct="0"/>
            <a:r>
              <a:rPr lang="zh-CN" altLang="en-US" sz="2400">
                <a:latin typeface="宋体" panose="02010600030101010101" pitchFamily="2" charset="-122"/>
              </a:rPr>
              <a:t>　　在磁道上，信息按区存放的，每个区中存放一定数量的字或字节，各个区存放的字或字节数是相同的。为进行读</a:t>
            </a:r>
            <a:r>
              <a:rPr lang="en-US" altLang="zh-CN" sz="2400">
                <a:latin typeface="宋体" panose="02010600030101010101" pitchFamily="2" charset="-122"/>
              </a:rPr>
              <a:t>/</a:t>
            </a:r>
            <a:r>
              <a:rPr lang="zh-CN" altLang="en-US" sz="2400">
                <a:latin typeface="宋体" panose="02010600030101010101" pitchFamily="2" charset="-122"/>
              </a:rPr>
              <a:t>写操作，要求定出磁道的起始位置，这个起始位置称为索引。 索引标志在传感器检索下可产生脉冲信号，再通过磁盘控制器处理，便可定出磁道起始位置 。</a:t>
            </a:r>
            <a:endParaRPr lang="zh-CN" altLang="en-US" sz="2400">
              <a:latin typeface="宋体" panose="02010600030101010101" pitchFamily="2" charset="-122"/>
            </a:endParaRPr>
          </a:p>
          <a:p>
            <a:pPr eaLnBrk="0" hangingPunct="0"/>
            <a:r>
              <a:rPr lang="zh-CN" altLang="en-US" sz="2400">
                <a:latin typeface="宋体" panose="02010600030101010101" pitchFamily="2" charset="-122"/>
              </a:rPr>
              <a:t>　　磁盘存储器的每个扇区记录定长数据，因此读</a:t>
            </a:r>
            <a:r>
              <a:rPr lang="en-US" altLang="zh-CN" sz="2400">
                <a:latin typeface="宋体" panose="02010600030101010101" pitchFamily="2" charset="-122"/>
              </a:rPr>
              <a:t>/</a:t>
            </a:r>
            <a:r>
              <a:rPr lang="zh-CN" altLang="en-US" sz="2400">
                <a:latin typeface="宋体" panose="02010600030101010101" pitchFamily="2" charset="-122"/>
              </a:rPr>
              <a:t>写操作是以扇区为单位一位一位串行进行的。每一个扇区记录一个记录块。数据在磁盘上的记录格式如下：</a:t>
            </a:r>
            <a:endParaRPr lang="zh-CN" altLang="en-US" sz="2400">
              <a:latin typeface="宋体" panose="02010600030101010101" pitchFamily="2" charset="-122"/>
            </a:endParaRPr>
          </a:p>
        </p:txBody>
      </p:sp>
      <p:pic>
        <p:nvPicPr>
          <p:cNvPr id="19460" name="Picture 6" descr="7a9"/>
          <p:cNvPicPr>
            <a:picLocks noChangeAspect="1" noChangeArrowheads="1"/>
          </p:cNvPicPr>
          <p:nvPr/>
        </p:nvPicPr>
        <p:blipFill>
          <a:blip r:embed="rId1"/>
          <a:srcRect/>
          <a:stretch>
            <a:fillRect/>
          </a:stretch>
        </p:blipFill>
        <p:spPr bwMode="auto">
          <a:xfrm>
            <a:off x="250825" y="4797425"/>
            <a:ext cx="7777163" cy="1457325"/>
          </a:xfrm>
          <a:prstGeom prst="rect">
            <a:avLst/>
          </a:prstGeom>
          <a:noFill/>
          <a:ln w="9525">
            <a:noFill/>
            <a:miter lim="800000"/>
            <a:headEnd/>
            <a:tailEnd/>
          </a:ln>
        </p:spPr>
      </p:pic>
      <p:sp>
        <p:nvSpPr>
          <p:cNvPr id="72712" name="Rectangle 8"/>
          <p:cNvSpPr>
            <a:spLocks noChangeArrowheads="1"/>
          </p:cNvSpPr>
          <p:nvPr/>
        </p:nvSpPr>
        <p:spPr bwMode="auto">
          <a:xfrm>
            <a:off x="152400" y="2057400"/>
            <a:ext cx="8839200" cy="2647950"/>
          </a:xfrm>
          <a:prstGeom prst="rect">
            <a:avLst/>
          </a:prstGeom>
        </p:spPr>
        <p:style>
          <a:lnRef idx="1">
            <a:schemeClr val="accent6"/>
          </a:lnRef>
          <a:fillRef idx="2">
            <a:schemeClr val="accent6"/>
          </a:fillRef>
          <a:effectRef idx="1">
            <a:schemeClr val="accent6"/>
          </a:effectRef>
          <a:fontRef idx="minor">
            <a:schemeClr val="dk1"/>
          </a:fontRef>
        </p:style>
        <p:txBody>
          <a:bodyPr anchor="ctr">
            <a:spAutoFit/>
          </a:bodyPr>
          <a:lstStyle/>
          <a:p>
            <a:pPr eaLnBrk="0" hangingPunct="0"/>
            <a:r>
              <a:rPr lang="en-US" altLang="zh-CN" sz="2400" dirty="0">
                <a:latin typeface="宋体" panose="02010600030101010101" pitchFamily="2" charset="-122"/>
              </a:rPr>
              <a:t>    </a:t>
            </a:r>
            <a:r>
              <a:rPr lang="zh-CN" altLang="en-US" sz="2400" dirty="0">
                <a:latin typeface="宋体" panose="02010600030101010101" pitchFamily="2" charset="-122"/>
              </a:rPr>
              <a:t>每个扇区开始时由磁盘控制器产生一个扇标脉冲。扇标脉冲的出现即标志一个扇区的开始。 两个扇标脉冲之间的一段磁道区域即为一个</a:t>
            </a:r>
            <a:r>
              <a:rPr lang="zh-CN" altLang="en-US" sz="2400" b="1" dirty="0">
                <a:latin typeface="宋体" panose="02010600030101010101" pitchFamily="2" charset="-122"/>
              </a:rPr>
              <a:t>扇区</a:t>
            </a:r>
            <a:r>
              <a:rPr lang="en-US" altLang="zh-CN" sz="2400" dirty="0">
                <a:latin typeface="宋体" panose="02010600030101010101" pitchFamily="2" charset="-122"/>
              </a:rPr>
              <a:t>(</a:t>
            </a:r>
            <a:r>
              <a:rPr lang="zh-CN" altLang="en-US" sz="2400" dirty="0">
                <a:latin typeface="宋体" panose="02010600030101010101" pitchFamily="2" charset="-122"/>
              </a:rPr>
              <a:t>一记录块</a:t>
            </a:r>
            <a:r>
              <a:rPr lang="en-US" altLang="zh-CN" sz="2400" dirty="0">
                <a:latin typeface="宋体" panose="02010600030101010101" pitchFamily="2" charset="-122"/>
              </a:rPr>
              <a:t>)</a:t>
            </a:r>
            <a:r>
              <a:rPr lang="zh-CN" altLang="en-US" sz="2400" dirty="0">
                <a:latin typeface="宋体" panose="02010600030101010101" pitchFamily="2" charset="-122"/>
              </a:rPr>
              <a:t>。每个记录块由</a:t>
            </a:r>
            <a:r>
              <a:rPr lang="zh-CN" altLang="en-US" sz="2400" b="1" dirty="0">
                <a:latin typeface="宋体" panose="02010600030101010101" pitchFamily="2" charset="-122"/>
              </a:rPr>
              <a:t>头部空白段、序标段、数据段、校验字段</a:t>
            </a:r>
            <a:r>
              <a:rPr lang="zh-CN" altLang="en-US" sz="2400" dirty="0">
                <a:latin typeface="宋体" panose="02010600030101010101" pitchFamily="2" charset="-122"/>
              </a:rPr>
              <a:t>及</a:t>
            </a:r>
            <a:r>
              <a:rPr lang="zh-CN" altLang="en-US" sz="2400" b="1" dirty="0">
                <a:latin typeface="宋体" panose="02010600030101010101" pitchFamily="2" charset="-122"/>
              </a:rPr>
              <a:t>尾部空白段</a:t>
            </a:r>
            <a:r>
              <a:rPr lang="zh-CN" altLang="en-US" sz="2400" dirty="0">
                <a:latin typeface="宋体" panose="02010600030101010101" pitchFamily="2" charset="-122"/>
              </a:rPr>
              <a:t>组成。其中空白段用来留出一定的时间作为磁盘控制器的读写准备时间，序标被用来作为磁盘控制器的同步定时信号。序标之后即为本扇区所记录的数据。数据之后是校验字，它用来校验磁盘读出的数据是否正确。 </a:t>
            </a:r>
            <a:endParaRPr lang="zh-CN" altLang="en-US" sz="24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dissolve">
                                      <p:cBhvr>
                                        <p:cTn id="7" dur="500"/>
                                        <p:tgtEl>
                                          <p:spTgt spid="72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p>
            <a:fld id="{991E572C-C1DB-4D08-9248-65A6CCDA482B}" type="slidenum">
              <a:rPr lang="en-US" altLang="zh-CN" smtClean="0"/>
            </a:fld>
            <a:endParaRPr lang="en-US" altLang="zh-CN" smtClean="0"/>
          </a:p>
        </p:txBody>
      </p:sp>
      <p:sp>
        <p:nvSpPr>
          <p:cNvPr id="21507" name="Rectangle 4"/>
          <p:cNvSpPr>
            <a:spLocks noChangeArrowheads="1"/>
          </p:cNvSpPr>
          <p:nvPr/>
        </p:nvSpPr>
        <p:spPr bwMode="auto">
          <a:xfrm>
            <a:off x="179388" y="115888"/>
            <a:ext cx="8785225" cy="2709862"/>
          </a:xfrm>
          <a:prstGeom prst="rect">
            <a:avLst/>
          </a:prstGeom>
          <a:solidFill>
            <a:srgbClr val="CCFFFF"/>
          </a:solidFill>
          <a:ln w="9525">
            <a:noFill/>
            <a:miter lim="800000"/>
          </a:ln>
        </p:spPr>
        <p:txBody>
          <a:bodyPr anchor="ctr">
            <a:spAutoFit/>
          </a:bodyPr>
          <a:lstStyle/>
          <a:p>
            <a:pPr eaLnBrk="0" hangingPunct="0"/>
            <a:r>
              <a:rPr lang="zh-CN" altLang="en-US" sz="2800" b="1">
                <a:latin typeface="宋体" panose="02010600030101010101" pitchFamily="2" charset="-122"/>
              </a:rPr>
              <a:t>硬盘的分区域记录</a:t>
            </a:r>
            <a:br>
              <a:rPr lang="zh-CN" altLang="en-US" sz="2400">
                <a:latin typeface="宋体" panose="02010600030101010101" pitchFamily="2" charset="-122"/>
              </a:rPr>
            </a:br>
            <a:r>
              <a:rPr lang="zh-CN" altLang="en-US" sz="2400">
                <a:latin typeface="宋体" panose="02010600030101010101" pitchFamily="2" charset="-122"/>
              </a:rPr>
              <a:t>　　传统硬盘驱动器的每个磁道上记录的扇区数是相同的，因而存储的信息量也是相同的，这意味着在磁盘上位密度是变化的。因为内圈磁道的周长短，外圈磁道的周长长，所以内圈磁道的位密度高，外圈磁道的位密度低，最内圈磁道的位密度（最大位密度）决定了磁盘驱动器的容量。又因为每个磁道记录的信息量及转速是相同的，所以它们的数据传输率也是相同的。</a:t>
            </a:r>
            <a:endParaRPr lang="zh-CN" altLang="en-US" sz="2400">
              <a:latin typeface="宋体" panose="02010600030101010101" pitchFamily="2" charset="-122"/>
            </a:endParaRPr>
          </a:p>
        </p:txBody>
      </p:sp>
      <p:sp>
        <p:nvSpPr>
          <p:cNvPr id="74757" name="Rectangle 5"/>
          <p:cNvSpPr>
            <a:spLocks noChangeArrowheads="1"/>
          </p:cNvSpPr>
          <p:nvPr/>
        </p:nvSpPr>
        <p:spPr bwMode="auto">
          <a:xfrm>
            <a:off x="179388" y="620713"/>
            <a:ext cx="8785225" cy="2282825"/>
          </a:xfrm>
          <a:prstGeom prst="rect">
            <a:avLst/>
          </a:prstGeom>
          <a:solidFill>
            <a:srgbClr val="00FFFF"/>
          </a:solidFill>
          <a:ln w="9525">
            <a:noFill/>
            <a:miter lim="800000"/>
          </a:ln>
        </p:spPr>
        <p:txBody>
          <a:bodyPr anchor="ctr">
            <a:spAutoFit/>
          </a:bodyPr>
          <a:lstStyle/>
          <a:p>
            <a:pPr eaLnBrk="0" hangingPunct="0"/>
            <a:r>
              <a:rPr lang="zh-CN" altLang="en-US" sz="2400">
                <a:latin typeface="宋体" panose="02010600030101010101" pitchFamily="2" charset="-122"/>
              </a:rPr>
              <a:t>　由于外圈磁道比内圈磁道长，但存储的信息量却相同，所以外圈磁道上明显地存在着浪费。采用分区域记录技术可以增加硬盘驱动器的容量。分区域记录就是把磁盘柱面分成一系列的组，又称区域。由于外圈磁道有更长的周长，所以外层磁道要比内层磁道包含更多的扇区，即外圈磁道上保存的信息比内圈磁道多。</a:t>
            </a:r>
            <a:endParaRPr lang="zh-CN" altLang="en-US" sz="2400">
              <a:latin typeface="宋体" panose="02010600030101010101" pitchFamily="2" charset="-122"/>
            </a:endParaRPr>
          </a:p>
          <a:p>
            <a:pPr eaLnBrk="0" hangingPunct="0"/>
            <a:r>
              <a:rPr lang="zh-CN" altLang="en-US" sz="2400">
                <a:latin typeface="宋体" panose="02010600030101010101" pitchFamily="2" charset="-122"/>
              </a:rPr>
              <a:t> </a:t>
            </a:r>
            <a:endParaRPr lang="zh-CN" altLang="en-US" sz="2400">
              <a:latin typeface="宋体" panose="02010600030101010101" pitchFamily="2" charset="-122"/>
            </a:endParaRPr>
          </a:p>
        </p:txBody>
      </p:sp>
      <p:pic>
        <p:nvPicPr>
          <p:cNvPr id="21509" name="Picture 7" descr="7"/>
          <p:cNvPicPr>
            <a:picLocks noChangeAspect="1" noChangeArrowheads="1"/>
          </p:cNvPicPr>
          <p:nvPr/>
        </p:nvPicPr>
        <p:blipFill>
          <a:blip r:embed="rId1"/>
          <a:srcRect/>
          <a:stretch>
            <a:fillRect/>
          </a:stretch>
        </p:blipFill>
        <p:spPr bwMode="auto">
          <a:xfrm>
            <a:off x="395288" y="2997200"/>
            <a:ext cx="8064500" cy="3419475"/>
          </a:xfrm>
          <a:prstGeom prst="rect">
            <a:avLst/>
          </a:prstGeom>
          <a:noFill/>
          <a:ln w="9525">
            <a:noFill/>
            <a:miter lim="800000"/>
            <a:headEnd/>
            <a:tailEnd/>
          </a:ln>
        </p:spPr>
      </p:pic>
      <p:sp>
        <p:nvSpPr>
          <p:cNvPr id="74760" name="Rectangle 8"/>
          <p:cNvSpPr>
            <a:spLocks noChangeArrowheads="1"/>
          </p:cNvSpPr>
          <p:nvPr/>
        </p:nvSpPr>
        <p:spPr bwMode="auto">
          <a:xfrm>
            <a:off x="179388" y="115888"/>
            <a:ext cx="8785225" cy="3013075"/>
          </a:xfrm>
          <a:prstGeom prst="rect">
            <a:avLst/>
          </a:prstGeom>
          <a:solidFill>
            <a:srgbClr val="00FFFF"/>
          </a:solidFill>
          <a:ln w="9525">
            <a:noFill/>
            <a:miter lim="800000"/>
          </a:ln>
        </p:spPr>
        <p:txBody>
          <a:bodyPr anchor="ctr">
            <a:spAutoFit/>
          </a:bodyPr>
          <a:lstStyle/>
          <a:p>
            <a:pPr eaLnBrk="0" hangingPunct="0"/>
            <a:r>
              <a:rPr lang="en-US" altLang="zh-CN" sz="2400" dirty="0">
                <a:latin typeface="宋体" panose="02010600030101010101" pitchFamily="2" charset="-122"/>
              </a:rPr>
              <a:t>    </a:t>
            </a:r>
            <a:r>
              <a:rPr lang="zh-CN" altLang="en-US" sz="2400" dirty="0">
                <a:latin typeface="宋体" panose="02010600030101010101" pitchFamily="2" charset="-122"/>
              </a:rPr>
              <a:t>分区域记录的数据传输率随磁头所处的区域而变化。分区域驱动器还是以恒定速度旋转，可是，由于外层区域每磁道有更多的扇区，所以数据传输速度要更快一些。这就是当今驱动器标注最小和最大连续传输速率的原因，因为传输速率取决于磁头读写的位置。</a:t>
            </a:r>
            <a:br>
              <a:rPr lang="zh-CN" altLang="en-US" sz="2400" dirty="0">
                <a:latin typeface="宋体" panose="02010600030101010101" pitchFamily="2" charset="-122"/>
              </a:rPr>
            </a:br>
            <a:r>
              <a:rPr lang="zh-CN" altLang="en-US" sz="2400" dirty="0">
                <a:latin typeface="宋体" panose="02010600030101010101" pitchFamily="2" charset="-122"/>
              </a:rPr>
              <a:t>　　分区域记录技术的使用，大大地提高了硬盘利用率，与采用每磁道固定扇区的硬盘比较，使驱动器增加了</a:t>
            </a:r>
            <a:r>
              <a:rPr lang="en-US" altLang="zh-CN" sz="2400" dirty="0">
                <a:latin typeface="宋体" panose="02010600030101010101" pitchFamily="2" charset="-122"/>
              </a:rPr>
              <a:t>20</a:t>
            </a:r>
            <a:r>
              <a:rPr lang="zh-CN" altLang="en-US" sz="2400" dirty="0">
                <a:latin typeface="宋体" panose="02010600030101010101" pitchFamily="2" charset="-122"/>
              </a:rPr>
              <a:t>～</a:t>
            </a:r>
            <a:r>
              <a:rPr lang="en-US" altLang="zh-CN" sz="2400" dirty="0">
                <a:latin typeface="宋体" panose="02010600030101010101" pitchFamily="2" charset="-122"/>
              </a:rPr>
              <a:t>50</a:t>
            </a:r>
            <a:r>
              <a:rPr lang="zh-CN" altLang="en-US" sz="2400" dirty="0">
                <a:latin typeface="宋体" panose="02010600030101010101" pitchFamily="2" charset="-122"/>
              </a:rPr>
              <a:t>％的硬盘容量。实际上，现在所有的</a:t>
            </a:r>
            <a:r>
              <a:rPr lang="en-US" altLang="zh-CN" sz="2400" dirty="0">
                <a:latin typeface="宋体" panose="02010600030101010101" pitchFamily="2" charset="-122"/>
              </a:rPr>
              <a:t>IDE</a:t>
            </a:r>
            <a:r>
              <a:rPr lang="zh-CN" altLang="en-US" sz="2400" dirty="0">
                <a:latin typeface="宋体" panose="02010600030101010101" pitchFamily="2" charset="-122"/>
              </a:rPr>
              <a:t>和</a:t>
            </a:r>
            <a:r>
              <a:rPr lang="en-US" altLang="zh-CN" sz="2400" dirty="0">
                <a:latin typeface="宋体" panose="02010600030101010101" pitchFamily="2" charset="-122"/>
              </a:rPr>
              <a:t>SCSI</a:t>
            </a:r>
            <a:r>
              <a:rPr lang="zh-CN" altLang="en-US" sz="2400" dirty="0">
                <a:latin typeface="宋体" panose="02010600030101010101" pitchFamily="2" charset="-122"/>
              </a:rPr>
              <a:t>硬盘都采用分区域记录。</a:t>
            </a:r>
            <a:endParaRPr lang="zh-CN" altLang="en-US" sz="2400" b="1"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dissolve">
                                      <p:cBhvr>
                                        <p:cTn id="7" dur="500"/>
                                        <p:tgtEl>
                                          <p:spTgt spid="74757"/>
                                        </p:tgtEl>
                                      </p:cBhvr>
                                    </p:animEffect>
                                  </p:childTnLst>
                                  <p:subTnLst>
                                    <p:set>
                                      <p:cBhvr override="childStyle">
                                        <p:cTn dur="1" fill="hold" display="0" masterRel="nextClick" afterEffect="1"/>
                                        <p:tgtEl>
                                          <p:spTgt spid="7475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4760"/>
                                        </p:tgtEl>
                                        <p:attrNameLst>
                                          <p:attrName>style.visibility</p:attrName>
                                        </p:attrNameLst>
                                      </p:cBhvr>
                                      <p:to>
                                        <p:strVal val="visible"/>
                                      </p:to>
                                    </p:set>
                                    <p:animEffect transition="in" filter="dissolve">
                                      <p:cBhvr>
                                        <p:cTn id="12" dur="500"/>
                                        <p:tgtEl>
                                          <p:spTgt spid="74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nimBg="1" autoUpdateAnimBg="0"/>
      <p:bldP spid="7476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p>
            <a:fld id="{1F5EA199-EF14-48DB-8100-16BEF89A5CC5}" type="slidenum">
              <a:rPr lang="en-US" altLang="zh-CN" smtClean="0"/>
            </a:fld>
            <a:endParaRPr lang="en-US" altLang="zh-CN" smtClean="0"/>
          </a:p>
        </p:txBody>
      </p:sp>
      <p:sp>
        <p:nvSpPr>
          <p:cNvPr id="22531" name="Rectangle 3"/>
          <p:cNvSpPr>
            <a:spLocks noGrp="1" noChangeArrowheads="1"/>
          </p:cNvSpPr>
          <p:nvPr>
            <p:ph type="body" idx="1"/>
          </p:nvPr>
        </p:nvSpPr>
        <p:spPr>
          <a:xfrm>
            <a:off x="250825" y="333375"/>
            <a:ext cx="8281988" cy="6335713"/>
          </a:xfrm>
        </p:spPr>
        <p:txBody>
          <a:bodyPr/>
          <a:lstStyle/>
          <a:p>
            <a:pPr eaLnBrk="1" hangingPunct="1">
              <a:buFont typeface="Wingdings" panose="05000000000000000000" pitchFamily="2" charset="2"/>
              <a:buNone/>
            </a:pPr>
            <a:r>
              <a:rPr lang="zh-CN" altLang="en-US" sz="3600" dirty="0" smtClean="0">
                <a:latin typeface="宋体" panose="02010600030101010101" pitchFamily="2" charset="-122"/>
              </a:rPr>
              <a:t>四、磁盘存储器的技术指标</a:t>
            </a:r>
            <a:endParaRPr lang="zh-CN" altLang="en-US" sz="3600" dirty="0" smtClean="0">
              <a:latin typeface="宋体" panose="02010600030101010101" pitchFamily="2" charset="-122"/>
            </a:endParaRPr>
          </a:p>
          <a:p>
            <a:pPr eaLnBrk="1" hangingPunct="1">
              <a:buFont typeface="Wingdings" panose="05000000000000000000" pitchFamily="2" charset="2"/>
              <a:buNone/>
            </a:pPr>
            <a:r>
              <a:rPr lang="zh-CN" altLang="en-US" sz="2800" dirty="0" smtClean="0">
                <a:latin typeface="宋体" panose="02010600030101010101" pitchFamily="2" charset="-122"/>
              </a:rPr>
              <a:t> 　 　</a:t>
            </a:r>
            <a:endParaRPr lang="zh-CN" altLang="en-US" sz="2800" dirty="0" smtClean="0">
              <a:latin typeface="宋体" panose="02010600030101010101" pitchFamily="2" charset="-122"/>
            </a:endParaRPr>
          </a:p>
          <a:p>
            <a:pPr eaLnBrk="1" hangingPunct="1"/>
            <a:r>
              <a:rPr lang="zh-CN" altLang="en-US" sz="3200" dirty="0" smtClean="0">
                <a:latin typeface="宋体" panose="02010600030101010101" pitchFamily="2" charset="-122"/>
              </a:rPr>
              <a:t>存储密度：存储密度分道密度、位密度和面密度。</a:t>
            </a:r>
            <a:endParaRPr lang="zh-CN" altLang="en-US" sz="3200" dirty="0" smtClean="0">
              <a:latin typeface="宋体" panose="02010600030101010101" pitchFamily="2" charset="-122"/>
            </a:endParaRPr>
          </a:p>
          <a:p>
            <a:pPr lvl="1" eaLnBrk="1" hangingPunct="1"/>
            <a:r>
              <a:rPr lang="zh-CN" altLang="en-US" sz="2900" dirty="0" smtClean="0">
                <a:latin typeface="宋体" panose="02010600030101010101" pitchFamily="2" charset="-122"/>
              </a:rPr>
              <a:t>道密度：沿磁盘半径方向单位长度上的磁道数，单位为道</a:t>
            </a:r>
            <a:r>
              <a:rPr lang="en-US" altLang="zh-CN" sz="2900" dirty="0" smtClean="0">
                <a:latin typeface="宋体" panose="02010600030101010101" pitchFamily="2" charset="-122"/>
              </a:rPr>
              <a:t>/</a:t>
            </a:r>
            <a:r>
              <a:rPr lang="zh-CN" altLang="en-US" sz="2900" dirty="0" smtClean="0">
                <a:latin typeface="宋体" panose="02010600030101010101" pitchFamily="2" charset="-122"/>
              </a:rPr>
              <a:t>英寸。</a:t>
            </a:r>
            <a:endParaRPr lang="zh-CN" altLang="en-US" sz="2900" dirty="0" smtClean="0">
              <a:latin typeface="宋体" panose="02010600030101010101" pitchFamily="2" charset="-122"/>
            </a:endParaRPr>
          </a:p>
          <a:p>
            <a:pPr lvl="1" eaLnBrk="1" hangingPunct="1"/>
            <a:r>
              <a:rPr lang="zh-CN" altLang="en-US" sz="2900" dirty="0" smtClean="0">
                <a:latin typeface="宋体" panose="02010600030101010101" pitchFamily="2" charset="-122"/>
              </a:rPr>
              <a:t>位密度：磁道单位长度上能记录的二进制代码位数，单位为位</a:t>
            </a:r>
            <a:r>
              <a:rPr lang="en-US" altLang="zh-CN" sz="2900" dirty="0" smtClean="0">
                <a:latin typeface="宋体" panose="02010600030101010101" pitchFamily="2" charset="-122"/>
              </a:rPr>
              <a:t>/</a:t>
            </a:r>
            <a:r>
              <a:rPr lang="zh-CN" altLang="en-US" sz="2900" dirty="0" smtClean="0">
                <a:latin typeface="宋体" panose="02010600030101010101" pitchFamily="2" charset="-122"/>
              </a:rPr>
              <a:t>英寸。</a:t>
            </a:r>
            <a:endParaRPr lang="zh-CN" altLang="en-US" sz="2900" dirty="0" smtClean="0">
              <a:latin typeface="宋体" panose="02010600030101010101" pitchFamily="2" charset="-122"/>
            </a:endParaRPr>
          </a:p>
          <a:p>
            <a:pPr lvl="1" eaLnBrk="1" hangingPunct="1"/>
            <a:r>
              <a:rPr lang="zh-CN" altLang="en-US" sz="2900" dirty="0" smtClean="0">
                <a:latin typeface="宋体" panose="02010600030101010101" pitchFamily="2" charset="-122"/>
              </a:rPr>
              <a:t>面密度：位密度和道密度的乘积，单位为位</a:t>
            </a:r>
            <a:r>
              <a:rPr lang="en-US" altLang="zh-CN" sz="2900" dirty="0" smtClean="0">
                <a:latin typeface="宋体" panose="02010600030101010101" pitchFamily="2" charset="-122"/>
              </a:rPr>
              <a:t>/</a:t>
            </a:r>
            <a:r>
              <a:rPr lang="zh-CN" altLang="en-US" sz="2900" dirty="0" smtClean="0">
                <a:latin typeface="宋体" panose="02010600030101010101" pitchFamily="2" charset="-122"/>
              </a:rPr>
              <a:t>平方英寸。</a:t>
            </a:r>
            <a:endParaRPr lang="zh-CN" altLang="en-US" sz="3200" dirty="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fld>
            <a:endParaRPr lang="en-US" altLang="zh-CN" smtClean="0"/>
          </a:p>
        </p:txBody>
      </p:sp>
      <p:sp>
        <p:nvSpPr>
          <p:cNvPr id="23555" name="Rectangle 5"/>
          <p:cNvSpPr>
            <a:spLocks noChangeArrowheads="1"/>
          </p:cNvSpPr>
          <p:nvPr/>
        </p:nvSpPr>
        <p:spPr bwMode="auto">
          <a:xfrm>
            <a:off x="250825" y="476250"/>
            <a:ext cx="8353425" cy="5976938"/>
          </a:xfrm>
          <a:prstGeom prst="rect">
            <a:avLst/>
          </a:prstGeom>
          <a:noFill/>
          <a:ln w="9525">
            <a:noFill/>
            <a:miter lim="800000"/>
          </a:ln>
        </p:spPr>
        <p:txBody>
          <a:bodyPr/>
          <a:lstStyle/>
          <a:p>
            <a:pPr marL="342900" indent="-342900" eaLnBrk="0" hangingPunct="0"/>
            <a:endParaRPr lang="en-US" altLang="zh-CN" sz="3000" dirty="0"/>
          </a:p>
          <a:p>
            <a:pPr marL="342900" indent="-342900">
              <a:lnSpc>
                <a:spcPct val="90000"/>
              </a:lnSpc>
              <a:spcBef>
                <a:spcPct val="20000"/>
              </a:spcBef>
              <a:buClr>
                <a:schemeClr val="tx2"/>
              </a:buClr>
              <a:buSzPct val="70000"/>
              <a:buFont typeface="Wingdings" panose="05000000000000000000" pitchFamily="2" charset="2"/>
              <a:buChar char="l"/>
            </a:pPr>
            <a:r>
              <a:rPr lang="zh-CN" altLang="en-US" sz="3200" dirty="0">
                <a:latin typeface="宋体" panose="02010600030101010101" pitchFamily="2" charset="-122"/>
              </a:rPr>
              <a:t>存储</a:t>
            </a:r>
            <a:r>
              <a:rPr lang="zh-CN" altLang="en-US" sz="3200" b="1" dirty="0">
                <a:latin typeface="宋体" panose="02010600030101010101" pitchFamily="2" charset="-122"/>
              </a:rPr>
              <a:t>容量</a:t>
            </a:r>
            <a:endParaRPr lang="zh-CN" altLang="en-US" sz="3200" b="1" dirty="0">
              <a:latin typeface="宋体" panose="02010600030101010101" pitchFamily="2" charset="-122"/>
            </a:endParaRPr>
          </a:p>
          <a:p>
            <a:pPr marL="342900" indent="-342900">
              <a:lnSpc>
                <a:spcPct val="90000"/>
              </a:lnSpc>
              <a:spcBef>
                <a:spcPct val="20000"/>
              </a:spcBef>
              <a:buClr>
                <a:schemeClr val="tx2"/>
              </a:buClr>
              <a:buSzPct val="70000"/>
              <a:buFont typeface="Wingdings" panose="05000000000000000000" pitchFamily="2" charset="2"/>
              <a:buNone/>
            </a:pPr>
            <a:r>
              <a:rPr lang="zh-CN" altLang="en-US" sz="2800" dirty="0">
                <a:latin typeface="宋体" panose="02010600030101010101" pitchFamily="2" charset="-122"/>
              </a:rPr>
              <a:t>      一个磁盘存储器所能存储的字节总数，</a:t>
            </a:r>
            <a:endParaRPr lang="zh-CN" altLang="en-US" sz="2800" dirty="0">
              <a:latin typeface="宋体" panose="02010600030101010101" pitchFamily="2" charset="-122"/>
            </a:endParaRPr>
          </a:p>
          <a:p>
            <a:pPr marL="342900" indent="-342900">
              <a:lnSpc>
                <a:spcPct val="90000"/>
              </a:lnSpc>
              <a:spcBef>
                <a:spcPct val="20000"/>
              </a:spcBef>
              <a:buClr>
                <a:schemeClr val="tx2"/>
              </a:buClr>
              <a:buSzPct val="70000"/>
              <a:buFont typeface="Wingdings" panose="05000000000000000000" pitchFamily="2" charset="2"/>
              <a:buNone/>
            </a:pPr>
            <a:r>
              <a:rPr lang="zh-CN" altLang="en-US" sz="2800" dirty="0">
                <a:latin typeface="宋体" panose="02010600030101010101" pitchFamily="2" charset="-122"/>
              </a:rPr>
              <a:t>  称为磁盘存储器的存储容量。</a:t>
            </a:r>
            <a:endParaRPr lang="zh-CN" altLang="en-US" sz="2800" dirty="0">
              <a:latin typeface="宋体" panose="02010600030101010101" pitchFamily="2" charset="-122"/>
            </a:endParaRPr>
          </a:p>
          <a:p>
            <a:pPr marL="342900" indent="-342900">
              <a:lnSpc>
                <a:spcPct val="90000"/>
              </a:lnSpc>
              <a:spcBef>
                <a:spcPct val="20000"/>
              </a:spcBef>
              <a:buClr>
                <a:schemeClr val="tx2"/>
              </a:buClr>
              <a:buSzPct val="70000"/>
              <a:buFont typeface="Wingdings" panose="05000000000000000000" pitchFamily="2" charset="2"/>
              <a:buNone/>
            </a:pPr>
            <a:r>
              <a:rPr lang="zh-CN" altLang="en-US" sz="2800" dirty="0">
                <a:latin typeface="宋体" panose="02010600030101010101" pitchFamily="2" charset="-122"/>
              </a:rPr>
              <a:t>      存储容量有格式化容量和非格式化容量之分。</a:t>
            </a:r>
            <a:endParaRPr lang="zh-CN" altLang="en-US" sz="2800" dirty="0">
              <a:latin typeface="宋体" panose="02010600030101010101" pitchFamily="2" charset="-122"/>
            </a:endParaRPr>
          </a:p>
          <a:p>
            <a:pPr marL="342900" indent="-342900">
              <a:lnSpc>
                <a:spcPct val="90000"/>
              </a:lnSpc>
              <a:spcBef>
                <a:spcPct val="20000"/>
              </a:spcBef>
              <a:buClr>
                <a:schemeClr val="tx2"/>
              </a:buClr>
              <a:buSzPct val="70000"/>
              <a:buFont typeface="Wingdings" panose="05000000000000000000" pitchFamily="2" charset="2"/>
              <a:buNone/>
            </a:pPr>
            <a:r>
              <a:rPr lang="zh-CN" altLang="en-US" sz="2800" dirty="0">
                <a:latin typeface="宋体" panose="02010600030101010101" pitchFamily="2" charset="-122"/>
              </a:rPr>
              <a:t>      </a:t>
            </a:r>
            <a:r>
              <a:rPr lang="zh-CN" altLang="en-US" sz="2800" b="1" dirty="0">
                <a:latin typeface="宋体" panose="02010600030101010101" pitchFamily="2" charset="-122"/>
              </a:rPr>
              <a:t>格式化容量：</a:t>
            </a:r>
            <a:r>
              <a:rPr lang="zh-CN" altLang="en-US" sz="2800" dirty="0">
                <a:latin typeface="宋体" panose="02010600030101010101" pitchFamily="2" charset="-122"/>
              </a:rPr>
              <a:t>指按照某种特定的记录格式所能存储信息的总量，也就是用户可以真正使用的容量。</a:t>
            </a:r>
            <a:endParaRPr lang="zh-CN" altLang="en-US" sz="2800" dirty="0">
              <a:latin typeface="宋体" panose="02010600030101010101" pitchFamily="2" charset="-122"/>
            </a:endParaRPr>
          </a:p>
          <a:p>
            <a:pPr marL="342900" indent="-342900">
              <a:lnSpc>
                <a:spcPct val="90000"/>
              </a:lnSpc>
              <a:spcBef>
                <a:spcPct val="20000"/>
              </a:spcBef>
              <a:buClr>
                <a:schemeClr val="tx2"/>
              </a:buClr>
              <a:buSzPct val="70000"/>
              <a:buFont typeface="Wingdings" panose="05000000000000000000" pitchFamily="2" charset="2"/>
              <a:buNone/>
            </a:pPr>
            <a:r>
              <a:rPr lang="zh-CN" altLang="en-US" sz="2800" dirty="0">
                <a:latin typeface="宋体" panose="02010600030101010101" pitchFamily="2" charset="-122"/>
              </a:rPr>
              <a:t>      </a:t>
            </a:r>
            <a:r>
              <a:rPr lang="zh-CN" altLang="en-US" sz="2800" b="1" dirty="0">
                <a:latin typeface="宋体" panose="02010600030101010101" pitchFamily="2" charset="-122"/>
              </a:rPr>
              <a:t>非格式化容量：</a:t>
            </a:r>
            <a:r>
              <a:rPr lang="zh-CN" altLang="en-US" sz="2800" dirty="0">
                <a:latin typeface="宋体" panose="02010600030101010101" pitchFamily="2" charset="-122"/>
              </a:rPr>
              <a:t>磁记录表面可以利用的磁化单元总数。将磁盘存储器用于某计算机系统中，必须首先进行格式化操作，然后才能供用户记录信息。格式化容量一般是非格式化容量的</a:t>
            </a:r>
            <a:r>
              <a:rPr lang="en-US" altLang="zh-CN" sz="2800" dirty="0">
                <a:latin typeface="宋体" panose="02010600030101010101" pitchFamily="2" charset="-122"/>
              </a:rPr>
              <a:t>60%—70%</a:t>
            </a:r>
            <a:r>
              <a:rPr lang="zh-CN" altLang="en-US" sz="2800" dirty="0">
                <a:latin typeface="宋体" panose="02010600030101010101" pitchFamily="2" charset="-122"/>
              </a:rPr>
              <a:t>。</a:t>
            </a:r>
            <a:endParaRPr lang="zh-CN" altLang="en-US" sz="28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fld>
            <a:endParaRPr lang="en-US" altLang="zh-CN" smtClean="0"/>
          </a:p>
        </p:txBody>
      </p:sp>
      <p:sp>
        <p:nvSpPr>
          <p:cNvPr id="23555" name="Rectangle 5"/>
          <p:cNvSpPr>
            <a:spLocks noChangeArrowheads="1"/>
          </p:cNvSpPr>
          <p:nvPr/>
        </p:nvSpPr>
        <p:spPr bwMode="auto">
          <a:xfrm>
            <a:off x="222250" y="6350"/>
            <a:ext cx="8627110" cy="6564630"/>
          </a:xfrm>
          <a:prstGeom prst="rect">
            <a:avLst/>
          </a:prstGeom>
          <a:solidFill>
            <a:schemeClr val="bg1"/>
          </a:solidFill>
          <a:ln w="9525">
            <a:noFill/>
            <a:miter lim="800000"/>
          </a:ln>
        </p:spPr>
        <p:txBody>
          <a:bodyPr/>
          <a:lstStyle/>
          <a:p>
            <a:pPr marL="342900" indent="-342900">
              <a:lnSpc>
                <a:spcPct val="130000"/>
              </a:lnSpc>
              <a:spcBef>
                <a:spcPct val="20000"/>
              </a:spcBef>
              <a:buClr>
                <a:schemeClr val="tx2"/>
              </a:buClr>
              <a:buSzPct val="70000"/>
              <a:buFont typeface="Wingdings" panose="05000000000000000000" pitchFamily="2" charset="2"/>
              <a:buChar char="l"/>
            </a:pPr>
            <a:r>
              <a:rPr lang="zh-CN" altLang="en-US" sz="2800" b="1" dirty="0" smtClean="0">
                <a:latin typeface="宋体" panose="02010600030101010101" pitchFamily="2" charset="-122"/>
              </a:rPr>
              <a:t>平均</a:t>
            </a:r>
            <a:r>
              <a:rPr lang="zh-CN" altLang="en-US" sz="2800" b="1" dirty="0">
                <a:latin typeface="宋体" panose="02010600030101010101" pitchFamily="2" charset="-122"/>
              </a:rPr>
              <a:t>寻址时间</a:t>
            </a:r>
            <a:endParaRPr lang="zh-CN" altLang="en-US" sz="2800" b="1" dirty="0">
              <a:latin typeface="宋体" panose="02010600030101010101" pitchFamily="2" charset="-122"/>
            </a:endParaRPr>
          </a:p>
          <a:p>
            <a:pPr lvl="1">
              <a:lnSpc>
                <a:spcPct val="130000"/>
              </a:lnSpc>
              <a:spcBef>
                <a:spcPct val="20000"/>
              </a:spcBef>
              <a:buClr>
                <a:schemeClr val="tx2"/>
              </a:buClr>
              <a:buSzPct val="70000"/>
            </a:pPr>
            <a:r>
              <a:rPr lang="zh-CN" altLang="en-US" sz="2400" dirty="0" smtClean="0">
                <a:latin typeface="宋体" panose="02010600030101010101" pitchFamily="2" charset="-122"/>
              </a:rPr>
              <a:t>    寻址</a:t>
            </a:r>
            <a:r>
              <a:rPr lang="zh-CN" altLang="en-US" sz="2400" dirty="0">
                <a:latin typeface="宋体" panose="02010600030101010101" pitchFamily="2" charset="-122"/>
              </a:rPr>
              <a:t>时间是指从读写命令发出后，磁头从某一起始位置移动至新的</a:t>
            </a:r>
            <a:r>
              <a:rPr lang="zh-CN" altLang="en-US" sz="2400" dirty="0" smtClean="0">
                <a:latin typeface="宋体" panose="02010600030101010101" pitchFamily="2" charset="-122"/>
              </a:rPr>
              <a:t>记录</a:t>
            </a:r>
            <a:r>
              <a:rPr lang="zh-CN" altLang="en-US" sz="2400" dirty="0">
                <a:latin typeface="宋体" panose="02010600030101010101" pitchFamily="2" charset="-122"/>
              </a:rPr>
              <a:t>位置，再到磁道上需要访问的扇区移动到磁头下方所需的时间</a:t>
            </a:r>
            <a:r>
              <a:rPr lang="zh-CN" altLang="en-US" sz="2400" dirty="0" smtClean="0">
                <a:latin typeface="宋体" panose="02010600030101010101" pitchFamily="2" charset="-122"/>
              </a:rPr>
              <a:t>。这</a:t>
            </a:r>
            <a:r>
              <a:rPr lang="zh-CN" altLang="en-US" sz="2400" dirty="0">
                <a:latin typeface="宋体" panose="02010600030101010101" pitchFamily="2" charset="-122"/>
              </a:rPr>
              <a:t>段时间</a:t>
            </a:r>
            <a:r>
              <a:rPr lang="zh-CN" altLang="en-US" sz="2400" b="1" dirty="0">
                <a:latin typeface="宋体" panose="02010600030101010101" pitchFamily="2" charset="-122"/>
              </a:rPr>
              <a:t>包括</a:t>
            </a:r>
            <a:r>
              <a:rPr lang="zh-CN" altLang="en-US" sz="2400" b="1" dirty="0" smtClean="0">
                <a:latin typeface="宋体" panose="02010600030101010101" pitchFamily="2" charset="-122"/>
              </a:rPr>
              <a:t>寻道时间</a:t>
            </a:r>
            <a:r>
              <a:rPr lang="zh-CN" altLang="en-US" sz="2400" dirty="0" smtClean="0">
                <a:latin typeface="宋体" panose="02010600030101010101" pitchFamily="2" charset="-122"/>
              </a:rPr>
              <a:t>和</a:t>
            </a:r>
            <a:r>
              <a:rPr lang="zh-CN" altLang="en-US" sz="2400" b="1" dirty="0">
                <a:latin typeface="宋体" panose="02010600030101010101" pitchFamily="2" charset="-122"/>
              </a:rPr>
              <a:t>等待时间</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lvl="1">
              <a:lnSpc>
                <a:spcPct val="130000"/>
              </a:lnSpc>
              <a:spcBef>
                <a:spcPct val="20000"/>
              </a:spcBef>
              <a:buClr>
                <a:schemeClr val="tx2"/>
              </a:buClr>
              <a:buSzPct val="70000"/>
            </a:pPr>
            <a:r>
              <a:rPr lang="en-US" altLang="zh-CN" sz="2400" dirty="0">
                <a:latin typeface="宋体" panose="02010600030101010101" pitchFamily="2" charset="-122"/>
              </a:rPr>
              <a:t>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磁盘</a:t>
            </a:r>
            <a:r>
              <a:rPr lang="zh-CN" altLang="en-US" sz="2400" dirty="0">
                <a:latin typeface="宋体" panose="02010600030101010101" pitchFamily="2" charset="-122"/>
              </a:rPr>
              <a:t>接到读</a:t>
            </a:r>
            <a:r>
              <a:rPr lang="en-US" altLang="zh-CN" sz="2400" dirty="0">
                <a:latin typeface="宋体" panose="02010600030101010101" pitchFamily="2" charset="-122"/>
              </a:rPr>
              <a:t>/</a:t>
            </a:r>
            <a:r>
              <a:rPr lang="zh-CN" altLang="en-US" sz="2400" dirty="0">
                <a:latin typeface="宋体" panose="02010600030101010101" pitchFamily="2" charset="-122"/>
              </a:rPr>
              <a:t>写指令后将磁头定位至所要访问的磁道上所需的时间，称为</a:t>
            </a:r>
            <a:r>
              <a:rPr lang="zh-CN" altLang="en-US" sz="2400" b="1" dirty="0" smtClean="0">
                <a:latin typeface="宋体" panose="02010600030101010101" pitchFamily="2" charset="-122"/>
              </a:rPr>
              <a:t>寻道时间</a:t>
            </a:r>
            <a:r>
              <a:rPr lang="zh-CN" altLang="en-US" sz="2400" dirty="0">
                <a:latin typeface="宋体" panose="02010600030101010101" pitchFamily="2" charset="-122"/>
              </a:rPr>
              <a:t>或</a:t>
            </a:r>
            <a:r>
              <a:rPr lang="zh-CN" altLang="en-US" sz="2400" b="1" dirty="0">
                <a:latin typeface="宋体" panose="02010600030101010101" pitchFamily="2" charset="-122"/>
              </a:rPr>
              <a:t>找道时间</a:t>
            </a:r>
            <a:r>
              <a:rPr lang="zh-CN" altLang="en-US" sz="2400" dirty="0">
                <a:latin typeface="宋体" panose="02010600030101010101" pitchFamily="2" charset="-122"/>
              </a:rPr>
              <a:t>、</a:t>
            </a:r>
            <a:r>
              <a:rPr lang="zh-CN" altLang="en-US" sz="2400" b="1" dirty="0">
                <a:latin typeface="宋体" panose="02010600030101010101" pitchFamily="2" charset="-122"/>
              </a:rPr>
              <a:t>定位时间</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lvl="1">
              <a:lnSpc>
                <a:spcPct val="130000"/>
              </a:lnSpc>
              <a:spcBef>
                <a:spcPct val="20000"/>
              </a:spcBef>
              <a:buClr>
                <a:schemeClr val="tx2"/>
              </a:buClr>
              <a:buSzPct val="70000"/>
            </a:pPr>
            <a:r>
              <a:rPr lang="en-US" altLang="zh-CN" sz="2400" dirty="0">
                <a:latin typeface="宋体" panose="02010600030101010101" pitchFamily="2" charset="-122"/>
              </a:rPr>
              <a:t>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寻道</a:t>
            </a:r>
            <a:r>
              <a:rPr lang="zh-CN" altLang="en-US" sz="2400" dirty="0">
                <a:latin typeface="宋体" panose="02010600030101010101" pitchFamily="2" charset="-122"/>
              </a:rPr>
              <a:t>完成后，磁道上需要访问的扇区移动到磁头下方所需</a:t>
            </a:r>
            <a:r>
              <a:rPr lang="zh-CN" altLang="en-US" sz="2400" dirty="0" smtClean="0">
                <a:latin typeface="宋体" panose="02010600030101010101" pitchFamily="2" charset="-122"/>
              </a:rPr>
              <a:t>的时间</a:t>
            </a:r>
            <a:r>
              <a:rPr lang="zh-CN" altLang="en-US" sz="2400" dirty="0">
                <a:latin typeface="宋体" panose="02010600030101010101" pitchFamily="2" charset="-122"/>
              </a:rPr>
              <a:t>，称为</a:t>
            </a:r>
            <a:r>
              <a:rPr lang="zh-CN" altLang="en-US" sz="2400" b="1" dirty="0">
                <a:latin typeface="宋体" panose="02010600030101010101" pitchFamily="2" charset="-122"/>
              </a:rPr>
              <a:t>等待时间</a:t>
            </a:r>
            <a:r>
              <a:rPr lang="zh-CN" altLang="en-US" sz="2400" dirty="0">
                <a:latin typeface="宋体" panose="02010600030101010101" pitchFamily="2" charset="-122"/>
              </a:rPr>
              <a:t>或</a:t>
            </a:r>
            <a:r>
              <a:rPr lang="zh-CN" altLang="en-US" sz="2400" b="1" dirty="0">
                <a:latin typeface="宋体" panose="02010600030101010101" pitchFamily="2" charset="-122"/>
              </a:rPr>
              <a:t>寻区时间</a:t>
            </a:r>
            <a:r>
              <a:rPr lang="zh-CN" altLang="en-US" sz="2400" dirty="0">
                <a:latin typeface="宋体" panose="02010600030101010101" pitchFamily="2" charset="-122"/>
              </a:rPr>
              <a:t>、</a:t>
            </a:r>
            <a:r>
              <a:rPr lang="zh-CN" altLang="en-US" sz="2400" b="1" dirty="0">
                <a:latin typeface="宋体" panose="02010600030101010101" pitchFamily="2" charset="-122"/>
              </a:rPr>
              <a:t>潜伏期</a:t>
            </a:r>
            <a:r>
              <a:rPr lang="zh-CN" altLang="en-US" sz="2400" dirty="0">
                <a:latin typeface="宋体" panose="02010600030101010101" pitchFamily="2" charset="-122"/>
              </a:rPr>
              <a:t>、</a:t>
            </a:r>
            <a:r>
              <a:rPr lang="zh-CN" altLang="en-US" sz="2400" b="1" dirty="0">
                <a:latin typeface="宋体" panose="02010600030101010101" pitchFamily="2" charset="-122"/>
              </a:rPr>
              <a:t>旋转延迟</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lvl="1">
              <a:lnSpc>
                <a:spcPct val="130000"/>
              </a:lnSpc>
              <a:spcBef>
                <a:spcPct val="20000"/>
              </a:spcBef>
              <a:buClr>
                <a:schemeClr val="tx2"/>
              </a:buClr>
              <a:buSzPct val="70000"/>
            </a:pPr>
            <a:r>
              <a:rPr lang="en-US" altLang="zh-CN" sz="2400" dirty="0">
                <a:latin typeface="宋体" panose="02010600030101010101" pitchFamily="2" charset="-122"/>
              </a:rPr>
              <a:t>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这</a:t>
            </a:r>
            <a:r>
              <a:rPr lang="zh-CN" altLang="en-US" sz="2400" dirty="0">
                <a:latin typeface="宋体" panose="02010600030101010101" pitchFamily="2" charset="-122"/>
              </a:rPr>
              <a:t>两个时间都是随机变化的，</a:t>
            </a:r>
            <a:r>
              <a:rPr lang="zh-CN" altLang="en-US" sz="2400" dirty="0" smtClean="0">
                <a:latin typeface="宋体" panose="02010600030101010101" pitchFamily="2" charset="-122"/>
              </a:rPr>
              <a:t>因此往往</a:t>
            </a:r>
            <a:r>
              <a:rPr lang="zh-CN" altLang="en-US" sz="2400" dirty="0">
                <a:latin typeface="宋体" panose="02010600030101010101" pitchFamily="2" charset="-122"/>
              </a:rPr>
              <a:t>使用平均值来表示。平均寻道时间是最大寻道时间与最小寻道时间的平均值</a:t>
            </a:r>
            <a:r>
              <a:rPr lang="zh-CN" altLang="en-US" sz="2400" dirty="0" smtClean="0">
                <a:latin typeface="宋体" panose="02010600030101010101" pitchFamily="2" charset="-122"/>
              </a:rPr>
              <a:t>，平均</a:t>
            </a:r>
            <a:r>
              <a:rPr lang="zh-CN" altLang="en-US" sz="2400" dirty="0">
                <a:latin typeface="宋体" panose="02010600030101010101" pitchFamily="2" charset="-122"/>
              </a:rPr>
              <a:t>等待时间和磁盘转速有关，它用</a:t>
            </a:r>
            <a:r>
              <a:rPr lang="zh-CN" altLang="en-US" sz="2400" dirty="0" smtClean="0">
                <a:latin typeface="宋体" panose="02010600030101010101" pitchFamily="2" charset="-122"/>
              </a:rPr>
              <a:t>磁盘旋转</a:t>
            </a:r>
            <a:r>
              <a:rPr lang="zh-CN" altLang="en-US" sz="2400" dirty="0">
                <a:latin typeface="宋体" panose="02010600030101010101" pitchFamily="2" charset="-122"/>
              </a:rPr>
              <a:t>一周所需时间的一半来表示</a:t>
            </a:r>
            <a:r>
              <a:rPr lang="zh-CN" altLang="en-US" sz="2400" dirty="0" smtClean="0">
                <a:latin typeface="宋体" panose="02010600030101010101" pitchFamily="2" charset="-122"/>
              </a:rPr>
              <a:t>。若</a:t>
            </a:r>
            <a:r>
              <a:rPr lang="zh-CN" altLang="en-US" sz="2400" dirty="0">
                <a:latin typeface="+mn-ea"/>
                <a:ea typeface="+mn-ea"/>
                <a:sym typeface="+mn-ea"/>
              </a:rPr>
              <a:t>磁盘旋转速率为</a:t>
            </a:r>
            <a:r>
              <a:rPr lang="en-US" altLang="zh-CN" sz="2400" dirty="0">
                <a:latin typeface="+mn-ea"/>
                <a:ea typeface="+mn-ea"/>
                <a:sym typeface="+mn-ea"/>
              </a:rPr>
              <a:t>r</a:t>
            </a:r>
            <a:r>
              <a:rPr lang="zh-CN" altLang="en-US" sz="2400" dirty="0">
                <a:latin typeface="+mn-ea"/>
                <a:ea typeface="+mn-ea"/>
                <a:sym typeface="+mn-ea"/>
              </a:rPr>
              <a:t>转</a:t>
            </a:r>
            <a:r>
              <a:rPr lang="en-US" altLang="zh-CN" sz="2400" dirty="0">
                <a:latin typeface="+mn-ea"/>
                <a:ea typeface="+mn-ea"/>
                <a:sym typeface="+mn-ea"/>
              </a:rPr>
              <a:t>/</a:t>
            </a:r>
            <a:r>
              <a:rPr lang="zh-CN" altLang="en-US" sz="2400" dirty="0">
                <a:latin typeface="+mn-ea"/>
                <a:ea typeface="+mn-ea"/>
                <a:sym typeface="+mn-ea"/>
              </a:rPr>
              <a:t>秒，则平均等待时间为</a:t>
            </a:r>
            <a:r>
              <a:rPr lang="en-US" altLang="zh-CN" sz="2400" dirty="0">
                <a:latin typeface="+mn-ea"/>
                <a:ea typeface="+mn-ea"/>
                <a:sym typeface="+mn-ea"/>
              </a:rPr>
              <a:t>1/</a:t>
            </a:r>
            <a:r>
              <a:rPr lang="zh-CN" altLang="en-US" sz="2400" dirty="0">
                <a:latin typeface="+mn-ea"/>
                <a:ea typeface="+mn-ea"/>
                <a:sym typeface="+mn-ea"/>
              </a:rPr>
              <a:t>（</a:t>
            </a:r>
            <a:r>
              <a:rPr lang="en-US" altLang="zh-CN" sz="2400" dirty="0">
                <a:latin typeface="+mn-ea"/>
                <a:ea typeface="+mn-ea"/>
                <a:sym typeface="+mn-ea"/>
              </a:rPr>
              <a:t>2r</a:t>
            </a:r>
            <a:r>
              <a:rPr lang="zh-CN" altLang="en-US" sz="2400" dirty="0">
                <a:latin typeface="+mn-ea"/>
                <a:ea typeface="+mn-ea"/>
                <a:sym typeface="+mn-ea"/>
              </a:rPr>
              <a:t>）秒。</a:t>
            </a:r>
            <a:endParaRPr lang="zh-CN" altLang="en-US" sz="2400" dirty="0">
              <a:latin typeface="+mn-ea"/>
              <a:ea typeface="+mn-ea"/>
              <a:sym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fld>
            <a:endParaRPr lang="en-US" altLang="zh-CN" smtClean="0"/>
          </a:p>
        </p:txBody>
      </p:sp>
      <p:sp>
        <p:nvSpPr>
          <p:cNvPr id="23555" name="Rectangle 5"/>
          <p:cNvSpPr>
            <a:spLocks noChangeArrowheads="1"/>
          </p:cNvSpPr>
          <p:nvPr/>
        </p:nvSpPr>
        <p:spPr bwMode="auto">
          <a:xfrm>
            <a:off x="73637" y="58523"/>
            <a:ext cx="8064896" cy="6721345"/>
          </a:xfrm>
          <a:prstGeom prst="rect">
            <a:avLst/>
          </a:prstGeom>
          <a:noFill/>
          <a:ln w="9525">
            <a:noFill/>
            <a:miter lim="800000"/>
          </a:ln>
        </p:spPr>
        <p:txBody>
          <a:bodyPr/>
          <a:lstStyle/>
          <a:p>
            <a:pPr marL="457200" indent="-457200">
              <a:lnSpc>
                <a:spcPct val="110000"/>
              </a:lnSpc>
              <a:spcBef>
                <a:spcPts val="600"/>
              </a:spcBef>
              <a:buClr>
                <a:schemeClr val="tx2"/>
              </a:buClr>
              <a:buSzPct val="70000"/>
              <a:buFont typeface="Wingdings" panose="05000000000000000000" pitchFamily="2" charset="2"/>
              <a:buChar char="l"/>
            </a:pPr>
            <a:r>
              <a:rPr lang="zh-CN" altLang="en-US" sz="3200" dirty="0" smtClean="0">
                <a:latin typeface="宋体" panose="02010600030101010101" pitchFamily="2" charset="-122"/>
              </a:rPr>
              <a:t>平均</a:t>
            </a:r>
            <a:r>
              <a:rPr lang="zh-CN" altLang="en-US" sz="3200" dirty="0">
                <a:latin typeface="宋体" panose="02010600030101010101" pitchFamily="2" charset="-122"/>
              </a:rPr>
              <a:t>存取</a:t>
            </a:r>
            <a:r>
              <a:rPr lang="zh-CN" altLang="en-US" sz="3200" dirty="0" smtClean="0">
                <a:latin typeface="宋体" panose="02010600030101010101" pitchFamily="2" charset="-122"/>
              </a:rPr>
              <a:t>时间</a:t>
            </a:r>
            <a:endParaRPr lang="en-US" altLang="zh-CN" sz="3200" dirty="0" smtClean="0">
              <a:latin typeface="宋体" panose="02010600030101010101" pitchFamily="2" charset="-122"/>
            </a:endParaRPr>
          </a:p>
          <a:p>
            <a:pPr lvl="1">
              <a:lnSpc>
                <a:spcPct val="110000"/>
              </a:lnSpc>
              <a:spcBef>
                <a:spcPts val="600"/>
              </a:spcBef>
              <a:buClr>
                <a:schemeClr val="tx2"/>
              </a:buClr>
              <a:buSzPct val="70000"/>
            </a:pPr>
            <a:r>
              <a:rPr lang="zh-CN" altLang="en-US" sz="3200" dirty="0" smtClean="0">
                <a:latin typeface="宋体" panose="02010600030101010101" pitchFamily="2" charset="-122"/>
              </a:rPr>
              <a:t>    </a:t>
            </a:r>
            <a:r>
              <a:rPr lang="zh-CN" altLang="en-US" sz="2800" dirty="0" smtClean="0">
                <a:latin typeface="宋体" panose="02010600030101010101" pitchFamily="2" charset="-122"/>
              </a:rPr>
              <a:t>存取</a:t>
            </a:r>
            <a:r>
              <a:rPr lang="en-US" altLang="zh-CN" sz="2800" dirty="0">
                <a:latin typeface="宋体" panose="02010600030101010101" pitchFamily="2" charset="-122"/>
              </a:rPr>
              <a:t>(</a:t>
            </a:r>
            <a:r>
              <a:rPr lang="zh-CN" altLang="en-US" sz="2800" dirty="0">
                <a:latin typeface="宋体" panose="02010600030101010101" pitchFamily="2" charset="-122"/>
              </a:rPr>
              <a:t>访问</a:t>
            </a:r>
            <a:r>
              <a:rPr lang="en-US" altLang="zh-CN" sz="2800" dirty="0">
                <a:latin typeface="宋体" panose="02010600030101010101" pitchFamily="2" charset="-122"/>
              </a:rPr>
              <a:t>)</a:t>
            </a:r>
            <a:r>
              <a:rPr lang="zh-CN" altLang="en-US" sz="2800" dirty="0">
                <a:latin typeface="宋体" panose="02010600030101010101" pitchFamily="2" charset="-122"/>
              </a:rPr>
              <a:t>时间是从读</a:t>
            </a:r>
            <a:r>
              <a:rPr lang="en-US" altLang="zh-CN" sz="2800" dirty="0">
                <a:latin typeface="宋体" panose="02010600030101010101" pitchFamily="2" charset="-122"/>
              </a:rPr>
              <a:t>/</a:t>
            </a:r>
            <a:r>
              <a:rPr lang="zh-CN" altLang="en-US" sz="2800" dirty="0">
                <a:latin typeface="宋体" panose="02010600030101010101" pitchFamily="2" charset="-122"/>
              </a:rPr>
              <a:t>写指令发出到开始第一笔数据读</a:t>
            </a:r>
            <a:r>
              <a:rPr lang="en-US" altLang="zh-CN" sz="2800" dirty="0">
                <a:latin typeface="宋体" panose="02010600030101010101" pitchFamily="2" charset="-122"/>
              </a:rPr>
              <a:t>/</a:t>
            </a:r>
            <a:r>
              <a:rPr lang="zh-CN" altLang="en-US" sz="2800" dirty="0">
                <a:latin typeface="宋体" panose="02010600030101010101" pitchFamily="2" charset="-122"/>
              </a:rPr>
              <a:t>写时所用</a:t>
            </a:r>
            <a:r>
              <a:rPr lang="zh-CN" altLang="en-US" sz="2800" dirty="0" smtClean="0">
                <a:latin typeface="宋体" panose="02010600030101010101" pitchFamily="2" charset="-122"/>
              </a:rPr>
              <a:t>的平均</a:t>
            </a:r>
            <a:r>
              <a:rPr lang="zh-CN" altLang="en-US" sz="2800" dirty="0">
                <a:latin typeface="宋体" panose="02010600030101010101" pitchFamily="2" charset="-122"/>
              </a:rPr>
              <a:t>时间，包括寻道时间、等待时间及相关的内务操作时间。内务操作时间一般很短</a:t>
            </a:r>
            <a:r>
              <a:rPr lang="en-US" altLang="zh-CN" sz="2800" dirty="0">
                <a:latin typeface="宋体" panose="02010600030101010101" pitchFamily="2" charset="-122"/>
              </a:rPr>
              <a:t>(</a:t>
            </a:r>
            <a:r>
              <a:rPr lang="zh-CN" altLang="en-US" sz="2800" dirty="0" smtClean="0">
                <a:latin typeface="宋体" panose="02010600030101010101" pitchFamily="2" charset="-122"/>
              </a:rPr>
              <a:t>一般在</a:t>
            </a:r>
            <a:r>
              <a:rPr lang="en-US" altLang="zh-CN" sz="2800" dirty="0" smtClean="0">
                <a:latin typeface="宋体" panose="02010600030101010101" pitchFamily="2" charset="-122"/>
              </a:rPr>
              <a:t>0.2ms</a:t>
            </a:r>
            <a:r>
              <a:rPr lang="zh-CN" altLang="en-US" sz="2800" dirty="0">
                <a:latin typeface="宋体" panose="02010600030101010101" pitchFamily="2" charset="-122"/>
              </a:rPr>
              <a:t>左右</a:t>
            </a:r>
            <a:r>
              <a:rPr lang="en-US" altLang="zh-CN" sz="2800" dirty="0">
                <a:latin typeface="宋体" panose="02010600030101010101" pitchFamily="2" charset="-122"/>
              </a:rPr>
              <a:t>)</a:t>
            </a:r>
            <a:r>
              <a:rPr lang="zh-CN" altLang="en-US" sz="2800" dirty="0">
                <a:latin typeface="宋体" panose="02010600030101010101" pitchFamily="2" charset="-122"/>
              </a:rPr>
              <a:t>，可忽略不计</a:t>
            </a:r>
            <a:r>
              <a:rPr lang="zh-CN" altLang="en-US" sz="2800" dirty="0" smtClean="0">
                <a:latin typeface="宋体" panose="02010600030101010101" pitchFamily="2" charset="-122"/>
              </a:rPr>
              <a:t>。故</a:t>
            </a:r>
            <a:r>
              <a:rPr lang="zh-CN" altLang="en-US" sz="2800" dirty="0">
                <a:latin typeface="宋体" panose="02010600030101010101" pitchFamily="2" charset="-122"/>
              </a:rPr>
              <a:t>平均访问时间近似等于平均寻道时间</a:t>
            </a:r>
            <a:r>
              <a:rPr lang="en-US" altLang="zh-CN" sz="2800" dirty="0">
                <a:latin typeface="宋体" panose="02010600030101010101" pitchFamily="2" charset="-122"/>
              </a:rPr>
              <a:t>+</a:t>
            </a:r>
            <a:r>
              <a:rPr lang="zh-CN" altLang="en-US" sz="2800" dirty="0">
                <a:latin typeface="宋体" panose="02010600030101010101" pitchFamily="2" charset="-122"/>
              </a:rPr>
              <a:t>平均等待时间，</a:t>
            </a:r>
            <a:r>
              <a:rPr lang="zh-CN" altLang="en-US" sz="2800" dirty="0" smtClean="0">
                <a:latin typeface="宋体" panose="02010600030101010101" pitchFamily="2" charset="-122"/>
              </a:rPr>
              <a:t>即平均</a:t>
            </a:r>
            <a:r>
              <a:rPr lang="zh-CN" altLang="en-US" sz="2800" dirty="0">
                <a:latin typeface="宋体" panose="02010600030101010101" pitchFamily="2" charset="-122"/>
              </a:rPr>
              <a:t>寻址时间。</a:t>
            </a:r>
            <a:endParaRPr lang="zh-CN" altLang="en-US" sz="2800" dirty="0">
              <a:latin typeface="宋体" panose="02010600030101010101" pitchFamily="2" charset="-122"/>
            </a:endParaRPr>
          </a:p>
          <a:p>
            <a:pPr lvl="1">
              <a:lnSpc>
                <a:spcPct val="110000"/>
              </a:lnSpc>
              <a:spcBef>
                <a:spcPts val="600"/>
              </a:spcBef>
              <a:buClr>
                <a:schemeClr val="tx2"/>
              </a:buClr>
              <a:buSzPct val="70000"/>
            </a:pPr>
            <a:r>
              <a:rPr lang="zh-CN" altLang="en-US" sz="2800" dirty="0">
                <a:latin typeface="宋体" panose="02010600030101010101" pitchFamily="2" charset="-122"/>
              </a:rPr>
              <a:t> </a:t>
            </a:r>
            <a:r>
              <a:rPr lang="en-US" altLang="zh-CN" sz="2800" dirty="0">
                <a:latin typeface="宋体" panose="02010600030101010101" pitchFamily="2" charset="-122"/>
              </a:rPr>
              <a:t>   </a:t>
            </a:r>
            <a:r>
              <a:rPr lang="zh-CN" altLang="en-US" sz="2800" dirty="0">
                <a:latin typeface="宋体" panose="02010600030101010101" pitchFamily="2" charset="-122"/>
              </a:rPr>
              <a:t>因此，总的平均读写操作时间</a:t>
            </a:r>
            <a:r>
              <a:rPr lang="en-US" altLang="zh-CN" sz="2800" dirty="0">
                <a:latin typeface="宋体" panose="02010600030101010101" pitchFamily="2" charset="-122"/>
              </a:rPr>
              <a:t>Ta</a:t>
            </a:r>
            <a:r>
              <a:rPr lang="zh-CN" altLang="en-US" sz="2800" dirty="0">
                <a:latin typeface="宋体" panose="02010600030101010101" pitchFamily="2" charset="-122"/>
              </a:rPr>
              <a:t>表示为：</a:t>
            </a:r>
            <a:endParaRPr lang="zh-CN" altLang="en-US" sz="2800" dirty="0">
              <a:latin typeface="宋体" panose="02010600030101010101" pitchFamily="2" charset="-122"/>
            </a:endParaRPr>
          </a:p>
          <a:p>
            <a:pPr lvl="1">
              <a:lnSpc>
                <a:spcPct val="110000"/>
              </a:lnSpc>
              <a:spcBef>
                <a:spcPts val="600"/>
              </a:spcBef>
              <a:buClr>
                <a:schemeClr val="tx2"/>
              </a:buClr>
              <a:buSzPct val="70000"/>
            </a:pPr>
            <a:r>
              <a:rPr lang="en-US" altLang="zh-CN" sz="2800" dirty="0" smtClean="0">
                <a:latin typeface="宋体" panose="02010600030101010101" pitchFamily="2" charset="-122"/>
              </a:rPr>
              <a:t>    Ta=Ts+1/(2r)+b/(</a:t>
            </a:r>
            <a:r>
              <a:rPr lang="en-US" altLang="zh-CN" sz="2800" dirty="0" err="1" smtClean="0">
                <a:latin typeface="宋体" panose="02010600030101010101" pitchFamily="2" charset="-122"/>
              </a:rPr>
              <a:t>rN</a:t>
            </a:r>
            <a:r>
              <a:rPr lang="en-US" altLang="zh-CN" sz="2800" dirty="0" smtClean="0">
                <a:latin typeface="宋体" panose="02010600030101010101" pitchFamily="2" charset="-122"/>
              </a:rPr>
              <a:t>)</a:t>
            </a:r>
            <a:endParaRPr lang="en-US" altLang="zh-CN" sz="2800" dirty="0">
              <a:latin typeface="宋体" panose="02010600030101010101" pitchFamily="2" charset="-122"/>
            </a:endParaRPr>
          </a:p>
          <a:p>
            <a:pPr lvl="1">
              <a:lnSpc>
                <a:spcPct val="110000"/>
              </a:lnSpc>
              <a:spcBef>
                <a:spcPts val="600"/>
              </a:spcBef>
              <a:buClr>
                <a:schemeClr val="tx2"/>
              </a:buClr>
              <a:buSzPct val="70000"/>
            </a:pPr>
            <a:r>
              <a:rPr lang="en-US" altLang="zh-CN" sz="2800" dirty="0" smtClean="0">
                <a:latin typeface="宋体" panose="02010600030101010101" pitchFamily="2" charset="-122"/>
              </a:rPr>
              <a:t>    </a:t>
            </a:r>
            <a:r>
              <a:rPr lang="en-US" altLang="zh-CN" sz="2800" dirty="0" err="1" smtClean="0">
                <a:latin typeface="宋体" panose="02010600030101010101" pitchFamily="2" charset="-122"/>
              </a:rPr>
              <a:t>Ts</a:t>
            </a:r>
            <a:r>
              <a:rPr lang="zh-CN" altLang="en-US" sz="2800" dirty="0" smtClean="0">
                <a:latin typeface="宋体" panose="02010600030101010101" pitchFamily="2" charset="-122"/>
              </a:rPr>
              <a:t>表示</a:t>
            </a:r>
            <a:r>
              <a:rPr lang="zh-CN" altLang="en-US" sz="2800" dirty="0">
                <a:latin typeface="宋体" panose="02010600030101010101" pitchFamily="2" charset="-122"/>
              </a:rPr>
              <a:t>平均寻道时间，</a:t>
            </a:r>
            <a:r>
              <a:rPr lang="en-US" altLang="zh-CN" sz="2800" dirty="0">
                <a:latin typeface="+mn-ea"/>
                <a:ea typeface="+mn-ea"/>
                <a:sym typeface="+mn-ea"/>
              </a:rPr>
              <a:t>r</a:t>
            </a:r>
            <a:r>
              <a:rPr lang="zh-CN" altLang="en-US" sz="2800" dirty="0">
                <a:latin typeface="+mn-ea"/>
                <a:ea typeface="+mn-ea"/>
                <a:sym typeface="+mn-ea"/>
              </a:rPr>
              <a:t>表示磁盘的旋转速率</a:t>
            </a:r>
            <a:r>
              <a:rPr lang="zh-CN" sz="2800" dirty="0">
                <a:latin typeface="+mn-ea"/>
                <a:ea typeface="+mn-ea"/>
                <a:sym typeface="+mn-ea"/>
              </a:rPr>
              <a:t>，</a:t>
            </a:r>
            <a:r>
              <a:rPr lang="en-US" altLang="zh-CN" sz="2800" dirty="0">
                <a:latin typeface="宋体" panose="02010600030101010101" pitchFamily="2" charset="-122"/>
              </a:rPr>
              <a:t>b</a:t>
            </a:r>
            <a:r>
              <a:rPr lang="zh-CN" altLang="en-US" sz="2800" dirty="0">
                <a:latin typeface="宋体" panose="02010600030101010101" pitchFamily="2" charset="-122"/>
              </a:rPr>
              <a:t>表示传送的字节数，</a:t>
            </a:r>
            <a:r>
              <a:rPr lang="en-US" altLang="zh-CN" sz="2800" dirty="0">
                <a:latin typeface="宋体" panose="02010600030101010101" pitchFamily="2" charset="-122"/>
              </a:rPr>
              <a:t>N</a:t>
            </a:r>
            <a:r>
              <a:rPr lang="zh-CN" altLang="en-US" sz="2800" dirty="0">
                <a:latin typeface="宋体" panose="02010600030101010101" pitchFamily="2" charset="-122"/>
              </a:rPr>
              <a:t>表示每磁道字节数，</a:t>
            </a:r>
            <a:r>
              <a:rPr lang="en-US" altLang="zh-CN" sz="2800" dirty="0">
                <a:latin typeface="宋体" panose="02010600030101010101" pitchFamily="2" charset="-122"/>
              </a:rPr>
              <a:t>b/(</a:t>
            </a:r>
            <a:r>
              <a:rPr lang="en-US" altLang="zh-CN" sz="2800" dirty="0" err="1">
                <a:latin typeface="宋体" panose="02010600030101010101" pitchFamily="2" charset="-122"/>
              </a:rPr>
              <a:t>rN</a:t>
            </a:r>
            <a:r>
              <a:rPr lang="en-US" altLang="zh-CN" sz="2800" dirty="0">
                <a:latin typeface="宋体" panose="02010600030101010101" pitchFamily="2" charset="-122"/>
              </a:rPr>
              <a:t>)</a:t>
            </a:r>
            <a:r>
              <a:rPr lang="zh-CN" altLang="en-US" sz="2800" dirty="0">
                <a:latin typeface="宋体" panose="02010600030101010101" pitchFamily="2" charset="-122"/>
              </a:rPr>
              <a:t>表示</a:t>
            </a:r>
            <a:r>
              <a:rPr lang="zh-CN" altLang="en-US" sz="2800" dirty="0" smtClean="0">
                <a:latin typeface="宋体" panose="02010600030101010101" pitchFamily="2" charset="-122"/>
              </a:rPr>
              <a:t>数据传输</a:t>
            </a:r>
            <a:r>
              <a:rPr lang="zh-CN" altLang="en-US" sz="2800" dirty="0">
                <a:latin typeface="宋体" panose="02010600030101010101" pitchFamily="2" charset="-122"/>
              </a:rPr>
              <a:t>时间</a:t>
            </a:r>
            <a:r>
              <a:rPr lang="zh-CN" altLang="en-US" sz="2800" dirty="0" smtClean="0">
                <a:latin typeface="宋体" panose="02010600030101010101" pitchFamily="2" charset="-122"/>
              </a:rPr>
              <a:t>。</a:t>
            </a:r>
            <a:endParaRPr lang="zh-CN" altLang="en-US" sz="28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p>
            <a:fld id="{F3C8871A-9EA5-4996-98BE-56CA531AC9D1}" type="slidenum">
              <a:rPr lang="en-US" altLang="zh-CN" smtClean="0"/>
            </a:fld>
            <a:endParaRPr lang="en-US" altLang="zh-CN" smtClean="0"/>
          </a:p>
        </p:txBody>
      </p:sp>
      <p:sp>
        <p:nvSpPr>
          <p:cNvPr id="23555" name="Rectangle 5"/>
          <p:cNvSpPr>
            <a:spLocks noChangeArrowheads="1"/>
          </p:cNvSpPr>
          <p:nvPr/>
        </p:nvSpPr>
        <p:spPr bwMode="auto">
          <a:xfrm>
            <a:off x="194129" y="193273"/>
            <a:ext cx="8712968" cy="6408712"/>
          </a:xfrm>
          <a:prstGeom prst="rect">
            <a:avLst/>
          </a:prstGeom>
          <a:solidFill>
            <a:schemeClr val="bg1"/>
          </a:solidFill>
          <a:ln w="9525">
            <a:noFill/>
            <a:miter lim="800000"/>
          </a:ln>
        </p:spPr>
        <p:txBody>
          <a:bodyPr/>
          <a:lstStyle/>
          <a:p>
            <a:pPr marL="342900" indent="-342900">
              <a:lnSpc>
                <a:spcPct val="130000"/>
              </a:lnSpc>
              <a:spcBef>
                <a:spcPts val="0"/>
              </a:spcBef>
              <a:buClr>
                <a:schemeClr val="tx2"/>
              </a:buClr>
              <a:buSzPct val="70000"/>
              <a:buFont typeface="Wingdings" panose="05000000000000000000" pitchFamily="2" charset="2"/>
              <a:buChar char="l"/>
            </a:pPr>
            <a:r>
              <a:rPr lang="zh-CN" altLang="en-US" sz="2800" b="1" dirty="0" smtClean="0">
                <a:latin typeface="+mn-ea"/>
                <a:ea typeface="+mn-ea"/>
              </a:rPr>
              <a:t>数据传输率</a:t>
            </a:r>
            <a:endParaRPr lang="en-US" altLang="zh-CN" sz="2800" b="1" dirty="0" smtClean="0">
              <a:latin typeface="+mn-ea"/>
              <a:ea typeface="+mn-ea"/>
            </a:endParaRPr>
          </a:p>
          <a:p>
            <a:pPr lvl="1">
              <a:lnSpc>
                <a:spcPct val="130000"/>
              </a:lnSpc>
              <a:spcBef>
                <a:spcPts val="0"/>
              </a:spcBef>
              <a:buClr>
                <a:schemeClr val="tx2"/>
              </a:buClr>
              <a:buSzPct val="70000"/>
            </a:pPr>
            <a:r>
              <a:rPr lang="en-US" altLang="zh-CN" sz="2800" dirty="0">
                <a:latin typeface="+mn-ea"/>
                <a:ea typeface="+mn-ea"/>
              </a:rPr>
              <a:t> </a:t>
            </a:r>
            <a:r>
              <a:rPr lang="en-US" altLang="zh-CN" sz="2800" dirty="0" smtClean="0">
                <a:latin typeface="+mn-ea"/>
                <a:ea typeface="+mn-ea"/>
              </a:rPr>
              <a:t>   </a:t>
            </a:r>
            <a:r>
              <a:rPr lang="zh-CN" altLang="en-US" sz="2400" dirty="0" smtClean="0">
                <a:latin typeface="+mn-ea"/>
                <a:ea typeface="+mn-ea"/>
              </a:rPr>
              <a:t>磁盘</a:t>
            </a:r>
            <a:r>
              <a:rPr lang="zh-CN" altLang="en-US" sz="2400" dirty="0">
                <a:latin typeface="+mn-ea"/>
                <a:ea typeface="+mn-ea"/>
              </a:rPr>
              <a:t>存储器在单位时间内向主机传送数据的字节数，称为</a:t>
            </a:r>
            <a:r>
              <a:rPr lang="zh-CN" altLang="en-US" sz="2400" b="1" dirty="0">
                <a:latin typeface="+mn-ea"/>
                <a:ea typeface="+mn-ea"/>
              </a:rPr>
              <a:t>数据</a:t>
            </a:r>
            <a:r>
              <a:rPr lang="zh-CN" altLang="en-US" sz="2400" b="1" dirty="0" smtClean="0">
                <a:latin typeface="+mn-ea"/>
                <a:ea typeface="+mn-ea"/>
              </a:rPr>
              <a:t>传输率</a:t>
            </a:r>
            <a:r>
              <a:rPr lang="zh-CN" altLang="en-US" sz="2400" dirty="0">
                <a:latin typeface="+mn-ea"/>
                <a:ea typeface="+mn-ea"/>
              </a:rPr>
              <a:t>。</a:t>
            </a:r>
            <a:endParaRPr lang="zh-CN" altLang="en-US" sz="2400" dirty="0">
              <a:latin typeface="+mn-ea"/>
              <a:ea typeface="+mn-ea"/>
            </a:endParaRPr>
          </a:p>
          <a:p>
            <a:pPr lvl="1">
              <a:lnSpc>
                <a:spcPct val="130000"/>
              </a:lnSpc>
              <a:spcBef>
                <a:spcPts val="0"/>
              </a:spcBef>
              <a:buClr>
                <a:schemeClr val="tx2"/>
              </a:buClr>
              <a:buSzPct val="70000"/>
            </a:pPr>
            <a:r>
              <a:rPr lang="zh-CN" altLang="en-US" sz="2400" dirty="0" smtClean="0">
                <a:latin typeface="+mn-ea"/>
                <a:ea typeface="+mn-ea"/>
              </a:rPr>
              <a:t>    现代</a:t>
            </a:r>
            <a:r>
              <a:rPr lang="zh-CN" altLang="en-US" sz="2400" dirty="0">
                <a:latin typeface="+mn-ea"/>
                <a:ea typeface="+mn-ea"/>
              </a:rPr>
              <a:t>磁盘设备通常会配置磁盘</a:t>
            </a:r>
            <a:r>
              <a:rPr lang="en-US" altLang="zh-CN" sz="2400" dirty="0">
                <a:latin typeface="+mn-ea"/>
                <a:ea typeface="+mn-ea"/>
              </a:rPr>
              <a:t>cache</a:t>
            </a:r>
            <a:r>
              <a:rPr lang="zh-CN" altLang="en-US" sz="2400" dirty="0">
                <a:latin typeface="+mn-ea"/>
                <a:ea typeface="+mn-ea"/>
              </a:rPr>
              <a:t>，单位时间内从硬盘</a:t>
            </a:r>
            <a:r>
              <a:rPr lang="en-US" altLang="zh-CN" sz="2400" dirty="0">
                <a:latin typeface="+mn-ea"/>
                <a:ea typeface="+mn-ea"/>
              </a:rPr>
              <a:t>cache</a:t>
            </a:r>
            <a:r>
              <a:rPr lang="zh-CN" altLang="en-US" sz="2400" dirty="0">
                <a:latin typeface="+mn-ea"/>
                <a:ea typeface="+mn-ea"/>
              </a:rPr>
              <a:t>向主机传送的数据信息量</a:t>
            </a:r>
            <a:r>
              <a:rPr lang="zh-CN" altLang="en-US" sz="2400" dirty="0" smtClean="0">
                <a:latin typeface="+mn-ea"/>
                <a:ea typeface="+mn-ea"/>
              </a:rPr>
              <a:t>称为</a:t>
            </a:r>
            <a:r>
              <a:rPr lang="zh-CN" altLang="en-US" sz="2400" b="1" dirty="0">
                <a:latin typeface="+mn-ea"/>
                <a:ea typeface="+mn-ea"/>
              </a:rPr>
              <a:t>外部数据传输率</a:t>
            </a:r>
            <a:r>
              <a:rPr lang="zh-CN" altLang="en-US" sz="2400" dirty="0">
                <a:latin typeface="+mn-ea"/>
                <a:ea typeface="+mn-ea"/>
              </a:rPr>
              <a:t>，与磁盘的接口类型和磁盘缓存大小有关</a:t>
            </a:r>
            <a:r>
              <a:rPr lang="zh-CN" altLang="en-US" sz="2400" dirty="0" smtClean="0">
                <a:latin typeface="+mn-ea"/>
                <a:ea typeface="+mn-ea"/>
              </a:rPr>
              <a:t>。</a:t>
            </a:r>
            <a:endParaRPr lang="en-US" altLang="zh-CN" sz="2400" dirty="0" smtClean="0">
              <a:latin typeface="+mn-ea"/>
              <a:ea typeface="+mn-ea"/>
            </a:endParaRPr>
          </a:p>
          <a:p>
            <a:pPr lvl="1">
              <a:lnSpc>
                <a:spcPct val="130000"/>
              </a:lnSpc>
              <a:spcBef>
                <a:spcPts val="0"/>
              </a:spcBef>
              <a:buClr>
                <a:schemeClr val="tx2"/>
              </a:buClr>
              <a:buSzPct val="70000"/>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在</a:t>
            </a:r>
            <a:r>
              <a:rPr lang="zh-CN" altLang="en-US" sz="2400" dirty="0">
                <a:latin typeface="+mn-ea"/>
                <a:ea typeface="+mn-ea"/>
              </a:rPr>
              <a:t>磁盘存储器盘片上读写数据的速率</a:t>
            </a:r>
            <a:r>
              <a:rPr lang="zh-CN" altLang="en-US" sz="2400" dirty="0" smtClean="0">
                <a:latin typeface="+mn-ea"/>
                <a:ea typeface="+mn-ea"/>
              </a:rPr>
              <a:t>则称为</a:t>
            </a:r>
            <a:r>
              <a:rPr lang="zh-CN" altLang="en-US" sz="2400" b="1" dirty="0">
                <a:latin typeface="+mn-ea"/>
                <a:ea typeface="+mn-ea"/>
              </a:rPr>
              <a:t>内部数据传输率</a:t>
            </a:r>
            <a:r>
              <a:rPr lang="zh-CN" altLang="en-US" sz="2400" dirty="0">
                <a:latin typeface="+mn-ea"/>
                <a:ea typeface="+mn-ea"/>
              </a:rPr>
              <a:t>，即磁头找到要访问的位置后，单位时间读</a:t>
            </a:r>
            <a:r>
              <a:rPr lang="en-US" altLang="zh-CN" sz="2400" dirty="0">
                <a:latin typeface="+mn-ea"/>
                <a:ea typeface="+mn-ea"/>
              </a:rPr>
              <a:t>/</a:t>
            </a:r>
            <a:r>
              <a:rPr lang="zh-CN" altLang="en-US" sz="2400" dirty="0">
                <a:latin typeface="+mn-ea"/>
                <a:ea typeface="+mn-ea"/>
              </a:rPr>
              <a:t>写的字节数，等于每个</a:t>
            </a:r>
            <a:r>
              <a:rPr lang="zh-CN" altLang="en-US" sz="2400" dirty="0" smtClean="0">
                <a:latin typeface="+mn-ea"/>
                <a:ea typeface="+mn-ea"/>
              </a:rPr>
              <a:t>磁道</a:t>
            </a:r>
            <a:r>
              <a:rPr lang="zh-CN" altLang="en-US" sz="2400" dirty="0">
                <a:latin typeface="+mn-ea"/>
                <a:ea typeface="+mn-ea"/>
              </a:rPr>
              <a:t>上的字节数</a:t>
            </a:r>
            <a:r>
              <a:rPr lang="en-US" altLang="zh-CN" sz="2400" dirty="0">
                <a:latin typeface="+mn-ea"/>
                <a:ea typeface="+mn-ea"/>
              </a:rPr>
              <a:t>/</a:t>
            </a:r>
            <a:r>
              <a:rPr lang="zh-CN" altLang="en-US" sz="2400" dirty="0">
                <a:latin typeface="+mn-ea"/>
                <a:ea typeface="+mn-ea"/>
              </a:rPr>
              <a:t>磁盘旋转一周的时间</a:t>
            </a:r>
            <a:r>
              <a:rPr lang="zh-CN" altLang="en-US" sz="2400" dirty="0" smtClean="0">
                <a:latin typeface="+mn-ea"/>
                <a:ea typeface="+mn-ea"/>
              </a:rPr>
              <a:t>。</a:t>
            </a:r>
            <a:endParaRPr lang="en-US" altLang="zh-CN" sz="2400" dirty="0" smtClean="0">
              <a:latin typeface="+mn-ea"/>
              <a:ea typeface="+mn-ea"/>
            </a:endParaRPr>
          </a:p>
          <a:p>
            <a:pPr lvl="1">
              <a:lnSpc>
                <a:spcPct val="130000"/>
              </a:lnSpc>
              <a:spcBef>
                <a:spcPts val="0"/>
              </a:spcBef>
              <a:buClr>
                <a:schemeClr val="tx2"/>
              </a:buClr>
              <a:buSzPct val="70000"/>
            </a:pPr>
            <a:r>
              <a:rPr lang="en-US" altLang="zh-CN" sz="2400" dirty="0">
                <a:latin typeface="+mn-ea"/>
                <a:ea typeface="+mn-ea"/>
              </a:rPr>
              <a:t> </a:t>
            </a:r>
            <a:r>
              <a:rPr lang="en-US" altLang="zh-CN" sz="2400" dirty="0" smtClean="0">
                <a:latin typeface="+mn-ea"/>
                <a:ea typeface="+mn-ea"/>
              </a:rPr>
              <a:t>   </a:t>
            </a:r>
            <a:r>
              <a:rPr lang="zh-CN" altLang="en-US" sz="2400" dirty="0" smtClean="0">
                <a:latin typeface="+mn-ea"/>
                <a:ea typeface="+mn-ea"/>
              </a:rPr>
              <a:t>设</a:t>
            </a:r>
            <a:r>
              <a:rPr lang="zh-CN" altLang="en-US" sz="2400" dirty="0">
                <a:latin typeface="+mn-ea"/>
                <a:ea typeface="+mn-ea"/>
              </a:rPr>
              <a:t>磁盘旋转速度为</a:t>
            </a:r>
            <a:r>
              <a:rPr lang="en-US" altLang="zh-CN" sz="2400" dirty="0">
                <a:latin typeface="+mn-ea"/>
                <a:ea typeface="+mn-ea"/>
              </a:rPr>
              <a:t>n</a:t>
            </a:r>
            <a:r>
              <a:rPr lang="zh-CN" altLang="en-US" sz="2400" dirty="0">
                <a:latin typeface="+mn-ea"/>
                <a:ea typeface="+mn-ea"/>
              </a:rPr>
              <a:t>转</a:t>
            </a:r>
            <a:r>
              <a:rPr lang="en-US" altLang="zh-CN" sz="2400" dirty="0">
                <a:latin typeface="+mn-ea"/>
                <a:ea typeface="+mn-ea"/>
              </a:rPr>
              <a:t>/</a:t>
            </a:r>
            <a:r>
              <a:rPr lang="zh-CN" altLang="en-US" sz="2400" dirty="0">
                <a:latin typeface="+mn-ea"/>
                <a:ea typeface="+mn-ea"/>
              </a:rPr>
              <a:t>秒，每条磁道容量为</a:t>
            </a:r>
            <a:r>
              <a:rPr lang="en-US" altLang="zh-CN" sz="2400" dirty="0">
                <a:latin typeface="+mn-ea"/>
                <a:ea typeface="+mn-ea"/>
              </a:rPr>
              <a:t>N</a:t>
            </a:r>
            <a:r>
              <a:rPr lang="zh-CN" altLang="en-US" sz="2400" dirty="0">
                <a:latin typeface="+mn-ea"/>
                <a:ea typeface="+mn-ea"/>
              </a:rPr>
              <a:t>字节</a:t>
            </a:r>
            <a:endParaRPr lang="zh-CN" altLang="en-US" sz="2400" dirty="0">
              <a:latin typeface="+mn-ea"/>
              <a:ea typeface="+mn-ea"/>
            </a:endParaRPr>
          </a:p>
          <a:p>
            <a:pPr lvl="1">
              <a:lnSpc>
                <a:spcPct val="130000"/>
              </a:lnSpc>
              <a:spcBef>
                <a:spcPts val="0"/>
              </a:spcBef>
            </a:pPr>
            <a:r>
              <a:rPr lang="zh-CN" altLang="en-US" sz="2400" dirty="0">
                <a:latin typeface="+mn-ea"/>
                <a:ea typeface="+mn-ea"/>
              </a:rPr>
              <a:t>则内部数据传输率</a:t>
            </a:r>
            <a:r>
              <a:rPr lang="zh-CN" altLang="en-US" sz="2400" dirty="0" smtClean="0">
                <a:latin typeface="+mn-ea"/>
                <a:ea typeface="+mn-ea"/>
              </a:rPr>
              <a:t>为：</a:t>
            </a:r>
            <a:endParaRPr lang="en-US" altLang="zh-CN" sz="2400" dirty="0" smtClean="0">
              <a:latin typeface="+mn-ea"/>
              <a:ea typeface="+mn-ea"/>
            </a:endParaRPr>
          </a:p>
          <a:p>
            <a:pPr lvl="1">
              <a:lnSpc>
                <a:spcPct val="130000"/>
              </a:lnSpc>
              <a:spcBef>
                <a:spcPts val="0"/>
              </a:spcBef>
            </a:pPr>
            <a:r>
              <a:rPr lang="zh-CN" altLang="en-US" sz="2400" dirty="0" smtClean="0">
                <a:latin typeface="+mn-ea"/>
                <a:ea typeface="+mn-ea"/>
              </a:rPr>
              <a:t>       </a:t>
            </a:r>
            <a:r>
              <a:rPr lang="en-US" altLang="zh-CN" sz="2400" b="1" dirty="0" err="1">
                <a:latin typeface="+mn-ea"/>
                <a:ea typeface="+mn-ea"/>
              </a:rPr>
              <a:t>Dr</a:t>
            </a:r>
            <a:r>
              <a:rPr lang="en-US" altLang="zh-CN" sz="2400" b="1" dirty="0">
                <a:latin typeface="+mn-ea"/>
                <a:ea typeface="+mn-ea"/>
              </a:rPr>
              <a:t>=</a:t>
            </a:r>
            <a:r>
              <a:rPr lang="en-US" altLang="zh-CN" sz="2400" b="1" dirty="0" err="1">
                <a:latin typeface="+mn-ea"/>
                <a:ea typeface="+mn-ea"/>
              </a:rPr>
              <a:t>nN</a:t>
            </a:r>
            <a:r>
              <a:rPr lang="en-US" altLang="zh-CN" sz="2400" b="1" dirty="0">
                <a:latin typeface="+mn-ea"/>
                <a:ea typeface="+mn-ea"/>
              </a:rPr>
              <a:t>(</a:t>
            </a:r>
            <a:r>
              <a:rPr lang="zh-CN" altLang="en-US" sz="2400" b="1" dirty="0">
                <a:latin typeface="+mn-ea"/>
                <a:ea typeface="+mn-ea"/>
              </a:rPr>
              <a:t>字节</a:t>
            </a:r>
            <a:r>
              <a:rPr lang="en-US" altLang="zh-CN" sz="2400" b="1" dirty="0">
                <a:latin typeface="+mn-ea"/>
                <a:ea typeface="+mn-ea"/>
              </a:rPr>
              <a:t>/</a:t>
            </a:r>
            <a:r>
              <a:rPr lang="zh-CN" altLang="en-US" sz="2400" b="1" dirty="0">
                <a:latin typeface="+mn-ea"/>
                <a:ea typeface="+mn-ea"/>
              </a:rPr>
              <a:t>秒</a:t>
            </a:r>
            <a:r>
              <a:rPr lang="en-US" altLang="zh-CN" sz="2400" b="1" dirty="0" smtClean="0">
                <a:latin typeface="+mn-ea"/>
                <a:ea typeface="+mn-ea"/>
              </a:rPr>
              <a:t>)</a:t>
            </a:r>
            <a:r>
              <a:rPr lang="en-US" altLang="zh-CN" sz="2400" dirty="0" smtClean="0">
                <a:latin typeface="+mn-ea"/>
                <a:ea typeface="+mn-ea"/>
              </a:rPr>
              <a:t> </a:t>
            </a:r>
            <a:r>
              <a:rPr lang="zh-CN" altLang="en-US" sz="2400" dirty="0" smtClean="0">
                <a:latin typeface="+mn-ea"/>
                <a:ea typeface="+mn-ea"/>
              </a:rPr>
              <a:t>或 </a:t>
            </a:r>
            <a:r>
              <a:rPr lang="en-US" altLang="zh-CN" sz="2400" dirty="0" err="1">
                <a:latin typeface="+mn-ea"/>
                <a:ea typeface="+mn-ea"/>
              </a:rPr>
              <a:t>Dr</a:t>
            </a:r>
            <a:r>
              <a:rPr lang="en-US" altLang="zh-CN" sz="2400" dirty="0">
                <a:latin typeface="+mn-ea"/>
                <a:ea typeface="+mn-ea"/>
              </a:rPr>
              <a:t>=</a:t>
            </a:r>
            <a:r>
              <a:rPr lang="en-US" altLang="zh-CN" sz="2400" dirty="0" err="1">
                <a:latin typeface="+mn-ea"/>
                <a:ea typeface="+mn-ea"/>
              </a:rPr>
              <a:t>D·v</a:t>
            </a:r>
            <a:r>
              <a:rPr lang="en-US" altLang="zh-CN" sz="2400" dirty="0">
                <a:latin typeface="+mn-ea"/>
                <a:ea typeface="+mn-ea"/>
              </a:rPr>
              <a:t>(</a:t>
            </a:r>
            <a:r>
              <a:rPr lang="zh-CN" altLang="en-US" sz="2400" dirty="0">
                <a:latin typeface="+mn-ea"/>
                <a:ea typeface="+mn-ea"/>
              </a:rPr>
              <a:t>字节</a:t>
            </a:r>
            <a:r>
              <a:rPr lang="en-US" altLang="zh-CN" sz="2400" dirty="0">
                <a:latin typeface="+mn-ea"/>
                <a:ea typeface="+mn-ea"/>
              </a:rPr>
              <a:t>/</a:t>
            </a:r>
            <a:r>
              <a:rPr lang="zh-CN" altLang="en-US" sz="2400" dirty="0">
                <a:latin typeface="+mn-ea"/>
                <a:ea typeface="+mn-ea"/>
              </a:rPr>
              <a:t>秒</a:t>
            </a:r>
            <a:r>
              <a:rPr lang="en-US" altLang="zh-CN" sz="2400" dirty="0">
                <a:latin typeface="+mn-ea"/>
                <a:ea typeface="+mn-ea"/>
              </a:rPr>
              <a:t>)</a:t>
            </a:r>
            <a:endParaRPr lang="en-US" altLang="zh-CN" sz="2400" dirty="0">
              <a:latin typeface="+mn-ea"/>
              <a:ea typeface="+mn-ea"/>
            </a:endParaRPr>
          </a:p>
          <a:p>
            <a:pPr lvl="1">
              <a:lnSpc>
                <a:spcPct val="130000"/>
              </a:lnSpc>
              <a:spcBef>
                <a:spcPts val="0"/>
              </a:spcBef>
              <a:buFont typeface="Wingdings" panose="05000000000000000000" pitchFamily="2" charset="2"/>
              <a:buNone/>
            </a:pPr>
            <a:r>
              <a:rPr lang="en-US" altLang="zh-CN" sz="2400" dirty="0">
                <a:latin typeface="+mn-ea"/>
                <a:ea typeface="+mn-ea"/>
              </a:rPr>
              <a:t>       </a:t>
            </a:r>
            <a:r>
              <a:rPr lang="en-US" altLang="zh-CN" sz="2400" dirty="0" smtClean="0">
                <a:latin typeface="+mn-ea"/>
                <a:ea typeface="+mn-ea"/>
              </a:rPr>
              <a:t>D</a:t>
            </a:r>
            <a:r>
              <a:rPr lang="zh-CN" altLang="en-US" sz="2400" dirty="0">
                <a:latin typeface="+mn-ea"/>
                <a:ea typeface="+mn-ea"/>
              </a:rPr>
              <a:t>为位密度，</a:t>
            </a:r>
            <a:r>
              <a:rPr lang="en-US" altLang="zh-CN" sz="2400" dirty="0">
                <a:latin typeface="+mn-ea"/>
                <a:ea typeface="+mn-ea"/>
              </a:rPr>
              <a:t>v</a:t>
            </a:r>
            <a:r>
              <a:rPr lang="zh-CN" altLang="en-US" sz="2400" dirty="0">
                <a:latin typeface="+mn-ea"/>
                <a:ea typeface="+mn-ea"/>
              </a:rPr>
              <a:t>为磁盘旋转</a:t>
            </a:r>
            <a:r>
              <a:rPr lang="zh-CN" altLang="en-US" sz="2400" dirty="0" smtClean="0">
                <a:latin typeface="+mn-ea"/>
                <a:ea typeface="+mn-ea"/>
              </a:rPr>
              <a:t>线速度</a:t>
            </a:r>
            <a:endParaRPr lang="zh-CN" altLang="en-US" sz="24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6E9357B4-C66E-4669-962F-88A036A98AA9}" type="slidenum">
              <a:rPr lang="en-US" altLang="zh-CN" smtClean="0"/>
            </a:fld>
            <a:endParaRPr lang="en-US" altLang="zh-CN" smtClean="0"/>
          </a:p>
        </p:txBody>
      </p:sp>
      <p:sp>
        <p:nvSpPr>
          <p:cNvPr id="26627" name="Rectangle 3"/>
          <p:cNvSpPr>
            <a:spLocks noGrp="1" noChangeArrowheads="1"/>
          </p:cNvSpPr>
          <p:nvPr>
            <p:ph type="body" idx="1"/>
          </p:nvPr>
        </p:nvSpPr>
        <p:spPr>
          <a:xfrm>
            <a:off x="323850" y="333375"/>
            <a:ext cx="7488238" cy="4751388"/>
          </a:xfrm>
        </p:spPr>
        <p:txBody>
          <a:bodyPr/>
          <a:lstStyle/>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a:t>
            </a:r>
            <a:r>
              <a:rPr lang="zh-CN" altLang="en-US" sz="2400" dirty="0" smtClean="0">
                <a:latin typeface="宋体" panose="02010600030101010101" pitchFamily="2" charset="-122"/>
              </a:rPr>
              <a:t>例</a:t>
            </a:r>
            <a:r>
              <a:rPr lang="en-US" altLang="zh-CN" sz="2400" dirty="0" smtClean="0">
                <a:latin typeface="宋体" panose="02010600030101010101" pitchFamily="2" charset="-122"/>
              </a:rPr>
              <a:t>1】</a:t>
            </a:r>
            <a:r>
              <a:rPr lang="zh-CN" altLang="en-US" sz="2400" dirty="0" smtClean="0">
                <a:latin typeface="宋体" panose="02010600030101010101" pitchFamily="2" charset="-122"/>
              </a:rPr>
              <a:t>磁盘组有</a:t>
            </a:r>
            <a:r>
              <a:rPr lang="en-US" altLang="zh-CN" sz="2400" dirty="0" smtClean="0">
                <a:latin typeface="宋体" panose="02010600030101010101" pitchFamily="2" charset="-122"/>
              </a:rPr>
              <a:t>6</a:t>
            </a:r>
            <a:r>
              <a:rPr lang="zh-CN" altLang="en-US" sz="2400" dirty="0" smtClean="0">
                <a:latin typeface="宋体" panose="02010600030101010101" pitchFamily="2" charset="-122"/>
              </a:rPr>
              <a:t>片磁盘，每片有两个记录面，最上最下两个面不用。存储区域内径</a:t>
            </a:r>
            <a:r>
              <a:rPr lang="en-US" altLang="zh-CN" sz="2400" dirty="0" smtClean="0">
                <a:latin typeface="宋体" panose="02010600030101010101" pitchFamily="2" charset="-122"/>
              </a:rPr>
              <a:t>22cm</a:t>
            </a:r>
            <a:r>
              <a:rPr lang="zh-CN" altLang="en-US" sz="2400" dirty="0" smtClean="0">
                <a:latin typeface="宋体" panose="02010600030101010101" pitchFamily="2" charset="-122"/>
              </a:rPr>
              <a:t>，外径</a:t>
            </a:r>
            <a:r>
              <a:rPr lang="en-US" altLang="zh-CN" sz="2400" dirty="0" smtClean="0">
                <a:latin typeface="宋体" panose="02010600030101010101" pitchFamily="2" charset="-122"/>
              </a:rPr>
              <a:t>33cm</a:t>
            </a:r>
            <a:r>
              <a:rPr lang="zh-CN" altLang="en-US" sz="2400" dirty="0" smtClean="0">
                <a:latin typeface="宋体" panose="02010600030101010101" pitchFamily="2" charset="-122"/>
              </a:rPr>
              <a:t>，道密度为</a:t>
            </a:r>
            <a:r>
              <a:rPr lang="en-US" altLang="zh-CN" sz="2400" dirty="0" smtClean="0">
                <a:latin typeface="宋体" panose="02010600030101010101" pitchFamily="2" charset="-122"/>
              </a:rPr>
              <a:t>40</a:t>
            </a:r>
            <a:r>
              <a:rPr lang="zh-CN" altLang="en-US" sz="2400" dirty="0" smtClean="0">
                <a:latin typeface="宋体" panose="02010600030101010101" pitchFamily="2" charset="-122"/>
              </a:rPr>
              <a:t>道</a:t>
            </a:r>
            <a:r>
              <a:rPr lang="en-US" altLang="zh-CN" sz="2400" dirty="0" smtClean="0">
                <a:latin typeface="宋体" panose="02010600030101010101" pitchFamily="2" charset="-122"/>
              </a:rPr>
              <a:t>/cm</a:t>
            </a:r>
            <a:r>
              <a:rPr lang="zh-CN" altLang="en-US" sz="2400" dirty="0" smtClean="0">
                <a:latin typeface="宋体" panose="02010600030101010101" pitchFamily="2" charset="-122"/>
              </a:rPr>
              <a:t>，内层位密度</a:t>
            </a:r>
            <a:r>
              <a:rPr lang="en-US" altLang="zh-CN" sz="2400" dirty="0" smtClean="0">
                <a:latin typeface="宋体" panose="02010600030101010101" pitchFamily="2" charset="-122"/>
              </a:rPr>
              <a:t>400</a:t>
            </a:r>
            <a:r>
              <a:rPr lang="zh-CN" altLang="en-US" sz="2400" dirty="0" smtClean="0">
                <a:latin typeface="宋体" panose="02010600030101010101" pitchFamily="2" charset="-122"/>
              </a:rPr>
              <a:t>位</a:t>
            </a:r>
            <a:r>
              <a:rPr lang="en-US" altLang="zh-CN" sz="2400" dirty="0" smtClean="0">
                <a:latin typeface="宋体" panose="02010600030101010101" pitchFamily="2" charset="-122"/>
              </a:rPr>
              <a:t>/cm</a:t>
            </a:r>
            <a:r>
              <a:rPr lang="zh-CN" altLang="en-US" sz="2400" dirty="0" smtClean="0">
                <a:latin typeface="宋体" panose="02010600030101010101" pitchFamily="2" charset="-122"/>
              </a:rPr>
              <a:t>，转速</a:t>
            </a:r>
            <a:r>
              <a:rPr lang="en-US" altLang="zh-CN" sz="2400" dirty="0" smtClean="0">
                <a:latin typeface="宋体" panose="02010600030101010101" pitchFamily="2" charset="-122"/>
              </a:rPr>
              <a:t>6000</a:t>
            </a:r>
            <a:r>
              <a:rPr lang="zh-CN" altLang="en-US" sz="2400" dirty="0" smtClean="0">
                <a:latin typeface="宋体" panose="02010600030101010101" pitchFamily="2" charset="-122"/>
              </a:rPr>
              <a:t>转</a:t>
            </a:r>
            <a:r>
              <a:rPr lang="en-US" altLang="zh-CN" sz="2400" dirty="0" smtClean="0">
                <a:latin typeface="宋体" panose="02010600030101010101" pitchFamily="2" charset="-122"/>
              </a:rPr>
              <a:t>/</a:t>
            </a:r>
            <a:r>
              <a:rPr lang="zh-CN" altLang="en-US" sz="2400" dirty="0" smtClean="0">
                <a:latin typeface="宋体" panose="02010600030101010101" pitchFamily="2" charset="-122"/>
              </a:rPr>
              <a:t>分。问：</a:t>
            </a:r>
            <a:endParaRPr lang="zh-CN" altLang="en-US" sz="2400" dirty="0" smtClean="0">
              <a:latin typeface="宋体" panose="02010600030101010101" pitchFamily="2" charset="-122"/>
            </a:endParaRPr>
          </a:p>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(1)</a:t>
            </a:r>
            <a:r>
              <a:rPr lang="zh-CN" altLang="en-US" sz="2400" dirty="0" smtClean="0">
                <a:latin typeface="宋体" panose="02010600030101010101" pitchFamily="2" charset="-122"/>
              </a:rPr>
              <a:t>共有多少柱面</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(2)</a:t>
            </a:r>
            <a:r>
              <a:rPr lang="zh-CN" altLang="en-US" sz="2400" dirty="0" smtClean="0">
                <a:latin typeface="宋体" panose="02010600030101010101" pitchFamily="2" charset="-122"/>
              </a:rPr>
              <a:t>盘组总存储容量是多少</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(3)</a:t>
            </a:r>
            <a:r>
              <a:rPr lang="zh-CN" altLang="en-US" sz="2400" dirty="0" smtClean="0">
                <a:latin typeface="宋体" panose="02010600030101010101" pitchFamily="2" charset="-122"/>
              </a:rPr>
              <a:t>数据传输率多少</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(4)</a:t>
            </a:r>
            <a:r>
              <a:rPr lang="zh-CN" altLang="en-US" sz="2400" dirty="0" smtClean="0">
                <a:latin typeface="宋体" panose="02010600030101010101" pitchFamily="2" charset="-122"/>
              </a:rPr>
              <a:t>采用定长数据块记录格式，直接寻址的最小单位是什么</a:t>
            </a:r>
            <a:r>
              <a:rPr lang="en-US" altLang="zh-CN" sz="2400" dirty="0" smtClean="0">
                <a:latin typeface="宋体" panose="02010600030101010101" pitchFamily="2" charset="-122"/>
              </a:rPr>
              <a:t>?</a:t>
            </a:r>
            <a:r>
              <a:rPr lang="zh-CN" altLang="en-US" sz="2400" dirty="0" smtClean="0">
                <a:latin typeface="宋体" panose="02010600030101010101" pitchFamily="2" charset="-122"/>
              </a:rPr>
              <a:t>寻址命令中如何表示磁盘地址</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a:p>
            <a:pPr eaLnBrk="1" hangingPunct="1">
              <a:lnSpc>
                <a:spcPct val="80000"/>
              </a:lnSpc>
              <a:buFont typeface="Wingdings" panose="05000000000000000000" pitchFamily="2" charset="2"/>
              <a:buNone/>
            </a:pPr>
            <a:r>
              <a:rPr lang="en-US" altLang="zh-CN" sz="2400" dirty="0" smtClean="0">
                <a:latin typeface="宋体" panose="02010600030101010101" pitchFamily="2" charset="-122"/>
              </a:rPr>
              <a:t>(5)</a:t>
            </a:r>
            <a:r>
              <a:rPr lang="zh-CN" altLang="en-US" sz="2400" dirty="0" smtClean="0">
                <a:latin typeface="宋体" panose="02010600030101010101" pitchFamily="2" charset="-122"/>
              </a:rPr>
              <a:t>如果某文件长度超过一个磁道的容量，应将它记录在同一个存储面上，还是记录在同一个柱面上</a:t>
            </a:r>
            <a:r>
              <a:rPr lang="en-US" altLang="zh-CN" sz="2400" dirty="0" smtClean="0">
                <a:latin typeface="宋体" panose="02010600030101010101" pitchFamily="2" charset="-122"/>
              </a:rPr>
              <a:t>?</a:t>
            </a:r>
            <a:endParaRPr lang="en-US" altLang="zh-CN" sz="2400" dirty="0" smtClean="0">
              <a:latin typeface="宋体" panose="02010600030101010101" pitchFamily="2" charset="-122"/>
            </a:endParaRPr>
          </a:p>
        </p:txBody>
      </p:sp>
      <p:sp>
        <p:nvSpPr>
          <p:cNvPr id="26628" name="Rectangle 4"/>
          <p:cNvSpPr>
            <a:spLocks noChangeArrowheads="1"/>
          </p:cNvSpPr>
          <p:nvPr/>
        </p:nvSpPr>
        <p:spPr bwMode="auto">
          <a:xfrm>
            <a:off x="152400" y="4038600"/>
            <a:ext cx="8785225" cy="2647950"/>
          </a:xfrm>
          <a:prstGeom prst="rect">
            <a:avLst/>
          </a:prstGeom>
          <a:solidFill>
            <a:srgbClr val="CCFFFF"/>
          </a:solidFill>
          <a:ln w="9525">
            <a:noFill/>
            <a:miter lim="800000"/>
          </a:ln>
        </p:spPr>
        <p:txBody>
          <a:bodyPr>
            <a:spAutoFit/>
          </a:bodyPr>
          <a:lstStyle/>
          <a:p>
            <a:r>
              <a:rPr lang="zh-CN" altLang="en-US" sz="2400">
                <a:latin typeface="宋体" panose="02010600030101010101" pitchFamily="2" charset="-122"/>
              </a:rPr>
              <a:t>解：</a:t>
            </a:r>
            <a:endParaRPr lang="zh-CN" altLang="en-US" sz="2400">
              <a:latin typeface="宋体" panose="02010600030101010101" pitchFamily="2" charset="-122"/>
            </a:endParaRPr>
          </a:p>
          <a:p>
            <a:r>
              <a:rPr lang="en-US" altLang="zh-CN" sz="2400">
                <a:latin typeface="宋体" panose="02010600030101010101" pitchFamily="2" charset="-122"/>
              </a:rPr>
              <a:t>(1)</a:t>
            </a:r>
            <a:r>
              <a:rPr lang="zh-CN" altLang="en-US" sz="2400">
                <a:latin typeface="宋体" panose="02010600030101010101" pitchFamily="2" charset="-122"/>
              </a:rPr>
              <a:t>有效存储区域</a:t>
            </a:r>
            <a:r>
              <a:rPr lang="en-US" altLang="zh-CN" sz="2400">
                <a:latin typeface="宋体" panose="02010600030101010101" pitchFamily="2" charset="-122"/>
              </a:rPr>
              <a:t>=16.5-11=5.5(cm)</a:t>
            </a:r>
            <a:endParaRPr lang="en-US" altLang="zh-CN" sz="2400">
              <a:latin typeface="宋体" panose="02010600030101010101" pitchFamily="2" charset="-122"/>
            </a:endParaRPr>
          </a:p>
          <a:p>
            <a:r>
              <a:rPr lang="en-US" altLang="zh-CN" sz="2400">
                <a:latin typeface="宋体" panose="02010600030101010101" pitchFamily="2" charset="-122"/>
              </a:rPr>
              <a:t>   </a:t>
            </a:r>
            <a:r>
              <a:rPr lang="zh-CN" altLang="en-US" sz="2400">
                <a:latin typeface="宋体" panose="02010600030101010101" pitchFamily="2" charset="-122"/>
              </a:rPr>
              <a:t>因为道密度</a:t>
            </a:r>
            <a:r>
              <a:rPr lang="en-US" altLang="zh-CN" sz="2400">
                <a:latin typeface="宋体" panose="02010600030101010101" pitchFamily="2" charset="-122"/>
              </a:rPr>
              <a:t>=40</a:t>
            </a:r>
            <a:r>
              <a:rPr lang="zh-CN" altLang="en-US" sz="2400">
                <a:latin typeface="宋体" panose="02010600030101010101" pitchFamily="2" charset="-122"/>
              </a:rPr>
              <a:t>道</a:t>
            </a:r>
            <a:r>
              <a:rPr lang="en-US" altLang="zh-CN" sz="2400">
                <a:latin typeface="宋体" panose="02010600030101010101" pitchFamily="2" charset="-122"/>
              </a:rPr>
              <a:t>/cm</a:t>
            </a:r>
            <a:r>
              <a:rPr lang="zh-CN" altLang="en-US" sz="2400">
                <a:latin typeface="宋体" panose="02010600030101010101" pitchFamily="2" charset="-122"/>
              </a:rPr>
              <a:t>，所以</a:t>
            </a:r>
            <a:r>
              <a:rPr lang="en-US" altLang="zh-CN" sz="2400">
                <a:latin typeface="宋体" panose="02010600030101010101" pitchFamily="2" charset="-122"/>
              </a:rPr>
              <a:t>40×5.5=220</a:t>
            </a:r>
            <a:r>
              <a:rPr lang="zh-CN" altLang="en-US" sz="2400">
                <a:latin typeface="宋体" panose="02010600030101010101" pitchFamily="2" charset="-122"/>
              </a:rPr>
              <a:t>道，即</a:t>
            </a:r>
            <a:r>
              <a:rPr lang="en-US" altLang="zh-CN" sz="2400">
                <a:latin typeface="宋体" panose="02010600030101010101" pitchFamily="2" charset="-122"/>
              </a:rPr>
              <a:t>220</a:t>
            </a:r>
            <a:r>
              <a:rPr lang="zh-CN" altLang="en-US" sz="2400">
                <a:latin typeface="宋体" panose="02010600030101010101" pitchFamily="2" charset="-122"/>
              </a:rPr>
              <a:t>个圆柱面。</a:t>
            </a:r>
            <a:endParaRPr lang="zh-CN" altLang="en-US" sz="2400">
              <a:latin typeface="宋体" panose="02010600030101010101" pitchFamily="2" charset="-122"/>
            </a:endParaRPr>
          </a:p>
          <a:p>
            <a:r>
              <a:rPr lang="en-US" altLang="zh-CN" sz="2400">
                <a:latin typeface="宋体" panose="02010600030101010101" pitchFamily="2" charset="-122"/>
              </a:rPr>
              <a:t>(2)</a:t>
            </a:r>
            <a:r>
              <a:rPr lang="zh-CN" altLang="en-US" sz="2400">
                <a:latin typeface="宋体" panose="02010600030101010101" pitchFamily="2" charset="-122"/>
              </a:rPr>
              <a:t>内层磁道周长为</a:t>
            </a:r>
            <a:r>
              <a:rPr lang="en-US" altLang="zh-CN" sz="2400">
                <a:latin typeface="宋体" panose="02010600030101010101" pitchFamily="2" charset="-122"/>
              </a:rPr>
              <a:t>2πR=2×3.14×11=69.08(cm)</a:t>
            </a:r>
            <a:endParaRPr lang="en-US" altLang="zh-CN" sz="2400">
              <a:latin typeface="宋体" panose="02010600030101010101" pitchFamily="2" charset="-122"/>
            </a:endParaRPr>
          </a:p>
          <a:p>
            <a:r>
              <a:rPr lang="en-US" altLang="zh-CN" sz="2400">
                <a:latin typeface="宋体" panose="02010600030101010101" pitchFamily="2" charset="-122"/>
              </a:rPr>
              <a:t>   </a:t>
            </a:r>
            <a:r>
              <a:rPr lang="zh-CN" altLang="en-US" sz="2400">
                <a:latin typeface="宋体" panose="02010600030101010101" pitchFamily="2" charset="-122"/>
              </a:rPr>
              <a:t>每道信息量</a:t>
            </a:r>
            <a:r>
              <a:rPr lang="en-US" altLang="zh-CN" sz="2400">
                <a:latin typeface="宋体" panose="02010600030101010101" pitchFamily="2" charset="-122"/>
              </a:rPr>
              <a:t>=400</a:t>
            </a:r>
            <a:r>
              <a:rPr lang="zh-CN" altLang="en-US" sz="2400">
                <a:latin typeface="宋体" panose="02010600030101010101" pitchFamily="2" charset="-122"/>
              </a:rPr>
              <a:t>位</a:t>
            </a:r>
            <a:r>
              <a:rPr lang="en-US" altLang="zh-CN" sz="2400">
                <a:latin typeface="宋体" panose="02010600030101010101" pitchFamily="2" charset="-122"/>
              </a:rPr>
              <a:t>/cm×69.08cm=27632</a:t>
            </a:r>
            <a:r>
              <a:rPr lang="zh-CN" altLang="en-US" sz="2400">
                <a:latin typeface="宋体" panose="02010600030101010101" pitchFamily="2" charset="-122"/>
              </a:rPr>
              <a:t>位</a:t>
            </a:r>
            <a:r>
              <a:rPr lang="en-US" altLang="zh-CN" sz="2400">
                <a:latin typeface="宋体" panose="02010600030101010101" pitchFamily="2" charset="-122"/>
              </a:rPr>
              <a:t>=3454B</a:t>
            </a:r>
            <a:endParaRPr lang="en-US" altLang="zh-CN" sz="2400">
              <a:latin typeface="宋体" panose="02010600030101010101" pitchFamily="2" charset="-122"/>
            </a:endParaRPr>
          </a:p>
          <a:p>
            <a:r>
              <a:rPr lang="en-US" altLang="zh-CN" sz="2400">
                <a:latin typeface="宋体" panose="02010600030101010101" pitchFamily="2" charset="-122"/>
              </a:rPr>
              <a:t>   </a:t>
            </a:r>
            <a:r>
              <a:rPr lang="zh-CN" altLang="en-US" sz="2400">
                <a:latin typeface="宋体" panose="02010600030101010101" pitchFamily="2" charset="-122"/>
              </a:rPr>
              <a:t>每面信息量</a:t>
            </a:r>
            <a:r>
              <a:rPr lang="en-US" altLang="zh-CN" sz="2400">
                <a:latin typeface="宋体" panose="02010600030101010101" pitchFamily="2" charset="-122"/>
              </a:rPr>
              <a:t>=3454B×220=759880B</a:t>
            </a:r>
            <a:endParaRPr lang="en-US" altLang="zh-CN" sz="2400">
              <a:latin typeface="宋体" panose="02010600030101010101" pitchFamily="2" charset="-122"/>
            </a:endParaRPr>
          </a:p>
          <a:p>
            <a:r>
              <a:rPr lang="en-US" altLang="zh-CN" sz="2400">
                <a:latin typeface="宋体" panose="02010600030101010101" pitchFamily="2" charset="-122"/>
              </a:rPr>
              <a:t>   </a:t>
            </a:r>
            <a:r>
              <a:rPr lang="zh-CN" altLang="en-US" sz="2400">
                <a:latin typeface="宋体" panose="02010600030101010101" pitchFamily="2" charset="-122"/>
              </a:rPr>
              <a:t>盘组总容量</a:t>
            </a:r>
            <a:r>
              <a:rPr lang="en-US" altLang="zh-CN" sz="2400">
                <a:latin typeface="宋体" panose="02010600030101010101" pitchFamily="2" charset="-122"/>
              </a:rPr>
              <a:t>=759880B×10=7598800B</a:t>
            </a:r>
            <a:endParaRPr lang="en-US" altLang="zh-CN" sz="2400">
              <a:latin typeface="宋体" panose="02010600030101010101" pitchFamily="2" charset="-122"/>
            </a:endParaRPr>
          </a:p>
        </p:txBody>
      </p:sp>
      <p:sp>
        <p:nvSpPr>
          <p:cNvPr id="26629" name="Rectangle 5"/>
          <p:cNvSpPr>
            <a:spLocks noChangeArrowheads="1"/>
          </p:cNvSpPr>
          <p:nvPr/>
        </p:nvSpPr>
        <p:spPr bwMode="auto">
          <a:xfrm>
            <a:off x="152400" y="4114800"/>
            <a:ext cx="8785225" cy="1917700"/>
          </a:xfrm>
          <a:prstGeom prst="rect">
            <a:avLst/>
          </a:prstGeom>
          <a:solidFill>
            <a:srgbClr val="CCFFFF"/>
          </a:solidFill>
          <a:ln w="9525">
            <a:noFill/>
            <a:miter lim="800000"/>
          </a:ln>
        </p:spPr>
        <p:txBody>
          <a:bodyPr>
            <a:spAutoFit/>
          </a:bodyPr>
          <a:lstStyle/>
          <a:p>
            <a:r>
              <a:rPr lang="zh-CN" altLang="en-US" sz="2400">
                <a:latin typeface="宋体" panose="02010600030101010101" pitchFamily="2" charset="-122"/>
              </a:rPr>
              <a:t>解：</a:t>
            </a:r>
            <a:endParaRPr lang="zh-CN" altLang="en-US" sz="2400">
              <a:latin typeface="宋体" panose="02010600030101010101" pitchFamily="2" charset="-122"/>
            </a:endParaRPr>
          </a:p>
          <a:p>
            <a:r>
              <a:rPr lang="en-US" altLang="zh-CN" sz="2400">
                <a:latin typeface="宋体" panose="02010600030101010101" pitchFamily="2" charset="-122"/>
              </a:rPr>
              <a:t>(3)</a:t>
            </a:r>
            <a:r>
              <a:rPr lang="zh-CN" altLang="en-US" sz="2400">
                <a:latin typeface="宋体" panose="02010600030101010101" pitchFamily="2" charset="-122"/>
              </a:rPr>
              <a:t>磁盘数据传输率</a:t>
            </a:r>
            <a:r>
              <a:rPr lang="en-US" altLang="zh-CN" sz="2400">
                <a:latin typeface="宋体" panose="02010600030101010101" pitchFamily="2" charset="-122"/>
              </a:rPr>
              <a:t>Dr=rN</a:t>
            </a:r>
            <a:endParaRPr lang="en-US" altLang="zh-CN" sz="2400">
              <a:latin typeface="宋体" panose="02010600030101010101" pitchFamily="2" charset="-122"/>
            </a:endParaRPr>
          </a:p>
          <a:p>
            <a:r>
              <a:rPr lang="en-US" altLang="zh-CN" sz="2400">
                <a:latin typeface="宋体" panose="02010600030101010101" pitchFamily="2" charset="-122"/>
              </a:rPr>
              <a:t>   N</a:t>
            </a:r>
            <a:r>
              <a:rPr lang="zh-CN" altLang="en-US" sz="2400">
                <a:latin typeface="宋体" panose="02010600030101010101" pitchFamily="2" charset="-122"/>
              </a:rPr>
              <a:t>为每条磁道容量，</a:t>
            </a:r>
            <a:r>
              <a:rPr lang="en-US" altLang="zh-CN" sz="2400">
                <a:latin typeface="宋体" panose="02010600030101010101" pitchFamily="2" charset="-122"/>
              </a:rPr>
              <a:t>N=3454B</a:t>
            </a:r>
            <a:endParaRPr lang="en-US" altLang="zh-CN" sz="2400">
              <a:latin typeface="宋体" panose="02010600030101010101" pitchFamily="2" charset="-122"/>
            </a:endParaRPr>
          </a:p>
          <a:p>
            <a:r>
              <a:rPr lang="en-US" altLang="zh-CN" sz="2400">
                <a:latin typeface="宋体" panose="02010600030101010101" pitchFamily="2" charset="-122"/>
              </a:rPr>
              <a:t>   r</a:t>
            </a:r>
            <a:r>
              <a:rPr lang="zh-CN" altLang="en-US" sz="2400">
                <a:latin typeface="宋体" panose="02010600030101010101" pitchFamily="2" charset="-122"/>
              </a:rPr>
              <a:t>为磁盘转速，</a:t>
            </a:r>
            <a:r>
              <a:rPr lang="en-US" altLang="zh-CN" sz="2400">
                <a:latin typeface="宋体" panose="02010600030101010101" pitchFamily="2" charset="-122"/>
              </a:rPr>
              <a:t>r=6000</a:t>
            </a:r>
            <a:r>
              <a:rPr lang="zh-CN" altLang="en-US" sz="2400">
                <a:latin typeface="宋体" panose="02010600030101010101" pitchFamily="2" charset="-122"/>
              </a:rPr>
              <a:t>转</a:t>
            </a:r>
            <a:r>
              <a:rPr lang="en-US" altLang="zh-CN" sz="2400">
                <a:latin typeface="宋体" panose="02010600030101010101" pitchFamily="2" charset="-122"/>
              </a:rPr>
              <a:t>/60</a:t>
            </a:r>
            <a:r>
              <a:rPr lang="zh-CN" altLang="en-US" sz="2400">
                <a:latin typeface="宋体" panose="02010600030101010101" pitchFamily="2" charset="-122"/>
              </a:rPr>
              <a:t>秒</a:t>
            </a:r>
            <a:r>
              <a:rPr lang="en-US" altLang="zh-CN" sz="2400">
                <a:latin typeface="宋体" panose="02010600030101010101" pitchFamily="2" charset="-122"/>
              </a:rPr>
              <a:t>=100</a:t>
            </a:r>
            <a:r>
              <a:rPr lang="zh-CN" altLang="en-US" sz="2400">
                <a:latin typeface="宋体" panose="02010600030101010101" pitchFamily="2" charset="-122"/>
              </a:rPr>
              <a:t>转</a:t>
            </a:r>
            <a:r>
              <a:rPr lang="en-US" altLang="zh-CN" sz="2400">
                <a:latin typeface="宋体" panose="02010600030101010101" pitchFamily="2" charset="-122"/>
              </a:rPr>
              <a:t>/</a:t>
            </a:r>
            <a:r>
              <a:rPr lang="zh-CN" altLang="en-US" sz="2400">
                <a:latin typeface="宋体" panose="02010600030101010101" pitchFamily="2" charset="-122"/>
              </a:rPr>
              <a:t>秒</a:t>
            </a:r>
            <a:endParaRPr lang="zh-CN" altLang="en-US" sz="2400">
              <a:latin typeface="宋体" panose="02010600030101010101" pitchFamily="2" charset="-122"/>
            </a:endParaRPr>
          </a:p>
          <a:p>
            <a:r>
              <a:rPr lang="zh-CN" altLang="en-US" sz="2400">
                <a:latin typeface="宋体" panose="02010600030101010101" pitchFamily="2" charset="-122"/>
              </a:rPr>
              <a:t>   </a:t>
            </a:r>
            <a:r>
              <a:rPr lang="en-US" altLang="zh-CN" sz="2400">
                <a:latin typeface="宋体" panose="02010600030101010101" pitchFamily="2" charset="-122"/>
              </a:rPr>
              <a:t>Dr=rN=100×3454B=345400B/s</a:t>
            </a:r>
            <a:endParaRPr lang="en-US" altLang="zh-CN" sz="2400">
              <a:latin typeface="宋体" panose="02010600030101010101" pitchFamily="2" charset="-122"/>
            </a:endParaRPr>
          </a:p>
        </p:txBody>
      </p:sp>
      <p:sp>
        <p:nvSpPr>
          <p:cNvPr id="26634" name="Rectangle 10"/>
          <p:cNvSpPr>
            <a:spLocks noChangeArrowheads="1"/>
          </p:cNvSpPr>
          <p:nvPr/>
        </p:nvSpPr>
        <p:spPr bwMode="auto">
          <a:xfrm>
            <a:off x="152400" y="4038600"/>
            <a:ext cx="8785225" cy="1041400"/>
          </a:xfrm>
          <a:prstGeom prst="rect">
            <a:avLst/>
          </a:prstGeom>
          <a:solidFill>
            <a:srgbClr val="CCFFFF"/>
          </a:solidFill>
          <a:ln w="9525">
            <a:noFill/>
            <a:miter lim="800000"/>
          </a:ln>
        </p:spPr>
        <p:txBody>
          <a:bodyPr>
            <a:spAutoFit/>
          </a:bodyPr>
          <a:lstStyle/>
          <a:p>
            <a:r>
              <a:rPr lang="zh-CN" altLang="en-US" sz="2400">
                <a:latin typeface="宋体" panose="02010600030101010101" pitchFamily="2" charset="-122"/>
              </a:rPr>
              <a:t>解：</a:t>
            </a:r>
            <a:endParaRPr lang="zh-CN" altLang="en-US" sz="2400">
              <a:latin typeface="宋体" panose="02010600030101010101" pitchFamily="2" charset="-122"/>
            </a:endParaRPr>
          </a:p>
          <a:p>
            <a:pPr>
              <a:lnSpc>
                <a:spcPct val="80000"/>
              </a:lnSpc>
            </a:pPr>
            <a:r>
              <a:rPr lang="en-US" altLang="zh-CN" sz="2400">
                <a:latin typeface="宋体" panose="02010600030101010101" pitchFamily="2" charset="-122"/>
              </a:rPr>
              <a:t>(5)</a:t>
            </a:r>
            <a:r>
              <a:rPr lang="zh-CN" altLang="en-US" sz="2400">
                <a:latin typeface="宋体" panose="02010600030101010101" pitchFamily="2" charset="-122"/>
              </a:rPr>
              <a:t>如果某文件长度超过一个磁道的容量，应将它记录在同一个柱面上，因为不需要重新找道，数据读</a:t>
            </a:r>
            <a:r>
              <a:rPr lang="en-US" altLang="zh-CN" sz="2400">
                <a:latin typeface="宋体" panose="02010600030101010101" pitchFamily="2" charset="-122"/>
              </a:rPr>
              <a:t>/</a:t>
            </a:r>
            <a:r>
              <a:rPr lang="zh-CN" altLang="en-US" sz="2400">
                <a:latin typeface="宋体" panose="02010600030101010101" pitchFamily="2" charset="-122"/>
              </a:rPr>
              <a:t>写速度快。</a:t>
            </a:r>
            <a:endParaRPr lang="zh-CN" altLang="en-US" sz="2400">
              <a:latin typeface="宋体" panose="02010600030101010101" pitchFamily="2" charset="-122"/>
            </a:endParaRPr>
          </a:p>
        </p:txBody>
      </p:sp>
      <p:grpSp>
        <p:nvGrpSpPr>
          <p:cNvPr id="2" name="Group 12"/>
          <p:cNvGrpSpPr/>
          <p:nvPr/>
        </p:nvGrpSpPr>
        <p:grpSpPr bwMode="auto">
          <a:xfrm>
            <a:off x="162560" y="3429000"/>
            <a:ext cx="8785225" cy="3046413"/>
            <a:chOff x="113" y="2296"/>
            <a:chExt cx="5534" cy="1919"/>
          </a:xfrm>
        </p:grpSpPr>
        <p:sp>
          <p:nvSpPr>
            <p:cNvPr id="26632" name="Rectangle 6"/>
            <p:cNvSpPr>
              <a:spLocks noChangeArrowheads="1"/>
            </p:cNvSpPr>
            <p:nvPr/>
          </p:nvSpPr>
          <p:spPr bwMode="auto">
            <a:xfrm>
              <a:off x="113" y="2296"/>
              <a:ext cx="5534" cy="1919"/>
            </a:xfrm>
            <a:prstGeom prst="rect">
              <a:avLst/>
            </a:prstGeom>
            <a:solidFill>
              <a:srgbClr val="CCFFFF"/>
            </a:solidFill>
            <a:ln w="9525">
              <a:noFill/>
              <a:miter lim="800000"/>
            </a:ln>
          </p:spPr>
          <p:txBody>
            <a:bodyPr>
              <a:spAutoFit/>
            </a:bodyPr>
            <a:lstStyle/>
            <a:p>
              <a:r>
                <a:rPr lang="zh-CN" altLang="en-US" sz="2400">
                  <a:latin typeface="宋体" panose="02010600030101010101" pitchFamily="2" charset="-122"/>
                </a:rPr>
                <a:t>解：</a:t>
              </a:r>
              <a:endParaRPr lang="zh-CN" altLang="en-US" sz="2400">
                <a:latin typeface="宋体" panose="02010600030101010101" pitchFamily="2" charset="-122"/>
              </a:endParaRPr>
            </a:p>
            <a:p>
              <a:r>
                <a:rPr lang="en-US" altLang="zh-CN" sz="2400">
                  <a:latin typeface="宋体" panose="02010600030101010101" pitchFamily="2" charset="-122"/>
                </a:rPr>
                <a:t>(4) </a:t>
              </a:r>
              <a:r>
                <a:rPr lang="zh-CN" altLang="en-US" sz="2400">
                  <a:latin typeface="宋体" panose="02010600030101010101" pitchFamily="2" charset="-122"/>
                </a:rPr>
                <a:t>采用定长数据块格式，直接寻址的最小单位是一个记录块</a:t>
              </a:r>
              <a:r>
                <a:rPr lang="en-US" altLang="zh-CN" sz="2400">
                  <a:latin typeface="宋体" panose="02010600030101010101" pitchFamily="2" charset="-122"/>
                </a:rPr>
                <a:t>(</a:t>
              </a:r>
              <a:r>
                <a:rPr lang="zh-CN" altLang="en-US" sz="2400">
                  <a:latin typeface="宋体" panose="02010600030101010101" pitchFamily="2" charset="-122"/>
                </a:rPr>
                <a:t>一个扇区</a:t>
              </a:r>
              <a:r>
                <a:rPr lang="en-US" altLang="zh-CN" sz="2400">
                  <a:latin typeface="宋体" panose="02010600030101010101" pitchFamily="2" charset="-122"/>
                </a:rPr>
                <a:t>)</a:t>
              </a:r>
              <a:r>
                <a:rPr lang="zh-CN" altLang="en-US" sz="2400">
                  <a:latin typeface="宋体" panose="02010600030101010101" pitchFamily="2" charset="-122"/>
                </a:rPr>
                <a:t>，每个记录块记录固定字节数目的信息，在定长记录的数据块中，活动头磁盘组的编址方式可用如下格式：</a:t>
              </a:r>
              <a:endParaRPr lang="zh-CN" altLang="en-US" sz="2400">
                <a:latin typeface="宋体" panose="02010600030101010101" pitchFamily="2" charset="-122"/>
              </a:endParaRPr>
            </a:p>
            <a:p>
              <a:endParaRPr lang="zh-CN" altLang="en-US" sz="2400">
                <a:latin typeface="宋体" panose="02010600030101010101" pitchFamily="2" charset="-122"/>
              </a:endParaRPr>
            </a:p>
            <a:p>
              <a:endParaRPr lang="zh-CN" altLang="en-US" sz="2400">
                <a:latin typeface="宋体" panose="02010600030101010101" pitchFamily="2" charset="-122"/>
              </a:endParaRPr>
            </a:p>
            <a:p>
              <a:r>
                <a:rPr lang="zh-CN" altLang="en-US" sz="2400">
                  <a:latin typeface="宋体" panose="02010600030101010101" pitchFamily="2" charset="-122"/>
                </a:rPr>
                <a:t>   此地址格式表示有</a:t>
              </a:r>
              <a:r>
                <a:rPr lang="en-US" altLang="zh-CN" sz="2400">
                  <a:latin typeface="宋体" panose="02010600030101010101" pitchFamily="2" charset="-122"/>
                </a:rPr>
                <a:t>4</a:t>
              </a:r>
              <a:r>
                <a:rPr lang="zh-CN" altLang="en-US" sz="2400">
                  <a:latin typeface="宋体" panose="02010600030101010101" pitchFamily="2" charset="-122"/>
                </a:rPr>
                <a:t>台磁盘（</a:t>
              </a:r>
              <a:r>
                <a:rPr lang="en-US" altLang="zh-CN" sz="2400">
                  <a:latin typeface="宋体" panose="02010600030101010101" pitchFamily="2" charset="-122"/>
                </a:rPr>
                <a:t>2</a:t>
              </a:r>
              <a:r>
                <a:rPr lang="zh-CN" altLang="en-US" sz="2400">
                  <a:latin typeface="宋体" panose="02010600030101010101" pitchFamily="2" charset="-122"/>
                </a:rPr>
                <a:t>位），</a:t>
              </a:r>
              <a:r>
                <a:rPr lang="zh-CN" altLang="en-US" sz="2400">
                  <a:latin typeface="宋体" panose="02010600030101010101" pitchFamily="2" charset="-122"/>
                  <a:sym typeface="+mn-ea"/>
                </a:rPr>
                <a:t>每面有</a:t>
              </a:r>
              <a:r>
                <a:rPr lang="en-US" altLang="zh-CN" sz="2400">
                  <a:latin typeface="宋体" panose="02010600030101010101" pitchFamily="2" charset="-122"/>
                  <a:sym typeface="+mn-ea"/>
                </a:rPr>
                <a:t>256</a:t>
              </a:r>
              <a:r>
                <a:rPr lang="zh-CN" altLang="en-US" sz="2400">
                  <a:latin typeface="宋体" panose="02010600030101010101" pitchFamily="2" charset="-122"/>
                  <a:sym typeface="+mn-ea"/>
                </a:rPr>
                <a:t>个磁道（</a:t>
              </a:r>
              <a:r>
                <a:rPr lang="en-US" altLang="zh-CN" sz="2400">
                  <a:latin typeface="宋体" panose="02010600030101010101" pitchFamily="2" charset="-122"/>
                  <a:sym typeface="+mn-ea"/>
                </a:rPr>
                <a:t>8</a:t>
              </a:r>
              <a:r>
                <a:rPr lang="zh-CN" altLang="en-US" sz="2400">
                  <a:latin typeface="宋体" panose="02010600030101010101" pitchFamily="2" charset="-122"/>
                  <a:sym typeface="+mn-ea"/>
                </a:rPr>
                <a:t>位），</a:t>
              </a:r>
              <a:r>
                <a:rPr lang="zh-CN" altLang="en-US" sz="2400">
                  <a:latin typeface="宋体" panose="02010600030101010101" pitchFamily="2" charset="-122"/>
                </a:rPr>
                <a:t>有</a:t>
              </a:r>
              <a:r>
                <a:rPr lang="en-US" altLang="zh-CN" sz="2400">
                  <a:latin typeface="宋体" panose="02010600030101010101" pitchFamily="2" charset="-122"/>
                </a:rPr>
                <a:t>16</a:t>
              </a:r>
              <a:r>
                <a:rPr lang="zh-CN" altLang="en-US" sz="2400">
                  <a:latin typeface="宋体" panose="02010600030101010101" pitchFamily="2" charset="-122"/>
                </a:rPr>
                <a:t>个记录面</a:t>
              </a:r>
              <a:r>
                <a:rPr lang="en-US" altLang="zh-CN" sz="2400">
                  <a:latin typeface="宋体" panose="02010600030101010101" pitchFamily="2" charset="-122"/>
                </a:rPr>
                <a:t>/</a:t>
              </a:r>
              <a:r>
                <a:rPr lang="zh-CN" altLang="en-US" sz="2400">
                  <a:latin typeface="宋体" panose="02010600030101010101" pitchFamily="2" charset="-122"/>
                </a:rPr>
                <a:t>盘面（</a:t>
              </a:r>
              <a:r>
                <a:rPr lang="en-US" altLang="zh-CN" sz="2400">
                  <a:latin typeface="宋体" panose="02010600030101010101" pitchFamily="2" charset="-122"/>
                </a:rPr>
                <a:t>4</a:t>
              </a:r>
              <a:r>
                <a:rPr lang="zh-CN" altLang="en-US" sz="2400">
                  <a:latin typeface="宋体" panose="02010600030101010101" pitchFamily="2" charset="-122"/>
                </a:rPr>
                <a:t>位），每道有</a:t>
              </a:r>
              <a:r>
                <a:rPr lang="en-US" altLang="zh-CN" sz="2400">
                  <a:latin typeface="宋体" panose="02010600030101010101" pitchFamily="2" charset="-122"/>
                </a:rPr>
                <a:t>16</a:t>
              </a:r>
              <a:r>
                <a:rPr lang="zh-CN" altLang="en-US" sz="2400">
                  <a:latin typeface="宋体" panose="02010600030101010101" pitchFamily="2" charset="-122"/>
                </a:rPr>
                <a:t>个扇区（</a:t>
              </a:r>
              <a:r>
                <a:rPr lang="en-US" altLang="zh-CN" sz="2400">
                  <a:latin typeface="宋体" panose="02010600030101010101" pitchFamily="2" charset="-122"/>
                </a:rPr>
                <a:t>4</a:t>
              </a:r>
              <a:r>
                <a:rPr lang="zh-CN" altLang="en-US" sz="2400">
                  <a:latin typeface="宋体" panose="02010600030101010101" pitchFamily="2" charset="-122"/>
                </a:rPr>
                <a:t>位）。</a:t>
              </a:r>
              <a:endParaRPr lang="zh-CN" altLang="en-US" sz="2400">
                <a:latin typeface="宋体" panose="02010600030101010101" pitchFamily="2" charset="-122"/>
              </a:endParaRPr>
            </a:p>
          </p:txBody>
        </p:sp>
        <p:pic>
          <p:nvPicPr>
            <p:cNvPr id="26633" name="Picture 11"/>
            <p:cNvPicPr>
              <a:picLocks noChangeAspect="1" noChangeArrowheads="1"/>
            </p:cNvPicPr>
            <p:nvPr/>
          </p:nvPicPr>
          <p:blipFill>
            <a:blip r:embed="rId1"/>
            <a:srcRect/>
            <a:stretch>
              <a:fillRect/>
            </a:stretch>
          </p:blipFill>
          <p:spPr bwMode="auto">
            <a:xfrm>
              <a:off x="476" y="3294"/>
              <a:ext cx="4672" cy="384"/>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dissolve">
                                      <p:cBhvr>
                                        <p:cTn id="7" dur="500"/>
                                        <p:tgtEl>
                                          <p:spTgt spid="26628"/>
                                        </p:tgtEl>
                                      </p:cBhvr>
                                    </p:animEffect>
                                  </p:childTnLst>
                                  <p:subTnLst>
                                    <p:set>
                                      <p:cBhvr override="childStyle">
                                        <p:cTn dur="1" fill="hold" display="0" masterRel="nextClick" afterEffect="1"/>
                                        <p:tgtEl>
                                          <p:spTgt spid="2662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dissolve">
                                      <p:cBhvr>
                                        <p:cTn id="12" dur="500"/>
                                        <p:tgtEl>
                                          <p:spTgt spid="26629"/>
                                        </p:tgtEl>
                                      </p:cBhvr>
                                    </p:animEffect>
                                  </p:childTnLst>
                                  <p:subTnLst>
                                    <p:set>
                                      <p:cBhvr override="childStyle">
                                        <p:cTn dur="1" fill="hold" display="0" masterRel="nextClick" afterEffect="1"/>
                                        <p:tgtEl>
                                          <p:spTgt spid="26629"/>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634"/>
                                        </p:tgtEl>
                                        <p:attrNameLst>
                                          <p:attrName>style.visibility</p:attrName>
                                        </p:attrNameLst>
                                      </p:cBhvr>
                                      <p:to>
                                        <p:strVal val="visible"/>
                                      </p:to>
                                    </p:set>
                                    <p:animEffect transition="in" filter="dissolve">
                                      <p:cBhvr>
                                        <p:cTn id="22" dur="5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autoUpdateAnimBg="0"/>
      <p:bldP spid="26629" grpId="0" animBg="1" autoUpdateAnimBg="0"/>
      <p:bldP spid="26634"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p>
            <a:fld id="{6E9357B4-C66E-4669-962F-88A036A98AA9}" type="slidenum">
              <a:rPr lang="en-US" altLang="zh-CN" smtClean="0"/>
            </a:fld>
            <a:endParaRPr lang="en-US" altLang="zh-CN" smtClean="0"/>
          </a:p>
        </p:txBody>
      </p:sp>
      <p:sp>
        <p:nvSpPr>
          <p:cNvPr id="26627" name="Rectangle 3"/>
          <p:cNvSpPr>
            <a:spLocks noGrp="1" noChangeArrowheads="1"/>
          </p:cNvSpPr>
          <p:nvPr>
            <p:ph type="body" idx="1"/>
          </p:nvPr>
        </p:nvSpPr>
        <p:spPr>
          <a:xfrm>
            <a:off x="323850" y="333375"/>
            <a:ext cx="7560518" cy="1295425"/>
          </a:xfrm>
        </p:spPr>
        <p:txBody>
          <a:bodyPr/>
          <a:lstStyle/>
          <a:p>
            <a:pPr marL="0" indent="0">
              <a:buNone/>
            </a:pPr>
            <a:r>
              <a:rPr lang="en-US" altLang="zh-CN" sz="2400" dirty="0" smtClean="0">
                <a:latin typeface="+mn-ea"/>
              </a:rPr>
              <a:t>【</a:t>
            </a:r>
            <a:r>
              <a:rPr lang="zh-CN" altLang="en-US" sz="2400" dirty="0" smtClean="0">
                <a:latin typeface="+mn-ea"/>
              </a:rPr>
              <a:t>例</a:t>
            </a:r>
            <a:r>
              <a:rPr lang="en-US" altLang="zh-CN" sz="2400" dirty="0" smtClean="0">
                <a:latin typeface="+mn-ea"/>
              </a:rPr>
              <a:t>2】</a:t>
            </a:r>
            <a:r>
              <a:rPr lang="zh-CN" altLang="zh-CN" sz="2400" dirty="0" smtClean="0">
                <a:latin typeface="+mn-ea"/>
              </a:rPr>
              <a:t>某</a:t>
            </a:r>
            <a:r>
              <a:rPr lang="zh-CN" altLang="zh-CN" sz="2400" dirty="0">
                <a:latin typeface="+mn-ea"/>
              </a:rPr>
              <a:t>磁盘平均寻道时间为</a:t>
            </a:r>
            <a:r>
              <a:rPr lang="en-US" altLang="zh-CN" sz="2400" dirty="0">
                <a:latin typeface="+mn-ea"/>
              </a:rPr>
              <a:t>20ms</a:t>
            </a:r>
            <a:r>
              <a:rPr lang="zh-CN" altLang="zh-CN" sz="2400" dirty="0">
                <a:latin typeface="+mn-ea"/>
              </a:rPr>
              <a:t>，数据传输速率</a:t>
            </a:r>
            <a:r>
              <a:rPr lang="zh-CN" altLang="zh-CN" sz="2400" dirty="0" smtClean="0">
                <a:latin typeface="+mn-ea"/>
              </a:rPr>
              <a:t>为</a:t>
            </a:r>
            <a:endParaRPr lang="en-US" altLang="zh-CN" sz="2400" dirty="0" smtClean="0">
              <a:latin typeface="+mn-ea"/>
            </a:endParaRPr>
          </a:p>
          <a:p>
            <a:pPr marL="0" indent="0">
              <a:buNone/>
            </a:pPr>
            <a:r>
              <a:rPr lang="en-US" altLang="zh-CN" sz="2400" dirty="0">
                <a:latin typeface="+mn-ea"/>
              </a:rPr>
              <a:t> </a:t>
            </a:r>
            <a:r>
              <a:rPr lang="en-US" altLang="zh-CN" sz="2400" dirty="0" smtClean="0">
                <a:latin typeface="+mn-ea"/>
              </a:rPr>
              <a:t>      2MB/s</a:t>
            </a:r>
            <a:r>
              <a:rPr lang="zh-CN" altLang="zh-CN" sz="2400" dirty="0">
                <a:latin typeface="+mn-ea"/>
              </a:rPr>
              <a:t>，控制器延迟为</a:t>
            </a:r>
            <a:r>
              <a:rPr lang="en-US" altLang="zh-CN" sz="2400" dirty="0">
                <a:latin typeface="+mn-ea"/>
              </a:rPr>
              <a:t>2ms</a:t>
            </a:r>
            <a:r>
              <a:rPr lang="zh-CN" altLang="zh-CN" sz="2400" dirty="0">
                <a:latin typeface="+mn-ea"/>
              </a:rPr>
              <a:t>，转速为</a:t>
            </a:r>
            <a:r>
              <a:rPr lang="en-US" altLang="zh-CN" sz="2400" dirty="0">
                <a:latin typeface="+mn-ea"/>
              </a:rPr>
              <a:t>5000</a:t>
            </a:r>
            <a:r>
              <a:rPr lang="zh-CN" altLang="zh-CN" sz="2400" dirty="0">
                <a:latin typeface="+mn-ea"/>
              </a:rPr>
              <a:t>转</a:t>
            </a:r>
            <a:r>
              <a:rPr lang="en-US" altLang="zh-CN" sz="2400" dirty="0">
                <a:latin typeface="+mn-ea"/>
              </a:rPr>
              <a:t>/</a:t>
            </a:r>
            <a:r>
              <a:rPr lang="zh-CN" altLang="zh-CN" sz="2400" dirty="0">
                <a:latin typeface="+mn-ea"/>
              </a:rPr>
              <a:t>分</a:t>
            </a:r>
            <a:r>
              <a:rPr lang="zh-CN" altLang="zh-CN" sz="2400" dirty="0" smtClean="0">
                <a:latin typeface="+mn-ea"/>
              </a:rPr>
              <a:t>。</a:t>
            </a:r>
            <a:endParaRPr lang="en-US" altLang="zh-CN" sz="2400" dirty="0" smtClean="0">
              <a:latin typeface="+mn-ea"/>
            </a:endParaRPr>
          </a:p>
          <a:p>
            <a:pPr marL="0" indent="0">
              <a:buNone/>
            </a:pPr>
            <a:r>
              <a:rPr lang="en-US" altLang="zh-CN" sz="2400" dirty="0">
                <a:latin typeface="+mn-ea"/>
              </a:rPr>
              <a:t> </a:t>
            </a:r>
            <a:r>
              <a:rPr lang="en-US" altLang="zh-CN" sz="2400" dirty="0" smtClean="0">
                <a:latin typeface="+mn-ea"/>
              </a:rPr>
              <a:t>      </a:t>
            </a:r>
            <a:r>
              <a:rPr lang="zh-CN" altLang="zh-CN" sz="2400" dirty="0" smtClean="0">
                <a:latin typeface="+mn-ea"/>
              </a:rPr>
              <a:t>试</a:t>
            </a:r>
            <a:r>
              <a:rPr lang="zh-CN" altLang="zh-CN" sz="2400" dirty="0">
                <a:latin typeface="+mn-ea"/>
              </a:rPr>
              <a:t>计算读写一个扇区</a:t>
            </a:r>
            <a:r>
              <a:rPr lang="en-US" altLang="zh-CN" sz="2400" dirty="0">
                <a:latin typeface="+mn-ea"/>
              </a:rPr>
              <a:t>(512</a:t>
            </a:r>
            <a:r>
              <a:rPr lang="zh-CN" altLang="zh-CN" sz="2400" dirty="0">
                <a:latin typeface="+mn-ea"/>
              </a:rPr>
              <a:t>个字节</a:t>
            </a:r>
            <a:r>
              <a:rPr lang="en-US" altLang="zh-CN" sz="2400" dirty="0">
                <a:latin typeface="+mn-ea"/>
              </a:rPr>
              <a:t>)</a:t>
            </a:r>
            <a:r>
              <a:rPr lang="zh-CN" altLang="zh-CN" sz="2400" dirty="0">
                <a:latin typeface="+mn-ea"/>
              </a:rPr>
              <a:t>的平均时间</a:t>
            </a:r>
            <a:r>
              <a:rPr lang="zh-CN" altLang="zh-CN" sz="2400" dirty="0" smtClean="0">
                <a:latin typeface="+mn-ea"/>
              </a:rPr>
              <a:t>。</a:t>
            </a:r>
            <a:endParaRPr lang="en-US" altLang="zh-CN" sz="2400" dirty="0" smtClean="0">
              <a:latin typeface="+mn-ea"/>
            </a:endParaRPr>
          </a:p>
        </p:txBody>
      </p:sp>
      <p:sp>
        <p:nvSpPr>
          <p:cNvPr id="26629" name="Rectangle 5"/>
          <p:cNvSpPr>
            <a:spLocks noChangeArrowheads="1"/>
          </p:cNvSpPr>
          <p:nvPr/>
        </p:nvSpPr>
        <p:spPr bwMode="auto">
          <a:xfrm>
            <a:off x="467544" y="1988840"/>
            <a:ext cx="8271839" cy="2861310"/>
          </a:xfrm>
          <a:prstGeom prst="rect">
            <a:avLst/>
          </a:prstGeom>
          <a:solidFill>
            <a:srgbClr val="CCFFFF"/>
          </a:solidFill>
          <a:ln w="9525">
            <a:noFill/>
            <a:miter lim="800000"/>
          </a:ln>
        </p:spPr>
        <p:txBody>
          <a:bodyPr wrap="square">
            <a:spAutoFit/>
          </a:bodyPr>
          <a:lstStyle/>
          <a:p>
            <a:pPr marL="0" indent="0">
              <a:lnSpc>
                <a:spcPct val="150000"/>
              </a:lnSpc>
              <a:buNone/>
            </a:pPr>
            <a:r>
              <a:rPr lang="zh-CN" altLang="en-US" sz="2400" dirty="0">
                <a:latin typeface="+mn-ea"/>
                <a:ea typeface="+mn-ea"/>
              </a:rPr>
              <a:t>解</a:t>
            </a:r>
            <a:r>
              <a:rPr lang="zh-CN" altLang="en-US" sz="2400" dirty="0" smtClean="0">
                <a:latin typeface="+mn-ea"/>
                <a:ea typeface="+mn-ea"/>
              </a:rPr>
              <a:t>：</a:t>
            </a:r>
            <a:r>
              <a:rPr lang="zh-CN" altLang="zh-CN" sz="2400" dirty="0" smtClean="0">
                <a:latin typeface="+mn-ea"/>
                <a:ea typeface="+mn-ea"/>
              </a:rPr>
              <a:t>转速</a:t>
            </a:r>
            <a:r>
              <a:rPr lang="zh-CN" altLang="zh-CN" sz="2400" dirty="0">
                <a:latin typeface="+mn-ea"/>
                <a:ea typeface="+mn-ea"/>
              </a:rPr>
              <a:t>为</a:t>
            </a:r>
            <a:r>
              <a:rPr lang="en-US" altLang="zh-CN" sz="2400" dirty="0">
                <a:latin typeface="+mn-ea"/>
                <a:ea typeface="+mn-ea"/>
              </a:rPr>
              <a:t>5000</a:t>
            </a:r>
            <a:r>
              <a:rPr lang="zh-CN" altLang="zh-CN" sz="2400" dirty="0">
                <a:latin typeface="+mn-ea"/>
                <a:ea typeface="+mn-ea"/>
              </a:rPr>
              <a:t>转</a:t>
            </a:r>
            <a:r>
              <a:rPr lang="en-US" altLang="zh-CN" sz="2400" dirty="0">
                <a:latin typeface="+mn-ea"/>
                <a:ea typeface="+mn-ea"/>
              </a:rPr>
              <a:t>/</a:t>
            </a:r>
            <a:r>
              <a:rPr lang="zh-CN" altLang="zh-CN" sz="2400" dirty="0">
                <a:latin typeface="+mn-ea"/>
                <a:ea typeface="+mn-ea"/>
              </a:rPr>
              <a:t>分，周期为</a:t>
            </a:r>
            <a:r>
              <a:rPr lang="en-US" altLang="zh-CN" sz="2400" dirty="0">
                <a:latin typeface="+mn-ea"/>
                <a:ea typeface="+mn-ea"/>
              </a:rPr>
              <a:t>60*1000/5000=12ms</a:t>
            </a:r>
            <a:r>
              <a:rPr lang="zh-CN" altLang="zh-CN" sz="2400" dirty="0" smtClean="0">
                <a:latin typeface="+mn-ea"/>
                <a:ea typeface="+mn-ea"/>
              </a:rPr>
              <a:t>，</a:t>
            </a:r>
            <a:endParaRPr lang="en-US" altLang="zh-CN" sz="2400" dirty="0" smtClean="0">
              <a:latin typeface="+mn-ea"/>
              <a:ea typeface="+mn-ea"/>
            </a:endParaRPr>
          </a:p>
          <a:p>
            <a:pPr marL="0" indent="0">
              <a:lnSpc>
                <a:spcPct val="150000"/>
              </a:lnSpc>
              <a:buNone/>
            </a:pPr>
            <a:r>
              <a:rPr lang="en-US" altLang="zh-CN" sz="2400" dirty="0">
                <a:latin typeface="+mn-ea"/>
                <a:ea typeface="+mn-ea"/>
              </a:rPr>
              <a:t> </a:t>
            </a:r>
            <a:r>
              <a:rPr lang="en-US" altLang="zh-CN" sz="2400" dirty="0" smtClean="0">
                <a:latin typeface="+mn-ea"/>
                <a:ea typeface="+mn-ea"/>
              </a:rPr>
              <a:t>   </a:t>
            </a:r>
            <a:r>
              <a:rPr lang="zh-CN" altLang="zh-CN" sz="2400" dirty="0" smtClean="0">
                <a:latin typeface="+mn-ea"/>
                <a:ea typeface="+mn-ea"/>
              </a:rPr>
              <a:t>平均</a:t>
            </a:r>
            <a:r>
              <a:rPr lang="zh-CN" altLang="zh-CN" sz="2400" dirty="0">
                <a:latin typeface="+mn-ea"/>
                <a:ea typeface="+mn-ea"/>
              </a:rPr>
              <a:t>等待时间</a:t>
            </a:r>
            <a:r>
              <a:rPr lang="en-US" altLang="zh-CN" sz="2400" dirty="0">
                <a:latin typeface="+mn-ea"/>
                <a:ea typeface="+mn-ea"/>
              </a:rPr>
              <a:t>6ms</a:t>
            </a:r>
            <a:r>
              <a:rPr lang="zh-CN" altLang="zh-CN" sz="2400" dirty="0">
                <a:latin typeface="+mn-ea"/>
                <a:ea typeface="+mn-ea"/>
              </a:rPr>
              <a:t>；</a:t>
            </a:r>
            <a:endParaRPr lang="zh-CN" altLang="zh-CN" sz="2400" dirty="0">
              <a:latin typeface="+mn-ea"/>
              <a:ea typeface="+mn-ea"/>
            </a:endParaRPr>
          </a:p>
          <a:p>
            <a:pPr marL="0" indent="0">
              <a:lnSpc>
                <a:spcPct val="150000"/>
              </a:lnSpc>
              <a:buNone/>
            </a:pPr>
            <a:r>
              <a:rPr lang="en-US" altLang="zh-CN" sz="2400" dirty="0" smtClean="0">
                <a:latin typeface="+mn-ea"/>
                <a:ea typeface="+mn-ea"/>
              </a:rPr>
              <a:t>    </a:t>
            </a:r>
            <a:r>
              <a:rPr lang="zh-CN" altLang="zh-CN" sz="2400" dirty="0" smtClean="0">
                <a:latin typeface="+mn-ea"/>
                <a:ea typeface="+mn-ea"/>
              </a:rPr>
              <a:t>数据</a:t>
            </a:r>
            <a:r>
              <a:rPr lang="zh-CN" altLang="zh-CN" sz="2400" dirty="0">
                <a:latin typeface="+mn-ea"/>
                <a:ea typeface="+mn-ea"/>
              </a:rPr>
              <a:t>传输速率为</a:t>
            </a:r>
            <a:r>
              <a:rPr lang="en-US" altLang="zh-CN" sz="2400" dirty="0">
                <a:latin typeface="+mn-ea"/>
                <a:ea typeface="+mn-ea"/>
              </a:rPr>
              <a:t>2MB/s</a:t>
            </a:r>
            <a:r>
              <a:rPr lang="zh-CN" altLang="zh-CN" sz="2400" dirty="0">
                <a:latin typeface="+mn-ea"/>
                <a:ea typeface="+mn-ea"/>
              </a:rPr>
              <a:t>，传输时间</a:t>
            </a:r>
            <a:r>
              <a:rPr lang="en-US" altLang="zh-CN" sz="2400" dirty="0">
                <a:latin typeface="+mn-ea"/>
                <a:ea typeface="+mn-ea"/>
              </a:rPr>
              <a:t>512/(2*2</a:t>
            </a:r>
            <a:r>
              <a:rPr lang="en-US" altLang="zh-CN" sz="2400" baseline="30000" dirty="0">
                <a:latin typeface="+mn-ea"/>
                <a:ea typeface="+mn-ea"/>
              </a:rPr>
              <a:t>20</a:t>
            </a:r>
            <a:r>
              <a:rPr lang="en-US" altLang="zh-CN" sz="2400" dirty="0">
                <a:latin typeface="+mn-ea"/>
                <a:ea typeface="+mn-ea"/>
              </a:rPr>
              <a:t>)s=0.25ms</a:t>
            </a:r>
            <a:r>
              <a:rPr lang="zh-CN" altLang="zh-CN" sz="2400" dirty="0">
                <a:latin typeface="+mn-ea"/>
                <a:ea typeface="+mn-ea"/>
              </a:rPr>
              <a:t>。</a:t>
            </a:r>
            <a:endParaRPr lang="zh-CN" altLang="zh-CN" sz="2400" dirty="0">
              <a:latin typeface="+mn-ea"/>
              <a:ea typeface="+mn-ea"/>
            </a:endParaRPr>
          </a:p>
          <a:p>
            <a:pPr marL="0" indent="0">
              <a:lnSpc>
                <a:spcPct val="150000"/>
              </a:lnSpc>
              <a:buNone/>
            </a:pPr>
            <a:r>
              <a:rPr lang="en-US" altLang="zh-CN" sz="2400" dirty="0" smtClean="0">
                <a:latin typeface="+mn-ea"/>
                <a:ea typeface="+mn-ea"/>
              </a:rPr>
              <a:t>    </a:t>
            </a:r>
            <a:r>
              <a:rPr lang="zh-CN" altLang="zh-CN" sz="2400" dirty="0" smtClean="0">
                <a:latin typeface="+mn-ea"/>
                <a:ea typeface="+mn-ea"/>
              </a:rPr>
              <a:t>平均</a:t>
            </a:r>
            <a:r>
              <a:rPr lang="zh-CN" altLang="zh-CN" sz="2400" dirty="0">
                <a:latin typeface="+mn-ea"/>
                <a:ea typeface="+mn-ea"/>
              </a:rPr>
              <a:t>读写</a:t>
            </a:r>
            <a:r>
              <a:rPr lang="zh-CN" altLang="zh-CN" sz="2400" dirty="0">
                <a:latin typeface="+mn-ea"/>
                <a:ea typeface="+mn-ea"/>
              </a:rPr>
              <a:t>时间</a:t>
            </a:r>
            <a:r>
              <a:rPr lang="en-US" altLang="zh-CN" sz="2400" dirty="0">
                <a:latin typeface="+mn-ea"/>
                <a:ea typeface="+mn-ea"/>
              </a:rPr>
              <a:t>=</a:t>
            </a:r>
            <a:r>
              <a:rPr lang="zh-CN" altLang="zh-CN" sz="2400" dirty="0">
                <a:latin typeface="+mn-ea"/>
                <a:ea typeface="+mn-ea"/>
              </a:rPr>
              <a:t>平均寻道时间</a:t>
            </a:r>
            <a:r>
              <a:rPr lang="en-US" altLang="zh-CN" sz="2400" dirty="0">
                <a:latin typeface="+mn-ea"/>
                <a:ea typeface="+mn-ea"/>
              </a:rPr>
              <a:t>+</a:t>
            </a:r>
            <a:r>
              <a:rPr lang="zh-CN" altLang="zh-CN" sz="2400" dirty="0">
                <a:latin typeface="+mn-ea"/>
                <a:ea typeface="+mn-ea"/>
              </a:rPr>
              <a:t>平均等待时间</a:t>
            </a:r>
            <a:r>
              <a:rPr lang="en-US" altLang="zh-CN" sz="2400" dirty="0">
                <a:latin typeface="+mn-ea"/>
                <a:ea typeface="+mn-ea"/>
              </a:rPr>
              <a:t>+</a:t>
            </a:r>
            <a:r>
              <a:rPr lang="zh-CN" altLang="zh-CN" sz="2400" dirty="0">
                <a:latin typeface="+mn-ea"/>
                <a:ea typeface="+mn-ea"/>
              </a:rPr>
              <a:t>传输时间</a:t>
            </a:r>
            <a:r>
              <a:rPr lang="en-US" altLang="zh-CN" sz="2400" dirty="0">
                <a:latin typeface="+mn-ea"/>
                <a:ea typeface="+mn-ea"/>
              </a:rPr>
              <a:t>+</a:t>
            </a:r>
            <a:r>
              <a:rPr lang="zh-CN" altLang="zh-CN" sz="2400" dirty="0">
                <a:latin typeface="+mn-ea"/>
                <a:ea typeface="+mn-ea"/>
              </a:rPr>
              <a:t>控制器</a:t>
            </a:r>
            <a:r>
              <a:rPr lang="zh-CN" altLang="zh-CN" sz="2400" dirty="0" smtClean="0">
                <a:latin typeface="+mn-ea"/>
                <a:ea typeface="+mn-ea"/>
              </a:rPr>
              <a:t>延时</a:t>
            </a:r>
            <a:r>
              <a:rPr lang="en-US" altLang="zh-CN" sz="2400" dirty="0" smtClean="0">
                <a:latin typeface="+mn-ea"/>
                <a:ea typeface="+mn-ea"/>
              </a:rPr>
              <a:t>=</a:t>
            </a:r>
            <a:r>
              <a:rPr lang="en-US" altLang="zh-CN" sz="2400" dirty="0">
                <a:latin typeface="+mn-ea"/>
                <a:ea typeface="+mn-ea"/>
              </a:rPr>
              <a:t>20+6+0.25+2=28.25 </a:t>
            </a:r>
            <a:r>
              <a:rPr lang="en-US" altLang="zh-CN" sz="2400" dirty="0" err="1">
                <a:latin typeface="+mn-ea"/>
                <a:ea typeface="+mn-ea"/>
              </a:rPr>
              <a:t>ms</a:t>
            </a:r>
            <a:r>
              <a:rPr lang="zh-CN" altLang="zh-CN" sz="2400" dirty="0">
                <a:latin typeface="+mn-ea"/>
                <a:ea typeface="+mn-ea"/>
              </a:rPr>
              <a:t>。</a:t>
            </a:r>
            <a:endParaRPr lang="en-US" altLang="zh-CN" sz="24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dissolve">
                                      <p:cBhvr>
                                        <p:cTn id="7" dur="500"/>
                                        <p:tgtEl>
                                          <p:spTgt spid="26629"/>
                                        </p:tgtEl>
                                      </p:cBhvr>
                                    </p:animEffect>
                                  </p:childTnLst>
                                  <p:subTnLst>
                                    <p:set>
                                      <p:cBhvr override="childStyle">
                                        <p:cTn dur="1" fill="hold" display="0" masterRel="nextClick" afterEffect="1"/>
                                        <p:tgtEl>
                                          <p:spTgt spid="2662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p>
            <a:fld id="{1CB98581-098A-4F40-9EDF-667C0B83A7F2}" type="slidenum">
              <a:rPr lang="en-US" altLang="zh-CN" smtClean="0"/>
            </a:fld>
            <a:endParaRPr lang="en-US" altLang="zh-CN" smtClean="0"/>
          </a:p>
        </p:txBody>
      </p:sp>
      <p:sp>
        <p:nvSpPr>
          <p:cNvPr id="43011" name="Rectangle 2"/>
          <p:cNvSpPr>
            <a:spLocks noGrp="1" noChangeArrowheads="1"/>
          </p:cNvSpPr>
          <p:nvPr>
            <p:ph type="title"/>
          </p:nvPr>
        </p:nvSpPr>
        <p:spPr>
          <a:xfrm>
            <a:off x="323850" y="188913"/>
            <a:ext cx="7543800" cy="714375"/>
          </a:xfrm>
        </p:spPr>
        <p:txBody>
          <a:bodyPr/>
          <a:lstStyle/>
          <a:p>
            <a:pPr eaLnBrk="1" hangingPunct="1"/>
            <a:r>
              <a:rPr lang="en-US" altLang="zh-CN" dirty="0" smtClean="0"/>
              <a:t>7.5 </a:t>
            </a:r>
            <a:r>
              <a:rPr lang="zh-CN" altLang="en-US" dirty="0" smtClean="0"/>
              <a:t>显 示 设 备</a:t>
            </a:r>
            <a:endParaRPr lang="zh-CN" altLang="en-US" dirty="0" smtClean="0"/>
          </a:p>
        </p:txBody>
      </p:sp>
      <p:sp>
        <p:nvSpPr>
          <p:cNvPr id="43012" name="Rectangle 5"/>
          <p:cNvSpPr>
            <a:spLocks noChangeArrowheads="1"/>
          </p:cNvSpPr>
          <p:nvPr/>
        </p:nvSpPr>
        <p:spPr bwMode="auto">
          <a:xfrm>
            <a:off x="250825" y="883444"/>
            <a:ext cx="8497888" cy="5692775"/>
          </a:xfrm>
          <a:prstGeom prst="rect">
            <a:avLst/>
          </a:prstGeom>
          <a:noFill/>
          <a:ln w="9525">
            <a:noFill/>
            <a:miter lim="800000"/>
          </a:ln>
        </p:spPr>
        <p:txBody>
          <a:bodyPr anchor="ctr">
            <a:spAutoFit/>
          </a:bodyPr>
          <a:lstStyle/>
          <a:p>
            <a:r>
              <a:rPr lang="en-US" altLang="zh-CN" sz="2800" b="1" dirty="0" smtClean="0">
                <a:latin typeface="宋体" panose="02010600030101010101" pitchFamily="2" charset="-122"/>
              </a:rPr>
              <a:t>7.5.1 </a:t>
            </a:r>
            <a:r>
              <a:rPr lang="zh-CN" altLang="en-US" sz="2800" b="1" dirty="0">
                <a:latin typeface="宋体" panose="02010600030101010101" pitchFamily="2" charset="-122"/>
              </a:rPr>
              <a:t>显示设备的分类与有关概念</a:t>
            </a:r>
            <a:r>
              <a:rPr lang="zh-CN" altLang="en-US" sz="2800" b="1" i="1" dirty="0">
                <a:latin typeface="宋体" panose="02010600030101010101" pitchFamily="2" charset="-122"/>
              </a:rPr>
              <a:t> 　　　</a:t>
            </a:r>
            <a:endParaRPr lang="zh-CN" altLang="en-US" sz="2800" b="1" dirty="0">
              <a:latin typeface="宋体" panose="02010600030101010101" pitchFamily="2" charset="-122"/>
            </a:endParaRPr>
          </a:p>
          <a:p>
            <a:r>
              <a:rPr lang="zh-CN" altLang="en-US" sz="2800" dirty="0">
                <a:latin typeface="宋体" panose="02010600030101010101" pitchFamily="2" charset="-122"/>
              </a:rPr>
              <a:t>　　以可见光的形式传递和处理信息的设备叫</a:t>
            </a:r>
            <a:r>
              <a:rPr lang="zh-CN" altLang="en-US" sz="2800" b="1" dirty="0">
                <a:latin typeface="宋体" panose="02010600030101010101" pitchFamily="2" charset="-122"/>
              </a:rPr>
              <a:t>显示设备</a:t>
            </a:r>
            <a:r>
              <a:rPr lang="zh-CN" altLang="en-US" sz="2800" dirty="0">
                <a:latin typeface="宋体" panose="02010600030101010101" pitchFamily="2" charset="-122"/>
              </a:rPr>
              <a:t>，是目前计算机系统中应用最广泛的人机界面设备。</a:t>
            </a:r>
            <a:endParaRPr lang="zh-CN" altLang="en-US" sz="2800" dirty="0">
              <a:latin typeface="宋体" panose="02010600030101010101" pitchFamily="2" charset="-122"/>
            </a:endParaRPr>
          </a:p>
          <a:p>
            <a:r>
              <a:rPr lang="zh-CN" altLang="en-US" sz="2800" dirty="0">
                <a:latin typeface="宋体" panose="02010600030101010101" pitchFamily="2" charset="-122"/>
              </a:rPr>
              <a:t>　　按显示设备所用的显示器件分类</a:t>
            </a:r>
            <a:r>
              <a:rPr lang="en-US" altLang="zh-CN" sz="2800" dirty="0">
                <a:latin typeface="宋体" panose="02010600030101010101" pitchFamily="2" charset="-122"/>
              </a:rPr>
              <a:t>: </a:t>
            </a:r>
            <a:r>
              <a:rPr lang="zh-CN" altLang="en-US" sz="2800" dirty="0">
                <a:latin typeface="宋体" panose="02010600030101010101" pitchFamily="2" charset="-122"/>
              </a:rPr>
              <a:t>阴极射线管</a:t>
            </a:r>
            <a:r>
              <a:rPr lang="en-US" altLang="zh-CN" sz="2800" dirty="0">
                <a:latin typeface="宋体" panose="02010600030101010101" pitchFamily="2" charset="-122"/>
              </a:rPr>
              <a:t>(CRT)</a:t>
            </a:r>
            <a:r>
              <a:rPr lang="zh-CN" altLang="en-US" sz="2800" dirty="0">
                <a:latin typeface="宋体" panose="02010600030101010101" pitchFamily="2" charset="-122"/>
              </a:rPr>
              <a:t>显示器、液晶显示器</a:t>
            </a:r>
            <a:r>
              <a:rPr lang="en-US" altLang="zh-CN" sz="2800" dirty="0">
                <a:latin typeface="宋体" panose="02010600030101010101" pitchFamily="2" charset="-122"/>
              </a:rPr>
              <a:t>(LCD)</a:t>
            </a:r>
            <a:r>
              <a:rPr lang="zh-CN" altLang="en-US" sz="2800" dirty="0">
                <a:latin typeface="宋体" panose="02010600030101010101" pitchFamily="2" charset="-122"/>
              </a:rPr>
              <a:t>、等离子显示器等。</a:t>
            </a:r>
            <a:endParaRPr lang="zh-CN" altLang="en-US" sz="2800" dirty="0">
              <a:latin typeface="宋体" panose="02010600030101010101" pitchFamily="2" charset="-122"/>
            </a:endParaRPr>
          </a:p>
          <a:p>
            <a:r>
              <a:rPr lang="zh-CN" altLang="en-US" sz="2800" dirty="0">
                <a:latin typeface="宋体" panose="02010600030101010101" pitchFamily="2" charset="-122"/>
              </a:rPr>
              <a:t>　　按所显示的信息内容分类</a:t>
            </a:r>
            <a:r>
              <a:rPr lang="en-US" altLang="zh-CN" sz="2800" dirty="0">
                <a:latin typeface="宋体" panose="02010600030101010101" pitchFamily="2" charset="-122"/>
              </a:rPr>
              <a:t>: </a:t>
            </a:r>
            <a:r>
              <a:rPr lang="zh-CN" altLang="en-US" sz="2800" dirty="0">
                <a:latin typeface="宋体" panose="02010600030101010101" pitchFamily="2" charset="-122"/>
              </a:rPr>
              <a:t>字符</a:t>
            </a:r>
            <a:r>
              <a:rPr lang="en-US" altLang="zh-CN" sz="2800" dirty="0">
                <a:latin typeface="宋体" panose="02010600030101010101" pitchFamily="2" charset="-122"/>
              </a:rPr>
              <a:t>/</a:t>
            </a:r>
            <a:r>
              <a:rPr lang="zh-CN" altLang="en-US" sz="2800" dirty="0">
                <a:latin typeface="宋体" panose="02010600030101010101" pitchFamily="2" charset="-122"/>
              </a:rPr>
              <a:t>图形显示器、图像显示器等。</a:t>
            </a:r>
            <a:endParaRPr lang="zh-CN" altLang="en-US" sz="2800" dirty="0">
              <a:latin typeface="宋体" panose="02010600030101010101" pitchFamily="2" charset="-122"/>
            </a:endParaRPr>
          </a:p>
          <a:p>
            <a:r>
              <a:rPr lang="zh-CN" altLang="en-US" sz="2800" dirty="0">
                <a:latin typeface="宋体" panose="02010600030101010101" pitchFamily="2" charset="-122"/>
              </a:rPr>
              <a:t>    在</a:t>
            </a:r>
            <a:r>
              <a:rPr lang="en-US" altLang="zh-CN" sz="2800" dirty="0">
                <a:latin typeface="宋体" panose="02010600030101010101" pitchFamily="2" charset="-122"/>
              </a:rPr>
              <a:t>CRT</a:t>
            </a:r>
            <a:r>
              <a:rPr lang="zh-CN" altLang="en-US" sz="2800" dirty="0">
                <a:latin typeface="宋体" panose="02010600030101010101" pitchFamily="2" charset="-122"/>
              </a:rPr>
              <a:t>显示设备中按扫描方式不同，分成光栅扫描和随机扫描两种显示器；按分辨率不同，分成高分辨率显示器和低分辨率显示器；按显示的颜色分类，有单色</a:t>
            </a:r>
            <a:r>
              <a:rPr lang="en-US" altLang="zh-CN" sz="2800" dirty="0">
                <a:latin typeface="宋体" panose="02010600030101010101" pitchFamily="2" charset="-122"/>
              </a:rPr>
              <a:t>(</a:t>
            </a:r>
            <a:r>
              <a:rPr lang="zh-CN" altLang="en-US" sz="2800" dirty="0">
                <a:latin typeface="宋体" panose="02010600030101010101" pitchFamily="2" charset="-122"/>
              </a:rPr>
              <a:t>黑白</a:t>
            </a:r>
            <a:r>
              <a:rPr lang="en-US" altLang="zh-CN" sz="2800" dirty="0">
                <a:latin typeface="宋体" panose="02010600030101010101" pitchFamily="2" charset="-122"/>
              </a:rPr>
              <a:t>)</a:t>
            </a:r>
            <a:r>
              <a:rPr lang="zh-CN" altLang="en-US" sz="2800" dirty="0">
                <a:latin typeface="宋体" panose="02010600030101010101" pitchFamily="2" charset="-122"/>
              </a:rPr>
              <a:t>显示器和彩色显示器。按</a:t>
            </a:r>
            <a:r>
              <a:rPr lang="en-US" altLang="zh-CN" sz="2800" dirty="0">
                <a:latin typeface="宋体" panose="02010600030101010101" pitchFamily="2" charset="-122"/>
              </a:rPr>
              <a:t>CRT</a:t>
            </a:r>
            <a:r>
              <a:rPr lang="zh-CN" altLang="en-US" sz="2800" dirty="0">
                <a:latin typeface="宋体" panose="02010600030101010101" pitchFamily="2" charset="-122"/>
              </a:rPr>
              <a:t>荧光屏对角线的长度分类，有</a:t>
            </a:r>
            <a:r>
              <a:rPr lang="en-US" altLang="zh-CN" sz="2800" dirty="0">
                <a:latin typeface="宋体" panose="02010600030101010101" pitchFamily="2" charset="-122"/>
              </a:rPr>
              <a:t>12</a:t>
            </a:r>
            <a:r>
              <a:rPr lang="zh-CN" altLang="en-US" sz="2800" dirty="0">
                <a:latin typeface="宋体" panose="02010600030101010101" pitchFamily="2" charset="-122"/>
              </a:rPr>
              <a:t>英寸、</a:t>
            </a:r>
            <a:r>
              <a:rPr lang="en-US" altLang="zh-CN" sz="2800" dirty="0">
                <a:latin typeface="宋体" panose="02010600030101010101" pitchFamily="2" charset="-122"/>
              </a:rPr>
              <a:t>14</a:t>
            </a:r>
            <a:r>
              <a:rPr lang="zh-CN" altLang="en-US" sz="2800" dirty="0">
                <a:latin typeface="宋体" panose="02010600030101010101" pitchFamily="2" charset="-122"/>
              </a:rPr>
              <a:t>英寸、</a:t>
            </a:r>
            <a:r>
              <a:rPr lang="en-US" altLang="zh-CN" sz="2800" dirty="0">
                <a:latin typeface="宋体" panose="02010600030101010101" pitchFamily="2" charset="-122"/>
              </a:rPr>
              <a:t>16</a:t>
            </a:r>
            <a:r>
              <a:rPr lang="zh-CN" altLang="en-US" sz="2800" dirty="0">
                <a:latin typeface="宋体" panose="02010600030101010101" pitchFamily="2" charset="-122"/>
              </a:rPr>
              <a:t>英寸、</a:t>
            </a:r>
            <a:r>
              <a:rPr lang="en-US" altLang="zh-CN" sz="2800" dirty="0">
                <a:latin typeface="宋体" panose="02010600030101010101" pitchFamily="2" charset="-122"/>
              </a:rPr>
              <a:t>19</a:t>
            </a:r>
            <a:r>
              <a:rPr lang="zh-CN" altLang="en-US" sz="2800" dirty="0">
                <a:latin typeface="宋体" panose="02010600030101010101" pitchFamily="2" charset="-122"/>
              </a:rPr>
              <a:t>英寸等多种。</a:t>
            </a:r>
            <a:endParaRPr lang="zh-CN" altLang="en-US" sz="24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p>
            <a:fld id="{050104F7-9421-4BF7-892B-8B489D3BC5CE}" type="slidenum">
              <a:rPr lang="en-US" altLang="zh-CN" smtClean="0"/>
            </a:fld>
            <a:endParaRPr lang="en-US" altLang="zh-CN" smtClean="0"/>
          </a:p>
        </p:txBody>
      </p:sp>
      <p:sp>
        <p:nvSpPr>
          <p:cNvPr id="44035" name="Rectangle 6"/>
          <p:cNvSpPr>
            <a:spLocks noChangeArrowheads="1"/>
          </p:cNvSpPr>
          <p:nvPr/>
        </p:nvSpPr>
        <p:spPr bwMode="auto">
          <a:xfrm>
            <a:off x="250825" y="404813"/>
            <a:ext cx="8642350" cy="6070600"/>
          </a:xfrm>
          <a:prstGeom prst="rect">
            <a:avLst/>
          </a:prstGeom>
          <a:solidFill>
            <a:srgbClr val="CCFFFF"/>
          </a:solidFill>
          <a:ln w="9525">
            <a:noFill/>
            <a:miter lim="800000"/>
          </a:ln>
        </p:spPr>
        <p:txBody>
          <a:bodyPr anchor="ctr">
            <a:spAutoFit/>
          </a:bodyPr>
          <a:lstStyle/>
          <a:p>
            <a:r>
              <a:rPr lang="en-US" altLang="zh-CN" sz="2800" b="1">
                <a:latin typeface="宋体" panose="02010600030101010101" pitchFamily="2" charset="-122"/>
              </a:rPr>
              <a:t>1.</a:t>
            </a:r>
            <a:r>
              <a:rPr lang="zh-CN" altLang="en-US" sz="2800" b="1">
                <a:latin typeface="宋体" panose="02010600030101010101" pitchFamily="2" charset="-122"/>
              </a:rPr>
              <a:t>分辨率和灰度级</a:t>
            </a:r>
            <a:endParaRPr lang="zh-CN" altLang="en-US" sz="2800">
              <a:latin typeface="宋体" panose="02010600030101010101" pitchFamily="2" charset="-122"/>
            </a:endParaRPr>
          </a:p>
          <a:p>
            <a:r>
              <a:rPr lang="zh-CN" altLang="en-US" sz="2800" b="1">
                <a:latin typeface="宋体" panose="02010600030101010101" pitchFamily="2" charset="-122"/>
              </a:rPr>
              <a:t>　　分辨率</a:t>
            </a:r>
            <a:r>
              <a:rPr lang="zh-CN" altLang="en-US" sz="2800">
                <a:latin typeface="宋体" panose="02010600030101010101" pitchFamily="2" charset="-122"/>
              </a:rPr>
              <a:t>是指显示器所能表示的像素个数。像素越密，分辨率越高，图像越清晰。分辨率取决于显象管荧光粉的粒度、荧光屏的尺寸和</a:t>
            </a:r>
            <a:r>
              <a:rPr lang="en-US" altLang="zh-CN" sz="2800">
                <a:latin typeface="宋体" panose="02010600030101010101" pitchFamily="2" charset="-122"/>
              </a:rPr>
              <a:t>CRT</a:t>
            </a:r>
            <a:r>
              <a:rPr lang="zh-CN" altLang="en-US" sz="2800">
                <a:latin typeface="宋体" panose="02010600030101010101" pitchFamily="2" charset="-122"/>
              </a:rPr>
              <a:t>电子束的聚焦能力。同时刷新存储器要有与显示像素数相对应的存储空间，用来存储每个像素的信息。 </a:t>
            </a:r>
            <a:endParaRPr lang="zh-CN" altLang="en-US" sz="2800">
              <a:latin typeface="宋体" panose="02010600030101010101" pitchFamily="2" charset="-122"/>
            </a:endParaRPr>
          </a:p>
          <a:p>
            <a:r>
              <a:rPr lang="zh-CN" altLang="en-US" sz="2800">
                <a:latin typeface="宋体" panose="02010600030101010101" pitchFamily="2" charset="-122"/>
              </a:rPr>
              <a:t>    </a:t>
            </a:r>
            <a:r>
              <a:rPr lang="zh-CN" altLang="en-US" sz="2800" b="1">
                <a:latin typeface="宋体" panose="02010600030101010101" pitchFamily="2" charset="-122"/>
              </a:rPr>
              <a:t>灰度级</a:t>
            </a:r>
            <a:r>
              <a:rPr lang="zh-CN" altLang="en-US" sz="2800">
                <a:latin typeface="宋体" panose="02010600030101010101" pitchFamily="2" charset="-122"/>
              </a:rPr>
              <a:t>是指黑白显示器中所显示的像素点的亮暗差别，在彩色显示器中则表现为颜色的不同。灰度级越多，图像层次越清楚逼真。灰度级取决于每个像素对应刷新存储器单元的位数和</a:t>
            </a:r>
            <a:r>
              <a:rPr lang="en-US" altLang="zh-CN" sz="2800">
                <a:latin typeface="宋体" panose="02010600030101010101" pitchFamily="2" charset="-122"/>
              </a:rPr>
              <a:t>CRT</a:t>
            </a:r>
            <a:r>
              <a:rPr lang="zh-CN" altLang="en-US" sz="2800">
                <a:latin typeface="宋体" panose="02010600030101010101" pitchFamily="2" charset="-122"/>
              </a:rPr>
              <a:t>本身的性能。字符显示器只用“</a:t>
            </a:r>
            <a:r>
              <a:rPr lang="en-US" altLang="zh-CN" sz="2800">
                <a:latin typeface="宋体" panose="02010600030101010101" pitchFamily="2" charset="-122"/>
              </a:rPr>
              <a:t>0”“1”</a:t>
            </a:r>
            <a:r>
              <a:rPr lang="zh-CN" altLang="en-US" sz="2800">
                <a:latin typeface="宋体" panose="02010600030101010101" pitchFamily="2" charset="-122"/>
              </a:rPr>
              <a:t>两级灰度表示字符的有无，这种只有两级灰度的显示器称为</a:t>
            </a:r>
            <a:r>
              <a:rPr lang="zh-CN" altLang="en-US" sz="2800" b="1">
                <a:latin typeface="宋体" panose="02010600030101010101" pitchFamily="2" charset="-122"/>
              </a:rPr>
              <a:t>单色显示器</a:t>
            </a:r>
            <a:r>
              <a:rPr lang="zh-CN" altLang="en-US" sz="2800">
                <a:latin typeface="宋体" panose="02010600030101010101" pitchFamily="2" charset="-122"/>
              </a:rPr>
              <a:t>。具有多种灰度级的黑白显示器为多灰度级</a:t>
            </a:r>
            <a:r>
              <a:rPr lang="zh-CN" altLang="en-US" sz="2800" b="1">
                <a:latin typeface="宋体" panose="02010600030101010101" pitchFamily="2" charset="-122"/>
              </a:rPr>
              <a:t>黑白显示器</a:t>
            </a:r>
            <a:r>
              <a:rPr lang="zh-CN" altLang="en-US" sz="2800">
                <a:latin typeface="宋体" panose="02010600030101010101" pitchFamily="2" charset="-122"/>
              </a:rPr>
              <a:t>。图像显示器的灰度级一般在</a:t>
            </a:r>
            <a:r>
              <a:rPr lang="en-US" altLang="zh-CN" sz="2800">
                <a:latin typeface="宋体" panose="02010600030101010101" pitchFamily="2" charset="-122"/>
              </a:rPr>
              <a:t>256</a:t>
            </a:r>
            <a:r>
              <a:rPr lang="zh-CN" altLang="en-US" sz="2800">
                <a:latin typeface="宋体" panose="02010600030101010101" pitchFamily="2" charset="-122"/>
              </a:rPr>
              <a:t>级以上。</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p:spPr>
        <p:txBody>
          <a:bodyPr/>
          <a:lstStyle/>
          <a:p>
            <a:fld id="{9E8C15EA-300B-4E66-ABE2-809E4A6B5C53}" type="slidenum">
              <a:rPr lang="en-US" altLang="zh-CN" smtClean="0"/>
            </a:fld>
            <a:endParaRPr lang="en-US" altLang="zh-CN" smtClean="0"/>
          </a:p>
        </p:txBody>
      </p:sp>
      <p:sp>
        <p:nvSpPr>
          <p:cNvPr id="45059" name="Rectangle 4"/>
          <p:cNvSpPr>
            <a:spLocks noChangeArrowheads="1"/>
          </p:cNvSpPr>
          <p:nvPr/>
        </p:nvSpPr>
        <p:spPr bwMode="auto">
          <a:xfrm>
            <a:off x="250825" y="528479"/>
            <a:ext cx="8569325" cy="4831080"/>
          </a:xfrm>
          <a:prstGeom prst="rect">
            <a:avLst/>
          </a:prstGeom>
          <a:solidFill>
            <a:srgbClr val="CCFFFF"/>
          </a:solidFill>
          <a:ln w="9525">
            <a:noFill/>
            <a:miter lim="800000"/>
          </a:ln>
        </p:spPr>
        <p:txBody>
          <a:bodyPr anchor="ctr">
            <a:spAutoFit/>
          </a:bodyPr>
          <a:lstStyle/>
          <a:p>
            <a:r>
              <a:rPr lang="en-US" altLang="zh-CN" sz="2800" b="1" dirty="0">
                <a:latin typeface="宋体" panose="02010600030101010101" pitchFamily="2" charset="-122"/>
              </a:rPr>
              <a:t>2.</a:t>
            </a:r>
            <a:r>
              <a:rPr lang="zh-CN" altLang="en-US" sz="2800" b="1" dirty="0">
                <a:latin typeface="宋体" panose="02010600030101010101" pitchFamily="2" charset="-122"/>
              </a:rPr>
              <a:t>刷新和刷新存储器</a:t>
            </a:r>
            <a:endParaRPr lang="zh-CN" altLang="en-US" sz="2800" b="1" dirty="0">
              <a:latin typeface="宋体" panose="02010600030101010101" pitchFamily="2" charset="-122"/>
            </a:endParaRPr>
          </a:p>
          <a:p>
            <a:r>
              <a:rPr lang="zh-CN" altLang="en-US" sz="2800" dirty="0">
                <a:latin typeface="宋体" panose="02010600030101010101" pitchFamily="2" charset="-122"/>
              </a:rPr>
              <a:t>   刷新：电子束打在荧光粉上引起的发光只能维持几十毫秒的时间。因此必须让电子束反复不断地扫描整个屏幕，该过程称为刷新。刷新频率越高，显示越没有闪烁</a:t>
            </a:r>
            <a:r>
              <a:rPr lang="zh-CN" altLang="en-US" sz="2800" dirty="0" smtClean="0">
                <a:latin typeface="宋体" panose="02010600030101010101" pitchFamily="2" charset="-122"/>
              </a:rPr>
              <a:t>。</a:t>
            </a:r>
            <a:endParaRPr lang="en-US" altLang="zh-CN" sz="2800" dirty="0" smtClean="0">
              <a:latin typeface="宋体" panose="02010600030101010101" pitchFamily="2" charset="-122"/>
            </a:endParaRPr>
          </a:p>
          <a:p>
            <a:r>
              <a:rPr lang="zh-CN" altLang="en-US" sz="2800" dirty="0" smtClean="0">
                <a:latin typeface="宋体" panose="02010600030101010101" pitchFamily="2" charset="-122"/>
              </a:rPr>
              <a:t>    </a:t>
            </a:r>
            <a:r>
              <a:rPr lang="zh-CN" altLang="en-US" sz="2800" dirty="0">
                <a:latin typeface="宋体" panose="02010600030101010101" pitchFamily="2" charset="-122"/>
              </a:rPr>
              <a:t>刷新存储器（视频存储器、显存）：为刷新提供信号的存储器。容量取决于分辨率和灰度级。如</a:t>
            </a:r>
            <a:r>
              <a:rPr lang="en-US" altLang="zh-CN" sz="2800" dirty="0">
                <a:latin typeface="宋体" panose="02010600030101010101" pitchFamily="2" charset="-122"/>
              </a:rPr>
              <a:t>1024*768</a:t>
            </a:r>
            <a:r>
              <a:rPr lang="zh-CN" altLang="en-US" sz="2800" dirty="0">
                <a:latin typeface="宋体" panose="02010600030101010101" pitchFamily="2" charset="-122"/>
              </a:rPr>
              <a:t>，</a:t>
            </a:r>
            <a:r>
              <a:rPr lang="en-US" altLang="zh-CN" sz="2800" dirty="0">
                <a:latin typeface="宋体" panose="02010600030101010101" pitchFamily="2" charset="-122"/>
              </a:rPr>
              <a:t>32</a:t>
            </a:r>
            <a:r>
              <a:rPr lang="zh-CN" altLang="en-US" sz="2800" dirty="0">
                <a:latin typeface="宋体" panose="02010600030101010101" pitchFamily="2" charset="-122"/>
              </a:rPr>
              <a:t>位真彩色，需要</a:t>
            </a:r>
            <a:r>
              <a:rPr lang="en-US" altLang="zh-CN" sz="2800" dirty="0">
                <a:latin typeface="宋体" panose="02010600030101010101" pitchFamily="2" charset="-122"/>
              </a:rPr>
              <a:t>1024*768*32/8B=3MB</a:t>
            </a:r>
            <a:r>
              <a:rPr lang="zh-CN" altLang="en-US" sz="2800" dirty="0">
                <a:latin typeface="宋体" panose="02010600030101010101" pitchFamily="2" charset="-122"/>
              </a:rPr>
              <a:t>，其存取周期必须满足刷新频率的要求。设上例中要求刷新频率为</a:t>
            </a:r>
            <a:r>
              <a:rPr lang="en-US" altLang="zh-CN" sz="2800" dirty="0">
                <a:latin typeface="宋体" panose="02010600030101010101" pitchFamily="2" charset="-122"/>
              </a:rPr>
              <a:t>75Hz</a:t>
            </a:r>
            <a:r>
              <a:rPr lang="zh-CN" altLang="en-US" sz="2800" dirty="0">
                <a:latin typeface="宋体" panose="02010600030101010101" pitchFamily="2" charset="-122"/>
              </a:rPr>
              <a:t>，则刷新存储器的总带宽为</a:t>
            </a:r>
            <a:r>
              <a:rPr lang="en-US" altLang="zh-CN" sz="2800" dirty="0">
                <a:latin typeface="宋体" panose="02010600030101010101" pitchFamily="2" charset="-122"/>
              </a:rPr>
              <a:t>75*3MBPS=225MBPS</a:t>
            </a:r>
            <a:endParaRPr lang="en-US" altLang="zh-CN" sz="28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p:spPr>
        <p:txBody>
          <a:bodyPr/>
          <a:lstStyle/>
          <a:p>
            <a:fld id="{C3A2087B-D270-42C9-8176-69CC9CC01BA4}" type="slidenum">
              <a:rPr lang="en-US" altLang="zh-CN" smtClean="0"/>
            </a:fld>
            <a:endParaRPr lang="en-US" altLang="zh-CN" smtClean="0"/>
          </a:p>
        </p:txBody>
      </p:sp>
      <p:sp>
        <p:nvSpPr>
          <p:cNvPr id="46083" name="Rectangle 2"/>
          <p:cNvSpPr>
            <a:spLocks noChangeArrowheads="1"/>
          </p:cNvSpPr>
          <p:nvPr/>
        </p:nvSpPr>
        <p:spPr bwMode="auto">
          <a:xfrm>
            <a:off x="352638" y="141973"/>
            <a:ext cx="8583612" cy="3108543"/>
          </a:xfrm>
          <a:prstGeom prst="rect">
            <a:avLst/>
          </a:prstGeom>
          <a:solidFill>
            <a:srgbClr val="CCFFFF"/>
          </a:solidFill>
          <a:ln w="9525">
            <a:noFill/>
            <a:miter lim="800000"/>
          </a:ln>
        </p:spPr>
        <p:txBody>
          <a:bodyPr anchor="ctr">
            <a:spAutoFit/>
          </a:bodyPr>
          <a:lstStyle/>
          <a:p>
            <a:pPr eaLnBrk="0" hangingPunct="0"/>
            <a:r>
              <a:rPr lang="en-US" altLang="zh-CN" sz="2800" b="1" dirty="0" smtClean="0">
                <a:latin typeface="宋体" panose="02010600030101010101" pitchFamily="2" charset="-122"/>
              </a:rPr>
              <a:t>7.5.2 </a:t>
            </a:r>
            <a:r>
              <a:rPr lang="zh-CN" altLang="en-US" sz="2800" b="1" dirty="0">
                <a:latin typeface="宋体" panose="02010600030101010101" pitchFamily="2" charset="-122"/>
              </a:rPr>
              <a:t>字符</a:t>
            </a:r>
            <a:r>
              <a:rPr lang="en-US" altLang="zh-CN" sz="2800" b="1" dirty="0">
                <a:latin typeface="宋体" panose="02010600030101010101" pitchFamily="2" charset="-122"/>
              </a:rPr>
              <a:t>/</a:t>
            </a:r>
            <a:r>
              <a:rPr lang="zh-CN" altLang="en-US" sz="2800" b="1" dirty="0">
                <a:latin typeface="宋体" panose="02010600030101010101" pitchFamily="2" charset="-122"/>
              </a:rPr>
              <a:t>图形显示器</a:t>
            </a:r>
            <a:r>
              <a:rPr lang="zh-CN" altLang="en-US" sz="2400" dirty="0">
                <a:latin typeface="宋体" panose="02010600030101010101" pitchFamily="2" charset="-122"/>
              </a:rPr>
              <a:t> 　</a:t>
            </a:r>
            <a:r>
              <a:rPr lang="zh-CN" altLang="en-US" sz="2400" i="1" dirty="0">
                <a:latin typeface="宋体" panose="02010600030101010101" pitchFamily="2" charset="-122"/>
              </a:rPr>
              <a:t>　　　　</a:t>
            </a:r>
            <a:endParaRPr lang="zh-CN" altLang="en-US" sz="2400" dirty="0">
              <a:latin typeface="宋体" panose="02010600030101010101" pitchFamily="2" charset="-122"/>
            </a:endParaRPr>
          </a:p>
          <a:p>
            <a:pPr eaLnBrk="0" hangingPunct="0"/>
            <a:r>
              <a:rPr lang="en-US" altLang="zh-CN" sz="2400" dirty="0">
                <a:latin typeface="宋体" panose="02010600030101010101" pitchFamily="2" charset="-122"/>
              </a:rPr>
              <a:t>1.</a:t>
            </a:r>
            <a:r>
              <a:rPr lang="zh-CN" altLang="en-US" sz="2400" dirty="0">
                <a:latin typeface="宋体" panose="02010600030101010101" pitchFamily="2" charset="-122"/>
              </a:rPr>
              <a:t>字符显示</a:t>
            </a:r>
            <a:endParaRPr lang="zh-CN" altLang="en-US" sz="2400" dirty="0">
              <a:latin typeface="宋体" panose="02010600030101010101" pitchFamily="2" charset="-122"/>
            </a:endParaRPr>
          </a:p>
          <a:p>
            <a:pPr eaLnBrk="0" hangingPunct="0"/>
            <a:r>
              <a:rPr lang="zh-CN" altLang="en-US" sz="2400" dirty="0">
                <a:latin typeface="宋体" panose="02010600030101010101" pitchFamily="2" charset="-122"/>
              </a:rPr>
              <a:t>　　显示字符的方法以点阵为基础。点阵是由</a:t>
            </a:r>
            <a:r>
              <a:rPr lang="en-US" altLang="zh-CN" sz="2400" dirty="0" err="1">
                <a:latin typeface="宋体" panose="02010600030101010101" pitchFamily="2" charset="-122"/>
              </a:rPr>
              <a:t>m×n</a:t>
            </a:r>
            <a:r>
              <a:rPr lang="zh-CN" altLang="en-US" sz="2400" dirty="0">
                <a:latin typeface="宋体" panose="02010600030101010101" pitchFamily="2" charset="-122"/>
              </a:rPr>
              <a:t>个点组成的阵列，并以此来构造字符。将点阵存入由</a:t>
            </a:r>
            <a:r>
              <a:rPr lang="en-US" altLang="zh-CN" sz="2400" dirty="0">
                <a:latin typeface="宋体" panose="02010600030101010101" pitchFamily="2" charset="-122"/>
              </a:rPr>
              <a:t>ROM</a:t>
            </a:r>
            <a:r>
              <a:rPr lang="zh-CN" altLang="en-US" sz="2400" dirty="0">
                <a:latin typeface="宋体" panose="02010600030101010101" pitchFamily="2" charset="-122"/>
              </a:rPr>
              <a:t>构成的字符发生器中，在</a:t>
            </a:r>
            <a:r>
              <a:rPr lang="en-US" altLang="zh-CN" sz="2400" dirty="0">
                <a:latin typeface="宋体" panose="02010600030101010101" pitchFamily="2" charset="-122"/>
              </a:rPr>
              <a:t>CRT</a:t>
            </a:r>
            <a:r>
              <a:rPr lang="zh-CN" altLang="en-US" sz="2400" dirty="0">
                <a:latin typeface="宋体" panose="02010600030101010101" pitchFamily="2" charset="-122"/>
              </a:rPr>
              <a:t>进行光栅扫描的过程中，从字符发生器中依次读出某个字符的点阵，按照点阵中</a:t>
            </a:r>
            <a:r>
              <a:rPr lang="en-US" altLang="zh-CN" sz="2400" dirty="0">
                <a:latin typeface="宋体" panose="02010600030101010101" pitchFamily="2" charset="-122"/>
              </a:rPr>
              <a:t>0</a:t>
            </a:r>
            <a:r>
              <a:rPr lang="zh-CN" altLang="en-US" sz="2400" dirty="0">
                <a:latin typeface="宋体" panose="02010600030101010101" pitchFamily="2" charset="-122"/>
              </a:rPr>
              <a:t>和</a:t>
            </a:r>
            <a:r>
              <a:rPr lang="en-US" altLang="zh-CN" sz="2400" dirty="0">
                <a:latin typeface="宋体" panose="02010600030101010101" pitchFamily="2" charset="-122"/>
              </a:rPr>
              <a:t>1</a:t>
            </a:r>
            <a:r>
              <a:rPr lang="zh-CN" altLang="en-US" sz="2400" dirty="0">
                <a:latin typeface="宋体" panose="02010600030101010101" pitchFamily="2" charset="-122"/>
              </a:rPr>
              <a:t>代码不同控制扫描电子束的开或关，从而在屏幕上显示出字符。       </a:t>
            </a:r>
            <a:endParaRPr lang="zh-CN" altLang="en-US" sz="2400" dirty="0">
              <a:latin typeface="宋体" panose="02010600030101010101" pitchFamily="2" charset="-122"/>
            </a:endParaRPr>
          </a:p>
          <a:p>
            <a:pPr eaLnBrk="0" hangingPunct="0"/>
            <a:r>
              <a:rPr lang="zh-CN" altLang="en-US" sz="2400" dirty="0">
                <a:latin typeface="宋体" panose="02010600030101010101" pitchFamily="2" charset="-122"/>
              </a:rPr>
              <a:t>　　点阵的多少取决于显示字符的质量和字符窗口的大小。</a:t>
            </a:r>
            <a:endParaRPr lang="zh-CN" altLang="en-US" sz="2400" dirty="0">
              <a:latin typeface="宋体" panose="02010600030101010101" pitchFamily="2" charset="-122"/>
            </a:endParaRPr>
          </a:p>
        </p:txBody>
      </p:sp>
      <p:pic>
        <p:nvPicPr>
          <p:cNvPr id="46084" name="Picture 3" descr="7a15"/>
          <p:cNvPicPr>
            <a:picLocks noChangeAspect="1" noChangeArrowheads="1"/>
          </p:cNvPicPr>
          <p:nvPr/>
        </p:nvPicPr>
        <p:blipFill>
          <a:blip r:embed="rId1"/>
          <a:srcRect/>
          <a:stretch>
            <a:fillRect/>
          </a:stretch>
        </p:blipFill>
        <p:spPr bwMode="auto">
          <a:xfrm>
            <a:off x="611188" y="3429000"/>
            <a:ext cx="7848600" cy="2697163"/>
          </a:xfrm>
          <a:prstGeom prst="rect">
            <a:avLst/>
          </a:prstGeom>
          <a:noFill/>
          <a:ln w="9525">
            <a:noFill/>
            <a:miter lim="800000"/>
            <a:headEnd/>
            <a:tailEnd/>
          </a:ln>
        </p:spPr>
      </p:pic>
      <p:sp>
        <p:nvSpPr>
          <p:cNvPr id="82948" name="Rectangle 4"/>
          <p:cNvSpPr>
            <a:spLocks noChangeArrowheads="1"/>
          </p:cNvSpPr>
          <p:nvPr/>
        </p:nvSpPr>
        <p:spPr bwMode="auto">
          <a:xfrm>
            <a:off x="226817" y="159765"/>
            <a:ext cx="8713788" cy="3124200"/>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Char char="l"/>
            </a:pPr>
            <a:r>
              <a:rPr lang="zh-CN" altLang="en-US" sz="2400" dirty="0">
                <a:latin typeface="宋体" panose="02010600030101010101" pitchFamily="2" charset="-122"/>
              </a:rPr>
              <a:t>字符显示器原理</a:t>
            </a:r>
            <a:endParaRPr lang="zh-CN" altLang="en-US" sz="2400" dirty="0">
              <a:latin typeface="宋体" panose="02010600030101010101" pitchFamily="2"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400" dirty="0">
                <a:latin typeface="宋体" panose="02010600030101010101" pitchFamily="2" charset="-122"/>
              </a:rPr>
              <a:t>显示系统由显示卡和显示器组成</a:t>
            </a:r>
            <a:endParaRPr lang="zh-CN" altLang="en-US" sz="2400" dirty="0">
              <a:latin typeface="宋体" panose="02010600030101010101" pitchFamily="2"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400" dirty="0">
                <a:latin typeface="宋体" panose="02010600030101010101" pitchFamily="2" charset="-122"/>
              </a:rPr>
              <a:t>显示字符的方法以点阵为基础 </a:t>
            </a:r>
            <a:endParaRPr lang="zh-CN" altLang="en-US" sz="2400" dirty="0">
              <a:latin typeface="宋体" panose="02010600030101010101" pitchFamily="2"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400" dirty="0">
                <a:latin typeface="宋体" panose="02010600030101010101" pitchFamily="2" charset="-122"/>
              </a:rPr>
              <a:t>字符点阵存放于字符发生器（</a:t>
            </a:r>
            <a:r>
              <a:rPr lang="en-US" altLang="zh-CN" sz="2400" dirty="0">
                <a:latin typeface="宋体" panose="02010600030101010101" pitchFamily="2" charset="-122"/>
              </a:rPr>
              <a:t>ROM</a:t>
            </a:r>
            <a:r>
              <a:rPr lang="zh-CN" altLang="en-US" sz="2400" dirty="0">
                <a:latin typeface="宋体" panose="02010600030101010101" pitchFamily="2" charset="-122"/>
              </a:rPr>
              <a:t>）中</a:t>
            </a:r>
            <a:endParaRPr lang="zh-CN" altLang="en-US" sz="2400" dirty="0">
              <a:latin typeface="宋体" panose="02010600030101010101" pitchFamily="2"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400" dirty="0">
                <a:latin typeface="宋体" panose="02010600030101010101" pitchFamily="2" charset="-122"/>
              </a:rPr>
              <a:t>字符窗口：每个字符在屏幕中所占的点数，包括字符点阵和字符间隔，如</a:t>
            </a:r>
            <a:r>
              <a:rPr lang="en-US" altLang="zh-CN" sz="2400" dirty="0">
                <a:latin typeface="宋体" panose="02010600030101010101" pitchFamily="2" charset="-122"/>
              </a:rPr>
              <a:t>IBM/PC</a:t>
            </a:r>
            <a:r>
              <a:rPr lang="zh-CN" altLang="en-US" sz="2400" dirty="0">
                <a:latin typeface="宋体" panose="02010600030101010101" pitchFamily="2" charset="-122"/>
              </a:rPr>
              <a:t>中</a:t>
            </a:r>
            <a:endParaRPr lang="zh-CN" altLang="en-US" sz="2400" dirty="0">
              <a:latin typeface="宋体" panose="02010600030101010101" pitchFamily="2" charset="-122"/>
            </a:endParaRPr>
          </a:p>
          <a:p>
            <a:pPr marL="987425" lvl="2" indent="-294005">
              <a:lnSpc>
                <a:spcPct val="90000"/>
              </a:lnSpc>
              <a:spcBef>
                <a:spcPct val="20000"/>
              </a:spcBef>
              <a:buClr>
                <a:schemeClr val="accent1"/>
              </a:buClr>
              <a:buSzPct val="70000"/>
              <a:buFont typeface="Wingdings" panose="05000000000000000000" pitchFamily="2" charset="2"/>
              <a:buChar char="l"/>
            </a:pPr>
            <a:r>
              <a:rPr lang="en-US" altLang="zh-CN" sz="2400" dirty="0">
                <a:latin typeface="宋体" panose="02010600030101010101" pitchFamily="2" charset="-122"/>
              </a:rPr>
              <a:t>80</a:t>
            </a:r>
            <a:r>
              <a:rPr lang="zh-CN" altLang="en-US" sz="2400" dirty="0">
                <a:latin typeface="宋体" panose="02010600030101010101" pitchFamily="2" charset="-122"/>
              </a:rPr>
              <a:t>列*</a:t>
            </a:r>
            <a:r>
              <a:rPr lang="en-US" altLang="zh-CN" sz="2400" dirty="0">
                <a:latin typeface="宋体" panose="02010600030101010101" pitchFamily="2" charset="-122"/>
              </a:rPr>
              <a:t>25</a:t>
            </a:r>
            <a:r>
              <a:rPr lang="zh-CN" altLang="en-US" sz="2400" dirty="0">
                <a:latin typeface="宋体" panose="02010600030101010101" pitchFamily="2" charset="-122"/>
              </a:rPr>
              <a:t>行</a:t>
            </a:r>
            <a:r>
              <a:rPr lang="en-US" altLang="zh-CN" sz="2400" dirty="0">
                <a:latin typeface="宋体" panose="02010600030101010101" pitchFamily="2" charset="-122"/>
              </a:rPr>
              <a:t>=2000</a:t>
            </a:r>
            <a:r>
              <a:rPr lang="zh-CN" altLang="en-US" sz="2400" dirty="0">
                <a:latin typeface="宋体" panose="02010600030101010101" pitchFamily="2" charset="-122"/>
              </a:rPr>
              <a:t>个字符窗口</a:t>
            </a:r>
            <a:endParaRPr lang="zh-CN" altLang="en-US" sz="2400" dirty="0">
              <a:latin typeface="宋体" panose="02010600030101010101" pitchFamily="2" charset="-122"/>
            </a:endParaRPr>
          </a:p>
          <a:p>
            <a:pPr marL="987425" lvl="2" indent="-294005">
              <a:lnSpc>
                <a:spcPct val="90000"/>
              </a:lnSpc>
              <a:spcBef>
                <a:spcPct val="20000"/>
              </a:spcBef>
              <a:buClr>
                <a:schemeClr val="accent1"/>
              </a:buClr>
              <a:buSzPct val="70000"/>
              <a:buFont typeface="Wingdings" panose="05000000000000000000" pitchFamily="2" charset="2"/>
              <a:buChar char="l"/>
            </a:pPr>
            <a:r>
              <a:rPr lang="zh-CN" altLang="en-US" sz="2400" dirty="0">
                <a:latin typeface="宋体" panose="02010600030101010101" pitchFamily="2" charset="-122"/>
              </a:rPr>
              <a:t>单色字符方式下，每个字符窗口为</a:t>
            </a:r>
            <a:r>
              <a:rPr lang="en-US" altLang="zh-CN" sz="2400" dirty="0">
                <a:latin typeface="宋体" panose="02010600030101010101" pitchFamily="2" charset="-122"/>
              </a:rPr>
              <a:t>9*14</a:t>
            </a:r>
            <a:r>
              <a:rPr lang="zh-CN" altLang="en-US" sz="2400" dirty="0">
                <a:latin typeface="宋体" panose="02010600030101010101" pitchFamily="2" charset="-122"/>
              </a:rPr>
              <a:t>，字符点阵为</a:t>
            </a:r>
            <a:r>
              <a:rPr lang="en-US" altLang="zh-CN" sz="2400" dirty="0">
                <a:latin typeface="宋体" panose="02010600030101010101" pitchFamily="2" charset="-122"/>
              </a:rPr>
              <a:t>7*9</a:t>
            </a:r>
            <a:endParaRPr lang="en-US" altLang="zh-CN" sz="2100" dirty="0">
              <a:latin typeface="宋体" panose="02010600030101010101" pitchFamily="2" charset="-122"/>
            </a:endParaRPr>
          </a:p>
        </p:txBody>
      </p:sp>
      <p:sp>
        <p:nvSpPr>
          <p:cNvPr id="82949" name="Rectangle 5"/>
          <p:cNvSpPr>
            <a:spLocks noChangeArrowheads="1"/>
          </p:cNvSpPr>
          <p:nvPr/>
        </p:nvSpPr>
        <p:spPr bwMode="auto">
          <a:xfrm>
            <a:off x="179512" y="188724"/>
            <a:ext cx="8686800" cy="3124200"/>
          </a:xfrm>
          <a:prstGeom prst="rect">
            <a:avLst/>
          </a:prstGeom>
          <a:solidFill>
            <a:srgbClr val="CCFFFF"/>
          </a:solidFill>
          <a:ln w="9525">
            <a:noFill/>
            <a:miter lim="800000"/>
          </a:ln>
        </p:spPr>
        <p:txBody>
          <a:bodyPr/>
          <a:lstStyle/>
          <a:p>
            <a:pPr marL="342900" indent="-342900">
              <a:lnSpc>
                <a:spcPct val="90000"/>
              </a:lnSpc>
              <a:spcBef>
                <a:spcPct val="20000"/>
              </a:spcBef>
              <a:buClr>
                <a:schemeClr val="tx2"/>
              </a:buClr>
              <a:buSzPct val="70000"/>
              <a:buFont typeface="Wingdings" panose="05000000000000000000" pitchFamily="2" charset="2"/>
              <a:buChar char="l"/>
            </a:pPr>
            <a:r>
              <a:rPr lang="zh-CN" altLang="en-US" sz="2800" dirty="0">
                <a:latin typeface="宋体" panose="02010600030101010101" pitchFamily="2" charset="-122"/>
              </a:rPr>
              <a:t>字符显示器原理</a:t>
            </a:r>
            <a:endParaRPr lang="zh-CN" altLang="en-US" sz="2800" dirty="0">
              <a:latin typeface="宋体" panose="02010600030101010101" pitchFamily="2" charset="-122"/>
            </a:endParaRPr>
          </a:p>
          <a:p>
            <a:pPr marL="692150" lvl="1" indent="-347980">
              <a:lnSpc>
                <a:spcPct val="90000"/>
              </a:lnSpc>
              <a:spcBef>
                <a:spcPct val="20000"/>
              </a:spcBef>
              <a:buClr>
                <a:schemeClr val="accent2"/>
              </a:buClr>
              <a:buSzPct val="70000"/>
              <a:buFont typeface="Wingdings" panose="05000000000000000000" pitchFamily="2" charset="2"/>
              <a:buChar char="l"/>
            </a:pPr>
            <a:r>
              <a:rPr lang="zh-CN" altLang="en-US" sz="2400" dirty="0">
                <a:latin typeface="宋体" panose="02010600030101010101" pitchFamily="2" charset="-122"/>
              </a:rPr>
              <a:t>屏幕上所有字符窗口的</a:t>
            </a:r>
            <a:r>
              <a:rPr lang="en-US" altLang="zh-CN" sz="2400" dirty="0">
                <a:latin typeface="宋体" panose="02010600030101010101" pitchFamily="2" charset="-122"/>
              </a:rPr>
              <a:t>ASCII</a:t>
            </a:r>
            <a:r>
              <a:rPr lang="zh-CN" altLang="en-US" sz="2400" dirty="0">
                <a:latin typeface="宋体" panose="02010600030101010101" pitchFamily="2" charset="-122"/>
              </a:rPr>
              <a:t>存放在视频存储器</a:t>
            </a:r>
            <a:r>
              <a:rPr lang="en-US" altLang="zh-CN" sz="2400" dirty="0">
                <a:latin typeface="宋体" panose="02010600030101010101" pitchFamily="2" charset="-122"/>
              </a:rPr>
              <a:t>VRAM</a:t>
            </a:r>
            <a:r>
              <a:rPr lang="zh-CN" altLang="en-US" sz="2400" dirty="0">
                <a:latin typeface="宋体" panose="02010600030101010101" pitchFamily="2" charset="-122"/>
              </a:rPr>
              <a:t>中，以备刷新，字符发生器</a:t>
            </a:r>
            <a:r>
              <a:rPr lang="en-US" altLang="zh-CN" sz="2400" dirty="0">
                <a:latin typeface="宋体" panose="02010600030101010101" pitchFamily="2" charset="-122"/>
              </a:rPr>
              <a:t>ROM</a:t>
            </a:r>
            <a:r>
              <a:rPr lang="zh-CN" altLang="en-US" sz="2400" dirty="0">
                <a:latin typeface="宋体" panose="02010600030101010101" pitchFamily="2" charset="-122"/>
              </a:rPr>
              <a:t>的高位地址来自</a:t>
            </a:r>
            <a:r>
              <a:rPr lang="en-US" altLang="zh-CN" sz="2400" dirty="0">
                <a:latin typeface="宋体" panose="02010600030101010101" pitchFamily="2" charset="-122"/>
              </a:rPr>
              <a:t>VRAM</a:t>
            </a:r>
            <a:r>
              <a:rPr lang="zh-CN" altLang="en-US" sz="2400" dirty="0">
                <a:latin typeface="宋体" panose="02010600030101010101" pitchFamily="2" charset="-122"/>
              </a:rPr>
              <a:t>的</a:t>
            </a:r>
            <a:r>
              <a:rPr lang="en-US" altLang="zh-CN" sz="2400" dirty="0">
                <a:latin typeface="宋体" panose="02010600030101010101" pitchFamily="2" charset="-122"/>
              </a:rPr>
              <a:t>ASCII</a:t>
            </a:r>
            <a:r>
              <a:rPr lang="zh-CN" altLang="en-US" sz="2400" dirty="0">
                <a:latin typeface="宋体" panose="02010600030101010101" pitchFamily="2" charset="-122"/>
              </a:rPr>
              <a:t>代码，低位地址来自光栅地址计数器的输出</a:t>
            </a:r>
            <a:r>
              <a:rPr lang="en-US" altLang="zh-CN" sz="2400" dirty="0">
                <a:latin typeface="宋体" panose="02010600030101010101" pitchFamily="2" charset="-122"/>
              </a:rPr>
              <a:t>RA3—RA0</a:t>
            </a:r>
            <a:r>
              <a:rPr lang="zh-CN" altLang="en-US" sz="2400" dirty="0">
                <a:latin typeface="宋体" panose="02010600030101010101" pitchFamily="2" charset="-122"/>
              </a:rPr>
              <a:t>，它具体指向这个字形点阵中的某个字节。在显示过程中，按照</a:t>
            </a:r>
            <a:r>
              <a:rPr lang="en-US" altLang="zh-CN" sz="2400" dirty="0">
                <a:latin typeface="宋体" panose="02010600030101010101" pitchFamily="2" charset="-122"/>
              </a:rPr>
              <a:t>VRAM</a:t>
            </a:r>
            <a:r>
              <a:rPr lang="zh-CN" altLang="en-US" sz="2400" dirty="0">
                <a:latin typeface="宋体" panose="02010600030101010101" pitchFamily="2" charset="-122"/>
              </a:rPr>
              <a:t>中的</a:t>
            </a:r>
            <a:r>
              <a:rPr lang="en-US" altLang="zh-CN" sz="2400" dirty="0">
                <a:latin typeface="宋体" panose="02010600030101010101" pitchFamily="2" charset="-122"/>
              </a:rPr>
              <a:t>ASCII</a:t>
            </a:r>
            <a:r>
              <a:rPr lang="zh-CN" altLang="en-US" sz="2400" dirty="0">
                <a:latin typeface="宋体" panose="02010600030101010101" pitchFamily="2" charset="-122"/>
              </a:rPr>
              <a:t>码和光栅地址计数器访问</a:t>
            </a:r>
            <a:r>
              <a:rPr lang="en-US" altLang="zh-CN" sz="2400" dirty="0">
                <a:latin typeface="宋体" panose="02010600030101010101" pitchFamily="2" charset="-122"/>
              </a:rPr>
              <a:t>ROM</a:t>
            </a:r>
            <a:r>
              <a:rPr lang="zh-CN" altLang="en-US" sz="2400" dirty="0">
                <a:latin typeface="宋体" panose="02010600030101010101" pitchFamily="2" charset="-122"/>
              </a:rPr>
              <a:t>，依次取出字形点阵，就可以完成一个字符的输出。</a:t>
            </a:r>
            <a:r>
              <a:rPr lang="zh-CN" altLang="en-US" sz="3000" dirty="0"/>
              <a:t> </a:t>
            </a:r>
            <a:endParaRPr lang="zh-CN" altLang="en-US" sz="3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dissolve">
                                      <p:cBhvr>
                                        <p:cTn id="7" dur="500"/>
                                        <p:tgtEl>
                                          <p:spTgt spid="82948"/>
                                        </p:tgtEl>
                                      </p:cBhvr>
                                    </p:animEffect>
                                  </p:childTnLst>
                                  <p:subTnLst>
                                    <p:set>
                                      <p:cBhvr override="childStyle">
                                        <p:cTn dur="1" fill="hold" display="0" masterRel="nextClick" afterEffect="1"/>
                                        <p:tgtEl>
                                          <p:spTgt spid="8294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949"/>
                                        </p:tgtEl>
                                        <p:attrNameLst>
                                          <p:attrName>style.visibility</p:attrName>
                                        </p:attrNameLst>
                                      </p:cBhvr>
                                      <p:to>
                                        <p:strVal val="visible"/>
                                      </p:to>
                                    </p:set>
                                    <p:animEffect transition="in" filter="dissolve">
                                      <p:cBhvr>
                                        <p:cTn id="12" dur="5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animBg="1" autoUpdateAnimBg="0"/>
      <p:bldP spid="82949"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p:spPr>
        <p:txBody>
          <a:bodyPr/>
          <a:lstStyle/>
          <a:p>
            <a:fld id="{F0954FCA-AB2D-4B9E-AEF0-89EDBC1204C6}" type="slidenum">
              <a:rPr lang="en-US" altLang="zh-CN" smtClean="0"/>
            </a:fld>
            <a:endParaRPr lang="en-US" altLang="zh-CN" smtClean="0"/>
          </a:p>
        </p:txBody>
      </p:sp>
      <p:sp>
        <p:nvSpPr>
          <p:cNvPr id="47107" name="Rectangle 2"/>
          <p:cNvSpPr>
            <a:spLocks noChangeArrowheads="1"/>
          </p:cNvSpPr>
          <p:nvPr/>
        </p:nvSpPr>
        <p:spPr bwMode="auto">
          <a:xfrm>
            <a:off x="323850" y="404813"/>
            <a:ext cx="8496300" cy="6070600"/>
          </a:xfrm>
          <a:prstGeom prst="rect">
            <a:avLst/>
          </a:prstGeom>
          <a:solidFill>
            <a:srgbClr val="CCFFFF"/>
          </a:solidFill>
          <a:ln w="9525">
            <a:noFill/>
            <a:miter lim="800000"/>
          </a:ln>
        </p:spPr>
        <p:txBody>
          <a:bodyPr anchor="ctr">
            <a:spAutoFit/>
          </a:bodyPr>
          <a:lstStyle/>
          <a:p>
            <a:r>
              <a:rPr lang="en-US" altLang="zh-CN" sz="2800" b="1">
                <a:latin typeface="宋体" panose="02010600030101010101" pitchFamily="2" charset="-122"/>
              </a:rPr>
              <a:t>2.</a:t>
            </a:r>
            <a:r>
              <a:rPr lang="zh-CN" altLang="en-US" sz="2800" b="1">
                <a:latin typeface="宋体" panose="02010600030101010101" pitchFamily="2" charset="-122"/>
              </a:rPr>
              <a:t>图形显示</a:t>
            </a:r>
            <a:endParaRPr lang="zh-CN" altLang="en-US" sz="2800">
              <a:latin typeface="宋体" panose="02010600030101010101" pitchFamily="2" charset="-122"/>
            </a:endParaRPr>
          </a:p>
          <a:p>
            <a:r>
              <a:rPr lang="zh-CN" altLang="en-US" sz="2800" b="1">
                <a:latin typeface="宋体" panose="02010600030101010101" pitchFamily="2" charset="-122"/>
              </a:rPr>
              <a:t>　　</a:t>
            </a:r>
            <a:r>
              <a:rPr lang="zh-CN" altLang="en-US" sz="2800">
                <a:latin typeface="宋体" panose="02010600030101010101" pitchFamily="2" charset="-122"/>
              </a:rPr>
              <a:t>图形显示是指用计算机手段表示现实世界的各种事物，并形象逼真地加以显示。根据产生图形的方法，分随机扫描图形显示器和光栅扫描图形显示器。 </a:t>
            </a:r>
            <a:endParaRPr lang="zh-CN" altLang="en-US" sz="2800">
              <a:latin typeface="宋体" panose="02010600030101010101" pitchFamily="2" charset="-122"/>
            </a:endParaRPr>
          </a:p>
          <a:p>
            <a:r>
              <a:rPr lang="en-US" altLang="zh-CN" sz="2800" b="1">
                <a:latin typeface="宋体" panose="02010600030101010101" pitchFamily="2" charset="-122"/>
              </a:rPr>
              <a:t>(1)</a:t>
            </a:r>
            <a:r>
              <a:rPr lang="zh-CN" altLang="en-US" sz="2800" b="1">
                <a:latin typeface="宋体" panose="02010600030101010101" pitchFamily="2" charset="-122"/>
              </a:rPr>
              <a:t>随机扫描图形显示器</a:t>
            </a:r>
            <a:endParaRPr lang="zh-CN" altLang="en-US" sz="2800">
              <a:latin typeface="宋体" panose="02010600030101010101" pitchFamily="2" charset="-122"/>
            </a:endParaRPr>
          </a:p>
          <a:p>
            <a:r>
              <a:rPr lang="zh-CN" altLang="en-US" sz="2800">
                <a:latin typeface="宋体" panose="02010600030101010101" pitchFamily="2" charset="-122"/>
              </a:rPr>
              <a:t>　　工作原理是将所显示图形的一组坐标点和绘图命令组成显示文件存放在缓冲存储器，缓存中的显示文件送矢量</a:t>
            </a:r>
            <a:r>
              <a:rPr lang="en-US" altLang="zh-CN" sz="2800">
                <a:latin typeface="宋体" panose="02010600030101010101" pitchFamily="2" charset="-122"/>
              </a:rPr>
              <a:t>(</a:t>
            </a:r>
            <a:r>
              <a:rPr lang="zh-CN" altLang="en-US" sz="2800">
                <a:latin typeface="宋体" panose="02010600030101010101" pitchFamily="2" charset="-122"/>
              </a:rPr>
              <a:t>线段</a:t>
            </a:r>
            <a:r>
              <a:rPr lang="en-US" altLang="zh-CN" sz="2800">
                <a:latin typeface="宋体" panose="02010600030101010101" pitchFamily="2" charset="-122"/>
              </a:rPr>
              <a:t>)</a:t>
            </a:r>
            <a:r>
              <a:rPr lang="zh-CN" altLang="en-US" sz="2800">
                <a:latin typeface="宋体" panose="02010600030101010101" pitchFamily="2" charset="-122"/>
              </a:rPr>
              <a:t>产生器，产生相应的模拟电压，直接控制电子束在屏幕上的移动。为了在屏幕上保留持久稳定的图像，需要按一定的频率对屏幕反复刷新。</a:t>
            </a:r>
            <a:endParaRPr lang="zh-CN" altLang="en-US" sz="2800">
              <a:latin typeface="宋体" panose="02010600030101010101" pitchFamily="2" charset="-122"/>
            </a:endParaRPr>
          </a:p>
          <a:p>
            <a:r>
              <a:rPr lang="zh-CN" altLang="en-US" sz="2800">
                <a:latin typeface="宋体" panose="02010600030101010101" pitchFamily="2" charset="-122"/>
              </a:rPr>
              <a:t>　　这种显示器的优点是分辨率高</a:t>
            </a:r>
            <a:r>
              <a:rPr lang="en-US" altLang="zh-CN" sz="2800">
                <a:latin typeface="宋体" panose="02010600030101010101" pitchFamily="2" charset="-122"/>
              </a:rPr>
              <a:t>(</a:t>
            </a:r>
            <a:r>
              <a:rPr lang="zh-CN" altLang="en-US" sz="2800">
                <a:latin typeface="宋体" panose="02010600030101010101" pitchFamily="2" charset="-122"/>
              </a:rPr>
              <a:t>可达</a:t>
            </a:r>
            <a:r>
              <a:rPr lang="en-US" altLang="zh-CN" sz="2800">
                <a:latin typeface="宋体" panose="02010600030101010101" pitchFamily="2" charset="-122"/>
              </a:rPr>
              <a:t>4096×4096</a:t>
            </a:r>
            <a:r>
              <a:rPr lang="zh-CN" altLang="en-US" sz="2800">
                <a:latin typeface="宋体" panose="02010600030101010101" pitchFamily="2" charset="-122"/>
              </a:rPr>
              <a:t>个像素</a:t>
            </a:r>
            <a:r>
              <a:rPr lang="en-US" altLang="zh-CN" sz="2800">
                <a:latin typeface="宋体" panose="02010600030101010101" pitchFamily="2" charset="-122"/>
              </a:rPr>
              <a:t>)</a:t>
            </a:r>
            <a:r>
              <a:rPr lang="zh-CN" altLang="en-US" sz="2800">
                <a:latin typeface="宋体" panose="02010600030101010101" pitchFamily="2" charset="-122"/>
              </a:rPr>
              <a:t>，显示的曲线平滑。目前高质量图形显示器采用这种随机扫描方式。缺点是当显示复杂图形时，会有闪烁感。</a:t>
            </a:r>
            <a:endParaRPr lang="zh-CN" altLang="en-US" sz="240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p:spPr>
        <p:txBody>
          <a:bodyPr/>
          <a:lstStyle/>
          <a:p>
            <a:fld id="{9DBCD04A-230D-492D-B69C-995E1D6E358F}" type="slidenum">
              <a:rPr lang="en-US" altLang="zh-CN" smtClean="0"/>
            </a:fld>
            <a:endParaRPr lang="en-US" altLang="zh-CN" smtClean="0"/>
          </a:p>
        </p:txBody>
      </p:sp>
      <p:sp>
        <p:nvSpPr>
          <p:cNvPr id="48131" name="Rectangle 2"/>
          <p:cNvSpPr>
            <a:spLocks noChangeArrowheads="1"/>
          </p:cNvSpPr>
          <p:nvPr/>
        </p:nvSpPr>
        <p:spPr bwMode="auto">
          <a:xfrm>
            <a:off x="468313" y="524669"/>
            <a:ext cx="8135937" cy="5692775"/>
          </a:xfrm>
          <a:prstGeom prst="rect">
            <a:avLst/>
          </a:prstGeom>
          <a:solidFill>
            <a:srgbClr val="CCFFFF"/>
          </a:solidFill>
          <a:ln w="9525">
            <a:noFill/>
            <a:miter lim="800000"/>
          </a:ln>
        </p:spPr>
        <p:txBody>
          <a:bodyPr anchor="ctr">
            <a:spAutoFit/>
          </a:bodyPr>
          <a:lstStyle/>
          <a:p>
            <a:pPr eaLnBrk="0" hangingPunct="0"/>
            <a:r>
              <a:rPr lang="en-US" altLang="zh-CN" sz="2800" b="1">
                <a:latin typeface="宋体" panose="02010600030101010101" pitchFamily="2" charset="-122"/>
              </a:rPr>
              <a:t>    (2)</a:t>
            </a:r>
            <a:r>
              <a:rPr lang="zh-CN" altLang="en-US" sz="2800" b="1">
                <a:latin typeface="宋体" panose="02010600030101010101" pitchFamily="2" charset="-122"/>
              </a:rPr>
              <a:t>光栅扫描图形显示器</a:t>
            </a:r>
            <a:endParaRPr lang="zh-CN" altLang="en-US" sz="2800">
              <a:latin typeface="宋体" panose="02010600030101010101" pitchFamily="2" charset="-122"/>
            </a:endParaRPr>
          </a:p>
          <a:p>
            <a:pPr eaLnBrk="0" hangingPunct="0"/>
            <a:r>
              <a:rPr lang="zh-CN" altLang="en-US" sz="2800">
                <a:latin typeface="宋体" panose="02010600030101010101" pitchFamily="2" charset="-122"/>
              </a:rPr>
              <a:t>　　产生图形的方法称为</a:t>
            </a:r>
            <a:r>
              <a:rPr lang="zh-CN" altLang="en-US" sz="2800" b="1">
                <a:latin typeface="宋体" panose="02010600030101010101" pitchFamily="2" charset="-122"/>
              </a:rPr>
              <a:t>相邻像素串接法</a:t>
            </a:r>
            <a:r>
              <a:rPr lang="zh-CN" altLang="en-US" sz="2800">
                <a:latin typeface="宋体" panose="02010600030101010101" pitchFamily="2" charset="-122"/>
              </a:rPr>
              <a:t>，即曲线是由相邻像素串接而成。因此光栅扫描图形显示器的原理是：把对应于屏幕上每个像素的信息都用存储器存起来，然后按地址顺序逐个地刷新显示在屏幕上。</a:t>
            </a:r>
            <a:endParaRPr lang="zh-CN" altLang="en-US" sz="2800">
              <a:latin typeface="宋体" panose="02010600030101010101" pitchFamily="2" charset="-122"/>
            </a:endParaRPr>
          </a:p>
          <a:p>
            <a:pPr eaLnBrk="0" hangingPunct="0"/>
            <a:r>
              <a:rPr lang="zh-CN" altLang="en-US" sz="2800">
                <a:latin typeface="宋体" panose="02010600030101010101" pitchFamily="2" charset="-122"/>
              </a:rPr>
              <a:t>　　光栅扫描图形显示器的优点是通用性强，灰度层次多，色调丰富，显示复杂图形时无闪烁现象；所产生的图形有阴影效应、隐藏面消除、涂色等功能。它的出现使图形学的研究从简单的线条图扩展到丰富多彩、形象逼真的各种立体及平面图形，从而扩大了计算机图形学的应用领域，成为目前流行的显示器。</a:t>
            </a:r>
            <a:endParaRPr lang="zh-CN" altLang="en-US" sz="280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p>
            <a:fld id="{3AE1095D-8442-4F14-8CFA-3A702D2144AF}" type="slidenum">
              <a:rPr lang="en-US" altLang="zh-CN" smtClean="0"/>
            </a:fld>
            <a:endParaRPr lang="en-US" altLang="zh-CN" smtClean="0"/>
          </a:p>
        </p:txBody>
      </p:sp>
      <p:sp>
        <p:nvSpPr>
          <p:cNvPr id="50179" name="Rectangle 2"/>
          <p:cNvSpPr>
            <a:spLocks noChangeArrowheads="1"/>
          </p:cNvSpPr>
          <p:nvPr/>
        </p:nvSpPr>
        <p:spPr bwMode="auto">
          <a:xfrm>
            <a:off x="250825" y="188913"/>
            <a:ext cx="8640763" cy="6585585"/>
          </a:xfrm>
          <a:prstGeom prst="rect">
            <a:avLst/>
          </a:prstGeom>
          <a:solidFill>
            <a:srgbClr val="CCFFFF"/>
          </a:solidFill>
          <a:ln w="9525">
            <a:solidFill>
              <a:srgbClr val="CCFFFF"/>
            </a:solidFill>
            <a:miter lim="800000"/>
          </a:ln>
        </p:spPr>
        <p:txBody>
          <a:bodyPr>
            <a:spAutoFit/>
          </a:bodyPr>
          <a:lstStyle/>
          <a:p>
            <a:r>
              <a:rPr lang="en-US" altLang="zh-CN" sz="3200" b="1">
                <a:latin typeface="宋体" panose="02010600030101010101" pitchFamily="2" charset="-122"/>
              </a:rPr>
              <a:t>7.5.3 </a:t>
            </a:r>
            <a:r>
              <a:rPr lang="zh-CN" altLang="en-US" sz="3200" b="1">
                <a:latin typeface="宋体" panose="02010600030101010101" pitchFamily="2" charset="-122"/>
              </a:rPr>
              <a:t>图像显示设备</a:t>
            </a:r>
            <a:r>
              <a:rPr lang="zh-CN" altLang="en-US" sz="2400" b="1" i="1">
                <a:latin typeface="宋体" panose="02010600030101010101" pitchFamily="2" charset="-122"/>
              </a:rPr>
              <a:t> 　　　</a:t>
            </a:r>
            <a:endParaRPr lang="zh-CN" altLang="en-US" sz="2400" b="1">
              <a:latin typeface="宋体" panose="02010600030101010101" pitchFamily="2" charset="-122"/>
            </a:endParaRPr>
          </a:p>
          <a:p>
            <a:r>
              <a:rPr lang="zh-CN" altLang="en-US" sz="2400">
                <a:latin typeface="宋体" panose="02010600030101010101" pitchFamily="2" charset="-122"/>
              </a:rPr>
              <a:t>　　</a:t>
            </a:r>
            <a:r>
              <a:rPr lang="zh-CN" altLang="en-US" sz="2600">
                <a:latin typeface="宋体" panose="02010600030101010101" pitchFamily="2" charset="-122"/>
              </a:rPr>
              <a:t>图形是用计算机表示和生成的图，称作</a:t>
            </a:r>
            <a:r>
              <a:rPr lang="zh-CN" altLang="en-US" sz="2600" b="1">
                <a:latin typeface="宋体" panose="02010600030101010101" pitchFamily="2" charset="-122"/>
              </a:rPr>
              <a:t>主观图像</a:t>
            </a:r>
            <a:r>
              <a:rPr lang="zh-CN" altLang="en-US" sz="2600">
                <a:latin typeface="宋体" panose="02010600030101010101" pitchFamily="2" charset="-122"/>
              </a:rPr>
              <a:t>。在计算机中表示图形，只需存储绘图命令和坐标点，没有必要存储每个像素点。而图像所处理的对象多半来自客观世界，即由摄像机摄取下来存入计算机的数字图像，这种图像称为</a:t>
            </a:r>
            <a:r>
              <a:rPr lang="zh-CN" altLang="en-US" sz="2600" b="1">
                <a:latin typeface="宋体" panose="02010600030101010101" pitchFamily="2" charset="-122"/>
              </a:rPr>
              <a:t>客观图像</a:t>
            </a:r>
            <a:r>
              <a:rPr lang="zh-CN" altLang="en-US" sz="2600">
                <a:latin typeface="宋体" panose="02010600030101010101" pitchFamily="2" charset="-122"/>
              </a:rPr>
              <a:t>。</a:t>
            </a:r>
            <a:endParaRPr lang="zh-CN" altLang="en-US" sz="2600">
              <a:latin typeface="宋体" panose="02010600030101010101" pitchFamily="2" charset="-122"/>
            </a:endParaRPr>
          </a:p>
          <a:p>
            <a:r>
              <a:rPr lang="zh-CN" altLang="en-US" sz="2600">
                <a:latin typeface="宋体" panose="02010600030101010101" pitchFamily="2" charset="-122"/>
              </a:rPr>
              <a:t>    由于数字化以后逐点存储，因此图像处理需要占用非常庞大的主存空间。</a:t>
            </a:r>
            <a:endParaRPr lang="zh-CN" altLang="en-US" sz="2600">
              <a:latin typeface="宋体" panose="02010600030101010101" pitchFamily="2" charset="-122"/>
            </a:endParaRPr>
          </a:p>
          <a:p>
            <a:r>
              <a:rPr lang="zh-CN" altLang="en-US" sz="2600">
                <a:latin typeface="宋体" panose="02010600030101010101" pitchFamily="2" charset="-122"/>
              </a:rPr>
              <a:t>    </a:t>
            </a:r>
            <a:r>
              <a:rPr lang="zh-CN" altLang="en-US" sz="2600" b="1">
                <a:latin typeface="宋体" panose="02010600030101010101" pitchFamily="2" charset="-122"/>
              </a:rPr>
              <a:t>图像显示器</a:t>
            </a:r>
            <a:endParaRPr lang="zh-CN" altLang="en-US" sz="2600" b="1">
              <a:latin typeface="宋体" panose="02010600030101010101" pitchFamily="2" charset="-122"/>
            </a:endParaRPr>
          </a:p>
          <a:p>
            <a:r>
              <a:rPr lang="zh-CN" altLang="en-US" sz="2600">
                <a:latin typeface="宋体" panose="02010600030101010101" pitchFamily="2" charset="-122"/>
              </a:rPr>
              <a:t>    </a:t>
            </a:r>
            <a:r>
              <a:rPr lang="zh-CN" altLang="en-US" sz="2600" b="1">
                <a:latin typeface="宋体" panose="02010600030101010101" pitchFamily="2" charset="-122"/>
              </a:rPr>
              <a:t>简单图像显示器：</a:t>
            </a:r>
            <a:r>
              <a:rPr lang="zh-CN" altLang="en-US" sz="2600">
                <a:latin typeface="宋体" panose="02010600030101010101" pitchFamily="2" charset="-122"/>
              </a:rPr>
              <a:t>仅仅显示由计算机送来的数字图像。图像处理操作在计算机中完成，显示器不做任何处理。</a:t>
            </a:r>
            <a:endParaRPr lang="zh-CN" altLang="en-US" sz="2600">
              <a:latin typeface="宋体" panose="02010600030101010101" pitchFamily="2" charset="-122"/>
            </a:endParaRPr>
          </a:p>
          <a:p>
            <a:r>
              <a:rPr lang="zh-CN" altLang="en-US" sz="2600">
                <a:latin typeface="宋体" panose="02010600030101010101" pitchFamily="2" charset="-122"/>
              </a:rPr>
              <a:t>    </a:t>
            </a:r>
            <a:r>
              <a:rPr lang="zh-CN" altLang="en-US" sz="2600" b="1">
                <a:latin typeface="宋体" panose="02010600030101010101" pitchFamily="2" charset="-122"/>
              </a:rPr>
              <a:t>图形处理子系统：</a:t>
            </a:r>
            <a:r>
              <a:rPr lang="zh-CN" altLang="en-US" sz="2600">
                <a:latin typeface="宋体" panose="02010600030101010101" pitchFamily="2" charset="-122"/>
              </a:rPr>
              <a:t>本身就是一个具有并行处理功能的专用计算机，不仅能完成显示操作，同时可以快速执行许多图像处理算法，减轻主计算机系统的运算量。这种子系统可以单独使用，也可以联到通用计算机系统。目前流行的图形工作站就属于图形处理子系统。</a:t>
            </a:r>
            <a:endParaRPr lang="zh-CN" altLang="en-US" sz="260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p>
            <a:fld id="{F2A0A982-13DA-44BA-82EB-295003887E06}" type="slidenum">
              <a:rPr lang="en-US" altLang="zh-CN" smtClean="0"/>
            </a:fld>
            <a:endParaRPr lang="en-US" altLang="zh-CN" smtClean="0"/>
          </a:p>
        </p:txBody>
      </p:sp>
      <p:sp>
        <p:nvSpPr>
          <p:cNvPr id="89090" name="Text Box 2"/>
          <p:cNvSpPr txBox="1">
            <a:spLocks noChangeArrowheads="1"/>
          </p:cNvSpPr>
          <p:nvPr/>
        </p:nvSpPr>
        <p:spPr bwMode="auto">
          <a:xfrm>
            <a:off x="250825" y="2493963"/>
            <a:ext cx="8642350" cy="1640840"/>
          </a:xfrm>
          <a:prstGeom prst="rect">
            <a:avLst/>
          </a:prstGeom>
          <a:noFill/>
          <a:ln w="9525">
            <a:noFill/>
            <a:miter lim="800000"/>
          </a:ln>
        </p:spPr>
        <p:txBody>
          <a:bodyPr>
            <a:spAutoFit/>
          </a:bodyPr>
          <a:lstStyle/>
          <a:p>
            <a:pPr algn="just">
              <a:lnSpc>
                <a:spcPct val="90000"/>
              </a:lnSpc>
              <a:spcBef>
                <a:spcPct val="20000"/>
              </a:spcBef>
            </a:pPr>
            <a:r>
              <a:rPr kumimoji="1" lang="en-US" altLang="zh-CN" sz="2400" dirty="0">
                <a:latin typeface="宋体" panose="02010600030101010101" pitchFamily="2" charset="-122"/>
              </a:rPr>
              <a:t>【</a:t>
            </a:r>
            <a:r>
              <a:rPr kumimoji="1" lang="zh-CN" altLang="en-US" sz="2400" dirty="0">
                <a:latin typeface="宋体" panose="02010600030101010101" pitchFamily="2" charset="-122"/>
              </a:rPr>
              <a:t>解</a:t>
            </a:r>
            <a:r>
              <a:rPr kumimoji="1" lang="en-US" altLang="zh-CN" sz="2400" dirty="0">
                <a:latin typeface="宋体" panose="02010600030101010101" pitchFamily="2" charset="-122"/>
              </a:rPr>
              <a:t>】</a:t>
            </a:r>
            <a:endParaRPr kumimoji="1" lang="en-US" altLang="zh-CN" sz="2400" dirty="0">
              <a:latin typeface="宋体" panose="02010600030101010101" pitchFamily="2" charset="-122"/>
            </a:endParaRPr>
          </a:p>
          <a:p>
            <a:pPr algn="just">
              <a:lnSpc>
                <a:spcPct val="90000"/>
              </a:lnSpc>
              <a:spcBef>
                <a:spcPct val="20000"/>
              </a:spcBef>
            </a:pPr>
            <a:r>
              <a:rPr kumimoji="1" lang="en-US" altLang="zh-CN" sz="2400" dirty="0">
                <a:latin typeface="宋体" panose="02010600030101010101" pitchFamily="2" charset="-122"/>
                <a:cs typeface="Times New Roman" panose="02020603050405020304" charset="0"/>
              </a:rPr>
              <a:t>   ∵ </a:t>
            </a:r>
            <a:r>
              <a:rPr kumimoji="1" lang="zh-CN" altLang="en-US" sz="2400" dirty="0">
                <a:latin typeface="宋体" panose="02010600030101010101" pitchFamily="2" charset="-122"/>
              </a:rPr>
              <a:t>刷新所需带宽</a:t>
            </a:r>
            <a:r>
              <a:rPr kumimoji="1" lang="en-US" altLang="zh-CN" sz="2400" dirty="0">
                <a:latin typeface="宋体" panose="02010600030101010101" pitchFamily="2" charset="-122"/>
              </a:rPr>
              <a:t>=</a:t>
            </a:r>
            <a:r>
              <a:rPr kumimoji="1" lang="zh-CN" altLang="en-US" sz="2400" dirty="0">
                <a:latin typeface="宋体" panose="02010600030101010101" pitchFamily="2" charset="-122"/>
              </a:rPr>
              <a:t>分辨率</a:t>
            </a:r>
            <a:r>
              <a:rPr kumimoji="1" lang="en-US" altLang="zh-CN" sz="2400" dirty="0">
                <a:latin typeface="宋体" panose="02010600030101010101" pitchFamily="2" charset="-122"/>
              </a:rPr>
              <a:t>×</a:t>
            </a:r>
            <a:r>
              <a:rPr kumimoji="1" lang="zh-CN" altLang="en-US" sz="2400" dirty="0">
                <a:latin typeface="宋体" panose="02010600030101010101" pitchFamily="2" charset="-122"/>
              </a:rPr>
              <a:t>每个像素点颜色深度</a:t>
            </a:r>
            <a:r>
              <a:rPr kumimoji="1" lang="en-US" altLang="zh-CN" sz="2400" dirty="0">
                <a:latin typeface="宋体" panose="02010600030101010101" pitchFamily="2" charset="-122"/>
              </a:rPr>
              <a:t>×</a:t>
            </a:r>
            <a:r>
              <a:rPr kumimoji="1" lang="zh-CN" altLang="en-US" sz="2400" dirty="0">
                <a:latin typeface="宋体" panose="02010600030101010101" pitchFamily="2" charset="-122"/>
              </a:rPr>
              <a:t>刷新速率</a:t>
            </a:r>
            <a:endParaRPr kumimoji="1" lang="zh-CN" altLang="en-US" sz="2400" dirty="0">
              <a:latin typeface="宋体" panose="02010600030101010101" pitchFamily="2" charset="-122"/>
            </a:endParaRPr>
          </a:p>
          <a:p>
            <a:pPr algn="just">
              <a:lnSpc>
                <a:spcPct val="90000"/>
              </a:lnSpc>
              <a:spcBef>
                <a:spcPct val="20000"/>
              </a:spcBef>
            </a:pPr>
            <a:r>
              <a:rPr kumimoji="1" lang="zh-CN" altLang="en-US" sz="2400" dirty="0">
                <a:latin typeface="宋体" panose="02010600030101010101" pitchFamily="2" charset="-122"/>
              </a:rPr>
              <a:t>   ∴ </a:t>
            </a:r>
            <a:r>
              <a:rPr kumimoji="1" lang="en-US" altLang="zh-CN" sz="2400" dirty="0">
                <a:latin typeface="宋体" panose="02010600030101010101" pitchFamily="2" charset="-122"/>
              </a:rPr>
              <a:t>1024×768×3B×72/s=165888KB/s=162MB/s</a:t>
            </a:r>
            <a:endParaRPr kumimoji="1" lang="en-US" altLang="zh-CN" sz="2400" dirty="0">
              <a:latin typeface="宋体" panose="02010600030101010101" pitchFamily="2" charset="-122"/>
            </a:endParaRPr>
          </a:p>
          <a:p>
            <a:pPr algn="just">
              <a:lnSpc>
                <a:spcPct val="90000"/>
              </a:lnSpc>
              <a:spcBef>
                <a:spcPct val="20000"/>
              </a:spcBef>
            </a:pPr>
            <a:r>
              <a:rPr kumimoji="1" lang="en-US" altLang="zh-CN" sz="2400" dirty="0">
                <a:latin typeface="宋体" panose="02010600030101010101" pitchFamily="2" charset="-122"/>
              </a:rPr>
              <a:t>   </a:t>
            </a:r>
            <a:r>
              <a:rPr kumimoji="1" lang="zh-CN" altLang="en-US" sz="2400" dirty="0">
                <a:latin typeface="宋体" panose="02010600030101010101" pitchFamily="2" charset="-122"/>
              </a:rPr>
              <a:t>刷存总带宽应为</a:t>
            </a:r>
            <a:r>
              <a:rPr kumimoji="1" lang="en-US" altLang="zh-CN" sz="2400" dirty="0">
                <a:latin typeface="宋体" panose="02010600030101010101" pitchFamily="2" charset="-122"/>
              </a:rPr>
              <a:t>162MB/s×100/50=324MB/s</a:t>
            </a:r>
            <a:endParaRPr kumimoji="1" lang="zh-CN" altLang="en-US" sz="2400" dirty="0">
              <a:latin typeface="Times New Roman" panose="02020603050405020304" charset="0"/>
            </a:endParaRPr>
          </a:p>
        </p:txBody>
      </p:sp>
      <p:sp>
        <p:nvSpPr>
          <p:cNvPr id="52228" name="Rectangle 3"/>
          <p:cNvSpPr>
            <a:spLocks noChangeArrowheads="1"/>
          </p:cNvSpPr>
          <p:nvPr/>
        </p:nvSpPr>
        <p:spPr bwMode="auto">
          <a:xfrm>
            <a:off x="250825" y="188913"/>
            <a:ext cx="8642350" cy="1938020"/>
          </a:xfrm>
          <a:prstGeom prst="rect">
            <a:avLst/>
          </a:prstGeom>
          <a:solidFill>
            <a:srgbClr val="CCFFFF"/>
          </a:solidFill>
          <a:ln w="9525">
            <a:noFill/>
            <a:miter lim="800000"/>
          </a:ln>
        </p:spPr>
        <p:txBody>
          <a:bodyPr>
            <a:spAutoFit/>
          </a:bodyPr>
          <a:lstStyle/>
          <a:p>
            <a:r>
              <a:rPr lang="en-US" altLang="zh-CN" sz="2400" dirty="0" smtClean="0">
                <a:latin typeface="宋体" panose="02010600030101010101" pitchFamily="2" charset="-122"/>
              </a:rPr>
              <a:t>【</a:t>
            </a:r>
            <a:r>
              <a:rPr lang="zh-CN" altLang="en-US" sz="2400" dirty="0" smtClean="0">
                <a:latin typeface="宋体" panose="02010600030101010101" pitchFamily="2" charset="-122"/>
              </a:rPr>
              <a:t>例</a:t>
            </a:r>
            <a:r>
              <a:rPr lang="en-US" altLang="zh-CN" sz="2400" dirty="0" smtClean="0">
                <a:latin typeface="宋体" panose="02010600030101010101" pitchFamily="2" charset="-122"/>
              </a:rPr>
              <a:t>】</a:t>
            </a:r>
            <a:r>
              <a:rPr lang="zh-CN" altLang="en-US" sz="2400" dirty="0">
                <a:latin typeface="宋体" panose="02010600030101010101" pitchFamily="2" charset="-122"/>
              </a:rPr>
              <a:t>刷存的重要性能指标是它的带宽。实际工作时显示适配器的几个功能部分要争用刷存的带宽。假定总带宽的</a:t>
            </a:r>
            <a:r>
              <a:rPr lang="en-US" altLang="zh-CN" sz="2400" dirty="0">
                <a:latin typeface="宋体" panose="02010600030101010101" pitchFamily="2" charset="-122"/>
              </a:rPr>
              <a:t>50%</a:t>
            </a:r>
            <a:r>
              <a:rPr lang="zh-CN" altLang="en-US" sz="2400" dirty="0">
                <a:latin typeface="宋体" panose="02010600030101010101" pitchFamily="2" charset="-122"/>
              </a:rPr>
              <a:t>用于刷新屏幕，保留</a:t>
            </a:r>
            <a:r>
              <a:rPr lang="en-US" altLang="zh-CN" sz="2400" dirty="0">
                <a:latin typeface="宋体" panose="02010600030101010101" pitchFamily="2" charset="-122"/>
              </a:rPr>
              <a:t>50%</a:t>
            </a:r>
            <a:r>
              <a:rPr lang="zh-CN" altLang="en-US" sz="2400" dirty="0">
                <a:latin typeface="宋体" panose="02010600030101010101" pitchFamily="2" charset="-122"/>
              </a:rPr>
              <a:t>带宽用于其他非刷新功能。若显示工作方式采用分辨率为</a:t>
            </a:r>
            <a:r>
              <a:rPr lang="en-US" altLang="zh-CN" sz="2400" dirty="0">
                <a:latin typeface="宋体" panose="02010600030101010101" pitchFamily="2" charset="-122"/>
              </a:rPr>
              <a:t>1024×768</a:t>
            </a:r>
            <a:r>
              <a:rPr lang="zh-CN" altLang="en-US" sz="2400" dirty="0">
                <a:latin typeface="宋体" panose="02010600030101010101" pitchFamily="2" charset="-122"/>
              </a:rPr>
              <a:t>，颜色深度为</a:t>
            </a:r>
            <a:r>
              <a:rPr lang="en-US" altLang="zh-CN" sz="2400" dirty="0">
                <a:latin typeface="宋体" panose="02010600030101010101" pitchFamily="2" charset="-122"/>
              </a:rPr>
              <a:t>3B</a:t>
            </a:r>
            <a:r>
              <a:rPr lang="zh-CN" altLang="en-US" sz="2400" dirty="0">
                <a:latin typeface="宋体" panose="02010600030101010101" pitchFamily="2" charset="-122"/>
              </a:rPr>
              <a:t>，帧频</a:t>
            </a:r>
            <a:r>
              <a:rPr lang="en-US" altLang="zh-CN" sz="2400" dirty="0">
                <a:latin typeface="宋体" panose="02010600030101010101" pitchFamily="2" charset="-122"/>
              </a:rPr>
              <a:t>(</a:t>
            </a:r>
            <a:r>
              <a:rPr lang="zh-CN" altLang="en-US" sz="2400" dirty="0">
                <a:latin typeface="宋体" panose="02010600030101010101" pitchFamily="2" charset="-122"/>
              </a:rPr>
              <a:t>刷新速率</a:t>
            </a:r>
            <a:r>
              <a:rPr lang="en-US" altLang="zh-CN" sz="2400" dirty="0">
                <a:latin typeface="宋体" panose="02010600030101010101" pitchFamily="2" charset="-122"/>
              </a:rPr>
              <a:t>)</a:t>
            </a:r>
            <a:r>
              <a:rPr lang="zh-CN" altLang="en-US" sz="2400" dirty="0">
                <a:latin typeface="宋体" panose="02010600030101010101" pitchFamily="2" charset="-122"/>
              </a:rPr>
              <a:t>为</a:t>
            </a:r>
            <a:r>
              <a:rPr lang="en-US" altLang="zh-CN" sz="2400" dirty="0">
                <a:latin typeface="宋体" panose="02010600030101010101" pitchFamily="2" charset="-122"/>
              </a:rPr>
              <a:t>72Hz</a:t>
            </a:r>
            <a:r>
              <a:rPr lang="zh-CN" altLang="en-US" sz="2400" dirty="0">
                <a:latin typeface="宋体" panose="02010600030101010101" pitchFamily="2" charset="-122"/>
              </a:rPr>
              <a:t>，计算刷存总带宽应为多少</a:t>
            </a:r>
            <a:r>
              <a:rPr lang="en-US" altLang="zh-CN" sz="2400" dirty="0">
                <a:latin typeface="宋体" panose="02010600030101010101" pitchFamily="2" charset="-122"/>
              </a:rPr>
              <a:t>? </a:t>
            </a:r>
            <a:endParaRPr lang="en-US" altLang="zh-CN" sz="2400" dirty="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blinds(horizontal)">
                                      <p:cBhvr>
                                        <p:cTn id="7" dur="500"/>
                                        <p:tgtEl>
                                          <p:spTgt spid="89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p>
            <a:fld id="{D012A12B-96D1-4B2A-A9E3-E8315EA79DB5}" type="slidenum">
              <a:rPr lang="en-US" altLang="zh-CN" smtClean="0"/>
            </a:fld>
            <a:endParaRPr lang="en-US" altLang="zh-CN" smtClean="0"/>
          </a:p>
        </p:txBody>
      </p:sp>
      <p:sp>
        <p:nvSpPr>
          <p:cNvPr id="53251" name="Rectangle 2"/>
          <p:cNvSpPr>
            <a:spLocks noChangeArrowheads="1"/>
          </p:cNvSpPr>
          <p:nvPr/>
        </p:nvSpPr>
        <p:spPr bwMode="auto">
          <a:xfrm>
            <a:off x="250825" y="1700213"/>
            <a:ext cx="8569325" cy="1373187"/>
          </a:xfrm>
          <a:prstGeom prst="rect">
            <a:avLst/>
          </a:prstGeom>
          <a:solidFill>
            <a:srgbClr val="CCFFFF"/>
          </a:solidFill>
          <a:ln w="9525">
            <a:noFill/>
            <a:miter lim="800000"/>
          </a:ln>
        </p:spPr>
        <p:txBody>
          <a:bodyPr anchor="ctr">
            <a:spAutoFit/>
          </a:bodyPr>
          <a:lstStyle/>
          <a:p>
            <a:r>
              <a:rPr lang="en-US" altLang="zh-CN" sz="2800" dirty="0" smtClean="0">
                <a:latin typeface="宋体" panose="02010600030101010101" pitchFamily="2" charset="-122"/>
              </a:rPr>
              <a:t>[</a:t>
            </a:r>
            <a:r>
              <a:rPr lang="zh-CN" altLang="en-US" sz="2800" dirty="0" smtClean="0">
                <a:latin typeface="宋体" panose="02010600030101010101" pitchFamily="2" charset="-122"/>
              </a:rPr>
              <a:t>例</a:t>
            </a:r>
            <a:r>
              <a:rPr lang="en-US" altLang="zh-CN" sz="2800" dirty="0" smtClean="0">
                <a:latin typeface="宋体" panose="02010600030101010101" pitchFamily="2" charset="-122"/>
              </a:rPr>
              <a:t>]CRT</a:t>
            </a:r>
            <a:r>
              <a:rPr lang="zh-CN" altLang="en-US" sz="2800" dirty="0">
                <a:latin typeface="宋体" panose="02010600030101010101" pitchFamily="2" charset="-122"/>
              </a:rPr>
              <a:t>的颜色数为</a:t>
            </a:r>
            <a:r>
              <a:rPr lang="en-US" altLang="zh-CN" sz="2800" dirty="0">
                <a:latin typeface="宋体" panose="02010600030101010101" pitchFamily="2" charset="-122"/>
              </a:rPr>
              <a:t>256</a:t>
            </a:r>
            <a:r>
              <a:rPr lang="zh-CN" altLang="en-US" sz="2800" dirty="0">
                <a:latin typeface="宋体" panose="02010600030101010101" pitchFamily="2" charset="-122"/>
              </a:rPr>
              <a:t>色，则刷新存储器每个单元的字长是多少。</a:t>
            </a:r>
            <a:br>
              <a:rPr lang="zh-CN" altLang="en-US" sz="2800" dirty="0">
                <a:latin typeface="宋体" panose="02010600030101010101" pitchFamily="2" charset="-122"/>
              </a:rPr>
            </a:br>
            <a:r>
              <a:rPr lang="zh-CN" altLang="en-US" sz="2800" dirty="0">
                <a:latin typeface="宋体" panose="02010600030101010101" pitchFamily="2" charset="-122"/>
              </a:rPr>
              <a:t>解：</a:t>
            </a:r>
            <a:r>
              <a:rPr lang="en-US" altLang="zh-CN" sz="2800" dirty="0">
                <a:latin typeface="宋体" panose="02010600030101010101" pitchFamily="2" charset="-122"/>
              </a:rPr>
              <a:t>8</a:t>
            </a:r>
            <a:r>
              <a:rPr lang="zh-CN" altLang="en-US" sz="2800" dirty="0">
                <a:latin typeface="宋体" panose="02010600030101010101" pitchFamily="2" charset="-122"/>
              </a:rPr>
              <a:t>位</a:t>
            </a:r>
            <a:endParaRPr lang="zh-CN" altLang="en-US" sz="2800" dirty="0"/>
          </a:p>
        </p:txBody>
      </p:sp>
      <p:sp>
        <p:nvSpPr>
          <p:cNvPr id="53252" name="Rectangle 3"/>
          <p:cNvSpPr>
            <a:spLocks noChangeArrowheads="1"/>
          </p:cNvSpPr>
          <p:nvPr/>
        </p:nvSpPr>
        <p:spPr bwMode="auto">
          <a:xfrm>
            <a:off x="250825" y="3132614"/>
            <a:ext cx="8569325" cy="2245360"/>
          </a:xfrm>
          <a:prstGeom prst="rect">
            <a:avLst/>
          </a:prstGeom>
          <a:solidFill>
            <a:srgbClr val="CCFFFF"/>
          </a:solidFill>
          <a:ln w="9525">
            <a:noFill/>
            <a:miter lim="800000"/>
          </a:ln>
        </p:spPr>
        <p:txBody>
          <a:bodyPr anchor="ctr">
            <a:spAutoFit/>
          </a:bodyPr>
          <a:lstStyle/>
          <a:p>
            <a:r>
              <a:rPr lang="en-US" altLang="zh-CN" sz="2800" dirty="0">
                <a:latin typeface="宋体" panose="02010600030101010101" pitchFamily="2" charset="-122"/>
              </a:rPr>
              <a:t>[</a:t>
            </a:r>
            <a:r>
              <a:rPr lang="zh-CN" altLang="en-US" sz="2800" dirty="0">
                <a:latin typeface="宋体" panose="02010600030101010101" pitchFamily="2" charset="-122"/>
              </a:rPr>
              <a:t>例</a:t>
            </a:r>
            <a:r>
              <a:rPr lang="en-US" altLang="zh-CN" sz="2800" dirty="0">
                <a:latin typeface="宋体" panose="02010600030101010101" pitchFamily="2" charset="-122"/>
              </a:rPr>
              <a:t>]PC</a:t>
            </a:r>
            <a:r>
              <a:rPr lang="zh-CN" altLang="en-US" sz="2800" dirty="0">
                <a:latin typeface="宋体" panose="02010600030101010101" pitchFamily="2" charset="-122"/>
              </a:rPr>
              <a:t>机所配置的显示器，若显示控制卡上刷存容量是</a:t>
            </a:r>
            <a:r>
              <a:rPr lang="en-US" altLang="zh-CN" sz="2800" dirty="0">
                <a:latin typeface="宋体" panose="02010600030101010101" pitchFamily="2" charset="-122"/>
              </a:rPr>
              <a:t>1MB</a:t>
            </a:r>
            <a:r>
              <a:rPr lang="zh-CN" altLang="en-US" sz="2800" dirty="0">
                <a:latin typeface="宋体" panose="02010600030101010101" pitchFamily="2" charset="-122"/>
              </a:rPr>
              <a:t>，则当采用</a:t>
            </a:r>
            <a:r>
              <a:rPr lang="en-US" altLang="zh-CN" sz="2800" dirty="0">
                <a:latin typeface="宋体" panose="02010600030101010101" pitchFamily="2" charset="-122"/>
              </a:rPr>
              <a:t>800*600</a:t>
            </a:r>
            <a:r>
              <a:rPr lang="zh-CN" altLang="en-US" sz="2800" dirty="0">
                <a:latin typeface="宋体" panose="02010600030101010101" pitchFamily="2" charset="-122"/>
              </a:rPr>
              <a:t>的分辨率模式时，每个象素最多可以</a:t>
            </a:r>
            <a:r>
              <a:rPr lang="zh-CN" altLang="en-US" sz="2800" dirty="0" smtClean="0">
                <a:latin typeface="宋体" panose="02010600030101010101" pitchFamily="2" charset="-122"/>
              </a:rPr>
              <a:t>有多少种</a:t>
            </a:r>
            <a:r>
              <a:rPr lang="zh-CN" altLang="en-US" sz="2800" dirty="0">
                <a:latin typeface="宋体" panose="02010600030101010101" pitchFamily="2" charset="-122"/>
              </a:rPr>
              <a:t>不同颜色。</a:t>
            </a:r>
            <a:br>
              <a:rPr lang="zh-CN" altLang="en-US" sz="2800" dirty="0">
                <a:latin typeface="宋体" panose="02010600030101010101" pitchFamily="2" charset="-122"/>
              </a:rPr>
            </a:br>
            <a:r>
              <a:rPr lang="zh-CN" altLang="en-US" sz="2800" dirty="0">
                <a:latin typeface="宋体" panose="02010600030101010101" pitchFamily="2" charset="-122"/>
              </a:rPr>
              <a:t>解：</a:t>
            </a:r>
            <a:r>
              <a:rPr lang="en-US" altLang="zh-CN" sz="2800" dirty="0">
                <a:latin typeface="宋体" panose="02010600030101010101" pitchFamily="2" charset="-122"/>
              </a:rPr>
              <a:t>1024x1024x8/(800*600)=17.5,</a:t>
            </a:r>
            <a:r>
              <a:rPr lang="zh-CN" altLang="en-US" sz="2800" dirty="0">
                <a:latin typeface="宋体" panose="02010600030101010101" pitchFamily="2" charset="-122"/>
              </a:rPr>
              <a:t>刷存字长取</a:t>
            </a:r>
            <a:r>
              <a:rPr lang="en-US" altLang="zh-CN" sz="2800" dirty="0">
                <a:latin typeface="宋体" panose="02010600030101010101" pitchFamily="2" charset="-122"/>
              </a:rPr>
              <a:t>16</a:t>
            </a:r>
            <a:r>
              <a:rPr lang="zh-CN" altLang="en-US" sz="2800" dirty="0">
                <a:latin typeface="宋体" panose="02010600030101010101" pitchFamily="2" charset="-122"/>
              </a:rPr>
              <a:t>位。</a:t>
            </a:r>
            <a:endParaRPr lang="zh-CN" altLang="en-US" sz="2800" dirty="0">
              <a:latin typeface="宋体" panose="02010600030101010101" pitchFamily="2" charset="-122"/>
            </a:endParaRPr>
          </a:p>
          <a:p>
            <a:r>
              <a:rPr lang="zh-CN" altLang="en-US" sz="2800" dirty="0">
                <a:latin typeface="宋体" panose="02010600030101010101" pitchFamily="2" charset="-122"/>
              </a:rPr>
              <a:t>　　每个象素最多可以有</a:t>
            </a:r>
            <a:r>
              <a:rPr lang="en-US" altLang="zh-CN" sz="2800" dirty="0">
                <a:latin typeface="宋体" panose="02010600030101010101" pitchFamily="2" charset="-122"/>
              </a:rPr>
              <a:t>65536</a:t>
            </a:r>
            <a:r>
              <a:rPr lang="zh-CN" altLang="en-US" sz="2800" dirty="0">
                <a:latin typeface="宋体" panose="02010600030101010101" pitchFamily="2" charset="-122"/>
              </a:rPr>
              <a:t>种不同颜色。</a:t>
            </a:r>
            <a:endParaRPr lang="zh-CN" altLang="en-US" sz="2800" dirty="0"/>
          </a:p>
        </p:txBody>
      </p:sp>
      <p:sp>
        <p:nvSpPr>
          <p:cNvPr id="53253" name="Rectangle 4"/>
          <p:cNvSpPr>
            <a:spLocks noChangeArrowheads="1"/>
          </p:cNvSpPr>
          <p:nvPr/>
        </p:nvSpPr>
        <p:spPr bwMode="auto">
          <a:xfrm>
            <a:off x="250825" y="260350"/>
            <a:ext cx="8569325" cy="1373188"/>
          </a:xfrm>
          <a:prstGeom prst="rect">
            <a:avLst/>
          </a:prstGeom>
          <a:solidFill>
            <a:srgbClr val="CCFFFF"/>
          </a:solidFill>
          <a:ln w="9525">
            <a:noFill/>
            <a:miter lim="800000"/>
          </a:ln>
        </p:spPr>
        <p:txBody>
          <a:bodyPr anchor="ctr">
            <a:spAutoFit/>
          </a:bodyPr>
          <a:lstStyle/>
          <a:p>
            <a:r>
              <a:rPr lang="en-US" altLang="zh-CN" sz="2800" dirty="0">
                <a:latin typeface="宋体" panose="02010600030101010101" pitchFamily="2" charset="-122"/>
              </a:rPr>
              <a:t>[</a:t>
            </a:r>
            <a:r>
              <a:rPr lang="zh-CN" altLang="en-US" sz="2800" dirty="0">
                <a:latin typeface="宋体" panose="02010600030101010101" pitchFamily="2" charset="-122"/>
              </a:rPr>
              <a:t>例</a:t>
            </a:r>
            <a:r>
              <a:rPr lang="en-US" altLang="zh-CN" sz="2800" dirty="0">
                <a:latin typeface="宋体" panose="02010600030101010101" pitchFamily="2" charset="-122"/>
              </a:rPr>
              <a:t>]CRT</a:t>
            </a:r>
            <a:r>
              <a:rPr lang="zh-CN" altLang="en-US" sz="2800" dirty="0">
                <a:latin typeface="宋体" panose="02010600030101010101" pitchFamily="2" charset="-122"/>
              </a:rPr>
              <a:t>的分辨率为</a:t>
            </a:r>
            <a:r>
              <a:rPr lang="en-US" altLang="zh-CN" sz="2800" dirty="0">
                <a:latin typeface="宋体" panose="02010600030101010101" pitchFamily="2" charset="-122"/>
              </a:rPr>
              <a:t>1024X1024</a:t>
            </a:r>
            <a:r>
              <a:rPr lang="zh-CN" altLang="en-US" sz="2800" dirty="0">
                <a:latin typeface="宋体" panose="02010600030101010101" pitchFamily="2" charset="-122"/>
              </a:rPr>
              <a:t>像素，像素的颜色数为</a:t>
            </a:r>
            <a:r>
              <a:rPr lang="en-US" altLang="zh-CN" sz="2800" dirty="0">
                <a:latin typeface="宋体" panose="02010600030101010101" pitchFamily="2" charset="-122"/>
              </a:rPr>
              <a:t>256</a:t>
            </a:r>
            <a:r>
              <a:rPr lang="zh-CN" altLang="en-US" sz="2800" dirty="0">
                <a:latin typeface="宋体" panose="02010600030101010101" pitchFamily="2" charset="-122"/>
              </a:rPr>
              <a:t>，求刷新存储器的容量。</a:t>
            </a:r>
            <a:endParaRPr lang="zh-CN" altLang="en-US" sz="2800" dirty="0">
              <a:latin typeface="宋体" panose="02010600030101010101" pitchFamily="2" charset="-122"/>
            </a:endParaRPr>
          </a:p>
          <a:p>
            <a:r>
              <a:rPr lang="zh-CN" altLang="en-US" sz="2800" dirty="0">
                <a:latin typeface="宋体" panose="02010600030101010101" pitchFamily="2" charset="-122"/>
              </a:rPr>
              <a:t>解：刷新存储器的容量</a:t>
            </a:r>
            <a:r>
              <a:rPr lang="en-US" altLang="zh-CN" sz="2800" dirty="0">
                <a:latin typeface="宋体" panose="02010600030101010101" pitchFamily="2" charset="-122"/>
              </a:rPr>
              <a:t>=1024x1024B=1MB</a:t>
            </a:r>
            <a:endParaRPr lang="en-US" altLang="zh-CN" sz="28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8EE09998-3580-41D9-987A-EDBB42C0DCC5}" type="slidenum">
              <a:rPr lang="en-US" altLang="zh-CN" smtClean="0"/>
            </a:fld>
            <a:endParaRPr lang="en-US" altLang="zh-CN" smtClean="0"/>
          </a:p>
        </p:txBody>
      </p:sp>
      <p:sp>
        <p:nvSpPr>
          <p:cNvPr id="54275" name="Rectangle 2"/>
          <p:cNvSpPr>
            <a:spLocks noGrp="1" noChangeArrowheads="1"/>
          </p:cNvSpPr>
          <p:nvPr>
            <p:ph type="title"/>
          </p:nvPr>
        </p:nvSpPr>
        <p:spPr>
          <a:xfrm>
            <a:off x="457200" y="115888"/>
            <a:ext cx="7543800" cy="649287"/>
          </a:xfrm>
        </p:spPr>
        <p:txBody>
          <a:bodyPr/>
          <a:lstStyle/>
          <a:p>
            <a:pPr eaLnBrk="1" hangingPunct="1"/>
            <a:r>
              <a:rPr lang="en-US" altLang="zh-CN" sz="3600" dirty="0" smtClean="0">
                <a:latin typeface="宋体" panose="02010600030101010101" pitchFamily="2" charset="-122"/>
                <a:cs typeface="Arial" panose="020B0604020202020204" pitchFamily="34" charset="0"/>
              </a:rPr>
              <a:t>7.6 </a:t>
            </a:r>
            <a:r>
              <a:rPr lang="zh-CN" altLang="en-US" sz="3600" dirty="0" smtClean="0">
                <a:latin typeface="宋体" panose="02010600030101010101" pitchFamily="2" charset="-122"/>
              </a:rPr>
              <a:t>输入设备和打印设备</a:t>
            </a:r>
            <a:endParaRPr lang="zh-CN" altLang="en-US" sz="3600" dirty="0" smtClean="0">
              <a:latin typeface="宋体" panose="02010600030101010101" pitchFamily="2" charset="-122"/>
            </a:endParaRPr>
          </a:p>
        </p:txBody>
      </p:sp>
      <p:sp>
        <p:nvSpPr>
          <p:cNvPr id="54276" name="Rectangle 3"/>
          <p:cNvSpPr>
            <a:spLocks noChangeArrowheads="1"/>
          </p:cNvSpPr>
          <p:nvPr/>
        </p:nvSpPr>
        <p:spPr bwMode="auto">
          <a:xfrm>
            <a:off x="250825" y="815608"/>
            <a:ext cx="8640763" cy="5755422"/>
          </a:xfrm>
          <a:prstGeom prst="rect">
            <a:avLst/>
          </a:prstGeom>
          <a:solidFill>
            <a:srgbClr val="CCFFFF"/>
          </a:solidFill>
          <a:ln w="9525">
            <a:noFill/>
            <a:miter lim="800000"/>
          </a:ln>
        </p:spPr>
        <p:txBody>
          <a:bodyPr anchor="ctr">
            <a:spAutoFit/>
          </a:bodyPr>
          <a:lstStyle/>
          <a:p>
            <a:r>
              <a:rPr lang="en-US" altLang="zh-CN" sz="3200" b="1" dirty="0" smtClean="0">
                <a:latin typeface="宋体" panose="02010600030101010101" pitchFamily="2" charset="-122"/>
              </a:rPr>
              <a:t>7.6.1 </a:t>
            </a:r>
            <a:r>
              <a:rPr lang="zh-CN" altLang="en-US" sz="3200" b="1" dirty="0">
                <a:latin typeface="宋体" panose="02010600030101010101" pitchFamily="2" charset="-122"/>
              </a:rPr>
              <a:t>输入设备</a:t>
            </a:r>
            <a:r>
              <a:rPr lang="zh-CN" altLang="en-US" sz="2400" dirty="0">
                <a:latin typeface="宋体" panose="02010600030101010101" pitchFamily="2" charset="-122"/>
              </a:rPr>
              <a:t> 　　　　　　　 </a:t>
            </a:r>
            <a:endParaRPr lang="zh-CN" altLang="en-US" sz="2400" dirty="0">
              <a:latin typeface="宋体" panose="02010600030101010101" pitchFamily="2" charset="-122"/>
            </a:endParaRPr>
          </a:p>
          <a:p>
            <a:r>
              <a:rPr lang="zh-CN" altLang="en-US" sz="2400" dirty="0">
                <a:latin typeface="宋体" panose="02010600030101010101" pitchFamily="2" charset="-122"/>
              </a:rPr>
              <a:t>　　常用的计算机输入设备分为</a:t>
            </a:r>
            <a:r>
              <a:rPr lang="zh-CN" altLang="en-US" sz="2400" b="1" dirty="0">
                <a:latin typeface="宋体" panose="02010600030101010101" pitchFamily="2" charset="-122"/>
              </a:rPr>
              <a:t>图形输入、图像输入、声音输入</a:t>
            </a:r>
            <a:r>
              <a:rPr lang="zh-CN" altLang="en-US" sz="2400" dirty="0">
                <a:latin typeface="宋体" panose="02010600030101010101" pitchFamily="2" charset="-122"/>
              </a:rPr>
              <a:t>等几类：</a:t>
            </a:r>
            <a:endParaRPr lang="zh-CN" altLang="en-US" sz="2400" dirty="0">
              <a:latin typeface="宋体" panose="02010600030101010101" pitchFamily="2" charset="-122"/>
            </a:endParaRPr>
          </a:p>
          <a:p>
            <a:r>
              <a:rPr lang="en-US" altLang="zh-CN" sz="2400" b="1" dirty="0">
                <a:latin typeface="宋体" panose="02010600030101010101" pitchFamily="2" charset="-122"/>
              </a:rPr>
              <a:t>1.</a:t>
            </a:r>
            <a:r>
              <a:rPr lang="zh-CN" altLang="en-US" sz="2400" b="1" dirty="0">
                <a:latin typeface="宋体" panose="02010600030101010101" pitchFamily="2" charset="-122"/>
              </a:rPr>
              <a:t>图形输入设备</a:t>
            </a:r>
            <a:endParaRPr lang="zh-CN" altLang="en-US" sz="2400" dirty="0">
              <a:latin typeface="宋体" panose="02010600030101010101" pitchFamily="2" charset="-122"/>
            </a:endParaRPr>
          </a:p>
          <a:p>
            <a:r>
              <a:rPr lang="zh-CN" altLang="en-US" sz="2400" dirty="0">
                <a:latin typeface="宋体" panose="02010600030101010101" pitchFamily="2" charset="-122"/>
              </a:rPr>
              <a:t>　　图形输入方法较多，特别是交互式图形系统要求具有人</a:t>
            </a:r>
            <a:r>
              <a:rPr lang="en-US" altLang="zh-CN" sz="2400" dirty="0">
                <a:latin typeface="宋体" panose="02010600030101010101" pitchFamily="2" charset="-122"/>
              </a:rPr>
              <a:t>-</a:t>
            </a:r>
            <a:r>
              <a:rPr lang="zh-CN" altLang="en-US" sz="2400" dirty="0">
                <a:latin typeface="宋体" panose="02010600030101010101" pitchFamily="2" charset="-122"/>
              </a:rPr>
              <a:t>机对话功能：计算机将结果显示给人，人根据看到的显示决定下一步操作，并通过输入设备告诉计算机。如此反复多次，直到显示结果满意为止。为此必须具有方便灵活的输入手段，才能体现“交互式”的优越性。 </a:t>
            </a:r>
            <a:endParaRPr lang="zh-CN" altLang="en-US" sz="2400" dirty="0">
              <a:latin typeface="宋体" panose="02010600030101010101" pitchFamily="2" charset="-122"/>
            </a:endParaRPr>
          </a:p>
          <a:p>
            <a:r>
              <a:rPr lang="zh-CN" altLang="en-US" sz="2400" dirty="0">
                <a:latin typeface="宋体" panose="02010600030101010101" pitchFamily="2" charset="-122"/>
              </a:rPr>
              <a:t>    </a:t>
            </a:r>
            <a:r>
              <a:rPr lang="en-US" altLang="zh-CN" sz="2400" b="1" dirty="0">
                <a:latin typeface="宋体" panose="02010600030101010101" pitchFamily="2" charset="-122"/>
              </a:rPr>
              <a:t>(1)</a:t>
            </a:r>
            <a:r>
              <a:rPr lang="zh-CN" altLang="en-US" sz="2400" b="1" dirty="0">
                <a:latin typeface="宋体" panose="02010600030101010101" pitchFamily="2" charset="-122"/>
              </a:rPr>
              <a:t>键盘输入</a:t>
            </a:r>
            <a:endParaRPr lang="zh-CN" altLang="en-US" sz="2400" b="1" dirty="0">
              <a:latin typeface="宋体" panose="02010600030101010101" pitchFamily="2" charset="-122"/>
            </a:endParaRPr>
          </a:p>
          <a:p>
            <a:r>
              <a:rPr lang="zh-CN" altLang="en-US" sz="2400" b="1" dirty="0">
                <a:latin typeface="宋体" panose="02010600030101010101" pitchFamily="2" charset="-122"/>
              </a:rPr>
              <a:t>    </a:t>
            </a:r>
            <a:r>
              <a:rPr lang="zh-CN" altLang="en-US" sz="2400" dirty="0">
                <a:latin typeface="宋体" panose="02010600030101010101" pitchFamily="2" charset="-122"/>
              </a:rPr>
              <a:t>键盘是字符和数字的输入装置，无论字符输入还是图形输入，键盘是一种最基本的常用设备。</a:t>
            </a:r>
            <a:endParaRPr lang="zh-CN" altLang="en-US" sz="2400" dirty="0">
              <a:latin typeface="宋体" panose="02010600030101010101" pitchFamily="2" charset="-122"/>
            </a:endParaRPr>
          </a:p>
          <a:p>
            <a:r>
              <a:rPr lang="zh-CN" altLang="en-US" sz="2400" dirty="0">
                <a:latin typeface="宋体" panose="02010600030101010101" pitchFamily="2" charset="-122"/>
              </a:rPr>
              <a:t>    </a:t>
            </a:r>
            <a:r>
              <a:rPr lang="en-US" altLang="zh-CN" sz="2400" b="1" dirty="0">
                <a:latin typeface="宋体" panose="02010600030101010101" pitchFamily="2" charset="-122"/>
              </a:rPr>
              <a:t>(2)</a:t>
            </a:r>
            <a:r>
              <a:rPr lang="zh-CN" altLang="en-US" sz="2400" b="1" dirty="0">
                <a:latin typeface="宋体" panose="02010600030101010101" pitchFamily="2" charset="-122"/>
              </a:rPr>
              <a:t>鼠标器输入</a:t>
            </a:r>
            <a:endParaRPr lang="zh-CN" altLang="en-US" sz="2400" b="1" dirty="0">
              <a:latin typeface="宋体" panose="02010600030101010101" pitchFamily="2" charset="-122"/>
            </a:endParaRPr>
          </a:p>
          <a:p>
            <a:r>
              <a:rPr lang="zh-CN" altLang="en-US" sz="2400" b="1" dirty="0">
                <a:latin typeface="宋体" panose="02010600030101010101" pitchFamily="2" charset="-122"/>
              </a:rPr>
              <a:t>    </a:t>
            </a:r>
            <a:r>
              <a:rPr lang="zh-CN" altLang="en-US" sz="2400" dirty="0">
                <a:latin typeface="宋体" panose="02010600030101010101" pitchFamily="2" charset="-122"/>
              </a:rPr>
              <a:t>鼠标器是一种手持的坐标定位部件，有两种类型。一种是机械式的，另一种是光电式的。</a:t>
            </a:r>
            <a:endParaRPr lang="zh-CN" altLang="en-US" sz="24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p:spPr>
        <p:txBody>
          <a:bodyPr/>
          <a:lstStyle/>
          <a:p>
            <a:fld id="{7629AA60-47E7-4976-AAC7-5391C63BFE65}" type="slidenum">
              <a:rPr lang="en-US" altLang="zh-CN" smtClean="0"/>
            </a:fld>
            <a:endParaRPr lang="en-US" altLang="zh-CN" smtClean="0"/>
          </a:p>
        </p:txBody>
      </p:sp>
      <p:sp>
        <p:nvSpPr>
          <p:cNvPr id="55299" name="Rectangle 2"/>
          <p:cNvSpPr>
            <a:spLocks noChangeArrowheads="1"/>
          </p:cNvSpPr>
          <p:nvPr/>
        </p:nvSpPr>
        <p:spPr bwMode="auto">
          <a:xfrm>
            <a:off x="323850" y="170498"/>
            <a:ext cx="8496300" cy="3415030"/>
          </a:xfrm>
          <a:prstGeom prst="rect">
            <a:avLst/>
          </a:prstGeom>
          <a:solidFill>
            <a:srgbClr val="CCFFFF"/>
          </a:solidFill>
          <a:ln w="9525">
            <a:noFill/>
            <a:miter lim="800000"/>
          </a:ln>
        </p:spPr>
        <p:txBody>
          <a:bodyPr anchor="ctr">
            <a:spAutoFit/>
          </a:bodyPr>
          <a:lstStyle/>
          <a:p>
            <a:r>
              <a:rPr lang="en-US" altLang="zh-CN" sz="2400" b="1" dirty="0">
                <a:latin typeface="宋体" panose="02010600030101010101" pitchFamily="2" charset="-122"/>
              </a:rPr>
              <a:t>2.</a:t>
            </a:r>
            <a:r>
              <a:rPr lang="zh-CN" altLang="en-US" sz="2400" b="1" dirty="0">
                <a:latin typeface="宋体" panose="02010600030101010101" pitchFamily="2" charset="-122"/>
              </a:rPr>
              <a:t>图像输入设备</a:t>
            </a:r>
            <a:endParaRPr lang="zh-CN" altLang="en-US" sz="2400" dirty="0">
              <a:latin typeface="宋体" panose="02010600030101010101" pitchFamily="2" charset="-122"/>
            </a:endParaRPr>
          </a:p>
          <a:p>
            <a:r>
              <a:rPr lang="zh-CN" altLang="en-US" sz="2400" dirty="0">
                <a:latin typeface="宋体" panose="02010600030101010101" pitchFamily="2" charset="-122"/>
              </a:rPr>
              <a:t>　　最理想的图像输入设备是数字摄像机。它可以摄取任何地点、任何环境的自然景物和物体，直接将数字图像存入磁盘。  </a:t>
            </a:r>
            <a:endParaRPr lang="zh-CN" altLang="en-US" sz="2400" dirty="0">
              <a:latin typeface="宋体" panose="02010600030101010101" pitchFamily="2" charset="-122"/>
            </a:endParaRPr>
          </a:p>
          <a:p>
            <a:r>
              <a:rPr lang="zh-CN" altLang="en-US" sz="2400" dirty="0">
                <a:latin typeface="宋体" panose="02010600030101010101" pitchFamily="2" charset="-122"/>
              </a:rPr>
              <a:t>　  </a:t>
            </a:r>
            <a:r>
              <a:rPr lang="zh-CN" altLang="en-US" sz="2400" dirty="0" smtClean="0">
                <a:latin typeface="宋体" panose="02010600030101010101" pitchFamily="2" charset="-122"/>
              </a:rPr>
              <a:t>由于</a:t>
            </a:r>
            <a:r>
              <a:rPr lang="zh-CN" altLang="en-US" sz="2400" dirty="0">
                <a:latin typeface="宋体" panose="02010600030101010101" pitchFamily="2" charset="-122"/>
              </a:rPr>
              <a:t>一帧数字图像要占很大的存储空间，图像数据的传输与存储问题将是一个十分重要的研究课题，目前普遍采用的方法是压缩</a:t>
            </a:r>
            <a:r>
              <a:rPr lang="en-US" altLang="zh-CN" sz="2400" dirty="0">
                <a:latin typeface="宋体" panose="02010600030101010101" pitchFamily="2" charset="-122"/>
              </a:rPr>
              <a:t>-</a:t>
            </a:r>
            <a:r>
              <a:rPr lang="zh-CN" altLang="en-US" sz="2400" dirty="0">
                <a:latin typeface="宋体" panose="02010600030101010101" pitchFamily="2" charset="-122"/>
              </a:rPr>
              <a:t>恢复技术。</a:t>
            </a:r>
            <a:endParaRPr lang="zh-CN" altLang="en-US" sz="2400" dirty="0">
              <a:latin typeface="宋体" panose="02010600030101010101" pitchFamily="2" charset="-122"/>
            </a:endParaRPr>
          </a:p>
          <a:p>
            <a:r>
              <a:rPr lang="en-US" altLang="zh-CN" sz="2400" b="1" dirty="0">
                <a:latin typeface="宋体" panose="02010600030101010101" pitchFamily="2" charset="-122"/>
              </a:rPr>
              <a:t>3.</a:t>
            </a:r>
            <a:r>
              <a:rPr lang="zh-CN" altLang="en-US" sz="2400" b="1" dirty="0">
                <a:latin typeface="宋体" panose="02010600030101010101" pitchFamily="2" charset="-122"/>
              </a:rPr>
              <a:t>语音输入设备</a:t>
            </a:r>
            <a:endParaRPr lang="zh-CN" altLang="en-US" sz="2400" dirty="0">
              <a:latin typeface="宋体" panose="02010600030101010101" pitchFamily="2" charset="-122"/>
            </a:endParaRPr>
          </a:p>
          <a:p>
            <a:r>
              <a:rPr lang="zh-CN" altLang="en-US" sz="2400" dirty="0">
                <a:latin typeface="宋体" panose="02010600030101010101" pitchFamily="2" charset="-122"/>
              </a:rPr>
              <a:t>　　利用人的自然语音实现人</a:t>
            </a:r>
            <a:r>
              <a:rPr lang="en-US" altLang="zh-CN" sz="2400" dirty="0">
                <a:latin typeface="宋体" panose="02010600030101010101" pitchFamily="2" charset="-122"/>
              </a:rPr>
              <a:t>-</a:t>
            </a:r>
            <a:r>
              <a:rPr lang="zh-CN" altLang="en-US" sz="2400" dirty="0">
                <a:latin typeface="宋体" panose="02010600030101010101" pitchFamily="2" charset="-122"/>
              </a:rPr>
              <a:t>机对话是新一代多媒体计算机的重要标志之一。</a:t>
            </a:r>
            <a:endParaRPr lang="zh-CN" altLang="en-US" sz="2400" dirty="0"/>
          </a:p>
        </p:txBody>
      </p:sp>
      <p:pic>
        <p:nvPicPr>
          <p:cNvPr id="55300" name="Picture 3" descr="7a19"/>
          <p:cNvPicPr>
            <a:picLocks noChangeAspect="1" noChangeArrowheads="1"/>
          </p:cNvPicPr>
          <p:nvPr/>
        </p:nvPicPr>
        <p:blipFill>
          <a:blip r:embed="rId1"/>
          <a:srcRect/>
          <a:stretch>
            <a:fillRect/>
          </a:stretch>
        </p:blipFill>
        <p:spPr bwMode="auto">
          <a:xfrm>
            <a:off x="611188" y="3716338"/>
            <a:ext cx="5976937" cy="297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p>
            <a:fld id="{A49338E3-3D40-410D-BFF1-BD8404F36213}" type="slidenum">
              <a:rPr lang="en-US" altLang="zh-CN" smtClean="0"/>
            </a:fld>
            <a:endParaRPr lang="en-US" altLang="zh-CN" smtClean="0"/>
          </a:p>
        </p:txBody>
      </p:sp>
      <p:sp>
        <p:nvSpPr>
          <p:cNvPr id="56323" name="Rectangle 2"/>
          <p:cNvSpPr>
            <a:spLocks noChangeArrowheads="1"/>
          </p:cNvSpPr>
          <p:nvPr/>
        </p:nvSpPr>
        <p:spPr bwMode="auto">
          <a:xfrm>
            <a:off x="250825" y="497682"/>
            <a:ext cx="8642350" cy="5384800"/>
          </a:xfrm>
          <a:prstGeom prst="rect">
            <a:avLst/>
          </a:prstGeom>
          <a:solidFill>
            <a:srgbClr val="CCFFFF"/>
          </a:solidFill>
          <a:ln w="9525">
            <a:noFill/>
            <a:miter lim="800000"/>
          </a:ln>
        </p:spPr>
        <p:txBody>
          <a:bodyPr anchor="ctr">
            <a:spAutoFit/>
          </a:bodyPr>
          <a:lstStyle/>
          <a:p>
            <a:r>
              <a:rPr lang="en-US" altLang="zh-CN" sz="3200" b="1" dirty="0" smtClean="0">
                <a:latin typeface="宋体" panose="02010600030101010101" pitchFamily="2" charset="-122"/>
              </a:rPr>
              <a:t>7.6.2 </a:t>
            </a:r>
            <a:r>
              <a:rPr lang="zh-CN" altLang="en-US" sz="3200" b="1" dirty="0">
                <a:latin typeface="宋体" panose="02010600030101010101" pitchFamily="2" charset="-122"/>
              </a:rPr>
              <a:t>打印设备</a:t>
            </a:r>
            <a:r>
              <a:rPr lang="zh-CN" altLang="en-US" sz="2400" b="1" dirty="0">
                <a:latin typeface="宋体" panose="02010600030101010101" pitchFamily="2" charset="-122"/>
              </a:rPr>
              <a:t> </a:t>
            </a:r>
            <a:r>
              <a:rPr lang="zh-CN" altLang="en-US" sz="2400" b="1" i="1" dirty="0">
                <a:latin typeface="宋体" panose="02010600030101010101" pitchFamily="2" charset="-122"/>
              </a:rPr>
              <a:t>　　　　　　　　</a:t>
            </a:r>
            <a:endParaRPr lang="zh-CN" altLang="en-US" sz="2400" b="1" dirty="0">
              <a:latin typeface="宋体" panose="02010600030101010101" pitchFamily="2" charset="-122"/>
            </a:endParaRPr>
          </a:p>
          <a:p>
            <a:r>
              <a:rPr lang="zh-CN" altLang="en-US" sz="2400" dirty="0">
                <a:latin typeface="宋体" panose="02010600030101010101" pitchFamily="2" charset="-122"/>
              </a:rPr>
              <a:t>　　打印输出是计算机最基本的输出形式。与显示器输出相比，打印输出可产生永久性记录， 因此</a:t>
            </a:r>
            <a:r>
              <a:rPr lang="zh-CN" altLang="en-US" sz="2400" b="1" dirty="0">
                <a:latin typeface="宋体" panose="02010600030101010101" pitchFamily="2" charset="-122"/>
              </a:rPr>
              <a:t>打印设备</a:t>
            </a:r>
            <a:r>
              <a:rPr lang="zh-CN" altLang="en-US" sz="2400" dirty="0">
                <a:latin typeface="宋体" panose="02010600030101010101" pitchFamily="2" charset="-122"/>
              </a:rPr>
              <a:t>又称为</a:t>
            </a:r>
            <a:r>
              <a:rPr lang="zh-CN" altLang="en-US" sz="2400" b="1" dirty="0">
                <a:latin typeface="宋体" panose="02010600030101010101" pitchFamily="2" charset="-122"/>
              </a:rPr>
              <a:t>硬拷贝设备</a:t>
            </a:r>
            <a:r>
              <a:rPr lang="zh-CN" altLang="en-US" sz="2400" dirty="0">
                <a:latin typeface="宋体" panose="02010600030101010101" pitchFamily="2" charset="-122"/>
              </a:rPr>
              <a:t>。</a:t>
            </a:r>
            <a:endParaRPr lang="zh-CN" altLang="en-US" sz="2400" dirty="0">
              <a:latin typeface="宋体" panose="02010600030101010101" pitchFamily="2" charset="-122"/>
            </a:endParaRPr>
          </a:p>
          <a:p>
            <a:r>
              <a:rPr lang="zh-CN" altLang="en-US" sz="2400" b="1" dirty="0">
                <a:latin typeface="宋体" panose="02010600030101010101" pitchFamily="2" charset="-122"/>
              </a:rPr>
              <a:t>打印设备的分类</a:t>
            </a:r>
            <a:r>
              <a:rPr lang="en-US" altLang="zh-CN" sz="2400" b="1" dirty="0">
                <a:latin typeface="宋体" panose="02010600030101010101" pitchFamily="2" charset="-122"/>
              </a:rPr>
              <a:t>:</a:t>
            </a:r>
            <a:endParaRPr lang="zh-CN" altLang="en-US" sz="2400" dirty="0">
              <a:latin typeface="宋体" panose="02010600030101010101" pitchFamily="2" charset="-122"/>
            </a:endParaRPr>
          </a:p>
          <a:p>
            <a:r>
              <a:rPr lang="zh-CN" altLang="en-US" sz="2400" dirty="0">
                <a:latin typeface="宋体" panose="02010600030101010101" pitchFamily="2" charset="-122"/>
              </a:rPr>
              <a:t>　　按印字原理分，分为</a:t>
            </a:r>
            <a:r>
              <a:rPr lang="zh-CN" altLang="en-US" sz="2400" b="1" dirty="0">
                <a:latin typeface="宋体" panose="02010600030101010101" pitchFamily="2" charset="-122"/>
              </a:rPr>
              <a:t>击打式</a:t>
            </a:r>
            <a:r>
              <a:rPr lang="zh-CN" altLang="en-US" sz="2400" dirty="0">
                <a:latin typeface="宋体" panose="02010600030101010101" pitchFamily="2" charset="-122"/>
              </a:rPr>
              <a:t>和</a:t>
            </a:r>
            <a:r>
              <a:rPr lang="zh-CN" altLang="en-US" sz="2400" b="1" dirty="0">
                <a:latin typeface="宋体" panose="02010600030101010101" pitchFamily="2" charset="-122"/>
              </a:rPr>
              <a:t>非击打式</a:t>
            </a:r>
            <a:r>
              <a:rPr lang="zh-CN" altLang="en-US" sz="2400" dirty="0">
                <a:latin typeface="宋体" panose="02010600030101010101" pitchFamily="2" charset="-122"/>
              </a:rPr>
              <a:t>两大类。击打式是利用机械作用使印字机构与色带和纸相撞击而打印字符。因此习惯上将属于击打式打印方式的机种称为“打印机”。击打式设备的成本低，缺点是噪音大，速度慢。非击打式是采用电、磁、光、喷墨等物理、化学方法印刷字符，因此习惯上将这类非击打式的机种称为“印字机”，如激光印字机，喷墨印字机等。非击打式的设备速度快，噪音低，印字质量高，但价格较贵，有的设备还需要专用纸张。</a:t>
            </a:r>
            <a:endParaRPr lang="zh-CN" altLang="en-US" sz="2400" dirty="0">
              <a:latin typeface="宋体" panose="02010600030101010101" pitchFamily="2" charset="-122"/>
            </a:endParaRPr>
          </a:p>
          <a:p>
            <a:r>
              <a:rPr lang="zh-CN" altLang="en-US" sz="2400" dirty="0">
                <a:latin typeface="宋体" panose="02010600030101010101" pitchFamily="2" charset="-122"/>
              </a:rPr>
              <a:t>　　另外还有能够输出图形</a:t>
            </a:r>
            <a:r>
              <a:rPr lang="en-US" altLang="zh-CN" sz="2400" dirty="0">
                <a:latin typeface="宋体" panose="02010600030101010101" pitchFamily="2" charset="-122"/>
              </a:rPr>
              <a:t>/</a:t>
            </a:r>
            <a:r>
              <a:rPr lang="zh-CN" altLang="en-US" sz="2400" dirty="0">
                <a:latin typeface="宋体" panose="02010600030101010101" pitchFamily="2" charset="-122"/>
              </a:rPr>
              <a:t>图像的打印机，具有彩色效果的彩色打印机等。</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a:t>
            </a: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88845" y="922537"/>
            <a:ext cx="8525810" cy="501675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200000"/>
              </a:lnSpc>
              <a:spcBef>
                <a:spcPts val="0"/>
              </a:spcBef>
            </a:pPr>
            <a:r>
              <a:rPr lang="zh-CN" altLang="en-US" sz="2000" b="1" dirty="0" smtClean="0">
                <a:latin typeface="微软雅黑" panose="020B0503020204020204" pitchFamily="34" charset="-122"/>
                <a:ea typeface="微软雅黑" panose="020B0503020204020204" pitchFamily="34" charset="-122"/>
              </a:rPr>
              <a:t>判断</a:t>
            </a:r>
            <a:r>
              <a:rPr lang="zh-CN" altLang="en-US" sz="2000" b="1" dirty="0">
                <a:latin typeface="微软雅黑" panose="020B0503020204020204" pitchFamily="34" charset="-122"/>
                <a:ea typeface="微软雅黑" panose="020B0503020204020204" pitchFamily="34" charset="-122"/>
              </a:rPr>
              <a:t>题</a:t>
            </a:r>
            <a:endParaRPr lang="zh-CN" altLang="zh-CN" sz="2000" b="1" dirty="0">
              <a:latin typeface="微软雅黑" panose="020B0503020204020204" pitchFamily="34" charset="-122"/>
              <a:ea typeface="微软雅黑" panose="020B0503020204020204" pitchFamily="34" charset="-122"/>
            </a:endParaRP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外围设备</a:t>
            </a:r>
            <a:r>
              <a:rPr lang="zh-CN" altLang="zh-CN" sz="2000" b="1" dirty="0">
                <a:latin typeface="微软雅黑" panose="020B0503020204020204" pitchFamily="34" charset="-122"/>
                <a:ea typeface="微软雅黑" panose="020B0503020204020204" pitchFamily="34" charset="-122"/>
              </a:rPr>
              <a:t>都是在其设备控制器控制下进行工作。</a:t>
            </a:r>
            <a:endParaRPr lang="zh-CN" altLang="zh-CN" sz="2000" b="1" dirty="0">
              <a:latin typeface="微软雅黑" panose="020B0503020204020204" pitchFamily="34" charset="-122"/>
              <a:ea typeface="微软雅黑" panose="020B0503020204020204" pitchFamily="34" charset="-122"/>
            </a:endParaRPr>
          </a:p>
          <a:p>
            <a:pPr>
              <a:lnSpc>
                <a:spcPct val="200000"/>
              </a:lnSpc>
              <a:spcBef>
                <a:spcPts val="0"/>
              </a:spcBef>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B. </a:t>
            </a:r>
            <a:r>
              <a:rPr lang="zh-CN" altLang="zh-CN" sz="2000" b="1" dirty="0">
                <a:latin typeface="微软雅黑" panose="020B0503020204020204" pitchFamily="34" charset="-122"/>
                <a:ea typeface="微软雅黑" panose="020B0503020204020204" pitchFamily="34" charset="-122"/>
              </a:rPr>
              <a:t>错</a:t>
            </a:r>
            <a:endParaRPr lang="zh-CN" altLang="zh-CN" sz="2000" b="1" dirty="0">
              <a:latin typeface="微软雅黑" panose="020B0503020204020204" pitchFamily="34" charset="-122"/>
              <a:ea typeface="微软雅黑" panose="020B0503020204020204" pitchFamily="34" charset="-122"/>
            </a:endParaRP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设备控制</a:t>
            </a:r>
            <a:r>
              <a:rPr lang="zh-CN" altLang="zh-CN" sz="2000" b="1" dirty="0">
                <a:latin typeface="微软雅黑" panose="020B0503020204020204" pitchFamily="34" charset="-122"/>
                <a:ea typeface="微软雅黑" panose="020B0503020204020204" pitchFamily="34" charset="-122"/>
              </a:rPr>
              <a:t>器</a:t>
            </a:r>
            <a:r>
              <a:rPr lang="zh-CN" altLang="zh-CN" sz="2000" b="1" dirty="0" smtClean="0">
                <a:latin typeface="微软雅黑" panose="020B0503020204020204" pitchFamily="34" charset="-122"/>
                <a:ea typeface="微软雅黑" panose="020B0503020204020204" pitchFamily="34" charset="-122"/>
              </a:rPr>
              <a:t>通过</a:t>
            </a:r>
            <a:r>
              <a:rPr lang="zh-CN" altLang="en-US" sz="2000" b="1" dirty="0" smtClean="0">
                <a:latin typeface="微软雅黑" panose="020B0503020204020204" pitchFamily="34" charset="-122"/>
                <a:ea typeface="微软雅黑" panose="020B0503020204020204" pitchFamily="34" charset="-122"/>
              </a:rPr>
              <a:t>系统总线</a:t>
            </a:r>
            <a:r>
              <a:rPr lang="zh-CN" altLang="zh-CN" sz="2000" b="1" dirty="0" smtClean="0">
                <a:latin typeface="微软雅黑" panose="020B0503020204020204" pitchFamily="34" charset="-122"/>
                <a:ea typeface="微软雅黑" panose="020B0503020204020204" pitchFamily="34" charset="-122"/>
              </a:rPr>
              <a:t>和</a:t>
            </a:r>
            <a:r>
              <a:rPr lang="zh-CN" altLang="zh-CN" sz="2000" b="1" dirty="0">
                <a:latin typeface="微软雅黑" panose="020B0503020204020204" pitchFamily="34" charset="-122"/>
                <a:ea typeface="微软雅黑" panose="020B0503020204020204" pitchFamily="34" charset="-122"/>
              </a:rPr>
              <a:t>主机相连，并受主机控制。</a:t>
            </a:r>
            <a:endParaRPr lang="zh-CN" altLang="zh-CN" sz="2000" b="1" dirty="0">
              <a:latin typeface="微软雅黑" panose="020B0503020204020204" pitchFamily="34" charset="-122"/>
              <a:ea typeface="微软雅黑" panose="020B0503020204020204" pitchFamily="34" charset="-122"/>
            </a:endParaRPr>
          </a:p>
          <a:p>
            <a:pPr>
              <a:lnSpc>
                <a:spcPct val="200000"/>
              </a:lnSpc>
              <a:spcBef>
                <a:spcPts val="0"/>
              </a:spcBef>
            </a:pP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错</a:t>
            </a:r>
            <a:endParaRPr lang="zh-CN" altLang="zh-CN" sz="2000" b="1" dirty="0">
              <a:latin typeface="微软雅黑" panose="020B0503020204020204" pitchFamily="34" charset="-122"/>
              <a:ea typeface="微软雅黑" panose="020B0503020204020204" pitchFamily="34" charset="-122"/>
            </a:endParaRPr>
          </a:p>
          <a:p>
            <a:pPr marL="342900" indent="-342900">
              <a:lnSpc>
                <a:spcPct val="200000"/>
              </a:lnSpc>
              <a:spcBef>
                <a:spcPts val="0"/>
              </a:spcBef>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当</a:t>
            </a:r>
            <a:r>
              <a:rPr lang="zh-CN" altLang="zh-CN" sz="2000" b="1" dirty="0">
                <a:latin typeface="微软雅黑" panose="020B0503020204020204" pitchFamily="34" charset="-122"/>
                <a:ea typeface="微软雅黑" panose="020B0503020204020204" pitchFamily="34" charset="-122"/>
              </a:rPr>
              <a:t>主机要存入一个较长的文件时，若一条磁道存不完，就需要存放在同</a:t>
            </a:r>
            <a:r>
              <a:rPr lang="zh-CN" altLang="zh-CN" sz="2000" b="1" dirty="0" smtClean="0">
                <a:latin typeface="微软雅黑" panose="020B0503020204020204" pitchFamily="34" charset="-122"/>
                <a:ea typeface="微软雅黑" panose="020B0503020204020204" pitchFamily="34" charset="-122"/>
              </a:rPr>
              <a:t>一</a:t>
            </a:r>
            <a:r>
              <a:rPr lang="zh-CN" altLang="en-US" sz="2000" b="1" dirty="0" smtClean="0">
                <a:latin typeface="微软雅黑" panose="020B0503020204020204" pitchFamily="34" charset="-122"/>
                <a:ea typeface="微软雅黑" panose="020B0503020204020204" pitchFamily="34" charset="-122"/>
              </a:rPr>
              <a:t>记录</a:t>
            </a:r>
            <a:r>
              <a:rPr lang="zh-CN" altLang="zh-CN" sz="2000" b="1" dirty="0" smtClean="0">
                <a:latin typeface="微软雅黑" panose="020B0503020204020204" pitchFamily="34" charset="-122"/>
                <a:ea typeface="微软雅黑" panose="020B0503020204020204" pitchFamily="34" charset="-122"/>
              </a:rPr>
              <a:t>面</a:t>
            </a:r>
            <a:r>
              <a:rPr lang="zh-CN" altLang="zh-CN" sz="2000" b="1" dirty="0">
                <a:latin typeface="微软雅黑" panose="020B0503020204020204" pitchFamily="34" charset="-122"/>
                <a:ea typeface="微软雅黑" panose="020B0503020204020204" pitchFamily="34" charset="-122"/>
              </a:rPr>
              <a:t>上的不同磁道上。</a:t>
            </a:r>
            <a:endParaRPr lang="zh-CN" altLang="zh-CN" sz="2000" b="1" dirty="0">
              <a:latin typeface="微软雅黑" panose="020B0503020204020204" pitchFamily="34" charset="-122"/>
              <a:ea typeface="微软雅黑" panose="020B0503020204020204" pitchFamily="34" charset="-122"/>
            </a:endParaRPr>
          </a:p>
          <a:p>
            <a:pPr>
              <a:lnSpc>
                <a:spcPct val="200000"/>
              </a:lnSpc>
              <a:spcBef>
                <a:spcPts val="0"/>
              </a:spcBef>
            </a:pP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．对</a:t>
            </a:r>
            <a:r>
              <a:rPr lang="en-US" altLang="zh-CN" sz="2000" b="1" dirty="0">
                <a:latin typeface="微软雅黑" panose="020B0503020204020204" pitchFamily="34" charset="-122"/>
                <a:ea typeface="微软雅黑" panose="020B0503020204020204" pitchFamily="34" charset="-122"/>
              </a:rPr>
              <a:t>        B. </a:t>
            </a:r>
            <a:r>
              <a:rPr lang="zh-CN" altLang="zh-CN" sz="2000" b="1" dirty="0">
                <a:latin typeface="微软雅黑" panose="020B0503020204020204" pitchFamily="34" charset="-122"/>
                <a:ea typeface="微软雅黑" panose="020B0503020204020204" pitchFamily="34" charset="-122"/>
              </a:rPr>
              <a:t>错</a:t>
            </a:r>
            <a:endParaRPr lang="zh-CN" altLang="zh-CN" sz="2000" b="1" dirty="0">
              <a:latin typeface="微软雅黑" panose="020B0503020204020204" pitchFamily="34" charset="-122"/>
              <a:ea typeface="微软雅黑" panose="020B0503020204020204" pitchFamily="34" charset="-122"/>
            </a:endParaRPr>
          </a:p>
        </p:txBody>
      </p:sp>
      <p:sp>
        <p:nvSpPr>
          <p:cNvPr id="9" name="椭圆 8"/>
          <p:cNvSpPr/>
          <p:nvPr/>
        </p:nvSpPr>
        <p:spPr bwMode="auto">
          <a:xfrm>
            <a:off x="963831" y="228585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2186022" y="348234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2103542" y="530580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3" name="矩形 2"/>
          <p:cNvSpPr/>
          <p:nvPr/>
        </p:nvSpPr>
        <p:spPr>
          <a:xfrm>
            <a:off x="2585005" y="3004283"/>
            <a:ext cx="1016207" cy="3385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zh-CN" sz="1600" b="1" dirty="0">
                <a:solidFill>
                  <a:srgbClr val="FF0000"/>
                </a:solidFill>
                <a:latin typeface="微软雅黑" panose="020B0503020204020204" pitchFamily="34" charset="-122"/>
                <a:ea typeface="微软雅黑" panose="020B0503020204020204" pitchFamily="34" charset="-122"/>
              </a:rPr>
              <a:t>接口模块</a:t>
            </a:r>
            <a:endParaRPr lang="zh-CN" altLang="en-US" sz="1600" dirty="0">
              <a:solidFill>
                <a:srgbClr val="FF0000"/>
              </a:solidFill>
            </a:endParaRPr>
          </a:p>
        </p:txBody>
      </p:sp>
      <p:sp>
        <p:nvSpPr>
          <p:cNvPr id="4" name="矩形 3"/>
          <p:cNvSpPr/>
          <p:nvPr/>
        </p:nvSpPr>
        <p:spPr>
          <a:xfrm>
            <a:off x="1079973" y="4831836"/>
            <a:ext cx="795687" cy="338554"/>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zh-CN" sz="1600" b="1" dirty="0">
                <a:solidFill>
                  <a:srgbClr val="FF0000"/>
                </a:solidFill>
                <a:latin typeface="微软雅黑" panose="020B0503020204020204" pitchFamily="34" charset="-122"/>
                <a:ea typeface="微软雅黑" panose="020B0503020204020204" pitchFamily="34" charset="-122"/>
              </a:rPr>
              <a:t>圆柱面</a:t>
            </a:r>
            <a:endParaRPr lang="zh-CN" altLang="en-US" sz="16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3"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224746" y="1040765"/>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计算机</a:t>
            </a:r>
            <a:r>
              <a:rPr lang="zh-CN" altLang="zh-CN" sz="2000" b="1" dirty="0">
                <a:latin typeface="微软雅黑" panose="020B0503020204020204" pitchFamily="34" charset="-122"/>
                <a:ea typeface="微软雅黑" panose="020B0503020204020204" pitchFamily="34" charset="-122"/>
              </a:rPr>
              <a:t>的外围设备是</a:t>
            </a:r>
            <a:r>
              <a:rPr lang="zh-CN" altLang="zh-CN" sz="2000" b="1" dirty="0" smtClean="0">
                <a:latin typeface="微软雅黑" panose="020B0503020204020204" pitchFamily="34" charset="-122"/>
                <a:ea typeface="微软雅黑" panose="020B0503020204020204" pitchFamily="34" charset="-122"/>
              </a:rPr>
              <a:t>指</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．输入／输出设备</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．外存设备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．远程通信设备</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．除了</a:t>
            </a:r>
            <a:r>
              <a:rPr lang="en-US" altLang="zh-CN" sz="2000" b="1" dirty="0">
                <a:latin typeface="微软雅黑" panose="020B0503020204020204" pitchFamily="34" charset="-122"/>
                <a:ea typeface="微软雅黑" panose="020B0503020204020204" pitchFamily="34" charset="-122"/>
              </a:rPr>
              <a:t>CPU</a:t>
            </a:r>
            <a:r>
              <a:rPr lang="zh-CN" altLang="zh-CN" sz="2000" b="1" dirty="0">
                <a:latin typeface="微软雅黑" panose="020B0503020204020204" pitchFamily="34" charset="-122"/>
                <a:ea typeface="微软雅黑" panose="020B0503020204020204" pitchFamily="34" charset="-122"/>
              </a:rPr>
              <a:t>和内存以外的其它设备</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在</a:t>
            </a:r>
            <a:r>
              <a:rPr lang="zh-CN" altLang="zh-CN" sz="2000" b="1" dirty="0">
                <a:latin typeface="微软雅黑" panose="020B0503020204020204" pitchFamily="34" charset="-122"/>
                <a:ea typeface="微软雅黑" panose="020B0503020204020204" pitchFamily="34" charset="-122"/>
              </a:rPr>
              <a:t>微型机系统中外围设备</a:t>
            </a:r>
            <a:r>
              <a:rPr lang="zh-CN" altLang="zh-CN" sz="2000" b="1" dirty="0" smtClean="0">
                <a:latin typeface="微软雅黑" panose="020B0503020204020204" pitchFamily="34" charset="-122"/>
                <a:ea typeface="微软雅黑" panose="020B0503020204020204" pitchFamily="34" charset="-122"/>
              </a:rPr>
              <a:t>通过</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与</a:t>
            </a:r>
            <a:r>
              <a:rPr lang="zh-CN" altLang="zh-CN" sz="2000" b="1" dirty="0">
                <a:latin typeface="微软雅黑" panose="020B0503020204020204" pitchFamily="34" charset="-122"/>
                <a:ea typeface="微软雅黑" panose="020B0503020204020204" pitchFamily="34" charset="-122"/>
              </a:rPr>
              <a:t>主板的系统总线相连接。</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．适配器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  </a:t>
            </a:r>
            <a:r>
              <a:rPr lang="zh-CN" altLang="zh-CN" sz="2000" b="1" dirty="0" smtClean="0">
                <a:latin typeface="微软雅黑" panose="020B0503020204020204" pitchFamily="34" charset="-122"/>
                <a:ea typeface="微软雅黑" panose="020B0503020204020204" pitchFamily="34" charset="-122"/>
              </a:rPr>
              <a:t>设备控制</a:t>
            </a:r>
            <a:r>
              <a:rPr lang="zh-CN" altLang="zh-CN" sz="2000" b="1" dirty="0">
                <a:latin typeface="微软雅黑" panose="020B0503020204020204" pitchFamily="34" charset="-122"/>
                <a:ea typeface="微软雅黑" panose="020B0503020204020204" pitchFamily="34" charset="-122"/>
              </a:rPr>
              <a:t>器</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smtClean="0">
                <a:latin typeface="微软雅黑" panose="020B0503020204020204" pitchFamily="34" charset="-122"/>
                <a:ea typeface="微软雅黑" panose="020B0503020204020204" pitchFamily="34" charset="-122"/>
              </a:rPr>
              <a:t>计数器</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．寄存器</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CRT</a:t>
            </a:r>
            <a:r>
              <a:rPr lang="zh-CN" altLang="zh-CN" sz="2000" b="1" dirty="0">
                <a:latin typeface="微软雅黑" panose="020B0503020204020204" pitchFamily="34" charset="-122"/>
                <a:ea typeface="微软雅黑" panose="020B0503020204020204" pitchFamily="34" charset="-122"/>
              </a:rPr>
              <a:t>的分辨率为</a:t>
            </a:r>
            <a:r>
              <a:rPr lang="en-US" altLang="zh-CN" sz="2000" b="1" dirty="0">
                <a:latin typeface="微软雅黑" panose="020B0503020204020204" pitchFamily="34" charset="-122"/>
                <a:ea typeface="微软雅黑" panose="020B0503020204020204" pitchFamily="34" charset="-122"/>
              </a:rPr>
              <a:t>1024X1024</a:t>
            </a:r>
            <a:r>
              <a:rPr lang="zh-CN" altLang="zh-CN" sz="2000" b="1" dirty="0">
                <a:latin typeface="微软雅黑" panose="020B0503020204020204" pitchFamily="34" charset="-122"/>
                <a:ea typeface="微软雅黑" panose="020B0503020204020204" pitchFamily="34" charset="-122"/>
              </a:rPr>
              <a:t>像素，像素的颜色数为</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，则刷新存储器的容量</a:t>
            </a:r>
            <a:r>
              <a:rPr lang="zh-CN" altLang="zh-CN" sz="2000" b="1" dirty="0" smtClean="0">
                <a:latin typeface="微软雅黑" panose="020B0503020204020204" pitchFamily="34" charset="-122"/>
                <a:ea typeface="微软雅黑" panose="020B0503020204020204" pitchFamily="34" charset="-122"/>
              </a:rPr>
              <a:t>是</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512KB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1MB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256KB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2MB</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CRT</a:t>
            </a:r>
            <a:r>
              <a:rPr lang="zh-CN" altLang="zh-CN" sz="2000" b="1" dirty="0">
                <a:latin typeface="微软雅黑" panose="020B0503020204020204" pitchFamily="34" charset="-122"/>
                <a:ea typeface="微软雅黑" panose="020B0503020204020204" pitchFamily="34" charset="-122"/>
              </a:rPr>
              <a:t>的颜色数为</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色，则刷新存储器每个单元的字长</a:t>
            </a:r>
            <a:r>
              <a:rPr lang="zh-CN" altLang="zh-CN" sz="2000" b="1" dirty="0" smtClean="0">
                <a:latin typeface="微软雅黑" panose="020B0503020204020204" pitchFamily="34" charset="-122"/>
                <a:ea typeface="微软雅黑" panose="020B0503020204020204" pitchFamily="34" charset="-122"/>
              </a:rPr>
              <a:t>是</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256</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16</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8</a:t>
            </a:r>
            <a:r>
              <a:rPr lang="zh-CN" altLang="zh-CN" sz="2000" b="1" dirty="0">
                <a:latin typeface="微软雅黑" panose="020B0503020204020204" pitchFamily="34" charset="-122"/>
                <a:ea typeface="微软雅黑" panose="020B0503020204020204" pitchFamily="34" charset="-122"/>
              </a:rPr>
              <a:t>位</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7</a:t>
            </a:r>
            <a:r>
              <a:rPr lang="zh-CN" altLang="zh-CN" sz="2000" b="1" dirty="0" smtClean="0">
                <a:latin typeface="微软雅黑" panose="020B0503020204020204" pitchFamily="34" charset="-122"/>
                <a:ea typeface="微软雅黑" panose="020B0503020204020204" pitchFamily="34" charset="-122"/>
              </a:rPr>
              <a:t>位</a:t>
            </a:r>
            <a:endParaRPr lang="en-US" altLang="zh-CN" sz="2000" b="1" dirty="0" smtClean="0">
              <a:latin typeface="微软雅黑" panose="020B0503020204020204" pitchFamily="34" charset="-122"/>
              <a:ea typeface="微软雅黑" panose="020B0503020204020204" pitchFamily="34" charset="-122"/>
            </a:endParaRPr>
          </a:p>
        </p:txBody>
      </p:sp>
      <p:sp>
        <p:nvSpPr>
          <p:cNvPr id="9" name="椭圆 8"/>
          <p:cNvSpPr/>
          <p:nvPr/>
        </p:nvSpPr>
        <p:spPr bwMode="auto">
          <a:xfrm>
            <a:off x="3347864" y="199148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483566" y="292218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2355479" y="427989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10" name="椭圆 9"/>
          <p:cNvSpPr/>
          <p:nvPr/>
        </p:nvSpPr>
        <p:spPr bwMode="auto">
          <a:xfrm>
            <a:off x="4179916" y="519182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 name="TextBox 6"/>
          <p:cNvSpPr txBox="1"/>
          <p:nvPr>
            <p:custDataLst>
              <p:tags r:id="rId1"/>
            </p:custDataLst>
          </p:nvPr>
        </p:nvSpPr>
        <p:spPr>
          <a:xfrm>
            <a:off x="323528" y="1090060"/>
            <a:ext cx="8525810" cy="470898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磁盘驱动器</a:t>
            </a:r>
            <a:r>
              <a:rPr lang="zh-CN" altLang="zh-CN" sz="2000" b="1" dirty="0">
                <a:latin typeface="微软雅黑" panose="020B0503020204020204" pitchFamily="34" charset="-122"/>
                <a:ea typeface="微软雅黑" panose="020B0503020204020204" pitchFamily="34" charset="-122"/>
              </a:rPr>
              <a:t>向盘片磁层记录数据时</a:t>
            </a:r>
            <a:r>
              <a:rPr lang="zh-CN" altLang="zh-CN" sz="2000" b="1" dirty="0" smtClean="0">
                <a:latin typeface="微软雅黑" panose="020B0503020204020204" pitchFamily="34" charset="-122"/>
                <a:ea typeface="微软雅黑" panose="020B0503020204020204" pitchFamily="34" charset="-122"/>
              </a:rPr>
              <a:t>采用</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方式</a:t>
            </a:r>
            <a:r>
              <a:rPr lang="zh-CN" altLang="zh-CN" sz="2000" b="1" dirty="0">
                <a:latin typeface="微软雅黑" panose="020B0503020204020204" pitchFamily="34" charset="-122"/>
                <a:ea typeface="微软雅黑" panose="020B0503020204020204" pitchFamily="34" charset="-122"/>
              </a:rPr>
              <a:t>写入。</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 </a:t>
            </a:r>
            <a:r>
              <a:rPr lang="zh-CN" altLang="zh-CN" sz="2000" b="1" dirty="0">
                <a:latin typeface="微软雅黑" panose="020B0503020204020204" pitchFamily="34" charset="-122"/>
                <a:ea typeface="微软雅黑" panose="020B0503020204020204" pitchFamily="34" charset="-122"/>
              </a:rPr>
              <a:t>并行</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．串行</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  </a:t>
            </a:r>
            <a:r>
              <a:rPr lang="zh-CN" altLang="zh-CN" sz="2000" b="1" dirty="0">
                <a:latin typeface="微软雅黑" panose="020B0503020204020204" pitchFamily="34" charset="-122"/>
                <a:ea typeface="微软雅黑" panose="020B0503020204020204" pitchFamily="34" charset="-122"/>
              </a:rPr>
              <a:t>并一</a:t>
            </a:r>
            <a:r>
              <a:rPr lang="zh-CN" altLang="zh-CN" sz="2000" b="1" dirty="0" smtClean="0">
                <a:latin typeface="微软雅黑" panose="020B0503020204020204" pitchFamily="34" charset="-122"/>
                <a:ea typeface="微软雅黑" panose="020B0503020204020204" pitchFamily="34" charset="-122"/>
              </a:rPr>
              <a:t>串行</a:t>
            </a:r>
            <a:r>
              <a:rPr lang="en-US" altLang="zh-CN" sz="2000" b="1" dirty="0" smtClean="0">
                <a:latin typeface="微软雅黑" panose="020B0503020204020204" pitchFamily="34" charset="-122"/>
                <a:ea typeface="微软雅黑" panose="020B0503020204020204" pitchFamily="34" charset="-122"/>
              </a:rPr>
              <a:t>      D</a:t>
            </a:r>
            <a:r>
              <a:rPr lang="zh-CN" altLang="zh-CN" sz="2000" b="1" dirty="0">
                <a:latin typeface="微软雅黑" panose="020B0503020204020204" pitchFamily="34" charset="-122"/>
                <a:ea typeface="微软雅黑" panose="020B0503020204020204" pitchFamily="34" charset="-122"/>
              </a:rPr>
              <a:t>．串一并行</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zh-CN" altLang="zh-CN" sz="2000" b="1" dirty="0" smtClean="0">
                <a:latin typeface="微软雅黑" panose="020B0503020204020204" pitchFamily="34" charset="-122"/>
                <a:ea typeface="微软雅黑" panose="020B0503020204020204" pitchFamily="34" charset="-122"/>
              </a:rPr>
              <a:t>显示器</a:t>
            </a:r>
            <a:r>
              <a:rPr lang="zh-CN" altLang="zh-CN" sz="2000" b="1" dirty="0">
                <a:latin typeface="微软雅黑" panose="020B0503020204020204" pitchFamily="34" charset="-122"/>
                <a:ea typeface="微软雅黑" panose="020B0503020204020204" pitchFamily="34" charset="-122"/>
              </a:rPr>
              <a:t>的主要参数之一是分辨率，其含义</a:t>
            </a:r>
            <a:r>
              <a:rPr lang="zh-CN" altLang="zh-CN" sz="2000" b="1" dirty="0" smtClean="0">
                <a:latin typeface="微软雅黑" panose="020B0503020204020204" pitchFamily="34" charset="-122"/>
                <a:ea typeface="微软雅黑" panose="020B0503020204020204" pitchFamily="34" charset="-122"/>
              </a:rPr>
              <a:t>为</a:t>
            </a:r>
            <a:r>
              <a:rPr lang="zh-CN" altLang="en-US" sz="2000" b="1" dirty="0" smtClean="0">
                <a:latin typeface="微软雅黑" panose="020B0503020204020204" pitchFamily="34" charset="-122"/>
                <a:ea typeface="微软雅黑" panose="020B0503020204020204" pitchFamily="34" charset="-122"/>
              </a:rPr>
              <a:t>（        ）</a:t>
            </a:r>
            <a:r>
              <a:rPr lang="zh-CN" altLang="zh-CN" sz="2000" b="1" dirty="0" smtClean="0">
                <a:latin typeface="微软雅黑" panose="020B0503020204020204" pitchFamily="34" charset="-122"/>
                <a:ea typeface="微软雅黑" panose="020B0503020204020204" pitchFamily="34" charset="-122"/>
              </a:rPr>
              <a:t>。</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显示屏幕的水平和垂直扫描频率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显示屏幕上光栅的列数和行数</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可显示不同颜色的总数 </a:t>
            </a:r>
            <a:r>
              <a:rPr lang="en-US" altLang="zh-CN" sz="2000" b="1" dirty="0">
                <a:latin typeface="微软雅黑" panose="020B0503020204020204" pitchFamily="34" charset="-122"/>
                <a:ea typeface="微软雅黑" panose="020B0503020204020204" pitchFamily="34" charset="-122"/>
              </a:rPr>
              <a:t>           </a:t>
            </a:r>
            <a:endParaRPr lang="en-US" altLang="zh-CN" sz="2000" b="1" dirty="0" smtClean="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D</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同一幅画面允许显示不同颜色的最大数目</a:t>
            </a:r>
            <a:endParaRPr lang="zh-CN"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b="1" dirty="0" smtClean="0">
                <a:latin typeface="微软雅黑" panose="020B0503020204020204" pitchFamily="34" charset="-122"/>
                <a:ea typeface="微软雅黑" panose="020B0503020204020204" pitchFamily="34" charset="-122"/>
              </a:rPr>
              <a:t>PC</a:t>
            </a:r>
            <a:r>
              <a:rPr lang="zh-CN" altLang="zh-CN" sz="2000" b="1" dirty="0">
                <a:latin typeface="微软雅黑" panose="020B0503020204020204" pitchFamily="34" charset="-122"/>
                <a:ea typeface="微软雅黑" panose="020B0503020204020204" pitchFamily="34" charset="-122"/>
              </a:rPr>
              <a:t>机所配置的显示器，若显示控制卡上刷存容量是</a:t>
            </a:r>
            <a:r>
              <a:rPr lang="en-US" altLang="zh-CN" sz="2000" b="1" dirty="0">
                <a:latin typeface="微软雅黑" panose="020B0503020204020204" pitchFamily="34" charset="-122"/>
                <a:ea typeface="微软雅黑" panose="020B0503020204020204" pitchFamily="34" charset="-122"/>
              </a:rPr>
              <a:t>1MB</a:t>
            </a:r>
            <a:r>
              <a:rPr lang="zh-CN" altLang="zh-CN" sz="2000" b="1" dirty="0">
                <a:latin typeface="微软雅黑" panose="020B0503020204020204" pitchFamily="34" charset="-122"/>
                <a:ea typeface="微软雅黑" panose="020B0503020204020204" pitchFamily="34" charset="-122"/>
              </a:rPr>
              <a:t>，则当采用</a:t>
            </a:r>
            <a:r>
              <a:rPr lang="en-US" altLang="zh-CN" sz="2000" b="1" dirty="0">
                <a:latin typeface="微软雅黑" panose="020B0503020204020204" pitchFamily="34" charset="-122"/>
                <a:ea typeface="微软雅黑" panose="020B0503020204020204" pitchFamily="34" charset="-122"/>
              </a:rPr>
              <a:t> 800*600</a:t>
            </a:r>
            <a:r>
              <a:rPr lang="zh-CN" altLang="zh-CN" sz="2000" b="1" dirty="0">
                <a:latin typeface="微软雅黑" panose="020B0503020204020204" pitchFamily="34" charset="-122"/>
                <a:ea typeface="微软雅黑" panose="020B0503020204020204" pitchFamily="34" charset="-122"/>
              </a:rPr>
              <a:t>的分辨率模式时，每个象素最多可以有（</a:t>
            </a:r>
            <a:r>
              <a:rPr lang="en-US" altLang="zh-CN"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）种不同颜色。</a:t>
            </a:r>
            <a:endParaRPr lang="zh-CN"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A</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8</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B</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16</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C</a:t>
            </a:r>
            <a:r>
              <a:rPr lang="zh-CN" altLang="zh-CN"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a:t>
            </a:r>
            <a:r>
              <a:rPr lang="en-US" altLang="zh-CN" sz="2000" b="1" baseline="30000" dirty="0">
                <a:latin typeface="微软雅黑" panose="020B0503020204020204" pitchFamily="34" charset="-122"/>
                <a:ea typeface="微软雅黑" panose="020B0503020204020204" pitchFamily="34" charset="-122"/>
              </a:rPr>
              <a:t>24</a:t>
            </a:r>
            <a:r>
              <a:rPr lang="en-US" altLang="zh-CN" sz="2000" b="1" dirty="0">
                <a:latin typeface="微软雅黑" panose="020B0503020204020204" pitchFamily="34" charset="-122"/>
                <a:ea typeface="微软雅黑" panose="020B0503020204020204" pitchFamily="34" charset="-122"/>
              </a:rPr>
              <a:t>  </a:t>
            </a:r>
            <a:r>
              <a:rPr lang="en-US" altLang="zh-CN" sz="2000" b="1" dirty="0" smtClean="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a:t>
            </a:r>
            <a:r>
              <a:rPr lang="en-US" altLang="zh-CN" sz="2000" b="1" dirty="0" smtClean="0">
                <a:latin typeface="微软雅黑" panose="020B0503020204020204" pitchFamily="34" charset="-122"/>
                <a:ea typeface="微软雅黑" panose="020B0503020204020204" pitchFamily="34" charset="-122"/>
              </a:rPr>
              <a:t>2</a:t>
            </a:r>
            <a:r>
              <a:rPr lang="en-US" altLang="zh-CN" sz="2000" b="1" baseline="30000" dirty="0" smtClean="0">
                <a:latin typeface="微软雅黑" panose="020B0503020204020204" pitchFamily="34" charset="-122"/>
                <a:ea typeface="微软雅黑" panose="020B0503020204020204" pitchFamily="34" charset="-122"/>
              </a:rPr>
              <a:t>32</a:t>
            </a:r>
            <a:endParaRPr lang="zh-CN" altLang="zh-CN" sz="2000" b="1" dirty="0">
              <a:latin typeface="微软雅黑" panose="020B0503020204020204" pitchFamily="34" charset="-122"/>
              <a:ea typeface="微软雅黑" panose="020B0503020204020204" pitchFamily="34" charset="-122"/>
            </a:endParaRPr>
          </a:p>
        </p:txBody>
      </p:sp>
      <p:sp>
        <p:nvSpPr>
          <p:cNvPr id="9" name="椭圆 8"/>
          <p:cNvSpPr/>
          <p:nvPr/>
        </p:nvSpPr>
        <p:spPr bwMode="auto">
          <a:xfrm>
            <a:off x="3305131" y="155205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6" name="椭圆 5"/>
          <p:cNvSpPr/>
          <p:nvPr/>
        </p:nvSpPr>
        <p:spPr bwMode="auto">
          <a:xfrm>
            <a:off x="583567" y="293427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
        <p:nvSpPr>
          <p:cNvPr id="8" name="椭圆 7"/>
          <p:cNvSpPr/>
          <p:nvPr/>
        </p:nvSpPr>
        <p:spPr bwMode="auto">
          <a:xfrm>
            <a:off x="2117037" y="52054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96951E9B-C8FA-4E82-AF92-226B1BF46A09}" type="slidenum">
              <a:rPr lang="en-US" altLang="zh-CN" smtClean="0"/>
            </a:fld>
            <a:endParaRPr lang="en-US" altLang="zh-CN" smtClean="0"/>
          </a:p>
        </p:txBody>
      </p:sp>
      <p:sp>
        <p:nvSpPr>
          <p:cNvPr id="27652" name="Rectangle 6"/>
          <p:cNvSpPr>
            <a:spLocks noChangeArrowheads="1"/>
          </p:cNvSpPr>
          <p:nvPr/>
        </p:nvSpPr>
        <p:spPr bwMode="auto">
          <a:xfrm>
            <a:off x="153249" y="117436"/>
            <a:ext cx="8856984" cy="6403340"/>
          </a:xfrm>
          <a:prstGeom prst="rect">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zh-CN" altLang="en-US" sz="1600" dirty="0" smtClean="0">
                <a:solidFill>
                  <a:srgbClr val="FF0000"/>
                </a:solidFill>
                <a:latin typeface="+mn-ea"/>
              </a:rPr>
              <a:t> </a:t>
            </a:r>
            <a:r>
              <a:rPr lang="zh-CN" sz="2400" b="1" dirty="0" smtClean="0">
                <a:solidFill>
                  <a:srgbClr val="FF0000"/>
                </a:solidFill>
                <a:effectLst>
                  <a:outerShdw blurRad="38100" dist="38100" dir="2700000" algn="tl">
                    <a:srgbClr val="000000">
                      <a:alpha val="43137"/>
                    </a:srgbClr>
                  </a:outerShdw>
                </a:effectLst>
                <a:latin typeface="+mn-ea"/>
              </a:rPr>
              <a:t>练习题</a:t>
            </a:r>
            <a:r>
              <a:rPr lang="en-US" altLang="zh-CN" sz="2400" b="1" dirty="0" smtClean="0">
                <a:solidFill>
                  <a:srgbClr val="FF0000"/>
                </a:solidFill>
                <a:effectLst>
                  <a:outerShdw blurRad="38100" dist="38100" dir="2700000" algn="tl">
                    <a:srgbClr val="000000">
                      <a:alpha val="43137"/>
                    </a:srgbClr>
                  </a:outerShdw>
                </a:effectLst>
                <a:latin typeface="+mn-ea"/>
              </a:rPr>
              <a:t>:</a:t>
            </a:r>
            <a:r>
              <a:rPr lang="zh-CN" altLang="en-US" sz="2400" b="1" smtClean="0">
                <a:solidFill>
                  <a:srgbClr val="FF0000"/>
                </a:solidFill>
                <a:effectLst>
                  <a:outerShdw blurRad="38100" dist="38100" dir="2700000" algn="tl">
                    <a:srgbClr val="000000">
                      <a:alpha val="43137"/>
                    </a:srgbClr>
                  </a:outerShdw>
                </a:effectLst>
                <a:latin typeface="+mn-ea"/>
              </a:rPr>
              <a:t> </a:t>
            </a:r>
            <a:endParaRPr lang="en-US" altLang="zh-CN" sz="2400" b="1" dirty="0" smtClean="0">
              <a:solidFill>
                <a:srgbClr val="FF0000"/>
              </a:solidFill>
              <a:effectLst>
                <a:outerShdw blurRad="38100" dist="38100" dir="2700000" algn="tl">
                  <a:srgbClr val="000000">
                    <a:alpha val="43137"/>
                  </a:srgbClr>
                </a:outerShdw>
              </a:effectLst>
              <a:latin typeface="+mn-ea"/>
            </a:endParaRPr>
          </a:p>
          <a:p>
            <a:pPr>
              <a:lnSpc>
                <a:spcPct val="120000"/>
              </a:lnSpc>
            </a:pPr>
            <a:r>
              <a:rPr lang="en-US" altLang="zh-CN" dirty="0">
                <a:latin typeface="+mn-ea"/>
              </a:rPr>
              <a:t>1</a:t>
            </a:r>
            <a:r>
              <a:rPr lang="zh-CN" altLang="en-US" dirty="0" smtClean="0">
                <a:latin typeface="+mn-ea"/>
              </a:rPr>
              <a:t>、</a:t>
            </a:r>
            <a:r>
              <a:rPr lang="zh-CN" altLang="zh-CN" dirty="0" smtClean="0">
                <a:latin typeface="+mn-ea"/>
              </a:rPr>
              <a:t>已知</a:t>
            </a:r>
            <a:r>
              <a:rPr lang="zh-CN" altLang="zh-CN" dirty="0">
                <a:latin typeface="+mn-ea"/>
              </a:rPr>
              <a:t>某磁盘存储器的转速为</a:t>
            </a:r>
            <a:r>
              <a:rPr lang="en-US" altLang="zh-CN" dirty="0">
                <a:latin typeface="+mn-ea"/>
              </a:rPr>
              <a:t>2400</a:t>
            </a:r>
            <a:r>
              <a:rPr lang="zh-CN" altLang="zh-CN" dirty="0">
                <a:latin typeface="+mn-ea"/>
              </a:rPr>
              <a:t>转</a:t>
            </a:r>
            <a:r>
              <a:rPr lang="en-US" altLang="zh-CN" dirty="0">
                <a:latin typeface="+mn-ea"/>
              </a:rPr>
              <a:t>/</a:t>
            </a:r>
            <a:r>
              <a:rPr lang="zh-CN" altLang="zh-CN" dirty="0">
                <a:latin typeface="+mn-ea"/>
              </a:rPr>
              <a:t>分，每个记录面道数为</a:t>
            </a:r>
            <a:r>
              <a:rPr lang="en-US" altLang="zh-CN" dirty="0">
                <a:latin typeface="+mn-ea"/>
              </a:rPr>
              <a:t>200</a:t>
            </a:r>
            <a:r>
              <a:rPr lang="zh-CN" altLang="zh-CN" dirty="0">
                <a:latin typeface="+mn-ea"/>
              </a:rPr>
              <a:t>道，平均找道（寻道）时间</a:t>
            </a:r>
            <a:r>
              <a:rPr lang="zh-CN" altLang="zh-CN" dirty="0" smtClean="0">
                <a:latin typeface="+mn-ea"/>
              </a:rPr>
              <a:t>为</a:t>
            </a:r>
            <a:r>
              <a:rPr lang="en-US" altLang="zh-CN" dirty="0" smtClean="0">
                <a:latin typeface="+mn-ea"/>
              </a:rPr>
              <a:t>60ms</a:t>
            </a:r>
            <a:r>
              <a:rPr lang="zh-CN" altLang="zh-CN" dirty="0">
                <a:latin typeface="+mn-ea"/>
              </a:rPr>
              <a:t>，每道存储容量为</a:t>
            </a:r>
            <a:r>
              <a:rPr lang="en-US" altLang="zh-CN" dirty="0" smtClean="0">
                <a:latin typeface="+mn-ea"/>
              </a:rPr>
              <a:t>96KB</a:t>
            </a:r>
            <a:r>
              <a:rPr lang="zh-CN" altLang="zh-CN" dirty="0" smtClean="0">
                <a:latin typeface="+mn-ea"/>
              </a:rPr>
              <a:t>，</a:t>
            </a:r>
            <a:r>
              <a:rPr lang="zh-CN" altLang="zh-CN" dirty="0">
                <a:latin typeface="+mn-ea"/>
              </a:rPr>
              <a:t>求磁盘的存取时间与数据传输率</a:t>
            </a:r>
            <a:r>
              <a:rPr lang="zh-CN" altLang="zh-CN" dirty="0" smtClean="0">
                <a:latin typeface="+mn-ea"/>
              </a:rPr>
              <a:t>。</a:t>
            </a:r>
            <a:endParaRPr lang="en-US" altLang="zh-CN" dirty="0" smtClean="0">
              <a:latin typeface="+mn-ea"/>
            </a:endParaRPr>
          </a:p>
          <a:p>
            <a:pPr>
              <a:lnSpc>
                <a:spcPct val="120000"/>
              </a:lnSpc>
            </a:pPr>
            <a:r>
              <a:rPr lang="en-US" altLang="zh-CN" dirty="0" smtClean="0">
                <a:latin typeface="+mn-ea"/>
              </a:rPr>
              <a:t>2</a:t>
            </a:r>
            <a:r>
              <a:rPr lang="zh-CN" altLang="en-US" dirty="0" smtClean="0">
                <a:latin typeface="+mn-ea"/>
              </a:rPr>
              <a:t>、</a:t>
            </a:r>
            <a:r>
              <a:rPr lang="zh-CN" altLang="zh-CN" dirty="0" smtClean="0">
                <a:latin typeface="+mn-ea"/>
              </a:rPr>
              <a:t>磁盘组</a:t>
            </a:r>
            <a:r>
              <a:rPr lang="zh-CN" altLang="zh-CN" dirty="0">
                <a:latin typeface="+mn-ea"/>
              </a:rPr>
              <a:t>有</a:t>
            </a:r>
            <a:r>
              <a:rPr lang="en-US" altLang="zh-CN" dirty="0">
                <a:latin typeface="+mn-ea"/>
              </a:rPr>
              <a:t>6</a:t>
            </a:r>
            <a:r>
              <a:rPr lang="zh-CN" altLang="zh-CN" dirty="0">
                <a:latin typeface="+mn-ea"/>
              </a:rPr>
              <a:t>片磁盘，每片有两个记录面，最上最下两个面不用。存储区域内径</a:t>
            </a:r>
            <a:r>
              <a:rPr lang="en-US" altLang="zh-CN" dirty="0">
                <a:latin typeface="+mn-ea"/>
              </a:rPr>
              <a:t>22cm</a:t>
            </a:r>
            <a:r>
              <a:rPr lang="en-US" altLang="zh-CN" dirty="0" smtClean="0">
                <a:latin typeface="+mn-ea"/>
              </a:rPr>
              <a:t>,</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zh-CN" altLang="zh-CN" dirty="0" smtClean="0">
                <a:latin typeface="+mn-ea"/>
              </a:rPr>
              <a:t>外径</a:t>
            </a:r>
            <a:r>
              <a:rPr lang="en-US" altLang="zh-CN" dirty="0">
                <a:latin typeface="+mn-ea"/>
              </a:rPr>
              <a:t>33cm</a:t>
            </a:r>
            <a:r>
              <a:rPr lang="zh-CN" altLang="zh-CN" dirty="0">
                <a:latin typeface="+mn-ea"/>
              </a:rPr>
              <a:t>，道密度为</a:t>
            </a:r>
            <a:r>
              <a:rPr lang="en-US" altLang="zh-CN" dirty="0">
                <a:latin typeface="+mn-ea"/>
              </a:rPr>
              <a:t>40</a:t>
            </a:r>
            <a:r>
              <a:rPr lang="zh-CN" altLang="zh-CN" dirty="0">
                <a:latin typeface="+mn-ea"/>
              </a:rPr>
              <a:t>道</a:t>
            </a:r>
            <a:r>
              <a:rPr lang="en-US" altLang="zh-CN" dirty="0">
                <a:latin typeface="+mn-ea"/>
              </a:rPr>
              <a:t>/cm</a:t>
            </a:r>
            <a:r>
              <a:rPr lang="zh-CN" altLang="zh-CN" dirty="0">
                <a:latin typeface="+mn-ea"/>
              </a:rPr>
              <a:t>，内圈位密度</a:t>
            </a:r>
            <a:r>
              <a:rPr lang="en-US" altLang="zh-CN" dirty="0">
                <a:latin typeface="+mn-ea"/>
              </a:rPr>
              <a:t>400</a:t>
            </a:r>
            <a:r>
              <a:rPr lang="zh-CN" altLang="zh-CN" dirty="0">
                <a:latin typeface="+mn-ea"/>
              </a:rPr>
              <a:t>位</a:t>
            </a:r>
            <a:r>
              <a:rPr lang="en-US" altLang="zh-CN" dirty="0">
                <a:latin typeface="+mn-ea"/>
              </a:rPr>
              <a:t>/cm</a:t>
            </a:r>
            <a:r>
              <a:rPr lang="zh-CN" altLang="zh-CN" dirty="0">
                <a:latin typeface="+mn-ea"/>
              </a:rPr>
              <a:t>，转速</a:t>
            </a:r>
            <a:r>
              <a:rPr lang="en-US" altLang="zh-CN" dirty="0">
                <a:latin typeface="+mn-ea"/>
              </a:rPr>
              <a:t>2400</a:t>
            </a:r>
            <a:r>
              <a:rPr lang="zh-CN" altLang="zh-CN" dirty="0">
                <a:latin typeface="+mn-ea"/>
              </a:rPr>
              <a:t>转</a:t>
            </a:r>
            <a:r>
              <a:rPr lang="en-US" altLang="zh-CN" dirty="0">
                <a:latin typeface="+mn-ea"/>
              </a:rPr>
              <a:t>/</a:t>
            </a:r>
            <a:r>
              <a:rPr lang="zh-CN" altLang="zh-CN" dirty="0">
                <a:latin typeface="+mn-ea"/>
              </a:rPr>
              <a:t>分。问：</a:t>
            </a:r>
            <a:endParaRPr lang="zh-CN" altLang="zh-CN" dirty="0">
              <a:latin typeface="+mn-ea"/>
            </a:endParaRPr>
          </a:p>
          <a:p>
            <a:pPr>
              <a:lnSpc>
                <a:spcPct val="120000"/>
              </a:lnSpc>
            </a:pPr>
            <a:r>
              <a:rPr lang="en-US" altLang="zh-CN" dirty="0" smtClean="0">
                <a:latin typeface="+mn-ea"/>
              </a:rPr>
              <a:t>  </a:t>
            </a:r>
            <a:r>
              <a:rPr lang="zh-CN" altLang="zh-CN" dirty="0" smtClean="0">
                <a:latin typeface="+mn-ea"/>
              </a:rPr>
              <a:t>（</a:t>
            </a:r>
            <a:r>
              <a:rPr lang="en-US" altLang="zh-CN" dirty="0">
                <a:latin typeface="+mn-ea"/>
              </a:rPr>
              <a:t>1</a:t>
            </a:r>
            <a:r>
              <a:rPr lang="zh-CN" altLang="zh-CN" dirty="0">
                <a:latin typeface="+mn-ea"/>
              </a:rPr>
              <a:t>）共有多少</a:t>
            </a:r>
            <a:r>
              <a:rPr lang="zh-CN" altLang="zh-CN" dirty="0" smtClean="0">
                <a:latin typeface="+mn-ea"/>
              </a:rPr>
              <a:t>柱面</a:t>
            </a:r>
            <a:r>
              <a:rPr lang="zh-CN" altLang="en-US" dirty="0" smtClean="0">
                <a:latin typeface="+mn-ea"/>
              </a:rPr>
              <a:t>；</a:t>
            </a:r>
            <a:endParaRPr lang="zh-CN" altLang="zh-CN" dirty="0">
              <a:latin typeface="+mn-ea"/>
            </a:endParaRPr>
          </a:p>
          <a:p>
            <a:pPr>
              <a:lnSpc>
                <a:spcPct val="120000"/>
              </a:lnSpc>
            </a:pPr>
            <a:r>
              <a:rPr lang="en-US" altLang="zh-CN" dirty="0" smtClean="0">
                <a:latin typeface="+mn-ea"/>
              </a:rPr>
              <a:t>  </a:t>
            </a:r>
            <a:r>
              <a:rPr lang="zh-CN" altLang="zh-CN" dirty="0" smtClean="0">
                <a:latin typeface="+mn-ea"/>
              </a:rPr>
              <a:t>（</a:t>
            </a:r>
            <a:r>
              <a:rPr lang="en-US" altLang="zh-CN" dirty="0">
                <a:latin typeface="+mn-ea"/>
              </a:rPr>
              <a:t>2</a:t>
            </a:r>
            <a:r>
              <a:rPr lang="zh-CN" altLang="zh-CN" dirty="0">
                <a:latin typeface="+mn-ea"/>
              </a:rPr>
              <a:t>）磁盘组总存储容量是</a:t>
            </a:r>
            <a:r>
              <a:rPr lang="zh-CN" altLang="zh-CN" dirty="0" smtClean="0">
                <a:latin typeface="+mn-ea"/>
              </a:rPr>
              <a:t>多少</a:t>
            </a:r>
            <a:r>
              <a:rPr lang="zh-CN" altLang="en-US" dirty="0" smtClean="0">
                <a:latin typeface="+mn-ea"/>
              </a:rPr>
              <a:t>；</a:t>
            </a:r>
            <a:endParaRPr lang="zh-CN" altLang="zh-CN" dirty="0">
              <a:latin typeface="+mn-ea"/>
            </a:endParaRPr>
          </a:p>
          <a:p>
            <a:pPr>
              <a:lnSpc>
                <a:spcPct val="120000"/>
              </a:lnSpc>
            </a:pPr>
            <a:r>
              <a:rPr lang="en-US" altLang="zh-CN" dirty="0" smtClean="0">
                <a:latin typeface="+mn-ea"/>
              </a:rPr>
              <a:t>  </a:t>
            </a:r>
            <a:r>
              <a:rPr lang="zh-CN" altLang="zh-CN" dirty="0" smtClean="0">
                <a:latin typeface="+mn-ea"/>
              </a:rPr>
              <a:t>（</a:t>
            </a:r>
            <a:r>
              <a:rPr lang="en-US" altLang="zh-CN" dirty="0">
                <a:latin typeface="+mn-ea"/>
              </a:rPr>
              <a:t>3</a:t>
            </a:r>
            <a:r>
              <a:rPr lang="zh-CN" altLang="zh-CN" dirty="0">
                <a:latin typeface="+mn-ea"/>
              </a:rPr>
              <a:t>）数据传输率是</a:t>
            </a:r>
            <a:r>
              <a:rPr lang="zh-CN" altLang="zh-CN" dirty="0" smtClean="0">
                <a:latin typeface="+mn-ea"/>
              </a:rPr>
              <a:t>多少</a:t>
            </a:r>
            <a:r>
              <a:rPr lang="zh-CN" altLang="en-US" dirty="0" smtClean="0">
                <a:latin typeface="+mn-ea"/>
              </a:rPr>
              <a:t>。</a:t>
            </a:r>
            <a:endParaRPr lang="en-US" altLang="zh-CN" dirty="0" smtClean="0">
              <a:latin typeface="+mn-ea"/>
            </a:endParaRPr>
          </a:p>
          <a:p>
            <a:pPr>
              <a:lnSpc>
                <a:spcPct val="120000"/>
              </a:lnSpc>
            </a:pPr>
            <a:r>
              <a:rPr lang="en-US" altLang="zh-CN" dirty="0" smtClean="0">
                <a:latin typeface="+mn-ea"/>
              </a:rPr>
              <a:t>3</a:t>
            </a:r>
            <a:r>
              <a:rPr lang="zh-CN" altLang="en-US" dirty="0" smtClean="0">
                <a:latin typeface="+mn-ea"/>
              </a:rPr>
              <a:t>、</a:t>
            </a:r>
            <a:r>
              <a:rPr lang="zh-CN" altLang="zh-CN" dirty="0" smtClean="0">
                <a:latin typeface="+mn-ea"/>
              </a:rPr>
              <a:t>设</a:t>
            </a:r>
            <a:r>
              <a:rPr lang="zh-CN" altLang="zh-CN" dirty="0">
                <a:latin typeface="+mn-ea"/>
              </a:rPr>
              <a:t>某磁盘有两个记录面，存储区内直径为</a:t>
            </a:r>
            <a:r>
              <a:rPr lang="en-US" altLang="zh-CN" dirty="0">
                <a:latin typeface="+mn-ea"/>
              </a:rPr>
              <a:t>2.36</a:t>
            </a:r>
            <a:r>
              <a:rPr lang="zh-CN" altLang="zh-CN" dirty="0">
                <a:latin typeface="+mn-ea"/>
              </a:rPr>
              <a:t>英寸，外直径为</a:t>
            </a:r>
            <a:r>
              <a:rPr lang="en-US" altLang="zh-CN" dirty="0">
                <a:latin typeface="+mn-ea"/>
              </a:rPr>
              <a:t>5</a:t>
            </a:r>
            <a:r>
              <a:rPr lang="zh-CN" altLang="zh-CN" dirty="0">
                <a:latin typeface="+mn-ea"/>
              </a:rPr>
              <a:t>英寸，道密度</a:t>
            </a:r>
            <a:r>
              <a:rPr lang="zh-CN" altLang="zh-CN" dirty="0" smtClean="0">
                <a:latin typeface="+mn-ea"/>
              </a:rPr>
              <a:t>为</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1250TPI(TPI</a:t>
            </a:r>
            <a:r>
              <a:rPr lang="en-US" altLang="zh-CN" dirty="0">
                <a:latin typeface="+mn-ea"/>
              </a:rPr>
              <a:t>:</a:t>
            </a:r>
            <a:r>
              <a:rPr lang="zh-CN" altLang="zh-CN" dirty="0">
                <a:latin typeface="+mn-ea"/>
              </a:rPr>
              <a:t>磁道数</a:t>
            </a:r>
            <a:r>
              <a:rPr lang="en-US" altLang="zh-CN" dirty="0">
                <a:latin typeface="+mn-ea"/>
              </a:rPr>
              <a:t>/</a:t>
            </a:r>
            <a:r>
              <a:rPr lang="zh-CN" altLang="zh-CN" dirty="0">
                <a:latin typeface="+mn-ea"/>
              </a:rPr>
              <a:t>英寸</a:t>
            </a:r>
            <a:r>
              <a:rPr lang="en-US" altLang="zh-CN" dirty="0">
                <a:latin typeface="+mn-ea"/>
              </a:rPr>
              <a:t>)</a:t>
            </a:r>
            <a:r>
              <a:rPr lang="zh-CN" altLang="zh-CN" dirty="0">
                <a:latin typeface="+mn-ea"/>
              </a:rPr>
              <a:t>，内直径处的位密度为</a:t>
            </a:r>
            <a:r>
              <a:rPr lang="en-US" altLang="zh-CN" dirty="0">
                <a:latin typeface="+mn-ea"/>
              </a:rPr>
              <a:t>52400 bpi(bpi:</a:t>
            </a:r>
            <a:r>
              <a:rPr lang="zh-CN" altLang="zh-CN" dirty="0">
                <a:latin typeface="+mn-ea"/>
              </a:rPr>
              <a:t>位</a:t>
            </a:r>
            <a:r>
              <a:rPr lang="en-US" altLang="zh-CN" dirty="0">
                <a:latin typeface="+mn-ea"/>
              </a:rPr>
              <a:t>/</a:t>
            </a:r>
            <a:r>
              <a:rPr lang="zh-CN" altLang="zh-CN" dirty="0">
                <a:latin typeface="+mn-ea"/>
              </a:rPr>
              <a:t>英寸</a:t>
            </a:r>
            <a:r>
              <a:rPr lang="en-US" altLang="zh-CN" dirty="0">
                <a:latin typeface="+mn-ea"/>
              </a:rPr>
              <a:t>)</a:t>
            </a:r>
            <a:r>
              <a:rPr lang="zh-CN" altLang="zh-CN" dirty="0">
                <a:latin typeface="+mn-ea"/>
              </a:rPr>
              <a:t>，</a:t>
            </a:r>
            <a:r>
              <a:rPr lang="zh-CN" altLang="zh-CN" dirty="0" smtClean="0">
                <a:latin typeface="+mn-ea"/>
              </a:rPr>
              <a:t>转速</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zh-CN" altLang="zh-CN" dirty="0" smtClean="0">
                <a:latin typeface="+mn-ea"/>
              </a:rPr>
              <a:t>为</a:t>
            </a:r>
            <a:r>
              <a:rPr lang="en-US" altLang="zh-CN" dirty="0">
                <a:latin typeface="+mn-ea"/>
              </a:rPr>
              <a:t>2400rpm(rpm:</a:t>
            </a:r>
            <a:r>
              <a:rPr lang="zh-CN" altLang="zh-CN" dirty="0">
                <a:latin typeface="+mn-ea"/>
              </a:rPr>
              <a:t>转</a:t>
            </a:r>
            <a:r>
              <a:rPr lang="en-US" altLang="zh-CN" dirty="0">
                <a:latin typeface="+mn-ea"/>
              </a:rPr>
              <a:t>/</a:t>
            </a:r>
            <a:r>
              <a:rPr lang="zh-CN" altLang="zh-CN" dirty="0">
                <a:latin typeface="+mn-ea"/>
              </a:rPr>
              <a:t>分</a:t>
            </a:r>
            <a:r>
              <a:rPr lang="en-US" altLang="zh-CN" dirty="0">
                <a:latin typeface="+mn-ea"/>
              </a:rPr>
              <a:t>)</a:t>
            </a:r>
            <a:r>
              <a:rPr lang="zh-CN" altLang="zh-CN" dirty="0">
                <a:latin typeface="+mn-ea"/>
              </a:rPr>
              <a:t>。请解答</a:t>
            </a:r>
            <a:r>
              <a:rPr lang="en-US" altLang="zh-CN" dirty="0">
                <a:latin typeface="+mn-ea"/>
              </a:rPr>
              <a:t>:</a:t>
            </a:r>
            <a:endParaRPr lang="zh-CN" altLang="zh-CN" dirty="0">
              <a:latin typeface="+mn-ea"/>
            </a:endParaRPr>
          </a:p>
          <a:p>
            <a:pPr>
              <a:lnSpc>
                <a:spcPct val="120000"/>
              </a:lnSpc>
            </a:pPr>
            <a:r>
              <a:rPr lang="en-US" altLang="zh-CN" dirty="0" smtClean="0">
                <a:latin typeface="+mn-ea"/>
              </a:rPr>
              <a:t>  </a:t>
            </a:r>
            <a:r>
              <a:rPr lang="zh-CN" altLang="en-US" dirty="0" smtClean="0">
                <a:latin typeface="+mn-ea"/>
              </a:rPr>
              <a:t>（</a:t>
            </a:r>
            <a:r>
              <a:rPr lang="en-US" altLang="zh-CN" dirty="0" smtClean="0">
                <a:latin typeface="+mn-ea"/>
              </a:rPr>
              <a:t>1</a:t>
            </a:r>
            <a:r>
              <a:rPr lang="zh-CN" altLang="en-US" dirty="0" smtClean="0">
                <a:latin typeface="+mn-ea"/>
              </a:rPr>
              <a:t>）</a:t>
            </a:r>
            <a:r>
              <a:rPr lang="zh-CN" altLang="zh-CN" dirty="0" smtClean="0">
                <a:latin typeface="+mn-ea"/>
              </a:rPr>
              <a:t>每</a:t>
            </a:r>
            <a:r>
              <a:rPr lang="zh-CN" altLang="zh-CN" dirty="0">
                <a:latin typeface="+mn-ea"/>
              </a:rPr>
              <a:t>面有多少个磁道，每磁道能存储多少</a:t>
            </a:r>
            <a:r>
              <a:rPr lang="zh-CN" altLang="zh-CN" dirty="0" smtClean="0">
                <a:latin typeface="+mn-ea"/>
              </a:rPr>
              <a:t>字节</a:t>
            </a:r>
            <a:r>
              <a:rPr lang="zh-CN" altLang="en-US" dirty="0" smtClean="0">
                <a:latin typeface="+mn-ea"/>
              </a:rPr>
              <a:t>；</a:t>
            </a:r>
            <a:r>
              <a:rPr lang="en-US" altLang="zh-CN" dirty="0" smtClean="0">
                <a:latin typeface="+mn-ea"/>
              </a:rPr>
              <a:t> </a:t>
            </a:r>
            <a:endParaRPr lang="zh-CN" altLang="zh-CN" dirty="0">
              <a:latin typeface="+mn-ea"/>
            </a:endParaRPr>
          </a:p>
          <a:p>
            <a:pPr>
              <a:lnSpc>
                <a:spcPct val="120000"/>
              </a:lnSpc>
            </a:pPr>
            <a:r>
              <a:rPr lang="zh-CN" altLang="en-US" dirty="0" smtClean="0">
                <a:latin typeface="+mn-ea"/>
              </a:rPr>
              <a:t>  （</a:t>
            </a:r>
            <a:r>
              <a:rPr lang="en-US" altLang="zh-CN" dirty="0" smtClean="0">
                <a:latin typeface="+mn-ea"/>
              </a:rPr>
              <a:t>2</a:t>
            </a:r>
            <a:r>
              <a:rPr lang="zh-CN" altLang="en-US" dirty="0" smtClean="0">
                <a:latin typeface="+mn-ea"/>
              </a:rPr>
              <a:t>）</a:t>
            </a:r>
            <a:r>
              <a:rPr lang="zh-CN" altLang="zh-CN" dirty="0" smtClean="0">
                <a:latin typeface="+mn-ea"/>
              </a:rPr>
              <a:t>数据</a:t>
            </a:r>
            <a:r>
              <a:rPr lang="zh-CN" altLang="zh-CN" dirty="0">
                <a:latin typeface="+mn-ea"/>
              </a:rPr>
              <a:t>传输率是</a:t>
            </a:r>
            <a:r>
              <a:rPr lang="zh-CN" altLang="zh-CN" dirty="0" smtClean="0">
                <a:latin typeface="+mn-ea"/>
              </a:rPr>
              <a:t>多少</a:t>
            </a:r>
            <a:r>
              <a:rPr lang="zh-CN" altLang="en-US" dirty="0" smtClean="0">
                <a:latin typeface="+mn-ea"/>
              </a:rPr>
              <a:t>；</a:t>
            </a:r>
            <a:endParaRPr lang="en-US" altLang="zh-CN" dirty="0" smtClean="0">
              <a:latin typeface="+mn-ea"/>
            </a:endParaRPr>
          </a:p>
          <a:p>
            <a:pPr>
              <a:lnSpc>
                <a:spcPct val="120000"/>
              </a:lnSpc>
            </a:pPr>
            <a:r>
              <a:rPr lang="zh-CN" altLang="en-US" dirty="0" smtClean="0">
                <a:latin typeface="+mn-ea"/>
              </a:rPr>
              <a:t>  （</a:t>
            </a:r>
            <a:r>
              <a:rPr lang="en-US" altLang="zh-CN" dirty="0" smtClean="0">
                <a:latin typeface="+mn-ea"/>
              </a:rPr>
              <a:t>3</a:t>
            </a:r>
            <a:r>
              <a:rPr lang="zh-CN" altLang="en-US" dirty="0" smtClean="0">
                <a:latin typeface="+mn-ea"/>
              </a:rPr>
              <a:t>）</a:t>
            </a:r>
            <a:r>
              <a:rPr lang="zh-CN" altLang="zh-CN" dirty="0" smtClean="0">
                <a:latin typeface="+mn-ea"/>
              </a:rPr>
              <a:t>设</a:t>
            </a:r>
            <a:r>
              <a:rPr lang="zh-CN" altLang="zh-CN" dirty="0">
                <a:latin typeface="+mn-ea"/>
              </a:rPr>
              <a:t>找道时间在</a:t>
            </a:r>
            <a:r>
              <a:rPr lang="en-US" altLang="zh-CN" dirty="0">
                <a:latin typeface="+mn-ea"/>
              </a:rPr>
              <a:t>10ms</a:t>
            </a:r>
            <a:r>
              <a:rPr lang="zh-CN" altLang="zh-CN" dirty="0">
                <a:latin typeface="+mn-ea"/>
              </a:rPr>
              <a:t>到</a:t>
            </a:r>
            <a:r>
              <a:rPr lang="en-US" altLang="zh-CN" dirty="0">
                <a:latin typeface="+mn-ea"/>
              </a:rPr>
              <a:t>40ms</a:t>
            </a:r>
            <a:r>
              <a:rPr lang="zh-CN" altLang="zh-CN" dirty="0">
                <a:latin typeface="+mn-ea"/>
              </a:rPr>
              <a:t>之间，在一个磁道上写上</a:t>
            </a:r>
            <a:r>
              <a:rPr lang="en-US" altLang="zh-CN" dirty="0">
                <a:latin typeface="+mn-ea"/>
              </a:rPr>
              <a:t>8000</a:t>
            </a:r>
            <a:r>
              <a:rPr lang="zh-CN" altLang="zh-CN" dirty="0">
                <a:latin typeface="+mn-ea"/>
              </a:rPr>
              <a:t>个字节数据，平均</a:t>
            </a:r>
            <a:r>
              <a:rPr lang="zh-CN" altLang="zh-CN" dirty="0" smtClean="0">
                <a:latin typeface="+mn-ea"/>
              </a:rPr>
              <a:t>需要</a:t>
            </a:r>
            <a:endParaRPr lang="en-US" altLang="zh-CN" dirty="0" smtClean="0">
              <a:latin typeface="+mn-ea"/>
            </a:endParaRPr>
          </a:p>
          <a:p>
            <a:pPr>
              <a:lnSpc>
                <a:spcPct val="120000"/>
              </a:lnSpc>
            </a:pPr>
            <a:r>
              <a:rPr lang="en-US" altLang="zh-CN" dirty="0">
                <a:latin typeface="+mn-ea"/>
              </a:rPr>
              <a:t> </a:t>
            </a:r>
            <a:r>
              <a:rPr lang="en-US" altLang="zh-CN" dirty="0" smtClean="0">
                <a:latin typeface="+mn-ea"/>
              </a:rPr>
              <a:t>      </a:t>
            </a:r>
            <a:r>
              <a:rPr lang="zh-CN" altLang="zh-CN" dirty="0" smtClean="0">
                <a:latin typeface="+mn-ea"/>
              </a:rPr>
              <a:t>多少时间</a:t>
            </a:r>
            <a:r>
              <a:rPr lang="zh-CN" altLang="en-US" dirty="0" smtClean="0">
                <a:latin typeface="+mn-ea"/>
              </a:rPr>
              <a:t>。</a:t>
            </a:r>
            <a:r>
              <a:rPr lang="en-US" altLang="zh-CN" dirty="0" smtClean="0">
                <a:latin typeface="+mn-ea"/>
              </a:rPr>
              <a:t> </a:t>
            </a:r>
            <a:endParaRPr lang="en-US" altLang="zh-CN" dirty="0" smtClean="0">
              <a:latin typeface="+mn-ea"/>
            </a:endParaRPr>
          </a:p>
          <a:p>
            <a:r>
              <a:rPr lang="en-US" altLang="zh-CN" dirty="0" smtClean="0">
                <a:latin typeface="+mn-ea"/>
              </a:rPr>
              <a:t>4</a:t>
            </a:r>
            <a:r>
              <a:rPr lang="zh-CN" altLang="en-US" dirty="0" smtClean="0">
                <a:latin typeface="+mn-ea"/>
              </a:rPr>
              <a:t>、</a:t>
            </a:r>
            <a:r>
              <a:rPr lang="zh-CN" altLang="zh-CN" dirty="0" smtClean="0">
                <a:latin typeface="+mn-ea"/>
              </a:rPr>
              <a:t>若</a:t>
            </a:r>
            <a:r>
              <a:rPr lang="zh-CN" altLang="zh-CN" dirty="0">
                <a:latin typeface="+mn-ea"/>
              </a:rPr>
              <a:t>需要显示一幅</a:t>
            </a:r>
            <a:r>
              <a:rPr lang="en-US" altLang="zh-CN" dirty="0">
                <a:latin typeface="+mn-ea"/>
              </a:rPr>
              <a:t>1024x768</a:t>
            </a:r>
            <a:r>
              <a:rPr lang="zh-CN" altLang="zh-CN" dirty="0">
                <a:latin typeface="+mn-ea"/>
              </a:rPr>
              <a:t>像素，有</a:t>
            </a:r>
            <a:r>
              <a:rPr lang="en-US" altLang="zh-CN" dirty="0">
                <a:latin typeface="+mn-ea"/>
              </a:rPr>
              <a:t>256</a:t>
            </a:r>
            <a:r>
              <a:rPr lang="zh-CN" altLang="zh-CN" dirty="0">
                <a:latin typeface="+mn-ea"/>
              </a:rPr>
              <a:t>种颜色的图像，问</a:t>
            </a:r>
            <a:r>
              <a:rPr lang="en-US" altLang="zh-CN" dirty="0">
                <a:latin typeface="+mn-ea"/>
              </a:rPr>
              <a:t>:</a:t>
            </a:r>
            <a:endParaRPr lang="zh-CN" altLang="zh-CN" dirty="0">
              <a:latin typeface="+mn-ea"/>
            </a:endParaRPr>
          </a:p>
          <a:p>
            <a:r>
              <a:rPr lang="zh-CN" altLang="en-US" dirty="0" smtClean="0">
                <a:latin typeface="+mn-ea"/>
              </a:rPr>
              <a:t>  （</a:t>
            </a:r>
            <a:r>
              <a:rPr lang="en-US" altLang="zh-CN" dirty="0" smtClean="0">
                <a:latin typeface="+mn-ea"/>
              </a:rPr>
              <a:t>1</a:t>
            </a:r>
            <a:r>
              <a:rPr lang="zh-CN" altLang="en-US" dirty="0" smtClean="0">
                <a:latin typeface="+mn-ea"/>
              </a:rPr>
              <a:t>）</a:t>
            </a:r>
            <a:r>
              <a:rPr lang="zh-CN" altLang="zh-CN" dirty="0" smtClean="0">
                <a:latin typeface="+mn-ea"/>
              </a:rPr>
              <a:t>显示</a:t>
            </a:r>
            <a:r>
              <a:rPr lang="zh-CN" altLang="zh-CN" dirty="0">
                <a:latin typeface="+mn-ea"/>
              </a:rPr>
              <a:t>系统的帧存容量为多少</a:t>
            </a:r>
            <a:r>
              <a:rPr lang="zh-CN" altLang="zh-CN" dirty="0" smtClean="0">
                <a:latin typeface="+mn-ea"/>
              </a:rPr>
              <a:t>位</a:t>
            </a:r>
            <a:r>
              <a:rPr lang="zh-CN" altLang="en-US" dirty="0" smtClean="0">
                <a:latin typeface="+mn-ea"/>
              </a:rPr>
              <a:t>；</a:t>
            </a:r>
            <a:endParaRPr lang="zh-CN" altLang="zh-CN" dirty="0">
              <a:latin typeface="+mn-ea"/>
            </a:endParaRPr>
          </a:p>
          <a:p>
            <a:r>
              <a:rPr lang="zh-CN" altLang="en-US" dirty="0" smtClean="0">
                <a:latin typeface="+mn-ea"/>
              </a:rPr>
              <a:t>  （</a:t>
            </a:r>
            <a:r>
              <a:rPr lang="en-US" altLang="zh-CN" dirty="0" smtClean="0">
                <a:latin typeface="+mn-ea"/>
              </a:rPr>
              <a:t>2</a:t>
            </a:r>
            <a:r>
              <a:rPr lang="zh-CN" altLang="en-US" dirty="0" smtClean="0">
                <a:latin typeface="+mn-ea"/>
              </a:rPr>
              <a:t>）</a:t>
            </a:r>
            <a:r>
              <a:rPr lang="zh-CN" altLang="zh-CN" dirty="0" smtClean="0">
                <a:latin typeface="+mn-ea"/>
              </a:rPr>
              <a:t>如</a:t>
            </a:r>
            <a:r>
              <a:rPr lang="zh-CN" altLang="zh-CN" dirty="0">
                <a:latin typeface="+mn-ea"/>
              </a:rPr>
              <a:t>要在屏幕上得到逼真的动态图像，假设每秒传送</a:t>
            </a:r>
            <a:r>
              <a:rPr lang="en-US" altLang="zh-CN" dirty="0">
                <a:latin typeface="+mn-ea"/>
              </a:rPr>
              <a:t>50</a:t>
            </a:r>
            <a:r>
              <a:rPr lang="zh-CN" altLang="zh-CN" dirty="0">
                <a:latin typeface="+mn-ea"/>
              </a:rPr>
              <a:t>帧</a:t>
            </a:r>
            <a:r>
              <a:rPr lang="en-US" altLang="zh-CN" dirty="0">
                <a:latin typeface="+mn-ea"/>
              </a:rPr>
              <a:t>(</a:t>
            </a:r>
            <a:r>
              <a:rPr lang="zh-CN" altLang="zh-CN" dirty="0">
                <a:latin typeface="+mn-ea"/>
              </a:rPr>
              <a:t>逐行扫描</a:t>
            </a:r>
            <a:r>
              <a:rPr lang="en-US" altLang="zh-CN" dirty="0">
                <a:latin typeface="+mn-ea"/>
              </a:rPr>
              <a:t>)</a:t>
            </a:r>
            <a:r>
              <a:rPr lang="zh-CN" altLang="zh-CN" dirty="0">
                <a:latin typeface="+mn-ea"/>
              </a:rPr>
              <a:t>，则传送</a:t>
            </a:r>
            <a:r>
              <a:rPr lang="zh-CN" altLang="zh-CN" dirty="0" smtClean="0">
                <a:latin typeface="+mn-ea"/>
              </a:rPr>
              <a:t>频</a:t>
            </a:r>
            <a:endParaRPr lang="en-US" altLang="zh-CN" dirty="0" smtClean="0">
              <a:latin typeface="+mn-ea"/>
            </a:endParaRPr>
          </a:p>
          <a:p>
            <a:r>
              <a:rPr lang="en-US" altLang="zh-CN" dirty="0">
                <a:latin typeface="+mn-ea"/>
              </a:rPr>
              <a:t> </a:t>
            </a:r>
            <a:r>
              <a:rPr lang="en-US" altLang="zh-CN" dirty="0" smtClean="0">
                <a:latin typeface="+mn-ea"/>
              </a:rPr>
              <a:t>      </a:t>
            </a:r>
            <a:r>
              <a:rPr lang="zh-CN" altLang="zh-CN" dirty="0" smtClean="0">
                <a:latin typeface="+mn-ea"/>
              </a:rPr>
              <a:t>率</a:t>
            </a:r>
            <a:r>
              <a:rPr lang="zh-CN" altLang="zh-CN" dirty="0">
                <a:latin typeface="+mn-ea"/>
              </a:rPr>
              <a:t>为</a:t>
            </a:r>
            <a:r>
              <a:rPr lang="zh-CN" altLang="zh-CN" dirty="0" smtClean="0">
                <a:latin typeface="+mn-ea"/>
              </a:rPr>
              <a:t>多少</a:t>
            </a:r>
            <a:r>
              <a:rPr lang="zh-CN" altLang="en-US" dirty="0" smtClean="0">
                <a:latin typeface="+mn-ea"/>
              </a:rPr>
              <a:t>。</a:t>
            </a:r>
            <a:endParaRPr lang="zh-CN" altLang="zh-CN" dirty="0">
              <a:latin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96951E9B-C8FA-4E82-AF92-226B1BF46A09}" type="slidenum">
              <a:rPr lang="en-US" altLang="zh-CN" smtClean="0"/>
            </a:fld>
            <a:endParaRPr lang="en-US" altLang="zh-CN" smtClean="0"/>
          </a:p>
        </p:txBody>
      </p:sp>
      <p:sp>
        <p:nvSpPr>
          <p:cNvPr id="27652" name="Rectangle 6"/>
          <p:cNvSpPr>
            <a:spLocks noChangeArrowheads="1"/>
          </p:cNvSpPr>
          <p:nvPr/>
        </p:nvSpPr>
        <p:spPr bwMode="auto">
          <a:xfrm>
            <a:off x="179513" y="162352"/>
            <a:ext cx="8856984" cy="6536055"/>
          </a:xfrm>
          <a:prstGeom prst="rect">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14000"/>
              </a:lnSpc>
            </a:pPr>
            <a:r>
              <a:rPr lang="zh-CN" altLang="en-US" sz="1600" b="1" dirty="0">
                <a:solidFill>
                  <a:srgbClr val="FF0000"/>
                </a:solidFill>
                <a:latin typeface="+mn-ea"/>
              </a:rPr>
              <a:t>答案</a:t>
            </a:r>
            <a:endParaRPr lang="en-US" altLang="zh-CN" sz="1600" b="1" dirty="0">
              <a:solidFill>
                <a:srgbClr val="FF0000"/>
              </a:solidFill>
              <a:latin typeface="+mn-ea"/>
            </a:endParaRPr>
          </a:p>
          <a:p>
            <a:pPr>
              <a:lnSpc>
                <a:spcPct val="114000"/>
              </a:lnSpc>
            </a:pPr>
            <a:r>
              <a:rPr lang="en-US" altLang="zh-CN" sz="1600" dirty="0" smtClean="0">
                <a:latin typeface="+mn-ea"/>
              </a:rPr>
              <a:t>1. </a:t>
            </a:r>
            <a:r>
              <a:rPr lang="zh-CN" altLang="zh-CN" sz="1600" dirty="0" smtClean="0">
                <a:latin typeface="+mn-ea"/>
              </a:rPr>
              <a:t>答</a:t>
            </a:r>
            <a:r>
              <a:rPr lang="zh-CN" altLang="zh-CN" sz="1600" dirty="0">
                <a:latin typeface="+mn-ea"/>
              </a:rPr>
              <a:t>：</a:t>
            </a:r>
            <a:r>
              <a:rPr lang="en-US" altLang="zh-CN" sz="1600" dirty="0">
                <a:latin typeface="+mn-ea"/>
              </a:rPr>
              <a:t>2400</a:t>
            </a:r>
            <a:r>
              <a:rPr lang="zh-CN" altLang="zh-CN" sz="1600" dirty="0">
                <a:latin typeface="+mn-ea"/>
              </a:rPr>
              <a:t>转</a:t>
            </a:r>
            <a:r>
              <a:rPr lang="en-US" altLang="zh-CN" sz="1600" dirty="0">
                <a:latin typeface="+mn-ea"/>
              </a:rPr>
              <a:t>/</a:t>
            </a:r>
            <a:r>
              <a:rPr lang="zh-CN" altLang="zh-CN" sz="1600" dirty="0">
                <a:latin typeface="+mn-ea"/>
              </a:rPr>
              <a:t>分</a:t>
            </a:r>
            <a:r>
              <a:rPr lang="en-US" altLang="zh-CN" sz="1600" dirty="0">
                <a:latin typeface="+mn-ea"/>
              </a:rPr>
              <a:t>=40</a:t>
            </a:r>
            <a:r>
              <a:rPr lang="zh-CN" altLang="zh-CN" sz="1600" dirty="0">
                <a:latin typeface="+mn-ea"/>
              </a:rPr>
              <a:t>转</a:t>
            </a:r>
            <a:r>
              <a:rPr lang="en-US" altLang="zh-CN" sz="1600" dirty="0">
                <a:latin typeface="+mn-ea"/>
              </a:rPr>
              <a:t>/</a:t>
            </a:r>
            <a:r>
              <a:rPr lang="zh-CN" altLang="zh-CN" sz="1600" dirty="0">
                <a:latin typeface="+mn-ea"/>
              </a:rPr>
              <a:t>秒。  </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平均</a:t>
            </a:r>
            <a:r>
              <a:rPr lang="zh-CN" altLang="zh-CN" sz="1600" dirty="0">
                <a:latin typeface="+mn-ea"/>
              </a:rPr>
              <a:t>等待时间</a:t>
            </a:r>
            <a:r>
              <a:rPr lang="en-US" altLang="zh-CN" sz="1600" dirty="0">
                <a:latin typeface="+mn-ea"/>
              </a:rPr>
              <a:t>=</a:t>
            </a:r>
            <a:r>
              <a:rPr lang="en-US" altLang="zh-CN" sz="1600" dirty="0" smtClean="0">
                <a:latin typeface="+mn-ea"/>
              </a:rPr>
              <a:t>1/40</a:t>
            </a:r>
            <a:r>
              <a:rPr lang="zh-CN" altLang="en-US" sz="1600" dirty="0" smtClean="0">
                <a:latin typeface="+mn-ea"/>
              </a:rPr>
              <a:t>*</a:t>
            </a:r>
            <a:r>
              <a:rPr lang="en-US" altLang="zh-CN" sz="1600" dirty="0" smtClean="0">
                <a:latin typeface="+mn-ea"/>
              </a:rPr>
              <a:t>0.5=12.5(</a:t>
            </a:r>
            <a:r>
              <a:rPr lang="en-US" altLang="zh-CN" sz="1600" dirty="0" err="1" smtClean="0">
                <a:latin typeface="+mn-ea"/>
              </a:rPr>
              <a:t>ms</a:t>
            </a:r>
            <a:r>
              <a:rPr lang="en-US" altLang="zh-CN" sz="1600" dirty="0">
                <a:latin typeface="+mn-ea"/>
              </a:rPr>
              <a:t>)</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磁盘</a:t>
            </a:r>
            <a:r>
              <a:rPr lang="zh-CN" altLang="zh-CN" sz="1600" dirty="0">
                <a:latin typeface="+mn-ea"/>
              </a:rPr>
              <a:t>存取时间</a:t>
            </a:r>
            <a:r>
              <a:rPr lang="en-US" altLang="zh-CN" sz="1600" dirty="0">
                <a:latin typeface="+mn-ea"/>
              </a:rPr>
              <a:t>=</a:t>
            </a:r>
            <a:r>
              <a:rPr lang="en-US" altLang="zh-CN" sz="1600" dirty="0" smtClean="0">
                <a:latin typeface="+mn-ea"/>
              </a:rPr>
              <a:t>60ms+12.5ms=72.5ms</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数据</a:t>
            </a:r>
            <a:r>
              <a:rPr lang="zh-CN" altLang="zh-CN" sz="1600" dirty="0">
                <a:latin typeface="+mn-ea"/>
              </a:rPr>
              <a:t>传输率</a:t>
            </a:r>
            <a:r>
              <a:rPr lang="en-US" altLang="zh-CN" sz="1600" dirty="0" err="1" smtClean="0">
                <a:latin typeface="+mn-ea"/>
              </a:rPr>
              <a:t>Dr</a:t>
            </a:r>
            <a:r>
              <a:rPr lang="en-US" altLang="zh-CN" sz="1600" dirty="0" smtClean="0">
                <a:latin typeface="+mn-ea"/>
              </a:rPr>
              <a:t>=r</a:t>
            </a:r>
            <a:r>
              <a:rPr lang="zh-CN" altLang="en-US" sz="1600" dirty="0" smtClean="0">
                <a:latin typeface="+mn-ea"/>
              </a:rPr>
              <a:t>*</a:t>
            </a:r>
            <a:r>
              <a:rPr lang="en-US" altLang="zh-CN" sz="1600" dirty="0" smtClean="0">
                <a:latin typeface="+mn-ea"/>
              </a:rPr>
              <a:t>N=40</a:t>
            </a:r>
            <a:r>
              <a:rPr lang="zh-CN" altLang="en-US" sz="1600" dirty="0" smtClean="0">
                <a:latin typeface="+mn-ea"/>
              </a:rPr>
              <a:t>*</a:t>
            </a:r>
            <a:r>
              <a:rPr lang="en-US" altLang="zh-CN" sz="1600" dirty="0" smtClean="0">
                <a:latin typeface="+mn-ea"/>
              </a:rPr>
              <a:t>96K=3640Kb/s</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2</a:t>
            </a:r>
            <a:r>
              <a:rPr lang="zh-CN" altLang="zh-CN" sz="1600" dirty="0" smtClean="0">
                <a:latin typeface="+mn-ea"/>
              </a:rPr>
              <a:t>．答：</a:t>
            </a:r>
            <a:r>
              <a:rPr lang="en-US" altLang="zh-CN" sz="1600" dirty="0" smtClean="0">
                <a:latin typeface="+mn-ea"/>
              </a:rPr>
              <a:t>(1)</a:t>
            </a:r>
            <a:r>
              <a:rPr lang="zh-CN" altLang="zh-CN" sz="1600" dirty="0" smtClean="0">
                <a:latin typeface="+mn-ea"/>
              </a:rPr>
              <a:t>有效</a:t>
            </a:r>
            <a:r>
              <a:rPr lang="zh-CN" altLang="zh-CN" sz="1600" dirty="0">
                <a:latin typeface="+mn-ea"/>
              </a:rPr>
              <a:t>存储区域半径</a:t>
            </a:r>
            <a:r>
              <a:rPr lang="en-US" altLang="zh-CN" sz="1600" dirty="0">
                <a:latin typeface="+mn-ea"/>
              </a:rPr>
              <a:t>=16.5-11=5.5(cm)</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因为</a:t>
            </a:r>
            <a:r>
              <a:rPr lang="zh-CN" altLang="zh-CN" sz="1600" dirty="0">
                <a:latin typeface="+mn-ea"/>
              </a:rPr>
              <a:t>道密度</a:t>
            </a:r>
            <a:r>
              <a:rPr lang="en-US" altLang="zh-CN" sz="1600" dirty="0">
                <a:latin typeface="+mn-ea"/>
              </a:rPr>
              <a:t>=40</a:t>
            </a:r>
            <a:r>
              <a:rPr lang="zh-CN" altLang="zh-CN" sz="1600" dirty="0">
                <a:latin typeface="+mn-ea"/>
              </a:rPr>
              <a:t>道</a:t>
            </a:r>
            <a:r>
              <a:rPr lang="en-US" altLang="zh-CN" sz="1600" dirty="0">
                <a:latin typeface="+mn-ea"/>
              </a:rPr>
              <a:t>/cm</a:t>
            </a:r>
            <a:r>
              <a:rPr lang="zh-CN" altLang="zh-CN" sz="1600" dirty="0">
                <a:latin typeface="+mn-ea"/>
              </a:rPr>
              <a:t>，所以</a:t>
            </a:r>
            <a:r>
              <a:rPr lang="en-US" altLang="zh-CN" sz="1600" dirty="0" smtClean="0">
                <a:latin typeface="+mn-ea"/>
              </a:rPr>
              <a:t>40</a:t>
            </a:r>
            <a:r>
              <a:rPr lang="zh-CN" altLang="en-US" sz="1600" dirty="0" smtClean="0">
                <a:latin typeface="+mn-ea"/>
              </a:rPr>
              <a:t>*</a:t>
            </a:r>
            <a:r>
              <a:rPr lang="en-US" altLang="zh-CN" sz="1600" dirty="0" smtClean="0">
                <a:latin typeface="+mn-ea"/>
              </a:rPr>
              <a:t>5.5=220</a:t>
            </a:r>
            <a:r>
              <a:rPr lang="zh-CN" altLang="zh-CN" sz="1600" dirty="0">
                <a:latin typeface="+mn-ea"/>
              </a:rPr>
              <a:t>道，即</a:t>
            </a:r>
            <a:r>
              <a:rPr lang="en-US" altLang="zh-CN" sz="1600" dirty="0">
                <a:latin typeface="+mn-ea"/>
              </a:rPr>
              <a:t>220</a:t>
            </a:r>
            <a:r>
              <a:rPr lang="zh-CN" altLang="zh-CN" sz="1600" dirty="0">
                <a:latin typeface="+mn-ea"/>
              </a:rPr>
              <a:t>个圆柱面。</a:t>
            </a:r>
            <a:endParaRPr lang="zh-CN" altLang="zh-CN" sz="1600" dirty="0">
              <a:latin typeface="+mn-ea"/>
            </a:endParaRPr>
          </a:p>
          <a:p>
            <a:pPr>
              <a:lnSpc>
                <a:spcPct val="114000"/>
              </a:lnSpc>
            </a:pPr>
            <a:r>
              <a:rPr lang="en-US" altLang="zh-CN" sz="1600" dirty="0" smtClean="0">
                <a:latin typeface="+mn-ea"/>
              </a:rPr>
              <a:t>       (2)</a:t>
            </a:r>
            <a:r>
              <a:rPr lang="zh-CN" altLang="zh-CN" sz="1600" dirty="0" smtClean="0">
                <a:latin typeface="+mn-ea"/>
              </a:rPr>
              <a:t>内层</a:t>
            </a:r>
            <a:r>
              <a:rPr lang="zh-CN" altLang="zh-CN" sz="1600" dirty="0">
                <a:latin typeface="+mn-ea"/>
              </a:rPr>
              <a:t>磁道周长为</a:t>
            </a:r>
            <a:r>
              <a:rPr lang="en-US" altLang="zh-CN" sz="1600" dirty="0" smtClean="0">
                <a:latin typeface="+mn-ea"/>
              </a:rPr>
              <a:t>2πR=2</a:t>
            </a:r>
            <a:r>
              <a:rPr lang="zh-CN" altLang="en-US" sz="1600" dirty="0" smtClean="0">
                <a:latin typeface="+mn-ea"/>
              </a:rPr>
              <a:t>*</a:t>
            </a:r>
            <a:r>
              <a:rPr lang="en-US" altLang="zh-CN" sz="1600" dirty="0" smtClean="0">
                <a:latin typeface="+mn-ea"/>
              </a:rPr>
              <a:t>3.14</a:t>
            </a:r>
            <a:r>
              <a:rPr lang="zh-CN" altLang="en-US" sz="1600" dirty="0" smtClean="0">
                <a:latin typeface="+mn-ea"/>
              </a:rPr>
              <a:t>*</a:t>
            </a:r>
            <a:r>
              <a:rPr lang="en-US" altLang="zh-CN" sz="1600" dirty="0" smtClean="0">
                <a:latin typeface="+mn-ea"/>
              </a:rPr>
              <a:t>11=69.08(cm</a:t>
            </a:r>
            <a:r>
              <a:rPr lang="en-US" altLang="zh-CN" sz="1600" dirty="0">
                <a:latin typeface="+mn-ea"/>
              </a:rPr>
              <a:t>)</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每</a:t>
            </a:r>
            <a:r>
              <a:rPr lang="zh-CN" altLang="zh-CN" sz="1600" dirty="0">
                <a:latin typeface="+mn-ea"/>
              </a:rPr>
              <a:t>道信息量</a:t>
            </a:r>
            <a:r>
              <a:rPr lang="en-US" altLang="zh-CN" sz="1600" dirty="0">
                <a:latin typeface="+mn-ea"/>
              </a:rPr>
              <a:t>=400</a:t>
            </a:r>
            <a:r>
              <a:rPr lang="zh-CN" altLang="zh-CN" sz="1600" dirty="0">
                <a:latin typeface="+mn-ea"/>
              </a:rPr>
              <a:t>位</a:t>
            </a:r>
            <a:r>
              <a:rPr lang="en-US" altLang="zh-CN" sz="1600" dirty="0">
                <a:latin typeface="+mn-ea"/>
              </a:rPr>
              <a:t>/</a:t>
            </a:r>
            <a:r>
              <a:rPr lang="en-US" altLang="zh-CN" sz="1600" dirty="0" smtClean="0">
                <a:latin typeface="+mn-ea"/>
              </a:rPr>
              <a:t>cm</a:t>
            </a:r>
            <a:r>
              <a:rPr lang="zh-CN" altLang="en-US" sz="1600" dirty="0" smtClean="0">
                <a:latin typeface="+mn-ea"/>
              </a:rPr>
              <a:t>*</a:t>
            </a:r>
            <a:r>
              <a:rPr lang="en-US" altLang="zh-CN" sz="1600" dirty="0" smtClean="0">
                <a:latin typeface="+mn-ea"/>
              </a:rPr>
              <a:t>69.08cm=27632</a:t>
            </a:r>
            <a:r>
              <a:rPr lang="zh-CN" altLang="zh-CN" sz="1600" dirty="0">
                <a:latin typeface="+mn-ea"/>
              </a:rPr>
              <a:t>位</a:t>
            </a:r>
            <a:r>
              <a:rPr lang="en-US" altLang="zh-CN" sz="1600" dirty="0">
                <a:latin typeface="+mn-ea"/>
              </a:rPr>
              <a:t>=</a:t>
            </a:r>
            <a:r>
              <a:rPr lang="en-US" altLang="zh-CN" sz="1600" dirty="0" smtClean="0">
                <a:latin typeface="+mn-ea"/>
              </a:rPr>
              <a:t>3454B</a:t>
            </a:r>
            <a:r>
              <a:rPr lang="zh-CN" altLang="en-US" sz="1600" dirty="0" smtClean="0">
                <a:latin typeface="+mn-ea"/>
              </a:rPr>
              <a:t>，</a:t>
            </a:r>
            <a:r>
              <a:rPr lang="zh-CN" altLang="zh-CN" sz="1600" dirty="0" smtClean="0">
                <a:latin typeface="+mn-ea"/>
              </a:rPr>
              <a:t>每</a:t>
            </a:r>
            <a:r>
              <a:rPr lang="zh-CN" altLang="zh-CN" sz="1600" dirty="0">
                <a:latin typeface="+mn-ea"/>
              </a:rPr>
              <a:t>面信息量</a:t>
            </a:r>
            <a:r>
              <a:rPr lang="en-US" altLang="zh-CN" sz="1600" dirty="0">
                <a:latin typeface="+mn-ea"/>
              </a:rPr>
              <a:t>=</a:t>
            </a:r>
            <a:r>
              <a:rPr lang="en-US" altLang="zh-CN" sz="1600" dirty="0" smtClean="0">
                <a:latin typeface="+mn-ea"/>
              </a:rPr>
              <a:t>3454B</a:t>
            </a:r>
            <a:r>
              <a:rPr lang="zh-CN" altLang="en-US" sz="1600" dirty="0" smtClean="0">
                <a:latin typeface="+mn-ea"/>
              </a:rPr>
              <a:t>*</a:t>
            </a:r>
            <a:r>
              <a:rPr lang="en-US" altLang="zh-CN" sz="1600" dirty="0" smtClean="0">
                <a:latin typeface="+mn-ea"/>
              </a:rPr>
              <a:t>220=759880B</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磁盘</a:t>
            </a:r>
            <a:r>
              <a:rPr lang="zh-CN" altLang="zh-CN" sz="1600" dirty="0">
                <a:latin typeface="+mn-ea"/>
              </a:rPr>
              <a:t>总容量</a:t>
            </a:r>
            <a:r>
              <a:rPr lang="en-US" altLang="zh-CN" sz="1600" dirty="0">
                <a:latin typeface="+mn-ea"/>
              </a:rPr>
              <a:t>=</a:t>
            </a:r>
            <a:r>
              <a:rPr lang="en-US" altLang="zh-CN" sz="1600" dirty="0" smtClean="0">
                <a:latin typeface="+mn-ea"/>
              </a:rPr>
              <a:t>759880B</a:t>
            </a:r>
            <a:r>
              <a:rPr lang="zh-CN" altLang="en-US" sz="1600" dirty="0" smtClean="0">
                <a:latin typeface="+mn-ea"/>
              </a:rPr>
              <a:t>*</a:t>
            </a:r>
            <a:r>
              <a:rPr lang="en-US" altLang="zh-CN" sz="1600" dirty="0" smtClean="0">
                <a:latin typeface="+mn-ea"/>
              </a:rPr>
              <a:t>10=7598800B</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(3)</a:t>
            </a:r>
            <a:r>
              <a:rPr lang="zh-CN" altLang="zh-CN" sz="1600" dirty="0" smtClean="0">
                <a:latin typeface="+mn-ea"/>
              </a:rPr>
              <a:t>磁盘</a:t>
            </a:r>
            <a:r>
              <a:rPr lang="zh-CN" altLang="zh-CN" sz="1600" dirty="0">
                <a:latin typeface="+mn-ea"/>
              </a:rPr>
              <a:t>数据传输率</a:t>
            </a:r>
            <a:r>
              <a:rPr lang="en-US" altLang="zh-CN" sz="1600" dirty="0" err="1" smtClean="0">
                <a:latin typeface="+mn-ea"/>
              </a:rPr>
              <a:t>Dr</a:t>
            </a:r>
            <a:r>
              <a:rPr lang="en-US" altLang="zh-CN" sz="1600" dirty="0" smtClean="0">
                <a:latin typeface="+mn-ea"/>
              </a:rPr>
              <a:t>=</a:t>
            </a:r>
            <a:r>
              <a:rPr lang="en-US" altLang="zh-CN" sz="1600" dirty="0" err="1" smtClean="0">
                <a:latin typeface="+mn-ea"/>
              </a:rPr>
              <a:t>rN</a:t>
            </a:r>
            <a:r>
              <a:rPr lang="zh-CN" altLang="zh-CN" sz="1600" dirty="0">
                <a:latin typeface="+mn-ea"/>
              </a:rPr>
              <a:t>，</a:t>
            </a:r>
            <a:r>
              <a:rPr lang="en-US" altLang="zh-CN" sz="1600" dirty="0">
                <a:latin typeface="+mn-ea"/>
              </a:rPr>
              <a:t>N</a:t>
            </a:r>
            <a:r>
              <a:rPr lang="zh-CN" altLang="zh-CN" sz="1600" dirty="0">
                <a:latin typeface="+mn-ea"/>
              </a:rPr>
              <a:t>为每条磁道容量，</a:t>
            </a:r>
            <a:r>
              <a:rPr lang="en-US" altLang="zh-CN" sz="1600" dirty="0">
                <a:latin typeface="+mn-ea"/>
              </a:rPr>
              <a:t>N=3454B</a:t>
            </a:r>
            <a:r>
              <a:rPr lang="zh-CN" altLang="zh-CN" sz="1600" dirty="0">
                <a:latin typeface="+mn-ea"/>
              </a:rPr>
              <a:t>，</a:t>
            </a:r>
            <a:r>
              <a:rPr lang="en-US" altLang="zh-CN" sz="1600" dirty="0">
                <a:latin typeface="+mn-ea"/>
              </a:rPr>
              <a:t>r</a:t>
            </a:r>
            <a:r>
              <a:rPr lang="zh-CN" altLang="zh-CN" sz="1600" dirty="0">
                <a:latin typeface="+mn-ea"/>
              </a:rPr>
              <a:t>为磁盘转速</a:t>
            </a:r>
            <a:r>
              <a:rPr lang="zh-CN" altLang="zh-CN" sz="1600" dirty="0" smtClean="0">
                <a:latin typeface="+mn-ea"/>
              </a:rPr>
              <a:t>，</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r=2400</a:t>
            </a:r>
            <a:r>
              <a:rPr lang="zh-CN" altLang="zh-CN" sz="1600" dirty="0">
                <a:latin typeface="+mn-ea"/>
              </a:rPr>
              <a:t>转</a:t>
            </a:r>
            <a:r>
              <a:rPr lang="en-US" altLang="zh-CN" sz="1600" dirty="0">
                <a:latin typeface="+mn-ea"/>
              </a:rPr>
              <a:t>/60</a:t>
            </a:r>
            <a:r>
              <a:rPr lang="zh-CN" altLang="zh-CN" sz="1600" dirty="0">
                <a:latin typeface="+mn-ea"/>
              </a:rPr>
              <a:t>秒</a:t>
            </a:r>
            <a:r>
              <a:rPr lang="en-US" altLang="zh-CN" sz="1600" dirty="0">
                <a:latin typeface="+mn-ea"/>
              </a:rPr>
              <a:t>=40</a:t>
            </a:r>
            <a:r>
              <a:rPr lang="zh-CN" altLang="zh-CN" sz="1600" dirty="0">
                <a:latin typeface="+mn-ea"/>
              </a:rPr>
              <a:t>转</a:t>
            </a:r>
            <a:r>
              <a:rPr lang="en-US" altLang="zh-CN" sz="1600" dirty="0">
                <a:latin typeface="+mn-ea"/>
              </a:rPr>
              <a:t>/</a:t>
            </a:r>
            <a:r>
              <a:rPr lang="zh-CN" altLang="zh-CN" sz="1600" dirty="0" smtClean="0">
                <a:latin typeface="+mn-ea"/>
              </a:rPr>
              <a:t>秒</a:t>
            </a:r>
            <a:r>
              <a:rPr lang="zh-CN" altLang="en-US" sz="1600" dirty="0" smtClean="0">
                <a:latin typeface="+mn-ea"/>
              </a:rPr>
              <a:t>，</a:t>
            </a:r>
            <a:r>
              <a:rPr lang="en-US" altLang="zh-CN" sz="1600" dirty="0" err="1" smtClean="0">
                <a:latin typeface="+mn-ea"/>
              </a:rPr>
              <a:t>Dr</a:t>
            </a:r>
            <a:r>
              <a:rPr lang="en-US" altLang="zh-CN" sz="1600" dirty="0" smtClean="0">
                <a:latin typeface="+mn-ea"/>
              </a:rPr>
              <a:t>=r</a:t>
            </a:r>
            <a:r>
              <a:rPr lang="zh-CN" altLang="en-US" sz="1600" dirty="0" smtClean="0">
                <a:latin typeface="+mn-ea"/>
              </a:rPr>
              <a:t>*</a:t>
            </a:r>
            <a:r>
              <a:rPr lang="en-US" altLang="zh-CN" sz="1600" dirty="0" smtClean="0">
                <a:latin typeface="+mn-ea"/>
              </a:rPr>
              <a:t>N=40</a:t>
            </a:r>
            <a:r>
              <a:rPr lang="zh-CN" altLang="en-US" sz="1600" dirty="0" smtClean="0">
                <a:latin typeface="+mn-ea"/>
              </a:rPr>
              <a:t>*</a:t>
            </a:r>
            <a:r>
              <a:rPr lang="en-US" altLang="zh-CN" sz="1600" dirty="0" smtClean="0">
                <a:latin typeface="+mn-ea"/>
              </a:rPr>
              <a:t>3454B=138160B/s</a:t>
            </a:r>
            <a:r>
              <a:rPr lang="zh-CN" altLang="zh-CN" sz="1600" dirty="0" smtClean="0">
                <a:latin typeface="+mn-ea"/>
              </a:rPr>
              <a:t>。</a:t>
            </a:r>
            <a:endParaRPr lang="en-US" altLang="zh-CN" sz="1600" dirty="0" smtClean="0">
              <a:latin typeface="+mn-ea"/>
            </a:endParaRPr>
          </a:p>
          <a:p>
            <a:pPr>
              <a:lnSpc>
                <a:spcPct val="114000"/>
              </a:lnSpc>
            </a:pPr>
            <a:r>
              <a:rPr lang="en-US" altLang="zh-CN" sz="1600" dirty="0" smtClean="0">
                <a:latin typeface="+mn-ea"/>
              </a:rPr>
              <a:t>3. </a:t>
            </a:r>
            <a:r>
              <a:rPr lang="zh-CN" altLang="zh-CN" sz="1600" dirty="0" smtClean="0">
                <a:latin typeface="+mn-ea"/>
              </a:rPr>
              <a:t>解</a:t>
            </a:r>
            <a:r>
              <a:rPr lang="zh-CN" altLang="zh-CN" sz="1600" dirty="0">
                <a:latin typeface="+mn-ea"/>
              </a:rPr>
              <a:t>：</a:t>
            </a:r>
            <a:r>
              <a:rPr lang="en-US" altLang="zh-CN" sz="1600" dirty="0">
                <a:latin typeface="+mn-ea"/>
              </a:rPr>
              <a:t>(1)</a:t>
            </a:r>
            <a:r>
              <a:rPr lang="zh-CN" altLang="zh-CN" sz="1600" dirty="0">
                <a:latin typeface="+mn-ea"/>
              </a:rPr>
              <a:t>已知道密度</a:t>
            </a:r>
            <a:r>
              <a:rPr lang="en-US" altLang="zh-CN" sz="1600" dirty="0">
                <a:latin typeface="+mn-ea"/>
              </a:rPr>
              <a:t>D=1250TPI</a:t>
            </a:r>
            <a:r>
              <a:rPr lang="zh-CN" altLang="zh-CN" sz="1600" dirty="0">
                <a:latin typeface="+mn-ea"/>
              </a:rPr>
              <a:t>，内直径</a:t>
            </a:r>
            <a:r>
              <a:rPr lang="en-US" altLang="zh-CN" sz="1600" dirty="0">
                <a:latin typeface="+mn-ea"/>
              </a:rPr>
              <a:t>D1=2.36</a:t>
            </a:r>
            <a:r>
              <a:rPr lang="zh-CN" altLang="zh-CN" sz="1600" dirty="0">
                <a:latin typeface="+mn-ea"/>
              </a:rPr>
              <a:t>英寸，外直径</a:t>
            </a:r>
            <a:r>
              <a:rPr lang="en-US" altLang="zh-CN" sz="1600" dirty="0">
                <a:latin typeface="+mn-ea"/>
              </a:rPr>
              <a:t>D2=5</a:t>
            </a:r>
            <a:r>
              <a:rPr lang="zh-CN" altLang="zh-CN" sz="1600" dirty="0">
                <a:latin typeface="+mn-ea"/>
              </a:rPr>
              <a:t>英寸</a:t>
            </a:r>
            <a:r>
              <a:rPr lang="zh-CN" altLang="zh-CN" sz="1600" dirty="0" smtClean="0">
                <a:latin typeface="+mn-ea"/>
              </a:rPr>
              <a:t>，</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a:t>
            </a:r>
            <a:r>
              <a:rPr lang="zh-CN" altLang="zh-CN" sz="1600" dirty="0" smtClean="0">
                <a:latin typeface="+mn-ea"/>
              </a:rPr>
              <a:t>则</a:t>
            </a:r>
            <a:r>
              <a:rPr lang="zh-CN" altLang="zh-CN" sz="1600" dirty="0">
                <a:latin typeface="+mn-ea"/>
              </a:rPr>
              <a:t>每面的磁道数</a:t>
            </a:r>
            <a:r>
              <a:rPr lang="en-US" altLang="zh-CN" sz="1600" dirty="0">
                <a:latin typeface="+mn-ea"/>
              </a:rPr>
              <a:t>N</a:t>
            </a:r>
            <a:r>
              <a:rPr lang="zh-CN" altLang="zh-CN" sz="1600" dirty="0">
                <a:latin typeface="+mn-ea"/>
              </a:rPr>
              <a:t>为</a:t>
            </a:r>
            <a:r>
              <a:rPr lang="en-US" altLang="zh-CN" sz="1600" dirty="0" smtClean="0">
                <a:latin typeface="+mn-ea"/>
              </a:rPr>
              <a:t>N=D</a:t>
            </a:r>
            <a:r>
              <a:rPr lang="zh-CN" altLang="en-US" sz="1600" dirty="0" smtClean="0">
                <a:latin typeface="+mn-ea"/>
              </a:rPr>
              <a:t>*</a:t>
            </a:r>
            <a:r>
              <a:rPr lang="en-US" altLang="zh-CN" sz="1600" dirty="0" smtClean="0">
                <a:latin typeface="+mn-ea"/>
              </a:rPr>
              <a:t>(D2-D1</a:t>
            </a:r>
            <a:r>
              <a:rPr lang="en-US" altLang="zh-CN" sz="1600" dirty="0">
                <a:latin typeface="+mn-ea"/>
              </a:rPr>
              <a:t>)/</a:t>
            </a:r>
            <a:r>
              <a:rPr lang="en-US" altLang="zh-CN" sz="1600" dirty="0" smtClean="0">
                <a:latin typeface="+mn-ea"/>
              </a:rPr>
              <a:t>2=1250</a:t>
            </a:r>
            <a:r>
              <a:rPr lang="zh-CN" altLang="en-US" sz="1600" dirty="0" smtClean="0">
                <a:latin typeface="+mn-ea"/>
              </a:rPr>
              <a:t>*</a:t>
            </a:r>
            <a:r>
              <a:rPr lang="en-US" altLang="zh-CN" sz="1600" dirty="0" smtClean="0">
                <a:latin typeface="+mn-ea"/>
              </a:rPr>
              <a:t>1.32=1650</a:t>
            </a:r>
            <a:r>
              <a:rPr lang="zh-CN"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zh-CN" altLang="zh-CN" sz="1600" dirty="0" smtClean="0">
                <a:latin typeface="+mn-ea"/>
              </a:rPr>
              <a:t>根据</a:t>
            </a:r>
            <a:r>
              <a:rPr lang="zh-CN" altLang="zh-CN" sz="1600" dirty="0">
                <a:latin typeface="+mn-ea"/>
              </a:rPr>
              <a:t>位密度的概念，每道上存储的字节个数</a:t>
            </a:r>
            <a:r>
              <a:rPr lang="zh-CN" altLang="zh-CN" sz="1600" dirty="0" smtClean="0">
                <a:latin typeface="+mn-ea"/>
              </a:rPr>
              <a:t>相同</a:t>
            </a:r>
            <a:endParaRPr lang="en-US" altLang="zh-CN" sz="1600" dirty="0" smtClean="0">
              <a:latin typeface="+mn-ea"/>
            </a:endParaRPr>
          </a:p>
          <a:p>
            <a:pPr>
              <a:lnSpc>
                <a:spcPct val="114000"/>
              </a:lnSpc>
            </a:pPr>
            <a:r>
              <a:rPr lang="en-US" altLang="zh-CN" sz="1600" dirty="0" smtClean="0">
                <a:latin typeface="+mn-ea"/>
              </a:rPr>
              <a:t>          </a:t>
            </a:r>
            <a:r>
              <a:rPr lang="zh-CN" altLang="zh-CN" sz="1600" dirty="0" smtClean="0">
                <a:latin typeface="+mn-ea"/>
              </a:rPr>
              <a:t>则</a:t>
            </a:r>
            <a:r>
              <a:rPr lang="zh-CN" altLang="zh-CN" sz="1600" dirty="0">
                <a:latin typeface="+mn-ea"/>
              </a:rPr>
              <a:t>可存储的字节</a:t>
            </a:r>
            <a:r>
              <a:rPr lang="zh-CN" altLang="zh-CN" sz="1600" dirty="0" smtClean="0">
                <a:latin typeface="+mn-ea"/>
              </a:rPr>
              <a:t>数</a:t>
            </a:r>
            <a:r>
              <a:rPr lang="en-US" altLang="zh-CN" sz="1600" dirty="0" smtClean="0">
                <a:latin typeface="+mn-ea"/>
              </a:rPr>
              <a:t>: C</a:t>
            </a:r>
            <a:r>
              <a:rPr lang="zh-CN" altLang="zh-CN" sz="1600" baseline="-25000" dirty="0">
                <a:latin typeface="+mn-ea"/>
              </a:rPr>
              <a:t>磁道</a:t>
            </a:r>
            <a:r>
              <a:rPr lang="en-US" altLang="zh-CN" sz="1600" dirty="0">
                <a:latin typeface="+mn-ea"/>
              </a:rPr>
              <a:t>=</a:t>
            </a:r>
            <a:r>
              <a:rPr lang="zh-CN" altLang="zh-CN" sz="1600" dirty="0" smtClean="0">
                <a:latin typeface="+mn-ea"/>
              </a:rPr>
              <a:t>π</a:t>
            </a:r>
            <a:r>
              <a:rPr lang="en-US" altLang="zh-CN" sz="1600" dirty="0" smtClean="0">
                <a:latin typeface="+mn-ea"/>
              </a:rPr>
              <a:t>*D1*</a:t>
            </a:r>
            <a:r>
              <a:rPr lang="zh-CN" altLang="zh-CN" sz="1600" dirty="0" smtClean="0">
                <a:latin typeface="+mn-ea"/>
              </a:rPr>
              <a:t>位密度</a:t>
            </a:r>
            <a:r>
              <a:rPr lang="en-US" altLang="zh-CN" sz="1600" dirty="0">
                <a:latin typeface="+mn-ea"/>
              </a:rPr>
              <a:t>=48538B</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2)</a:t>
            </a:r>
            <a:r>
              <a:rPr lang="zh-CN" altLang="zh-CN" sz="1600" dirty="0">
                <a:latin typeface="+mn-ea"/>
              </a:rPr>
              <a:t>设数据传输率为</a:t>
            </a:r>
            <a:r>
              <a:rPr lang="en-US" altLang="zh-CN" sz="1600" dirty="0">
                <a:latin typeface="+mn-ea"/>
              </a:rPr>
              <a:t>V</a:t>
            </a:r>
            <a:r>
              <a:rPr lang="zh-CN" altLang="zh-CN" sz="1600" dirty="0">
                <a:latin typeface="+mn-ea"/>
              </a:rPr>
              <a:t>，则</a:t>
            </a:r>
            <a:endParaRPr lang="zh-CN" altLang="zh-CN" sz="1600" dirty="0">
              <a:latin typeface="+mn-ea"/>
            </a:endParaRPr>
          </a:p>
          <a:p>
            <a:pPr>
              <a:lnSpc>
                <a:spcPct val="114000"/>
              </a:lnSpc>
            </a:pPr>
            <a:r>
              <a:rPr lang="en-US" altLang="zh-CN" sz="1600" dirty="0" smtClean="0">
                <a:latin typeface="+mn-ea"/>
              </a:rPr>
              <a:t>           V</a:t>
            </a:r>
            <a:r>
              <a:rPr lang="en-US" altLang="zh-CN" sz="1600" dirty="0">
                <a:latin typeface="+mn-ea"/>
              </a:rPr>
              <a:t>= </a:t>
            </a:r>
            <a:r>
              <a:rPr lang="en-US" altLang="zh-CN" sz="1600" dirty="0" smtClean="0">
                <a:latin typeface="+mn-ea"/>
              </a:rPr>
              <a:t>C*r=48538*2400/60=1941524B=1.85MB/s </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3)T=</a:t>
            </a:r>
            <a:r>
              <a:rPr lang="zh-CN" altLang="zh-CN" sz="1600" dirty="0">
                <a:latin typeface="+mn-ea"/>
              </a:rPr>
              <a:t>平均找道时间</a:t>
            </a:r>
            <a:r>
              <a:rPr lang="en-US" altLang="zh-CN" sz="1600" dirty="0">
                <a:latin typeface="+mn-ea"/>
              </a:rPr>
              <a:t>+</a:t>
            </a:r>
            <a:r>
              <a:rPr lang="zh-CN" altLang="zh-CN" sz="1600" dirty="0">
                <a:latin typeface="+mn-ea"/>
              </a:rPr>
              <a:t>找扇区时间</a:t>
            </a:r>
            <a:r>
              <a:rPr lang="en-US" altLang="zh-CN" sz="1600" dirty="0">
                <a:latin typeface="+mn-ea"/>
              </a:rPr>
              <a:t>+</a:t>
            </a:r>
            <a:r>
              <a:rPr lang="zh-CN" altLang="zh-CN" sz="1600" dirty="0">
                <a:latin typeface="+mn-ea"/>
              </a:rPr>
              <a:t>读取</a:t>
            </a:r>
            <a:r>
              <a:rPr lang="zh-CN" altLang="zh-CN" sz="1600" dirty="0" smtClean="0">
                <a:latin typeface="+mn-ea"/>
              </a:rPr>
              <a:t>时间</a:t>
            </a:r>
            <a:endParaRPr lang="en-US" altLang="zh-CN" sz="1600" dirty="0" smtClean="0">
              <a:latin typeface="+mn-ea"/>
            </a:endParaRPr>
          </a:p>
          <a:p>
            <a:pPr>
              <a:lnSpc>
                <a:spcPct val="114000"/>
              </a:lnSpc>
            </a:pPr>
            <a:r>
              <a:rPr lang="en-US" altLang="zh-CN" sz="1600" dirty="0">
                <a:latin typeface="+mn-ea"/>
              </a:rPr>
              <a:t> </a:t>
            </a:r>
            <a:r>
              <a:rPr lang="en-US" altLang="zh-CN" sz="1600" dirty="0" smtClean="0">
                <a:latin typeface="+mn-ea"/>
              </a:rPr>
              <a:t>          =(</a:t>
            </a:r>
            <a:r>
              <a:rPr lang="en-US" altLang="zh-CN" sz="1600" dirty="0">
                <a:latin typeface="+mn-ea"/>
              </a:rPr>
              <a:t>10+40</a:t>
            </a:r>
            <a:r>
              <a:rPr lang="en-US" altLang="zh-CN" sz="1600" dirty="0" smtClean="0">
                <a:latin typeface="+mn-ea"/>
              </a:rPr>
              <a:t>)/</a:t>
            </a:r>
            <a:r>
              <a:rPr lang="en-US" altLang="zh-CN" sz="1600" dirty="0">
                <a:latin typeface="+mn-ea"/>
              </a:rPr>
              <a:t>2</a:t>
            </a:r>
            <a:r>
              <a:rPr lang="en-US" altLang="zh-CN" sz="1600" dirty="0" smtClean="0">
                <a:latin typeface="+mn-ea"/>
              </a:rPr>
              <a:t>+(1000*60)/(2400*2)+(8000*1000*60)/(48538*2400</a:t>
            </a:r>
            <a:r>
              <a:rPr lang="en-US" altLang="zh-CN" sz="1600" dirty="0">
                <a:latin typeface="+mn-ea"/>
              </a:rPr>
              <a:t>)</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25+12.5+4.12=41.62ms</a:t>
            </a:r>
            <a:endParaRPr lang="zh-CN" altLang="zh-CN" sz="1600" dirty="0">
              <a:latin typeface="+mn-ea"/>
            </a:endParaRPr>
          </a:p>
          <a:p>
            <a:pPr>
              <a:lnSpc>
                <a:spcPct val="114000"/>
              </a:lnSpc>
            </a:pPr>
            <a:r>
              <a:rPr lang="en-US" altLang="zh-CN" sz="1600" dirty="0" smtClean="0">
                <a:latin typeface="+mn-ea"/>
              </a:rPr>
              <a:t>4.</a:t>
            </a:r>
            <a:r>
              <a:rPr lang="zh-CN" altLang="zh-CN" sz="1600" dirty="0" smtClean="0">
                <a:latin typeface="+mn-ea"/>
              </a:rPr>
              <a:t> </a:t>
            </a:r>
            <a:r>
              <a:rPr lang="zh-CN" altLang="en-US" sz="1600" dirty="0" smtClean="0">
                <a:latin typeface="+mn-ea"/>
              </a:rPr>
              <a:t>解：</a:t>
            </a:r>
            <a:r>
              <a:rPr lang="en-US" altLang="zh-CN" sz="1600" dirty="0">
                <a:latin typeface="+mn-ea"/>
              </a:rPr>
              <a:t>(1)</a:t>
            </a:r>
            <a:r>
              <a:rPr lang="zh-CN" altLang="zh-CN" sz="1600" dirty="0">
                <a:latin typeface="+mn-ea"/>
              </a:rPr>
              <a:t>因</a:t>
            </a:r>
            <a:r>
              <a:rPr lang="en-US" altLang="zh-CN" sz="1600" dirty="0">
                <a:latin typeface="+mn-ea"/>
              </a:rPr>
              <a:t>2</a:t>
            </a:r>
            <a:r>
              <a:rPr lang="en-US" altLang="zh-CN" sz="1600" baseline="30000" dirty="0">
                <a:latin typeface="+mn-ea"/>
              </a:rPr>
              <a:t>8</a:t>
            </a:r>
            <a:r>
              <a:rPr lang="en-US" altLang="zh-CN" sz="1600" dirty="0">
                <a:latin typeface="+mn-ea"/>
              </a:rPr>
              <a:t>=256</a:t>
            </a:r>
            <a:r>
              <a:rPr lang="zh-CN" altLang="zh-CN" sz="1600" dirty="0">
                <a:latin typeface="+mn-ea"/>
              </a:rPr>
              <a:t>，所以显示系统的帧缓冲容量是</a:t>
            </a:r>
            <a:r>
              <a:rPr lang="en-US" altLang="zh-CN" sz="1600" dirty="0">
                <a:latin typeface="+mn-ea"/>
              </a:rPr>
              <a:t>:</a:t>
            </a:r>
            <a:r>
              <a:rPr lang="en-US" altLang="zh-CN" sz="1600" dirty="0" smtClean="0">
                <a:latin typeface="+mn-ea"/>
              </a:rPr>
              <a:t>1024</a:t>
            </a:r>
            <a:r>
              <a:rPr lang="zh-CN" altLang="en-US" sz="1600" dirty="0" smtClean="0">
                <a:latin typeface="+mn-ea"/>
              </a:rPr>
              <a:t>*</a:t>
            </a:r>
            <a:r>
              <a:rPr lang="en-US" altLang="zh-CN" sz="1600" dirty="0" smtClean="0">
                <a:latin typeface="+mn-ea"/>
              </a:rPr>
              <a:t>768</a:t>
            </a:r>
            <a:r>
              <a:rPr lang="zh-CN" altLang="en-US" sz="1600" dirty="0" smtClean="0">
                <a:latin typeface="+mn-ea"/>
              </a:rPr>
              <a:t>*</a:t>
            </a:r>
            <a:r>
              <a:rPr lang="en-US" altLang="zh-CN" sz="1600" dirty="0" smtClean="0">
                <a:latin typeface="+mn-ea"/>
              </a:rPr>
              <a:t>8=6291456</a:t>
            </a:r>
            <a:r>
              <a:rPr lang="zh-CN" altLang="zh-CN" sz="1600" dirty="0">
                <a:latin typeface="+mn-ea"/>
              </a:rPr>
              <a:t>位。</a:t>
            </a:r>
            <a:endParaRPr lang="zh-CN" altLang="zh-CN" sz="1600" dirty="0">
              <a:latin typeface="+mn-ea"/>
            </a:endParaRPr>
          </a:p>
          <a:p>
            <a:pPr>
              <a:lnSpc>
                <a:spcPct val="114000"/>
              </a:lnSpc>
            </a:pPr>
            <a:r>
              <a:rPr lang="en-US" altLang="zh-CN" sz="1600" dirty="0" smtClean="0">
                <a:latin typeface="+mn-ea"/>
              </a:rPr>
              <a:t>       (</a:t>
            </a:r>
            <a:r>
              <a:rPr lang="en-US" altLang="zh-CN" sz="1600" dirty="0">
                <a:latin typeface="+mn-ea"/>
              </a:rPr>
              <a:t>2)</a:t>
            </a:r>
            <a:r>
              <a:rPr lang="zh-CN" altLang="zh-CN" sz="1600" dirty="0">
                <a:latin typeface="+mn-ea"/>
              </a:rPr>
              <a:t>传送频率为</a:t>
            </a:r>
            <a:r>
              <a:rPr lang="en-US" altLang="zh-CN" sz="1600" dirty="0">
                <a:latin typeface="+mn-ea"/>
              </a:rPr>
              <a:t>:</a:t>
            </a:r>
            <a:r>
              <a:rPr lang="en-US" altLang="zh-CN" sz="1600" dirty="0" smtClean="0">
                <a:latin typeface="+mn-ea"/>
              </a:rPr>
              <a:t>50</a:t>
            </a:r>
            <a:r>
              <a:rPr lang="zh-CN" altLang="en-US" sz="1600" dirty="0" smtClean="0">
                <a:latin typeface="+mn-ea"/>
              </a:rPr>
              <a:t>*</a:t>
            </a:r>
            <a:r>
              <a:rPr lang="en-US" altLang="zh-CN" sz="1600" dirty="0" smtClean="0">
                <a:latin typeface="+mn-ea"/>
              </a:rPr>
              <a:t>6291456/8=37.5MB/s</a:t>
            </a:r>
            <a:endParaRPr lang="zh-CN" altLang="zh-CN" sz="1600" dirty="0">
              <a:latin typeface="+mn-ea"/>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p>
            <a:fld id="{EBEABDF2-4A4D-4340-AF56-9DD262E6033D}" type="slidenum">
              <a:rPr lang="en-US" altLang="zh-CN" smtClean="0"/>
            </a:fld>
            <a:endParaRPr lang="en-US" altLang="zh-CN" smtClean="0"/>
          </a:p>
        </p:txBody>
      </p:sp>
      <p:sp>
        <p:nvSpPr>
          <p:cNvPr id="58371" name="Rectangle 2"/>
          <p:cNvSpPr>
            <a:spLocks noGrp="1" noChangeArrowheads="1"/>
          </p:cNvSpPr>
          <p:nvPr>
            <p:ph type="title"/>
          </p:nvPr>
        </p:nvSpPr>
        <p:spPr>
          <a:xfrm>
            <a:off x="323850" y="188278"/>
            <a:ext cx="7543800" cy="498475"/>
          </a:xfrm>
        </p:spPr>
        <p:txBody>
          <a:bodyPr/>
          <a:lstStyle/>
          <a:p>
            <a:pPr eaLnBrk="1" hangingPunct="1"/>
            <a:r>
              <a:rPr lang="zh-CN" altLang="en-US" sz="3200" smtClean="0">
                <a:latin typeface="宋体" panose="02010600030101010101" pitchFamily="2" charset="-122"/>
              </a:rPr>
              <a:t>本 章 小 结</a:t>
            </a:r>
            <a:endParaRPr lang="zh-CN" altLang="en-US" sz="3200" smtClean="0">
              <a:latin typeface="宋体" panose="02010600030101010101" pitchFamily="2" charset="-122"/>
            </a:endParaRPr>
          </a:p>
        </p:txBody>
      </p:sp>
      <p:sp>
        <p:nvSpPr>
          <p:cNvPr id="58372" name="Rectangle 3"/>
          <p:cNvSpPr>
            <a:spLocks noGrp="1" noChangeArrowheads="1"/>
          </p:cNvSpPr>
          <p:nvPr>
            <p:ph type="body" idx="1"/>
          </p:nvPr>
        </p:nvSpPr>
        <p:spPr>
          <a:xfrm>
            <a:off x="309880" y="976630"/>
            <a:ext cx="7595235" cy="4509135"/>
          </a:xfrm>
          <a:solidFill>
            <a:srgbClr val="CCFFFF"/>
          </a:solidFill>
        </p:spPr>
        <p:txBody>
          <a:bodyPr/>
          <a:lstStyle/>
          <a:p>
            <a:pPr eaLnBrk="1" hangingPunct="1">
              <a:lnSpc>
                <a:spcPct val="80000"/>
              </a:lnSpc>
            </a:pPr>
            <a:r>
              <a:rPr lang="zh-CN" altLang="en-US" sz="2800" dirty="0" smtClean="0">
                <a:latin typeface="宋体" panose="02010600030101010101" pitchFamily="2" charset="-122"/>
              </a:rPr>
              <a:t>外围设备的功能、组成和分类（输入设备、输出设备、外存设备、数据通信设备、过程控制设备五大类）</a:t>
            </a:r>
            <a:endParaRPr lang="zh-CN" altLang="en-US" sz="2800" dirty="0" smtClean="0">
              <a:latin typeface="宋体" panose="02010600030101010101" pitchFamily="2" charset="-122"/>
            </a:endParaRPr>
          </a:p>
          <a:p>
            <a:pPr eaLnBrk="1" hangingPunct="1">
              <a:lnSpc>
                <a:spcPct val="80000"/>
              </a:lnSpc>
            </a:pPr>
            <a:r>
              <a:rPr lang="zh-CN" altLang="en-US" sz="2800" dirty="0" smtClean="0">
                <a:latin typeface="宋体" panose="02010600030101010101" pitchFamily="2" charset="-122"/>
              </a:rPr>
              <a:t>磁盘的组成和分类、磁盘驱动器和控制器、磁盘上信息的分布、磁盘存储器的技术指标及其计算。</a:t>
            </a:r>
            <a:endParaRPr lang="zh-CN" altLang="en-US" sz="2800" dirty="0" smtClean="0">
              <a:latin typeface="宋体" panose="02010600030101010101" pitchFamily="2" charset="-122"/>
            </a:endParaRPr>
          </a:p>
          <a:p>
            <a:pPr eaLnBrk="1" hangingPunct="1">
              <a:lnSpc>
                <a:spcPct val="80000"/>
              </a:lnSpc>
            </a:pPr>
            <a:r>
              <a:rPr lang="zh-CN" altLang="en-US" sz="2800" dirty="0" smtClean="0">
                <a:latin typeface="宋体" panose="02010600030101010101" pitchFamily="2" charset="-122"/>
              </a:rPr>
              <a:t>显示设备的分类与有关概念，分辨率、灰度级、刷新存储器的容量与带宽的相关计算，字符</a:t>
            </a:r>
            <a:r>
              <a:rPr lang="en-US" altLang="zh-CN" sz="2800" dirty="0" smtClean="0">
                <a:latin typeface="宋体" panose="02010600030101010101" pitchFamily="2" charset="-122"/>
              </a:rPr>
              <a:t>/</a:t>
            </a:r>
            <a:r>
              <a:rPr lang="zh-CN" altLang="en-US" sz="2800" dirty="0" smtClean="0">
                <a:latin typeface="宋体" panose="02010600030101010101" pitchFamily="2" charset="-122"/>
              </a:rPr>
              <a:t>图形显示器，图像显示设备。</a:t>
            </a:r>
            <a:endParaRPr lang="zh-CN" altLang="en-US" sz="2800" dirty="0" smtClean="0">
              <a:latin typeface="宋体" panose="02010600030101010101" pitchFamily="2" charset="-122"/>
            </a:endParaRPr>
          </a:p>
          <a:p>
            <a:pPr eaLnBrk="1" hangingPunct="1">
              <a:lnSpc>
                <a:spcPct val="80000"/>
              </a:lnSpc>
            </a:pPr>
            <a:r>
              <a:rPr lang="zh-CN" altLang="en-US" sz="2800" dirty="0" smtClean="0">
                <a:latin typeface="宋体" panose="02010600030101010101" pitchFamily="2" charset="-122"/>
              </a:rPr>
              <a:t>输入设备和输出设备。</a:t>
            </a:r>
            <a:endParaRPr lang="zh-CN" altLang="en-US" sz="2400" dirty="0" smtClean="0">
              <a:latin typeface="宋体" panose="02010600030101010101" pitchFamily="2" charset="-122"/>
            </a:endParaRPr>
          </a:p>
          <a:p>
            <a:pPr eaLnBrk="1" hangingPunct="1">
              <a:lnSpc>
                <a:spcPct val="80000"/>
              </a:lnSpc>
            </a:pPr>
            <a:endParaRPr lang="zh-CN" altLang="en-US" sz="2400" dirty="0" smtClean="0">
              <a:latin typeface="宋体" panose="02010600030101010101" pitchFamily="2" charset="-122"/>
            </a:endParaRPr>
          </a:p>
          <a:p>
            <a:pPr eaLnBrk="1" hangingPunct="1">
              <a:lnSpc>
                <a:spcPct val="80000"/>
              </a:lnSpc>
            </a:pPr>
            <a:endParaRPr lang="zh-CN" altLang="en-US" sz="2400" dirty="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p>
            <a:fld id="{05A3048D-8BE1-4136-AEFF-038434FD331F}" type="slidenum">
              <a:rPr lang="en-US" altLang="zh-CN" smtClean="0"/>
            </a:fld>
            <a:endParaRPr lang="en-US" altLang="zh-CN" smtClean="0"/>
          </a:p>
        </p:txBody>
      </p:sp>
      <p:sp>
        <p:nvSpPr>
          <p:cNvPr id="59395" name="Rectangle 2"/>
          <p:cNvSpPr>
            <a:spLocks noGrp="1" noChangeArrowheads="1"/>
          </p:cNvSpPr>
          <p:nvPr>
            <p:ph type="title"/>
          </p:nvPr>
        </p:nvSpPr>
        <p:spPr>
          <a:xfrm>
            <a:off x="467043" y="620713"/>
            <a:ext cx="7543800" cy="569912"/>
          </a:xfrm>
        </p:spPr>
        <p:txBody>
          <a:bodyPr/>
          <a:lstStyle/>
          <a:p>
            <a:pPr eaLnBrk="1" hangingPunct="1"/>
            <a:r>
              <a:rPr lang="zh-CN" altLang="en-US" sz="3200" smtClean="0">
                <a:latin typeface="宋体" panose="02010600030101010101" pitchFamily="2" charset="-122"/>
              </a:rPr>
              <a:t>本章作业</a:t>
            </a:r>
            <a:endParaRPr lang="zh-CN" altLang="en-US" sz="3200" smtClean="0">
              <a:latin typeface="宋体" panose="02010600030101010101" pitchFamily="2" charset="-122"/>
            </a:endParaRPr>
          </a:p>
        </p:txBody>
      </p:sp>
      <p:sp>
        <p:nvSpPr>
          <p:cNvPr id="59396" name="Rectangle 3"/>
          <p:cNvSpPr>
            <a:spLocks noGrp="1" noChangeArrowheads="1"/>
          </p:cNvSpPr>
          <p:nvPr>
            <p:ph type="body" idx="1"/>
          </p:nvPr>
        </p:nvSpPr>
        <p:spPr>
          <a:xfrm>
            <a:off x="395605" y="1701165"/>
            <a:ext cx="7447915" cy="1554480"/>
          </a:xfrm>
          <a:solidFill>
            <a:srgbClr val="CCFFFF"/>
          </a:solidFill>
        </p:spPr>
        <p:txBody>
          <a:bodyPr/>
          <a:lstStyle/>
          <a:p>
            <a:pPr eaLnBrk="1" hangingPunct="1">
              <a:lnSpc>
                <a:spcPct val="90000"/>
              </a:lnSpc>
            </a:pPr>
            <a:endParaRPr lang="en-US" sz="2400" smtClean="0">
              <a:latin typeface="宋体" panose="02010600030101010101" pitchFamily="2" charset="-122"/>
            </a:endParaRPr>
          </a:p>
          <a:p>
            <a:pPr eaLnBrk="1" hangingPunct="1">
              <a:lnSpc>
                <a:spcPct val="90000"/>
              </a:lnSpc>
            </a:pPr>
            <a:r>
              <a:rPr lang="en-US" sz="2400" smtClean="0">
                <a:latin typeface="宋体" panose="02010600030101010101" pitchFamily="2" charset="-122"/>
              </a:rPr>
              <a:t>P239:1</a:t>
            </a:r>
            <a:r>
              <a:rPr lang="zh-CN" altLang="en-US" sz="2400" smtClean="0">
                <a:latin typeface="宋体" panose="02010600030101010101" pitchFamily="2" charset="-122"/>
              </a:rPr>
              <a:t>、</a:t>
            </a:r>
            <a:r>
              <a:rPr lang="en-US" sz="2400" smtClean="0">
                <a:latin typeface="宋体" panose="02010600030101010101" pitchFamily="2" charset="-122"/>
              </a:rPr>
              <a:t>2</a:t>
            </a:r>
            <a:r>
              <a:rPr lang="zh-CN" altLang="en-US" sz="2400" smtClean="0">
                <a:latin typeface="宋体" panose="02010600030101010101" pitchFamily="2" charset="-122"/>
              </a:rPr>
              <a:t>、</a:t>
            </a:r>
            <a:r>
              <a:rPr lang="en-US" sz="2400" smtClean="0">
                <a:latin typeface="宋体" panose="02010600030101010101" pitchFamily="2" charset="-122"/>
              </a:rPr>
              <a:t>3</a:t>
            </a:r>
            <a:r>
              <a:rPr lang="zh-CN" altLang="en-US" sz="2400" smtClean="0">
                <a:latin typeface="宋体" panose="02010600030101010101" pitchFamily="2" charset="-122"/>
              </a:rPr>
              <a:t>、</a:t>
            </a:r>
            <a:r>
              <a:rPr lang="en-US" sz="2400" smtClean="0">
                <a:latin typeface="宋体" panose="02010600030101010101" pitchFamily="2" charset="-122"/>
              </a:rPr>
              <a:t>8</a:t>
            </a:r>
            <a:endParaRPr lang="en-US" sz="2400" smtClean="0">
              <a:latin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RAINPROBLEM" val="ProblemBody"/>
</p:tagLst>
</file>

<file path=ppt/tags/tag5.xml><?xml version="1.0" encoding="utf-8"?>
<p:tagLst xmlns:p="http://schemas.openxmlformats.org/presentationml/2006/main">
  <p:tag name="commondata" val="eyJoZGlkIjoiZTRhYjRlMmM3ZTAzYTNmMjdlMWUyOGVkOWUyMDQ0MDEifQ=="/>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11623</Words>
  <Application>WPS 演示</Application>
  <PresentationFormat>全屏显示(4:3)</PresentationFormat>
  <Paragraphs>422</Paragraphs>
  <Slides>39</Slides>
  <Notes>1</Notes>
  <HiddenSlides>5</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Arial</vt:lpstr>
      <vt:lpstr>宋体</vt:lpstr>
      <vt:lpstr>Wingdings</vt:lpstr>
      <vt:lpstr>Times New Roman</vt:lpstr>
      <vt:lpstr>微软雅黑</vt:lpstr>
      <vt:lpstr>Arial Unicode MS</vt:lpstr>
      <vt:lpstr>楷体_GB2312</vt:lpstr>
      <vt:lpstr>新宋体</vt:lpstr>
      <vt:lpstr>Network</vt:lpstr>
      <vt:lpstr>第七章   外围设备</vt:lpstr>
      <vt:lpstr>7.1 外围设备概述</vt:lpstr>
      <vt:lpstr>PowerPoint 演示文稿</vt:lpstr>
      <vt:lpstr>7.2 磁盘存储设备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显 示 设 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输入设备和打印设备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 章 小 结</vt:lpstr>
      <vt:lpstr>本章作业</vt:lpstr>
    </vt:vector>
  </TitlesOfParts>
  <Company>Ningbo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外围设备</dc:title>
  <dc:creator>杨旭东</dc:creator>
  <cp:lastModifiedBy>李常有</cp:lastModifiedBy>
  <cp:revision>284</cp:revision>
  <dcterms:created xsi:type="dcterms:W3CDTF">2008-05-19T20:46:00Z</dcterms:created>
  <dcterms:modified xsi:type="dcterms:W3CDTF">2023-11-14T01:59:32Z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97EBE14EFAC047B891DE8E63C236F09A_12</vt:lpwstr>
  </property>
  <property fmtid="{D5CDD505-2E9C-101B-9397-08002B2CF9AE}" pid="3" name="KSOProductBuildVer">
    <vt:lpwstr>2052-12.1.0.15712</vt:lpwstr>
  </property>
</Properties>
</file>
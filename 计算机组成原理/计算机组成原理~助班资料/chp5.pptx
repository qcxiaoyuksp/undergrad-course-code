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4"/>
  </p:notesMasterIdLst>
  <p:sldIdLst>
    <p:sldId id="257" r:id="rId2"/>
    <p:sldId id="258" r:id="rId3"/>
    <p:sldId id="260" r:id="rId4"/>
    <p:sldId id="285" r:id="rId5"/>
    <p:sldId id="302" r:id="rId6"/>
    <p:sldId id="448" r:id="rId7"/>
    <p:sldId id="798" r:id="rId8"/>
    <p:sldId id="800" r:id="rId9"/>
    <p:sldId id="801" r:id="rId10"/>
    <p:sldId id="269" r:id="rId11"/>
    <p:sldId id="270" r:id="rId12"/>
    <p:sldId id="305" r:id="rId13"/>
    <p:sldId id="303" r:id="rId14"/>
    <p:sldId id="287" r:id="rId15"/>
    <p:sldId id="288" r:id="rId16"/>
    <p:sldId id="289" r:id="rId17"/>
    <p:sldId id="844" r:id="rId18"/>
    <p:sldId id="304" r:id="rId19"/>
    <p:sldId id="294" r:id="rId20"/>
    <p:sldId id="295" r:id="rId21"/>
    <p:sldId id="296" r:id="rId22"/>
    <p:sldId id="297" r:id="rId23"/>
    <p:sldId id="298" r:id="rId24"/>
    <p:sldId id="802" r:id="rId25"/>
    <p:sldId id="275" r:id="rId26"/>
    <p:sldId id="449" r:id="rId27"/>
    <p:sldId id="299" r:id="rId28"/>
    <p:sldId id="300" r:id="rId29"/>
    <p:sldId id="301" r:id="rId30"/>
    <p:sldId id="274" r:id="rId31"/>
    <p:sldId id="450" r:id="rId32"/>
    <p:sldId id="451" r:id="rId33"/>
    <p:sldId id="771" r:id="rId34"/>
    <p:sldId id="843" r:id="rId35"/>
    <p:sldId id="839" r:id="rId36"/>
    <p:sldId id="840" r:id="rId37"/>
    <p:sldId id="308" r:id="rId38"/>
    <p:sldId id="309" r:id="rId39"/>
    <p:sldId id="455" r:id="rId40"/>
    <p:sldId id="311" r:id="rId41"/>
    <p:sldId id="797" r:id="rId42"/>
    <p:sldId id="314" r:id="rId43"/>
    <p:sldId id="465" r:id="rId44"/>
    <p:sldId id="315" r:id="rId45"/>
    <p:sldId id="316" r:id="rId46"/>
    <p:sldId id="319" r:id="rId47"/>
    <p:sldId id="322" r:id="rId48"/>
    <p:sldId id="317" r:id="rId49"/>
    <p:sldId id="323" r:id="rId50"/>
    <p:sldId id="324" r:id="rId51"/>
    <p:sldId id="464" r:id="rId52"/>
    <p:sldId id="457" r:id="rId53"/>
    <p:sldId id="325" r:id="rId54"/>
    <p:sldId id="462" r:id="rId55"/>
    <p:sldId id="328" r:id="rId56"/>
    <p:sldId id="329" r:id="rId57"/>
    <p:sldId id="330" r:id="rId58"/>
    <p:sldId id="331" r:id="rId59"/>
    <p:sldId id="466" r:id="rId60"/>
    <p:sldId id="467" r:id="rId61"/>
    <p:sldId id="337" r:id="rId62"/>
    <p:sldId id="463" r:id="rId63"/>
    <p:sldId id="805" r:id="rId64"/>
    <p:sldId id="806" r:id="rId65"/>
    <p:sldId id="807" r:id="rId66"/>
    <p:sldId id="554" r:id="rId67"/>
    <p:sldId id="555" r:id="rId68"/>
    <p:sldId id="556" r:id="rId69"/>
    <p:sldId id="557" r:id="rId70"/>
    <p:sldId id="558" r:id="rId71"/>
    <p:sldId id="559" r:id="rId72"/>
    <p:sldId id="560" r:id="rId73"/>
    <p:sldId id="561" r:id="rId74"/>
    <p:sldId id="562" r:id="rId75"/>
    <p:sldId id="569" r:id="rId76"/>
    <p:sldId id="570" r:id="rId77"/>
    <p:sldId id="571" r:id="rId78"/>
    <p:sldId id="572" r:id="rId79"/>
    <p:sldId id="573" r:id="rId80"/>
    <p:sldId id="574" r:id="rId81"/>
    <p:sldId id="782" r:id="rId82"/>
    <p:sldId id="575" r:id="rId83"/>
    <p:sldId id="576" r:id="rId84"/>
    <p:sldId id="577" r:id="rId85"/>
    <p:sldId id="579" r:id="rId86"/>
    <p:sldId id="580" r:id="rId87"/>
    <p:sldId id="581" r:id="rId88"/>
    <p:sldId id="582" r:id="rId89"/>
    <p:sldId id="583" r:id="rId90"/>
    <p:sldId id="584" r:id="rId91"/>
    <p:sldId id="586" r:id="rId92"/>
    <p:sldId id="587" r:id="rId93"/>
    <p:sldId id="588" r:id="rId94"/>
    <p:sldId id="589" r:id="rId95"/>
    <p:sldId id="590" r:id="rId96"/>
    <p:sldId id="591" r:id="rId97"/>
    <p:sldId id="592" r:id="rId98"/>
    <p:sldId id="810" r:id="rId99"/>
    <p:sldId id="811" r:id="rId100"/>
    <p:sldId id="593" r:id="rId101"/>
    <p:sldId id="808" r:id="rId102"/>
    <p:sldId id="595" r:id="rId103"/>
    <p:sldId id="596" r:id="rId104"/>
    <p:sldId id="600" r:id="rId105"/>
    <p:sldId id="601" r:id="rId106"/>
    <p:sldId id="815" r:id="rId107"/>
    <p:sldId id="602" r:id="rId108"/>
    <p:sldId id="816" r:id="rId109"/>
    <p:sldId id="834" r:id="rId110"/>
    <p:sldId id="835" r:id="rId111"/>
    <p:sldId id="836" r:id="rId112"/>
    <p:sldId id="837" r:id="rId113"/>
    <p:sldId id="728" r:id="rId114"/>
    <p:sldId id="819" r:id="rId115"/>
    <p:sldId id="841" r:id="rId116"/>
    <p:sldId id="822" r:id="rId117"/>
    <p:sldId id="832" r:id="rId118"/>
    <p:sldId id="826" r:id="rId119"/>
    <p:sldId id="603" r:id="rId120"/>
    <p:sldId id="604" r:id="rId121"/>
    <p:sldId id="605" r:id="rId122"/>
    <p:sldId id="606" r:id="rId123"/>
    <p:sldId id="607" r:id="rId124"/>
    <p:sldId id="608" r:id="rId125"/>
    <p:sldId id="609" r:id="rId126"/>
    <p:sldId id="610" r:id="rId127"/>
    <p:sldId id="611" r:id="rId128"/>
    <p:sldId id="612" r:id="rId129"/>
    <p:sldId id="613" r:id="rId130"/>
    <p:sldId id="614" r:id="rId131"/>
    <p:sldId id="615" r:id="rId132"/>
    <p:sldId id="616" r:id="rId133"/>
    <p:sldId id="617" r:id="rId134"/>
    <p:sldId id="677" r:id="rId135"/>
    <p:sldId id="678" r:id="rId136"/>
    <p:sldId id="679" r:id="rId137"/>
    <p:sldId id="681" r:id="rId138"/>
    <p:sldId id="682" r:id="rId139"/>
    <p:sldId id="683" r:id="rId140"/>
    <p:sldId id="684" r:id="rId141"/>
    <p:sldId id="685" r:id="rId142"/>
    <p:sldId id="686" r:id="rId143"/>
    <p:sldId id="749" r:id="rId144"/>
    <p:sldId id="687" r:id="rId145"/>
    <p:sldId id="688" r:id="rId146"/>
    <p:sldId id="689" r:id="rId147"/>
    <p:sldId id="814" r:id="rId148"/>
    <p:sldId id="699" r:id="rId149"/>
    <p:sldId id="700" r:id="rId150"/>
    <p:sldId id="701" r:id="rId151"/>
    <p:sldId id="838" r:id="rId152"/>
    <p:sldId id="718" r:id="rId153"/>
  </p:sldIdLst>
  <p:sldSz cx="9144000" cy="6858000" type="screen4x3"/>
  <p:notesSz cx="6858000" cy="9144000"/>
  <p:defaultTextStyle>
    <a:defPPr>
      <a:defRPr lang="zh-CN"/>
    </a:defPPr>
    <a:lvl1pPr algn="l" rtl="0" fontAlgn="base">
      <a:spcBef>
        <a:spcPct val="0"/>
      </a:spcBef>
      <a:spcAft>
        <a:spcPct val="0"/>
      </a:spcAft>
      <a:defRPr b="1" kern="1200">
        <a:solidFill>
          <a:srgbClr val="FF3300"/>
        </a:solidFill>
        <a:latin typeface="Arial" charset="0"/>
        <a:ea typeface="宋体" pitchFamily="2" charset="-122"/>
        <a:cs typeface="+mn-cs"/>
      </a:defRPr>
    </a:lvl1pPr>
    <a:lvl2pPr marL="457200" algn="l" rtl="0" fontAlgn="base">
      <a:spcBef>
        <a:spcPct val="0"/>
      </a:spcBef>
      <a:spcAft>
        <a:spcPct val="0"/>
      </a:spcAft>
      <a:defRPr b="1" kern="1200">
        <a:solidFill>
          <a:srgbClr val="FF3300"/>
        </a:solidFill>
        <a:latin typeface="Arial" charset="0"/>
        <a:ea typeface="宋体" pitchFamily="2" charset="-122"/>
        <a:cs typeface="+mn-cs"/>
      </a:defRPr>
    </a:lvl2pPr>
    <a:lvl3pPr marL="914400" algn="l" rtl="0" fontAlgn="base">
      <a:spcBef>
        <a:spcPct val="0"/>
      </a:spcBef>
      <a:spcAft>
        <a:spcPct val="0"/>
      </a:spcAft>
      <a:defRPr b="1" kern="1200">
        <a:solidFill>
          <a:srgbClr val="FF3300"/>
        </a:solidFill>
        <a:latin typeface="Arial" charset="0"/>
        <a:ea typeface="宋体" pitchFamily="2" charset="-122"/>
        <a:cs typeface="+mn-cs"/>
      </a:defRPr>
    </a:lvl3pPr>
    <a:lvl4pPr marL="1371600" algn="l" rtl="0" fontAlgn="base">
      <a:spcBef>
        <a:spcPct val="0"/>
      </a:spcBef>
      <a:spcAft>
        <a:spcPct val="0"/>
      </a:spcAft>
      <a:defRPr b="1" kern="1200">
        <a:solidFill>
          <a:srgbClr val="FF3300"/>
        </a:solidFill>
        <a:latin typeface="Arial" charset="0"/>
        <a:ea typeface="宋体" pitchFamily="2" charset="-122"/>
        <a:cs typeface="+mn-cs"/>
      </a:defRPr>
    </a:lvl4pPr>
    <a:lvl5pPr marL="1828800" algn="l" rtl="0" fontAlgn="base">
      <a:spcBef>
        <a:spcPct val="0"/>
      </a:spcBef>
      <a:spcAft>
        <a:spcPct val="0"/>
      </a:spcAft>
      <a:defRPr b="1" kern="1200">
        <a:solidFill>
          <a:srgbClr val="FF3300"/>
        </a:solidFill>
        <a:latin typeface="Arial" charset="0"/>
        <a:ea typeface="宋体" pitchFamily="2" charset="-122"/>
        <a:cs typeface="+mn-cs"/>
      </a:defRPr>
    </a:lvl5pPr>
    <a:lvl6pPr marL="2286000" algn="l" defTabSz="914400" rtl="0" eaLnBrk="1" latinLnBrk="0" hangingPunct="1">
      <a:defRPr b="1" kern="1200">
        <a:solidFill>
          <a:srgbClr val="FF3300"/>
        </a:solidFill>
        <a:latin typeface="Arial" charset="0"/>
        <a:ea typeface="宋体" pitchFamily="2" charset="-122"/>
        <a:cs typeface="+mn-cs"/>
      </a:defRPr>
    </a:lvl6pPr>
    <a:lvl7pPr marL="2743200" algn="l" defTabSz="914400" rtl="0" eaLnBrk="1" latinLnBrk="0" hangingPunct="1">
      <a:defRPr b="1" kern="1200">
        <a:solidFill>
          <a:srgbClr val="FF3300"/>
        </a:solidFill>
        <a:latin typeface="Arial" charset="0"/>
        <a:ea typeface="宋体" pitchFamily="2" charset="-122"/>
        <a:cs typeface="+mn-cs"/>
      </a:defRPr>
    </a:lvl7pPr>
    <a:lvl8pPr marL="3200400" algn="l" defTabSz="914400" rtl="0" eaLnBrk="1" latinLnBrk="0" hangingPunct="1">
      <a:defRPr b="1" kern="1200">
        <a:solidFill>
          <a:srgbClr val="FF3300"/>
        </a:solidFill>
        <a:latin typeface="Arial" charset="0"/>
        <a:ea typeface="宋体" pitchFamily="2" charset="-122"/>
        <a:cs typeface="+mn-cs"/>
      </a:defRPr>
    </a:lvl8pPr>
    <a:lvl9pPr marL="3657600" algn="l" defTabSz="914400" rtl="0" eaLnBrk="1" latinLnBrk="0" hangingPunct="1">
      <a:defRPr b="1" kern="1200">
        <a:solidFill>
          <a:srgbClr val="FF3300"/>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3CA"/>
    <a:srgbClr val="FF3300"/>
    <a:srgbClr val="2BCB23"/>
    <a:srgbClr val="E71373"/>
    <a:srgbClr val="E8060B"/>
    <a:srgbClr val="99FFCC"/>
    <a:srgbClr val="66FFFF"/>
    <a:srgbClr val="CCFFFF"/>
    <a:srgbClr val="EE2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30" autoAdjust="0"/>
  </p:normalViewPr>
  <p:slideViewPr>
    <p:cSldViewPr>
      <p:cViewPr>
        <p:scale>
          <a:sx n="70" d="100"/>
          <a:sy n="70" d="100"/>
        </p:scale>
        <p:origin x="-2790" y="-924"/>
      </p:cViewPr>
      <p:guideLst>
        <p:guide orient="horz" pos="2160"/>
        <p:guide pos="2880"/>
      </p:guideLst>
    </p:cSldViewPr>
  </p:slideViewPr>
  <p:outlineViewPr>
    <p:cViewPr>
      <p:scale>
        <a:sx n="25" d="100"/>
        <a:sy n="25" d="100"/>
      </p:scale>
      <p:origin x="0" y="0"/>
    </p:cViewPr>
  </p:outlineViewPr>
  <p:notesTextViewPr>
    <p:cViewPr>
      <p:scale>
        <a:sx n="125" d="100"/>
        <a:sy n="125" d="100"/>
      </p:scale>
      <p:origin x="0" y="0"/>
    </p:cViewPr>
  </p:notesTextViewPr>
  <p:sorterViewPr>
    <p:cViewPr>
      <p:scale>
        <a:sx n="66" d="100"/>
        <a:sy n="66" d="100"/>
      </p:scale>
      <p:origin x="0" y="1503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4.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8.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8.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2.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4.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5.png"/></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image" Target="../media/image87.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9.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1.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b="0">
                <a:solidFill>
                  <a:schemeClr val="tx1"/>
                </a:solidFill>
                <a:latin typeface="Times New Roman" pitchFamily="18"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solidFill>
                  <a:schemeClr val="tx1"/>
                </a:solidFill>
                <a:latin typeface="Times New Roman" pitchFamily="18" charset="0"/>
              </a:defRPr>
            </a:lvl1pPr>
          </a:lstStyle>
          <a:p>
            <a:pPr>
              <a:defRPr/>
            </a:pPr>
            <a:endParaRPr lang="en-US" altLang="zh-CN"/>
          </a:p>
        </p:txBody>
      </p:sp>
      <p:sp>
        <p:nvSpPr>
          <p:cNvPr id="198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b="0">
                <a:solidFill>
                  <a:schemeClr val="tx1"/>
                </a:solidFill>
                <a:latin typeface="Times New Roman" pitchFamily="18"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solidFill>
                  <a:schemeClr val="tx1"/>
                </a:solidFill>
                <a:latin typeface="Times New Roman" pitchFamily="18" charset="0"/>
              </a:defRPr>
            </a:lvl1pPr>
          </a:lstStyle>
          <a:p>
            <a:pPr>
              <a:defRPr/>
            </a:pPr>
            <a:fld id="{F7E38801-EBE7-461F-B1C2-D426589C2BE1}" type="slidenum">
              <a:rPr lang="en-US" altLang="zh-CN"/>
              <a:pPr>
                <a:defRPr/>
              </a:pPr>
              <a:t>‹#›</a:t>
            </a:fld>
            <a:endParaRPr lang="en-US" altLang="zh-CN"/>
          </a:p>
        </p:txBody>
      </p:sp>
    </p:spTree>
    <p:extLst>
      <p:ext uri="{BB962C8B-B14F-4D97-AF65-F5344CB8AC3E}">
        <p14:creationId xmlns:p14="http://schemas.microsoft.com/office/powerpoint/2010/main" val="30979760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1D496705-CE2E-49D3-BF4C-983681DE00BD}" type="slidenum">
              <a:rPr lang="en-US" altLang="zh-CN" smtClean="0"/>
              <a:pPr/>
              <a:t>14</a:t>
            </a:fld>
            <a:endParaRPr lang="en-US" altLang="zh-CN" dirty="0" smtClean="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p:spPr>
        <p:txBody>
          <a:bodyPr/>
          <a:lstStyle/>
          <a:p>
            <a:pPr eaLnBrk="1" hangingPunct="1"/>
            <a:r>
              <a:rPr lang="en-US" altLang="zh-CN" dirty="0" smtClean="0"/>
              <a:t>① </a:t>
            </a:r>
            <a:r>
              <a:rPr lang="zh-CN" altLang="en-US" smtClean="0"/>
              <a:t>程序计数器</a:t>
            </a:r>
            <a:r>
              <a:rPr lang="en-US" altLang="zh-CN" dirty="0" smtClean="0"/>
              <a:t>PC</a:t>
            </a:r>
            <a:r>
              <a:rPr lang="zh-CN" altLang="en-US" smtClean="0"/>
              <a:t>中装入第一条指令地址</a:t>
            </a:r>
            <a:r>
              <a:rPr lang="en-US" altLang="zh-CN" dirty="0" smtClean="0"/>
              <a:t>101</a:t>
            </a:r>
            <a:r>
              <a:rPr lang="zh-CN" altLang="en-US" smtClean="0"/>
              <a:t>（八进制）；</a:t>
            </a:r>
          </a:p>
          <a:p>
            <a:pPr eaLnBrk="1" hangingPunct="1"/>
            <a:r>
              <a:rPr lang="zh-CN" altLang="en-US" smtClean="0"/>
              <a:t>② </a:t>
            </a:r>
            <a:r>
              <a:rPr lang="en-US" altLang="zh-CN" dirty="0" smtClean="0"/>
              <a:t>PC</a:t>
            </a:r>
            <a:r>
              <a:rPr lang="zh-CN" altLang="en-US" smtClean="0"/>
              <a:t>的内容被放到指令地址总线</a:t>
            </a:r>
            <a:r>
              <a:rPr lang="en-US" altLang="zh-CN" dirty="0" smtClean="0"/>
              <a:t>ABUS</a:t>
            </a:r>
            <a:r>
              <a:rPr lang="zh-CN" altLang="en-US" smtClean="0"/>
              <a:t>（</a:t>
            </a:r>
            <a:r>
              <a:rPr lang="en-US" altLang="zh-CN" dirty="0" smtClean="0"/>
              <a:t>I</a:t>
            </a:r>
            <a:r>
              <a:rPr lang="zh-CN" altLang="en-US" smtClean="0"/>
              <a:t>）上，对指存进行译码，并启动读命令；</a:t>
            </a:r>
          </a:p>
          <a:p>
            <a:pPr eaLnBrk="1" hangingPunct="1"/>
            <a:r>
              <a:rPr lang="zh-CN" altLang="en-US" smtClean="0"/>
              <a:t>③ 从</a:t>
            </a:r>
            <a:r>
              <a:rPr lang="en-US" altLang="zh-CN" dirty="0" smtClean="0"/>
              <a:t>101</a:t>
            </a:r>
            <a:r>
              <a:rPr lang="zh-CN" altLang="en-US" smtClean="0"/>
              <a:t>号地址读出的</a:t>
            </a:r>
            <a:r>
              <a:rPr lang="en-US" altLang="zh-CN" dirty="0" smtClean="0"/>
              <a:t>MOV</a:t>
            </a:r>
            <a:r>
              <a:rPr lang="zh-CN" altLang="en-US" smtClean="0"/>
              <a:t>指令通过指令总线</a:t>
            </a:r>
            <a:r>
              <a:rPr lang="en-US" altLang="zh-CN" dirty="0" smtClean="0"/>
              <a:t>IBUS</a:t>
            </a:r>
            <a:r>
              <a:rPr lang="zh-CN" altLang="en-US" smtClean="0"/>
              <a:t>装入指令寄存器</a:t>
            </a:r>
            <a:r>
              <a:rPr lang="en-US" altLang="zh-CN" dirty="0" smtClean="0"/>
              <a:t>IR</a:t>
            </a:r>
            <a:r>
              <a:rPr lang="zh-CN" altLang="en-US" smtClean="0"/>
              <a:t>；</a:t>
            </a:r>
          </a:p>
          <a:p>
            <a:pPr eaLnBrk="1" hangingPunct="1"/>
            <a:r>
              <a:rPr lang="zh-CN" altLang="en-US" smtClean="0"/>
              <a:t>④  程序计数器内容加</a:t>
            </a:r>
            <a:r>
              <a:rPr lang="en-US" altLang="zh-CN" dirty="0" smtClean="0"/>
              <a:t>1</a:t>
            </a:r>
            <a:r>
              <a:rPr lang="zh-CN" altLang="en-US" smtClean="0"/>
              <a:t>，变成</a:t>
            </a:r>
            <a:r>
              <a:rPr lang="en-US" altLang="zh-CN" dirty="0" smtClean="0"/>
              <a:t>102</a:t>
            </a:r>
            <a:r>
              <a:rPr lang="zh-CN" altLang="en-US" smtClean="0"/>
              <a:t>，为取下一条指令做好准备；</a:t>
            </a:r>
          </a:p>
          <a:p>
            <a:pPr eaLnBrk="1" hangingPunct="1"/>
            <a:r>
              <a:rPr lang="zh-CN" altLang="en-US" smtClean="0"/>
              <a:t>⑤ 指令寄存器中的操作码（</a:t>
            </a:r>
            <a:r>
              <a:rPr lang="en-US" altLang="zh-CN" dirty="0" smtClean="0"/>
              <a:t>OP</a:t>
            </a:r>
            <a:r>
              <a:rPr lang="zh-CN" altLang="en-US" smtClean="0"/>
              <a:t>）被译码；</a:t>
            </a:r>
          </a:p>
          <a:p>
            <a:pPr eaLnBrk="1" hangingPunct="1"/>
            <a:r>
              <a:rPr lang="zh-CN" altLang="en-US" smtClean="0"/>
              <a:t>⑥ </a:t>
            </a:r>
            <a:r>
              <a:rPr lang="en-US" altLang="zh-CN" dirty="0" smtClean="0"/>
              <a:t>CPU</a:t>
            </a:r>
            <a:r>
              <a:rPr lang="zh-CN" altLang="en-US" smtClean="0"/>
              <a:t>识别出是</a:t>
            </a:r>
            <a:r>
              <a:rPr lang="en-US" altLang="zh-CN" dirty="0" smtClean="0"/>
              <a:t>MOV</a:t>
            </a:r>
            <a:r>
              <a:rPr lang="zh-CN" altLang="en-US" smtClean="0"/>
              <a:t>指令，至此，取指周期即告结束。</a:t>
            </a:r>
          </a:p>
          <a:p>
            <a:pPr eaLnBrk="1" hangingPunct="1"/>
            <a:endParaRPr lang="en-US" altLang="zh-CN"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6E391A7A-792F-42E5-A7C8-6D7B9268FD05}" type="slidenum">
              <a:rPr lang="en-US" altLang="zh-CN" smtClean="0"/>
              <a:pPr/>
              <a:t>15</a:t>
            </a:fld>
            <a:endParaRPr lang="en-US" altLang="zh-CN" dirty="0" smtClean="0"/>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）送出控制信号到通用寄存器，选择</a:t>
            </a:r>
            <a:r>
              <a:rPr lang="en-US" altLang="zh-CN" dirty="0" smtClean="0"/>
              <a:t>R1</a:t>
            </a:r>
            <a:r>
              <a:rPr lang="zh-CN" altLang="en-US" smtClean="0"/>
              <a:t>（</a:t>
            </a:r>
            <a:r>
              <a:rPr lang="en-US" altLang="zh-CN" dirty="0" smtClean="0"/>
              <a:t>10</a:t>
            </a:r>
            <a:r>
              <a:rPr lang="zh-CN" altLang="en-US" smtClean="0"/>
              <a:t>）作源寄存器，选择</a:t>
            </a:r>
            <a:r>
              <a:rPr lang="en-US" altLang="zh-CN" dirty="0" smtClean="0"/>
              <a:t>R0</a:t>
            </a:r>
            <a:r>
              <a:rPr lang="zh-CN" altLang="en-US" smtClean="0"/>
              <a:t>作目标寄存器；</a:t>
            </a:r>
          </a:p>
          <a:p>
            <a:pPr eaLnBrk="1" hangingPunct="1"/>
            <a:r>
              <a:rPr lang="zh-CN" altLang="en-US" smtClean="0"/>
              <a:t>② </a:t>
            </a:r>
            <a:r>
              <a:rPr lang="en-US" altLang="zh-CN" dirty="0" smtClean="0"/>
              <a:t>OC</a:t>
            </a:r>
            <a:r>
              <a:rPr lang="zh-CN" altLang="en-US" smtClean="0"/>
              <a:t>送出控制信号到</a:t>
            </a:r>
            <a:r>
              <a:rPr lang="en-US" altLang="zh-CN" dirty="0" smtClean="0"/>
              <a:t>ALU</a:t>
            </a:r>
            <a:r>
              <a:rPr lang="zh-CN" altLang="en-US" smtClean="0"/>
              <a:t>，指定</a:t>
            </a:r>
            <a:r>
              <a:rPr lang="en-US" altLang="zh-CN" dirty="0" smtClean="0"/>
              <a:t>ALU</a:t>
            </a:r>
            <a:r>
              <a:rPr lang="zh-CN" altLang="en-US" smtClean="0"/>
              <a:t>做传送操作；</a:t>
            </a:r>
          </a:p>
          <a:p>
            <a:pPr eaLnBrk="1" hangingPunct="1"/>
            <a:r>
              <a:rPr lang="zh-CN" altLang="en-US" smtClean="0"/>
              <a:t>③ </a:t>
            </a:r>
            <a:r>
              <a:rPr lang="en-US" altLang="zh-CN" dirty="0" smtClean="0"/>
              <a:t>OC</a:t>
            </a:r>
            <a:r>
              <a:rPr lang="zh-CN" altLang="en-US" smtClean="0"/>
              <a:t>送出控制信号，打开</a:t>
            </a:r>
            <a:r>
              <a:rPr lang="en-US" altLang="zh-CN" dirty="0" smtClean="0"/>
              <a:t>ALU</a:t>
            </a:r>
            <a:r>
              <a:rPr lang="zh-CN" altLang="en-US" smtClean="0"/>
              <a:t>输出三态门，将</a:t>
            </a:r>
            <a:r>
              <a:rPr lang="en-US" altLang="zh-CN" dirty="0" smtClean="0"/>
              <a:t>ALU</a:t>
            </a:r>
            <a:r>
              <a:rPr lang="zh-CN" altLang="en-US" smtClean="0"/>
              <a:t>输出送到数据总线</a:t>
            </a:r>
            <a:r>
              <a:rPr lang="en-US" altLang="zh-CN" dirty="0" smtClean="0"/>
              <a:t>DBUS</a:t>
            </a:r>
            <a:r>
              <a:rPr lang="zh-CN" altLang="en-US" smtClean="0"/>
              <a:t>上。注意，任何时候</a:t>
            </a:r>
            <a:r>
              <a:rPr lang="en-US" altLang="zh-CN" dirty="0" smtClean="0"/>
              <a:t>DBUS</a:t>
            </a:r>
            <a:r>
              <a:rPr lang="zh-CN" altLang="en-US" smtClean="0"/>
              <a:t>上只能有一个数据。</a:t>
            </a:r>
          </a:p>
          <a:p>
            <a:pPr eaLnBrk="1" hangingPunct="1"/>
            <a:r>
              <a:rPr lang="zh-CN" altLang="en-US" smtClean="0"/>
              <a:t>④ </a:t>
            </a:r>
            <a:r>
              <a:rPr lang="en-US" altLang="zh-CN" dirty="0" smtClean="0"/>
              <a:t>OC</a:t>
            </a:r>
            <a:r>
              <a:rPr lang="zh-CN" altLang="en-US" smtClean="0"/>
              <a:t>送出控制信号，将</a:t>
            </a:r>
            <a:r>
              <a:rPr lang="en-US" altLang="zh-CN" dirty="0" smtClean="0"/>
              <a:t>DBUS</a:t>
            </a:r>
            <a:r>
              <a:rPr lang="zh-CN" altLang="en-US" smtClean="0"/>
              <a:t>上的数据打入到数据缓冲寄存器</a:t>
            </a:r>
            <a:r>
              <a:rPr lang="en-US" altLang="zh-CN" dirty="0" smtClean="0"/>
              <a:t>DR</a:t>
            </a:r>
            <a:r>
              <a:rPr lang="zh-CN" altLang="en-US" smtClean="0"/>
              <a:t>（</a:t>
            </a:r>
            <a:r>
              <a:rPr lang="en-US" altLang="zh-CN" dirty="0" smtClean="0"/>
              <a:t>10</a:t>
            </a:r>
            <a:r>
              <a:rPr lang="zh-CN" altLang="en-US" smtClean="0"/>
              <a:t>）；</a:t>
            </a:r>
          </a:p>
          <a:p>
            <a:pPr eaLnBrk="1" hangingPunct="1"/>
            <a:r>
              <a:rPr lang="zh-CN" altLang="en-US" smtClean="0"/>
              <a:t>⑤ </a:t>
            </a:r>
            <a:r>
              <a:rPr lang="en-US" altLang="zh-CN" dirty="0" smtClean="0"/>
              <a:t>OC</a:t>
            </a:r>
            <a:r>
              <a:rPr lang="zh-CN" altLang="en-US" smtClean="0"/>
              <a:t>送出控制信号，将</a:t>
            </a:r>
            <a:r>
              <a:rPr lang="en-US" altLang="zh-CN" dirty="0" smtClean="0"/>
              <a:t>DR</a:t>
            </a:r>
            <a:r>
              <a:rPr lang="zh-CN" altLang="en-US" smtClean="0"/>
              <a:t>中的数据</a:t>
            </a:r>
            <a:r>
              <a:rPr lang="en-US" altLang="zh-CN" dirty="0" smtClean="0"/>
              <a:t>10</a:t>
            </a:r>
            <a:r>
              <a:rPr lang="zh-CN" altLang="en-US" smtClean="0"/>
              <a:t>打入到目标寄存器</a:t>
            </a:r>
            <a:r>
              <a:rPr lang="en-US" altLang="zh-CN" dirty="0" smtClean="0"/>
              <a:t>R0</a:t>
            </a:r>
            <a:r>
              <a:rPr lang="zh-CN" altLang="en-US" smtClean="0"/>
              <a:t>，</a:t>
            </a:r>
            <a:r>
              <a:rPr lang="en-US" altLang="zh-CN" dirty="0" smtClean="0"/>
              <a:t>R0</a:t>
            </a:r>
            <a:r>
              <a:rPr lang="zh-CN" altLang="en-US" smtClean="0"/>
              <a:t>的内容由</a:t>
            </a:r>
            <a:r>
              <a:rPr lang="en-US" altLang="zh-CN" dirty="0" smtClean="0"/>
              <a:t>00</a:t>
            </a:r>
            <a:r>
              <a:rPr lang="zh-CN" altLang="en-US" smtClean="0"/>
              <a:t>变为</a:t>
            </a:r>
            <a:r>
              <a:rPr lang="en-US" altLang="zh-CN" dirty="0" smtClean="0"/>
              <a:t>10</a:t>
            </a:r>
            <a:r>
              <a:rPr lang="zh-CN" altLang="en-US" smtClean="0"/>
              <a:t>。至此，</a:t>
            </a:r>
            <a:r>
              <a:rPr lang="en-US" altLang="zh-CN" dirty="0" smtClean="0"/>
              <a:t>MOV</a:t>
            </a:r>
            <a:r>
              <a:rPr lang="zh-CN" altLang="en-US" smtClean="0"/>
              <a:t>指令执行结束。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13E361E6-90FF-4242-8AC9-2F133EE2A7CA}" type="slidenum">
              <a:rPr lang="en-US" altLang="zh-CN" smtClean="0"/>
              <a:pPr/>
              <a:t>17</a:t>
            </a:fld>
            <a:endParaRPr lang="en-US" altLang="zh-CN" dirty="0" smtClean="0"/>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pPr eaLnBrk="1" hangingPunct="1"/>
            <a:r>
              <a:rPr lang="en-US" altLang="zh-CN" dirty="0" smtClean="0"/>
              <a:t>LAD</a:t>
            </a:r>
            <a:r>
              <a:rPr lang="zh-CN" altLang="en-US" smtClean="0"/>
              <a:t>指令的执行周期见图</a:t>
            </a:r>
            <a:r>
              <a:rPr lang="en-US" altLang="zh-CN" dirty="0" smtClean="0"/>
              <a:t>58</a:t>
            </a:r>
            <a:r>
              <a:rPr lang="zh-CN" altLang="en-US" smtClean="0"/>
              <a:t>所示。</a:t>
            </a:r>
            <a:r>
              <a:rPr lang="en-US" altLang="zh-CN" dirty="0" smtClean="0"/>
              <a:t>CPU</a:t>
            </a:r>
            <a:r>
              <a:rPr lang="zh-CN" altLang="en-US" smtClean="0"/>
              <a:t>执行的动作如下：</a:t>
            </a:r>
          </a:p>
          <a:p>
            <a:pPr eaLnBrk="1" hangingPunct="1"/>
            <a:r>
              <a:rPr lang="zh-CN" altLang="en-US" smtClean="0"/>
              <a:t>① 操作控制器</a:t>
            </a:r>
            <a:r>
              <a:rPr lang="en-US" altLang="zh-CN" dirty="0" smtClean="0"/>
              <a:t>OC</a:t>
            </a:r>
            <a:r>
              <a:rPr lang="zh-CN" altLang="en-US" smtClean="0"/>
              <a:t>发出控制命令打开</a:t>
            </a:r>
            <a:r>
              <a:rPr lang="en-US" altLang="zh-CN" dirty="0" smtClean="0"/>
              <a:t>IR</a:t>
            </a:r>
            <a:r>
              <a:rPr lang="zh-CN" altLang="en-US" smtClean="0"/>
              <a:t>输出三态门，将指令中的直接地址码</a:t>
            </a:r>
            <a:r>
              <a:rPr lang="en-US" altLang="zh-CN" dirty="0" smtClean="0"/>
              <a:t>6</a:t>
            </a:r>
            <a:r>
              <a:rPr lang="zh-CN" altLang="en-US" smtClean="0"/>
              <a:t>放到数据总线</a:t>
            </a:r>
            <a:r>
              <a:rPr lang="en-US" altLang="zh-CN" dirty="0" smtClean="0"/>
              <a:t>DBUS</a:t>
            </a:r>
            <a:r>
              <a:rPr lang="zh-CN" altLang="en-US" smtClean="0"/>
              <a:t>上；</a:t>
            </a:r>
          </a:p>
          <a:p>
            <a:pPr eaLnBrk="1" hangingPunct="1"/>
            <a:r>
              <a:rPr lang="zh-CN" altLang="en-US" smtClean="0"/>
              <a:t>② </a:t>
            </a:r>
            <a:r>
              <a:rPr lang="en-US" altLang="zh-CN" dirty="0" smtClean="0"/>
              <a:t>OC</a:t>
            </a:r>
            <a:r>
              <a:rPr lang="zh-CN" altLang="en-US" smtClean="0"/>
              <a:t>发出操作命令，将地址码</a:t>
            </a:r>
            <a:r>
              <a:rPr lang="en-US" altLang="zh-CN" dirty="0" smtClean="0"/>
              <a:t>6</a:t>
            </a:r>
            <a:r>
              <a:rPr lang="zh-CN" altLang="en-US" smtClean="0"/>
              <a:t>装入数存地址寄存器</a:t>
            </a:r>
            <a:r>
              <a:rPr lang="en-US" altLang="zh-CN" dirty="0" smtClean="0"/>
              <a:t>AR</a:t>
            </a:r>
            <a:r>
              <a:rPr lang="zh-CN" altLang="en-US" smtClean="0"/>
              <a:t>；</a:t>
            </a:r>
          </a:p>
          <a:p>
            <a:pPr eaLnBrk="1" hangingPunct="1"/>
            <a:r>
              <a:rPr lang="zh-CN" altLang="en-US" smtClean="0"/>
              <a:t>③ </a:t>
            </a:r>
            <a:r>
              <a:rPr lang="en-US" altLang="zh-CN" dirty="0" smtClean="0"/>
              <a:t>OC</a:t>
            </a:r>
            <a:r>
              <a:rPr lang="zh-CN" altLang="en-US" smtClean="0"/>
              <a:t>发出读命令，将数存</a:t>
            </a:r>
            <a:r>
              <a:rPr lang="en-US" altLang="zh-CN" dirty="0" smtClean="0"/>
              <a:t>6</a:t>
            </a:r>
            <a:r>
              <a:rPr lang="zh-CN" altLang="en-US" smtClean="0"/>
              <a:t>号单元中的数</a:t>
            </a:r>
            <a:r>
              <a:rPr lang="en-US" altLang="zh-CN" dirty="0" smtClean="0"/>
              <a:t>100</a:t>
            </a:r>
            <a:r>
              <a:rPr lang="zh-CN" altLang="en-US" smtClean="0"/>
              <a:t>读出到</a:t>
            </a:r>
            <a:r>
              <a:rPr lang="en-US" altLang="zh-CN" dirty="0" smtClean="0"/>
              <a:t>DBUS</a:t>
            </a:r>
            <a:r>
              <a:rPr lang="zh-CN" altLang="en-US" smtClean="0"/>
              <a:t>上；</a:t>
            </a:r>
          </a:p>
          <a:p>
            <a:pPr eaLnBrk="1" hangingPunct="1"/>
            <a:r>
              <a:rPr lang="zh-CN" altLang="en-US" smtClean="0"/>
              <a:t>④ </a:t>
            </a:r>
            <a:r>
              <a:rPr lang="en-US" altLang="zh-CN" dirty="0" smtClean="0"/>
              <a:t>OC</a:t>
            </a:r>
            <a:r>
              <a:rPr lang="zh-CN" altLang="en-US" smtClean="0"/>
              <a:t>发出命令，将</a:t>
            </a:r>
            <a:r>
              <a:rPr lang="en-US" altLang="zh-CN" dirty="0" smtClean="0"/>
              <a:t>DBUS</a:t>
            </a:r>
            <a:r>
              <a:rPr lang="zh-CN" altLang="en-US" smtClean="0"/>
              <a:t>上的数据</a:t>
            </a:r>
            <a:r>
              <a:rPr lang="en-US" altLang="zh-CN" dirty="0" smtClean="0"/>
              <a:t>100</a:t>
            </a:r>
            <a:r>
              <a:rPr lang="zh-CN" altLang="en-US" smtClean="0"/>
              <a:t>装入缓冲寄存器</a:t>
            </a:r>
            <a:r>
              <a:rPr lang="en-US" altLang="zh-CN" dirty="0" smtClean="0"/>
              <a:t>DR</a:t>
            </a:r>
            <a:r>
              <a:rPr lang="zh-CN" altLang="en-US" smtClean="0"/>
              <a:t>；</a:t>
            </a:r>
          </a:p>
          <a:p>
            <a:pPr eaLnBrk="1" hangingPunct="1"/>
            <a:r>
              <a:rPr lang="zh-CN" altLang="en-US" smtClean="0"/>
              <a:t>⑤ </a:t>
            </a:r>
            <a:r>
              <a:rPr lang="en-US" altLang="zh-CN" dirty="0" smtClean="0"/>
              <a:t>OC</a:t>
            </a:r>
            <a:r>
              <a:rPr lang="zh-CN" altLang="en-US" smtClean="0"/>
              <a:t>发出命令，将</a:t>
            </a:r>
            <a:r>
              <a:rPr lang="en-US" altLang="zh-CN" dirty="0" smtClean="0"/>
              <a:t>DR</a:t>
            </a:r>
            <a:r>
              <a:rPr lang="zh-CN" altLang="en-US" smtClean="0"/>
              <a:t>中的数</a:t>
            </a:r>
            <a:r>
              <a:rPr lang="en-US" altLang="zh-CN" dirty="0" smtClean="0"/>
              <a:t>100</a:t>
            </a:r>
            <a:r>
              <a:rPr lang="zh-CN" altLang="en-US" smtClean="0"/>
              <a:t>装入通用寄存器</a:t>
            </a:r>
            <a:r>
              <a:rPr lang="en-US" altLang="zh-CN" dirty="0" smtClean="0"/>
              <a:t>R1</a:t>
            </a:r>
            <a:r>
              <a:rPr lang="zh-CN" altLang="en-US" smtClean="0"/>
              <a:t>，原来</a:t>
            </a:r>
            <a:r>
              <a:rPr lang="en-US" altLang="zh-CN" dirty="0" smtClean="0"/>
              <a:t>R1</a:t>
            </a:r>
            <a:r>
              <a:rPr lang="zh-CN" altLang="en-US" smtClean="0"/>
              <a:t>中的数</a:t>
            </a:r>
            <a:r>
              <a:rPr lang="en-US" altLang="zh-CN" dirty="0" smtClean="0"/>
              <a:t>10</a:t>
            </a:r>
            <a:r>
              <a:rPr lang="zh-CN" altLang="en-US" smtClean="0"/>
              <a:t>被冲掉。至此，</a:t>
            </a:r>
            <a:r>
              <a:rPr lang="en-US" altLang="zh-CN" dirty="0" smtClean="0"/>
              <a:t>LAD</a:t>
            </a:r>
            <a:r>
              <a:rPr lang="zh-CN" altLang="en-US" smtClean="0"/>
              <a:t>指令执行周期结束。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16E25B95-F59E-4440-9D3E-B1978A3678D2}" type="slidenum">
              <a:rPr lang="en-US" altLang="zh-CN" smtClean="0"/>
              <a:pPr/>
              <a:t>19</a:t>
            </a:fld>
            <a:endParaRPr lang="en-US" altLang="zh-CN" dirty="0" smtClean="0"/>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送出控制命令到通用寄存器，选择</a:t>
            </a:r>
            <a:r>
              <a:rPr lang="en-US" altLang="zh-CN" dirty="0" smtClean="0"/>
              <a:t>R1</a:t>
            </a:r>
            <a:r>
              <a:rPr lang="zh-CN" altLang="en-US" smtClean="0"/>
              <a:t>做源寄存器，</a:t>
            </a:r>
            <a:r>
              <a:rPr lang="en-US" altLang="zh-CN" dirty="0" smtClean="0"/>
              <a:t>R2</a:t>
            </a:r>
            <a:r>
              <a:rPr lang="zh-CN" altLang="en-US" smtClean="0"/>
              <a:t>做目标寄存器；</a:t>
            </a:r>
          </a:p>
          <a:p>
            <a:pPr eaLnBrk="1" hangingPunct="1"/>
            <a:r>
              <a:rPr lang="zh-CN" altLang="en-US" smtClean="0"/>
              <a:t>② </a:t>
            </a:r>
            <a:r>
              <a:rPr lang="en-US" altLang="zh-CN" dirty="0" smtClean="0"/>
              <a:t>OC </a:t>
            </a:r>
            <a:r>
              <a:rPr lang="zh-CN" altLang="en-US" smtClean="0"/>
              <a:t>送出控制命令到</a:t>
            </a:r>
            <a:r>
              <a:rPr lang="en-US" altLang="zh-CN" dirty="0" smtClean="0"/>
              <a:t>ALU</a:t>
            </a:r>
            <a:r>
              <a:rPr lang="zh-CN" altLang="en-US" smtClean="0"/>
              <a:t>，指定</a:t>
            </a:r>
            <a:r>
              <a:rPr lang="en-US" altLang="zh-CN" dirty="0" smtClean="0"/>
              <a:t>ALU</a:t>
            </a:r>
            <a:r>
              <a:rPr lang="zh-CN" altLang="en-US" smtClean="0"/>
              <a:t>做</a:t>
            </a:r>
            <a:r>
              <a:rPr lang="en-US" altLang="zh-CN" dirty="0" smtClean="0"/>
              <a:t>R1</a:t>
            </a:r>
            <a:r>
              <a:rPr lang="zh-CN" altLang="en-US" smtClean="0"/>
              <a:t>（</a:t>
            </a:r>
            <a:r>
              <a:rPr lang="en-US" altLang="zh-CN" dirty="0" smtClean="0"/>
              <a:t>100</a:t>
            </a:r>
            <a:r>
              <a:rPr lang="zh-CN" altLang="en-US" smtClean="0"/>
              <a:t>）和</a:t>
            </a:r>
            <a:r>
              <a:rPr lang="en-US" altLang="zh-CN" dirty="0" smtClean="0"/>
              <a:t>R2</a:t>
            </a:r>
            <a:r>
              <a:rPr lang="zh-CN" altLang="en-US" smtClean="0"/>
              <a:t>（</a:t>
            </a:r>
            <a:r>
              <a:rPr lang="en-US" altLang="zh-CN" dirty="0" smtClean="0"/>
              <a:t>20</a:t>
            </a:r>
            <a:r>
              <a:rPr lang="zh-CN" altLang="en-US" smtClean="0"/>
              <a:t>）的加法操作；</a:t>
            </a:r>
          </a:p>
          <a:p>
            <a:pPr eaLnBrk="1" hangingPunct="1"/>
            <a:r>
              <a:rPr lang="zh-CN" altLang="en-US" smtClean="0"/>
              <a:t>③ </a:t>
            </a:r>
            <a:r>
              <a:rPr lang="en-US" altLang="zh-CN" dirty="0" smtClean="0"/>
              <a:t>OC</a:t>
            </a:r>
            <a:r>
              <a:rPr lang="zh-CN" altLang="en-US" smtClean="0"/>
              <a:t>送出控制命令，打开</a:t>
            </a:r>
            <a:r>
              <a:rPr lang="en-US" altLang="zh-CN" dirty="0" smtClean="0"/>
              <a:t>ALU</a:t>
            </a:r>
            <a:r>
              <a:rPr lang="zh-CN" altLang="en-US" smtClean="0"/>
              <a:t>输出三态门，运算结果</a:t>
            </a:r>
            <a:r>
              <a:rPr lang="en-US" altLang="zh-CN" dirty="0" smtClean="0"/>
              <a:t>120</a:t>
            </a:r>
            <a:r>
              <a:rPr lang="zh-CN" altLang="en-US" smtClean="0"/>
              <a:t>放到</a:t>
            </a:r>
            <a:r>
              <a:rPr lang="en-US" altLang="zh-CN" dirty="0" smtClean="0"/>
              <a:t>DBUS</a:t>
            </a:r>
            <a:r>
              <a:rPr lang="zh-CN" altLang="en-US" smtClean="0"/>
              <a:t>上；</a:t>
            </a:r>
          </a:p>
          <a:p>
            <a:pPr eaLnBrk="1" hangingPunct="1"/>
            <a:r>
              <a:rPr lang="zh-CN" altLang="en-US" smtClean="0"/>
              <a:t>④ </a:t>
            </a:r>
            <a:r>
              <a:rPr lang="en-US" altLang="zh-CN" dirty="0" smtClean="0"/>
              <a:t>OC</a:t>
            </a:r>
            <a:r>
              <a:rPr lang="zh-CN" altLang="en-US" smtClean="0"/>
              <a:t>送出控制命令，将</a:t>
            </a:r>
            <a:r>
              <a:rPr lang="en-US" altLang="zh-CN" dirty="0" smtClean="0"/>
              <a:t>DBUS</a:t>
            </a:r>
            <a:r>
              <a:rPr lang="zh-CN" altLang="en-US" smtClean="0"/>
              <a:t>上数据打入缓冲寄存器</a:t>
            </a:r>
            <a:r>
              <a:rPr lang="en-US" altLang="zh-CN" dirty="0" smtClean="0"/>
              <a:t>DR</a:t>
            </a:r>
            <a:r>
              <a:rPr lang="zh-CN" altLang="en-US" smtClean="0"/>
              <a:t>；</a:t>
            </a:r>
            <a:r>
              <a:rPr lang="en-US" altLang="zh-CN" dirty="0" smtClean="0"/>
              <a:t>ALU</a:t>
            </a:r>
            <a:r>
              <a:rPr lang="zh-CN" altLang="en-US" smtClean="0"/>
              <a:t>产生的进位信号保存状态字寄存器在</a:t>
            </a:r>
            <a:r>
              <a:rPr lang="en-US" altLang="zh-CN" dirty="0" smtClean="0"/>
              <a:t>PSW</a:t>
            </a:r>
            <a:r>
              <a:rPr lang="zh-CN" altLang="en-US" smtClean="0"/>
              <a:t>中。</a:t>
            </a:r>
          </a:p>
          <a:p>
            <a:pPr eaLnBrk="1" hangingPunct="1"/>
            <a:r>
              <a:rPr lang="zh-CN" altLang="en-US" smtClean="0"/>
              <a:t>⑤ </a:t>
            </a:r>
            <a:r>
              <a:rPr lang="en-US" altLang="zh-CN" dirty="0" smtClean="0"/>
              <a:t>OC</a:t>
            </a:r>
            <a:r>
              <a:rPr lang="zh-CN" altLang="en-US" smtClean="0"/>
              <a:t>送出控制命令，将</a:t>
            </a:r>
            <a:r>
              <a:rPr lang="en-US" altLang="zh-CN" dirty="0" smtClean="0"/>
              <a:t>〖DK</a:t>
            </a:r>
            <a:r>
              <a:rPr lang="zh-CN" altLang="en-US" smtClean="0"/>
              <a:t>（</a:t>
            </a:r>
            <a:r>
              <a:rPr lang="en-US" altLang="zh-CN" dirty="0" smtClean="0"/>
              <a:t>〗DR</a:t>
            </a:r>
            <a:r>
              <a:rPr lang="zh-CN" altLang="en-US" smtClean="0"/>
              <a:t>（</a:t>
            </a:r>
            <a:r>
              <a:rPr lang="en-US" altLang="zh-CN" dirty="0" smtClean="0"/>
              <a:t>120</a:t>
            </a:r>
            <a:r>
              <a:rPr lang="zh-CN" altLang="en-US" smtClean="0"/>
              <a:t>）</a:t>
            </a:r>
            <a:r>
              <a:rPr lang="en-US" altLang="zh-CN" dirty="0" smtClean="0"/>
              <a:t>〖DK</a:t>
            </a:r>
            <a:r>
              <a:rPr lang="zh-CN" altLang="en-US" smtClean="0"/>
              <a:t>）</a:t>
            </a:r>
            <a:r>
              <a:rPr lang="en-US" altLang="zh-CN" dirty="0" smtClean="0"/>
              <a:t>〗</a:t>
            </a:r>
            <a:r>
              <a:rPr lang="zh-CN" altLang="en-US" smtClean="0"/>
              <a:t>装入</a:t>
            </a:r>
            <a:r>
              <a:rPr lang="en-US" altLang="zh-CN" dirty="0" smtClean="0"/>
              <a:t>R2</a:t>
            </a:r>
            <a:r>
              <a:rPr lang="zh-CN" altLang="en-US" smtClean="0"/>
              <a:t>，</a:t>
            </a:r>
            <a:r>
              <a:rPr lang="en-US" altLang="zh-CN" dirty="0" smtClean="0"/>
              <a:t>R2</a:t>
            </a:r>
            <a:r>
              <a:rPr lang="zh-CN" altLang="en-US" smtClean="0"/>
              <a:t>中原来的内容</a:t>
            </a:r>
            <a:r>
              <a:rPr lang="en-US" altLang="zh-CN" dirty="0" smtClean="0"/>
              <a:t>20</a:t>
            </a:r>
            <a:r>
              <a:rPr lang="zh-CN" altLang="en-US" smtClean="0"/>
              <a:t>被冲掉。至此</a:t>
            </a:r>
            <a:r>
              <a:rPr lang="en-US" altLang="zh-CN" dirty="0" smtClean="0"/>
              <a:t>ADD</a:t>
            </a:r>
            <a:r>
              <a:rPr lang="zh-CN" altLang="en-US" smtClean="0"/>
              <a:t>指令执行周期结束。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55A5934F-D56F-48DA-B791-D72BF6981751}" type="slidenum">
              <a:rPr lang="en-US" altLang="zh-CN" smtClean="0"/>
              <a:pPr/>
              <a:t>21</a:t>
            </a:fld>
            <a:endParaRPr lang="en-US" altLang="zh-CN" dirty="0" smtClean="0"/>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pPr eaLnBrk="1" hangingPunct="1"/>
            <a:r>
              <a:rPr lang="en-US" altLang="zh-CN" dirty="0" smtClean="0"/>
              <a:t>① </a:t>
            </a:r>
            <a:r>
              <a:rPr lang="zh-CN" altLang="en-US" smtClean="0"/>
              <a:t>操作控制器</a:t>
            </a:r>
            <a:r>
              <a:rPr lang="en-US" altLang="zh-CN" dirty="0" smtClean="0"/>
              <a:t>OC</a:t>
            </a:r>
            <a:r>
              <a:rPr lang="zh-CN" altLang="en-US" smtClean="0"/>
              <a:t>送出操作命令到通用寄存器，选择</a:t>
            </a:r>
            <a:r>
              <a:rPr lang="en-US" altLang="zh-CN" dirty="0" smtClean="0"/>
              <a:t>〖DK</a:t>
            </a:r>
            <a:r>
              <a:rPr lang="zh-CN" altLang="en-US" smtClean="0"/>
              <a:t>（</a:t>
            </a:r>
            <a:r>
              <a:rPr lang="en-US" altLang="zh-CN" dirty="0" smtClean="0"/>
              <a:t>〗</a:t>
            </a:r>
            <a:r>
              <a:rPr lang="zh-CN" altLang="en-US" smtClean="0"/>
              <a:t>（</a:t>
            </a:r>
            <a:r>
              <a:rPr lang="en-US" altLang="zh-CN" dirty="0" smtClean="0"/>
              <a:t>R3</a:t>
            </a:r>
            <a:r>
              <a:rPr lang="zh-CN" altLang="en-US" smtClean="0"/>
              <a:t>）</a:t>
            </a:r>
            <a:r>
              <a:rPr lang="en-US" altLang="zh-CN" dirty="0" smtClean="0"/>
              <a:t>=30〖DK</a:t>
            </a:r>
            <a:r>
              <a:rPr lang="zh-CN" altLang="en-US" smtClean="0"/>
              <a:t>）</a:t>
            </a:r>
            <a:r>
              <a:rPr lang="en-US" altLang="zh-CN" dirty="0" smtClean="0"/>
              <a:t>〗</a:t>
            </a:r>
            <a:r>
              <a:rPr lang="zh-CN" altLang="en-US" smtClean="0"/>
              <a:t>做数据存储器的地址单元；</a:t>
            </a:r>
          </a:p>
          <a:p>
            <a:pPr eaLnBrk="1" hangingPunct="1"/>
            <a:r>
              <a:rPr lang="zh-CN" altLang="en-US" smtClean="0"/>
              <a:t>② </a:t>
            </a:r>
            <a:r>
              <a:rPr lang="en-US" altLang="zh-CN" dirty="0" smtClean="0"/>
              <a:t>OC</a:t>
            </a:r>
            <a:r>
              <a:rPr lang="zh-CN" altLang="en-US" smtClean="0"/>
              <a:t>发出操作命令，打开通用寄存器输出三态门</a:t>
            </a:r>
            <a:r>
              <a:rPr lang="en-US" altLang="zh-CN" dirty="0" smtClean="0"/>
              <a:t>〖DK</a:t>
            </a:r>
            <a:r>
              <a:rPr lang="zh-CN" altLang="en-US" smtClean="0"/>
              <a:t>（</a:t>
            </a:r>
            <a:r>
              <a:rPr lang="en-US" altLang="zh-CN" dirty="0" smtClean="0"/>
              <a:t>〗</a:t>
            </a:r>
            <a:r>
              <a:rPr lang="zh-CN" altLang="en-US" smtClean="0"/>
              <a:t>（不经</a:t>
            </a:r>
            <a:r>
              <a:rPr lang="en-US" altLang="zh-CN" dirty="0" smtClean="0"/>
              <a:t>ALU</a:t>
            </a:r>
            <a:r>
              <a:rPr lang="zh-CN" altLang="en-US" smtClean="0"/>
              <a:t>以节省时间）</a:t>
            </a:r>
            <a:r>
              <a:rPr lang="en-US" altLang="zh-CN" dirty="0" smtClean="0"/>
              <a:t>〖DK</a:t>
            </a:r>
            <a:r>
              <a:rPr lang="zh-CN" altLang="en-US" smtClean="0"/>
              <a:t>）</a:t>
            </a:r>
            <a:r>
              <a:rPr lang="en-US" altLang="zh-CN" dirty="0" smtClean="0"/>
              <a:t>〗</a:t>
            </a:r>
            <a:r>
              <a:rPr lang="zh-CN" altLang="en-US" smtClean="0"/>
              <a:t>，将地址</a:t>
            </a:r>
            <a:r>
              <a:rPr lang="en-US" altLang="zh-CN" dirty="0" smtClean="0"/>
              <a:t>30</a:t>
            </a:r>
            <a:r>
              <a:rPr lang="zh-CN" altLang="en-US" smtClean="0"/>
              <a:t>放到</a:t>
            </a:r>
            <a:r>
              <a:rPr lang="en-US" altLang="zh-CN" dirty="0" smtClean="0"/>
              <a:t>DBUS</a:t>
            </a:r>
            <a:r>
              <a:rPr lang="zh-CN" altLang="en-US" smtClean="0"/>
              <a:t>上；</a:t>
            </a:r>
          </a:p>
          <a:p>
            <a:pPr eaLnBrk="1" hangingPunct="1"/>
            <a:r>
              <a:rPr lang="zh-CN" altLang="en-US" smtClean="0"/>
              <a:t>③ </a:t>
            </a:r>
            <a:r>
              <a:rPr lang="en-US" altLang="zh-CN" dirty="0" smtClean="0"/>
              <a:t>OC</a:t>
            </a:r>
            <a:r>
              <a:rPr lang="zh-CN" altLang="en-US" smtClean="0"/>
              <a:t>发出操作命令，将地址</a:t>
            </a:r>
            <a:r>
              <a:rPr lang="en-US" altLang="zh-CN" dirty="0" smtClean="0"/>
              <a:t>30</a:t>
            </a:r>
            <a:r>
              <a:rPr lang="zh-CN" altLang="en-US" smtClean="0"/>
              <a:t>打入</a:t>
            </a:r>
            <a:r>
              <a:rPr lang="en-US" altLang="zh-CN" dirty="0" smtClean="0"/>
              <a:t>AR</a:t>
            </a:r>
            <a:r>
              <a:rPr lang="zh-CN" altLang="en-US" smtClean="0"/>
              <a:t>，并进行数存地址译码；</a:t>
            </a:r>
          </a:p>
          <a:p>
            <a:pPr eaLnBrk="1" hangingPunct="1"/>
            <a:r>
              <a:rPr lang="zh-CN" altLang="en-US" smtClean="0"/>
              <a:t>④ </a:t>
            </a:r>
            <a:r>
              <a:rPr lang="en-US" altLang="zh-CN" dirty="0" smtClean="0"/>
              <a:t>OC</a:t>
            </a:r>
            <a:r>
              <a:rPr lang="zh-CN" altLang="en-US" smtClean="0"/>
              <a:t>发出操作命令到通用寄存器，选择</a:t>
            </a:r>
            <a:r>
              <a:rPr lang="en-US" altLang="zh-CN" dirty="0" smtClean="0"/>
              <a:t>〖DK</a:t>
            </a:r>
            <a:r>
              <a:rPr lang="zh-CN" altLang="en-US" smtClean="0"/>
              <a:t>（</a:t>
            </a:r>
            <a:r>
              <a:rPr lang="en-US" altLang="zh-CN" dirty="0" smtClean="0"/>
              <a:t>〗</a:t>
            </a:r>
            <a:r>
              <a:rPr lang="zh-CN" altLang="en-US" smtClean="0"/>
              <a:t>（</a:t>
            </a:r>
            <a:r>
              <a:rPr lang="en-US" altLang="zh-CN" dirty="0" smtClean="0"/>
              <a:t>R2</a:t>
            </a:r>
            <a:r>
              <a:rPr lang="zh-CN" altLang="en-US" smtClean="0"/>
              <a:t>）</a:t>
            </a:r>
            <a:r>
              <a:rPr lang="en-US" altLang="zh-CN" dirty="0" smtClean="0"/>
              <a:t>=120〖DK</a:t>
            </a:r>
            <a:r>
              <a:rPr lang="zh-CN" altLang="en-US" smtClean="0"/>
              <a:t>）</a:t>
            </a:r>
            <a:r>
              <a:rPr lang="en-US" altLang="zh-CN" dirty="0" smtClean="0"/>
              <a:t>〗</a:t>
            </a:r>
            <a:r>
              <a:rPr lang="zh-CN" altLang="en-US" smtClean="0"/>
              <a:t>，作为数存的写入数据；</a:t>
            </a:r>
          </a:p>
          <a:p>
            <a:pPr eaLnBrk="1" hangingPunct="1"/>
            <a:r>
              <a:rPr lang="zh-CN" altLang="en-US" smtClean="0"/>
              <a:t>⑤ </a:t>
            </a:r>
            <a:r>
              <a:rPr lang="en-US" altLang="zh-CN" dirty="0" smtClean="0"/>
              <a:t>OC</a:t>
            </a:r>
            <a:r>
              <a:rPr lang="zh-CN" altLang="en-US" smtClean="0"/>
              <a:t>发出操作命令，打开通用寄存器输出三态门，将数据</a:t>
            </a:r>
            <a:r>
              <a:rPr lang="en-US" altLang="zh-CN" dirty="0" smtClean="0"/>
              <a:t>120</a:t>
            </a:r>
            <a:r>
              <a:rPr lang="zh-CN" altLang="en-US" smtClean="0"/>
              <a:t>放到</a:t>
            </a:r>
            <a:r>
              <a:rPr lang="en-US" altLang="zh-CN" dirty="0" smtClean="0"/>
              <a:t>DBUS</a:t>
            </a:r>
            <a:r>
              <a:rPr lang="zh-CN" altLang="en-US" smtClean="0"/>
              <a:t>上。</a:t>
            </a:r>
          </a:p>
          <a:p>
            <a:pPr eaLnBrk="1" hangingPunct="1"/>
            <a:r>
              <a:rPr lang="zh-CN" altLang="en-US" smtClean="0"/>
              <a:t>⑥ </a:t>
            </a:r>
            <a:r>
              <a:rPr lang="en-US" altLang="zh-CN" dirty="0" smtClean="0"/>
              <a:t>OC</a:t>
            </a:r>
            <a:r>
              <a:rPr lang="zh-CN" altLang="en-US" smtClean="0"/>
              <a:t>发出操作命令，将数据</a:t>
            </a:r>
            <a:r>
              <a:rPr lang="en-US" altLang="zh-CN" dirty="0" smtClean="0"/>
              <a:t>120</a:t>
            </a:r>
            <a:r>
              <a:rPr lang="zh-CN" altLang="en-US" smtClean="0"/>
              <a:t>写入数存</a:t>
            </a:r>
            <a:r>
              <a:rPr lang="en-US" altLang="zh-CN" dirty="0" smtClean="0"/>
              <a:t>30</a:t>
            </a:r>
            <a:r>
              <a:rPr lang="zh-CN" altLang="en-US" smtClean="0"/>
              <a:t>号单元，它原先的数据</a:t>
            </a:r>
            <a:r>
              <a:rPr lang="en-US" altLang="zh-CN" dirty="0" smtClean="0"/>
              <a:t>40</a:t>
            </a:r>
            <a:r>
              <a:rPr lang="zh-CN" altLang="en-US" smtClean="0"/>
              <a:t>被冲掉。至此，</a:t>
            </a:r>
            <a:r>
              <a:rPr lang="en-US" altLang="zh-CN" dirty="0" smtClean="0"/>
              <a:t>STO</a:t>
            </a:r>
            <a:r>
              <a:rPr lang="zh-CN" altLang="en-US" smtClean="0"/>
              <a:t>指令执行周期结束。</a:t>
            </a:r>
          </a:p>
          <a:p>
            <a:pPr eaLnBrk="1" hangingPunct="1"/>
            <a:endParaRPr lang="en-US" altLang="zh-CN"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932F4B9B-DDD0-466B-BBE9-197E3664EB4E}" type="slidenum">
              <a:rPr lang="en-US" altLang="zh-CN" smtClean="0"/>
              <a:pPr/>
              <a:t>23</a:t>
            </a:fld>
            <a:endParaRPr lang="en-US" altLang="zh-CN" dirty="0" smtClean="0"/>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pPr eaLnBrk="1" hangingPunct="1"/>
            <a:r>
              <a:rPr lang="en-US" altLang="zh-CN" dirty="0" smtClean="0"/>
              <a:t>① OC</a:t>
            </a:r>
            <a:r>
              <a:rPr lang="zh-CN" altLang="en-US" smtClean="0"/>
              <a:t>发生操作控制命令，打开指令寄存器</a:t>
            </a:r>
            <a:r>
              <a:rPr lang="en-US" altLang="zh-CN" dirty="0" smtClean="0"/>
              <a:t>IR</a:t>
            </a:r>
            <a:r>
              <a:rPr lang="zh-CN" altLang="en-US" smtClean="0"/>
              <a:t>的输出三态门，将</a:t>
            </a:r>
            <a:r>
              <a:rPr lang="en-US" altLang="zh-CN" dirty="0" smtClean="0"/>
              <a:t>IR</a:t>
            </a:r>
            <a:r>
              <a:rPr lang="zh-CN" altLang="en-US" smtClean="0"/>
              <a:t>中的地址码</a:t>
            </a:r>
            <a:r>
              <a:rPr lang="en-US" altLang="zh-CN" dirty="0" smtClean="0"/>
              <a:t>101</a:t>
            </a:r>
            <a:r>
              <a:rPr lang="zh-CN" altLang="en-US" smtClean="0"/>
              <a:t>发送到</a:t>
            </a:r>
            <a:r>
              <a:rPr lang="en-US" altLang="zh-CN" dirty="0" smtClean="0"/>
              <a:t>DBUS</a:t>
            </a:r>
            <a:r>
              <a:rPr lang="zh-CN" altLang="en-US" smtClean="0"/>
              <a:t>上；</a:t>
            </a:r>
          </a:p>
          <a:p>
            <a:pPr eaLnBrk="1" hangingPunct="1"/>
            <a:r>
              <a:rPr lang="zh-CN" altLang="en-US" smtClean="0"/>
              <a:t>② </a:t>
            </a:r>
            <a:r>
              <a:rPr lang="en-US" altLang="zh-CN" dirty="0" smtClean="0"/>
              <a:t>CC</a:t>
            </a:r>
            <a:r>
              <a:rPr lang="zh-CN" altLang="en-US" smtClean="0"/>
              <a:t>发出操作控制命令，将</a:t>
            </a:r>
            <a:r>
              <a:rPr lang="en-US" altLang="zh-CN" dirty="0" smtClean="0"/>
              <a:t>DBUS</a:t>
            </a:r>
            <a:r>
              <a:rPr lang="zh-CN" altLang="en-US" smtClean="0"/>
              <a:t>上的地址码</a:t>
            </a:r>
            <a:r>
              <a:rPr lang="en-US" altLang="zh-CN" dirty="0" smtClean="0"/>
              <a:t>101</a:t>
            </a:r>
            <a:r>
              <a:rPr lang="zh-CN" altLang="en-US" smtClean="0"/>
              <a:t>打入到程序计数器</a:t>
            </a:r>
            <a:r>
              <a:rPr lang="en-US" altLang="zh-CN" dirty="0" smtClean="0"/>
              <a:t>PC</a:t>
            </a:r>
            <a:r>
              <a:rPr lang="zh-CN" altLang="en-US" smtClean="0"/>
              <a:t>中，</a:t>
            </a:r>
            <a:r>
              <a:rPr lang="en-US" altLang="zh-CN" dirty="0" smtClean="0"/>
              <a:t>PC</a:t>
            </a:r>
            <a:r>
              <a:rPr lang="zh-CN" altLang="en-US" smtClean="0"/>
              <a:t>中的原先内容</a:t>
            </a:r>
            <a:r>
              <a:rPr lang="en-US" altLang="zh-CN" dirty="0" smtClean="0"/>
              <a:t>106</a:t>
            </a:r>
            <a:r>
              <a:rPr lang="zh-CN" altLang="en-US" smtClean="0"/>
              <a:t>被更换。于是下一条指令不是从</a:t>
            </a:r>
            <a:r>
              <a:rPr lang="en-US" altLang="zh-CN" dirty="0" smtClean="0"/>
              <a:t>106</a:t>
            </a:r>
            <a:r>
              <a:rPr lang="zh-CN" altLang="en-US" smtClean="0"/>
              <a:t>号单元取出，而是转移到</a:t>
            </a:r>
            <a:r>
              <a:rPr lang="en-US" altLang="zh-CN" dirty="0" smtClean="0"/>
              <a:t>101</a:t>
            </a:r>
            <a:r>
              <a:rPr lang="zh-CN" altLang="en-US" smtClean="0"/>
              <a:t>号单元取出。至此</a:t>
            </a:r>
            <a:r>
              <a:rPr lang="en-US" altLang="zh-CN" dirty="0" smtClean="0"/>
              <a:t>JMP</a:t>
            </a:r>
            <a:r>
              <a:rPr lang="zh-CN" altLang="en-US" smtClean="0"/>
              <a:t>指令执行周期结束。</a:t>
            </a:r>
          </a:p>
          <a:p>
            <a:pPr eaLnBrk="1" hangingPunct="1"/>
            <a:endParaRPr lang="en-US" altLang="zh-CN"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7E38801-EBE7-461F-B1C2-D426589C2BE1}" type="slidenum">
              <a:rPr lang="en-US" altLang="zh-CN" smtClean="0"/>
              <a:pPr>
                <a:defRPr/>
              </a:pPr>
              <a:t>35</a:t>
            </a:fld>
            <a:endParaRPr lang="en-US" altLang="zh-CN"/>
          </a:p>
        </p:txBody>
      </p:sp>
    </p:spTree>
    <p:extLst>
      <p:ext uri="{BB962C8B-B14F-4D97-AF65-F5344CB8AC3E}">
        <p14:creationId xmlns:p14="http://schemas.microsoft.com/office/powerpoint/2010/main" val="552599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07F043C5-3F5D-4E13-B6B9-E380F60FA613}" type="slidenum">
              <a:rPr lang="en-US" altLang="zh-CN" smtClean="0"/>
              <a:pPr/>
              <a:t>47</a:t>
            </a:fld>
            <a:endParaRPr lang="en-US" altLang="zh-CN" smtClean="0"/>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EFA682D0-9416-4183-B5DD-3A9023350FC1}" type="slidenum">
              <a:rPr lang="en-US" altLang="zh-CN" smtClean="0"/>
              <a:pPr/>
              <a:t>87</a:t>
            </a:fld>
            <a:endParaRPr lang="en-US" altLang="zh-CN" smtClean="0"/>
          </a:p>
        </p:txBody>
      </p:sp>
      <p:sp>
        <p:nvSpPr>
          <p:cNvPr id="207875" name="Rectangle 2"/>
          <p:cNvSpPr>
            <a:spLocks noGrp="1" noRot="1" noChangeAspect="1" noChangeArrowheads="1" noTextEdit="1"/>
          </p:cNvSpPr>
          <p:nvPr>
            <p:ph type="sldImg"/>
          </p:nvPr>
        </p:nvSpPr>
        <p:spPr>
          <a:solidFill>
            <a:srgbClr val="FFFFFF"/>
          </a:solidFill>
          <a:ln/>
        </p:spPr>
      </p:sp>
      <p:sp>
        <p:nvSpPr>
          <p:cNvPr id="20787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 </a:t>
            </a:r>
            <a:r>
              <a:rPr lang="zh-CN" altLang="en-US" smtClean="0"/>
              <a:t>每条机器指令对应一段微程序，当公用的取指微程序从主存中取出机器指令之后，由机器指令的操作码字段指出各段微程序的入口地址，这是一种多分支</a:t>
            </a:r>
            <a:r>
              <a:rPr lang="en-US" altLang="zh-CN" smtClean="0"/>
              <a:t>(</a:t>
            </a:r>
            <a:r>
              <a:rPr lang="zh-CN" altLang="en-US" smtClean="0"/>
              <a:t>或多路转移</a:t>
            </a:r>
            <a:r>
              <a:rPr lang="en-US" altLang="zh-CN" smtClean="0"/>
              <a:t>)</a:t>
            </a:r>
            <a:r>
              <a:rPr lang="zh-CN" altLang="en-US" smtClean="0"/>
              <a:t>的情况，由机器指令的操作码转换成初始微地址的方式主要有两种。</a:t>
            </a:r>
          </a:p>
          <a:p>
            <a:pPr eaLnBrk="1" hangingPunct="1"/>
            <a:r>
              <a:rPr lang="zh-CN" altLang="en-US" smtClean="0"/>
              <a:t>计数器的方式</a:t>
            </a:r>
          </a:p>
          <a:p>
            <a:pPr eaLnBrk="1" hangingPunct="1"/>
            <a:r>
              <a:rPr lang="zh-CN" altLang="en-US" smtClean="0"/>
              <a:t>多路转移的方式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E65DCF89-1BE7-44A9-9115-F7CB7282AA47}" type="slidenum">
              <a:rPr lang="en-US" altLang="zh-CN" smtClean="0"/>
              <a:pPr/>
              <a:t>89</a:t>
            </a:fld>
            <a:endParaRPr lang="en-US" altLang="zh-CN" smtClean="0"/>
          </a:p>
        </p:txBody>
      </p:sp>
      <p:sp>
        <p:nvSpPr>
          <p:cNvPr id="208899" name="Rectangle 2"/>
          <p:cNvSpPr>
            <a:spLocks noGrp="1" noRot="1" noChangeAspect="1" noChangeArrowheads="1" noTextEdit="1"/>
          </p:cNvSpPr>
          <p:nvPr>
            <p:ph type="sldImg"/>
          </p:nvPr>
        </p:nvSpPr>
        <p:spPr>
          <a:solidFill>
            <a:srgbClr val="FFFFFF"/>
          </a:solidFill>
          <a:ln/>
        </p:spPr>
      </p:sp>
      <p:sp>
        <p:nvSpPr>
          <p:cNvPr id="208900" name="Rectangle 3"/>
          <p:cNvSpPr>
            <a:spLocks noGrp="1" noChangeArrowheads="1"/>
          </p:cNvSpPr>
          <p:nvPr>
            <p:ph type="body" idx="1"/>
          </p:nvPr>
        </p:nvSpPr>
        <p:spPr>
          <a:solidFill>
            <a:srgbClr val="FFFFFF"/>
          </a:solidFill>
          <a:ln>
            <a:solidFill>
              <a:srgbClr val="000000"/>
            </a:solidFill>
          </a:ln>
        </p:spPr>
        <p:txBody>
          <a:bodyPr/>
          <a:lstStyle/>
          <a:p>
            <a:pPr lvl="1" eaLnBrk="1" hangingPunct="1"/>
            <a:r>
              <a:rPr lang="zh-CN" altLang="en-US" smtClean="0"/>
              <a:t>后继微地址可由微程序设计者指定，或者根据微指令所规定的测试结果直接决定后继微地址的全部或部分值。</a:t>
            </a:r>
          </a:p>
          <a:p>
            <a:pPr lvl="1" eaLnBrk="1" hangingPunct="1"/>
            <a:r>
              <a:rPr lang="zh-CN" altLang="en-US" smtClean="0"/>
              <a:t>测试段如果只有一位，则微地址将产生两个分支，若有两位，则最多可产生四个分支，依此类推，测试段为</a:t>
            </a:r>
            <a:r>
              <a:rPr lang="en-US" altLang="zh-CN" smtClean="0"/>
              <a:t>n</a:t>
            </a:r>
            <a:r>
              <a:rPr lang="zh-CN" altLang="en-US" smtClean="0"/>
              <a:t>位最多可产生</a:t>
            </a:r>
            <a:r>
              <a:rPr lang="en-US" altLang="zh-CN" smtClean="0"/>
              <a:t>2</a:t>
            </a:r>
            <a:r>
              <a:rPr lang="en-US" altLang="zh-CN" baseline="30000" smtClean="0"/>
              <a:t>n</a:t>
            </a:r>
            <a:r>
              <a:rPr lang="zh-CN" altLang="en-US" smtClean="0"/>
              <a:t>个分支。</a:t>
            </a:r>
          </a:p>
          <a:p>
            <a:pPr lvl="1" eaLnBrk="1" hangingPunct="1"/>
            <a:endParaRPr lang="zh-CN" altLang="en-US" smtClean="0"/>
          </a:p>
          <a:p>
            <a:pPr lvl="1" eaLnBrk="1" hangingPunct="1"/>
            <a:endParaRPr lang="zh-CN" altLang="en-US" smtClean="0"/>
          </a:p>
          <a:p>
            <a:pPr eaLnBrk="1" hangingPunct="1"/>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8E45C6C0-D9C0-40D5-8C5B-8BAE0B387B63}" type="slidenum">
              <a:rPr lang="en-US" altLang="zh-CN" smtClean="0"/>
              <a:pPr/>
              <a:t>92</a:t>
            </a:fld>
            <a:endParaRPr lang="en-US" altLang="zh-CN" smtClean="0"/>
          </a:p>
        </p:txBody>
      </p:sp>
      <p:sp>
        <p:nvSpPr>
          <p:cNvPr id="209923" name="Rectangle 2"/>
          <p:cNvSpPr>
            <a:spLocks noGrp="1" noRot="1" noChangeAspect="1" noChangeArrowheads="1" noTextEdit="1"/>
          </p:cNvSpPr>
          <p:nvPr>
            <p:ph type="sldImg"/>
          </p:nvPr>
        </p:nvSpPr>
        <p:spPr>
          <a:solidFill>
            <a:srgbClr val="FFFFFF"/>
          </a:solidFill>
          <a:ln/>
        </p:spPr>
      </p:sp>
      <p:sp>
        <p:nvSpPr>
          <p:cNvPr id="209924" name="Rectangle 3"/>
          <p:cNvSpPr>
            <a:spLocks noGrp="1" noChangeArrowheads="1"/>
          </p:cNvSpPr>
          <p:nvPr>
            <p:ph type="body" idx="1"/>
          </p:nvPr>
        </p:nvSpPr>
        <p:spPr>
          <a:solidFill>
            <a:srgbClr val="FFFFFF"/>
          </a:solidFill>
          <a:ln>
            <a:solidFill>
              <a:srgbClr val="000000"/>
            </a:solidFill>
          </a:ln>
        </p:spPr>
        <p:txBody>
          <a:bodyPr/>
          <a:lstStyle/>
          <a:p>
            <a:pPr lvl="2" eaLnBrk="1" hangingPunct="1">
              <a:lnSpc>
                <a:spcPct val="90000"/>
              </a:lnSpc>
              <a:buFont typeface="Wingdings" pitchFamily="2" charset="2"/>
              <a:buNone/>
            </a:pPr>
            <a:r>
              <a:rPr lang="zh-CN" altLang="en-US" sz="1400" smtClean="0"/>
              <a:t>微指令字较长。一般为几十位到</a:t>
            </a:r>
            <a:r>
              <a:rPr lang="en-US" altLang="zh-CN" sz="1400" smtClean="0"/>
              <a:t>100</a:t>
            </a:r>
            <a:r>
              <a:rPr lang="zh-CN" altLang="en-US" sz="1400" smtClean="0"/>
              <a:t>位左右，有的长达</a:t>
            </a:r>
            <a:r>
              <a:rPr lang="en-US" altLang="zh-CN" sz="1400" smtClean="0"/>
              <a:t>200</a:t>
            </a:r>
            <a:r>
              <a:rPr lang="zh-CN" altLang="en-US" sz="1400" smtClean="0"/>
              <a:t>多位。一般来说，机器规模越大，速度越快，采用的微指令字就越长。</a:t>
            </a:r>
          </a:p>
          <a:p>
            <a:pPr lvl="2" eaLnBrk="1" hangingPunct="1">
              <a:lnSpc>
                <a:spcPct val="90000"/>
              </a:lnSpc>
              <a:buFont typeface="Wingdings" pitchFamily="2" charset="2"/>
              <a:buNone/>
            </a:pPr>
            <a:r>
              <a:rPr lang="zh-CN" altLang="en-US" sz="1400" smtClean="0"/>
              <a:t>微指令中的微操作有高度的并行性，即在一个微周期中，一次能并行执行多个微命令，因而能充分发挥数据通路并行结构的并行操作能力。</a:t>
            </a:r>
          </a:p>
          <a:p>
            <a:pPr lvl="2" eaLnBrk="1" hangingPunct="1">
              <a:lnSpc>
                <a:spcPct val="90000"/>
              </a:lnSpc>
              <a:buFont typeface="Wingdings" pitchFamily="2" charset="2"/>
              <a:buNone/>
            </a:pPr>
            <a:r>
              <a:rPr lang="zh-CN" altLang="en-US" sz="1400" smtClean="0"/>
              <a:t>微指令译码简单，一般采用直接控制编码法和分段直接编码法，微指令与数据通路各控制点之间有较直接的对应关系。</a:t>
            </a:r>
          </a:p>
          <a:p>
            <a:pPr lvl="2" eaLnBrk="1" hangingPunct="1">
              <a:lnSpc>
                <a:spcPct val="90000"/>
              </a:lnSpc>
              <a:buFont typeface="Wingdings" pitchFamily="2" charset="2"/>
              <a:buNone/>
            </a:pPr>
            <a:r>
              <a:rPr lang="zh-CN" altLang="en-US" sz="1400" smtClean="0"/>
              <a:t>设计由于微指令的并行操作能力强，效率高，编制的微程序比较短</a:t>
            </a:r>
          </a:p>
          <a:p>
            <a:pPr lvl="2" eaLnBrk="1" hangingPunct="1">
              <a:lnSpc>
                <a:spcPct val="90000"/>
              </a:lnSpc>
              <a:buFont typeface="Wingdings" pitchFamily="2" charset="2"/>
              <a:buNone/>
            </a:pPr>
            <a:r>
              <a:rPr lang="zh-CN" altLang="en-US" sz="1400" smtClean="0"/>
              <a:t>微程序的执行速度比较快，控制存储器的纵向容量小，灵活性强。</a:t>
            </a:r>
          </a:p>
          <a:p>
            <a:pPr lvl="2" eaLnBrk="1" hangingPunct="1">
              <a:lnSpc>
                <a:spcPct val="90000"/>
              </a:lnSpc>
              <a:buFont typeface="Wingdings" pitchFamily="2" charset="2"/>
              <a:buNone/>
            </a:pPr>
            <a:r>
              <a:rPr lang="zh-CN" altLang="en-US" sz="1400" smtClean="0"/>
              <a:t>缺点是微指令字比较长，明显地增加了控制存储器的横向容量</a:t>
            </a:r>
          </a:p>
          <a:p>
            <a:pPr lvl="2" eaLnBrk="1" hangingPunct="1">
              <a:lnSpc>
                <a:spcPct val="90000"/>
              </a:lnSpc>
              <a:buFont typeface="Wingdings" pitchFamily="2" charset="2"/>
              <a:buNone/>
            </a:pPr>
            <a:r>
              <a:rPr lang="zh-CN" altLang="en-US" sz="1400" smtClean="0"/>
              <a:t>水平微指令与机器指令差别很大，一般要熟悉机器结构、数据通路、时序系统以及指令执行过程的人才能进行微程序设计，这对用户来说是很困难的。</a:t>
            </a:r>
          </a:p>
          <a:p>
            <a:pPr eaLnBrk="1" hangingPunct="1">
              <a:lnSpc>
                <a:spcPct val="90000"/>
              </a:lnSpc>
            </a:pPr>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F7C42BF3-241B-4909-99C0-366F56711405}" type="slidenum">
              <a:rPr lang="en-US" altLang="zh-CN" smtClean="0"/>
              <a:pPr/>
              <a:t>96</a:t>
            </a:fld>
            <a:endParaRPr lang="en-US" altLang="zh-CN" smtClean="0"/>
          </a:p>
        </p:txBody>
      </p:sp>
      <p:sp>
        <p:nvSpPr>
          <p:cNvPr id="210947" name="Rectangle 2"/>
          <p:cNvSpPr>
            <a:spLocks noGrp="1" noRot="1" noChangeAspect="1" noChangeArrowheads="1" noTextEdit="1"/>
          </p:cNvSpPr>
          <p:nvPr>
            <p:ph type="sldImg"/>
          </p:nvPr>
        </p:nvSpPr>
        <p:spPr>
          <a:solidFill>
            <a:srgbClr val="FFFFFF"/>
          </a:solidFill>
          <a:ln/>
        </p:spPr>
      </p:sp>
      <p:sp>
        <p:nvSpPr>
          <p:cNvPr id="210948" name="Rectangle 3"/>
          <p:cNvSpPr>
            <a:spLocks noGrp="1" noChangeArrowheads="1"/>
          </p:cNvSpPr>
          <p:nvPr>
            <p:ph type="body" idx="1"/>
          </p:nvPr>
        </p:nvSpPr>
        <p:spPr>
          <a:solidFill>
            <a:srgbClr val="FFFFFF"/>
          </a:solidFill>
          <a:ln>
            <a:solidFill>
              <a:srgbClr val="000000"/>
            </a:solidFill>
          </a:ln>
        </p:spPr>
        <p:txBody>
          <a:bodyPr/>
          <a:lstStyle/>
          <a:p>
            <a:pPr lvl="2" eaLnBrk="1" hangingPunct="1"/>
            <a:r>
              <a:rPr lang="zh-CN" altLang="en-US" sz="1100" smtClean="0"/>
              <a:t>微指令字短，一般为</a:t>
            </a:r>
            <a:r>
              <a:rPr lang="en-US" altLang="zh-CN" sz="1100" smtClean="0"/>
              <a:t>10</a:t>
            </a:r>
            <a:r>
              <a:rPr lang="zh-CN" altLang="en-US" sz="1100" smtClean="0"/>
              <a:t>～</a:t>
            </a:r>
            <a:r>
              <a:rPr lang="en-US" altLang="zh-CN" sz="1100" smtClean="0"/>
              <a:t>20</a:t>
            </a:r>
            <a:r>
              <a:rPr lang="zh-CN" altLang="en-US" sz="1100" smtClean="0"/>
              <a:t>位左右。</a:t>
            </a:r>
          </a:p>
          <a:p>
            <a:pPr lvl="2" eaLnBrk="1" hangingPunct="1"/>
            <a:r>
              <a:rPr lang="zh-CN" altLang="en-US" sz="1100" smtClean="0"/>
              <a:t>微指令的并行微操作能力有限，一条微指令一般只包含一个微操作命令。</a:t>
            </a:r>
          </a:p>
          <a:p>
            <a:pPr lvl="2" eaLnBrk="1" hangingPunct="1"/>
            <a:r>
              <a:rPr lang="zh-CN" altLang="en-US" sz="1100" smtClean="0"/>
              <a:t>微指令译码比较复杂。全部微命令用一个微操作控制字段进行编码，微指令执行时需行完全译码。</a:t>
            </a:r>
          </a:p>
          <a:p>
            <a:pPr lvl="2" eaLnBrk="1" hangingPunct="1"/>
            <a:r>
              <a:rPr lang="zh-CN" altLang="en-US" smtClean="0"/>
              <a:t>设计用户只需注意微指令的功能，而对微命令及其选择、数据通路的结构则不用过多地考虑，因此，便于用户编制微程序。而且，编制的微程序规整、直观，便于实现设计的自动化。</a:t>
            </a:r>
          </a:p>
          <a:p>
            <a:pPr lvl="2" eaLnBrk="1" hangingPunct="1"/>
            <a:r>
              <a:rPr lang="zh-CN" altLang="en-US" smtClean="0"/>
              <a:t>垂直微指令字较短，使控制存储器的横向容量少。</a:t>
            </a:r>
          </a:p>
          <a:p>
            <a:pPr lvl="2" eaLnBrk="1" hangingPunct="1"/>
            <a:r>
              <a:rPr lang="zh-CN" altLang="en-US" smtClean="0"/>
              <a:t>用垂直微指令编制微程序要使用较多的微指令，微程序较长；要求控制存储器的纵向容量大。垂直微指令产生微命令要经过译码，微程序执行速度慢。</a:t>
            </a:r>
          </a:p>
          <a:p>
            <a:pPr lvl="2" eaLnBrk="1" hangingPunct="1"/>
            <a:r>
              <a:rPr lang="zh-CN" altLang="en-US" smtClean="0"/>
              <a:t>不能充分利用数据通路具有多种并行操作能力</a:t>
            </a:r>
          </a:p>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幻灯片图像占位符 1"/>
          <p:cNvSpPr>
            <a:spLocks noGrp="1" noRot="1" noChangeAspect="1" noTextEdit="1"/>
          </p:cNvSpPr>
          <p:nvPr>
            <p:ph type="sldImg"/>
          </p:nvPr>
        </p:nvSpPr>
        <p:spPr>
          <a:ln/>
        </p:spPr>
      </p:sp>
      <p:sp>
        <p:nvSpPr>
          <p:cNvPr id="205827" name="备注占位符 2"/>
          <p:cNvSpPr>
            <a:spLocks noGrp="1"/>
          </p:cNvSpPr>
          <p:nvPr>
            <p:ph type="body" idx="1"/>
          </p:nvPr>
        </p:nvSpPr>
        <p:spPr>
          <a:noFill/>
          <a:ln/>
        </p:spPr>
        <p:txBody>
          <a:bodyPr/>
          <a:lstStyle/>
          <a:p>
            <a:r>
              <a:rPr lang="en-US" altLang="zh-CN" dirty="0" smtClean="0"/>
              <a:t>R1</a:t>
            </a:r>
            <a:endParaRPr lang="zh-CN" altLang="en-US" dirty="0" smtClean="0"/>
          </a:p>
        </p:txBody>
      </p:sp>
      <p:sp>
        <p:nvSpPr>
          <p:cNvPr id="205828" name="灯片编号占位符 3"/>
          <p:cNvSpPr>
            <a:spLocks noGrp="1"/>
          </p:cNvSpPr>
          <p:nvPr>
            <p:ph type="sldNum" sz="quarter" idx="5"/>
          </p:nvPr>
        </p:nvSpPr>
        <p:spPr>
          <a:noFill/>
        </p:spPr>
        <p:txBody>
          <a:bodyPr/>
          <a:lstStyle/>
          <a:p>
            <a:fld id="{993372AE-A725-4462-8C7A-F225A5833A30}" type="slidenum">
              <a:rPr lang="en-US" altLang="zh-CN" smtClean="0"/>
              <a:pPr/>
              <a:t>117</a:t>
            </a:fld>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幻灯片图像占位符 1"/>
          <p:cNvSpPr>
            <a:spLocks noGrp="1" noRot="1" noChangeAspect="1" noTextEdit="1"/>
          </p:cNvSpPr>
          <p:nvPr>
            <p:ph type="sldImg"/>
          </p:nvPr>
        </p:nvSpPr>
        <p:spPr>
          <a:ln/>
        </p:spPr>
      </p:sp>
      <p:sp>
        <p:nvSpPr>
          <p:cNvPr id="205827" name="备注占位符 2"/>
          <p:cNvSpPr>
            <a:spLocks noGrp="1"/>
          </p:cNvSpPr>
          <p:nvPr>
            <p:ph type="body" idx="1"/>
          </p:nvPr>
        </p:nvSpPr>
        <p:spPr>
          <a:noFill/>
          <a:ln/>
        </p:spPr>
        <p:txBody>
          <a:bodyPr/>
          <a:lstStyle/>
          <a:p>
            <a:r>
              <a:rPr lang="en-US" altLang="zh-CN" dirty="0" smtClean="0"/>
              <a:t>R1</a:t>
            </a:r>
            <a:endParaRPr lang="zh-CN" altLang="en-US" dirty="0" smtClean="0"/>
          </a:p>
        </p:txBody>
      </p:sp>
      <p:sp>
        <p:nvSpPr>
          <p:cNvPr id="205828" name="灯片编号占位符 3"/>
          <p:cNvSpPr>
            <a:spLocks noGrp="1"/>
          </p:cNvSpPr>
          <p:nvPr>
            <p:ph type="sldNum" sz="quarter" idx="5"/>
          </p:nvPr>
        </p:nvSpPr>
        <p:spPr>
          <a:noFill/>
        </p:spPr>
        <p:txBody>
          <a:bodyPr/>
          <a:lstStyle/>
          <a:p>
            <a:fld id="{993372AE-A725-4462-8C7A-F225A5833A30}" type="slidenum">
              <a:rPr lang="en-US" altLang="zh-CN" smtClean="0"/>
              <a:pPr/>
              <a:t>118</a:t>
            </a:fld>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B12BBD90-263F-40DF-B068-63A16DF47FC4}" type="slidenum">
              <a:rPr lang="en-US" altLang="zh-CN" smtClean="0"/>
              <a:pPr/>
              <a:t>124</a:t>
            </a:fld>
            <a:endParaRPr lang="en-US" altLang="zh-CN" smtClean="0"/>
          </a:p>
        </p:txBody>
      </p:sp>
      <p:sp>
        <p:nvSpPr>
          <p:cNvPr id="211971" name="Rectangle 2"/>
          <p:cNvSpPr>
            <a:spLocks noGrp="1" noRot="1" noChangeAspect="1" noChangeArrowheads="1" noTextEdit="1"/>
          </p:cNvSpPr>
          <p:nvPr>
            <p:ph type="sldImg"/>
          </p:nvPr>
        </p:nvSpPr>
        <p:spPr>
          <a:solidFill>
            <a:srgbClr val="FFFFFF"/>
          </a:solidFill>
          <a:ln/>
        </p:spPr>
      </p:sp>
      <p:sp>
        <p:nvSpPr>
          <p:cNvPr id="21197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smtClean="0"/>
              <a:t>为了降低硬件设计可以采用分层设计，对于控制器设计可以利用时间进行划分。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2B72829F-031D-4BAB-B4E5-4209688F0D94}" type="slidenum">
              <a:rPr lang="en-US" altLang="zh-CN" smtClean="0"/>
              <a:pPr/>
              <a:t>130</a:t>
            </a:fld>
            <a:endParaRPr lang="en-US" altLang="zh-CN" smtClean="0"/>
          </a:p>
        </p:txBody>
      </p:sp>
      <p:sp>
        <p:nvSpPr>
          <p:cNvPr id="212995" name="Rectangle 2"/>
          <p:cNvSpPr>
            <a:spLocks noGrp="1" noRot="1" noChangeAspect="1" noChangeArrowheads="1" noTextEdit="1"/>
          </p:cNvSpPr>
          <p:nvPr>
            <p:ph type="sldImg"/>
          </p:nvPr>
        </p:nvSpPr>
        <p:spPr>
          <a:solidFill>
            <a:srgbClr val="FFFFFF"/>
          </a:solidFill>
          <a:ln/>
        </p:spPr>
      </p:sp>
      <p:sp>
        <p:nvSpPr>
          <p:cNvPr id="2129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a:t>
            </a:r>
            <a:r>
              <a:rPr lang="zh-CN" altLang="en-US" smtClean="0"/>
              <a:t>操作控制器</a:t>
            </a:r>
            <a:r>
              <a:rPr lang="en-US" altLang="zh-CN" smtClean="0"/>
              <a:t>OC</a:t>
            </a:r>
            <a:r>
              <a:rPr lang="zh-CN" altLang="en-US" smtClean="0"/>
              <a:t>送出控制命令到通用寄存器，选择</a:t>
            </a:r>
            <a:r>
              <a:rPr lang="en-US" altLang="zh-CN" smtClean="0"/>
              <a:t>R1</a:t>
            </a:r>
            <a:r>
              <a:rPr lang="zh-CN" altLang="en-US" smtClean="0"/>
              <a:t>做源寄存器，</a:t>
            </a:r>
            <a:r>
              <a:rPr lang="en-US" altLang="zh-CN" smtClean="0"/>
              <a:t>R2</a:t>
            </a:r>
            <a:r>
              <a:rPr lang="zh-CN" altLang="en-US" smtClean="0"/>
              <a:t>做目标寄存器；</a:t>
            </a:r>
          </a:p>
          <a:p>
            <a:pPr eaLnBrk="1" hangingPunct="1"/>
            <a:r>
              <a:rPr lang="zh-CN" altLang="en-US" smtClean="0"/>
              <a:t>② </a:t>
            </a:r>
            <a:r>
              <a:rPr lang="en-US" altLang="zh-CN" smtClean="0"/>
              <a:t>OC </a:t>
            </a:r>
            <a:r>
              <a:rPr lang="zh-CN" altLang="en-US" smtClean="0"/>
              <a:t>送出控制命令到</a:t>
            </a:r>
            <a:r>
              <a:rPr lang="en-US" altLang="zh-CN" smtClean="0"/>
              <a:t>ALU</a:t>
            </a:r>
            <a:r>
              <a:rPr lang="zh-CN" altLang="en-US" smtClean="0"/>
              <a:t>，指定</a:t>
            </a:r>
            <a:r>
              <a:rPr lang="en-US" altLang="zh-CN" smtClean="0"/>
              <a:t>ALU</a:t>
            </a:r>
            <a:r>
              <a:rPr lang="zh-CN" altLang="en-US" smtClean="0"/>
              <a:t>做</a:t>
            </a:r>
            <a:r>
              <a:rPr lang="en-US" altLang="zh-CN" smtClean="0"/>
              <a:t>R1</a:t>
            </a:r>
            <a:r>
              <a:rPr lang="zh-CN" altLang="en-US" smtClean="0"/>
              <a:t>（</a:t>
            </a:r>
            <a:r>
              <a:rPr lang="en-US" altLang="zh-CN" smtClean="0"/>
              <a:t>100</a:t>
            </a:r>
            <a:r>
              <a:rPr lang="zh-CN" altLang="en-US" smtClean="0"/>
              <a:t>）和</a:t>
            </a:r>
            <a:r>
              <a:rPr lang="en-US" altLang="zh-CN" smtClean="0"/>
              <a:t>R2</a:t>
            </a:r>
            <a:r>
              <a:rPr lang="zh-CN" altLang="en-US" smtClean="0"/>
              <a:t>（</a:t>
            </a:r>
            <a:r>
              <a:rPr lang="en-US" altLang="zh-CN" smtClean="0"/>
              <a:t>20</a:t>
            </a:r>
            <a:r>
              <a:rPr lang="zh-CN" altLang="en-US" smtClean="0"/>
              <a:t>）的加法操作；</a:t>
            </a:r>
          </a:p>
          <a:p>
            <a:pPr eaLnBrk="1" hangingPunct="1"/>
            <a:r>
              <a:rPr lang="zh-CN" altLang="en-US" smtClean="0"/>
              <a:t>③ </a:t>
            </a:r>
            <a:r>
              <a:rPr lang="en-US" altLang="zh-CN" smtClean="0"/>
              <a:t>OC</a:t>
            </a:r>
            <a:r>
              <a:rPr lang="zh-CN" altLang="en-US" smtClean="0"/>
              <a:t>送出控制命令，打开</a:t>
            </a:r>
            <a:r>
              <a:rPr lang="en-US" altLang="zh-CN" smtClean="0"/>
              <a:t>ALU</a:t>
            </a:r>
            <a:r>
              <a:rPr lang="zh-CN" altLang="en-US" smtClean="0"/>
              <a:t>输出三态门，运算结果</a:t>
            </a:r>
            <a:r>
              <a:rPr lang="en-US" altLang="zh-CN" smtClean="0"/>
              <a:t>120</a:t>
            </a:r>
            <a:r>
              <a:rPr lang="zh-CN" altLang="en-US" smtClean="0"/>
              <a:t>放到</a:t>
            </a:r>
            <a:r>
              <a:rPr lang="en-US" altLang="zh-CN" smtClean="0"/>
              <a:t>DBUS</a:t>
            </a:r>
            <a:r>
              <a:rPr lang="zh-CN" altLang="en-US" smtClean="0"/>
              <a:t>上；</a:t>
            </a:r>
          </a:p>
          <a:p>
            <a:pPr eaLnBrk="1" hangingPunct="1"/>
            <a:r>
              <a:rPr lang="zh-CN" altLang="en-US" smtClean="0"/>
              <a:t>④ </a:t>
            </a:r>
            <a:r>
              <a:rPr lang="en-US" altLang="zh-CN" smtClean="0"/>
              <a:t>OC</a:t>
            </a:r>
            <a:r>
              <a:rPr lang="zh-CN" altLang="en-US" smtClean="0"/>
              <a:t>送出控制命令，将</a:t>
            </a:r>
            <a:r>
              <a:rPr lang="en-US" altLang="zh-CN" smtClean="0"/>
              <a:t>DBUS</a:t>
            </a:r>
            <a:r>
              <a:rPr lang="zh-CN" altLang="en-US" smtClean="0"/>
              <a:t>上数据打入缓冲寄存器</a:t>
            </a:r>
            <a:r>
              <a:rPr lang="en-US" altLang="zh-CN" smtClean="0"/>
              <a:t>DR</a:t>
            </a:r>
            <a:r>
              <a:rPr lang="zh-CN" altLang="en-US" smtClean="0"/>
              <a:t>；</a:t>
            </a:r>
            <a:r>
              <a:rPr lang="en-US" altLang="zh-CN" smtClean="0"/>
              <a:t>ALU</a:t>
            </a:r>
            <a:r>
              <a:rPr lang="zh-CN" altLang="en-US" smtClean="0"/>
              <a:t>产生的进位信号保存状态字寄存器在</a:t>
            </a:r>
            <a:r>
              <a:rPr lang="en-US" altLang="zh-CN" smtClean="0"/>
              <a:t>PSW</a:t>
            </a:r>
            <a:r>
              <a:rPr lang="zh-CN" altLang="en-US" smtClean="0"/>
              <a:t>中。</a:t>
            </a:r>
          </a:p>
          <a:p>
            <a:pPr eaLnBrk="1" hangingPunct="1"/>
            <a:r>
              <a:rPr lang="zh-CN" altLang="en-US" smtClean="0"/>
              <a:t>⑤ </a:t>
            </a:r>
            <a:r>
              <a:rPr lang="en-US" altLang="zh-CN" smtClean="0"/>
              <a:t>OC</a:t>
            </a:r>
            <a:r>
              <a:rPr lang="zh-CN" altLang="en-US" smtClean="0"/>
              <a:t>送出控制命令，将</a:t>
            </a:r>
            <a:r>
              <a:rPr lang="en-US" altLang="zh-CN" smtClean="0"/>
              <a:t>〖DK</a:t>
            </a:r>
            <a:r>
              <a:rPr lang="zh-CN" altLang="en-US" smtClean="0"/>
              <a:t>（</a:t>
            </a:r>
            <a:r>
              <a:rPr lang="en-US" altLang="zh-CN" smtClean="0"/>
              <a:t>〗DR</a:t>
            </a:r>
            <a:r>
              <a:rPr lang="zh-CN" altLang="en-US" smtClean="0"/>
              <a:t>（</a:t>
            </a:r>
            <a:r>
              <a:rPr lang="en-US" altLang="zh-CN" smtClean="0"/>
              <a:t>120</a:t>
            </a:r>
            <a:r>
              <a:rPr lang="zh-CN" altLang="en-US" smtClean="0"/>
              <a:t>）</a:t>
            </a:r>
            <a:r>
              <a:rPr lang="en-US" altLang="zh-CN" smtClean="0"/>
              <a:t>〖DK</a:t>
            </a:r>
            <a:r>
              <a:rPr lang="zh-CN" altLang="en-US" smtClean="0"/>
              <a:t>）</a:t>
            </a:r>
            <a:r>
              <a:rPr lang="en-US" altLang="zh-CN" smtClean="0"/>
              <a:t>〗</a:t>
            </a:r>
            <a:r>
              <a:rPr lang="zh-CN" altLang="en-US" smtClean="0"/>
              <a:t>装入</a:t>
            </a:r>
            <a:r>
              <a:rPr lang="en-US" altLang="zh-CN" smtClean="0"/>
              <a:t>R2</a:t>
            </a:r>
            <a:r>
              <a:rPr lang="zh-CN" altLang="en-US" smtClean="0"/>
              <a:t>，</a:t>
            </a:r>
            <a:r>
              <a:rPr lang="en-US" altLang="zh-CN" smtClean="0"/>
              <a:t>R2</a:t>
            </a:r>
            <a:r>
              <a:rPr lang="zh-CN" altLang="en-US" smtClean="0"/>
              <a:t>中原来的内容</a:t>
            </a:r>
            <a:r>
              <a:rPr lang="en-US" altLang="zh-CN" smtClean="0"/>
              <a:t>20</a:t>
            </a:r>
            <a:r>
              <a:rPr lang="zh-CN" altLang="en-US" smtClean="0"/>
              <a:t>被冲掉。至此</a:t>
            </a:r>
            <a:r>
              <a:rPr lang="en-US" altLang="zh-CN" smtClean="0"/>
              <a:t>ADD</a:t>
            </a:r>
            <a:r>
              <a:rPr lang="zh-CN" altLang="en-US" smtClean="0"/>
              <a:t>指令执行周期结束。</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27B6C200-0ADA-40C2-8DD1-1D1F4B9A65EE}" type="slidenum">
              <a:rPr lang="en-US" altLang="zh-CN" smtClean="0"/>
              <a:pPr/>
              <a:t>131</a:t>
            </a:fld>
            <a:endParaRPr lang="en-US" altLang="zh-CN" smtClean="0"/>
          </a:p>
        </p:txBody>
      </p:sp>
      <p:sp>
        <p:nvSpPr>
          <p:cNvPr id="214019" name="Rectangle 2"/>
          <p:cNvSpPr>
            <a:spLocks noGrp="1" noRot="1" noChangeAspect="1" noChangeArrowheads="1" noTextEdit="1"/>
          </p:cNvSpPr>
          <p:nvPr>
            <p:ph type="sldImg"/>
          </p:nvPr>
        </p:nvSpPr>
        <p:spPr>
          <a:solidFill>
            <a:srgbClr val="FFFFFF"/>
          </a:solidFill>
          <a:ln/>
        </p:spPr>
      </p:sp>
      <p:sp>
        <p:nvSpPr>
          <p:cNvPr id="21402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a:t>
            </a:r>
            <a:r>
              <a:rPr lang="zh-CN" altLang="en-US" smtClean="0"/>
              <a:t>操作控制器</a:t>
            </a:r>
            <a:r>
              <a:rPr lang="en-US" altLang="zh-CN" smtClean="0"/>
              <a:t>OC</a:t>
            </a:r>
            <a:r>
              <a:rPr lang="zh-CN" altLang="en-US" smtClean="0"/>
              <a:t>送出操作命令到通用寄存器，选择</a:t>
            </a:r>
            <a:r>
              <a:rPr lang="en-US" altLang="zh-CN" smtClean="0"/>
              <a:t>〖DK</a:t>
            </a:r>
            <a:r>
              <a:rPr lang="zh-CN" altLang="en-US" smtClean="0"/>
              <a:t>（</a:t>
            </a:r>
            <a:r>
              <a:rPr lang="en-US" altLang="zh-CN" smtClean="0"/>
              <a:t>〗</a:t>
            </a:r>
            <a:r>
              <a:rPr lang="zh-CN" altLang="en-US" smtClean="0"/>
              <a:t>（</a:t>
            </a:r>
            <a:r>
              <a:rPr lang="en-US" altLang="zh-CN" smtClean="0"/>
              <a:t>R3</a:t>
            </a:r>
            <a:r>
              <a:rPr lang="zh-CN" altLang="en-US" smtClean="0"/>
              <a:t>）</a:t>
            </a:r>
            <a:r>
              <a:rPr lang="en-US" altLang="zh-CN" smtClean="0"/>
              <a:t>=30〖DK</a:t>
            </a:r>
            <a:r>
              <a:rPr lang="zh-CN" altLang="en-US" smtClean="0"/>
              <a:t>）</a:t>
            </a:r>
            <a:r>
              <a:rPr lang="en-US" altLang="zh-CN" smtClean="0"/>
              <a:t>〗</a:t>
            </a:r>
            <a:r>
              <a:rPr lang="zh-CN" altLang="en-US" smtClean="0"/>
              <a:t>做数据存储器的地址单元；</a:t>
            </a:r>
          </a:p>
          <a:p>
            <a:pPr eaLnBrk="1" hangingPunct="1"/>
            <a:r>
              <a:rPr lang="zh-CN" altLang="en-US" smtClean="0"/>
              <a:t>② </a:t>
            </a:r>
            <a:r>
              <a:rPr lang="en-US" altLang="zh-CN" smtClean="0"/>
              <a:t>OC</a:t>
            </a:r>
            <a:r>
              <a:rPr lang="zh-CN" altLang="en-US" smtClean="0"/>
              <a:t>发出操作命令，打开通用寄存器输出三态门</a:t>
            </a:r>
            <a:r>
              <a:rPr lang="en-US" altLang="zh-CN" smtClean="0"/>
              <a:t>〖DK</a:t>
            </a:r>
            <a:r>
              <a:rPr lang="zh-CN" altLang="en-US" smtClean="0"/>
              <a:t>（</a:t>
            </a:r>
            <a:r>
              <a:rPr lang="en-US" altLang="zh-CN" smtClean="0"/>
              <a:t>〗</a:t>
            </a:r>
            <a:r>
              <a:rPr lang="zh-CN" altLang="en-US" smtClean="0"/>
              <a:t>（不经</a:t>
            </a:r>
            <a:r>
              <a:rPr lang="en-US" altLang="zh-CN" smtClean="0"/>
              <a:t>ALU</a:t>
            </a:r>
            <a:r>
              <a:rPr lang="zh-CN" altLang="en-US" smtClean="0"/>
              <a:t>以节省时间）</a:t>
            </a:r>
            <a:r>
              <a:rPr lang="en-US" altLang="zh-CN" smtClean="0"/>
              <a:t>〖DK</a:t>
            </a:r>
            <a:r>
              <a:rPr lang="zh-CN" altLang="en-US" smtClean="0"/>
              <a:t>）</a:t>
            </a:r>
            <a:r>
              <a:rPr lang="en-US" altLang="zh-CN" smtClean="0"/>
              <a:t>〗</a:t>
            </a:r>
            <a:r>
              <a:rPr lang="zh-CN" altLang="en-US" smtClean="0"/>
              <a:t>，将地址</a:t>
            </a:r>
            <a:r>
              <a:rPr lang="en-US" altLang="zh-CN" smtClean="0"/>
              <a:t>30</a:t>
            </a:r>
            <a:r>
              <a:rPr lang="zh-CN" altLang="en-US" smtClean="0"/>
              <a:t>放到</a:t>
            </a:r>
            <a:r>
              <a:rPr lang="en-US" altLang="zh-CN" smtClean="0"/>
              <a:t>DBUS</a:t>
            </a:r>
            <a:r>
              <a:rPr lang="zh-CN" altLang="en-US" smtClean="0"/>
              <a:t>上；</a:t>
            </a:r>
          </a:p>
          <a:p>
            <a:pPr eaLnBrk="1" hangingPunct="1"/>
            <a:r>
              <a:rPr lang="zh-CN" altLang="en-US" smtClean="0"/>
              <a:t>③ </a:t>
            </a:r>
            <a:r>
              <a:rPr lang="en-US" altLang="zh-CN" smtClean="0"/>
              <a:t>OC</a:t>
            </a:r>
            <a:r>
              <a:rPr lang="zh-CN" altLang="en-US" smtClean="0"/>
              <a:t>发出操作命令，将地址</a:t>
            </a:r>
            <a:r>
              <a:rPr lang="en-US" altLang="zh-CN" smtClean="0"/>
              <a:t>30</a:t>
            </a:r>
            <a:r>
              <a:rPr lang="zh-CN" altLang="en-US" smtClean="0"/>
              <a:t>打入</a:t>
            </a:r>
            <a:r>
              <a:rPr lang="en-US" altLang="zh-CN" smtClean="0"/>
              <a:t>AR</a:t>
            </a:r>
            <a:r>
              <a:rPr lang="zh-CN" altLang="en-US" smtClean="0"/>
              <a:t>，并进行数存地址译码；</a:t>
            </a:r>
          </a:p>
          <a:p>
            <a:pPr eaLnBrk="1" hangingPunct="1"/>
            <a:r>
              <a:rPr lang="zh-CN" altLang="en-US" smtClean="0"/>
              <a:t>④ </a:t>
            </a:r>
            <a:r>
              <a:rPr lang="en-US" altLang="zh-CN" smtClean="0"/>
              <a:t>OC</a:t>
            </a:r>
            <a:r>
              <a:rPr lang="zh-CN" altLang="en-US" smtClean="0"/>
              <a:t>发出操作命令到通用寄存器，选择</a:t>
            </a:r>
            <a:r>
              <a:rPr lang="en-US" altLang="zh-CN" smtClean="0"/>
              <a:t>〖DK</a:t>
            </a:r>
            <a:r>
              <a:rPr lang="zh-CN" altLang="en-US" smtClean="0"/>
              <a:t>（</a:t>
            </a:r>
            <a:r>
              <a:rPr lang="en-US" altLang="zh-CN" smtClean="0"/>
              <a:t>〗</a:t>
            </a:r>
            <a:r>
              <a:rPr lang="zh-CN" altLang="en-US" smtClean="0"/>
              <a:t>（</a:t>
            </a:r>
            <a:r>
              <a:rPr lang="en-US" altLang="zh-CN" smtClean="0"/>
              <a:t>R2</a:t>
            </a:r>
            <a:r>
              <a:rPr lang="zh-CN" altLang="en-US" smtClean="0"/>
              <a:t>）</a:t>
            </a:r>
            <a:r>
              <a:rPr lang="en-US" altLang="zh-CN" smtClean="0"/>
              <a:t>=120〖DK</a:t>
            </a:r>
            <a:r>
              <a:rPr lang="zh-CN" altLang="en-US" smtClean="0"/>
              <a:t>）</a:t>
            </a:r>
            <a:r>
              <a:rPr lang="en-US" altLang="zh-CN" smtClean="0"/>
              <a:t>〗</a:t>
            </a:r>
            <a:r>
              <a:rPr lang="zh-CN" altLang="en-US" smtClean="0"/>
              <a:t>，作为数存的写入数据；</a:t>
            </a:r>
          </a:p>
          <a:p>
            <a:pPr eaLnBrk="1" hangingPunct="1"/>
            <a:r>
              <a:rPr lang="zh-CN" altLang="en-US" smtClean="0"/>
              <a:t>⑤ </a:t>
            </a:r>
            <a:r>
              <a:rPr lang="en-US" altLang="zh-CN" smtClean="0"/>
              <a:t>OC</a:t>
            </a:r>
            <a:r>
              <a:rPr lang="zh-CN" altLang="en-US" smtClean="0"/>
              <a:t>发出操作命令，打开通用寄存器输出三态门，将数据</a:t>
            </a:r>
            <a:r>
              <a:rPr lang="en-US" altLang="zh-CN" smtClean="0"/>
              <a:t>120</a:t>
            </a:r>
            <a:r>
              <a:rPr lang="zh-CN" altLang="en-US" smtClean="0"/>
              <a:t>放到</a:t>
            </a:r>
            <a:r>
              <a:rPr lang="en-US" altLang="zh-CN" smtClean="0"/>
              <a:t>DBUS</a:t>
            </a:r>
            <a:r>
              <a:rPr lang="zh-CN" altLang="en-US" smtClean="0"/>
              <a:t>上。</a:t>
            </a:r>
          </a:p>
          <a:p>
            <a:pPr eaLnBrk="1" hangingPunct="1"/>
            <a:r>
              <a:rPr lang="zh-CN" altLang="en-US" smtClean="0"/>
              <a:t>⑥ </a:t>
            </a:r>
            <a:r>
              <a:rPr lang="en-US" altLang="zh-CN" smtClean="0"/>
              <a:t>OC</a:t>
            </a:r>
            <a:r>
              <a:rPr lang="zh-CN" altLang="en-US" smtClean="0"/>
              <a:t>发出操作命令，将数据</a:t>
            </a:r>
            <a:r>
              <a:rPr lang="en-US" altLang="zh-CN" smtClean="0"/>
              <a:t>120</a:t>
            </a:r>
            <a:r>
              <a:rPr lang="zh-CN" altLang="en-US" smtClean="0"/>
              <a:t>写入数存</a:t>
            </a:r>
            <a:r>
              <a:rPr lang="en-US" altLang="zh-CN" smtClean="0"/>
              <a:t>30</a:t>
            </a:r>
            <a:r>
              <a:rPr lang="zh-CN" altLang="en-US" smtClean="0"/>
              <a:t>号单元，它原先的数据</a:t>
            </a:r>
            <a:r>
              <a:rPr lang="en-US" altLang="zh-CN" smtClean="0"/>
              <a:t>40</a:t>
            </a:r>
            <a:r>
              <a:rPr lang="zh-CN" altLang="en-US" smtClean="0"/>
              <a:t>被冲掉。至此，</a:t>
            </a:r>
            <a:r>
              <a:rPr lang="en-US" altLang="zh-CN" smtClean="0"/>
              <a:t>STO</a:t>
            </a:r>
            <a:r>
              <a:rPr lang="zh-CN" altLang="en-US" smtClean="0"/>
              <a:t>指令执行周期结束。</a:t>
            </a:r>
          </a:p>
          <a:p>
            <a:pPr eaLnBrk="1" hangingPunct="1"/>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C0B530CC-7F1E-4491-B6D5-53831693BB58}" type="slidenum">
              <a:rPr lang="en-US" altLang="zh-CN" smtClean="0"/>
              <a:pPr/>
              <a:t>132</a:t>
            </a:fld>
            <a:endParaRPr lang="en-US" altLang="zh-CN" smtClean="0"/>
          </a:p>
        </p:txBody>
      </p:sp>
      <p:sp>
        <p:nvSpPr>
          <p:cNvPr id="215043" name="Rectangle 2"/>
          <p:cNvSpPr>
            <a:spLocks noGrp="1" noRot="1" noChangeAspect="1" noChangeArrowheads="1" noTextEdit="1"/>
          </p:cNvSpPr>
          <p:nvPr>
            <p:ph type="sldImg"/>
          </p:nvPr>
        </p:nvSpPr>
        <p:spPr>
          <a:solidFill>
            <a:srgbClr val="FFFFFF"/>
          </a:solidFill>
          <a:ln/>
        </p:spPr>
      </p:sp>
      <p:sp>
        <p:nvSpPr>
          <p:cNvPr id="2150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smtClean="0"/>
              <a:t>① OC</a:t>
            </a:r>
            <a:r>
              <a:rPr lang="zh-CN" altLang="en-US" smtClean="0"/>
              <a:t>发生操作控制命令，打开指令寄存器</a:t>
            </a:r>
            <a:r>
              <a:rPr lang="en-US" altLang="zh-CN" smtClean="0"/>
              <a:t>IR</a:t>
            </a:r>
            <a:r>
              <a:rPr lang="zh-CN" altLang="en-US" smtClean="0"/>
              <a:t>的输出三态门，将</a:t>
            </a:r>
            <a:r>
              <a:rPr lang="en-US" altLang="zh-CN" smtClean="0"/>
              <a:t>IR</a:t>
            </a:r>
            <a:r>
              <a:rPr lang="zh-CN" altLang="en-US" smtClean="0"/>
              <a:t>中的地址码</a:t>
            </a:r>
            <a:r>
              <a:rPr lang="en-US" altLang="zh-CN" smtClean="0"/>
              <a:t>101</a:t>
            </a:r>
            <a:r>
              <a:rPr lang="zh-CN" altLang="en-US" smtClean="0"/>
              <a:t>发送到</a:t>
            </a:r>
            <a:r>
              <a:rPr lang="en-US" altLang="zh-CN" smtClean="0"/>
              <a:t>DBUS</a:t>
            </a:r>
            <a:r>
              <a:rPr lang="zh-CN" altLang="en-US" smtClean="0"/>
              <a:t>上；</a:t>
            </a:r>
          </a:p>
          <a:p>
            <a:pPr eaLnBrk="1" hangingPunct="1"/>
            <a:r>
              <a:rPr lang="zh-CN" altLang="en-US" smtClean="0"/>
              <a:t>② </a:t>
            </a:r>
            <a:r>
              <a:rPr lang="en-US" altLang="zh-CN" smtClean="0"/>
              <a:t>CC</a:t>
            </a:r>
            <a:r>
              <a:rPr lang="zh-CN" altLang="en-US" smtClean="0"/>
              <a:t>发出操作控制命令，将</a:t>
            </a:r>
            <a:r>
              <a:rPr lang="en-US" altLang="zh-CN" smtClean="0"/>
              <a:t>DBUS</a:t>
            </a:r>
            <a:r>
              <a:rPr lang="zh-CN" altLang="en-US" smtClean="0"/>
              <a:t>上的地址码</a:t>
            </a:r>
            <a:r>
              <a:rPr lang="en-US" altLang="zh-CN" smtClean="0"/>
              <a:t>101</a:t>
            </a:r>
            <a:r>
              <a:rPr lang="zh-CN" altLang="en-US" smtClean="0"/>
              <a:t>打入到程序计数器</a:t>
            </a:r>
            <a:r>
              <a:rPr lang="en-US" altLang="zh-CN" smtClean="0"/>
              <a:t>PC</a:t>
            </a:r>
            <a:r>
              <a:rPr lang="zh-CN" altLang="en-US" smtClean="0"/>
              <a:t>中，</a:t>
            </a:r>
            <a:r>
              <a:rPr lang="en-US" altLang="zh-CN" smtClean="0"/>
              <a:t>PC</a:t>
            </a:r>
            <a:r>
              <a:rPr lang="zh-CN" altLang="en-US" smtClean="0"/>
              <a:t>中的原先内容</a:t>
            </a:r>
            <a:r>
              <a:rPr lang="en-US" altLang="zh-CN" smtClean="0"/>
              <a:t>106</a:t>
            </a:r>
            <a:r>
              <a:rPr lang="zh-CN" altLang="en-US" smtClean="0"/>
              <a:t>被更换。于是下一条指令不是从</a:t>
            </a:r>
            <a:r>
              <a:rPr lang="en-US" altLang="zh-CN" smtClean="0"/>
              <a:t>106</a:t>
            </a:r>
            <a:r>
              <a:rPr lang="zh-CN" altLang="en-US" smtClean="0"/>
              <a:t>号单元取出，而是转移到</a:t>
            </a:r>
            <a:r>
              <a:rPr lang="en-US" altLang="zh-CN" smtClean="0"/>
              <a:t>101</a:t>
            </a:r>
            <a:r>
              <a:rPr lang="zh-CN" altLang="en-US" smtClean="0"/>
              <a:t>号单元取出。至此</a:t>
            </a:r>
            <a:r>
              <a:rPr lang="en-US" altLang="zh-CN" smtClean="0"/>
              <a:t>JMP</a:t>
            </a:r>
            <a:r>
              <a:rPr lang="zh-CN" altLang="en-US" smtClean="0"/>
              <a:t>指令执行周期结束。</a:t>
            </a:r>
          </a:p>
          <a:p>
            <a:pPr eaLnBrk="1" hangingPunct="1"/>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pPr>
                <a:defRPr/>
              </a:pPr>
              <a:t>151</a:t>
            </a:fld>
            <a:endParaRPr lang="en-US" altLang="zh-CN"/>
          </a:p>
        </p:txBody>
      </p:sp>
      <p:sp>
        <p:nvSpPr>
          <p:cNvPr id="6" name="备注占位符 5"/>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12888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D519884D-75B9-4CBD-81B5-22E13398418D}"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1ECF4DA-E9FB-4BF9-B0AB-400604CF6599}"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062B261B-8D6D-4819-B7FD-208C71DC8C88}"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A274A789-8EB4-4B43-8F63-BEBAEB88D1B5}"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2293B9D2-0C67-4453-B33F-5B02BA93E516}"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AF11A0F2-6F86-4EC1-BC3A-4336E00B7FD4}"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AF8EC0FE-E613-4CE3-B114-C4589332264C}"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8640C8D2-EF35-4BA3-AF41-B9D1C68E12D3}"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E55102FA-F27C-4951-A547-BF91883A456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325969E4-CF4F-4FED-8898-42803711A618}"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C05D4C0-EAC1-4C36-B4D8-C3158AD6BE1A}"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0E360AD4-7F58-4AA8-9D25-E09B69082279}"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64C3BFE5-99CE-482F-8B6F-688C29EEC1BC}"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pPr lvl="0"/>
            <a:endParaRPr lang="zh-CN" altLang="en-US" noProof="0" smtClean="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1D281F3E-A34E-471D-A41F-BE4AFE9A85D4}"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0">
                <a:solidFill>
                  <a:schemeClr val="tx1"/>
                </a:solidFill>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a:solidFill>
                  <a:schemeClr val="tx1"/>
                </a:solidFill>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solidFill>
                  <a:schemeClr val="tx1"/>
                </a:solidFill>
              </a:defRPr>
            </a:lvl1pPr>
          </a:lstStyle>
          <a:p>
            <a:pPr>
              <a:defRPr/>
            </a:pPr>
            <a:fld id="{AE10C97A-6ED7-4E0C-96B5-4E1048C640B8}"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headEnd/>
              <a:tailEnd/>
            </a:ln>
          </p:spPr>
          <p:txBody>
            <a:bodyPr wrap="none" anchor="ctr"/>
            <a:lstStyle/>
            <a:p>
              <a:endParaRPr lang="zh-CN" altLang="en-US"/>
            </a:p>
          </p:txBody>
        </p:sp>
        <p:sp>
          <p:nvSpPr>
            <p:cNvPr id="1035" name="Oval 11"/>
            <p:cNvSpPr>
              <a:spLocks noChangeArrowheads="1"/>
            </p:cNvSpPr>
            <p:nvPr/>
          </p:nvSpPr>
          <p:spPr bwMode="auto">
            <a:xfrm>
              <a:off x="5360" y="960"/>
              <a:ext cx="76" cy="80"/>
            </a:xfrm>
            <a:prstGeom prst="ellipse">
              <a:avLst/>
            </a:prstGeom>
            <a:solidFill>
              <a:schemeClr val="tx2"/>
            </a:solidFill>
            <a:ln w="9525">
              <a:noFill/>
              <a:round/>
              <a:headEnd/>
              <a:tailEnd/>
            </a:ln>
          </p:spPr>
          <p:txBody>
            <a:bodyPr wrap="none" anchor="ctr"/>
            <a:lstStyle/>
            <a:p>
              <a:endParaRPr lang="zh-CN" altLang="en-US"/>
            </a:p>
          </p:txBody>
        </p:sp>
        <p:sp>
          <p:nvSpPr>
            <p:cNvPr id="1036" name="Oval 12"/>
            <p:cNvSpPr>
              <a:spLocks noChangeArrowheads="1"/>
            </p:cNvSpPr>
            <p:nvPr/>
          </p:nvSpPr>
          <p:spPr bwMode="auto">
            <a:xfrm>
              <a:off x="5136" y="1072"/>
              <a:ext cx="80" cy="77"/>
            </a:xfrm>
            <a:prstGeom prst="ellipse">
              <a:avLst/>
            </a:prstGeom>
            <a:solidFill>
              <a:schemeClr val="tx2"/>
            </a:solidFill>
            <a:ln w="9525">
              <a:noFill/>
              <a:round/>
              <a:headEnd/>
              <a:tailEnd/>
            </a:ln>
          </p:spPr>
          <p:txBody>
            <a:bodyPr wrap="none" anchor="ctr"/>
            <a:lstStyle/>
            <a:p>
              <a:endParaRPr lang="zh-CN" altLang="en-US"/>
            </a:p>
          </p:txBody>
        </p:sp>
        <p:sp>
          <p:nvSpPr>
            <p:cNvPr id="1037" name="Oval 13"/>
            <p:cNvSpPr>
              <a:spLocks noChangeArrowheads="1"/>
            </p:cNvSpPr>
            <p:nvPr/>
          </p:nvSpPr>
          <p:spPr bwMode="auto">
            <a:xfrm>
              <a:off x="5248" y="1072"/>
              <a:ext cx="79" cy="77"/>
            </a:xfrm>
            <a:prstGeom prst="ellipse">
              <a:avLst/>
            </a:prstGeom>
            <a:solidFill>
              <a:schemeClr val="tx2"/>
            </a:solidFill>
            <a:ln w="9525">
              <a:noFill/>
              <a:round/>
              <a:headEnd/>
              <a:tailEnd/>
            </a:ln>
          </p:spPr>
          <p:txBody>
            <a:bodyPr wrap="none" anchor="ctr"/>
            <a:lstStyle/>
            <a:p>
              <a:endParaRPr lang="zh-CN" altLang="en-US"/>
            </a:p>
          </p:txBody>
        </p:sp>
        <p:sp>
          <p:nvSpPr>
            <p:cNvPr id="1038" name="Oval 14"/>
            <p:cNvSpPr>
              <a:spLocks noChangeArrowheads="1"/>
            </p:cNvSpPr>
            <p:nvPr/>
          </p:nvSpPr>
          <p:spPr bwMode="auto">
            <a:xfrm>
              <a:off x="5360" y="1072"/>
              <a:ext cx="76" cy="77"/>
            </a:xfrm>
            <a:prstGeom prst="ellipse">
              <a:avLst/>
            </a:prstGeom>
            <a:solidFill>
              <a:schemeClr val="tx2"/>
            </a:solidFill>
            <a:ln w="9525">
              <a:noFill/>
              <a:round/>
              <a:headEnd/>
              <a:tailEnd/>
            </a:ln>
          </p:spPr>
          <p:txBody>
            <a:bodyPr wrap="none" anchor="ctr"/>
            <a:lstStyle/>
            <a:p>
              <a:endParaRPr lang="zh-CN" altLang="en-US"/>
            </a:p>
          </p:txBody>
        </p:sp>
        <p:sp>
          <p:nvSpPr>
            <p:cNvPr id="1039" name="Oval 15"/>
            <p:cNvSpPr>
              <a:spLocks noChangeArrowheads="1"/>
            </p:cNvSpPr>
            <p:nvPr/>
          </p:nvSpPr>
          <p:spPr bwMode="auto">
            <a:xfrm>
              <a:off x="5472" y="1072"/>
              <a:ext cx="73" cy="77"/>
            </a:xfrm>
            <a:prstGeom prst="ellipse">
              <a:avLst/>
            </a:prstGeom>
            <a:solidFill>
              <a:schemeClr val="accent2"/>
            </a:solidFill>
            <a:ln w="9525">
              <a:noFill/>
              <a:round/>
              <a:headEnd/>
              <a:tailEnd/>
            </a:ln>
          </p:spPr>
          <p:txBody>
            <a:bodyPr wrap="none" anchor="ctr"/>
            <a:lstStyle/>
            <a:p>
              <a:endParaRPr lang="zh-CN" altLang="en-US"/>
            </a:p>
          </p:txBody>
        </p:sp>
        <p:sp>
          <p:nvSpPr>
            <p:cNvPr id="1040" name="Oval 16"/>
            <p:cNvSpPr>
              <a:spLocks noChangeArrowheads="1"/>
            </p:cNvSpPr>
            <p:nvPr/>
          </p:nvSpPr>
          <p:spPr bwMode="auto">
            <a:xfrm>
              <a:off x="5136" y="1184"/>
              <a:ext cx="80" cy="73"/>
            </a:xfrm>
            <a:prstGeom prst="ellipse">
              <a:avLst/>
            </a:prstGeom>
            <a:solidFill>
              <a:schemeClr val="tx2"/>
            </a:solidFill>
            <a:ln w="9525">
              <a:noFill/>
              <a:round/>
              <a:headEnd/>
              <a:tailEnd/>
            </a:ln>
          </p:spPr>
          <p:txBody>
            <a:bodyPr wrap="none" anchor="ctr"/>
            <a:lstStyle/>
            <a:p>
              <a:endParaRPr lang="zh-CN" altLang="en-US"/>
            </a:p>
          </p:txBody>
        </p:sp>
        <p:sp>
          <p:nvSpPr>
            <p:cNvPr id="1041" name="Oval 17"/>
            <p:cNvSpPr>
              <a:spLocks noChangeArrowheads="1"/>
            </p:cNvSpPr>
            <p:nvPr/>
          </p:nvSpPr>
          <p:spPr bwMode="auto">
            <a:xfrm>
              <a:off x="5248" y="1184"/>
              <a:ext cx="79" cy="73"/>
            </a:xfrm>
            <a:prstGeom prst="ellipse">
              <a:avLst/>
            </a:prstGeom>
            <a:solidFill>
              <a:schemeClr val="tx2"/>
            </a:solidFill>
            <a:ln w="9525">
              <a:noFill/>
              <a:round/>
              <a:headEnd/>
              <a:tailEnd/>
            </a:ln>
          </p:spPr>
          <p:txBody>
            <a:bodyPr wrap="none" anchor="ctr"/>
            <a:lstStyle/>
            <a:p>
              <a:endParaRPr lang="zh-CN" altLang="en-US"/>
            </a:p>
          </p:txBody>
        </p:sp>
        <p:sp>
          <p:nvSpPr>
            <p:cNvPr id="1042" name="Oval 18"/>
            <p:cNvSpPr>
              <a:spLocks noChangeArrowheads="1"/>
            </p:cNvSpPr>
            <p:nvPr/>
          </p:nvSpPr>
          <p:spPr bwMode="auto">
            <a:xfrm>
              <a:off x="5360" y="1184"/>
              <a:ext cx="76" cy="73"/>
            </a:xfrm>
            <a:prstGeom prst="ellipse">
              <a:avLst/>
            </a:prstGeom>
            <a:solidFill>
              <a:schemeClr val="accent2"/>
            </a:solidFill>
            <a:ln w="9525">
              <a:noFill/>
              <a:round/>
              <a:headEnd/>
              <a:tailEnd/>
            </a:ln>
          </p:spPr>
          <p:txBody>
            <a:bodyPr wrap="none" anchor="ctr"/>
            <a:lstStyle/>
            <a:p>
              <a:endParaRPr lang="zh-CN" altLang="en-US"/>
            </a:p>
          </p:txBody>
        </p:sp>
        <p:sp>
          <p:nvSpPr>
            <p:cNvPr id="1043" name="Oval 19"/>
            <p:cNvSpPr>
              <a:spLocks noChangeArrowheads="1"/>
            </p:cNvSpPr>
            <p:nvPr/>
          </p:nvSpPr>
          <p:spPr bwMode="auto">
            <a:xfrm>
              <a:off x="5472" y="1184"/>
              <a:ext cx="73" cy="73"/>
            </a:xfrm>
            <a:prstGeom prst="ellipse">
              <a:avLst/>
            </a:prstGeom>
            <a:solidFill>
              <a:schemeClr val="accent2"/>
            </a:solidFill>
            <a:ln w="9525">
              <a:noFill/>
              <a:round/>
              <a:headEnd/>
              <a:tailEnd/>
            </a:ln>
          </p:spPr>
          <p:txBody>
            <a:bodyPr wrap="none" anchor="ctr"/>
            <a:lstStyle/>
            <a:p>
              <a:endParaRPr lang="zh-CN" altLang="en-US"/>
            </a:p>
          </p:txBody>
        </p:sp>
        <p:sp>
          <p:nvSpPr>
            <p:cNvPr id="1044" name="Oval 20"/>
            <p:cNvSpPr>
              <a:spLocks noChangeArrowheads="1"/>
            </p:cNvSpPr>
            <p:nvPr/>
          </p:nvSpPr>
          <p:spPr bwMode="auto">
            <a:xfrm>
              <a:off x="5584" y="1184"/>
              <a:ext cx="80" cy="73"/>
            </a:xfrm>
            <a:prstGeom prst="ellipse">
              <a:avLst/>
            </a:prstGeom>
            <a:solidFill>
              <a:schemeClr val="accent1"/>
            </a:solidFill>
            <a:ln w="9525">
              <a:noFill/>
              <a:round/>
              <a:headEnd/>
              <a:tailE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headEnd/>
              <a:tailEnd/>
            </a:ln>
          </p:spPr>
          <p:txBody>
            <a:bodyPr wrap="none" anchor="ctr"/>
            <a:lstStyle/>
            <a:p>
              <a:endParaRPr lang="zh-CN" altLang="en-US"/>
            </a:p>
          </p:txBody>
        </p:sp>
        <p:sp>
          <p:nvSpPr>
            <p:cNvPr id="1047" name="Oval 23"/>
            <p:cNvSpPr>
              <a:spLocks noChangeArrowheads="1"/>
            </p:cNvSpPr>
            <p:nvPr/>
          </p:nvSpPr>
          <p:spPr bwMode="auto">
            <a:xfrm>
              <a:off x="5360" y="1296"/>
              <a:ext cx="76" cy="80"/>
            </a:xfrm>
            <a:prstGeom prst="ellipse">
              <a:avLst/>
            </a:prstGeom>
            <a:solidFill>
              <a:schemeClr val="accent2"/>
            </a:solidFill>
            <a:ln w="9525">
              <a:noFill/>
              <a:round/>
              <a:headEnd/>
              <a:tailEnd/>
            </a:ln>
          </p:spPr>
          <p:txBody>
            <a:bodyPr wrap="none" anchor="ctr"/>
            <a:lstStyle/>
            <a:p>
              <a:endParaRPr lang="zh-CN" altLang="en-US"/>
            </a:p>
          </p:txBody>
        </p:sp>
        <p:sp>
          <p:nvSpPr>
            <p:cNvPr id="1048" name="Oval 24"/>
            <p:cNvSpPr>
              <a:spLocks noChangeArrowheads="1"/>
            </p:cNvSpPr>
            <p:nvPr/>
          </p:nvSpPr>
          <p:spPr bwMode="auto">
            <a:xfrm>
              <a:off x="5472" y="1296"/>
              <a:ext cx="73" cy="80"/>
            </a:xfrm>
            <a:prstGeom prst="ellipse">
              <a:avLst/>
            </a:prstGeom>
            <a:solidFill>
              <a:schemeClr val="accent1"/>
            </a:solidFill>
            <a:ln w="9525">
              <a:noFill/>
              <a:round/>
              <a:headEnd/>
              <a:tailE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headEnd/>
              <a:tailEnd/>
            </a:ln>
          </p:spPr>
          <p:txBody>
            <a:bodyPr wrap="none" anchor="ctr"/>
            <a:lstStyle/>
            <a:p>
              <a:endParaRPr lang="zh-CN" altLang="en-US"/>
            </a:p>
          </p:txBody>
        </p:sp>
        <p:sp>
          <p:nvSpPr>
            <p:cNvPr id="1051" name="Oval 27"/>
            <p:cNvSpPr>
              <a:spLocks noChangeArrowheads="1"/>
            </p:cNvSpPr>
            <p:nvPr/>
          </p:nvSpPr>
          <p:spPr bwMode="auto">
            <a:xfrm>
              <a:off x="5360" y="1408"/>
              <a:ext cx="76" cy="80"/>
            </a:xfrm>
            <a:prstGeom prst="ellipse">
              <a:avLst/>
            </a:prstGeom>
            <a:solidFill>
              <a:schemeClr val="accent1"/>
            </a:solidFill>
            <a:ln w="9525">
              <a:noFill/>
              <a:round/>
              <a:headEnd/>
              <a:tailEnd/>
            </a:ln>
          </p:spPr>
          <p:txBody>
            <a:bodyPr wrap="none" anchor="ctr"/>
            <a:lstStyle/>
            <a:p>
              <a:endParaRPr lang="zh-CN" altLang="en-US"/>
            </a:p>
          </p:txBody>
        </p:sp>
        <p:sp>
          <p:nvSpPr>
            <p:cNvPr id="1052" name="Oval 28"/>
            <p:cNvSpPr>
              <a:spLocks noChangeArrowheads="1"/>
            </p:cNvSpPr>
            <p:nvPr/>
          </p:nvSpPr>
          <p:spPr bwMode="auto">
            <a:xfrm>
              <a:off x="5472" y="1408"/>
              <a:ext cx="73" cy="80"/>
            </a:xfrm>
            <a:prstGeom prst="ellipse">
              <a:avLst/>
            </a:prstGeom>
            <a:solidFill>
              <a:schemeClr val="accent1"/>
            </a:solidFill>
            <a:ln w="9525">
              <a:noFill/>
              <a:round/>
              <a:headEnd/>
              <a:tailE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headEnd/>
              <a:tailE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headEnd/>
              <a:tailEnd/>
            </a:ln>
          </p:spPr>
          <p:txBody>
            <a:bodyPr wrap="none" anchor="ctr"/>
            <a:lstStyle/>
            <a:p>
              <a:endParaRPr lang="zh-CN" altLang="en-US"/>
            </a:p>
          </p:txBody>
        </p:sp>
        <p:sp>
          <p:nvSpPr>
            <p:cNvPr id="1056" name="Oval 32"/>
            <p:cNvSpPr>
              <a:spLocks noChangeArrowheads="1"/>
            </p:cNvSpPr>
            <p:nvPr/>
          </p:nvSpPr>
          <p:spPr bwMode="auto">
            <a:xfrm>
              <a:off x="5360" y="1520"/>
              <a:ext cx="76" cy="79"/>
            </a:xfrm>
            <a:prstGeom prst="ellipse">
              <a:avLst/>
            </a:prstGeom>
            <a:solidFill>
              <a:schemeClr val="accent1"/>
            </a:solidFill>
            <a:ln w="9525">
              <a:noFill/>
              <a:round/>
              <a:headEnd/>
              <a:tailEnd/>
            </a:ln>
          </p:spPr>
          <p:txBody>
            <a:bodyPr wrap="none" anchor="ctr"/>
            <a:lstStyle/>
            <a:p>
              <a:endParaRPr lang="zh-CN" altLang="en-US"/>
            </a:p>
          </p:txBody>
        </p:sp>
        <p:sp>
          <p:nvSpPr>
            <p:cNvPr id="1057" name="Oval 33"/>
            <p:cNvSpPr>
              <a:spLocks noChangeArrowheads="1"/>
            </p:cNvSpPr>
            <p:nvPr/>
          </p:nvSpPr>
          <p:spPr bwMode="auto">
            <a:xfrm>
              <a:off x="5472" y="1520"/>
              <a:ext cx="73" cy="79"/>
            </a:xfrm>
            <a:prstGeom prst="ellipse">
              <a:avLst/>
            </a:prstGeom>
            <a:solidFill>
              <a:schemeClr val="folHlink"/>
            </a:solidFill>
            <a:ln w="9525">
              <a:noFill/>
              <a:round/>
              <a:headEnd/>
              <a:tailEnd/>
            </a:ln>
          </p:spPr>
          <p:txBody>
            <a:bodyPr wrap="none" anchor="ctr"/>
            <a:lstStyle/>
            <a:p>
              <a:endParaRPr lang="zh-CN" altLang="en-US"/>
            </a:p>
          </p:txBody>
        </p:sp>
        <p:sp>
          <p:nvSpPr>
            <p:cNvPr id="1058" name="Oval 34"/>
            <p:cNvSpPr>
              <a:spLocks noChangeArrowheads="1"/>
            </p:cNvSpPr>
            <p:nvPr/>
          </p:nvSpPr>
          <p:spPr bwMode="auto">
            <a:xfrm>
              <a:off x="5136" y="1632"/>
              <a:ext cx="80" cy="75"/>
            </a:xfrm>
            <a:prstGeom prst="ellipse">
              <a:avLst/>
            </a:prstGeom>
            <a:solidFill>
              <a:schemeClr val="accent1"/>
            </a:solidFill>
            <a:ln w="9525">
              <a:noFill/>
              <a:round/>
              <a:headEnd/>
              <a:tailEnd/>
            </a:ln>
          </p:spPr>
          <p:txBody>
            <a:bodyPr wrap="none" anchor="ctr"/>
            <a:lstStyle/>
            <a:p>
              <a:endParaRPr lang="zh-CN" altLang="en-US"/>
            </a:p>
          </p:txBody>
        </p:sp>
        <p:sp>
          <p:nvSpPr>
            <p:cNvPr id="1059" name="Oval 35"/>
            <p:cNvSpPr>
              <a:spLocks noChangeArrowheads="1"/>
            </p:cNvSpPr>
            <p:nvPr/>
          </p:nvSpPr>
          <p:spPr bwMode="auto">
            <a:xfrm>
              <a:off x="5248" y="1632"/>
              <a:ext cx="79" cy="75"/>
            </a:xfrm>
            <a:prstGeom prst="ellipse">
              <a:avLst/>
            </a:prstGeom>
            <a:solidFill>
              <a:schemeClr val="accent1"/>
            </a:solidFill>
            <a:ln w="9525">
              <a:noFill/>
              <a:round/>
              <a:headEnd/>
              <a:tailEnd/>
            </a:ln>
          </p:spPr>
          <p:txBody>
            <a:bodyPr wrap="none" anchor="ctr"/>
            <a:lstStyle/>
            <a:p>
              <a:endParaRPr lang="zh-CN" altLang="en-US"/>
            </a:p>
          </p:txBody>
        </p:sp>
        <p:sp>
          <p:nvSpPr>
            <p:cNvPr id="1060" name="Oval 36"/>
            <p:cNvSpPr>
              <a:spLocks noChangeArrowheads="1"/>
            </p:cNvSpPr>
            <p:nvPr/>
          </p:nvSpPr>
          <p:spPr bwMode="auto">
            <a:xfrm>
              <a:off x="5360" y="1632"/>
              <a:ext cx="76" cy="75"/>
            </a:xfrm>
            <a:prstGeom prst="ellipse">
              <a:avLst/>
            </a:prstGeom>
            <a:solidFill>
              <a:schemeClr val="folHlink"/>
            </a:solidFill>
            <a:ln w="9525">
              <a:noFill/>
              <a:round/>
              <a:headEnd/>
              <a:tailEnd/>
            </a:ln>
          </p:spPr>
          <p:txBody>
            <a:bodyPr wrap="none" anchor="ctr"/>
            <a:lstStyle/>
            <a:p>
              <a:endParaRPr lang="zh-CN" altLang="en-US"/>
            </a:p>
          </p:txBody>
        </p:sp>
        <p:sp>
          <p:nvSpPr>
            <p:cNvPr id="1061" name="Oval 37"/>
            <p:cNvSpPr>
              <a:spLocks noChangeArrowheads="1"/>
            </p:cNvSpPr>
            <p:nvPr/>
          </p:nvSpPr>
          <p:spPr bwMode="auto">
            <a:xfrm>
              <a:off x="5472" y="1632"/>
              <a:ext cx="73" cy="75"/>
            </a:xfrm>
            <a:prstGeom prst="ellipse">
              <a:avLst/>
            </a:prstGeom>
            <a:solidFill>
              <a:schemeClr val="folHlink"/>
            </a:solidFill>
            <a:ln w="9525">
              <a:noFill/>
              <a:round/>
              <a:headEnd/>
              <a:tailE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headEnd/>
              <a:tailEnd/>
            </a:ln>
          </p:spPr>
          <p:txBody>
            <a:bodyPr wrap="none" anchor="ctr"/>
            <a:lstStyle/>
            <a:p>
              <a:endParaRPr lang="zh-CN" altLang="en-US"/>
            </a:p>
          </p:txBody>
        </p:sp>
        <p:sp>
          <p:nvSpPr>
            <p:cNvPr id="1063" name="Oval 39"/>
            <p:cNvSpPr>
              <a:spLocks noChangeArrowheads="1"/>
            </p:cNvSpPr>
            <p:nvPr/>
          </p:nvSpPr>
          <p:spPr bwMode="auto">
            <a:xfrm>
              <a:off x="5472" y="1744"/>
              <a:ext cx="73" cy="80"/>
            </a:xfrm>
            <a:prstGeom prst="ellipse">
              <a:avLst/>
            </a:prstGeom>
            <a:solidFill>
              <a:schemeClr val="folHlink"/>
            </a:solidFill>
            <a:ln w="9525">
              <a:noFill/>
              <a:round/>
              <a:headEnd/>
              <a:tailE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887"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5.1.swf"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hyperlink" Target="5.2.swf"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5-5.13.swf"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5-5.13.swf"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5-5.13.swf"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5-5.13.swf"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5-5.13.swf" TargetMode="Externa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hyperlink" Target="5.14.swf" TargetMode="Externa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5.17.swf" TargetMode="Externa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5.19.swf"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5.18-20.swf" TargetMode="Externa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5.20.swf" TargetMode="External"/><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5.21.swf" TargetMode="Externa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4.png"/><Relationship Id="rId5" Type="http://schemas.openxmlformats.org/officeDocument/2006/relationships/oleObject" Target="../embeddings/oleObject3.bin"/><Relationship Id="rId4" Type="http://schemas.openxmlformats.org/officeDocument/2006/relationships/image" Target="../media/image43.png"/><Relationship Id="rId9" Type="http://schemas.openxmlformats.org/officeDocument/2006/relationships/image" Target="../media/image42.png"/></Relationships>
</file>

<file path=ppt/slides/_rels/slide61.xml.rels><?xml version="1.0" encoding="UTF-8" standalone="yes"?>
<Relationships xmlns="http://schemas.openxmlformats.org/package/2006/relationships"><Relationship Id="rId3" Type="http://schemas.openxmlformats.org/officeDocument/2006/relationships/hyperlink" Target="5.23.swf" TargetMode="External"/><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8.png"/></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3.png"/><Relationship Id="rId4" Type="http://schemas.openxmlformats.org/officeDocument/2006/relationships/oleObject" Target="../embeddings/oleObject6.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73.png"/><Relationship Id="rId4" Type="http://schemas.openxmlformats.org/officeDocument/2006/relationships/oleObject" Target="../embeddings/oleObject8.bin"/></Relationships>
</file>

<file path=ppt/slides/_rels/slide10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73.png"/><Relationship Id="rId4" Type="http://schemas.openxmlformats.org/officeDocument/2006/relationships/oleObject" Target="../embeddings/oleObject9.bin"/></Relationships>
</file>

<file path=ppt/slides/_rels/slide10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78.png"/></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78.png"/></Relationships>
</file>

<file path=ppt/slides/_rels/slide1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82.png"/></Relationships>
</file>

<file path=ppt/slides/_rels/slide12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84.png"/><Relationship Id="rId4" Type="http://schemas.openxmlformats.org/officeDocument/2006/relationships/oleObject" Target="../embeddings/oleObject13.bin"/></Relationships>
</file>

<file path=ppt/slides/_rels/slide12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85.png"/><Relationship Id="rId4" Type="http://schemas.openxmlformats.org/officeDocument/2006/relationships/oleObject" Target="../embeddings/oleObject14.bin"/></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8.png"/><Relationship Id="rId5" Type="http://schemas.openxmlformats.org/officeDocument/2006/relationships/oleObject" Target="../embeddings/oleObject16.bin"/><Relationship Id="rId4" Type="http://schemas.openxmlformats.org/officeDocument/2006/relationships/image" Target="../media/image87.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9.png"/><Relationship Id="rId5" Type="http://schemas.openxmlformats.org/officeDocument/2006/relationships/oleObject" Target="../embeddings/oleObject17.bin"/><Relationship Id="rId4" Type="http://schemas.openxmlformats.org/officeDocument/2006/relationships/image" Target="../media/image90.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91.png"/><Relationship Id="rId5" Type="http://schemas.openxmlformats.org/officeDocument/2006/relationships/oleObject" Target="../embeddings/oleObject18.bin"/><Relationship Id="rId4" Type="http://schemas.openxmlformats.org/officeDocument/2006/relationships/image" Target="../media/image92.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oleObject" Target="../embeddings/oleObject19.bin"/></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9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hyperlink" Target="5.33.swf" TargetMode="External"/><Relationship Id="rId2" Type="http://schemas.openxmlformats.org/officeDocument/2006/relationships/image" Target="../media/image9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p:spPr>
        <p:txBody>
          <a:bodyPr/>
          <a:lstStyle/>
          <a:p>
            <a:fld id="{0768D26D-B36E-472B-88AF-9BE80771E21F}" type="slidenum">
              <a:rPr lang="en-US" altLang="zh-CN" smtClean="0"/>
              <a:pPr/>
              <a:t>1</a:t>
            </a:fld>
            <a:endParaRPr lang="en-US" altLang="zh-CN" dirty="0" smtClean="0"/>
          </a:p>
        </p:txBody>
      </p:sp>
      <p:sp>
        <p:nvSpPr>
          <p:cNvPr id="3075" name="Rectangle 2"/>
          <p:cNvSpPr>
            <a:spLocks noGrp="1" noChangeArrowheads="1"/>
          </p:cNvSpPr>
          <p:nvPr>
            <p:ph type="ctrTitle"/>
          </p:nvPr>
        </p:nvSpPr>
        <p:spPr/>
        <p:txBody>
          <a:bodyPr/>
          <a:lstStyle/>
          <a:p>
            <a:pPr eaLnBrk="1" hangingPunct="1"/>
            <a:r>
              <a:rPr lang="zh-CN" altLang="en-US" b="0" smtClean="0">
                <a:solidFill>
                  <a:schemeClr val="tx1"/>
                </a:solidFill>
              </a:rPr>
              <a:t>第五章   中央处理机</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p>
            <a:fld id="{8394D9B8-4DFC-4882-A28E-91FD9CE16BC8}" type="slidenum">
              <a:rPr lang="en-US" altLang="zh-CN" smtClean="0"/>
              <a:pPr/>
              <a:t>2</a:t>
            </a:fld>
            <a:endParaRPr lang="en-US" altLang="zh-CN" dirty="0" smtClean="0"/>
          </a:p>
        </p:txBody>
      </p:sp>
      <p:sp>
        <p:nvSpPr>
          <p:cNvPr id="4099" name="Rectangle 4"/>
          <p:cNvSpPr>
            <a:spLocks noChangeArrowheads="1"/>
          </p:cNvSpPr>
          <p:nvPr/>
        </p:nvSpPr>
        <p:spPr bwMode="auto">
          <a:xfrm>
            <a:off x="323850" y="476250"/>
            <a:ext cx="7704138" cy="5705475"/>
          </a:xfrm>
          <a:prstGeom prst="rect">
            <a:avLst/>
          </a:prstGeom>
          <a:noFill/>
          <a:ln w="12700" cap="sq">
            <a:noFill/>
            <a:miter lim="800000"/>
            <a:headEnd type="none" w="sm" len="sm"/>
            <a:tailEnd type="none" w="sm" len="sm"/>
          </a:ln>
        </p:spPr>
        <p:txBody>
          <a:bodyPr>
            <a:spAutoFit/>
          </a:bodyPr>
          <a:lstStyle/>
          <a:p>
            <a:r>
              <a:rPr lang="zh-CN" altLang="en-US" sz="4400" b="0">
                <a:solidFill>
                  <a:schemeClr val="tx1"/>
                </a:solidFill>
                <a:latin typeface="宋体" pitchFamily="2" charset="-122"/>
              </a:rPr>
              <a:t>第五章 中央处理机</a:t>
            </a:r>
          </a:p>
          <a:p>
            <a:r>
              <a:rPr lang="zh-CN" altLang="en-US" sz="3200">
                <a:solidFill>
                  <a:schemeClr val="tx2"/>
                </a:solidFill>
                <a:latin typeface="宋体" pitchFamily="2" charset="-122"/>
              </a:rPr>
              <a:t>    </a:t>
            </a:r>
            <a:r>
              <a:rPr lang="zh-CN" altLang="en-US" sz="3600">
                <a:solidFill>
                  <a:schemeClr val="tx2"/>
                </a:solidFill>
                <a:latin typeface="宋体" pitchFamily="2" charset="-122"/>
              </a:rPr>
              <a:t>当用计算机解决某个问题时，我们首先必须为它编写程序。程序是一个指令序列，这个序列明确告诉计算机应该执行什么操作，在什么地方找到用来操作的数据。一旦把程序装入内存储器，就可以由计算机来自动完成取出指令和执行指令的任务。专门用来完成此项工作的计算机部件称为中央处理机，通常简称</a:t>
            </a:r>
            <a:r>
              <a:rPr lang="en-US" altLang="zh-CN" sz="3600" dirty="0">
                <a:solidFill>
                  <a:schemeClr val="tx2"/>
                </a:solidFill>
                <a:latin typeface="宋体" pitchFamily="2" charset="-122"/>
              </a:rPr>
              <a:t>CPU</a:t>
            </a:r>
            <a:r>
              <a:rPr lang="zh-CN" altLang="en-US" sz="3600">
                <a:solidFill>
                  <a:schemeClr val="tx2"/>
                </a:solidFill>
                <a:latin typeface="宋体" pitchFamily="2" charset="-122"/>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p>
            <a:fld id="{B154F16B-61E8-460F-8C46-C95A593B539E}" type="slidenum">
              <a:rPr lang="en-US" altLang="zh-CN" smtClean="0"/>
              <a:pPr/>
              <a:t>3</a:t>
            </a:fld>
            <a:endParaRPr lang="en-US" altLang="zh-CN" dirty="0" smtClean="0"/>
          </a:p>
        </p:txBody>
      </p:sp>
      <p:sp>
        <p:nvSpPr>
          <p:cNvPr id="5123" name="Rectangle 2"/>
          <p:cNvSpPr>
            <a:spLocks noGrp="1" noChangeArrowheads="1"/>
          </p:cNvSpPr>
          <p:nvPr>
            <p:ph type="title"/>
          </p:nvPr>
        </p:nvSpPr>
        <p:spPr>
          <a:xfrm>
            <a:off x="468313" y="260350"/>
            <a:ext cx="7543800" cy="785813"/>
          </a:xfrm>
        </p:spPr>
        <p:txBody>
          <a:bodyPr/>
          <a:lstStyle/>
          <a:p>
            <a:pPr eaLnBrk="1" hangingPunct="1"/>
            <a:r>
              <a:rPr lang="en-US" altLang="zh-CN" dirty="0" smtClean="0">
                <a:solidFill>
                  <a:schemeClr val="tx1"/>
                </a:solidFill>
                <a:cs typeface="Times New Roman" pitchFamily="18" charset="0"/>
              </a:rPr>
              <a:t>5</a:t>
            </a:r>
            <a:r>
              <a:rPr lang="en-US" altLang="zh-CN" dirty="0" smtClean="0">
                <a:solidFill>
                  <a:schemeClr val="tx1"/>
                </a:solidFill>
              </a:rPr>
              <a:t>.1  CPU</a:t>
            </a:r>
            <a:r>
              <a:rPr lang="zh-CN" altLang="en-US" smtClean="0">
                <a:solidFill>
                  <a:schemeClr val="tx1"/>
                </a:solidFill>
              </a:rPr>
              <a:t>的功能和组成</a:t>
            </a:r>
          </a:p>
        </p:txBody>
      </p:sp>
      <p:sp>
        <p:nvSpPr>
          <p:cNvPr id="5124" name="Rectangle 3"/>
          <p:cNvSpPr>
            <a:spLocks noGrp="1" noChangeArrowheads="1"/>
          </p:cNvSpPr>
          <p:nvPr>
            <p:ph type="body" idx="1"/>
          </p:nvPr>
        </p:nvSpPr>
        <p:spPr>
          <a:xfrm>
            <a:off x="323850" y="1412875"/>
            <a:ext cx="8445500" cy="4411663"/>
          </a:xfrm>
        </p:spPr>
        <p:txBody>
          <a:bodyPr/>
          <a:lstStyle/>
          <a:p>
            <a:pPr eaLnBrk="1" hangingPunct="1">
              <a:buFont typeface="Wingdings" pitchFamily="2" charset="2"/>
              <a:buNone/>
            </a:pPr>
            <a:r>
              <a:rPr lang="en-US" altLang="zh-CN" sz="3600" dirty="0" smtClean="0">
                <a:latin typeface="宋体" pitchFamily="2" charset="-122"/>
              </a:rPr>
              <a:t>1</a:t>
            </a:r>
            <a:r>
              <a:rPr lang="zh-CN" altLang="en-US" sz="3600" dirty="0" smtClean="0">
                <a:latin typeface="宋体" pitchFamily="2" charset="-122"/>
              </a:rPr>
              <a:t>、</a:t>
            </a:r>
            <a:r>
              <a:rPr lang="en-US" altLang="zh-CN" sz="3600" dirty="0" smtClean="0">
                <a:latin typeface="宋体" pitchFamily="2" charset="-122"/>
              </a:rPr>
              <a:t>CPU</a:t>
            </a:r>
            <a:r>
              <a:rPr lang="zh-CN" altLang="en-US" sz="3600" dirty="0" smtClean="0">
                <a:latin typeface="宋体" pitchFamily="2" charset="-122"/>
              </a:rPr>
              <a:t>的功能</a:t>
            </a:r>
          </a:p>
          <a:p>
            <a:pPr lvl="1" eaLnBrk="1" hangingPunct="1"/>
            <a:endParaRPr lang="zh-CN" altLang="en-US" sz="3600" dirty="0" smtClean="0">
              <a:latin typeface="宋体" pitchFamily="2" charset="-122"/>
            </a:endParaRPr>
          </a:p>
          <a:p>
            <a:pPr lvl="1" eaLnBrk="1" hangingPunct="1"/>
            <a:endParaRPr lang="zh-CN" altLang="en-US" sz="3200" dirty="0" smtClean="0">
              <a:latin typeface="宋体" pitchFamily="2" charset="-122"/>
            </a:endParaRPr>
          </a:p>
          <a:p>
            <a:pPr lvl="1" eaLnBrk="1" hangingPunct="1"/>
            <a:r>
              <a:rPr lang="zh-CN" altLang="en-US" sz="3200" dirty="0" smtClean="0">
                <a:latin typeface="宋体" pitchFamily="2" charset="-122"/>
              </a:rPr>
              <a:t>指令控制（程序的顺序控制）</a:t>
            </a:r>
          </a:p>
          <a:p>
            <a:pPr lvl="1" eaLnBrk="1" hangingPunct="1"/>
            <a:r>
              <a:rPr lang="zh-CN" altLang="en-US" sz="3200" dirty="0" smtClean="0">
                <a:latin typeface="宋体" pitchFamily="2" charset="-122"/>
              </a:rPr>
              <a:t>操作控制（一条指令有若干操作信号实现）</a:t>
            </a:r>
          </a:p>
          <a:p>
            <a:pPr lvl="1" eaLnBrk="1" hangingPunct="1"/>
            <a:r>
              <a:rPr lang="zh-CN" altLang="en-US" sz="3200" dirty="0" smtClean="0">
                <a:latin typeface="宋体" pitchFamily="2" charset="-122"/>
              </a:rPr>
              <a:t>时间控制（指令各个操作实施时间的定时）</a:t>
            </a:r>
          </a:p>
          <a:p>
            <a:pPr lvl="1" eaLnBrk="1" hangingPunct="1"/>
            <a:r>
              <a:rPr lang="zh-CN" altLang="en-US" sz="3200" dirty="0" smtClean="0">
                <a:latin typeface="宋体" pitchFamily="2" charset="-122"/>
              </a:rPr>
              <a:t>数据加工（算术运算和逻辑运算）</a:t>
            </a:r>
          </a:p>
        </p:txBody>
      </p:sp>
      <p:sp>
        <p:nvSpPr>
          <p:cNvPr id="6166" name="AutoShape 22"/>
          <p:cNvSpPr>
            <a:spLocks/>
          </p:cNvSpPr>
          <p:nvPr/>
        </p:nvSpPr>
        <p:spPr bwMode="auto">
          <a:xfrm>
            <a:off x="2268538" y="1125538"/>
            <a:ext cx="6551612" cy="2159000"/>
          </a:xfrm>
          <a:prstGeom prst="callout2">
            <a:avLst>
              <a:gd name="adj1" fmla="val 5296"/>
              <a:gd name="adj2" fmla="val -1162"/>
              <a:gd name="adj3" fmla="val 5296"/>
              <a:gd name="adj4" fmla="val -7755"/>
              <a:gd name="adj5" fmla="val 112796"/>
              <a:gd name="adj6" fmla="val -14537"/>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itchFamily="2" charset="-122"/>
              </a:rPr>
              <a:t>    </a:t>
            </a:r>
            <a:r>
              <a:rPr lang="zh-CN" altLang="en-US" sz="3200" b="0">
                <a:solidFill>
                  <a:schemeClr val="tx1"/>
                </a:solidFill>
                <a:latin typeface="宋体" pitchFamily="2" charset="-122"/>
              </a:rPr>
              <a:t>程序的顺序控制称为指令控制。由于程序是一个指令序列，这些指令的相互顺序不能任意颠倒，必须严格按程序规定的顺序进行。 </a:t>
            </a:r>
          </a:p>
        </p:txBody>
      </p:sp>
      <p:sp>
        <p:nvSpPr>
          <p:cNvPr id="6167" name="AutoShape 23"/>
          <p:cNvSpPr>
            <a:spLocks/>
          </p:cNvSpPr>
          <p:nvPr/>
        </p:nvSpPr>
        <p:spPr bwMode="auto">
          <a:xfrm>
            <a:off x="2305080" y="620713"/>
            <a:ext cx="6553200" cy="3168650"/>
          </a:xfrm>
          <a:prstGeom prst="callout2">
            <a:avLst>
              <a:gd name="adj1" fmla="val 3606"/>
              <a:gd name="adj2" fmla="val -1162"/>
              <a:gd name="adj3" fmla="val 3606"/>
              <a:gd name="adj4" fmla="val -7435"/>
              <a:gd name="adj5" fmla="val 110319"/>
              <a:gd name="adj6" fmla="val -13903"/>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itchFamily="2" charset="-122"/>
              </a:rPr>
              <a:t>    </a:t>
            </a:r>
            <a:r>
              <a:rPr lang="zh-CN" altLang="en-US" sz="3200" b="0" dirty="0">
                <a:solidFill>
                  <a:schemeClr val="tx1"/>
                </a:solidFill>
                <a:latin typeface="宋体" pitchFamily="2" charset="-122"/>
              </a:rPr>
              <a:t>一条指令的功能由若干个操作信号的组合来实现的，因此，</a:t>
            </a:r>
            <a:r>
              <a:rPr lang="en-US" altLang="zh-CN" sz="3200" b="0" dirty="0">
                <a:solidFill>
                  <a:schemeClr val="tx1"/>
                </a:solidFill>
                <a:latin typeface="宋体" pitchFamily="2" charset="-122"/>
              </a:rPr>
              <a:t>CPU</a:t>
            </a:r>
            <a:r>
              <a:rPr lang="zh-CN" altLang="en-US" sz="3200" b="0" dirty="0">
                <a:solidFill>
                  <a:schemeClr val="tx1"/>
                </a:solidFill>
                <a:latin typeface="宋体" pitchFamily="2" charset="-122"/>
              </a:rPr>
              <a:t>管理并产生由内存取出的每条指令的操作信号，把各种操作信号送往相应的部件，从而控制这些部件按指令的要求进行动作</a:t>
            </a:r>
            <a:r>
              <a:rPr lang="zh-CN" altLang="en-US" sz="3200" b="0" dirty="0" smtClean="0">
                <a:solidFill>
                  <a:schemeClr val="tx1"/>
                </a:solidFill>
                <a:latin typeface="宋体" pitchFamily="2" charset="-122"/>
              </a:rPr>
              <a:t>。</a:t>
            </a:r>
            <a:r>
              <a:rPr lang="zh-CN" altLang="en-US" b="0" dirty="0" smtClean="0">
                <a:solidFill>
                  <a:schemeClr val="tx1"/>
                </a:solidFill>
              </a:rPr>
              <a:t> </a:t>
            </a:r>
            <a:endParaRPr lang="zh-CN" altLang="en-US" b="0" dirty="0">
              <a:solidFill>
                <a:schemeClr val="tx1"/>
              </a:solidFill>
            </a:endParaRPr>
          </a:p>
        </p:txBody>
      </p:sp>
      <p:sp>
        <p:nvSpPr>
          <p:cNvPr id="6168" name="AutoShape 24"/>
          <p:cNvSpPr>
            <a:spLocks/>
          </p:cNvSpPr>
          <p:nvPr/>
        </p:nvSpPr>
        <p:spPr bwMode="auto">
          <a:xfrm>
            <a:off x="2268538" y="2276475"/>
            <a:ext cx="6553200" cy="2089150"/>
          </a:xfrm>
          <a:prstGeom prst="callout2">
            <a:avLst>
              <a:gd name="adj1" fmla="val 5472"/>
              <a:gd name="adj2" fmla="val -1162"/>
              <a:gd name="adj3" fmla="val 5472"/>
              <a:gd name="adj4" fmla="val -5815"/>
              <a:gd name="adj5" fmla="val 118921"/>
              <a:gd name="adj6" fmla="val -10634"/>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rPr>
              <a:t>       </a:t>
            </a:r>
            <a:r>
              <a:rPr lang="zh-CN" altLang="en-US" sz="3200" b="0" dirty="0">
                <a:solidFill>
                  <a:schemeClr val="tx1"/>
                </a:solidFill>
              </a:rPr>
              <a:t>对各种操作实施时间上的定时称为时间控制。在计算机中，各种指令的操作信号以及一条指令的整个执行过程都受到时间的严格定时。</a:t>
            </a:r>
            <a:endParaRPr lang="zh-CN" altLang="en-US" b="0" dirty="0">
              <a:solidFill>
                <a:schemeClr val="tx1"/>
              </a:solidFill>
            </a:endParaRPr>
          </a:p>
        </p:txBody>
      </p:sp>
      <p:sp>
        <p:nvSpPr>
          <p:cNvPr id="6169" name="AutoShape 25"/>
          <p:cNvSpPr>
            <a:spLocks/>
          </p:cNvSpPr>
          <p:nvPr/>
        </p:nvSpPr>
        <p:spPr bwMode="auto">
          <a:xfrm>
            <a:off x="2411413" y="3933825"/>
            <a:ext cx="6553200" cy="1079500"/>
          </a:xfrm>
          <a:prstGeom prst="callout2">
            <a:avLst>
              <a:gd name="adj1" fmla="val 10588"/>
              <a:gd name="adj2" fmla="val -1162"/>
              <a:gd name="adj3" fmla="val 10588"/>
              <a:gd name="adj4" fmla="val -6685"/>
              <a:gd name="adj5" fmla="val 125296"/>
              <a:gd name="adj6" fmla="val -12426"/>
            </a:avLst>
          </a:prstGeom>
          <a:solidFill>
            <a:srgbClr val="66FFFF"/>
          </a:solidFill>
          <a:ln w="38100">
            <a:solidFill>
              <a:srgbClr val="FF3300"/>
            </a:solidFill>
            <a:prstDash val="sysDot"/>
            <a:miter lim="800000"/>
            <a:headEnd type="none" w="sm" len="sm"/>
            <a:tailEnd type="none" w="sm" len="sm"/>
          </a:ln>
        </p:spPr>
        <p:txBody>
          <a:bodyPr/>
          <a:lstStyle/>
          <a:p>
            <a:r>
              <a:rPr lang="en-US" altLang="zh-CN" sz="3200" b="0" dirty="0">
                <a:solidFill>
                  <a:schemeClr val="tx1"/>
                </a:solidFill>
                <a:latin typeface="宋体" pitchFamily="2" charset="-122"/>
              </a:rPr>
              <a:t>    </a:t>
            </a:r>
            <a:r>
              <a:rPr lang="zh-CN" altLang="en-US" sz="3200" b="0">
                <a:solidFill>
                  <a:schemeClr val="tx1"/>
                </a:solidFill>
                <a:latin typeface="宋体" pitchFamily="2" charset="-122"/>
              </a:rPr>
              <a:t>数据加工就是对数据进行算术运算和逻辑运算处理。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66"/>
                                        </p:tgtEl>
                                        <p:attrNameLst>
                                          <p:attrName>style.visibility</p:attrName>
                                        </p:attrNameLst>
                                      </p:cBhvr>
                                      <p:to>
                                        <p:strVal val="visible"/>
                                      </p:to>
                                    </p:set>
                                    <p:animEffect transition="in" filter="box(in)">
                                      <p:cBhvr>
                                        <p:cTn id="7" dur="500"/>
                                        <p:tgtEl>
                                          <p:spTgt spid="6166"/>
                                        </p:tgtEl>
                                      </p:cBhvr>
                                    </p:animEffect>
                                  </p:childTnLst>
                                  <p:subTnLst>
                                    <p:set>
                                      <p:cBhvr override="childStyle">
                                        <p:cTn dur="1" fill="hold" display="0" masterRel="nextClick" afterEffect="1"/>
                                        <p:tgtEl>
                                          <p:spTgt spid="616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67"/>
                                        </p:tgtEl>
                                        <p:attrNameLst>
                                          <p:attrName>style.visibility</p:attrName>
                                        </p:attrNameLst>
                                      </p:cBhvr>
                                      <p:to>
                                        <p:strVal val="visible"/>
                                      </p:to>
                                    </p:set>
                                    <p:animEffect transition="in" filter="box(in)">
                                      <p:cBhvr>
                                        <p:cTn id="12" dur="500"/>
                                        <p:tgtEl>
                                          <p:spTgt spid="6167"/>
                                        </p:tgtEl>
                                      </p:cBhvr>
                                    </p:animEffect>
                                  </p:childTnLst>
                                  <p:subTnLst>
                                    <p:set>
                                      <p:cBhvr override="childStyle">
                                        <p:cTn dur="1" fill="hold" display="0" masterRel="nextClick" afterEffect="1"/>
                                        <p:tgtEl>
                                          <p:spTgt spid="616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68"/>
                                        </p:tgtEl>
                                        <p:attrNameLst>
                                          <p:attrName>style.visibility</p:attrName>
                                        </p:attrNameLst>
                                      </p:cBhvr>
                                      <p:to>
                                        <p:strVal val="visible"/>
                                      </p:to>
                                    </p:set>
                                    <p:animEffect transition="in" filter="box(in)">
                                      <p:cBhvr>
                                        <p:cTn id="17" dur="500"/>
                                        <p:tgtEl>
                                          <p:spTgt spid="6168"/>
                                        </p:tgtEl>
                                      </p:cBhvr>
                                    </p:animEffect>
                                  </p:childTnLst>
                                  <p:subTnLst>
                                    <p:set>
                                      <p:cBhvr override="childStyle">
                                        <p:cTn dur="1" fill="hold" display="0" masterRel="nextClick" afterEffect="1"/>
                                        <p:tgtEl>
                                          <p:spTgt spid="6168"/>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169"/>
                                        </p:tgtEl>
                                        <p:attrNameLst>
                                          <p:attrName>style.visibility</p:attrName>
                                        </p:attrNameLst>
                                      </p:cBhvr>
                                      <p:to>
                                        <p:strVal val="visible"/>
                                      </p:to>
                                    </p:set>
                                    <p:animEffect transition="in" filter="box(in)">
                                      <p:cBhvr>
                                        <p:cTn id="22" dur="500"/>
                                        <p:tgtEl>
                                          <p:spTgt spid="6169"/>
                                        </p:tgtEl>
                                      </p:cBhvr>
                                    </p:animEffect>
                                  </p:childTnLst>
                                  <p:subTnLst>
                                    <p:set>
                                      <p:cBhvr override="childStyle">
                                        <p:cTn dur="1" fill="hold" display="0" masterRel="nextClick" afterEffect="1"/>
                                        <p:tgtEl>
                                          <p:spTgt spid="61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6" grpId="0" animBg="1" autoUpdateAnimBg="0"/>
      <p:bldP spid="6167" grpId="0" animBg="1" autoUpdateAnimBg="0"/>
      <p:bldP spid="6168" grpId="0" animBg="1" autoUpdateAnimBg="0"/>
      <p:bldP spid="6169"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0766C3BE-BA8C-4F92-AB55-247E3E2A8379}" type="slidenum">
              <a:rPr lang="en-US" altLang="zh-CN" smtClean="0"/>
              <a:pPr/>
              <a:t>4</a:t>
            </a:fld>
            <a:endParaRPr lang="en-US" altLang="zh-CN" dirty="0" smtClean="0"/>
          </a:p>
        </p:txBody>
      </p:sp>
      <p:pic>
        <p:nvPicPr>
          <p:cNvPr id="6147" name="Picture 2" descr="5a1"/>
          <p:cNvPicPr>
            <a:picLocks noChangeAspect="1" noChangeArrowheads="1"/>
          </p:cNvPicPr>
          <p:nvPr/>
        </p:nvPicPr>
        <p:blipFill>
          <a:blip r:embed="rId2"/>
          <a:srcRect/>
          <a:stretch>
            <a:fillRect/>
          </a:stretch>
        </p:blipFill>
        <p:spPr bwMode="auto">
          <a:xfrm>
            <a:off x="323850" y="836613"/>
            <a:ext cx="7991475" cy="5832475"/>
          </a:xfrm>
          <a:prstGeom prst="rect">
            <a:avLst/>
          </a:prstGeom>
          <a:noFill/>
          <a:ln w="9525">
            <a:noFill/>
            <a:miter lim="800000"/>
            <a:headEnd/>
            <a:tailEnd/>
          </a:ln>
        </p:spPr>
      </p:pic>
      <p:sp>
        <p:nvSpPr>
          <p:cNvPr id="6148" name="Rectangle 3"/>
          <p:cNvSpPr>
            <a:spLocks noGrp="1" noChangeArrowheads="1"/>
          </p:cNvSpPr>
          <p:nvPr>
            <p:ph type="title"/>
          </p:nvPr>
        </p:nvSpPr>
        <p:spPr>
          <a:xfrm>
            <a:off x="457200" y="122238"/>
            <a:ext cx="7543800" cy="714375"/>
          </a:xfrm>
          <a:noFill/>
        </p:spPr>
        <p:txBody>
          <a:bodyPr/>
          <a:lstStyle/>
          <a:p>
            <a:pPr eaLnBrk="1" hangingPunct="1"/>
            <a:r>
              <a:rPr lang="en-US" altLang="zh-CN" dirty="0" smtClean="0"/>
              <a:t>2</a:t>
            </a:r>
            <a:r>
              <a:rPr lang="zh-CN" altLang="en-US" smtClean="0"/>
              <a:t>、</a:t>
            </a:r>
            <a:r>
              <a:rPr lang="en-US" altLang="zh-CN" dirty="0" smtClean="0"/>
              <a:t>CPU</a:t>
            </a:r>
            <a:r>
              <a:rPr lang="zh-CN" altLang="en-US" smtClean="0"/>
              <a:t>的基本组成</a:t>
            </a:r>
          </a:p>
        </p:txBody>
      </p:sp>
      <p:sp>
        <p:nvSpPr>
          <p:cNvPr id="17412" name="AutoShape 4"/>
          <p:cNvSpPr>
            <a:spLocks noChangeArrowheads="1"/>
          </p:cNvSpPr>
          <p:nvPr/>
        </p:nvSpPr>
        <p:spPr bwMode="auto">
          <a:xfrm>
            <a:off x="65088" y="25400"/>
            <a:ext cx="3316287" cy="6669088"/>
          </a:xfrm>
          <a:prstGeom prst="wedgeRectCallout">
            <a:avLst>
              <a:gd name="adj1" fmla="val 57727"/>
              <a:gd name="adj2" fmla="val 30204"/>
            </a:avLst>
          </a:prstGeom>
          <a:solidFill>
            <a:schemeClr val="accent1"/>
          </a:solidFill>
          <a:ln w="12700" cap="sq">
            <a:solidFill>
              <a:schemeClr val="tx1"/>
            </a:solidFill>
            <a:miter lim="800000"/>
            <a:headEnd type="none" w="sm" len="sm"/>
            <a:tailEnd type="none" w="sm" len="sm"/>
          </a:ln>
        </p:spPr>
        <p:txBody>
          <a:bodyPr/>
          <a:lstStyle/>
          <a:p>
            <a:r>
              <a:rPr lang="zh-CN" altLang="en-US" sz="2400" dirty="0">
                <a:solidFill>
                  <a:schemeClr val="tx1"/>
                </a:solidFill>
                <a:latin typeface="宋体" pitchFamily="2" charset="-122"/>
              </a:rPr>
              <a:t>控制器：</a:t>
            </a:r>
            <a:r>
              <a:rPr lang="zh-CN" altLang="en-US" sz="2400" b="0" dirty="0">
                <a:solidFill>
                  <a:schemeClr val="tx1"/>
                </a:solidFill>
                <a:latin typeface="宋体" pitchFamily="2" charset="-122"/>
              </a:rPr>
              <a:t>由程序计数器、指令寄存器、指令译码器、时序产生器和操作控制器组成，它是发布命令的“决策机构”，即完成协调和指挥整个计算机系统的操作。它的主要功能有：</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从</a:t>
            </a:r>
            <a:r>
              <a:rPr lang="en-US" altLang="zh-CN" sz="2400" b="0" dirty="0">
                <a:solidFill>
                  <a:schemeClr val="tx1"/>
                </a:solidFill>
                <a:latin typeface="宋体" pitchFamily="2" charset="-122"/>
              </a:rPr>
              <a:t>cache</a:t>
            </a:r>
            <a:r>
              <a:rPr lang="zh-CN" altLang="en-US" sz="2400" b="0" dirty="0">
                <a:solidFill>
                  <a:schemeClr val="tx1"/>
                </a:solidFill>
                <a:latin typeface="宋体" pitchFamily="2" charset="-122"/>
              </a:rPr>
              <a:t>中取出一条指令，并指出下一条指令在</a:t>
            </a:r>
            <a:r>
              <a:rPr lang="en-US" altLang="zh-CN" sz="2400" b="0" dirty="0">
                <a:solidFill>
                  <a:schemeClr val="tx1"/>
                </a:solidFill>
                <a:latin typeface="宋体" pitchFamily="2" charset="-122"/>
              </a:rPr>
              <a:t>cache</a:t>
            </a:r>
            <a:r>
              <a:rPr lang="zh-CN" altLang="en-US" sz="2400" b="0" dirty="0">
                <a:solidFill>
                  <a:schemeClr val="tx1"/>
                </a:solidFill>
                <a:latin typeface="宋体" pitchFamily="2" charset="-122"/>
              </a:rPr>
              <a:t>中的位置；</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对指令进行译码或测试，并产生相应的操作控制信号，以便启动规定的动作；</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指挥并控制</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cache</a:t>
            </a:r>
            <a:r>
              <a:rPr lang="zh-CN" altLang="en-US" sz="2400" b="0" dirty="0">
                <a:solidFill>
                  <a:schemeClr val="tx1"/>
                </a:solidFill>
                <a:latin typeface="宋体" pitchFamily="2" charset="-122"/>
              </a:rPr>
              <a:t>和输入</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输出设备之间数据流动的方向。</a:t>
            </a:r>
          </a:p>
        </p:txBody>
      </p:sp>
      <p:sp>
        <p:nvSpPr>
          <p:cNvPr id="17413" name="AutoShape 5"/>
          <p:cNvSpPr>
            <a:spLocks noChangeArrowheads="1"/>
          </p:cNvSpPr>
          <p:nvPr/>
        </p:nvSpPr>
        <p:spPr bwMode="auto">
          <a:xfrm>
            <a:off x="4211638" y="188913"/>
            <a:ext cx="4249737" cy="5661025"/>
          </a:xfrm>
          <a:prstGeom prst="wedgeRectCallout">
            <a:avLst>
              <a:gd name="adj1" fmla="val -70097"/>
              <a:gd name="adj2" fmla="val 23750"/>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itchFamily="2" charset="-122"/>
              </a:rPr>
              <a:t>运算器</a:t>
            </a:r>
          </a:p>
          <a:p>
            <a:r>
              <a:rPr lang="zh-CN" altLang="en-US" sz="2400" b="0">
                <a:solidFill>
                  <a:schemeClr val="tx1"/>
                </a:solidFill>
                <a:latin typeface="宋体" pitchFamily="2" charset="-122"/>
              </a:rPr>
              <a:t>　　由算术逻辑单元</a:t>
            </a:r>
            <a:r>
              <a:rPr lang="en-US" altLang="zh-CN" sz="2400" b="0" dirty="0">
                <a:solidFill>
                  <a:schemeClr val="tx1"/>
                </a:solidFill>
                <a:latin typeface="宋体" pitchFamily="2" charset="-122"/>
              </a:rPr>
              <a:t>(ALU)</a:t>
            </a:r>
            <a:r>
              <a:rPr lang="zh-CN" altLang="en-US" sz="2400" b="0">
                <a:solidFill>
                  <a:schemeClr val="tx1"/>
                </a:solidFill>
                <a:latin typeface="宋体" pitchFamily="2" charset="-122"/>
              </a:rPr>
              <a:t>、通用寄存器、数据缓冲寄存器和状态条件寄存器组成，它是数据加工处理部件。相对控制器而言，运算器接受控制器的命令而进行动作 ，即运算器所进行的全部操作都是由控制器发出的控制信号来指挥的，所以它是执行部件。 </a:t>
            </a:r>
            <a:endParaRPr lang="en-US" altLang="zh-CN" sz="2400" b="0" dirty="0">
              <a:solidFill>
                <a:schemeClr val="tx1"/>
              </a:solidFill>
              <a:latin typeface="宋体" pitchFamily="2" charset="-122"/>
            </a:endParaRPr>
          </a:p>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运算器有两个主要功能：</a:t>
            </a:r>
          </a:p>
          <a:p>
            <a:r>
              <a:rPr lang="zh-CN" altLang="en-US" sz="2400" b="0">
                <a:solidFill>
                  <a:schemeClr val="tx1"/>
                </a:solidFill>
                <a:latin typeface="宋体" pitchFamily="2" charset="-122"/>
              </a:rPr>
              <a:t>    </a:t>
            </a:r>
            <a:r>
              <a:rPr lang="en-US" altLang="zh-CN" sz="2400" b="0" dirty="0">
                <a:solidFill>
                  <a:schemeClr val="tx1"/>
                </a:solidFill>
                <a:latin typeface="宋体" pitchFamily="2" charset="-122"/>
              </a:rPr>
              <a:t>(1)</a:t>
            </a:r>
            <a:r>
              <a:rPr lang="zh-CN" altLang="en-US" sz="2400" b="0">
                <a:solidFill>
                  <a:schemeClr val="tx1"/>
                </a:solidFill>
                <a:latin typeface="宋体" pitchFamily="2" charset="-122"/>
              </a:rPr>
              <a:t>执行所有的算术运算。 </a:t>
            </a:r>
          </a:p>
          <a:p>
            <a:r>
              <a:rPr lang="zh-CN" altLang="en-US" sz="2400" b="0">
                <a:solidFill>
                  <a:schemeClr val="tx1"/>
                </a:solidFill>
                <a:latin typeface="宋体" pitchFamily="2" charset="-122"/>
              </a:rPr>
              <a:t>    </a:t>
            </a:r>
            <a:r>
              <a:rPr lang="en-US" altLang="zh-CN" sz="2400" b="0" dirty="0">
                <a:solidFill>
                  <a:schemeClr val="tx1"/>
                </a:solidFill>
                <a:latin typeface="宋体" pitchFamily="2" charset="-122"/>
              </a:rPr>
              <a:t>(2)</a:t>
            </a:r>
            <a:r>
              <a:rPr lang="zh-CN" altLang="en-US" sz="2400" b="0">
                <a:solidFill>
                  <a:schemeClr val="tx1"/>
                </a:solidFill>
                <a:latin typeface="宋体" pitchFamily="2" charset="-122"/>
              </a:rPr>
              <a:t>执行所有的逻辑运算，并进行逻辑测试，如零值测试或两个值的比较。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blinds(horizontal)">
                                      <p:cBhvr>
                                        <p:cTn id="7" dur="500"/>
                                        <p:tgtEl>
                                          <p:spTgt spid="17412"/>
                                        </p:tgtEl>
                                      </p:cBhvr>
                                    </p:animEffect>
                                  </p:childTnLst>
                                  <p:subTnLst>
                                    <p:set>
                                      <p:cBhvr override="childStyle">
                                        <p:cTn dur="1" fill="hold" display="0" masterRel="nextClick" afterEffect="1"/>
                                        <p:tgtEl>
                                          <p:spTgt spid="1741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3"/>
                                        </p:tgtEl>
                                        <p:attrNameLst>
                                          <p:attrName>style.visibility</p:attrName>
                                        </p:attrNameLst>
                                      </p:cBhvr>
                                      <p:to>
                                        <p:strVal val="visible"/>
                                      </p:to>
                                    </p:set>
                                    <p:animEffect transition="in" filter="blinds(horizontal)">
                                      <p:cBhvr>
                                        <p:cTn id="12" dur="500"/>
                                        <p:tgtEl>
                                          <p:spTgt spid="17413"/>
                                        </p:tgtEl>
                                      </p:cBhvr>
                                    </p:animEffect>
                                  </p:childTnLst>
                                  <p:subTnLst>
                                    <p:set>
                                      <p:cBhvr override="childStyle">
                                        <p:cTn dur="1" fill="hold" display="0" masterRel="nextClick" afterEffect="1"/>
                                        <p:tgtEl>
                                          <p:spTgt spid="174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nimBg="1" autoUpdateAnimBg="0"/>
      <p:bldP spid="17413"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p>
            <a:fld id="{D6FE2785-4C23-449C-892A-45B7DA01CD7C}" type="slidenum">
              <a:rPr lang="en-US" altLang="zh-CN" smtClean="0"/>
              <a:pPr/>
              <a:t>5</a:t>
            </a:fld>
            <a:endParaRPr lang="en-US" altLang="zh-CN" dirty="0" smtClean="0"/>
          </a:p>
        </p:txBody>
      </p:sp>
      <p:sp>
        <p:nvSpPr>
          <p:cNvPr id="7171" name="Rectangle 2"/>
          <p:cNvSpPr>
            <a:spLocks noGrp="1" noChangeArrowheads="1"/>
          </p:cNvSpPr>
          <p:nvPr>
            <p:ph type="title"/>
          </p:nvPr>
        </p:nvSpPr>
        <p:spPr>
          <a:xfrm>
            <a:off x="323850" y="188913"/>
            <a:ext cx="4752975" cy="576262"/>
          </a:xfrm>
        </p:spPr>
        <p:txBody>
          <a:bodyPr/>
          <a:lstStyle/>
          <a:p>
            <a:pPr eaLnBrk="1" hangingPunct="1"/>
            <a:r>
              <a:rPr lang="en-US" altLang="zh-CN" sz="3500" b="0" dirty="0" smtClean="0">
                <a:solidFill>
                  <a:schemeClr val="tx1"/>
                </a:solidFill>
                <a:latin typeface="宋体" pitchFamily="2" charset="-122"/>
              </a:rPr>
              <a:t>3</a:t>
            </a:r>
            <a:r>
              <a:rPr lang="zh-CN" altLang="en-US" sz="3500" smtClean="0">
                <a:solidFill>
                  <a:schemeClr val="tx1"/>
                </a:solidFill>
                <a:latin typeface="宋体" pitchFamily="2" charset="-122"/>
              </a:rPr>
              <a:t>、</a:t>
            </a:r>
            <a:r>
              <a:rPr lang="en-US" altLang="zh-CN" sz="3500" b="0" dirty="0" smtClean="0">
                <a:solidFill>
                  <a:schemeClr val="tx1"/>
                </a:solidFill>
                <a:latin typeface="宋体" pitchFamily="2" charset="-122"/>
              </a:rPr>
              <a:t>CPU</a:t>
            </a:r>
            <a:r>
              <a:rPr lang="zh-CN" altLang="en-US" sz="3500" b="0" smtClean="0">
                <a:solidFill>
                  <a:schemeClr val="tx1"/>
                </a:solidFill>
                <a:latin typeface="宋体" pitchFamily="2" charset="-122"/>
              </a:rPr>
              <a:t>中的主要寄存器</a:t>
            </a:r>
          </a:p>
        </p:txBody>
      </p:sp>
      <p:pic>
        <p:nvPicPr>
          <p:cNvPr id="7172" name="Picture 7" descr="5a1"/>
          <p:cNvPicPr>
            <a:picLocks noChangeAspect="1" noChangeArrowheads="1"/>
          </p:cNvPicPr>
          <p:nvPr/>
        </p:nvPicPr>
        <p:blipFill>
          <a:blip r:embed="rId2"/>
          <a:srcRect/>
          <a:stretch>
            <a:fillRect/>
          </a:stretch>
        </p:blipFill>
        <p:spPr bwMode="auto">
          <a:xfrm>
            <a:off x="250825" y="836613"/>
            <a:ext cx="7993063" cy="5832475"/>
          </a:xfrm>
          <a:prstGeom prst="rect">
            <a:avLst/>
          </a:prstGeom>
          <a:noFill/>
          <a:ln w="9525">
            <a:noFill/>
            <a:miter lim="800000"/>
            <a:headEnd/>
            <a:tailEnd/>
          </a:ln>
        </p:spPr>
      </p:pic>
      <p:sp>
        <p:nvSpPr>
          <p:cNvPr id="8201" name="AutoShape 9"/>
          <p:cNvSpPr>
            <a:spLocks/>
          </p:cNvSpPr>
          <p:nvPr/>
        </p:nvSpPr>
        <p:spPr bwMode="auto">
          <a:xfrm>
            <a:off x="4787900" y="692150"/>
            <a:ext cx="3240088" cy="5327650"/>
          </a:xfrm>
          <a:prstGeom prst="borderCallout2">
            <a:avLst>
              <a:gd name="adj1" fmla="val 2144"/>
              <a:gd name="adj2" fmla="val -2352"/>
              <a:gd name="adj3" fmla="val 2144"/>
              <a:gd name="adj4" fmla="val -46449"/>
              <a:gd name="adj5" fmla="val 65495"/>
              <a:gd name="adj6" fmla="val -91819"/>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数据缓冲寄存器用来暂时存放</a:t>
            </a:r>
            <a:r>
              <a:rPr lang="en-US" altLang="zh-CN" sz="2400" b="0" dirty="0">
                <a:solidFill>
                  <a:schemeClr val="tx1"/>
                </a:solidFill>
                <a:latin typeface="宋体" pitchFamily="2" charset="-122"/>
              </a:rPr>
              <a:t>ALU</a:t>
            </a:r>
            <a:r>
              <a:rPr lang="zh-CN" altLang="en-US" sz="2400" b="0">
                <a:solidFill>
                  <a:schemeClr val="tx1"/>
                </a:solidFill>
                <a:latin typeface="宋体" pitchFamily="2" charset="-122"/>
              </a:rPr>
              <a:t>的运算结果，或由数据存储器读出的一个数据字，或来自外部接口的一个数据字。缓冲寄存器的作用是：</a:t>
            </a:r>
            <a:endParaRPr lang="en-US" altLang="zh-CN" sz="2400" b="0" dirty="0">
              <a:solidFill>
                <a:schemeClr val="tx1"/>
              </a:solidFill>
              <a:latin typeface="宋体" pitchFamily="2" charset="-122"/>
            </a:endParaRPr>
          </a:p>
          <a:p>
            <a:r>
              <a:rPr lang="zh-CN" altLang="en-US" sz="2400" b="0">
                <a:solidFill>
                  <a:schemeClr val="tx1"/>
                </a:solidFill>
                <a:latin typeface="宋体" pitchFamily="2" charset="-122"/>
              </a:rPr>
              <a:t>    </a:t>
            </a:r>
            <a:r>
              <a:rPr lang="en-US" altLang="zh-CN" sz="2400" b="0" dirty="0">
                <a:solidFill>
                  <a:schemeClr val="tx1"/>
                </a:solidFill>
                <a:latin typeface="宋体" pitchFamily="2" charset="-122"/>
              </a:rPr>
              <a:t>(1)</a:t>
            </a:r>
            <a:r>
              <a:rPr lang="zh-CN" altLang="en-US" sz="2400" b="0">
                <a:solidFill>
                  <a:schemeClr val="tx1"/>
                </a:solidFill>
                <a:latin typeface="宋体" pitchFamily="2" charset="-122"/>
              </a:rPr>
              <a:t>作为</a:t>
            </a:r>
            <a:r>
              <a:rPr lang="en-US" altLang="zh-CN" sz="2400" b="0" dirty="0">
                <a:solidFill>
                  <a:schemeClr val="tx1"/>
                </a:solidFill>
                <a:latin typeface="宋体" pitchFamily="2" charset="-122"/>
              </a:rPr>
              <a:t>ALU</a:t>
            </a:r>
            <a:r>
              <a:rPr lang="zh-CN" altLang="en-US" sz="2400" b="0">
                <a:solidFill>
                  <a:schemeClr val="tx1"/>
                </a:solidFill>
                <a:latin typeface="宋体" pitchFamily="2" charset="-122"/>
              </a:rPr>
              <a:t>运算结果和通用寄存器之间信息传送中时间上的缓冲；</a:t>
            </a:r>
          </a:p>
          <a:p>
            <a:r>
              <a:rPr lang="zh-CN" altLang="en-US" sz="2400" b="0">
                <a:solidFill>
                  <a:schemeClr val="tx1"/>
                </a:solidFill>
                <a:latin typeface="宋体" pitchFamily="2" charset="-122"/>
              </a:rPr>
              <a:t>    </a:t>
            </a:r>
            <a:r>
              <a:rPr lang="en-US" altLang="zh-CN" sz="2400" b="0" dirty="0">
                <a:solidFill>
                  <a:schemeClr val="tx1"/>
                </a:solidFill>
                <a:latin typeface="宋体" pitchFamily="2" charset="-122"/>
              </a:rPr>
              <a:t>(2)</a:t>
            </a:r>
            <a:r>
              <a:rPr lang="zh-CN" altLang="en-US" sz="2400" b="0">
                <a:solidFill>
                  <a:schemeClr val="tx1"/>
                </a:solidFill>
                <a:latin typeface="宋体" pitchFamily="2" charset="-122"/>
              </a:rPr>
              <a:t>补偿</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和内存、外围设备之间在操作速度上的差别。</a:t>
            </a:r>
          </a:p>
        </p:txBody>
      </p:sp>
      <p:sp>
        <p:nvSpPr>
          <p:cNvPr id="8202" name="AutoShape 10"/>
          <p:cNvSpPr>
            <a:spLocks/>
          </p:cNvSpPr>
          <p:nvPr/>
        </p:nvSpPr>
        <p:spPr bwMode="auto">
          <a:xfrm>
            <a:off x="323850" y="765175"/>
            <a:ext cx="6229350" cy="3816350"/>
          </a:xfrm>
          <a:prstGeom prst="borderCallout2">
            <a:avLst>
              <a:gd name="adj1" fmla="val 2995"/>
              <a:gd name="adj2" fmla="val 101222"/>
              <a:gd name="adj3" fmla="val 2995"/>
              <a:gd name="adj4" fmla="val 104333"/>
              <a:gd name="adj5" fmla="val 138227"/>
              <a:gd name="adj6" fmla="val 107542"/>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指令寄存器用来保存当前正在执行的一条指令。当执行一条指令时，先把它从指令</a:t>
            </a:r>
            <a:r>
              <a:rPr lang="en-US" altLang="zh-CN" sz="2400" b="0" dirty="0">
                <a:solidFill>
                  <a:schemeClr val="tx1"/>
                </a:solidFill>
                <a:latin typeface="宋体" pitchFamily="2" charset="-122"/>
              </a:rPr>
              <a:t>cache</a:t>
            </a:r>
            <a:r>
              <a:rPr lang="zh-CN" altLang="en-US" sz="2400" b="0">
                <a:solidFill>
                  <a:schemeClr val="tx1"/>
                </a:solidFill>
                <a:latin typeface="宋体" pitchFamily="2" charset="-122"/>
              </a:rPr>
              <a:t>读出，然后再传送至指令寄存器。指令划分为操作码和地址码字段，由二进制数字组成。为了执行任何给定的指令，必须对操作码进行测试，以便识别所要求的操作。</a:t>
            </a:r>
            <a:r>
              <a:rPr lang="zh-CN" altLang="en-US" sz="2400">
                <a:solidFill>
                  <a:schemeClr val="tx1"/>
                </a:solidFill>
                <a:latin typeface="宋体" pitchFamily="2" charset="-122"/>
              </a:rPr>
              <a:t>指令译码器</a:t>
            </a:r>
            <a:r>
              <a:rPr lang="zh-CN" altLang="en-US" sz="2400" b="0">
                <a:solidFill>
                  <a:schemeClr val="tx1"/>
                </a:solidFill>
                <a:latin typeface="宋体" pitchFamily="2" charset="-122"/>
              </a:rPr>
              <a:t>就是做这项工作的。指令寄存器中操作码字段的输出就是指令译码器的输入。操作码一经译码后，即可向操作控制器发出具体操作的特定信号。</a:t>
            </a:r>
          </a:p>
          <a:p>
            <a:endParaRPr lang="en-US" altLang="zh-CN" sz="2400" b="0" dirty="0">
              <a:solidFill>
                <a:schemeClr val="tx1"/>
              </a:solidFill>
              <a:latin typeface="宋体" pitchFamily="2" charset="-122"/>
            </a:endParaRPr>
          </a:p>
        </p:txBody>
      </p:sp>
      <p:sp>
        <p:nvSpPr>
          <p:cNvPr id="8203" name="AutoShape 11"/>
          <p:cNvSpPr>
            <a:spLocks/>
          </p:cNvSpPr>
          <p:nvPr/>
        </p:nvSpPr>
        <p:spPr bwMode="auto">
          <a:xfrm>
            <a:off x="323850" y="620713"/>
            <a:ext cx="3960813" cy="5616575"/>
          </a:xfrm>
          <a:prstGeom prst="borderCallout2">
            <a:avLst>
              <a:gd name="adj1" fmla="val 2037"/>
              <a:gd name="adj2" fmla="val 101926"/>
              <a:gd name="adj3" fmla="val 2037"/>
              <a:gd name="adj4" fmla="val 132144"/>
              <a:gd name="adj5" fmla="val 60968"/>
              <a:gd name="adj6" fmla="val 163366"/>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为了保证程序能够连续地执行下去，</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必须具有某些手段来确定下一条指令的地址。而程序计数器正是起到这种作用，所以通常又称为</a:t>
            </a:r>
            <a:r>
              <a:rPr lang="zh-CN" altLang="en-US" sz="2400">
                <a:solidFill>
                  <a:schemeClr val="tx1"/>
                </a:solidFill>
                <a:latin typeface="宋体" pitchFamily="2" charset="-122"/>
              </a:rPr>
              <a:t>程序计数器</a:t>
            </a:r>
            <a:r>
              <a:rPr lang="zh-CN" altLang="en-US" sz="2400" b="0">
                <a:solidFill>
                  <a:schemeClr val="tx1"/>
                </a:solidFill>
                <a:latin typeface="宋体" pitchFamily="2" charset="-122"/>
              </a:rPr>
              <a:t>。在程序开始执行前，必须将它的起始地址，即程序的第一条指令所在的指令存储器单元地址送入</a:t>
            </a:r>
            <a:r>
              <a:rPr lang="en-US" altLang="zh-CN" sz="2400" b="0" dirty="0">
                <a:solidFill>
                  <a:schemeClr val="tx1"/>
                </a:solidFill>
                <a:latin typeface="宋体" pitchFamily="2" charset="-122"/>
              </a:rPr>
              <a:t>PC</a:t>
            </a:r>
            <a:r>
              <a:rPr lang="zh-CN" altLang="en-US" sz="2400" b="0">
                <a:solidFill>
                  <a:schemeClr val="tx1"/>
                </a:solidFill>
                <a:latin typeface="宋体" pitchFamily="2" charset="-122"/>
              </a:rPr>
              <a:t>，因此</a:t>
            </a:r>
            <a:r>
              <a:rPr lang="en-US" altLang="zh-CN" sz="2400" b="0" dirty="0">
                <a:solidFill>
                  <a:schemeClr val="tx1"/>
                </a:solidFill>
                <a:latin typeface="宋体" pitchFamily="2" charset="-122"/>
              </a:rPr>
              <a:t>PC</a:t>
            </a:r>
            <a:r>
              <a:rPr lang="zh-CN" altLang="en-US" sz="2400" b="0">
                <a:solidFill>
                  <a:schemeClr val="tx1"/>
                </a:solidFill>
                <a:latin typeface="宋体" pitchFamily="2" charset="-122"/>
              </a:rPr>
              <a:t>的内容即是从指令存储器提取的第一条指令的地址。当执行指令时，</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将自动修改</a:t>
            </a:r>
            <a:r>
              <a:rPr lang="en-US" altLang="zh-CN" sz="2400" b="0" dirty="0">
                <a:solidFill>
                  <a:schemeClr val="tx1"/>
                </a:solidFill>
                <a:latin typeface="宋体" pitchFamily="2" charset="-122"/>
              </a:rPr>
              <a:t>PC</a:t>
            </a:r>
            <a:r>
              <a:rPr lang="zh-CN" altLang="en-US" sz="2400" b="0">
                <a:solidFill>
                  <a:schemeClr val="tx1"/>
                </a:solidFill>
                <a:latin typeface="宋体" pitchFamily="2" charset="-122"/>
              </a:rPr>
              <a:t>的内容，以便使其保持的总是将要执行的下一条指令的地址。</a:t>
            </a:r>
          </a:p>
        </p:txBody>
      </p:sp>
      <p:sp>
        <p:nvSpPr>
          <p:cNvPr id="8205" name="AutoShape 13"/>
          <p:cNvSpPr>
            <a:spLocks/>
          </p:cNvSpPr>
          <p:nvPr/>
        </p:nvSpPr>
        <p:spPr bwMode="auto">
          <a:xfrm>
            <a:off x="323850" y="333375"/>
            <a:ext cx="4103688" cy="2663825"/>
          </a:xfrm>
          <a:prstGeom prst="borderCallout2">
            <a:avLst>
              <a:gd name="adj1" fmla="val 4292"/>
              <a:gd name="adj2" fmla="val 101856"/>
              <a:gd name="adj3" fmla="val 4292"/>
              <a:gd name="adj4" fmla="val 102361"/>
              <a:gd name="adj5" fmla="val 140583"/>
              <a:gd name="adj6" fmla="val 102977"/>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数据地址寄存器用来保存当前</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所访问的数据</a:t>
            </a:r>
            <a:r>
              <a:rPr lang="en-US" altLang="zh-CN" sz="2400" b="0" dirty="0">
                <a:solidFill>
                  <a:schemeClr val="tx1"/>
                </a:solidFill>
                <a:latin typeface="宋体" pitchFamily="2" charset="-122"/>
              </a:rPr>
              <a:t>cache</a:t>
            </a:r>
            <a:r>
              <a:rPr lang="zh-CN" altLang="en-US" sz="2400" b="0">
                <a:solidFill>
                  <a:schemeClr val="tx1"/>
                </a:solidFill>
                <a:latin typeface="宋体" pitchFamily="2" charset="-122"/>
              </a:rPr>
              <a:t>存储器中单元的地址。由于要对存储器阵列进行地址译码，所以必须使用地址寄存器来保持地址信息，直到一次读</a:t>
            </a:r>
            <a:r>
              <a:rPr lang="en-US" altLang="zh-CN" sz="2400" b="0" dirty="0">
                <a:solidFill>
                  <a:schemeClr val="tx1"/>
                </a:solidFill>
                <a:latin typeface="宋体" pitchFamily="2" charset="-122"/>
              </a:rPr>
              <a:t>/</a:t>
            </a:r>
            <a:r>
              <a:rPr lang="zh-CN" altLang="en-US" sz="2400" b="0">
                <a:solidFill>
                  <a:schemeClr val="tx1"/>
                </a:solidFill>
                <a:latin typeface="宋体" pitchFamily="2" charset="-122"/>
              </a:rPr>
              <a:t>写操作完成为止 。</a:t>
            </a:r>
          </a:p>
        </p:txBody>
      </p:sp>
      <p:sp>
        <p:nvSpPr>
          <p:cNvPr id="8206" name="AutoShape 14"/>
          <p:cNvSpPr>
            <a:spLocks/>
          </p:cNvSpPr>
          <p:nvPr/>
        </p:nvSpPr>
        <p:spPr bwMode="auto">
          <a:xfrm>
            <a:off x="4356100" y="765175"/>
            <a:ext cx="4032250" cy="3887788"/>
          </a:xfrm>
          <a:prstGeom prst="borderCallout2">
            <a:avLst>
              <a:gd name="adj1" fmla="val 2940"/>
              <a:gd name="adj2" fmla="val -1889"/>
              <a:gd name="adj3" fmla="val 2940"/>
              <a:gd name="adj4" fmla="val -23620"/>
              <a:gd name="adj5" fmla="val 61046"/>
              <a:gd name="adj6" fmla="val -50435"/>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通用寄存器功能是：当运算器的算术逻辑单元</a:t>
            </a:r>
            <a:r>
              <a:rPr lang="en-US" altLang="zh-CN" sz="2400" b="0" dirty="0">
                <a:solidFill>
                  <a:schemeClr val="tx1"/>
                </a:solidFill>
                <a:latin typeface="宋体" pitchFamily="2" charset="-122"/>
              </a:rPr>
              <a:t>ALU </a:t>
            </a:r>
            <a:r>
              <a:rPr lang="zh-CN" altLang="en-US" sz="2400" b="0">
                <a:solidFill>
                  <a:schemeClr val="tx1"/>
                </a:solidFill>
                <a:latin typeface="宋体" pitchFamily="2" charset="-122"/>
              </a:rPr>
              <a:t>执行算术或逻辑运算时，为</a:t>
            </a:r>
            <a:r>
              <a:rPr lang="en-US" altLang="zh-CN" sz="2400" b="0" dirty="0">
                <a:solidFill>
                  <a:schemeClr val="tx1"/>
                </a:solidFill>
                <a:latin typeface="宋体" pitchFamily="2" charset="-122"/>
              </a:rPr>
              <a:t>ALU</a:t>
            </a:r>
            <a:r>
              <a:rPr lang="zh-CN" altLang="en-US" sz="2400" b="0">
                <a:solidFill>
                  <a:schemeClr val="tx1"/>
                </a:solidFill>
                <a:latin typeface="宋体" pitchFamily="2" charset="-122"/>
              </a:rPr>
              <a:t>提供一个工作区。</a:t>
            </a:r>
          </a:p>
          <a:p>
            <a:r>
              <a:rPr lang="zh-CN" altLang="en-US" sz="2400" b="0">
                <a:solidFill>
                  <a:schemeClr val="tx1"/>
                </a:solidFill>
                <a:latin typeface="宋体" pitchFamily="2" charset="-122"/>
              </a:rPr>
              <a:t>　　目前</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中的通用寄存器，多达</a:t>
            </a:r>
            <a:r>
              <a:rPr lang="en-US" altLang="zh-CN" sz="2400" b="0" dirty="0">
                <a:solidFill>
                  <a:schemeClr val="tx1"/>
                </a:solidFill>
                <a:latin typeface="宋体" pitchFamily="2" charset="-122"/>
              </a:rPr>
              <a:t>64</a:t>
            </a:r>
            <a:r>
              <a:rPr lang="zh-CN" altLang="en-US" sz="2400" b="0">
                <a:solidFill>
                  <a:schemeClr val="tx1"/>
                </a:solidFill>
                <a:latin typeface="宋体" pitchFamily="2" charset="-122"/>
              </a:rPr>
              <a:t>个，甚至更多。其中任何一个可存放源操作数，也可存放结果操作数。在这种情况下，需要在指令格式中对寄存器号加以编址。</a:t>
            </a:r>
          </a:p>
        </p:txBody>
      </p:sp>
      <p:sp>
        <p:nvSpPr>
          <p:cNvPr id="8207" name="AutoShape 15"/>
          <p:cNvSpPr>
            <a:spLocks/>
          </p:cNvSpPr>
          <p:nvPr/>
        </p:nvSpPr>
        <p:spPr bwMode="auto">
          <a:xfrm>
            <a:off x="3454400" y="836613"/>
            <a:ext cx="4968875" cy="5040312"/>
          </a:xfrm>
          <a:prstGeom prst="borderCallout2">
            <a:avLst>
              <a:gd name="adj1" fmla="val 2269"/>
              <a:gd name="adj2" fmla="val -1532"/>
              <a:gd name="adj3" fmla="val 2269"/>
              <a:gd name="adj4" fmla="val -19458"/>
              <a:gd name="adj5" fmla="val 96440"/>
              <a:gd name="adj6" fmla="val -37477"/>
            </a:avLst>
          </a:prstGeom>
          <a:solidFill>
            <a:srgbClr val="66FFFF"/>
          </a:solidFill>
          <a:ln w="28575">
            <a:solidFill>
              <a:srgbClr val="FF3300"/>
            </a:solidFill>
            <a:prstDash val="sysDot"/>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a:solidFill>
                  <a:schemeClr val="tx1"/>
                </a:solidFill>
                <a:latin typeface="宋体" pitchFamily="2" charset="-122"/>
              </a:rPr>
              <a:t>状态条件寄存器保存由算术指令和逻辑指令运行或测试的结果建立的各种条件码内容，如运算结果进位标志</a:t>
            </a:r>
            <a:r>
              <a:rPr lang="en-US" altLang="zh-CN" sz="2400" b="0" dirty="0">
                <a:solidFill>
                  <a:schemeClr val="tx1"/>
                </a:solidFill>
                <a:latin typeface="宋体" pitchFamily="2" charset="-122"/>
              </a:rPr>
              <a:t>(C)</a:t>
            </a:r>
            <a:r>
              <a:rPr lang="zh-CN" altLang="en-US" sz="2400" b="0">
                <a:solidFill>
                  <a:schemeClr val="tx1"/>
                </a:solidFill>
                <a:latin typeface="宋体" pitchFamily="2" charset="-122"/>
              </a:rPr>
              <a:t>，运算结果溢出标志（</a:t>
            </a:r>
            <a:r>
              <a:rPr lang="en-US" altLang="zh-CN" sz="2400" b="0" dirty="0">
                <a:solidFill>
                  <a:schemeClr val="tx1"/>
                </a:solidFill>
                <a:latin typeface="宋体" pitchFamily="2" charset="-122"/>
              </a:rPr>
              <a:t>V)</a:t>
            </a:r>
            <a:r>
              <a:rPr lang="zh-CN" altLang="en-US" sz="2400" b="0">
                <a:solidFill>
                  <a:schemeClr val="tx1"/>
                </a:solidFill>
                <a:latin typeface="宋体" pitchFamily="2" charset="-122"/>
              </a:rPr>
              <a:t>，运算结果为零标志</a:t>
            </a:r>
            <a:r>
              <a:rPr lang="en-US" altLang="zh-CN" sz="2400" b="0" dirty="0">
                <a:solidFill>
                  <a:schemeClr val="tx1"/>
                </a:solidFill>
                <a:latin typeface="宋体" pitchFamily="2" charset="-122"/>
              </a:rPr>
              <a:t>(Z)</a:t>
            </a:r>
            <a:r>
              <a:rPr lang="zh-CN" altLang="en-US" sz="2400" b="0">
                <a:solidFill>
                  <a:schemeClr val="tx1"/>
                </a:solidFill>
                <a:latin typeface="宋体" pitchFamily="2" charset="-122"/>
              </a:rPr>
              <a:t>，运算结果为负标志</a:t>
            </a:r>
            <a:r>
              <a:rPr lang="en-US" altLang="zh-CN" sz="2400" b="0" dirty="0">
                <a:solidFill>
                  <a:schemeClr val="tx1"/>
                </a:solidFill>
                <a:latin typeface="宋体" pitchFamily="2" charset="-122"/>
              </a:rPr>
              <a:t>(N)</a:t>
            </a:r>
            <a:r>
              <a:rPr lang="zh-CN" altLang="en-US" sz="2400" b="0">
                <a:solidFill>
                  <a:schemeClr val="tx1"/>
                </a:solidFill>
                <a:latin typeface="宋体" pitchFamily="2" charset="-122"/>
              </a:rPr>
              <a:t>等等。这些标志位通常分别由</a:t>
            </a:r>
            <a:r>
              <a:rPr lang="en-US" altLang="zh-CN" sz="2400" b="0" dirty="0">
                <a:solidFill>
                  <a:schemeClr val="tx1"/>
                </a:solidFill>
                <a:latin typeface="宋体" pitchFamily="2" charset="-122"/>
              </a:rPr>
              <a:t>1</a:t>
            </a:r>
            <a:r>
              <a:rPr lang="zh-CN" altLang="en-US" sz="2400" b="0">
                <a:solidFill>
                  <a:schemeClr val="tx1"/>
                </a:solidFill>
                <a:latin typeface="宋体" pitchFamily="2" charset="-122"/>
              </a:rPr>
              <a:t>位触发器保存。</a:t>
            </a:r>
            <a:endParaRPr lang="en-US" altLang="zh-CN" sz="2400" b="0" dirty="0">
              <a:solidFill>
                <a:schemeClr val="tx1"/>
              </a:solidFill>
              <a:latin typeface="宋体" pitchFamily="2" charset="-122"/>
            </a:endParaRPr>
          </a:p>
          <a:p>
            <a:r>
              <a:rPr lang="zh-CN" altLang="en-US" sz="2400" b="0">
                <a:solidFill>
                  <a:schemeClr val="tx1"/>
                </a:solidFill>
                <a:latin typeface="宋体" pitchFamily="2" charset="-122"/>
              </a:rPr>
              <a:t>　　除此之外，状态条件寄存器还保存中断和系统工作状态等信息，以便使</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和系统能及时了解机器运行状态和程序运行状态。因此，状态条件寄存器是一个由各种状态条件标志拼凑而成的寄存器。 </a:t>
            </a:r>
          </a:p>
        </p:txBody>
      </p:sp>
      <p:pic>
        <p:nvPicPr>
          <p:cNvPr id="7179" name="Picture 17">
            <a:hlinkClick r:id="rId3" action="ppaction://hlinkfile"/>
          </p:cNvPr>
          <p:cNvPicPr>
            <a:picLocks noChangeAspect="1" noChangeArrowheads="1"/>
          </p:cNvPicPr>
          <p:nvPr/>
        </p:nvPicPr>
        <p:blipFill>
          <a:blip r:embed="rId4"/>
          <a:srcRect/>
          <a:stretch>
            <a:fillRect/>
          </a:stretch>
        </p:blipFill>
        <p:spPr bwMode="auto">
          <a:xfrm>
            <a:off x="8464550" y="3644900"/>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01"/>
                                        </p:tgtEl>
                                        <p:attrNameLst>
                                          <p:attrName>style.visibility</p:attrName>
                                        </p:attrNameLst>
                                      </p:cBhvr>
                                      <p:to>
                                        <p:strVal val="visible"/>
                                      </p:to>
                                    </p:set>
                                    <p:animEffect transition="in" filter="blinds(horizontal)">
                                      <p:cBhvr>
                                        <p:cTn id="7" dur="500"/>
                                        <p:tgtEl>
                                          <p:spTgt spid="8201"/>
                                        </p:tgtEl>
                                      </p:cBhvr>
                                    </p:animEffect>
                                  </p:childTnLst>
                                  <p:subTnLst>
                                    <p:set>
                                      <p:cBhvr override="childStyle">
                                        <p:cTn dur="1" fill="hold" display="0" masterRel="nextClick" afterEffect="1"/>
                                        <p:tgtEl>
                                          <p:spTgt spid="8201"/>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blinds(horizontal)">
                                      <p:cBhvr>
                                        <p:cTn id="12" dur="500"/>
                                        <p:tgtEl>
                                          <p:spTgt spid="8202"/>
                                        </p:tgtEl>
                                      </p:cBhvr>
                                    </p:animEffect>
                                  </p:childTnLst>
                                  <p:subTnLst>
                                    <p:set>
                                      <p:cBhvr override="childStyle">
                                        <p:cTn dur="1" fill="hold" display="0" masterRel="nextClick" afterEffect="1"/>
                                        <p:tgtEl>
                                          <p:spTgt spid="820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03"/>
                                        </p:tgtEl>
                                        <p:attrNameLst>
                                          <p:attrName>style.visibility</p:attrName>
                                        </p:attrNameLst>
                                      </p:cBhvr>
                                      <p:to>
                                        <p:strVal val="visible"/>
                                      </p:to>
                                    </p:set>
                                    <p:animEffect transition="in" filter="blinds(horizontal)">
                                      <p:cBhvr>
                                        <p:cTn id="17" dur="500"/>
                                        <p:tgtEl>
                                          <p:spTgt spid="8203"/>
                                        </p:tgtEl>
                                      </p:cBhvr>
                                    </p:animEffect>
                                  </p:childTnLst>
                                  <p:subTnLst>
                                    <p:set>
                                      <p:cBhvr override="childStyle">
                                        <p:cTn dur="1" fill="hold" display="0" masterRel="nextClick" afterEffect="1"/>
                                        <p:tgtEl>
                                          <p:spTgt spid="8203"/>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05"/>
                                        </p:tgtEl>
                                        <p:attrNameLst>
                                          <p:attrName>style.visibility</p:attrName>
                                        </p:attrNameLst>
                                      </p:cBhvr>
                                      <p:to>
                                        <p:strVal val="visible"/>
                                      </p:to>
                                    </p:set>
                                    <p:animEffect transition="in" filter="blinds(horizontal)">
                                      <p:cBhvr>
                                        <p:cTn id="22" dur="500"/>
                                        <p:tgtEl>
                                          <p:spTgt spid="8205"/>
                                        </p:tgtEl>
                                      </p:cBhvr>
                                    </p:animEffect>
                                  </p:childTnLst>
                                  <p:subTnLst>
                                    <p:set>
                                      <p:cBhvr override="childStyle">
                                        <p:cTn dur="1" fill="hold" display="0" masterRel="nextClick" afterEffect="1"/>
                                        <p:tgtEl>
                                          <p:spTgt spid="820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206"/>
                                        </p:tgtEl>
                                        <p:attrNameLst>
                                          <p:attrName>style.visibility</p:attrName>
                                        </p:attrNameLst>
                                      </p:cBhvr>
                                      <p:to>
                                        <p:strVal val="visible"/>
                                      </p:to>
                                    </p:set>
                                    <p:animEffect transition="in" filter="blinds(horizontal)">
                                      <p:cBhvr>
                                        <p:cTn id="27" dur="500"/>
                                        <p:tgtEl>
                                          <p:spTgt spid="8206"/>
                                        </p:tgtEl>
                                      </p:cBhvr>
                                    </p:animEffect>
                                  </p:childTnLst>
                                  <p:subTnLst>
                                    <p:set>
                                      <p:cBhvr override="childStyle">
                                        <p:cTn dur="1" fill="hold" display="0" masterRel="nextClick" afterEffect="1"/>
                                        <p:tgtEl>
                                          <p:spTgt spid="8206"/>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207"/>
                                        </p:tgtEl>
                                        <p:attrNameLst>
                                          <p:attrName>style.visibility</p:attrName>
                                        </p:attrNameLst>
                                      </p:cBhvr>
                                      <p:to>
                                        <p:strVal val="visible"/>
                                      </p:to>
                                    </p:set>
                                    <p:animEffect transition="in" filter="blinds(horizontal)">
                                      <p:cBhvr>
                                        <p:cTn id="32" dur="500"/>
                                        <p:tgtEl>
                                          <p:spTgt spid="8207"/>
                                        </p:tgtEl>
                                      </p:cBhvr>
                                    </p:animEffect>
                                  </p:childTnLst>
                                  <p:subTnLst>
                                    <p:set>
                                      <p:cBhvr override="childStyle">
                                        <p:cTn dur="1" fill="hold" display="0" masterRel="nextClick" afterEffect="1"/>
                                        <p:tgtEl>
                                          <p:spTgt spid="820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1" grpId="0" animBg="1" autoUpdateAnimBg="0"/>
      <p:bldP spid="8202" grpId="0" animBg="1" autoUpdateAnimBg="0"/>
      <p:bldP spid="8203" grpId="0" animBg="1" autoUpdateAnimBg="0"/>
      <p:bldP spid="8205" grpId="0" animBg="1" autoUpdateAnimBg="0"/>
      <p:bldP spid="8206" grpId="0" animBg="1" autoUpdateAnimBg="0"/>
      <p:bldP spid="8207"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p>
            <a:fld id="{E4D69235-4D3D-4759-B16F-A1921456A8F4}" type="slidenum">
              <a:rPr lang="en-US" altLang="zh-CN" smtClean="0"/>
              <a:pPr/>
              <a:t>6</a:t>
            </a:fld>
            <a:endParaRPr lang="en-US" altLang="zh-CN" dirty="0" smtClean="0"/>
          </a:p>
        </p:txBody>
      </p:sp>
      <p:pic>
        <p:nvPicPr>
          <p:cNvPr id="8195" name="Picture 5" descr="5a1"/>
          <p:cNvPicPr>
            <a:picLocks noChangeAspect="1" noChangeArrowheads="1"/>
          </p:cNvPicPr>
          <p:nvPr/>
        </p:nvPicPr>
        <p:blipFill>
          <a:blip r:embed="rId2"/>
          <a:srcRect/>
          <a:stretch>
            <a:fillRect/>
          </a:stretch>
        </p:blipFill>
        <p:spPr bwMode="auto">
          <a:xfrm>
            <a:off x="250825" y="981075"/>
            <a:ext cx="7993063" cy="5688013"/>
          </a:xfrm>
          <a:prstGeom prst="rect">
            <a:avLst/>
          </a:prstGeom>
          <a:noFill/>
          <a:ln w="9525">
            <a:noFill/>
            <a:miter lim="800000"/>
            <a:headEnd/>
            <a:tailEnd/>
          </a:ln>
        </p:spPr>
      </p:pic>
      <p:sp>
        <p:nvSpPr>
          <p:cNvPr id="8196" name="Rectangle 6"/>
          <p:cNvSpPr>
            <a:spLocks noChangeArrowheads="1"/>
          </p:cNvSpPr>
          <p:nvPr/>
        </p:nvSpPr>
        <p:spPr bwMode="auto">
          <a:xfrm>
            <a:off x="395288" y="188913"/>
            <a:ext cx="7543800" cy="714375"/>
          </a:xfrm>
          <a:prstGeom prst="rect">
            <a:avLst/>
          </a:prstGeom>
          <a:noFill/>
          <a:ln w="9525">
            <a:noFill/>
            <a:miter lim="800000"/>
            <a:headEnd/>
            <a:tailEnd/>
          </a:ln>
        </p:spPr>
        <p:txBody>
          <a:bodyPr anchor="b"/>
          <a:lstStyle/>
          <a:p>
            <a:r>
              <a:rPr lang="en-US" altLang="zh-CN" sz="3900" dirty="0">
                <a:solidFill>
                  <a:schemeClr val="tx2"/>
                </a:solidFill>
              </a:rPr>
              <a:t>4</a:t>
            </a:r>
            <a:r>
              <a:rPr lang="zh-CN" altLang="en-US" sz="3900">
                <a:solidFill>
                  <a:schemeClr val="tx2"/>
                </a:solidFill>
              </a:rPr>
              <a:t>、操作控制器与时序产生器</a:t>
            </a:r>
          </a:p>
        </p:txBody>
      </p:sp>
      <p:sp>
        <p:nvSpPr>
          <p:cNvPr id="188423" name="AutoShape 7"/>
          <p:cNvSpPr>
            <a:spLocks/>
          </p:cNvSpPr>
          <p:nvPr/>
        </p:nvSpPr>
        <p:spPr bwMode="auto">
          <a:xfrm>
            <a:off x="3563938" y="2060575"/>
            <a:ext cx="4103687" cy="1008063"/>
          </a:xfrm>
          <a:prstGeom prst="borderCallout2">
            <a:avLst>
              <a:gd name="adj1" fmla="val 11338"/>
              <a:gd name="adj2" fmla="val -1856"/>
              <a:gd name="adj3" fmla="val 11338"/>
              <a:gd name="adj4" fmla="val -6306"/>
              <a:gd name="adj5" fmla="val 205986"/>
              <a:gd name="adj6" fmla="val -11759"/>
            </a:avLst>
          </a:prstGeom>
          <a:solidFill>
            <a:srgbClr val="66FFFF"/>
          </a:solidFill>
          <a:ln w="28575">
            <a:solidFill>
              <a:srgbClr val="FF3300"/>
            </a:solidFill>
            <a:prstDash val="sysDot"/>
            <a:miter lim="800000"/>
            <a:headEnd type="none" w="sm" len="sm"/>
            <a:tailEnd type="none" w="sm" len="sm"/>
          </a:ln>
        </p:spPr>
        <p:txBody>
          <a:bodyPr/>
          <a:lstStyle/>
          <a:p>
            <a:r>
              <a:rPr lang="zh-CN" altLang="en-US" sz="2800">
                <a:solidFill>
                  <a:schemeClr val="tx1"/>
                </a:solidFill>
              </a:rPr>
              <a:t>数据通路：</a:t>
            </a:r>
            <a:r>
              <a:rPr lang="zh-CN" altLang="en-US" sz="2800" b="0">
                <a:solidFill>
                  <a:schemeClr val="tx1"/>
                </a:solidFill>
              </a:rPr>
              <a:t>是许多寄存器之间传送信息的通路。</a:t>
            </a:r>
          </a:p>
        </p:txBody>
      </p:sp>
      <p:sp>
        <p:nvSpPr>
          <p:cNvPr id="188424" name="AutoShape 8"/>
          <p:cNvSpPr>
            <a:spLocks/>
          </p:cNvSpPr>
          <p:nvPr/>
        </p:nvSpPr>
        <p:spPr bwMode="auto">
          <a:xfrm>
            <a:off x="395288" y="404813"/>
            <a:ext cx="3240087" cy="6048375"/>
          </a:xfrm>
          <a:prstGeom prst="borderCallout2">
            <a:avLst>
              <a:gd name="adj1" fmla="val 1889"/>
              <a:gd name="adj2" fmla="val 102352"/>
              <a:gd name="adj3" fmla="val 1889"/>
              <a:gd name="adj4" fmla="val 102352"/>
              <a:gd name="adj5" fmla="val 77347"/>
              <a:gd name="adj6" fmla="val 138463"/>
            </a:avLst>
          </a:prstGeom>
          <a:solidFill>
            <a:srgbClr val="66FFFF"/>
          </a:solidFill>
          <a:ln w="28575">
            <a:solidFill>
              <a:srgbClr val="FF3300"/>
            </a:solidFill>
            <a:prstDash val="sysDot"/>
            <a:miter lim="800000"/>
            <a:headEnd type="none" w="sm" len="sm"/>
            <a:tailEnd type="none" w="sm" len="sm"/>
          </a:ln>
        </p:spPr>
        <p:txBody>
          <a:bodyPr/>
          <a:lstStyle/>
          <a:p>
            <a:r>
              <a:rPr lang="zh-CN" altLang="en-US" b="0">
                <a:solidFill>
                  <a:schemeClr val="tx1"/>
                </a:solidFill>
              </a:rPr>
              <a:t>　　  </a:t>
            </a:r>
            <a:r>
              <a:rPr lang="zh-CN" altLang="en-US" sz="2400" b="0">
                <a:solidFill>
                  <a:schemeClr val="tx1"/>
                </a:solidFill>
              </a:rPr>
              <a:t>信息从什么地方开始，中间经过哪个寄存器或多路开关，最后传送到哪个寄存器，都要加以控制。在各寄存器之间建立数据通路的任务，是由称为</a:t>
            </a:r>
            <a:r>
              <a:rPr lang="zh-CN" altLang="en-US" sz="2400">
                <a:solidFill>
                  <a:schemeClr val="tx1"/>
                </a:solidFill>
              </a:rPr>
              <a:t>操作控制器</a:t>
            </a:r>
            <a:r>
              <a:rPr lang="zh-CN" altLang="en-US" sz="2400" b="0">
                <a:solidFill>
                  <a:schemeClr val="tx1"/>
                </a:solidFill>
              </a:rPr>
              <a:t>的部件来完成的。操作控制器的功能，就是根据指令操作码和时序信号，产生各种操作控制信号，以便正确地建立数据通路，从而完成取指令和执行指令的控制。</a:t>
            </a:r>
          </a:p>
        </p:txBody>
      </p:sp>
      <p:sp>
        <p:nvSpPr>
          <p:cNvPr id="188426" name="AutoShape 10"/>
          <p:cNvSpPr>
            <a:spLocks noChangeArrowheads="1"/>
          </p:cNvSpPr>
          <p:nvPr/>
        </p:nvSpPr>
        <p:spPr bwMode="auto">
          <a:xfrm>
            <a:off x="323528" y="188913"/>
            <a:ext cx="8461375" cy="3816350"/>
          </a:xfrm>
          <a:prstGeom prst="wedgeRectCallout">
            <a:avLst>
              <a:gd name="adj1" fmla="val 7972"/>
              <a:gd name="adj2" fmla="val 77537"/>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根据设计方法不同，操作控制器可分为</a:t>
            </a:r>
            <a:r>
              <a:rPr lang="zh-CN" altLang="en-US" sz="2400" dirty="0">
                <a:solidFill>
                  <a:schemeClr val="tx1"/>
                </a:solidFill>
                <a:latin typeface="宋体" pitchFamily="2" charset="-122"/>
              </a:rPr>
              <a:t>时序逻辑型、存储逻辑</a:t>
            </a:r>
            <a:r>
              <a:rPr lang="zh-CN" altLang="en-US" sz="2400" dirty="0" smtClean="0">
                <a:solidFill>
                  <a:schemeClr val="tx1"/>
                </a:solidFill>
                <a:latin typeface="宋体" pitchFamily="2" charset="-122"/>
              </a:rPr>
              <a:t>型</a:t>
            </a:r>
            <a:r>
              <a:rPr lang="zh-CN" altLang="en-US" sz="2400" b="0" dirty="0" smtClean="0">
                <a:solidFill>
                  <a:schemeClr val="tx1"/>
                </a:solidFill>
                <a:latin typeface="宋体" pitchFamily="2" charset="-122"/>
              </a:rPr>
              <a:t>。</a:t>
            </a:r>
            <a:endParaRPr lang="zh-CN" altLang="en-US" sz="2400" dirty="0">
              <a:solidFill>
                <a:schemeClr val="tx1"/>
              </a:solidFill>
              <a:latin typeface="宋体" pitchFamily="2" charset="-122"/>
            </a:endParaRPr>
          </a:p>
          <a:p>
            <a:r>
              <a:rPr lang="en-US" altLang="zh-CN" sz="2400" dirty="0">
                <a:solidFill>
                  <a:schemeClr val="tx1"/>
                </a:solidFill>
                <a:latin typeface="宋体" pitchFamily="2" charset="-122"/>
              </a:rPr>
              <a:t>1.</a:t>
            </a:r>
            <a:r>
              <a:rPr lang="zh-CN" altLang="en-US" sz="2400" dirty="0">
                <a:solidFill>
                  <a:schemeClr val="tx1"/>
                </a:solidFill>
                <a:latin typeface="宋体" pitchFamily="2" charset="-122"/>
              </a:rPr>
              <a:t>硬布线控制器</a:t>
            </a:r>
            <a:r>
              <a:rPr lang="zh-CN" altLang="en-US" sz="2400" b="0" dirty="0">
                <a:solidFill>
                  <a:schemeClr val="tx1"/>
                </a:solidFill>
                <a:latin typeface="宋体" pitchFamily="2" charset="-122"/>
              </a:rPr>
              <a:t>：是采用时序逻辑技术来实现的；其控制单元是由门电路组成的复杂树形网络。这种方法是分立元件时代的产物，以使用最少器件数和取得最高操作速度为设计目标。 最大优点是速度快。但是控制单元的结构不规整，使得设计、调试、维修较困难，难以实现设计自动化；一旦控制单元构成之后，要想增加新的控制功能是不可能的。因此，它受到微程序控制器的强烈冲击。目前仅有一些巨型机和</a:t>
            </a:r>
            <a:r>
              <a:rPr lang="en-US" altLang="zh-CN" sz="2400" b="0" dirty="0">
                <a:solidFill>
                  <a:schemeClr val="tx1"/>
                </a:solidFill>
                <a:latin typeface="宋体" pitchFamily="2" charset="-122"/>
              </a:rPr>
              <a:t>RISC</a:t>
            </a:r>
            <a:r>
              <a:rPr lang="zh-CN" altLang="en-US" sz="2400" b="0" dirty="0">
                <a:solidFill>
                  <a:schemeClr val="tx1"/>
                </a:solidFill>
                <a:latin typeface="宋体" pitchFamily="2" charset="-122"/>
              </a:rPr>
              <a:t>机为了追求高速度仍采用时序逻辑控制器。</a:t>
            </a:r>
          </a:p>
        </p:txBody>
      </p:sp>
      <p:sp>
        <p:nvSpPr>
          <p:cNvPr id="188427" name="AutoShape 11"/>
          <p:cNvSpPr>
            <a:spLocks noChangeArrowheads="1"/>
          </p:cNvSpPr>
          <p:nvPr/>
        </p:nvSpPr>
        <p:spPr bwMode="auto">
          <a:xfrm>
            <a:off x="142844" y="188913"/>
            <a:ext cx="8785225" cy="2664023"/>
          </a:xfrm>
          <a:prstGeom prst="wedgeRectCallout">
            <a:avLst>
              <a:gd name="adj1" fmla="val 3701"/>
              <a:gd name="adj2" fmla="val 127259"/>
            </a:avLst>
          </a:prstGeom>
          <a:solidFill>
            <a:srgbClr val="66FFFF"/>
          </a:solidFill>
          <a:ln w="12700" cap="sq">
            <a:solidFill>
              <a:srgbClr val="FF3300"/>
            </a:solidFill>
            <a:miter lim="800000"/>
            <a:headEnd type="none" w="sm" len="sm"/>
            <a:tailEnd type="none" w="sm" len="sm"/>
          </a:ln>
        </p:spPr>
        <p:txBody>
          <a:bodyPr/>
          <a:lstStyle/>
          <a:p>
            <a:r>
              <a:rPr lang="en-US" altLang="zh-CN" sz="2400" dirty="0">
                <a:solidFill>
                  <a:schemeClr val="tx1"/>
                </a:solidFill>
                <a:latin typeface="宋体" pitchFamily="2" charset="-122"/>
              </a:rPr>
              <a:t>2.</a:t>
            </a:r>
            <a:r>
              <a:rPr lang="zh-CN" altLang="en-US" sz="2400" dirty="0">
                <a:solidFill>
                  <a:schemeClr val="tx1"/>
                </a:solidFill>
                <a:latin typeface="宋体" pitchFamily="2" charset="-122"/>
              </a:rPr>
              <a:t>微程序控制器：</a:t>
            </a:r>
            <a:r>
              <a:rPr lang="zh-CN" altLang="en-US" sz="2400" b="0" dirty="0">
                <a:solidFill>
                  <a:schemeClr val="tx1"/>
                </a:solidFill>
                <a:latin typeface="宋体" pitchFamily="2" charset="-122"/>
              </a:rPr>
              <a:t>是采用存储逻辑来实现的；也就是把微操作信号代码化，使每条机器指令转化成为一段微程序并存入一个专门的存储器（控制存储器）中，微操作控制信号由微指令产生。微程序控制器具有设计规整、调试、维修以及更改、扩充指令方便的优点，易于实现自动化设计，已成为当前控制器的主流。但是，由于它增加了一级控制存储器，所以指令的执行速度比时序逻辑控制器慢</a:t>
            </a:r>
            <a:r>
              <a:rPr lang="zh-CN" altLang="en-US" sz="2400" b="0" dirty="0" smtClean="0">
                <a:solidFill>
                  <a:schemeClr val="tx1"/>
                </a:solidFill>
                <a:latin typeface="宋体" pitchFamily="2" charset="-122"/>
              </a:rPr>
              <a:t>。 </a:t>
            </a:r>
            <a:endParaRPr lang="zh-CN" altLang="en-US" sz="2400" b="0" dirty="0">
              <a:solidFill>
                <a:schemeClr val="tx1"/>
              </a:solidFill>
              <a:latin typeface="宋体" pitchFamily="2" charset="-122"/>
            </a:endParaRPr>
          </a:p>
        </p:txBody>
      </p:sp>
      <p:sp>
        <p:nvSpPr>
          <p:cNvPr id="188428" name="AutoShape 12"/>
          <p:cNvSpPr>
            <a:spLocks noChangeArrowheads="1"/>
          </p:cNvSpPr>
          <p:nvPr/>
        </p:nvSpPr>
        <p:spPr bwMode="auto">
          <a:xfrm>
            <a:off x="3924300" y="3357563"/>
            <a:ext cx="4897438" cy="1295400"/>
          </a:xfrm>
          <a:prstGeom prst="wedgeRectCallout">
            <a:avLst>
              <a:gd name="adj1" fmla="val -25333"/>
              <a:gd name="adj2" fmla="val 85051"/>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rPr>
              <a:t>       </a:t>
            </a:r>
            <a:r>
              <a:rPr lang="zh-CN" altLang="en-US" sz="2400" b="0">
                <a:solidFill>
                  <a:schemeClr val="tx1"/>
                </a:solidFill>
              </a:rPr>
              <a:t>操作控制器产生控制信号必须定时，还必须有时序产生器，提供定时和时序信号。</a:t>
            </a:r>
          </a:p>
        </p:txBody>
      </p:sp>
      <p:sp>
        <p:nvSpPr>
          <p:cNvPr id="188429" name="AutoShape 13"/>
          <p:cNvSpPr>
            <a:spLocks noChangeArrowheads="1"/>
          </p:cNvSpPr>
          <p:nvPr/>
        </p:nvSpPr>
        <p:spPr bwMode="auto">
          <a:xfrm>
            <a:off x="250825" y="188913"/>
            <a:ext cx="8569325" cy="792162"/>
          </a:xfrm>
          <a:prstGeom prst="wedgeRectCallout">
            <a:avLst>
              <a:gd name="adj1" fmla="val 16097"/>
              <a:gd name="adj2" fmla="val 73449"/>
            </a:avLst>
          </a:prstGeom>
          <a:solidFill>
            <a:srgbClr val="66FFFF"/>
          </a:solidFill>
          <a:ln w="12700" cap="sq">
            <a:solidFill>
              <a:srgbClr val="FF3300"/>
            </a:solidFill>
            <a:miter lim="800000"/>
            <a:headEnd type="none" w="sm" len="sm"/>
            <a:tailEnd type="none" w="sm" len="sm"/>
          </a:ln>
        </p:spPr>
        <p:txBody>
          <a:bodyPr/>
          <a:lstStyle/>
          <a:p>
            <a:r>
              <a:rPr lang="en-US" altLang="zh-CN" sz="2400" b="0" dirty="0">
                <a:solidFill>
                  <a:schemeClr val="tx1"/>
                </a:solidFill>
              </a:rPr>
              <a:t>       </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中除了上述组成部分外，还有中断系统、总线接口等其他功能部件。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8423"/>
                                        </p:tgtEl>
                                        <p:attrNameLst>
                                          <p:attrName>style.visibility</p:attrName>
                                        </p:attrNameLst>
                                      </p:cBhvr>
                                      <p:to>
                                        <p:strVal val="visible"/>
                                      </p:to>
                                    </p:set>
                                    <p:animEffect transition="in" filter="blinds(horizontal)">
                                      <p:cBhvr>
                                        <p:cTn id="7" dur="500"/>
                                        <p:tgtEl>
                                          <p:spTgt spid="188423"/>
                                        </p:tgtEl>
                                      </p:cBhvr>
                                    </p:animEffect>
                                  </p:childTnLst>
                                  <p:subTnLst>
                                    <p:set>
                                      <p:cBhvr override="childStyle">
                                        <p:cTn dur="1" fill="hold" display="0" masterRel="nextClick" afterEffect="1"/>
                                        <p:tgtEl>
                                          <p:spTgt spid="18842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8424"/>
                                        </p:tgtEl>
                                        <p:attrNameLst>
                                          <p:attrName>style.visibility</p:attrName>
                                        </p:attrNameLst>
                                      </p:cBhvr>
                                      <p:to>
                                        <p:strVal val="visible"/>
                                      </p:to>
                                    </p:set>
                                    <p:animEffect transition="in" filter="blinds(horizontal)">
                                      <p:cBhvr>
                                        <p:cTn id="12" dur="500"/>
                                        <p:tgtEl>
                                          <p:spTgt spid="188424"/>
                                        </p:tgtEl>
                                      </p:cBhvr>
                                    </p:animEffect>
                                  </p:childTnLst>
                                  <p:subTnLst>
                                    <p:set>
                                      <p:cBhvr override="childStyle">
                                        <p:cTn dur="1" fill="hold" display="0" masterRel="nextClick" afterEffect="1"/>
                                        <p:tgtEl>
                                          <p:spTgt spid="18842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8426"/>
                                        </p:tgtEl>
                                        <p:attrNameLst>
                                          <p:attrName>style.visibility</p:attrName>
                                        </p:attrNameLst>
                                      </p:cBhvr>
                                      <p:to>
                                        <p:strVal val="visible"/>
                                      </p:to>
                                    </p:set>
                                    <p:animEffect transition="in" filter="blinds(horizontal)">
                                      <p:cBhvr>
                                        <p:cTn id="17" dur="500"/>
                                        <p:tgtEl>
                                          <p:spTgt spid="188426"/>
                                        </p:tgtEl>
                                      </p:cBhvr>
                                    </p:animEffect>
                                  </p:childTnLst>
                                  <p:subTnLst>
                                    <p:set>
                                      <p:cBhvr override="childStyle">
                                        <p:cTn dur="1" fill="hold" display="0" masterRel="nextClick" afterEffect="1"/>
                                        <p:tgtEl>
                                          <p:spTgt spid="18842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8427"/>
                                        </p:tgtEl>
                                        <p:attrNameLst>
                                          <p:attrName>style.visibility</p:attrName>
                                        </p:attrNameLst>
                                      </p:cBhvr>
                                      <p:to>
                                        <p:strVal val="visible"/>
                                      </p:to>
                                    </p:set>
                                    <p:animEffect transition="in" filter="blinds(horizontal)">
                                      <p:cBhvr>
                                        <p:cTn id="22" dur="500"/>
                                        <p:tgtEl>
                                          <p:spTgt spid="188427"/>
                                        </p:tgtEl>
                                      </p:cBhvr>
                                    </p:animEffect>
                                  </p:childTnLst>
                                  <p:subTnLst>
                                    <p:set>
                                      <p:cBhvr override="childStyle">
                                        <p:cTn dur="1" fill="hold" display="0" masterRel="nextClick" afterEffect="1"/>
                                        <p:tgtEl>
                                          <p:spTgt spid="18842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8428"/>
                                        </p:tgtEl>
                                        <p:attrNameLst>
                                          <p:attrName>style.visibility</p:attrName>
                                        </p:attrNameLst>
                                      </p:cBhvr>
                                      <p:to>
                                        <p:strVal val="visible"/>
                                      </p:to>
                                    </p:set>
                                    <p:animEffect transition="in" filter="blinds(horizontal)">
                                      <p:cBhvr>
                                        <p:cTn id="27" dur="500"/>
                                        <p:tgtEl>
                                          <p:spTgt spid="188428"/>
                                        </p:tgtEl>
                                      </p:cBhvr>
                                    </p:animEffect>
                                  </p:childTnLst>
                                  <p:subTnLst>
                                    <p:set>
                                      <p:cBhvr override="childStyle">
                                        <p:cTn dur="1" fill="hold" display="0" masterRel="nextClick" afterEffect="1"/>
                                        <p:tgtEl>
                                          <p:spTgt spid="188428"/>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8429"/>
                                        </p:tgtEl>
                                        <p:attrNameLst>
                                          <p:attrName>style.visibility</p:attrName>
                                        </p:attrNameLst>
                                      </p:cBhvr>
                                      <p:to>
                                        <p:strVal val="visible"/>
                                      </p:to>
                                    </p:set>
                                    <p:animEffect transition="in" filter="blinds(horizontal)">
                                      <p:cBhvr>
                                        <p:cTn id="32" dur="500"/>
                                        <p:tgtEl>
                                          <p:spTgt spid="188429"/>
                                        </p:tgtEl>
                                      </p:cBhvr>
                                    </p:animEffect>
                                  </p:childTnLst>
                                  <p:subTnLst>
                                    <p:set>
                                      <p:cBhvr override="childStyle">
                                        <p:cTn dur="1" fill="hold" display="0" masterRel="nextClick" afterEffect="1"/>
                                        <p:tgtEl>
                                          <p:spTgt spid="1884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3" grpId="0" animBg="1" autoUpdateAnimBg="0"/>
      <p:bldP spid="188424" grpId="0" animBg="1" autoUpdateAnimBg="0"/>
      <p:bldP spid="188426" grpId="0" animBg="1" autoUpdateAnimBg="0"/>
      <p:bldP spid="188427" grpId="0" animBg="1" autoUpdateAnimBg="0"/>
      <p:bldP spid="188428" grpId="0" animBg="1" autoUpdateAnimBg="0"/>
      <p:bldP spid="188429"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75272" y="754786"/>
            <a:ext cx="8525810" cy="5577937"/>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000" dirty="0" smtClean="0">
                <a:solidFill>
                  <a:schemeClr val="tx1"/>
                </a:solidFill>
                <a:latin typeface="微软雅黑" panose="020B0503020204020204" pitchFamily="34" charset="-122"/>
                <a:ea typeface="微软雅黑" panose="020B0503020204020204" pitchFamily="34" charset="-122"/>
              </a:rPr>
              <a:t>单选题</a:t>
            </a:r>
            <a:endParaRPr lang="zh-CN" altLang="zh-CN" sz="20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中央处理器</a:t>
            </a:r>
            <a:r>
              <a:rPr lang="zh-CN" altLang="zh-CN" sz="2000" dirty="0">
                <a:solidFill>
                  <a:schemeClr val="tx1"/>
                </a:solidFill>
                <a:latin typeface="微软雅黑" panose="020B0503020204020204" pitchFamily="34" charset="-122"/>
                <a:ea typeface="微软雅黑" panose="020B0503020204020204" pitchFamily="34" charset="-122"/>
              </a:rPr>
              <a:t>是指（</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．运算器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．控制器</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运算器和控制器</a:t>
            </a:r>
            <a:r>
              <a:rPr lang="en-US" altLang="zh-CN" sz="2000" dirty="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．运算器，控制器和主存储器</a:t>
            </a: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在</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中跟踪指令后继地址的寄存器是（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．主存地址寄存器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．程序计数器</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C</a:t>
            </a:r>
            <a:r>
              <a:rPr lang="zh-CN" altLang="zh-CN" sz="2000" dirty="0">
                <a:solidFill>
                  <a:schemeClr val="tx1"/>
                </a:solidFill>
                <a:latin typeface="微软雅黑" panose="020B0503020204020204" pitchFamily="34" charset="-122"/>
                <a:ea typeface="微软雅黑" panose="020B0503020204020204" pitchFamily="34" charset="-122"/>
              </a:rPr>
              <a:t>．指令寄存器</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a:t>
            </a:r>
            <a:r>
              <a:rPr lang="zh-CN" altLang="zh-CN" sz="2000" dirty="0">
                <a:solidFill>
                  <a:schemeClr val="tx1"/>
                </a:solidFill>
                <a:latin typeface="微软雅黑" panose="020B0503020204020204" pitchFamily="34" charset="-122"/>
                <a:ea typeface="微软雅黑" panose="020B0503020204020204" pitchFamily="34" charset="-122"/>
              </a:rPr>
              <a:t>．状态条件寄存器</a:t>
            </a:r>
          </a:p>
          <a:p>
            <a:pPr marL="342900" indent="-342900">
              <a:lnSpc>
                <a:spcPct val="150000"/>
              </a:lnSpc>
              <a:spcBef>
                <a:spcPts val="0"/>
              </a:spcBef>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操作控制</a:t>
            </a:r>
            <a:r>
              <a:rPr lang="zh-CN" altLang="zh-CN" sz="2000" dirty="0">
                <a:solidFill>
                  <a:schemeClr val="tx1"/>
                </a:solidFill>
                <a:latin typeface="微软雅黑" panose="020B0503020204020204" pitchFamily="34" charset="-122"/>
                <a:ea typeface="微软雅黑" panose="020B0503020204020204" pitchFamily="34" charset="-122"/>
              </a:rPr>
              <a:t>器的功能是（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         </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．产生时序信号</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a:t>
            </a:r>
            <a:r>
              <a:rPr lang="zh-CN" altLang="zh-CN" sz="2000" dirty="0">
                <a:solidFill>
                  <a:schemeClr val="tx1"/>
                </a:solidFill>
                <a:latin typeface="微软雅黑" panose="020B0503020204020204" pitchFamily="34" charset="-122"/>
                <a:ea typeface="微软雅黑" panose="020B0503020204020204" pitchFamily="34" charset="-122"/>
              </a:rPr>
              <a:t>．从主存取出一条指令</a:t>
            </a:r>
          </a:p>
          <a:p>
            <a:pPr>
              <a:lnSpc>
                <a:spcPct val="150000"/>
              </a:lnSpc>
              <a:spcBef>
                <a:spcPts val="0"/>
              </a:spcBef>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完成指令操作码译码</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．从主存取出指令，完成指令操作码译码，产生有关的操作控制信号</a:t>
            </a:r>
          </a:p>
        </p:txBody>
      </p:sp>
      <p:sp>
        <p:nvSpPr>
          <p:cNvPr id="9" name="椭圆 8"/>
          <p:cNvSpPr/>
          <p:nvPr/>
        </p:nvSpPr>
        <p:spPr bwMode="auto">
          <a:xfrm>
            <a:off x="637794" y="211116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3154990" y="302266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706718" y="577955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1928716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448295" y="919964"/>
            <a:ext cx="8258701" cy="507831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solidFill>
                  <a:schemeClr val="tx1"/>
                </a:solidFill>
                <a:latin typeface="微软雅黑" panose="020B0503020204020204" pitchFamily="34" charset="-122"/>
                <a:ea typeface="微软雅黑" panose="020B0503020204020204" pitchFamily="34" charset="-122"/>
              </a:rPr>
              <a:t>判断题</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硬</a:t>
            </a:r>
            <a:r>
              <a:rPr lang="zh-CN" altLang="zh-CN" sz="2400" dirty="0">
                <a:solidFill>
                  <a:schemeClr val="tx1"/>
                </a:solidFill>
                <a:latin typeface="微软雅黑" panose="020B0503020204020204" pitchFamily="34" charset="-122"/>
                <a:ea typeface="微软雅黑" panose="020B0503020204020204" pitchFamily="34" charset="-122"/>
              </a:rPr>
              <a:t>布线控制器是采用时序逻辑技术来实现的。</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 </a:t>
            </a:r>
            <a:r>
              <a:rPr lang="zh-CN" altLang="zh-CN" sz="2400" dirty="0">
                <a:solidFill>
                  <a:schemeClr val="tx1"/>
                </a:solidFill>
                <a:latin typeface="微软雅黑" panose="020B0503020204020204" pitchFamily="34" charset="-122"/>
                <a:ea typeface="微软雅黑" panose="020B0503020204020204" pitchFamily="34" charset="-122"/>
              </a:rPr>
              <a:t>错</a:t>
            </a: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微程序控制</a:t>
            </a:r>
            <a:r>
              <a:rPr lang="zh-CN" altLang="zh-CN" sz="2400" dirty="0">
                <a:solidFill>
                  <a:schemeClr val="tx1"/>
                </a:solidFill>
                <a:latin typeface="微软雅黑" panose="020B0503020204020204" pitchFamily="34" charset="-122"/>
                <a:ea typeface="微软雅黑" panose="020B0503020204020204" pitchFamily="34" charset="-122"/>
              </a:rPr>
              <a:t>器是采用存储逻辑来实现的。</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错</a:t>
            </a: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IR</a:t>
            </a:r>
            <a:r>
              <a:rPr lang="zh-CN" altLang="zh-CN" sz="2400" dirty="0">
                <a:solidFill>
                  <a:schemeClr val="tx1"/>
                </a:solidFill>
                <a:latin typeface="微软雅黑" panose="020B0503020204020204" pitchFamily="34" charset="-122"/>
                <a:ea typeface="微软雅黑" panose="020B0503020204020204" pitchFamily="34" charset="-122"/>
              </a:rPr>
              <a:t>）用来保存当前正在执行的一条指令。</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错</a:t>
            </a:r>
          </a:p>
          <a:p>
            <a:pPr marL="457200" indent="-4572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程序计数器</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PC</a:t>
            </a:r>
            <a:r>
              <a:rPr lang="zh-CN" altLang="zh-CN" sz="2400" dirty="0">
                <a:solidFill>
                  <a:schemeClr val="tx1"/>
                </a:solidFill>
                <a:latin typeface="微软雅黑" panose="020B0503020204020204" pitchFamily="34" charset="-122"/>
                <a:ea typeface="微软雅黑" panose="020B0503020204020204" pitchFamily="34" charset="-122"/>
              </a:rPr>
              <a:t>）用来保存将要执行的下一条指令。</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对</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错</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6" name="椭圆 5"/>
          <p:cNvSpPr/>
          <p:nvPr/>
        </p:nvSpPr>
        <p:spPr bwMode="auto">
          <a:xfrm>
            <a:off x="917761" y="2112519"/>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1" name="椭圆 10"/>
          <p:cNvSpPr/>
          <p:nvPr/>
        </p:nvSpPr>
        <p:spPr bwMode="auto">
          <a:xfrm>
            <a:off x="917760" y="3207603"/>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3" name="椭圆 12"/>
          <p:cNvSpPr/>
          <p:nvPr/>
        </p:nvSpPr>
        <p:spPr bwMode="auto">
          <a:xfrm>
            <a:off x="917761" y="4318148"/>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5" name="椭圆 14"/>
          <p:cNvSpPr/>
          <p:nvPr/>
        </p:nvSpPr>
        <p:spPr bwMode="auto">
          <a:xfrm>
            <a:off x="3053364" y="5420539"/>
            <a:ext cx="581897" cy="526183"/>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883904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06835" y="1060234"/>
            <a:ext cx="8729098" cy="4524315"/>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solidFill>
                  <a:schemeClr val="tx1"/>
                </a:solidFill>
                <a:latin typeface="微软雅黑" panose="020B0503020204020204" pitchFamily="34" charset="-122"/>
                <a:ea typeface="微软雅黑" panose="020B0503020204020204" pitchFamily="34" charset="-122"/>
              </a:rPr>
              <a:t>单选题</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下列</a:t>
            </a:r>
            <a:r>
              <a:rPr lang="zh-CN" altLang="zh-CN" sz="2400" dirty="0">
                <a:solidFill>
                  <a:schemeClr val="tx1"/>
                </a:solidFill>
                <a:latin typeface="微软雅黑" panose="020B0503020204020204" pitchFamily="34" charset="-122"/>
                <a:ea typeface="微软雅黑" panose="020B0503020204020204" pitchFamily="34" charset="-122"/>
              </a:rPr>
              <a:t>部件中不属于执行部件的是（</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a:t>
            </a:r>
            <a:r>
              <a:rPr lang="zh-CN" altLang="zh-CN" sz="2400" dirty="0">
                <a:solidFill>
                  <a:schemeClr val="tx1"/>
                </a:solidFill>
                <a:latin typeface="微软雅黑" panose="020B0503020204020204" pitchFamily="34" charset="-122"/>
                <a:ea typeface="微软雅黑" panose="020B0503020204020204" pitchFamily="34" charset="-122"/>
              </a:rPr>
              <a:t>．控制器</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运算器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存储器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D. </a:t>
            </a:r>
            <a:r>
              <a:rPr lang="zh-CN" altLang="zh-CN" sz="2400" dirty="0">
                <a:solidFill>
                  <a:schemeClr val="tx1"/>
                </a:solidFill>
                <a:latin typeface="微软雅黑" panose="020B0503020204020204" pitchFamily="34" charset="-122"/>
                <a:ea typeface="微软雅黑" panose="020B0503020204020204" pitchFamily="34" charset="-122"/>
              </a:rPr>
              <a:t>外围设备</a:t>
            </a: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下列</a:t>
            </a:r>
            <a:r>
              <a:rPr lang="zh-CN" altLang="zh-CN" sz="2400" dirty="0">
                <a:solidFill>
                  <a:schemeClr val="tx1"/>
                </a:solidFill>
                <a:latin typeface="微软雅黑" panose="020B0503020204020204" pitchFamily="34" charset="-122"/>
                <a:ea typeface="微软雅黑" panose="020B0503020204020204" pitchFamily="34" charset="-122"/>
              </a:rPr>
              <a:t>部件中不属于控制器的部件是</a:t>
            </a: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程序计数器</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状态</a:t>
            </a:r>
            <a:r>
              <a:rPr lang="zh-CN" altLang="zh-CN" sz="2400" dirty="0">
                <a:solidFill>
                  <a:schemeClr val="tx1"/>
                </a:solidFill>
                <a:latin typeface="微软雅黑" panose="020B0503020204020204" pitchFamily="34" charset="-122"/>
                <a:ea typeface="微软雅黑" panose="020B0503020204020204" pitchFamily="34" charset="-122"/>
              </a:rPr>
              <a:t>条件</a:t>
            </a:r>
            <a:r>
              <a:rPr lang="zh-CN" altLang="zh-CN" sz="2400" dirty="0" smtClean="0">
                <a:solidFill>
                  <a:schemeClr val="tx1"/>
                </a:solidFill>
                <a:latin typeface="微软雅黑" panose="020B0503020204020204" pitchFamily="34" charset="-122"/>
                <a:ea typeface="微软雅黑" panose="020B0503020204020204" pitchFamily="34" charset="-122"/>
              </a:rPr>
              <a:t>寄存器</a:t>
            </a:r>
            <a:r>
              <a:rPr lang="en-US" altLang="zh-CN" sz="2400" dirty="0" smtClean="0">
                <a:solidFill>
                  <a:schemeClr val="tx1"/>
                </a:solidFill>
                <a:latin typeface="微软雅黑" panose="020B0503020204020204" pitchFamily="34" charset="-122"/>
                <a:ea typeface="微软雅黑" panose="020B0503020204020204" pitchFamily="34" charset="-122"/>
              </a:rPr>
              <a:t>        D. </a:t>
            </a:r>
            <a:r>
              <a:rPr lang="zh-CN" altLang="en-US" sz="2400" dirty="0">
                <a:solidFill>
                  <a:schemeClr val="tx1"/>
                </a:solidFill>
                <a:latin typeface="微软雅黑" panose="020B0503020204020204" pitchFamily="34" charset="-122"/>
                <a:ea typeface="微软雅黑" panose="020B0503020204020204" pitchFamily="34" charset="-122"/>
              </a:rPr>
              <a:t>指令译码器</a:t>
            </a:r>
            <a:endParaRPr lang="zh-CN"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某</a:t>
            </a:r>
            <a:r>
              <a:rPr lang="zh-CN" altLang="zh-CN" sz="2400" dirty="0">
                <a:solidFill>
                  <a:schemeClr val="tx1"/>
                </a:solidFill>
                <a:latin typeface="微软雅黑" panose="020B0503020204020204" pitchFamily="34" charset="-122"/>
                <a:ea typeface="微软雅黑" panose="020B0503020204020204" pitchFamily="34" charset="-122"/>
              </a:rPr>
              <a:t>寄存器中的数值为指令码，只有</a:t>
            </a:r>
            <a:r>
              <a:rPr lang="en-US" altLang="zh-CN" sz="2400" dirty="0">
                <a:solidFill>
                  <a:schemeClr val="tx1"/>
                </a:solidFill>
                <a:latin typeface="微软雅黑" panose="020B0503020204020204" pitchFamily="34" charset="-122"/>
                <a:ea typeface="微软雅黑" panose="020B0503020204020204" pitchFamily="34" charset="-122"/>
              </a:rPr>
              <a:t>CPU</a:t>
            </a:r>
            <a:r>
              <a:rPr lang="zh-CN" altLang="zh-CN" sz="2400" dirty="0">
                <a:solidFill>
                  <a:schemeClr val="tx1"/>
                </a:solidFill>
                <a:latin typeface="微软雅黑" panose="020B0503020204020204" pitchFamily="34" charset="-122"/>
                <a:ea typeface="微软雅黑" panose="020B0503020204020204" pitchFamily="34" charset="-122"/>
              </a:rPr>
              <a:t>的（</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）才能识别它。</a:t>
            </a:r>
          </a:p>
          <a:p>
            <a:pPr>
              <a:lnSpc>
                <a:spcPct val="150000"/>
              </a:lnSpc>
              <a:spcBef>
                <a:spcPts val="0"/>
              </a:spcBef>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指令</a:t>
            </a:r>
            <a:r>
              <a:rPr lang="zh-CN" altLang="zh-CN" sz="2400" dirty="0">
                <a:solidFill>
                  <a:schemeClr val="tx1"/>
                </a:solidFill>
                <a:latin typeface="微软雅黑" panose="020B0503020204020204" pitchFamily="34" charset="-122"/>
                <a:ea typeface="微软雅黑" panose="020B0503020204020204" pitchFamily="34" charset="-122"/>
              </a:rPr>
              <a:t>译码器</a:t>
            </a:r>
            <a:r>
              <a:rPr lang="en-US" altLang="zh-CN" sz="2400" dirty="0">
                <a:solidFill>
                  <a:schemeClr val="tx1"/>
                </a:solidFill>
                <a:latin typeface="微软雅黑" panose="020B0503020204020204" pitchFamily="34" charset="-122"/>
                <a:ea typeface="微软雅黑" panose="020B0503020204020204" pitchFamily="34" charset="-122"/>
              </a:rPr>
              <a:t>     B</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判断</a:t>
            </a:r>
            <a:r>
              <a:rPr lang="zh-CN" altLang="zh-CN" sz="2400" dirty="0">
                <a:solidFill>
                  <a:schemeClr val="tx1"/>
                </a:solidFill>
                <a:latin typeface="微软雅黑" panose="020B0503020204020204" pitchFamily="34" charset="-122"/>
                <a:ea typeface="微软雅黑" panose="020B0503020204020204" pitchFamily="34" charset="-122"/>
              </a:rPr>
              <a:t>程序</a:t>
            </a:r>
            <a:r>
              <a:rPr lang="en-US" altLang="zh-CN" sz="2400" dirty="0">
                <a:solidFill>
                  <a:schemeClr val="tx1"/>
                </a:solidFill>
                <a:latin typeface="微软雅黑" panose="020B0503020204020204" pitchFamily="34" charset="-122"/>
                <a:ea typeface="微软雅黑" panose="020B0503020204020204" pitchFamily="34" charset="-122"/>
              </a:rPr>
              <a:t>     C</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微指令</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D</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时序信号</a:t>
            </a:r>
            <a:r>
              <a:rPr lang="en-US" altLang="zh-CN" sz="2400" dirty="0">
                <a:solidFill>
                  <a:schemeClr val="tx1"/>
                </a:solidFill>
                <a:latin typeface="微软雅黑" panose="020B0503020204020204" pitchFamily="34" charset="-122"/>
                <a:ea typeface="微软雅黑" panose="020B0503020204020204" pitchFamily="34" charset="-122"/>
              </a:rPr>
              <a:t> </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9" name="椭圆 8"/>
          <p:cNvSpPr/>
          <p:nvPr/>
        </p:nvSpPr>
        <p:spPr bwMode="auto">
          <a:xfrm>
            <a:off x="753018" y="220591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746594" y="386104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746594" y="497350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2767358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p>
            <a:fld id="{7B9CB0E6-9926-4643-A4D7-AC5846E8860E}" type="slidenum">
              <a:rPr lang="en-US" altLang="zh-CN" smtClean="0"/>
              <a:pPr/>
              <a:t>10</a:t>
            </a:fld>
            <a:endParaRPr lang="en-US" altLang="zh-CN" dirty="0" smtClean="0"/>
          </a:p>
        </p:txBody>
      </p:sp>
      <p:sp>
        <p:nvSpPr>
          <p:cNvPr id="9219" name="Rectangle 2"/>
          <p:cNvSpPr>
            <a:spLocks noGrp="1" noChangeArrowheads="1"/>
          </p:cNvSpPr>
          <p:nvPr>
            <p:ph type="title"/>
          </p:nvPr>
        </p:nvSpPr>
        <p:spPr>
          <a:xfrm>
            <a:off x="323850" y="188913"/>
            <a:ext cx="4248150" cy="858837"/>
          </a:xfrm>
        </p:spPr>
        <p:txBody>
          <a:bodyPr/>
          <a:lstStyle/>
          <a:p>
            <a:pPr eaLnBrk="1" hangingPunct="1"/>
            <a:r>
              <a:rPr lang="en-US" altLang="zh-CN" dirty="0" smtClean="0">
                <a:solidFill>
                  <a:schemeClr val="tx1"/>
                </a:solidFill>
                <a:cs typeface="Times New Roman" pitchFamily="18" charset="0"/>
              </a:rPr>
              <a:t>5</a:t>
            </a:r>
            <a:r>
              <a:rPr lang="en-US" altLang="zh-CN" dirty="0" smtClean="0">
                <a:solidFill>
                  <a:schemeClr val="tx1"/>
                </a:solidFill>
              </a:rPr>
              <a:t>.2  </a:t>
            </a:r>
            <a:r>
              <a:rPr lang="zh-CN" altLang="en-US" smtClean="0">
                <a:solidFill>
                  <a:schemeClr val="tx1"/>
                </a:solidFill>
              </a:rPr>
              <a:t>指令周期</a:t>
            </a:r>
          </a:p>
        </p:txBody>
      </p:sp>
      <p:sp>
        <p:nvSpPr>
          <p:cNvPr id="9220" name="Rectangle 4"/>
          <p:cNvSpPr>
            <a:spLocks noChangeArrowheads="1"/>
          </p:cNvSpPr>
          <p:nvPr/>
        </p:nvSpPr>
        <p:spPr bwMode="auto">
          <a:xfrm>
            <a:off x="323850" y="1125538"/>
            <a:ext cx="7489825" cy="579437"/>
          </a:xfrm>
          <a:prstGeom prst="rect">
            <a:avLst/>
          </a:prstGeom>
          <a:noFill/>
          <a:ln w="12700" cap="sq">
            <a:noFill/>
            <a:miter lim="800000"/>
            <a:headEnd type="none" w="sm" len="sm"/>
            <a:tailEnd type="none" w="sm" len="sm"/>
          </a:ln>
        </p:spPr>
        <p:txBody>
          <a:bodyPr anchor="ctr">
            <a:spAutoFit/>
          </a:bodyPr>
          <a:lstStyle/>
          <a:p>
            <a:r>
              <a:rPr lang="en-US" altLang="zh-CN" sz="3200" dirty="0">
                <a:solidFill>
                  <a:schemeClr val="tx1"/>
                </a:solidFill>
                <a:latin typeface="宋体" pitchFamily="2" charset="-122"/>
              </a:rPr>
              <a:t>5.2.1 </a:t>
            </a:r>
            <a:r>
              <a:rPr lang="zh-CN" altLang="en-US" sz="3200">
                <a:solidFill>
                  <a:schemeClr val="tx1"/>
                </a:solidFill>
                <a:latin typeface="宋体" pitchFamily="2" charset="-122"/>
              </a:rPr>
              <a:t>指令周期的基本概念</a:t>
            </a:r>
            <a:endParaRPr lang="zh-CN" altLang="en-US" sz="3200" b="0">
              <a:solidFill>
                <a:schemeClr val="tx1"/>
              </a:solidFill>
              <a:latin typeface="宋体" pitchFamily="2" charset="-122"/>
            </a:endParaRPr>
          </a:p>
        </p:txBody>
      </p:sp>
      <p:sp>
        <p:nvSpPr>
          <p:cNvPr id="9221" name="Rectangle 5"/>
          <p:cNvSpPr>
            <a:spLocks noChangeArrowheads="1"/>
          </p:cNvSpPr>
          <p:nvPr/>
        </p:nvSpPr>
        <p:spPr bwMode="auto">
          <a:xfrm>
            <a:off x="323850" y="1989138"/>
            <a:ext cx="4178300" cy="3013075"/>
          </a:xfrm>
          <a:prstGeom prst="rect">
            <a:avLst/>
          </a:prstGeom>
          <a:noFill/>
          <a:ln w="12700" cap="sq">
            <a:noFill/>
            <a:miter lim="800000"/>
            <a:headEnd type="none" w="sm" len="sm"/>
            <a:tailEnd type="none" w="sm" len="sm"/>
          </a:ln>
        </p:spPr>
        <p:txBody>
          <a:bodyPr anchor="ctr">
            <a:spAutoFit/>
          </a:bodyPr>
          <a:lstStyle/>
          <a:p>
            <a:r>
              <a:rPr lang="zh-CN" altLang="en-US" b="0">
                <a:solidFill>
                  <a:schemeClr val="tx1"/>
                </a:solidFill>
              </a:rPr>
              <a:t>　　   </a:t>
            </a:r>
            <a:r>
              <a:rPr lang="zh-CN" altLang="en-US" sz="2400" b="0">
                <a:solidFill>
                  <a:schemeClr val="tx1"/>
                </a:solidFill>
                <a:latin typeface="宋体" pitchFamily="2" charset="-122"/>
              </a:rPr>
              <a:t>计算机所以能自动地工作，是因为</a:t>
            </a:r>
            <a:r>
              <a:rPr lang="en-US" altLang="zh-CN" sz="2400" b="0" dirty="0">
                <a:solidFill>
                  <a:schemeClr val="tx1"/>
                </a:solidFill>
                <a:latin typeface="宋体" pitchFamily="2" charset="-122"/>
              </a:rPr>
              <a:t>CPU</a:t>
            </a:r>
            <a:r>
              <a:rPr lang="zh-CN" altLang="en-US" sz="2400" b="0">
                <a:solidFill>
                  <a:schemeClr val="tx1"/>
                </a:solidFill>
                <a:latin typeface="宋体" pitchFamily="2" charset="-122"/>
              </a:rPr>
              <a:t>能从存放程序的内存里取出一条指令并执行这条指令；紧接着又是取指令，执行指令</a:t>
            </a:r>
            <a:r>
              <a:rPr lang="en-US" altLang="zh-CN" sz="2400" b="0" dirty="0">
                <a:solidFill>
                  <a:schemeClr val="tx1"/>
                </a:solidFill>
                <a:latin typeface="宋体" pitchFamily="2" charset="-122"/>
              </a:rPr>
              <a:t>……</a:t>
            </a:r>
            <a:r>
              <a:rPr lang="zh-CN" altLang="en-US" sz="2400" b="0">
                <a:solidFill>
                  <a:schemeClr val="tx1"/>
                </a:solidFill>
                <a:latin typeface="宋体" pitchFamily="2" charset="-122"/>
              </a:rPr>
              <a:t>，如此周而复始，构成了一个封闭的循环。除非遇到停机指令，否则这个循环将一直继续下去。</a:t>
            </a:r>
          </a:p>
        </p:txBody>
      </p:sp>
      <p:pic>
        <p:nvPicPr>
          <p:cNvPr id="9222" name="Picture 6"/>
          <p:cNvPicPr>
            <a:picLocks noChangeAspect="1" noChangeArrowheads="1"/>
          </p:cNvPicPr>
          <p:nvPr/>
        </p:nvPicPr>
        <p:blipFill>
          <a:blip r:embed="rId2"/>
          <a:srcRect/>
          <a:stretch>
            <a:fillRect/>
          </a:stretch>
        </p:blipFill>
        <p:spPr bwMode="auto">
          <a:xfrm>
            <a:off x="4572000" y="2133600"/>
            <a:ext cx="3932238" cy="2820988"/>
          </a:xfrm>
          <a:prstGeom prst="rect">
            <a:avLst/>
          </a:prstGeom>
          <a:noFill/>
          <a:ln w="9525">
            <a:noFill/>
            <a:miter lim="800000"/>
            <a:headEnd/>
            <a:tailEnd/>
          </a:ln>
        </p:spPr>
      </p:pic>
      <p:pic>
        <p:nvPicPr>
          <p:cNvPr id="9223" name="Picture 7">
            <a:hlinkClick r:id="rId3" action="ppaction://hlinkfile"/>
          </p:cNvPr>
          <p:cNvPicPr>
            <a:picLocks noChangeAspect="1" noChangeArrowheads="1"/>
          </p:cNvPicPr>
          <p:nvPr/>
        </p:nvPicPr>
        <p:blipFill>
          <a:blip r:embed="rId4"/>
          <a:srcRect/>
          <a:stretch>
            <a:fillRect/>
          </a:stretch>
        </p:blipFill>
        <p:spPr bwMode="auto">
          <a:xfrm>
            <a:off x="8172450" y="4076700"/>
            <a:ext cx="409575" cy="381000"/>
          </a:xfrm>
          <a:prstGeom prst="rect">
            <a:avLst/>
          </a:prstGeom>
          <a:noFill/>
          <a:ln w="9525">
            <a:noFill/>
            <a:miter lim="800000"/>
            <a:headEnd/>
            <a:tailEnd/>
          </a:ln>
        </p:spPr>
      </p:pic>
      <p:sp>
        <p:nvSpPr>
          <p:cNvPr id="9224" name="Rectangle 8"/>
          <p:cNvSpPr>
            <a:spLocks noChangeArrowheads="1"/>
          </p:cNvSpPr>
          <p:nvPr/>
        </p:nvSpPr>
        <p:spPr bwMode="auto">
          <a:xfrm>
            <a:off x="533400" y="5105400"/>
            <a:ext cx="7981950" cy="946150"/>
          </a:xfrm>
          <a:prstGeom prst="rect">
            <a:avLst/>
          </a:prstGeom>
          <a:noFill/>
          <a:ln w="9525">
            <a:noFill/>
            <a:miter lim="800000"/>
            <a:headEnd/>
            <a:tailEnd/>
          </a:ln>
        </p:spPr>
        <p:txBody>
          <a:bodyPr>
            <a:spAutoFit/>
          </a:bodyPr>
          <a:lstStyle/>
          <a:p>
            <a:r>
              <a:rPr lang="zh-CN" altLang="en-US" sz="2800" b="0">
                <a:solidFill>
                  <a:schemeClr val="tx1"/>
                </a:solidFill>
                <a:latin typeface="宋体" pitchFamily="2" charset="-122"/>
              </a:rPr>
              <a:t>指取指令、分析指令到执行完该指令所需的全部时间 </a:t>
            </a:r>
            <a:r>
              <a:rPr lang="en-US" altLang="zh-CN" sz="2800" b="0" dirty="0">
                <a:solidFill>
                  <a:schemeClr val="tx1"/>
                </a:solidFill>
                <a:latin typeface="宋体" pitchFamily="2" charset="-122"/>
              </a:rPr>
              <a:t>-- </a:t>
            </a:r>
            <a:r>
              <a:rPr lang="zh-CN" altLang="en-US" sz="2800" b="0">
                <a:solidFill>
                  <a:schemeClr val="tx1"/>
                </a:solidFill>
                <a:latin typeface="宋体" pitchFamily="2" charset="-122"/>
              </a:rPr>
              <a:t>指令周期</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p>
            <a:fld id="{EB5345B8-75B2-42BB-903A-9997708F8137}" type="slidenum">
              <a:rPr lang="en-US" altLang="zh-CN" smtClean="0"/>
              <a:pPr/>
              <a:t>11</a:t>
            </a:fld>
            <a:endParaRPr lang="en-US" altLang="zh-CN" dirty="0" smtClean="0"/>
          </a:p>
        </p:txBody>
      </p:sp>
      <p:sp>
        <p:nvSpPr>
          <p:cNvPr id="10243" name="Rectangle 3"/>
          <p:cNvSpPr>
            <a:spLocks noGrp="1" noChangeArrowheads="1"/>
          </p:cNvSpPr>
          <p:nvPr>
            <p:ph type="body" idx="1"/>
          </p:nvPr>
        </p:nvSpPr>
        <p:spPr>
          <a:xfrm>
            <a:off x="152400" y="113665"/>
            <a:ext cx="8884096" cy="6689551"/>
          </a:xfrm>
          <a:solidFill>
            <a:schemeClr val="bg1"/>
          </a:solidFill>
        </p:spPr>
        <p:txBody>
          <a:bodyPr/>
          <a:lstStyle/>
          <a:p>
            <a:pPr marL="342900" lvl="1" indent="-342900" eaLnBrk="1" hangingPunct="1">
              <a:spcBef>
                <a:spcPts val="0"/>
              </a:spcBef>
            </a:pPr>
            <a:r>
              <a:rPr lang="zh-CN" altLang="en-US" sz="2400" dirty="0" smtClean="0">
                <a:effectLst>
                  <a:outerShdw blurRad="38100" dist="38100" dir="2700000" algn="tl">
                    <a:srgbClr val="000000">
                      <a:alpha val="43137"/>
                    </a:srgbClr>
                  </a:outerShdw>
                </a:effectLst>
                <a:latin typeface="+mn-ea"/>
              </a:rPr>
              <a:t>指令周期</a:t>
            </a:r>
            <a:endParaRPr lang="en-US" altLang="zh-CN" sz="2400" dirty="0" smtClean="0">
              <a:effectLst>
                <a:outerShdw blurRad="38100" dist="38100" dir="2700000" algn="tl">
                  <a:srgbClr val="000000">
                    <a:alpha val="43137"/>
                  </a:srgbClr>
                </a:outerShdw>
              </a:effectLst>
              <a:latin typeface="+mn-ea"/>
            </a:endParaRPr>
          </a:p>
          <a:p>
            <a:pPr marL="0" lvl="1" indent="0" eaLnBrk="1" hangingPunct="1">
              <a:spcBef>
                <a:spcPts val="0"/>
              </a:spcBef>
              <a:buNone/>
            </a:pPr>
            <a:r>
              <a:rPr lang="zh-CN" altLang="en-US" sz="2400" dirty="0" smtClean="0">
                <a:latin typeface="+mn-ea"/>
              </a:rPr>
              <a:t>  指取指令、分析指令到执行完该指令所需的全部时间。</a:t>
            </a:r>
          </a:p>
          <a:p>
            <a:pPr marL="342900" lvl="1" indent="-342900" eaLnBrk="1" hangingPunct="1">
              <a:spcBef>
                <a:spcPts val="0"/>
              </a:spcBef>
            </a:pPr>
            <a:r>
              <a:rPr lang="zh-CN" altLang="en-US" sz="2400" dirty="0" smtClean="0">
                <a:effectLst>
                  <a:outerShdw blurRad="38100" dist="38100" dir="2700000" algn="tl">
                    <a:srgbClr val="000000">
                      <a:alpha val="43137"/>
                    </a:srgbClr>
                  </a:outerShdw>
                </a:effectLst>
                <a:latin typeface="+mn-ea"/>
              </a:rPr>
              <a:t>机器周期通常又称</a:t>
            </a:r>
            <a:r>
              <a:rPr lang="en-US" altLang="zh-CN" sz="2400" dirty="0" smtClean="0">
                <a:effectLst>
                  <a:outerShdw blurRad="38100" dist="38100" dir="2700000" algn="tl">
                    <a:srgbClr val="000000">
                      <a:alpha val="43137"/>
                    </a:srgbClr>
                  </a:outerShdw>
                </a:effectLst>
                <a:latin typeface="+mn-ea"/>
              </a:rPr>
              <a:t>CPU</a:t>
            </a:r>
            <a:r>
              <a:rPr lang="zh-CN" altLang="en-US" sz="2400" dirty="0" smtClean="0">
                <a:effectLst>
                  <a:outerShdw blurRad="38100" dist="38100" dir="2700000" algn="tl">
                    <a:srgbClr val="000000">
                      <a:alpha val="43137"/>
                    </a:srgbClr>
                  </a:outerShdw>
                </a:effectLst>
                <a:latin typeface="+mn-ea"/>
              </a:rPr>
              <a:t>周期</a:t>
            </a:r>
          </a:p>
          <a:p>
            <a:pPr marL="293688" lvl="3" indent="0" eaLnBrk="1" hangingPunct="1">
              <a:spcBef>
                <a:spcPts val="0"/>
              </a:spcBef>
              <a:buNone/>
            </a:pPr>
            <a:r>
              <a:rPr lang="zh-CN" altLang="en-US" sz="2400" dirty="0" smtClean="0">
                <a:latin typeface="+mn-ea"/>
              </a:rPr>
              <a:t>    通常把一条指令周期划分为若干个机器周期，每个机器周期完成一个基本操作。</a:t>
            </a:r>
          </a:p>
          <a:p>
            <a:pPr marL="293688" lvl="3" indent="0" eaLnBrk="1" hangingPunct="1">
              <a:spcBef>
                <a:spcPts val="0"/>
              </a:spcBef>
              <a:buNone/>
            </a:pPr>
            <a:r>
              <a:rPr lang="zh-CN" altLang="en-US" sz="2100" dirty="0" smtClean="0">
                <a:latin typeface="+mn-ea"/>
              </a:rPr>
              <a:t>    </a:t>
            </a:r>
            <a:r>
              <a:rPr lang="zh-CN" altLang="en-US" sz="2400" dirty="0" smtClean="0">
                <a:latin typeface="+mn-ea"/>
              </a:rPr>
              <a:t>以主存的工作周期</a:t>
            </a:r>
            <a:r>
              <a:rPr lang="en-US" altLang="zh-CN" sz="2400" dirty="0" smtClean="0">
                <a:latin typeface="+mn-ea"/>
              </a:rPr>
              <a:t>(</a:t>
            </a:r>
            <a:r>
              <a:rPr lang="zh-CN" altLang="en-US" sz="2400" dirty="0" smtClean="0">
                <a:latin typeface="+mn-ea"/>
              </a:rPr>
              <a:t>存取周期</a:t>
            </a:r>
            <a:r>
              <a:rPr lang="en-US" altLang="zh-CN" sz="2400" dirty="0" smtClean="0">
                <a:latin typeface="+mn-ea"/>
              </a:rPr>
              <a:t>)</a:t>
            </a:r>
            <a:r>
              <a:rPr lang="zh-CN" altLang="en-US" sz="2400" dirty="0" smtClean="0">
                <a:latin typeface="+mn-ea"/>
              </a:rPr>
              <a:t>为基础来规定</a:t>
            </a:r>
            <a:r>
              <a:rPr lang="en-US" altLang="zh-CN" sz="2400" dirty="0" smtClean="0">
                <a:latin typeface="+mn-ea"/>
              </a:rPr>
              <a:t>CPU</a:t>
            </a:r>
            <a:r>
              <a:rPr lang="zh-CN" altLang="en-US" sz="2400" dirty="0" smtClean="0">
                <a:latin typeface="+mn-ea"/>
              </a:rPr>
              <a:t>周期。</a:t>
            </a:r>
            <a:r>
              <a:rPr lang="en-US" altLang="zh-CN" sz="2400" dirty="0" smtClean="0">
                <a:latin typeface="+mn-ea"/>
              </a:rPr>
              <a:t>CPU</a:t>
            </a:r>
            <a:r>
              <a:rPr lang="zh-CN" altLang="en-US" sz="2400" dirty="0" smtClean="0">
                <a:latin typeface="+mn-ea"/>
              </a:rPr>
              <a:t>访问一次内存所花的时间较长，因此用从内存读取一条指令字的最短时间来定义</a:t>
            </a:r>
            <a:r>
              <a:rPr lang="en-US" altLang="zh-CN" sz="2400" dirty="0" smtClean="0">
                <a:latin typeface="+mn-ea"/>
              </a:rPr>
              <a:t>CPU</a:t>
            </a:r>
            <a:r>
              <a:rPr lang="zh-CN" altLang="en-US" sz="2400" dirty="0" smtClean="0">
                <a:latin typeface="+mn-ea"/>
              </a:rPr>
              <a:t>周期。</a:t>
            </a:r>
          </a:p>
          <a:p>
            <a:pPr marL="0" lvl="2" indent="0" eaLnBrk="1" hangingPunct="1">
              <a:spcBef>
                <a:spcPts val="0"/>
              </a:spcBef>
              <a:buNone/>
            </a:pPr>
            <a:r>
              <a:rPr lang="zh-CN" altLang="en-US" sz="2400" dirty="0" smtClean="0">
                <a:latin typeface="+mn-ea"/>
              </a:rPr>
              <a:t>      不同的指令，可能包含不同数目的机器周期。</a:t>
            </a:r>
          </a:p>
          <a:p>
            <a:pPr marL="342900" lvl="2" indent="-342900" eaLnBrk="1" hangingPunct="1">
              <a:spcBef>
                <a:spcPts val="0"/>
              </a:spcBef>
              <a:buClr>
                <a:schemeClr val="accent2"/>
              </a:buClr>
            </a:pPr>
            <a:r>
              <a:rPr lang="zh-CN" altLang="en-US" sz="2400" dirty="0" smtClean="0">
                <a:effectLst>
                  <a:outerShdw blurRad="38100" dist="38100" dir="2700000" algn="tl">
                    <a:srgbClr val="000000">
                      <a:alpha val="43137"/>
                    </a:srgbClr>
                  </a:outerShdw>
                </a:effectLst>
                <a:latin typeface="+mn-ea"/>
              </a:rPr>
              <a:t>时钟周期      </a:t>
            </a:r>
            <a:endParaRPr lang="en-US" altLang="zh-CN" sz="2400" dirty="0" smtClean="0">
              <a:effectLst>
                <a:outerShdw blurRad="38100" dist="38100" dir="2700000" algn="tl">
                  <a:srgbClr val="000000">
                    <a:alpha val="43137"/>
                  </a:srgbClr>
                </a:outerShdw>
              </a:effectLst>
              <a:latin typeface="+mn-ea"/>
            </a:endParaRPr>
          </a:p>
          <a:p>
            <a:pPr marL="293688" lvl="3" indent="0" eaLnBrk="1" hangingPunct="1">
              <a:spcBef>
                <a:spcPts val="0"/>
              </a:spcBef>
              <a:buNone/>
            </a:pPr>
            <a:r>
              <a:rPr lang="zh-CN" altLang="en-US" sz="2400" dirty="0" smtClean="0">
                <a:latin typeface="+mn-ea"/>
              </a:rPr>
              <a:t>    一个机器周期中，包含时钟周期（又称节拍脉冲或</a:t>
            </a:r>
            <a:r>
              <a:rPr lang="en-US" altLang="zh-CN" sz="2400" dirty="0" smtClean="0">
                <a:latin typeface="+mn-ea"/>
              </a:rPr>
              <a:t>T</a:t>
            </a:r>
            <a:r>
              <a:rPr lang="zh-CN" altLang="en-US" sz="2400" dirty="0" smtClean="0">
                <a:latin typeface="+mn-ea"/>
              </a:rPr>
              <a:t>周期）。</a:t>
            </a:r>
          </a:p>
          <a:p>
            <a:pPr marL="293688" lvl="3" indent="0" eaLnBrk="1" hangingPunct="1">
              <a:spcBef>
                <a:spcPts val="0"/>
              </a:spcBef>
              <a:buNone/>
            </a:pPr>
            <a:r>
              <a:rPr lang="zh-CN" altLang="en-US" sz="2400" dirty="0" smtClean="0">
                <a:latin typeface="+mn-ea"/>
              </a:rPr>
              <a:t>    在</a:t>
            </a:r>
            <a:r>
              <a:rPr lang="zh-CN" altLang="en-US" sz="2400" dirty="0">
                <a:latin typeface="+mn-ea"/>
              </a:rPr>
              <a:t>一个机器周期内，要完成若干个微</a:t>
            </a:r>
            <a:r>
              <a:rPr lang="zh-CN" altLang="en-US" sz="2400" dirty="0" smtClean="0">
                <a:latin typeface="+mn-ea"/>
              </a:rPr>
              <a:t>操作，因而</a:t>
            </a:r>
            <a:r>
              <a:rPr lang="zh-CN" altLang="en-US" sz="2400" dirty="0">
                <a:latin typeface="+mn-ea"/>
              </a:rPr>
              <a:t>需要把一个机器周期分为若干个相等的时间段，每一个时间段称为一个节拍。节拍常用具有一定宽度的电位信号表示，称之为节拍电位</a:t>
            </a:r>
            <a:r>
              <a:rPr lang="zh-CN" altLang="en-US" sz="2400" dirty="0" smtClean="0">
                <a:latin typeface="+mn-ea"/>
              </a:rPr>
              <a:t>。节拍</a:t>
            </a:r>
            <a:r>
              <a:rPr lang="zh-CN" altLang="en-US" sz="2400" dirty="0">
                <a:latin typeface="+mn-ea"/>
              </a:rPr>
              <a:t>的宽度取决于</a:t>
            </a:r>
            <a:r>
              <a:rPr lang="en-US" altLang="zh-CN" sz="2400" dirty="0">
                <a:latin typeface="+mn-ea"/>
              </a:rPr>
              <a:t>CPU</a:t>
            </a:r>
            <a:r>
              <a:rPr lang="zh-CN" altLang="en-US" sz="2400" dirty="0">
                <a:latin typeface="+mn-ea"/>
              </a:rPr>
              <a:t>完成一次基本的微操作的时间，如：</a:t>
            </a:r>
            <a:r>
              <a:rPr lang="en-US" altLang="zh-CN" sz="2400" dirty="0">
                <a:latin typeface="+mn-ea"/>
              </a:rPr>
              <a:t>ALU</a:t>
            </a:r>
            <a:r>
              <a:rPr lang="zh-CN" altLang="en-US" sz="2400" dirty="0">
                <a:latin typeface="+mn-ea"/>
              </a:rPr>
              <a:t>完成一次正确的运算，寄存器间的一次数据传送等</a:t>
            </a:r>
            <a:r>
              <a:rPr lang="zh-CN" altLang="en-US" sz="2400" dirty="0" smtClean="0">
                <a:latin typeface="+mn-ea"/>
              </a:rPr>
              <a:t>。</a:t>
            </a:r>
            <a:endParaRPr lang="en-US" altLang="zh-CN" sz="2400" dirty="0">
              <a:latin typeface="+mn-ea"/>
            </a:endParaRPr>
          </a:p>
          <a:p>
            <a:pPr marL="293688" lvl="3" indent="0" eaLnBrk="1" hangingPunct="1">
              <a:spcBef>
                <a:spcPts val="1200"/>
              </a:spcBef>
              <a:buNone/>
            </a:pPr>
            <a:r>
              <a:rPr lang="zh-CN" altLang="en-US" sz="2800" b="1" i="1" dirty="0" smtClean="0">
                <a:solidFill>
                  <a:srgbClr val="FF0000"/>
                </a:solidFill>
                <a:effectLst>
                  <a:outerShdw blurRad="38100" dist="38100" dir="2700000" algn="tl">
                    <a:srgbClr val="000000">
                      <a:alpha val="43137"/>
                    </a:srgbClr>
                  </a:outerShdw>
                </a:effectLst>
                <a:latin typeface="+mn-ea"/>
              </a:rPr>
              <a:t>不同</a:t>
            </a:r>
            <a:r>
              <a:rPr lang="zh-CN" altLang="en-US" sz="2800" b="1" i="1" dirty="0">
                <a:solidFill>
                  <a:srgbClr val="FF0000"/>
                </a:solidFill>
                <a:effectLst>
                  <a:outerShdw blurRad="38100" dist="38100" dir="2700000" algn="tl">
                    <a:srgbClr val="000000">
                      <a:alpha val="43137"/>
                    </a:srgbClr>
                  </a:outerShdw>
                </a:effectLst>
                <a:latin typeface="+mn-ea"/>
              </a:rPr>
              <a:t>的计算机</a:t>
            </a:r>
            <a:r>
              <a:rPr lang="zh-CN" altLang="en-US" sz="2800" b="1" i="1" dirty="0" smtClean="0">
                <a:solidFill>
                  <a:srgbClr val="FF0000"/>
                </a:solidFill>
                <a:effectLst>
                  <a:outerShdw blurRad="38100" dist="38100" dir="2700000" algn="tl">
                    <a:srgbClr val="000000">
                      <a:alpha val="43137"/>
                    </a:srgbClr>
                  </a:outerShdw>
                </a:effectLst>
                <a:latin typeface="+mn-ea"/>
              </a:rPr>
              <a:t>中定义的术语未必相同</a:t>
            </a:r>
            <a:endParaRPr lang="zh-CN" altLang="en-US" sz="2800" b="1" i="1" dirty="0">
              <a:solidFill>
                <a:srgbClr val="FF0000"/>
              </a:solidFill>
              <a:effectLst>
                <a:outerShdw blurRad="38100" dist="38100" dir="2700000" algn="tl">
                  <a:srgbClr val="000000">
                    <a:alpha val="43137"/>
                  </a:srgbClr>
                </a:outerShdw>
              </a:effectLst>
              <a:latin typeface="+mn-ea"/>
            </a:endParaRPr>
          </a:p>
          <a:p>
            <a:pPr marL="0" lvl="2" indent="0" eaLnBrk="1" hangingPunct="1">
              <a:spcBef>
                <a:spcPts val="0"/>
              </a:spcBef>
              <a:buNone/>
            </a:pPr>
            <a:endParaRPr lang="zh-CN" altLang="en-US" sz="2400" dirty="0" smtClean="0">
              <a:latin typeface="+mn-ea"/>
            </a:endParaRPr>
          </a:p>
        </p:txBody>
      </p:sp>
      <p:pic>
        <p:nvPicPr>
          <p:cNvPr id="4" name="Picture 5" descr="5a3"/>
          <p:cNvPicPr>
            <a:picLocks noChangeAspect="1" noChangeArrowheads="1"/>
          </p:cNvPicPr>
          <p:nvPr/>
        </p:nvPicPr>
        <p:blipFill>
          <a:blip r:embed="rId2"/>
          <a:srcRect/>
          <a:stretch>
            <a:fillRect/>
          </a:stretch>
        </p:blipFill>
        <p:spPr bwMode="auto">
          <a:xfrm>
            <a:off x="241360" y="188640"/>
            <a:ext cx="8518152" cy="323947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p>
            <a:fld id="{D799535B-EFFF-4C6D-87C4-EE0C99D4F6BC}" type="slidenum">
              <a:rPr lang="en-US" altLang="zh-CN" smtClean="0"/>
              <a:pPr/>
              <a:t>12</a:t>
            </a:fld>
            <a:endParaRPr lang="en-US" altLang="zh-CN" dirty="0" smtClean="0"/>
          </a:p>
        </p:txBody>
      </p:sp>
      <p:sp>
        <p:nvSpPr>
          <p:cNvPr id="12291" name="Rectangle 3"/>
          <p:cNvSpPr>
            <a:spLocks noGrp="1" noChangeArrowheads="1"/>
          </p:cNvSpPr>
          <p:nvPr>
            <p:ph type="body" idx="1"/>
          </p:nvPr>
        </p:nvSpPr>
        <p:spPr>
          <a:xfrm>
            <a:off x="395288" y="404813"/>
            <a:ext cx="7634287" cy="576262"/>
          </a:xfrm>
        </p:spPr>
        <p:txBody>
          <a:bodyPr/>
          <a:lstStyle/>
          <a:p>
            <a:pPr eaLnBrk="1" hangingPunct="1">
              <a:buFont typeface="Wingdings" pitchFamily="2" charset="2"/>
              <a:buNone/>
            </a:pPr>
            <a:r>
              <a:rPr lang="zh-CN" altLang="en-US" smtClean="0"/>
              <a:t>下面我们用一个模型机来介绍指令周期概念</a:t>
            </a:r>
          </a:p>
        </p:txBody>
      </p:sp>
      <p:sp>
        <p:nvSpPr>
          <p:cNvPr id="12292" name="Rectangle 215"/>
          <p:cNvSpPr>
            <a:spLocks noChangeArrowheads="1"/>
          </p:cNvSpPr>
          <p:nvPr/>
        </p:nvSpPr>
        <p:spPr bwMode="auto">
          <a:xfrm>
            <a:off x="1579563" y="5699125"/>
            <a:ext cx="215900" cy="228600"/>
          </a:xfrm>
          <a:prstGeom prst="rect">
            <a:avLst/>
          </a:prstGeom>
          <a:noFill/>
          <a:ln w="12700" cap="sq">
            <a:noFill/>
            <a:miter lim="800000"/>
            <a:headEnd type="none" w="sm" len="sm"/>
            <a:tailEnd type="none" w="sm" len="sm"/>
          </a:ln>
        </p:spPr>
        <p:txBody>
          <a:bodyPr wrap="none" anchor="ctr">
            <a:spAutoFit/>
          </a:bodyPr>
          <a:lstStyle/>
          <a:p>
            <a:pPr eaLnBrk="0" hangingPunct="0"/>
            <a:r>
              <a:rPr lang="en-US" altLang="zh-CN" sz="900" b="0" dirty="0">
                <a:solidFill>
                  <a:schemeClr val="tx1"/>
                </a:solidFill>
              </a:rPr>
              <a:t> </a:t>
            </a:r>
            <a:endParaRPr lang="en-US" altLang="zh-CN" b="0" dirty="0">
              <a:solidFill>
                <a:schemeClr val="tx1"/>
              </a:solidFill>
            </a:endParaRPr>
          </a:p>
        </p:txBody>
      </p:sp>
      <p:pic>
        <p:nvPicPr>
          <p:cNvPr id="12293" name="Picture 219"/>
          <p:cNvPicPr>
            <a:picLocks noChangeAspect="1" noChangeArrowheads="1"/>
          </p:cNvPicPr>
          <p:nvPr/>
        </p:nvPicPr>
        <p:blipFill>
          <a:blip r:embed="rId2"/>
          <a:srcRect/>
          <a:stretch>
            <a:fillRect/>
          </a:stretch>
        </p:blipFill>
        <p:spPr bwMode="auto">
          <a:xfrm>
            <a:off x="323850" y="1196975"/>
            <a:ext cx="8064500" cy="4895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p>
            <a:fld id="{B248E3CE-B028-4ED4-A3D5-596F3595F6B2}" type="slidenum">
              <a:rPr lang="en-US" altLang="zh-CN" smtClean="0"/>
              <a:pPr/>
              <a:t>13</a:t>
            </a:fld>
            <a:endParaRPr lang="en-US" altLang="zh-CN" dirty="0" smtClean="0"/>
          </a:p>
        </p:txBody>
      </p:sp>
      <p:sp>
        <p:nvSpPr>
          <p:cNvPr id="13315" name="Rectangle 2"/>
          <p:cNvSpPr>
            <a:spLocks noGrp="1" noChangeArrowheads="1"/>
          </p:cNvSpPr>
          <p:nvPr>
            <p:ph type="title"/>
          </p:nvPr>
        </p:nvSpPr>
        <p:spPr>
          <a:xfrm>
            <a:off x="468313" y="333375"/>
            <a:ext cx="7543800" cy="1001713"/>
          </a:xfrm>
        </p:spPr>
        <p:txBody>
          <a:bodyPr/>
          <a:lstStyle/>
          <a:p>
            <a:pPr eaLnBrk="1" hangingPunct="1"/>
            <a:r>
              <a:rPr lang="en-US" altLang="zh-CN" sz="3200" dirty="0" smtClean="0">
                <a:latin typeface="宋体" pitchFamily="2" charset="-122"/>
              </a:rPr>
              <a:t>5.2.2 MOV</a:t>
            </a:r>
            <a:r>
              <a:rPr lang="zh-CN" altLang="en-US" sz="3200" smtClean="0">
                <a:latin typeface="宋体" pitchFamily="2" charset="-122"/>
              </a:rPr>
              <a:t>指令的指令周期 </a:t>
            </a:r>
            <a:br>
              <a:rPr lang="zh-CN" altLang="en-US" sz="3200" smtClean="0">
                <a:latin typeface="宋体" pitchFamily="2" charset="-122"/>
              </a:rPr>
            </a:br>
            <a:r>
              <a:rPr lang="zh-CN" altLang="en-US" sz="3200" smtClean="0">
                <a:latin typeface="宋体" pitchFamily="2" charset="-122"/>
              </a:rPr>
              <a:t>      </a:t>
            </a:r>
            <a:r>
              <a:rPr lang="en-US" altLang="zh-CN" sz="3200" dirty="0" smtClean="0">
                <a:latin typeface="宋体" pitchFamily="2" charset="-122"/>
              </a:rPr>
              <a:t>MOV R0</a:t>
            </a:r>
            <a:r>
              <a:rPr lang="zh-CN" altLang="en-US" sz="3200" smtClean="0">
                <a:latin typeface="宋体" pitchFamily="2" charset="-122"/>
              </a:rPr>
              <a:t>，</a:t>
            </a:r>
            <a:r>
              <a:rPr lang="en-US" altLang="zh-CN" sz="3200" dirty="0" smtClean="0">
                <a:latin typeface="宋体" pitchFamily="2" charset="-122"/>
              </a:rPr>
              <a:t>R1 </a:t>
            </a:r>
            <a:r>
              <a:rPr lang="zh-CN" altLang="en-US" sz="3200" smtClean="0">
                <a:latin typeface="宋体" pitchFamily="2" charset="-122"/>
              </a:rPr>
              <a:t>（</a:t>
            </a:r>
            <a:r>
              <a:rPr lang="en-US" altLang="zh-CN" sz="3200" dirty="0" smtClean="0">
                <a:latin typeface="宋体" pitchFamily="2" charset="-122"/>
              </a:rPr>
              <a:t>RR</a:t>
            </a:r>
            <a:r>
              <a:rPr lang="zh-CN" altLang="en-US" sz="3200" smtClean="0">
                <a:latin typeface="宋体" pitchFamily="2" charset="-122"/>
              </a:rPr>
              <a:t>型指令）</a:t>
            </a:r>
          </a:p>
        </p:txBody>
      </p:sp>
      <p:sp>
        <p:nvSpPr>
          <p:cNvPr id="13316" name="Rectangle 3"/>
          <p:cNvSpPr>
            <a:spLocks noGrp="1" noChangeArrowheads="1"/>
          </p:cNvSpPr>
          <p:nvPr>
            <p:ph type="body" idx="1"/>
          </p:nvPr>
        </p:nvSpPr>
        <p:spPr>
          <a:xfrm>
            <a:off x="457200" y="2286000"/>
            <a:ext cx="2232025" cy="1079500"/>
          </a:xfrm>
        </p:spPr>
        <p:txBody>
          <a:bodyPr/>
          <a:lstStyle/>
          <a:p>
            <a:pPr eaLnBrk="1" hangingPunct="1">
              <a:lnSpc>
                <a:spcPct val="90000"/>
              </a:lnSpc>
            </a:pPr>
            <a:r>
              <a:rPr lang="zh-CN" altLang="en-US" smtClean="0"/>
              <a:t>取指周期</a:t>
            </a:r>
          </a:p>
          <a:p>
            <a:pPr eaLnBrk="1" hangingPunct="1">
              <a:lnSpc>
                <a:spcPct val="90000"/>
              </a:lnSpc>
            </a:pPr>
            <a:r>
              <a:rPr lang="zh-CN" altLang="en-US" smtClean="0"/>
              <a:t>执行周期</a:t>
            </a:r>
          </a:p>
        </p:txBody>
      </p:sp>
      <p:pic>
        <p:nvPicPr>
          <p:cNvPr id="13317" name="Picture 4" descr="5a4"/>
          <p:cNvPicPr>
            <a:picLocks noChangeAspect="1" noChangeArrowheads="1"/>
          </p:cNvPicPr>
          <p:nvPr/>
        </p:nvPicPr>
        <p:blipFill>
          <a:blip r:embed="rId2"/>
          <a:srcRect/>
          <a:stretch>
            <a:fillRect/>
          </a:stretch>
        </p:blipFill>
        <p:spPr bwMode="auto">
          <a:xfrm>
            <a:off x="2819400" y="1905000"/>
            <a:ext cx="4895850" cy="4465638"/>
          </a:xfrm>
          <a:prstGeom prst="rect">
            <a:avLst/>
          </a:prstGeom>
          <a:noFill/>
          <a:ln w="9525">
            <a:noFill/>
            <a:miter lim="800000"/>
            <a:headEnd/>
            <a:tailEnd/>
          </a:ln>
        </p:spPr>
      </p:pic>
      <p:sp>
        <p:nvSpPr>
          <p:cNvPr id="13318" name="Rectangle 5"/>
          <p:cNvSpPr>
            <a:spLocks noChangeArrowheads="1"/>
          </p:cNvSpPr>
          <p:nvPr/>
        </p:nvSpPr>
        <p:spPr bwMode="auto">
          <a:xfrm>
            <a:off x="1828800" y="1371600"/>
            <a:ext cx="2514600" cy="457200"/>
          </a:xfrm>
          <a:prstGeom prst="rect">
            <a:avLst/>
          </a:prstGeom>
          <a:noFill/>
          <a:ln w="9525">
            <a:noFill/>
            <a:miter lim="800000"/>
            <a:headEnd/>
            <a:tailEnd/>
          </a:ln>
        </p:spPr>
        <p:txBody>
          <a:bodyPr>
            <a:spAutoFit/>
          </a:bodyPr>
          <a:lstStyle/>
          <a:p>
            <a:r>
              <a:rPr lang="zh-CN" altLang="en-US" sz="2400">
                <a:solidFill>
                  <a:srgbClr val="E8060B"/>
                </a:solidFill>
                <a:latin typeface="宋体" pitchFamily="2" charset="-122"/>
              </a:rPr>
              <a:t>（</a:t>
            </a:r>
            <a:r>
              <a:rPr lang="en-US" altLang="zh-CN" sz="2400" dirty="0">
                <a:solidFill>
                  <a:srgbClr val="E8060B"/>
                </a:solidFill>
                <a:latin typeface="宋体" pitchFamily="2" charset="-122"/>
              </a:rPr>
              <a:t>R1</a:t>
            </a:r>
            <a:r>
              <a:rPr lang="zh-CN" altLang="en-US" sz="2400">
                <a:solidFill>
                  <a:srgbClr val="E8060B"/>
                </a:solidFill>
                <a:latin typeface="宋体" pitchFamily="2" charset="-122"/>
              </a:rPr>
              <a:t>）→ </a:t>
            </a:r>
            <a:r>
              <a:rPr lang="en-US" altLang="zh-CN" sz="2400" dirty="0">
                <a:solidFill>
                  <a:srgbClr val="E8060B"/>
                </a:solidFill>
                <a:latin typeface="宋体" pitchFamily="2" charset="-122"/>
              </a:rPr>
              <a:t>R0</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p>
            <a:fld id="{4E8C6146-E008-48F0-91A0-C548B6C3656D}" type="slidenum">
              <a:rPr lang="en-US" altLang="zh-CN" smtClean="0"/>
              <a:pPr/>
              <a:t>14</a:t>
            </a:fld>
            <a:endParaRPr lang="en-US" altLang="zh-CN" dirty="0" smtClean="0"/>
          </a:p>
        </p:txBody>
      </p:sp>
      <p:pic>
        <p:nvPicPr>
          <p:cNvPr id="14339" name="Picture 4" descr="5a5"/>
          <p:cNvPicPr>
            <a:picLocks noChangeAspect="1" noChangeArrowheads="1"/>
          </p:cNvPicPr>
          <p:nvPr/>
        </p:nvPicPr>
        <p:blipFill>
          <a:blip r:embed="rId3"/>
          <a:srcRect/>
          <a:stretch>
            <a:fillRect/>
          </a:stretch>
        </p:blipFill>
        <p:spPr bwMode="auto">
          <a:xfrm>
            <a:off x="323850" y="692150"/>
            <a:ext cx="7561263" cy="5329238"/>
          </a:xfrm>
          <a:prstGeom prst="rect">
            <a:avLst/>
          </a:prstGeom>
          <a:noFill/>
          <a:ln w="9525">
            <a:noFill/>
            <a:miter lim="800000"/>
            <a:headEnd/>
            <a:tailEnd/>
          </a:ln>
        </p:spPr>
      </p:pic>
      <p:sp>
        <p:nvSpPr>
          <p:cNvPr id="14340" name="Rectangle 5"/>
          <p:cNvSpPr>
            <a:spLocks noChangeArrowheads="1"/>
          </p:cNvSpPr>
          <p:nvPr/>
        </p:nvSpPr>
        <p:spPr bwMode="auto">
          <a:xfrm>
            <a:off x="395288" y="188913"/>
            <a:ext cx="5689600"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itchFamily="2" charset="-122"/>
              </a:rPr>
              <a:t>5.2.2  MOV</a:t>
            </a:r>
            <a:r>
              <a:rPr lang="zh-CN" altLang="en-US" sz="2400">
                <a:solidFill>
                  <a:schemeClr val="tx2"/>
                </a:solidFill>
                <a:latin typeface="宋体" pitchFamily="2" charset="-122"/>
              </a:rPr>
              <a:t>指令的指令周期 </a:t>
            </a:r>
            <a:r>
              <a:rPr lang="en-US" altLang="zh-CN" sz="2400" dirty="0">
                <a:solidFill>
                  <a:schemeClr val="tx2"/>
                </a:solidFill>
                <a:latin typeface="宋体" pitchFamily="2" charset="-122"/>
              </a:rPr>
              <a:t>- </a:t>
            </a:r>
            <a:r>
              <a:rPr lang="zh-CN" altLang="en-US" sz="2400">
                <a:solidFill>
                  <a:schemeClr val="tx2"/>
                </a:solidFill>
                <a:latin typeface="宋体" pitchFamily="2" charset="-122"/>
              </a:rPr>
              <a:t>取指周期</a:t>
            </a:r>
          </a:p>
        </p:txBody>
      </p:sp>
      <p:sp>
        <p:nvSpPr>
          <p:cNvPr id="26630" name="Text Box 6"/>
          <p:cNvSpPr txBox="1">
            <a:spLocks noChangeArrowheads="1"/>
          </p:cNvSpPr>
          <p:nvPr/>
        </p:nvSpPr>
        <p:spPr bwMode="auto">
          <a:xfrm>
            <a:off x="250825" y="6229350"/>
            <a:ext cx="5943600" cy="366713"/>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latin typeface="宋体" pitchFamily="2" charset="-122"/>
              </a:rPr>
              <a:t>① </a:t>
            </a:r>
            <a:r>
              <a:rPr lang="zh-CN" altLang="en-US">
                <a:solidFill>
                  <a:srgbClr val="EE2200"/>
                </a:solidFill>
                <a:latin typeface="宋体" pitchFamily="2" charset="-122"/>
              </a:rPr>
              <a:t>程序计数器</a:t>
            </a:r>
            <a:r>
              <a:rPr lang="en-US" altLang="zh-CN" dirty="0">
                <a:solidFill>
                  <a:srgbClr val="EE2200"/>
                </a:solidFill>
                <a:latin typeface="宋体" pitchFamily="2" charset="-122"/>
              </a:rPr>
              <a:t>PC</a:t>
            </a:r>
            <a:r>
              <a:rPr lang="zh-CN" altLang="en-US">
                <a:solidFill>
                  <a:srgbClr val="EE2200"/>
                </a:solidFill>
                <a:latin typeface="宋体" pitchFamily="2" charset="-122"/>
              </a:rPr>
              <a:t>中装入第一条指令地址</a:t>
            </a:r>
            <a:r>
              <a:rPr lang="en-US" altLang="zh-CN" dirty="0">
                <a:solidFill>
                  <a:srgbClr val="EE2200"/>
                </a:solidFill>
                <a:latin typeface="宋体" pitchFamily="2" charset="-122"/>
              </a:rPr>
              <a:t>101</a:t>
            </a:r>
            <a:r>
              <a:rPr lang="zh-CN" altLang="en-US">
                <a:solidFill>
                  <a:srgbClr val="EE2200"/>
                </a:solidFill>
                <a:latin typeface="宋体" pitchFamily="2" charset="-122"/>
              </a:rPr>
              <a:t>（八进制）；</a:t>
            </a:r>
          </a:p>
        </p:txBody>
      </p:sp>
      <p:sp>
        <p:nvSpPr>
          <p:cNvPr id="26632" name="Rectangle 8"/>
          <p:cNvSpPr>
            <a:spLocks noChangeArrowheads="1"/>
          </p:cNvSpPr>
          <p:nvPr/>
        </p:nvSpPr>
        <p:spPr bwMode="auto">
          <a:xfrm>
            <a:off x="179388" y="6237288"/>
            <a:ext cx="8477250" cy="366712"/>
          </a:xfrm>
          <a:prstGeom prst="rect">
            <a:avLst/>
          </a:prstGeom>
          <a:solidFill>
            <a:srgbClr val="0000FF"/>
          </a:solidFill>
          <a:ln w="12700" cap="sq">
            <a:noFill/>
            <a:miter lim="800000"/>
            <a:headEnd type="none" w="sm" len="sm"/>
            <a:tailEnd type="none" w="sm" len="sm"/>
          </a:ln>
        </p:spPr>
        <p:txBody>
          <a:bodyPr wrap="none">
            <a:spAutoFit/>
          </a:bodyPr>
          <a:lstStyle/>
          <a:p>
            <a:r>
              <a:rPr lang="en-US" altLang="zh-CN" dirty="0">
                <a:solidFill>
                  <a:srgbClr val="EE2200"/>
                </a:solidFill>
                <a:latin typeface="宋体" pitchFamily="2" charset="-122"/>
              </a:rPr>
              <a:t>② PC</a:t>
            </a:r>
            <a:r>
              <a:rPr lang="zh-CN" altLang="en-US">
                <a:solidFill>
                  <a:srgbClr val="EE2200"/>
                </a:solidFill>
                <a:latin typeface="宋体" pitchFamily="2" charset="-122"/>
              </a:rPr>
              <a:t>的内容被放到指令地址总线</a:t>
            </a:r>
            <a:r>
              <a:rPr lang="en-US" altLang="zh-CN" dirty="0">
                <a:solidFill>
                  <a:srgbClr val="EE2200"/>
                </a:solidFill>
                <a:latin typeface="宋体" pitchFamily="2" charset="-122"/>
              </a:rPr>
              <a:t>ABUS</a:t>
            </a:r>
            <a:r>
              <a:rPr lang="zh-CN" altLang="en-US">
                <a:solidFill>
                  <a:srgbClr val="EE2200"/>
                </a:solidFill>
                <a:latin typeface="宋体" pitchFamily="2" charset="-122"/>
              </a:rPr>
              <a:t>（</a:t>
            </a:r>
            <a:r>
              <a:rPr lang="en-US" altLang="zh-CN" dirty="0">
                <a:solidFill>
                  <a:srgbClr val="EE2200"/>
                </a:solidFill>
                <a:latin typeface="宋体" pitchFamily="2" charset="-122"/>
              </a:rPr>
              <a:t>I</a:t>
            </a:r>
            <a:r>
              <a:rPr lang="zh-CN" altLang="en-US">
                <a:solidFill>
                  <a:srgbClr val="EE2200"/>
                </a:solidFill>
                <a:latin typeface="宋体" pitchFamily="2" charset="-122"/>
              </a:rPr>
              <a:t>）上，对指存进行译码，并启动读命令；</a:t>
            </a:r>
          </a:p>
        </p:txBody>
      </p:sp>
      <p:sp>
        <p:nvSpPr>
          <p:cNvPr id="26633" name="Rectangle 9"/>
          <p:cNvSpPr>
            <a:spLocks noChangeArrowheads="1"/>
          </p:cNvSpPr>
          <p:nvPr/>
        </p:nvSpPr>
        <p:spPr bwMode="auto">
          <a:xfrm>
            <a:off x="250825" y="6237288"/>
            <a:ext cx="7448550" cy="366712"/>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③ </a:t>
            </a:r>
            <a:r>
              <a:rPr lang="zh-CN" altLang="en-US">
                <a:solidFill>
                  <a:srgbClr val="EE2200"/>
                </a:solidFill>
              </a:rPr>
              <a:t>从</a:t>
            </a:r>
            <a:r>
              <a:rPr lang="en-US" altLang="zh-CN" dirty="0">
                <a:solidFill>
                  <a:srgbClr val="EE2200"/>
                </a:solidFill>
              </a:rPr>
              <a:t>101</a:t>
            </a:r>
            <a:r>
              <a:rPr lang="zh-CN" altLang="en-US">
                <a:solidFill>
                  <a:srgbClr val="EE2200"/>
                </a:solidFill>
              </a:rPr>
              <a:t>号地址读出的</a:t>
            </a:r>
            <a:r>
              <a:rPr lang="en-US" altLang="zh-CN" dirty="0">
                <a:solidFill>
                  <a:srgbClr val="EE2200"/>
                </a:solidFill>
              </a:rPr>
              <a:t>MOV</a:t>
            </a:r>
            <a:r>
              <a:rPr lang="zh-CN" altLang="en-US">
                <a:solidFill>
                  <a:srgbClr val="EE2200"/>
                </a:solidFill>
              </a:rPr>
              <a:t>指令通过指令总线</a:t>
            </a:r>
            <a:r>
              <a:rPr lang="en-US" altLang="zh-CN" dirty="0">
                <a:solidFill>
                  <a:srgbClr val="EE2200"/>
                </a:solidFill>
              </a:rPr>
              <a:t>IBUS</a:t>
            </a:r>
            <a:r>
              <a:rPr lang="zh-CN" altLang="en-US">
                <a:solidFill>
                  <a:srgbClr val="EE2200"/>
                </a:solidFill>
              </a:rPr>
              <a:t>装入指令寄存器</a:t>
            </a:r>
            <a:r>
              <a:rPr lang="en-US" altLang="zh-CN" dirty="0">
                <a:solidFill>
                  <a:srgbClr val="EE2200"/>
                </a:solidFill>
              </a:rPr>
              <a:t>IR</a:t>
            </a:r>
            <a:r>
              <a:rPr lang="zh-CN" altLang="en-US">
                <a:solidFill>
                  <a:srgbClr val="EE2200"/>
                </a:solidFill>
              </a:rPr>
              <a:t>；</a:t>
            </a:r>
          </a:p>
        </p:txBody>
      </p:sp>
      <p:sp>
        <p:nvSpPr>
          <p:cNvPr id="26634" name="Rectangle 10"/>
          <p:cNvSpPr>
            <a:spLocks noChangeArrowheads="1"/>
          </p:cNvSpPr>
          <p:nvPr/>
        </p:nvSpPr>
        <p:spPr bwMode="auto">
          <a:xfrm>
            <a:off x="250825" y="6237288"/>
            <a:ext cx="6573838" cy="366712"/>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④  </a:t>
            </a:r>
            <a:r>
              <a:rPr lang="zh-CN" altLang="en-US">
                <a:solidFill>
                  <a:srgbClr val="EE2200"/>
                </a:solidFill>
              </a:rPr>
              <a:t>程序计数器内容加</a:t>
            </a:r>
            <a:r>
              <a:rPr lang="en-US" altLang="zh-CN" dirty="0">
                <a:solidFill>
                  <a:srgbClr val="EE2200"/>
                </a:solidFill>
              </a:rPr>
              <a:t>1</a:t>
            </a:r>
            <a:r>
              <a:rPr lang="zh-CN" altLang="en-US">
                <a:solidFill>
                  <a:srgbClr val="EE2200"/>
                </a:solidFill>
              </a:rPr>
              <a:t>，变成</a:t>
            </a:r>
            <a:r>
              <a:rPr lang="en-US" altLang="zh-CN" dirty="0">
                <a:solidFill>
                  <a:srgbClr val="EE2200"/>
                </a:solidFill>
              </a:rPr>
              <a:t>102</a:t>
            </a:r>
            <a:r>
              <a:rPr lang="zh-CN" altLang="en-US">
                <a:solidFill>
                  <a:srgbClr val="EE2200"/>
                </a:solidFill>
              </a:rPr>
              <a:t>，为取下一条指令做好准备；</a:t>
            </a:r>
          </a:p>
        </p:txBody>
      </p:sp>
      <p:sp>
        <p:nvSpPr>
          <p:cNvPr id="26635" name="Rectangle 11"/>
          <p:cNvSpPr>
            <a:spLocks noChangeArrowheads="1"/>
          </p:cNvSpPr>
          <p:nvPr/>
        </p:nvSpPr>
        <p:spPr bwMode="auto">
          <a:xfrm>
            <a:off x="179388" y="6237288"/>
            <a:ext cx="4533900" cy="369887"/>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⑤ </a:t>
            </a:r>
            <a:r>
              <a:rPr lang="zh-CN" altLang="en-US">
                <a:solidFill>
                  <a:srgbClr val="EE2200"/>
                </a:solidFill>
              </a:rPr>
              <a:t>指令寄存器中的操作码（</a:t>
            </a:r>
            <a:r>
              <a:rPr lang="en-US" altLang="zh-CN" dirty="0">
                <a:solidFill>
                  <a:srgbClr val="EE2200"/>
                </a:solidFill>
              </a:rPr>
              <a:t>OP</a:t>
            </a:r>
            <a:r>
              <a:rPr lang="zh-CN" altLang="en-US">
                <a:solidFill>
                  <a:srgbClr val="EE2200"/>
                </a:solidFill>
              </a:rPr>
              <a:t>）被译码；</a:t>
            </a:r>
          </a:p>
        </p:txBody>
      </p:sp>
      <p:sp>
        <p:nvSpPr>
          <p:cNvPr id="26636" name="Rectangle 12"/>
          <p:cNvSpPr>
            <a:spLocks noChangeArrowheads="1"/>
          </p:cNvSpPr>
          <p:nvPr/>
        </p:nvSpPr>
        <p:spPr bwMode="auto">
          <a:xfrm>
            <a:off x="179388" y="6242050"/>
            <a:ext cx="5854700" cy="366713"/>
          </a:xfrm>
          <a:prstGeom prst="rect">
            <a:avLst/>
          </a:prstGeom>
          <a:solidFill>
            <a:srgbClr val="0000FF"/>
          </a:solidFill>
          <a:ln w="12700" cap="sq" algn="ctr">
            <a:noFill/>
            <a:miter lim="800000"/>
            <a:headEnd type="none" w="sm" len="sm"/>
            <a:tailEnd type="none" w="sm" len="sm"/>
          </a:ln>
        </p:spPr>
        <p:txBody>
          <a:bodyPr wrap="none">
            <a:spAutoFit/>
          </a:bodyPr>
          <a:lstStyle/>
          <a:p>
            <a:r>
              <a:rPr lang="en-US" altLang="zh-CN" dirty="0">
                <a:solidFill>
                  <a:srgbClr val="EE2200"/>
                </a:solidFill>
              </a:rPr>
              <a:t>⑥ CPU</a:t>
            </a:r>
            <a:r>
              <a:rPr lang="zh-CN" altLang="en-US">
                <a:solidFill>
                  <a:srgbClr val="EE2200"/>
                </a:solidFill>
              </a:rPr>
              <a:t>识别出是</a:t>
            </a:r>
            <a:r>
              <a:rPr lang="en-US" altLang="zh-CN" dirty="0">
                <a:solidFill>
                  <a:srgbClr val="EE2200"/>
                </a:solidFill>
              </a:rPr>
              <a:t>MOV</a:t>
            </a:r>
            <a:r>
              <a:rPr lang="zh-CN" altLang="en-US">
                <a:solidFill>
                  <a:srgbClr val="EE2200"/>
                </a:solidFill>
              </a:rPr>
              <a:t>指令，至此，取指周期即告结束。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checkerboard(across)">
                                      <p:cBhvr>
                                        <p:cTn id="7" dur="500"/>
                                        <p:tgtEl>
                                          <p:spTgt spid="26630"/>
                                        </p:tgtEl>
                                      </p:cBhvr>
                                    </p:animEffect>
                                  </p:childTnLst>
                                  <p:subTnLst>
                                    <p:set>
                                      <p:cBhvr override="childStyle">
                                        <p:cTn dur="1" fill="hold" display="0" masterRel="nextClick" afterEffect="1"/>
                                        <p:tgtEl>
                                          <p:spTgt spid="2663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6632"/>
                                        </p:tgtEl>
                                        <p:attrNameLst>
                                          <p:attrName>style.visibility</p:attrName>
                                        </p:attrNameLst>
                                      </p:cBhvr>
                                      <p:to>
                                        <p:strVal val="visible"/>
                                      </p:to>
                                    </p:set>
                                    <p:animEffect transition="in" filter="checkerboard(across)">
                                      <p:cBhvr>
                                        <p:cTn id="12" dur="500"/>
                                        <p:tgtEl>
                                          <p:spTgt spid="26632"/>
                                        </p:tgtEl>
                                      </p:cBhvr>
                                    </p:animEffect>
                                  </p:childTnLst>
                                  <p:subTnLst>
                                    <p:set>
                                      <p:cBhvr override="childStyle">
                                        <p:cTn dur="1" fill="hold" display="0" masterRel="nextClick" afterEffect="1"/>
                                        <p:tgtEl>
                                          <p:spTgt spid="2663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6633"/>
                                        </p:tgtEl>
                                        <p:attrNameLst>
                                          <p:attrName>style.visibility</p:attrName>
                                        </p:attrNameLst>
                                      </p:cBhvr>
                                      <p:to>
                                        <p:strVal val="visible"/>
                                      </p:to>
                                    </p:set>
                                    <p:animEffect transition="in" filter="checkerboard(across)">
                                      <p:cBhvr>
                                        <p:cTn id="17" dur="500"/>
                                        <p:tgtEl>
                                          <p:spTgt spid="26633"/>
                                        </p:tgtEl>
                                      </p:cBhvr>
                                    </p:animEffect>
                                  </p:childTnLst>
                                  <p:subTnLst>
                                    <p:set>
                                      <p:cBhvr override="childStyle">
                                        <p:cTn dur="1" fill="hold" display="0" masterRel="nextClick" afterEffect="1"/>
                                        <p:tgtEl>
                                          <p:spTgt spid="26633"/>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6634"/>
                                        </p:tgtEl>
                                        <p:attrNameLst>
                                          <p:attrName>style.visibility</p:attrName>
                                        </p:attrNameLst>
                                      </p:cBhvr>
                                      <p:to>
                                        <p:strVal val="visible"/>
                                      </p:to>
                                    </p:set>
                                    <p:animEffect transition="in" filter="checkerboard(across)">
                                      <p:cBhvr>
                                        <p:cTn id="22" dur="500"/>
                                        <p:tgtEl>
                                          <p:spTgt spid="26634"/>
                                        </p:tgtEl>
                                      </p:cBhvr>
                                    </p:animEffect>
                                  </p:childTnLst>
                                  <p:subTnLst>
                                    <p:set>
                                      <p:cBhvr override="childStyle">
                                        <p:cTn dur="1" fill="hold" display="0" masterRel="nextClick" afterEffect="1"/>
                                        <p:tgtEl>
                                          <p:spTgt spid="26634"/>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6635"/>
                                        </p:tgtEl>
                                        <p:attrNameLst>
                                          <p:attrName>style.visibility</p:attrName>
                                        </p:attrNameLst>
                                      </p:cBhvr>
                                      <p:to>
                                        <p:strVal val="visible"/>
                                      </p:to>
                                    </p:set>
                                    <p:animEffect transition="in" filter="checkerboard(across)">
                                      <p:cBhvr>
                                        <p:cTn id="27" dur="500"/>
                                        <p:tgtEl>
                                          <p:spTgt spid="26635"/>
                                        </p:tgtEl>
                                      </p:cBhvr>
                                    </p:animEffect>
                                  </p:childTnLst>
                                  <p:subTnLst>
                                    <p:set>
                                      <p:cBhvr override="childStyle">
                                        <p:cTn dur="1" fill="hold" display="0" masterRel="nextClick" afterEffect="1"/>
                                        <p:tgtEl>
                                          <p:spTgt spid="26635"/>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6636"/>
                                        </p:tgtEl>
                                        <p:attrNameLst>
                                          <p:attrName>style.visibility</p:attrName>
                                        </p:attrNameLst>
                                      </p:cBhvr>
                                      <p:to>
                                        <p:strVal val="visible"/>
                                      </p:to>
                                    </p:set>
                                    <p:animEffect transition="in" filter="checkerboard(across)">
                                      <p:cBhvr>
                                        <p:cTn id="32" dur="500"/>
                                        <p:tgtEl>
                                          <p:spTgt spid="26636"/>
                                        </p:tgtEl>
                                      </p:cBhvr>
                                    </p:animEffect>
                                  </p:childTnLst>
                                  <p:subTnLst>
                                    <p:set>
                                      <p:cBhvr override="childStyle">
                                        <p:cTn dur="1" fill="hold" display="0" masterRel="nextClick" afterEffect="1"/>
                                        <p:tgtEl>
                                          <p:spTgt spid="2663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autoUpdateAnimBg="0"/>
      <p:bldP spid="26632" grpId="0" animBg="1" autoUpdateAnimBg="0"/>
      <p:bldP spid="26633" grpId="0" animBg="1" autoUpdateAnimBg="0"/>
      <p:bldP spid="26634" grpId="0" animBg="1" autoUpdateAnimBg="0"/>
      <p:bldP spid="26635" grpId="0" animBg="1" autoUpdateAnimBg="0"/>
      <p:bldP spid="2663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p>
            <a:fld id="{9ED45274-DEAB-4448-B1D5-C705C17E43DA}" type="slidenum">
              <a:rPr lang="en-US" altLang="zh-CN" smtClean="0"/>
              <a:pPr/>
              <a:t>15</a:t>
            </a:fld>
            <a:endParaRPr lang="en-US" altLang="zh-CN" dirty="0" smtClean="0"/>
          </a:p>
        </p:txBody>
      </p:sp>
      <p:pic>
        <p:nvPicPr>
          <p:cNvPr id="15363" name="Picture 4" descr="5a6"/>
          <p:cNvPicPr>
            <a:picLocks noChangeAspect="1" noChangeArrowheads="1"/>
          </p:cNvPicPr>
          <p:nvPr/>
        </p:nvPicPr>
        <p:blipFill>
          <a:blip r:embed="rId3"/>
          <a:srcRect/>
          <a:stretch>
            <a:fillRect/>
          </a:stretch>
        </p:blipFill>
        <p:spPr bwMode="auto">
          <a:xfrm>
            <a:off x="250825" y="692150"/>
            <a:ext cx="7634288" cy="5257800"/>
          </a:xfrm>
          <a:prstGeom prst="rect">
            <a:avLst/>
          </a:prstGeom>
          <a:noFill/>
          <a:ln w="9525">
            <a:noFill/>
            <a:miter lim="800000"/>
            <a:headEnd/>
            <a:tailEnd/>
          </a:ln>
        </p:spPr>
      </p:pic>
      <p:sp>
        <p:nvSpPr>
          <p:cNvPr id="15364" name="Rectangle 5"/>
          <p:cNvSpPr>
            <a:spLocks noChangeArrowheads="1"/>
          </p:cNvSpPr>
          <p:nvPr/>
        </p:nvSpPr>
        <p:spPr bwMode="auto">
          <a:xfrm>
            <a:off x="250825" y="188913"/>
            <a:ext cx="7127875"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itchFamily="2" charset="-122"/>
              </a:rPr>
              <a:t>5.2.2 MOV</a:t>
            </a:r>
            <a:r>
              <a:rPr lang="zh-CN" altLang="en-US" sz="2400">
                <a:solidFill>
                  <a:schemeClr val="tx2"/>
                </a:solidFill>
                <a:latin typeface="宋体" pitchFamily="2" charset="-122"/>
              </a:rPr>
              <a:t>指令的指令周期 </a:t>
            </a:r>
            <a:r>
              <a:rPr lang="en-US" altLang="zh-CN" sz="2400" dirty="0">
                <a:solidFill>
                  <a:schemeClr val="tx2"/>
                </a:solidFill>
                <a:latin typeface="宋体" pitchFamily="2" charset="-122"/>
              </a:rPr>
              <a:t>- </a:t>
            </a:r>
            <a:r>
              <a:rPr lang="zh-CN" altLang="en-US" sz="2400">
                <a:solidFill>
                  <a:schemeClr val="tx2"/>
                </a:solidFill>
                <a:latin typeface="宋体" pitchFamily="2" charset="-122"/>
              </a:rPr>
              <a:t>执行周期</a:t>
            </a:r>
            <a:r>
              <a:rPr lang="zh-CN" altLang="en-US" sz="2400">
                <a:solidFill>
                  <a:srgbClr val="E8060B"/>
                </a:solidFill>
                <a:latin typeface="宋体" pitchFamily="2" charset="-122"/>
              </a:rPr>
              <a:t>（</a:t>
            </a:r>
            <a:r>
              <a:rPr lang="en-US" altLang="zh-CN" sz="2400" dirty="0">
                <a:solidFill>
                  <a:srgbClr val="E8060B"/>
                </a:solidFill>
                <a:latin typeface="宋体" pitchFamily="2" charset="-122"/>
              </a:rPr>
              <a:t>R1</a:t>
            </a:r>
            <a:r>
              <a:rPr lang="zh-CN" altLang="en-US" sz="2400">
                <a:solidFill>
                  <a:srgbClr val="E8060B"/>
                </a:solidFill>
                <a:latin typeface="宋体" pitchFamily="2" charset="-122"/>
              </a:rPr>
              <a:t>）→ </a:t>
            </a:r>
            <a:r>
              <a:rPr lang="en-US" altLang="zh-CN" sz="2400" dirty="0">
                <a:solidFill>
                  <a:srgbClr val="E8060B"/>
                </a:solidFill>
                <a:latin typeface="宋体" pitchFamily="2" charset="-122"/>
              </a:rPr>
              <a:t>R0</a:t>
            </a:r>
          </a:p>
        </p:txBody>
      </p:sp>
      <p:sp>
        <p:nvSpPr>
          <p:cNvPr id="28678" name="Rectangle 6"/>
          <p:cNvSpPr>
            <a:spLocks noChangeArrowheads="1"/>
          </p:cNvSpPr>
          <p:nvPr/>
        </p:nvSpPr>
        <p:spPr bwMode="auto">
          <a:xfrm>
            <a:off x="179388" y="6021388"/>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① </a:t>
            </a:r>
            <a:r>
              <a:rPr lang="zh-CN" altLang="en-US">
                <a:solidFill>
                  <a:srgbClr val="E8060B"/>
                </a:solidFill>
              </a:rPr>
              <a:t>操作控制器（</a:t>
            </a:r>
            <a:r>
              <a:rPr lang="en-US" altLang="zh-CN" dirty="0">
                <a:solidFill>
                  <a:srgbClr val="E8060B"/>
                </a:solidFill>
              </a:rPr>
              <a:t>OC</a:t>
            </a:r>
            <a:r>
              <a:rPr lang="zh-CN" altLang="en-US">
                <a:solidFill>
                  <a:srgbClr val="E8060B"/>
                </a:solidFill>
              </a:rPr>
              <a:t>）送出控制信号到通用寄存器，选择</a:t>
            </a:r>
            <a:r>
              <a:rPr lang="en-US" altLang="zh-CN" dirty="0">
                <a:solidFill>
                  <a:srgbClr val="E8060B"/>
                </a:solidFill>
              </a:rPr>
              <a:t>R1</a:t>
            </a:r>
            <a:r>
              <a:rPr lang="zh-CN" altLang="en-US">
                <a:solidFill>
                  <a:srgbClr val="E8060B"/>
                </a:solidFill>
              </a:rPr>
              <a:t>（</a:t>
            </a:r>
            <a:r>
              <a:rPr lang="en-US" altLang="zh-CN" dirty="0">
                <a:solidFill>
                  <a:srgbClr val="E8060B"/>
                </a:solidFill>
              </a:rPr>
              <a:t>10</a:t>
            </a:r>
            <a:r>
              <a:rPr lang="zh-CN" altLang="en-US">
                <a:solidFill>
                  <a:srgbClr val="E8060B"/>
                </a:solidFill>
              </a:rPr>
              <a:t>）作源寄存器，选择</a:t>
            </a:r>
            <a:r>
              <a:rPr lang="en-US" altLang="zh-CN" dirty="0">
                <a:solidFill>
                  <a:srgbClr val="E8060B"/>
                </a:solidFill>
              </a:rPr>
              <a:t>R0</a:t>
            </a:r>
            <a:r>
              <a:rPr lang="zh-CN" altLang="en-US">
                <a:solidFill>
                  <a:srgbClr val="E8060B"/>
                </a:solidFill>
              </a:rPr>
              <a:t>作目标寄存器；</a:t>
            </a:r>
          </a:p>
        </p:txBody>
      </p:sp>
      <p:sp>
        <p:nvSpPr>
          <p:cNvPr id="28679" name="Rectangle 7"/>
          <p:cNvSpPr>
            <a:spLocks noChangeArrowheads="1"/>
          </p:cNvSpPr>
          <p:nvPr/>
        </p:nvSpPr>
        <p:spPr bwMode="auto">
          <a:xfrm>
            <a:off x="323850" y="6092825"/>
            <a:ext cx="55943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② OC</a:t>
            </a:r>
            <a:r>
              <a:rPr lang="zh-CN" altLang="en-US">
                <a:solidFill>
                  <a:srgbClr val="E8060B"/>
                </a:solidFill>
              </a:rPr>
              <a:t>送出控制信号到</a:t>
            </a:r>
            <a:r>
              <a:rPr lang="en-US" altLang="zh-CN" dirty="0">
                <a:solidFill>
                  <a:srgbClr val="E8060B"/>
                </a:solidFill>
              </a:rPr>
              <a:t>ALU</a:t>
            </a:r>
            <a:r>
              <a:rPr lang="zh-CN" altLang="en-US">
                <a:solidFill>
                  <a:srgbClr val="E8060B"/>
                </a:solidFill>
              </a:rPr>
              <a:t>，指定</a:t>
            </a:r>
            <a:r>
              <a:rPr lang="en-US" altLang="zh-CN" dirty="0">
                <a:solidFill>
                  <a:srgbClr val="E8060B"/>
                </a:solidFill>
              </a:rPr>
              <a:t>ALU</a:t>
            </a:r>
            <a:r>
              <a:rPr lang="zh-CN" altLang="en-US">
                <a:solidFill>
                  <a:srgbClr val="E8060B"/>
                </a:solidFill>
              </a:rPr>
              <a:t>做传送操作；</a:t>
            </a:r>
          </a:p>
        </p:txBody>
      </p:sp>
      <p:sp>
        <p:nvSpPr>
          <p:cNvPr id="28680" name="Rectangle 8"/>
          <p:cNvSpPr>
            <a:spLocks noChangeArrowheads="1"/>
          </p:cNvSpPr>
          <p:nvPr/>
        </p:nvSpPr>
        <p:spPr bwMode="auto">
          <a:xfrm>
            <a:off x="179388" y="6021388"/>
            <a:ext cx="8389937" cy="641350"/>
          </a:xfrm>
          <a:prstGeom prst="rect">
            <a:avLst/>
          </a:prstGeom>
          <a:solidFill>
            <a:srgbClr val="0000FF"/>
          </a:solidFill>
          <a:ln w="12700" cap="sq">
            <a:noFill/>
            <a:miter lim="800000"/>
            <a:headEnd type="none" w="sm" len="sm"/>
            <a:tailEnd type="none" w="sm" len="sm"/>
          </a:ln>
        </p:spPr>
        <p:txBody>
          <a:bodyPr>
            <a:spAutoFit/>
          </a:bodyPr>
          <a:lstStyle/>
          <a:p>
            <a:r>
              <a:rPr lang="en-US" altLang="zh-CN" dirty="0">
                <a:solidFill>
                  <a:srgbClr val="E8060B"/>
                </a:solidFill>
              </a:rPr>
              <a:t>③ OC</a:t>
            </a:r>
            <a:r>
              <a:rPr lang="zh-CN" altLang="en-US">
                <a:solidFill>
                  <a:srgbClr val="E8060B"/>
                </a:solidFill>
              </a:rPr>
              <a:t>送出控制信号，打开</a:t>
            </a:r>
            <a:r>
              <a:rPr lang="en-US" altLang="zh-CN" dirty="0">
                <a:solidFill>
                  <a:srgbClr val="E8060B"/>
                </a:solidFill>
              </a:rPr>
              <a:t>ALU</a:t>
            </a:r>
            <a:r>
              <a:rPr lang="zh-CN" altLang="en-US">
                <a:solidFill>
                  <a:srgbClr val="E8060B"/>
                </a:solidFill>
              </a:rPr>
              <a:t>输出三态门，将</a:t>
            </a:r>
            <a:r>
              <a:rPr lang="en-US" altLang="zh-CN" dirty="0">
                <a:solidFill>
                  <a:srgbClr val="E8060B"/>
                </a:solidFill>
              </a:rPr>
              <a:t>ALU</a:t>
            </a:r>
            <a:r>
              <a:rPr lang="zh-CN" altLang="en-US">
                <a:solidFill>
                  <a:srgbClr val="E8060B"/>
                </a:solidFill>
              </a:rPr>
              <a:t>输出送到数据总线</a:t>
            </a:r>
            <a:r>
              <a:rPr lang="en-US" altLang="zh-CN" dirty="0">
                <a:solidFill>
                  <a:srgbClr val="E8060B"/>
                </a:solidFill>
              </a:rPr>
              <a:t>DBUS</a:t>
            </a:r>
            <a:r>
              <a:rPr lang="zh-CN" altLang="en-US">
                <a:solidFill>
                  <a:srgbClr val="E8060B"/>
                </a:solidFill>
              </a:rPr>
              <a:t>上。注意，任何时候</a:t>
            </a:r>
            <a:r>
              <a:rPr lang="en-US" altLang="zh-CN" dirty="0">
                <a:solidFill>
                  <a:srgbClr val="E8060B"/>
                </a:solidFill>
              </a:rPr>
              <a:t>DBUS</a:t>
            </a:r>
            <a:r>
              <a:rPr lang="zh-CN" altLang="en-US">
                <a:solidFill>
                  <a:srgbClr val="E8060B"/>
                </a:solidFill>
              </a:rPr>
              <a:t>上只能有一个数据。</a:t>
            </a:r>
            <a:endParaRPr lang="zh-CN" altLang="en-US">
              <a:solidFill>
                <a:srgbClr val="EE2200"/>
              </a:solidFill>
            </a:endParaRPr>
          </a:p>
        </p:txBody>
      </p:sp>
      <p:sp>
        <p:nvSpPr>
          <p:cNvPr id="28681" name="Rectangle 9"/>
          <p:cNvSpPr>
            <a:spLocks noChangeArrowheads="1"/>
          </p:cNvSpPr>
          <p:nvPr/>
        </p:nvSpPr>
        <p:spPr bwMode="auto">
          <a:xfrm>
            <a:off x="179388" y="6021388"/>
            <a:ext cx="7981950"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④ OC</a:t>
            </a:r>
            <a:r>
              <a:rPr lang="zh-CN" altLang="en-US">
                <a:solidFill>
                  <a:srgbClr val="E8060B"/>
                </a:solidFill>
              </a:rPr>
              <a:t>送出控制信号，将</a:t>
            </a:r>
            <a:r>
              <a:rPr lang="en-US" altLang="zh-CN" dirty="0">
                <a:solidFill>
                  <a:srgbClr val="E8060B"/>
                </a:solidFill>
              </a:rPr>
              <a:t>DBUS</a:t>
            </a:r>
            <a:r>
              <a:rPr lang="zh-CN" altLang="en-US">
                <a:solidFill>
                  <a:srgbClr val="E8060B"/>
                </a:solidFill>
              </a:rPr>
              <a:t>上的数据打入到数据缓冲寄存器</a:t>
            </a:r>
            <a:r>
              <a:rPr lang="en-US" altLang="zh-CN" dirty="0">
                <a:solidFill>
                  <a:srgbClr val="E8060B"/>
                </a:solidFill>
              </a:rPr>
              <a:t>DR</a:t>
            </a:r>
            <a:r>
              <a:rPr lang="zh-CN" altLang="en-US">
                <a:solidFill>
                  <a:srgbClr val="E8060B"/>
                </a:solidFill>
              </a:rPr>
              <a:t>（</a:t>
            </a:r>
            <a:r>
              <a:rPr lang="en-US" altLang="zh-CN" dirty="0">
                <a:solidFill>
                  <a:srgbClr val="E8060B"/>
                </a:solidFill>
              </a:rPr>
              <a:t>10</a:t>
            </a:r>
            <a:r>
              <a:rPr lang="zh-CN" altLang="en-US">
                <a:solidFill>
                  <a:srgbClr val="E8060B"/>
                </a:solidFill>
              </a:rPr>
              <a:t>）；</a:t>
            </a:r>
          </a:p>
        </p:txBody>
      </p:sp>
      <p:sp>
        <p:nvSpPr>
          <p:cNvPr id="28682" name="Rectangle 10"/>
          <p:cNvSpPr>
            <a:spLocks noChangeArrowheads="1"/>
          </p:cNvSpPr>
          <p:nvPr/>
        </p:nvSpPr>
        <p:spPr bwMode="auto">
          <a:xfrm>
            <a:off x="179388" y="6021388"/>
            <a:ext cx="7939087"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⑤ OC</a:t>
            </a:r>
            <a:r>
              <a:rPr lang="zh-CN" altLang="en-US">
                <a:solidFill>
                  <a:srgbClr val="E8060B"/>
                </a:solidFill>
              </a:rPr>
              <a:t>送出控制信号，将</a:t>
            </a:r>
            <a:r>
              <a:rPr lang="en-US" altLang="zh-CN" dirty="0">
                <a:solidFill>
                  <a:srgbClr val="E8060B"/>
                </a:solidFill>
              </a:rPr>
              <a:t>DR</a:t>
            </a:r>
            <a:r>
              <a:rPr lang="zh-CN" altLang="en-US">
                <a:solidFill>
                  <a:srgbClr val="E8060B"/>
                </a:solidFill>
              </a:rPr>
              <a:t>中的数据</a:t>
            </a:r>
            <a:r>
              <a:rPr lang="en-US" altLang="zh-CN" dirty="0">
                <a:solidFill>
                  <a:srgbClr val="E8060B"/>
                </a:solidFill>
              </a:rPr>
              <a:t>10</a:t>
            </a:r>
            <a:r>
              <a:rPr lang="zh-CN" altLang="en-US">
                <a:solidFill>
                  <a:srgbClr val="E8060B"/>
                </a:solidFill>
              </a:rPr>
              <a:t>打入到目标寄存器</a:t>
            </a:r>
            <a:r>
              <a:rPr lang="en-US" altLang="zh-CN" dirty="0">
                <a:solidFill>
                  <a:srgbClr val="E8060B"/>
                </a:solidFill>
              </a:rPr>
              <a:t>R0</a:t>
            </a:r>
            <a:r>
              <a:rPr lang="zh-CN" altLang="en-US">
                <a:solidFill>
                  <a:srgbClr val="E8060B"/>
                </a:solidFill>
              </a:rPr>
              <a:t>，</a:t>
            </a:r>
            <a:r>
              <a:rPr lang="en-US" altLang="zh-CN" dirty="0">
                <a:solidFill>
                  <a:srgbClr val="E8060B"/>
                </a:solidFill>
              </a:rPr>
              <a:t>R0</a:t>
            </a:r>
            <a:r>
              <a:rPr lang="zh-CN" altLang="en-US">
                <a:solidFill>
                  <a:srgbClr val="E8060B"/>
                </a:solidFill>
              </a:rPr>
              <a:t>的内容由</a:t>
            </a:r>
            <a:r>
              <a:rPr lang="en-US" altLang="zh-CN" dirty="0">
                <a:solidFill>
                  <a:srgbClr val="E8060B"/>
                </a:solidFill>
              </a:rPr>
              <a:t>00</a:t>
            </a:r>
            <a:r>
              <a:rPr lang="zh-CN" altLang="en-US">
                <a:solidFill>
                  <a:srgbClr val="E8060B"/>
                </a:solidFill>
              </a:rPr>
              <a:t>变为</a:t>
            </a:r>
            <a:r>
              <a:rPr lang="en-US" altLang="zh-CN" dirty="0">
                <a:solidFill>
                  <a:srgbClr val="E8060B"/>
                </a:solidFill>
              </a:rPr>
              <a:t>10</a:t>
            </a:r>
            <a:r>
              <a:rPr lang="zh-CN" altLang="en-US">
                <a:solidFill>
                  <a:srgbClr val="E8060B"/>
                </a:solidFill>
              </a:rPr>
              <a:t>。至此，</a:t>
            </a:r>
            <a:r>
              <a:rPr lang="en-US" altLang="zh-CN" dirty="0">
                <a:solidFill>
                  <a:srgbClr val="E8060B"/>
                </a:solidFill>
              </a:rPr>
              <a:t>MOV</a:t>
            </a:r>
            <a:r>
              <a:rPr lang="zh-CN" altLang="en-US">
                <a:solidFill>
                  <a:srgbClr val="E8060B"/>
                </a:solidFill>
              </a:rPr>
              <a:t>指令执行结束。</a:t>
            </a:r>
          </a:p>
        </p:txBody>
      </p:sp>
      <p:pic>
        <p:nvPicPr>
          <p:cNvPr id="15370" name="Picture 16">
            <a:hlinkClick r:id="rId4" action="ppaction://hlinkfile"/>
          </p:cNvPr>
          <p:cNvPicPr>
            <a:picLocks noChangeAspect="1" noChangeArrowheads="1"/>
          </p:cNvPicPr>
          <p:nvPr/>
        </p:nvPicPr>
        <p:blipFill>
          <a:blip r:embed="rId5"/>
          <a:srcRect/>
          <a:stretch>
            <a:fillRect/>
          </a:stretch>
        </p:blipFill>
        <p:spPr bwMode="auto">
          <a:xfrm>
            <a:off x="7956550" y="4005263"/>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animEffect transition="in" filter="checkerboard(across)">
                                      <p:cBhvr>
                                        <p:cTn id="7" dur="500"/>
                                        <p:tgtEl>
                                          <p:spTgt spid="28678"/>
                                        </p:tgtEl>
                                      </p:cBhvr>
                                    </p:animEffect>
                                  </p:childTnLst>
                                  <p:subTnLst>
                                    <p:set>
                                      <p:cBhvr override="childStyle">
                                        <p:cTn dur="1" fill="hold" display="0" masterRel="nextClick" afterEffect="1"/>
                                        <p:tgtEl>
                                          <p:spTgt spid="2867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8679"/>
                                        </p:tgtEl>
                                        <p:attrNameLst>
                                          <p:attrName>style.visibility</p:attrName>
                                        </p:attrNameLst>
                                      </p:cBhvr>
                                      <p:to>
                                        <p:strVal val="visible"/>
                                      </p:to>
                                    </p:set>
                                    <p:animEffect transition="in" filter="checkerboard(across)">
                                      <p:cBhvr>
                                        <p:cTn id="12" dur="500"/>
                                        <p:tgtEl>
                                          <p:spTgt spid="28679"/>
                                        </p:tgtEl>
                                      </p:cBhvr>
                                    </p:animEffect>
                                  </p:childTnLst>
                                  <p:subTnLst>
                                    <p:set>
                                      <p:cBhvr override="childStyle">
                                        <p:cTn dur="1" fill="hold" display="0" masterRel="nextClick" afterEffect="1"/>
                                        <p:tgtEl>
                                          <p:spTgt spid="2867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8680"/>
                                        </p:tgtEl>
                                        <p:attrNameLst>
                                          <p:attrName>style.visibility</p:attrName>
                                        </p:attrNameLst>
                                      </p:cBhvr>
                                      <p:to>
                                        <p:strVal val="visible"/>
                                      </p:to>
                                    </p:set>
                                    <p:animEffect transition="in" filter="checkerboard(across)">
                                      <p:cBhvr>
                                        <p:cTn id="17" dur="500"/>
                                        <p:tgtEl>
                                          <p:spTgt spid="28680"/>
                                        </p:tgtEl>
                                      </p:cBhvr>
                                    </p:animEffect>
                                  </p:childTnLst>
                                  <p:subTnLst>
                                    <p:set>
                                      <p:cBhvr override="childStyle">
                                        <p:cTn dur="1" fill="hold" display="0" masterRel="nextClick" afterEffect="1"/>
                                        <p:tgtEl>
                                          <p:spTgt spid="28680"/>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8681"/>
                                        </p:tgtEl>
                                        <p:attrNameLst>
                                          <p:attrName>style.visibility</p:attrName>
                                        </p:attrNameLst>
                                      </p:cBhvr>
                                      <p:to>
                                        <p:strVal val="visible"/>
                                      </p:to>
                                    </p:set>
                                    <p:animEffect transition="in" filter="checkerboard(across)">
                                      <p:cBhvr>
                                        <p:cTn id="22" dur="500"/>
                                        <p:tgtEl>
                                          <p:spTgt spid="28681"/>
                                        </p:tgtEl>
                                      </p:cBhvr>
                                    </p:animEffect>
                                  </p:childTnLst>
                                  <p:subTnLst>
                                    <p:set>
                                      <p:cBhvr override="childStyle">
                                        <p:cTn dur="1" fill="hold" display="0" masterRel="nextClick" afterEffect="1"/>
                                        <p:tgtEl>
                                          <p:spTgt spid="2868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checkerboard(across)">
                                      <p:cBhvr>
                                        <p:cTn id="27" dur="500"/>
                                        <p:tgtEl>
                                          <p:spTgt spid="28682"/>
                                        </p:tgtEl>
                                      </p:cBhvr>
                                    </p:animEffect>
                                  </p:childTnLst>
                                  <p:subTnLst>
                                    <p:set>
                                      <p:cBhvr override="childStyle">
                                        <p:cTn dur="1" fill="hold" display="0" masterRel="nextClick" afterEffect="1"/>
                                        <p:tgtEl>
                                          <p:spTgt spid="286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nimBg="1" autoUpdateAnimBg="0"/>
      <p:bldP spid="28679" grpId="0" animBg="1" autoUpdateAnimBg="0"/>
      <p:bldP spid="28680" grpId="0" animBg="1" autoUpdateAnimBg="0"/>
      <p:bldP spid="28681" grpId="0" animBg="1" autoUpdateAnimBg="0"/>
      <p:bldP spid="28682"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p>
            <a:fld id="{6035C408-E581-4462-8AB7-91FAF1EDD6EE}" type="slidenum">
              <a:rPr lang="en-US" altLang="zh-CN" smtClean="0"/>
              <a:pPr/>
              <a:t>16</a:t>
            </a:fld>
            <a:endParaRPr lang="en-US" altLang="zh-CN" dirty="0" smtClean="0"/>
          </a:p>
        </p:txBody>
      </p:sp>
      <p:sp>
        <p:nvSpPr>
          <p:cNvPr id="16387" name="Rectangle 2"/>
          <p:cNvSpPr>
            <a:spLocks noGrp="1" noChangeArrowheads="1"/>
          </p:cNvSpPr>
          <p:nvPr>
            <p:ph type="title"/>
          </p:nvPr>
        </p:nvSpPr>
        <p:spPr>
          <a:xfrm>
            <a:off x="468313" y="333375"/>
            <a:ext cx="7543800" cy="1074738"/>
          </a:xfrm>
        </p:spPr>
        <p:txBody>
          <a:bodyPr/>
          <a:lstStyle/>
          <a:p>
            <a:pPr eaLnBrk="1" hangingPunct="1"/>
            <a:r>
              <a:rPr lang="en-US" altLang="zh-CN" sz="3200" dirty="0" smtClean="0">
                <a:latin typeface="宋体" pitchFamily="2" charset="-122"/>
              </a:rPr>
              <a:t>5.2.3 LAD</a:t>
            </a:r>
            <a:r>
              <a:rPr lang="zh-CN" altLang="en-US" sz="3200" smtClean="0">
                <a:latin typeface="宋体" pitchFamily="2" charset="-122"/>
              </a:rPr>
              <a:t>指令的指令周期</a:t>
            </a:r>
            <a:br>
              <a:rPr lang="zh-CN" altLang="en-US" sz="3200" smtClean="0">
                <a:latin typeface="宋体" pitchFamily="2" charset="-122"/>
              </a:rPr>
            </a:br>
            <a:r>
              <a:rPr lang="zh-CN" altLang="en-US" sz="3200" smtClean="0">
                <a:latin typeface="宋体" pitchFamily="2" charset="-122"/>
              </a:rPr>
              <a:t>      </a:t>
            </a:r>
            <a:r>
              <a:rPr lang="en-US" altLang="zh-CN" sz="3200" dirty="0" smtClean="0">
                <a:latin typeface="宋体" pitchFamily="2" charset="-122"/>
              </a:rPr>
              <a:t>LAD R1</a:t>
            </a:r>
            <a:r>
              <a:rPr lang="zh-CN" altLang="en-US" sz="3200" smtClean="0">
                <a:latin typeface="宋体" pitchFamily="2" charset="-122"/>
              </a:rPr>
              <a:t>，</a:t>
            </a:r>
            <a:r>
              <a:rPr lang="en-US" altLang="zh-CN" sz="3200" dirty="0" smtClean="0">
                <a:latin typeface="宋体" pitchFamily="2" charset="-122"/>
              </a:rPr>
              <a:t>6 </a:t>
            </a:r>
            <a:r>
              <a:rPr lang="zh-CN" altLang="en-US" sz="3200" smtClean="0">
                <a:latin typeface="宋体" pitchFamily="2" charset="-122"/>
              </a:rPr>
              <a:t>（</a:t>
            </a:r>
            <a:r>
              <a:rPr lang="en-US" altLang="zh-CN" sz="3200" dirty="0" smtClean="0">
                <a:latin typeface="宋体" pitchFamily="2" charset="-122"/>
              </a:rPr>
              <a:t>RS</a:t>
            </a:r>
            <a:r>
              <a:rPr lang="zh-CN" altLang="en-US" sz="3200" smtClean="0">
                <a:latin typeface="宋体" pitchFamily="2" charset="-122"/>
              </a:rPr>
              <a:t>型指令）</a:t>
            </a:r>
          </a:p>
        </p:txBody>
      </p:sp>
      <p:sp>
        <p:nvSpPr>
          <p:cNvPr id="16388" name="Rectangle 3"/>
          <p:cNvSpPr>
            <a:spLocks noGrp="1" noChangeArrowheads="1"/>
          </p:cNvSpPr>
          <p:nvPr>
            <p:ph type="body" idx="1"/>
          </p:nvPr>
        </p:nvSpPr>
        <p:spPr>
          <a:xfrm>
            <a:off x="457200" y="2133600"/>
            <a:ext cx="2098675" cy="1204913"/>
          </a:xfrm>
        </p:spPr>
        <p:txBody>
          <a:bodyPr/>
          <a:lstStyle/>
          <a:p>
            <a:pPr eaLnBrk="1" hangingPunct="1"/>
            <a:r>
              <a:rPr lang="zh-CN" altLang="en-US" smtClean="0"/>
              <a:t>取指周期</a:t>
            </a:r>
          </a:p>
          <a:p>
            <a:pPr eaLnBrk="1" hangingPunct="1"/>
            <a:r>
              <a:rPr lang="zh-CN" altLang="en-US" smtClean="0"/>
              <a:t>执行周期</a:t>
            </a:r>
          </a:p>
        </p:txBody>
      </p:sp>
      <p:pic>
        <p:nvPicPr>
          <p:cNvPr id="16389" name="Picture 4" descr="5a7"/>
          <p:cNvPicPr>
            <a:picLocks noChangeAspect="1" noChangeArrowheads="1"/>
          </p:cNvPicPr>
          <p:nvPr/>
        </p:nvPicPr>
        <p:blipFill>
          <a:blip r:embed="rId2"/>
          <a:srcRect/>
          <a:stretch>
            <a:fillRect/>
          </a:stretch>
        </p:blipFill>
        <p:spPr bwMode="auto">
          <a:xfrm>
            <a:off x="2667000" y="2133600"/>
            <a:ext cx="5688013" cy="4127500"/>
          </a:xfrm>
          <a:prstGeom prst="rect">
            <a:avLst/>
          </a:prstGeom>
          <a:noFill/>
          <a:ln w="9525">
            <a:noFill/>
            <a:miter lim="800000"/>
            <a:headEnd/>
            <a:tailEnd/>
          </a:ln>
        </p:spPr>
      </p:pic>
      <p:sp>
        <p:nvSpPr>
          <p:cNvPr id="16390" name="Rectangle 5"/>
          <p:cNvSpPr>
            <a:spLocks noChangeArrowheads="1"/>
          </p:cNvSpPr>
          <p:nvPr/>
        </p:nvSpPr>
        <p:spPr bwMode="auto">
          <a:xfrm>
            <a:off x="1828800" y="1447800"/>
            <a:ext cx="1962150" cy="519113"/>
          </a:xfrm>
          <a:prstGeom prst="rect">
            <a:avLst/>
          </a:prstGeom>
          <a:noFill/>
          <a:ln w="9525">
            <a:noFill/>
            <a:miter lim="800000"/>
            <a:headEnd/>
            <a:tailEnd/>
          </a:ln>
        </p:spPr>
        <p:txBody>
          <a:bodyPr wrap="none">
            <a:spAutoFit/>
          </a:bodyPr>
          <a:lstStyle/>
          <a:p>
            <a:r>
              <a:rPr lang="zh-CN" altLang="en-US" sz="2800">
                <a:solidFill>
                  <a:srgbClr val="E8060B"/>
                </a:solidFill>
                <a:latin typeface="宋体" pitchFamily="2" charset="-122"/>
              </a:rPr>
              <a:t>（</a:t>
            </a:r>
            <a:r>
              <a:rPr lang="en-US" altLang="zh-CN" sz="2800" dirty="0">
                <a:solidFill>
                  <a:srgbClr val="E8060B"/>
                </a:solidFill>
                <a:latin typeface="宋体" pitchFamily="2" charset="-122"/>
              </a:rPr>
              <a:t>6</a:t>
            </a:r>
            <a:r>
              <a:rPr lang="zh-CN" altLang="en-US" sz="2800">
                <a:solidFill>
                  <a:srgbClr val="E8060B"/>
                </a:solidFill>
                <a:latin typeface="宋体" pitchFamily="2" charset="-122"/>
              </a:rPr>
              <a:t>）→ </a:t>
            </a:r>
            <a:r>
              <a:rPr lang="en-US" altLang="zh-CN" sz="2800" dirty="0">
                <a:solidFill>
                  <a:srgbClr val="E8060B"/>
                </a:solidFill>
                <a:latin typeface="宋体" pitchFamily="2" charset="-122"/>
              </a:rPr>
              <a:t>R1</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p>
            <a:fld id="{229C6E72-A6A6-4D98-BE21-AA8A782624AC}" type="slidenum">
              <a:rPr lang="en-US" altLang="zh-CN" smtClean="0"/>
              <a:pPr/>
              <a:t>17</a:t>
            </a:fld>
            <a:endParaRPr lang="en-US" altLang="zh-CN" dirty="0" smtClean="0"/>
          </a:p>
        </p:txBody>
      </p:sp>
      <p:sp>
        <p:nvSpPr>
          <p:cNvPr id="17411" name="Rectangle 2"/>
          <p:cNvSpPr>
            <a:spLocks noGrp="1" noChangeArrowheads="1"/>
          </p:cNvSpPr>
          <p:nvPr>
            <p:ph type="title"/>
          </p:nvPr>
        </p:nvSpPr>
        <p:spPr>
          <a:xfrm>
            <a:off x="179388" y="260350"/>
            <a:ext cx="6913562" cy="569913"/>
          </a:xfrm>
        </p:spPr>
        <p:txBody>
          <a:bodyPr/>
          <a:lstStyle/>
          <a:p>
            <a:pPr eaLnBrk="1" hangingPunct="1"/>
            <a:r>
              <a:rPr lang="en-US" altLang="zh-CN" sz="2800" dirty="0" smtClean="0">
                <a:latin typeface="宋体" pitchFamily="2" charset="-122"/>
              </a:rPr>
              <a:t>5.2.3 LAD</a:t>
            </a:r>
            <a:r>
              <a:rPr lang="zh-CN" altLang="en-US" sz="2800" smtClean="0">
                <a:latin typeface="宋体" pitchFamily="2" charset="-122"/>
              </a:rPr>
              <a:t>指令 </a:t>
            </a:r>
            <a:r>
              <a:rPr lang="en-US" altLang="zh-CN" sz="2800" dirty="0" smtClean="0">
                <a:latin typeface="宋体" pitchFamily="2" charset="-122"/>
              </a:rPr>
              <a:t>- </a:t>
            </a:r>
            <a:r>
              <a:rPr lang="zh-CN" altLang="en-US" sz="2800" smtClean="0">
                <a:latin typeface="宋体" pitchFamily="2" charset="-122"/>
              </a:rPr>
              <a:t>执行周期</a:t>
            </a:r>
            <a:r>
              <a:rPr lang="zh-CN" altLang="en-US" sz="2800" smtClean="0">
                <a:solidFill>
                  <a:srgbClr val="E8060B"/>
                </a:solidFill>
                <a:latin typeface="宋体" pitchFamily="2" charset="-122"/>
              </a:rPr>
              <a:t>（</a:t>
            </a:r>
            <a:r>
              <a:rPr lang="en-US" altLang="zh-CN" sz="2800" dirty="0" smtClean="0">
                <a:solidFill>
                  <a:srgbClr val="E8060B"/>
                </a:solidFill>
                <a:latin typeface="宋体" pitchFamily="2" charset="-122"/>
              </a:rPr>
              <a:t>6</a:t>
            </a:r>
            <a:r>
              <a:rPr lang="zh-CN" altLang="en-US" sz="2800" smtClean="0">
                <a:solidFill>
                  <a:srgbClr val="E8060B"/>
                </a:solidFill>
                <a:latin typeface="宋体" pitchFamily="2" charset="-122"/>
              </a:rPr>
              <a:t>）→ </a:t>
            </a:r>
            <a:r>
              <a:rPr lang="en-US" altLang="zh-CN" sz="2800" dirty="0" smtClean="0">
                <a:solidFill>
                  <a:srgbClr val="E8060B"/>
                </a:solidFill>
                <a:latin typeface="宋体" pitchFamily="2" charset="-122"/>
              </a:rPr>
              <a:t>R1</a:t>
            </a:r>
          </a:p>
        </p:txBody>
      </p:sp>
      <p:pic>
        <p:nvPicPr>
          <p:cNvPr id="17412" name="Picture 3" descr="5a8"/>
          <p:cNvPicPr>
            <a:picLocks noGrp="1" noChangeAspect="1" noChangeArrowheads="1"/>
          </p:cNvPicPr>
          <p:nvPr>
            <p:ph type="body" idx="1"/>
          </p:nvPr>
        </p:nvPicPr>
        <p:blipFill>
          <a:blip r:embed="rId3"/>
          <a:srcRect/>
          <a:stretch>
            <a:fillRect/>
          </a:stretch>
        </p:blipFill>
        <p:spPr>
          <a:xfrm>
            <a:off x="395288" y="981075"/>
            <a:ext cx="7056437" cy="5040313"/>
          </a:xfrm>
        </p:spPr>
      </p:pic>
      <p:sp>
        <p:nvSpPr>
          <p:cNvPr id="31748" name="Rectangle 4"/>
          <p:cNvSpPr>
            <a:spLocks noChangeArrowheads="1"/>
          </p:cNvSpPr>
          <p:nvPr/>
        </p:nvSpPr>
        <p:spPr bwMode="auto">
          <a:xfrm>
            <a:off x="228600" y="6019800"/>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① </a:t>
            </a:r>
            <a:r>
              <a:rPr lang="zh-CN" altLang="en-US">
                <a:latin typeface="宋体" pitchFamily="2" charset="-122"/>
              </a:rPr>
              <a:t>操作控制器（</a:t>
            </a:r>
            <a:r>
              <a:rPr lang="en-US" altLang="zh-CN" dirty="0">
                <a:latin typeface="宋体" pitchFamily="2" charset="-122"/>
              </a:rPr>
              <a:t>OC</a:t>
            </a:r>
            <a:r>
              <a:rPr lang="zh-CN" altLang="en-US">
                <a:latin typeface="宋体" pitchFamily="2" charset="-122"/>
              </a:rPr>
              <a:t>）发出控制命令打开</a:t>
            </a:r>
            <a:r>
              <a:rPr lang="en-US" altLang="zh-CN" dirty="0">
                <a:latin typeface="宋体" pitchFamily="2" charset="-122"/>
              </a:rPr>
              <a:t>IR</a:t>
            </a:r>
            <a:r>
              <a:rPr lang="zh-CN" altLang="en-US">
                <a:latin typeface="宋体" pitchFamily="2" charset="-122"/>
              </a:rPr>
              <a:t>输出三态门，将指令中的直接地址码</a:t>
            </a:r>
            <a:r>
              <a:rPr lang="en-US" altLang="zh-CN" dirty="0">
                <a:latin typeface="宋体" pitchFamily="2" charset="-122"/>
              </a:rPr>
              <a:t>6</a:t>
            </a:r>
            <a:r>
              <a:rPr lang="zh-CN" altLang="en-US">
                <a:latin typeface="宋体" pitchFamily="2" charset="-122"/>
              </a:rPr>
              <a:t>放到数据总线</a:t>
            </a:r>
            <a:r>
              <a:rPr lang="en-US" altLang="zh-CN" dirty="0">
                <a:latin typeface="宋体" pitchFamily="2" charset="-122"/>
              </a:rPr>
              <a:t>DBUS</a:t>
            </a:r>
            <a:r>
              <a:rPr lang="zh-CN" altLang="en-US">
                <a:latin typeface="宋体" pitchFamily="2" charset="-122"/>
              </a:rPr>
              <a:t>上；</a:t>
            </a:r>
          </a:p>
        </p:txBody>
      </p:sp>
      <p:sp>
        <p:nvSpPr>
          <p:cNvPr id="31749" name="Rectangle 5"/>
          <p:cNvSpPr>
            <a:spLocks noChangeArrowheads="1"/>
          </p:cNvSpPr>
          <p:nvPr/>
        </p:nvSpPr>
        <p:spPr bwMode="auto">
          <a:xfrm>
            <a:off x="323850" y="6237288"/>
            <a:ext cx="5976938"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solidFill>
                  <a:srgbClr val="E8060B"/>
                </a:solidFill>
              </a:rPr>
              <a:t>② OC</a:t>
            </a:r>
            <a:r>
              <a:rPr lang="zh-CN" altLang="en-US">
                <a:solidFill>
                  <a:srgbClr val="E8060B"/>
                </a:solidFill>
              </a:rPr>
              <a:t>发出控制命令，将地址码</a:t>
            </a:r>
            <a:r>
              <a:rPr lang="en-US" altLang="zh-CN" dirty="0">
                <a:solidFill>
                  <a:srgbClr val="E8060B"/>
                </a:solidFill>
              </a:rPr>
              <a:t>6</a:t>
            </a:r>
            <a:r>
              <a:rPr lang="zh-CN" altLang="en-US">
                <a:solidFill>
                  <a:srgbClr val="E8060B"/>
                </a:solidFill>
              </a:rPr>
              <a:t>装入地址寄存器</a:t>
            </a:r>
            <a:r>
              <a:rPr lang="en-US" altLang="zh-CN" dirty="0">
                <a:solidFill>
                  <a:srgbClr val="E8060B"/>
                </a:solidFill>
              </a:rPr>
              <a:t>AR</a:t>
            </a:r>
            <a:r>
              <a:rPr lang="zh-CN" altLang="en-US">
                <a:solidFill>
                  <a:srgbClr val="E8060B"/>
                </a:solidFill>
              </a:rPr>
              <a:t>；</a:t>
            </a:r>
          </a:p>
        </p:txBody>
      </p:sp>
      <p:sp>
        <p:nvSpPr>
          <p:cNvPr id="31750" name="Rectangle 6"/>
          <p:cNvSpPr>
            <a:spLocks noChangeArrowheads="1"/>
          </p:cNvSpPr>
          <p:nvPr/>
        </p:nvSpPr>
        <p:spPr bwMode="auto">
          <a:xfrm>
            <a:off x="323850" y="6165850"/>
            <a:ext cx="6443663" cy="366713"/>
          </a:xfrm>
          <a:prstGeom prst="rect">
            <a:avLst/>
          </a:prstGeom>
          <a:solidFill>
            <a:srgbClr val="0000FF"/>
          </a:solidFill>
          <a:ln w="12700" cap="sq">
            <a:noFill/>
            <a:miter lim="800000"/>
            <a:headEnd type="none" w="sm" len="sm"/>
            <a:tailEnd type="none" w="sm" len="sm"/>
          </a:ln>
        </p:spPr>
        <p:txBody>
          <a:bodyPr>
            <a:spAutoFit/>
          </a:bodyPr>
          <a:lstStyle/>
          <a:p>
            <a:r>
              <a:rPr lang="en-US" altLang="zh-CN" dirty="0"/>
              <a:t>③ OC</a:t>
            </a:r>
            <a:r>
              <a:rPr lang="zh-CN" altLang="en-US"/>
              <a:t>送出读命令，将数存</a:t>
            </a:r>
            <a:r>
              <a:rPr lang="en-US" altLang="zh-CN" dirty="0"/>
              <a:t>6</a:t>
            </a:r>
            <a:r>
              <a:rPr lang="zh-CN" altLang="en-US"/>
              <a:t>号单元中的数</a:t>
            </a:r>
            <a:r>
              <a:rPr lang="en-US" altLang="zh-CN" dirty="0"/>
              <a:t>100</a:t>
            </a:r>
            <a:r>
              <a:rPr lang="zh-CN" altLang="en-US"/>
              <a:t>读到</a:t>
            </a:r>
            <a:r>
              <a:rPr lang="en-US" altLang="zh-CN" dirty="0"/>
              <a:t>DBUS</a:t>
            </a:r>
            <a:r>
              <a:rPr lang="zh-CN" altLang="en-US"/>
              <a:t>上；</a:t>
            </a:r>
          </a:p>
        </p:txBody>
      </p:sp>
      <p:sp>
        <p:nvSpPr>
          <p:cNvPr id="31751" name="Rectangle 7"/>
          <p:cNvSpPr>
            <a:spLocks noChangeArrowheads="1"/>
          </p:cNvSpPr>
          <p:nvPr/>
        </p:nvSpPr>
        <p:spPr bwMode="auto">
          <a:xfrm>
            <a:off x="179388" y="6237288"/>
            <a:ext cx="7981950"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t>④ OC</a:t>
            </a:r>
            <a:r>
              <a:rPr lang="zh-CN" altLang="en-US"/>
              <a:t>送出控制信号，将</a:t>
            </a:r>
            <a:r>
              <a:rPr lang="en-US" altLang="zh-CN" dirty="0"/>
              <a:t>DBUS</a:t>
            </a:r>
            <a:r>
              <a:rPr lang="zh-CN" altLang="en-US"/>
              <a:t>上的数据</a:t>
            </a:r>
            <a:r>
              <a:rPr lang="en-US" altLang="zh-CN" dirty="0"/>
              <a:t>100</a:t>
            </a:r>
            <a:r>
              <a:rPr lang="zh-CN" altLang="en-US"/>
              <a:t>打入到数据缓冲寄存器</a:t>
            </a:r>
            <a:r>
              <a:rPr lang="en-US" altLang="zh-CN" dirty="0"/>
              <a:t>DR</a:t>
            </a:r>
            <a:r>
              <a:rPr lang="zh-CN" altLang="en-US"/>
              <a:t>；</a:t>
            </a:r>
          </a:p>
        </p:txBody>
      </p:sp>
      <p:sp>
        <p:nvSpPr>
          <p:cNvPr id="31752" name="Rectangle 8"/>
          <p:cNvSpPr>
            <a:spLocks noChangeArrowheads="1"/>
          </p:cNvSpPr>
          <p:nvPr/>
        </p:nvSpPr>
        <p:spPr bwMode="auto">
          <a:xfrm>
            <a:off x="250825" y="6092825"/>
            <a:ext cx="7939088"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t>⑤ OC</a:t>
            </a:r>
            <a:r>
              <a:rPr lang="zh-CN" altLang="en-US"/>
              <a:t>送出命令，将</a:t>
            </a:r>
            <a:r>
              <a:rPr lang="en-US" altLang="zh-CN" dirty="0"/>
              <a:t>DR</a:t>
            </a:r>
            <a:r>
              <a:rPr lang="zh-CN" altLang="en-US"/>
              <a:t>中的数据</a:t>
            </a:r>
            <a:r>
              <a:rPr lang="en-US" altLang="zh-CN" dirty="0"/>
              <a:t>100</a:t>
            </a:r>
            <a:r>
              <a:rPr lang="zh-CN" altLang="en-US"/>
              <a:t>打入到目标寄存器</a:t>
            </a:r>
            <a:r>
              <a:rPr lang="en-US" altLang="zh-CN" dirty="0"/>
              <a:t>R1</a:t>
            </a:r>
            <a:r>
              <a:rPr lang="zh-CN" altLang="en-US"/>
              <a:t>，</a:t>
            </a:r>
            <a:r>
              <a:rPr lang="en-US" altLang="zh-CN" dirty="0"/>
              <a:t>R1</a:t>
            </a:r>
            <a:r>
              <a:rPr lang="zh-CN" altLang="en-US"/>
              <a:t>的内容由</a:t>
            </a:r>
            <a:r>
              <a:rPr lang="en-US" altLang="zh-CN" dirty="0"/>
              <a:t>10</a:t>
            </a:r>
            <a:r>
              <a:rPr lang="zh-CN" altLang="en-US"/>
              <a:t>变为</a:t>
            </a:r>
            <a:r>
              <a:rPr lang="en-US" altLang="zh-CN" dirty="0"/>
              <a:t>100</a:t>
            </a:r>
            <a:r>
              <a:rPr lang="zh-CN" altLang="en-US"/>
              <a:t>。至此，指令执行结束。</a:t>
            </a:r>
          </a:p>
        </p:txBody>
      </p:sp>
      <p:pic>
        <p:nvPicPr>
          <p:cNvPr id="17418" name="Picture 9">
            <a:hlinkClick r:id="rId4" action="ppaction://hlinkfile"/>
          </p:cNvPr>
          <p:cNvPicPr>
            <a:picLocks noChangeAspect="1" noChangeArrowheads="1"/>
          </p:cNvPicPr>
          <p:nvPr/>
        </p:nvPicPr>
        <p:blipFill>
          <a:blip r:embed="rId5"/>
          <a:srcRect/>
          <a:stretch>
            <a:fillRect/>
          </a:stretch>
        </p:blipFill>
        <p:spPr bwMode="auto">
          <a:xfrm>
            <a:off x="7667625" y="3933825"/>
            <a:ext cx="409575" cy="381000"/>
          </a:xfrm>
          <a:prstGeom prst="rect">
            <a:avLst/>
          </a:prstGeom>
          <a:noFill/>
          <a:ln w="9525">
            <a:noFill/>
            <a:miter lim="800000"/>
            <a:headEnd/>
            <a:tailEnd/>
          </a:ln>
        </p:spPr>
      </p:pic>
    </p:spTree>
    <p:extLst>
      <p:ext uri="{BB962C8B-B14F-4D97-AF65-F5344CB8AC3E}">
        <p14:creationId xmlns:p14="http://schemas.microsoft.com/office/powerpoint/2010/main" val="39938399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checkerboard(across)">
                                      <p:cBhvr>
                                        <p:cTn id="7" dur="500"/>
                                        <p:tgtEl>
                                          <p:spTgt spid="31748"/>
                                        </p:tgtEl>
                                      </p:cBhvr>
                                    </p:animEffect>
                                  </p:childTnLst>
                                  <p:subTnLst>
                                    <p:set>
                                      <p:cBhvr override="childStyle">
                                        <p:cTn dur="1" fill="hold" display="0" masterRel="nextClick" afterEffect="1"/>
                                        <p:tgtEl>
                                          <p:spTgt spid="3174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749"/>
                                        </p:tgtEl>
                                        <p:attrNameLst>
                                          <p:attrName>style.visibility</p:attrName>
                                        </p:attrNameLst>
                                      </p:cBhvr>
                                      <p:to>
                                        <p:strVal val="visible"/>
                                      </p:to>
                                    </p:set>
                                    <p:animEffect transition="in" filter="checkerboard(across)">
                                      <p:cBhvr>
                                        <p:cTn id="12" dur="500"/>
                                        <p:tgtEl>
                                          <p:spTgt spid="31749"/>
                                        </p:tgtEl>
                                      </p:cBhvr>
                                    </p:animEffect>
                                  </p:childTnLst>
                                  <p:subTnLst>
                                    <p:set>
                                      <p:cBhvr override="childStyle">
                                        <p:cTn dur="1" fill="hold" display="0" masterRel="nextClick" afterEffect="1"/>
                                        <p:tgtEl>
                                          <p:spTgt spid="3174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750"/>
                                        </p:tgtEl>
                                        <p:attrNameLst>
                                          <p:attrName>style.visibility</p:attrName>
                                        </p:attrNameLst>
                                      </p:cBhvr>
                                      <p:to>
                                        <p:strVal val="visible"/>
                                      </p:to>
                                    </p:set>
                                    <p:animEffect transition="in" filter="checkerboard(across)">
                                      <p:cBhvr>
                                        <p:cTn id="17" dur="500"/>
                                        <p:tgtEl>
                                          <p:spTgt spid="31750"/>
                                        </p:tgtEl>
                                      </p:cBhvr>
                                    </p:animEffect>
                                  </p:childTnLst>
                                  <p:subTnLst>
                                    <p:set>
                                      <p:cBhvr override="childStyle">
                                        <p:cTn dur="1" fill="hold" display="0" masterRel="nextClick" afterEffect="1"/>
                                        <p:tgtEl>
                                          <p:spTgt spid="31750"/>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751"/>
                                        </p:tgtEl>
                                        <p:attrNameLst>
                                          <p:attrName>style.visibility</p:attrName>
                                        </p:attrNameLst>
                                      </p:cBhvr>
                                      <p:to>
                                        <p:strVal val="visible"/>
                                      </p:to>
                                    </p:set>
                                    <p:animEffect transition="in" filter="checkerboard(across)">
                                      <p:cBhvr>
                                        <p:cTn id="22" dur="500"/>
                                        <p:tgtEl>
                                          <p:spTgt spid="31751"/>
                                        </p:tgtEl>
                                      </p:cBhvr>
                                    </p:animEffect>
                                  </p:childTnLst>
                                  <p:subTnLst>
                                    <p:set>
                                      <p:cBhvr override="childStyle">
                                        <p:cTn dur="1" fill="hold" display="0" masterRel="nextClick" afterEffect="1"/>
                                        <p:tgtEl>
                                          <p:spTgt spid="3175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752"/>
                                        </p:tgtEl>
                                        <p:attrNameLst>
                                          <p:attrName>style.visibility</p:attrName>
                                        </p:attrNameLst>
                                      </p:cBhvr>
                                      <p:to>
                                        <p:strVal val="visible"/>
                                      </p:to>
                                    </p:set>
                                    <p:animEffect transition="in" filter="checkerboard(across)">
                                      <p:cBhvr>
                                        <p:cTn id="27" dur="500"/>
                                        <p:tgtEl>
                                          <p:spTgt spid="31752"/>
                                        </p:tgtEl>
                                      </p:cBhvr>
                                    </p:animEffect>
                                  </p:childTnLst>
                                  <p:subTnLst>
                                    <p:set>
                                      <p:cBhvr override="childStyle">
                                        <p:cTn dur="1" fill="hold" display="0" masterRel="nextClick" afterEffect="1"/>
                                        <p:tgtEl>
                                          <p:spTgt spid="317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nimBg="1" autoUpdateAnimBg="0"/>
      <p:bldP spid="31749" grpId="0" animBg="1" autoUpdateAnimBg="0"/>
      <p:bldP spid="31750" grpId="0" animBg="1" autoUpdateAnimBg="0"/>
      <p:bldP spid="31751" grpId="0" animBg="1" autoUpdateAnimBg="0"/>
      <p:bldP spid="3175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p>
            <a:fld id="{1F99A79B-4CD0-4A4D-AF9A-E3E42198585F}" type="slidenum">
              <a:rPr lang="en-US" altLang="zh-CN" smtClean="0"/>
              <a:pPr/>
              <a:t>18</a:t>
            </a:fld>
            <a:endParaRPr lang="en-US" altLang="zh-CN" dirty="0" smtClean="0"/>
          </a:p>
        </p:txBody>
      </p:sp>
      <p:sp>
        <p:nvSpPr>
          <p:cNvPr id="18435" name="Rectangle 2"/>
          <p:cNvSpPr>
            <a:spLocks noGrp="1" noChangeArrowheads="1"/>
          </p:cNvSpPr>
          <p:nvPr>
            <p:ph type="title"/>
          </p:nvPr>
        </p:nvSpPr>
        <p:spPr>
          <a:xfrm>
            <a:off x="395288" y="260350"/>
            <a:ext cx="7543800" cy="1008063"/>
          </a:xfrm>
        </p:spPr>
        <p:txBody>
          <a:bodyPr/>
          <a:lstStyle/>
          <a:p>
            <a:pPr eaLnBrk="1" hangingPunct="1"/>
            <a:r>
              <a:rPr lang="en-US" altLang="zh-CN" sz="3200" dirty="0" smtClean="0">
                <a:latin typeface="宋体" pitchFamily="2" charset="-122"/>
              </a:rPr>
              <a:t>5.2.4 ADD</a:t>
            </a:r>
            <a:r>
              <a:rPr lang="zh-CN" altLang="en-US" sz="3200" smtClean="0">
                <a:latin typeface="宋体" pitchFamily="2" charset="-122"/>
              </a:rPr>
              <a:t>指令的指令周期</a:t>
            </a:r>
            <a:br>
              <a:rPr lang="zh-CN" altLang="en-US" sz="3200" smtClean="0">
                <a:latin typeface="宋体" pitchFamily="2" charset="-122"/>
              </a:rPr>
            </a:br>
            <a:r>
              <a:rPr lang="zh-CN" altLang="en-US" sz="3200" smtClean="0">
                <a:latin typeface="宋体" pitchFamily="2" charset="-122"/>
              </a:rPr>
              <a:t>      </a:t>
            </a:r>
            <a:r>
              <a:rPr lang="en-US" altLang="zh-CN" sz="3200" dirty="0" smtClean="0">
                <a:latin typeface="宋体" pitchFamily="2" charset="-122"/>
              </a:rPr>
              <a:t>ADD R1</a:t>
            </a:r>
            <a:r>
              <a:rPr lang="zh-CN" altLang="en-US" sz="3200" smtClean="0">
                <a:latin typeface="宋体" pitchFamily="2" charset="-122"/>
              </a:rPr>
              <a:t>，</a:t>
            </a:r>
            <a:r>
              <a:rPr lang="en-US" altLang="zh-CN" sz="3200" dirty="0" smtClean="0">
                <a:latin typeface="宋体" pitchFamily="2" charset="-122"/>
              </a:rPr>
              <a:t>R2 </a:t>
            </a:r>
            <a:r>
              <a:rPr lang="zh-CN" altLang="en-US" sz="3200" smtClean="0">
                <a:latin typeface="宋体" pitchFamily="2" charset="-122"/>
              </a:rPr>
              <a:t>（</a:t>
            </a:r>
            <a:r>
              <a:rPr lang="en-US" altLang="zh-CN" sz="3200" dirty="0" smtClean="0">
                <a:latin typeface="宋体" pitchFamily="2" charset="-122"/>
              </a:rPr>
              <a:t>RR</a:t>
            </a:r>
            <a:r>
              <a:rPr lang="zh-CN" altLang="en-US" sz="3200" smtClean="0">
                <a:latin typeface="宋体" pitchFamily="2" charset="-122"/>
              </a:rPr>
              <a:t>型指令）</a:t>
            </a:r>
          </a:p>
        </p:txBody>
      </p:sp>
      <p:pic>
        <p:nvPicPr>
          <p:cNvPr id="18436" name="Picture 5" descr="5a4"/>
          <p:cNvPicPr>
            <a:picLocks noChangeAspect="1" noChangeArrowheads="1"/>
          </p:cNvPicPr>
          <p:nvPr/>
        </p:nvPicPr>
        <p:blipFill>
          <a:blip r:embed="rId2"/>
          <a:srcRect/>
          <a:stretch>
            <a:fillRect/>
          </a:stretch>
        </p:blipFill>
        <p:spPr bwMode="auto">
          <a:xfrm>
            <a:off x="2590800" y="1981200"/>
            <a:ext cx="5111750" cy="4465638"/>
          </a:xfrm>
          <a:prstGeom prst="rect">
            <a:avLst/>
          </a:prstGeom>
          <a:noFill/>
          <a:ln w="9525">
            <a:noFill/>
            <a:miter lim="800000"/>
            <a:headEnd/>
            <a:tailEnd/>
          </a:ln>
        </p:spPr>
      </p:pic>
      <p:sp>
        <p:nvSpPr>
          <p:cNvPr id="18437" name="Rectangle 6"/>
          <p:cNvSpPr>
            <a:spLocks noGrp="1" noChangeArrowheads="1"/>
          </p:cNvSpPr>
          <p:nvPr>
            <p:ph type="body" idx="1"/>
          </p:nvPr>
        </p:nvSpPr>
        <p:spPr>
          <a:xfrm>
            <a:off x="457200" y="2133600"/>
            <a:ext cx="2098675" cy="1204913"/>
          </a:xfrm>
          <a:noFill/>
        </p:spPr>
        <p:txBody>
          <a:bodyPr/>
          <a:lstStyle/>
          <a:p>
            <a:pPr eaLnBrk="1" hangingPunct="1"/>
            <a:r>
              <a:rPr lang="zh-CN" altLang="en-US" smtClean="0"/>
              <a:t>取指周期</a:t>
            </a:r>
          </a:p>
          <a:p>
            <a:pPr eaLnBrk="1" hangingPunct="1"/>
            <a:r>
              <a:rPr lang="zh-CN" altLang="en-US" smtClean="0"/>
              <a:t>执行周期</a:t>
            </a:r>
          </a:p>
        </p:txBody>
      </p:sp>
      <p:sp>
        <p:nvSpPr>
          <p:cNvPr id="18438" name="Rectangle 7"/>
          <p:cNvSpPr>
            <a:spLocks noChangeArrowheads="1"/>
          </p:cNvSpPr>
          <p:nvPr/>
        </p:nvSpPr>
        <p:spPr bwMode="auto">
          <a:xfrm>
            <a:off x="1752600" y="1295400"/>
            <a:ext cx="2927350" cy="457200"/>
          </a:xfrm>
          <a:prstGeom prst="rect">
            <a:avLst/>
          </a:prstGeom>
          <a:noFill/>
          <a:ln w="9525">
            <a:noFill/>
            <a:miter lim="800000"/>
            <a:headEnd/>
            <a:tailEnd/>
          </a:ln>
        </p:spPr>
        <p:txBody>
          <a:bodyPr wrap="none">
            <a:spAutoFit/>
          </a:bodyPr>
          <a:lstStyle/>
          <a:p>
            <a:r>
              <a:rPr lang="zh-CN" altLang="en-US" sz="2400">
                <a:solidFill>
                  <a:srgbClr val="E8060B"/>
                </a:solidFill>
                <a:latin typeface="宋体" pitchFamily="2" charset="-122"/>
              </a:rPr>
              <a:t>（</a:t>
            </a:r>
            <a:r>
              <a:rPr lang="en-US" altLang="zh-CN" sz="2400" dirty="0">
                <a:solidFill>
                  <a:srgbClr val="E8060B"/>
                </a:solidFill>
                <a:latin typeface="宋体" pitchFamily="2" charset="-122"/>
              </a:rPr>
              <a:t>R1</a:t>
            </a:r>
            <a:r>
              <a:rPr lang="zh-CN" altLang="en-US" sz="2400">
                <a:solidFill>
                  <a:srgbClr val="E8060B"/>
                </a:solidFill>
                <a:latin typeface="宋体" pitchFamily="2" charset="-122"/>
              </a:rPr>
              <a:t>）</a:t>
            </a:r>
            <a:r>
              <a:rPr lang="en-US" altLang="zh-CN" sz="2400" dirty="0">
                <a:solidFill>
                  <a:srgbClr val="E8060B"/>
                </a:solidFill>
                <a:latin typeface="宋体" pitchFamily="2" charset="-122"/>
              </a:rPr>
              <a:t>+</a:t>
            </a:r>
            <a:r>
              <a:rPr lang="zh-CN" altLang="en-US" sz="2400">
                <a:solidFill>
                  <a:srgbClr val="E8060B"/>
                </a:solidFill>
                <a:latin typeface="宋体" pitchFamily="2" charset="-122"/>
              </a:rPr>
              <a:t>（</a:t>
            </a:r>
            <a:r>
              <a:rPr lang="en-US" altLang="zh-CN" sz="2400" dirty="0">
                <a:solidFill>
                  <a:srgbClr val="E8060B"/>
                </a:solidFill>
                <a:latin typeface="宋体" pitchFamily="2" charset="-122"/>
              </a:rPr>
              <a:t>R2</a:t>
            </a:r>
            <a:r>
              <a:rPr lang="zh-CN" altLang="en-US" sz="2400">
                <a:solidFill>
                  <a:srgbClr val="E8060B"/>
                </a:solidFill>
                <a:latin typeface="宋体" pitchFamily="2" charset="-122"/>
              </a:rPr>
              <a:t>）→ </a:t>
            </a:r>
            <a:r>
              <a:rPr lang="en-US" altLang="zh-CN" sz="2400" dirty="0">
                <a:solidFill>
                  <a:srgbClr val="E8060B"/>
                </a:solidFill>
                <a:latin typeface="宋体" pitchFamily="2" charset="-122"/>
              </a:rPr>
              <a:t>R2</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p>
            <a:fld id="{43AD7682-AC73-455D-A265-74A7F22AD0B7}" type="slidenum">
              <a:rPr lang="en-US" altLang="zh-CN" smtClean="0"/>
              <a:pPr/>
              <a:t>19</a:t>
            </a:fld>
            <a:endParaRPr lang="en-US" altLang="zh-CN" dirty="0" smtClean="0"/>
          </a:p>
        </p:txBody>
      </p:sp>
      <p:pic>
        <p:nvPicPr>
          <p:cNvPr id="19459" name="Picture 3" descr="5a9"/>
          <p:cNvPicPr>
            <a:picLocks noGrp="1" noChangeAspect="1" noChangeArrowheads="1"/>
          </p:cNvPicPr>
          <p:nvPr>
            <p:ph type="body" idx="1"/>
          </p:nvPr>
        </p:nvPicPr>
        <p:blipFill>
          <a:blip r:embed="rId3"/>
          <a:srcRect/>
          <a:stretch>
            <a:fillRect/>
          </a:stretch>
        </p:blipFill>
        <p:spPr>
          <a:xfrm>
            <a:off x="250825" y="620713"/>
            <a:ext cx="7273925" cy="5329237"/>
          </a:xfrm>
        </p:spPr>
      </p:pic>
      <p:sp>
        <p:nvSpPr>
          <p:cNvPr id="19460" name="Rectangle 4"/>
          <p:cNvSpPr>
            <a:spLocks noChangeArrowheads="1"/>
          </p:cNvSpPr>
          <p:nvPr/>
        </p:nvSpPr>
        <p:spPr bwMode="auto">
          <a:xfrm>
            <a:off x="179388" y="168275"/>
            <a:ext cx="7200900"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itchFamily="2" charset="-122"/>
              </a:rPr>
              <a:t>5.2.4 ADD</a:t>
            </a:r>
            <a:r>
              <a:rPr lang="zh-CN" altLang="en-US" sz="2400">
                <a:solidFill>
                  <a:schemeClr val="tx2"/>
                </a:solidFill>
                <a:latin typeface="宋体" pitchFamily="2" charset="-122"/>
              </a:rPr>
              <a:t>指令 </a:t>
            </a:r>
            <a:r>
              <a:rPr lang="en-US" altLang="zh-CN" sz="2400" dirty="0">
                <a:solidFill>
                  <a:schemeClr val="tx2"/>
                </a:solidFill>
                <a:latin typeface="宋体" pitchFamily="2" charset="-122"/>
              </a:rPr>
              <a:t>- </a:t>
            </a:r>
            <a:r>
              <a:rPr lang="zh-CN" altLang="en-US" sz="2400">
                <a:solidFill>
                  <a:schemeClr val="tx2"/>
                </a:solidFill>
                <a:latin typeface="宋体" pitchFamily="2" charset="-122"/>
              </a:rPr>
              <a:t>执行周期</a:t>
            </a:r>
            <a:r>
              <a:rPr lang="zh-CN" altLang="en-US" sz="2400">
                <a:solidFill>
                  <a:srgbClr val="E8060B"/>
                </a:solidFill>
                <a:latin typeface="宋体" pitchFamily="2" charset="-122"/>
              </a:rPr>
              <a:t>（</a:t>
            </a:r>
            <a:r>
              <a:rPr lang="en-US" altLang="zh-CN" sz="2400" dirty="0">
                <a:solidFill>
                  <a:srgbClr val="E8060B"/>
                </a:solidFill>
                <a:latin typeface="宋体" pitchFamily="2" charset="-122"/>
              </a:rPr>
              <a:t>R1</a:t>
            </a:r>
            <a:r>
              <a:rPr lang="zh-CN" altLang="en-US" sz="2400">
                <a:solidFill>
                  <a:srgbClr val="E8060B"/>
                </a:solidFill>
                <a:latin typeface="宋体" pitchFamily="2" charset="-122"/>
              </a:rPr>
              <a:t>）</a:t>
            </a:r>
            <a:r>
              <a:rPr lang="en-US" altLang="zh-CN" sz="2400" dirty="0">
                <a:solidFill>
                  <a:srgbClr val="E8060B"/>
                </a:solidFill>
                <a:latin typeface="宋体" pitchFamily="2" charset="-122"/>
              </a:rPr>
              <a:t>+</a:t>
            </a:r>
            <a:r>
              <a:rPr lang="zh-CN" altLang="en-US" sz="2400">
                <a:solidFill>
                  <a:srgbClr val="E8060B"/>
                </a:solidFill>
                <a:latin typeface="宋体" pitchFamily="2" charset="-122"/>
              </a:rPr>
              <a:t>（</a:t>
            </a:r>
            <a:r>
              <a:rPr lang="en-US" altLang="zh-CN" sz="2400" dirty="0">
                <a:solidFill>
                  <a:srgbClr val="E8060B"/>
                </a:solidFill>
                <a:latin typeface="宋体" pitchFamily="2" charset="-122"/>
              </a:rPr>
              <a:t>R2</a:t>
            </a:r>
            <a:r>
              <a:rPr lang="zh-CN" altLang="en-US" sz="2400">
                <a:solidFill>
                  <a:srgbClr val="E8060B"/>
                </a:solidFill>
                <a:latin typeface="宋体" pitchFamily="2" charset="-122"/>
              </a:rPr>
              <a:t>）→ </a:t>
            </a:r>
            <a:r>
              <a:rPr lang="en-US" altLang="zh-CN" sz="2400" dirty="0">
                <a:solidFill>
                  <a:srgbClr val="E8060B"/>
                </a:solidFill>
                <a:latin typeface="宋体" pitchFamily="2" charset="-122"/>
              </a:rPr>
              <a:t>R2</a:t>
            </a:r>
          </a:p>
        </p:txBody>
      </p:sp>
      <p:pic>
        <p:nvPicPr>
          <p:cNvPr id="19461" name="Picture 5">
            <a:hlinkClick r:id="rId4" action="ppaction://hlinkfile"/>
          </p:cNvPr>
          <p:cNvPicPr>
            <a:picLocks noChangeAspect="1" noChangeArrowheads="1"/>
          </p:cNvPicPr>
          <p:nvPr/>
        </p:nvPicPr>
        <p:blipFill>
          <a:blip r:embed="rId5"/>
          <a:srcRect/>
          <a:stretch>
            <a:fillRect/>
          </a:stretch>
        </p:blipFill>
        <p:spPr bwMode="auto">
          <a:xfrm>
            <a:off x="7812088" y="3644900"/>
            <a:ext cx="409575" cy="381000"/>
          </a:xfrm>
          <a:prstGeom prst="rect">
            <a:avLst/>
          </a:prstGeom>
          <a:noFill/>
          <a:ln w="9525">
            <a:noFill/>
            <a:miter lim="800000"/>
            <a:headEnd/>
            <a:tailEnd/>
          </a:ln>
        </p:spPr>
      </p:pic>
      <p:sp>
        <p:nvSpPr>
          <p:cNvPr id="34822" name="Rectangle 6"/>
          <p:cNvSpPr>
            <a:spLocks noChangeArrowheads="1"/>
          </p:cNvSpPr>
          <p:nvPr/>
        </p:nvSpPr>
        <p:spPr bwMode="auto">
          <a:xfrm>
            <a:off x="304800" y="5791200"/>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① </a:t>
            </a:r>
            <a:r>
              <a:rPr lang="zh-CN" altLang="en-US">
                <a:latin typeface="宋体" pitchFamily="2" charset="-122"/>
              </a:rPr>
              <a:t>操作控制器</a:t>
            </a:r>
            <a:r>
              <a:rPr lang="en-US" altLang="zh-CN" dirty="0">
                <a:latin typeface="宋体" pitchFamily="2" charset="-122"/>
              </a:rPr>
              <a:t>OC</a:t>
            </a:r>
            <a:r>
              <a:rPr lang="zh-CN" altLang="en-US">
                <a:latin typeface="宋体" pitchFamily="2" charset="-122"/>
              </a:rPr>
              <a:t>送出控制命令到通用寄存器，选择</a:t>
            </a:r>
            <a:r>
              <a:rPr lang="en-US" altLang="zh-CN" dirty="0">
                <a:latin typeface="宋体" pitchFamily="2" charset="-122"/>
              </a:rPr>
              <a:t>R1</a:t>
            </a:r>
            <a:r>
              <a:rPr lang="zh-CN" altLang="en-US">
                <a:latin typeface="宋体" pitchFamily="2" charset="-122"/>
              </a:rPr>
              <a:t>做源寄存器，</a:t>
            </a:r>
            <a:r>
              <a:rPr lang="en-US" altLang="zh-CN" dirty="0">
                <a:latin typeface="宋体" pitchFamily="2" charset="-122"/>
              </a:rPr>
              <a:t>R2</a:t>
            </a:r>
            <a:r>
              <a:rPr lang="zh-CN" altLang="en-US">
                <a:latin typeface="宋体" pitchFamily="2" charset="-122"/>
              </a:rPr>
              <a:t>做目标寄存器；</a:t>
            </a:r>
          </a:p>
        </p:txBody>
      </p:sp>
      <p:sp>
        <p:nvSpPr>
          <p:cNvPr id="34823" name="Rectangle 7"/>
          <p:cNvSpPr>
            <a:spLocks noChangeArrowheads="1"/>
          </p:cNvSpPr>
          <p:nvPr/>
        </p:nvSpPr>
        <p:spPr bwMode="auto">
          <a:xfrm>
            <a:off x="323850" y="594995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② OC</a:t>
            </a:r>
            <a:r>
              <a:rPr lang="zh-CN" altLang="en-US">
                <a:latin typeface="宋体" pitchFamily="2" charset="-122"/>
              </a:rPr>
              <a:t>送出控制命令到</a:t>
            </a:r>
            <a:r>
              <a:rPr lang="en-US" altLang="zh-CN" dirty="0">
                <a:latin typeface="宋体" pitchFamily="2" charset="-122"/>
              </a:rPr>
              <a:t>ALU</a:t>
            </a:r>
            <a:r>
              <a:rPr lang="zh-CN" altLang="en-US">
                <a:latin typeface="宋体" pitchFamily="2" charset="-122"/>
              </a:rPr>
              <a:t>，指定</a:t>
            </a:r>
            <a:r>
              <a:rPr lang="en-US" altLang="zh-CN" dirty="0">
                <a:latin typeface="宋体" pitchFamily="2" charset="-122"/>
              </a:rPr>
              <a:t>ALU</a:t>
            </a:r>
            <a:r>
              <a:rPr lang="zh-CN" altLang="en-US">
                <a:latin typeface="宋体" pitchFamily="2" charset="-122"/>
              </a:rPr>
              <a:t>做</a:t>
            </a:r>
            <a:r>
              <a:rPr lang="en-US" altLang="zh-CN" dirty="0">
                <a:latin typeface="宋体" pitchFamily="2" charset="-122"/>
              </a:rPr>
              <a:t>R1</a:t>
            </a:r>
            <a:r>
              <a:rPr lang="zh-CN" altLang="en-US">
                <a:latin typeface="宋体" pitchFamily="2" charset="-122"/>
              </a:rPr>
              <a:t>（</a:t>
            </a:r>
            <a:r>
              <a:rPr lang="en-US" altLang="zh-CN" dirty="0">
                <a:latin typeface="宋体" pitchFamily="2" charset="-122"/>
              </a:rPr>
              <a:t>100</a:t>
            </a:r>
            <a:r>
              <a:rPr lang="zh-CN" altLang="en-US">
                <a:latin typeface="宋体" pitchFamily="2" charset="-122"/>
              </a:rPr>
              <a:t>）和</a:t>
            </a:r>
            <a:r>
              <a:rPr lang="en-US" altLang="zh-CN" dirty="0">
                <a:latin typeface="宋体" pitchFamily="2" charset="-122"/>
              </a:rPr>
              <a:t>R2</a:t>
            </a:r>
            <a:r>
              <a:rPr lang="zh-CN" altLang="en-US">
                <a:latin typeface="宋体" pitchFamily="2" charset="-122"/>
              </a:rPr>
              <a:t>（</a:t>
            </a:r>
            <a:r>
              <a:rPr lang="en-US" altLang="zh-CN" dirty="0">
                <a:latin typeface="宋体" pitchFamily="2" charset="-122"/>
              </a:rPr>
              <a:t>20</a:t>
            </a:r>
            <a:r>
              <a:rPr lang="zh-CN" altLang="en-US">
                <a:latin typeface="宋体" pitchFamily="2" charset="-122"/>
              </a:rPr>
              <a:t>）的加法操作；</a:t>
            </a:r>
            <a:r>
              <a:rPr lang="zh-CN" altLang="en-US" b="0">
                <a:solidFill>
                  <a:schemeClr val="tx1"/>
                </a:solidFill>
              </a:rPr>
              <a:t> </a:t>
            </a:r>
            <a:endParaRPr lang="zh-CN" altLang="en-US">
              <a:solidFill>
                <a:srgbClr val="E8060B"/>
              </a:solidFill>
            </a:endParaRPr>
          </a:p>
        </p:txBody>
      </p:sp>
      <p:sp>
        <p:nvSpPr>
          <p:cNvPr id="34824" name="Rectangle 8"/>
          <p:cNvSpPr>
            <a:spLocks noChangeArrowheads="1"/>
          </p:cNvSpPr>
          <p:nvPr/>
        </p:nvSpPr>
        <p:spPr bwMode="auto">
          <a:xfrm>
            <a:off x="395288" y="6021388"/>
            <a:ext cx="7559675" cy="366712"/>
          </a:xfrm>
          <a:prstGeom prst="rect">
            <a:avLst/>
          </a:prstGeom>
          <a:solidFill>
            <a:srgbClr val="0000FF"/>
          </a:solidFill>
          <a:ln w="12700" cap="sq">
            <a:noFill/>
            <a:miter lim="800000"/>
            <a:headEnd type="none" w="sm" len="sm"/>
            <a:tailEnd type="none" w="sm" len="sm"/>
          </a:ln>
        </p:spPr>
        <p:txBody>
          <a:bodyPr>
            <a:spAutoFit/>
          </a:bodyPr>
          <a:lstStyle/>
          <a:p>
            <a:r>
              <a:rPr lang="en-US" altLang="zh-CN" dirty="0">
                <a:latin typeface="宋体" pitchFamily="2" charset="-122"/>
              </a:rPr>
              <a:t>③ OC</a:t>
            </a:r>
            <a:r>
              <a:rPr lang="zh-CN" altLang="en-US">
                <a:latin typeface="宋体" pitchFamily="2" charset="-122"/>
              </a:rPr>
              <a:t>送出控制命令，打开</a:t>
            </a:r>
            <a:r>
              <a:rPr lang="en-US" altLang="zh-CN" dirty="0">
                <a:latin typeface="宋体" pitchFamily="2" charset="-122"/>
              </a:rPr>
              <a:t>ALU</a:t>
            </a:r>
            <a:r>
              <a:rPr lang="zh-CN" altLang="en-US">
                <a:latin typeface="宋体" pitchFamily="2" charset="-122"/>
              </a:rPr>
              <a:t>输出三态门，运算结果</a:t>
            </a:r>
            <a:r>
              <a:rPr lang="en-US" altLang="zh-CN" dirty="0">
                <a:latin typeface="宋体" pitchFamily="2" charset="-122"/>
              </a:rPr>
              <a:t>120</a:t>
            </a:r>
            <a:r>
              <a:rPr lang="zh-CN" altLang="en-US">
                <a:latin typeface="宋体" pitchFamily="2" charset="-122"/>
              </a:rPr>
              <a:t>放到</a:t>
            </a:r>
            <a:r>
              <a:rPr lang="en-US" altLang="zh-CN" dirty="0">
                <a:latin typeface="宋体" pitchFamily="2" charset="-122"/>
              </a:rPr>
              <a:t>DBUS</a:t>
            </a:r>
            <a:r>
              <a:rPr lang="zh-CN" altLang="en-US">
                <a:latin typeface="宋体" pitchFamily="2" charset="-122"/>
              </a:rPr>
              <a:t>上；</a:t>
            </a:r>
            <a:r>
              <a:rPr lang="zh-CN" altLang="en-US" b="0">
                <a:solidFill>
                  <a:schemeClr val="tx1"/>
                </a:solidFill>
              </a:rPr>
              <a:t> </a:t>
            </a:r>
            <a:endParaRPr lang="zh-CN" altLang="en-US"/>
          </a:p>
        </p:txBody>
      </p:sp>
      <p:sp>
        <p:nvSpPr>
          <p:cNvPr id="34825" name="Rectangle 9"/>
          <p:cNvSpPr>
            <a:spLocks noChangeArrowheads="1"/>
          </p:cNvSpPr>
          <p:nvPr/>
        </p:nvSpPr>
        <p:spPr bwMode="auto">
          <a:xfrm>
            <a:off x="304800" y="5791200"/>
            <a:ext cx="798195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④ OC</a:t>
            </a:r>
            <a:r>
              <a:rPr lang="zh-CN" altLang="en-US">
                <a:latin typeface="宋体" pitchFamily="2" charset="-122"/>
              </a:rPr>
              <a:t>送出控制命令，将</a:t>
            </a:r>
            <a:r>
              <a:rPr lang="en-US" altLang="zh-CN" dirty="0">
                <a:latin typeface="宋体" pitchFamily="2" charset="-122"/>
              </a:rPr>
              <a:t>DBUS</a:t>
            </a:r>
            <a:r>
              <a:rPr lang="zh-CN" altLang="en-US">
                <a:latin typeface="宋体" pitchFamily="2" charset="-122"/>
              </a:rPr>
              <a:t>上数据打入缓冲寄存器</a:t>
            </a:r>
            <a:r>
              <a:rPr lang="en-US" altLang="zh-CN" dirty="0">
                <a:latin typeface="宋体" pitchFamily="2" charset="-122"/>
              </a:rPr>
              <a:t>DR</a:t>
            </a:r>
            <a:r>
              <a:rPr lang="zh-CN" altLang="en-US">
                <a:latin typeface="宋体" pitchFamily="2" charset="-122"/>
              </a:rPr>
              <a:t>；</a:t>
            </a:r>
            <a:r>
              <a:rPr lang="en-US" altLang="zh-CN" dirty="0">
                <a:latin typeface="宋体" pitchFamily="2" charset="-122"/>
              </a:rPr>
              <a:t>ALU</a:t>
            </a:r>
            <a:r>
              <a:rPr lang="zh-CN" altLang="en-US">
                <a:latin typeface="宋体" pitchFamily="2" charset="-122"/>
              </a:rPr>
              <a:t>产生的进位信号保存状态字寄存器在</a:t>
            </a:r>
            <a:r>
              <a:rPr lang="en-US" altLang="zh-CN" dirty="0">
                <a:latin typeface="宋体" pitchFamily="2" charset="-122"/>
              </a:rPr>
              <a:t>PSW</a:t>
            </a:r>
            <a:r>
              <a:rPr lang="zh-CN" altLang="en-US">
                <a:latin typeface="宋体" pitchFamily="2" charset="-122"/>
              </a:rPr>
              <a:t>中。</a:t>
            </a:r>
          </a:p>
        </p:txBody>
      </p:sp>
      <p:sp>
        <p:nvSpPr>
          <p:cNvPr id="34826" name="Rectangle 10"/>
          <p:cNvSpPr>
            <a:spLocks noChangeArrowheads="1"/>
          </p:cNvSpPr>
          <p:nvPr/>
        </p:nvSpPr>
        <p:spPr bwMode="auto">
          <a:xfrm>
            <a:off x="304800" y="5791200"/>
            <a:ext cx="7939088"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⑤ OC</a:t>
            </a:r>
            <a:r>
              <a:rPr lang="zh-CN" altLang="en-US">
                <a:latin typeface="宋体" pitchFamily="2" charset="-122"/>
              </a:rPr>
              <a:t>送出控制命令，将</a:t>
            </a:r>
            <a:r>
              <a:rPr lang="en-US" altLang="zh-CN" dirty="0">
                <a:latin typeface="宋体" pitchFamily="2" charset="-122"/>
              </a:rPr>
              <a:t>DR</a:t>
            </a:r>
            <a:r>
              <a:rPr lang="zh-CN" altLang="en-US">
                <a:latin typeface="宋体" pitchFamily="2" charset="-122"/>
              </a:rPr>
              <a:t>（</a:t>
            </a:r>
            <a:r>
              <a:rPr lang="en-US" altLang="zh-CN" dirty="0">
                <a:latin typeface="宋体" pitchFamily="2" charset="-122"/>
              </a:rPr>
              <a:t>120</a:t>
            </a:r>
            <a:r>
              <a:rPr lang="zh-CN" altLang="en-US">
                <a:latin typeface="宋体" pitchFamily="2" charset="-122"/>
              </a:rPr>
              <a:t>）装入</a:t>
            </a:r>
            <a:r>
              <a:rPr lang="en-US" altLang="zh-CN" dirty="0">
                <a:latin typeface="宋体" pitchFamily="2" charset="-122"/>
              </a:rPr>
              <a:t>R2</a:t>
            </a:r>
            <a:r>
              <a:rPr lang="zh-CN" altLang="en-US">
                <a:latin typeface="宋体" pitchFamily="2" charset="-122"/>
              </a:rPr>
              <a:t>，</a:t>
            </a:r>
            <a:r>
              <a:rPr lang="en-US" altLang="zh-CN" dirty="0">
                <a:latin typeface="宋体" pitchFamily="2" charset="-122"/>
              </a:rPr>
              <a:t>R2</a:t>
            </a:r>
            <a:r>
              <a:rPr lang="zh-CN" altLang="en-US">
                <a:latin typeface="宋体" pitchFamily="2" charset="-122"/>
              </a:rPr>
              <a:t>中原来的内容</a:t>
            </a:r>
            <a:r>
              <a:rPr lang="en-US" altLang="zh-CN" dirty="0">
                <a:latin typeface="宋体" pitchFamily="2" charset="-122"/>
              </a:rPr>
              <a:t>20</a:t>
            </a:r>
            <a:r>
              <a:rPr lang="zh-CN" altLang="en-US">
                <a:latin typeface="宋体" pitchFamily="2" charset="-122"/>
              </a:rPr>
              <a:t>被冲掉。至此</a:t>
            </a:r>
            <a:r>
              <a:rPr lang="en-US" altLang="zh-CN" dirty="0">
                <a:latin typeface="宋体" pitchFamily="2" charset="-122"/>
              </a:rPr>
              <a:t>ADD</a:t>
            </a:r>
            <a:r>
              <a:rPr lang="zh-CN" altLang="en-US">
                <a:latin typeface="宋体" pitchFamily="2" charset="-122"/>
              </a:rPr>
              <a:t>指令执行周期结束。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checkerboard(across)">
                                      <p:cBhvr>
                                        <p:cTn id="7" dur="500"/>
                                        <p:tgtEl>
                                          <p:spTgt spid="34822"/>
                                        </p:tgtEl>
                                      </p:cBhvr>
                                    </p:animEffect>
                                  </p:childTnLst>
                                  <p:subTnLst>
                                    <p:set>
                                      <p:cBhvr override="childStyle">
                                        <p:cTn dur="1" fill="hold" display="0" masterRel="nextClick" afterEffect="1"/>
                                        <p:tgtEl>
                                          <p:spTgt spid="3482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3"/>
                                        </p:tgtEl>
                                        <p:attrNameLst>
                                          <p:attrName>style.visibility</p:attrName>
                                        </p:attrNameLst>
                                      </p:cBhvr>
                                      <p:to>
                                        <p:strVal val="visible"/>
                                      </p:to>
                                    </p:set>
                                    <p:animEffect transition="in" filter="checkerboard(across)">
                                      <p:cBhvr>
                                        <p:cTn id="12" dur="500"/>
                                        <p:tgtEl>
                                          <p:spTgt spid="34823"/>
                                        </p:tgtEl>
                                      </p:cBhvr>
                                    </p:animEffect>
                                  </p:childTnLst>
                                  <p:subTnLst>
                                    <p:set>
                                      <p:cBhvr override="childStyle">
                                        <p:cTn dur="1" fill="hold" display="0" masterRel="nextClick" afterEffect="1"/>
                                        <p:tgtEl>
                                          <p:spTgt spid="3482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824"/>
                                        </p:tgtEl>
                                        <p:attrNameLst>
                                          <p:attrName>style.visibility</p:attrName>
                                        </p:attrNameLst>
                                      </p:cBhvr>
                                      <p:to>
                                        <p:strVal val="visible"/>
                                      </p:to>
                                    </p:set>
                                    <p:animEffect transition="in" filter="checkerboard(across)">
                                      <p:cBhvr>
                                        <p:cTn id="17" dur="500"/>
                                        <p:tgtEl>
                                          <p:spTgt spid="34824"/>
                                        </p:tgtEl>
                                      </p:cBhvr>
                                    </p:animEffect>
                                  </p:childTnLst>
                                  <p:subTnLst>
                                    <p:set>
                                      <p:cBhvr override="childStyle">
                                        <p:cTn dur="1" fill="hold" display="0" masterRel="nextClick" afterEffect="1"/>
                                        <p:tgtEl>
                                          <p:spTgt spid="34824"/>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825"/>
                                        </p:tgtEl>
                                        <p:attrNameLst>
                                          <p:attrName>style.visibility</p:attrName>
                                        </p:attrNameLst>
                                      </p:cBhvr>
                                      <p:to>
                                        <p:strVal val="visible"/>
                                      </p:to>
                                    </p:set>
                                    <p:animEffect transition="in" filter="checkerboard(across)">
                                      <p:cBhvr>
                                        <p:cTn id="22" dur="500"/>
                                        <p:tgtEl>
                                          <p:spTgt spid="34825"/>
                                        </p:tgtEl>
                                      </p:cBhvr>
                                    </p:animEffect>
                                  </p:childTnLst>
                                  <p:subTnLst>
                                    <p:set>
                                      <p:cBhvr override="childStyle">
                                        <p:cTn dur="1" fill="hold" display="0" masterRel="nextClick" afterEffect="1"/>
                                        <p:tgtEl>
                                          <p:spTgt spid="3482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4826"/>
                                        </p:tgtEl>
                                        <p:attrNameLst>
                                          <p:attrName>style.visibility</p:attrName>
                                        </p:attrNameLst>
                                      </p:cBhvr>
                                      <p:to>
                                        <p:strVal val="visible"/>
                                      </p:to>
                                    </p:set>
                                    <p:animEffect transition="in" filter="checkerboard(across)">
                                      <p:cBhvr>
                                        <p:cTn id="27" dur="500"/>
                                        <p:tgtEl>
                                          <p:spTgt spid="34826"/>
                                        </p:tgtEl>
                                      </p:cBhvr>
                                    </p:animEffect>
                                  </p:childTnLst>
                                  <p:subTnLst>
                                    <p:set>
                                      <p:cBhvr override="childStyle">
                                        <p:cTn dur="1" fill="hold" display="0" masterRel="nextClick" afterEffect="1"/>
                                        <p:tgtEl>
                                          <p:spTgt spid="348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nimBg="1" autoUpdateAnimBg="0"/>
      <p:bldP spid="34823" grpId="0" animBg="1" autoUpdateAnimBg="0"/>
      <p:bldP spid="34824" grpId="0" animBg="1" autoUpdateAnimBg="0"/>
      <p:bldP spid="34825" grpId="0" animBg="1" autoUpdateAnimBg="0"/>
      <p:bldP spid="34826"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5455CA04-D637-4719-A38D-19BE69CED309}" type="slidenum">
              <a:rPr lang="en-US" altLang="zh-CN" smtClean="0"/>
              <a:pPr/>
              <a:t>20</a:t>
            </a:fld>
            <a:endParaRPr lang="en-US" altLang="zh-CN" dirty="0" smtClean="0"/>
          </a:p>
        </p:txBody>
      </p:sp>
      <p:sp>
        <p:nvSpPr>
          <p:cNvPr id="20483" name="Rectangle 2"/>
          <p:cNvSpPr>
            <a:spLocks noGrp="1" noChangeArrowheads="1"/>
          </p:cNvSpPr>
          <p:nvPr>
            <p:ph type="title"/>
          </p:nvPr>
        </p:nvSpPr>
        <p:spPr>
          <a:xfrm>
            <a:off x="395288" y="260350"/>
            <a:ext cx="7543800" cy="1081088"/>
          </a:xfrm>
        </p:spPr>
        <p:txBody>
          <a:bodyPr/>
          <a:lstStyle/>
          <a:p>
            <a:pPr eaLnBrk="1" hangingPunct="1"/>
            <a:r>
              <a:rPr lang="en-US" altLang="zh-CN" sz="3200" dirty="0" smtClean="0">
                <a:latin typeface="宋体" pitchFamily="2" charset="-122"/>
              </a:rPr>
              <a:t>5.2.5 STO</a:t>
            </a:r>
            <a:r>
              <a:rPr lang="zh-CN" altLang="en-US" sz="3200" smtClean="0">
                <a:latin typeface="宋体" pitchFamily="2" charset="-122"/>
              </a:rPr>
              <a:t>指令的指令周期</a:t>
            </a:r>
            <a:br>
              <a:rPr lang="zh-CN" altLang="en-US" sz="3200" smtClean="0">
                <a:latin typeface="宋体" pitchFamily="2" charset="-122"/>
              </a:rPr>
            </a:br>
            <a:r>
              <a:rPr lang="zh-CN" altLang="en-US" sz="3200" smtClean="0">
                <a:latin typeface="宋体" pitchFamily="2" charset="-122"/>
              </a:rPr>
              <a:t>      </a:t>
            </a:r>
            <a:r>
              <a:rPr lang="en-US" altLang="zh-CN" sz="3200" dirty="0" smtClean="0">
                <a:latin typeface="宋体" pitchFamily="2" charset="-122"/>
              </a:rPr>
              <a:t>STO R2</a:t>
            </a:r>
            <a:r>
              <a:rPr lang="zh-CN" altLang="en-US" sz="3200" smtClean="0">
                <a:latin typeface="宋体" pitchFamily="2" charset="-122"/>
              </a:rPr>
              <a:t>，</a:t>
            </a:r>
            <a:r>
              <a:rPr lang="en-US" altLang="zh-CN" sz="3200" dirty="0" smtClean="0">
                <a:latin typeface="宋体" pitchFamily="2" charset="-122"/>
              </a:rPr>
              <a:t>(R3) </a:t>
            </a:r>
            <a:r>
              <a:rPr lang="zh-CN" altLang="en-US" sz="3200" smtClean="0">
                <a:latin typeface="宋体" pitchFamily="2" charset="-122"/>
              </a:rPr>
              <a:t>（</a:t>
            </a:r>
            <a:r>
              <a:rPr lang="en-US" altLang="zh-CN" sz="3200" dirty="0" smtClean="0">
                <a:latin typeface="宋体" pitchFamily="2" charset="-122"/>
              </a:rPr>
              <a:t>RS</a:t>
            </a:r>
            <a:r>
              <a:rPr lang="zh-CN" altLang="en-US" sz="3200" smtClean="0">
                <a:latin typeface="宋体" pitchFamily="2" charset="-122"/>
              </a:rPr>
              <a:t>型指令）</a:t>
            </a:r>
          </a:p>
        </p:txBody>
      </p:sp>
      <p:pic>
        <p:nvPicPr>
          <p:cNvPr id="20484" name="Picture 3" descr="5a10"/>
          <p:cNvPicPr>
            <a:picLocks noGrp="1" noChangeAspect="1" noChangeArrowheads="1"/>
          </p:cNvPicPr>
          <p:nvPr>
            <p:ph type="body" idx="1"/>
          </p:nvPr>
        </p:nvPicPr>
        <p:blipFill>
          <a:blip r:embed="rId2"/>
          <a:srcRect/>
          <a:stretch>
            <a:fillRect/>
          </a:stretch>
        </p:blipFill>
        <p:spPr>
          <a:xfrm>
            <a:off x="1219200" y="1828800"/>
            <a:ext cx="6553200" cy="4751388"/>
          </a:xfrm>
          <a:noFill/>
        </p:spPr>
      </p:pic>
      <p:sp>
        <p:nvSpPr>
          <p:cNvPr id="20485" name="Rectangle 4"/>
          <p:cNvSpPr>
            <a:spLocks noChangeArrowheads="1"/>
          </p:cNvSpPr>
          <p:nvPr/>
        </p:nvSpPr>
        <p:spPr bwMode="auto">
          <a:xfrm>
            <a:off x="1752600" y="1371600"/>
            <a:ext cx="2317750" cy="457200"/>
          </a:xfrm>
          <a:prstGeom prst="rect">
            <a:avLst/>
          </a:prstGeom>
          <a:noFill/>
          <a:ln w="9525">
            <a:noFill/>
            <a:miter lim="800000"/>
            <a:headEnd/>
            <a:tailEnd/>
          </a:ln>
        </p:spPr>
        <p:txBody>
          <a:bodyPr wrap="none">
            <a:spAutoFit/>
          </a:bodyPr>
          <a:lstStyle/>
          <a:p>
            <a:r>
              <a:rPr lang="en-US" altLang="zh-CN" sz="2400" dirty="0">
                <a:latin typeface="宋体" pitchFamily="2" charset="-122"/>
              </a:rPr>
              <a:t>(R2) </a:t>
            </a:r>
            <a:r>
              <a:rPr lang="en-US" altLang="zh-CN" sz="2400" dirty="0">
                <a:solidFill>
                  <a:srgbClr val="E8060B"/>
                </a:solidFill>
                <a:latin typeface="宋体" pitchFamily="2" charset="-122"/>
              </a:rPr>
              <a:t>→</a:t>
            </a:r>
            <a:r>
              <a:rPr lang="en-US" altLang="zh-CN" sz="2400" dirty="0">
                <a:latin typeface="宋体" pitchFamily="2" charset="-122"/>
              </a:rPr>
              <a:t> ((R3))</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F52F163B-13DB-49B9-9AE3-0D94DBCD8867}" type="slidenum">
              <a:rPr lang="en-US" altLang="zh-CN" smtClean="0"/>
              <a:pPr/>
              <a:t>21</a:t>
            </a:fld>
            <a:endParaRPr lang="en-US" altLang="zh-CN" dirty="0" smtClean="0"/>
          </a:p>
        </p:txBody>
      </p:sp>
      <p:pic>
        <p:nvPicPr>
          <p:cNvPr id="21507" name="Picture 4" descr="5a11"/>
          <p:cNvPicPr>
            <a:picLocks noChangeAspect="1" noChangeArrowheads="1"/>
          </p:cNvPicPr>
          <p:nvPr/>
        </p:nvPicPr>
        <p:blipFill>
          <a:blip r:embed="rId3"/>
          <a:srcRect/>
          <a:stretch>
            <a:fillRect/>
          </a:stretch>
        </p:blipFill>
        <p:spPr bwMode="auto">
          <a:xfrm>
            <a:off x="323850" y="836613"/>
            <a:ext cx="7345363" cy="5113337"/>
          </a:xfrm>
          <a:prstGeom prst="rect">
            <a:avLst/>
          </a:prstGeom>
          <a:noFill/>
          <a:ln w="9525">
            <a:noFill/>
            <a:miter lim="800000"/>
            <a:headEnd/>
            <a:tailEnd/>
          </a:ln>
        </p:spPr>
      </p:pic>
      <p:sp>
        <p:nvSpPr>
          <p:cNvPr id="21508" name="Rectangle 5"/>
          <p:cNvSpPr>
            <a:spLocks noChangeArrowheads="1"/>
          </p:cNvSpPr>
          <p:nvPr/>
        </p:nvSpPr>
        <p:spPr bwMode="auto">
          <a:xfrm>
            <a:off x="323850" y="260350"/>
            <a:ext cx="6335713"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itchFamily="2" charset="-122"/>
              </a:rPr>
              <a:t>5.2.5 STO</a:t>
            </a:r>
            <a:r>
              <a:rPr lang="zh-CN" altLang="en-US" sz="2400">
                <a:solidFill>
                  <a:schemeClr val="tx2"/>
                </a:solidFill>
                <a:latin typeface="宋体" pitchFamily="2" charset="-122"/>
              </a:rPr>
              <a:t>指令 </a:t>
            </a:r>
            <a:r>
              <a:rPr lang="en-US" altLang="zh-CN" sz="2400" dirty="0">
                <a:solidFill>
                  <a:schemeClr val="tx2"/>
                </a:solidFill>
                <a:latin typeface="宋体" pitchFamily="2" charset="-122"/>
              </a:rPr>
              <a:t>- </a:t>
            </a:r>
            <a:r>
              <a:rPr lang="zh-CN" altLang="en-US" sz="2400">
                <a:solidFill>
                  <a:schemeClr val="tx2"/>
                </a:solidFill>
                <a:latin typeface="宋体" pitchFamily="2" charset="-122"/>
              </a:rPr>
              <a:t>执行周期 </a:t>
            </a:r>
            <a:r>
              <a:rPr lang="en-US" altLang="zh-CN" sz="2400" dirty="0">
                <a:latin typeface="宋体" pitchFamily="2" charset="-122"/>
              </a:rPr>
              <a:t>(R2) </a:t>
            </a:r>
            <a:r>
              <a:rPr lang="en-US" altLang="zh-CN" sz="2400" dirty="0">
                <a:solidFill>
                  <a:srgbClr val="E8060B"/>
                </a:solidFill>
                <a:latin typeface="宋体" pitchFamily="2" charset="-122"/>
              </a:rPr>
              <a:t>→</a:t>
            </a:r>
            <a:r>
              <a:rPr lang="en-US" altLang="zh-CN" sz="2400" dirty="0">
                <a:latin typeface="宋体" pitchFamily="2" charset="-122"/>
              </a:rPr>
              <a:t> ((R3))</a:t>
            </a:r>
          </a:p>
        </p:txBody>
      </p:sp>
      <p:pic>
        <p:nvPicPr>
          <p:cNvPr id="21509" name="Picture 6">
            <a:hlinkClick r:id="rId4" action="ppaction://hlinkfile"/>
          </p:cNvPr>
          <p:cNvPicPr>
            <a:picLocks noChangeAspect="1" noChangeArrowheads="1"/>
          </p:cNvPicPr>
          <p:nvPr/>
        </p:nvPicPr>
        <p:blipFill>
          <a:blip r:embed="rId5"/>
          <a:srcRect/>
          <a:stretch>
            <a:fillRect/>
          </a:stretch>
        </p:blipFill>
        <p:spPr bwMode="auto">
          <a:xfrm>
            <a:off x="7812088" y="3644900"/>
            <a:ext cx="409575" cy="381000"/>
          </a:xfrm>
          <a:prstGeom prst="rect">
            <a:avLst/>
          </a:prstGeom>
          <a:noFill/>
          <a:ln w="9525">
            <a:noFill/>
            <a:miter lim="800000"/>
            <a:headEnd/>
            <a:tailEnd/>
          </a:ln>
        </p:spPr>
      </p:pic>
      <p:sp>
        <p:nvSpPr>
          <p:cNvPr id="37895" name="Rectangle 7"/>
          <p:cNvSpPr>
            <a:spLocks noChangeArrowheads="1"/>
          </p:cNvSpPr>
          <p:nvPr/>
        </p:nvSpPr>
        <p:spPr bwMode="auto">
          <a:xfrm>
            <a:off x="250825" y="6021388"/>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① </a:t>
            </a:r>
            <a:r>
              <a:rPr lang="zh-CN" altLang="en-US">
                <a:latin typeface="宋体" pitchFamily="2" charset="-122"/>
              </a:rPr>
              <a:t>操作控制器</a:t>
            </a:r>
            <a:r>
              <a:rPr lang="en-US" altLang="zh-CN" dirty="0">
                <a:latin typeface="宋体" pitchFamily="2" charset="-122"/>
              </a:rPr>
              <a:t>OC</a:t>
            </a:r>
            <a:r>
              <a:rPr lang="zh-CN" altLang="en-US">
                <a:latin typeface="宋体" pitchFamily="2" charset="-122"/>
              </a:rPr>
              <a:t>送出操作命令到通用寄存器，选择</a:t>
            </a:r>
            <a:r>
              <a:rPr lang="en-US" altLang="zh-CN" dirty="0">
                <a:latin typeface="宋体" pitchFamily="2" charset="-122"/>
              </a:rPr>
              <a:t>R3=30</a:t>
            </a:r>
            <a:r>
              <a:rPr lang="zh-CN" altLang="en-US">
                <a:latin typeface="宋体" pitchFamily="2" charset="-122"/>
              </a:rPr>
              <a:t>做数据存储器的地址单元； </a:t>
            </a:r>
          </a:p>
        </p:txBody>
      </p:sp>
      <p:sp>
        <p:nvSpPr>
          <p:cNvPr id="37896" name="Rectangle 8"/>
          <p:cNvSpPr>
            <a:spLocks noChangeArrowheads="1"/>
          </p:cNvSpPr>
          <p:nvPr/>
        </p:nvSpPr>
        <p:spPr bwMode="auto">
          <a:xfrm>
            <a:off x="250825" y="6092825"/>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② OC</a:t>
            </a:r>
            <a:r>
              <a:rPr lang="zh-CN" altLang="en-US">
                <a:latin typeface="宋体" pitchFamily="2" charset="-122"/>
              </a:rPr>
              <a:t>发出操作命令，打开通用寄存器输出三态门，将地址</a:t>
            </a:r>
            <a:r>
              <a:rPr lang="en-US" altLang="zh-CN" dirty="0">
                <a:latin typeface="宋体" pitchFamily="2" charset="-122"/>
              </a:rPr>
              <a:t>30</a:t>
            </a:r>
            <a:r>
              <a:rPr lang="zh-CN" altLang="en-US">
                <a:latin typeface="宋体" pitchFamily="2" charset="-122"/>
              </a:rPr>
              <a:t>放到</a:t>
            </a:r>
            <a:r>
              <a:rPr lang="en-US" altLang="zh-CN" dirty="0">
                <a:latin typeface="宋体" pitchFamily="2" charset="-122"/>
              </a:rPr>
              <a:t>DBUS</a:t>
            </a:r>
            <a:r>
              <a:rPr lang="zh-CN" altLang="en-US">
                <a:latin typeface="宋体" pitchFamily="2" charset="-122"/>
              </a:rPr>
              <a:t>上；</a:t>
            </a:r>
          </a:p>
        </p:txBody>
      </p:sp>
      <p:sp>
        <p:nvSpPr>
          <p:cNvPr id="37897" name="Rectangle 9"/>
          <p:cNvSpPr>
            <a:spLocks noChangeArrowheads="1"/>
          </p:cNvSpPr>
          <p:nvPr/>
        </p:nvSpPr>
        <p:spPr bwMode="auto">
          <a:xfrm>
            <a:off x="323850" y="6021388"/>
            <a:ext cx="7559675" cy="366712"/>
          </a:xfrm>
          <a:prstGeom prst="rect">
            <a:avLst/>
          </a:prstGeom>
          <a:solidFill>
            <a:srgbClr val="0000FF"/>
          </a:solidFill>
          <a:ln w="12700" cap="sq">
            <a:noFill/>
            <a:miter lim="800000"/>
            <a:headEnd type="none" w="sm" len="sm"/>
            <a:tailEnd type="none" w="sm" len="sm"/>
          </a:ln>
        </p:spPr>
        <p:txBody>
          <a:bodyPr>
            <a:spAutoFit/>
          </a:bodyPr>
          <a:lstStyle/>
          <a:p>
            <a:r>
              <a:rPr lang="en-US" altLang="zh-CN" dirty="0">
                <a:latin typeface="宋体" pitchFamily="2" charset="-122"/>
              </a:rPr>
              <a:t>③ OC</a:t>
            </a:r>
            <a:r>
              <a:rPr lang="zh-CN" altLang="en-US">
                <a:latin typeface="宋体" pitchFamily="2" charset="-122"/>
              </a:rPr>
              <a:t>发出操作命令，将地址</a:t>
            </a:r>
            <a:r>
              <a:rPr lang="en-US" altLang="zh-CN" dirty="0">
                <a:latin typeface="宋体" pitchFamily="2" charset="-122"/>
              </a:rPr>
              <a:t>30</a:t>
            </a:r>
            <a:r>
              <a:rPr lang="zh-CN" altLang="en-US">
                <a:latin typeface="宋体" pitchFamily="2" charset="-122"/>
              </a:rPr>
              <a:t>打入</a:t>
            </a:r>
            <a:r>
              <a:rPr lang="en-US" altLang="zh-CN" dirty="0">
                <a:latin typeface="宋体" pitchFamily="2" charset="-122"/>
              </a:rPr>
              <a:t>AR</a:t>
            </a:r>
            <a:r>
              <a:rPr lang="zh-CN" altLang="en-US">
                <a:latin typeface="宋体" pitchFamily="2" charset="-122"/>
              </a:rPr>
              <a:t>，并进行数存地址译码；</a:t>
            </a:r>
          </a:p>
        </p:txBody>
      </p:sp>
      <p:sp>
        <p:nvSpPr>
          <p:cNvPr id="37898" name="Rectangle 10"/>
          <p:cNvSpPr>
            <a:spLocks noChangeArrowheads="1"/>
          </p:cNvSpPr>
          <p:nvPr/>
        </p:nvSpPr>
        <p:spPr bwMode="auto">
          <a:xfrm>
            <a:off x="323850" y="6092825"/>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④ OC</a:t>
            </a:r>
            <a:r>
              <a:rPr lang="zh-CN" altLang="en-US">
                <a:latin typeface="宋体" pitchFamily="2" charset="-122"/>
              </a:rPr>
              <a:t>发出操作命令到通用寄存器，选择</a:t>
            </a:r>
            <a:r>
              <a:rPr lang="en-US" altLang="zh-CN" dirty="0">
                <a:latin typeface="宋体" pitchFamily="2" charset="-122"/>
              </a:rPr>
              <a:t>R2=120</a:t>
            </a:r>
            <a:r>
              <a:rPr lang="zh-CN" altLang="en-US">
                <a:latin typeface="宋体" pitchFamily="2" charset="-122"/>
              </a:rPr>
              <a:t>，作为数存的写入数据；</a:t>
            </a:r>
          </a:p>
        </p:txBody>
      </p:sp>
      <p:sp>
        <p:nvSpPr>
          <p:cNvPr id="37899" name="Rectangle 11"/>
          <p:cNvSpPr>
            <a:spLocks noChangeArrowheads="1"/>
          </p:cNvSpPr>
          <p:nvPr/>
        </p:nvSpPr>
        <p:spPr bwMode="auto">
          <a:xfrm>
            <a:off x="250825" y="6021388"/>
            <a:ext cx="7939088" cy="366712"/>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⑤ OC</a:t>
            </a:r>
            <a:r>
              <a:rPr lang="zh-CN" altLang="en-US">
                <a:latin typeface="宋体" pitchFamily="2" charset="-122"/>
              </a:rPr>
              <a:t>发出操作命令，打开通用寄存器输出三态门，将数据</a:t>
            </a:r>
            <a:r>
              <a:rPr lang="en-US" altLang="zh-CN" dirty="0">
                <a:latin typeface="宋体" pitchFamily="2" charset="-122"/>
              </a:rPr>
              <a:t>120</a:t>
            </a:r>
            <a:r>
              <a:rPr lang="zh-CN" altLang="en-US">
                <a:latin typeface="宋体" pitchFamily="2" charset="-122"/>
              </a:rPr>
              <a:t>放到</a:t>
            </a:r>
            <a:r>
              <a:rPr lang="en-US" altLang="zh-CN" dirty="0">
                <a:latin typeface="宋体" pitchFamily="2" charset="-122"/>
              </a:rPr>
              <a:t>DBUS</a:t>
            </a:r>
            <a:r>
              <a:rPr lang="zh-CN" altLang="en-US">
                <a:latin typeface="宋体" pitchFamily="2" charset="-122"/>
              </a:rPr>
              <a:t>上</a:t>
            </a:r>
            <a:r>
              <a:rPr lang="zh-CN" altLang="en-US" b="0">
                <a:solidFill>
                  <a:schemeClr val="tx1"/>
                </a:solidFill>
              </a:rPr>
              <a:t>。</a:t>
            </a:r>
          </a:p>
        </p:txBody>
      </p:sp>
      <p:sp>
        <p:nvSpPr>
          <p:cNvPr id="37900" name="Rectangle 12"/>
          <p:cNvSpPr>
            <a:spLocks noChangeArrowheads="1"/>
          </p:cNvSpPr>
          <p:nvPr/>
        </p:nvSpPr>
        <p:spPr bwMode="auto">
          <a:xfrm>
            <a:off x="323850" y="6092825"/>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⑥OC</a:t>
            </a:r>
            <a:r>
              <a:rPr lang="zh-CN" altLang="en-US">
                <a:latin typeface="宋体" pitchFamily="2" charset="-122"/>
              </a:rPr>
              <a:t>发出操作命令，将</a:t>
            </a:r>
            <a:r>
              <a:rPr lang="en-US" altLang="zh-CN" dirty="0">
                <a:latin typeface="宋体" pitchFamily="2" charset="-122"/>
              </a:rPr>
              <a:t>DBUS</a:t>
            </a:r>
            <a:r>
              <a:rPr lang="zh-CN" altLang="en-US">
                <a:latin typeface="宋体" pitchFamily="2" charset="-122"/>
              </a:rPr>
              <a:t>上数据</a:t>
            </a:r>
            <a:r>
              <a:rPr lang="en-US" altLang="zh-CN" dirty="0">
                <a:latin typeface="宋体" pitchFamily="2" charset="-122"/>
              </a:rPr>
              <a:t>120</a:t>
            </a:r>
            <a:r>
              <a:rPr lang="zh-CN" altLang="en-US">
                <a:latin typeface="宋体" pitchFamily="2" charset="-122"/>
              </a:rPr>
              <a:t>写到</a:t>
            </a:r>
            <a:r>
              <a:rPr lang="en-US" altLang="zh-CN" dirty="0">
                <a:latin typeface="宋体" pitchFamily="2" charset="-122"/>
              </a:rPr>
              <a:t>30</a:t>
            </a:r>
            <a:r>
              <a:rPr lang="zh-CN" altLang="en-US">
                <a:latin typeface="宋体" pitchFamily="2" charset="-122"/>
              </a:rPr>
              <a:t>单元中</a:t>
            </a:r>
            <a:r>
              <a:rPr lang="zh-CN" altLang="en-US" b="0">
                <a:solidFill>
                  <a:schemeClr val="tx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checkerboard(across)">
                                      <p:cBhvr>
                                        <p:cTn id="7" dur="500"/>
                                        <p:tgtEl>
                                          <p:spTgt spid="37895"/>
                                        </p:tgtEl>
                                      </p:cBhvr>
                                    </p:animEffect>
                                  </p:childTnLst>
                                  <p:subTnLst>
                                    <p:set>
                                      <p:cBhvr override="childStyle">
                                        <p:cTn dur="1" fill="hold" display="0" masterRel="nextClick" afterEffect="1"/>
                                        <p:tgtEl>
                                          <p:spTgt spid="3789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checkerboard(across)">
                                      <p:cBhvr>
                                        <p:cTn id="12" dur="500"/>
                                        <p:tgtEl>
                                          <p:spTgt spid="37896"/>
                                        </p:tgtEl>
                                      </p:cBhvr>
                                    </p:animEffect>
                                  </p:childTnLst>
                                  <p:subTnLst>
                                    <p:set>
                                      <p:cBhvr override="childStyle">
                                        <p:cTn dur="1" fill="hold" display="0" masterRel="nextClick" afterEffect="1"/>
                                        <p:tgtEl>
                                          <p:spTgt spid="3789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7897"/>
                                        </p:tgtEl>
                                        <p:attrNameLst>
                                          <p:attrName>style.visibility</p:attrName>
                                        </p:attrNameLst>
                                      </p:cBhvr>
                                      <p:to>
                                        <p:strVal val="visible"/>
                                      </p:to>
                                    </p:set>
                                    <p:animEffect transition="in" filter="checkerboard(across)">
                                      <p:cBhvr>
                                        <p:cTn id="17" dur="500"/>
                                        <p:tgtEl>
                                          <p:spTgt spid="37897"/>
                                        </p:tgtEl>
                                      </p:cBhvr>
                                    </p:animEffect>
                                  </p:childTnLst>
                                  <p:subTnLst>
                                    <p:set>
                                      <p:cBhvr override="childStyle">
                                        <p:cTn dur="1" fill="hold" display="0" masterRel="nextClick" afterEffect="1"/>
                                        <p:tgtEl>
                                          <p:spTgt spid="3789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7898"/>
                                        </p:tgtEl>
                                        <p:attrNameLst>
                                          <p:attrName>style.visibility</p:attrName>
                                        </p:attrNameLst>
                                      </p:cBhvr>
                                      <p:to>
                                        <p:strVal val="visible"/>
                                      </p:to>
                                    </p:set>
                                    <p:animEffect transition="in" filter="checkerboard(across)">
                                      <p:cBhvr>
                                        <p:cTn id="22" dur="500"/>
                                        <p:tgtEl>
                                          <p:spTgt spid="37898"/>
                                        </p:tgtEl>
                                      </p:cBhvr>
                                    </p:animEffect>
                                  </p:childTnLst>
                                  <p:subTnLst>
                                    <p:set>
                                      <p:cBhvr override="childStyle">
                                        <p:cTn dur="1" fill="hold" display="0" masterRel="nextClick" afterEffect="1"/>
                                        <p:tgtEl>
                                          <p:spTgt spid="37898"/>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7899"/>
                                        </p:tgtEl>
                                        <p:attrNameLst>
                                          <p:attrName>style.visibility</p:attrName>
                                        </p:attrNameLst>
                                      </p:cBhvr>
                                      <p:to>
                                        <p:strVal val="visible"/>
                                      </p:to>
                                    </p:set>
                                    <p:animEffect transition="in" filter="checkerboard(across)">
                                      <p:cBhvr>
                                        <p:cTn id="27" dur="500"/>
                                        <p:tgtEl>
                                          <p:spTgt spid="37899"/>
                                        </p:tgtEl>
                                      </p:cBhvr>
                                    </p:animEffect>
                                  </p:childTnLst>
                                  <p:subTnLst>
                                    <p:set>
                                      <p:cBhvr override="childStyle">
                                        <p:cTn dur="1" fill="hold" display="0" masterRel="nextClick" afterEffect="1"/>
                                        <p:tgtEl>
                                          <p:spTgt spid="3789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7900"/>
                                        </p:tgtEl>
                                        <p:attrNameLst>
                                          <p:attrName>style.visibility</p:attrName>
                                        </p:attrNameLst>
                                      </p:cBhvr>
                                      <p:to>
                                        <p:strVal val="visible"/>
                                      </p:to>
                                    </p:set>
                                    <p:animEffect transition="in" filter="checkerboard(across)">
                                      <p:cBhvr>
                                        <p:cTn id="32" dur="500"/>
                                        <p:tgtEl>
                                          <p:spTgt spid="37900"/>
                                        </p:tgtEl>
                                      </p:cBhvr>
                                    </p:animEffect>
                                  </p:childTnLst>
                                  <p:subTnLst>
                                    <p:set>
                                      <p:cBhvr override="childStyle">
                                        <p:cTn dur="1" fill="hold" display="0" masterRel="nextClick" afterEffect="1"/>
                                        <p:tgtEl>
                                          <p:spTgt spid="379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animBg="1" autoUpdateAnimBg="0"/>
      <p:bldP spid="37896" grpId="0" animBg="1" autoUpdateAnimBg="0"/>
      <p:bldP spid="37897" grpId="0" animBg="1" autoUpdateAnimBg="0"/>
      <p:bldP spid="37898" grpId="0" animBg="1" autoUpdateAnimBg="0"/>
      <p:bldP spid="37899" grpId="0" animBg="1" autoUpdateAnimBg="0"/>
      <p:bldP spid="37900"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E21C7DA5-FE42-4B3E-A1E5-CC1DE17BA961}" type="slidenum">
              <a:rPr lang="en-US" altLang="zh-CN" smtClean="0"/>
              <a:pPr/>
              <a:t>22</a:t>
            </a:fld>
            <a:endParaRPr lang="en-US" altLang="zh-CN" dirty="0" smtClean="0"/>
          </a:p>
        </p:txBody>
      </p:sp>
      <p:sp>
        <p:nvSpPr>
          <p:cNvPr id="22531" name="Rectangle 2"/>
          <p:cNvSpPr>
            <a:spLocks noGrp="1" noChangeArrowheads="1"/>
          </p:cNvSpPr>
          <p:nvPr>
            <p:ph type="title"/>
          </p:nvPr>
        </p:nvSpPr>
        <p:spPr>
          <a:xfrm>
            <a:off x="468313" y="404813"/>
            <a:ext cx="7543800" cy="1008062"/>
          </a:xfrm>
        </p:spPr>
        <p:txBody>
          <a:bodyPr/>
          <a:lstStyle/>
          <a:p>
            <a:pPr eaLnBrk="1" hangingPunct="1"/>
            <a:r>
              <a:rPr lang="en-US" altLang="zh-CN" sz="3200" dirty="0" smtClean="0">
                <a:latin typeface="宋体" pitchFamily="2" charset="-122"/>
              </a:rPr>
              <a:t>5.2.6 JMP</a:t>
            </a:r>
            <a:r>
              <a:rPr lang="zh-CN" altLang="en-US" sz="3200" smtClean="0">
                <a:latin typeface="宋体" pitchFamily="2" charset="-122"/>
              </a:rPr>
              <a:t>指令的指令周期</a:t>
            </a:r>
            <a:br>
              <a:rPr lang="zh-CN" altLang="en-US" sz="3200" smtClean="0">
                <a:latin typeface="宋体" pitchFamily="2" charset="-122"/>
              </a:rPr>
            </a:br>
            <a:r>
              <a:rPr lang="zh-CN" altLang="en-US" sz="3200" smtClean="0">
                <a:latin typeface="宋体" pitchFamily="2" charset="-122"/>
              </a:rPr>
              <a:t>      </a:t>
            </a:r>
            <a:r>
              <a:rPr lang="en-US" altLang="zh-CN" sz="3200" dirty="0" smtClean="0">
                <a:latin typeface="宋体" pitchFamily="2" charset="-122"/>
              </a:rPr>
              <a:t>JMP 101</a:t>
            </a:r>
          </a:p>
        </p:txBody>
      </p:sp>
      <p:pic>
        <p:nvPicPr>
          <p:cNvPr id="22532" name="Picture 4" descr="5a12"/>
          <p:cNvPicPr>
            <a:picLocks noChangeAspect="1" noChangeArrowheads="1"/>
          </p:cNvPicPr>
          <p:nvPr/>
        </p:nvPicPr>
        <p:blipFill>
          <a:blip r:embed="rId2"/>
          <a:srcRect/>
          <a:stretch>
            <a:fillRect/>
          </a:stretch>
        </p:blipFill>
        <p:spPr bwMode="auto">
          <a:xfrm>
            <a:off x="1447800" y="1981200"/>
            <a:ext cx="5400675" cy="4176713"/>
          </a:xfrm>
          <a:prstGeom prst="rect">
            <a:avLst/>
          </a:prstGeom>
          <a:noFill/>
          <a:ln w="9525">
            <a:noFill/>
            <a:miter lim="800000"/>
            <a:headEnd/>
            <a:tailEnd/>
          </a:ln>
        </p:spPr>
      </p:pic>
      <p:sp>
        <p:nvSpPr>
          <p:cNvPr id="22533" name="Rectangle 5"/>
          <p:cNvSpPr>
            <a:spLocks noChangeArrowheads="1"/>
          </p:cNvSpPr>
          <p:nvPr/>
        </p:nvSpPr>
        <p:spPr bwMode="auto">
          <a:xfrm>
            <a:off x="1905000" y="1524000"/>
            <a:ext cx="1555750" cy="457200"/>
          </a:xfrm>
          <a:prstGeom prst="rect">
            <a:avLst/>
          </a:prstGeom>
          <a:noFill/>
          <a:ln w="9525">
            <a:noFill/>
            <a:miter lim="800000"/>
            <a:headEnd/>
            <a:tailEnd/>
          </a:ln>
        </p:spPr>
        <p:txBody>
          <a:bodyPr wrap="none">
            <a:spAutoFit/>
          </a:bodyPr>
          <a:lstStyle/>
          <a:p>
            <a:r>
              <a:rPr lang="en-US" altLang="zh-CN" sz="2400" dirty="0">
                <a:latin typeface="宋体" pitchFamily="2" charset="-122"/>
              </a:rPr>
              <a:t>101 </a:t>
            </a:r>
            <a:r>
              <a:rPr lang="en-US" altLang="zh-CN" sz="2400" dirty="0">
                <a:solidFill>
                  <a:srgbClr val="E8060B"/>
                </a:solidFill>
                <a:latin typeface="宋体" pitchFamily="2" charset="-122"/>
              </a:rPr>
              <a:t>→</a:t>
            </a:r>
            <a:r>
              <a:rPr lang="en-US" altLang="zh-CN" sz="2400" dirty="0">
                <a:latin typeface="宋体" pitchFamily="2" charset="-122"/>
              </a:rPr>
              <a:t> PC</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588B31AB-D865-4024-93D9-C5BF2647F66D}" type="slidenum">
              <a:rPr lang="en-US" altLang="zh-CN" smtClean="0"/>
              <a:pPr/>
              <a:t>23</a:t>
            </a:fld>
            <a:endParaRPr lang="en-US" altLang="zh-CN" dirty="0" smtClean="0"/>
          </a:p>
        </p:txBody>
      </p:sp>
      <p:pic>
        <p:nvPicPr>
          <p:cNvPr id="23555" name="Picture 4" descr="5a13"/>
          <p:cNvPicPr>
            <a:picLocks noChangeAspect="1" noChangeArrowheads="1"/>
          </p:cNvPicPr>
          <p:nvPr/>
        </p:nvPicPr>
        <p:blipFill>
          <a:blip r:embed="rId3"/>
          <a:srcRect/>
          <a:stretch>
            <a:fillRect/>
          </a:stretch>
        </p:blipFill>
        <p:spPr bwMode="auto">
          <a:xfrm>
            <a:off x="395288" y="836613"/>
            <a:ext cx="7416800" cy="4968875"/>
          </a:xfrm>
          <a:prstGeom prst="rect">
            <a:avLst/>
          </a:prstGeom>
          <a:noFill/>
          <a:ln w="9525">
            <a:noFill/>
            <a:miter lim="800000"/>
            <a:headEnd/>
            <a:tailEnd/>
          </a:ln>
        </p:spPr>
      </p:pic>
      <p:sp>
        <p:nvSpPr>
          <p:cNvPr id="23556" name="Rectangle 5"/>
          <p:cNvSpPr>
            <a:spLocks noChangeArrowheads="1"/>
          </p:cNvSpPr>
          <p:nvPr/>
        </p:nvSpPr>
        <p:spPr bwMode="auto">
          <a:xfrm>
            <a:off x="468313" y="333375"/>
            <a:ext cx="6696075" cy="457200"/>
          </a:xfrm>
          <a:prstGeom prst="rect">
            <a:avLst/>
          </a:prstGeom>
          <a:noFill/>
          <a:ln w="12700" cap="sq">
            <a:noFill/>
            <a:miter lim="800000"/>
            <a:headEnd type="none" w="sm" len="sm"/>
            <a:tailEnd type="none" w="sm" len="sm"/>
          </a:ln>
        </p:spPr>
        <p:txBody>
          <a:bodyPr>
            <a:spAutoFit/>
          </a:bodyPr>
          <a:lstStyle/>
          <a:p>
            <a:r>
              <a:rPr lang="en-US" altLang="zh-CN" sz="2400" dirty="0">
                <a:solidFill>
                  <a:schemeClr val="tx2"/>
                </a:solidFill>
                <a:latin typeface="宋体" pitchFamily="2" charset="-122"/>
              </a:rPr>
              <a:t>5.2.6 JMP</a:t>
            </a:r>
            <a:r>
              <a:rPr lang="zh-CN" altLang="en-US" sz="2400">
                <a:solidFill>
                  <a:schemeClr val="tx2"/>
                </a:solidFill>
                <a:latin typeface="宋体" pitchFamily="2" charset="-122"/>
              </a:rPr>
              <a:t>指令 </a:t>
            </a:r>
            <a:r>
              <a:rPr lang="en-US" altLang="zh-CN" sz="2400" dirty="0">
                <a:solidFill>
                  <a:schemeClr val="tx2"/>
                </a:solidFill>
                <a:latin typeface="宋体" pitchFamily="2" charset="-122"/>
              </a:rPr>
              <a:t>- </a:t>
            </a:r>
            <a:r>
              <a:rPr lang="zh-CN" altLang="en-US" sz="2400">
                <a:solidFill>
                  <a:schemeClr val="tx2"/>
                </a:solidFill>
                <a:latin typeface="宋体" pitchFamily="2" charset="-122"/>
              </a:rPr>
              <a:t>执行周期</a:t>
            </a:r>
            <a:endParaRPr lang="zh-CN" altLang="en-US" b="0">
              <a:solidFill>
                <a:schemeClr val="tx1"/>
              </a:solidFill>
            </a:endParaRPr>
          </a:p>
        </p:txBody>
      </p:sp>
      <p:pic>
        <p:nvPicPr>
          <p:cNvPr id="23557" name="Picture 6">
            <a:hlinkClick r:id="rId4" action="ppaction://hlinkfile"/>
          </p:cNvPr>
          <p:cNvPicPr>
            <a:picLocks noChangeAspect="1" noChangeArrowheads="1"/>
          </p:cNvPicPr>
          <p:nvPr/>
        </p:nvPicPr>
        <p:blipFill>
          <a:blip r:embed="rId5"/>
          <a:srcRect/>
          <a:stretch>
            <a:fillRect/>
          </a:stretch>
        </p:blipFill>
        <p:spPr bwMode="auto">
          <a:xfrm>
            <a:off x="7956550" y="3644900"/>
            <a:ext cx="409575" cy="381000"/>
          </a:xfrm>
          <a:prstGeom prst="rect">
            <a:avLst/>
          </a:prstGeom>
          <a:noFill/>
          <a:ln w="9525">
            <a:noFill/>
            <a:miter lim="800000"/>
            <a:headEnd/>
            <a:tailEnd/>
          </a:ln>
        </p:spPr>
      </p:pic>
      <p:sp>
        <p:nvSpPr>
          <p:cNvPr id="40967" name="Rectangle 7"/>
          <p:cNvSpPr>
            <a:spLocks noChangeArrowheads="1"/>
          </p:cNvSpPr>
          <p:nvPr/>
        </p:nvSpPr>
        <p:spPr bwMode="auto">
          <a:xfrm>
            <a:off x="323850" y="5876925"/>
            <a:ext cx="7921625"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dirty="0">
                <a:latin typeface="宋体" pitchFamily="2" charset="-122"/>
              </a:rPr>
              <a:t>① OC</a:t>
            </a:r>
            <a:r>
              <a:rPr lang="zh-CN" altLang="en-US">
                <a:latin typeface="宋体" pitchFamily="2" charset="-122"/>
              </a:rPr>
              <a:t>发生操作控制命令，打开指令寄存器</a:t>
            </a:r>
            <a:r>
              <a:rPr lang="en-US" altLang="zh-CN" dirty="0">
                <a:latin typeface="宋体" pitchFamily="2" charset="-122"/>
              </a:rPr>
              <a:t>IR</a:t>
            </a:r>
            <a:r>
              <a:rPr lang="zh-CN" altLang="en-US">
                <a:latin typeface="宋体" pitchFamily="2" charset="-122"/>
              </a:rPr>
              <a:t>的输出三态门，将</a:t>
            </a:r>
            <a:r>
              <a:rPr lang="en-US" altLang="zh-CN" dirty="0">
                <a:latin typeface="宋体" pitchFamily="2" charset="-122"/>
              </a:rPr>
              <a:t>IR</a:t>
            </a:r>
            <a:r>
              <a:rPr lang="zh-CN" altLang="en-US">
                <a:latin typeface="宋体" pitchFamily="2" charset="-122"/>
              </a:rPr>
              <a:t>中的地址码</a:t>
            </a:r>
            <a:r>
              <a:rPr lang="en-US" altLang="zh-CN" dirty="0">
                <a:latin typeface="宋体" pitchFamily="2" charset="-122"/>
              </a:rPr>
              <a:t>101</a:t>
            </a:r>
            <a:r>
              <a:rPr lang="zh-CN" altLang="en-US">
                <a:latin typeface="宋体" pitchFamily="2" charset="-122"/>
              </a:rPr>
              <a:t>发送到</a:t>
            </a:r>
            <a:r>
              <a:rPr lang="en-US" altLang="zh-CN" dirty="0">
                <a:latin typeface="宋体" pitchFamily="2" charset="-122"/>
              </a:rPr>
              <a:t>DBUS</a:t>
            </a:r>
            <a:r>
              <a:rPr lang="zh-CN" altLang="en-US">
                <a:latin typeface="宋体" pitchFamily="2" charset="-122"/>
              </a:rPr>
              <a:t>上；</a:t>
            </a:r>
          </a:p>
        </p:txBody>
      </p:sp>
      <p:sp>
        <p:nvSpPr>
          <p:cNvPr id="40970" name="Rectangle 10"/>
          <p:cNvSpPr>
            <a:spLocks noChangeArrowheads="1"/>
          </p:cNvSpPr>
          <p:nvPr/>
        </p:nvSpPr>
        <p:spPr bwMode="auto">
          <a:xfrm>
            <a:off x="250825" y="5805488"/>
            <a:ext cx="7981950" cy="915987"/>
          </a:xfrm>
          <a:prstGeom prst="rect">
            <a:avLst/>
          </a:prstGeom>
          <a:solidFill>
            <a:srgbClr val="0000FF"/>
          </a:solidFill>
          <a:ln w="12700" cap="sq" algn="ctr">
            <a:noFill/>
            <a:miter lim="800000"/>
            <a:headEnd type="none" w="sm" len="sm"/>
            <a:tailEnd type="none" w="sm" len="sm"/>
          </a:ln>
        </p:spPr>
        <p:txBody>
          <a:bodyPr>
            <a:spAutoFit/>
          </a:bodyPr>
          <a:lstStyle/>
          <a:p>
            <a:pPr>
              <a:spcBef>
                <a:spcPct val="30000"/>
              </a:spcBef>
            </a:pPr>
            <a:r>
              <a:rPr lang="en-US" altLang="zh-CN" dirty="0">
                <a:latin typeface="宋体" pitchFamily="2" charset="-122"/>
              </a:rPr>
              <a:t>② OC</a:t>
            </a:r>
            <a:r>
              <a:rPr lang="zh-CN" altLang="en-US">
                <a:latin typeface="宋体" pitchFamily="2" charset="-122"/>
              </a:rPr>
              <a:t>发出操作控制命令，将</a:t>
            </a:r>
            <a:r>
              <a:rPr lang="en-US" altLang="zh-CN" dirty="0">
                <a:latin typeface="宋体" pitchFamily="2" charset="-122"/>
              </a:rPr>
              <a:t>DBUS</a:t>
            </a:r>
            <a:r>
              <a:rPr lang="zh-CN" altLang="en-US">
                <a:latin typeface="宋体" pitchFamily="2" charset="-122"/>
              </a:rPr>
              <a:t>上的地址码</a:t>
            </a:r>
            <a:r>
              <a:rPr lang="en-US" altLang="zh-CN" dirty="0">
                <a:latin typeface="宋体" pitchFamily="2" charset="-122"/>
              </a:rPr>
              <a:t>101</a:t>
            </a:r>
            <a:r>
              <a:rPr lang="zh-CN" altLang="en-US">
                <a:latin typeface="宋体" pitchFamily="2" charset="-122"/>
              </a:rPr>
              <a:t>打入到程序计数器</a:t>
            </a:r>
            <a:r>
              <a:rPr lang="en-US" altLang="zh-CN" dirty="0">
                <a:latin typeface="宋体" pitchFamily="2" charset="-122"/>
              </a:rPr>
              <a:t>PC</a:t>
            </a:r>
            <a:r>
              <a:rPr lang="zh-CN" altLang="en-US">
                <a:latin typeface="宋体" pitchFamily="2" charset="-122"/>
              </a:rPr>
              <a:t>中，</a:t>
            </a:r>
            <a:r>
              <a:rPr lang="en-US" altLang="zh-CN" dirty="0">
                <a:latin typeface="宋体" pitchFamily="2" charset="-122"/>
              </a:rPr>
              <a:t>PC</a:t>
            </a:r>
            <a:r>
              <a:rPr lang="zh-CN" altLang="en-US">
                <a:latin typeface="宋体" pitchFamily="2" charset="-122"/>
              </a:rPr>
              <a:t>中的原先内容</a:t>
            </a:r>
            <a:r>
              <a:rPr lang="en-US" altLang="zh-CN" dirty="0">
                <a:latin typeface="宋体" pitchFamily="2" charset="-122"/>
              </a:rPr>
              <a:t>106</a:t>
            </a:r>
            <a:r>
              <a:rPr lang="zh-CN" altLang="en-US">
                <a:latin typeface="宋体" pitchFamily="2" charset="-122"/>
              </a:rPr>
              <a:t>被更换。于是下一条指令不是从</a:t>
            </a:r>
            <a:r>
              <a:rPr lang="en-US" altLang="zh-CN" dirty="0">
                <a:latin typeface="宋体" pitchFamily="2" charset="-122"/>
              </a:rPr>
              <a:t>106</a:t>
            </a:r>
            <a:r>
              <a:rPr lang="zh-CN" altLang="en-US">
                <a:latin typeface="宋体" pitchFamily="2" charset="-122"/>
              </a:rPr>
              <a:t>号单元取出，而是转移到</a:t>
            </a:r>
            <a:r>
              <a:rPr lang="en-US" altLang="zh-CN" dirty="0">
                <a:latin typeface="宋体" pitchFamily="2" charset="-122"/>
              </a:rPr>
              <a:t>101</a:t>
            </a:r>
            <a:r>
              <a:rPr lang="zh-CN" altLang="en-US">
                <a:latin typeface="宋体" pitchFamily="2" charset="-122"/>
              </a:rPr>
              <a:t>号单元取出。至此</a:t>
            </a:r>
            <a:r>
              <a:rPr lang="en-US" altLang="zh-CN" dirty="0">
                <a:latin typeface="宋体" pitchFamily="2" charset="-122"/>
              </a:rPr>
              <a:t>JMP</a:t>
            </a:r>
            <a:r>
              <a:rPr lang="zh-CN" altLang="en-US">
                <a:latin typeface="宋体" pitchFamily="2" charset="-122"/>
              </a:rPr>
              <a:t>指令执行周期结束。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checkerboard(across)">
                                      <p:cBhvr>
                                        <p:cTn id="7" dur="500"/>
                                        <p:tgtEl>
                                          <p:spTgt spid="40967"/>
                                        </p:tgtEl>
                                      </p:cBhvr>
                                    </p:animEffect>
                                  </p:childTnLst>
                                  <p:subTnLst>
                                    <p:set>
                                      <p:cBhvr override="childStyle">
                                        <p:cTn dur="1" fill="hold" display="0" masterRel="nextClick" afterEffect="1"/>
                                        <p:tgtEl>
                                          <p:spTgt spid="4096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70"/>
                                        </p:tgtEl>
                                        <p:attrNameLst>
                                          <p:attrName>style.visibility</p:attrName>
                                        </p:attrNameLst>
                                      </p:cBhvr>
                                      <p:to>
                                        <p:strVal val="visible"/>
                                      </p:to>
                                    </p:set>
                                    <p:animEffect transition="in" filter="checkerboard(across)">
                                      <p:cBhvr>
                                        <p:cTn id="12" dur="500"/>
                                        <p:tgtEl>
                                          <p:spTgt spid="40970"/>
                                        </p:tgtEl>
                                      </p:cBhvr>
                                    </p:animEffect>
                                  </p:childTnLst>
                                  <p:subTnLst>
                                    <p:set>
                                      <p:cBhvr override="childStyle">
                                        <p:cTn dur="1" fill="hold" display="0" masterRel="nextClick" afterEffect="1"/>
                                        <p:tgtEl>
                                          <p:spTgt spid="409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animBg="1" autoUpdateAnimBg="0"/>
      <p:bldP spid="4097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20749" y="883406"/>
            <a:ext cx="8525810" cy="517064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indent="-26988">
              <a:lnSpc>
                <a:spcPct val="150000"/>
              </a:lnSpc>
            </a:pPr>
            <a:r>
              <a:rPr lang="zh-CN" altLang="en-US" sz="2200" dirty="0">
                <a:solidFill>
                  <a:schemeClr val="tx1"/>
                </a:solidFill>
                <a:latin typeface="微软雅黑" panose="020B0503020204020204" pitchFamily="34" charset="-122"/>
                <a:ea typeface="微软雅黑" panose="020B0503020204020204" pitchFamily="34" charset="-122"/>
              </a:rPr>
              <a:t>某处理机有两个独立的存储器</a:t>
            </a:r>
            <a:r>
              <a:rPr lang="en-US" altLang="zh-CN" sz="2200" dirty="0">
                <a:solidFill>
                  <a:schemeClr val="tx1"/>
                </a:solidFill>
                <a:latin typeface="微软雅黑" panose="020B0503020204020204" pitchFamily="34" charset="-122"/>
                <a:ea typeface="微软雅黑" panose="020B0503020204020204" pitchFamily="34" charset="-122"/>
              </a:rPr>
              <a:t>IM</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DM</a:t>
            </a:r>
            <a:r>
              <a:rPr lang="zh-CN" altLang="en-US" sz="2200" dirty="0">
                <a:solidFill>
                  <a:schemeClr val="tx1"/>
                </a:solidFill>
                <a:latin typeface="微软雅黑" panose="020B0503020204020204" pitchFamily="34" charset="-122"/>
                <a:ea typeface="微软雅黑" panose="020B0503020204020204" pitchFamily="34" charset="-122"/>
              </a:rPr>
              <a:t>。已知指令存储器</a:t>
            </a:r>
            <a:r>
              <a:rPr lang="en-US" altLang="zh-CN" sz="2200" dirty="0">
                <a:solidFill>
                  <a:schemeClr val="tx1"/>
                </a:solidFill>
                <a:latin typeface="微软雅黑" panose="020B0503020204020204" pitchFamily="34" charset="-122"/>
                <a:ea typeface="微软雅黑" panose="020B0503020204020204" pitchFamily="34" charset="-122"/>
              </a:rPr>
              <a:t>IM</a:t>
            </a:r>
            <a:r>
              <a:rPr lang="zh-CN" altLang="en-US" sz="2200" dirty="0">
                <a:solidFill>
                  <a:schemeClr val="tx1"/>
                </a:solidFill>
                <a:latin typeface="微软雅黑" panose="020B0503020204020204" pitchFamily="34" charset="-122"/>
                <a:ea typeface="微软雅黑" panose="020B0503020204020204" pitchFamily="34" charset="-122"/>
              </a:rPr>
              <a:t>的最大容量为</a:t>
            </a:r>
            <a:r>
              <a:rPr lang="en-US" altLang="zh-CN" sz="2200" dirty="0">
                <a:solidFill>
                  <a:schemeClr val="tx1"/>
                </a:solidFill>
                <a:latin typeface="微软雅黑" panose="020B0503020204020204" pitchFamily="34" charset="-122"/>
                <a:ea typeface="微软雅黑" panose="020B0503020204020204" pitchFamily="34" charset="-122"/>
              </a:rPr>
              <a:t>16384</a:t>
            </a:r>
            <a:r>
              <a:rPr lang="zh-CN" altLang="en-US" sz="2200" dirty="0">
                <a:solidFill>
                  <a:schemeClr val="tx1"/>
                </a:solidFill>
                <a:latin typeface="微软雅黑" panose="020B0503020204020204" pitchFamily="34" charset="-122"/>
                <a:ea typeface="微软雅黑" panose="020B0503020204020204" pitchFamily="34" charset="-122"/>
              </a:rPr>
              <a:t>字（字长</a:t>
            </a:r>
            <a:r>
              <a:rPr lang="en-US" altLang="zh-CN" sz="2200" dirty="0">
                <a:solidFill>
                  <a:schemeClr val="tx1"/>
                </a:solidFill>
                <a:latin typeface="微软雅黑" panose="020B0503020204020204" pitchFamily="34" charset="-122"/>
                <a:ea typeface="微软雅黑" panose="020B0503020204020204" pitchFamily="34" charset="-122"/>
              </a:rPr>
              <a:t>18</a:t>
            </a:r>
            <a:r>
              <a:rPr lang="zh-CN" altLang="en-US" sz="2200" dirty="0">
                <a:solidFill>
                  <a:schemeClr val="tx1"/>
                </a:solidFill>
                <a:latin typeface="微软雅黑" panose="020B0503020204020204" pitchFamily="34" charset="-122"/>
                <a:ea typeface="微软雅黑" panose="020B0503020204020204" pitchFamily="34" charset="-122"/>
              </a:rPr>
              <a:t>位），数据存储器</a:t>
            </a:r>
            <a:r>
              <a:rPr lang="en-US" altLang="zh-CN" sz="2200" dirty="0">
                <a:solidFill>
                  <a:schemeClr val="tx1"/>
                </a:solidFill>
                <a:latin typeface="微软雅黑" panose="020B0503020204020204" pitchFamily="34" charset="-122"/>
                <a:ea typeface="微软雅黑" panose="020B0503020204020204" pitchFamily="34" charset="-122"/>
              </a:rPr>
              <a:t>DM</a:t>
            </a:r>
            <a:r>
              <a:rPr lang="zh-CN" altLang="en-US" sz="2200" dirty="0">
                <a:solidFill>
                  <a:schemeClr val="tx1"/>
                </a:solidFill>
                <a:latin typeface="微软雅黑" panose="020B0503020204020204" pitchFamily="34" charset="-122"/>
                <a:ea typeface="微软雅黑" panose="020B0503020204020204" pitchFamily="34" charset="-122"/>
              </a:rPr>
              <a:t>的最大容量</a:t>
            </a:r>
            <a:r>
              <a:rPr lang="zh-CN" altLang="en-US" sz="2200" dirty="0" smtClean="0">
                <a:solidFill>
                  <a:schemeClr val="tx1"/>
                </a:solidFill>
                <a:latin typeface="微软雅黑" panose="020B0503020204020204" pitchFamily="34" charset="-122"/>
                <a:ea typeface="微软雅黑" panose="020B0503020204020204" pitchFamily="34" charset="-122"/>
              </a:rPr>
              <a:t>为</a:t>
            </a:r>
            <a:r>
              <a:rPr lang="en-US" altLang="zh-CN" sz="2200" dirty="0" smtClean="0">
                <a:solidFill>
                  <a:schemeClr val="tx1"/>
                </a:solidFill>
                <a:latin typeface="微软雅黑" panose="020B0503020204020204" pitchFamily="34" charset="-122"/>
                <a:ea typeface="微软雅黑" panose="020B0503020204020204" pitchFamily="34" charset="-122"/>
              </a:rPr>
              <a:t>32768</a:t>
            </a:r>
            <a:r>
              <a:rPr lang="zh-CN" altLang="en-US" sz="2200" dirty="0" smtClean="0">
                <a:solidFill>
                  <a:schemeClr val="tx1"/>
                </a:solidFill>
                <a:latin typeface="微软雅黑" panose="020B0503020204020204" pitchFamily="34" charset="-122"/>
                <a:ea typeface="微软雅黑" panose="020B0503020204020204" pitchFamily="34" charset="-122"/>
              </a:rPr>
              <a:t>字</a:t>
            </a:r>
            <a:r>
              <a:rPr lang="zh-CN" altLang="en-US" sz="2200" dirty="0">
                <a:solidFill>
                  <a:schemeClr val="tx1"/>
                </a:solidFill>
                <a:latin typeface="微软雅黑" panose="020B0503020204020204" pitchFamily="34" charset="-122"/>
                <a:ea typeface="微软雅黑" panose="020B0503020204020204" pitchFamily="34" charset="-122"/>
              </a:rPr>
              <a:t>（字长</a:t>
            </a:r>
            <a:r>
              <a:rPr lang="en-US" altLang="zh-CN" sz="2200" dirty="0">
                <a:solidFill>
                  <a:schemeClr val="tx1"/>
                </a:solidFill>
                <a:latin typeface="微软雅黑" panose="020B0503020204020204" pitchFamily="34" charset="-122"/>
                <a:ea typeface="微软雅黑" panose="020B0503020204020204" pitchFamily="34" charset="-122"/>
              </a:rPr>
              <a:t>16</a:t>
            </a:r>
            <a:r>
              <a:rPr lang="zh-CN" altLang="en-US" sz="2200" dirty="0">
                <a:solidFill>
                  <a:schemeClr val="tx1"/>
                </a:solidFill>
                <a:latin typeface="微软雅黑" panose="020B0503020204020204" pitchFamily="34" charset="-122"/>
                <a:ea typeface="微软雅黑" panose="020B0503020204020204" pitchFamily="34" charset="-122"/>
              </a:rPr>
              <a:t>位）。</a:t>
            </a:r>
          </a:p>
          <a:p>
            <a:pPr indent="-26988" eaLnBrk="0" hangingPunct="0">
              <a:lnSpc>
                <a:spcPct val="150000"/>
              </a:lnSpc>
            </a:pPr>
            <a:r>
              <a:rPr lang="zh-CN" altLang="en-US" sz="2200" dirty="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分析</a:t>
            </a:r>
            <a:r>
              <a:rPr lang="zh-CN" altLang="en-US" sz="2200" dirty="0">
                <a:solidFill>
                  <a:schemeClr val="tx1"/>
                </a:solidFill>
                <a:latin typeface="微软雅黑" panose="020B0503020204020204" pitchFamily="34" charset="-122"/>
                <a:ea typeface="微软雅黑" panose="020B0503020204020204" pitchFamily="34" charset="-122"/>
              </a:rPr>
              <a:t>下列各寄存器的位数</a:t>
            </a:r>
            <a:r>
              <a:rPr lang="zh-CN" altLang="en-US" sz="2200" dirty="0" smtClean="0">
                <a:solidFill>
                  <a:schemeClr val="tx1"/>
                </a:solidFill>
                <a:latin typeface="微软雅黑" panose="020B0503020204020204" pitchFamily="34" charset="-122"/>
                <a:ea typeface="微软雅黑" panose="020B0503020204020204" pitchFamily="34" charset="-122"/>
              </a:rPr>
              <a:t>：</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程序计数器</a:t>
            </a:r>
            <a:r>
              <a:rPr lang="en-US" altLang="zh-CN" sz="2200" dirty="0" smtClean="0">
                <a:solidFill>
                  <a:schemeClr val="tx1"/>
                </a:solidFill>
                <a:latin typeface="微软雅黑" panose="020B0503020204020204" pitchFamily="34" charset="-122"/>
                <a:ea typeface="微软雅黑" panose="020B0503020204020204" pitchFamily="34" charset="-122"/>
              </a:rPr>
              <a:t>PC</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、指令寄存器</a:t>
            </a:r>
            <a:r>
              <a:rPr lang="en-US" altLang="zh-CN" sz="2200" dirty="0" smtClean="0">
                <a:solidFill>
                  <a:schemeClr val="tx1"/>
                </a:solidFill>
                <a:latin typeface="微软雅黑" panose="020B0503020204020204" pitchFamily="34" charset="-122"/>
                <a:ea typeface="微软雅黑" panose="020B0503020204020204" pitchFamily="34" charset="-122"/>
              </a:rPr>
              <a:t>IR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累加器</a:t>
            </a:r>
            <a:r>
              <a:rPr lang="en-US" altLang="zh-CN" sz="2200" dirty="0">
                <a:solidFill>
                  <a:schemeClr val="tx1"/>
                </a:solidFill>
                <a:latin typeface="微软雅黑" panose="020B0503020204020204" pitchFamily="34" charset="-122"/>
                <a:ea typeface="微软雅黑" panose="020B0503020204020204" pitchFamily="34" charset="-122"/>
              </a:rPr>
              <a:t>AC0</a:t>
            </a:r>
            <a:r>
              <a:rPr lang="zh-CN" altLang="en-US" sz="2200" dirty="0">
                <a:solidFill>
                  <a:schemeClr val="tx1"/>
                </a:solidFill>
                <a:latin typeface="微软雅黑" panose="020B0503020204020204" pitchFamily="34" charset="-122"/>
                <a:ea typeface="微软雅黑" panose="020B0503020204020204" pitchFamily="34" charset="-122"/>
              </a:rPr>
              <a:t>和</a:t>
            </a:r>
            <a:r>
              <a:rPr lang="en-US" altLang="zh-CN" sz="2200" dirty="0" smtClean="0">
                <a:solidFill>
                  <a:schemeClr val="tx1"/>
                </a:solidFill>
                <a:latin typeface="微软雅黑" panose="020B0503020204020204" pitchFamily="34" charset="-122"/>
                <a:ea typeface="微软雅黑" panose="020B0503020204020204" pitchFamily="34" charset="-122"/>
              </a:rPr>
              <a:t>AC1</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、通用寄存器</a:t>
            </a:r>
            <a:r>
              <a:rPr lang="en-US" altLang="zh-CN" sz="2200" dirty="0" smtClean="0">
                <a:solidFill>
                  <a:schemeClr val="tx1"/>
                </a:solidFill>
                <a:latin typeface="微软雅黑" panose="020B0503020204020204" pitchFamily="34" charset="-122"/>
                <a:ea typeface="微软雅黑" panose="020B0503020204020204" pitchFamily="34" charset="-122"/>
              </a:rPr>
              <a:t>R0-R3</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指令</a:t>
            </a:r>
            <a:r>
              <a:rPr lang="zh-CN" altLang="en-US" sz="2200" dirty="0">
                <a:solidFill>
                  <a:schemeClr val="tx1"/>
                </a:solidFill>
                <a:latin typeface="微软雅黑" panose="020B0503020204020204" pitchFamily="34" charset="-122"/>
                <a:ea typeface="微软雅黑" panose="020B0503020204020204" pitchFamily="34" charset="-122"/>
              </a:rPr>
              <a:t>存储器地址寄存器</a:t>
            </a:r>
            <a:r>
              <a:rPr lang="en-US" altLang="zh-CN" sz="2200" dirty="0" smtClean="0">
                <a:solidFill>
                  <a:schemeClr val="tx1"/>
                </a:solidFill>
                <a:latin typeface="微软雅黑" panose="020B0503020204020204" pitchFamily="34" charset="-122"/>
                <a:ea typeface="微软雅黑" panose="020B0503020204020204" pitchFamily="34" charset="-122"/>
              </a:rPr>
              <a:t>IAR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指令</a:t>
            </a:r>
            <a:r>
              <a:rPr lang="zh-CN" altLang="en-US" sz="2200" dirty="0">
                <a:solidFill>
                  <a:schemeClr val="tx1"/>
                </a:solidFill>
                <a:latin typeface="微软雅黑" panose="020B0503020204020204" pitchFamily="34" charset="-122"/>
                <a:ea typeface="微软雅黑" panose="020B0503020204020204" pitchFamily="34" charset="-122"/>
              </a:rPr>
              <a:t>存储器数据寄存器</a:t>
            </a:r>
            <a:r>
              <a:rPr lang="en-US" altLang="zh-CN" sz="2200" dirty="0" smtClean="0">
                <a:solidFill>
                  <a:schemeClr val="tx1"/>
                </a:solidFill>
                <a:latin typeface="微软雅黑" panose="020B0503020204020204" pitchFamily="34" charset="-122"/>
                <a:ea typeface="微软雅黑" panose="020B0503020204020204" pitchFamily="34" charset="-122"/>
              </a:rPr>
              <a:t>IDR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a:solidFill>
                  <a:schemeClr val="tx1"/>
                </a:solidFill>
                <a:latin typeface="微软雅黑" panose="020B0503020204020204" pitchFamily="34" charset="-122"/>
                <a:ea typeface="微软雅黑" panose="020B0503020204020204" pitchFamily="34" charset="-122"/>
              </a:rPr>
              <a:t> </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数据</a:t>
            </a:r>
            <a:r>
              <a:rPr lang="zh-CN" altLang="en-US" sz="2200" dirty="0">
                <a:solidFill>
                  <a:schemeClr val="tx1"/>
                </a:solidFill>
                <a:latin typeface="微软雅黑" panose="020B0503020204020204" pitchFamily="34" charset="-122"/>
                <a:ea typeface="微软雅黑" panose="020B0503020204020204" pitchFamily="34" charset="-122"/>
              </a:rPr>
              <a:t>存储器地址寄存器</a:t>
            </a:r>
            <a:r>
              <a:rPr lang="en-US" altLang="zh-CN" sz="2200" dirty="0" smtClean="0">
                <a:solidFill>
                  <a:schemeClr val="tx1"/>
                </a:solidFill>
                <a:latin typeface="微软雅黑" panose="020B0503020204020204" pitchFamily="34" charset="-122"/>
                <a:ea typeface="微软雅黑" panose="020B0503020204020204" pitchFamily="34" charset="-122"/>
              </a:rPr>
              <a:t>DAR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a:solidFill>
                  <a:schemeClr val="tx1"/>
                </a:solidFill>
                <a:latin typeface="微软雅黑" panose="020B0503020204020204" pitchFamily="34" charset="-122"/>
                <a:ea typeface="微软雅黑" panose="020B0503020204020204" pitchFamily="34" charset="-122"/>
              </a:rPr>
              <a:t> </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endParaRPr lang="en-US" altLang="zh-CN" sz="2200" dirty="0" smtClean="0">
              <a:solidFill>
                <a:schemeClr val="tx1"/>
              </a:solidFill>
              <a:latin typeface="微软雅黑" panose="020B0503020204020204" pitchFamily="34" charset="-122"/>
              <a:ea typeface="微软雅黑" panose="020B0503020204020204" pitchFamily="34" charset="-122"/>
            </a:endParaRPr>
          </a:p>
          <a:p>
            <a:pPr indent="-26988" eaLnBrk="0" hangingPunct="0">
              <a:lnSpc>
                <a:spcPct val="150000"/>
              </a:lnSpc>
            </a:pPr>
            <a:r>
              <a:rPr lang="en-US" altLang="zh-CN" sz="2200" dirty="0">
                <a:solidFill>
                  <a:schemeClr val="tx1"/>
                </a:solidFill>
                <a:latin typeface="微软雅黑" panose="020B0503020204020204" pitchFamily="34" charset="-122"/>
                <a:ea typeface="微软雅黑" panose="020B0503020204020204" pitchFamily="34" charset="-122"/>
              </a:rPr>
              <a:t> </a:t>
            </a:r>
            <a:r>
              <a:rPr lang="en-US" altLang="zh-CN" sz="2200"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数据</a:t>
            </a:r>
            <a:r>
              <a:rPr lang="zh-CN" altLang="en-US" sz="2200" dirty="0">
                <a:solidFill>
                  <a:schemeClr val="tx1"/>
                </a:solidFill>
                <a:latin typeface="微软雅黑" panose="020B0503020204020204" pitchFamily="34" charset="-122"/>
                <a:ea typeface="微软雅黑" panose="020B0503020204020204" pitchFamily="34" charset="-122"/>
              </a:rPr>
              <a:t>存储器数据寄存器</a:t>
            </a:r>
            <a:r>
              <a:rPr lang="en-US" altLang="zh-CN" sz="2200" dirty="0" smtClean="0">
                <a:solidFill>
                  <a:schemeClr val="tx1"/>
                </a:solidFill>
                <a:latin typeface="微软雅黑" panose="020B0503020204020204" pitchFamily="34" charset="-122"/>
                <a:ea typeface="微软雅黑" panose="020B0503020204020204" pitchFamily="34" charset="-122"/>
              </a:rPr>
              <a:t>DDR</a:t>
            </a:r>
            <a:r>
              <a:rPr lang="zh-CN" altLang="en-US" sz="2200" dirty="0" smtClean="0">
                <a:solidFill>
                  <a:schemeClr val="tx1"/>
                </a:solidFill>
                <a:latin typeface="微软雅黑" panose="020B0503020204020204" pitchFamily="34" charset="-122"/>
                <a:ea typeface="微软雅黑" panose="020B0503020204020204" pitchFamily="34" charset="-122"/>
              </a:rPr>
              <a:t>：</a:t>
            </a:r>
            <a:r>
              <a:rPr lang="zh-CN" altLang="en-US" sz="2200" u="sng" dirty="0" smtClean="0">
                <a:solidFill>
                  <a:schemeClr val="tx1"/>
                </a:solidFill>
                <a:latin typeface="微软雅黑" panose="020B0503020204020204" pitchFamily="34" charset="-122"/>
                <a:ea typeface="微软雅黑" panose="020B0503020204020204" pitchFamily="34" charset="-122"/>
              </a:rPr>
              <a:t>                     </a:t>
            </a:r>
            <a:r>
              <a:rPr lang="zh-CN" altLang="en-US" sz="2200" dirty="0" smtClean="0">
                <a:solidFill>
                  <a:schemeClr val="tx1"/>
                </a:solidFill>
                <a:latin typeface="微软雅黑" panose="020B0503020204020204" pitchFamily="34" charset="-122"/>
                <a:ea typeface="微软雅黑" panose="020B0503020204020204" pitchFamily="34" charset="-122"/>
              </a:rPr>
              <a:t> 。</a:t>
            </a:r>
            <a:r>
              <a:rPr lang="zh-CN" altLang="en-US" sz="2200" dirty="0">
                <a:solidFill>
                  <a:schemeClr val="tx1"/>
                </a:solidFill>
                <a:latin typeface="微软雅黑" panose="020B0503020204020204" pitchFamily="34" charset="-122"/>
                <a:ea typeface="微软雅黑" panose="020B0503020204020204" pitchFamily="34" charset="-122"/>
              </a:rPr>
              <a:t> </a:t>
            </a:r>
          </a:p>
        </p:txBody>
      </p:sp>
      <p:sp>
        <p:nvSpPr>
          <p:cNvPr id="4" name="矩形标注 3"/>
          <p:cNvSpPr/>
          <p:nvPr/>
        </p:nvSpPr>
        <p:spPr bwMode="auto">
          <a:xfrm>
            <a:off x="3907258" y="96973"/>
            <a:ext cx="5112568" cy="792088"/>
          </a:xfrm>
          <a:prstGeom prst="wedgeRectCallout">
            <a:avLst>
              <a:gd name="adj1" fmla="val -39172"/>
              <a:gd name="adj2" fmla="val 77744"/>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rtlCol="0" anchor="ctr"/>
          <a:lstStyle/>
          <a:p>
            <a:pPr>
              <a:buClr>
                <a:schemeClr val="bg1"/>
              </a:buClr>
              <a:buSzPct val="70000"/>
              <a:buFont typeface="Wingdings" pitchFamily="2" charset="2"/>
              <a:buNone/>
            </a:pPr>
            <a:r>
              <a:rPr lang="zh-CN" altLang="en-US" sz="2400" dirty="0">
                <a:solidFill>
                  <a:srgbClr val="FF0000"/>
                </a:solidFill>
                <a:latin typeface="微软雅黑" panose="020B0503020204020204" pitchFamily="34" charset="-122"/>
                <a:ea typeface="微软雅黑" panose="020B0503020204020204" pitchFamily="34" charset="-122"/>
              </a:rPr>
              <a:t>指令存储器</a:t>
            </a:r>
            <a:r>
              <a:rPr lang="en-US" altLang="zh-CN" sz="2400" dirty="0">
                <a:solidFill>
                  <a:srgbClr val="FF0000"/>
                </a:solidFill>
                <a:latin typeface="微软雅黑" panose="020B0503020204020204" pitchFamily="34" charset="-122"/>
                <a:ea typeface="微软雅黑" panose="020B0503020204020204" pitchFamily="34" charset="-122"/>
              </a:rPr>
              <a:t>IM</a:t>
            </a:r>
            <a:r>
              <a:rPr lang="zh-CN" altLang="en-US" sz="2400" dirty="0">
                <a:solidFill>
                  <a:srgbClr val="FF0000"/>
                </a:solidFill>
                <a:latin typeface="微软雅黑" panose="020B0503020204020204" pitchFamily="34" charset="-122"/>
                <a:ea typeface="微软雅黑" panose="020B0503020204020204" pitchFamily="34" charset="-122"/>
              </a:rPr>
              <a:t>的最大容量为</a:t>
            </a:r>
            <a:r>
              <a:rPr lang="en-US" altLang="zh-CN" sz="2400" dirty="0">
                <a:solidFill>
                  <a:srgbClr val="FF0000"/>
                </a:solidFill>
                <a:latin typeface="微软雅黑" panose="020B0503020204020204" pitchFamily="34" charset="-122"/>
                <a:ea typeface="微软雅黑" panose="020B0503020204020204" pitchFamily="34" charset="-122"/>
              </a:rPr>
              <a:t>16384</a:t>
            </a:r>
            <a:r>
              <a:rPr lang="zh-CN" altLang="en-US" sz="2400" dirty="0" smtClean="0">
                <a:solidFill>
                  <a:srgbClr val="FF0000"/>
                </a:solidFill>
                <a:latin typeface="微软雅黑" panose="020B0503020204020204" pitchFamily="34" charset="-122"/>
                <a:ea typeface="微软雅黑" panose="020B0503020204020204" pitchFamily="34" charset="-122"/>
              </a:rPr>
              <a:t>字</a:t>
            </a:r>
            <a:endParaRPr lang="en-US" altLang="zh-CN" sz="2400" dirty="0" smtClean="0">
              <a:solidFill>
                <a:srgbClr val="FF0000"/>
              </a:solidFill>
              <a:latin typeface="微软雅黑" panose="020B0503020204020204" pitchFamily="34" charset="-122"/>
              <a:ea typeface="微软雅黑" panose="020B0503020204020204" pitchFamily="34" charset="-122"/>
            </a:endParaRPr>
          </a:p>
          <a:p>
            <a:pPr>
              <a:buClr>
                <a:schemeClr val="bg1"/>
              </a:buClr>
              <a:buSzPct val="70000"/>
              <a:buFont typeface="Wingdings" pitchFamily="2" charset="2"/>
              <a:buNone/>
            </a:pPr>
            <a:r>
              <a:rPr lang="zh-CN" altLang="en-US" sz="2400" dirty="0" smtClean="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2</a:t>
            </a:r>
            <a:r>
              <a:rPr lang="en-US" altLang="zh-CN" sz="2400" baseline="30000" dirty="0">
                <a:solidFill>
                  <a:srgbClr val="FF0000"/>
                </a:solidFill>
                <a:latin typeface="微软雅黑" panose="020B0503020204020204" pitchFamily="34" charset="-122"/>
                <a:ea typeface="微软雅黑" panose="020B0503020204020204" pitchFamily="34" charset="-122"/>
              </a:rPr>
              <a:t>14</a:t>
            </a:r>
            <a:r>
              <a:rPr lang="en-US" altLang="zh-CN" sz="2400" dirty="0">
                <a:solidFill>
                  <a:srgbClr val="FF0000"/>
                </a:solidFill>
                <a:latin typeface="微软雅黑" panose="020B0503020204020204" pitchFamily="34" charset="-122"/>
                <a:ea typeface="微软雅黑" panose="020B0503020204020204" pitchFamily="34" charset="-122"/>
              </a:rPr>
              <a:t>=16384</a:t>
            </a:r>
            <a:r>
              <a:rPr lang="en-US" altLang="zh-CN" sz="2400" dirty="0" smtClean="0">
                <a:solidFill>
                  <a:srgbClr val="FF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字长</a:t>
            </a:r>
            <a:r>
              <a:rPr lang="en-US" altLang="zh-CN" sz="2400" dirty="0">
                <a:solidFill>
                  <a:srgbClr val="FF0000"/>
                </a:solidFill>
                <a:latin typeface="微软雅黑" panose="020B0503020204020204" pitchFamily="34" charset="-122"/>
                <a:ea typeface="微软雅黑" panose="020B0503020204020204" pitchFamily="34" charset="-122"/>
              </a:rPr>
              <a:t>18</a:t>
            </a:r>
            <a:r>
              <a:rPr lang="zh-CN" altLang="en-US" sz="2400" dirty="0">
                <a:solidFill>
                  <a:srgbClr val="FF0000"/>
                </a:solidFill>
                <a:latin typeface="微软雅黑" panose="020B0503020204020204" pitchFamily="34" charset="-122"/>
                <a:ea typeface="微软雅黑" panose="020B0503020204020204" pitchFamily="34" charset="-122"/>
              </a:rPr>
              <a:t>位</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a:xfrm>
            <a:off x="3048257" y="2903690"/>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14</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4881977" y="3899759"/>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14</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6682177" y="2905615"/>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18</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3" name="矩形 12"/>
          <p:cNvSpPr/>
          <p:nvPr/>
        </p:nvSpPr>
        <p:spPr>
          <a:xfrm>
            <a:off x="4883182" y="4437197"/>
            <a:ext cx="986167"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rPr>
              <a:t>18</a:t>
            </a:r>
            <a:r>
              <a:rPr lang="zh-CN" altLang="en-US" sz="2800" dirty="0" smtClean="0">
                <a:solidFill>
                  <a:srgbClr val="FF0000"/>
                </a:solidFill>
                <a:latin typeface="微软雅黑" panose="020B0503020204020204" pitchFamily="34" charset="-122"/>
                <a:ea typeface="微软雅黑" panose="020B0503020204020204" pitchFamily="34" charset="-122"/>
              </a:rPr>
              <a:t>位</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4" name="矩形标注 13"/>
          <p:cNvSpPr/>
          <p:nvPr/>
        </p:nvSpPr>
        <p:spPr bwMode="auto">
          <a:xfrm>
            <a:off x="3779912" y="2111602"/>
            <a:ext cx="5279045" cy="792088"/>
          </a:xfrm>
          <a:prstGeom prst="wedgeRectCallout">
            <a:avLst>
              <a:gd name="adj1" fmla="val -8915"/>
              <a:gd name="adj2" fmla="val -75691"/>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rtlCol="0" anchor="ctr"/>
          <a:lstStyle/>
          <a:p>
            <a:pPr>
              <a:buClr>
                <a:schemeClr val="bg1"/>
              </a:buClr>
              <a:buSzPct val="70000"/>
              <a:buFont typeface="Wingdings" pitchFamily="2" charset="2"/>
              <a:buNone/>
            </a:pPr>
            <a:r>
              <a:rPr lang="zh-CN" altLang="en-US" sz="2400" dirty="0">
                <a:solidFill>
                  <a:srgbClr val="2BCB23"/>
                </a:solidFill>
                <a:latin typeface="微软雅黑" panose="020B0503020204020204" pitchFamily="34" charset="-122"/>
                <a:ea typeface="微软雅黑" panose="020B0503020204020204" pitchFamily="34" charset="-122"/>
              </a:rPr>
              <a:t>数据存储器</a:t>
            </a:r>
            <a:r>
              <a:rPr lang="en-US" altLang="zh-CN" sz="2400" dirty="0">
                <a:solidFill>
                  <a:srgbClr val="2BCB23"/>
                </a:solidFill>
                <a:latin typeface="微软雅黑" panose="020B0503020204020204" pitchFamily="34" charset="-122"/>
                <a:ea typeface="微软雅黑" panose="020B0503020204020204" pitchFamily="34" charset="-122"/>
              </a:rPr>
              <a:t>DM</a:t>
            </a:r>
            <a:r>
              <a:rPr lang="zh-CN" altLang="en-US" sz="2400" dirty="0">
                <a:solidFill>
                  <a:srgbClr val="2BCB23"/>
                </a:solidFill>
                <a:latin typeface="微软雅黑" panose="020B0503020204020204" pitchFamily="34" charset="-122"/>
                <a:ea typeface="微软雅黑" panose="020B0503020204020204" pitchFamily="34" charset="-122"/>
              </a:rPr>
              <a:t>的最大容量</a:t>
            </a:r>
            <a:r>
              <a:rPr lang="zh-CN" altLang="en-US" sz="2400" dirty="0" smtClean="0">
                <a:solidFill>
                  <a:srgbClr val="2BCB23"/>
                </a:solidFill>
                <a:latin typeface="微软雅黑" panose="020B0503020204020204" pitchFamily="34" charset="-122"/>
                <a:ea typeface="微软雅黑" panose="020B0503020204020204" pitchFamily="34" charset="-122"/>
              </a:rPr>
              <a:t>为</a:t>
            </a:r>
            <a:r>
              <a:rPr lang="en-US" altLang="zh-CN" sz="2400" dirty="0" smtClean="0">
                <a:solidFill>
                  <a:srgbClr val="2BCB23"/>
                </a:solidFill>
                <a:latin typeface="微软雅黑" panose="020B0503020204020204" pitchFamily="34" charset="-122"/>
                <a:ea typeface="微软雅黑" panose="020B0503020204020204" pitchFamily="34" charset="-122"/>
              </a:rPr>
              <a:t>32768</a:t>
            </a:r>
            <a:r>
              <a:rPr lang="zh-CN" altLang="en-US" sz="2400" dirty="0" smtClean="0">
                <a:solidFill>
                  <a:srgbClr val="2BCB23"/>
                </a:solidFill>
                <a:latin typeface="微软雅黑" panose="020B0503020204020204" pitchFamily="34" charset="-122"/>
                <a:ea typeface="微软雅黑" panose="020B0503020204020204" pitchFamily="34" charset="-122"/>
              </a:rPr>
              <a:t>字</a:t>
            </a:r>
            <a:endParaRPr lang="en-US" altLang="zh-CN" sz="2400" dirty="0" smtClean="0">
              <a:solidFill>
                <a:srgbClr val="2BCB23"/>
              </a:solidFill>
              <a:latin typeface="微软雅黑" panose="020B0503020204020204" pitchFamily="34" charset="-122"/>
              <a:ea typeface="微软雅黑" panose="020B0503020204020204" pitchFamily="34" charset="-122"/>
            </a:endParaRPr>
          </a:p>
          <a:p>
            <a:pPr>
              <a:buClr>
                <a:schemeClr val="bg1"/>
              </a:buClr>
              <a:buSzPct val="70000"/>
              <a:buFont typeface="Wingdings" pitchFamily="2" charset="2"/>
              <a:buNone/>
            </a:pPr>
            <a:r>
              <a:rPr lang="zh-CN" altLang="en-US" sz="2400" dirty="0" smtClean="0">
                <a:solidFill>
                  <a:srgbClr val="2BCB23"/>
                </a:solidFill>
                <a:latin typeface="微软雅黑" panose="020B0503020204020204" pitchFamily="34" charset="-122"/>
                <a:ea typeface="微软雅黑" panose="020B0503020204020204" pitchFamily="34" charset="-122"/>
              </a:rPr>
              <a:t>（</a:t>
            </a:r>
            <a:r>
              <a:rPr lang="en-US" altLang="zh-CN" sz="2400" dirty="0" smtClean="0">
                <a:solidFill>
                  <a:srgbClr val="2BCB23"/>
                </a:solidFill>
                <a:latin typeface="微软雅黑" panose="020B0503020204020204" pitchFamily="34" charset="-122"/>
                <a:ea typeface="微软雅黑" panose="020B0503020204020204" pitchFamily="34" charset="-122"/>
              </a:rPr>
              <a:t>2</a:t>
            </a:r>
            <a:r>
              <a:rPr lang="en-US" altLang="zh-CN" sz="2400" baseline="30000" dirty="0" smtClean="0">
                <a:solidFill>
                  <a:srgbClr val="2BCB23"/>
                </a:solidFill>
                <a:latin typeface="微软雅黑" panose="020B0503020204020204" pitchFamily="34" charset="-122"/>
                <a:ea typeface="微软雅黑" panose="020B0503020204020204" pitchFamily="34" charset="-122"/>
              </a:rPr>
              <a:t>15</a:t>
            </a:r>
            <a:r>
              <a:rPr lang="en-US" altLang="zh-CN" sz="2400" dirty="0" smtClean="0">
                <a:solidFill>
                  <a:srgbClr val="2BCB23"/>
                </a:solidFill>
                <a:latin typeface="微软雅黑" panose="020B0503020204020204" pitchFamily="34" charset="-122"/>
                <a:ea typeface="微软雅黑" panose="020B0503020204020204" pitchFamily="34" charset="-122"/>
              </a:rPr>
              <a:t>=32768)     </a:t>
            </a:r>
            <a:r>
              <a:rPr lang="zh-CN" altLang="en-US" sz="2400" dirty="0">
                <a:solidFill>
                  <a:srgbClr val="2BCB23"/>
                </a:solidFill>
                <a:latin typeface="微软雅黑" panose="020B0503020204020204" pitchFamily="34" charset="-122"/>
                <a:ea typeface="微软雅黑" panose="020B0503020204020204" pitchFamily="34" charset="-122"/>
              </a:rPr>
              <a:t>字长</a:t>
            </a:r>
            <a:r>
              <a:rPr lang="en-US" altLang="zh-CN" sz="2400" dirty="0">
                <a:solidFill>
                  <a:srgbClr val="2BCB23"/>
                </a:solidFill>
                <a:latin typeface="微软雅黑" panose="020B0503020204020204" pitchFamily="34" charset="-122"/>
                <a:ea typeface="微软雅黑" panose="020B0503020204020204" pitchFamily="34" charset="-122"/>
              </a:rPr>
              <a:t>16</a:t>
            </a:r>
            <a:r>
              <a:rPr lang="zh-CN" altLang="en-US" sz="2400" dirty="0">
                <a:solidFill>
                  <a:srgbClr val="2BCB23"/>
                </a:solidFill>
                <a:latin typeface="微软雅黑" panose="020B0503020204020204" pitchFamily="34" charset="-122"/>
                <a:ea typeface="微软雅黑" panose="020B0503020204020204" pitchFamily="34" charset="-122"/>
              </a:rPr>
              <a:t>位</a:t>
            </a:r>
          </a:p>
        </p:txBody>
      </p:sp>
      <p:sp>
        <p:nvSpPr>
          <p:cNvPr id="15" name="矩形 14"/>
          <p:cNvSpPr/>
          <p:nvPr/>
        </p:nvSpPr>
        <p:spPr>
          <a:xfrm>
            <a:off x="4883182" y="4933579"/>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15</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6" name="矩形 15"/>
          <p:cNvSpPr/>
          <p:nvPr/>
        </p:nvSpPr>
        <p:spPr>
          <a:xfrm>
            <a:off x="3347864" y="3429000"/>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7" name="矩形 16"/>
          <p:cNvSpPr/>
          <p:nvPr/>
        </p:nvSpPr>
        <p:spPr>
          <a:xfrm>
            <a:off x="7076942" y="3430925"/>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
        <p:nvSpPr>
          <p:cNvPr id="18" name="矩形 17"/>
          <p:cNvSpPr/>
          <p:nvPr/>
        </p:nvSpPr>
        <p:spPr>
          <a:xfrm>
            <a:off x="4883182" y="5454241"/>
            <a:ext cx="986167" cy="523220"/>
          </a:xfrm>
          <a:prstGeom prst="rect">
            <a:avLst/>
          </a:prstGeom>
        </p:spPr>
        <p:txBody>
          <a:bodyPr wrap="none">
            <a:spAutoFit/>
          </a:bodyPr>
          <a:lstStyle/>
          <a:p>
            <a:r>
              <a:rPr lang="en-US" altLang="zh-CN" sz="2800" dirty="0" smtClean="0">
                <a:solidFill>
                  <a:srgbClr val="2BCB23"/>
                </a:solidFill>
                <a:latin typeface="微软雅黑" panose="020B0503020204020204" pitchFamily="34" charset="-122"/>
                <a:ea typeface="微软雅黑" panose="020B0503020204020204" pitchFamily="34" charset="-122"/>
              </a:rPr>
              <a:t>16</a:t>
            </a:r>
            <a:r>
              <a:rPr lang="zh-CN" altLang="en-US" sz="2800" dirty="0" smtClean="0">
                <a:solidFill>
                  <a:srgbClr val="2BCB23"/>
                </a:solidFill>
                <a:latin typeface="微软雅黑" panose="020B0503020204020204" pitchFamily="34" charset="-122"/>
                <a:ea typeface="微软雅黑" panose="020B0503020204020204" pitchFamily="34" charset="-122"/>
              </a:rPr>
              <a:t>位</a:t>
            </a:r>
            <a:endParaRPr lang="zh-CN" altLang="en-US" sz="2800" dirty="0">
              <a:solidFill>
                <a:srgbClr val="2BCB2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2102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P spid="12" grpId="0"/>
      <p:bldP spid="13" grpId="0"/>
      <p:bldP spid="14" grpId="0" animBg="1"/>
      <p:bldP spid="15" grpId="0"/>
      <p:bldP spid="16" grpId="0"/>
      <p:bldP spid="17"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p>
            <a:fld id="{12FF4B71-8717-4888-AEE7-88A21B3293BF}" type="slidenum">
              <a:rPr lang="en-US" altLang="zh-CN" smtClean="0"/>
              <a:pPr/>
              <a:t>25</a:t>
            </a:fld>
            <a:endParaRPr lang="en-US" altLang="zh-CN" dirty="0" smtClean="0"/>
          </a:p>
        </p:txBody>
      </p:sp>
      <p:sp>
        <p:nvSpPr>
          <p:cNvPr id="24579" name="Rectangle 2"/>
          <p:cNvSpPr>
            <a:spLocks noGrp="1" noChangeArrowheads="1"/>
          </p:cNvSpPr>
          <p:nvPr>
            <p:ph type="title"/>
          </p:nvPr>
        </p:nvSpPr>
        <p:spPr>
          <a:xfrm>
            <a:off x="468313" y="549275"/>
            <a:ext cx="6696075" cy="569913"/>
          </a:xfrm>
        </p:spPr>
        <p:txBody>
          <a:bodyPr/>
          <a:lstStyle/>
          <a:p>
            <a:pPr eaLnBrk="1" hangingPunct="1"/>
            <a:r>
              <a:rPr lang="en-US" altLang="zh-CN" sz="3000" dirty="0" smtClean="0"/>
              <a:t>5.2.7 </a:t>
            </a:r>
            <a:r>
              <a:rPr lang="zh-CN" altLang="en-US" sz="3000" smtClean="0"/>
              <a:t>用方框图语言表示的指令周期</a:t>
            </a:r>
          </a:p>
        </p:txBody>
      </p:sp>
      <p:sp>
        <p:nvSpPr>
          <p:cNvPr id="24580" name="Rectangle 4"/>
          <p:cNvSpPr>
            <a:spLocks noChangeArrowheads="1"/>
          </p:cNvSpPr>
          <p:nvPr/>
        </p:nvSpPr>
        <p:spPr bwMode="auto">
          <a:xfrm>
            <a:off x="539750" y="1484313"/>
            <a:ext cx="7273925" cy="1373187"/>
          </a:xfrm>
          <a:prstGeom prst="rect">
            <a:avLst/>
          </a:prstGeom>
          <a:noFill/>
          <a:ln w="12700" cap="sq">
            <a:noFill/>
            <a:miter lim="800000"/>
            <a:headEnd type="none" w="sm" len="sm"/>
            <a:tailEnd type="none" w="sm" len="sm"/>
          </a:ln>
        </p:spPr>
        <p:txBody>
          <a:bodyPr>
            <a:spAutoFit/>
          </a:bodyPr>
          <a:lstStyle/>
          <a:p>
            <a:r>
              <a:rPr lang="en-US" altLang="zh-CN" sz="2800" dirty="0">
                <a:solidFill>
                  <a:schemeClr val="tx1"/>
                </a:solidFill>
                <a:latin typeface="宋体" pitchFamily="2" charset="-122"/>
              </a:rPr>
              <a:t>    </a:t>
            </a:r>
            <a:r>
              <a:rPr lang="zh-CN" altLang="en-US" sz="2800">
                <a:solidFill>
                  <a:schemeClr val="tx1"/>
                </a:solidFill>
                <a:latin typeface="宋体" pitchFamily="2" charset="-122"/>
              </a:rPr>
              <a:t>在进行计算机设计时，可以采用方框图语言来表示一条指令的指令周期。</a:t>
            </a:r>
            <a:endParaRPr lang="zh-CN" altLang="en-US" sz="2800" b="0">
              <a:solidFill>
                <a:schemeClr val="tx1"/>
              </a:solidFill>
              <a:latin typeface="宋体" pitchFamily="2" charset="-122"/>
            </a:endParaRPr>
          </a:p>
          <a:p>
            <a:pPr lvl="1"/>
            <a:r>
              <a:rPr lang="zh-CN" altLang="en-US" sz="2800" b="0">
                <a:solidFill>
                  <a:schemeClr val="tx1"/>
                </a:solidFill>
                <a:latin typeface="宋体" pitchFamily="2" charset="-122"/>
              </a:rPr>
              <a:t> 前边所讲述的</a:t>
            </a:r>
            <a:r>
              <a:rPr lang="en-US" altLang="zh-CN" sz="2800" b="0" dirty="0">
                <a:solidFill>
                  <a:schemeClr val="tx1"/>
                </a:solidFill>
                <a:latin typeface="宋体" pitchFamily="2" charset="-122"/>
              </a:rPr>
              <a:t>5</a:t>
            </a:r>
            <a:r>
              <a:rPr lang="zh-CN" altLang="en-US" sz="2800" b="0">
                <a:solidFill>
                  <a:schemeClr val="tx1"/>
                </a:solidFill>
                <a:latin typeface="宋体" pitchFamily="2" charset="-122"/>
              </a:rPr>
              <a:t>种操作的框图描述</a:t>
            </a:r>
            <a:r>
              <a:rPr lang="zh-CN" altLang="en-US" sz="2800">
                <a:solidFill>
                  <a:schemeClr val="tx1"/>
                </a:solidFill>
                <a:latin typeface="宋体" pitchFamily="2" charset="-122"/>
              </a:rPr>
              <a:t>。 </a:t>
            </a:r>
            <a:endParaRPr lang="zh-CN" altLang="en-US" sz="2800" b="0">
              <a:solidFill>
                <a:schemeClr val="tx1"/>
              </a:solidFill>
              <a:latin typeface="宋体" pitchFamily="2" charset="-122"/>
            </a:endParaRPr>
          </a:p>
        </p:txBody>
      </p:sp>
      <p:sp>
        <p:nvSpPr>
          <p:cNvPr id="24581" name="Rectangle 5"/>
          <p:cNvSpPr>
            <a:spLocks noChangeArrowheads="1"/>
          </p:cNvSpPr>
          <p:nvPr/>
        </p:nvSpPr>
        <p:spPr bwMode="auto">
          <a:xfrm>
            <a:off x="395288" y="2997200"/>
            <a:ext cx="6913562" cy="2654300"/>
          </a:xfrm>
          <a:prstGeom prst="rect">
            <a:avLst/>
          </a:prstGeom>
          <a:noFill/>
          <a:ln w="12700" cap="sq">
            <a:noFill/>
            <a:miter lim="800000"/>
            <a:headEnd type="none" w="sm" len="sm"/>
            <a:tailEnd type="none" w="sm" len="sm"/>
          </a:ln>
        </p:spPr>
        <p:txBody>
          <a:bodyPr>
            <a:spAutoFit/>
          </a:bodyPr>
          <a:lstStyle/>
          <a:p>
            <a:pPr lvl="1"/>
            <a:r>
              <a:rPr lang="en-US" altLang="zh-CN" sz="2800" dirty="0">
                <a:solidFill>
                  <a:schemeClr val="tx1"/>
                </a:solidFill>
                <a:latin typeface="宋体" pitchFamily="2" charset="-122"/>
              </a:rPr>
              <a:t>    </a:t>
            </a:r>
            <a:r>
              <a:rPr lang="zh-CN" altLang="en-US" sz="2800">
                <a:solidFill>
                  <a:schemeClr val="tx1"/>
                </a:solidFill>
                <a:latin typeface="宋体" pitchFamily="2" charset="-122"/>
              </a:rPr>
              <a:t>方框</a:t>
            </a:r>
            <a:r>
              <a:rPr lang="en-US" altLang="zh-CN" sz="2800" dirty="0">
                <a:solidFill>
                  <a:schemeClr val="tx1"/>
                </a:solidFill>
                <a:latin typeface="宋体" pitchFamily="2" charset="-122"/>
              </a:rPr>
              <a:t>:</a:t>
            </a:r>
            <a:r>
              <a:rPr lang="zh-CN" altLang="en-US" sz="2800" b="0">
                <a:solidFill>
                  <a:schemeClr val="tx1"/>
                </a:solidFill>
                <a:latin typeface="宋体" pitchFamily="2" charset="-122"/>
              </a:rPr>
              <a:t>代表一个</a:t>
            </a:r>
            <a:r>
              <a:rPr lang="en-US" altLang="zh-CN" sz="2800" b="0" dirty="0">
                <a:solidFill>
                  <a:schemeClr val="tx1"/>
                </a:solidFill>
                <a:latin typeface="宋体" pitchFamily="2" charset="-122"/>
              </a:rPr>
              <a:t>CPU</a:t>
            </a:r>
            <a:r>
              <a:rPr lang="zh-CN" altLang="en-US" sz="2800" b="0">
                <a:solidFill>
                  <a:schemeClr val="tx1"/>
                </a:solidFill>
                <a:latin typeface="宋体" pitchFamily="2" charset="-122"/>
              </a:rPr>
              <a:t>周期，方框中的内容表示数据通路的操作或某种控制操作。 </a:t>
            </a:r>
            <a:endParaRPr lang="zh-CN" altLang="en-US" sz="2800">
              <a:solidFill>
                <a:schemeClr val="tx1"/>
              </a:solidFill>
              <a:latin typeface="宋体" pitchFamily="2" charset="-122"/>
            </a:endParaRPr>
          </a:p>
          <a:p>
            <a:pPr lvl="1"/>
            <a:r>
              <a:rPr lang="zh-CN" altLang="en-US" sz="2800">
                <a:solidFill>
                  <a:schemeClr val="tx1"/>
                </a:solidFill>
                <a:latin typeface="宋体" pitchFamily="2" charset="-122"/>
              </a:rPr>
              <a:t>    菱形</a:t>
            </a:r>
            <a:r>
              <a:rPr lang="en-US" altLang="zh-CN" sz="2800" dirty="0">
                <a:solidFill>
                  <a:schemeClr val="tx1"/>
                </a:solidFill>
                <a:latin typeface="宋体" pitchFamily="2" charset="-122"/>
              </a:rPr>
              <a:t>:</a:t>
            </a:r>
            <a:r>
              <a:rPr lang="zh-CN" altLang="en-US" sz="2800" b="0">
                <a:solidFill>
                  <a:schemeClr val="tx1"/>
                </a:solidFill>
                <a:latin typeface="宋体" pitchFamily="2" charset="-122"/>
              </a:rPr>
              <a:t>通常用来表示某种判别或测试，不过时间上它依附于紧接它的前面一个方框的</a:t>
            </a:r>
            <a:r>
              <a:rPr lang="en-US" altLang="zh-CN" sz="2800" b="0" dirty="0">
                <a:solidFill>
                  <a:schemeClr val="tx1"/>
                </a:solidFill>
                <a:latin typeface="宋体" pitchFamily="2" charset="-122"/>
              </a:rPr>
              <a:t>CPU</a:t>
            </a:r>
            <a:r>
              <a:rPr lang="zh-CN" altLang="en-US" sz="2800" b="0">
                <a:solidFill>
                  <a:schemeClr val="tx1"/>
                </a:solidFill>
                <a:latin typeface="宋体" pitchFamily="2" charset="-122"/>
              </a:rPr>
              <a:t>周期，而不单独占用一个</a:t>
            </a:r>
            <a:r>
              <a:rPr lang="en-US" altLang="zh-CN" sz="2800" b="0" dirty="0">
                <a:solidFill>
                  <a:schemeClr val="tx1"/>
                </a:solidFill>
                <a:latin typeface="宋体" pitchFamily="2" charset="-122"/>
              </a:rPr>
              <a:t>CPU</a:t>
            </a:r>
            <a:r>
              <a:rPr lang="zh-CN" altLang="en-US" sz="2800" b="0">
                <a:solidFill>
                  <a:schemeClr val="tx1"/>
                </a:solidFill>
                <a:latin typeface="宋体" pitchFamily="2" charset="-122"/>
              </a:rPr>
              <a:t>周期。 </a:t>
            </a:r>
          </a:p>
          <a:p>
            <a:pPr lvl="1"/>
            <a:r>
              <a:rPr lang="zh-CN" altLang="en-US" sz="2800" b="0">
                <a:solidFill>
                  <a:schemeClr val="tx1"/>
                </a:solidFill>
                <a:latin typeface="宋体" pitchFamily="2" charset="-122"/>
              </a:rPr>
              <a:t>     </a:t>
            </a:r>
            <a:r>
              <a:rPr lang="en-US" altLang="zh-CN" sz="2800" dirty="0">
                <a:solidFill>
                  <a:schemeClr val="tx1"/>
                </a:solidFill>
                <a:latin typeface="宋体" pitchFamily="2" charset="-122"/>
              </a:rPr>
              <a:t>~ :</a:t>
            </a:r>
            <a:r>
              <a:rPr lang="zh-CN" altLang="en-US" sz="2800" b="0">
                <a:solidFill>
                  <a:schemeClr val="tx1"/>
                </a:solidFill>
                <a:latin typeface="宋体" pitchFamily="2" charset="-122"/>
              </a:rPr>
              <a:t>公操作</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p>
            <a:fld id="{AAF36A5C-C87B-4426-A6DB-98919B5CFCE2}" type="slidenum">
              <a:rPr lang="en-US" altLang="zh-CN" smtClean="0"/>
              <a:pPr/>
              <a:t>26</a:t>
            </a:fld>
            <a:endParaRPr lang="en-US" altLang="zh-CN" dirty="0" smtClean="0"/>
          </a:p>
        </p:txBody>
      </p:sp>
      <p:pic>
        <p:nvPicPr>
          <p:cNvPr id="25603" name="Picture 4" descr="5a1"/>
          <p:cNvPicPr>
            <a:picLocks noChangeAspect="1" noChangeArrowheads="1"/>
          </p:cNvPicPr>
          <p:nvPr/>
        </p:nvPicPr>
        <p:blipFill>
          <a:blip r:embed="rId2"/>
          <a:srcRect/>
          <a:stretch>
            <a:fillRect/>
          </a:stretch>
        </p:blipFill>
        <p:spPr bwMode="auto">
          <a:xfrm>
            <a:off x="250825" y="692150"/>
            <a:ext cx="7993063" cy="5688013"/>
          </a:xfrm>
          <a:prstGeom prst="rect">
            <a:avLst/>
          </a:prstGeom>
          <a:noFill/>
          <a:ln w="9525">
            <a:noFill/>
            <a:miter lim="800000"/>
            <a:headEnd/>
            <a:tailEnd/>
          </a:ln>
        </p:spPr>
      </p:pic>
      <p:grpSp>
        <p:nvGrpSpPr>
          <p:cNvPr id="2" name="Group 9"/>
          <p:cNvGrpSpPr>
            <a:grpSpLocks/>
          </p:cNvGrpSpPr>
          <p:nvPr/>
        </p:nvGrpSpPr>
        <p:grpSpPr bwMode="auto">
          <a:xfrm>
            <a:off x="1331913" y="765175"/>
            <a:ext cx="4679950" cy="3209925"/>
            <a:chOff x="567" y="255"/>
            <a:chExt cx="2948" cy="2022"/>
          </a:xfrm>
        </p:grpSpPr>
        <p:pic>
          <p:nvPicPr>
            <p:cNvPr id="25620" name="Picture 7"/>
            <p:cNvPicPr>
              <a:picLocks noChangeAspect="1" noChangeArrowheads="1"/>
            </p:cNvPicPr>
            <p:nvPr/>
          </p:nvPicPr>
          <p:blipFill>
            <a:blip r:embed="rId3"/>
            <a:srcRect/>
            <a:stretch>
              <a:fillRect/>
            </a:stretch>
          </p:blipFill>
          <p:spPr bwMode="auto">
            <a:xfrm>
              <a:off x="567" y="255"/>
              <a:ext cx="1421" cy="2022"/>
            </a:xfrm>
            <a:prstGeom prst="rect">
              <a:avLst/>
            </a:prstGeom>
            <a:noFill/>
            <a:ln w="28575">
              <a:solidFill>
                <a:srgbClr val="EE2200"/>
              </a:solidFill>
              <a:miter lim="800000"/>
              <a:headEnd/>
              <a:tailEnd/>
            </a:ln>
          </p:spPr>
        </p:pic>
        <p:sp>
          <p:nvSpPr>
            <p:cNvPr id="25621" name="Line 8"/>
            <p:cNvSpPr>
              <a:spLocks noChangeShapeType="1"/>
            </p:cNvSpPr>
            <p:nvPr/>
          </p:nvSpPr>
          <p:spPr bwMode="auto">
            <a:xfrm>
              <a:off x="1973" y="1117"/>
              <a:ext cx="1542" cy="998"/>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3" name="Group 12"/>
          <p:cNvGrpSpPr>
            <a:grpSpLocks/>
          </p:cNvGrpSpPr>
          <p:nvPr/>
        </p:nvGrpSpPr>
        <p:grpSpPr bwMode="auto">
          <a:xfrm>
            <a:off x="2916238" y="1989138"/>
            <a:ext cx="3457575" cy="4464050"/>
            <a:chOff x="2018" y="1253"/>
            <a:chExt cx="1996" cy="2812"/>
          </a:xfrm>
        </p:grpSpPr>
        <p:pic>
          <p:nvPicPr>
            <p:cNvPr id="25618" name="Picture 10"/>
            <p:cNvPicPr>
              <a:picLocks noChangeAspect="1" noChangeArrowheads="1"/>
            </p:cNvPicPr>
            <p:nvPr/>
          </p:nvPicPr>
          <p:blipFill>
            <a:blip r:embed="rId4"/>
            <a:srcRect/>
            <a:stretch>
              <a:fillRect/>
            </a:stretch>
          </p:blipFill>
          <p:spPr bwMode="auto">
            <a:xfrm>
              <a:off x="2018" y="2659"/>
              <a:ext cx="1497" cy="1406"/>
            </a:xfrm>
            <a:prstGeom prst="rect">
              <a:avLst/>
            </a:prstGeom>
            <a:noFill/>
            <a:ln w="28575">
              <a:solidFill>
                <a:srgbClr val="EE2200"/>
              </a:solidFill>
              <a:miter lim="800000"/>
              <a:headEnd/>
              <a:tailEnd/>
            </a:ln>
          </p:spPr>
        </p:pic>
        <p:sp>
          <p:nvSpPr>
            <p:cNvPr id="25619" name="Line 11"/>
            <p:cNvSpPr>
              <a:spLocks noChangeShapeType="1"/>
            </p:cNvSpPr>
            <p:nvPr/>
          </p:nvSpPr>
          <p:spPr bwMode="auto">
            <a:xfrm flipV="1">
              <a:off x="3515" y="1253"/>
              <a:ext cx="499" cy="1406"/>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4" name="Group 16"/>
          <p:cNvGrpSpPr>
            <a:grpSpLocks/>
          </p:cNvGrpSpPr>
          <p:nvPr/>
        </p:nvGrpSpPr>
        <p:grpSpPr bwMode="auto">
          <a:xfrm>
            <a:off x="2627313" y="1916113"/>
            <a:ext cx="3602037" cy="2879725"/>
            <a:chOff x="-1903" y="118"/>
            <a:chExt cx="2269" cy="1814"/>
          </a:xfrm>
        </p:grpSpPr>
        <p:pic>
          <p:nvPicPr>
            <p:cNvPr id="25616" name="Picture 13"/>
            <p:cNvPicPr>
              <a:picLocks noChangeAspect="1" noChangeArrowheads="1"/>
            </p:cNvPicPr>
            <p:nvPr/>
          </p:nvPicPr>
          <p:blipFill>
            <a:blip r:embed="rId5"/>
            <a:srcRect/>
            <a:stretch>
              <a:fillRect/>
            </a:stretch>
          </p:blipFill>
          <p:spPr bwMode="auto">
            <a:xfrm>
              <a:off x="-1903" y="118"/>
              <a:ext cx="1293" cy="1814"/>
            </a:xfrm>
            <a:prstGeom prst="rect">
              <a:avLst/>
            </a:prstGeom>
            <a:noFill/>
            <a:ln w="28575">
              <a:solidFill>
                <a:srgbClr val="EE2200"/>
              </a:solidFill>
              <a:miter lim="800000"/>
              <a:headEnd/>
              <a:tailEnd/>
            </a:ln>
          </p:spPr>
        </p:pic>
        <p:sp>
          <p:nvSpPr>
            <p:cNvPr id="25617" name="Line 14"/>
            <p:cNvSpPr>
              <a:spLocks noChangeShapeType="1"/>
            </p:cNvSpPr>
            <p:nvPr/>
          </p:nvSpPr>
          <p:spPr bwMode="auto">
            <a:xfrm flipV="1">
              <a:off x="-587" y="300"/>
              <a:ext cx="953" cy="953"/>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5" name="Group 19"/>
          <p:cNvGrpSpPr>
            <a:grpSpLocks/>
          </p:cNvGrpSpPr>
          <p:nvPr/>
        </p:nvGrpSpPr>
        <p:grpSpPr bwMode="auto">
          <a:xfrm>
            <a:off x="6300788" y="2420938"/>
            <a:ext cx="2439987" cy="3533775"/>
            <a:chOff x="3969" y="1525"/>
            <a:chExt cx="1537" cy="2226"/>
          </a:xfrm>
        </p:grpSpPr>
        <p:pic>
          <p:nvPicPr>
            <p:cNvPr id="25614" name="Picture 17"/>
            <p:cNvPicPr>
              <a:picLocks noChangeAspect="1" noChangeArrowheads="1"/>
            </p:cNvPicPr>
            <p:nvPr/>
          </p:nvPicPr>
          <p:blipFill>
            <a:blip r:embed="rId6"/>
            <a:srcRect/>
            <a:stretch>
              <a:fillRect/>
            </a:stretch>
          </p:blipFill>
          <p:spPr bwMode="auto">
            <a:xfrm>
              <a:off x="3969" y="2296"/>
              <a:ext cx="1537" cy="1455"/>
            </a:xfrm>
            <a:prstGeom prst="rect">
              <a:avLst/>
            </a:prstGeom>
            <a:noFill/>
            <a:ln w="28575">
              <a:solidFill>
                <a:srgbClr val="EE2200"/>
              </a:solidFill>
              <a:miter lim="800000"/>
              <a:headEnd/>
              <a:tailEnd/>
            </a:ln>
          </p:spPr>
        </p:pic>
        <p:sp>
          <p:nvSpPr>
            <p:cNvPr id="25615" name="Line 18"/>
            <p:cNvSpPr>
              <a:spLocks noChangeShapeType="1"/>
            </p:cNvSpPr>
            <p:nvPr/>
          </p:nvSpPr>
          <p:spPr bwMode="auto">
            <a:xfrm flipV="1">
              <a:off x="4241" y="1525"/>
              <a:ext cx="0" cy="771"/>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6" name="Group 22"/>
          <p:cNvGrpSpPr>
            <a:grpSpLocks/>
          </p:cNvGrpSpPr>
          <p:nvPr/>
        </p:nvGrpSpPr>
        <p:grpSpPr bwMode="auto">
          <a:xfrm>
            <a:off x="7235825" y="2565400"/>
            <a:ext cx="1641475" cy="3889375"/>
            <a:chOff x="4558" y="1616"/>
            <a:chExt cx="1034" cy="2450"/>
          </a:xfrm>
        </p:grpSpPr>
        <p:pic>
          <p:nvPicPr>
            <p:cNvPr id="25612" name="Picture 20"/>
            <p:cNvPicPr>
              <a:picLocks noChangeAspect="1" noChangeArrowheads="1"/>
            </p:cNvPicPr>
            <p:nvPr/>
          </p:nvPicPr>
          <p:blipFill>
            <a:blip r:embed="rId7"/>
            <a:srcRect/>
            <a:stretch>
              <a:fillRect/>
            </a:stretch>
          </p:blipFill>
          <p:spPr bwMode="auto">
            <a:xfrm>
              <a:off x="4558" y="2069"/>
              <a:ext cx="1034" cy="1997"/>
            </a:xfrm>
            <a:prstGeom prst="rect">
              <a:avLst/>
            </a:prstGeom>
            <a:noFill/>
            <a:ln w="28575">
              <a:solidFill>
                <a:srgbClr val="EE2200"/>
              </a:solidFill>
              <a:miter lim="800000"/>
              <a:headEnd/>
              <a:tailEnd/>
            </a:ln>
          </p:spPr>
        </p:pic>
        <p:sp>
          <p:nvSpPr>
            <p:cNvPr id="25613" name="Line 21"/>
            <p:cNvSpPr>
              <a:spLocks noChangeShapeType="1"/>
            </p:cNvSpPr>
            <p:nvPr/>
          </p:nvSpPr>
          <p:spPr bwMode="auto">
            <a:xfrm flipV="1">
              <a:off x="4558" y="1616"/>
              <a:ext cx="0" cy="453"/>
            </a:xfrm>
            <a:prstGeom prst="line">
              <a:avLst/>
            </a:prstGeom>
            <a:noFill/>
            <a:ln w="28575" cap="sq">
              <a:solidFill>
                <a:srgbClr val="EE2200"/>
              </a:solidFill>
              <a:round/>
              <a:headEnd type="none" w="sm" len="sm"/>
              <a:tailEnd type="stealth" w="lg" len="lg"/>
            </a:ln>
          </p:spPr>
          <p:txBody>
            <a:bodyPr wrap="none"/>
            <a:lstStyle/>
            <a:p>
              <a:endParaRPr lang="zh-CN" altLang="en-US"/>
            </a:p>
          </p:txBody>
        </p:sp>
      </p:grpSp>
      <p:grpSp>
        <p:nvGrpSpPr>
          <p:cNvPr id="7" name="Group 25"/>
          <p:cNvGrpSpPr>
            <a:grpSpLocks/>
          </p:cNvGrpSpPr>
          <p:nvPr/>
        </p:nvGrpSpPr>
        <p:grpSpPr bwMode="auto">
          <a:xfrm>
            <a:off x="3059113" y="404813"/>
            <a:ext cx="3025775" cy="2384425"/>
            <a:chOff x="1927" y="119"/>
            <a:chExt cx="1906" cy="1502"/>
          </a:xfrm>
        </p:grpSpPr>
        <p:pic>
          <p:nvPicPr>
            <p:cNvPr id="25610" name="Picture 23"/>
            <p:cNvPicPr>
              <a:picLocks noChangeAspect="1" noChangeArrowheads="1"/>
            </p:cNvPicPr>
            <p:nvPr/>
          </p:nvPicPr>
          <p:blipFill>
            <a:blip r:embed="rId8"/>
            <a:srcRect/>
            <a:stretch>
              <a:fillRect/>
            </a:stretch>
          </p:blipFill>
          <p:spPr bwMode="auto">
            <a:xfrm>
              <a:off x="1927" y="119"/>
              <a:ext cx="1633" cy="1502"/>
            </a:xfrm>
            <a:prstGeom prst="rect">
              <a:avLst/>
            </a:prstGeom>
            <a:noFill/>
            <a:ln w="28575">
              <a:solidFill>
                <a:srgbClr val="EE2200"/>
              </a:solidFill>
              <a:miter lim="800000"/>
              <a:headEnd/>
              <a:tailEnd/>
            </a:ln>
          </p:spPr>
        </p:pic>
        <p:sp>
          <p:nvSpPr>
            <p:cNvPr id="25611" name="Line 24"/>
            <p:cNvSpPr>
              <a:spLocks noChangeShapeType="1"/>
            </p:cNvSpPr>
            <p:nvPr/>
          </p:nvSpPr>
          <p:spPr bwMode="auto">
            <a:xfrm>
              <a:off x="3560" y="1616"/>
              <a:ext cx="273" cy="0"/>
            </a:xfrm>
            <a:prstGeom prst="line">
              <a:avLst/>
            </a:prstGeom>
            <a:noFill/>
            <a:ln w="28575" cap="sq">
              <a:solidFill>
                <a:srgbClr val="EE2200"/>
              </a:solidFill>
              <a:round/>
              <a:headEnd type="none" w="sm" len="sm"/>
              <a:tailEnd type="stealth" w="lg" len="lg"/>
            </a:ln>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3EF34430-8BAA-435A-AE07-621C05EBEDF9}" type="slidenum">
              <a:rPr lang="en-US" altLang="zh-CN" smtClean="0"/>
              <a:pPr/>
              <a:t>27</a:t>
            </a:fld>
            <a:endParaRPr lang="en-US" altLang="zh-CN" dirty="0" smtClean="0"/>
          </a:p>
        </p:txBody>
      </p:sp>
      <p:sp>
        <p:nvSpPr>
          <p:cNvPr id="26627" name="Rectangle 2"/>
          <p:cNvSpPr>
            <a:spLocks noGrp="1" noChangeArrowheads="1"/>
          </p:cNvSpPr>
          <p:nvPr>
            <p:ph type="title"/>
          </p:nvPr>
        </p:nvSpPr>
        <p:spPr>
          <a:xfrm>
            <a:off x="468313" y="260350"/>
            <a:ext cx="7543800" cy="647700"/>
          </a:xfrm>
        </p:spPr>
        <p:txBody>
          <a:bodyPr/>
          <a:lstStyle/>
          <a:p>
            <a:pPr eaLnBrk="1" hangingPunct="1"/>
            <a:r>
              <a:rPr lang="en-US" altLang="zh-CN" sz="3500" dirty="0" smtClean="0">
                <a:latin typeface="宋体" pitchFamily="2" charset="-122"/>
              </a:rPr>
              <a:t>5.2.7 </a:t>
            </a:r>
            <a:r>
              <a:rPr lang="zh-CN" altLang="en-US" sz="3500" smtClean="0">
                <a:latin typeface="宋体" pitchFamily="2" charset="-122"/>
              </a:rPr>
              <a:t>方框图表示指令周期</a:t>
            </a:r>
          </a:p>
        </p:txBody>
      </p:sp>
      <p:pic>
        <p:nvPicPr>
          <p:cNvPr id="26628" name="Picture 3" descr="5a14"/>
          <p:cNvPicPr>
            <a:picLocks noGrp="1" noChangeAspect="1" noChangeArrowheads="1"/>
          </p:cNvPicPr>
          <p:nvPr>
            <p:ph type="body" idx="1"/>
          </p:nvPr>
        </p:nvPicPr>
        <p:blipFill>
          <a:blip r:embed="rId2"/>
          <a:srcRect/>
          <a:stretch>
            <a:fillRect/>
          </a:stretch>
        </p:blipFill>
        <p:spPr>
          <a:xfrm>
            <a:off x="611188" y="1125538"/>
            <a:ext cx="6913562" cy="5008562"/>
          </a:xfrm>
        </p:spPr>
      </p:pic>
      <p:sp>
        <p:nvSpPr>
          <p:cNvPr id="26629" name="Line 4"/>
          <p:cNvSpPr>
            <a:spLocks noChangeShapeType="1"/>
          </p:cNvSpPr>
          <p:nvPr/>
        </p:nvSpPr>
        <p:spPr bwMode="auto">
          <a:xfrm>
            <a:off x="827088" y="3860800"/>
            <a:ext cx="7488237" cy="0"/>
          </a:xfrm>
          <a:prstGeom prst="line">
            <a:avLst/>
          </a:prstGeom>
          <a:noFill/>
          <a:ln w="12700">
            <a:solidFill>
              <a:schemeClr val="tx1"/>
            </a:solidFill>
            <a:prstDash val="dashDot"/>
            <a:round/>
            <a:headEnd type="none" w="sm" len="sm"/>
            <a:tailEnd type="none" w="sm" len="sm"/>
          </a:ln>
        </p:spPr>
        <p:txBody>
          <a:bodyPr wrap="none"/>
          <a:lstStyle/>
          <a:p>
            <a:endParaRPr lang="zh-CN" altLang="en-US"/>
          </a:p>
        </p:txBody>
      </p:sp>
      <p:sp>
        <p:nvSpPr>
          <p:cNvPr id="26630" name="Text Box 5"/>
          <p:cNvSpPr txBox="1">
            <a:spLocks noChangeArrowheads="1"/>
          </p:cNvSpPr>
          <p:nvPr/>
        </p:nvSpPr>
        <p:spPr bwMode="auto">
          <a:xfrm>
            <a:off x="7812088" y="3284538"/>
            <a:ext cx="641350" cy="366712"/>
          </a:xfrm>
          <a:prstGeom prst="rect">
            <a:avLst/>
          </a:prstGeom>
          <a:noFill/>
          <a:ln w="12700" cap="sq">
            <a:noFill/>
            <a:miter lim="800000"/>
            <a:headEnd type="none" w="sm" len="sm"/>
            <a:tailEnd type="none" w="sm" len="sm"/>
          </a:ln>
        </p:spPr>
        <p:txBody>
          <a:bodyPr wrap="none">
            <a:spAutoFit/>
          </a:bodyPr>
          <a:lstStyle/>
          <a:p>
            <a:r>
              <a:rPr lang="zh-CN" altLang="en-US" b="0">
                <a:solidFill>
                  <a:schemeClr val="tx1"/>
                </a:solidFill>
              </a:rPr>
              <a:t>取指</a:t>
            </a:r>
          </a:p>
        </p:txBody>
      </p:sp>
      <p:sp>
        <p:nvSpPr>
          <p:cNvPr id="26631" name="Text Box 6"/>
          <p:cNvSpPr txBox="1">
            <a:spLocks noChangeArrowheads="1"/>
          </p:cNvSpPr>
          <p:nvPr/>
        </p:nvSpPr>
        <p:spPr bwMode="auto">
          <a:xfrm>
            <a:off x="7812088" y="3933825"/>
            <a:ext cx="641350" cy="366713"/>
          </a:xfrm>
          <a:prstGeom prst="rect">
            <a:avLst/>
          </a:prstGeom>
          <a:noFill/>
          <a:ln w="12700" cap="sq">
            <a:noFill/>
            <a:miter lim="800000"/>
            <a:headEnd type="none" w="sm" len="sm"/>
            <a:tailEnd type="none" w="sm" len="sm"/>
          </a:ln>
        </p:spPr>
        <p:txBody>
          <a:bodyPr wrap="none">
            <a:spAutoFit/>
          </a:bodyPr>
          <a:lstStyle/>
          <a:p>
            <a:r>
              <a:rPr lang="zh-CN" altLang="en-US" b="0">
                <a:solidFill>
                  <a:schemeClr val="tx1"/>
                </a:solidFill>
              </a:rPr>
              <a:t>执行</a:t>
            </a:r>
          </a:p>
        </p:txBody>
      </p:sp>
      <p:pic>
        <p:nvPicPr>
          <p:cNvPr id="26632" name="Picture 7">
            <a:hlinkClick r:id="rId3" action="ppaction://hlinkfile"/>
          </p:cNvPr>
          <p:cNvPicPr>
            <a:picLocks noChangeAspect="1" noChangeArrowheads="1"/>
          </p:cNvPicPr>
          <p:nvPr/>
        </p:nvPicPr>
        <p:blipFill>
          <a:blip r:embed="rId4"/>
          <a:srcRect/>
          <a:stretch>
            <a:fillRect/>
          </a:stretch>
        </p:blipFill>
        <p:spPr bwMode="auto">
          <a:xfrm>
            <a:off x="7740650" y="5084763"/>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p>
            <a:fld id="{66931D5E-DC68-47AA-ADD9-6FF5E5E5E7EA}" type="slidenum">
              <a:rPr lang="en-US" altLang="zh-CN" smtClean="0"/>
              <a:pPr/>
              <a:t>28</a:t>
            </a:fld>
            <a:endParaRPr lang="en-US" altLang="zh-CN" dirty="0" smtClean="0"/>
          </a:p>
        </p:txBody>
      </p:sp>
      <p:pic>
        <p:nvPicPr>
          <p:cNvPr id="27651" name="Picture 3" descr="5a15"/>
          <p:cNvPicPr>
            <a:picLocks noGrp="1" noChangeAspect="1" noChangeArrowheads="1"/>
          </p:cNvPicPr>
          <p:nvPr>
            <p:ph type="body" idx="1"/>
          </p:nvPr>
        </p:nvPicPr>
        <p:blipFill>
          <a:blip r:embed="rId2"/>
          <a:srcRect/>
          <a:stretch>
            <a:fillRect/>
          </a:stretch>
        </p:blipFill>
        <p:spPr>
          <a:xfrm>
            <a:off x="428596" y="714356"/>
            <a:ext cx="7920038" cy="3910013"/>
          </a:xfrm>
        </p:spPr>
      </p:pic>
      <p:sp>
        <p:nvSpPr>
          <p:cNvPr id="27652" name="Text Box 4"/>
          <p:cNvSpPr txBox="1">
            <a:spLocks noChangeArrowheads="1"/>
          </p:cNvSpPr>
          <p:nvPr/>
        </p:nvSpPr>
        <p:spPr bwMode="auto">
          <a:xfrm>
            <a:off x="468313" y="260350"/>
            <a:ext cx="6411912" cy="519113"/>
          </a:xfrm>
          <a:prstGeom prst="rect">
            <a:avLst/>
          </a:prstGeom>
          <a:noFill/>
          <a:ln w="12700" cap="sq">
            <a:noFill/>
            <a:miter lim="800000"/>
            <a:headEnd type="none" w="sm" len="sm"/>
            <a:tailEnd type="none" w="sm" len="sm"/>
          </a:ln>
        </p:spPr>
        <p:txBody>
          <a:bodyPr wrap="none">
            <a:spAutoFit/>
          </a:bodyPr>
          <a:lstStyle/>
          <a:p>
            <a:r>
              <a:rPr lang="en-US" altLang="zh-CN" sz="2800" dirty="0">
                <a:solidFill>
                  <a:schemeClr val="tx1"/>
                </a:solidFill>
              </a:rPr>
              <a:t>P139 </a:t>
            </a:r>
            <a:r>
              <a:rPr lang="zh-CN" altLang="en-US" sz="2800" dirty="0">
                <a:solidFill>
                  <a:schemeClr val="tx1"/>
                </a:solidFill>
              </a:rPr>
              <a:t>例</a:t>
            </a:r>
            <a:r>
              <a:rPr lang="en-US" altLang="zh-CN" sz="2800" dirty="0">
                <a:solidFill>
                  <a:schemeClr val="tx1"/>
                </a:solidFill>
              </a:rPr>
              <a:t>1 </a:t>
            </a:r>
            <a:r>
              <a:rPr lang="zh-CN" altLang="en-US" sz="2800" dirty="0">
                <a:solidFill>
                  <a:schemeClr val="tx1"/>
                </a:solidFill>
              </a:rPr>
              <a:t>双总线结构机器的数据通路图</a:t>
            </a:r>
          </a:p>
        </p:txBody>
      </p:sp>
      <p:sp>
        <p:nvSpPr>
          <p:cNvPr id="27653" name="Rectangle 7"/>
          <p:cNvSpPr>
            <a:spLocks noChangeArrowheads="1"/>
          </p:cNvSpPr>
          <p:nvPr/>
        </p:nvSpPr>
        <p:spPr bwMode="auto">
          <a:xfrm>
            <a:off x="250825" y="4779963"/>
            <a:ext cx="8569325" cy="1917700"/>
          </a:xfrm>
          <a:prstGeom prst="rect">
            <a:avLst/>
          </a:prstGeom>
          <a:noFill/>
          <a:ln w="12700" cap="sq">
            <a:noFill/>
            <a:miter lim="800000"/>
            <a:headEnd type="none" w="sm" len="sm"/>
            <a:tailEnd type="none" w="sm" len="sm"/>
          </a:ln>
        </p:spPr>
        <p:txBody>
          <a:bodyPr anchor="ctr">
            <a:spAutoFit/>
          </a:bodyPr>
          <a:lstStyle/>
          <a:p>
            <a:r>
              <a:rPr lang="en-US" altLang="zh-CN" sz="2400" b="0" dirty="0">
                <a:solidFill>
                  <a:schemeClr val="tx1"/>
                </a:solidFill>
                <a:latin typeface="宋体" pitchFamily="2" charset="-122"/>
              </a:rPr>
              <a:t>(1)“ADD R2</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R0”</a:t>
            </a:r>
            <a:r>
              <a:rPr lang="zh-CN" altLang="en-US" sz="2400" b="0" dirty="0">
                <a:solidFill>
                  <a:schemeClr val="tx1"/>
                </a:solidFill>
                <a:latin typeface="宋体" pitchFamily="2" charset="-122"/>
              </a:rPr>
              <a:t>指令完成</a:t>
            </a:r>
            <a:r>
              <a:rPr lang="en-US" altLang="zh-CN" sz="2400" b="0" dirty="0">
                <a:solidFill>
                  <a:schemeClr val="tx1"/>
                </a:solidFill>
                <a:latin typeface="宋体" pitchFamily="2" charset="-122"/>
              </a:rPr>
              <a:t>(R0)+(R2)→R0</a:t>
            </a:r>
            <a:r>
              <a:rPr lang="zh-CN" altLang="en-US" sz="2400" b="0" dirty="0">
                <a:solidFill>
                  <a:schemeClr val="tx1"/>
                </a:solidFill>
                <a:latin typeface="宋体" pitchFamily="2" charset="-122"/>
              </a:rPr>
              <a:t>的功能操作，画出其指令周期流程图，假设该指令的地址已放入</a:t>
            </a:r>
            <a:r>
              <a:rPr lang="en-US" altLang="zh-CN" sz="2400" b="0" dirty="0">
                <a:solidFill>
                  <a:schemeClr val="tx1"/>
                </a:solidFill>
                <a:latin typeface="宋体" pitchFamily="2" charset="-122"/>
              </a:rPr>
              <a:t>PC</a:t>
            </a:r>
            <a:r>
              <a:rPr lang="zh-CN" altLang="en-US" sz="2400" b="0" dirty="0">
                <a:solidFill>
                  <a:schemeClr val="tx1"/>
                </a:solidFill>
                <a:latin typeface="宋体" pitchFamily="2" charset="-122"/>
              </a:rPr>
              <a:t>中。并列出相应的微操作控制信号序列。 </a:t>
            </a:r>
          </a:p>
          <a:p>
            <a:r>
              <a:rPr lang="en-US" altLang="zh-CN" sz="2400" b="0" dirty="0">
                <a:solidFill>
                  <a:schemeClr val="tx1"/>
                </a:solidFill>
                <a:latin typeface="宋体" pitchFamily="2" charset="-122"/>
              </a:rPr>
              <a:t>(2)“SUB R1</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R3”</a:t>
            </a:r>
            <a:r>
              <a:rPr lang="zh-CN" altLang="en-US" sz="2400" b="0" dirty="0">
                <a:solidFill>
                  <a:schemeClr val="tx1"/>
                </a:solidFill>
                <a:latin typeface="宋体" pitchFamily="2" charset="-122"/>
              </a:rPr>
              <a:t>指令完成</a:t>
            </a:r>
            <a:r>
              <a:rPr lang="en-US" altLang="zh-CN" sz="2400" b="0" dirty="0">
                <a:solidFill>
                  <a:schemeClr val="tx1"/>
                </a:solidFill>
                <a:latin typeface="宋体" pitchFamily="2" charset="-122"/>
              </a:rPr>
              <a:t>(R3)-(R1)→R3</a:t>
            </a:r>
            <a:r>
              <a:rPr lang="zh-CN" altLang="en-US" sz="2400" b="0" dirty="0">
                <a:solidFill>
                  <a:schemeClr val="tx1"/>
                </a:solidFill>
                <a:latin typeface="宋体" pitchFamily="2" charset="-122"/>
              </a:rPr>
              <a:t>的操作，画出其指令期流程图，并列出相应的微操作控制信号序列。</a:t>
            </a:r>
          </a:p>
        </p:txBody>
      </p:sp>
      <p:sp>
        <p:nvSpPr>
          <p:cNvPr id="7" name="矩形标注 6"/>
          <p:cNvSpPr/>
          <p:nvPr/>
        </p:nvSpPr>
        <p:spPr bwMode="auto">
          <a:xfrm>
            <a:off x="1714480" y="785794"/>
            <a:ext cx="2143140" cy="428628"/>
          </a:xfrm>
          <a:prstGeom prst="wedgeRectCallout">
            <a:avLst>
              <a:gd name="adj1" fmla="val -63382"/>
              <a:gd name="adj2" fmla="val 341428"/>
            </a:avLst>
          </a:prstGeom>
          <a:ln>
            <a:headEnd type="none" w="sm" len="sm"/>
            <a:tailEnd type="none" w="sm" len="sm"/>
          </a:ln>
        </p:spPr>
        <p:style>
          <a:lnRef idx="0">
            <a:schemeClr val="accent6"/>
          </a:lnRef>
          <a:fillRef idx="3">
            <a:schemeClr val="accent6"/>
          </a:fillRef>
          <a:effectRef idx="3">
            <a:schemeClr val="accent6"/>
          </a:effectRef>
          <a:fontRef idx="minor">
            <a:schemeClr val="lt1"/>
          </a:fontRef>
        </p:style>
        <p:txBody>
          <a:bodyPr wrap="none" rtlCol="0" anchor="ctr"/>
          <a:lstStyle/>
          <a:p>
            <a:r>
              <a:rPr lang="en-US" altLang="zh-CN" sz="2000" dirty="0" smtClean="0">
                <a:solidFill>
                  <a:srgbClr val="FF0000"/>
                </a:solidFill>
                <a:latin typeface="+mn-ea"/>
              </a:rPr>
              <a:t>PC</a:t>
            </a:r>
            <a:r>
              <a:rPr lang="zh-CN" altLang="en-US" sz="2000" dirty="0" smtClean="0">
                <a:solidFill>
                  <a:srgbClr val="FF0000"/>
                </a:solidFill>
                <a:latin typeface="+mn-ea"/>
              </a:rPr>
              <a:t>具有自增功能</a:t>
            </a:r>
            <a:endParaRPr lang="zh-CN" altLang="en-US" sz="2000" dirty="0">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p>
            <a:fld id="{57F570CE-C047-4E08-8CE9-0D38836AC074}" type="slidenum">
              <a:rPr lang="en-US" altLang="zh-CN" smtClean="0"/>
              <a:pPr/>
              <a:t>29</a:t>
            </a:fld>
            <a:endParaRPr lang="en-US" altLang="zh-CN" dirty="0" smtClean="0"/>
          </a:p>
        </p:txBody>
      </p:sp>
      <p:sp>
        <p:nvSpPr>
          <p:cNvPr id="28677" name="Rectangle 20"/>
          <p:cNvSpPr>
            <a:spLocks noChangeArrowheads="1"/>
          </p:cNvSpPr>
          <p:nvPr/>
        </p:nvSpPr>
        <p:spPr bwMode="auto">
          <a:xfrm>
            <a:off x="598202" y="2853668"/>
            <a:ext cx="2657475" cy="336550"/>
          </a:xfrm>
          <a:prstGeom prst="rect">
            <a:avLst/>
          </a:prstGeom>
          <a:noFill/>
          <a:ln w="9525">
            <a:noFill/>
            <a:miter lim="800000"/>
            <a:headEnd/>
            <a:tailEnd/>
          </a:ln>
        </p:spPr>
        <p:txBody>
          <a:bodyPr wrap="none">
            <a:spAutoFit/>
          </a:bodyPr>
          <a:lstStyle/>
          <a:p>
            <a:r>
              <a:rPr lang="en-US" altLang="zh-CN" sz="1600" dirty="0">
                <a:latin typeface="宋体" pitchFamily="2" charset="-122"/>
              </a:rPr>
              <a:t>ADD R2</a:t>
            </a:r>
            <a:r>
              <a:rPr lang="zh-CN" altLang="en-US" sz="1600" dirty="0">
                <a:latin typeface="宋体" pitchFamily="2" charset="-122"/>
              </a:rPr>
              <a:t>，</a:t>
            </a:r>
            <a:r>
              <a:rPr lang="en-US" altLang="zh-CN" sz="1600" dirty="0">
                <a:latin typeface="宋体" pitchFamily="2" charset="-122"/>
              </a:rPr>
              <a:t>R0 (R0)+(R2)→R0</a:t>
            </a:r>
          </a:p>
        </p:txBody>
      </p:sp>
      <p:sp>
        <p:nvSpPr>
          <p:cNvPr id="28678" name="Rectangle 21"/>
          <p:cNvSpPr>
            <a:spLocks noChangeArrowheads="1"/>
          </p:cNvSpPr>
          <p:nvPr/>
        </p:nvSpPr>
        <p:spPr bwMode="auto">
          <a:xfrm>
            <a:off x="4845665" y="2878411"/>
            <a:ext cx="2657475" cy="336550"/>
          </a:xfrm>
          <a:prstGeom prst="rect">
            <a:avLst/>
          </a:prstGeom>
          <a:noFill/>
          <a:ln w="9525">
            <a:noFill/>
            <a:miter lim="800000"/>
            <a:headEnd/>
            <a:tailEnd/>
          </a:ln>
        </p:spPr>
        <p:txBody>
          <a:bodyPr wrap="none">
            <a:spAutoFit/>
          </a:bodyPr>
          <a:lstStyle/>
          <a:p>
            <a:r>
              <a:rPr lang="en-US" altLang="zh-CN" sz="1600" dirty="0">
                <a:latin typeface="宋体" pitchFamily="2" charset="-122"/>
              </a:rPr>
              <a:t>SUB R1</a:t>
            </a:r>
            <a:r>
              <a:rPr lang="zh-CN" altLang="en-US" sz="1600" dirty="0">
                <a:latin typeface="宋体" pitchFamily="2" charset="-122"/>
              </a:rPr>
              <a:t>，</a:t>
            </a:r>
            <a:r>
              <a:rPr lang="en-US" altLang="zh-CN" sz="1600" dirty="0">
                <a:latin typeface="宋体" pitchFamily="2" charset="-122"/>
              </a:rPr>
              <a:t>R3 (R3)-(R1)→R3</a:t>
            </a:r>
          </a:p>
        </p:txBody>
      </p:sp>
      <p:sp>
        <p:nvSpPr>
          <p:cNvPr id="8" name="矩形 7"/>
          <p:cNvSpPr/>
          <p:nvPr/>
        </p:nvSpPr>
        <p:spPr bwMode="auto">
          <a:xfrm>
            <a:off x="272419" y="371027"/>
            <a:ext cx="7632848" cy="7200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9" name="椭圆 8"/>
          <p:cNvSpPr/>
          <p:nvPr/>
        </p:nvSpPr>
        <p:spPr bwMode="auto">
          <a:xfrm>
            <a:off x="648272" y="58705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 name="直接连接符 9"/>
          <p:cNvCxnSpPr/>
          <p:nvPr/>
        </p:nvCxnSpPr>
        <p:spPr bwMode="auto">
          <a:xfrm>
            <a:off x="684276" y="44303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 name="直接箭头连接符 10"/>
          <p:cNvCxnSpPr>
            <a:stCxn id="9" idx="4"/>
            <a:endCxn id="12" idx="0"/>
          </p:cNvCxnSpPr>
          <p:nvPr/>
        </p:nvCxnSpPr>
        <p:spPr bwMode="auto">
          <a:xfrm>
            <a:off x="684276" y="65905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 name="矩形 11"/>
          <p:cNvSpPr/>
          <p:nvPr/>
        </p:nvSpPr>
        <p:spPr bwMode="auto">
          <a:xfrm>
            <a:off x="504256" y="1061993"/>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13" name="TextBox 12"/>
          <p:cNvSpPr txBox="1"/>
          <p:nvPr/>
        </p:nvSpPr>
        <p:spPr>
          <a:xfrm>
            <a:off x="474946" y="1271174"/>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IR</a:t>
            </a:r>
            <a:endParaRPr lang="zh-CN" altLang="en-US" sz="1600" dirty="0">
              <a:solidFill>
                <a:schemeClr val="tx1"/>
              </a:solidFill>
              <a:latin typeface="+mn-ea"/>
              <a:ea typeface="+mn-ea"/>
            </a:endParaRPr>
          </a:p>
        </p:txBody>
      </p:sp>
      <p:sp>
        <p:nvSpPr>
          <p:cNvPr id="14" name="椭圆 13"/>
          <p:cNvSpPr/>
          <p:nvPr/>
        </p:nvSpPr>
        <p:spPr bwMode="auto">
          <a:xfrm>
            <a:off x="1195081" y="59291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5" name="直接连接符 14"/>
          <p:cNvCxnSpPr/>
          <p:nvPr/>
        </p:nvCxnSpPr>
        <p:spPr bwMode="auto">
          <a:xfrm>
            <a:off x="1231085" y="448897"/>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6" name="直接箭头连接符 15"/>
          <p:cNvCxnSpPr>
            <a:stCxn id="14" idx="4"/>
            <a:endCxn id="17" idx="0"/>
          </p:cNvCxnSpPr>
          <p:nvPr/>
        </p:nvCxnSpPr>
        <p:spPr bwMode="auto">
          <a:xfrm>
            <a:off x="1231085" y="664921"/>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17" name="矩形 16"/>
          <p:cNvSpPr/>
          <p:nvPr/>
        </p:nvSpPr>
        <p:spPr bwMode="auto">
          <a:xfrm>
            <a:off x="1051065" y="1067855"/>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18" name="TextBox 17"/>
          <p:cNvSpPr txBox="1"/>
          <p:nvPr/>
        </p:nvSpPr>
        <p:spPr>
          <a:xfrm>
            <a:off x="1021755" y="1277036"/>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PC</a:t>
            </a:r>
            <a:endParaRPr lang="zh-CN" altLang="en-US" sz="1600" dirty="0">
              <a:solidFill>
                <a:schemeClr val="tx1"/>
              </a:solidFill>
              <a:latin typeface="+mn-ea"/>
              <a:ea typeface="+mn-ea"/>
            </a:endParaRPr>
          </a:p>
        </p:txBody>
      </p:sp>
      <p:sp>
        <p:nvSpPr>
          <p:cNvPr id="19" name="椭圆 18"/>
          <p:cNvSpPr/>
          <p:nvPr/>
        </p:nvSpPr>
        <p:spPr bwMode="auto">
          <a:xfrm>
            <a:off x="1782652" y="59291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20" name="直接连接符 19"/>
          <p:cNvCxnSpPr/>
          <p:nvPr/>
        </p:nvCxnSpPr>
        <p:spPr bwMode="auto">
          <a:xfrm>
            <a:off x="1818656" y="448897"/>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21" name="直接箭头连接符 20"/>
          <p:cNvCxnSpPr>
            <a:stCxn id="19" idx="4"/>
            <a:endCxn id="22" idx="0"/>
          </p:cNvCxnSpPr>
          <p:nvPr/>
        </p:nvCxnSpPr>
        <p:spPr bwMode="auto">
          <a:xfrm>
            <a:off x="1818656" y="664921"/>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22" name="矩形 21"/>
          <p:cNvSpPr/>
          <p:nvPr/>
        </p:nvSpPr>
        <p:spPr bwMode="auto">
          <a:xfrm>
            <a:off x="1638636" y="1067855"/>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3" name="TextBox 22"/>
          <p:cNvSpPr txBox="1"/>
          <p:nvPr/>
        </p:nvSpPr>
        <p:spPr>
          <a:xfrm>
            <a:off x="1609326" y="1277036"/>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AR</a:t>
            </a:r>
            <a:endParaRPr lang="zh-CN" altLang="en-US" sz="1600" dirty="0">
              <a:solidFill>
                <a:schemeClr val="tx1"/>
              </a:solidFill>
              <a:latin typeface="+mn-ea"/>
              <a:ea typeface="+mn-ea"/>
            </a:endParaRPr>
          </a:p>
        </p:txBody>
      </p:sp>
      <p:sp>
        <p:nvSpPr>
          <p:cNvPr id="24" name="矩形 23"/>
          <p:cNvSpPr/>
          <p:nvPr/>
        </p:nvSpPr>
        <p:spPr bwMode="auto">
          <a:xfrm>
            <a:off x="2340460" y="1067855"/>
            <a:ext cx="64807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5" name="TextBox 24"/>
          <p:cNvSpPr txBox="1"/>
          <p:nvPr/>
        </p:nvSpPr>
        <p:spPr>
          <a:xfrm>
            <a:off x="2533119" y="1278303"/>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M</a:t>
            </a:r>
            <a:endParaRPr lang="zh-CN" altLang="en-US" sz="1600" dirty="0">
              <a:solidFill>
                <a:schemeClr val="tx1"/>
              </a:solidFill>
              <a:latin typeface="+mn-ea"/>
              <a:ea typeface="+mn-ea"/>
            </a:endParaRPr>
          </a:p>
        </p:txBody>
      </p:sp>
      <p:sp>
        <p:nvSpPr>
          <p:cNvPr id="26" name="椭圆 25"/>
          <p:cNvSpPr/>
          <p:nvPr/>
        </p:nvSpPr>
        <p:spPr bwMode="auto">
          <a:xfrm>
            <a:off x="2618742" y="78244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27" name="直接箭头连接符 26"/>
          <p:cNvCxnSpPr>
            <a:endCxn id="24" idx="0"/>
          </p:cNvCxnSpPr>
          <p:nvPr/>
        </p:nvCxnSpPr>
        <p:spPr bwMode="auto">
          <a:xfrm>
            <a:off x="2660684" y="860526"/>
            <a:ext cx="0" cy="207329"/>
          </a:xfrm>
          <a:prstGeom prst="straightConnector1">
            <a:avLst/>
          </a:prstGeom>
          <a:noFill/>
          <a:ln w="9525" cap="flat" cmpd="sng" algn="ctr">
            <a:solidFill>
              <a:schemeClr val="tx1"/>
            </a:solidFill>
            <a:prstDash val="solid"/>
            <a:round/>
            <a:headEnd type="none" w="med" len="med"/>
            <a:tailEnd type="triangle" w="med" len="med"/>
          </a:ln>
          <a:effectLst/>
        </p:spPr>
      </p:cxnSp>
      <p:sp>
        <p:nvSpPr>
          <p:cNvPr id="28" name="矩形 27"/>
          <p:cNvSpPr/>
          <p:nvPr/>
        </p:nvSpPr>
        <p:spPr bwMode="auto">
          <a:xfrm>
            <a:off x="3358993" y="1067367"/>
            <a:ext cx="360040"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29" name="TextBox 28"/>
          <p:cNvSpPr txBox="1"/>
          <p:nvPr/>
        </p:nvSpPr>
        <p:spPr>
          <a:xfrm>
            <a:off x="3361487" y="1276548"/>
            <a:ext cx="3898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DR</a:t>
            </a:r>
            <a:endParaRPr lang="zh-CN" altLang="en-US" sz="1600" dirty="0">
              <a:solidFill>
                <a:schemeClr val="tx1"/>
              </a:solidFill>
              <a:latin typeface="+mn-ea"/>
              <a:ea typeface="+mn-ea"/>
            </a:endParaRPr>
          </a:p>
        </p:txBody>
      </p:sp>
      <p:sp>
        <p:nvSpPr>
          <p:cNvPr id="30" name="矩形 29"/>
          <p:cNvSpPr/>
          <p:nvPr/>
        </p:nvSpPr>
        <p:spPr bwMode="auto">
          <a:xfrm>
            <a:off x="4028394" y="1062241"/>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1" name="TextBox 30"/>
          <p:cNvSpPr txBox="1"/>
          <p:nvPr/>
        </p:nvSpPr>
        <p:spPr>
          <a:xfrm>
            <a:off x="3986384" y="1271422"/>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endParaRPr lang="zh-CN" altLang="en-US" sz="1200" dirty="0">
              <a:solidFill>
                <a:schemeClr val="tx1"/>
              </a:solidFill>
              <a:latin typeface="+mn-ea"/>
              <a:ea typeface="+mn-ea"/>
            </a:endParaRPr>
          </a:p>
        </p:txBody>
      </p:sp>
      <p:sp>
        <p:nvSpPr>
          <p:cNvPr id="32" name="矩形 31"/>
          <p:cNvSpPr/>
          <p:nvPr/>
        </p:nvSpPr>
        <p:spPr bwMode="auto">
          <a:xfrm>
            <a:off x="4316035" y="1062772"/>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3" name="TextBox 32"/>
          <p:cNvSpPr txBox="1"/>
          <p:nvPr/>
        </p:nvSpPr>
        <p:spPr>
          <a:xfrm>
            <a:off x="4274025" y="1271953"/>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endParaRPr lang="zh-CN" altLang="en-US" sz="1200" dirty="0">
              <a:solidFill>
                <a:schemeClr val="tx1"/>
              </a:solidFill>
              <a:latin typeface="+mn-ea"/>
              <a:ea typeface="+mn-ea"/>
            </a:endParaRPr>
          </a:p>
        </p:txBody>
      </p:sp>
      <p:sp>
        <p:nvSpPr>
          <p:cNvPr id="34" name="矩形 33"/>
          <p:cNvSpPr/>
          <p:nvPr/>
        </p:nvSpPr>
        <p:spPr bwMode="auto">
          <a:xfrm>
            <a:off x="4604597" y="1061993"/>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5" name="TextBox 34"/>
          <p:cNvSpPr txBox="1"/>
          <p:nvPr/>
        </p:nvSpPr>
        <p:spPr>
          <a:xfrm>
            <a:off x="4574463" y="1277112"/>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endParaRPr lang="zh-CN" altLang="en-US" sz="1200" dirty="0">
              <a:solidFill>
                <a:schemeClr val="tx1"/>
              </a:solidFill>
              <a:latin typeface="+mn-ea"/>
              <a:ea typeface="+mn-ea"/>
            </a:endParaRPr>
          </a:p>
        </p:txBody>
      </p:sp>
      <p:sp>
        <p:nvSpPr>
          <p:cNvPr id="36" name="矩形 35"/>
          <p:cNvSpPr/>
          <p:nvPr/>
        </p:nvSpPr>
        <p:spPr bwMode="auto">
          <a:xfrm>
            <a:off x="4892238" y="1062524"/>
            <a:ext cx="288032" cy="7920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7" name="TextBox 36"/>
          <p:cNvSpPr txBox="1"/>
          <p:nvPr/>
        </p:nvSpPr>
        <p:spPr>
          <a:xfrm>
            <a:off x="4862104" y="1271705"/>
            <a:ext cx="36420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endParaRPr lang="zh-CN" altLang="en-US" sz="1200" dirty="0">
              <a:solidFill>
                <a:schemeClr val="tx1"/>
              </a:solidFill>
              <a:latin typeface="+mn-ea"/>
              <a:ea typeface="+mn-ea"/>
            </a:endParaRPr>
          </a:p>
        </p:txBody>
      </p:sp>
      <p:sp>
        <p:nvSpPr>
          <p:cNvPr id="38" name="矩形 37"/>
          <p:cNvSpPr/>
          <p:nvPr/>
        </p:nvSpPr>
        <p:spPr bwMode="auto">
          <a:xfrm>
            <a:off x="5724768" y="940353"/>
            <a:ext cx="288032" cy="499610"/>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39" name="TextBox 38"/>
          <p:cNvSpPr txBox="1"/>
          <p:nvPr/>
        </p:nvSpPr>
        <p:spPr>
          <a:xfrm>
            <a:off x="5731997" y="1020881"/>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X</a:t>
            </a:r>
            <a:endParaRPr lang="zh-CN" altLang="en-US" sz="1200" dirty="0">
              <a:solidFill>
                <a:schemeClr val="tx1"/>
              </a:solidFill>
              <a:latin typeface="+mn-ea"/>
              <a:ea typeface="+mn-ea"/>
            </a:endParaRPr>
          </a:p>
        </p:txBody>
      </p:sp>
      <p:sp>
        <p:nvSpPr>
          <p:cNvPr id="40" name="椭圆 39"/>
          <p:cNvSpPr/>
          <p:nvPr/>
        </p:nvSpPr>
        <p:spPr bwMode="auto">
          <a:xfrm>
            <a:off x="5418497" y="58656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1" name="直接连接符 40"/>
          <p:cNvCxnSpPr/>
          <p:nvPr/>
        </p:nvCxnSpPr>
        <p:spPr bwMode="auto">
          <a:xfrm>
            <a:off x="5454501" y="442547"/>
            <a:ext cx="0" cy="144016"/>
          </a:xfrm>
          <a:prstGeom prst="line">
            <a:avLst/>
          </a:prstGeom>
          <a:noFill/>
          <a:ln w="9525" cap="flat" cmpd="sng" algn="ctr">
            <a:solidFill>
              <a:schemeClr val="tx1"/>
            </a:solidFill>
            <a:prstDash val="solid"/>
            <a:round/>
            <a:headEnd type="none" w="med" len="med"/>
            <a:tailEnd type="none" w="med" len="med"/>
          </a:ln>
          <a:effectLst/>
        </p:spPr>
      </p:cxnSp>
      <p:sp>
        <p:nvSpPr>
          <p:cNvPr id="42" name="矩形 41"/>
          <p:cNvSpPr/>
          <p:nvPr/>
        </p:nvSpPr>
        <p:spPr bwMode="auto">
          <a:xfrm>
            <a:off x="5724768" y="1585799"/>
            <a:ext cx="288032" cy="49778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43" name="TextBox 42"/>
          <p:cNvSpPr txBox="1"/>
          <p:nvPr/>
        </p:nvSpPr>
        <p:spPr>
          <a:xfrm>
            <a:off x="5741444" y="1673519"/>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Y</a:t>
            </a:r>
            <a:endParaRPr lang="zh-CN" altLang="en-US" sz="1200" dirty="0">
              <a:solidFill>
                <a:schemeClr val="tx1"/>
              </a:solidFill>
              <a:latin typeface="+mn-ea"/>
              <a:ea typeface="+mn-ea"/>
            </a:endParaRPr>
          </a:p>
        </p:txBody>
      </p:sp>
      <p:sp>
        <p:nvSpPr>
          <p:cNvPr id="44" name="椭圆 43"/>
          <p:cNvSpPr/>
          <p:nvPr/>
        </p:nvSpPr>
        <p:spPr bwMode="auto">
          <a:xfrm>
            <a:off x="4432111" y="2006496"/>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5" name="直接连接符 44"/>
          <p:cNvCxnSpPr/>
          <p:nvPr/>
        </p:nvCxnSpPr>
        <p:spPr bwMode="auto">
          <a:xfrm>
            <a:off x="4468115" y="1862480"/>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46" name="直接箭头连接符 45"/>
          <p:cNvCxnSpPr>
            <a:stCxn id="44" idx="4"/>
          </p:cNvCxnSpPr>
          <p:nvPr/>
        </p:nvCxnSpPr>
        <p:spPr bwMode="auto">
          <a:xfrm>
            <a:off x="4468115" y="2078504"/>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47" name="矩形 46"/>
          <p:cNvSpPr/>
          <p:nvPr/>
        </p:nvSpPr>
        <p:spPr bwMode="auto">
          <a:xfrm>
            <a:off x="272419" y="2472687"/>
            <a:ext cx="7632848" cy="72008"/>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48" name="肘形连接符 47"/>
          <p:cNvCxnSpPr>
            <a:stCxn id="40" idx="4"/>
            <a:endCxn id="42" idx="1"/>
          </p:cNvCxnSpPr>
          <p:nvPr/>
        </p:nvCxnSpPr>
        <p:spPr bwMode="auto">
          <a:xfrm rot="16200000" flipH="1">
            <a:off x="5001573" y="1111498"/>
            <a:ext cx="1176122" cy="270267"/>
          </a:xfrm>
          <a:prstGeom prst="bentConnector2">
            <a:avLst/>
          </a:prstGeom>
          <a:noFill/>
          <a:ln w="9525" cap="flat" cmpd="sng" algn="ctr">
            <a:solidFill>
              <a:schemeClr val="tx1"/>
            </a:solidFill>
            <a:prstDash val="solid"/>
            <a:round/>
            <a:headEnd type="none" w="med" len="med"/>
            <a:tailEnd type="triangle" w="med" len="med"/>
          </a:ln>
          <a:effectLst/>
        </p:spPr>
      </p:cxnSp>
      <p:cxnSp>
        <p:nvCxnSpPr>
          <p:cNvPr id="49" name="直接连接符 48"/>
          <p:cNvCxnSpPr/>
          <p:nvPr/>
        </p:nvCxnSpPr>
        <p:spPr bwMode="auto">
          <a:xfrm>
            <a:off x="6372908" y="1098220"/>
            <a:ext cx="0" cy="833731"/>
          </a:xfrm>
          <a:prstGeom prst="line">
            <a:avLst/>
          </a:prstGeom>
          <a:noFill/>
          <a:ln w="9525" cap="flat" cmpd="sng" algn="ctr">
            <a:solidFill>
              <a:schemeClr val="tx1"/>
            </a:solidFill>
            <a:prstDash val="solid"/>
            <a:round/>
            <a:headEnd type="none" w="med" len="med"/>
            <a:tailEnd type="none" w="med" len="med"/>
          </a:ln>
          <a:effectLst/>
        </p:spPr>
      </p:cxnSp>
      <p:cxnSp>
        <p:nvCxnSpPr>
          <p:cNvPr id="50" name="直接连接符 49"/>
          <p:cNvCxnSpPr/>
          <p:nvPr/>
        </p:nvCxnSpPr>
        <p:spPr bwMode="auto">
          <a:xfrm>
            <a:off x="6372908" y="1098220"/>
            <a:ext cx="378606" cy="165068"/>
          </a:xfrm>
          <a:prstGeom prst="line">
            <a:avLst/>
          </a:prstGeom>
          <a:noFill/>
          <a:ln w="9525" cap="flat" cmpd="sng" algn="ctr">
            <a:solidFill>
              <a:schemeClr val="tx1"/>
            </a:solidFill>
            <a:prstDash val="solid"/>
            <a:round/>
            <a:headEnd type="none" w="med" len="med"/>
            <a:tailEnd type="none" w="med" len="med"/>
          </a:ln>
          <a:effectLst/>
        </p:spPr>
      </p:cxnSp>
      <p:cxnSp>
        <p:nvCxnSpPr>
          <p:cNvPr id="51" name="直接连接符 50"/>
          <p:cNvCxnSpPr/>
          <p:nvPr/>
        </p:nvCxnSpPr>
        <p:spPr bwMode="auto">
          <a:xfrm>
            <a:off x="6751514" y="1263288"/>
            <a:ext cx="0" cy="494957"/>
          </a:xfrm>
          <a:prstGeom prst="line">
            <a:avLst/>
          </a:prstGeom>
          <a:noFill/>
          <a:ln w="9525"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flipH="1">
            <a:off x="6372908" y="1758245"/>
            <a:ext cx="378606" cy="180838"/>
          </a:xfrm>
          <a:prstGeom prst="line">
            <a:avLst/>
          </a:prstGeom>
          <a:noFill/>
          <a:ln w="9525" cap="flat" cmpd="sng" algn="ctr">
            <a:solidFill>
              <a:schemeClr val="tx1"/>
            </a:solidFill>
            <a:prstDash val="solid"/>
            <a:round/>
            <a:headEnd type="none" w="med" len="med"/>
            <a:tailEnd type="none" w="med" len="med"/>
          </a:ln>
          <a:effectLst/>
        </p:spPr>
      </p:cxnSp>
      <p:sp>
        <p:nvSpPr>
          <p:cNvPr id="53" name="矩形 52"/>
          <p:cNvSpPr/>
          <p:nvPr/>
        </p:nvSpPr>
        <p:spPr bwMode="auto">
          <a:xfrm>
            <a:off x="7345471" y="1308352"/>
            <a:ext cx="387637" cy="415967"/>
          </a:xfrm>
          <a:prstGeom prst="rect">
            <a:avLst/>
          </a:prstGeom>
          <a:noFill/>
          <a:ln w="9525" cap="sq">
            <a:solidFill>
              <a:schemeClr val="tx1"/>
            </a:solidFill>
            <a:round/>
            <a:headEnd type="none" w="sm" len="sm"/>
            <a:tailEnd type="none" w="sm" len="sm"/>
          </a:ln>
        </p:spPr>
        <p:txBody>
          <a:bodyPr wrap="none" rtlCol="0" anchor="ctr"/>
          <a:lstStyle/>
          <a:p>
            <a:pPr algn="ctr"/>
            <a:endParaRPr lang="zh-CN" altLang="en-US"/>
          </a:p>
        </p:txBody>
      </p:sp>
      <p:sp>
        <p:nvSpPr>
          <p:cNvPr id="54" name="椭圆 53"/>
          <p:cNvSpPr/>
          <p:nvPr/>
        </p:nvSpPr>
        <p:spPr bwMode="auto">
          <a:xfrm>
            <a:off x="7092988" y="2015530"/>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55" name="直接箭头连接符 54"/>
          <p:cNvCxnSpPr>
            <a:stCxn id="54" idx="4"/>
          </p:cNvCxnSpPr>
          <p:nvPr/>
        </p:nvCxnSpPr>
        <p:spPr bwMode="auto">
          <a:xfrm>
            <a:off x="7128992" y="2087538"/>
            <a:ext cx="0" cy="380464"/>
          </a:xfrm>
          <a:prstGeom prst="straightConnector1">
            <a:avLst/>
          </a:prstGeom>
          <a:noFill/>
          <a:ln w="9525" cap="flat" cmpd="sng" algn="ctr">
            <a:solidFill>
              <a:schemeClr val="tx1"/>
            </a:solidFill>
            <a:prstDash val="solid"/>
            <a:round/>
            <a:headEnd type="none" w="med" len="med"/>
            <a:tailEnd type="triangle" w="med" len="med"/>
          </a:ln>
          <a:effectLst/>
        </p:spPr>
      </p:cxnSp>
      <p:sp>
        <p:nvSpPr>
          <p:cNvPr id="56" name="TextBox 55"/>
          <p:cNvSpPr txBox="1"/>
          <p:nvPr/>
        </p:nvSpPr>
        <p:spPr>
          <a:xfrm>
            <a:off x="6420412" y="1232992"/>
            <a:ext cx="287258" cy="609398"/>
          </a:xfrm>
          <a:prstGeom prst="rect">
            <a:avLst/>
          </a:prstGeom>
          <a:noFill/>
          <a:ln>
            <a:noFill/>
          </a:ln>
        </p:spPr>
        <p:txBody>
          <a:bodyPr wrap="none" rtlCol="0">
            <a:spAutoFit/>
          </a:bodyPr>
          <a:lstStyle/>
          <a:p>
            <a:pPr>
              <a:lnSpc>
                <a:spcPct val="70000"/>
              </a:lnSpc>
            </a:pPr>
            <a:r>
              <a:rPr lang="en-US" altLang="zh-CN" sz="1600" dirty="0" smtClean="0">
                <a:solidFill>
                  <a:schemeClr val="tx1"/>
                </a:solidFill>
                <a:latin typeface="+mn-ea"/>
                <a:ea typeface="+mn-ea"/>
              </a:rPr>
              <a:t>A</a:t>
            </a:r>
          </a:p>
          <a:p>
            <a:pPr>
              <a:lnSpc>
                <a:spcPct val="70000"/>
              </a:lnSpc>
            </a:pPr>
            <a:r>
              <a:rPr lang="en-US" altLang="zh-CN" sz="1600" dirty="0" smtClean="0">
                <a:solidFill>
                  <a:schemeClr val="tx1"/>
                </a:solidFill>
                <a:latin typeface="+mn-ea"/>
                <a:ea typeface="+mn-ea"/>
              </a:rPr>
              <a:t>L</a:t>
            </a:r>
          </a:p>
          <a:p>
            <a:pPr>
              <a:lnSpc>
                <a:spcPct val="70000"/>
              </a:lnSpc>
            </a:pPr>
            <a:r>
              <a:rPr lang="en-US" altLang="zh-CN" sz="1600" dirty="0" smtClean="0">
                <a:solidFill>
                  <a:schemeClr val="tx1"/>
                </a:solidFill>
                <a:latin typeface="+mn-ea"/>
                <a:ea typeface="+mn-ea"/>
              </a:rPr>
              <a:t>U</a:t>
            </a:r>
            <a:endParaRPr lang="zh-CN" altLang="en-US" sz="1200" dirty="0">
              <a:solidFill>
                <a:schemeClr val="tx1"/>
              </a:solidFill>
              <a:latin typeface="+mn-ea"/>
              <a:ea typeface="+mn-ea"/>
            </a:endParaRPr>
          </a:p>
        </p:txBody>
      </p:sp>
      <p:cxnSp>
        <p:nvCxnSpPr>
          <p:cNvPr id="57" name="肘形连接符 56"/>
          <p:cNvCxnSpPr>
            <a:endCxn id="54" idx="0"/>
          </p:cNvCxnSpPr>
          <p:nvPr/>
        </p:nvCxnSpPr>
        <p:spPr bwMode="auto">
          <a:xfrm rot="16200000" flipH="1">
            <a:off x="6687871" y="1574409"/>
            <a:ext cx="504764" cy="377478"/>
          </a:xfrm>
          <a:prstGeom prst="bentConnector3">
            <a:avLst>
              <a:gd name="adj1" fmla="val -1758"/>
            </a:avLst>
          </a:prstGeom>
          <a:noFill/>
          <a:ln w="9525" cap="flat" cmpd="sng" algn="ctr">
            <a:solidFill>
              <a:schemeClr val="tx1"/>
            </a:solidFill>
            <a:prstDash val="solid"/>
            <a:round/>
            <a:headEnd type="none" w="med" len="med"/>
            <a:tailEnd type="none" w="med" len="med"/>
          </a:ln>
          <a:effectLst/>
        </p:spPr>
      </p:cxnSp>
      <p:cxnSp>
        <p:nvCxnSpPr>
          <p:cNvPr id="58" name="直接箭头连接符 57"/>
          <p:cNvCxnSpPr>
            <a:endCxn id="53" idx="2"/>
          </p:cNvCxnSpPr>
          <p:nvPr/>
        </p:nvCxnSpPr>
        <p:spPr bwMode="auto">
          <a:xfrm flipV="1">
            <a:off x="7539289" y="1724319"/>
            <a:ext cx="1" cy="750033"/>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59" name="直接箭头连接符 58"/>
          <p:cNvCxnSpPr>
            <a:stCxn id="53" idx="0"/>
          </p:cNvCxnSpPr>
          <p:nvPr/>
        </p:nvCxnSpPr>
        <p:spPr bwMode="auto">
          <a:xfrm flipH="1" flipV="1">
            <a:off x="7539289" y="442547"/>
            <a:ext cx="1" cy="865805"/>
          </a:xfrm>
          <a:prstGeom prst="straightConnector1">
            <a:avLst/>
          </a:prstGeom>
          <a:noFill/>
          <a:ln w="9525" cap="flat" cmpd="sng" algn="ctr">
            <a:solidFill>
              <a:schemeClr val="tx1"/>
            </a:solidFill>
            <a:prstDash val="solid"/>
            <a:round/>
            <a:headEnd type="none" w="med" len="med"/>
            <a:tailEnd type="triangle" w="med" len="med"/>
          </a:ln>
          <a:effectLst/>
        </p:spPr>
      </p:cxnSp>
      <p:sp>
        <p:nvSpPr>
          <p:cNvPr id="60" name="椭圆 59"/>
          <p:cNvSpPr/>
          <p:nvPr/>
        </p:nvSpPr>
        <p:spPr bwMode="auto">
          <a:xfrm>
            <a:off x="8029690" y="147476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1" name="直接箭头连接符 60"/>
          <p:cNvCxnSpPr>
            <a:endCxn id="53" idx="3"/>
          </p:cNvCxnSpPr>
          <p:nvPr/>
        </p:nvCxnSpPr>
        <p:spPr bwMode="auto">
          <a:xfrm flipH="1">
            <a:off x="7733108" y="1516336"/>
            <a:ext cx="295984" cy="0"/>
          </a:xfrm>
          <a:prstGeom prst="straightConnector1">
            <a:avLst/>
          </a:prstGeom>
          <a:noFill/>
          <a:ln w="9525" cap="flat" cmpd="sng" algn="ctr">
            <a:solidFill>
              <a:schemeClr val="tx1"/>
            </a:solidFill>
            <a:prstDash val="solid"/>
            <a:round/>
            <a:headEnd type="none" w="med" len="med"/>
            <a:tailEnd type="triangle" w="med" len="med"/>
          </a:ln>
          <a:effectLst/>
        </p:spPr>
      </p:cxnSp>
      <p:sp>
        <p:nvSpPr>
          <p:cNvPr id="62" name="椭圆 61"/>
          <p:cNvSpPr/>
          <p:nvPr/>
        </p:nvSpPr>
        <p:spPr bwMode="auto">
          <a:xfrm>
            <a:off x="6475358" y="875083"/>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3" name="直接箭头连接符 62"/>
          <p:cNvCxnSpPr/>
          <p:nvPr/>
        </p:nvCxnSpPr>
        <p:spPr bwMode="auto">
          <a:xfrm>
            <a:off x="6511362" y="945530"/>
            <a:ext cx="0" cy="214781"/>
          </a:xfrm>
          <a:prstGeom prst="straightConnector1">
            <a:avLst/>
          </a:prstGeom>
          <a:noFill/>
          <a:ln w="9525" cap="flat" cmpd="sng" algn="ctr">
            <a:solidFill>
              <a:schemeClr val="tx1"/>
            </a:solidFill>
            <a:prstDash val="solid"/>
            <a:round/>
            <a:headEnd type="none" w="med" len="med"/>
            <a:tailEnd type="none" w="med" len="med"/>
          </a:ln>
          <a:effectLst/>
        </p:spPr>
      </p:cxnSp>
      <p:sp>
        <p:nvSpPr>
          <p:cNvPr id="64" name="椭圆 63"/>
          <p:cNvSpPr/>
          <p:nvPr/>
        </p:nvSpPr>
        <p:spPr bwMode="auto">
          <a:xfrm>
            <a:off x="6615882" y="934857"/>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65" name="直接箭头连接符 64"/>
          <p:cNvCxnSpPr/>
          <p:nvPr/>
        </p:nvCxnSpPr>
        <p:spPr bwMode="auto">
          <a:xfrm>
            <a:off x="6651886" y="1008860"/>
            <a:ext cx="0" cy="214781"/>
          </a:xfrm>
          <a:prstGeom prst="straightConnector1">
            <a:avLst/>
          </a:prstGeom>
          <a:noFill/>
          <a:ln w="9525" cap="flat" cmpd="sng" algn="ctr">
            <a:solidFill>
              <a:schemeClr val="tx1"/>
            </a:solidFill>
            <a:prstDash val="solid"/>
            <a:round/>
            <a:headEnd type="none" w="med" len="med"/>
            <a:tailEnd type="none" w="med" len="med"/>
          </a:ln>
          <a:effectLst/>
        </p:spPr>
      </p:cxnSp>
      <p:sp>
        <p:nvSpPr>
          <p:cNvPr id="66" name="TextBox 65"/>
          <p:cNvSpPr txBox="1"/>
          <p:nvPr/>
        </p:nvSpPr>
        <p:spPr>
          <a:xfrm>
            <a:off x="299013" y="628364"/>
            <a:ext cx="428322"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IR</a:t>
            </a:r>
            <a:r>
              <a:rPr lang="en-US" altLang="zh-CN" sz="1000" i="1" dirty="0" err="1" smtClean="0">
                <a:solidFill>
                  <a:schemeClr val="tx1"/>
                </a:solidFill>
                <a:latin typeface="Times New Roman" pitchFamily="18" charset="0"/>
                <a:ea typeface="+mn-ea"/>
                <a:cs typeface="Times New Roman" pitchFamily="18" charset="0"/>
              </a:rPr>
              <a:t>i</a:t>
            </a:r>
            <a:endParaRPr lang="zh-CN" altLang="en-US" sz="1000" i="1" dirty="0">
              <a:solidFill>
                <a:schemeClr val="tx1"/>
              </a:solidFill>
              <a:latin typeface="Times New Roman" pitchFamily="18" charset="0"/>
              <a:ea typeface="+mn-ea"/>
              <a:cs typeface="Times New Roman" pitchFamily="18" charset="0"/>
            </a:endParaRPr>
          </a:p>
        </p:txBody>
      </p:sp>
      <p:sp>
        <p:nvSpPr>
          <p:cNvPr id="67" name="TextBox 66"/>
          <p:cNvSpPr txBox="1"/>
          <p:nvPr/>
        </p:nvSpPr>
        <p:spPr>
          <a:xfrm>
            <a:off x="1194376" y="628364"/>
            <a:ext cx="436338"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PC</a:t>
            </a:r>
            <a:r>
              <a:rPr lang="en-US" altLang="zh-CN" sz="1200" i="1" dirty="0" err="1" smtClean="0">
                <a:solidFill>
                  <a:schemeClr val="tx1"/>
                </a:solidFill>
                <a:latin typeface="Times New Roman" pitchFamily="18" charset="0"/>
                <a:ea typeface="+mn-ea"/>
                <a:cs typeface="Times New Roman" pitchFamily="18" charset="0"/>
              </a:rPr>
              <a:t>i</a:t>
            </a:r>
            <a:endParaRPr lang="zh-CN" altLang="en-US" sz="1200" i="1" dirty="0">
              <a:solidFill>
                <a:schemeClr val="tx1"/>
              </a:solidFill>
              <a:latin typeface="Times New Roman" pitchFamily="18" charset="0"/>
              <a:ea typeface="+mn-ea"/>
              <a:cs typeface="Times New Roman" pitchFamily="18" charset="0"/>
            </a:endParaRPr>
          </a:p>
        </p:txBody>
      </p:sp>
      <p:sp>
        <p:nvSpPr>
          <p:cNvPr id="68" name="TextBox 67"/>
          <p:cNvSpPr txBox="1"/>
          <p:nvPr/>
        </p:nvSpPr>
        <p:spPr>
          <a:xfrm>
            <a:off x="1793970" y="628364"/>
            <a:ext cx="450764"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AR</a:t>
            </a:r>
            <a:r>
              <a:rPr lang="en-US" altLang="zh-CN" sz="1200" i="1" dirty="0" err="1">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69" name="TextBox 68"/>
          <p:cNvSpPr txBox="1"/>
          <p:nvPr/>
        </p:nvSpPr>
        <p:spPr>
          <a:xfrm>
            <a:off x="2411352" y="482931"/>
            <a:ext cx="49725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R/W</a:t>
            </a:r>
            <a:endParaRPr lang="zh-CN" altLang="en-US" sz="1600" dirty="0">
              <a:solidFill>
                <a:schemeClr val="tx1"/>
              </a:solidFill>
              <a:latin typeface="+mn-ea"/>
              <a:ea typeface="+mn-ea"/>
            </a:endParaRPr>
          </a:p>
        </p:txBody>
      </p:sp>
      <p:sp>
        <p:nvSpPr>
          <p:cNvPr id="70" name="TextBox 69"/>
          <p:cNvSpPr txBox="1"/>
          <p:nvPr/>
        </p:nvSpPr>
        <p:spPr>
          <a:xfrm>
            <a:off x="3147113" y="628364"/>
            <a:ext cx="450764"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DR</a:t>
            </a:r>
            <a:r>
              <a:rPr lang="en-US" altLang="zh-CN" sz="1200" i="1" dirty="0" err="1">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71" name="TextBox 70"/>
          <p:cNvSpPr txBox="1"/>
          <p:nvPr/>
        </p:nvSpPr>
        <p:spPr>
          <a:xfrm>
            <a:off x="3807690"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r>
              <a:rPr lang="en-US" altLang="zh-CN" sz="1200" i="1" dirty="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72" name="TextBox 71"/>
          <p:cNvSpPr txBox="1"/>
          <p:nvPr/>
        </p:nvSpPr>
        <p:spPr>
          <a:xfrm>
            <a:off x="4092404"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r>
              <a:rPr lang="en-US" altLang="zh-CN" sz="1200" i="1" dirty="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73" name="TextBox 72"/>
          <p:cNvSpPr txBox="1"/>
          <p:nvPr/>
        </p:nvSpPr>
        <p:spPr>
          <a:xfrm>
            <a:off x="4389815"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r>
              <a:rPr lang="en-US" altLang="zh-CN" sz="1200" i="1" dirty="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74" name="TextBox 73"/>
          <p:cNvSpPr txBox="1"/>
          <p:nvPr/>
        </p:nvSpPr>
        <p:spPr>
          <a:xfrm>
            <a:off x="4695678" y="628364"/>
            <a:ext cx="40908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r>
              <a:rPr lang="en-US" altLang="zh-CN" sz="1200" i="1" dirty="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75" name="TextBox 74"/>
          <p:cNvSpPr txBox="1"/>
          <p:nvPr/>
        </p:nvSpPr>
        <p:spPr>
          <a:xfrm>
            <a:off x="251520"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IR</a:t>
            </a:r>
            <a:r>
              <a:rPr lang="en-US" altLang="zh-CN" sz="1600" i="1" dirty="0" err="1">
                <a:solidFill>
                  <a:schemeClr val="tx1"/>
                </a:solidFill>
                <a:latin typeface="Times New Roman" pitchFamily="18" charset="0"/>
                <a:cs typeface="Times New Roman" pitchFamily="18" charset="0"/>
              </a:rPr>
              <a:t>o</a:t>
            </a:r>
            <a:endParaRPr lang="zh-CN" altLang="en-US" sz="1600" dirty="0">
              <a:solidFill>
                <a:schemeClr val="tx1"/>
              </a:solidFill>
              <a:latin typeface="+mn-ea"/>
              <a:ea typeface="+mn-ea"/>
            </a:endParaRPr>
          </a:p>
        </p:txBody>
      </p:sp>
      <p:sp>
        <p:nvSpPr>
          <p:cNvPr id="76" name="TextBox 75"/>
          <p:cNvSpPr txBox="1"/>
          <p:nvPr/>
        </p:nvSpPr>
        <p:spPr>
          <a:xfrm>
            <a:off x="1223603"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PC</a:t>
            </a:r>
            <a:r>
              <a:rPr lang="en-US" altLang="zh-CN" sz="1600" i="1" dirty="0" err="1">
                <a:solidFill>
                  <a:schemeClr val="tx1"/>
                </a:solidFill>
                <a:latin typeface="Times New Roman" pitchFamily="18" charset="0"/>
                <a:cs typeface="Times New Roman" pitchFamily="18" charset="0"/>
              </a:rPr>
              <a:t>o</a:t>
            </a:r>
            <a:endParaRPr lang="zh-CN" altLang="en-US" sz="1600" dirty="0">
              <a:solidFill>
                <a:schemeClr val="tx1"/>
              </a:solidFill>
              <a:latin typeface="+mn-ea"/>
              <a:ea typeface="+mn-ea"/>
            </a:endParaRPr>
          </a:p>
        </p:txBody>
      </p:sp>
      <p:sp>
        <p:nvSpPr>
          <p:cNvPr id="77" name="TextBox 76"/>
          <p:cNvSpPr txBox="1"/>
          <p:nvPr/>
        </p:nvSpPr>
        <p:spPr>
          <a:xfrm>
            <a:off x="6523280" y="667864"/>
            <a:ext cx="28886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t>
            </a:r>
            <a:endParaRPr lang="zh-CN" altLang="en-US" sz="1600" dirty="0">
              <a:solidFill>
                <a:schemeClr val="tx1"/>
              </a:solidFill>
              <a:latin typeface="+mn-ea"/>
              <a:ea typeface="+mn-ea"/>
            </a:endParaRPr>
          </a:p>
        </p:txBody>
      </p:sp>
      <p:sp>
        <p:nvSpPr>
          <p:cNvPr id="78" name="TextBox 77"/>
          <p:cNvSpPr txBox="1"/>
          <p:nvPr/>
        </p:nvSpPr>
        <p:spPr>
          <a:xfrm>
            <a:off x="6367733" y="571955"/>
            <a:ext cx="287258"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t>
            </a:r>
            <a:endParaRPr lang="zh-CN" altLang="en-US" sz="1600" dirty="0">
              <a:solidFill>
                <a:schemeClr val="tx1"/>
              </a:solidFill>
              <a:latin typeface="+mn-ea"/>
              <a:ea typeface="+mn-ea"/>
            </a:endParaRPr>
          </a:p>
        </p:txBody>
      </p:sp>
      <p:sp>
        <p:nvSpPr>
          <p:cNvPr id="79" name="TextBox 78"/>
          <p:cNvSpPr txBox="1"/>
          <p:nvPr/>
        </p:nvSpPr>
        <p:spPr>
          <a:xfrm>
            <a:off x="3109013" y="2061397"/>
            <a:ext cx="495649"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DR</a:t>
            </a:r>
            <a:r>
              <a:rPr lang="en-US" altLang="zh-CN" sz="1600" i="1" dirty="0" err="1">
                <a:solidFill>
                  <a:schemeClr val="tx1"/>
                </a:solidFill>
                <a:latin typeface="Times New Roman" pitchFamily="18" charset="0"/>
                <a:cs typeface="Times New Roman" pitchFamily="18" charset="0"/>
              </a:rPr>
              <a:t>o</a:t>
            </a:r>
            <a:endParaRPr lang="zh-CN" altLang="en-US" sz="1600" dirty="0">
              <a:solidFill>
                <a:schemeClr val="tx1"/>
              </a:solidFill>
              <a:latin typeface="+mn-ea"/>
              <a:ea typeface="+mn-ea"/>
            </a:endParaRPr>
          </a:p>
        </p:txBody>
      </p:sp>
      <p:sp>
        <p:nvSpPr>
          <p:cNvPr id="80" name="TextBox 79"/>
          <p:cNvSpPr txBox="1"/>
          <p:nvPr/>
        </p:nvSpPr>
        <p:spPr>
          <a:xfrm>
            <a:off x="3799525"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0</a:t>
            </a:r>
            <a:r>
              <a:rPr lang="en-US" altLang="zh-CN" sz="1200" i="1" dirty="0">
                <a:solidFill>
                  <a:schemeClr val="tx1"/>
                </a:solidFill>
                <a:latin typeface="Times New Roman" pitchFamily="18" charset="0"/>
                <a:cs typeface="Times New Roman" pitchFamily="18" charset="0"/>
              </a:rPr>
              <a:t>o</a:t>
            </a:r>
            <a:endParaRPr lang="zh-CN" altLang="en-US" sz="1200" dirty="0">
              <a:solidFill>
                <a:schemeClr val="tx1"/>
              </a:solidFill>
              <a:latin typeface="+mn-ea"/>
              <a:ea typeface="+mn-ea"/>
            </a:endParaRPr>
          </a:p>
        </p:txBody>
      </p:sp>
      <p:sp>
        <p:nvSpPr>
          <p:cNvPr id="81" name="TextBox 80"/>
          <p:cNvSpPr txBox="1"/>
          <p:nvPr/>
        </p:nvSpPr>
        <p:spPr>
          <a:xfrm>
            <a:off x="4102560"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1</a:t>
            </a:r>
            <a:r>
              <a:rPr lang="en-US" altLang="zh-CN" sz="1200" i="1" dirty="0" smtClean="0">
                <a:solidFill>
                  <a:schemeClr val="tx1"/>
                </a:solidFill>
                <a:latin typeface="Times New Roman" pitchFamily="18" charset="0"/>
                <a:cs typeface="Times New Roman" pitchFamily="18" charset="0"/>
              </a:rPr>
              <a:t>o</a:t>
            </a:r>
            <a:endParaRPr lang="zh-CN" altLang="en-US" sz="1200" dirty="0">
              <a:solidFill>
                <a:schemeClr val="tx1"/>
              </a:solidFill>
              <a:latin typeface="+mn-ea"/>
              <a:ea typeface="+mn-ea"/>
            </a:endParaRPr>
          </a:p>
        </p:txBody>
      </p:sp>
      <p:sp>
        <p:nvSpPr>
          <p:cNvPr id="82" name="TextBox 81"/>
          <p:cNvSpPr txBox="1"/>
          <p:nvPr/>
        </p:nvSpPr>
        <p:spPr>
          <a:xfrm>
            <a:off x="4398976"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2</a:t>
            </a:r>
            <a:r>
              <a:rPr lang="en-US" altLang="zh-CN" sz="1200" i="1" dirty="0">
                <a:solidFill>
                  <a:schemeClr val="tx1"/>
                </a:solidFill>
                <a:latin typeface="Times New Roman" pitchFamily="18" charset="0"/>
                <a:cs typeface="Times New Roman" pitchFamily="18" charset="0"/>
              </a:rPr>
              <a:t>o</a:t>
            </a:r>
            <a:endParaRPr lang="zh-CN" altLang="en-US" sz="1200" dirty="0">
              <a:solidFill>
                <a:schemeClr val="tx1"/>
              </a:solidFill>
              <a:latin typeface="+mn-ea"/>
              <a:ea typeface="+mn-ea"/>
            </a:endParaRPr>
          </a:p>
        </p:txBody>
      </p:sp>
      <p:sp>
        <p:nvSpPr>
          <p:cNvPr id="83" name="TextBox 82"/>
          <p:cNvSpPr txBox="1"/>
          <p:nvPr/>
        </p:nvSpPr>
        <p:spPr>
          <a:xfrm>
            <a:off x="4681440" y="2061397"/>
            <a:ext cx="442750"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R</a:t>
            </a:r>
            <a:r>
              <a:rPr lang="en-US" altLang="zh-CN" sz="1200" dirty="0" smtClean="0">
                <a:solidFill>
                  <a:schemeClr val="tx1"/>
                </a:solidFill>
                <a:latin typeface="+mn-ea"/>
                <a:ea typeface="+mn-ea"/>
              </a:rPr>
              <a:t>3</a:t>
            </a:r>
            <a:r>
              <a:rPr lang="en-US" altLang="zh-CN" sz="1200" i="1" dirty="0">
                <a:solidFill>
                  <a:schemeClr val="tx1"/>
                </a:solidFill>
                <a:latin typeface="Times New Roman" pitchFamily="18" charset="0"/>
                <a:cs typeface="Times New Roman" pitchFamily="18" charset="0"/>
              </a:rPr>
              <a:t>o</a:t>
            </a:r>
            <a:endParaRPr lang="zh-CN" altLang="en-US" sz="1200" dirty="0">
              <a:solidFill>
                <a:schemeClr val="tx1"/>
              </a:solidFill>
              <a:latin typeface="+mn-ea"/>
              <a:ea typeface="+mn-ea"/>
            </a:endParaRPr>
          </a:p>
        </p:txBody>
      </p:sp>
      <p:sp>
        <p:nvSpPr>
          <p:cNvPr id="84" name="椭圆 83"/>
          <p:cNvSpPr/>
          <p:nvPr/>
        </p:nvSpPr>
        <p:spPr bwMode="auto">
          <a:xfrm>
            <a:off x="3513426" y="592329"/>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85" name="直接连接符 84"/>
          <p:cNvCxnSpPr/>
          <p:nvPr/>
        </p:nvCxnSpPr>
        <p:spPr bwMode="auto">
          <a:xfrm>
            <a:off x="3549430" y="448313"/>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86" name="直接箭头连接符 85"/>
          <p:cNvCxnSpPr>
            <a:stCxn id="84" idx="4"/>
          </p:cNvCxnSpPr>
          <p:nvPr/>
        </p:nvCxnSpPr>
        <p:spPr bwMode="auto">
          <a:xfrm>
            <a:off x="3549430" y="664337"/>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87" name="椭圆 86"/>
          <p:cNvSpPr/>
          <p:nvPr/>
        </p:nvSpPr>
        <p:spPr bwMode="auto">
          <a:xfrm>
            <a:off x="4136406"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88" name="直接连接符 87"/>
          <p:cNvCxnSpPr/>
          <p:nvPr/>
        </p:nvCxnSpPr>
        <p:spPr bwMode="auto">
          <a:xfrm>
            <a:off x="4172410"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89" name="直接箭头连接符 88"/>
          <p:cNvCxnSpPr>
            <a:stCxn id="87" idx="4"/>
          </p:cNvCxnSpPr>
          <p:nvPr/>
        </p:nvCxnSpPr>
        <p:spPr bwMode="auto">
          <a:xfrm>
            <a:off x="4172410"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0" name="椭圆 89"/>
          <p:cNvSpPr/>
          <p:nvPr/>
        </p:nvSpPr>
        <p:spPr bwMode="auto">
          <a:xfrm>
            <a:off x="4424047"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1" name="直接连接符 90"/>
          <p:cNvCxnSpPr/>
          <p:nvPr/>
        </p:nvCxnSpPr>
        <p:spPr bwMode="auto">
          <a:xfrm>
            <a:off x="4460051"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2" name="直接箭头连接符 91"/>
          <p:cNvCxnSpPr>
            <a:stCxn id="90" idx="4"/>
          </p:cNvCxnSpPr>
          <p:nvPr/>
        </p:nvCxnSpPr>
        <p:spPr bwMode="auto">
          <a:xfrm>
            <a:off x="4460051"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3" name="椭圆 92"/>
          <p:cNvSpPr/>
          <p:nvPr/>
        </p:nvSpPr>
        <p:spPr bwMode="auto">
          <a:xfrm>
            <a:off x="4712609"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4" name="直接连接符 93"/>
          <p:cNvCxnSpPr/>
          <p:nvPr/>
        </p:nvCxnSpPr>
        <p:spPr bwMode="auto">
          <a:xfrm>
            <a:off x="4748613"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5" name="直接箭头连接符 94"/>
          <p:cNvCxnSpPr>
            <a:stCxn id="93" idx="4"/>
          </p:cNvCxnSpPr>
          <p:nvPr/>
        </p:nvCxnSpPr>
        <p:spPr bwMode="auto">
          <a:xfrm>
            <a:off x="4748613"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6" name="椭圆 95"/>
          <p:cNvSpPr/>
          <p:nvPr/>
        </p:nvSpPr>
        <p:spPr bwMode="auto">
          <a:xfrm>
            <a:off x="5008201" y="59148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97" name="直接连接符 96"/>
          <p:cNvCxnSpPr/>
          <p:nvPr/>
        </p:nvCxnSpPr>
        <p:spPr bwMode="auto">
          <a:xfrm>
            <a:off x="5044205" y="44746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98" name="直接箭头连接符 97"/>
          <p:cNvCxnSpPr>
            <a:stCxn id="96" idx="4"/>
          </p:cNvCxnSpPr>
          <p:nvPr/>
        </p:nvCxnSpPr>
        <p:spPr bwMode="auto">
          <a:xfrm>
            <a:off x="5044205" y="663489"/>
            <a:ext cx="0" cy="402934"/>
          </a:xfrm>
          <a:prstGeom prst="straightConnector1">
            <a:avLst/>
          </a:prstGeom>
          <a:noFill/>
          <a:ln w="9525" cap="flat" cmpd="sng" algn="ctr">
            <a:solidFill>
              <a:schemeClr val="tx1"/>
            </a:solidFill>
            <a:prstDash val="solid"/>
            <a:round/>
            <a:headEnd type="none" w="med" len="med"/>
            <a:tailEnd type="triangle" w="med" len="med"/>
          </a:ln>
          <a:effectLst/>
        </p:spPr>
      </p:cxnSp>
      <p:sp>
        <p:nvSpPr>
          <p:cNvPr id="99" name="TextBox 98"/>
          <p:cNvSpPr txBox="1"/>
          <p:nvPr/>
        </p:nvSpPr>
        <p:spPr>
          <a:xfrm>
            <a:off x="5865767" y="500818"/>
            <a:ext cx="33214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x</a:t>
            </a:r>
            <a:r>
              <a:rPr lang="en-US" altLang="zh-CN" sz="1200" i="1" dirty="0" smtClean="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100" name="TextBox 99"/>
          <p:cNvSpPr txBox="1"/>
          <p:nvPr/>
        </p:nvSpPr>
        <p:spPr>
          <a:xfrm>
            <a:off x="5376190" y="1768932"/>
            <a:ext cx="332142"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y</a:t>
            </a:r>
            <a:r>
              <a:rPr lang="en-US" altLang="zh-CN" sz="1200" i="1" dirty="0" err="1" smtClean="0">
                <a:solidFill>
                  <a:schemeClr val="tx1"/>
                </a:solidFill>
                <a:latin typeface="Times New Roman" pitchFamily="18" charset="0"/>
                <a:cs typeface="Times New Roman" pitchFamily="18" charset="0"/>
              </a:rPr>
              <a:t>i</a:t>
            </a:r>
            <a:endParaRPr lang="zh-CN" altLang="en-US" sz="1200" dirty="0">
              <a:solidFill>
                <a:schemeClr val="tx1"/>
              </a:solidFill>
              <a:latin typeface="+mn-ea"/>
              <a:ea typeface="+mn-ea"/>
            </a:endParaRPr>
          </a:p>
        </p:txBody>
      </p:sp>
      <p:sp>
        <p:nvSpPr>
          <p:cNvPr id="101" name="椭圆 100"/>
          <p:cNvSpPr/>
          <p:nvPr/>
        </p:nvSpPr>
        <p:spPr bwMode="auto">
          <a:xfrm>
            <a:off x="5825722" y="598087"/>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2" name="直接连接符 101"/>
          <p:cNvCxnSpPr/>
          <p:nvPr/>
        </p:nvCxnSpPr>
        <p:spPr bwMode="auto">
          <a:xfrm>
            <a:off x="5861726" y="454071"/>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3" name="直接箭头连接符 102"/>
          <p:cNvCxnSpPr>
            <a:stCxn id="101" idx="4"/>
            <a:endCxn id="38" idx="0"/>
          </p:cNvCxnSpPr>
          <p:nvPr/>
        </p:nvCxnSpPr>
        <p:spPr bwMode="auto">
          <a:xfrm>
            <a:off x="5861726" y="670095"/>
            <a:ext cx="7058" cy="270258"/>
          </a:xfrm>
          <a:prstGeom prst="straightConnector1">
            <a:avLst/>
          </a:prstGeom>
          <a:noFill/>
          <a:ln w="9525" cap="flat" cmpd="sng" algn="ctr">
            <a:solidFill>
              <a:schemeClr val="tx1"/>
            </a:solidFill>
            <a:prstDash val="solid"/>
            <a:round/>
            <a:headEnd type="none" w="med" len="med"/>
            <a:tailEnd type="triangle" w="med" len="med"/>
          </a:ln>
          <a:effectLst/>
        </p:spPr>
      </p:cxnSp>
      <p:sp>
        <p:nvSpPr>
          <p:cNvPr id="104" name="椭圆 103"/>
          <p:cNvSpPr/>
          <p:nvPr/>
        </p:nvSpPr>
        <p:spPr bwMode="auto">
          <a:xfrm>
            <a:off x="4724211" y="200576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5" name="直接连接符 104"/>
          <p:cNvCxnSpPr/>
          <p:nvPr/>
        </p:nvCxnSpPr>
        <p:spPr bwMode="auto">
          <a:xfrm>
            <a:off x="4760215" y="186175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6" name="直接箭头连接符 105"/>
          <p:cNvCxnSpPr>
            <a:stCxn id="104" idx="4"/>
          </p:cNvCxnSpPr>
          <p:nvPr/>
        </p:nvCxnSpPr>
        <p:spPr bwMode="auto">
          <a:xfrm>
            <a:off x="4760215" y="207777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07" name="椭圆 106"/>
          <p:cNvSpPr/>
          <p:nvPr/>
        </p:nvSpPr>
        <p:spPr bwMode="auto">
          <a:xfrm>
            <a:off x="4147010" y="2006496"/>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08" name="直接连接符 107"/>
          <p:cNvCxnSpPr/>
          <p:nvPr/>
        </p:nvCxnSpPr>
        <p:spPr bwMode="auto">
          <a:xfrm>
            <a:off x="4183014" y="1862480"/>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09" name="直接箭头连接符 108"/>
          <p:cNvCxnSpPr>
            <a:stCxn id="107" idx="4"/>
          </p:cNvCxnSpPr>
          <p:nvPr/>
        </p:nvCxnSpPr>
        <p:spPr bwMode="auto">
          <a:xfrm>
            <a:off x="4183014" y="2078504"/>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0" name="椭圆 109"/>
          <p:cNvSpPr/>
          <p:nvPr/>
        </p:nvSpPr>
        <p:spPr bwMode="auto">
          <a:xfrm>
            <a:off x="5017456" y="200816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1" name="直接连接符 110"/>
          <p:cNvCxnSpPr/>
          <p:nvPr/>
        </p:nvCxnSpPr>
        <p:spPr bwMode="auto">
          <a:xfrm>
            <a:off x="5053460" y="186414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2" name="直接箭头连接符 111"/>
          <p:cNvCxnSpPr>
            <a:stCxn id="110" idx="4"/>
          </p:cNvCxnSpPr>
          <p:nvPr/>
        </p:nvCxnSpPr>
        <p:spPr bwMode="auto">
          <a:xfrm>
            <a:off x="5053460" y="2080169"/>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3" name="椭圆 112"/>
          <p:cNvSpPr/>
          <p:nvPr/>
        </p:nvSpPr>
        <p:spPr bwMode="auto">
          <a:xfrm>
            <a:off x="3511638" y="199941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4" name="直接连接符 113"/>
          <p:cNvCxnSpPr/>
          <p:nvPr/>
        </p:nvCxnSpPr>
        <p:spPr bwMode="auto">
          <a:xfrm>
            <a:off x="3547642" y="185540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5" name="直接箭头连接符 114"/>
          <p:cNvCxnSpPr>
            <a:stCxn id="113" idx="4"/>
          </p:cNvCxnSpPr>
          <p:nvPr/>
        </p:nvCxnSpPr>
        <p:spPr bwMode="auto">
          <a:xfrm>
            <a:off x="3547642" y="207142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6" name="椭圆 115"/>
          <p:cNvSpPr/>
          <p:nvPr/>
        </p:nvSpPr>
        <p:spPr bwMode="auto">
          <a:xfrm>
            <a:off x="1194682" y="2001811"/>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17" name="直接连接符 116"/>
          <p:cNvCxnSpPr/>
          <p:nvPr/>
        </p:nvCxnSpPr>
        <p:spPr bwMode="auto">
          <a:xfrm>
            <a:off x="1230686" y="1857795"/>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18" name="直接箭头连接符 117"/>
          <p:cNvCxnSpPr>
            <a:stCxn id="116" idx="4"/>
          </p:cNvCxnSpPr>
          <p:nvPr/>
        </p:nvCxnSpPr>
        <p:spPr bwMode="auto">
          <a:xfrm>
            <a:off x="1230686" y="2073819"/>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19" name="椭圆 118"/>
          <p:cNvSpPr/>
          <p:nvPr/>
        </p:nvSpPr>
        <p:spPr bwMode="auto">
          <a:xfrm>
            <a:off x="652526" y="2005768"/>
            <a:ext cx="72008" cy="72008"/>
          </a:xfrm>
          <a:prstGeom prst="ellipse">
            <a:avLst/>
          </a:prstGeom>
          <a:noFill/>
          <a:ln w="9525" cap="sq">
            <a:solidFill>
              <a:schemeClr val="tx1"/>
            </a:solidFill>
            <a:round/>
            <a:headEnd type="none" w="sm" len="sm"/>
            <a:tailEnd type="none" w="sm" len="sm"/>
          </a:ln>
        </p:spPr>
        <p:txBody>
          <a:bodyPr wrap="none" rtlCol="0" anchor="ctr"/>
          <a:lstStyle/>
          <a:p>
            <a:pPr algn="ctr"/>
            <a:endParaRPr lang="zh-CN" altLang="en-US"/>
          </a:p>
        </p:txBody>
      </p:sp>
      <p:cxnSp>
        <p:nvCxnSpPr>
          <p:cNvPr id="120" name="直接连接符 119"/>
          <p:cNvCxnSpPr/>
          <p:nvPr/>
        </p:nvCxnSpPr>
        <p:spPr bwMode="auto">
          <a:xfrm>
            <a:off x="688530" y="1861752"/>
            <a:ext cx="0" cy="144016"/>
          </a:xfrm>
          <a:prstGeom prst="line">
            <a:avLst/>
          </a:prstGeom>
          <a:noFill/>
          <a:ln w="9525" cap="flat" cmpd="sng" algn="ctr">
            <a:solidFill>
              <a:schemeClr val="tx1"/>
            </a:solidFill>
            <a:prstDash val="solid"/>
            <a:round/>
            <a:headEnd type="none" w="med" len="med"/>
            <a:tailEnd type="none" w="med" len="med"/>
          </a:ln>
          <a:effectLst/>
        </p:spPr>
      </p:cxnSp>
      <p:cxnSp>
        <p:nvCxnSpPr>
          <p:cNvPr id="121" name="直接箭头连接符 120"/>
          <p:cNvCxnSpPr>
            <a:stCxn id="119" idx="4"/>
          </p:cNvCxnSpPr>
          <p:nvPr/>
        </p:nvCxnSpPr>
        <p:spPr bwMode="auto">
          <a:xfrm>
            <a:off x="688530" y="2077776"/>
            <a:ext cx="0" cy="394183"/>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2" name="TextBox 121"/>
          <p:cNvSpPr txBox="1"/>
          <p:nvPr/>
        </p:nvSpPr>
        <p:spPr>
          <a:xfrm>
            <a:off x="6578100" y="1955203"/>
            <a:ext cx="574196" cy="338554"/>
          </a:xfrm>
          <a:prstGeom prst="rect">
            <a:avLst/>
          </a:prstGeom>
          <a:noFill/>
          <a:ln>
            <a:noFill/>
          </a:ln>
        </p:spPr>
        <p:txBody>
          <a:bodyPr wrap="none" rtlCol="0">
            <a:spAutoFit/>
          </a:bodyPr>
          <a:lstStyle/>
          <a:p>
            <a:r>
              <a:rPr lang="en-US" altLang="zh-CN" sz="1600" dirty="0" err="1" smtClean="0">
                <a:solidFill>
                  <a:schemeClr val="tx1"/>
                </a:solidFill>
                <a:latin typeface="+mn-ea"/>
                <a:ea typeface="+mn-ea"/>
              </a:rPr>
              <a:t>ALU</a:t>
            </a:r>
            <a:r>
              <a:rPr lang="en-US" altLang="zh-CN" sz="1200" i="1" dirty="0" err="1" smtClean="0">
                <a:solidFill>
                  <a:schemeClr val="tx1"/>
                </a:solidFill>
                <a:latin typeface="Times New Roman" pitchFamily="18" charset="0"/>
                <a:cs typeface="Times New Roman" pitchFamily="18" charset="0"/>
              </a:rPr>
              <a:t>o</a:t>
            </a:r>
            <a:endParaRPr lang="zh-CN" altLang="en-US" sz="1200" dirty="0">
              <a:solidFill>
                <a:schemeClr val="tx1"/>
              </a:solidFill>
              <a:latin typeface="+mn-ea"/>
              <a:ea typeface="+mn-ea"/>
            </a:endParaRPr>
          </a:p>
        </p:txBody>
      </p:sp>
      <p:cxnSp>
        <p:nvCxnSpPr>
          <p:cNvPr id="123" name="直接连接符 122"/>
          <p:cNvCxnSpPr/>
          <p:nvPr/>
        </p:nvCxnSpPr>
        <p:spPr bwMode="auto">
          <a:xfrm>
            <a:off x="2725890" y="571149"/>
            <a:ext cx="109555" cy="0"/>
          </a:xfrm>
          <a:prstGeom prst="line">
            <a:avLst/>
          </a:prstGeom>
          <a:noFill/>
          <a:ln w="9525" cap="flat" cmpd="sng" algn="ctr">
            <a:solidFill>
              <a:schemeClr val="tx1"/>
            </a:solidFill>
            <a:prstDash val="solid"/>
            <a:round/>
            <a:headEnd type="none" w="med" len="med"/>
            <a:tailEnd type="none" w="med" len="med"/>
          </a:ln>
          <a:effectLst/>
        </p:spPr>
      </p:cxnSp>
      <p:cxnSp>
        <p:nvCxnSpPr>
          <p:cNvPr id="124" name="直接箭头连接符 123"/>
          <p:cNvCxnSpPr>
            <a:stCxn id="23" idx="3"/>
            <a:endCxn id="24" idx="1"/>
          </p:cNvCxnSpPr>
          <p:nvPr/>
        </p:nvCxnSpPr>
        <p:spPr bwMode="auto">
          <a:xfrm>
            <a:off x="1999176" y="1446313"/>
            <a:ext cx="341284" cy="0"/>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125" name="直接箭头连接符 124"/>
          <p:cNvCxnSpPr/>
          <p:nvPr/>
        </p:nvCxnSpPr>
        <p:spPr bwMode="auto">
          <a:xfrm flipV="1">
            <a:off x="2991386" y="1308352"/>
            <a:ext cx="381109" cy="0"/>
          </a:xfrm>
          <a:prstGeom prst="straightConnector1">
            <a:avLst/>
          </a:prstGeom>
          <a:noFill/>
          <a:ln w="9525" cap="flat" cmpd="sng" algn="ctr">
            <a:solidFill>
              <a:schemeClr val="tx1"/>
            </a:solidFill>
            <a:prstDash val="solid"/>
            <a:round/>
            <a:headEnd type="none" w="med" len="med"/>
            <a:tailEnd type="triangle" w="med" len="med"/>
          </a:ln>
          <a:effectLst/>
        </p:spPr>
      </p:cxnSp>
      <p:cxnSp>
        <p:nvCxnSpPr>
          <p:cNvPr id="126" name="直接箭头连接符 125"/>
          <p:cNvCxnSpPr/>
          <p:nvPr/>
        </p:nvCxnSpPr>
        <p:spPr bwMode="auto">
          <a:xfrm flipH="1" flipV="1">
            <a:off x="2985276" y="1592697"/>
            <a:ext cx="379268" cy="1232"/>
          </a:xfrm>
          <a:prstGeom prst="straightConnector1">
            <a:avLst/>
          </a:prstGeom>
          <a:noFill/>
          <a:ln w="9525" cap="flat" cmpd="sng" algn="ctr">
            <a:solidFill>
              <a:schemeClr val="tx1"/>
            </a:solidFill>
            <a:prstDash val="solid"/>
            <a:round/>
            <a:headEnd type="none" w="med" len="med"/>
            <a:tailEnd type="triangle" w="med" len="med"/>
          </a:ln>
          <a:effectLst/>
        </p:spPr>
      </p:cxnSp>
      <p:sp>
        <p:nvSpPr>
          <p:cNvPr id="127" name="TextBox 126"/>
          <p:cNvSpPr txBox="1"/>
          <p:nvPr/>
        </p:nvSpPr>
        <p:spPr>
          <a:xfrm>
            <a:off x="7799563" y="1175991"/>
            <a:ext cx="288862"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G</a:t>
            </a:r>
            <a:endParaRPr lang="zh-CN" altLang="en-US" sz="1600" dirty="0">
              <a:solidFill>
                <a:schemeClr val="tx1"/>
              </a:solidFill>
              <a:latin typeface="+mn-ea"/>
              <a:ea typeface="+mn-ea"/>
            </a:endParaRPr>
          </a:p>
        </p:txBody>
      </p:sp>
      <p:sp>
        <p:nvSpPr>
          <p:cNvPr id="128" name="TextBox 127"/>
          <p:cNvSpPr txBox="1"/>
          <p:nvPr/>
        </p:nvSpPr>
        <p:spPr>
          <a:xfrm>
            <a:off x="395951" y="51523"/>
            <a:ext cx="70243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A</a:t>
            </a:r>
            <a:r>
              <a:rPr lang="zh-CN" altLang="en-US" sz="1600" dirty="0" smtClean="0">
                <a:solidFill>
                  <a:schemeClr val="tx1"/>
                </a:solidFill>
                <a:latin typeface="+mn-ea"/>
                <a:ea typeface="+mn-ea"/>
              </a:rPr>
              <a:t>总线</a:t>
            </a:r>
            <a:endParaRPr lang="zh-CN" altLang="en-US" sz="1600" dirty="0">
              <a:solidFill>
                <a:schemeClr val="tx1"/>
              </a:solidFill>
              <a:latin typeface="+mn-ea"/>
              <a:ea typeface="+mn-ea"/>
            </a:endParaRPr>
          </a:p>
        </p:txBody>
      </p:sp>
      <p:sp>
        <p:nvSpPr>
          <p:cNvPr id="129" name="TextBox 128"/>
          <p:cNvSpPr txBox="1"/>
          <p:nvPr/>
        </p:nvSpPr>
        <p:spPr>
          <a:xfrm>
            <a:off x="395951" y="2512925"/>
            <a:ext cx="702436" cy="338554"/>
          </a:xfrm>
          <a:prstGeom prst="rect">
            <a:avLst/>
          </a:prstGeom>
          <a:noFill/>
          <a:ln>
            <a:noFill/>
          </a:ln>
        </p:spPr>
        <p:txBody>
          <a:bodyPr wrap="none" rtlCol="0">
            <a:spAutoFit/>
          </a:bodyPr>
          <a:lstStyle/>
          <a:p>
            <a:r>
              <a:rPr lang="en-US" altLang="zh-CN" sz="1600" dirty="0" smtClean="0">
                <a:solidFill>
                  <a:schemeClr val="tx1"/>
                </a:solidFill>
                <a:latin typeface="+mn-ea"/>
                <a:ea typeface="+mn-ea"/>
              </a:rPr>
              <a:t>B</a:t>
            </a:r>
            <a:r>
              <a:rPr lang="zh-CN" altLang="en-US" sz="1600" dirty="0" smtClean="0">
                <a:solidFill>
                  <a:schemeClr val="tx1"/>
                </a:solidFill>
                <a:latin typeface="+mn-ea"/>
                <a:ea typeface="+mn-ea"/>
              </a:rPr>
              <a:t>总线</a:t>
            </a:r>
            <a:endParaRPr lang="zh-CN" altLang="en-US" sz="1600" dirty="0">
              <a:solidFill>
                <a:schemeClr val="tx1"/>
              </a:solidFill>
              <a:latin typeface="+mn-ea"/>
              <a:ea typeface="+mn-ea"/>
            </a:endParaRPr>
          </a:p>
        </p:txBody>
      </p:sp>
      <p:cxnSp>
        <p:nvCxnSpPr>
          <p:cNvPr id="130" name="直接连接符 129"/>
          <p:cNvCxnSpPr/>
          <p:nvPr/>
        </p:nvCxnSpPr>
        <p:spPr bwMode="auto">
          <a:xfrm>
            <a:off x="6012800" y="1301472"/>
            <a:ext cx="360108" cy="0"/>
          </a:xfrm>
          <a:prstGeom prst="line">
            <a:avLst/>
          </a:prstGeom>
          <a:noFill/>
          <a:ln w="9525" cap="flat" cmpd="sng" algn="ctr">
            <a:solidFill>
              <a:schemeClr val="tx1"/>
            </a:solidFill>
            <a:prstDash val="solid"/>
            <a:round/>
            <a:headEnd type="none" w="med" len="med"/>
            <a:tailEnd type="none" w="med" len="med"/>
          </a:ln>
          <a:effectLst/>
        </p:spPr>
      </p:cxnSp>
      <p:cxnSp>
        <p:nvCxnSpPr>
          <p:cNvPr id="131" name="直接连接符 130"/>
          <p:cNvCxnSpPr/>
          <p:nvPr/>
        </p:nvCxnSpPr>
        <p:spPr bwMode="auto">
          <a:xfrm>
            <a:off x="6012800" y="1747130"/>
            <a:ext cx="360108" cy="0"/>
          </a:xfrm>
          <a:prstGeom prst="line">
            <a:avLst/>
          </a:prstGeom>
          <a:noFill/>
          <a:ln w="9525" cap="flat" cmpd="sng" algn="ctr">
            <a:solidFill>
              <a:schemeClr val="tx1"/>
            </a:solidFill>
            <a:prstDash val="solid"/>
            <a:round/>
            <a:headEnd type="none" w="med" len="med"/>
            <a:tailEnd type="none" w="med" len="med"/>
          </a:ln>
          <a:effectLst/>
        </p:spPr>
      </p:cxnSp>
      <p:pic>
        <p:nvPicPr>
          <p:cNvPr id="279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21" y="3223587"/>
            <a:ext cx="8281917" cy="3574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2C6D6C8F-0E4E-4571-8004-DD675A520189}" type="slidenum">
              <a:rPr lang="en-US" altLang="zh-CN" smtClean="0"/>
              <a:pPr/>
              <a:t>30</a:t>
            </a:fld>
            <a:endParaRPr lang="en-US" altLang="zh-CN" dirty="0" smtClean="0"/>
          </a:p>
        </p:txBody>
      </p:sp>
      <p:sp>
        <p:nvSpPr>
          <p:cNvPr id="29699" name="Rectangle 2"/>
          <p:cNvSpPr>
            <a:spLocks noGrp="1" noChangeArrowheads="1"/>
          </p:cNvSpPr>
          <p:nvPr>
            <p:ph type="title"/>
          </p:nvPr>
        </p:nvSpPr>
        <p:spPr>
          <a:xfrm>
            <a:off x="468313" y="476250"/>
            <a:ext cx="7543800" cy="642938"/>
          </a:xfrm>
        </p:spPr>
        <p:txBody>
          <a:bodyPr/>
          <a:lstStyle/>
          <a:p>
            <a:pPr eaLnBrk="1" hangingPunct="1"/>
            <a:r>
              <a:rPr lang="zh-CN" altLang="en-US" sz="3500" smtClean="0"/>
              <a:t>总结：</a:t>
            </a:r>
          </a:p>
        </p:txBody>
      </p:sp>
      <p:sp>
        <p:nvSpPr>
          <p:cNvPr id="29700" name="Rectangle 3"/>
          <p:cNvSpPr>
            <a:spLocks noGrp="1" noChangeArrowheads="1"/>
          </p:cNvSpPr>
          <p:nvPr>
            <p:ph type="body" idx="1"/>
          </p:nvPr>
        </p:nvSpPr>
        <p:spPr>
          <a:xfrm>
            <a:off x="468313" y="1268413"/>
            <a:ext cx="7283450" cy="2665412"/>
          </a:xfrm>
        </p:spPr>
        <p:txBody>
          <a:bodyPr/>
          <a:lstStyle/>
          <a:p>
            <a:pPr eaLnBrk="1" hangingPunct="1"/>
            <a:r>
              <a:rPr lang="zh-CN" altLang="en-US" smtClean="0"/>
              <a:t>一条指令包括一个取指令周期和一个及一个以上的执行周期组成</a:t>
            </a:r>
          </a:p>
          <a:p>
            <a:pPr eaLnBrk="1" hangingPunct="1"/>
            <a:r>
              <a:rPr lang="zh-CN" altLang="en-US" smtClean="0"/>
              <a:t>在每个</a:t>
            </a:r>
            <a:r>
              <a:rPr lang="en-US" altLang="zh-CN" dirty="0" smtClean="0"/>
              <a:t>CPU</a:t>
            </a:r>
            <a:r>
              <a:rPr lang="zh-CN" altLang="en-US" smtClean="0"/>
              <a:t>周期中数据通路是明确的</a:t>
            </a:r>
          </a:p>
          <a:p>
            <a:pPr eaLnBrk="1" hangingPunct="1"/>
            <a:r>
              <a:rPr lang="zh-CN" altLang="en-US" smtClean="0"/>
              <a:t>数据通路的建立及操作受到操作控制器的控制，当然决定于是什么指令。</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p:spPr>
        <p:txBody>
          <a:bodyPr/>
          <a:lstStyle/>
          <a:p>
            <a:fld id="{8C4C175A-87F5-4293-A0EA-F2DE460735C2}" type="slidenum">
              <a:rPr lang="en-US" altLang="zh-CN" smtClean="0"/>
              <a:pPr/>
              <a:t>31</a:t>
            </a:fld>
            <a:endParaRPr lang="en-US" altLang="zh-CN" dirty="0" smtClean="0"/>
          </a:p>
        </p:txBody>
      </p:sp>
      <p:sp>
        <p:nvSpPr>
          <p:cNvPr id="30723" name="Rectangle 4"/>
          <p:cNvSpPr>
            <a:spLocks noChangeArrowheads="1"/>
          </p:cNvSpPr>
          <p:nvPr/>
        </p:nvSpPr>
        <p:spPr bwMode="auto">
          <a:xfrm>
            <a:off x="179388" y="425450"/>
            <a:ext cx="7848600" cy="2308324"/>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dirty="0">
                <a:solidFill>
                  <a:schemeClr val="tx1"/>
                </a:solidFill>
                <a:latin typeface="宋体" pitchFamily="2" charset="-122"/>
              </a:rPr>
              <a:t>P181</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参见图</a:t>
            </a:r>
            <a:r>
              <a:rPr lang="en-US" altLang="zh-CN" sz="2400" b="0" dirty="0" smtClean="0">
                <a:solidFill>
                  <a:schemeClr val="tx1"/>
                </a:solidFill>
                <a:latin typeface="宋体" pitchFamily="2" charset="-122"/>
              </a:rPr>
              <a:t>5.15</a:t>
            </a:r>
            <a:r>
              <a:rPr lang="zh-CN" altLang="en-US" sz="2400" b="0" dirty="0" smtClean="0">
                <a:solidFill>
                  <a:schemeClr val="tx1"/>
                </a:solidFill>
                <a:latin typeface="宋体" pitchFamily="2" charset="-122"/>
              </a:rPr>
              <a:t>的</a:t>
            </a:r>
            <a:r>
              <a:rPr lang="zh-CN" altLang="en-US" sz="2400" b="0" dirty="0">
                <a:solidFill>
                  <a:schemeClr val="tx1"/>
                </a:solidFill>
                <a:latin typeface="宋体" pitchFamily="2" charset="-122"/>
              </a:rPr>
              <a:t>数据通路。画出存数指令“</a:t>
            </a:r>
            <a:r>
              <a:rPr lang="en-US" altLang="zh-CN" sz="2400" b="0" dirty="0">
                <a:solidFill>
                  <a:schemeClr val="tx1"/>
                </a:solidFill>
                <a:latin typeface="宋体" pitchFamily="2" charset="-122"/>
              </a:rPr>
              <a:t>STO R1</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(R2)”</a:t>
            </a:r>
            <a:r>
              <a:rPr lang="zh-CN" altLang="en-US" sz="2400" b="0" dirty="0">
                <a:solidFill>
                  <a:schemeClr val="tx1"/>
                </a:solidFill>
                <a:latin typeface="宋体" pitchFamily="2" charset="-122"/>
              </a:rPr>
              <a:t>指令周期流程图，其含义是将寄存器</a:t>
            </a:r>
            <a:r>
              <a:rPr lang="en-US" altLang="zh-CN" sz="2400" b="0" dirty="0">
                <a:solidFill>
                  <a:schemeClr val="tx1"/>
                </a:solidFill>
                <a:latin typeface="宋体" pitchFamily="2" charset="-122"/>
              </a:rPr>
              <a:t>R1</a:t>
            </a:r>
            <a:r>
              <a:rPr lang="zh-CN" altLang="en-US" sz="2400" b="0" dirty="0">
                <a:solidFill>
                  <a:schemeClr val="tx1"/>
                </a:solidFill>
                <a:latin typeface="宋体" pitchFamily="2" charset="-122"/>
              </a:rPr>
              <a:t>的内容传送至</a:t>
            </a:r>
            <a:r>
              <a:rPr lang="en-US" altLang="zh-CN" sz="2400" b="0" dirty="0">
                <a:solidFill>
                  <a:schemeClr val="tx1"/>
                </a:solidFill>
                <a:latin typeface="宋体" pitchFamily="2" charset="-122"/>
              </a:rPr>
              <a:t>(R2)</a:t>
            </a:r>
            <a:r>
              <a:rPr lang="zh-CN" altLang="en-US" sz="2400" b="0" dirty="0">
                <a:solidFill>
                  <a:schemeClr val="tx1"/>
                </a:solidFill>
                <a:latin typeface="宋体" pitchFamily="2" charset="-122"/>
              </a:rPr>
              <a:t>为地址的存储单元中。标出各微操作信号序列。 </a:t>
            </a:r>
          </a:p>
          <a:p>
            <a:pPr eaLnBrk="0" hangingPunct="0"/>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参见图</a:t>
            </a:r>
            <a:r>
              <a:rPr lang="en-US" altLang="zh-CN" sz="2400" b="0" dirty="0">
                <a:solidFill>
                  <a:schemeClr val="tx1"/>
                </a:solidFill>
                <a:latin typeface="宋体" pitchFamily="2" charset="-122"/>
              </a:rPr>
              <a:t>5.1</a:t>
            </a:r>
            <a:r>
              <a:rPr lang="zh-CN" altLang="en-US" sz="2400" b="0" dirty="0">
                <a:solidFill>
                  <a:schemeClr val="tx1"/>
                </a:solidFill>
                <a:latin typeface="宋体" pitchFamily="2" charset="-122"/>
              </a:rPr>
              <a:t>的数据通路。画出存数指令“</a:t>
            </a:r>
            <a:r>
              <a:rPr lang="en-US" altLang="zh-CN" sz="2400" b="0" dirty="0">
                <a:solidFill>
                  <a:schemeClr val="tx1"/>
                </a:solidFill>
                <a:latin typeface="宋体" pitchFamily="2" charset="-122"/>
              </a:rPr>
              <a:t>LAD (R3)</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R0”</a:t>
            </a:r>
            <a:r>
              <a:rPr lang="zh-CN" altLang="en-US" sz="2400" b="0" dirty="0">
                <a:solidFill>
                  <a:schemeClr val="tx1"/>
                </a:solidFill>
                <a:latin typeface="宋体" pitchFamily="2" charset="-122"/>
              </a:rPr>
              <a:t>指令周期流程图，其含义是将</a:t>
            </a:r>
            <a:r>
              <a:rPr lang="en-US" altLang="zh-CN" sz="2400" b="0" dirty="0">
                <a:solidFill>
                  <a:schemeClr val="tx1"/>
                </a:solidFill>
                <a:latin typeface="宋体" pitchFamily="2" charset="-122"/>
              </a:rPr>
              <a:t>(R3)</a:t>
            </a:r>
            <a:r>
              <a:rPr lang="zh-CN" altLang="en-US" sz="2400" b="0" dirty="0">
                <a:solidFill>
                  <a:schemeClr val="tx1"/>
                </a:solidFill>
                <a:latin typeface="宋体" pitchFamily="2" charset="-122"/>
              </a:rPr>
              <a:t>为地址数存单元的内容取至寄存器</a:t>
            </a:r>
            <a:r>
              <a:rPr lang="en-US" altLang="zh-CN" sz="2400" b="0" dirty="0">
                <a:solidFill>
                  <a:schemeClr val="tx1"/>
                </a:solidFill>
                <a:latin typeface="宋体" pitchFamily="2" charset="-122"/>
              </a:rPr>
              <a:t>R0</a:t>
            </a:r>
            <a:r>
              <a:rPr lang="zh-CN" altLang="en-US" sz="2400" b="0" dirty="0">
                <a:solidFill>
                  <a:schemeClr val="tx1"/>
                </a:solidFill>
                <a:latin typeface="宋体" pitchFamily="2" charset="-122"/>
              </a:rPr>
              <a:t>中。标出各微操作信号序列。 </a:t>
            </a:r>
          </a:p>
        </p:txBody>
      </p:sp>
      <p:pic>
        <p:nvPicPr>
          <p:cNvPr id="30724" name="Picture 5" descr="5a15"/>
          <p:cNvPicPr>
            <a:picLocks noChangeAspect="1" noChangeArrowheads="1"/>
          </p:cNvPicPr>
          <p:nvPr/>
        </p:nvPicPr>
        <p:blipFill>
          <a:blip r:embed="rId2"/>
          <a:srcRect/>
          <a:stretch>
            <a:fillRect/>
          </a:stretch>
        </p:blipFill>
        <p:spPr bwMode="auto">
          <a:xfrm>
            <a:off x="250825" y="2708275"/>
            <a:ext cx="7920038" cy="3910013"/>
          </a:xfrm>
          <a:prstGeom prst="rect">
            <a:avLst/>
          </a:prstGeom>
          <a:noFill/>
          <a:ln w="9525">
            <a:noFill/>
            <a:miter lim="800000"/>
            <a:headEnd/>
            <a:tailEnd/>
          </a:ln>
        </p:spPr>
      </p:pic>
      <p:sp>
        <p:nvSpPr>
          <p:cNvPr id="5" name="矩形标注 4"/>
          <p:cNvSpPr/>
          <p:nvPr/>
        </p:nvSpPr>
        <p:spPr bwMode="auto">
          <a:xfrm>
            <a:off x="1428728" y="6357934"/>
            <a:ext cx="2143140" cy="400758"/>
          </a:xfrm>
          <a:prstGeom prst="wedgeRectCallout">
            <a:avLst>
              <a:gd name="adj1" fmla="val -53223"/>
              <a:gd name="adj2" fmla="val -386801"/>
            </a:avLst>
          </a:prstGeom>
          <a:ln>
            <a:headEnd type="none" w="sm" len="sm"/>
            <a:tailEnd type="none" w="sm" len="sm"/>
          </a:ln>
        </p:spPr>
        <p:style>
          <a:lnRef idx="0">
            <a:schemeClr val="accent6"/>
          </a:lnRef>
          <a:fillRef idx="3">
            <a:schemeClr val="accent6"/>
          </a:fillRef>
          <a:effectRef idx="3">
            <a:schemeClr val="accent6"/>
          </a:effectRef>
          <a:fontRef idx="minor">
            <a:schemeClr val="lt1"/>
          </a:fontRef>
        </p:style>
        <p:txBody>
          <a:bodyPr wrap="none" rtlCol="0" anchor="ctr"/>
          <a:lstStyle/>
          <a:p>
            <a:r>
              <a:rPr lang="en-US" altLang="zh-CN" sz="2000" dirty="0" smtClean="0">
                <a:solidFill>
                  <a:srgbClr val="FF0000"/>
                </a:solidFill>
                <a:latin typeface="+mn-ea"/>
              </a:rPr>
              <a:t>PC</a:t>
            </a:r>
            <a:r>
              <a:rPr lang="zh-CN" altLang="en-US" sz="2000" dirty="0" smtClean="0">
                <a:solidFill>
                  <a:srgbClr val="FF0000"/>
                </a:solidFill>
                <a:latin typeface="+mn-ea"/>
              </a:rPr>
              <a:t>具有自增功能</a:t>
            </a:r>
            <a:endParaRPr lang="zh-CN" altLang="en-US" sz="2000" dirty="0">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p:spPr>
        <p:txBody>
          <a:bodyPr/>
          <a:lstStyle/>
          <a:p>
            <a:fld id="{671C46E7-E113-436C-BDB1-543041FD21A2}" type="slidenum">
              <a:rPr lang="en-US" altLang="zh-CN" smtClean="0"/>
              <a:pPr/>
              <a:t>32</a:t>
            </a:fld>
            <a:endParaRPr lang="en-US" altLang="zh-CN" dirty="0" smtClean="0"/>
          </a:p>
        </p:txBody>
      </p:sp>
      <p:pic>
        <p:nvPicPr>
          <p:cNvPr id="31748" name="Picture 5" descr="5a15"/>
          <p:cNvPicPr>
            <a:picLocks noChangeAspect="1" noChangeArrowheads="1"/>
          </p:cNvPicPr>
          <p:nvPr/>
        </p:nvPicPr>
        <p:blipFill>
          <a:blip r:embed="rId2"/>
          <a:srcRect/>
          <a:stretch>
            <a:fillRect/>
          </a:stretch>
        </p:blipFill>
        <p:spPr bwMode="auto">
          <a:xfrm>
            <a:off x="323850" y="0"/>
            <a:ext cx="8496300" cy="2636838"/>
          </a:xfrm>
          <a:prstGeom prst="rect">
            <a:avLst/>
          </a:prstGeom>
          <a:noFill/>
          <a:ln w="9525">
            <a:noFill/>
            <a:miter lim="800000"/>
            <a:headEnd/>
            <a:tailEnd/>
          </a:ln>
        </p:spPr>
      </p:pic>
      <p:grpSp>
        <p:nvGrpSpPr>
          <p:cNvPr id="2" name="Group 16"/>
          <p:cNvGrpSpPr>
            <a:grpSpLocks/>
          </p:cNvGrpSpPr>
          <p:nvPr/>
        </p:nvGrpSpPr>
        <p:grpSpPr bwMode="auto">
          <a:xfrm>
            <a:off x="1331913" y="260350"/>
            <a:ext cx="6696075" cy="2087563"/>
            <a:chOff x="839" y="210"/>
            <a:chExt cx="4218" cy="1315"/>
          </a:xfrm>
        </p:grpSpPr>
        <p:sp>
          <p:nvSpPr>
            <p:cNvPr id="31783" name="Line 11"/>
            <p:cNvSpPr>
              <a:spLocks noChangeShapeType="1"/>
            </p:cNvSpPr>
            <p:nvPr/>
          </p:nvSpPr>
          <p:spPr bwMode="auto">
            <a:xfrm>
              <a:off x="839" y="1071"/>
              <a:ext cx="0" cy="454"/>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4" name="Line 12"/>
            <p:cNvSpPr>
              <a:spLocks noChangeShapeType="1"/>
            </p:cNvSpPr>
            <p:nvPr/>
          </p:nvSpPr>
          <p:spPr bwMode="auto">
            <a:xfrm>
              <a:off x="839" y="1525"/>
              <a:ext cx="4218"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5" name="Line 13"/>
            <p:cNvSpPr>
              <a:spLocks noChangeShapeType="1"/>
            </p:cNvSpPr>
            <p:nvPr/>
          </p:nvSpPr>
          <p:spPr bwMode="auto">
            <a:xfrm flipV="1">
              <a:off x="5057" y="210"/>
              <a:ext cx="0" cy="1315"/>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6" name="Line 14"/>
            <p:cNvSpPr>
              <a:spLocks noChangeShapeType="1"/>
            </p:cNvSpPr>
            <p:nvPr/>
          </p:nvSpPr>
          <p:spPr bwMode="auto">
            <a:xfrm flipH="1">
              <a:off x="1247" y="210"/>
              <a:ext cx="3810"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7" name="Line 15"/>
            <p:cNvSpPr>
              <a:spLocks noChangeShapeType="1"/>
            </p:cNvSpPr>
            <p:nvPr/>
          </p:nvSpPr>
          <p:spPr bwMode="auto">
            <a:xfrm>
              <a:off x="1247" y="210"/>
              <a:ext cx="0" cy="362"/>
            </a:xfrm>
            <a:prstGeom prst="line">
              <a:avLst/>
            </a:prstGeom>
            <a:noFill/>
            <a:ln w="38100" cap="sq">
              <a:solidFill>
                <a:srgbClr val="FF3300"/>
              </a:solidFill>
              <a:round/>
              <a:headEnd type="none" w="sm" len="sm"/>
              <a:tailEnd type="triangle" w="sm" len="sm"/>
            </a:ln>
          </p:spPr>
          <p:txBody>
            <a:bodyPr wrap="none"/>
            <a:lstStyle/>
            <a:p>
              <a:endParaRPr lang="zh-CN" altLang="en-US"/>
            </a:p>
          </p:txBody>
        </p:sp>
      </p:grpSp>
      <p:sp>
        <p:nvSpPr>
          <p:cNvPr id="194577" name="Line 17"/>
          <p:cNvSpPr>
            <a:spLocks noChangeShapeType="1"/>
          </p:cNvSpPr>
          <p:nvPr/>
        </p:nvSpPr>
        <p:spPr bwMode="auto">
          <a:xfrm>
            <a:off x="3276600" y="1341438"/>
            <a:ext cx="719138" cy="0"/>
          </a:xfrm>
          <a:prstGeom prst="line">
            <a:avLst/>
          </a:prstGeom>
          <a:noFill/>
          <a:ln w="57150" cap="sq">
            <a:solidFill>
              <a:srgbClr val="FF3300"/>
            </a:solidFill>
            <a:round/>
            <a:headEnd type="none" w="sm" len="sm"/>
            <a:tailEnd type="triangle" w="sm" len="sm"/>
          </a:ln>
        </p:spPr>
        <p:txBody>
          <a:bodyPr wrap="none"/>
          <a:lstStyle/>
          <a:p>
            <a:endParaRPr lang="zh-CN" altLang="en-US"/>
          </a:p>
        </p:txBody>
      </p:sp>
      <p:grpSp>
        <p:nvGrpSpPr>
          <p:cNvPr id="3" name="Group 24"/>
          <p:cNvGrpSpPr>
            <a:grpSpLocks/>
          </p:cNvGrpSpPr>
          <p:nvPr/>
        </p:nvGrpSpPr>
        <p:grpSpPr bwMode="auto">
          <a:xfrm>
            <a:off x="827088" y="260350"/>
            <a:ext cx="7200900" cy="2232025"/>
            <a:chOff x="521" y="164"/>
            <a:chExt cx="4536" cy="1406"/>
          </a:xfrm>
        </p:grpSpPr>
        <p:sp>
          <p:nvSpPr>
            <p:cNvPr id="31778" name="Line 19"/>
            <p:cNvSpPr>
              <a:spLocks noChangeShapeType="1"/>
            </p:cNvSpPr>
            <p:nvPr/>
          </p:nvSpPr>
          <p:spPr bwMode="auto">
            <a:xfrm>
              <a:off x="2517" y="1026"/>
              <a:ext cx="0" cy="544"/>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79" name="Line 20"/>
            <p:cNvSpPr>
              <a:spLocks noChangeShapeType="1"/>
            </p:cNvSpPr>
            <p:nvPr/>
          </p:nvSpPr>
          <p:spPr bwMode="auto">
            <a:xfrm>
              <a:off x="2517" y="1570"/>
              <a:ext cx="2540"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0" name="Line 21"/>
            <p:cNvSpPr>
              <a:spLocks noChangeShapeType="1"/>
            </p:cNvSpPr>
            <p:nvPr/>
          </p:nvSpPr>
          <p:spPr bwMode="auto">
            <a:xfrm flipV="1">
              <a:off x="5057" y="164"/>
              <a:ext cx="0" cy="1406"/>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1" name="Line 22"/>
            <p:cNvSpPr>
              <a:spLocks noChangeShapeType="1"/>
            </p:cNvSpPr>
            <p:nvPr/>
          </p:nvSpPr>
          <p:spPr bwMode="auto">
            <a:xfrm flipH="1">
              <a:off x="521" y="164"/>
              <a:ext cx="4536" cy="0"/>
            </a:xfrm>
            <a:prstGeom prst="line">
              <a:avLst/>
            </a:prstGeom>
            <a:noFill/>
            <a:ln w="38100" cap="sq">
              <a:solidFill>
                <a:srgbClr val="FF3300"/>
              </a:solidFill>
              <a:round/>
              <a:headEnd type="none" w="sm" len="sm"/>
              <a:tailEnd type="none" w="sm" len="sm"/>
            </a:ln>
          </p:spPr>
          <p:txBody>
            <a:bodyPr wrap="none"/>
            <a:lstStyle/>
            <a:p>
              <a:endParaRPr lang="zh-CN" altLang="en-US"/>
            </a:p>
          </p:txBody>
        </p:sp>
        <p:sp>
          <p:nvSpPr>
            <p:cNvPr id="31782" name="Line 23"/>
            <p:cNvSpPr>
              <a:spLocks noChangeShapeType="1"/>
            </p:cNvSpPr>
            <p:nvPr/>
          </p:nvSpPr>
          <p:spPr bwMode="auto">
            <a:xfrm>
              <a:off x="521" y="164"/>
              <a:ext cx="0" cy="408"/>
            </a:xfrm>
            <a:prstGeom prst="line">
              <a:avLst/>
            </a:prstGeom>
            <a:noFill/>
            <a:ln w="38100" cap="sq">
              <a:solidFill>
                <a:srgbClr val="FF3300"/>
              </a:solidFill>
              <a:round/>
              <a:headEnd type="none" w="sm" len="sm"/>
              <a:tailEnd type="triangle" w="sm" len="sm"/>
            </a:ln>
          </p:spPr>
          <p:txBody>
            <a:bodyPr wrap="none"/>
            <a:lstStyle/>
            <a:p>
              <a:endParaRPr lang="zh-CN" altLang="en-US"/>
            </a:p>
          </p:txBody>
        </p:sp>
      </p:grpSp>
      <p:grpSp>
        <p:nvGrpSpPr>
          <p:cNvPr id="4" name="Group 30"/>
          <p:cNvGrpSpPr>
            <a:grpSpLocks/>
          </p:cNvGrpSpPr>
          <p:nvPr/>
        </p:nvGrpSpPr>
        <p:grpSpPr bwMode="auto">
          <a:xfrm>
            <a:off x="2195513" y="260350"/>
            <a:ext cx="5905500" cy="2305050"/>
            <a:chOff x="1383" y="164"/>
            <a:chExt cx="3720" cy="1452"/>
          </a:xfrm>
        </p:grpSpPr>
        <p:sp>
          <p:nvSpPr>
            <p:cNvPr id="31773" name="Line 25"/>
            <p:cNvSpPr>
              <a:spLocks noChangeShapeType="1"/>
            </p:cNvSpPr>
            <p:nvPr/>
          </p:nvSpPr>
          <p:spPr bwMode="auto">
            <a:xfrm>
              <a:off x="3334" y="935"/>
              <a:ext cx="0" cy="681"/>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4" name="Line 26"/>
            <p:cNvSpPr>
              <a:spLocks noChangeShapeType="1"/>
            </p:cNvSpPr>
            <p:nvPr/>
          </p:nvSpPr>
          <p:spPr bwMode="auto">
            <a:xfrm>
              <a:off x="3334" y="1616"/>
              <a:ext cx="1769" cy="0"/>
            </a:xfrm>
            <a:prstGeom prst="line">
              <a:avLst/>
            </a:prstGeom>
            <a:noFill/>
            <a:ln w="38100" cap="sq">
              <a:solidFill>
                <a:srgbClr val="66FFFF"/>
              </a:solidFill>
              <a:round/>
              <a:headEnd type="none" w="sm" len="sm"/>
              <a:tailEnd type="none" w="sm" len="sm"/>
            </a:ln>
          </p:spPr>
          <p:txBody>
            <a:bodyPr wrap="none"/>
            <a:lstStyle/>
            <a:p>
              <a:endParaRPr lang="zh-CN" altLang="en-US"/>
            </a:p>
          </p:txBody>
        </p:sp>
        <p:sp>
          <p:nvSpPr>
            <p:cNvPr id="31775" name="Line 27"/>
            <p:cNvSpPr>
              <a:spLocks noChangeShapeType="1"/>
            </p:cNvSpPr>
            <p:nvPr/>
          </p:nvSpPr>
          <p:spPr bwMode="auto">
            <a:xfrm flipV="1">
              <a:off x="5103" y="164"/>
              <a:ext cx="0" cy="1452"/>
            </a:xfrm>
            <a:prstGeom prst="line">
              <a:avLst/>
            </a:prstGeom>
            <a:noFill/>
            <a:ln w="38100" cap="sq">
              <a:solidFill>
                <a:srgbClr val="66FFFF"/>
              </a:solidFill>
              <a:round/>
              <a:headEnd type="none" w="sm" len="sm"/>
              <a:tailEnd type="none" w="sm" len="sm"/>
            </a:ln>
          </p:spPr>
          <p:txBody>
            <a:bodyPr wrap="none"/>
            <a:lstStyle/>
            <a:p>
              <a:endParaRPr lang="zh-CN" altLang="en-US"/>
            </a:p>
          </p:txBody>
        </p:sp>
        <p:sp>
          <p:nvSpPr>
            <p:cNvPr id="31776" name="Line 28"/>
            <p:cNvSpPr>
              <a:spLocks noChangeShapeType="1"/>
            </p:cNvSpPr>
            <p:nvPr/>
          </p:nvSpPr>
          <p:spPr bwMode="auto">
            <a:xfrm flipH="1">
              <a:off x="1383" y="164"/>
              <a:ext cx="3720"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7" name="Line 29"/>
            <p:cNvSpPr>
              <a:spLocks noChangeShapeType="1"/>
            </p:cNvSpPr>
            <p:nvPr/>
          </p:nvSpPr>
          <p:spPr bwMode="auto">
            <a:xfrm>
              <a:off x="1383" y="164"/>
              <a:ext cx="0" cy="408"/>
            </a:xfrm>
            <a:prstGeom prst="line">
              <a:avLst/>
            </a:prstGeom>
            <a:noFill/>
            <a:ln w="38100" cap="sq">
              <a:solidFill>
                <a:srgbClr val="66FFFF"/>
              </a:solidFill>
              <a:round/>
              <a:headEnd type="none" w="sm" len="sm"/>
              <a:tailEnd type="triangle" w="sm" len="sm"/>
            </a:ln>
          </p:spPr>
          <p:txBody>
            <a:bodyPr wrap="none"/>
            <a:lstStyle/>
            <a:p>
              <a:endParaRPr lang="zh-CN" altLang="en-US"/>
            </a:p>
          </p:txBody>
        </p:sp>
      </p:grpSp>
      <p:grpSp>
        <p:nvGrpSpPr>
          <p:cNvPr id="5" name="Group 36"/>
          <p:cNvGrpSpPr>
            <a:grpSpLocks/>
          </p:cNvGrpSpPr>
          <p:nvPr/>
        </p:nvGrpSpPr>
        <p:grpSpPr bwMode="auto">
          <a:xfrm>
            <a:off x="4067175" y="333375"/>
            <a:ext cx="4176713" cy="2159000"/>
            <a:chOff x="2562" y="210"/>
            <a:chExt cx="2631" cy="1360"/>
          </a:xfrm>
        </p:grpSpPr>
        <p:sp>
          <p:nvSpPr>
            <p:cNvPr id="31768" name="Line 31"/>
            <p:cNvSpPr>
              <a:spLocks noChangeShapeType="1"/>
            </p:cNvSpPr>
            <p:nvPr/>
          </p:nvSpPr>
          <p:spPr bwMode="auto">
            <a:xfrm>
              <a:off x="3198" y="981"/>
              <a:ext cx="0" cy="589"/>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69" name="Line 32"/>
            <p:cNvSpPr>
              <a:spLocks noChangeShapeType="1"/>
            </p:cNvSpPr>
            <p:nvPr/>
          </p:nvSpPr>
          <p:spPr bwMode="auto">
            <a:xfrm>
              <a:off x="3198" y="1570"/>
              <a:ext cx="1995"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0" name="Line 33"/>
            <p:cNvSpPr>
              <a:spLocks noChangeShapeType="1"/>
            </p:cNvSpPr>
            <p:nvPr/>
          </p:nvSpPr>
          <p:spPr bwMode="auto">
            <a:xfrm flipV="1">
              <a:off x="5193" y="210"/>
              <a:ext cx="0" cy="136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1" name="Line 34"/>
            <p:cNvSpPr>
              <a:spLocks noChangeShapeType="1"/>
            </p:cNvSpPr>
            <p:nvPr/>
          </p:nvSpPr>
          <p:spPr bwMode="auto">
            <a:xfrm flipH="1">
              <a:off x="2562" y="210"/>
              <a:ext cx="2631" cy="0"/>
            </a:xfrm>
            <a:prstGeom prst="line">
              <a:avLst/>
            </a:prstGeom>
            <a:noFill/>
            <a:ln w="57150" cap="sq">
              <a:solidFill>
                <a:srgbClr val="66FFFF"/>
              </a:solidFill>
              <a:round/>
              <a:headEnd type="none" w="sm" len="sm"/>
              <a:tailEnd type="none" w="sm" len="sm"/>
            </a:ln>
          </p:spPr>
          <p:txBody>
            <a:bodyPr wrap="none"/>
            <a:lstStyle/>
            <a:p>
              <a:endParaRPr lang="zh-CN" altLang="en-US"/>
            </a:p>
          </p:txBody>
        </p:sp>
        <p:sp>
          <p:nvSpPr>
            <p:cNvPr id="31772" name="Line 35"/>
            <p:cNvSpPr>
              <a:spLocks noChangeShapeType="1"/>
            </p:cNvSpPr>
            <p:nvPr/>
          </p:nvSpPr>
          <p:spPr bwMode="auto">
            <a:xfrm>
              <a:off x="2562" y="210"/>
              <a:ext cx="0" cy="362"/>
            </a:xfrm>
            <a:prstGeom prst="line">
              <a:avLst/>
            </a:prstGeom>
            <a:noFill/>
            <a:ln w="57150" cap="sq">
              <a:solidFill>
                <a:srgbClr val="66FFFF"/>
              </a:solidFill>
              <a:round/>
              <a:headEnd type="none" w="sm" len="sm"/>
              <a:tailEnd type="triangle" w="sm" len="sm"/>
            </a:ln>
          </p:spPr>
          <p:txBody>
            <a:bodyPr wrap="none"/>
            <a:lstStyle/>
            <a:p>
              <a:endParaRPr lang="zh-CN" altLang="en-US"/>
            </a:p>
          </p:txBody>
        </p:sp>
      </p:grpSp>
      <p:sp>
        <p:nvSpPr>
          <p:cNvPr id="194597" name="Line 37"/>
          <p:cNvSpPr>
            <a:spLocks noChangeShapeType="1"/>
          </p:cNvSpPr>
          <p:nvPr/>
        </p:nvSpPr>
        <p:spPr bwMode="auto">
          <a:xfrm flipH="1">
            <a:off x="3276600" y="1196975"/>
            <a:ext cx="719138" cy="0"/>
          </a:xfrm>
          <a:prstGeom prst="line">
            <a:avLst/>
          </a:prstGeom>
          <a:noFill/>
          <a:ln w="76200" cap="sq">
            <a:solidFill>
              <a:srgbClr val="66FFFF"/>
            </a:solidFill>
            <a:round/>
            <a:headEnd type="none" w="sm" len="sm"/>
            <a:tailEnd type="triangle" w="sm" len="sm"/>
          </a:ln>
        </p:spPr>
        <p:txBody>
          <a:bodyPr wrap="none"/>
          <a:lstStyle/>
          <a:p>
            <a:endParaRPr lang="zh-CN" altLang="en-US"/>
          </a:p>
        </p:txBody>
      </p:sp>
      <p:grpSp>
        <p:nvGrpSpPr>
          <p:cNvPr id="6" name="Group 44"/>
          <p:cNvGrpSpPr>
            <a:grpSpLocks/>
          </p:cNvGrpSpPr>
          <p:nvPr/>
        </p:nvGrpSpPr>
        <p:grpSpPr bwMode="auto">
          <a:xfrm>
            <a:off x="2051050" y="260350"/>
            <a:ext cx="5905500" cy="2305050"/>
            <a:chOff x="1292" y="1707"/>
            <a:chExt cx="3720" cy="1452"/>
          </a:xfrm>
        </p:grpSpPr>
        <p:sp>
          <p:nvSpPr>
            <p:cNvPr id="31763" name="Line 39"/>
            <p:cNvSpPr>
              <a:spLocks noChangeShapeType="1"/>
            </p:cNvSpPr>
            <p:nvPr/>
          </p:nvSpPr>
          <p:spPr bwMode="auto">
            <a:xfrm>
              <a:off x="3629" y="2464"/>
              <a:ext cx="0" cy="681"/>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4" name="Line 40"/>
            <p:cNvSpPr>
              <a:spLocks noChangeShapeType="1"/>
            </p:cNvSpPr>
            <p:nvPr/>
          </p:nvSpPr>
          <p:spPr bwMode="auto">
            <a:xfrm flipH="1">
              <a:off x="3637" y="3158"/>
              <a:ext cx="1361" cy="0"/>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5" name="Line 41"/>
            <p:cNvSpPr>
              <a:spLocks noChangeShapeType="1"/>
            </p:cNvSpPr>
            <p:nvPr/>
          </p:nvSpPr>
          <p:spPr bwMode="auto">
            <a:xfrm flipV="1">
              <a:off x="5012" y="1707"/>
              <a:ext cx="0" cy="1452"/>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6" name="Line 42"/>
            <p:cNvSpPr>
              <a:spLocks noChangeShapeType="1"/>
            </p:cNvSpPr>
            <p:nvPr/>
          </p:nvSpPr>
          <p:spPr bwMode="auto">
            <a:xfrm flipH="1">
              <a:off x="1292" y="1707"/>
              <a:ext cx="3720" cy="0"/>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7" name="Line 43"/>
            <p:cNvSpPr>
              <a:spLocks noChangeShapeType="1"/>
            </p:cNvSpPr>
            <p:nvPr/>
          </p:nvSpPr>
          <p:spPr bwMode="auto">
            <a:xfrm>
              <a:off x="1292" y="1707"/>
              <a:ext cx="0" cy="408"/>
            </a:xfrm>
            <a:prstGeom prst="line">
              <a:avLst/>
            </a:prstGeom>
            <a:noFill/>
            <a:ln w="38100" cap="sq">
              <a:solidFill>
                <a:srgbClr val="2BCB23"/>
              </a:solidFill>
              <a:round/>
              <a:headEnd type="none" w="sm" len="sm"/>
              <a:tailEnd type="triangle" w="sm" len="sm"/>
            </a:ln>
          </p:spPr>
          <p:txBody>
            <a:bodyPr wrap="none"/>
            <a:lstStyle/>
            <a:p>
              <a:endParaRPr lang="zh-CN" altLang="en-US"/>
            </a:p>
          </p:txBody>
        </p:sp>
      </p:grpSp>
      <p:grpSp>
        <p:nvGrpSpPr>
          <p:cNvPr id="7" name="Group 52"/>
          <p:cNvGrpSpPr>
            <a:grpSpLocks/>
          </p:cNvGrpSpPr>
          <p:nvPr/>
        </p:nvGrpSpPr>
        <p:grpSpPr bwMode="auto">
          <a:xfrm>
            <a:off x="4211638" y="260350"/>
            <a:ext cx="4046537" cy="2343150"/>
            <a:chOff x="2562" y="2251"/>
            <a:chExt cx="2549" cy="1476"/>
          </a:xfrm>
        </p:grpSpPr>
        <p:sp>
          <p:nvSpPr>
            <p:cNvPr id="31758" name="Line 46"/>
            <p:cNvSpPr>
              <a:spLocks noChangeShapeType="1"/>
            </p:cNvSpPr>
            <p:nvPr/>
          </p:nvSpPr>
          <p:spPr bwMode="auto">
            <a:xfrm>
              <a:off x="2562" y="3014"/>
              <a:ext cx="0" cy="681"/>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59" name="Line 47"/>
            <p:cNvSpPr>
              <a:spLocks noChangeShapeType="1"/>
            </p:cNvSpPr>
            <p:nvPr/>
          </p:nvSpPr>
          <p:spPr bwMode="auto">
            <a:xfrm>
              <a:off x="2570" y="3726"/>
              <a:ext cx="2541" cy="1"/>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0" name="Line 48"/>
            <p:cNvSpPr>
              <a:spLocks noChangeShapeType="1"/>
            </p:cNvSpPr>
            <p:nvPr/>
          </p:nvSpPr>
          <p:spPr bwMode="auto">
            <a:xfrm flipV="1">
              <a:off x="5111" y="2251"/>
              <a:ext cx="0" cy="1452"/>
            </a:xfrm>
            <a:prstGeom prst="line">
              <a:avLst/>
            </a:prstGeom>
            <a:noFill/>
            <a:ln w="38100" cap="sq">
              <a:solidFill>
                <a:srgbClr val="2BCB23"/>
              </a:solidFill>
              <a:round/>
              <a:headEnd type="none" w="sm" len="sm"/>
              <a:tailEnd type="none" w="sm" len="sm"/>
            </a:ln>
          </p:spPr>
          <p:txBody>
            <a:bodyPr wrap="none"/>
            <a:lstStyle/>
            <a:p>
              <a:endParaRPr lang="zh-CN" altLang="en-US"/>
            </a:p>
          </p:txBody>
        </p:sp>
        <p:sp>
          <p:nvSpPr>
            <p:cNvPr id="31761" name="Line 49"/>
            <p:cNvSpPr>
              <a:spLocks noChangeShapeType="1"/>
            </p:cNvSpPr>
            <p:nvPr/>
          </p:nvSpPr>
          <p:spPr bwMode="auto">
            <a:xfrm flipH="1">
              <a:off x="2835" y="2251"/>
              <a:ext cx="2269" cy="0"/>
            </a:xfrm>
            <a:prstGeom prst="line">
              <a:avLst/>
            </a:prstGeom>
            <a:noFill/>
            <a:ln w="57150" cap="sq">
              <a:solidFill>
                <a:srgbClr val="2BCB23"/>
              </a:solidFill>
              <a:round/>
              <a:headEnd type="none" w="sm" len="sm"/>
              <a:tailEnd type="none" w="sm" len="sm"/>
            </a:ln>
          </p:spPr>
          <p:txBody>
            <a:bodyPr wrap="none"/>
            <a:lstStyle/>
            <a:p>
              <a:endParaRPr lang="zh-CN" altLang="en-US"/>
            </a:p>
          </p:txBody>
        </p:sp>
        <p:sp>
          <p:nvSpPr>
            <p:cNvPr id="31762" name="Line 50"/>
            <p:cNvSpPr>
              <a:spLocks noChangeShapeType="1"/>
            </p:cNvSpPr>
            <p:nvPr/>
          </p:nvSpPr>
          <p:spPr bwMode="auto">
            <a:xfrm>
              <a:off x="2835" y="2251"/>
              <a:ext cx="0" cy="408"/>
            </a:xfrm>
            <a:prstGeom prst="line">
              <a:avLst/>
            </a:prstGeom>
            <a:noFill/>
            <a:ln w="38100" cap="sq">
              <a:solidFill>
                <a:srgbClr val="2BCB23"/>
              </a:solidFill>
              <a:round/>
              <a:headEnd type="none" w="sm" len="sm"/>
              <a:tailEnd type="triangle" w="sm" len="sm"/>
            </a:ln>
          </p:spPr>
          <p:txBody>
            <a:bodyPr wrap="none"/>
            <a:lstStyle/>
            <a:p>
              <a:endParaRPr lang="zh-CN" altLang="en-US"/>
            </a:p>
          </p:txBody>
        </p:sp>
      </p:grpSp>
      <p:sp>
        <p:nvSpPr>
          <p:cNvPr id="194611" name="Line 51"/>
          <p:cNvSpPr>
            <a:spLocks noChangeShapeType="1"/>
          </p:cNvSpPr>
          <p:nvPr/>
        </p:nvSpPr>
        <p:spPr bwMode="auto">
          <a:xfrm>
            <a:off x="3276600" y="1484313"/>
            <a:ext cx="863600" cy="0"/>
          </a:xfrm>
          <a:prstGeom prst="line">
            <a:avLst/>
          </a:prstGeom>
          <a:noFill/>
          <a:ln w="76200" cap="sq">
            <a:solidFill>
              <a:srgbClr val="2BCB23"/>
            </a:solidFill>
            <a:round/>
            <a:headEnd type="none" w="sm" len="sm"/>
            <a:tailEnd type="triangle" w="sm" len="sm"/>
          </a:ln>
        </p:spPr>
        <p:txBody>
          <a:bodyPr wrap="none"/>
          <a:lstStyle/>
          <a:p>
            <a:endParaRPr lang="zh-CN" altLang="en-US"/>
          </a:p>
        </p:txBody>
      </p:sp>
      <p:pic>
        <p:nvPicPr>
          <p:cNvPr id="279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3188570"/>
            <a:ext cx="7496175" cy="338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Rectangle 20"/>
          <p:cNvSpPr>
            <a:spLocks noChangeArrowheads="1"/>
          </p:cNvSpPr>
          <p:nvPr/>
        </p:nvSpPr>
        <p:spPr bwMode="auto">
          <a:xfrm>
            <a:off x="859797" y="2848769"/>
            <a:ext cx="2371162" cy="338554"/>
          </a:xfrm>
          <a:prstGeom prst="rect">
            <a:avLst/>
          </a:prstGeom>
          <a:noFill/>
          <a:ln w="9525">
            <a:noFill/>
            <a:miter lim="800000"/>
            <a:headEnd/>
            <a:tailEnd/>
          </a:ln>
        </p:spPr>
        <p:txBody>
          <a:bodyPr wrap="none">
            <a:spAutoFit/>
          </a:bodyPr>
          <a:lstStyle/>
          <a:p>
            <a:r>
              <a:rPr lang="en-US" altLang="zh-CN" sz="1600" dirty="0" smtClean="0">
                <a:latin typeface="宋体" pitchFamily="2" charset="-122"/>
              </a:rPr>
              <a:t>STO R1,(R2)  R1→(R2)</a:t>
            </a:r>
            <a:endParaRPr lang="en-US" altLang="zh-CN" sz="1600" dirty="0">
              <a:latin typeface="宋体" pitchFamily="2" charset="-122"/>
            </a:endParaRPr>
          </a:p>
        </p:txBody>
      </p:sp>
      <p:sp>
        <p:nvSpPr>
          <p:cNvPr id="47" name="Rectangle 21"/>
          <p:cNvSpPr>
            <a:spLocks noChangeArrowheads="1"/>
          </p:cNvSpPr>
          <p:nvPr/>
        </p:nvSpPr>
        <p:spPr bwMode="auto">
          <a:xfrm>
            <a:off x="4845665" y="2852020"/>
            <a:ext cx="2371162" cy="338554"/>
          </a:xfrm>
          <a:prstGeom prst="rect">
            <a:avLst/>
          </a:prstGeom>
          <a:noFill/>
          <a:ln w="9525">
            <a:noFill/>
            <a:miter lim="800000"/>
            <a:headEnd/>
            <a:tailEnd/>
          </a:ln>
        </p:spPr>
        <p:txBody>
          <a:bodyPr wrap="none">
            <a:spAutoFit/>
          </a:bodyPr>
          <a:lstStyle/>
          <a:p>
            <a:r>
              <a:rPr lang="en-US" altLang="zh-CN" sz="1600" dirty="0" smtClean="0">
                <a:latin typeface="宋体" pitchFamily="2" charset="-122"/>
              </a:rPr>
              <a:t>LAD (R3),R0  </a:t>
            </a:r>
            <a:r>
              <a:rPr lang="en-US" altLang="zh-CN" sz="1600" dirty="0">
                <a:latin typeface="宋体" pitchFamily="2" charset="-122"/>
              </a:rPr>
              <a:t>(</a:t>
            </a:r>
            <a:r>
              <a:rPr lang="en-US" altLang="zh-CN" sz="1600" dirty="0" smtClean="0">
                <a:latin typeface="宋体" pitchFamily="2" charset="-122"/>
              </a:rPr>
              <a:t>R3)→R0</a:t>
            </a:r>
            <a:endParaRPr lang="en-US" altLang="zh-CN" sz="1600"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577"/>
                                        </p:tgtEl>
                                        <p:attrNameLst>
                                          <p:attrName>style.visibility</p:attrName>
                                        </p:attrNameLst>
                                      </p:cBhvr>
                                      <p:to>
                                        <p:strVal val="visible"/>
                                      </p:to>
                                    </p:set>
                                    <p:animEffect transition="in" filter="dissolve">
                                      <p:cBhvr>
                                        <p:cTn id="12" dur="500"/>
                                        <p:tgtEl>
                                          <p:spTgt spid="194577"/>
                                        </p:tgtEl>
                                      </p:cBhvr>
                                    </p:animEffect>
                                  </p:childTnLst>
                                  <p:subTnLst>
                                    <p:set>
                                      <p:cBhvr override="childStyle">
                                        <p:cTn dur="1" fill="hold" display="0" masterRel="nextClick" afterEffect="1"/>
                                        <p:tgtEl>
                                          <p:spTgt spid="19457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4597"/>
                                        </p:tgtEl>
                                        <p:attrNameLst>
                                          <p:attrName>style.visibility</p:attrName>
                                        </p:attrNameLst>
                                      </p:cBhvr>
                                      <p:to>
                                        <p:strVal val="visible"/>
                                      </p:to>
                                    </p:set>
                                    <p:animEffect transition="in" filter="dissolve">
                                      <p:cBhvr>
                                        <p:cTn id="32" dur="500"/>
                                        <p:tgtEl>
                                          <p:spTgt spid="194597"/>
                                        </p:tgtEl>
                                      </p:cBhvr>
                                    </p:animEffect>
                                  </p:childTnLst>
                                  <p:subTnLst>
                                    <p:set>
                                      <p:cBhvr override="childStyle">
                                        <p:cTn dur="1" fill="hold" display="0" masterRel="nextClick" afterEffect="1"/>
                                        <p:tgtEl>
                                          <p:spTgt spid="194597"/>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4611"/>
                                        </p:tgtEl>
                                        <p:attrNameLst>
                                          <p:attrName>style.visibility</p:attrName>
                                        </p:attrNameLst>
                                      </p:cBhvr>
                                      <p:to>
                                        <p:strVal val="visible"/>
                                      </p:to>
                                    </p:set>
                                    <p:animEffect transition="in" filter="dissolve">
                                      <p:cBhvr>
                                        <p:cTn id="42" dur="500"/>
                                        <p:tgtEl>
                                          <p:spTgt spid="194611"/>
                                        </p:tgtEl>
                                      </p:cBhvr>
                                    </p:animEffect>
                                  </p:childTnLst>
                                  <p:subTnLst>
                                    <p:set>
                                      <p:cBhvr override="childStyle">
                                        <p:cTn dur="1" fill="hold" display="0" masterRel="nextClick" afterEffect="1"/>
                                        <p:tgtEl>
                                          <p:spTgt spid="194611"/>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7" grpId="0" animBg="1"/>
      <p:bldP spid="194597" grpId="0" animBg="1"/>
      <p:bldP spid="1946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ChangeArrowheads="1"/>
          </p:cNvSpPr>
          <p:nvPr/>
        </p:nvSpPr>
        <p:spPr bwMode="auto">
          <a:xfrm>
            <a:off x="142844" y="309258"/>
            <a:ext cx="8839200" cy="1865126"/>
          </a:xfrm>
          <a:prstGeom prst="rect">
            <a:avLst/>
          </a:prstGeom>
          <a:solidFill>
            <a:schemeClr val="bg1"/>
          </a:solidFill>
          <a:ln w="9525">
            <a:noFill/>
            <a:miter lim="800000"/>
            <a:headEnd/>
            <a:tailEnd/>
          </a:ln>
        </p:spPr>
        <p:txBody>
          <a:bodyPr>
            <a:spAutoFit/>
          </a:bodyPr>
          <a:lstStyle/>
          <a:p>
            <a:pPr indent="-26988">
              <a:lnSpc>
                <a:spcPct val="120000"/>
              </a:lnSpc>
            </a:pPr>
            <a:r>
              <a:rPr lang="en-US" altLang="zh-CN" sz="2400" b="0" dirty="0" smtClean="0">
                <a:solidFill>
                  <a:schemeClr val="tx1"/>
                </a:solidFill>
                <a:latin typeface="微软雅黑" panose="020B0503020204020204" pitchFamily="34" charset="-122"/>
                <a:ea typeface="微软雅黑" panose="020B0503020204020204" pitchFamily="34" charset="-122"/>
              </a:rPr>
              <a:t>【</a:t>
            </a:r>
            <a:r>
              <a:rPr lang="zh-CN" altLang="en-US" sz="2400" b="0" dirty="0" smtClean="0">
                <a:solidFill>
                  <a:schemeClr val="tx1"/>
                </a:solidFill>
                <a:latin typeface="微软雅黑" panose="020B0503020204020204" pitchFamily="34" charset="-122"/>
                <a:ea typeface="微软雅黑" panose="020B0503020204020204" pitchFamily="34" charset="-122"/>
              </a:rPr>
              <a:t>例</a:t>
            </a:r>
            <a:r>
              <a:rPr lang="en-US" altLang="zh-CN" sz="2400" b="0" dirty="0" smtClean="0">
                <a:solidFill>
                  <a:schemeClr val="tx1"/>
                </a:solidFill>
                <a:latin typeface="微软雅黑" panose="020B0503020204020204" pitchFamily="34" charset="-122"/>
                <a:ea typeface="微软雅黑" panose="020B0503020204020204" pitchFamily="34" charset="-122"/>
              </a:rPr>
              <a:t>】</a:t>
            </a:r>
            <a:r>
              <a:rPr lang="zh-CN" altLang="en-US" sz="2400" b="0" dirty="0" smtClean="0">
                <a:solidFill>
                  <a:schemeClr val="tx1"/>
                </a:solidFill>
                <a:latin typeface="微软雅黑" panose="020B0503020204020204" pitchFamily="34" charset="-122"/>
                <a:ea typeface="微软雅黑" panose="020B0503020204020204" pitchFamily="34" charset="-122"/>
              </a:rPr>
              <a:t>数据通路如图所示，指令功能如下：</a:t>
            </a:r>
            <a:endParaRPr lang="en-US" altLang="zh-CN" sz="2400" b="0" dirty="0" smtClean="0">
              <a:solidFill>
                <a:schemeClr val="tx1"/>
              </a:solidFill>
              <a:latin typeface="微软雅黑" panose="020B0503020204020204" pitchFamily="34" charset="-122"/>
              <a:ea typeface="微软雅黑" panose="020B0503020204020204" pitchFamily="34" charset="-122"/>
            </a:endParaRPr>
          </a:p>
          <a:p>
            <a:pPr indent="-26988">
              <a:lnSpc>
                <a:spcPct val="120000"/>
              </a:lnSpc>
            </a:pPr>
            <a:r>
              <a:rPr lang="zh-CN" altLang="en-US" sz="2400" b="0" dirty="0" smtClean="0">
                <a:solidFill>
                  <a:schemeClr val="tx1"/>
                </a:solidFill>
                <a:latin typeface="微软雅黑" panose="020B0503020204020204" pitchFamily="34" charset="-122"/>
                <a:ea typeface="微软雅黑" panose="020B0503020204020204" pitchFamily="34" charset="-122"/>
              </a:rPr>
              <a:t>          </a:t>
            </a:r>
            <a:r>
              <a:rPr lang="en-US" altLang="zh-CN" sz="2400" b="0" dirty="0" smtClean="0">
                <a:solidFill>
                  <a:schemeClr val="tx1"/>
                </a:solidFill>
                <a:latin typeface="微软雅黑" panose="020B0503020204020204" pitchFamily="34" charset="-122"/>
                <a:ea typeface="微软雅黑" panose="020B0503020204020204" pitchFamily="34" charset="-122"/>
              </a:rPr>
              <a:t>LDA  A             </a:t>
            </a:r>
            <a:r>
              <a:rPr lang="zh-CN" altLang="en-US" sz="2400" b="0" dirty="0" smtClean="0">
                <a:solidFill>
                  <a:schemeClr val="tx1"/>
                </a:solidFill>
                <a:latin typeface="微软雅黑" panose="020B0503020204020204" pitchFamily="34" charset="-122"/>
                <a:ea typeface="微软雅黑" panose="020B0503020204020204" pitchFamily="34" charset="-122"/>
              </a:rPr>
              <a:t>功能</a:t>
            </a:r>
            <a:r>
              <a:rPr lang="en-US" altLang="zh-CN" sz="2400" b="0" dirty="0" smtClean="0">
                <a:solidFill>
                  <a:schemeClr val="tx1"/>
                </a:solidFill>
                <a:latin typeface="微软雅黑" panose="020B0503020204020204" pitchFamily="34" charset="-122"/>
                <a:ea typeface="微软雅黑" panose="020B0503020204020204" pitchFamily="34" charset="-122"/>
              </a:rPr>
              <a:t>:   </a:t>
            </a:r>
            <a:r>
              <a:rPr lang="zh-CN" altLang="en-US" sz="2400" b="0" dirty="0" smtClean="0">
                <a:solidFill>
                  <a:schemeClr val="tx1"/>
                </a:solidFill>
                <a:latin typeface="微软雅黑" panose="020B0503020204020204" pitchFamily="34" charset="-122"/>
                <a:ea typeface="微软雅黑" panose="020B0503020204020204" pitchFamily="34" charset="-122"/>
              </a:rPr>
              <a:t>（</a:t>
            </a:r>
            <a:r>
              <a:rPr lang="en-US" altLang="zh-CN" sz="2400" b="0" dirty="0" smtClean="0">
                <a:solidFill>
                  <a:schemeClr val="tx1"/>
                </a:solidFill>
                <a:latin typeface="微软雅黑" panose="020B0503020204020204" pitchFamily="34" charset="-122"/>
                <a:ea typeface="微软雅黑" panose="020B0503020204020204" pitchFamily="34" charset="-122"/>
              </a:rPr>
              <a:t>A</a:t>
            </a:r>
            <a:r>
              <a:rPr lang="zh-CN" altLang="en-US" sz="2400" b="0" dirty="0">
                <a:solidFill>
                  <a:schemeClr val="tx1"/>
                </a:solidFill>
                <a:latin typeface="微软雅黑" panose="020B0503020204020204" pitchFamily="34" charset="-122"/>
                <a:ea typeface="微软雅黑" panose="020B0503020204020204" pitchFamily="34" charset="-122"/>
              </a:rPr>
              <a:t>）</a:t>
            </a:r>
            <a:r>
              <a:rPr lang="zh-CN" altLang="en-US" sz="2400" b="0" dirty="0" smtClean="0">
                <a:solidFill>
                  <a:schemeClr val="tx1"/>
                </a:solidFill>
                <a:latin typeface="微软雅黑" panose="020B0503020204020204" pitchFamily="34" charset="-122"/>
                <a:ea typeface="微软雅黑" panose="020B0503020204020204" pitchFamily="34" charset="-122"/>
              </a:rPr>
              <a:t>→ </a:t>
            </a:r>
            <a:r>
              <a:rPr lang="en-US" altLang="zh-CN" sz="2400" b="0" dirty="0" smtClean="0">
                <a:solidFill>
                  <a:schemeClr val="tx1"/>
                </a:solidFill>
                <a:latin typeface="微软雅黑" panose="020B0503020204020204" pitchFamily="34" charset="-122"/>
                <a:ea typeface="微软雅黑" panose="020B0503020204020204" pitchFamily="34" charset="-122"/>
              </a:rPr>
              <a:t>AC0 </a:t>
            </a:r>
          </a:p>
          <a:p>
            <a:pPr>
              <a:lnSpc>
                <a:spcPct val="120000"/>
              </a:lnSpc>
            </a:pPr>
            <a:r>
              <a:rPr lang="zh-CN" altLang="zh-CN" sz="2400" b="0" dirty="0">
                <a:solidFill>
                  <a:schemeClr val="tx1"/>
                </a:solidFill>
                <a:latin typeface="微软雅黑" panose="020B0503020204020204" pitchFamily="34" charset="-122"/>
                <a:ea typeface="微软雅黑" panose="020B0503020204020204" pitchFamily="34" charset="-122"/>
              </a:rPr>
              <a:t> </a:t>
            </a:r>
            <a:r>
              <a:rPr lang="en-US" altLang="zh-CN" sz="2400" b="0" dirty="0" smtClean="0">
                <a:solidFill>
                  <a:schemeClr val="tx1"/>
                </a:solidFill>
                <a:latin typeface="微软雅黑" panose="020B0503020204020204" pitchFamily="34" charset="-122"/>
                <a:ea typeface="微软雅黑" panose="020B0503020204020204" pitchFamily="34" charset="-122"/>
              </a:rPr>
              <a:t>         ADD A</a:t>
            </a:r>
            <a:r>
              <a:rPr lang="zh-CN" altLang="en-US" sz="2400" b="0" dirty="0">
                <a:solidFill>
                  <a:schemeClr val="tx1"/>
                </a:solidFill>
                <a:latin typeface="微软雅黑" panose="020B0503020204020204" pitchFamily="34" charset="-122"/>
                <a:ea typeface="微软雅黑" panose="020B0503020204020204" pitchFamily="34" charset="-122"/>
              </a:rPr>
              <a:t> ，</a:t>
            </a:r>
            <a:r>
              <a:rPr lang="en-US" altLang="zh-CN" sz="2400" b="0" dirty="0" smtClean="0">
                <a:solidFill>
                  <a:schemeClr val="tx1"/>
                </a:solidFill>
                <a:latin typeface="微软雅黑" panose="020B0503020204020204" pitchFamily="34" charset="-122"/>
                <a:ea typeface="微软雅黑" panose="020B0503020204020204" pitchFamily="34" charset="-122"/>
              </a:rPr>
              <a:t>(</a:t>
            </a:r>
            <a:r>
              <a:rPr lang="en-US" altLang="zh-CN" sz="2400" b="0" dirty="0">
                <a:solidFill>
                  <a:schemeClr val="tx1"/>
                </a:solidFill>
                <a:latin typeface="微软雅黑" panose="020B0503020204020204" pitchFamily="34" charset="-122"/>
                <a:ea typeface="微软雅黑" panose="020B0503020204020204" pitchFamily="34" charset="-122"/>
              </a:rPr>
              <a:t>R1</a:t>
            </a:r>
            <a:r>
              <a:rPr lang="en-US" altLang="zh-CN" sz="2400" b="0" dirty="0" smtClean="0">
                <a:solidFill>
                  <a:schemeClr val="tx1"/>
                </a:solidFill>
                <a:latin typeface="微软雅黑" panose="020B0503020204020204" pitchFamily="34" charset="-122"/>
                <a:ea typeface="微软雅黑" panose="020B0503020204020204" pitchFamily="34" charset="-122"/>
              </a:rPr>
              <a:t>)  </a:t>
            </a:r>
            <a:r>
              <a:rPr lang="zh-CN" altLang="zh-CN" sz="2400" b="0" dirty="0" smtClean="0">
                <a:solidFill>
                  <a:schemeClr val="tx1"/>
                </a:solidFill>
                <a:latin typeface="微软雅黑" panose="020B0503020204020204" pitchFamily="34" charset="-122"/>
                <a:ea typeface="微软雅黑" panose="020B0503020204020204" pitchFamily="34" charset="-122"/>
              </a:rPr>
              <a:t>功能</a:t>
            </a:r>
            <a:r>
              <a:rPr lang="zh-CN" altLang="en-US" sz="2400" b="0" dirty="0" smtClean="0">
                <a:solidFill>
                  <a:schemeClr val="tx1"/>
                </a:solidFill>
                <a:latin typeface="微软雅黑" panose="020B0503020204020204" pitchFamily="34" charset="-122"/>
                <a:ea typeface="微软雅黑" panose="020B0503020204020204" pitchFamily="34" charset="-122"/>
              </a:rPr>
              <a:t>：</a:t>
            </a:r>
            <a:r>
              <a:rPr lang="zh-CN" altLang="zh-CN" sz="2400" b="0" dirty="0" smtClean="0">
                <a:solidFill>
                  <a:schemeClr val="tx1"/>
                </a:solidFill>
                <a:latin typeface="微软雅黑" panose="020B0503020204020204" pitchFamily="34" charset="-122"/>
                <a:ea typeface="微软雅黑" panose="020B0503020204020204" pitchFamily="34" charset="-122"/>
              </a:rPr>
              <a:t>（</a:t>
            </a:r>
            <a:r>
              <a:rPr lang="en-US" altLang="zh-CN" sz="2400" b="0" dirty="0">
                <a:solidFill>
                  <a:schemeClr val="tx1"/>
                </a:solidFill>
                <a:latin typeface="微软雅黑" panose="020B0503020204020204" pitchFamily="34" charset="-122"/>
                <a:ea typeface="微软雅黑" panose="020B0503020204020204" pitchFamily="34" charset="-122"/>
              </a:rPr>
              <a:t>AC0</a:t>
            </a:r>
            <a:r>
              <a:rPr lang="zh-CN" altLang="zh-CN" sz="2400" b="0" dirty="0">
                <a:solidFill>
                  <a:schemeClr val="tx1"/>
                </a:solidFill>
                <a:latin typeface="微软雅黑" panose="020B0503020204020204" pitchFamily="34" charset="-122"/>
                <a:ea typeface="微软雅黑" panose="020B0503020204020204" pitchFamily="34" charset="-122"/>
              </a:rPr>
              <a:t>）</a:t>
            </a:r>
            <a:r>
              <a:rPr lang="en-US" altLang="zh-CN" sz="2400" b="0" dirty="0">
                <a:solidFill>
                  <a:schemeClr val="tx1"/>
                </a:solidFill>
                <a:latin typeface="微软雅黑" panose="020B0503020204020204" pitchFamily="34" charset="-122"/>
                <a:ea typeface="微软雅黑" panose="020B0503020204020204" pitchFamily="34" charset="-122"/>
              </a:rPr>
              <a:t>+ ((R1)+ A) </a:t>
            </a:r>
            <a:r>
              <a:rPr lang="zh-CN" altLang="zh-CN" sz="2400" b="0" dirty="0">
                <a:solidFill>
                  <a:schemeClr val="tx1"/>
                </a:solidFill>
                <a:latin typeface="微软雅黑" panose="020B0503020204020204" pitchFamily="34" charset="-122"/>
                <a:ea typeface="微软雅黑" panose="020B0503020204020204" pitchFamily="34" charset="-122"/>
              </a:rPr>
              <a:t>→ </a:t>
            </a:r>
            <a:r>
              <a:rPr lang="en-US" altLang="zh-CN" sz="2400" b="0" dirty="0" smtClean="0">
                <a:solidFill>
                  <a:schemeClr val="tx1"/>
                </a:solidFill>
                <a:latin typeface="微软雅黑" panose="020B0503020204020204" pitchFamily="34" charset="-122"/>
                <a:ea typeface="微软雅黑" panose="020B0503020204020204" pitchFamily="34" charset="-122"/>
              </a:rPr>
              <a:t>AC1  </a:t>
            </a:r>
          </a:p>
          <a:p>
            <a:pPr>
              <a:lnSpc>
                <a:spcPct val="120000"/>
              </a:lnSpc>
            </a:pPr>
            <a:r>
              <a:rPr lang="en-US" altLang="zh-CN" sz="2400" b="0" dirty="0" smtClean="0">
                <a:solidFill>
                  <a:schemeClr val="tx1"/>
                </a:solidFill>
                <a:latin typeface="微软雅黑" panose="020B0503020204020204" pitchFamily="34" charset="-122"/>
                <a:ea typeface="微软雅黑" panose="020B0503020204020204" pitchFamily="34" charset="-122"/>
              </a:rPr>
              <a:t>       </a:t>
            </a:r>
            <a:r>
              <a:rPr lang="zh-CN" altLang="zh-CN" sz="2400" b="0" dirty="0" smtClean="0">
                <a:solidFill>
                  <a:schemeClr val="tx1"/>
                </a:solidFill>
                <a:latin typeface="微软雅黑" panose="020B0503020204020204" pitchFamily="34" charset="-122"/>
                <a:ea typeface="微软雅黑" panose="020B0503020204020204" pitchFamily="34" charset="-122"/>
              </a:rPr>
              <a:t>请</a:t>
            </a:r>
            <a:r>
              <a:rPr lang="zh-CN" altLang="zh-CN" sz="2400" b="0" dirty="0">
                <a:solidFill>
                  <a:schemeClr val="tx1"/>
                </a:solidFill>
                <a:latin typeface="微软雅黑" panose="020B0503020204020204" pitchFamily="34" charset="-122"/>
                <a:ea typeface="微软雅黑" panose="020B0503020204020204" pitchFamily="34" charset="-122"/>
              </a:rPr>
              <a:t>画出该指令周期</a:t>
            </a:r>
            <a:r>
              <a:rPr lang="zh-CN" altLang="zh-CN" sz="2400" b="0" dirty="0" smtClean="0">
                <a:solidFill>
                  <a:schemeClr val="tx1"/>
                </a:solidFill>
                <a:latin typeface="微软雅黑" panose="020B0503020204020204" pitchFamily="34" charset="-122"/>
                <a:ea typeface="微软雅黑" panose="020B0503020204020204" pitchFamily="34" charset="-122"/>
              </a:rPr>
              <a:t>流程</a:t>
            </a:r>
            <a:r>
              <a:rPr lang="zh-CN" altLang="en-US" sz="2400" b="0" dirty="0" smtClean="0">
                <a:solidFill>
                  <a:schemeClr val="tx1"/>
                </a:solidFill>
                <a:latin typeface="微软雅黑" panose="020B0503020204020204" pitchFamily="34" charset="-122"/>
                <a:ea typeface="微软雅黑" panose="020B0503020204020204" pitchFamily="34" charset="-122"/>
              </a:rPr>
              <a:t>图，标出相应的微操作控制信号序列</a:t>
            </a:r>
            <a:r>
              <a:rPr lang="zh-CN" altLang="en-US" sz="2400" b="0" dirty="0" smtClean="0">
                <a:solidFill>
                  <a:schemeClr val="tx1"/>
                </a:solidFill>
                <a:latin typeface="黑体" pitchFamily="49" charset="-122"/>
                <a:ea typeface="黑体" pitchFamily="49" charset="-122"/>
              </a:rPr>
              <a:t>。 </a:t>
            </a:r>
            <a:endParaRPr lang="en-US" altLang="zh-CN" sz="2400" b="0" dirty="0" smtClean="0">
              <a:solidFill>
                <a:schemeClr val="tx1"/>
              </a:solidFill>
              <a:latin typeface="黑体" pitchFamily="49" charset="-122"/>
              <a:ea typeface="黑体" pitchFamily="49" charset="-122"/>
            </a:endParaRPr>
          </a:p>
        </p:txBody>
      </p:sp>
      <p:pic>
        <p:nvPicPr>
          <p:cNvPr id="35843" name="Picture 3"/>
          <p:cNvPicPr>
            <a:picLocks noChangeAspect="1" noChangeArrowheads="1"/>
          </p:cNvPicPr>
          <p:nvPr/>
        </p:nvPicPr>
        <p:blipFill>
          <a:blip r:embed="rId2"/>
          <a:srcRect/>
          <a:stretch>
            <a:fillRect/>
          </a:stretch>
        </p:blipFill>
        <p:spPr bwMode="auto">
          <a:xfrm>
            <a:off x="163164" y="2204864"/>
            <a:ext cx="8839200" cy="29968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3"/>
          <p:cNvPicPr>
            <a:picLocks noChangeAspect="1" noChangeArrowheads="1"/>
          </p:cNvPicPr>
          <p:nvPr/>
        </p:nvPicPr>
        <p:blipFill>
          <a:blip r:embed="rId2"/>
          <a:srcRect/>
          <a:stretch>
            <a:fillRect/>
          </a:stretch>
        </p:blipFill>
        <p:spPr bwMode="auto">
          <a:xfrm>
            <a:off x="50528" y="53480"/>
            <a:ext cx="8839200" cy="2235130"/>
          </a:xfrm>
          <a:prstGeom prst="rect">
            <a:avLst/>
          </a:prstGeom>
          <a:noFill/>
          <a:ln w="9525">
            <a:noFill/>
            <a:miter lim="800000"/>
            <a:headEnd/>
            <a:tailEnd/>
          </a:ln>
        </p:spPr>
      </p:pic>
      <p:sp>
        <p:nvSpPr>
          <p:cNvPr id="20" name="Rectangle 22"/>
          <p:cNvSpPr>
            <a:spLocks noChangeArrowheads="1"/>
          </p:cNvSpPr>
          <p:nvPr/>
        </p:nvSpPr>
        <p:spPr bwMode="auto">
          <a:xfrm>
            <a:off x="2393466" y="2869815"/>
            <a:ext cx="1236663" cy="369887"/>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C3</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IARin</a:t>
            </a:r>
            <a:endParaRPr lang="en-US" altLang="zh-CN" b="0" dirty="0">
              <a:solidFill>
                <a:schemeClr val="tx1"/>
              </a:solidFill>
              <a:latin typeface="黑体" pitchFamily="49" charset="-122"/>
              <a:ea typeface="黑体" pitchFamily="49" charset="-122"/>
            </a:endParaRPr>
          </a:p>
        </p:txBody>
      </p:sp>
      <p:sp>
        <p:nvSpPr>
          <p:cNvPr id="21" name="Rectangle 23"/>
          <p:cNvSpPr>
            <a:spLocks noChangeArrowheads="1"/>
          </p:cNvSpPr>
          <p:nvPr/>
        </p:nvSpPr>
        <p:spPr bwMode="auto">
          <a:xfrm>
            <a:off x="2399327" y="3337255"/>
            <a:ext cx="1236663" cy="369887"/>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RD</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IDRin</a:t>
            </a:r>
            <a:endParaRPr lang="en-US" altLang="zh-CN" b="0" dirty="0">
              <a:solidFill>
                <a:schemeClr val="tx1"/>
              </a:solidFill>
              <a:latin typeface="黑体" pitchFamily="49" charset="-122"/>
              <a:ea typeface="黑体" pitchFamily="49" charset="-122"/>
            </a:endParaRPr>
          </a:p>
        </p:txBody>
      </p:sp>
      <p:sp>
        <p:nvSpPr>
          <p:cNvPr id="22" name="Rectangle 24"/>
          <p:cNvSpPr>
            <a:spLocks noChangeArrowheads="1"/>
          </p:cNvSpPr>
          <p:nvPr/>
        </p:nvSpPr>
        <p:spPr bwMode="auto">
          <a:xfrm>
            <a:off x="2389588" y="3895260"/>
            <a:ext cx="1585913" cy="369888"/>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C6</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IRin</a:t>
            </a:r>
            <a:r>
              <a:rPr lang="zh-CN" altLang="en-US" b="0" dirty="0">
                <a:solidFill>
                  <a:schemeClr val="tx1"/>
                </a:solidFill>
                <a:latin typeface="黑体" pitchFamily="49" charset="-122"/>
                <a:ea typeface="黑体" pitchFamily="49" charset="-122"/>
              </a:rPr>
              <a:t>、</a:t>
            </a:r>
            <a:r>
              <a:rPr lang="en-US" altLang="zh-CN" b="0" dirty="0">
                <a:solidFill>
                  <a:schemeClr val="tx1"/>
                </a:solidFill>
                <a:latin typeface="黑体" pitchFamily="49" charset="-122"/>
                <a:ea typeface="黑体" pitchFamily="49" charset="-122"/>
              </a:rPr>
              <a:t>+1</a:t>
            </a:r>
          </a:p>
        </p:txBody>
      </p:sp>
      <p:sp>
        <p:nvSpPr>
          <p:cNvPr id="23" name="Rectangle 25"/>
          <p:cNvSpPr>
            <a:spLocks noChangeArrowheads="1"/>
          </p:cNvSpPr>
          <p:nvPr/>
        </p:nvSpPr>
        <p:spPr bwMode="auto">
          <a:xfrm>
            <a:off x="2389588" y="4874072"/>
            <a:ext cx="1352550" cy="369887"/>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C13</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DARin</a:t>
            </a:r>
            <a:endParaRPr lang="en-US" altLang="zh-CN" b="0" dirty="0">
              <a:solidFill>
                <a:schemeClr val="tx1"/>
              </a:solidFill>
              <a:latin typeface="黑体" pitchFamily="49" charset="-122"/>
              <a:ea typeface="黑体" pitchFamily="49" charset="-122"/>
            </a:endParaRPr>
          </a:p>
        </p:txBody>
      </p:sp>
      <p:sp>
        <p:nvSpPr>
          <p:cNvPr id="24" name="Rectangle 26"/>
          <p:cNvSpPr>
            <a:spLocks noChangeArrowheads="1"/>
          </p:cNvSpPr>
          <p:nvPr/>
        </p:nvSpPr>
        <p:spPr bwMode="auto">
          <a:xfrm>
            <a:off x="2393557" y="5381396"/>
            <a:ext cx="1587500" cy="369888"/>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R/W=R</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DDRin</a:t>
            </a:r>
            <a:endParaRPr lang="en-US" altLang="zh-CN" b="0" dirty="0">
              <a:solidFill>
                <a:schemeClr val="tx1"/>
              </a:solidFill>
              <a:latin typeface="黑体" pitchFamily="49" charset="-122"/>
              <a:ea typeface="黑体" pitchFamily="49" charset="-122"/>
            </a:endParaRPr>
          </a:p>
        </p:txBody>
      </p:sp>
      <p:sp>
        <p:nvSpPr>
          <p:cNvPr id="25" name="Rectangle 27"/>
          <p:cNvSpPr>
            <a:spLocks noChangeArrowheads="1"/>
          </p:cNvSpPr>
          <p:nvPr/>
        </p:nvSpPr>
        <p:spPr bwMode="auto">
          <a:xfrm>
            <a:off x="2409432" y="5835434"/>
            <a:ext cx="1236662" cy="369888"/>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C9</a:t>
            </a:r>
            <a:r>
              <a:rPr lang="zh-CN" altLang="en-US" b="0" dirty="0">
                <a:solidFill>
                  <a:schemeClr val="tx1"/>
                </a:solidFill>
                <a:latin typeface="黑体" pitchFamily="49" charset="-122"/>
                <a:ea typeface="黑体" pitchFamily="49" charset="-122"/>
              </a:rPr>
              <a:t>、</a:t>
            </a:r>
            <a:r>
              <a:rPr lang="en-US" altLang="zh-CN" b="0" dirty="0">
                <a:solidFill>
                  <a:schemeClr val="tx1"/>
                </a:solidFill>
                <a:latin typeface="黑体" pitchFamily="49" charset="-122"/>
                <a:ea typeface="黑体" pitchFamily="49" charset="-122"/>
              </a:rPr>
              <a:t>AC0in</a:t>
            </a:r>
          </a:p>
        </p:txBody>
      </p:sp>
      <p:sp>
        <p:nvSpPr>
          <p:cNvPr id="4" name="流程图: 过程 3"/>
          <p:cNvSpPr/>
          <p:nvPr/>
        </p:nvSpPr>
        <p:spPr bwMode="auto">
          <a:xfrm>
            <a:off x="971600" y="3851818"/>
            <a:ext cx="1152128" cy="490679"/>
          </a:xfrm>
          <a:prstGeom prst="flowChartProcess">
            <a:avLst/>
          </a:prstGeom>
          <a:noFill/>
          <a:ln w="12700" cap="sq">
            <a:solidFill>
              <a:schemeClr val="tx1"/>
            </a:solidFill>
            <a:round/>
            <a:headEnd type="none" w="sm" len="sm"/>
            <a:tailEnd type="none" w="sm" len="sm"/>
          </a:ln>
        </p:spPr>
        <p:txBody>
          <a:bodyPr wrap="none" rtlCol="0" anchor="ctr"/>
          <a:lstStyle/>
          <a:p>
            <a:pPr algn="ctr">
              <a:lnSpc>
                <a:spcPct val="90000"/>
              </a:lnSpc>
            </a:pPr>
            <a:r>
              <a:rPr lang="en-US" altLang="zh-CN" sz="1600" dirty="0" smtClean="0">
                <a:solidFill>
                  <a:schemeClr val="tx1"/>
                </a:solidFill>
                <a:latin typeface="+mn-ea"/>
              </a:rPr>
              <a:t>IDR</a:t>
            </a:r>
            <a:r>
              <a:rPr lang="zh-CN" altLang="zh-CN" sz="1600" dirty="0" smtClean="0">
                <a:solidFill>
                  <a:schemeClr val="tx1"/>
                </a:solidFill>
                <a:latin typeface="+mn-ea"/>
              </a:rPr>
              <a:t>→</a:t>
            </a:r>
            <a:r>
              <a:rPr lang="en-US" altLang="zh-CN" sz="1600" dirty="0" smtClean="0">
                <a:solidFill>
                  <a:schemeClr val="tx1"/>
                </a:solidFill>
                <a:latin typeface="+mn-ea"/>
              </a:rPr>
              <a:t>IR</a:t>
            </a:r>
          </a:p>
          <a:p>
            <a:pPr algn="ctr">
              <a:lnSpc>
                <a:spcPct val="90000"/>
              </a:lnSpc>
            </a:pPr>
            <a:r>
              <a:rPr lang="en-US" altLang="zh-CN" sz="1600" dirty="0" smtClean="0">
                <a:solidFill>
                  <a:schemeClr val="tx1"/>
                </a:solidFill>
                <a:latin typeface="+mn-ea"/>
              </a:rPr>
              <a:t>PC=PC+1</a:t>
            </a:r>
            <a:endParaRPr lang="zh-CN" altLang="en-US" sz="1600" dirty="0">
              <a:solidFill>
                <a:schemeClr val="tx1"/>
              </a:solidFill>
              <a:latin typeface="+mn-ea"/>
            </a:endParaRPr>
          </a:p>
        </p:txBody>
      </p:sp>
      <p:cxnSp>
        <p:nvCxnSpPr>
          <p:cNvPr id="27" name="直接箭头连接符 26"/>
          <p:cNvCxnSpPr>
            <a:stCxn id="4" idx="2"/>
          </p:cNvCxnSpPr>
          <p:nvPr/>
        </p:nvCxnSpPr>
        <p:spPr bwMode="auto">
          <a:xfrm flipH="1">
            <a:off x="1543878" y="4342497"/>
            <a:ext cx="0" cy="167997"/>
          </a:xfrm>
          <a:prstGeom prst="straightConnector1">
            <a:avLst/>
          </a:prstGeom>
          <a:noFill/>
          <a:ln w="12700" cap="flat" cmpd="sng" algn="ctr">
            <a:solidFill>
              <a:schemeClr val="tx1"/>
            </a:solidFill>
            <a:prstDash val="solid"/>
            <a:round/>
            <a:headEnd type="none" w="med" len="med"/>
            <a:tailEnd type="triangle" w="med" len="med"/>
          </a:ln>
          <a:effectLst/>
        </p:spPr>
      </p:cxnSp>
      <p:sp>
        <p:nvSpPr>
          <p:cNvPr id="30" name="流程图: 过程 29"/>
          <p:cNvSpPr/>
          <p:nvPr/>
        </p:nvSpPr>
        <p:spPr bwMode="auto">
          <a:xfrm>
            <a:off x="971600" y="3379706"/>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IM</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IDR</a:t>
            </a:r>
            <a:endParaRPr lang="zh-CN" altLang="en-US" sz="1600" dirty="0">
              <a:solidFill>
                <a:schemeClr val="tx1"/>
              </a:solidFill>
              <a:latin typeface="+mn-ea"/>
              <a:ea typeface="+mn-ea"/>
            </a:endParaRPr>
          </a:p>
        </p:txBody>
      </p:sp>
      <p:cxnSp>
        <p:nvCxnSpPr>
          <p:cNvPr id="31" name="直接箭头连接符 30"/>
          <p:cNvCxnSpPr>
            <a:stCxn id="30" idx="2"/>
            <a:endCxn id="4" idx="0"/>
          </p:cNvCxnSpPr>
          <p:nvPr/>
        </p:nvCxnSpPr>
        <p:spPr bwMode="auto">
          <a:xfrm>
            <a:off x="1547664" y="3689170"/>
            <a:ext cx="0" cy="162648"/>
          </a:xfrm>
          <a:prstGeom prst="straightConnector1">
            <a:avLst/>
          </a:prstGeom>
          <a:noFill/>
          <a:ln w="12700" cap="flat" cmpd="sng" algn="ctr">
            <a:solidFill>
              <a:schemeClr val="tx1"/>
            </a:solidFill>
            <a:prstDash val="solid"/>
            <a:round/>
            <a:headEnd type="none" w="med" len="med"/>
            <a:tailEnd type="triangle" w="med" len="med"/>
          </a:ln>
          <a:effectLst/>
        </p:spPr>
      </p:cxnSp>
      <p:sp>
        <p:nvSpPr>
          <p:cNvPr id="33" name="流程图: 过程 32"/>
          <p:cNvSpPr/>
          <p:nvPr/>
        </p:nvSpPr>
        <p:spPr bwMode="auto">
          <a:xfrm>
            <a:off x="971600" y="2918514"/>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PC</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IAR</a:t>
            </a:r>
            <a:endParaRPr lang="zh-CN" altLang="en-US" sz="1600" dirty="0">
              <a:solidFill>
                <a:schemeClr val="tx1"/>
              </a:solidFill>
              <a:latin typeface="+mn-ea"/>
              <a:ea typeface="+mn-ea"/>
            </a:endParaRPr>
          </a:p>
        </p:txBody>
      </p:sp>
      <p:cxnSp>
        <p:nvCxnSpPr>
          <p:cNvPr id="34" name="直接箭头连接符 33"/>
          <p:cNvCxnSpPr>
            <a:stCxn id="33" idx="2"/>
            <a:endCxn id="30" idx="0"/>
          </p:cNvCxnSpPr>
          <p:nvPr/>
        </p:nvCxnSpPr>
        <p:spPr bwMode="auto">
          <a:xfrm>
            <a:off x="1547664" y="3227978"/>
            <a:ext cx="0" cy="151728"/>
          </a:xfrm>
          <a:prstGeom prst="straightConnector1">
            <a:avLst/>
          </a:prstGeom>
          <a:noFill/>
          <a:ln w="12700" cap="flat" cmpd="sng" algn="ctr">
            <a:solidFill>
              <a:schemeClr val="tx1"/>
            </a:solidFill>
            <a:prstDash val="solid"/>
            <a:round/>
            <a:headEnd type="none" w="med" len="med"/>
            <a:tailEnd type="triangle" w="med" len="med"/>
          </a:ln>
          <a:effectLst/>
        </p:spPr>
      </p:cxnSp>
      <p:sp>
        <p:nvSpPr>
          <p:cNvPr id="35844" name="流程图: 决策 35843"/>
          <p:cNvSpPr/>
          <p:nvPr/>
        </p:nvSpPr>
        <p:spPr bwMode="auto">
          <a:xfrm>
            <a:off x="971600" y="4510494"/>
            <a:ext cx="1152128" cy="220802"/>
          </a:xfrm>
          <a:prstGeom prst="flowChartDecision">
            <a:avLst/>
          </a:prstGeom>
          <a:noFill/>
          <a:ln w="12700" cap="sq">
            <a:solidFill>
              <a:schemeClr val="tx1"/>
            </a:solidFill>
            <a:round/>
            <a:headEnd type="none" w="sm" len="sm"/>
            <a:tailEnd type="none" w="sm" len="sm"/>
          </a:ln>
        </p:spPr>
        <p:txBody>
          <a:bodyPr wrap="none" rtlCol="0" anchor="ctr"/>
          <a:lstStyle/>
          <a:p>
            <a:pPr algn="ctr"/>
            <a:endParaRPr lang="zh-CN" altLang="en-US"/>
          </a:p>
        </p:txBody>
      </p:sp>
      <p:sp>
        <p:nvSpPr>
          <p:cNvPr id="45" name="流程图: 过程 44"/>
          <p:cNvSpPr/>
          <p:nvPr/>
        </p:nvSpPr>
        <p:spPr bwMode="auto">
          <a:xfrm>
            <a:off x="971600" y="5884696"/>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DDR</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AC0</a:t>
            </a:r>
            <a:endParaRPr lang="zh-CN" altLang="en-US" sz="1600" dirty="0">
              <a:solidFill>
                <a:schemeClr val="tx1"/>
              </a:solidFill>
              <a:latin typeface="+mn-ea"/>
              <a:ea typeface="+mn-ea"/>
            </a:endParaRPr>
          </a:p>
        </p:txBody>
      </p:sp>
      <p:sp>
        <p:nvSpPr>
          <p:cNvPr id="46" name="流程图: 过程 45"/>
          <p:cNvSpPr/>
          <p:nvPr/>
        </p:nvSpPr>
        <p:spPr bwMode="auto">
          <a:xfrm>
            <a:off x="971600" y="5411608"/>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DM</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DDR</a:t>
            </a:r>
            <a:endParaRPr lang="zh-CN" altLang="en-US" sz="1600" dirty="0">
              <a:solidFill>
                <a:schemeClr val="tx1"/>
              </a:solidFill>
              <a:latin typeface="+mn-ea"/>
              <a:ea typeface="+mn-ea"/>
            </a:endParaRPr>
          </a:p>
        </p:txBody>
      </p:sp>
      <p:sp>
        <p:nvSpPr>
          <p:cNvPr id="47" name="流程图: 过程 46"/>
          <p:cNvSpPr/>
          <p:nvPr/>
        </p:nvSpPr>
        <p:spPr bwMode="auto">
          <a:xfrm>
            <a:off x="971600" y="4917200"/>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A</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DAR</a:t>
            </a:r>
            <a:endParaRPr lang="zh-CN" altLang="en-US" sz="1600" dirty="0">
              <a:solidFill>
                <a:schemeClr val="tx1"/>
              </a:solidFill>
              <a:latin typeface="+mn-ea"/>
              <a:ea typeface="+mn-ea"/>
            </a:endParaRPr>
          </a:p>
        </p:txBody>
      </p:sp>
      <p:cxnSp>
        <p:nvCxnSpPr>
          <p:cNvPr id="48" name="直接箭头连接符 47"/>
          <p:cNvCxnSpPr/>
          <p:nvPr/>
        </p:nvCxnSpPr>
        <p:spPr bwMode="auto">
          <a:xfrm>
            <a:off x="1547664" y="4731296"/>
            <a:ext cx="0" cy="185904"/>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49" name="直接箭头连接符 48"/>
          <p:cNvCxnSpPr>
            <a:stCxn id="46" idx="2"/>
            <a:endCxn id="45" idx="0"/>
          </p:cNvCxnSpPr>
          <p:nvPr/>
        </p:nvCxnSpPr>
        <p:spPr bwMode="auto">
          <a:xfrm>
            <a:off x="1547664" y="5721072"/>
            <a:ext cx="0" cy="163624"/>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50" name="直接箭头连接符 49"/>
          <p:cNvCxnSpPr>
            <a:stCxn id="47" idx="2"/>
            <a:endCxn id="46" idx="0"/>
          </p:cNvCxnSpPr>
          <p:nvPr/>
        </p:nvCxnSpPr>
        <p:spPr bwMode="auto">
          <a:xfrm>
            <a:off x="1547664" y="5226664"/>
            <a:ext cx="0" cy="184944"/>
          </a:xfrm>
          <a:prstGeom prst="straightConnector1">
            <a:avLst/>
          </a:prstGeom>
          <a:noFill/>
          <a:ln w="12700" cap="flat" cmpd="sng" algn="ctr">
            <a:solidFill>
              <a:schemeClr val="tx1"/>
            </a:solidFill>
            <a:prstDash val="solid"/>
            <a:round/>
            <a:headEnd type="none" w="med" len="med"/>
            <a:tailEnd type="triangle" w="med" len="med"/>
          </a:ln>
          <a:effectLst/>
        </p:spPr>
      </p:cxnSp>
      <p:grpSp>
        <p:nvGrpSpPr>
          <p:cNvPr id="44" name="组合 43"/>
          <p:cNvGrpSpPr/>
          <p:nvPr/>
        </p:nvGrpSpPr>
        <p:grpSpPr>
          <a:xfrm>
            <a:off x="1397078" y="6192835"/>
            <a:ext cx="313095" cy="220133"/>
            <a:chOff x="5436096" y="6389109"/>
            <a:chExt cx="313095" cy="220133"/>
          </a:xfrm>
        </p:grpSpPr>
        <p:cxnSp>
          <p:nvCxnSpPr>
            <p:cNvPr id="35860" name="直接连接符 35859"/>
            <p:cNvCxnSpPr/>
            <p:nvPr/>
          </p:nvCxnSpPr>
          <p:spPr bwMode="auto">
            <a:xfrm>
              <a:off x="5586682" y="6389109"/>
              <a:ext cx="0" cy="160015"/>
            </a:xfrm>
            <a:prstGeom prst="line">
              <a:avLst/>
            </a:prstGeom>
            <a:noFill/>
            <a:ln w="1270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a:off x="5471268" y="6549124"/>
              <a:ext cx="230978" cy="0"/>
            </a:xfrm>
            <a:prstGeom prst="line">
              <a:avLst/>
            </a:prstGeom>
            <a:noFill/>
            <a:ln w="12700"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flipH="1">
              <a:off x="5436096" y="6549124"/>
              <a:ext cx="35172" cy="60118"/>
            </a:xfrm>
            <a:prstGeom prst="line">
              <a:avLst/>
            </a:prstGeom>
            <a:noFill/>
            <a:ln w="12700" cap="flat" cmpd="sng" algn="ctr">
              <a:solidFill>
                <a:schemeClr val="tx1"/>
              </a:solidFill>
              <a:prstDash val="solid"/>
              <a:round/>
              <a:headEnd type="none" w="med" len="med"/>
              <a:tailEnd type="none" w="med" len="med"/>
            </a:ln>
            <a:effectLst/>
          </p:spPr>
        </p:cxnSp>
        <p:cxnSp>
          <p:nvCxnSpPr>
            <p:cNvPr id="71" name="直接连接符 70"/>
            <p:cNvCxnSpPr/>
            <p:nvPr/>
          </p:nvCxnSpPr>
          <p:spPr bwMode="auto">
            <a:xfrm flipV="1">
              <a:off x="5702246" y="6469116"/>
              <a:ext cx="46945" cy="80008"/>
            </a:xfrm>
            <a:prstGeom prst="line">
              <a:avLst/>
            </a:prstGeom>
            <a:noFill/>
            <a:ln w="12700" cap="flat" cmpd="sng" algn="ctr">
              <a:solidFill>
                <a:schemeClr val="tx1"/>
              </a:solidFill>
              <a:prstDash val="solid"/>
              <a:round/>
              <a:headEnd type="none" w="med" len="med"/>
              <a:tailEnd type="none" w="med" len="med"/>
            </a:ln>
            <a:effectLst/>
          </p:spPr>
        </p:cxnSp>
      </p:grpSp>
      <p:sp>
        <p:nvSpPr>
          <p:cNvPr id="28" name="Rectangle 22"/>
          <p:cNvSpPr>
            <a:spLocks noChangeArrowheads="1"/>
          </p:cNvSpPr>
          <p:nvPr/>
        </p:nvSpPr>
        <p:spPr bwMode="auto">
          <a:xfrm>
            <a:off x="6012160" y="2717662"/>
            <a:ext cx="1236663" cy="369887"/>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C3</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IARin</a:t>
            </a:r>
            <a:endParaRPr lang="en-US" altLang="zh-CN" b="0" dirty="0">
              <a:solidFill>
                <a:schemeClr val="tx1"/>
              </a:solidFill>
              <a:latin typeface="黑体" pitchFamily="49" charset="-122"/>
              <a:ea typeface="黑体" pitchFamily="49" charset="-122"/>
            </a:endParaRPr>
          </a:p>
        </p:txBody>
      </p:sp>
      <p:sp>
        <p:nvSpPr>
          <p:cNvPr id="29" name="Rectangle 23"/>
          <p:cNvSpPr>
            <a:spLocks noChangeArrowheads="1"/>
          </p:cNvSpPr>
          <p:nvPr/>
        </p:nvSpPr>
        <p:spPr bwMode="auto">
          <a:xfrm>
            <a:off x="6018021" y="3185102"/>
            <a:ext cx="1236663" cy="369887"/>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RD</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IDRin</a:t>
            </a:r>
            <a:endParaRPr lang="en-US" altLang="zh-CN" b="0" dirty="0">
              <a:solidFill>
                <a:schemeClr val="tx1"/>
              </a:solidFill>
              <a:latin typeface="黑体" pitchFamily="49" charset="-122"/>
              <a:ea typeface="黑体" pitchFamily="49" charset="-122"/>
            </a:endParaRPr>
          </a:p>
        </p:txBody>
      </p:sp>
      <p:sp>
        <p:nvSpPr>
          <p:cNvPr id="32" name="Rectangle 24"/>
          <p:cNvSpPr>
            <a:spLocks noChangeArrowheads="1"/>
          </p:cNvSpPr>
          <p:nvPr/>
        </p:nvSpPr>
        <p:spPr bwMode="auto">
          <a:xfrm>
            <a:off x="6008282" y="3743107"/>
            <a:ext cx="1585913" cy="369888"/>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C6</a:t>
            </a:r>
            <a:r>
              <a:rPr lang="zh-CN" altLang="en-US" b="0" dirty="0">
                <a:solidFill>
                  <a:schemeClr val="tx1"/>
                </a:solidFill>
                <a:latin typeface="黑体" pitchFamily="49" charset="-122"/>
                <a:ea typeface="黑体" pitchFamily="49" charset="-122"/>
              </a:rPr>
              <a:t>、</a:t>
            </a:r>
            <a:r>
              <a:rPr lang="en-US" altLang="zh-CN" b="0" dirty="0" err="1">
                <a:solidFill>
                  <a:schemeClr val="tx1"/>
                </a:solidFill>
                <a:latin typeface="黑体" pitchFamily="49" charset="-122"/>
                <a:ea typeface="黑体" pitchFamily="49" charset="-122"/>
              </a:rPr>
              <a:t>IRin</a:t>
            </a:r>
            <a:r>
              <a:rPr lang="zh-CN" altLang="en-US" b="0" dirty="0">
                <a:solidFill>
                  <a:schemeClr val="tx1"/>
                </a:solidFill>
                <a:latin typeface="黑体" pitchFamily="49" charset="-122"/>
                <a:ea typeface="黑体" pitchFamily="49" charset="-122"/>
              </a:rPr>
              <a:t>、</a:t>
            </a:r>
            <a:r>
              <a:rPr lang="en-US" altLang="zh-CN" b="0" dirty="0">
                <a:solidFill>
                  <a:schemeClr val="tx1"/>
                </a:solidFill>
                <a:latin typeface="黑体" pitchFamily="49" charset="-122"/>
                <a:ea typeface="黑体" pitchFamily="49" charset="-122"/>
              </a:rPr>
              <a:t>+1</a:t>
            </a:r>
          </a:p>
        </p:txBody>
      </p:sp>
      <p:sp>
        <p:nvSpPr>
          <p:cNvPr id="35" name="Rectangle 25"/>
          <p:cNvSpPr>
            <a:spLocks noChangeArrowheads="1"/>
          </p:cNvSpPr>
          <p:nvPr/>
        </p:nvSpPr>
        <p:spPr bwMode="auto">
          <a:xfrm>
            <a:off x="6008282" y="4696485"/>
            <a:ext cx="2146742" cy="369332"/>
          </a:xfrm>
          <a:prstGeom prst="rect">
            <a:avLst/>
          </a:prstGeom>
          <a:noFill/>
          <a:ln w="9525">
            <a:noFill/>
            <a:miter lim="800000"/>
            <a:headEnd/>
            <a:tailEnd/>
          </a:ln>
        </p:spPr>
        <p:txBody>
          <a:bodyPr wrap="none">
            <a:spAutoFit/>
          </a:bodyPr>
          <a:lstStyle/>
          <a:p>
            <a:r>
              <a:rPr lang="en-US" altLang="zh-CN" b="0" dirty="0" smtClean="0">
                <a:solidFill>
                  <a:schemeClr val="tx1"/>
                </a:solidFill>
                <a:latin typeface="黑体" pitchFamily="49" charset="-122"/>
                <a:ea typeface="黑体" pitchFamily="49" charset="-122"/>
              </a:rPr>
              <a:t>C1</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C12</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AC1in</a:t>
            </a:r>
            <a:endParaRPr lang="en-US" altLang="zh-CN" b="0" dirty="0">
              <a:solidFill>
                <a:schemeClr val="tx1"/>
              </a:solidFill>
              <a:latin typeface="黑体" pitchFamily="49" charset="-122"/>
              <a:ea typeface="黑体" pitchFamily="49" charset="-122"/>
            </a:endParaRPr>
          </a:p>
        </p:txBody>
      </p:sp>
      <p:sp>
        <p:nvSpPr>
          <p:cNvPr id="36" name="Rectangle 26"/>
          <p:cNvSpPr>
            <a:spLocks noChangeArrowheads="1"/>
          </p:cNvSpPr>
          <p:nvPr/>
        </p:nvSpPr>
        <p:spPr bwMode="auto">
          <a:xfrm>
            <a:off x="6012251" y="5217051"/>
            <a:ext cx="1223412" cy="369332"/>
          </a:xfrm>
          <a:prstGeom prst="rect">
            <a:avLst/>
          </a:prstGeom>
          <a:noFill/>
          <a:ln w="9525">
            <a:noFill/>
            <a:miter lim="800000"/>
            <a:headEnd/>
            <a:tailEnd/>
          </a:ln>
        </p:spPr>
        <p:txBody>
          <a:bodyPr wrap="none">
            <a:spAutoFit/>
          </a:bodyPr>
          <a:lstStyle/>
          <a:p>
            <a:r>
              <a:rPr lang="en-US" altLang="zh-CN" b="0" dirty="0" smtClean="0">
                <a:solidFill>
                  <a:schemeClr val="tx1"/>
                </a:solidFill>
                <a:latin typeface="黑体" pitchFamily="49" charset="-122"/>
                <a:ea typeface="黑体" pitchFamily="49" charset="-122"/>
              </a:rPr>
              <a:t>C7</a:t>
            </a:r>
            <a:r>
              <a:rPr lang="zh-CN" altLang="en-US" b="0" dirty="0" smtClean="0">
                <a:solidFill>
                  <a:schemeClr val="tx1"/>
                </a:solidFill>
                <a:latin typeface="黑体" pitchFamily="49" charset="-122"/>
                <a:ea typeface="黑体" pitchFamily="49" charset="-122"/>
              </a:rPr>
              <a:t>、</a:t>
            </a:r>
            <a:r>
              <a:rPr lang="en-US" altLang="zh-CN" b="0" dirty="0" err="1" smtClean="0">
                <a:solidFill>
                  <a:schemeClr val="tx1"/>
                </a:solidFill>
                <a:latin typeface="黑体" pitchFamily="49" charset="-122"/>
                <a:ea typeface="黑体" pitchFamily="49" charset="-122"/>
              </a:rPr>
              <a:t>DARin</a:t>
            </a:r>
            <a:endParaRPr lang="en-US" altLang="zh-CN" b="0" dirty="0">
              <a:solidFill>
                <a:schemeClr val="tx1"/>
              </a:solidFill>
              <a:latin typeface="黑体" pitchFamily="49" charset="-122"/>
              <a:ea typeface="黑体" pitchFamily="49" charset="-122"/>
            </a:endParaRPr>
          </a:p>
        </p:txBody>
      </p:sp>
      <p:sp>
        <p:nvSpPr>
          <p:cNvPr id="37" name="Rectangle 27"/>
          <p:cNvSpPr>
            <a:spLocks noChangeArrowheads="1"/>
          </p:cNvSpPr>
          <p:nvPr/>
        </p:nvSpPr>
        <p:spPr bwMode="auto">
          <a:xfrm>
            <a:off x="6009838" y="5738145"/>
            <a:ext cx="1569660" cy="369332"/>
          </a:xfrm>
          <a:prstGeom prst="rect">
            <a:avLst/>
          </a:prstGeom>
          <a:noFill/>
          <a:ln w="9525">
            <a:noFill/>
            <a:miter lim="800000"/>
            <a:headEnd/>
            <a:tailEnd/>
          </a:ln>
        </p:spPr>
        <p:txBody>
          <a:bodyPr wrap="none">
            <a:spAutoFit/>
          </a:bodyPr>
          <a:lstStyle/>
          <a:p>
            <a:r>
              <a:rPr lang="en-US" altLang="zh-CN" b="0" dirty="0">
                <a:solidFill>
                  <a:schemeClr val="tx1"/>
                </a:solidFill>
                <a:latin typeface="黑体" pitchFamily="49" charset="-122"/>
                <a:ea typeface="黑体" pitchFamily="49" charset="-122"/>
              </a:rPr>
              <a:t>R/W=R</a:t>
            </a:r>
            <a:r>
              <a:rPr lang="zh-CN" altLang="en-US" b="0" dirty="0">
                <a:solidFill>
                  <a:schemeClr val="tx1"/>
                </a:solidFill>
                <a:latin typeface="黑体" pitchFamily="49" charset="-122"/>
                <a:ea typeface="黑体" pitchFamily="49" charset="-122"/>
              </a:rPr>
              <a:t>、</a:t>
            </a:r>
            <a:r>
              <a:rPr lang="en-US" altLang="zh-CN" b="0" dirty="0" err="1" smtClean="0">
                <a:solidFill>
                  <a:schemeClr val="tx1"/>
                </a:solidFill>
                <a:latin typeface="黑体" pitchFamily="49" charset="-122"/>
                <a:ea typeface="黑体" pitchFamily="49" charset="-122"/>
              </a:rPr>
              <a:t>DDRin</a:t>
            </a:r>
            <a:endParaRPr lang="en-US" altLang="zh-CN" b="0" dirty="0">
              <a:solidFill>
                <a:schemeClr val="tx1"/>
              </a:solidFill>
              <a:latin typeface="黑体" pitchFamily="49" charset="-122"/>
              <a:ea typeface="黑体" pitchFamily="49" charset="-122"/>
            </a:endParaRPr>
          </a:p>
        </p:txBody>
      </p:sp>
      <p:sp>
        <p:nvSpPr>
          <p:cNvPr id="38" name="流程图: 过程 37"/>
          <p:cNvSpPr/>
          <p:nvPr/>
        </p:nvSpPr>
        <p:spPr bwMode="auto">
          <a:xfrm>
            <a:off x="4590310" y="3699665"/>
            <a:ext cx="1152128" cy="490679"/>
          </a:xfrm>
          <a:prstGeom prst="flowChartProcess">
            <a:avLst/>
          </a:prstGeom>
          <a:noFill/>
          <a:ln w="12700" cap="sq">
            <a:solidFill>
              <a:schemeClr val="tx1"/>
            </a:solidFill>
            <a:round/>
            <a:headEnd type="none" w="sm" len="sm"/>
            <a:tailEnd type="none" w="sm" len="sm"/>
          </a:ln>
        </p:spPr>
        <p:txBody>
          <a:bodyPr wrap="none" rtlCol="0" anchor="ctr"/>
          <a:lstStyle/>
          <a:p>
            <a:pPr algn="ctr">
              <a:lnSpc>
                <a:spcPct val="90000"/>
              </a:lnSpc>
            </a:pPr>
            <a:r>
              <a:rPr lang="en-US" altLang="zh-CN" sz="1600" dirty="0" smtClean="0">
                <a:solidFill>
                  <a:schemeClr val="tx1"/>
                </a:solidFill>
                <a:latin typeface="+mn-ea"/>
              </a:rPr>
              <a:t>IDR</a:t>
            </a:r>
            <a:r>
              <a:rPr lang="zh-CN" altLang="zh-CN" sz="1600" dirty="0" smtClean="0">
                <a:solidFill>
                  <a:schemeClr val="tx1"/>
                </a:solidFill>
                <a:latin typeface="+mn-ea"/>
              </a:rPr>
              <a:t>→</a:t>
            </a:r>
            <a:r>
              <a:rPr lang="en-US" altLang="zh-CN" sz="1600" dirty="0" smtClean="0">
                <a:solidFill>
                  <a:schemeClr val="tx1"/>
                </a:solidFill>
                <a:latin typeface="+mn-ea"/>
              </a:rPr>
              <a:t>IR</a:t>
            </a:r>
          </a:p>
          <a:p>
            <a:pPr algn="ctr">
              <a:lnSpc>
                <a:spcPct val="90000"/>
              </a:lnSpc>
            </a:pPr>
            <a:r>
              <a:rPr lang="en-US" altLang="zh-CN" sz="1600" dirty="0" smtClean="0">
                <a:solidFill>
                  <a:schemeClr val="tx1"/>
                </a:solidFill>
                <a:latin typeface="+mn-ea"/>
              </a:rPr>
              <a:t>PC=PC+1</a:t>
            </a:r>
            <a:endParaRPr lang="zh-CN" altLang="en-US" sz="1600" dirty="0">
              <a:solidFill>
                <a:schemeClr val="tx1"/>
              </a:solidFill>
              <a:latin typeface="+mn-ea"/>
            </a:endParaRPr>
          </a:p>
        </p:txBody>
      </p:sp>
      <p:cxnSp>
        <p:nvCxnSpPr>
          <p:cNvPr id="39" name="直接箭头连接符 38"/>
          <p:cNvCxnSpPr/>
          <p:nvPr/>
        </p:nvCxnSpPr>
        <p:spPr bwMode="auto">
          <a:xfrm flipH="1">
            <a:off x="5164473" y="4190344"/>
            <a:ext cx="3802" cy="167997"/>
          </a:xfrm>
          <a:prstGeom prst="straightConnector1">
            <a:avLst/>
          </a:prstGeom>
          <a:noFill/>
          <a:ln w="12700" cap="flat" cmpd="sng" algn="ctr">
            <a:solidFill>
              <a:schemeClr val="tx1"/>
            </a:solidFill>
            <a:prstDash val="solid"/>
            <a:round/>
            <a:headEnd type="none" w="med" len="med"/>
            <a:tailEnd type="triangle" w="med" len="med"/>
          </a:ln>
          <a:effectLst/>
        </p:spPr>
      </p:cxnSp>
      <p:sp>
        <p:nvSpPr>
          <p:cNvPr id="40" name="流程图: 过程 39"/>
          <p:cNvSpPr/>
          <p:nvPr/>
        </p:nvSpPr>
        <p:spPr bwMode="auto">
          <a:xfrm>
            <a:off x="4590310" y="3227553"/>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IM</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IDR</a:t>
            </a:r>
            <a:endParaRPr lang="zh-CN" altLang="en-US" sz="1600" dirty="0">
              <a:solidFill>
                <a:schemeClr val="tx1"/>
              </a:solidFill>
              <a:latin typeface="+mn-ea"/>
              <a:ea typeface="+mn-ea"/>
            </a:endParaRPr>
          </a:p>
        </p:txBody>
      </p:sp>
      <p:cxnSp>
        <p:nvCxnSpPr>
          <p:cNvPr id="41" name="直接箭头连接符 40"/>
          <p:cNvCxnSpPr/>
          <p:nvPr/>
        </p:nvCxnSpPr>
        <p:spPr bwMode="auto">
          <a:xfrm>
            <a:off x="5166374" y="3537017"/>
            <a:ext cx="0" cy="162648"/>
          </a:xfrm>
          <a:prstGeom prst="straightConnector1">
            <a:avLst/>
          </a:prstGeom>
          <a:noFill/>
          <a:ln w="12700" cap="flat" cmpd="sng" algn="ctr">
            <a:solidFill>
              <a:schemeClr val="tx1"/>
            </a:solidFill>
            <a:prstDash val="solid"/>
            <a:round/>
            <a:headEnd type="none" w="med" len="med"/>
            <a:tailEnd type="triangle" w="med" len="med"/>
          </a:ln>
          <a:effectLst/>
        </p:spPr>
      </p:cxnSp>
      <p:sp>
        <p:nvSpPr>
          <p:cNvPr id="42" name="流程图: 过程 41"/>
          <p:cNvSpPr/>
          <p:nvPr/>
        </p:nvSpPr>
        <p:spPr bwMode="auto">
          <a:xfrm>
            <a:off x="4590310" y="2766361"/>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PC</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IAR</a:t>
            </a:r>
            <a:endParaRPr lang="zh-CN" altLang="en-US" sz="1600" dirty="0">
              <a:solidFill>
                <a:schemeClr val="tx1"/>
              </a:solidFill>
              <a:latin typeface="+mn-ea"/>
              <a:ea typeface="+mn-ea"/>
            </a:endParaRPr>
          </a:p>
        </p:txBody>
      </p:sp>
      <p:cxnSp>
        <p:nvCxnSpPr>
          <p:cNvPr id="43" name="直接箭头连接符 42"/>
          <p:cNvCxnSpPr/>
          <p:nvPr/>
        </p:nvCxnSpPr>
        <p:spPr bwMode="auto">
          <a:xfrm>
            <a:off x="5166374" y="3075825"/>
            <a:ext cx="0" cy="151728"/>
          </a:xfrm>
          <a:prstGeom prst="straightConnector1">
            <a:avLst/>
          </a:prstGeom>
          <a:noFill/>
          <a:ln w="12700" cap="flat" cmpd="sng" algn="ctr">
            <a:solidFill>
              <a:schemeClr val="tx1"/>
            </a:solidFill>
            <a:prstDash val="solid"/>
            <a:round/>
            <a:headEnd type="none" w="med" len="med"/>
            <a:tailEnd type="triangle" w="med" len="med"/>
          </a:ln>
          <a:effectLst/>
        </p:spPr>
      </p:cxnSp>
      <p:sp>
        <p:nvSpPr>
          <p:cNvPr id="51" name="流程图: 决策 50"/>
          <p:cNvSpPr/>
          <p:nvPr/>
        </p:nvSpPr>
        <p:spPr bwMode="auto">
          <a:xfrm>
            <a:off x="4594241" y="4353740"/>
            <a:ext cx="1152128" cy="220802"/>
          </a:xfrm>
          <a:prstGeom prst="flowChartDecision">
            <a:avLst/>
          </a:prstGeom>
          <a:noFill/>
          <a:ln w="12700" cap="sq">
            <a:solidFill>
              <a:schemeClr val="tx1"/>
            </a:solidFill>
            <a:round/>
            <a:headEnd type="none" w="sm" len="sm"/>
            <a:tailEnd type="none" w="sm" len="sm"/>
          </a:ln>
        </p:spPr>
        <p:txBody>
          <a:bodyPr wrap="none" rtlCol="0" anchor="ctr"/>
          <a:lstStyle/>
          <a:p>
            <a:pPr algn="ctr"/>
            <a:endParaRPr lang="zh-CN" altLang="en-US"/>
          </a:p>
        </p:txBody>
      </p:sp>
      <p:sp>
        <p:nvSpPr>
          <p:cNvPr id="52" name="流程图: 过程 51"/>
          <p:cNvSpPr/>
          <p:nvPr/>
        </p:nvSpPr>
        <p:spPr bwMode="auto">
          <a:xfrm>
            <a:off x="4470128" y="6283779"/>
            <a:ext cx="1392492"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AC0+DDR</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AC1</a:t>
            </a:r>
            <a:endParaRPr lang="zh-CN" altLang="en-US" sz="1600" dirty="0">
              <a:solidFill>
                <a:schemeClr val="tx1"/>
              </a:solidFill>
              <a:latin typeface="+mn-ea"/>
              <a:ea typeface="+mn-ea"/>
            </a:endParaRPr>
          </a:p>
        </p:txBody>
      </p:sp>
      <p:sp>
        <p:nvSpPr>
          <p:cNvPr id="53" name="流程图: 过程 52"/>
          <p:cNvSpPr/>
          <p:nvPr/>
        </p:nvSpPr>
        <p:spPr bwMode="auto">
          <a:xfrm>
            <a:off x="4590310" y="5259455"/>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AC1</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DAR</a:t>
            </a:r>
            <a:endParaRPr lang="zh-CN" altLang="en-US" sz="1600" dirty="0">
              <a:solidFill>
                <a:schemeClr val="tx1"/>
              </a:solidFill>
              <a:latin typeface="+mn-ea"/>
              <a:ea typeface="+mn-ea"/>
            </a:endParaRPr>
          </a:p>
        </p:txBody>
      </p:sp>
      <p:sp>
        <p:nvSpPr>
          <p:cNvPr id="54" name="流程图: 过程 53"/>
          <p:cNvSpPr/>
          <p:nvPr/>
        </p:nvSpPr>
        <p:spPr bwMode="auto">
          <a:xfrm>
            <a:off x="4590310" y="5788397"/>
            <a:ext cx="1152128"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DM</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DDR</a:t>
            </a:r>
            <a:endParaRPr lang="zh-CN" altLang="en-US" sz="1600" dirty="0">
              <a:solidFill>
                <a:schemeClr val="tx1"/>
              </a:solidFill>
              <a:latin typeface="+mn-ea"/>
              <a:ea typeface="+mn-ea"/>
            </a:endParaRPr>
          </a:p>
        </p:txBody>
      </p:sp>
      <p:cxnSp>
        <p:nvCxnSpPr>
          <p:cNvPr id="55" name="直接箭头连接符 54"/>
          <p:cNvCxnSpPr>
            <a:stCxn id="51" idx="2"/>
            <a:endCxn id="63" idx="0"/>
          </p:cNvCxnSpPr>
          <p:nvPr/>
        </p:nvCxnSpPr>
        <p:spPr bwMode="auto">
          <a:xfrm>
            <a:off x="5170305" y="4574542"/>
            <a:ext cx="0" cy="176298"/>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56" name="直接箭头连接符 55"/>
          <p:cNvCxnSpPr/>
          <p:nvPr/>
        </p:nvCxnSpPr>
        <p:spPr bwMode="auto">
          <a:xfrm>
            <a:off x="5166374" y="5568919"/>
            <a:ext cx="0" cy="219478"/>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57" name="直接箭头连接符 56"/>
          <p:cNvCxnSpPr>
            <a:stCxn id="63" idx="2"/>
            <a:endCxn id="53" idx="0"/>
          </p:cNvCxnSpPr>
          <p:nvPr/>
        </p:nvCxnSpPr>
        <p:spPr bwMode="auto">
          <a:xfrm flipH="1">
            <a:off x="5166374" y="5060304"/>
            <a:ext cx="0" cy="199151"/>
          </a:xfrm>
          <a:prstGeom prst="straightConnector1">
            <a:avLst/>
          </a:prstGeom>
          <a:noFill/>
          <a:ln w="12700" cap="flat" cmpd="sng" algn="ctr">
            <a:solidFill>
              <a:schemeClr val="tx1"/>
            </a:solidFill>
            <a:prstDash val="solid"/>
            <a:round/>
            <a:headEnd type="none" w="med" len="med"/>
            <a:tailEnd type="triangle" w="med" len="med"/>
          </a:ln>
          <a:effectLst/>
        </p:spPr>
      </p:cxnSp>
      <p:grpSp>
        <p:nvGrpSpPr>
          <p:cNvPr id="58" name="组合 57"/>
          <p:cNvGrpSpPr/>
          <p:nvPr/>
        </p:nvGrpSpPr>
        <p:grpSpPr>
          <a:xfrm>
            <a:off x="5007925" y="6593243"/>
            <a:ext cx="313095" cy="220133"/>
            <a:chOff x="5436096" y="6389109"/>
            <a:chExt cx="313095" cy="220133"/>
          </a:xfrm>
        </p:grpSpPr>
        <p:cxnSp>
          <p:nvCxnSpPr>
            <p:cNvPr id="59" name="直接连接符 58"/>
            <p:cNvCxnSpPr/>
            <p:nvPr/>
          </p:nvCxnSpPr>
          <p:spPr bwMode="auto">
            <a:xfrm>
              <a:off x="5586682" y="6389109"/>
              <a:ext cx="0" cy="160015"/>
            </a:xfrm>
            <a:prstGeom prst="line">
              <a:avLst/>
            </a:prstGeom>
            <a:noFill/>
            <a:ln w="12700" cap="flat" cmpd="sng" algn="ctr">
              <a:solidFill>
                <a:schemeClr val="tx1"/>
              </a:solidFill>
              <a:prstDash val="solid"/>
              <a:round/>
              <a:headEnd type="none" w="med" len="med"/>
              <a:tailEnd type="none" w="med" len="med"/>
            </a:ln>
            <a:effectLst/>
          </p:spPr>
        </p:cxnSp>
        <p:cxnSp>
          <p:nvCxnSpPr>
            <p:cNvPr id="60" name="直接连接符 59"/>
            <p:cNvCxnSpPr/>
            <p:nvPr/>
          </p:nvCxnSpPr>
          <p:spPr bwMode="auto">
            <a:xfrm>
              <a:off x="5471268" y="6549124"/>
              <a:ext cx="230978" cy="0"/>
            </a:xfrm>
            <a:prstGeom prst="line">
              <a:avLst/>
            </a:prstGeom>
            <a:noFill/>
            <a:ln w="12700" cap="flat" cmpd="sng" algn="ctr">
              <a:solidFill>
                <a:schemeClr val="tx1"/>
              </a:solidFill>
              <a:prstDash val="solid"/>
              <a:round/>
              <a:headEnd type="none" w="med" len="med"/>
              <a:tailEnd type="none" w="med" len="med"/>
            </a:ln>
            <a:effectLst/>
          </p:spPr>
        </p:cxnSp>
        <p:cxnSp>
          <p:nvCxnSpPr>
            <p:cNvPr id="61" name="直接连接符 60"/>
            <p:cNvCxnSpPr/>
            <p:nvPr/>
          </p:nvCxnSpPr>
          <p:spPr bwMode="auto">
            <a:xfrm flipH="1">
              <a:off x="5436096" y="6549124"/>
              <a:ext cx="35172" cy="60118"/>
            </a:xfrm>
            <a:prstGeom prst="line">
              <a:avLst/>
            </a:prstGeom>
            <a:noFill/>
            <a:ln w="12700" cap="flat" cmpd="sng" algn="ctr">
              <a:solidFill>
                <a:schemeClr val="tx1"/>
              </a:solidFill>
              <a:prstDash val="solid"/>
              <a:round/>
              <a:headEnd type="none" w="med" len="med"/>
              <a:tailEnd type="none" w="med" len="med"/>
            </a:ln>
            <a:effectLst/>
          </p:spPr>
        </p:cxnSp>
        <p:cxnSp>
          <p:nvCxnSpPr>
            <p:cNvPr id="62" name="直接连接符 61"/>
            <p:cNvCxnSpPr/>
            <p:nvPr/>
          </p:nvCxnSpPr>
          <p:spPr bwMode="auto">
            <a:xfrm flipV="1">
              <a:off x="5702246" y="6469116"/>
              <a:ext cx="46945" cy="80008"/>
            </a:xfrm>
            <a:prstGeom prst="line">
              <a:avLst/>
            </a:prstGeom>
            <a:noFill/>
            <a:ln w="12700" cap="flat" cmpd="sng" algn="ctr">
              <a:solidFill>
                <a:schemeClr val="tx1"/>
              </a:solidFill>
              <a:prstDash val="solid"/>
              <a:round/>
              <a:headEnd type="none" w="med" len="med"/>
              <a:tailEnd type="none" w="med" len="med"/>
            </a:ln>
            <a:effectLst/>
          </p:spPr>
        </p:cxnSp>
      </p:grpSp>
      <p:sp>
        <p:nvSpPr>
          <p:cNvPr id="63" name="流程图: 过程 62"/>
          <p:cNvSpPr/>
          <p:nvPr/>
        </p:nvSpPr>
        <p:spPr bwMode="auto">
          <a:xfrm>
            <a:off x="4457914" y="4750840"/>
            <a:ext cx="1429112" cy="309464"/>
          </a:xfrm>
          <a:prstGeom prst="flowChartProcess">
            <a:avLst/>
          </a:prstGeom>
          <a:noFill/>
          <a:ln w="12700" cap="sq">
            <a:solidFill>
              <a:schemeClr val="tx1"/>
            </a:solidFill>
            <a:round/>
            <a:headEnd type="none" w="sm" len="sm"/>
            <a:tailEnd type="none" w="sm" len="sm"/>
          </a:ln>
        </p:spPr>
        <p:txBody>
          <a:bodyPr wrap="none" rtlCol="0" anchor="ctr"/>
          <a:lstStyle/>
          <a:p>
            <a:pPr algn="ctr"/>
            <a:r>
              <a:rPr lang="en-US" altLang="zh-CN" sz="1600" dirty="0" smtClean="0">
                <a:solidFill>
                  <a:schemeClr val="tx1"/>
                </a:solidFill>
                <a:latin typeface="+mn-ea"/>
                <a:ea typeface="+mn-ea"/>
              </a:rPr>
              <a:t>(R1)+A</a:t>
            </a:r>
            <a:r>
              <a:rPr lang="zh-CN" altLang="zh-CN" sz="1600" dirty="0" smtClean="0">
                <a:solidFill>
                  <a:schemeClr val="tx1"/>
                </a:solidFill>
                <a:latin typeface="+mn-ea"/>
                <a:ea typeface="+mn-ea"/>
              </a:rPr>
              <a:t>→</a:t>
            </a:r>
            <a:r>
              <a:rPr lang="en-US" altLang="zh-CN" sz="1600" dirty="0" smtClean="0">
                <a:solidFill>
                  <a:schemeClr val="tx1"/>
                </a:solidFill>
                <a:latin typeface="+mn-ea"/>
                <a:ea typeface="+mn-ea"/>
              </a:rPr>
              <a:t>AC1</a:t>
            </a:r>
            <a:endParaRPr lang="zh-CN" altLang="en-US" sz="1600" dirty="0">
              <a:solidFill>
                <a:schemeClr val="tx1"/>
              </a:solidFill>
              <a:latin typeface="+mn-ea"/>
              <a:ea typeface="+mn-ea"/>
            </a:endParaRPr>
          </a:p>
        </p:txBody>
      </p:sp>
      <p:cxnSp>
        <p:nvCxnSpPr>
          <p:cNvPr id="64" name="直接箭头连接符 63"/>
          <p:cNvCxnSpPr/>
          <p:nvPr/>
        </p:nvCxnSpPr>
        <p:spPr bwMode="auto">
          <a:xfrm>
            <a:off x="5166374" y="6097861"/>
            <a:ext cx="0" cy="185918"/>
          </a:xfrm>
          <a:prstGeom prst="straightConnector1">
            <a:avLst/>
          </a:prstGeom>
          <a:noFill/>
          <a:ln w="12700" cap="flat" cmpd="sng" algn="ctr">
            <a:solidFill>
              <a:schemeClr val="tx1"/>
            </a:solidFill>
            <a:prstDash val="solid"/>
            <a:round/>
            <a:headEnd type="none" w="med" len="med"/>
            <a:tailEnd type="triangle" w="med" len="med"/>
          </a:ln>
          <a:effectLst/>
        </p:spPr>
      </p:cxnSp>
      <p:sp>
        <p:nvSpPr>
          <p:cNvPr id="65" name="Rectangle 27"/>
          <p:cNvSpPr>
            <a:spLocks noChangeArrowheads="1"/>
          </p:cNvSpPr>
          <p:nvPr/>
        </p:nvSpPr>
        <p:spPr bwMode="auto">
          <a:xfrm>
            <a:off x="6028094" y="6258644"/>
            <a:ext cx="2126930" cy="369332"/>
          </a:xfrm>
          <a:prstGeom prst="rect">
            <a:avLst/>
          </a:prstGeom>
          <a:noFill/>
          <a:ln w="9525">
            <a:noFill/>
            <a:miter lim="800000"/>
            <a:headEnd/>
            <a:tailEnd/>
          </a:ln>
        </p:spPr>
        <p:txBody>
          <a:bodyPr wrap="square">
            <a:spAutoFit/>
          </a:bodyPr>
          <a:lstStyle/>
          <a:p>
            <a:r>
              <a:rPr lang="en-US" altLang="zh-CN" b="0" dirty="0" smtClean="0">
                <a:solidFill>
                  <a:schemeClr val="tx1"/>
                </a:solidFill>
                <a:latin typeface="黑体" pitchFamily="49" charset="-122"/>
                <a:ea typeface="黑体" pitchFamily="49" charset="-122"/>
              </a:rPr>
              <a:t>C4</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C11</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a:t>
            </a:r>
            <a:r>
              <a:rPr lang="zh-CN" altLang="en-US" b="0" dirty="0" smtClean="0">
                <a:solidFill>
                  <a:schemeClr val="tx1"/>
                </a:solidFill>
                <a:latin typeface="黑体" pitchFamily="49" charset="-122"/>
                <a:ea typeface="黑体" pitchFamily="49" charset="-122"/>
              </a:rPr>
              <a:t>、</a:t>
            </a:r>
            <a:r>
              <a:rPr lang="en-US" altLang="zh-CN" b="0" dirty="0" smtClean="0">
                <a:solidFill>
                  <a:schemeClr val="tx1"/>
                </a:solidFill>
                <a:latin typeface="黑体" pitchFamily="49" charset="-122"/>
                <a:ea typeface="黑体" pitchFamily="49" charset="-122"/>
              </a:rPr>
              <a:t>AC1in</a:t>
            </a:r>
            <a:endParaRPr lang="en-US" altLang="zh-CN" b="0" dirty="0">
              <a:solidFill>
                <a:schemeClr val="tx1"/>
              </a:solidFill>
              <a:latin typeface="黑体" pitchFamily="49" charset="-122"/>
              <a:ea typeface="黑体" pitchFamily="49" charset="-122"/>
            </a:endParaRPr>
          </a:p>
        </p:txBody>
      </p:sp>
      <p:sp>
        <p:nvSpPr>
          <p:cNvPr id="2" name="矩形 1"/>
          <p:cNvSpPr/>
          <p:nvPr/>
        </p:nvSpPr>
        <p:spPr>
          <a:xfrm>
            <a:off x="817364" y="2319020"/>
            <a:ext cx="1785617" cy="461665"/>
          </a:xfrm>
          <a:prstGeom prst="rect">
            <a:avLst/>
          </a:prstGeom>
        </p:spPr>
        <p:txBody>
          <a:bodyPr wrap="none">
            <a:spAutoFit/>
          </a:bodyPr>
          <a:lstStyle/>
          <a:p>
            <a:pPr lvl="0" indent="-26988">
              <a:lnSpc>
                <a:spcPct val="120000"/>
              </a:lnSpc>
            </a:pPr>
            <a:r>
              <a:rPr lang="zh-CN" altLang="en-US" sz="2000" b="0" dirty="0">
                <a:solidFill>
                  <a:srgbClr val="FF0000"/>
                </a:solidFill>
                <a:latin typeface="微软雅黑" panose="020B0503020204020204" pitchFamily="34" charset="-122"/>
                <a:ea typeface="微软雅黑" panose="020B0503020204020204" pitchFamily="34" charset="-122"/>
              </a:rPr>
              <a:t>（</a:t>
            </a:r>
            <a:r>
              <a:rPr lang="en-US" altLang="zh-CN" sz="2000" b="0" dirty="0">
                <a:solidFill>
                  <a:srgbClr val="FF0000"/>
                </a:solidFill>
                <a:latin typeface="微软雅黑" panose="020B0503020204020204" pitchFamily="34" charset="-122"/>
                <a:ea typeface="微软雅黑" panose="020B0503020204020204" pitchFamily="34" charset="-122"/>
              </a:rPr>
              <a:t>A</a:t>
            </a:r>
            <a:r>
              <a:rPr lang="zh-CN" altLang="en-US" sz="2000" b="0" dirty="0">
                <a:solidFill>
                  <a:srgbClr val="FF0000"/>
                </a:solidFill>
                <a:latin typeface="微软雅黑" panose="020B0503020204020204" pitchFamily="34" charset="-122"/>
                <a:ea typeface="微软雅黑" panose="020B0503020204020204" pitchFamily="34" charset="-122"/>
              </a:rPr>
              <a:t>）→ </a:t>
            </a:r>
            <a:r>
              <a:rPr lang="en-US" altLang="zh-CN" sz="2000" b="0" dirty="0">
                <a:solidFill>
                  <a:srgbClr val="FF0000"/>
                </a:solidFill>
                <a:latin typeface="微软雅黑" panose="020B0503020204020204" pitchFamily="34" charset="-122"/>
                <a:ea typeface="微软雅黑" panose="020B0503020204020204" pitchFamily="34" charset="-122"/>
              </a:rPr>
              <a:t>AC0 </a:t>
            </a:r>
          </a:p>
        </p:txBody>
      </p:sp>
      <p:sp>
        <p:nvSpPr>
          <p:cNvPr id="3" name="矩形 2"/>
          <p:cNvSpPr/>
          <p:nvPr/>
        </p:nvSpPr>
        <p:spPr>
          <a:xfrm>
            <a:off x="4355976" y="2288610"/>
            <a:ext cx="3974152" cy="400110"/>
          </a:xfrm>
          <a:prstGeom prst="rect">
            <a:avLst/>
          </a:prstGeom>
        </p:spPr>
        <p:txBody>
          <a:bodyPr wrap="square">
            <a:spAutoFit/>
          </a:bodyPr>
          <a:lstStyle/>
          <a:p>
            <a:r>
              <a:rPr lang="en-US" altLang="zh-CN" sz="2000" b="0" dirty="0" smtClean="0">
                <a:solidFill>
                  <a:srgbClr val="FF0000"/>
                </a:solidFill>
                <a:latin typeface="微软雅黑" panose="020B0503020204020204" pitchFamily="34" charset="-122"/>
                <a:ea typeface="微软雅黑" panose="020B0503020204020204" pitchFamily="34" charset="-122"/>
              </a:rPr>
              <a:t>AC0+ </a:t>
            </a:r>
            <a:r>
              <a:rPr lang="en-US" altLang="zh-CN" sz="2000" b="0" dirty="0">
                <a:solidFill>
                  <a:srgbClr val="FF0000"/>
                </a:solidFill>
                <a:latin typeface="微软雅黑" panose="020B0503020204020204" pitchFamily="34" charset="-122"/>
                <a:ea typeface="微软雅黑" panose="020B0503020204020204" pitchFamily="34" charset="-122"/>
              </a:rPr>
              <a:t>((R1)+ A) </a:t>
            </a:r>
            <a:r>
              <a:rPr lang="zh-CN" altLang="zh-CN" sz="2000" b="0" dirty="0">
                <a:solidFill>
                  <a:srgbClr val="FF0000"/>
                </a:solidFill>
                <a:latin typeface="微软雅黑" panose="020B0503020204020204" pitchFamily="34" charset="-122"/>
                <a:ea typeface="微软雅黑" panose="020B0503020204020204" pitchFamily="34" charset="-122"/>
              </a:rPr>
              <a:t>→ </a:t>
            </a:r>
            <a:r>
              <a:rPr lang="en-US" altLang="zh-CN" sz="2000" b="0" dirty="0">
                <a:solidFill>
                  <a:srgbClr val="FF0000"/>
                </a:solidFill>
                <a:latin typeface="微软雅黑" panose="020B0503020204020204" pitchFamily="34" charset="-122"/>
                <a:ea typeface="微软雅黑" panose="020B0503020204020204" pitchFamily="34" charset="-122"/>
              </a:rPr>
              <a:t>AC1 </a:t>
            </a:r>
            <a:endParaRPr lang="zh-CN" altLang="en-US" dirty="0"/>
          </a:p>
        </p:txBody>
      </p:sp>
    </p:spTree>
    <p:extLst>
      <p:ext uri="{BB962C8B-B14F-4D97-AF65-F5344CB8AC3E}">
        <p14:creationId xmlns:p14="http://schemas.microsoft.com/office/powerpoint/2010/main" val="93163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8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5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6"/>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5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3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5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3"/>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64"/>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4" grpId="0" animBg="1"/>
      <p:bldP spid="30" grpId="0" animBg="1"/>
      <p:bldP spid="33" grpId="0" animBg="1"/>
      <p:bldP spid="35844" grpId="0" animBg="1"/>
      <p:bldP spid="45" grpId="0" animBg="1"/>
      <p:bldP spid="46" grpId="0" animBg="1"/>
      <p:bldP spid="47" grpId="0" animBg="1"/>
      <p:bldP spid="28" grpId="0"/>
      <p:bldP spid="29" grpId="0"/>
      <p:bldP spid="32" grpId="0"/>
      <p:bldP spid="35" grpId="0"/>
      <p:bldP spid="36" grpId="0"/>
      <p:bldP spid="37" grpId="0"/>
      <p:bldP spid="38" grpId="0" animBg="1"/>
      <p:bldP spid="40" grpId="0" animBg="1"/>
      <p:bldP spid="42" grpId="0" animBg="1"/>
      <p:bldP spid="51" grpId="0" animBg="1"/>
      <p:bldP spid="52" grpId="0" animBg="1"/>
      <p:bldP spid="53" grpId="0" animBg="1"/>
      <p:bldP spid="54" grpId="0" animBg="1"/>
      <p:bldP spid="63" grpId="0" animBg="1"/>
      <p:bldP spid="6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a:spLocks noGrp="1"/>
          </p:cNvSpPr>
          <p:nvPr>
            <p:ph type="sldNum" sz="quarter" idx="12"/>
          </p:nvPr>
        </p:nvSpPr>
        <p:spPr>
          <a:noFill/>
        </p:spPr>
        <p:txBody>
          <a:bodyPr/>
          <a:lstStyle/>
          <a:p>
            <a:fld id="{A5D628EB-9704-4368-8BD4-02176BDA5A92}" type="slidenum">
              <a:rPr lang="en-US" altLang="zh-CN" smtClean="0"/>
              <a:pPr/>
              <a:t>35</a:t>
            </a:fld>
            <a:endParaRPr lang="en-US" altLang="zh-CN" smtClean="0"/>
          </a:p>
        </p:txBody>
      </p:sp>
      <p:sp>
        <p:nvSpPr>
          <p:cNvPr id="114691" name="Rectangle 1026"/>
          <p:cNvSpPr>
            <a:spLocks noChangeArrowheads="1"/>
          </p:cNvSpPr>
          <p:nvPr/>
        </p:nvSpPr>
        <p:spPr bwMode="auto">
          <a:xfrm>
            <a:off x="179388" y="538584"/>
            <a:ext cx="8713787" cy="2616101"/>
          </a:xfrm>
          <a:prstGeom prst="rect">
            <a:avLst/>
          </a:prstGeom>
          <a:solidFill>
            <a:srgbClr val="CCFFFF"/>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en-US" altLang="zh-CN" sz="2000" b="0" dirty="0" smtClean="0">
                <a:solidFill>
                  <a:schemeClr val="tx1"/>
                </a:solidFill>
                <a:latin typeface="宋体" pitchFamily="2" charset="-122"/>
              </a:rPr>
              <a:t>【</a:t>
            </a:r>
            <a:r>
              <a:rPr lang="zh-CN" altLang="en-US" sz="2000" b="0" dirty="0">
                <a:solidFill>
                  <a:schemeClr val="tx1"/>
                </a:solidFill>
                <a:latin typeface="宋体" pitchFamily="2" charset="-122"/>
              </a:rPr>
              <a:t>例</a:t>
            </a:r>
            <a:r>
              <a:rPr lang="en-US" altLang="zh-CN" sz="2000" b="0" dirty="0">
                <a:solidFill>
                  <a:schemeClr val="tx1"/>
                </a:solidFill>
                <a:latin typeface="宋体" pitchFamily="2" charset="-122"/>
              </a:rPr>
              <a:t>】CPU</a:t>
            </a:r>
            <a:r>
              <a:rPr lang="zh-CN" altLang="en-US" sz="2000" b="0" dirty="0">
                <a:solidFill>
                  <a:schemeClr val="tx1"/>
                </a:solidFill>
                <a:latin typeface="宋体" pitchFamily="2" charset="-122"/>
              </a:rPr>
              <a:t>的数据通路如图所示。运算器中</a:t>
            </a:r>
            <a:r>
              <a:rPr lang="en-US" altLang="zh-CN" sz="2000" b="0" dirty="0">
                <a:solidFill>
                  <a:schemeClr val="tx1"/>
                </a:solidFill>
                <a:latin typeface="宋体" pitchFamily="2" charset="-122"/>
              </a:rPr>
              <a:t>R0</a:t>
            </a:r>
            <a:r>
              <a:rPr lang="zh-CN" altLang="en-US" sz="2000" b="0" dirty="0">
                <a:solidFill>
                  <a:schemeClr val="tx1"/>
                </a:solidFill>
                <a:latin typeface="宋体" pitchFamily="2" charset="-122"/>
              </a:rPr>
              <a:t>～</a:t>
            </a:r>
            <a:r>
              <a:rPr lang="en-US" altLang="zh-CN" sz="2000" b="0" dirty="0">
                <a:solidFill>
                  <a:schemeClr val="tx1"/>
                </a:solidFill>
                <a:latin typeface="宋体" pitchFamily="2" charset="-122"/>
              </a:rPr>
              <a:t>R3</a:t>
            </a:r>
            <a:r>
              <a:rPr lang="zh-CN" altLang="en-US" sz="2000" b="0" dirty="0">
                <a:solidFill>
                  <a:schemeClr val="tx1"/>
                </a:solidFill>
                <a:latin typeface="宋体" pitchFamily="2" charset="-122"/>
              </a:rPr>
              <a:t>为通用寄存器，</a:t>
            </a:r>
            <a:r>
              <a:rPr lang="en-US" altLang="zh-CN" sz="2000" b="0" dirty="0">
                <a:solidFill>
                  <a:schemeClr val="tx1"/>
                </a:solidFill>
                <a:latin typeface="宋体" pitchFamily="2" charset="-122"/>
              </a:rPr>
              <a:t>DR</a:t>
            </a:r>
            <a:r>
              <a:rPr lang="zh-CN" altLang="en-US" sz="2000" b="0" dirty="0">
                <a:solidFill>
                  <a:schemeClr val="tx1"/>
                </a:solidFill>
                <a:latin typeface="宋体" pitchFamily="2" charset="-122"/>
              </a:rPr>
              <a:t>为数据缓冲寄存器，</a:t>
            </a:r>
            <a:r>
              <a:rPr lang="en-US" altLang="zh-CN" sz="2000" b="0" dirty="0">
                <a:solidFill>
                  <a:schemeClr val="tx1"/>
                </a:solidFill>
                <a:latin typeface="宋体" pitchFamily="2" charset="-122"/>
              </a:rPr>
              <a:t>PSW</a:t>
            </a:r>
            <a:r>
              <a:rPr lang="zh-CN" altLang="en-US" sz="2000" b="0" dirty="0">
                <a:solidFill>
                  <a:schemeClr val="tx1"/>
                </a:solidFill>
                <a:latin typeface="宋体" pitchFamily="2" charset="-122"/>
              </a:rPr>
              <a:t>为状态字寄存器。</a:t>
            </a:r>
            <a:r>
              <a:rPr lang="en-US" altLang="zh-CN" sz="2000" b="0" dirty="0">
                <a:solidFill>
                  <a:schemeClr val="tx1"/>
                </a:solidFill>
                <a:latin typeface="宋体" pitchFamily="2" charset="-122"/>
              </a:rPr>
              <a:t>D-cache</a:t>
            </a:r>
            <a:r>
              <a:rPr lang="zh-CN" altLang="en-US" sz="2000" b="0" dirty="0">
                <a:solidFill>
                  <a:schemeClr val="tx1"/>
                </a:solidFill>
                <a:latin typeface="宋体" pitchFamily="2" charset="-122"/>
              </a:rPr>
              <a:t>为数据存储器，</a:t>
            </a:r>
            <a:r>
              <a:rPr lang="en-US" altLang="zh-CN" sz="2000" b="0" dirty="0">
                <a:solidFill>
                  <a:schemeClr val="tx1"/>
                </a:solidFill>
                <a:latin typeface="宋体" pitchFamily="2" charset="-122"/>
              </a:rPr>
              <a:t>I-cache</a:t>
            </a:r>
            <a:r>
              <a:rPr lang="zh-CN" altLang="en-US" sz="2000" b="0" dirty="0">
                <a:solidFill>
                  <a:schemeClr val="tx1"/>
                </a:solidFill>
                <a:latin typeface="宋体" pitchFamily="2" charset="-122"/>
              </a:rPr>
              <a:t>为指令存储器，</a:t>
            </a:r>
            <a:r>
              <a:rPr lang="en-US" altLang="zh-CN" sz="2000" b="0" dirty="0">
                <a:solidFill>
                  <a:schemeClr val="tx1"/>
                </a:solidFill>
                <a:latin typeface="宋体" pitchFamily="2" charset="-122"/>
              </a:rPr>
              <a:t>PC</a:t>
            </a:r>
            <a:r>
              <a:rPr lang="zh-CN" altLang="en-US" sz="2000" b="0" dirty="0">
                <a:solidFill>
                  <a:schemeClr val="tx1"/>
                </a:solidFill>
                <a:latin typeface="宋体" pitchFamily="2" charset="-122"/>
              </a:rPr>
              <a:t>为程序计数器（具有加</a:t>
            </a:r>
            <a:r>
              <a:rPr lang="en-US" altLang="zh-CN" sz="2000" b="0" dirty="0">
                <a:solidFill>
                  <a:schemeClr val="tx1"/>
                </a:solidFill>
                <a:latin typeface="宋体" pitchFamily="2" charset="-122"/>
              </a:rPr>
              <a:t>1</a:t>
            </a:r>
            <a:r>
              <a:rPr lang="zh-CN" altLang="en-US" sz="2000" b="0" dirty="0">
                <a:solidFill>
                  <a:schemeClr val="tx1"/>
                </a:solidFill>
                <a:latin typeface="宋体" pitchFamily="2" charset="-122"/>
              </a:rPr>
              <a:t>功能），</a:t>
            </a:r>
            <a:r>
              <a:rPr lang="en-US" altLang="zh-CN" sz="2000" b="0" dirty="0">
                <a:solidFill>
                  <a:schemeClr val="tx1"/>
                </a:solidFill>
                <a:latin typeface="宋体" pitchFamily="2" charset="-122"/>
              </a:rPr>
              <a:t>IR</a:t>
            </a:r>
            <a:r>
              <a:rPr lang="zh-CN" altLang="en-US" sz="2000" b="0" dirty="0">
                <a:solidFill>
                  <a:schemeClr val="tx1"/>
                </a:solidFill>
                <a:latin typeface="宋体" pitchFamily="2" charset="-122"/>
              </a:rPr>
              <a:t>为指令寄存器。单线箭头信号均为微操作控制信号（电位或脉冲），如</a:t>
            </a:r>
            <a:r>
              <a:rPr lang="en-US" altLang="zh-CN" sz="2000" b="0" dirty="0">
                <a:solidFill>
                  <a:schemeClr val="tx1"/>
                </a:solidFill>
                <a:latin typeface="宋体" pitchFamily="2" charset="-122"/>
              </a:rPr>
              <a:t>LR0</a:t>
            </a:r>
            <a:r>
              <a:rPr lang="zh-CN" altLang="en-US" sz="2000" b="0" dirty="0">
                <a:solidFill>
                  <a:schemeClr val="tx1"/>
                </a:solidFill>
                <a:latin typeface="宋体" pitchFamily="2" charset="-122"/>
              </a:rPr>
              <a:t>表示读出</a:t>
            </a:r>
            <a:r>
              <a:rPr lang="en-US" altLang="zh-CN" sz="2000" b="0" dirty="0">
                <a:solidFill>
                  <a:schemeClr val="tx1"/>
                </a:solidFill>
                <a:latin typeface="宋体" pitchFamily="2" charset="-122"/>
              </a:rPr>
              <a:t>R0</a:t>
            </a:r>
            <a:r>
              <a:rPr lang="zh-CN" altLang="en-US" sz="2000" b="0" dirty="0">
                <a:solidFill>
                  <a:schemeClr val="tx1"/>
                </a:solidFill>
                <a:latin typeface="宋体" pitchFamily="2" charset="-122"/>
              </a:rPr>
              <a:t>寄存器，</a:t>
            </a:r>
            <a:r>
              <a:rPr lang="en-US" altLang="zh-CN" sz="2000" b="0" dirty="0">
                <a:solidFill>
                  <a:schemeClr val="tx1"/>
                </a:solidFill>
                <a:latin typeface="宋体" pitchFamily="2" charset="-122"/>
              </a:rPr>
              <a:t>SR0</a:t>
            </a:r>
            <a:r>
              <a:rPr lang="zh-CN" altLang="en-US" sz="2000" b="0" dirty="0">
                <a:solidFill>
                  <a:schemeClr val="tx1"/>
                </a:solidFill>
                <a:latin typeface="宋体" pitchFamily="2" charset="-122"/>
              </a:rPr>
              <a:t>表示写入</a:t>
            </a:r>
            <a:r>
              <a:rPr lang="en-US" altLang="zh-CN" sz="2000" b="0" dirty="0">
                <a:solidFill>
                  <a:schemeClr val="tx1"/>
                </a:solidFill>
                <a:latin typeface="宋体" pitchFamily="2" charset="-122"/>
              </a:rPr>
              <a:t>R0</a:t>
            </a:r>
            <a:r>
              <a:rPr lang="zh-CN" altLang="en-US" sz="2000" b="0" dirty="0">
                <a:solidFill>
                  <a:schemeClr val="tx1"/>
                </a:solidFill>
                <a:latin typeface="宋体" pitchFamily="2" charset="-122"/>
              </a:rPr>
              <a:t>寄存器。</a:t>
            </a:r>
          </a:p>
          <a:p>
            <a:pPr>
              <a:spcBef>
                <a:spcPct val="20000"/>
              </a:spcBef>
              <a:buClr>
                <a:schemeClr val="bg1"/>
              </a:buClr>
              <a:buSzPct val="70000"/>
              <a:buFont typeface="Wingdings" pitchFamily="2" charset="2"/>
              <a:buNone/>
            </a:pPr>
            <a:r>
              <a:rPr lang="zh-CN" altLang="en-US" sz="2000" b="0" dirty="0">
                <a:solidFill>
                  <a:schemeClr val="tx1"/>
                </a:solidFill>
                <a:latin typeface="宋体" pitchFamily="2" charset="-122"/>
              </a:rPr>
              <a:t>    机器指令“</a:t>
            </a:r>
            <a:r>
              <a:rPr lang="en-US" altLang="zh-CN" sz="2000" b="0" dirty="0">
                <a:solidFill>
                  <a:schemeClr val="tx1"/>
                </a:solidFill>
                <a:latin typeface="宋体" pitchFamily="2" charset="-122"/>
              </a:rPr>
              <a:t>LDA(R3),R0”</a:t>
            </a:r>
            <a:r>
              <a:rPr lang="zh-CN" altLang="en-US" sz="2000" b="0" dirty="0">
                <a:solidFill>
                  <a:schemeClr val="tx1"/>
                </a:solidFill>
                <a:latin typeface="宋体" pitchFamily="2" charset="-122"/>
              </a:rPr>
              <a:t>实现的功能是：以</a:t>
            </a:r>
            <a:r>
              <a:rPr lang="en-US" altLang="zh-CN" sz="2000" b="0" dirty="0">
                <a:solidFill>
                  <a:schemeClr val="tx1"/>
                </a:solidFill>
                <a:latin typeface="宋体" pitchFamily="2" charset="-122"/>
              </a:rPr>
              <a:t>(R3)</a:t>
            </a:r>
            <a:r>
              <a:rPr lang="zh-CN" altLang="en-US" sz="2000" b="0" dirty="0">
                <a:solidFill>
                  <a:schemeClr val="tx1"/>
                </a:solidFill>
                <a:latin typeface="宋体" pitchFamily="2" charset="-122"/>
              </a:rPr>
              <a:t>的内容为数存单元地址，读出数存该单元中数据到通用寄存器</a:t>
            </a:r>
            <a:r>
              <a:rPr lang="en-US" altLang="zh-CN" sz="2000" b="0" dirty="0">
                <a:solidFill>
                  <a:schemeClr val="tx1"/>
                </a:solidFill>
                <a:latin typeface="宋体" pitchFamily="2" charset="-122"/>
              </a:rPr>
              <a:t>R0</a:t>
            </a:r>
            <a:r>
              <a:rPr lang="zh-CN" altLang="en-US" sz="2000" b="0" dirty="0">
                <a:solidFill>
                  <a:schemeClr val="tx1"/>
                </a:solidFill>
                <a:latin typeface="宋体" pitchFamily="2" charset="-122"/>
              </a:rPr>
              <a:t>中。请画出该取数指令周期流程图，并在</a:t>
            </a:r>
            <a:r>
              <a:rPr lang="en-US" altLang="zh-CN" sz="2000" b="0" dirty="0">
                <a:solidFill>
                  <a:schemeClr val="tx1"/>
                </a:solidFill>
                <a:latin typeface="宋体" pitchFamily="2" charset="-122"/>
              </a:rPr>
              <a:t>CPU</a:t>
            </a:r>
            <a:r>
              <a:rPr lang="zh-CN" altLang="en-US" sz="2000" b="0" dirty="0">
                <a:solidFill>
                  <a:schemeClr val="tx1"/>
                </a:solidFill>
                <a:latin typeface="宋体" pitchFamily="2" charset="-122"/>
              </a:rPr>
              <a:t>周期框外写出所需的微操作控制信号</a:t>
            </a:r>
            <a:r>
              <a:rPr lang="zh-CN" altLang="en-US" sz="2000" b="0" dirty="0" smtClean="0">
                <a:solidFill>
                  <a:schemeClr val="tx1"/>
                </a:solidFill>
                <a:latin typeface="宋体" pitchFamily="2" charset="-122"/>
              </a:rPr>
              <a:t>。</a:t>
            </a:r>
            <a:endParaRPr lang="zh-CN" altLang="en-US" sz="2000" b="0" dirty="0">
              <a:solidFill>
                <a:schemeClr val="tx1"/>
              </a:solidFill>
              <a:latin typeface="宋体" pitchFamily="2" charset="-122"/>
            </a:endParaRPr>
          </a:p>
        </p:txBody>
      </p:sp>
      <p:pic>
        <p:nvPicPr>
          <p:cNvPr id="114692" name="Picture 1027"/>
          <p:cNvPicPr>
            <a:picLocks noChangeAspect="1" noChangeArrowheads="1"/>
          </p:cNvPicPr>
          <p:nvPr/>
        </p:nvPicPr>
        <p:blipFill>
          <a:blip r:embed="rId3"/>
          <a:srcRect/>
          <a:stretch>
            <a:fillRect/>
          </a:stretch>
        </p:blipFill>
        <p:spPr bwMode="auto">
          <a:xfrm>
            <a:off x="323850" y="3212976"/>
            <a:ext cx="8351838" cy="3345664"/>
          </a:xfrm>
          <a:prstGeom prst="rect">
            <a:avLst/>
          </a:prstGeom>
          <a:noFill/>
          <a:ln w="9525">
            <a:noFill/>
            <a:miter lim="800000"/>
            <a:headEnd/>
            <a:tailEnd/>
          </a:ln>
        </p:spPr>
      </p:pic>
      <p:sp>
        <p:nvSpPr>
          <p:cNvPr id="5" name="矩形 4"/>
          <p:cNvSpPr/>
          <p:nvPr/>
        </p:nvSpPr>
        <p:spPr>
          <a:xfrm>
            <a:off x="232990" y="20887"/>
            <a:ext cx="1761580" cy="46166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9746247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a:spLocks noGrp="1"/>
          </p:cNvSpPr>
          <p:nvPr>
            <p:ph type="sldNum" sz="quarter" idx="12"/>
          </p:nvPr>
        </p:nvSpPr>
        <p:spPr>
          <a:noFill/>
        </p:spPr>
        <p:txBody>
          <a:bodyPr/>
          <a:lstStyle/>
          <a:p>
            <a:fld id="{C293A60F-B4A2-4D5F-9066-59C07BF1F7BD}" type="slidenum">
              <a:rPr lang="en-US" altLang="zh-CN" smtClean="0"/>
              <a:pPr/>
              <a:t>36</a:t>
            </a:fld>
            <a:endParaRPr lang="en-US" altLang="zh-CN" smtClean="0"/>
          </a:p>
        </p:txBody>
      </p:sp>
      <p:sp>
        <p:nvSpPr>
          <p:cNvPr id="115715" name="Rectangle 2050"/>
          <p:cNvSpPr>
            <a:spLocks noChangeArrowheads="1"/>
          </p:cNvSpPr>
          <p:nvPr/>
        </p:nvSpPr>
        <p:spPr bwMode="auto">
          <a:xfrm>
            <a:off x="228600" y="381000"/>
            <a:ext cx="8534400" cy="822325"/>
          </a:xfrm>
          <a:prstGeom prst="rect">
            <a:avLst/>
          </a:prstGeom>
          <a:solidFill>
            <a:srgbClr val="CCFFFF"/>
          </a:solidFill>
          <a:ln w="9525" algn="ctr">
            <a:noFill/>
            <a:miter lim="800000"/>
            <a:headEnd/>
            <a:tailEnd/>
          </a:ln>
        </p:spPr>
        <p:txBody>
          <a:bodyPr>
            <a:spAutoFit/>
          </a:bodyPr>
          <a:lstStyle/>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机器指令“</a:t>
            </a:r>
            <a:r>
              <a:rPr lang="en-US" altLang="zh-CN" sz="2400" b="0" dirty="0">
                <a:solidFill>
                  <a:schemeClr val="tx1"/>
                </a:solidFill>
                <a:latin typeface="宋体" pitchFamily="2" charset="-122"/>
              </a:rPr>
              <a:t>LDA(R3),R0”</a:t>
            </a:r>
            <a:r>
              <a:rPr lang="zh-CN" altLang="en-US" sz="2400" b="0" dirty="0">
                <a:solidFill>
                  <a:schemeClr val="tx1"/>
                </a:solidFill>
                <a:latin typeface="宋体" pitchFamily="2" charset="-122"/>
              </a:rPr>
              <a:t>功能：以</a:t>
            </a:r>
            <a:r>
              <a:rPr lang="en-US" altLang="zh-CN" sz="2400" b="0" dirty="0">
                <a:solidFill>
                  <a:schemeClr val="tx1"/>
                </a:solidFill>
                <a:latin typeface="宋体" pitchFamily="2" charset="-122"/>
              </a:rPr>
              <a:t>(R3)</a:t>
            </a:r>
            <a:r>
              <a:rPr lang="zh-CN" altLang="en-US" sz="2400" b="0" dirty="0">
                <a:solidFill>
                  <a:schemeClr val="tx1"/>
                </a:solidFill>
                <a:latin typeface="宋体" pitchFamily="2" charset="-122"/>
              </a:rPr>
              <a:t>的内容为数存单元地址，读出数存该单元中数据到通用寄存器</a:t>
            </a:r>
            <a:r>
              <a:rPr lang="en-US" altLang="zh-CN" sz="2400" b="0" dirty="0">
                <a:solidFill>
                  <a:schemeClr val="tx1"/>
                </a:solidFill>
                <a:latin typeface="宋体" pitchFamily="2" charset="-122"/>
              </a:rPr>
              <a:t>R0</a:t>
            </a:r>
            <a:r>
              <a:rPr lang="zh-CN" altLang="en-US" sz="2400" b="0" dirty="0">
                <a:solidFill>
                  <a:schemeClr val="tx1"/>
                </a:solidFill>
                <a:latin typeface="宋体" pitchFamily="2" charset="-122"/>
              </a:rPr>
              <a:t>中</a:t>
            </a:r>
          </a:p>
        </p:txBody>
      </p:sp>
      <p:pic>
        <p:nvPicPr>
          <p:cNvPr id="115716" name="Picture 2051"/>
          <p:cNvPicPr>
            <a:picLocks noChangeAspect="1" noChangeArrowheads="1"/>
          </p:cNvPicPr>
          <p:nvPr/>
        </p:nvPicPr>
        <p:blipFill>
          <a:blip r:embed="rId2"/>
          <a:srcRect/>
          <a:stretch>
            <a:fillRect/>
          </a:stretch>
        </p:blipFill>
        <p:spPr bwMode="auto">
          <a:xfrm>
            <a:off x="3657668" y="1426033"/>
            <a:ext cx="5320779" cy="4797896"/>
          </a:xfrm>
          <a:prstGeom prst="rect">
            <a:avLst/>
          </a:prstGeom>
          <a:noFill/>
          <a:ln w="9525">
            <a:noFill/>
            <a:miter lim="800000"/>
            <a:headEnd/>
            <a:tailEnd/>
          </a:ln>
        </p:spPr>
      </p:pic>
      <p:pic>
        <p:nvPicPr>
          <p:cNvPr id="115803" name="Picture 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14" y="2080924"/>
            <a:ext cx="3352800" cy="3552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63518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p>
            <a:fld id="{D82B9007-FC76-408D-9C97-49FDF92FFB4F}" type="slidenum">
              <a:rPr lang="en-US" altLang="zh-CN" smtClean="0"/>
              <a:pPr/>
              <a:t>37</a:t>
            </a:fld>
            <a:endParaRPr lang="en-US" altLang="zh-CN" smtClean="0"/>
          </a:p>
        </p:txBody>
      </p:sp>
      <p:sp>
        <p:nvSpPr>
          <p:cNvPr id="38915" name="Rectangle 2"/>
          <p:cNvSpPr>
            <a:spLocks noGrp="1" noChangeArrowheads="1"/>
          </p:cNvSpPr>
          <p:nvPr>
            <p:ph type="title"/>
          </p:nvPr>
        </p:nvSpPr>
        <p:spPr/>
        <p:txBody>
          <a:bodyPr/>
          <a:lstStyle/>
          <a:p>
            <a:pPr eaLnBrk="1" hangingPunct="1"/>
            <a:r>
              <a:rPr lang="en-US" altLang="zh-CN" smtClean="0">
                <a:solidFill>
                  <a:schemeClr val="tx1"/>
                </a:solidFill>
                <a:cs typeface="Times New Roman" pitchFamily="18" charset="0"/>
              </a:rPr>
              <a:t>5</a:t>
            </a:r>
            <a:r>
              <a:rPr lang="en-US" altLang="zh-CN" smtClean="0">
                <a:solidFill>
                  <a:schemeClr val="tx1"/>
                </a:solidFill>
              </a:rPr>
              <a:t>.3  </a:t>
            </a:r>
            <a:r>
              <a:rPr lang="zh-CN" altLang="en-US" smtClean="0">
                <a:solidFill>
                  <a:schemeClr val="tx1"/>
                </a:solidFill>
              </a:rPr>
              <a:t>时序产生器和控制方式</a:t>
            </a:r>
          </a:p>
        </p:txBody>
      </p:sp>
      <p:sp>
        <p:nvSpPr>
          <p:cNvPr id="38916" name="Rectangle 3"/>
          <p:cNvSpPr>
            <a:spLocks noGrp="1" noChangeArrowheads="1"/>
          </p:cNvSpPr>
          <p:nvPr>
            <p:ph type="body" idx="1"/>
          </p:nvPr>
        </p:nvSpPr>
        <p:spPr/>
        <p:txBody>
          <a:bodyPr/>
          <a:lstStyle/>
          <a:p>
            <a:pPr eaLnBrk="1" hangingPunct="1">
              <a:buFont typeface="Wingdings" pitchFamily="2" charset="2"/>
              <a:buNone/>
            </a:pPr>
            <a:r>
              <a:rPr lang="en-US" altLang="zh-CN" smtClean="0"/>
              <a:t>5.3.1</a:t>
            </a:r>
            <a:r>
              <a:rPr lang="zh-CN" altLang="en-US" smtClean="0"/>
              <a:t>时序产生器作用和体制</a:t>
            </a:r>
          </a:p>
          <a:p>
            <a:pPr eaLnBrk="1" hangingPunct="1">
              <a:buFont typeface="Wingdings" pitchFamily="2" charset="2"/>
              <a:buNone/>
            </a:pPr>
            <a:r>
              <a:rPr lang="en-US" altLang="zh-CN" smtClean="0"/>
              <a:t>5.3.2</a:t>
            </a:r>
            <a:r>
              <a:rPr lang="zh-CN" altLang="en-US" smtClean="0"/>
              <a:t>时序信号产生器</a:t>
            </a:r>
          </a:p>
          <a:p>
            <a:pPr eaLnBrk="1" hangingPunct="1">
              <a:buFont typeface="Wingdings" pitchFamily="2" charset="2"/>
              <a:buNone/>
            </a:pPr>
            <a:r>
              <a:rPr lang="en-US" altLang="zh-CN" smtClean="0">
                <a:cs typeface="Times New Roman" pitchFamily="18" charset="0"/>
              </a:rPr>
              <a:t>5</a:t>
            </a:r>
            <a:r>
              <a:rPr lang="en-US" altLang="zh-CN" smtClean="0"/>
              <a:t>.3.3</a:t>
            </a:r>
            <a:r>
              <a:rPr lang="zh-CN" altLang="en-US" smtClean="0"/>
              <a:t>控制方式</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p>
            <a:fld id="{E78386BF-C371-4E6D-8CBD-AC72C2A84DB0}" type="slidenum">
              <a:rPr lang="en-US" altLang="zh-CN" smtClean="0"/>
              <a:pPr/>
              <a:t>38</a:t>
            </a:fld>
            <a:endParaRPr lang="en-US" altLang="zh-CN" smtClean="0"/>
          </a:p>
        </p:txBody>
      </p:sp>
      <p:sp>
        <p:nvSpPr>
          <p:cNvPr id="39939" name="Rectangle 2"/>
          <p:cNvSpPr>
            <a:spLocks noGrp="1" noChangeArrowheads="1"/>
          </p:cNvSpPr>
          <p:nvPr>
            <p:ph type="title"/>
          </p:nvPr>
        </p:nvSpPr>
        <p:spPr>
          <a:xfrm>
            <a:off x="468313" y="404813"/>
            <a:ext cx="7127875" cy="714375"/>
          </a:xfrm>
        </p:spPr>
        <p:txBody>
          <a:bodyPr/>
          <a:lstStyle/>
          <a:p>
            <a:pPr eaLnBrk="1" hangingPunct="1"/>
            <a:r>
              <a:rPr lang="en-US" altLang="zh-CN" smtClean="0"/>
              <a:t>5.3.1</a:t>
            </a:r>
            <a:r>
              <a:rPr lang="zh-CN" altLang="en-US" smtClean="0"/>
              <a:t>、时序产生器作用和体制</a:t>
            </a:r>
          </a:p>
        </p:txBody>
      </p:sp>
      <p:sp>
        <p:nvSpPr>
          <p:cNvPr id="39940" name="Rectangle 4"/>
          <p:cNvSpPr>
            <a:spLocks noChangeArrowheads="1"/>
          </p:cNvSpPr>
          <p:nvPr/>
        </p:nvSpPr>
        <p:spPr bwMode="auto">
          <a:xfrm>
            <a:off x="468313" y="1484313"/>
            <a:ext cx="8137525" cy="4697412"/>
          </a:xfrm>
          <a:prstGeom prst="rect">
            <a:avLst/>
          </a:prstGeom>
          <a:noFill/>
          <a:ln w="12700" cap="sq">
            <a:noFill/>
            <a:miter lim="800000"/>
            <a:headEnd type="none" w="sm" len="sm"/>
            <a:tailEnd type="none" w="sm" len="sm"/>
          </a:ln>
        </p:spPr>
        <p:txBody>
          <a:bodyPr tIns="0" bIns="0" anchor="ctr">
            <a:spAutoFit/>
          </a:bodyPr>
          <a:lstStyle/>
          <a:p>
            <a:r>
              <a:rPr lang="zh-CN" altLang="en-US" sz="2800">
                <a:solidFill>
                  <a:schemeClr val="tx1"/>
                </a:solidFill>
                <a:latin typeface="宋体" pitchFamily="2" charset="-122"/>
              </a:rPr>
              <a:t>时序信号　　</a:t>
            </a:r>
          </a:p>
          <a:p>
            <a:r>
              <a:rPr lang="zh-CN" altLang="en-US" sz="2800" b="0">
                <a:solidFill>
                  <a:schemeClr val="tx1"/>
                </a:solidFill>
                <a:latin typeface="宋体" pitchFamily="2" charset="-122"/>
              </a:rPr>
              <a:t>　　</a:t>
            </a:r>
            <a:r>
              <a:rPr lang="en-US" altLang="zh-CN" sz="2800" b="0">
                <a:solidFill>
                  <a:schemeClr val="tx1"/>
                </a:solidFill>
                <a:latin typeface="宋体" pitchFamily="2" charset="-122"/>
              </a:rPr>
              <a:t>CPU</a:t>
            </a:r>
            <a:r>
              <a:rPr lang="zh-CN" altLang="en-US" sz="2800" b="0">
                <a:solidFill>
                  <a:schemeClr val="tx1"/>
                </a:solidFill>
                <a:latin typeface="宋体" pitchFamily="2" charset="-122"/>
              </a:rPr>
              <a:t>中一个类似“作息时间”的东西，使计算机可以准确、迅速、有条不紊地工作。机器一旦被启动，即</a:t>
            </a:r>
            <a:r>
              <a:rPr lang="en-US" altLang="zh-CN" sz="2800" b="0">
                <a:solidFill>
                  <a:schemeClr val="tx1"/>
                </a:solidFill>
                <a:latin typeface="宋体" pitchFamily="2" charset="-122"/>
              </a:rPr>
              <a:t>CPU</a:t>
            </a:r>
            <a:r>
              <a:rPr lang="zh-CN" altLang="en-US" sz="2800" b="0">
                <a:solidFill>
                  <a:schemeClr val="tx1"/>
                </a:solidFill>
                <a:latin typeface="宋体" pitchFamily="2" charset="-122"/>
              </a:rPr>
              <a:t>开始取指令并执行指令时，操作控制器就利用定时脉冲的顺序和不同的脉冲间隔，有条理、有节奏地指挥机器的动作，规定在这个脉冲到来时做什么，在那个脉冲到来时又做什么，给计算机各部分提供工作所需的时间标志。为此，需要采用多级时序体制。</a:t>
            </a:r>
          </a:p>
          <a:p>
            <a:r>
              <a:rPr lang="zh-CN" altLang="en-US" sz="2800" b="0">
                <a:solidFill>
                  <a:schemeClr val="tx1"/>
                </a:solidFill>
                <a:latin typeface="宋体" pitchFamily="2" charset="-122"/>
              </a:rPr>
              <a:t>　　总之，计算机的协调动作需要时间标志，而时间标志则是用</a:t>
            </a:r>
            <a:r>
              <a:rPr lang="zh-CN" altLang="en-US" sz="2800">
                <a:solidFill>
                  <a:schemeClr val="tx1"/>
                </a:solidFill>
                <a:latin typeface="宋体" pitchFamily="2" charset="-122"/>
              </a:rPr>
              <a:t>时序信号</a:t>
            </a:r>
            <a:r>
              <a:rPr lang="zh-CN" altLang="en-US" sz="2800" b="0">
                <a:solidFill>
                  <a:schemeClr val="tx1"/>
                </a:solidFill>
                <a:latin typeface="宋体" pitchFamily="2" charset="-122"/>
              </a:rPr>
              <a:t>来体现的。</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p:spPr>
        <p:txBody>
          <a:bodyPr/>
          <a:lstStyle/>
          <a:p>
            <a:fld id="{2C44FFE8-3D2B-4E94-9F05-CC8FA8D2A850}" type="slidenum">
              <a:rPr lang="en-US" altLang="zh-CN" smtClean="0"/>
              <a:pPr/>
              <a:t>39</a:t>
            </a:fld>
            <a:endParaRPr lang="en-US" altLang="zh-CN" smtClean="0"/>
          </a:p>
        </p:txBody>
      </p:sp>
      <p:sp>
        <p:nvSpPr>
          <p:cNvPr id="40963" name="Rectangle 4"/>
          <p:cNvSpPr>
            <a:spLocks noChangeArrowheads="1"/>
          </p:cNvSpPr>
          <p:nvPr/>
        </p:nvSpPr>
        <p:spPr bwMode="auto">
          <a:xfrm>
            <a:off x="-180975" y="115888"/>
            <a:ext cx="8229600" cy="2952750"/>
          </a:xfrm>
          <a:prstGeom prst="rect">
            <a:avLst/>
          </a:prstGeom>
          <a:noFill/>
          <a:ln w="9525">
            <a:noFill/>
            <a:miter lim="800000"/>
            <a:headEnd/>
            <a:tailEnd/>
          </a:ln>
        </p:spPr>
        <p:txBody>
          <a:bodyPr/>
          <a:lstStyle/>
          <a:p>
            <a:pPr marL="839788" lvl="1" indent="-495300">
              <a:spcBef>
                <a:spcPct val="20000"/>
              </a:spcBef>
              <a:buClr>
                <a:schemeClr val="accent2"/>
              </a:buClr>
              <a:buSzPct val="70000"/>
              <a:buFont typeface="Wingdings" pitchFamily="2" charset="2"/>
              <a:buNone/>
            </a:pPr>
            <a:r>
              <a:rPr lang="en-US" altLang="zh-CN" sz="2600" b="0">
                <a:solidFill>
                  <a:schemeClr val="tx1"/>
                </a:solidFill>
              </a:rPr>
              <a:t> 1. </a:t>
            </a:r>
            <a:r>
              <a:rPr lang="zh-CN" altLang="en-US" sz="2600" b="0">
                <a:solidFill>
                  <a:schemeClr val="tx1"/>
                </a:solidFill>
              </a:rPr>
              <a:t>作用：</a:t>
            </a:r>
          </a:p>
          <a:p>
            <a:pPr marL="1131888" lvl="2" indent="-438150">
              <a:spcBef>
                <a:spcPct val="20000"/>
              </a:spcBef>
              <a:buClr>
                <a:schemeClr val="accent1"/>
              </a:buClr>
              <a:buSzPct val="70000"/>
              <a:buFont typeface="Wingdings" pitchFamily="2" charset="2"/>
              <a:buChar char="l"/>
            </a:pPr>
            <a:r>
              <a:rPr lang="en-US" altLang="zh-CN" sz="2300" b="0">
                <a:solidFill>
                  <a:schemeClr val="tx1"/>
                </a:solidFill>
              </a:rPr>
              <a:t>CPU</a:t>
            </a:r>
            <a:r>
              <a:rPr lang="zh-CN" altLang="en-US" sz="2300" b="0">
                <a:solidFill>
                  <a:schemeClr val="tx1"/>
                </a:solidFill>
              </a:rPr>
              <a:t>中的控制器用它指挥机器的工作</a:t>
            </a:r>
          </a:p>
          <a:p>
            <a:pPr marL="1131888" lvl="2" indent="-438150">
              <a:spcBef>
                <a:spcPct val="20000"/>
              </a:spcBef>
              <a:buClr>
                <a:schemeClr val="accent1"/>
              </a:buClr>
              <a:buSzPct val="70000"/>
              <a:buFont typeface="Wingdings" pitchFamily="2" charset="2"/>
              <a:buChar char="l"/>
            </a:pPr>
            <a:r>
              <a:rPr lang="en-US" altLang="zh-CN" sz="2300" b="0">
                <a:solidFill>
                  <a:schemeClr val="tx1"/>
                </a:solidFill>
              </a:rPr>
              <a:t>CPU</a:t>
            </a:r>
            <a:r>
              <a:rPr lang="zh-CN" altLang="en-US" sz="2300" b="0">
                <a:solidFill>
                  <a:schemeClr val="tx1"/>
                </a:solidFill>
              </a:rPr>
              <a:t>可以用时序信号</a:t>
            </a:r>
            <a:r>
              <a:rPr lang="en-US" altLang="zh-CN" sz="2300" b="0">
                <a:solidFill>
                  <a:schemeClr val="tx1"/>
                </a:solidFill>
              </a:rPr>
              <a:t>/</a:t>
            </a:r>
            <a:r>
              <a:rPr lang="zh-CN" altLang="en-US" sz="2300" b="0">
                <a:solidFill>
                  <a:schemeClr val="tx1"/>
                </a:solidFill>
              </a:rPr>
              <a:t>周期信息来辨认从内存中取</a:t>
            </a:r>
          </a:p>
          <a:p>
            <a:pPr marL="1131888" lvl="2" indent="-438150">
              <a:spcBef>
                <a:spcPct val="20000"/>
              </a:spcBef>
              <a:buClr>
                <a:schemeClr val="accent1"/>
              </a:buClr>
              <a:buSzPct val="70000"/>
              <a:buFont typeface="Wingdings" pitchFamily="2" charset="2"/>
              <a:buNone/>
            </a:pPr>
            <a:r>
              <a:rPr lang="zh-CN" altLang="en-US" sz="2300" b="0">
                <a:solidFill>
                  <a:schemeClr val="tx1"/>
                </a:solidFill>
              </a:rPr>
              <a:t>     出的是指令（取指）还是数据（执行）</a:t>
            </a:r>
          </a:p>
          <a:p>
            <a:pPr marL="1131888" lvl="2" indent="-438150">
              <a:spcBef>
                <a:spcPct val="20000"/>
              </a:spcBef>
              <a:buClr>
                <a:schemeClr val="accent1"/>
              </a:buClr>
              <a:buSzPct val="70000"/>
              <a:buFont typeface="Wingdings" pitchFamily="2" charset="2"/>
              <a:buChar char="l"/>
            </a:pPr>
            <a:r>
              <a:rPr lang="zh-CN" altLang="en-US" sz="2300" b="0">
                <a:solidFill>
                  <a:schemeClr val="tx1"/>
                </a:solidFill>
              </a:rPr>
              <a:t>一个</a:t>
            </a:r>
            <a:r>
              <a:rPr lang="en-US" altLang="zh-CN" sz="2300" b="0">
                <a:solidFill>
                  <a:schemeClr val="tx1"/>
                </a:solidFill>
              </a:rPr>
              <a:t>CPU</a:t>
            </a:r>
            <a:r>
              <a:rPr lang="zh-CN" altLang="en-US" sz="2300" b="0">
                <a:solidFill>
                  <a:schemeClr val="tx1"/>
                </a:solidFill>
              </a:rPr>
              <a:t>周期中时钟脉冲对</a:t>
            </a:r>
            <a:r>
              <a:rPr lang="en-US" altLang="zh-CN" sz="2300" b="0">
                <a:solidFill>
                  <a:schemeClr val="tx1"/>
                </a:solidFill>
              </a:rPr>
              <a:t>CPU</a:t>
            </a:r>
            <a:r>
              <a:rPr lang="zh-CN" altLang="en-US" sz="2300" b="0">
                <a:solidFill>
                  <a:schemeClr val="tx1"/>
                </a:solidFill>
              </a:rPr>
              <a:t>的动作有严格的约束</a:t>
            </a:r>
          </a:p>
          <a:p>
            <a:pPr marL="1131888" lvl="2" indent="-438150">
              <a:spcBef>
                <a:spcPct val="20000"/>
              </a:spcBef>
              <a:buClr>
                <a:schemeClr val="accent1"/>
              </a:buClr>
              <a:buSzPct val="70000"/>
              <a:buFont typeface="Wingdings" pitchFamily="2" charset="2"/>
              <a:buChar char="l"/>
            </a:pPr>
            <a:r>
              <a:rPr lang="zh-CN" altLang="en-US" sz="2300" b="0">
                <a:solidFill>
                  <a:schemeClr val="tx1"/>
                </a:solidFill>
              </a:rPr>
              <a:t>操作控制器发出的各种信号是时间（时序信号）和空间（部件操作信号）的函数。</a:t>
            </a:r>
          </a:p>
        </p:txBody>
      </p:sp>
      <p:sp>
        <p:nvSpPr>
          <p:cNvPr id="40964" name="Rectangle 5"/>
          <p:cNvSpPr>
            <a:spLocks noChangeArrowheads="1"/>
          </p:cNvSpPr>
          <p:nvPr/>
        </p:nvSpPr>
        <p:spPr bwMode="auto">
          <a:xfrm>
            <a:off x="0" y="3068638"/>
            <a:ext cx="8066088" cy="3455987"/>
          </a:xfrm>
          <a:prstGeom prst="rect">
            <a:avLst/>
          </a:prstGeom>
          <a:noFill/>
          <a:ln w="9525">
            <a:noFill/>
            <a:miter lim="800000"/>
            <a:headEnd/>
            <a:tailEnd/>
          </a:ln>
        </p:spPr>
        <p:txBody>
          <a:bodyPr/>
          <a:lstStyle/>
          <a:p>
            <a:pPr marL="839788" lvl="1" indent="-495300">
              <a:spcBef>
                <a:spcPct val="20000"/>
              </a:spcBef>
              <a:buClr>
                <a:schemeClr val="accent2"/>
              </a:buClr>
              <a:buSzPct val="70000"/>
              <a:buFont typeface="Wingdings" pitchFamily="2" charset="2"/>
              <a:buNone/>
            </a:pPr>
            <a:r>
              <a:rPr lang="en-US" altLang="zh-CN" sz="2600" b="0">
                <a:solidFill>
                  <a:schemeClr val="tx1"/>
                </a:solidFill>
              </a:rPr>
              <a:t>2. </a:t>
            </a:r>
            <a:r>
              <a:rPr lang="zh-CN" altLang="en-US" sz="2600" b="0">
                <a:solidFill>
                  <a:schemeClr val="tx1"/>
                </a:solidFill>
              </a:rPr>
              <a:t>体制</a:t>
            </a:r>
          </a:p>
          <a:p>
            <a:pPr marL="1131888" lvl="2" indent="-438150">
              <a:spcBef>
                <a:spcPct val="20000"/>
              </a:spcBef>
              <a:buClr>
                <a:schemeClr val="accent1"/>
              </a:buClr>
              <a:buSzPct val="70000"/>
              <a:buFont typeface="Wingdings" pitchFamily="2" charset="2"/>
              <a:buChar char="l"/>
            </a:pPr>
            <a:r>
              <a:rPr lang="zh-CN" altLang="en-US" sz="2300" b="0">
                <a:solidFill>
                  <a:schemeClr val="tx1"/>
                </a:solidFill>
              </a:rPr>
              <a:t>组成计算机硬件的器件特性决定了时序信号的基本体制是电位</a:t>
            </a:r>
            <a:r>
              <a:rPr lang="en-US" altLang="zh-CN" sz="2300" b="0">
                <a:solidFill>
                  <a:schemeClr val="tx1"/>
                </a:solidFill>
              </a:rPr>
              <a:t>—</a:t>
            </a:r>
            <a:r>
              <a:rPr lang="zh-CN" altLang="en-US" sz="2300" b="0">
                <a:solidFill>
                  <a:schemeClr val="tx1"/>
                </a:solidFill>
              </a:rPr>
              <a:t>脉冲制（以触发器为例）</a:t>
            </a:r>
          </a:p>
          <a:p>
            <a:pPr marL="1131888" lvl="2" indent="-438150">
              <a:spcBef>
                <a:spcPct val="20000"/>
              </a:spcBef>
              <a:buClr>
                <a:schemeClr val="accent1"/>
              </a:buClr>
              <a:buSzPct val="70000"/>
              <a:buFont typeface="Wingdings" pitchFamily="2" charset="2"/>
              <a:buChar char="l"/>
            </a:pPr>
            <a:r>
              <a:rPr lang="en-US" altLang="zh-CN" sz="2300" b="0">
                <a:solidFill>
                  <a:schemeClr val="tx1"/>
                </a:solidFill>
              </a:rPr>
              <a:t>D</a:t>
            </a:r>
            <a:r>
              <a:rPr lang="zh-CN" altLang="en-US" sz="2300" b="0">
                <a:solidFill>
                  <a:schemeClr val="tx1"/>
                </a:solidFill>
              </a:rPr>
              <a:t>为电位输入端，</a:t>
            </a:r>
            <a:r>
              <a:rPr lang="en-US" altLang="zh-CN" sz="2300" b="0">
                <a:solidFill>
                  <a:schemeClr val="tx1"/>
                </a:solidFill>
              </a:rPr>
              <a:t>CP</a:t>
            </a:r>
            <a:r>
              <a:rPr lang="zh-CN" altLang="en-US" sz="2300" b="0">
                <a:solidFill>
                  <a:schemeClr val="tx1"/>
                </a:solidFill>
              </a:rPr>
              <a:t>（</a:t>
            </a:r>
            <a:r>
              <a:rPr lang="en-US" altLang="zh-CN" sz="2300" b="0">
                <a:solidFill>
                  <a:schemeClr val="tx1"/>
                </a:solidFill>
              </a:rPr>
              <a:t>Clock Pulse</a:t>
            </a:r>
            <a:r>
              <a:rPr lang="zh-CN" altLang="en-US" sz="2300" b="0">
                <a:solidFill>
                  <a:schemeClr val="tx1"/>
                </a:solidFill>
              </a:rPr>
              <a:t>）为脉冲输入端</a:t>
            </a:r>
          </a:p>
          <a:p>
            <a:pPr marL="1131888" lvl="2" indent="-438150">
              <a:spcBef>
                <a:spcPct val="20000"/>
              </a:spcBef>
              <a:buClr>
                <a:schemeClr val="accent1"/>
              </a:buClr>
              <a:buSzPct val="70000"/>
              <a:buFont typeface="Wingdings" pitchFamily="2" charset="2"/>
              <a:buChar char="l"/>
            </a:pPr>
            <a:r>
              <a:rPr lang="en-US" altLang="zh-CN" sz="2300" b="0">
                <a:solidFill>
                  <a:schemeClr val="tx1"/>
                </a:solidFill>
              </a:rPr>
              <a:t>R,S</a:t>
            </a:r>
            <a:r>
              <a:rPr lang="zh-CN" altLang="en-US" sz="2300" b="0">
                <a:solidFill>
                  <a:schemeClr val="tx1"/>
                </a:solidFill>
              </a:rPr>
              <a:t>为电位输入端</a:t>
            </a:r>
          </a:p>
          <a:p>
            <a:pPr marL="1131888" lvl="2" indent="-438150">
              <a:spcBef>
                <a:spcPct val="20000"/>
              </a:spcBef>
              <a:buClr>
                <a:schemeClr val="accent1"/>
              </a:buClr>
              <a:buSzPct val="70000"/>
              <a:buFont typeface="Wingdings" pitchFamily="2" charset="2"/>
              <a:buChar char="l"/>
            </a:pPr>
            <a:r>
              <a:rPr lang="zh-CN" altLang="en-US" sz="2300" b="0">
                <a:solidFill>
                  <a:schemeClr val="tx1"/>
                </a:solidFill>
              </a:rPr>
              <a:t>特性方程如下</a:t>
            </a:r>
          </a:p>
          <a:p>
            <a:pPr marL="1370013" lvl="3" indent="-381000">
              <a:spcBef>
                <a:spcPct val="20000"/>
              </a:spcBef>
              <a:buClr>
                <a:schemeClr val="tx2"/>
              </a:buClr>
              <a:buSzPct val="75000"/>
              <a:buFont typeface="Wingdings" pitchFamily="2" charset="2"/>
              <a:buChar char="§"/>
            </a:pPr>
            <a:r>
              <a:rPr lang="en-US" altLang="zh-CN" b="0">
                <a:solidFill>
                  <a:schemeClr val="tx1"/>
                </a:solidFill>
              </a:rPr>
              <a:t>D=0</a:t>
            </a:r>
            <a:r>
              <a:rPr lang="zh-CN" altLang="en-US" b="0">
                <a:solidFill>
                  <a:schemeClr val="tx1"/>
                </a:solidFill>
              </a:rPr>
              <a:t>时，</a:t>
            </a:r>
            <a:r>
              <a:rPr lang="en-US" altLang="zh-CN" b="0">
                <a:solidFill>
                  <a:schemeClr val="tx1"/>
                </a:solidFill>
              </a:rPr>
              <a:t>CP</a:t>
            </a:r>
            <a:r>
              <a:rPr lang="zh-CN" altLang="en-US" b="0">
                <a:solidFill>
                  <a:schemeClr val="tx1"/>
                </a:solidFill>
              </a:rPr>
              <a:t>上升沿到来时，</a:t>
            </a:r>
            <a:r>
              <a:rPr lang="en-US" altLang="zh-CN" b="0">
                <a:solidFill>
                  <a:schemeClr val="tx1"/>
                </a:solidFill>
              </a:rPr>
              <a:t>D</a:t>
            </a:r>
            <a:r>
              <a:rPr lang="zh-CN" altLang="en-US" b="0">
                <a:solidFill>
                  <a:schemeClr val="tx1"/>
                </a:solidFill>
              </a:rPr>
              <a:t>触发器状态置</a:t>
            </a:r>
            <a:r>
              <a:rPr lang="en-US" altLang="zh-CN" b="0">
                <a:solidFill>
                  <a:schemeClr val="tx1"/>
                </a:solidFill>
              </a:rPr>
              <a:t>0</a:t>
            </a:r>
          </a:p>
          <a:p>
            <a:pPr marL="1370013" lvl="3" indent="-381000">
              <a:spcBef>
                <a:spcPct val="20000"/>
              </a:spcBef>
              <a:buClr>
                <a:schemeClr val="tx2"/>
              </a:buClr>
              <a:buSzPct val="75000"/>
              <a:buFont typeface="Wingdings" pitchFamily="2" charset="2"/>
              <a:buChar char="§"/>
            </a:pPr>
            <a:r>
              <a:rPr lang="en-US" altLang="zh-CN" b="0">
                <a:solidFill>
                  <a:schemeClr val="tx1"/>
                </a:solidFill>
              </a:rPr>
              <a:t>D=1</a:t>
            </a:r>
            <a:r>
              <a:rPr lang="zh-CN" altLang="en-US" b="0">
                <a:solidFill>
                  <a:schemeClr val="tx1"/>
                </a:solidFill>
              </a:rPr>
              <a:t>时，</a:t>
            </a:r>
            <a:r>
              <a:rPr lang="en-US" altLang="zh-CN" b="0">
                <a:solidFill>
                  <a:schemeClr val="tx1"/>
                </a:solidFill>
              </a:rPr>
              <a:t>CP</a:t>
            </a:r>
            <a:r>
              <a:rPr lang="zh-CN" altLang="en-US" b="0">
                <a:solidFill>
                  <a:schemeClr val="tx1"/>
                </a:solidFill>
              </a:rPr>
              <a:t>上升沿到来时，</a:t>
            </a:r>
            <a:r>
              <a:rPr lang="en-US" altLang="zh-CN" b="0">
                <a:solidFill>
                  <a:schemeClr val="tx1"/>
                </a:solidFill>
              </a:rPr>
              <a:t>D</a:t>
            </a:r>
            <a:r>
              <a:rPr lang="zh-CN" altLang="en-US" b="0">
                <a:solidFill>
                  <a:schemeClr val="tx1"/>
                </a:solidFill>
              </a:rPr>
              <a:t>触发器状态置</a:t>
            </a:r>
            <a:r>
              <a:rPr lang="en-US" altLang="zh-CN" b="0">
                <a:solidFill>
                  <a:schemeClr val="tx1"/>
                </a:solidFill>
              </a:rPr>
              <a:t>1</a:t>
            </a:r>
          </a:p>
          <a:p>
            <a:pPr marL="1131888" lvl="2" indent="-438150">
              <a:spcBef>
                <a:spcPct val="20000"/>
              </a:spcBef>
              <a:buClr>
                <a:schemeClr val="accent1"/>
              </a:buClr>
              <a:buSzPct val="70000"/>
              <a:buFont typeface="Wingdings" pitchFamily="2" charset="2"/>
              <a:buChar char="l"/>
            </a:pPr>
            <a:endParaRPr lang="en-US" altLang="zh-CN" sz="2300" b="0">
              <a:solidFill>
                <a:schemeClr val="tx1"/>
              </a:solidFill>
            </a:endParaRPr>
          </a:p>
        </p:txBody>
      </p:sp>
      <p:pic>
        <p:nvPicPr>
          <p:cNvPr id="40965" name="Picture 6" descr="5pic1"/>
          <p:cNvPicPr>
            <a:picLocks noChangeAspect="1" noChangeArrowheads="1"/>
          </p:cNvPicPr>
          <p:nvPr/>
        </p:nvPicPr>
        <p:blipFill>
          <a:blip r:embed="rId2"/>
          <a:srcRect/>
          <a:stretch>
            <a:fillRect/>
          </a:stretch>
        </p:blipFill>
        <p:spPr bwMode="auto">
          <a:xfrm>
            <a:off x="6084888" y="4797425"/>
            <a:ext cx="1944687" cy="166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p>
            <a:fld id="{C4836BB7-AA50-4C61-B1AD-9C78A9E2D0A0}" type="slidenum">
              <a:rPr lang="en-US" altLang="zh-CN" smtClean="0"/>
              <a:pPr/>
              <a:t>40</a:t>
            </a:fld>
            <a:endParaRPr lang="en-US" altLang="zh-CN" smtClean="0"/>
          </a:p>
        </p:txBody>
      </p:sp>
      <p:sp>
        <p:nvSpPr>
          <p:cNvPr id="41987" name="Rectangle 3"/>
          <p:cNvSpPr>
            <a:spLocks noChangeArrowheads="1"/>
          </p:cNvSpPr>
          <p:nvPr/>
        </p:nvSpPr>
        <p:spPr bwMode="auto">
          <a:xfrm>
            <a:off x="3390900" y="2728913"/>
            <a:ext cx="9144000" cy="0"/>
          </a:xfrm>
          <a:prstGeom prst="rect">
            <a:avLst/>
          </a:prstGeom>
          <a:noFill/>
          <a:ln w="9525">
            <a:noFill/>
            <a:miter lim="800000"/>
            <a:headEnd/>
            <a:tailEnd/>
          </a:ln>
        </p:spPr>
        <p:txBody>
          <a:bodyPr>
            <a:spAutoFit/>
          </a:bodyPr>
          <a:lstStyle/>
          <a:p>
            <a:endParaRPr lang="zh-CN" altLang="en-US"/>
          </a:p>
        </p:txBody>
      </p:sp>
      <p:sp>
        <p:nvSpPr>
          <p:cNvPr id="51230" name="AutoShape 30"/>
          <p:cNvSpPr>
            <a:spLocks noChangeArrowheads="1"/>
          </p:cNvSpPr>
          <p:nvPr/>
        </p:nvSpPr>
        <p:spPr bwMode="auto">
          <a:xfrm>
            <a:off x="368772" y="2348880"/>
            <a:ext cx="8496300" cy="1584325"/>
          </a:xfrm>
          <a:prstGeom prst="wedgeRectCallout">
            <a:avLst>
              <a:gd name="adj1" fmla="val 11826"/>
              <a:gd name="adj2" fmla="val -50200"/>
            </a:avLst>
          </a:prstGeom>
          <a:solidFill>
            <a:schemeClr val="accent1"/>
          </a:solidFill>
          <a:ln w="12700" cap="sq">
            <a:solidFill>
              <a:schemeClr val="tx1"/>
            </a:solidFill>
            <a:miter lim="800000"/>
            <a:headEnd type="none" w="sm" len="sm"/>
            <a:tailEnd type="none" w="sm" len="sm"/>
          </a:ln>
        </p:spPr>
        <p:txBody>
          <a:bodyPr/>
          <a:lstStyle/>
          <a:p>
            <a:r>
              <a:rPr lang="zh-CN" altLang="en-US" sz="2400" b="0" dirty="0">
                <a:solidFill>
                  <a:schemeClr val="tx1"/>
                </a:solidFill>
                <a:latin typeface="宋体" pitchFamily="2" charset="-122"/>
              </a:rPr>
              <a:t>节拍：在一个机器周期内，要完成若干个微操作。因而应把一个机器周期分为若干个相等的时间段，每一个时间段对应一个电位信号，称为节拍电位信号。节拍的宽度取决于</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完成一次微操作的时间。</a:t>
            </a:r>
          </a:p>
        </p:txBody>
      </p:sp>
      <p:sp>
        <p:nvSpPr>
          <p:cNvPr id="51231" name="AutoShape 31"/>
          <p:cNvSpPr>
            <a:spLocks noChangeArrowheads="1"/>
          </p:cNvSpPr>
          <p:nvPr/>
        </p:nvSpPr>
        <p:spPr bwMode="auto">
          <a:xfrm>
            <a:off x="368772" y="3944714"/>
            <a:ext cx="8496300" cy="1600200"/>
          </a:xfrm>
          <a:prstGeom prst="wedgeRectCallout">
            <a:avLst>
              <a:gd name="adj1" fmla="val 13340"/>
              <a:gd name="adj2" fmla="val -47323"/>
            </a:avLst>
          </a:prstGeom>
          <a:solidFill>
            <a:schemeClr val="accent1"/>
          </a:solidFill>
          <a:ln w="12700" cap="sq">
            <a:solidFill>
              <a:schemeClr val="tx1"/>
            </a:solidFill>
            <a:miter lim="800000"/>
            <a:headEnd type="none" w="sm" len="sm"/>
            <a:tailEnd type="none" w="sm" len="sm"/>
          </a:ln>
        </p:spPr>
        <p:txBody>
          <a:bodyPr/>
          <a:lstStyle/>
          <a:p>
            <a:r>
              <a:rPr lang="zh-CN" altLang="en-US" sz="2400" b="0" dirty="0">
                <a:solidFill>
                  <a:schemeClr val="tx1"/>
                </a:solidFill>
                <a:latin typeface="宋体" pitchFamily="2" charset="-122"/>
              </a:rPr>
              <a:t>工作脉冲：在节拍中执行的有些微操作需要同步定时脉冲，如将稳定的运算结果打入寄存器。为此，在一个节拍内常常设置一个或几个工作脉冲，作为各种同步脉冲的来源。以保证所有的触发器都能可靠、稳定地翻转。</a:t>
            </a:r>
          </a:p>
        </p:txBody>
      </p:sp>
      <p:sp>
        <p:nvSpPr>
          <p:cNvPr id="51233" name="AutoShape 33"/>
          <p:cNvSpPr>
            <a:spLocks noChangeArrowheads="1"/>
          </p:cNvSpPr>
          <p:nvPr/>
        </p:nvSpPr>
        <p:spPr bwMode="auto">
          <a:xfrm>
            <a:off x="368772" y="5557614"/>
            <a:ext cx="8496300" cy="1219200"/>
          </a:xfrm>
          <a:prstGeom prst="wedgeRectCallout">
            <a:avLst>
              <a:gd name="adj1" fmla="val 11097"/>
              <a:gd name="adj2" fmla="val -49611"/>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在只设置机器周期和时钟周期的微型机中，一般不再设置工作脉冲，因为时钟周期既可以作为电位信号，其前、后沿又可以作为脉冲触发信号。</a:t>
            </a:r>
          </a:p>
        </p:txBody>
      </p:sp>
      <p:graphicFrame>
        <p:nvGraphicFramePr>
          <p:cNvPr id="540672" name="Object 1024"/>
          <p:cNvGraphicFramePr>
            <a:graphicFrameLocks noChangeAspect="1"/>
          </p:cNvGraphicFramePr>
          <p:nvPr>
            <p:extLst>
              <p:ext uri="{D42A27DB-BD31-4B8C-83A1-F6EECF244321}">
                <p14:modId xmlns:p14="http://schemas.microsoft.com/office/powerpoint/2010/main" val="3810517746"/>
              </p:ext>
            </p:extLst>
          </p:nvPr>
        </p:nvGraphicFramePr>
        <p:xfrm>
          <a:off x="356816" y="188640"/>
          <a:ext cx="8534400" cy="2133600"/>
        </p:xfrm>
        <a:graphic>
          <a:graphicData uri="http://schemas.openxmlformats.org/presentationml/2006/ole">
            <mc:AlternateContent xmlns:mc="http://schemas.openxmlformats.org/markup-compatibility/2006">
              <mc:Choice xmlns:v="urn:schemas-microsoft-com:vml" Requires="v">
                <p:oleObj spid="_x0000_s42187" name="位图图像" r:id="rId3" imgW="7830643" imgH="1790476" progId="PBrush">
                  <p:embed/>
                </p:oleObj>
              </mc:Choice>
              <mc:Fallback>
                <p:oleObj name="位图图像" r:id="rId3" imgW="7830643" imgH="1790476" progId="PBrush">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816" y="188640"/>
                        <a:ext cx="8534400" cy="21336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0"/>
                                        </p:tgtEl>
                                        <p:attrNameLst>
                                          <p:attrName>style.visibility</p:attrName>
                                        </p:attrNameLst>
                                      </p:cBhvr>
                                      <p:to>
                                        <p:strVal val="visible"/>
                                      </p:to>
                                    </p:set>
                                    <p:animEffect transition="in" filter="blinds(horizontal)">
                                      <p:cBhvr>
                                        <p:cTn id="7" dur="500"/>
                                        <p:tgtEl>
                                          <p:spTgt spid="512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1"/>
                                        </p:tgtEl>
                                        <p:attrNameLst>
                                          <p:attrName>style.visibility</p:attrName>
                                        </p:attrNameLst>
                                      </p:cBhvr>
                                      <p:to>
                                        <p:strVal val="visible"/>
                                      </p:to>
                                    </p:set>
                                    <p:animEffect transition="in" filter="blinds(horizontal)">
                                      <p:cBhvr>
                                        <p:cTn id="12" dur="500"/>
                                        <p:tgtEl>
                                          <p:spTgt spid="51231"/>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3"/>
                                        </p:tgtEl>
                                        <p:attrNameLst>
                                          <p:attrName>style.visibility</p:attrName>
                                        </p:attrNameLst>
                                      </p:cBhvr>
                                      <p:to>
                                        <p:strVal val="visible"/>
                                      </p:to>
                                    </p:set>
                                    <p:animEffect transition="in" filter="blinds(horizontal)">
                                      <p:cBhvr>
                                        <p:cTn id="17" dur="500"/>
                                        <p:tgtEl>
                                          <p:spTgt spid="51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0" grpId="0" animBg="1" autoUpdateAnimBg="0"/>
      <p:bldP spid="51231" grpId="0" animBg="1" autoUpdateAnimBg="0"/>
      <p:bldP spid="51233"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p>
            <a:fld id="{47B71736-7823-4BF0-BEB9-497056FF6A5E}" type="slidenum">
              <a:rPr lang="en-US" altLang="zh-CN" smtClean="0"/>
              <a:pPr/>
              <a:t>41</a:t>
            </a:fld>
            <a:endParaRPr lang="en-US" altLang="zh-CN" smtClean="0"/>
          </a:p>
        </p:txBody>
      </p:sp>
      <p:sp>
        <p:nvSpPr>
          <p:cNvPr id="43013" name="Rectangle 10"/>
          <p:cNvSpPr>
            <a:spLocks noChangeArrowheads="1"/>
          </p:cNvSpPr>
          <p:nvPr/>
        </p:nvSpPr>
        <p:spPr bwMode="auto">
          <a:xfrm>
            <a:off x="251520" y="188640"/>
            <a:ext cx="8712968" cy="6546216"/>
          </a:xfrm>
          <a:prstGeom prst="rect">
            <a:avLst/>
          </a:prstGeom>
          <a:solidFill>
            <a:schemeClr val="bg1"/>
          </a:solidFill>
          <a:ln w="9525">
            <a:noFill/>
            <a:miter lim="800000"/>
            <a:headEnd/>
            <a:tailEnd/>
          </a:ln>
        </p:spPr>
        <p:txBody>
          <a:bodyPr wrap="square">
            <a:spAutoFit/>
          </a:bodyPr>
          <a:lstStyle/>
          <a:p>
            <a:pPr>
              <a:lnSpc>
                <a:spcPct val="110000"/>
              </a:lnSpc>
              <a:spcBef>
                <a:spcPts val="0"/>
              </a:spcBef>
            </a:pPr>
            <a:r>
              <a:rPr lang="en-US" altLang="zh-CN" sz="3200" b="0" dirty="0">
                <a:solidFill>
                  <a:schemeClr val="tx1"/>
                </a:solidFill>
                <a:latin typeface="+mn-ea"/>
                <a:ea typeface="+mn-ea"/>
              </a:rPr>
              <a:t>    </a:t>
            </a:r>
            <a:r>
              <a:rPr lang="zh-CN" altLang="en-US" sz="3200" b="0" dirty="0" smtClean="0">
                <a:solidFill>
                  <a:schemeClr val="tx1"/>
                </a:solidFill>
                <a:latin typeface="+mn-ea"/>
                <a:ea typeface="+mn-ea"/>
              </a:rPr>
              <a:t>硬</a:t>
            </a:r>
            <a:r>
              <a:rPr lang="zh-CN" altLang="en-US" sz="3200" b="0" dirty="0">
                <a:solidFill>
                  <a:schemeClr val="tx1"/>
                </a:solidFill>
                <a:latin typeface="+mn-ea"/>
                <a:ea typeface="+mn-ea"/>
              </a:rPr>
              <a:t>布线控制器</a:t>
            </a:r>
            <a:r>
              <a:rPr lang="en-US" altLang="zh-CN" sz="3200" b="0" dirty="0">
                <a:solidFill>
                  <a:schemeClr val="tx1"/>
                </a:solidFill>
                <a:latin typeface="+mn-ea"/>
                <a:ea typeface="+mn-ea"/>
              </a:rPr>
              <a:t>: </a:t>
            </a:r>
            <a:r>
              <a:rPr lang="zh-CN" altLang="en-US" sz="3200" b="0" dirty="0">
                <a:solidFill>
                  <a:schemeClr val="tx1"/>
                </a:solidFill>
                <a:latin typeface="+mn-ea"/>
                <a:ea typeface="+mn-ea"/>
              </a:rPr>
              <a:t>采用主状态周期</a:t>
            </a:r>
            <a:r>
              <a:rPr lang="en-US" altLang="zh-CN" sz="3200" b="0" dirty="0">
                <a:solidFill>
                  <a:schemeClr val="tx1"/>
                </a:solidFill>
                <a:latin typeface="+mn-ea"/>
                <a:ea typeface="+mn-ea"/>
              </a:rPr>
              <a:t>—</a:t>
            </a:r>
            <a:r>
              <a:rPr lang="zh-CN" altLang="en-US" sz="3200" b="0" dirty="0">
                <a:solidFill>
                  <a:schemeClr val="tx1"/>
                </a:solidFill>
                <a:latin typeface="+mn-ea"/>
                <a:ea typeface="+mn-ea"/>
              </a:rPr>
              <a:t>节拍电位</a:t>
            </a:r>
            <a:r>
              <a:rPr lang="en-US" altLang="zh-CN" sz="3200" b="0" dirty="0">
                <a:solidFill>
                  <a:schemeClr val="tx1"/>
                </a:solidFill>
                <a:latin typeface="+mn-ea"/>
                <a:ea typeface="+mn-ea"/>
              </a:rPr>
              <a:t>—</a:t>
            </a:r>
            <a:r>
              <a:rPr lang="zh-CN" altLang="en-US" sz="3200" b="0" dirty="0">
                <a:solidFill>
                  <a:schemeClr val="tx1"/>
                </a:solidFill>
                <a:latin typeface="+mn-ea"/>
                <a:ea typeface="+mn-ea"/>
              </a:rPr>
              <a:t>节拍脉冲三级体制，时序信号产生电路</a:t>
            </a:r>
            <a:r>
              <a:rPr lang="zh-CN" altLang="en-US" sz="3200" b="0" dirty="0" smtClean="0">
                <a:solidFill>
                  <a:schemeClr val="tx1"/>
                </a:solidFill>
                <a:latin typeface="+mn-ea"/>
                <a:ea typeface="+mn-ea"/>
              </a:rPr>
              <a:t>复杂。一个节拍电位表示一个</a:t>
            </a:r>
            <a:r>
              <a:rPr lang="en-US" altLang="zh-CN" sz="3200" b="0" dirty="0" smtClean="0">
                <a:solidFill>
                  <a:schemeClr val="tx1"/>
                </a:solidFill>
                <a:latin typeface="+mn-ea"/>
                <a:ea typeface="+mn-ea"/>
              </a:rPr>
              <a:t>CPU</a:t>
            </a:r>
            <a:r>
              <a:rPr lang="zh-CN" altLang="en-US" sz="3200" b="0" dirty="0" smtClean="0">
                <a:solidFill>
                  <a:schemeClr val="tx1"/>
                </a:solidFill>
                <a:latin typeface="+mn-ea"/>
                <a:ea typeface="+mn-ea"/>
              </a:rPr>
              <a:t>周期的时间，它表示了一个较大的时间单位；在一个节拍电位中又包含若干个节拍脉冲，以表示较小的时间单位；而主状态周期可包含若干个节拍电位，是最大的时间单位。</a:t>
            </a:r>
            <a:endParaRPr lang="en-US" altLang="zh-CN" sz="3200" b="0" dirty="0" smtClean="0">
              <a:solidFill>
                <a:schemeClr val="tx1"/>
              </a:solidFill>
              <a:latin typeface="+mn-ea"/>
              <a:ea typeface="+mn-ea"/>
            </a:endParaRPr>
          </a:p>
          <a:p>
            <a:pPr>
              <a:lnSpc>
                <a:spcPct val="110000"/>
              </a:lnSpc>
              <a:spcBef>
                <a:spcPts val="0"/>
              </a:spcBef>
            </a:pPr>
            <a:r>
              <a:rPr lang="en-US" altLang="zh-CN" sz="3200" b="0" dirty="0">
                <a:solidFill>
                  <a:schemeClr val="tx1"/>
                </a:solidFill>
                <a:latin typeface="+mn-ea"/>
                <a:ea typeface="+mn-ea"/>
              </a:rPr>
              <a:t> </a:t>
            </a:r>
            <a:r>
              <a:rPr lang="en-US" altLang="zh-CN" sz="3200" b="0" dirty="0" smtClean="0">
                <a:solidFill>
                  <a:schemeClr val="tx1"/>
                </a:solidFill>
                <a:latin typeface="+mn-ea"/>
                <a:ea typeface="+mn-ea"/>
              </a:rPr>
              <a:t>   </a:t>
            </a:r>
            <a:r>
              <a:rPr lang="zh-CN" altLang="en-US" sz="3200" b="0" dirty="0" smtClean="0">
                <a:solidFill>
                  <a:schemeClr val="tx1"/>
                </a:solidFill>
                <a:latin typeface="+mn-ea"/>
                <a:ea typeface="+mn-ea"/>
              </a:rPr>
              <a:t>微程序控制</a:t>
            </a:r>
            <a:r>
              <a:rPr lang="zh-CN" altLang="en-US" sz="3200" b="0" dirty="0">
                <a:solidFill>
                  <a:schemeClr val="tx1"/>
                </a:solidFill>
                <a:latin typeface="+mn-ea"/>
                <a:ea typeface="+mn-ea"/>
              </a:rPr>
              <a:t>器</a:t>
            </a:r>
            <a:r>
              <a:rPr lang="en-US" altLang="zh-CN" sz="3200" b="0" dirty="0">
                <a:solidFill>
                  <a:schemeClr val="tx1"/>
                </a:solidFill>
                <a:latin typeface="+mn-ea"/>
                <a:ea typeface="+mn-ea"/>
              </a:rPr>
              <a:t>: </a:t>
            </a:r>
            <a:r>
              <a:rPr lang="zh-CN" altLang="en-US" sz="3200" b="0" dirty="0">
                <a:solidFill>
                  <a:schemeClr val="tx1"/>
                </a:solidFill>
                <a:latin typeface="+mn-ea"/>
                <a:ea typeface="+mn-ea"/>
              </a:rPr>
              <a:t>采用节拍电位</a:t>
            </a:r>
            <a:r>
              <a:rPr lang="en-US" altLang="zh-CN" sz="3200" b="0" dirty="0">
                <a:solidFill>
                  <a:schemeClr val="tx1"/>
                </a:solidFill>
                <a:latin typeface="+mn-ea"/>
                <a:ea typeface="+mn-ea"/>
              </a:rPr>
              <a:t>—</a:t>
            </a:r>
            <a:r>
              <a:rPr lang="zh-CN" altLang="en-US" sz="3200" b="0" dirty="0">
                <a:solidFill>
                  <a:schemeClr val="tx1"/>
                </a:solidFill>
                <a:latin typeface="+mn-ea"/>
                <a:ea typeface="+mn-ea"/>
              </a:rPr>
              <a:t>节拍脉冲二级体制，就是说，它只有一个节拍电位，在节拍电位中又包含若干个节拍脉冲，节拍电位表示一个</a:t>
            </a:r>
            <a:r>
              <a:rPr lang="en-US" altLang="zh-CN" sz="3200" b="0" dirty="0">
                <a:solidFill>
                  <a:schemeClr val="tx1"/>
                </a:solidFill>
                <a:latin typeface="+mn-ea"/>
                <a:ea typeface="+mn-ea"/>
              </a:rPr>
              <a:t>CPU</a:t>
            </a:r>
            <a:r>
              <a:rPr lang="zh-CN" altLang="en-US" sz="3200" b="0" dirty="0">
                <a:solidFill>
                  <a:schemeClr val="tx1"/>
                </a:solidFill>
                <a:latin typeface="+mn-ea"/>
                <a:ea typeface="+mn-ea"/>
              </a:rPr>
              <a:t>周期时间，而节拍脉冲把一个</a:t>
            </a:r>
            <a:r>
              <a:rPr lang="en-US" altLang="zh-CN" sz="3200" b="0" dirty="0">
                <a:solidFill>
                  <a:schemeClr val="tx1"/>
                </a:solidFill>
                <a:latin typeface="+mn-ea"/>
                <a:ea typeface="+mn-ea"/>
              </a:rPr>
              <a:t>CPU</a:t>
            </a:r>
            <a:r>
              <a:rPr lang="zh-CN" altLang="en-US" sz="3200" b="0" dirty="0">
                <a:solidFill>
                  <a:schemeClr val="tx1"/>
                </a:solidFill>
                <a:latin typeface="+mn-ea"/>
                <a:ea typeface="+mn-ea"/>
              </a:rPr>
              <a:t>周期划分成几个较小的时间间隔</a:t>
            </a:r>
            <a:r>
              <a:rPr lang="zh-CN" altLang="en-US" sz="3200" b="0" dirty="0" smtClean="0">
                <a:solidFill>
                  <a:schemeClr val="tx1"/>
                </a:solidFill>
                <a:latin typeface="+mn-ea"/>
                <a:ea typeface="+mn-ea"/>
              </a:rPr>
              <a:t>。</a:t>
            </a:r>
            <a:r>
              <a:rPr lang="en-US" altLang="zh-CN" sz="3200" b="0" dirty="0" smtClean="0">
                <a:solidFill>
                  <a:schemeClr val="tx1"/>
                </a:solidFill>
                <a:latin typeface="+mn-ea"/>
                <a:ea typeface="+mn-ea"/>
              </a:rPr>
              <a:t>     </a:t>
            </a:r>
            <a:endParaRPr lang="zh-CN" altLang="en-US" sz="3200" b="0" dirty="0">
              <a:solidFill>
                <a:schemeClr val="tx1"/>
              </a:solidFill>
              <a:latin typeface="+mn-ea"/>
              <a:ea typeface="+mn-ea"/>
            </a:endParaRPr>
          </a:p>
        </p:txBody>
      </p:sp>
    </p:spTree>
    <p:extLst>
      <p:ext uri="{BB962C8B-B14F-4D97-AF65-F5344CB8AC3E}">
        <p14:creationId xmlns:p14="http://schemas.microsoft.com/office/powerpoint/2010/main" val="944501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p>
            <a:fld id="{40362925-278A-494C-88F6-4CE529614617}" type="slidenum">
              <a:rPr lang="en-US" altLang="zh-CN" smtClean="0"/>
              <a:pPr/>
              <a:t>42</a:t>
            </a:fld>
            <a:endParaRPr lang="en-US" altLang="zh-CN" smtClean="0"/>
          </a:p>
        </p:txBody>
      </p:sp>
      <p:sp>
        <p:nvSpPr>
          <p:cNvPr id="44035" name="Rectangle 2"/>
          <p:cNvSpPr>
            <a:spLocks noGrp="1" noChangeArrowheads="1"/>
          </p:cNvSpPr>
          <p:nvPr>
            <p:ph type="title"/>
          </p:nvPr>
        </p:nvSpPr>
        <p:spPr>
          <a:xfrm>
            <a:off x="395288" y="260350"/>
            <a:ext cx="7543800" cy="714375"/>
          </a:xfrm>
        </p:spPr>
        <p:txBody>
          <a:bodyPr/>
          <a:lstStyle/>
          <a:p>
            <a:pPr eaLnBrk="1" hangingPunct="1"/>
            <a:r>
              <a:rPr lang="en-US" altLang="zh-CN" smtClean="0"/>
              <a:t>5.3.2  </a:t>
            </a:r>
            <a:r>
              <a:rPr lang="zh-CN" altLang="en-US" smtClean="0"/>
              <a:t>时序信号产生器</a:t>
            </a:r>
          </a:p>
        </p:txBody>
      </p:sp>
      <p:sp>
        <p:nvSpPr>
          <p:cNvPr id="44036" name="Rectangle 3"/>
          <p:cNvSpPr>
            <a:spLocks noGrp="1" noChangeArrowheads="1"/>
          </p:cNvSpPr>
          <p:nvPr>
            <p:ph type="body" idx="1"/>
          </p:nvPr>
        </p:nvSpPr>
        <p:spPr>
          <a:xfrm>
            <a:off x="250825" y="1125538"/>
            <a:ext cx="8229600" cy="4411662"/>
          </a:xfrm>
        </p:spPr>
        <p:txBody>
          <a:bodyPr/>
          <a:lstStyle/>
          <a:p>
            <a:pPr marL="839788" lvl="1" indent="-495300" eaLnBrk="1" hangingPunct="1">
              <a:buFont typeface="Wingdings" pitchFamily="2" charset="2"/>
              <a:buAutoNum type="arabicPeriod"/>
            </a:pPr>
            <a:r>
              <a:rPr lang="zh-CN" altLang="en-US" smtClean="0"/>
              <a:t>功能：产生时序信号</a:t>
            </a:r>
          </a:p>
          <a:p>
            <a:pPr marL="1131888" lvl="2" indent="-438150" eaLnBrk="1" hangingPunct="1"/>
            <a:r>
              <a:rPr lang="zh-CN" altLang="en-US" smtClean="0"/>
              <a:t>各型计算机产生时序电路不相同</a:t>
            </a:r>
          </a:p>
          <a:p>
            <a:pPr marL="1131888" lvl="2" indent="-438150" eaLnBrk="1" hangingPunct="1"/>
            <a:r>
              <a:rPr lang="zh-CN" altLang="en-US" smtClean="0"/>
              <a:t>大、中型计算机的时序电路复杂，微型计算机的时序电路简单</a:t>
            </a:r>
          </a:p>
          <a:p>
            <a:pPr marL="839788" lvl="1" indent="-495300" eaLnBrk="1" hangingPunct="1">
              <a:buFont typeface="Wingdings" pitchFamily="2" charset="2"/>
              <a:buAutoNum type="arabicPeriod" startAt="2"/>
            </a:pPr>
            <a:r>
              <a:rPr lang="zh-CN" altLang="en-US" smtClean="0"/>
              <a:t>构成：</a:t>
            </a:r>
          </a:p>
          <a:p>
            <a:pPr marL="1131888" lvl="2" indent="-438150" eaLnBrk="1" hangingPunct="1"/>
            <a:r>
              <a:rPr lang="zh-CN" altLang="en-US" sz="2600" smtClean="0"/>
              <a:t>时钟源</a:t>
            </a:r>
          </a:p>
          <a:p>
            <a:pPr marL="1131888" lvl="2" indent="-438150" eaLnBrk="1" hangingPunct="1"/>
            <a:r>
              <a:rPr lang="zh-CN" altLang="en-US" smtClean="0"/>
              <a:t>环形脉冲发生器</a:t>
            </a:r>
          </a:p>
          <a:p>
            <a:pPr marL="1131888" lvl="2" indent="-438150" eaLnBrk="1" hangingPunct="1"/>
            <a:r>
              <a:rPr lang="zh-CN" altLang="en-US" smtClean="0"/>
              <a:t>节拍脉冲和读写时序译码逻辑</a:t>
            </a:r>
          </a:p>
          <a:p>
            <a:pPr marL="1131888" lvl="2" indent="-438150" eaLnBrk="1" hangingPunct="1"/>
            <a:r>
              <a:rPr lang="zh-CN" altLang="en-US" smtClean="0"/>
              <a:t>启停控制逻辑</a:t>
            </a:r>
          </a:p>
        </p:txBody>
      </p:sp>
      <p:pic>
        <p:nvPicPr>
          <p:cNvPr id="44037" name="Picture 4" descr="5a17"/>
          <p:cNvPicPr>
            <a:picLocks noChangeAspect="1" noChangeArrowheads="1"/>
          </p:cNvPicPr>
          <p:nvPr/>
        </p:nvPicPr>
        <p:blipFill>
          <a:blip r:embed="rId2"/>
          <a:srcRect/>
          <a:stretch>
            <a:fillRect/>
          </a:stretch>
        </p:blipFill>
        <p:spPr bwMode="auto">
          <a:xfrm>
            <a:off x="5364163" y="2708275"/>
            <a:ext cx="3313112" cy="2749550"/>
          </a:xfrm>
          <a:prstGeom prst="rect">
            <a:avLst/>
          </a:prstGeom>
          <a:noFill/>
          <a:ln w="9525">
            <a:noFill/>
            <a:miter lim="800000"/>
            <a:headEnd/>
            <a:tailEnd/>
          </a:ln>
        </p:spPr>
      </p:pic>
      <p:pic>
        <p:nvPicPr>
          <p:cNvPr id="44038" name="Picture 5">
            <a:hlinkClick r:id="rId3" action="ppaction://hlinkfile"/>
          </p:cNvPr>
          <p:cNvPicPr>
            <a:picLocks noChangeAspect="1" noChangeArrowheads="1"/>
          </p:cNvPicPr>
          <p:nvPr/>
        </p:nvPicPr>
        <p:blipFill>
          <a:blip r:embed="rId4"/>
          <a:srcRect/>
          <a:stretch>
            <a:fillRect/>
          </a:stretch>
        </p:blipFill>
        <p:spPr bwMode="auto">
          <a:xfrm>
            <a:off x="7740650" y="5516563"/>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p:spPr>
        <p:txBody>
          <a:bodyPr/>
          <a:lstStyle/>
          <a:p>
            <a:fld id="{B8B2BDD3-29EA-4568-9ECC-B828D7EE8C31}" type="slidenum">
              <a:rPr lang="en-US" altLang="zh-CN" smtClean="0"/>
              <a:pPr/>
              <a:t>43</a:t>
            </a:fld>
            <a:endParaRPr lang="en-US" altLang="zh-CN" smtClean="0"/>
          </a:p>
        </p:txBody>
      </p:sp>
      <p:sp>
        <p:nvSpPr>
          <p:cNvPr id="45059" name="Rectangle 5"/>
          <p:cNvSpPr>
            <a:spLocks noChangeArrowheads="1"/>
          </p:cNvSpPr>
          <p:nvPr/>
        </p:nvSpPr>
        <p:spPr bwMode="auto">
          <a:xfrm>
            <a:off x="395288" y="188913"/>
            <a:ext cx="3028950" cy="579437"/>
          </a:xfrm>
          <a:prstGeom prst="rect">
            <a:avLst/>
          </a:prstGeom>
          <a:noFill/>
          <a:ln w="12700" cap="sq">
            <a:noFill/>
            <a:miter lim="800000"/>
            <a:headEnd type="none" w="sm" len="sm"/>
            <a:tailEnd type="none" w="sm" len="sm"/>
          </a:ln>
        </p:spPr>
        <p:txBody>
          <a:bodyPr wrap="none">
            <a:spAutoFit/>
          </a:bodyPr>
          <a:lstStyle/>
          <a:p>
            <a:r>
              <a:rPr lang="zh-CN" altLang="en-US" sz="3200" b="0">
                <a:solidFill>
                  <a:schemeClr val="tx1"/>
                </a:solidFill>
              </a:rPr>
              <a:t>时序信号产生器</a:t>
            </a:r>
          </a:p>
        </p:txBody>
      </p:sp>
      <p:pic>
        <p:nvPicPr>
          <p:cNvPr id="45060" name="Picture 6"/>
          <p:cNvPicPr>
            <a:picLocks noChangeAspect="1" noChangeArrowheads="1"/>
          </p:cNvPicPr>
          <p:nvPr/>
        </p:nvPicPr>
        <p:blipFill>
          <a:blip r:embed="rId2"/>
          <a:srcRect/>
          <a:stretch>
            <a:fillRect/>
          </a:stretch>
        </p:blipFill>
        <p:spPr bwMode="auto">
          <a:xfrm>
            <a:off x="179388" y="1133475"/>
            <a:ext cx="7669212" cy="5724525"/>
          </a:xfrm>
          <a:prstGeom prst="rect">
            <a:avLst/>
          </a:prstGeom>
          <a:noFill/>
          <a:ln w="9525">
            <a:noFill/>
            <a:miter lim="800000"/>
            <a:headEnd/>
            <a:tailEnd/>
          </a:ln>
        </p:spPr>
      </p:pic>
      <p:grpSp>
        <p:nvGrpSpPr>
          <p:cNvPr id="2" name="Group 10"/>
          <p:cNvGrpSpPr>
            <a:grpSpLocks/>
          </p:cNvGrpSpPr>
          <p:nvPr/>
        </p:nvGrpSpPr>
        <p:grpSpPr bwMode="auto">
          <a:xfrm>
            <a:off x="4267200" y="5029200"/>
            <a:ext cx="1735138" cy="1135063"/>
            <a:chOff x="2744" y="3158"/>
            <a:chExt cx="1089" cy="725"/>
          </a:xfrm>
        </p:grpSpPr>
        <p:sp>
          <p:nvSpPr>
            <p:cNvPr id="45077" name="Rectangle 8"/>
            <p:cNvSpPr>
              <a:spLocks noChangeArrowheads="1"/>
            </p:cNvSpPr>
            <p:nvPr/>
          </p:nvSpPr>
          <p:spPr bwMode="auto">
            <a:xfrm>
              <a:off x="2744" y="3158"/>
              <a:ext cx="1089" cy="725"/>
            </a:xfrm>
            <a:prstGeom prst="rect">
              <a:avLst/>
            </a:prstGeom>
            <a:noFill/>
            <a:ln w="28575">
              <a:solidFill>
                <a:srgbClr val="FF0000"/>
              </a:solidFill>
              <a:prstDash val="sysDot"/>
              <a:miter lim="800000"/>
              <a:headEnd type="none" w="sm" len="sm"/>
              <a:tailEnd type="none" w="sm" len="sm"/>
            </a:ln>
          </p:spPr>
          <p:txBody>
            <a:bodyPr wrap="none" anchor="ctr"/>
            <a:lstStyle/>
            <a:p>
              <a:endParaRPr lang="zh-CN" altLang="en-US"/>
            </a:p>
          </p:txBody>
        </p:sp>
        <p:sp>
          <p:nvSpPr>
            <p:cNvPr id="45078" name="Rectangle 9"/>
            <p:cNvSpPr>
              <a:spLocks noChangeArrowheads="1"/>
            </p:cNvSpPr>
            <p:nvPr/>
          </p:nvSpPr>
          <p:spPr bwMode="auto">
            <a:xfrm>
              <a:off x="3016" y="3203"/>
              <a:ext cx="590" cy="234"/>
            </a:xfrm>
            <a:prstGeom prst="rect">
              <a:avLst/>
            </a:prstGeom>
            <a:noFill/>
            <a:ln w="12700" cap="sq">
              <a:noFill/>
              <a:miter lim="800000"/>
              <a:headEnd type="none" w="sm" len="sm"/>
              <a:tailEnd type="none" w="sm" len="sm"/>
            </a:ln>
          </p:spPr>
          <p:txBody>
            <a:bodyPr>
              <a:spAutoFit/>
            </a:bodyPr>
            <a:lstStyle/>
            <a:p>
              <a:r>
                <a:rPr lang="zh-CN" altLang="en-US"/>
                <a:t>时钟源</a:t>
              </a:r>
            </a:p>
          </p:txBody>
        </p:sp>
      </p:grpSp>
      <p:grpSp>
        <p:nvGrpSpPr>
          <p:cNvPr id="3" name="Group 25"/>
          <p:cNvGrpSpPr>
            <a:grpSpLocks/>
          </p:cNvGrpSpPr>
          <p:nvPr/>
        </p:nvGrpSpPr>
        <p:grpSpPr bwMode="auto">
          <a:xfrm>
            <a:off x="179388" y="2852738"/>
            <a:ext cx="8089900" cy="3816350"/>
            <a:chOff x="113" y="1797"/>
            <a:chExt cx="5096" cy="2404"/>
          </a:xfrm>
        </p:grpSpPr>
        <p:grpSp>
          <p:nvGrpSpPr>
            <p:cNvPr id="45069" name="Group 18"/>
            <p:cNvGrpSpPr>
              <a:grpSpLocks/>
            </p:cNvGrpSpPr>
            <p:nvPr/>
          </p:nvGrpSpPr>
          <p:grpSpPr bwMode="auto">
            <a:xfrm>
              <a:off x="113" y="1797"/>
              <a:ext cx="3584" cy="2404"/>
              <a:chOff x="113" y="1797"/>
              <a:chExt cx="3584" cy="2404"/>
            </a:xfrm>
          </p:grpSpPr>
          <p:sp>
            <p:nvSpPr>
              <p:cNvPr id="45071" name="Line 12"/>
              <p:cNvSpPr>
                <a:spLocks noChangeShapeType="1"/>
              </p:cNvSpPr>
              <p:nvPr/>
            </p:nvSpPr>
            <p:spPr bwMode="auto">
              <a:xfrm flipH="1" flipV="1">
                <a:off x="113" y="4201"/>
                <a:ext cx="2404" cy="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2" name="Line 13"/>
              <p:cNvSpPr>
                <a:spLocks noChangeShapeType="1"/>
              </p:cNvSpPr>
              <p:nvPr/>
            </p:nvSpPr>
            <p:spPr bwMode="auto">
              <a:xfrm>
                <a:off x="113" y="1797"/>
                <a:ext cx="0" cy="2404"/>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3" name="Line 14"/>
              <p:cNvSpPr>
                <a:spLocks noChangeShapeType="1"/>
              </p:cNvSpPr>
              <p:nvPr/>
            </p:nvSpPr>
            <p:spPr bwMode="auto">
              <a:xfrm flipV="1">
                <a:off x="113" y="1797"/>
                <a:ext cx="3583" cy="1"/>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4" name="Line 15"/>
              <p:cNvSpPr>
                <a:spLocks noChangeShapeType="1"/>
              </p:cNvSpPr>
              <p:nvPr/>
            </p:nvSpPr>
            <p:spPr bwMode="auto">
              <a:xfrm flipH="1">
                <a:off x="3696" y="1797"/>
                <a:ext cx="0" cy="1134"/>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5" name="Line 16"/>
              <p:cNvSpPr>
                <a:spLocks noChangeShapeType="1"/>
              </p:cNvSpPr>
              <p:nvPr/>
            </p:nvSpPr>
            <p:spPr bwMode="auto">
              <a:xfrm flipH="1">
                <a:off x="2517" y="2931"/>
                <a:ext cx="1180" cy="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sp>
            <p:nvSpPr>
              <p:cNvPr id="45076" name="Line 17"/>
              <p:cNvSpPr>
                <a:spLocks noChangeShapeType="1"/>
              </p:cNvSpPr>
              <p:nvPr/>
            </p:nvSpPr>
            <p:spPr bwMode="auto">
              <a:xfrm flipH="1">
                <a:off x="2517" y="2931"/>
                <a:ext cx="1" cy="1270"/>
              </a:xfrm>
              <a:prstGeom prst="line">
                <a:avLst/>
              </a:prstGeom>
              <a:noFill/>
              <a:ln w="28575">
                <a:solidFill>
                  <a:srgbClr val="FF3300"/>
                </a:solidFill>
                <a:prstDash val="sysDot"/>
                <a:round/>
                <a:headEnd type="none" w="sm" len="sm"/>
                <a:tailEnd type="none" w="sm" len="sm"/>
              </a:ln>
            </p:spPr>
            <p:txBody>
              <a:bodyPr wrap="none"/>
              <a:lstStyle/>
              <a:p>
                <a:endParaRPr lang="zh-CN" altLang="en-US"/>
              </a:p>
            </p:txBody>
          </p:sp>
        </p:grpSp>
        <p:sp>
          <p:nvSpPr>
            <p:cNvPr id="45070" name="Rectangle 19"/>
            <p:cNvSpPr>
              <a:spLocks noChangeArrowheads="1"/>
            </p:cNvSpPr>
            <p:nvPr/>
          </p:nvSpPr>
          <p:spPr bwMode="auto">
            <a:xfrm>
              <a:off x="3742" y="2614"/>
              <a:ext cx="1467" cy="288"/>
            </a:xfrm>
            <a:prstGeom prst="rect">
              <a:avLst/>
            </a:prstGeom>
            <a:noFill/>
            <a:ln w="12700" cap="sq">
              <a:noFill/>
              <a:miter lim="800000"/>
              <a:headEnd type="none" w="sm" len="sm"/>
              <a:tailEnd type="none" w="sm" len="sm"/>
            </a:ln>
          </p:spPr>
          <p:txBody>
            <a:bodyPr wrap="none">
              <a:spAutoFit/>
            </a:bodyPr>
            <a:lstStyle/>
            <a:p>
              <a:r>
                <a:rPr lang="zh-CN" altLang="en-US" sz="2400"/>
                <a:t>环形脉冲发生器</a:t>
              </a:r>
            </a:p>
          </p:txBody>
        </p:sp>
      </p:grpSp>
      <p:grpSp>
        <p:nvGrpSpPr>
          <p:cNvPr id="5" name="Group 26"/>
          <p:cNvGrpSpPr>
            <a:grpSpLocks/>
          </p:cNvGrpSpPr>
          <p:nvPr/>
        </p:nvGrpSpPr>
        <p:grpSpPr bwMode="auto">
          <a:xfrm>
            <a:off x="0" y="981075"/>
            <a:ext cx="5651500" cy="1800225"/>
            <a:chOff x="0" y="618"/>
            <a:chExt cx="3560" cy="1134"/>
          </a:xfrm>
        </p:grpSpPr>
        <p:sp>
          <p:nvSpPr>
            <p:cNvPr id="45067" name="Rectangle 20"/>
            <p:cNvSpPr>
              <a:spLocks noChangeArrowheads="1"/>
            </p:cNvSpPr>
            <p:nvPr/>
          </p:nvSpPr>
          <p:spPr bwMode="auto">
            <a:xfrm>
              <a:off x="975" y="618"/>
              <a:ext cx="2585" cy="1134"/>
            </a:xfrm>
            <a:prstGeom prst="rect">
              <a:avLst/>
            </a:prstGeom>
            <a:noFill/>
            <a:ln w="38100">
              <a:solidFill>
                <a:srgbClr val="0000FF"/>
              </a:solidFill>
              <a:prstDash val="sysDot"/>
              <a:miter lim="800000"/>
              <a:headEnd type="none" w="sm" len="sm"/>
              <a:tailEnd type="none" w="sm" len="sm"/>
            </a:ln>
          </p:spPr>
          <p:txBody>
            <a:bodyPr wrap="none" anchor="ctr"/>
            <a:lstStyle/>
            <a:p>
              <a:endParaRPr lang="zh-CN" altLang="en-US"/>
            </a:p>
          </p:txBody>
        </p:sp>
        <p:sp>
          <p:nvSpPr>
            <p:cNvPr id="45068" name="Rectangle 23"/>
            <p:cNvSpPr>
              <a:spLocks noChangeArrowheads="1"/>
            </p:cNvSpPr>
            <p:nvPr/>
          </p:nvSpPr>
          <p:spPr bwMode="auto">
            <a:xfrm>
              <a:off x="0" y="799"/>
              <a:ext cx="1020" cy="634"/>
            </a:xfrm>
            <a:prstGeom prst="rect">
              <a:avLst/>
            </a:prstGeom>
            <a:noFill/>
            <a:ln w="12700" cap="sq">
              <a:noFill/>
              <a:miter lim="800000"/>
              <a:headEnd type="none" w="sm" len="sm"/>
              <a:tailEnd type="none" w="sm" len="sm"/>
            </a:ln>
          </p:spPr>
          <p:txBody>
            <a:bodyPr>
              <a:spAutoFit/>
            </a:bodyPr>
            <a:lstStyle/>
            <a:p>
              <a:r>
                <a:rPr lang="zh-CN" altLang="en-US" sz="2000">
                  <a:solidFill>
                    <a:schemeClr val="hlink"/>
                  </a:solidFill>
                </a:rPr>
                <a:t>节拍脉冲和读写时序译码逻辑</a:t>
              </a:r>
            </a:p>
          </p:txBody>
        </p:sp>
      </p:grpSp>
      <p:grpSp>
        <p:nvGrpSpPr>
          <p:cNvPr id="6" name="Group 27"/>
          <p:cNvGrpSpPr>
            <a:grpSpLocks/>
          </p:cNvGrpSpPr>
          <p:nvPr/>
        </p:nvGrpSpPr>
        <p:grpSpPr bwMode="auto">
          <a:xfrm>
            <a:off x="5795963" y="595313"/>
            <a:ext cx="2016125" cy="3443287"/>
            <a:chOff x="3651" y="375"/>
            <a:chExt cx="1270" cy="2103"/>
          </a:xfrm>
        </p:grpSpPr>
        <p:sp>
          <p:nvSpPr>
            <p:cNvPr id="45065" name="Rectangle 22"/>
            <p:cNvSpPr>
              <a:spLocks noChangeArrowheads="1"/>
            </p:cNvSpPr>
            <p:nvPr/>
          </p:nvSpPr>
          <p:spPr bwMode="auto">
            <a:xfrm>
              <a:off x="3651" y="709"/>
              <a:ext cx="1270" cy="1769"/>
            </a:xfrm>
            <a:prstGeom prst="rect">
              <a:avLst/>
            </a:prstGeom>
            <a:noFill/>
            <a:ln w="38100">
              <a:solidFill>
                <a:srgbClr val="2BCB23"/>
              </a:solidFill>
              <a:prstDash val="sysDot"/>
              <a:miter lim="800000"/>
              <a:headEnd type="none" w="sm" len="sm"/>
              <a:tailEnd type="none" w="sm" len="sm"/>
            </a:ln>
          </p:spPr>
          <p:txBody>
            <a:bodyPr wrap="none" anchor="ctr"/>
            <a:lstStyle/>
            <a:p>
              <a:endParaRPr lang="zh-CN" altLang="en-US"/>
            </a:p>
          </p:txBody>
        </p:sp>
        <p:sp>
          <p:nvSpPr>
            <p:cNvPr id="45066" name="Rectangle 24"/>
            <p:cNvSpPr>
              <a:spLocks noChangeArrowheads="1"/>
            </p:cNvSpPr>
            <p:nvPr/>
          </p:nvSpPr>
          <p:spPr bwMode="auto">
            <a:xfrm>
              <a:off x="3742" y="375"/>
              <a:ext cx="1076" cy="242"/>
            </a:xfrm>
            <a:prstGeom prst="rect">
              <a:avLst/>
            </a:prstGeom>
            <a:noFill/>
            <a:ln w="12700" cap="sq">
              <a:noFill/>
              <a:miter lim="800000"/>
              <a:headEnd type="none" w="sm" len="sm"/>
              <a:tailEnd type="none" w="sm" len="sm"/>
            </a:ln>
          </p:spPr>
          <p:txBody>
            <a:bodyPr wrap="none">
              <a:spAutoFit/>
            </a:bodyPr>
            <a:lstStyle/>
            <a:p>
              <a:r>
                <a:rPr lang="zh-CN" altLang="en-US" sz="2000">
                  <a:solidFill>
                    <a:srgbClr val="2BCB23"/>
                  </a:solidFill>
                </a:rPr>
                <a:t>启停控制逻辑</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heckerboard(across)">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nodeType="clickEffect">
                                  <p:stCondLst>
                                    <p:cond delay="0"/>
                                  </p:stCondLst>
                                  <p:childTnLst>
                                    <p:set>
                                      <p:cBhvr>
                                        <p:cTn id="20" dur="1" fill="hold">
                                          <p:stCondLst>
                                            <p:cond delay="0"/>
                                          </p:stCondLst>
                                        </p:cTn>
                                        <p:tgtEl>
                                          <p:spTgt spid="3"/>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heckerboard(across)">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xit" presetSubtype="0" fill="hold" nodeType="clickEffect">
                                  <p:stCondLst>
                                    <p:cond delay="0"/>
                                  </p:stCondLst>
                                  <p:childTnLst>
                                    <p:set>
                                      <p:cBhvr>
                                        <p:cTn id="29" dur="1" fill="hold">
                                          <p:stCondLst>
                                            <p:cond delay="0"/>
                                          </p:stCondLst>
                                        </p:cTn>
                                        <p:tgtEl>
                                          <p:spTgt spid="5"/>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checkerboard(across)">
                                      <p:cBhvr>
                                        <p:cTn id="34" dur="500"/>
                                        <p:tgtEl>
                                          <p:spTgt spid="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p>
            <a:fld id="{3716EFF1-22E8-4563-849B-0AD2D86701BD}" type="slidenum">
              <a:rPr lang="en-US" altLang="zh-CN" smtClean="0"/>
              <a:pPr/>
              <a:t>44</a:t>
            </a:fld>
            <a:endParaRPr lang="en-US" altLang="zh-CN" smtClean="0"/>
          </a:p>
        </p:txBody>
      </p:sp>
      <p:sp>
        <p:nvSpPr>
          <p:cNvPr id="46083" name="Rectangle 2"/>
          <p:cNvSpPr>
            <a:spLocks noGrp="1" noChangeArrowheads="1"/>
          </p:cNvSpPr>
          <p:nvPr>
            <p:ph type="title"/>
          </p:nvPr>
        </p:nvSpPr>
        <p:spPr>
          <a:xfrm>
            <a:off x="1600200" y="5661025"/>
            <a:ext cx="7543800" cy="792163"/>
          </a:xfrm>
        </p:spPr>
        <p:txBody>
          <a:bodyPr/>
          <a:lstStyle/>
          <a:p>
            <a:pPr eaLnBrk="1" hangingPunct="1"/>
            <a:r>
              <a:rPr lang="en-US" altLang="zh-CN" smtClean="0"/>
              <a:t></a:t>
            </a:r>
            <a:endParaRPr lang="en-US" altLang="zh-CN" sz="2000" b="0" smtClean="0">
              <a:solidFill>
                <a:schemeClr val="tx1"/>
              </a:solidFill>
            </a:endParaRPr>
          </a:p>
        </p:txBody>
      </p:sp>
      <p:sp>
        <p:nvSpPr>
          <p:cNvPr id="46084" name="Rectangle 3"/>
          <p:cNvSpPr>
            <a:spLocks noGrp="1" noChangeArrowheads="1"/>
          </p:cNvSpPr>
          <p:nvPr>
            <p:ph type="body" idx="1"/>
          </p:nvPr>
        </p:nvSpPr>
        <p:spPr>
          <a:xfrm>
            <a:off x="827088" y="5386388"/>
            <a:ext cx="7772400" cy="1471612"/>
          </a:xfrm>
        </p:spPr>
        <p:txBody>
          <a:bodyPr/>
          <a:lstStyle/>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pPr>
            <a:endParaRPr lang="en-US" altLang="zh-CN" sz="900" smtClean="0"/>
          </a:p>
          <a:p>
            <a:pPr lvl="2" eaLnBrk="1" hangingPunct="1">
              <a:lnSpc>
                <a:spcPct val="80000"/>
              </a:lnSpc>
              <a:buFont typeface="Wingdings" pitchFamily="2" charset="2"/>
              <a:buNone/>
            </a:pPr>
            <a:r>
              <a:rPr lang="en-US" altLang="zh-CN" sz="900" smtClean="0"/>
              <a:t/>
            </a:r>
            <a:br>
              <a:rPr lang="en-US" altLang="zh-CN" sz="900" smtClean="0"/>
            </a:br>
            <a:endParaRPr lang="en-US" altLang="zh-CN" sz="900" smtClean="0"/>
          </a:p>
        </p:txBody>
      </p:sp>
      <p:grpSp>
        <p:nvGrpSpPr>
          <p:cNvPr id="46085" name="Group 4"/>
          <p:cNvGrpSpPr>
            <a:grpSpLocks/>
          </p:cNvGrpSpPr>
          <p:nvPr/>
        </p:nvGrpSpPr>
        <p:grpSpPr bwMode="auto">
          <a:xfrm>
            <a:off x="684213" y="2852738"/>
            <a:ext cx="4572000" cy="2971800"/>
            <a:chOff x="1632" y="1584"/>
            <a:chExt cx="2880" cy="1872"/>
          </a:xfrm>
        </p:grpSpPr>
        <p:sp>
          <p:nvSpPr>
            <p:cNvPr id="46088" name="Line 5"/>
            <p:cNvSpPr>
              <a:spLocks noChangeShapeType="1"/>
            </p:cNvSpPr>
            <p:nvPr/>
          </p:nvSpPr>
          <p:spPr bwMode="auto">
            <a:xfrm>
              <a:off x="1632" y="3120"/>
              <a:ext cx="288" cy="0"/>
            </a:xfrm>
            <a:prstGeom prst="line">
              <a:avLst/>
            </a:prstGeom>
            <a:noFill/>
            <a:ln w="38100">
              <a:solidFill>
                <a:schemeClr val="tx1"/>
              </a:solidFill>
              <a:round/>
              <a:headEnd type="none" w="sm" len="sm"/>
              <a:tailEnd type="none" w="sm" len="sm"/>
            </a:ln>
          </p:spPr>
          <p:txBody>
            <a:bodyPr wrap="none"/>
            <a:lstStyle/>
            <a:p>
              <a:endParaRPr lang="zh-CN" altLang="en-US"/>
            </a:p>
          </p:txBody>
        </p:sp>
        <p:sp>
          <p:nvSpPr>
            <p:cNvPr id="46089" name="Line 6"/>
            <p:cNvSpPr>
              <a:spLocks noChangeShapeType="1"/>
            </p:cNvSpPr>
            <p:nvPr/>
          </p:nvSpPr>
          <p:spPr bwMode="auto">
            <a:xfrm>
              <a:off x="1632" y="3216"/>
              <a:ext cx="288" cy="0"/>
            </a:xfrm>
            <a:prstGeom prst="line">
              <a:avLst/>
            </a:prstGeom>
            <a:noFill/>
            <a:ln w="38100">
              <a:solidFill>
                <a:schemeClr val="tx1"/>
              </a:solidFill>
              <a:round/>
              <a:headEnd type="none" w="sm" len="sm"/>
              <a:tailEnd type="none" w="sm" len="sm"/>
            </a:ln>
          </p:spPr>
          <p:txBody>
            <a:bodyPr wrap="none"/>
            <a:lstStyle/>
            <a:p>
              <a:endParaRPr lang="zh-CN" altLang="en-US"/>
            </a:p>
          </p:txBody>
        </p:sp>
        <p:grpSp>
          <p:nvGrpSpPr>
            <p:cNvPr id="46090" name="Group 7"/>
            <p:cNvGrpSpPr>
              <a:grpSpLocks/>
            </p:cNvGrpSpPr>
            <p:nvPr/>
          </p:nvGrpSpPr>
          <p:grpSpPr bwMode="auto">
            <a:xfrm>
              <a:off x="1632" y="1584"/>
              <a:ext cx="2880" cy="1872"/>
              <a:chOff x="1680" y="1536"/>
              <a:chExt cx="2880" cy="1872"/>
            </a:xfrm>
          </p:grpSpPr>
          <p:sp>
            <p:nvSpPr>
              <p:cNvPr id="46096" name="Rectangle 8"/>
              <p:cNvSpPr>
                <a:spLocks noChangeArrowheads="1"/>
              </p:cNvSpPr>
              <p:nvPr/>
            </p:nvSpPr>
            <p:spPr bwMode="auto">
              <a:xfrm>
                <a:off x="2256" y="1920"/>
                <a:ext cx="384" cy="96"/>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grpSp>
            <p:nvGrpSpPr>
              <p:cNvPr id="46097" name="Group 9"/>
              <p:cNvGrpSpPr>
                <a:grpSpLocks/>
              </p:cNvGrpSpPr>
              <p:nvPr/>
            </p:nvGrpSpPr>
            <p:grpSpPr bwMode="auto">
              <a:xfrm>
                <a:off x="1680" y="1536"/>
                <a:ext cx="2880" cy="1872"/>
                <a:chOff x="1680" y="1536"/>
                <a:chExt cx="2880" cy="1872"/>
              </a:xfrm>
            </p:grpSpPr>
            <p:sp>
              <p:nvSpPr>
                <p:cNvPr id="46098" name="Line 10"/>
                <p:cNvSpPr>
                  <a:spLocks noChangeShapeType="1"/>
                </p:cNvSpPr>
                <p:nvPr/>
              </p:nvSpPr>
              <p:spPr bwMode="auto">
                <a:xfrm>
                  <a:off x="2640" y="1968"/>
                  <a:ext cx="480"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099" name="Group 11"/>
                <p:cNvGrpSpPr>
                  <a:grpSpLocks/>
                </p:cNvGrpSpPr>
                <p:nvPr/>
              </p:nvGrpSpPr>
              <p:grpSpPr bwMode="auto">
                <a:xfrm>
                  <a:off x="1680" y="1536"/>
                  <a:ext cx="2880" cy="1872"/>
                  <a:chOff x="1680" y="1536"/>
                  <a:chExt cx="2880" cy="1872"/>
                </a:xfrm>
              </p:grpSpPr>
              <p:sp>
                <p:nvSpPr>
                  <p:cNvPr id="46100" name="Line 12"/>
                  <p:cNvSpPr>
                    <a:spLocks noChangeShapeType="1"/>
                  </p:cNvSpPr>
                  <p:nvPr/>
                </p:nvSpPr>
                <p:spPr bwMode="auto">
                  <a:xfrm>
                    <a:off x="2592" y="1680"/>
                    <a:ext cx="528"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1" name="Line 13"/>
                  <p:cNvSpPr>
                    <a:spLocks noChangeShapeType="1"/>
                  </p:cNvSpPr>
                  <p:nvPr/>
                </p:nvSpPr>
                <p:spPr bwMode="auto">
                  <a:xfrm flipH="1">
                    <a:off x="2736"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02" name="Group 14"/>
                  <p:cNvGrpSpPr>
                    <a:grpSpLocks/>
                  </p:cNvGrpSpPr>
                  <p:nvPr/>
                </p:nvGrpSpPr>
                <p:grpSpPr bwMode="auto">
                  <a:xfrm>
                    <a:off x="1680" y="1536"/>
                    <a:ext cx="2880" cy="1872"/>
                    <a:chOff x="1680" y="1536"/>
                    <a:chExt cx="2880" cy="1872"/>
                  </a:xfrm>
                </p:grpSpPr>
                <p:grpSp>
                  <p:nvGrpSpPr>
                    <p:cNvPr id="46103" name="Group 15"/>
                    <p:cNvGrpSpPr>
                      <a:grpSpLocks/>
                    </p:cNvGrpSpPr>
                    <p:nvPr/>
                  </p:nvGrpSpPr>
                  <p:grpSpPr bwMode="auto">
                    <a:xfrm>
                      <a:off x="2208" y="2256"/>
                      <a:ext cx="528" cy="672"/>
                      <a:chOff x="1632" y="1872"/>
                      <a:chExt cx="528" cy="672"/>
                    </a:xfrm>
                  </p:grpSpPr>
                  <p:sp>
                    <p:nvSpPr>
                      <p:cNvPr id="46125" name="Rectangle 16"/>
                      <p:cNvSpPr>
                        <a:spLocks noChangeArrowheads="1"/>
                      </p:cNvSpPr>
                      <p:nvPr/>
                    </p:nvSpPr>
                    <p:spPr bwMode="auto">
                      <a:xfrm>
                        <a:off x="1632" y="1872"/>
                        <a:ext cx="432" cy="672"/>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sp>
                    <p:nvSpPr>
                      <p:cNvPr id="46126" name="Oval 17"/>
                      <p:cNvSpPr>
                        <a:spLocks noChangeArrowheads="1"/>
                      </p:cNvSpPr>
                      <p:nvPr/>
                    </p:nvSpPr>
                    <p:spPr bwMode="auto">
                      <a:xfrm>
                        <a:off x="2064" y="2160"/>
                        <a:ext cx="96" cy="96"/>
                      </a:xfrm>
                      <a:prstGeom prst="ellipse">
                        <a:avLst/>
                      </a:prstGeom>
                      <a:solidFill>
                        <a:schemeClr val="accent1"/>
                      </a:solidFill>
                      <a:ln w="38100">
                        <a:solidFill>
                          <a:schemeClr val="tx1"/>
                        </a:solidFill>
                        <a:round/>
                        <a:headEnd type="none" w="sm" len="sm"/>
                        <a:tailEnd type="none" w="sm" len="sm"/>
                      </a:ln>
                    </p:spPr>
                    <p:txBody>
                      <a:bodyPr wrap="none" anchor="ctr"/>
                      <a:lstStyle/>
                      <a:p>
                        <a:endParaRPr lang="zh-CN" altLang="en-US"/>
                      </a:p>
                    </p:txBody>
                  </p:sp>
                </p:grpSp>
                <p:sp>
                  <p:nvSpPr>
                    <p:cNvPr id="46104" name="Line 18"/>
                    <p:cNvSpPr>
                      <a:spLocks noChangeShapeType="1"/>
                    </p:cNvSpPr>
                    <p:nvPr/>
                  </p:nvSpPr>
                  <p:spPr bwMode="auto">
                    <a:xfrm>
                      <a:off x="3120" y="1680"/>
                      <a:ext cx="0" cy="1392"/>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5" name="Line 19"/>
                    <p:cNvSpPr>
                      <a:spLocks noChangeShapeType="1"/>
                    </p:cNvSpPr>
                    <p:nvPr/>
                  </p:nvSpPr>
                  <p:spPr bwMode="auto">
                    <a:xfrm>
                      <a:off x="2976" y="3168"/>
                      <a:ext cx="288" cy="0"/>
                    </a:xfrm>
                    <a:prstGeom prst="line">
                      <a:avLst/>
                    </a:prstGeom>
                    <a:noFill/>
                    <a:ln w="38100">
                      <a:solidFill>
                        <a:schemeClr val="tx1"/>
                      </a:solidFill>
                      <a:round/>
                      <a:headEnd type="none" w="sm" len="sm"/>
                      <a:tailEnd type="none" w="sm" len="sm"/>
                    </a:ln>
                  </p:spPr>
                  <p:txBody>
                    <a:bodyPr wrap="none"/>
                    <a:lstStyle/>
                    <a:p>
                      <a:endParaRPr lang="zh-CN" altLang="en-US"/>
                    </a:p>
                  </p:txBody>
                </p:sp>
                <p:sp>
                  <p:nvSpPr>
                    <p:cNvPr id="46106" name="Line 20"/>
                    <p:cNvSpPr>
                      <a:spLocks noChangeShapeType="1"/>
                    </p:cNvSpPr>
                    <p:nvPr/>
                  </p:nvSpPr>
                  <p:spPr bwMode="auto">
                    <a:xfrm>
                      <a:off x="2976" y="3072"/>
                      <a:ext cx="288" cy="0"/>
                    </a:xfrm>
                    <a:prstGeom prst="line">
                      <a:avLst/>
                    </a:prstGeom>
                    <a:noFill/>
                    <a:ln w="38100">
                      <a:solidFill>
                        <a:schemeClr val="tx1"/>
                      </a:solidFill>
                      <a:round/>
                      <a:headEnd type="none" w="sm" len="sm"/>
                      <a:tailEnd type="none" w="sm" len="sm"/>
                    </a:ln>
                  </p:spPr>
                  <p:txBody>
                    <a:bodyPr wrap="none"/>
                    <a:lstStyle/>
                    <a:p>
                      <a:endParaRPr lang="zh-CN" altLang="en-US"/>
                    </a:p>
                  </p:txBody>
                </p:sp>
                <p:grpSp>
                  <p:nvGrpSpPr>
                    <p:cNvPr id="46107" name="Group 21"/>
                    <p:cNvGrpSpPr>
                      <a:grpSpLocks/>
                    </p:cNvGrpSpPr>
                    <p:nvPr/>
                  </p:nvGrpSpPr>
                  <p:grpSpPr bwMode="auto">
                    <a:xfrm>
                      <a:off x="1680" y="1536"/>
                      <a:ext cx="912" cy="1872"/>
                      <a:chOff x="1680" y="1536"/>
                      <a:chExt cx="912" cy="1872"/>
                    </a:xfrm>
                  </p:grpSpPr>
                  <p:sp>
                    <p:nvSpPr>
                      <p:cNvPr id="46115" name="Line 22"/>
                      <p:cNvSpPr>
                        <a:spLocks noChangeShapeType="1"/>
                      </p:cNvSpPr>
                      <p:nvPr/>
                    </p:nvSpPr>
                    <p:spPr bwMode="auto">
                      <a:xfrm>
                        <a:off x="1824" y="1680"/>
                        <a:ext cx="0" cy="1392"/>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6" name="Line 23"/>
                      <p:cNvSpPr>
                        <a:spLocks noChangeShapeType="1"/>
                      </p:cNvSpPr>
                      <p:nvPr/>
                    </p:nvSpPr>
                    <p:spPr bwMode="auto">
                      <a:xfrm>
                        <a:off x="1824" y="1680"/>
                        <a:ext cx="576"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17" name="Group 24"/>
                      <p:cNvGrpSpPr>
                        <a:grpSpLocks/>
                      </p:cNvGrpSpPr>
                      <p:nvPr/>
                    </p:nvGrpSpPr>
                    <p:grpSpPr bwMode="auto">
                      <a:xfrm>
                        <a:off x="2400" y="1536"/>
                        <a:ext cx="192" cy="288"/>
                        <a:chOff x="2304" y="1584"/>
                        <a:chExt cx="192" cy="288"/>
                      </a:xfrm>
                    </p:grpSpPr>
                    <p:sp>
                      <p:nvSpPr>
                        <p:cNvPr id="46122" name="Line 25"/>
                        <p:cNvSpPr>
                          <a:spLocks noChangeShapeType="1"/>
                        </p:cNvSpPr>
                        <p:nvPr/>
                      </p:nvSpPr>
                      <p:spPr bwMode="auto">
                        <a:xfrm>
                          <a:off x="2304" y="1584"/>
                          <a:ext cx="0" cy="288"/>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3" name="Rectangle 26"/>
                        <p:cNvSpPr>
                          <a:spLocks noChangeArrowheads="1"/>
                        </p:cNvSpPr>
                        <p:nvPr/>
                      </p:nvSpPr>
                      <p:spPr bwMode="auto">
                        <a:xfrm>
                          <a:off x="2352" y="1584"/>
                          <a:ext cx="96" cy="240"/>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a:p>
                      </p:txBody>
                    </p:sp>
                    <p:sp>
                      <p:nvSpPr>
                        <p:cNvPr id="46124" name="Line 27"/>
                        <p:cNvSpPr>
                          <a:spLocks noChangeShapeType="1"/>
                        </p:cNvSpPr>
                        <p:nvPr/>
                      </p:nvSpPr>
                      <p:spPr bwMode="auto">
                        <a:xfrm>
                          <a:off x="2496" y="1584"/>
                          <a:ext cx="0" cy="288"/>
                        </a:xfrm>
                        <a:prstGeom prst="line">
                          <a:avLst/>
                        </a:prstGeom>
                        <a:noFill/>
                        <a:ln w="12700">
                          <a:solidFill>
                            <a:schemeClr val="tx1"/>
                          </a:solidFill>
                          <a:round/>
                          <a:headEnd type="none" w="sm" len="sm"/>
                          <a:tailEnd type="none" w="sm" len="sm"/>
                        </a:ln>
                      </p:spPr>
                      <p:txBody>
                        <a:bodyPr wrap="none"/>
                        <a:lstStyle/>
                        <a:p>
                          <a:endParaRPr lang="zh-CN" altLang="en-US"/>
                        </a:p>
                      </p:txBody>
                    </p:sp>
                  </p:grpSp>
                  <p:sp>
                    <p:nvSpPr>
                      <p:cNvPr id="46118" name="Line 28"/>
                      <p:cNvSpPr>
                        <a:spLocks noChangeShapeType="1"/>
                      </p:cNvSpPr>
                      <p:nvPr/>
                    </p:nvSpPr>
                    <p:spPr bwMode="auto">
                      <a:xfrm>
                        <a:off x="1824" y="1968"/>
                        <a:ext cx="432"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9" name="Line 29"/>
                      <p:cNvSpPr>
                        <a:spLocks noChangeShapeType="1"/>
                      </p:cNvSpPr>
                      <p:nvPr/>
                    </p:nvSpPr>
                    <p:spPr bwMode="auto">
                      <a:xfrm flipH="1">
                        <a:off x="1824"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0" name="Line 30"/>
                      <p:cNvSpPr>
                        <a:spLocks noChangeShapeType="1"/>
                      </p:cNvSpPr>
                      <p:nvPr/>
                    </p:nvSpPr>
                    <p:spPr bwMode="auto">
                      <a:xfrm>
                        <a:off x="1824" y="3168"/>
                        <a:ext cx="0" cy="24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21" name="Line 31"/>
                      <p:cNvSpPr>
                        <a:spLocks noChangeShapeType="1"/>
                      </p:cNvSpPr>
                      <p:nvPr/>
                    </p:nvSpPr>
                    <p:spPr bwMode="auto">
                      <a:xfrm>
                        <a:off x="1680" y="3408"/>
                        <a:ext cx="288" cy="0"/>
                      </a:xfrm>
                      <a:prstGeom prst="line">
                        <a:avLst/>
                      </a:prstGeom>
                      <a:noFill/>
                      <a:ln w="12700">
                        <a:solidFill>
                          <a:schemeClr val="tx1"/>
                        </a:solidFill>
                        <a:round/>
                        <a:headEnd type="none" w="sm" len="sm"/>
                        <a:tailEnd type="none" w="sm" len="sm"/>
                      </a:ln>
                    </p:spPr>
                    <p:txBody>
                      <a:bodyPr wrap="none"/>
                      <a:lstStyle/>
                      <a:p>
                        <a:endParaRPr lang="zh-CN" altLang="en-US"/>
                      </a:p>
                    </p:txBody>
                  </p:sp>
                </p:grpSp>
                <p:sp>
                  <p:nvSpPr>
                    <p:cNvPr id="46108" name="Line 32"/>
                    <p:cNvSpPr>
                      <a:spLocks noChangeShapeType="1"/>
                    </p:cNvSpPr>
                    <p:nvPr/>
                  </p:nvSpPr>
                  <p:spPr bwMode="auto">
                    <a:xfrm>
                      <a:off x="3120" y="3168"/>
                      <a:ext cx="0" cy="24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09" name="Line 33"/>
                    <p:cNvSpPr>
                      <a:spLocks noChangeShapeType="1"/>
                    </p:cNvSpPr>
                    <p:nvPr/>
                  </p:nvSpPr>
                  <p:spPr bwMode="auto">
                    <a:xfrm>
                      <a:off x="2976" y="3408"/>
                      <a:ext cx="288" cy="0"/>
                    </a:xfrm>
                    <a:prstGeom prst="line">
                      <a:avLst/>
                    </a:prstGeom>
                    <a:noFill/>
                    <a:ln w="12700">
                      <a:solidFill>
                        <a:schemeClr val="tx1"/>
                      </a:solidFill>
                      <a:round/>
                      <a:headEnd type="none" w="sm" len="sm"/>
                      <a:tailEnd type="none" w="sm" len="sm"/>
                    </a:ln>
                  </p:spPr>
                  <p:txBody>
                    <a:bodyPr wrap="none"/>
                    <a:lstStyle/>
                    <a:p>
                      <a:endParaRPr lang="zh-CN" altLang="en-US"/>
                    </a:p>
                  </p:txBody>
                </p:sp>
                <p:sp>
                  <p:nvSpPr>
                    <p:cNvPr id="46110" name="Line 34"/>
                    <p:cNvSpPr>
                      <a:spLocks noChangeShapeType="1"/>
                    </p:cNvSpPr>
                    <p:nvPr/>
                  </p:nvSpPr>
                  <p:spPr bwMode="auto">
                    <a:xfrm>
                      <a:off x="3120" y="2592"/>
                      <a:ext cx="528" cy="0"/>
                    </a:xfrm>
                    <a:prstGeom prst="line">
                      <a:avLst/>
                    </a:prstGeom>
                    <a:noFill/>
                    <a:ln w="12700">
                      <a:solidFill>
                        <a:schemeClr val="tx1"/>
                      </a:solidFill>
                      <a:round/>
                      <a:headEnd type="none" w="sm" len="sm"/>
                      <a:tailEnd type="none" w="sm" len="sm"/>
                    </a:ln>
                  </p:spPr>
                  <p:txBody>
                    <a:bodyPr wrap="none"/>
                    <a:lstStyle/>
                    <a:p>
                      <a:endParaRPr lang="zh-CN" altLang="en-US"/>
                    </a:p>
                  </p:txBody>
                </p:sp>
                <p:grpSp>
                  <p:nvGrpSpPr>
                    <p:cNvPr id="46111" name="Group 35"/>
                    <p:cNvGrpSpPr>
                      <a:grpSpLocks/>
                    </p:cNvGrpSpPr>
                    <p:nvPr/>
                  </p:nvGrpSpPr>
                  <p:grpSpPr bwMode="auto">
                    <a:xfrm>
                      <a:off x="3648" y="2256"/>
                      <a:ext cx="528" cy="672"/>
                      <a:chOff x="1632" y="1872"/>
                      <a:chExt cx="528" cy="672"/>
                    </a:xfrm>
                  </p:grpSpPr>
                  <p:sp>
                    <p:nvSpPr>
                      <p:cNvPr id="46113" name="Rectangle 36"/>
                      <p:cNvSpPr>
                        <a:spLocks noChangeArrowheads="1"/>
                      </p:cNvSpPr>
                      <p:nvPr/>
                    </p:nvSpPr>
                    <p:spPr bwMode="auto">
                      <a:xfrm>
                        <a:off x="1632" y="1872"/>
                        <a:ext cx="432" cy="672"/>
                      </a:xfrm>
                      <a:prstGeom prst="rect">
                        <a:avLst/>
                      </a:prstGeom>
                      <a:solidFill>
                        <a:schemeClr val="accent1"/>
                      </a:solidFill>
                      <a:ln w="38100">
                        <a:solidFill>
                          <a:schemeClr val="tx1"/>
                        </a:solidFill>
                        <a:miter lim="800000"/>
                        <a:headEnd type="none" w="sm" len="sm"/>
                        <a:tailEnd type="none" w="sm" len="sm"/>
                      </a:ln>
                    </p:spPr>
                    <p:txBody>
                      <a:bodyPr wrap="none" anchor="ctr"/>
                      <a:lstStyle/>
                      <a:p>
                        <a:endParaRPr lang="zh-CN" altLang="en-US"/>
                      </a:p>
                    </p:txBody>
                  </p:sp>
                  <p:sp>
                    <p:nvSpPr>
                      <p:cNvPr id="46114" name="Oval 37"/>
                      <p:cNvSpPr>
                        <a:spLocks noChangeArrowheads="1"/>
                      </p:cNvSpPr>
                      <p:nvPr/>
                    </p:nvSpPr>
                    <p:spPr bwMode="auto">
                      <a:xfrm>
                        <a:off x="2064" y="2160"/>
                        <a:ext cx="96" cy="96"/>
                      </a:xfrm>
                      <a:prstGeom prst="ellipse">
                        <a:avLst/>
                      </a:prstGeom>
                      <a:solidFill>
                        <a:schemeClr val="accent1"/>
                      </a:solidFill>
                      <a:ln w="38100">
                        <a:solidFill>
                          <a:schemeClr val="tx1"/>
                        </a:solidFill>
                        <a:round/>
                        <a:headEnd type="none" w="sm" len="sm"/>
                        <a:tailEnd type="none" w="sm" len="sm"/>
                      </a:ln>
                    </p:spPr>
                    <p:txBody>
                      <a:bodyPr wrap="none" anchor="ctr"/>
                      <a:lstStyle/>
                      <a:p>
                        <a:endParaRPr lang="zh-CN" altLang="en-US"/>
                      </a:p>
                    </p:txBody>
                  </p:sp>
                </p:grpSp>
                <p:sp>
                  <p:nvSpPr>
                    <p:cNvPr id="46112" name="Line 38"/>
                    <p:cNvSpPr>
                      <a:spLocks noChangeShapeType="1"/>
                    </p:cNvSpPr>
                    <p:nvPr/>
                  </p:nvSpPr>
                  <p:spPr bwMode="auto">
                    <a:xfrm>
                      <a:off x="4176" y="2592"/>
                      <a:ext cx="384" cy="0"/>
                    </a:xfrm>
                    <a:prstGeom prst="line">
                      <a:avLst/>
                    </a:prstGeom>
                    <a:noFill/>
                    <a:ln w="12700">
                      <a:solidFill>
                        <a:schemeClr val="tx1"/>
                      </a:solidFill>
                      <a:round/>
                      <a:headEnd type="none" w="sm" len="sm"/>
                      <a:tailEnd type="none" w="sm" len="sm"/>
                    </a:ln>
                  </p:spPr>
                  <p:txBody>
                    <a:bodyPr wrap="none"/>
                    <a:lstStyle/>
                    <a:p>
                      <a:endParaRPr lang="zh-CN" altLang="en-US"/>
                    </a:p>
                  </p:txBody>
                </p:sp>
              </p:grpSp>
            </p:grpSp>
          </p:grpSp>
        </p:grpSp>
        <p:sp>
          <p:nvSpPr>
            <p:cNvPr id="46091" name="Text Box 39"/>
            <p:cNvSpPr txBox="1">
              <a:spLocks noChangeArrowheads="1"/>
            </p:cNvSpPr>
            <p:nvPr/>
          </p:nvSpPr>
          <p:spPr bwMode="auto">
            <a:xfrm>
              <a:off x="2256" y="2496"/>
              <a:ext cx="240" cy="288"/>
            </a:xfrm>
            <a:prstGeom prst="rect">
              <a:avLst/>
            </a:prstGeom>
            <a:noFill/>
            <a:ln w="12700">
              <a:noFill/>
              <a:miter lim="800000"/>
              <a:headEnd type="none" w="sm" len="sm"/>
              <a:tailEnd type="none" w="sm" len="sm"/>
            </a:ln>
          </p:spPr>
          <p:txBody>
            <a:bodyPr>
              <a:spAutoFit/>
            </a:bodyPr>
            <a:lstStyle/>
            <a:p>
              <a:pPr>
                <a:spcBef>
                  <a:spcPct val="50000"/>
                </a:spcBef>
              </a:pPr>
              <a:r>
                <a:rPr kumimoji="1" lang="en-US" altLang="zh-CN" sz="2400" b="0">
                  <a:solidFill>
                    <a:schemeClr val="tx1"/>
                  </a:solidFill>
                  <a:latin typeface="Times New Roman" pitchFamily="18" charset="0"/>
                </a:rPr>
                <a:t>1</a:t>
              </a:r>
            </a:p>
          </p:txBody>
        </p:sp>
        <p:sp>
          <p:nvSpPr>
            <p:cNvPr id="46092" name="Text Box 40"/>
            <p:cNvSpPr txBox="1">
              <a:spLocks noChangeArrowheads="1"/>
            </p:cNvSpPr>
            <p:nvPr/>
          </p:nvSpPr>
          <p:spPr bwMode="auto">
            <a:xfrm>
              <a:off x="3696" y="2496"/>
              <a:ext cx="240" cy="288"/>
            </a:xfrm>
            <a:prstGeom prst="rect">
              <a:avLst/>
            </a:prstGeom>
            <a:noFill/>
            <a:ln w="12700">
              <a:noFill/>
              <a:miter lim="800000"/>
              <a:headEnd type="none" w="sm" len="sm"/>
              <a:tailEnd type="none" w="sm" len="sm"/>
            </a:ln>
          </p:spPr>
          <p:txBody>
            <a:bodyPr>
              <a:spAutoFit/>
            </a:bodyPr>
            <a:lstStyle/>
            <a:p>
              <a:pPr>
                <a:spcBef>
                  <a:spcPct val="50000"/>
                </a:spcBef>
              </a:pPr>
              <a:r>
                <a:rPr kumimoji="1" lang="en-US" altLang="zh-CN" sz="2400" b="0">
                  <a:solidFill>
                    <a:schemeClr val="tx1"/>
                  </a:solidFill>
                  <a:latin typeface="Times New Roman" pitchFamily="18" charset="0"/>
                </a:rPr>
                <a:t>1</a:t>
              </a:r>
            </a:p>
          </p:txBody>
        </p:sp>
        <p:sp>
          <p:nvSpPr>
            <p:cNvPr id="46093" name="Text Box 41"/>
            <p:cNvSpPr txBox="1">
              <a:spLocks noChangeArrowheads="1"/>
            </p:cNvSpPr>
            <p:nvPr/>
          </p:nvSpPr>
          <p:spPr bwMode="auto">
            <a:xfrm>
              <a:off x="2544" y="1776"/>
              <a:ext cx="244" cy="288"/>
            </a:xfrm>
            <a:prstGeom prst="rect">
              <a:avLst/>
            </a:prstGeom>
            <a:noFill/>
            <a:ln w="12700">
              <a:noFill/>
              <a:miter lim="800000"/>
              <a:headEnd type="none" w="sm" len="sm"/>
              <a:tailEnd type="none" w="sm" len="sm"/>
            </a:ln>
          </p:spPr>
          <p:txBody>
            <a:bodyPr wrap="none">
              <a:spAutoFit/>
            </a:bodyPr>
            <a:lstStyle/>
            <a:p>
              <a:r>
                <a:rPr kumimoji="1" lang="en-US" altLang="zh-CN" sz="2400" b="0">
                  <a:solidFill>
                    <a:schemeClr val="tx1"/>
                  </a:solidFill>
                  <a:latin typeface="Times New Roman" pitchFamily="18" charset="0"/>
                </a:rPr>
                <a:t>R</a:t>
              </a:r>
            </a:p>
          </p:txBody>
        </p:sp>
        <p:sp>
          <p:nvSpPr>
            <p:cNvPr id="46094" name="Text Box 42"/>
            <p:cNvSpPr txBox="1">
              <a:spLocks noChangeArrowheads="1"/>
            </p:cNvSpPr>
            <p:nvPr/>
          </p:nvSpPr>
          <p:spPr bwMode="auto">
            <a:xfrm>
              <a:off x="1862" y="3146"/>
              <a:ext cx="340" cy="288"/>
            </a:xfrm>
            <a:prstGeom prst="rect">
              <a:avLst/>
            </a:prstGeom>
            <a:noFill/>
            <a:ln w="12700">
              <a:noFill/>
              <a:miter lim="800000"/>
              <a:headEnd type="none" w="sm" len="sm"/>
              <a:tailEnd type="none" w="sm" len="sm"/>
            </a:ln>
          </p:spPr>
          <p:txBody>
            <a:bodyPr wrap="none">
              <a:spAutoFit/>
            </a:bodyPr>
            <a:lstStyle/>
            <a:p>
              <a:r>
                <a:rPr kumimoji="1" lang="en-US" altLang="zh-CN" sz="2400" b="0">
                  <a:solidFill>
                    <a:schemeClr val="tx1"/>
                  </a:solidFill>
                  <a:latin typeface="Times New Roman" pitchFamily="18" charset="0"/>
                </a:rPr>
                <a:t>C1</a:t>
              </a:r>
            </a:p>
          </p:txBody>
        </p:sp>
        <p:sp>
          <p:nvSpPr>
            <p:cNvPr id="46095" name="Text Box 43"/>
            <p:cNvSpPr txBox="1">
              <a:spLocks noChangeArrowheads="1"/>
            </p:cNvSpPr>
            <p:nvPr/>
          </p:nvSpPr>
          <p:spPr bwMode="auto">
            <a:xfrm>
              <a:off x="3168" y="3120"/>
              <a:ext cx="340" cy="288"/>
            </a:xfrm>
            <a:prstGeom prst="rect">
              <a:avLst/>
            </a:prstGeom>
            <a:noFill/>
            <a:ln w="12700">
              <a:noFill/>
              <a:miter lim="800000"/>
              <a:headEnd type="none" w="sm" len="sm"/>
              <a:tailEnd type="none" w="sm" len="sm"/>
            </a:ln>
          </p:spPr>
          <p:txBody>
            <a:bodyPr>
              <a:spAutoFit/>
            </a:bodyPr>
            <a:lstStyle/>
            <a:p>
              <a:r>
                <a:rPr kumimoji="1" lang="en-US" altLang="zh-CN" sz="2400" b="0">
                  <a:solidFill>
                    <a:schemeClr val="tx1"/>
                  </a:solidFill>
                  <a:latin typeface="Times New Roman" pitchFamily="18" charset="0"/>
                </a:rPr>
                <a:t>C2</a:t>
              </a:r>
            </a:p>
          </p:txBody>
        </p:sp>
      </p:grpSp>
      <p:sp>
        <p:nvSpPr>
          <p:cNvPr id="46086" name="Rectangle 44"/>
          <p:cNvSpPr>
            <a:spLocks noChangeArrowheads="1"/>
          </p:cNvSpPr>
          <p:nvPr/>
        </p:nvSpPr>
        <p:spPr bwMode="auto">
          <a:xfrm>
            <a:off x="250825" y="188913"/>
            <a:ext cx="7777163" cy="2227262"/>
          </a:xfrm>
          <a:prstGeom prst="rect">
            <a:avLst/>
          </a:prstGeom>
          <a:noFill/>
          <a:ln w="12700" cap="sq">
            <a:noFill/>
            <a:miter lim="800000"/>
            <a:headEnd type="none" w="sm" len="sm"/>
            <a:tailEnd type="none" w="sm" len="sm"/>
          </a:ln>
        </p:spPr>
        <p:txBody>
          <a:bodyPr>
            <a:spAutoFit/>
          </a:bodyPr>
          <a:lstStyle/>
          <a:p>
            <a:r>
              <a:rPr lang="zh-CN" altLang="en-US" sz="2800">
                <a:solidFill>
                  <a:schemeClr val="tx2"/>
                </a:solidFill>
                <a:latin typeface="宋体" pitchFamily="2" charset="-122"/>
              </a:rPr>
              <a:t>一、时钟源</a:t>
            </a:r>
          </a:p>
          <a:p>
            <a:r>
              <a:rPr lang="zh-CN" altLang="en-US" sz="2800">
                <a:solidFill>
                  <a:schemeClr val="tx2"/>
                </a:solidFill>
                <a:latin typeface="宋体" pitchFamily="2" charset="-122"/>
              </a:rPr>
              <a:t>    时钟源用来为环形脉冲发生器提供频率稳定且电平匹配的方波时钟脉冲信号。它通常由石英晶体振荡器和与非门组成的正反馈振荡电路组成，其输出送至环形脉冲发生器。</a:t>
            </a:r>
          </a:p>
        </p:txBody>
      </p:sp>
      <p:sp>
        <p:nvSpPr>
          <p:cNvPr id="46087" name="Rectangle 46"/>
          <p:cNvSpPr>
            <a:spLocks noChangeArrowheads="1"/>
          </p:cNvSpPr>
          <p:nvPr/>
        </p:nvSpPr>
        <p:spPr bwMode="auto">
          <a:xfrm>
            <a:off x="5364163" y="2565400"/>
            <a:ext cx="3168650" cy="3081338"/>
          </a:xfrm>
          <a:prstGeom prst="rect">
            <a:avLst/>
          </a:prstGeom>
          <a:noFill/>
          <a:ln w="12700" cap="sq">
            <a:noFill/>
            <a:miter lim="800000"/>
            <a:headEnd type="none" w="sm" len="sm"/>
            <a:tailEnd type="none" w="sm" len="sm"/>
          </a:ln>
        </p:spPr>
        <p:txBody>
          <a:bodyPr>
            <a:spAutoFit/>
          </a:bodyPr>
          <a:lstStyle/>
          <a:p>
            <a:r>
              <a:rPr lang="en-US" altLang="zh-CN" sz="2800" b="0">
                <a:solidFill>
                  <a:schemeClr val="tx1"/>
                </a:solidFill>
              </a:rPr>
              <a:t>       </a:t>
            </a:r>
            <a:r>
              <a:rPr lang="zh-CN" altLang="en-US" sz="2800" b="0">
                <a:solidFill>
                  <a:schemeClr val="tx1"/>
                </a:solidFill>
              </a:rPr>
              <a:t>电路左边是振荡电路，右边是整形电路，左边的电路产生接近正弦波的波形，右边非门则将其整形为一个理想的方波。</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p>
            <a:fld id="{87CBDA52-E7F4-4FAB-A2A0-72CA938E7D70}" type="slidenum">
              <a:rPr lang="en-US" altLang="zh-CN" smtClean="0"/>
              <a:pPr/>
              <a:t>45</a:t>
            </a:fld>
            <a:endParaRPr lang="en-US" altLang="zh-CN" smtClean="0"/>
          </a:p>
        </p:txBody>
      </p:sp>
      <p:sp>
        <p:nvSpPr>
          <p:cNvPr id="47107" name="Rectangle 2"/>
          <p:cNvSpPr>
            <a:spLocks noGrp="1" noChangeArrowheads="1"/>
          </p:cNvSpPr>
          <p:nvPr>
            <p:ph type="title"/>
          </p:nvPr>
        </p:nvSpPr>
        <p:spPr>
          <a:xfrm>
            <a:off x="250825" y="188913"/>
            <a:ext cx="7543800" cy="576262"/>
          </a:xfrm>
        </p:spPr>
        <p:txBody>
          <a:bodyPr/>
          <a:lstStyle/>
          <a:p>
            <a:pPr eaLnBrk="1" hangingPunct="1"/>
            <a:r>
              <a:rPr lang="zh-CN" altLang="en-US" sz="3500" smtClean="0"/>
              <a:t>二、环形脉冲发生器</a:t>
            </a:r>
          </a:p>
        </p:txBody>
      </p:sp>
      <p:sp>
        <p:nvSpPr>
          <p:cNvPr id="47108" name="Rectangle 3"/>
          <p:cNvSpPr>
            <a:spLocks noGrp="1" noChangeArrowheads="1"/>
          </p:cNvSpPr>
          <p:nvPr>
            <p:ph type="body" idx="1"/>
          </p:nvPr>
        </p:nvSpPr>
        <p:spPr>
          <a:xfrm>
            <a:off x="179388" y="836613"/>
            <a:ext cx="7734300" cy="2879725"/>
          </a:xfrm>
        </p:spPr>
        <p:txBody>
          <a:bodyPr/>
          <a:lstStyle/>
          <a:p>
            <a:pPr lvl="1" eaLnBrk="1" hangingPunct="1"/>
            <a:r>
              <a:rPr lang="zh-CN" altLang="en-US" sz="2800" smtClean="0">
                <a:latin typeface="宋体" pitchFamily="2" charset="-122"/>
              </a:rPr>
              <a:t>作用：产生一组有序间隔相等或不等的脉冲序列，以便通过译码电路来产生最后所需的节拍脉冲。 </a:t>
            </a:r>
          </a:p>
          <a:p>
            <a:pPr lvl="1" eaLnBrk="1" hangingPunct="1"/>
            <a:r>
              <a:rPr lang="zh-CN" altLang="en-US" sz="2800" smtClean="0">
                <a:latin typeface="宋体" pitchFamily="2" charset="-122"/>
              </a:rPr>
              <a:t>毛刺产生原因：电路内部原因以及寄存器参数的影响，避免方法：采用循环移位寄存器</a:t>
            </a:r>
          </a:p>
          <a:p>
            <a:pPr lvl="1" eaLnBrk="1" hangingPunct="1"/>
            <a:r>
              <a:rPr lang="zh-CN" altLang="en-US" sz="2800" smtClean="0">
                <a:latin typeface="宋体" pitchFamily="2" charset="-122"/>
              </a:rPr>
              <a:t>电路：</a:t>
            </a:r>
          </a:p>
        </p:txBody>
      </p:sp>
      <p:pic>
        <p:nvPicPr>
          <p:cNvPr id="47109" name="Picture 25"/>
          <p:cNvPicPr>
            <a:picLocks noChangeAspect="1" noChangeArrowheads="1"/>
          </p:cNvPicPr>
          <p:nvPr/>
        </p:nvPicPr>
        <p:blipFill>
          <a:blip r:embed="rId2"/>
          <a:srcRect/>
          <a:stretch>
            <a:fillRect/>
          </a:stretch>
        </p:blipFill>
        <p:spPr bwMode="auto">
          <a:xfrm>
            <a:off x="684213" y="3789363"/>
            <a:ext cx="7345362" cy="2808287"/>
          </a:xfrm>
          <a:prstGeom prst="rect">
            <a:avLst/>
          </a:prstGeom>
          <a:noFill/>
          <a:ln w="9525">
            <a:noFill/>
            <a:miter lim="800000"/>
            <a:headEnd/>
            <a:tailEnd/>
          </a:ln>
        </p:spPr>
      </p:pic>
      <p:pic>
        <p:nvPicPr>
          <p:cNvPr id="56346" name="Picture 26"/>
          <p:cNvPicPr>
            <a:picLocks noChangeAspect="1" noChangeArrowheads="1"/>
          </p:cNvPicPr>
          <p:nvPr/>
        </p:nvPicPr>
        <p:blipFill>
          <a:blip r:embed="rId3"/>
          <a:srcRect/>
          <a:stretch>
            <a:fillRect/>
          </a:stretch>
        </p:blipFill>
        <p:spPr bwMode="auto">
          <a:xfrm>
            <a:off x="539750" y="908050"/>
            <a:ext cx="7489825" cy="28797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6346"/>
                                        </p:tgtEl>
                                        <p:attrNameLst>
                                          <p:attrName>style.visibility</p:attrName>
                                        </p:attrNameLst>
                                      </p:cBhvr>
                                      <p:to>
                                        <p:strVal val="visible"/>
                                      </p:to>
                                    </p:set>
                                    <p:animEffect transition="in" filter="dissolve">
                                      <p:cBhvr>
                                        <p:cTn id="7" dur="500"/>
                                        <p:tgtEl>
                                          <p:spTgt spid="56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563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p:spPr>
        <p:txBody>
          <a:bodyPr/>
          <a:lstStyle/>
          <a:p>
            <a:fld id="{D4CCE63C-4BAE-4D96-9E8D-C2896EFC7A44}" type="slidenum">
              <a:rPr lang="en-US" altLang="zh-CN" smtClean="0"/>
              <a:pPr/>
              <a:t>46</a:t>
            </a:fld>
            <a:endParaRPr lang="en-US" altLang="zh-CN" smtClean="0"/>
          </a:p>
        </p:txBody>
      </p:sp>
      <p:sp>
        <p:nvSpPr>
          <p:cNvPr id="48131" name="Rectangle 2"/>
          <p:cNvSpPr>
            <a:spLocks noGrp="1" noChangeArrowheads="1"/>
          </p:cNvSpPr>
          <p:nvPr>
            <p:ph type="title"/>
          </p:nvPr>
        </p:nvSpPr>
        <p:spPr>
          <a:xfrm>
            <a:off x="323850" y="115888"/>
            <a:ext cx="7543800" cy="504825"/>
          </a:xfrm>
        </p:spPr>
        <p:txBody>
          <a:bodyPr/>
          <a:lstStyle/>
          <a:p>
            <a:pPr eaLnBrk="1" hangingPunct="1"/>
            <a:r>
              <a:rPr lang="zh-CN" altLang="en-US" sz="3000" smtClean="0"/>
              <a:t>四、节拍脉冲和读</a:t>
            </a:r>
            <a:r>
              <a:rPr lang="en-US" altLang="zh-CN" sz="3000" smtClean="0"/>
              <a:t>/</a:t>
            </a:r>
            <a:r>
              <a:rPr lang="zh-CN" altLang="en-US" sz="3000" smtClean="0"/>
              <a:t>写时序的编码</a:t>
            </a:r>
          </a:p>
        </p:txBody>
      </p:sp>
      <p:pic>
        <p:nvPicPr>
          <p:cNvPr id="48132" name="Picture 7"/>
          <p:cNvPicPr>
            <a:picLocks noChangeAspect="1" noChangeArrowheads="1"/>
          </p:cNvPicPr>
          <p:nvPr/>
        </p:nvPicPr>
        <p:blipFill>
          <a:blip r:embed="rId2"/>
          <a:srcRect/>
          <a:stretch>
            <a:fillRect/>
          </a:stretch>
        </p:blipFill>
        <p:spPr bwMode="auto">
          <a:xfrm>
            <a:off x="395288" y="692150"/>
            <a:ext cx="7129462" cy="6049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p:spPr>
        <p:txBody>
          <a:bodyPr/>
          <a:lstStyle/>
          <a:p>
            <a:fld id="{B2880AF3-246F-42FC-8F03-DA4E81BE4C6F}" type="slidenum">
              <a:rPr lang="en-US" altLang="zh-CN" smtClean="0"/>
              <a:pPr/>
              <a:t>47</a:t>
            </a:fld>
            <a:endParaRPr lang="en-US" altLang="zh-CN" smtClean="0"/>
          </a:p>
        </p:txBody>
      </p:sp>
      <p:sp>
        <p:nvSpPr>
          <p:cNvPr id="49155" name="Rectangle 2"/>
          <p:cNvSpPr>
            <a:spLocks noGrp="1" noChangeArrowheads="1"/>
          </p:cNvSpPr>
          <p:nvPr>
            <p:ph type="title"/>
          </p:nvPr>
        </p:nvSpPr>
        <p:spPr>
          <a:xfrm>
            <a:off x="250825" y="188913"/>
            <a:ext cx="7543800" cy="642937"/>
          </a:xfrm>
        </p:spPr>
        <p:txBody>
          <a:bodyPr/>
          <a:lstStyle/>
          <a:p>
            <a:pPr eaLnBrk="1" hangingPunct="1"/>
            <a:r>
              <a:rPr lang="zh-CN" altLang="en-US" sz="3500" smtClean="0"/>
              <a:t>五、启停控制逻辑</a:t>
            </a:r>
          </a:p>
        </p:txBody>
      </p:sp>
      <p:pic>
        <p:nvPicPr>
          <p:cNvPr id="49156" name="Picture 3" descr="5a19"/>
          <p:cNvPicPr>
            <a:picLocks noChangeAspect="1" noChangeArrowheads="1"/>
          </p:cNvPicPr>
          <p:nvPr/>
        </p:nvPicPr>
        <p:blipFill>
          <a:blip r:embed="rId3"/>
          <a:srcRect/>
          <a:stretch>
            <a:fillRect/>
          </a:stretch>
        </p:blipFill>
        <p:spPr bwMode="auto">
          <a:xfrm>
            <a:off x="4356100" y="1412875"/>
            <a:ext cx="4176713" cy="4306888"/>
          </a:xfrm>
          <a:prstGeom prst="rect">
            <a:avLst/>
          </a:prstGeom>
          <a:noFill/>
          <a:ln w="9525">
            <a:noFill/>
            <a:miter lim="800000"/>
            <a:headEnd/>
            <a:tailEnd/>
          </a:ln>
        </p:spPr>
      </p:pic>
      <p:sp>
        <p:nvSpPr>
          <p:cNvPr id="49157" name="Rectangle 4"/>
          <p:cNvSpPr>
            <a:spLocks noChangeArrowheads="1"/>
          </p:cNvSpPr>
          <p:nvPr/>
        </p:nvSpPr>
        <p:spPr bwMode="auto">
          <a:xfrm>
            <a:off x="250825" y="1052513"/>
            <a:ext cx="4033838" cy="5643562"/>
          </a:xfrm>
          <a:prstGeom prst="rect">
            <a:avLst/>
          </a:prstGeom>
          <a:noFill/>
          <a:ln w="9525">
            <a:noFill/>
            <a:miter lim="800000"/>
            <a:headEnd/>
            <a:tailEnd/>
          </a:ln>
        </p:spPr>
        <p:txBody>
          <a:bodyPr>
            <a:spAutoFit/>
          </a:bodyPr>
          <a:lstStyle/>
          <a:p>
            <a:pPr>
              <a:buFontTx/>
              <a:buChar char="•"/>
            </a:pPr>
            <a:r>
              <a:rPr lang="zh-CN" altLang="en-US" sz="2800" b="0">
                <a:solidFill>
                  <a:schemeClr val="tx1"/>
                </a:solidFill>
                <a:latin typeface="宋体" pitchFamily="2" charset="-122"/>
              </a:rPr>
              <a:t>启动、停机是随机的，对读</a:t>
            </a:r>
            <a:r>
              <a:rPr lang="en-US" altLang="zh-CN" sz="2800" b="0">
                <a:solidFill>
                  <a:schemeClr val="tx1"/>
                </a:solidFill>
                <a:latin typeface="宋体" pitchFamily="2" charset="-122"/>
              </a:rPr>
              <a:t>/</a:t>
            </a:r>
            <a:r>
              <a:rPr lang="zh-CN" altLang="en-US" sz="2800" b="0">
                <a:solidFill>
                  <a:schemeClr val="tx1"/>
                </a:solidFill>
                <a:latin typeface="宋体" pitchFamily="2" charset="-122"/>
              </a:rPr>
              <a:t>写时序信号也需要由启停逻辑加以控制。</a:t>
            </a:r>
          </a:p>
          <a:p>
            <a:pPr>
              <a:buFontTx/>
              <a:buChar char="•"/>
            </a:pPr>
            <a:r>
              <a:rPr lang="zh-CN" altLang="en-US" sz="2800" b="0">
                <a:solidFill>
                  <a:schemeClr val="tx1"/>
                </a:solidFill>
                <a:latin typeface="宋体" pitchFamily="2" charset="-122"/>
              </a:rPr>
              <a:t>当运行触发器为“</a:t>
            </a:r>
            <a:r>
              <a:rPr lang="en-US" altLang="zh-CN" sz="2800" b="0">
                <a:solidFill>
                  <a:schemeClr val="tx1"/>
                </a:solidFill>
                <a:latin typeface="宋体" pitchFamily="2" charset="-122"/>
              </a:rPr>
              <a:t>1”</a:t>
            </a:r>
            <a:r>
              <a:rPr lang="zh-CN" altLang="en-US" sz="2800" b="0">
                <a:solidFill>
                  <a:schemeClr val="tx1"/>
                </a:solidFill>
                <a:latin typeface="宋体" pitchFamily="2" charset="-122"/>
              </a:rPr>
              <a:t>时，打开时序电路。当计算机启动时，一定要从第</a:t>
            </a:r>
            <a:r>
              <a:rPr lang="en-US" altLang="zh-CN" sz="2800" b="0">
                <a:solidFill>
                  <a:schemeClr val="tx1"/>
                </a:solidFill>
                <a:latin typeface="宋体" pitchFamily="2" charset="-122"/>
              </a:rPr>
              <a:t>1</a:t>
            </a:r>
            <a:r>
              <a:rPr lang="zh-CN" altLang="en-US" sz="2800" b="0">
                <a:solidFill>
                  <a:schemeClr val="tx1"/>
                </a:solidFill>
                <a:latin typeface="宋体" pitchFamily="2" charset="-122"/>
              </a:rPr>
              <a:t>个节拍脉冲前沿开始工作。</a:t>
            </a:r>
          </a:p>
          <a:p>
            <a:pPr>
              <a:buFontTx/>
              <a:buChar char="•"/>
            </a:pPr>
            <a:r>
              <a:rPr lang="zh-CN" altLang="en-US" sz="2800" b="0">
                <a:solidFill>
                  <a:schemeClr val="tx1"/>
                </a:solidFill>
                <a:latin typeface="宋体" pitchFamily="2" charset="-122"/>
              </a:rPr>
              <a:t>当运行触发器“</a:t>
            </a:r>
            <a:r>
              <a:rPr lang="en-US" altLang="zh-CN" sz="2800" b="0">
                <a:solidFill>
                  <a:schemeClr val="tx1"/>
                </a:solidFill>
                <a:latin typeface="宋体" pitchFamily="2" charset="-122"/>
              </a:rPr>
              <a:t>0”</a:t>
            </a:r>
            <a:r>
              <a:rPr lang="zh-CN" altLang="en-US" sz="2800" b="0">
                <a:solidFill>
                  <a:schemeClr val="tx1"/>
                </a:solidFill>
                <a:latin typeface="宋体" pitchFamily="2" charset="-122"/>
              </a:rPr>
              <a:t>时，关闭时序产生器。停机时一定要在第</a:t>
            </a:r>
            <a:r>
              <a:rPr lang="en-US" altLang="zh-CN" sz="2800" b="0">
                <a:solidFill>
                  <a:schemeClr val="tx1"/>
                </a:solidFill>
                <a:latin typeface="宋体" pitchFamily="2" charset="-122"/>
              </a:rPr>
              <a:t>4</a:t>
            </a:r>
            <a:r>
              <a:rPr lang="zh-CN" altLang="en-US" sz="2800" b="0">
                <a:solidFill>
                  <a:schemeClr val="tx1"/>
                </a:solidFill>
                <a:latin typeface="宋体" pitchFamily="2" charset="-122"/>
              </a:rPr>
              <a:t>个节拍脉冲结束后关闭时序产生器。</a:t>
            </a:r>
          </a:p>
        </p:txBody>
      </p:sp>
      <p:pic>
        <p:nvPicPr>
          <p:cNvPr id="49158" name="Picture 6">
            <a:hlinkClick r:id="rId4" action="ppaction://hlinkfile"/>
          </p:cNvPr>
          <p:cNvPicPr>
            <a:picLocks noChangeAspect="1" noChangeArrowheads="1"/>
          </p:cNvPicPr>
          <p:nvPr/>
        </p:nvPicPr>
        <p:blipFill>
          <a:blip r:embed="rId5"/>
          <a:srcRect/>
          <a:stretch>
            <a:fillRect/>
          </a:stretch>
        </p:blipFill>
        <p:spPr bwMode="auto">
          <a:xfrm>
            <a:off x="7164388" y="5445125"/>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p>
            <a:fld id="{23E9B817-EFF4-484E-9F56-93A632B47F32}" type="slidenum">
              <a:rPr lang="en-US" altLang="zh-CN" smtClean="0"/>
              <a:pPr/>
              <a:t>48</a:t>
            </a:fld>
            <a:endParaRPr lang="en-US" altLang="zh-CN" smtClean="0"/>
          </a:p>
        </p:txBody>
      </p:sp>
      <p:sp>
        <p:nvSpPr>
          <p:cNvPr id="50179" name="Rectangle 6"/>
          <p:cNvSpPr>
            <a:spLocks noChangeArrowheads="1"/>
          </p:cNvSpPr>
          <p:nvPr/>
        </p:nvSpPr>
        <p:spPr bwMode="auto">
          <a:xfrm>
            <a:off x="468313" y="188913"/>
            <a:ext cx="3803650" cy="701675"/>
          </a:xfrm>
          <a:prstGeom prst="rect">
            <a:avLst/>
          </a:prstGeom>
          <a:noFill/>
          <a:ln w="12700" cap="sq">
            <a:noFill/>
            <a:miter lim="800000"/>
            <a:headEnd type="none" w="sm" len="sm"/>
            <a:tailEnd type="none" w="sm" len="sm"/>
          </a:ln>
        </p:spPr>
        <p:txBody>
          <a:bodyPr wrap="none" anchor="ctr">
            <a:spAutoFit/>
          </a:bodyPr>
          <a:lstStyle/>
          <a:p>
            <a:pPr eaLnBrk="0" hangingPunct="0"/>
            <a:r>
              <a:rPr lang="zh-CN" altLang="en-US" sz="4000" b="0">
                <a:solidFill>
                  <a:schemeClr val="tx1"/>
                </a:solidFill>
              </a:rPr>
              <a:t>时序信号产生器</a:t>
            </a:r>
            <a:r>
              <a:rPr lang="zh-CN" altLang="en-US" b="0">
                <a:solidFill>
                  <a:schemeClr val="tx1"/>
                </a:solidFill>
              </a:rPr>
              <a:t> </a:t>
            </a:r>
          </a:p>
        </p:txBody>
      </p:sp>
      <p:pic>
        <p:nvPicPr>
          <p:cNvPr id="50180" name="Picture 7">
            <a:hlinkClick r:id="rId2" action="ppaction://hlinkfile"/>
          </p:cNvPr>
          <p:cNvPicPr>
            <a:picLocks noChangeAspect="1" noChangeArrowheads="1"/>
          </p:cNvPicPr>
          <p:nvPr/>
        </p:nvPicPr>
        <p:blipFill>
          <a:blip r:embed="rId3"/>
          <a:srcRect/>
          <a:stretch>
            <a:fillRect/>
          </a:stretch>
        </p:blipFill>
        <p:spPr bwMode="auto">
          <a:xfrm>
            <a:off x="7956550" y="5013325"/>
            <a:ext cx="409575" cy="381000"/>
          </a:xfrm>
          <a:prstGeom prst="rect">
            <a:avLst/>
          </a:prstGeom>
          <a:noFill/>
          <a:ln w="9525">
            <a:noFill/>
            <a:miter lim="800000"/>
            <a:headEnd/>
            <a:tailEnd/>
          </a:ln>
        </p:spPr>
      </p:pic>
      <p:pic>
        <p:nvPicPr>
          <p:cNvPr id="50181" name="Picture 8"/>
          <p:cNvPicPr>
            <a:picLocks noChangeAspect="1" noChangeArrowheads="1"/>
          </p:cNvPicPr>
          <p:nvPr/>
        </p:nvPicPr>
        <p:blipFill>
          <a:blip r:embed="rId4"/>
          <a:srcRect/>
          <a:stretch>
            <a:fillRect/>
          </a:stretch>
        </p:blipFill>
        <p:spPr bwMode="auto">
          <a:xfrm>
            <a:off x="179388" y="1133475"/>
            <a:ext cx="7632700" cy="5724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p>
            <a:fld id="{2537C451-55FB-4547-B204-435EEDB3322C}" type="slidenum">
              <a:rPr lang="en-US" altLang="zh-CN" smtClean="0"/>
              <a:pPr/>
              <a:t>49</a:t>
            </a:fld>
            <a:endParaRPr lang="en-US" altLang="zh-CN" smtClean="0"/>
          </a:p>
        </p:txBody>
      </p:sp>
      <p:sp>
        <p:nvSpPr>
          <p:cNvPr id="51203" name="Rectangle 2"/>
          <p:cNvSpPr>
            <a:spLocks noGrp="1" noChangeArrowheads="1"/>
          </p:cNvSpPr>
          <p:nvPr>
            <p:ph type="title"/>
          </p:nvPr>
        </p:nvSpPr>
        <p:spPr>
          <a:xfrm>
            <a:off x="395288" y="549275"/>
            <a:ext cx="7543800" cy="642938"/>
          </a:xfrm>
        </p:spPr>
        <p:txBody>
          <a:bodyPr/>
          <a:lstStyle/>
          <a:p>
            <a:pPr eaLnBrk="1" hangingPunct="1"/>
            <a:r>
              <a:rPr lang="en-US" altLang="zh-CN" sz="3500" smtClean="0">
                <a:solidFill>
                  <a:schemeClr val="tx1"/>
                </a:solidFill>
                <a:cs typeface="Times New Roman" pitchFamily="18" charset="0"/>
              </a:rPr>
              <a:t>5</a:t>
            </a:r>
            <a:r>
              <a:rPr lang="en-US" altLang="zh-CN" sz="3500" smtClean="0">
                <a:solidFill>
                  <a:schemeClr val="tx1"/>
                </a:solidFill>
              </a:rPr>
              <a:t>.3.3  </a:t>
            </a:r>
            <a:r>
              <a:rPr lang="zh-CN" altLang="en-US" sz="3500" smtClean="0">
                <a:solidFill>
                  <a:schemeClr val="tx1"/>
                </a:solidFill>
              </a:rPr>
              <a:t>控制方式</a:t>
            </a:r>
          </a:p>
        </p:txBody>
      </p:sp>
      <p:sp>
        <p:nvSpPr>
          <p:cNvPr id="51204" name="Rectangle 3"/>
          <p:cNvSpPr>
            <a:spLocks noGrp="1" noChangeArrowheads="1"/>
          </p:cNvSpPr>
          <p:nvPr>
            <p:ph type="body" idx="1"/>
          </p:nvPr>
        </p:nvSpPr>
        <p:spPr>
          <a:xfrm>
            <a:off x="250825" y="1700213"/>
            <a:ext cx="8424863" cy="4518025"/>
          </a:xfrm>
        </p:spPr>
        <p:txBody>
          <a:bodyPr/>
          <a:lstStyle/>
          <a:p>
            <a:pPr eaLnBrk="1" hangingPunct="1"/>
            <a:r>
              <a:rPr lang="zh-CN" altLang="en-US" smtClean="0"/>
              <a:t>机器指令所包含的</a:t>
            </a:r>
            <a:r>
              <a:rPr lang="en-US" altLang="zh-CN" smtClean="0"/>
              <a:t>CPU</a:t>
            </a:r>
            <a:r>
              <a:rPr lang="zh-CN" altLang="en-US" smtClean="0"/>
              <a:t>周期数反映了指令的复杂程度，不同</a:t>
            </a:r>
            <a:r>
              <a:rPr lang="en-US" altLang="zh-CN" smtClean="0"/>
              <a:t>CPU</a:t>
            </a:r>
            <a:r>
              <a:rPr lang="zh-CN" altLang="en-US" smtClean="0"/>
              <a:t>周期的操作信号的数目和出现的先后次序也不相同。</a:t>
            </a:r>
          </a:p>
          <a:p>
            <a:pPr eaLnBrk="1" hangingPunct="1"/>
            <a:r>
              <a:rPr lang="zh-CN" altLang="en-US" smtClean="0"/>
              <a:t>控制方式：控制不同操作序列时序信号的方法。</a:t>
            </a:r>
          </a:p>
          <a:p>
            <a:pPr eaLnBrk="1" hangingPunct="1"/>
            <a:r>
              <a:rPr lang="zh-CN" altLang="en-US" smtClean="0"/>
              <a:t>分为以下几种</a:t>
            </a:r>
            <a:r>
              <a:rPr lang="zh-CN" altLang="en-US" sz="2400" smtClean="0"/>
              <a:t>：</a:t>
            </a:r>
            <a:endParaRPr lang="zh-CN" altLang="en-US" smtClean="0"/>
          </a:p>
          <a:p>
            <a:pPr lvl="1" eaLnBrk="1" hangingPunct="1"/>
            <a:r>
              <a:rPr lang="zh-CN" altLang="en-US" sz="3000" smtClean="0"/>
              <a:t>同步控制方式</a:t>
            </a:r>
          </a:p>
          <a:p>
            <a:pPr lvl="1" eaLnBrk="1" hangingPunct="1"/>
            <a:r>
              <a:rPr lang="zh-CN" altLang="en-US" sz="3000" smtClean="0"/>
              <a:t>异步控制方式</a:t>
            </a:r>
          </a:p>
          <a:p>
            <a:pPr lvl="1" eaLnBrk="1" hangingPunct="1"/>
            <a:r>
              <a:rPr lang="zh-CN" altLang="en-US" sz="3000" smtClean="0"/>
              <a:t>联合控制方式</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p>
            <a:fld id="{B7CCAB71-E93C-485B-B3DC-AF095EFD1527}" type="slidenum">
              <a:rPr lang="en-US" altLang="zh-CN" smtClean="0"/>
              <a:pPr/>
              <a:t>50</a:t>
            </a:fld>
            <a:endParaRPr lang="en-US" altLang="zh-CN" smtClean="0"/>
          </a:p>
        </p:txBody>
      </p:sp>
      <p:sp>
        <p:nvSpPr>
          <p:cNvPr id="52227" name="Rectangle 2"/>
          <p:cNvSpPr>
            <a:spLocks noGrp="1" noChangeArrowheads="1"/>
          </p:cNvSpPr>
          <p:nvPr>
            <p:ph type="title"/>
          </p:nvPr>
        </p:nvSpPr>
        <p:spPr>
          <a:xfrm>
            <a:off x="395288" y="404813"/>
            <a:ext cx="7543800" cy="714375"/>
          </a:xfrm>
        </p:spPr>
        <p:txBody>
          <a:bodyPr/>
          <a:lstStyle/>
          <a:p>
            <a:pPr eaLnBrk="1" hangingPunct="1"/>
            <a:r>
              <a:rPr lang="en-US" altLang="zh-CN" smtClean="0">
                <a:solidFill>
                  <a:schemeClr val="tx1"/>
                </a:solidFill>
                <a:cs typeface="Times New Roman" pitchFamily="18" charset="0"/>
              </a:rPr>
              <a:t>5</a:t>
            </a:r>
            <a:r>
              <a:rPr lang="en-US" altLang="zh-CN" smtClean="0">
                <a:solidFill>
                  <a:schemeClr val="tx1"/>
                </a:solidFill>
              </a:rPr>
              <a:t>.3.3  </a:t>
            </a:r>
            <a:r>
              <a:rPr lang="zh-CN" altLang="en-US" smtClean="0">
                <a:solidFill>
                  <a:schemeClr val="tx1"/>
                </a:solidFill>
              </a:rPr>
              <a:t>控制方式</a:t>
            </a:r>
          </a:p>
        </p:txBody>
      </p:sp>
      <p:sp>
        <p:nvSpPr>
          <p:cNvPr id="52228" name="Rectangle 3"/>
          <p:cNvSpPr>
            <a:spLocks noGrp="1" noChangeArrowheads="1"/>
          </p:cNvSpPr>
          <p:nvPr>
            <p:ph type="body" idx="1"/>
          </p:nvPr>
        </p:nvSpPr>
        <p:spPr>
          <a:xfrm>
            <a:off x="250825" y="1766203"/>
            <a:ext cx="8536017" cy="4091690"/>
          </a:xfrm>
        </p:spPr>
        <p:txBody>
          <a:bodyPr/>
          <a:lstStyle/>
          <a:p>
            <a:pPr eaLnBrk="1" hangingPunct="1">
              <a:lnSpc>
                <a:spcPct val="150000"/>
              </a:lnSpc>
              <a:spcBef>
                <a:spcPts val="0"/>
              </a:spcBef>
            </a:pPr>
            <a:r>
              <a:rPr lang="zh-CN" altLang="en-US" sz="2800" dirty="0" smtClean="0">
                <a:latin typeface="宋体" pitchFamily="2" charset="-122"/>
              </a:rPr>
              <a:t>同步控制方式（指令的机器周期和时钟周期数不变）</a:t>
            </a:r>
          </a:p>
          <a:p>
            <a:pPr lvl="1" eaLnBrk="1" hangingPunct="1">
              <a:lnSpc>
                <a:spcPct val="150000"/>
              </a:lnSpc>
              <a:spcBef>
                <a:spcPts val="0"/>
              </a:spcBef>
            </a:pPr>
            <a:r>
              <a:rPr lang="zh-CN" altLang="en-US" sz="2800" dirty="0" smtClean="0">
                <a:latin typeface="宋体" pitchFamily="2" charset="-122"/>
              </a:rPr>
              <a:t>完全统一的机器周期执行各种不同的指令</a:t>
            </a:r>
          </a:p>
          <a:p>
            <a:pPr lvl="1" eaLnBrk="1" hangingPunct="1">
              <a:lnSpc>
                <a:spcPct val="150000"/>
              </a:lnSpc>
              <a:spcBef>
                <a:spcPts val="0"/>
              </a:spcBef>
            </a:pPr>
            <a:r>
              <a:rPr lang="zh-CN" altLang="en-US" sz="2800" dirty="0" smtClean="0">
                <a:latin typeface="宋体" pitchFamily="2" charset="-122"/>
              </a:rPr>
              <a:t>采用不定长机器周期（大部分较短机器周期，特殊操作延长机器周期）</a:t>
            </a:r>
          </a:p>
          <a:p>
            <a:pPr lvl="1" eaLnBrk="1" hangingPunct="1">
              <a:lnSpc>
                <a:spcPct val="150000"/>
              </a:lnSpc>
              <a:spcBef>
                <a:spcPts val="0"/>
              </a:spcBef>
            </a:pPr>
            <a:r>
              <a:rPr lang="zh-CN" altLang="en-US" sz="2800" dirty="0" smtClean="0">
                <a:latin typeface="宋体" pitchFamily="2" charset="-122"/>
              </a:rPr>
              <a:t>中央控制与局部控制的结合（大部分固定机器周期，少数复杂指令采用另外时序）</a:t>
            </a:r>
          </a:p>
        </p:txBody>
      </p:sp>
      <p:pic>
        <p:nvPicPr>
          <p:cNvPr id="27750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 y="494814"/>
            <a:ext cx="9055894" cy="2621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75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332656"/>
            <a:ext cx="8568952" cy="4170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751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3145558"/>
            <a:ext cx="8331849" cy="2803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11"/>
                                        </p:tgtEl>
                                        <p:attrNameLst>
                                          <p:attrName>style.visibility</p:attrName>
                                        </p:attrNameLst>
                                      </p:cBhvr>
                                      <p:to>
                                        <p:strVal val="visible"/>
                                      </p:to>
                                    </p:set>
                                  </p:childTnLst>
                                  <p:subTnLst>
                                    <p:set>
                                      <p:cBhvr override="childStyle">
                                        <p:cTn dur="1" fill="hold" display="0" masterRel="nextClick" afterEffect="1"/>
                                        <p:tgtEl>
                                          <p:spTgt spid="27751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509"/>
                                        </p:tgtEl>
                                        <p:attrNameLst>
                                          <p:attrName>style.visibility</p:attrName>
                                        </p:attrNameLst>
                                      </p:cBhvr>
                                      <p:to>
                                        <p:strVal val="visible"/>
                                      </p:to>
                                    </p:set>
                                  </p:childTnLst>
                                  <p:subTnLst>
                                    <p:set>
                                      <p:cBhvr override="childStyle">
                                        <p:cTn dur="1" fill="hold" display="0" masterRel="nextClick" afterEffect="1"/>
                                        <p:tgtEl>
                                          <p:spTgt spid="27750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p>
            <a:fld id="{797B6660-F68E-4613-B9C9-EBFD1172A782}" type="slidenum">
              <a:rPr lang="en-US" altLang="zh-CN" smtClean="0"/>
              <a:pPr/>
              <a:t>51</a:t>
            </a:fld>
            <a:endParaRPr lang="en-US" altLang="zh-CN" smtClean="0"/>
          </a:p>
        </p:txBody>
      </p:sp>
      <p:sp>
        <p:nvSpPr>
          <p:cNvPr id="53251" name="Rectangle 1028"/>
          <p:cNvSpPr>
            <a:spLocks noChangeArrowheads="1"/>
          </p:cNvSpPr>
          <p:nvPr/>
        </p:nvSpPr>
        <p:spPr bwMode="auto">
          <a:xfrm>
            <a:off x="214282" y="928670"/>
            <a:ext cx="8536017" cy="5643602"/>
          </a:xfrm>
          <a:prstGeom prst="rect">
            <a:avLst/>
          </a:prstGeom>
          <a:noFill/>
          <a:ln w="9525">
            <a:noFill/>
            <a:miter lim="800000"/>
            <a:headEnd/>
            <a:tailEnd/>
          </a:ln>
        </p:spPr>
        <p:txBody>
          <a:bodyPr/>
          <a:lstStyle/>
          <a:p>
            <a:pPr marL="342900" indent="-342900">
              <a:lnSpc>
                <a:spcPct val="130000"/>
              </a:lnSpc>
              <a:spcBef>
                <a:spcPts val="0"/>
              </a:spcBef>
              <a:buClr>
                <a:schemeClr val="tx2"/>
              </a:buClr>
              <a:buSzPct val="70000"/>
              <a:buFont typeface="Wingdings" pitchFamily="2" charset="2"/>
              <a:buChar char="l"/>
            </a:pPr>
            <a:r>
              <a:rPr lang="zh-CN" altLang="en-US" sz="2800" b="0" dirty="0">
                <a:solidFill>
                  <a:schemeClr val="tx1"/>
                </a:solidFill>
                <a:latin typeface="宋体" pitchFamily="2" charset="-122"/>
              </a:rPr>
              <a:t>异步控制方式</a:t>
            </a:r>
          </a:p>
          <a:p>
            <a:pPr marL="342900" indent="-342900">
              <a:lnSpc>
                <a:spcPct val="130000"/>
              </a:lnSpc>
              <a:spcBef>
                <a:spcPts val="0"/>
              </a:spcBef>
              <a:buClr>
                <a:schemeClr val="tx2"/>
              </a:buClr>
              <a:buSzPct val="70000"/>
              <a:buFont typeface="Wingdings" pitchFamily="2" charset="2"/>
              <a:buNone/>
            </a:pPr>
            <a:r>
              <a:rPr lang="zh-CN" altLang="en-US" sz="2800" b="0" dirty="0">
                <a:solidFill>
                  <a:schemeClr val="tx1"/>
                </a:solidFill>
                <a:latin typeface="宋体" pitchFamily="2" charset="-122"/>
              </a:rPr>
              <a:t>      每条指令、每个操作控制信号需要多少时间就占用多少时间。这意味着每条指令的指令周期可由多少不等的机器周期数组成；也可以是当控制器发出某一操作控制信号后，等待执行部件完成操作后发“回答”信号，再开始新的操作。显然，用这种方式形成的操作控制序列没有固定的</a:t>
            </a:r>
            <a:r>
              <a:rPr lang="en-US" altLang="zh-CN" sz="2800" b="0" dirty="0">
                <a:solidFill>
                  <a:schemeClr val="tx1"/>
                </a:solidFill>
                <a:latin typeface="宋体" pitchFamily="2" charset="-122"/>
              </a:rPr>
              <a:t>CPU</a:t>
            </a:r>
            <a:r>
              <a:rPr lang="zh-CN" altLang="en-US" sz="2800" b="0" dirty="0">
                <a:solidFill>
                  <a:schemeClr val="tx1"/>
                </a:solidFill>
                <a:latin typeface="宋体" pitchFamily="2" charset="-122"/>
              </a:rPr>
              <a:t>周期数</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节拍电位</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或严格的时钟周期</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节拍脉冲</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与之同步。异步控制采用不同时序，没有时间上的浪费，因而提高了机器的效率，但是控制比较复杂。</a:t>
            </a:r>
            <a:endParaRPr lang="zh-CN" altLang="en-US" sz="2800" b="0" dirty="0">
              <a:solidFill>
                <a:schemeClr val="tx1"/>
              </a:solidFill>
            </a:endParaRPr>
          </a:p>
        </p:txBody>
      </p:sp>
      <p:sp>
        <p:nvSpPr>
          <p:cNvPr id="53252" name="Rectangle 1029"/>
          <p:cNvSpPr>
            <a:spLocks noChangeArrowheads="1"/>
          </p:cNvSpPr>
          <p:nvPr/>
        </p:nvSpPr>
        <p:spPr bwMode="auto">
          <a:xfrm>
            <a:off x="357158" y="214290"/>
            <a:ext cx="7543800" cy="642938"/>
          </a:xfrm>
          <a:prstGeom prst="rect">
            <a:avLst/>
          </a:prstGeom>
          <a:noFill/>
          <a:ln w="9525">
            <a:noFill/>
            <a:miter lim="800000"/>
            <a:headEnd/>
            <a:tailEnd/>
          </a:ln>
        </p:spPr>
        <p:txBody>
          <a:bodyPr anchor="b"/>
          <a:lstStyle/>
          <a:p>
            <a:r>
              <a:rPr lang="en-US" altLang="zh-CN" sz="3500" dirty="0">
                <a:solidFill>
                  <a:schemeClr val="tx1"/>
                </a:solidFill>
                <a:cs typeface="Times New Roman" pitchFamily="18" charset="0"/>
              </a:rPr>
              <a:t>5</a:t>
            </a:r>
            <a:r>
              <a:rPr lang="en-US" altLang="zh-CN" sz="3500" dirty="0">
                <a:solidFill>
                  <a:schemeClr val="tx1"/>
                </a:solidFill>
              </a:rPr>
              <a:t>.3.3  </a:t>
            </a:r>
            <a:r>
              <a:rPr lang="zh-CN" altLang="en-US" sz="3500" dirty="0">
                <a:solidFill>
                  <a:schemeClr val="tx1"/>
                </a:solidFill>
              </a:rPr>
              <a:t>控制方式</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p:spPr>
        <p:txBody>
          <a:bodyPr/>
          <a:lstStyle/>
          <a:p>
            <a:fld id="{BF8C3DDB-6A56-489D-91C6-C095707FC48A}" type="slidenum">
              <a:rPr lang="en-US" altLang="zh-CN" smtClean="0"/>
              <a:pPr/>
              <a:t>52</a:t>
            </a:fld>
            <a:endParaRPr lang="en-US" altLang="zh-CN" smtClean="0"/>
          </a:p>
        </p:txBody>
      </p:sp>
      <p:sp>
        <p:nvSpPr>
          <p:cNvPr id="54275" name="Rectangle 4"/>
          <p:cNvSpPr>
            <a:spLocks noChangeArrowheads="1"/>
          </p:cNvSpPr>
          <p:nvPr/>
        </p:nvSpPr>
        <p:spPr bwMode="auto">
          <a:xfrm>
            <a:off x="163737" y="213166"/>
            <a:ext cx="7777163" cy="6287668"/>
          </a:xfrm>
          <a:prstGeom prst="rect">
            <a:avLst/>
          </a:prstGeom>
          <a:noFill/>
          <a:ln w="9525">
            <a:noFill/>
            <a:miter lim="800000"/>
            <a:headEnd/>
            <a:tailEnd/>
          </a:ln>
        </p:spPr>
        <p:txBody>
          <a:bodyPr/>
          <a:lstStyle/>
          <a:p>
            <a:pPr marL="342900" indent="-342900">
              <a:lnSpc>
                <a:spcPct val="120000"/>
              </a:lnSpc>
              <a:spcBef>
                <a:spcPts val="0"/>
              </a:spcBef>
              <a:buClr>
                <a:schemeClr val="tx2"/>
              </a:buClr>
              <a:buSzPct val="70000"/>
              <a:buFont typeface="Wingdings" pitchFamily="2" charset="2"/>
              <a:buChar char="l"/>
            </a:pPr>
            <a:r>
              <a:rPr lang="zh-CN" altLang="en-US" sz="2800" dirty="0">
                <a:solidFill>
                  <a:schemeClr val="tx1"/>
                </a:solidFill>
              </a:rPr>
              <a:t>联合控制方式 </a:t>
            </a:r>
            <a:endParaRPr lang="zh-CN" altLang="en-US" sz="2800" b="0" dirty="0">
              <a:solidFill>
                <a:schemeClr val="tx1"/>
              </a:solidFill>
            </a:endParaRPr>
          </a:p>
          <a:p>
            <a:pPr marL="342900" indent="-342900">
              <a:lnSpc>
                <a:spcPct val="120000"/>
              </a:lnSpc>
              <a:spcBef>
                <a:spcPts val="0"/>
              </a:spcBef>
              <a:buClr>
                <a:schemeClr val="tx2"/>
              </a:buClr>
              <a:buSzPct val="70000"/>
              <a:buFont typeface="Wingdings" pitchFamily="2" charset="2"/>
              <a:buNone/>
            </a:pPr>
            <a:r>
              <a:rPr lang="zh-CN" altLang="en-US" sz="2800" b="0" dirty="0">
                <a:solidFill>
                  <a:schemeClr val="tx1"/>
                </a:solidFill>
              </a:rPr>
              <a:t>           同步控制和异步控制相结合的方式。实际上现代计算机中几乎没有完全采用同步或完全采用异步的控制方式，大多数是采用联合控制方式。通常的设计思想是：在功能部件内部采用同步方式或以同步方式为主的控制方式，在功能部件之间采用异步方式。</a:t>
            </a:r>
            <a:endParaRPr lang="zh-CN" altLang="en-US" sz="2800" dirty="0">
              <a:solidFill>
                <a:schemeClr val="tx1"/>
              </a:solidFill>
            </a:endParaRPr>
          </a:p>
          <a:p>
            <a:pPr marL="342900" indent="-342900">
              <a:lnSpc>
                <a:spcPct val="120000"/>
              </a:lnSpc>
              <a:spcBef>
                <a:spcPts val="0"/>
              </a:spcBef>
              <a:buClr>
                <a:schemeClr val="tx2"/>
              </a:buClr>
              <a:buSzPct val="70000"/>
              <a:buFont typeface="Wingdings" pitchFamily="2" charset="2"/>
              <a:buNone/>
            </a:pPr>
            <a:r>
              <a:rPr lang="zh-CN" altLang="en-US" sz="2800" dirty="0">
                <a:solidFill>
                  <a:schemeClr val="tx1"/>
                </a:solidFill>
              </a:rPr>
              <a:t>         </a:t>
            </a:r>
            <a:r>
              <a:rPr lang="zh-CN" altLang="en-US" sz="2800" dirty="0">
                <a:solidFill>
                  <a:schemeClr val="tx1"/>
                </a:solidFill>
                <a:latin typeface="宋体" pitchFamily="2" charset="-122"/>
              </a:rPr>
              <a:t>情况（</a:t>
            </a:r>
            <a:r>
              <a:rPr lang="en-US" altLang="zh-CN" sz="2800" dirty="0">
                <a:solidFill>
                  <a:schemeClr val="tx1"/>
                </a:solidFill>
                <a:latin typeface="宋体" pitchFamily="2" charset="-122"/>
              </a:rPr>
              <a:t>1</a:t>
            </a:r>
            <a:r>
              <a:rPr lang="zh-CN" altLang="en-US" sz="2800" dirty="0">
                <a:solidFill>
                  <a:schemeClr val="tx1"/>
                </a:solidFill>
                <a:latin typeface="宋体" pitchFamily="2" charset="-122"/>
              </a:rPr>
              <a:t>）</a:t>
            </a:r>
            <a:r>
              <a:rPr lang="zh-CN" altLang="en-US" sz="2800" b="0" dirty="0">
                <a:solidFill>
                  <a:schemeClr val="tx1"/>
                </a:solidFill>
                <a:latin typeface="宋体" pitchFamily="2" charset="-122"/>
              </a:rPr>
              <a:t>大部分操作序列安排在固定的机器周期中，对某些时间难以确定的操作则以执行部件的“回答”信号作为本次操作的结束；</a:t>
            </a:r>
            <a:endParaRPr lang="zh-CN" altLang="en-US" sz="2800" dirty="0">
              <a:solidFill>
                <a:schemeClr val="tx1"/>
              </a:solidFill>
              <a:latin typeface="宋体" pitchFamily="2" charset="-122"/>
            </a:endParaRPr>
          </a:p>
          <a:p>
            <a:pPr marL="342900" indent="-342900">
              <a:lnSpc>
                <a:spcPct val="120000"/>
              </a:lnSpc>
              <a:spcBef>
                <a:spcPts val="0"/>
              </a:spcBef>
              <a:buClr>
                <a:schemeClr val="tx2"/>
              </a:buClr>
              <a:buSzPct val="70000"/>
              <a:buFont typeface="Wingdings" pitchFamily="2" charset="2"/>
              <a:buNone/>
            </a:pPr>
            <a:r>
              <a:rPr lang="zh-CN" altLang="en-US" sz="2800" dirty="0">
                <a:solidFill>
                  <a:schemeClr val="tx1"/>
                </a:solidFill>
                <a:latin typeface="宋体" pitchFamily="2" charset="-122"/>
              </a:rPr>
              <a:t>      情况（</a:t>
            </a:r>
            <a:r>
              <a:rPr lang="en-US" altLang="zh-CN" sz="2800" dirty="0">
                <a:solidFill>
                  <a:schemeClr val="tx1"/>
                </a:solidFill>
                <a:latin typeface="宋体" pitchFamily="2" charset="-122"/>
              </a:rPr>
              <a:t>2</a:t>
            </a:r>
            <a:r>
              <a:rPr lang="zh-CN" altLang="en-US" sz="2800" dirty="0">
                <a:solidFill>
                  <a:schemeClr val="tx1"/>
                </a:solidFill>
                <a:latin typeface="宋体" pitchFamily="2" charset="-122"/>
              </a:rPr>
              <a:t>）</a:t>
            </a:r>
            <a:r>
              <a:rPr lang="zh-CN" altLang="en-US" sz="2800" b="0" dirty="0">
                <a:solidFill>
                  <a:schemeClr val="tx1"/>
                </a:solidFill>
                <a:latin typeface="宋体" pitchFamily="2" charset="-122"/>
              </a:rPr>
              <a:t> 机器周期的节拍脉冲数固定，但是各条指令周期的机器周期数不固定。</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p>
            <a:fld id="{18B63A56-438D-4A6B-B6EE-4FED9FEB347D}" type="slidenum">
              <a:rPr lang="en-US" altLang="zh-CN" smtClean="0"/>
              <a:pPr/>
              <a:t>53</a:t>
            </a:fld>
            <a:endParaRPr lang="en-US" altLang="zh-CN" smtClean="0"/>
          </a:p>
        </p:txBody>
      </p:sp>
      <p:sp>
        <p:nvSpPr>
          <p:cNvPr id="55299" name="Rectangle 2"/>
          <p:cNvSpPr>
            <a:spLocks noGrp="1" noChangeArrowheads="1"/>
          </p:cNvSpPr>
          <p:nvPr>
            <p:ph type="title"/>
          </p:nvPr>
        </p:nvSpPr>
        <p:spPr>
          <a:xfrm>
            <a:off x="395288" y="115888"/>
            <a:ext cx="7543800" cy="649287"/>
          </a:xfrm>
        </p:spPr>
        <p:txBody>
          <a:bodyPr/>
          <a:lstStyle/>
          <a:p>
            <a:pPr eaLnBrk="1" hangingPunct="1"/>
            <a:r>
              <a:rPr lang="en-US" altLang="zh-CN" sz="3500" smtClean="0">
                <a:solidFill>
                  <a:schemeClr val="tx1"/>
                </a:solidFill>
                <a:cs typeface="Times New Roman" pitchFamily="18" charset="0"/>
              </a:rPr>
              <a:t>5</a:t>
            </a:r>
            <a:r>
              <a:rPr lang="en-US" altLang="zh-CN" sz="3500" smtClean="0">
                <a:solidFill>
                  <a:schemeClr val="tx1"/>
                </a:solidFill>
              </a:rPr>
              <a:t>.4  </a:t>
            </a:r>
            <a:r>
              <a:rPr lang="zh-CN" altLang="en-US" sz="3500" smtClean="0">
                <a:solidFill>
                  <a:schemeClr val="tx1"/>
                </a:solidFill>
              </a:rPr>
              <a:t>微程序控制器</a:t>
            </a:r>
          </a:p>
        </p:txBody>
      </p:sp>
      <p:sp>
        <p:nvSpPr>
          <p:cNvPr id="55300" name="Rectangle 3"/>
          <p:cNvSpPr>
            <a:spLocks noGrp="1" noChangeArrowheads="1"/>
          </p:cNvSpPr>
          <p:nvPr>
            <p:ph type="body" idx="1"/>
          </p:nvPr>
        </p:nvSpPr>
        <p:spPr>
          <a:xfrm>
            <a:off x="395288" y="1196975"/>
            <a:ext cx="7848600" cy="4537075"/>
          </a:xfrm>
        </p:spPr>
        <p:txBody>
          <a:bodyPr/>
          <a:lstStyle/>
          <a:p>
            <a:pPr eaLnBrk="1" hangingPunct="1">
              <a:lnSpc>
                <a:spcPct val="80000"/>
              </a:lnSpc>
            </a:pPr>
            <a:r>
              <a:rPr lang="zh-CN" altLang="en-US" sz="2800" smtClean="0">
                <a:latin typeface="宋体" pitchFamily="2" charset="-122"/>
              </a:rPr>
              <a:t>发展</a:t>
            </a:r>
          </a:p>
          <a:p>
            <a:pPr lvl="1" eaLnBrk="1" hangingPunct="1">
              <a:lnSpc>
                <a:spcPct val="80000"/>
              </a:lnSpc>
            </a:pPr>
            <a:r>
              <a:rPr lang="zh-CN" altLang="en-US" sz="2800" smtClean="0">
                <a:latin typeface="宋体" pitchFamily="2" charset="-122"/>
              </a:rPr>
              <a:t>微程序的概念和原理是由英国剑桥大学的</a:t>
            </a:r>
            <a:r>
              <a:rPr lang="en-US" altLang="zh-CN" sz="2800" smtClean="0">
                <a:latin typeface="宋体" pitchFamily="2" charset="-122"/>
              </a:rPr>
              <a:t>M·V·Wilkes</a:t>
            </a:r>
            <a:r>
              <a:rPr lang="zh-CN" altLang="en-US" sz="2800" smtClean="0">
                <a:latin typeface="宋体" pitchFamily="2" charset="-122"/>
              </a:rPr>
              <a:t>教授于</a:t>
            </a:r>
            <a:r>
              <a:rPr lang="en-US" altLang="zh-CN" sz="2800" smtClean="0">
                <a:latin typeface="宋体" pitchFamily="2" charset="-122"/>
              </a:rPr>
              <a:t>1951</a:t>
            </a:r>
            <a:r>
              <a:rPr lang="zh-CN" altLang="en-US" sz="2800" smtClean="0">
                <a:latin typeface="宋体" pitchFamily="2" charset="-122"/>
              </a:rPr>
              <a:t>年在曼彻斯特大学计算机会议上首先提出来的，当时还没有合适的存放微程序的控制存储器的元件。</a:t>
            </a:r>
          </a:p>
          <a:p>
            <a:pPr lvl="1" eaLnBrk="1" hangingPunct="1">
              <a:lnSpc>
                <a:spcPct val="80000"/>
              </a:lnSpc>
            </a:pPr>
            <a:r>
              <a:rPr lang="zh-CN" altLang="en-US" sz="2800" smtClean="0">
                <a:latin typeface="宋体" pitchFamily="2" charset="-122"/>
              </a:rPr>
              <a:t>到</a:t>
            </a:r>
            <a:r>
              <a:rPr lang="en-US" altLang="zh-CN" sz="2800" smtClean="0">
                <a:latin typeface="宋体" pitchFamily="2" charset="-122"/>
              </a:rPr>
              <a:t>1964</a:t>
            </a:r>
            <a:r>
              <a:rPr lang="zh-CN" altLang="en-US" sz="2800" smtClean="0">
                <a:latin typeface="宋体" pitchFamily="2" charset="-122"/>
              </a:rPr>
              <a:t>年，</a:t>
            </a:r>
            <a:r>
              <a:rPr lang="en-US" altLang="zh-CN" sz="2800" smtClean="0">
                <a:latin typeface="宋体" pitchFamily="2" charset="-122"/>
              </a:rPr>
              <a:t>IBM</a:t>
            </a:r>
            <a:r>
              <a:rPr lang="zh-CN" altLang="en-US" sz="2800" smtClean="0">
                <a:latin typeface="宋体" pitchFamily="2" charset="-122"/>
              </a:rPr>
              <a:t>公司在</a:t>
            </a:r>
            <a:r>
              <a:rPr lang="en-US" altLang="zh-CN" sz="2800" smtClean="0">
                <a:latin typeface="宋体" pitchFamily="2" charset="-122"/>
              </a:rPr>
              <a:t>IBM 360</a:t>
            </a:r>
            <a:r>
              <a:rPr lang="zh-CN" altLang="en-US" sz="2800" smtClean="0">
                <a:latin typeface="宋体" pitchFamily="2" charset="-122"/>
              </a:rPr>
              <a:t>系列机上成功地采用了微程序设计技术。</a:t>
            </a:r>
          </a:p>
          <a:p>
            <a:pPr lvl="1" eaLnBrk="1" hangingPunct="1">
              <a:lnSpc>
                <a:spcPct val="80000"/>
              </a:lnSpc>
            </a:pPr>
            <a:r>
              <a:rPr lang="en-US" altLang="zh-CN" sz="2800" smtClean="0">
                <a:latin typeface="宋体" pitchFamily="2" charset="-122"/>
              </a:rPr>
              <a:t>20</a:t>
            </a:r>
            <a:r>
              <a:rPr lang="zh-CN" altLang="en-US" sz="2800" smtClean="0">
                <a:latin typeface="宋体" pitchFamily="2" charset="-122"/>
              </a:rPr>
              <a:t>世纪</a:t>
            </a:r>
            <a:r>
              <a:rPr lang="en-US" altLang="zh-CN" sz="2800" smtClean="0">
                <a:latin typeface="宋体" pitchFamily="2" charset="-122"/>
              </a:rPr>
              <a:t>70</a:t>
            </a:r>
            <a:r>
              <a:rPr lang="zh-CN" altLang="en-US" sz="2800" smtClean="0">
                <a:latin typeface="宋体" pitchFamily="2" charset="-122"/>
              </a:rPr>
              <a:t>年代以来，由于</a:t>
            </a:r>
            <a:r>
              <a:rPr lang="en-US" altLang="zh-CN" sz="2800" smtClean="0">
                <a:latin typeface="宋体" pitchFamily="2" charset="-122"/>
              </a:rPr>
              <a:t>VLSI</a:t>
            </a:r>
            <a:r>
              <a:rPr lang="zh-CN" altLang="en-US" sz="2800" smtClean="0">
                <a:latin typeface="宋体" pitchFamily="2" charset="-122"/>
              </a:rPr>
              <a:t>技术的发展，推动了微程序设计技术的发展和应用。</a:t>
            </a:r>
          </a:p>
          <a:p>
            <a:pPr lvl="1" eaLnBrk="1" hangingPunct="1">
              <a:lnSpc>
                <a:spcPct val="80000"/>
              </a:lnSpc>
            </a:pPr>
            <a:r>
              <a:rPr lang="zh-CN" altLang="en-US" sz="2800" smtClean="0">
                <a:latin typeface="宋体" pitchFamily="2" charset="-122"/>
              </a:rPr>
              <a:t>目前，从大型机到小型机、微型机都普遍采用了微程序设计技术。</a:t>
            </a:r>
            <a:endParaRPr lang="zh-CN" altLang="en-US" sz="280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p>
            <a:fld id="{AF517609-C731-43A5-8B54-954BBCE2CCD2}" type="slidenum">
              <a:rPr lang="en-US" altLang="zh-CN" smtClean="0"/>
              <a:pPr/>
              <a:t>54</a:t>
            </a:fld>
            <a:endParaRPr lang="en-US" altLang="zh-CN" smtClean="0"/>
          </a:p>
        </p:txBody>
      </p:sp>
      <p:sp>
        <p:nvSpPr>
          <p:cNvPr id="56323" name="Rectangle 4"/>
          <p:cNvSpPr>
            <a:spLocks noChangeArrowheads="1"/>
          </p:cNvSpPr>
          <p:nvPr/>
        </p:nvSpPr>
        <p:spPr bwMode="auto">
          <a:xfrm>
            <a:off x="323850" y="333375"/>
            <a:ext cx="7561263" cy="6038850"/>
          </a:xfrm>
          <a:prstGeom prst="rect">
            <a:avLst/>
          </a:prstGeom>
          <a:noFill/>
          <a:ln w="12700" cap="sq">
            <a:noFill/>
            <a:miter lim="800000"/>
            <a:headEnd type="none" w="sm" len="sm"/>
            <a:tailEnd type="none" w="sm" len="sm"/>
          </a:ln>
        </p:spPr>
        <p:txBody>
          <a:bodyPr anchor="ctr">
            <a:spAutoFit/>
          </a:bodyPr>
          <a:lstStyle/>
          <a:p>
            <a:pPr lvl="1" algn="ctr"/>
            <a:endParaRPr lang="en-US" altLang="zh-CN" b="0">
              <a:solidFill>
                <a:schemeClr val="tx1"/>
              </a:solidFill>
            </a:endParaRPr>
          </a:p>
          <a:p>
            <a:pPr>
              <a:buFontTx/>
              <a:buChar char="•"/>
            </a:pPr>
            <a:r>
              <a:rPr lang="en-US" altLang="zh-CN" sz="3200" b="0">
                <a:solidFill>
                  <a:schemeClr val="tx1"/>
                </a:solidFill>
                <a:latin typeface="宋体" pitchFamily="2" charset="-122"/>
              </a:rPr>
              <a:t> </a:t>
            </a:r>
            <a:r>
              <a:rPr lang="zh-CN" altLang="en-US" sz="3200" b="0">
                <a:solidFill>
                  <a:schemeClr val="tx1"/>
                </a:solidFill>
                <a:latin typeface="宋体" pitchFamily="2" charset="-122"/>
              </a:rPr>
              <a:t>基本思想</a:t>
            </a:r>
          </a:p>
          <a:p>
            <a:r>
              <a:rPr lang="zh-CN" altLang="en-US" sz="2800" b="0">
                <a:solidFill>
                  <a:schemeClr val="tx1"/>
                </a:solidFill>
                <a:latin typeface="宋体" pitchFamily="2" charset="-122"/>
              </a:rPr>
              <a:t>    仿照解题的方法，把操作控制信号编制成微指令，存放到控制存储器里，运行时，从控存中取出微指令，产生指令运行所需的操作控制信号。从上述可以看出，微程序设计技术是用软件方法来设计硬件的技术。</a:t>
            </a:r>
          </a:p>
          <a:p>
            <a:pPr eaLnBrk="0" hangingPunct="0">
              <a:buFontTx/>
              <a:buChar char="•"/>
            </a:pPr>
            <a:r>
              <a:rPr lang="zh-CN" altLang="en-US" sz="3200" b="0">
                <a:solidFill>
                  <a:schemeClr val="tx1"/>
                </a:solidFill>
                <a:latin typeface="宋体" pitchFamily="2" charset="-122"/>
              </a:rPr>
              <a:t> 微控制器</a:t>
            </a:r>
          </a:p>
          <a:p>
            <a:pPr eaLnBrk="0" hangingPunct="0"/>
            <a:r>
              <a:rPr lang="zh-CN" altLang="en-US" sz="2800" b="0">
                <a:solidFill>
                  <a:schemeClr val="tx1"/>
                </a:solidFill>
                <a:latin typeface="宋体" pitchFamily="2" charset="-122"/>
              </a:rPr>
              <a:t>    就是把微操作信号代码化，使每条机器指令转化成为一段微程序并存入一个专门的存储器（控制存储器）中，微操作控制信号由微指令产生。微程序控制器具有设计规整、调试、维修以及更改、扩充指令方便的优点，易于实现自动化设计，已成为当前控制器的主流。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78CD1EDA-42CE-4A20-B040-906CDFEF8501}" type="slidenum">
              <a:rPr lang="en-US" altLang="zh-CN" smtClean="0"/>
              <a:pPr/>
              <a:t>55</a:t>
            </a:fld>
            <a:endParaRPr lang="en-US" altLang="zh-CN" smtClean="0"/>
          </a:p>
        </p:txBody>
      </p:sp>
      <p:sp>
        <p:nvSpPr>
          <p:cNvPr id="57347" name="Rectangle 2"/>
          <p:cNvSpPr>
            <a:spLocks noGrp="1" noChangeArrowheads="1"/>
          </p:cNvSpPr>
          <p:nvPr>
            <p:ph type="title"/>
          </p:nvPr>
        </p:nvSpPr>
        <p:spPr>
          <a:xfrm>
            <a:off x="323850" y="188913"/>
            <a:ext cx="7543800" cy="1008062"/>
          </a:xfrm>
        </p:spPr>
        <p:txBody>
          <a:bodyPr/>
          <a:lstStyle/>
          <a:p>
            <a:pPr eaLnBrk="1" hangingPunct="1"/>
            <a:r>
              <a:rPr lang="en-US" altLang="zh-CN" sz="3500" smtClean="0">
                <a:cs typeface="Times New Roman" pitchFamily="18" charset="0"/>
              </a:rPr>
              <a:t>5</a:t>
            </a:r>
            <a:r>
              <a:rPr lang="en-US" altLang="zh-CN" sz="3500" smtClean="0"/>
              <a:t>.4.1 </a:t>
            </a:r>
            <a:r>
              <a:rPr lang="zh-CN" altLang="en-US" sz="3500" b="0" smtClean="0"/>
              <a:t>微程序控制原理</a:t>
            </a:r>
            <a:br>
              <a:rPr lang="zh-CN" altLang="en-US" sz="3500" b="0" smtClean="0"/>
            </a:br>
            <a:r>
              <a:rPr lang="en-US" altLang="zh-CN" sz="2800" b="0" smtClean="0">
                <a:latin typeface="宋体" pitchFamily="2" charset="-122"/>
              </a:rPr>
              <a:t>1. </a:t>
            </a:r>
            <a:r>
              <a:rPr lang="zh-CN" altLang="en-US" sz="2800" smtClean="0">
                <a:latin typeface="宋体" pitchFamily="2" charset="-122"/>
              </a:rPr>
              <a:t>微命令和微操作</a:t>
            </a:r>
          </a:p>
        </p:txBody>
      </p:sp>
      <p:sp>
        <p:nvSpPr>
          <p:cNvPr id="57348" name="Rectangle 3"/>
          <p:cNvSpPr>
            <a:spLocks noGrp="1" noChangeArrowheads="1"/>
          </p:cNvSpPr>
          <p:nvPr>
            <p:ph type="body" idx="1"/>
          </p:nvPr>
        </p:nvSpPr>
        <p:spPr>
          <a:xfrm>
            <a:off x="323850" y="1196975"/>
            <a:ext cx="7705725" cy="4968875"/>
          </a:xfrm>
        </p:spPr>
        <p:txBody>
          <a:bodyPr/>
          <a:lstStyle/>
          <a:p>
            <a:pPr marL="571500" indent="-571500" eaLnBrk="1" hangingPunct="1">
              <a:lnSpc>
                <a:spcPct val="90000"/>
              </a:lnSpc>
            </a:pPr>
            <a:r>
              <a:rPr lang="zh-CN" altLang="en-US" sz="2400" smtClean="0"/>
              <a:t>微命令：控制部件向执行部件发出的各种控制命令叫作微命令，它是构成控制序列的最小单位。</a:t>
            </a:r>
          </a:p>
          <a:p>
            <a:pPr marL="839788" lvl="1" indent="-495300" eaLnBrk="1" hangingPunct="1">
              <a:lnSpc>
                <a:spcPct val="90000"/>
              </a:lnSpc>
            </a:pPr>
            <a:r>
              <a:rPr lang="zh-CN" altLang="en-US" sz="2400" smtClean="0"/>
              <a:t>例如：打开或关闭某个控制门的电位信号、某个寄存器的打入脉冲等。</a:t>
            </a:r>
          </a:p>
          <a:p>
            <a:pPr marL="839788" lvl="1" indent="-495300" eaLnBrk="1" hangingPunct="1">
              <a:lnSpc>
                <a:spcPct val="90000"/>
              </a:lnSpc>
            </a:pPr>
            <a:r>
              <a:rPr lang="zh-CN" altLang="en-US" sz="2400" smtClean="0"/>
              <a:t>微命令是控制计算机各部件完成某个基本微操作的命令。</a:t>
            </a:r>
          </a:p>
          <a:p>
            <a:pPr marL="571500" indent="-571500" eaLnBrk="1" hangingPunct="1">
              <a:lnSpc>
                <a:spcPct val="90000"/>
              </a:lnSpc>
            </a:pPr>
            <a:r>
              <a:rPr lang="zh-CN" altLang="en-US" sz="2400" smtClean="0"/>
              <a:t>微操作：是微命令的操作过程。</a:t>
            </a:r>
          </a:p>
          <a:p>
            <a:pPr marL="839788" lvl="1" indent="-495300" eaLnBrk="1" hangingPunct="1">
              <a:lnSpc>
                <a:spcPct val="90000"/>
              </a:lnSpc>
            </a:pPr>
            <a:r>
              <a:rPr lang="zh-CN" altLang="en-US" sz="2400" smtClean="0"/>
              <a:t>微命令和微操作是一一对应的。</a:t>
            </a:r>
          </a:p>
          <a:p>
            <a:pPr marL="839788" lvl="1" indent="-495300" eaLnBrk="1" hangingPunct="1">
              <a:lnSpc>
                <a:spcPct val="90000"/>
              </a:lnSpc>
            </a:pPr>
            <a:r>
              <a:rPr lang="zh-CN" altLang="en-US" sz="2400" smtClean="0"/>
              <a:t>微命令是微操作的控制信号，微操作是微命令的操作过程。</a:t>
            </a:r>
          </a:p>
          <a:p>
            <a:pPr marL="839788" lvl="1" indent="-495300" eaLnBrk="1" hangingPunct="1">
              <a:lnSpc>
                <a:spcPct val="90000"/>
              </a:lnSpc>
            </a:pPr>
            <a:r>
              <a:rPr lang="zh-CN" altLang="en-US" sz="2400" smtClean="0"/>
              <a:t>微操作是执行部件中最基本的操作。</a:t>
            </a:r>
          </a:p>
          <a:p>
            <a:pPr marL="571500" indent="-571500" eaLnBrk="1" hangingPunct="1">
              <a:lnSpc>
                <a:spcPct val="90000"/>
              </a:lnSpc>
            </a:pPr>
            <a:r>
              <a:rPr lang="zh-CN" altLang="en-US" sz="2400" smtClean="0"/>
              <a:t>控制部件与执行部件通过</a:t>
            </a:r>
          </a:p>
          <a:p>
            <a:pPr marL="571500" indent="-571500" eaLnBrk="1" hangingPunct="1">
              <a:lnSpc>
                <a:spcPct val="90000"/>
              </a:lnSpc>
              <a:buFont typeface="Wingdings" pitchFamily="2" charset="2"/>
              <a:buNone/>
            </a:pPr>
            <a:r>
              <a:rPr lang="zh-CN" altLang="en-US" sz="2400" smtClean="0"/>
              <a:t>       控制线和反馈信息进行联系。</a:t>
            </a:r>
          </a:p>
        </p:txBody>
      </p:sp>
      <p:pic>
        <p:nvPicPr>
          <p:cNvPr id="57349" name="Picture 5" descr="t5"/>
          <p:cNvPicPr>
            <a:picLocks noChangeAspect="1" noChangeArrowheads="1"/>
          </p:cNvPicPr>
          <p:nvPr/>
        </p:nvPicPr>
        <p:blipFill>
          <a:blip r:embed="rId2"/>
          <a:srcRect/>
          <a:stretch>
            <a:fillRect/>
          </a:stretch>
        </p:blipFill>
        <p:spPr bwMode="auto">
          <a:xfrm>
            <a:off x="4859338" y="5373688"/>
            <a:ext cx="3600450" cy="1081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p>
            <a:fld id="{B0455087-D2EB-4DD7-AE09-B6EB765834D5}" type="slidenum">
              <a:rPr lang="en-US" altLang="zh-CN" smtClean="0"/>
              <a:pPr/>
              <a:t>56</a:t>
            </a:fld>
            <a:endParaRPr lang="en-US" altLang="zh-CN" smtClean="0"/>
          </a:p>
        </p:txBody>
      </p:sp>
      <p:sp>
        <p:nvSpPr>
          <p:cNvPr id="58371" name="Rectangle 2"/>
          <p:cNvSpPr>
            <a:spLocks noGrp="1" noChangeArrowheads="1"/>
          </p:cNvSpPr>
          <p:nvPr>
            <p:ph type="title"/>
          </p:nvPr>
        </p:nvSpPr>
        <p:spPr>
          <a:xfrm>
            <a:off x="468313" y="260350"/>
            <a:ext cx="7543800" cy="642938"/>
          </a:xfrm>
        </p:spPr>
        <p:txBody>
          <a:bodyPr/>
          <a:lstStyle/>
          <a:p>
            <a:pPr eaLnBrk="1" hangingPunct="1"/>
            <a:r>
              <a:rPr lang="en-US" altLang="zh-CN" sz="3500" smtClean="0">
                <a:cs typeface="Times New Roman" pitchFamily="18" charset="0"/>
              </a:rPr>
              <a:t>5</a:t>
            </a:r>
            <a:r>
              <a:rPr lang="en-US" altLang="zh-CN" sz="3500" smtClean="0"/>
              <a:t>.4.1 </a:t>
            </a:r>
            <a:r>
              <a:rPr lang="zh-CN" altLang="en-US" sz="3500" b="0" smtClean="0"/>
              <a:t>微程序控制原理</a:t>
            </a:r>
          </a:p>
        </p:txBody>
      </p:sp>
      <p:sp>
        <p:nvSpPr>
          <p:cNvPr id="58372" name="Rectangle 3"/>
          <p:cNvSpPr>
            <a:spLocks noGrp="1" noChangeArrowheads="1"/>
          </p:cNvSpPr>
          <p:nvPr>
            <p:ph type="body" idx="1"/>
          </p:nvPr>
        </p:nvSpPr>
        <p:spPr>
          <a:xfrm>
            <a:off x="323850" y="981075"/>
            <a:ext cx="7561263" cy="2447925"/>
          </a:xfrm>
        </p:spPr>
        <p:txBody>
          <a:bodyPr/>
          <a:lstStyle/>
          <a:p>
            <a:pPr marL="571500" indent="-571500" eaLnBrk="1" hangingPunct="1"/>
            <a:r>
              <a:rPr lang="zh-CN" altLang="en-US" sz="2400" smtClean="0"/>
              <a:t>由于数据通路的结构关系，微操作可分为相容的和互斥的两种：</a:t>
            </a:r>
          </a:p>
          <a:p>
            <a:pPr marL="839788" lvl="1" indent="-495300" eaLnBrk="1" hangingPunct="1"/>
            <a:r>
              <a:rPr lang="zh-CN" altLang="en-US" sz="2400" smtClean="0"/>
              <a:t>互斥的微操作，是指不能同时或不能在同一个节拍内并行执行的微操作。</a:t>
            </a:r>
          </a:p>
          <a:p>
            <a:pPr marL="839788" lvl="1" indent="-495300" eaLnBrk="1" hangingPunct="1"/>
            <a:r>
              <a:rPr lang="zh-CN" altLang="en-US" sz="2400" smtClean="0"/>
              <a:t>相容的微操作，是指能够同时或在同一个节拍内并行执行的微操作。</a:t>
            </a:r>
          </a:p>
        </p:txBody>
      </p:sp>
      <p:sp>
        <p:nvSpPr>
          <p:cNvPr id="58373" name="Rectangle 4"/>
          <p:cNvSpPr>
            <a:spLocks noChangeArrowheads="1"/>
          </p:cNvSpPr>
          <p:nvPr/>
        </p:nvSpPr>
        <p:spPr bwMode="auto">
          <a:xfrm>
            <a:off x="395288" y="3644900"/>
            <a:ext cx="7921625" cy="2647950"/>
          </a:xfrm>
          <a:prstGeom prst="rect">
            <a:avLst/>
          </a:prstGeom>
          <a:noFill/>
          <a:ln w="12700" cap="sq">
            <a:noFill/>
            <a:miter lim="800000"/>
            <a:headEnd type="none" w="sm" len="sm"/>
            <a:tailEnd type="none" w="sm" len="sm"/>
          </a:ln>
        </p:spPr>
        <p:txBody>
          <a:bodyPr>
            <a:spAutoFit/>
          </a:bodyPr>
          <a:lstStyle/>
          <a:p>
            <a:r>
              <a:rPr lang="en-US" altLang="zh-CN" sz="2400" b="0">
                <a:solidFill>
                  <a:srgbClr val="2453CA"/>
                </a:solidFill>
              </a:rPr>
              <a:t>       </a:t>
            </a:r>
            <a:r>
              <a:rPr lang="zh-CN" altLang="en-US" sz="2400" b="0">
                <a:solidFill>
                  <a:srgbClr val="2453CA"/>
                </a:solidFill>
              </a:rPr>
              <a:t>微命令和微操作是一一对应的。微命令是微操作的控制信号，微操作是微命令的操作过程。微命令有兼容性和互斥性之分。兼容性微命令是指那些可以同时产生，共同完成某一些微操作的微命令；而互斥性微命令是指在机器中不允许同时出现的微命令。兼容和互斥都是相对的，一个微命令可以和一些微命令兼容，和另一些微命令互斥。对于单独一个微命令，谈论其兼容和互斥都是没有意义的。</a:t>
            </a:r>
          </a:p>
        </p:txBody>
      </p:sp>
      <p:sp>
        <p:nvSpPr>
          <p:cNvPr id="6" name="椭圆 5"/>
          <p:cNvSpPr/>
          <p:nvPr/>
        </p:nvSpPr>
        <p:spPr bwMode="auto">
          <a:xfrm>
            <a:off x="490899" y="3494896"/>
            <a:ext cx="468000" cy="468000"/>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p>
            <a:fld id="{4A016663-5091-4B54-A26B-18A10A8935C6}" type="slidenum">
              <a:rPr lang="en-US" altLang="zh-CN" smtClean="0"/>
              <a:pPr/>
              <a:t>57</a:t>
            </a:fld>
            <a:endParaRPr lang="en-US" altLang="zh-CN" smtClean="0"/>
          </a:p>
        </p:txBody>
      </p:sp>
      <p:pic>
        <p:nvPicPr>
          <p:cNvPr id="59395" name="Picture 5"/>
          <p:cNvPicPr>
            <a:picLocks noChangeAspect="1" noChangeArrowheads="1"/>
          </p:cNvPicPr>
          <p:nvPr/>
        </p:nvPicPr>
        <p:blipFill>
          <a:blip r:embed="rId2"/>
          <a:srcRect/>
          <a:stretch>
            <a:fillRect/>
          </a:stretch>
        </p:blipFill>
        <p:spPr bwMode="auto">
          <a:xfrm>
            <a:off x="539750" y="1125538"/>
            <a:ext cx="7056438" cy="5321300"/>
          </a:xfrm>
          <a:prstGeom prst="rect">
            <a:avLst/>
          </a:prstGeom>
          <a:noFill/>
          <a:ln w="9525">
            <a:noFill/>
            <a:miter lim="800000"/>
            <a:headEnd/>
            <a:tailEnd/>
          </a:ln>
        </p:spPr>
      </p:pic>
      <p:sp>
        <p:nvSpPr>
          <p:cNvPr id="59396" name="Rectangle 6"/>
          <p:cNvSpPr>
            <a:spLocks noChangeArrowheads="1"/>
          </p:cNvSpPr>
          <p:nvPr/>
        </p:nvSpPr>
        <p:spPr bwMode="auto">
          <a:xfrm>
            <a:off x="611188" y="333375"/>
            <a:ext cx="3905250" cy="579438"/>
          </a:xfrm>
          <a:prstGeom prst="rect">
            <a:avLst/>
          </a:prstGeom>
          <a:noFill/>
          <a:ln w="12700" cap="sq">
            <a:noFill/>
            <a:miter lim="800000"/>
            <a:headEnd type="none" w="sm" len="sm"/>
            <a:tailEnd type="none" w="sm" len="sm"/>
          </a:ln>
        </p:spPr>
        <p:txBody>
          <a:bodyPr wrap="none" anchor="ctr">
            <a:spAutoFit/>
          </a:bodyPr>
          <a:lstStyle/>
          <a:p>
            <a:pPr eaLnBrk="0" hangingPunct="0"/>
            <a:r>
              <a:rPr lang="zh-CN" altLang="en-US" sz="3200" b="0">
                <a:solidFill>
                  <a:schemeClr val="tx1"/>
                </a:solidFill>
              </a:rPr>
              <a:t>简单运算器数据通路</a:t>
            </a:r>
            <a:r>
              <a:rPr lang="zh-CN" altLang="en-US" b="0">
                <a:solidFill>
                  <a:schemeClr val="tx1"/>
                </a:solidFill>
              </a:rPr>
              <a:t> </a:t>
            </a:r>
          </a:p>
        </p:txBody>
      </p:sp>
      <p:pic>
        <p:nvPicPr>
          <p:cNvPr id="59397" name="Picture 7">
            <a:hlinkClick r:id="rId3" action="ppaction://hlinkfile"/>
          </p:cNvPr>
          <p:cNvPicPr>
            <a:picLocks noChangeAspect="1" noChangeArrowheads="1"/>
          </p:cNvPicPr>
          <p:nvPr/>
        </p:nvPicPr>
        <p:blipFill>
          <a:blip r:embed="rId4"/>
          <a:srcRect/>
          <a:stretch>
            <a:fillRect/>
          </a:stretch>
        </p:blipFill>
        <p:spPr bwMode="auto">
          <a:xfrm>
            <a:off x="7740650" y="4437063"/>
            <a:ext cx="409575" cy="381000"/>
          </a:xfrm>
          <a:prstGeom prst="rect">
            <a:avLst/>
          </a:prstGeom>
          <a:noFill/>
          <a:ln w="9525">
            <a:noFill/>
            <a:miter lim="800000"/>
            <a:headEnd/>
            <a:tailEnd/>
          </a:ln>
        </p:spPr>
      </p:pic>
      <p:sp>
        <p:nvSpPr>
          <p:cNvPr id="71688" name="Rectangle 8"/>
          <p:cNvSpPr>
            <a:spLocks noChangeArrowheads="1"/>
          </p:cNvSpPr>
          <p:nvPr/>
        </p:nvSpPr>
        <p:spPr bwMode="auto">
          <a:xfrm>
            <a:off x="304800" y="152400"/>
            <a:ext cx="8534400" cy="822325"/>
          </a:xfrm>
          <a:prstGeom prst="rect">
            <a:avLst/>
          </a:prstGeom>
          <a:solidFill>
            <a:srgbClr val="66FFFF"/>
          </a:solidFill>
          <a:ln w="9525">
            <a:noFill/>
            <a:miter lim="800000"/>
            <a:headEnd/>
            <a:tailEnd/>
          </a:ln>
        </p:spPr>
        <p:txBody>
          <a:bodyPr>
            <a:spAutoFit/>
          </a:bodyPr>
          <a:lstStyle/>
          <a:p>
            <a:r>
              <a:rPr lang="zh-CN" altLang="en-US" sz="2400" b="0">
                <a:solidFill>
                  <a:srgbClr val="2453CA"/>
                </a:solidFill>
              </a:rPr>
              <a:t>兼容性：</a:t>
            </a:r>
            <a:r>
              <a:rPr lang="en-US" altLang="zh-CN" sz="2400" b="0">
                <a:solidFill>
                  <a:srgbClr val="2453CA"/>
                </a:solidFill>
              </a:rPr>
              <a:t>1</a:t>
            </a:r>
            <a:r>
              <a:rPr lang="zh-CN" altLang="en-US" sz="2400" b="0">
                <a:solidFill>
                  <a:srgbClr val="2453CA"/>
                </a:solidFill>
              </a:rPr>
              <a:t>、</a:t>
            </a:r>
            <a:r>
              <a:rPr lang="en-US" altLang="zh-CN" sz="2400" b="0">
                <a:solidFill>
                  <a:srgbClr val="2453CA"/>
                </a:solidFill>
              </a:rPr>
              <a:t>2</a:t>
            </a:r>
            <a:r>
              <a:rPr lang="zh-CN" altLang="en-US" sz="2400" b="0">
                <a:solidFill>
                  <a:srgbClr val="2453CA"/>
                </a:solidFill>
              </a:rPr>
              <a:t>、</a:t>
            </a:r>
            <a:r>
              <a:rPr lang="en-US" altLang="zh-CN" sz="2400" b="0">
                <a:solidFill>
                  <a:srgbClr val="2453CA"/>
                </a:solidFill>
              </a:rPr>
              <a:t>3</a:t>
            </a:r>
            <a:r>
              <a:rPr lang="zh-CN" altLang="en-US" sz="2400" b="0">
                <a:solidFill>
                  <a:srgbClr val="2453CA"/>
                </a:solidFill>
              </a:rPr>
              <a:t>；（</a:t>
            </a:r>
            <a:r>
              <a:rPr lang="en-US" altLang="zh-CN" sz="2400" b="0">
                <a:solidFill>
                  <a:srgbClr val="2453CA"/>
                </a:solidFill>
              </a:rPr>
              <a:t>4</a:t>
            </a:r>
            <a:r>
              <a:rPr lang="zh-CN" altLang="en-US" sz="2400" b="0">
                <a:solidFill>
                  <a:srgbClr val="2453CA"/>
                </a:solidFill>
              </a:rPr>
              <a:t>、</a:t>
            </a:r>
            <a:r>
              <a:rPr lang="en-US" altLang="zh-CN" sz="2400" b="0">
                <a:solidFill>
                  <a:srgbClr val="2453CA"/>
                </a:solidFill>
              </a:rPr>
              <a:t>6</a:t>
            </a:r>
            <a:r>
              <a:rPr lang="zh-CN" altLang="en-US" sz="2400" b="0">
                <a:solidFill>
                  <a:srgbClr val="2453CA"/>
                </a:solidFill>
              </a:rPr>
              <a:t>、</a:t>
            </a:r>
            <a:r>
              <a:rPr lang="en-US" altLang="zh-CN" sz="2400" b="0">
                <a:solidFill>
                  <a:srgbClr val="2453CA"/>
                </a:solidFill>
              </a:rPr>
              <a:t>8</a:t>
            </a:r>
            <a:r>
              <a:rPr lang="zh-CN" altLang="en-US" sz="2400" b="0">
                <a:solidFill>
                  <a:srgbClr val="2453CA"/>
                </a:solidFill>
              </a:rPr>
              <a:t>）和（</a:t>
            </a:r>
            <a:r>
              <a:rPr lang="en-US" altLang="zh-CN" sz="2400" b="0">
                <a:solidFill>
                  <a:srgbClr val="2453CA"/>
                </a:solidFill>
              </a:rPr>
              <a:t>5</a:t>
            </a:r>
            <a:r>
              <a:rPr lang="zh-CN" altLang="en-US" sz="2400" b="0">
                <a:solidFill>
                  <a:srgbClr val="2453CA"/>
                </a:solidFill>
              </a:rPr>
              <a:t>、</a:t>
            </a:r>
            <a:r>
              <a:rPr lang="en-US" altLang="zh-CN" sz="2400" b="0">
                <a:solidFill>
                  <a:srgbClr val="2453CA"/>
                </a:solidFill>
              </a:rPr>
              <a:t>7</a:t>
            </a:r>
            <a:r>
              <a:rPr lang="zh-CN" altLang="en-US" sz="2400" b="0">
                <a:solidFill>
                  <a:srgbClr val="2453CA"/>
                </a:solidFill>
              </a:rPr>
              <a:t>、</a:t>
            </a:r>
            <a:r>
              <a:rPr lang="en-US" altLang="zh-CN" sz="2400" b="0">
                <a:solidFill>
                  <a:srgbClr val="2453CA"/>
                </a:solidFill>
              </a:rPr>
              <a:t>9</a:t>
            </a:r>
            <a:r>
              <a:rPr lang="zh-CN" altLang="en-US" sz="2400" b="0">
                <a:solidFill>
                  <a:srgbClr val="2453CA"/>
                </a:solidFill>
              </a:rPr>
              <a:t>）任意两个</a:t>
            </a:r>
          </a:p>
          <a:p>
            <a:r>
              <a:rPr lang="zh-CN" altLang="en-US" sz="2400" b="0">
                <a:solidFill>
                  <a:srgbClr val="2453CA"/>
                </a:solidFill>
              </a:rPr>
              <a:t>互斥性：</a:t>
            </a:r>
            <a:r>
              <a:rPr lang="en-US" altLang="zh-CN" sz="2400" b="0">
                <a:solidFill>
                  <a:srgbClr val="2453CA"/>
                </a:solidFill>
              </a:rPr>
              <a:t>+</a:t>
            </a:r>
            <a:r>
              <a:rPr lang="zh-CN" altLang="en-US" sz="2400" b="0">
                <a:solidFill>
                  <a:srgbClr val="2453CA"/>
                </a:solidFill>
              </a:rPr>
              <a:t>、</a:t>
            </a:r>
            <a:r>
              <a:rPr lang="en-US" altLang="zh-CN" sz="2400" b="0">
                <a:solidFill>
                  <a:srgbClr val="2453CA"/>
                </a:solidFill>
              </a:rPr>
              <a:t>-</a:t>
            </a:r>
            <a:r>
              <a:rPr lang="zh-CN" altLang="en-US" sz="2400" b="0">
                <a:solidFill>
                  <a:srgbClr val="2453CA"/>
                </a:solidFill>
              </a:rPr>
              <a:t>、</a:t>
            </a:r>
            <a:r>
              <a:rPr lang="en-US" altLang="zh-CN" sz="2400" b="0">
                <a:solidFill>
                  <a:srgbClr val="2453CA"/>
                </a:solidFill>
              </a:rPr>
              <a:t>M </a:t>
            </a:r>
            <a:r>
              <a:rPr lang="zh-CN" altLang="en-US" sz="2400" b="0">
                <a:solidFill>
                  <a:srgbClr val="2453CA"/>
                </a:solidFill>
              </a:rPr>
              <a:t>；</a:t>
            </a:r>
            <a:r>
              <a:rPr lang="en-US" altLang="zh-CN" sz="2400" b="0">
                <a:solidFill>
                  <a:srgbClr val="2453CA"/>
                </a:solidFill>
              </a:rPr>
              <a:t>4</a:t>
            </a:r>
            <a:r>
              <a:rPr lang="zh-CN" altLang="en-US" sz="2400" b="0">
                <a:solidFill>
                  <a:srgbClr val="2453CA"/>
                </a:solidFill>
              </a:rPr>
              <a:t>、</a:t>
            </a:r>
            <a:r>
              <a:rPr lang="en-US" altLang="zh-CN" sz="2400" b="0">
                <a:solidFill>
                  <a:srgbClr val="2453CA"/>
                </a:solidFill>
              </a:rPr>
              <a:t>6</a:t>
            </a:r>
            <a:r>
              <a:rPr lang="zh-CN" altLang="en-US" sz="2400" b="0">
                <a:solidFill>
                  <a:srgbClr val="2453CA"/>
                </a:solidFill>
              </a:rPr>
              <a:t>、</a:t>
            </a:r>
            <a:r>
              <a:rPr lang="en-US" altLang="zh-CN" sz="2400" b="0">
                <a:solidFill>
                  <a:srgbClr val="2453CA"/>
                </a:solidFill>
              </a:rPr>
              <a:t>8</a:t>
            </a:r>
            <a:r>
              <a:rPr lang="zh-CN" altLang="en-US" sz="2400" b="0">
                <a:solidFill>
                  <a:srgbClr val="2453CA"/>
                </a:solidFill>
              </a:rPr>
              <a:t>；</a:t>
            </a:r>
            <a:r>
              <a:rPr lang="en-US" altLang="zh-CN" sz="2400" b="0">
                <a:solidFill>
                  <a:srgbClr val="2453CA"/>
                </a:solidFill>
              </a:rPr>
              <a:t>5</a:t>
            </a:r>
            <a:r>
              <a:rPr lang="zh-CN" altLang="en-US" sz="2400" b="0">
                <a:solidFill>
                  <a:srgbClr val="2453CA"/>
                </a:solidFill>
              </a:rPr>
              <a:t>、</a:t>
            </a:r>
            <a:r>
              <a:rPr lang="en-US" altLang="zh-CN" sz="2400" b="0">
                <a:solidFill>
                  <a:srgbClr val="2453CA"/>
                </a:solidFill>
              </a:rPr>
              <a:t>7</a:t>
            </a:r>
            <a:r>
              <a:rPr lang="zh-CN" altLang="en-US" sz="2400" b="0">
                <a:solidFill>
                  <a:srgbClr val="2453CA"/>
                </a:solidFill>
              </a:rPr>
              <a:t>、</a:t>
            </a:r>
            <a:r>
              <a:rPr lang="en-US" altLang="zh-CN" sz="2400" b="0">
                <a:solidFill>
                  <a:srgbClr val="2453CA"/>
                </a:solidFill>
              </a:rPr>
              <a:t>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dissolve">
                                      <p:cBhvr>
                                        <p:cTn id="7" dur="500"/>
                                        <p:tgtEl>
                                          <p:spTgt spid="71688"/>
                                        </p:tgtEl>
                                      </p:cBhvr>
                                    </p:animEffect>
                                  </p:childTnLst>
                                  <p:subTnLst>
                                    <p:set>
                                      <p:cBhvr override="childStyle">
                                        <p:cTn dur="1" fill="hold" display="0" masterRel="nextClick" afterEffect="1"/>
                                        <p:tgtEl>
                                          <p:spTgt spid="7168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p>
            <a:fld id="{0E7495FA-C47C-4C64-8EF5-C9126FEB8D54}" type="slidenum">
              <a:rPr lang="en-US" altLang="zh-CN" smtClean="0"/>
              <a:pPr/>
              <a:t>58</a:t>
            </a:fld>
            <a:endParaRPr lang="en-US" altLang="zh-CN" smtClean="0"/>
          </a:p>
        </p:txBody>
      </p:sp>
      <p:sp>
        <p:nvSpPr>
          <p:cNvPr id="60419" name="Rectangle 2"/>
          <p:cNvSpPr>
            <a:spLocks noGrp="1" noChangeArrowheads="1"/>
          </p:cNvSpPr>
          <p:nvPr>
            <p:ph type="title"/>
          </p:nvPr>
        </p:nvSpPr>
        <p:spPr>
          <a:xfrm>
            <a:off x="468313" y="333375"/>
            <a:ext cx="7543800" cy="576263"/>
          </a:xfrm>
        </p:spPr>
        <p:txBody>
          <a:bodyPr/>
          <a:lstStyle/>
          <a:p>
            <a:pPr eaLnBrk="1" hangingPunct="1"/>
            <a:r>
              <a:rPr lang="en-US" altLang="zh-CN" sz="4000" smtClean="0">
                <a:latin typeface="宋体" pitchFamily="2" charset="-122"/>
                <a:cs typeface="Times New Roman" pitchFamily="18" charset="0"/>
              </a:rPr>
              <a:t>5</a:t>
            </a:r>
            <a:r>
              <a:rPr lang="en-US" altLang="zh-CN" sz="4000" smtClean="0">
                <a:latin typeface="宋体" pitchFamily="2" charset="-122"/>
              </a:rPr>
              <a:t>.4.1 </a:t>
            </a:r>
            <a:r>
              <a:rPr lang="zh-CN" altLang="en-US" sz="4000" b="0" smtClean="0">
                <a:latin typeface="宋体" pitchFamily="2" charset="-122"/>
              </a:rPr>
              <a:t>微程序控制原理</a:t>
            </a:r>
          </a:p>
        </p:txBody>
      </p:sp>
      <p:sp>
        <p:nvSpPr>
          <p:cNvPr id="60420" name="Rectangle 3"/>
          <p:cNvSpPr>
            <a:spLocks noGrp="1" noChangeArrowheads="1"/>
          </p:cNvSpPr>
          <p:nvPr>
            <p:ph type="body" idx="1"/>
          </p:nvPr>
        </p:nvSpPr>
        <p:spPr>
          <a:xfrm>
            <a:off x="250825" y="1196975"/>
            <a:ext cx="7921625" cy="4752975"/>
          </a:xfrm>
        </p:spPr>
        <p:txBody>
          <a:bodyPr/>
          <a:lstStyle/>
          <a:p>
            <a:pPr eaLnBrk="1" hangingPunct="1">
              <a:lnSpc>
                <a:spcPct val="80000"/>
              </a:lnSpc>
              <a:buFont typeface="Wingdings" pitchFamily="2" charset="2"/>
              <a:buNone/>
            </a:pPr>
            <a:r>
              <a:rPr lang="en-US" altLang="zh-CN" sz="3600" smtClean="0">
                <a:solidFill>
                  <a:schemeClr val="tx2"/>
                </a:solidFill>
                <a:latin typeface="宋体" pitchFamily="2" charset="-122"/>
              </a:rPr>
              <a:t>2.</a:t>
            </a:r>
            <a:r>
              <a:rPr lang="zh-CN" altLang="en-US" sz="3600" smtClean="0">
                <a:solidFill>
                  <a:schemeClr val="tx2"/>
                </a:solidFill>
                <a:latin typeface="宋体" pitchFamily="2" charset="-122"/>
              </a:rPr>
              <a:t>微指令和微程序</a:t>
            </a:r>
          </a:p>
          <a:p>
            <a:pPr eaLnBrk="1" hangingPunct="1">
              <a:lnSpc>
                <a:spcPct val="80000"/>
              </a:lnSpc>
            </a:pPr>
            <a:r>
              <a:rPr lang="zh-CN" altLang="en-US" sz="3200" smtClean="0">
                <a:latin typeface="宋体" pitchFamily="2" charset="-122"/>
              </a:rPr>
              <a:t>微指令</a:t>
            </a:r>
          </a:p>
          <a:p>
            <a:pPr eaLnBrk="1" hangingPunct="1">
              <a:lnSpc>
                <a:spcPct val="80000"/>
              </a:lnSpc>
              <a:buFont typeface="Wingdings" pitchFamily="2" charset="2"/>
              <a:buNone/>
            </a:pPr>
            <a:r>
              <a:rPr lang="zh-CN" altLang="en-US" sz="3200" smtClean="0">
                <a:latin typeface="宋体" pitchFamily="2" charset="-122"/>
              </a:rPr>
              <a:t>      把在同一</a:t>
            </a:r>
            <a:r>
              <a:rPr lang="en-US" altLang="zh-CN" sz="3200" smtClean="0">
                <a:latin typeface="宋体" pitchFamily="2" charset="-122"/>
              </a:rPr>
              <a:t>CPU</a:t>
            </a:r>
            <a:r>
              <a:rPr lang="zh-CN" altLang="en-US" sz="3200" smtClean="0">
                <a:latin typeface="宋体" pitchFamily="2" charset="-122"/>
              </a:rPr>
              <a:t>周期内并行执行的微操作控制信息，存储在控制存储器里，称为一条微指令。 </a:t>
            </a:r>
          </a:p>
          <a:p>
            <a:pPr eaLnBrk="1" hangingPunct="1">
              <a:lnSpc>
                <a:spcPct val="80000"/>
              </a:lnSpc>
            </a:pPr>
            <a:r>
              <a:rPr lang="zh-CN" altLang="en-US" sz="3200" smtClean="0">
                <a:latin typeface="宋体" pitchFamily="2" charset="-122"/>
              </a:rPr>
              <a:t>微程序</a:t>
            </a:r>
          </a:p>
          <a:p>
            <a:pPr lvl="1" eaLnBrk="1" hangingPunct="1">
              <a:lnSpc>
                <a:spcPct val="80000"/>
              </a:lnSpc>
            </a:pPr>
            <a:r>
              <a:rPr lang="zh-CN" altLang="en-US" sz="3200" smtClean="0">
                <a:latin typeface="宋体" pitchFamily="2" charset="-122"/>
              </a:rPr>
              <a:t>一系列微指令的有序集合就是微程序。</a:t>
            </a:r>
          </a:p>
          <a:p>
            <a:pPr lvl="2" eaLnBrk="1" hangingPunct="1">
              <a:lnSpc>
                <a:spcPct val="80000"/>
              </a:lnSpc>
            </a:pPr>
            <a:r>
              <a:rPr lang="zh-CN" altLang="en-US" sz="3200" smtClean="0">
                <a:latin typeface="宋体" pitchFamily="2" charset="-122"/>
              </a:rPr>
              <a:t>一段微程序对应一条机器指令。</a:t>
            </a:r>
          </a:p>
          <a:p>
            <a:pPr lvl="2" eaLnBrk="1" hangingPunct="1">
              <a:lnSpc>
                <a:spcPct val="80000"/>
              </a:lnSpc>
            </a:pPr>
            <a:r>
              <a:rPr lang="zh-CN" altLang="en-US" sz="3200" smtClean="0">
                <a:latin typeface="宋体" pitchFamily="2" charset="-122"/>
              </a:rPr>
              <a:t>微地址：存放微指令的控制存储器的单元地址。</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p>
            <a:fld id="{34972EFC-540B-4EBB-AD4D-369F53ACD1B4}" type="slidenum">
              <a:rPr lang="en-US" altLang="zh-CN" smtClean="0"/>
              <a:pPr/>
              <a:t>59</a:t>
            </a:fld>
            <a:endParaRPr lang="en-US" altLang="zh-CN" smtClean="0"/>
          </a:p>
        </p:txBody>
      </p:sp>
      <p:sp>
        <p:nvSpPr>
          <p:cNvPr id="61443" name="Rectangle 4"/>
          <p:cNvSpPr>
            <a:spLocks noChangeArrowheads="1"/>
          </p:cNvSpPr>
          <p:nvPr/>
        </p:nvSpPr>
        <p:spPr bwMode="auto">
          <a:xfrm>
            <a:off x="468313" y="2708275"/>
            <a:ext cx="8208962" cy="396875"/>
          </a:xfrm>
          <a:prstGeom prst="rect">
            <a:avLst/>
          </a:prstGeom>
          <a:noFill/>
          <a:ln w="12700" cap="sq">
            <a:noFill/>
            <a:miter lim="800000"/>
            <a:headEnd type="none" w="sm" len="sm"/>
            <a:tailEnd type="none" w="sm" len="sm"/>
          </a:ln>
        </p:spPr>
        <p:txBody>
          <a:bodyPr>
            <a:spAutoFit/>
          </a:bodyPr>
          <a:lstStyle/>
          <a:p>
            <a:r>
              <a:rPr lang="en-US" altLang="zh-CN" sz="2000" b="0">
                <a:solidFill>
                  <a:schemeClr val="tx1"/>
                </a:solidFill>
                <a:latin typeface="宋体" pitchFamily="2" charset="-122"/>
              </a:rPr>
              <a:t>    </a:t>
            </a:r>
            <a:endParaRPr lang="en-US" altLang="zh-CN" sz="2200" b="0">
              <a:solidFill>
                <a:schemeClr val="tx1"/>
              </a:solidFill>
              <a:latin typeface="宋体" pitchFamily="2" charset="-122"/>
            </a:endParaRPr>
          </a:p>
        </p:txBody>
      </p:sp>
      <p:sp>
        <p:nvSpPr>
          <p:cNvPr id="61444" name="Rectangle 5"/>
          <p:cNvSpPr>
            <a:spLocks noChangeArrowheads="1"/>
          </p:cNvSpPr>
          <p:nvPr/>
        </p:nvSpPr>
        <p:spPr bwMode="auto">
          <a:xfrm>
            <a:off x="381000" y="3200400"/>
            <a:ext cx="7848600" cy="3508375"/>
          </a:xfrm>
          <a:prstGeom prst="rect">
            <a:avLst/>
          </a:prstGeom>
          <a:noFill/>
          <a:ln w="12700" cap="sq">
            <a:noFill/>
            <a:miter lim="800000"/>
            <a:headEnd type="none" w="sm" len="sm"/>
            <a:tailEnd type="none" w="sm" len="sm"/>
          </a:ln>
        </p:spPr>
        <p:txBody>
          <a:bodyPr>
            <a:spAutoFit/>
          </a:bodyPr>
          <a:lstStyle/>
          <a:p>
            <a:r>
              <a:rPr lang="en-US" altLang="zh-CN" sz="2400" b="0">
                <a:solidFill>
                  <a:schemeClr val="tx1"/>
                </a:solidFill>
                <a:latin typeface="宋体" pitchFamily="2" charset="-122"/>
              </a:rPr>
              <a:t>    </a:t>
            </a:r>
            <a:r>
              <a:rPr lang="zh-CN" altLang="en-US" sz="2800" b="0">
                <a:solidFill>
                  <a:schemeClr val="tx1"/>
                </a:solidFill>
                <a:latin typeface="宋体" pitchFamily="2" charset="-122"/>
              </a:rPr>
              <a:t>微指令是微命令的组合，微指令存储在控制器中的控制存储器中</a:t>
            </a:r>
            <a:r>
              <a:rPr lang="en-US" altLang="zh-CN" sz="2800" b="0">
                <a:solidFill>
                  <a:schemeClr val="tx1"/>
                </a:solidFill>
                <a:latin typeface="宋体" pitchFamily="2" charset="-122"/>
              </a:rPr>
              <a:t>,</a:t>
            </a:r>
            <a:r>
              <a:rPr lang="zh-CN" altLang="en-US" sz="2800" b="0">
                <a:solidFill>
                  <a:schemeClr val="tx1"/>
                </a:solidFill>
                <a:latin typeface="宋体" pitchFamily="2" charset="-122"/>
              </a:rPr>
              <a:t>一条微指令通常至少包含两大部分信息：</a:t>
            </a:r>
          </a:p>
          <a:p>
            <a:r>
              <a:rPr lang="zh-CN" altLang="en-US" sz="2800" b="0">
                <a:solidFill>
                  <a:schemeClr val="tx1"/>
                </a:solidFill>
                <a:latin typeface="宋体" pitchFamily="2" charset="-122"/>
              </a:rPr>
              <a:t>    操作控制字段：又称微操作码字段，用以产生某一步操作所需的各个微操作控制信号。某位为</a:t>
            </a:r>
            <a:r>
              <a:rPr lang="en-US" altLang="zh-CN" sz="2800" b="0">
                <a:solidFill>
                  <a:schemeClr val="tx1"/>
                </a:solidFill>
                <a:latin typeface="宋体" pitchFamily="2" charset="-122"/>
              </a:rPr>
              <a:t>1</a:t>
            </a:r>
            <a:r>
              <a:rPr lang="zh-CN" altLang="en-US" sz="2800" b="0">
                <a:solidFill>
                  <a:schemeClr val="tx1"/>
                </a:solidFill>
                <a:latin typeface="宋体" pitchFamily="2" charset="-122"/>
              </a:rPr>
              <a:t>，表明发微指令。</a:t>
            </a:r>
          </a:p>
          <a:p>
            <a:r>
              <a:rPr lang="zh-CN" altLang="en-US" sz="2800" b="0">
                <a:solidFill>
                  <a:schemeClr val="tx1"/>
                </a:solidFill>
                <a:latin typeface="宋体" pitchFamily="2" charset="-122"/>
              </a:rPr>
              <a:t>    顺序控制字段：又称微地址码字段，用以控制产生下一条要执行的微指令地址。</a:t>
            </a:r>
          </a:p>
        </p:txBody>
      </p:sp>
      <p:pic>
        <p:nvPicPr>
          <p:cNvPr id="61446" name="Picture 10">
            <a:hlinkClick r:id="rId2"/>
          </p:cNvPr>
          <p:cNvPicPr>
            <a:picLocks noChangeAspect="1" noChangeArrowheads="1"/>
          </p:cNvPicPr>
          <p:nvPr/>
        </p:nvPicPr>
        <p:blipFill>
          <a:blip r:embed="rId3"/>
          <a:srcRect/>
          <a:stretch>
            <a:fillRect/>
          </a:stretch>
        </p:blipFill>
        <p:spPr bwMode="auto">
          <a:xfrm>
            <a:off x="8106727" y="1963520"/>
            <a:ext cx="409575" cy="381000"/>
          </a:xfrm>
          <a:prstGeom prst="rect">
            <a:avLst/>
          </a:prstGeom>
          <a:noFill/>
          <a:ln w="9525">
            <a:noFill/>
            <a:miter lim="800000"/>
            <a:headEnd/>
            <a:tailEnd/>
          </a:ln>
        </p:spPr>
      </p:pic>
      <p:sp>
        <p:nvSpPr>
          <p:cNvPr id="61447" name="Rectangle 12"/>
          <p:cNvSpPr>
            <a:spLocks noChangeArrowheads="1"/>
          </p:cNvSpPr>
          <p:nvPr/>
        </p:nvSpPr>
        <p:spPr bwMode="auto">
          <a:xfrm>
            <a:off x="381000" y="152400"/>
            <a:ext cx="2673350" cy="519113"/>
          </a:xfrm>
          <a:prstGeom prst="rect">
            <a:avLst/>
          </a:prstGeom>
          <a:noFill/>
          <a:ln w="9525">
            <a:noFill/>
            <a:miter lim="800000"/>
            <a:headEnd/>
            <a:tailEnd/>
          </a:ln>
        </p:spPr>
        <p:txBody>
          <a:bodyPr wrap="none">
            <a:spAutoFit/>
          </a:bodyPr>
          <a:lstStyle/>
          <a:p>
            <a:r>
              <a:rPr lang="zh-CN" altLang="en-US" sz="2800" b="0">
                <a:solidFill>
                  <a:schemeClr val="tx1"/>
                </a:solidFill>
                <a:latin typeface="宋体" pitchFamily="2" charset="-122"/>
              </a:rPr>
              <a:t>微指令基本格式</a:t>
            </a:r>
          </a:p>
        </p:txBody>
      </p:sp>
      <p:pic>
        <p:nvPicPr>
          <p:cNvPr id="2826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096" y="785912"/>
            <a:ext cx="75438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p>
            <a:fld id="{6702C039-8D25-44BB-950B-B6DE3AA312E4}" type="slidenum">
              <a:rPr lang="en-US" altLang="zh-CN" smtClean="0"/>
              <a:pPr/>
              <a:t>60</a:t>
            </a:fld>
            <a:endParaRPr lang="en-US" altLang="zh-CN" smtClean="0"/>
          </a:p>
        </p:txBody>
      </p:sp>
      <p:sp>
        <p:nvSpPr>
          <p:cNvPr id="62467" name="Rectangle 1035"/>
          <p:cNvSpPr>
            <a:spLocks noChangeArrowheads="1"/>
          </p:cNvSpPr>
          <p:nvPr/>
        </p:nvSpPr>
        <p:spPr bwMode="auto">
          <a:xfrm>
            <a:off x="3962400" y="2514600"/>
            <a:ext cx="4572000" cy="1800225"/>
          </a:xfrm>
          <a:prstGeom prst="rect">
            <a:avLst/>
          </a:prstGeom>
          <a:noFill/>
          <a:ln w="12700" cap="sq">
            <a:noFill/>
            <a:miter lim="800000"/>
            <a:headEnd type="none" w="sm" len="sm"/>
            <a:tailEnd type="none" w="sm" len="sm"/>
          </a:ln>
        </p:spPr>
        <p:txBody>
          <a:bodyPr>
            <a:spAutoFit/>
          </a:bodyPr>
          <a:lstStyle/>
          <a:p>
            <a:r>
              <a:rPr lang="en-US" altLang="zh-CN" sz="2800" b="0">
                <a:solidFill>
                  <a:schemeClr val="tx1"/>
                </a:solidFill>
                <a:latin typeface="宋体" pitchFamily="2" charset="-122"/>
              </a:rPr>
              <a:t>    </a:t>
            </a:r>
            <a:r>
              <a:rPr lang="zh-CN" altLang="en-US" sz="2800" b="0">
                <a:solidFill>
                  <a:schemeClr val="tx1"/>
                </a:solidFill>
                <a:latin typeface="宋体" pitchFamily="2" charset="-122"/>
              </a:rPr>
              <a:t>图中微指令发出的控制信号都是节拍电位信号，持续时间为一个</a:t>
            </a:r>
            <a:r>
              <a:rPr lang="en-US" altLang="zh-CN" sz="2800" b="0">
                <a:solidFill>
                  <a:schemeClr val="tx1"/>
                </a:solidFill>
                <a:latin typeface="宋体" pitchFamily="2" charset="-122"/>
              </a:rPr>
              <a:t>CPU</a:t>
            </a:r>
            <a:r>
              <a:rPr lang="zh-CN" altLang="en-US" sz="2800" b="0">
                <a:solidFill>
                  <a:schemeClr val="tx1"/>
                </a:solidFill>
                <a:latin typeface="宋体" pitchFamily="2" charset="-122"/>
              </a:rPr>
              <a:t>周期，微命令信号还要引入时间控制。</a:t>
            </a:r>
          </a:p>
        </p:txBody>
      </p:sp>
      <p:graphicFrame>
        <p:nvGraphicFramePr>
          <p:cNvPr id="62469" name="Object 1040"/>
          <p:cNvGraphicFramePr>
            <a:graphicFrameLocks noChangeAspect="1"/>
          </p:cNvGraphicFramePr>
          <p:nvPr/>
        </p:nvGraphicFramePr>
        <p:xfrm>
          <a:off x="381000" y="2438400"/>
          <a:ext cx="3476625" cy="2571750"/>
        </p:xfrm>
        <a:graphic>
          <a:graphicData uri="http://schemas.openxmlformats.org/presentationml/2006/ole">
            <mc:AlternateContent xmlns:mc="http://schemas.openxmlformats.org/markup-compatibility/2006">
              <mc:Choice xmlns:v="urn:schemas-microsoft-com:vml" Requires="v">
                <p:oleObj spid="_x0000_s63051" name="位图图像" r:id="rId3" imgW="3476190" imgH="2572109" progId="PBrush">
                  <p:embed/>
                </p:oleObj>
              </mc:Choice>
              <mc:Fallback>
                <p:oleObj name="位图图像" r:id="rId3" imgW="3476190" imgH="2572109" progId="PBrush">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438400"/>
                        <a:ext cx="3476625" cy="257175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0" name="Object 1041"/>
          <p:cNvGraphicFramePr>
            <a:graphicFrameLocks noChangeAspect="1"/>
          </p:cNvGraphicFramePr>
          <p:nvPr/>
        </p:nvGraphicFramePr>
        <p:xfrm>
          <a:off x="990600" y="4953000"/>
          <a:ext cx="2009775" cy="1762125"/>
        </p:xfrm>
        <a:graphic>
          <a:graphicData uri="http://schemas.openxmlformats.org/presentationml/2006/ole">
            <mc:AlternateContent xmlns:mc="http://schemas.openxmlformats.org/markup-compatibility/2006">
              <mc:Choice xmlns:v="urn:schemas-microsoft-com:vml" Requires="v">
                <p:oleObj spid="_x0000_s63052" name="位图图像" r:id="rId5" imgW="2010056" imgH="1762371" progId="PBrush">
                  <p:embed/>
                </p:oleObj>
              </mc:Choice>
              <mc:Fallback>
                <p:oleObj name="位图图像" r:id="rId5" imgW="2010056" imgH="1762371" progId="PBrush">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4953000"/>
                        <a:ext cx="2009775" cy="17621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1" name="Object 1042"/>
          <p:cNvGraphicFramePr>
            <a:graphicFrameLocks noChangeAspect="1"/>
          </p:cNvGraphicFramePr>
          <p:nvPr/>
        </p:nvGraphicFramePr>
        <p:xfrm>
          <a:off x="3886200" y="4419600"/>
          <a:ext cx="4686300" cy="2143125"/>
        </p:xfrm>
        <a:graphic>
          <a:graphicData uri="http://schemas.openxmlformats.org/presentationml/2006/ole">
            <mc:AlternateContent xmlns:mc="http://schemas.openxmlformats.org/markup-compatibility/2006">
              <mc:Choice xmlns:v="urn:schemas-microsoft-com:vml" Requires="v">
                <p:oleObj spid="_x0000_s63053" name="位图图像" r:id="rId7" imgW="4686954" imgH="2142857" progId="PBrush">
                  <p:embed/>
                </p:oleObj>
              </mc:Choice>
              <mc:Fallback>
                <p:oleObj name="位图图像" r:id="rId7" imgW="4686954" imgH="2142857" progId="PBrush">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4419600"/>
                        <a:ext cx="4686300" cy="21431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9936" y="176312"/>
            <a:ext cx="7543800" cy="2213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p:spPr>
        <p:txBody>
          <a:bodyPr/>
          <a:lstStyle/>
          <a:p>
            <a:fld id="{53C7803D-0F98-4E7D-B15B-D8CA60C7C2C6}" type="slidenum">
              <a:rPr lang="en-US" altLang="zh-CN" smtClean="0"/>
              <a:pPr/>
              <a:t>61</a:t>
            </a:fld>
            <a:endParaRPr lang="en-US" altLang="zh-CN" smtClean="0"/>
          </a:p>
        </p:txBody>
      </p:sp>
      <p:pic>
        <p:nvPicPr>
          <p:cNvPr id="63491" name="Picture 2" descr="5"/>
          <p:cNvPicPr>
            <a:picLocks noChangeAspect="1" noChangeArrowheads="1"/>
          </p:cNvPicPr>
          <p:nvPr/>
        </p:nvPicPr>
        <p:blipFill>
          <a:blip r:embed="rId2"/>
          <a:srcRect/>
          <a:stretch>
            <a:fillRect/>
          </a:stretch>
        </p:blipFill>
        <p:spPr bwMode="auto">
          <a:xfrm>
            <a:off x="827088" y="1773238"/>
            <a:ext cx="6265862" cy="4549775"/>
          </a:xfrm>
          <a:prstGeom prst="rect">
            <a:avLst/>
          </a:prstGeom>
          <a:noFill/>
          <a:ln w="9525">
            <a:noFill/>
            <a:miter lim="800000"/>
            <a:headEnd/>
            <a:tailEnd/>
          </a:ln>
        </p:spPr>
      </p:pic>
      <p:sp>
        <p:nvSpPr>
          <p:cNvPr id="63492" name="Rectangle 3"/>
          <p:cNvSpPr>
            <a:spLocks noGrp="1" noChangeArrowheads="1"/>
          </p:cNvSpPr>
          <p:nvPr>
            <p:ph type="title"/>
          </p:nvPr>
        </p:nvSpPr>
        <p:spPr>
          <a:xfrm>
            <a:off x="457200" y="122238"/>
            <a:ext cx="7543800" cy="714375"/>
          </a:xfrm>
        </p:spPr>
        <p:txBody>
          <a:bodyPr/>
          <a:lstStyle/>
          <a:p>
            <a:pPr eaLnBrk="1" hangingPunct="1"/>
            <a:r>
              <a:rPr lang="en-US" altLang="zh-CN" smtClean="0">
                <a:cs typeface="Times New Roman" pitchFamily="18" charset="0"/>
              </a:rPr>
              <a:t>5</a:t>
            </a:r>
            <a:r>
              <a:rPr lang="en-US" altLang="zh-CN" smtClean="0"/>
              <a:t>.4.1 </a:t>
            </a:r>
            <a:r>
              <a:rPr lang="zh-CN" altLang="en-US" b="0" smtClean="0"/>
              <a:t>微程序控制原理</a:t>
            </a:r>
          </a:p>
        </p:txBody>
      </p:sp>
      <p:sp>
        <p:nvSpPr>
          <p:cNvPr id="63493" name="Rectangle 6"/>
          <p:cNvSpPr>
            <a:spLocks noChangeArrowheads="1"/>
          </p:cNvSpPr>
          <p:nvPr/>
        </p:nvSpPr>
        <p:spPr bwMode="auto">
          <a:xfrm>
            <a:off x="468313" y="950913"/>
            <a:ext cx="5124450" cy="579437"/>
          </a:xfrm>
          <a:prstGeom prst="rect">
            <a:avLst/>
          </a:prstGeom>
          <a:noFill/>
          <a:ln w="12700" cap="sq">
            <a:noFill/>
            <a:miter lim="800000"/>
            <a:headEnd type="none" w="sm" len="sm"/>
            <a:tailEnd type="none" w="sm" len="sm"/>
          </a:ln>
        </p:spPr>
        <p:txBody>
          <a:bodyPr wrap="none" anchor="ctr">
            <a:spAutoFit/>
          </a:bodyPr>
          <a:lstStyle/>
          <a:p>
            <a:pPr eaLnBrk="0" hangingPunct="0"/>
            <a:r>
              <a:rPr lang="en-US" altLang="zh-CN" sz="3200" b="0">
                <a:solidFill>
                  <a:schemeClr val="tx1"/>
                </a:solidFill>
                <a:latin typeface="宋体" pitchFamily="2" charset="-122"/>
              </a:rPr>
              <a:t>3.</a:t>
            </a:r>
            <a:r>
              <a:rPr lang="zh-CN" altLang="en-US" sz="3200" b="0">
                <a:solidFill>
                  <a:schemeClr val="tx1"/>
                </a:solidFill>
                <a:latin typeface="宋体" pitchFamily="2" charset="-122"/>
              </a:rPr>
              <a:t>微程序控制器原理框图</a:t>
            </a:r>
            <a:r>
              <a:rPr lang="zh-CN" altLang="en-US" sz="3200" b="0">
                <a:solidFill>
                  <a:schemeClr val="tx1"/>
                </a:solidFill>
              </a:rPr>
              <a:t>　</a:t>
            </a:r>
            <a:r>
              <a:rPr lang="zh-CN" altLang="en-US" b="0">
                <a:solidFill>
                  <a:schemeClr val="tx1"/>
                </a:solidFill>
              </a:rPr>
              <a:t> </a:t>
            </a:r>
          </a:p>
        </p:txBody>
      </p:sp>
      <p:sp>
        <p:nvSpPr>
          <p:cNvPr id="78855" name="AutoShape 7"/>
          <p:cNvSpPr>
            <a:spLocks noChangeArrowheads="1"/>
          </p:cNvSpPr>
          <p:nvPr/>
        </p:nvSpPr>
        <p:spPr bwMode="auto">
          <a:xfrm>
            <a:off x="611188" y="5805488"/>
            <a:ext cx="6983412" cy="790575"/>
          </a:xfrm>
          <a:prstGeom prst="wedgeRectCallout">
            <a:avLst>
              <a:gd name="adj1" fmla="val 19037"/>
              <a:gd name="adj2" fmla="val -64657"/>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itchFamily="2" charset="-122"/>
              </a:rPr>
              <a:t>    </a:t>
            </a:r>
            <a:r>
              <a:rPr lang="zh-CN" altLang="en-US" sz="2400" b="0">
                <a:solidFill>
                  <a:schemeClr val="tx1"/>
                </a:solidFill>
                <a:latin typeface="宋体" pitchFamily="2" charset="-122"/>
              </a:rPr>
              <a:t>主要由控制存储器、微指令寄存器和地址转移逻辑三大部分组成。 </a:t>
            </a:r>
          </a:p>
        </p:txBody>
      </p:sp>
      <p:sp>
        <p:nvSpPr>
          <p:cNvPr id="78856" name="AutoShape 8"/>
          <p:cNvSpPr>
            <a:spLocks noChangeArrowheads="1"/>
          </p:cNvSpPr>
          <p:nvPr/>
        </p:nvSpPr>
        <p:spPr bwMode="auto">
          <a:xfrm>
            <a:off x="250825" y="260350"/>
            <a:ext cx="8642350" cy="2663825"/>
          </a:xfrm>
          <a:prstGeom prst="wedgeRectCallout">
            <a:avLst>
              <a:gd name="adj1" fmla="val -31889"/>
              <a:gd name="adj2" fmla="val 59773"/>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itchFamily="2" charset="-122"/>
              </a:rPr>
              <a:t>控制存储器</a:t>
            </a:r>
            <a:r>
              <a:rPr lang="en-US" altLang="zh-CN" sz="2400">
                <a:solidFill>
                  <a:schemeClr val="tx1"/>
                </a:solidFill>
                <a:latin typeface="宋体" pitchFamily="2" charset="-122"/>
              </a:rPr>
              <a:t>:</a:t>
            </a:r>
            <a:r>
              <a:rPr lang="zh-CN" altLang="en-US" sz="2400" b="0">
                <a:solidFill>
                  <a:schemeClr val="tx1"/>
                </a:solidFill>
                <a:latin typeface="宋体" pitchFamily="2" charset="-122"/>
              </a:rPr>
              <a:t>只读存储器</a:t>
            </a:r>
            <a:r>
              <a:rPr lang="en-US" altLang="zh-CN" sz="2400" b="0">
                <a:solidFill>
                  <a:schemeClr val="tx1"/>
                </a:solidFill>
                <a:latin typeface="宋体" pitchFamily="2" charset="-122"/>
              </a:rPr>
              <a:t>,</a:t>
            </a:r>
            <a:r>
              <a:rPr lang="zh-CN" altLang="en-US" sz="2400" b="0">
                <a:solidFill>
                  <a:schemeClr val="tx1"/>
                </a:solidFill>
                <a:latin typeface="宋体" pitchFamily="2" charset="-122"/>
              </a:rPr>
              <a:t>存放实现全部指令系统的微程序，其工作过程是：读微指令→执行微指令→读微指令→执行微指令</a:t>
            </a:r>
            <a:r>
              <a:rPr lang="en-US" altLang="zh-CN" sz="2400" b="0">
                <a:solidFill>
                  <a:schemeClr val="tx1"/>
                </a:solidFill>
                <a:latin typeface="宋体" pitchFamily="2" charset="-122"/>
              </a:rPr>
              <a:t>….</a:t>
            </a:r>
            <a:r>
              <a:rPr lang="zh-CN" altLang="en-US" sz="2400" b="0">
                <a:solidFill>
                  <a:schemeClr val="tx1"/>
                </a:solidFill>
                <a:latin typeface="宋体" pitchFamily="2" charset="-122"/>
              </a:rPr>
              <a:t>。读出一条微指令并执行微指令的时间总和称为一个微指令周期。通常，在串行方式的微程序控制器中，微指令周期就是只读存储器的工作周期。控制存储器的字长就是微指令字的长度，其存储容量视机器指令系统而定，即取决于微程序的数量。对控制存储器的要求是速度快，读出周期要短。</a:t>
            </a:r>
          </a:p>
        </p:txBody>
      </p:sp>
      <p:sp>
        <p:nvSpPr>
          <p:cNvPr id="78858" name="AutoShape 10"/>
          <p:cNvSpPr>
            <a:spLocks noChangeArrowheads="1"/>
          </p:cNvSpPr>
          <p:nvPr/>
        </p:nvSpPr>
        <p:spPr bwMode="auto">
          <a:xfrm>
            <a:off x="250825" y="692150"/>
            <a:ext cx="8642350" cy="1584325"/>
          </a:xfrm>
          <a:prstGeom prst="wedgeRectCallout">
            <a:avLst>
              <a:gd name="adj1" fmla="val -4921"/>
              <a:gd name="adj2" fmla="val 111926"/>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rPr>
              <a:t>微指令寄存器：</a:t>
            </a:r>
            <a:r>
              <a:rPr lang="zh-CN" altLang="en-US" sz="2400" b="0">
                <a:solidFill>
                  <a:schemeClr val="tx1"/>
                </a:solidFill>
              </a:rPr>
              <a:t>微指令寄存器用来存放由控制存储器读出的一条微指令信息。其中微地址寄存器决定将要访问的下一条微指令的地址，而微命令寄存器则保存一条微指令的操作控制字段和判别测试字段的信息</a:t>
            </a:r>
            <a:r>
              <a:rPr lang="zh-CN" altLang="en-US" b="0">
                <a:solidFill>
                  <a:schemeClr val="tx1"/>
                </a:solidFill>
              </a:rPr>
              <a:t>。</a:t>
            </a:r>
          </a:p>
        </p:txBody>
      </p:sp>
      <p:sp>
        <p:nvSpPr>
          <p:cNvPr id="78859" name="AutoShape 11"/>
          <p:cNvSpPr>
            <a:spLocks noChangeArrowheads="1"/>
          </p:cNvSpPr>
          <p:nvPr/>
        </p:nvSpPr>
        <p:spPr bwMode="auto">
          <a:xfrm>
            <a:off x="179388" y="188913"/>
            <a:ext cx="3706812" cy="6364287"/>
          </a:xfrm>
          <a:prstGeom prst="wedgeRectCallout">
            <a:avLst>
              <a:gd name="adj1" fmla="val 78435"/>
              <a:gd name="adj2" fmla="val 10042"/>
            </a:avLst>
          </a:prstGeom>
          <a:solidFill>
            <a:schemeClr val="accent1"/>
          </a:solidFill>
          <a:ln w="12700" cap="sq">
            <a:solidFill>
              <a:schemeClr val="tx1"/>
            </a:solidFill>
            <a:miter lim="800000"/>
            <a:headEnd type="none" w="sm" len="sm"/>
            <a:tailEnd type="none" w="sm" len="sm"/>
          </a:ln>
        </p:spPr>
        <p:txBody>
          <a:bodyPr/>
          <a:lstStyle/>
          <a:p>
            <a:r>
              <a:rPr lang="zh-CN" altLang="en-US" sz="2400">
                <a:solidFill>
                  <a:schemeClr val="tx1"/>
                </a:solidFill>
                <a:latin typeface="宋体" pitchFamily="2" charset="-122"/>
              </a:rPr>
              <a:t>地址转移逻辑 </a:t>
            </a:r>
            <a:endParaRPr lang="zh-CN" altLang="en-US" sz="2400" b="0">
              <a:solidFill>
                <a:schemeClr val="tx1"/>
              </a:solidFill>
              <a:latin typeface="宋体" pitchFamily="2" charset="-122"/>
            </a:endParaRPr>
          </a:p>
          <a:p>
            <a:r>
              <a:rPr lang="zh-CN" altLang="en-US" sz="2400" b="0">
                <a:solidFill>
                  <a:schemeClr val="tx1"/>
                </a:solidFill>
                <a:latin typeface="宋体" pitchFamily="2" charset="-122"/>
              </a:rPr>
              <a:t>　　通常，微指令由控制存储器读出后直接给出下一条微指令的地址</a:t>
            </a:r>
            <a:r>
              <a:rPr lang="zh-CN" altLang="en-US" sz="2400" b="0">
                <a:solidFill>
                  <a:schemeClr val="tx1"/>
                </a:solidFill>
                <a:latin typeface="华文宋体" pitchFamily="2" charset="-122"/>
                <a:ea typeface="华文宋体" pitchFamily="2" charset="-122"/>
              </a:rPr>
              <a:t>→</a:t>
            </a:r>
            <a:r>
              <a:rPr lang="zh-CN" altLang="en-US" sz="2400">
                <a:solidFill>
                  <a:schemeClr val="tx1"/>
                </a:solidFill>
                <a:latin typeface="宋体" pitchFamily="2" charset="-122"/>
              </a:rPr>
              <a:t>微地址</a:t>
            </a:r>
            <a:r>
              <a:rPr lang="zh-CN" altLang="en-US" sz="2400" b="0">
                <a:solidFill>
                  <a:schemeClr val="tx1"/>
                </a:solidFill>
                <a:latin typeface="宋体" pitchFamily="2" charset="-122"/>
              </a:rPr>
              <a:t>，该微地址信息存放在微地址寄存器中。如果微程序不出现分支，那么下一条微指令的地址就直接由微地址寄存器给出。当微程序出现分支时，通过判别测试字段</a:t>
            </a:r>
            <a:r>
              <a:rPr lang="en-US" altLang="zh-CN" sz="2400" b="0">
                <a:solidFill>
                  <a:schemeClr val="tx1"/>
                </a:solidFill>
                <a:latin typeface="宋体" pitchFamily="2" charset="-122"/>
              </a:rPr>
              <a:t>P</a:t>
            </a:r>
            <a:r>
              <a:rPr lang="zh-CN" altLang="en-US" sz="2400" b="0">
                <a:solidFill>
                  <a:schemeClr val="tx1"/>
                </a:solidFill>
                <a:latin typeface="宋体" pitchFamily="2" charset="-122"/>
              </a:rPr>
              <a:t>和执行部件的“状态条件”反馈信息，去修改微地址寄存器的内容，并按改好的内容去读下一条微指令。地址转移逻辑就承担自动完成修改微地址的任务。</a:t>
            </a:r>
          </a:p>
        </p:txBody>
      </p:sp>
      <p:pic>
        <p:nvPicPr>
          <p:cNvPr id="63498" name="Picture 12">
            <a:hlinkClick r:id="rId3" action="ppaction://hlinkfile"/>
          </p:cNvPr>
          <p:cNvPicPr>
            <a:picLocks noChangeAspect="1" noChangeArrowheads="1"/>
          </p:cNvPicPr>
          <p:nvPr/>
        </p:nvPicPr>
        <p:blipFill>
          <a:blip r:embed="rId4"/>
          <a:srcRect/>
          <a:stretch>
            <a:fillRect/>
          </a:stretch>
        </p:blipFill>
        <p:spPr bwMode="auto">
          <a:xfrm>
            <a:off x="7524750" y="4076700"/>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855"/>
                                        </p:tgtEl>
                                        <p:attrNameLst>
                                          <p:attrName>style.visibility</p:attrName>
                                        </p:attrNameLst>
                                      </p:cBhvr>
                                      <p:to>
                                        <p:strVal val="visible"/>
                                      </p:to>
                                    </p:set>
                                  </p:childTnLst>
                                  <p:subTnLst>
                                    <p:set>
                                      <p:cBhvr override="childStyle">
                                        <p:cTn dur="1" fill="hold" display="0" masterRel="nextClick" afterEffect="1"/>
                                        <p:tgtEl>
                                          <p:spTgt spid="78855"/>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856"/>
                                        </p:tgtEl>
                                        <p:attrNameLst>
                                          <p:attrName>style.visibility</p:attrName>
                                        </p:attrNameLst>
                                      </p:cBhvr>
                                      <p:to>
                                        <p:strVal val="visible"/>
                                      </p:to>
                                    </p:set>
                                  </p:childTnLst>
                                  <p:subTnLst>
                                    <p:set>
                                      <p:cBhvr override="childStyle">
                                        <p:cTn dur="1" fill="hold" display="0" masterRel="nextClick" afterEffect="1"/>
                                        <p:tgtEl>
                                          <p:spTgt spid="7885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8"/>
                                        </p:tgtEl>
                                        <p:attrNameLst>
                                          <p:attrName>style.visibility</p:attrName>
                                        </p:attrNameLst>
                                      </p:cBhvr>
                                      <p:to>
                                        <p:strVal val="visible"/>
                                      </p:to>
                                    </p:set>
                                  </p:childTnLst>
                                  <p:subTnLst>
                                    <p:set>
                                      <p:cBhvr override="childStyle">
                                        <p:cTn dur="1" fill="hold" display="0" masterRel="nextClick" afterEffect="1"/>
                                        <p:tgtEl>
                                          <p:spTgt spid="78858"/>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859"/>
                                        </p:tgtEl>
                                        <p:attrNameLst>
                                          <p:attrName>style.visibility</p:attrName>
                                        </p:attrNameLst>
                                      </p:cBhvr>
                                      <p:to>
                                        <p:strVal val="visible"/>
                                      </p:to>
                                    </p:set>
                                  </p:childTnLst>
                                  <p:subTnLst>
                                    <p:set>
                                      <p:cBhvr override="childStyle">
                                        <p:cTn dur="1" fill="hold" display="0" masterRel="nextClick" afterEffect="1"/>
                                        <p:tgtEl>
                                          <p:spTgt spid="7885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animBg="1" autoUpdateAnimBg="0"/>
      <p:bldP spid="78856" grpId="0" animBg="1" autoUpdateAnimBg="0"/>
      <p:bldP spid="78858" grpId="0" animBg="1" autoUpdateAnimBg="0"/>
      <p:bldP spid="78859"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p>
            <a:fld id="{71AB6CF4-7DA3-4000-A7A9-77940BA289BE}" type="slidenum">
              <a:rPr lang="en-US" altLang="zh-CN" smtClean="0"/>
              <a:pPr/>
              <a:t>62</a:t>
            </a:fld>
            <a:endParaRPr lang="en-US" altLang="zh-CN" smtClean="0"/>
          </a:p>
        </p:txBody>
      </p:sp>
      <p:sp>
        <p:nvSpPr>
          <p:cNvPr id="64515" name="Rectangle 4"/>
          <p:cNvSpPr>
            <a:spLocks noChangeArrowheads="1"/>
          </p:cNvSpPr>
          <p:nvPr/>
        </p:nvSpPr>
        <p:spPr bwMode="auto">
          <a:xfrm>
            <a:off x="468313" y="1052513"/>
            <a:ext cx="7272337" cy="3508375"/>
          </a:xfrm>
          <a:prstGeom prst="rect">
            <a:avLst/>
          </a:prstGeom>
          <a:noFill/>
          <a:ln w="12700" cap="sq">
            <a:noFill/>
            <a:miter lim="800000"/>
            <a:headEnd type="none" w="sm" len="sm"/>
            <a:tailEnd type="none" w="sm" len="sm"/>
          </a:ln>
        </p:spPr>
        <p:txBody>
          <a:bodyPr anchor="ctr">
            <a:spAutoFit/>
          </a:bodyPr>
          <a:lstStyle/>
          <a:p>
            <a:r>
              <a:rPr lang="en-US" altLang="zh-CN" sz="2800" b="0" dirty="0" smtClean="0">
                <a:solidFill>
                  <a:schemeClr val="tx1"/>
                </a:solidFill>
                <a:latin typeface="宋体" pitchFamily="2" charset="-122"/>
              </a:rPr>
              <a:t>P186</a:t>
            </a:r>
            <a:r>
              <a:rPr lang="zh-CN" altLang="en-US" sz="2800" b="0" dirty="0" smtClean="0">
                <a:solidFill>
                  <a:schemeClr val="tx1"/>
                </a:solidFill>
                <a:latin typeface="宋体" pitchFamily="2" charset="-122"/>
              </a:rPr>
              <a:t>、</a:t>
            </a:r>
            <a:r>
              <a:rPr lang="zh-CN" altLang="en-US" sz="2800" b="0" dirty="0">
                <a:solidFill>
                  <a:schemeClr val="tx1"/>
                </a:solidFill>
                <a:latin typeface="宋体" pitchFamily="2" charset="-122"/>
              </a:rPr>
              <a:t>习题</a:t>
            </a:r>
            <a:r>
              <a:rPr lang="en-US" altLang="zh-CN" sz="2800" b="0" dirty="0">
                <a:solidFill>
                  <a:schemeClr val="tx1"/>
                </a:solidFill>
                <a:latin typeface="宋体" pitchFamily="2" charset="-122"/>
              </a:rPr>
              <a:t>6 </a:t>
            </a:r>
            <a:r>
              <a:rPr lang="zh-CN" altLang="en-US" sz="2800" b="0" dirty="0">
                <a:solidFill>
                  <a:schemeClr val="tx1"/>
                </a:solidFill>
                <a:latin typeface="宋体" pitchFamily="2" charset="-122"/>
              </a:rPr>
              <a:t>假设某机器有</a:t>
            </a:r>
            <a:r>
              <a:rPr lang="en-US" altLang="zh-CN" sz="2800" b="0" dirty="0">
                <a:solidFill>
                  <a:schemeClr val="tx1"/>
                </a:solidFill>
                <a:latin typeface="宋体" pitchFamily="2" charset="-122"/>
              </a:rPr>
              <a:t>80</a:t>
            </a:r>
            <a:r>
              <a:rPr lang="zh-CN" altLang="en-US" sz="2800" b="0" dirty="0">
                <a:solidFill>
                  <a:schemeClr val="tx1"/>
                </a:solidFill>
                <a:latin typeface="宋体" pitchFamily="2" charset="-122"/>
              </a:rPr>
              <a:t>条指令，平均每条指令由</a:t>
            </a:r>
            <a:r>
              <a:rPr lang="en-US" altLang="zh-CN" sz="2800" b="0" dirty="0">
                <a:solidFill>
                  <a:schemeClr val="tx1"/>
                </a:solidFill>
                <a:latin typeface="宋体" pitchFamily="2" charset="-122"/>
              </a:rPr>
              <a:t>4</a:t>
            </a:r>
            <a:r>
              <a:rPr lang="zh-CN" altLang="en-US" sz="2800" b="0" dirty="0">
                <a:solidFill>
                  <a:schemeClr val="tx1"/>
                </a:solidFill>
                <a:latin typeface="宋体" pitchFamily="2" charset="-122"/>
              </a:rPr>
              <a:t>条微指令组成，其中有一条取指微指令是所有指令公用的。已知微指令长度为</a:t>
            </a:r>
            <a:r>
              <a:rPr lang="en-US" altLang="zh-CN" sz="2800" b="0" dirty="0">
                <a:solidFill>
                  <a:schemeClr val="tx1"/>
                </a:solidFill>
                <a:latin typeface="宋体" pitchFamily="2" charset="-122"/>
              </a:rPr>
              <a:t>32</a:t>
            </a:r>
            <a:r>
              <a:rPr lang="zh-CN" altLang="en-US" sz="2800" b="0" dirty="0">
                <a:solidFill>
                  <a:schemeClr val="tx1"/>
                </a:solidFill>
                <a:latin typeface="宋体" pitchFamily="2" charset="-122"/>
              </a:rPr>
              <a:t>位，请估算控制存储器的容量。</a:t>
            </a:r>
          </a:p>
          <a:p>
            <a:endParaRPr lang="zh-CN" altLang="en-US" sz="2800" b="0" dirty="0">
              <a:solidFill>
                <a:schemeClr val="tx1"/>
              </a:solidFill>
              <a:latin typeface="宋体" pitchFamily="2" charset="-122"/>
            </a:endParaRPr>
          </a:p>
          <a:p>
            <a:r>
              <a:rPr lang="zh-CN" altLang="en-US" sz="2800" b="0" dirty="0">
                <a:solidFill>
                  <a:schemeClr val="tx1"/>
                </a:solidFill>
                <a:latin typeface="宋体" pitchFamily="2" charset="-122"/>
              </a:rPr>
              <a:t>解：微指令总数 </a:t>
            </a:r>
            <a:r>
              <a:rPr lang="en-US" altLang="zh-CN" sz="2800" b="0" dirty="0">
                <a:solidFill>
                  <a:schemeClr val="tx1"/>
                </a:solidFill>
                <a:latin typeface="宋体" pitchFamily="2" charset="-122"/>
              </a:rPr>
              <a:t>= 80 * 3 + 1 = 241</a:t>
            </a:r>
            <a:r>
              <a:rPr lang="zh-CN" altLang="en-US" sz="2800" b="0" dirty="0">
                <a:solidFill>
                  <a:schemeClr val="tx1"/>
                </a:solidFill>
                <a:latin typeface="宋体" pitchFamily="2" charset="-122"/>
              </a:rPr>
              <a:t>条</a:t>
            </a:r>
          </a:p>
          <a:p>
            <a:r>
              <a:rPr lang="zh-CN" altLang="en-US" sz="2800" b="0" dirty="0">
                <a:solidFill>
                  <a:schemeClr val="tx1"/>
                </a:solidFill>
                <a:latin typeface="宋体" pitchFamily="2" charset="-122"/>
              </a:rPr>
              <a:t>    控制存储器的容量 </a:t>
            </a:r>
            <a:r>
              <a:rPr lang="en-US" altLang="zh-CN" sz="2800" b="0" dirty="0">
                <a:solidFill>
                  <a:schemeClr val="tx1"/>
                </a:solidFill>
                <a:latin typeface="宋体" pitchFamily="2" charset="-122"/>
              </a:rPr>
              <a:t>= 241 * 32= 7712</a:t>
            </a:r>
            <a:r>
              <a:rPr lang="zh-CN" altLang="en-US" sz="2800" b="0" dirty="0">
                <a:solidFill>
                  <a:schemeClr val="tx1"/>
                </a:solidFill>
                <a:latin typeface="宋体" pitchFamily="2" charset="-122"/>
              </a:rPr>
              <a:t>位</a:t>
            </a:r>
            <a:r>
              <a:rPr lang="en-US" altLang="zh-CN" sz="2800" b="0" dirty="0">
                <a:solidFill>
                  <a:schemeClr val="tx1"/>
                </a:solidFill>
                <a:latin typeface="宋体" pitchFamily="2" charset="-122"/>
              </a:rPr>
              <a:t>,</a:t>
            </a:r>
          </a:p>
          <a:p>
            <a:r>
              <a:rPr lang="en-US" altLang="zh-CN" sz="2800" b="0" dirty="0">
                <a:solidFill>
                  <a:schemeClr val="tx1"/>
                </a:solidFill>
                <a:latin typeface="宋体" pitchFamily="2" charset="-122"/>
              </a:rPr>
              <a:t>    </a:t>
            </a:r>
            <a:r>
              <a:rPr lang="zh-CN" altLang="en-US" sz="2800" b="0" dirty="0">
                <a:solidFill>
                  <a:schemeClr val="tx1"/>
                </a:solidFill>
                <a:latin typeface="宋体" pitchFamily="2" charset="-122"/>
              </a:rPr>
              <a:t>即</a:t>
            </a:r>
            <a:r>
              <a:rPr lang="en-US" altLang="zh-CN" sz="2800" b="0" dirty="0">
                <a:solidFill>
                  <a:schemeClr val="tx1"/>
                </a:solidFill>
                <a:latin typeface="宋体" pitchFamily="2" charset="-122"/>
              </a:rPr>
              <a:t>964</a:t>
            </a:r>
            <a:r>
              <a:rPr lang="zh-CN" altLang="en-US" sz="2800" b="0" dirty="0">
                <a:solidFill>
                  <a:schemeClr val="tx1"/>
                </a:solidFill>
                <a:latin typeface="宋体" pitchFamily="2" charset="-122"/>
              </a:rPr>
              <a:t>字节，可以取</a:t>
            </a:r>
            <a:r>
              <a:rPr lang="en-US" altLang="zh-CN" sz="2800" b="0" dirty="0">
                <a:solidFill>
                  <a:schemeClr val="tx1"/>
                </a:solidFill>
                <a:latin typeface="宋体" pitchFamily="2" charset="-122"/>
              </a:rPr>
              <a:t>1KB</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66399"/>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36110" y="1275219"/>
            <a:ext cx="8525810" cy="4247317"/>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a:solidFill>
                  <a:schemeClr val="tx1"/>
                </a:solidFill>
                <a:latin typeface="微软雅黑" panose="020B0503020204020204" pitchFamily="34" charset="-122"/>
                <a:ea typeface="微软雅黑" panose="020B0503020204020204" pitchFamily="34" charset="-122"/>
              </a:rPr>
              <a:t>同一个</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周期中，能并行执行的微操作叫相容性微</a:t>
            </a:r>
            <a:r>
              <a:rPr lang="zh-CN" altLang="zh-CN" sz="2000" dirty="0" smtClean="0">
                <a:solidFill>
                  <a:schemeClr val="tx1"/>
                </a:solidFill>
                <a:latin typeface="微软雅黑" panose="020B0503020204020204" pitchFamily="34" charset="-122"/>
                <a:ea typeface="微软雅黑" panose="020B0503020204020204" pitchFamily="34" charset="-122"/>
              </a:rPr>
              <a:t>操作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不能</a:t>
            </a:r>
            <a:r>
              <a:rPr lang="zh-CN" altLang="zh-CN" sz="2000" dirty="0">
                <a:solidFill>
                  <a:schemeClr val="tx1"/>
                </a:solidFill>
                <a:latin typeface="微软雅黑" panose="020B0503020204020204" pitchFamily="34" charset="-122"/>
                <a:ea typeface="微软雅黑" panose="020B0503020204020204" pitchFamily="34" charset="-122"/>
              </a:rPr>
              <a:t>并行执行的微操作叫相斥性微</a:t>
            </a:r>
            <a:r>
              <a:rPr lang="zh-CN" altLang="zh-CN" sz="2000" dirty="0" smtClean="0">
                <a:solidFill>
                  <a:schemeClr val="tx1"/>
                </a:solidFill>
                <a:latin typeface="微软雅黑" panose="020B0503020204020204" pitchFamily="34" charset="-122"/>
                <a:ea typeface="微软雅黑" panose="020B0503020204020204" pitchFamily="34" charset="-122"/>
              </a:rPr>
              <a:t>操作</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错</a:t>
            </a: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微程序控制</a:t>
            </a:r>
            <a:r>
              <a:rPr lang="zh-CN" altLang="zh-CN" sz="2000" dirty="0">
                <a:solidFill>
                  <a:schemeClr val="tx1"/>
                </a:solidFill>
                <a:latin typeface="微软雅黑" panose="020B0503020204020204" pitchFamily="34" charset="-122"/>
                <a:ea typeface="微软雅黑" panose="020B0503020204020204" pitchFamily="34" charset="-122"/>
              </a:rPr>
              <a:t>器中，机器指令与微指令的关系是（</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zh-CN" altLang="zh-CN" sz="2000" dirty="0">
                <a:solidFill>
                  <a:schemeClr val="tx1"/>
                </a:solidFill>
                <a:latin typeface="微软雅黑" panose="020B0503020204020204" pitchFamily="34" charset="-122"/>
                <a:ea typeface="微软雅黑" panose="020B0503020204020204" pitchFamily="34" charset="-122"/>
              </a:rPr>
              <a:t>．每一条机器指令由一条微指令来执行</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B</a:t>
            </a:r>
            <a:r>
              <a:rPr lang="zh-CN" altLang="zh-CN" sz="2000" dirty="0">
                <a:solidFill>
                  <a:schemeClr val="tx1"/>
                </a:solidFill>
                <a:latin typeface="微软雅黑" panose="020B0503020204020204" pitchFamily="34" charset="-122"/>
                <a:ea typeface="微软雅黑" panose="020B0503020204020204" pitchFamily="34" charset="-122"/>
              </a:rPr>
              <a:t>．每一条机器指令由一段用微指令编成的微程序来解释执行</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zh-CN" altLang="zh-CN" sz="2000" dirty="0">
                <a:solidFill>
                  <a:schemeClr val="tx1"/>
                </a:solidFill>
                <a:latin typeface="微软雅黑" panose="020B0503020204020204" pitchFamily="34" charset="-122"/>
                <a:ea typeface="微软雅黑" panose="020B0503020204020204" pitchFamily="34" charset="-122"/>
              </a:rPr>
              <a:t>．一段机器指令组成的程序可由一条微指令来执行</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D</a:t>
            </a:r>
            <a:r>
              <a:rPr lang="zh-CN" altLang="zh-CN" sz="2000" dirty="0">
                <a:solidFill>
                  <a:schemeClr val="tx1"/>
                </a:solidFill>
                <a:latin typeface="微软雅黑" panose="020B0503020204020204" pitchFamily="34" charset="-122"/>
                <a:ea typeface="微软雅黑" panose="020B0503020204020204" pitchFamily="34" charset="-122"/>
              </a:rPr>
              <a:t>．一条微指令由若干条机器指令</a:t>
            </a:r>
            <a:r>
              <a:rPr lang="zh-CN" altLang="zh-CN" sz="2000" dirty="0" smtClean="0">
                <a:solidFill>
                  <a:schemeClr val="tx1"/>
                </a:solidFill>
                <a:latin typeface="微软雅黑" panose="020B0503020204020204" pitchFamily="34" charset="-122"/>
                <a:ea typeface="微软雅黑" panose="020B0503020204020204" pitchFamily="34" charset="-122"/>
              </a:rPr>
              <a:t>组成</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718159" y="1805587"/>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2143360" y="2708534"/>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708509" y="4077072"/>
            <a:ext cx="507574" cy="49542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2668186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622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342343" y="1124744"/>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在</a:t>
            </a:r>
            <a:r>
              <a:rPr lang="zh-CN" altLang="zh-CN" sz="2000" dirty="0">
                <a:solidFill>
                  <a:schemeClr val="tx1"/>
                </a:solidFill>
                <a:latin typeface="微软雅黑" panose="020B0503020204020204" pitchFamily="34" charset="-122"/>
                <a:ea typeface="微软雅黑" panose="020B0503020204020204" pitchFamily="34" charset="-122"/>
              </a:rPr>
              <a:t>一个</a:t>
            </a:r>
            <a:r>
              <a:rPr lang="en-US" altLang="zh-CN" sz="2000" dirty="0">
                <a:solidFill>
                  <a:schemeClr val="tx1"/>
                </a:solidFill>
                <a:latin typeface="微软雅黑" panose="020B0503020204020204" pitchFamily="34" charset="-122"/>
                <a:ea typeface="微软雅黑" panose="020B0503020204020204" pitchFamily="34" charset="-122"/>
              </a:rPr>
              <a:t>CPU</a:t>
            </a:r>
            <a:r>
              <a:rPr lang="zh-CN" altLang="zh-CN" sz="2000" dirty="0">
                <a:solidFill>
                  <a:schemeClr val="tx1"/>
                </a:solidFill>
                <a:latin typeface="微软雅黑" panose="020B0503020204020204" pitchFamily="34" charset="-122"/>
                <a:ea typeface="微软雅黑" panose="020B0503020204020204" pitchFamily="34" charset="-122"/>
              </a:rPr>
              <a:t>周期中</a:t>
            </a:r>
            <a:r>
              <a:rPr lang="en-US" altLang="zh-CN" sz="2000" dirty="0">
                <a:solidFill>
                  <a:schemeClr val="tx1"/>
                </a:solidFill>
                <a:latin typeface="微软雅黑" panose="020B0503020204020204" pitchFamily="34" charset="-122"/>
                <a:ea typeface="微软雅黑" panose="020B0503020204020204" pitchFamily="34" charset="-122"/>
              </a:rPr>
              <a:t>__________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只能执行一个微操作</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a:solidFill>
                  <a:schemeClr val="tx1"/>
                </a:solidFill>
                <a:latin typeface="微软雅黑" panose="020B0503020204020204" pitchFamily="34" charset="-122"/>
                <a:ea typeface="微软雅黑" panose="020B0503020204020204" pitchFamily="34" charset="-122"/>
              </a:rPr>
              <a:t>能执行多个微操作，但它们一定是并行操作的</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能顺序执行多个微操作</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只能执行相斥性的微操作</a:t>
            </a: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机器指令</a:t>
            </a:r>
            <a:r>
              <a:rPr lang="zh-CN" altLang="zh-CN" sz="2000" dirty="0">
                <a:solidFill>
                  <a:schemeClr val="tx1"/>
                </a:solidFill>
                <a:latin typeface="微软雅黑" panose="020B0503020204020204" pitchFamily="34" charset="-122"/>
                <a:ea typeface="微软雅黑" panose="020B0503020204020204" pitchFamily="34" charset="-122"/>
              </a:rPr>
              <a:t>与微指令之间的关系是</a:t>
            </a:r>
            <a:r>
              <a:rPr lang="en-US" altLang="zh-CN" sz="2000" dirty="0">
                <a:solidFill>
                  <a:schemeClr val="tx1"/>
                </a:solidFill>
                <a:latin typeface="微软雅黑" panose="020B0503020204020204" pitchFamily="34" charset="-122"/>
                <a:ea typeface="微软雅黑" panose="020B0503020204020204" pitchFamily="34" charset="-122"/>
              </a:rPr>
              <a:t>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用若干条微指令实现一条机器指令 </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用若干条机器指令实现一条微指令</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用一条微指令实现一条机器指令</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D</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用一条机器指令实现一条</a:t>
            </a:r>
            <a:r>
              <a:rPr lang="zh-CN" altLang="zh-CN" sz="2000" dirty="0" smtClean="0">
                <a:solidFill>
                  <a:schemeClr val="tx1"/>
                </a:solidFill>
                <a:latin typeface="微软雅黑" panose="020B0503020204020204" pitchFamily="34" charset="-122"/>
                <a:ea typeface="微软雅黑" panose="020B0503020204020204" pitchFamily="34" charset="-122"/>
              </a:rPr>
              <a:t>微指令</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672545" y="206084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683568" y="388650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2390119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课内练习</a:t>
            </a:r>
          </a:p>
        </p:txBody>
      </p:sp>
      <p:sp>
        <p:nvSpPr>
          <p:cNvPr id="7" name="TextBox 6"/>
          <p:cNvSpPr txBox="1"/>
          <p:nvPr>
            <p:custDataLst>
              <p:tags r:id="rId1"/>
            </p:custDataLst>
          </p:nvPr>
        </p:nvSpPr>
        <p:spPr>
          <a:xfrm>
            <a:off x="323528" y="1289352"/>
            <a:ext cx="8525810" cy="397031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下面</a:t>
            </a:r>
            <a:r>
              <a:rPr lang="zh-CN" altLang="zh-CN" sz="2400" dirty="0">
                <a:solidFill>
                  <a:schemeClr val="tx1"/>
                </a:solidFill>
                <a:latin typeface="微软雅黑" panose="020B0503020204020204" pitchFamily="34" charset="-122"/>
                <a:ea typeface="微软雅黑" panose="020B0503020204020204" pitchFamily="34" charset="-122"/>
              </a:rPr>
              <a:t>不属于微程序控制部件的是</a:t>
            </a:r>
            <a:r>
              <a:rPr lang="zh-CN"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A. </a:t>
            </a:r>
            <a:r>
              <a:rPr lang="zh-CN" altLang="zh-CN" sz="2400" dirty="0" smtClean="0">
                <a:solidFill>
                  <a:schemeClr val="tx1"/>
                </a:solidFill>
                <a:latin typeface="微软雅黑" panose="020B0503020204020204" pitchFamily="34" charset="-122"/>
                <a:ea typeface="微软雅黑" panose="020B0503020204020204" pitchFamily="34" charset="-122"/>
              </a:rPr>
              <a:t>控制</a:t>
            </a:r>
            <a:r>
              <a:rPr lang="zh-CN" altLang="zh-CN" sz="2400" dirty="0">
                <a:solidFill>
                  <a:schemeClr val="tx1"/>
                </a:solidFill>
                <a:latin typeface="微软雅黑" panose="020B0503020204020204" pitchFamily="34" charset="-122"/>
                <a:ea typeface="微软雅黑" panose="020B0503020204020204" pitchFamily="34" charset="-122"/>
              </a:rPr>
              <a:t>存储器</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B. </a:t>
            </a:r>
            <a:r>
              <a:rPr lang="zh-CN" altLang="zh-CN" sz="2400" dirty="0" smtClean="0">
                <a:solidFill>
                  <a:schemeClr val="tx1"/>
                </a:solidFill>
                <a:latin typeface="微软雅黑" panose="020B0503020204020204" pitchFamily="34" charset="-122"/>
                <a:ea typeface="微软雅黑" panose="020B0503020204020204" pitchFamily="34" charset="-122"/>
              </a:rPr>
              <a:t>微指令</a:t>
            </a:r>
            <a:r>
              <a:rPr lang="zh-CN" altLang="zh-CN" sz="2400" dirty="0">
                <a:solidFill>
                  <a:schemeClr val="tx1"/>
                </a:solidFill>
                <a:latin typeface="微软雅黑" panose="020B0503020204020204" pitchFamily="34" charset="-122"/>
                <a:ea typeface="微软雅黑" panose="020B0503020204020204" pitchFamily="34" charset="-122"/>
              </a:rPr>
              <a:t>寄存器</a:t>
            </a:r>
            <a:r>
              <a:rPr lang="en-US" altLang="zh-CN" sz="2400" dirty="0">
                <a:solidFill>
                  <a:schemeClr val="tx1"/>
                </a:solidFill>
                <a:latin typeface="微软雅黑" panose="020B0503020204020204" pitchFamily="34" charset="-122"/>
                <a:ea typeface="微软雅黑" panose="020B0503020204020204" pitchFamily="34" charset="-122"/>
              </a:rPr>
              <a:t> </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C. </a:t>
            </a:r>
            <a:r>
              <a:rPr lang="zh-CN" altLang="zh-CN" sz="2400" dirty="0" smtClean="0">
                <a:solidFill>
                  <a:schemeClr val="tx1"/>
                </a:solidFill>
                <a:latin typeface="微软雅黑" panose="020B0503020204020204" pitchFamily="34" charset="-122"/>
                <a:ea typeface="微软雅黑" panose="020B0503020204020204" pitchFamily="34" charset="-122"/>
              </a:rPr>
              <a:t>指令寄存器</a:t>
            </a:r>
            <a:r>
              <a:rPr lang="en-US" altLang="zh-CN" sz="2400" dirty="0" smtClean="0">
                <a:solidFill>
                  <a:schemeClr val="tx1"/>
                </a:solidFill>
                <a:latin typeface="微软雅黑" panose="020B0503020204020204" pitchFamily="34" charset="-122"/>
                <a:ea typeface="微软雅黑" panose="020B0503020204020204" pitchFamily="34" charset="-122"/>
              </a:rPr>
              <a:t>            D. </a:t>
            </a:r>
            <a:r>
              <a:rPr lang="zh-CN" altLang="zh-CN" sz="2400" dirty="0" smtClean="0">
                <a:solidFill>
                  <a:schemeClr val="tx1"/>
                </a:solidFill>
                <a:latin typeface="微软雅黑" panose="020B0503020204020204" pitchFamily="34" charset="-122"/>
                <a:ea typeface="微软雅黑" panose="020B0503020204020204" pitchFamily="34" charset="-122"/>
              </a:rPr>
              <a:t>地址</a:t>
            </a:r>
            <a:r>
              <a:rPr lang="zh-CN" altLang="zh-CN" sz="2400" dirty="0">
                <a:solidFill>
                  <a:schemeClr val="tx1"/>
                </a:solidFill>
                <a:latin typeface="微软雅黑" panose="020B0503020204020204" pitchFamily="34" charset="-122"/>
                <a:ea typeface="微软雅黑" panose="020B0503020204020204" pitchFamily="34" charset="-122"/>
              </a:rPr>
              <a:t>转移逻辑</a:t>
            </a:r>
          </a:p>
          <a:p>
            <a:pPr marL="342900" indent="-342900">
              <a:lnSpc>
                <a:spcPct val="150000"/>
              </a:lnSpc>
              <a:buFont typeface="Wingdings" panose="05000000000000000000" pitchFamily="2" charset="2"/>
              <a:buChar char="l"/>
            </a:pPr>
            <a:r>
              <a:rPr lang="zh-CN" altLang="zh-CN" sz="2400" dirty="0" smtClean="0">
                <a:solidFill>
                  <a:schemeClr val="tx1"/>
                </a:solidFill>
                <a:latin typeface="微软雅黑" panose="020B0503020204020204" pitchFamily="34" charset="-122"/>
                <a:ea typeface="微软雅黑" panose="020B0503020204020204" pitchFamily="34" charset="-122"/>
              </a:rPr>
              <a:t>假设</a:t>
            </a:r>
            <a:r>
              <a:rPr lang="zh-CN" altLang="zh-CN" sz="2400" dirty="0">
                <a:solidFill>
                  <a:schemeClr val="tx1"/>
                </a:solidFill>
                <a:latin typeface="微软雅黑" panose="020B0503020204020204" pitchFamily="34" charset="-122"/>
                <a:ea typeface="微软雅黑" panose="020B0503020204020204" pitchFamily="34" charset="-122"/>
              </a:rPr>
              <a:t>某机器有</a:t>
            </a:r>
            <a:r>
              <a:rPr lang="en-US" altLang="zh-CN" sz="2400" dirty="0">
                <a:solidFill>
                  <a:schemeClr val="tx1"/>
                </a:solidFill>
                <a:latin typeface="微软雅黑" panose="020B0503020204020204" pitchFamily="34" charset="-122"/>
                <a:ea typeface="微软雅黑" panose="020B0503020204020204" pitchFamily="34" charset="-122"/>
              </a:rPr>
              <a:t>50</a:t>
            </a:r>
            <a:r>
              <a:rPr lang="zh-CN" altLang="zh-CN" sz="2400" dirty="0">
                <a:solidFill>
                  <a:schemeClr val="tx1"/>
                </a:solidFill>
                <a:latin typeface="微软雅黑" panose="020B0503020204020204" pitchFamily="34" charset="-122"/>
                <a:ea typeface="微软雅黑" panose="020B0503020204020204" pitchFamily="34" charset="-122"/>
              </a:rPr>
              <a:t>条指令，平均每条指令由</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条微指令组成，其中有一条取指微指令是所有指令公用的</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则微指令总数共有（</a:t>
            </a: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zh-CN" sz="2400" dirty="0">
                <a:solidFill>
                  <a:schemeClr val="tx1"/>
                </a:solidFill>
                <a:latin typeface="微软雅黑" panose="020B0503020204020204" pitchFamily="34" charset="-122"/>
                <a:ea typeface="微软雅黑" panose="020B0503020204020204" pitchFamily="34" charset="-122"/>
              </a:rPr>
              <a:t>）条。</a:t>
            </a:r>
          </a:p>
          <a:p>
            <a:pPr>
              <a:lnSpc>
                <a:spcPct val="150000"/>
              </a:lnSpc>
            </a:pPr>
            <a:r>
              <a:rPr lang="en-US" altLang="zh-CN" sz="2400" dirty="0" smtClean="0">
                <a:solidFill>
                  <a:schemeClr val="tx1"/>
                </a:solidFill>
                <a:latin typeface="微软雅黑" panose="020B0503020204020204" pitchFamily="34" charset="-122"/>
                <a:ea typeface="微软雅黑" panose="020B0503020204020204" pitchFamily="34" charset="-122"/>
              </a:rPr>
              <a:t>     A. 50            B. 200             C. 151            </a:t>
            </a:r>
            <a:r>
              <a:rPr lang="en-US" altLang="zh-CN" sz="2400" dirty="0">
                <a:solidFill>
                  <a:schemeClr val="tx1"/>
                </a:solidFill>
                <a:latin typeface="微软雅黑" panose="020B0503020204020204" pitchFamily="34" charset="-122"/>
                <a:ea typeface="微软雅黑" panose="020B0503020204020204" pitchFamily="34" charset="-122"/>
              </a:rPr>
              <a:t>D. 150</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684118" y="244282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4671457" y="4638752"/>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2390119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p>
            <a:fld id="{8EEF24C6-39D3-4405-A563-592971D4BFC7}" type="slidenum">
              <a:rPr lang="en-US" altLang="zh-CN" smtClean="0"/>
              <a:pPr/>
              <a:t>66</a:t>
            </a:fld>
            <a:endParaRPr lang="en-US" altLang="zh-CN" smtClean="0"/>
          </a:p>
        </p:txBody>
      </p:sp>
      <p:sp>
        <p:nvSpPr>
          <p:cNvPr id="65539" name="Rectangle 2"/>
          <p:cNvSpPr>
            <a:spLocks noChangeArrowheads="1"/>
          </p:cNvSpPr>
          <p:nvPr/>
        </p:nvSpPr>
        <p:spPr bwMode="auto">
          <a:xfrm>
            <a:off x="228600" y="228600"/>
            <a:ext cx="8207375" cy="1493838"/>
          </a:xfrm>
          <a:prstGeom prst="rect">
            <a:avLst/>
          </a:prstGeom>
          <a:noFill/>
          <a:ln w="28575" cap="sq">
            <a:noFill/>
            <a:miter lim="800000"/>
            <a:headEnd type="none" w="sm" len="sm"/>
            <a:tailEnd type="none" w="sm" len="sm"/>
          </a:ln>
        </p:spPr>
        <p:txBody>
          <a:bodyPr anchor="ctr">
            <a:spAutoFit/>
          </a:bodyPr>
          <a:lstStyle/>
          <a:p>
            <a:r>
              <a:rPr lang="en-US" altLang="zh-CN" sz="3200" b="0">
                <a:solidFill>
                  <a:schemeClr val="tx1"/>
                </a:solidFill>
                <a:latin typeface="宋体" pitchFamily="2" charset="-122"/>
              </a:rPr>
              <a:t>4.</a:t>
            </a:r>
            <a:r>
              <a:rPr lang="zh-CN" altLang="en-US" sz="3200" b="0">
                <a:solidFill>
                  <a:schemeClr val="tx1"/>
                </a:solidFill>
                <a:latin typeface="宋体" pitchFamily="2" charset="-122"/>
              </a:rPr>
              <a:t>微程序举例</a:t>
            </a:r>
          </a:p>
          <a:p>
            <a:r>
              <a:rPr lang="zh-CN" altLang="en-US" sz="3200" b="0">
                <a:solidFill>
                  <a:schemeClr val="tx1"/>
                </a:solidFill>
              </a:rPr>
              <a:t>   </a:t>
            </a:r>
            <a:r>
              <a:rPr lang="zh-CN" altLang="en-US" sz="2800">
                <a:solidFill>
                  <a:schemeClr val="tx1"/>
                </a:solidFill>
                <a:latin typeface="宋体" pitchFamily="2" charset="-122"/>
              </a:rPr>
              <a:t>十进制加法指令</a:t>
            </a:r>
          </a:p>
          <a:p>
            <a:r>
              <a:rPr lang="zh-CN" altLang="en-US" sz="2800">
                <a:solidFill>
                  <a:schemeClr val="tx1"/>
                </a:solidFill>
                <a:latin typeface="宋体" pitchFamily="2" charset="-122"/>
              </a:rPr>
              <a:t>  指令功能 </a:t>
            </a:r>
            <a:r>
              <a:rPr lang="en-US" altLang="zh-CN" sz="2800">
                <a:solidFill>
                  <a:schemeClr val="tx1"/>
                </a:solidFill>
                <a:latin typeface="宋体" pitchFamily="2" charset="-122"/>
              </a:rPr>
              <a:t>-- </a:t>
            </a:r>
            <a:r>
              <a:rPr lang="zh-CN" altLang="en-US" sz="2800">
                <a:solidFill>
                  <a:schemeClr val="tx1"/>
                </a:solidFill>
                <a:latin typeface="宋体" pitchFamily="2" charset="-122"/>
              </a:rPr>
              <a:t>用</a:t>
            </a:r>
            <a:r>
              <a:rPr lang="en-US" altLang="zh-CN" sz="2800">
                <a:solidFill>
                  <a:schemeClr val="tx1"/>
                </a:solidFill>
                <a:latin typeface="宋体" pitchFamily="2" charset="-122"/>
              </a:rPr>
              <a:t>BCD</a:t>
            </a:r>
            <a:r>
              <a:rPr lang="zh-CN" altLang="en-US" sz="2800">
                <a:solidFill>
                  <a:schemeClr val="tx1"/>
                </a:solidFill>
                <a:latin typeface="宋体" pitchFamily="2" charset="-122"/>
              </a:rPr>
              <a:t>码完成十进制数运算</a:t>
            </a:r>
            <a:r>
              <a:rPr lang="zh-CN" altLang="en-US" sz="2400" b="0">
                <a:solidFill>
                  <a:schemeClr val="tx1"/>
                </a:solidFill>
                <a:latin typeface="宋体" pitchFamily="2" charset="-122"/>
              </a:rPr>
              <a:t>　</a:t>
            </a:r>
            <a:r>
              <a:rPr lang="zh-CN" altLang="en-US" b="0">
                <a:solidFill>
                  <a:schemeClr val="tx1"/>
                </a:solidFill>
              </a:rPr>
              <a:t> </a:t>
            </a:r>
          </a:p>
        </p:txBody>
      </p:sp>
      <p:pic>
        <p:nvPicPr>
          <p:cNvPr id="65540" name="Picture 3"/>
          <p:cNvPicPr>
            <a:picLocks noChangeAspect="1" noChangeArrowheads="1"/>
          </p:cNvPicPr>
          <p:nvPr/>
        </p:nvPicPr>
        <p:blipFill>
          <a:blip r:embed="rId2"/>
          <a:srcRect/>
          <a:stretch>
            <a:fillRect/>
          </a:stretch>
        </p:blipFill>
        <p:spPr bwMode="auto">
          <a:xfrm>
            <a:off x="4495800" y="1828800"/>
            <a:ext cx="4176713" cy="4679950"/>
          </a:xfrm>
          <a:prstGeom prst="rect">
            <a:avLst/>
          </a:prstGeom>
          <a:noFill/>
          <a:ln w="9525">
            <a:noFill/>
            <a:miter lim="800000"/>
            <a:headEnd/>
            <a:tailEnd/>
          </a:ln>
        </p:spPr>
      </p:pic>
      <p:sp>
        <p:nvSpPr>
          <p:cNvPr id="65541" name="Rectangle 4"/>
          <p:cNvSpPr>
            <a:spLocks noChangeArrowheads="1"/>
          </p:cNvSpPr>
          <p:nvPr/>
        </p:nvSpPr>
        <p:spPr bwMode="auto">
          <a:xfrm>
            <a:off x="228600" y="1828800"/>
            <a:ext cx="4114800" cy="4838700"/>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十进制运算时</a:t>
            </a:r>
            <a:r>
              <a:rPr lang="en-US" altLang="zh-CN" sz="2400" b="0">
                <a:solidFill>
                  <a:schemeClr val="tx1"/>
                </a:solidFill>
                <a:latin typeface="宋体" pitchFamily="2" charset="-122"/>
              </a:rPr>
              <a:t>,</a:t>
            </a:r>
            <a:r>
              <a:rPr lang="zh-CN" altLang="en-US" sz="2400" b="0">
                <a:solidFill>
                  <a:schemeClr val="tx1"/>
                </a:solidFill>
                <a:latin typeface="宋体" pitchFamily="2" charset="-122"/>
              </a:rPr>
              <a:t>二数之和   </a:t>
            </a:r>
          </a:p>
          <a:p>
            <a:pPr eaLnBrk="0" hangingPunct="0"/>
            <a:r>
              <a:rPr lang="zh-CN" altLang="en-US" sz="2400" b="0">
                <a:solidFill>
                  <a:schemeClr val="tx1"/>
                </a:solidFill>
                <a:latin typeface="宋体" pitchFamily="2" charset="-122"/>
              </a:rPr>
              <a:t>    最小为 </a:t>
            </a:r>
            <a:r>
              <a:rPr lang="en-US" altLang="zh-CN" sz="2400" b="0">
                <a:solidFill>
                  <a:schemeClr val="tx1"/>
                </a:solidFill>
                <a:latin typeface="宋体" pitchFamily="2" charset="-122"/>
              </a:rPr>
              <a:t>0 + 0 = 0</a:t>
            </a:r>
          </a:p>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最大为 </a:t>
            </a:r>
            <a:r>
              <a:rPr lang="en-US" altLang="zh-CN" sz="2400" b="0">
                <a:solidFill>
                  <a:schemeClr val="tx1"/>
                </a:solidFill>
                <a:latin typeface="宋体" pitchFamily="2" charset="-122"/>
              </a:rPr>
              <a:t>9 + 9 + 1 = 19</a:t>
            </a:r>
          </a:p>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用</a:t>
            </a:r>
            <a:r>
              <a:rPr lang="en-US" altLang="zh-CN" sz="2400" b="0">
                <a:solidFill>
                  <a:schemeClr val="tx1"/>
                </a:solidFill>
                <a:latin typeface="宋体" pitchFamily="2" charset="-122"/>
              </a:rPr>
              <a:t>BCD</a:t>
            </a:r>
            <a:r>
              <a:rPr lang="zh-CN" altLang="en-US" sz="2400" b="0">
                <a:solidFill>
                  <a:schemeClr val="tx1"/>
                </a:solidFill>
                <a:latin typeface="宋体" pitchFamily="2" charset="-122"/>
              </a:rPr>
              <a:t>码完成十进制数运算时</a:t>
            </a:r>
            <a:r>
              <a:rPr lang="en-US" altLang="zh-CN" sz="2400" b="0">
                <a:solidFill>
                  <a:schemeClr val="tx1"/>
                </a:solidFill>
                <a:latin typeface="宋体" pitchFamily="2" charset="-122"/>
              </a:rPr>
              <a:t>,</a:t>
            </a:r>
            <a:r>
              <a:rPr lang="zh-CN" altLang="en-US" sz="2400" b="0">
                <a:solidFill>
                  <a:schemeClr val="tx1"/>
                </a:solidFill>
                <a:latin typeface="宋体" pitchFamily="2" charset="-122"/>
              </a:rPr>
              <a:t>二数相加的和数小于等于</a:t>
            </a:r>
            <a:r>
              <a:rPr lang="en-US" altLang="zh-CN" sz="2400" b="0">
                <a:solidFill>
                  <a:schemeClr val="tx1"/>
                </a:solidFill>
                <a:latin typeface="宋体" pitchFamily="2" charset="-122"/>
              </a:rPr>
              <a:t>9</a:t>
            </a:r>
            <a:r>
              <a:rPr lang="zh-CN" altLang="en-US" sz="2400" b="0">
                <a:solidFill>
                  <a:schemeClr val="tx1"/>
                </a:solidFill>
                <a:latin typeface="宋体" pitchFamily="2" charset="-122"/>
              </a:rPr>
              <a:t>时</a:t>
            </a:r>
            <a:r>
              <a:rPr lang="en-US" altLang="zh-CN" sz="2400" b="0">
                <a:solidFill>
                  <a:schemeClr val="tx1"/>
                </a:solidFill>
                <a:latin typeface="宋体" pitchFamily="2" charset="-122"/>
              </a:rPr>
              <a:t>,</a:t>
            </a:r>
            <a:r>
              <a:rPr lang="zh-CN" altLang="en-US" sz="2400" b="0">
                <a:solidFill>
                  <a:schemeClr val="tx1"/>
                </a:solidFill>
                <a:latin typeface="宋体" pitchFamily="2" charset="-122"/>
              </a:rPr>
              <a:t>十进制运算的结果正确；相加的和数大于</a:t>
            </a:r>
            <a:r>
              <a:rPr lang="en-US" altLang="zh-CN" sz="2400" b="0">
                <a:solidFill>
                  <a:schemeClr val="tx1"/>
                </a:solidFill>
                <a:latin typeface="宋体" pitchFamily="2" charset="-122"/>
              </a:rPr>
              <a:t>9</a:t>
            </a:r>
            <a:r>
              <a:rPr lang="zh-CN" altLang="en-US" sz="2400" b="0">
                <a:solidFill>
                  <a:schemeClr val="tx1"/>
                </a:solidFill>
                <a:latin typeface="宋体" pitchFamily="2" charset="-122"/>
              </a:rPr>
              <a:t>时</a:t>
            </a:r>
            <a:r>
              <a:rPr lang="en-US" altLang="zh-CN" sz="2400" b="0">
                <a:solidFill>
                  <a:schemeClr val="tx1"/>
                </a:solidFill>
                <a:latin typeface="宋体" pitchFamily="2" charset="-122"/>
              </a:rPr>
              <a:t>,</a:t>
            </a:r>
            <a:r>
              <a:rPr lang="zh-CN" altLang="en-US" sz="2400" b="0">
                <a:solidFill>
                  <a:schemeClr val="tx1"/>
                </a:solidFill>
                <a:latin typeface="宋体" pitchFamily="2" charset="-122"/>
              </a:rPr>
              <a:t>结果不正确</a:t>
            </a:r>
            <a:r>
              <a:rPr lang="en-US" altLang="zh-CN" sz="2400" b="0">
                <a:solidFill>
                  <a:schemeClr val="tx1"/>
                </a:solidFill>
                <a:latin typeface="宋体" pitchFamily="2" charset="-122"/>
              </a:rPr>
              <a:t>,</a:t>
            </a:r>
            <a:r>
              <a:rPr lang="zh-CN" altLang="en-US" sz="2400" b="0">
                <a:solidFill>
                  <a:schemeClr val="tx1"/>
                </a:solidFill>
                <a:latin typeface="宋体" pitchFamily="2" charset="-122"/>
              </a:rPr>
              <a:t>必须加</a:t>
            </a:r>
            <a:r>
              <a:rPr lang="en-US" altLang="zh-CN" sz="2400" b="0">
                <a:solidFill>
                  <a:schemeClr val="tx1"/>
                </a:solidFill>
                <a:latin typeface="宋体" pitchFamily="2" charset="-122"/>
              </a:rPr>
              <a:t>6</a:t>
            </a:r>
            <a:r>
              <a:rPr lang="zh-CN" altLang="en-US" sz="2400" b="0">
                <a:solidFill>
                  <a:schemeClr val="tx1"/>
                </a:solidFill>
                <a:latin typeface="宋体" pitchFamily="2" charset="-122"/>
              </a:rPr>
              <a:t>修正后。</a:t>
            </a:r>
          </a:p>
          <a:p>
            <a:pPr eaLnBrk="0" hangingPunct="0"/>
            <a:r>
              <a:rPr lang="zh-CN" altLang="en-US" sz="2400" b="0">
                <a:solidFill>
                  <a:schemeClr val="tx1"/>
                </a:solidFill>
                <a:latin typeface="宋体" pitchFamily="2" charset="-122"/>
              </a:rPr>
              <a:t>    步骤：</a:t>
            </a:r>
            <a:r>
              <a:rPr lang="en-US" altLang="zh-CN" sz="2400" b="0">
                <a:solidFill>
                  <a:schemeClr val="tx1"/>
                </a:solidFill>
                <a:latin typeface="宋体" pitchFamily="2" charset="-122"/>
              </a:rPr>
              <a:t>a + b = ?</a:t>
            </a:r>
          </a:p>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执行 </a:t>
            </a:r>
            <a:r>
              <a:rPr lang="en-US" altLang="zh-CN" sz="2400" b="0">
                <a:solidFill>
                  <a:schemeClr val="tx1"/>
                </a:solidFill>
                <a:latin typeface="宋体" pitchFamily="2" charset="-122"/>
              </a:rPr>
              <a:t>a + b + 6</a:t>
            </a:r>
          </a:p>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如果有进位位，正确；</a:t>
            </a:r>
          </a:p>
          <a:p>
            <a:pPr eaLnBrk="0" hangingPunct="0"/>
            <a:r>
              <a:rPr lang="zh-CN" altLang="en-US" sz="2400" b="0">
                <a:solidFill>
                  <a:schemeClr val="tx1"/>
                </a:solidFill>
                <a:latin typeface="宋体" pitchFamily="2" charset="-122"/>
              </a:rPr>
              <a:t>    否</a:t>
            </a:r>
          </a:p>
          <a:p>
            <a:pPr eaLnBrk="0" hangingPunct="0"/>
            <a:r>
              <a:rPr lang="zh-CN" altLang="en-US" sz="2400" b="0">
                <a:solidFill>
                  <a:schemeClr val="tx1"/>
                </a:solidFill>
                <a:latin typeface="宋体" pitchFamily="2" charset="-122"/>
              </a:rPr>
              <a:t>    进行减</a:t>
            </a:r>
            <a:r>
              <a:rPr lang="en-US" altLang="zh-CN" sz="2400" b="0">
                <a:solidFill>
                  <a:schemeClr val="tx1"/>
                </a:solidFill>
                <a:latin typeface="宋体" pitchFamily="2" charset="-122"/>
              </a:rPr>
              <a:t>6</a:t>
            </a:r>
            <a:r>
              <a:rPr lang="zh-CN" altLang="en-US" sz="2400" b="0">
                <a:solidFill>
                  <a:schemeClr val="tx1"/>
                </a:solidFill>
                <a:latin typeface="宋体" pitchFamily="2" charset="-122"/>
              </a:rPr>
              <a:t>处理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p:spPr>
        <p:txBody>
          <a:bodyPr/>
          <a:lstStyle/>
          <a:p>
            <a:fld id="{69FFB985-CC4F-48A6-B364-3188F31B8EB6}" type="slidenum">
              <a:rPr lang="en-US" altLang="zh-CN" smtClean="0"/>
              <a:pPr/>
              <a:t>67</a:t>
            </a:fld>
            <a:endParaRPr lang="en-US" altLang="zh-CN" smtClean="0"/>
          </a:p>
        </p:txBody>
      </p:sp>
      <p:sp>
        <p:nvSpPr>
          <p:cNvPr id="66563" name="Rectangle 2"/>
          <p:cNvSpPr>
            <a:spLocks noGrp="1" noChangeArrowheads="1"/>
          </p:cNvSpPr>
          <p:nvPr>
            <p:ph type="title"/>
          </p:nvPr>
        </p:nvSpPr>
        <p:spPr>
          <a:xfrm>
            <a:off x="395288" y="188913"/>
            <a:ext cx="7543800" cy="576262"/>
          </a:xfrm>
        </p:spPr>
        <p:txBody>
          <a:bodyPr/>
          <a:lstStyle/>
          <a:p>
            <a:pPr eaLnBrk="1" hangingPunct="1"/>
            <a:r>
              <a:rPr lang="en-US" altLang="zh-CN" sz="3500" dirty="0" smtClean="0">
                <a:cs typeface="Times New Roman" pitchFamily="18" charset="0"/>
              </a:rPr>
              <a:t>5</a:t>
            </a:r>
            <a:r>
              <a:rPr lang="en-US" altLang="zh-CN" sz="3500" dirty="0" smtClean="0"/>
              <a:t>.4.1 </a:t>
            </a:r>
            <a:r>
              <a:rPr lang="zh-CN" altLang="en-US" sz="3500" b="0" dirty="0" smtClean="0"/>
              <a:t>微程序控制原理</a:t>
            </a:r>
          </a:p>
        </p:txBody>
      </p:sp>
      <p:sp>
        <p:nvSpPr>
          <p:cNvPr id="66564" name="Rectangle 3"/>
          <p:cNvSpPr>
            <a:spLocks noChangeArrowheads="1"/>
          </p:cNvSpPr>
          <p:nvPr/>
        </p:nvSpPr>
        <p:spPr bwMode="auto">
          <a:xfrm>
            <a:off x="3609975" y="1495425"/>
            <a:ext cx="9144000" cy="0"/>
          </a:xfrm>
          <a:prstGeom prst="rect">
            <a:avLst/>
          </a:prstGeom>
          <a:noFill/>
          <a:ln w="9525">
            <a:noFill/>
            <a:miter lim="800000"/>
            <a:headEnd/>
            <a:tailEnd/>
          </a:ln>
        </p:spPr>
        <p:txBody>
          <a:bodyPr>
            <a:spAutoFit/>
          </a:bodyPr>
          <a:lstStyle/>
          <a:p>
            <a:endParaRPr lang="zh-CN" altLang="en-US"/>
          </a:p>
        </p:txBody>
      </p:sp>
      <p:sp>
        <p:nvSpPr>
          <p:cNvPr id="66565" name="Rectangle 4"/>
          <p:cNvSpPr>
            <a:spLocks noChangeArrowheads="1"/>
          </p:cNvSpPr>
          <p:nvPr/>
        </p:nvSpPr>
        <p:spPr bwMode="auto">
          <a:xfrm>
            <a:off x="323850" y="1141413"/>
            <a:ext cx="5256213" cy="944562"/>
          </a:xfrm>
          <a:prstGeom prst="rect">
            <a:avLst/>
          </a:prstGeom>
          <a:noFill/>
          <a:ln w="28575" cap="sq">
            <a:noFill/>
            <a:miter lim="800000"/>
            <a:headEnd type="none" w="sm" len="sm"/>
            <a:tailEnd type="none" w="sm" len="sm"/>
          </a:ln>
        </p:spPr>
        <p:txBody>
          <a:bodyPr anchor="ctr">
            <a:spAutoFit/>
          </a:bodyPr>
          <a:lstStyle/>
          <a:p>
            <a:r>
              <a:rPr lang="en-US" altLang="zh-CN" sz="2800" b="0">
                <a:solidFill>
                  <a:schemeClr val="tx1"/>
                </a:solidFill>
                <a:latin typeface="宋体" pitchFamily="2" charset="-122"/>
              </a:rPr>
              <a:t>a+b </a:t>
            </a:r>
            <a:r>
              <a:rPr lang="zh-CN" altLang="en-US" sz="2800" b="0">
                <a:solidFill>
                  <a:schemeClr val="tx1"/>
                </a:solidFill>
                <a:latin typeface="宋体" pitchFamily="2" charset="-122"/>
              </a:rPr>
              <a:t>假定</a:t>
            </a:r>
            <a:r>
              <a:rPr lang="en-US" altLang="zh-CN" sz="2800" b="0">
                <a:solidFill>
                  <a:schemeClr val="tx1"/>
                </a:solidFill>
                <a:latin typeface="宋体" pitchFamily="2" charset="-122"/>
              </a:rPr>
              <a:t>a</a:t>
            </a:r>
            <a:r>
              <a:rPr lang="en-US" altLang="zh-CN" sz="2800">
                <a:solidFill>
                  <a:srgbClr val="EE2200"/>
                </a:solidFill>
                <a:latin typeface="宋体" pitchFamily="2" charset="-122"/>
              </a:rPr>
              <a:t>→</a:t>
            </a:r>
            <a:r>
              <a:rPr lang="en-US" altLang="zh-CN" sz="2800" b="0">
                <a:solidFill>
                  <a:schemeClr val="tx1"/>
                </a:solidFill>
                <a:latin typeface="宋体" pitchFamily="2" charset="-122"/>
              </a:rPr>
              <a:t>R1</a:t>
            </a:r>
            <a:r>
              <a:rPr lang="zh-CN" altLang="en-US" sz="2800" b="0">
                <a:solidFill>
                  <a:schemeClr val="tx1"/>
                </a:solidFill>
                <a:latin typeface="宋体" pitchFamily="2" charset="-122"/>
              </a:rPr>
              <a:t>、</a:t>
            </a:r>
            <a:r>
              <a:rPr lang="en-US" altLang="zh-CN" sz="2800" b="0">
                <a:solidFill>
                  <a:schemeClr val="tx1"/>
                </a:solidFill>
                <a:latin typeface="宋体" pitchFamily="2" charset="-122"/>
              </a:rPr>
              <a:t>b</a:t>
            </a:r>
            <a:r>
              <a:rPr lang="en-US" altLang="zh-CN" sz="2800">
                <a:solidFill>
                  <a:srgbClr val="EE2200"/>
                </a:solidFill>
                <a:latin typeface="宋体" pitchFamily="2" charset="-122"/>
              </a:rPr>
              <a:t>→</a:t>
            </a:r>
            <a:r>
              <a:rPr lang="en-US" altLang="zh-CN" sz="2800" b="0">
                <a:solidFill>
                  <a:schemeClr val="tx1"/>
                </a:solidFill>
                <a:latin typeface="宋体" pitchFamily="2" charset="-122"/>
              </a:rPr>
              <a:t>R2</a:t>
            </a:r>
            <a:r>
              <a:rPr lang="zh-CN" altLang="en-US" sz="2800" b="0">
                <a:solidFill>
                  <a:schemeClr val="tx1"/>
                </a:solidFill>
                <a:latin typeface="宋体" pitchFamily="2" charset="-122"/>
              </a:rPr>
              <a:t>、</a:t>
            </a:r>
            <a:r>
              <a:rPr lang="en-US" altLang="zh-CN" sz="2800" b="0">
                <a:solidFill>
                  <a:schemeClr val="tx1"/>
                </a:solidFill>
                <a:latin typeface="宋体" pitchFamily="2" charset="-122"/>
              </a:rPr>
              <a:t>6</a:t>
            </a:r>
            <a:r>
              <a:rPr lang="en-US" altLang="zh-CN" sz="2800">
                <a:solidFill>
                  <a:srgbClr val="EE2200"/>
                </a:solidFill>
                <a:latin typeface="宋体" pitchFamily="2" charset="-122"/>
              </a:rPr>
              <a:t>→</a:t>
            </a:r>
            <a:r>
              <a:rPr lang="en-US" altLang="zh-CN" sz="2800" b="0">
                <a:solidFill>
                  <a:schemeClr val="tx1"/>
                </a:solidFill>
                <a:latin typeface="宋体" pitchFamily="2" charset="-122"/>
              </a:rPr>
              <a:t>R3</a:t>
            </a:r>
          </a:p>
          <a:p>
            <a:r>
              <a:rPr lang="zh-CN" altLang="en-US" sz="2800" b="0">
                <a:solidFill>
                  <a:schemeClr val="tx1"/>
                </a:solidFill>
                <a:latin typeface="宋体" pitchFamily="2" charset="-122"/>
              </a:rPr>
              <a:t>数据通路图</a:t>
            </a:r>
            <a:r>
              <a:rPr lang="zh-CN" altLang="en-US" sz="2800">
                <a:solidFill>
                  <a:srgbClr val="EE2200"/>
                </a:solidFill>
                <a:latin typeface="宋体" pitchFamily="2" charset="-122"/>
              </a:rPr>
              <a:t>↓ </a:t>
            </a:r>
            <a:r>
              <a:rPr lang="zh-CN" altLang="en-US" sz="2800" b="0">
                <a:solidFill>
                  <a:schemeClr val="tx1"/>
                </a:solidFill>
                <a:latin typeface="宋体" pitchFamily="2" charset="-122"/>
              </a:rPr>
              <a:t>  操作流程图 </a:t>
            </a:r>
            <a:r>
              <a:rPr lang="zh-CN" altLang="en-US" sz="2800">
                <a:solidFill>
                  <a:srgbClr val="EE2200"/>
                </a:solidFill>
                <a:latin typeface="宋体" pitchFamily="2" charset="-122"/>
              </a:rPr>
              <a:t>→</a:t>
            </a:r>
            <a:r>
              <a:rPr lang="zh-CN" altLang="en-US" sz="2800" b="0">
                <a:solidFill>
                  <a:schemeClr val="tx1"/>
                </a:solidFill>
                <a:latin typeface="宋体" pitchFamily="2" charset="-122"/>
              </a:rPr>
              <a:t> </a:t>
            </a:r>
            <a:r>
              <a:rPr lang="zh-CN" altLang="en-US" sz="2800" b="0">
                <a:solidFill>
                  <a:schemeClr val="tx1"/>
                </a:solidFill>
              </a:rPr>
              <a:t>　</a:t>
            </a:r>
            <a:r>
              <a:rPr lang="zh-CN" altLang="en-US" b="0">
                <a:solidFill>
                  <a:schemeClr val="tx1"/>
                </a:solidFill>
              </a:rPr>
              <a:t> </a:t>
            </a:r>
          </a:p>
        </p:txBody>
      </p:sp>
      <p:pic>
        <p:nvPicPr>
          <p:cNvPr id="66566" name="Picture 5"/>
          <p:cNvPicPr>
            <a:picLocks noChangeAspect="1" noChangeArrowheads="1"/>
          </p:cNvPicPr>
          <p:nvPr/>
        </p:nvPicPr>
        <p:blipFill>
          <a:blip r:embed="rId2"/>
          <a:srcRect/>
          <a:stretch>
            <a:fillRect/>
          </a:stretch>
        </p:blipFill>
        <p:spPr bwMode="auto">
          <a:xfrm>
            <a:off x="250825" y="2133600"/>
            <a:ext cx="5257800" cy="4103688"/>
          </a:xfrm>
          <a:prstGeom prst="rect">
            <a:avLst/>
          </a:prstGeom>
          <a:noFill/>
          <a:ln w="9525">
            <a:noFill/>
            <a:miter lim="800000"/>
            <a:headEnd/>
            <a:tailEnd/>
          </a:ln>
        </p:spPr>
      </p:pic>
      <p:pic>
        <p:nvPicPr>
          <p:cNvPr id="66693" name="Picture 1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5424" y="803806"/>
            <a:ext cx="2974878" cy="5328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p>
            <a:fld id="{12589208-1A96-4942-ACC9-B5CCEE4EEF36}" type="slidenum">
              <a:rPr lang="en-US" altLang="zh-CN" smtClean="0"/>
              <a:pPr/>
              <a:t>68</a:t>
            </a:fld>
            <a:endParaRPr lang="en-US" altLang="zh-CN" smtClean="0"/>
          </a:p>
        </p:txBody>
      </p:sp>
      <p:pic>
        <p:nvPicPr>
          <p:cNvPr id="67589" name="Picture 4"/>
          <p:cNvPicPr>
            <a:picLocks noChangeAspect="1" noChangeArrowheads="1"/>
          </p:cNvPicPr>
          <p:nvPr/>
        </p:nvPicPr>
        <p:blipFill>
          <a:blip r:embed="rId2"/>
          <a:srcRect/>
          <a:stretch>
            <a:fillRect/>
          </a:stretch>
        </p:blipFill>
        <p:spPr bwMode="auto">
          <a:xfrm>
            <a:off x="4455272" y="943382"/>
            <a:ext cx="4321175" cy="2918172"/>
          </a:xfrm>
          <a:prstGeom prst="rect">
            <a:avLst/>
          </a:prstGeom>
          <a:noFill/>
          <a:ln w="9525">
            <a:noFill/>
            <a:miter lim="800000"/>
            <a:headEnd/>
            <a:tailEnd/>
          </a:ln>
        </p:spPr>
      </p:pic>
      <p:pic>
        <p:nvPicPr>
          <p:cNvPr id="283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886624"/>
            <a:ext cx="3687760" cy="3010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36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60" y="4109328"/>
            <a:ext cx="8677275"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p>
            <a:fld id="{11BA142B-3432-4419-A872-BD3BC007BAF3}" type="slidenum">
              <a:rPr lang="en-US" altLang="zh-CN" smtClean="0"/>
              <a:pPr/>
              <a:t>69</a:t>
            </a:fld>
            <a:endParaRPr lang="en-US" altLang="zh-CN" smtClean="0"/>
          </a:p>
        </p:txBody>
      </p:sp>
      <p:pic>
        <p:nvPicPr>
          <p:cNvPr id="686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448" y="143928"/>
            <a:ext cx="8784976" cy="6511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DA8A8A53-2DC0-4A18-A54B-6594B894408C}" type="slidenum">
              <a:rPr lang="en-US" altLang="zh-CN" smtClean="0"/>
              <a:pPr/>
              <a:t>70</a:t>
            </a:fld>
            <a:endParaRPr lang="en-US" altLang="zh-CN" smtClean="0"/>
          </a:p>
        </p:txBody>
      </p:sp>
      <p:pic>
        <p:nvPicPr>
          <p:cNvPr id="6963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4047"/>
            <a:ext cx="8928992" cy="653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p>
            <a:fld id="{302BABBB-581F-42DC-A14F-A8E5B0619F6F}" type="slidenum">
              <a:rPr lang="en-US" altLang="zh-CN" smtClean="0"/>
              <a:pPr/>
              <a:t>71</a:t>
            </a:fld>
            <a:endParaRPr lang="en-US" altLang="zh-CN" smtClean="0"/>
          </a:p>
        </p:txBody>
      </p:sp>
      <p:pic>
        <p:nvPicPr>
          <p:cNvPr id="7066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280" y="161344"/>
            <a:ext cx="8812272"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p:spPr>
        <p:txBody>
          <a:bodyPr/>
          <a:lstStyle/>
          <a:p>
            <a:fld id="{D7C32460-E45D-461C-8665-F2C638BEEB0E}" type="slidenum">
              <a:rPr lang="en-US" altLang="zh-CN" smtClean="0"/>
              <a:pPr/>
              <a:t>72</a:t>
            </a:fld>
            <a:endParaRPr lang="en-US" altLang="zh-CN" smtClean="0"/>
          </a:p>
        </p:txBody>
      </p:sp>
      <p:sp>
        <p:nvSpPr>
          <p:cNvPr id="71683" name="Rectangle 2"/>
          <p:cNvSpPr>
            <a:spLocks noGrp="1" noChangeArrowheads="1"/>
          </p:cNvSpPr>
          <p:nvPr>
            <p:ph type="body" idx="1"/>
          </p:nvPr>
        </p:nvSpPr>
        <p:spPr>
          <a:xfrm>
            <a:off x="381000" y="381000"/>
            <a:ext cx="7086600" cy="838200"/>
          </a:xfrm>
        </p:spPr>
        <p:txBody>
          <a:bodyPr/>
          <a:lstStyle/>
          <a:p>
            <a:pPr eaLnBrk="1" hangingPunct="1">
              <a:buFont typeface="Wingdings" pitchFamily="2" charset="2"/>
              <a:buNone/>
            </a:pPr>
            <a:r>
              <a:rPr lang="en-US" altLang="zh-CN" sz="4000" smtClean="0">
                <a:latin typeface="宋体" pitchFamily="2" charset="-122"/>
              </a:rPr>
              <a:t>5.CPU</a:t>
            </a:r>
            <a:r>
              <a:rPr lang="zh-CN" altLang="en-US" sz="4000" smtClean="0">
                <a:latin typeface="宋体" pitchFamily="2" charset="-122"/>
              </a:rPr>
              <a:t>周期和微指令周期的关系</a:t>
            </a:r>
          </a:p>
        </p:txBody>
      </p:sp>
      <p:sp>
        <p:nvSpPr>
          <p:cNvPr id="71684" name="Rectangle 3"/>
          <p:cNvSpPr>
            <a:spLocks noChangeArrowheads="1"/>
          </p:cNvSpPr>
          <p:nvPr/>
        </p:nvSpPr>
        <p:spPr bwMode="auto">
          <a:xfrm>
            <a:off x="304800" y="1447800"/>
            <a:ext cx="8382000" cy="4394200"/>
          </a:xfrm>
          <a:prstGeom prst="rect">
            <a:avLst/>
          </a:prstGeom>
          <a:noFill/>
          <a:ln w="12700" cap="sq">
            <a:noFill/>
            <a:miter lim="800000"/>
            <a:headEnd type="none" w="sm" len="sm"/>
            <a:tailEnd type="none" w="sm" len="sm"/>
          </a:ln>
        </p:spPr>
        <p:txBody>
          <a:bodyPr tIns="0" bIns="0" anchor="ctr">
            <a:spAutoFit/>
          </a:bodyPr>
          <a:lstStyle/>
          <a:p>
            <a:pPr eaLnBrk="0" hangingPunct="0"/>
            <a:r>
              <a:rPr lang="en-US" altLang="zh-CN" sz="2400" b="0">
                <a:solidFill>
                  <a:schemeClr val="tx1"/>
                </a:solidFill>
                <a:latin typeface="宋体" pitchFamily="2" charset="-122"/>
              </a:rPr>
              <a:t>    </a:t>
            </a:r>
            <a:r>
              <a:rPr lang="zh-CN" altLang="en-US" sz="3600" b="0">
                <a:solidFill>
                  <a:schemeClr val="tx1"/>
                </a:solidFill>
                <a:latin typeface="宋体" pitchFamily="2" charset="-122"/>
              </a:rPr>
              <a:t>在串行方式的微程序控制器中</a:t>
            </a:r>
            <a:r>
              <a:rPr lang="en-US" altLang="zh-CN" sz="3600" b="0">
                <a:solidFill>
                  <a:schemeClr val="tx1"/>
                </a:solidFill>
                <a:latin typeface="宋体" pitchFamily="2" charset="-122"/>
              </a:rPr>
              <a:t>:</a:t>
            </a:r>
          </a:p>
          <a:p>
            <a:pPr eaLnBrk="0" hangingPunct="0"/>
            <a:endParaRPr lang="en-US" altLang="zh-CN" sz="3600" b="0">
              <a:solidFill>
                <a:schemeClr val="tx1"/>
              </a:solidFill>
              <a:latin typeface="宋体" pitchFamily="2" charset="-122"/>
            </a:endParaRPr>
          </a:p>
          <a:p>
            <a:pPr eaLnBrk="0" hangingPunct="0"/>
            <a:r>
              <a:rPr lang="en-US" altLang="zh-CN" sz="3600" b="0">
                <a:solidFill>
                  <a:srgbClr val="0000FF"/>
                </a:solidFill>
                <a:latin typeface="宋体" pitchFamily="2" charset="-122"/>
              </a:rPr>
              <a:t>    </a:t>
            </a:r>
            <a:r>
              <a:rPr lang="zh-CN" altLang="en-US" sz="3600" b="0">
                <a:solidFill>
                  <a:srgbClr val="0000FF"/>
                </a:solidFill>
                <a:latin typeface="宋体" pitchFamily="2" charset="-122"/>
              </a:rPr>
              <a:t>微指令周期 </a:t>
            </a:r>
            <a:r>
              <a:rPr lang="en-US" altLang="zh-CN" sz="3600" b="0">
                <a:solidFill>
                  <a:srgbClr val="0000FF"/>
                </a:solidFill>
                <a:latin typeface="宋体" pitchFamily="2" charset="-122"/>
              </a:rPr>
              <a:t>= </a:t>
            </a:r>
            <a:r>
              <a:rPr lang="zh-CN" altLang="en-US" sz="3600" b="0">
                <a:solidFill>
                  <a:srgbClr val="0000FF"/>
                </a:solidFill>
                <a:latin typeface="宋体" pitchFamily="2" charset="-122"/>
              </a:rPr>
              <a:t>读出微指令的时间 </a:t>
            </a:r>
            <a:r>
              <a:rPr lang="en-US" altLang="zh-CN" sz="3600" b="0">
                <a:solidFill>
                  <a:srgbClr val="0000FF"/>
                </a:solidFill>
                <a:latin typeface="宋体" pitchFamily="2" charset="-122"/>
              </a:rPr>
              <a:t>+ </a:t>
            </a:r>
            <a:r>
              <a:rPr lang="zh-CN" altLang="en-US" sz="3600" b="0">
                <a:solidFill>
                  <a:srgbClr val="0000FF"/>
                </a:solidFill>
                <a:latin typeface="宋体" pitchFamily="2" charset="-122"/>
              </a:rPr>
              <a:t>执行该条微指令的时间</a:t>
            </a:r>
          </a:p>
          <a:p>
            <a:pPr eaLnBrk="0" hangingPunct="0"/>
            <a:endParaRPr lang="zh-CN" altLang="en-US" sz="3600" b="0">
              <a:solidFill>
                <a:schemeClr val="tx1"/>
              </a:solidFill>
              <a:latin typeface="宋体" pitchFamily="2" charset="-122"/>
            </a:endParaRPr>
          </a:p>
          <a:p>
            <a:pPr eaLnBrk="0" hangingPunct="0"/>
            <a:r>
              <a:rPr lang="zh-CN" altLang="en-US" sz="3600" b="0">
                <a:solidFill>
                  <a:schemeClr val="tx1"/>
                </a:solidFill>
                <a:latin typeface="宋体" pitchFamily="2" charset="-122"/>
              </a:rPr>
              <a:t>　　为保证整个机器控制信号的同步，可以将一个微指令周期时间设计为和</a:t>
            </a:r>
            <a:r>
              <a:rPr lang="en-US" altLang="zh-CN" sz="3600" b="0">
                <a:solidFill>
                  <a:schemeClr val="tx1"/>
                </a:solidFill>
                <a:latin typeface="宋体" pitchFamily="2" charset="-122"/>
              </a:rPr>
              <a:t>CPU</a:t>
            </a:r>
            <a:r>
              <a:rPr lang="zh-CN" altLang="en-US" sz="3600" b="0">
                <a:solidFill>
                  <a:schemeClr val="tx1"/>
                </a:solidFill>
                <a:latin typeface="宋体" pitchFamily="2" charset="-122"/>
              </a:rPr>
              <a:t>周期时间相等。</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p:spPr>
        <p:txBody>
          <a:bodyPr/>
          <a:lstStyle/>
          <a:p>
            <a:fld id="{3DDD0C76-9828-4790-86D0-7684B1F48423}" type="slidenum">
              <a:rPr lang="en-US" altLang="zh-CN" smtClean="0"/>
              <a:pPr/>
              <a:t>73</a:t>
            </a:fld>
            <a:endParaRPr lang="en-US" altLang="zh-CN" smtClean="0"/>
          </a:p>
        </p:txBody>
      </p:sp>
      <p:sp>
        <p:nvSpPr>
          <p:cNvPr id="72707" name="Rectangle 2"/>
          <p:cNvSpPr>
            <a:spLocks noChangeArrowheads="1"/>
          </p:cNvSpPr>
          <p:nvPr/>
        </p:nvSpPr>
        <p:spPr bwMode="auto">
          <a:xfrm>
            <a:off x="304802" y="2732308"/>
            <a:ext cx="8569325" cy="3883755"/>
          </a:xfrm>
          <a:prstGeom prst="rect">
            <a:avLst/>
          </a:prstGeom>
          <a:noFill/>
          <a:ln w="12700" cap="sq">
            <a:noFill/>
            <a:miter lim="800000"/>
            <a:headEnd type="none" w="sm" len="sm"/>
            <a:tailEnd type="none" w="sm" len="sm"/>
          </a:ln>
        </p:spPr>
        <p:txBody>
          <a:bodyPr anchor="ctr">
            <a:spAutoFit/>
          </a:bodyPr>
          <a:lstStyle/>
          <a:p>
            <a:pPr eaLnBrk="0" hangingPunct="0">
              <a:lnSpc>
                <a:spcPct val="150000"/>
              </a:lnSpc>
            </a:pPr>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一个</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周期包含四个等间隔的节拍脉冲</a:t>
            </a:r>
            <a:r>
              <a:rPr lang="en-US" altLang="zh-CN" sz="2400" b="0" dirty="0">
                <a:solidFill>
                  <a:schemeClr val="tx1"/>
                </a:solidFill>
                <a:latin typeface="宋体" pitchFamily="2" charset="-122"/>
              </a:rPr>
              <a:t>T1-T4</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T4</a:t>
            </a:r>
            <a:r>
              <a:rPr lang="zh-CN" altLang="en-US" sz="2400" b="0" dirty="0">
                <a:solidFill>
                  <a:schemeClr val="tx1"/>
                </a:solidFill>
                <a:latin typeface="宋体" pitchFamily="2" charset="-122"/>
              </a:rPr>
              <a:t>作为读取微指令的时间，</a:t>
            </a:r>
            <a:r>
              <a:rPr lang="en-US" altLang="zh-CN" sz="2400" b="0" dirty="0">
                <a:solidFill>
                  <a:schemeClr val="tx1"/>
                </a:solidFill>
                <a:latin typeface="宋体" pitchFamily="2" charset="-122"/>
              </a:rPr>
              <a:t>T1-T3</a:t>
            </a:r>
            <a:r>
              <a:rPr lang="zh-CN" altLang="en-US" sz="2400" b="0" dirty="0">
                <a:solidFill>
                  <a:schemeClr val="tx1"/>
                </a:solidFill>
                <a:latin typeface="宋体" pitchFamily="2" charset="-122"/>
              </a:rPr>
              <a:t>时间作为执行微指令的时间。用</a:t>
            </a:r>
            <a:r>
              <a:rPr lang="en-US" altLang="zh-CN" sz="2400" b="0" dirty="0">
                <a:solidFill>
                  <a:schemeClr val="tx1"/>
                </a:solidFill>
                <a:latin typeface="宋体" pitchFamily="2" charset="-122"/>
              </a:rPr>
              <a:t>T4</a:t>
            </a:r>
            <a:r>
              <a:rPr lang="zh-CN" altLang="en-US" sz="2400" b="0" dirty="0">
                <a:solidFill>
                  <a:schemeClr val="tx1"/>
                </a:solidFill>
                <a:latin typeface="宋体" pitchFamily="2" charset="-122"/>
              </a:rPr>
              <a:t>上升沿将运算结果打入某个寄存器。与此同时用</a:t>
            </a:r>
            <a:r>
              <a:rPr lang="en-US" altLang="zh-CN" sz="2400" b="0" dirty="0">
                <a:solidFill>
                  <a:schemeClr val="tx1"/>
                </a:solidFill>
                <a:latin typeface="宋体" pitchFamily="2" charset="-122"/>
              </a:rPr>
              <a:t>T4</a:t>
            </a:r>
            <a:r>
              <a:rPr lang="zh-CN" altLang="en-US" sz="2400" b="0" dirty="0">
                <a:solidFill>
                  <a:schemeClr val="tx1"/>
                </a:solidFill>
                <a:latin typeface="宋体" pitchFamily="2" charset="-122"/>
              </a:rPr>
              <a:t>间隔读取下条微指令，并用</a:t>
            </a:r>
            <a:r>
              <a:rPr lang="en-US" altLang="zh-CN" sz="2400" b="0" dirty="0">
                <a:solidFill>
                  <a:schemeClr val="tx1"/>
                </a:solidFill>
                <a:latin typeface="宋体" pitchFamily="2" charset="-122"/>
              </a:rPr>
              <a:t>T1</a:t>
            </a:r>
            <a:r>
              <a:rPr lang="zh-CN" altLang="en-US" sz="2400" b="0" dirty="0">
                <a:solidFill>
                  <a:schemeClr val="tx1"/>
                </a:solidFill>
                <a:latin typeface="宋体" pitchFamily="2" charset="-122"/>
              </a:rPr>
              <a:t>上升沿打入到微指令寄存器。如忽略触发器的翻转延迟，那么下条微指令的微命令信号就从</a:t>
            </a:r>
            <a:r>
              <a:rPr lang="en-US" altLang="zh-CN" sz="2400" b="0" dirty="0">
                <a:solidFill>
                  <a:schemeClr val="tx1"/>
                </a:solidFill>
                <a:latin typeface="宋体" pitchFamily="2" charset="-122"/>
              </a:rPr>
              <a:t>T1</a:t>
            </a:r>
            <a:r>
              <a:rPr lang="zh-CN" altLang="en-US" sz="2400" b="0" dirty="0">
                <a:solidFill>
                  <a:schemeClr val="tx1"/>
                </a:solidFill>
                <a:latin typeface="宋体" pitchFamily="2" charset="-122"/>
              </a:rPr>
              <a:t>上升沿起就开始有效，直到下一条微指令读出后打入微指令寄存器为止。因此一条微指令的保持时间是一个</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周期。</a:t>
            </a:r>
          </a:p>
        </p:txBody>
      </p:sp>
      <p:pic>
        <p:nvPicPr>
          <p:cNvPr id="72708" name="Picture 3"/>
          <p:cNvPicPr>
            <a:picLocks noChangeAspect="1" noChangeArrowheads="1"/>
          </p:cNvPicPr>
          <p:nvPr/>
        </p:nvPicPr>
        <p:blipFill>
          <a:blip r:embed="rId2"/>
          <a:srcRect/>
          <a:stretch>
            <a:fillRect/>
          </a:stretch>
        </p:blipFill>
        <p:spPr bwMode="auto">
          <a:xfrm>
            <a:off x="304800" y="685801"/>
            <a:ext cx="8443913" cy="2100258"/>
          </a:xfrm>
          <a:prstGeom prst="rect">
            <a:avLst/>
          </a:prstGeom>
          <a:noFill/>
          <a:ln w="9525">
            <a:noFill/>
            <a:miter lim="800000"/>
            <a:headEnd/>
            <a:tailEnd/>
          </a:ln>
        </p:spPr>
      </p:pic>
      <p:sp>
        <p:nvSpPr>
          <p:cNvPr id="72709" name="Rectangle 4"/>
          <p:cNvSpPr>
            <a:spLocks noChangeArrowheads="1"/>
          </p:cNvSpPr>
          <p:nvPr/>
        </p:nvSpPr>
        <p:spPr bwMode="auto">
          <a:xfrm>
            <a:off x="838200" y="152400"/>
            <a:ext cx="5340350" cy="519113"/>
          </a:xfrm>
          <a:prstGeom prst="rect">
            <a:avLst/>
          </a:prstGeom>
          <a:noFill/>
          <a:ln w="9525">
            <a:noFill/>
            <a:miter lim="800000"/>
            <a:headEnd/>
            <a:tailEnd/>
          </a:ln>
        </p:spPr>
        <p:txBody>
          <a:bodyPr wrap="none">
            <a:spAutoFit/>
          </a:bodyPr>
          <a:lstStyle/>
          <a:p>
            <a:r>
              <a:rPr lang="zh-CN" altLang="en-US" sz="2800" b="0">
                <a:solidFill>
                  <a:schemeClr val="tx1"/>
                </a:solidFill>
                <a:latin typeface="宋体" pitchFamily="2" charset="-122"/>
              </a:rPr>
              <a:t>某计算机的</a:t>
            </a:r>
            <a:r>
              <a:rPr lang="en-US" altLang="zh-CN" sz="2800" b="0">
                <a:solidFill>
                  <a:schemeClr val="tx1"/>
                </a:solidFill>
                <a:latin typeface="宋体" pitchFamily="2" charset="-122"/>
              </a:rPr>
              <a:t>CPU</a:t>
            </a:r>
            <a:r>
              <a:rPr lang="zh-CN" altLang="en-US" sz="2800" b="0">
                <a:solidFill>
                  <a:schemeClr val="tx1"/>
                </a:solidFill>
                <a:latin typeface="宋体" pitchFamily="2" charset="-122"/>
              </a:rPr>
              <a:t>周期和微指令周期</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ChangeArrowheads="1"/>
          </p:cNvSpPr>
          <p:nvPr/>
        </p:nvSpPr>
        <p:spPr bwMode="auto">
          <a:xfrm>
            <a:off x="395288" y="260350"/>
            <a:ext cx="6264275" cy="641350"/>
          </a:xfrm>
          <a:prstGeom prst="rect">
            <a:avLst/>
          </a:prstGeom>
          <a:noFill/>
          <a:ln w="9525">
            <a:noFill/>
            <a:miter lim="800000"/>
            <a:headEnd/>
            <a:tailEnd/>
          </a:ln>
        </p:spPr>
        <p:txBody>
          <a:bodyPr>
            <a:spAutoFit/>
          </a:bodyPr>
          <a:lstStyle/>
          <a:p>
            <a:r>
              <a:rPr lang="en-US" altLang="zh-CN" sz="3600">
                <a:solidFill>
                  <a:schemeClr val="tx2"/>
                </a:solidFill>
              </a:rPr>
              <a:t>6. </a:t>
            </a:r>
            <a:r>
              <a:rPr lang="zh-CN" altLang="en-US" sz="3600">
                <a:solidFill>
                  <a:schemeClr val="tx2"/>
                </a:solidFill>
              </a:rPr>
              <a:t>机器指令与微指令的关系</a:t>
            </a:r>
          </a:p>
        </p:txBody>
      </p:sp>
      <p:pic>
        <p:nvPicPr>
          <p:cNvPr id="138241" name="Picture 1"/>
          <p:cNvPicPr>
            <a:picLocks noChangeAspect="1" noChangeArrowheads="1"/>
          </p:cNvPicPr>
          <p:nvPr/>
        </p:nvPicPr>
        <p:blipFill>
          <a:blip r:embed="rId2"/>
          <a:srcRect/>
          <a:stretch>
            <a:fillRect/>
          </a:stretch>
        </p:blipFill>
        <p:spPr bwMode="auto">
          <a:xfrm>
            <a:off x="500034" y="1000108"/>
            <a:ext cx="8215370" cy="5643602"/>
          </a:xfrm>
          <a:prstGeom prst="rect">
            <a:avLst/>
          </a:prstGeom>
          <a:noFill/>
          <a:ln w="9525">
            <a:noFill/>
            <a:miter lim="800000"/>
            <a:headEnd/>
            <a:tailEnd/>
          </a:ln>
          <a:effectLst/>
        </p:spPr>
      </p:pic>
      <p:sp>
        <p:nvSpPr>
          <p:cNvPr id="8" name="灯片编号占位符 5"/>
          <p:cNvSpPr>
            <a:spLocks noGrp="1"/>
          </p:cNvSpPr>
          <p:nvPr>
            <p:ph type="sldNum" sz="quarter" idx="12"/>
          </p:nvPr>
        </p:nvSpPr>
        <p:spPr>
          <a:xfrm>
            <a:off x="6553200" y="6248400"/>
            <a:ext cx="2133600" cy="457200"/>
          </a:xfrm>
          <a:noFill/>
        </p:spPr>
        <p:txBody>
          <a:bodyPr/>
          <a:lstStyle/>
          <a:p>
            <a:fld id="{AD88BD81-B16A-4CD6-94D1-40CC30EAD862}" type="slidenum">
              <a:rPr lang="en-US" altLang="zh-CN" smtClean="0"/>
              <a:pPr/>
              <a:t>74</a:t>
            </a:fld>
            <a:endParaRPr lang="en-US" altLang="zh-CN" smtClean="0"/>
          </a:p>
        </p:txBody>
      </p:sp>
      <p:sp>
        <p:nvSpPr>
          <p:cNvPr id="9" name="AutoShape 4"/>
          <p:cNvSpPr>
            <a:spLocks noChangeArrowheads="1"/>
          </p:cNvSpPr>
          <p:nvPr/>
        </p:nvSpPr>
        <p:spPr bwMode="auto">
          <a:xfrm>
            <a:off x="4908891" y="24032"/>
            <a:ext cx="4211960" cy="3003744"/>
          </a:xfrm>
          <a:prstGeom prst="wedgeRectCallout">
            <a:avLst>
              <a:gd name="adj1" fmla="val -70675"/>
              <a:gd name="adj2" fmla="val 13902"/>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一条机器指令对应一个微程序，这个微程序是由若干条微指令序列组成的。因此，一条机器指令的功能是由若干条微指令组成的序列来实现的。简言之，一条机器指令所完成的操作划分成若干条微指令来完成，由微指令进行解释和执行。 </a:t>
            </a:r>
          </a:p>
        </p:txBody>
      </p:sp>
      <p:sp>
        <p:nvSpPr>
          <p:cNvPr id="10" name="AutoShape 5"/>
          <p:cNvSpPr>
            <a:spLocks noChangeArrowheads="1"/>
          </p:cNvSpPr>
          <p:nvPr/>
        </p:nvSpPr>
        <p:spPr bwMode="auto">
          <a:xfrm>
            <a:off x="80831" y="209232"/>
            <a:ext cx="1100528" cy="6408712"/>
          </a:xfrm>
          <a:prstGeom prst="wedgeRectCallout">
            <a:avLst>
              <a:gd name="adj1" fmla="val -26186"/>
              <a:gd name="adj2" fmla="val -49580"/>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从指令与微指令，程序与微程序，地址与微地址的一一对应关系来看，前者与内存储器有关，后者与控制存储器有关。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p:spPr>
        <p:txBody>
          <a:bodyPr/>
          <a:lstStyle/>
          <a:p>
            <a:fld id="{07B89462-300A-4D05-90FC-F6F3F2FE549D}" type="slidenum">
              <a:rPr lang="en-US" altLang="zh-CN" smtClean="0"/>
              <a:pPr/>
              <a:t>75</a:t>
            </a:fld>
            <a:endParaRPr lang="en-US" altLang="zh-CN" smtClean="0"/>
          </a:p>
        </p:txBody>
      </p:sp>
      <p:sp>
        <p:nvSpPr>
          <p:cNvPr id="80899" name="Rectangle 2"/>
          <p:cNvSpPr>
            <a:spLocks noGrp="1" noChangeArrowheads="1"/>
          </p:cNvSpPr>
          <p:nvPr>
            <p:ph type="title"/>
          </p:nvPr>
        </p:nvSpPr>
        <p:spPr>
          <a:xfrm>
            <a:off x="468313" y="476250"/>
            <a:ext cx="7543800" cy="785813"/>
          </a:xfrm>
        </p:spPr>
        <p:txBody>
          <a:bodyPr/>
          <a:lstStyle/>
          <a:p>
            <a:pPr eaLnBrk="1" hangingPunct="1"/>
            <a:r>
              <a:rPr lang="en-US" altLang="zh-CN" smtClean="0">
                <a:solidFill>
                  <a:schemeClr val="tx1"/>
                </a:solidFill>
                <a:cs typeface="Times New Roman" pitchFamily="18" charset="0"/>
              </a:rPr>
              <a:t>5</a:t>
            </a:r>
            <a:r>
              <a:rPr lang="en-US" altLang="zh-CN" smtClean="0">
                <a:solidFill>
                  <a:schemeClr val="tx1"/>
                </a:solidFill>
              </a:rPr>
              <a:t>.4.2  </a:t>
            </a:r>
            <a:r>
              <a:rPr lang="zh-CN" altLang="en-US" smtClean="0">
                <a:solidFill>
                  <a:schemeClr val="tx1"/>
                </a:solidFill>
              </a:rPr>
              <a:t>微程序设计技术</a:t>
            </a:r>
          </a:p>
        </p:txBody>
      </p:sp>
      <p:sp>
        <p:nvSpPr>
          <p:cNvPr id="80900" name="Rectangle 3"/>
          <p:cNvSpPr>
            <a:spLocks noGrp="1" noChangeArrowheads="1"/>
          </p:cNvSpPr>
          <p:nvPr>
            <p:ph type="body" idx="1"/>
          </p:nvPr>
        </p:nvSpPr>
        <p:spPr/>
        <p:txBody>
          <a:bodyPr/>
          <a:lstStyle/>
          <a:p>
            <a:pPr eaLnBrk="1" hangingPunct="1">
              <a:buFont typeface="Wingdings" pitchFamily="2" charset="2"/>
              <a:buNone/>
            </a:pPr>
            <a:r>
              <a:rPr lang="en-US" altLang="zh-CN" sz="3600" dirty="0" smtClean="0">
                <a:latin typeface="宋体" pitchFamily="2" charset="-122"/>
              </a:rPr>
              <a:t> </a:t>
            </a:r>
            <a:r>
              <a:rPr lang="zh-CN" altLang="en-US" sz="3600" dirty="0" smtClean="0">
                <a:latin typeface="宋体" pitchFamily="2" charset="-122"/>
              </a:rPr>
              <a:t>设计微指令应当追求的目标</a:t>
            </a:r>
          </a:p>
          <a:p>
            <a:pPr lvl="1" eaLnBrk="1" hangingPunct="1"/>
            <a:r>
              <a:rPr lang="zh-CN" altLang="en-US" sz="3600" dirty="0" smtClean="0">
                <a:latin typeface="宋体" pitchFamily="2" charset="-122"/>
              </a:rPr>
              <a:t>有利于缩短微指令的长度</a:t>
            </a:r>
          </a:p>
          <a:p>
            <a:pPr lvl="1" eaLnBrk="1" hangingPunct="1"/>
            <a:r>
              <a:rPr lang="zh-CN" altLang="en-US" sz="3600" dirty="0" smtClean="0">
                <a:latin typeface="宋体" pitchFamily="2" charset="-122"/>
              </a:rPr>
              <a:t>有利于缩小</a:t>
            </a:r>
            <a:r>
              <a:rPr lang="en-US" altLang="zh-CN" sz="3600" dirty="0" smtClean="0">
                <a:latin typeface="宋体" pitchFamily="2" charset="-122"/>
              </a:rPr>
              <a:t>CM</a:t>
            </a:r>
            <a:r>
              <a:rPr lang="zh-CN" altLang="en-US" sz="3600" dirty="0" smtClean="0">
                <a:latin typeface="宋体" pitchFamily="2" charset="-122"/>
              </a:rPr>
              <a:t>的容量</a:t>
            </a:r>
          </a:p>
          <a:p>
            <a:pPr lvl="1" eaLnBrk="1" hangingPunct="1"/>
            <a:r>
              <a:rPr lang="zh-CN" altLang="en-US" sz="3600" dirty="0" smtClean="0">
                <a:latin typeface="宋体" pitchFamily="2" charset="-122"/>
              </a:rPr>
              <a:t>有利于提高微程序的执行速度</a:t>
            </a:r>
          </a:p>
          <a:p>
            <a:pPr lvl="1" eaLnBrk="1" hangingPunct="1"/>
            <a:r>
              <a:rPr lang="zh-CN" altLang="en-US" sz="3600" dirty="0" smtClean="0">
                <a:latin typeface="宋体" pitchFamily="2" charset="-122"/>
              </a:rPr>
              <a:t>有利于对微指令的修改</a:t>
            </a:r>
          </a:p>
          <a:p>
            <a:pPr lvl="1" eaLnBrk="1" hangingPunct="1"/>
            <a:r>
              <a:rPr lang="zh-CN" altLang="en-US" sz="3600" dirty="0" smtClean="0">
                <a:latin typeface="宋体" pitchFamily="2" charset="-122"/>
              </a:rPr>
              <a:t>有利于提高微程序设计的灵活性</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p:spPr>
        <p:txBody>
          <a:bodyPr/>
          <a:lstStyle/>
          <a:p>
            <a:fld id="{614599CD-3867-4DD6-81E1-B5C128EB1B68}" type="slidenum">
              <a:rPr lang="en-US" altLang="zh-CN" smtClean="0"/>
              <a:pPr/>
              <a:t>76</a:t>
            </a:fld>
            <a:endParaRPr lang="en-US" altLang="zh-CN" smtClean="0"/>
          </a:p>
        </p:txBody>
      </p:sp>
      <p:sp>
        <p:nvSpPr>
          <p:cNvPr id="81923" name="Rectangle 1026"/>
          <p:cNvSpPr>
            <a:spLocks noChangeArrowheads="1"/>
          </p:cNvSpPr>
          <p:nvPr/>
        </p:nvSpPr>
        <p:spPr bwMode="auto">
          <a:xfrm>
            <a:off x="283251" y="557646"/>
            <a:ext cx="7632700" cy="5779467"/>
          </a:xfrm>
          <a:prstGeom prst="rect">
            <a:avLst/>
          </a:prstGeom>
          <a:noFill/>
          <a:ln w="12700" cap="sq">
            <a:noFill/>
            <a:miter lim="800000"/>
            <a:headEnd type="none" w="sm" len="sm"/>
            <a:tailEnd type="none" w="sm" len="sm"/>
          </a:ln>
        </p:spPr>
        <p:txBody>
          <a:bodyPr anchor="ctr">
            <a:spAutoFit/>
          </a:bodyPr>
          <a:lstStyle/>
          <a:p>
            <a:pPr eaLnBrk="0" hangingPunct="0">
              <a:lnSpc>
                <a:spcPct val="150000"/>
              </a:lnSpc>
            </a:pPr>
            <a:r>
              <a:rPr lang="en-US" altLang="zh-CN" sz="3600" dirty="0">
                <a:solidFill>
                  <a:schemeClr val="tx1"/>
                </a:solidFill>
                <a:latin typeface="宋体" pitchFamily="2" charset="-122"/>
              </a:rPr>
              <a:t>    </a:t>
            </a:r>
            <a:r>
              <a:rPr lang="zh-CN" altLang="en-US" sz="3600" dirty="0">
                <a:solidFill>
                  <a:schemeClr val="tx1"/>
                </a:solidFill>
                <a:latin typeface="宋体" pitchFamily="2" charset="-122"/>
              </a:rPr>
              <a:t>微指令可以分成操作控制字段和顺序控制字段两大部分。</a:t>
            </a:r>
          </a:p>
          <a:p>
            <a:pPr eaLnBrk="0" hangingPunct="0">
              <a:lnSpc>
                <a:spcPct val="150000"/>
              </a:lnSpc>
            </a:pPr>
            <a:r>
              <a:rPr lang="zh-CN" altLang="en-US" sz="3600" dirty="0">
                <a:solidFill>
                  <a:schemeClr val="tx1"/>
                </a:solidFill>
                <a:latin typeface="宋体" pitchFamily="2" charset="-122"/>
              </a:rPr>
              <a:t>    微指令编码法</a:t>
            </a:r>
            <a:r>
              <a:rPr lang="zh-CN" altLang="en-US" sz="3600" b="0" dirty="0">
                <a:solidFill>
                  <a:schemeClr val="tx1"/>
                </a:solidFill>
                <a:latin typeface="宋体" pitchFamily="2" charset="-122"/>
              </a:rPr>
              <a:t>指的是操作控制字段的编码方法。</a:t>
            </a:r>
          </a:p>
          <a:p>
            <a:pPr eaLnBrk="0" hangingPunct="0">
              <a:lnSpc>
                <a:spcPct val="150000"/>
              </a:lnSpc>
            </a:pPr>
            <a:r>
              <a:rPr lang="zh-CN" altLang="en-US" sz="3600" b="0" dirty="0">
                <a:solidFill>
                  <a:schemeClr val="tx1"/>
                </a:solidFill>
                <a:latin typeface="宋体" pitchFamily="2" charset="-122"/>
              </a:rPr>
              <a:t>    </a:t>
            </a:r>
            <a:r>
              <a:rPr lang="zh-CN" altLang="en-US" sz="3600" dirty="0">
                <a:solidFill>
                  <a:schemeClr val="tx1"/>
                </a:solidFill>
                <a:latin typeface="宋体" pitchFamily="2" charset="-122"/>
              </a:rPr>
              <a:t>微地址的形成方法</a:t>
            </a:r>
            <a:r>
              <a:rPr lang="zh-CN" altLang="en-US" sz="3600" b="0" dirty="0">
                <a:solidFill>
                  <a:schemeClr val="tx1"/>
                </a:solidFill>
                <a:latin typeface="宋体" pitchFamily="2" charset="-122"/>
              </a:rPr>
              <a:t>是微指令执行的顺序控制问题，即如何确定下一条微指令的地址问题。 </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p:spPr>
        <p:txBody>
          <a:bodyPr/>
          <a:lstStyle/>
          <a:p>
            <a:fld id="{C0B8DAA9-07E5-4D2B-9A26-D7D0F7FF72E2}" type="slidenum">
              <a:rPr lang="en-US" altLang="zh-CN" smtClean="0"/>
              <a:pPr/>
              <a:t>77</a:t>
            </a:fld>
            <a:endParaRPr lang="en-US" altLang="zh-CN" smtClean="0"/>
          </a:p>
        </p:txBody>
      </p:sp>
      <p:sp>
        <p:nvSpPr>
          <p:cNvPr id="82947" name="Rectangle 2"/>
          <p:cNvSpPr>
            <a:spLocks noGrp="1" noChangeArrowheads="1"/>
          </p:cNvSpPr>
          <p:nvPr>
            <p:ph type="body" idx="1"/>
          </p:nvPr>
        </p:nvSpPr>
        <p:spPr>
          <a:xfrm>
            <a:off x="250825" y="333375"/>
            <a:ext cx="8497888" cy="6192838"/>
          </a:xfrm>
        </p:spPr>
        <p:txBody>
          <a:bodyPr/>
          <a:lstStyle/>
          <a:p>
            <a:pPr eaLnBrk="1" hangingPunct="1">
              <a:buFont typeface="Wingdings" pitchFamily="2" charset="2"/>
              <a:buNone/>
            </a:pPr>
            <a:r>
              <a:rPr lang="zh-CN" altLang="en-US" sz="3200" smtClean="0">
                <a:latin typeface="宋体" pitchFamily="2" charset="-122"/>
              </a:rPr>
              <a:t>一、微命令的编码方法</a:t>
            </a:r>
          </a:p>
          <a:p>
            <a:pPr eaLnBrk="1" hangingPunct="1">
              <a:buFont typeface="Wingdings" pitchFamily="2" charset="2"/>
              <a:buNone/>
            </a:pPr>
            <a:r>
              <a:rPr lang="zh-CN" altLang="en-US" sz="3200" smtClean="0">
                <a:latin typeface="宋体" pitchFamily="2" charset="-122"/>
              </a:rPr>
              <a:t>      微指令编码法指的就是操作控制字</a:t>
            </a:r>
          </a:p>
          <a:p>
            <a:pPr eaLnBrk="1" hangingPunct="1">
              <a:buFont typeface="Wingdings" pitchFamily="2" charset="2"/>
              <a:buNone/>
            </a:pPr>
            <a:r>
              <a:rPr lang="zh-CN" altLang="en-US" sz="3200" smtClean="0">
                <a:latin typeface="宋体" pitchFamily="2" charset="-122"/>
              </a:rPr>
              <a:t>  段的编码方法。各类计算机从各自的特点出发，设计了各种各样的微指令编码法。例如：大型机强调速度，要求译码过程尽量快；微小型机则更多地注意经济性，要求更大限度地缩短微指令字长；而中型机介于这两者之间，兼顾速度和价格，要求在保证一定速度的情况下，能尽量缩短微指令字长。 </a:t>
            </a:r>
          </a:p>
          <a:p>
            <a:pPr lvl="1" eaLnBrk="1" hangingPunct="1">
              <a:buFont typeface="Wingdings" pitchFamily="2" charset="2"/>
              <a:buNone/>
            </a:pPr>
            <a:r>
              <a:rPr lang="zh-CN" altLang="en-US" sz="3200" smtClean="0">
                <a:latin typeface="宋体" pitchFamily="2" charset="-122"/>
              </a:rPr>
              <a:t>     编码有三种方法：</a:t>
            </a:r>
          </a:p>
          <a:p>
            <a:pPr lvl="1" eaLnBrk="1" hangingPunct="1">
              <a:buFont typeface="Wingdings" pitchFamily="2" charset="2"/>
              <a:buNone/>
            </a:pPr>
            <a:r>
              <a:rPr lang="zh-CN" altLang="en-US" sz="3200" smtClean="0">
                <a:latin typeface="宋体" pitchFamily="2" charset="-122"/>
              </a:rPr>
              <a:t>直接表示法、编码表示法、混合表示法</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p:spPr>
        <p:txBody>
          <a:bodyPr/>
          <a:lstStyle/>
          <a:p>
            <a:fld id="{2DBD00BC-61C4-4029-85F9-D40BDCA6D728}" type="slidenum">
              <a:rPr lang="en-US" altLang="zh-CN" smtClean="0"/>
              <a:pPr/>
              <a:t>78</a:t>
            </a:fld>
            <a:endParaRPr lang="en-US" altLang="zh-CN" smtClean="0"/>
          </a:p>
        </p:txBody>
      </p:sp>
      <p:pic>
        <p:nvPicPr>
          <p:cNvPr id="83971" name="Picture 2" descr="jxnr672"/>
          <p:cNvPicPr>
            <a:picLocks noChangeAspect="1" noChangeArrowheads="1"/>
          </p:cNvPicPr>
          <p:nvPr/>
        </p:nvPicPr>
        <p:blipFill>
          <a:blip r:embed="rId2"/>
          <a:srcRect/>
          <a:stretch>
            <a:fillRect/>
          </a:stretch>
        </p:blipFill>
        <p:spPr bwMode="auto">
          <a:xfrm>
            <a:off x="539750" y="1341438"/>
            <a:ext cx="6699250" cy="1727200"/>
          </a:xfrm>
          <a:prstGeom prst="rect">
            <a:avLst/>
          </a:prstGeom>
          <a:noFill/>
          <a:ln w="9525">
            <a:noFill/>
            <a:miter lim="800000"/>
            <a:headEnd/>
            <a:tailEnd/>
          </a:ln>
        </p:spPr>
      </p:pic>
      <p:sp>
        <p:nvSpPr>
          <p:cNvPr id="83972" name="Rectangle 3"/>
          <p:cNvSpPr>
            <a:spLocks noChangeArrowheads="1"/>
          </p:cNvSpPr>
          <p:nvPr/>
        </p:nvSpPr>
        <p:spPr bwMode="auto">
          <a:xfrm>
            <a:off x="179388" y="333375"/>
            <a:ext cx="7651750" cy="946150"/>
          </a:xfrm>
          <a:prstGeom prst="rect">
            <a:avLst/>
          </a:prstGeom>
          <a:noFill/>
          <a:ln w="12700" cap="sq">
            <a:noFill/>
            <a:miter lim="800000"/>
            <a:headEnd type="none" w="sm" len="sm"/>
            <a:tailEnd type="none" w="sm" len="sm"/>
          </a:ln>
        </p:spPr>
        <p:txBody>
          <a:bodyPr wrap="none">
            <a:spAutoFit/>
          </a:bodyPr>
          <a:lstStyle/>
          <a:p>
            <a:r>
              <a:rPr lang="zh-CN" altLang="en-US" sz="2800" b="0">
                <a:solidFill>
                  <a:schemeClr val="tx1"/>
                </a:solidFill>
              </a:rPr>
              <a:t>直接表示法：操作控制字段中的各位分别可以直</a:t>
            </a:r>
          </a:p>
          <a:p>
            <a:r>
              <a:rPr lang="zh-CN" altLang="en-US" sz="2800" b="0">
                <a:solidFill>
                  <a:schemeClr val="tx1"/>
                </a:solidFill>
              </a:rPr>
              <a:t>                     接控制计算机，不需要进行译码。</a:t>
            </a:r>
          </a:p>
        </p:txBody>
      </p:sp>
      <p:grpSp>
        <p:nvGrpSpPr>
          <p:cNvPr id="83973" name="Group 4"/>
          <p:cNvGrpSpPr>
            <a:grpSpLocks/>
          </p:cNvGrpSpPr>
          <p:nvPr/>
        </p:nvGrpSpPr>
        <p:grpSpPr bwMode="auto">
          <a:xfrm>
            <a:off x="395288" y="4370388"/>
            <a:ext cx="7670800" cy="1995487"/>
            <a:chOff x="360" y="1283"/>
            <a:chExt cx="4832" cy="987"/>
          </a:xfrm>
        </p:grpSpPr>
        <p:sp>
          <p:nvSpPr>
            <p:cNvPr id="83975" name="Rectangle 5"/>
            <p:cNvSpPr>
              <a:spLocks noChangeArrowheads="1"/>
            </p:cNvSpPr>
            <p:nvPr/>
          </p:nvSpPr>
          <p:spPr bwMode="auto">
            <a:xfrm>
              <a:off x="360" y="2013"/>
              <a:ext cx="4832" cy="257"/>
            </a:xfrm>
            <a:prstGeom prst="rect">
              <a:avLst/>
            </a:prstGeom>
            <a:solidFill>
              <a:srgbClr val="FFFFFF"/>
            </a:solidFill>
            <a:ln w="9525">
              <a:noFill/>
              <a:miter lim="800000"/>
              <a:headEnd/>
              <a:tailEnd/>
            </a:ln>
          </p:spPr>
          <p:txBody>
            <a:bodyPr/>
            <a:lstStyle/>
            <a:p>
              <a:endParaRPr lang="zh-CN" altLang="en-US"/>
            </a:p>
          </p:txBody>
        </p:sp>
        <p:sp>
          <p:nvSpPr>
            <p:cNvPr id="83976" name="Rectangle 6"/>
            <p:cNvSpPr>
              <a:spLocks noChangeArrowheads="1"/>
            </p:cNvSpPr>
            <p:nvPr/>
          </p:nvSpPr>
          <p:spPr bwMode="auto">
            <a:xfrm>
              <a:off x="360" y="2013"/>
              <a:ext cx="4832" cy="257"/>
            </a:xfrm>
            <a:prstGeom prst="rect">
              <a:avLst/>
            </a:prstGeom>
            <a:noFill/>
            <a:ln w="28575">
              <a:solidFill>
                <a:srgbClr val="000000"/>
              </a:solidFill>
              <a:miter lim="800000"/>
              <a:headEnd/>
              <a:tailEnd/>
            </a:ln>
          </p:spPr>
          <p:txBody>
            <a:bodyPr/>
            <a:lstStyle/>
            <a:p>
              <a:endParaRPr lang="zh-CN" altLang="en-US"/>
            </a:p>
          </p:txBody>
        </p:sp>
        <p:sp>
          <p:nvSpPr>
            <p:cNvPr id="83977" name="Line 7"/>
            <p:cNvSpPr>
              <a:spLocks noChangeShapeType="1"/>
            </p:cNvSpPr>
            <p:nvPr/>
          </p:nvSpPr>
          <p:spPr bwMode="auto">
            <a:xfrm flipV="1">
              <a:off x="5064" y="1866"/>
              <a:ext cx="1" cy="147"/>
            </a:xfrm>
            <a:prstGeom prst="line">
              <a:avLst/>
            </a:prstGeom>
            <a:noFill/>
            <a:ln w="4763">
              <a:solidFill>
                <a:srgbClr val="000000"/>
              </a:solidFill>
              <a:round/>
              <a:headEnd/>
              <a:tailEnd/>
            </a:ln>
          </p:spPr>
          <p:txBody>
            <a:bodyPr/>
            <a:lstStyle/>
            <a:p>
              <a:endParaRPr lang="zh-CN" altLang="en-US"/>
            </a:p>
          </p:txBody>
        </p:sp>
        <p:sp>
          <p:nvSpPr>
            <p:cNvPr id="83978" name="Freeform 8"/>
            <p:cNvSpPr>
              <a:spLocks/>
            </p:cNvSpPr>
            <p:nvPr/>
          </p:nvSpPr>
          <p:spPr bwMode="auto">
            <a:xfrm>
              <a:off x="5024"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79" name="Line 9"/>
            <p:cNvSpPr>
              <a:spLocks noChangeShapeType="1"/>
            </p:cNvSpPr>
            <p:nvPr/>
          </p:nvSpPr>
          <p:spPr bwMode="auto">
            <a:xfrm flipV="1">
              <a:off x="4935" y="1866"/>
              <a:ext cx="1" cy="147"/>
            </a:xfrm>
            <a:prstGeom prst="line">
              <a:avLst/>
            </a:prstGeom>
            <a:noFill/>
            <a:ln w="4763">
              <a:solidFill>
                <a:srgbClr val="000000"/>
              </a:solidFill>
              <a:round/>
              <a:headEnd/>
              <a:tailEnd/>
            </a:ln>
          </p:spPr>
          <p:txBody>
            <a:bodyPr/>
            <a:lstStyle/>
            <a:p>
              <a:endParaRPr lang="zh-CN" altLang="en-US"/>
            </a:p>
          </p:txBody>
        </p:sp>
        <p:sp>
          <p:nvSpPr>
            <p:cNvPr id="83980" name="Freeform 10"/>
            <p:cNvSpPr>
              <a:spLocks/>
            </p:cNvSpPr>
            <p:nvPr/>
          </p:nvSpPr>
          <p:spPr bwMode="auto">
            <a:xfrm>
              <a:off x="4897" y="1758"/>
              <a:ext cx="79" cy="118"/>
            </a:xfrm>
            <a:custGeom>
              <a:avLst/>
              <a:gdLst>
                <a:gd name="T0" fmla="*/ 0 w 79"/>
                <a:gd name="T1" fmla="*/ 118 h 118"/>
                <a:gd name="T2" fmla="*/ 38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8"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81" name="Line 11"/>
            <p:cNvSpPr>
              <a:spLocks noChangeShapeType="1"/>
            </p:cNvSpPr>
            <p:nvPr/>
          </p:nvSpPr>
          <p:spPr bwMode="auto">
            <a:xfrm flipV="1">
              <a:off x="4808" y="1866"/>
              <a:ext cx="1" cy="147"/>
            </a:xfrm>
            <a:prstGeom prst="line">
              <a:avLst/>
            </a:prstGeom>
            <a:noFill/>
            <a:ln w="4763">
              <a:solidFill>
                <a:srgbClr val="000000"/>
              </a:solidFill>
              <a:round/>
              <a:headEnd/>
              <a:tailEnd/>
            </a:ln>
          </p:spPr>
          <p:txBody>
            <a:bodyPr/>
            <a:lstStyle/>
            <a:p>
              <a:endParaRPr lang="zh-CN" altLang="en-US"/>
            </a:p>
          </p:txBody>
        </p:sp>
        <p:sp>
          <p:nvSpPr>
            <p:cNvPr id="83982" name="Freeform 12"/>
            <p:cNvSpPr>
              <a:spLocks/>
            </p:cNvSpPr>
            <p:nvPr/>
          </p:nvSpPr>
          <p:spPr bwMode="auto">
            <a:xfrm>
              <a:off x="4769"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3983" name="Line 13"/>
            <p:cNvSpPr>
              <a:spLocks noChangeShapeType="1"/>
            </p:cNvSpPr>
            <p:nvPr/>
          </p:nvSpPr>
          <p:spPr bwMode="auto">
            <a:xfrm flipV="1">
              <a:off x="4681" y="1866"/>
              <a:ext cx="1" cy="147"/>
            </a:xfrm>
            <a:prstGeom prst="line">
              <a:avLst/>
            </a:prstGeom>
            <a:noFill/>
            <a:ln w="4763">
              <a:solidFill>
                <a:srgbClr val="000000"/>
              </a:solidFill>
              <a:round/>
              <a:headEnd/>
              <a:tailEnd/>
            </a:ln>
          </p:spPr>
          <p:txBody>
            <a:bodyPr/>
            <a:lstStyle/>
            <a:p>
              <a:endParaRPr lang="zh-CN" altLang="en-US"/>
            </a:p>
          </p:txBody>
        </p:sp>
        <p:sp>
          <p:nvSpPr>
            <p:cNvPr id="83984" name="Freeform 14"/>
            <p:cNvSpPr>
              <a:spLocks/>
            </p:cNvSpPr>
            <p:nvPr/>
          </p:nvSpPr>
          <p:spPr bwMode="auto">
            <a:xfrm>
              <a:off x="4640" y="1758"/>
              <a:ext cx="79" cy="118"/>
            </a:xfrm>
            <a:custGeom>
              <a:avLst/>
              <a:gdLst>
                <a:gd name="T0" fmla="*/ 0 w 79"/>
                <a:gd name="T1" fmla="*/ 118 h 118"/>
                <a:gd name="T2" fmla="*/ 41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1"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85" name="Line 15"/>
            <p:cNvSpPr>
              <a:spLocks noChangeShapeType="1"/>
            </p:cNvSpPr>
            <p:nvPr/>
          </p:nvSpPr>
          <p:spPr bwMode="auto">
            <a:xfrm flipV="1">
              <a:off x="4551" y="1866"/>
              <a:ext cx="1" cy="147"/>
            </a:xfrm>
            <a:prstGeom prst="line">
              <a:avLst/>
            </a:prstGeom>
            <a:noFill/>
            <a:ln w="4763">
              <a:solidFill>
                <a:srgbClr val="000000"/>
              </a:solidFill>
              <a:round/>
              <a:headEnd/>
              <a:tailEnd/>
            </a:ln>
          </p:spPr>
          <p:txBody>
            <a:bodyPr/>
            <a:lstStyle/>
            <a:p>
              <a:endParaRPr lang="zh-CN" altLang="en-US"/>
            </a:p>
          </p:txBody>
        </p:sp>
        <p:sp>
          <p:nvSpPr>
            <p:cNvPr id="83986" name="Freeform 16"/>
            <p:cNvSpPr>
              <a:spLocks/>
            </p:cNvSpPr>
            <p:nvPr/>
          </p:nvSpPr>
          <p:spPr bwMode="auto">
            <a:xfrm>
              <a:off x="4513" y="1758"/>
              <a:ext cx="79" cy="118"/>
            </a:xfrm>
            <a:custGeom>
              <a:avLst/>
              <a:gdLst>
                <a:gd name="T0" fmla="*/ 0 w 79"/>
                <a:gd name="T1" fmla="*/ 118 h 118"/>
                <a:gd name="T2" fmla="*/ 38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8"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87" name="Line 17"/>
            <p:cNvSpPr>
              <a:spLocks noChangeShapeType="1"/>
            </p:cNvSpPr>
            <p:nvPr/>
          </p:nvSpPr>
          <p:spPr bwMode="auto">
            <a:xfrm flipV="1">
              <a:off x="4424" y="1866"/>
              <a:ext cx="1" cy="147"/>
            </a:xfrm>
            <a:prstGeom prst="line">
              <a:avLst/>
            </a:prstGeom>
            <a:noFill/>
            <a:ln w="4763">
              <a:solidFill>
                <a:srgbClr val="000000"/>
              </a:solidFill>
              <a:round/>
              <a:headEnd/>
              <a:tailEnd/>
            </a:ln>
          </p:spPr>
          <p:txBody>
            <a:bodyPr/>
            <a:lstStyle/>
            <a:p>
              <a:endParaRPr lang="zh-CN" altLang="en-US"/>
            </a:p>
          </p:txBody>
        </p:sp>
        <p:sp>
          <p:nvSpPr>
            <p:cNvPr id="83988" name="Freeform 18"/>
            <p:cNvSpPr>
              <a:spLocks/>
            </p:cNvSpPr>
            <p:nvPr/>
          </p:nvSpPr>
          <p:spPr bwMode="auto">
            <a:xfrm>
              <a:off x="4385"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3989" name="Line 19"/>
            <p:cNvSpPr>
              <a:spLocks noChangeShapeType="1"/>
            </p:cNvSpPr>
            <p:nvPr/>
          </p:nvSpPr>
          <p:spPr bwMode="auto">
            <a:xfrm flipV="1">
              <a:off x="4168" y="1866"/>
              <a:ext cx="1" cy="147"/>
            </a:xfrm>
            <a:prstGeom prst="line">
              <a:avLst/>
            </a:prstGeom>
            <a:noFill/>
            <a:ln w="4763">
              <a:solidFill>
                <a:srgbClr val="000000"/>
              </a:solidFill>
              <a:round/>
              <a:headEnd/>
              <a:tailEnd/>
            </a:ln>
          </p:spPr>
          <p:txBody>
            <a:bodyPr/>
            <a:lstStyle/>
            <a:p>
              <a:endParaRPr lang="zh-CN" altLang="en-US"/>
            </a:p>
          </p:txBody>
        </p:sp>
        <p:sp>
          <p:nvSpPr>
            <p:cNvPr id="83990" name="Freeform 20"/>
            <p:cNvSpPr>
              <a:spLocks/>
            </p:cNvSpPr>
            <p:nvPr/>
          </p:nvSpPr>
          <p:spPr bwMode="auto">
            <a:xfrm>
              <a:off x="4129"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91" name="Line 21"/>
            <p:cNvSpPr>
              <a:spLocks noChangeShapeType="1"/>
            </p:cNvSpPr>
            <p:nvPr/>
          </p:nvSpPr>
          <p:spPr bwMode="auto">
            <a:xfrm flipV="1">
              <a:off x="4040" y="1866"/>
              <a:ext cx="1" cy="147"/>
            </a:xfrm>
            <a:prstGeom prst="line">
              <a:avLst/>
            </a:prstGeom>
            <a:noFill/>
            <a:ln w="4763">
              <a:solidFill>
                <a:srgbClr val="000000"/>
              </a:solidFill>
              <a:round/>
              <a:headEnd/>
              <a:tailEnd/>
            </a:ln>
          </p:spPr>
          <p:txBody>
            <a:bodyPr/>
            <a:lstStyle/>
            <a:p>
              <a:endParaRPr lang="zh-CN" altLang="en-US"/>
            </a:p>
          </p:txBody>
        </p:sp>
        <p:sp>
          <p:nvSpPr>
            <p:cNvPr id="83992" name="Freeform 22"/>
            <p:cNvSpPr>
              <a:spLocks/>
            </p:cNvSpPr>
            <p:nvPr/>
          </p:nvSpPr>
          <p:spPr bwMode="auto">
            <a:xfrm>
              <a:off x="4000"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93" name="Line 23"/>
            <p:cNvSpPr>
              <a:spLocks noChangeShapeType="1"/>
            </p:cNvSpPr>
            <p:nvPr/>
          </p:nvSpPr>
          <p:spPr bwMode="auto">
            <a:xfrm flipV="1">
              <a:off x="3911" y="1866"/>
              <a:ext cx="1" cy="147"/>
            </a:xfrm>
            <a:prstGeom prst="line">
              <a:avLst/>
            </a:prstGeom>
            <a:noFill/>
            <a:ln w="4763">
              <a:solidFill>
                <a:srgbClr val="000000"/>
              </a:solidFill>
              <a:round/>
              <a:headEnd/>
              <a:tailEnd/>
            </a:ln>
          </p:spPr>
          <p:txBody>
            <a:bodyPr/>
            <a:lstStyle/>
            <a:p>
              <a:endParaRPr lang="zh-CN" altLang="en-US"/>
            </a:p>
          </p:txBody>
        </p:sp>
        <p:sp>
          <p:nvSpPr>
            <p:cNvPr id="83994" name="Freeform 24"/>
            <p:cNvSpPr>
              <a:spLocks/>
            </p:cNvSpPr>
            <p:nvPr/>
          </p:nvSpPr>
          <p:spPr bwMode="auto">
            <a:xfrm>
              <a:off x="3872"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3995" name="Line 25"/>
            <p:cNvSpPr>
              <a:spLocks noChangeShapeType="1"/>
            </p:cNvSpPr>
            <p:nvPr/>
          </p:nvSpPr>
          <p:spPr bwMode="auto">
            <a:xfrm flipV="1">
              <a:off x="3911" y="1758"/>
              <a:ext cx="1" cy="255"/>
            </a:xfrm>
            <a:prstGeom prst="line">
              <a:avLst/>
            </a:prstGeom>
            <a:noFill/>
            <a:ln w="4763">
              <a:solidFill>
                <a:srgbClr val="000000"/>
              </a:solidFill>
              <a:round/>
              <a:headEnd/>
              <a:tailEnd/>
            </a:ln>
          </p:spPr>
          <p:txBody>
            <a:bodyPr/>
            <a:lstStyle/>
            <a:p>
              <a:endParaRPr lang="zh-CN" altLang="en-US"/>
            </a:p>
          </p:txBody>
        </p:sp>
        <p:sp>
          <p:nvSpPr>
            <p:cNvPr id="83996" name="Line 26"/>
            <p:cNvSpPr>
              <a:spLocks noChangeShapeType="1"/>
            </p:cNvSpPr>
            <p:nvPr/>
          </p:nvSpPr>
          <p:spPr bwMode="auto">
            <a:xfrm flipV="1">
              <a:off x="3784" y="1866"/>
              <a:ext cx="1" cy="147"/>
            </a:xfrm>
            <a:prstGeom prst="line">
              <a:avLst/>
            </a:prstGeom>
            <a:noFill/>
            <a:ln w="4763">
              <a:solidFill>
                <a:srgbClr val="000000"/>
              </a:solidFill>
              <a:round/>
              <a:headEnd/>
              <a:tailEnd/>
            </a:ln>
          </p:spPr>
          <p:txBody>
            <a:bodyPr/>
            <a:lstStyle/>
            <a:p>
              <a:endParaRPr lang="zh-CN" altLang="en-US"/>
            </a:p>
          </p:txBody>
        </p:sp>
        <p:sp>
          <p:nvSpPr>
            <p:cNvPr id="83997" name="Freeform 27"/>
            <p:cNvSpPr>
              <a:spLocks/>
            </p:cNvSpPr>
            <p:nvPr/>
          </p:nvSpPr>
          <p:spPr bwMode="auto">
            <a:xfrm>
              <a:off x="3745" y="1758"/>
              <a:ext cx="77" cy="118"/>
            </a:xfrm>
            <a:custGeom>
              <a:avLst/>
              <a:gdLst>
                <a:gd name="T0" fmla="*/ 0 w 77"/>
                <a:gd name="T1" fmla="*/ 118 h 118"/>
                <a:gd name="T2" fmla="*/ 39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9"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3998" name="Line 28"/>
            <p:cNvSpPr>
              <a:spLocks noChangeShapeType="1"/>
            </p:cNvSpPr>
            <p:nvPr/>
          </p:nvSpPr>
          <p:spPr bwMode="auto">
            <a:xfrm flipV="1">
              <a:off x="3527" y="1866"/>
              <a:ext cx="1" cy="147"/>
            </a:xfrm>
            <a:prstGeom prst="line">
              <a:avLst/>
            </a:prstGeom>
            <a:noFill/>
            <a:ln w="4763">
              <a:solidFill>
                <a:srgbClr val="000000"/>
              </a:solidFill>
              <a:round/>
              <a:headEnd/>
              <a:tailEnd/>
            </a:ln>
          </p:spPr>
          <p:txBody>
            <a:bodyPr/>
            <a:lstStyle/>
            <a:p>
              <a:endParaRPr lang="zh-CN" altLang="en-US"/>
            </a:p>
          </p:txBody>
        </p:sp>
        <p:sp>
          <p:nvSpPr>
            <p:cNvPr id="83999" name="Freeform 29"/>
            <p:cNvSpPr>
              <a:spLocks/>
            </p:cNvSpPr>
            <p:nvPr/>
          </p:nvSpPr>
          <p:spPr bwMode="auto">
            <a:xfrm>
              <a:off x="3489" y="1758"/>
              <a:ext cx="79" cy="118"/>
            </a:xfrm>
            <a:custGeom>
              <a:avLst/>
              <a:gdLst>
                <a:gd name="T0" fmla="*/ 0 w 79"/>
                <a:gd name="T1" fmla="*/ 118 h 118"/>
                <a:gd name="T2" fmla="*/ 38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8"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00" name="Line 30"/>
            <p:cNvSpPr>
              <a:spLocks noChangeShapeType="1"/>
            </p:cNvSpPr>
            <p:nvPr/>
          </p:nvSpPr>
          <p:spPr bwMode="auto">
            <a:xfrm flipV="1">
              <a:off x="3400" y="1866"/>
              <a:ext cx="1" cy="147"/>
            </a:xfrm>
            <a:prstGeom prst="line">
              <a:avLst/>
            </a:prstGeom>
            <a:noFill/>
            <a:ln w="4763">
              <a:solidFill>
                <a:srgbClr val="000000"/>
              </a:solidFill>
              <a:round/>
              <a:headEnd/>
              <a:tailEnd/>
            </a:ln>
          </p:spPr>
          <p:txBody>
            <a:bodyPr/>
            <a:lstStyle/>
            <a:p>
              <a:endParaRPr lang="zh-CN" altLang="en-US"/>
            </a:p>
          </p:txBody>
        </p:sp>
        <p:sp>
          <p:nvSpPr>
            <p:cNvPr id="84001" name="Freeform 31"/>
            <p:cNvSpPr>
              <a:spLocks/>
            </p:cNvSpPr>
            <p:nvPr/>
          </p:nvSpPr>
          <p:spPr bwMode="auto">
            <a:xfrm>
              <a:off x="3361"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4002" name="Line 32"/>
            <p:cNvSpPr>
              <a:spLocks noChangeShapeType="1"/>
            </p:cNvSpPr>
            <p:nvPr/>
          </p:nvSpPr>
          <p:spPr bwMode="auto">
            <a:xfrm flipV="1">
              <a:off x="3272" y="1866"/>
              <a:ext cx="1" cy="147"/>
            </a:xfrm>
            <a:prstGeom prst="line">
              <a:avLst/>
            </a:prstGeom>
            <a:noFill/>
            <a:ln w="4763">
              <a:solidFill>
                <a:srgbClr val="000000"/>
              </a:solidFill>
              <a:round/>
              <a:headEnd/>
              <a:tailEnd/>
            </a:ln>
          </p:spPr>
          <p:txBody>
            <a:bodyPr/>
            <a:lstStyle/>
            <a:p>
              <a:endParaRPr lang="zh-CN" altLang="en-US"/>
            </a:p>
          </p:txBody>
        </p:sp>
        <p:sp>
          <p:nvSpPr>
            <p:cNvPr id="84003" name="Freeform 33"/>
            <p:cNvSpPr>
              <a:spLocks/>
            </p:cNvSpPr>
            <p:nvPr/>
          </p:nvSpPr>
          <p:spPr bwMode="auto">
            <a:xfrm>
              <a:off x="3232"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04" name="Line 34"/>
            <p:cNvSpPr>
              <a:spLocks noChangeShapeType="1"/>
            </p:cNvSpPr>
            <p:nvPr/>
          </p:nvSpPr>
          <p:spPr bwMode="auto">
            <a:xfrm flipV="1">
              <a:off x="3143" y="1866"/>
              <a:ext cx="1" cy="147"/>
            </a:xfrm>
            <a:prstGeom prst="line">
              <a:avLst/>
            </a:prstGeom>
            <a:noFill/>
            <a:ln w="4763">
              <a:solidFill>
                <a:srgbClr val="000000"/>
              </a:solidFill>
              <a:round/>
              <a:headEnd/>
              <a:tailEnd/>
            </a:ln>
          </p:spPr>
          <p:txBody>
            <a:bodyPr/>
            <a:lstStyle/>
            <a:p>
              <a:endParaRPr lang="zh-CN" altLang="en-US"/>
            </a:p>
          </p:txBody>
        </p:sp>
        <p:sp>
          <p:nvSpPr>
            <p:cNvPr id="84005" name="Freeform 35"/>
            <p:cNvSpPr>
              <a:spLocks/>
            </p:cNvSpPr>
            <p:nvPr/>
          </p:nvSpPr>
          <p:spPr bwMode="auto">
            <a:xfrm>
              <a:off x="3105" y="1758"/>
              <a:ext cx="77" cy="118"/>
            </a:xfrm>
            <a:custGeom>
              <a:avLst/>
              <a:gdLst>
                <a:gd name="T0" fmla="*/ 0 w 77"/>
                <a:gd name="T1" fmla="*/ 118 h 118"/>
                <a:gd name="T2" fmla="*/ 38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8"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4006" name="Line 36"/>
            <p:cNvSpPr>
              <a:spLocks noChangeShapeType="1"/>
            </p:cNvSpPr>
            <p:nvPr/>
          </p:nvSpPr>
          <p:spPr bwMode="auto">
            <a:xfrm flipV="1">
              <a:off x="3016" y="1866"/>
              <a:ext cx="1" cy="147"/>
            </a:xfrm>
            <a:prstGeom prst="line">
              <a:avLst/>
            </a:prstGeom>
            <a:noFill/>
            <a:ln w="4763">
              <a:solidFill>
                <a:srgbClr val="000000"/>
              </a:solidFill>
              <a:round/>
              <a:headEnd/>
              <a:tailEnd/>
            </a:ln>
          </p:spPr>
          <p:txBody>
            <a:bodyPr/>
            <a:lstStyle/>
            <a:p>
              <a:endParaRPr lang="zh-CN" altLang="en-US"/>
            </a:p>
          </p:txBody>
        </p:sp>
        <p:sp>
          <p:nvSpPr>
            <p:cNvPr id="84007" name="Freeform 37"/>
            <p:cNvSpPr>
              <a:spLocks/>
            </p:cNvSpPr>
            <p:nvPr/>
          </p:nvSpPr>
          <p:spPr bwMode="auto">
            <a:xfrm>
              <a:off x="2976"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08" name="Line 38"/>
            <p:cNvSpPr>
              <a:spLocks noChangeShapeType="1"/>
            </p:cNvSpPr>
            <p:nvPr/>
          </p:nvSpPr>
          <p:spPr bwMode="auto">
            <a:xfrm flipV="1">
              <a:off x="2887" y="1866"/>
              <a:ext cx="1" cy="147"/>
            </a:xfrm>
            <a:prstGeom prst="line">
              <a:avLst/>
            </a:prstGeom>
            <a:noFill/>
            <a:ln w="4763">
              <a:solidFill>
                <a:srgbClr val="000000"/>
              </a:solidFill>
              <a:round/>
              <a:headEnd/>
              <a:tailEnd/>
            </a:ln>
          </p:spPr>
          <p:txBody>
            <a:bodyPr/>
            <a:lstStyle/>
            <a:p>
              <a:endParaRPr lang="zh-CN" altLang="en-US"/>
            </a:p>
          </p:txBody>
        </p:sp>
        <p:sp>
          <p:nvSpPr>
            <p:cNvPr id="84009" name="Freeform 39"/>
            <p:cNvSpPr>
              <a:spLocks/>
            </p:cNvSpPr>
            <p:nvPr/>
          </p:nvSpPr>
          <p:spPr bwMode="auto">
            <a:xfrm>
              <a:off x="2848"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10" name="Line 40"/>
            <p:cNvSpPr>
              <a:spLocks noChangeShapeType="1"/>
            </p:cNvSpPr>
            <p:nvPr/>
          </p:nvSpPr>
          <p:spPr bwMode="auto">
            <a:xfrm flipV="1">
              <a:off x="2760" y="1866"/>
              <a:ext cx="1" cy="147"/>
            </a:xfrm>
            <a:prstGeom prst="line">
              <a:avLst/>
            </a:prstGeom>
            <a:noFill/>
            <a:ln w="4763">
              <a:solidFill>
                <a:srgbClr val="000000"/>
              </a:solidFill>
              <a:round/>
              <a:headEnd/>
              <a:tailEnd/>
            </a:ln>
          </p:spPr>
          <p:txBody>
            <a:bodyPr/>
            <a:lstStyle/>
            <a:p>
              <a:endParaRPr lang="zh-CN" altLang="en-US"/>
            </a:p>
          </p:txBody>
        </p:sp>
        <p:sp>
          <p:nvSpPr>
            <p:cNvPr id="84011" name="Freeform 41"/>
            <p:cNvSpPr>
              <a:spLocks/>
            </p:cNvSpPr>
            <p:nvPr/>
          </p:nvSpPr>
          <p:spPr bwMode="auto">
            <a:xfrm>
              <a:off x="2721" y="1758"/>
              <a:ext cx="77" cy="118"/>
            </a:xfrm>
            <a:custGeom>
              <a:avLst/>
              <a:gdLst>
                <a:gd name="T0" fmla="*/ 0 w 77"/>
                <a:gd name="T1" fmla="*/ 118 h 118"/>
                <a:gd name="T2" fmla="*/ 39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9"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4012" name="Line 42"/>
            <p:cNvSpPr>
              <a:spLocks noChangeShapeType="1"/>
            </p:cNvSpPr>
            <p:nvPr/>
          </p:nvSpPr>
          <p:spPr bwMode="auto">
            <a:xfrm flipV="1">
              <a:off x="2632" y="1866"/>
              <a:ext cx="1" cy="147"/>
            </a:xfrm>
            <a:prstGeom prst="line">
              <a:avLst/>
            </a:prstGeom>
            <a:noFill/>
            <a:ln w="4763">
              <a:solidFill>
                <a:srgbClr val="000000"/>
              </a:solidFill>
              <a:round/>
              <a:headEnd/>
              <a:tailEnd/>
            </a:ln>
          </p:spPr>
          <p:txBody>
            <a:bodyPr/>
            <a:lstStyle/>
            <a:p>
              <a:endParaRPr lang="zh-CN" altLang="en-US"/>
            </a:p>
          </p:txBody>
        </p:sp>
        <p:sp>
          <p:nvSpPr>
            <p:cNvPr id="84013" name="Freeform 43"/>
            <p:cNvSpPr>
              <a:spLocks/>
            </p:cNvSpPr>
            <p:nvPr/>
          </p:nvSpPr>
          <p:spPr bwMode="auto">
            <a:xfrm>
              <a:off x="2592"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14" name="Line 44"/>
            <p:cNvSpPr>
              <a:spLocks noChangeShapeType="1"/>
            </p:cNvSpPr>
            <p:nvPr/>
          </p:nvSpPr>
          <p:spPr bwMode="auto">
            <a:xfrm flipV="1">
              <a:off x="2503" y="1866"/>
              <a:ext cx="1" cy="147"/>
            </a:xfrm>
            <a:prstGeom prst="line">
              <a:avLst/>
            </a:prstGeom>
            <a:noFill/>
            <a:ln w="4763">
              <a:solidFill>
                <a:srgbClr val="000000"/>
              </a:solidFill>
              <a:round/>
              <a:headEnd/>
              <a:tailEnd/>
            </a:ln>
          </p:spPr>
          <p:txBody>
            <a:bodyPr/>
            <a:lstStyle/>
            <a:p>
              <a:endParaRPr lang="zh-CN" altLang="en-US"/>
            </a:p>
          </p:txBody>
        </p:sp>
        <p:sp>
          <p:nvSpPr>
            <p:cNvPr id="84015" name="Freeform 45"/>
            <p:cNvSpPr>
              <a:spLocks/>
            </p:cNvSpPr>
            <p:nvPr/>
          </p:nvSpPr>
          <p:spPr bwMode="auto">
            <a:xfrm>
              <a:off x="2464"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16" name="Line 46"/>
            <p:cNvSpPr>
              <a:spLocks noChangeShapeType="1"/>
            </p:cNvSpPr>
            <p:nvPr/>
          </p:nvSpPr>
          <p:spPr bwMode="auto">
            <a:xfrm flipV="1">
              <a:off x="2376" y="1866"/>
              <a:ext cx="1" cy="147"/>
            </a:xfrm>
            <a:prstGeom prst="line">
              <a:avLst/>
            </a:prstGeom>
            <a:noFill/>
            <a:ln w="4763">
              <a:solidFill>
                <a:srgbClr val="000000"/>
              </a:solidFill>
              <a:round/>
              <a:headEnd/>
              <a:tailEnd/>
            </a:ln>
          </p:spPr>
          <p:txBody>
            <a:bodyPr/>
            <a:lstStyle/>
            <a:p>
              <a:endParaRPr lang="zh-CN" altLang="en-US"/>
            </a:p>
          </p:txBody>
        </p:sp>
        <p:sp>
          <p:nvSpPr>
            <p:cNvPr id="84017" name="Freeform 47"/>
            <p:cNvSpPr>
              <a:spLocks/>
            </p:cNvSpPr>
            <p:nvPr/>
          </p:nvSpPr>
          <p:spPr bwMode="auto">
            <a:xfrm>
              <a:off x="2337" y="1758"/>
              <a:ext cx="77" cy="118"/>
            </a:xfrm>
            <a:custGeom>
              <a:avLst/>
              <a:gdLst>
                <a:gd name="T0" fmla="*/ 0 w 77"/>
                <a:gd name="T1" fmla="*/ 118 h 118"/>
                <a:gd name="T2" fmla="*/ 39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9"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4018" name="Line 48"/>
            <p:cNvSpPr>
              <a:spLocks noChangeShapeType="1"/>
            </p:cNvSpPr>
            <p:nvPr/>
          </p:nvSpPr>
          <p:spPr bwMode="auto">
            <a:xfrm flipV="1">
              <a:off x="2248" y="1866"/>
              <a:ext cx="1" cy="147"/>
            </a:xfrm>
            <a:prstGeom prst="line">
              <a:avLst/>
            </a:prstGeom>
            <a:noFill/>
            <a:ln w="4763">
              <a:solidFill>
                <a:srgbClr val="000000"/>
              </a:solidFill>
              <a:round/>
              <a:headEnd/>
              <a:tailEnd/>
            </a:ln>
          </p:spPr>
          <p:txBody>
            <a:bodyPr/>
            <a:lstStyle/>
            <a:p>
              <a:endParaRPr lang="zh-CN" altLang="en-US"/>
            </a:p>
          </p:txBody>
        </p:sp>
        <p:sp>
          <p:nvSpPr>
            <p:cNvPr id="84019" name="Freeform 49"/>
            <p:cNvSpPr>
              <a:spLocks/>
            </p:cNvSpPr>
            <p:nvPr/>
          </p:nvSpPr>
          <p:spPr bwMode="auto">
            <a:xfrm>
              <a:off x="2208"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20" name="Line 50"/>
            <p:cNvSpPr>
              <a:spLocks noChangeShapeType="1"/>
            </p:cNvSpPr>
            <p:nvPr/>
          </p:nvSpPr>
          <p:spPr bwMode="auto">
            <a:xfrm flipV="1">
              <a:off x="2119" y="1866"/>
              <a:ext cx="1" cy="147"/>
            </a:xfrm>
            <a:prstGeom prst="line">
              <a:avLst/>
            </a:prstGeom>
            <a:noFill/>
            <a:ln w="4763">
              <a:solidFill>
                <a:srgbClr val="000000"/>
              </a:solidFill>
              <a:round/>
              <a:headEnd/>
              <a:tailEnd/>
            </a:ln>
          </p:spPr>
          <p:txBody>
            <a:bodyPr/>
            <a:lstStyle/>
            <a:p>
              <a:endParaRPr lang="zh-CN" altLang="en-US"/>
            </a:p>
          </p:txBody>
        </p:sp>
        <p:sp>
          <p:nvSpPr>
            <p:cNvPr id="84021" name="Freeform 51"/>
            <p:cNvSpPr>
              <a:spLocks/>
            </p:cNvSpPr>
            <p:nvPr/>
          </p:nvSpPr>
          <p:spPr bwMode="auto">
            <a:xfrm>
              <a:off x="2080"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4022" name="Line 52"/>
            <p:cNvSpPr>
              <a:spLocks noChangeShapeType="1"/>
            </p:cNvSpPr>
            <p:nvPr/>
          </p:nvSpPr>
          <p:spPr bwMode="auto">
            <a:xfrm flipV="1">
              <a:off x="1992" y="1866"/>
              <a:ext cx="1" cy="147"/>
            </a:xfrm>
            <a:prstGeom prst="line">
              <a:avLst/>
            </a:prstGeom>
            <a:noFill/>
            <a:ln w="4763">
              <a:solidFill>
                <a:srgbClr val="000000"/>
              </a:solidFill>
              <a:round/>
              <a:headEnd/>
              <a:tailEnd/>
            </a:ln>
          </p:spPr>
          <p:txBody>
            <a:bodyPr/>
            <a:lstStyle/>
            <a:p>
              <a:endParaRPr lang="zh-CN" altLang="en-US"/>
            </a:p>
          </p:txBody>
        </p:sp>
        <p:sp>
          <p:nvSpPr>
            <p:cNvPr id="84023" name="Freeform 53"/>
            <p:cNvSpPr>
              <a:spLocks/>
            </p:cNvSpPr>
            <p:nvPr/>
          </p:nvSpPr>
          <p:spPr bwMode="auto">
            <a:xfrm>
              <a:off x="1951" y="1758"/>
              <a:ext cx="79" cy="118"/>
            </a:xfrm>
            <a:custGeom>
              <a:avLst/>
              <a:gdLst>
                <a:gd name="T0" fmla="*/ 0 w 79"/>
                <a:gd name="T1" fmla="*/ 118 h 118"/>
                <a:gd name="T2" fmla="*/ 41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1"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24" name="Line 54"/>
            <p:cNvSpPr>
              <a:spLocks noChangeShapeType="1"/>
            </p:cNvSpPr>
            <p:nvPr/>
          </p:nvSpPr>
          <p:spPr bwMode="auto">
            <a:xfrm flipV="1">
              <a:off x="1863" y="1866"/>
              <a:ext cx="1" cy="147"/>
            </a:xfrm>
            <a:prstGeom prst="line">
              <a:avLst/>
            </a:prstGeom>
            <a:noFill/>
            <a:ln w="4763">
              <a:solidFill>
                <a:srgbClr val="000000"/>
              </a:solidFill>
              <a:round/>
              <a:headEnd/>
              <a:tailEnd/>
            </a:ln>
          </p:spPr>
          <p:txBody>
            <a:bodyPr/>
            <a:lstStyle/>
            <a:p>
              <a:endParaRPr lang="zh-CN" altLang="en-US"/>
            </a:p>
          </p:txBody>
        </p:sp>
        <p:sp>
          <p:nvSpPr>
            <p:cNvPr id="84025" name="Freeform 55"/>
            <p:cNvSpPr>
              <a:spLocks/>
            </p:cNvSpPr>
            <p:nvPr/>
          </p:nvSpPr>
          <p:spPr bwMode="auto">
            <a:xfrm>
              <a:off x="1824"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26" name="Line 56"/>
            <p:cNvSpPr>
              <a:spLocks noChangeShapeType="1"/>
            </p:cNvSpPr>
            <p:nvPr/>
          </p:nvSpPr>
          <p:spPr bwMode="auto">
            <a:xfrm flipV="1">
              <a:off x="1735" y="1866"/>
              <a:ext cx="1" cy="147"/>
            </a:xfrm>
            <a:prstGeom prst="line">
              <a:avLst/>
            </a:prstGeom>
            <a:noFill/>
            <a:ln w="4763">
              <a:solidFill>
                <a:srgbClr val="000000"/>
              </a:solidFill>
              <a:round/>
              <a:headEnd/>
              <a:tailEnd/>
            </a:ln>
          </p:spPr>
          <p:txBody>
            <a:bodyPr/>
            <a:lstStyle/>
            <a:p>
              <a:endParaRPr lang="zh-CN" altLang="en-US"/>
            </a:p>
          </p:txBody>
        </p:sp>
        <p:sp>
          <p:nvSpPr>
            <p:cNvPr id="84027" name="Freeform 57"/>
            <p:cNvSpPr>
              <a:spLocks/>
            </p:cNvSpPr>
            <p:nvPr/>
          </p:nvSpPr>
          <p:spPr bwMode="auto">
            <a:xfrm>
              <a:off x="1697" y="1758"/>
              <a:ext cx="77" cy="118"/>
            </a:xfrm>
            <a:custGeom>
              <a:avLst/>
              <a:gdLst>
                <a:gd name="T0" fmla="*/ 0 w 77"/>
                <a:gd name="T1" fmla="*/ 118 h 118"/>
                <a:gd name="T2" fmla="*/ 38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8"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4028" name="Line 58"/>
            <p:cNvSpPr>
              <a:spLocks noChangeShapeType="1"/>
            </p:cNvSpPr>
            <p:nvPr/>
          </p:nvSpPr>
          <p:spPr bwMode="auto">
            <a:xfrm flipV="1">
              <a:off x="1608" y="1866"/>
              <a:ext cx="1" cy="147"/>
            </a:xfrm>
            <a:prstGeom prst="line">
              <a:avLst/>
            </a:prstGeom>
            <a:noFill/>
            <a:ln w="4763">
              <a:solidFill>
                <a:srgbClr val="000000"/>
              </a:solidFill>
              <a:round/>
              <a:headEnd/>
              <a:tailEnd/>
            </a:ln>
          </p:spPr>
          <p:txBody>
            <a:bodyPr/>
            <a:lstStyle/>
            <a:p>
              <a:endParaRPr lang="zh-CN" altLang="en-US"/>
            </a:p>
          </p:txBody>
        </p:sp>
        <p:sp>
          <p:nvSpPr>
            <p:cNvPr id="84029" name="Freeform 59"/>
            <p:cNvSpPr>
              <a:spLocks/>
            </p:cNvSpPr>
            <p:nvPr/>
          </p:nvSpPr>
          <p:spPr bwMode="auto">
            <a:xfrm>
              <a:off x="1568"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30" name="Line 60"/>
            <p:cNvSpPr>
              <a:spLocks noChangeShapeType="1"/>
            </p:cNvSpPr>
            <p:nvPr/>
          </p:nvSpPr>
          <p:spPr bwMode="auto">
            <a:xfrm flipV="1">
              <a:off x="1479" y="1866"/>
              <a:ext cx="1" cy="147"/>
            </a:xfrm>
            <a:prstGeom prst="line">
              <a:avLst/>
            </a:prstGeom>
            <a:noFill/>
            <a:ln w="4763">
              <a:solidFill>
                <a:srgbClr val="000000"/>
              </a:solidFill>
              <a:round/>
              <a:headEnd/>
              <a:tailEnd/>
            </a:ln>
          </p:spPr>
          <p:txBody>
            <a:bodyPr/>
            <a:lstStyle/>
            <a:p>
              <a:endParaRPr lang="zh-CN" altLang="en-US"/>
            </a:p>
          </p:txBody>
        </p:sp>
        <p:sp>
          <p:nvSpPr>
            <p:cNvPr id="84031" name="Freeform 61"/>
            <p:cNvSpPr>
              <a:spLocks/>
            </p:cNvSpPr>
            <p:nvPr/>
          </p:nvSpPr>
          <p:spPr bwMode="auto">
            <a:xfrm>
              <a:off x="1440"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32" name="Line 62"/>
            <p:cNvSpPr>
              <a:spLocks noChangeShapeType="1"/>
            </p:cNvSpPr>
            <p:nvPr/>
          </p:nvSpPr>
          <p:spPr bwMode="auto">
            <a:xfrm flipV="1">
              <a:off x="1351" y="1866"/>
              <a:ext cx="1" cy="147"/>
            </a:xfrm>
            <a:prstGeom prst="line">
              <a:avLst/>
            </a:prstGeom>
            <a:noFill/>
            <a:ln w="4763">
              <a:solidFill>
                <a:srgbClr val="000000"/>
              </a:solidFill>
              <a:round/>
              <a:headEnd/>
              <a:tailEnd/>
            </a:ln>
          </p:spPr>
          <p:txBody>
            <a:bodyPr/>
            <a:lstStyle/>
            <a:p>
              <a:endParaRPr lang="zh-CN" altLang="en-US"/>
            </a:p>
          </p:txBody>
        </p:sp>
        <p:sp>
          <p:nvSpPr>
            <p:cNvPr id="84033" name="Freeform 63"/>
            <p:cNvSpPr>
              <a:spLocks/>
            </p:cNvSpPr>
            <p:nvPr/>
          </p:nvSpPr>
          <p:spPr bwMode="auto">
            <a:xfrm>
              <a:off x="1313" y="1758"/>
              <a:ext cx="77" cy="118"/>
            </a:xfrm>
            <a:custGeom>
              <a:avLst/>
              <a:gdLst>
                <a:gd name="T0" fmla="*/ 0 w 77"/>
                <a:gd name="T1" fmla="*/ 118 h 118"/>
                <a:gd name="T2" fmla="*/ 38 w 77"/>
                <a:gd name="T3" fmla="*/ 0 h 118"/>
                <a:gd name="T4" fmla="*/ 77 w 77"/>
                <a:gd name="T5" fmla="*/ 118 h 118"/>
                <a:gd name="T6" fmla="*/ 0 w 77"/>
                <a:gd name="T7" fmla="*/ 118 h 118"/>
                <a:gd name="T8" fmla="*/ 0 60000 65536"/>
                <a:gd name="T9" fmla="*/ 0 60000 65536"/>
                <a:gd name="T10" fmla="*/ 0 60000 65536"/>
                <a:gd name="T11" fmla="*/ 0 60000 65536"/>
                <a:gd name="T12" fmla="*/ 0 w 77"/>
                <a:gd name="T13" fmla="*/ 0 h 118"/>
                <a:gd name="T14" fmla="*/ 77 w 77"/>
                <a:gd name="T15" fmla="*/ 118 h 118"/>
              </a:gdLst>
              <a:ahLst/>
              <a:cxnLst>
                <a:cxn ang="T8">
                  <a:pos x="T0" y="T1"/>
                </a:cxn>
                <a:cxn ang="T9">
                  <a:pos x="T2" y="T3"/>
                </a:cxn>
                <a:cxn ang="T10">
                  <a:pos x="T4" y="T5"/>
                </a:cxn>
                <a:cxn ang="T11">
                  <a:pos x="T6" y="T7"/>
                </a:cxn>
              </a:cxnLst>
              <a:rect l="T12" t="T13" r="T14" b="T15"/>
              <a:pathLst>
                <a:path w="77" h="118">
                  <a:moveTo>
                    <a:pt x="0" y="118"/>
                  </a:moveTo>
                  <a:lnTo>
                    <a:pt x="38" y="0"/>
                  </a:lnTo>
                  <a:lnTo>
                    <a:pt x="77" y="118"/>
                  </a:lnTo>
                  <a:lnTo>
                    <a:pt x="0" y="118"/>
                  </a:lnTo>
                  <a:close/>
                </a:path>
              </a:pathLst>
            </a:custGeom>
            <a:solidFill>
              <a:srgbClr val="000000"/>
            </a:solidFill>
            <a:ln w="9525">
              <a:noFill/>
              <a:round/>
              <a:headEnd/>
              <a:tailEnd/>
            </a:ln>
          </p:spPr>
          <p:txBody>
            <a:bodyPr/>
            <a:lstStyle/>
            <a:p>
              <a:endParaRPr lang="zh-CN" altLang="en-US"/>
            </a:p>
          </p:txBody>
        </p:sp>
        <p:sp>
          <p:nvSpPr>
            <p:cNvPr id="84034" name="Line 64"/>
            <p:cNvSpPr>
              <a:spLocks noChangeShapeType="1"/>
            </p:cNvSpPr>
            <p:nvPr/>
          </p:nvSpPr>
          <p:spPr bwMode="auto">
            <a:xfrm flipV="1">
              <a:off x="1224" y="1866"/>
              <a:ext cx="1" cy="147"/>
            </a:xfrm>
            <a:prstGeom prst="line">
              <a:avLst/>
            </a:prstGeom>
            <a:noFill/>
            <a:ln w="4763">
              <a:solidFill>
                <a:srgbClr val="000000"/>
              </a:solidFill>
              <a:round/>
              <a:headEnd/>
              <a:tailEnd/>
            </a:ln>
          </p:spPr>
          <p:txBody>
            <a:bodyPr/>
            <a:lstStyle/>
            <a:p>
              <a:endParaRPr lang="zh-CN" altLang="en-US"/>
            </a:p>
          </p:txBody>
        </p:sp>
        <p:sp>
          <p:nvSpPr>
            <p:cNvPr id="84035" name="Freeform 65"/>
            <p:cNvSpPr>
              <a:spLocks/>
            </p:cNvSpPr>
            <p:nvPr/>
          </p:nvSpPr>
          <p:spPr bwMode="auto">
            <a:xfrm>
              <a:off x="1184" y="1758"/>
              <a:ext cx="79" cy="118"/>
            </a:xfrm>
            <a:custGeom>
              <a:avLst/>
              <a:gdLst>
                <a:gd name="T0" fmla="*/ 0 w 79"/>
                <a:gd name="T1" fmla="*/ 118 h 118"/>
                <a:gd name="T2" fmla="*/ 40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0"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36" name="Line 66"/>
            <p:cNvSpPr>
              <a:spLocks noChangeShapeType="1"/>
            </p:cNvSpPr>
            <p:nvPr/>
          </p:nvSpPr>
          <p:spPr bwMode="auto">
            <a:xfrm flipV="1">
              <a:off x="1095" y="1866"/>
              <a:ext cx="1" cy="147"/>
            </a:xfrm>
            <a:prstGeom prst="line">
              <a:avLst/>
            </a:prstGeom>
            <a:noFill/>
            <a:ln w="4763">
              <a:solidFill>
                <a:srgbClr val="000000"/>
              </a:solidFill>
              <a:round/>
              <a:headEnd/>
              <a:tailEnd/>
            </a:ln>
          </p:spPr>
          <p:txBody>
            <a:bodyPr/>
            <a:lstStyle/>
            <a:p>
              <a:endParaRPr lang="zh-CN" altLang="en-US"/>
            </a:p>
          </p:txBody>
        </p:sp>
        <p:sp>
          <p:nvSpPr>
            <p:cNvPr id="84037" name="Freeform 67"/>
            <p:cNvSpPr>
              <a:spLocks/>
            </p:cNvSpPr>
            <p:nvPr/>
          </p:nvSpPr>
          <p:spPr bwMode="auto">
            <a:xfrm>
              <a:off x="1056"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4038" name="Line 68"/>
            <p:cNvSpPr>
              <a:spLocks noChangeShapeType="1"/>
            </p:cNvSpPr>
            <p:nvPr/>
          </p:nvSpPr>
          <p:spPr bwMode="auto">
            <a:xfrm flipV="1">
              <a:off x="968" y="1866"/>
              <a:ext cx="1" cy="147"/>
            </a:xfrm>
            <a:prstGeom prst="line">
              <a:avLst/>
            </a:prstGeom>
            <a:noFill/>
            <a:ln w="4763">
              <a:solidFill>
                <a:srgbClr val="000000"/>
              </a:solidFill>
              <a:round/>
              <a:headEnd/>
              <a:tailEnd/>
            </a:ln>
          </p:spPr>
          <p:txBody>
            <a:bodyPr/>
            <a:lstStyle/>
            <a:p>
              <a:endParaRPr lang="zh-CN" altLang="en-US"/>
            </a:p>
          </p:txBody>
        </p:sp>
        <p:sp>
          <p:nvSpPr>
            <p:cNvPr id="84039" name="Freeform 69"/>
            <p:cNvSpPr>
              <a:spLocks/>
            </p:cNvSpPr>
            <p:nvPr/>
          </p:nvSpPr>
          <p:spPr bwMode="auto">
            <a:xfrm>
              <a:off x="927" y="1758"/>
              <a:ext cx="79" cy="118"/>
            </a:xfrm>
            <a:custGeom>
              <a:avLst/>
              <a:gdLst>
                <a:gd name="T0" fmla="*/ 0 w 79"/>
                <a:gd name="T1" fmla="*/ 118 h 118"/>
                <a:gd name="T2" fmla="*/ 41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1"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40" name="Line 70"/>
            <p:cNvSpPr>
              <a:spLocks noChangeShapeType="1"/>
            </p:cNvSpPr>
            <p:nvPr/>
          </p:nvSpPr>
          <p:spPr bwMode="auto">
            <a:xfrm flipV="1">
              <a:off x="839" y="1866"/>
              <a:ext cx="1" cy="147"/>
            </a:xfrm>
            <a:prstGeom prst="line">
              <a:avLst/>
            </a:prstGeom>
            <a:noFill/>
            <a:ln w="4763">
              <a:solidFill>
                <a:srgbClr val="000000"/>
              </a:solidFill>
              <a:round/>
              <a:headEnd/>
              <a:tailEnd/>
            </a:ln>
          </p:spPr>
          <p:txBody>
            <a:bodyPr/>
            <a:lstStyle/>
            <a:p>
              <a:endParaRPr lang="zh-CN" altLang="en-US"/>
            </a:p>
          </p:txBody>
        </p:sp>
        <p:sp>
          <p:nvSpPr>
            <p:cNvPr id="84041" name="Freeform 71"/>
            <p:cNvSpPr>
              <a:spLocks/>
            </p:cNvSpPr>
            <p:nvPr/>
          </p:nvSpPr>
          <p:spPr bwMode="auto">
            <a:xfrm>
              <a:off x="800" y="1758"/>
              <a:ext cx="79" cy="118"/>
            </a:xfrm>
            <a:custGeom>
              <a:avLst/>
              <a:gdLst>
                <a:gd name="T0" fmla="*/ 0 w 79"/>
                <a:gd name="T1" fmla="*/ 118 h 118"/>
                <a:gd name="T2" fmla="*/ 39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39"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42" name="Line 72"/>
            <p:cNvSpPr>
              <a:spLocks noChangeShapeType="1"/>
            </p:cNvSpPr>
            <p:nvPr/>
          </p:nvSpPr>
          <p:spPr bwMode="auto">
            <a:xfrm flipV="1">
              <a:off x="711" y="1866"/>
              <a:ext cx="1" cy="147"/>
            </a:xfrm>
            <a:prstGeom prst="line">
              <a:avLst/>
            </a:prstGeom>
            <a:noFill/>
            <a:ln w="4763">
              <a:solidFill>
                <a:srgbClr val="000000"/>
              </a:solidFill>
              <a:round/>
              <a:headEnd/>
              <a:tailEnd/>
            </a:ln>
          </p:spPr>
          <p:txBody>
            <a:bodyPr/>
            <a:lstStyle/>
            <a:p>
              <a:endParaRPr lang="zh-CN" altLang="en-US"/>
            </a:p>
          </p:txBody>
        </p:sp>
        <p:sp>
          <p:nvSpPr>
            <p:cNvPr id="84043" name="Freeform 73"/>
            <p:cNvSpPr>
              <a:spLocks/>
            </p:cNvSpPr>
            <p:nvPr/>
          </p:nvSpPr>
          <p:spPr bwMode="auto">
            <a:xfrm>
              <a:off x="672" y="1758"/>
              <a:ext cx="78" cy="118"/>
            </a:xfrm>
            <a:custGeom>
              <a:avLst/>
              <a:gdLst>
                <a:gd name="T0" fmla="*/ 0 w 78"/>
                <a:gd name="T1" fmla="*/ 118 h 118"/>
                <a:gd name="T2" fmla="*/ 39 w 78"/>
                <a:gd name="T3" fmla="*/ 0 h 118"/>
                <a:gd name="T4" fmla="*/ 78 w 78"/>
                <a:gd name="T5" fmla="*/ 118 h 118"/>
                <a:gd name="T6" fmla="*/ 0 w 78"/>
                <a:gd name="T7" fmla="*/ 118 h 118"/>
                <a:gd name="T8" fmla="*/ 0 60000 65536"/>
                <a:gd name="T9" fmla="*/ 0 60000 65536"/>
                <a:gd name="T10" fmla="*/ 0 60000 65536"/>
                <a:gd name="T11" fmla="*/ 0 60000 65536"/>
                <a:gd name="T12" fmla="*/ 0 w 78"/>
                <a:gd name="T13" fmla="*/ 0 h 118"/>
                <a:gd name="T14" fmla="*/ 78 w 78"/>
                <a:gd name="T15" fmla="*/ 118 h 118"/>
              </a:gdLst>
              <a:ahLst/>
              <a:cxnLst>
                <a:cxn ang="T8">
                  <a:pos x="T0" y="T1"/>
                </a:cxn>
                <a:cxn ang="T9">
                  <a:pos x="T2" y="T3"/>
                </a:cxn>
                <a:cxn ang="T10">
                  <a:pos x="T4" y="T5"/>
                </a:cxn>
                <a:cxn ang="T11">
                  <a:pos x="T6" y="T7"/>
                </a:cxn>
              </a:cxnLst>
              <a:rect l="T12" t="T13" r="T14" b="T15"/>
              <a:pathLst>
                <a:path w="78" h="118">
                  <a:moveTo>
                    <a:pt x="0" y="118"/>
                  </a:moveTo>
                  <a:lnTo>
                    <a:pt x="39" y="0"/>
                  </a:lnTo>
                  <a:lnTo>
                    <a:pt x="78" y="118"/>
                  </a:lnTo>
                  <a:lnTo>
                    <a:pt x="0" y="118"/>
                  </a:lnTo>
                  <a:close/>
                </a:path>
              </a:pathLst>
            </a:custGeom>
            <a:solidFill>
              <a:srgbClr val="000000"/>
            </a:solidFill>
            <a:ln w="9525">
              <a:noFill/>
              <a:round/>
              <a:headEnd/>
              <a:tailEnd/>
            </a:ln>
          </p:spPr>
          <p:txBody>
            <a:bodyPr/>
            <a:lstStyle/>
            <a:p>
              <a:endParaRPr lang="zh-CN" altLang="en-US"/>
            </a:p>
          </p:txBody>
        </p:sp>
        <p:sp>
          <p:nvSpPr>
            <p:cNvPr id="84044" name="Line 74"/>
            <p:cNvSpPr>
              <a:spLocks noChangeShapeType="1"/>
            </p:cNvSpPr>
            <p:nvPr/>
          </p:nvSpPr>
          <p:spPr bwMode="auto">
            <a:xfrm flipV="1">
              <a:off x="584" y="1866"/>
              <a:ext cx="1" cy="147"/>
            </a:xfrm>
            <a:prstGeom prst="line">
              <a:avLst/>
            </a:prstGeom>
            <a:noFill/>
            <a:ln w="4763">
              <a:solidFill>
                <a:srgbClr val="000000"/>
              </a:solidFill>
              <a:round/>
              <a:headEnd/>
              <a:tailEnd/>
            </a:ln>
          </p:spPr>
          <p:txBody>
            <a:bodyPr/>
            <a:lstStyle/>
            <a:p>
              <a:endParaRPr lang="zh-CN" altLang="en-US"/>
            </a:p>
          </p:txBody>
        </p:sp>
        <p:sp>
          <p:nvSpPr>
            <p:cNvPr id="84045" name="Freeform 75"/>
            <p:cNvSpPr>
              <a:spLocks/>
            </p:cNvSpPr>
            <p:nvPr/>
          </p:nvSpPr>
          <p:spPr bwMode="auto">
            <a:xfrm>
              <a:off x="543" y="1758"/>
              <a:ext cx="79" cy="118"/>
            </a:xfrm>
            <a:custGeom>
              <a:avLst/>
              <a:gdLst>
                <a:gd name="T0" fmla="*/ 0 w 79"/>
                <a:gd name="T1" fmla="*/ 118 h 118"/>
                <a:gd name="T2" fmla="*/ 41 w 79"/>
                <a:gd name="T3" fmla="*/ 0 h 118"/>
                <a:gd name="T4" fmla="*/ 79 w 79"/>
                <a:gd name="T5" fmla="*/ 118 h 118"/>
                <a:gd name="T6" fmla="*/ 0 w 79"/>
                <a:gd name="T7" fmla="*/ 118 h 118"/>
                <a:gd name="T8" fmla="*/ 0 60000 65536"/>
                <a:gd name="T9" fmla="*/ 0 60000 65536"/>
                <a:gd name="T10" fmla="*/ 0 60000 65536"/>
                <a:gd name="T11" fmla="*/ 0 60000 65536"/>
                <a:gd name="T12" fmla="*/ 0 w 79"/>
                <a:gd name="T13" fmla="*/ 0 h 118"/>
                <a:gd name="T14" fmla="*/ 79 w 79"/>
                <a:gd name="T15" fmla="*/ 118 h 118"/>
              </a:gdLst>
              <a:ahLst/>
              <a:cxnLst>
                <a:cxn ang="T8">
                  <a:pos x="T0" y="T1"/>
                </a:cxn>
                <a:cxn ang="T9">
                  <a:pos x="T2" y="T3"/>
                </a:cxn>
                <a:cxn ang="T10">
                  <a:pos x="T4" y="T5"/>
                </a:cxn>
                <a:cxn ang="T11">
                  <a:pos x="T6" y="T7"/>
                </a:cxn>
              </a:cxnLst>
              <a:rect l="T12" t="T13" r="T14" b="T15"/>
              <a:pathLst>
                <a:path w="79" h="118">
                  <a:moveTo>
                    <a:pt x="0" y="118"/>
                  </a:moveTo>
                  <a:lnTo>
                    <a:pt x="41" y="0"/>
                  </a:lnTo>
                  <a:lnTo>
                    <a:pt x="79" y="118"/>
                  </a:lnTo>
                  <a:lnTo>
                    <a:pt x="0" y="118"/>
                  </a:lnTo>
                  <a:close/>
                </a:path>
              </a:pathLst>
            </a:custGeom>
            <a:solidFill>
              <a:srgbClr val="000000"/>
            </a:solidFill>
            <a:ln w="9525">
              <a:noFill/>
              <a:round/>
              <a:headEnd/>
              <a:tailEnd/>
            </a:ln>
          </p:spPr>
          <p:txBody>
            <a:bodyPr/>
            <a:lstStyle/>
            <a:p>
              <a:endParaRPr lang="zh-CN" altLang="en-US"/>
            </a:p>
          </p:txBody>
        </p:sp>
        <p:sp>
          <p:nvSpPr>
            <p:cNvPr id="84046" name="Rectangle 76"/>
            <p:cNvSpPr>
              <a:spLocks noChangeArrowheads="1"/>
            </p:cNvSpPr>
            <p:nvPr/>
          </p:nvSpPr>
          <p:spPr bwMode="auto">
            <a:xfrm>
              <a:off x="4460" y="2078"/>
              <a:ext cx="560" cy="105"/>
            </a:xfrm>
            <a:prstGeom prst="rect">
              <a:avLst/>
            </a:prstGeom>
            <a:noFill/>
            <a:ln w="9525">
              <a:noFill/>
              <a:miter lim="800000"/>
              <a:headEnd/>
              <a:tailEnd/>
            </a:ln>
          </p:spPr>
          <p:txBody>
            <a:bodyPr wrap="none" lIns="0" tIns="0" rIns="0" bIns="0">
              <a:spAutoFit/>
            </a:bodyPr>
            <a:lstStyle/>
            <a:p>
              <a:r>
                <a:rPr lang="zh-CN" altLang="en-US" sz="1400" b="0">
                  <a:solidFill>
                    <a:srgbClr val="000000"/>
                  </a:solidFill>
                  <a:latin typeface="宋体" pitchFamily="2" charset="-122"/>
                </a:rPr>
                <a:t>后继微地址</a:t>
              </a:r>
              <a:endParaRPr lang="zh-CN" altLang="en-US" b="0">
                <a:solidFill>
                  <a:schemeClr val="tx1"/>
                </a:solidFill>
              </a:endParaRPr>
            </a:p>
          </p:txBody>
        </p:sp>
        <p:sp>
          <p:nvSpPr>
            <p:cNvPr id="84047" name="Rectangle 77"/>
            <p:cNvSpPr>
              <a:spLocks noChangeArrowheads="1"/>
            </p:cNvSpPr>
            <p:nvPr/>
          </p:nvSpPr>
          <p:spPr bwMode="auto">
            <a:xfrm>
              <a:off x="3748" y="2078"/>
              <a:ext cx="448" cy="105"/>
            </a:xfrm>
            <a:prstGeom prst="rect">
              <a:avLst/>
            </a:prstGeom>
            <a:noFill/>
            <a:ln w="9525">
              <a:noFill/>
              <a:miter lim="800000"/>
              <a:headEnd/>
              <a:tailEnd/>
            </a:ln>
          </p:spPr>
          <p:txBody>
            <a:bodyPr wrap="none" lIns="0" tIns="0" rIns="0" bIns="0">
              <a:spAutoFit/>
            </a:bodyPr>
            <a:lstStyle/>
            <a:p>
              <a:r>
                <a:rPr lang="zh-CN" altLang="en-US" sz="1400" b="0">
                  <a:solidFill>
                    <a:srgbClr val="000000"/>
                  </a:solidFill>
                  <a:latin typeface="宋体" pitchFamily="2" charset="-122"/>
                </a:rPr>
                <a:t>判断条件</a:t>
              </a:r>
              <a:endParaRPr lang="zh-CN" altLang="en-US" b="0">
                <a:solidFill>
                  <a:schemeClr val="tx1"/>
                </a:solidFill>
              </a:endParaRPr>
            </a:p>
          </p:txBody>
        </p:sp>
        <p:sp>
          <p:nvSpPr>
            <p:cNvPr id="84048" name="Line 78"/>
            <p:cNvSpPr>
              <a:spLocks noChangeShapeType="1"/>
            </p:cNvSpPr>
            <p:nvPr/>
          </p:nvSpPr>
          <p:spPr bwMode="auto">
            <a:xfrm>
              <a:off x="4327" y="2013"/>
              <a:ext cx="1" cy="257"/>
            </a:xfrm>
            <a:prstGeom prst="line">
              <a:avLst/>
            </a:prstGeom>
            <a:noFill/>
            <a:ln w="28575">
              <a:solidFill>
                <a:srgbClr val="000000"/>
              </a:solidFill>
              <a:round/>
              <a:headEnd/>
              <a:tailEnd/>
            </a:ln>
          </p:spPr>
          <p:txBody>
            <a:bodyPr/>
            <a:lstStyle/>
            <a:p>
              <a:endParaRPr lang="zh-CN" altLang="en-US"/>
            </a:p>
          </p:txBody>
        </p:sp>
        <p:sp>
          <p:nvSpPr>
            <p:cNvPr id="84049" name="Rectangle 79"/>
            <p:cNvSpPr>
              <a:spLocks noChangeArrowheads="1"/>
            </p:cNvSpPr>
            <p:nvPr/>
          </p:nvSpPr>
          <p:spPr bwMode="auto">
            <a:xfrm rot="-5400000">
              <a:off x="5041" y="162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50" name="Rectangle 80"/>
            <p:cNvSpPr>
              <a:spLocks noChangeArrowheads="1"/>
            </p:cNvSpPr>
            <p:nvPr/>
          </p:nvSpPr>
          <p:spPr bwMode="auto">
            <a:xfrm rot="-5400000">
              <a:off x="5041"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51" name="Rectangle 81"/>
            <p:cNvSpPr>
              <a:spLocks noChangeArrowheads="1"/>
            </p:cNvSpPr>
            <p:nvPr/>
          </p:nvSpPr>
          <p:spPr bwMode="auto">
            <a:xfrm rot="-5400000">
              <a:off x="5041"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0</a:t>
              </a:r>
              <a:endParaRPr lang="en-US" altLang="zh-CN" b="0">
                <a:solidFill>
                  <a:schemeClr val="tx1"/>
                </a:solidFill>
              </a:endParaRPr>
            </a:p>
          </p:txBody>
        </p:sp>
        <p:sp>
          <p:nvSpPr>
            <p:cNvPr id="84052" name="Rectangle 82"/>
            <p:cNvSpPr>
              <a:spLocks noChangeArrowheads="1"/>
            </p:cNvSpPr>
            <p:nvPr/>
          </p:nvSpPr>
          <p:spPr bwMode="auto">
            <a:xfrm rot="-5400000">
              <a:off x="4928"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53" name="Rectangle 83"/>
            <p:cNvSpPr>
              <a:spLocks noChangeArrowheads="1"/>
            </p:cNvSpPr>
            <p:nvPr/>
          </p:nvSpPr>
          <p:spPr bwMode="auto">
            <a:xfrm rot="-5400000">
              <a:off x="4928"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54" name="Rectangle 84"/>
            <p:cNvSpPr>
              <a:spLocks noChangeArrowheads="1"/>
            </p:cNvSpPr>
            <p:nvPr/>
          </p:nvSpPr>
          <p:spPr bwMode="auto">
            <a:xfrm rot="-5400000">
              <a:off x="4928"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055" name="Rectangle 85"/>
            <p:cNvSpPr>
              <a:spLocks noChangeArrowheads="1"/>
            </p:cNvSpPr>
            <p:nvPr/>
          </p:nvSpPr>
          <p:spPr bwMode="auto">
            <a:xfrm rot="-5400000">
              <a:off x="4785"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56" name="Rectangle 86"/>
            <p:cNvSpPr>
              <a:spLocks noChangeArrowheads="1"/>
            </p:cNvSpPr>
            <p:nvPr/>
          </p:nvSpPr>
          <p:spPr bwMode="auto">
            <a:xfrm rot="-5400000">
              <a:off x="4785"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57" name="Rectangle 87"/>
            <p:cNvSpPr>
              <a:spLocks noChangeArrowheads="1"/>
            </p:cNvSpPr>
            <p:nvPr/>
          </p:nvSpPr>
          <p:spPr bwMode="auto">
            <a:xfrm rot="-5400000">
              <a:off x="4785"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2</a:t>
              </a:r>
              <a:endParaRPr lang="en-US" altLang="zh-CN" b="0">
                <a:solidFill>
                  <a:schemeClr val="tx1"/>
                </a:solidFill>
              </a:endParaRPr>
            </a:p>
          </p:txBody>
        </p:sp>
        <p:sp>
          <p:nvSpPr>
            <p:cNvPr id="84058" name="Rectangle 88"/>
            <p:cNvSpPr>
              <a:spLocks noChangeArrowheads="1"/>
            </p:cNvSpPr>
            <p:nvPr/>
          </p:nvSpPr>
          <p:spPr bwMode="auto">
            <a:xfrm rot="-5400000">
              <a:off x="4657"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59" name="Rectangle 89"/>
            <p:cNvSpPr>
              <a:spLocks noChangeArrowheads="1"/>
            </p:cNvSpPr>
            <p:nvPr/>
          </p:nvSpPr>
          <p:spPr bwMode="auto">
            <a:xfrm rot="-5400000">
              <a:off x="4657"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60" name="Rectangle 90"/>
            <p:cNvSpPr>
              <a:spLocks noChangeArrowheads="1"/>
            </p:cNvSpPr>
            <p:nvPr/>
          </p:nvSpPr>
          <p:spPr bwMode="auto">
            <a:xfrm rot="-5400000">
              <a:off x="4657"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3</a:t>
              </a:r>
              <a:endParaRPr lang="en-US" altLang="zh-CN" b="0">
                <a:solidFill>
                  <a:schemeClr val="tx1"/>
                </a:solidFill>
              </a:endParaRPr>
            </a:p>
          </p:txBody>
        </p:sp>
        <p:sp>
          <p:nvSpPr>
            <p:cNvPr id="84061" name="Rectangle 91"/>
            <p:cNvSpPr>
              <a:spLocks noChangeArrowheads="1"/>
            </p:cNvSpPr>
            <p:nvPr/>
          </p:nvSpPr>
          <p:spPr bwMode="auto">
            <a:xfrm rot="-5400000">
              <a:off x="4528"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62" name="Rectangle 92"/>
            <p:cNvSpPr>
              <a:spLocks noChangeArrowheads="1"/>
            </p:cNvSpPr>
            <p:nvPr/>
          </p:nvSpPr>
          <p:spPr bwMode="auto">
            <a:xfrm rot="-5400000">
              <a:off x="4528"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63" name="Rectangle 93"/>
            <p:cNvSpPr>
              <a:spLocks noChangeArrowheads="1"/>
            </p:cNvSpPr>
            <p:nvPr/>
          </p:nvSpPr>
          <p:spPr bwMode="auto">
            <a:xfrm rot="-5400000">
              <a:off x="4528"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4</a:t>
              </a:r>
              <a:endParaRPr lang="en-US" altLang="zh-CN" b="0">
                <a:solidFill>
                  <a:schemeClr val="tx1"/>
                </a:solidFill>
              </a:endParaRPr>
            </a:p>
          </p:txBody>
        </p:sp>
        <p:sp>
          <p:nvSpPr>
            <p:cNvPr id="84064" name="Rectangle 94"/>
            <p:cNvSpPr>
              <a:spLocks noChangeArrowheads="1"/>
            </p:cNvSpPr>
            <p:nvPr/>
          </p:nvSpPr>
          <p:spPr bwMode="auto">
            <a:xfrm rot="-5400000">
              <a:off x="4401"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065" name="Rectangle 95"/>
            <p:cNvSpPr>
              <a:spLocks noChangeArrowheads="1"/>
            </p:cNvSpPr>
            <p:nvPr/>
          </p:nvSpPr>
          <p:spPr bwMode="auto">
            <a:xfrm rot="-5400000">
              <a:off x="4401"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66" name="Rectangle 96"/>
            <p:cNvSpPr>
              <a:spLocks noChangeArrowheads="1"/>
            </p:cNvSpPr>
            <p:nvPr/>
          </p:nvSpPr>
          <p:spPr bwMode="auto">
            <a:xfrm rot="-5400000">
              <a:off x="4401"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5</a:t>
              </a:r>
              <a:endParaRPr lang="en-US" altLang="zh-CN" b="0">
                <a:solidFill>
                  <a:schemeClr val="tx1"/>
                </a:solidFill>
              </a:endParaRPr>
            </a:p>
          </p:txBody>
        </p:sp>
        <p:sp>
          <p:nvSpPr>
            <p:cNvPr id="84067" name="Rectangle 97"/>
            <p:cNvSpPr>
              <a:spLocks noChangeArrowheads="1"/>
            </p:cNvSpPr>
            <p:nvPr/>
          </p:nvSpPr>
          <p:spPr bwMode="auto">
            <a:xfrm rot="-5400000">
              <a:off x="4161"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68" name="Rectangle 98"/>
            <p:cNvSpPr>
              <a:spLocks noChangeArrowheads="1"/>
            </p:cNvSpPr>
            <p:nvPr/>
          </p:nvSpPr>
          <p:spPr bwMode="auto">
            <a:xfrm rot="-5400000">
              <a:off x="4161"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0</a:t>
              </a:r>
              <a:endParaRPr lang="en-US" altLang="zh-CN" b="0">
                <a:solidFill>
                  <a:schemeClr val="tx1"/>
                </a:solidFill>
              </a:endParaRPr>
            </a:p>
          </p:txBody>
        </p:sp>
        <p:sp>
          <p:nvSpPr>
            <p:cNvPr id="84069" name="Rectangle 99"/>
            <p:cNvSpPr>
              <a:spLocks noChangeArrowheads="1"/>
            </p:cNvSpPr>
            <p:nvPr/>
          </p:nvSpPr>
          <p:spPr bwMode="auto">
            <a:xfrm rot="-5400000">
              <a:off x="4017"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70" name="Rectangle 100"/>
            <p:cNvSpPr>
              <a:spLocks noChangeArrowheads="1"/>
            </p:cNvSpPr>
            <p:nvPr/>
          </p:nvSpPr>
          <p:spPr bwMode="auto">
            <a:xfrm rot="-5400000">
              <a:off x="4017"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071" name="Rectangle 101"/>
            <p:cNvSpPr>
              <a:spLocks noChangeArrowheads="1"/>
            </p:cNvSpPr>
            <p:nvPr/>
          </p:nvSpPr>
          <p:spPr bwMode="auto">
            <a:xfrm rot="-5400000">
              <a:off x="3904"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72" name="Rectangle 102"/>
            <p:cNvSpPr>
              <a:spLocks noChangeArrowheads="1"/>
            </p:cNvSpPr>
            <p:nvPr/>
          </p:nvSpPr>
          <p:spPr bwMode="auto">
            <a:xfrm rot="-5400000">
              <a:off x="3904"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2</a:t>
              </a:r>
              <a:endParaRPr lang="en-US" altLang="zh-CN" b="0">
                <a:solidFill>
                  <a:schemeClr val="tx1"/>
                </a:solidFill>
              </a:endParaRPr>
            </a:p>
          </p:txBody>
        </p:sp>
        <p:sp>
          <p:nvSpPr>
            <p:cNvPr id="84073" name="Rectangle 103"/>
            <p:cNvSpPr>
              <a:spLocks noChangeArrowheads="1"/>
            </p:cNvSpPr>
            <p:nvPr/>
          </p:nvSpPr>
          <p:spPr bwMode="auto">
            <a:xfrm rot="-5400000">
              <a:off x="3761"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74" name="Rectangle 104"/>
            <p:cNvSpPr>
              <a:spLocks noChangeArrowheads="1"/>
            </p:cNvSpPr>
            <p:nvPr/>
          </p:nvSpPr>
          <p:spPr bwMode="auto">
            <a:xfrm rot="-5400000">
              <a:off x="3761"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3</a:t>
              </a:r>
              <a:endParaRPr lang="en-US" altLang="zh-CN" b="0">
                <a:solidFill>
                  <a:schemeClr val="tx1"/>
                </a:solidFill>
              </a:endParaRPr>
            </a:p>
          </p:txBody>
        </p:sp>
        <p:sp>
          <p:nvSpPr>
            <p:cNvPr id="84075" name="Rectangle 105"/>
            <p:cNvSpPr>
              <a:spLocks noChangeArrowheads="1"/>
            </p:cNvSpPr>
            <p:nvPr/>
          </p:nvSpPr>
          <p:spPr bwMode="auto">
            <a:xfrm rot="-5400000">
              <a:off x="3504" y="165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076" name="Rectangle 106"/>
            <p:cNvSpPr>
              <a:spLocks noChangeArrowheads="1"/>
            </p:cNvSpPr>
            <p:nvPr/>
          </p:nvSpPr>
          <p:spPr bwMode="auto">
            <a:xfrm rot="-5400000">
              <a:off x="3504"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N</a:t>
              </a:r>
              <a:endParaRPr lang="en-US" altLang="zh-CN" b="0">
                <a:solidFill>
                  <a:schemeClr val="tx1"/>
                </a:solidFill>
              </a:endParaRPr>
            </a:p>
          </p:txBody>
        </p:sp>
        <p:sp>
          <p:nvSpPr>
            <p:cNvPr id="84077" name="Rectangle 107"/>
            <p:cNvSpPr>
              <a:spLocks noChangeArrowheads="1"/>
            </p:cNvSpPr>
            <p:nvPr/>
          </p:nvSpPr>
          <p:spPr bwMode="auto">
            <a:xfrm rot="-5400000">
              <a:off x="3504"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T</a:t>
              </a:r>
              <a:endParaRPr lang="en-US" altLang="zh-CN" b="0">
                <a:solidFill>
                  <a:schemeClr val="tx1"/>
                </a:solidFill>
              </a:endParaRPr>
            </a:p>
          </p:txBody>
        </p:sp>
        <p:sp>
          <p:nvSpPr>
            <p:cNvPr id="84078" name="Rectangle 108"/>
            <p:cNvSpPr>
              <a:spLocks noChangeArrowheads="1"/>
            </p:cNvSpPr>
            <p:nvPr/>
          </p:nvSpPr>
          <p:spPr bwMode="auto">
            <a:xfrm rot="-5400000">
              <a:off x="3504" y="147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079" name="Rectangle 109"/>
            <p:cNvSpPr>
              <a:spLocks noChangeArrowheads="1"/>
            </p:cNvSpPr>
            <p:nvPr/>
          </p:nvSpPr>
          <p:spPr bwMode="auto">
            <a:xfrm rot="-5400000">
              <a:off x="3377" y="165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080" name="Rectangle 110"/>
            <p:cNvSpPr>
              <a:spLocks noChangeArrowheads="1"/>
            </p:cNvSpPr>
            <p:nvPr/>
          </p:nvSpPr>
          <p:spPr bwMode="auto">
            <a:xfrm rot="-5400000">
              <a:off x="3377" y="159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N</a:t>
              </a:r>
              <a:endParaRPr lang="en-US" altLang="zh-CN" b="0">
                <a:solidFill>
                  <a:schemeClr val="tx1"/>
                </a:solidFill>
              </a:endParaRPr>
            </a:p>
          </p:txBody>
        </p:sp>
        <p:sp>
          <p:nvSpPr>
            <p:cNvPr id="84081" name="Rectangle 111"/>
            <p:cNvSpPr>
              <a:spLocks noChangeArrowheads="1"/>
            </p:cNvSpPr>
            <p:nvPr/>
          </p:nvSpPr>
          <p:spPr bwMode="auto">
            <a:xfrm rot="-5400000">
              <a:off x="3377" y="15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T</a:t>
              </a:r>
              <a:endParaRPr lang="en-US" altLang="zh-CN" b="0">
                <a:solidFill>
                  <a:schemeClr val="tx1"/>
                </a:solidFill>
              </a:endParaRPr>
            </a:p>
          </p:txBody>
        </p:sp>
        <p:sp>
          <p:nvSpPr>
            <p:cNvPr id="84082" name="Rectangle 112"/>
            <p:cNvSpPr>
              <a:spLocks noChangeArrowheads="1"/>
            </p:cNvSpPr>
            <p:nvPr/>
          </p:nvSpPr>
          <p:spPr bwMode="auto">
            <a:xfrm rot="-5400000">
              <a:off x="3377" y="147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083" name="Rectangle 113"/>
            <p:cNvSpPr>
              <a:spLocks noChangeArrowheads="1"/>
            </p:cNvSpPr>
            <p:nvPr/>
          </p:nvSpPr>
          <p:spPr bwMode="auto">
            <a:xfrm rot="-5400000">
              <a:off x="3265" y="1635"/>
              <a:ext cx="43"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084" name="Rectangle 114"/>
            <p:cNvSpPr>
              <a:spLocks noChangeArrowheads="1"/>
            </p:cNvSpPr>
            <p:nvPr/>
          </p:nvSpPr>
          <p:spPr bwMode="auto">
            <a:xfrm rot="-5400000">
              <a:off x="3265" y="157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085" name="Rectangle 115"/>
            <p:cNvSpPr>
              <a:spLocks noChangeArrowheads="1"/>
            </p:cNvSpPr>
            <p:nvPr/>
          </p:nvSpPr>
          <p:spPr bwMode="auto">
            <a:xfrm rot="-5400000">
              <a:off x="3265" y="151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086" name="Rectangle 116"/>
            <p:cNvSpPr>
              <a:spLocks noChangeArrowheads="1"/>
            </p:cNvSpPr>
            <p:nvPr/>
          </p:nvSpPr>
          <p:spPr bwMode="auto">
            <a:xfrm rot="-5400000">
              <a:off x="3265" y="146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087" name="Rectangle 117"/>
            <p:cNvSpPr>
              <a:spLocks noChangeArrowheads="1"/>
            </p:cNvSpPr>
            <p:nvPr/>
          </p:nvSpPr>
          <p:spPr bwMode="auto">
            <a:xfrm rot="-5400000">
              <a:off x="3120" y="1635"/>
              <a:ext cx="43"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088" name="Rectangle 118"/>
            <p:cNvSpPr>
              <a:spLocks noChangeArrowheads="1"/>
            </p:cNvSpPr>
            <p:nvPr/>
          </p:nvSpPr>
          <p:spPr bwMode="auto">
            <a:xfrm rot="-5400000">
              <a:off x="3120" y="157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089" name="Rectangle 119"/>
            <p:cNvSpPr>
              <a:spLocks noChangeArrowheads="1"/>
            </p:cNvSpPr>
            <p:nvPr/>
          </p:nvSpPr>
          <p:spPr bwMode="auto">
            <a:xfrm rot="-5400000">
              <a:off x="3120" y="151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90" name="Rectangle 120"/>
            <p:cNvSpPr>
              <a:spLocks noChangeArrowheads="1"/>
            </p:cNvSpPr>
            <p:nvPr/>
          </p:nvSpPr>
          <p:spPr bwMode="auto">
            <a:xfrm rot="-5400000">
              <a:off x="3120" y="146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091" name="Rectangle 121"/>
            <p:cNvSpPr>
              <a:spLocks noChangeArrowheads="1"/>
            </p:cNvSpPr>
            <p:nvPr/>
          </p:nvSpPr>
          <p:spPr bwMode="auto">
            <a:xfrm rot="-5400000">
              <a:off x="2736" y="163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M</a:t>
              </a:r>
              <a:endParaRPr lang="en-US" altLang="zh-CN" b="0">
                <a:solidFill>
                  <a:schemeClr val="tx1"/>
                </a:solidFill>
              </a:endParaRPr>
            </a:p>
          </p:txBody>
        </p:sp>
        <p:sp>
          <p:nvSpPr>
            <p:cNvPr id="84092" name="Rectangle 122"/>
            <p:cNvSpPr>
              <a:spLocks noChangeArrowheads="1"/>
            </p:cNvSpPr>
            <p:nvPr/>
          </p:nvSpPr>
          <p:spPr bwMode="auto">
            <a:xfrm rot="-5400000">
              <a:off x="2736" y="157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4</a:t>
              </a:r>
              <a:endParaRPr lang="en-US" altLang="zh-CN" b="0">
                <a:solidFill>
                  <a:schemeClr val="tx1"/>
                </a:solidFill>
              </a:endParaRPr>
            </a:p>
          </p:txBody>
        </p:sp>
        <p:sp>
          <p:nvSpPr>
            <p:cNvPr id="84093" name="Rectangle 123"/>
            <p:cNvSpPr>
              <a:spLocks noChangeArrowheads="1"/>
            </p:cNvSpPr>
            <p:nvPr/>
          </p:nvSpPr>
          <p:spPr bwMode="auto">
            <a:xfrm rot="-5400000">
              <a:off x="3009" y="164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094" name="Rectangle 124"/>
            <p:cNvSpPr>
              <a:spLocks noChangeArrowheads="1"/>
            </p:cNvSpPr>
            <p:nvPr/>
          </p:nvSpPr>
          <p:spPr bwMode="auto">
            <a:xfrm rot="-5400000">
              <a:off x="3009" y="158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095" name="Rectangle 125"/>
            <p:cNvSpPr>
              <a:spLocks noChangeArrowheads="1"/>
            </p:cNvSpPr>
            <p:nvPr/>
          </p:nvSpPr>
          <p:spPr bwMode="auto">
            <a:xfrm rot="-5400000">
              <a:off x="3009" y="152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096" name="Rectangle 126"/>
            <p:cNvSpPr>
              <a:spLocks noChangeArrowheads="1"/>
            </p:cNvSpPr>
            <p:nvPr/>
          </p:nvSpPr>
          <p:spPr bwMode="auto">
            <a:xfrm rot="-5400000">
              <a:off x="3009" y="147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097" name="Rectangle 127"/>
            <p:cNvSpPr>
              <a:spLocks noChangeArrowheads="1"/>
            </p:cNvSpPr>
            <p:nvPr/>
          </p:nvSpPr>
          <p:spPr bwMode="auto">
            <a:xfrm rot="-5400000">
              <a:off x="3009" y="141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098" name="Rectangle 128"/>
            <p:cNvSpPr>
              <a:spLocks noChangeArrowheads="1"/>
            </p:cNvSpPr>
            <p:nvPr/>
          </p:nvSpPr>
          <p:spPr bwMode="auto">
            <a:xfrm rot="-5400000">
              <a:off x="3009" y="135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099" name="Rectangle 129"/>
            <p:cNvSpPr>
              <a:spLocks noChangeArrowheads="1"/>
            </p:cNvSpPr>
            <p:nvPr/>
          </p:nvSpPr>
          <p:spPr bwMode="auto">
            <a:xfrm rot="-5400000">
              <a:off x="2865" y="164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P</a:t>
              </a:r>
              <a:endParaRPr lang="en-US" altLang="zh-CN" b="0">
                <a:solidFill>
                  <a:schemeClr val="tx1"/>
                </a:solidFill>
              </a:endParaRPr>
            </a:p>
          </p:txBody>
        </p:sp>
        <p:sp>
          <p:nvSpPr>
            <p:cNvPr id="84100" name="Rectangle 130"/>
            <p:cNvSpPr>
              <a:spLocks noChangeArrowheads="1"/>
            </p:cNvSpPr>
            <p:nvPr/>
          </p:nvSpPr>
          <p:spPr bwMode="auto">
            <a:xfrm rot="-5400000">
              <a:off x="2865" y="158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101" name="Rectangle 131"/>
            <p:cNvSpPr>
              <a:spLocks noChangeArrowheads="1"/>
            </p:cNvSpPr>
            <p:nvPr/>
          </p:nvSpPr>
          <p:spPr bwMode="auto">
            <a:xfrm rot="-5400000">
              <a:off x="2865" y="152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02" name="Rectangle 132"/>
            <p:cNvSpPr>
              <a:spLocks noChangeArrowheads="1"/>
            </p:cNvSpPr>
            <p:nvPr/>
          </p:nvSpPr>
          <p:spPr bwMode="auto">
            <a:xfrm rot="-5400000">
              <a:off x="2865" y="147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103" name="Rectangle 133"/>
            <p:cNvSpPr>
              <a:spLocks noChangeArrowheads="1"/>
            </p:cNvSpPr>
            <p:nvPr/>
          </p:nvSpPr>
          <p:spPr bwMode="auto">
            <a:xfrm rot="-5400000">
              <a:off x="2865" y="141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N</a:t>
              </a:r>
              <a:endParaRPr lang="en-US" altLang="zh-CN" b="0">
                <a:solidFill>
                  <a:schemeClr val="tx1"/>
                </a:solidFill>
              </a:endParaRPr>
            </a:p>
          </p:txBody>
        </p:sp>
        <p:sp>
          <p:nvSpPr>
            <p:cNvPr id="84104" name="Rectangle 134"/>
            <p:cNvSpPr>
              <a:spLocks noChangeArrowheads="1"/>
            </p:cNvSpPr>
            <p:nvPr/>
          </p:nvSpPr>
          <p:spPr bwMode="auto">
            <a:xfrm rot="-5400000">
              <a:off x="2865" y="135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105" name="Rectangle 135"/>
            <p:cNvSpPr>
              <a:spLocks noChangeArrowheads="1"/>
            </p:cNvSpPr>
            <p:nvPr/>
          </p:nvSpPr>
          <p:spPr bwMode="auto">
            <a:xfrm rot="-5400000">
              <a:off x="2603" y="163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06" name="Rectangle 136"/>
            <p:cNvSpPr>
              <a:spLocks noChangeArrowheads="1"/>
            </p:cNvSpPr>
            <p:nvPr/>
          </p:nvSpPr>
          <p:spPr bwMode="auto">
            <a:xfrm rot="-5400000">
              <a:off x="2603" y="157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07" name="Rectangle 137"/>
            <p:cNvSpPr>
              <a:spLocks noChangeArrowheads="1"/>
            </p:cNvSpPr>
            <p:nvPr/>
          </p:nvSpPr>
          <p:spPr bwMode="auto">
            <a:xfrm rot="-5400000">
              <a:off x="2603" y="151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108" name="Rectangle 138"/>
            <p:cNvSpPr>
              <a:spLocks noChangeArrowheads="1"/>
            </p:cNvSpPr>
            <p:nvPr/>
          </p:nvSpPr>
          <p:spPr bwMode="auto">
            <a:xfrm rot="-5400000">
              <a:off x="2603" y="146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109" name="Rectangle 139"/>
            <p:cNvSpPr>
              <a:spLocks noChangeArrowheads="1"/>
            </p:cNvSpPr>
            <p:nvPr/>
          </p:nvSpPr>
          <p:spPr bwMode="auto">
            <a:xfrm rot="-5400000">
              <a:off x="2603" y="140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10" name="Rectangle 140"/>
            <p:cNvSpPr>
              <a:spLocks noChangeArrowheads="1"/>
            </p:cNvSpPr>
            <p:nvPr/>
          </p:nvSpPr>
          <p:spPr bwMode="auto">
            <a:xfrm rot="-5400000">
              <a:off x="2464" y="163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11" name="Rectangle 141"/>
            <p:cNvSpPr>
              <a:spLocks noChangeArrowheads="1"/>
            </p:cNvSpPr>
            <p:nvPr/>
          </p:nvSpPr>
          <p:spPr bwMode="auto">
            <a:xfrm rot="-5400000">
              <a:off x="2464" y="157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12" name="Rectangle 142"/>
            <p:cNvSpPr>
              <a:spLocks noChangeArrowheads="1"/>
            </p:cNvSpPr>
            <p:nvPr/>
          </p:nvSpPr>
          <p:spPr bwMode="auto">
            <a:xfrm rot="-5400000">
              <a:off x="2464" y="151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113" name="Rectangle 143"/>
            <p:cNvSpPr>
              <a:spLocks noChangeArrowheads="1"/>
            </p:cNvSpPr>
            <p:nvPr/>
          </p:nvSpPr>
          <p:spPr bwMode="auto">
            <a:xfrm rot="-5400000">
              <a:off x="2464" y="146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14" name="Rectangle 144"/>
            <p:cNvSpPr>
              <a:spLocks noChangeArrowheads="1"/>
            </p:cNvSpPr>
            <p:nvPr/>
          </p:nvSpPr>
          <p:spPr bwMode="auto">
            <a:xfrm rot="-5400000">
              <a:off x="2464" y="140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115" name="Rectangle 145"/>
            <p:cNvSpPr>
              <a:spLocks noChangeArrowheads="1"/>
            </p:cNvSpPr>
            <p:nvPr/>
          </p:nvSpPr>
          <p:spPr bwMode="auto">
            <a:xfrm rot="-5400000">
              <a:off x="2353" y="163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116" name="Rectangle 146"/>
            <p:cNvSpPr>
              <a:spLocks noChangeArrowheads="1"/>
            </p:cNvSpPr>
            <p:nvPr/>
          </p:nvSpPr>
          <p:spPr bwMode="auto">
            <a:xfrm rot="-5400000">
              <a:off x="2353" y="158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17" name="Rectangle 147"/>
            <p:cNvSpPr>
              <a:spLocks noChangeArrowheads="1"/>
            </p:cNvSpPr>
            <p:nvPr/>
          </p:nvSpPr>
          <p:spPr bwMode="auto">
            <a:xfrm rot="-5400000">
              <a:off x="2353" y="152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118" name="Rectangle 148"/>
            <p:cNvSpPr>
              <a:spLocks noChangeArrowheads="1"/>
            </p:cNvSpPr>
            <p:nvPr/>
          </p:nvSpPr>
          <p:spPr bwMode="auto">
            <a:xfrm rot="-5400000">
              <a:off x="2353" y="146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19" name="Rectangle 149"/>
            <p:cNvSpPr>
              <a:spLocks noChangeArrowheads="1"/>
            </p:cNvSpPr>
            <p:nvPr/>
          </p:nvSpPr>
          <p:spPr bwMode="auto">
            <a:xfrm rot="-5400000">
              <a:off x="2353" y="141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120" name="Rectangle 150"/>
            <p:cNvSpPr>
              <a:spLocks noChangeArrowheads="1"/>
            </p:cNvSpPr>
            <p:nvPr/>
          </p:nvSpPr>
          <p:spPr bwMode="auto">
            <a:xfrm rot="-5400000">
              <a:off x="2351" y="1355"/>
              <a:ext cx="47" cy="134"/>
            </a:xfrm>
            <a:prstGeom prst="rect">
              <a:avLst/>
            </a:prstGeom>
            <a:noFill/>
            <a:ln w="9525">
              <a:noFill/>
              <a:miter lim="800000"/>
              <a:headEnd/>
              <a:tailEnd/>
            </a:ln>
          </p:spPr>
          <p:txBody>
            <a:bodyPr lIns="0" tIns="0" rIns="0" bIns="0">
              <a:spAutoFit/>
            </a:bodyPr>
            <a:lstStyle/>
            <a:p>
              <a:r>
                <a:rPr lang="en-US" altLang="zh-CN" sz="1400" b="0">
                  <a:solidFill>
                    <a:srgbClr val="000000"/>
                  </a:solidFill>
                  <a:latin typeface="宋体" pitchFamily="2" charset="-122"/>
                </a:rPr>
                <a:t>N</a:t>
              </a:r>
              <a:endParaRPr lang="en-US" altLang="zh-CN" b="0">
                <a:solidFill>
                  <a:schemeClr val="tx1"/>
                </a:solidFill>
              </a:endParaRPr>
            </a:p>
          </p:txBody>
        </p:sp>
        <p:sp>
          <p:nvSpPr>
            <p:cNvPr id="84121" name="Rectangle 151"/>
            <p:cNvSpPr>
              <a:spLocks noChangeArrowheads="1"/>
            </p:cNvSpPr>
            <p:nvPr/>
          </p:nvSpPr>
          <p:spPr bwMode="auto">
            <a:xfrm rot="-5400000">
              <a:off x="2353" y="129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122" name="Rectangle 152"/>
            <p:cNvSpPr>
              <a:spLocks noChangeArrowheads="1"/>
            </p:cNvSpPr>
            <p:nvPr/>
          </p:nvSpPr>
          <p:spPr bwMode="auto">
            <a:xfrm rot="-5400000">
              <a:off x="2225" y="162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M</a:t>
              </a:r>
              <a:endParaRPr lang="en-US" altLang="zh-CN" b="0">
                <a:solidFill>
                  <a:schemeClr val="tx1"/>
                </a:solidFill>
              </a:endParaRPr>
            </a:p>
          </p:txBody>
        </p:sp>
        <p:sp>
          <p:nvSpPr>
            <p:cNvPr id="84123" name="Rectangle 153"/>
            <p:cNvSpPr>
              <a:spLocks noChangeArrowheads="1"/>
            </p:cNvSpPr>
            <p:nvPr/>
          </p:nvSpPr>
          <p:spPr bwMode="auto">
            <a:xfrm rot="-5400000">
              <a:off x="2225" y="156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3</a:t>
              </a:r>
              <a:endParaRPr lang="en-US" altLang="zh-CN" b="0">
                <a:solidFill>
                  <a:schemeClr val="tx1"/>
                </a:solidFill>
              </a:endParaRPr>
            </a:p>
          </p:txBody>
        </p:sp>
        <p:sp>
          <p:nvSpPr>
            <p:cNvPr id="84124" name="Rectangle 154"/>
            <p:cNvSpPr>
              <a:spLocks noChangeArrowheads="1"/>
            </p:cNvSpPr>
            <p:nvPr/>
          </p:nvSpPr>
          <p:spPr bwMode="auto">
            <a:xfrm rot="-5400000">
              <a:off x="2096" y="16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25" name="Rectangle 155"/>
            <p:cNvSpPr>
              <a:spLocks noChangeArrowheads="1"/>
            </p:cNvSpPr>
            <p:nvPr/>
          </p:nvSpPr>
          <p:spPr bwMode="auto">
            <a:xfrm rot="-5400000">
              <a:off x="2096" y="157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26" name="Rectangle 156"/>
            <p:cNvSpPr>
              <a:spLocks noChangeArrowheads="1"/>
            </p:cNvSpPr>
            <p:nvPr/>
          </p:nvSpPr>
          <p:spPr bwMode="auto">
            <a:xfrm rot="-5400000">
              <a:off x="2096" y="152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E</a:t>
              </a:r>
              <a:endParaRPr lang="en-US" altLang="zh-CN" b="0">
                <a:solidFill>
                  <a:schemeClr val="tx1"/>
                </a:solidFill>
              </a:endParaRPr>
            </a:p>
          </p:txBody>
        </p:sp>
        <p:sp>
          <p:nvSpPr>
            <p:cNvPr id="84127" name="Rectangle 157"/>
            <p:cNvSpPr>
              <a:spLocks noChangeArrowheads="1"/>
            </p:cNvSpPr>
            <p:nvPr/>
          </p:nvSpPr>
          <p:spPr bwMode="auto">
            <a:xfrm rot="-5400000">
              <a:off x="2096" y="146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28" name="Rectangle 158"/>
            <p:cNvSpPr>
              <a:spLocks noChangeArrowheads="1"/>
            </p:cNvSpPr>
            <p:nvPr/>
          </p:nvSpPr>
          <p:spPr bwMode="auto">
            <a:xfrm rot="-5400000">
              <a:off x="1969" y="163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I</a:t>
              </a:r>
              <a:endParaRPr lang="en-US" altLang="zh-CN" b="0">
                <a:solidFill>
                  <a:schemeClr val="tx1"/>
                </a:solidFill>
              </a:endParaRPr>
            </a:p>
          </p:txBody>
        </p:sp>
        <p:sp>
          <p:nvSpPr>
            <p:cNvPr id="84129" name="Rectangle 159"/>
            <p:cNvSpPr>
              <a:spLocks noChangeArrowheads="1"/>
            </p:cNvSpPr>
            <p:nvPr/>
          </p:nvSpPr>
          <p:spPr bwMode="auto">
            <a:xfrm rot="-5400000">
              <a:off x="1969" y="158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130" name="Rectangle 160"/>
            <p:cNvSpPr>
              <a:spLocks noChangeArrowheads="1"/>
            </p:cNvSpPr>
            <p:nvPr/>
          </p:nvSpPr>
          <p:spPr bwMode="auto">
            <a:xfrm rot="-5400000">
              <a:off x="1969" y="15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31" name="Rectangle 161"/>
            <p:cNvSpPr>
              <a:spLocks noChangeArrowheads="1"/>
            </p:cNvSpPr>
            <p:nvPr/>
          </p:nvSpPr>
          <p:spPr bwMode="auto">
            <a:xfrm rot="-5400000">
              <a:off x="1969" y="146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32" name="Rectangle 162"/>
            <p:cNvSpPr>
              <a:spLocks noChangeArrowheads="1"/>
            </p:cNvSpPr>
            <p:nvPr/>
          </p:nvSpPr>
          <p:spPr bwMode="auto">
            <a:xfrm rot="-5400000">
              <a:off x="1969" y="140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B</a:t>
              </a:r>
              <a:endParaRPr lang="en-US" altLang="zh-CN" b="0">
                <a:solidFill>
                  <a:schemeClr val="tx1"/>
                </a:solidFill>
              </a:endParaRPr>
            </a:p>
          </p:txBody>
        </p:sp>
        <p:sp>
          <p:nvSpPr>
            <p:cNvPr id="84133" name="Rectangle 163"/>
            <p:cNvSpPr>
              <a:spLocks noChangeArrowheads="1"/>
            </p:cNvSpPr>
            <p:nvPr/>
          </p:nvSpPr>
          <p:spPr bwMode="auto">
            <a:xfrm rot="-5400000">
              <a:off x="1969" y="135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134" name="Rectangle 164"/>
            <p:cNvSpPr>
              <a:spLocks noChangeArrowheads="1"/>
            </p:cNvSpPr>
            <p:nvPr/>
          </p:nvSpPr>
          <p:spPr bwMode="auto">
            <a:xfrm rot="-5400000">
              <a:off x="1969" y="129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35" name="Rectangle 165"/>
            <p:cNvSpPr>
              <a:spLocks noChangeArrowheads="1"/>
            </p:cNvSpPr>
            <p:nvPr/>
          </p:nvSpPr>
          <p:spPr bwMode="auto">
            <a:xfrm rot="-5400000">
              <a:off x="1969" y="123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t>
              </a:r>
              <a:endParaRPr lang="en-US" altLang="zh-CN" b="0">
                <a:solidFill>
                  <a:schemeClr val="tx1"/>
                </a:solidFill>
              </a:endParaRPr>
            </a:p>
          </p:txBody>
        </p:sp>
        <p:sp>
          <p:nvSpPr>
            <p:cNvPr id="84136" name="Rectangle 166"/>
            <p:cNvSpPr>
              <a:spLocks noChangeArrowheads="1"/>
            </p:cNvSpPr>
            <p:nvPr/>
          </p:nvSpPr>
          <p:spPr bwMode="auto">
            <a:xfrm rot="-5400000">
              <a:off x="1841"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37" name="Rectangle 167"/>
            <p:cNvSpPr>
              <a:spLocks noChangeArrowheads="1"/>
            </p:cNvSpPr>
            <p:nvPr/>
          </p:nvSpPr>
          <p:spPr bwMode="auto">
            <a:xfrm rot="-5400000">
              <a:off x="1841" y="156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W</a:t>
              </a:r>
              <a:endParaRPr lang="en-US" altLang="zh-CN" b="0">
                <a:solidFill>
                  <a:schemeClr val="tx1"/>
                </a:solidFill>
              </a:endParaRPr>
            </a:p>
          </p:txBody>
        </p:sp>
        <p:sp>
          <p:nvSpPr>
            <p:cNvPr id="84138" name="Rectangle 168"/>
            <p:cNvSpPr>
              <a:spLocks noChangeArrowheads="1"/>
            </p:cNvSpPr>
            <p:nvPr/>
          </p:nvSpPr>
          <p:spPr bwMode="auto">
            <a:xfrm rot="-5400000">
              <a:off x="1841" y="151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39" name="Rectangle 169"/>
            <p:cNvSpPr>
              <a:spLocks noChangeArrowheads="1"/>
            </p:cNvSpPr>
            <p:nvPr/>
          </p:nvSpPr>
          <p:spPr bwMode="auto">
            <a:xfrm rot="-5400000">
              <a:off x="1841" y="145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B</a:t>
              </a:r>
              <a:endParaRPr lang="en-US" altLang="zh-CN" b="0">
                <a:solidFill>
                  <a:schemeClr val="tx1"/>
                </a:solidFill>
              </a:endParaRPr>
            </a:p>
          </p:txBody>
        </p:sp>
        <p:sp>
          <p:nvSpPr>
            <p:cNvPr id="84140" name="Rectangle 170"/>
            <p:cNvSpPr>
              <a:spLocks noChangeArrowheads="1"/>
            </p:cNvSpPr>
            <p:nvPr/>
          </p:nvSpPr>
          <p:spPr bwMode="auto">
            <a:xfrm rot="-5400000">
              <a:off x="1841" y="139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141" name="Rectangle 171"/>
            <p:cNvSpPr>
              <a:spLocks noChangeArrowheads="1"/>
            </p:cNvSpPr>
            <p:nvPr/>
          </p:nvSpPr>
          <p:spPr bwMode="auto">
            <a:xfrm rot="-5400000">
              <a:off x="1841" y="134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42" name="Rectangle 172"/>
            <p:cNvSpPr>
              <a:spLocks noChangeArrowheads="1"/>
            </p:cNvSpPr>
            <p:nvPr/>
          </p:nvSpPr>
          <p:spPr bwMode="auto">
            <a:xfrm rot="-5400000">
              <a:off x="1841" y="128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t>
              </a:r>
              <a:endParaRPr lang="en-US" altLang="zh-CN" b="0">
                <a:solidFill>
                  <a:schemeClr val="tx1"/>
                </a:solidFill>
              </a:endParaRPr>
            </a:p>
          </p:txBody>
        </p:sp>
        <p:sp>
          <p:nvSpPr>
            <p:cNvPr id="84143" name="Rectangle 173"/>
            <p:cNvSpPr>
              <a:spLocks noChangeArrowheads="1"/>
            </p:cNvSpPr>
            <p:nvPr/>
          </p:nvSpPr>
          <p:spPr bwMode="auto">
            <a:xfrm rot="-5400000">
              <a:off x="1712" y="163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44" name="Rectangle 174"/>
            <p:cNvSpPr>
              <a:spLocks noChangeArrowheads="1"/>
            </p:cNvSpPr>
            <p:nvPr/>
          </p:nvSpPr>
          <p:spPr bwMode="auto">
            <a:xfrm rot="-5400000">
              <a:off x="1712" y="158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45" name="Rectangle 175"/>
            <p:cNvSpPr>
              <a:spLocks noChangeArrowheads="1"/>
            </p:cNvSpPr>
            <p:nvPr/>
          </p:nvSpPr>
          <p:spPr bwMode="auto">
            <a:xfrm rot="-5400000">
              <a:off x="1712" y="152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46" name="Rectangle 176"/>
            <p:cNvSpPr>
              <a:spLocks noChangeArrowheads="1"/>
            </p:cNvSpPr>
            <p:nvPr/>
          </p:nvSpPr>
          <p:spPr bwMode="auto">
            <a:xfrm rot="-5400000">
              <a:off x="1712" y="146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B</a:t>
              </a:r>
              <a:endParaRPr lang="en-US" altLang="zh-CN" b="0">
                <a:solidFill>
                  <a:schemeClr val="tx1"/>
                </a:solidFill>
              </a:endParaRPr>
            </a:p>
          </p:txBody>
        </p:sp>
        <p:sp>
          <p:nvSpPr>
            <p:cNvPr id="84147" name="Rectangle 177"/>
            <p:cNvSpPr>
              <a:spLocks noChangeArrowheads="1"/>
            </p:cNvSpPr>
            <p:nvPr/>
          </p:nvSpPr>
          <p:spPr bwMode="auto">
            <a:xfrm rot="-5400000">
              <a:off x="1712" y="141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148" name="Rectangle 178"/>
            <p:cNvSpPr>
              <a:spLocks noChangeArrowheads="1"/>
            </p:cNvSpPr>
            <p:nvPr/>
          </p:nvSpPr>
          <p:spPr bwMode="auto">
            <a:xfrm rot="-5400000">
              <a:off x="1712" y="135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49" name="Rectangle 179"/>
            <p:cNvSpPr>
              <a:spLocks noChangeArrowheads="1"/>
            </p:cNvSpPr>
            <p:nvPr/>
          </p:nvSpPr>
          <p:spPr bwMode="auto">
            <a:xfrm rot="-5400000">
              <a:off x="1712" y="129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t>
              </a:r>
              <a:endParaRPr lang="en-US" altLang="zh-CN" b="0">
                <a:solidFill>
                  <a:schemeClr val="tx1"/>
                </a:solidFill>
              </a:endParaRPr>
            </a:p>
          </p:txBody>
        </p:sp>
        <p:sp>
          <p:nvSpPr>
            <p:cNvPr id="84150" name="Rectangle 180"/>
            <p:cNvSpPr>
              <a:spLocks noChangeArrowheads="1"/>
            </p:cNvSpPr>
            <p:nvPr/>
          </p:nvSpPr>
          <p:spPr bwMode="auto">
            <a:xfrm rot="-5400000">
              <a:off x="1585" y="164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a:t>
              </a:r>
              <a:endParaRPr lang="en-US" altLang="zh-CN" b="0">
                <a:solidFill>
                  <a:schemeClr val="tx1"/>
                </a:solidFill>
              </a:endParaRPr>
            </a:p>
          </p:txBody>
        </p:sp>
        <p:sp>
          <p:nvSpPr>
            <p:cNvPr id="84151" name="Rectangle 181"/>
            <p:cNvSpPr>
              <a:spLocks noChangeArrowheads="1"/>
            </p:cNvSpPr>
            <p:nvPr/>
          </p:nvSpPr>
          <p:spPr bwMode="auto">
            <a:xfrm rot="-5400000">
              <a:off x="1585" y="158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52" name="Rectangle 182"/>
            <p:cNvSpPr>
              <a:spLocks noChangeArrowheads="1"/>
            </p:cNvSpPr>
            <p:nvPr/>
          </p:nvSpPr>
          <p:spPr bwMode="auto">
            <a:xfrm rot="-5400000">
              <a:off x="1585" y="152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153" name="Rectangle 183"/>
            <p:cNvSpPr>
              <a:spLocks noChangeArrowheads="1"/>
            </p:cNvSpPr>
            <p:nvPr/>
          </p:nvSpPr>
          <p:spPr bwMode="auto">
            <a:xfrm rot="-5400000">
              <a:off x="1585" y="146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_</a:t>
              </a:r>
              <a:endParaRPr lang="en-US" altLang="zh-CN" b="0">
                <a:solidFill>
                  <a:schemeClr val="tx1"/>
                </a:solidFill>
              </a:endParaRPr>
            </a:p>
          </p:txBody>
        </p:sp>
        <p:sp>
          <p:nvSpPr>
            <p:cNvPr id="84154" name="Rectangle 184"/>
            <p:cNvSpPr>
              <a:spLocks noChangeArrowheads="1"/>
            </p:cNvSpPr>
            <p:nvPr/>
          </p:nvSpPr>
          <p:spPr bwMode="auto">
            <a:xfrm rot="-5400000">
              <a:off x="1585" y="141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B</a:t>
              </a:r>
              <a:endParaRPr lang="en-US" altLang="zh-CN" b="0">
                <a:solidFill>
                  <a:schemeClr val="tx1"/>
                </a:solidFill>
              </a:endParaRPr>
            </a:p>
          </p:txBody>
        </p:sp>
        <p:sp>
          <p:nvSpPr>
            <p:cNvPr id="84155" name="Rectangle 185"/>
            <p:cNvSpPr>
              <a:spLocks noChangeArrowheads="1"/>
            </p:cNvSpPr>
            <p:nvPr/>
          </p:nvSpPr>
          <p:spPr bwMode="auto">
            <a:xfrm rot="-5400000">
              <a:off x="1585" y="135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U</a:t>
              </a:r>
              <a:endParaRPr lang="en-US" altLang="zh-CN" b="0">
                <a:solidFill>
                  <a:schemeClr val="tx1"/>
                </a:solidFill>
              </a:endParaRPr>
            </a:p>
          </p:txBody>
        </p:sp>
        <p:sp>
          <p:nvSpPr>
            <p:cNvPr id="84156" name="Rectangle 186"/>
            <p:cNvSpPr>
              <a:spLocks noChangeArrowheads="1"/>
            </p:cNvSpPr>
            <p:nvPr/>
          </p:nvSpPr>
          <p:spPr bwMode="auto">
            <a:xfrm rot="-5400000">
              <a:off x="1585" y="1298"/>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sp>
          <p:nvSpPr>
            <p:cNvPr id="84157" name="Rectangle 187"/>
            <p:cNvSpPr>
              <a:spLocks noChangeArrowheads="1"/>
            </p:cNvSpPr>
            <p:nvPr/>
          </p:nvSpPr>
          <p:spPr bwMode="auto">
            <a:xfrm rot="-5400000">
              <a:off x="1328" y="162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58" name="Rectangle 188"/>
            <p:cNvSpPr>
              <a:spLocks noChangeArrowheads="1"/>
            </p:cNvSpPr>
            <p:nvPr/>
          </p:nvSpPr>
          <p:spPr bwMode="auto">
            <a:xfrm rot="-5400000">
              <a:off x="1328" y="1566"/>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59" name="Rectangle 189"/>
            <p:cNvSpPr>
              <a:spLocks noChangeArrowheads="1"/>
            </p:cNvSpPr>
            <p:nvPr/>
          </p:nvSpPr>
          <p:spPr bwMode="auto">
            <a:xfrm rot="-5400000">
              <a:off x="1328" y="151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W</a:t>
              </a:r>
              <a:endParaRPr lang="en-US" altLang="zh-CN" b="0">
                <a:solidFill>
                  <a:schemeClr val="tx1"/>
                </a:solidFill>
              </a:endParaRPr>
            </a:p>
          </p:txBody>
        </p:sp>
        <p:sp>
          <p:nvSpPr>
            <p:cNvPr id="84160" name="Rectangle 190"/>
            <p:cNvSpPr>
              <a:spLocks noChangeArrowheads="1"/>
            </p:cNvSpPr>
            <p:nvPr/>
          </p:nvSpPr>
          <p:spPr bwMode="auto">
            <a:xfrm rot="-5400000">
              <a:off x="1456" y="1620"/>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C</a:t>
              </a:r>
              <a:endParaRPr lang="en-US" altLang="zh-CN" b="0">
                <a:solidFill>
                  <a:schemeClr val="tx1"/>
                </a:solidFill>
              </a:endParaRPr>
            </a:p>
          </p:txBody>
        </p:sp>
        <p:sp>
          <p:nvSpPr>
            <p:cNvPr id="84161" name="Rectangle 191"/>
            <p:cNvSpPr>
              <a:spLocks noChangeArrowheads="1"/>
            </p:cNvSpPr>
            <p:nvPr/>
          </p:nvSpPr>
          <p:spPr bwMode="auto">
            <a:xfrm rot="-5400000">
              <a:off x="1456" y="156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E</a:t>
              </a:r>
              <a:endParaRPr lang="en-US" altLang="zh-CN" b="0">
                <a:solidFill>
                  <a:schemeClr val="tx1"/>
                </a:solidFill>
              </a:endParaRPr>
            </a:p>
          </p:txBody>
        </p:sp>
        <p:sp>
          <p:nvSpPr>
            <p:cNvPr id="84162" name="Rectangle 192"/>
            <p:cNvSpPr>
              <a:spLocks noChangeArrowheads="1"/>
            </p:cNvSpPr>
            <p:nvPr/>
          </p:nvSpPr>
          <p:spPr bwMode="auto">
            <a:xfrm rot="-5400000">
              <a:off x="1456" y="150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63" name="Rectangle 193"/>
            <p:cNvSpPr>
              <a:spLocks noChangeArrowheads="1"/>
            </p:cNvSpPr>
            <p:nvPr/>
          </p:nvSpPr>
          <p:spPr bwMode="auto">
            <a:xfrm rot="-5400000">
              <a:off x="1456" y="144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a:t>
              </a:r>
              <a:endParaRPr lang="en-US" altLang="zh-CN" b="0">
                <a:solidFill>
                  <a:schemeClr val="tx1"/>
                </a:solidFill>
              </a:endParaRPr>
            </a:p>
          </p:txBody>
        </p:sp>
        <p:sp>
          <p:nvSpPr>
            <p:cNvPr id="84164" name="Rectangle 194"/>
            <p:cNvSpPr>
              <a:spLocks noChangeArrowheads="1"/>
            </p:cNvSpPr>
            <p:nvPr/>
          </p:nvSpPr>
          <p:spPr bwMode="auto">
            <a:xfrm rot="-5400000">
              <a:off x="1199" y="162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W</a:t>
              </a:r>
              <a:endParaRPr lang="en-US" altLang="zh-CN" b="0">
                <a:solidFill>
                  <a:schemeClr val="tx1"/>
                </a:solidFill>
              </a:endParaRPr>
            </a:p>
          </p:txBody>
        </p:sp>
        <p:sp>
          <p:nvSpPr>
            <p:cNvPr id="84165" name="Rectangle 195"/>
            <p:cNvSpPr>
              <a:spLocks noChangeArrowheads="1"/>
            </p:cNvSpPr>
            <p:nvPr/>
          </p:nvSpPr>
          <p:spPr bwMode="auto">
            <a:xfrm rot="-5400000">
              <a:off x="1199" y="156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66" name="Rectangle 196"/>
            <p:cNvSpPr>
              <a:spLocks noChangeArrowheads="1"/>
            </p:cNvSpPr>
            <p:nvPr/>
          </p:nvSpPr>
          <p:spPr bwMode="auto">
            <a:xfrm rot="-5400000">
              <a:off x="1199" y="1511"/>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67" name="Rectangle 197"/>
            <p:cNvSpPr>
              <a:spLocks noChangeArrowheads="1"/>
            </p:cNvSpPr>
            <p:nvPr/>
          </p:nvSpPr>
          <p:spPr bwMode="auto">
            <a:xfrm rot="-5400000">
              <a:off x="1085" y="1633"/>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L</a:t>
              </a:r>
              <a:endParaRPr lang="en-US" altLang="zh-CN" b="0">
                <a:solidFill>
                  <a:schemeClr val="tx1"/>
                </a:solidFill>
              </a:endParaRPr>
            </a:p>
          </p:txBody>
        </p:sp>
        <p:sp>
          <p:nvSpPr>
            <p:cNvPr id="84168" name="Rectangle 198"/>
            <p:cNvSpPr>
              <a:spLocks noChangeArrowheads="1"/>
            </p:cNvSpPr>
            <p:nvPr/>
          </p:nvSpPr>
          <p:spPr bwMode="auto">
            <a:xfrm rot="-5400000">
              <a:off x="1085" y="157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69" name="Rectangle 199"/>
            <p:cNvSpPr>
              <a:spLocks noChangeArrowheads="1"/>
            </p:cNvSpPr>
            <p:nvPr/>
          </p:nvSpPr>
          <p:spPr bwMode="auto">
            <a:xfrm rot="-5400000">
              <a:off x="1085" y="1519"/>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D</a:t>
              </a:r>
              <a:endParaRPr lang="en-US" altLang="zh-CN" b="0">
                <a:solidFill>
                  <a:schemeClr val="tx1"/>
                </a:solidFill>
              </a:endParaRPr>
            </a:p>
          </p:txBody>
        </p:sp>
        <p:sp>
          <p:nvSpPr>
            <p:cNvPr id="84170" name="Rectangle 200"/>
            <p:cNvSpPr>
              <a:spLocks noChangeArrowheads="1"/>
            </p:cNvSpPr>
            <p:nvPr/>
          </p:nvSpPr>
          <p:spPr bwMode="auto">
            <a:xfrm rot="-5400000">
              <a:off x="1085" y="1462"/>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R</a:t>
              </a:r>
              <a:endParaRPr lang="en-US" altLang="zh-CN" b="0">
                <a:solidFill>
                  <a:schemeClr val="tx1"/>
                </a:solidFill>
              </a:endParaRPr>
            </a:p>
          </p:txBody>
        </p:sp>
        <p:sp>
          <p:nvSpPr>
            <p:cNvPr id="84171" name="Rectangle 201"/>
            <p:cNvSpPr>
              <a:spLocks noChangeArrowheads="1"/>
            </p:cNvSpPr>
            <p:nvPr/>
          </p:nvSpPr>
          <p:spPr bwMode="auto">
            <a:xfrm rot="-5400000">
              <a:off x="1085" y="1404"/>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172" name="Rectangle 202"/>
            <p:cNvSpPr>
              <a:spLocks noChangeArrowheads="1"/>
            </p:cNvSpPr>
            <p:nvPr/>
          </p:nvSpPr>
          <p:spPr bwMode="auto">
            <a:xfrm rot="-5400000">
              <a:off x="941" y="156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M</a:t>
              </a:r>
              <a:endParaRPr lang="en-US" altLang="zh-CN" b="0">
                <a:solidFill>
                  <a:schemeClr val="tx1"/>
                </a:solidFill>
              </a:endParaRPr>
            </a:p>
          </p:txBody>
        </p:sp>
        <p:sp>
          <p:nvSpPr>
            <p:cNvPr id="84173" name="Rectangle 203"/>
            <p:cNvSpPr>
              <a:spLocks noChangeArrowheads="1"/>
            </p:cNvSpPr>
            <p:nvPr/>
          </p:nvSpPr>
          <p:spPr bwMode="auto">
            <a:xfrm rot="-5400000">
              <a:off x="941" y="1507"/>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1</a:t>
              </a:r>
              <a:endParaRPr lang="en-US" altLang="zh-CN" b="0">
                <a:solidFill>
                  <a:schemeClr val="tx1"/>
                </a:solidFill>
              </a:endParaRPr>
            </a:p>
          </p:txBody>
        </p:sp>
        <p:sp>
          <p:nvSpPr>
            <p:cNvPr id="84174" name="Rectangle 204"/>
            <p:cNvSpPr>
              <a:spLocks noChangeArrowheads="1"/>
            </p:cNvSpPr>
            <p:nvPr/>
          </p:nvSpPr>
          <p:spPr bwMode="auto">
            <a:xfrm rot="-5400000">
              <a:off x="814" y="1565"/>
              <a:ext cx="44" cy="134"/>
            </a:xfrm>
            <a:prstGeom prst="rect">
              <a:avLst/>
            </a:prstGeom>
            <a:noFill/>
            <a:ln w="9525">
              <a:noFill/>
              <a:miter lim="800000"/>
              <a:headEnd/>
              <a:tailEnd/>
            </a:ln>
          </p:spPr>
          <p:txBody>
            <a:bodyPr wrap="none" lIns="0" tIns="0" rIns="0" bIns="0">
              <a:spAutoFit/>
            </a:bodyPr>
            <a:lstStyle/>
            <a:p>
              <a:r>
                <a:rPr lang="en-US" altLang="zh-CN" sz="1400" b="0">
                  <a:solidFill>
                    <a:srgbClr val="000000"/>
                  </a:solidFill>
                  <a:latin typeface="宋体" pitchFamily="2" charset="-122"/>
                </a:rPr>
                <a:t>S</a:t>
              </a:r>
              <a:endParaRPr lang="en-US" altLang="zh-CN" b="0">
                <a:solidFill>
                  <a:schemeClr val="tx1"/>
                </a:solidFill>
              </a:endParaRPr>
            </a:p>
          </p:txBody>
        </p:sp>
      </p:grpSp>
      <p:sp>
        <p:nvSpPr>
          <p:cNvPr id="83974" name="Rectangle 205"/>
          <p:cNvSpPr>
            <a:spLocks noChangeArrowheads="1"/>
          </p:cNvSpPr>
          <p:nvPr/>
        </p:nvSpPr>
        <p:spPr bwMode="auto">
          <a:xfrm>
            <a:off x="179388" y="3141663"/>
            <a:ext cx="8640762" cy="1095375"/>
          </a:xfrm>
          <a:prstGeom prst="rect">
            <a:avLst/>
          </a:prstGeom>
          <a:noFill/>
          <a:ln w="9525">
            <a:noFill/>
            <a:miter lim="800000"/>
            <a:headEnd/>
            <a:tailEnd/>
          </a:ln>
        </p:spPr>
        <p:txBody>
          <a:bodyPr lIns="0" tIns="0" rIns="0" bIns="0">
            <a:spAutoFit/>
          </a:bodyPr>
          <a:lstStyle/>
          <a:p>
            <a:r>
              <a:rPr lang="en-US" altLang="zh-CN" sz="2100" b="0">
                <a:solidFill>
                  <a:srgbClr val="000000"/>
                </a:solidFill>
                <a:latin typeface="宋体" pitchFamily="2" charset="-122"/>
              </a:rPr>
              <a:t> </a:t>
            </a:r>
            <a:r>
              <a:rPr lang="zh-CN" altLang="en-US" sz="2400" b="0">
                <a:solidFill>
                  <a:srgbClr val="000000"/>
                </a:solidFill>
                <a:latin typeface="宋体" pitchFamily="2" charset="-122"/>
              </a:rPr>
              <a:t>微指令格式举例（</a:t>
            </a:r>
            <a:r>
              <a:rPr lang="en-US" altLang="zh-CN" sz="2400" b="0">
                <a:solidFill>
                  <a:srgbClr val="000000"/>
                </a:solidFill>
                <a:latin typeface="宋体" pitchFamily="2" charset="-122"/>
              </a:rPr>
              <a:t>TEC_5</a:t>
            </a:r>
            <a:r>
              <a:rPr lang="zh-CN" altLang="en-US" sz="2400" b="0">
                <a:solidFill>
                  <a:srgbClr val="000000"/>
                </a:solidFill>
                <a:latin typeface="宋体" pitchFamily="2" charset="-122"/>
              </a:rPr>
              <a:t>实验平台格式）</a:t>
            </a:r>
          </a:p>
          <a:p>
            <a:r>
              <a:rPr lang="zh-CN" altLang="en-US" sz="2400" b="0">
                <a:solidFill>
                  <a:srgbClr val="000000"/>
                </a:solidFill>
                <a:latin typeface="宋体" pitchFamily="2" charset="-122"/>
              </a:rPr>
              <a:t>    </a:t>
            </a:r>
            <a:r>
              <a:rPr lang="zh-CN" altLang="en-US" sz="2400" b="0">
                <a:solidFill>
                  <a:schemeClr val="tx1"/>
                </a:solidFill>
                <a:latin typeface="宋体" pitchFamily="2" charset="-122"/>
              </a:rPr>
              <a:t>操作控制字段的每一个独立的二进制位代表一个微命令，该位为“</a:t>
            </a:r>
            <a:r>
              <a:rPr lang="en-US" altLang="zh-CN" sz="2400" b="0">
                <a:solidFill>
                  <a:schemeClr val="tx1"/>
                </a:solidFill>
                <a:latin typeface="宋体" pitchFamily="2" charset="-122"/>
              </a:rPr>
              <a:t>1”</a:t>
            </a:r>
            <a:r>
              <a:rPr lang="zh-CN" altLang="en-US" sz="2400" b="0">
                <a:solidFill>
                  <a:schemeClr val="tx1"/>
                </a:solidFill>
                <a:latin typeface="宋体" pitchFamily="2" charset="-122"/>
              </a:rPr>
              <a:t>表示这个微命令有效，为“</a:t>
            </a:r>
            <a:r>
              <a:rPr lang="en-US" altLang="zh-CN" sz="2400" b="0">
                <a:solidFill>
                  <a:schemeClr val="tx1"/>
                </a:solidFill>
                <a:latin typeface="宋体" pitchFamily="2" charset="-122"/>
              </a:rPr>
              <a:t>0”</a:t>
            </a:r>
            <a:r>
              <a:rPr lang="zh-CN" altLang="en-US" sz="2400" b="0">
                <a:solidFill>
                  <a:schemeClr val="tx1"/>
                </a:solidFill>
                <a:latin typeface="宋体" pitchFamily="2" charset="-122"/>
              </a:rPr>
              <a:t>表示这个微命令无效。</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p:spPr>
        <p:txBody>
          <a:bodyPr/>
          <a:lstStyle/>
          <a:p>
            <a:fld id="{02867236-68DB-4745-B716-EA726B79709B}" type="slidenum">
              <a:rPr lang="en-US" altLang="zh-CN" smtClean="0"/>
              <a:pPr/>
              <a:t>79</a:t>
            </a:fld>
            <a:endParaRPr lang="en-US" altLang="zh-CN" smtClean="0"/>
          </a:p>
        </p:txBody>
      </p:sp>
      <p:sp>
        <p:nvSpPr>
          <p:cNvPr id="84995" name="Rectangle 2"/>
          <p:cNvSpPr>
            <a:spLocks noGrp="1" noChangeArrowheads="1"/>
          </p:cNvSpPr>
          <p:nvPr>
            <p:ph type="body" idx="1"/>
          </p:nvPr>
        </p:nvSpPr>
        <p:spPr>
          <a:xfrm>
            <a:off x="323850" y="549275"/>
            <a:ext cx="7704138" cy="5761038"/>
          </a:xfrm>
        </p:spPr>
        <p:txBody>
          <a:bodyPr/>
          <a:lstStyle/>
          <a:p>
            <a:pPr eaLnBrk="1" hangingPunct="1">
              <a:lnSpc>
                <a:spcPct val="90000"/>
              </a:lnSpc>
              <a:buFont typeface="Wingdings" pitchFamily="2" charset="2"/>
              <a:buNone/>
            </a:pPr>
            <a:r>
              <a:rPr lang="zh-CN" altLang="en-US" sz="2800" smtClean="0">
                <a:latin typeface="宋体" pitchFamily="2" charset="-122"/>
              </a:rPr>
              <a:t>直接表示法特点：</a:t>
            </a:r>
          </a:p>
          <a:p>
            <a:pPr eaLnBrk="1" hangingPunct="1">
              <a:lnSpc>
                <a:spcPct val="90000"/>
              </a:lnSpc>
            </a:pPr>
            <a:r>
              <a:rPr lang="zh-CN" altLang="en-US" sz="2800" smtClean="0">
                <a:latin typeface="宋体" pitchFamily="2" charset="-122"/>
              </a:rPr>
              <a:t>这种方法结构简单，并行性强，操作速度快，但是微指令字太长，若微命令的总数为</a:t>
            </a:r>
            <a:r>
              <a:rPr lang="en-US" altLang="zh-CN" sz="2800" smtClean="0">
                <a:latin typeface="宋体" pitchFamily="2" charset="-122"/>
              </a:rPr>
              <a:t>N</a:t>
            </a:r>
            <a:r>
              <a:rPr lang="zh-CN" altLang="en-US" sz="2800" smtClean="0">
                <a:latin typeface="宋体" pitchFamily="2" charset="-122"/>
              </a:rPr>
              <a:t>个，则微指令字的操作控制字段就要有</a:t>
            </a:r>
            <a:r>
              <a:rPr lang="en-US" altLang="zh-CN" sz="2800" smtClean="0">
                <a:latin typeface="宋体" pitchFamily="2" charset="-122"/>
              </a:rPr>
              <a:t>N</a:t>
            </a:r>
            <a:r>
              <a:rPr lang="zh-CN" altLang="en-US" sz="2800" smtClean="0">
                <a:latin typeface="宋体" pitchFamily="2" charset="-122"/>
              </a:rPr>
              <a:t>位，因而使控制存储器容量较大。在某些计算机中，微命令的总数可能会多达三、四百个，甚至更多，这使微指令的长度达到难以接受的地步。</a:t>
            </a:r>
          </a:p>
          <a:p>
            <a:pPr eaLnBrk="1" hangingPunct="1">
              <a:lnSpc>
                <a:spcPct val="90000"/>
              </a:lnSpc>
            </a:pPr>
            <a:r>
              <a:rPr lang="zh-CN" altLang="en-US" sz="2800" smtClean="0">
                <a:latin typeface="宋体" pitchFamily="2" charset="-122"/>
              </a:rPr>
              <a:t>另外，在</a:t>
            </a:r>
            <a:r>
              <a:rPr lang="en-US" altLang="zh-CN" sz="2800" smtClean="0">
                <a:latin typeface="宋体" pitchFamily="2" charset="-122"/>
              </a:rPr>
              <a:t>N</a:t>
            </a:r>
            <a:r>
              <a:rPr lang="zh-CN" altLang="en-US" sz="2800" smtClean="0">
                <a:latin typeface="宋体" pitchFamily="2" charset="-122"/>
              </a:rPr>
              <a:t>个微命令中，有许多是互斥的，不允许并行操作，将它们安排在一条微指令中是毫无意义的，只会使信息的利用率下降。</a:t>
            </a:r>
          </a:p>
          <a:p>
            <a:pPr eaLnBrk="1" hangingPunct="1">
              <a:lnSpc>
                <a:spcPct val="90000"/>
              </a:lnSpc>
              <a:buFont typeface="Wingdings" pitchFamily="2" charset="2"/>
              <a:buNone/>
            </a:pPr>
            <a:r>
              <a:rPr lang="zh-CN" altLang="en-US" sz="2800" smtClean="0">
                <a:latin typeface="宋体" pitchFamily="2" charset="-122"/>
              </a:rPr>
              <a:t>      </a:t>
            </a:r>
          </a:p>
          <a:p>
            <a:pPr eaLnBrk="1" hangingPunct="1">
              <a:lnSpc>
                <a:spcPct val="90000"/>
              </a:lnSpc>
              <a:buFont typeface="Wingdings" pitchFamily="2" charset="2"/>
              <a:buNone/>
            </a:pPr>
            <a:r>
              <a:rPr lang="zh-CN" altLang="en-US" sz="2800" b="1" smtClean="0">
                <a:solidFill>
                  <a:srgbClr val="2453CA"/>
                </a:solidFill>
                <a:latin typeface="宋体" pitchFamily="2" charset="-122"/>
              </a:rPr>
              <a:t>  </a:t>
            </a:r>
            <a:r>
              <a:rPr lang="zh-CN" altLang="en-US" sz="3200" b="1" smtClean="0">
                <a:solidFill>
                  <a:srgbClr val="2453CA"/>
                </a:solidFill>
                <a:latin typeface="宋体" pitchFamily="2" charset="-122"/>
              </a:rPr>
              <a:t>这种方法在复杂的系统中很少单独采用，往往与其他编码方法混合起来使用。</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p:cNvSpPr>
            <a:spLocks noGrp="1"/>
          </p:cNvSpPr>
          <p:nvPr>
            <p:ph type="sldNum" sz="quarter" idx="12"/>
          </p:nvPr>
        </p:nvSpPr>
        <p:spPr>
          <a:noFill/>
        </p:spPr>
        <p:txBody>
          <a:bodyPr/>
          <a:lstStyle/>
          <a:p>
            <a:fld id="{FCF05CAB-02DA-4125-88B2-EB60763F1DB6}" type="slidenum">
              <a:rPr lang="en-US" altLang="zh-CN" smtClean="0"/>
              <a:pPr/>
              <a:t>80</a:t>
            </a:fld>
            <a:endParaRPr lang="en-US" altLang="zh-CN" smtClean="0"/>
          </a:p>
        </p:txBody>
      </p:sp>
      <p:sp>
        <p:nvSpPr>
          <p:cNvPr id="86020" name="Rectangle 3"/>
          <p:cNvSpPr>
            <a:spLocks noChangeArrowheads="1"/>
          </p:cNvSpPr>
          <p:nvPr/>
        </p:nvSpPr>
        <p:spPr bwMode="auto">
          <a:xfrm>
            <a:off x="395288" y="260350"/>
            <a:ext cx="7416800" cy="3222998"/>
          </a:xfrm>
          <a:prstGeom prst="rect">
            <a:avLst/>
          </a:prstGeom>
          <a:noFill/>
          <a:ln w="12700" cap="sq">
            <a:noFill/>
            <a:miter lim="800000"/>
            <a:headEnd type="none" w="sm" len="sm"/>
            <a:tailEnd type="none" w="sm" len="sm"/>
          </a:ln>
        </p:spPr>
        <p:txBody>
          <a:bodyPr>
            <a:spAutoFit/>
          </a:bodyPr>
          <a:lstStyle/>
          <a:p>
            <a:pPr>
              <a:lnSpc>
                <a:spcPct val="150000"/>
              </a:lnSpc>
            </a:pPr>
            <a:r>
              <a:rPr lang="zh-CN" altLang="en-US" sz="2800" b="0" dirty="0">
                <a:solidFill>
                  <a:schemeClr val="tx1"/>
                </a:solidFill>
                <a:latin typeface="宋体" pitchFamily="2" charset="-122"/>
              </a:rPr>
              <a:t>编码表示法：把一组相斥性的微命令信号组成一个小组</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即一个字段</a:t>
            </a:r>
            <a:r>
              <a:rPr lang="en-US" altLang="zh-CN" sz="2800" b="0" dirty="0">
                <a:solidFill>
                  <a:schemeClr val="tx1"/>
                </a:solidFill>
                <a:latin typeface="宋体" pitchFamily="2" charset="-122"/>
              </a:rPr>
              <a:t>) </a:t>
            </a:r>
            <a:r>
              <a:rPr lang="zh-CN" altLang="en-US" sz="2800" b="0" dirty="0">
                <a:solidFill>
                  <a:schemeClr val="tx1"/>
                </a:solidFill>
                <a:latin typeface="宋体" pitchFamily="2" charset="-122"/>
              </a:rPr>
              <a:t>，每段内采用最短编码法，段与段之间采用直接控制法。然后通过小组</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字段）译码器对每一个微命令信号进行译码，译码输出作为操作控制信号 。</a:t>
            </a:r>
          </a:p>
        </p:txBody>
      </p:sp>
      <p:graphicFrame>
        <p:nvGraphicFramePr>
          <p:cNvPr id="86021" name="Object 0"/>
          <p:cNvGraphicFramePr>
            <a:graphicFrameLocks noChangeAspect="1"/>
          </p:cNvGraphicFramePr>
          <p:nvPr/>
        </p:nvGraphicFramePr>
        <p:xfrm>
          <a:off x="428596" y="3643314"/>
          <a:ext cx="8153400" cy="2417763"/>
        </p:xfrm>
        <a:graphic>
          <a:graphicData uri="http://schemas.openxmlformats.org/presentationml/2006/ole">
            <mc:AlternateContent xmlns:mc="http://schemas.openxmlformats.org/markup-compatibility/2006">
              <mc:Choice xmlns:v="urn:schemas-microsoft-com:vml" Requires="v">
                <p:oleObj spid="_x0000_s86215" name="位图图像" r:id="rId3" imgW="6295238" imgH="1867161" progId="PBrush">
                  <p:embed/>
                </p:oleObj>
              </mc:Choice>
              <mc:Fallback>
                <p:oleObj name="位图图像" r:id="rId3" imgW="6295238" imgH="1867161" progId="PBrush">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96" y="3643314"/>
                        <a:ext cx="8153400" cy="241776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F8EC0FE-E613-4CE3-B114-C4589332264C}" type="slidenum">
              <a:rPr lang="en-US" altLang="zh-CN" smtClean="0"/>
              <a:pPr>
                <a:defRPr/>
              </a:pPr>
              <a:t>81</a:t>
            </a:fld>
            <a:endParaRPr lang="en-US" altLang="zh-CN"/>
          </a:p>
        </p:txBody>
      </p:sp>
      <p:sp>
        <p:nvSpPr>
          <p:cNvPr id="3" name="Rectangle 2"/>
          <p:cNvSpPr>
            <a:spLocks noChangeArrowheads="1"/>
          </p:cNvSpPr>
          <p:nvPr/>
        </p:nvSpPr>
        <p:spPr bwMode="auto">
          <a:xfrm>
            <a:off x="428596" y="3366400"/>
            <a:ext cx="8137525" cy="2893228"/>
          </a:xfrm>
          <a:prstGeom prst="rect">
            <a:avLst/>
          </a:prstGeom>
          <a:noFill/>
          <a:ln w="9525">
            <a:noFill/>
            <a:miter lim="800000"/>
            <a:headEnd/>
            <a:tailEnd/>
          </a:ln>
        </p:spPr>
        <p:txBody>
          <a:bodyPr>
            <a:spAutoFit/>
          </a:bodyPr>
          <a:lstStyle/>
          <a:p>
            <a:pPr>
              <a:lnSpc>
                <a:spcPct val="130000"/>
              </a:lnSpc>
              <a:spcBef>
                <a:spcPts val="0"/>
              </a:spcBef>
              <a:buClr>
                <a:schemeClr val="tx2"/>
              </a:buClr>
              <a:buSzPct val="70000"/>
              <a:buFont typeface="Wingdings" pitchFamily="2" charset="2"/>
              <a:buNone/>
            </a:pPr>
            <a:r>
              <a:rPr lang="zh-CN" altLang="en-US" sz="3600" b="0" dirty="0">
                <a:solidFill>
                  <a:schemeClr val="tx1"/>
                </a:solidFill>
              </a:rPr>
              <a:t>特点：可以用较小的二进制信息位表示较多的微命令信号。可以避免互斥，使指令字大大缩短，但增加了译码电路，使微程序的执行速度减慢</a:t>
            </a:r>
          </a:p>
        </p:txBody>
      </p:sp>
      <p:pic>
        <p:nvPicPr>
          <p:cNvPr id="223234" name="Picture 2"/>
          <p:cNvPicPr>
            <a:picLocks noChangeAspect="1" noChangeArrowheads="1"/>
          </p:cNvPicPr>
          <p:nvPr/>
        </p:nvPicPr>
        <p:blipFill>
          <a:blip r:embed="rId2"/>
          <a:srcRect/>
          <a:stretch>
            <a:fillRect/>
          </a:stretch>
        </p:blipFill>
        <p:spPr bwMode="auto">
          <a:xfrm>
            <a:off x="214282" y="611618"/>
            <a:ext cx="7904058" cy="25717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a:spLocks noGrp="1"/>
          </p:cNvSpPr>
          <p:nvPr>
            <p:ph type="sldNum" sz="quarter" idx="12"/>
          </p:nvPr>
        </p:nvSpPr>
        <p:spPr>
          <a:noFill/>
        </p:spPr>
        <p:txBody>
          <a:bodyPr/>
          <a:lstStyle/>
          <a:p>
            <a:fld id="{CD10122A-590D-4AE5-BA69-841A1484C2E9}" type="slidenum">
              <a:rPr lang="en-US" altLang="zh-CN" smtClean="0"/>
              <a:pPr/>
              <a:t>82</a:t>
            </a:fld>
            <a:endParaRPr lang="en-US" altLang="zh-CN" smtClean="0"/>
          </a:p>
        </p:txBody>
      </p:sp>
      <p:sp>
        <p:nvSpPr>
          <p:cNvPr id="87043" name="Rectangle 2"/>
          <p:cNvSpPr>
            <a:spLocks noGrp="1" noChangeArrowheads="1"/>
          </p:cNvSpPr>
          <p:nvPr>
            <p:ph type="body" idx="1"/>
          </p:nvPr>
        </p:nvSpPr>
        <p:spPr>
          <a:xfrm>
            <a:off x="395288" y="692150"/>
            <a:ext cx="7561262" cy="4176713"/>
          </a:xfrm>
        </p:spPr>
        <p:txBody>
          <a:bodyPr/>
          <a:lstStyle/>
          <a:p>
            <a:pPr marL="571500" indent="-571500" eaLnBrk="1" hangingPunct="1">
              <a:buFont typeface="Wingdings" pitchFamily="2" charset="2"/>
              <a:buNone/>
            </a:pPr>
            <a:r>
              <a:rPr lang="en-US" altLang="zh-CN" sz="3200" smtClean="0">
                <a:latin typeface="宋体" pitchFamily="2" charset="-122"/>
              </a:rPr>
              <a:t> </a:t>
            </a:r>
          </a:p>
        </p:txBody>
      </p:sp>
      <p:sp>
        <p:nvSpPr>
          <p:cNvPr id="87044" name="Rectangle 3"/>
          <p:cNvSpPr>
            <a:spLocks noChangeArrowheads="1"/>
          </p:cNvSpPr>
          <p:nvPr/>
        </p:nvSpPr>
        <p:spPr bwMode="auto">
          <a:xfrm>
            <a:off x="428596" y="542292"/>
            <a:ext cx="7696200" cy="5793894"/>
          </a:xfrm>
          <a:prstGeom prst="rect">
            <a:avLst/>
          </a:prstGeom>
          <a:noFill/>
          <a:ln w="12700" cap="sq">
            <a:noFill/>
            <a:miter lim="800000"/>
            <a:headEnd type="none" w="sm" len="sm"/>
            <a:tailEnd type="none" w="sm" len="sm"/>
          </a:ln>
        </p:spPr>
        <p:txBody>
          <a:bodyPr>
            <a:spAutoFit/>
          </a:bodyPr>
          <a:lstStyle/>
          <a:p>
            <a:pPr>
              <a:lnSpc>
                <a:spcPct val="120000"/>
              </a:lnSpc>
              <a:spcBef>
                <a:spcPts val="600"/>
              </a:spcBef>
              <a:spcAft>
                <a:spcPts val="600"/>
              </a:spcAft>
            </a:pPr>
            <a:r>
              <a:rPr lang="zh-CN" altLang="en-US" sz="3200" b="0" dirty="0">
                <a:solidFill>
                  <a:schemeClr val="tx1"/>
                </a:solidFill>
                <a:latin typeface="宋体" pitchFamily="2" charset="-122"/>
              </a:rPr>
              <a:t>混合编码法：</a:t>
            </a:r>
          </a:p>
          <a:p>
            <a:pPr>
              <a:lnSpc>
                <a:spcPct val="120000"/>
              </a:lnSpc>
              <a:spcBef>
                <a:spcPts val="600"/>
              </a:spcBef>
              <a:spcAft>
                <a:spcPts val="600"/>
              </a:spcAft>
            </a:pPr>
            <a:r>
              <a:rPr lang="zh-CN" altLang="en-US" sz="3200" b="0" dirty="0">
                <a:solidFill>
                  <a:schemeClr val="tx1"/>
                </a:solidFill>
                <a:latin typeface="宋体" pitchFamily="2" charset="-122"/>
              </a:rPr>
              <a:t>    把直接表示法与字段编码法混合使用，以便能综合考虑指令字长、灵活性、执行微程序速度等方面的要求。</a:t>
            </a:r>
          </a:p>
          <a:p>
            <a:pPr>
              <a:lnSpc>
                <a:spcPct val="120000"/>
              </a:lnSpc>
              <a:spcBef>
                <a:spcPts val="600"/>
              </a:spcBef>
              <a:spcAft>
                <a:spcPts val="600"/>
              </a:spcAft>
            </a:pPr>
            <a:r>
              <a:rPr lang="zh-CN" altLang="en-US" sz="3200" b="0" dirty="0">
                <a:solidFill>
                  <a:schemeClr val="tx1"/>
                </a:solidFill>
                <a:latin typeface="宋体" pitchFamily="2" charset="-122"/>
              </a:rPr>
              <a:t>    </a:t>
            </a:r>
          </a:p>
          <a:p>
            <a:pPr>
              <a:lnSpc>
                <a:spcPct val="120000"/>
              </a:lnSpc>
              <a:spcBef>
                <a:spcPts val="600"/>
              </a:spcBef>
              <a:spcAft>
                <a:spcPts val="600"/>
              </a:spcAft>
            </a:pPr>
            <a:r>
              <a:rPr lang="zh-CN" altLang="en-US" sz="3200" b="0" dirty="0">
                <a:solidFill>
                  <a:schemeClr val="tx1"/>
                </a:solidFill>
                <a:latin typeface="宋体" pitchFamily="2" charset="-122"/>
              </a:rPr>
              <a:t>    另外 在微指令中还可附设一个常数字段。该常数可作为操作数送入</a:t>
            </a:r>
            <a:r>
              <a:rPr lang="en-US" altLang="zh-CN" sz="3200" b="0" dirty="0">
                <a:solidFill>
                  <a:schemeClr val="tx1"/>
                </a:solidFill>
                <a:latin typeface="宋体" pitchFamily="2" charset="-122"/>
              </a:rPr>
              <a:t>ALU</a:t>
            </a:r>
            <a:r>
              <a:rPr lang="zh-CN" altLang="en-US" sz="3200" b="0" dirty="0">
                <a:solidFill>
                  <a:schemeClr val="tx1"/>
                </a:solidFill>
                <a:latin typeface="宋体" pitchFamily="2" charset="-122"/>
              </a:rPr>
              <a:t>运算，也可作为计数器初值用来控制微程序循环次数。</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12"/>
          </p:nvPr>
        </p:nvSpPr>
        <p:spPr>
          <a:noFill/>
        </p:spPr>
        <p:txBody>
          <a:bodyPr/>
          <a:lstStyle/>
          <a:p>
            <a:fld id="{074DE407-6F4F-44F8-994A-F48D3C004CD7}" type="slidenum">
              <a:rPr lang="en-US" altLang="zh-CN" smtClean="0"/>
              <a:pPr/>
              <a:t>83</a:t>
            </a:fld>
            <a:endParaRPr lang="en-US" altLang="zh-CN" smtClean="0"/>
          </a:p>
        </p:txBody>
      </p:sp>
      <p:sp>
        <p:nvSpPr>
          <p:cNvPr id="88067" name="Rectangle 2"/>
          <p:cNvSpPr>
            <a:spLocks noChangeArrowheads="1"/>
          </p:cNvSpPr>
          <p:nvPr/>
        </p:nvSpPr>
        <p:spPr bwMode="auto">
          <a:xfrm>
            <a:off x="277362" y="214290"/>
            <a:ext cx="7561262" cy="1050096"/>
          </a:xfrm>
          <a:prstGeom prst="rect">
            <a:avLst/>
          </a:prstGeom>
          <a:noFill/>
          <a:ln w="12700" cap="sq">
            <a:noFill/>
            <a:miter lim="800000"/>
            <a:headEnd type="none" w="sm" len="sm"/>
            <a:tailEnd type="none" w="sm" len="sm"/>
          </a:ln>
        </p:spPr>
        <p:txBody>
          <a:bodyPr>
            <a:spAutoFit/>
          </a:bodyPr>
          <a:lstStyle/>
          <a:p>
            <a:pPr>
              <a:lnSpc>
                <a:spcPct val="110000"/>
              </a:lnSpc>
            </a:pPr>
            <a:r>
              <a:rPr lang="en-US" altLang="zh-CN" sz="3200" b="0" dirty="0" smtClean="0">
                <a:solidFill>
                  <a:schemeClr val="tx1"/>
                </a:solidFill>
                <a:latin typeface="宋体" pitchFamily="2" charset="-122"/>
              </a:rPr>
              <a:t>    </a:t>
            </a:r>
            <a:r>
              <a:rPr lang="zh-CN" altLang="en-US" sz="2800" b="0" dirty="0" smtClean="0">
                <a:solidFill>
                  <a:schemeClr val="tx1"/>
                </a:solidFill>
                <a:latin typeface="宋体" pitchFamily="2" charset="-122"/>
              </a:rPr>
              <a:t>编码注意：字段编码法中操作控制字段并非是任意的，必须要遵循如下的原则：</a:t>
            </a:r>
            <a:endParaRPr lang="zh-CN" altLang="en-US" sz="2800" b="0" dirty="0">
              <a:latin typeface="宋体" pitchFamily="2" charset="-122"/>
            </a:endParaRPr>
          </a:p>
        </p:txBody>
      </p:sp>
      <p:sp>
        <p:nvSpPr>
          <p:cNvPr id="88068" name="Rectangle 3"/>
          <p:cNvSpPr>
            <a:spLocks noChangeArrowheads="1"/>
          </p:cNvSpPr>
          <p:nvPr/>
        </p:nvSpPr>
        <p:spPr bwMode="auto">
          <a:xfrm>
            <a:off x="179388" y="1321023"/>
            <a:ext cx="8459787" cy="5373779"/>
          </a:xfrm>
          <a:prstGeom prst="rect">
            <a:avLst/>
          </a:prstGeom>
          <a:noFill/>
          <a:ln w="12700" cap="sq">
            <a:noFill/>
            <a:miter lim="800000"/>
            <a:headEnd type="none" w="sm" len="sm"/>
            <a:tailEnd type="none" w="sm" len="sm"/>
          </a:ln>
        </p:spPr>
        <p:txBody>
          <a:bodyPr>
            <a:spAutoFit/>
          </a:bodyPr>
          <a:lstStyle/>
          <a:p>
            <a:pPr>
              <a:lnSpc>
                <a:spcPct val="110000"/>
              </a:lnSpc>
            </a:pPr>
            <a:r>
              <a:rPr lang="en-US" altLang="zh-CN" sz="3200" b="0" dirty="0">
                <a:solidFill>
                  <a:schemeClr val="tx1"/>
                </a:solidFill>
                <a:latin typeface="宋体" pitchFamily="2" charset="-122"/>
              </a:rPr>
              <a:t>    </a:t>
            </a:r>
            <a:r>
              <a:rPr lang="en-US" altLang="zh-CN" sz="2800" b="0" dirty="0" smtClean="0">
                <a:solidFill>
                  <a:schemeClr val="tx1"/>
                </a:solidFill>
                <a:latin typeface="宋体" pitchFamily="2" charset="-122"/>
              </a:rPr>
              <a:t>①</a:t>
            </a:r>
            <a:r>
              <a:rPr lang="zh-CN" altLang="en-US" sz="2800" b="0" dirty="0">
                <a:solidFill>
                  <a:schemeClr val="tx1"/>
                </a:solidFill>
                <a:latin typeface="宋体" pitchFamily="2" charset="-122"/>
              </a:rPr>
              <a:t>把互斥性的微命令分在同一段内，兼容性的微命令分在不同段内。这样有助于提高信息的利用率，缩短微指令字长，而且有助于充分利用硬件所具有的并行性，加快执行的速度。</a:t>
            </a:r>
          </a:p>
          <a:p>
            <a:pPr>
              <a:lnSpc>
                <a:spcPct val="110000"/>
              </a:lnSpc>
            </a:pPr>
            <a:r>
              <a:rPr lang="zh-CN" altLang="en-US" sz="2800" b="0" dirty="0">
                <a:solidFill>
                  <a:schemeClr val="tx1"/>
                </a:solidFill>
                <a:latin typeface="宋体" pitchFamily="2" charset="-122"/>
              </a:rPr>
              <a:t>    ②应与数据通路结构相适应。</a:t>
            </a:r>
          </a:p>
          <a:p>
            <a:pPr>
              <a:lnSpc>
                <a:spcPct val="110000"/>
              </a:lnSpc>
            </a:pPr>
            <a:r>
              <a:rPr lang="zh-CN" altLang="en-US" sz="2800" b="0" dirty="0">
                <a:solidFill>
                  <a:schemeClr val="tx1"/>
                </a:solidFill>
                <a:latin typeface="宋体" pitchFamily="2" charset="-122"/>
              </a:rPr>
              <a:t>    ③每个小段中包含的信息位不能太多，否则将增加译码线路的复杂性和译码时间。</a:t>
            </a:r>
          </a:p>
          <a:p>
            <a:pPr>
              <a:lnSpc>
                <a:spcPct val="110000"/>
              </a:lnSpc>
            </a:pPr>
            <a:r>
              <a:rPr lang="zh-CN" altLang="en-US" sz="2800" b="0" dirty="0">
                <a:solidFill>
                  <a:schemeClr val="tx1"/>
                </a:solidFill>
                <a:latin typeface="宋体" pitchFamily="2" charset="-122"/>
              </a:rPr>
              <a:t>    ④一般每个小段还要留出一个状态，表示本字段不发出任何微命令。例如：某字段长度为三位，最多只能表示七个互斥的微命令。</a:t>
            </a:r>
          </a:p>
          <a:p>
            <a:pPr>
              <a:lnSpc>
                <a:spcPct val="110000"/>
              </a:lnSpc>
            </a:pPr>
            <a:r>
              <a:rPr lang="zh-CN" altLang="en-US" sz="2800" b="0" dirty="0">
                <a:latin typeface="宋体" pitchFamily="2" charset="-122"/>
              </a:rPr>
              <a:t>    </a:t>
            </a:r>
            <a:r>
              <a:rPr lang="zh-CN" altLang="en-US" sz="2800" dirty="0">
                <a:latin typeface="宋体" pitchFamily="2" charset="-122"/>
              </a:rPr>
              <a:t>常用</a:t>
            </a:r>
            <a:r>
              <a:rPr lang="en-US" altLang="zh-CN" sz="2800" dirty="0" smtClean="0">
                <a:latin typeface="宋体" pitchFamily="2" charset="-122"/>
              </a:rPr>
              <a:t>0…00</a:t>
            </a:r>
            <a:r>
              <a:rPr lang="zh-CN" altLang="en-US" sz="2800" dirty="0">
                <a:latin typeface="宋体" pitchFamily="2" charset="-122"/>
              </a:rPr>
              <a:t>表示不操作。</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12"/>
          </p:nvPr>
        </p:nvSpPr>
        <p:spPr>
          <a:xfrm>
            <a:off x="6553200" y="5985255"/>
            <a:ext cx="2133600" cy="457200"/>
          </a:xfrm>
          <a:noFill/>
        </p:spPr>
        <p:txBody>
          <a:bodyPr/>
          <a:lstStyle/>
          <a:p>
            <a:fld id="{5EF7F306-3931-48D4-8E49-D45830F1E158}" type="slidenum">
              <a:rPr lang="en-US" altLang="zh-CN" smtClean="0"/>
              <a:pPr/>
              <a:t>84</a:t>
            </a:fld>
            <a:endParaRPr lang="en-US" altLang="zh-CN" smtClean="0"/>
          </a:p>
        </p:txBody>
      </p:sp>
      <p:graphicFrame>
        <p:nvGraphicFramePr>
          <p:cNvPr id="354306" name="Group 2"/>
          <p:cNvGraphicFramePr>
            <a:graphicFrameLocks noGrp="1"/>
          </p:cNvGraphicFramePr>
          <p:nvPr>
            <p:ph idx="1"/>
            <p:extLst>
              <p:ext uri="{D42A27DB-BD31-4B8C-83A1-F6EECF244321}">
                <p14:modId xmlns:p14="http://schemas.microsoft.com/office/powerpoint/2010/main" val="390843606"/>
              </p:ext>
            </p:extLst>
          </p:nvPr>
        </p:nvGraphicFramePr>
        <p:xfrm>
          <a:off x="220020" y="3933056"/>
          <a:ext cx="7345362" cy="717550"/>
        </p:xfrm>
        <a:graphic>
          <a:graphicData uri="http://schemas.openxmlformats.org/drawingml/2006/table">
            <a:tbl>
              <a:tblPr/>
              <a:tblGrid>
                <a:gridCol w="488950"/>
                <a:gridCol w="490537"/>
                <a:gridCol w="488950"/>
                <a:gridCol w="490538"/>
                <a:gridCol w="488950"/>
                <a:gridCol w="490537"/>
                <a:gridCol w="488950"/>
                <a:gridCol w="490538"/>
                <a:gridCol w="488950"/>
                <a:gridCol w="490537"/>
                <a:gridCol w="488950"/>
                <a:gridCol w="490538"/>
                <a:gridCol w="488950"/>
                <a:gridCol w="490537"/>
                <a:gridCol w="488950"/>
              </a:tblGrid>
              <a:tr h="7175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dirty="0" smtClean="0">
                          <a:ln>
                            <a:noFill/>
                          </a:ln>
                          <a:solidFill>
                            <a:schemeClr val="tx1"/>
                          </a:solidFill>
                          <a:effectLst/>
                          <a:latin typeface="Arial"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dirty="0" smtClean="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600" b="0" i="0" u="none" strike="noStrike" cap="none" normalizeH="0" baseline="0" smtClean="0">
                          <a:ln>
                            <a:noFill/>
                          </a:ln>
                          <a:solidFill>
                            <a:schemeClr val="tx1"/>
                          </a:solidFill>
                          <a:effectLst/>
                          <a:latin typeface="Arial"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6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9125" name="AutoShape 36"/>
          <p:cNvSpPr>
            <a:spLocks/>
          </p:cNvSpPr>
          <p:nvPr/>
        </p:nvSpPr>
        <p:spPr bwMode="auto">
          <a:xfrm rot="-5400000">
            <a:off x="5864572" y="3578755"/>
            <a:ext cx="447675" cy="2744787"/>
          </a:xfrm>
          <a:prstGeom prst="leftBrace">
            <a:avLst>
              <a:gd name="adj1" fmla="val 51093"/>
              <a:gd name="adj2" fmla="val 50000"/>
            </a:avLst>
          </a:prstGeom>
          <a:noFill/>
          <a:ln w="9525">
            <a:solidFill>
              <a:schemeClr val="tx1"/>
            </a:solidFill>
            <a:round/>
            <a:headEnd/>
            <a:tailEnd/>
          </a:ln>
        </p:spPr>
        <p:txBody>
          <a:bodyPr wrap="none" anchor="ctr"/>
          <a:lstStyle/>
          <a:p>
            <a:endParaRPr lang="zh-CN" altLang="en-US"/>
          </a:p>
        </p:txBody>
      </p:sp>
      <p:sp>
        <p:nvSpPr>
          <p:cNvPr id="89126" name="AutoShape 37"/>
          <p:cNvSpPr>
            <a:spLocks/>
          </p:cNvSpPr>
          <p:nvPr/>
        </p:nvSpPr>
        <p:spPr bwMode="auto">
          <a:xfrm rot="-5400000">
            <a:off x="1979959" y="4583643"/>
            <a:ext cx="360363" cy="647700"/>
          </a:xfrm>
          <a:prstGeom prst="leftBrace">
            <a:avLst>
              <a:gd name="adj1" fmla="val 14978"/>
              <a:gd name="adj2" fmla="val 50000"/>
            </a:avLst>
          </a:prstGeom>
          <a:noFill/>
          <a:ln w="9525">
            <a:solidFill>
              <a:schemeClr val="tx1"/>
            </a:solidFill>
            <a:round/>
            <a:headEnd/>
            <a:tailEnd/>
          </a:ln>
        </p:spPr>
        <p:txBody>
          <a:bodyPr wrap="none" anchor="ctr"/>
          <a:lstStyle/>
          <a:p>
            <a:endParaRPr lang="zh-CN" altLang="en-US"/>
          </a:p>
        </p:txBody>
      </p:sp>
      <p:sp>
        <p:nvSpPr>
          <p:cNvPr id="89127" name="AutoShape 38"/>
          <p:cNvSpPr>
            <a:spLocks/>
          </p:cNvSpPr>
          <p:nvPr/>
        </p:nvSpPr>
        <p:spPr bwMode="auto">
          <a:xfrm rot="-5400000">
            <a:off x="2916584" y="4583643"/>
            <a:ext cx="360363" cy="647700"/>
          </a:xfrm>
          <a:prstGeom prst="leftBrace">
            <a:avLst>
              <a:gd name="adj1" fmla="val 14978"/>
              <a:gd name="adj2" fmla="val 50000"/>
            </a:avLst>
          </a:prstGeom>
          <a:noFill/>
          <a:ln w="9525">
            <a:solidFill>
              <a:schemeClr val="tx1"/>
            </a:solidFill>
            <a:round/>
            <a:headEnd/>
            <a:tailEnd/>
          </a:ln>
        </p:spPr>
        <p:txBody>
          <a:bodyPr wrap="none" anchor="ctr"/>
          <a:lstStyle/>
          <a:p>
            <a:endParaRPr lang="zh-CN" altLang="en-US"/>
          </a:p>
        </p:txBody>
      </p:sp>
      <p:sp>
        <p:nvSpPr>
          <p:cNvPr id="89128" name="AutoShape 39"/>
          <p:cNvSpPr>
            <a:spLocks/>
          </p:cNvSpPr>
          <p:nvPr/>
        </p:nvSpPr>
        <p:spPr bwMode="auto">
          <a:xfrm rot="-5400000">
            <a:off x="3924646" y="4583643"/>
            <a:ext cx="360363" cy="647700"/>
          </a:xfrm>
          <a:prstGeom prst="leftBrace">
            <a:avLst>
              <a:gd name="adj1" fmla="val 14978"/>
              <a:gd name="adj2" fmla="val 50000"/>
            </a:avLst>
          </a:prstGeom>
          <a:noFill/>
          <a:ln w="9525">
            <a:solidFill>
              <a:schemeClr val="tx1"/>
            </a:solidFill>
            <a:round/>
            <a:headEnd/>
            <a:tailEnd/>
          </a:ln>
        </p:spPr>
        <p:txBody>
          <a:bodyPr wrap="none" anchor="ctr"/>
          <a:lstStyle/>
          <a:p>
            <a:endParaRPr lang="zh-CN" altLang="en-US"/>
          </a:p>
        </p:txBody>
      </p:sp>
      <p:sp>
        <p:nvSpPr>
          <p:cNvPr id="89129" name="Text Box 40"/>
          <p:cNvSpPr txBox="1">
            <a:spLocks noChangeArrowheads="1"/>
          </p:cNvSpPr>
          <p:nvPr/>
        </p:nvSpPr>
        <p:spPr bwMode="auto">
          <a:xfrm>
            <a:off x="5522466" y="5211499"/>
            <a:ext cx="1210588" cy="400110"/>
          </a:xfrm>
          <a:prstGeom prst="rect">
            <a:avLst/>
          </a:prstGeom>
          <a:noFill/>
          <a:ln w="9525">
            <a:noFill/>
            <a:miter lim="800000"/>
            <a:headEnd/>
            <a:tailEnd/>
          </a:ln>
        </p:spPr>
        <p:txBody>
          <a:bodyPr wrap="none">
            <a:spAutoFit/>
          </a:bodyPr>
          <a:lstStyle/>
          <a:p>
            <a:r>
              <a:rPr kumimoji="1" lang="zh-CN" altLang="en-US" sz="2000" b="0" dirty="0">
                <a:solidFill>
                  <a:schemeClr val="tx1"/>
                </a:solidFill>
                <a:latin typeface="Times New Roman" pitchFamily="18" charset="0"/>
              </a:rPr>
              <a:t>顺序控制</a:t>
            </a:r>
          </a:p>
        </p:txBody>
      </p:sp>
      <p:sp>
        <p:nvSpPr>
          <p:cNvPr id="89130" name="Text Box 41"/>
          <p:cNvSpPr txBox="1">
            <a:spLocks noChangeArrowheads="1"/>
          </p:cNvSpPr>
          <p:nvPr/>
        </p:nvSpPr>
        <p:spPr bwMode="auto">
          <a:xfrm>
            <a:off x="1047353" y="5135299"/>
            <a:ext cx="1403648" cy="1631216"/>
          </a:xfrm>
          <a:prstGeom prst="rect">
            <a:avLst/>
          </a:prstGeom>
          <a:noFill/>
          <a:ln w="9525">
            <a:noFill/>
            <a:miter lim="800000"/>
            <a:headEnd/>
            <a:tailEnd/>
          </a:ln>
        </p:spPr>
        <p:txBody>
          <a:bodyPr wrap="square">
            <a:spAutoFit/>
          </a:bodyPr>
          <a:lstStyle/>
          <a:p>
            <a:r>
              <a:rPr kumimoji="1" lang="en-US" altLang="zh-CN" sz="2000" b="0" dirty="0">
                <a:solidFill>
                  <a:schemeClr val="tx1"/>
                </a:solidFill>
                <a:latin typeface="宋体" pitchFamily="2" charset="-122"/>
              </a:rPr>
              <a:t>4</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5</a:t>
            </a:r>
            <a:r>
              <a:rPr kumimoji="1" lang="zh-CN" altLang="en-US" sz="2000" b="0" dirty="0">
                <a:solidFill>
                  <a:schemeClr val="tx1"/>
                </a:solidFill>
                <a:latin typeface="宋体" pitchFamily="2" charset="-122"/>
              </a:rPr>
              <a:t>：</a:t>
            </a:r>
          </a:p>
          <a:p>
            <a:r>
              <a:rPr kumimoji="1" lang="en-US" altLang="zh-CN" sz="2000" b="0" dirty="0">
                <a:solidFill>
                  <a:schemeClr val="tx1"/>
                </a:solidFill>
                <a:latin typeface="宋体" pitchFamily="2" charset="-122"/>
              </a:rPr>
              <a:t>00 </a:t>
            </a:r>
            <a:r>
              <a:rPr kumimoji="1" lang="zh-CN" altLang="en-US" sz="2000" b="0" dirty="0" smtClean="0">
                <a:solidFill>
                  <a:schemeClr val="tx1"/>
                </a:solidFill>
                <a:latin typeface="宋体" pitchFamily="2" charset="-122"/>
              </a:rPr>
              <a:t>无</a:t>
            </a:r>
            <a:r>
              <a:rPr kumimoji="1" lang="zh-CN" altLang="en-US" sz="2000" b="0" dirty="0">
                <a:solidFill>
                  <a:schemeClr val="tx1"/>
                </a:solidFill>
                <a:latin typeface="宋体" pitchFamily="2" charset="-122"/>
              </a:rPr>
              <a:t>操作</a:t>
            </a:r>
          </a:p>
          <a:p>
            <a:r>
              <a:rPr kumimoji="1" lang="en-US" altLang="zh-CN" sz="2000" b="0" dirty="0">
                <a:solidFill>
                  <a:schemeClr val="tx1"/>
                </a:solidFill>
                <a:latin typeface="宋体" pitchFamily="2" charset="-122"/>
              </a:rPr>
              <a:t>01 </a:t>
            </a:r>
            <a:r>
              <a:rPr kumimoji="1" lang="en-US" altLang="zh-CN" sz="2000" b="0" dirty="0" smtClean="0">
                <a:solidFill>
                  <a:schemeClr val="tx1"/>
                </a:solidFill>
                <a:latin typeface="宋体" pitchFamily="2" charset="-122"/>
              </a:rPr>
              <a:t>R1</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&gt;X</a:t>
            </a:r>
          </a:p>
          <a:p>
            <a:r>
              <a:rPr kumimoji="1" lang="en-US" altLang="zh-CN" sz="2000" b="0" dirty="0">
                <a:solidFill>
                  <a:schemeClr val="tx1"/>
                </a:solidFill>
                <a:latin typeface="宋体" pitchFamily="2" charset="-122"/>
              </a:rPr>
              <a:t>10 </a:t>
            </a:r>
            <a:r>
              <a:rPr kumimoji="1" lang="en-US" altLang="zh-CN" sz="2000" b="0" dirty="0" smtClean="0">
                <a:solidFill>
                  <a:schemeClr val="tx1"/>
                </a:solidFill>
                <a:latin typeface="宋体" pitchFamily="2" charset="-122"/>
              </a:rPr>
              <a:t>R2</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&gt;X</a:t>
            </a:r>
          </a:p>
          <a:p>
            <a:r>
              <a:rPr kumimoji="1" lang="en-US" altLang="zh-CN" sz="2000" b="0" dirty="0">
                <a:solidFill>
                  <a:schemeClr val="tx1"/>
                </a:solidFill>
                <a:latin typeface="宋体" pitchFamily="2" charset="-122"/>
              </a:rPr>
              <a:t>11 </a:t>
            </a:r>
            <a:r>
              <a:rPr kumimoji="1" lang="en-US" altLang="zh-CN" sz="2000" b="0" dirty="0" smtClean="0">
                <a:solidFill>
                  <a:schemeClr val="tx1"/>
                </a:solidFill>
                <a:latin typeface="宋体" pitchFamily="2" charset="-122"/>
              </a:rPr>
              <a:t>DR</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&gt;X</a:t>
            </a:r>
            <a:endParaRPr kumimoji="1" lang="en-US" altLang="zh-CN" sz="2000" b="0" dirty="0">
              <a:solidFill>
                <a:schemeClr val="tx1"/>
              </a:solidFill>
              <a:latin typeface="Times New Roman" pitchFamily="18" charset="0"/>
            </a:endParaRPr>
          </a:p>
        </p:txBody>
      </p:sp>
      <p:sp>
        <p:nvSpPr>
          <p:cNvPr id="89131" name="Text Box 42"/>
          <p:cNvSpPr txBox="1">
            <a:spLocks noChangeArrowheads="1"/>
          </p:cNvSpPr>
          <p:nvPr/>
        </p:nvSpPr>
        <p:spPr bwMode="auto">
          <a:xfrm>
            <a:off x="2605781" y="5135299"/>
            <a:ext cx="1485033" cy="1631216"/>
          </a:xfrm>
          <a:prstGeom prst="rect">
            <a:avLst/>
          </a:prstGeom>
          <a:noFill/>
          <a:ln w="9525">
            <a:noFill/>
            <a:miter lim="800000"/>
            <a:headEnd/>
            <a:tailEnd/>
          </a:ln>
        </p:spPr>
        <p:txBody>
          <a:bodyPr wrap="square">
            <a:spAutoFit/>
          </a:bodyPr>
          <a:lstStyle/>
          <a:p>
            <a:r>
              <a:rPr kumimoji="1" lang="en-US" altLang="zh-CN" sz="2000" b="0" dirty="0">
                <a:solidFill>
                  <a:schemeClr val="tx1"/>
                </a:solidFill>
                <a:latin typeface="宋体" pitchFamily="2" charset="-122"/>
              </a:rPr>
              <a:t>6</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7</a:t>
            </a:r>
            <a:r>
              <a:rPr kumimoji="1" lang="zh-CN" altLang="en-US" sz="2000" b="0" dirty="0">
                <a:solidFill>
                  <a:schemeClr val="tx1"/>
                </a:solidFill>
                <a:latin typeface="宋体" pitchFamily="2" charset="-122"/>
              </a:rPr>
              <a:t>：</a:t>
            </a:r>
          </a:p>
          <a:p>
            <a:r>
              <a:rPr kumimoji="1" lang="en-US" altLang="zh-CN" sz="2000" b="0" dirty="0">
                <a:solidFill>
                  <a:schemeClr val="tx1"/>
                </a:solidFill>
                <a:latin typeface="宋体" pitchFamily="2" charset="-122"/>
              </a:rPr>
              <a:t>00 </a:t>
            </a:r>
            <a:r>
              <a:rPr kumimoji="1" lang="zh-CN" altLang="en-US" sz="2000" b="0" dirty="0" smtClean="0">
                <a:solidFill>
                  <a:schemeClr val="tx1"/>
                </a:solidFill>
                <a:latin typeface="宋体" pitchFamily="2" charset="-122"/>
              </a:rPr>
              <a:t>无</a:t>
            </a:r>
            <a:r>
              <a:rPr kumimoji="1" lang="zh-CN" altLang="en-US" sz="2000" b="0" dirty="0">
                <a:solidFill>
                  <a:schemeClr val="tx1"/>
                </a:solidFill>
                <a:latin typeface="宋体" pitchFamily="2" charset="-122"/>
              </a:rPr>
              <a:t>操作</a:t>
            </a:r>
          </a:p>
          <a:p>
            <a:r>
              <a:rPr kumimoji="1" lang="en-US" altLang="zh-CN" sz="2000" b="0" dirty="0">
                <a:solidFill>
                  <a:schemeClr val="tx1"/>
                </a:solidFill>
                <a:latin typeface="宋体" pitchFamily="2" charset="-122"/>
              </a:rPr>
              <a:t>01 </a:t>
            </a:r>
            <a:r>
              <a:rPr kumimoji="1" lang="en-US" altLang="zh-CN" sz="2000" b="0" dirty="0" smtClean="0">
                <a:solidFill>
                  <a:schemeClr val="tx1"/>
                </a:solidFill>
                <a:latin typeface="宋体" pitchFamily="2" charset="-122"/>
              </a:rPr>
              <a:t>R3</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&gt;Y</a:t>
            </a:r>
          </a:p>
          <a:p>
            <a:r>
              <a:rPr kumimoji="1" lang="en-US" altLang="zh-CN" sz="2000" b="0" dirty="0">
                <a:solidFill>
                  <a:schemeClr val="tx1"/>
                </a:solidFill>
                <a:latin typeface="宋体" pitchFamily="2" charset="-122"/>
              </a:rPr>
              <a:t>10 </a:t>
            </a:r>
            <a:r>
              <a:rPr kumimoji="1" lang="en-US" altLang="zh-CN" sz="2000" b="0" dirty="0" smtClean="0">
                <a:solidFill>
                  <a:schemeClr val="tx1"/>
                </a:solidFill>
                <a:latin typeface="宋体" pitchFamily="2" charset="-122"/>
              </a:rPr>
              <a:t>R2</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&gt;Y</a:t>
            </a:r>
          </a:p>
          <a:p>
            <a:r>
              <a:rPr kumimoji="1" lang="en-US" altLang="zh-CN" sz="2000" b="0" dirty="0">
                <a:solidFill>
                  <a:schemeClr val="tx1"/>
                </a:solidFill>
                <a:latin typeface="宋体" pitchFamily="2" charset="-122"/>
              </a:rPr>
              <a:t>11 </a:t>
            </a:r>
            <a:r>
              <a:rPr kumimoji="1" lang="en-US" altLang="zh-CN" sz="2000" b="0" dirty="0" smtClean="0">
                <a:solidFill>
                  <a:schemeClr val="tx1"/>
                </a:solidFill>
                <a:latin typeface="宋体" pitchFamily="2" charset="-122"/>
              </a:rPr>
              <a:t>R1</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&gt;Y</a:t>
            </a:r>
            <a:r>
              <a:rPr kumimoji="1" lang="en-US" altLang="zh-CN" sz="2000" b="0" dirty="0">
                <a:solidFill>
                  <a:schemeClr val="tx1"/>
                </a:solidFill>
                <a:latin typeface="Times New Roman" pitchFamily="18" charset="0"/>
              </a:rPr>
              <a:t> </a:t>
            </a:r>
          </a:p>
        </p:txBody>
      </p:sp>
      <p:sp>
        <p:nvSpPr>
          <p:cNvPr id="89132" name="Text Box 43"/>
          <p:cNvSpPr txBox="1">
            <a:spLocks noChangeArrowheads="1"/>
          </p:cNvSpPr>
          <p:nvPr/>
        </p:nvSpPr>
        <p:spPr bwMode="auto">
          <a:xfrm>
            <a:off x="4146823" y="5154349"/>
            <a:ext cx="1331565" cy="1631216"/>
          </a:xfrm>
          <a:prstGeom prst="rect">
            <a:avLst/>
          </a:prstGeom>
          <a:noFill/>
          <a:ln w="9525">
            <a:noFill/>
            <a:miter lim="800000"/>
            <a:headEnd/>
            <a:tailEnd/>
          </a:ln>
        </p:spPr>
        <p:txBody>
          <a:bodyPr wrap="square">
            <a:spAutoFit/>
          </a:bodyPr>
          <a:lstStyle/>
          <a:p>
            <a:r>
              <a:rPr kumimoji="1" lang="en-US" altLang="zh-CN" sz="2000" b="0" dirty="0">
                <a:solidFill>
                  <a:schemeClr val="tx1"/>
                </a:solidFill>
                <a:latin typeface="宋体" pitchFamily="2" charset="-122"/>
              </a:rPr>
              <a:t>8</a:t>
            </a:r>
            <a:r>
              <a:rPr kumimoji="1" lang="zh-CN" altLang="en-US" sz="2000" b="0" dirty="0">
                <a:solidFill>
                  <a:schemeClr val="tx1"/>
                </a:solidFill>
                <a:latin typeface="宋体" pitchFamily="2" charset="-122"/>
              </a:rPr>
              <a:t>、</a:t>
            </a:r>
            <a:r>
              <a:rPr kumimoji="1" lang="en-US" altLang="zh-CN" sz="2000" b="0" dirty="0">
                <a:solidFill>
                  <a:schemeClr val="tx1"/>
                </a:solidFill>
                <a:latin typeface="宋体" pitchFamily="2" charset="-122"/>
              </a:rPr>
              <a:t>9</a:t>
            </a:r>
            <a:r>
              <a:rPr kumimoji="1" lang="zh-CN" altLang="en-US" sz="2000" b="0" dirty="0">
                <a:solidFill>
                  <a:schemeClr val="tx1"/>
                </a:solidFill>
                <a:latin typeface="宋体" pitchFamily="2" charset="-122"/>
              </a:rPr>
              <a:t>：</a:t>
            </a:r>
          </a:p>
          <a:p>
            <a:r>
              <a:rPr kumimoji="1" lang="en-US" altLang="zh-CN" sz="2000" b="0" dirty="0">
                <a:solidFill>
                  <a:schemeClr val="tx1"/>
                </a:solidFill>
                <a:latin typeface="宋体" pitchFamily="2" charset="-122"/>
              </a:rPr>
              <a:t>00 </a:t>
            </a:r>
            <a:r>
              <a:rPr kumimoji="1" lang="zh-CN" altLang="en-US" sz="2000" b="0" dirty="0" smtClean="0">
                <a:solidFill>
                  <a:schemeClr val="tx1"/>
                </a:solidFill>
                <a:latin typeface="宋体" pitchFamily="2" charset="-122"/>
              </a:rPr>
              <a:t>无</a:t>
            </a:r>
            <a:r>
              <a:rPr kumimoji="1" lang="zh-CN" altLang="en-US" sz="2000" b="0" dirty="0">
                <a:solidFill>
                  <a:schemeClr val="tx1"/>
                </a:solidFill>
                <a:latin typeface="宋体" pitchFamily="2" charset="-122"/>
              </a:rPr>
              <a:t>操作</a:t>
            </a:r>
          </a:p>
          <a:p>
            <a:r>
              <a:rPr kumimoji="1" lang="en-US" altLang="zh-CN" sz="2000" b="0" dirty="0">
                <a:solidFill>
                  <a:schemeClr val="tx1"/>
                </a:solidFill>
                <a:latin typeface="宋体" pitchFamily="2" charset="-122"/>
              </a:rPr>
              <a:t>01 </a:t>
            </a:r>
            <a:r>
              <a:rPr kumimoji="1" lang="zh-CN" altLang="en-US" sz="2000" b="0" dirty="0" smtClean="0">
                <a:solidFill>
                  <a:schemeClr val="tx1"/>
                </a:solidFill>
                <a:latin typeface="宋体" pitchFamily="2" charset="-122"/>
              </a:rPr>
              <a:t>＋</a:t>
            </a:r>
            <a:endParaRPr kumimoji="1" lang="zh-CN" altLang="en-US" sz="2000" b="0" dirty="0">
              <a:solidFill>
                <a:schemeClr val="tx1"/>
              </a:solidFill>
              <a:latin typeface="宋体" pitchFamily="2" charset="-122"/>
            </a:endParaRPr>
          </a:p>
          <a:p>
            <a:r>
              <a:rPr kumimoji="1" lang="en-US" altLang="zh-CN" sz="2000" b="0" dirty="0">
                <a:solidFill>
                  <a:schemeClr val="tx1"/>
                </a:solidFill>
                <a:latin typeface="宋体" pitchFamily="2" charset="-122"/>
              </a:rPr>
              <a:t>10 </a:t>
            </a:r>
            <a:r>
              <a:rPr kumimoji="1" lang="zh-CN" altLang="en-US" sz="2000" b="0" dirty="0" smtClean="0">
                <a:solidFill>
                  <a:schemeClr val="tx1"/>
                </a:solidFill>
                <a:latin typeface="宋体" pitchFamily="2" charset="-122"/>
              </a:rPr>
              <a:t>－</a:t>
            </a:r>
            <a:endParaRPr kumimoji="1" lang="zh-CN" altLang="en-US" sz="2000" b="0" dirty="0">
              <a:solidFill>
                <a:schemeClr val="tx1"/>
              </a:solidFill>
              <a:latin typeface="宋体" pitchFamily="2" charset="-122"/>
            </a:endParaRPr>
          </a:p>
          <a:p>
            <a:r>
              <a:rPr kumimoji="1" lang="en-US" altLang="zh-CN" sz="2000" b="0" dirty="0">
                <a:solidFill>
                  <a:schemeClr val="tx1"/>
                </a:solidFill>
                <a:latin typeface="宋体" pitchFamily="2" charset="-122"/>
              </a:rPr>
              <a:t>11 </a:t>
            </a:r>
            <a:r>
              <a:rPr kumimoji="1" lang="en-US" altLang="zh-CN" sz="2000" b="0" dirty="0" smtClean="0">
                <a:solidFill>
                  <a:schemeClr val="tx1"/>
                </a:solidFill>
                <a:latin typeface="宋体" pitchFamily="2" charset="-122"/>
              </a:rPr>
              <a:t>M</a:t>
            </a:r>
            <a:r>
              <a:rPr kumimoji="1" lang="en-US" altLang="zh-CN" sz="2000" b="0" dirty="0" smtClean="0">
                <a:solidFill>
                  <a:schemeClr val="tx1"/>
                </a:solidFill>
                <a:latin typeface="Times New Roman" pitchFamily="18" charset="0"/>
              </a:rPr>
              <a:t>   </a:t>
            </a:r>
            <a:r>
              <a:rPr kumimoji="1" lang="en-US" altLang="zh-CN" sz="2000" b="0" dirty="0">
                <a:solidFill>
                  <a:schemeClr val="tx1"/>
                </a:solidFill>
                <a:latin typeface="Times New Roman" pitchFamily="18" charset="0"/>
              </a:rPr>
              <a:t>	</a:t>
            </a:r>
          </a:p>
        </p:txBody>
      </p:sp>
      <p:sp>
        <p:nvSpPr>
          <p:cNvPr id="89133" name="Text Box 44"/>
          <p:cNvSpPr txBox="1">
            <a:spLocks noChangeArrowheads="1"/>
          </p:cNvSpPr>
          <p:nvPr/>
        </p:nvSpPr>
        <p:spPr bwMode="auto">
          <a:xfrm>
            <a:off x="5089773" y="1581175"/>
            <a:ext cx="3312988" cy="1938992"/>
          </a:xfrm>
          <a:prstGeom prst="rect">
            <a:avLst/>
          </a:prstGeom>
          <a:noFill/>
          <a:ln w="9525">
            <a:noFill/>
            <a:miter lim="800000"/>
            <a:headEnd/>
            <a:tailEnd/>
          </a:ln>
        </p:spPr>
        <p:txBody>
          <a:bodyPr wrap="square">
            <a:spAutoFit/>
          </a:bodyPr>
          <a:lstStyle/>
          <a:p>
            <a:r>
              <a:rPr kumimoji="1" lang="zh-CN" altLang="en-US" sz="2400" b="0" dirty="0">
                <a:solidFill>
                  <a:schemeClr val="tx1"/>
                </a:solidFill>
                <a:latin typeface="宋体" pitchFamily="2" charset="-122"/>
              </a:rPr>
              <a:t>混和表示法</a:t>
            </a:r>
          </a:p>
          <a:p>
            <a:pPr>
              <a:buFontTx/>
              <a:buChar char="•"/>
            </a:pPr>
            <a:r>
              <a:rPr kumimoji="1" lang="en-US" altLang="zh-CN" sz="2400" b="0" dirty="0">
                <a:solidFill>
                  <a:schemeClr val="tx1"/>
                </a:solidFill>
                <a:latin typeface="宋体" pitchFamily="2" charset="-122"/>
              </a:rPr>
              <a:t>1</a:t>
            </a:r>
            <a:r>
              <a:rPr kumimoji="1" lang="zh-CN" altLang="en-US" sz="2400" b="0" dirty="0">
                <a:solidFill>
                  <a:schemeClr val="tx1"/>
                </a:solidFill>
                <a:latin typeface="宋体" pitchFamily="2" charset="-122"/>
              </a:rPr>
              <a:t>、</a:t>
            </a:r>
            <a:r>
              <a:rPr kumimoji="1" lang="en-US" altLang="zh-CN" sz="2400" b="0" dirty="0">
                <a:solidFill>
                  <a:schemeClr val="tx1"/>
                </a:solidFill>
                <a:latin typeface="宋体" pitchFamily="2" charset="-122"/>
              </a:rPr>
              <a:t>2</a:t>
            </a:r>
            <a:r>
              <a:rPr kumimoji="1" lang="zh-CN" altLang="en-US" sz="2400" b="0" dirty="0">
                <a:solidFill>
                  <a:schemeClr val="tx1"/>
                </a:solidFill>
                <a:latin typeface="宋体" pitchFamily="2" charset="-122"/>
              </a:rPr>
              <a:t>、</a:t>
            </a:r>
            <a:r>
              <a:rPr kumimoji="1" lang="en-US" altLang="zh-CN" sz="2400" b="0" dirty="0">
                <a:solidFill>
                  <a:schemeClr val="tx1"/>
                </a:solidFill>
                <a:latin typeface="宋体" pitchFamily="2" charset="-122"/>
              </a:rPr>
              <a:t>3</a:t>
            </a:r>
            <a:r>
              <a:rPr kumimoji="1" lang="zh-CN" altLang="en-US" sz="2400" b="0" dirty="0">
                <a:solidFill>
                  <a:schemeClr val="tx1"/>
                </a:solidFill>
                <a:latin typeface="宋体" pitchFamily="2" charset="-122"/>
              </a:rPr>
              <a:t>位</a:t>
            </a:r>
            <a:r>
              <a:rPr kumimoji="1" lang="zh-CN" altLang="en-US" sz="2400" b="0" dirty="0" smtClean="0">
                <a:solidFill>
                  <a:schemeClr val="tx1"/>
                </a:solidFill>
                <a:latin typeface="宋体" pitchFamily="2" charset="-122"/>
              </a:rPr>
              <a:t>为</a:t>
            </a:r>
            <a:endParaRPr kumimoji="1" lang="en-US" altLang="zh-CN" sz="2400" b="0" dirty="0" smtClean="0">
              <a:solidFill>
                <a:schemeClr val="tx1"/>
              </a:solidFill>
              <a:latin typeface="宋体" pitchFamily="2" charset="-122"/>
            </a:endParaRPr>
          </a:p>
          <a:p>
            <a:r>
              <a:rPr kumimoji="1" lang="en-US" altLang="zh-CN" sz="2400" b="0" dirty="0" smtClean="0">
                <a:solidFill>
                  <a:schemeClr val="tx1"/>
                </a:solidFill>
                <a:latin typeface="宋体" pitchFamily="2" charset="-122"/>
              </a:rPr>
              <a:t> </a:t>
            </a:r>
            <a:r>
              <a:rPr kumimoji="1" lang="zh-CN" altLang="en-US" sz="2400" b="0" dirty="0" smtClean="0">
                <a:solidFill>
                  <a:schemeClr val="tx1"/>
                </a:solidFill>
                <a:latin typeface="宋体" pitchFamily="2" charset="-122"/>
              </a:rPr>
              <a:t>直接</a:t>
            </a:r>
            <a:r>
              <a:rPr kumimoji="1" lang="zh-CN" altLang="en-US" sz="2400" b="0" dirty="0">
                <a:solidFill>
                  <a:schemeClr val="tx1"/>
                </a:solidFill>
                <a:latin typeface="宋体" pitchFamily="2" charset="-122"/>
              </a:rPr>
              <a:t>表示法</a:t>
            </a:r>
          </a:p>
          <a:p>
            <a:pPr>
              <a:buFontTx/>
              <a:buChar char="•"/>
            </a:pPr>
            <a:r>
              <a:rPr kumimoji="1" lang="en-US" altLang="zh-CN" sz="2400" b="0" dirty="0">
                <a:solidFill>
                  <a:schemeClr val="tx1"/>
                </a:solidFill>
                <a:latin typeface="宋体" pitchFamily="2" charset="-122"/>
              </a:rPr>
              <a:t>4</a:t>
            </a:r>
            <a:r>
              <a:rPr kumimoji="1" lang="zh-CN" altLang="en-US" sz="2400" b="0" dirty="0">
                <a:solidFill>
                  <a:schemeClr val="tx1"/>
                </a:solidFill>
                <a:latin typeface="宋体" pitchFamily="2" charset="-122"/>
              </a:rPr>
              <a:t>、</a:t>
            </a:r>
            <a:r>
              <a:rPr kumimoji="1" lang="en-US" altLang="zh-CN" sz="2400" b="0" dirty="0">
                <a:solidFill>
                  <a:schemeClr val="tx1"/>
                </a:solidFill>
                <a:latin typeface="宋体" pitchFamily="2" charset="-122"/>
              </a:rPr>
              <a:t>5; 6</a:t>
            </a:r>
            <a:r>
              <a:rPr kumimoji="1" lang="zh-CN" altLang="en-US" sz="2400" b="0" dirty="0">
                <a:solidFill>
                  <a:schemeClr val="tx1"/>
                </a:solidFill>
                <a:latin typeface="宋体" pitchFamily="2" charset="-122"/>
              </a:rPr>
              <a:t>、</a:t>
            </a:r>
            <a:r>
              <a:rPr kumimoji="1" lang="en-US" altLang="zh-CN" sz="2400" b="0" dirty="0">
                <a:solidFill>
                  <a:schemeClr val="tx1"/>
                </a:solidFill>
                <a:latin typeface="宋体" pitchFamily="2" charset="-122"/>
              </a:rPr>
              <a:t>7; </a:t>
            </a:r>
            <a:endParaRPr kumimoji="1" lang="en-US" altLang="zh-CN" sz="2400" b="0" dirty="0" smtClean="0">
              <a:solidFill>
                <a:schemeClr val="tx1"/>
              </a:solidFill>
              <a:latin typeface="宋体" pitchFamily="2" charset="-122"/>
            </a:endParaRPr>
          </a:p>
          <a:p>
            <a:r>
              <a:rPr kumimoji="1" lang="en-US" altLang="zh-CN" sz="2400" b="0" dirty="0">
                <a:solidFill>
                  <a:schemeClr val="tx1"/>
                </a:solidFill>
                <a:latin typeface="宋体" pitchFamily="2" charset="-122"/>
              </a:rPr>
              <a:t> </a:t>
            </a:r>
            <a:r>
              <a:rPr kumimoji="1" lang="en-US" altLang="zh-CN" sz="2400" b="0" dirty="0" smtClean="0">
                <a:solidFill>
                  <a:schemeClr val="tx1"/>
                </a:solidFill>
                <a:latin typeface="宋体" pitchFamily="2" charset="-122"/>
              </a:rPr>
              <a:t>8</a:t>
            </a:r>
            <a:r>
              <a:rPr kumimoji="1" lang="zh-CN" altLang="en-US" sz="2400" b="0" dirty="0" smtClean="0">
                <a:solidFill>
                  <a:schemeClr val="tx1"/>
                </a:solidFill>
                <a:latin typeface="宋体" pitchFamily="2" charset="-122"/>
              </a:rPr>
              <a:t>、</a:t>
            </a:r>
            <a:r>
              <a:rPr kumimoji="1" lang="en-US" altLang="zh-CN" sz="2400" b="0" dirty="0" smtClean="0">
                <a:solidFill>
                  <a:schemeClr val="tx1"/>
                </a:solidFill>
                <a:latin typeface="宋体" pitchFamily="2" charset="-122"/>
              </a:rPr>
              <a:t>9</a:t>
            </a:r>
            <a:r>
              <a:rPr kumimoji="1" lang="zh-CN" altLang="en-US" sz="2400" b="0" dirty="0">
                <a:solidFill>
                  <a:schemeClr val="tx1"/>
                </a:solidFill>
                <a:latin typeface="宋体" pitchFamily="2" charset="-122"/>
              </a:rPr>
              <a:t>位为编码表示法</a:t>
            </a:r>
          </a:p>
        </p:txBody>
      </p:sp>
      <p:pic>
        <p:nvPicPr>
          <p:cNvPr id="13" name="Picture 5"/>
          <p:cNvPicPr>
            <a:picLocks noChangeAspect="1" noChangeArrowheads="1"/>
          </p:cNvPicPr>
          <p:nvPr/>
        </p:nvPicPr>
        <p:blipFill>
          <a:blip r:embed="rId2"/>
          <a:srcRect/>
          <a:stretch>
            <a:fillRect/>
          </a:stretch>
        </p:blipFill>
        <p:spPr bwMode="auto">
          <a:xfrm>
            <a:off x="250304" y="188640"/>
            <a:ext cx="4633966" cy="36167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p:spPr>
        <p:txBody>
          <a:bodyPr/>
          <a:lstStyle/>
          <a:p>
            <a:fld id="{1AB5CFFF-7A78-4586-97EC-FF078BE70536}" type="slidenum">
              <a:rPr lang="en-US" altLang="zh-CN" smtClean="0"/>
              <a:pPr/>
              <a:t>85</a:t>
            </a:fld>
            <a:endParaRPr lang="en-US" altLang="zh-CN" dirty="0" smtClean="0"/>
          </a:p>
        </p:txBody>
      </p:sp>
      <p:sp>
        <p:nvSpPr>
          <p:cNvPr id="91139" name="Rectangle 2"/>
          <p:cNvSpPr>
            <a:spLocks noChangeArrowheads="1"/>
          </p:cNvSpPr>
          <p:nvPr/>
        </p:nvSpPr>
        <p:spPr bwMode="auto">
          <a:xfrm>
            <a:off x="250825" y="333375"/>
            <a:ext cx="7634288" cy="1373188"/>
          </a:xfrm>
          <a:prstGeom prst="rect">
            <a:avLst/>
          </a:prstGeom>
          <a:noFill/>
          <a:ln w="12700" cap="sq">
            <a:noFill/>
            <a:miter lim="800000"/>
            <a:headEnd type="none" w="sm" len="sm"/>
            <a:tailEnd type="none" w="sm" len="sm"/>
          </a:ln>
        </p:spPr>
        <p:txBody>
          <a:bodyPr anchor="ctr">
            <a:spAutoFit/>
          </a:bodyPr>
          <a:lstStyle/>
          <a:p>
            <a:pPr eaLnBrk="0" hangingPunct="0"/>
            <a:r>
              <a:rPr lang="en-US" altLang="zh-CN" sz="2800" b="0" dirty="0" smtClean="0">
                <a:solidFill>
                  <a:srgbClr val="0000FF"/>
                </a:solidFill>
                <a:latin typeface="宋体" pitchFamily="2" charset="-122"/>
              </a:rPr>
              <a:t>P187</a:t>
            </a:r>
            <a:r>
              <a:rPr lang="zh-CN" altLang="en-US" sz="2800" b="0" dirty="0" smtClean="0">
                <a:solidFill>
                  <a:srgbClr val="0000FF"/>
                </a:solidFill>
                <a:latin typeface="宋体" pitchFamily="2" charset="-122"/>
              </a:rPr>
              <a:t>、</a:t>
            </a:r>
            <a:r>
              <a:rPr lang="zh-CN" altLang="en-US" sz="2800" b="0" dirty="0">
                <a:solidFill>
                  <a:srgbClr val="0000FF"/>
                </a:solidFill>
                <a:latin typeface="宋体" pitchFamily="2" charset="-122"/>
              </a:rPr>
              <a:t>习题</a:t>
            </a:r>
            <a:r>
              <a:rPr lang="en-US" altLang="zh-CN" sz="2800" b="0" dirty="0">
                <a:solidFill>
                  <a:srgbClr val="0000FF"/>
                </a:solidFill>
                <a:latin typeface="宋体" pitchFamily="2" charset="-122"/>
              </a:rPr>
              <a:t>8</a:t>
            </a:r>
          </a:p>
          <a:p>
            <a:pPr eaLnBrk="0" hangingPunct="0"/>
            <a:r>
              <a:rPr lang="en-US" altLang="zh-CN" sz="2800" b="0" dirty="0">
                <a:solidFill>
                  <a:schemeClr val="tx1"/>
                </a:solidFill>
                <a:latin typeface="宋体" pitchFamily="2" charset="-122"/>
              </a:rPr>
              <a:t>    </a:t>
            </a:r>
            <a:r>
              <a:rPr lang="zh-CN" altLang="en-US" sz="2800" b="0" dirty="0">
                <a:solidFill>
                  <a:schemeClr val="tx1"/>
                </a:solidFill>
                <a:latin typeface="宋体" pitchFamily="2" charset="-122"/>
              </a:rPr>
              <a:t>某计算机有</a:t>
            </a:r>
            <a:r>
              <a:rPr lang="en-US" altLang="zh-CN" sz="2800" b="0" dirty="0">
                <a:solidFill>
                  <a:schemeClr val="tx1"/>
                </a:solidFill>
                <a:latin typeface="宋体" pitchFamily="2" charset="-122"/>
              </a:rPr>
              <a:t>8</a:t>
            </a:r>
            <a:r>
              <a:rPr lang="zh-CN" altLang="en-US" sz="2800" b="0" dirty="0">
                <a:solidFill>
                  <a:schemeClr val="tx1"/>
                </a:solidFill>
                <a:latin typeface="宋体" pitchFamily="2" charset="-122"/>
              </a:rPr>
              <a:t>条微指令</a:t>
            </a:r>
            <a:r>
              <a:rPr lang="en-US" altLang="zh-CN" sz="2800" b="0" dirty="0">
                <a:solidFill>
                  <a:schemeClr val="tx1"/>
                </a:solidFill>
                <a:latin typeface="宋体" pitchFamily="2" charset="-122"/>
              </a:rPr>
              <a:t>I1—I8</a:t>
            </a:r>
            <a:r>
              <a:rPr lang="zh-CN" altLang="en-US" sz="2800" b="0" dirty="0">
                <a:solidFill>
                  <a:schemeClr val="tx1"/>
                </a:solidFill>
                <a:latin typeface="宋体" pitchFamily="2" charset="-122"/>
              </a:rPr>
              <a:t>，每条微指令所包含的微命令控制信号见下表</a:t>
            </a:r>
          </a:p>
        </p:txBody>
      </p:sp>
      <p:sp>
        <p:nvSpPr>
          <p:cNvPr id="91141" name="Rectangle 4"/>
          <p:cNvSpPr>
            <a:spLocks noChangeArrowheads="1"/>
          </p:cNvSpPr>
          <p:nvPr/>
        </p:nvSpPr>
        <p:spPr bwMode="auto">
          <a:xfrm>
            <a:off x="323850" y="4724400"/>
            <a:ext cx="8208963" cy="1373188"/>
          </a:xfrm>
          <a:prstGeom prst="rect">
            <a:avLst/>
          </a:prstGeom>
          <a:noFill/>
          <a:ln w="12700" cap="sq">
            <a:noFill/>
            <a:miter lim="800000"/>
            <a:headEnd type="none" w="sm" len="sm"/>
            <a:tailEnd type="none" w="sm" len="sm"/>
          </a:ln>
        </p:spPr>
        <p:txBody>
          <a:bodyPr anchor="ctr">
            <a:spAutoFit/>
          </a:bodyPr>
          <a:lstStyle/>
          <a:p>
            <a:pPr eaLnBrk="0" hangingPunct="0"/>
            <a:r>
              <a:rPr lang="en-US" altLang="zh-CN" sz="2800" b="0">
                <a:solidFill>
                  <a:schemeClr val="tx1"/>
                </a:solidFill>
                <a:latin typeface="宋体" pitchFamily="2" charset="-122"/>
              </a:rPr>
              <a:t>    a-j </a:t>
            </a:r>
            <a:r>
              <a:rPr lang="zh-CN" altLang="en-US" sz="2800" b="0">
                <a:solidFill>
                  <a:schemeClr val="tx1"/>
                </a:solidFill>
                <a:latin typeface="宋体" pitchFamily="2" charset="-122"/>
              </a:rPr>
              <a:t>分别对应</a:t>
            </a:r>
            <a:r>
              <a:rPr lang="en-US" altLang="zh-CN" sz="2800" b="0">
                <a:solidFill>
                  <a:schemeClr val="tx1"/>
                </a:solidFill>
                <a:latin typeface="宋体" pitchFamily="2" charset="-122"/>
              </a:rPr>
              <a:t>10</a:t>
            </a:r>
            <a:r>
              <a:rPr lang="zh-CN" altLang="en-US" sz="2800" b="0">
                <a:solidFill>
                  <a:schemeClr val="tx1"/>
                </a:solidFill>
                <a:latin typeface="宋体" pitchFamily="2" charset="-122"/>
              </a:rPr>
              <a:t>种不同性质的微命令信号。假设一条微指令的控制字段仅限</a:t>
            </a:r>
            <a:r>
              <a:rPr lang="en-US" altLang="zh-CN" sz="2800" b="0">
                <a:solidFill>
                  <a:schemeClr val="tx1"/>
                </a:solidFill>
                <a:latin typeface="宋体" pitchFamily="2" charset="-122"/>
              </a:rPr>
              <a:t>8</a:t>
            </a:r>
            <a:r>
              <a:rPr lang="zh-CN" altLang="en-US" sz="2800" b="0">
                <a:solidFill>
                  <a:schemeClr val="tx1"/>
                </a:solidFill>
                <a:latin typeface="宋体" pitchFamily="2" charset="-122"/>
              </a:rPr>
              <a:t>位，请安排微指令的控制字段格式。</a:t>
            </a:r>
          </a:p>
        </p:txBody>
      </p:sp>
      <p:pic>
        <p:nvPicPr>
          <p:cNvPr id="284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10" y="1903760"/>
            <a:ext cx="8324104"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3"/>
          <p:cNvSpPr>
            <a:spLocks noGrp="1"/>
          </p:cNvSpPr>
          <p:nvPr>
            <p:ph type="sldNum" sz="quarter" idx="12"/>
          </p:nvPr>
        </p:nvSpPr>
        <p:spPr>
          <a:noFill/>
        </p:spPr>
        <p:txBody>
          <a:bodyPr/>
          <a:lstStyle/>
          <a:p>
            <a:fld id="{617299BB-B553-4C08-A934-62B6F1DE54AE}" type="slidenum">
              <a:rPr lang="en-US" altLang="zh-CN" smtClean="0"/>
              <a:pPr/>
              <a:t>86</a:t>
            </a:fld>
            <a:endParaRPr lang="en-US" altLang="zh-CN" smtClean="0"/>
          </a:p>
        </p:txBody>
      </p:sp>
      <p:sp>
        <p:nvSpPr>
          <p:cNvPr id="92163" name="Rectangle 2"/>
          <p:cNvSpPr>
            <a:spLocks noChangeArrowheads="1"/>
          </p:cNvSpPr>
          <p:nvPr/>
        </p:nvSpPr>
        <p:spPr bwMode="auto">
          <a:xfrm>
            <a:off x="179388" y="333375"/>
            <a:ext cx="8353425" cy="1403350"/>
          </a:xfrm>
          <a:prstGeom prst="rect">
            <a:avLst/>
          </a:prstGeom>
          <a:noFill/>
          <a:ln w="12700" cap="sq">
            <a:noFill/>
            <a:miter lim="800000"/>
            <a:headEnd type="none" w="sm" len="sm"/>
            <a:tailEnd type="none" w="sm" len="sm"/>
          </a:ln>
        </p:spPr>
        <p:txBody>
          <a:bodyPr anchor="ctr">
            <a:spAutoFit/>
          </a:bodyPr>
          <a:lstStyle/>
          <a:p>
            <a:pPr eaLnBrk="0" hangingPunct="0"/>
            <a:r>
              <a:rPr lang="zh-CN" altLang="en-US" sz="3000" b="0" dirty="0">
                <a:solidFill>
                  <a:srgbClr val="0000FF"/>
                </a:solidFill>
                <a:latin typeface="宋体" pitchFamily="2" charset="-122"/>
              </a:rPr>
              <a:t>解：</a:t>
            </a:r>
            <a:r>
              <a:rPr lang="zh-CN" altLang="en-US" sz="2800" b="0" dirty="0">
                <a:solidFill>
                  <a:schemeClr val="tx1"/>
                </a:solidFill>
                <a:latin typeface="宋体" pitchFamily="2" charset="-122"/>
              </a:rPr>
              <a:t>为了压缩指令字的长度，必须设法把一个微</a:t>
            </a:r>
          </a:p>
          <a:p>
            <a:pPr eaLnBrk="0" hangingPunct="0"/>
            <a:r>
              <a:rPr lang="zh-CN" altLang="en-US" sz="2800" b="0" dirty="0">
                <a:solidFill>
                  <a:schemeClr val="tx1"/>
                </a:solidFill>
                <a:latin typeface="宋体" pitchFamily="2" charset="-122"/>
              </a:rPr>
              <a:t>    指令周期中的互斥性微命令信号组合在一个</a:t>
            </a:r>
          </a:p>
          <a:p>
            <a:pPr eaLnBrk="0" hangingPunct="0"/>
            <a:r>
              <a:rPr lang="zh-CN" altLang="en-US" sz="2800" b="0" dirty="0">
                <a:solidFill>
                  <a:schemeClr val="tx1"/>
                </a:solidFill>
                <a:latin typeface="宋体" pitchFamily="2" charset="-122"/>
              </a:rPr>
              <a:t>    小组中，进行分组译码。</a:t>
            </a:r>
            <a:endParaRPr lang="zh-CN" altLang="en-US" sz="3000" b="0" dirty="0">
              <a:solidFill>
                <a:schemeClr val="tx1"/>
              </a:solidFill>
              <a:latin typeface="宋体" pitchFamily="2" charset="-122"/>
            </a:endParaRPr>
          </a:p>
        </p:txBody>
      </p:sp>
      <p:sp>
        <p:nvSpPr>
          <p:cNvPr id="92164" name="Rectangle 3"/>
          <p:cNvSpPr>
            <a:spLocks noChangeArrowheads="1"/>
          </p:cNvSpPr>
          <p:nvPr/>
        </p:nvSpPr>
        <p:spPr bwMode="auto">
          <a:xfrm>
            <a:off x="323850" y="4365625"/>
            <a:ext cx="7920038" cy="1800225"/>
          </a:xfrm>
          <a:prstGeom prst="rect">
            <a:avLst/>
          </a:prstGeom>
          <a:noFill/>
          <a:ln w="12700" cap="sq">
            <a:noFill/>
            <a:miter lim="800000"/>
            <a:headEnd type="none" w="sm" len="sm"/>
            <a:tailEnd type="none" w="sm" len="sm"/>
          </a:ln>
        </p:spPr>
        <p:txBody>
          <a:bodyPr>
            <a:spAutoFit/>
          </a:bodyPr>
          <a:lstStyle/>
          <a:p>
            <a:r>
              <a:rPr lang="en-US" altLang="zh-CN" sz="2800" b="0" dirty="0">
                <a:solidFill>
                  <a:schemeClr val="tx1"/>
                </a:solidFill>
                <a:latin typeface="宋体" pitchFamily="2" charset="-122"/>
              </a:rPr>
              <a:t>    </a:t>
            </a:r>
            <a:r>
              <a:rPr lang="zh-CN" altLang="en-US" sz="2800" b="0" dirty="0">
                <a:solidFill>
                  <a:schemeClr val="tx1"/>
                </a:solidFill>
                <a:latin typeface="宋体" pitchFamily="2" charset="-122"/>
              </a:rPr>
              <a:t>经分析，（</a:t>
            </a:r>
            <a:r>
              <a:rPr lang="en-US" altLang="zh-CN" sz="2800" b="0" dirty="0">
                <a:solidFill>
                  <a:schemeClr val="tx1"/>
                </a:solidFill>
                <a:latin typeface="宋体" pitchFamily="2" charset="-122"/>
              </a:rPr>
              <a:t>e ,f ,h</a:t>
            </a:r>
            <a:r>
              <a:rPr lang="zh-CN" altLang="en-US" sz="2800" b="0" dirty="0">
                <a:solidFill>
                  <a:schemeClr val="tx1"/>
                </a:solidFill>
                <a:latin typeface="宋体" pitchFamily="2" charset="-122"/>
              </a:rPr>
              <a:t>）和（</a:t>
            </a:r>
            <a:r>
              <a:rPr lang="en-US" altLang="zh-CN" sz="2800" b="0" dirty="0">
                <a:solidFill>
                  <a:schemeClr val="tx1"/>
                </a:solidFill>
                <a:latin typeface="宋体" pitchFamily="2" charset="-122"/>
              </a:rPr>
              <a:t>b, </a:t>
            </a:r>
            <a:r>
              <a:rPr lang="en-US" altLang="zh-CN" sz="2800" b="0" dirty="0" smtClean="0">
                <a:solidFill>
                  <a:schemeClr val="tx1"/>
                </a:solidFill>
                <a:latin typeface="宋体" pitchFamily="2" charset="-122"/>
              </a:rPr>
              <a:t>g, </a:t>
            </a:r>
            <a:r>
              <a:rPr lang="en-US" altLang="zh-CN" sz="2800" b="0" dirty="0">
                <a:solidFill>
                  <a:schemeClr val="tx1"/>
                </a:solidFill>
                <a:latin typeface="宋体" pitchFamily="2" charset="-122"/>
              </a:rPr>
              <a:t>j</a:t>
            </a:r>
            <a:r>
              <a:rPr lang="zh-CN" altLang="en-US" sz="2800" b="0" dirty="0">
                <a:solidFill>
                  <a:schemeClr val="tx1"/>
                </a:solidFill>
                <a:latin typeface="宋体" pitchFamily="2" charset="-122"/>
              </a:rPr>
              <a:t>）可分别组成两个小组或两个字段，然后进行译码，可得六个微命令信号，剩下的</a:t>
            </a:r>
            <a:r>
              <a:rPr lang="en-US" altLang="zh-CN" sz="2800" b="0" dirty="0">
                <a:solidFill>
                  <a:schemeClr val="tx1"/>
                </a:solidFill>
                <a:latin typeface="宋体" pitchFamily="2" charset="-122"/>
              </a:rPr>
              <a:t>a, c, d, </a:t>
            </a:r>
            <a:r>
              <a:rPr lang="en-US" altLang="zh-CN" sz="2800" b="0" dirty="0" err="1" smtClean="0">
                <a:solidFill>
                  <a:schemeClr val="tx1"/>
                </a:solidFill>
                <a:latin typeface="宋体" pitchFamily="2" charset="-122"/>
              </a:rPr>
              <a:t>i</a:t>
            </a:r>
            <a:r>
              <a:rPr lang="en-US" altLang="zh-CN" sz="2800" b="0" dirty="0" smtClean="0">
                <a:solidFill>
                  <a:schemeClr val="tx1"/>
                </a:solidFill>
                <a:latin typeface="宋体" pitchFamily="2" charset="-122"/>
              </a:rPr>
              <a:t> </a:t>
            </a:r>
            <a:r>
              <a:rPr lang="zh-CN" altLang="en-US" sz="2800" b="0" dirty="0">
                <a:solidFill>
                  <a:schemeClr val="tx1"/>
                </a:solidFill>
                <a:latin typeface="宋体" pitchFamily="2" charset="-122"/>
              </a:rPr>
              <a:t>四个微命令信号可进行直接控制。</a:t>
            </a:r>
          </a:p>
        </p:txBody>
      </p:sp>
      <p:pic>
        <p:nvPicPr>
          <p:cNvPr id="285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426" y="1781840"/>
            <a:ext cx="7790775" cy="2442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椭圆 1"/>
          <p:cNvSpPr/>
          <p:nvPr/>
        </p:nvSpPr>
        <p:spPr bwMode="auto">
          <a:xfrm>
            <a:off x="4182269" y="1866032"/>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9" name="椭圆 8"/>
          <p:cNvSpPr/>
          <p:nvPr/>
        </p:nvSpPr>
        <p:spPr bwMode="auto">
          <a:xfrm>
            <a:off x="4893469" y="1854984"/>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10" name="椭圆 9"/>
          <p:cNvSpPr/>
          <p:nvPr/>
        </p:nvSpPr>
        <p:spPr bwMode="auto">
          <a:xfrm>
            <a:off x="6269712" y="1866032"/>
            <a:ext cx="288131" cy="288032"/>
          </a:xfrm>
          <a:prstGeom prst="ellipse">
            <a:avLst/>
          </a:prstGeom>
          <a:noFill/>
          <a:ln w="57150" cap="sq">
            <a:solidFill>
              <a:srgbClr val="FF3300"/>
            </a:solidFill>
            <a:round/>
            <a:headEnd type="none" w="sm" len="sm"/>
            <a:tailEnd type="none" w="sm" len="sm"/>
          </a:ln>
        </p:spPr>
        <p:txBody>
          <a:bodyPr wrap="none" rtlCol="0" anchor="ctr"/>
          <a:lstStyle/>
          <a:p>
            <a:pPr algn="ctr"/>
            <a:endParaRPr lang="zh-CN" altLang="en-US"/>
          </a:p>
        </p:txBody>
      </p:sp>
      <p:sp>
        <p:nvSpPr>
          <p:cNvPr id="11" name="椭圆 10"/>
          <p:cNvSpPr/>
          <p:nvPr/>
        </p:nvSpPr>
        <p:spPr bwMode="auto">
          <a:xfrm>
            <a:off x="2103408" y="1832640"/>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sp>
        <p:nvSpPr>
          <p:cNvPr id="12" name="椭圆 11"/>
          <p:cNvSpPr/>
          <p:nvPr/>
        </p:nvSpPr>
        <p:spPr bwMode="auto">
          <a:xfrm>
            <a:off x="5591160" y="1887424"/>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sp>
        <p:nvSpPr>
          <p:cNvPr id="13" name="椭圆 12"/>
          <p:cNvSpPr/>
          <p:nvPr/>
        </p:nvSpPr>
        <p:spPr bwMode="auto">
          <a:xfrm>
            <a:off x="7678504" y="1866032"/>
            <a:ext cx="288131" cy="288032"/>
          </a:xfrm>
          <a:prstGeom prst="ellipse">
            <a:avLst/>
          </a:prstGeom>
          <a:noFill/>
          <a:ln w="57150" cap="sq">
            <a:solidFill>
              <a:srgbClr val="2453CA"/>
            </a:solidFill>
            <a:round/>
            <a:headEnd type="none" w="sm" len="sm"/>
            <a:tailEnd type="none" w="sm" len="sm"/>
          </a:ln>
        </p:spPr>
        <p:txBody>
          <a:bodyPr wrap="none" rtlCol="0" anchor="ctr"/>
          <a:lstStyle/>
          <a:p>
            <a:pPr algn="ctr"/>
            <a:endParaRPr lang="zh-CN" altLang="en-US"/>
          </a:p>
        </p:txBody>
      </p:sp>
      <p:pic>
        <p:nvPicPr>
          <p:cNvPr id="285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00" y="4318848"/>
            <a:ext cx="8066732"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1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5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2" grpId="0" animBg="1"/>
      <p:bldP spid="9" grpId="0" animBg="1"/>
      <p:bldP spid="10" grpId="0" animBg="1"/>
      <p:bldP spid="11" grpId="0" animBg="1"/>
      <p:bldP spid="12" grpId="0" animBg="1"/>
      <p:bldP spid="1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p:cNvSpPr>
            <a:spLocks noGrp="1"/>
          </p:cNvSpPr>
          <p:nvPr>
            <p:ph type="sldNum" sz="quarter" idx="12"/>
          </p:nvPr>
        </p:nvSpPr>
        <p:spPr>
          <a:noFill/>
        </p:spPr>
        <p:txBody>
          <a:bodyPr/>
          <a:lstStyle/>
          <a:p>
            <a:fld id="{1DB71F3A-32AA-485A-9C01-26EBD76A5207}" type="slidenum">
              <a:rPr lang="en-US" altLang="zh-CN" smtClean="0"/>
              <a:pPr/>
              <a:t>87</a:t>
            </a:fld>
            <a:endParaRPr lang="en-US" altLang="zh-CN" smtClean="0"/>
          </a:p>
        </p:txBody>
      </p:sp>
      <p:pic>
        <p:nvPicPr>
          <p:cNvPr id="93187" name="Picture 2" descr="jxnr676"/>
          <p:cNvPicPr>
            <a:picLocks noChangeAspect="1" noChangeArrowheads="1"/>
          </p:cNvPicPr>
          <p:nvPr/>
        </p:nvPicPr>
        <p:blipFill>
          <a:blip r:embed="rId3"/>
          <a:srcRect/>
          <a:stretch>
            <a:fillRect/>
          </a:stretch>
        </p:blipFill>
        <p:spPr bwMode="auto">
          <a:xfrm>
            <a:off x="609600" y="3200400"/>
            <a:ext cx="7086600" cy="3352800"/>
          </a:xfrm>
          <a:prstGeom prst="rect">
            <a:avLst/>
          </a:prstGeom>
          <a:noFill/>
          <a:ln w="9525">
            <a:noFill/>
            <a:miter lim="800000"/>
            <a:headEnd/>
            <a:tailEnd/>
          </a:ln>
        </p:spPr>
      </p:pic>
      <p:sp>
        <p:nvSpPr>
          <p:cNvPr id="93188" name="Rectangle 3"/>
          <p:cNvSpPr>
            <a:spLocks noChangeArrowheads="1"/>
          </p:cNvSpPr>
          <p:nvPr/>
        </p:nvSpPr>
        <p:spPr bwMode="auto">
          <a:xfrm>
            <a:off x="228600" y="152400"/>
            <a:ext cx="8686800" cy="3051175"/>
          </a:xfrm>
          <a:prstGeom prst="rect">
            <a:avLst/>
          </a:prstGeom>
          <a:solidFill>
            <a:schemeClr val="bg1"/>
          </a:solidFill>
          <a:ln w="9525">
            <a:noFill/>
            <a:miter lim="800000"/>
            <a:headEnd/>
            <a:tailEnd/>
          </a:ln>
        </p:spPr>
        <p:txBody>
          <a:bodyPr>
            <a:spAutoFit/>
          </a:bodyPr>
          <a:lstStyle/>
          <a:p>
            <a:pPr>
              <a:spcBef>
                <a:spcPct val="50000"/>
              </a:spcBef>
              <a:buClr>
                <a:schemeClr val="tx2"/>
              </a:buClr>
              <a:buSzPct val="70000"/>
              <a:buFont typeface="Wingdings" pitchFamily="2" charset="2"/>
              <a:buNone/>
            </a:pPr>
            <a:r>
              <a:rPr lang="zh-CN" altLang="en-US" sz="4000" b="0">
                <a:solidFill>
                  <a:schemeClr val="tx1"/>
                </a:solidFill>
                <a:latin typeface="宋体" pitchFamily="2" charset="-122"/>
              </a:rPr>
              <a:t>二、微指令地址的形成</a:t>
            </a:r>
          </a:p>
          <a:p>
            <a:pPr>
              <a:spcBef>
                <a:spcPct val="50000"/>
              </a:spcBef>
              <a:buClr>
                <a:schemeClr val="tx2"/>
              </a:buClr>
              <a:buSzPct val="70000"/>
              <a:buFont typeface="Wingdings" pitchFamily="2" charset="2"/>
              <a:buNone/>
            </a:pPr>
            <a:r>
              <a:rPr lang="zh-CN" altLang="en-US" sz="2800" b="0">
                <a:solidFill>
                  <a:schemeClr val="tx1"/>
                </a:solidFill>
                <a:latin typeface="宋体" pitchFamily="2" charset="-122"/>
              </a:rPr>
              <a:t>    入口地址：每条机器指令对应一段微程序，当公用的取指微程序从主存中取出机器指令之后，由机器指令的操作码字段指出各段微程序的入口地址。如果机器指令操作码字段的位数和位置固定，可以直接使操作码与微程序入口地址的部分位相对应。</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12"/>
          </p:nvPr>
        </p:nvSpPr>
        <p:spPr>
          <a:noFill/>
        </p:spPr>
        <p:txBody>
          <a:bodyPr/>
          <a:lstStyle/>
          <a:p>
            <a:fld id="{B06670A0-B0DA-4774-957D-D2BA098C30D1}" type="slidenum">
              <a:rPr lang="en-US" altLang="zh-CN" smtClean="0"/>
              <a:pPr/>
              <a:t>88</a:t>
            </a:fld>
            <a:endParaRPr lang="en-US" altLang="zh-CN" smtClean="0"/>
          </a:p>
        </p:txBody>
      </p:sp>
      <p:sp>
        <p:nvSpPr>
          <p:cNvPr id="94211" name="Rectangle 2"/>
          <p:cNvSpPr>
            <a:spLocks noChangeArrowheads="1"/>
          </p:cNvSpPr>
          <p:nvPr/>
        </p:nvSpPr>
        <p:spPr bwMode="auto">
          <a:xfrm>
            <a:off x="304800" y="152400"/>
            <a:ext cx="8610600" cy="6491288"/>
          </a:xfrm>
          <a:prstGeom prst="rect">
            <a:avLst/>
          </a:prstGeom>
          <a:solidFill>
            <a:schemeClr val="bg1"/>
          </a:solidFill>
          <a:ln w="9525">
            <a:noFill/>
            <a:miter lim="800000"/>
            <a:headEnd/>
            <a:tailEnd/>
          </a:ln>
        </p:spPr>
        <p:txBody>
          <a:bodyPr>
            <a:spAutoFit/>
          </a:bodyPr>
          <a:lstStyle/>
          <a:p>
            <a:pPr>
              <a:spcBef>
                <a:spcPct val="50000"/>
              </a:spcBef>
            </a:pPr>
            <a:r>
              <a:rPr lang="zh-CN" altLang="en-US" sz="3600">
                <a:solidFill>
                  <a:schemeClr val="tx1"/>
                </a:solidFill>
                <a:latin typeface="宋体" pitchFamily="2" charset="-122"/>
              </a:rPr>
              <a:t>后继微地址形成方法</a:t>
            </a:r>
          </a:p>
          <a:p>
            <a:pPr>
              <a:spcBef>
                <a:spcPct val="50000"/>
              </a:spcBef>
            </a:pPr>
            <a:r>
              <a:rPr lang="en-US" altLang="zh-CN" sz="3200">
                <a:solidFill>
                  <a:schemeClr val="tx1"/>
                </a:solidFill>
                <a:latin typeface="宋体" pitchFamily="2" charset="-122"/>
              </a:rPr>
              <a:t>1</a:t>
            </a:r>
            <a:r>
              <a:rPr lang="zh-CN" altLang="en-US" sz="3200">
                <a:solidFill>
                  <a:schemeClr val="tx1"/>
                </a:solidFill>
                <a:latin typeface="宋体" pitchFamily="2" charset="-122"/>
              </a:rPr>
              <a:t>、计数器的方式</a:t>
            </a:r>
            <a:r>
              <a:rPr lang="zh-CN" altLang="en-US" sz="3200" b="0">
                <a:solidFill>
                  <a:schemeClr val="tx1"/>
                </a:solidFill>
                <a:latin typeface="宋体" pitchFamily="2" charset="-122"/>
              </a:rPr>
              <a:t> </a:t>
            </a:r>
          </a:p>
          <a:p>
            <a:pPr>
              <a:spcBef>
                <a:spcPct val="50000"/>
              </a:spcBef>
            </a:pPr>
            <a:r>
              <a:rPr lang="zh-CN" altLang="en-US" sz="3200" b="0">
                <a:solidFill>
                  <a:schemeClr val="tx1"/>
                </a:solidFill>
                <a:latin typeface="宋体" pitchFamily="2" charset="-122"/>
              </a:rPr>
              <a:t>    这种方法同用程序计数器来产生机器指令地址的方法相类似。在顺序执行微指令时，后继微地址由现行微地址加上一个增量来产生（通常为“</a:t>
            </a:r>
            <a:r>
              <a:rPr lang="en-US" altLang="zh-CN" sz="3200" b="0">
                <a:solidFill>
                  <a:schemeClr val="tx1"/>
                </a:solidFill>
                <a:latin typeface="宋体" pitchFamily="2" charset="-122"/>
              </a:rPr>
              <a:t>1”</a:t>
            </a:r>
            <a:r>
              <a:rPr lang="zh-CN" altLang="en-US" sz="3200" b="0">
                <a:solidFill>
                  <a:schemeClr val="tx1"/>
                </a:solidFill>
                <a:latin typeface="宋体" pitchFamily="2" charset="-122"/>
              </a:rPr>
              <a:t>）；转移或转子程序时，由微指令的顺序控制字段产生转移微地址。因此，在微程序控制器中应当有一个微程序计数器。为了降低成本，一般情况下都是将微地址寄存器改为具有计数功能的寄存器，以代替微程序计数器。为此，每条机器指令所对应的一段微程序一般安排在控制存储器的连续单元中。</a:t>
            </a:r>
          </a:p>
        </p:txBody>
      </p:sp>
      <p:sp>
        <p:nvSpPr>
          <p:cNvPr id="360451" name="Rectangle 3"/>
          <p:cNvSpPr>
            <a:spLocks noChangeArrowheads="1"/>
          </p:cNvSpPr>
          <p:nvPr/>
        </p:nvSpPr>
        <p:spPr bwMode="auto">
          <a:xfrm>
            <a:off x="228600" y="228600"/>
            <a:ext cx="8686800" cy="1554163"/>
          </a:xfrm>
          <a:prstGeom prst="rect">
            <a:avLst/>
          </a:prstGeom>
          <a:solidFill>
            <a:srgbClr val="66FFFF"/>
          </a:solidFill>
          <a:ln w="9525">
            <a:noFill/>
            <a:miter lim="800000"/>
            <a:headEnd/>
            <a:tailEnd/>
          </a:ln>
        </p:spPr>
        <p:txBody>
          <a:bodyPr>
            <a:spAutoFit/>
          </a:bodyPr>
          <a:lstStyle/>
          <a:p>
            <a:pPr>
              <a:spcBef>
                <a:spcPct val="50000"/>
              </a:spcBef>
            </a:pPr>
            <a:r>
              <a:rPr lang="zh-CN" altLang="en-US" sz="3200" b="0" dirty="0">
                <a:solidFill>
                  <a:schemeClr val="tx1"/>
                </a:solidFill>
                <a:latin typeface="宋体" pitchFamily="2" charset="-122"/>
              </a:rPr>
              <a:t>特点：优点是简单、易于掌握，编制微程序容易。缺点是这种方式不能实现两路以上的并行微程序转移，不利于提高微程序的执行速度。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0451"/>
                                        </p:tgtEl>
                                        <p:attrNameLst>
                                          <p:attrName>style.visibility</p:attrName>
                                        </p:attrNameLst>
                                      </p:cBhvr>
                                      <p:to>
                                        <p:strVal val="visible"/>
                                      </p:to>
                                    </p:set>
                                    <p:animEffect transition="in" filter="dissolve">
                                      <p:cBhvr>
                                        <p:cTn id="7" dur="500"/>
                                        <p:tgtEl>
                                          <p:spTgt spid="360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12"/>
          </p:nvPr>
        </p:nvSpPr>
        <p:spPr>
          <a:noFill/>
        </p:spPr>
        <p:txBody>
          <a:bodyPr/>
          <a:lstStyle/>
          <a:p>
            <a:fld id="{CEFCFF00-6707-4D10-A730-C65AFA013B96}" type="slidenum">
              <a:rPr lang="en-US" altLang="zh-CN" smtClean="0"/>
              <a:pPr/>
              <a:t>89</a:t>
            </a:fld>
            <a:endParaRPr lang="en-US" altLang="zh-CN" smtClean="0"/>
          </a:p>
        </p:txBody>
      </p:sp>
      <p:sp>
        <p:nvSpPr>
          <p:cNvPr id="95235" name="Rectangle 2"/>
          <p:cNvSpPr>
            <a:spLocks noChangeArrowheads="1"/>
          </p:cNvSpPr>
          <p:nvPr/>
        </p:nvSpPr>
        <p:spPr bwMode="auto">
          <a:xfrm>
            <a:off x="152400" y="152400"/>
            <a:ext cx="8839200" cy="3508375"/>
          </a:xfrm>
          <a:prstGeom prst="rect">
            <a:avLst/>
          </a:prstGeom>
          <a:solidFill>
            <a:schemeClr val="bg1"/>
          </a:solidFill>
          <a:ln w="12700" cap="sq">
            <a:noFill/>
            <a:miter lim="800000"/>
            <a:headEnd type="none" w="sm" len="sm"/>
            <a:tailEnd type="none" w="sm" len="sm"/>
          </a:ln>
        </p:spPr>
        <p:txBody>
          <a:bodyPr>
            <a:spAutoFit/>
          </a:bodyPr>
          <a:lstStyle/>
          <a:p>
            <a:r>
              <a:rPr lang="en-US" altLang="zh-CN" sz="2800">
                <a:solidFill>
                  <a:schemeClr val="tx1"/>
                </a:solidFill>
                <a:latin typeface="宋体" pitchFamily="2" charset="-122"/>
              </a:rPr>
              <a:t>2</a:t>
            </a:r>
            <a:r>
              <a:rPr lang="zh-CN" altLang="en-US" sz="2800">
                <a:solidFill>
                  <a:schemeClr val="tx1"/>
                </a:solidFill>
                <a:latin typeface="宋体" pitchFamily="2" charset="-122"/>
              </a:rPr>
              <a:t>、多路转移的方式</a:t>
            </a:r>
          </a:p>
          <a:p>
            <a:r>
              <a:rPr lang="zh-CN" altLang="en-US" sz="2400" b="0">
                <a:solidFill>
                  <a:schemeClr val="tx1"/>
                </a:solidFill>
                <a:latin typeface="宋体" pitchFamily="2" charset="-122"/>
              </a:rPr>
              <a:t>    </a:t>
            </a:r>
            <a:r>
              <a:rPr lang="zh-CN" altLang="en-US" sz="2800" b="0">
                <a:solidFill>
                  <a:schemeClr val="tx1"/>
                </a:solidFill>
                <a:latin typeface="宋体" pitchFamily="2" charset="-122"/>
              </a:rPr>
              <a:t>一条微指令具有多个转移分支的能力称为多路转移。在多路转移方式中，微程序不产生分支时，后继微地直接由微指令的顺序控制字段给出；微程序出现分支时，有若干“后选”微地址可供选择：即按顺序控制字段的“判别测试”标志和“状态条件”信息来选择其中一个微地址。“状态条件”有</a:t>
            </a:r>
            <a:r>
              <a:rPr lang="en-US" altLang="zh-CN" sz="2800" b="0">
                <a:solidFill>
                  <a:schemeClr val="tx1"/>
                </a:solidFill>
                <a:latin typeface="宋体" pitchFamily="2" charset="-122"/>
              </a:rPr>
              <a:t>n</a:t>
            </a:r>
            <a:r>
              <a:rPr lang="zh-CN" altLang="en-US" sz="2800" b="0">
                <a:solidFill>
                  <a:schemeClr val="tx1"/>
                </a:solidFill>
                <a:latin typeface="宋体" pitchFamily="2" charset="-122"/>
              </a:rPr>
              <a:t>位标志，可实现微程序</a:t>
            </a:r>
            <a:r>
              <a:rPr lang="en-US" altLang="zh-CN" sz="2800" b="0">
                <a:solidFill>
                  <a:schemeClr val="tx1"/>
                </a:solidFill>
                <a:latin typeface="宋体" pitchFamily="2" charset="-122"/>
              </a:rPr>
              <a:t>2</a:t>
            </a:r>
            <a:r>
              <a:rPr lang="en-US" altLang="zh-CN" sz="2800" b="0" baseline="30000">
                <a:solidFill>
                  <a:schemeClr val="tx1"/>
                </a:solidFill>
                <a:latin typeface="宋体" pitchFamily="2" charset="-122"/>
              </a:rPr>
              <a:t>n</a:t>
            </a:r>
            <a:r>
              <a:rPr lang="zh-CN" altLang="en-US" sz="2800" b="0">
                <a:solidFill>
                  <a:schemeClr val="tx1"/>
                </a:solidFill>
                <a:latin typeface="宋体" pitchFamily="2" charset="-122"/>
              </a:rPr>
              <a:t>路转移，涉及微地址寄存器的</a:t>
            </a:r>
            <a:r>
              <a:rPr lang="en-US" altLang="zh-CN" sz="2800" b="0">
                <a:solidFill>
                  <a:schemeClr val="tx1"/>
                </a:solidFill>
                <a:latin typeface="宋体" pitchFamily="2" charset="-122"/>
              </a:rPr>
              <a:t>n</a:t>
            </a:r>
            <a:r>
              <a:rPr lang="zh-CN" altLang="en-US" sz="2800" b="0">
                <a:solidFill>
                  <a:schemeClr val="tx1"/>
                </a:solidFill>
                <a:latin typeface="宋体" pitchFamily="2" charset="-122"/>
              </a:rPr>
              <a:t>位。</a:t>
            </a:r>
          </a:p>
        </p:txBody>
      </p:sp>
      <p:graphicFrame>
        <p:nvGraphicFramePr>
          <p:cNvPr id="95236" name="Object 0"/>
          <p:cNvGraphicFramePr>
            <a:graphicFrameLocks noChangeAspect="1"/>
          </p:cNvGraphicFramePr>
          <p:nvPr/>
        </p:nvGraphicFramePr>
        <p:xfrm>
          <a:off x="533400" y="3657600"/>
          <a:ext cx="7620000" cy="2994025"/>
        </p:xfrm>
        <a:graphic>
          <a:graphicData uri="http://schemas.openxmlformats.org/presentationml/2006/ole">
            <mc:AlternateContent xmlns:mc="http://schemas.openxmlformats.org/markup-compatibility/2006">
              <mc:Choice xmlns:v="urn:schemas-microsoft-com:vml" Requires="v">
                <p:oleObj spid="_x0000_s95430" name="位图图像" r:id="rId4" imgW="3943901" imgH="1867161" progId="PBrush">
                  <p:embed/>
                </p:oleObj>
              </mc:Choice>
              <mc:Fallback>
                <p:oleObj name="位图图像" r:id="rId4" imgW="3943901" imgH="1867161" progId="PBrush">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657600"/>
                        <a:ext cx="7620000" cy="29940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1476" name="Rectangle 4"/>
          <p:cNvSpPr>
            <a:spLocks noChangeArrowheads="1"/>
          </p:cNvSpPr>
          <p:nvPr/>
        </p:nvSpPr>
        <p:spPr bwMode="auto">
          <a:xfrm>
            <a:off x="304800" y="3657600"/>
            <a:ext cx="8534400" cy="2054225"/>
          </a:xfrm>
          <a:prstGeom prst="rect">
            <a:avLst/>
          </a:prstGeom>
          <a:solidFill>
            <a:srgbClr val="66FFFF"/>
          </a:solidFill>
          <a:ln w="12700" cap="sq">
            <a:solidFill>
              <a:schemeClr val="bg1"/>
            </a:solidFill>
            <a:miter lim="800000"/>
            <a:headEnd type="none" w="sm" len="sm"/>
            <a:tailEnd type="none" w="sm" len="sm"/>
          </a:ln>
        </p:spPr>
        <p:txBody>
          <a:bodyPr anchor="ctr">
            <a:spAutoFit/>
          </a:bodyPr>
          <a:lstStyle/>
          <a:p>
            <a:pPr eaLnBrk="0" hangingPunct="0"/>
            <a:r>
              <a:rPr lang="zh-CN" altLang="en-US" sz="3200">
                <a:solidFill>
                  <a:schemeClr val="tx1"/>
                </a:solidFill>
                <a:latin typeface="宋体" pitchFamily="2" charset="-122"/>
              </a:rPr>
              <a:t>多路转移方式的特点</a:t>
            </a:r>
            <a:r>
              <a:rPr lang="zh-CN" altLang="en-US" sz="3200" b="0">
                <a:solidFill>
                  <a:schemeClr val="tx1"/>
                </a:solidFill>
                <a:latin typeface="宋体" pitchFamily="2" charset="-122"/>
              </a:rPr>
              <a:t>：  </a:t>
            </a:r>
          </a:p>
          <a:p>
            <a:pPr eaLnBrk="0" hangingPunct="0"/>
            <a:r>
              <a:rPr lang="zh-CN" altLang="en-US" sz="3200" b="0">
                <a:solidFill>
                  <a:schemeClr val="tx1"/>
                </a:solidFill>
                <a:latin typeface="宋体" pitchFamily="2" charset="-122"/>
              </a:rPr>
              <a:t>    能以较短的顺序控制字段配合，实现多路并行转移，灵活性好，速度较快，但转移地址逻辑需要用组合逻辑方法设计。</a:t>
            </a:r>
            <a:r>
              <a:rPr lang="zh-CN" altLang="en-US" sz="2800" b="0">
                <a:solidFill>
                  <a:schemeClr val="tx1"/>
                </a:solidFill>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1476"/>
                                        </p:tgtEl>
                                        <p:attrNameLst>
                                          <p:attrName>style.visibility</p:attrName>
                                        </p:attrNameLst>
                                      </p:cBhvr>
                                      <p:to>
                                        <p:strVal val="visible"/>
                                      </p:to>
                                    </p:set>
                                    <p:animEffect transition="in" filter="dissolve">
                                      <p:cBhvr>
                                        <p:cTn id="7" dur="500"/>
                                        <p:tgtEl>
                                          <p:spTgt spid="361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6" grpId="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12"/>
          </p:nvPr>
        </p:nvSpPr>
        <p:spPr>
          <a:noFill/>
        </p:spPr>
        <p:txBody>
          <a:bodyPr/>
          <a:lstStyle/>
          <a:p>
            <a:fld id="{317E359E-4AEB-42A7-9E25-BE93C58E84CB}" type="slidenum">
              <a:rPr lang="en-US" altLang="zh-CN" smtClean="0"/>
              <a:pPr/>
              <a:t>90</a:t>
            </a:fld>
            <a:endParaRPr lang="en-US" altLang="zh-CN" smtClean="0"/>
          </a:p>
        </p:txBody>
      </p:sp>
      <p:sp>
        <p:nvSpPr>
          <p:cNvPr id="96259" name="Rectangle 2"/>
          <p:cNvSpPr>
            <a:spLocks noChangeArrowheads="1"/>
          </p:cNvSpPr>
          <p:nvPr/>
        </p:nvSpPr>
        <p:spPr bwMode="auto">
          <a:xfrm>
            <a:off x="179388" y="188913"/>
            <a:ext cx="8785225" cy="3013075"/>
          </a:xfrm>
          <a:prstGeom prst="rect">
            <a:avLst/>
          </a:prstGeom>
          <a:solidFill>
            <a:srgbClr val="CCFFFF"/>
          </a:solidFill>
          <a:ln w="12700" cap="sq">
            <a:noFill/>
            <a:miter lim="800000"/>
            <a:headEnd type="none" w="sm" len="sm"/>
            <a:tailEnd type="none" w="sm" len="sm"/>
          </a:ln>
        </p:spPr>
        <p:txBody>
          <a:bodyPr>
            <a:spAutoFit/>
          </a:bodyPr>
          <a:lstStyle/>
          <a:p>
            <a:r>
              <a:rPr lang="en-US" altLang="zh-CN" sz="2400">
                <a:solidFill>
                  <a:schemeClr val="tx1"/>
                </a:solidFill>
                <a:latin typeface="宋体" pitchFamily="2" charset="-122"/>
              </a:rPr>
              <a:t>【</a:t>
            </a:r>
            <a:r>
              <a:rPr lang="zh-CN" altLang="en-US" sz="2400">
                <a:solidFill>
                  <a:schemeClr val="tx1"/>
                </a:solidFill>
                <a:latin typeface="宋体" pitchFamily="2" charset="-122"/>
              </a:rPr>
              <a:t>例</a:t>
            </a:r>
            <a:r>
              <a:rPr lang="en-US" altLang="zh-CN" sz="2400">
                <a:solidFill>
                  <a:schemeClr val="tx1"/>
                </a:solidFill>
                <a:latin typeface="宋体" pitchFamily="2" charset="-122"/>
              </a:rPr>
              <a:t>2】</a:t>
            </a:r>
            <a:r>
              <a:rPr lang="zh-CN" altLang="en-US" sz="2400" b="0">
                <a:solidFill>
                  <a:schemeClr val="tx1"/>
                </a:solidFill>
                <a:latin typeface="宋体" pitchFamily="2" charset="-122"/>
              </a:rPr>
              <a:t>微地址寄存器有</a:t>
            </a:r>
            <a:r>
              <a:rPr lang="en-US" altLang="zh-CN" sz="2400" b="0">
                <a:solidFill>
                  <a:schemeClr val="tx1"/>
                </a:solidFill>
                <a:latin typeface="宋体" pitchFamily="2" charset="-122"/>
              </a:rPr>
              <a:t>6</a:t>
            </a:r>
            <a:r>
              <a:rPr lang="zh-CN" altLang="en-US" sz="2400" b="0">
                <a:solidFill>
                  <a:schemeClr val="tx1"/>
                </a:solidFill>
                <a:latin typeface="宋体" pitchFamily="2" charset="-122"/>
              </a:rPr>
              <a:t>位</a:t>
            </a:r>
            <a:r>
              <a:rPr lang="en-US" altLang="zh-CN" sz="2400" b="0">
                <a:solidFill>
                  <a:schemeClr val="tx1"/>
                </a:solidFill>
                <a:latin typeface="宋体" pitchFamily="2" charset="-122"/>
              </a:rPr>
              <a:t>(μA5-μA0)</a:t>
            </a:r>
            <a:r>
              <a:rPr lang="zh-CN" altLang="en-US" sz="2400" b="0">
                <a:solidFill>
                  <a:schemeClr val="tx1"/>
                </a:solidFill>
                <a:latin typeface="宋体" pitchFamily="2" charset="-122"/>
              </a:rPr>
              <a:t>，当需要修改其内容时，可通过某一位触发器的强置端</a:t>
            </a:r>
            <a:r>
              <a:rPr lang="en-US" altLang="zh-CN" sz="2400" b="0">
                <a:solidFill>
                  <a:schemeClr val="tx1"/>
                </a:solidFill>
                <a:latin typeface="宋体" pitchFamily="2" charset="-122"/>
              </a:rPr>
              <a:t>S</a:t>
            </a:r>
            <a:r>
              <a:rPr lang="zh-CN" altLang="en-US" sz="2400" b="0">
                <a:solidFill>
                  <a:schemeClr val="tx1"/>
                </a:solidFill>
                <a:latin typeface="宋体" pitchFamily="2" charset="-122"/>
              </a:rPr>
              <a:t>将其置“</a:t>
            </a:r>
            <a:r>
              <a:rPr lang="en-US" altLang="zh-CN" sz="2400" b="0">
                <a:solidFill>
                  <a:schemeClr val="tx1"/>
                </a:solidFill>
                <a:latin typeface="宋体" pitchFamily="2" charset="-122"/>
              </a:rPr>
              <a:t>1”</a:t>
            </a:r>
            <a:r>
              <a:rPr lang="zh-CN" altLang="en-US" sz="2400" b="0">
                <a:solidFill>
                  <a:schemeClr val="tx1"/>
                </a:solidFill>
                <a:latin typeface="宋体" pitchFamily="2" charset="-122"/>
              </a:rPr>
              <a:t>。现有三种情况：</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(1)</a:t>
            </a:r>
            <a:r>
              <a:rPr lang="zh-CN" altLang="en-US" sz="2400" b="0">
                <a:solidFill>
                  <a:schemeClr val="tx1"/>
                </a:solidFill>
                <a:latin typeface="宋体" pitchFamily="2" charset="-122"/>
              </a:rPr>
              <a:t>执行“取指”微指令后，微程序按</a:t>
            </a:r>
            <a:r>
              <a:rPr lang="en-US" altLang="zh-CN" sz="2400" b="0">
                <a:solidFill>
                  <a:schemeClr val="tx1"/>
                </a:solidFill>
                <a:latin typeface="宋体" pitchFamily="2" charset="-122"/>
              </a:rPr>
              <a:t>IR</a:t>
            </a:r>
            <a:r>
              <a:rPr lang="zh-CN" altLang="en-US" sz="2400" b="0">
                <a:solidFill>
                  <a:schemeClr val="tx1"/>
                </a:solidFill>
                <a:latin typeface="宋体" pitchFamily="2" charset="-122"/>
              </a:rPr>
              <a:t>的</a:t>
            </a:r>
            <a:r>
              <a:rPr lang="en-US" altLang="zh-CN" sz="2400" b="0">
                <a:solidFill>
                  <a:schemeClr val="tx1"/>
                </a:solidFill>
                <a:latin typeface="宋体" pitchFamily="2" charset="-122"/>
              </a:rPr>
              <a:t>OP</a:t>
            </a:r>
            <a:r>
              <a:rPr lang="zh-CN" altLang="en-US" sz="2400" b="0">
                <a:solidFill>
                  <a:schemeClr val="tx1"/>
                </a:solidFill>
                <a:latin typeface="宋体" pitchFamily="2" charset="-122"/>
              </a:rPr>
              <a:t>字段</a:t>
            </a:r>
            <a:r>
              <a:rPr lang="en-US" altLang="zh-CN" sz="2400" b="0">
                <a:solidFill>
                  <a:schemeClr val="tx1"/>
                </a:solidFill>
                <a:latin typeface="宋体" pitchFamily="2" charset="-122"/>
              </a:rPr>
              <a:t>(IR3-IR0)</a:t>
            </a:r>
            <a:r>
              <a:rPr lang="zh-CN" altLang="en-US" sz="2400" b="0">
                <a:solidFill>
                  <a:schemeClr val="tx1"/>
                </a:solidFill>
                <a:latin typeface="宋体" pitchFamily="2" charset="-122"/>
              </a:rPr>
              <a:t>进行</a:t>
            </a:r>
            <a:r>
              <a:rPr lang="en-US" altLang="zh-CN" sz="2400" b="0">
                <a:solidFill>
                  <a:schemeClr val="tx1"/>
                </a:solidFill>
                <a:latin typeface="宋体" pitchFamily="2" charset="-122"/>
              </a:rPr>
              <a:t>16</a:t>
            </a:r>
            <a:r>
              <a:rPr lang="zh-CN" altLang="en-US" sz="2400" b="0">
                <a:solidFill>
                  <a:schemeClr val="tx1"/>
                </a:solidFill>
                <a:latin typeface="宋体" pitchFamily="2" charset="-122"/>
              </a:rPr>
              <a:t>路分支；</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(2)</a:t>
            </a:r>
            <a:r>
              <a:rPr lang="zh-CN" altLang="en-US" sz="2400" b="0">
                <a:solidFill>
                  <a:schemeClr val="tx1"/>
                </a:solidFill>
                <a:latin typeface="宋体" pitchFamily="2" charset="-122"/>
              </a:rPr>
              <a:t>执行条件转移指令微程序时</a:t>
            </a:r>
            <a:r>
              <a:rPr lang="en-US" altLang="zh-CN" sz="2400" b="0">
                <a:solidFill>
                  <a:schemeClr val="tx1"/>
                </a:solidFill>
                <a:latin typeface="宋体" pitchFamily="2" charset="-122"/>
              </a:rPr>
              <a:t>,</a:t>
            </a:r>
            <a:r>
              <a:rPr lang="zh-CN" altLang="en-US" sz="2400" b="0">
                <a:solidFill>
                  <a:schemeClr val="tx1"/>
                </a:solidFill>
                <a:latin typeface="宋体" pitchFamily="2" charset="-122"/>
              </a:rPr>
              <a:t>按进位标志</a:t>
            </a:r>
            <a:r>
              <a:rPr lang="en-US" altLang="zh-CN" sz="2400" b="0">
                <a:solidFill>
                  <a:schemeClr val="tx1"/>
                </a:solidFill>
                <a:latin typeface="宋体" pitchFamily="2" charset="-122"/>
              </a:rPr>
              <a:t>C</a:t>
            </a:r>
            <a:r>
              <a:rPr lang="zh-CN" altLang="en-US" sz="2400" b="0">
                <a:solidFill>
                  <a:schemeClr val="tx1"/>
                </a:solidFill>
                <a:latin typeface="宋体" pitchFamily="2" charset="-122"/>
              </a:rPr>
              <a:t>的状态进行</a:t>
            </a:r>
            <a:r>
              <a:rPr lang="en-US" altLang="zh-CN" sz="2400" b="0">
                <a:solidFill>
                  <a:schemeClr val="tx1"/>
                </a:solidFill>
                <a:latin typeface="宋体" pitchFamily="2" charset="-122"/>
              </a:rPr>
              <a:t>2</a:t>
            </a:r>
            <a:r>
              <a:rPr lang="zh-CN" altLang="en-US" sz="2400" b="0">
                <a:solidFill>
                  <a:schemeClr val="tx1"/>
                </a:solidFill>
                <a:latin typeface="宋体" pitchFamily="2" charset="-122"/>
              </a:rPr>
              <a:t>路分支；</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(3)</a:t>
            </a:r>
            <a:r>
              <a:rPr lang="zh-CN" altLang="en-US" sz="2400" b="0">
                <a:solidFill>
                  <a:schemeClr val="tx1"/>
                </a:solidFill>
                <a:latin typeface="宋体" pitchFamily="2" charset="-122"/>
              </a:rPr>
              <a:t>执行控制台指令微程序时</a:t>
            </a:r>
            <a:r>
              <a:rPr lang="en-US" altLang="zh-CN" sz="2400" b="0">
                <a:solidFill>
                  <a:schemeClr val="tx1"/>
                </a:solidFill>
                <a:latin typeface="宋体" pitchFamily="2" charset="-122"/>
              </a:rPr>
              <a:t>,</a:t>
            </a:r>
            <a:r>
              <a:rPr lang="zh-CN" altLang="en-US" sz="2400" b="0">
                <a:solidFill>
                  <a:schemeClr val="tx1"/>
                </a:solidFill>
                <a:latin typeface="宋体" pitchFamily="2" charset="-122"/>
              </a:rPr>
              <a:t>按</a:t>
            </a:r>
            <a:r>
              <a:rPr lang="en-US" altLang="zh-CN" sz="2400" b="0">
                <a:solidFill>
                  <a:schemeClr val="tx1"/>
                </a:solidFill>
                <a:latin typeface="宋体" pitchFamily="2" charset="-122"/>
              </a:rPr>
              <a:t>IR4,IR5</a:t>
            </a:r>
            <a:r>
              <a:rPr lang="zh-CN" altLang="en-US" sz="2400" b="0">
                <a:solidFill>
                  <a:schemeClr val="tx1"/>
                </a:solidFill>
                <a:latin typeface="宋体" pitchFamily="2" charset="-122"/>
              </a:rPr>
              <a:t>的状态进行</a:t>
            </a:r>
            <a:r>
              <a:rPr lang="en-US" altLang="zh-CN" sz="2400" b="0">
                <a:solidFill>
                  <a:schemeClr val="tx1"/>
                </a:solidFill>
                <a:latin typeface="宋体" pitchFamily="2" charset="-122"/>
              </a:rPr>
              <a:t>4</a:t>
            </a:r>
            <a:r>
              <a:rPr lang="zh-CN" altLang="en-US" sz="2400" b="0">
                <a:solidFill>
                  <a:schemeClr val="tx1"/>
                </a:solidFill>
                <a:latin typeface="宋体" pitchFamily="2" charset="-122"/>
              </a:rPr>
              <a:t>路分支</a:t>
            </a:r>
            <a:r>
              <a:rPr lang="en-US" altLang="zh-CN" sz="2400" b="0">
                <a:solidFill>
                  <a:schemeClr val="tx1"/>
                </a:solidFill>
                <a:latin typeface="宋体" pitchFamily="2" charset="-122"/>
              </a:rPr>
              <a:t>;</a:t>
            </a:r>
          </a:p>
          <a:p>
            <a:r>
              <a:rPr lang="en-US" altLang="zh-CN" sz="2400" b="0">
                <a:solidFill>
                  <a:schemeClr val="tx1"/>
                </a:solidFill>
                <a:latin typeface="宋体" pitchFamily="2" charset="-122"/>
              </a:rPr>
              <a:t>   </a:t>
            </a:r>
            <a:r>
              <a:rPr lang="zh-CN" altLang="en-US" sz="2400" b="0">
                <a:solidFill>
                  <a:schemeClr val="tx1"/>
                </a:solidFill>
                <a:latin typeface="宋体" pitchFamily="2" charset="-122"/>
              </a:rPr>
              <a:t>请按多路转移方法设计微地址转移逻辑。</a:t>
            </a:r>
          </a:p>
        </p:txBody>
      </p:sp>
      <p:sp>
        <p:nvSpPr>
          <p:cNvPr id="363523" name="AutoShape 3"/>
          <p:cNvSpPr>
            <a:spLocks noChangeArrowheads="1"/>
          </p:cNvSpPr>
          <p:nvPr/>
        </p:nvSpPr>
        <p:spPr bwMode="auto">
          <a:xfrm>
            <a:off x="228600" y="3429000"/>
            <a:ext cx="8659813" cy="3048000"/>
          </a:xfrm>
          <a:prstGeom prst="wedgeRectCallout">
            <a:avLst>
              <a:gd name="adj1" fmla="val -16984"/>
              <a:gd name="adj2" fmla="val -49685"/>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按设计条件，微程序有三种判别测试，分别为</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P3</a:t>
            </a:r>
            <a:r>
              <a:rPr lang="zh-CN" altLang="en-US" sz="2400" b="0" dirty="0">
                <a:solidFill>
                  <a:schemeClr val="tx1"/>
                </a:solidFill>
                <a:latin typeface="宋体" pitchFamily="2" charset="-122"/>
              </a:rPr>
              <a:t>。 由于修改</a:t>
            </a:r>
            <a:r>
              <a:rPr lang="en-US" altLang="zh-CN" sz="2400" b="0" dirty="0">
                <a:solidFill>
                  <a:schemeClr val="tx1"/>
                </a:solidFill>
                <a:latin typeface="宋体" pitchFamily="2" charset="-122"/>
              </a:rPr>
              <a:t>μA5-μA0</a:t>
            </a:r>
            <a:r>
              <a:rPr lang="zh-CN" altLang="en-US" sz="2400" b="0" dirty="0">
                <a:solidFill>
                  <a:schemeClr val="tx1"/>
                </a:solidFill>
                <a:latin typeface="宋体" pitchFamily="2" charset="-122"/>
              </a:rPr>
              <a:t>内容具有很大灵活性，现分配如下：</a:t>
            </a:r>
          </a:p>
          <a:p>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用</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IR3-IR0</a:t>
            </a:r>
            <a:r>
              <a:rPr lang="zh-CN" altLang="en-US" sz="2400" b="0" dirty="0">
                <a:solidFill>
                  <a:schemeClr val="tx1"/>
                </a:solidFill>
                <a:latin typeface="宋体" pitchFamily="2" charset="-122"/>
              </a:rPr>
              <a:t>修改</a:t>
            </a:r>
            <a:r>
              <a:rPr lang="en-US" altLang="zh-CN" sz="2400" b="0" dirty="0">
                <a:solidFill>
                  <a:schemeClr val="tx1"/>
                </a:solidFill>
                <a:latin typeface="宋体" pitchFamily="2" charset="-122"/>
              </a:rPr>
              <a:t>μA3-μA0</a:t>
            </a:r>
            <a:r>
              <a:rPr lang="zh-CN" altLang="en-US" sz="2400" b="0" dirty="0">
                <a:solidFill>
                  <a:schemeClr val="tx1"/>
                </a:solidFill>
                <a:latin typeface="宋体" pitchFamily="2" charset="-122"/>
              </a:rPr>
              <a:t>；</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P1,IR3→μA3;P1,IR2→μA2;P1,IR1→μA1;P1,IR0→μA0</a:t>
            </a:r>
          </a:p>
          <a:p>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用</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C</a:t>
            </a:r>
            <a:r>
              <a:rPr lang="zh-CN" altLang="en-US" sz="2400" b="0" dirty="0">
                <a:solidFill>
                  <a:schemeClr val="tx1"/>
                </a:solidFill>
                <a:latin typeface="宋体" pitchFamily="2" charset="-122"/>
              </a:rPr>
              <a:t>修改</a:t>
            </a:r>
            <a:r>
              <a:rPr lang="en-US" altLang="zh-CN" sz="2400" b="0" dirty="0">
                <a:solidFill>
                  <a:schemeClr val="tx1"/>
                </a:solidFill>
                <a:latin typeface="宋体" pitchFamily="2" charset="-122"/>
              </a:rPr>
              <a:t>μA0</a:t>
            </a:r>
            <a:r>
              <a:rPr lang="zh-CN" altLang="en-US" sz="2400" b="0" dirty="0">
                <a:solidFill>
                  <a:schemeClr val="tx1"/>
                </a:solidFill>
                <a:latin typeface="宋体" pitchFamily="2" charset="-122"/>
              </a:rPr>
              <a:t>；</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P2,C→μA0</a:t>
            </a:r>
          </a:p>
          <a:p>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用</a:t>
            </a:r>
            <a:r>
              <a:rPr lang="en-US" altLang="zh-CN" sz="2400" b="0" dirty="0">
                <a:solidFill>
                  <a:schemeClr val="tx1"/>
                </a:solidFill>
                <a:latin typeface="宋体" pitchFamily="2" charset="-122"/>
              </a:rPr>
              <a:t>P3</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IR5</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IR4</a:t>
            </a:r>
            <a:r>
              <a:rPr lang="zh-CN" altLang="en-US" sz="2400" b="0" dirty="0">
                <a:solidFill>
                  <a:schemeClr val="tx1"/>
                </a:solidFill>
                <a:latin typeface="宋体" pitchFamily="2" charset="-122"/>
              </a:rPr>
              <a:t>修改</a:t>
            </a:r>
            <a:r>
              <a:rPr lang="en-US" altLang="zh-CN" sz="2400" b="0" dirty="0">
                <a:solidFill>
                  <a:schemeClr val="tx1"/>
                </a:solidFill>
                <a:latin typeface="宋体" pitchFamily="2" charset="-122"/>
              </a:rPr>
              <a:t>μA5</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μA4</a:t>
            </a:r>
            <a:r>
              <a:rPr lang="zh-CN" altLang="en-US" sz="2400" b="0" dirty="0">
                <a:solidFill>
                  <a:schemeClr val="tx1"/>
                </a:solidFill>
                <a:latin typeface="宋体" pitchFamily="2" charset="-122"/>
              </a:rPr>
              <a:t>。</a:t>
            </a:r>
          </a:p>
          <a:p>
            <a:r>
              <a:rPr lang="zh-CN" altLang="en-US" sz="2400" b="0" dirty="0">
                <a:solidFill>
                  <a:schemeClr val="tx1"/>
                </a:solidFill>
                <a:latin typeface="宋体" pitchFamily="2" charset="-122"/>
              </a:rPr>
              <a:t>   </a:t>
            </a:r>
            <a:r>
              <a:rPr lang="en-US" altLang="zh-CN" sz="2400" b="0" dirty="0">
                <a:solidFill>
                  <a:schemeClr val="tx1"/>
                </a:solidFill>
                <a:latin typeface="宋体" pitchFamily="2" charset="-122"/>
              </a:rPr>
              <a:t>P3,IR5→μA5;P3,IR4→μA4</a:t>
            </a:r>
          </a:p>
        </p:txBody>
      </p:sp>
      <p:sp>
        <p:nvSpPr>
          <p:cNvPr id="363524" name="AutoShape 4"/>
          <p:cNvSpPr>
            <a:spLocks noChangeArrowheads="1"/>
          </p:cNvSpPr>
          <p:nvPr/>
        </p:nvSpPr>
        <p:spPr bwMode="auto">
          <a:xfrm>
            <a:off x="179388" y="188913"/>
            <a:ext cx="8785225" cy="3095625"/>
          </a:xfrm>
          <a:prstGeom prst="wedgeRectCallout">
            <a:avLst>
              <a:gd name="adj1" fmla="val -19119"/>
              <a:gd name="adj2" fmla="val 49898"/>
            </a:avLst>
          </a:prstGeom>
          <a:solidFill>
            <a:schemeClr val="accent1"/>
          </a:solidFill>
          <a:ln w="12700" cap="sq">
            <a:solidFill>
              <a:schemeClr val="tx1"/>
            </a:solidFill>
            <a:miter lim="800000"/>
            <a:headEnd type="none" w="sm" len="sm"/>
            <a:tailEnd type="none" w="sm" len="sm"/>
          </a:ln>
        </p:spPr>
        <p:txBody>
          <a:bodyPr/>
          <a:lstStyle/>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另外还要考虑时间因素</a:t>
            </a:r>
            <a:r>
              <a:rPr lang="en-US" altLang="zh-CN" sz="2400" b="0" dirty="0">
                <a:solidFill>
                  <a:schemeClr val="tx1"/>
                </a:solidFill>
                <a:latin typeface="宋体" pitchFamily="2" charset="-122"/>
              </a:rPr>
              <a:t>T4(</a:t>
            </a:r>
            <a:r>
              <a:rPr lang="zh-CN" altLang="en-US" sz="2400" b="0" dirty="0">
                <a:solidFill>
                  <a:schemeClr val="tx1"/>
                </a:solidFill>
                <a:latin typeface="宋体" pitchFamily="2" charset="-122"/>
              </a:rPr>
              <a:t>假设</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周期最后一个节拍脉冲</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，故转移逻辑表达式如下：</a:t>
            </a:r>
          </a:p>
          <a:p>
            <a:r>
              <a:rPr lang="zh-CN" altLang="en-US" sz="2400" b="0" dirty="0">
                <a:solidFill>
                  <a:schemeClr val="tx1"/>
                </a:solidFill>
                <a:latin typeface="宋体" pitchFamily="2" charset="-122"/>
              </a:rPr>
              <a:t>　　</a:t>
            </a:r>
            <a:r>
              <a:rPr lang="en-US" altLang="zh-CN" sz="2400" dirty="0">
                <a:latin typeface="宋体" pitchFamily="2" charset="-122"/>
              </a:rPr>
              <a:t>μA5=P3·IR5·T4</a:t>
            </a:r>
            <a:r>
              <a:rPr lang="zh-CN" altLang="en-US" sz="2400" dirty="0">
                <a:latin typeface="宋体" pitchFamily="2" charset="-122"/>
              </a:rPr>
              <a:t>、</a:t>
            </a:r>
            <a:r>
              <a:rPr lang="en-US" altLang="zh-CN" sz="2400" dirty="0">
                <a:latin typeface="宋体" pitchFamily="2" charset="-122"/>
              </a:rPr>
              <a:t>μA4=P3·IR4·T4</a:t>
            </a:r>
          </a:p>
          <a:p>
            <a:r>
              <a:rPr lang="zh-CN" altLang="en-US" sz="2400" dirty="0">
                <a:latin typeface="宋体" pitchFamily="2" charset="-122"/>
              </a:rPr>
              <a:t>　　</a:t>
            </a:r>
            <a:r>
              <a:rPr lang="en-US" altLang="zh-CN" sz="2400" dirty="0">
                <a:latin typeface="宋体" pitchFamily="2" charset="-122"/>
              </a:rPr>
              <a:t>μA3=P1·IR3·T4</a:t>
            </a:r>
            <a:r>
              <a:rPr lang="zh-CN" altLang="en-US" sz="2400" dirty="0">
                <a:latin typeface="宋体" pitchFamily="2" charset="-122"/>
              </a:rPr>
              <a:t>、</a:t>
            </a:r>
            <a:r>
              <a:rPr lang="en-US" altLang="zh-CN" sz="2400" dirty="0">
                <a:latin typeface="宋体" pitchFamily="2" charset="-122"/>
              </a:rPr>
              <a:t>μA2=P1·IR2·T4</a:t>
            </a:r>
          </a:p>
          <a:p>
            <a:r>
              <a:rPr lang="zh-CN" altLang="en-US" sz="2400" dirty="0">
                <a:latin typeface="宋体" pitchFamily="2" charset="-122"/>
              </a:rPr>
              <a:t>　　</a:t>
            </a:r>
            <a:r>
              <a:rPr lang="en-US" altLang="zh-CN" sz="2400" dirty="0">
                <a:latin typeface="宋体" pitchFamily="2" charset="-122"/>
              </a:rPr>
              <a:t>μA1=P1·IR1·T4</a:t>
            </a:r>
            <a:r>
              <a:rPr lang="zh-CN" altLang="en-US" sz="2400" dirty="0">
                <a:latin typeface="宋体" pitchFamily="2" charset="-122"/>
              </a:rPr>
              <a:t>、</a:t>
            </a:r>
            <a:r>
              <a:rPr lang="en-US" altLang="zh-CN" sz="2400" dirty="0">
                <a:latin typeface="宋体" pitchFamily="2" charset="-122"/>
              </a:rPr>
              <a:t>μA0=P1·IR0·T4 + P2·C·T4</a:t>
            </a:r>
          </a:p>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由于从触发器强置端修改，故前</a:t>
            </a:r>
            <a:r>
              <a:rPr lang="en-US" altLang="zh-CN" sz="2400" b="0" dirty="0">
                <a:solidFill>
                  <a:schemeClr val="tx1"/>
                </a:solidFill>
                <a:latin typeface="宋体" pitchFamily="2" charset="-122"/>
              </a:rPr>
              <a:t>5</a:t>
            </a:r>
            <a:r>
              <a:rPr lang="zh-CN" altLang="en-US" sz="2400" b="0" dirty="0">
                <a:solidFill>
                  <a:schemeClr val="tx1"/>
                </a:solidFill>
                <a:latin typeface="宋体" pitchFamily="2" charset="-122"/>
              </a:rPr>
              <a:t>个表达式可用“与非”门实现，最后一个用“与或非”门实现。</a:t>
            </a:r>
          </a:p>
        </p:txBody>
      </p:sp>
      <p:graphicFrame>
        <p:nvGraphicFramePr>
          <p:cNvPr id="546816" name="Object 0"/>
          <p:cNvGraphicFramePr>
            <a:graphicFrameLocks noChangeAspect="1"/>
          </p:cNvGraphicFramePr>
          <p:nvPr/>
        </p:nvGraphicFramePr>
        <p:xfrm>
          <a:off x="176182" y="3019425"/>
          <a:ext cx="8839200" cy="3657600"/>
        </p:xfrm>
        <a:graphic>
          <a:graphicData uri="http://schemas.openxmlformats.org/presentationml/2006/ole">
            <mc:AlternateContent xmlns:mc="http://schemas.openxmlformats.org/markup-compatibility/2006">
              <mc:Choice xmlns:v="urn:schemas-microsoft-com:vml" Requires="v">
                <p:oleObj spid="_x0000_s96457" name="位图图像" r:id="rId3" imgW="8040222" imgH="2371429" progId="PBrush">
                  <p:embed/>
                </p:oleObj>
              </mc:Choice>
              <mc:Fallback>
                <p:oleObj name="位图图像" r:id="rId3" imgW="8040222" imgH="2371429" progId="PBrush">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182" y="3019425"/>
                        <a:ext cx="8839200" cy="36576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3523"/>
                                        </p:tgtEl>
                                        <p:attrNameLst>
                                          <p:attrName>style.visibility</p:attrName>
                                        </p:attrNameLst>
                                      </p:cBhvr>
                                      <p:to>
                                        <p:strVal val="visible"/>
                                      </p:to>
                                    </p:set>
                                    <p:animEffect transition="in" filter="dissolve">
                                      <p:cBhvr>
                                        <p:cTn id="7" dur="500"/>
                                        <p:tgtEl>
                                          <p:spTgt spid="3635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3524"/>
                                        </p:tgtEl>
                                        <p:attrNameLst>
                                          <p:attrName>style.visibility</p:attrName>
                                        </p:attrNameLst>
                                      </p:cBhvr>
                                      <p:to>
                                        <p:strVal val="visible"/>
                                      </p:to>
                                    </p:set>
                                    <p:animEffect transition="in" filter="dissolve">
                                      <p:cBhvr>
                                        <p:cTn id="12" dur="500"/>
                                        <p:tgtEl>
                                          <p:spTgt spid="3635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46816"/>
                                        </p:tgtEl>
                                        <p:attrNameLst>
                                          <p:attrName>style.visibility</p:attrName>
                                        </p:attrNameLst>
                                      </p:cBhvr>
                                      <p:to>
                                        <p:strVal val="visible"/>
                                      </p:to>
                                    </p:set>
                                    <p:animEffect transition="in" filter="dissolve">
                                      <p:cBhvr>
                                        <p:cTn id="17" dur="500"/>
                                        <p:tgtEl>
                                          <p:spTgt spid="546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animBg="1" autoUpdateAnimBg="0"/>
      <p:bldP spid="363524"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6"/>
          <p:cNvSpPr>
            <a:spLocks noGrp="1"/>
          </p:cNvSpPr>
          <p:nvPr>
            <p:ph type="sldNum" sz="quarter" idx="12"/>
          </p:nvPr>
        </p:nvSpPr>
        <p:spPr>
          <a:noFill/>
        </p:spPr>
        <p:txBody>
          <a:bodyPr/>
          <a:lstStyle/>
          <a:p>
            <a:fld id="{7886D05F-277E-403C-AD6D-864CDA888BBE}" type="slidenum">
              <a:rPr lang="en-US" altLang="zh-CN" smtClean="0"/>
              <a:pPr/>
              <a:t>91</a:t>
            </a:fld>
            <a:endParaRPr lang="en-US" altLang="zh-CN" smtClean="0"/>
          </a:p>
        </p:txBody>
      </p:sp>
      <p:sp>
        <p:nvSpPr>
          <p:cNvPr id="98307" name="Rectangle 2"/>
          <p:cNvSpPr>
            <a:spLocks noChangeArrowheads="1"/>
          </p:cNvSpPr>
          <p:nvPr/>
        </p:nvSpPr>
        <p:spPr bwMode="auto">
          <a:xfrm>
            <a:off x="250825" y="188913"/>
            <a:ext cx="7818438" cy="1800225"/>
          </a:xfrm>
          <a:prstGeom prst="rect">
            <a:avLst/>
          </a:prstGeom>
          <a:noFill/>
          <a:ln w="12700" cap="sq">
            <a:noFill/>
            <a:miter lim="800000"/>
            <a:headEnd type="none" w="sm" len="sm"/>
            <a:tailEnd type="none" w="sm" len="sm"/>
          </a:ln>
        </p:spPr>
        <p:txBody>
          <a:bodyPr>
            <a:spAutoFit/>
          </a:bodyPr>
          <a:lstStyle/>
          <a:p>
            <a:r>
              <a:rPr lang="en-US" altLang="zh-CN" sz="2800" b="0">
                <a:solidFill>
                  <a:schemeClr val="tx1"/>
                </a:solidFill>
                <a:latin typeface="宋体" pitchFamily="2" charset="-122"/>
              </a:rPr>
              <a:t>3</a:t>
            </a:r>
            <a:r>
              <a:rPr lang="zh-CN" altLang="en-US" sz="2800" b="0">
                <a:solidFill>
                  <a:schemeClr val="tx1"/>
                </a:solidFill>
                <a:latin typeface="宋体" pitchFamily="2" charset="-122"/>
              </a:rPr>
              <a:t>、微指令格式</a:t>
            </a:r>
          </a:p>
          <a:p>
            <a:r>
              <a:rPr lang="zh-CN" altLang="en-US" sz="2800" b="0">
                <a:solidFill>
                  <a:schemeClr val="tx1"/>
                </a:solidFill>
                <a:latin typeface="宋体" pitchFamily="2" charset="-122"/>
              </a:rPr>
              <a:t>    微指令的编译方法是决定微指令格式的主要因素。考虑到速度、成本等原因，微指令的格式大体分成两类：水平型微指令和垂直型微指令。</a:t>
            </a:r>
          </a:p>
        </p:txBody>
      </p:sp>
      <p:sp>
        <p:nvSpPr>
          <p:cNvPr id="98308" name="Rectangle 3"/>
          <p:cNvSpPr>
            <a:spLocks noChangeArrowheads="1"/>
          </p:cNvSpPr>
          <p:nvPr/>
        </p:nvSpPr>
        <p:spPr bwMode="auto">
          <a:xfrm>
            <a:off x="179388" y="2060575"/>
            <a:ext cx="8785225" cy="1281113"/>
          </a:xfrm>
          <a:prstGeom prst="rect">
            <a:avLst/>
          </a:prstGeom>
          <a:noFill/>
          <a:ln w="12700" cap="sq">
            <a:noFill/>
            <a:miter lim="800000"/>
            <a:headEnd type="none" w="sm" len="sm"/>
            <a:tailEnd type="none" w="sm" len="sm"/>
          </a:ln>
        </p:spPr>
        <p:txBody>
          <a:bodyPr tIns="0" bIns="0" anchor="ctr">
            <a:spAutoFit/>
          </a:bodyPr>
          <a:lstStyle/>
          <a:p>
            <a:pPr eaLnBrk="0" hangingPunct="0"/>
            <a:r>
              <a:rPr lang="zh-CN" altLang="en-US" sz="2800" b="0">
                <a:solidFill>
                  <a:schemeClr val="tx1"/>
                </a:solidFill>
                <a:latin typeface="宋体" pitchFamily="2" charset="-122"/>
              </a:rPr>
              <a:t>（</a:t>
            </a:r>
            <a:r>
              <a:rPr lang="en-US" altLang="zh-CN" sz="2800" b="0">
                <a:solidFill>
                  <a:schemeClr val="tx1"/>
                </a:solidFill>
                <a:latin typeface="宋体" pitchFamily="2" charset="-122"/>
              </a:rPr>
              <a:t>1</a:t>
            </a:r>
            <a:r>
              <a:rPr lang="zh-CN" altLang="en-US" sz="2800" b="0">
                <a:solidFill>
                  <a:schemeClr val="tx1"/>
                </a:solidFill>
                <a:latin typeface="宋体" pitchFamily="2" charset="-122"/>
              </a:rPr>
              <a:t>）水平型微指令</a:t>
            </a:r>
          </a:p>
          <a:p>
            <a:pPr eaLnBrk="0" hangingPunct="0"/>
            <a:r>
              <a:rPr lang="zh-CN" altLang="en-US" sz="2800" b="0">
                <a:solidFill>
                  <a:schemeClr val="tx1"/>
                </a:solidFill>
                <a:latin typeface="宋体" pitchFamily="2" charset="-122"/>
              </a:rPr>
              <a:t>　  一次能定义并执行多个并行操作微命令的微指令，叫做水平型微指令。 其一般格式如下：</a:t>
            </a:r>
            <a:r>
              <a:rPr lang="zh-CN" altLang="en-US" sz="2800" b="0" i="1">
                <a:solidFill>
                  <a:schemeClr val="tx1"/>
                </a:solidFill>
                <a:latin typeface="宋体" pitchFamily="2" charset="-122"/>
              </a:rPr>
              <a:t> </a:t>
            </a:r>
            <a:endParaRPr lang="zh-CN" altLang="en-US" sz="2800" b="0">
              <a:solidFill>
                <a:schemeClr val="tx1"/>
              </a:solidFill>
              <a:latin typeface="宋体" pitchFamily="2" charset="-122"/>
            </a:endParaRPr>
          </a:p>
        </p:txBody>
      </p:sp>
      <p:graphicFrame>
        <p:nvGraphicFramePr>
          <p:cNvPr id="365572" name="Group 4"/>
          <p:cNvGraphicFramePr>
            <a:graphicFrameLocks noGrp="1"/>
          </p:cNvGraphicFramePr>
          <p:nvPr/>
        </p:nvGraphicFramePr>
        <p:xfrm>
          <a:off x="539750" y="3573463"/>
          <a:ext cx="7704138" cy="744537"/>
        </p:xfrm>
        <a:graphic>
          <a:graphicData uri="http://schemas.openxmlformats.org/drawingml/2006/table">
            <a:tbl>
              <a:tblPr/>
              <a:tblGrid>
                <a:gridCol w="2568575"/>
                <a:gridCol w="2566988"/>
                <a:gridCol w="2568575"/>
              </a:tblGrid>
              <a:tr h="74453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chemeClr val="tx1"/>
                          </a:solidFill>
                          <a:effectLst/>
                          <a:latin typeface="宋体" pitchFamily="2" charset="-122"/>
                          <a:ea typeface="宋体" pitchFamily="2" charset="-122"/>
                        </a:rPr>
                        <a:t>控 制 字 段</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chemeClr val="tx1"/>
                          </a:solidFill>
                          <a:effectLst/>
                          <a:latin typeface="宋体" pitchFamily="2" charset="-122"/>
                          <a:ea typeface="宋体" pitchFamily="2" charset="-122"/>
                        </a:rPr>
                        <a:t>判别测试字段</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chemeClr val="tx1"/>
                          </a:solidFill>
                          <a:effectLst/>
                          <a:latin typeface="宋体" pitchFamily="2" charset="-122"/>
                          <a:ea typeface="宋体" pitchFamily="2" charset="-122"/>
                        </a:rPr>
                        <a:t>下地址字段</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CCFF66"/>
                    </a:solidFill>
                  </a:tcPr>
                </a:tc>
              </a:tr>
            </a:tbl>
          </a:graphicData>
        </a:graphic>
      </p:graphicFrame>
      <p:sp>
        <p:nvSpPr>
          <p:cNvPr id="98319" name="Rectangle 14"/>
          <p:cNvSpPr>
            <a:spLocks noChangeArrowheads="1"/>
          </p:cNvSpPr>
          <p:nvPr/>
        </p:nvSpPr>
        <p:spPr bwMode="auto">
          <a:xfrm>
            <a:off x="250825" y="4437063"/>
            <a:ext cx="8208963" cy="1800225"/>
          </a:xfrm>
          <a:prstGeom prst="rect">
            <a:avLst/>
          </a:prstGeom>
          <a:noFill/>
          <a:ln w="12700" cap="sq">
            <a:noFill/>
            <a:miter lim="800000"/>
            <a:headEnd type="none" w="sm" len="sm"/>
            <a:tailEnd type="none" w="sm" len="sm"/>
          </a:ln>
        </p:spPr>
        <p:txBody>
          <a:bodyPr anchor="ctr">
            <a:spAutoFit/>
          </a:bodyPr>
          <a:lstStyle/>
          <a:p>
            <a:pPr eaLnBrk="0" hangingPunct="0"/>
            <a:r>
              <a:rPr lang="zh-CN" altLang="en-US" sz="1600" b="0">
                <a:solidFill>
                  <a:schemeClr val="tx1"/>
                </a:solidFill>
                <a:ea typeface="黑体" pitchFamily="49" charset="-122"/>
              </a:rPr>
              <a:t>　　     </a:t>
            </a:r>
            <a:r>
              <a:rPr lang="zh-CN" altLang="en-US" sz="2800" b="0">
                <a:solidFill>
                  <a:schemeClr val="tx1"/>
                </a:solidFill>
                <a:latin typeface="宋体" pitchFamily="2" charset="-122"/>
              </a:rPr>
              <a:t>按照控制字段的编码方法不同，水平型微指令又分为三种：全水平型</a:t>
            </a:r>
            <a:r>
              <a:rPr lang="en-US" altLang="zh-CN" sz="2800" b="0">
                <a:solidFill>
                  <a:schemeClr val="tx1"/>
                </a:solidFill>
                <a:latin typeface="宋体" pitchFamily="2" charset="-122"/>
              </a:rPr>
              <a:t>(</a:t>
            </a:r>
            <a:r>
              <a:rPr lang="zh-CN" altLang="en-US" sz="2800" b="0">
                <a:solidFill>
                  <a:schemeClr val="tx1"/>
                </a:solidFill>
                <a:latin typeface="宋体" pitchFamily="2" charset="-122"/>
              </a:rPr>
              <a:t>不译法</a:t>
            </a:r>
            <a:r>
              <a:rPr lang="en-US" altLang="zh-CN" sz="2800" b="0">
                <a:solidFill>
                  <a:schemeClr val="tx1"/>
                </a:solidFill>
                <a:latin typeface="宋体" pitchFamily="2" charset="-122"/>
              </a:rPr>
              <a:t>)</a:t>
            </a:r>
            <a:r>
              <a:rPr lang="zh-CN" altLang="en-US" sz="2800" b="0">
                <a:solidFill>
                  <a:schemeClr val="tx1"/>
                </a:solidFill>
                <a:latin typeface="宋体" pitchFamily="2" charset="-122"/>
              </a:rPr>
              <a:t>微指令，字段译码法水平型微指令，以及直接和译码相混合的水平型微指令</a:t>
            </a:r>
            <a:r>
              <a:rPr lang="zh-CN" altLang="en-US" sz="2800" b="0" i="1">
                <a:solidFill>
                  <a:schemeClr val="tx1"/>
                </a:solidFill>
                <a:latin typeface="宋体" pitchFamily="2" charset="-122"/>
              </a:rPr>
              <a:t>。</a:t>
            </a:r>
            <a:endParaRPr lang="zh-CN" altLang="en-US" sz="2800" b="0">
              <a:solidFill>
                <a:schemeClr val="tx1"/>
              </a:solidFill>
              <a:latin typeface="宋体" pitchFamily="2"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a:spLocks noGrp="1"/>
          </p:cNvSpPr>
          <p:nvPr>
            <p:ph type="sldNum" sz="quarter" idx="12"/>
          </p:nvPr>
        </p:nvSpPr>
        <p:spPr>
          <a:noFill/>
        </p:spPr>
        <p:txBody>
          <a:bodyPr/>
          <a:lstStyle/>
          <a:p>
            <a:fld id="{D7E2D5E3-F5A9-4E66-8A0D-656796CE9D5A}" type="slidenum">
              <a:rPr lang="en-US" altLang="zh-CN" smtClean="0"/>
              <a:pPr/>
              <a:t>92</a:t>
            </a:fld>
            <a:endParaRPr lang="en-US" altLang="zh-CN" smtClean="0"/>
          </a:p>
        </p:txBody>
      </p:sp>
      <p:sp>
        <p:nvSpPr>
          <p:cNvPr id="99331" name="Rectangle 2"/>
          <p:cNvSpPr>
            <a:spLocks noChangeArrowheads="1"/>
          </p:cNvSpPr>
          <p:nvPr/>
        </p:nvSpPr>
        <p:spPr bwMode="auto">
          <a:xfrm>
            <a:off x="250825" y="260350"/>
            <a:ext cx="7921625" cy="6228436"/>
          </a:xfrm>
          <a:prstGeom prst="rect">
            <a:avLst/>
          </a:prstGeom>
          <a:noFill/>
          <a:ln w="12700" cap="sq">
            <a:noFill/>
            <a:miter lim="800000"/>
            <a:headEnd type="none" w="sm" len="sm"/>
            <a:tailEnd type="none" w="sm" len="sm"/>
          </a:ln>
        </p:spPr>
        <p:txBody>
          <a:bodyPr>
            <a:spAutoFit/>
          </a:bodyPr>
          <a:lstStyle/>
          <a:p>
            <a:pPr lvl="1">
              <a:lnSpc>
                <a:spcPct val="120000"/>
              </a:lnSpc>
            </a:pPr>
            <a:r>
              <a:rPr lang="zh-CN" altLang="en-US" sz="2800" dirty="0">
                <a:solidFill>
                  <a:schemeClr val="tx1"/>
                </a:solidFill>
                <a:latin typeface="宋体" pitchFamily="2" charset="-122"/>
              </a:rPr>
              <a:t>水平型微指令特点：</a:t>
            </a:r>
            <a:endParaRPr lang="zh-CN" altLang="en-US" sz="2800" b="0" dirty="0">
              <a:solidFill>
                <a:schemeClr val="tx1"/>
              </a:solidFill>
              <a:latin typeface="宋体" pitchFamily="2" charset="-122"/>
            </a:endParaRPr>
          </a:p>
          <a:p>
            <a:pPr lvl="1">
              <a:lnSpc>
                <a:spcPct val="120000"/>
              </a:lnSpc>
            </a:pPr>
            <a:r>
              <a:rPr lang="zh-CN" altLang="en-US" sz="2800" b="0" dirty="0">
                <a:solidFill>
                  <a:schemeClr val="tx1"/>
                </a:solidFill>
                <a:latin typeface="宋体" pitchFamily="2" charset="-122"/>
              </a:rPr>
              <a:t>优点：微指令字较长，速度越快。</a:t>
            </a:r>
          </a:p>
          <a:p>
            <a:pPr lvl="3">
              <a:lnSpc>
                <a:spcPct val="120000"/>
              </a:lnSpc>
            </a:pPr>
            <a:r>
              <a:rPr lang="zh-CN" altLang="en-US" sz="2800" b="0" dirty="0">
                <a:solidFill>
                  <a:schemeClr val="tx1"/>
                </a:solidFill>
                <a:latin typeface="宋体" pitchFamily="2" charset="-122"/>
              </a:rPr>
              <a:t> 微指令中的微操作有高度的并行性。</a:t>
            </a:r>
          </a:p>
          <a:p>
            <a:pPr lvl="3">
              <a:lnSpc>
                <a:spcPct val="120000"/>
              </a:lnSpc>
            </a:pPr>
            <a:r>
              <a:rPr lang="zh-CN" altLang="en-US" sz="2800" b="0" dirty="0">
                <a:solidFill>
                  <a:schemeClr val="tx1"/>
                </a:solidFill>
                <a:latin typeface="宋体" pitchFamily="2" charset="-122"/>
              </a:rPr>
              <a:t> 微指令译码简单。</a:t>
            </a:r>
          </a:p>
          <a:p>
            <a:pPr lvl="1">
              <a:lnSpc>
                <a:spcPct val="120000"/>
              </a:lnSpc>
            </a:pPr>
            <a:r>
              <a:rPr lang="zh-CN" altLang="en-US" sz="2800" b="0" dirty="0">
                <a:solidFill>
                  <a:schemeClr val="tx1"/>
                </a:solidFill>
                <a:latin typeface="宋体" pitchFamily="2" charset="-122"/>
              </a:rPr>
              <a:t>      控制存储器的纵向容量小，灵活性强。</a:t>
            </a:r>
          </a:p>
          <a:p>
            <a:pPr lvl="1">
              <a:lnSpc>
                <a:spcPct val="120000"/>
              </a:lnSpc>
            </a:pPr>
            <a:r>
              <a:rPr lang="zh-CN" altLang="en-US" sz="2800" b="0" dirty="0">
                <a:solidFill>
                  <a:schemeClr val="tx1"/>
                </a:solidFill>
                <a:latin typeface="宋体" pitchFamily="2" charset="-122"/>
              </a:rPr>
              <a:t>缺点：微指令字比较长，明显地增加了控制存</a:t>
            </a:r>
          </a:p>
          <a:p>
            <a:pPr lvl="2">
              <a:lnSpc>
                <a:spcPct val="120000"/>
              </a:lnSpc>
            </a:pPr>
            <a:r>
              <a:rPr lang="zh-CN" altLang="en-US" sz="2800" b="0" dirty="0">
                <a:solidFill>
                  <a:schemeClr val="tx1"/>
                </a:solidFill>
                <a:latin typeface="宋体" pitchFamily="2" charset="-122"/>
              </a:rPr>
              <a:t>   储器的横向容量。</a:t>
            </a:r>
          </a:p>
          <a:p>
            <a:pPr lvl="2">
              <a:lnSpc>
                <a:spcPct val="120000"/>
              </a:lnSpc>
            </a:pPr>
            <a:endParaRPr lang="zh-CN" altLang="en-US" sz="2800" b="0" dirty="0">
              <a:solidFill>
                <a:schemeClr val="tx1"/>
              </a:solidFill>
              <a:latin typeface="宋体" pitchFamily="2" charset="-122"/>
            </a:endParaRPr>
          </a:p>
          <a:p>
            <a:pPr lvl="1">
              <a:lnSpc>
                <a:spcPct val="120000"/>
              </a:lnSpc>
            </a:pPr>
            <a:r>
              <a:rPr lang="zh-CN" altLang="en-US" sz="2800" b="0" dirty="0">
                <a:solidFill>
                  <a:schemeClr val="tx1"/>
                </a:solidFill>
                <a:latin typeface="宋体" pitchFamily="2" charset="-122"/>
              </a:rPr>
              <a:t>    水平微指令与机器指令差别很大，一般要熟悉机器结构、数据通路、时序系统以及指令执行过程的人才能进行微程序设计，这对用户来说是很困难的。</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a:spLocks noGrp="1"/>
          </p:cNvSpPr>
          <p:nvPr>
            <p:ph type="sldNum" sz="quarter" idx="12"/>
          </p:nvPr>
        </p:nvSpPr>
        <p:spPr>
          <a:noFill/>
        </p:spPr>
        <p:txBody>
          <a:bodyPr/>
          <a:lstStyle/>
          <a:p>
            <a:fld id="{3A9E1DF5-BA09-4F9F-B157-B1089D382256}" type="slidenum">
              <a:rPr lang="en-US" altLang="zh-CN" smtClean="0"/>
              <a:pPr/>
              <a:t>93</a:t>
            </a:fld>
            <a:endParaRPr lang="en-US" altLang="zh-CN" smtClean="0"/>
          </a:p>
        </p:txBody>
      </p:sp>
      <p:sp>
        <p:nvSpPr>
          <p:cNvPr id="100355" name="Rectangle 2"/>
          <p:cNvSpPr>
            <a:spLocks noChangeArrowheads="1"/>
          </p:cNvSpPr>
          <p:nvPr/>
        </p:nvSpPr>
        <p:spPr bwMode="auto">
          <a:xfrm>
            <a:off x="2228850" y="3033713"/>
            <a:ext cx="9144000" cy="0"/>
          </a:xfrm>
          <a:prstGeom prst="rect">
            <a:avLst/>
          </a:prstGeom>
          <a:noFill/>
          <a:ln w="9525">
            <a:noFill/>
            <a:miter lim="800000"/>
            <a:headEnd/>
            <a:tailEnd/>
          </a:ln>
        </p:spPr>
        <p:txBody>
          <a:bodyPr>
            <a:spAutoFit/>
          </a:bodyPr>
          <a:lstStyle/>
          <a:p>
            <a:endParaRPr lang="zh-CN" altLang="en-US"/>
          </a:p>
        </p:txBody>
      </p:sp>
      <p:sp>
        <p:nvSpPr>
          <p:cNvPr id="100356" name="Rectangle 3"/>
          <p:cNvSpPr>
            <a:spLocks noChangeArrowheads="1"/>
          </p:cNvSpPr>
          <p:nvPr/>
        </p:nvSpPr>
        <p:spPr bwMode="auto">
          <a:xfrm>
            <a:off x="251520" y="404664"/>
            <a:ext cx="8218784" cy="5909310"/>
          </a:xfrm>
          <a:prstGeom prst="rect">
            <a:avLst/>
          </a:prstGeom>
          <a:noFill/>
          <a:ln w="12700" cap="sq">
            <a:noFill/>
            <a:miter lim="800000"/>
            <a:headEnd type="none" w="sm" len="sm"/>
            <a:tailEnd type="none" w="sm" len="sm"/>
          </a:ln>
        </p:spPr>
        <p:txBody>
          <a:bodyPr wrap="square" anchor="ctr">
            <a:spAutoFit/>
          </a:bodyPr>
          <a:lstStyle/>
          <a:p>
            <a:pPr>
              <a:lnSpc>
                <a:spcPct val="150000"/>
              </a:lnSpc>
            </a:pP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2</a:t>
            </a:r>
            <a:r>
              <a:rPr lang="zh-CN" altLang="en-US" sz="2800" b="0" dirty="0">
                <a:solidFill>
                  <a:schemeClr val="tx1"/>
                </a:solidFill>
                <a:latin typeface="宋体" pitchFamily="2" charset="-122"/>
              </a:rPr>
              <a:t>）垂直型微指令</a:t>
            </a:r>
          </a:p>
          <a:p>
            <a:pPr>
              <a:lnSpc>
                <a:spcPct val="150000"/>
              </a:lnSpc>
            </a:pPr>
            <a:r>
              <a:rPr lang="zh-CN" altLang="en-US" sz="2800" b="0" dirty="0">
                <a:solidFill>
                  <a:schemeClr val="tx1"/>
                </a:solidFill>
                <a:latin typeface="宋体" pitchFamily="2" charset="-122"/>
              </a:rPr>
              <a:t>　　微指令中设置微操作码字段，采用微操作码编译法，由微操作码规定微指令的功能 ，称为垂直型微指令</a:t>
            </a:r>
            <a:r>
              <a:rPr lang="zh-CN" altLang="en-US" sz="2800" b="0" dirty="0" smtClean="0">
                <a:solidFill>
                  <a:schemeClr val="tx1"/>
                </a:solidFill>
                <a:latin typeface="宋体" pitchFamily="2" charset="-122"/>
              </a:rPr>
              <a:t>。</a:t>
            </a:r>
            <a:endParaRPr lang="en-US" altLang="zh-CN" sz="2800" b="0" dirty="0" smtClean="0">
              <a:solidFill>
                <a:schemeClr val="tx1"/>
              </a:solidFill>
              <a:latin typeface="宋体" pitchFamily="2" charset="-122"/>
            </a:endParaRPr>
          </a:p>
          <a:p>
            <a:pPr>
              <a:lnSpc>
                <a:spcPct val="150000"/>
              </a:lnSpc>
            </a:pPr>
            <a:r>
              <a:rPr lang="en-US" altLang="zh-CN" sz="2800" b="0" dirty="0">
                <a:solidFill>
                  <a:schemeClr val="tx1"/>
                </a:solidFill>
                <a:latin typeface="宋体" pitchFamily="2" charset="-122"/>
              </a:rPr>
              <a:t> </a:t>
            </a:r>
            <a:r>
              <a:rPr lang="en-US" altLang="zh-CN" sz="2800" b="0" dirty="0" smtClean="0">
                <a:solidFill>
                  <a:schemeClr val="tx1"/>
                </a:solidFill>
                <a:latin typeface="宋体" pitchFamily="2" charset="-122"/>
              </a:rPr>
              <a:t>   </a:t>
            </a:r>
            <a:r>
              <a:rPr lang="zh-CN" altLang="en-US" sz="2800" b="0" dirty="0" smtClean="0">
                <a:solidFill>
                  <a:schemeClr val="tx1"/>
                </a:solidFill>
                <a:latin typeface="宋体" pitchFamily="2" charset="-122"/>
              </a:rPr>
              <a:t>其</a:t>
            </a:r>
            <a:r>
              <a:rPr lang="zh-CN" altLang="en-US" sz="2800" b="0" dirty="0">
                <a:solidFill>
                  <a:schemeClr val="tx1"/>
                </a:solidFill>
                <a:latin typeface="宋体" pitchFamily="2" charset="-122"/>
              </a:rPr>
              <a:t>结构类似于机器指令的结构。它有操作码，在一条微指令中只有</a:t>
            </a:r>
            <a:r>
              <a:rPr lang="en-US" altLang="zh-CN" sz="2800" b="0" dirty="0">
                <a:solidFill>
                  <a:schemeClr val="tx1"/>
                </a:solidFill>
                <a:latin typeface="宋体" pitchFamily="2" charset="-122"/>
              </a:rPr>
              <a:t>1—2</a:t>
            </a:r>
            <a:r>
              <a:rPr lang="zh-CN" altLang="en-US" sz="2800" b="0" dirty="0">
                <a:solidFill>
                  <a:schemeClr val="tx1"/>
                </a:solidFill>
                <a:latin typeface="宋体" pitchFamily="2" charset="-122"/>
              </a:rPr>
              <a:t>个微操作命令，每条微指令的功能简单，因此，实现一条机器指令的微程序要比水平型微指令编写的微程序长得多。它是采用较长的微程序结构去换取较短的微指令结构</a:t>
            </a:r>
            <a:r>
              <a:rPr lang="zh-CN" altLang="en-US" sz="2800" b="0" dirty="0" smtClean="0">
                <a:solidFill>
                  <a:schemeClr val="tx1"/>
                </a:solidFill>
                <a:latin typeface="宋体" pitchFamily="2" charset="-122"/>
              </a:rPr>
              <a:t>。</a:t>
            </a:r>
            <a:r>
              <a:rPr lang="zh-CN" altLang="en-US" sz="2800" b="0" dirty="0">
                <a:solidFill>
                  <a:schemeClr val="tx1"/>
                </a:solidFill>
                <a:latin typeface="宋体" pitchFamily="2" charset="-122"/>
              </a:rPr>
              <a:t>　　</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a:noFill/>
        </p:spPr>
        <p:txBody>
          <a:bodyPr/>
          <a:lstStyle/>
          <a:p>
            <a:fld id="{DBD5BCCA-2A61-48E0-B54E-860C4A9BCAF9}" type="slidenum">
              <a:rPr lang="en-US" altLang="zh-CN" smtClean="0"/>
              <a:pPr/>
              <a:t>94</a:t>
            </a:fld>
            <a:endParaRPr lang="en-US" altLang="zh-CN" smtClean="0"/>
          </a:p>
        </p:txBody>
      </p:sp>
      <p:sp>
        <p:nvSpPr>
          <p:cNvPr id="101379" name="Rectangle 2"/>
          <p:cNvSpPr>
            <a:spLocks noChangeArrowheads="1"/>
          </p:cNvSpPr>
          <p:nvPr/>
        </p:nvSpPr>
        <p:spPr bwMode="auto">
          <a:xfrm>
            <a:off x="323850" y="198438"/>
            <a:ext cx="7632700" cy="1187450"/>
          </a:xfrm>
          <a:prstGeom prst="rect">
            <a:avLst/>
          </a:prstGeom>
          <a:noFill/>
          <a:ln w="12700" cap="sq">
            <a:noFill/>
            <a:miter lim="800000"/>
            <a:headEnd type="none" w="sm" len="sm"/>
            <a:tailEnd type="none" w="sm" len="sm"/>
          </a:ln>
        </p:spPr>
        <p:txBody>
          <a:bodyPr anchor="ctr">
            <a:spAutoFit/>
          </a:bodyPr>
          <a:lstStyle/>
          <a:p>
            <a:r>
              <a:rPr lang="en-US" altLang="zh-CN" sz="2400" b="0">
                <a:solidFill>
                  <a:schemeClr val="tx1"/>
                </a:solidFill>
                <a:latin typeface="宋体" pitchFamily="2" charset="-122"/>
              </a:rPr>
              <a:t>    </a:t>
            </a:r>
            <a:r>
              <a:rPr lang="zh-CN" altLang="en-US" sz="2400" b="0">
                <a:solidFill>
                  <a:schemeClr val="tx1"/>
                </a:solidFill>
                <a:latin typeface="宋体" pitchFamily="2" charset="-122"/>
              </a:rPr>
              <a:t>下面举</a:t>
            </a:r>
            <a:r>
              <a:rPr lang="en-US" altLang="zh-CN" sz="2400" b="0">
                <a:solidFill>
                  <a:schemeClr val="tx1"/>
                </a:solidFill>
                <a:latin typeface="宋体" pitchFamily="2" charset="-122"/>
              </a:rPr>
              <a:t>4</a:t>
            </a:r>
            <a:r>
              <a:rPr lang="zh-CN" altLang="en-US" sz="2400" b="0">
                <a:solidFill>
                  <a:schemeClr val="tx1"/>
                </a:solidFill>
                <a:latin typeface="宋体" pitchFamily="2" charset="-122"/>
              </a:rPr>
              <a:t>条垂直型微指令的微指令格式加以说明。设微指令字长为</a:t>
            </a:r>
            <a:r>
              <a:rPr lang="en-US" altLang="zh-CN" sz="2400" b="0">
                <a:solidFill>
                  <a:schemeClr val="tx1"/>
                </a:solidFill>
                <a:latin typeface="宋体" pitchFamily="2" charset="-122"/>
              </a:rPr>
              <a:t>16</a:t>
            </a:r>
            <a:r>
              <a:rPr lang="zh-CN" altLang="en-US" sz="2400" b="0">
                <a:solidFill>
                  <a:schemeClr val="tx1"/>
                </a:solidFill>
                <a:latin typeface="宋体" pitchFamily="2" charset="-122"/>
              </a:rPr>
              <a:t>位，微操作码</a:t>
            </a:r>
            <a:r>
              <a:rPr lang="en-US" altLang="zh-CN" sz="2400" b="0">
                <a:solidFill>
                  <a:schemeClr val="tx1"/>
                </a:solidFill>
                <a:latin typeface="宋体" pitchFamily="2" charset="-122"/>
              </a:rPr>
              <a:t>3</a:t>
            </a:r>
            <a:r>
              <a:rPr lang="zh-CN" altLang="en-US" sz="2400" b="0">
                <a:solidFill>
                  <a:schemeClr val="tx1"/>
                </a:solidFill>
                <a:latin typeface="宋体" pitchFamily="2" charset="-122"/>
              </a:rPr>
              <a:t>位。 </a:t>
            </a:r>
          </a:p>
          <a:p>
            <a:pPr lvl="1">
              <a:buFontTx/>
              <a:buChar char="•"/>
            </a:pPr>
            <a:r>
              <a:rPr lang="zh-CN" altLang="en-US" sz="2400" b="0">
                <a:solidFill>
                  <a:schemeClr val="tx1"/>
                </a:solidFill>
                <a:latin typeface="宋体" pitchFamily="2" charset="-122"/>
              </a:rPr>
              <a:t> 寄存器</a:t>
            </a:r>
            <a:r>
              <a:rPr lang="en-US" altLang="zh-CN" sz="2400" b="0">
                <a:solidFill>
                  <a:schemeClr val="tx1"/>
                </a:solidFill>
                <a:latin typeface="宋体" pitchFamily="2" charset="-122"/>
              </a:rPr>
              <a:t>-</a:t>
            </a:r>
            <a:r>
              <a:rPr lang="zh-CN" altLang="en-US" sz="2400" b="0">
                <a:solidFill>
                  <a:schemeClr val="tx1"/>
                </a:solidFill>
                <a:latin typeface="宋体" pitchFamily="2" charset="-122"/>
              </a:rPr>
              <a:t>寄存器传送型微指令</a:t>
            </a:r>
          </a:p>
        </p:txBody>
      </p:sp>
      <p:sp>
        <p:nvSpPr>
          <p:cNvPr id="101380" name="Rectangle 3"/>
          <p:cNvSpPr>
            <a:spLocks noChangeArrowheads="1"/>
          </p:cNvSpPr>
          <p:nvPr/>
        </p:nvSpPr>
        <p:spPr bwMode="auto">
          <a:xfrm>
            <a:off x="468313" y="5084763"/>
            <a:ext cx="8135937" cy="1187450"/>
          </a:xfrm>
          <a:prstGeom prst="rect">
            <a:avLst/>
          </a:prstGeom>
          <a:noFill/>
          <a:ln w="12700" cap="sq">
            <a:noFill/>
            <a:miter lim="800000"/>
            <a:headEnd type="none" w="sm" len="sm"/>
            <a:tailEnd type="none" w="sm" len="sm"/>
          </a:ln>
        </p:spPr>
        <p:txBody>
          <a:bodyPr anchor="ctr">
            <a:spAutoFit/>
          </a:bodyPr>
          <a:lstStyle/>
          <a:p>
            <a:pPr eaLnBrk="0" hangingPunct="0"/>
            <a:r>
              <a:rPr lang="en-US" altLang="zh-CN" sz="2400" b="0">
                <a:solidFill>
                  <a:schemeClr val="tx1"/>
                </a:solidFill>
                <a:latin typeface="宋体" pitchFamily="2" charset="-122"/>
              </a:rPr>
              <a:t>    </a:t>
            </a:r>
            <a:r>
              <a:rPr lang="zh-CN" altLang="en-US" sz="2400" b="0">
                <a:solidFill>
                  <a:schemeClr val="tx1"/>
                </a:solidFill>
                <a:latin typeface="宋体" pitchFamily="2" charset="-122"/>
              </a:rPr>
              <a:t>其功能是选择</a:t>
            </a:r>
            <a:r>
              <a:rPr lang="en-US" altLang="zh-CN" sz="2400" b="0">
                <a:solidFill>
                  <a:schemeClr val="tx1"/>
                </a:solidFill>
                <a:latin typeface="宋体" pitchFamily="2" charset="-122"/>
              </a:rPr>
              <a:t>ALU</a:t>
            </a:r>
            <a:r>
              <a:rPr lang="zh-CN" altLang="en-US" sz="2400" b="0">
                <a:solidFill>
                  <a:schemeClr val="tx1"/>
                </a:solidFill>
                <a:latin typeface="宋体" pitchFamily="2" charset="-122"/>
              </a:rPr>
              <a:t>的左、右两输入源信息，按</a:t>
            </a:r>
            <a:r>
              <a:rPr lang="en-US" altLang="zh-CN" sz="2400" b="0">
                <a:solidFill>
                  <a:schemeClr val="tx1"/>
                </a:solidFill>
                <a:latin typeface="宋体" pitchFamily="2" charset="-122"/>
              </a:rPr>
              <a:t>ALU</a:t>
            </a:r>
            <a:r>
              <a:rPr lang="zh-CN" altLang="en-US" sz="2400" b="0">
                <a:solidFill>
                  <a:schemeClr val="tx1"/>
                </a:solidFill>
                <a:latin typeface="宋体" pitchFamily="2" charset="-122"/>
              </a:rPr>
              <a:t>字段所指定的运算功能</a:t>
            </a:r>
            <a:r>
              <a:rPr lang="en-US" altLang="zh-CN" sz="2400" b="0">
                <a:solidFill>
                  <a:schemeClr val="tx1"/>
                </a:solidFill>
                <a:latin typeface="宋体" pitchFamily="2" charset="-122"/>
              </a:rPr>
              <a:t>(8</a:t>
            </a:r>
            <a:r>
              <a:rPr lang="zh-CN" altLang="en-US" sz="2400" b="0">
                <a:solidFill>
                  <a:schemeClr val="tx1"/>
                </a:solidFill>
                <a:latin typeface="宋体" pitchFamily="2" charset="-122"/>
              </a:rPr>
              <a:t>种操作</a:t>
            </a:r>
            <a:r>
              <a:rPr lang="en-US" altLang="zh-CN" sz="2400" b="0">
                <a:solidFill>
                  <a:schemeClr val="tx1"/>
                </a:solidFill>
                <a:latin typeface="宋体" pitchFamily="2" charset="-122"/>
              </a:rPr>
              <a:t>)</a:t>
            </a:r>
            <a:r>
              <a:rPr lang="zh-CN" altLang="en-US" sz="2400" b="0">
                <a:solidFill>
                  <a:schemeClr val="tx1"/>
                </a:solidFill>
                <a:latin typeface="宋体" pitchFamily="2" charset="-122"/>
              </a:rPr>
              <a:t>进行处理，并将结果送入暂存器中。左、右输入源编址可指定</a:t>
            </a:r>
            <a:r>
              <a:rPr lang="en-US" altLang="zh-CN" sz="2400" b="0">
                <a:solidFill>
                  <a:schemeClr val="tx1"/>
                </a:solidFill>
                <a:latin typeface="宋体" pitchFamily="2" charset="-122"/>
              </a:rPr>
              <a:t>31</a:t>
            </a:r>
            <a:r>
              <a:rPr lang="zh-CN" altLang="en-US" sz="2400" b="0">
                <a:solidFill>
                  <a:schemeClr val="tx1"/>
                </a:solidFill>
                <a:latin typeface="宋体" pitchFamily="2" charset="-122"/>
              </a:rPr>
              <a:t>种信息源之一。</a:t>
            </a:r>
            <a:endParaRPr lang="zh-CN" altLang="en-US" sz="1600" b="0" i="1">
              <a:solidFill>
                <a:schemeClr val="tx1"/>
              </a:solidFill>
              <a:ea typeface="黑体" pitchFamily="49" charset="-122"/>
            </a:endParaRPr>
          </a:p>
        </p:txBody>
      </p:sp>
      <p:pic>
        <p:nvPicPr>
          <p:cNvPr id="101381" name="Picture 4" descr="t5"/>
          <p:cNvPicPr>
            <a:picLocks noChangeAspect="1" noChangeArrowheads="1"/>
          </p:cNvPicPr>
          <p:nvPr/>
        </p:nvPicPr>
        <p:blipFill>
          <a:blip r:embed="rId2"/>
          <a:srcRect/>
          <a:stretch>
            <a:fillRect/>
          </a:stretch>
        </p:blipFill>
        <p:spPr bwMode="auto">
          <a:xfrm>
            <a:off x="684213" y="1268413"/>
            <a:ext cx="7488237" cy="1152525"/>
          </a:xfrm>
          <a:prstGeom prst="rect">
            <a:avLst/>
          </a:prstGeom>
          <a:noFill/>
          <a:ln w="9525">
            <a:noFill/>
            <a:miter lim="800000"/>
            <a:headEnd/>
            <a:tailEnd/>
          </a:ln>
        </p:spPr>
      </p:pic>
      <p:pic>
        <p:nvPicPr>
          <p:cNvPr id="101382" name="Picture 5" descr="t5"/>
          <p:cNvPicPr>
            <a:picLocks noChangeAspect="1" noChangeArrowheads="1"/>
          </p:cNvPicPr>
          <p:nvPr/>
        </p:nvPicPr>
        <p:blipFill>
          <a:blip r:embed="rId3"/>
          <a:srcRect/>
          <a:stretch>
            <a:fillRect/>
          </a:stretch>
        </p:blipFill>
        <p:spPr bwMode="auto">
          <a:xfrm>
            <a:off x="755650" y="3789363"/>
            <a:ext cx="7488238" cy="1263650"/>
          </a:xfrm>
          <a:prstGeom prst="rect">
            <a:avLst/>
          </a:prstGeom>
          <a:noFill/>
          <a:ln w="9525">
            <a:noFill/>
            <a:miter lim="800000"/>
            <a:headEnd/>
            <a:tailEnd/>
          </a:ln>
        </p:spPr>
      </p:pic>
      <p:sp>
        <p:nvSpPr>
          <p:cNvPr id="101383" name="Rectangle 6"/>
          <p:cNvSpPr>
            <a:spLocks noChangeArrowheads="1"/>
          </p:cNvSpPr>
          <p:nvPr/>
        </p:nvSpPr>
        <p:spPr bwMode="auto">
          <a:xfrm>
            <a:off x="323850" y="2420938"/>
            <a:ext cx="8497888" cy="1552575"/>
          </a:xfrm>
          <a:prstGeom prst="rect">
            <a:avLst/>
          </a:prstGeom>
          <a:noFill/>
          <a:ln w="12700" cap="sq">
            <a:noFill/>
            <a:miter lim="800000"/>
            <a:headEnd type="none" w="sm" len="sm"/>
            <a:tailEnd type="none" w="sm" len="sm"/>
          </a:ln>
        </p:spPr>
        <p:txBody>
          <a:bodyPr>
            <a:spAutoFit/>
          </a:bodyPr>
          <a:lstStyle/>
          <a:p>
            <a:r>
              <a:rPr lang="en-US" altLang="zh-CN" sz="2400" b="0">
                <a:solidFill>
                  <a:schemeClr val="tx1"/>
                </a:solidFill>
                <a:latin typeface="宋体" pitchFamily="2" charset="-122"/>
              </a:rPr>
              <a:t>    </a:t>
            </a:r>
            <a:r>
              <a:rPr lang="zh-CN" altLang="en-US" sz="2400" b="0">
                <a:solidFill>
                  <a:schemeClr val="tx1"/>
                </a:solidFill>
                <a:latin typeface="宋体" pitchFamily="2" charset="-122"/>
              </a:rPr>
              <a:t>其功能是把源寄存器数据送目标寄存器。</a:t>
            </a:r>
            <a:r>
              <a:rPr lang="en-US" altLang="zh-CN" sz="2400" b="0">
                <a:solidFill>
                  <a:schemeClr val="tx1"/>
                </a:solidFill>
                <a:latin typeface="宋体" pitchFamily="2" charset="-122"/>
              </a:rPr>
              <a:t>13—15</a:t>
            </a:r>
            <a:r>
              <a:rPr lang="zh-CN" altLang="en-US" sz="2400" b="0">
                <a:solidFill>
                  <a:schemeClr val="tx1"/>
                </a:solidFill>
                <a:latin typeface="宋体" pitchFamily="2" charset="-122"/>
              </a:rPr>
              <a:t>位为微操作码</a:t>
            </a:r>
            <a:r>
              <a:rPr lang="en-US" altLang="zh-CN" sz="2400" b="0">
                <a:solidFill>
                  <a:schemeClr val="tx1"/>
                </a:solidFill>
                <a:latin typeface="宋体" pitchFamily="2" charset="-122"/>
              </a:rPr>
              <a:t>(</a:t>
            </a:r>
            <a:r>
              <a:rPr lang="zh-CN" altLang="en-US" sz="2400" b="0">
                <a:solidFill>
                  <a:schemeClr val="tx1"/>
                </a:solidFill>
                <a:latin typeface="宋体" pitchFamily="2" charset="-122"/>
              </a:rPr>
              <a:t>下同</a:t>
            </a:r>
            <a:r>
              <a:rPr lang="en-US" altLang="zh-CN" sz="2400" b="0">
                <a:solidFill>
                  <a:schemeClr val="tx1"/>
                </a:solidFill>
                <a:latin typeface="宋体" pitchFamily="2" charset="-122"/>
              </a:rPr>
              <a:t>)</a:t>
            </a:r>
            <a:r>
              <a:rPr lang="zh-CN" altLang="en-US" sz="2400" b="0">
                <a:solidFill>
                  <a:schemeClr val="tx1"/>
                </a:solidFill>
                <a:latin typeface="宋体" pitchFamily="2" charset="-122"/>
              </a:rPr>
              <a:t>，源寄存器和目标寄存器编址各</a:t>
            </a:r>
            <a:r>
              <a:rPr lang="en-US" altLang="zh-CN" sz="2400" b="0">
                <a:solidFill>
                  <a:schemeClr val="tx1"/>
                </a:solidFill>
                <a:latin typeface="宋体" pitchFamily="2" charset="-122"/>
              </a:rPr>
              <a:t>5</a:t>
            </a:r>
            <a:r>
              <a:rPr lang="zh-CN" altLang="en-US" sz="2400" b="0">
                <a:solidFill>
                  <a:schemeClr val="tx1"/>
                </a:solidFill>
                <a:latin typeface="宋体" pitchFamily="2" charset="-122"/>
              </a:rPr>
              <a:t>位，可指定</a:t>
            </a:r>
            <a:r>
              <a:rPr lang="en-US" altLang="zh-CN" sz="2400" b="0">
                <a:solidFill>
                  <a:schemeClr val="tx1"/>
                </a:solidFill>
                <a:latin typeface="宋体" pitchFamily="2" charset="-122"/>
              </a:rPr>
              <a:t>31</a:t>
            </a:r>
            <a:r>
              <a:rPr lang="zh-CN" altLang="en-US" sz="2400" b="0">
                <a:solidFill>
                  <a:schemeClr val="tx1"/>
                </a:solidFill>
                <a:latin typeface="宋体" pitchFamily="2" charset="-122"/>
              </a:rPr>
              <a:t>个寄存器。</a:t>
            </a:r>
          </a:p>
          <a:p>
            <a:pPr lvl="1">
              <a:buFontTx/>
              <a:buChar char="•"/>
            </a:pPr>
            <a:r>
              <a:rPr lang="zh-CN" altLang="en-US" sz="2400" b="0">
                <a:solidFill>
                  <a:schemeClr val="tx1"/>
                </a:solidFill>
                <a:latin typeface="宋体" pitchFamily="2" charset="-122"/>
              </a:rPr>
              <a:t> 运算控制型微指令</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a:noFill/>
        </p:spPr>
        <p:txBody>
          <a:bodyPr/>
          <a:lstStyle/>
          <a:p>
            <a:fld id="{333D5F48-734E-4F31-9032-70CC29E254D1}" type="slidenum">
              <a:rPr lang="en-US" altLang="zh-CN" smtClean="0"/>
              <a:pPr/>
              <a:t>95</a:t>
            </a:fld>
            <a:endParaRPr lang="en-US" altLang="zh-CN" smtClean="0"/>
          </a:p>
        </p:txBody>
      </p:sp>
      <p:sp>
        <p:nvSpPr>
          <p:cNvPr id="102403" name="Rectangle 2"/>
          <p:cNvSpPr>
            <a:spLocks noChangeArrowheads="1"/>
          </p:cNvSpPr>
          <p:nvPr/>
        </p:nvSpPr>
        <p:spPr bwMode="auto">
          <a:xfrm>
            <a:off x="468313" y="260350"/>
            <a:ext cx="8280400" cy="6299200"/>
          </a:xfrm>
          <a:prstGeom prst="rect">
            <a:avLst/>
          </a:prstGeom>
          <a:noFill/>
          <a:ln w="12700" cap="sq">
            <a:noFill/>
            <a:miter lim="800000"/>
            <a:headEnd type="none" w="sm" len="sm"/>
            <a:tailEnd type="none" w="sm" len="sm"/>
          </a:ln>
        </p:spPr>
        <p:txBody>
          <a:bodyPr anchor="ctr">
            <a:spAutoFit/>
          </a:bodyPr>
          <a:lstStyle/>
          <a:p>
            <a:pPr lvl="1" eaLnBrk="0" hangingPunct="0">
              <a:buFontTx/>
              <a:buChar char="•"/>
            </a:pPr>
            <a:r>
              <a:rPr lang="en-US" altLang="zh-CN" sz="2400" b="0">
                <a:solidFill>
                  <a:schemeClr val="tx1"/>
                </a:solidFill>
                <a:latin typeface="宋体" pitchFamily="2" charset="-122"/>
              </a:rPr>
              <a:t> </a:t>
            </a:r>
            <a:r>
              <a:rPr lang="zh-CN" altLang="en-US" sz="2400" b="0">
                <a:solidFill>
                  <a:schemeClr val="tx1"/>
                </a:solidFill>
                <a:latin typeface="宋体" pitchFamily="2" charset="-122"/>
              </a:rPr>
              <a:t>访问主存微指令</a:t>
            </a:r>
          </a:p>
          <a:p>
            <a:pPr eaLnBrk="0" hangingPunct="0"/>
            <a:r>
              <a:rPr lang="zh-CN" altLang="en-US" sz="2400" b="0">
                <a:solidFill>
                  <a:schemeClr val="tx1"/>
                </a:solidFill>
                <a:latin typeface="宋体" pitchFamily="2" charset="-122"/>
              </a:rPr>
              <a:t>                                                                                    </a:t>
            </a:r>
          </a:p>
          <a:p>
            <a:pPr eaLnBrk="0" hangingPunct="0"/>
            <a:endParaRPr lang="zh-CN" altLang="en-US" sz="2400" b="0">
              <a:solidFill>
                <a:schemeClr val="tx1"/>
              </a:solidFill>
              <a:latin typeface="宋体" pitchFamily="2" charset="-122"/>
            </a:endParaRPr>
          </a:p>
          <a:p>
            <a:pPr eaLnBrk="0" hangingPunct="0"/>
            <a:r>
              <a:rPr lang="zh-CN" altLang="en-US" sz="2400" b="0">
                <a:solidFill>
                  <a:schemeClr val="tx1"/>
                </a:solidFill>
                <a:latin typeface="宋体" pitchFamily="2" charset="-122"/>
              </a:rPr>
              <a:t>　　</a:t>
            </a:r>
          </a:p>
          <a:p>
            <a:pPr eaLnBrk="0" hangingPunct="0"/>
            <a:r>
              <a:rPr lang="zh-CN" altLang="en-US" sz="2400" b="0">
                <a:solidFill>
                  <a:schemeClr val="tx1"/>
                </a:solidFill>
                <a:latin typeface="宋体" pitchFamily="2" charset="-122"/>
              </a:rPr>
              <a:t>    其功能是将主存中一个单元的信息送入寄存器或者将寄存器的数据送往主存。存储器编址是指按规定的寻址方式进行编址。第</a:t>
            </a:r>
            <a:r>
              <a:rPr lang="en-US" altLang="zh-CN" sz="2400" b="0">
                <a:solidFill>
                  <a:schemeClr val="tx1"/>
                </a:solidFill>
                <a:latin typeface="宋体" pitchFamily="2" charset="-122"/>
              </a:rPr>
              <a:t>1</a:t>
            </a:r>
            <a:r>
              <a:rPr lang="zh-CN" altLang="en-US" sz="2400" b="0">
                <a:solidFill>
                  <a:schemeClr val="tx1"/>
                </a:solidFill>
                <a:latin typeface="宋体" pitchFamily="2" charset="-122"/>
              </a:rPr>
              <a:t>，</a:t>
            </a:r>
            <a:r>
              <a:rPr lang="en-US" altLang="zh-CN" sz="2400" b="0">
                <a:solidFill>
                  <a:schemeClr val="tx1"/>
                </a:solidFill>
                <a:latin typeface="宋体" pitchFamily="2" charset="-122"/>
              </a:rPr>
              <a:t>2</a:t>
            </a:r>
            <a:r>
              <a:rPr lang="zh-CN" altLang="en-US" sz="2400" b="0">
                <a:solidFill>
                  <a:schemeClr val="tx1"/>
                </a:solidFill>
                <a:latin typeface="宋体" pitchFamily="2" charset="-122"/>
              </a:rPr>
              <a:t>位指定读操作或写操作</a:t>
            </a:r>
            <a:r>
              <a:rPr lang="en-US" altLang="zh-CN" sz="2400" b="0">
                <a:solidFill>
                  <a:schemeClr val="tx1"/>
                </a:solidFill>
                <a:latin typeface="宋体" pitchFamily="2" charset="-122"/>
              </a:rPr>
              <a:t>(</a:t>
            </a:r>
            <a:r>
              <a:rPr lang="zh-CN" altLang="en-US" sz="2400" b="0">
                <a:solidFill>
                  <a:schemeClr val="tx1"/>
                </a:solidFill>
                <a:latin typeface="宋体" pitchFamily="2" charset="-122"/>
              </a:rPr>
              <a:t>取其之一</a:t>
            </a:r>
            <a:r>
              <a:rPr lang="en-US" altLang="zh-CN" sz="2400" b="0">
                <a:solidFill>
                  <a:schemeClr val="tx1"/>
                </a:solidFill>
                <a:latin typeface="宋体" pitchFamily="2" charset="-122"/>
              </a:rPr>
              <a:t>)</a:t>
            </a:r>
            <a:r>
              <a:rPr lang="zh-CN" altLang="en-US" sz="2400" b="0">
                <a:solidFill>
                  <a:schemeClr val="tx1"/>
                </a:solidFill>
                <a:latin typeface="宋体" pitchFamily="2" charset="-122"/>
              </a:rPr>
              <a:t>。</a:t>
            </a:r>
          </a:p>
          <a:p>
            <a:pPr lvl="1" eaLnBrk="0" hangingPunct="0">
              <a:buFontTx/>
              <a:buChar char="•"/>
            </a:pPr>
            <a:r>
              <a:rPr lang="zh-CN" altLang="en-US" sz="2400" b="0">
                <a:solidFill>
                  <a:schemeClr val="tx1"/>
                </a:solidFill>
                <a:latin typeface="宋体" pitchFamily="2" charset="-122"/>
              </a:rPr>
              <a:t> 条件转移微指令</a:t>
            </a:r>
          </a:p>
          <a:p>
            <a:pPr eaLnBrk="0" hangingPunct="0"/>
            <a:r>
              <a:rPr lang="zh-CN" altLang="en-US" sz="2400" b="0">
                <a:solidFill>
                  <a:schemeClr val="tx1"/>
                </a:solidFill>
                <a:latin typeface="宋体" pitchFamily="2" charset="-122"/>
              </a:rPr>
              <a:t>                                                                                    </a:t>
            </a:r>
          </a:p>
          <a:p>
            <a:pPr eaLnBrk="0" hangingPunct="0"/>
            <a:r>
              <a:rPr lang="zh-CN" altLang="en-US" sz="2400" b="0">
                <a:solidFill>
                  <a:schemeClr val="tx1"/>
                </a:solidFill>
                <a:latin typeface="宋体" pitchFamily="2" charset="-122"/>
              </a:rPr>
              <a:t>　　</a:t>
            </a:r>
          </a:p>
          <a:p>
            <a:pPr eaLnBrk="0" hangingPunct="0"/>
            <a:endParaRPr lang="zh-CN" altLang="en-US" sz="2400" b="0">
              <a:solidFill>
                <a:schemeClr val="tx1"/>
              </a:solidFill>
              <a:latin typeface="宋体" pitchFamily="2" charset="-122"/>
            </a:endParaRPr>
          </a:p>
          <a:p>
            <a:pPr eaLnBrk="0" hangingPunct="0"/>
            <a:r>
              <a:rPr lang="zh-CN" altLang="en-US" sz="2400" b="0">
                <a:solidFill>
                  <a:schemeClr val="tx1"/>
                </a:solidFill>
                <a:latin typeface="宋体" pitchFamily="2" charset="-122"/>
              </a:rPr>
              <a:t>    其功能是根据测试对象的状态决定是转移到</a:t>
            </a:r>
            <a:r>
              <a:rPr lang="en-US" altLang="zh-CN" sz="2400" b="0">
                <a:solidFill>
                  <a:schemeClr val="tx1"/>
                </a:solidFill>
                <a:latin typeface="宋体" pitchFamily="2" charset="-122"/>
              </a:rPr>
              <a:t>D</a:t>
            </a:r>
            <a:r>
              <a:rPr lang="zh-CN" altLang="en-US" sz="2400" b="0">
                <a:solidFill>
                  <a:schemeClr val="tx1"/>
                </a:solidFill>
                <a:latin typeface="宋体" pitchFamily="2" charset="-122"/>
              </a:rPr>
              <a:t>所指定的微地址单元，还是顺序执行下一条微指令。</a:t>
            </a:r>
            <a:r>
              <a:rPr lang="en-US" altLang="zh-CN" sz="2400" b="0">
                <a:solidFill>
                  <a:schemeClr val="tx1"/>
                </a:solidFill>
                <a:latin typeface="宋体" pitchFamily="2" charset="-122"/>
              </a:rPr>
              <a:t>9</a:t>
            </a:r>
            <a:r>
              <a:rPr lang="zh-CN" altLang="en-US" sz="2400" b="0">
                <a:solidFill>
                  <a:schemeClr val="tx1"/>
                </a:solidFill>
                <a:latin typeface="宋体" pitchFamily="2" charset="-122"/>
              </a:rPr>
              <a:t>位</a:t>
            </a:r>
            <a:r>
              <a:rPr lang="en-US" altLang="zh-CN" sz="2400" b="0">
                <a:solidFill>
                  <a:schemeClr val="tx1"/>
                </a:solidFill>
                <a:latin typeface="宋体" pitchFamily="2" charset="-122"/>
              </a:rPr>
              <a:t>D</a:t>
            </a:r>
            <a:r>
              <a:rPr lang="zh-CN" altLang="en-US" sz="2400" b="0">
                <a:solidFill>
                  <a:schemeClr val="tx1"/>
                </a:solidFill>
                <a:latin typeface="宋体" pitchFamily="2" charset="-122"/>
              </a:rPr>
              <a:t>字段不足以表示一个完整的微地址，但可用来替代现行</a:t>
            </a:r>
            <a:r>
              <a:rPr lang="en-US" altLang="zh-CN" sz="2400" b="0">
                <a:solidFill>
                  <a:schemeClr val="tx1"/>
                </a:solidFill>
                <a:latin typeface="宋体" pitchFamily="2" charset="-122"/>
              </a:rPr>
              <a:t>μPC</a:t>
            </a:r>
            <a:r>
              <a:rPr lang="zh-CN" altLang="en-US" sz="2400" b="0">
                <a:solidFill>
                  <a:schemeClr val="tx1"/>
                </a:solidFill>
                <a:latin typeface="宋体" pitchFamily="2" charset="-122"/>
              </a:rPr>
              <a:t>的低位地址。 测试条件字段有</a:t>
            </a:r>
            <a:r>
              <a:rPr lang="en-US" altLang="zh-CN" sz="2400" b="0">
                <a:solidFill>
                  <a:schemeClr val="tx1"/>
                </a:solidFill>
                <a:latin typeface="宋体" pitchFamily="2" charset="-122"/>
              </a:rPr>
              <a:t>4</a:t>
            </a:r>
            <a:r>
              <a:rPr lang="zh-CN" altLang="en-US" sz="2400" b="0">
                <a:solidFill>
                  <a:schemeClr val="tx1"/>
                </a:solidFill>
                <a:latin typeface="宋体" pitchFamily="2" charset="-122"/>
              </a:rPr>
              <a:t>位，可规定</a:t>
            </a:r>
            <a:r>
              <a:rPr lang="en-US" altLang="zh-CN" sz="2400" b="0">
                <a:solidFill>
                  <a:schemeClr val="tx1"/>
                </a:solidFill>
                <a:latin typeface="宋体" pitchFamily="2" charset="-122"/>
              </a:rPr>
              <a:t>16</a:t>
            </a:r>
            <a:r>
              <a:rPr lang="zh-CN" altLang="en-US" sz="2400" b="0">
                <a:solidFill>
                  <a:schemeClr val="tx1"/>
                </a:solidFill>
                <a:latin typeface="宋体" pitchFamily="2" charset="-122"/>
              </a:rPr>
              <a:t>种测试条件。 </a:t>
            </a:r>
          </a:p>
        </p:txBody>
      </p:sp>
      <p:pic>
        <p:nvPicPr>
          <p:cNvPr id="102404" name="Picture 3" descr="t5"/>
          <p:cNvPicPr>
            <a:picLocks noChangeAspect="1" noChangeArrowheads="1"/>
          </p:cNvPicPr>
          <p:nvPr/>
        </p:nvPicPr>
        <p:blipFill>
          <a:blip r:embed="rId2"/>
          <a:srcRect/>
          <a:stretch>
            <a:fillRect/>
          </a:stretch>
        </p:blipFill>
        <p:spPr bwMode="auto">
          <a:xfrm>
            <a:off x="611188" y="836613"/>
            <a:ext cx="7416800" cy="1250950"/>
          </a:xfrm>
          <a:prstGeom prst="rect">
            <a:avLst/>
          </a:prstGeom>
          <a:noFill/>
          <a:ln w="9525">
            <a:noFill/>
            <a:miter lim="800000"/>
            <a:headEnd/>
            <a:tailEnd/>
          </a:ln>
        </p:spPr>
      </p:pic>
      <p:pic>
        <p:nvPicPr>
          <p:cNvPr id="102405" name="Picture 4" descr="t5"/>
          <p:cNvPicPr>
            <a:picLocks noChangeAspect="1" noChangeArrowheads="1"/>
          </p:cNvPicPr>
          <p:nvPr/>
        </p:nvPicPr>
        <p:blipFill>
          <a:blip r:embed="rId3"/>
          <a:srcRect/>
          <a:stretch>
            <a:fillRect/>
          </a:stretch>
        </p:blipFill>
        <p:spPr bwMode="auto">
          <a:xfrm>
            <a:off x="684213" y="3573463"/>
            <a:ext cx="7343775" cy="1238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p:cNvSpPr>
            <a:spLocks noGrp="1"/>
          </p:cNvSpPr>
          <p:nvPr>
            <p:ph type="sldNum" sz="quarter" idx="12"/>
          </p:nvPr>
        </p:nvSpPr>
        <p:spPr>
          <a:noFill/>
        </p:spPr>
        <p:txBody>
          <a:bodyPr/>
          <a:lstStyle/>
          <a:p>
            <a:fld id="{736C9F51-6E3E-4E9C-B603-DD77B4DCC5D1}" type="slidenum">
              <a:rPr lang="en-US" altLang="zh-CN" smtClean="0"/>
              <a:pPr/>
              <a:t>96</a:t>
            </a:fld>
            <a:endParaRPr lang="en-US" altLang="zh-CN" smtClean="0"/>
          </a:p>
        </p:txBody>
      </p:sp>
      <p:sp>
        <p:nvSpPr>
          <p:cNvPr id="103427" name="Rectangle 2"/>
          <p:cNvSpPr>
            <a:spLocks noGrp="1" noChangeArrowheads="1"/>
          </p:cNvSpPr>
          <p:nvPr>
            <p:ph type="body" idx="1"/>
          </p:nvPr>
        </p:nvSpPr>
        <p:spPr>
          <a:xfrm>
            <a:off x="395288" y="404813"/>
            <a:ext cx="7416800" cy="6048375"/>
          </a:xfrm>
        </p:spPr>
        <p:txBody>
          <a:bodyPr/>
          <a:lstStyle/>
          <a:p>
            <a:pPr eaLnBrk="1" hangingPunct="1">
              <a:lnSpc>
                <a:spcPct val="90000"/>
              </a:lnSpc>
            </a:pPr>
            <a:r>
              <a:rPr lang="zh-CN" altLang="en-US" sz="2400" dirty="0" smtClean="0">
                <a:latin typeface="宋体" pitchFamily="2" charset="-122"/>
              </a:rPr>
              <a:t>垂直型微指令的特点：</a:t>
            </a:r>
          </a:p>
          <a:p>
            <a:pPr lvl="1" eaLnBrk="1" hangingPunct="1">
              <a:lnSpc>
                <a:spcPct val="90000"/>
              </a:lnSpc>
            </a:pPr>
            <a:r>
              <a:rPr lang="zh-CN" altLang="en-US" sz="2400" dirty="0" smtClean="0">
                <a:latin typeface="宋体" pitchFamily="2" charset="-122"/>
              </a:rPr>
              <a:t>微指令字短，一般为</a:t>
            </a:r>
            <a:r>
              <a:rPr lang="en-US" altLang="zh-CN" sz="2400" dirty="0" smtClean="0">
                <a:latin typeface="宋体" pitchFamily="2" charset="-122"/>
              </a:rPr>
              <a:t>10</a:t>
            </a:r>
            <a:r>
              <a:rPr lang="zh-CN" altLang="en-US" sz="2400" dirty="0" smtClean="0">
                <a:latin typeface="宋体" pitchFamily="2" charset="-122"/>
              </a:rPr>
              <a:t>～</a:t>
            </a:r>
            <a:r>
              <a:rPr lang="en-US" altLang="zh-CN" sz="2400" dirty="0" smtClean="0">
                <a:latin typeface="宋体" pitchFamily="2" charset="-122"/>
              </a:rPr>
              <a:t>20</a:t>
            </a:r>
            <a:r>
              <a:rPr lang="zh-CN" altLang="en-US" sz="2400" dirty="0" smtClean="0">
                <a:latin typeface="宋体" pitchFamily="2" charset="-122"/>
              </a:rPr>
              <a:t>位左右。</a:t>
            </a:r>
          </a:p>
          <a:p>
            <a:pPr lvl="1" eaLnBrk="1" hangingPunct="1">
              <a:lnSpc>
                <a:spcPct val="90000"/>
              </a:lnSpc>
            </a:pPr>
            <a:r>
              <a:rPr lang="zh-CN" altLang="en-US" sz="2400" dirty="0" smtClean="0">
                <a:latin typeface="宋体" pitchFamily="2" charset="-122"/>
              </a:rPr>
              <a:t>微指令的并行微操作能力有限，一条微指令一般只包含一个微操作命令。</a:t>
            </a:r>
          </a:p>
          <a:p>
            <a:pPr lvl="1" eaLnBrk="1" hangingPunct="1">
              <a:lnSpc>
                <a:spcPct val="90000"/>
              </a:lnSpc>
            </a:pPr>
            <a:r>
              <a:rPr lang="zh-CN" altLang="en-US" sz="2400" dirty="0" smtClean="0">
                <a:latin typeface="宋体" pitchFamily="2" charset="-122"/>
              </a:rPr>
              <a:t>微指令译码比较复杂。全部微命令用一个微操作控制字段进行编码，微指令执行时需要完全译码。</a:t>
            </a:r>
          </a:p>
          <a:p>
            <a:pPr lvl="1" eaLnBrk="1" hangingPunct="1">
              <a:lnSpc>
                <a:spcPct val="90000"/>
              </a:lnSpc>
            </a:pPr>
            <a:r>
              <a:rPr lang="zh-CN" altLang="en-US" sz="2400" dirty="0" smtClean="0">
                <a:latin typeface="宋体" pitchFamily="2" charset="-122"/>
              </a:rPr>
              <a:t>设计用户只需注意微指令的功能，对微命令及其选择数据通路的结构不用过多地考虑，因此，便于用户编制微程序。而且，编制的微程序规整、直观，便于实现设计的自动化。</a:t>
            </a:r>
          </a:p>
          <a:p>
            <a:pPr lvl="1" eaLnBrk="1" hangingPunct="1">
              <a:lnSpc>
                <a:spcPct val="90000"/>
              </a:lnSpc>
            </a:pPr>
            <a:r>
              <a:rPr lang="zh-CN" altLang="en-US" sz="2400" dirty="0" smtClean="0">
                <a:latin typeface="宋体" pitchFamily="2" charset="-122"/>
              </a:rPr>
              <a:t>垂直微指令字较短，使控制存储器的横向容量少。</a:t>
            </a:r>
          </a:p>
          <a:p>
            <a:pPr lvl="1" eaLnBrk="1" hangingPunct="1">
              <a:lnSpc>
                <a:spcPct val="90000"/>
              </a:lnSpc>
            </a:pPr>
            <a:r>
              <a:rPr lang="zh-CN" altLang="en-US" sz="2400" dirty="0" smtClean="0">
                <a:latin typeface="宋体" pitchFamily="2" charset="-122"/>
              </a:rPr>
              <a:t>用垂直微指令编制微程序要使用较多的微指令，微程序较长；要求控制存储器的纵向容量大。垂直微指令产生微命令要经过译码，微程序执行速度慢。</a:t>
            </a:r>
          </a:p>
          <a:p>
            <a:pPr lvl="1" eaLnBrk="1" hangingPunct="1">
              <a:lnSpc>
                <a:spcPct val="90000"/>
              </a:lnSpc>
            </a:pPr>
            <a:r>
              <a:rPr lang="zh-CN" altLang="en-US" sz="2400" dirty="0" smtClean="0">
                <a:latin typeface="宋体" pitchFamily="2" charset="-122"/>
              </a:rPr>
              <a:t>不能充分利用数据通路具有的多种并行操作能力。</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12"/>
          </p:nvPr>
        </p:nvSpPr>
        <p:spPr>
          <a:noFill/>
        </p:spPr>
        <p:txBody>
          <a:bodyPr/>
          <a:lstStyle/>
          <a:p>
            <a:fld id="{54B67705-1156-41BE-AB8B-4FF43E7217AE}" type="slidenum">
              <a:rPr lang="en-US" altLang="zh-CN" smtClean="0"/>
              <a:pPr/>
              <a:t>97</a:t>
            </a:fld>
            <a:endParaRPr lang="en-US" altLang="zh-CN" smtClean="0"/>
          </a:p>
        </p:txBody>
      </p:sp>
      <p:sp>
        <p:nvSpPr>
          <p:cNvPr id="104451" name="Rectangle 2"/>
          <p:cNvSpPr>
            <a:spLocks noChangeArrowheads="1"/>
          </p:cNvSpPr>
          <p:nvPr/>
        </p:nvSpPr>
        <p:spPr bwMode="auto">
          <a:xfrm>
            <a:off x="381000" y="533400"/>
            <a:ext cx="8355013" cy="5453063"/>
          </a:xfrm>
          <a:prstGeom prst="rect">
            <a:avLst/>
          </a:prstGeom>
          <a:solidFill>
            <a:schemeClr val="bg1"/>
          </a:solidFill>
          <a:ln w="12700" cap="sq">
            <a:noFill/>
            <a:miter lim="800000"/>
            <a:headEnd type="none" w="sm" len="sm"/>
            <a:tailEnd type="none" w="sm" len="sm"/>
          </a:ln>
        </p:spPr>
        <p:txBody>
          <a:bodyPr>
            <a:spAutoFit/>
          </a:bodyPr>
          <a:lstStyle/>
          <a:p>
            <a:pPr lvl="1"/>
            <a:r>
              <a:rPr lang="zh-CN" altLang="en-US" sz="3200" b="0" dirty="0">
                <a:solidFill>
                  <a:schemeClr val="tx1"/>
                </a:solidFill>
                <a:latin typeface="宋体" pitchFamily="2" charset="-122"/>
              </a:rPr>
              <a:t>（</a:t>
            </a:r>
            <a:r>
              <a:rPr lang="en-US" altLang="zh-CN" sz="3200" b="0" dirty="0">
                <a:solidFill>
                  <a:schemeClr val="tx1"/>
                </a:solidFill>
                <a:latin typeface="宋体" pitchFamily="2" charset="-122"/>
              </a:rPr>
              <a:t>3</a:t>
            </a:r>
            <a:r>
              <a:rPr lang="zh-CN" altLang="en-US" sz="3200" b="0" dirty="0">
                <a:solidFill>
                  <a:schemeClr val="tx1"/>
                </a:solidFill>
                <a:latin typeface="宋体" pitchFamily="2" charset="-122"/>
              </a:rPr>
              <a:t>）水平型微指令和垂直型微指令的比较</a:t>
            </a:r>
          </a:p>
          <a:p>
            <a:pPr lvl="1"/>
            <a:r>
              <a:rPr lang="zh-CN" altLang="en-US" sz="3200" b="0" dirty="0">
                <a:solidFill>
                  <a:schemeClr val="tx1"/>
                </a:solidFill>
                <a:latin typeface="宋体" pitchFamily="2" charset="-122"/>
              </a:rPr>
              <a:t>    ① 水平型微指令并行操作能力强，效率高，灵活性强，垂直型微指令则较差。</a:t>
            </a:r>
          </a:p>
          <a:p>
            <a:pPr lvl="1"/>
            <a:r>
              <a:rPr lang="zh-CN" altLang="en-US" sz="3200" b="0" dirty="0">
                <a:solidFill>
                  <a:schemeClr val="tx1"/>
                </a:solidFill>
                <a:latin typeface="宋体" pitchFamily="2" charset="-122"/>
              </a:rPr>
              <a:t>    ② 水平型微指令执行一条指令的时间短，垂直型微指令执行时间长。</a:t>
            </a:r>
          </a:p>
          <a:p>
            <a:pPr lvl="1"/>
            <a:r>
              <a:rPr lang="zh-CN" altLang="en-US" sz="3200" b="0" dirty="0">
                <a:solidFill>
                  <a:schemeClr val="tx1"/>
                </a:solidFill>
                <a:latin typeface="宋体" pitchFamily="2" charset="-122"/>
              </a:rPr>
              <a:t>    ③ 由水平型微指令解释指令的微程序，有微指令字较长而微程序短的特点。垂直型微指令则相反。</a:t>
            </a:r>
          </a:p>
          <a:p>
            <a:pPr lvl="1"/>
            <a:r>
              <a:rPr lang="zh-CN" altLang="en-US" sz="3200" b="0" dirty="0">
                <a:solidFill>
                  <a:schemeClr val="tx1"/>
                </a:solidFill>
                <a:latin typeface="宋体" pitchFamily="2" charset="-122"/>
              </a:rPr>
              <a:t>    ④ 水平型微指令用户难以掌握，而垂直型微指令与指令比较相似，相对来说，比较容易掌握。</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a:t>
            </a: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练习</a:t>
            </a:r>
          </a:p>
        </p:txBody>
      </p:sp>
      <p:sp>
        <p:nvSpPr>
          <p:cNvPr id="7" name="TextBox 6"/>
          <p:cNvSpPr txBox="1"/>
          <p:nvPr>
            <p:custDataLst>
              <p:tags r:id="rId1"/>
            </p:custDataLst>
          </p:nvPr>
        </p:nvSpPr>
        <p:spPr>
          <a:xfrm>
            <a:off x="267161" y="1202482"/>
            <a:ext cx="8525810" cy="4247317"/>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为了</a:t>
            </a:r>
            <a:r>
              <a:rPr lang="zh-CN" altLang="zh-CN" sz="2000" dirty="0">
                <a:solidFill>
                  <a:schemeClr val="tx1"/>
                </a:solidFill>
                <a:latin typeface="微软雅黑" panose="020B0503020204020204" pitchFamily="34" charset="-122"/>
                <a:ea typeface="微软雅黑" panose="020B0503020204020204" pitchFamily="34" charset="-122"/>
              </a:rPr>
              <a:t>确定下一条微指令的地址，通常采用断定方式，其基本思想</a:t>
            </a:r>
            <a:r>
              <a:rPr lang="zh-CN" altLang="zh-CN" sz="2000" dirty="0" smtClean="0">
                <a:solidFill>
                  <a:schemeClr val="tx1"/>
                </a:solidFill>
                <a:latin typeface="微软雅黑" panose="020B0503020204020204" pitchFamily="34" charset="-122"/>
                <a:ea typeface="微软雅黑" panose="020B0503020204020204" pitchFamily="34" charset="-122"/>
              </a:rPr>
              <a:t>是</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用程序计数器</a:t>
            </a:r>
            <a:r>
              <a:rPr lang="en-US" altLang="zh-CN" sz="2000" dirty="0">
                <a:solidFill>
                  <a:schemeClr val="tx1"/>
                </a:solidFill>
                <a:latin typeface="微软雅黑" panose="020B0503020204020204" pitchFamily="34" charset="-122"/>
                <a:ea typeface="微软雅黑" panose="020B0503020204020204" pitchFamily="34" charset="-122"/>
              </a:rPr>
              <a:t>PC</a:t>
            </a:r>
            <a:r>
              <a:rPr lang="zh-CN" altLang="zh-CN" sz="2000" dirty="0">
                <a:solidFill>
                  <a:schemeClr val="tx1"/>
                </a:solidFill>
                <a:latin typeface="微软雅黑" panose="020B0503020204020204" pitchFamily="34" charset="-122"/>
                <a:ea typeface="微软雅黑" panose="020B0503020204020204" pitchFamily="34" charset="-122"/>
              </a:rPr>
              <a:t>来产生后继续微指令地址</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用微程序计数器</a:t>
            </a:r>
            <a:r>
              <a:rPr lang="en-US" altLang="zh-CN" sz="2000" dirty="0" err="1">
                <a:solidFill>
                  <a:schemeClr val="tx1"/>
                </a:solidFill>
                <a:latin typeface="微软雅黑" panose="020B0503020204020204" pitchFamily="34" charset="-122"/>
                <a:ea typeface="微软雅黑" panose="020B0503020204020204" pitchFamily="34" charset="-122"/>
              </a:rPr>
              <a:t>μPC</a:t>
            </a:r>
            <a:r>
              <a:rPr lang="zh-CN" altLang="zh-CN" sz="2000" dirty="0">
                <a:solidFill>
                  <a:schemeClr val="tx1"/>
                </a:solidFill>
                <a:latin typeface="微软雅黑" panose="020B0503020204020204" pitchFamily="34" charset="-122"/>
                <a:ea typeface="微软雅黑" panose="020B0503020204020204" pitchFamily="34" charset="-122"/>
              </a:rPr>
              <a:t>来产生后继微指令地址</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通过微指令控制字段由设计者指定或者由设计者指定的判别字段控制产生后继微指令地址</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D</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通过指令中指令一个专门字段来控制产生后继微指令地址</a:t>
            </a: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垂直型</a:t>
            </a:r>
            <a:r>
              <a:rPr lang="zh-CN" altLang="zh-CN" sz="2000" dirty="0">
                <a:solidFill>
                  <a:schemeClr val="tx1"/>
                </a:solidFill>
                <a:latin typeface="微软雅黑" panose="020B0503020204020204" pitchFamily="34" charset="-122"/>
                <a:ea typeface="微软雅黑" panose="020B0503020204020204" pitchFamily="34" charset="-122"/>
              </a:rPr>
              <a:t>微指令的特点</a:t>
            </a:r>
            <a:r>
              <a:rPr lang="zh-CN" altLang="zh-CN" sz="2000" dirty="0" smtClean="0">
                <a:solidFill>
                  <a:schemeClr val="tx1"/>
                </a:solidFill>
                <a:latin typeface="微软雅黑" panose="020B0503020204020204" pitchFamily="34" charset="-122"/>
                <a:ea typeface="微软雅黑" panose="020B0503020204020204" pitchFamily="34" charset="-122"/>
              </a:rPr>
              <a:t>是</a:t>
            </a:r>
            <a:r>
              <a:rPr lang="zh-CN" altLang="en-US" sz="2000" dirty="0" smtClean="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微指令格式垂直表示</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控制信号经过编码产生</a:t>
            </a:r>
            <a:r>
              <a:rPr lang="en-US" altLang="zh-CN" sz="2000" dirty="0">
                <a:solidFill>
                  <a:schemeClr val="tx1"/>
                </a:solidFill>
                <a:latin typeface="微软雅黑" panose="020B0503020204020204" pitchFamily="34" charset="-122"/>
                <a:ea typeface="微软雅黑" panose="020B0503020204020204" pitchFamily="34" charset="-122"/>
              </a:rPr>
              <a:t> </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采用微操作码</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一次可以完成多个</a:t>
            </a:r>
            <a:r>
              <a:rPr lang="zh-CN" altLang="zh-CN" sz="2000" dirty="0" smtClean="0">
                <a:solidFill>
                  <a:schemeClr val="tx1"/>
                </a:solidFill>
                <a:latin typeface="微软雅黑" panose="020B0503020204020204" pitchFamily="34" charset="-122"/>
                <a:ea typeface="微软雅黑" panose="020B0503020204020204" pitchFamily="34" charset="-122"/>
              </a:rPr>
              <a:t>操作</a:t>
            </a: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703168" y="258569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623382" y="486938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1851994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168739" y="1140693"/>
            <a:ext cx="8743932" cy="517064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微指令的特点是</a:t>
            </a:r>
            <a:r>
              <a:rPr lang="en-US" altLang="zh-CN" sz="2000" dirty="0">
                <a:solidFill>
                  <a:schemeClr val="tx1"/>
                </a:solidFill>
                <a:latin typeface="微软雅黑" panose="020B0503020204020204" pitchFamily="34" charset="-122"/>
                <a:ea typeface="微软雅黑" panose="020B0503020204020204" pitchFamily="34" charset="-122"/>
              </a:rPr>
              <a:t>__________</a:t>
            </a:r>
            <a:r>
              <a:rPr lang="zh-CN" altLang="zh-CN" sz="2000" dirty="0" smtClean="0">
                <a:solidFill>
                  <a:schemeClr val="tx1"/>
                </a:solidFill>
                <a:latin typeface="微软雅黑" panose="020B0503020204020204" pitchFamily="34" charset="-122"/>
                <a:ea typeface="微软雅黑" panose="020B0503020204020204" pitchFamily="34" charset="-122"/>
              </a:rPr>
              <a:t>。</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一次可以完成多个操作</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B. </a:t>
            </a:r>
            <a:r>
              <a:rPr lang="zh-CN" altLang="zh-CN" sz="2000" dirty="0">
                <a:solidFill>
                  <a:schemeClr val="tx1"/>
                </a:solidFill>
                <a:latin typeface="微软雅黑" panose="020B0503020204020204" pitchFamily="34" charset="-122"/>
                <a:ea typeface="微软雅黑" panose="020B0503020204020204" pitchFamily="34" charset="-122"/>
              </a:rPr>
              <a:t>微指令的操作控制字段不进行编码</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C</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微指令的格式简短</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D. </a:t>
            </a:r>
            <a:r>
              <a:rPr lang="zh-CN" altLang="zh-CN" sz="2000" dirty="0">
                <a:solidFill>
                  <a:schemeClr val="tx1"/>
                </a:solidFill>
                <a:latin typeface="微软雅黑" panose="020B0503020204020204" pitchFamily="34" charset="-122"/>
                <a:ea typeface="微软雅黑" panose="020B0503020204020204" pitchFamily="34" charset="-122"/>
              </a:rPr>
              <a:t>采用微操作码</a:t>
            </a: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微指令并行操作能力强，效率高，灵活性强，但执行一条指令的时间较长。</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由</a:t>
            </a:r>
            <a:r>
              <a:rPr lang="zh-CN" altLang="zh-CN" sz="2000" dirty="0">
                <a:solidFill>
                  <a:schemeClr val="tx1"/>
                </a:solidFill>
                <a:latin typeface="微软雅黑" panose="020B0503020204020204" pitchFamily="34" charset="-122"/>
                <a:ea typeface="微软雅黑" panose="020B0503020204020204" pitchFamily="34" charset="-122"/>
              </a:rPr>
              <a:t>水平型微指令解释指令的微程序，有微指令字较长而微程序短的特点。</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错</a:t>
            </a:r>
          </a:p>
          <a:p>
            <a:pPr marL="342900" indent="-342900">
              <a:lnSpc>
                <a:spcPct val="150000"/>
              </a:lnSpc>
              <a:buFont typeface="Wingdings" panose="05000000000000000000" pitchFamily="2" charset="2"/>
              <a:buChar char="l"/>
            </a:pPr>
            <a:r>
              <a:rPr lang="zh-CN" altLang="zh-CN" sz="2000" dirty="0" smtClean="0">
                <a:solidFill>
                  <a:schemeClr val="tx1"/>
                </a:solidFill>
                <a:latin typeface="微软雅黑" panose="020B0503020204020204" pitchFamily="34" charset="-122"/>
                <a:ea typeface="微软雅黑" panose="020B0503020204020204" pitchFamily="34" charset="-122"/>
              </a:rPr>
              <a:t>相对于</a:t>
            </a:r>
            <a:r>
              <a:rPr lang="zh-CN" altLang="zh-CN" sz="2000" dirty="0">
                <a:solidFill>
                  <a:schemeClr val="tx1"/>
                </a:solidFill>
                <a:latin typeface="微软雅黑" panose="020B0503020204020204" pitchFamily="34" charset="-122"/>
                <a:ea typeface="微软雅黑" panose="020B0503020204020204" pitchFamily="34" charset="-122"/>
              </a:rPr>
              <a:t>垂直</a:t>
            </a:r>
            <a:r>
              <a:rPr lang="zh-CN" altLang="zh-CN" sz="2000" dirty="0" smtClean="0">
                <a:solidFill>
                  <a:schemeClr val="tx1"/>
                </a:solidFill>
                <a:latin typeface="微软雅黑" panose="020B0503020204020204" pitchFamily="34" charset="-122"/>
                <a:ea typeface="微软雅黑" panose="020B0503020204020204" pitchFamily="34" charset="-122"/>
              </a:rPr>
              <a:t>型</a:t>
            </a:r>
            <a:r>
              <a:rPr lang="zh-CN" altLang="zh-CN" sz="2000" dirty="0">
                <a:solidFill>
                  <a:schemeClr val="tx1"/>
                </a:solidFill>
                <a:latin typeface="微软雅黑" panose="020B0503020204020204" pitchFamily="34" charset="-122"/>
                <a:ea typeface="微软雅黑" panose="020B0503020204020204" pitchFamily="34" charset="-122"/>
              </a:rPr>
              <a:t>微指令而言</a:t>
            </a:r>
            <a:r>
              <a:rPr lang="zh-CN" altLang="zh-CN" sz="2000" dirty="0" smtClean="0">
                <a:solidFill>
                  <a:schemeClr val="tx1"/>
                </a:solidFill>
                <a:latin typeface="微软雅黑" panose="020B0503020204020204" pitchFamily="34" charset="-122"/>
                <a:ea typeface="微软雅黑" panose="020B0503020204020204" pitchFamily="34" charset="-122"/>
              </a:rPr>
              <a:t>，水平型</a:t>
            </a:r>
            <a:r>
              <a:rPr lang="zh-CN" altLang="zh-CN" sz="2000" dirty="0">
                <a:solidFill>
                  <a:schemeClr val="tx1"/>
                </a:solidFill>
                <a:latin typeface="微软雅黑" panose="020B0503020204020204" pitchFamily="34" charset="-122"/>
                <a:ea typeface="微软雅黑" panose="020B0503020204020204" pitchFamily="34" charset="-122"/>
              </a:rPr>
              <a:t>微指令与指令比较相似，比较容易掌握。</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rPr>
              <a:t>对</a:t>
            </a: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B</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zh-CN" sz="2000" dirty="0" smtClean="0">
                <a:solidFill>
                  <a:schemeClr val="tx1"/>
                </a:solidFill>
                <a:latin typeface="微软雅黑" panose="020B0503020204020204" pitchFamily="34" charset="-122"/>
                <a:ea typeface="微软雅黑" panose="020B0503020204020204" pitchFamily="34" charset="-122"/>
              </a:rPr>
              <a:t>错</a:t>
            </a:r>
            <a:endParaRPr lang="zh-CN"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zh-CN"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椭圆 18"/>
          <p:cNvSpPr/>
          <p:nvPr/>
        </p:nvSpPr>
        <p:spPr bwMode="auto">
          <a:xfrm>
            <a:off x="501452" y="161927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6" name="椭圆 5"/>
          <p:cNvSpPr/>
          <p:nvPr/>
        </p:nvSpPr>
        <p:spPr bwMode="auto">
          <a:xfrm>
            <a:off x="2617118" y="343580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8" name="椭圆 7"/>
          <p:cNvSpPr/>
          <p:nvPr/>
        </p:nvSpPr>
        <p:spPr bwMode="auto">
          <a:xfrm>
            <a:off x="1029916" y="4365104"/>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9" name="椭圆 8"/>
          <p:cNvSpPr/>
          <p:nvPr/>
        </p:nvSpPr>
        <p:spPr bwMode="auto">
          <a:xfrm>
            <a:off x="2612926" y="526844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1223274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8" grpId="0" animBg="1"/>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p>
            <a:fld id="{1114E4BC-BC53-46EE-B6D1-BD6E92AD1841}" type="slidenum">
              <a:rPr lang="en-US" altLang="zh-CN" smtClean="0"/>
              <a:pPr/>
              <a:t>100</a:t>
            </a:fld>
            <a:endParaRPr lang="en-US" altLang="zh-CN" smtClean="0"/>
          </a:p>
        </p:txBody>
      </p:sp>
      <p:sp>
        <p:nvSpPr>
          <p:cNvPr id="105475" name="Rectangle 2"/>
          <p:cNvSpPr>
            <a:spLocks noChangeArrowheads="1"/>
          </p:cNvSpPr>
          <p:nvPr/>
        </p:nvSpPr>
        <p:spPr bwMode="auto">
          <a:xfrm>
            <a:off x="323850" y="174060"/>
            <a:ext cx="8424863" cy="2677656"/>
          </a:xfrm>
          <a:prstGeom prst="rect">
            <a:avLst/>
          </a:prstGeom>
          <a:solidFill>
            <a:srgbClr val="CCFFFF"/>
          </a:solidFill>
          <a:ln w="12700" cap="sq">
            <a:noFill/>
            <a:miter lim="800000"/>
            <a:headEnd type="none" w="sm" len="sm"/>
            <a:tailEnd type="none" w="sm" len="sm"/>
          </a:ln>
        </p:spPr>
        <p:txBody>
          <a:bodyPr anchor="ctr">
            <a:spAutoFit/>
          </a:bodyPr>
          <a:lstStyle/>
          <a:p>
            <a:r>
              <a:rPr lang="en-US" altLang="zh-CN" sz="2400" b="0" dirty="0" smtClean="0">
                <a:solidFill>
                  <a:srgbClr val="2453CA"/>
                </a:solidFill>
                <a:latin typeface="宋体" pitchFamily="2" charset="-122"/>
              </a:rPr>
              <a:t>P187</a:t>
            </a:r>
            <a:r>
              <a:rPr lang="zh-CN" altLang="en-US" sz="2400" b="0" dirty="0" smtClean="0">
                <a:solidFill>
                  <a:srgbClr val="2453CA"/>
                </a:solidFill>
                <a:latin typeface="宋体" pitchFamily="2" charset="-122"/>
              </a:rPr>
              <a:t>、</a:t>
            </a:r>
            <a:r>
              <a:rPr lang="zh-CN" altLang="en-US" sz="2400" b="0" dirty="0">
                <a:solidFill>
                  <a:srgbClr val="2453CA"/>
                </a:solidFill>
                <a:latin typeface="宋体" pitchFamily="2" charset="-122"/>
              </a:rPr>
              <a:t>习题</a:t>
            </a:r>
            <a:r>
              <a:rPr lang="en-US" altLang="zh-CN" sz="2400" b="0" dirty="0">
                <a:solidFill>
                  <a:srgbClr val="2453CA"/>
                </a:solidFill>
                <a:latin typeface="宋体" pitchFamily="2" charset="-122"/>
              </a:rPr>
              <a:t>11</a:t>
            </a:r>
          </a:p>
          <a:p>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已知某机采用微程序控制方式，控存容量为</a:t>
            </a:r>
            <a:r>
              <a:rPr lang="en-US" altLang="zh-CN" sz="2400" b="0" dirty="0">
                <a:solidFill>
                  <a:schemeClr val="tx1"/>
                </a:solidFill>
                <a:latin typeface="宋体" pitchFamily="2" charset="-122"/>
              </a:rPr>
              <a:t>512×48</a:t>
            </a:r>
            <a:r>
              <a:rPr lang="zh-CN" altLang="en-US" sz="2400" b="0" dirty="0">
                <a:solidFill>
                  <a:schemeClr val="tx1"/>
                </a:solidFill>
                <a:latin typeface="宋体" pitchFamily="2" charset="-122"/>
              </a:rPr>
              <a:t>位，微程序在整个控制存储器中实现转移，可控制微程序的条件共</a:t>
            </a:r>
            <a:r>
              <a:rPr lang="en-US" altLang="zh-CN" sz="2400" b="0" dirty="0">
                <a:solidFill>
                  <a:schemeClr val="tx1"/>
                </a:solidFill>
                <a:latin typeface="宋体" pitchFamily="2" charset="-122"/>
              </a:rPr>
              <a:t>4</a:t>
            </a:r>
            <a:r>
              <a:rPr lang="zh-CN" altLang="en-US" sz="2400" b="0" dirty="0">
                <a:solidFill>
                  <a:schemeClr val="tx1"/>
                </a:solidFill>
                <a:latin typeface="宋体" pitchFamily="2" charset="-122"/>
              </a:rPr>
              <a:t>个，微指令采用水平型格式，后继微指令地址采用断定方式。请问：</a:t>
            </a:r>
          </a:p>
          <a:p>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）微指令中的三个字段分别应多少位？</a:t>
            </a:r>
            <a:br>
              <a:rPr lang="zh-CN" altLang="en-US" sz="2400" b="0" dirty="0">
                <a:solidFill>
                  <a:schemeClr val="tx1"/>
                </a:solidFill>
                <a:latin typeface="宋体" pitchFamily="2" charset="-122"/>
              </a:rPr>
            </a:b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）画出对应这种微指令格式的微程序控制器逻辑框图。</a:t>
            </a:r>
          </a:p>
        </p:txBody>
      </p:sp>
      <p:sp>
        <p:nvSpPr>
          <p:cNvPr id="374787" name="Rectangle 3"/>
          <p:cNvSpPr>
            <a:spLocks noChangeArrowheads="1"/>
          </p:cNvSpPr>
          <p:nvPr/>
        </p:nvSpPr>
        <p:spPr bwMode="auto">
          <a:xfrm>
            <a:off x="468313" y="3500438"/>
            <a:ext cx="8280400" cy="1187450"/>
          </a:xfrm>
          <a:prstGeom prst="rect">
            <a:avLst/>
          </a:prstGeom>
          <a:solidFill>
            <a:srgbClr val="CCFFFF"/>
          </a:solidFill>
          <a:ln w="12700" cap="sq">
            <a:noFill/>
            <a:miter lim="800000"/>
            <a:headEnd type="none" w="sm" len="sm"/>
            <a:tailEnd type="none" w="sm" len="sm"/>
          </a:ln>
        </p:spPr>
        <p:txBody>
          <a:bodyPr anchor="ctr">
            <a:spAutoFit/>
          </a:bodyPr>
          <a:lstStyle/>
          <a:p>
            <a:pPr eaLnBrk="0" hangingPunct="0"/>
            <a:r>
              <a:rPr lang="zh-CN" altLang="en-US" sz="2400" b="0">
                <a:solidFill>
                  <a:schemeClr val="tx1"/>
                </a:solidFill>
                <a:latin typeface="宋体" pitchFamily="2" charset="-122"/>
              </a:rPr>
              <a:t>（</a:t>
            </a:r>
            <a:r>
              <a:rPr lang="en-US" altLang="zh-CN" sz="2400" b="0">
                <a:solidFill>
                  <a:schemeClr val="tx1"/>
                </a:solidFill>
                <a:latin typeface="宋体" pitchFamily="2" charset="-122"/>
              </a:rPr>
              <a:t>1</a:t>
            </a:r>
            <a:r>
              <a:rPr lang="zh-CN" altLang="en-US" sz="2400" b="0">
                <a:solidFill>
                  <a:schemeClr val="tx1"/>
                </a:solidFill>
                <a:latin typeface="宋体" pitchFamily="2" charset="-122"/>
              </a:rPr>
              <a:t>）假设判别测试字段中每一位为一个判别标志，那么由于有</a:t>
            </a:r>
            <a:r>
              <a:rPr lang="en-US" altLang="zh-CN" sz="2400" b="0">
                <a:solidFill>
                  <a:schemeClr val="tx1"/>
                </a:solidFill>
                <a:latin typeface="宋体" pitchFamily="2" charset="-122"/>
              </a:rPr>
              <a:t>4</a:t>
            </a:r>
            <a:r>
              <a:rPr lang="zh-CN" altLang="en-US" sz="2400" b="0">
                <a:solidFill>
                  <a:schemeClr val="tx1"/>
                </a:solidFill>
                <a:latin typeface="宋体" pitchFamily="2" charset="-122"/>
              </a:rPr>
              <a:t>个转移条件，故该字段为</a:t>
            </a:r>
            <a:r>
              <a:rPr lang="en-US" altLang="zh-CN" sz="2400" b="0">
                <a:solidFill>
                  <a:schemeClr val="tx1"/>
                </a:solidFill>
                <a:latin typeface="宋体" pitchFamily="2" charset="-122"/>
              </a:rPr>
              <a:t>4</a:t>
            </a:r>
            <a:r>
              <a:rPr lang="zh-CN" altLang="en-US" sz="2400" b="0">
                <a:solidFill>
                  <a:schemeClr val="tx1"/>
                </a:solidFill>
                <a:latin typeface="宋体" pitchFamily="2" charset="-122"/>
              </a:rPr>
              <a:t>位；因为控制容量为</a:t>
            </a:r>
            <a:r>
              <a:rPr lang="en-US" altLang="zh-CN" sz="2400" b="0">
                <a:solidFill>
                  <a:schemeClr val="tx1"/>
                </a:solidFill>
                <a:latin typeface="宋体" pitchFamily="2" charset="-122"/>
              </a:rPr>
              <a:t>512</a:t>
            </a:r>
            <a:r>
              <a:rPr lang="zh-CN" altLang="en-US" sz="2400" b="0">
                <a:solidFill>
                  <a:schemeClr val="tx1"/>
                </a:solidFill>
                <a:latin typeface="宋体" pitchFamily="2" charset="-122"/>
              </a:rPr>
              <a:t>单元，所以下地址字段为</a:t>
            </a:r>
            <a:r>
              <a:rPr lang="en-US" altLang="zh-CN" sz="2400" b="0">
                <a:solidFill>
                  <a:schemeClr val="tx1"/>
                </a:solidFill>
                <a:latin typeface="宋体" pitchFamily="2" charset="-122"/>
              </a:rPr>
              <a:t>9</a:t>
            </a:r>
            <a:r>
              <a:rPr lang="zh-CN" altLang="en-US" sz="2400" b="0">
                <a:solidFill>
                  <a:schemeClr val="tx1"/>
                </a:solidFill>
                <a:latin typeface="宋体" pitchFamily="2" charset="-122"/>
              </a:rPr>
              <a:t>位；微命令字段是（</a:t>
            </a:r>
            <a:r>
              <a:rPr lang="en-US" altLang="zh-CN" sz="2400" b="0">
                <a:solidFill>
                  <a:schemeClr val="tx1"/>
                </a:solidFill>
                <a:latin typeface="宋体" pitchFamily="2" charset="-122"/>
              </a:rPr>
              <a:t>48–4-9</a:t>
            </a:r>
            <a:r>
              <a:rPr lang="zh-CN" altLang="en-US" sz="2400" b="0">
                <a:solidFill>
                  <a:schemeClr val="tx1"/>
                </a:solidFill>
                <a:latin typeface="宋体" pitchFamily="2" charset="-122"/>
              </a:rPr>
              <a:t>）</a:t>
            </a:r>
            <a:r>
              <a:rPr lang="en-US" altLang="zh-CN" sz="2400" b="0">
                <a:solidFill>
                  <a:schemeClr val="tx1"/>
                </a:solidFill>
                <a:latin typeface="宋体" pitchFamily="2" charset="-122"/>
              </a:rPr>
              <a:t>= 35 </a:t>
            </a:r>
            <a:r>
              <a:rPr lang="zh-CN" altLang="en-US" sz="2400" b="0">
                <a:solidFill>
                  <a:schemeClr val="tx1"/>
                </a:solidFill>
                <a:latin typeface="宋体" pitchFamily="2" charset="-122"/>
              </a:rPr>
              <a:t>位。</a:t>
            </a:r>
          </a:p>
        </p:txBody>
      </p:sp>
      <p:sp>
        <p:nvSpPr>
          <p:cNvPr id="374788" name="Rectangle 4"/>
          <p:cNvSpPr>
            <a:spLocks noChangeArrowheads="1"/>
          </p:cNvSpPr>
          <p:nvPr/>
        </p:nvSpPr>
        <p:spPr bwMode="auto">
          <a:xfrm>
            <a:off x="395288" y="2924175"/>
            <a:ext cx="895350" cy="519113"/>
          </a:xfrm>
          <a:prstGeom prst="rect">
            <a:avLst/>
          </a:prstGeom>
          <a:noFill/>
          <a:ln w="12700" cap="sq">
            <a:noFill/>
            <a:miter lim="800000"/>
            <a:headEnd type="none" w="sm" len="sm"/>
            <a:tailEnd type="none" w="sm" len="sm"/>
          </a:ln>
        </p:spPr>
        <p:txBody>
          <a:bodyPr wrap="none">
            <a:spAutoFit/>
          </a:bodyPr>
          <a:lstStyle/>
          <a:p>
            <a:r>
              <a:rPr lang="zh-CN" altLang="en-US" sz="2800" b="0">
                <a:solidFill>
                  <a:schemeClr val="tx1"/>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4788"/>
                                        </p:tgtEl>
                                        <p:attrNameLst>
                                          <p:attrName>style.visibility</p:attrName>
                                        </p:attrNameLst>
                                      </p:cBhvr>
                                      <p:to>
                                        <p:strVal val="visible"/>
                                      </p:to>
                                    </p:set>
                                    <p:animEffect transition="in" filter="dissolve">
                                      <p:cBhvr>
                                        <p:cTn id="7" dur="500"/>
                                        <p:tgtEl>
                                          <p:spTgt spid="3747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4787"/>
                                        </p:tgtEl>
                                        <p:attrNameLst>
                                          <p:attrName>style.visibility</p:attrName>
                                        </p:attrNameLst>
                                      </p:cBhvr>
                                      <p:to>
                                        <p:strVal val="visible"/>
                                      </p:to>
                                    </p:set>
                                    <p:animEffect transition="in" filter="dissolve">
                                      <p:cBhvr>
                                        <p:cTn id="12" dur="500"/>
                                        <p:tgtEl>
                                          <p:spTgt spid="374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animBg="1" autoUpdateAnimBg="0"/>
      <p:bldP spid="374788"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p:spPr>
        <p:txBody>
          <a:bodyPr/>
          <a:lstStyle/>
          <a:p>
            <a:fld id="{1114E4BC-BC53-46EE-B6D1-BD6E92AD1841}" type="slidenum">
              <a:rPr lang="en-US" altLang="zh-CN" smtClean="0"/>
              <a:pPr/>
              <a:t>101</a:t>
            </a:fld>
            <a:endParaRPr lang="en-US" altLang="zh-CN" dirty="0" smtClean="0"/>
          </a:p>
        </p:txBody>
      </p:sp>
      <p:sp>
        <p:nvSpPr>
          <p:cNvPr id="105475" name="Rectangle 2"/>
          <p:cNvSpPr>
            <a:spLocks noChangeArrowheads="1"/>
          </p:cNvSpPr>
          <p:nvPr/>
        </p:nvSpPr>
        <p:spPr bwMode="auto">
          <a:xfrm>
            <a:off x="323850" y="188913"/>
            <a:ext cx="8424863" cy="2647950"/>
          </a:xfrm>
          <a:prstGeom prst="rect">
            <a:avLst/>
          </a:prstGeom>
          <a:solidFill>
            <a:srgbClr val="CCFFFF"/>
          </a:solidFill>
          <a:ln w="12700" cap="sq">
            <a:noFill/>
            <a:miter lim="800000"/>
            <a:headEnd type="none" w="sm" len="sm"/>
            <a:tailEnd type="none" w="sm" len="sm"/>
          </a:ln>
        </p:spPr>
        <p:txBody>
          <a:bodyPr anchor="ctr">
            <a:spAutoFit/>
          </a:bodyPr>
          <a:lstStyle/>
          <a:p>
            <a:r>
              <a:rPr lang="en-US" altLang="zh-CN" sz="2400" b="0">
                <a:solidFill>
                  <a:srgbClr val="2453CA"/>
                </a:solidFill>
                <a:latin typeface="宋体" pitchFamily="2" charset="-122"/>
              </a:rPr>
              <a:t>P182</a:t>
            </a:r>
            <a:r>
              <a:rPr lang="zh-CN" altLang="en-US" sz="2400" b="0">
                <a:solidFill>
                  <a:srgbClr val="2453CA"/>
                </a:solidFill>
                <a:latin typeface="宋体" pitchFamily="2" charset="-122"/>
              </a:rPr>
              <a:t>、习题</a:t>
            </a:r>
            <a:r>
              <a:rPr lang="en-US" altLang="zh-CN" sz="2400" b="0">
                <a:solidFill>
                  <a:srgbClr val="2453CA"/>
                </a:solidFill>
                <a:latin typeface="宋体" pitchFamily="2" charset="-122"/>
              </a:rPr>
              <a:t>11</a:t>
            </a:r>
          </a:p>
          <a:p>
            <a:r>
              <a:rPr lang="en-US" altLang="zh-CN" sz="2400" b="0">
                <a:solidFill>
                  <a:schemeClr val="tx1"/>
                </a:solidFill>
                <a:latin typeface="宋体" pitchFamily="2" charset="-122"/>
              </a:rPr>
              <a:t>    </a:t>
            </a:r>
            <a:r>
              <a:rPr lang="zh-CN" altLang="en-US" sz="2400" b="0">
                <a:solidFill>
                  <a:schemeClr val="tx1"/>
                </a:solidFill>
                <a:latin typeface="宋体" pitchFamily="2" charset="-122"/>
              </a:rPr>
              <a:t>已知某机采用微程序控制方式，控存容量为</a:t>
            </a:r>
            <a:r>
              <a:rPr lang="en-US" altLang="zh-CN" sz="2400" b="0">
                <a:solidFill>
                  <a:schemeClr val="tx1"/>
                </a:solidFill>
                <a:latin typeface="宋体" pitchFamily="2" charset="-122"/>
              </a:rPr>
              <a:t>512×48</a:t>
            </a:r>
            <a:r>
              <a:rPr lang="zh-CN" altLang="en-US" sz="2400" b="0">
                <a:solidFill>
                  <a:schemeClr val="tx1"/>
                </a:solidFill>
                <a:latin typeface="宋体" pitchFamily="2" charset="-122"/>
              </a:rPr>
              <a:t>位，微程序在整个控制存储器中实现转移，可控制微程序的条件共</a:t>
            </a:r>
            <a:r>
              <a:rPr lang="en-US" altLang="zh-CN" sz="2400" b="0">
                <a:solidFill>
                  <a:schemeClr val="tx1"/>
                </a:solidFill>
                <a:latin typeface="宋体" pitchFamily="2" charset="-122"/>
              </a:rPr>
              <a:t>4</a:t>
            </a:r>
            <a:r>
              <a:rPr lang="zh-CN" altLang="en-US" sz="2400" b="0">
                <a:solidFill>
                  <a:schemeClr val="tx1"/>
                </a:solidFill>
                <a:latin typeface="宋体" pitchFamily="2" charset="-122"/>
              </a:rPr>
              <a:t>个，微指令采用水平型格式，后继微指令地址采用断定方式。请问：</a:t>
            </a:r>
          </a:p>
          <a:p>
            <a:r>
              <a:rPr lang="zh-CN" altLang="en-US" sz="2400" b="0">
                <a:solidFill>
                  <a:schemeClr val="tx1"/>
                </a:solidFill>
                <a:latin typeface="宋体" pitchFamily="2" charset="-122"/>
              </a:rPr>
              <a:t>（</a:t>
            </a:r>
            <a:r>
              <a:rPr lang="en-US" altLang="zh-CN" sz="2400" b="0">
                <a:solidFill>
                  <a:schemeClr val="tx1"/>
                </a:solidFill>
                <a:latin typeface="宋体" pitchFamily="2" charset="-122"/>
              </a:rPr>
              <a:t>1</a:t>
            </a:r>
            <a:r>
              <a:rPr lang="zh-CN" altLang="en-US" sz="2400" b="0">
                <a:solidFill>
                  <a:schemeClr val="tx1"/>
                </a:solidFill>
                <a:latin typeface="宋体" pitchFamily="2" charset="-122"/>
              </a:rPr>
              <a:t>）微指令中的三个字段分别应多少位？</a:t>
            </a:r>
            <a:br>
              <a:rPr lang="zh-CN" altLang="en-US" sz="2400" b="0">
                <a:solidFill>
                  <a:schemeClr val="tx1"/>
                </a:solidFill>
                <a:latin typeface="宋体" pitchFamily="2" charset="-122"/>
              </a:rPr>
            </a:br>
            <a:r>
              <a:rPr lang="zh-CN" altLang="en-US" sz="2400" b="0">
                <a:solidFill>
                  <a:schemeClr val="tx1"/>
                </a:solidFill>
                <a:latin typeface="宋体" pitchFamily="2" charset="-122"/>
              </a:rPr>
              <a:t>（</a:t>
            </a:r>
            <a:r>
              <a:rPr lang="en-US" altLang="zh-CN" sz="2400" b="0">
                <a:solidFill>
                  <a:schemeClr val="tx1"/>
                </a:solidFill>
                <a:latin typeface="宋体" pitchFamily="2" charset="-122"/>
              </a:rPr>
              <a:t>2</a:t>
            </a:r>
            <a:r>
              <a:rPr lang="zh-CN" altLang="en-US" sz="2400" b="0">
                <a:solidFill>
                  <a:schemeClr val="tx1"/>
                </a:solidFill>
                <a:latin typeface="宋体" pitchFamily="2" charset="-122"/>
              </a:rPr>
              <a:t>）画出对应这种微指令格式的微程序控制器逻辑框图。</a:t>
            </a:r>
          </a:p>
        </p:txBody>
      </p:sp>
      <p:sp>
        <p:nvSpPr>
          <p:cNvPr id="10" name="Rectangle 6"/>
          <p:cNvSpPr>
            <a:spLocks noChangeArrowheads="1"/>
          </p:cNvSpPr>
          <p:nvPr/>
        </p:nvSpPr>
        <p:spPr bwMode="auto">
          <a:xfrm>
            <a:off x="352425" y="174060"/>
            <a:ext cx="8396288" cy="2677656"/>
          </a:xfrm>
          <a:prstGeom prst="rect">
            <a:avLst/>
          </a:prstGeom>
          <a:solidFill>
            <a:srgbClr val="CCFFFF"/>
          </a:solidFill>
          <a:ln w="12700" cap="sq">
            <a:noFill/>
            <a:miter lim="800000"/>
            <a:headEnd type="none" w="sm" len="sm"/>
            <a:tailEnd type="none" w="sm" len="sm"/>
          </a:ln>
        </p:spPr>
        <p:txBody>
          <a:bodyPr wrap="square" anchor="ctr">
            <a:spAutoFit/>
          </a:bodyPr>
          <a:lstStyle/>
          <a:p>
            <a:pPr eaLnBrk="0" hangingPunct="0"/>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）对应上述微指令格式的微程序控制器逻辑框图如下：其中微地址寄存器对应下</a:t>
            </a:r>
            <a:r>
              <a:rPr lang="zh-CN" altLang="en-US" sz="2400" b="0" dirty="0" smtClean="0">
                <a:solidFill>
                  <a:schemeClr val="tx1"/>
                </a:solidFill>
                <a:latin typeface="宋体" pitchFamily="2" charset="-122"/>
              </a:rPr>
              <a:t>地址字段（</a:t>
            </a:r>
            <a:r>
              <a:rPr lang="en-US" altLang="zh-CN" sz="2400" b="0" dirty="0" smtClean="0">
                <a:solidFill>
                  <a:schemeClr val="tx1"/>
                </a:solidFill>
                <a:latin typeface="宋体" pitchFamily="2" charset="-122"/>
              </a:rPr>
              <a:t>9</a:t>
            </a:r>
            <a:r>
              <a:rPr lang="zh-CN" altLang="en-US" sz="2400" b="0" dirty="0" smtClean="0">
                <a:solidFill>
                  <a:schemeClr val="tx1"/>
                </a:solidFill>
                <a:latin typeface="宋体" pitchFamily="2" charset="-122"/>
              </a:rPr>
              <a:t>位），</a:t>
            </a:r>
            <a:r>
              <a:rPr lang="en-US" altLang="zh-CN" sz="2400" b="0" dirty="0">
                <a:solidFill>
                  <a:schemeClr val="tx1"/>
                </a:solidFill>
                <a:latin typeface="宋体" pitchFamily="2" charset="-122"/>
              </a:rPr>
              <a:t>P</a:t>
            </a:r>
            <a:r>
              <a:rPr lang="zh-CN" altLang="en-US" sz="2400" b="0" dirty="0">
                <a:solidFill>
                  <a:schemeClr val="tx1"/>
                </a:solidFill>
                <a:latin typeface="宋体" pitchFamily="2" charset="-122"/>
              </a:rPr>
              <a:t>字段即为判别测试</a:t>
            </a:r>
            <a:r>
              <a:rPr lang="zh-CN" altLang="en-US" sz="2400" b="0" dirty="0" smtClean="0">
                <a:solidFill>
                  <a:schemeClr val="tx1"/>
                </a:solidFill>
                <a:latin typeface="宋体" pitchFamily="2" charset="-122"/>
              </a:rPr>
              <a:t>字段（</a:t>
            </a:r>
            <a:r>
              <a:rPr lang="en-US" altLang="zh-CN" sz="2400" b="0" dirty="0" smtClean="0">
                <a:solidFill>
                  <a:schemeClr val="tx1"/>
                </a:solidFill>
                <a:latin typeface="宋体" pitchFamily="2" charset="-122"/>
              </a:rPr>
              <a:t>4</a:t>
            </a:r>
            <a:r>
              <a:rPr lang="zh-CN" altLang="en-US" sz="2400" b="0" dirty="0" smtClean="0">
                <a:solidFill>
                  <a:schemeClr val="tx1"/>
                </a:solidFill>
                <a:latin typeface="宋体" pitchFamily="2" charset="-122"/>
              </a:rPr>
              <a:t>位），</a:t>
            </a:r>
            <a:r>
              <a:rPr lang="zh-CN" altLang="en-US" sz="2400" b="0" dirty="0">
                <a:solidFill>
                  <a:schemeClr val="tx1"/>
                </a:solidFill>
                <a:latin typeface="宋体" pitchFamily="2" charset="-122"/>
              </a:rPr>
              <a:t>控制字段即为微命令子</a:t>
            </a:r>
            <a:r>
              <a:rPr lang="zh-CN" altLang="en-US" sz="2400" b="0" dirty="0" smtClean="0">
                <a:solidFill>
                  <a:schemeClr val="tx1"/>
                </a:solidFill>
                <a:latin typeface="宋体" pitchFamily="2" charset="-122"/>
              </a:rPr>
              <a:t>段（</a:t>
            </a:r>
            <a:r>
              <a:rPr lang="en-US" altLang="zh-CN" sz="2400" b="0" dirty="0" smtClean="0">
                <a:solidFill>
                  <a:schemeClr val="tx1"/>
                </a:solidFill>
                <a:latin typeface="宋体" pitchFamily="2" charset="-122"/>
              </a:rPr>
              <a:t>35</a:t>
            </a:r>
            <a:r>
              <a:rPr lang="zh-CN" altLang="en-US" sz="2400" b="0" dirty="0" smtClean="0">
                <a:solidFill>
                  <a:schemeClr val="tx1"/>
                </a:solidFill>
                <a:latin typeface="宋体" pitchFamily="2" charset="-122"/>
              </a:rPr>
              <a:t>位），</a:t>
            </a:r>
            <a:r>
              <a:rPr lang="zh-CN" altLang="en-US" sz="2400" b="0" dirty="0">
                <a:solidFill>
                  <a:schemeClr val="tx1"/>
                </a:solidFill>
                <a:latin typeface="宋体" pitchFamily="2" charset="-122"/>
              </a:rPr>
              <a:t>后两部分组成微指令寄存器。地址转移逻辑的输入是指令寄存器</a:t>
            </a:r>
            <a:r>
              <a:rPr lang="en-US" altLang="zh-CN" sz="2400" b="0" dirty="0">
                <a:solidFill>
                  <a:schemeClr val="tx1"/>
                </a:solidFill>
                <a:latin typeface="宋体" pitchFamily="2" charset="-122"/>
              </a:rPr>
              <a:t>OP</a:t>
            </a:r>
            <a:r>
              <a:rPr lang="zh-CN" altLang="en-US" sz="2400" b="0" dirty="0">
                <a:solidFill>
                  <a:schemeClr val="tx1"/>
                </a:solidFill>
                <a:latin typeface="宋体" pitchFamily="2" charset="-122"/>
              </a:rPr>
              <a:t>码，各状态条件以及判别测试字段所给的判别标志（某一位为</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），其输出修改微地址寄存器的适当位数，从而实现微程序的分支转移。</a:t>
            </a:r>
          </a:p>
        </p:txBody>
      </p:sp>
      <p:pic>
        <p:nvPicPr>
          <p:cNvPr id="277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4" y="3179068"/>
            <a:ext cx="8319589"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4067944" y="3933056"/>
            <a:ext cx="649537" cy="461665"/>
          </a:xfrm>
          <a:prstGeom prst="rect">
            <a:avLst/>
          </a:prstGeom>
        </p:spPr>
        <p:txBody>
          <a:bodyPr wrap="none">
            <a:spAutoFit/>
          </a:bodyPr>
          <a:lstStyle/>
          <a:p>
            <a:r>
              <a:rPr lang="en-US" altLang="zh-CN" sz="2400" dirty="0" smtClean="0">
                <a:solidFill>
                  <a:srgbClr val="FF0000"/>
                </a:solidFill>
                <a:latin typeface="宋体" pitchFamily="2" charset="-122"/>
              </a:rPr>
              <a:t>9</a:t>
            </a:r>
            <a:r>
              <a:rPr lang="zh-CN" altLang="en-US" sz="2400" dirty="0" smtClean="0">
                <a:solidFill>
                  <a:srgbClr val="FF0000"/>
                </a:solidFill>
                <a:latin typeface="宋体" pitchFamily="2" charset="-122"/>
              </a:rPr>
              <a:t>位</a:t>
            </a:r>
            <a:endParaRPr lang="zh-CN" altLang="en-US" sz="2400" dirty="0">
              <a:solidFill>
                <a:srgbClr val="FF0000"/>
              </a:solidFill>
            </a:endParaRPr>
          </a:p>
        </p:txBody>
      </p:sp>
      <p:sp>
        <p:nvSpPr>
          <p:cNvPr id="13" name="矩形 12"/>
          <p:cNvSpPr/>
          <p:nvPr/>
        </p:nvSpPr>
        <p:spPr>
          <a:xfrm>
            <a:off x="5146599" y="5055567"/>
            <a:ext cx="649537" cy="461665"/>
          </a:xfrm>
          <a:prstGeom prst="rect">
            <a:avLst/>
          </a:prstGeom>
        </p:spPr>
        <p:txBody>
          <a:bodyPr wrap="none">
            <a:spAutoFit/>
          </a:bodyPr>
          <a:lstStyle/>
          <a:p>
            <a:r>
              <a:rPr lang="en-US" altLang="zh-CN" sz="2400" dirty="0" smtClean="0">
                <a:solidFill>
                  <a:srgbClr val="FF0000"/>
                </a:solidFill>
                <a:latin typeface="宋体" pitchFamily="2" charset="-122"/>
              </a:rPr>
              <a:t>4</a:t>
            </a:r>
            <a:r>
              <a:rPr lang="zh-CN" altLang="en-US" sz="2400" dirty="0" smtClean="0">
                <a:solidFill>
                  <a:srgbClr val="FF0000"/>
                </a:solidFill>
                <a:latin typeface="宋体" pitchFamily="2" charset="-122"/>
              </a:rPr>
              <a:t>位</a:t>
            </a:r>
            <a:endParaRPr lang="zh-CN" altLang="en-US" sz="2400" dirty="0">
              <a:solidFill>
                <a:srgbClr val="FF0000"/>
              </a:solidFill>
            </a:endParaRPr>
          </a:p>
        </p:txBody>
      </p:sp>
      <p:sp>
        <p:nvSpPr>
          <p:cNvPr id="14" name="矩形 13"/>
          <p:cNvSpPr/>
          <p:nvPr/>
        </p:nvSpPr>
        <p:spPr>
          <a:xfrm>
            <a:off x="7522863" y="5805264"/>
            <a:ext cx="805029" cy="461665"/>
          </a:xfrm>
          <a:prstGeom prst="rect">
            <a:avLst/>
          </a:prstGeom>
        </p:spPr>
        <p:txBody>
          <a:bodyPr wrap="none">
            <a:spAutoFit/>
          </a:bodyPr>
          <a:lstStyle/>
          <a:p>
            <a:r>
              <a:rPr lang="en-US" altLang="zh-CN" sz="2400" dirty="0" smtClean="0">
                <a:solidFill>
                  <a:srgbClr val="FF0000"/>
                </a:solidFill>
                <a:latin typeface="宋体" pitchFamily="2" charset="-122"/>
              </a:rPr>
              <a:t>35</a:t>
            </a:r>
            <a:r>
              <a:rPr lang="zh-CN" altLang="en-US" sz="2400" dirty="0" smtClean="0">
                <a:solidFill>
                  <a:srgbClr val="FF0000"/>
                </a:solidFill>
                <a:latin typeface="宋体" pitchFamily="2" charset="-122"/>
              </a:rPr>
              <a:t>位</a:t>
            </a:r>
            <a:endParaRPr lang="zh-CN" altLang="en-US" sz="2400" dirty="0">
              <a:solidFill>
                <a:srgbClr val="FF0000"/>
              </a:solidFill>
            </a:endParaRPr>
          </a:p>
        </p:txBody>
      </p:sp>
    </p:spTree>
    <p:extLst>
      <p:ext uri="{BB962C8B-B14F-4D97-AF65-F5344CB8AC3E}">
        <p14:creationId xmlns:p14="http://schemas.microsoft.com/office/powerpoint/2010/main" val="405085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13" grpId="0"/>
      <p:bldP spid="1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a:spLocks noGrp="1"/>
          </p:cNvSpPr>
          <p:nvPr>
            <p:ph type="sldNum" sz="quarter" idx="12"/>
          </p:nvPr>
        </p:nvSpPr>
        <p:spPr>
          <a:noFill/>
        </p:spPr>
        <p:txBody>
          <a:bodyPr/>
          <a:lstStyle/>
          <a:p>
            <a:fld id="{D08166E8-4C24-4CCC-A17C-3CD2C2DED615}" type="slidenum">
              <a:rPr lang="en-US" altLang="zh-CN" smtClean="0"/>
              <a:pPr/>
              <a:t>102</a:t>
            </a:fld>
            <a:endParaRPr lang="en-US" altLang="zh-CN" smtClean="0"/>
          </a:p>
        </p:txBody>
      </p:sp>
      <p:sp>
        <p:nvSpPr>
          <p:cNvPr id="107523" name="Rectangle 2"/>
          <p:cNvSpPr>
            <a:spLocks noChangeArrowheads="1"/>
          </p:cNvSpPr>
          <p:nvPr/>
        </p:nvSpPr>
        <p:spPr bwMode="auto">
          <a:xfrm>
            <a:off x="179388" y="188913"/>
            <a:ext cx="8785225" cy="2225675"/>
          </a:xfrm>
          <a:prstGeom prst="rect">
            <a:avLst/>
          </a:prstGeom>
          <a:solidFill>
            <a:srgbClr val="CCFFFF"/>
          </a:solidFill>
          <a:ln w="9525" algn="ctr">
            <a:noFill/>
            <a:miter lim="800000"/>
            <a:headEnd/>
            <a:tailEnd/>
          </a:ln>
        </p:spPr>
        <p:txBody>
          <a:bodyPr anchor="ctr">
            <a:spAutoFit/>
          </a:bodyPr>
          <a:lstStyle/>
          <a:p>
            <a:pPr eaLnBrk="0" hangingPunct="0"/>
            <a:r>
              <a:rPr lang="en-US" altLang="zh-CN" sz="2000" b="0">
                <a:solidFill>
                  <a:schemeClr val="tx1"/>
                </a:solidFill>
                <a:latin typeface="宋体" pitchFamily="2" charset="-122"/>
              </a:rPr>
              <a:t>【</a:t>
            </a:r>
            <a:r>
              <a:rPr lang="zh-CN" altLang="en-US" sz="2000" b="0">
                <a:solidFill>
                  <a:schemeClr val="tx1"/>
                </a:solidFill>
                <a:latin typeface="宋体" pitchFamily="2" charset="-122"/>
              </a:rPr>
              <a:t>例</a:t>
            </a:r>
            <a:r>
              <a:rPr lang="en-US" altLang="zh-CN" sz="2000" b="0">
                <a:solidFill>
                  <a:schemeClr val="tx1"/>
                </a:solidFill>
                <a:latin typeface="宋体" pitchFamily="2" charset="-122"/>
              </a:rPr>
              <a:t>】</a:t>
            </a:r>
            <a:r>
              <a:rPr lang="zh-CN" altLang="en-US" sz="2000" b="0">
                <a:solidFill>
                  <a:schemeClr val="tx1"/>
                </a:solidFill>
                <a:latin typeface="宋体" pitchFamily="2" charset="-122"/>
                <a:cs typeface="Times New Roman" pitchFamily="18" charset="0"/>
              </a:rPr>
              <a:t>控存容量为</a:t>
            </a:r>
            <a:r>
              <a:rPr lang="en-US" altLang="zh-CN" sz="2000" b="0">
                <a:solidFill>
                  <a:schemeClr val="tx1"/>
                </a:solidFill>
                <a:latin typeface="宋体" pitchFamily="2" charset="-122"/>
                <a:cs typeface="Times New Roman" pitchFamily="18" charset="0"/>
              </a:rPr>
              <a:t>8</a:t>
            </a:r>
            <a:r>
              <a:rPr lang="zh-CN" altLang="en-US" sz="2000" b="0">
                <a:solidFill>
                  <a:schemeClr val="tx1"/>
                </a:solidFill>
                <a:latin typeface="宋体" pitchFamily="2" charset="-122"/>
                <a:cs typeface="Times New Roman" pitchFamily="18" charset="0"/>
              </a:rPr>
              <a:t>单元，运算器结构如图，</a:t>
            </a:r>
            <a:r>
              <a:rPr lang="en-US" altLang="zh-CN" sz="2000" b="0">
                <a:solidFill>
                  <a:schemeClr val="tx1"/>
                </a:solidFill>
                <a:latin typeface="宋体" pitchFamily="2" charset="-122"/>
                <a:cs typeface="Times New Roman" pitchFamily="18" charset="0"/>
              </a:rPr>
              <a:t>R</a:t>
            </a:r>
            <a:r>
              <a:rPr lang="en-US" altLang="zh-CN" sz="2000" b="0" baseline="-30000">
                <a:solidFill>
                  <a:schemeClr val="tx1"/>
                </a:solidFill>
                <a:latin typeface="宋体" pitchFamily="2" charset="-122"/>
                <a:cs typeface="Times New Roman" pitchFamily="18" charset="0"/>
              </a:rPr>
              <a:t>1 </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R</a:t>
            </a:r>
            <a:r>
              <a:rPr lang="en-US" altLang="zh-CN" sz="2000" b="0" baseline="-30000">
                <a:solidFill>
                  <a:schemeClr val="tx1"/>
                </a:solidFill>
                <a:latin typeface="宋体" pitchFamily="2" charset="-122"/>
                <a:cs typeface="Times New Roman" pitchFamily="18" charset="0"/>
              </a:rPr>
              <a:t>2</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R</a:t>
            </a:r>
            <a:r>
              <a:rPr lang="en-US" altLang="zh-CN" sz="2000" b="0" baseline="-30000">
                <a:solidFill>
                  <a:schemeClr val="tx1"/>
                </a:solidFill>
                <a:latin typeface="宋体" pitchFamily="2" charset="-122"/>
                <a:cs typeface="Times New Roman" pitchFamily="18" charset="0"/>
              </a:rPr>
              <a:t>3</a:t>
            </a:r>
            <a:r>
              <a:rPr lang="en-US" altLang="zh-CN" sz="2000" b="0">
                <a:solidFill>
                  <a:schemeClr val="tx1"/>
                </a:solidFill>
                <a:latin typeface="宋体" pitchFamily="2" charset="-122"/>
                <a:cs typeface="Times New Roman" pitchFamily="18" charset="0"/>
              </a:rPr>
              <a:t> </a:t>
            </a:r>
            <a:r>
              <a:rPr lang="zh-CN" altLang="en-US" sz="2000" b="0">
                <a:solidFill>
                  <a:schemeClr val="tx1"/>
                </a:solidFill>
                <a:latin typeface="宋体" pitchFamily="2" charset="-122"/>
                <a:cs typeface="Times New Roman" pitchFamily="18" charset="0"/>
              </a:rPr>
              <a:t>是三个寄存器，</a:t>
            </a:r>
            <a:r>
              <a:rPr lang="en-US" altLang="zh-CN" sz="2000" b="0">
                <a:solidFill>
                  <a:schemeClr val="tx1"/>
                </a:solidFill>
                <a:latin typeface="宋体" pitchFamily="2" charset="-122"/>
                <a:cs typeface="Times New Roman" pitchFamily="18" charset="0"/>
              </a:rPr>
              <a:t>A</a:t>
            </a:r>
            <a:r>
              <a:rPr lang="zh-CN" altLang="en-US" sz="2000" b="0">
                <a:solidFill>
                  <a:schemeClr val="tx1"/>
                </a:solidFill>
                <a:latin typeface="宋体" pitchFamily="2" charset="-122"/>
                <a:cs typeface="Times New Roman" pitchFamily="18" charset="0"/>
              </a:rPr>
              <a:t>和</a:t>
            </a:r>
            <a:r>
              <a:rPr lang="en-US" altLang="zh-CN" sz="2000" b="0">
                <a:solidFill>
                  <a:schemeClr val="tx1"/>
                </a:solidFill>
                <a:latin typeface="宋体" pitchFamily="2" charset="-122"/>
                <a:cs typeface="Times New Roman" pitchFamily="18" charset="0"/>
              </a:rPr>
              <a:t>B</a:t>
            </a:r>
            <a:r>
              <a:rPr lang="zh-CN" altLang="en-US" sz="2000" b="0">
                <a:solidFill>
                  <a:schemeClr val="tx1"/>
                </a:solidFill>
                <a:latin typeface="宋体" pitchFamily="2" charset="-122"/>
                <a:cs typeface="Times New Roman" pitchFamily="18" charset="0"/>
              </a:rPr>
              <a:t>是两个三选一的多路开关，通路的选择由</a:t>
            </a:r>
            <a:r>
              <a:rPr lang="en-US" altLang="zh-CN" sz="2000" b="0">
                <a:solidFill>
                  <a:schemeClr val="tx1"/>
                </a:solidFill>
                <a:latin typeface="宋体" pitchFamily="2" charset="-122"/>
                <a:cs typeface="Times New Roman" pitchFamily="18" charset="0"/>
              </a:rPr>
              <a:t>AS</a:t>
            </a:r>
            <a:r>
              <a:rPr lang="en-US" altLang="zh-CN" sz="2000" b="0" baseline="-30000">
                <a:solidFill>
                  <a:schemeClr val="tx1"/>
                </a:solidFill>
                <a:latin typeface="宋体" pitchFamily="2" charset="-122"/>
                <a:cs typeface="Times New Roman" pitchFamily="18" charset="0"/>
              </a:rPr>
              <a:t>0</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AS</a:t>
            </a:r>
            <a:r>
              <a:rPr lang="en-US" altLang="zh-CN" sz="2000" b="0" baseline="-30000">
                <a:solidFill>
                  <a:schemeClr val="tx1"/>
                </a:solidFill>
                <a:latin typeface="宋体" pitchFamily="2" charset="-122"/>
                <a:cs typeface="Times New Roman" pitchFamily="18" charset="0"/>
              </a:rPr>
              <a:t>1</a:t>
            </a:r>
            <a:r>
              <a:rPr lang="zh-CN" altLang="en-US" sz="2000" b="0">
                <a:solidFill>
                  <a:schemeClr val="tx1"/>
                </a:solidFill>
                <a:latin typeface="宋体" pitchFamily="2" charset="-122"/>
                <a:cs typeface="Times New Roman" pitchFamily="18" charset="0"/>
              </a:rPr>
              <a:t>和</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0</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1</a:t>
            </a:r>
            <a:r>
              <a:rPr lang="zh-CN" altLang="en-US" sz="2000" b="0">
                <a:solidFill>
                  <a:schemeClr val="tx1"/>
                </a:solidFill>
                <a:latin typeface="宋体" pitchFamily="2" charset="-122"/>
                <a:cs typeface="Times New Roman" pitchFamily="18" charset="0"/>
              </a:rPr>
              <a:t>端控制，例如</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0</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=11</a:t>
            </a:r>
            <a:r>
              <a:rPr lang="zh-CN" altLang="en-US" sz="2000" b="0">
                <a:solidFill>
                  <a:schemeClr val="tx1"/>
                </a:solidFill>
                <a:latin typeface="宋体" pitchFamily="2" charset="-122"/>
                <a:cs typeface="Times New Roman" pitchFamily="18" charset="0"/>
              </a:rPr>
              <a:t>时，选择</a:t>
            </a:r>
            <a:r>
              <a:rPr lang="en-US" altLang="zh-CN" sz="2000" b="0">
                <a:solidFill>
                  <a:schemeClr val="tx1"/>
                </a:solidFill>
                <a:latin typeface="宋体" pitchFamily="2" charset="-122"/>
                <a:cs typeface="Times New Roman" pitchFamily="18" charset="0"/>
              </a:rPr>
              <a:t>R</a:t>
            </a:r>
            <a:r>
              <a:rPr lang="en-US" altLang="zh-CN" sz="2000" b="0" baseline="-30000">
                <a:solidFill>
                  <a:schemeClr val="tx1"/>
                </a:solidFill>
                <a:latin typeface="宋体" pitchFamily="2" charset="-122"/>
                <a:cs typeface="Times New Roman" pitchFamily="18" charset="0"/>
              </a:rPr>
              <a:t>3</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0</a:t>
            </a:r>
            <a:r>
              <a:rPr lang="en-US" altLang="zh-CN" sz="2000" b="0">
                <a:solidFill>
                  <a:schemeClr val="tx1"/>
                </a:solidFill>
                <a:latin typeface="宋体" pitchFamily="2" charset="-122"/>
                <a:cs typeface="Times New Roman" pitchFamily="18" charset="0"/>
              </a:rPr>
              <a:t>BS</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=01</a:t>
            </a:r>
            <a:r>
              <a:rPr lang="zh-CN" altLang="en-US" sz="2000" b="0">
                <a:solidFill>
                  <a:schemeClr val="tx1"/>
                </a:solidFill>
                <a:latin typeface="宋体" pitchFamily="2" charset="-122"/>
                <a:cs typeface="Times New Roman" pitchFamily="18" charset="0"/>
              </a:rPr>
              <a:t>时，选择</a:t>
            </a:r>
            <a:r>
              <a:rPr lang="en-US" altLang="zh-CN" sz="2000" b="0">
                <a:solidFill>
                  <a:schemeClr val="tx1"/>
                </a:solidFill>
                <a:latin typeface="宋体" pitchFamily="2" charset="-122"/>
                <a:cs typeface="Times New Roman" pitchFamily="18" charset="0"/>
              </a:rPr>
              <a:t>R</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a:t>
            </a:r>
            <a:r>
              <a:rPr lang="zh-CN" altLang="en-US" sz="2000" b="0">
                <a:solidFill>
                  <a:schemeClr val="tx1"/>
                </a:solidFill>
                <a:latin typeface="宋体" pitchFamily="2" charset="-122"/>
                <a:cs typeface="Times New Roman" pitchFamily="18" charset="0"/>
              </a:rPr>
              <a:t>，</a:t>
            </a:r>
            <a:r>
              <a:rPr lang="en-US" altLang="zh-CN" sz="2000" b="0">
                <a:solidFill>
                  <a:schemeClr val="tx1"/>
                </a:solidFill>
                <a:latin typeface="宋体" pitchFamily="2" charset="-122"/>
                <a:cs typeface="Times New Roman" pitchFamily="18" charset="0"/>
              </a:rPr>
              <a:t>ALU</a:t>
            </a:r>
            <a:r>
              <a:rPr lang="zh-CN" altLang="en-US" sz="2000" b="0">
                <a:solidFill>
                  <a:schemeClr val="tx1"/>
                </a:solidFill>
                <a:latin typeface="宋体" pitchFamily="2" charset="-122"/>
                <a:cs typeface="Times New Roman" pitchFamily="18" charset="0"/>
              </a:rPr>
              <a:t>是算术</a:t>
            </a:r>
            <a:r>
              <a:rPr lang="en-US" altLang="zh-CN" sz="2000" b="0">
                <a:solidFill>
                  <a:schemeClr val="tx1"/>
                </a:solidFill>
                <a:latin typeface="宋体" pitchFamily="2" charset="-122"/>
                <a:cs typeface="Times New Roman" pitchFamily="18" charset="0"/>
              </a:rPr>
              <a:t>/</a:t>
            </a:r>
            <a:r>
              <a:rPr lang="zh-CN" altLang="en-US" sz="2000" b="0">
                <a:solidFill>
                  <a:schemeClr val="tx1"/>
                </a:solidFill>
                <a:latin typeface="宋体" pitchFamily="2" charset="-122"/>
                <a:cs typeface="Times New Roman" pitchFamily="18" charset="0"/>
              </a:rPr>
              <a:t>逻辑单元。</a:t>
            </a:r>
            <a:r>
              <a:rPr lang="en-US" altLang="zh-CN" sz="2000" b="0">
                <a:solidFill>
                  <a:schemeClr val="tx1"/>
                </a:solidFill>
                <a:latin typeface="宋体" pitchFamily="2" charset="-122"/>
                <a:cs typeface="Times New Roman" pitchFamily="18" charset="0"/>
              </a:rPr>
              <a:t>S</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S</a:t>
            </a:r>
            <a:r>
              <a:rPr lang="en-US" altLang="zh-CN" sz="2000" b="0" baseline="-30000">
                <a:solidFill>
                  <a:schemeClr val="tx1"/>
                </a:solidFill>
                <a:latin typeface="宋体" pitchFamily="2" charset="-122"/>
                <a:cs typeface="Times New Roman" pitchFamily="18" charset="0"/>
              </a:rPr>
              <a:t>2</a:t>
            </a:r>
            <a:r>
              <a:rPr lang="zh-CN" altLang="en-US" sz="2000" b="0">
                <a:solidFill>
                  <a:schemeClr val="tx1"/>
                </a:solidFill>
                <a:latin typeface="宋体" pitchFamily="2" charset="-122"/>
                <a:cs typeface="Times New Roman" pitchFamily="18" charset="0"/>
              </a:rPr>
              <a:t>为它的两个操作控制端。其功能如下：</a:t>
            </a:r>
          </a:p>
          <a:p>
            <a:pPr eaLnBrk="0" hangingPunct="0"/>
            <a:r>
              <a:rPr lang="zh-CN" altLang="en-US" sz="2000" b="0">
                <a:solidFill>
                  <a:schemeClr val="tx1"/>
                </a:solidFill>
                <a:latin typeface="宋体" pitchFamily="2" charset="-122"/>
                <a:cs typeface="Times New Roman" pitchFamily="18" charset="0"/>
              </a:rPr>
              <a:t>    </a:t>
            </a:r>
            <a:r>
              <a:rPr lang="en-US" altLang="zh-CN" sz="2000" b="0">
                <a:solidFill>
                  <a:schemeClr val="tx1"/>
                </a:solidFill>
                <a:latin typeface="宋体" pitchFamily="2" charset="-122"/>
                <a:cs typeface="Times New Roman" pitchFamily="18" charset="0"/>
              </a:rPr>
              <a:t>S</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S</a:t>
            </a:r>
            <a:r>
              <a:rPr lang="en-US" altLang="zh-CN" sz="2000" b="0" baseline="-30000">
                <a:solidFill>
                  <a:schemeClr val="tx1"/>
                </a:solidFill>
                <a:latin typeface="宋体" pitchFamily="2" charset="-122"/>
                <a:cs typeface="Times New Roman" pitchFamily="18" charset="0"/>
              </a:rPr>
              <a:t>2 </a:t>
            </a:r>
            <a:r>
              <a:rPr lang="en-US" altLang="zh-CN" sz="2000" b="0">
                <a:solidFill>
                  <a:schemeClr val="tx1"/>
                </a:solidFill>
                <a:latin typeface="宋体" pitchFamily="2" charset="-122"/>
                <a:cs typeface="Times New Roman" pitchFamily="18" charset="0"/>
              </a:rPr>
              <a:t>= 00</a:t>
            </a:r>
            <a:r>
              <a:rPr lang="zh-CN" altLang="en-US" sz="2000" b="0">
                <a:solidFill>
                  <a:schemeClr val="tx1"/>
                </a:solidFill>
                <a:latin typeface="宋体" pitchFamily="2" charset="-122"/>
                <a:cs typeface="Times New Roman" pitchFamily="18" charset="0"/>
              </a:rPr>
              <a:t>时，</a:t>
            </a:r>
            <a:r>
              <a:rPr lang="en-US" altLang="zh-CN" sz="2000" b="0">
                <a:solidFill>
                  <a:schemeClr val="tx1"/>
                </a:solidFill>
                <a:latin typeface="宋体" pitchFamily="2" charset="-122"/>
                <a:cs typeface="Times New Roman" pitchFamily="18" charset="0"/>
              </a:rPr>
              <a:t>ALU</a:t>
            </a:r>
            <a:r>
              <a:rPr lang="zh-CN" altLang="en-US" sz="2000" b="0">
                <a:solidFill>
                  <a:schemeClr val="tx1"/>
                </a:solidFill>
                <a:latin typeface="宋体" pitchFamily="2" charset="-122"/>
                <a:cs typeface="Times New Roman" pitchFamily="18" charset="0"/>
              </a:rPr>
              <a:t>输出 </a:t>
            </a:r>
            <a:r>
              <a:rPr lang="en-US" altLang="zh-CN" sz="2000" b="0">
                <a:solidFill>
                  <a:schemeClr val="tx1"/>
                </a:solidFill>
                <a:latin typeface="宋体" pitchFamily="2" charset="-122"/>
                <a:cs typeface="Times New Roman" pitchFamily="18" charset="0"/>
              </a:rPr>
              <a:t>= A        S</a:t>
            </a:r>
            <a:r>
              <a:rPr lang="en-US" altLang="zh-CN" sz="2000" b="0" baseline="-30000">
                <a:solidFill>
                  <a:schemeClr val="tx1"/>
                </a:solidFill>
                <a:latin typeface="宋体" pitchFamily="2" charset="-122"/>
                <a:cs typeface="Times New Roman" pitchFamily="18" charset="0"/>
              </a:rPr>
              <a:t>1</a:t>
            </a:r>
            <a:r>
              <a:rPr lang="en-US" altLang="zh-CN" sz="2000" b="0">
                <a:solidFill>
                  <a:schemeClr val="tx1"/>
                </a:solidFill>
                <a:latin typeface="宋体" pitchFamily="2" charset="-122"/>
                <a:cs typeface="Times New Roman" pitchFamily="18" charset="0"/>
              </a:rPr>
              <a:t>S</a:t>
            </a:r>
            <a:r>
              <a:rPr lang="en-US" altLang="zh-CN" sz="2000" b="0" baseline="-30000">
                <a:solidFill>
                  <a:schemeClr val="tx1"/>
                </a:solidFill>
                <a:latin typeface="宋体" pitchFamily="2" charset="-122"/>
                <a:cs typeface="Times New Roman" pitchFamily="18" charset="0"/>
              </a:rPr>
              <a:t>2 </a:t>
            </a:r>
            <a:r>
              <a:rPr lang="en-US" altLang="zh-CN" sz="2000" b="0">
                <a:solidFill>
                  <a:schemeClr val="tx1"/>
                </a:solidFill>
                <a:latin typeface="宋体" pitchFamily="2" charset="-122"/>
                <a:cs typeface="Times New Roman" pitchFamily="18" charset="0"/>
              </a:rPr>
              <a:t>= 01</a:t>
            </a:r>
            <a:r>
              <a:rPr lang="zh-CN" altLang="en-US" sz="2000" b="0">
                <a:solidFill>
                  <a:schemeClr val="tx1"/>
                </a:solidFill>
                <a:latin typeface="宋体" pitchFamily="2" charset="-122"/>
                <a:cs typeface="Times New Roman" pitchFamily="18" charset="0"/>
              </a:rPr>
              <a:t>时，</a:t>
            </a:r>
            <a:r>
              <a:rPr lang="en-US" altLang="zh-CN" sz="2000" b="0">
                <a:solidFill>
                  <a:schemeClr val="tx1"/>
                </a:solidFill>
                <a:latin typeface="宋体" pitchFamily="2" charset="-122"/>
                <a:cs typeface="Times New Roman" pitchFamily="18" charset="0"/>
              </a:rPr>
              <a:t>ALU</a:t>
            </a:r>
            <a:r>
              <a:rPr lang="zh-CN" altLang="en-US" sz="2000" b="0">
                <a:solidFill>
                  <a:schemeClr val="tx1"/>
                </a:solidFill>
                <a:latin typeface="宋体" pitchFamily="2" charset="-122"/>
                <a:cs typeface="Times New Roman" pitchFamily="18" charset="0"/>
              </a:rPr>
              <a:t>输出 </a:t>
            </a:r>
            <a:r>
              <a:rPr lang="en-US" altLang="zh-CN" sz="2000" b="0">
                <a:solidFill>
                  <a:schemeClr val="tx1"/>
                </a:solidFill>
                <a:latin typeface="宋体" pitchFamily="2" charset="-122"/>
                <a:cs typeface="Times New Roman" pitchFamily="18" charset="0"/>
              </a:rPr>
              <a:t>= A + B</a:t>
            </a:r>
          </a:p>
          <a:p>
            <a:pPr eaLnBrk="0" hangingPunct="0"/>
            <a:r>
              <a:rPr lang="en-US" altLang="zh-CN" sz="2000" b="0">
                <a:solidFill>
                  <a:schemeClr val="tx1"/>
                </a:solidFill>
                <a:latin typeface="宋体" pitchFamily="2" charset="-122"/>
                <a:cs typeface="Times New Roman" pitchFamily="18" charset="0"/>
              </a:rPr>
              <a:t>    </a:t>
            </a:r>
            <a:r>
              <a:rPr lang="en-US" altLang="zh-CN" sz="2000" b="0">
                <a:solidFill>
                  <a:schemeClr val="tx1"/>
                </a:solidFill>
                <a:latin typeface="宋体" pitchFamily="2" charset="-122"/>
              </a:rPr>
              <a:t>S</a:t>
            </a:r>
            <a:r>
              <a:rPr lang="en-US" altLang="zh-CN" sz="2000" b="0" baseline="-25000">
                <a:solidFill>
                  <a:schemeClr val="tx1"/>
                </a:solidFill>
                <a:latin typeface="宋体" pitchFamily="2" charset="-122"/>
              </a:rPr>
              <a:t>1</a:t>
            </a:r>
            <a:r>
              <a:rPr lang="en-US" altLang="zh-CN" sz="2000" b="0">
                <a:solidFill>
                  <a:schemeClr val="tx1"/>
                </a:solidFill>
                <a:latin typeface="宋体" pitchFamily="2" charset="-122"/>
              </a:rPr>
              <a:t>S</a:t>
            </a:r>
            <a:r>
              <a:rPr lang="en-US" altLang="zh-CN" sz="2000" b="0" baseline="-25000">
                <a:solidFill>
                  <a:schemeClr val="tx1"/>
                </a:solidFill>
                <a:latin typeface="宋体" pitchFamily="2" charset="-122"/>
              </a:rPr>
              <a:t>2</a:t>
            </a:r>
            <a:r>
              <a:rPr lang="en-US" altLang="zh-CN" sz="2000" b="0">
                <a:solidFill>
                  <a:schemeClr val="tx1"/>
                </a:solidFill>
                <a:latin typeface="宋体" pitchFamily="2" charset="-122"/>
              </a:rPr>
              <a:t> = 10</a:t>
            </a:r>
            <a:r>
              <a:rPr lang="zh-CN" altLang="en-US" sz="2000" b="0">
                <a:solidFill>
                  <a:schemeClr val="tx1"/>
                </a:solidFill>
                <a:latin typeface="宋体" pitchFamily="2" charset="-122"/>
              </a:rPr>
              <a:t>时，</a:t>
            </a:r>
            <a:r>
              <a:rPr lang="en-US" altLang="zh-CN" sz="2000" b="0">
                <a:solidFill>
                  <a:schemeClr val="tx1"/>
                </a:solidFill>
                <a:latin typeface="宋体" pitchFamily="2" charset="-122"/>
              </a:rPr>
              <a:t>ALU</a:t>
            </a:r>
            <a:r>
              <a:rPr lang="zh-CN" altLang="en-US" sz="2000" b="0">
                <a:solidFill>
                  <a:schemeClr val="tx1"/>
                </a:solidFill>
                <a:latin typeface="宋体" pitchFamily="2" charset="-122"/>
              </a:rPr>
              <a:t>输出 </a:t>
            </a:r>
            <a:r>
              <a:rPr lang="en-US" altLang="zh-CN" sz="2000" b="0">
                <a:solidFill>
                  <a:schemeClr val="tx1"/>
                </a:solidFill>
                <a:latin typeface="宋体" pitchFamily="2" charset="-122"/>
              </a:rPr>
              <a:t>= A – B   S</a:t>
            </a:r>
            <a:r>
              <a:rPr lang="en-US" altLang="zh-CN" sz="2000" b="0" baseline="-25000">
                <a:solidFill>
                  <a:schemeClr val="tx1"/>
                </a:solidFill>
                <a:latin typeface="宋体" pitchFamily="2" charset="-122"/>
              </a:rPr>
              <a:t>1</a:t>
            </a:r>
            <a:r>
              <a:rPr lang="en-US" altLang="zh-CN" sz="2000" b="0">
                <a:solidFill>
                  <a:schemeClr val="tx1"/>
                </a:solidFill>
                <a:latin typeface="宋体" pitchFamily="2" charset="-122"/>
              </a:rPr>
              <a:t>S</a:t>
            </a:r>
            <a:r>
              <a:rPr lang="en-US" altLang="zh-CN" sz="2000" b="0" baseline="-25000">
                <a:solidFill>
                  <a:schemeClr val="tx1"/>
                </a:solidFill>
                <a:latin typeface="宋体" pitchFamily="2" charset="-122"/>
              </a:rPr>
              <a:t>2</a:t>
            </a:r>
            <a:r>
              <a:rPr lang="en-US" altLang="zh-CN" sz="2000" b="0">
                <a:solidFill>
                  <a:schemeClr val="tx1"/>
                </a:solidFill>
                <a:latin typeface="宋体" pitchFamily="2" charset="-122"/>
              </a:rPr>
              <a:t> = 11</a:t>
            </a:r>
            <a:r>
              <a:rPr lang="zh-CN" altLang="en-US" sz="2000" b="0">
                <a:solidFill>
                  <a:schemeClr val="tx1"/>
                </a:solidFill>
                <a:latin typeface="宋体" pitchFamily="2" charset="-122"/>
              </a:rPr>
              <a:t>时，</a:t>
            </a:r>
            <a:r>
              <a:rPr lang="en-US" altLang="zh-CN" sz="2000" b="0">
                <a:solidFill>
                  <a:schemeClr val="tx1"/>
                </a:solidFill>
                <a:latin typeface="宋体" pitchFamily="2" charset="-122"/>
              </a:rPr>
              <a:t>ALU</a:t>
            </a:r>
            <a:r>
              <a:rPr lang="zh-CN" altLang="en-US" sz="2000" b="0">
                <a:solidFill>
                  <a:schemeClr val="tx1"/>
                </a:solidFill>
                <a:latin typeface="宋体" pitchFamily="2" charset="-122"/>
              </a:rPr>
              <a:t>输出 </a:t>
            </a:r>
            <a:r>
              <a:rPr lang="en-US" altLang="zh-CN" sz="2000" b="0">
                <a:solidFill>
                  <a:schemeClr val="tx1"/>
                </a:solidFill>
                <a:latin typeface="宋体" pitchFamily="2" charset="-122"/>
              </a:rPr>
              <a:t>= A⊕B</a:t>
            </a:r>
          </a:p>
          <a:p>
            <a:pPr eaLnBrk="0" hangingPunct="0"/>
            <a:r>
              <a:rPr lang="zh-CN" altLang="en-US" sz="2000" b="0">
                <a:solidFill>
                  <a:schemeClr val="tx1"/>
                </a:solidFill>
                <a:latin typeface="宋体" pitchFamily="2" charset="-122"/>
              </a:rPr>
              <a:t>请设计控制运算器通路的微指令格式。</a:t>
            </a:r>
          </a:p>
        </p:txBody>
      </p:sp>
      <p:sp>
        <p:nvSpPr>
          <p:cNvPr id="107524" name="Rectangle 3"/>
          <p:cNvSpPr>
            <a:spLocks noChangeArrowheads="1"/>
          </p:cNvSpPr>
          <p:nvPr/>
        </p:nvSpPr>
        <p:spPr bwMode="auto">
          <a:xfrm>
            <a:off x="0" y="5600700"/>
            <a:ext cx="184150" cy="519113"/>
          </a:xfrm>
          <a:prstGeom prst="rect">
            <a:avLst/>
          </a:prstGeom>
          <a:noFill/>
          <a:ln w="9525" algn="ctr">
            <a:noFill/>
            <a:miter lim="800000"/>
            <a:headEnd/>
            <a:tailEnd/>
          </a:ln>
        </p:spPr>
        <p:txBody>
          <a:bodyPr wrap="none" anchor="ctr">
            <a:spAutoFit/>
          </a:bodyPr>
          <a:lstStyle/>
          <a:p>
            <a:pPr eaLnBrk="0" hangingPunct="0"/>
            <a:r>
              <a:rPr lang="en-US" altLang="zh-CN" sz="1000" b="0">
                <a:solidFill>
                  <a:schemeClr val="tx1"/>
                </a:solidFill>
                <a:latin typeface="Times New Roman" pitchFamily="18" charset="0"/>
                <a:cs typeface="Times New Roman" pitchFamily="18" charset="0"/>
              </a:rPr>
              <a:t/>
            </a:r>
            <a:br>
              <a:rPr lang="en-US" altLang="zh-CN" sz="1000" b="0">
                <a:solidFill>
                  <a:schemeClr val="tx1"/>
                </a:solidFill>
                <a:latin typeface="Times New Roman" pitchFamily="18" charset="0"/>
                <a:cs typeface="Times New Roman" pitchFamily="18" charset="0"/>
              </a:rPr>
            </a:br>
            <a:endParaRPr lang="en-US" altLang="zh-CN" b="0">
              <a:solidFill>
                <a:schemeClr val="tx1"/>
              </a:solidFill>
              <a:cs typeface="Times New Roman" pitchFamily="18" charset="0"/>
            </a:endParaRPr>
          </a:p>
        </p:txBody>
      </p:sp>
      <p:pic>
        <p:nvPicPr>
          <p:cNvPr id="107525" name="Picture 4"/>
          <p:cNvPicPr>
            <a:picLocks noChangeAspect="1" noChangeArrowheads="1"/>
          </p:cNvPicPr>
          <p:nvPr/>
        </p:nvPicPr>
        <p:blipFill>
          <a:blip r:embed="rId2"/>
          <a:srcRect/>
          <a:stretch>
            <a:fillRect/>
          </a:stretch>
        </p:blipFill>
        <p:spPr bwMode="auto">
          <a:xfrm>
            <a:off x="395288" y="2565400"/>
            <a:ext cx="7848600" cy="403225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p:spPr>
        <p:txBody>
          <a:bodyPr/>
          <a:lstStyle/>
          <a:p>
            <a:fld id="{B28903CA-7E0B-4245-AB3E-57986A907456}" type="slidenum">
              <a:rPr lang="en-US" altLang="zh-CN" smtClean="0"/>
              <a:pPr/>
              <a:t>103</a:t>
            </a:fld>
            <a:endParaRPr lang="en-US" altLang="zh-CN" smtClean="0"/>
          </a:p>
        </p:txBody>
      </p:sp>
      <p:sp>
        <p:nvSpPr>
          <p:cNvPr id="108547" name="Line 2"/>
          <p:cNvSpPr>
            <a:spLocks noChangeShapeType="1"/>
          </p:cNvSpPr>
          <p:nvPr/>
        </p:nvSpPr>
        <p:spPr bwMode="auto">
          <a:xfrm flipV="1">
            <a:off x="5507038" y="1984375"/>
            <a:ext cx="0" cy="0"/>
          </a:xfrm>
          <a:prstGeom prst="line">
            <a:avLst/>
          </a:prstGeom>
          <a:noFill/>
          <a:ln w="9525">
            <a:solidFill>
              <a:srgbClr val="000000"/>
            </a:solidFill>
            <a:round/>
            <a:headEnd/>
            <a:tailEnd/>
          </a:ln>
        </p:spPr>
        <p:txBody>
          <a:bodyPr/>
          <a:lstStyle/>
          <a:p>
            <a:endParaRPr lang="zh-CN" altLang="en-US"/>
          </a:p>
        </p:txBody>
      </p:sp>
      <p:sp>
        <p:nvSpPr>
          <p:cNvPr id="108548" name="Rectangle 3"/>
          <p:cNvSpPr>
            <a:spLocks noChangeArrowheads="1"/>
          </p:cNvSpPr>
          <p:nvPr/>
        </p:nvSpPr>
        <p:spPr bwMode="auto">
          <a:xfrm>
            <a:off x="1392238" y="3300413"/>
            <a:ext cx="184150" cy="915987"/>
          </a:xfrm>
          <a:prstGeom prst="rect">
            <a:avLst/>
          </a:prstGeom>
          <a:noFill/>
          <a:ln w="9525" algn="ctr">
            <a:noFill/>
            <a:miter lim="800000"/>
            <a:headEnd/>
            <a:tailEnd/>
          </a:ln>
        </p:spPr>
        <p:txBody>
          <a:bodyPr wrap="none" anchor="ctr">
            <a:spAutoFit/>
          </a:bodyPr>
          <a:lstStyle/>
          <a:p>
            <a:pPr eaLnBrk="0" hangingPunct="0"/>
            <a:r>
              <a:rPr lang="en-US" altLang="zh-CN" b="0">
                <a:solidFill>
                  <a:schemeClr val="tx1"/>
                </a:solidFill>
              </a:rPr>
              <a:t/>
            </a:r>
            <a:br>
              <a:rPr lang="en-US" altLang="zh-CN" b="0">
                <a:solidFill>
                  <a:schemeClr val="tx1"/>
                </a:solidFill>
              </a:rPr>
            </a:br>
            <a:endParaRPr lang="en-US" altLang="zh-CN" b="0">
              <a:solidFill>
                <a:schemeClr val="tx1"/>
              </a:solidFill>
            </a:endParaRPr>
          </a:p>
          <a:p>
            <a:pPr eaLnBrk="0" hangingPunct="0"/>
            <a:endParaRPr lang="en-US" altLang="zh-CN" b="0">
              <a:solidFill>
                <a:schemeClr val="tx1"/>
              </a:solidFill>
            </a:endParaRPr>
          </a:p>
        </p:txBody>
      </p:sp>
      <p:sp>
        <p:nvSpPr>
          <p:cNvPr id="108549" name="Rectangle 4"/>
          <p:cNvSpPr>
            <a:spLocks noChangeArrowheads="1"/>
          </p:cNvSpPr>
          <p:nvPr/>
        </p:nvSpPr>
        <p:spPr bwMode="auto">
          <a:xfrm>
            <a:off x="250825" y="3573463"/>
            <a:ext cx="8642350" cy="1717393"/>
          </a:xfrm>
          <a:prstGeom prst="rect">
            <a:avLst/>
          </a:prstGeom>
          <a:solidFill>
            <a:srgbClr val="CCFFFF"/>
          </a:solidFill>
          <a:ln w="9525" algn="ctr">
            <a:noFill/>
            <a:miter lim="800000"/>
            <a:headEnd/>
            <a:tailEnd/>
          </a:ln>
        </p:spPr>
        <p:txBody>
          <a:bodyPr>
            <a:spAutoFit/>
          </a:bodyPr>
          <a:lstStyle/>
          <a:p>
            <a:pPr>
              <a:spcBef>
                <a:spcPct val="20000"/>
              </a:spcBef>
              <a:buClr>
                <a:schemeClr val="bg1"/>
              </a:buClr>
              <a:buSzPct val="70000"/>
              <a:buFont typeface="Wingdings" pitchFamily="2" charset="2"/>
              <a:buNone/>
            </a:pPr>
            <a:r>
              <a:rPr lang="zh-CN" altLang="en-US" sz="2400" b="0">
                <a:solidFill>
                  <a:schemeClr val="tx1"/>
                </a:solidFill>
                <a:latin typeface="宋体" pitchFamily="2" charset="-122"/>
              </a:rPr>
              <a:t>解：采用水平微指令格式</a:t>
            </a:r>
            <a:r>
              <a:rPr lang="zh-CN" altLang="en-US" sz="2400" b="0" smtClean="0">
                <a:solidFill>
                  <a:schemeClr val="tx1"/>
                </a:solidFill>
                <a:latin typeface="宋体" pitchFamily="2" charset="-122"/>
              </a:rPr>
              <a:t>，顺序控制</a:t>
            </a:r>
            <a:r>
              <a:rPr lang="zh-CN" altLang="en-US" sz="2400" b="0">
                <a:solidFill>
                  <a:schemeClr val="tx1"/>
                </a:solidFill>
                <a:latin typeface="宋体" pitchFamily="2" charset="-122"/>
              </a:rPr>
              <a:t>字段假设</a:t>
            </a:r>
            <a:r>
              <a:rPr lang="en-US" altLang="zh-CN" sz="2400" b="0" dirty="0">
                <a:solidFill>
                  <a:schemeClr val="tx1"/>
                </a:solidFill>
                <a:latin typeface="宋体" pitchFamily="2" charset="-122"/>
              </a:rPr>
              <a:t>4</a:t>
            </a:r>
            <a:r>
              <a:rPr lang="zh-CN" altLang="en-US" sz="2400" b="0" dirty="0">
                <a:solidFill>
                  <a:schemeClr val="tx1"/>
                </a:solidFill>
                <a:latin typeface="宋体" pitchFamily="2" charset="-122"/>
              </a:rPr>
              <a:t>位，其中一位判别测试位：</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当</a:t>
            </a:r>
            <a:r>
              <a:rPr lang="en-US" altLang="zh-CN" sz="2400" b="0" dirty="0">
                <a:solidFill>
                  <a:schemeClr val="tx1"/>
                </a:solidFill>
                <a:latin typeface="宋体" pitchFamily="2" charset="-122"/>
              </a:rPr>
              <a:t>P = 0</a:t>
            </a:r>
            <a:r>
              <a:rPr lang="zh-CN" altLang="en-US" sz="2400" b="0" dirty="0">
                <a:solidFill>
                  <a:schemeClr val="tx1"/>
                </a:solidFill>
                <a:latin typeface="宋体" pitchFamily="2" charset="-122"/>
              </a:rPr>
              <a:t>时，直接用</a:t>
            </a:r>
            <a:r>
              <a:rPr lang="en-US" altLang="zh-CN" sz="2400" b="0" dirty="0">
                <a:solidFill>
                  <a:schemeClr val="tx1"/>
                </a:solidFill>
                <a:latin typeface="宋体" pitchFamily="2" charset="-122"/>
              </a:rPr>
              <a:t>μAR1——μAR3</a:t>
            </a:r>
            <a:r>
              <a:rPr lang="zh-CN" altLang="en-US" sz="2400" b="0" dirty="0">
                <a:solidFill>
                  <a:schemeClr val="tx1"/>
                </a:solidFill>
                <a:latin typeface="宋体" pitchFamily="2" charset="-122"/>
              </a:rPr>
              <a:t>形成下一个微地址。</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当</a:t>
            </a:r>
            <a:r>
              <a:rPr lang="en-US" altLang="zh-CN" sz="2400" b="0" dirty="0">
                <a:solidFill>
                  <a:schemeClr val="tx1"/>
                </a:solidFill>
                <a:latin typeface="宋体" pitchFamily="2" charset="-122"/>
              </a:rPr>
              <a:t>P = 1</a:t>
            </a:r>
            <a:r>
              <a:rPr lang="zh-CN" altLang="en-US" sz="2400" b="0" dirty="0">
                <a:solidFill>
                  <a:schemeClr val="tx1"/>
                </a:solidFill>
                <a:latin typeface="宋体" pitchFamily="2" charset="-122"/>
              </a:rPr>
              <a:t>时，对</a:t>
            </a:r>
            <a:r>
              <a:rPr lang="en-US" altLang="zh-CN" sz="2400" b="0" dirty="0">
                <a:solidFill>
                  <a:schemeClr val="tx1"/>
                </a:solidFill>
                <a:latin typeface="宋体" pitchFamily="2" charset="-122"/>
              </a:rPr>
              <a:t>μAR3</a:t>
            </a:r>
            <a:r>
              <a:rPr lang="zh-CN" altLang="en-US" sz="2400" b="0" dirty="0">
                <a:solidFill>
                  <a:schemeClr val="tx1"/>
                </a:solidFill>
                <a:latin typeface="宋体" pitchFamily="2" charset="-122"/>
              </a:rPr>
              <a:t>进行修改后形成下一个微地址。</a:t>
            </a:r>
          </a:p>
        </p:txBody>
      </p:sp>
      <p:sp>
        <p:nvSpPr>
          <p:cNvPr id="108550" name="Line 5"/>
          <p:cNvSpPr>
            <a:spLocks noChangeShapeType="1"/>
          </p:cNvSpPr>
          <p:nvPr/>
        </p:nvSpPr>
        <p:spPr bwMode="auto">
          <a:xfrm flipV="1">
            <a:off x="4114800" y="2770188"/>
            <a:ext cx="0" cy="0"/>
          </a:xfrm>
          <a:prstGeom prst="line">
            <a:avLst/>
          </a:prstGeom>
          <a:noFill/>
          <a:ln w="9525">
            <a:solidFill>
              <a:srgbClr val="000000"/>
            </a:solidFill>
            <a:round/>
            <a:headEnd/>
            <a:tailEnd/>
          </a:ln>
        </p:spPr>
        <p:txBody>
          <a:bodyPr/>
          <a:lstStyle/>
          <a:p>
            <a:endParaRPr lang="zh-CN" altLang="en-US"/>
          </a:p>
        </p:txBody>
      </p:sp>
      <p:sp>
        <p:nvSpPr>
          <p:cNvPr id="108551" name="Rectangle 6"/>
          <p:cNvSpPr>
            <a:spLocks noChangeArrowheads="1"/>
          </p:cNvSpPr>
          <p:nvPr/>
        </p:nvSpPr>
        <p:spPr bwMode="auto">
          <a:xfrm>
            <a:off x="0" y="2605088"/>
            <a:ext cx="9144000" cy="0"/>
          </a:xfrm>
          <a:prstGeom prst="rect">
            <a:avLst/>
          </a:prstGeom>
          <a:noFill/>
          <a:ln w="9525" algn="ctr">
            <a:noFill/>
            <a:miter lim="800000"/>
            <a:headEnd/>
            <a:tailEnd/>
          </a:ln>
        </p:spPr>
        <p:txBody>
          <a:bodyPr wrap="none" anchor="ctr">
            <a:spAutoFit/>
          </a:bodyPr>
          <a:lstStyle/>
          <a:p>
            <a:endParaRPr lang="zh-CN" altLang="en-US"/>
          </a:p>
        </p:txBody>
      </p:sp>
      <p:pic>
        <p:nvPicPr>
          <p:cNvPr id="108552" name="Picture 7"/>
          <p:cNvPicPr>
            <a:picLocks noChangeAspect="1" noChangeArrowheads="1"/>
          </p:cNvPicPr>
          <p:nvPr/>
        </p:nvPicPr>
        <p:blipFill>
          <a:blip r:embed="rId2"/>
          <a:srcRect/>
          <a:stretch>
            <a:fillRect/>
          </a:stretch>
        </p:blipFill>
        <p:spPr bwMode="auto">
          <a:xfrm>
            <a:off x="250825" y="188913"/>
            <a:ext cx="8713788" cy="3311525"/>
          </a:xfrm>
          <a:prstGeom prst="rect">
            <a:avLst/>
          </a:prstGeom>
          <a:noFill/>
          <a:ln w="9525">
            <a:noFill/>
            <a:miter lim="800000"/>
            <a:headEnd/>
            <a:tailEnd/>
          </a:ln>
        </p:spPr>
      </p:pic>
      <p:pic>
        <p:nvPicPr>
          <p:cNvPr id="278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5340052"/>
            <a:ext cx="8743950"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2"/>
          </p:nvPr>
        </p:nvSpPr>
        <p:spPr>
          <a:noFill/>
        </p:spPr>
        <p:txBody>
          <a:bodyPr/>
          <a:lstStyle/>
          <a:p>
            <a:fld id="{7CBBAFED-B9BD-45EE-B59C-593996FE1338}" type="slidenum">
              <a:rPr lang="en-US" altLang="zh-CN" smtClean="0"/>
              <a:pPr/>
              <a:t>104</a:t>
            </a:fld>
            <a:endParaRPr lang="en-US" altLang="zh-CN" smtClean="0"/>
          </a:p>
        </p:txBody>
      </p:sp>
      <p:sp>
        <p:nvSpPr>
          <p:cNvPr id="109571" name="Rectangle 2"/>
          <p:cNvSpPr>
            <a:spLocks noChangeArrowheads="1"/>
          </p:cNvSpPr>
          <p:nvPr/>
        </p:nvSpPr>
        <p:spPr bwMode="auto">
          <a:xfrm>
            <a:off x="179388" y="174060"/>
            <a:ext cx="8785225" cy="2677656"/>
          </a:xfrm>
          <a:prstGeom prst="rect">
            <a:avLst/>
          </a:prstGeom>
          <a:solidFill>
            <a:srgbClr val="CCFFFF"/>
          </a:solidFill>
          <a:ln w="9525" algn="ctr">
            <a:noFill/>
            <a:miter lim="800000"/>
            <a:headEnd/>
            <a:tailEnd/>
          </a:ln>
        </p:spPr>
        <p:txBody>
          <a:bodyPr anchor="ctr">
            <a:spAutoFit/>
          </a:bodyPr>
          <a:lstStyle/>
          <a:p>
            <a:pPr lvl="1" eaLnBrk="0" hangingPunct="0">
              <a:tabLst>
                <a:tab pos="333375" algn="l"/>
              </a:tabLst>
            </a:pP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例</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cs typeface="Times New Roman" pitchFamily="18" charset="0"/>
              </a:rPr>
              <a:t>图给出了微程序控制的部分微指令序列</a:t>
            </a:r>
            <a:r>
              <a:rPr lang="zh-CN" altLang="pt-BR" sz="2400" b="0" dirty="0">
                <a:solidFill>
                  <a:schemeClr val="tx1"/>
                </a:solidFill>
                <a:latin typeface="宋体" pitchFamily="2" charset="-122"/>
                <a:cs typeface="Times New Roman" pitchFamily="18" charset="0"/>
              </a:rPr>
              <a:t>，图中每一框代表一条微指令。分支点</a:t>
            </a:r>
            <a:r>
              <a:rPr lang="en-US" altLang="zh-CN" sz="2400" b="0" dirty="0">
                <a:solidFill>
                  <a:schemeClr val="tx1"/>
                </a:solidFill>
                <a:latin typeface="宋体" pitchFamily="2" charset="-122"/>
                <a:cs typeface="Times New Roman" pitchFamily="18" charset="0"/>
              </a:rPr>
              <a:t>a</a:t>
            </a:r>
            <a:r>
              <a:rPr lang="zh-CN" altLang="en-US" sz="2400" b="0" dirty="0">
                <a:solidFill>
                  <a:schemeClr val="tx1"/>
                </a:solidFill>
                <a:latin typeface="宋体" pitchFamily="2" charset="-122"/>
                <a:cs typeface="Times New Roman" pitchFamily="18" charset="0"/>
              </a:rPr>
              <a:t>由指令寄存器</a:t>
            </a:r>
            <a:r>
              <a:rPr lang="en-US" altLang="zh-CN" sz="2400" b="0" dirty="0">
                <a:solidFill>
                  <a:schemeClr val="tx1"/>
                </a:solidFill>
                <a:latin typeface="宋体" pitchFamily="2" charset="-122"/>
                <a:cs typeface="Times New Roman" pitchFamily="18" charset="0"/>
              </a:rPr>
              <a:t>I</a:t>
            </a:r>
            <a:r>
              <a:rPr lang="en-US" altLang="zh-CN" sz="2400" b="0" baseline="-30000" dirty="0">
                <a:solidFill>
                  <a:schemeClr val="tx1"/>
                </a:solidFill>
                <a:latin typeface="宋体" pitchFamily="2" charset="-122"/>
                <a:cs typeface="Times New Roman" pitchFamily="18" charset="0"/>
              </a:rPr>
              <a:t>R5</a:t>
            </a:r>
            <a:r>
              <a:rPr lang="zh-CN" altLang="en-US" sz="2400" b="0" dirty="0">
                <a:solidFill>
                  <a:schemeClr val="tx1"/>
                </a:solidFill>
                <a:latin typeface="宋体" pitchFamily="2" charset="-122"/>
                <a:cs typeface="Times New Roman" pitchFamily="18" charset="0"/>
              </a:rPr>
              <a:t>，</a:t>
            </a:r>
            <a:r>
              <a:rPr lang="en-US" altLang="zh-CN" sz="2400" b="0" dirty="0">
                <a:solidFill>
                  <a:schemeClr val="tx1"/>
                </a:solidFill>
                <a:latin typeface="宋体" pitchFamily="2" charset="-122"/>
                <a:cs typeface="Times New Roman" pitchFamily="18" charset="0"/>
              </a:rPr>
              <a:t>I</a:t>
            </a:r>
            <a:r>
              <a:rPr lang="en-US" altLang="zh-CN" sz="2400" b="0" baseline="-30000" dirty="0">
                <a:solidFill>
                  <a:schemeClr val="tx1"/>
                </a:solidFill>
                <a:latin typeface="宋体" pitchFamily="2" charset="-122"/>
                <a:cs typeface="Times New Roman" pitchFamily="18" charset="0"/>
              </a:rPr>
              <a:t>R6</a:t>
            </a:r>
            <a:r>
              <a:rPr lang="zh-CN" altLang="en-US" sz="2400" b="0" dirty="0">
                <a:solidFill>
                  <a:schemeClr val="tx1"/>
                </a:solidFill>
                <a:latin typeface="宋体" pitchFamily="2" charset="-122"/>
                <a:cs typeface="Times New Roman" pitchFamily="18" charset="0"/>
              </a:rPr>
              <a:t>两位决定，分支点</a:t>
            </a:r>
            <a:r>
              <a:rPr lang="en-US" altLang="zh-CN" sz="2400" b="0" dirty="0">
                <a:solidFill>
                  <a:schemeClr val="tx1"/>
                </a:solidFill>
                <a:latin typeface="宋体" pitchFamily="2" charset="-122"/>
                <a:cs typeface="Times New Roman" pitchFamily="18" charset="0"/>
              </a:rPr>
              <a:t>b</a:t>
            </a:r>
            <a:r>
              <a:rPr lang="zh-CN" altLang="en-US" sz="2400" b="0" dirty="0">
                <a:solidFill>
                  <a:schemeClr val="tx1"/>
                </a:solidFill>
                <a:latin typeface="宋体" pitchFamily="2" charset="-122"/>
                <a:cs typeface="Times New Roman" pitchFamily="18" charset="0"/>
              </a:rPr>
              <a:t>由条件码标志</a:t>
            </a:r>
            <a:r>
              <a:rPr lang="en-US" altLang="zh-CN" sz="2400" b="0" dirty="0">
                <a:solidFill>
                  <a:schemeClr val="tx1"/>
                </a:solidFill>
                <a:latin typeface="宋体" pitchFamily="2" charset="-122"/>
                <a:cs typeface="Times New Roman" pitchFamily="18" charset="0"/>
              </a:rPr>
              <a:t>C</a:t>
            </a:r>
            <a:r>
              <a:rPr lang="en-US" altLang="zh-CN" sz="2400" b="0" baseline="-30000" dirty="0">
                <a:solidFill>
                  <a:schemeClr val="tx1"/>
                </a:solidFill>
                <a:latin typeface="宋体" pitchFamily="2" charset="-122"/>
                <a:cs typeface="Times New Roman" pitchFamily="18" charset="0"/>
              </a:rPr>
              <a:t>0</a:t>
            </a:r>
            <a:r>
              <a:rPr lang="zh-CN" altLang="en-US" sz="2400" b="0" dirty="0">
                <a:solidFill>
                  <a:schemeClr val="tx1"/>
                </a:solidFill>
                <a:latin typeface="宋体" pitchFamily="2" charset="-122"/>
                <a:cs typeface="Times New Roman" pitchFamily="18" charset="0"/>
              </a:rPr>
              <a:t>决定。现采用断定方式实现微程序的程序控制，已知微地址寄存器长度为</a:t>
            </a:r>
            <a:r>
              <a:rPr lang="en-US" altLang="zh-CN" sz="2400" b="0" dirty="0">
                <a:solidFill>
                  <a:schemeClr val="tx1"/>
                </a:solidFill>
                <a:latin typeface="宋体" pitchFamily="2" charset="-122"/>
                <a:cs typeface="Times New Roman" pitchFamily="18" charset="0"/>
              </a:rPr>
              <a:t>8</a:t>
            </a:r>
            <a:r>
              <a:rPr lang="zh-CN" altLang="en-US" sz="2400" b="0" dirty="0">
                <a:solidFill>
                  <a:schemeClr val="tx1"/>
                </a:solidFill>
                <a:latin typeface="宋体" pitchFamily="2" charset="-122"/>
                <a:cs typeface="Times New Roman" pitchFamily="18" charset="0"/>
              </a:rPr>
              <a:t>位，要求：</a:t>
            </a:r>
            <a:endParaRPr lang="zh-CN" altLang="en-US" sz="2400" b="0" dirty="0">
              <a:solidFill>
                <a:schemeClr val="tx1"/>
              </a:solidFill>
              <a:latin typeface="宋体" pitchFamily="2" charset="-122"/>
            </a:endParaRPr>
          </a:p>
          <a:p>
            <a:pPr lvl="1" eaLnBrk="0" hangingPunct="0">
              <a:buFontTx/>
              <a:buAutoNum type="arabicPeriod"/>
              <a:tabLst>
                <a:tab pos="333375" algn="l"/>
              </a:tabLst>
            </a:pPr>
            <a:r>
              <a:rPr lang="zh-CN" altLang="en-US" sz="2400" b="0" dirty="0">
                <a:solidFill>
                  <a:schemeClr val="tx1"/>
                </a:solidFill>
                <a:latin typeface="宋体" pitchFamily="2" charset="-122"/>
              </a:rPr>
              <a:t>设计实现该微指令序列的微指令字顺序控制字段的格式。</a:t>
            </a:r>
          </a:p>
          <a:p>
            <a:pPr lvl="1" eaLnBrk="0" hangingPunct="0">
              <a:buFontTx/>
              <a:buAutoNum type="arabicPeriod"/>
              <a:tabLst>
                <a:tab pos="333375" algn="l"/>
              </a:tabLst>
            </a:pPr>
            <a:r>
              <a:rPr lang="zh-CN" altLang="en-US" sz="2400" b="0" dirty="0">
                <a:solidFill>
                  <a:schemeClr val="tx1"/>
                </a:solidFill>
                <a:latin typeface="宋体" pitchFamily="2" charset="-122"/>
              </a:rPr>
              <a:t>每条微指令的二进制地址。</a:t>
            </a:r>
          </a:p>
          <a:p>
            <a:pPr lvl="1" eaLnBrk="0" hangingPunct="0">
              <a:tabLst>
                <a:tab pos="333375" algn="l"/>
              </a:tabLst>
            </a:pPr>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说明微地址转移逻辑。</a:t>
            </a:r>
          </a:p>
        </p:txBody>
      </p:sp>
      <p:pic>
        <p:nvPicPr>
          <p:cNvPr id="109572" name="Picture 3" descr="库图6"/>
          <p:cNvPicPr>
            <a:picLocks noChangeAspect="1" noChangeArrowheads="1"/>
          </p:cNvPicPr>
          <p:nvPr/>
        </p:nvPicPr>
        <p:blipFill>
          <a:blip r:embed="rId2"/>
          <a:srcRect/>
          <a:stretch>
            <a:fillRect/>
          </a:stretch>
        </p:blipFill>
        <p:spPr bwMode="auto">
          <a:xfrm>
            <a:off x="468313" y="3068638"/>
            <a:ext cx="7632700" cy="3521075"/>
          </a:xfrm>
          <a:prstGeom prst="rect">
            <a:avLst/>
          </a:prstGeom>
          <a:noFill/>
          <a:ln w="9525">
            <a:noFill/>
            <a:miter lim="800000"/>
            <a:headEnd/>
            <a:tailEnd/>
          </a:ln>
        </p:spPr>
      </p:pic>
      <p:sp>
        <p:nvSpPr>
          <p:cNvPr id="109573" name="Rectangle 4"/>
          <p:cNvSpPr>
            <a:spLocks noChangeArrowheads="1"/>
          </p:cNvSpPr>
          <p:nvPr/>
        </p:nvSpPr>
        <p:spPr bwMode="auto">
          <a:xfrm>
            <a:off x="3563938" y="2641600"/>
            <a:ext cx="184150" cy="519113"/>
          </a:xfrm>
          <a:prstGeom prst="rect">
            <a:avLst/>
          </a:prstGeom>
          <a:noFill/>
          <a:ln w="9525" algn="ctr">
            <a:noFill/>
            <a:miter lim="800000"/>
            <a:headEnd/>
            <a:tailEnd/>
          </a:ln>
        </p:spPr>
        <p:txBody>
          <a:bodyPr wrap="none" anchor="ctr">
            <a:spAutoFit/>
          </a:bodyPr>
          <a:lstStyle/>
          <a:p>
            <a:pPr eaLnBrk="0" hangingPunct="0">
              <a:tabLst>
                <a:tab pos="333375" algn="l"/>
              </a:tabLst>
            </a:pPr>
            <a:r>
              <a:rPr lang="en-US" altLang="zh-CN" sz="1000" b="0">
                <a:solidFill>
                  <a:schemeClr val="tx1"/>
                </a:solidFill>
                <a:latin typeface="Times New Roman" pitchFamily="18" charset="0"/>
                <a:cs typeface="Times New Roman" pitchFamily="18" charset="0"/>
              </a:rPr>
              <a:t/>
            </a:r>
            <a:br>
              <a:rPr lang="en-US" altLang="zh-CN" sz="1000" b="0">
                <a:solidFill>
                  <a:schemeClr val="tx1"/>
                </a:solidFill>
                <a:latin typeface="Times New Roman" pitchFamily="18" charset="0"/>
                <a:cs typeface="Times New Roman" pitchFamily="18" charset="0"/>
              </a:rPr>
            </a:br>
            <a:endParaRPr lang="en-US" altLang="zh-CN" b="0">
              <a:solidFill>
                <a:schemeClr val="tx1"/>
              </a:solidFill>
              <a:cs typeface="Times New Roman" pitchFamily="18" charset="0"/>
            </a:endParaRPr>
          </a:p>
        </p:txBody>
      </p:sp>
      <p:sp>
        <p:nvSpPr>
          <p:cNvPr id="6" name="矩形 5"/>
          <p:cNvSpPr/>
          <p:nvPr/>
        </p:nvSpPr>
        <p:spPr>
          <a:xfrm>
            <a:off x="107504" y="203156"/>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3"/>
          <p:cNvSpPr>
            <a:spLocks noGrp="1"/>
          </p:cNvSpPr>
          <p:nvPr>
            <p:ph type="sldNum" sz="quarter" idx="12"/>
          </p:nvPr>
        </p:nvSpPr>
        <p:spPr>
          <a:noFill/>
        </p:spPr>
        <p:txBody>
          <a:bodyPr/>
          <a:lstStyle/>
          <a:p>
            <a:fld id="{A4FDFE57-36A5-45F3-A006-99BCA3AEB417}" type="slidenum">
              <a:rPr lang="en-US" altLang="zh-CN" smtClean="0"/>
              <a:pPr/>
              <a:t>105</a:t>
            </a:fld>
            <a:endParaRPr lang="en-US" altLang="zh-CN" smtClean="0"/>
          </a:p>
        </p:txBody>
      </p:sp>
      <p:sp>
        <p:nvSpPr>
          <p:cNvPr id="110595" name="Line 2"/>
          <p:cNvSpPr>
            <a:spLocks noChangeShapeType="1"/>
          </p:cNvSpPr>
          <p:nvPr/>
        </p:nvSpPr>
        <p:spPr bwMode="auto">
          <a:xfrm>
            <a:off x="-431800" y="3284538"/>
            <a:ext cx="0" cy="296862"/>
          </a:xfrm>
          <a:prstGeom prst="line">
            <a:avLst/>
          </a:prstGeom>
          <a:noFill/>
          <a:ln w="9525">
            <a:solidFill>
              <a:srgbClr val="000000"/>
            </a:solidFill>
            <a:round/>
            <a:headEnd/>
            <a:tailEnd/>
          </a:ln>
        </p:spPr>
        <p:txBody>
          <a:bodyPr/>
          <a:lstStyle/>
          <a:p>
            <a:endParaRPr lang="zh-CN" altLang="en-US"/>
          </a:p>
        </p:txBody>
      </p:sp>
      <p:sp>
        <p:nvSpPr>
          <p:cNvPr id="110596" name="Rectangle 3"/>
          <p:cNvSpPr>
            <a:spLocks noChangeArrowheads="1"/>
          </p:cNvSpPr>
          <p:nvPr/>
        </p:nvSpPr>
        <p:spPr bwMode="auto">
          <a:xfrm>
            <a:off x="395288" y="3973513"/>
            <a:ext cx="8462962" cy="1552575"/>
          </a:xfrm>
          <a:prstGeom prst="rect">
            <a:avLst/>
          </a:prstGeom>
          <a:solidFill>
            <a:srgbClr val="CCFFFF"/>
          </a:solidFill>
          <a:ln w="9525" algn="ctr">
            <a:noFill/>
            <a:miter lim="800000"/>
            <a:headEnd/>
            <a:tailEnd/>
          </a:ln>
        </p:spPr>
        <p:txBody>
          <a:bodyPr anchor="ctr">
            <a:spAutoFit/>
          </a:bodyPr>
          <a:lstStyle/>
          <a:p>
            <a:pPr eaLnBrk="0" hangingPunct="0"/>
            <a:r>
              <a:rPr lang="zh-CN" altLang="en-US" sz="2400" b="0" dirty="0">
                <a:solidFill>
                  <a:schemeClr val="tx1"/>
                </a:solidFill>
                <a:latin typeface="宋体" pitchFamily="2" charset="-122"/>
                <a:cs typeface="Times New Roman" pitchFamily="18" charset="0"/>
              </a:rPr>
              <a:t>解：（</a:t>
            </a:r>
            <a:r>
              <a:rPr lang="en-US" altLang="zh-CN" sz="2400" b="0" dirty="0">
                <a:solidFill>
                  <a:schemeClr val="tx1"/>
                </a:solidFill>
                <a:latin typeface="宋体" pitchFamily="2" charset="-122"/>
                <a:cs typeface="Times New Roman" pitchFamily="18" charset="0"/>
              </a:rPr>
              <a:t>1</a:t>
            </a:r>
            <a:r>
              <a:rPr lang="zh-CN" altLang="en-US" sz="2400" b="0" dirty="0">
                <a:solidFill>
                  <a:schemeClr val="tx1"/>
                </a:solidFill>
                <a:latin typeface="宋体" pitchFamily="2" charset="-122"/>
                <a:cs typeface="Times New Roman" pitchFamily="18" charset="0"/>
              </a:rPr>
              <a:t>）已知微地址寄存器长度为</a:t>
            </a:r>
            <a:r>
              <a:rPr lang="en-US" altLang="zh-CN" sz="2400" b="0" dirty="0">
                <a:solidFill>
                  <a:schemeClr val="tx1"/>
                </a:solidFill>
                <a:latin typeface="宋体" pitchFamily="2" charset="-122"/>
                <a:cs typeface="Times New Roman" pitchFamily="18" charset="0"/>
              </a:rPr>
              <a:t>8</a:t>
            </a:r>
            <a:r>
              <a:rPr lang="zh-CN" altLang="en-US" sz="2400" b="0" dirty="0">
                <a:solidFill>
                  <a:schemeClr val="tx1"/>
                </a:solidFill>
                <a:latin typeface="宋体" pitchFamily="2" charset="-122"/>
                <a:cs typeface="Times New Roman" pitchFamily="18" charset="0"/>
              </a:rPr>
              <a:t>位，故控存容量为</a:t>
            </a:r>
            <a:r>
              <a:rPr lang="en-US" altLang="zh-CN" sz="2400" b="0" dirty="0">
                <a:solidFill>
                  <a:schemeClr val="tx1"/>
                </a:solidFill>
                <a:latin typeface="宋体" pitchFamily="2" charset="-122"/>
                <a:cs typeface="Times New Roman" pitchFamily="18" charset="0"/>
              </a:rPr>
              <a:t>256</a:t>
            </a:r>
            <a:r>
              <a:rPr lang="zh-CN" altLang="en-US" sz="2400" b="0" dirty="0">
                <a:solidFill>
                  <a:schemeClr val="tx1"/>
                </a:solidFill>
                <a:latin typeface="宋体" pitchFamily="2" charset="-122"/>
                <a:cs typeface="Times New Roman" pitchFamily="18" charset="0"/>
              </a:rPr>
              <a:t>单元。所给条件中微程序有两处分支转移。如不考虑其它分支转移，则需要判别测试位</a:t>
            </a:r>
            <a:r>
              <a:rPr lang="en-US" altLang="zh-CN" sz="2400" b="0" dirty="0">
                <a:solidFill>
                  <a:schemeClr val="tx1"/>
                </a:solidFill>
                <a:latin typeface="宋体" pitchFamily="2" charset="-122"/>
                <a:cs typeface="Times New Roman" pitchFamily="18" charset="0"/>
              </a:rPr>
              <a:t>P</a:t>
            </a:r>
            <a:r>
              <a:rPr lang="en-US" altLang="zh-CN" sz="2400" b="0" baseline="-30000" dirty="0">
                <a:solidFill>
                  <a:schemeClr val="tx1"/>
                </a:solidFill>
                <a:latin typeface="宋体" pitchFamily="2" charset="-122"/>
                <a:cs typeface="Times New Roman" pitchFamily="18" charset="0"/>
              </a:rPr>
              <a:t>1</a:t>
            </a:r>
            <a:r>
              <a:rPr lang="zh-CN" altLang="en-US" sz="2400" b="0" dirty="0">
                <a:solidFill>
                  <a:schemeClr val="tx1"/>
                </a:solidFill>
                <a:latin typeface="宋体" pitchFamily="2" charset="-122"/>
                <a:cs typeface="Times New Roman" pitchFamily="18" charset="0"/>
              </a:rPr>
              <a:t>，</a:t>
            </a:r>
            <a:r>
              <a:rPr lang="en-US" altLang="zh-CN" sz="2400" b="0" dirty="0">
                <a:solidFill>
                  <a:schemeClr val="tx1"/>
                </a:solidFill>
                <a:latin typeface="宋体" pitchFamily="2" charset="-122"/>
                <a:cs typeface="Times New Roman" pitchFamily="18" charset="0"/>
              </a:rPr>
              <a:t>P</a:t>
            </a:r>
            <a:r>
              <a:rPr lang="en-US" altLang="zh-CN" sz="2400" b="0" baseline="-30000" dirty="0">
                <a:solidFill>
                  <a:schemeClr val="tx1"/>
                </a:solidFill>
                <a:latin typeface="宋体" pitchFamily="2" charset="-122"/>
                <a:cs typeface="Times New Roman" pitchFamily="18" charset="0"/>
              </a:rPr>
              <a:t>2</a:t>
            </a:r>
            <a:r>
              <a:rPr lang="zh-CN" altLang="en-US" sz="2400" b="0" dirty="0">
                <a:solidFill>
                  <a:schemeClr val="tx1"/>
                </a:solidFill>
                <a:latin typeface="宋体" pitchFamily="2" charset="-122"/>
                <a:cs typeface="Times New Roman" pitchFamily="18" charset="0"/>
              </a:rPr>
              <a:t>，故顺序控制字段共</a:t>
            </a:r>
            <a:r>
              <a:rPr lang="en-US" altLang="zh-CN" sz="2400" b="0" dirty="0">
                <a:solidFill>
                  <a:schemeClr val="tx1"/>
                </a:solidFill>
                <a:latin typeface="宋体" pitchFamily="2" charset="-122"/>
                <a:cs typeface="Times New Roman" pitchFamily="18" charset="0"/>
              </a:rPr>
              <a:t>10</a:t>
            </a:r>
            <a:r>
              <a:rPr lang="zh-CN" altLang="en-US" sz="2400" b="0" dirty="0">
                <a:solidFill>
                  <a:schemeClr val="tx1"/>
                </a:solidFill>
                <a:latin typeface="宋体" pitchFamily="2" charset="-122"/>
                <a:cs typeface="Times New Roman" pitchFamily="18" charset="0"/>
              </a:rPr>
              <a:t>位，其格式如下</a:t>
            </a:r>
            <a:r>
              <a:rPr lang="en-US" altLang="zh-CN" sz="2400" b="0" dirty="0">
                <a:solidFill>
                  <a:schemeClr val="tx1"/>
                </a:solidFill>
                <a:latin typeface="宋体" pitchFamily="2" charset="-122"/>
                <a:cs typeface="Times New Roman" pitchFamily="18" charset="0"/>
              </a:rPr>
              <a:t>, </a:t>
            </a:r>
            <a:r>
              <a:rPr lang="en-US" altLang="zh-CN" sz="2400" b="0" dirty="0" err="1">
                <a:solidFill>
                  <a:schemeClr val="tx1"/>
                </a:solidFill>
                <a:latin typeface="宋体" pitchFamily="2" charset="-122"/>
                <a:cs typeface="Times New Roman" pitchFamily="18" charset="0"/>
              </a:rPr>
              <a:t>μA</a:t>
            </a:r>
            <a:r>
              <a:rPr lang="en-US" altLang="zh-CN" sz="2400" b="0" baseline="-30000" dirty="0" err="1">
                <a:solidFill>
                  <a:schemeClr val="tx1"/>
                </a:solidFill>
                <a:latin typeface="宋体" pitchFamily="2" charset="-122"/>
                <a:cs typeface="Times New Roman" pitchFamily="18" charset="0"/>
              </a:rPr>
              <a:t>i</a:t>
            </a:r>
            <a:r>
              <a:rPr lang="zh-CN" altLang="en-US" sz="2400" b="0" dirty="0">
                <a:solidFill>
                  <a:schemeClr val="tx1"/>
                </a:solidFill>
                <a:latin typeface="宋体" pitchFamily="2" charset="-122"/>
                <a:cs typeface="Times New Roman" pitchFamily="18" charset="0"/>
              </a:rPr>
              <a:t>表示微地址寄存器的某一位。</a:t>
            </a:r>
          </a:p>
        </p:txBody>
      </p:sp>
      <p:sp>
        <p:nvSpPr>
          <p:cNvPr id="110597" name="Rectangle 4"/>
          <p:cNvSpPr>
            <a:spLocks noChangeArrowheads="1"/>
          </p:cNvSpPr>
          <p:nvPr/>
        </p:nvSpPr>
        <p:spPr bwMode="auto">
          <a:xfrm>
            <a:off x="-1917700" y="3284538"/>
            <a:ext cx="501650" cy="962025"/>
          </a:xfrm>
          <a:prstGeom prst="rect">
            <a:avLst/>
          </a:prstGeom>
          <a:noFill/>
          <a:ln w="9525" algn="ctr">
            <a:noFill/>
            <a:miter lim="800000"/>
            <a:headEnd/>
            <a:tailEnd/>
          </a:ln>
        </p:spPr>
        <p:txBody>
          <a:bodyPr wrap="none" anchor="ctr">
            <a:spAutoFit/>
          </a:bodyPr>
          <a:lstStyle/>
          <a:p>
            <a:pPr eaLnBrk="0" hangingPunct="0"/>
            <a:r>
              <a:rPr lang="en-US" altLang="zh-CN" sz="1100" b="0">
                <a:solidFill>
                  <a:schemeClr val="tx1"/>
                </a:solidFill>
              </a:rPr>
              <a:t/>
            </a:r>
            <a:br>
              <a:rPr lang="en-US" altLang="zh-CN" sz="1100" b="0">
                <a:solidFill>
                  <a:schemeClr val="tx1"/>
                </a:solidFill>
              </a:rPr>
            </a:br>
            <a:endParaRPr lang="en-US" altLang="zh-CN" b="0">
              <a:solidFill>
                <a:schemeClr val="tx1"/>
              </a:solidFill>
            </a:endParaRPr>
          </a:p>
          <a:p>
            <a:pPr eaLnBrk="0" hangingPunct="0"/>
            <a:r>
              <a:rPr lang="zh-CN" altLang="en-US" sz="1000" b="0">
                <a:solidFill>
                  <a:schemeClr val="tx1"/>
                </a:solidFill>
                <a:latin typeface="宋体" pitchFamily="2" charset="-122"/>
                <a:cs typeface="Times New Roman" pitchFamily="18" charset="0"/>
              </a:rPr>
              <a:t>（</a:t>
            </a:r>
            <a:r>
              <a:rPr lang="en-US" altLang="zh-CN" sz="1000" b="0">
                <a:solidFill>
                  <a:schemeClr val="tx1"/>
                </a:solidFill>
                <a:latin typeface="宋体" pitchFamily="2" charset="-122"/>
                <a:cs typeface="Times New Roman" pitchFamily="18" charset="0"/>
              </a:rPr>
              <a:t>2</a:t>
            </a:r>
            <a:r>
              <a:rPr lang="zh-CN" altLang="en-US" sz="1000" b="0">
                <a:solidFill>
                  <a:schemeClr val="tx1"/>
                </a:solidFill>
                <a:latin typeface="宋体" pitchFamily="2" charset="-122"/>
                <a:cs typeface="Times New Roman" pitchFamily="18" charset="0"/>
              </a:rPr>
              <a:t>）</a:t>
            </a:r>
            <a:endParaRPr lang="zh-CN" altLang="en-US" sz="1100" b="0">
              <a:solidFill>
                <a:schemeClr val="tx1"/>
              </a:solidFill>
            </a:endParaRPr>
          </a:p>
          <a:p>
            <a:pPr eaLnBrk="0" hangingPunct="0"/>
            <a:endParaRPr lang="en-US" altLang="zh-CN" b="0">
              <a:solidFill>
                <a:schemeClr val="tx1"/>
              </a:solidFill>
            </a:endParaRPr>
          </a:p>
        </p:txBody>
      </p:sp>
      <p:pic>
        <p:nvPicPr>
          <p:cNvPr id="110598" name="Picture 6" descr="库图6"/>
          <p:cNvPicPr>
            <a:picLocks noChangeAspect="1" noChangeArrowheads="1"/>
          </p:cNvPicPr>
          <p:nvPr/>
        </p:nvPicPr>
        <p:blipFill>
          <a:blip r:embed="rId3"/>
          <a:srcRect/>
          <a:stretch>
            <a:fillRect/>
          </a:stretch>
        </p:blipFill>
        <p:spPr bwMode="auto">
          <a:xfrm>
            <a:off x="395288" y="260350"/>
            <a:ext cx="7272337" cy="3521075"/>
          </a:xfrm>
          <a:prstGeom prst="rect">
            <a:avLst/>
          </a:prstGeom>
          <a:noFill/>
          <a:ln w="9525">
            <a:noFill/>
            <a:miter lim="800000"/>
            <a:headEnd/>
            <a:tailEnd/>
          </a:ln>
        </p:spPr>
      </p:pic>
      <p:graphicFrame>
        <p:nvGraphicFramePr>
          <p:cNvPr id="110599" name="Object 7"/>
          <p:cNvGraphicFramePr>
            <a:graphicFrameLocks noChangeAspect="1"/>
          </p:cNvGraphicFramePr>
          <p:nvPr/>
        </p:nvGraphicFramePr>
        <p:xfrm>
          <a:off x="457200" y="5638800"/>
          <a:ext cx="7696200" cy="746125"/>
        </p:xfrm>
        <a:graphic>
          <a:graphicData uri="http://schemas.openxmlformats.org/presentationml/2006/ole">
            <mc:AlternateContent xmlns:mc="http://schemas.openxmlformats.org/markup-compatibility/2006">
              <mc:Choice xmlns:v="urn:schemas-microsoft-com:vml" Requires="v">
                <p:oleObj spid="_x0000_s110794" name="位图图像" r:id="rId4" imgW="6230220" imgH="609524" progId="PBrush">
                  <p:embed/>
                </p:oleObj>
              </mc:Choice>
              <mc:Fallback>
                <p:oleObj name="位图图像" r:id="rId4" imgW="6230220" imgH="609524" progId="PBrush">
                  <p:embed/>
                  <p:pic>
                    <p:nvPicPr>
                      <p:cNvPr id="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5638800"/>
                        <a:ext cx="7696200" cy="7461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椭圆 7"/>
          <p:cNvSpPr/>
          <p:nvPr/>
        </p:nvSpPr>
        <p:spPr bwMode="auto">
          <a:xfrm>
            <a:off x="4162331" y="803325"/>
            <a:ext cx="743138" cy="725353"/>
          </a:xfrm>
          <a:prstGeom prst="ellipse">
            <a:avLst/>
          </a:prstGeom>
          <a:solidFill>
            <a:srgbClr val="FF3300">
              <a:alpha val="0"/>
            </a:srgbClr>
          </a:solidFill>
          <a:ln w="76200" cap="sq" cmpd="sng" algn="ctr">
            <a:solidFill>
              <a:srgbClr val="FF0000"/>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2" name="矩形 1"/>
          <p:cNvSpPr/>
          <p:nvPr/>
        </p:nvSpPr>
        <p:spPr>
          <a:xfrm>
            <a:off x="4250008" y="1497667"/>
            <a:ext cx="567784" cy="523220"/>
          </a:xfrm>
          <a:prstGeom prst="rect">
            <a:avLst/>
          </a:prstGeom>
        </p:spPr>
        <p:txBody>
          <a:bodyPr wrap="none">
            <a:spAutoFit/>
          </a:bodyPr>
          <a:lstStyle/>
          <a:p>
            <a:r>
              <a:rPr lang="en-US" altLang="zh-CN" sz="2800" dirty="0">
                <a:solidFill>
                  <a:srgbClr val="FF0000"/>
                </a:solidFill>
                <a:latin typeface="微软雅黑" panose="020B0503020204020204" pitchFamily="34" charset="-122"/>
                <a:ea typeface="微软雅黑" panose="020B0503020204020204" pitchFamily="34" charset="-122"/>
                <a:cs typeface="Times New Roman" pitchFamily="18" charset="0"/>
              </a:rPr>
              <a:t>P</a:t>
            </a:r>
            <a:r>
              <a:rPr lang="en-US" altLang="zh-CN" sz="2800" baseline="-30000" dirty="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10" name="椭圆 9"/>
          <p:cNvSpPr/>
          <p:nvPr/>
        </p:nvSpPr>
        <p:spPr bwMode="auto">
          <a:xfrm>
            <a:off x="2199117" y="1277581"/>
            <a:ext cx="743138" cy="725354"/>
          </a:xfrm>
          <a:prstGeom prst="ellipse">
            <a:avLst/>
          </a:prstGeom>
          <a:solidFill>
            <a:srgbClr val="FF3300">
              <a:alpha val="0"/>
            </a:srgbClr>
          </a:solidFill>
          <a:ln w="76200" cap="sq" cmpd="sng" algn="ctr">
            <a:solidFill>
              <a:srgbClr val="FF0000"/>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1" name="矩形 10"/>
          <p:cNvSpPr/>
          <p:nvPr/>
        </p:nvSpPr>
        <p:spPr>
          <a:xfrm>
            <a:off x="3031257" y="1556792"/>
            <a:ext cx="567784" cy="523220"/>
          </a:xfrm>
          <a:prstGeom prst="rect">
            <a:avLst/>
          </a:prstGeom>
        </p:spPr>
        <p:txBody>
          <a:bodyPr wrap="none">
            <a:spAutoFit/>
          </a:bodyPr>
          <a:lstStyle/>
          <a:p>
            <a:r>
              <a:rPr lang="en-US" altLang="zh-CN" sz="2800" dirty="0" smtClean="0">
                <a:solidFill>
                  <a:srgbClr val="FF0000"/>
                </a:solidFill>
                <a:latin typeface="微软雅黑" panose="020B0503020204020204" pitchFamily="34" charset="-122"/>
                <a:ea typeface="微软雅黑" panose="020B0503020204020204" pitchFamily="34" charset="-122"/>
                <a:cs typeface="Times New Roman" pitchFamily="18" charset="0"/>
              </a:rPr>
              <a:t>P</a:t>
            </a:r>
            <a:r>
              <a:rPr lang="en-US" altLang="zh-CN" sz="2800" baseline="-30000" dirty="0" smtClean="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10" grpId="0" animBg="1"/>
      <p:bldP spid="11"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12"/>
          </p:nvPr>
        </p:nvSpPr>
        <p:spPr>
          <a:noFill/>
        </p:spPr>
        <p:txBody>
          <a:bodyPr/>
          <a:lstStyle/>
          <a:p>
            <a:fld id="{0FDA69C2-AA0A-4AE9-A204-E7668ECF1AE7}" type="slidenum">
              <a:rPr lang="en-US" altLang="zh-CN" smtClean="0"/>
              <a:pPr/>
              <a:t>106</a:t>
            </a:fld>
            <a:endParaRPr lang="en-US" altLang="zh-CN" smtClean="0"/>
          </a:p>
        </p:txBody>
      </p:sp>
      <p:pic>
        <p:nvPicPr>
          <p:cNvPr id="111619" name="Picture 2" descr="库图6"/>
          <p:cNvPicPr>
            <a:picLocks noChangeAspect="1" noChangeArrowheads="1"/>
          </p:cNvPicPr>
          <p:nvPr/>
        </p:nvPicPr>
        <p:blipFill>
          <a:blip r:embed="rId3"/>
          <a:srcRect/>
          <a:stretch>
            <a:fillRect/>
          </a:stretch>
        </p:blipFill>
        <p:spPr bwMode="auto">
          <a:xfrm>
            <a:off x="381000" y="228601"/>
            <a:ext cx="7200900" cy="2696344"/>
          </a:xfrm>
          <a:prstGeom prst="rect">
            <a:avLst/>
          </a:prstGeom>
          <a:noFill/>
          <a:ln w="9525">
            <a:noFill/>
            <a:miter lim="800000"/>
            <a:headEnd/>
            <a:tailEnd/>
          </a:ln>
        </p:spPr>
      </p:pic>
      <p:sp>
        <p:nvSpPr>
          <p:cNvPr id="111620" name="Rectangle 3"/>
          <p:cNvSpPr>
            <a:spLocks noChangeArrowheads="1"/>
          </p:cNvSpPr>
          <p:nvPr/>
        </p:nvSpPr>
        <p:spPr bwMode="auto">
          <a:xfrm>
            <a:off x="304800" y="2934171"/>
            <a:ext cx="8424863" cy="3159125"/>
          </a:xfrm>
          <a:prstGeom prst="rect">
            <a:avLst/>
          </a:prstGeom>
          <a:solidFill>
            <a:srgbClr val="CCFFFF"/>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）当</a:t>
            </a:r>
            <a:r>
              <a:rPr lang="en-US" altLang="zh-CN" sz="2400" b="0" dirty="0">
                <a:solidFill>
                  <a:schemeClr val="tx1"/>
                </a:solidFill>
                <a:latin typeface="宋体" pitchFamily="2" charset="-122"/>
              </a:rPr>
              <a:t>P1=0,P2=0</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由</a:t>
            </a:r>
            <a:r>
              <a:rPr lang="en-US" altLang="zh-CN" sz="2400" b="0" dirty="0">
                <a:solidFill>
                  <a:schemeClr val="tx1"/>
                </a:solidFill>
                <a:latin typeface="宋体" pitchFamily="2" charset="-122"/>
              </a:rPr>
              <a:t>μA1-μA8</a:t>
            </a:r>
            <a:r>
              <a:rPr lang="zh-CN" altLang="en-US" sz="2400" b="0" dirty="0">
                <a:solidFill>
                  <a:schemeClr val="tx1"/>
                </a:solidFill>
                <a:latin typeface="宋体" pitchFamily="2" charset="-122"/>
              </a:rPr>
              <a:t>的内容作为下一条微指令的地址。</a:t>
            </a:r>
          </a:p>
          <a:p>
            <a:pPr>
              <a:spcBef>
                <a:spcPts val="0"/>
              </a:spcBef>
              <a:buClr>
                <a:schemeClr val="bg1"/>
              </a:buClr>
              <a:buSzPct val="70000"/>
              <a:buFont typeface="Wingdings" pitchFamily="2" charset="2"/>
              <a:buNone/>
            </a:pPr>
            <a:r>
              <a:rPr lang="zh-CN" altLang="en-US" sz="2400" b="0" dirty="0">
                <a:solidFill>
                  <a:schemeClr val="tx1"/>
                </a:solidFill>
                <a:latin typeface="宋体" pitchFamily="2" charset="-122"/>
              </a:rPr>
              <a:t>    当</a:t>
            </a:r>
            <a:r>
              <a:rPr lang="en-US" altLang="zh-CN" sz="2400" b="0" dirty="0">
                <a:solidFill>
                  <a:schemeClr val="tx1"/>
                </a:solidFill>
                <a:latin typeface="宋体" pitchFamily="2" charset="-122"/>
              </a:rPr>
              <a:t>P1=1,P2=0</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,a</a:t>
            </a:r>
            <a:r>
              <a:rPr lang="zh-CN" altLang="en-US" sz="2400" b="0" dirty="0">
                <a:solidFill>
                  <a:schemeClr val="tx1"/>
                </a:solidFill>
                <a:latin typeface="宋体" pitchFamily="2" charset="-122"/>
              </a:rPr>
              <a:t>点</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测试</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由</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5</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6</a:t>
            </a:r>
            <a:r>
              <a:rPr lang="zh-CN" altLang="en-US" sz="2400" b="0" dirty="0">
                <a:solidFill>
                  <a:schemeClr val="tx1"/>
                </a:solidFill>
                <a:latin typeface="宋体" pitchFamily="2" charset="-122"/>
              </a:rPr>
              <a:t>修改</a:t>
            </a:r>
            <a:r>
              <a:rPr lang="en-US" altLang="zh-CN" sz="2400" b="0" dirty="0" err="1">
                <a:solidFill>
                  <a:schemeClr val="tx1"/>
                </a:solidFill>
                <a:latin typeface="宋体" pitchFamily="2" charset="-122"/>
              </a:rPr>
              <a:t>μA</a:t>
            </a:r>
            <a:r>
              <a:rPr lang="zh-CN" altLang="en-US" sz="2400" b="0" dirty="0">
                <a:solidFill>
                  <a:schemeClr val="tx1"/>
                </a:solidFill>
                <a:latin typeface="宋体" pitchFamily="2" charset="-122"/>
              </a:rPr>
              <a:t>的内容，设</a:t>
            </a:r>
            <a:r>
              <a:rPr lang="en-US" altLang="zh-CN" sz="2400" b="0" dirty="0">
                <a:solidFill>
                  <a:schemeClr val="tx1"/>
                </a:solidFill>
                <a:latin typeface="宋体" pitchFamily="2" charset="-122"/>
              </a:rPr>
              <a:t>B</a:t>
            </a:r>
            <a:r>
              <a:rPr lang="zh-CN" altLang="en-US" sz="2400" b="0" dirty="0">
                <a:solidFill>
                  <a:schemeClr val="tx1"/>
                </a:solidFill>
                <a:latin typeface="宋体" pitchFamily="2" charset="-122"/>
              </a:rPr>
              <a:t>规定的下地址字段为</a:t>
            </a:r>
            <a:r>
              <a:rPr lang="en-US" altLang="zh-CN" sz="2400" b="0" dirty="0">
                <a:solidFill>
                  <a:schemeClr val="tx1"/>
                </a:solidFill>
                <a:latin typeface="宋体" pitchFamily="2" charset="-122"/>
              </a:rPr>
              <a:t>10000000,</a:t>
            </a:r>
            <a:r>
              <a:rPr lang="en-US" altLang="zh-CN" sz="2400" dirty="0">
                <a:solidFill>
                  <a:srgbClr val="FF0000"/>
                </a:solidFill>
                <a:latin typeface="宋体" pitchFamily="2" charset="-122"/>
              </a:rPr>
              <a:t>IR</a:t>
            </a:r>
            <a:r>
              <a:rPr lang="en-US" altLang="zh-CN" sz="2400" baseline="-25000" dirty="0">
                <a:solidFill>
                  <a:srgbClr val="FF0000"/>
                </a:solidFill>
                <a:latin typeface="宋体" pitchFamily="2" charset="-122"/>
              </a:rPr>
              <a:t>5</a:t>
            </a:r>
            <a:r>
              <a:rPr lang="en-US" altLang="zh-CN" sz="2400" dirty="0">
                <a:solidFill>
                  <a:srgbClr val="FF0000"/>
                </a:solidFill>
                <a:latin typeface="宋体" pitchFamily="2" charset="-122"/>
              </a:rPr>
              <a:t>,IR</a:t>
            </a:r>
            <a:r>
              <a:rPr lang="en-US" altLang="zh-CN" sz="2400" baseline="-25000" dirty="0">
                <a:solidFill>
                  <a:srgbClr val="FF0000"/>
                </a:solidFill>
                <a:latin typeface="宋体" pitchFamily="2" charset="-122"/>
              </a:rPr>
              <a:t>6</a:t>
            </a:r>
            <a:r>
              <a:rPr lang="zh-CN" altLang="en-US" sz="2400" b="0" dirty="0">
                <a:solidFill>
                  <a:schemeClr val="tx1"/>
                </a:solidFill>
                <a:latin typeface="宋体" pitchFamily="2" charset="-122"/>
              </a:rPr>
              <a:t>修改</a:t>
            </a:r>
            <a:r>
              <a:rPr lang="en-US" altLang="zh-CN" sz="2400" dirty="0">
                <a:solidFill>
                  <a:srgbClr val="FF0000"/>
                </a:solidFill>
                <a:latin typeface="宋体" pitchFamily="2" charset="-122"/>
              </a:rPr>
              <a:t>μA7,μA8</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于是</a:t>
            </a:r>
            <a:r>
              <a:rPr lang="en-US" altLang="zh-CN" sz="2400" b="0" dirty="0">
                <a:solidFill>
                  <a:schemeClr val="tx1"/>
                </a:solidFill>
                <a:latin typeface="宋体" pitchFamily="2" charset="-122"/>
              </a:rPr>
              <a:t>a</a:t>
            </a:r>
            <a:r>
              <a:rPr lang="zh-CN" altLang="en-US" sz="2400" b="0" dirty="0">
                <a:solidFill>
                  <a:schemeClr val="tx1"/>
                </a:solidFill>
                <a:latin typeface="宋体" pitchFamily="2" charset="-122"/>
              </a:rPr>
              <a:t>处得到</a:t>
            </a:r>
            <a:r>
              <a:rPr lang="en-US" altLang="zh-CN" sz="2400" b="0" dirty="0">
                <a:solidFill>
                  <a:schemeClr val="tx1"/>
                </a:solidFill>
                <a:latin typeface="宋体" pitchFamily="2" charset="-122"/>
              </a:rPr>
              <a:t>4</a:t>
            </a:r>
            <a:r>
              <a:rPr lang="zh-CN" altLang="en-US" sz="2400" b="0" dirty="0">
                <a:solidFill>
                  <a:schemeClr val="tx1"/>
                </a:solidFill>
                <a:latin typeface="宋体" pitchFamily="2" charset="-122"/>
              </a:rPr>
              <a:t>个转移地址。</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当</a:t>
            </a:r>
            <a:r>
              <a:rPr lang="en-US" altLang="zh-CN" sz="2400" b="0" dirty="0">
                <a:solidFill>
                  <a:schemeClr val="tx1"/>
                </a:solidFill>
                <a:latin typeface="宋体" pitchFamily="2" charset="-122"/>
              </a:rPr>
              <a:t>P1=0,P2=1</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,b</a:t>
            </a:r>
            <a:r>
              <a:rPr lang="zh-CN" altLang="en-US" sz="2400" b="0" dirty="0">
                <a:solidFill>
                  <a:schemeClr val="tx1"/>
                </a:solidFill>
                <a:latin typeface="宋体" pitchFamily="2" charset="-122"/>
              </a:rPr>
              <a:t>点</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测试</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由</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C</a:t>
            </a:r>
            <a:r>
              <a:rPr lang="en-US" altLang="zh-CN" sz="2400" b="0" baseline="-30000" dirty="0">
                <a:solidFill>
                  <a:schemeClr val="tx1"/>
                </a:solidFill>
                <a:latin typeface="宋体" pitchFamily="2" charset="-122"/>
              </a:rPr>
              <a:t>0</a:t>
            </a:r>
            <a:r>
              <a:rPr lang="zh-CN" altLang="en-US" sz="2400" b="0" dirty="0">
                <a:solidFill>
                  <a:schemeClr val="tx1"/>
                </a:solidFill>
                <a:latin typeface="宋体" pitchFamily="2" charset="-122"/>
              </a:rPr>
              <a:t>修改</a:t>
            </a:r>
            <a:r>
              <a:rPr lang="en-US" altLang="zh-CN" sz="2400" b="0" dirty="0" err="1">
                <a:solidFill>
                  <a:schemeClr val="tx1"/>
                </a:solidFill>
                <a:latin typeface="宋体" pitchFamily="2" charset="-122"/>
              </a:rPr>
              <a:t>μA</a:t>
            </a:r>
            <a:r>
              <a:rPr lang="zh-CN" altLang="en-US" sz="2400" b="0" dirty="0">
                <a:solidFill>
                  <a:schemeClr val="tx1"/>
                </a:solidFill>
                <a:latin typeface="宋体" pitchFamily="2" charset="-122"/>
              </a:rPr>
              <a:t>的内容</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设</a:t>
            </a:r>
            <a:r>
              <a:rPr lang="en-US" altLang="zh-CN" sz="2400" b="0" dirty="0">
                <a:solidFill>
                  <a:schemeClr val="tx1"/>
                </a:solidFill>
                <a:latin typeface="宋体" pitchFamily="2" charset="-122"/>
              </a:rPr>
              <a:t>C</a:t>
            </a:r>
            <a:r>
              <a:rPr lang="zh-CN" altLang="en-US" sz="2400" b="0" dirty="0">
                <a:solidFill>
                  <a:schemeClr val="tx1"/>
                </a:solidFill>
                <a:latin typeface="宋体" pitchFamily="2" charset="-122"/>
              </a:rPr>
              <a:t>规定的下地址字段为</a:t>
            </a:r>
            <a:r>
              <a:rPr lang="en-US" altLang="zh-CN" sz="2400" b="0" dirty="0">
                <a:solidFill>
                  <a:schemeClr val="tx1"/>
                </a:solidFill>
                <a:latin typeface="宋体" pitchFamily="2" charset="-122"/>
              </a:rPr>
              <a:t>11000000,</a:t>
            </a:r>
            <a:r>
              <a:rPr lang="en-US" altLang="zh-CN" sz="2400" dirty="0">
                <a:solidFill>
                  <a:srgbClr val="FF0000"/>
                </a:solidFill>
                <a:latin typeface="宋体" pitchFamily="2" charset="-122"/>
              </a:rPr>
              <a:t>C</a:t>
            </a:r>
            <a:r>
              <a:rPr lang="en-US" altLang="zh-CN" sz="2400" baseline="-30000" dirty="0">
                <a:solidFill>
                  <a:srgbClr val="FF0000"/>
                </a:solidFill>
                <a:latin typeface="宋体" pitchFamily="2" charset="-122"/>
              </a:rPr>
              <a:t>0</a:t>
            </a:r>
            <a:r>
              <a:rPr lang="zh-CN" altLang="en-US" sz="2400" b="0" dirty="0">
                <a:solidFill>
                  <a:schemeClr val="tx1"/>
                </a:solidFill>
                <a:latin typeface="宋体" pitchFamily="2" charset="-122"/>
              </a:rPr>
              <a:t>修改</a:t>
            </a:r>
            <a:r>
              <a:rPr lang="en-US" altLang="zh-CN" sz="2400" dirty="0">
                <a:solidFill>
                  <a:srgbClr val="FF0000"/>
                </a:solidFill>
                <a:latin typeface="宋体" pitchFamily="2" charset="-122"/>
              </a:rPr>
              <a:t>μA6</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于是</a:t>
            </a:r>
            <a:r>
              <a:rPr lang="en-US" altLang="zh-CN" sz="2400" b="0" dirty="0">
                <a:solidFill>
                  <a:schemeClr val="tx1"/>
                </a:solidFill>
                <a:latin typeface="宋体" pitchFamily="2" charset="-122"/>
              </a:rPr>
              <a:t>b</a:t>
            </a:r>
            <a:r>
              <a:rPr lang="zh-CN" altLang="en-US" sz="2400" b="0" dirty="0">
                <a:solidFill>
                  <a:schemeClr val="tx1"/>
                </a:solidFill>
                <a:latin typeface="宋体" pitchFamily="2" charset="-122"/>
              </a:rPr>
              <a:t>处得到</a:t>
            </a:r>
            <a:r>
              <a:rPr lang="en-US" altLang="zh-CN" sz="2400" b="0" dirty="0">
                <a:solidFill>
                  <a:schemeClr val="tx1"/>
                </a:solidFill>
                <a:latin typeface="宋体" pitchFamily="2" charset="-122"/>
              </a:rPr>
              <a:t>2</a:t>
            </a:r>
            <a:r>
              <a:rPr lang="zh-CN" altLang="en-US" sz="2400" b="0" dirty="0">
                <a:solidFill>
                  <a:schemeClr val="tx1"/>
                </a:solidFill>
                <a:latin typeface="宋体" pitchFamily="2" charset="-122"/>
              </a:rPr>
              <a:t>个转移地址。</a:t>
            </a:r>
          </a:p>
        </p:txBody>
      </p:sp>
      <p:grpSp>
        <p:nvGrpSpPr>
          <p:cNvPr id="2" name="Group 8"/>
          <p:cNvGrpSpPr>
            <a:grpSpLocks/>
          </p:cNvGrpSpPr>
          <p:nvPr/>
        </p:nvGrpSpPr>
        <p:grpSpPr bwMode="auto">
          <a:xfrm>
            <a:off x="5105400" y="304800"/>
            <a:ext cx="1162050" cy="381000"/>
            <a:chOff x="3216" y="192"/>
            <a:chExt cx="732" cy="240"/>
          </a:xfrm>
        </p:grpSpPr>
        <p:sp>
          <p:nvSpPr>
            <p:cNvPr id="111627" name="Rectangle 6"/>
            <p:cNvSpPr>
              <a:spLocks noChangeArrowheads="1"/>
            </p:cNvSpPr>
            <p:nvPr/>
          </p:nvSpPr>
          <p:spPr bwMode="auto">
            <a:xfrm>
              <a:off x="3312" y="192"/>
              <a:ext cx="636" cy="212"/>
            </a:xfrm>
            <a:prstGeom prst="rect">
              <a:avLst/>
            </a:prstGeom>
            <a:noFill/>
            <a:ln w="9525">
              <a:noFill/>
              <a:miter lim="800000"/>
              <a:headEnd/>
              <a:tailEnd/>
            </a:ln>
          </p:spPr>
          <p:txBody>
            <a:bodyPr wrap="none">
              <a:spAutoFit/>
            </a:bodyPr>
            <a:lstStyle/>
            <a:p>
              <a:r>
                <a:rPr lang="en-US" altLang="zh-CN" sz="1600" dirty="0">
                  <a:latin typeface="宋体" pitchFamily="2" charset="-122"/>
                </a:rPr>
                <a:t>10000000</a:t>
              </a:r>
            </a:p>
          </p:txBody>
        </p:sp>
        <p:sp>
          <p:nvSpPr>
            <p:cNvPr id="111628" name="Line 7"/>
            <p:cNvSpPr>
              <a:spLocks noChangeShapeType="1"/>
            </p:cNvSpPr>
            <p:nvPr/>
          </p:nvSpPr>
          <p:spPr bwMode="auto">
            <a:xfrm flipH="1">
              <a:off x="3216" y="336"/>
              <a:ext cx="144" cy="96"/>
            </a:xfrm>
            <a:prstGeom prst="line">
              <a:avLst/>
            </a:prstGeom>
            <a:noFill/>
            <a:ln w="9525">
              <a:solidFill>
                <a:srgbClr val="FF3300"/>
              </a:solidFill>
              <a:round/>
              <a:headEnd/>
              <a:tailEnd type="triangle" w="med" len="med"/>
            </a:ln>
          </p:spPr>
          <p:txBody>
            <a:bodyPr/>
            <a:lstStyle/>
            <a:p>
              <a:endParaRPr lang="zh-CN" altLang="en-US"/>
            </a:p>
          </p:txBody>
        </p:sp>
      </p:grpSp>
      <p:grpSp>
        <p:nvGrpSpPr>
          <p:cNvPr id="3" name="Group 12"/>
          <p:cNvGrpSpPr>
            <a:grpSpLocks/>
          </p:cNvGrpSpPr>
          <p:nvPr/>
        </p:nvGrpSpPr>
        <p:grpSpPr bwMode="auto">
          <a:xfrm>
            <a:off x="152400" y="533400"/>
            <a:ext cx="1009650" cy="457200"/>
            <a:chOff x="96" y="336"/>
            <a:chExt cx="636" cy="288"/>
          </a:xfrm>
        </p:grpSpPr>
        <p:sp>
          <p:nvSpPr>
            <p:cNvPr id="111625" name="Rectangle 10"/>
            <p:cNvSpPr>
              <a:spLocks noChangeArrowheads="1"/>
            </p:cNvSpPr>
            <p:nvPr/>
          </p:nvSpPr>
          <p:spPr bwMode="auto">
            <a:xfrm>
              <a:off x="96" y="336"/>
              <a:ext cx="636" cy="212"/>
            </a:xfrm>
            <a:prstGeom prst="rect">
              <a:avLst/>
            </a:prstGeom>
            <a:noFill/>
            <a:ln w="9525">
              <a:noFill/>
              <a:miter lim="800000"/>
              <a:headEnd/>
              <a:tailEnd/>
            </a:ln>
          </p:spPr>
          <p:txBody>
            <a:bodyPr wrap="none">
              <a:spAutoFit/>
            </a:bodyPr>
            <a:lstStyle/>
            <a:p>
              <a:r>
                <a:rPr lang="en-US" altLang="zh-CN" sz="1600">
                  <a:latin typeface="宋体" pitchFamily="2" charset="-122"/>
                </a:rPr>
                <a:t>11000000</a:t>
              </a:r>
            </a:p>
          </p:txBody>
        </p:sp>
        <p:sp>
          <p:nvSpPr>
            <p:cNvPr id="111626" name="Line 11"/>
            <p:cNvSpPr>
              <a:spLocks noChangeShapeType="1"/>
            </p:cNvSpPr>
            <p:nvPr/>
          </p:nvSpPr>
          <p:spPr bwMode="auto">
            <a:xfrm>
              <a:off x="624" y="528"/>
              <a:ext cx="96" cy="96"/>
            </a:xfrm>
            <a:prstGeom prst="line">
              <a:avLst/>
            </a:prstGeom>
            <a:noFill/>
            <a:ln w="9525">
              <a:solidFill>
                <a:srgbClr val="FF3300"/>
              </a:solidFill>
              <a:round/>
              <a:headEnd/>
              <a:tailEnd type="triangle" w="med" len="med"/>
            </a:ln>
          </p:spPr>
          <p:txBody>
            <a:bodyPr/>
            <a:lstStyle/>
            <a:p>
              <a:endParaRPr lang="zh-CN" altLang="en-US"/>
            </a:p>
          </p:txBody>
        </p:sp>
      </p:grpSp>
      <p:graphicFrame>
        <p:nvGraphicFramePr>
          <p:cNvPr id="4" name="对象 3"/>
          <p:cNvGraphicFramePr>
            <a:graphicFrameLocks noChangeAspect="1"/>
          </p:cNvGraphicFramePr>
          <p:nvPr>
            <p:extLst>
              <p:ext uri="{D42A27DB-BD31-4B8C-83A1-F6EECF244321}">
                <p14:modId xmlns:p14="http://schemas.microsoft.com/office/powerpoint/2010/main" val="1703189448"/>
              </p:ext>
            </p:extLst>
          </p:nvPr>
        </p:nvGraphicFramePr>
        <p:xfrm>
          <a:off x="816553" y="6091641"/>
          <a:ext cx="6996545" cy="678295"/>
        </p:xfrm>
        <a:graphic>
          <a:graphicData uri="http://schemas.openxmlformats.org/presentationml/2006/ole">
            <mc:AlternateContent xmlns:mc="http://schemas.openxmlformats.org/markup-compatibility/2006">
              <mc:Choice xmlns:v="urn:schemas-microsoft-com:vml" Requires="v">
                <p:oleObj spid="_x0000_s277629" name="位图图像" r:id="rId4" imgW="6230220" imgH="609524" progId="PBrush">
                  <p:embed/>
                </p:oleObj>
              </mc:Choice>
              <mc:Fallback>
                <p:oleObj name="位图图像" r:id="rId4" imgW="6230220" imgH="609524" progId="PBrush">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553" y="6091641"/>
                        <a:ext cx="6996545" cy="67829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349952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12"/>
          </p:nvPr>
        </p:nvSpPr>
        <p:spPr>
          <a:noFill/>
        </p:spPr>
        <p:txBody>
          <a:bodyPr/>
          <a:lstStyle/>
          <a:p>
            <a:fld id="{0FDA69C2-AA0A-4AE9-A204-E7668ECF1AE7}" type="slidenum">
              <a:rPr lang="en-US" altLang="zh-CN" smtClean="0"/>
              <a:pPr/>
              <a:t>107</a:t>
            </a:fld>
            <a:endParaRPr lang="en-US" altLang="zh-CN" smtClean="0"/>
          </a:p>
        </p:txBody>
      </p:sp>
      <p:pic>
        <p:nvPicPr>
          <p:cNvPr id="111619" name="Picture 2" descr="库图6"/>
          <p:cNvPicPr>
            <a:picLocks noChangeAspect="1" noChangeArrowheads="1"/>
          </p:cNvPicPr>
          <p:nvPr/>
        </p:nvPicPr>
        <p:blipFill>
          <a:blip r:embed="rId2"/>
          <a:srcRect/>
          <a:stretch>
            <a:fillRect/>
          </a:stretch>
        </p:blipFill>
        <p:spPr bwMode="auto">
          <a:xfrm>
            <a:off x="381000" y="228600"/>
            <a:ext cx="7200900" cy="2881313"/>
          </a:xfrm>
          <a:prstGeom prst="rect">
            <a:avLst/>
          </a:prstGeom>
          <a:noFill/>
          <a:ln w="9525">
            <a:noFill/>
            <a:miter lim="800000"/>
            <a:headEnd/>
            <a:tailEnd/>
          </a:ln>
        </p:spPr>
      </p:pic>
      <p:grpSp>
        <p:nvGrpSpPr>
          <p:cNvPr id="2" name="Group 8"/>
          <p:cNvGrpSpPr>
            <a:grpSpLocks/>
          </p:cNvGrpSpPr>
          <p:nvPr/>
        </p:nvGrpSpPr>
        <p:grpSpPr bwMode="auto">
          <a:xfrm>
            <a:off x="5105400" y="304800"/>
            <a:ext cx="1162050" cy="381000"/>
            <a:chOff x="3216" y="192"/>
            <a:chExt cx="732" cy="240"/>
          </a:xfrm>
        </p:grpSpPr>
        <p:sp>
          <p:nvSpPr>
            <p:cNvPr id="111627" name="Rectangle 6"/>
            <p:cNvSpPr>
              <a:spLocks noChangeArrowheads="1"/>
            </p:cNvSpPr>
            <p:nvPr/>
          </p:nvSpPr>
          <p:spPr bwMode="auto">
            <a:xfrm>
              <a:off x="3312" y="192"/>
              <a:ext cx="636" cy="212"/>
            </a:xfrm>
            <a:prstGeom prst="rect">
              <a:avLst/>
            </a:prstGeom>
            <a:noFill/>
            <a:ln w="9525">
              <a:noFill/>
              <a:miter lim="800000"/>
              <a:headEnd/>
              <a:tailEnd/>
            </a:ln>
          </p:spPr>
          <p:txBody>
            <a:bodyPr wrap="none">
              <a:spAutoFit/>
            </a:bodyPr>
            <a:lstStyle/>
            <a:p>
              <a:r>
                <a:rPr lang="en-US" altLang="zh-CN" sz="1600">
                  <a:latin typeface="宋体" pitchFamily="2" charset="-122"/>
                </a:rPr>
                <a:t>10000000</a:t>
              </a:r>
            </a:p>
          </p:txBody>
        </p:sp>
        <p:sp>
          <p:nvSpPr>
            <p:cNvPr id="111628" name="Line 7"/>
            <p:cNvSpPr>
              <a:spLocks noChangeShapeType="1"/>
            </p:cNvSpPr>
            <p:nvPr/>
          </p:nvSpPr>
          <p:spPr bwMode="auto">
            <a:xfrm flipH="1">
              <a:off x="3216" y="336"/>
              <a:ext cx="144" cy="96"/>
            </a:xfrm>
            <a:prstGeom prst="line">
              <a:avLst/>
            </a:prstGeom>
            <a:noFill/>
            <a:ln w="9525">
              <a:solidFill>
                <a:srgbClr val="FF3300"/>
              </a:solidFill>
              <a:round/>
              <a:headEnd/>
              <a:tailEnd type="triangle" w="med" len="med"/>
            </a:ln>
          </p:spPr>
          <p:txBody>
            <a:bodyPr/>
            <a:lstStyle/>
            <a:p>
              <a:endParaRPr lang="zh-CN" altLang="en-US"/>
            </a:p>
          </p:txBody>
        </p:sp>
      </p:grpSp>
      <p:grpSp>
        <p:nvGrpSpPr>
          <p:cNvPr id="3" name="Group 12"/>
          <p:cNvGrpSpPr>
            <a:grpSpLocks/>
          </p:cNvGrpSpPr>
          <p:nvPr/>
        </p:nvGrpSpPr>
        <p:grpSpPr bwMode="auto">
          <a:xfrm>
            <a:off x="152400" y="533400"/>
            <a:ext cx="1009650" cy="457200"/>
            <a:chOff x="96" y="336"/>
            <a:chExt cx="636" cy="288"/>
          </a:xfrm>
        </p:grpSpPr>
        <p:sp>
          <p:nvSpPr>
            <p:cNvPr id="111625" name="Rectangle 10"/>
            <p:cNvSpPr>
              <a:spLocks noChangeArrowheads="1"/>
            </p:cNvSpPr>
            <p:nvPr/>
          </p:nvSpPr>
          <p:spPr bwMode="auto">
            <a:xfrm>
              <a:off x="96" y="336"/>
              <a:ext cx="636" cy="212"/>
            </a:xfrm>
            <a:prstGeom prst="rect">
              <a:avLst/>
            </a:prstGeom>
            <a:noFill/>
            <a:ln w="9525">
              <a:noFill/>
              <a:miter lim="800000"/>
              <a:headEnd/>
              <a:tailEnd/>
            </a:ln>
          </p:spPr>
          <p:txBody>
            <a:bodyPr wrap="none">
              <a:spAutoFit/>
            </a:bodyPr>
            <a:lstStyle/>
            <a:p>
              <a:r>
                <a:rPr lang="en-US" altLang="zh-CN" sz="1600">
                  <a:latin typeface="宋体" pitchFamily="2" charset="-122"/>
                </a:rPr>
                <a:t>11000000</a:t>
              </a:r>
            </a:p>
          </p:txBody>
        </p:sp>
        <p:sp>
          <p:nvSpPr>
            <p:cNvPr id="111626" name="Line 11"/>
            <p:cNvSpPr>
              <a:spLocks noChangeShapeType="1"/>
            </p:cNvSpPr>
            <p:nvPr/>
          </p:nvSpPr>
          <p:spPr bwMode="auto">
            <a:xfrm>
              <a:off x="624" y="528"/>
              <a:ext cx="96" cy="96"/>
            </a:xfrm>
            <a:prstGeom prst="line">
              <a:avLst/>
            </a:prstGeom>
            <a:noFill/>
            <a:ln w="9525">
              <a:solidFill>
                <a:srgbClr val="FF3300"/>
              </a:solidFill>
              <a:round/>
              <a:headEnd/>
              <a:tailEnd type="triangle" w="med" len="med"/>
            </a:ln>
          </p:spPr>
          <p:txBody>
            <a:bodyPr/>
            <a:lstStyle/>
            <a:p>
              <a:endParaRPr lang="zh-CN" altLang="en-US"/>
            </a:p>
          </p:txBody>
        </p:sp>
      </p:grpSp>
      <p:pic>
        <p:nvPicPr>
          <p:cNvPr id="384014" name="Picture 14"/>
          <p:cNvPicPr>
            <a:picLocks noChangeAspect="1" noChangeArrowheads="1"/>
          </p:cNvPicPr>
          <p:nvPr/>
        </p:nvPicPr>
        <p:blipFill>
          <a:blip r:embed="rId3"/>
          <a:srcRect/>
          <a:stretch>
            <a:fillRect/>
          </a:stretch>
        </p:blipFill>
        <p:spPr bwMode="auto">
          <a:xfrm>
            <a:off x="304800" y="3356992"/>
            <a:ext cx="8458200" cy="3124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12"/>
          </p:nvPr>
        </p:nvSpPr>
        <p:spPr>
          <a:noFill/>
        </p:spPr>
        <p:txBody>
          <a:bodyPr/>
          <a:lstStyle/>
          <a:p>
            <a:fld id="{0FDA69C2-AA0A-4AE9-A204-E7668ECF1AE7}" type="slidenum">
              <a:rPr lang="en-US" altLang="zh-CN" smtClean="0"/>
              <a:pPr/>
              <a:t>108</a:t>
            </a:fld>
            <a:endParaRPr lang="en-US" altLang="zh-CN" smtClean="0"/>
          </a:p>
        </p:txBody>
      </p:sp>
      <p:pic>
        <p:nvPicPr>
          <p:cNvPr id="111619" name="Picture 2" descr="库图6"/>
          <p:cNvPicPr>
            <a:picLocks noChangeAspect="1" noChangeArrowheads="1"/>
          </p:cNvPicPr>
          <p:nvPr/>
        </p:nvPicPr>
        <p:blipFill>
          <a:blip r:embed="rId2"/>
          <a:srcRect/>
          <a:stretch>
            <a:fillRect/>
          </a:stretch>
        </p:blipFill>
        <p:spPr bwMode="auto">
          <a:xfrm>
            <a:off x="381000" y="116632"/>
            <a:ext cx="7200900" cy="2736305"/>
          </a:xfrm>
          <a:prstGeom prst="rect">
            <a:avLst/>
          </a:prstGeom>
          <a:noFill/>
          <a:ln w="9525">
            <a:noFill/>
            <a:miter lim="800000"/>
            <a:headEnd/>
            <a:tailEnd/>
          </a:ln>
        </p:spPr>
      </p:pic>
      <p:sp>
        <p:nvSpPr>
          <p:cNvPr id="12" name="灯片编号占位符 3"/>
          <p:cNvSpPr txBox="1">
            <a:spLocks/>
          </p:cNvSpPr>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000" b="0" kern="1200">
                <a:solidFill>
                  <a:schemeClr val="tx1"/>
                </a:solidFill>
                <a:latin typeface="Arial" charset="0"/>
                <a:ea typeface="宋体" pitchFamily="2" charset="-122"/>
                <a:cs typeface="+mn-cs"/>
              </a:defRPr>
            </a:lvl1pPr>
            <a:lvl2pPr marL="457200" algn="l" rtl="0" fontAlgn="base">
              <a:spcBef>
                <a:spcPct val="0"/>
              </a:spcBef>
              <a:spcAft>
                <a:spcPct val="0"/>
              </a:spcAft>
              <a:defRPr b="1" kern="1200">
                <a:solidFill>
                  <a:srgbClr val="FF3300"/>
                </a:solidFill>
                <a:latin typeface="Arial" charset="0"/>
                <a:ea typeface="宋体" pitchFamily="2" charset="-122"/>
                <a:cs typeface="+mn-cs"/>
              </a:defRPr>
            </a:lvl2pPr>
            <a:lvl3pPr marL="914400" algn="l" rtl="0" fontAlgn="base">
              <a:spcBef>
                <a:spcPct val="0"/>
              </a:spcBef>
              <a:spcAft>
                <a:spcPct val="0"/>
              </a:spcAft>
              <a:defRPr b="1" kern="1200">
                <a:solidFill>
                  <a:srgbClr val="FF3300"/>
                </a:solidFill>
                <a:latin typeface="Arial" charset="0"/>
                <a:ea typeface="宋体" pitchFamily="2" charset="-122"/>
                <a:cs typeface="+mn-cs"/>
              </a:defRPr>
            </a:lvl3pPr>
            <a:lvl4pPr marL="1371600" algn="l" rtl="0" fontAlgn="base">
              <a:spcBef>
                <a:spcPct val="0"/>
              </a:spcBef>
              <a:spcAft>
                <a:spcPct val="0"/>
              </a:spcAft>
              <a:defRPr b="1" kern="1200">
                <a:solidFill>
                  <a:srgbClr val="FF3300"/>
                </a:solidFill>
                <a:latin typeface="Arial" charset="0"/>
                <a:ea typeface="宋体" pitchFamily="2" charset="-122"/>
                <a:cs typeface="+mn-cs"/>
              </a:defRPr>
            </a:lvl4pPr>
            <a:lvl5pPr marL="1828800" algn="l" rtl="0" fontAlgn="base">
              <a:spcBef>
                <a:spcPct val="0"/>
              </a:spcBef>
              <a:spcAft>
                <a:spcPct val="0"/>
              </a:spcAft>
              <a:defRPr b="1" kern="1200">
                <a:solidFill>
                  <a:srgbClr val="FF3300"/>
                </a:solidFill>
                <a:latin typeface="Arial" charset="0"/>
                <a:ea typeface="宋体" pitchFamily="2" charset="-122"/>
                <a:cs typeface="+mn-cs"/>
              </a:defRPr>
            </a:lvl5pPr>
            <a:lvl6pPr marL="2286000" algn="l" defTabSz="914400" rtl="0" eaLnBrk="1" latinLnBrk="0" hangingPunct="1">
              <a:defRPr b="1" kern="1200">
                <a:solidFill>
                  <a:srgbClr val="FF3300"/>
                </a:solidFill>
                <a:latin typeface="Arial" charset="0"/>
                <a:ea typeface="宋体" pitchFamily="2" charset="-122"/>
                <a:cs typeface="+mn-cs"/>
              </a:defRPr>
            </a:lvl6pPr>
            <a:lvl7pPr marL="2743200" algn="l" defTabSz="914400" rtl="0" eaLnBrk="1" latinLnBrk="0" hangingPunct="1">
              <a:defRPr b="1" kern="1200">
                <a:solidFill>
                  <a:srgbClr val="FF3300"/>
                </a:solidFill>
                <a:latin typeface="Arial" charset="0"/>
                <a:ea typeface="宋体" pitchFamily="2" charset="-122"/>
                <a:cs typeface="+mn-cs"/>
              </a:defRPr>
            </a:lvl7pPr>
            <a:lvl8pPr marL="3200400" algn="l" defTabSz="914400" rtl="0" eaLnBrk="1" latinLnBrk="0" hangingPunct="1">
              <a:defRPr b="1" kern="1200">
                <a:solidFill>
                  <a:srgbClr val="FF3300"/>
                </a:solidFill>
                <a:latin typeface="Arial" charset="0"/>
                <a:ea typeface="宋体" pitchFamily="2" charset="-122"/>
                <a:cs typeface="+mn-cs"/>
              </a:defRPr>
            </a:lvl8pPr>
            <a:lvl9pPr marL="3657600" algn="l" defTabSz="914400" rtl="0" eaLnBrk="1" latinLnBrk="0" hangingPunct="1">
              <a:defRPr b="1" kern="1200">
                <a:solidFill>
                  <a:srgbClr val="FF3300"/>
                </a:solidFill>
                <a:latin typeface="Arial" charset="0"/>
                <a:ea typeface="宋体" pitchFamily="2" charset="-122"/>
                <a:cs typeface="+mn-cs"/>
              </a:defRPr>
            </a:lvl9pPr>
          </a:lstStyle>
          <a:p>
            <a:fld id="{0FDA69C2-AA0A-4AE9-A204-E7668ECF1AE7}" type="slidenum">
              <a:rPr lang="en-US" altLang="zh-CN" smtClean="0"/>
              <a:pPr/>
              <a:t>108</a:t>
            </a:fld>
            <a:endParaRPr lang="en-US" altLang="zh-CN" smtClean="0"/>
          </a:p>
        </p:txBody>
      </p:sp>
      <p:sp>
        <p:nvSpPr>
          <p:cNvPr id="13" name="Rectangle 3"/>
          <p:cNvSpPr>
            <a:spLocks noChangeArrowheads="1"/>
          </p:cNvSpPr>
          <p:nvPr/>
        </p:nvSpPr>
        <p:spPr bwMode="auto">
          <a:xfrm>
            <a:off x="152400" y="2888011"/>
            <a:ext cx="8812088" cy="3859518"/>
          </a:xfrm>
          <a:prstGeom prst="rect">
            <a:avLst/>
          </a:prstGeom>
          <a:solidFill>
            <a:srgbClr val="CCFFFF"/>
          </a:solidFill>
          <a:ln w="9525" algn="ctr">
            <a:noFill/>
            <a:miter lim="800000"/>
            <a:headEnd/>
            <a:tailEnd/>
          </a:ln>
        </p:spPr>
        <p:txBody>
          <a:bodyPr wrap="square" anchor="ctr">
            <a:spAutoFit/>
          </a:bodyPr>
          <a:lstStyle/>
          <a:p>
            <a:pPr>
              <a:spcBef>
                <a:spcPct val="20000"/>
              </a:spcBef>
              <a:buClr>
                <a:schemeClr val="bg1"/>
              </a:buClr>
              <a:buSzPct val="70000"/>
              <a:buFont typeface="Wingdings" pitchFamily="2" charset="2"/>
              <a:buNone/>
            </a:pP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3</a:t>
            </a:r>
            <a:r>
              <a:rPr lang="zh-CN" altLang="en-US" sz="2400" b="0" dirty="0" smtClean="0">
                <a:solidFill>
                  <a:schemeClr val="tx1"/>
                </a:solidFill>
                <a:latin typeface="宋体" pitchFamily="2" charset="-122"/>
              </a:rPr>
              <a:t>）当</a:t>
            </a:r>
            <a:r>
              <a:rPr lang="en-US" altLang="zh-CN" sz="2400" b="0" dirty="0">
                <a:solidFill>
                  <a:schemeClr val="tx1"/>
                </a:solidFill>
                <a:latin typeface="宋体" pitchFamily="2" charset="-122"/>
              </a:rPr>
              <a:t>P1=1,P2=0</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,a</a:t>
            </a:r>
            <a:r>
              <a:rPr lang="zh-CN" altLang="en-US" sz="2400" b="0" dirty="0">
                <a:solidFill>
                  <a:schemeClr val="tx1"/>
                </a:solidFill>
                <a:latin typeface="宋体" pitchFamily="2" charset="-122"/>
              </a:rPr>
              <a:t>点</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测试</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由</a:t>
            </a:r>
            <a:r>
              <a:rPr lang="en-US" altLang="zh-CN" sz="2400" b="0" dirty="0">
                <a:solidFill>
                  <a:schemeClr val="tx1"/>
                </a:solidFill>
                <a:latin typeface="宋体" pitchFamily="2" charset="-122"/>
              </a:rPr>
              <a:t>P1</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5</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6</a:t>
            </a:r>
            <a:r>
              <a:rPr lang="zh-CN" altLang="en-US" sz="2400" b="0" dirty="0" smtClean="0">
                <a:solidFill>
                  <a:schemeClr val="tx1"/>
                </a:solidFill>
                <a:latin typeface="宋体" pitchFamily="2" charset="-122"/>
              </a:rPr>
              <a:t>修改</a:t>
            </a:r>
            <a:r>
              <a:rPr lang="en-US" altLang="zh-CN" sz="2400" dirty="0" smtClean="0">
                <a:solidFill>
                  <a:srgbClr val="FF0000"/>
                </a:solidFill>
                <a:latin typeface="宋体" pitchFamily="2" charset="-122"/>
              </a:rPr>
              <a:t>μA7,μA8</a:t>
            </a:r>
            <a:r>
              <a:rPr lang="zh-CN" altLang="en-US" sz="2400" b="0" dirty="0" smtClean="0">
                <a:solidFill>
                  <a:schemeClr val="tx1"/>
                </a:solidFill>
                <a:latin typeface="宋体" pitchFamily="2" charset="-122"/>
              </a:rPr>
              <a:t>。</a:t>
            </a:r>
            <a:endParaRPr lang="zh-CN" altLang="en-US" sz="2400" b="0" dirty="0">
              <a:solidFill>
                <a:schemeClr val="tx1"/>
              </a:solidFill>
              <a:latin typeface="宋体" pitchFamily="2" charset="-122"/>
            </a:endParaRP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a:t>
            </a:r>
            <a:r>
              <a:rPr lang="zh-CN" altLang="en-US" sz="2400" b="0" dirty="0" smtClean="0">
                <a:solidFill>
                  <a:schemeClr val="tx1"/>
                </a:solidFill>
                <a:latin typeface="宋体" pitchFamily="2" charset="-122"/>
              </a:rPr>
              <a:t>  </a:t>
            </a:r>
            <a:r>
              <a:rPr lang="zh-CN" altLang="en-US" sz="2400" b="0" dirty="0">
                <a:solidFill>
                  <a:schemeClr val="tx1"/>
                </a:solidFill>
                <a:latin typeface="宋体" pitchFamily="2" charset="-122"/>
              </a:rPr>
              <a:t>当</a:t>
            </a:r>
            <a:r>
              <a:rPr lang="en-US" altLang="zh-CN" sz="2400" b="0" dirty="0">
                <a:solidFill>
                  <a:schemeClr val="tx1"/>
                </a:solidFill>
                <a:latin typeface="宋体" pitchFamily="2" charset="-122"/>
              </a:rPr>
              <a:t>P1=0,P2=1</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,b</a:t>
            </a:r>
            <a:r>
              <a:rPr lang="zh-CN" altLang="en-US" sz="2400" b="0" dirty="0">
                <a:solidFill>
                  <a:schemeClr val="tx1"/>
                </a:solidFill>
                <a:latin typeface="宋体" pitchFamily="2" charset="-122"/>
              </a:rPr>
              <a:t>点</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测试</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由</a:t>
            </a:r>
            <a:r>
              <a:rPr lang="en-US" altLang="zh-CN" sz="2400" b="0" dirty="0">
                <a:solidFill>
                  <a:schemeClr val="tx1"/>
                </a:solidFill>
                <a:latin typeface="宋体" pitchFamily="2" charset="-122"/>
              </a:rPr>
              <a:t>P2</a:t>
            </a:r>
            <a:r>
              <a:rPr lang="zh-CN" altLang="en-US" sz="2400" b="0" dirty="0">
                <a:solidFill>
                  <a:schemeClr val="tx1"/>
                </a:solidFill>
                <a:latin typeface="宋体" pitchFamily="2" charset="-122"/>
              </a:rPr>
              <a:t>和</a:t>
            </a:r>
            <a:r>
              <a:rPr lang="en-US" altLang="zh-CN" sz="2400" b="0" dirty="0">
                <a:solidFill>
                  <a:schemeClr val="tx1"/>
                </a:solidFill>
                <a:latin typeface="宋体" pitchFamily="2" charset="-122"/>
              </a:rPr>
              <a:t>C</a:t>
            </a:r>
            <a:r>
              <a:rPr lang="en-US" altLang="zh-CN" sz="2400" b="0" baseline="-30000" dirty="0">
                <a:solidFill>
                  <a:schemeClr val="tx1"/>
                </a:solidFill>
                <a:latin typeface="宋体" pitchFamily="2" charset="-122"/>
              </a:rPr>
              <a:t>0</a:t>
            </a:r>
            <a:r>
              <a:rPr lang="zh-CN" altLang="en-US" sz="2400" b="0" dirty="0" smtClean="0">
                <a:solidFill>
                  <a:schemeClr val="tx1"/>
                </a:solidFill>
                <a:latin typeface="宋体" pitchFamily="2" charset="-122"/>
              </a:rPr>
              <a:t>修改</a:t>
            </a:r>
            <a:r>
              <a:rPr lang="en-US" altLang="zh-CN" sz="2400" dirty="0" smtClean="0">
                <a:solidFill>
                  <a:srgbClr val="FF0000"/>
                </a:solidFill>
                <a:latin typeface="宋体" pitchFamily="2" charset="-122"/>
              </a:rPr>
              <a:t>μA6</a:t>
            </a:r>
            <a:r>
              <a:rPr lang="zh-CN" altLang="en-US" sz="2400" b="0" dirty="0" smtClean="0">
                <a:solidFill>
                  <a:schemeClr val="tx1"/>
                </a:solidFill>
                <a:latin typeface="宋体" pitchFamily="2" charset="-122"/>
              </a:rPr>
              <a:t>。</a:t>
            </a:r>
            <a:endParaRPr lang="en-US" altLang="zh-CN" sz="2400" b="0" dirty="0" smtClean="0">
              <a:solidFill>
                <a:schemeClr val="tx1"/>
              </a:solidFill>
              <a:latin typeface="宋体" pitchFamily="2" charset="-122"/>
            </a:endParaRPr>
          </a:p>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en-US" altLang="zh-CN" sz="2400" b="0" dirty="0" smtClean="0">
                <a:solidFill>
                  <a:schemeClr val="tx1"/>
                </a:solidFill>
                <a:latin typeface="宋体" pitchFamily="2" charset="-122"/>
              </a:rPr>
              <a:t>    </a:t>
            </a:r>
            <a:r>
              <a:rPr lang="zh-CN" altLang="en-US" sz="2400" b="0" dirty="0" smtClean="0">
                <a:solidFill>
                  <a:schemeClr val="tx1"/>
                </a:solidFill>
                <a:latin typeface="宋体" pitchFamily="2" charset="-122"/>
              </a:rPr>
              <a:t>转移</a:t>
            </a:r>
            <a:r>
              <a:rPr lang="zh-CN" altLang="en-US" sz="2400" b="0" dirty="0">
                <a:solidFill>
                  <a:schemeClr val="tx1"/>
                </a:solidFill>
                <a:latin typeface="宋体" pitchFamily="2" charset="-122"/>
              </a:rPr>
              <a:t>逻辑表达式如下：</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a:t>
            </a:r>
            <a:r>
              <a:rPr lang="zh-CN" altLang="en-US" sz="2400" b="0" dirty="0" smtClean="0">
                <a:solidFill>
                  <a:schemeClr val="tx1"/>
                </a:solidFill>
                <a:latin typeface="宋体" pitchFamily="2" charset="-122"/>
              </a:rPr>
              <a:t>     </a:t>
            </a:r>
            <a:r>
              <a:rPr lang="en-US" altLang="zh-CN" sz="2400" b="0" dirty="0" smtClean="0">
                <a:solidFill>
                  <a:schemeClr val="tx1"/>
                </a:solidFill>
                <a:latin typeface="宋体" pitchFamily="2" charset="-122"/>
              </a:rPr>
              <a:t>μA6 </a:t>
            </a:r>
            <a:r>
              <a:rPr lang="en-US" altLang="zh-CN" sz="2400" b="0" dirty="0">
                <a:solidFill>
                  <a:schemeClr val="tx1"/>
                </a:solidFill>
                <a:latin typeface="宋体" pitchFamily="2" charset="-122"/>
              </a:rPr>
              <a:t>= P</a:t>
            </a:r>
            <a:r>
              <a:rPr lang="en-US" altLang="zh-CN" sz="2400" b="0" baseline="-30000" dirty="0">
                <a:solidFill>
                  <a:schemeClr val="tx1"/>
                </a:solidFill>
                <a:latin typeface="宋体" pitchFamily="2" charset="-122"/>
              </a:rPr>
              <a:t>2</a:t>
            </a:r>
            <a:r>
              <a:rPr lang="en-US" altLang="zh-CN" sz="2400" b="0" dirty="0">
                <a:solidFill>
                  <a:schemeClr val="tx1"/>
                </a:solidFill>
                <a:latin typeface="宋体" pitchFamily="2" charset="-122"/>
              </a:rPr>
              <a:t>·C</a:t>
            </a:r>
            <a:r>
              <a:rPr lang="en-US" altLang="zh-CN" sz="2400" b="0" baseline="-30000" dirty="0">
                <a:solidFill>
                  <a:schemeClr val="tx1"/>
                </a:solidFill>
                <a:latin typeface="宋体" pitchFamily="2" charset="-122"/>
              </a:rPr>
              <a:t>0</a:t>
            </a:r>
            <a:r>
              <a:rPr lang="en-US" altLang="zh-CN" sz="2400" b="0" dirty="0">
                <a:solidFill>
                  <a:schemeClr val="tx1"/>
                </a:solidFill>
                <a:latin typeface="宋体" pitchFamily="2" charset="-122"/>
              </a:rPr>
              <a:t>·T</a:t>
            </a:r>
            <a:r>
              <a:rPr lang="en-US" altLang="zh-CN" sz="2400" b="0" baseline="-30000" dirty="0">
                <a:solidFill>
                  <a:schemeClr val="tx1"/>
                </a:solidFill>
                <a:latin typeface="宋体" pitchFamily="2" charset="-122"/>
              </a:rPr>
              <a:t>i</a:t>
            </a:r>
            <a:endParaRPr lang="en-US" altLang="zh-CN" sz="2400" b="0" dirty="0">
              <a:solidFill>
                <a:schemeClr val="tx1"/>
              </a:solidFill>
              <a:latin typeface="宋体" pitchFamily="2" charset="-122"/>
            </a:endParaRPr>
          </a:p>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en-US" altLang="zh-CN" sz="2400" b="0" dirty="0" smtClean="0">
                <a:solidFill>
                  <a:schemeClr val="tx1"/>
                </a:solidFill>
                <a:latin typeface="宋体" pitchFamily="2" charset="-122"/>
              </a:rPr>
              <a:t>      </a:t>
            </a:r>
            <a:r>
              <a:rPr lang="en-US" altLang="zh-CN" sz="2400" b="0" dirty="0">
                <a:solidFill>
                  <a:schemeClr val="tx1"/>
                </a:solidFill>
                <a:latin typeface="宋体" pitchFamily="2" charset="-122"/>
              </a:rPr>
              <a:t>μA7 = P</a:t>
            </a:r>
            <a:r>
              <a:rPr lang="en-US" altLang="zh-CN" sz="2400" b="0" baseline="-30000" dirty="0">
                <a:solidFill>
                  <a:schemeClr val="tx1"/>
                </a:solidFill>
                <a:latin typeface="宋体" pitchFamily="2" charset="-122"/>
              </a:rPr>
              <a:t>1</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5</a:t>
            </a:r>
            <a:r>
              <a:rPr lang="en-US" altLang="zh-CN" sz="2400" b="0" dirty="0">
                <a:solidFill>
                  <a:schemeClr val="tx1"/>
                </a:solidFill>
                <a:latin typeface="宋体" pitchFamily="2" charset="-122"/>
              </a:rPr>
              <a:t>·T</a:t>
            </a:r>
            <a:r>
              <a:rPr lang="en-US" altLang="zh-CN" sz="2400" b="0" baseline="-30000" dirty="0">
                <a:solidFill>
                  <a:schemeClr val="tx1"/>
                </a:solidFill>
                <a:latin typeface="宋体" pitchFamily="2" charset="-122"/>
              </a:rPr>
              <a:t>i  </a:t>
            </a:r>
          </a:p>
          <a:p>
            <a:pPr>
              <a:spcBef>
                <a:spcPct val="20000"/>
              </a:spcBef>
              <a:buClr>
                <a:schemeClr val="bg1"/>
              </a:buClr>
              <a:buSzPct val="70000"/>
              <a:buFont typeface="Wingdings" pitchFamily="2" charset="2"/>
              <a:buNone/>
            </a:pPr>
            <a:r>
              <a:rPr lang="en-US" altLang="zh-CN" sz="2400" b="0" baseline="-30000" dirty="0">
                <a:solidFill>
                  <a:schemeClr val="tx1"/>
                </a:solidFill>
                <a:latin typeface="宋体" pitchFamily="2" charset="-122"/>
              </a:rPr>
              <a:t>      </a:t>
            </a:r>
            <a:r>
              <a:rPr lang="en-US" altLang="zh-CN" sz="2400" b="0" baseline="-30000" dirty="0" smtClean="0">
                <a:solidFill>
                  <a:schemeClr val="tx1"/>
                </a:solidFill>
                <a:latin typeface="宋体" pitchFamily="2" charset="-122"/>
              </a:rPr>
              <a:t>       </a:t>
            </a:r>
            <a:r>
              <a:rPr lang="en-US" altLang="zh-CN" sz="2400" b="0" dirty="0" smtClean="0">
                <a:solidFill>
                  <a:schemeClr val="tx1"/>
                </a:solidFill>
                <a:latin typeface="宋体" pitchFamily="2" charset="-122"/>
              </a:rPr>
              <a:t>μA8 </a:t>
            </a:r>
            <a:r>
              <a:rPr lang="en-US" altLang="zh-CN" sz="2400" b="0" dirty="0">
                <a:solidFill>
                  <a:schemeClr val="tx1"/>
                </a:solidFill>
                <a:latin typeface="宋体" pitchFamily="2" charset="-122"/>
              </a:rPr>
              <a:t>= P</a:t>
            </a:r>
            <a:r>
              <a:rPr lang="en-US" altLang="zh-CN" sz="2400" b="0" baseline="-30000" dirty="0">
                <a:solidFill>
                  <a:schemeClr val="tx1"/>
                </a:solidFill>
                <a:latin typeface="宋体" pitchFamily="2" charset="-122"/>
              </a:rPr>
              <a:t>1</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6</a:t>
            </a:r>
            <a:r>
              <a:rPr lang="en-US" altLang="zh-CN" sz="2400" b="0" dirty="0">
                <a:solidFill>
                  <a:schemeClr val="tx1"/>
                </a:solidFill>
                <a:latin typeface="宋体" pitchFamily="2" charset="-122"/>
              </a:rPr>
              <a:t>·T</a:t>
            </a:r>
            <a:r>
              <a:rPr lang="en-US" altLang="zh-CN" sz="2400" b="0" baseline="-30000" dirty="0">
                <a:solidFill>
                  <a:schemeClr val="tx1"/>
                </a:solidFill>
                <a:latin typeface="宋体" pitchFamily="2" charset="-122"/>
              </a:rPr>
              <a:t>i </a:t>
            </a:r>
            <a:endParaRPr lang="en-US" altLang="zh-CN" sz="2400" b="0" dirty="0">
              <a:solidFill>
                <a:schemeClr val="tx1"/>
              </a:solidFill>
              <a:latin typeface="宋体" pitchFamily="2" charset="-122"/>
            </a:endParaRPr>
          </a:p>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en-US" altLang="zh-CN" sz="2400" b="0" dirty="0" err="1">
                <a:solidFill>
                  <a:schemeClr val="tx1"/>
                </a:solidFill>
                <a:latin typeface="宋体" pitchFamily="2" charset="-122"/>
              </a:rPr>
              <a:t>T</a:t>
            </a:r>
            <a:r>
              <a:rPr lang="en-US" altLang="zh-CN" sz="2400" b="0" baseline="-30000" dirty="0" err="1">
                <a:solidFill>
                  <a:schemeClr val="tx1"/>
                </a:solidFill>
                <a:latin typeface="宋体" pitchFamily="2" charset="-122"/>
              </a:rPr>
              <a:t>i</a:t>
            </a:r>
            <a:r>
              <a:rPr lang="zh-CN" altLang="en-US" sz="2400" b="0" dirty="0">
                <a:solidFill>
                  <a:schemeClr val="tx1"/>
                </a:solidFill>
                <a:latin typeface="宋体" pitchFamily="2" charset="-122"/>
              </a:rPr>
              <a:t>为节拍脉冲信号</a:t>
            </a:r>
            <a:r>
              <a:rPr lang="en-US" altLang="zh-CN" sz="2400" b="0" dirty="0">
                <a:solidFill>
                  <a:schemeClr val="tx1"/>
                </a:solidFill>
                <a:latin typeface="宋体" pitchFamily="2" charset="-122"/>
              </a:rPr>
              <a:t>,</a:t>
            </a:r>
            <a:r>
              <a:rPr lang="zh-CN" altLang="en-US" sz="2400" b="0" dirty="0">
                <a:solidFill>
                  <a:schemeClr val="tx1"/>
                </a:solidFill>
                <a:latin typeface="宋体" pitchFamily="2" charset="-122"/>
              </a:rPr>
              <a:t>在</a:t>
            </a:r>
            <a:r>
              <a:rPr lang="en-US" altLang="zh-CN" sz="2400" b="0" dirty="0">
                <a:solidFill>
                  <a:schemeClr val="tx1"/>
                </a:solidFill>
                <a:latin typeface="宋体" pitchFamily="2" charset="-122"/>
              </a:rPr>
              <a:t>P</a:t>
            </a:r>
            <a:r>
              <a:rPr lang="en-US" altLang="zh-CN" sz="2400" b="0" baseline="-30000" dirty="0">
                <a:solidFill>
                  <a:schemeClr val="tx1"/>
                </a:solidFill>
                <a:latin typeface="宋体" pitchFamily="2" charset="-122"/>
              </a:rPr>
              <a:t>1</a:t>
            </a:r>
            <a:r>
              <a:rPr lang="zh-CN" altLang="en-US" sz="2400" b="0" dirty="0">
                <a:solidFill>
                  <a:schemeClr val="tx1"/>
                </a:solidFill>
                <a:latin typeface="宋体" pitchFamily="2" charset="-122"/>
              </a:rPr>
              <a:t>条件下</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6</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a:t>
            </a:r>
            <a:r>
              <a:rPr lang="en-US" altLang="zh-CN" sz="2400" b="0" dirty="0" err="1">
                <a:solidFill>
                  <a:schemeClr val="tx1"/>
                </a:solidFill>
                <a:latin typeface="宋体" pitchFamily="2" charset="-122"/>
              </a:rPr>
              <a:t>T</a:t>
            </a:r>
            <a:r>
              <a:rPr lang="en-US" altLang="zh-CN" sz="2400" b="0" baseline="-30000" dirty="0" err="1">
                <a:solidFill>
                  <a:schemeClr val="tx1"/>
                </a:solidFill>
                <a:latin typeface="宋体" pitchFamily="2" charset="-122"/>
              </a:rPr>
              <a:t>i</a:t>
            </a:r>
            <a:r>
              <a:rPr lang="zh-CN" altLang="en-US" sz="2400" b="0" dirty="0">
                <a:solidFill>
                  <a:schemeClr val="tx1"/>
                </a:solidFill>
                <a:latin typeface="宋体" pitchFamily="2" charset="-122"/>
              </a:rPr>
              <a:t>脉冲到来时微地址寄存器的第</a:t>
            </a:r>
            <a:r>
              <a:rPr lang="en-US" altLang="zh-CN" sz="2400" b="0" dirty="0">
                <a:solidFill>
                  <a:schemeClr val="tx1"/>
                </a:solidFill>
                <a:latin typeface="宋体" pitchFamily="2" charset="-122"/>
              </a:rPr>
              <a:t>8</a:t>
            </a:r>
            <a:r>
              <a:rPr lang="zh-CN" altLang="en-US" sz="2400" b="0" dirty="0">
                <a:solidFill>
                  <a:schemeClr val="tx1"/>
                </a:solidFill>
                <a:latin typeface="宋体" pitchFamily="2" charset="-122"/>
              </a:rPr>
              <a:t>位</a:t>
            </a:r>
            <a:r>
              <a:rPr lang="en-US" altLang="zh-CN" sz="2400" b="0" dirty="0">
                <a:solidFill>
                  <a:schemeClr val="tx1"/>
                </a:solidFill>
                <a:latin typeface="宋体" pitchFamily="2" charset="-122"/>
              </a:rPr>
              <a:t>μA8</a:t>
            </a:r>
            <a:r>
              <a:rPr lang="zh-CN" altLang="en-US" sz="2400" b="0" dirty="0">
                <a:solidFill>
                  <a:schemeClr val="tx1"/>
                </a:solidFill>
                <a:latin typeface="宋体" pitchFamily="2" charset="-122"/>
              </a:rPr>
              <a:t>将置“</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从而将该位由</a:t>
            </a:r>
            <a:r>
              <a:rPr lang="en-US" altLang="zh-CN" sz="2400" b="0" dirty="0">
                <a:solidFill>
                  <a:schemeClr val="tx1"/>
                </a:solidFill>
                <a:latin typeface="宋体" pitchFamily="2" charset="-122"/>
              </a:rPr>
              <a:t>0</a:t>
            </a:r>
            <a:r>
              <a:rPr lang="zh-CN" altLang="en-US" sz="2400" b="0" dirty="0">
                <a:solidFill>
                  <a:schemeClr val="tx1"/>
                </a:solidFill>
                <a:latin typeface="宋体" pitchFamily="2" charset="-122"/>
              </a:rPr>
              <a:t>修改为</a:t>
            </a:r>
            <a:r>
              <a:rPr lang="en-US" altLang="zh-CN" sz="2400" b="0" dirty="0">
                <a:solidFill>
                  <a:schemeClr val="tx1"/>
                </a:solidFill>
                <a:latin typeface="宋体" pitchFamily="2" charset="-122"/>
              </a:rPr>
              <a:t>1</a:t>
            </a:r>
            <a:r>
              <a:rPr lang="zh-CN" altLang="en-US" sz="2400" b="0" dirty="0">
                <a:solidFill>
                  <a:schemeClr val="tx1"/>
                </a:solidFill>
                <a:latin typeface="宋体" pitchFamily="2" charset="-122"/>
              </a:rPr>
              <a:t>。如果</a:t>
            </a:r>
            <a:r>
              <a:rPr lang="en-US" altLang="zh-CN" sz="2400" b="0" dirty="0">
                <a:solidFill>
                  <a:schemeClr val="tx1"/>
                </a:solidFill>
                <a:latin typeface="宋体" pitchFamily="2" charset="-122"/>
              </a:rPr>
              <a:t>IR</a:t>
            </a:r>
            <a:r>
              <a:rPr lang="en-US" altLang="zh-CN" sz="2400" b="0" baseline="-30000" dirty="0">
                <a:solidFill>
                  <a:schemeClr val="tx1"/>
                </a:solidFill>
                <a:latin typeface="宋体" pitchFamily="2" charset="-122"/>
              </a:rPr>
              <a:t>6</a:t>
            </a:r>
            <a:r>
              <a:rPr lang="en-US" altLang="zh-CN" sz="2400" b="0" dirty="0">
                <a:solidFill>
                  <a:schemeClr val="tx1"/>
                </a:solidFill>
                <a:latin typeface="宋体" pitchFamily="2" charset="-122"/>
              </a:rPr>
              <a:t>=0,</a:t>
            </a:r>
            <a:r>
              <a:rPr lang="zh-CN" altLang="en-US" sz="2400" b="0" dirty="0">
                <a:solidFill>
                  <a:schemeClr val="tx1"/>
                </a:solidFill>
                <a:latin typeface="宋体" pitchFamily="2" charset="-122"/>
              </a:rPr>
              <a:t>则</a:t>
            </a:r>
            <a:r>
              <a:rPr lang="en-US" altLang="zh-CN" sz="2400" b="0" dirty="0">
                <a:solidFill>
                  <a:schemeClr val="tx1"/>
                </a:solidFill>
                <a:latin typeface="宋体" pitchFamily="2" charset="-122"/>
              </a:rPr>
              <a:t>μA8</a:t>
            </a:r>
            <a:r>
              <a:rPr lang="zh-CN" altLang="en-US" sz="2400" b="0" dirty="0">
                <a:solidFill>
                  <a:schemeClr val="tx1"/>
                </a:solidFill>
                <a:latin typeface="宋体" pitchFamily="2" charset="-122"/>
              </a:rPr>
              <a:t>的</a:t>
            </a:r>
            <a:r>
              <a:rPr lang="en-US" altLang="zh-CN" sz="2400" b="0" dirty="0">
                <a:solidFill>
                  <a:schemeClr val="tx1"/>
                </a:solidFill>
                <a:latin typeface="宋体" pitchFamily="2" charset="-122"/>
              </a:rPr>
              <a:t>0</a:t>
            </a:r>
            <a:r>
              <a:rPr lang="zh-CN" altLang="en-US" sz="2400" b="0" dirty="0">
                <a:solidFill>
                  <a:schemeClr val="tx1"/>
                </a:solidFill>
                <a:latin typeface="宋体" pitchFamily="2" charset="-122"/>
              </a:rPr>
              <a:t>状态保持不变</a:t>
            </a:r>
            <a:r>
              <a:rPr lang="en-US" altLang="zh-CN" sz="2400" b="0" dirty="0">
                <a:solidFill>
                  <a:schemeClr val="tx1"/>
                </a:solidFill>
                <a:latin typeface="宋体" pitchFamily="2" charset="-122"/>
              </a:rPr>
              <a:t>,μA7,μA6</a:t>
            </a:r>
            <a:r>
              <a:rPr lang="zh-CN" altLang="en-US" sz="2400" b="0" dirty="0">
                <a:solidFill>
                  <a:schemeClr val="tx1"/>
                </a:solidFill>
                <a:latin typeface="宋体" pitchFamily="2" charset="-122"/>
              </a:rPr>
              <a:t>的修改也类似</a:t>
            </a:r>
            <a:r>
              <a:rPr lang="zh-CN" altLang="en-US" sz="2400" b="0" dirty="0" smtClean="0">
                <a:solidFill>
                  <a:schemeClr val="tx1"/>
                </a:solidFill>
                <a:latin typeface="宋体" pitchFamily="2" charset="-122"/>
              </a:rPr>
              <a:t>。</a:t>
            </a:r>
            <a:endParaRPr lang="zh-CN" altLang="en-US" sz="2400" b="0" dirty="0">
              <a:solidFill>
                <a:schemeClr val="tx1"/>
              </a:solidFill>
              <a:latin typeface="宋体" pitchFamily="2" charset="-122"/>
            </a:endParaRPr>
          </a:p>
        </p:txBody>
      </p:sp>
    </p:spTree>
    <p:extLst>
      <p:ext uri="{BB962C8B-B14F-4D97-AF65-F5344CB8AC3E}">
        <p14:creationId xmlns:p14="http://schemas.microsoft.com/office/powerpoint/2010/main" val="2406905257"/>
      </p:ext>
    </p:extLst>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68154" y="116632"/>
            <a:ext cx="8991600" cy="2640723"/>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anchor="ctr">
            <a:spAutoFit/>
          </a:bodyPr>
          <a:lstStyle/>
          <a:p>
            <a:pPr eaLnBrk="0" hangingPunct="0">
              <a:defRPr/>
            </a:pPr>
            <a:r>
              <a:rPr lang="zh-CN" b="0" dirty="0" smtClean="0">
                <a:solidFill>
                  <a:schemeClr val="tx1"/>
                </a:solidFill>
                <a:latin typeface="微软雅黑" panose="020B0503020204020204" pitchFamily="34" charset="-122"/>
                <a:ea typeface="微软雅黑" panose="020B0503020204020204" pitchFamily="34" charset="-122"/>
                <a:cs typeface="Times New Roman" pitchFamily="18" charset="0"/>
              </a:rPr>
              <a:t>一</a:t>
            </a:r>
            <a:r>
              <a:rPr lang="zh-CN" b="0" dirty="0">
                <a:solidFill>
                  <a:schemeClr val="tx1"/>
                </a:solidFill>
                <a:latin typeface="微软雅黑" panose="020B0503020204020204" pitchFamily="34" charset="-122"/>
                <a:ea typeface="微软雅黑" panose="020B0503020204020204" pitchFamily="34" charset="-122"/>
                <a:cs typeface="Times New Roman" pitchFamily="18" charset="0"/>
              </a:rPr>
              <a:t>台模拟机的数据通路如图所示，其中</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ALU</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完成加、减、</a:t>
            </a:r>
            <a:r>
              <a:rPr lang="zh-CN" altLang="en-US" b="0" dirty="0" smtClean="0">
                <a:solidFill>
                  <a:schemeClr val="tx1"/>
                </a:solidFill>
                <a:latin typeface="微软雅黑" panose="020B0503020204020204" pitchFamily="34" charset="-122"/>
                <a:ea typeface="微软雅黑" panose="020B0503020204020204" pitchFamily="34" charset="-122"/>
                <a:cs typeface="Times New Roman" pitchFamily="18" charset="0"/>
              </a:rPr>
              <a:t>传送三</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种操作，</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MUX</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是三选一多路开关，</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R1</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R3</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是通用寄存器。</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RAM</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是双端口存储器，其中</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DRAM</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为数据存储器（</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CE1</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为读写使能，</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RD/WE</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为读</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写命令），</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IRAM</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为指令存储器</a:t>
            </a:r>
            <a:r>
              <a:rPr lang="zh-CN" altLang="en-US" b="0" dirty="0" smtClean="0">
                <a:solidFill>
                  <a:schemeClr val="tx1"/>
                </a:solidFill>
                <a:latin typeface="微软雅黑" panose="020B0503020204020204" pitchFamily="34" charset="-122"/>
                <a:ea typeface="微软雅黑" panose="020B0503020204020204" pitchFamily="34" charset="-122"/>
                <a:cs typeface="Times New Roman" pitchFamily="18" charset="0"/>
              </a:rPr>
              <a:t>（</a:t>
            </a:r>
            <a:r>
              <a:rPr lang="en-US" altLang="zh-CN" b="0" dirty="0" smtClean="0">
                <a:solidFill>
                  <a:schemeClr val="tx1"/>
                </a:solidFill>
                <a:latin typeface="微软雅黑" panose="020B0503020204020204" pitchFamily="34" charset="-122"/>
                <a:ea typeface="微软雅黑" panose="020B0503020204020204" pitchFamily="34" charset="-122"/>
              </a:rPr>
              <a:t>CE2</a:t>
            </a:r>
            <a:r>
              <a:rPr lang="zh-CN" altLang="zh-CN" b="0" dirty="0">
                <a:solidFill>
                  <a:schemeClr val="tx1"/>
                </a:solidFill>
                <a:latin typeface="微软雅黑" panose="020B0503020204020204" pitchFamily="34" charset="-122"/>
                <a:ea typeface="微软雅黑" panose="020B0503020204020204" pitchFamily="34" charset="-122"/>
              </a:rPr>
              <a:t>为读使能，</a:t>
            </a:r>
            <a:r>
              <a:rPr lang="en-US" altLang="zh-CN" b="0" dirty="0">
                <a:solidFill>
                  <a:schemeClr val="tx1"/>
                </a:solidFill>
                <a:latin typeface="微软雅黑" panose="020B0503020204020204" pitchFamily="34" charset="-122"/>
                <a:ea typeface="微软雅黑" panose="020B0503020204020204" pitchFamily="34" charset="-122"/>
              </a:rPr>
              <a:t>RD</a:t>
            </a:r>
            <a:r>
              <a:rPr lang="zh-CN" altLang="zh-CN" b="0" dirty="0">
                <a:solidFill>
                  <a:schemeClr val="tx1"/>
                </a:solidFill>
                <a:latin typeface="微软雅黑" panose="020B0503020204020204" pitchFamily="34" charset="-122"/>
                <a:ea typeface="微软雅黑" panose="020B0503020204020204" pitchFamily="34" charset="-122"/>
              </a:rPr>
              <a:t>为读</a:t>
            </a:r>
            <a:r>
              <a:rPr lang="zh-CN" altLang="zh-CN" b="0" dirty="0" smtClean="0">
                <a:solidFill>
                  <a:schemeClr val="tx1"/>
                </a:solidFill>
                <a:latin typeface="微软雅黑" panose="020B0503020204020204" pitchFamily="34" charset="-122"/>
                <a:ea typeface="微软雅黑" panose="020B0503020204020204" pitchFamily="34" charset="-122"/>
              </a:rPr>
              <a:t>命令</a:t>
            </a:r>
            <a:r>
              <a:rPr lang="zh-CN" altLang="en-US" b="0" dirty="0" smtClean="0">
                <a:solidFill>
                  <a:schemeClr val="tx1"/>
                </a:solidFill>
                <a:latin typeface="微软雅黑" panose="020B0503020204020204" pitchFamily="34" charset="-122"/>
                <a:ea typeface="微软雅黑" panose="020B0503020204020204" pitchFamily="34" charset="-122"/>
                <a:cs typeface="Times New Roman" pitchFamily="18" charset="0"/>
              </a:rPr>
              <a:t>）</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AR</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为数据地址存储器，</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PC</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为程序计数器（具有自动加</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1</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功能），</a:t>
            </a:r>
            <a:r>
              <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rPr>
              <a:t>IR</a:t>
            </a:r>
            <a:r>
              <a:rPr lang="zh-CN" altLang="en-US" b="0" dirty="0">
                <a:solidFill>
                  <a:schemeClr val="tx1"/>
                </a:solidFill>
                <a:latin typeface="微软雅黑" panose="020B0503020204020204" pitchFamily="34" charset="-122"/>
                <a:ea typeface="微软雅黑" panose="020B0503020204020204" pitchFamily="34" charset="-122"/>
                <a:cs typeface="Times New Roman" pitchFamily="18" charset="0"/>
              </a:rPr>
              <a:t>为指令寄存器。所有的单箭头为控制微命令。</a:t>
            </a:r>
            <a:endParaRPr lang="en-US" altLang="zh-CN" b="0" dirty="0">
              <a:solidFill>
                <a:schemeClr val="tx1"/>
              </a:solidFill>
              <a:latin typeface="微软雅黑" panose="020B0503020204020204" pitchFamily="34" charset="-122"/>
              <a:ea typeface="微软雅黑" panose="020B0503020204020204" pitchFamily="34" charset="-122"/>
              <a:cs typeface="Times New Roman" pitchFamily="18" charset="0"/>
            </a:endParaRPr>
          </a:p>
          <a:p>
            <a:pPr eaLnBrk="0" hangingPunct="0">
              <a:defRPr/>
            </a:pPr>
            <a:r>
              <a:rPr lang="zh-CN" altLang="en-US" b="0" dirty="0" smtClean="0">
                <a:solidFill>
                  <a:schemeClr val="tx1"/>
                </a:solidFill>
                <a:latin typeface="微软雅黑" panose="020B0503020204020204" pitchFamily="34" charset="-122"/>
                <a:ea typeface="微软雅黑" panose="020B0503020204020204" pitchFamily="34" charset="-122"/>
              </a:rPr>
              <a:t>① </a:t>
            </a:r>
            <a:r>
              <a:rPr lang="zh-CN" altLang="en-US" b="0" dirty="0">
                <a:solidFill>
                  <a:schemeClr val="tx1"/>
                </a:solidFill>
                <a:latin typeface="微软雅黑" panose="020B0503020204020204" pitchFamily="34" charset="-122"/>
                <a:ea typeface="微软雅黑" panose="020B0503020204020204" pitchFamily="34" charset="-122"/>
              </a:rPr>
              <a:t>图中哪些是相容微操作信号？哪些是相斥微操作信号？</a:t>
            </a:r>
          </a:p>
          <a:p>
            <a:pPr>
              <a:spcBef>
                <a:spcPct val="20000"/>
              </a:spcBef>
              <a:buClr>
                <a:schemeClr val="bg1"/>
              </a:buClr>
              <a:buSzPct val="70000"/>
              <a:defRPr/>
            </a:pPr>
            <a:r>
              <a:rPr lang="zh-CN" altLang="en-US" b="0" dirty="0" smtClean="0">
                <a:solidFill>
                  <a:schemeClr val="tx1"/>
                </a:solidFill>
                <a:latin typeface="微软雅黑" panose="020B0503020204020204" pitchFamily="34" charset="-122"/>
                <a:ea typeface="微软雅黑" panose="020B0503020204020204" pitchFamily="34" charset="-122"/>
              </a:rPr>
              <a:t>② </a:t>
            </a:r>
            <a:r>
              <a:rPr lang="zh-CN" altLang="en-US" b="0" dirty="0">
                <a:solidFill>
                  <a:schemeClr val="tx1"/>
                </a:solidFill>
                <a:latin typeface="微软雅黑" panose="020B0503020204020204" pitchFamily="34" charset="-122"/>
                <a:ea typeface="微软雅黑" panose="020B0503020204020204" pitchFamily="34" charset="-122"/>
              </a:rPr>
              <a:t>采用微程序控制方式，设计控制字段微指令格式</a:t>
            </a:r>
            <a:r>
              <a:rPr lang="zh-CN" altLang="en-US" b="0" dirty="0" smtClean="0">
                <a:solidFill>
                  <a:schemeClr val="tx1"/>
                </a:solidFill>
                <a:latin typeface="微软雅黑" panose="020B0503020204020204" pitchFamily="34" charset="-122"/>
                <a:ea typeface="微软雅黑" panose="020B0503020204020204" pitchFamily="34" charset="-122"/>
              </a:rPr>
              <a:t>，列出</a:t>
            </a:r>
            <a:r>
              <a:rPr lang="zh-CN" altLang="en-US" b="0" dirty="0">
                <a:solidFill>
                  <a:schemeClr val="tx1"/>
                </a:solidFill>
                <a:latin typeface="微软雅黑" panose="020B0503020204020204" pitchFamily="34" charset="-122"/>
                <a:ea typeface="微软雅黑" panose="020B0503020204020204" pitchFamily="34" charset="-122"/>
              </a:rPr>
              <a:t>各控制字段的编码表</a:t>
            </a:r>
            <a:r>
              <a:rPr lang="zh-CN" altLang="en-US" b="0" dirty="0" smtClean="0">
                <a:solidFill>
                  <a:schemeClr val="tx1"/>
                </a:solidFill>
                <a:latin typeface="微软雅黑" panose="020B0503020204020204" pitchFamily="34" charset="-122"/>
                <a:ea typeface="微软雅黑" panose="020B0503020204020204" pitchFamily="34" charset="-122"/>
              </a:rPr>
              <a:t>。</a:t>
            </a:r>
            <a:endParaRPr lang="en-US" altLang="zh-CN" b="0" dirty="0" smtClean="0">
              <a:solidFill>
                <a:schemeClr val="tx1"/>
              </a:solidFill>
              <a:latin typeface="微软雅黑" panose="020B0503020204020204" pitchFamily="34" charset="-122"/>
              <a:ea typeface="微软雅黑" panose="020B0503020204020204" pitchFamily="34" charset="-122"/>
            </a:endParaRPr>
          </a:p>
          <a:p>
            <a:pPr eaLnBrk="0" hangingPunct="0">
              <a:defRPr/>
            </a:pPr>
            <a:r>
              <a:rPr lang="zh-CN" altLang="en-US" b="0" dirty="0" smtClean="0">
                <a:solidFill>
                  <a:schemeClr val="tx1"/>
                </a:solidFill>
                <a:latin typeface="微软雅黑" panose="020B0503020204020204" pitchFamily="34" charset="-122"/>
                <a:ea typeface="微软雅黑" panose="020B0503020204020204" pitchFamily="34" charset="-122"/>
              </a:rPr>
              <a:t>③ </a:t>
            </a:r>
            <a:r>
              <a:rPr lang="zh-CN" altLang="en-US" b="0" dirty="0">
                <a:solidFill>
                  <a:schemeClr val="tx1"/>
                </a:solidFill>
                <a:latin typeface="微软雅黑" panose="020B0503020204020204" pitchFamily="34" charset="-122"/>
                <a:ea typeface="微软雅黑" panose="020B0503020204020204" pitchFamily="34" charset="-122"/>
              </a:rPr>
              <a:t>画出存数指令“</a:t>
            </a:r>
            <a:r>
              <a:rPr lang="en-US" altLang="zh-CN" b="0" dirty="0">
                <a:solidFill>
                  <a:schemeClr val="tx1"/>
                </a:solidFill>
                <a:latin typeface="微软雅黑" panose="020B0503020204020204" pitchFamily="34" charset="-122"/>
                <a:ea typeface="微软雅黑" panose="020B0503020204020204" pitchFamily="34" charset="-122"/>
              </a:rPr>
              <a:t>LAD (R3)</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R1”</a:t>
            </a:r>
            <a:r>
              <a:rPr lang="zh-CN" altLang="en-US" b="0" dirty="0">
                <a:solidFill>
                  <a:schemeClr val="tx1"/>
                </a:solidFill>
                <a:latin typeface="微软雅黑" panose="020B0503020204020204" pitchFamily="34" charset="-122"/>
                <a:ea typeface="微软雅黑" panose="020B0503020204020204" pitchFamily="34" charset="-122"/>
              </a:rPr>
              <a:t>指令周期流程图，其</a:t>
            </a:r>
            <a:r>
              <a:rPr lang="zh-CN" altLang="en-US" b="0" dirty="0" smtClean="0">
                <a:solidFill>
                  <a:schemeClr val="tx1"/>
                </a:solidFill>
                <a:latin typeface="微软雅黑" panose="020B0503020204020204" pitchFamily="34" charset="-122"/>
                <a:ea typeface="微软雅黑" panose="020B0503020204020204" pitchFamily="34" charset="-122"/>
              </a:rPr>
              <a:t>含义为： </a:t>
            </a:r>
            <a:r>
              <a:rPr lang="en-US" altLang="zh-CN" b="0" dirty="0" smtClean="0">
                <a:solidFill>
                  <a:schemeClr val="tx1"/>
                </a:solidFill>
                <a:latin typeface="微软雅黑" panose="020B0503020204020204" pitchFamily="34" charset="-122"/>
                <a:ea typeface="微软雅黑" panose="020B0503020204020204" pitchFamily="34" charset="-122"/>
              </a:rPr>
              <a:t>(R3)→</a:t>
            </a:r>
            <a:r>
              <a:rPr lang="en-US" altLang="zh-CN" b="0" dirty="0">
                <a:solidFill>
                  <a:schemeClr val="tx1"/>
                </a:solidFill>
                <a:latin typeface="微软雅黑" panose="020B0503020204020204" pitchFamily="34" charset="-122"/>
                <a:ea typeface="微软雅黑" panose="020B0503020204020204" pitchFamily="34" charset="-122"/>
              </a:rPr>
              <a:t>R1</a:t>
            </a:r>
            <a:r>
              <a:rPr lang="zh-CN" altLang="en-US" b="0" dirty="0">
                <a:solidFill>
                  <a:schemeClr val="tx1"/>
                </a:solidFill>
                <a:latin typeface="微软雅黑" panose="020B0503020204020204" pitchFamily="34" charset="-122"/>
                <a:ea typeface="微软雅黑" panose="020B0503020204020204" pitchFamily="34" charset="-122"/>
              </a:rPr>
              <a:t>中，标出</a:t>
            </a:r>
            <a:r>
              <a:rPr lang="zh-CN" altLang="en-US" b="0" dirty="0" smtClean="0">
                <a:solidFill>
                  <a:schemeClr val="tx1"/>
                </a:solidFill>
                <a:latin typeface="微软雅黑" panose="020B0503020204020204" pitchFamily="34" charset="-122"/>
                <a:ea typeface="微软雅黑" panose="020B0503020204020204" pitchFamily="34" charset="-122"/>
              </a:rPr>
              <a:t>各</a:t>
            </a:r>
            <a:endParaRPr lang="en-US" altLang="zh-CN" b="0" dirty="0" smtClean="0">
              <a:solidFill>
                <a:schemeClr val="tx1"/>
              </a:solidFill>
              <a:latin typeface="微软雅黑" panose="020B0503020204020204" pitchFamily="34" charset="-122"/>
              <a:ea typeface="微软雅黑" panose="020B0503020204020204" pitchFamily="34" charset="-122"/>
            </a:endParaRPr>
          </a:p>
          <a:p>
            <a:pPr eaLnBrk="0" hangingPunct="0">
              <a:defRPr/>
            </a:pPr>
            <a:r>
              <a:rPr lang="en-US" altLang="zh-CN" b="0" dirty="0">
                <a:solidFill>
                  <a:schemeClr val="tx1"/>
                </a:solidFill>
                <a:latin typeface="微软雅黑" panose="020B0503020204020204" pitchFamily="34" charset="-122"/>
                <a:ea typeface="微软雅黑" panose="020B0503020204020204" pitchFamily="34" charset="-122"/>
              </a:rPr>
              <a:t> </a:t>
            </a:r>
            <a:r>
              <a:rPr lang="en-US" altLang="zh-CN" b="0" dirty="0" smtClean="0">
                <a:solidFill>
                  <a:schemeClr val="tx1"/>
                </a:solidFill>
                <a:latin typeface="微软雅黑" panose="020B0503020204020204" pitchFamily="34" charset="-122"/>
                <a:ea typeface="微软雅黑" panose="020B0503020204020204" pitchFamily="34" charset="-122"/>
              </a:rPr>
              <a:t>   </a:t>
            </a:r>
            <a:r>
              <a:rPr lang="zh-CN" altLang="en-US" b="0" dirty="0" smtClean="0">
                <a:solidFill>
                  <a:schemeClr val="tx1"/>
                </a:solidFill>
                <a:latin typeface="微软雅黑" panose="020B0503020204020204" pitchFamily="34" charset="-122"/>
                <a:ea typeface="微软雅黑" panose="020B0503020204020204" pitchFamily="34" charset="-122"/>
              </a:rPr>
              <a:t>微</a:t>
            </a:r>
            <a:r>
              <a:rPr lang="zh-CN" altLang="en-US" b="0" dirty="0">
                <a:solidFill>
                  <a:schemeClr val="tx1"/>
                </a:solidFill>
                <a:latin typeface="微软雅黑" panose="020B0503020204020204" pitchFamily="34" charset="-122"/>
                <a:ea typeface="微软雅黑" panose="020B0503020204020204" pitchFamily="34" charset="-122"/>
              </a:rPr>
              <a:t>操作信号序列</a:t>
            </a:r>
            <a:r>
              <a:rPr lang="zh-CN" altLang="en-US" b="0" dirty="0" smtClean="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p:txBody>
      </p:sp>
      <p:pic>
        <p:nvPicPr>
          <p:cNvPr id="12" name="Picture 5"/>
          <p:cNvPicPr>
            <a:picLocks noChangeAspect="1" noChangeArrowheads="1"/>
          </p:cNvPicPr>
          <p:nvPr/>
        </p:nvPicPr>
        <p:blipFill>
          <a:blip r:embed="rId2"/>
          <a:srcRect/>
          <a:stretch>
            <a:fillRect/>
          </a:stretch>
        </p:blipFill>
        <p:spPr bwMode="auto">
          <a:xfrm>
            <a:off x="323528" y="2996952"/>
            <a:ext cx="8351838" cy="3694180"/>
          </a:xfrm>
          <a:prstGeom prst="rect">
            <a:avLst/>
          </a:prstGeom>
          <a:noFill/>
          <a:ln w="9525">
            <a:noFill/>
            <a:miter lim="800000"/>
            <a:headEnd/>
            <a:tailEnd/>
          </a:ln>
          <a:effectLst/>
        </p:spPr>
      </p:pic>
    </p:spTree>
    <p:extLst>
      <p:ext uri="{BB962C8B-B14F-4D97-AF65-F5344CB8AC3E}">
        <p14:creationId xmlns:p14="http://schemas.microsoft.com/office/powerpoint/2010/main" val="3335554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灯片编号占位符 3"/>
          <p:cNvSpPr>
            <a:spLocks noGrp="1"/>
          </p:cNvSpPr>
          <p:nvPr>
            <p:ph type="sldNum" sz="quarter" idx="12"/>
          </p:nvPr>
        </p:nvSpPr>
        <p:spPr>
          <a:noFill/>
        </p:spPr>
        <p:txBody>
          <a:bodyPr/>
          <a:lstStyle/>
          <a:p>
            <a:fld id="{CF7FB3B4-E00A-4292-8453-2D5185565EFF}" type="slidenum">
              <a:rPr lang="en-US" altLang="zh-CN" smtClean="0"/>
              <a:pPr/>
              <a:t>110</a:t>
            </a:fld>
            <a:endParaRPr lang="en-US" altLang="zh-CN" smtClean="0"/>
          </a:p>
        </p:txBody>
      </p:sp>
      <p:sp>
        <p:nvSpPr>
          <p:cNvPr id="195587" name="Rectangle 4"/>
          <p:cNvSpPr>
            <a:spLocks noChangeArrowheads="1"/>
          </p:cNvSpPr>
          <p:nvPr/>
        </p:nvSpPr>
        <p:spPr bwMode="auto">
          <a:xfrm>
            <a:off x="211138" y="151184"/>
            <a:ext cx="8713787" cy="2234458"/>
          </a:xfrm>
          <a:prstGeom prst="rect">
            <a:avLst/>
          </a:prstGeom>
          <a:solidFill>
            <a:schemeClr val="bg1"/>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en-US" altLang="zh-CN" sz="2400" b="0" dirty="0">
                <a:solidFill>
                  <a:schemeClr val="tx1"/>
                </a:solidFill>
                <a:latin typeface="黑体" pitchFamily="49" charset="-122"/>
                <a:ea typeface="黑体" pitchFamily="49" charset="-122"/>
              </a:rPr>
              <a:t>① </a:t>
            </a:r>
            <a:r>
              <a:rPr lang="zh-CN" altLang="en-US" sz="2400" b="0" dirty="0">
                <a:solidFill>
                  <a:schemeClr val="tx1"/>
                </a:solidFill>
                <a:latin typeface="黑体" pitchFamily="49" charset="-122"/>
                <a:ea typeface="黑体" pitchFamily="49" charset="-122"/>
              </a:rPr>
              <a:t>相斥：</a:t>
            </a:r>
            <a:r>
              <a:rPr lang="en-US" altLang="zh-CN" sz="2400" b="0" dirty="0">
                <a:solidFill>
                  <a:srgbClr val="2BCB23"/>
                </a:solidFill>
                <a:latin typeface="黑体" pitchFamily="49" charset="-122"/>
                <a:ea typeface="黑体" pitchFamily="49" charset="-122"/>
              </a:rPr>
              <a:t>+,-,M</a:t>
            </a:r>
            <a:r>
              <a:rPr lang="en-US" altLang="zh-CN" sz="2400" b="0" dirty="0">
                <a:solidFill>
                  <a:schemeClr val="tx1"/>
                </a:solidFill>
                <a:latin typeface="黑体" pitchFamily="49" charset="-122"/>
                <a:ea typeface="黑体" pitchFamily="49" charset="-122"/>
              </a:rPr>
              <a:t>; </a:t>
            </a:r>
            <a:r>
              <a:rPr lang="en-US" altLang="zh-CN" sz="2400" b="0" dirty="0">
                <a:solidFill>
                  <a:srgbClr val="FF0000"/>
                </a:solidFill>
                <a:latin typeface="黑体" pitchFamily="49" charset="-122"/>
                <a:ea typeface="黑体" pitchFamily="49" charset="-122"/>
              </a:rPr>
              <a:t>R1→X,R2→X,R3→X</a:t>
            </a:r>
            <a:r>
              <a:rPr lang="en-US" altLang="zh-CN" sz="2400" b="0" dirty="0">
                <a:solidFill>
                  <a:schemeClr val="tx1"/>
                </a:solidFill>
                <a:latin typeface="黑体" pitchFamily="49" charset="-122"/>
                <a:ea typeface="黑体" pitchFamily="49" charset="-122"/>
              </a:rPr>
              <a:t>;</a:t>
            </a:r>
            <a:r>
              <a:rPr lang="en-US" altLang="zh-CN" sz="2400" b="0" dirty="0">
                <a:solidFill>
                  <a:srgbClr val="FFC000"/>
                </a:solidFill>
                <a:latin typeface="黑体" pitchFamily="49" charset="-122"/>
                <a:ea typeface="黑体" pitchFamily="49" charset="-122"/>
              </a:rPr>
              <a:t>R1→Y,R2→Y,R3→Y</a:t>
            </a:r>
            <a:r>
              <a:rPr lang="en-US" altLang="zh-CN" sz="2400" b="0" dirty="0">
                <a:solidFill>
                  <a:schemeClr val="tx1"/>
                </a:solidFill>
                <a:latin typeface="黑体" pitchFamily="49" charset="-122"/>
                <a:ea typeface="黑体" pitchFamily="49" charset="-122"/>
              </a:rPr>
              <a:t>;</a:t>
            </a:r>
          </a:p>
          <a:p>
            <a:pPr>
              <a:spcBef>
                <a:spcPct val="20000"/>
              </a:spcBef>
              <a:buClr>
                <a:schemeClr val="bg1"/>
              </a:buClr>
              <a:buSzPct val="70000"/>
              <a:buFont typeface="Wingdings" pitchFamily="2" charset="2"/>
              <a:buNone/>
            </a:pPr>
            <a:r>
              <a:rPr lang="en-US" altLang="zh-CN" sz="2400" b="0" dirty="0" smtClean="0">
                <a:solidFill>
                  <a:schemeClr val="tx1"/>
                </a:solidFill>
                <a:latin typeface="黑体" pitchFamily="49" charset="-122"/>
                <a:ea typeface="黑体" pitchFamily="49" charset="-122"/>
              </a:rPr>
              <a:t>         LDR1,LDR2,LDR3,LDIR,LDAR,LDPC</a:t>
            </a:r>
          </a:p>
          <a:p>
            <a:pPr>
              <a:spcBef>
                <a:spcPct val="20000"/>
              </a:spcBef>
              <a:buClr>
                <a:schemeClr val="bg1"/>
              </a:buClr>
              <a:buSzPct val="70000"/>
              <a:buFont typeface="Wingdings" pitchFamily="2" charset="2"/>
              <a:buNone/>
            </a:pPr>
            <a:r>
              <a:rPr lang="zh-CN" altLang="en-US" sz="2400" b="0" dirty="0" smtClean="0">
                <a:solidFill>
                  <a:schemeClr val="tx1"/>
                </a:solidFill>
                <a:latin typeface="黑体" pitchFamily="49" charset="-122"/>
                <a:ea typeface="黑体" pitchFamily="49" charset="-122"/>
              </a:rPr>
              <a:t>   相容：</a:t>
            </a:r>
            <a:r>
              <a:rPr lang="en-US" altLang="zh-CN" sz="2400" b="0" dirty="0" smtClean="0">
                <a:solidFill>
                  <a:schemeClr val="tx1"/>
                </a:solidFill>
                <a:latin typeface="黑体" pitchFamily="49" charset="-122"/>
                <a:ea typeface="黑体" pitchFamily="49" charset="-122"/>
              </a:rPr>
              <a:t>A</a:t>
            </a:r>
            <a:r>
              <a:rPr lang="en-US" altLang="zh-CN" sz="2400" b="0" dirty="0">
                <a:solidFill>
                  <a:schemeClr val="tx1"/>
                </a:solidFill>
                <a:latin typeface="黑体" pitchFamily="49" charset="-122"/>
                <a:ea typeface="黑体" pitchFamily="49" charset="-122"/>
              </a:rPr>
              <a:t>→</a:t>
            </a:r>
            <a:r>
              <a:rPr lang="en-US" altLang="zh-CN" sz="2400" b="0" dirty="0" smtClean="0">
                <a:solidFill>
                  <a:schemeClr val="tx1"/>
                </a:solidFill>
                <a:latin typeface="黑体" pitchFamily="49" charset="-122"/>
                <a:ea typeface="黑体" pitchFamily="49" charset="-122"/>
              </a:rPr>
              <a:t>DBUS,CE1,RD/WE,CE2,RD</a:t>
            </a:r>
            <a:r>
              <a:rPr lang="en-US" altLang="zh-CN" sz="2400" b="0" dirty="0">
                <a:solidFill>
                  <a:schemeClr val="tx1"/>
                </a:solidFill>
                <a:latin typeface="黑体" pitchFamily="49" charset="-122"/>
                <a:ea typeface="黑体" pitchFamily="49" charset="-122"/>
              </a:rPr>
              <a:t>,</a:t>
            </a:r>
            <a:r>
              <a:rPr lang="en-US" altLang="zh-CN" sz="2400" b="0" dirty="0" smtClean="0">
                <a:solidFill>
                  <a:schemeClr val="tx1"/>
                </a:solidFill>
                <a:latin typeface="黑体" pitchFamily="49" charset="-122"/>
                <a:ea typeface="黑体" pitchFamily="49" charset="-122"/>
              </a:rPr>
              <a:t>+</a:t>
            </a:r>
            <a:r>
              <a:rPr lang="en-US" altLang="zh-CN" sz="2400" b="0" dirty="0">
                <a:solidFill>
                  <a:schemeClr val="tx1"/>
                </a:solidFill>
                <a:latin typeface="黑体" pitchFamily="49" charset="-122"/>
                <a:ea typeface="黑体" pitchFamily="49" charset="-122"/>
              </a:rPr>
              <a:t>1</a:t>
            </a:r>
          </a:p>
          <a:p>
            <a:pPr>
              <a:spcBef>
                <a:spcPct val="20000"/>
              </a:spcBef>
              <a:buClr>
                <a:schemeClr val="bg1"/>
              </a:buClr>
              <a:buSzPct val="70000"/>
              <a:buFont typeface="Wingdings" pitchFamily="2" charset="2"/>
              <a:buNone/>
            </a:pPr>
            <a:r>
              <a:rPr lang="zh-CN" altLang="en-US" sz="2400" b="0" dirty="0">
                <a:solidFill>
                  <a:schemeClr val="tx1"/>
                </a:solidFill>
                <a:latin typeface="黑体" pitchFamily="49" charset="-122"/>
                <a:ea typeface="黑体" pitchFamily="49" charset="-122"/>
              </a:rPr>
              <a:t>         相容微命令与相斥组中的任意信号</a:t>
            </a:r>
          </a:p>
          <a:p>
            <a:pPr>
              <a:spcBef>
                <a:spcPct val="20000"/>
              </a:spcBef>
              <a:buClr>
                <a:schemeClr val="bg1"/>
              </a:buClr>
              <a:buSzPct val="70000"/>
              <a:buFont typeface="Wingdings" pitchFamily="2" charset="2"/>
              <a:buNone/>
            </a:pPr>
            <a:r>
              <a:rPr lang="zh-CN" altLang="en-US" sz="2400" b="0" dirty="0">
                <a:solidFill>
                  <a:schemeClr val="tx1"/>
                </a:solidFill>
                <a:latin typeface="黑体" pitchFamily="49" charset="-122"/>
                <a:ea typeface="黑体" pitchFamily="49" charset="-122"/>
              </a:rPr>
              <a:t>         相斥组中的一个信号与其他相斥组的任意信号</a:t>
            </a:r>
          </a:p>
        </p:txBody>
      </p:sp>
      <p:pic>
        <p:nvPicPr>
          <p:cNvPr id="195588" name="Picture 5"/>
          <p:cNvPicPr>
            <a:picLocks noChangeAspect="1" noChangeArrowheads="1"/>
          </p:cNvPicPr>
          <p:nvPr/>
        </p:nvPicPr>
        <p:blipFill>
          <a:blip r:embed="rId2"/>
          <a:srcRect/>
          <a:stretch>
            <a:fillRect/>
          </a:stretch>
        </p:blipFill>
        <p:spPr bwMode="auto">
          <a:xfrm>
            <a:off x="350838" y="2536825"/>
            <a:ext cx="8353425" cy="4105275"/>
          </a:xfrm>
          <a:prstGeom prst="rect">
            <a:avLst/>
          </a:prstGeom>
          <a:noFill/>
          <a:ln w="9525">
            <a:noFill/>
            <a:miter lim="800000"/>
            <a:headEnd/>
            <a:tailEnd/>
          </a:ln>
          <a:effectLst/>
        </p:spPr>
      </p:pic>
      <p:cxnSp>
        <p:nvCxnSpPr>
          <p:cNvPr id="3" name="直接连接符 2"/>
          <p:cNvCxnSpPr/>
          <p:nvPr/>
        </p:nvCxnSpPr>
        <p:spPr bwMode="auto">
          <a:xfrm>
            <a:off x="3957262" y="1162840"/>
            <a:ext cx="288032" cy="0"/>
          </a:xfrm>
          <a:prstGeom prst="line">
            <a:avLst/>
          </a:prstGeom>
          <a:no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39117378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灯片编号占位符 3"/>
          <p:cNvSpPr>
            <a:spLocks noGrp="1"/>
          </p:cNvSpPr>
          <p:nvPr>
            <p:ph type="sldNum" sz="quarter" idx="12"/>
          </p:nvPr>
        </p:nvSpPr>
        <p:spPr>
          <a:noFill/>
        </p:spPr>
        <p:txBody>
          <a:bodyPr/>
          <a:lstStyle/>
          <a:p>
            <a:fld id="{D64207D7-D772-4F88-8804-01A6FC15A0A6}" type="slidenum">
              <a:rPr lang="en-US" altLang="zh-CN" smtClean="0"/>
              <a:pPr/>
              <a:t>111</a:t>
            </a:fld>
            <a:endParaRPr lang="en-US" altLang="zh-CN" smtClean="0"/>
          </a:p>
        </p:txBody>
      </p:sp>
      <p:sp>
        <p:nvSpPr>
          <p:cNvPr id="10" name="Rectangle 4"/>
          <p:cNvSpPr>
            <a:spLocks noChangeArrowheads="1"/>
          </p:cNvSpPr>
          <p:nvPr/>
        </p:nvSpPr>
        <p:spPr bwMode="auto">
          <a:xfrm>
            <a:off x="229492" y="161206"/>
            <a:ext cx="8713787" cy="2234458"/>
          </a:xfrm>
          <a:prstGeom prst="rect">
            <a:avLst/>
          </a:prstGeom>
          <a:solidFill>
            <a:schemeClr val="bg1"/>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en-US" altLang="zh-CN" sz="2400" b="0" dirty="0">
                <a:solidFill>
                  <a:schemeClr val="tx1"/>
                </a:solidFill>
                <a:latin typeface="黑体" pitchFamily="49" charset="-122"/>
                <a:ea typeface="黑体" pitchFamily="49" charset="-122"/>
              </a:rPr>
              <a:t>① </a:t>
            </a:r>
            <a:r>
              <a:rPr lang="zh-CN" altLang="en-US" sz="2400" b="0" dirty="0">
                <a:solidFill>
                  <a:schemeClr val="tx1"/>
                </a:solidFill>
                <a:latin typeface="黑体" pitchFamily="49" charset="-122"/>
                <a:ea typeface="黑体" pitchFamily="49" charset="-122"/>
              </a:rPr>
              <a:t>相斥：</a:t>
            </a:r>
            <a:r>
              <a:rPr lang="en-US" altLang="zh-CN" sz="2400" b="0" dirty="0">
                <a:solidFill>
                  <a:srgbClr val="2BCB23"/>
                </a:solidFill>
                <a:latin typeface="黑体" pitchFamily="49" charset="-122"/>
                <a:ea typeface="黑体" pitchFamily="49" charset="-122"/>
              </a:rPr>
              <a:t>+,-,M</a:t>
            </a:r>
            <a:r>
              <a:rPr lang="en-US" altLang="zh-CN" sz="2400" b="0" dirty="0">
                <a:solidFill>
                  <a:schemeClr val="tx1"/>
                </a:solidFill>
                <a:latin typeface="黑体" pitchFamily="49" charset="-122"/>
                <a:ea typeface="黑体" pitchFamily="49" charset="-122"/>
              </a:rPr>
              <a:t>; </a:t>
            </a:r>
            <a:r>
              <a:rPr lang="en-US" altLang="zh-CN" sz="2400" b="0" dirty="0">
                <a:solidFill>
                  <a:srgbClr val="FF0000"/>
                </a:solidFill>
                <a:latin typeface="黑体" pitchFamily="49" charset="-122"/>
                <a:ea typeface="黑体" pitchFamily="49" charset="-122"/>
              </a:rPr>
              <a:t>R1→X,R2→X,R3→X</a:t>
            </a:r>
            <a:r>
              <a:rPr lang="en-US" altLang="zh-CN" sz="2400" b="0" dirty="0">
                <a:solidFill>
                  <a:schemeClr val="tx1"/>
                </a:solidFill>
                <a:latin typeface="黑体" pitchFamily="49" charset="-122"/>
                <a:ea typeface="黑体" pitchFamily="49" charset="-122"/>
              </a:rPr>
              <a:t>;</a:t>
            </a:r>
            <a:r>
              <a:rPr lang="en-US" altLang="zh-CN" sz="2400" b="0" dirty="0">
                <a:solidFill>
                  <a:srgbClr val="FFC000"/>
                </a:solidFill>
                <a:latin typeface="黑体" pitchFamily="49" charset="-122"/>
                <a:ea typeface="黑体" pitchFamily="49" charset="-122"/>
              </a:rPr>
              <a:t>R1→Y,R2→Y,R3→Y</a:t>
            </a:r>
            <a:r>
              <a:rPr lang="en-US" altLang="zh-CN" sz="2400" b="0" dirty="0">
                <a:solidFill>
                  <a:schemeClr val="tx1"/>
                </a:solidFill>
                <a:latin typeface="黑体" pitchFamily="49" charset="-122"/>
                <a:ea typeface="黑体" pitchFamily="49" charset="-122"/>
              </a:rPr>
              <a:t>;</a:t>
            </a:r>
          </a:p>
          <a:p>
            <a:pPr>
              <a:spcBef>
                <a:spcPct val="20000"/>
              </a:spcBef>
              <a:buClr>
                <a:schemeClr val="bg1"/>
              </a:buClr>
              <a:buSzPct val="70000"/>
              <a:buFont typeface="Wingdings" pitchFamily="2" charset="2"/>
              <a:buNone/>
            </a:pPr>
            <a:r>
              <a:rPr lang="en-US" altLang="zh-CN" sz="2400" b="0" dirty="0" smtClean="0">
                <a:solidFill>
                  <a:schemeClr val="tx1"/>
                </a:solidFill>
                <a:latin typeface="黑体" pitchFamily="49" charset="-122"/>
                <a:ea typeface="黑体" pitchFamily="49" charset="-122"/>
              </a:rPr>
              <a:t>         LDR1,LDR2,LDR3,LDIR,LDAR,LDPC</a:t>
            </a:r>
          </a:p>
          <a:p>
            <a:pPr>
              <a:spcBef>
                <a:spcPct val="20000"/>
              </a:spcBef>
              <a:buClr>
                <a:schemeClr val="bg1"/>
              </a:buClr>
              <a:buSzPct val="70000"/>
              <a:buFont typeface="Wingdings" pitchFamily="2" charset="2"/>
              <a:buNone/>
            </a:pPr>
            <a:r>
              <a:rPr lang="zh-CN" altLang="en-US" sz="2400" b="0" dirty="0" smtClean="0">
                <a:solidFill>
                  <a:schemeClr val="tx1"/>
                </a:solidFill>
                <a:latin typeface="黑体" pitchFamily="49" charset="-122"/>
                <a:ea typeface="黑体" pitchFamily="49" charset="-122"/>
              </a:rPr>
              <a:t>   相容：</a:t>
            </a:r>
            <a:r>
              <a:rPr lang="en-US" altLang="zh-CN" sz="2400" b="0" dirty="0" smtClean="0">
                <a:solidFill>
                  <a:schemeClr val="tx1"/>
                </a:solidFill>
                <a:latin typeface="黑体" pitchFamily="49" charset="-122"/>
                <a:ea typeface="黑体" pitchFamily="49" charset="-122"/>
              </a:rPr>
              <a:t>A</a:t>
            </a:r>
            <a:r>
              <a:rPr lang="en-US" altLang="zh-CN" sz="2400" b="0" dirty="0">
                <a:solidFill>
                  <a:schemeClr val="tx1"/>
                </a:solidFill>
                <a:latin typeface="黑体" pitchFamily="49" charset="-122"/>
                <a:ea typeface="黑体" pitchFamily="49" charset="-122"/>
              </a:rPr>
              <a:t>→</a:t>
            </a:r>
            <a:r>
              <a:rPr lang="en-US" altLang="zh-CN" sz="2400" b="0" dirty="0" smtClean="0">
                <a:solidFill>
                  <a:schemeClr val="tx1"/>
                </a:solidFill>
                <a:latin typeface="黑体" pitchFamily="49" charset="-122"/>
                <a:ea typeface="黑体" pitchFamily="49" charset="-122"/>
              </a:rPr>
              <a:t>DBUS,CE1,RD/WE,CE2,RD</a:t>
            </a:r>
            <a:r>
              <a:rPr lang="en-US" altLang="zh-CN" sz="2400" b="0" dirty="0">
                <a:solidFill>
                  <a:schemeClr val="tx1"/>
                </a:solidFill>
                <a:latin typeface="黑体" pitchFamily="49" charset="-122"/>
                <a:ea typeface="黑体" pitchFamily="49" charset="-122"/>
              </a:rPr>
              <a:t>,</a:t>
            </a:r>
            <a:r>
              <a:rPr lang="en-US" altLang="zh-CN" sz="2400" b="0" dirty="0" smtClean="0">
                <a:solidFill>
                  <a:schemeClr val="tx1"/>
                </a:solidFill>
                <a:latin typeface="黑体" pitchFamily="49" charset="-122"/>
                <a:ea typeface="黑体" pitchFamily="49" charset="-122"/>
              </a:rPr>
              <a:t>+</a:t>
            </a:r>
            <a:r>
              <a:rPr lang="en-US" altLang="zh-CN" sz="2400" b="0" dirty="0">
                <a:solidFill>
                  <a:schemeClr val="tx1"/>
                </a:solidFill>
                <a:latin typeface="黑体" pitchFamily="49" charset="-122"/>
                <a:ea typeface="黑体" pitchFamily="49" charset="-122"/>
              </a:rPr>
              <a:t>1</a:t>
            </a:r>
          </a:p>
          <a:p>
            <a:pPr>
              <a:spcBef>
                <a:spcPct val="20000"/>
              </a:spcBef>
              <a:buClr>
                <a:schemeClr val="bg1"/>
              </a:buClr>
              <a:buSzPct val="70000"/>
              <a:buFont typeface="Wingdings" pitchFamily="2" charset="2"/>
              <a:buNone/>
            </a:pPr>
            <a:r>
              <a:rPr lang="zh-CN" altLang="en-US" sz="2400" b="0" dirty="0">
                <a:solidFill>
                  <a:schemeClr val="tx1"/>
                </a:solidFill>
                <a:latin typeface="黑体" pitchFamily="49" charset="-122"/>
                <a:ea typeface="黑体" pitchFamily="49" charset="-122"/>
              </a:rPr>
              <a:t>         相容微命令与相斥组中的任意信号</a:t>
            </a:r>
          </a:p>
          <a:p>
            <a:pPr>
              <a:spcBef>
                <a:spcPct val="20000"/>
              </a:spcBef>
              <a:buClr>
                <a:schemeClr val="bg1"/>
              </a:buClr>
              <a:buSzPct val="70000"/>
              <a:buFont typeface="Wingdings" pitchFamily="2" charset="2"/>
              <a:buNone/>
            </a:pPr>
            <a:r>
              <a:rPr lang="zh-CN" altLang="en-US" sz="2400" b="0" dirty="0">
                <a:solidFill>
                  <a:schemeClr val="tx1"/>
                </a:solidFill>
                <a:latin typeface="黑体" pitchFamily="49" charset="-122"/>
                <a:ea typeface="黑体" pitchFamily="49" charset="-122"/>
              </a:rPr>
              <a:t>         相斥组中的一个信号与其他相斥组的任意信号</a:t>
            </a:r>
          </a:p>
        </p:txBody>
      </p:sp>
      <p:cxnSp>
        <p:nvCxnSpPr>
          <p:cNvPr id="11" name="直接连接符 10"/>
          <p:cNvCxnSpPr/>
          <p:nvPr/>
        </p:nvCxnSpPr>
        <p:spPr bwMode="auto">
          <a:xfrm>
            <a:off x="3993546" y="1143794"/>
            <a:ext cx="261847" cy="0"/>
          </a:xfrm>
          <a:prstGeom prst="line">
            <a:avLst/>
          </a:prstGeom>
          <a:noFill/>
          <a:ln w="19050" cap="flat" cmpd="sng" algn="ctr">
            <a:solidFill>
              <a:schemeClr val="tx1"/>
            </a:solidFill>
            <a:prstDash val="solid"/>
            <a:round/>
            <a:headEnd type="none" w="med" len="med"/>
            <a:tailEnd type="none" w="med" len="med"/>
          </a:ln>
          <a:effectLst/>
        </p:spPr>
      </p:cxnSp>
      <p:pic>
        <p:nvPicPr>
          <p:cNvPr id="282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306" y="2708920"/>
            <a:ext cx="8138150"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715691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灯片编号占位符 3"/>
          <p:cNvSpPr>
            <a:spLocks noGrp="1"/>
          </p:cNvSpPr>
          <p:nvPr>
            <p:ph type="sldNum" sz="quarter" idx="12"/>
          </p:nvPr>
        </p:nvSpPr>
        <p:spPr>
          <a:xfrm>
            <a:off x="6359525" y="6164263"/>
            <a:ext cx="2133600" cy="457200"/>
          </a:xfrm>
          <a:noFill/>
        </p:spPr>
        <p:txBody>
          <a:bodyPr/>
          <a:lstStyle/>
          <a:p>
            <a:fld id="{9A6B0A2C-3929-4915-962C-E03E1E600864}" type="slidenum">
              <a:rPr lang="en-US" altLang="zh-CN" smtClean="0"/>
              <a:pPr/>
              <a:t>112</a:t>
            </a:fld>
            <a:endParaRPr lang="en-US" altLang="zh-CN" smtClean="0"/>
          </a:p>
        </p:txBody>
      </p:sp>
      <p:sp>
        <p:nvSpPr>
          <p:cNvPr id="2" name="矩形 1"/>
          <p:cNvSpPr/>
          <p:nvPr/>
        </p:nvSpPr>
        <p:spPr>
          <a:xfrm>
            <a:off x="223838" y="161925"/>
            <a:ext cx="8785225"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eaLnBrk="0" hangingPunct="0">
              <a:defRPr/>
            </a:pPr>
            <a:r>
              <a:rPr lang="zh-CN" altLang="en-US" b="0" dirty="0" smtClean="0">
                <a:solidFill>
                  <a:schemeClr val="tx1"/>
                </a:solidFill>
                <a:latin typeface="黑体" panose="02010609060101010101" pitchFamily="49" charset="-122"/>
                <a:ea typeface="黑体" panose="02010609060101010101" pitchFamily="49" charset="-122"/>
              </a:rPr>
              <a:t>③</a:t>
            </a:r>
            <a:r>
              <a:rPr lang="zh-CN" altLang="en-US" b="0" dirty="0">
                <a:solidFill>
                  <a:schemeClr val="tx1"/>
                </a:solidFill>
                <a:latin typeface="微软雅黑" panose="020B0503020204020204" pitchFamily="34" charset="-122"/>
                <a:ea typeface="微软雅黑" panose="020B0503020204020204" pitchFamily="34" charset="-122"/>
              </a:rPr>
              <a:t>画出存数指令“</a:t>
            </a:r>
            <a:r>
              <a:rPr lang="en-US" altLang="zh-CN" b="0" dirty="0">
                <a:solidFill>
                  <a:schemeClr val="tx1"/>
                </a:solidFill>
                <a:latin typeface="微软雅黑" panose="020B0503020204020204" pitchFamily="34" charset="-122"/>
                <a:ea typeface="微软雅黑" panose="020B0503020204020204" pitchFamily="34" charset="-122"/>
              </a:rPr>
              <a:t>LAD (R3)</a:t>
            </a:r>
            <a:r>
              <a:rPr lang="zh-CN" altLang="en-US"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rPr>
              <a:t>R1”</a:t>
            </a:r>
            <a:r>
              <a:rPr lang="zh-CN" altLang="en-US" b="0" dirty="0">
                <a:solidFill>
                  <a:schemeClr val="tx1"/>
                </a:solidFill>
                <a:latin typeface="微软雅黑" panose="020B0503020204020204" pitchFamily="34" charset="-122"/>
                <a:ea typeface="微软雅黑" panose="020B0503020204020204" pitchFamily="34" charset="-122"/>
              </a:rPr>
              <a:t>指令周期流程图，其含义为： </a:t>
            </a:r>
            <a:r>
              <a:rPr lang="en-US" altLang="zh-CN" b="0" dirty="0">
                <a:solidFill>
                  <a:schemeClr val="tx1"/>
                </a:solidFill>
                <a:latin typeface="微软雅黑" panose="020B0503020204020204" pitchFamily="34" charset="-122"/>
                <a:ea typeface="微软雅黑" panose="020B0503020204020204" pitchFamily="34" charset="-122"/>
              </a:rPr>
              <a:t>(R3)→R1</a:t>
            </a:r>
            <a:r>
              <a:rPr lang="zh-CN" altLang="en-US" b="0" dirty="0">
                <a:solidFill>
                  <a:schemeClr val="tx1"/>
                </a:solidFill>
                <a:latin typeface="微软雅黑" panose="020B0503020204020204" pitchFamily="34" charset="-122"/>
                <a:ea typeface="微软雅黑" panose="020B0503020204020204" pitchFamily="34" charset="-122"/>
              </a:rPr>
              <a:t>中，标</a:t>
            </a:r>
            <a:r>
              <a:rPr lang="zh-CN" altLang="en-US" b="0" dirty="0" smtClean="0">
                <a:solidFill>
                  <a:schemeClr val="tx1"/>
                </a:solidFill>
                <a:latin typeface="微软雅黑" panose="020B0503020204020204" pitchFamily="34" charset="-122"/>
                <a:ea typeface="微软雅黑" panose="020B0503020204020204" pitchFamily="34" charset="-122"/>
              </a:rPr>
              <a:t>出   </a:t>
            </a:r>
            <a:endParaRPr lang="en-US" altLang="zh-CN" b="0" dirty="0" smtClean="0">
              <a:solidFill>
                <a:schemeClr val="tx1"/>
              </a:solidFill>
              <a:latin typeface="微软雅黑" panose="020B0503020204020204" pitchFamily="34" charset="-122"/>
              <a:ea typeface="微软雅黑" panose="020B0503020204020204" pitchFamily="34" charset="-122"/>
            </a:endParaRPr>
          </a:p>
          <a:p>
            <a:pPr eaLnBrk="0" hangingPunct="0">
              <a:defRPr/>
            </a:pPr>
            <a:r>
              <a:rPr lang="en-US" altLang="zh-CN" b="0" dirty="0">
                <a:solidFill>
                  <a:schemeClr val="tx1"/>
                </a:solidFill>
                <a:latin typeface="微软雅黑" panose="020B0503020204020204" pitchFamily="34" charset="-122"/>
                <a:ea typeface="微软雅黑" panose="020B0503020204020204" pitchFamily="34" charset="-122"/>
              </a:rPr>
              <a:t> </a:t>
            </a:r>
            <a:r>
              <a:rPr lang="en-US" altLang="zh-CN" b="0" dirty="0" smtClean="0">
                <a:solidFill>
                  <a:schemeClr val="tx1"/>
                </a:solidFill>
                <a:latin typeface="微软雅黑" panose="020B0503020204020204" pitchFamily="34" charset="-122"/>
                <a:ea typeface="微软雅黑" panose="020B0503020204020204" pitchFamily="34" charset="-122"/>
              </a:rPr>
              <a:t>  </a:t>
            </a:r>
            <a:r>
              <a:rPr lang="zh-CN" altLang="en-US" b="0" dirty="0" smtClean="0">
                <a:solidFill>
                  <a:schemeClr val="tx1"/>
                </a:solidFill>
                <a:latin typeface="微软雅黑" panose="020B0503020204020204" pitchFamily="34" charset="-122"/>
                <a:ea typeface="微软雅黑" panose="020B0503020204020204" pitchFamily="34" charset="-122"/>
              </a:rPr>
              <a:t>各微</a:t>
            </a:r>
            <a:r>
              <a:rPr lang="zh-CN" altLang="en-US" b="0" dirty="0">
                <a:solidFill>
                  <a:schemeClr val="tx1"/>
                </a:solidFill>
                <a:latin typeface="微软雅黑" panose="020B0503020204020204" pitchFamily="34" charset="-122"/>
                <a:ea typeface="微软雅黑" panose="020B0503020204020204" pitchFamily="34" charset="-122"/>
              </a:rPr>
              <a:t>操作信号序列。</a:t>
            </a:r>
            <a:endParaRPr lang="en-US" altLang="zh-CN" b="0" dirty="0">
              <a:solidFill>
                <a:schemeClr val="tx1"/>
              </a:solidFill>
              <a:latin typeface="微软雅黑" panose="020B0503020204020204" pitchFamily="34" charset="-122"/>
              <a:ea typeface="微软雅黑" panose="020B0503020204020204" pitchFamily="34" charset="-122"/>
            </a:endParaRPr>
          </a:p>
        </p:txBody>
      </p:sp>
      <p:pic>
        <p:nvPicPr>
          <p:cNvPr id="197636" name="Picture 5"/>
          <p:cNvPicPr>
            <a:picLocks noChangeAspect="1" noChangeArrowheads="1"/>
          </p:cNvPicPr>
          <p:nvPr/>
        </p:nvPicPr>
        <p:blipFill>
          <a:blip r:embed="rId2"/>
          <a:srcRect/>
          <a:stretch>
            <a:fillRect/>
          </a:stretch>
        </p:blipFill>
        <p:spPr bwMode="auto">
          <a:xfrm>
            <a:off x="3995738" y="944563"/>
            <a:ext cx="4752975" cy="5724525"/>
          </a:xfrm>
          <a:prstGeom prst="rect">
            <a:avLst/>
          </a:prstGeom>
          <a:noFill/>
          <a:ln w="9525">
            <a:noFill/>
            <a:miter lim="800000"/>
            <a:headEnd/>
            <a:tailEnd/>
          </a:ln>
          <a:effectLst/>
        </p:spPr>
      </p:pic>
      <p:pic>
        <p:nvPicPr>
          <p:cNvPr id="155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744" y="1397000"/>
            <a:ext cx="3476625"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264049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a:spLocks noGrp="1"/>
          </p:cNvSpPr>
          <p:nvPr>
            <p:ph type="sldNum" sz="quarter" idx="12"/>
          </p:nvPr>
        </p:nvSpPr>
        <p:spPr>
          <a:noFill/>
        </p:spPr>
        <p:txBody>
          <a:bodyPr/>
          <a:lstStyle/>
          <a:p>
            <a:fld id="{DD58B06C-ED1F-4007-A783-5AB57B6461C3}" type="slidenum">
              <a:rPr lang="en-US" altLang="zh-CN" smtClean="0"/>
              <a:pPr/>
              <a:t>113</a:t>
            </a:fld>
            <a:endParaRPr lang="en-US" altLang="zh-CN" smtClean="0"/>
          </a:p>
        </p:txBody>
      </p:sp>
      <p:sp>
        <p:nvSpPr>
          <p:cNvPr id="112643" name="Rectangle 2"/>
          <p:cNvSpPr>
            <a:spLocks noChangeArrowheads="1"/>
          </p:cNvSpPr>
          <p:nvPr/>
        </p:nvSpPr>
        <p:spPr bwMode="auto">
          <a:xfrm>
            <a:off x="250825" y="322263"/>
            <a:ext cx="8713788" cy="2085975"/>
          </a:xfrm>
          <a:prstGeom prst="rect">
            <a:avLst/>
          </a:prstGeom>
          <a:solidFill>
            <a:srgbClr val="CCFFFF"/>
          </a:solidFill>
          <a:ln w="9525" algn="ctr">
            <a:noFill/>
            <a:miter lim="800000"/>
            <a:headEnd/>
            <a:tailEnd/>
          </a:ln>
        </p:spPr>
        <p:txBody>
          <a:bodyPr anchor="ctr">
            <a:spAutoFit/>
          </a:bodyPr>
          <a:lstStyle/>
          <a:p>
            <a:pPr lvl="1">
              <a:spcBef>
                <a:spcPct val="20000"/>
              </a:spcBef>
              <a:buClr>
                <a:schemeClr val="bg1"/>
              </a:buClr>
              <a:buSzPct val="70000"/>
              <a:buFont typeface="Wingdings" pitchFamily="2" charset="2"/>
              <a:buNone/>
            </a:pPr>
            <a:r>
              <a:rPr lang="en-US" altLang="zh-CN" sz="2400" b="0" dirty="0" smtClean="0">
                <a:solidFill>
                  <a:schemeClr val="tx1"/>
                </a:solidFill>
                <a:latin typeface="宋体" pitchFamily="2" charset="-122"/>
              </a:rPr>
              <a:t>【</a:t>
            </a:r>
            <a:r>
              <a:rPr lang="zh-CN" altLang="en-US" sz="2400" b="0" dirty="0" smtClean="0">
                <a:solidFill>
                  <a:schemeClr val="tx1"/>
                </a:solidFill>
                <a:latin typeface="宋体" pitchFamily="2" charset="-122"/>
              </a:rPr>
              <a:t>例</a:t>
            </a:r>
            <a:r>
              <a:rPr lang="en-US" altLang="zh-CN" sz="2400" b="0" dirty="0" smtClean="0">
                <a:solidFill>
                  <a:schemeClr val="tx1"/>
                </a:solidFill>
                <a:latin typeface="宋体" pitchFamily="2" charset="-122"/>
              </a:rPr>
              <a:t>】</a:t>
            </a:r>
            <a:r>
              <a:rPr lang="zh-CN" altLang="en-US" sz="2400" b="0" dirty="0">
                <a:solidFill>
                  <a:schemeClr val="tx1"/>
                </a:solidFill>
                <a:latin typeface="宋体" pitchFamily="2" charset="-122"/>
              </a:rPr>
              <a:t>某机运算器框图如下，</a:t>
            </a:r>
            <a:r>
              <a:rPr lang="en-US" altLang="zh-CN" sz="2400" b="0" dirty="0">
                <a:solidFill>
                  <a:schemeClr val="tx1"/>
                </a:solidFill>
                <a:latin typeface="宋体" pitchFamily="2" charset="-122"/>
              </a:rPr>
              <a:t>BUS1</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BUS3</a:t>
            </a:r>
            <a:r>
              <a:rPr lang="zh-CN" altLang="en-US" sz="2400" b="0" dirty="0">
                <a:solidFill>
                  <a:schemeClr val="tx1"/>
                </a:solidFill>
                <a:latin typeface="宋体" pitchFamily="2" charset="-122"/>
              </a:rPr>
              <a:t>为</a:t>
            </a:r>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条总线，信号</a:t>
            </a:r>
            <a:r>
              <a:rPr lang="en-US" altLang="zh-CN" sz="2400" b="0" dirty="0" err="1">
                <a:solidFill>
                  <a:schemeClr val="tx1"/>
                </a:solidFill>
                <a:latin typeface="宋体" pitchFamily="2" charset="-122"/>
              </a:rPr>
              <a:t>a~h</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LDR0</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LDR3</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S0</a:t>
            </a:r>
            <a:r>
              <a:rPr lang="zh-CN" altLang="en-US" sz="2400" b="0" dirty="0">
                <a:solidFill>
                  <a:schemeClr val="tx1"/>
                </a:solidFill>
                <a:latin typeface="宋体" pitchFamily="2" charset="-122"/>
              </a:rPr>
              <a:t>～</a:t>
            </a:r>
            <a:r>
              <a:rPr lang="en-US" altLang="zh-CN" sz="2400" b="0" dirty="0">
                <a:solidFill>
                  <a:schemeClr val="tx1"/>
                </a:solidFill>
                <a:latin typeface="宋体" pitchFamily="2" charset="-122"/>
              </a:rPr>
              <a:t>S3</a:t>
            </a:r>
            <a:r>
              <a:rPr lang="zh-CN" altLang="en-US" sz="2400" b="0" dirty="0">
                <a:solidFill>
                  <a:schemeClr val="tx1"/>
                </a:solidFill>
                <a:latin typeface="宋体" pitchFamily="2" charset="-122"/>
              </a:rPr>
              <a:t>等均为电位或脉冲控制信号。</a:t>
            </a:r>
          </a:p>
          <a:p>
            <a:pPr lvl="1">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①图中哪些是相容微操作信号？哪些是相斥微操作信号？</a:t>
            </a:r>
          </a:p>
          <a:p>
            <a:pPr lvl="1">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②采用微程序控制方式，设计控制字段微指令格式，并列出各控制字段的编码表。</a:t>
            </a:r>
          </a:p>
        </p:txBody>
      </p:sp>
      <p:graphicFrame>
        <p:nvGraphicFramePr>
          <p:cNvPr id="112644" name="Object 6"/>
          <p:cNvGraphicFramePr>
            <a:graphicFrameLocks noChangeAspect="1"/>
          </p:cNvGraphicFramePr>
          <p:nvPr/>
        </p:nvGraphicFramePr>
        <p:xfrm>
          <a:off x="228600" y="2667000"/>
          <a:ext cx="8610600" cy="3708400"/>
        </p:xfrm>
        <a:graphic>
          <a:graphicData uri="http://schemas.openxmlformats.org/presentationml/2006/ole">
            <mc:AlternateContent xmlns:mc="http://schemas.openxmlformats.org/markup-compatibility/2006">
              <mc:Choice xmlns:v="urn:schemas-microsoft-com:vml" Requires="v">
                <p:oleObj spid="_x0000_s112840" name="位图图像" r:id="rId3" imgW="6657143" imgH="3115110" progId="PBrush">
                  <p:embed/>
                </p:oleObj>
              </mc:Choice>
              <mc:Fallback>
                <p:oleObj name="位图图像" r:id="rId3" imgW="6657143" imgH="3115110" progId="PBrush">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667000"/>
                        <a:ext cx="8610600" cy="37084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矩形 4"/>
          <p:cNvSpPr/>
          <p:nvPr/>
        </p:nvSpPr>
        <p:spPr>
          <a:xfrm>
            <a:off x="107504" y="332656"/>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12"/>
          </p:nvPr>
        </p:nvSpPr>
        <p:spPr>
          <a:noFill/>
        </p:spPr>
        <p:txBody>
          <a:bodyPr/>
          <a:lstStyle/>
          <a:p>
            <a:fld id="{06621319-A1D1-4FB2-AB93-21395245D1BC}" type="slidenum">
              <a:rPr lang="en-US" altLang="zh-CN" smtClean="0"/>
              <a:pPr/>
              <a:t>114</a:t>
            </a:fld>
            <a:endParaRPr lang="en-US" altLang="zh-CN" smtClean="0"/>
          </a:p>
        </p:txBody>
      </p:sp>
      <p:sp>
        <p:nvSpPr>
          <p:cNvPr id="113667" name="Rectangle 4"/>
          <p:cNvSpPr>
            <a:spLocks noChangeArrowheads="1"/>
          </p:cNvSpPr>
          <p:nvPr/>
        </p:nvSpPr>
        <p:spPr bwMode="auto">
          <a:xfrm>
            <a:off x="250825" y="382309"/>
            <a:ext cx="8713788" cy="1791260"/>
          </a:xfrm>
          <a:prstGeom prst="rect">
            <a:avLst/>
          </a:prstGeom>
          <a:solidFill>
            <a:srgbClr val="CCFFFF"/>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① </a:t>
            </a:r>
            <a:r>
              <a:rPr lang="zh-CN" altLang="en-US" sz="2400" b="0" dirty="0">
                <a:solidFill>
                  <a:schemeClr val="tx1"/>
                </a:solidFill>
                <a:latin typeface="宋体" pitchFamily="2" charset="-122"/>
              </a:rPr>
              <a:t>相斥：</a:t>
            </a:r>
            <a:r>
              <a:rPr lang="en-US" altLang="zh-CN" sz="2400" b="0" dirty="0" smtClean="0">
                <a:solidFill>
                  <a:schemeClr val="tx1"/>
                </a:solidFill>
                <a:latin typeface="宋体" pitchFamily="2" charset="-122"/>
              </a:rPr>
              <a:t>L,R,S,N; </a:t>
            </a:r>
            <a:r>
              <a:rPr lang="en-US" altLang="zh-CN" sz="2400" b="0" dirty="0" err="1" smtClean="0">
                <a:solidFill>
                  <a:schemeClr val="tx1"/>
                </a:solidFill>
                <a:latin typeface="宋体" pitchFamily="2" charset="-122"/>
              </a:rPr>
              <a:t>a,b,c,d</a:t>
            </a:r>
            <a:r>
              <a:rPr lang="en-US" altLang="zh-CN" sz="2400" b="0" dirty="0">
                <a:solidFill>
                  <a:schemeClr val="tx1"/>
                </a:solidFill>
                <a:latin typeface="宋体" pitchFamily="2" charset="-122"/>
              </a:rPr>
              <a:t>; </a:t>
            </a:r>
            <a:r>
              <a:rPr lang="en-US" altLang="zh-CN" sz="2400" b="0" dirty="0" smtClean="0">
                <a:solidFill>
                  <a:schemeClr val="tx1"/>
                </a:solidFill>
                <a:latin typeface="宋体" pitchFamily="2" charset="-122"/>
              </a:rPr>
              <a:t>e,f,g,h;LDR0,LDR1,LDR2,LDR3</a:t>
            </a:r>
            <a:r>
              <a:rPr lang="zh-CN" altLang="en-US" sz="2400" b="0" dirty="0">
                <a:solidFill>
                  <a:schemeClr val="tx1"/>
                </a:solidFill>
                <a:latin typeface="宋体" pitchFamily="2" charset="-122"/>
              </a:rPr>
              <a:t>；</a:t>
            </a:r>
            <a:endParaRPr lang="en-US" altLang="zh-CN" sz="2400" b="0" dirty="0">
              <a:solidFill>
                <a:schemeClr val="tx1"/>
              </a:solidFill>
              <a:latin typeface="宋体" pitchFamily="2" charset="-122"/>
            </a:endParaRPr>
          </a:p>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相容</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i,j</a:t>
            </a:r>
            <a:r>
              <a:rPr lang="en-US" altLang="zh-CN" sz="2400" b="0" dirty="0">
                <a:solidFill>
                  <a:schemeClr val="tx1"/>
                </a:solidFill>
                <a:latin typeface="宋体" pitchFamily="2" charset="-122"/>
              </a:rPr>
              <a:t>,+</a:t>
            </a:r>
            <a:r>
              <a:rPr lang="en-US" altLang="zh-CN" sz="2400" b="0" dirty="0" smtClean="0">
                <a:solidFill>
                  <a:schemeClr val="tx1"/>
                </a:solidFill>
                <a:latin typeface="宋体" pitchFamily="2" charset="-122"/>
              </a:rPr>
              <a:t>1</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S0,S1,S2,S3</a:t>
            </a:r>
            <a:r>
              <a:rPr lang="en-US" altLang="zh-CN" sz="2400" b="0" dirty="0">
                <a:solidFill>
                  <a:schemeClr val="tx1"/>
                </a:solidFill>
                <a:latin typeface="宋体" pitchFamily="2" charset="-122"/>
              </a:rPr>
              <a:t>;</a:t>
            </a:r>
          </a:p>
          <a:p>
            <a:pPr>
              <a:spcBef>
                <a:spcPct val="20000"/>
              </a:spcBef>
              <a:buClr>
                <a:schemeClr val="bg1"/>
              </a:buClr>
              <a:buSzPct val="70000"/>
              <a:buFont typeface="Wingdings" pitchFamily="2" charset="2"/>
              <a:buNone/>
            </a:pPr>
            <a:r>
              <a:rPr lang="en-US" altLang="zh-CN" sz="2400" b="0" dirty="0" smtClean="0">
                <a:solidFill>
                  <a:schemeClr val="tx1"/>
                </a:solidFill>
                <a:latin typeface="宋体" pitchFamily="2" charset="-122"/>
              </a:rPr>
              <a:t>         i,j</a:t>
            </a:r>
            <a:r>
              <a:rPr lang="en-US" altLang="zh-CN" sz="2400" b="0" dirty="0">
                <a:solidFill>
                  <a:schemeClr val="tx1"/>
                </a:solidFill>
                <a:latin typeface="宋体" pitchFamily="2" charset="-122"/>
              </a:rPr>
              <a:t>,+</a:t>
            </a:r>
            <a:r>
              <a:rPr lang="en-US" altLang="zh-CN" sz="2400" b="0" dirty="0" smtClean="0">
                <a:solidFill>
                  <a:schemeClr val="tx1"/>
                </a:solidFill>
                <a:latin typeface="宋体" pitchFamily="2" charset="-122"/>
              </a:rPr>
              <a:t>1</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S0,S1,S2,S3</a:t>
            </a:r>
            <a:r>
              <a:rPr lang="zh-CN" altLang="en-US" sz="2400" b="0" dirty="0" smtClean="0">
                <a:solidFill>
                  <a:schemeClr val="tx1"/>
                </a:solidFill>
                <a:latin typeface="宋体" pitchFamily="2" charset="-122"/>
              </a:rPr>
              <a:t>与相斥组</a:t>
            </a:r>
            <a:r>
              <a:rPr lang="zh-CN" altLang="en-US" sz="2400" b="0" dirty="0">
                <a:solidFill>
                  <a:schemeClr val="tx1"/>
                </a:solidFill>
                <a:latin typeface="宋体" pitchFamily="2" charset="-122"/>
              </a:rPr>
              <a:t>中的任意信号</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相斥组中的一个信号与其他相斥组的任意信号</a:t>
            </a:r>
          </a:p>
        </p:txBody>
      </p:sp>
      <p:graphicFrame>
        <p:nvGraphicFramePr>
          <p:cNvPr id="2" name="对象 1"/>
          <p:cNvGraphicFramePr>
            <a:graphicFrameLocks noChangeAspect="1"/>
          </p:cNvGraphicFramePr>
          <p:nvPr/>
        </p:nvGraphicFramePr>
        <p:xfrm>
          <a:off x="228600" y="2667000"/>
          <a:ext cx="8610600" cy="3708400"/>
        </p:xfrm>
        <a:graphic>
          <a:graphicData uri="http://schemas.openxmlformats.org/presentationml/2006/ole">
            <mc:AlternateContent xmlns:mc="http://schemas.openxmlformats.org/markup-compatibility/2006">
              <mc:Choice xmlns:v="urn:schemas-microsoft-com:vml" Requires="v">
                <p:oleObj spid="_x0000_s278652" name="位图图像" r:id="rId3" imgW="6657143" imgH="3115110" progId="PBrush">
                  <p:embed/>
                </p:oleObj>
              </mc:Choice>
              <mc:Fallback>
                <p:oleObj name="位图图像" r:id="rId3" imgW="6657143" imgH="3115110" progId="PBrush">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667000"/>
                        <a:ext cx="8610600" cy="37084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9121544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12"/>
          </p:nvPr>
        </p:nvSpPr>
        <p:spPr>
          <a:noFill/>
        </p:spPr>
        <p:txBody>
          <a:bodyPr/>
          <a:lstStyle/>
          <a:p>
            <a:fld id="{06621319-A1D1-4FB2-AB93-21395245D1BC}" type="slidenum">
              <a:rPr lang="en-US" altLang="zh-CN" smtClean="0"/>
              <a:pPr/>
              <a:t>115</a:t>
            </a:fld>
            <a:endParaRPr lang="en-US" altLang="zh-CN" smtClean="0"/>
          </a:p>
        </p:txBody>
      </p:sp>
      <p:sp>
        <p:nvSpPr>
          <p:cNvPr id="113667" name="Rectangle 4"/>
          <p:cNvSpPr>
            <a:spLocks noChangeArrowheads="1"/>
          </p:cNvSpPr>
          <p:nvPr/>
        </p:nvSpPr>
        <p:spPr bwMode="auto">
          <a:xfrm>
            <a:off x="250825" y="382309"/>
            <a:ext cx="8713788" cy="1791260"/>
          </a:xfrm>
          <a:prstGeom prst="rect">
            <a:avLst/>
          </a:prstGeom>
          <a:solidFill>
            <a:srgbClr val="CCFFFF"/>
          </a:solidFill>
          <a:ln w="9525" algn="ctr">
            <a:noFill/>
            <a:miter lim="800000"/>
            <a:headEnd/>
            <a:tailEnd/>
          </a:ln>
        </p:spPr>
        <p:txBody>
          <a:bodyPr anchor="ctr">
            <a:spAutoFit/>
          </a:bodyPr>
          <a:lstStyle/>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① </a:t>
            </a:r>
            <a:r>
              <a:rPr lang="zh-CN" altLang="en-US" sz="2400" b="0" dirty="0">
                <a:solidFill>
                  <a:schemeClr val="tx1"/>
                </a:solidFill>
                <a:latin typeface="宋体" pitchFamily="2" charset="-122"/>
              </a:rPr>
              <a:t>相斥：</a:t>
            </a:r>
            <a:r>
              <a:rPr lang="en-US" altLang="zh-CN" sz="2400" b="0" dirty="0" smtClean="0">
                <a:solidFill>
                  <a:schemeClr val="tx1"/>
                </a:solidFill>
                <a:latin typeface="宋体" pitchFamily="2" charset="-122"/>
              </a:rPr>
              <a:t>L,R,S,N; </a:t>
            </a:r>
            <a:r>
              <a:rPr lang="en-US" altLang="zh-CN" sz="2400" b="0" dirty="0" err="1" smtClean="0">
                <a:solidFill>
                  <a:schemeClr val="tx1"/>
                </a:solidFill>
                <a:latin typeface="宋体" pitchFamily="2" charset="-122"/>
              </a:rPr>
              <a:t>a,b,c,d</a:t>
            </a:r>
            <a:r>
              <a:rPr lang="en-US" altLang="zh-CN" sz="2400" b="0" dirty="0">
                <a:solidFill>
                  <a:schemeClr val="tx1"/>
                </a:solidFill>
                <a:latin typeface="宋体" pitchFamily="2" charset="-122"/>
              </a:rPr>
              <a:t>; </a:t>
            </a:r>
            <a:r>
              <a:rPr lang="en-US" altLang="zh-CN" sz="2400" b="0" dirty="0" smtClean="0">
                <a:solidFill>
                  <a:schemeClr val="tx1"/>
                </a:solidFill>
                <a:latin typeface="宋体" pitchFamily="2" charset="-122"/>
              </a:rPr>
              <a:t>e,f,g,h;LDR0,LDR1,LDR2,LDR3</a:t>
            </a:r>
            <a:r>
              <a:rPr lang="zh-CN" altLang="en-US" sz="2400" b="0" dirty="0">
                <a:solidFill>
                  <a:schemeClr val="tx1"/>
                </a:solidFill>
                <a:latin typeface="宋体" pitchFamily="2" charset="-122"/>
              </a:rPr>
              <a:t>；</a:t>
            </a:r>
            <a:endParaRPr lang="en-US" altLang="zh-CN" sz="2400" b="0" dirty="0">
              <a:solidFill>
                <a:schemeClr val="tx1"/>
              </a:solidFill>
              <a:latin typeface="宋体" pitchFamily="2" charset="-122"/>
            </a:endParaRPr>
          </a:p>
          <a:p>
            <a:pPr>
              <a:spcBef>
                <a:spcPct val="20000"/>
              </a:spcBef>
              <a:buClr>
                <a:schemeClr val="bg1"/>
              </a:buClr>
              <a:buSzPct val="70000"/>
              <a:buFont typeface="Wingdings" pitchFamily="2" charset="2"/>
              <a:buNone/>
            </a:pPr>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相容</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i,j</a:t>
            </a:r>
            <a:r>
              <a:rPr lang="en-US" altLang="zh-CN" sz="2400" b="0" dirty="0">
                <a:solidFill>
                  <a:schemeClr val="tx1"/>
                </a:solidFill>
                <a:latin typeface="宋体" pitchFamily="2" charset="-122"/>
              </a:rPr>
              <a:t>,+</a:t>
            </a:r>
            <a:r>
              <a:rPr lang="en-US" altLang="zh-CN" sz="2400" b="0" dirty="0" smtClean="0">
                <a:solidFill>
                  <a:schemeClr val="tx1"/>
                </a:solidFill>
                <a:latin typeface="宋体" pitchFamily="2" charset="-122"/>
              </a:rPr>
              <a:t>1</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S0,S1,S2,S3</a:t>
            </a:r>
            <a:r>
              <a:rPr lang="en-US" altLang="zh-CN" sz="2400" b="0" dirty="0">
                <a:solidFill>
                  <a:schemeClr val="tx1"/>
                </a:solidFill>
                <a:latin typeface="宋体" pitchFamily="2" charset="-122"/>
              </a:rPr>
              <a:t>;</a:t>
            </a:r>
          </a:p>
          <a:p>
            <a:pPr>
              <a:spcBef>
                <a:spcPct val="20000"/>
              </a:spcBef>
              <a:buClr>
                <a:schemeClr val="bg1"/>
              </a:buClr>
              <a:buSzPct val="70000"/>
              <a:buFont typeface="Wingdings" pitchFamily="2" charset="2"/>
              <a:buNone/>
            </a:pPr>
            <a:r>
              <a:rPr lang="en-US" altLang="zh-CN" sz="2400" b="0" dirty="0" smtClean="0">
                <a:solidFill>
                  <a:schemeClr val="tx1"/>
                </a:solidFill>
                <a:latin typeface="宋体" pitchFamily="2" charset="-122"/>
              </a:rPr>
              <a:t>         i,j</a:t>
            </a:r>
            <a:r>
              <a:rPr lang="en-US" altLang="zh-CN" sz="2400" b="0" dirty="0">
                <a:solidFill>
                  <a:schemeClr val="tx1"/>
                </a:solidFill>
                <a:latin typeface="宋体" pitchFamily="2" charset="-122"/>
              </a:rPr>
              <a:t>,+</a:t>
            </a:r>
            <a:r>
              <a:rPr lang="en-US" altLang="zh-CN" sz="2400" b="0" dirty="0" smtClean="0">
                <a:solidFill>
                  <a:schemeClr val="tx1"/>
                </a:solidFill>
                <a:latin typeface="宋体" pitchFamily="2" charset="-122"/>
              </a:rPr>
              <a:t>1</a:t>
            </a:r>
            <a:r>
              <a:rPr lang="zh-CN" altLang="en-US" sz="2400" b="0" dirty="0" smtClean="0">
                <a:solidFill>
                  <a:schemeClr val="tx1"/>
                </a:solidFill>
                <a:latin typeface="宋体" pitchFamily="2" charset="-122"/>
              </a:rPr>
              <a:t>；</a:t>
            </a:r>
            <a:r>
              <a:rPr lang="en-US" altLang="zh-CN" sz="2400" b="0" dirty="0" smtClean="0">
                <a:solidFill>
                  <a:schemeClr val="tx1"/>
                </a:solidFill>
                <a:latin typeface="宋体" pitchFamily="2" charset="-122"/>
              </a:rPr>
              <a:t>S0,S1,S2,S3</a:t>
            </a:r>
            <a:r>
              <a:rPr lang="zh-CN" altLang="en-US" sz="2400" b="0" dirty="0" smtClean="0">
                <a:solidFill>
                  <a:schemeClr val="tx1"/>
                </a:solidFill>
                <a:latin typeface="宋体" pitchFamily="2" charset="-122"/>
              </a:rPr>
              <a:t>与相斥组</a:t>
            </a:r>
            <a:r>
              <a:rPr lang="zh-CN" altLang="en-US" sz="2400" b="0" dirty="0">
                <a:solidFill>
                  <a:schemeClr val="tx1"/>
                </a:solidFill>
                <a:latin typeface="宋体" pitchFamily="2" charset="-122"/>
              </a:rPr>
              <a:t>中的任意信号</a:t>
            </a:r>
          </a:p>
          <a:p>
            <a:pPr>
              <a:spcBef>
                <a:spcPct val="20000"/>
              </a:spcBef>
              <a:buClr>
                <a:schemeClr val="bg1"/>
              </a:buClr>
              <a:buSzPct val="70000"/>
              <a:buFont typeface="Wingdings" pitchFamily="2" charset="2"/>
              <a:buNone/>
            </a:pPr>
            <a:r>
              <a:rPr lang="zh-CN" altLang="en-US" sz="2400" b="0" dirty="0">
                <a:solidFill>
                  <a:schemeClr val="tx1"/>
                </a:solidFill>
                <a:latin typeface="宋体" pitchFamily="2" charset="-122"/>
              </a:rPr>
              <a:t>         相斥组中的一个信号与其他相斥组的任意信号</a:t>
            </a:r>
          </a:p>
        </p:txBody>
      </p:sp>
      <p:pic>
        <p:nvPicPr>
          <p:cNvPr id="5" name="Picture 4"/>
          <p:cNvPicPr>
            <a:picLocks noChangeAspect="1" noChangeArrowheads="1"/>
          </p:cNvPicPr>
          <p:nvPr/>
        </p:nvPicPr>
        <p:blipFill>
          <a:blip r:embed="rId2"/>
          <a:srcRect/>
          <a:stretch>
            <a:fillRect/>
          </a:stretch>
        </p:blipFill>
        <p:spPr bwMode="auto">
          <a:xfrm>
            <a:off x="395536" y="2852936"/>
            <a:ext cx="8209038" cy="2357454"/>
          </a:xfrm>
          <a:prstGeom prst="rect">
            <a:avLst/>
          </a:prstGeom>
          <a:noFill/>
          <a:ln w="9525">
            <a:noFill/>
            <a:miter lim="800000"/>
            <a:headEnd/>
            <a:tailEnd/>
          </a:ln>
          <a:effectLst/>
        </p:spPr>
      </p:pic>
      <p:sp>
        <p:nvSpPr>
          <p:cNvPr id="3" name="矩形 2"/>
          <p:cNvSpPr/>
          <p:nvPr/>
        </p:nvSpPr>
        <p:spPr>
          <a:xfrm>
            <a:off x="251520" y="2348880"/>
            <a:ext cx="492443" cy="461665"/>
          </a:xfrm>
          <a:prstGeom prst="rect">
            <a:avLst/>
          </a:prstGeom>
        </p:spPr>
        <p:txBody>
          <a:bodyPr wrap="none">
            <a:spAutoFit/>
          </a:bodyPr>
          <a:lstStyle/>
          <a:p>
            <a:pPr>
              <a:spcBef>
                <a:spcPts val="0"/>
              </a:spcBef>
              <a:buClr>
                <a:schemeClr val="bg1"/>
              </a:buClr>
              <a:buSzPct val="70000"/>
              <a:buFont typeface="Wingdings" pitchFamily="2" charset="2"/>
              <a:buNone/>
            </a:pPr>
            <a:r>
              <a:rPr lang="zh-CN" altLang="zh-CN" sz="2400" b="0" dirty="0">
                <a:solidFill>
                  <a:schemeClr val="tx1"/>
                </a:solidFill>
                <a:latin typeface="宋体" pitchFamily="2" charset="-122"/>
              </a:rPr>
              <a:t>②</a:t>
            </a:r>
            <a:endParaRPr lang="en-US" altLang="zh-CN" sz="2400" b="0" dirty="0">
              <a:solidFill>
                <a:schemeClr val="tx1"/>
              </a:solidFill>
              <a:latin typeface="宋体" pitchFamily="2" charset="-122"/>
            </a:endParaRPr>
          </a:p>
        </p:txBody>
      </p:sp>
    </p:spTree>
    <p:extLst>
      <p:ext uri="{BB962C8B-B14F-4D97-AF65-F5344CB8AC3E}">
        <p14:creationId xmlns:p14="http://schemas.microsoft.com/office/powerpoint/2010/main" val="68742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ChangeArrowheads="1"/>
          </p:cNvSpPr>
          <p:nvPr/>
        </p:nvSpPr>
        <p:spPr bwMode="auto">
          <a:xfrm>
            <a:off x="827584" y="332656"/>
            <a:ext cx="8179240" cy="2012859"/>
          </a:xfrm>
          <a:prstGeom prst="rect">
            <a:avLst/>
          </a:prstGeom>
          <a:solidFill>
            <a:schemeClr val="bg1"/>
          </a:solidFill>
          <a:ln w="9525">
            <a:noFill/>
            <a:miter lim="800000"/>
            <a:headEnd/>
            <a:tailEnd/>
          </a:ln>
        </p:spPr>
        <p:txBody>
          <a:bodyPr wrap="square">
            <a:spAutoFit/>
          </a:bodyPr>
          <a:lstStyle/>
          <a:p>
            <a:pPr eaLnBrk="0" hangingPunct="0">
              <a:defRPr/>
            </a:pPr>
            <a:r>
              <a:rPr lang="zh-CN" altLang="en-US" sz="2400" b="0" dirty="0" smtClean="0">
                <a:solidFill>
                  <a:schemeClr val="tx1"/>
                </a:solidFill>
                <a:latin typeface="黑体" pitchFamily="49" charset="-122"/>
                <a:ea typeface="黑体" pitchFamily="49" charset="-122"/>
              </a:rPr>
              <a:t>某</a:t>
            </a:r>
            <a:r>
              <a:rPr lang="zh-CN" altLang="en-US" sz="2400" b="0" dirty="0">
                <a:solidFill>
                  <a:schemeClr val="tx1"/>
                </a:solidFill>
                <a:latin typeface="黑体" pitchFamily="49" charset="-122"/>
                <a:ea typeface="黑体" pitchFamily="49" charset="-122"/>
              </a:rPr>
              <a:t>处理机有两条独立的总线</a:t>
            </a:r>
            <a:r>
              <a:rPr lang="en-US" altLang="zh-CN" sz="2400" b="0" dirty="0">
                <a:solidFill>
                  <a:schemeClr val="tx1"/>
                </a:solidFill>
                <a:latin typeface="黑体" pitchFamily="49" charset="-122"/>
                <a:ea typeface="黑体" pitchFamily="49" charset="-122"/>
              </a:rPr>
              <a:t>BUS1</a:t>
            </a:r>
            <a:r>
              <a:rPr lang="zh-CN" altLang="en-US" sz="2400" b="0" dirty="0">
                <a:solidFill>
                  <a:schemeClr val="tx1"/>
                </a:solidFill>
                <a:latin typeface="黑体" pitchFamily="49" charset="-122"/>
                <a:ea typeface="黑体" pitchFamily="49" charset="-122"/>
              </a:rPr>
              <a:t>、</a:t>
            </a:r>
            <a:r>
              <a:rPr lang="en-US" altLang="zh-CN" sz="2400" b="0" dirty="0">
                <a:solidFill>
                  <a:schemeClr val="tx1"/>
                </a:solidFill>
                <a:latin typeface="黑体" pitchFamily="49" charset="-122"/>
                <a:ea typeface="黑体" pitchFamily="49" charset="-122"/>
              </a:rPr>
              <a:t>BUS2</a:t>
            </a:r>
            <a:r>
              <a:rPr lang="zh-CN" altLang="en-US" sz="2400" b="0" dirty="0">
                <a:solidFill>
                  <a:schemeClr val="tx1"/>
                </a:solidFill>
                <a:latin typeface="黑体" pitchFamily="49" charset="-122"/>
                <a:ea typeface="黑体" pitchFamily="49" charset="-122"/>
              </a:rPr>
              <a:t>，两个独立的存储器</a:t>
            </a:r>
            <a:r>
              <a:rPr lang="en-US" altLang="zh-CN" sz="2400" b="0" dirty="0">
                <a:solidFill>
                  <a:schemeClr val="tx1"/>
                </a:solidFill>
                <a:latin typeface="黑体" pitchFamily="49" charset="-122"/>
                <a:ea typeface="黑体" pitchFamily="49" charset="-122"/>
              </a:rPr>
              <a:t>IM</a:t>
            </a:r>
            <a:r>
              <a:rPr lang="zh-CN" altLang="en-US" sz="2400" b="0" dirty="0">
                <a:solidFill>
                  <a:schemeClr val="tx1"/>
                </a:solidFill>
                <a:latin typeface="黑体" pitchFamily="49" charset="-122"/>
                <a:ea typeface="黑体" pitchFamily="49" charset="-122"/>
              </a:rPr>
              <a:t>、</a:t>
            </a:r>
            <a:r>
              <a:rPr lang="en-US" altLang="zh-CN" sz="2400" b="0" dirty="0">
                <a:solidFill>
                  <a:schemeClr val="tx1"/>
                </a:solidFill>
                <a:latin typeface="黑体" pitchFamily="49" charset="-122"/>
                <a:ea typeface="黑体" pitchFamily="49" charset="-122"/>
              </a:rPr>
              <a:t>DM</a:t>
            </a:r>
            <a:r>
              <a:rPr lang="zh-CN" altLang="en-US" sz="2400" b="0" dirty="0" smtClean="0">
                <a:solidFill>
                  <a:schemeClr val="tx1"/>
                </a:solidFill>
                <a:latin typeface="黑体" pitchFamily="49" charset="-122"/>
                <a:ea typeface="黑体" pitchFamily="49" charset="-122"/>
              </a:rPr>
              <a:t>。</a:t>
            </a:r>
            <a:endParaRPr lang="en-US" altLang="zh-CN" sz="2400" b="0" dirty="0" smtClean="0">
              <a:solidFill>
                <a:schemeClr val="tx1"/>
              </a:solidFill>
              <a:latin typeface="黑体" pitchFamily="49" charset="-122"/>
              <a:ea typeface="黑体" pitchFamily="49" charset="-122"/>
            </a:endParaRPr>
          </a:p>
          <a:p>
            <a:pPr eaLnBrk="0" hangingPunct="0">
              <a:defRPr/>
            </a:pPr>
            <a:r>
              <a:rPr lang="zh-CN" altLang="en-US" sz="2400" b="0" dirty="0" smtClean="0">
                <a:solidFill>
                  <a:schemeClr val="tx1"/>
                </a:solidFill>
                <a:latin typeface="黑体" pitchFamily="49" charset="-122"/>
                <a:ea typeface="黑体" pitchFamily="49" charset="-122"/>
              </a:rPr>
              <a:t>① 图中哪些是相斥微操作信号？</a:t>
            </a:r>
          </a:p>
          <a:p>
            <a:pPr>
              <a:spcBef>
                <a:spcPct val="20000"/>
              </a:spcBef>
              <a:buClr>
                <a:schemeClr val="bg1"/>
              </a:buClr>
              <a:buSzPct val="70000"/>
              <a:defRPr/>
            </a:pPr>
            <a:r>
              <a:rPr lang="zh-CN" altLang="en-US" sz="2400" b="0" dirty="0" smtClean="0">
                <a:solidFill>
                  <a:schemeClr val="tx1"/>
                </a:solidFill>
                <a:latin typeface="黑体" pitchFamily="49" charset="-122"/>
                <a:ea typeface="黑体" pitchFamily="49" charset="-122"/>
              </a:rPr>
              <a:t>② 采用微程序控制方式，设计控制字段微指令格式，并列出各控制字段的编码表。</a:t>
            </a:r>
            <a:endParaRPr lang="zh-CN" altLang="en-US" sz="2400" b="0" dirty="0">
              <a:solidFill>
                <a:schemeClr val="tx1"/>
              </a:solidFill>
              <a:latin typeface="黑体" pitchFamily="49" charset="-122"/>
              <a:ea typeface="黑体" pitchFamily="49" charset="-122"/>
            </a:endParaRPr>
          </a:p>
        </p:txBody>
      </p:sp>
      <p:sp>
        <p:nvSpPr>
          <p:cNvPr id="4" name="矩形 3"/>
          <p:cNvSpPr/>
          <p:nvPr/>
        </p:nvSpPr>
        <p:spPr>
          <a:xfrm>
            <a:off x="194592" y="528604"/>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283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92" y="2492896"/>
            <a:ext cx="8753475" cy="276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612863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4"/>
          <p:cNvSpPr>
            <a:spLocks noChangeArrowheads="1"/>
          </p:cNvSpPr>
          <p:nvPr/>
        </p:nvSpPr>
        <p:spPr bwMode="auto">
          <a:xfrm>
            <a:off x="323528" y="3690282"/>
            <a:ext cx="7992888" cy="1877437"/>
          </a:xfrm>
          <a:prstGeom prst="rect">
            <a:avLst/>
          </a:prstGeom>
          <a:solidFill>
            <a:schemeClr val="bg1"/>
          </a:solidFill>
          <a:ln w="9525" algn="ctr">
            <a:noFill/>
            <a:miter lim="800000"/>
            <a:headEnd/>
            <a:tailEnd/>
          </a:ln>
        </p:spPr>
        <p:txBody>
          <a:bodyPr wrap="square" anchor="ctr">
            <a:spAutoFit/>
          </a:bodyPr>
          <a:lstStyle/>
          <a:p>
            <a:pPr>
              <a:spcBef>
                <a:spcPct val="20000"/>
              </a:spcBef>
              <a:buClr>
                <a:schemeClr val="bg1"/>
              </a:buClr>
              <a:buSzPct val="70000"/>
              <a:buFont typeface="Wingdings" pitchFamily="2" charset="2"/>
              <a:buNone/>
            </a:pPr>
            <a:r>
              <a:rPr lang="en-US" altLang="zh-CN" b="0" dirty="0">
                <a:solidFill>
                  <a:schemeClr val="tx1"/>
                </a:solidFill>
                <a:latin typeface="黑体" pitchFamily="49" charset="-122"/>
                <a:ea typeface="黑体" pitchFamily="49" charset="-122"/>
              </a:rPr>
              <a:t>① </a:t>
            </a:r>
            <a:r>
              <a:rPr lang="en-US" altLang="zh-CN" b="0" dirty="0" smtClean="0">
                <a:solidFill>
                  <a:schemeClr val="tx1"/>
                </a:solidFill>
                <a:latin typeface="黑体" pitchFamily="49" charset="-122"/>
                <a:ea typeface="黑体" pitchFamily="49" charset="-122"/>
              </a:rPr>
              <a:t> </a:t>
            </a:r>
            <a:r>
              <a:rPr lang="en-US" altLang="zh-CN" sz="2000" b="0" dirty="0" smtClean="0">
                <a:solidFill>
                  <a:schemeClr val="tx1"/>
                </a:solidFill>
                <a:latin typeface="黑体" pitchFamily="49" charset="-122"/>
                <a:ea typeface="黑体" pitchFamily="49" charset="-122"/>
              </a:rPr>
              <a:t>ALU</a:t>
            </a:r>
            <a:r>
              <a:rPr lang="zh-CN" altLang="en-US" sz="2000" b="0" dirty="0" smtClean="0">
                <a:solidFill>
                  <a:schemeClr val="tx1"/>
                </a:solidFill>
                <a:latin typeface="黑体" pitchFamily="49" charset="-122"/>
                <a:ea typeface="黑体" pitchFamily="49" charset="-122"/>
              </a:rPr>
              <a:t>操作：</a:t>
            </a:r>
            <a:r>
              <a:rPr lang="en-US" altLang="zh-CN" sz="2000" b="0" dirty="0" smtClean="0">
                <a:solidFill>
                  <a:schemeClr val="tx1"/>
                </a:solidFill>
                <a:latin typeface="黑体" pitchFamily="49" charset="-122"/>
                <a:ea typeface="黑体" pitchFamily="49" charset="-122"/>
              </a:rPr>
              <a:t>+,-</a:t>
            </a:r>
          </a:p>
          <a:p>
            <a:pPr>
              <a:spcBef>
                <a:spcPct val="20000"/>
              </a:spcBef>
              <a:buClr>
                <a:schemeClr val="bg1"/>
              </a:buClr>
              <a:buSzPct val="70000"/>
              <a:buFont typeface="Wingdings" pitchFamily="2" charset="2"/>
              <a:buNone/>
            </a:pPr>
            <a:r>
              <a:rPr lang="en-US" altLang="zh-CN" sz="2000" b="0" dirty="0">
                <a:solidFill>
                  <a:schemeClr val="tx1"/>
                </a:solidFill>
                <a:latin typeface="黑体" pitchFamily="49" charset="-122"/>
                <a:ea typeface="黑体" pitchFamily="49" charset="-122"/>
              </a:rPr>
              <a:t> </a:t>
            </a:r>
            <a:r>
              <a:rPr lang="en-US" altLang="zh-CN" sz="2000" b="0" dirty="0" smtClean="0">
                <a:solidFill>
                  <a:schemeClr val="tx1"/>
                </a:solidFill>
                <a:latin typeface="黑体" pitchFamily="49" charset="-122"/>
                <a:ea typeface="黑体" pitchFamily="49" charset="-122"/>
              </a:rPr>
              <a:t>   BUS1</a:t>
            </a:r>
            <a:r>
              <a:rPr lang="zh-CN" altLang="en-US" sz="2000" b="0" dirty="0" smtClean="0">
                <a:solidFill>
                  <a:schemeClr val="tx1"/>
                </a:solidFill>
                <a:latin typeface="黑体" pitchFamily="49" charset="-122"/>
                <a:ea typeface="黑体" pitchFamily="49" charset="-122"/>
              </a:rPr>
              <a:t>：</a:t>
            </a:r>
            <a:r>
              <a:rPr lang="en-US" altLang="zh-CN" sz="2000" b="0" dirty="0" smtClean="0">
                <a:solidFill>
                  <a:schemeClr val="tx1"/>
                </a:solidFill>
                <a:latin typeface="黑体" pitchFamily="49" charset="-122"/>
                <a:ea typeface="黑体" pitchFamily="49" charset="-122"/>
              </a:rPr>
              <a:t>C1,C2,C4,C3,C13,C8,C9,C7</a:t>
            </a:r>
          </a:p>
          <a:p>
            <a:pPr>
              <a:spcBef>
                <a:spcPct val="20000"/>
              </a:spcBef>
              <a:buClr>
                <a:schemeClr val="bg1"/>
              </a:buClr>
              <a:buSzPct val="70000"/>
              <a:buFont typeface="Wingdings" pitchFamily="2" charset="2"/>
              <a:buNone/>
            </a:pPr>
            <a:r>
              <a:rPr lang="en-US" altLang="zh-CN" sz="2000" b="0" dirty="0">
                <a:solidFill>
                  <a:schemeClr val="tx1"/>
                </a:solidFill>
                <a:latin typeface="黑体" pitchFamily="49" charset="-122"/>
                <a:ea typeface="黑体" pitchFamily="49" charset="-122"/>
              </a:rPr>
              <a:t> </a:t>
            </a:r>
            <a:r>
              <a:rPr lang="en-US" altLang="zh-CN" sz="2000" b="0" dirty="0" smtClean="0">
                <a:solidFill>
                  <a:schemeClr val="tx1"/>
                </a:solidFill>
                <a:latin typeface="黑体" pitchFamily="49" charset="-122"/>
                <a:ea typeface="黑体" pitchFamily="49" charset="-122"/>
              </a:rPr>
              <a:t>   BUS2</a:t>
            </a:r>
            <a:r>
              <a:rPr lang="zh-CN" altLang="en-US" sz="2000" b="0" dirty="0" smtClean="0">
                <a:solidFill>
                  <a:schemeClr val="tx1"/>
                </a:solidFill>
                <a:latin typeface="黑体" pitchFamily="49" charset="-122"/>
                <a:ea typeface="黑体" pitchFamily="49" charset="-122"/>
              </a:rPr>
              <a:t>：</a:t>
            </a:r>
            <a:r>
              <a:rPr lang="en-US" altLang="zh-CN" sz="2000" b="0" dirty="0" smtClean="0">
                <a:solidFill>
                  <a:schemeClr val="tx1"/>
                </a:solidFill>
                <a:latin typeface="黑体" pitchFamily="49" charset="-122"/>
                <a:ea typeface="黑体" pitchFamily="49" charset="-122"/>
              </a:rPr>
              <a:t>C6,C5,C12,C10,C11</a:t>
            </a:r>
            <a:endParaRPr lang="en-US" altLang="zh-CN" sz="2000" b="0" dirty="0">
              <a:solidFill>
                <a:schemeClr val="tx1"/>
              </a:solidFill>
              <a:latin typeface="黑体" pitchFamily="49" charset="-122"/>
              <a:ea typeface="黑体" pitchFamily="49" charset="-122"/>
            </a:endParaRPr>
          </a:p>
          <a:p>
            <a:pPr>
              <a:spcBef>
                <a:spcPct val="20000"/>
              </a:spcBef>
              <a:buClr>
                <a:schemeClr val="bg1"/>
              </a:buClr>
              <a:buSzPct val="70000"/>
              <a:buFont typeface="Wingdings" pitchFamily="2" charset="2"/>
              <a:buNone/>
            </a:pPr>
            <a:r>
              <a:rPr lang="en-US" altLang="zh-CN" sz="2000" b="0" dirty="0">
                <a:solidFill>
                  <a:schemeClr val="tx1"/>
                </a:solidFill>
                <a:latin typeface="黑体" pitchFamily="49" charset="-122"/>
                <a:ea typeface="黑体" pitchFamily="49" charset="-122"/>
              </a:rPr>
              <a:t>   </a:t>
            </a:r>
            <a:r>
              <a:rPr lang="en-US" altLang="zh-CN" sz="2000" b="0" dirty="0" smtClean="0">
                <a:solidFill>
                  <a:schemeClr val="tx1"/>
                </a:solidFill>
                <a:latin typeface="黑体" pitchFamily="49" charset="-122"/>
                <a:ea typeface="黑体" pitchFamily="49" charset="-122"/>
              </a:rPr>
              <a:t> </a:t>
            </a:r>
            <a:r>
              <a:rPr lang="zh-CN" altLang="en-US" sz="2000" b="0" dirty="0" smtClean="0">
                <a:solidFill>
                  <a:schemeClr val="tx1"/>
                </a:solidFill>
                <a:latin typeface="黑体" pitchFamily="49" charset="-122"/>
                <a:ea typeface="黑体" pitchFamily="49" charset="-122"/>
              </a:rPr>
              <a:t>寄存器输入：</a:t>
            </a:r>
            <a:r>
              <a:rPr lang="en-US" altLang="zh-CN" sz="2000" b="0" dirty="0" smtClean="0">
                <a:solidFill>
                  <a:schemeClr val="tx1"/>
                </a:solidFill>
                <a:latin typeface="黑体" pitchFamily="49" charset="-122"/>
                <a:ea typeface="黑体" pitchFamily="49" charset="-122"/>
              </a:rPr>
              <a:t>R1in,R2in,IARin,RD,IDRin,PCin,+</a:t>
            </a:r>
            <a:r>
              <a:rPr lang="en-US" altLang="zh-CN" sz="2000" b="0" dirty="0">
                <a:solidFill>
                  <a:schemeClr val="tx1"/>
                </a:solidFill>
                <a:latin typeface="黑体" pitchFamily="49" charset="-122"/>
                <a:ea typeface="黑体" pitchFamily="49" charset="-122"/>
              </a:rPr>
              <a:t>1,AC0in, </a:t>
            </a:r>
            <a:endParaRPr lang="en-US" altLang="zh-CN" sz="2000" b="0" dirty="0" smtClean="0">
              <a:solidFill>
                <a:schemeClr val="tx1"/>
              </a:solidFill>
              <a:latin typeface="黑体" pitchFamily="49" charset="-122"/>
              <a:ea typeface="黑体" pitchFamily="49" charset="-122"/>
            </a:endParaRPr>
          </a:p>
          <a:p>
            <a:pPr>
              <a:spcBef>
                <a:spcPct val="20000"/>
              </a:spcBef>
              <a:buClr>
                <a:schemeClr val="bg1"/>
              </a:buClr>
              <a:buSzPct val="70000"/>
              <a:buFont typeface="Wingdings" pitchFamily="2" charset="2"/>
              <a:buNone/>
            </a:pPr>
            <a:r>
              <a:rPr lang="en-US" altLang="zh-CN" sz="2000" b="0" dirty="0">
                <a:solidFill>
                  <a:schemeClr val="tx1"/>
                </a:solidFill>
                <a:latin typeface="黑体" pitchFamily="49" charset="-122"/>
                <a:ea typeface="黑体" pitchFamily="49" charset="-122"/>
              </a:rPr>
              <a:t> </a:t>
            </a:r>
            <a:r>
              <a:rPr lang="en-US" altLang="zh-CN" sz="2000" b="0" dirty="0" smtClean="0">
                <a:solidFill>
                  <a:schemeClr val="tx1"/>
                </a:solidFill>
                <a:latin typeface="黑体" pitchFamily="49" charset="-122"/>
                <a:ea typeface="黑体" pitchFamily="49" charset="-122"/>
              </a:rPr>
              <a:t>               IRin,AC1in,DARin,R/</a:t>
            </a:r>
            <a:r>
              <a:rPr lang="en-US" altLang="zh-CN" sz="2000" b="0" dirty="0" err="1" smtClean="0">
                <a:solidFill>
                  <a:schemeClr val="tx1"/>
                </a:solidFill>
                <a:latin typeface="黑体" pitchFamily="49" charset="-122"/>
                <a:ea typeface="黑体" pitchFamily="49" charset="-122"/>
              </a:rPr>
              <a:t>W,DDRin</a:t>
            </a:r>
            <a:endParaRPr lang="zh-CN" altLang="en-US" sz="2000" b="0" dirty="0">
              <a:solidFill>
                <a:schemeClr val="tx1"/>
              </a:solidFill>
              <a:latin typeface="黑体" pitchFamily="49" charset="-122"/>
              <a:ea typeface="黑体" pitchFamily="49" charset="-122"/>
            </a:endParaRPr>
          </a:p>
        </p:txBody>
      </p:sp>
      <p:pic>
        <p:nvPicPr>
          <p:cNvPr id="282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689" y="332656"/>
            <a:ext cx="8753475"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395285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7158" y="548680"/>
            <a:ext cx="8358246" cy="369332"/>
          </a:xfrm>
          <a:prstGeom prst="rect">
            <a:avLst/>
          </a:prstGeom>
        </p:spPr>
        <p:txBody>
          <a:bodyPr wrap="square">
            <a:spAutoFit/>
          </a:bodyPr>
          <a:lstStyle/>
          <a:p>
            <a:pPr>
              <a:defRPr/>
            </a:pPr>
            <a:r>
              <a:rPr lang="zh-CN" altLang="en-US" b="0" dirty="0" smtClean="0">
                <a:solidFill>
                  <a:schemeClr val="tx1"/>
                </a:solidFill>
                <a:latin typeface="黑体" pitchFamily="2" charset="-122"/>
                <a:ea typeface="黑体" pitchFamily="2" charset="-122"/>
              </a:rPr>
              <a:t>② 采用微程序控制方式，设计控制字段微指令格式，并列出各控制字段的编码表</a:t>
            </a:r>
            <a:endParaRPr lang="zh-CN" alt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196752"/>
            <a:ext cx="7296150" cy="3714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919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5"/>
          <p:cNvSpPr>
            <a:spLocks noGrp="1"/>
          </p:cNvSpPr>
          <p:nvPr>
            <p:ph type="sldNum" sz="quarter" idx="12"/>
          </p:nvPr>
        </p:nvSpPr>
        <p:spPr>
          <a:noFill/>
        </p:spPr>
        <p:txBody>
          <a:bodyPr/>
          <a:lstStyle/>
          <a:p>
            <a:fld id="{40BBDD76-DA72-429B-A709-0DB73DEDA3FF}" type="slidenum">
              <a:rPr lang="en-US" altLang="zh-CN" smtClean="0"/>
              <a:pPr/>
              <a:t>119</a:t>
            </a:fld>
            <a:endParaRPr lang="en-US" altLang="zh-CN" smtClean="0"/>
          </a:p>
        </p:txBody>
      </p:sp>
      <p:sp>
        <p:nvSpPr>
          <p:cNvPr id="118787" name="Rectangle 2"/>
          <p:cNvSpPr>
            <a:spLocks noGrp="1" noChangeArrowheads="1"/>
          </p:cNvSpPr>
          <p:nvPr>
            <p:ph type="body" idx="1"/>
          </p:nvPr>
        </p:nvSpPr>
        <p:spPr>
          <a:xfrm>
            <a:off x="250825" y="549275"/>
            <a:ext cx="8137525" cy="5472113"/>
          </a:xfrm>
        </p:spPr>
        <p:txBody>
          <a:bodyPr/>
          <a:lstStyle/>
          <a:p>
            <a:pPr algn="just" eaLnBrk="1" hangingPunct="1">
              <a:lnSpc>
                <a:spcPct val="90000"/>
              </a:lnSpc>
              <a:buFont typeface="Wingdings" pitchFamily="2" charset="2"/>
              <a:buNone/>
            </a:pPr>
            <a:r>
              <a:rPr lang="en-US" altLang="zh-CN" sz="3200" smtClean="0">
                <a:latin typeface="宋体" pitchFamily="2" charset="-122"/>
                <a:cs typeface="Times New Roman" pitchFamily="18" charset="0"/>
              </a:rPr>
              <a:t>4</a:t>
            </a:r>
            <a:r>
              <a:rPr lang="zh-CN" altLang="en-US" sz="3200" smtClean="0">
                <a:latin typeface="宋体" pitchFamily="2" charset="-122"/>
                <a:cs typeface="Times New Roman" pitchFamily="18" charset="0"/>
              </a:rPr>
              <a:t>、</a:t>
            </a:r>
            <a:r>
              <a:rPr lang="zh-CN" altLang="en-US" sz="3200" smtClean="0">
                <a:latin typeface="宋体" pitchFamily="2" charset="-122"/>
              </a:rPr>
              <a:t>动态微程序设计</a:t>
            </a:r>
          </a:p>
          <a:p>
            <a:pPr algn="just" eaLnBrk="1" hangingPunct="1">
              <a:lnSpc>
                <a:spcPct val="90000"/>
              </a:lnSpc>
              <a:buFont typeface="Wingdings" pitchFamily="2" charset="2"/>
              <a:buNone/>
            </a:pPr>
            <a:r>
              <a:rPr lang="zh-CN" altLang="en-US" sz="3200" smtClean="0">
                <a:latin typeface="宋体" pitchFamily="2" charset="-122"/>
              </a:rPr>
              <a:t>    微程序设计技术有静态微程序设计</a:t>
            </a:r>
          </a:p>
          <a:p>
            <a:pPr algn="just" eaLnBrk="1" hangingPunct="1">
              <a:lnSpc>
                <a:spcPct val="90000"/>
              </a:lnSpc>
              <a:buFont typeface="Wingdings" pitchFamily="2" charset="2"/>
              <a:buNone/>
            </a:pPr>
            <a:r>
              <a:rPr lang="zh-CN" altLang="en-US" sz="3200" smtClean="0">
                <a:latin typeface="宋体" pitchFamily="2" charset="-122"/>
              </a:rPr>
              <a:t>和动态微程序设计之分。 </a:t>
            </a:r>
            <a:endParaRPr lang="zh-CN" altLang="en-US" sz="3200" smtClean="0">
              <a:latin typeface="宋体" pitchFamily="2" charset="-122"/>
              <a:cs typeface="Times New Roman" pitchFamily="18" charset="0"/>
            </a:endParaRPr>
          </a:p>
          <a:p>
            <a:pPr lvl="1" algn="just" eaLnBrk="1" hangingPunct="1">
              <a:lnSpc>
                <a:spcPct val="90000"/>
              </a:lnSpc>
            </a:pPr>
            <a:r>
              <a:rPr lang="zh-CN" altLang="en-US" sz="3200" smtClean="0">
                <a:latin typeface="宋体" pitchFamily="2" charset="-122"/>
              </a:rPr>
              <a:t>对应于一台计算机的机器指令只有一组微程序，这一组微程序设计好之后，一般无须改变而且也不好改变，这种微程序设计技术称为静态微程序设计。</a:t>
            </a:r>
            <a:r>
              <a:rPr lang="zh-CN" altLang="en-US" sz="3200" smtClean="0">
                <a:latin typeface="宋体" pitchFamily="2" charset="-122"/>
                <a:cs typeface="Times New Roman" pitchFamily="18" charset="0"/>
              </a:rPr>
              <a:t> </a:t>
            </a:r>
          </a:p>
          <a:p>
            <a:pPr lvl="1" algn="just" eaLnBrk="1" hangingPunct="1">
              <a:lnSpc>
                <a:spcPct val="90000"/>
              </a:lnSpc>
            </a:pPr>
            <a:r>
              <a:rPr lang="zh-CN" altLang="en-US" sz="3200" smtClean="0">
                <a:latin typeface="宋体" pitchFamily="2" charset="-122"/>
              </a:rPr>
              <a:t>采用</a:t>
            </a:r>
            <a:r>
              <a:rPr lang="en-US" altLang="zh-CN" sz="3200" smtClean="0">
                <a:latin typeface="宋体" pitchFamily="2" charset="-122"/>
                <a:cs typeface="Times New Roman" pitchFamily="18" charset="0"/>
              </a:rPr>
              <a:t>E</a:t>
            </a:r>
            <a:r>
              <a:rPr lang="en-US" altLang="zh-CN" sz="3200" baseline="30000" smtClean="0">
                <a:latin typeface="宋体" pitchFamily="2" charset="-122"/>
                <a:cs typeface="Times New Roman" pitchFamily="18" charset="0"/>
              </a:rPr>
              <a:t>2</a:t>
            </a:r>
            <a:r>
              <a:rPr lang="en-US" altLang="zh-CN" sz="3200" smtClean="0">
                <a:latin typeface="宋体" pitchFamily="2" charset="-122"/>
                <a:cs typeface="Times New Roman" pitchFamily="18" charset="0"/>
              </a:rPr>
              <a:t>PROM</a:t>
            </a:r>
            <a:r>
              <a:rPr lang="zh-CN" altLang="en-US" sz="3200" smtClean="0">
                <a:latin typeface="宋体" pitchFamily="2" charset="-122"/>
              </a:rPr>
              <a:t>作为控制存储器，可以通过改变微指令和微程序来改变机器的指令系统，这种微程序设计技术称为动态微程序设计。</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a:spLocks noGrp="1"/>
          </p:cNvSpPr>
          <p:nvPr>
            <p:ph type="sldNum" sz="quarter" idx="12"/>
          </p:nvPr>
        </p:nvSpPr>
        <p:spPr>
          <a:noFill/>
        </p:spPr>
        <p:txBody>
          <a:bodyPr/>
          <a:lstStyle/>
          <a:p>
            <a:fld id="{6F347E65-6EA2-4939-85F0-0228A0864806}" type="slidenum">
              <a:rPr lang="en-US" altLang="zh-CN" smtClean="0"/>
              <a:pPr/>
              <a:t>120</a:t>
            </a:fld>
            <a:endParaRPr lang="en-US" altLang="zh-CN" smtClean="0"/>
          </a:p>
        </p:txBody>
      </p:sp>
      <p:sp>
        <p:nvSpPr>
          <p:cNvPr id="119811" name="Rectangle 2"/>
          <p:cNvSpPr>
            <a:spLocks noChangeArrowheads="1"/>
          </p:cNvSpPr>
          <p:nvPr/>
        </p:nvSpPr>
        <p:spPr bwMode="auto">
          <a:xfrm>
            <a:off x="468313" y="260350"/>
            <a:ext cx="5040312" cy="714375"/>
          </a:xfrm>
          <a:prstGeom prst="rect">
            <a:avLst/>
          </a:prstGeom>
          <a:noFill/>
          <a:ln w="9525">
            <a:noFill/>
            <a:miter lim="800000"/>
            <a:headEnd/>
            <a:tailEnd/>
          </a:ln>
        </p:spPr>
        <p:txBody>
          <a:bodyPr anchor="b"/>
          <a:lstStyle/>
          <a:p>
            <a:r>
              <a:rPr lang="en-US" altLang="zh-CN" sz="3900">
                <a:solidFill>
                  <a:schemeClr val="tx1"/>
                </a:solidFill>
                <a:cs typeface="Times New Roman" pitchFamily="18" charset="0"/>
              </a:rPr>
              <a:t>5</a:t>
            </a:r>
            <a:r>
              <a:rPr lang="en-US" altLang="zh-CN" sz="3900">
                <a:solidFill>
                  <a:schemeClr val="tx1"/>
                </a:solidFill>
              </a:rPr>
              <a:t>.5  </a:t>
            </a:r>
            <a:r>
              <a:rPr lang="zh-CN" altLang="en-US" sz="3900">
                <a:solidFill>
                  <a:schemeClr val="tx1"/>
                </a:solidFill>
              </a:rPr>
              <a:t>硬连线控制器</a:t>
            </a:r>
          </a:p>
        </p:txBody>
      </p:sp>
      <p:sp>
        <p:nvSpPr>
          <p:cNvPr id="119812" name="Rectangle 3"/>
          <p:cNvSpPr>
            <a:spLocks noChangeArrowheads="1"/>
          </p:cNvSpPr>
          <p:nvPr/>
        </p:nvSpPr>
        <p:spPr bwMode="auto">
          <a:xfrm>
            <a:off x="323850" y="1196975"/>
            <a:ext cx="7921625" cy="5111750"/>
          </a:xfrm>
          <a:prstGeom prst="rect">
            <a:avLst/>
          </a:prstGeom>
          <a:noFill/>
          <a:ln w="12700" cap="sq">
            <a:noFill/>
            <a:miter lim="800000"/>
            <a:headEnd type="none" w="sm" len="sm"/>
            <a:tailEnd type="none" w="sm" len="sm"/>
          </a:ln>
        </p:spPr>
        <p:txBody>
          <a:bodyPr tIns="0" bIns="0" anchor="ctr">
            <a:spAutoFit/>
          </a:bodyPr>
          <a:lstStyle/>
          <a:p>
            <a:r>
              <a:rPr lang="en-US" altLang="zh-CN" sz="2400">
                <a:solidFill>
                  <a:schemeClr val="tx1"/>
                </a:solidFill>
                <a:latin typeface="宋体" pitchFamily="2" charset="-122"/>
              </a:rPr>
              <a:t>1.</a:t>
            </a:r>
            <a:r>
              <a:rPr lang="zh-CN" altLang="en-US" sz="2400">
                <a:solidFill>
                  <a:schemeClr val="tx1"/>
                </a:solidFill>
                <a:latin typeface="宋体" pitchFamily="2" charset="-122"/>
              </a:rPr>
              <a:t>基本思想</a:t>
            </a:r>
          </a:p>
          <a:p>
            <a:r>
              <a:rPr lang="zh-CN" altLang="en-US" sz="2400" b="0">
                <a:solidFill>
                  <a:schemeClr val="tx1"/>
                </a:solidFill>
                <a:latin typeface="宋体" pitchFamily="2" charset="-122"/>
              </a:rPr>
              <a:t>　　硬连线控制器是早期设计计算机的一种方法。这种方法是把控制部件看作为产生专门固定时序控制信号的逻辑电路，而此逻辑电路以使用最少元件和取得最高操作速度为设计目标。一旦控制部件构成后，除非重新设计和物理上对它重新布线，否则要想增加新的控制功能是不可能的。这种逻辑电路是一种由门电路和触发器构成的复杂树形逻辑网络，故称之为</a:t>
            </a:r>
            <a:r>
              <a:rPr lang="zh-CN" altLang="en-US" sz="2400">
                <a:solidFill>
                  <a:schemeClr val="tx1"/>
                </a:solidFill>
                <a:latin typeface="宋体" pitchFamily="2" charset="-122"/>
              </a:rPr>
              <a:t>硬连线控制器</a:t>
            </a:r>
            <a:r>
              <a:rPr lang="zh-CN" altLang="en-US" sz="2400" b="0">
                <a:solidFill>
                  <a:schemeClr val="tx1"/>
                </a:solidFill>
                <a:latin typeface="宋体" pitchFamily="2" charset="-122"/>
              </a:rPr>
              <a:t>。</a:t>
            </a:r>
          </a:p>
          <a:p>
            <a:r>
              <a:rPr lang="zh-CN" altLang="en-US" sz="2400" b="0">
                <a:solidFill>
                  <a:schemeClr val="tx1"/>
                </a:solidFill>
                <a:latin typeface="宋体" pitchFamily="2" charset="-122"/>
              </a:rPr>
              <a:t>　　硬连线控制器是计算机中最复杂的逻辑部件。当执行不同的机器指令时通过激活一系列不同的控制信号来实现对指令的解释，使控制器没有明确的结构而是杂乱无章，很难调试，代价很大。因此，硬连线控制器被微程序控制器所取代。但随着计算机的发展和大规模集成电路</a:t>
            </a:r>
            <a:r>
              <a:rPr lang="en-US" altLang="zh-CN" sz="2400" b="0">
                <a:solidFill>
                  <a:schemeClr val="tx1"/>
                </a:solidFill>
                <a:latin typeface="宋体" pitchFamily="2" charset="-122"/>
              </a:rPr>
              <a:t>VLSI</a:t>
            </a:r>
            <a:r>
              <a:rPr lang="zh-CN" altLang="en-US" sz="2400" b="0">
                <a:solidFill>
                  <a:schemeClr val="tx1"/>
                </a:solidFill>
                <a:latin typeface="宋体" pitchFamily="2" charset="-122"/>
              </a:rPr>
              <a:t>技术发展，硬连线逻辑设计思想又得到重视。</a:t>
            </a:r>
            <a:endParaRPr lang="zh-CN" altLang="en-US" b="0">
              <a:solidFill>
                <a:schemeClr val="tx1"/>
              </a:solidFill>
            </a:endParaRPr>
          </a:p>
        </p:txBody>
      </p:sp>
      <p:sp>
        <p:nvSpPr>
          <p:cNvPr id="386052" name="AutoShape 4"/>
          <p:cNvSpPr>
            <a:spLocks noChangeArrowheads="1"/>
          </p:cNvSpPr>
          <p:nvPr/>
        </p:nvSpPr>
        <p:spPr bwMode="auto">
          <a:xfrm>
            <a:off x="323850" y="4221163"/>
            <a:ext cx="8424863" cy="2232025"/>
          </a:xfrm>
          <a:prstGeom prst="wedgeRectCallout">
            <a:avLst>
              <a:gd name="adj1" fmla="val 13778"/>
              <a:gd name="adj2" fmla="val -50281"/>
            </a:avLst>
          </a:prstGeom>
          <a:solidFill>
            <a:schemeClr val="accent1"/>
          </a:solidFill>
          <a:ln w="12700" cap="sq">
            <a:solidFill>
              <a:schemeClr val="tx1"/>
            </a:solidFill>
            <a:miter lim="800000"/>
            <a:headEnd type="none" w="sm" len="sm"/>
            <a:tailEnd type="none" w="sm" len="sm"/>
          </a:ln>
        </p:spPr>
        <p:txBody>
          <a:bodyPr/>
          <a:lstStyle/>
          <a:p>
            <a:r>
              <a:rPr lang="zh-CN" altLang="en-US" sz="2800" dirty="0">
                <a:solidFill>
                  <a:schemeClr val="tx1"/>
                </a:solidFill>
                <a:latin typeface="宋体" pitchFamily="2" charset="-122"/>
              </a:rPr>
              <a:t>实现方法</a:t>
            </a:r>
          </a:p>
          <a:p>
            <a:r>
              <a:rPr lang="zh-CN" altLang="en-US" sz="2800" b="0" dirty="0">
                <a:solidFill>
                  <a:schemeClr val="tx1"/>
                </a:solidFill>
                <a:latin typeface="宋体" pitchFamily="2" charset="-122"/>
              </a:rPr>
              <a:t>    通过逻辑电路直接连线而产生的，又称为组合逻辑控制方式。</a:t>
            </a:r>
          </a:p>
          <a:p>
            <a:r>
              <a:rPr lang="zh-CN" altLang="en-US" sz="2800" dirty="0">
                <a:solidFill>
                  <a:schemeClr val="tx1"/>
                </a:solidFill>
                <a:latin typeface="宋体" pitchFamily="2" charset="-122"/>
              </a:rPr>
              <a:t>设计目标</a:t>
            </a:r>
          </a:p>
          <a:p>
            <a:r>
              <a:rPr lang="zh-CN" altLang="en-US" sz="2800" b="0" dirty="0">
                <a:solidFill>
                  <a:schemeClr val="tx1"/>
                </a:solidFill>
                <a:latin typeface="宋体" pitchFamily="2" charset="-122"/>
              </a:rPr>
              <a:t>    使用最少元件（复杂的树形网络），速度最高。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6052"/>
                                        </p:tgtEl>
                                        <p:attrNameLst>
                                          <p:attrName>style.visibility</p:attrName>
                                        </p:attrNameLst>
                                      </p:cBhvr>
                                      <p:to>
                                        <p:strVal val="visible"/>
                                      </p:to>
                                    </p:set>
                                    <p:animEffect transition="in" filter="dissolve">
                                      <p:cBhvr>
                                        <p:cTn id="7" dur="5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animBg="1"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p:cNvSpPr>
            <a:spLocks noGrp="1"/>
          </p:cNvSpPr>
          <p:nvPr>
            <p:ph type="sldNum" sz="quarter" idx="12"/>
          </p:nvPr>
        </p:nvSpPr>
        <p:spPr>
          <a:noFill/>
        </p:spPr>
        <p:txBody>
          <a:bodyPr/>
          <a:lstStyle/>
          <a:p>
            <a:fld id="{B68518C1-4D42-4825-BB42-691C264751ED}" type="slidenum">
              <a:rPr lang="en-US" altLang="zh-CN" smtClean="0"/>
              <a:pPr/>
              <a:t>121</a:t>
            </a:fld>
            <a:endParaRPr lang="en-US" altLang="zh-CN" smtClean="0"/>
          </a:p>
        </p:txBody>
      </p:sp>
      <p:sp>
        <p:nvSpPr>
          <p:cNvPr id="120835" name="Rectangle 2"/>
          <p:cNvSpPr>
            <a:spLocks noChangeArrowheads="1"/>
          </p:cNvSpPr>
          <p:nvPr/>
        </p:nvSpPr>
        <p:spPr bwMode="auto">
          <a:xfrm>
            <a:off x="539750" y="274638"/>
            <a:ext cx="4095750" cy="519112"/>
          </a:xfrm>
          <a:prstGeom prst="rect">
            <a:avLst/>
          </a:prstGeom>
          <a:noFill/>
          <a:ln w="12700" cap="sq">
            <a:noFill/>
            <a:miter lim="800000"/>
            <a:headEnd type="none" w="sm" len="sm"/>
            <a:tailEnd type="none" w="sm" len="sm"/>
          </a:ln>
        </p:spPr>
        <p:txBody>
          <a:bodyPr wrap="none">
            <a:spAutoFit/>
          </a:bodyPr>
          <a:lstStyle/>
          <a:p>
            <a:r>
              <a:rPr lang="zh-CN" altLang="en-US" sz="2800" b="0">
                <a:solidFill>
                  <a:schemeClr val="tx1"/>
                </a:solidFill>
              </a:rPr>
              <a:t>硬连线控制器的结构如图</a:t>
            </a:r>
          </a:p>
        </p:txBody>
      </p:sp>
      <p:graphicFrame>
        <p:nvGraphicFramePr>
          <p:cNvPr id="120836" name="Object 3"/>
          <p:cNvGraphicFramePr>
            <a:graphicFrameLocks noChangeAspect="1"/>
          </p:cNvGraphicFramePr>
          <p:nvPr/>
        </p:nvGraphicFramePr>
        <p:xfrm>
          <a:off x="228600" y="914400"/>
          <a:ext cx="8763000" cy="5389563"/>
        </p:xfrm>
        <a:graphic>
          <a:graphicData uri="http://schemas.openxmlformats.org/presentationml/2006/ole">
            <mc:AlternateContent xmlns:mc="http://schemas.openxmlformats.org/markup-compatibility/2006">
              <mc:Choice xmlns:v="urn:schemas-microsoft-com:vml" Requires="v">
                <p:oleObj spid="_x0000_s121030" name="位图图像" r:id="rId3" imgW="7333333" imgH="4285714" progId="PBrush">
                  <p:embed/>
                </p:oleObj>
              </mc:Choice>
              <mc:Fallback>
                <p:oleObj name="位图图像" r:id="rId3" imgW="7333333" imgH="4285714" progId="PBrush">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914400"/>
                        <a:ext cx="8763000" cy="538956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5"/>
          <p:cNvSpPr>
            <a:spLocks noGrp="1"/>
          </p:cNvSpPr>
          <p:nvPr>
            <p:ph type="sldNum" sz="quarter" idx="12"/>
          </p:nvPr>
        </p:nvSpPr>
        <p:spPr>
          <a:noFill/>
        </p:spPr>
        <p:txBody>
          <a:bodyPr/>
          <a:lstStyle/>
          <a:p>
            <a:fld id="{3B81AA86-1BD5-4B14-B01B-5CD281016062}" type="slidenum">
              <a:rPr lang="en-US" altLang="zh-CN" smtClean="0"/>
              <a:pPr/>
              <a:t>122</a:t>
            </a:fld>
            <a:endParaRPr lang="en-US" altLang="zh-CN" smtClean="0"/>
          </a:p>
        </p:txBody>
      </p:sp>
      <p:sp>
        <p:nvSpPr>
          <p:cNvPr id="121859" name="Rectangle 2"/>
          <p:cNvSpPr>
            <a:spLocks noChangeArrowheads="1"/>
          </p:cNvSpPr>
          <p:nvPr/>
        </p:nvSpPr>
        <p:spPr bwMode="auto">
          <a:xfrm>
            <a:off x="323850" y="260350"/>
            <a:ext cx="8424863" cy="3081338"/>
          </a:xfrm>
          <a:prstGeom prst="rect">
            <a:avLst/>
          </a:prstGeom>
          <a:noFill/>
          <a:ln w="12700" cap="sq">
            <a:noFill/>
            <a:miter lim="800000"/>
            <a:headEnd type="none" w="sm" len="sm"/>
            <a:tailEnd type="none" w="sm" len="sm"/>
          </a:ln>
        </p:spPr>
        <p:txBody>
          <a:bodyPr>
            <a:spAutoFit/>
          </a:bodyPr>
          <a:lstStyle/>
          <a:p>
            <a:pPr eaLnBrk="0" hangingPunct="0"/>
            <a:r>
              <a:rPr lang="en-US" altLang="zh-CN" sz="2800">
                <a:solidFill>
                  <a:schemeClr val="tx1"/>
                </a:solidFill>
                <a:latin typeface="宋体" pitchFamily="2" charset="-122"/>
              </a:rPr>
              <a:t>2.</a:t>
            </a:r>
            <a:r>
              <a:rPr lang="zh-CN" altLang="en-US" sz="2800">
                <a:solidFill>
                  <a:schemeClr val="tx1"/>
                </a:solidFill>
                <a:latin typeface="宋体" pitchFamily="2" charset="-122"/>
              </a:rPr>
              <a:t>指令执行流程</a:t>
            </a:r>
          </a:p>
          <a:p>
            <a:pPr eaLnBrk="0" hangingPunct="0"/>
            <a:r>
              <a:rPr lang="zh-CN" altLang="en-US" sz="2800">
                <a:solidFill>
                  <a:schemeClr val="tx1"/>
                </a:solidFill>
                <a:latin typeface="宋体" pitchFamily="2" charset="-122"/>
              </a:rPr>
              <a:t>    </a:t>
            </a:r>
            <a:r>
              <a:rPr lang="zh-CN" altLang="en-US" sz="2800" b="0">
                <a:solidFill>
                  <a:schemeClr val="tx1"/>
                </a:solidFill>
                <a:latin typeface="宋体" pitchFamily="2" charset="-122"/>
              </a:rPr>
              <a:t>在用硬连线实现的操作控制器中，通常，</a:t>
            </a:r>
          </a:p>
          <a:p>
            <a:pPr eaLnBrk="0" hangingPunct="0"/>
            <a:r>
              <a:rPr lang="zh-CN" altLang="en-US" sz="2800" b="0">
                <a:solidFill>
                  <a:schemeClr val="tx1"/>
                </a:solidFill>
                <a:latin typeface="宋体" pitchFamily="2" charset="-122"/>
              </a:rPr>
              <a:t>时序产生器除了产生节拍脉冲信号外，还应当</a:t>
            </a:r>
          </a:p>
          <a:p>
            <a:pPr eaLnBrk="0" hangingPunct="0"/>
            <a:r>
              <a:rPr lang="zh-CN" altLang="en-US" sz="2800" b="0">
                <a:solidFill>
                  <a:schemeClr val="tx1"/>
                </a:solidFill>
                <a:latin typeface="宋体" pitchFamily="2" charset="-122"/>
              </a:rPr>
              <a:t>产生</a:t>
            </a:r>
            <a:r>
              <a:rPr lang="zh-CN" altLang="en-US" sz="2800">
                <a:solidFill>
                  <a:srgbClr val="FF0000"/>
                </a:solidFill>
                <a:latin typeface="宋体" pitchFamily="2" charset="-122"/>
              </a:rPr>
              <a:t>节拍电位</a:t>
            </a:r>
            <a:r>
              <a:rPr lang="zh-CN" altLang="en-US" sz="2800" b="0">
                <a:solidFill>
                  <a:schemeClr val="tx1"/>
                </a:solidFill>
                <a:latin typeface="宋体" pitchFamily="2" charset="-122"/>
              </a:rPr>
              <a:t>信号。因为在一个指令周期中要顺序执行一系列微操作，需要设置若干节拍电位来定时。例如前面提到的五条指令的指令周期，其指令流程可用下图来表示。</a:t>
            </a:r>
          </a:p>
        </p:txBody>
      </p:sp>
      <p:sp>
        <p:nvSpPr>
          <p:cNvPr id="388099" name="AutoShape 3"/>
          <p:cNvSpPr>
            <a:spLocks noChangeArrowheads="1"/>
          </p:cNvSpPr>
          <p:nvPr/>
        </p:nvSpPr>
        <p:spPr bwMode="auto">
          <a:xfrm>
            <a:off x="179388" y="476250"/>
            <a:ext cx="8785225" cy="2735263"/>
          </a:xfrm>
          <a:prstGeom prst="wedgeRectCallout">
            <a:avLst>
              <a:gd name="adj1" fmla="val 24287"/>
              <a:gd name="adj2" fmla="val 53542"/>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itchFamily="2" charset="-122"/>
              </a:rPr>
              <a:t>    M1</a:t>
            </a:r>
            <a:r>
              <a:rPr lang="zh-CN" altLang="en-US" sz="2400" b="0">
                <a:solidFill>
                  <a:schemeClr val="tx1"/>
                </a:solidFill>
                <a:latin typeface="宋体" pitchFamily="2" charset="-122"/>
              </a:rPr>
              <a:t>、</a:t>
            </a:r>
            <a:r>
              <a:rPr lang="en-US" altLang="zh-CN" sz="2400" b="0">
                <a:solidFill>
                  <a:schemeClr val="tx1"/>
                </a:solidFill>
                <a:latin typeface="宋体" pitchFamily="2" charset="-122"/>
              </a:rPr>
              <a:t>M2</a:t>
            </a:r>
            <a:r>
              <a:rPr lang="zh-CN" altLang="en-US" sz="2400" b="0">
                <a:solidFill>
                  <a:schemeClr val="tx1"/>
                </a:solidFill>
                <a:latin typeface="宋体" pitchFamily="2" charset="-122"/>
              </a:rPr>
              <a:t>、</a:t>
            </a:r>
            <a:r>
              <a:rPr lang="en-US" altLang="zh-CN" sz="2400" b="0">
                <a:solidFill>
                  <a:schemeClr val="tx1"/>
                </a:solidFill>
                <a:latin typeface="宋体" pitchFamily="2" charset="-122"/>
              </a:rPr>
              <a:t>M3</a:t>
            </a:r>
            <a:r>
              <a:rPr lang="zh-CN" altLang="en-US" sz="2400" b="0">
                <a:solidFill>
                  <a:schemeClr val="tx1"/>
                </a:solidFill>
                <a:latin typeface="宋体" pitchFamily="2" charset="-122"/>
              </a:rPr>
              <a:t>为三个节拍电位信号，用于定时。取指阶段放在</a:t>
            </a:r>
            <a:r>
              <a:rPr lang="en-US" altLang="zh-CN" sz="2400" b="0">
                <a:solidFill>
                  <a:schemeClr val="tx1"/>
                </a:solidFill>
                <a:latin typeface="宋体" pitchFamily="2" charset="-122"/>
              </a:rPr>
              <a:t>M1</a:t>
            </a:r>
            <a:r>
              <a:rPr lang="zh-CN" altLang="en-US" sz="2400" b="0">
                <a:solidFill>
                  <a:schemeClr val="tx1"/>
                </a:solidFill>
                <a:latin typeface="宋体" pitchFamily="2" charset="-122"/>
              </a:rPr>
              <a:t>节拍。指令的执行阶段由</a:t>
            </a:r>
            <a:r>
              <a:rPr lang="en-US" altLang="zh-CN" sz="2400" b="0">
                <a:solidFill>
                  <a:schemeClr val="tx1"/>
                </a:solidFill>
                <a:latin typeface="宋体" pitchFamily="2" charset="-122"/>
              </a:rPr>
              <a:t>M2</a:t>
            </a:r>
            <a:r>
              <a:rPr lang="zh-CN" altLang="en-US" sz="2400" b="0">
                <a:solidFill>
                  <a:schemeClr val="tx1"/>
                </a:solidFill>
                <a:latin typeface="宋体" pitchFamily="2" charset="-122"/>
              </a:rPr>
              <a:t>，</a:t>
            </a:r>
            <a:r>
              <a:rPr lang="en-US" altLang="zh-CN" sz="2400" b="0">
                <a:solidFill>
                  <a:schemeClr val="tx1"/>
                </a:solidFill>
                <a:latin typeface="宋体" pitchFamily="2" charset="-122"/>
              </a:rPr>
              <a:t>M3</a:t>
            </a:r>
            <a:r>
              <a:rPr lang="zh-CN" altLang="en-US" sz="2400" b="0">
                <a:solidFill>
                  <a:schemeClr val="tx1"/>
                </a:solidFill>
                <a:latin typeface="宋体" pitchFamily="2" charset="-122"/>
              </a:rPr>
              <a:t>二个节拍来完成。</a:t>
            </a:r>
            <a:br>
              <a:rPr lang="zh-CN" altLang="en-US" sz="2400" b="0">
                <a:solidFill>
                  <a:schemeClr val="tx1"/>
                </a:solidFill>
                <a:latin typeface="宋体" pitchFamily="2" charset="-122"/>
              </a:rPr>
            </a:br>
            <a:r>
              <a:rPr lang="en-US" altLang="zh-CN" sz="2400" b="0">
                <a:solidFill>
                  <a:schemeClr val="tx1"/>
                </a:solidFill>
                <a:latin typeface="宋体" pitchFamily="2" charset="-122"/>
              </a:rPr>
              <a:t>MOV</a:t>
            </a:r>
            <a:r>
              <a:rPr lang="zh-CN" altLang="en-US" sz="2400" b="0">
                <a:solidFill>
                  <a:schemeClr val="tx1"/>
                </a:solidFill>
                <a:latin typeface="宋体" pitchFamily="2" charset="-122"/>
              </a:rPr>
              <a:t>、</a:t>
            </a:r>
            <a:r>
              <a:rPr lang="en-US" altLang="zh-CN" sz="2400" b="0">
                <a:solidFill>
                  <a:schemeClr val="tx1"/>
                </a:solidFill>
                <a:latin typeface="宋体" pitchFamily="2" charset="-122"/>
              </a:rPr>
              <a:t>ADD</a:t>
            </a:r>
            <a:r>
              <a:rPr lang="zh-CN" altLang="en-US" sz="2400" b="0">
                <a:solidFill>
                  <a:schemeClr val="tx1"/>
                </a:solidFill>
                <a:latin typeface="宋体" pitchFamily="2" charset="-122"/>
              </a:rPr>
              <a:t>和</a:t>
            </a:r>
            <a:r>
              <a:rPr lang="en-US" altLang="zh-CN" sz="2400" b="0">
                <a:solidFill>
                  <a:schemeClr val="tx1"/>
                </a:solidFill>
                <a:latin typeface="宋体" pitchFamily="2" charset="-122"/>
              </a:rPr>
              <a:t>JMP</a:t>
            </a:r>
            <a:r>
              <a:rPr lang="zh-CN" altLang="en-US" sz="2400" b="0">
                <a:solidFill>
                  <a:schemeClr val="tx1"/>
                </a:solidFill>
                <a:latin typeface="宋体" pitchFamily="2" charset="-122"/>
              </a:rPr>
              <a:t>指令只需一个节拍</a:t>
            </a:r>
            <a:r>
              <a:rPr lang="en-US" altLang="zh-CN" sz="2400" b="0">
                <a:solidFill>
                  <a:schemeClr val="tx1"/>
                </a:solidFill>
                <a:latin typeface="宋体" pitchFamily="2" charset="-122"/>
              </a:rPr>
              <a:t>(M2)</a:t>
            </a:r>
            <a:r>
              <a:rPr lang="zh-CN" altLang="en-US" sz="2400" b="0">
                <a:solidFill>
                  <a:schemeClr val="tx1"/>
                </a:solidFill>
                <a:latin typeface="宋体" pitchFamily="2" charset="-122"/>
              </a:rPr>
              <a:t>即可完成。</a:t>
            </a:r>
            <a:r>
              <a:rPr lang="en-US" altLang="zh-CN" sz="2400" b="0">
                <a:solidFill>
                  <a:schemeClr val="tx1"/>
                </a:solidFill>
                <a:latin typeface="宋体" pitchFamily="2" charset="-122"/>
              </a:rPr>
              <a:t>LAD</a:t>
            </a:r>
            <a:r>
              <a:rPr lang="zh-CN" altLang="en-US" sz="2400" b="0">
                <a:solidFill>
                  <a:schemeClr val="tx1"/>
                </a:solidFill>
                <a:latin typeface="宋体" pitchFamily="2" charset="-122"/>
              </a:rPr>
              <a:t>和</a:t>
            </a:r>
            <a:r>
              <a:rPr lang="en-US" altLang="zh-CN" sz="2400" b="0">
                <a:solidFill>
                  <a:schemeClr val="tx1"/>
                </a:solidFill>
                <a:latin typeface="宋体" pitchFamily="2" charset="-122"/>
              </a:rPr>
              <a:t>STO</a:t>
            </a:r>
            <a:r>
              <a:rPr lang="zh-CN" altLang="en-US" sz="2400" b="0">
                <a:solidFill>
                  <a:schemeClr val="tx1"/>
                </a:solidFill>
                <a:latin typeface="宋体" pitchFamily="2" charset="-122"/>
              </a:rPr>
              <a:t>需二个节拍</a:t>
            </a:r>
            <a:r>
              <a:rPr lang="en-US" altLang="zh-CN" sz="2400" b="0">
                <a:solidFill>
                  <a:schemeClr val="tx1"/>
                </a:solidFill>
                <a:latin typeface="宋体" pitchFamily="2" charset="-122"/>
              </a:rPr>
              <a:t>(M2</a:t>
            </a:r>
            <a:r>
              <a:rPr lang="zh-CN" altLang="en-US" sz="2400" b="0">
                <a:solidFill>
                  <a:schemeClr val="tx1"/>
                </a:solidFill>
                <a:latin typeface="宋体" pitchFamily="2" charset="-122"/>
              </a:rPr>
              <a:t>、</a:t>
            </a:r>
            <a:r>
              <a:rPr lang="en-US" altLang="zh-CN" sz="2400" b="0">
                <a:solidFill>
                  <a:schemeClr val="tx1"/>
                </a:solidFill>
                <a:latin typeface="宋体" pitchFamily="2" charset="-122"/>
              </a:rPr>
              <a:t>M3)</a:t>
            </a:r>
            <a:r>
              <a:rPr lang="zh-CN" altLang="en-US" sz="2400" b="0">
                <a:solidFill>
                  <a:schemeClr val="tx1"/>
                </a:solidFill>
                <a:latin typeface="宋体" pitchFamily="2" charset="-122"/>
              </a:rPr>
              <a:t>。为了简化节拍控制，指令的执行过程可采用同步工作方式，即各指令的执行阶段按最长节拍数来考虑，执行阶段需三个节拍。这样对</a:t>
            </a:r>
            <a:r>
              <a:rPr lang="en-US" altLang="zh-CN" sz="2400" b="0">
                <a:solidFill>
                  <a:schemeClr val="tx1"/>
                </a:solidFill>
                <a:latin typeface="宋体" pitchFamily="2" charset="-122"/>
              </a:rPr>
              <a:t>MOV</a:t>
            </a:r>
            <a:r>
              <a:rPr lang="zh-CN" altLang="en-US" sz="2400" b="0">
                <a:solidFill>
                  <a:schemeClr val="tx1"/>
                </a:solidFill>
                <a:latin typeface="宋体" pitchFamily="2" charset="-122"/>
              </a:rPr>
              <a:t>、</a:t>
            </a:r>
            <a:r>
              <a:rPr lang="en-US" altLang="zh-CN" sz="2400" b="0">
                <a:solidFill>
                  <a:schemeClr val="tx1"/>
                </a:solidFill>
                <a:latin typeface="宋体" pitchFamily="2" charset="-122"/>
              </a:rPr>
              <a:t>ADD</a:t>
            </a:r>
            <a:r>
              <a:rPr lang="zh-CN" altLang="en-US" sz="2400" b="0">
                <a:solidFill>
                  <a:schemeClr val="tx1"/>
                </a:solidFill>
                <a:latin typeface="宋体" pitchFamily="2" charset="-122"/>
              </a:rPr>
              <a:t>、</a:t>
            </a:r>
            <a:r>
              <a:rPr lang="en-US" altLang="zh-CN" sz="2400" b="0">
                <a:solidFill>
                  <a:schemeClr val="tx1"/>
                </a:solidFill>
                <a:latin typeface="宋体" pitchFamily="2" charset="-122"/>
              </a:rPr>
              <a:t>JMP</a:t>
            </a:r>
            <a:r>
              <a:rPr lang="zh-CN" altLang="en-US" sz="2400" b="0">
                <a:solidFill>
                  <a:schemeClr val="tx1"/>
                </a:solidFill>
                <a:latin typeface="宋体" pitchFamily="2" charset="-122"/>
              </a:rPr>
              <a:t>指令来讲，</a:t>
            </a:r>
            <a:r>
              <a:rPr lang="en-US" altLang="zh-CN" sz="2400" b="0">
                <a:solidFill>
                  <a:schemeClr val="tx1"/>
                </a:solidFill>
                <a:latin typeface="宋体" pitchFamily="2" charset="-122"/>
              </a:rPr>
              <a:t>M3</a:t>
            </a:r>
            <a:r>
              <a:rPr lang="zh-CN" altLang="en-US" sz="2400" b="0">
                <a:solidFill>
                  <a:schemeClr val="tx1"/>
                </a:solidFill>
                <a:latin typeface="宋体" pitchFamily="2" charset="-122"/>
              </a:rPr>
              <a:t>节拍中没有什么操作。 </a:t>
            </a:r>
          </a:p>
        </p:txBody>
      </p:sp>
      <p:sp>
        <p:nvSpPr>
          <p:cNvPr id="388100" name="AutoShape 4"/>
          <p:cNvSpPr>
            <a:spLocks noChangeArrowheads="1"/>
          </p:cNvSpPr>
          <p:nvPr/>
        </p:nvSpPr>
        <p:spPr bwMode="auto">
          <a:xfrm>
            <a:off x="179388" y="981075"/>
            <a:ext cx="8605837" cy="2089150"/>
          </a:xfrm>
          <a:prstGeom prst="wedgeRectCallout">
            <a:avLst>
              <a:gd name="adj1" fmla="val 18014"/>
              <a:gd name="adj2" fmla="val 57370"/>
            </a:avLst>
          </a:prstGeom>
          <a:solidFill>
            <a:schemeClr val="accent1"/>
          </a:solidFill>
          <a:ln w="12700" cap="sq">
            <a:solidFill>
              <a:schemeClr val="tx1"/>
            </a:solidFill>
            <a:miter lim="800000"/>
            <a:headEnd type="none" w="sm" len="sm"/>
            <a:tailEnd type="none" w="sm" len="sm"/>
          </a:ln>
        </p:spPr>
        <p:txBody>
          <a:bodyPr/>
          <a:lstStyle/>
          <a:p>
            <a:r>
              <a:rPr lang="en-US" altLang="zh-CN" sz="2400" b="0">
                <a:solidFill>
                  <a:schemeClr val="tx1"/>
                </a:solidFill>
                <a:latin typeface="宋体" pitchFamily="2" charset="-122"/>
              </a:rPr>
              <a:t>    </a:t>
            </a:r>
            <a:r>
              <a:rPr lang="zh-CN" altLang="en-US" sz="2400" b="0">
                <a:solidFill>
                  <a:schemeClr val="tx1"/>
                </a:solidFill>
                <a:latin typeface="宋体" pitchFamily="2" charset="-122"/>
              </a:rPr>
              <a:t>由于采用同步工作方式，长指令和短指令对节拍时间的利用都是一样的。这对短指令来讲，在时间的利用上是浪费的，因而也降低了</a:t>
            </a:r>
            <a:r>
              <a:rPr lang="en-US" altLang="zh-CN" sz="2400" b="0">
                <a:solidFill>
                  <a:schemeClr val="tx1"/>
                </a:solidFill>
                <a:latin typeface="宋体" pitchFamily="2" charset="-122"/>
              </a:rPr>
              <a:t>CPU</a:t>
            </a:r>
            <a:r>
              <a:rPr lang="zh-CN" altLang="en-US" sz="2400" b="0">
                <a:solidFill>
                  <a:schemeClr val="tx1"/>
                </a:solidFill>
                <a:latin typeface="宋体" pitchFamily="2" charset="-122"/>
              </a:rPr>
              <a:t>的指令执行速度，影响到机器的速度指标。为了改变这种情况，在设计短指令流程时可以跳过某些节拍。当然在这种情况下，节拍信号发生器的电路相应就要复杂一些。</a:t>
            </a:r>
          </a:p>
        </p:txBody>
      </p:sp>
      <p:pic>
        <p:nvPicPr>
          <p:cNvPr id="121862" name="Picture 5"/>
          <p:cNvPicPr>
            <a:picLocks noChangeAspect="1" noChangeArrowheads="1"/>
          </p:cNvPicPr>
          <p:nvPr/>
        </p:nvPicPr>
        <p:blipFill>
          <a:blip r:embed="rId2"/>
          <a:srcRect/>
          <a:stretch>
            <a:fillRect/>
          </a:stretch>
        </p:blipFill>
        <p:spPr bwMode="auto">
          <a:xfrm>
            <a:off x="250825" y="3284538"/>
            <a:ext cx="8066088" cy="3384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8099"/>
                                        </p:tgtEl>
                                        <p:attrNameLst>
                                          <p:attrName>style.visibility</p:attrName>
                                        </p:attrNameLst>
                                      </p:cBhvr>
                                      <p:to>
                                        <p:strVal val="visible"/>
                                      </p:to>
                                    </p:set>
                                    <p:animEffect transition="in" filter="dissolve">
                                      <p:cBhvr>
                                        <p:cTn id="7" dur="500"/>
                                        <p:tgtEl>
                                          <p:spTgt spid="388099"/>
                                        </p:tgtEl>
                                      </p:cBhvr>
                                    </p:animEffect>
                                  </p:childTnLst>
                                  <p:subTnLst>
                                    <p:set>
                                      <p:cBhvr override="childStyle">
                                        <p:cTn dur="1" fill="hold" display="0" masterRel="nextClick" afterEffect="1"/>
                                        <p:tgtEl>
                                          <p:spTgt spid="388099"/>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8100"/>
                                        </p:tgtEl>
                                        <p:attrNameLst>
                                          <p:attrName>style.visibility</p:attrName>
                                        </p:attrNameLst>
                                      </p:cBhvr>
                                      <p:to>
                                        <p:strVal val="visible"/>
                                      </p:to>
                                    </p:set>
                                    <p:animEffect transition="in" filter="dissolve">
                                      <p:cBhvr>
                                        <p:cTn id="12" dur="500"/>
                                        <p:tgtEl>
                                          <p:spTgt spid="388100"/>
                                        </p:tgtEl>
                                      </p:cBhvr>
                                    </p:animEffect>
                                  </p:childTnLst>
                                  <p:subTnLst>
                                    <p:set>
                                      <p:cBhvr override="childStyle">
                                        <p:cTn dur="1" fill="hold" display="0" masterRel="nextClick" afterEffect="1"/>
                                        <p:tgtEl>
                                          <p:spTgt spid="3881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animBg="1" autoUpdateAnimBg="0"/>
      <p:bldP spid="388100" grpId="0" animBg="1"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p:cNvSpPr>
            <a:spLocks noGrp="1"/>
          </p:cNvSpPr>
          <p:nvPr>
            <p:ph type="sldNum" sz="quarter" idx="12"/>
          </p:nvPr>
        </p:nvSpPr>
        <p:spPr>
          <a:noFill/>
        </p:spPr>
        <p:txBody>
          <a:bodyPr/>
          <a:lstStyle/>
          <a:p>
            <a:fld id="{9F19EF2D-48C2-4B60-ACBD-FE473A8B5863}" type="slidenum">
              <a:rPr lang="en-US" altLang="zh-CN" smtClean="0"/>
              <a:pPr/>
              <a:t>123</a:t>
            </a:fld>
            <a:endParaRPr lang="en-US" altLang="zh-CN" smtClean="0"/>
          </a:p>
        </p:txBody>
      </p:sp>
      <p:sp>
        <p:nvSpPr>
          <p:cNvPr id="122883" name="Rectangle 2"/>
          <p:cNvSpPr>
            <a:spLocks noChangeArrowheads="1"/>
          </p:cNvSpPr>
          <p:nvPr/>
        </p:nvSpPr>
        <p:spPr bwMode="auto">
          <a:xfrm>
            <a:off x="250825" y="188913"/>
            <a:ext cx="7632700" cy="2135187"/>
          </a:xfrm>
          <a:prstGeom prst="rect">
            <a:avLst/>
          </a:prstGeom>
          <a:noFill/>
          <a:ln w="12700" cap="sq">
            <a:noFill/>
            <a:miter lim="800000"/>
            <a:headEnd type="none" w="sm" len="sm"/>
            <a:tailEnd type="none" w="sm" len="sm"/>
          </a:ln>
        </p:spPr>
        <p:txBody>
          <a:bodyPr tIns="0" bIns="0" anchor="ctr">
            <a:spAutoFit/>
          </a:bodyPr>
          <a:lstStyle/>
          <a:p>
            <a:r>
              <a:rPr lang="en-US" altLang="zh-CN" sz="2800" b="0">
                <a:solidFill>
                  <a:schemeClr val="tx1"/>
                </a:solidFill>
                <a:latin typeface="宋体" pitchFamily="2" charset="-122"/>
              </a:rPr>
              <a:t>3.</a:t>
            </a:r>
            <a:r>
              <a:rPr lang="zh-CN" altLang="en-US" sz="2800" b="0">
                <a:solidFill>
                  <a:schemeClr val="tx1"/>
                </a:solidFill>
                <a:latin typeface="宋体" pitchFamily="2" charset="-122"/>
              </a:rPr>
              <a:t>微操作控制信号的产生</a:t>
            </a:r>
          </a:p>
          <a:p>
            <a:r>
              <a:rPr lang="zh-CN" altLang="en-US" sz="2800" b="0">
                <a:solidFill>
                  <a:schemeClr val="tx1"/>
                </a:solidFill>
                <a:latin typeface="宋体" pitchFamily="2" charset="-122"/>
              </a:rPr>
              <a:t>　　在微程序控制器中，微操作控制信号由微指令产生，并且可以重复使用。</a:t>
            </a:r>
          </a:p>
          <a:p>
            <a:r>
              <a:rPr lang="zh-CN" altLang="en-US" sz="2800" b="0">
                <a:solidFill>
                  <a:schemeClr val="tx1"/>
                </a:solidFill>
                <a:latin typeface="宋体" pitchFamily="2" charset="-122"/>
              </a:rPr>
              <a:t>    在硬连线控制器中，某一微操作控制信号由布尔代数表达式描述的输出函数产生。　　</a:t>
            </a:r>
          </a:p>
        </p:txBody>
      </p:sp>
      <p:sp>
        <p:nvSpPr>
          <p:cNvPr id="122884" name="Rectangle 3"/>
          <p:cNvSpPr>
            <a:spLocks noChangeArrowheads="1"/>
          </p:cNvSpPr>
          <p:nvPr/>
        </p:nvSpPr>
        <p:spPr bwMode="auto">
          <a:xfrm>
            <a:off x="250825" y="2349500"/>
            <a:ext cx="8351838" cy="3935413"/>
          </a:xfrm>
          <a:prstGeom prst="rect">
            <a:avLst/>
          </a:prstGeom>
          <a:noFill/>
          <a:ln w="12700" cap="sq">
            <a:noFill/>
            <a:miter lim="800000"/>
            <a:headEnd type="none" w="sm" len="sm"/>
            <a:tailEnd type="none" w="sm" len="sm"/>
          </a:ln>
        </p:spPr>
        <p:txBody>
          <a:bodyPr>
            <a:spAutoFit/>
          </a:bodyPr>
          <a:lstStyle/>
          <a:p>
            <a:r>
              <a:rPr lang="en-US" altLang="zh-CN" sz="2800" b="0" dirty="0">
                <a:solidFill>
                  <a:schemeClr val="tx1"/>
                </a:solidFill>
                <a:latin typeface="宋体" pitchFamily="2" charset="-122"/>
              </a:rPr>
              <a:t>    </a:t>
            </a:r>
            <a:r>
              <a:rPr lang="zh-CN" altLang="en-US" sz="2800" b="0" dirty="0">
                <a:solidFill>
                  <a:schemeClr val="tx1"/>
                </a:solidFill>
                <a:latin typeface="宋体" pitchFamily="2" charset="-122"/>
              </a:rPr>
              <a:t>设计微操作控制信号的方法和过程是根据所有机器指令流程图，寻找出产生同一个微操作信号的所有条件，并与适当的节拍电位和节拍脉冲组合，从而写出其布尔代数表达式并进行简化，然后用门电路或可编程器件来实现。</a:t>
            </a:r>
          </a:p>
          <a:p>
            <a:r>
              <a:rPr lang="zh-CN" altLang="en-US" sz="2800" b="0" dirty="0">
                <a:solidFill>
                  <a:schemeClr val="tx1"/>
                </a:solidFill>
                <a:latin typeface="宋体" pitchFamily="2" charset="-122"/>
              </a:rPr>
              <a:t>    为了防止遗漏，设计时可按信号出现在指令流程图中的先后次序书写，然后进行归纳和简化。要特别注意控制信号是电位有效还是脉冲有效，如果是脉冲有效，必须加入节拍脉冲信号进行相“与”。 </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D67AC6CA-CD47-4634-B606-7F1F8066FF35}" type="slidenum">
              <a:rPr lang="en-US" altLang="zh-CN" smtClean="0"/>
              <a:pPr/>
              <a:t>124</a:t>
            </a:fld>
            <a:endParaRPr lang="en-US" altLang="zh-CN" smtClean="0"/>
          </a:p>
        </p:txBody>
      </p:sp>
      <p:sp>
        <p:nvSpPr>
          <p:cNvPr id="123907" name="Rectangle 2"/>
          <p:cNvSpPr>
            <a:spLocks noChangeArrowheads="1"/>
          </p:cNvSpPr>
          <p:nvPr/>
        </p:nvSpPr>
        <p:spPr bwMode="auto">
          <a:xfrm>
            <a:off x="152400" y="152400"/>
            <a:ext cx="8839200" cy="6481763"/>
          </a:xfrm>
          <a:prstGeom prst="rect">
            <a:avLst/>
          </a:prstGeom>
          <a:noFill/>
          <a:ln w="9525">
            <a:noFill/>
            <a:miter lim="800000"/>
            <a:headEnd/>
            <a:tailEnd/>
          </a:ln>
        </p:spPr>
        <p:txBody>
          <a:bodyPr>
            <a:spAutoFit/>
          </a:bodyPr>
          <a:lstStyle/>
          <a:p>
            <a:pPr>
              <a:lnSpc>
                <a:spcPct val="90000"/>
              </a:lnSpc>
              <a:spcBef>
                <a:spcPct val="50000"/>
              </a:spcBef>
              <a:buClr>
                <a:schemeClr val="tx2"/>
              </a:buClr>
              <a:buSzPct val="70000"/>
              <a:buFont typeface="Wingdings" pitchFamily="2" charset="2"/>
              <a:buNone/>
            </a:pPr>
            <a:r>
              <a:rPr lang="en-US" altLang="zh-CN" sz="2600" b="0">
                <a:solidFill>
                  <a:schemeClr val="tx1"/>
                </a:solidFill>
                <a:latin typeface="宋体" pitchFamily="2" charset="-122"/>
              </a:rPr>
              <a:t>4</a:t>
            </a:r>
            <a:r>
              <a:rPr lang="zh-CN" altLang="en-US" sz="2600" b="0">
                <a:solidFill>
                  <a:schemeClr val="tx1"/>
                </a:solidFill>
                <a:latin typeface="宋体" pitchFamily="2" charset="-122"/>
              </a:rPr>
              <a:t>、设计步骤</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a:t>
            </a:r>
            <a:r>
              <a:rPr lang="en-US" altLang="zh-CN" sz="2600" b="0">
                <a:solidFill>
                  <a:schemeClr val="tx1"/>
                </a:solidFill>
                <a:latin typeface="宋体" pitchFamily="2" charset="-122"/>
              </a:rPr>
              <a:t>1</a:t>
            </a:r>
            <a:r>
              <a:rPr lang="zh-CN" altLang="en-US" sz="2600" b="0">
                <a:solidFill>
                  <a:schemeClr val="tx1"/>
                </a:solidFill>
                <a:latin typeface="宋体" pitchFamily="2" charset="-122"/>
              </a:rPr>
              <a:t>）画出指令流程图</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a:t>
            </a:r>
            <a:r>
              <a:rPr lang="en-US" altLang="zh-CN" sz="2600" b="0">
                <a:solidFill>
                  <a:schemeClr val="tx1"/>
                </a:solidFill>
                <a:latin typeface="宋体" pitchFamily="2" charset="-122"/>
              </a:rPr>
              <a:t>2</a:t>
            </a:r>
            <a:r>
              <a:rPr lang="zh-CN" altLang="en-US" sz="2600" b="0">
                <a:solidFill>
                  <a:schemeClr val="tx1"/>
                </a:solidFill>
                <a:latin typeface="宋体" pitchFamily="2" charset="-122"/>
              </a:rPr>
              <a:t>）列出微操作时间表</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    将指令流程图中的微操作合理地安排到各个机器周期的相应节拍和脉冲中去；微操作时间表形象地表明什么时间、根据什么条件发出哪些微操作信号</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a:t>
            </a:r>
            <a:r>
              <a:rPr lang="en-US" altLang="zh-CN" sz="2600" b="0">
                <a:solidFill>
                  <a:schemeClr val="tx1"/>
                </a:solidFill>
                <a:latin typeface="宋体" pitchFamily="2" charset="-122"/>
              </a:rPr>
              <a:t>3</a:t>
            </a:r>
            <a:r>
              <a:rPr lang="zh-CN" altLang="en-US" sz="2600" b="0">
                <a:solidFill>
                  <a:schemeClr val="tx1"/>
                </a:solidFill>
                <a:latin typeface="宋体" pitchFamily="2" charset="-122"/>
              </a:rPr>
              <a:t>）进行微操作信号的综合</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    进行综合分析，把要执行某一微操作的所有条件</a:t>
            </a:r>
            <a:r>
              <a:rPr lang="en-US" altLang="zh-CN" sz="2600" b="0">
                <a:solidFill>
                  <a:schemeClr val="tx1"/>
                </a:solidFill>
                <a:latin typeface="宋体" pitchFamily="2" charset="-122"/>
              </a:rPr>
              <a:t>(</a:t>
            </a:r>
            <a:r>
              <a:rPr lang="zh-CN" altLang="en-US" sz="2600" b="0">
                <a:solidFill>
                  <a:schemeClr val="tx1"/>
                </a:solidFill>
                <a:latin typeface="宋体" pitchFamily="2" charset="-122"/>
              </a:rPr>
              <a:t>哪条指令、哪个机器周期、哪个节拍和脉冲等</a:t>
            </a:r>
            <a:r>
              <a:rPr lang="en-US" altLang="zh-CN" sz="2600" b="0">
                <a:solidFill>
                  <a:schemeClr val="tx1"/>
                </a:solidFill>
                <a:latin typeface="宋体" pitchFamily="2" charset="-122"/>
              </a:rPr>
              <a:t>)</a:t>
            </a:r>
            <a:r>
              <a:rPr lang="zh-CN" altLang="en-US" sz="2600" b="0">
                <a:solidFill>
                  <a:schemeClr val="tx1"/>
                </a:solidFill>
                <a:latin typeface="宋体" pitchFamily="2" charset="-122"/>
              </a:rPr>
              <a:t>都考虑在内，加以分类组合，列出各微操作产生的逻辑表达式，然后加以简化，使逻辑表达式更为合理。</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a:t>
            </a:r>
            <a:r>
              <a:rPr lang="en-US" altLang="zh-CN" sz="2600" b="0">
                <a:solidFill>
                  <a:schemeClr val="tx1"/>
                </a:solidFill>
                <a:latin typeface="宋体" pitchFamily="2" charset="-122"/>
              </a:rPr>
              <a:t>4</a:t>
            </a:r>
            <a:r>
              <a:rPr lang="zh-CN" altLang="en-US" sz="2600" b="0">
                <a:solidFill>
                  <a:schemeClr val="tx1"/>
                </a:solidFill>
                <a:latin typeface="宋体" pitchFamily="2" charset="-122"/>
              </a:rPr>
              <a:t>）实现电路</a:t>
            </a:r>
          </a:p>
          <a:p>
            <a:pPr>
              <a:lnSpc>
                <a:spcPct val="90000"/>
              </a:lnSpc>
              <a:spcBef>
                <a:spcPct val="50000"/>
              </a:spcBef>
              <a:buClr>
                <a:schemeClr val="tx2"/>
              </a:buClr>
              <a:buSzPct val="70000"/>
              <a:buFont typeface="Wingdings" pitchFamily="2" charset="2"/>
              <a:buNone/>
            </a:pPr>
            <a:r>
              <a:rPr lang="zh-CN" altLang="en-US" sz="2600" b="0">
                <a:solidFill>
                  <a:schemeClr val="tx1"/>
                </a:solidFill>
                <a:latin typeface="宋体" pitchFamily="2" charset="-122"/>
              </a:rPr>
              <a:t>    根据整理并化简的逻辑表达式组，可以用一系列组合逻辑电路加以实现。</a:t>
            </a:r>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30" name="灯片编号占位符 5"/>
          <p:cNvSpPr>
            <a:spLocks noGrp="1"/>
          </p:cNvSpPr>
          <p:nvPr>
            <p:ph type="sldNum" sz="quarter" idx="12"/>
          </p:nvPr>
        </p:nvSpPr>
        <p:spPr>
          <a:noFill/>
        </p:spPr>
        <p:txBody>
          <a:bodyPr/>
          <a:lstStyle/>
          <a:p>
            <a:fld id="{6941B971-04AD-415E-8756-382300FE1ADE}" type="slidenum">
              <a:rPr lang="en-US" altLang="zh-CN" smtClean="0"/>
              <a:pPr/>
              <a:t>125</a:t>
            </a:fld>
            <a:endParaRPr lang="en-US" altLang="zh-CN" smtClean="0"/>
          </a:p>
        </p:txBody>
      </p:sp>
      <p:sp>
        <p:nvSpPr>
          <p:cNvPr id="124931" name="Rectangle 2"/>
          <p:cNvSpPr>
            <a:spLocks noGrp="1" noChangeArrowheads="1"/>
          </p:cNvSpPr>
          <p:nvPr>
            <p:ph type="body" idx="1"/>
          </p:nvPr>
        </p:nvSpPr>
        <p:spPr>
          <a:xfrm>
            <a:off x="457200" y="404813"/>
            <a:ext cx="7499350" cy="5976937"/>
          </a:xfrm>
        </p:spPr>
        <p:txBody>
          <a:bodyPr/>
          <a:lstStyle/>
          <a:p>
            <a:pPr eaLnBrk="1" hangingPunct="1">
              <a:lnSpc>
                <a:spcPct val="90000"/>
              </a:lnSpc>
              <a:buFont typeface="Wingdings" pitchFamily="2" charset="2"/>
              <a:buNone/>
            </a:pPr>
            <a:r>
              <a:rPr lang="en-US" altLang="zh-CN" sz="2600" smtClean="0"/>
              <a:t>  </a:t>
            </a:r>
            <a:r>
              <a:rPr lang="zh-CN" altLang="en-US" sz="2800" smtClean="0">
                <a:latin typeface="宋体" pitchFamily="2" charset="-122"/>
              </a:rPr>
              <a:t>例</a:t>
            </a:r>
            <a:r>
              <a:rPr lang="en-US" altLang="zh-CN" sz="2800" smtClean="0">
                <a:latin typeface="宋体" pitchFamily="2" charset="-122"/>
              </a:rPr>
              <a:t>3</a:t>
            </a:r>
            <a:r>
              <a:rPr lang="zh-CN" altLang="en-US" sz="2800" smtClean="0">
                <a:latin typeface="宋体" pitchFamily="2" charset="-122"/>
              </a:rPr>
              <a:t>根据图</a:t>
            </a:r>
            <a:r>
              <a:rPr lang="en-US" altLang="zh-CN" sz="2800" smtClean="0">
                <a:latin typeface="宋体" pitchFamily="2" charset="-122"/>
              </a:rPr>
              <a:t>5.29</a:t>
            </a:r>
            <a:r>
              <a:rPr lang="zh-CN" altLang="en-US" sz="2800" smtClean="0">
                <a:latin typeface="宋体" pitchFamily="2" charset="-122"/>
              </a:rPr>
              <a:t>，写出以下操作控制信号</a:t>
            </a:r>
          </a:p>
          <a:p>
            <a:pPr eaLnBrk="1" hangingPunct="1">
              <a:lnSpc>
                <a:spcPct val="90000"/>
              </a:lnSpc>
              <a:buFont typeface="Wingdings" pitchFamily="2" charset="2"/>
              <a:buNone/>
            </a:pPr>
            <a:r>
              <a:rPr lang="zh-CN" altLang="en-US" sz="2800" smtClean="0">
                <a:latin typeface="宋体" pitchFamily="2" charset="-122"/>
              </a:rPr>
              <a:t>  </a:t>
            </a:r>
            <a:r>
              <a:rPr lang="en-US" altLang="zh-CN" sz="2800" smtClean="0">
                <a:latin typeface="宋体" pitchFamily="2" charset="-122"/>
              </a:rPr>
              <a:t>RD</a:t>
            </a:r>
            <a:r>
              <a:rPr lang="zh-CN" altLang="en-US" sz="2800" smtClean="0">
                <a:latin typeface="宋体" pitchFamily="2" charset="-122"/>
              </a:rPr>
              <a:t>（</a:t>
            </a:r>
            <a:r>
              <a:rPr lang="en-US" altLang="zh-CN" sz="2800" smtClean="0">
                <a:latin typeface="宋体" pitchFamily="2" charset="-122"/>
              </a:rPr>
              <a:t>I</a:t>
            </a:r>
            <a:r>
              <a:rPr lang="zh-CN" altLang="en-US" sz="2800" smtClean="0">
                <a:latin typeface="宋体" pitchFamily="2" charset="-122"/>
              </a:rPr>
              <a:t>）、</a:t>
            </a:r>
            <a:r>
              <a:rPr lang="en-US" altLang="zh-CN" sz="2800" smtClean="0">
                <a:latin typeface="宋体" pitchFamily="2" charset="-122"/>
              </a:rPr>
              <a:t>RD</a:t>
            </a:r>
            <a:r>
              <a:rPr lang="zh-CN" altLang="en-US" sz="2800" smtClean="0">
                <a:latin typeface="宋体" pitchFamily="2" charset="-122"/>
              </a:rPr>
              <a:t>（</a:t>
            </a:r>
            <a:r>
              <a:rPr lang="en-US" altLang="zh-CN" sz="2800" smtClean="0">
                <a:latin typeface="宋体" pitchFamily="2" charset="-122"/>
              </a:rPr>
              <a:t>D</a:t>
            </a:r>
            <a:r>
              <a:rPr lang="zh-CN" altLang="en-US" sz="2800" smtClean="0">
                <a:latin typeface="宋体" pitchFamily="2" charset="-122"/>
              </a:rPr>
              <a:t>）、</a:t>
            </a:r>
            <a:r>
              <a:rPr lang="en-US" altLang="zh-CN" sz="2800" smtClean="0">
                <a:latin typeface="宋体" pitchFamily="2" charset="-122"/>
              </a:rPr>
              <a:t>WE</a:t>
            </a:r>
            <a:r>
              <a:rPr lang="zh-CN" altLang="en-US" sz="2800" smtClean="0">
                <a:latin typeface="宋体" pitchFamily="2" charset="-122"/>
              </a:rPr>
              <a:t>（</a:t>
            </a:r>
            <a:r>
              <a:rPr lang="en-US" altLang="zh-CN" sz="2800" smtClean="0">
                <a:latin typeface="宋体" pitchFamily="2" charset="-122"/>
              </a:rPr>
              <a:t>D</a:t>
            </a:r>
            <a:r>
              <a:rPr lang="zh-CN" altLang="en-US" sz="2800" smtClean="0">
                <a:latin typeface="宋体" pitchFamily="2" charset="-122"/>
              </a:rPr>
              <a:t>）、</a:t>
            </a:r>
            <a:r>
              <a:rPr lang="en-US" altLang="zh-CN" sz="2800" smtClean="0">
                <a:latin typeface="宋体" pitchFamily="2" charset="-122"/>
              </a:rPr>
              <a:t>LDPC</a:t>
            </a:r>
            <a:r>
              <a:rPr lang="zh-CN" altLang="en-US" sz="2800" smtClean="0">
                <a:latin typeface="宋体" pitchFamily="2" charset="-122"/>
              </a:rPr>
              <a:t>、</a:t>
            </a:r>
            <a:r>
              <a:rPr lang="en-US" altLang="zh-CN" sz="2800" smtClean="0">
                <a:latin typeface="宋体" pitchFamily="2" charset="-122"/>
              </a:rPr>
              <a:t>LDIR</a:t>
            </a:r>
            <a:r>
              <a:rPr lang="zh-CN" altLang="en-US" sz="2800" smtClean="0">
                <a:latin typeface="宋体" pitchFamily="2" charset="-122"/>
              </a:rPr>
              <a:t>、</a:t>
            </a:r>
            <a:r>
              <a:rPr lang="en-US" altLang="zh-CN" sz="2800" smtClean="0">
                <a:latin typeface="宋体" pitchFamily="2" charset="-122"/>
              </a:rPr>
              <a:t>LDAR</a:t>
            </a:r>
            <a:r>
              <a:rPr lang="zh-CN" altLang="en-US" sz="2800" smtClean="0">
                <a:latin typeface="宋体" pitchFamily="2" charset="-122"/>
              </a:rPr>
              <a:t>、</a:t>
            </a:r>
            <a:r>
              <a:rPr lang="en-US" altLang="zh-CN" sz="2800" smtClean="0">
                <a:latin typeface="宋体" pitchFamily="2" charset="-122"/>
              </a:rPr>
              <a:t>LDDR</a:t>
            </a:r>
            <a:r>
              <a:rPr lang="zh-CN" altLang="en-US" sz="2800" smtClean="0">
                <a:latin typeface="宋体" pitchFamily="2" charset="-122"/>
              </a:rPr>
              <a:t>、</a:t>
            </a:r>
            <a:r>
              <a:rPr lang="en-US" altLang="zh-CN" sz="2800" smtClean="0">
                <a:latin typeface="宋体" pitchFamily="2" charset="-122"/>
              </a:rPr>
              <a:t>PC+1</a:t>
            </a:r>
            <a:r>
              <a:rPr lang="zh-CN" altLang="en-US" sz="2800" smtClean="0">
                <a:latin typeface="宋体" pitchFamily="2" charset="-122"/>
              </a:rPr>
              <a:t>、</a:t>
            </a:r>
            <a:r>
              <a:rPr lang="en-US" altLang="zh-CN" sz="2800" smtClean="0">
                <a:latin typeface="宋体" pitchFamily="2" charset="-122"/>
              </a:rPr>
              <a:t>LDR2</a:t>
            </a:r>
            <a:r>
              <a:rPr lang="zh-CN" altLang="en-US" sz="2800" smtClean="0">
                <a:latin typeface="宋体" pitchFamily="2" charset="-122"/>
              </a:rPr>
              <a:t>的逻辑表达式。其中每个操作控制信号的含义是：</a:t>
            </a:r>
          </a:p>
          <a:p>
            <a:pPr lvl="1" eaLnBrk="1" hangingPunct="1">
              <a:lnSpc>
                <a:spcPct val="90000"/>
              </a:lnSpc>
            </a:pPr>
            <a:r>
              <a:rPr lang="en-US" altLang="zh-CN" sz="2800" smtClean="0">
                <a:latin typeface="宋体" pitchFamily="2" charset="-122"/>
              </a:rPr>
              <a:t>RD</a:t>
            </a:r>
            <a:r>
              <a:rPr lang="zh-CN" altLang="en-US" sz="2800" smtClean="0">
                <a:latin typeface="宋体" pitchFamily="2" charset="-122"/>
              </a:rPr>
              <a:t>（</a:t>
            </a:r>
            <a:r>
              <a:rPr lang="en-US" altLang="zh-CN" sz="2800" smtClean="0">
                <a:latin typeface="宋体" pitchFamily="2" charset="-122"/>
              </a:rPr>
              <a:t>I</a:t>
            </a:r>
            <a:r>
              <a:rPr lang="zh-CN" altLang="en-US" sz="2800" smtClean="0">
                <a:latin typeface="宋体" pitchFamily="2" charset="-122"/>
              </a:rPr>
              <a:t>）</a:t>
            </a:r>
            <a:r>
              <a:rPr lang="en-US" altLang="zh-CN" sz="2800" smtClean="0">
                <a:latin typeface="宋体" pitchFamily="2" charset="-122"/>
              </a:rPr>
              <a:t>— </a:t>
            </a:r>
            <a:r>
              <a:rPr lang="zh-CN" altLang="en-US" sz="2800" smtClean="0">
                <a:latin typeface="宋体" pitchFamily="2" charset="-122"/>
              </a:rPr>
              <a:t>指存读命令</a:t>
            </a:r>
          </a:p>
          <a:p>
            <a:pPr lvl="1" eaLnBrk="1" hangingPunct="1">
              <a:lnSpc>
                <a:spcPct val="90000"/>
              </a:lnSpc>
            </a:pPr>
            <a:r>
              <a:rPr lang="en-US" altLang="zh-CN" sz="2800" smtClean="0">
                <a:latin typeface="宋体" pitchFamily="2" charset="-122"/>
              </a:rPr>
              <a:t>RD</a:t>
            </a:r>
            <a:r>
              <a:rPr lang="zh-CN" altLang="en-US" sz="2800" smtClean="0">
                <a:latin typeface="宋体" pitchFamily="2" charset="-122"/>
              </a:rPr>
              <a:t>（</a:t>
            </a:r>
            <a:r>
              <a:rPr lang="en-US" altLang="zh-CN" sz="2800" smtClean="0">
                <a:latin typeface="宋体" pitchFamily="2" charset="-122"/>
              </a:rPr>
              <a:t>D</a:t>
            </a:r>
            <a:r>
              <a:rPr lang="zh-CN" altLang="en-US" sz="2800" smtClean="0">
                <a:latin typeface="宋体" pitchFamily="2" charset="-122"/>
              </a:rPr>
              <a:t>）</a:t>
            </a:r>
            <a:r>
              <a:rPr lang="en-US" altLang="zh-CN" sz="2800" smtClean="0">
                <a:latin typeface="宋体" pitchFamily="2" charset="-122"/>
              </a:rPr>
              <a:t>— </a:t>
            </a:r>
            <a:r>
              <a:rPr lang="zh-CN" altLang="en-US" sz="2800" smtClean="0">
                <a:latin typeface="宋体" pitchFamily="2" charset="-122"/>
              </a:rPr>
              <a:t>数存读命令</a:t>
            </a:r>
          </a:p>
          <a:p>
            <a:pPr lvl="1" eaLnBrk="1" hangingPunct="1">
              <a:lnSpc>
                <a:spcPct val="90000"/>
              </a:lnSpc>
            </a:pPr>
            <a:r>
              <a:rPr lang="en-US" altLang="zh-CN" sz="2800" smtClean="0">
                <a:latin typeface="宋体" pitchFamily="2" charset="-122"/>
              </a:rPr>
              <a:t>WE</a:t>
            </a:r>
            <a:r>
              <a:rPr lang="zh-CN" altLang="en-US" sz="2800" smtClean="0">
                <a:latin typeface="宋体" pitchFamily="2" charset="-122"/>
              </a:rPr>
              <a:t>（</a:t>
            </a:r>
            <a:r>
              <a:rPr lang="en-US" altLang="zh-CN" sz="2800" smtClean="0">
                <a:latin typeface="宋体" pitchFamily="2" charset="-122"/>
              </a:rPr>
              <a:t>D</a:t>
            </a:r>
            <a:r>
              <a:rPr lang="zh-CN" altLang="en-US" sz="2800" smtClean="0">
                <a:latin typeface="宋体" pitchFamily="2" charset="-122"/>
              </a:rPr>
              <a:t>）</a:t>
            </a:r>
            <a:r>
              <a:rPr lang="en-US" altLang="zh-CN" sz="2800" smtClean="0">
                <a:latin typeface="宋体" pitchFamily="2" charset="-122"/>
              </a:rPr>
              <a:t>— </a:t>
            </a:r>
            <a:r>
              <a:rPr lang="zh-CN" altLang="en-US" sz="2800" smtClean="0">
                <a:latin typeface="宋体" pitchFamily="2" charset="-122"/>
              </a:rPr>
              <a:t>数存写命令</a:t>
            </a:r>
          </a:p>
          <a:p>
            <a:pPr lvl="1" eaLnBrk="1" hangingPunct="1">
              <a:lnSpc>
                <a:spcPct val="90000"/>
              </a:lnSpc>
            </a:pPr>
            <a:r>
              <a:rPr lang="en-US" altLang="zh-CN" sz="2800" smtClean="0">
                <a:latin typeface="宋体" pitchFamily="2" charset="-122"/>
              </a:rPr>
              <a:t>LDPC — </a:t>
            </a:r>
            <a:r>
              <a:rPr lang="zh-CN" altLang="en-US" sz="2800" smtClean="0">
                <a:latin typeface="宋体" pitchFamily="2" charset="-122"/>
              </a:rPr>
              <a:t>打入程序计数器</a:t>
            </a:r>
          </a:p>
          <a:p>
            <a:pPr lvl="1" eaLnBrk="1" hangingPunct="1">
              <a:lnSpc>
                <a:spcPct val="90000"/>
              </a:lnSpc>
            </a:pPr>
            <a:r>
              <a:rPr lang="en-US" altLang="zh-CN" sz="2800" smtClean="0">
                <a:latin typeface="宋体" pitchFamily="2" charset="-122"/>
              </a:rPr>
              <a:t>LDIR — </a:t>
            </a:r>
            <a:r>
              <a:rPr lang="zh-CN" altLang="en-US" sz="2800" smtClean="0">
                <a:latin typeface="宋体" pitchFamily="2" charset="-122"/>
              </a:rPr>
              <a:t>打入指令寄存器</a:t>
            </a:r>
          </a:p>
          <a:p>
            <a:pPr lvl="1" eaLnBrk="1" hangingPunct="1">
              <a:lnSpc>
                <a:spcPct val="90000"/>
              </a:lnSpc>
            </a:pPr>
            <a:r>
              <a:rPr lang="en-US" altLang="zh-CN" sz="2800" smtClean="0">
                <a:latin typeface="宋体" pitchFamily="2" charset="-122"/>
              </a:rPr>
              <a:t>LDAR — </a:t>
            </a:r>
            <a:r>
              <a:rPr lang="zh-CN" altLang="en-US" sz="2800" smtClean="0">
                <a:latin typeface="宋体" pitchFamily="2" charset="-122"/>
              </a:rPr>
              <a:t>打入数存地址寄存器</a:t>
            </a:r>
          </a:p>
          <a:p>
            <a:pPr lvl="1" eaLnBrk="1" hangingPunct="1">
              <a:lnSpc>
                <a:spcPct val="90000"/>
              </a:lnSpc>
            </a:pPr>
            <a:r>
              <a:rPr lang="en-US" altLang="zh-CN" sz="2800" smtClean="0">
                <a:latin typeface="宋体" pitchFamily="2" charset="-122"/>
              </a:rPr>
              <a:t>LDDR — </a:t>
            </a:r>
            <a:r>
              <a:rPr lang="zh-CN" altLang="en-US" sz="2800" smtClean="0">
                <a:latin typeface="宋体" pitchFamily="2" charset="-122"/>
              </a:rPr>
              <a:t>打入数据缓冲寄存器</a:t>
            </a:r>
          </a:p>
          <a:p>
            <a:pPr lvl="1" eaLnBrk="1" hangingPunct="1">
              <a:lnSpc>
                <a:spcPct val="90000"/>
              </a:lnSpc>
            </a:pPr>
            <a:r>
              <a:rPr lang="en-US" altLang="zh-CN" sz="2800" smtClean="0">
                <a:latin typeface="宋体" pitchFamily="2" charset="-122"/>
              </a:rPr>
              <a:t>PC+1 — </a:t>
            </a:r>
            <a:r>
              <a:rPr lang="zh-CN" altLang="en-US" sz="2800" smtClean="0">
                <a:latin typeface="宋体" pitchFamily="2" charset="-122"/>
              </a:rPr>
              <a:t>程序计数器加</a:t>
            </a:r>
            <a:r>
              <a:rPr lang="en-US" altLang="zh-CN" sz="2800" smtClean="0">
                <a:latin typeface="宋体" pitchFamily="2" charset="-122"/>
              </a:rPr>
              <a:t>1</a:t>
            </a:r>
          </a:p>
          <a:p>
            <a:pPr lvl="1" eaLnBrk="1" hangingPunct="1">
              <a:lnSpc>
                <a:spcPct val="90000"/>
              </a:lnSpc>
            </a:pPr>
            <a:r>
              <a:rPr lang="en-US" altLang="zh-CN" sz="2800" smtClean="0">
                <a:latin typeface="宋体" pitchFamily="2" charset="-122"/>
              </a:rPr>
              <a:t>LDR2 — </a:t>
            </a:r>
            <a:r>
              <a:rPr lang="zh-CN" altLang="en-US" sz="2800" smtClean="0">
                <a:latin typeface="宋体" pitchFamily="2" charset="-122"/>
              </a:rPr>
              <a:t>打入</a:t>
            </a:r>
            <a:r>
              <a:rPr lang="en-US" altLang="zh-CN" sz="2800" smtClean="0">
                <a:latin typeface="宋体" pitchFamily="2" charset="-122"/>
              </a:rPr>
              <a:t>R2</a:t>
            </a:r>
            <a:r>
              <a:rPr lang="zh-CN" altLang="en-US" sz="2800" smtClean="0">
                <a:latin typeface="宋体" pitchFamily="2" charset="-122"/>
              </a:rPr>
              <a:t>寄存器</a:t>
            </a:r>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灯片编号占位符 3"/>
          <p:cNvSpPr>
            <a:spLocks noGrp="1"/>
          </p:cNvSpPr>
          <p:nvPr>
            <p:ph type="sldNum" sz="quarter" idx="12"/>
          </p:nvPr>
        </p:nvSpPr>
        <p:spPr>
          <a:noFill/>
        </p:spPr>
        <p:txBody>
          <a:bodyPr/>
          <a:lstStyle/>
          <a:p>
            <a:fld id="{B58AF1C9-08C9-4AFA-853A-122183AE699F}" type="slidenum">
              <a:rPr lang="en-US" altLang="zh-CN" smtClean="0"/>
              <a:pPr/>
              <a:t>126</a:t>
            </a:fld>
            <a:endParaRPr lang="en-US" altLang="zh-CN" smtClean="0"/>
          </a:p>
        </p:txBody>
      </p:sp>
      <p:sp>
        <p:nvSpPr>
          <p:cNvPr id="125955" name="Rectangle 2"/>
          <p:cNvSpPr>
            <a:spLocks noChangeArrowheads="1"/>
          </p:cNvSpPr>
          <p:nvPr/>
        </p:nvSpPr>
        <p:spPr bwMode="auto">
          <a:xfrm>
            <a:off x="250825" y="260350"/>
            <a:ext cx="7634288" cy="1552575"/>
          </a:xfrm>
          <a:prstGeom prst="rect">
            <a:avLst/>
          </a:prstGeom>
          <a:noFill/>
          <a:ln w="12700" cap="sq">
            <a:noFill/>
            <a:miter lim="800000"/>
            <a:headEnd type="none" w="sm" len="sm"/>
            <a:tailEnd type="none" w="sm" len="sm"/>
          </a:ln>
        </p:spPr>
        <p:txBody>
          <a:bodyPr>
            <a:spAutoFit/>
          </a:bodyPr>
          <a:lstStyle/>
          <a:p>
            <a:r>
              <a:rPr lang="en-US" altLang="zh-CN" sz="2400" b="0">
                <a:solidFill>
                  <a:schemeClr val="tx1"/>
                </a:solidFill>
                <a:latin typeface="宋体" pitchFamily="2" charset="-122"/>
              </a:rPr>
              <a:t> </a:t>
            </a:r>
            <a:r>
              <a:rPr lang="zh-CN" altLang="en-US" sz="2400">
                <a:solidFill>
                  <a:schemeClr val="tx1"/>
                </a:solidFill>
                <a:latin typeface="宋体" pitchFamily="2" charset="-122"/>
              </a:rPr>
              <a:t>（</a:t>
            </a:r>
            <a:r>
              <a:rPr lang="en-US" altLang="zh-CN" sz="2400">
                <a:solidFill>
                  <a:schemeClr val="tx1"/>
                </a:solidFill>
                <a:latin typeface="宋体" pitchFamily="2" charset="-122"/>
              </a:rPr>
              <a:t>1</a:t>
            </a:r>
            <a:r>
              <a:rPr lang="zh-CN" altLang="en-US" sz="2400">
                <a:solidFill>
                  <a:schemeClr val="tx1"/>
                </a:solidFill>
                <a:latin typeface="宋体" pitchFamily="2" charset="-122"/>
              </a:rPr>
              <a:t>）画出指令流程图</a:t>
            </a:r>
          </a:p>
          <a:p>
            <a:r>
              <a:rPr lang="zh-CN" altLang="en-US" sz="2400" b="0">
                <a:solidFill>
                  <a:schemeClr val="tx1"/>
                </a:solidFill>
                <a:latin typeface="宋体" pitchFamily="2" charset="-122"/>
              </a:rPr>
              <a:t>    设</a:t>
            </a:r>
            <a:r>
              <a:rPr lang="en-US" altLang="zh-CN" sz="2400" b="0">
                <a:solidFill>
                  <a:schemeClr val="tx1"/>
                </a:solidFill>
                <a:latin typeface="宋体" pitchFamily="2" charset="-122"/>
              </a:rPr>
              <a:t>M1</a:t>
            </a:r>
            <a:r>
              <a:rPr lang="zh-CN" altLang="en-US" sz="2400" b="0">
                <a:solidFill>
                  <a:schemeClr val="tx1"/>
                </a:solidFill>
                <a:latin typeface="宋体" pitchFamily="2" charset="-122"/>
              </a:rPr>
              <a:t>、</a:t>
            </a:r>
            <a:r>
              <a:rPr lang="en-US" altLang="zh-CN" sz="2400" b="0">
                <a:solidFill>
                  <a:schemeClr val="tx1"/>
                </a:solidFill>
                <a:latin typeface="宋体" pitchFamily="2" charset="-122"/>
              </a:rPr>
              <a:t>M2</a:t>
            </a:r>
            <a:r>
              <a:rPr lang="zh-CN" altLang="en-US" sz="2400" b="0">
                <a:solidFill>
                  <a:schemeClr val="tx1"/>
                </a:solidFill>
                <a:latin typeface="宋体" pitchFamily="2" charset="-122"/>
              </a:rPr>
              <a:t>、</a:t>
            </a:r>
            <a:r>
              <a:rPr lang="en-US" altLang="zh-CN" sz="2400" b="0">
                <a:solidFill>
                  <a:schemeClr val="tx1"/>
                </a:solidFill>
                <a:latin typeface="宋体" pitchFamily="2" charset="-122"/>
              </a:rPr>
              <a:t>M3</a:t>
            </a:r>
            <a:r>
              <a:rPr lang="zh-CN" altLang="en-US" sz="2400" b="0">
                <a:solidFill>
                  <a:schemeClr val="tx1"/>
                </a:solidFill>
                <a:latin typeface="宋体" pitchFamily="2" charset="-122"/>
              </a:rPr>
              <a:t>为节拍电位信号；</a:t>
            </a:r>
            <a:r>
              <a:rPr lang="en-US" altLang="zh-CN" sz="2400" b="0">
                <a:solidFill>
                  <a:schemeClr val="tx1"/>
                </a:solidFill>
                <a:latin typeface="宋体" pitchFamily="2" charset="-122"/>
              </a:rPr>
              <a:t>T1</a:t>
            </a:r>
            <a:r>
              <a:rPr lang="zh-CN" altLang="en-US" sz="2400" b="0">
                <a:solidFill>
                  <a:schemeClr val="tx1"/>
                </a:solidFill>
                <a:latin typeface="宋体" pitchFamily="2" charset="-122"/>
              </a:rPr>
              <a:t>、</a:t>
            </a:r>
            <a:r>
              <a:rPr lang="en-US" altLang="zh-CN" sz="2400" b="0">
                <a:solidFill>
                  <a:schemeClr val="tx1"/>
                </a:solidFill>
                <a:latin typeface="宋体" pitchFamily="2" charset="-122"/>
              </a:rPr>
              <a:t>T2</a:t>
            </a:r>
            <a:r>
              <a:rPr lang="zh-CN" altLang="en-US" sz="2400" b="0">
                <a:solidFill>
                  <a:schemeClr val="tx1"/>
                </a:solidFill>
                <a:latin typeface="宋体" pitchFamily="2" charset="-122"/>
              </a:rPr>
              <a:t>、</a:t>
            </a:r>
            <a:r>
              <a:rPr lang="en-US" altLang="zh-CN" sz="2400" b="0">
                <a:solidFill>
                  <a:schemeClr val="tx1"/>
                </a:solidFill>
                <a:latin typeface="宋体" pitchFamily="2" charset="-122"/>
              </a:rPr>
              <a:t>T3</a:t>
            </a:r>
            <a:r>
              <a:rPr lang="zh-CN" altLang="en-US" sz="2400" b="0">
                <a:solidFill>
                  <a:schemeClr val="tx1"/>
                </a:solidFill>
                <a:latin typeface="宋体" pitchFamily="2" charset="-122"/>
              </a:rPr>
              <a:t>、</a:t>
            </a:r>
            <a:r>
              <a:rPr lang="en-US" altLang="zh-CN" sz="2400" b="0">
                <a:solidFill>
                  <a:schemeClr val="tx1"/>
                </a:solidFill>
                <a:latin typeface="宋体" pitchFamily="2" charset="-122"/>
              </a:rPr>
              <a:t>T4</a:t>
            </a:r>
            <a:r>
              <a:rPr lang="zh-CN" altLang="en-US" sz="2400" b="0">
                <a:solidFill>
                  <a:schemeClr val="tx1"/>
                </a:solidFill>
                <a:latin typeface="宋体" pitchFamily="2" charset="-122"/>
              </a:rPr>
              <a:t>为一个</a:t>
            </a:r>
            <a:r>
              <a:rPr lang="en-US" altLang="zh-CN" sz="2400" b="0">
                <a:solidFill>
                  <a:schemeClr val="tx1"/>
                </a:solidFill>
                <a:latin typeface="宋体" pitchFamily="2" charset="-122"/>
              </a:rPr>
              <a:t>CPU</a:t>
            </a:r>
            <a:r>
              <a:rPr lang="zh-CN" altLang="en-US" sz="2400" b="0">
                <a:solidFill>
                  <a:schemeClr val="tx1"/>
                </a:solidFill>
                <a:latin typeface="宋体" pitchFamily="2" charset="-122"/>
              </a:rPr>
              <a:t>周期中的节拍脉冲信号；</a:t>
            </a:r>
            <a:r>
              <a:rPr lang="en-US" altLang="zh-CN" sz="2400" b="0">
                <a:solidFill>
                  <a:schemeClr val="tx1"/>
                </a:solidFill>
                <a:latin typeface="宋体" pitchFamily="2" charset="-122"/>
              </a:rPr>
              <a:t>MOV</a:t>
            </a:r>
            <a:r>
              <a:rPr lang="zh-CN" altLang="en-US" sz="2400" b="0">
                <a:solidFill>
                  <a:schemeClr val="tx1"/>
                </a:solidFill>
                <a:latin typeface="宋体" pitchFamily="2" charset="-122"/>
              </a:rPr>
              <a:t>、</a:t>
            </a:r>
            <a:r>
              <a:rPr lang="en-US" altLang="zh-CN" sz="2400" b="0">
                <a:solidFill>
                  <a:schemeClr val="tx1"/>
                </a:solidFill>
                <a:latin typeface="宋体" pitchFamily="2" charset="-122"/>
              </a:rPr>
              <a:t>LAD</a:t>
            </a:r>
            <a:r>
              <a:rPr lang="zh-CN" altLang="en-US" sz="2400" b="0">
                <a:solidFill>
                  <a:schemeClr val="tx1"/>
                </a:solidFill>
                <a:latin typeface="宋体" pitchFamily="2" charset="-122"/>
              </a:rPr>
              <a:t>、</a:t>
            </a:r>
            <a:r>
              <a:rPr lang="en-US" altLang="zh-CN" sz="2400" b="0">
                <a:solidFill>
                  <a:schemeClr val="tx1"/>
                </a:solidFill>
                <a:latin typeface="宋体" pitchFamily="2" charset="-122"/>
              </a:rPr>
              <a:t>ADD</a:t>
            </a:r>
            <a:r>
              <a:rPr lang="zh-CN" altLang="en-US" sz="2400" b="0">
                <a:solidFill>
                  <a:schemeClr val="tx1"/>
                </a:solidFill>
                <a:latin typeface="宋体" pitchFamily="2" charset="-122"/>
              </a:rPr>
              <a:t>、</a:t>
            </a:r>
            <a:r>
              <a:rPr lang="en-US" altLang="zh-CN" sz="2400" b="0">
                <a:solidFill>
                  <a:schemeClr val="tx1"/>
                </a:solidFill>
                <a:latin typeface="宋体" pitchFamily="2" charset="-122"/>
              </a:rPr>
              <a:t>STO</a:t>
            </a:r>
            <a:r>
              <a:rPr lang="zh-CN" altLang="en-US" sz="2400" b="0">
                <a:solidFill>
                  <a:schemeClr val="tx1"/>
                </a:solidFill>
                <a:latin typeface="宋体" pitchFamily="2" charset="-122"/>
              </a:rPr>
              <a:t>、</a:t>
            </a:r>
            <a:r>
              <a:rPr lang="en-US" altLang="zh-CN" sz="2400" b="0">
                <a:solidFill>
                  <a:schemeClr val="tx1"/>
                </a:solidFill>
                <a:latin typeface="宋体" pitchFamily="2" charset="-122"/>
              </a:rPr>
              <a:t>JMP</a:t>
            </a:r>
            <a:r>
              <a:rPr lang="zh-CN" altLang="en-US" sz="2400" b="0">
                <a:solidFill>
                  <a:schemeClr val="tx1"/>
                </a:solidFill>
                <a:latin typeface="宋体" pitchFamily="2" charset="-122"/>
              </a:rPr>
              <a:t>分别表示对应机器指令的</a:t>
            </a:r>
            <a:r>
              <a:rPr lang="en-US" altLang="zh-CN" sz="2400" b="0">
                <a:solidFill>
                  <a:schemeClr val="tx1"/>
                </a:solidFill>
                <a:latin typeface="宋体" pitchFamily="2" charset="-122"/>
              </a:rPr>
              <a:t>OP</a:t>
            </a:r>
            <a:r>
              <a:rPr lang="zh-CN" altLang="en-US" sz="2400" b="0">
                <a:solidFill>
                  <a:schemeClr val="tx1"/>
                </a:solidFill>
                <a:latin typeface="宋体" pitchFamily="2" charset="-122"/>
              </a:rPr>
              <a:t>操作码译码输出信号。</a:t>
            </a:r>
          </a:p>
        </p:txBody>
      </p:sp>
      <p:pic>
        <p:nvPicPr>
          <p:cNvPr id="125956" name="Picture 3"/>
          <p:cNvPicPr>
            <a:picLocks noChangeAspect="1" noChangeArrowheads="1"/>
          </p:cNvPicPr>
          <p:nvPr/>
        </p:nvPicPr>
        <p:blipFill>
          <a:blip r:embed="rId2"/>
          <a:srcRect/>
          <a:stretch>
            <a:fillRect/>
          </a:stretch>
        </p:blipFill>
        <p:spPr bwMode="auto">
          <a:xfrm>
            <a:off x="323850" y="1916113"/>
            <a:ext cx="8066088" cy="45354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8" name="灯片编号占位符 3"/>
          <p:cNvSpPr>
            <a:spLocks noGrp="1"/>
          </p:cNvSpPr>
          <p:nvPr>
            <p:ph type="sldNum" sz="quarter" idx="12"/>
          </p:nvPr>
        </p:nvSpPr>
        <p:spPr>
          <a:noFill/>
        </p:spPr>
        <p:txBody>
          <a:bodyPr/>
          <a:lstStyle/>
          <a:p>
            <a:fld id="{CC73E1CF-ABB6-4BC8-B46B-CE547BFBAAB2}" type="slidenum">
              <a:rPr lang="en-US" altLang="zh-CN" smtClean="0"/>
              <a:pPr/>
              <a:t>127</a:t>
            </a:fld>
            <a:endParaRPr lang="en-US" altLang="zh-CN" smtClean="0"/>
          </a:p>
        </p:txBody>
      </p:sp>
      <p:pic>
        <p:nvPicPr>
          <p:cNvPr id="126979" name="Picture 2"/>
          <p:cNvPicPr>
            <a:picLocks noChangeAspect="1" noChangeArrowheads="1"/>
          </p:cNvPicPr>
          <p:nvPr/>
        </p:nvPicPr>
        <p:blipFill>
          <a:blip r:embed="rId3"/>
          <a:srcRect/>
          <a:stretch>
            <a:fillRect/>
          </a:stretch>
        </p:blipFill>
        <p:spPr bwMode="auto">
          <a:xfrm>
            <a:off x="228600" y="2895600"/>
            <a:ext cx="8713788" cy="3375025"/>
          </a:xfrm>
          <a:prstGeom prst="rect">
            <a:avLst/>
          </a:prstGeom>
          <a:noFill/>
          <a:ln w="9525">
            <a:noFill/>
            <a:miter lim="800000"/>
            <a:headEnd/>
            <a:tailEnd/>
          </a:ln>
        </p:spPr>
      </p:pic>
      <p:graphicFrame>
        <p:nvGraphicFramePr>
          <p:cNvPr id="126980" name="Object 1024"/>
          <p:cNvGraphicFramePr>
            <a:graphicFrameLocks noChangeAspect="1"/>
          </p:cNvGraphicFramePr>
          <p:nvPr/>
        </p:nvGraphicFramePr>
        <p:xfrm>
          <a:off x="228600" y="609600"/>
          <a:ext cx="8763000" cy="2208213"/>
        </p:xfrm>
        <a:graphic>
          <a:graphicData uri="http://schemas.openxmlformats.org/presentationml/2006/ole">
            <mc:AlternateContent xmlns:mc="http://schemas.openxmlformats.org/markup-compatibility/2006">
              <mc:Choice xmlns:v="urn:schemas-microsoft-com:vml" Requires="v">
                <p:oleObj spid="_x0000_s127174" name="位图图像" r:id="rId4" imgW="7419048" imgH="1886213" progId="PBrush">
                  <p:embed/>
                </p:oleObj>
              </mc:Choice>
              <mc:Fallback>
                <p:oleObj name="位图图像" r:id="rId4" imgW="7419048" imgH="1886213" progId="PBrush">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609600"/>
                        <a:ext cx="8763000" cy="220821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6981" name="Rectangle 4"/>
          <p:cNvSpPr>
            <a:spLocks noChangeArrowheads="1"/>
          </p:cNvSpPr>
          <p:nvPr/>
        </p:nvSpPr>
        <p:spPr bwMode="auto">
          <a:xfrm>
            <a:off x="304800" y="228600"/>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002" name="灯片编号占位符 3"/>
          <p:cNvSpPr>
            <a:spLocks noGrp="1"/>
          </p:cNvSpPr>
          <p:nvPr>
            <p:ph type="sldNum" sz="quarter" idx="12"/>
          </p:nvPr>
        </p:nvSpPr>
        <p:spPr>
          <a:noFill/>
        </p:spPr>
        <p:txBody>
          <a:bodyPr/>
          <a:lstStyle/>
          <a:p>
            <a:fld id="{F3BFB348-35E6-4C61-A951-0F7237B68567}" type="slidenum">
              <a:rPr lang="en-US" altLang="zh-CN" smtClean="0"/>
              <a:pPr/>
              <a:t>128</a:t>
            </a:fld>
            <a:endParaRPr lang="en-US" altLang="zh-CN" smtClean="0"/>
          </a:p>
        </p:txBody>
      </p:sp>
      <p:pic>
        <p:nvPicPr>
          <p:cNvPr id="128003" name="Picture 2"/>
          <p:cNvPicPr>
            <a:picLocks noChangeAspect="1" noChangeArrowheads="1"/>
          </p:cNvPicPr>
          <p:nvPr/>
        </p:nvPicPr>
        <p:blipFill>
          <a:blip r:embed="rId3"/>
          <a:srcRect/>
          <a:stretch>
            <a:fillRect/>
          </a:stretch>
        </p:blipFill>
        <p:spPr bwMode="auto">
          <a:xfrm>
            <a:off x="228600" y="3048000"/>
            <a:ext cx="8785225" cy="3671888"/>
          </a:xfrm>
          <a:prstGeom prst="rect">
            <a:avLst/>
          </a:prstGeom>
          <a:noFill/>
          <a:ln w="9525">
            <a:noFill/>
            <a:miter lim="800000"/>
            <a:headEnd/>
            <a:tailEnd/>
          </a:ln>
        </p:spPr>
      </p:pic>
      <p:sp>
        <p:nvSpPr>
          <p:cNvPr id="128004" name="Rectangle 3"/>
          <p:cNvSpPr>
            <a:spLocks noChangeArrowheads="1"/>
          </p:cNvSpPr>
          <p:nvPr/>
        </p:nvSpPr>
        <p:spPr bwMode="auto">
          <a:xfrm>
            <a:off x="304800" y="152400"/>
            <a:ext cx="7543800" cy="4349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graphicFrame>
        <p:nvGraphicFramePr>
          <p:cNvPr id="128005" name="Object 0"/>
          <p:cNvGraphicFramePr>
            <a:graphicFrameLocks noChangeAspect="1"/>
          </p:cNvGraphicFramePr>
          <p:nvPr/>
        </p:nvGraphicFramePr>
        <p:xfrm>
          <a:off x="228600" y="685800"/>
          <a:ext cx="8763000" cy="2266950"/>
        </p:xfrm>
        <a:graphic>
          <a:graphicData uri="http://schemas.openxmlformats.org/presentationml/2006/ole">
            <mc:AlternateContent xmlns:mc="http://schemas.openxmlformats.org/markup-compatibility/2006">
              <mc:Choice xmlns:v="urn:schemas-microsoft-com:vml" Requires="v">
                <p:oleObj spid="_x0000_s128199" name="位图图像" r:id="rId4" imgW="7430537" imgH="1857143" progId="PBrush">
                  <p:embed/>
                </p:oleObj>
              </mc:Choice>
              <mc:Fallback>
                <p:oleObj name="位图图像" r:id="rId4" imgW="7430537" imgH="1857143" progId="PBrush">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685800"/>
                        <a:ext cx="8763000" cy="226695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5269" name="Rectangle 5"/>
          <p:cNvSpPr>
            <a:spLocks noChangeArrowheads="1"/>
          </p:cNvSpPr>
          <p:nvPr/>
        </p:nvSpPr>
        <p:spPr bwMode="auto">
          <a:xfrm>
            <a:off x="304800" y="0"/>
            <a:ext cx="86106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① </a:t>
            </a:r>
            <a:r>
              <a:rPr lang="zh-CN" altLang="en-US">
                <a:solidFill>
                  <a:srgbClr val="E8060B"/>
                </a:solidFill>
              </a:rPr>
              <a:t>操作控制器（</a:t>
            </a:r>
            <a:r>
              <a:rPr lang="en-US" altLang="zh-CN">
                <a:solidFill>
                  <a:srgbClr val="E8060B"/>
                </a:solidFill>
              </a:rPr>
              <a:t>OC</a:t>
            </a:r>
            <a:r>
              <a:rPr lang="zh-CN" altLang="en-US">
                <a:solidFill>
                  <a:srgbClr val="E8060B"/>
                </a:solidFill>
              </a:rPr>
              <a:t>）送出控制信号到通用寄存器，选择</a:t>
            </a:r>
            <a:r>
              <a:rPr lang="en-US" altLang="zh-CN">
                <a:solidFill>
                  <a:srgbClr val="E8060B"/>
                </a:solidFill>
              </a:rPr>
              <a:t>R1</a:t>
            </a:r>
            <a:r>
              <a:rPr lang="zh-CN" altLang="en-US">
                <a:solidFill>
                  <a:srgbClr val="E8060B"/>
                </a:solidFill>
              </a:rPr>
              <a:t>作源寄存器，选择</a:t>
            </a:r>
            <a:r>
              <a:rPr lang="en-US" altLang="zh-CN">
                <a:solidFill>
                  <a:srgbClr val="E8060B"/>
                </a:solidFill>
              </a:rPr>
              <a:t>R0</a:t>
            </a:r>
            <a:r>
              <a:rPr lang="zh-CN" altLang="en-US">
                <a:solidFill>
                  <a:srgbClr val="E8060B"/>
                </a:solidFill>
              </a:rPr>
              <a:t>作目标寄存器；</a:t>
            </a:r>
          </a:p>
        </p:txBody>
      </p:sp>
      <p:sp>
        <p:nvSpPr>
          <p:cNvPr id="395270" name="Rectangle 6"/>
          <p:cNvSpPr>
            <a:spLocks noChangeArrowheads="1"/>
          </p:cNvSpPr>
          <p:nvPr/>
        </p:nvSpPr>
        <p:spPr bwMode="auto">
          <a:xfrm>
            <a:off x="304800" y="0"/>
            <a:ext cx="86106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② OC</a:t>
            </a:r>
            <a:r>
              <a:rPr lang="zh-CN" altLang="en-US">
                <a:solidFill>
                  <a:srgbClr val="E8060B"/>
                </a:solidFill>
              </a:rPr>
              <a:t>送出控制信号到</a:t>
            </a:r>
            <a:r>
              <a:rPr lang="en-US" altLang="zh-CN">
                <a:solidFill>
                  <a:srgbClr val="E8060B"/>
                </a:solidFill>
              </a:rPr>
              <a:t>ALU</a:t>
            </a:r>
            <a:r>
              <a:rPr lang="zh-CN" altLang="en-US">
                <a:solidFill>
                  <a:srgbClr val="E8060B"/>
                </a:solidFill>
              </a:rPr>
              <a:t>，指定</a:t>
            </a:r>
            <a:r>
              <a:rPr lang="en-US" altLang="zh-CN">
                <a:solidFill>
                  <a:srgbClr val="E8060B"/>
                </a:solidFill>
              </a:rPr>
              <a:t>ALU</a:t>
            </a:r>
            <a:r>
              <a:rPr lang="zh-CN" altLang="en-US">
                <a:solidFill>
                  <a:srgbClr val="E8060B"/>
                </a:solidFill>
              </a:rPr>
              <a:t>做传送操作；打开</a:t>
            </a:r>
            <a:r>
              <a:rPr lang="en-US" altLang="zh-CN">
                <a:solidFill>
                  <a:srgbClr val="E8060B"/>
                </a:solidFill>
              </a:rPr>
              <a:t>ALU</a:t>
            </a:r>
            <a:r>
              <a:rPr lang="zh-CN" altLang="en-US">
                <a:solidFill>
                  <a:srgbClr val="E8060B"/>
                </a:solidFill>
              </a:rPr>
              <a:t>输出三态门，将</a:t>
            </a:r>
            <a:r>
              <a:rPr lang="en-US" altLang="zh-CN">
                <a:solidFill>
                  <a:srgbClr val="E8060B"/>
                </a:solidFill>
              </a:rPr>
              <a:t>ALU</a:t>
            </a:r>
            <a:r>
              <a:rPr lang="zh-CN" altLang="en-US">
                <a:solidFill>
                  <a:srgbClr val="E8060B"/>
                </a:solidFill>
              </a:rPr>
              <a:t>输出送到数据总线</a:t>
            </a:r>
            <a:r>
              <a:rPr lang="en-US" altLang="zh-CN">
                <a:solidFill>
                  <a:srgbClr val="E8060B"/>
                </a:solidFill>
              </a:rPr>
              <a:t>DBUS</a:t>
            </a:r>
            <a:r>
              <a:rPr lang="zh-CN" altLang="en-US">
                <a:solidFill>
                  <a:srgbClr val="E8060B"/>
                </a:solidFill>
              </a:rPr>
              <a:t>上。</a:t>
            </a:r>
          </a:p>
        </p:txBody>
      </p:sp>
      <p:sp>
        <p:nvSpPr>
          <p:cNvPr id="395271" name="Rectangle 7"/>
          <p:cNvSpPr>
            <a:spLocks noChangeArrowheads="1"/>
          </p:cNvSpPr>
          <p:nvPr/>
        </p:nvSpPr>
        <p:spPr bwMode="auto">
          <a:xfrm>
            <a:off x="304800" y="0"/>
            <a:ext cx="8389938" cy="366713"/>
          </a:xfrm>
          <a:prstGeom prst="rect">
            <a:avLst/>
          </a:prstGeom>
          <a:solidFill>
            <a:srgbClr val="0000FF"/>
          </a:solidFill>
          <a:ln w="12700" cap="sq">
            <a:noFill/>
            <a:miter lim="800000"/>
            <a:headEnd type="none" w="sm" len="sm"/>
            <a:tailEnd type="none" w="sm" len="sm"/>
          </a:ln>
        </p:spPr>
        <p:txBody>
          <a:bodyPr>
            <a:spAutoFit/>
          </a:bodyPr>
          <a:lstStyle/>
          <a:p>
            <a:r>
              <a:rPr lang="en-US" altLang="zh-CN">
                <a:solidFill>
                  <a:srgbClr val="E8060B"/>
                </a:solidFill>
              </a:rPr>
              <a:t>③ OC</a:t>
            </a:r>
            <a:r>
              <a:rPr lang="zh-CN" altLang="en-US">
                <a:solidFill>
                  <a:srgbClr val="E8060B"/>
                </a:solidFill>
              </a:rPr>
              <a:t>送出控制信号，将</a:t>
            </a:r>
            <a:r>
              <a:rPr lang="en-US" altLang="zh-CN">
                <a:solidFill>
                  <a:srgbClr val="E8060B"/>
                </a:solidFill>
              </a:rPr>
              <a:t>DBUS</a:t>
            </a:r>
            <a:r>
              <a:rPr lang="zh-CN" altLang="en-US">
                <a:solidFill>
                  <a:srgbClr val="E8060B"/>
                </a:solidFill>
              </a:rPr>
              <a:t>上的数据打入到数据缓冲寄存器</a:t>
            </a:r>
            <a:r>
              <a:rPr lang="en-US" altLang="zh-CN">
                <a:solidFill>
                  <a:srgbClr val="E8060B"/>
                </a:solidFill>
              </a:rPr>
              <a:t>DR</a:t>
            </a:r>
          </a:p>
        </p:txBody>
      </p:sp>
      <p:sp>
        <p:nvSpPr>
          <p:cNvPr id="395272" name="Rectangle 8"/>
          <p:cNvSpPr>
            <a:spLocks noChangeArrowheads="1"/>
          </p:cNvSpPr>
          <p:nvPr/>
        </p:nvSpPr>
        <p:spPr bwMode="auto">
          <a:xfrm>
            <a:off x="304800" y="0"/>
            <a:ext cx="85344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④ OC</a:t>
            </a:r>
            <a:r>
              <a:rPr lang="zh-CN" altLang="en-US">
                <a:solidFill>
                  <a:srgbClr val="E8060B"/>
                </a:solidFill>
              </a:rPr>
              <a:t>送出控制信号，将</a:t>
            </a:r>
            <a:r>
              <a:rPr lang="en-US" altLang="zh-CN">
                <a:solidFill>
                  <a:srgbClr val="E8060B"/>
                </a:solidFill>
              </a:rPr>
              <a:t>DR</a:t>
            </a:r>
            <a:r>
              <a:rPr lang="zh-CN" altLang="en-US">
                <a:solidFill>
                  <a:srgbClr val="E8060B"/>
                </a:solidFill>
              </a:rPr>
              <a:t>中的数据</a:t>
            </a:r>
            <a:r>
              <a:rPr lang="en-US" altLang="zh-CN">
                <a:solidFill>
                  <a:srgbClr val="E8060B"/>
                </a:solidFill>
              </a:rPr>
              <a:t>10</a:t>
            </a:r>
            <a:r>
              <a:rPr lang="zh-CN" altLang="en-US">
                <a:solidFill>
                  <a:srgbClr val="E8060B"/>
                </a:solidFill>
              </a:rPr>
              <a:t>打入到目标寄存器</a:t>
            </a:r>
            <a:r>
              <a:rPr lang="en-US" altLang="zh-CN">
                <a:solidFill>
                  <a:srgbClr val="E8060B"/>
                </a:solidFill>
              </a:rPr>
              <a:t>R0 </a:t>
            </a:r>
            <a:r>
              <a:rPr lang="zh-CN" altLang="en-US">
                <a:solidFill>
                  <a:srgbClr val="E8060B"/>
                </a:solidFill>
              </a:rPr>
              <a:t>。至此，</a:t>
            </a:r>
            <a:r>
              <a:rPr lang="en-US" altLang="zh-CN">
                <a:solidFill>
                  <a:srgbClr val="E8060B"/>
                </a:solidFill>
              </a:rPr>
              <a:t>MOV</a:t>
            </a:r>
            <a:r>
              <a:rPr lang="zh-CN" altLang="en-US">
                <a:solidFill>
                  <a:srgbClr val="E8060B"/>
                </a:solidFill>
              </a:rPr>
              <a:t>指令执行结束。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checkerboard(across)">
                                      <p:cBhvr>
                                        <p:cTn id="7" dur="500"/>
                                        <p:tgtEl>
                                          <p:spTgt spid="395269"/>
                                        </p:tgtEl>
                                      </p:cBhvr>
                                    </p:animEffect>
                                  </p:childTnLst>
                                  <p:subTnLst>
                                    <p:set>
                                      <p:cBhvr override="childStyle">
                                        <p:cTn dur="1" fill="hold" display="0" masterRel="nextClick" afterEffect="1"/>
                                        <p:tgtEl>
                                          <p:spTgt spid="395269"/>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5270"/>
                                        </p:tgtEl>
                                        <p:attrNameLst>
                                          <p:attrName>style.visibility</p:attrName>
                                        </p:attrNameLst>
                                      </p:cBhvr>
                                      <p:to>
                                        <p:strVal val="visible"/>
                                      </p:to>
                                    </p:set>
                                    <p:animEffect transition="in" filter="checkerboard(across)">
                                      <p:cBhvr>
                                        <p:cTn id="12" dur="500"/>
                                        <p:tgtEl>
                                          <p:spTgt spid="395270"/>
                                        </p:tgtEl>
                                      </p:cBhvr>
                                    </p:animEffect>
                                  </p:childTnLst>
                                  <p:subTnLst>
                                    <p:set>
                                      <p:cBhvr override="childStyle">
                                        <p:cTn dur="1" fill="hold" display="0" masterRel="nextClick" afterEffect="1"/>
                                        <p:tgtEl>
                                          <p:spTgt spid="395270"/>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5271"/>
                                        </p:tgtEl>
                                        <p:attrNameLst>
                                          <p:attrName>style.visibility</p:attrName>
                                        </p:attrNameLst>
                                      </p:cBhvr>
                                      <p:to>
                                        <p:strVal val="visible"/>
                                      </p:to>
                                    </p:set>
                                    <p:animEffect transition="in" filter="checkerboard(across)">
                                      <p:cBhvr>
                                        <p:cTn id="17" dur="500"/>
                                        <p:tgtEl>
                                          <p:spTgt spid="395271"/>
                                        </p:tgtEl>
                                      </p:cBhvr>
                                    </p:animEffect>
                                  </p:childTnLst>
                                  <p:subTnLst>
                                    <p:set>
                                      <p:cBhvr override="childStyle">
                                        <p:cTn dur="1" fill="hold" display="0" masterRel="nextClick" afterEffect="1"/>
                                        <p:tgtEl>
                                          <p:spTgt spid="39527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5272"/>
                                        </p:tgtEl>
                                        <p:attrNameLst>
                                          <p:attrName>style.visibility</p:attrName>
                                        </p:attrNameLst>
                                      </p:cBhvr>
                                      <p:to>
                                        <p:strVal val="visible"/>
                                      </p:to>
                                    </p:set>
                                    <p:animEffect transition="in" filter="checkerboard(across)">
                                      <p:cBhvr>
                                        <p:cTn id="22" dur="500"/>
                                        <p:tgtEl>
                                          <p:spTgt spid="395272"/>
                                        </p:tgtEl>
                                      </p:cBhvr>
                                    </p:animEffect>
                                  </p:childTnLst>
                                  <p:subTnLst>
                                    <p:set>
                                      <p:cBhvr override="childStyle">
                                        <p:cTn dur="1" fill="hold" display="0" masterRel="nextClick" afterEffect="1"/>
                                        <p:tgtEl>
                                          <p:spTgt spid="39527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animBg="1" autoUpdateAnimBg="0"/>
      <p:bldP spid="395270" grpId="0" animBg="1" autoUpdateAnimBg="0"/>
      <p:bldP spid="395271" grpId="0" animBg="1" autoUpdateAnimBg="0"/>
      <p:bldP spid="395272" grpId="0" animBg="1"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灯片编号占位符 3"/>
          <p:cNvSpPr>
            <a:spLocks noGrp="1"/>
          </p:cNvSpPr>
          <p:nvPr>
            <p:ph type="sldNum" sz="quarter" idx="12"/>
          </p:nvPr>
        </p:nvSpPr>
        <p:spPr>
          <a:noFill/>
        </p:spPr>
        <p:txBody>
          <a:bodyPr/>
          <a:lstStyle/>
          <a:p>
            <a:fld id="{E99CB754-94B8-47E8-A987-1691C23E3483}" type="slidenum">
              <a:rPr lang="en-US" altLang="zh-CN" smtClean="0"/>
              <a:pPr/>
              <a:t>129</a:t>
            </a:fld>
            <a:endParaRPr lang="en-US" altLang="zh-CN" smtClean="0"/>
          </a:p>
        </p:txBody>
      </p:sp>
      <p:sp>
        <p:nvSpPr>
          <p:cNvPr id="129027" name="Rectangle 2"/>
          <p:cNvSpPr>
            <a:spLocks noChangeArrowheads="1"/>
          </p:cNvSpPr>
          <p:nvPr/>
        </p:nvSpPr>
        <p:spPr bwMode="auto">
          <a:xfrm>
            <a:off x="228600" y="152400"/>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graphicFrame>
        <p:nvGraphicFramePr>
          <p:cNvPr id="129028" name="Object 4"/>
          <p:cNvGraphicFramePr>
            <a:graphicFrameLocks noChangeAspect="1"/>
          </p:cNvGraphicFramePr>
          <p:nvPr/>
        </p:nvGraphicFramePr>
        <p:xfrm>
          <a:off x="152400" y="533400"/>
          <a:ext cx="8839200" cy="2209800"/>
        </p:xfrm>
        <a:graphic>
          <a:graphicData uri="http://schemas.openxmlformats.org/presentationml/2006/ole">
            <mc:AlternateContent xmlns:mc="http://schemas.openxmlformats.org/markup-compatibility/2006">
              <mc:Choice xmlns:v="urn:schemas-microsoft-com:vml" Requires="v">
                <p:oleObj spid="_x0000_s129421" name="位图图像" r:id="rId3" imgW="7438095" imgH="1867161" progId="PBrush">
                  <p:embed/>
                </p:oleObj>
              </mc:Choice>
              <mc:Fallback>
                <p:oleObj name="位图图像" r:id="rId3" imgW="7438095" imgH="1867161" progId="PBrush">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533400"/>
                        <a:ext cx="8839200" cy="22098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6293" name="Rectangle 5"/>
          <p:cNvSpPr>
            <a:spLocks noChangeArrowheads="1"/>
          </p:cNvSpPr>
          <p:nvPr/>
        </p:nvSpPr>
        <p:spPr bwMode="auto">
          <a:xfrm>
            <a:off x="228600" y="0"/>
            <a:ext cx="86868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① </a:t>
            </a:r>
            <a:r>
              <a:rPr lang="zh-CN" altLang="en-US">
                <a:latin typeface="宋体" pitchFamily="2" charset="-122"/>
              </a:rPr>
              <a:t>操作控制器（</a:t>
            </a:r>
            <a:r>
              <a:rPr lang="en-US" altLang="zh-CN">
                <a:latin typeface="宋体" pitchFamily="2" charset="-122"/>
              </a:rPr>
              <a:t>OC</a:t>
            </a:r>
            <a:r>
              <a:rPr lang="zh-CN" altLang="en-US">
                <a:latin typeface="宋体" pitchFamily="2" charset="-122"/>
              </a:rPr>
              <a:t>）发出控制命令打开</a:t>
            </a:r>
            <a:r>
              <a:rPr lang="en-US" altLang="zh-CN">
                <a:latin typeface="宋体" pitchFamily="2" charset="-122"/>
              </a:rPr>
              <a:t>IR</a:t>
            </a:r>
            <a:r>
              <a:rPr lang="zh-CN" altLang="en-US">
                <a:latin typeface="宋体" pitchFamily="2" charset="-122"/>
              </a:rPr>
              <a:t>输出三态门，将指令中的直接地址码</a:t>
            </a:r>
            <a:r>
              <a:rPr lang="en-US" altLang="zh-CN">
                <a:latin typeface="宋体" pitchFamily="2" charset="-122"/>
              </a:rPr>
              <a:t>6</a:t>
            </a:r>
            <a:r>
              <a:rPr lang="zh-CN" altLang="en-US">
                <a:latin typeface="宋体" pitchFamily="2" charset="-122"/>
              </a:rPr>
              <a:t>放到数据总线</a:t>
            </a:r>
            <a:r>
              <a:rPr lang="en-US" altLang="zh-CN">
                <a:latin typeface="宋体" pitchFamily="2" charset="-122"/>
              </a:rPr>
              <a:t>DBUS</a:t>
            </a:r>
            <a:r>
              <a:rPr lang="zh-CN" altLang="en-US">
                <a:latin typeface="宋体" pitchFamily="2" charset="-122"/>
              </a:rPr>
              <a:t>上；</a:t>
            </a:r>
          </a:p>
        </p:txBody>
      </p:sp>
      <p:sp>
        <p:nvSpPr>
          <p:cNvPr id="396294" name="Rectangle 6"/>
          <p:cNvSpPr>
            <a:spLocks noChangeArrowheads="1"/>
          </p:cNvSpPr>
          <p:nvPr/>
        </p:nvSpPr>
        <p:spPr bwMode="auto">
          <a:xfrm>
            <a:off x="228600" y="0"/>
            <a:ext cx="5976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solidFill>
                  <a:srgbClr val="E8060B"/>
                </a:solidFill>
              </a:rPr>
              <a:t>② OC</a:t>
            </a:r>
            <a:r>
              <a:rPr lang="zh-CN" altLang="en-US">
                <a:solidFill>
                  <a:srgbClr val="E8060B"/>
                </a:solidFill>
              </a:rPr>
              <a:t>发出控制命令，将地址码</a:t>
            </a:r>
            <a:r>
              <a:rPr lang="en-US" altLang="zh-CN">
                <a:solidFill>
                  <a:srgbClr val="E8060B"/>
                </a:solidFill>
              </a:rPr>
              <a:t>6</a:t>
            </a:r>
            <a:r>
              <a:rPr lang="zh-CN" altLang="en-US">
                <a:solidFill>
                  <a:srgbClr val="E8060B"/>
                </a:solidFill>
              </a:rPr>
              <a:t>装入地址寄存器</a:t>
            </a:r>
            <a:r>
              <a:rPr lang="en-US" altLang="zh-CN">
                <a:solidFill>
                  <a:srgbClr val="E8060B"/>
                </a:solidFill>
              </a:rPr>
              <a:t>AR</a:t>
            </a:r>
            <a:r>
              <a:rPr lang="zh-CN" altLang="en-US">
                <a:solidFill>
                  <a:srgbClr val="E8060B"/>
                </a:solidFill>
              </a:rPr>
              <a:t>；</a:t>
            </a:r>
          </a:p>
        </p:txBody>
      </p:sp>
      <p:sp>
        <p:nvSpPr>
          <p:cNvPr id="396295" name="Rectangle 7"/>
          <p:cNvSpPr>
            <a:spLocks noChangeArrowheads="1"/>
          </p:cNvSpPr>
          <p:nvPr/>
        </p:nvSpPr>
        <p:spPr bwMode="auto">
          <a:xfrm>
            <a:off x="228600" y="0"/>
            <a:ext cx="6443663" cy="366713"/>
          </a:xfrm>
          <a:prstGeom prst="rect">
            <a:avLst/>
          </a:prstGeom>
          <a:solidFill>
            <a:srgbClr val="0000FF"/>
          </a:solidFill>
          <a:ln w="12700" cap="sq">
            <a:noFill/>
            <a:miter lim="800000"/>
            <a:headEnd type="none" w="sm" len="sm"/>
            <a:tailEnd type="none" w="sm" len="sm"/>
          </a:ln>
        </p:spPr>
        <p:txBody>
          <a:bodyPr>
            <a:spAutoFit/>
          </a:bodyPr>
          <a:lstStyle/>
          <a:p>
            <a:r>
              <a:rPr lang="en-US" altLang="zh-CN"/>
              <a:t>③ OC</a:t>
            </a:r>
            <a:r>
              <a:rPr lang="zh-CN" altLang="en-US"/>
              <a:t>送出读命令，将数存</a:t>
            </a:r>
            <a:r>
              <a:rPr lang="en-US" altLang="zh-CN"/>
              <a:t>6</a:t>
            </a:r>
            <a:r>
              <a:rPr lang="zh-CN" altLang="en-US"/>
              <a:t>号单元中的数</a:t>
            </a:r>
            <a:r>
              <a:rPr lang="en-US" altLang="zh-CN"/>
              <a:t>100</a:t>
            </a:r>
            <a:r>
              <a:rPr lang="zh-CN" altLang="en-US"/>
              <a:t>读到</a:t>
            </a:r>
            <a:r>
              <a:rPr lang="en-US" altLang="zh-CN"/>
              <a:t>DBUS</a:t>
            </a:r>
            <a:r>
              <a:rPr lang="zh-CN" altLang="en-US"/>
              <a:t>上；</a:t>
            </a:r>
          </a:p>
        </p:txBody>
      </p:sp>
      <p:sp>
        <p:nvSpPr>
          <p:cNvPr id="396296" name="Rectangle 8"/>
          <p:cNvSpPr>
            <a:spLocks noChangeArrowheads="1"/>
          </p:cNvSpPr>
          <p:nvPr/>
        </p:nvSpPr>
        <p:spPr bwMode="auto">
          <a:xfrm>
            <a:off x="228600" y="0"/>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t>④ OC</a:t>
            </a:r>
            <a:r>
              <a:rPr lang="zh-CN" altLang="en-US"/>
              <a:t>送出控制信号，将</a:t>
            </a:r>
            <a:r>
              <a:rPr lang="en-US" altLang="zh-CN"/>
              <a:t>DBUS</a:t>
            </a:r>
            <a:r>
              <a:rPr lang="zh-CN" altLang="en-US"/>
              <a:t>上的数据</a:t>
            </a:r>
            <a:r>
              <a:rPr lang="en-US" altLang="zh-CN"/>
              <a:t>100</a:t>
            </a:r>
            <a:r>
              <a:rPr lang="zh-CN" altLang="en-US"/>
              <a:t>打入到数据缓冲寄存器</a:t>
            </a:r>
            <a:r>
              <a:rPr lang="en-US" altLang="zh-CN"/>
              <a:t>DR</a:t>
            </a:r>
            <a:r>
              <a:rPr lang="zh-CN" altLang="en-US"/>
              <a:t>；</a:t>
            </a:r>
          </a:p>
        </p:txBody>
      </p:sp>
      <p:sp>
        <p:nvSpPr>
          <p:cNvPr id="396297" name="Rectangle 9"/>
          <p:cNvSpPr>
            <a:spLocks noChangeArrowheads="1"/>
          </p:cNvSpPr>
          <p:nvPr/>
        </p:nvSpPr>
        <p:spPr bwMode="auto">
          <a:xfrm>
            <a:off x="228600" y="0"/>
            <a:ext cx="86868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t>⑤ OC</a:t>
            </a:r>
            <a:r>
              <a:rPr lang="zh-CN" altLang="en-US"/>
              <a:t>送出命令，将</a:t>
            </a:r>
            <a:r>
              <a:rPr lang="en-US" altLang="zh-CN"/>
              <a:t>DR</a:t>
            </a:r>
            <a:r>
              <a:rPr lang="zh-CN" altLang="en-US"/>
              <a:t>中的数据</a:t>
            </a:r>
            <a:r>
              <a:rPr lang="en-US" altLang="zh-CN"/>
              <a:t>100</a:t>
            </a:r>
            <a:r>
              <a:rPr lang="zh-CN" altLang="en-US"/>
              <a:t>打入到目标寄存器</a:t>
            </a:r>
            <a:r>
              <a:rPr lang="en-US" altLang="zh-CN"/>
              <a:t>R1</a:t>
            </a:r>
            <a:r>
              <a:rPr lang="zh-CN" altLang="en-US"/>
              <a:t>。至此，指令执行结束。</a:t>
            </a:r>
          </a:p>
        </p:txBody>
      </p:sp>
      <p:graphicFrame>
        <p:nvGraphicFramePr>
          <p:cNvPr id="129034" name="Object 10"/>
          <p:cNvGraphicFramePr>
            <a:graphicFrameLocks noChangeAspect="1"/>
          </p:cNvGraphicFramePr>
          <p:nvPr/>
        </p:nvGraphicFramePr>
        <p:xfrm>
          <a:off x="228600" y="2819400"/>
          <a:ext cx="8763000" cy="3476625"/>
        </p:xfrm>
        <a:graphic>
          <a:graphicData uri="http://schemas.openxmlformats.org/presentationml/2006/ole">
            <mc:AlternateContent xmlns:mc="http://schemas.openxmlformats.org/markup-compatibility/2006">
              <mc:Choice xmlns:v="urn:schemas-microsoft-com:vml" Requires="v">
                <p:oleObj spid="_x0000_s129422" name="位图图像" r:id="rId5" imgW="7447619" imgH="3266667" progId="PBrush">
                  <p:embed/>
                </p:oleObj>
              </mc:Choice>
              <mc:Fallback>
                <p:oleObj name="位图图像" r:id="rId5" imgW="7447619" imgH="3266667" progId="PBrush">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2819400"/>
                        <a:ext cx="8763000" cy="3476625"/>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6293"/>
                                        </p:tgtEl>
                                        <p:attrNameLst>
                                          <p:attrName>style.visibility</p:attrName>
                                        </p:attrNameLst>
                                      </p:cBhvr>
                                      <p:to>
                                        <p:strVal val="visible"/>
                                      </p:to>
                                    </p:set>
                                    <p:animEffect transition="in" filter="checkerboard(across)">
                                      <p:cBhvr>
                                        <p:cTn id="7" dur="500"/>
                                        <p:tgtEl>
                                          <p:spTgt spid="396293"/>
                                        </p:tgtEl>
                                      </p:cBhvr>
                                    </p:animEffect>
                                  </p:childTnLst>
                                  <p:subTnLst>
                                    <p:set>
                                      <p:cBhvr override="childStyle">
                                        <p:cTn dur="1" fill="hold" display="0" masterRel="nextClick" afterEffect="1"/>
                                        <p:tgtEl>
                                          <p:spTgt spid="39629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checkerboard(across)">
                                      <p:cBhvr>
                                        <p:cTn id="12" dur="500"/>
                                        <p:tgtEl>
                                          <p:spTgt spid="396294"/>
                                        </p:tgtEl>
                                      </p:cBhvr>
                                    </p:animEffect>
                                  </p:childTnLst>
                                  <p:subTnLst>
                                    <p:set>
                                      <p:cBhvr override="childStyle">
                                        <p:cTn dur="1" fill="hold" display="0" masterRel="nextClick" afterEffect="1"/>
                                        <p:tgtEl>
                                          <p:spTgt spid="39629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6295"/>
                                        </p:tgtEl>
                                        <p:attrNameLst>
                                          <p:attrName>style.visibility</p:attrName>
                                        </p:attrNameLst>
                                      </p:cBhvr>
                                      <p:to>
                                        <p:strVal val="visible"/>
                                      </p:to>
                                    </p:set>
                                    <p:animEffect transition="in" filter="checkerboard(across)">
                                      <p:cBhvr>
                                        <p:cTn id="17" dur="500"/>
                                        <p:tgtEl>
                                          <p:spTgt spid="396295"/>
                                        </p:tgtEl>
                                      </p:cBhvr>
                                    </p:animEffect>
                                  </p:childTnLst>
                                  <p:subTnLst>
                                    <p:set>
                                      <p:cBhvr override="childStyle">
                                        <p:cTn dur="1" fill="hold" display="0" masterRel="nextClick" afterEffect="1"/>
                                        <p:tgtEl>
                                          <p:spTgt spid="396295"/>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6296"/>
                                        </p:tgtEl>
                                        <p:attrNameLst>
                                          <p:attrName>style.visibility</p:attrName>
                                        </p:attrNameLst>
                                      </p:cBhvr>
                                      <p:to>
                                        <p:strVal val="visible"/>
                                      </p:to>
                                    </p:set>
                                    <p:animEffect transition="in" filter="checkerboard(across)">
                                      <p:cBhvr>
                                        <p:cTn id="22" dur="500"/>
                                        <p:tgtEl>
                                          <p:spTgt spid="396296"/>
                                        </p:tgtEl>
                                      </p:cBhvr>
                                    </p:animEffect>
                                  </p:childTnLst>
                                  <p:subTnLst>
                                    <p:set>
                                      <p:cBhvr override="childStyle">
                                        <p:cTn dur="1" fill="hold" display="0" masterRel="nextClick" afterEffect="1"/>
                                        <p:tgtEl>
                                          <p:spTgt spid="396296"/>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6297"/>
                                        </p:tgtEl>
                                        <p:attrNameLst>
                                          <p:attrName>style.visibility</p:attrName>
                                        </p:attrNameLst>
                                      </p:cBhvr>
                                      <p:to>
                                        <p:strVal val="visible"/>
                                      </p:to>
                                    </p:set>
                                    <p:animEffect transition="in" filter="checkerboard(across)">
                                      <p:cBhvr>
                                        <p:cTn id="27" dur="500"/>
                                        <p:tgtEl>
                                          <p:spTgt spid="396297"/>
                                        </p:tgtEl>
                                      </p:cBhvr>
                                    </p:animEffect>
                                  </p:childTnLst>
                                  <p:subTnLst>
                                    <p:set>
                                      <p:cBhvr override="childStyle">
                                        <p:cTn dur="1" fill="hold" display="0" masterRel="nextClick" afterEffect="1"/>
                                        <p:tgtEl>
                                          <p:spTgt spid="39629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3" grpId="0" animBg="1" autoUpdateAnimBg="0"/>
      <p:bldP spid="396294" grpId="0" animBg="1" autoUpdateAnimBg="0"/>
      <p:bldP spid="396295" grpId="0" animBg="1" autoUpdateAnimBg="0"/>
      <p:bldP spid="396296" grpId="0" animBg="1" autoUpdateAnimBg="0"/>
      <p:bldP spid="396297" grpId="0" animBg="1"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0050" name="灯片编号占位符 5"/>
          <p:cNvSpPr>
            <a:spLocks noGrp="1"/>
          </p:cNvSpPr>
          <p:nvPr>
            <p:ph type="sldNum" sz="quarter" idx="12"/>
          </p:nvPr>
        </p:nvSpPr>
        <p:spPr>
          <a:noFill/>
        </p:spPr>
        <p:txBody>
          <a:bodyPr/>
          <a:lstStyle/>
          <a:p>
            <a:fld id="{15A42EEC-2746-465C-A2CF-1F9FD0C6B4FE}" type="slidenum">
              <a:rPr lang="en-US" altLang="zh-CN" smtClean="0"/>
              <a:pPr/>
              <a:t>130</a:t>
            </a:fld>
            <a:endParaRPr lang="en-US" altLang="zh-CN" smtClean="0"/>
          </a:p>
        </p:txBody>
      </p:sp>
      <p:pic>
        <p:nvPicPr>
          <p:cNvPr id="130051" name="Picture 2"/>
          <p:cNvPicPr>
            <a:picLocks noChangeAspect="1" noChangeArrowheads="1"/>
          </p:cNvPicPr>
          <p:nvPr/>
        </p:nvPicPr>
        <p:blipFill>
          <a:blip r:embed="rId4"/>
          <a:srcRect/>
          <a:stretch>
            <a:fillRect/>
          </a:stretch>
        </p:blipFill>
        <p:spPr bwMode="auto">
          <a:xfrm>
            <a:off x="228600" y="3124200"/>
            <a:ext cx="8713788" cy="3429000"/>
          </a:xfrm>
          <a:prstGeom prst="rect">
            <a:avLst/>
          </a:prstGeom>
          <a:noFill/>
          <a:ln w="9525">
            <a:noFill/>
            <a:miter lim="800000"/>
            <a:headEnd/>
            <a:tailEnd/>
          </a:ln>
        </p:spPr>
      </p:pic>
      <p:sp>
        <p:nvSpPr>
          <p:cNvPr id="130052" name="Rectangle 3"/>
          <p:cNvSpPr>
            <a:spLocks noChangeArrowheads="1"/>
          </p:cNvSpPr>
          <p:nvPr/>
        </p:nvSpPr>
        <p:spPr bwMode="auto">
          <a:xfrm>
            <a:off x="250825" y="327025"/>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graphicFrame>
        <p:nvGraphicFramePr>
          <p:cNvPr id="130053" name="Object 0"/>
          <p:cNvGraphicFramePr>
            <a:graphicFrameLocks noChangeAspect="1"/>
          </p:cNvGraphicFramePr>
          <p:nvPr/>
        </p:nvGraphicFramePr>
        <p:xfrm>
          <a:off x="152400" y="762000"/>
          <a:ext cx="8839200" cy="2286000"/>
        </p:xfrm>
        <a:graphic>
          <a:graphicData uri="http://schemas.openxmlformats.org/presentationml/2006/ole">
            <mc:AlternateContent xmlns:mc="http://schemas.openxmlformats.org/markup-compatibility/2006">
              <mc:Choice xmlns:v="urn:schemas-microsoft-com:vml" Requires="v">
                <p:oleObj spid="_x0000_s130247" name="位图图像" r:id="rId5" imgW="7419048" imgH="1857143" progId="PBrush">
                  <p:embed/>
                </p:oleObj>
              </mc:Choice>
              <mc:Fallback>
                <p:oleObj name="位图图像" r:id="rId5" imgW="7419048" imgH="1857143" progId="PBrush">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762000"/>
                        <a:ext cx="8839200" cy="22860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7317" name="Rectangle 5"/>
          <p:cNvSpPr>
            <a:spLocks noChangeArrowheads="1"/>
          </p:cNvSpPr>
          <p:nvPr/>
        </p:nvSpPr>
        <p:spPr bwMode="auto">
          <a:xfrm>
            <a:off x="228600" y="228600"/>
            <a:ext cx="86868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① </a:t>
            </a:r>
            <a:r>
              <a:rPr lang="zh-CN" altLang="en-US">
                <a:latin typeface="宋体" pitchFamily="2" charset="-122"/>
              </a:rPr>
              <a:t>操作控制器</a:t>
            </a:r>
            <a:r>
              <a:rPr lang="en-US" altLang="zh-CN">
                <a:latin typeface="宋体" pitchFamily="2" charset="-122"/>
              </a:rPr>
              <a:t>OC</a:t>
            </a:r>
            <a:r>
              <a:rPr lang="zh-CN" altLang="en-US">
                <a:latin typeface="宋体" pitchFamily="2" charset="-122"/>
              </a:rPr>
              <a:t>送出控制命令到通用寄存器，选择</a:t>
            </a:r>
            <a:r>
              <a:rPr lang="en-US" altLang="zh-CN">
                <a:latin typeface="宋体" pitchFamily="2" charset="-122"/>
              </a:rPr>
              <a:t>R1</a:t>
            </a:r>
            <a:r>
              <a:rPr lang="zh-CN" altLang="en-US">
                <a:latin typeface="宋体" pitchFamily="2" charset="-122"/>
              </a:rPr>
              <a:t>做源寄存器，</a:t>
            </a:r>
            <a:r>
              <a:rPr lang="en-US" altLang="zh-CN">
                <a:latin typeface="宋体" pitchFamily="2" charset="-122"/>
              </a:rPr>
              <a:t>R2</a:t>
            </a:r>
            <a:r>
              <a:rPr lang="zh-CN" altLang="en-US">
                <a:latin typeface="宋体" pitchFamily="2" charset="-122"/>
              </a:rPr>
              <a:t>做目标寄存器；</a:t>
            </a:r>
          </a:p>
        </p:txBody>
      </p:sp>
      <p:sp>
        <p:nvSpPr>
          <p:cNvPr id="397318" name="Rectangle 6"/>
          <p:cNvSpPr>
            <a:spLocks noChangeArrowheads="1"/>
          </p:cNvSpPr>
          <p:nvPr/>
        </p:nvSpPr>
        <p:spPr bwMode="auto">
          <a:xfrm>
            <a:off x="228600" y="22860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② OC</a:t>
            </a:r>
            <a:r>
              <a:rPr lang="zh-CN" altLang="en-US">
                <a:latin typeface="宋体" pitchFamily="2" charset="-122"/>
              </a:rPr>
              <a:t>送出控制命令到</a:t>
            </a:r>
            <a:r>
              <a:rPr lang="en-US" altLang="zh-CN">
                <a:latin typeface="宋体" pitchFamily="2" charset="-122"/>
              </a:rPr>
              <a:t>ALU</a:t>
            </a:r>
            <a:r>
              <a:rPr lang="zh-CN" altLang="en-US">
                <a:latin typeface="宋体" pitchFamily="2" charset="-122"/>
              </a:rPr>
              <a:t>，指定</a:t>
            </a:r>
            <a:r>
              <a:rPr lang="en-US" altLang="zh-CN">
                <a:latin typeface="宋体" pitchFamily="2" charset="-122"/>
              </a:rPr>
              <a:t>ALU</a:t>
            </a:r>
            <a:r>
              <a:rPr lang="zh-CN" altLang="en-US">
                <a:latin typeface="宋体" pitchFamily="2" charset="-122"/>
              </a:rPr>
              <a:t>做</a:t>
            </a:r>
            <a:r>
              <a:rPr lang="en-US" altLang="zh-CN">
                <a:latin typeface="宋体" pitchFamily="2" charset="-122"/>
              </a:rPr>
              <a:t>R1</a:t>
            </a:r>
            <a:r>
              <a:rPr lang="zh-CN" altLang="en-US">
                <a:latin typeface="宋体" pitchFamily="2" charset="-122"/>
              </a:rPr>
              <a:t>和</a:t>
            </a:r>
            <a:r>
              <a:rPr lang="en-US" altLang="zh-CN">
                <a:latin typeface="宋体" pitchFamily="2" charset="-122"/>
              </a:rPr>
              <a:t>R2</a:t>
            </a:r>
            <a:r>
              <a:rPr lang="zh-CN" altLang="en-US">
                <a:latin typeface="宋体" pitchFamily="2" charset="-122"/>
              </a:rPr>
              <a:t>的加法操作；</a:t>
            </a:r>
            <a:r>
              <a:rPr lang="zh-CN" altLang="en-US" b="0">
                <a:solidFill>
                  <a:schemeClr val="tx1"/>
                </a:solidFill>
              </a:rPr>
              <a:t> </a:t>
            </a:r>
            <a:endParaRPr lang="zh-CN" altLang="en-US">
              <a:solidFill>
                <a:srgbClr val="E8060B"/>
              </a:solidFill>
            </a:endParaRPr>
          </a:p>
        </p:txBody>
      </p:sp>
      <p:sp>
        <p:nvSpPr>
          <p:cNvPr id="397319" name="Rectangle 7"/>
          <p:cNvSpPr>
            <a:spLocks noChangeArrowheads="1"/>
          </p:cNvSpPr>
          <p:nvPr/>
        </p:nvSpPr>
        <p:spPr bwMode="auto">
          <a:xfrm>
            <a:off x="228600" y="228600"/>
            <a:ext cx="7559675" cy="366713"/>
          </a:xfrm>
          <a:prstGeom prst="rect">
            <a:avLst/>
          </a:prstGeom>
          <a:solidFill>
            <a:srgbClr val="0000FF"/>
          </a:solidFill>
          <a:ln w="12700" cap="sq">
            <a:noFill/>
            <a:miter lim="800000"/>
            <a:headEnd type="none" w="sm" len="sm"/>
            <a:tailEnd type="none" w="sm" len="sm"/>
          </a:ln>
        </p:spPr>
        <p:txBody>
          <a:bodyPr>
            <a:spAutoFit/>
          </a:bodyPr>
          <a:lstStyle/>
          <a:p>
            <a:r>
              <a:rPr lang="en-US" altLang="zh-CN">
                <a:latin typeface="宋体" pitchFamily="2" charset="-122"/>
              </a:rPr>
              <a:t>③ OC</a:t>
            </a:r>
            <a:r>
              <a:rPr lang="zh-CN" altLang="en-US">
                <a:latin typeface="宋体" pitchFamily="2" charset="-122"/>
              </a:rPr>
              <a:t>送出控制命令，打开</a:t>
            </a:r>
            <a:r>
              <a:rPr lang="en-US" altLang="zh-CN">
                <a:latin typeface="宋体" pitchFamily="2" charset="-122"/>
              </a:rPr>
              <a:t>ALU</a:t>
            </a:r>
            <a:r>
              <a:rPr lang="zh-CN" altLang="en-US">
                <a:latin typeface="宋体" pitchFamily="2" charset="-122"/>
              </a:rPr>
              <a:t>输出三态门，运算结果</a:t>
            </a:r>
            <a:r>
              <a:rPr lang="en-US" altLang="zh-CN">
                <a:latin typeface="宋体" pitchFamily="2" charset="-122"/>
              </a:rPr>
              <a:t>120</a:t>
            </a:r>
            <a:r>
              <a:rPr lang="zh-CN" altLang="en-US">
                <a:latin typeface="宋体" pitchFamily="2" charset="-122"/>
              </a:rPr>
              <a:t>放到</a:t>
            </a:r>
            <a:r>
              <a:rPr lang="en-US" altLang="zh-CN">
                <a:latin typeface="宋体" pitchFamily="2" charset="-122"/>
              </a:rPr>
              <a:t>DBUS</a:t>
            </a:r>
            <a:r>
              <a:rPr lang="zh-CN" altLang="en-US">
                <a:latin typeface="宋体" pitchFamily="2" charset="-122"/>
              </a:rPr>
              <a:t>上；</a:t>
            </a:r>
            <a:r>
              <a:rPr lang="zh-CN" altLang="en-US" b="0">
                <a:solidFill>
                  <a:schemeClr val="tx1"/>
                </a:solidFill>
              </a:rPr>
              <a:t> </a:t>
            </a:r>
            <a:endParaRPr lang="zh-CN" altLang="en-US"/>
          </a:p>
        </p:txBody>
      </p:sp>
      <p:sp>
        <p:nvSpPr>
          <p:cNvPr id="397320" name="Rectangle 8"/>
          <p:cNvSpPr>
            <a:spLocks noChangeArrowheads="1"/>
          </p:cNvSpPr>
          <p:nvPr/>
        </p:nvSpPr>
        <p:spPr bwMode="auto">
          <a:xfrm>
            <a:off x="228600" y="152400"/>
            <a:ext cx="86868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④ OC</a:t>
            </a:r>
            <a:r>
              <a:rPr lang="zh-CN" altLang="en-US">
                <a:latin typeface="宋体" pitchFamily="2" charset="-122"/>
              </a:rPr>
              <a:t>送出控制命令，将</a:t>
            </a:r>
            <a:r>
              <a:rPr lang="en-US" altLang="zh-CN">
                <a:latin typeface="宋体" pitchFamily="2" charset="-122"/>
              </a:rPr>
              <a:t>DBUS</a:t>
            </a:r>
            <a:r>
              <a:rPr lang="zh-CN" altLang="en-US">
                <a:latin typeface="宋体" pitchFamily="2" charset="-122"/>
              </a:rPr>
              <a:t>上数据打入缓冲寄存器</a:t>
            </a:r>
            <a:r>
              <a:rPr lang="en-US" altLang="zh-CN">
                <a:latin typeface="宋体" pitchFamily="2" charset="-122"/>
              </a:rPr>
              <a:t>DR</a:t>
            </a:r>
            <a:r>
              <a:rPr lang="zh-CN" altLang="en-US">
                <a:latin typeface="宋体" pitchFamily="2" charset="-122"/>
              </a:rPr>
              <a:t>；</a:t>
            </a:r>
            <a:r>
              <a:rPr lang="en-US" altLang="zh-CN">
                <a:latin typeface="宋体" pitchFamily="2" charset="-122"/>
              </a:rPr>
              <a:t>ALU</a:t>
            </a:r>
            <a:r>
              <a:rPr lang="zh-CN" altLang="en-US">
                <a:latin typeface="宋体" pitchFamily="2" charset="-122"/>
              </a:rPr>
              <a:t>产生的进位信号保存状态字寄存器在</a:t>
            </a:r>
            <a:r>
              <a:rPr lang="en-US" altLang="zh-CN">
                <a:latin typeface="宋体" pitchFamily="2" charset="-122"/>
              </a:rPr>
              <a:t>PSW</a:t>
            </a:r>
            <a:r>
              <a:rPr lang="zh-CN" altLang="en-US">
                <a:latin typeface="宋体" pitchFamily="2" charset="-122"/>
              </a:rPr>
              <a:t>中。</a:t>
            </a:r>
          </a:p>
        </p:txBody>
      </p:sp>
      <p:sp>
        <p:nvSpPr>
          <p:cNvPr id="397321" name="Rectangle 9"/>
          <p:cNvSpPr>
            <a:spLocks noChangeArrowheads="1"/>
          </p:cNvSpPr>
          <p:nvPr/>
        </p:nvSpPr>
        <p:spPr bwMode="auto">
          <a:xfrm>
            <a:off x="228600" y="152400"/>
            <a:ext cx="876300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⑤ OC</a:t>
            </a:r>
            <a:r>
              <a:rPr lang="zh-CN" altLang="en-US">
                <a:latin typeface="宋体" pitchFamily="2" charset="-122"/>
              </a:rPr>
              <a:t>送出控制命令，将</a:t>
            </a:r>
            <a:r>
              <a:rPr lang="en-US" altLang="zh-CN">
                <a:latin typeface="宋体" pitchFamily="2" charset="-122"/>
              </a:rPr>
              <a:t>DR</a:t>
            </a:r>
            <a:r>
              <a:rPr lang="zh-CN" altLang="en-US">
                <a:latin typeface="宋体" pitchFamily="2" charset="-122"/>
              </a:rPr>
              <a:t>（</a:t>
            </a:r>
            <a:r>
              <a:rPr lang="en-US" altLang="zh-CN">
                <a:latin typeface="宋体" pitchFamily="2" charset="-122"/>
              </a:rPr>
              <a:t>120</a:t>
            </a:r>
            <a:r>
              <a:rPr lang="zh-CN" altLang="en-US">
                <a:latin typeface="宋体" pitchFamily="2" charset="-122"/>
              </a:rPr>
              <a:t>）装入</a:t>
            </a:r>
            <a:r>
              <a:rPr lang="en-US" altLang="zh-CN">
                <a:latin typeface="宋体" pitchFamily="2" charset="-122"/>
              </a:rPr>
              <a:t>R2</a:t>
            </a:r>
            <a:r>
              <a:rPr lang="zh-CN" altLang="en-US">
                <a:latin typeface="宋体" pitchFamily="2" charset="-122"/>
              </a:rPr>
              <a:t>，</a:t>
            </a:r>
            <a:r>
              <a:rPr lang="en-US" altLang="zh-CN">
                <a:latin typeface="宋体" pitchFamily="2" charset="-122"/>
              </a:rPr>
              <a:t>R2</a:t>
            </a:r>
            <a:r>
              <a:rPr lang="zh-CN" altLang="en-US">
                <a:latin typeface="宋体" pitchFamily="2" charset="-122"/>
              </a:rPr>
              <a:t>中原来的内容</a:t>
            </a:r>
            <a:r>
              <a:rPr lang="en-US" altLang="zh-CN">
                <a:latin typeface="宋体" pitchFamily="2" charset="-122"/>
              </a:rPr>
              <a:t>20</a:t>
            </a:r>
            <a:r>
              <a:rPr lang="zh-CN" altLang="en-US">
                <a:latin typeface="宋体" pitchFamily="2" charset="-122"/>
              </a:rPr>
              <a:t>被冲掉。至此</a:t>
            </a:r>
            <a:r>
              <a:rPr lang="en-US" altLang="zh-CN">
                <a:latin typeface="宋体" pitchFamily="2" charset="-122"/>
              </a:rPr>
              <a:t>ADD</a:t>
            </a:r>
            <a:r>
              <a:rPr lang="zh-CN" altLang="en-US">
                <a:latin typeface="宋体" pitchFamily="2" charset="-122"/>
              </a:rPr>
              <a:t>指令执行周期结束。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7317"/>
                                        </p:tgtEl>
                                        <p:attrNameLst>
                                          <p:attrName>style.visibility</p:attrName>
                                        </p:attrNameLst>
                                      </p:cBhvr>
                                      <p:to>
                                        <p:strVal val="visible"/>
                                      </p:to>
                                    </p:set>
                                    <p:animEffect transition="in" filter="checkerboard(across)">
                                      <p:cBhvr>
                                        <p:cTn id="7" dur="500"/>
                                        <p:tgtEl>
                                          <p:spTgt spid="397317"/>
                                        </p:tgtEl>
                                      </p:cBhvr>
                                    </p:animEffect>
                                  </p:childTnLst>
                                  <p:subTnLst>
                                    <p:set>
                                      <p:cBhvr override="childStyle">
                                        <p:cTn dur="1" fill="hold" display="0" masterRel="nextClick" afterEffect="1"/>
                                        <p:tgtEl>
                                          <p:spTgt spid="39731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7318"/>
                                        </p:tgtEl>
                                        <p:attrNameLst>
                                          <p:attrName>style.visibility</p:attrName>
                                        </p:attrNameLst>
                                      </p:cBhvr>
                                      <p:to>
                                        <p:strVal val="visible"/>
                                      </p:to>
                                    </p:set>
                                    <p:animEffect transition="in" filter="checkerboard(across)">
                                      <p:cBhvr>
                                        <p:cTn id="12" dur="500"/>
                                        <p:tgtEl>
                                          <p:spTgt spid="397318"/>
                                        </p:tgtEl>
                                      </p:cBhvr>
                                    </p:animEffect>
                                  </p:childTnLst>
                                  <p:subTnLst>
                                    <p:set>
                                      <p:cBhvr override="childStyle">
                                        <p:cTn dur="1" fill="hold" display="0" masterRel="nextClick" afterEffect="1"/>
                                        <p:tgtEl>
                                          <p:spTgt spid="39731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7319"/>
                                        </p:tgtEl>
                                        <p:attrNameLst>
                                          <p:attrName>style.visibility</p:attrName>
                                        </p:attrNameLst>
                                      </p:cBhvr>
                                      <p:to>
                                        <p:strVal val="visible"/>
                                      </p:to>
                                    </p:set>
                                    <p:animEffect transition="in" filter="checkerboard(across)">
                                      <p:cBhvr>
                                        <p:cTn id="17" dur="500"/>
                                        <p:tgtEl>
                                          <p:spTgt spid="397319"/>
                                        </p:tgtEl>
                                      </p:cBhvr>
                                    </p:animEffect>
                                  </p:childTnLst>
                                  <p:subTnLst>
                                    <p:set>
                                      <p:cBhvr override="childStyle">
                                        <p:cTn dur="1" fill="hold" display="0" masterRel="nextClick" afterEffect="1"/>
                                        <p:tgtEl>
                                          <p:spTgt spid="397319"/>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7320"/>
                                        </p:tgtEl>
                                        <p:attrNameLst>
                                          <p:attrName>style.visibility</p:attrName>
                                        </p:attrNameLst>
                                      </p:cBhvr>
                                      <p:to>
                                        <p:strVal val="visible"/>
                                      </p:to>
                                    </p:set>
                                    <p:animEffect transition="in" filter="checkerboard(across)">
                                      <p:cBhvr>
                                        <p:cTn id="22" dur="500"/>
                                        <p:tgtEl>
                                          <p:spTgt spid="397320"/>
                                        </p:tgtEl>
                                      </p:cBhvr>
                                    </p:animEffect>
                                  </p:childTnLst>
                                  <p:subTnLst>
                                    <p:set>
                                      <p:cBhvr override="childStyle">
                                        <p:cTn dur="1" fill="hold" display="0" masterRel="nextClick" afterEffect="1"/>
                                        <p:tgtEl>
                                          <p:spTgt spid="397320"/>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7321"/>
                                        </p:tgtEl>
                                        <p:attrNameLst>
                                          <p:attrName>style.visibility</p:attrName>
                                        </p:attrNameLst>
                                      </p:cBhvr>
                                      <p:to>
                                        <p:strVal val="visible"/>
                                      </p:to>
                                    </p:set>
                                    <p:animEffect transition="in" filter="checkerboard(across)">
                                      <p:cBhvr>
                                        <p:cTn id="27" dur="500"/>
                                        <p:tgtEl>
                                          <p:spTgt spid="397321"/>
                                        </p:tgtEl>
                                      </p:cBhvr>
                                    </p:animEffect>
                                  </p:childTnLst>
                                  <p:subTnLst>
                                    <p:set>
                                      <p:cBhvr override="childStyle">
                                        <p:cTn dur="1" fill="hold" display="0" masterRel="nextClick" afterEffect="1"/>
                                        <p:tgtEl>
                                          <p:spTgt spid="3973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animBg="1" autoUpdateAnimBg="0"/>
      <p:bldP spid="397318" grpId="0" animBg="1" autoUpdateAnimBg="0"/>
      <p:bldP spid="397319" grpId="0" animBg="1" autoUpdateAnimBg="0"/>
      <p:bldP spid="397320" grpId="0" animBg="1" autoUpdateAnimBg="0"/>
      <p:bldP spid="397321" grpId="0" animBg="1"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074" name="灯片编号占位符 5"/>
          <p:cNvSpPr>
            <a:spLocks noGrp="1"/>
          </p:cNvSpPr>
          <p:nvPr>
            <p:ph type="sldNum" sz="quarter" idx="12"/>
          </p:nvPr>
        </p:nvSpPr>
        <p:spPr>
          <a:noFill/>
        </p:spPr>
        <p:txBody>
          <a:bodyPr/>
          <a:lstStyle/>
          <a:p>
            <a:fld id="{92C73AD7-A452-4ABF-B30B-44FE0DBED019}" type="slidenum">
              <a:rPr lang="en-US" altLang="zh-CN" smtClean="0"/>
              <a:pPr/>
              <a:t>131</a:t>
            </a:fld>
            <a:endParaRPr lang="en-US" altLang="zh-CN" smtClean="0"/>
          </a:p>
        </p:txBody>
      </p:sp>
      <p:sp>
        <p:nvSpPr>
          <p:cNvPr id="131075" name="Rectangle 2"/>
          <p:cNvSpPr>
            <a:spLocks noChangeArrowheads="1"/>
          </p:cNvSpPr>
          <p:nvPr/>
        </p:nvSpPr>
        <p:spPr bwMode="auto">
          <a:xfrm>
            <a:off x="228600" y="152400"/>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pic>
        <p:nvPicPr>
          <p:cNvPr id="131076" name="Picture 3"/>
          <p:cNvPicPr>
            <a:picLocks noChangeAspect="1" noChangeArrowheads="1"/>
          </p:cNvPicPr>
          <p:nvPr/>
        </p:nvPicPr>
        <p:blipFill>
          <a:blip r:embed="rId4"/>
          <a:srcRect/>
          <a:stretch>
            <a:fillRect/>
          </a:stretch>
        </p:blipFill>
        <p:spPr bwMode="auto">
          <a:xfrm>
            <a:off x="152400" y="2895600"/>
            <a:ext cx="8812213" cy="3784600"/>
          </a:xfrm>
          <a:prstGeom prst="rect">
            <a:avLst/>
          </a:prstGeom>
          <a:noFill/>
          <a:ln w="9525">
            <a:noFill/>
            <a:miter lim="800000"/>
            <a:headEnd/>
            <a:tailEnd/>
          </a:ln>
        </p:spPr>
      </p:pic>
      <p:graphicFrame>
        <p:nvGraphicFramePr>
          <p:cNvPr id="131077" name="Object 0"/>
          <p:cNvGraphicFramePr>
            <a:graphicFrameLocks noChangeAspect="1"/>
          </p:cNvGraphicFramePr>
          <p:nvPr/>
        </p:nvGraphicFramePr>
        <p:xfrm>
          <a:off x="152400" y="609600"/>
          <a:ext cx="8839200" cy="2198688"/>
        </p:xfrm>
        <a:graphic>
          <a:graphicData uri="http://schemas.openxmlformats.org/presentationml/2006/ole">
            <mc:AlternateContent xmlns:mc="http://schemas.openxmlformats.org/markup-compatibility/2006">
              <mc:Choice xmlns:v="urn:schemas-microsoft-com:vml" Requires="v">
                <p:oleObj spid="_x0000_s131271" name="位图图像" r:id="rId5" imgW="7430537" imgH="1848108" progId="PBrush">
                  <p:embed/>
                </p:oleObj>
              </mc:Choice>
              <mc:Fallback>
                <p:oleObj name="位图图像" r:id="rId5" imgW="7430537" imgH="1848108" progId="PBrush">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609600"/>
                        <a:ext cx="8839200" cy="2198688"/>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365" name="Rectangle 5"/>
          <p:cNvSpPr>
            <a:spLocks noChangeArrowheads="1"/>
          </p:cNvSpPr>
          <p:nvPr/>
        </p:nvSpPr>
        <p:spPr bwMode="auto">
          <a:xfrm>
            <a:off x="228600" y="152400"/>
            <a:ext cx="861060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① </a:t>
            </a:r>
            <a:r>
              <a:rPr lang="zh-CN" altLang="en-US">
                <a:latin typeface="宋体" pitchFamily="2" charset="-122"/>
              </a:rPr>
              <a:t>操作控制器</a:t>
            </a:r>
            <a:r>
              <a:rPr lang="en-US" altLang="zh-CN">
                <a:latin typeface="宋体" pitchFamily="2" charset="-122"/>
              </a:rPr>
              <a:t>OC</a:t>
            </a:r>
            <a:r>
              <a:rPr lang="zh-CN" altLang="en-US">
                <a:latin typeface="宋体" pitchFamily="2" charset="-122"/>
              </a:rPr>
              <a:t>送出操作命令到通用寄存器，选择</a:t>
            </a:r>
            <a:r>
              <a:rPr lang="en-US" altLang="zh-CN">
                <a:latin typeface="宋体" pitchFamily="2" charset="-122"/>
              </a:rPr>
              <a:t>R3=30</a:t>
            </a:r>
            <a:r>
              <a:rPr lang="zh-CN" altLang="en-US">
                <a:latin typeface="宋体" pitchFamily="2" charset="-122"/>
              </a:rPr>
              <a:t>做数据存储器的地址单元；</a:t>
            </a:r>
          </a:p>
        </p:txBody>
      </p:sp>
      <p:sp>
        <p:nvSpPr>
          <p:cNvPr id="399366" name="Rectangle 6"/>
          <p:cNvSpPr>
            <a:spLocks noChangeArrowheads="1"/>
          </p:cNvSpPr>
          <p:nvPr/>
        </p:nvSpPr>
        <p:spPr bwMode="auto">
          <a:xfrm>
            <a:off x="228600" y="152400"/>
            <a:ext cx="813593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② OC</a:t>
            </a:r>
            <a:r>
              <a:rPr lang="zh-CN" altLang="en-US">
                <a:latin typeface="宋体" pitchFamily="2" charset="-122"/>
              </a:rPr>
              <a:t>发出操作命令，打开通用寄存器输出三态门，将地址</a:t>
            </a:r>
            <a:r>
              <a:rPr lang="en-US" altLang="zh-CN">
                <a:latin typeface="宋体" pitchFamily="2" charset="-122"/>
              </a:rPr>
              <a:t>30</a:t>
            </a:r>
            <a:r>
              <a:rPr lang="zh-CN" altLang="en-US">
                <a:latin typeface="宋体" pitchFamily="2" charset="-122"/>
              </a:rPr>
              <a:t>放到</a:t>
            </a:r>
            <a:r>
              <a:rPr lang="en-US" altLang="zh-CN">
                <a:latin typeface="宋体" pitchFamily="2" charset="-122"/>
              </a:rPr>
              <a:t>DBUS</a:t>
            </a:r>
            <a:r>
              <a:rPr lang="zh-CN" altLang="en-US">
                <a:latin typeface="宋体" pitchFamily="2" charset="-122"/>
              </a:rPr>
              <a:t>上；</a:t>
            </a:r>
          </a:p>
        </p:txBody>
      </p:sp>
      <p:sp>
        <p:nvSpPr>
          <p:cNvPr id="399367" name="Rectangle 7"/>
          <p:cNvSpPr>
            <a:spLocks noChangeArrowheads="1"/>
          </p:cNvSpPr>
          <p:nvPr/>
        </p:nvSpPr>
        <p:spPr bwMode="auto">
          <a:xfrm>
            <a:off x="228600" y="152400"/>
            <a:ext cx="7559675" cy="366713"/>
          </a:xfrm>
          <a:prstGeom prst="rect">
            <a:avLst/>
          </a:prstGeom>
          <a:solidFill>
            <a:srgbClr val="0000FF"/>
          </a:solidFill>
          <a:ln w="12700" cap="sq">
            <a:noFill/>
            <a:miter lim="800000"/>
            <a:headEnd type="none" w="sm" len="sm"/>
            <a:tailEnd type="none" w="sm" len="sm"/>
          </a:ln>
        </p:spPr>
        <p:txBody>
          <a:bodyPr>
            <a:spAutoFit/>
          </a:bodyPr>
          <a:lstStyle/>
          <a:p>
            <a:r>
              <a:rPr lang="en-US" altLang="zh-CN">
                <a:latin typeface="宋体" pitchFamily="2" charset="-122"/>
              </a:rPr>
              <a:t>③ OC</a:t>
            </a:r>
            <a:r>
              <a:rPr lang="zh-CN" altLang="en-US">
                <a:latin typeface="宋体" pitchFamily="2" charset="-122"/>
              </a:rPr>
              <a:t>发出操作命令，将地址</a:t>
            </a:r>
            <a:r>
              <a:rPr lang="en-US" altLang="zh-CN">
                <a:latin typeface="宋体" pitchFamily="2" charset="-122"/>
              </a:rPr>
              <a:t>30</a:t>
            </a:r>
            <a:r>
              <a:rPr lang="zh-CN" altLang="en-US">
                <a:latin typeface="宋体" pitchFamily="2" charset="-122"/>
              </a:rPr>
              <a:t>打入</a:t>
            </a:r>
            <a:r>
              <a:rPr lang="en-US" altLang="zh-CN">
                <a:latin typeface="宋体" pitchFamily="2" charset="-122"/>
              </a:rPr>
              <a:t>AR</a:t>
            </a:r>
            <a:r>
              <a:rPr lang="zh-CN" altLang="en-US">
                <a:latin typeface="宋体" pitchFamily="2" charset="-122"/>
              </a:rPr>
              <a:t>，并进行数存地址译码；</a:t>
            </a:r>
          </a:p>
        </p:txBody>
      </p:sp>
      <p:sp>
        <p:nvSpPr>
          <p:cNvPr id="399368" name="Rectangle 8"/>
          <p:cNvSpPr>
            <a:spLocks noChangeArrowheads="1"/>
          </p:cNvSpPr>
          <p:nvPr/>
        </p:nvSpPr>
        <p:spPr bwMode="auto">
          <a:xfrm>
            <a:off x="228600" y="152400"/>
            <a:ext cx="7981950"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④ OC</a:t>
            </a:r>
            <a:r>
              <a:rPr lang="zh-CN" altLang="en-US">
                <a:latin typeface="宋体" pitchFamily="2" charset="-122"/>
              </a:rPr>
              <a:t>发出操作命令到通用寄存器，选择</a:t>
            </a:r>
            <a:r>
              <a:rPr lang="en-US" altLang="zh-CN">
                <a:latin typeface="宋体" pitchFamily="2" charset="-122"/>
              </a:rPr>
              <a:t>R2=120</a:t>
            </a:r>
            <a:r>
              <a:rPr lang="zh-CN" altLang="en-US">
                <a:latin typeface="宋体" pitchFamily="2" charset="-122"/>
              </a:rPr>
              <a:t>，作为数存的写入数据；</a:t>
            </a:r>
          </a:p>
        </p:txBody>
      </p:sp>
      <p:sp>
        <p:nvSpPr>
          <p:cNvPr id="399369" name="Rectangle 9"/>
          <p:cNvSpPr>
            <a:spLocks noChangeArrowheads="1"/>
          </p:cNvSpPr>
          <p:nvPr/>
        </p:nvSpPr>
        <p:spPr bwMode="auto">
          <a:xfrm>
            <a:off x="228600" y="152400"/>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⑤ OC</a:t>
            </a:r>
            <a:r>
              <a:rPr lang="zh-CN" altLang="en-US">
                <a:latin typeface="宋体" pitchFamily="2" charset="-122"/>
              </a:rPr>
              <a:t>发出操作命令，打开通用寄存器输出三态门，将数据</a:t>
            </a:r>
            <a:r>
              <a:rPr lang="en-US" altLang="zh-CN">
                <a:latin typeface="宋体" pitchFamily="2" charset="-122"/>
              </a:rPr>
              <a:t>120</a:t>
            </a:r>
            <a:r>
              <a:rPr lang="zh-CN" altLang="en-US">
                <a:latin typeface="宋体" pitchFamily="2" charset="-122"/>
              </a:rPr>
              <a:t>放到</a:t>
            </a:r>
            <a:r>
              <a:rPr lang="en-US" altLang="zh-CN">
                <a:latin typeface="宋体" pitchFamily="2" charset="-122"/>
              </a:rPr>
              <a:t>DBUS</a:t>
            </a:r>
            <a:r>
              <a:rPr lang="zh-CN" altLang="en-US">
                <a:latin typeface="宋体" pitchFamily="2" charset="-122"/>
              </a:rPr>
              <a:t>上</a:t>
            </a:r>
            <a:r>
              <a:rPr lang="zh-CN" altLang="en-US" b="0">
                <a:solidFill>
                  <a:srgbClr val="E8060B"/>
                </a:solidFill>
              </a:rPr>
              <a:t>。</a:t>
            </a:r>
          </a:p>
        </p:txBody>
      </p:sp>
      <p:sp>
        <p:nvSpPr>
          <p:cNvPr id="399370" name="Rectangle 10"/>
          <p:cNvSpPr>
            <a:spLocks noChangeArrowheads="1"/>
          </p:cNvSpPr>
          <p:nvPr/>
        </p:nvSpPr>
        <p:spPr bwMode="auto">
          <a:xfrm>
            <a:off x="228600" y="152400"/>
            <a:ext cx="7939088" cy="366713"/>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⑥OC</a:t>
            </a:r>
            <a:r>
              <a:rPr lang="zh-CN" altLang="en-US">
                <a:latin typeface="宋体" pitchFamily="2" charset="-122"/>
              </a:rPr>
              <a:t>发出操作命令，将</a:t>
            </a:r>
            <a:r>
              <a:rPr lang="en-US" altLang="zh-CN">
                <a:latin typeface="宋体" pitchFamily="2" charset="-122"/>
              </a:rPr>
              <a:t>DBUS</a:t>
            </a:r>
            <a:r>
              <a:rPr lang="zh-CN" altLang="en-US">
                <a:latin typeface="宋体" pitchFamily="2" charset="-122"/>
              </a:rPr>
              <a:t>上数据</a:t>
            </a:r>
            <a:r>
              <a:rPr lang="en-US" altLang="zh-CN">
                <a:latin typeface="宋体" pitchFamily="2" charset="-122"/>
              </a:rPr>
              <a:t>120</a:t>
            </a:r>
            <a:r>
              <a:rPr lang="zh-CN" altLang="en-US">
                <a:latin typeface="宋体" pitchFamily="2" charset="-122"/>
              </a:rPr>
              <a:t>写到</a:t>
            </a:r>
            <a:r>
              <a:rPr lang="en-US" altLang="zh-CN">
                <a:latin typeface="宋体" pitchFamily="2" charset="-122"/>
              </a:rPr>
              <a:t>30</a:t>
            </a:r>
            <a:r>
              <a:rPr lang="zh-CN" altLang="en-US">
                <a:latin typeface="宋体" pitchFamily="2" charset="-122"/>
              </a:rPr>
              <a:t>单元中</a:t>
            </a:r>
            <a:r>
              <a:rPr lang="zh-CN" altLang="en-US" b="0">
                <a:solidFill>
                  <a:srgbClr val="E8060B"/>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9365"/>
                                        </p:tgtEl>
                                        <p:attrNameLst>
                                          <p:attrName>style.visibility</p:attrName>
                                        </p:attrNameLst>
                                      </p:cBhvr>
                                      <p:to>
                                        <p:strVal val="visible"/>
                                      </p:to>
                                    </p:set>
                                    <p:animEffect transition="in" filter="checkerboard(across)">
                                      <p:cBhvr>
                                        <p:cTn id="7" dur="500"/>
                                        <p:tgtEl>
                                          <p:spTgt spid="399365"/>
                                        </p:tgtEl>
                                      </p:cBhvr>
                                    </p:animEffect>
                                  </p:childTnLst>
                                  <p:subTnLst>
                                    <p:set>
                                      <p:cBhvr override="childStyle">
                                        <p:cTn dur="1" fill="hold" display="0" masterRel="nextClick" afterEffect="1"/>
                                        <p:tgtEl>
                                          <p:spTgt spid="39936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99366"/>
                                        </p:tgtEl>
                                        <p:attrNameLst>
                                          <p:attrName>style.visibility</p:attrName>
                                        </p:attrNameLst>
                                      </p:cBhvr>
                                      <p:to>
                                        <p:strVal val="visible"/>
                                      </p:to>
                                    </p:set>
                                    <p:animEffect transition="in" filter="checkerboard(across)">
                                      <p:cBhvr>
                                        <p:cTn id="12" dur="500"/>
                                        <p:tgtEl>
                                          <p:spTgt spid="399366"/>
                                        </p:tgtEl>
                                      </p:cBhvr>
                                    </p:animEffect>
                                  </p:childTnLst>
                                  <p:subTnLst>
                                    <p:set>
                                      <p:cBhvr override="childStyle">
                                        <p:cTn dur="1" fill="hold" display="0" masterRel="nextClick" afterEffect="1"/>
                                        <p:tgtEl>
                                          <p:spTgt spid="39936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9367"/>
                                        </p:tgtEl>
                                        <p:attrNameLst>
                                          <p:attrName>style.visibility</p:attrName>
                                        </p:attrNameLst>
                                      </p:cBhvr>
                                      <p:to>
                                        <p:strVal val="visible"/>
                                      </p:to>
                                    </p:set>
                                    <p:animEffect transition="in" filter="checkerboard(across)">
                                      <p:cBhvr>
                                        <p:cTn id="17" dur="500"/>
                                        <p:tgtEl>
                                          <p:spTgt spid="399367"/>
                                        </p:tgtEl>
                                      </p:cBhvr>
                                    </p:animEffect>
                                  </p:childTnLst>
                                  <p:subTnLst>
                                    <p:set>
                                      <p:cBhvr override="childStyle">
                                        <p:cTn dur="1" fill="hold" display="0" masterRel="nextClick" afterEffect="1"/>
                                        <p:tgtEl>
                                          <p:spTgt spid="39936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99368"/>
                                        </p:tgtEl>
                                        <p:attrNameLst>
                                          <p:attrName>style.visibility</p:attrName>
                                        </p:attrNameLst>
                                      </p:cBhvr>
                                      <p:to>
                                        <p:strVal val="visible"/>
                                      </p:to>
                                    </p:set>
                                    <p:animEffect transition="in" filter="checkerboard(across)">
                                      <p:cBhvr>
                                        <p:cTn id="22" dur="500"/>
                                        <p:tgtEl>
                                          <p:spTgt spid="399368"/>
                                        </p:tgtEl>
                                      </p:cBhvr>
                                    </p:animEffect>
                                  </p:childTnLst>
                                  <p:subTnLst>
                                    <p:set>
                                      <p:cBhvr override="childStyle">
                                        <p:cTn dur="1" fill="hold" display="0" masterRel="nextClick" afterEffect="1"/>
                                        <p:tgtEl>
                                          <p:spTgt spid="399368"/>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99369"/>
                                        </p:tgtEl>
                                        <p:attrNameLst>
                                          <p:attrName>style.visibility</p:attrName>
                                        </p:attrNameLst>
                                      </p:cBhvr>
                                      <p:to>
                                        <p:strVal val="visible"/>
                                      </p:to>
                                    </p:set>
                                    <p:animEffect transition="in" filter="checkerboard(across)">
                                      <p:cBhvr>
                                        <p:cTn id="27" dur="500"/>
                                        <p:tgtEl>
                                          <p:spTgt spid="399369"/>
                                        </p:tgtEl>
                                      </p:cBhvr>
                                    </p:animEffect>
                                  </p:childTnLst>
                                  <p:subTnLst>
                                    <p:set>
                                      <p:cBhvr override="childStyle">
                                        <p:cTn dur="1" fill="hold" display="0" masterRel="nextClick" afterEffect="1"/>
                                        <p:tgtEl>
                                          <p:spTgt spid="39936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99370"/>
                                        </p:tgtEl>
                                        <p:attrNameLst>
                                          <p:attrName>style.visibility</p:attrName>
                                        </p:attrNameLst>
                                      </p:cBhvr>
                                      <p:to>
                                        <p:strVal val="visible"/>
                                      </p:to>
                                    </p:set>
                                    <p:animEffect transition="in" filter="checkerboard(across)">
                                      <p:cBhvr>
                                        <p:cTn id="32" dur="500"/>
                                        <p:tgtEl>
                                          <p:spTgt spid="399370"/>
                                        </p:tgtEl>
                                      </p:cBhvr>
                                    </p:animEffect>
                                  </p:childTnLst>
                                  <p:subTnLst>
                                    <p:set>
                                      <p:cBhvr override="childStyle">
                                        <p:cTn dur="1" fill="hold" display="0" masterRel="nextClick" afterEffect="1"/>
                                        <p:tgtEl>
                                          <p:spTgt spid="3993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5" grpId="0" animBg="1" autoUpdateAnimBg="0"/>
      <p:bldP spid="399366" grpId="0" animBg="1" autoUpdateAnimBg="0"/>
      <p:bldP spid="399367" grpId="0" animBg="1" autoUpdateAnimBg="0"/>
      <p:bldP spid="399368" grpId="0" animBg="1" autoUpdateAnimBg="0"/>
      <p:bldP spid="399369" grpId="0" animBg="1" autoUpdateAnimBg="0"/>
      <p:bldP spid="399370" grpId="0" animBg="1"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098" name="灯片编号占位符 5"/>
          <p:cNvSpPr>
            <a:spLocks noGrp="1"/>
          </p:cNvSpPr>
          <p:nvPr>
            <p:ph type="sldNum" sz="quarter" idx="12"/>
          </p:nvPr>
        </p:nvSpPr>
        <p:spPr>
          <a:noFill/>
        </p:spPr>
        <p:txBody>
          <a:bodyPr/>
          <a:lstStyle/>
          <a:p>
            <a:fld id="{D5F3387F-0D10-4A15-9E1B-440F832B7542}" type="slidenum">
              <a:rPr lang="en-US" altLang="zh-CN" smtClean="0"/>
              <a:pPr/>
              <a:t>132</a:t>
            </a:fld>
            <a:endParaRPr lang="en-US" altLang="zh-CN" smtClean="0"/>
          </a:p>
        </p:txBody>
      </p:sp>
      <p:graphicFrame>
        <p:nvGraphicFramePr>
          <p:cNvPr id="132099" name="Object 0"/>
          <p:cNvGraphicFramePr>
            <a:graphicFrameLocks noChangeAspect="1"/>
          </p:cNvGraphicFramePr>
          <p:nvPr/>
        </p:nvGraphicFramePr>
        <p:xfrm>
          <a:off x="228600" y="838200"/>
          <a:ext cx="8686800" cy="2176463"/>
        </p:xfrm>
        <a:graphic>
          <a:graphicData uri="http://schemas.openxmlformats.org/presentationml/2006/ole">
            <mc:AlternateContent xmlns:mc="http://schemas.openxmlformats.org/markup-compatibility/2006">
              <mc:Choice xmlns:v="urn:schemas-microsoft-com:vml" Requires="v">
                <p:oleObj spid="_x0000_s132293" name="位图图像" r:id="rId4" imgW="7411485" imgH="1857143" progId="PBrush">
                  <p:embed/>
                </p:oleObj>
              </mc:Choice>
              <mc:Fallback>
                <p:oleObj name="位图图像" r:id="rId4" imgW="7411485" imgH="1857143" progId="PBrush">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838200"/>
                        <a:ext cx="8686800" cy="2176463"/>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2100" name="Rectangle 3"/>
          <p:cNvSpPr>
            <a:spLocks noChangeArrowheads="1"/>
          </p:cNvSpPr>
          <p:nvPr/>
        </p:nvSpPr>
        <p:spPr bwMode="auto">
          <a:xfrm>
            <a:off x="250825" y="327025"/>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pic>
        <p:nvPicPr>
          <p:cNvPr id="132101" name="Picture 4"/>
          <p:cNvPicPr>
            <a:picLocks noChangeAspect="1" noChangeArrowheads="1"/>
          </p:cNvPicPr>
          <p:nvPr/>
        </p:nvPicPr>
        <p:blipFill>
          <a:blip r:embed="rId6"/>
          <a:srcRect/>
          <a:stretch>
            <a:fillRect/>
          </a:stretch>
        </p:blipFill>
        <p:spPr bwMode="auto">
          <a:xfrm>
            <a:off x="152400" y="3124200"/>
            <a:ext cx="8748713" cy="3581400"/>
          </a:xfrm>
          <a:prstGeom prst="rect">
            <a:avLst/>
          </a:prstGeom>
          <a:noFill/>
          <a:ln w="9525">
            <a:noFill/>
            <a:miter lim="800000"/>
            <a:headEnd/>
            <a:tailEnd/>
          </a:ln>
        </p:spPr>
      </p:pic>
      <p:sp>
        <p:nvSpPr>
          <p:cNvPr id="401413" name="Rectangle 5"/>
          <p:cNvSpPr>
            <a:spLocks noChangeArrowheads="1"/>
          </p:cNvSpPr>
          <p:nvPr/>
        </p:nvSpPr>
        <p:spPr bwMode="auto">
          <a:xfrm>
            <a:off x="323850" y="161925"/>
            <a:ext cx="8515350" cy="641350"/>
          </a:xfrm>
          <a:prstGeom prst="rect">
            <a:avLst/>
          </a:prstGeom>
          <a:solidFill>
            <a:srgbClr val="0000FF"/>
          </a:solidFill>
          <a:ln w="12700" cap="sq" algn="ctr">
            <a:noFill/>
            <a:miter lim="800000"/>
            <a:headEnd type="none" w="sm" len="sm"/>
            <a:tailEnd type="none" w="sm" len="sm"/>
          </a:ln>
        </p:spPr>
        <p:txBody>
          <a:bodyPr>
            <a:spAutoFit/>
          </a:bodyPr>
          <a:lstStyle/>
          <a:p>
            <a:r>
              <a:rPr lang="en-US" altLang="zh-CN">
                <a:latin typeface="宋体" pitchFamily="2" charset="-122"/>
              </a:rPr>
              <a:t>① OC</a:t>
            </a:r>
            <a:r>
              <a:rPr lang="zh-CN" altLang="en-US">
                <a:latin typeface="宋体" pitchFamily="2" charset="-122"/>
              </a:rPr>
              <a:t>发生操作控制命令，打开指令寄存器</a:t>
            </a:r>
            <a:r>
              <a:rPr lang="en-US" altLang="zh-CN">
                <a:latin typeface="宋体" pitchFamily="2" charset="-122"/>
              </a:rPr>
              <a:t>IR</a:t>
            </a:r>
            <a:r>
              <a:rPr lang="zh-CN" altLang="en-US">
                <a:latin typeface="宋体" pitchFamily="2" charset="-122"/>
              </a:rPr>
              <a:t>的输出三态门，将</a:t>
            </a:r>
            <a:r>
              <a:rPr lang="en-US" altLang="zh-CN">
                <a:latin typeface="宋体" pitchFamily="2" charset="-122"/>
              </a:rPr>
              <a:t>IR</a:t>
            </a:r>
            <a:r>
              <a:rPr lang="zh-CN" altLang="en-US">
                <a:latin typeface="宋体" pitchFamily="2" charset="-122"/>
              </a:rPr>
              <a:t>中的地址码</a:t>
            </a:r>
            <a:r>
              <a:rPr lang="en-US" altLang="zh-CN">
                <a:latin typeface="宋体" pitchFamily="2" charset="-122"/>
              </a:rPr>
              <a:t>101</a:t>
            </a:r>
            <a:r>
              <a:rPr lang="zh-CN" altLang="en-US">
                <a:latin typeface="宋体" pitchFamily="2" charset="-122"/>
              </a:rPr>
              <a:t>发送到</a:t>
            </a:r>
            <a:r>
              <a:rPr lang="en-US" altLang="zh-CN">
                <a:latin typeface="宋体" pitchFamily="2" charset="-122"/>
              </a:rPr>
              <a:t>DBUS</a:t>
            </a:r>
            <a:r>
              <a:rPr lang="zh-CN" altLang="en-US">
                <a:latin typeface="宋体" pitchFamily="2" charset="-122"/>
              </a:rPr>
              <a:t>上；</a:t>
            </a:r>
          </a:p>
        </p:txBody>
      </p:sp>
      <p:sp>
        <p:nvSpPr>
          <p:cNvPr id="401414" name="Rectangle 6"/>
          <p:cNvSpPr>
            <a:spLocks noChangeArrowheads="1"/>
          </p:cNvSpPr>
          <p:nvPr/>
        </p:nvSpPr>
        <p:spPr bwMode="auto">
          <a:xfrm>
            <a:off x="304800" y="152400"/>
            <a:ext cx="8588375" cy="641350"/>
          </a:xfrm>
          <a:prstGeom prst="rect">
            <a:avLst/>
          </a:prstGeom>
          <a:solidFill>
            <a:srgbClr val="0000FF"/>
          </a:solidFill>
          <a:ln w="12700" cap="sq" algn="ctr">
            <a:noFill/>
            <a:miter lim="800000"/>
            <a:headEnd type="none" w="sm" len="sm"/>
            <a:tailEnd type="none" w="sm" len="sm"/>
          </a:ln>
        </p:spPr>
        <p:txBody>
          <a:bodyPr>
            <a:spAutoFit/>
          </a:bodyPr>
          <a:lstStyle/>
          <a:p>
            <a:pPr>
              <a:spcBef>
                <a:spcPct val="30000"/>
              </a:spcBef>
            </a:pPr>
            <a:r>
              <a:rPr lang="en-US" altLang="zh-CN">
                <a:latin typeface="宋体" pitchFamily="2" charset="-122"/>
              </a:rPr>
              <a:t>② OC</a:t>
            </a:r>
            <a:r>
              <a:rPr lang="zh-CN" altLang="en-US">
                <a:latin typeface="宋体" pitchFamily="2" charset="-122"/>
              </a:rPr>
              <a:t>发出操作控制命令，将</a:t>
            </a:r>
            <a:r>
              <a:rPr lang="en-US" altLang="zh-CN">
                <a:latin typeface="宋体" pitchFamily="2" charset="-122"/>
              </a:rPr>
              <a:t>DBUS</a:t>
            </a:r>
            <a:r>
              <a:rPr lang="zh-CN" altLang="en-US">
                <a:latin typeface="宋体" pitchFamily="2" charset="-122"/>
              </a:rPr>
              <a:t>上的地址码</a:t>
            </a:r>
            <a:r>
              <a:rPr lang="en-US" altLang="zh-CN">
                <a:latin typeface="宋体" pitchFamily="2" charset="-122"/>
              </a:rPr>
              <a:t>101</a:t>
            </a:r>
            <a:r>
              <a:rPr lang="zh-CN" altLang="en-US">
                <a:latin typeface="宋体" pitchFamily="2" charset="-122"/>
              </a:rPr>
              <a:t>打入到程序计数器</a:t>
            </a:r>
            <a:r>
              <a:rPr lang="en-US" altLang="zh-CN">
                <a:latin typeface="宋体" pitchFamily="2" charset="-122"/>
              </a:rPr>
              <a:t>PC</a:t>
            </a:r>
            <a:r>
              <a:rPr lang="zh-CN" altLang="en-US">
                <a:latin typeface="宋体" pitchFamily="2" charset="-122"/>
              </a:rPr>
              <a:t>中。至此</a:t>
            </a:r>
            <a:r>
              <a:rPr lang="en-US" altLang="zh-CN">
                <a:latin typeface="宋体" pitchFamily="2" charset="-122"/>
              </a:rPr>
              <a:t>JMP</a:t>
            </a:r>
            <a:r>
              <a:rPr lang="zh-CN" altLang="en-US">
                <a:latin typeface="宋体" pitchFamily="2" charset="-122"/>
              </a:rPr>
              <a:t>指令执行周期结束。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1413"/>
                                        </p:tgtEl>
                                        <p:attrNameLst>
                                          <p:attrName>style.visibility</p:attrName>
                                        </p:attrNameLst>
                                      </p:cBhvr>
                                      <p:to>
                                        <p:strVal val="visible"/>
                                      </p:to>
                                    </p:set>
                                    <p:animEffect transition="in" filter="checkerboard(across)">
                                      <p:cBhvr>
                                        <p:cTn id="7" dur="500"/>
                                        <p:tgtEl>
                                          <p:spTgt spid="401413"/>
                                        </p:tgtEl>
                                      </p:cBhvr>
                                    </p:animEffect>
                                  </p:childTnLst>
                                  <p:subTnLst>
                                    <p:set>
                                      <p:cBhvr override="childStyle">
                                        <p:cTn dur="1" fill="hold" display="0" masterRel="nextClick" afterEffect="1"/>
                                        <p:tgtEl>
                                          <p:spTgt spid="40141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1414"/>
                                        </p:tgtEl>
                                        <p:attrNameLst>
                                          <p:attrName>style.visibility</p:attrName>
                                        </p:attrNameLst>
                                      </p:cBhvr>
                                      <p:to>
                                        <p:strVal val="visible"/>
                                      </p:to>
                                    </p:set>
                                    <p:animEffect transition="in" filter="checkerboard(across)">
                                      <p:cBhvr>
                                        <p:cTn id="12" dur="500"/>
                                        <p:tgtEl>
                                          <p:spTgt spid="401414"/>
                                        </p:tgtEl>
                                      </p:cBhvr>
                                    </p:animEffect>
                                  </p:childTnLst>
                                  <p:subTnLst>
                                    <p:set>
                                      <p:cBhvr override="childStyle">
                                        <p:cTn dur="1" fill="hold" display="0" masterRel="nextClick" afterEffect="1"/>
                                        <p:tgtEl>
                                          <p:spTgt spid="4014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3" grpId="0" animBg="1" autoUpdateAnimBg="0"/>
      <p:bldP spid="401414"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22" name="灯片编号占位符 3"/>
          <p:cNvSpPr>
            <a:spLocks noGrp="1"/>
          </p:cNvSpPr>
          <p:nvPr>
            <p:ph type="sldNum" sz="quarter" idx="12"/>
          </p:nvPr>
        </p:nvSpPr>
        <p:spPr>
          <a:noFill/>
        </p:spPr>
        <p:txBody>
          <a:bodyPr/>
          <a:lstStyle/>
          <a:p>
            <a:fld id="{AC3E1D23-A392-4520-99E5-2CFD05D77C24}" type="slidenum">
              <a:rPr lang="en-US" altLang="zh-CN" smtClean="0"/>
              <a:pPr/>
              <a:t>133</a:t>
            </a:fld>
            <a:endParaRPr lang="en-US" altLang="zh-CN" smtClean="0"/>
          </a:p>
        </p:txBody>
      </p:sp>
      <p:sp>
        <p:nvSpPr>
          <p:cNvPr id="133123" name="Rectangle 2"/>
          <p:cNvSpPr>
            <a:spLocks noChangeArrowheads="1"/>
          </p:cNvSpPr>
          <p:nvPr/>
        </p:nvSpPr>
        <p:spPr bwMode="auto">
          <a:xfrm>
            <a:off x="228600" y="228600"/>
            <a:ext cx="7543800" cy="358775"/>
          </a:xfrm>
          <a:prstGeom prst="rect">
            <a:avLst/>
          </a:prstGeom>
          <a:noFill/>
          <a:ln w="9525">
            <a:noFill/>
            <a:miter lim="800000"/>
            <a:headEnd/>
            <a:tailEnd/>
          </a:ln>
        </p:spPr>
        <p:txBody>
          <a:bodyPr anchor="b"/>
          <a:lstStyle/>
          <a:p>
            <a:r>
              <a:rPr lang="zh-CN" altLang="en-US" sz="2400">
                <a:solidFill>
                  <a:schemeClr val="tx1"/>
                </a:solidFill>
                <a:latin typeface="宋体" pitchFamily="2" charset="-122"/>
              </a:rPr>
              <a:t>（</a:t>
            </a:r>
            <a:r>
              <a:rPr lang="en-US" altLang="zh-CN" sz="2400">
                <a:solidFill>
                  <a:schemeClr val="tx1"/>
                </a:solidFill>
                <a:latin typeface="宋体" pitchFamily="2" charset="-122"/>
              </a:rPr>
              <a:t>2</a:t>
            </a:r>
            <a:r>
              <a:rPr lang="zh-CN" altLang="en-US" sz="2400">
                <a:solidFill>
                  <a:schemeClr val="tx1"/>
                </a:solidFill>
                <a:latin typeface="宋体" pitchFamily="2" charset="-122"/>
              </a:rPr>
              <a:t>）列出微操作时间表（根据数据通路和操作流程图）</a:t>
            </a:r>
          </a:p>
        </p:txBody>
      </p:sp>
      <p:sp>
        <p:nvSpPr>
          <p:cNvPr id="133124" name="Rectangle 3"/>
          <p:cNvSpPr>
            <a:spLocks noChangeArrowheads="1"/>
          </p:cNvSpPr>
          <p:nvPr/>
        </p:nvSpPr>
        <p:spPr bwMode="auto">
          <a:xfrm>
            <a:off x="228600" y="3124200"/>
            <a:ext cx="8763000" cy="3444875"/>
          </a:xfrm>
          <a:prstGeom prst="rect">
            <a:avLst/>
          </a:prstGeom>
          <a:solidFill>
            <a:srgbClr val="CCFFFF"/>
          </a:solidFill>
          <a:ln w="12700" cap="sq">
            <a:noFill/>
            <a:miter lim="800000"/>
            <a:headEnd type="none" w="sm" len="sm"/>
            <a:tailEnd type="none" w="sm" len="sm"/>
          </a:ln>
        </p:spPr>
        <p:txBody>
          <a:bodyPr>
            <a:spAutoFit/>
          </a:bodyPr>
          <a:lstStyle/>
          <a:p>
            <a:r>
              <a:rPr lang="en-US" altLang="zh-CN" sz="2000" b="0">
                <a:solidFill>
                  <a:schemeClr val="tx1"/>
                </a:solidFill>
                <a:latin typeface="宋体" pitchFamily="2" charset="-122"/>
              </a:rPr>
              <a:t> </a:t>
            </a:r>
            <a:r>
              <a:rPr lang="zh-CN" altLang="en-US" sz="2000">
                <a:solidFill>
                  <a:schemeClr val="tx1"/>
                </a:solidFill>
                <a:latin typeface="宋体" pitchFamily="2" charset="-122"/>
              </a:rPr>
              <a:t>（</a:t>
            </a:r>
            <a:r>
              <a:rPr lang="en-US" altLang="zh-CN" sz="2000">
                <a:solidFill>
                  <a:schemeClr val="tx1"/>
                </a:solidFill>
                <a:latin typeface="宋体" pitchFamily="2" charset="-122"/>
              </a:rPr>
              <a:t>3</a:t>
            </a:r>
            <a:r>
              <a:rPr lang="zh-CN" altLang="en-US" sz="2000">
                <a:solidFill>
                  <a:schemeClr val="tx1"/>
                </a:solidFill>
                <a:latin typeface="宋体" pitchFamily="2" charset="-122"/>
              </a:rPr>
              <a:t>）进行微操作信号的综合</a:t>
            </a:r>
          </a:p>
          <a:p>
            <a:r>
              <a:rPr lang="zh-CN" altLang="en-US" sz="2000" b="0">
                <a:solidFill>
                  <a:schemeClr val="tx1"/>
                </a:solidFill>
                <a:latin typeface="宋体" pitchFamily="2" charset="-122"/>
              </a:rPr>
              <a:t>        </a:t>
            </a:r>
            <a:r>
              <a:rPr lang="en-US" altLang="zh-CN" sz="2000">
                <a:solidFill>
                  <a:schemeClr val="tx1"/>
                </a:solidFill>
                <a:latin typeface="宋体" pitchFamily="2" charset="-122"/>
              </a:rPr>
              <a:t>RD</a:t>
            </a:r>
            <a:r>
              <a:rPr lang="zh-CN" altLang="en-US" sz="2000">
                <a:solidFill>
                  <a:schemeClr val="tx1"/>
                </a:solidFill>
                <a:latin typeface="宋体" pitchFamily="2" charset="-122"/>
              </a:rPr>
              <a:t>（</a:t>
            </a:r>
            <a:r>
              <a:rPr lang="en-US" altLang="zh-CN" sz="2000">
                <a:solidFill>
                  <a:schemeClr val="tx1"/>
                </a:solidFill>
                <a:latin typeface="宋体" pitchFamily="2" charset="-122"/>
              </a:rPr>
              <a:t>I</a:t>
            </a:r>
            <a:r>
              <a:rPr lang="zh-CN" altLang="en-US" sz="2000">
                <a:solidFill>
                  <a:schemeClr val="tx1"/>
                </a:solidFill>
                <a:latin typeface="宋体" pitchFamily="2" charset="-122"/>
              </a:rPr>
              <a:t>）</a:t>
            </a:r>
            <a:r>
              <a:rPr lang="en-US" altLang="zh-CN" sz="2000">
                <a:solidFill>
                  <a:schemeClr val="tx1"/>
                </a:solidFill>
                <a:latin typeface="宋体" pitchFamily="2" charset="-122"/>
              </a:rPr>
              <a:t>= M1</a:t>
            </a:r>
          </a:p>
          <a:p>
            <a:pPr lvl="1"/>
            <a:r>
              <a:rPr lang="en-US" altLang="zh-CN" sz="2000">
                <a:solidFill>
                  <a:schemeClr val="tx1"/>
                </a:solidFill>
                <a:latin typeface="宋体" pitchFamily="2" charset="-122"/>
              </a:rPr>
              <a:t>    RD</a:t>
            </a:r>
            <a:r>
              <a:rPr lang="zh-CN" altLang="en-US" sz="2000">
                <a:solidFill>
                  <a:schemeClr val="tx1"/>
                </a:solidFill>
                <a:latin typeface="宋体" pitchFamily="2" charset="-122"/>
              </a:rPr>
              <a:t>（</a:t>
            </a:r>
            <a:r>
              <a:rPr lang="en-US" altLang="zh-CN" sz="2000">
                <a:solidFill>
                  <a:schemeClr val="tx1"/>
                </a:solidFill>
                <a:latin typeface="宋体" pitchFamily="2" charset="-122"/>
              </a:rPr>
              <a:t>D</a:t>
            </a:r>
            <a:r>
              <a:rPr lang="zh-CN" altLang="en-US" sz="2000">
                <a:solidFill>
                  <a:schemeClr val="tx1"/>
                </a:solidFill>
                <a:latin typeface="宋体" pitchFamily="2" charset="-122"/>
              </a:rPr>
              <a:t>）</a:t>
            </a:r>
            <a:r>
              <a:rPr lang="en-US" altLang="zh-CN" sz="2000">
                <a:solidFill>
                  <a:schemeClr val="tx1"/>
                </a:solidFill>
                <a:latin typeface="宋体" pitchFamily="2" charset="-122"/>
              </a:rPr>
              <a:t>= M3·LAD</a:t>
            </a:r>
          </a:p>
          <a:p>
            <a:pPr lvl="1"/>
            <a:r>
              <a:rPr lang="en-US" altLang="zh-CN" sz="2000">
                <a:solidFill>
                  <a:schemeClr val="tx1"/>
                </a:solidFill>
                <a:latin typeface="宋体" pitchFamily="2" charset="-122"/>
              </a:rPr>
              <a:t>    WE</a:t>
            </a:r>
            <a:r>
              <a:rPr lang="zh-CN" altLang="en-US" sz="2000">
                <a:solidFill>
                  <a:schemeClr val="tx1"/>
                </a:solidFill>
                <a:latin typeface="宋体" pitchFamily="2" charset="-122"/>
              </a:rPr>
              <a:t>（</a:t>
            </a:r>
            <a:r>
              <a:rPr lang="en-US" altLang="zh-CN" sz="2000">
                <a:solidFill>
                  <a:schemeClr val="tx1"/>
                </a:solidFill>
                <a:latin typeface="宋体" pitchFamily="2" charset="-122"/>
              </a:rPr>
              <a:t>D</a:t>
            </a:r>
            <a:r>
              <a:rPr lang="zh-CN" altLang="en-US" sz="2000">
                <a:solidFill>
                  <a:schemeClr val="tx1"/>
                </a:solidFill>
                <a:latin typeface="宋体" pitchFamily="2" charset="-122"/>
              </a:rPr>
              <a:t>）</a:t>
            </a:r>
            <a:r>
              <a:rPr lang="en-US" altLang="zh-CN" sz="2000">
                <a:solidFill>
                  <a:schemeClr val="tx1"/>
                </a:solidFill>
                <a:latin typeface="宋体" pitchFamily="2" charset="-122"/>
              </a:rPr>
              <a:t>= M3·T3·STO</a:t>
            </a:r>
          </a:p>
          <a:p>
            <a:pPr lvl="1"/>
            <a:r>
              <a:rPr lang="en-US" altLang="zh-CN" sz="2000">
                <a:solidFill>
                  <a:schemeClr val="tx1"/>
                </a:solidFill>
                <a:latin typeface="宋体" pitchFamily="2" charset="-122"/>
              </a:rPr>
              <a:t>    LDPC = M1·T4 + M2·T4·JMP</a:t>
            </a:r>
          </a:p>
          <a:p>
            <a:pPr lvl="1"/>
            <a:r>
              <a:rPr lang="en-US" altLang="zh-CN" sz="2000">
                <a:solidFill>
                  <a:schemeClr val="tx1"/>
                </a:solidFill>
                <a:latin typeface="宋体" pitchFamily="2" charset="-122"/>
              </a:rPr>
              <a:t>    LDIR = M1·T4</a:t>
            </a:r>
          </a:p>
          <a:p>
            <a:pPr lvl="1"/>
            <a:r>
              <a:rPr lang="en-US" altLang="zh-CN" sz="2000">
                <a:solidFill>
                  <a:schemeClr val="tx1"/>
                </a:solidFill>
                <a:latin typeface="宋体" pitchFamily="2" charset="-122"/>
              </a:rPr>
              <a:t>    LDAR = M2·T4</a:t>
            </a:r>
            <a:r>
              <a:rPr lang="zh-CN" altLang="en-US" sz="2000">
                <a:solidFill>
                  <a:schemeClr val="tx1"/>
                </a:solidFill>
                <a:latin typeface="宋体" pitchFamily="2" charset="-122"/>
              </a:rPr>
              <a:t>（</a:t>
            </a:r>
            <a:r>
              <a:rPr lang="en-US" altLang="zh-CN" sz="2000">
                <a:solidFill>
                  <a:schemeClr val="tx1"/>
                </a:solidFill>
                <a:latin typeface="宋体" pitchFamily="2" charset="-122"/>
              </a:rPr>
              <a:t>LAD + STO</a:t>
            </a:r>
            <a:r>
              <a:rPr lang="zh-CN" altLang="en-US" sz="2000">
                <a:solidFill>
                  <a:schemeClr val="tx1"/>
                </a:solidFill>
                <a:latin typeface="宋体" pitchFamily="2" charset="-122"/>
              </a:rPr>
              <a:t>）</a:t>
            </a:r>
          </a:p>
          <a:p>
            <a:pPr lvl="1"/>
            <a:r>
              <a:rPr lang="zh-CN" altLang="en-US" sz="2000">
                <a:solidFill>
                  <a:schemeClr val="tx1"/>
                </a:solidFill>
                <a:latin typeface="宋体" pitchFamily="2" charset="-122"/>
              </a:rPr>
              <a:t>    </a:t>
            </a:r>
            <a:r>
              <a:rPr lang="en-US" altLang="zh-CN" sz="2000">
                <a:solidFill>
                  <a:schemeClr val="tx1"/>
                </a:solidFill>
                <a:latin typeface="宋体" pitchFamily="2" charset="-122"/>
              </a:rPr>
              <a:t>LDDR = M2·T3</a:t>
            </a:r>
            <a:r>
              <a:rPr lang="zh-CN" altLang="en-US" sz="2000">
                <a:solidFill>
                  <a:schemeClr val="tx1"/>
                </a:solidFill>
                <a:latin typeface="宋体" pitchFamily="2" charset="-122"/>
              </a:rPr>
              <a:t>（</a:t>
            </a:r>
            <a:r>
              <a:rPr lang="en-US" altLang="zh-CN" sz="2000">
                <a:solidFill>
                  <a:schemeClr val="tx1"/>
                </a:solidFill>
                <a:latin typeface="宋体" pitchFamily="2" charset="-122"/>
              </a:rPr>
              <a:t>MOV + ADD</a:t>
            </a:r>
            <a:r>
              <a:rPr lang="zh-CN" altLang="en-US" sz="2000">
                <a:solidFill>
                  <a:schemeClr val="tx1"/>
                </a:solidFill>
                <a:latin typeface="宋体" pitchFamily="2" charset="-122"/>
              </a:rPr>
              <a:t>） </a:t>
            </a:r>
            <a:r>
              <a:rPr lang="en-US" altLang="zh-CN" sz="2000">
                <a:solidFill>
                  <a:schemeClr val="tx1"/>
                </a:solidFill>
                <a:latin typeface="宋体" pitchFamily="2" charset="-122"/>
              </a:rPr>
              <a:t>+ M3·T3·LAD</a:t>
            </a:r>
          </a:p>
          <a:p>
            <a:pPr lvl="1"/>
            <a:r>
              <a:rPr lang="en-US" altLang="zh-CN" sz="2000">
                <a:solidFill>
                  <a:schemeClr val="tx1"/>
                </a:solidFill>
                <a:latin typeface="宋体" pitchFamily="2" charset="-122"/>
              </a:rPr>
              <a:t>    PC+1 = M1</a:t>
            </a:r>
          </a:p>
          <a:p>
            <a:pPr lvl="1"/>
            <a:r>
              <a:rPr lang="en-US" altLang="zh-CN" sz="2000">
                <a:solidFill>
                  <a:schemeClr val="tx1"/>
                </a:solidFill>
                <a:latin typeface="宋体" pitchFamily="2" charset="-122"/>
              </a:rPr>
              <a:t>    LDR2 = M2·T4·ADD </a:t>
            </a:r>
          </a:p>
          <a:p>
            <a:r>
              <a:rPr lang="en-US" altLang="zh-CN" sz="2000">
                <a:solidFill>
                  <a:schemeClr val="tx1"/>
                </a:solidFill>
                <a:latin typeface="宋体" pitchFamily="2" charset="-122"/>
              </a:rPr>
              <a:t> </a:t>
            </a:r>
            <a:r>
              <a:rPr lang="zh-CN" altLang="en-US" sz="2000">
                <a:solidFill>
                  <a:schemeClr val="tx1"/>
                </a:solidFill>
                <a:latin typeface="宋体" pitchFamily="2" charset="-122"/>
              </a:rPr>
              <a:t>（</a:t>
            </a:r>
            <a:r>
              <a:rPr lang="en-US" altLang="zh-CN" sz="2000">
                <a:solidFill>
                  <a:schemeClr val="tx1"/>
                </a:solidFill>
                <a:latin typeface="宋体" pitchFamily="2" charset="-122"/>
              </a:rPr>
              <a:t>4</a:t>
            </a:r>
            <a:r>
              <a:rPr lang="zh-CN" altLang="en-US" sz="2000">
                <a:solidFill>
                  <a:schemeClr val="tx1"/>
                </a:solidFill>
                <a:latin typeface="宋体" pitchFamily="2" charset="-122"/>
              </a:rPr>
              <a:t>）实现电路  略</a:t>
            </a:r>
          </a:p>
        </p:txBody>
      </p:sp>
      <p:graphicFrame>
        <p:nvGraphicFramePr>
          <p:cNvPr id="133125" name="Object 4"/>
          <p:cNvGraphicFramePr>
            <a:graphicFrameLocks noChangeAspect="1"/>
          </p:cNvGraphicFramePr>
          <p:nvPr/>
        </p:nvGraphicFramePr>
        <p:xfrm>
          <a:off x="228600" y="609600"/>
          <a:ext cx="8763000" cy="2438400"/>
        </p:xfrm>
        <a:graphic>
          <a:graphicData uri="http://schemas.openxmlformats.org/presentationml/2006/ole">
            <mc:AlternateContent xmlns:mc="http://schemas.openxmlformats.org/markup-compatibility/2006">
              <mc:Choice xmlns:v="urn:schemas-microsoft-com:vml" Requires="v">
                <p:oleObj spid="_x0000_s133319" name="位图图像" r:id="rId3" imgW="7447619" imgH="1886213" progId="PBrush">
                  <p:embed/>
                </p:oleObj>
              </mc:Choice>
              <mc:Fallback>
                <p:oleObj name="位图图像" r:id="rId3" imgW="7447619" imgH="1886213" progId="PBrush">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09600"/>
                        <a:ext cx="8763000" cy="2438400"/>
                      </a:xfrm>
                      <a:prstGeom prst="rect">
                        <a:avLst/>
                      </a:prstGeom>
                      <a:noFill/>
                      <a:ln>
                        <a:noFill/>
                      </a:ln>
                      <a:effectLst/>
                      <a:extLst>
                        <a:ext uri="{909E8E84-426E-40DD-AFC4-6F175D3DCCD1}">
                          <a14:hiddenFill xmlns:a14="http://schemas.microsoft.com/office/drawing/2010/main">
                            <a:solidFill>
                              <a:srgbClr val="2BCB2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741B2955-9ECB-47C2-89FA-C0591A065127}" type="slidenum">
              <a:rPr lang="en-US" altLang="zh-CN" smtClean="0"/>
              <a:pPr/>
              <a:t>134</a:t>
            </a:fld>
            <a:endParaRPr lang="en-US" altLang="zh-CN" smtClean="0"/>
          </a:p>
        </p:txBody>
      </p:sp>
      <p:sp>
        <p:nvSpPr>
          <p:cNvPr id="138243" name="Rectangle 2"/>
          <p:cNvSpPr>
            <a:spLocks noGrp="1" noChangeArrowheads="1"/>
          </p:cNvSpPr>
          <p:nvPr>
            <p:ph type="title"/>
          </p:nvPr>
        </p:nvSpPr>
        <p:spPr>
          <a:xfrm>
            <a:off x="323850" y="188913"/>
            <a:ext cx="7543800" cy="792162"/>
          </a:xfrm>
        </p:spPr>
        <p:txBody>
          <a:bodyPr/>
          <a:lstStyle/>
          <a:p>
            <a:pPr eaLnBrk="1" hangingPunct="1"/>
            <a:r>
              <a:rPr lang="en-US" altLang="zh-CN" dirty="0" smtClean="0">
                <a:solidFill>
                  <a:schemeClr val="tx1"/>
                </a:solidFill>
                <a:cs typeface="Times New Roman" pitchFamily="18" charset="0"/>
              </a:rPr>
              <a:t>5</a:t>
            </a:r>
            <a:r>
              <a:rPr lang="en-US" altLang="zh-CN" dirty="0" smtClean="0">
                <a:solidFill>
                  <a:schemeClr val="tx1"/>
                </a:solidFill>
              </a:rPr>
              <a:t>.6 </a:t>
            </a:r>
            <a:r>
              <a:rPr lang="zh-CN" altLang="en-US" dirty="0" smtClean="0">
                <a:solidFill>
                  <a:schemeClr val="tx1"/>
                </a:solidFill>
              </a:rPr>
              <a:t>流水</a:t>
            </a:r>
            <a:r>
              <a:rPr lang="en-US" altLang="zh-CN" dirty="0" smtClean="0">
                <a:solidFill>
                  <a:schemeClr val="tx1"/>
                </a:solidFill>
              </a:rPr>
              <a:t>CPU</a:t>
            </a:r>
          </a:p>
        </p:txBody>
      </p:sp>
      <p:sp>
        <p:nvSpPr>
          <p:cNvPr id="138244" name="Rectangle 3"/>
          <p:cNvSpPr>
            <a:spLocks noChangeArrowheads="1"/>
          </p:cNvSpPr>
          <p:nvPr/>
        </p:nvSpPr>
        <p:spPr bwMode="auto">
          <a:xfrm>
            <a:off x="323850" y="1052513"/>
            <a:ext cx="8439150" cy="5216525"/>
          </a:xfrm>
          <a:prstGeom prst="rect">
            <a:avLst/>
          </a:prstGeom>
          <a:noFill/>
          <a:ln w="12700" cap="sq">
            <a:noFill/>
            <a:miter lim="800000"/>
            <a:headEnd type="none" w="sm" len="sm"/>
            <a:tailEnd type="none" w="sm" len="sm"/>
          </a:ln>
        </p:spPr>
        <p:txBody>
          <a:bodyPr anchor="ctr">
            <a:spAutoFit/>
          </a:bodyPr>
          <a:lstStyle/>
          <a:p>
            <a:r>
              <a:rPr lang="en-US" altLang="zh-CN" sz="2800" dirty="0" smtClean="0">
                <a:solidFill>
                  <a:schemeClr val="tx1"/>
                </a:solidFill>
                <a:latin typeface="宋体" pitchFamily="2" charset="-122"/>
              </a:rPr>
              <a:t>5.6.1 </a:t>
            </a:r>
            <a:r>
              <a:rPr lang="zh-CN" altLang="en-US" sz="2800" dirty="0">
                <a:solidFill>
                  <a:schemeClr val="tx1"/>
                </a:solidFill>
                <a:latin typeface="宋体" pitchFamily="2" charset="-122"/>
              </a:rPr>
              <a:t>并行处理技术</a:t>
            </a:r>
          </a:p>
          <a:p>
            <a:r>
              <a:rPr lang="zh-CN" altLang="en-US" sz="2800" b="0" dirty="0">
                <a:solidFill>
                  <a:schemeClr val="tx1"/>
                </a:solidFill>
                <a:latin typeface="宋体" pitchFamily="2" charset="-122"/>
              </a:rPr>
              <a:t>　　早期的计算机基于冯</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诺伊曼型的体系结构，采用的是串行处理。为了提高运算速度现在都采用并行处理技术，各个操作同时进行，从而可大大提高计算机的速度。</a:t>
            </a:r>
          </a:p>
          <a:p>
            <a:r>
              <a:rPr lang="zh-CN" altLang="en-US" sz="2800" b="0" dirty="0">
                <a:solidFill>
                  <a:schemeClr val="tx1"/>
                </a:solidFill>
                <a:latin typeface="宋体" pitchFamily="2" charset="-122"/>
              </a:rPr>
              <a:t>　　</a:t>
            </a:r>
            <a:r>
              <a:rPr lang="zh-CN" altLang="en-US" sz="2800" dirty="0">
                <a:solidFill>
                  <a:schemeClr val="tx1"/>
                </a:solidFill>
                <a:latin typeface="宋体" pitchFamily="2" charset="-122"/>
              </a:rPr>
              <a:t>并行性</a:t>
            </a:r>
            <a:r>
              <a:rPr lang="zh-CN" altLang="en-US" sz="2800" b="0" dirty="0">
                <a:solidFill>
                  <a:schemeClr val="tx1"/>
                </a:solidFill>
                <a:latin typeface="宋体" pitchFamily="2" charset="-122"/>
              </a:rPr>
              <a:t>的两种含义： </a:t>
            </a:r>
          </a:p>
          <a:p>
            <a:r>
              <a:rPr lang="zh-CN" altLang="en-US" sz="2800" b="0" dirty="0">
                <a:solidFill>
                  <a:schemeClr val="tx1"/>
                </a:solidFill>
                <a:latin typeface="宋体" pitchFamily="2" charset="-122"/>
              </a:rPr>
              <a:t>　　</a:t>
            </a:r>
            <a:r>
              <a:rPr lang="zh-CN" altLang="en-US" sz="2800" dirty="0">
                <a:solidFill>
                  <a:schemeClr val="tx1"/>
                </a:solidFill>
                <a:latin typeface="宋体" pitchFamily="2" charset="-122"/>
              </a:rPr>
              <a:t>同时性</a:t>
            </a:r>
            <a:r>
              <a:rPr lang="zh-CN" altLang="en-US" sz="2800" b="0" dirty="0">
                <a:solidFill>
                  <a:schemeClr val="tx1"/>
                </a:solidFill>
                <a:latin typeface="宋体" pitchFamily="2" charset="-122"/>
              </a:rPr>
              <a:t> 指两个以上事件在同一时刻发生；</a:t>
            </a:r>
          </a:p>
          <a:p>
            <a:r>
              <a:rPr lang="zh-CN" altLang="en-US" sz="2800" b="0" dirty="0">
                <a:solidFill>
                  <a:schemeClr val="tx1"/>
                </a:solidFill>
                <a:latin typeface="宋体" pitchFamily="2" charset="-122"/>
              </a:rPr>
              <a:t>　　</a:t>
            </a:r>
            <a:r>
              <a:rPr lang="zh-CN" altLang="en-US" sz="2800" dirty="0">
                <a:solidFill>
                  <a:schemeClr val="tx1"/>
                </a:solidFill>
                <a:latin typeface="宋体" pitchFamily="2" charset="-122"/>
              </a:rPr>
              <a:t>并发性</a:t>
            </a:r>
            <a:r>
              <a:rPr lang="zh-CN" altLang="en-US" sz="2800" b="0" dirty="0">
                <a:solidFill>
                  <a:schemeClr val="tx1"/>
                </a:solidFill>
                <a:latin typeface="宋体" pitchFamily="2" charset="-122"/>
              </a:rPr>
              <a:t> 指两个以上事件在同一时间间隔内发生。</a:t>
            </a:r>
          </a:p>
          <a:p>
            <a:r>
              <a:rPr lang="zh-CN" altLang="en-US" sz="2800" b="0" dirty="0">
                <a:solidFill>
                  <a:schemeClr val="tx1"/>
                </a:solidFill>
                <a:latin typeface="宋体" pitchFamily="2" charset="-122"/>
              </a:rPr>
              <a:t>　　计算机的并行处理技术概括起来主要有以下三种形式：</a:t>
            </a:r>
            <a:r>
              <a:rPr lang="en-US" altLang="zh-CN" sz="2800" dirty="0">
                <a:solidFill>
                  <a:schemeClr val="tx1"/>
                </a:solidFill>
                <a:latin typeface="宋体" pitchFamily="2" charset="-122"/>
              </a:rPr>
              <a:t>1.</a:t>
            </a:r>
            <a:r>
              <a:rPr lang="zh-CN" altLang="en-US" sz="2800" dirty="0">
                <a:solidFill>
                  <a:schemeClr val="tx1"/>
                </a:solidFill>
                <a:latin typeface="宋体" pitchFamily="2" charset="-122"/>
              </a:rPr>
              <a:t>时间并行</a:t>
            </a:r>
          </a:p>
          <a:p>
            <a:r>
              <a:rPr lang="zh-CN" altLang="en-US" sz="2800" dirty="0">
                <a:solidFill>
                  <a:schemeClr val="tx1"/>
                </a:solidFill>
                <a:latin typeface="宋体" pitchFamily="2" charset="-122"/>
              </a:rPr>
              <a:t>      </a:t>
            </a:r>
            <a:r>
              <a:rPr lang="en-US" altLang="zh-CN" sz="2800" dirty="0">
                <a:solidFill>
                  <a:schemeClr val="tx1"/>
                </a:solidFill>
                <a:latin typeface="宋体" pitchFamily="2" charset="-122"/>
              </a:rPr>
              <a:t>2.</a:t>
            </a:r>
            <a:r>
              <a:rPr lang="zh-CN" altLang="en-US" sz="2800" dirty="0">
                <a:solidFill>
                  <a:schemeClr val="tx1"/>
                </a:solidFill>
                <a:latin typeface="宋体" pitchFamily="2" charset="-122"/>
              </a:rPr>
              <a:t>空间并行</a:t>
            </a:r>
          </a:p>
          <a:p>
            <a:r>
              <a:rPr lang="zh-CN" altLang="en-US" sz="2800" dirty="0">
                <a:solidFill>
                  <a:schemeClr val="tx1"/>
                </a:solidFill>
                <a:latin typeface="宋体" pitchFamily="2" charset="-122"/>
              </a:rPr>
              <a:t>      </a:t>
            </a:r>
            <a:r>
              <a:rPr lang="en-US" altLang="zh-CN" sz="2800" dirty="0">
                <a:solidFill>
                  <a:schemeClr val="tx1"/>
                </a:solidFill>
                <a:latin typeface="宋体" pitchFamily="2" charset="-122"/>
              </a:rPr>
              <a:t>3.</a:t>
            </a:r>
            <a:r>
              <a:rPr lang="zh-CN" altLang="en-US" sz="2800" dirty="0">
                <a:solidFill>
                  <a:schemeClr val="tx1"/>
                </a:solidFill>
                <a:latin typeface="宋体" pitchFamily="2" charset="-122"/>
              </a:rPr>
              <a:t>时间并行 </a:t>
            </a:r>
            <a:r>
              <a:rPr lang="en-US" altLang="zh-CN" sz="2800" dirty="0">
                <a:solidFill>
                  <a:schemeClr val="tx1"/>
                </a:solidFill>
                <a:latin typeface="宋体" pitchFamily="2" charset="-122"/>
              </a:rPr>
              <a:t>+ </a:t>
            </a:r>
            <a:r>
              <a:rPr lang="zh-CN" altLang="en-US" sz="2800" dirty="0">
                <a:solidFill>
                  <a:schemeClr val="tx1"/>
                </a:solidFill>
                <a:latin typeface="宋体" pitchFamily="2" charset="-122"/>
              </a:rPr>
              <a:t>空间并行</a:t>
            </a:r>
            <a:r>
              <a:rPr lang="zh-CN" altLang="en-US" sz="2800" b="0" dirty="0">
                <a:solidFill>
                  <a:schemeClr val="tx1"/>
                </a:solidFill>
                <a:latin typeface="宋体" pitchFamily="2" charset="-122"/>
              </a:rPr>
              <a:t> </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5"/>
          <p:cNvSpPr>
            <a:spLocks noGrp="1"/>
          </p:cNvSpPr>
          <p:nvPr>
            <p:ph type="sldNum" sz="quarter" idx="12"/>
          </p:nvPr>
        </p:nvSpPr>
        <p:spPr>
          <a:noFill/>
        </p:spPr>
        <p:txBody>
          <a:bodyPr/>
          <a:lstStyle/>
          <a:p>
            <a:fld id="{F0B03806-48ED-4256-A6D1-5BF3FF95BBEF}" type="slidenum">
              <a:rPr lang="en-US" altLang="zh-CN" smtClean="0"/>
              <a:pPr/>
              <a:t>135</a:t>
            </a:fld>
            <a:endParaRPr lang="en-US" altLang="zh-CN" smtClean="0"/>
          </a:p>
        </p:txBody>
      </p:sp>
      <p:sp>
        <p:nvSpPr>
          <p:cNvPr id="139267" name="Rectangle 2"/>
          <p:cNvSpPr>
            <a:spLocks noGrp="1" noChangeArrowheads="1"/>
          </p:cNvSpPr>
          <p:nvPr>
            <p:ph type="title"/>
          </p:nvPr>
        </p:nvSpPr>
        <p:spPr>
          <a:xfrm>
            <a:off x="323850" y="188913"/>
            <a:ext cx="7543800" cy="719137"/>
          </a:xfrm>
        </p:spPr>
        <p:txBody>
          <a:bodyPr/>
          <a:lstStyle/>
          <a:p>
            <a:pPr eaLnBrk="1" hangingPunct="1"/>
            <a:r>
              <a:rPr lang="en-US" altLang="zh-CN" dirty="0" smtClean="0">
                <a:solidFill>
                  <a:schemeClr val="tx1"/>
                </a:solidFill>
                <a:cs typeface="Times New Roman" pitchFamily="18" charset="0"/>
              </a:rPr>
              <a:t>5</a:t>
            </a:r>
            <a:r>
              <a:rPr lang="en-US" altLang="zh-CN" dirty="0" smtClean="0">
                <a:solidFill>
                  <a:schemeClr val="tx1"/>
                </a:solidFill>
              </a:rPr>
              <a:t>.6  </a:t>
            </a:r>
            <a:r>
              <a:rPr lang="zh-CN" altLang="en-US" dirty="0" smtClean="0">
                <a:solidFill>
                  <a:schemeClr val="tx1"/>
                </a:solidFill>
              </a:rPr>
              <a:t>流水</a:t>
            </a:r>
            <a:r>
              <a:rPr lang="en-US" altLang="zh-CN" dirty="0" smtClean="0">
                <a:solidFill>
                  <a:schemeClr val="tx1"/>
                </a:solidFill>
              </a:rPr>
              <a:t>CPU</a:t>
            </a:r>
            <a:endParaRPr lang="en-US" altLang="zh-CN" dirty="0" smtClean="0"/>
          </a:p>
        </p:txBody>
      </p:sp>
      <p:sp>
        <p:nvSpPr>
          <p:cNvPr id="139268" name="Rectangle 3"/>
          <p:cNvSpPr>
            <a:spLocks noChangeArrowheads="1"/>
          </p:cNvSpPr>
          <p:nvPr/>
        </p:nvSpPr>
        <p:spPr bwMode="auto">
          <a:xfrm>
            <a:off x="323850" y="1196975"/>
            <a:ext cx="7488238" cy="4362450"/>
          </a:xfrm>
          <a:prstGeom prst="rect">
            <a:avLst/>
          </a:prstGeom>
          <a:noFill/>
          <a:ln w="12700" cap="sq">
            <a:noFill/>
            <a:miter lim="800000"/>
            <a:headEnd type="none" w="sm" len="sm"/>
            <a:tailEnd type="none" w="sm" len="sm"/>
          </a:ln>
        </p:spPr>
        <p:txBody>
          <a:bodyPr>
            <a:spAutoFit/>
          </a:bodyPr>
          <a:lstStyle/>
          <a:p>
            <a:r>
              <a:rPr lang="en-US" altLang="zh-CN" sz="2800">
                <a:solidFill>
                  <a:schemeClr val="tx1"/>
                </a:solidFill>
                <a:latin typeface="宋体" pitchFamily="2" charset="-122"/>
              </a:rPr>
              <a:t>1.</a:t>
            </a:r>
            <a:r>
              <a:rPr lang="zh-CN" altLang="en-US" sz="2800">
                <a:solidFill>
                  <a:schemeClr val="tx1"/>
                </a:solidFill>
                <a:latin typeface="宋体" pitchFamily="2" charset="-122"/>
              </a:rPr>
              <a:t>时间并行</a:t>
            </a:r>
            <a:endParaRPr lang="zh-CN" altLang="en-US" sz="2800" b="0">
              <a:solidFill>
                <a:schemeClr val="tx1"/>
              </a:solidFill>
              <a:latin typeface="宋体" pitchFamily="2" charset="-122"/>
            </a:endParaRPr>
          </a:p>
          <a:p>
            <a:r>
              <a:rPr lang="zh-CN" altLang="en-US" sz="2800" b="0">
                <a:solidFill>
                  <a:schemeClr val="tx1"/>
                </a:solidFill>
                <a:latin typeface="宋体" pitchFamily="2" charset="-122"/>
              </a:rPr>
              <a:t>    时间并行指时间重叠，在并行性概念中引入时间因素，让多个处理过程在时间上相互错开，轮流重叠地使用同一套硬件设备的各个部分，以加快硬件周转而赢得速度。</a:t>
            </a:r>
          </a:p>
          <a:p>
            <a:r>
              <a:rPr lang="zh-CN" altLang="en-US" sz="2800" b="0">
                <a:solidFill>
                  <a:schemeClr val="tx1"/>
                </a:solidFill>
                <a:latin typeface="宋体" pitchFamily="2" charset="-122"/>
              </a:rPr>
              <a:t>　　时间并行性概念的实现方式就是采用</a:t>
            </a:r>
            <a:r>
              <a:rPr lang="zh-CN" altLang="en-US" sz="2800">
                <a:solidFill>
                  <a:schemeClr val="tx1"/>
                </a:solidFill>
                <a:latin typeface="宋体" pitchFamily="2" charset="-122"/>
              </a:rPr>
              <a:t>流水处理部件</a:t>
            </a:r>
            <a:r>
              <a:rPr lang="zh-CN" altLang="en-US" sz="2800" b="0">
                <a:solidFill>
                  <a:schemeClr val="tx1"/>
                </a:solidFill>
                <a:latin typeface="宋体" pitchFamily="2" charset="-122"/>
              </a:rPr>
              <a:t>。这是一种非常经济而实用的并行技术，能保证计算机系统具有较高的性能价格比。目前的高性能微型机几乎无一例外地使用了流水技术。</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5"/>
          <p:cNvSpPr>
            <a:spLocks noGrp="1"/>
          </p:cNvSpPr>
          <p:nvPr>
            <p:ph type="sldNum" sz="quarter" idx="12"/>
          </p:nvPr>
        </p:nvSpPr>
        <p:spPr>
          <a:noFill/>
        </p:spPr>
        <p:txBody>
          <a:bodyPr/>
          <a:lstStyle/>
          <a:p>
            <a:fld id="{D4AA5921-FA64-412C-89CC-EDCD595C56E6}" type="slidenum">
              <a:rPr lang="en-US" altLang="zh-CN" smtClean="0"/>
              <a:pPr/>
              <a:t>136</a:t>
            </a:fld>
            <a:endParaRPr lang="en-US" altLang="zh-CN" smtClean="0"/>
          </a:p>
        </p:txBody>
      </p:sp>
      <p:sp>
        <p:nvSpPr>
          <p:cNvPr id="140291" name="Rectangle 2"/>
          <p:cNvSpPr>
            <a:spLocks noChangeArrowheads="1"/>
          </p:cNvSpPr>
          <p:nvPr/>
        </p:nvSpPr>
        <p:spPr bwMode="auto">
          <a:xfrm>
            <a:off x="323850" y="688975"/>
            <a:ext cx="7705725" cy="5216525"/>
          </a:xfrm>
          <a:prstGeom prst="rect">
            <a:avLst/>
          </a:prstGeom>
          <a:noFill/>
          <a:ln w="12700" cap="sq">
            <a:noFill/>
            <a:miter lim="800000"/>
            <a:headEnd type="none" w="sm" len="sm"/>
            <a:tailEnd type="none" w="sm" len="sm"/>
          </a:ln>
        </p:spPr>
        <p:txBody>
          <a:bodyPr anchor="ctr">
            <a:spAutoFit/>
          </a:bodyPr>
          <a:lstStyle/>
          <a:p>
            <a:r>
              <a:rPr lang="en-US" altLang="zh-CN" sz="2800">
                <a:solidFill>
                  <a:schemeClr val="tx1"/>
                </a:solidFill>
                <a:latin typeface="宋体" pitchFamily="2" charset="-122"/>
              </a:rPr>
              <a:t>2.</a:t>
            </a:r>
            <a:r>
              <a:rPr lang="zh-CN" altLang="en-US" sz="2800">
                <a:solidFill>
                  <a:schemeClr val="tx1"/>
                </a:solidFill>
                <a:latin typeface="宋体" pitchFamily="2" charset="-122"/>
              </a:rPr>
              <a:t>空间并行</a:t>
            </a:r>
            <a:endParaRPr lang="zh-CN" altLang="en-US" sz="2800" b="0">
              <a:solidFill>
                <a:schemeClr val="tx1"/>
              </a:solidFill>
              <a:latin typeface="宋体" pitchFamily="2" charset="-122"/>
            </a:endParaRPr>
          </a:p>
          <a:p>
            <a:r>
              <a:rPr lang="zh-CN" altLang="en-US" sz="2800" b="0">
                <a:solidFill>
                  <a:schemeClr val="tx1"/>
                </a:solidFill>
                <a:latin typeface="宋体" pitchFamily="2" charset="-122"/>
              </a:rPr>
              <a:t>　　空间并行指资源重复，在并行性概念中引入空间因素，以“数量取胜”为原则来大幅度提高计算机的处理速度。大规模和超大规模集成电路的迅速发展为空间并行技术带来了巨大生机，因而成为目前实现并行处理的一个主要途径。空间并行技术主要体现在多处理器系统和多计算机系统。但是在单处理器系统中也得到了广泛应用。</a:t>
            </a:r>
          </a:p>
          <a:p>
            <a:r>
              <a:rPr lang="en-US" altLang="zh-CN" sz="2800">
                <a:solidFill>
                  <a:schemeClr val="tx1"/>
                </a:solidFill>
                <a:latin typeface="宋体" pitchFamily="2" charset="-122"/>
              </a:rPr>
              <a:t>3.</a:t>
            </a:r>
            <a:r>
              <a:rPr lang="zh-CN" altLang="en-US" sz="2800">
                <a:solidFill>
                  <a:schemeClr val="tx1"/>
                </a:solidFill>
                <a:latin typeface="宋体" pitchFamily="2" charset="-122"/>
              </a:rPr>
              <a:t>时间并行</a:t>
            </a:r>
            <a:r>
              <a:rPr lang="en-US" altLang="zh-CN" sz="2800">
                <a:solidFill>
                  <a:schemeClr val="tx1"/>
                </a:solidFill>
                <a:latin typeface="宋体" pitchFamily="2" charset="-122"/>
              </a:rPr>
              <a:t>+</a:t>
            </a:r>
            <a:r>
              <a:rPr lang="zh-CN" altLang="en-US" sz="2800">
                <a:solidFill>
                  <a:schemeClr val="tx1"/>
                </a:solidFill>
                <a:latin typeface="宋体" pitchFamily="2" charset="-122"/>
              </a:rPr>
              <a:t>空间并行</a:t>
            </a:r>
            <a:endParaRPr lang="zh-CN" altLang="en-US" sz="2800" b="0">
              <a:solidFill>
                <a:schemeClr val="tx1"/>
              </a:solidFill>
              <a:latin typeface="宋体" pitchFamily="2" charset="-122"/>
            </a:endParaRPr>
          </a:p>
          <a:p>
            <a:r>
              <a:rPr lang="zh-CN" altLang="en-US" sz="2800" b="0">
                <a:solidFill>
                  <a:schemeClr val="tx1"/>
                </a:solidFill>
                <a:latin typeface="宋体" pitchFamily="2" charset="-122"/>
              </a:rPr>
              <a:t>　　指时间重叠和资源重复的综合应用，既采用时间并行性又采用空间并行性。显然，第三种并行技术带来的高速效益是最好的。 </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5"/>
          <p:cNvSpPr>
            <a:spLocks noGrp="1"/>
          </p:cNvSpPr>
          <p:nvPr>
            <p:ph type="sldNum" sz="quarter" idx="12"/>
          </p:nvPr>
        </p:nvSpPr>
        <p:spPr>
          <a:noFill/>
        </p:spPr>
        <p:txBody>
          <a:bodyPr/>
          <a:lstStyle/>
          <a:p>
            <a:fld id="{FF3E55F3-EC69-4A2E-819E-B253C4571487}" type="slidenum">
              <a:rPr lang="en-US" altLang="zh-CN" smtClean="0"/>
              <a:pPr/>
              <a:t>137</a:t>
            </a:fld>
            <a:endParaRPr lang="en-US" altLang="zh-CN" smtClean="0"/>
          </a:p>
        </p:txBody>
      </p:sp>
      <p:sp>
        <p:nvSpPr>
          <p:cNvPr id="142339" name="Rectangle 2"/>
          <p:cNvSpPr>
            <a:spLocks noChangeArrowheads="1"/>
          </p:cNvSpPr>
          <p:nvPr/>
        </p:nvSpPr>
        <p:spPr bwMode="auto">
          <a:xfrm>
            <a:off x="3438525" y="1800225"/>
            <a:ext cx="9144000" cy="0"/>
          </a:xfrm>
          <a:prstGeom prst="rect">
            <a:avLst/>
          </a:prstGeom>
          <a:noFill/>
          <a:ln w="9525">
            <a:noFill/>
            <a:miter lim="800000"/>
            <a:headEnd/>
            <a:tailEnd/>
          </a:ln>
        </p:spPr>
        <p:txBody>
          <a:bodyPr>
            <a:spAutoFit/>
          </a:bodyPr>
          <a:lstStyle/>
          <a:p>
            <a:endParaRPr lang="zh-CN" altLang="en-US"/>
          </a:p>
        </p:txBody>
      </p:sp>
      <p:pic>
        <p:nvPicPr>
          <p:cNvPr id="142340" name="Picture 3" descr="t5"/>
          <p:cNvPicPr>
            <a:picLocks noChangeAspect="1" noChangeArrowheads="1"/>
          </p:cNvPicPr>
          <p:nvPr/>
        </p:nvPicPr>
        <p:blipFill>
          <a:blip r:embed="rId2"/>
          <a:srcRect/>
          <a:stretch>
            <a:fillRect/>
          </a:stretch>
        </p:blipFill>
        <p:spPr bwMode="auto">
          <a:xfrm>
            <a:off x="179388" y="2204318"/>
            <a:ext cx="8785225" cy="4609058"/>
          </a:xfrm>
          <a:prstGeom prst="rect">
            <a:avLst/>
          </a:prstGeom>
          <a:solidFill>
            <a:srgbClr val="CCFFFF"/>
          </a:solidFill>
          <a:ln w="9525">
            <a:noFill/>
            <a:miter lim="800000"/>
            <a:headEnd/>
            <a:tailEnd/>
          </a:ln>
        </p:spPr>
      </p:pic>
      <p:sp>
        <p:nvSpPr>
          <p:cNvPr id="6" name="Rectangle 2"/>
          <p:cNvSpPr>
            <a:spLocks noChangeArrowheads="1"/>
          </p:cNvSpPr>
          <p:nvPr/>
        </p:nvSpPr>
        <p:spPr bwMode="auto">
          <a:xfrm>
            <a:off x="172779" y="85850"/>
            <a:ext cx="8771513" cy="2062103"/>
          </a:xfrm>
          <a:prstGeom prst="rect">
            <a:avLst/>
          </a:prstGeom>
          <a:solidFill>
            <a:schemeClr val="bg1"/>
          </a:solidFill>
          <a:ln w="12700" cap="sq">
            <a:noFill/>
            <a:miter lim="800000"/>
            <a:headEnd type="none" w="sm" len="sm"/>
            <a:tailEnd type="none" w="sm" len="sm"/>
          </a:ln>
        </p:spPr>
        <p:txBody>
          <a:bodyPr wrap="square" anchor="ctr">
            <a:spAutoFit/>
          </a:bodyPr>
          <a:lstStyle/>
          <a:p>
            <a:r>
              <a:rPr lang="en-US" altLang="zh-CN" sz="2800" dirty="0" smtClean="0">
                <a:solidFill>
                  <a:schemeClr val="tx1"/>
                </a:solidFill>
                <a:latin typeface="宋体" pitchFamily="2" charset="-122"/>
              </a:rPr>
              <a:t>5.6.2 </a:t>
            </a:r>
            <a:r>
              <a:rPr lang="zh-CN" altLang="en-US" sz="2800" dirty="0">
                <a:solidFill>
                  <a:schemeClr val="tx1"/>
                </a:solidFill>
                <a:latin typeface="宋体" pitchFamily="2" charset="-122"/>
              </a:rPr>
              <a:t>流水</a:t>
            </a:r>
            <a:r>
              <a:rPr lang="en-US" altLang="zh-CN" sz="2800" dirty="0">
                <a:solidFill>
                  <a:schemeClr val="tx1"/>
                </a:solidFill>
                <a:latin typeface="宋体" pitchFamily="2" charset="-122"/>
              </a:rPr>
              <a:t>CPU</a:t>
            </a:r>
            <a:r>
              <a:rPr lang="zh-CN" altLang="en-US" sz="2800" dirty="0">
                <a:solidFill>
                  <a:schemeClr val="tx1"/>
                </a:solidFill>
                <a:latin typeface="宋体" pitchFamily="2" charset="-122"/>
              </a:rPr>
              <a:t>的结构 </a:t>
            </a:r>
            <a:r>
              <a:rPr lang="zh-CN" altLang="en-US" sz="2800" i="1" dirty="0">
                <a:solidFill>
                  <a:schemeClr val="tx1"/>
                </a:solidFill>
                <a:latin typeface="宋体" pitchFamily="2" charset="-122"/>
              </a:rPr>
              <a:t>　　</a:t>
            </a:r>
            <a:endParaRPr lang="zh-CN" altLang="en-US" sz="2800" dirty="0">
              <a:solidFill>
                <a:schemeClr val="tx1"/>
              </a:solidFill>
              <a:latin typeface="宋体" pitchFamily="2" charset="-122"/>
            </a:endParaRPr>
          </a:p>
          <a:p>
            <a:r>
              <a:rPr lang="en-US" altLang="zh-CN" sz="2400" dirty="0">
                <a:solidFill>
                  <a:schemeClr val="tx1"/>
                </a:solidFill>
                <a:latin typeface="宋体" pitchFamily="2" charset="-122"/>
              </a:rPr>
              <a:t>1. </a:t>
            </a:r>
            <a:r>
              <a:rPr lang="zh-CN" altLang="en-US" sz="2400" dirty="0">
                <a:solidFill>
                  <a:schemeClr val="tx1"/>
                </a:solidFill>
                <a:latin typeface="宋体" pitchFamily="2" charset="-122"/>
              </a:rPr>
              <a:t>流水计算机的系统组成</a:t>
            </a:r>
            <a:endParaRPr lang="zh-CN" altLang="en-US" sz="2400" b="0" dirty="0">
              <a:solidFill>
                <a:schemeClr val="tx1"/>
              </a:solidFill>
              <a:latin typeface="宋体" pitchFamily="2" charset="-122"/>
            </a:endParaRPr>
          </a:p>
          <a:p>
            <a:r>
              <a:rPr lang="zh-CN" altLang="en-US" sz="2400" b="0" dirty="0">
                <a:solidFill>
                  <a:schemeClr val="tx1"/>
                </a:solidFill>
                <a:latin typeface="宋体" pitchFamily="2" charset="-122"/>
              </a:rPr>
              <a:t>　　现代流水计算机的系统组成原理如下图所示。其中</a:t>
            </a:r>
            <a:r>
              <a:rPr lang="en-US" altLang="zh-CN" sz="2400" b="0" dirty="0">
                <a:solidFill>
                  <a:schemeClr val="tx1"/>
                </a:solidFill>
                <a:latin typeface="宋体" pitchFamily="2" charset="-122"/>
              </a:rPr>
              <a:t>CPU</a:t>
            </a:r>
            <a:r>
              <a:rPr lang="zh-CN" altLang="en-US" sz="2400" b="0" dirty="0">
                <a:solidFill>
                  <a:schemeClr val="tx1"/>
                </a:solidFill>
                <a:latin typeface="宋体" pitchFamily="2" charset="-122"/>
              </a:rPr>
              <a:t>按流水线方式组织，通常由三部分组成：</a:t>
            </a:r>
            <a:r>
              <a:rPr lang="zh-CN" altLang="en-US" sz="2400" dirty="0">
                <a:solidFill>
                  <a:schemeClr val="tx1"/>
                </a:solidFill>
                <a:latin typeface="宋体" pitchFamily="2" charset="-122"/>
              </a:rPr>
              <a:t>指令部件、指令队列、执行部件</a:t>
            </a:r>
            <a:r>
              <a:rPr lang="zh-CN" altLang="en-US" sz="2400" b="0" dirty="0">
                <a:solidFill>
                  <a:schemeClr val="tx1"/>
                </a:solidFill>
                <a:latin typeface="宋体" pitchFamily="2" charset="-122"/>
              </a:rPr>
              <a:t>。这三个功能部件可以组成一个</a:t>
            </a:r>
            <a:r>
              <a:rPr lang="en-US" altLang="zh-CN" sz="2400" b="0" dirty="0">
                <a:solidFill>
                  <a:schemeClr val="tx1"/>
                </a:solidFill>
                <a:latin typeface="宋体" pitchFamily="2" charset="-122"/>
              </a:rPr>
              <a:t>3</a:t>
            </a:r>
            <a:r>
              <a:rPr lang="zh-CN" altLang="en-US" sz="2400" b="0" dirty="0">
                <a:solidFill>
                  <a:schemeClr val="tx1"/>
                </a:solidFill>
                <a:latin typeface="宋体" pitchFamily="2" charset="-122"/>
              </a:rPr>
              <a:t>级流水线。</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灯片编号占位符 5"/>
          <p:cNvSpPr>
            <a:spLocks noGrp="1"/>
          </p:cNvSpPr>
          <p:nvPr>
            <p:ph type="sldNum" sz="quarter" idx="12"/>
          </p:nvPr>
        </p:nvSpPr>
        <p:spPr>
          <a:noFill/>
        </p:spPr>
        <p:txBody>
          <a:bodyPr/>
          <a:lstStyle/>
          <a:p>
            <a:fld id="{A6F2123A-A171-473B-971B-97F59F17B7DE}" type="slidenum">
              <a:rPr lang="en-US" altLang="zh-CN" smtClean="0"/>
              <a:pPr/>
              <a:t>138</a:t>
            </a:fld>
            <a:endParaRPr lang="en-US" altLang="zh-CN" smtClean="0"/>
          </a:p>
        </p:txBody>
      </p:sp>
      <p:sp>
        <p:nvSpPr>
          <p:cNvPr id="143363" name="Rectangle 2"/>
          <p:cNvSpPr>
            <a:spLocks noChangeArrowheads="1"/>
          </p:cNvSpPr>
          <p:nvPr/>
        </p:nvSpPr>
        <p:spPr bwMode="auto">
          <a:xfrm>
            <a:off x="3328988" y="2776538"/>
            <a:ext cx="9144000" cy="0"/>
          </a:xfrm>
          <a:prstGeom prst="rect">
            <a:avLst/>
          </a:prstGeom>
          <a:noFill/>
          <a:ln w="9525">
            <a:noFill/>
            <a:miter lim="800000"/>
            <a:headEnd/>
            <a:tailEnd/>
          </a:ln>
        </p:spPr>
        <p:txBody>
          <a:bodyPr>
            <a:spAutoFit/>
          </a:bodyPr>
          <a:lstStyle/>
          <a:p>
            <a:endParaRPr lang="zh-CN" altLang="en-US"/>
          </a:p>
        </p:txBody>
      </p:sp>
      <p:sp>
        <p:nvSpPr>
          <p:cNvPr id="143364" name="Rectangle 3"/>
          <p:cNvSpPr>
            <a:spLocks noChangeArrowheads="1"/>
          </p:cNvSpPr>
          <p:nvPr/>
        </p:nvSpPr>
        <p:spPr bwMode="auto">
          <a:xfrm>
            <a:off x="322535" y="404664"/>
            <a:ext cx="7489825" cy="5161991"/>
          </a:xfrm>
          <a:prstGeom prst="rect">
            <a:avLst/>
          </a:prstGeom>
          <a:noFill/>
          <a:ln w="12700" cap="sq">
            <a:noFill/>
            <a:miter lim="800000"/>
            <a:headEnd type="none" w="sm" len="sm"/>
            <a:tailEnd type="none" w="sm" len="sm"/>
          </a:ln>
        </p:spPr>
        <p:txBody>
          <a:bodyPr anchor="ctr">
            <a:spAutoFit/>
          </a:bodyPr>
          <a:lstStyle/>
          <a:p>
            <a:pPr>
              <a:lnSpc>
                <a:spcPct val="150000"/>
              </a:lnSpc>
            </a:pPr>
            <a:r>
              <a:rPr lang="en-US" altLang="zh-CN" sz="2800" b="0" dirty="0">
                <a:solidFill>
                  <a:schemeClr val="tx1"/>
                </a:solidFill>
                <a:latin typeface="宋体" pitchFamily="2" charset="-122"/>
              </a:rPr>
              <a:t>2.</a:t>
            </a:r>
            <a:r>
              <a:rPr lang="zh-CN" altLang="en-US" sz="2800" b="0" dirty="0">
                <a:solidFill>
                  <a:schemeClr val="tx1"/>
                </a:solidFill>
                <a:latin typeface="宋体" pitchFamily="2" charset="-122"/>
              </a:rPr>
              <a:t>流水</a:t>
            </a:r>
            <a:r>
              <a:rPr lang="en-US" altLang="zh-CN" sz="2800" b="0" dirty="0">
                <a:solidFill>
                  <a:schemeClr val="tx1"/>
                </a:solidFill>
                <a:latin typeface="宋体" pitchFamily="2" charset="-122"/>
              </a:rPr>
              <a:t>CPU</a:t>
            </a:r>
            <a:r>
              <a:rPr lang="zh-CN" altLang="en-US" sz="2800" b="0" dirty="0">
                <a:solidFill>
                  <a:schemeClr val="tx1"/>
                </a:solidFill>
                <a:latin typeface="宋体" pitchFamily="2" charset="-122"/>
              </a:rPr>
              <a:t>的时空图</a:t>
            </a:r>
          </a:p>
          <a:p>
            <a:pPr>
              <a:lnSpc>
                <a:spcPct val="150000"/>
              </a:lnSpc>
            </a:pPr>
            <a:r>
              <a:rPr lang="zh-CN" altLang="en-US" sz="2800" b="0" dirty="0">
                <a:solidFill>
                  <a:schemeClr val="tx1"/>
                </a:solidFill>
                <a:latin typeface="宋体" pitchFamily="2" charset="-122"/>
              </a:rPr>
              <a:t>　　计算机的流水处理过程类似于工厂中的流水装配线。为了实现流水，首先把输入的任务</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或过程</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分割为一系列子任务，并使各子任务能在流水线的各个阶段并发地执行。当任务连续不断地输入流水线时，在流水线的输出端便连续不断地吐出执行结果，从而实现了子任务级的并行性。</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3"/>
          <p:cNvSpPr>
            <a:spLocks noGrp="1"/>
          </p:cNvSpPr>
          <p:nvPr>
            <p:ph type="sldNum" sz="quarter" idx="12"/>
          </p:nvPr>
        </p:nvSpPr>
        <p:spPr>
          <a:noFill/>
        </p:spPr>
        <p:txBody>
          <a:bodyPr/>
          <a:lstStyle/>
          <a:p>
            <a:fld id="{EE40B8EC-7CE9-49DD-9E50-A9E8DAAF68EF}" type="slidenum">
              <a:rPr lang="en-US" altLang="zh-CN" smtClean="0"/>
              <a:pPr/>
              <a:t>139</a:t>
            </a:fld>
            <a:endParaRPr lang="en-US" altLang="zh-CN" smtClean="0"/>
          </a:p>
        </p:txBody>
      </p:sp>
      <p:pic>
        <p:nvPicPr>
          <p:cNvPr id="144387" name="Picture 2" descr="t5"/>
          <p:cNvPicPr>
            <a:picLocks noChangeAspect="1" noChangeArrowheads="1"/>
          </p:cNvPicPr>
          <p:nvPr/>
        </p:nvPicPr>
        <p:blipFill>
          <a:blip r:embed="rId2"/>
          <a:srcRect/>
          <a:stretch>
            <a:fillRect/>
          </a:stretch>
        </p:blipFill>
        <p:spPr bwMode="auto">
          <a:xfrm>
            <a:off x="179388" y="476250"/>
            <a:ext cx="7777162" cy="5832475"/>
          </a:xfrm>
          <a:prstGeom prst="rect">
            <a:avLst/>
          </a:prstGeom>
          <a:noFill/>
          <a:ln w="9525">
            <a:noFill/>
            <a:miter lim="800000"/>
            <a:headEnd/>
            <a:tailEnd/>
          </a:ln>
        </p:spPr>
      </p:pic>
      <p:pic>
        <p:nvPicPr>
          <p:cNvPr id="144388" name="Picture 3">
            <a:hlinkClick r:id="rId3" action="ppaction://hlinkfile"/>
          </p:cNvPr>
          <p:cNvPicPr>
            <a:picLocks noChangeAspect="1" noChangeArrowheads="1"/>
          </p:cNvPicPr>
          <p:nvPr/>
        </p:nvPicPr>
        <p:blipFill>
          <a:blip r:embed="rId4"/>
          <a:srcRect/>
          <a:stretch>
            <a:fillRect/>
          </a:stretch>
        </p:blipFill>
        <p:spPr bwMode="auto">
          <a:xfrm>
            <a:off x="8027988" y="3644900"/>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5"/>
          <p:cNvSpPr>
            <a:spLocks noGrp="1"/>
          </p:cNvSpPr>
          <p:nvPr>
            <p:ph type="sldNum" sz="quarter" idx="12"/>
          </p:nvPr>
        </p:nvSpPr>
        <p:spPr>
          <a:noFill/>
        </p:spPr>
        <p:txBody>
          <a:bodyPr/>
          <a:lstStyle/>
          <a:p>
            <a:fld id="{96D3F661-FEAB-44F0-907E-8642B12EE766}" type="slidenum">
              <a:rPr lang="en-US" altLang="zh-CN" smtClean="0"/>
              <a:pPr/>
              <a:t>140</a:t>
            </a:fld>
            <a:endParaRPr lang="en-US" altLang="zh-CN" smtClean="0"/>
          </a:p>
        </p:txBody>
      </p:sp>
      <p:sp>
        <p:nvSpPr>
          <p:cNvPr id="145411" name="Rectangle 2"/>
          <p:cNvSpPr>
            <a:spLocks noChangeArrowheads="1"/>
          </p:cNvSpPr>
          <p:nvPr/>
        </p:nvSpPr>
        <p:spPr bwMode="auto">
          <a:xfrm>
            <a:off x="323850" y="442913"/>
            <a:ext cx="7704138" cy="5934075"/>
          </a:xfrm>
          <a:prstGeom prst="rect">
            <a:avLst/>
          </a:prstGeom>
          <a:noFill/>
          <a:ln w="12700" cap="sq">
            <a:noFill/>
            <a:miter lim="800000"/>
            <a:headEnd type="none" w="sm" len="sm"/>
            <a:tailEnd type="none" w="sm" len="sm"/>
          </a:ln>
        </p:spPr>
        <p:txBody>
          <a:bodyPr anchor="ctr">
            <a:spAutoFit/>
          </a:bodyPr>
          <a:lstStyle/>
          <a:p>
            <a:r>
              <a:rPr lang="en-US" altLang="zh-CN" sz="2400">
                <a:solidFill>
                  <a:schemeClr val="tx1"/>
                </a:solidFill>
                <a:latin typeface="宋体" pitchFamily="2" charset="-122"/>
              </a:rPr>
              <a:t>3. </a:t>
            </a:r>
            <a:r>
              <a:rPr lang="zh-CN" altLang="en-US" sz="2400">
                <a:solidFill>
                  <a:schemeClr val="tx1"/>
                </a:solidFill>
                <a:latin typeface="宋体" pitchFamily="2" charset="-122"/>
              </a:rPr>
              <a:t>流水线分类</a:t>
            </a:r>
            <a:r>
              <a:rPr lang="zh-CN" altLang="en-US" sz="2400" b="0">
                <a:solidFill>
                  <a:schemeClr val="tx1"/>
                </a:solidFill>
                <a:latin typeface="宋体" pitchFamily="2" charset="-122"/>
              </a:rPr>
              <a:t> </a:t>
            </a:r>
          </a:p>
          <a:p>
            <a:r>
              <a:rPr lang="zh-CN" altLang="en-US" sz="2400">
                <a:solidFill>
                  <a:schemeClr val="tx1"/>
                </a:solidFill>
                <a:latin typeface="宋体" pitchFamily="2" charset="-122"/>
              </a:rPr>
              <a:t>　  指令流水线</a:t>
            </a:r>
            <a:r>
              <a:rPr lang="zh-CN" altLang="en-US" sz="2400" b="0">
                <a:solidFill>
                  <a:schemeClr val="tx1"/>
                </a:solidFill>
                <a:latin typeface="宋体" pitchFamily="2" charset="-122"/>
              </a:rPr>
              <a:t> 指指令步骤的并行。将指令流的处理过程划分为取指令、译码、执行、写回等几个并行处理的过程段。目前，几乎所有的高性能计算机都采用了指令流水线。</a:t>
            </a:r>
          </a:p>
          <a:p>
            <a:r>
              <a:rPr lang="zh-CN" altLang="en-US" sz="2400">
                <a:solidFill>
                  <a:schemeClr val="tx1"/>
                </a:solidFill>
                <a:latin typeface="宋体" pitchFamily="2" charset="-122"/>
              </a:rPr>
              <a:t>　　算术流水线</a:t>
            </a:r>
            <a:r>
              <a:rPr lang="zh-CN" altLang="en-US" sz="2400" b="0">
                <a:solidFill>
                  <a:schemeClr val="tx1"/>
                </a:solidFill>
                <a:latin typeface="宋体" pitchFamily="2" charset="-122"/>
              </a:rPr>
              <a:t> 指运算操作步骤的并行。如流水加法器、流水乘法器、流水除法器等。 现代计算机中已广泛采用了流水的算术运算器。</a:t>
            </a:r>
          </a:p>
          <a:p>
            <a:r>
              <a:rPr lang="zh-CN" altLang="en-US" sz="2400">
                <a:solidFill>
                  <a:schemeClr val="tx1"/>
                </a:solidFill>
                <a:latin typeface="宋体" pitchFamily="2" charset="-122"/>
              </a:rPr>
              <a:t>　　处理机流水线</a:t>
            </a:r>
            <a:r>
              <a:rPr lang="zh-CN" altLang="en-US" sz="2400" b="0">
                <a:solidFill>
                  <a:schemeClr val="tx1"/>
                </a:solidFill>
                <a:latin typeface="宋体" pitchFamily="2" charset="-122"/>
              </a:rPr>
              <a:t> 又称为宏流水线，是指程序步骤的并行。由一串级联的处理机构成流水线的各个过程段，每台处理机负责某一特定的任务。数据流从第一台处理机输入，经处理后被送入与第二台处理机相联的缓冲存储器中。第二台处理机从该存储器中取出数据进行处理，然后传送给第三台处理机，如此串联下去。随着高档微处理器芯片的出现， 构造处理机流水线将变得容易了。处理机流水线应用在多机系统中。</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5"/>
          <p:cNvSpPr>
            <a:spLocks noGrp="1"/>
          </p:cNvSpPr>
          <p:nvPr>
            <p:ph type="sldNum" sz="quarter" idx="12"/>
          </p:nvPr>
        </p:nvSpPr>
        <p:spPr>
          <a:noFill/>
        </p:spPr>
        <p:txBody>
          <a:bodyPr/>
          <a:lstStyle/>
          <a:p>
            <a:fld id="{DE80A21C-F232-4348-AF48-F5F5891C06AB}" type="slidenum">
              <a:rPr lang="en-US" altLang="zh-CN" smtClean="0"/>
              <a:pPr/>
              <a:t>141</a:t>
            </a:fld>
            <a:endParaRPr lang="en-US" altLang="zh-CN" smtClean="0"/>
          </a:p>
        </p:txBody>
      </p:sp>
      <p:sp>
        <p:nvSpPr>
          <p:cNvPr id="146435" name="Rectangle 2"/>
          <p:cNvSpPr>
            <a:spLocks noGrp="1" noChangeArrowheads="1"/>
          </p:cNvSpPr>
          <p:nvPr>
            <p:ph type="title"/>
          </p:nvPr>
        </p:nvSpPr>
        <p:spPr>
          <a:xfrm>
            <a:off x="323850" y="188913"/>
            <a:ext cx="7543800" cy="647700"/>
          </a:xfrm>
        </p:spPr>
        <p:txBody>
          <a:bodyPr/>
          <a:lstStyle/>
          <a:p>
            <a:pPr eaLnBrk="1" hangingPunct="1"/>
            <a:r>
              <a:rPr lang="en-US" altLang="zh-CN" sz="3500" dirty="0" smtClean="0">
                <a:solidFill>
                  <a:schemeClr val="tx1"/>
                </a:solidFill>
                <a:cs typeface="Times New Roman" pitchFamily="18" charset="0"/>
              </a:rPr>
              <a:t>5.6</a:t>
            </a:r>
            <a:r>
              <a:rPr lang="en-US" altLang="zh-CN" sz="3500" dirty="0" smtClean="0">
                <a:solidFill>
                  <a:schemeClr val="tx1"/>
                </a:solidFill>
              </a:rPr>
              <a:t>.3</a:t>
            </a:r>
            <a:r>
              <a:rPr lang="zh-CN" altLang="en-US" sz="3500" dirty="0" smtClean="0"/>
              <a:t>流水线中的主要问题</a:t>
            </a:r>
          </a:p>
        </p:txBody>
      </p:sp>
      <p:sp>
        <p:nvSpPr>
          <p:cNvPr id="146436" name="Rectangle 3"/>
          <p:cNvSpPr>
            <a:spLocks noChangeArrowheads="1"/>
          </p:cNvSpPr>
          <p:nvPr/>
        </p:nvSpPr>
        <p:spPr bwMode="auto">
          <a:xfrm>
            <a:off x="2152650" y="2424113"/>
            <a:ext cx="9144000" cy="0"/>
          </a:xfrm>
          <a:prstGeom prst="rect">
            <a:avLst/>
          </a:prstGeom>
          <a:noFill/>
          <a:ln w="9525">
            <a:noFill/>
            <a:miter lim="800000"/>
            <a:headEnd/>
            <a:tailEnd/>
          </a:ln>
        </p:spPr>
        <p:txBody>
          <a:bodyPr>
            <a:spAutoFit/>
          </a:bodyPr>
          <a:lstStyle/>
          <a:p>
            <a:endParaRPr lang="zh-CN" altLang="en-US"/>
          </a:p>
        </p:txBody>
      </p:sp>
      <p:sp>
        <p:nvSpPr>
          <p:cNvPr id="146437" name="Rectangle 4"/>
          <p:cNvSpPr>
            <a:spLocks noChangeArrowheads="1"/>
          </p:cNvSpPr>
          <p:nvPr/>
        </p:nvSpPr>
        <p:spPr bwMode="auto">
          <a:xfrm>
            <a:off x="251916" y="836613"/>
            <a:ext cx="8064500" cy="2677656"/>
          </a:xfrm>
          <a:prstGeom prst="rect">
            <a:avLst/>
          </a:prstGeom>
          <a:noFill/>
          <a:ln w="12700" cap="sq">
            <a:noFill/>
            <a:miter lim="800000"/>
            <a:headEnd type="none" w="sm" len="sm"/>
            <a:tailEnd type="none" w="sm" len="sm"/>
          </a:ln>
        </p:spPr>
        <p:txBody>
          <a:bodyPr>
            <a:spAutoFit/>
          </a:bodyPr>
          <a:lstStyle/>
          <a:p>
            <a:pPr marL="342900" indent="-342900"/>
            <a:r>
              <a:rPr lang="en-US" altLang="zh-CN" sz="2400" b="0" dirty="0">
                <a:solidFill>
                  <a:schemeClr val="tx1"/>
                </a:solidFill>
                <a:latin typeface="宋体" pitchFamily="2" charset="-122"/>
              </a:rPr>
              <a:t>    </a:t>
            </a:r>
            <a:r>
              <a:rPr lang="zh-CN" altLang="en-US" sz="2400" b="0" dirty="0">
                <a:solidFill>
                  <a:schemeClr val="tx1"/>
                </a:solidFill>
                <a:latin typeface="宋体" pitchFamily="2" charset="-122"/>
              </a:rPr>
              <a:t>流水过程中通常会出现以下三种相关冲突，使流</a:t>
            </a:r>
          </a:p>
          <a:p>
            <a:pPr marL="342900" indent="-342900"/>
            <a:r>
              <a:rPr lang="zh-CN" altLang="en-US" sz="2400" b="0" dirty="0">
                <a:solidFill>
                  <a:schemeClr val="tx1"/>
                </a:solidFill>
                <a:latin typeface="宋体" pitchFamily="2" charset="-122"/>
              </a:rPr>
              <a:t>水线断流。</a:t>
            </a:r>
          </a:p>
          <a:p>
            <a:pPr marL="342900" indent="-342900"/>
            <a:r>
              <a:rPr lang="en-US" altLang="zh-CN" sz="2400" dirty="0">
                <a:solidFill>
                  <a:schemeClr val="tx1"/>
                </a:solidFill>
                <a:latin typeface="宋体" pitchFamily="2" charset="-122"/>
              </a:rPr>
              <a:t>1</a:t>
            </a:r>
            <a:r>
              <a:rPr lang="zh-CN" altLang="en-US" sz="2400" dirty="0">
                <a:solidFill>
                  <a:schemeClr val="tx1"/>
                </a:solidFill>
                <a:latin typeface="宋体" pitchFamily="2" charset="-122"/>
              </a:rPr>
              <a:t>、资源相关</a:t>
            </a:r>
          </a:p>
          <a:p>
            <a:pPr marL="342900" indent="-342900"/>
            <a:r>
              <a:rPr lang="zh-CN" altLang="en-US" sz="2400" b="0" dirty="0">
                <a:solidFill>
                  <a:schemeClr val="tx1"/>
                </a:solidFill>
                <a:latin typeface="宋体" pitchFamily="2" charset="-122"/>
              </a:rPr>
              <a:t> 　 </a:t>
            </a:r>
            <a:r>
              <a:rPr lang="zh-CN" altLang="en-US" sz="2400" b="0" dirty="0" smtClean="0">
                <a:solidFill>
                  <a:schemeClr val="tx1"/>
                </a:solidFill>
                <a:latin typeface="宋体" pitchFamily="2" charset="-122"/>
              </a:rPr>
              <a:t>  资源</a:t>
            </a:r>
            <a:r>
              <a:rPr lang="zh-CN" altLang="en-US" sz="2400" b="0" dirty="0">
                <a:solidFill>
                  <a:schemeClr val="tx1"/>
                </a:solidFill>
                <a:latin typeface="宋体" pitchFamily="2" charset="-122"/>
              </a:rPr>
              <a:t>相关是指多条指令进入流水线后在同一机器时钟周期内争用同一个功能部件所发生的冲突。假定一条指令流水线由五段组成。由下表可以看出，在时钟</a:t>
            </a:r>
            <a:r>
              <a:rPr lang="en-US" altLang="zh-CN" sz="2400" b="0" dirty="0">
                <a:solidFill>
                  <a:schemeClr val="tx1"/>
                </a:solidFill>
                <a:latin typeface="宋体" pitchFamily="2" charset="-122"/>
              </a:rPr>
              <a:t>4</a:t>
            </a:r>
            <a:r>
              <a:rPr lang="zh-CN" altLang="en-US" sz="2400" b="0" dirty="0">
                <a:solidFill>
                  <a:schemeClr val="tx1"/>
                </a:solidFill>
                <a:latin typeface="宋体" pitchFamily="2" charset="-122"/>
              </a:rPr>
              <a:t>时，</a:t>
            </a:r>
            <a:r>
              <a:rPr lang="en-US" altLang="zh-CN" sz="2400" b="0" dirty="0">
                <a:solidFill>
                  <a:schemeClr val="tx1"/>
                </a:solidFill>
                <a:latin typeface="宋体" pitchFamily="2" charset="-122"/>
              </a:rPr>
              <a:t>I1</a:t>
            </a:r>
            <a:r>
              <a:rPr lang="zh-CN" altLang="en-US" sz="2400" b="0" dirty="0">
                <a:solidFill>
                  <a:schemeClr val="tx1"/>
                </a:solidFill>
                <a:latin typeface="宋体" pitchFamily="2" charset="-122"/>
              </a:rPr>
              <a:t>与</a:t>
            </a:r>
            <a:r>
              <a:rPr lang="en-US" altLang="zh-CN" sz="2400" b="0" dirty="0">
                <a:solidFill>
                  <a:schemeClr val="tx1"/>
                </a:solidFill>
                <a:latin typeface="宋体" pitchFamily="2" charset="-122"/>
              </a:rPr>
              <a:t>I4</a:t>
            </a:r>
            <a:r>
              <a:rPr lang="zh-CN" altLang="en-US" sz="2400" b="0" dirty="0">
                <a:solidFill>
                  <a:schemeClr val="tx1"/>
                </a:solidFill>
                <a:latin typeface="宋体" pitchFamily="2" charset="-122"/>
              </a:rPr>
              <a:t>两条指令发生争用存储器资源的相关冲突。 </a:t>
            </a:r>
          </a:p>
        </p:txBody>
      </p:sp>
      <p:pic>
        <p:nvPicPr>
          <p:cNvPr id="146438" name="Picture 5" descr="t5"/>
          <p:cNvPicPr>
            <a:picLocks noChangeAspect="1" noChangeArrowheads="1"/>
          </p:cNvPicPr>
          <p:nvPr/>
        </p:nvPicPr>
        <p:blipFill>
          <a:blip r:embed="rId2"/>
          <a:srcRect/>
          <a:stretch>
            <a:fillRect/>
          </a:stretch>
        </p:blipFill>
        <p:spPr bwMode="auto">
          <a:xfrm>
            <a:off x="571500" y="3500438"/>
            <a:ext cx="7632700" cy="2376487"/>
          </a:xfrm>
          <a:prstGeom prst="rect">
            <a:avLst/>
          </a:prstGeom>
          <a:solidFill>
            <a:srgbClr val="66FFFF"/>
          </a:solidFill>
          <a:ln w="9525">
            <a:noFill/>
            <a:miter lim="800000"/>
            <a:headEnd/>
            <a:tailEnd/>
          </a:ln>
        </p:spPr>
      </p:pic>
      <p:sp>
        <p:nvSpPr>
          <p:cNvPr id="146439" name="Rectangle 6"/>
          <p:cNvSpPr>
            <a:spLocks noChangeArrowheads="1"/>
          </p:cNvSpPr>
          <p:nvPr/>
        </p:nvSpPr>
        <p:spPr bwMode="auto">
          <a:xfrm>
            <a:off x="468313" y="5805488"/>
            <a:ext cx="7775575" cy="822325"/>
          </a:xfrm>
          <a:prstGeom prst="rect">
            <a:avLst/>
          </a:prstGeom>
          <a:noFill/>
          <a:ln w="12700" cap="sq">
            <a:noFill/>
            <a:miter lim="800000"/>
            <a:headEnd type="none" w="sm" len="sm"/>
            <a:tailEnd type="none" w="sm" len="sm"/>
          </a:ln>
        </p:spPr>
        <p:txBody>
          <a:bodyPr>
            <a:spAutoFit/>
          </a:bodyPr>
          <a:lstStyle/>
          <a:p>
            <a:r>
              <a:rPr lang="zh-CN" altLang="en-US" sz="2400">
                <a:solidFill>
                  <a:schemeClr val="tx1"/>
                </a:solidFill>
                <a:latin typeface="宋体" pitchFamily="2" charset="-122"/>
              </a:rPr>
              <a:t>解决办法</a:t>
            </a:r>
            <a:r>
              <a:rPr lang="zh-CN" altLang="en-US" sz="2400" b="0">
                <a:solidFill>
                  <a:schemeClr val="tx1"/>
                </a:solidFill>
                <a:latin typeface="宋体" pitchFamily="2" charset="-122"/>
              </a:rPr>
              <a:t>：一是第</a:t>
            </a:r>
            <a:r>
              <a:rPr lang="en-US" altLang="zh-CN" sz="2400" b="0">
                <a:solidFill>
                  <a:schemeClr val="tx1"/>
                </a:solidFill>
                <a:latin typeface="宋体" pitchFamily="2" charset="-122"/>
              </a:rPr>
              <a:t>I4</a:t>
            </a:r>
            <a:r>
              <a:rPr lang="zh-CN" altLang="en-US" sz="2400" b="0">
                <a:solidFill>
                  <a:schemeClr val="tx1"/>
                </a:solidFill>
                <a:latin typeface="宋体" pitchFamily="2" charset="-122"/>
              </a:rPr>
              <a:t>条指令停顿一拍后再启动；二是增设一个存储器，将指令和数据分别放在两个存储器中。</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3"/>
          <p:cNvSpPr>
            <a:spLocks noGrp="1"/>
          </p:cNvSpPr>
          <p:nvPr>
            <p:ph type="sldNum" sz="quarter" idx="12"/>
          </p:nvPr>
        </p:nvSpPr>
        <p:spPr>
          <a:noFill/>
        </p:spPr>
        <p:txBody>
          <a:bodyPr/>
          <a:lstStyle/>
          <a:p>
            <a:fld id="{5A8F3C8A-E2B8-49C3-8678-C75E43C59AFD}" type="slidenum">
              <a:rPr lang="en-US" altLang="zh-CN" smtClean="0"/>
              <a:pPr/>
              <a:t>142</a:t>
            </a:fld>
            <a:endParaRPr lang="en-US" altLang="zh-CN" smtClean="0"/>
          </a:p>
        </p:txBody>
      </p:sp>
      <p:sp>
        <p:nvSpPr>
          <p:cNvPr id="147459" name="Rectangle 2"/>
          <p:cNvSpPr>
            <a:spLocks noChangeArrowheads="1"/>
          </p:cNvSpPr>
          <p:nvPr/>
        </p:nvSpPr>
        <p:spPr bwMode="auto">
          <a:xfrm>
            <a:off x="395288" y="515938"/>
            <a:ext cx="7345362" cy="5448300"/>
          </a:xfrm>
          <a:prstGeom prst="rect">
            <a:avLst/>
          </a:prstGeom>
          <a:noFill/>
          <a:ln w="12700" cap="sq">
            <a:noFill/>
            <a:miter lim="800000"/>
            <a:headEnd type="none" w="sm" len="sm"/>
            <a:tailEnd type="none" w="sm" len="sm"/>
          </a:ln>
        </p:spPr>
        <p:txBody>
          <a:bodyPr anchor="ctr">
            <a:spAutoFit/>
          </a:bodyPr>
          <a:lstStyle/>
          <a:p>
            <a:r>
              <a:rPr lang="en-US" altLang="zh-CN" sz="2400">
                <a:solidFill>
                  <a:schemeClr val="tx1"/>
                </a:solidFill>
                <a:latin typeface="宋体" pitchFamily="2" charset="-122"/>
              </a:rPr>
              <a:t>2. </a:t>
            </a:r>
            <a:r>
              <a:rPr lang="zh-CN" altLang="en-US" sz="2400">
                <a:solidFill>
                  <a:schemeClr val="tx1"/>
                </a:solidFill>
                <a:latin typeface="宋体" pitchFamily="2" charset="-122"/>
              </a:rPr>
              <a:t>数据相关</a:t>
            </a:r>
            <a:endParaRPr lang="en-US" altLang="zh-CN" sz="2400">
              <a:solidFill>
                <a:schemeClr val="tx1"/>
              </a:solidFill>
              <a:latin typeface="宋体" pitchFamily="2" charset="-122"/>
            </a:endParaRPr>
          </a:p>
          <a:p>
            <a:pPr>
              <a:lnSpc>
                <a:spcPct val="150000"/>
              </a:lnSpc>
            </a:pPr>
            <a:endParaRPr lang="zh-CN" altLang="en-US" sz="2400" b="0">
              <a:solidFill>
                <a:schemeClr val="tx1"/>
              </a:solidFill>
              <a:latin typeface="宋体" pitchFamily="2" charset="-122"/>
            </a:endParaRPr>
          </a:p>
          <a:p>
            <a:pPr>
              <a:lnSpc>
                <a:spcPct val="150000"/>
              </a:lnSpc>
            </a:pPr>
            <a:r>
              <a:rPr lang="zh-CN" altLang="en-US" sz="2400" b="0">
                <a:solidFill>
                  <a:schemeClr val="tx1"/>
                </a:solidFill>
                <a:latin typeface="宋体" pitchFamily="2" charset="-122"/>
              </a:rPr>
              <a:t>　　在一个程序中，如果必须等前一条指令执行完毕后，才能执行后一条指令，那么这两条指令就是数据相关的。</a:t>
            </a:r>
          </a:p>
          <a:p>
            <a:pPr>
              <a:lnSpc>
                <a:spcPct val="150000"/>
              </a:lnSpc>
            </a:pPr>
            <a:r>
              <a:rPr lang="zh-CN" altLang="en-US" sz="2400" b="0">
                <a:solidFill>
                  <a:schemeClr val="tx1"/>
                </a:solidFill>
                <a:latin typeface="宋体" pitchFamily="2" charset="-122"/>
              </a:rPr>
              <a:t>　　在流水计算机中，指令的处理是重叠进行的，前一条指令还没有结束，第二、三条指令就陆续地开始工作。由于多条指令的重叠处理，当后继指令所需的操作数，刚好是前一指令的运算结果时，便发生数据相关冲突。</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1"/>
          <p:cNvSpPr>
            <a:spLocks noGrp="1"/>
          </p:cNvSpPr>
          <p:nvPr>
            <p:ph type="sldNum" sz="quarter" idx="12"/>
          </p:nvPr>
        </p:nvSpPr>
        <p:spPr>
          <a:noFill/>
        </p:spPr>
        <p:txBody>
          <a:bodyPr/>
          <a:lstStyle/>
          <a:p>
            <a:fld id="{F4BB60D6-0506-4C39-AA09-F8CE58393DF0}" type="slidenum">
              <a:rPr lang="en-US" altLang="zh-CN" smtClean="0"/>
              <a:pPr/>
              <a:t>143</a:t>
            </a:fld>
            <a:endParaRPr lang="en-US" altLang="zh-CN" smtClean="0"/>
          </a:p>
        </p:txBody>
      </p:sp>
      <p:sp>
        <p:nvSpPr>
          <p:cNvPr id="148483" name="灯片编号占位符 3"/>
          <p:cNvSpPr txBox="1">
            <a:spLocks/>
          </p:cNvSpPr>
          <p:nvPr/>
        </p:nvSpPr>
        <p:spPr bwMode="auto">
          <a:xfrm>
            <a:off x="6553200" y="6248400"/>
            <a:ext cx="2133600" cy="457200"/>
          </a:xfrm>
          <a:prstGeom prst="rect">
            <a:avLst/>
          </a:prstGeom>
          <a:noFill/>
          <a:ln w="9525">
            <a:noFill/>
            <a:miter lim="800000"/>
            <a:headEnd/>
            <a:tailEnd/>
          </a:ln>
        </p:spPr>
        <p:txBody>
          <a:bodyPr/>
          <a:lstStyle/>
          <a:p>
            <a:pPr algn="r"/>
            <a:fld id="{628094FE-8BAB-4E5B-AD98-75431BFB06FD}" type="slidenum">
              <a:rPr lang="en-US" altLang="zh-CN" sz="1000" b="0">
                <a:solidFill>
                  <a:schemeClr val="tx1"/>
                </a:solidFill>
              </a:rPr>
              <a:pPr algn="r"/>
              <a:t>143</a:t>
            </a:fld>
            <a:endParaRPr lang="en-US" altLang="zh-CN" sz="1000" b="0">
              <a:solidFill>
                <a:schemeClr val="tx1"/>
              </a:solidFill>
            </a:endParaRPr>
          </a:p>
        </p:txBody>
      </p:sp>
      <p:sp>
        <p:nvSpPr>
          <p:cNvPr id="148484" name="Rectangle 2"/>
          <p:cNvSpPr>
            <a:spLocks noChangeArrowheads="1"/>
          </p:cNvSpPr>
          <p:nvPr/>
        </p:nvSpPr>
        <p:spPr bwMode="auto">
          <a:xfrm>
            <a:off x="395288" y="515938"/>
            <a:ext cx="7345362" cy="461962"/>
          </a:xfrm>
          <a:prstGeom prst="rect">
            <a:avLst/>
          </a:prstGeom>
          <a:noFill/>
          <a:ln w="12700" cap="sq">
            <a:noFill/>
            <a:miter lim="800000"/>
            <a:headEnd type="none" w="sm" len="sm"/>
            <a:tailEnd type="none" w="sm" len="sm"/>
          </a:ln>
        </p:spPr>
        <p:txBody>
          <a:bodyPr anchor="ctr">
            <a:spAutoFit/>
          </a:bodyPr>
          <a:lstStyle/>
          <a:p>
            <a:r>
              <a:rPr lang="zh-CN" altLang="en-US" sz="2400" b="0">
                <a:solidFill>
                  <a:schemeClr val="tx1"/>
                </a:solidFill>
                <a:latin typeface="宋体" pitchFamily="2" charset="-122"/>
              </a:rPr>
              <a:t>    例：</a:t>
            </a:r>
            <a:r>
              <a:rPr lang="en-US" altLang="zh-CN" sz="2400" b="0">
                <a:solidFill>
                  <a:schemeClr val="tx1"/>
                </a:solidFill>
                <a:latin typeface="宋体" pitchFamily="2" charset="-122"/>
              </a:rPr>
              <a:t>ADD</a:t>
            </a:r>
            <a:r>
              <a:rPr lang="zh-CN" altLang="en-US" sz="2400" b="0">
                <a:solidFill>
                  <a:schemeClr val="tx1"/>
                </a:solidFill>
                <a:latin typeface="宋体" pitchFamily="2" charset="-122"/>
              </a:rPr>
              <a:t>指令与</a:t>
            </a:r>
            <a:r>
              <a:rPr lang="en-US" altLang="zh-CN" sz="2400" b="0">
                <a:solidFill>
                  <a:schemeClr val="tx1"/>
                </a:solidFill>
                <a:latin typeface="宋体" pitchFamily="2" charset="-122"/>
              </a:rPr>
              <a:t>SUB</a:t>
            </a:r>
            <a:r>
              <a:rPr lang="zh-CN" altLang="en-US" sz="2400" b="0">
                <a:solidFill>
                  <a:schemeClr val="tx1"/>
                </a:solidFill>
                <a:latin typeface="宋体" pitchFamily="2" charset="-122"/>
              </a:rPr>
              <a:t>指令发生了数据相关冲突。</a:t>
            </a:r>
          </a:p>
        </p:txBody>
      </p:sp>
      <p:pic>
        <p:nvPicPr>
          <p:cNvPr id="148486" name="Picture 6"/>
          <p:cNvPicPr>
            <a:picLocks noChangeAspect="1" noChangeArrowheads="1"/>
          </p:cNvPicPr>
          <p:nvPr/>
        </p:nvPicPr>
        <p:blipFill>
          <a:blip r:embed="rId2"/>
          <a:srcRect/>
          <a:stretch>
            <a:fillRect/>
          </a:stretch>
        </p:blipFill>
        <p:spPr bwMode="auto">
          <a:xfrm>
            <a:off x="285750" y="3143250"/>
            <a:ext cx="8496300" cy="3286125"/>
          </a:xfrm>
          <a:prstGeom prst="rect">
            <a:avLst/>
          </a:prstGeom>
          <a:noFill/>
          <a:ln w="9525">
            <a:noFill/>
            <a:miter lim="800000"/>
            <a:headEnd/>
            <a:tailEnd/>
          </a:ln>
        </p:spPr>
      </p:pic>
      <p:pic>
        <p:nvPicPr>
          <p:cNvPr id="279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849" y="1105694"/>
            <a:ext cx="621982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 name="直接箭头连接符 12"/>
          <p:cNvCxnSpPr/>
          <p:nvPr/>
        </p:nvCxnSpPr>
        <p:spPr bwMode="auto">
          <a:xfrm flipH="1">
            <a:off x="5796136" y="1539640"/>
            <a:ext cx="1152128" cy="2664296"/>
          </a:xfrm>
          <a:prstGeom prst="straightConnector1">
            <a:avLst/>
          </a:prstGeom>
          <a:noFill/>
          <a:ln w="57150" cap="flat" cmpd="sng" algn="ctr">
            <a:solidFill>
              <a:srgbClr val="FF3300"/>
            </a:solidFill>
            <a:prstDash val="solid"/>
            <a:round/>
            <a:headEnd type="none" w="med" len="med"/>
            <a:tailEnd type="arrow"/>
          </a:ln>
          <a:effectLst/>
        </p:spPr>
      </p:cxnSp>
      <p:cxnSp>
        <p:nvCxnSpPr>
          <p:cNvPr id="14" name="直接箭头连接符 13"/>
          <p:cNvCxnSpPr/>
          <p:nvPr/>
        </p:nvCxnSpPr>
        <p:spPr bwMode="auto">
          <a:xfrm flipH="1">
            <a:off x="4632326" y="2204864"/>
            <a:ext cx="477638" cy="2736304"/>
          </a:xfrm>
          <a:prstGeom prst="straightConnector1">
            <a:avLst/>
          </a:prstGeom>
          <a:noFill/>
          <a:ln w="57150" cap="flat" cmpd="sng" algn="ctr">
            <a:solidFill>
              <a:srgbClr val="FF3300"/>
            </a:solidFill>
            <a:prstDash val="solid"/>
            <a:round/>
            <a:headEnd type="none" w="med" len="med"/>
            <a:tailEnd type="arrow"/>
          </a:ln>
          <a:effectLst/>
        </p:spPr>
      </p:cxnSp>
      <p:cxnSp>
        <p:nvCxnSpPr>
          <p:cNvPr id="15" name="直接箭头连接符 14"/>
          <p:cNvCxnSpPr/>
          <p:nvPr/>
        </p:nvCxnSpPr>
        <p:spPr bwMode="auto">
          <a:xfrm>
            <a:off x="5109964" y="2871788"/>
            <a:ext cx="542156" cy="2736304"/>
          </a:xfrm>
          <a:prstGeom prst="straightConnector1">
            <a:avLst/>
          </a:prstGeom>
          <a:noFill/>
          <a:ln w="57150" cap="flat" cmpd="sng" algn="ctr">
            <a:solidFill>
              <a:srgbClr val="FF33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5"/>
          <p:cNvSpPr>
            <a:spLocks noGrp="1"/>
          </p:cNvSpPr>
          <p:nvPr>
            <p:ph type="sldNum" sz="quarter" idx="12"/>
          </p:nvPr>
        </p:nvSpPr>
        <p:spPr>
          <a:noFill/>
        </p:spPr>
        <p:txBody>
          <a:bodyPr/>
          <a:lstStyle/>
          <a:p>
            <a:fld id="{25B5A6A1-1BDD-4037-99FE-806191E349A5}" type="slidenum">
              <a:rPr lang="en-US" altLang="zh-CN" smtClean="0"/>
              <a:pPr/>
              <a:t>144</a:t>
            </a:fld>
            <a:endParaRPr lang="en-US" altLang="zh-CN" smtClean="0"/>
          </a:p>
        </p:txBody>
      </p:sp>
      <p:sp>
        <p:nvSpPr>
          <p:cNvPr id="149507" name="Rectangle 2"/>
          <p:cNvSpPr>
            <a:spLocks noGrp="1" noChangeArrowheads="1"/>
          </p:cNvSpPr>
          <p:nvPr>
            <p:ph type="body" idx="1"/>
          </p:nvPr>
        </p:nvSpPr>
        <p:spPr>
          <a:xfrm>
            <a:off x="323850" y="339725"/>
            <a:ext cx="7626350" cy="6048077"/>
          </a:xfrm>
        </p:spPr>
        <p:txBody>
          <a:bodyPr/>
          <a:lstStyle/>
          <a:p>
            <a:pPr lvl="1" eaLnBrk="1" hangingPunct="1">
              <a:lnSpc>
                <a:spcPct val="140000"/>
              </a:lnSpc>
              <a:spcBef>
                <a:spcPts val="0"/>
              </a:spcBef>
            </a:pPr>
            <a:r>
              <a:rPr lang="zh-CN" altLang="en-US" sz="2800" dirty="0" smtClean="0">
                <a:latin typeface="宋体" pitchFamily="2" charset="-122"/>
              </a:rPr>
              <a:t>数据相关</a:t>
            </a:r>
          </a:p>
          <a:p>
            <a:pPr lvl="2" eaLnBrk="1" hangingPunct="1">
              <a:lnSpc>
                <a:spcPct val="140000"/>
              </a:lnSpc>
              <a:spcBef>
                <a:spcPts val="0"/>
              </a:spcBef>
            </a:pPr>
            <a:r>
              <a:rPr lang="en-US" altLang="zh-CN" sz="2800" dirty="0" smtClean="0">
                <a:latin typeface="宋体" pitchFamily="2" charset="-122"/>
              </a:rPr>
              <a:t>RAW(Read After Write) – </a:t>
            </a:r>
            <a:r>
              <a:rPr lang="zh-CN" altLang="en-US" sz="2800" dirty="0" smtClean="0">
                <a:latin typeface="宋体" pitchFamily="2" charset="-122"/>
              </a:rPr>
              <a:t>写后读</a:t>
            </a:r>
          </a:p>
          <a:p>
            <a:pPr lvl="3" eaLnBrk="1" hangingPunct="1">
              <a:lnSpc>
                <a:spcPct val="140000"/>
              </a:lnSpc>
              <a:spcBef>
                <a:spcPts val="0"/>
              </a:spcBef>
            </a:pPr>
            <a:r>
              <a:rPr lang="zh-CN" altLang="en-US" sz="2800" dirty="0" smtClean="0">
                <a:latin typeface="宋体" pitchFamily="2" charset="-122"/>
              </a:rPr>
              <a:t>后面指令用到前面指令所写的数据</a:t>
            </a:r>
          </a:p>
          <a:p>
            <a:pPr lvl="2" eaLnBrk="1" hangingPunct="1">
              <a:lnSpc>
                <a:spcPct val="140000"/>
              </a:lnSpc>
              <a:spcBef>
                <a:spcPts val="0"/>
              </a:spcBef>
            </a:pPr>
            <a:r>
              <a:rPr lang="en-US" altLang="zh-CN" sz="2800" dirty="0" smtClean="0">
                <a:latin typeface="宋体" pitchFamily="2" charset="-122"/>
              </a:rPr>
              <a:t>WAW(Write After Write) – </a:t>
            </a:r>
            <a:r>
              <a:rPr lang="zh-CN" altLang="en-US" sz="2800" dirty="0" smtClean="0">
                <a:latin typeface="宋体" pitchFamily="2" charset="-122"/>
              </a:rPr>
              <a:t>写后写</a:t>
            </a:r>
          </a:p>
          <a:p>
            <a:pPr lvl="3" eaLnBrk="1" hangingPunct="1">
              <a:lnSpc>
                <a:spcPct val="140000"/>
              </a:lnSpc>
              <a:spcBef>
                <a:spcPts val="0"/>
              </a:spcBef>
            </a:pPr>
            <a:r>
              <a:rPr lang="zh-CN" altLang="en-US" sz="2800" dirty="0" smtClean="0">
                <a:latin typeface="宋体" pitchFamily="2" charset="-122"/>
              </a:rPr>
              <a:t>两条指令写同一个单元</a:t>
            </a:r>
          </a:p>
          <a:p>
            <a:pPr lvl="3" eaLnBrk="1" hangingPunct="1">
              <a:lnSpc>
                <a:spcPct val="140000"/>
              </a:lnSpc>
              <a:spcBef>
                <a:spcPts val="0"/>
              </a:spcBef>
            </a:pPr>
            <a:r>
              <a:rPr lang="zh-CN" altLang="en-US" sz="2800" dirty="0" smtClean="0">
                <a:latin typeface="宋体" pitchFamily="2" charset="-122"/>
              </a:rPr>
              <a:t>在简单流水线中没有此类相关，因为不会乱序执行</a:t>
            </a:r>
          </a:p>
          <a:p>
            <a:pPr lvl="2" eaLnBrk="1" hangingPunct="1">
              <a:lnSpc>
                <a:spcPct val="140000"/>
              </a:lnSpc>
              <a:spcBef>
                <a:spcPts val="0"/>
              </a:spcBef>
            </a:pPr>
            <a:r>
              <a:rPr lang="en-US" altLang="zh-CN" sz="2800" dirty="0" smtClean="0">
                <a:latin typeface="宋体" pitchFamily="2" charset="-122"/>
              </a:rPr>
              <a:t>WAR(Write After Read) –</a:t>
            </a:r>
            <a:r>
              <a:rPr lang="zh-CN" altLang="en-US" sz="2800" dirty="0" smtClean="0">
                <a:latin typeface="宋体" pitchFamily="2" charset="-122"/>
              </a:rPr>
              <a:t>读后写</a:t>
            </a:r>
          </a:p>
          <a:p>
            <a:pPr lvl="3" eaLnBrk="1" hangingPunct="1">
              <a:lnSpc>
                <a:spcPct val="140000"/>
              </a:lnSpc>
              <a:spcBef>
                <a:spcPts val="0"/>
              </a:spcBef>
            </a:pPr>
            <a:r>
              <a:rPr lang="zh-CN" altLang="en-US" sz="2800" dirty="0" smtClean="0">
                <a:latin typeface="宋体" pitchFamily="2" charset="-122"/>
              </a:rPr>
              <a:t>后面指令覆盖前面指令所读的单元</a:t>
            </a:r>
          </a:p>
          <a:p>
            <a:pPr lvl="3" eaLnBrk="1" hangingPunct="1">
              <a:lnSpc>
                <a:spcPct val="140000"/>
              </a:lnSpc>
              <a:spcBef>
                <a:spcPts val="0"/>
              </a:spcBef>
            </a:pPr>
            <a:r>
              <a:rPr lang="zh-CN" altLang="en-US" sz="2800" dirty="0" smtClean="0">
                <a:latin typeface="宋体" pitchFamily="2" charset="-122"/>
              </a:rPr>
              <a:t>在简单流水线中没有此类相关</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p:cNvSpPr>
            <a:spLocks noGrp="1"/>
          </p:cNvSpPr>
          <p:nvPr>
            <p:ph type="sldNum" sz="quarter" idx="12"/>
          </p:nvPr>
        </p:nvSpPr>
        <p:spPr>
          <a:noFill/>
        </p:spPr>
        <p:txBody>
          <a:bodyPr/>
          <a:lstStyle/>
          <a:p>
            <a:fld id="{FA65BD44-8262-4528-A985-EBC6660FE277}" type="slidenum">
              <a:rPr lang="en-US" altLang="zh-CN" smtClean="0"/>
              <a:pPr/>
              <a:t>145</a:t>
            </a:fld>
            <a:endParaRPr lang="en-US" altLang="zh-CN" smtClean="0"/>
          </a:p>
        </p:txBody>
      </p:sp>
      <p:sp>
        <p:nvSpPr>
          <p:cNvPr id="150531" name="Rectangle 2"/>
          <p:cNvSpPr>
            <a:spLocks noChangeArrowheads="1"/>
          </p:cNvSpPr>
          <p:nvPr/>
        </p:nvSpPr>
        <p:spPr bwMode="auto">
          <a:xfrm>
            <a:off x="152400" y="152400"/>
            <a:ext cx="8839200" cy="6497638"/>
          </a:xfrm>
          <a:prstGeom prst="rect">
            <a:avLst/>
          </a:prstGeom>
          <a:solidFill>
            <a:schemeClr val="bg1"/>
          </a:solidFill>
          <a:ln w="12700" cap="sq">
            <a:noFill/>
            <a:miter lim="800000"/>
            <a:headEnd type="none" w="sm" len="sm"/>
            <a:tailEnd type="none" w="sm" len="sm"/>
          </a:ln>
        </p:spPr>
        <p:txBody>
          <a:bodyPr anchor="ctr">
            <a:spAutoFit/>
          </a:bodyPr>
          <a:lstStyle/>
          <a:p>
            <a:r>
              <a:rPr lang="en-US" altLang="zh-CN" sz="2800">
                <a:solidFill>
                  <a:schemeClr val="tx1"/>
                </a:solidFill>
                <a:latin typeface="宋体" pitchFamily="2" charset="-122"/>
              </a:rPr>
              <a:t>3. </a:t>
            </a:r>
            <a:r>
              <a:rPr lang="zh-CN" altLang="en-US" sz="2800">
                <a:solidFill>
                  <a:schemeClr val="tx1"/>
                </a:solidFill>
                <a:latin typeface="宋体" pitchFamily="2" charset="-122"/>
              </a:rPr>
              <a:t>控制相关</a:t>
            </a:r>
            <a:r>
              <a:rPr lang="zh-CN" altLang="en-US" sz="2800" b="0">
                <a:solidFill>
                  <a:schemeClr val="tx1"/>
                </a:solidFill>
                <a:latin typeface="宋体" pitchFamily="2" charset="-122"/>
              </a:rPr>
              <a:t> </a:t>
            </a:r>
          </a:p>
          <a:p>
            <a:r>
              <a:rPr lang="zh-CN" altLang="en-US" sz="2800" b="0">
                <a:solidFill>
                  <a:schemeClr val="tx1"/>
                </a:solidFill>
                <a:latin typeface="宋体" pitchFamily="2" charset="-122"/>
              </a:rPr>
              <a:t>　　控制相关冲突由转移指令引起。当执行转移指令时，依据转移条件的产生结果，可能为顺序取下条指令；也可能转移到新的目标地址取指令，而使流水线发生断流。</a:t>
            </a:r>
          </a:p>
          <a:p>
            <a:r>
              <a:rPr lang="zh-CN" altLang="en-US" sz="2800" b="0">
                <a:solidFill>
                  <a:schemeClr val="tx1"/>
                </a:solidFill>
                <a:latin typeface="宋体" pitchFamily="2" charset="-122"/>
              </a:rPr>
              <a:t>    为了减小转移指令对流水线性能的影响，常用以下两种转移处理技术：</a:t>
            </a:r>
          </a:p>
          <a:p>
            <a:r>
              <a:rPr lang="zh-CN" altLang="en-US" sz="2800">
                <a:solidFill>
                  <a:schemeClr val="tx1"/>
                </a:solidFill>
                <a:latin typeface="宋体" pitchFamily="2" charset="-122"/>
              </a:rPr>
              <a:t>    延迟转移法：</a:t>
            </a:r>
            <a:r>
              <a:rPr lang="zh-CN" altLang="en-US" sz="2800" b="0">
                <a:solidFill>
                  <a:schemeClr val="tx1"/>
                </a:solidFill>
                <a:latin typeface="宋体" pitchFamily="2" charset="-122"/>
              </a:rPr>
              <a:t>由编译程序重排指令序列来实现。基本思想是“先执行再转移”，即发生转移时并不排空指令流水线，而是让紧跟在转移指令</a:t>
            </a:r>
            <a:r>
              <a:rPr lang="en-US" altLang="zh-CN" sz="2800" b="0">
                <a:solidFill>
                  <a:schemeClr val="tx1"/>
                </a:solidFill>
                <a:latin typeface="宋体" pitchFamily="2" charset="-122"/>
              </a:rPr>
              <a:t>Ib</a:t>
            </a:r>
            <a:r>
              <a:rPr lang="zh-CN" altLang="en-US" sz="2800" b="0">
                <a:solidFill>
                  <a:schemeClr val="tx1"/>
                </a:solidFill>
                <a:latin typeface="宋体" pitchFamily="2" charset="-122"/>
              </a:rPr>
              <a:t>之后已进入流水线的少数几条指令继续完成。如果这些指令是与</a:t>
            </a:r>
            <a:r>
              <a:rPr lang="en-US" altLang="zh-CN" sz="2800" b="0">
                <a:solidFill>
                  <a:schemeClr val="tx1"/>
                </a:solidFill>
                <a:latin typeface="宋体" pitchFamily="2" charset="-122"/>
              </a:rPr>
              <a:t>Ib</a:t>
            </a:r>
            <a:r>
              <a:rPr lang="zh-CN" altLang="en-US" sz="2800" b="0">
                <a:solidFill>
                  <a:schemeClr val="tx1"/>
                </a:solidFill>
                <a:latin typeface="宋体" pitchFamily="2" charset="-122"/>
              </a:rPr>
              <a:t>结果无关的有用指令，延迟损失时间片正好得到了有效的利用。</a:t>
            </a:r>
          </a:p>
          <a:p>
            <a:r>
              <a:rPr lang="zh-CN" altLang="en-US" sz="2800">
                <a:solidFill>
                  <a:schemeClr val="tx1"/>
                </a:solidFill>
                <a:latin typeface="宋体" pitchFamily="2" charset="-122"/>
              </a:rPr>
              <a:t>    转移预测法：</a:t>
            </a:r>
            <a:r>
              <a:rPr lang="zh-CN" altLang="en-US" sz="2800" b="0">
                <a:solidFill>
                  <a:schemeClr val="tx1"/>
                </a:solidFill>
                <a:latin typeface="宋体" pitchFamily="2" charset="-122"/>
              </a:rPr>
              <a:t>用硬件方法来实现，依据指令过去的行为来预测将来的行为。通过使用转移取和顺序取两路指令预取队列器以及目标指令</a:t>
            </a:r>
            <a:r>
              <a:rPr lang="en-US" altLang="zh-CN" sz="2800" b="0">
                <a:solidFill>
                  <a:schemeClr val="tx1"/>
                </a:solidFill>
                <a:latin typeface="宋体" pitchFamily="2" charset="-122"/>
              </a:rPr>
              <a:t>cache</a:t>
            </a:r>
            <a:r>
              <a:rPr lang="zh-CN" altLang="en-US" sz="2800" b="0">
                <a:solidFill>
                  <a:schemeClr val="tx1"/>
                </a:solidFill>
                <a:latin typeface="宋体" pitchFamily="2" charset="-122"/>
              </a:rPr>
              <a:t>，可将转移预测提前到取指阶段进行，以获得良好的效果。</a:t>
            </a: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5"/>
          <p:cNvSpPr>
            <a:spLocks noGrp="1"/>
          </p:cNvSpPr>
          <p:nvPr>
            <p:ph type="sldNum" sz="quarter" idx="12"/>
          </p:nvPr>
        </p:nvSpPr>
        <p:spPr>
          <a:noFill/>
        </p:spPr>
        <p:txBody>
          <a:bodyPr/>
          <a:lstStyle/>
          <a:p>
            <a:fld id="{C0730AE4-8E7A-4E3F-944E-8F5ECB779A96}" type="slidenum">
              <a:rPr lang="en-US" altLang="zh-CN" smtClean="0"/>
              <a:pPr/>
              <a:t>146</a:t>
            </a:fld>
            <a:endParaRPr lang="en-US" altLang="zh-CN" smtClean="0"/>
          </a:p>
        </p:txBody>
      </p:sp>
      <p:sp>
        <p:nvSpPr>
          <p:cNvPr id="151555" name="Rectangle 2"/>
          <p:cNvSpPr>
            <a:spLocks noChangeArrowheads="1"/>
          </p:cNvSpPr>
          <p:nvPr/>
        </p:nvSpPr>
        <p:spPr bwMode="auto">
          <a:xfrm>
            <a:off x="250825" y="333375"/>
            <a:ext cx="8740775" cy="4362450"/>
          </a:xfrm>
          <a:prstGeom prst="rect">
            <a:avLst/>
          </a:prstGeom>
          <a:solidFill>
            <a:schemeClr val="bg1"/>
          </a:solidFill>
          <a:ln w="12700" cap="sq">
            <a:noFill/>
            <a:miter lim="800000"/>
            <a:headEnd type="none" w="sm" len="sm"/>
            <a:tailEnd type="none" w="sm" len="sm"/>
          </a:ln>
        </p:spPr>
        <p:txBody>
          <a:bodyPr>
            <a:spAutoFit/>
          </a:bodyPr>
          <a:lstStyle/>
          <a:p>
            <a:r>
              <a:rPr lang="en-US" altLang="zh-CN" sz="2800" b="0" dirty="0" smtClean="0">
                <a:solidFill>
                  <a:schemeClr val="tx1"/>
                </a:solidFill>
                <a:latin typeface="宋体" pitchFamily="2" charset="-122"/>
              </a:rPr>
              <a:t>【</a:t>
            </a:r>
            <a:r>
              <a:rPr lang="zh-CN" altLang="en-US" sz="2800" b="0" dirty="0">
                <a:solidFill>
                  <a:schemeClr val="tx1"/>
                </a:solidFill>
                <a:latin typeface="宋体" pitchFamily="2" charset="-122"/>
              </a:rPr>
              <a:t>例</a:t>
            </a:r>
            <a:r>
              <a:rPr lang="en-US" altLang="zh-CN" sz="2800" b="0" dirty="0">
                <a:solidFill>
                  <a:schemeClr val="tx1"/>
                </a:solidFill>
                <a:latin typeface="宋体" pitchFamily="2" charset="-122"/>
              </a:rPr>
              <a:t>4】</a:t>
            </a:r>
            <a:r>
              <a:rPr lang="zh-CN" altLang="en-US" sz="2800" b="0" dirty="0">
                <a:solidFill>
                  <a:schemeClr val="tx1"/>
                </a:solidFill>
                <a:latin typeface="宋体" pitchFamily="2" charset="-122"/>
              </a:rPr>
              <a:t>流水线中有三类数据相关冲突：写后读（</a:t>
            </a:r>
            <a:r>
              <a:rPr lang="en-US" altLang="zh-CN" sz="2800" b="0" dirty="0">
                <a:solidFill>
                  <a:schemeClr val="tx1"/>
                </a:solidFill>
                <a:latin typeface="宋体" pitchFamily="2" charset="-122"/>
              </a:rPr>
              <a:t>RAW</a:t>
            </a:r>
            <a:r>
              <a:rPr lang="zh-CN" altLang="en-US" sz="2800" b="0" dirty="0">
                <a:solidFill>
                  <a:schemeClr val="tx1"/>
                </a:solidFill>
                <a:latin typeface="宋体" pitchFamily="2" charset="-122"/>
              </a:rPr>
              <a:t>）相关；读后写（</a:t>
            </a:r>
            <a:r>
              <a:rPr lang="en-US" altLang="zh-CN" sz="2800" b="0" dirty="0">
                <a:solidFill>
                  <a:schemeClr val="tx1"/>
                </a:solidFill>
                <a:latin typeface="宋体" pitchFamily="2" charset="-122"/>
              </a:rPr>
              <a:t>WAR</a:t>
            </a:r>
            <a:r>
              <a:rPr lang="zh-CN" altLang="en-US" sz="2800" b="0" dirty="0">
                <a:solidFill>
                  <a:schemeClr val="tx1"/>
                </a:solidFill>
                <a:latin typeface="宋体" pitchFamily="2" charset="-122"/>
              </a:rPr>
              <a:t>）相关；写后写（</a:t>
            </a:r>
            <a:r>
              <a:rPr lang="en-US" altLang="zh-CN" sz="2800" b="0" dirty="0">
                <a:solidFill>
                  <a:schemeClr val="tx1"/>
                </a:solidFill>
                <a:latin typeface="宋体" pitchFamily="2" charset="-122"/>
              </a:rPr>
              <a:t>WAW</a:t>
            </a:r>
            <a:r>
              <a:rPr lang="zh-CN" altLang="en-US" sz="2800" b="0" dirty="0">
                <a:solidFill>
                  <a:schemeClr val="tx1"/>
                </a:solidFill>
                <a:latin typeface="宋体" pitchFamily="2" charset="-122"/>
              </a:rPr>
              <a:t>）相关。判断以下三组指令各存在哪种类型的数据相关。</a:t>
            </a:r>
          </a:p>
          <a:p>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I1 ADD R1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R2</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R3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R2</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-&gt;R1</a:t>
            </a:r>
          </a:p>
          <a:p>
            <a:r>
              <a:rPr lang="en-US" altLang="zh-CN" sz="2800" b="0" dirty="0">
                <a:solidFill>
                  <a:schemeClr val="tx1"/>
                </a:solidFill>
                <a:latin typeface="宋体" pitchFamily="2" charset="-122"/>
              </a:rPr>
              <a:t>     I2 SUB R4</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-&gt;R4</a:t>
            </a:r>
          </a:p>
          <a:p>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2</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I3 STO M(x)</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R3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-&gt;M(x)</a:t>
            </a:r>
            <a:r>
              <a:rPr lang="zh-CN" altLang="en-US" sz="2800" b="0" dirty="0">
                <a:solidFill>
                  <a:schemeClr val="tx1"/>
                </a:solidFill>
                <a:latin typeface="宋体" pitchFamily="2" charset="-122"/>
              </a:rPr>
              <a:t>，</a:t>
            </a:r>
          </a:p>
          <a:p>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M(x)</a:t>
            </a:r>
            <a:r>
              <a:rPr lang="zh-CN" altLang="en-US" sz="2800" b="0" dirty="0">
                <a:solidFill>
                  <a:schemeClr val="tx1"/>
                </a:solidFill>
                <a:latin typeface="宋体" pitchFamily="2" charset="-122"/>
              </a:rPr>
              <a:t>是存储器单元</a:t>
            </a:r>
          </a:p>
          <a:p>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I4 ADD R3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-&gt;R3</a:t>
            </a:r>
          </a:p>
          <a:p>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I5 MUL R3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R2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R1</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R2</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-&gt;R3</a:t>
            </a:r>
          </a:p>
          <a:p>
            <a:r>
              <a:rPr lang="en-US" altLang="zh-CN" sz="2800" b="0" dirty="0">
                <a:solidFill>
                  <a:schemeClr val="tx1"/>
                </a:solidFill>
                <a:latin typeface="宋体" pitchFamily="2" charset="-122"/>
              </a:rPr>
              <a:t>     I6 ADD R3</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  ;</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R5</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-&gt;R3</a:t>
            </a:r>
          </a:p>
        </p:txBody>
      </p:sp>
      <p:sp>
        <p:nvSpPr>
          <p:cNvPr id="477187" name="AutoShape 3"/>
          <p:cNvSpPr>
            <a:spLocks noChangeArrowheads="1"/>
          </p:cNvSpPr>
          <p:nvPr/>
        </p:nvSpPr>
        <p:spPr bwMode="auto">
          <a:xfrm>
            <a:off x="462269" y="2618105"/>
            <a:ext cx="8208963" cy="1905000"/>
          </a:xfrm>
          <a:prstGeom prst="wedgeRectCallout">
            <a:avLst>
              <a:gd name="adj1" fmla="val 15032"/>
              <a:gd name="adj2" fmla="val -49417"/>
            </a:avLst>
          </a:prstGeom>
          <a:solidFill>
            <a:schemeClr val="accent1"/>
          </a:solidFill>
          <a:ln w="12700" cap="sq">
            <a:solidFill>
              <a:schemeClr val="tx1"/>
            </a:solidFill>
            <a:miter lim="800000"/>
            <a:headEnd type="none" w="sm" len="sm"/>
            <a:tailEnd type="none" w="sm" len="sm"/>
          </a:ln>
        </p:spPr>
        <p:txBody>
          <a:bodyPr/>
          <a:lstStyle/>
          <a:p>
            <a:r>
              <a:rPr lang="zh-CN" altLang="en-US" sz="2800" b="0">
                <a:solidFill>
                  <a:schemeClr val="tx1"/>
                </a:solidFill>
                <a:latin typeface="宋体" pitchFamily="2" charset="-122"/>
              </a:rPr>
              <a:t>第</a:t>
            </a:r>
            <a:r>
              <a:rPr lang="en-US" altLang="zh-CN" sz="2800" b="0">
                <a:solidFill>
                  <a:schemeClr val="tx1"/>
                </a:solidFill>
                <a:latin typeface="宋体" pitchFamily="2" charset="-122"/>
              </a:rPr>
              <a:t>(1)</a:t>
            </a:r>
            <a:r>
              <a:rPr lang="zh-CN" altLang="en-US" sz="2800" b="0">
                <a:solidFill>
                  <a:schemeClr val="tx1"/>
                </a:solidFill>
                <a:latin typeface="宋体" pitchFamily="2" charset="-122"/>
              </a:rPr>
              <a:t>组指令中，</a:t>
            </a:r>
            <a:r>
              <a:rPr lang="en-US" altLang="zh-CN" sz="2800" b="0">
                <a:solidFill>
                  <a:schemeClr val="tx1"/>
                </a:solidFill>
                <a:latin typeface="宋体" pitchFamily="2" charset="-122"/>
              </a:rPr>
              <a:t>I1</a:t>
            </a:r>
            <a:r>
              <a:rPr lang="zh-CN" altLang="en-US" sz="2800" b="0">
                <a:solidFill>
                  <a:schemeClr val="tx1"/>
                </a:solidFill>
                <a:latin typeface="宋体" pitchFamily="2" charset="-122"/>
              </a:rPr>
              <a:t>指令运算结果应先写入</a:t>
            </a:r>
            <a:r>
              <a:rPr lang="en-US" altLang="zh-CN" sz="2800" b="0">
                <a:solidFill>
                  <a:schemeClr val="tx1"/>
                </a:solidFill>
                <a:latin typeface="宋体" pitchFamily="2" charset="-122"/>
              </a:rPr>
              <a:t>R1</a:t>
            </a:r>
            <a:r>
              <a:rPr lang="zh-CN" altLang="en-US" sz="2800" b="0">
                <a:solidFill>
                  <a:schemeClr val="tx1"/>
                </a:solidFill>
                <a:latin typeface="宋体" pitchFamily="2" charset="-122"/>
              </a:rPr>
              <a:t>，然后在</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指令中读出</a:t>
            </a:r>
            <a:r>
              <a:rPr lang="en-US" altLang="zh-CN" sz="2800" b="0">
                <a:solidFill>
                  <a:schemeClr val="tx1"/>
                </a:solidFill>
                <a:latin typeface="宋体" pitchFamily="2" charset="-122"/>
              </a:rPr>
              <a:t>R1</a:t>
            </a:r>
            <a:r>
              <a:rPr lang="zh-CN" altLang="en-US" sz="2800" b="0">
                <a:solidFill>
                  <a:schemeClr val="tx1"/>
                </a:solidFill>
                <a:latin typeface="宋体" pitchFamily="2" charset="-122"/>
              </a:rPr>
              <a:t>内容。由于</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指令进入流水线，变成</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指令在</a:t>
            </a:r>
            <a:r>
              <a:rPr lang="en-US" altLang="zh-CN" sz="2800" b="0">
                <a:solidFill>
                  <a:schemeClr val="tx1"/>
                </a:solidFill>
                <a:latin typeface="宋体" pitchFamily="2" charset="-122"/>
              </a:rPr>
              <a:t>I1</a:t>
            </a:r>
            <a:r>
              <a:rPr lang="zh-CN" altLang="en-US" sz="2800" b="0">
                <a:solidFill>
                  <a:schemeClr val="tx1"/>
                </a:solidFill>
                <a:latin typeface="宋体" pitchFamily="2" charset="-122"/>
              </a:rPr>
              <a:t>指令写入</a:t>
            </a:r>
            <a:r>
              <a:rPr lang="en-US" altLang="zh-CN" sz="2800" b="0">
                <a:solidFill>
                  <a:schemeClr val="tx1"/>
                </a:solidFill>
                <a:latin typeface="宋体" pitchFamily="2" charset="-122"/>
              </a:rPr>
              <a:t>R1</a:t>
            </a:r>
            <a:r>
              <a:rPr lang="zh-CN" altLang="en-US" sz="2800" b="0">
                <a:solidFill>
                  <a:schemeClr val="tx1"/>
                </a:solidFill>
                <a:latin typeface="宋体" pitchFamily="2" charset="-122"/>
              </a:rPr>
              <a:t>前就读出</a:t>
            </a:r>
            <a:r>
              <a:rPr lang="en-US" altLang="zh-CN" sz="2800" b="0">
                <a:solidFill>
                  <a:schemeClr val="tx1"/>
                </a:solidFill>
                <a:latin typeface="宋体" pitchFamily="2" charset="-122"/>
              </a:rPr>
              <a:t>R1</a:t>
            </a:r>
            <a:r>
              <a:rPr lang="zh-CN" altLang="en-US" sz="2800" b="0">
                <a:solidFill>
                  <a:schemeClr val="tx1"/>
                </a:solidFill>
                <a:latin typeface="宋体" pitchFamily="2" charset="-122"/>
              </a:rPr>
              <a:t>内容，发生</a:t>
            </a:r>
            <a:r>
              <a:rPr lang="en-US" altLang="zh-CN" sz="2800" b="0">
                <a:solidFill>
                  <a:schemeClr val="tx1"/>
                </a:solidFill>
                <a:latin typeface="宋体" pitchFamily="2" charset="-122"/>
              </a:rPr>
              <a:t>RAW</a:t>
            </a:r>
            <a:r>
              <a:rPr lang="zh-CN" altLang="en-US" sz="2800" b="0">
                <a:solidFill>
                  <a:schemeClr val="tx1"/>
                </a:solidFill>
                <a:latin typeface="宋体" pitchFamily="2" charset="-122"/>
              </a:rPr>
              <a:t>相关。</a:t>
            </a:r>
          </a:p>
        </p:txBody>
      </p:sp>
      <p:sp>
        <p:nvSpPr>
          <p:cNvPr id="477188" name="AutoShape 4"/>
          <p:cNvSpPr>
            <a:spLocks noChangeArrowheads="1"/>
          </p:cNvSpPr>
          <p:nvPr/>
        </p:nvSpPr>
        <p:spPr bwMode="auto">
          <a:xfrm>
            <a:off x="446336" y="3801745"/>
            <a:ext cx="8208963" cy="1828800"/>
          </a:xfrm>
          <a:prstGeom prst="wedgeRectCallout">
            <a:avLst>
              <a:gd name="adj1" fmla="val -21477"/>
              <a:gd name="adj2" fmla="val 50694"/>
            </a:avLst>
          </a:prstGeom>
          <a:solidFill>
            <a:schemeClr val="accent1"/>
          </a:solidFill>
          <a:ln w="12700" cap="sq">
            <a:solidFill>
              <a:schemeClr val="tx1"/>
            </a:solidFill>
            <a:miter lim="800000"/>
            <a:headEnd type="none" w="sm" len="sm"/>
            <a:tailEnd type="none" w="sm" len="sm"/>
          </a:ln>
        </p:spPr>
        <p:txBody>
          <a:bodyPr/>
          <a:lstStyle/>
          <a:p>
            <a:r>
              <a:rPr lang="zh-CN" altLang="en-US" sz="2800" b="0" dirty="0">
                <a:solidFill>
                  <a:schemeClr val="tx1"/>
                </a:solidFill>
                <a:latin typeface="宋体" pitchFamily="2" charset="-122"/>
              </a:rPr>
              <a:t>第</a:t>
            </a:r>
            <a:r>
              <a:rPr lang="en-US" altLang="zh-CN" sz="2800" b="0" dirty="0">
                <a:solidFill>
                  <a:schemeClr val="tx1"/>
                </a:solidFill>
                <a:latin typeface="宋体" pitchFamily="2" charset="-122"/>
              </a:rPr>
              <a:t>(2)</a:t>
            </a:r>
            <a:r>
              <a:rPr lang="zh-CN" altLang="en-US" sz="2800" b="0" dirty="0">
                <a:solidFill>
                  <a:schemeClr val="tx1"/>
                </a:solidFill>
                <a:latin typeface="宋体" pitchFamily="2" charset="-122"/>
              </a:rPr>
              <a:t>组指令中，</a:t>
            </a:r>
            <a:r>
              <a:rPr lang="en-US" altLang="zh-CN" sz="2800" b="0" dirty="0">
                <a:solidFill>
                  <a:schemeClr val="tx1"/>
                </a:solidFill>
                <a:latin typeface="宋体" pitchFamily="2" charset="-122"/>
              </a:rPr>
              <a:t>I3</a:t>
            </a:r>
            <a:r>
              <a:rPr lang="zh-CN" altLang="en-US" sz="2800" b="0" dirty="0">
                <a:solidFill>
                  <a:schemeClr val="tx1"/>
                </a:solidFill>
                <a:latin typeface="宋体" pitchFamily="2" charset="-122"/>
              </a:rPr>
              <a:t>指令应先读出</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内容并存入存储单元</a:t>
            </a:r>
            <a:r>
              <a:rPr lang="en-US" altLang="zh-CN" sz="2800" b="0" dirty="0">
                <a:solidFill>
                  <a:schemeClr val="tx1"/>
                </a:solidFill>
                <a:latin typeface="宋体" pitchFamily="2" charset="-122"/>
              </a:rPr>
              <a:t>M</a:t>
            </a:r>
            <a:r>
              <a:rPr lang="zh-CN" altLang="en-US" sz="2800" b="0" dirty="0">
                <a:solidFill>
                  <a:schemeClr val="tx1"/>
                </a:solidFill>
                <a:latin typeface="宋体" pitchFamily="2" charset="-122"/>
              </a:rPr>
              <a:t>（</a:t>
            </a:r>
            <a:r>
              <a:rPr lang="en-US" altLang="zh-CN" sz="2800" b="0" dirty="0">
                <a:solidFill>
                  <a:schemeClr val="tx1"/>
                </a:solidFill>
                <a:latin typeface="宋体" pitchFamily="2" charset="-122"/>
              </a:rPr>
              <a:t>x</a:t>
            </a:r>
            <a:r>
              <a:rPr lang="zh-CN" altLang="en-US" sz="2800" b="0" dirty="0">
                <a:solidFill>
                  <a:schemeClr val="tx1"/>
                </a:solidFill>
                <a:latin typeface="宋体" pitchFamily="2" charset="-122"/>
              </a:rPr>
              <a:t>），然后在</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指令中将运算结果写入</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。但由于</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指令进入流水线，变成</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指令在</a:t>
            </a:r>
            <a:r>
              <a:rPr lang="en-US" altLang="zh-CN" sz="2800" b="0" dirty="0">
                <a:solidFill>
                  <a:schemeClr val="tx1"/>
                </a:solidFill>
                <a:latin typeface="宋体" pitchFamily="2" charset="-122"/>
              </a:rPr>
              <a:t>I3</a:t>
            </a:r>
            <a:r>
              <a:rPr lang="zh-CN" altLang="en-US" sz="2800" b="0" dirty="0">
                <a:solidFill>
                  <a:schemeClr val="tx1"/>
                </a:solidFill>
                <a:latin typeface="宋体" pitchFamily="2" charset="-122"/>
              </a:rPr>
              <a:t>指令读出</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内容前就写入</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，发生</a:t>
            </a:r>
            <a:r>
              <a:rPr lang="en-US" altLang="zh-CN" sz="2800" b="0" dirty="0">
                <a:solidFill>
                  <a:schemeClr val="tx1"/>
                </a:solidFill>
                <a:latin typeface="宋体" pitchFamily="2" charset="-122"/>
              </a:rPr>
              <a:t>WAR</a:t>
            </a:r>
            <a:r>
              <a:rPr lang="zh-CN" altLang="en-US" sz="2800" b="0" dirty="0">
                <a:solidFill>
                  <a:schemeClr val="tx1"/>
                </a:solidFill>
                <a:latin typeface="宋体" pitchFamily="2" charset="-122"/>
              </a:rPr>
              <a:t>相关。</a:t>
            </a:r>
          </a:p>
        </p:txBody>
      </p:sp>
      <p:sp>
        <p:nvSpPr>
          <p:cNvPr id="477189" name="AutoShape 5"/>
          <p:cNvSpPr>
            <a:spLocks noChangeArrowheads="1"/>
          </p:cNvSpPr>
          <p:nvPr/>
        </p:nvSpPr>
        <p:spPr bwMode="auto">
          <a:xfrm>
            <a:off x="446336" y="2430145"/>
            <a:ext cx="8229600" cy="1371600"/>
          </a:xfrm>
          <a:prstGeom prst="wedgeRectCallout">
            <a:avLst>
              <a:gd name="adj1" fmla="val -25519"/>
              <a:gd name="adj2" fmla="val 50000"/>
            </a:avLst>
          </a:prstGeom>
          <a:solidFill>
            <a:schemeClr val="accent1"/>
          </a:solidFill>
          <a:ln w="12700" cap="sq">
            <a:solidFill>
              <a:schemeClr val="tx1"/>
            </a:solidFill>
            <a:miter lim="800000"/>
            <a:headEnd type="none" w="sm" len="sm"/>
            <a:tailEnd type="none" w="sm" len="sm"/>
          </a:ln>
        </p:spPr>
        <p:txBody>
          <a:bodyPr/>
          <a:lstStyle/>
          <a:p>
            <a:r>
              <a:rPr lang="zh-CN" altLang="en-US" sz="2800" b="0" dirty="0">
                <a:solidFill>
                  <a:schemeClr val="tx1"/>
                </a:solidFill>
                <a:latin typeface="宋体" pitchFamily="2" charset="-122"/>
              </a:rPr>
              <a:t>第</a:t>
            </a:r>
            <a:r>
              <a:rPr lang="en-US" altLang="zh-CN" sz="2800" b="0" dirty="0">
                <a:solidFill>
                  <a:schemeClr val="tx1"/>
                </a:solidFill>
                <a:latin typeface="宋体" pitchFamily="2" charset="-122"/>
              </a:rPr>
              <a:t>(3)</a:t>
            </a:r>
            <a:r>
              <a:rPr lang="zh-CN" altLang="en-US" sz="2800" b="0" dirty="0">
                <a:solidFill>
                  <a:schemeClr val="tx1"/>
                </a:solidFill>
                <a:latin typeface="宋体" pitchFamily="2" charset="-122"/>
              </a:rPr>
              <a:t>组指令中，如果</a:t>
            </a:r>
            <a:r>
              <a:rPr lang="en-US" altLang="zh-CN" sz="2800" b="0" dirty="0">
                <a:solidFill>
                  <a:schemeClr val="tx1"/>
                </a:solidFill>
                <a:latin typeface="宋体" pitchFamily="2" charset="-122"/>
              </a:rPr>
              <a:t>I6</a:t>
            </a:r>
            <a:r>
              <a:rPr lang="zh-CN" altLang="en-US" sz="2800" b="0" dirty="0">
                <a:solidFill>
                  <a:schemeClr val="tx1"/>
                </a:solidFill>
                <a:latin typeface="宋体" pitchFamily="2" charset="-122"/>
              </a:rPr>
              <a:t>指令的加法运算完成时间早于</a:t>
            </a:r>
            <a:r>
              <a:rPr lang="en-US" altLang="zh-CN" sz="2800" b="0" dirty="0">
                <a:solidFill>
                  <a:schemeClr val="tx1"/>
                </a:solidFill>
                <a:latin typeface="宋体" pitchFamily="2" charset="-122"/>
              </a:rPr>
              <a:t>I5</a:t>
            </a:r>
            <a:r>
              <a:rPr lang="zh-CN" altLang="en-US" sz="2800" b="0" dirty="0">
                <a:solidFill>
                  <a:schemeClr val="tx1"/>
                </a:solidFill>
                <a:latin typeface="宋体" pitchFamily="2" charset="-122"/>
              </a:rPr>
              <a:t>指令的乘法运算时间，变成指令</a:t>
            </a:r>
            <a:r>
              <a:rPr lang="en-US" altLang="zh-CN" sz="2800" b="0" dirty="0">
                <a:solidFill>
                  <a:schemeClr val="tx1"/>
                </a:solidFill>
                <a:latin typeface="宋体" pitchFamily="2" charset="-122"/>
              </a:rPr>
              <a:t>I6</a:t>
            </a:r>
            <a:r>
              <a:rPr lang="zh-CN" altLang="en-US" sz="2800" b="0" dirty="0">
                <a:solidFill>
                  <a:schemeClr val="tx1"/>
                </a:solidFill>
                <a:latin typeface="宋体" pitchFamily="2" charset="-122"/>
              </a:rPr>
              <a:t>在指令</a:t>
            </a:r>
            <a:r>
              <a:rPr lang="en-US" altLang="zh-CN" sz="2800" b="0" dirty="0">
                <a:solidFill>
                  <a:schemeClr val="tx1"/>
                </a:solidFill>
                <a:latin typeface="宋体" pitchFamily="2" charset="-122"/>
              </a:rPr>
              <a:t>I5</a:t>
            </a:r>
            <a:r>
              <a:rPr lang="zh-CN" altLang="en-US" sz="2800" b="0" dirty="0">
                <a:solidFill>
                  <a:schemeClr val="tx1"/>
                </a:solidFill>
                <a:latin typeface="宋体" pitchFamily="2" charset="-122"/>
              </a:rPr>
              <a:t>写入</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前就写入</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，导致</a:t>
            </a:r>
            <a:r>
              <a:rPr lang="en-US" altLang="zh-CN" sz="2800" b="0" dirty="0">
                <a:solidFill>
                  <a:schemeClr val="tx1"/>
                </a:solidFill>
                <a:latin typeface="宋体" pitchFamily="2" charset="-122"/>
              </a:rPr>
              <a:t>R3</a:t>
            </a:r>
            <a:r>
              <a:rPr lang="zh-CN" altLang="en-US" sz="2800" b="0" dirty="0">
                <a:solidFill>
                  <a:schemeClr val="tx1"/>
                </a:solidFill>
                <a:latin typeface="宋体" pitchFamily="2" charset="-122"/>
              </a:rPr>
              <a:t>的内容错误，发生</a:t>
            </a:r>
            <a:r>
              <a:rPr lang="en-US" altLang="zh-CN" sz="2800" b="0" dirty="0">
                <a:solidFill>
                  <a:schemeClr val="tx1"/>
                </a:solidFill>
                <a:latin typeface="宋体" pitchFamily="2" charset="-122"/>
              </a:rPr>
              <a:t>WAW</a:t>
            </a:r>
            <a:r>
              <a:rPr lang="zh-CN" altLang="en-US" sz="2800" b="0" dirty="0">
                <a:solidFill>
                  <a:schemeClr val="tx1"/>
                </a:solidFill>
                <a:latin typeface="宋体" pitchFamily="2" charset="-122"/>
              </a:rPr>
              <a:t>相关。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7187"/>
                                        </p:tgtEl>
                                        <p:attrNameLst>
                                          <p:attrName>style.visibility</p:attrName>
                                        </p:attrNameLst>
                                      </p:cBhvr>
                                      <p:to>
                                        <p:strVal val="visible"/>
                                      </p:to>
                                    </p:set>
                                    <p:animEffect transition="in" filter="dissolve">
                                      <p:cBhvr>
                                        <p:cTn id="7" dur="500"/>
                                        <p:tgtEl>
                                          <p:spTgt spid="477187"/>
                                        </p:tgtEl>
                                      </p:cBhvr>
                                    </p:animEffect>
                                  </p:childTnLst>
                                  <p:subTnLst>
                                    <p:set>
                                      <p:cBhvr override="childStyle">
                                        <p:cTn dur="1" fill="hold" display="0" masterRel="nextClick" afterEffect="1"/>
                                        <p:tgtEl>
                                          <p:spTgt spid="47718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7188"/>
                                        </p:tgtEl>
                                        <p:attrNameLst>
                                          <p:attrName>style.visibility</p:attrName>
                                        </p:attrNameLst>
                                      </p:cBhvr>
                                      <p:to>
                                        <p:strVal val="visible"/>
                                      </p:to>
                                    </p:set>
                                    <p:animEffect transition="in" filter="dissolve">
                                      <p:cBhvr>
                                        <p:cTn id="12" dur="500"/>
                                        <p:tgtEl>
                                          <p:spTgt spid="477188"/>
                                        </p:tgtEl>
                                      </p:cBhvr>
                                    </p:animEffect>
                                  </p:childTnLst>
                                  <p:subTnLst>
                                    <p:set>
                                      <p:cBhvr override="childStyle">
                                        <p:cTn dur="1" fill="hold" display="0" masterRel="nextClick" afterEffect="1"/>
                                        <p:tgtEl>
                                          <p:spTgt spid="47718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7189"/>
                                        </p:tgtEl>
                                        <p:attrNameLst>
                                          <p:attrName>style.visibility</p:attrName>
                                        </p:attrNameLst>
                                      </p:cBhvr>
                                      <p:to>
                                        <p:strVal val="visible"/>
                                      </p:to>
                                    </p:set>
                                    <p:animEffect transition="in" filter="dissolve">
                                      <p:cBhvr>
                                        <p:cTn id="17" dur="500"/>
                                        <p:tgtEl>
                                          <p:spTgt spid="477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animBg="1" autoUpdateAnimBg="0"/>
      <p:bldP spid="477188" grpId="0" animBg="1" autoUpdateAnimBg="0"/>
      <p:bldP spid="477189" grpId="0" animBg="1"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548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TextBox 6"/>
          <p:cNvSpPr txBox="1"/>
          <p:nvPr>
            <p:custDataLst>
              <p:tags r:id="rId1"/>
            </p:custDataLst>
          </p:nvPr>
        </p:nvSpPr>
        <p:spPr>
          <a:xfrm>
            <a:off x="683569" y="1096283"/>
            <a:ext cx="7200799"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pPr>
            <a:r>
              <a:rPr lang="zh-CN" altLang="en-US" sz="2000" dirty="0" smtClean="0">
                <a:solidFill>
                  <a:schemeClr val="tx1"/>
                </a:solidFill>
                <a:latin typeface="微软雅黑" panose="020B0503020204020204" pitchFamily="34" charset="-122"/>
                <a:ea typeface="微软雅黑" panose="020B0503020204020204" pitchFamily="34" charset="-122"/>
              </a:rPr>
              <a:t>判断</a:t>
            </a:r>
            <a:r>
              <a:rPr lang="zh-CN" altLang="en-US" sz="2000" dirty="0">
                <a:solidFill>
                  <a:schemeClr val="tx1"/>
                </a:solidFill>
                <a:latin typeface="微软雅黑" panose="020B0503020204020204" pitchFamily="34" charset="-122"/>
                <a:ea typeface="微软雅黑" panose="020B0503020204020204" pitchFamily="34" charset="-122"/>
              </a:rPr>
              <a:t>以下三组指令各存在哪种类型的数据相关。</a:t>
            </a:r>
          </a:p>
          <a:p>
            <a:pPr marL="457200" indent="-457200">
              <a:lnSpc>
                <a:spcPct val="150000"/>
              </a:lnSpc>
              <a:buFont typeface="Wingdings" panose="05000000000000000000" pitchFamily="2" charset="2"/>
              <a:buChar char="l"/>
            </a:pPr>
            <a:r>
              <a:rPr lang="en-US" altLang="zh-CN" sz="2000" dirty="0" smtClean="0">
                <a:solidFill>
                  <a:schemeClr val="tx1"/>
                </a:solidFill>
                <a:latin typeface="微软雅黑" panose="020B0503020204020204" pitchFamily="34" charset="-122"/>
                <a:ea typeface="微软雅黑" panose="020B0503020204020204" pitchFamily="34" charset="-122"/>
              </a:rPr>
              <a:t>I1 </a:t>
            </a:r>
            <a:r>
              <a:rPr lang="en-US" altLang="zh-CN" sz="2000" dirty="0">
                <a:solidFill>
                  <a:schemeClr val="tx1"/>
                </a:solidFill>
                <a:latin typeface="微软雅黑" panose="020B0503020204020204" pitchFamily="34" charset="-122"/>
                <a:ea typeface="微软雅黑" panose="020B0503020204020204" pitchFamily="34" charset="-122"/>
              </a:rPr>
              <a:t>LDA R1</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A  ; M(A) -&gt;R1</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M(A)</a:t>
            </a:r>
            <a:r>
              <a:rPr lang="zh-CN" altLang="en-US" sz="2000" dirty="0">
                <a:solidFill>
                  <a:schemeClr val="tx1"/>
                </a:solidFill>
                <a:latin typeface="微软雅黑" panose="020B0503020204020204" pitchFamily="34" charset="-122"/>
                <a:ea typeface="微软雅黑" panose="020B0503020204020204" pitchFamily="34" charset="-122"/>
              </a:rPr>
              <a:t>是存储器单元</a:t>
            </a:r>
          </a:p>
          <a:p>
            <a:pP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I2 ADD R2</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R1 ;</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R2</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R1</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-&gt;</a:t>
            </a:r>
            <a:r>
              <a:rPr lang="en-US" altLang="zh-CN" sz="2000" dirty="0" smtClean="0">
                <a:solidFill>
                  <a:schemeClr val="tx1"/>
                </a:solidFill>
                <a:latin typeface="微软雅黑" panose="020B0503020204020204" pitchFamily="34" charset="-122"/>
                <a:ea typeface="微软雅黑" panose="020B0503020204020204" pitchFamily="34" charset="-122"/>
              </a:rPr>
              <a:t>R2</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 RAW     B. WAR     C. WAW     D. RAR</a:t>
            </a:r>
            <a:endParaRPr lang="en-US" altLang="zh-CN" sz="20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l"/>
            </a:pPr>
            <a:r>
              <a:rPr lang="en-US" altLang="zh-CN" sz="2000" dirty="0" smtClean="0">
                <a:solidFill>
                  <a:schemeClr val="tx1"/>
                </a:solidFill>
                <a:latin typeface="微软雅黑" panose="020B0503020204020204" pitchFamily="34" charset="-122"/>
                <a:ea typeface="微软雅黑" panose="020B0503020204020204" pitchFamily="34" charset="-122"/>
              </a:rPr>
              <a:t>I3 </a:t>
            </a:r>
            <a:r>
              <a:rPr lang="en-US" altLang="zh-CN" sz="2000" dirty="0">
                <a:solidFill>
                  <a:schemeClr val="tx1"/>
                </a:solidFill>
                <a:latin typeface="微软雅黑" panose="020B0503020204020204" pitchFamily="34" charset="-122"/>
                <a:ea typeface="微软雅黑" panose="020B0503020204020204" pitchFamily="34" charset="-122"/>
              </a:rPr>
              <a:t>ADD R3</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R4 ;</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R3</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R4</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-&gt;R3</a:t>
            </a: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I4 MUL R4</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R5 ;</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R4</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R5</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-&gt;</a:t>
            </a:r>
            <a:r>
              <a:rPr lang="en-US" altLang="zh-CN" sz="2000" dirty="0" smtClean="0">
                <a:solidFill>
                  <a:schemeClr val="tx1"/>
                </a:solidFill>
                <a:latin typeface="微软雅黑" panose="020B0503020204020204" pitchFamily="34" charset="-122"/>
                <a:ea typeface="微软雅黑" panose="020B0503020204020204" pitchFamily="34" charset="-122"/>
              </a:rPr>
              <a:t>R4</a:t>
            </a:r>
          </a:p>
          <a:p>
            <a:pPr>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a:t>
            </a: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RAW     B. WAR     C</a:t>
            </a:r>
            <a:r>
              <a:rPr lang="en-US" altLang="zh-CN" sz="2000" dirty="0" smtClean="0">
                <a:solidFill>
                  <a:schemeClr val="tx1"/>
                </a:solidFill>
                <a:latin typeface="微软雅黑" panose="020B0503020204020204" pitchFamily="34" charset="-122"/>
                <a:ea typeface="微软雅黑" panose="020B0503020204020204" pitchFamily="34" charset="-122"/>
              </a:rPr>
              <a:t>. WAW     </a:t>
            </a:r>
            <a:r>
              <a:rPr lang="en-US" altLang="zh-CN" sz="2000" dirty="0">
                <a:solidFill>
                  <a:schemeClr val="tx1"/>
                </a:solidFill>
                <a:latin typeface="微软雅黑" panose="020B0503020204020204" pitchFamily="34" charset="-122"/>
                <a:ea typeface="微软雅黑" panose="020B0503020204020204" pitchFamily="34" charset="-122"/>
              </a:rPr>
              <a:t>D</a:t>
            </a:r>
            <a:r>
              <a:rPr lang="en-US" altLang="zh-CN" sz="2000" dirty="0" smtClean="0">
                <a:solidFill>
                  <a:schemeClr val="tx1"/>
                </a:solidFill>
                <a:latin typeface="微软雅黑" panose="020B0503020204020204" pitchFamily="34" charset="-122"/>
                <a:ea typeface="微软雅黑" panose="020B0503020204020204" pitchFamily="34" charset="-122"/>
              </a:rPr>
              <a:t>. RAR</a:t>
            </a:r>
            <a:endParaRPr lang="en-US" altLang="zh-CN" sz="20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l"/>
            </a:pPr>
            <a:r>
              <a:rPr lang="en-US" altLang="zh-CN" sz="2000" dirty="0" smtClean="0">
                <a:solidFill>
                  <a:schemeClr val="tx1"/>
                </a:solidFill>
                <a:latin typeface="微软雅黑" panose="020B0503020204020204" pitchFamily="34" charset="-122"/>
                <a:ea typeface="微软雅黑" panose="020B0503020204020204" pitchFamily="34" charset="-122"/>
              </a:rPr>
              <a:t>I5 </a:t>
            </a:r>
            <a:r>
              <a:rPr lang="en-US" altLang="zh-CN" sz="2000" dirty="0">
                <a:solidFill>
                  <a:schemeClr val="tx1"/>
                </a:solidFill>
                <a:latin typeface="微软雅黑" panose="020B0503020204020204" pitchFamily="34" charset="-122"/>
                <a:ea typeface="微软雅黑" panose="020B0503020204020204" pitchFamily="34" charset="-122"/>
              </a:rPr>
              <a:t>LDA R6</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B  ; M(B) -&gt;R6</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M(B)</a:t>
            </a:r>
            <a:r>
              <a:rPr lang="zh-CN" altLang="en-US" sz="2000" dirty="0">
                <a:solidFill>
                  <a:schemeClr val="tx1"/>
                </a:solidFill>
                <a:latin typeface="微软雅黑" panose="020B0503020204020204" pitchFamily="34" charset="-122"/>
                <a:ea typeface="微软雅黑" panose="020B0503020204020204" pitchFamily="34" charset="-122"/>
              </a:rPr>
              <a:t>是存储器单元</a:t>
            </a:r>
          </a:p>
          <a:p>
            <a:pP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I6 MUL R6</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R7 ;</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R6</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R7</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-&gt;</a:t>
            </a:r>
            <a:r>
              <a:rPr lang="en-US" altLang="zh-CN" sz="2000" dirty="0" smtClean="0">
                <a:solidFill>
                  <a:schemeClr val="tx1"/>
                </a:solidFill>
                <a:latin typeface="微软雅黑" panose="020B0503020204020204" pitchFamily="34" charset="-122"/>
                <a:ea typeface="微软雅黑" panose="020B0503020204020204" pitchFamily="34" charset="-122"/>
              </a:rPr>
              <a:t>R6</a:t>
            </a: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rPr>
              <a:t>      A</a:t>
            </a:r>
            <a:r>
              <a:rPr lang="en-US" altLang="zh-CN" sz="2000" dirty="0">
                <a:solidFill>
                  <a:schemeClr val="tx1"/>
                </a:solidFill>
                <a:latin typeface="微软雅黑" panose="020B0503020204020204" pitchFamily="34" charset="-122"/>
                <a:ea typeface="微软雅黑" panose="020B0503020204020204" pitchFamily="34" charset="-122"/>
              </a:rPr>
              <a:t>. RAW     B. WAR     C</a:t>
            </a:r>
            <a:r>
              <a:rPr lang="en-US" altLang="zh-CN" sz="2000" dirty="0" smtClean="0">
                <a:solidFill>
                  <a:schemeClr val="tx1"/>
                </a:solidFill>
                <a:latin typeface="微软雅黑" panose="020B0503020204020204" pitchFamily="34" charset="-122"/>
                <a:ea typeface="微软雅黑" panose="020B0503020204020204" pitchFamily="34" charset="-122"/>
              </a:rPr>
              <a:t>. WAW     D. RAR</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8" name="椭圆 7"/>
          <p:cNvSpPr/>
          <p:nvPr/>
        </p:nvSpPr>
        <p:spPr bwMode="auto">
          <a:xfrm>
            <a:off x="1093695" y="2565616"/>
            <a:ext cx="461431" cy="450386"/>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9" name="椭圆 8"/>
          <p:cNvSpPr/>
          <p:nvPr/>
        </p:nvSpPr>
        <p:spPr bwMode="auto">
          <a:xfrm>
            <a:off x="2435335" y="3929576"/>
            <a:ext cx="461431" cy="450386"/>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0" name="椭圆 9"/>
          <p:cNvSpPr/>
          <p:nvPr/>
        </p:nvSpPr>
        <p:spPr bwMode="auto">
          <a:xfrm>
            <a:off x="3784437" y="5297728"/>
            <a:ext cx="461431" cy="450386"/>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3" name="AutoShape 3"/>
          <p:cNvSpPr>
            <a:spLocks noChangeArrowheads="1"/>
          </p:cNvSpPr>
          <p:nvPr/>
        </p:nvSpPr>
        <p:spPr bwMode="auto">
          <a:xfrm>
            <a:off x="467493" y="3068960"/>
            <a:ext cx="8208963" cy="1905000"/>
          </a:xfrm>
          <a:prstGeom prst="wedgeRectCallout">
            <a:avLst>
              <a:gd name="adj1" fmla="val 50153"/>
              <a:gd name="adj2" fmla="val 13917"/>
            </a:avLst>
          </a:prstGeom>
          <a:solidFill>
            <a:schemeClr val="accent1"/>
          </a:solidFill>
          <a:ln w="12700" cap="sq">
            <a:solidFill>
              <a:schemeClr val="tx1"/>
            </a:solidFill>
            <a:miter lim="800000"/>
            <a:headEnd type="none" w="sm" len="sm"/>
            <a:tailEnd type="none" w="sm" len="sm"/>
          </a:ln>
        </p:spPr>
        <p:txBody>
          <a:bodyPr/>
          <a:lstStyle/>
          <a:p>
            <a:r>
              <a:rPr lang="zh-CN" altLang="en-US" sz="2800" b="0">
                <a:solidFill>
                  <a:schemeClr val="tx1"/>
                </a:solidFill>
                <a:latin typeface="宋体" pitchFamily="2" charset="-122"/>
              </a:rPr>
              <a:t>第</a:t>
            </a:r>
            <a:r>
              <a:rPr lang="en-US" altLang="zh-CN" sz="2800" b="0">
                <a:solidFill>
                  <a:schemeClr val="tx1"/>
                </a:solidFill>
                <a:latin typeface="宋体" pitchFamily="2" charset="-122"/>
              </a:rPr>
              <a:t>(1)</a:t>
            </a:r>
            <a:r>
              <a:rPr lang="zh-CN" altLang="en-US" sz="2800" b="0">
                <a:solidFill>
                  <a:schemeClr val="tx1"/>
                </a:solidFill>
                <a:latin typeface="宋体" pitchFamily="2" charset="-122"/>
              </a:rPr>
              <a:t>组指令中，</a:t>
            </a:r>
            <a:r>
              <a:rPr lang="en-US" altLang="zh-CN" sz="2800" b="0">
                <a:solidFill>
                  <a:schemeClr val="tx1"/>
                </a:solidFill>
                <a:latin typeface="宋体" pitchFamily="2" charset="-122"/>
              </a:rPr>
              <a:t>I1</a:t>
            </a:r>
            <a:r>
              <a:rPr lang="zh-CN" altLang="en-US" sz="2800" b="0">
                <a:solidFill>
                  <a:schemeClr val="tx1"/>
                </a:solidFill>
                <a:latin typeface="宋体" pitchFamily="2" charset="-122"/>
              </a:rPr>
              <a:t>指令运算结果应先写入</a:t>
            </a:r>
            <a:r>
              <a:rPr lang="en-US" altLang="zh-CN" sz="2800" b="0">
                <a:solidFill>
                  <a:schemeClr val="tx1"/>
                </a:solidFill>
                <a:latin typeface="宋体" pitchFamily="2" charset="-122"/>
              </a:rPr>
              <a:t>R1</a:t>
            </a:r>
            <a:r>
              <a:rPr lang="zh-CN" altLang="en-US" sz="2800" b="0">
                <a:solidFill>
                  <a:schemeClr val="tx1"/>
                </a:solidFill>
                <a:latin typeface="宋体" pitchFamily="2" charset="-122"/>
              </a:rPr>
              <a:t>，然后在</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指令中读出</a:t>
            </a:r>
            <a:r>
              <a:rPr lang="en-US" altLang="zh-CN" sz="2800" b="0">
                <a:solidFill>
                  <a:schemeClr val="tx1"/>
                </a:solidFill>
                <a:latin typeface="宋体" pitchFamily="2" charset="-122"/>
              </a:rPr>
              <a:t>R1</a:t>
            </a:r>
            <a:r>
              <a:rPr lang="zh-CN" altLang="en-US" sz="2800" b="0">
                <a:solidFill>
                  <a:schemeClr val="tx1"/>
                </a:solidFill>
                <a:latin typeface="宋体" pitchFamily="2" charset="-122"/>
              </a:rPr>
              <a:t>内容。由于</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指令进入流水线，变成</a:t>
            </a:r>
            <a:r>
              <a:rPr lang="en-US" altLang="zh-CN" sz="2800" b="0">
                <a:solidFill>
                  <a:schemeClr val="tx1"/>
                </a:solidFill>
                <a:latin typeface="宋体" pitchFamily="2" charset="-122"/>
              </a:rPr>
              <a:t>I2</a:t>
            </a:r>
            <a:r>
              <a:rPr lang="zh-CN" altLang="en-US" sz="2800" b="0">
                <a:solidFill>
                  <a:schemeClr val="tx1"/>
                </a:solidFill>
                <a:latin typeface="宋体" pitchFamily="2" charset="-122"/>
              </a:rPr>
              <a:t>指令在</a:t>
            </a:r>
            <a:r>
              <a:rPr lang="en-US" altLang="zh-CN" sz="2800" b="0">
                <a:solidFill>
                  <a:schemeClr val="tx1"/>
                </a:solidFill>
                <a:latin typeface="宋体" pitchFamily="2" charset="-122"/>
              </a:rPr>
              <a:t>I1</a:t>
            </a:r>
            <a:r>
              <a:rPr lang="zh-CN" altLang="en-US" sz="2800" b="0">
                <a:solidFill>
                  <a:schemeClr val="tx1"/>
                </a:solidFill>
                <a:latin typeface="宋体" pitchFamily="2" charset="-122"/>
              </a:rPr>
              <a:t>指令写入</a:t>
            </a:r>
            <a:r>
              <a:rPr lang="en-US" altLang="zh-CN" sz="2800" b="0">
                <a:solidFill>
                  <a:schemeClr val="tx1"/>
                </a:solidFill>
                <a:latin typeface="宋体" pitchFamily="2" charset="-122"/>
              </a:rPr>
              <a:t>R1</a:t>
            </a:r>
            <a:r>
              <a:rPr lang="zh-CN" altLang="en-US" sz="2800" b="0">
                <a:solidFill>
                  <a:schemeClr val="tx1"/>
                </a:solidFill>
                <a:latin typeface="宋体" pitchFamily="2" charset="-122"/>
              </a:rPr>
              <a:t>前就读出</a:t>
            </a:r>
            <a:r>
              <a:rPr lang="en-US" altLang="zh-CN" sz="2800" b="0">
                <a:solidFill>
                  <a:schemeClr val="tx1"/>
                </a:solidFill>
                <a:latin typeface="宋体" pitchFamily="2" charset="-122"/>
              </a:rPr>
              <a:t>R1</a:t>
            </a:r>
            <a:r>
              <a:rPr lang="zh-CN" altLang="en-US" sz="2800" b="0">
                <a:solidFill>
                  <a:schemeClr val="tx1"/>
                </a:solidFill>
                <a:latin typeface="宋体" pitchFamily="2" charset="-122"/>
              </a:rPr>
              <a:t>内容，发生</a:t>
            </a:r>
            <a:r>
              <a:rPr lang="en-US" altLang="zh-CN" sz="2800" b="0">
                <a:solidFill>
                  <a:schemeClr val="tx1"/>
                </a:solidFill>
                <a:latin typeface="宋体" pitchFamily="2" charset="-122"/>
              </a:rPr>
              <a:t>RAW</a:t>
            </a:r>
            <a:r>
              <a:rPr lang="zh-CN" altLang="en-US" sz="2800" b="0">
                <a:solidFill>
                  <a:schemeClr val="tx1"/>
                </a:solidFill>
                <a:latin typeface="宋体" pitchFamily="2" charset="-122"/>
              </a:rPr>
              <a:t>相关。</a:t>
            </a:r>
          </a:p>
        </p:txBody>
      </p:sp>
      <p:sp>
        <p:nvSpPr>
          <p:cNvPr id="14" name="AutoShape 4"/>
          <p:cNvSpPr>
            <a:spLocks noChangeArrowheads="1"/>
          </p:cNvSpPr>
          <p:nvPr/>
        </p:nvSpPr>
        <p:spPr bwMode="auto">
          <a:xfrm>
            <a:off x="467544" y="1216367"/>
            <a:ext cx="8208962" cy="1828800"/>
          </a:xfrm>
          <a:prstGeom prst="wedgeRectCallout">
            <a:avLst>
              <a:gd name="adj1" fmla="val -19153"/>
              <a:gd name="adj2" fmla="val 50000"/>
            </a:avLst>
          </a:prstGeom>
          <a:solidFill>
            <a:schemeClr val="accent1"/>
          </a:solidFill>
          <a:ln w="12700" cap="sq">
            <a:solidFill>
              <a:schemeClr val="tx1"/>
            </a:solidFill>
            <a:miter lim="800000"/>
            <a:headEnd type="none" w="sm" len="sm"/>
            <a:tailEnd type="none" w="sm" len="sm"/>
          </a:ln>
        </p:spPr>
        <p:txBody>
          <a:bodyPr/>
          <a:lstStyle/>
          <a:p>
            <a:r>
              <a:rPr lang="zh-CN" altLang="en-US" sz="2800" b="0" dirty="0">
                <a:solidFill>
                  <a:schemeClr val="tx1"/>
                </a:solidFill>
                <a:latin typeface="宋体" pitchFamily="2" charset="-122"/>
              </a:rPr>
              <a:t>第</a:t>
            </a:r>
            <a:r>
              <a:rPr lang="en-US" altLang="zh-CN" sz="2800" b="0" dirty="0">
                <a:solidFill>
                  <a:schemeClr val="tx1"/>
                </a:solidFill>
                <a:latin typeface="宋体" pitchFamily="2" charset="-122"/>
              </a:rPr>
              <a:t>(2)</a:t>
            </a:r>
            <a:r>
              <a:rPr lang="zh-CN" altLang="en-US" sz="2800" b="0" dirty="0">
                <a:solidFill>
                  <a:schemeClr val="tx1"/>
                </a:solidFill>
                <a:latin typeface="宋体" pitchFamily="2" charset="-122"/>
              </a:rPr>
              <a:t>组指令中，</a:t>
            </a:r>
            <a:r>
              <a:rPr lang="en-US" altLang="zh-CN" sz="2800" b="0" dirty="0">
                <a:solidFill>
                  <a:schemeClr val="tx1"/>
                </a:solidFill>
                <a:latin typeface="宋体" pitchFamily="2" charset="-122"/>
              </a:rPr>
              <a:t>I3</a:t>
            </a:r>
            <a:r>
              <a:rPr lang="zh-CN" altLang="en-US" sz="2800" b="0" dirty="0">
                <a:solidFill>
                  <a:schemeClr val="tx1"/>
                </a:solidFill>
                <a:latin typeface="宋体" pitchFamily="2" charset="-122"/>
              </a:rPr>
              <a:t>指令应先读出</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内容，然后在</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指令中将运算结果写入</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。但由于</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指令进入流水线，变成</a:t>
            </a:r>
            <a:r>
              <a:rPr lang="en-US" altLang="zh-CN" sz="2800" b="0" dirty="0">
                <a:solidFill>
                  <a:schemeClr val="tx1"/>
                </a:solidFill>
                <a:latin typeface="宋体" pitchFamily="2" charset="-122"/>
              </a:rPr>
              <a:t>I4</a:t>
            </a:r>
            <a:r>
              <a:rPr lang="zh-CN" altLang="en-US" sz="2800" b="0" dirty="0">
                <a:solidFill>
                  <a:schemeClr val="tx1"/>
                </a:solidFill>
                <a:latin typeface="宋体" pitchFamily="2" charset="-122"/>
              </a:rPr>
              <a:t>指令在</a:t>
            </a:r>
            <a:r>
              <a:rPr lang="en-US" altLang="zh-CN" sz="2800" b="0" dirty="0">
                <a:solidFill>
                  <a:schemeClr val="tx1"/>
                </a:solidFill>
                <a:latin typeface="宋体" pitchFamily="2" charset="-122"/>
              </a:rPr>
              <a:t>I3</a:t>
            </a:r>
            <a:r>
              <a:rPr lang="zh-CN" altLang="en-US" sz="2800" b="0" dirty="0">
                <a:solidFill>
                  <a:schemeClr val="tx1"/>
                </a:solidFill>
                <a:latin typeface="宋体" pitchFamily="2" charset="-122"/>
              </a:rPr>
              <a:t>指令读出</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内容前就写入</a:t>
            </a:r>
            <a:r>
              <a:rPr lang="en-US" altLang="zh-CN" sz="2800" b="0" dirty="0">
                <a:solidFill>
                  <a:schemeClr val="tx1"/>
                </a:solidFill>
                <a:latin typeface="宋体" pitchFamily="2" charset="-122"/>
              </a:rPr>
              <a:t>R4</a:t>
            </a:r>
            <a:r>
              <a:rPr lang="zh-CN" altLang="en-US" sz="2800" b="0" dirty="0">
                <a:solidFill>
                  <a:schemeClr val="tx1"/>
                </a:solidFill>
                <a:latin typeface="宋体" pitchFamily="2" charset="-122"/>
              </a:rPr>
              <a:t>，发生</a:t>
            </a:r>
            <a:r>
              <a:rPr lang="en-US" altLang="zh-CN" sz="2800" b="0" dirty="0">
                <a:solidFill>
                  <a:schemeClr val="tx1"/>
                </a:solidFill>
                <a:latin typeface="宋体" pitchFamily="2" charset="-122"/>
              </a:rPr>
              <a:t>WAR</a:t>
            </a:r>
            <a:r>
              <a:rPr lang="zh-CN" altLang="en-US" sz="2800" b="0" dirty="0">
                <a:solidFill>
                  <a:schemeClr val="tx1"/>
                </a:solidFill>
                <a:latin typeface="宋体" pitchFamily="2" charset="-122"/>
              </a:rPr>
              <a:t>相关。</a:t>
            </a:r>
          </a:p>
        </p:txBody>
      </p:sp>
      <p:sp>
        <p:nvSpPr>
          <p:cNvPr id="15" name="AutoShape 5"/>
          <p:cNvSpPr>
            <a:spLocks noChangeArrowheads="1"/>
          </p:cNvSpPr>
          <p:nvPr/>
        </p:nvSpPr>
        <p:spPr bwMode="auto">
          <a:xfrm>
            <a:off x="467544" y="3068960"/>
            <a:ext cx="8229600" cy="1371600"/>
          </a:xfrm>
          <a:prstGeom prst="wedgeRectCallout">
            <a:avLst>
              <a:gd name="adj1" fmla="val -22898"/>
              <a:gd name="adj2" fmla="val 50000"/>
            </a:avLst>
          </a:prstGeom>
          <a:solidFill>
            <a:schemeClr val="accent1"/>
          </a:solidFill>
          <a:ln w="12700" cap="sq">
            <a:solidFill>
              <a:schemeClr val="tx1"/>
            </a:solidFill>
            <a:miter lim="800000"/>
            <a:headEnd type="none" w="sm" len="sm"/>
            <a:tailEnd type="none" w="sm" len="sm"/>
          </a:ln>
        </p:spPr>
        <p:txBody>
          <a:bodyPr/>
          <a:lstStyle/>
          <a:p>
            <a:r>
              <a:rPr lang="zh-CN" altLang="en-US" sz="2800" b="0" dirty="0">
                <a:solidFill>
                  <a:schemeClr val="tx1"/>
                </a:solidFill>
                <a:latin typeface="宋体" pitchFamily="2" charset="-122"/>
              </a:rPr>
              <a:t>第</a:t>
            </a:r>
            <a:r>
              <a:rPr lang="en-US" altLang="zh-CN" sz="2800" b="0" dirty="0">
                <a:solidFill>
                  <a:schemeClr val="tx1"/>
                </a:solidFill>
                <a:latin typeface="宋体" pitchFamily="2" charset="-122"/>
              </a:rPr>
              <a:t>(3)</a:t>
            </a:r>
            <a:r>
              <a:rPr lang="zh-CN" altLang="en-US" sz="2800" b="0" dirty="0">
                <a:solidFill>
                  <a:schemeClr val="tx1"/>
                </a:solidFill>
                <a:latin typeface="宋体" pitchFamily="2" charset="-122"/>
              </a:rPr>
              <a:t>组指令中，如果</a:t>
            </a:r>
            <a:r>
              <a:rPr lang="en-US" altLang="zh-CN" sz="2800" b="0" dirty="0">
                <a:solidFill>
                  <a:schemeClr val="tx1"/>
                </a:solidFill>
                <a:latin typeface="宋体" pitchFamily="2" charset="-122"/>
              </a:rPr>
              <a:t>I6</a:t>
            </a:r>
            <a:r>
              <a:rPr lang="zh-CN" altLang="en-US" sz="2800" b="0" dirty="0">
                <a:solidFill>
                  <a:schemeClr val="tx1"/>
                </a:solidFill>
                <a:latin typeface="宋体" pitchFamily="2" charset="-122"/>
              </a:rPr>
              <a:t>指令的完成时间早于</a:t>
            </a:r>
            <a:r>
              <a:rPr lang="en-US" altLang="zh-CN" sz="2800" b="0" dirty="0">
                <a:solidFill>
                  <a:schemeClr val="tx1"/>
                </a:solidFill>
                <a:latin typeface="宋体" pitchFamily="2" charset="-122"/>
              </a:rPr>
              <a:t>I5</a:t>
            </a:r>
            <a:r>
              <a:rPr lang="zh-CN" altLang="en-US" sz="2800" b="0" dirty="0">
                <a:solidFill>
                  <a:schemeClr val="tx1"/>
                </a:solidFill>
                <a:latin typeface="宋体" pitchFamily="2" charset="-122"/>
              </a:rPr>
              <a:t>指令的运算时间，变成指令</a:t>
            </a:r>
            <a:r>
              <a:rPr lang="en-US" altLang="zh-CN" sz="2800" b="0" dirty="0">
                <a:solidFill>
                  <a:schemeClr val="tx1"/>
                </a:solidFill>
                <a:latin typeface="宋体" pitchFamily="2" charset="-122"/>
              </a:rPr>
              <a:t>I6</a:t>
            </a:r>
            <a:r>
              <a:rPr lang="zh-CN" altLang="en-US" sz="2800" b="0" dirty="0">
                <a:solidFill>
                  <a:schemeClr val="tx1"/>
                </a:solidFill>
                <a:latin typeface="宋体" pitchFamily="2" charset="-122"/>
              </a:rPr>
              <a:t>在指令</a:t>
            </a:r>
            <a:r>
              <a:rPr lang="en-US" altLang="zh-CN" sz="2800" b="0" dirty="0">
                <a:solidFill>
                  <a:schemeClr val="tx1"/>
                </a:solidFill>
                <a:latin typeface="宋体" pitchFamily="2" charset="-122"/>
              </a:rPr>
              <a:t>I5</a:t>
            </a:r>
            <a:r>
              <a:rPr lang="zh-CN" altLang="en-US" sz="2800" b="0" dirty="0">
                <a:solidFill>
                  <a:schemeClr val="tx1"/>
                </a:solidFill>
                <a:latin typeface="宋体" pitchFamily="2" charset="-122"/>
              </a:rPr>
              <a:t>写入</a:t>
            </a:r>
            <a:r>
              <a:rPr lang="en-US" altLang="zh-CN" sz="2800" b="0" dirty="0">
                <a:solidFill>
                  <a:schemeClr val="tx1"/>
                </a:solidFill>
                <a:latin typeface="宋体" pitchFamily="2" charset="-122"/>
              </a:rPr>
              <a:t>R6</a:t>
            </a:r>
            <a:r>
              <a:rPr lang="zh-CN" altLang="en-US" sz="2800" b="0" dirty="0">
                <a:solidFill>
                  <a:schemeClr val="tx1"/>
                </a:solidFill>
                <a:latin typeface="宋体" pitchFamily="2" charset="-122"/>
              </a:rPr>
              <a:t>前就写入</a:t>
            </a:r>
            <a:r>
              <a:rPr lang="en-US" altLang="zh-CN" sz="2800" b="0" dirty="0">
                <a:solidFill>
                  <a:schemeClr val="tx1"/>
                </a:solidFill>
                <a:latin typeface="宋体" pitchFamily="2" charset="-122"/>
              </a:rPr>
              <a:t>R6</a:t>
            </a:r>
            <a:r>
              <a:rPr lang="zh-CN" altLang="en-US" sz="2800" b="0" dirty="0">
                <a:solidFill>
                  <a:schemeClr val="tx1"/>
                </a:solidFill>
                <a:latin typeface="宋体" pitchFamily="2" charset="-122"/>
              </a:rPr>
              <a:t>，导致</a:t>
            </a:r>
            <a:r>
              <a:rPr lang="en-US" altLang="zh-CN" sz="2800" b="0" dirty="0">
                <a:solidFill>
                  <a:schemeClr val="tx1"/>
                </a:solidFill>
                <a:latin typeface="宋体" pitchFamily="2" charset="-122"/>
              </a:rPr>
              <a:t>R6</a:t>
            </a:r>
            <a:r>
              <a:rPr lang="zh-CN" altLang="en-US" sz="2800" b="0" dirty="0">
                <a:solidFill>
                  <a:schemeClr val="tx1"/>
                </a:solidFill>
                <a:latin typeface="宋体" pitchFamily="2" charset="-122"/>
              </a:rPr>
              <a:t>的内容错误，发生</a:t>
            </a:r>
            <a:r>
              <a:rPr lang="en-US" altLang="zh-CN" sz="2800" b="0" dirty="0">
                <a:solidFill>
                  <a:schemeClr val="tx1"/>
                </a:solidFill>
                <a:latin typeface="宋体" pitchFamily="2" charset="-122"/>
              </a:rPr>
              <a:t>WAW</a:t>
            </a:r>
            <a:r>
              <a:rPr lang="zh-CN" altLang="en-US" sz="2800" b="0" dirty="0">
                <a:solidFill>
                  <a:schemeClr val="tx1"/>
                </a:solidFill>
                <a:latin typeface="宋体" pitchFamily="2" charset="-122"/>
              </a:rPr>
              <a:t>相关。</a:t>
            </a:r>
          </a:p>
        </p:txBody>
      </p:sp>
    </p:spTree>
    <p:extLst>
      <p:ext uri="{BB962C8B-B14F-4D97-AF65-F5344CB8AC3E}">
        <p14:creationId xmlns:p14="http://schemas.microsoft.com/office/powerpoint/2010/main" val="150792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3" grpId="0" animBg="1" autoUpdateAnimBg="0"/>
      <p:bldP spid="14" grpId="0" animBg="1" autoUpdateAnimBg="0"/>
      <p:bldP spid="15" grpId="0" animBg="1"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5"/>
          <p:cNvSpPr>
            <a:spLocks noGrp="1"/>
          </p:cNvSpPr>
          <p:nvPr>
            <p:ph type="sldNum" sz="quarter" idx="12"/>
          </p:nvPr>
        </p:nvSpPr>
        <p:spPr>
          <a:noFill/>
        </p:spPr>
        <p:txBody>
          <a:bodyPr/>
          <a:lstStyle/>
          <a:p>
            <a:fld id="{1489A4AB-5A1E-440F-A54C-B8AE3C93B5AA}" type="slidenum">
              <a:rPr lang="en-US" altLang="zh-CN" smtClean="0"/>
              <a:pPr/>
              <a:t>148</a:t>
            </a:fld>
            <a:endParaRPr lang="en-US" altLang="zh-CN" smtClean="0"/>
          </a:p>
        </p:txBody>
      </p:sp>
      <p:sp>
        <p:nvSpPr>
          <p:cNvPr id="162819" name="Rectangle 2"/>
          <p:cNvSpPr>
            <a:spLocks noGrp="1" noChangeArrowheads="1"/>
          </p:cNvSpPr>
          <p:nvPr>
            <p:ph type="title"/>
          </p:nvPr>
        </p:nvSpPr>
        <p:spPr>
          <a:xfrm>
            <a:off x="468313" y="333375"/>
            <a:ext cx="7543800" cy="792163"/>
          </a:xfrm>
        </p:spPr>
        <p:txBody>
          <a:bodyPr/>
          <a:lstStyle/>
          <a:p>
            <a:pPr eaLnBrk="1" hangingPunct="1"/>
            <a:r>
              <a:rPr lang="en-US" altLang="zh-CN" sz="4400" dirty="0" smtClean="0">
                <a:solidFill>
                  <a:schemeClr val="tx1"/>
                </a:solidFill>
                <a:latin typeface="宋体" pitchFamily="2" charset="-122"/>
                <a:cs typeface="Times New Roman" pitchFamily="18" charset="0"/>
              </a:rPr>
              <a:t>5</a:t>
            </a:r>
            <a:r>
              <a:rPr lang="en-US" altLang="zh-CN" sz="4400" dirty="0" smtClean="0">
                <a:solidFill>
                  <a:schemeClr val="tx1"/>
                </a:solidFill>
                <a:latin typeface="宋体" pitchFamily="2" charset="-122"/>
              </a:rPr>
              <a:t>.7 RISC CPU</a:t>
            </a:r>
          </a:p>
        </p:txBody>
      </p:sp>
      <p:sp>
        <p:nvSpPr>
          <p:cNvPr id="162820" name="Rectangle 3"/>
          <p:cNvSpPr>
            <a:spLocks noChangeArrowheads="1"/>
          </p:cNvSpPr>
          <p:nvPr/>
        </p:nvSpPr>
        <p:spPr bwMode="auto">
          <a:xfrm>
            <a:off x="467544" y="1146258"/>
            <a:ext cx="7273925" cy="3323987"/>
          </a:xfrm>
          <a:prstGeom prst="rect">
            <a:avLst/>
          </a:prstGeom>
          <a:noFill/>
          <a:ln w="12700" cap="sq" algn="ctr">
            <a:noFill/>
            <a:miter lim="800000"/>
            <a:headEnd/>
            <a:tailEnd/>
          </a:ln>
        </p:spPr>
        <p:txBody>
          <a:bodyPr anchor="ctr">
            <a:spAutoFit/>
          </a:bodyPr>
          <a:lstStyle/>
          <a:p>
            <a:pPr>
              <a:lnSpc>
                <a:spcPct val="150000"/>
              </a:lnSpc>
            </a:pPr>
            <a:r>
              <a:rPr lang="en-US" altLang="zh-CN" sz="2800" b="0" dirty="0" smtClean="0">
                <a:solidFill>
                  <a:schemeClr val="tx1"/>
                </a:solidFill>
                <a:latin typeface="宋体" pitchFamily="2" charset="-122"/>
              </a:rPr>
              <a:t>5.7.1 </a:t>
            </a:r>
            <a:r>
              <a:rPr lang="en-US" altLang="zh-CN" sz="2800" b="0" dirty="0">
                <a:solidFill>
                  <a:schemeClr val="tx1"/>
                </a:solidFill>
                <a:latin typeface="宋体" pitchFamily="2" charset="-122"/>
              </a:rPr>
              <a:t>RISC</a:t>
            </a:r>
            <a:r>
              <a:rPr lang="zh-CN" altLang="en-US" sz="2800" b="0" dirty="0">
                <a:solidFill>
                  <a:schemeClr val="tx1"/>
                </a:solidFill>
                <a:latin typeface="宋体" pitchFamily="2" charset="-122"/>
              </a:rPr>
              <a:t>机器的特点 　 </a:t>
            </a:r>
            <a:r>
              <a:rPr lang="zh-CN" altLang="en-US" sz="2800" b="0" i="1" dirty="0">
                <a:solidFill>
                  <a:schemeClr val="tx1"/>
                </a:solidFill>
                <a:latin typeface="宋体" pitchFamily="2" charset="-122"/>
              </a:rPr>
              <a:t>　</a:t>
            </a:r>
            <a:endParaRPr lang="zh-CN" altLang="en-US" sz="2800" b="0" dirty="0">
              <a:solidFill>
                <a:schemeClr val="tx1"/>
              </a:solidFill>
              <a:latin typeface="宋体" pitchFamily="2" charset="-122"/>
            </a:endParaRPr>
          </a:p>
          <a:p>
            <a:pPr>
              <a:lnSpc>
                <a:spcPct val="150000"/>
              </a:lnSpc>
            </a:pPr>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RISC</a:t>
            </a:r>
            <a:r>
              <a:rPr lang="zh-CN" altLang="en-US" sz="2800" b="0" dirty="0">
                <a:solidFill>
                  <a:schemeClr val="tx1"/>
                </a:solidFill>
                <a:latin typeface="宋体" pitchFamily="2" charset="-122"/>
              </a:rPr>
              <a:t>的三个要素是：</a:t>
            </a:r>
          </a:p>
          <a:p>
            <a:pPr>
              <a:lnSpc>
                <a:spcPct val="150000"/>
              </a:lnSpc>
            </a:pPr>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(1)</a:t>
            </a:r>
            <a:r>
              <a:rPr lang="zh-CN" altLang="en-US" sz="2800" b="0" dirty="0">
                <a:solidFill>
                  <a:schemeClr val="tx1"/>
                </a:solidFill>
                <a:latin typeface="宋体" pitchFamily="2" charset="-122"/>
              </a:rPr>
              <a:t>一个有限的简单的指令集；</a:t>
            </a:r>
          </a:p>
          <a:p>
            <a:pPr>
              <a:lnSpc>
                <a:spcPct val="150000"/>
              </a:lnSpc>
            </a:pPr>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(2)CPU</a:t>
            </a:r>
            <a:r>
              <a:rPr lang="zh-CN" altLang="en-US" sz="2800" b="0" dirty="0">
                <a:solidFill>
                  <a:schemeClr val="tx1"/>
                </a:solidFill>
                <a:latin typeface="宋体" pitchFamily="2" charset="-122"/>
              </a:rPr>
              <a:t>配备大量的通用寄存器；</a:t>
            </a:r>
          </a:p>
          <a:p>
            <a:pPr>
              <a:lnSpc>
                <a:spcPct val="150000"/>
              </a:lnSpc>
            </a:pPr>
            <a:r>
              <a:rPr lang="zh-CN" altLang="en-US" sz="2800" b="0" dirty="0">
                <a:solidFill>
                  <a:schemeClr val="tx1"/>
                </a:solidFill>
                <a:latin typeface="宋体" pitchFamily="2" charset="-122"/>
              </a:rPr>
              <a:t>    </a:t>
            </a:r>
            <a:r>
              <a:rPr lang="en-US" altLang="zh-CN" sz="2800" b="0" dirty="0">
                <a:solidFill>
                  <a:schemeClr val="tx1"/>
                </a:solidFill>
                <a:latin typeface="宋体" pitchFamily="2" charset="-122"/>
              </a:rPr>
              <a:t>(3)</a:t>
            </a:r>
            <a:r>
              <a:rPr lang="zh-CN" altLang="en-US" sz="2800" b="0" dirty="0">
                <a:solidFill>
                  <a:schemeClr val="tx1"/>
                </a:solidFill>
                <a:latin typeface="宋体" pitchFamily="2" charset="-122"/>
              </a:rPr>
              <a:t>强调对指令流水线的优化。</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灯片编号占位符 3"/>
          <p:cNvSpPr>
            <a:spLocks noGrp="1"/>
          </p:cNvSpPr>
          <p:nvPr>
            <p:ph type="sldNum" sz="quarter" idx="12"/>
          </p:nvPr>
        </p:nvSpPr>
        <p:spPr>
          <a:noFill/>
        </p:spPr>
        <p:txBody>
          <a:bodyPr/>
          <a:lstStyle/>
          <a:p>
            <a:fld id="{797E8D73-EC1C-43D7-B7D1-6C64198B1A10}" type="slidenum">
              <a:rPr lang="en-US" altLang="zh-CN" smtClean="0"/>
              <a:pPr/>
              <a:t>149</a:t>
            </a:fld>
            <a:endParaRPr lang="en-US" altLang="zh-CN" smtClean="0"/>
          </a:p>
        </p:txBody>
      </p:sp>
      <p:sp>
        <p:nvSpPr>
          <p:cNvPr id="163843" name="Rectangle 2"/>
          <p:cNvSpPr>
            <a:spLocks noChangeArrowheads="1"/>
          </p:cNvSpPr>
          <p:nvPr/>
        </p:nvSpPr>
        <p:spPr bwMode="auto">
          <a:xfrm>
            <a:off x="323850" y="260350"/>
            <a:ext cx="8497888" cy="6299200"/>
          </a:xfrm>
          <a:prstGeom prst="rect">
            <a:avLst/>
          </a:prstGeom>
          <a:solidFill>
            <a:srgbClr val="CCFFFF"/>
          </a:solidFill>
          <a:ln w="12700" cap="sq" algn="ctr">
            <a:noFill/>
            <a:miter lim="800000"/>
            <a:headEnd/>
            <a:tailEnd/>
          </a:ln>
        </p:spPr>
        <p:txBody>
          <a:bodyPr anchor="ctr">
            <a:spAutoFit/>
          </a:bodyPr>
          <a:lstStyle/>
          <a:p>
            <a:r>
              <a:rPr lang="zh-CN" altLang="en-US" sz="2400">
                <a:solidFill>
                  <a:schemeClr val="tx1"/>
                </a:solidFill>
                <a:latin typeface="宋体" pitchFamily="2" charset="-122"/>
              </a:rPr>
              <a:t>基于三要素的</a:t>
            </a:r>
            <a:r>
              <a:rPr lang="en-US" altLang="zh-CN" sz="2400">
                <a:solidFill>
                  <a:schemeClr val="tx1"/>
                </a:solidFill>
                <a:latin typeface="宋体" pitchFamily="2" charset="-122"/>
              </a:rPr>
              <a:t>RISC</a:t>
            </a:r>
            <a:r>
              <a:rPr lang="zh-CN" altLang="en-US" sz="2400">
                <a:solidFill>
                  <a:schemeClr val="tx1"/>
                </a:solidFill>
                <a:latin typeface="宋体" pitchFamily="2" charset="-122"/>
              </a:rPr>
              <a:t>机器的特征是：</a:t>
            </a:r>
            <a:endParaRPr lang="zh-CN" altLang="en-US" sz="2400" b="0">
              <a:solidFill>
                <a:schemeClr val="tx1"/>
              </a:solidFill>
              <a:latin typeface="宋体" pitchFamily="2" charset="-122"/>
            </a:endParaRPr>
          </a:p>
          <a:p>
            <a:r>
              <a:rPr lang="zh-CN" altLang="en-US" sz="2400" b="0">
                <a:solidFill>
                  <a:schemeClr val="tx1"/>
                </a:solidFill>
                <a:latin typeface="宋体" pitchFamily="2" charset="-122"/>
              </a:rPr>
              <a:t>    </a:t>
            </a:r>
            <a:r>
              <a:rPr lang="en-US" altLang="zh-CN" sz="2400" b="0">
                <a:solidFill>
                  <a:schemeClr val="tx1"/>
                </a:solidFill>
                <a:latin typeface="宋体" pitchFamily="2" charset="-122"/>
              </a:rPr>
              <a:t>(1)</a:t>
            </a:r>
            <a:r>
              <a:rPr lang="zh-CN" altLang="en-US" sz="2400" b="0">
                <a:solidFill>
                  <a:schemeClr val="tx1"/>
                </a:solidFill>
                <a:latin typeface="宋体" pitchFamily="2" charset="-122"/>
              </a:rPr>
              <a:t>使用等长指令，目前的典型长度是</a:t>
            </a:r>
            <a:r>
              <a:rPr lang="en-US" altLang="zh-CN" sz="2400" b="0">
                <a:solidFill>
                  <a:schemeClr val="tx1"/>
                </a:solidFill>
                <a:latin typeface="宋体" pitchFamily="2" charset="-122"/>
              </a:rPr>
              <a:t>4</a:t>
            </a:r>
            <a:r>
              <a:rPr lang="zh-CN" altLang="en-US" sz="2400" b="0">
                <a:solidFill>
                  <a:schemeClr val="tx1"/>
                </a:solidFill>
                <a:latin typeface="宋体" pitchFamily="2" charset="-122"/>
              </a:rPr>
              <a:t>个字节。</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(2)</a:t>
            </a:r>
            <a:r>
              <a:rPr lang="zh-CN" altLang="en-US" sz="2400" b="0">
                <a:solidFill>
                  <a:schemeClr val="tx1"/>
                </a:solidFill>
                <a:latin typeface="宋体" pitchFamily="2" charset="-122"/>
              </a:rPr>
              <a:t>寻址方式少且简单，一般为</a:t>
            </a:r>
            <a:r>
              <a:rPr lang="en-US" altLang="zh-CN" sz="2400" b="0">
                <a:solidFill>
                  <a:schemeClr val="tx1"/>
                </a:solidFill>
                <a:latin typeface="宋体" pitchFamily="2" charset="-122"/>
              </a:rPr>
              <a:t>2—3</a:t>
            </a:r>
            <a:r>
              <a:rPr lang="zh-CN" altLang="en-US" sz="2400" b="0">
                <a:solidFill>
                  <a:schemeClr val="tx1"/>
                </a:solidFill>
                <a:latin typeface="宋体" pitchFamily="2" charset="-122"/>
              </a:rPr>
              <a:t>种，最多不超过</a:t>
            </a:r>
            <a:r>
              <a:rPr lang="en-US" altLang="zh-CN" sz="2400" b="0">
                <a:solidFill>
                  <a:schemeClr val="tx1"/>
                </a:solidFill>
                <a:latin typeface="宋体" pitchFamily="2" charset="-122"/>
              </a:rPr>
              <a:t>4</a:t>
            </a:r>
            <a:r>
              <a:rPr lang="zh-CN" altLang="en-US" sz="2400" b="0">
                <a:solidFill>
                  <a:schemeClr val="tx1"/>
                </a:solidFill>
                <a:latin typeface="宋体" pitchFamily="2" charset="-122"/>
              </a:rPr>
              <a:t>种，绝不出现存储器间接寻址方式。</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(3)</a:t>
            </a:r>
            <a:r>
              <a:rPr lang="zh-CN" altLang="en-US" sz="2400" b="0">
                <a:solidFill>
                  <a:schemeClr val="tx1"/>
                </a:solidFill>
                <a:latin typeface="宋体" pitchFamily="2" charset="-122"/>
              </a:rPr>
              <a:t>只有取数指令、存数指令访问存储器。指令中最多出现</a:t>
            </a:r>
            <a:r>
              <a:rPr lang="en-US" altLang="zh-CN" sz="2400" b="0">
                <a:solidFill>
                  <a:schemeClr val="tx1"/>
                </a:solidFill>
                <a:latin typeface="宋体" pitchFamily="2" charset="-122"/>
              </a:rPr>
              <a:t>RS</a:t>
            </a:r>
            <a:r>
              <a:rPr lang="zh-CN" altLang="en-US" sz="2400" b="0">
                <a:solidFill>
                  <a:schemeClr val="tx1"/>
                </a:solidFill>
                <a:latin typeface="宋体" pitchFamily="2" charset="-122"/>
              </a:rPr>
              <a:t>型指令，绝不出现</a:t>
            </a:r>
            <a:r>
              <a:rPr lang="en-US" altLang="zh-CN" sz="2400" b="0">
                <a:solidFill>
                  <a:schemeClr val="tx1"/>
                </a:solidFill>
                <a:latin typeface="宋体" pitchFamily="2" charset="-122"/>
              </a:rPr>
              <a:t>SS</a:t>
            </a:r>
            <a:r>
              <a:rPr lang="zh-CN" altLang="en-US" sz="2400" b="0">
                <a:solidFill>
                  <a:schemeClr val="tx1"/>
                </a:solidFill>
                <a:latin typeface="宋体" pitchFamily="2" charset="-122"/>
              </a:rPr>
              <a:t>型指令。</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(4)</a:t>
            </a:r>
            <a:r>
              <a:rPr lang="zh-CN" altLang="en-US" sz="2400" b="0">
                <a:solidFill>
                  <a:schemeClr val="tx1"/>
                </a:solidFill>
                <a:latin typeface="宋体" pitchFamily="2" charset="-122"/>
              </a:rPr>
              <a:t>指令集中的指令数目一般少于</a:t>
            </a:r>
            <a:r>
              <a:rPr lang="en-US" altLang="zh-CN" sz="2400" b="0">
                <a:solidFill>
                  <a:schemeClr val="tx1"/>
                </a:solidFill>
                <a:latin typeface="宋体" pitchFamily="2" charset="-122"/>
              </a:rPr>
              <a:t>100</a:t>
            </a:r>
            <a:r>
              <a:rPr lang="zh-CN" altLang="en-US" sz="2400" b="0">
                <a:solidFill>
                  <a:schemeClr val="tx1"/>
                </a:solidFill>
                <a:latin typeface="宋体" pitchFamily="2" charset="-122"/>
              </a:rPr>
              <a:t>种，指令格式一般少于</a:t>
            </a:r>
            <a:r>
              <a:rPr lang="en-US" altLang="zh-CN" sz="2400" b="0">
                <a:solidFill>
                  <a:schemeClr val="tx1"/>
                </a:solidFill>
                <a:latin typeface="宋体" pitchFamily="2" charset="-122"/>
              </a:rPr>
              <a:t>4</a:t>
            </a:r>
            <a:r>
              <a:rPr lang="zh-CN" altLang="en-US" sz="2400" b="0">
                <a:solidFill>
                  <a:schemeClr val="tx1"/>
                </a:solidFill>
                <a:latin typeface="宋体" pitchFamily="2" charset="-122"/>
              </a:rPr>
              <a:t>种。</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(5)</a:t>
            </a:r>
            <a:r>
              <a:rPr lang="zh-CN" altLang="en-US" sz="2400" b="0">
                <a:solidFill>
                  <a:schemeClr val="tx1"/>
                </a:solidFill>
                <a:latin typeface="宋体" pitchFamily="2" charset="-122"/>
              </a:rPr>
              <a:t>指令功能简单，控制器多采用硬连线方式，以期更快的执行速度。</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(6)</a:t>
            </a:r>
            <a:r>
              <a:rPr lang="zh-CN" altLang="en-US" sz="2400" b="0">
                <a:solidFill>
                  <a:schemeClr val="tx1"/>
                </a:solidFill>
                <a:latin typeface="宋体" pitchFamily="2" charset="-122"/>
              </a:rPr>
              <a:t>平均而言，所有指令的执行时间为一个机器时钟周期。    </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(7)</a:t>
            </a:r>
            <a:r>
              <a:rPr lang="zh-CN" altLang="en-US" sz="2400" b="0">
                <a:solidFill>
                  <a:schemeClr val="tx1"/>
                </a:solidFill>
                <a:latin typeface="宋体" pitchFamily="2" charset="-122"/>
              </a:rPr>
              <a:t>指令格式中用于指派整数寄存器的个数不少于</a:t>
            </a:r>
            <a:r>
              <a:rPr lang="en-US" altLang="zh-CN" sz="2400" b="0">
                <a:solidFill>
                  <a:schemeClr val="tx1"/>
                </a:solidFill>
                <a:latin typeface="宋体" pitchFamily="2" charset="-122"/>
              </a:rPr>
              <a:t>32</a:t>
            </a:r>
            <a:r>
              <a:rPr lang="zh-CN" altLang="en-US" sz="2400" b="0">
                <a:solidFill>
                  <a:schemeClr val="tx1"/>
                </a:solidFill>
                <a:latin typeface="宋体" pitchFamily="2" charset="-122"/>
              </a:rPr>
              <a:t>个，用于指派浮点数寄存器的个数不少于</a:t>
            </a:r>
            <a:r>
              <a:rPr lang="en-US" altLang="zh-CN" sz="2400" b="0">
                <a:solidFill>
                  <a:schemeClr val="tx1"/>
                </a:solidFill>
                <a:latin typeface="宋体" pitchFamily="2" charset="-122"/>
              </a:rPr>
              <a:t>16</a:t>
            </a:r>
            <a:r>
              <a:rPr lang="zh-CN" altLang="en-US" sz="2400" b="0">
                <a:solidFill>
                  <a:schemeClr val="tx1"/>
                </a:solidFill>
                <a:latin typeface="宋体" pitchFamily="2" charset="-122"/>
              </a:rPr>
              <a:t>个。 </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(8)</a:t>
            </a:r>
            <a:r>
              <a:rPr lang="zh-CN" altLang="en-US" sz="2400" b="0">
                <a:solidFill>
                  <a:schemeClr val="tx1"/>
                </a:solidFill>
                <a:latin typeface="宋体" pitchFamily="2" charset="-122"/>
              </a:rPr>
              <a:t>强调通用寄存器资源的优化使用。</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(9)</a:t>
            </a:r>
            <a:r>
              <a:rPr lang="zh-CN" altLang="en-US" sz="2400" b="0">
                <a:solidFill>
                  <a:schemeClr val="tx1"/>
                </a:solidFill>
                <a:latin typeface="宋体" pitchFamily="2" charset="-122"/>
              </a:rPr>
              <a:t>支持指令流水并强调指令流水的优化使用。</a:t>
            </a:r>
          </a:p>
          <a:p>
            <a:r>
              <a:rPr lang="zh-CN" altLang="en-US" sz="2400" b="0">
                <a:solidFill>
                  <a:schemeClr val="tx1"/>
                </a:solidFill>
                <a:latin typeface="宋体" pitchFamily="2" charset="-122"/>
              </a:rPr>
              <a:t>    </a:t>
            </a:r>
            <a:r>
              <a:rPr lang="en-US" altLang="zh-CN" sz="2400" b="0">
                <a:solidFill>
                  <a:schemeClr val="tx1"/>
                </a:solidFill>
                <a:latin typeface="宋体" pitchFamily="2" charset="-122"/>
              </a:rPr>
              <a:t>(10)RlSC</a:t>
            </a:r>
            <a:r>
              <a:rPr lang="zh-CN" altLang="en-US" sz="2400" b="0">
                <a:solidFill>
                  <a:schemeClr val="tx1"/>
                </a:solidFill>
                <a:latin typeface="宋体" pitchFamily="2" charset="-122"/>
              </a:rPr>
              <a:t>技术的复杂性于它的编译程序，因此软件系统开发时间比</a:t>
            </a:r>
            <a:r>
              <a:rPr lang="en-US" altLang="zh-CN" sz="2400" b="0">
                <a:solidFill>
                  <a:schemeClr val="tx1"/>
                </a:solidFill>
                <a:latin typeface="宋体" pitchFamily="2" charset="-122"/>
              </a:rPr>
              <a:t>CISC</a:t>
            </a:r>
            <a:r>
              <a:rPr lang="zh-CN" altLang="en-US" sz="2400" b="0">
                <a:solidFill>
                  <a:schemeClr val="tx1"/>
                </a:solidFill>
                <a:latin typeface="宋体" pitchFamily="2" charset="-122"/>
              </a:rPr>
              <a:t>机器长。</a:t>
            </a: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灯片编号占位符 3"/>
          <p:cNvSpPr>
            <a:spLocks noGrp="1"/>
          </p:cNvSpPr>
          <p:nvPr>
            <p:ph type="sldNum" sz="quarter" idx="12"/>
          </p:nvPr>
        </p:nvSpPr>
        <p:spPr>
          <a:noFill/>
        </p:spPr>
        <p:txBody>
          <a:bodyPr/>
          <a:lstStyle/>
          <a:p>
            <a:fld id="{31447671-38F3-41CE-A548-95926FD54475}" type="slidenum">
              <a:rPr lang="en-US" altLang="zh-CN" smtClean="0"/>
              <a:pPr/>
              <a:t>150</a:t>
            </a:fld>
            <a:endParaRPr lang="en-US" altLang="zh-CN" smtClean="0"/>
          </a:p>
        </p:txBody>
      </p:sp>
      <p:sp>
        <p:nvSpPr>
          <p:cNvPr id="164867" name="Rectangle 2"/>
          <p:cNvSpPr>
            <a:spLocks noChangeArrowheads="1"/>
          </p:cNvSpPr>
          <p:nvPr/>
        </p:nvSpPr>
        <p:spPr bwMode="auto">
          <a:xfrm>
            <a:off x="323850" y="260350"/>
            <a:ext cx="3867150" cy="457200"/>
          </a:xfrm>
          <a:prstGeom prst="rect">
            <a:avLst/>
          </a:prstGeom>
          <a:noFill/>
          <a:ln w="12700" cap="sq" algn="ctr">
            <a:noFill/>
            <a:miter lim="800000"/>
            <a:headEnd/>
            <a:tailEnd/>
          </a:ln>
        </p:spPr>
        <p:txBody>
          <a:bodyPr wrap="none" anchor="ctr">
            <a:spAutoFit/>
          </a:bodyPr>
          <a:lstStyle/>
          <a:p>
            <a:pPr eaLnBrk="0" hangingPunct="0"/>
            <a:r>
              <a:rPr lang="en-US" altLang="zh-CN" sz="2400">
                <a:solidFill>
                  <a:srgbClr val="0000FF"/>
                </a:solidFill>
                <a:latin typeface="宋体" pitchFamily="2" charset="-122"/>
              </a:rPr>
              <a:t>RISC</a:t>
            </a:r>
            <a:r>
              <a:rPr lang="zh-CN" altLang="en-US" sz="2400">
                <a:solidFill>
                  <a:srgbClr val="0000FF"/>
                </a:solidFill>
                <a:latin typeface="宋体" pitchFamily="2" charset="-122"/>
              </a:rPr>
              <a:t>与</a:t>
            </a:r>
            <a:r>
              <a:rPr lang="en-US" altLang="zh-CN" sz="2400">
                <a:solidFill>
                  <a:srgbClr val="0000FF"/>
                </a:solidFill>
                <a:latin typeface="宋体" pitchFamily="2" charset="-122"/>
              </a:rPr>
              <a:t>CISC</a:t>
            </a:r>
            <a:r>
              <a:rPr lang="zh-CN" altLang="en-US" sz="2400">
                <a:solidFill>
                  <a:srgbClr val="0000FF"/>
                </a:solidFill>
                <a:latin typeface="宋体" pitchFamily="2" charset="-122"/>
              </a:rPr>
              <a:t>的主要特征对比</a:t>
            </a:r>
            <a:endParaRPr lang="zh-CN" altLang="en-US" sz="2400" b="0">
              <a:solidFill>
                <a:schemeClr val="tx1"/>
              </a:solidFill>
              <a:latin typeface="宋体" pitchFamily="2" charset="-122"/>
            </a:endParaRPr>
          </a:p>
        </p:txBody>
      </p:sp>
      <p:graphicFrame>
        <p:nvGraphicFramePr>
          <p:cNvPr id="489475" name="Group 3"/>
          <p:cNvGraphicFramePr>
            <a:graphicFrameLocks noGrp="1"/>
          </p:cNvGraphicFramePr>
          <p:nvPr/>
        </p:nvGraphicFramePr>
        <p:xfrm>
          <a:off x="250825" y="908050"/>
          <a:ext cx="8569325" cy="5151432"/>
        </p:xfrm>
        <a:graphic>
          <a:graphicData uri="http://schemas.openxmlformats.org/drawingml/2006/table">
            <a:tbl>
              <a:tblPr/>
              <a:tblGrid>
                <a:gridCol w="2532063"/>
                <a:gridCol w="2735262"/>
                <a:gridCol w="3302000"/>
              </a:tblGrid>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比较内容</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CISC</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rPr>
                        <a:t>RISC</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指令系统</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复杂，庞大</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简单，精简</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指令数目</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一般大于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200</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一般小于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100</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指令格式</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一般大于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一般小于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寻址方式</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一般大于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一般小于</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4</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指令字长</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不固定</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等长</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可访存指令</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不加限制</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只有</a:t>
                      </a:r>
                      <a:r>
                        <a:rPr kumimoji="0" lang="en-US" altLang="zh-CN" sz="2000" b="0" i="0" u="none" strike="noStrike" cap="none" normalizeH="0" baseline="0" smtClean="0">
                          <a:ln>
                            <a:noFill/>
                          </a:ln>
                          <a:solidFill>
                            <a:schemeClr val="tx1"/>
                          </a:solidFill>
                          <a:effectLst/>
                          <a:latin typeface="宋体" pitchFamily="2" charset="-122"/>
                          <a:ea typeface="宋体" pitchFamily="2" charset="-122"/>
                        </a:rPr>
                        <a:t>LOAD/STORE</a:t>
                      </a:r>
                      <a:r>
                        <a:rPr kumimoji="0" lang="zh-CN" altLang="en-US" sz="2000" b="0" i="0" u="none" strike="noStrike" cap="none" normalizeH="0" baseline="0" smtClean="0">
                          <a:ln>
                            <a:noFill/>
                          </a:ln>
                          <a:solidFill>
                            <a:schemeClr val="tx1"/>
                          </a:solidFill>
                          <a:effectLst/>
                          <a:latin typeface="宋体" pitchFamily="2" charset="-122"/>
                          <a:ea typeface="宋体" pitchFamily="2" charset="-122"/>
                        </a:rPr>
                        <a:t>指令</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各种指令使用频率</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相差很大</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相差不大</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各种指令执行时间</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相差很大</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绝大多数在一个周期内完成</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优化编译实现</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很难</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较容易</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程序源代码长度</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较短</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较长</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控制器实现方式</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绝大多数为微程序控制</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绝大多数为硬连线控制</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3962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软件系统开发时间</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较短</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宋体" pitchFamily="2" charset="-122"/>
                          <a:ea typeface="宋体" pitchFamily="2" charset="-122"/>
                        </a:rPr>
                        <a:t>较长</a:t>
                      </a: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bl>
          </a:graphicData>
        </a:graphic>
      </p:graphicFrame>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itchFamily="2" charset="2"/>
              <a:buChar char="l"/>
            </a:pPr>
            <a:endParaRPr lang="zh-CN" altLang="zh-CN" sz="2000"/>
          </a:p>
        </p:txBody>
      </p:sp>
      <p:sp>
        <p:nvSpPr>
          <p:cNvPr id="4" name="Rectangle 5"/>
          <p:cNvSpPr>
            <a:spLocks noChangeArrowheads="1"/>
          </p:cNvSpPr>
          <p:nvPr/>
        </p:nvSpPr>
        <p:spPr bwMode="auto">
          <a:xfrm>
            <a:off x="353118" y="440179"/>
            <a:ext cx="8496945" cy="57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335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a:lnSpc>
                <a:spcPct val="150000"/>
              </a:lnSpc>
              <a:spcAft>
                <a:spcPts val="600"/>
              </a:spcAft>
            </a:pPr>
            <a:r>
              <a:rPr kumimoji="0" lang="zh-CN" altLang="en-US" sz="36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a:t>
            </a:r>
            <a:r>
              <a:rPr kumimoji="0" lang="zh-CN" altLang="en-US" sz="48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作业</a:t>
            </a:r>
            <a:r>
              <a:rPr kumimoji="0" lang="en-US" altLang="zh-CN" sz="4800" b="1" i="0" u="none" strike="noStrike" cap="none" normalizeH="0" baseline="0" dirty="0" smtClean="0">
                <a:ln>
                  <a:noFill/>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6</a:t>
            </a:r>
          </a:p>
          <a:p>
            <a:pPr>
              <a:lnSpc>
                <a:spcPct val="150000"/>
              </a:lnSpc>
            </a:pPr>
            <a:r>
              <a:rPr lang="en-US" altLang="zh-CN" sz="3200" b="0" dirty="0" smtClean="0">
                <a:latin typeface="微软雅黑" panose="020B0503020204020204" pitchFamily="34" charset="-122"/>
                <a:ea typeface="微软雅黑" panose="020B0503020204020204" pitchFamily="34" charset="-122"/>
              </a:rPr>
              <a:t>1</a:t>
            </a:r>
            <a:r>
              <a:rPr lang="en-US" altLang="zh-CN" sz="3200" b="0" dirty="0">
                <a:latin typeface="微软雅黑" panose="020B0503020204020204" pitchFamily="34" charset="-122"/>
                <a:ea typeface="微软雅黑" panose="020B0503020204020204" pitchFamily="34" charset="-122"/>
              </a:rPr>
              <a:t>. </a:t>
            </a:r>
            <a:r>
              <a:rPr lang="zh-CN" altLang="zh-CN" sz="3200" b="0" dirty="0">
                <a:latin typeface="微软雅黑" panose="020B0503020204020204" pitchFamily="34" charset="-122"/>
                <a:ea typeface="微软雅黑" panose="020B0503020204020204" pitchFamily="34" charset="-122"/>
              </a:rPr>
              <a:t>简述</a:t>
            </a:r>
            <a:r>
              <a:rPr lang="en-US" altLang="zh-CN" sz="3200" b="0" dirty="0">
                <a:latin typeface="微软雅黑" panose="020B0503020204020204" pitchFamily="34" charset="-122"/>
                <a:ea typeface="微软雅黑" panose="020B0503020204020204" pitchFamily="34" charset="-122"/>
              </a:rPr>
              <a:t>CPU</a:t>
            </a:r>
            <a:r>
              <a:rPr lang="zh-CN" altLang="zh-CN" sz="3200" b="0" dirty="0">
                <a:latin typeface="微软雅黑" panose="020B0503020204020204" pitchFamily="34" charset="-122"/>
                <a:ea typeface="微软雅黑" panose="020B0503020204020204" pitchFamily="34" charset="-122"/>
              </a:rPr>
              <a:t>的功能和组成。</a:t>
            </a:r>
          </a:p>
          <a:p>
            <a:pPr>
              <a:lnSpc>
                <a:spcPct val="150000"/>
              </a:lnSpc>
            </a:pPr>
            <a:r>
              <a:rPr lang="en-US" altLang="zh-CN" sz="3200" b="0" dirty="0">
                <a:latin typeface="微软雅黑" panose="020B0503020204020204" pitchFamily="34" charset="-122"/>
                <a:ea typeface="微软雅黑" panose="020B0503020204020204" pitchFamily="34" charset="-122"/>
              </a:rPr>
              <a:t>2. </a:t>
            </a:r>
            <a:r>
              <a:rPr lang="zh-CN" altLang="zh-CN" sz="3200" b="0" dirty="0">
                <a:latin typeface="微软雅黑" panose="020B0503020204020204" pitchFamily="34" charset="-122"/>
                <a:ea typeface="微软雅黑" panose="020B0503020204020204" pitchFamily="34" charset="-122"/>
              </a:rPr>
              <a:t>简述微程序设计技术及设计思想。</a:t>
            </a:r>
          </a:p>
          <a:p>
            <a:pPr>
              <a:lnSpc>
                <a:spcPct val="150000"/>
              </a:lnSpc>
            </a:pPr>
            <a:r>
              <a:rPr lang="en-US" altLang="zh-CN" sz="3200" b="0" dirty="0">
                <a:latin typeface="微软雅黑" panose="020B0503020204020204" pitchFamily="34" charset="-122"/>
                <a:ea typeface="微软雅黑" panose="020B0503020204020204" pitchFamily="34" charset="-122"/>
              </a:rPr>
              <a:t>3. </a:t>
            </a:r>
            <a:r>
              <a:rPr lang="zh-CN" altLang="zh-CN" sz="3200" b="0" dirty="0">
                <a:latin typeface="微软雅黑" panose="020B0503020204020204" pitchFamily="34" charset="-122"/>
                <a:ea typeface="微软雅黑" panose="020B0503020204020204" pitchFamily="34" charset="-122"/>
              </a:rPr>
              <a:t>简述水平型微指令的特点。</a:t>
            </a:r>
          </a:p>
          <a:p>
            <a:pPr>
              <a:lnSpc>
                <a:spcPct val="150000"/>
              </a:lnSpc>
            </a:pPr>
            <a:r>
              <a:rPr lang="en-US" altLang="zh-CN" sz="3200" b="0" dirty="0">
                <a:latin typeface="微软雅黑" panose="020B0503020204020204" pitchFamily="34" charset="-122"/>
                <a:ea typeface="微软雅黑" panose="020B0503020204020204" pitchFamily="34" charset="-122"/>
              </a:rPr>
              <a:t>4. </a:t>
            </a:r>
            <a:r>
              <a:rPr lang="zh-CN" altLang="zh-CN" sz="3200" b="0" dirty="0">
                <a:latin typeface="微软雅黑" panose="020B0503020204020204" pitchFamily="34" charset="-122"/>
                <a:ea typeface="微软雅黑" panose="020B0503020204020204" pitchFamily="34" charset="-122"/>
              </a:rPr>
              <a:t>简述垂直型微指令的特点。</a:t>
            </a:r>
            <a:endParaRPr lang="en-US"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5. </a:t>
            </a:r>
            <a:r>
              <a:rPr lang="zh-CN" altLang="zh-CN" sz="3200" b="0" dirty="0">
                <a:latin typeface="微软雅黑" panose="020B0503020204020204" pitchFamily="34" charset="-122"/>
                <a:ea typeface="微软雅黑" panose="020B0503020204020204" pitchFamily="34" charset="-122"/>
              </a:rPr>
              <a:t>简述水平型微指令和垂直型微指令的比较。</a:t>
            </a:r>
            <a:endParaRPr lang="en-US" altLang="zh-CN" sz="3200" b="0" dirty="0">
              <a:latin typeface="微软雅黑" panose="020B0503020204020204" pitchFamily="34" charset="-122"/>
              <a:ea typeface="微软雅黑" panose="020B0503020204020204" pitchFamily="34" charset="-122"/>
            </a:endParaRPr>
          </a:p>
          <a:p>
            <a:pPr>
              <a:lnSpc>
                <a:spcPct val="150000"/>
              </a:lnSpc>
            </a:pPr>
            <a:r>
              <a:rPr lang="en-US" altLang="zh-CN" sz="3200" b="0" dirty="0">
                <a:latin typeface="微软雅黑" panose="020B0503020204020204" pitchFamily="34" charset="-122"/>
                <a:ea typeface="微软雅黑" panose="020B0503020204020204" pitchFamily="34" charset="-122"/>
              </a:rPr>
              <a:t>6. </a:t>
            </a:r>
            <a:r>
              <a:rPr lang="zh-CN" altLang="zh-CN" sz="3200" b="0" dirty="0">
                <a:latin typeface="微软雅黑" panose="020B0503020204020204" pitchFamily="34" charset="-122"/>
                <a:ea typeface="微软雅黑" panose="020B0503020204020204" pitchFamily="34" charset="-122"/>
              </a:rPr>
              <a:t>简述</a:t>
            </a:r>
            <a:r>
              <a:rPr lang="en-US" altLang="zh-CN" sz="3200" b="0" dirty="0">
                <a:latin typeface="微软雅黑" panose="020B0503020204020204" pitchFamily="34" charset="-122"/>
                <a:ea typeface="微软雅黑" panose="020B0503020204020204" pitchFamily="34" charset="-122"/>
              </a:rPr>
              <a:t>RISC</a:t>
            </a:r>
            <a:r>
              <a:rPr lang="zh-CN" altLang="zh-CN" sz="3200" b="0" dirty="0">
                <a:latin typeface="微软雅黑" panose="020B0503020204020204" pitchFamily="34" charset="-122"/>
                <a:ea typeface="微软雅黑" panose="020B0503020204020204" pitchFamily="34" charset="-122"/>
              </a:rPr>
              <a:t>的三个要素</a:t>
            </a:r>
            <a:r>
              <a:rPr lang="zh-CN" altLang="zh-CN" sz="3200" b="0" dirty="0" smtClean="0">
                <a:latin typeface="微软雅黑" panose="020B0503020204020204" pitchFamily="34" charset="-122"/>
                <a:ea typeface="微软雅黑" panose="020B0503020204020204" pitchFamily="34" charset="-122"/>
              </a:rPr>
              <a:t>。</a:t>
            </a:r>
            <a:endParaRPr kumimoji="0" lang="en-US" altLang="zh-CN" sz="32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708938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p:cNvSpPr/>
          <p:nvPr/>
        </p:nvSpPr>
        <p:spPr>
          <a:xfrm>
            <a:off x="160398" y="98217"/>
            <a:ext cx="8861240" cy="6673045"/>
          </a:xfrm>
          <a:prstGeom prst="rect">
            <a:avLst/>
          </a:prstGeom>
          <a:solidFill>
            <a:schemeClr val="bg1"/>
          </a:solidFill>
        </p:spPr>
        <p:txBody>
          <a:bodyPr wrap="square">
            <a:spAutoFit/>
          </a:bodyPr>
          <a:lstStyle/>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1. </a:t>
            </a:r>
            <a:r>
              <a:rPr lang="zh-CN" altLang="zh-CN" sz="1200" b="0" dirty="0">
                <a:solidFill>
                  <a:schemeClr val="tx1"/>
                </a:solidFill>
                <a:latin typeface="微软雅黑" panose="020B0503020204020204" pitchFamily="34" charset="-122"/>
                <a:ea typeface="微软雅黑" panose="020B0503020204020204" pitchFamily="34" charset="-122"/>
              </a:rPr>
              <a:t>简述</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的功能和组成。</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CPU</a:t>
            </a:r>
            <a:r>
              <a:rPr lang="zh-CN" altLang="zh-CN" sz="1200" b="0" dirty="0">
                <a:solidFill>
                  <a:schemeClr val="tx1"/>
                </a:solidFill>
                <a:latin typeface="微软雅黑" panose="020B0503020204020204" pitchFamily="34" charset="-122"/>
                <a:ea typeface="微软雅黑" panose="020B0503020204020204" pitchFamily="34" charset="-122"/>
              </a:rPr>
              <a:t>是计算机的中央处理部件，具有指令控制、操作控制、时间控制、数据加工等基本功能。 </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早期的</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由运算器和控制器两大部分组成。随着高密度集成电路技术的发展，当今的</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芯片变成运算器、</a:t>
            </a:r>
            <a:r>
              <a:rPr lang="en-US" altLang="zh-CN" sz="1200" b="0" dirty="0">
                <a:solidFill>
                  <a:schemeClr val="tx1"/>
                </a:solidFill>
                <a:latin typeface="微软雅黑" panose="020B0503020204020204" pitchFamily="34" charset="-122"/>
                <a:ea typeface="微软雅黑" panose="020B0503020204020204" pitchFamily="34" charset="-122"/>
              </a:rPr>
              <a:t>cache</a:t>
            </a:r>
            <a:r>
              <a:rPr lang="zh-CN" altLang="zh-CN" sz="1200" b="0" dirty="0">
                <a:solidFill>
                  <a:schemeClr val="tx1"/>
                </a:solidFill>
                <a:latin typeface="微软雅黑" panose="020B0503020204020204" pitchFamily="34" charset="-122"/>
                <a:ea typeface="微软雅黑" panose="020B0503020204020204" pitchFamily="34" charset="-122"/>
              </a:rPr>
              <a:t>和控制器三大部分，其中还包括浮点运算器、存储管理部件等。</a:t>
            </a:r>
            <a:r>
              <a:rPr lang="en-US" altLang="zh-CN" sz="1200" b="0" dirty="0">
                <a:solidFill>
                  <a:schemeClr val="tx1"/>
                </a:solidFill>
                <a:latin typeface="微软雅黑" panose="020B0503020204020204" pitchFamily="34" charset="-122"/>
                <a:ea typeface="微软雅黑" panose="020B0503020204020204" pitchFamily="34" charset="-122"/>
              </a:rPr>
              <a:t>CPU</a:t>
            </a:r>
            <a:r>
              <a:rPr lang="zh-CN" altLang="zh-CN" sz="1200" b="0" dirty="0">
                <a:solidFill>
                  <a:schemeClr val="tx1"/>
                </a:solidFill>
                <a:latin typeface="微软雅黑" panose="020B0503020204020204" pitchFamily="34" charset="-122"/>
                <a:ea typeface="微软雅黑" panose="020B0503020204020204" pitchFamily="34" charset="-122"/>
              </a:rPr>
              <a:t>至少要有如下六类寄存器：指令寄存器、程序计数器、地址寄存器、缓冲寄存器、通用寄存器、状态条件寄存器。 </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2. </a:t>
            </a:r>
            <a:r>
              <a:rPr lang="zh-CN" altLang="zh-CN" sz="1200" b="0" dirty="0">
                <a:solidFill>
                  <a:schemeClr val="tx1"/>
                </a:solidFill>
                <a:latin typeface="微软雅黑" panose="020B0503020204020204" pitchFamily="34" charset="-122"/>
                <a:ea typeface="微软雅黑" panose="020B0503020204020204" pitchFamily="34" charset="-122"/>
              </a:rPr>
              <a:t>简述微程序设计技术及设计思想。</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微程序设计的基本思想是：仿照通常的接替程序的方法，把操作控制信号编成所谓的“微指令”，存放到只读存储器中，当机器运行时，一条一条地读出这些微指令，从而产生全机所需要的各种操作控制信号，使相应的部件执行所规定的操作。</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微程序控制器的设计技术有：</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）微指令编码技术。微指令有水平型微指令和垂直型微指令两种类型；</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2</a:t>
            </a:r>
            <a:r>
              <a:rPr lang="zh-CN" altLang="zh-CN" sz="1200" b="0" dirty="0">
                <a:solidFill>
                  <a:schemeClr val="tx1"/>
                </a:solidFill>
                <a:latin typeface="微软雅黑" panose="020B0503020204020204" pitchFamily="34" charset="-122"/>
                <a:ea typeface="微软雅黑" panose="020B0503020204020204" pitchFamily="34" charset="-122"/>
              </a:rPr>
              <a:t>）微指令流水技术。由于取微指令和执行微指令的操作是在两个完全不同的部件中执行的，因此可以将这两部分在时间上重叠进行；</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）后继地址的确定技术。有计数器方式和断定方式两种。</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3. </a:t>
            </a:r>
            <a:r>
              <a:rPr lang="zh-CN" altLang="zh-CN" sz="1200" b="0" dirty="0">
                <a:solidFill>
                  <a:schemeClr val="tx1"/>
                </a:solidFill>
                <a:latin typeface="微软雅黑" panose="020B0503020204020204" pitchFamily="34" charset="-122"/>
                <a:ea typeface="微软雅黑" panose="020B0503020204020204" pitchFamily="34" charset="-122"/>
              </a:rPr>
              <a:t>简述水平型微指令的特点。</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zh-CN" sz="1200" b="0" dirty="0" smtClean="0">
                <a:solidFill>
                  <a:schemeClr val="tx1"/>
                </a:solidFill>
                <a:latin typeface="微软雅黑" panose="020B0503020204020204" pitchFamily="34" charset="-122"/>
                <a:ea typeface="微软雅黑" panose="020B0503020204020204" pitchFamily="34" charset="-122"/>
              </a:rPr>
              <a:t>优点：</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1</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字较长，速度越快；</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2</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中的微操作有高度的并行性；</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3</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微指令</a:t>
            </a:r>
            <a:r>
              <a:rPr lang="zh-CN" altLang="zh-CN" sz="1200" b="0" dirty="0">
                <a:solidFill>
                  <a:schemeClr val="tx1"/>
                </a:solidFill>
                <a:latin typeface="微软雅黑" panose="020B0503020204020204" pitchFamily="34" charset="-122"/>
                <a:ea typeface="微软雅黑" panose="020B0503020204020204" pitchFamily="34" charset="-122"/>
              </a:rPr>
              <a:t>译码简单；</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      </a:t>
            </a: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4</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zh-CN" sz="1200" b="0" dirty="0" smtClean="0">
                <a:solidFill>
                  <a:schemeClr val="tx1"/>
                </a:solidFill>
                <a:latin typeface="微软雅黑" panose="020B0503020204020204" pitchFamily="34" charset="-122"/>
                <a:ea typeface="微软雅黑" panose="020B0503020204020204" pitchFamily="34" charset="-122"/>
              </a:rPr>
              <a:t>控制</a:t>
            </a:r>
            <a:r>
              <a:rPr lang="zh-CN" altLang="zh-CN" sz="1200" b="0" dirty="0">
                <a:solidFill>
                  <a:schemeClr val="tx1"/>
                </a:solidFill>
                <a:latin typeface="微软雅黑" panose="020B0503020204020204" pitchFamily="34" charset="-122"/>
                <a:ea typeface="微软雅黑" panose="020B0503020204020204" pitchFamily="34" charset="-122"/>
              </a:rPr>
              <a:t>存储器的纵向容量小，灵活性强。</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zh-CN" altLang="zh-CN" sz="1200" b="0" dirty="0" smtClean="0">
                <a:solidFill>
                  <a:schemeClr val="tx1"/>
                </a:solidFill>
                <a:latin typeface="微软雅黑" panose="020B0503020204020204" pitchFamily="34" charset="-122"/>
                <a:ea typeface="微软雅黑" panose="020B0503020204020204" pitchFamily="34" charset="-122"/>
              </a:rPr>
              <a:t>缺点</a:t>
            </a:r>
            <a:r>
              <a:rPr lang="zh-CN" altLang="zh-CN" sz="1200" b="0" dirty="0">
                <a:solidFill>
                  <a:schemeClr val="tx1"/>
                </a:solidFill>
                <a:latin typeface="微软雅黑" panose="020B0503020204020204" pitchFamily="34" charset="-122"/>
                <a:ea typeface="微软雅黑" panose="020B0503020204020204" pitchFamily="34" charset="-122"/>
              </a:rPr>
              <a:t>：微指令字比较长，明显地增加了控制存储器的横向容量</a:t>
            </a:r>
            <a:r>
              <a:rPr lang="zh-CN" altLang="zh-CN" sz="1200" b="0" dirty="0" smtClean="0">
                <a:solidFill>
                  <a:schemeClr val="tx1"/>
                </a:solidFill>
                <a:latin typeface="微软雅黑" panose="020B0503020204020204" pitchFamily="34" charset="-122"/>
                <a:ea typeface="微软雅黑" panose="020B0503020204020204" pitchFamily="34" charset="-122"/>
              </a:rPr>
              <a:t>。</a:t>
            </a:r>
            <a:endParaRPr lang="zh-CN" altLang="zh-CN" sz="1200" b="0" dirty="0">
              <a:solidFill>
                <a:schemeClr val="tx1"/>
              </a:solidFill>
              <a:latin typeface="微软雅黑" panose="020B0503020204020204" pitchFamily="34" charset="-122"/>
              <a:ea typeface="微软雅黑" panose="020B0503020204020204" pitchFamily="34" charset="-122"/>
            </a:endParaRP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4. </a:t>
            </a:r>
            <a:r>
              <a:rPr lang="zh-CN" altLang="zh-CN" sz="1200" b="0" dirty="0">
                <a:solidFill>
                  <a:schemeClr val="tx1"/>
                </a:solidFill>
                <a:latin typeface="微软雅黑" panose="020B0503020204020204" pitchFamily="34" charset="-122"/>
                <a:ea typeface="微软雅黑" panose="020B0503020204020204" pitchFamily="34" charset="-122"/>
              </a:rPr>
              <a:t>简述垂直型微指令的特点。</a:t>
            </a: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1</a:t>
            </a:r>
            <a:r>
              <a:rPr lang="zh-CN" altLang="en-US" sz="1200" b="0" dirty="0" smtClean="0">
                <a:solidFill>
                  <a:schemeClr val="tx1"/>
                </a:solidFill>
                <a:latin typeface="微软雅黑" panose="020B0503020204020204" pitchFamily="34" charset="-122"/>
                <a:ea typeface="微软雅黑" panose="020B0503020204020204" pitchFamily="34" charset="-122"/>
              </a:rPr>
              <a:t>）微指令</a:t>
            </a:r>
            <a:r>
              <a:rPr lang="zh-CN" altLang="en-US" sz="1200" b="0" dirty="0">
                <a:solidFill>
                  <a:schemeClr val="tx1"/>
                </a:solidFill>
                <a:latin typeface="微软雅黑" panose="020B0503020204020204" pitchFamily="34" charset="-122"/>
                <a:ea typeface="微软雅黑" panose="020B0503020204020204" pitchFamily="34" charset="-122"/>
              </a:rPr>
              <a:t>字</a:t>
            </a:r>
            <a:r>
              <a:rPr lang="zh-CN" altLang="en-US" sz="1200" b="0" dirty="0" smtClean="0">
                <a:solidFill>
                  <a:schemeClr val="tx1"/>
                </a:solidFill>
                <a:latin typeface="微软雅黑" panose="020B0503020204020204" pitchFamily="34" charset="-122"/>
                <a:ea typeface="微软雅黑" panose="020B0503020204020204" pitchFamily="34" charset="-122"/>
              </a:rPr>
              <a:t>短，并行</a:t>
            </a:r>
            <a:r>
              <a:rPr lang="zh-CN" altLang="en-US" sz="1200" b="0" dirty="0">
                <a:solidFill>
                  <a:schemeClr val="tx1"/>
                </a:solidFill>
                <a:latin typeface="微软雅黑" panose="020B0503020204020204" pitchFamily="34" charset="-122"/>
                <a:ea typeface="微软雅黑" panose="020B0503020204020204" pitchFamily="34" charset="-122"/>
              </a:rPr>
              <a:t>微操作能力有限，一条微指令一般只包含一个微操作</a:t>
            </a:r>
            <a:r>
              <a:rPr lang="zh-CN" altLang="en-US" sz="1200" b="0" dirty="0" smtClean="0">
                <a:solidFill>
                  <a:schemeClr val="tx1"/>
                </a:solidFill>
                <a:latin typeface="微软雅黑" panose="020B0503020204020204" pitchFamily="34" charset="-122"/>
                <a:ea typeface="微软雅黑" panose="020B0503020204020204" pitchFamily="34" charset="-122"/>
              </a:rPr>
              <a:t>命令；  </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2</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垂直微指令产生微命令要经过译码</a:t>
            </a: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微指令译码比较</a:t>
            </a:r>
            <a:r>
              <a:rPr lang="zh-CN" altLang="en-US" sz="1200" b="0" dirty="0" smtClean="0">
                <a:solidFill>
                  <a:schemeClr val="tx1"/>
                </a:solidFill>
                <a:latin typeface="微软雅黑" panose="020B0503020204020204" pitchFamily="34" charset="-122"/>
                <a:ea typeface="微软雅黑" panose="020B0503020204020204" pitchFamily="34" charset="-122"/>
              </a:rPr>
              <a:t>复杂，微程序</a:t>
            </a:r>
            <a:r>
              <a:rPr lang="zh-CN" altLang="en-US" sz="1200" b="0" dirty="0">
                <a:solidFill>
                  <a:schemeClr val="tx1"/>
                </a:solidFill>
                <a:latin typeface="微软雅黑" panose="020B0503020204020204" pitchFamily="34" charset="-122"/>
                <a:ea typeface="微软雅黑" panose="020B0503020204020204" pitchFamily="34" charset="-122"/>
              </a:rPr>
              <a:t>执行速度</a:t>
            </a:r>
            <a:r>
              <a:rPr lang="zh-CN" altLang="en-US" sz="1200" b="0" dirty="0" smtClean="0">
                <a:solidFill>
                  <a:schemeClr val="tx1"/>
                </a:solidFill>
                <a:latin typeface="微软雅黑" panose="020B0503020204020204" pitchFamily="34" charset="-122"/>
                <a:ea typeface="微软雅黑" panose="020B0503020204020204" pitchFamily="34" charset="-122"/>
              </a:rPr>
              <a:t>慢；</a:t>
            </a:r>
            <a:endParaRPr lang="zh-CN" altLang="en-US" sz="1200" b="0" dirty="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3</a:t>
            </a:r>
            <a:r>
              <a:rPr lang="zh-CN" altLang="en-US" sz="1200" b="0" dirty="0" smtClean="0">
                <a:solidFill>
                  <a:schemeClr val="tx1"/>
                </a:solidFill>
                <a:latin typeface="微软雅黑" panose="020B0503020204020204" pitchFamily="34" charset="-122"/>
                <a:ea typeface="微软雅黑" panose="020B0503020204020204" pitchFamily="34" charset="-122"/>
              </a:rPr>
              <a:t>）便于</a:t>
            </a:r>
            <a:r>
              <a:rPr lang="zh-CN" altLang="en-US" sz="1200" b="0" dirty="0">
                <a:solidFill>
                  <a:schemeClr val="tx1"/>
                </a:solidFill>
                <a:latin typeface="微软雅黑" panose="020B0503020204020204" pitchFamily="34" charset="-122"/>
                <a:ea typeface="微软雅黑" panose="020B0503020204020204" pitchFamily="34" charset="-122"/>
              </a:rPr>
              <a:t>用户编制微程序。而且，编制的微程序规整、直观，便于实现设计的</a:t>
            </a:r>
            <a:r>
              <a:rPr lang="zh-CN" altLang="en-US" sz="1200" b="0" dirty="0" smtClean="0">
                <a:solidFill>
                  <a:schemeClr val="tx1"/>
                </a:solidFill>
                <a:latin typeface="微软雅黑" panose="020B0503020204020204" pitchFamily="34" charset="-122"/>
                <a:ea typeface="微软雅黑" panose="020B0503020204020204" pitchFamily="34" charset="-122"/>
              </a:rPr>
              <a:t>自动化；</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4</a:t>
            </a:r>
            <a:r>
              <a:rPr lang="zh-CN" altLang="en-US" sz="1200" b="0" dirty="0" smtClean="0">
                <a:solidFill>
                  <a:schemeClr val="tx1"/>
                </a:solidFill>
                <a:latin typeface="微软雅黑" panose="020B0503020204020204" pitchFamily="34" charset="-122"/>
                <a:ea typeface="微软雅黑" panose="020B0503020204020204" pitchFamily="34" charset="-122"/>
              </a:rPr>
              <a:t>）垂直</a:t>
            </a:r>
            <a:r>
              <a:rPr lang="zh-CN" altLang="en-US" sz="1200" b="0" dirty="0">
                <a:solidFill>
                  <a:schemeClr val="tx1"/>
                </a:solidFill>
                <a:latin typeface="微软雅黑" panose="020B0503020204020204" pitchFamily="34" charset="-122"/>
                <a:ea typeface="微软雅黑" panose="020B0503020204020204" pitchFamily="34" charset="-122"/>
              </a:rPr>
              <a:t>微指令字较短，使控制存储器的横向容量</a:t>
            </a:r>
            <a:r>
              <a:rPr lang="zh-CN" altLang="en-US" sz="1200" b="0" dirty="0" smtClean="0">
                <a:solidFill>
                  <a:schemeClr val="tx1"/>
                </a:solidFill>
                <a:latin typeface="微软雅黑" panose="020B0503020204020204" pitchFamily="34" charset="-122"/>
                <a:ea typeface="微软雅黑" panose="020B0503020204020204" pitchFamily="34" charset="-122"/>
              </a:rPr>
              <a:t>少，用垂直</a:t>
            </a:r>
            <a:r>
              <a:rPr lang="zh-CN" altLang="en-US" sz="1200" b="0" dirty="0">
                <a:solidFill>
                  <a:schemeClr val="tx1"/>
                </a:solidFill>
                <a:latin typeface="微软雅黑" panose="020B0503020204020204" pitchFamily="34" charset="-122"/>
                <a:ea typeface="微软雅黑" panose="020B0503020204020204" pitchFamily="34" charset="-122"/>
              </a:rPr>
              <a:t>微指令编制微程序要使用较多的微指令，微程序较长</a:t>
            </a:r>
            <a:r>
              <a:rPr lang="zh-CN" altLang="en-US" sz="1200" b="0" dirty="0" smtClean="0">
                <a:solidFill>
                  <a:schemeClr val="tx1"/>
                </a:solidFill>
                <a:latin typeface="微软雅黑" panose="020B0503020204020204" pitchFamily="34" charset="-122"/>
                <a:ea typeface="微软雅黑" panose="020B0503020204020204" pitchFamily="34" charset="-122"/>
              </a:rPr>
              <a:t>；</a:t>
            </a:r>
            <a:endParaRPr lang="en-US" altLang="zh-CN" sz="1200" b="0" dirty="0" smtClean="0">
              <a:solidFill>
                <a:schemeClr val="tx1"/>
              </a:solidFill>
              <a:latin typeface="微软雅黑" panose="020B0503020204020204" pitchFamily="34" charset="-122"/>
              <a:ea typeface="微软雅黑" panose="020B0503020204020204" pitchFamily="34" charset="-122"/>
            </a:endParaRPr>
          </a:p>
          <a:p>
            <a:pPr eaLnBrk="1" hangingPunct="1">
              <a:lnSpc>
                <a:spcPct val="105000"/>
              </a:lnSpc>
            </a:pPr>
            <a:r>
              <a:rPr lang="zh-CN" altLang="en-US" sz="1200" b="0" dirty="0" smtClean="0">
                <a:solidFill>
                  <a:schemeClr val="tx1"/>
                </a:solidFill>
                <a:latin typeface="微软雅黑" panose="020B0503020204020204" pitchFamily="34" charset="-122"/>
                <a:ea typeface="微软雅黑" panose="020B0503020204020204" pitchFamily="34" charset="-122"/>
              </a:rPr>
              <a:t>（</a:t>
            </a:r>
            <a:r>
              <a:rPr lang="en-US" altLang="zh-CN" sz="1200" b="0" dirty="0" smtClean="0">
                <a:solidFill>
                  <a:schemeClr val="tx1"/>
                </a:solidFill>
                <a:latin typeface="微软雅黑" panose="020B0503020204020204" pitchFamily="34" charset="-122"/>
                <a:ea typeface="微软雅黑" panose="020B0503020204020204" pitchFamily="34" charset="-122"/>
              </a:rPr>
              <a:t>5</a:t>
            </a:r>
            <a:r>
              <a:rPr lang="zh-CN" altLang="en-US" sz="1200" b="0" dirty="0" smtClean="0">
                <a:solidFill>
                  <a:schemeClr val="tx1"/>
                </a:solidFill>
                <a:latin typeface="微软雅黑" panose="020B0503020204020204" pitchFamily="34" charset="-122"/>
                <a:ea typeface="微软雅黑" panose="020B0503020204020204" pitchFamily="34" charset="-122"/>
              </a:rPr>
              <a:t>）不能</a:t>
            </a:r>
            <a:r>
              <a:rPr lang="zh-CN" altLang="en-US" sz="1200" b="0" dirty="0">
                <a:solidFill>
                  <a:schemeClr val="tx1"/>
                </a:solidFill>
                <a:latin typeface="微软雅黑" panose="020B0503020204020204" pitchFamily="34" charset="-122"/>
                <a:ea typeface="微软雅黑" panose="020B0503020204020204" pitchFamily="34" charset="-122"/>
              </a:rPr>
              <a:t>充分利用数据通路具有的多种并行操作能力。</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5</a:t>
            </a:r>
            <a:r>
              <a:rPr lang="en-US" altLang="zh-CN" sz="1200" b="0" dirty="0">
                <a:solidFill>
                  <a:schemeClr val="tx1"/>
                </a:solidFill>
                <a:latin typeface="微软雅黑" panose="020B0503020204020204" pitchFamily="34" charset="-122"/>
                <a:ea typeface="微软雅黑" panose="020B0503020204020204" pitchFamily="34" charset="-122"/>
              </a:rPr>
              <a:t>. </a:t>
            </a:r>
            <a:r>
              <a:rPr lang="zh-CN" altLang="zh-CN" sz="1200" b="0" dirty="0">
                <a:solidFill>
                  <a:schemeClr val="tx1"/>
                </a:solidFill>
                <a:latin typeface="微软雅黑" panose="020B0503020204020204" pitchFamily="34" charset="-122"/>
                <a:ea typeface="微软雅黑" panose="020B0503020204020204" pitchFamily="34" charset="-122"/>
              </a:rPr>
              <a:t>简述水平型微指令和垂直型微指令的比较。</a:t>
            </a: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）水平型微指令并行操作能力强，效率高，灵活性强，垂直型微指令则较差；</a:t>
            </a: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2</a:t>
            </a:r>
            <a:r>
              <a:rPr lang="zh-CN" altLang="zh-CN" sz="1200" b="0" dirty="0">
                <a:solidFill>
                  <a:schemeClr val="tx1"/>
                </a:solidFill>
                <a:latin typeface="微软雅黑" panose="020B0503020204020204" pitchFamily="34" charset="-122"/>
                <a:ea typeface="微软雅黑" panose="020B0503020204020204" pitchFamily="34" charset="-122"/>
              </a:rPr>
              <a:t>）水平型微指令执行一条指令的时间短，垂直型微指令执行时间长；</a:t>
            </a: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）由水平型微指令解释指令的微程序，有微指令字较长而微程序短的特点。垂直型微指令则相反；</a:t>
            </a:r>
          </a:p>
          <a:p>
            <a:pPr>
              <a:lnSpc>
                <a:spcPct val="105000"/>
              </a:lnSpc>
            </a:pPr>
            <a:r>
              <a:rPr lang="zh-CN" altLang="zh-CN" sz="1200" b="0" dirty="0">
                <a:solidFill>
                  <a:schemeClr val="tx1"/>
                </a:solidFill>
                <a:latin typeface="微软雅黑" panose="020B0503020204020204" pitchFamily="34" charset="-122"/>
                <a:ea typeface="微软雅黑" panose="020B0503020204020204" pitchFamily="34" charset="-122"/>
              </a:rPr>
              <a:t>（</a:t>
            </a:r>
            <a:r>
              <a:rPr lang="en-US" altLang="zh-CN" sz="1200" b="0" dirty="0">
                <a:solidFill>
                  <a:schemeClr val="tx1"/>
                </a:solidFill>
                <a:latin typeface="微软雅黑" panose="020B0503020204020204" pitchFamily="34" charset="-122"/>
                <a:ea typeface="微软雅黑" panose="020B0503020204020204" pitchFamily="34" charset="-122"/>
              </a:rPr>
              <a:t>4</a:t>
            </a:r>
            <a:r>
              <a:rPr lang="zh-CN" altLang="zh-CN" sz="1200" b="0" dirty="0">
                <a:solidFill>
                  <a:schemeClr val="tx1"/>
                </a:solidFill>
                <a:latin typeface="微软雅黑" panose="020B0503020204020204" pitchFamily="34" charset="-122"/>
                <a:ea typeface="微软雅黑" panose="020B0503020204020204" pitchFamily="34" charset="-122"/>
              </a:rPr>
              <a:t>）水平型微指令用户难以掌握，而垂直型微指令与指令比较相似，相对来说，比较容易掌握。</a:t>
            </a:r>
          </a:p>
          <a:p>
            <a:pPr>
              <a:lnSpc>
                <a:spcPct val="105000"/>
              </a:lnSpc>
            </a:pPr>
            <a:r>
              <a:rPr lang="en-US" altLang="zh-CN" sz="1200" b="0" dirty="0">
                <a:solidFill>
                  <a:schemeClr val="tx1"/>
                </a:solidFill>
                <a:latin typeface="微软雅黑" panose="020B0503020204020204" pitchFamily="34" charset="-122"/>
                <a:ea typeface="微软雅黑" panose="020B0503020204020204" pitchFamily="34" charset="-122"/>
              </a:rPr>
              <a:t>6. </a:t>
            </a:r>
            <a:r>
              <a:rPr lang="zh-CN" altLang="zh-CN" sz="1200" b="0" dirty="0">
                <a:solidFill>
                  <a:schemeClr val="tx1"/>
                </a:solidFill>
                <a:latin typeface="微软雅黑" panose="020B0503020204020204" pitchFamily="34" charset="-122"/>
                <a:ea typeface="微软雅黑" panose="020B0503020204020204" pitchFamily="34" charset="-122"/>
              </a:rPr>
              <a:t>简述</a:t>
            </a:r>
            <a:r>
              <a:rPr lang="en-US" altLang="zh-CN" sz="1200" b="0" dirty="0">
                <a:solidFill>
                  <a:schemeClr val="tx1"/>
                </a:solidFill>
                <a:latin typeface="微软雅黑" panose="020B0503020204020204" pitchFamily="34" charset="-122"/>
                <a:ea typeface="微软雅黑" panose="020B0503020204020204" pitchFamily="34" charset="-122"/>
              </a:rPr>
              <a:t>RISC</a:t>
            </a:r>
            <a:r>
              <a:rPr lang="zh-CN" altLang="zh-CN" sz="1200" b="0" dirty="0">
                <a:solidFill>
                  <a:schemeClr val="tx1"/>
                </a:solidFill>
                <a:latin typeface="微软雅黑" panose="020B0503020204020204" pitchFamily="34" charset="-122"/>
                <a:ea typeface="微软雅黑" panose="020B0503020204020204" pitchFamily="34" charset="-122"/>
              </a:rPr>
              <a:t>的三个要素。</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1)</a:t>
            </a:r>
            <a:r>
              <a:rPr lang="zh-CN" altLang="zh-CN" sz="1200" b="0" dirty="0">
                <a:solidFill>
                  <a:schemeClr val="tx1"/>
                </a:solidFill>
                <a:latin typeface="微软雅黑" panose="020B0503020204020204" pitchFamily="34" charset="-122"/>
                <a:ea typeface="微软雅黑" panose="020B0503020204020204" pitchFamily="34" charset="-122"/>
              </a:rPr>
              <a:t>一个有限的简单的指令集；</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2)CPU</a:t>
            </a:r>
            <a:r>
              <a:rPr lang="zh-CN" altLang="zh-CN" sz="1200" b="0" dirty="0">
                <a:solidFill>
                  <a:schemeClr val="tx1"/>
                </a:solidFill>
                <a:latin typeface="微软雅黑" panose="020B0503020204020204" pitchFamily="34" charset="-122"/>
                <a:ea typeface="微软雅黑" panose="020B0503020204020204" pitchFamily="34" charset="-122"/>
              </a:rPr>
              <a:t>配备大量的通用寄存器；</a:t>
            </a:r>
          </a:p>
          <a:p>
            <a:pPr>
              <a:lnSpc>
                <a:spcPct val="105000"/>
              </a:lnSpc>
            </a:pPr>
            <a:r>
              <a:rPr lang="en-US" altLang="zh-CN" sz="1200" b="0" dirty="0" smtClean="0">
                <a:solidFill>
                  <a:schemeClr val="tx1"/>
                </a:solidFill>
                <a:latin typeface="微软雅黑" panose="020B0503020204020204" pitchFamily="34" charset="-122"/>
                <a:ea typeface="微软雅黑" panose="020B0503020204020204" pitchFamily="34" charset="-122"/>
              </a:rPr>
              <a:t>   (</a:t>
            </a:r>
            <a:r>
              <a:rPr lang="en-US" altLang="zh-CN" sz="1200" b="0" dirty="0">
                <a:solidFill>
                  <a:schemeClr val="tx1"/>
                </a:solidFill>
                <a:latin typeface="微软雅黑" panose="020B0503020204020204" pitchFamily="34" charset="-122"/>
                <a:ea typeface="微软雅黑" panose="020B0503020204020204" pitchFamily="34" charset="-122"/>
              </a:rPr>
              <a:t>3)</a:t>
            </a:r>
            <a:r>
              <a:rPr lang="zh-CN" altLang="zh-CN" sz="1200" b="0" dirty="0">
                <a:solidFill>
                  <a:schemeClr val="tx1"/>
                </a:solidFill>
                <a:latin typeface="微软雅黑" panose="020B0503020204020204" pitchFamily="34" charset="-122"/>
                <a:ea typeface="微软雅黑" panose="020B0503020204020204" pitchFamily="34" charset="-122"/>
              </a:rPr>
              <a:t>强调对指令流水线的优化</a:t>
            </a:r>
            <a:r>
              <a:rPr lang="zh-CN" altLang="zh-CN" sz="1200" b="0" dirty="0" smtClean="0">
                <a:solidFill>
                  <a:schemeClr val="tx1"/>
                </a:solidFill>
                <a:latin typeface="微软雅黑" panose="020B0503020204020204" pitchFamily="34" charset="-122"/>
                <a:ea typeface="微软雅黑" panose="020B0503020204020204" pitchFamily="34" charset="-122"/>
              </a:rPr>
              <a:t>。</a:t>
            </a:r>
            <a:endParaRPr lang="zh-CN" altLang="zh-CN" sz="12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8100" cap="sq">
          <a:solidFill>
            <a:srgbClr val="2BCB23"/>
          </a:solidFill>
          <a:round/>
          <a:headEnd type="none" w="sm" len="sm"/>
          <a:tailEnd type="none" w="sm" len="sm"/>
        </a:ln>
      </a:spPr>
      <a:bodyPr wrap="none"/>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rgbClr val="FF3300"/>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14900</TotalTime>
  <Words>15015</Words>
  <Application>Microsoft Office PowerPoint</Application>
  <PresentationFormat>全屏显示(4:3)</PresentationFormat>
  <Paragraphs>1318</Paragraphs>
  <Slides>152</Slides>
  <Notes>19</Notes>
  <HiddenSlides>10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152</vt:i4>
      </vt:variant>
    </vt:vector>
  </HeadingPairs>
  <TitlesOfParts>
    <vt:vector size="154" baseType="lpstr">
      <vt:lpstr>Network</vt:lpstr>
      <vt:lpstr>位图图像</vt:lpstr>
      <vt:lpstr>第五章   中央处理机</vt:lpstr>
      <vt:lpstr>PowerPoint 演示文稿</vt:lpstr>
      <vt:lpstr>5.1  CPU的功能和组成</vt:lpstr>
      <vt:lpstr>2、CPU的基本组成</vt:lpstr>
      <vt:lpstr>3、CPU中的主要寄存器</vt:lpstr>
      <vt:lpstr>PowerPoint 演示文稿</vt:lpstr>
      <vt:lpstr>PowerPoint 演示文稿</vt:lpstr>
      <vt:lpstr>PowerPoint 演示文稿</vt:lpstr>
      <vt:lpstr>PowerPoint 演示文稿</vt:lpstr>
      <vt:lpstr>5.2  指令周期</vt:lpstr>
      <vt:lpstr>PowerPoint 演示文稿</vt:lpstr>
      <vt:lpstr>PowerPoint 演示文稿</vt:lpstr>
      <vt:lpstr>5.2.2 MOV指令的指令周期        MOV R0，R1 （RR型指令）</vt:lpstr>
      <vt:lpstr>PowerPoint 演示文稿</vt:lpstr>
      <vt:lpstr>PowerPoint 演示文稿</vt:lpstr>
      <vt:lpstr>5.2.3 LAD指令的指令周期       LAD R1，6 （RS型指令）</vt:lpstr>
      <vt:lpstr>5.2.3 LAD指令 - 执行周期（6）→ R1</vt:lpstr>
      <vt:lpstr>5.2.4 ADD指令的指令周期       ADD R1，R2 （RR型指令）</vt:lpstr>
      <vt:lpstr>PowerPoint 演示文稿</vt:lpstr>
      <vt:lpstr>5.2.5 STO指令的指令周期       STO R2，(R3) （RS型指令）</vt:lpstr>
      <vt:lpstr>PowerPoint 演示文稿</vt:lpstr>
      <vt:lpstr>5.2.6 JMP指令的指令周期       JMP 101</vt:lpstr>
      <vt:lpstr>PowerPoint 演示文稿</vt:lpstr>
      <vt:lpstr>PowerPoint 演示文稿</vt:lpstr>
      <vt:lpstr>5.2.7 用方框图语言表示的指令周期</vt:lpstr>
      <vt:lpstr>PowerPoint 演示文稿</vt:lpstr>
      <vt:lpstr>5.2.7 方框图表示指令周期</vt:lpstr>
      <vt:lpstr>PowerPoint 演示文稿</vt:lpstr>
      <vt:lpstr>PowerPoint 演示文稿</vt:lpstr>
      <vt:lpstr>总结：</vt:lpstr>
      <vt:lpstr>PowerPoint 演示文稿</vt:lpstr>
      <vt:lpstr>PowerPoint 演示文稿</vt:lpstr>
      <vt:lpstr>PowerPoint 演示文稿</vt:lpstr>
      <vt:lpstr>PowerPoint 演示文稿</vt:lpstr>
      <vt:lpstr>PowerPoint 演示文稿</vt:lpstr>
      <vt:lpstr>PowerPoint 演示文稿</vt:lpstr>
      <vt:lpstr>5.3  时序产生器和控制方式</vt:lpstr>
      <vt:lpstr>5.3.1、时序产生器作用和体制</vt:lpstr>
      <vt:lpstr>PowerPoint 演示文稿</vt:lpstr>
      <vt:lpstr>PowerPoint 演示文稿</vt:lpstr>
      <vt:lpstr>PowerPoint 演示文稿</vt:lpstr>
      <vt:lpstr>5.3.2  时序信号产生器</vt:lpstr>
      <vt:lpstr>PowerPoint 演示文稿</vt:lpstr>
      <vt:lpstr></vt:lpstr>
      <vt:lpstr>二、环形脉冲发生器</vt:lpstr>
      <vt:lpstr>四、节拍脉冲和读/写时序的编码</vt:lpstr>
      <vt:lpstr>五、启停控制逻辑</vt:lpstr>
      <vt:lpstr>PowerPoint 演示文稿</vt:lpstr>
      <vt:lpstr>5.3.3  控制方式</vt:lpstr>
      <vt:lpstr>5.3.3  控制方式</vt:lpstr>
      <vt:lpstr>PowerPoint 演示文稿</vt:lpstr>
      <vt:lpstr>PowerPoint 演示文稿</vt:lpstr>
      <vt:lpstr>5.4  微程序控制器</vt:lpstr>
      <vt:lpstr>PowerPoint 演示文稿</vt:lpstr>
      <vt:lpstr>5.4.1 微程序控制原理 1. 微命令和微操作</vt:lpstr>
      <vt:lpstr>5.4.1 微程序控制原理</vt:lpstr>
      <vt:lpstr>PowerPoint 演示文稿</vt:lpstr>
      <vt:lpstr>5.4.1 微程序控制原理</vt:lpstr>
      <vt:lpstr>PowerPoint 演示文稿</vt:lpstr>
      <vt:lpstr>PowerPoint 演示文稿</vt:lpstr>
      <vt:lpstr>5.4.1 微程序控制原理</vt:lpstr>
      <vt:lpstr>PowerPoint 演示文稿</vt:lpstr>
      <vt:lpstr>PowerPoint 演示文稿</vt:lpstr>
      <vt:lpstr>PowerPoint 演示文稿</vt:lpstr>
      <vt:lpstr>PowerPoint 演示文稿</vt:lpstr>
      <vt:lpstr>PowerPoint 演示文稿</vt:lpstr>
      <vt:lpstr>5.4.1 微程序控制原理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5.4.2  微程序设计技术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 流水CPU</vt:lpstr>
      <vt:lpstr>5.6  流水CPU</vt:lpstr>
      <vt:lpstr>PowerPoint 演示文稿</vt:lpstr>
      <vt:lpstr>PowerPoint 演示文稿</vt:lpstr>
      <vt:lpstr>PowerPoint 演示文稿</vt:lpstr>
      <vt:lpstr>PowerPoint 演示文稿</vt:lpstr>
      <vt:lpstr>PowerPoint 演示文稿</vt:lpstr>
      <vt:lpstr>5.6.3流水线中的主要问题</vt:lpstr>
      <vt:lpstr>PowerPoint 演示文稿</vt:lpstr>
      <vt:lpstr>PowerPoint 演示文稿</vt:lpstr>
      <vt:lpstr>PowerPoint 演示文稿</vt:lpstr>
      <vt:lpstr>PowerPoint 演示文稿</vt:lpstr>
      <vt:lpstr>PowerPoint 演示文稿</vt:lpstr>
      <vt:lpstr>PowerPoint 演示文稿</vt:lpstr>
      <vt:lpstr>5.7 RISC CPU</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中央处理器</dc:title>
  <dc:creator>杨旭东</dc:creator>
  <cp:lastModifiedBy>Sky123.Org</cp:lastModifiedBy>
  <cp:revision>860</cp:revision>
  <dcterms:created xsi:type="dcterms:W3CDTF">2008-05-19T20:46:11Z</dcterms:created>
  <dcterms:modified xsi:type="dcterms:W3CDTF">2021-10-15T04:00:19Z</dcterms:modified>
</cp:coreProperties>
</file>
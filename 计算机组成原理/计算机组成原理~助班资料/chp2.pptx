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6"/>
  </p:notesMasterIdLst>
  <p:handoutMasterIdLst>
    <p:handoutMasterId r:id="rId167"/>
  </p:handoutMasterIdLst>
  <p:sldIdLst>
    <p:sldId id="355" r:id="rId2"/>
    <p:sldId id="385" r:id="rId3"/>
    <p:sldId id="386" r:id="rId4"/>
    <p:sldId id="387" r:id="rId5"/>
    <p:sldId id="389" r:id="rId6"/>
    <p:sldId id="390" r:id="rId7"/>
    <p:sldId id="391" r:id="rId8"/>
    <p:sldId id="392" r:id="rId9"/>
    <p:sldId id="685" r:id="rId10"/>
    <p:sldId id="686" r:id="rId11"/>
    <p:sldId id="398" r:id="rId12"/>
    <p:sldId id="399" r:id="rId13"/>
    <p:sldId id="400" r:id="rId14"/>
    <p:sldId id="401" r:id="rId15"/>
    <p:sldId id="402" r:id="rId16"/>
    <p:sldId id="687" r:id="rId17"/>
    <p:sldId id="658" r:id="rId18"/>
    <p:sldId id="403" r:id="rId19"/>
    <p:sldId id="405" r:id="rId20"/>
    <p:sldId id="406" r:id="rId21"/>
    <p:sldId id="407" r:id="rId22"/>
    <p:sldId id="688" r:id="rId23"/>
    <p:sldId id="408" r:id="rId24"/>
    <p:sldId id="653" r:id="rId25"/>
    <p:sldId id="409" r:id="rId26"/>
    <p:sldId id="689" r:id="rId27"/>
    <p:sldId id="410" r:id="rId28"/>
    <p:sldId id="411" r:id="rId29"/>
    <p:sldId id="704" r:id="rId30"/>
    <p:sldId id="705" r:id="rId31"/>
    <p:sldId id="706" r:id="rId32"/>
    <p:sldId id="709" r:id="rId33"/>
    <p:sldId id="710" r:id="rId34"/>
    <p:sldId id="711" r:id="rId35"/>
    <p:sldId id="712" r:id="rId36"/>
    <p:sldId id="713" r:id="rId37"/>
    <p:sldId id="714" r:id="rId38"/>
    <p:sldId id="414" r:id="rId39"/>
    <p:sldId id="415" r:id="rId40"/>
    <p:sldId id="416" r:id="rId41"/>
    <p:sldId id="417" r:id="rId42"/>
    <p:sldId id="418" r:id="rId43"/>
    <p:sldId id="419" r:id="rId44"/>
    <p:sldId id="420" r:id="rId45"/>
    <p:sldId id="690" r:id="rId46"/>
    <p:sldId id="421" r:id="rId47"/>
    <p:sldId id="422" r:id="rId48"/>
    <p:sldId id="423" r:id="rId49"/>
    <p:sldId id="424" r:id="rId50"/>
    <p:sldId id="425" r:id="rId51"/>
    <p:sldId id="426" r:id="rId52"/>
    <p:sldId id="427" r:id="rId53"/>
    <p:sldId id="428" r:id="rId54"/>
    <p:sldId id="429" r:id="rId55"/>
    <p:sldId id="430" r:id="rId56"/>
    <p:sldId id="696" r:id="rId57"/>
    <p:sldId id="700" r:id="rId58"/>
    <p:sldId id="431" r:id="rId59"/>
    <p:sldId id="701" r:id="rId60"/>
    <p:sldId id="433" r:id="rId61"/>
    <p:sldId id="519" r:id="rId62"/>
    <p:sldId id="520" r:id="rId63"/>
    <p:sldId id="521" r:id="rId64"/>
    <p:sldId id="439" r:id="rId65"/>
    <p:sldId id="440" r:id="rId66"/>
    <p:sldId id="444" r:id="rId67"/>
    <p:sldId id="522" r:id="rId68"/>
    <p:sldId id="445" r:id="rId69"/>
    <p:sldId id="446" r:id="rId70"/>
    <p:sldId id="523" r:id="rId71"/>
    <p:sldId id="655" r:id="rId72"/>
    <p:sldId id="524" r:id="rId73"/>
    <p:sldId id="525" r:id="rId74"/>
    <p:sldId id="526" r:id="rId75"/>
    <p:sldId id="527" r:id="rId76"/>
    <p:sldId id="528" r:id="rId77"/>
    <p:sldId id="539" r:id="rId78"/>
    <p:sldId id="451" r:id="rId79"/>
    <p:sldId id="452" r:id="rId80"/>
    <p:sldId id="715" r:id="rId81"/>
    <p:sldId id="543" r:id="rId82"/>
    <p:sldId id="544" r:id="rId83"/>
    <p:sldId id="716" r:id="rId84"/>
    <p:sldId id="654" r:id="rId85"/>
    <p:sldId id="548" r:id="rId86"/>
    <p:sldId id="460" r:id="rId87"/>
    <p:sldId id="545" r:id="rId88"/>
    <p:sldId id="546" r:id="rId89"/>
    <p:sldId id="550" r:id="rId90"/>
    <p:sldId id="551" r:id="rId91"/>
    <p:sldId id="552" r:id="rId92"/>
    <p:sldId id="553" r:id="rId93"/>
    <p:sldId id="554" r:id="rId94"/>
    <p:sldId id="555" r:id="rId95"/>
    <p:sldId id="556" r:id="rId96"/>
    <p:sldId id="557" r:id="rId97"/>
    <p:sldId id="558" r:id="rId98"/>
    <p:sldId id="559" r:id="rId99"/>
    <p:sldId id="560" r:id="rId100"/>
    <p:sldId id="561" r:id="rId101"/>
    <p:sldId id="562" r:id="rId102"/>
    <p:sldId id="563" r:id="rId103"/>
    <p:sldId id="564" r:id="rId104"/>
    <p:sldId id="566" r:id="rId105"/>
    <p:sldId id="567" r:id="rId106"/>
    <p:sldId id="669" r:id="rId107"/>
    <p:sldId id="568" r:id="rId108"/>
    <p:sldId id="569" r:id="rId109"/>
    <p:sldId id="570" r:id="rId110"/>
    <p:sldId id="571" r:id="rId111"/>
    <p:sldId id="572" r:id="rId112"/>
    <p:sldId id="573" r:id="rId113"/>
    <p:sldId id="574" r:id="rId114"/>
    <p:sldId id="702" r:id="rId115"/>
    <p:sldId id="575" r:id="rId116"/>
    <p:sldId id="576" r:id="rId117"/>
    <p:sldId id="577" r:id="rId118"/>
    <p:sldId id="578" r:id="rId119"/>
    <p:sldId id="579" r:id="rId120"/>
    <p:sldId id="580" r:id="rId121"/>
    <p:sldId id="581" r:id="rId122"/>
    <p:sldId id="603" r:id="rId123"/>
    <p:sldId id="582" r:id="rId124"/>
    <p:sldId id="583" r:id="rId125"/>
    <p:sldId id="703" r:id="rId126"/>
    <p:sldId id="584" r:id="rId127"/>
    <p:sldId id="585" r:id="rId128"/>
    <p:sldId id="586" r:id="rId129"/>
    <p:sldId id="587" r:id="rId130"/>
    <p:sldId id="588" r:id="rId131"/>
    <p:sldId id="604" r:id="rId132"/>
    <p:sldId id="589" r:id="rId133"/>
    <p:sldId id="590" r:id="rId134"/>
    <p:sldId id="592" r:id="rId135"/>
    <p:sldId id="593" r:id="rId136"/>
    <p:sldId id="594" r:id="rId137"/>
    <p:sldId id="595" r:id="rId138"/>
    <p:sldId id="596" r:id="rId139"/>
    <p:sldId id="597" r:id="rId140"/>
    <p:sldId id="605" r:id="rId141"/>
    <p:sldId id="609" r:id="rId142"/>
    <p:sldId id="610" r:id="rId143"/>
    <p:sldId id="611" r:id="rId144"/>
    <p:sldId id="612" r:id="rId145"/>
    <p:sldId id="613" r:id="rId146"/>
    <p:sldId id="614" r:id="rId147"/>
    <p:sldId id="615" r:id="rId148"/>
    <p:sldId id="616" r:id="rId149"/>
    <p:sldId id="617" r:id="rId150"/>
    <p:sldId id="618" r:id="rId151"/>
    <p:sldId id="619" r:id="rId152"/>
    <p:sldId id="620" r:id="rId153"/>
    <p:sldId id="621" r:id="rId154"/>
    <p:sldId id="622" r:id="rId155"/>
    <p:sldId id="623" r:id="rId156"/>
    <p:sldId id="624" r:id="rId157"/>
    <p:sldId id="625" r:id="rId158"/>
    <p:sldId id="626" r:id="rId159"/>
    <p:sldId id="627" r:id="rId160"/>
    <p:sldId id="628" r:id="rId161"/>
    <p:sldId id="629" r:id="rId162"/>
    <p:sldId id="630" r:id="rId163"/>
    <p:sldId id="631" r:id="rId164"/>
    <p:sldId id="632" r:id="rId16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52" autoAdjust="0"/>
    <p:restoredTop sz="93129" autoAdjust="0"/>
  </p:normalViewPr>
  <p:slideViewPr>
    <p:cSldViewPr>
      <p:cViewPr>
        <p:scale>
          <a:sx n="50" d="100"/>
          <a:sy n="50" d="100"/>
        </p:scale>
        <p:origin x="-1459" y="-6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389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7.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CB35E0C5-6F42-4C3B-9997-CB5E8A0A6211}" type="slidenum">
              <a:rPr lang="en-US" altLang="zh-CN"/>
              <a:pPr>
                <a:defRPr/>
              </a:pPr>
              <a:t>‹#›</a:t>
            </a:fld>
            <a:endParaRPr lang="en-US" altLang="zh-CN"/>
          </a:p>
        </p:txBody>
      </p:sp>
    </p:spTree>
    <p:extLst>
      <p:ext uri="{BB962C8B-B14F-4D97-AF65-F5344CB8AC3E}">
        <p14:creationId xmlns:p14="http://schemas.microsoft.com/office/powerpoint/2010/main" val="25240150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1822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92DCE78E-093F-470F-BFD1-DF66E32CA171}" type="slidenum">
              <a:rPr lang="en-US" altLang="zh-CN"/>
              <a:pPr>
                <a:defRPr/>
              </a:pPr>
              <a:t>‹#›</a:t>
            </a:fld>
            <a:endParaRPr lang="en-US" altLang="zh-CN"/>
          </a:p>
        </p:txBody>
      </p:sp>
    </p:spTree>
    <p:extLst>
      <p:ext uri="{BB962C8B-B14F-4D97-AF65-F5344CB8AC3E}">
        <p14:creationId xmlns:p14="http://schemas.microsoft.com/office/powerpoint/2010/main" val="15193000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pPr>
                <a:defRPr/>
              </a:pPr>
              <a:t>13</a:t>
            </a:fld>
            <a:endParaRPr lang="en-US" altLang="zh-CN"/>
          </a:p>
        </p:txBody>
      </p:sp>
    </p:spTree>
    <p:extLst>
      <p:ext uri="{BB962C8B-B14F-4D97-AF65-F5344CB8AC3E}">
        <p14:creationId xmlns:p14="http://schemas.microsoft.com/office/powerpoint/2010/main" val="1498020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p:cNvSpPr>
            <a:spLocks noGrp="1" noRot="1" noChangeAspect="1" noTextEdit="1"/>
          </p:cNvSpPr>
          <p:nvPr>
            <p:ph type="sldImg"/>
          </p:nvPr>
        </p:nvSpPr>
        <p:spPr>
          <a:ln/>
        </p:spPr>
      </p:sp>
      <p:sp>
        <p:nvSpPr>
          <p:cNvPr id="183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33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1BD70EA-2A46-4D73-A6C3-6F3C7079FB68}" type="slidenum">
              <a:rPr lang="en-US" altLang="zh-CN" smtClean="0">
                <a:latin typeface="Times New Roman" pitchFamily="18" charset="0"/>
              </a:rPr>
              <a:pPr eaLnBrk="1" hangingPunct="1"/>
              <a:t>33</a:t>
            </a:fld>
            <a:endParaRPr lang="en-US" altLang="zh-CN"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pPr>
                <a:defRPr/>
              </a:pPr>
              <a:t>45</a:t>
            </a:fld>
            <a:endParaRPr lang="en-US" altLang="zh-CN"/>
          </a:p>
        </p:txBody>
      </p:sp>
    </p:spTree>
    <p:extLst>
      <p:ext uri="{BB962C8B-B14F-4D97-AF65-F5344CB8AC3E}">
        <p14:creationId xmlns:p14="http://schemas.microsoft.com/office/powerpoint/2010/main" val="1148753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pPr>
                <a:defRPr/>
              </a:pPr>
              <a:t>53</a:t>
            </a:fld>
            <a:endParaRPr lang="en-US" altLang="zh-CN"/>
          </a:p>
        </p:txBody>
      </p:sp>
    </p:spTree>
    <p:extLst>
      <p:ext uri="{BB962C8B-B14F-4D97-AF65-F5344CB8AC3E}">
        <p14:creationId xmlns:p14="http://schemas.microsoft.com/office/powerpoint/2010/main" val="963720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66AC3CF-E500-4039-A123-F9482FAF5E10}" type="datetime1">
              <a:rPr lang="zh-CN" altLang="en-US" smtClean="0">
                <a:latin typeface="Times New Roman" pitchFamily="18" charset="0"/>
              </a:rPr>
              <a:pPr eaLnBrk="1" hangingPunct="1"/>
              <a:t>2021/9/9</a:t>
            </a:fld>
            <a:endParaRPr lang="en-US" altLang="zh-CN" smtClean="0">
              <a:latin typeface="Times New Roman" pitchFamily="18" charset="0"/>
            </a:endParaRPr>
          </a:p>
        </p:txBody>
      </p:sp>
      <p:sp>
        <p:nvSpPr>
          <p:cNvPr id="18432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39C0BF8-E3C2-4FD4-B1A0-62131AABF607}" type="slidenum">
              <a:rPr lang="en-US" altLang="zh-CN" smtClean="0">
                <a:latin typeface="Times New Roman" pitchFamily="18" charset="0"/>
              </a:rPr>
              <a:pPr eaLnBrk="1" hangingPunct="1"/>
              <a:t>64</a:t>
            </a:fld>
            <a:endParaRPr lang="en-US" altLang="zh-CN" smtClean="0">
              <a:latin typeface="Times New Roman" pitchFamily="18" charset="0"/>
            </a:endParaRPr>
          </a:p>
        </p:txBody>
      </p:sp>
      <p:sp>
        <p:nvSpPr>
          <p:cNvPr id="184324" name="Rectangle 2"/>
          <p:cNvSpPr>
            <a:spLocks noGrp="1" noRot="1" noChangeAspect="1" noChangeArrowheads="1" noTextEdit="1"/>
          </p:cNvSpPr>
          <p:nvPr>
            <p:ph type="sldImg"/>
          </p:nvPr>
        </p:nvSpPr>
        <p:spPr>
          <a:ln/>
        </p:spPr>
      </p:sp>
      <p:sp>
        <p:nvSpPr>
          <p:cNvPr id="18432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7C8E2E9-C81A-4D97-9D91-1C5E553A35DA}" type="datetime1">
              <a:rPr lang="zh-CN" altLang="en-US" smtClean="0">
                <a:latin typeface="Times New Roman" pitchFamily="18" charset="0"/>
              </a:rPr>
              <a:pPr eaLnBrk="1" hangingPunct="1"/>
              <a:t>2021/9/9</a:t>
            </a:fld>
            <a:endParaRPr lang="en-US" altLang="zh-CN" smtClean="0">
              <a:latin typeface="Times New Roman" pitchFamily="18" charset="0"/>
            </a:endParaRPr>
          </a:p>
        </p:txBody>
      </p:sp>
      <p:sp>
        <p:nvSpPr>
          <p:cNvPr id="18534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2F9ACED-5283-4A2E-94ED-95EDD74072C4}" type="slidenum">
              <a:rPr lang="en-US" altLang="zh-CN" smtClean="0">
                <a:latin typeface="Times New Roman" pitchFamily="18" charset="0"/>
              </a:rPr>
              <a:pPr eaLnBrk="1" hangingPunct="1"/>
              <a:t>65</a:t>
            </a:fld>
            <a:endParaRPr lang="en-US" altLang="zh-CN" smtClean="0">
              <a:latin typeface="Times New Roman" pitchFamily="18" charset="0"/>
            </a:endParaRPr>
          </a:p>
        </p:txBody>
      </p:sp>
      <p:sp>
        <p:nvSpPr>
          <p:cNvPr id="185348" name="Rectangle 2"/>
          <p:cNvSpPr>
            <a:spLocks noGrp="1" noRot="1" noChangeAspect="1" noChangeArrowheads="1" noTextEdit="1"/>
          </p:cNvSpPr>
          <p:nvPr>
            <p:ph type="sldImg"/>
          </p:nvPr>
        </p:nvSpPr>
        <p:spPr>
          <a:ln/>
        </p:spPr>
      </p:sp>
      <p:sp>
        <p:nvSpPr>
          <p:cNvPr id="18534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9F46C26-36CF-44E5-95EA-5F66CFD83C9E}" type="datetime1">
              <a:rPr lang="zh-CN" altLang="en-US" smtClean="0">
                <a:latin typeface="Times New Roman" pitchFamily="18" charset="0"/>
              </a:rPr>
              <a:pPr eaLnBrk="1" hangingPunct="1"/>
              <a:t>2021/9/9</a:t>
            </a:fld>
            <a:endParaRPr lang="en-US" altLang="zh-CN" smtClean="0">
              <a:latin typeface="Times New Roman" pitchFamily="18" charset="0"/>
            </a:endParaRPr>
          </a:p>
        </p:txBody>
      </p:sp>
      <p:sp>
        <p:nvSpPr>
          <p:cNvPr id="18637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FD78BC6-6728-493E-85D4-99AAAFE198EF}" type="slidenum">
              <a:rPr lang="en-US" altLang="zh-CN" smtClean="0">
                <a:latin typeface="Times New Roman" pitchFamily="18" charset="0"/>
              </a:rPr>
              <a:pPr eaLnBrk="1" hangingPunct="1"/>
              <a:t>66</a:t>
            </a:fld>
            <a:endParaRPr lang="en-US" altLang="zh-CN" smtClean="0">
              <a:latin typeface="Times New Roman" pitchFamily="18" charset="0"/>
            </a:endParaRPr>
          </a:p>
        </p:txBody>
      </p:sp>
      <p:sp>
        <p:nvSpPr>
          <p:cNvPr id="186372" name="Rectangle 2"/>
          <p:cNvSpPr>
            <a:spLocks noGrp="1" noRot="1" noChangeAspect="1" noChangeArrowheads="1" noTextEdit="1"/>
          </p:cNvSpPr>
          <p:nvPr>
            <p:ph type="sldImg"/>
          </p:nvPr>
        </p:nvSpPr>
        <p:spPr>
          <a:ln/>
        </p:spPr>
      </p:sp>
      <p:sp>
        <p:nvSpPr>
          <p:cNvPr id="18637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37421DE-1B85-4749-BB7A-FE2C9BFA65E5}" type="datetime1">
              <a:rPr lang="zh-CN" altLang="en-US" smtClean="0">
                <a:latin typeface="Times New Roman" pitchFamily="18" charset="0"/>
              </a:rPr>
              <a:pPr eaLnBrk="1" hangingPunct="1"/>
              <a:t>2021/9/9</a:t>
            </a:fld>
            <a:endParaRPr lang="en-US" altLang="zh-CN" smtClean="0">
              <a:latin typeface="Times New Roman" pitchFamily="18" charset="0"/>
            </a:endParaRPr>
          </a:p>
        </p:txBody>
      </p:sp>
      <p:sp>
        <p:nvSpPr>
          <p:cNvPr id="18739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37E27D3-8244-4E85-924B-B7D2DAACB406}" type="slidenum">
              <a:rPr lang="en-US" altLang="zh-CN" smtClean="0">
                <a:latin typeface="Times New Roman" pitchFamily="18" charset="0"/>
              </a:rPr>
              <a:pPr eaLnBrk="1" hangingPunct="1"/>
              <a:t>68</a:t>
            </a:fld>
            <a:endParaRPr lang="en-US" altLang="zh-CN" smtClean="0">
              <a:latin typeface="Times New Roman" pitchFamily="18" charset="0"/>
            </a:endParaRPr>
          </a:p>
        </p:txBody>
      </p:sp>
      <p:sp>
        <p:nvSpPr>
          <p:cNvPr id="187396" name="Rectangle 2"/>
          <p:cNvSpPr>
            <a:spLocks noGrp="1" noRot="1" noChangeAspect="1" noChangeArrowheads="1" noTextEdit="1"/>
          </p:cNvSpPr>
          <p:nvPr>
            <p:ph type="sldImg"/>
          </p:nvPr>
        </p:nvSpPr>
        <p:spPr>
          <a:ln/>
        </p:spPr>
      </p:sp>
      <p:sp>
        <p:nvSpPr>
          <p:cNvPr id="18739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0AB7648-7DA9-45D8-9253-EC49567D7A73}" type="datetime1">
              <a:rPr lang="zh-CN" altLang="en-US" smtClean="0">
                <a:latin typeface="Times New Roman" pitchFamily="18" charset="0"/>
              </a:rPr>
              <a:pPr eaLnBrk="1" hangingPunct="1"/>
              <a:t>2021/9/9</a:t>
            </a:fld>
            <a:endParaRPr lang="en-US" altLang="zh-CN" smtClean="0">
              <a:latin typeface="Times New Roman" pitchFamily="18" charset="0"/>
            </a:endParaRPr>
          </a:p>
        </p:txBody>
      </p:sp>
      <p:sp>
        <p:nvSpPr>
          <p:cNvPr id="18841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56CFED1-D675-4AD3-B638-310DCDC37F0C}" type="slidenum">
              <a:rPr lang="en-US" altLang="zh-CN" smtClean="0">
                <a:latin typeface="Times New Roman" pitchFamily="18" charset="0"/>
              </a:rPr>
              <a:pPr eaLnBrk="1" hangingPunct="1"/>
              <a:t>69</a:t>
            </a:fld>
            <a:endParaRPr lang="en-US" altLang="zh-CN" smtClean="0">
              <a:latin typeface="Times New Roman" pitchFamily="18" charset="0"/>
            </a:endParaRPr>
          </a:p>
        </p:txBody>
      </p:sp>
      <p:sp>
        <p:nvSpPr>
          <p:cNvPr id="188420" name="Rectangle 2"/>
          <p:cNvSpPr>
            <a:spLocks noGrp="1" noRot="1" noChangeAspect="1" noChangeArrowheads="1" noTextEdit="1"/>
          </p:cNvSpPr>
          <p:nvPr>
            <p:ph type="sldImg"/>
          </p:nvPr>
        </p:nvSpPr>
        <p:spPr>
          <a:ln/>
        </p:spPr>
      </p:sp>
      <p:sp>
        <p:nvSpPr>
          <p:cNvPr id="18842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675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9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F57618-7BF3-41EC-BA50-2955A7EE573F}" type="slidenum">
              <a:rPr lang="en-US" altLang="zh-CN" smtClean="0">
                <a:latin typeface="Times New Roman" pitchFamily="18" charset="0"/>
              </a:rPr>
              <a:pPr eaLnBrk="1" hangingPunct="1"/>
              <a:t>71</a:t>
            </a:fld>
            <a:endParaRPr lang="en-US" altLang="zh-CN"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9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F57618-7BF3-41EC-BA50-2955A7EE573F}" type="slidenum">
              <a:rPr lang="en-US" altLang="zh-CN" smtClean="0">
                <a:latin typeface="Times New Roman" pitchFamily="18" charset="0"/>
              </a:rPr>
              <a:pPr eaLnBrk="1" hangingPunct="1"/>
              <a:t>72</a:t>
            </a:fld>
            <a:endParaRPr lang="en-US" altLang="zh-CN"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1A82F2E-47FC-48E9-8617-FAC0F28BA7DA}" type="datetime1">
              <a:rPr lang="zh-CN" altLang="en-US" smtClean="0">
                <a:latin typeface="Times New Roman" pitchFamily="18" charset="0"/>
              </a:rPr>
              <a:pPr eaLnBrk="1" hangingPunct="1"/>
              <a:t>2021/9/9</a:t>
            </a:fld>
            <a:endParaRPr lang="en-US" altLang="zh-CN" smtClean="0">
              <a:latin typeface="Times New Roman" pitchFamily="18" charset="0"/>
            </a:endParaRPr>
          </a:p>
        </p:txBody>
      </p:sp>
      <p:sp>
        <p:nvSpPr>
          <p:cNvPr id="19046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1207F6B-4072-4947-A04B-E917D90B307E}" type="slidenum">
              <a:rPr lang="en-US" altLang="zh-CN" smtClean="0">
                <a:latin typeface="Times New Roman" pitchFamily="18" charset="0"/>
              </a:rPr>
              <a:pPr eaLnBrk="1" hangingPunct="1"/>
              <a:t>78</a:t>
            </a:fld>
            <a:endParaRPr lang="en-US" altLang="zh-CN" smtClean="0">
              <a:latin typeface="Times New Roman" pitchFamily="18" charset="0"/>
            </a:endParaRPr>
          </a:p>
        </p:txBody>
      </p:sp>
      <p:sp>
        <p:nvSpPr>
          <p:cNvPr id="190468" name="Rectangle 2"/>
          <p:cNvSpPr>
            <a:spLocks noGrp="1" noRot="1" noChangeAspect="1" noChangeArrowheads="1" noTextEdit="1"/>
          </p:cNvSpPr>
          <p:nvPr>
            <p:ph type="sldImg"/>
          </p:nvPr>
        </p:nvSpPr>
        <p:spPr>
          <a:ln/>
        </p:spPr>
      </p:sp>
      <p:sp>
        <p:nvSpPr>
          <p:cNvPr id="19046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AutoNum type="arabicPeriod"/>
            </a:pPr>
            <a:r>
              <a:rPr lang="zh-CN" altLang="en-US" smtClean="0"/>
              <a:t>商小于１，被除数小于除数；</a:t>
            </a:r>
          </a:p>
          <a:p>
            <a:pPr marL="228600" indent="-228600">
              <a:buFontTx/>
              <a:buAutoNum type="arabicPeriod"/>
            </a:pPr>
            <a:r>
              <a:rPr lang="zh-CN" altLang="en-US" smtClean="0"/>
              <a:t>除数不能为０</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pPr>
                <a:defRPr/>
              </a:pPr>
              <a:t>83</a:t>
            </a:fld>
            <a:endParaRPr lang="en-US" altLang="zh-CN"/>
          </a:p>
        </p:txBody>
      </p:sp>
    </p:spTree>
    <p:extLst>
      <p:ext uri="{BB962C8B-B14F-4D97-AF65-F5344CB8AC3E}">
        <p14:creationId xmlns:p14="http://schemas.microsoft.com/office/powerpoint/2010/main" val="2044405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TextEdit="1"/>
          </p:cNvSpPr>
          <p:nvPr>
            <p:ph type="sldImg"/>
          </p:nvPr>
        </p:nvSpPr>
        <p:spPr>
          <a:ln/>
        </p:spPr>
      </p:sp>
      <p:sp>
        <p:nvSpPr>
          <p:cNvPr id="191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1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C4CF929-3060-44EE-BD5E-EA8DD2F3AEA8}" type="slidenum">
              <a:rPr lang="en-US" altLang="zh-CN" smtClean="0">
                <a:latin typeface="Times New Roman" pitchFamily="18" charset="0"/>
              </a:rPr>
              <a:pPr eaLnBrk="1" hangingPunct="1"/>
              <a:t>86</a:t>
            </a:fld>
            <a:endParaRPr lang="en-US" altLang="zh-CN"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a:ln/>
        </p:spPr>
      </p:sp>
      <p:sp>
        <p:nvSpPr>
          <p:cNvPr id="1925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25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D12DCFF-A0C5-430E-8B5F-20270D477FE7}" type="slidenum">
              <a:rPr lang="en-US" altLang="zh-CN" smtClean="0">
                <a:latin typeface="Times New Roman" pitchFamily="18" charset="0"/>
              </a:rPr>
              <a:pPr eaLnBrk="1" hangingPunct="1"/>
              <a:t>124</a:t>
            </a:fld>
            <a:endParaRPr lang="en-US" altLang="zh-CN"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smtClean="0"/>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pPr lvl="0"/>
            <a:r>
              <a:rPr lang="zh-CN" altLang="en-US" noProof="0" smtClean="0"/>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fld id="{AA6ABACD-FAA0-4B9C-BA8A-DA6649A19014}" type="datetime1">
              <a:rPr lang="zh-CN" altLang="en-US"/>
              <a:pPr>
                <a:defRPr/>
              </a:pPr>
              <a:t>2021/9/9</a:t>
            </a:fld>
            <a:endParaRPr lang="en-US" altLang="zh-CN"/>
          </a:p>
        </p:txBody>
      </p:sp>
      <p:sp>
        <p:nvSpPr>
          <p:cNvPr id="39" name="Rectangle 6"/>
          <p:cNvSpPr>
            <a:spLocks noGrp="1" noChangeArrowheads="1"/>
          </p:cNvSpPr>
          <p:nvPr>
            <p:ph type="ftr" sz="quarter" idx="11"/>
          </p:nvPr>
        </p:nvSpPr>
        <p:spPr/>
        <p:txBody>
          <a:bodyPr/>
          <a:lstStyle>
            <a:lvl1pPr>
              <a:defRPr>
                <a:latin typeface="楷体_GB2312" pitchFamily="49" charset="-122"/>
                <a:ea typeface="楷体_GB2312" pitchFamily="49" charset="-122"/>
              </a:defRPr>
            </a:lvl1pPr>
          </a:lstStyle>
          <a:p>
            <a:pPr>
              <a:defRPr/>
            </a:pPr>
            <a:r>
              <a:rPr lang="zh-CN" altLang="en-US"/>
              <a:t>邮电大学</a:t>
            </a:r>
            <a:r>
              <a:rPr lang="en-US" altLang="zh-CN"/>
              <a:t>-</a:t>
            </a:r>
            <a:r>
              <a:rPr lang="zh-CN" altLang="en-US"/>
              <a:t>计算机学院杨旭东</a:t>
            </a:r>
          </a:p>
        </p:txBody>
      </p:sp>
      <p:sp>
        <p:nvSpPr>
          <p:cNvPr id="40" name="Rectangle 7"/>
          <p:cNvSpPr>
            <a:spLocks noGrp="1" noChangeArrowheads="1"/>
          </p:cNvSpPr>
          <p:nvPr>
            <p:ph type="sldNum" sz="quarter" idx="12"/>
          </p:nvPr>
        </p:nvSpPr>
        <p:spPr/>
        <p:txBody>
          <a:bodyPr/>
          <a:lstStyle>
            <a:lvl1pPr>
              <a:defRPr/>
            </a:lvl1pPr>
          </a:lstStyle>
          <a:p>
            <a:pPr>
              <a:defRPr/>
            </a:pPr>
            <a:fld id="{DFC16286-9ECE-470A-899C-F44AE0512838}" type="slidenum">
              <a:rPr lang="en-US" altLang="zh-CN"/>
              <a:pPr>
                <a:defRPr/>
              </a:pPr>
              <a:t>‹#›</a:t>
            </a:fld>
            <a:endParaRPr lang="en-US" altLang="zh-CN"/>
          </a:p>
        </p:txBody>
      </p:sp>
    </p:spTree>
    <p:extLst>
      <p:ext uri="{BB962C8B-B14F-4D97-AF65-F5344CB8AC3E}">
        <p14:creationId xmlns:p14="http://schemas.microsoft.com/office/powerpoint/2010/main" val="578695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ED5B5EC9-E48F-474B-A187-AD588C7391AA}" type="datetime1">
              <a:rPr lang="zh-CN" altLang="en-US"/>
              <a:pPr>
                <a:defRPr/>
              </a:pPr>
              <a:t>2021/9/9</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7B73A027-FCE3-42B2-A827-EA253D20D306}" type="slidenum">
              <a:rPr lang="en-US" altLang="zh-CN"/>
              <a:pPr>
                <a:defRPr/>
              </a:pPr>
              <a:t>‹#›</a:t>
            </a:fld>
            <a:endParaRPr lang="en-US" altLang="zh-CN"/>
          </a:p>
        </p:txBody>
      </p:sp>
    </p:spTree>
    <p:extLst>
      <p:ext uri="{BB962C8B-B14F-4D97-AF65-F5344CB8AC3E}">
        <p14:creationId xmlns:p14="http://schemas.microsoft.com/office/powerpoint/2010/main" val="905366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fld id="{9C47DD1E-4BC8-43F1-A623-5BD998EA35F3}" type="datetime1">
              <a:rPr lang="zh-CN" altLang="en-US"/>
              <a:pPr>
                <a:defRPr/>
              </a:pPr>
              <a:t>2021/9/9</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18A6AC00-DBAE-4BFC-B463-3F1D288A09A6}" type="slidenum">
              <a:rPr lang="en-US" altLang="zh-CN"/>
              <a:pPr>
                <a:defRPr/>
              </a:pPr>
              <a:t>‹#›</a:t>
            </a:fld>
            <a:endParaRPr lang="en-US" altLang="zh-CN"/>
          </a:p>
        </p:txBody>
      </p:sp>
    </p:spTree>
    <p:extLst>
      <p:ext uri="{BB962C8B-B14F-4D97-AF65-F5344CB8AC3E}">
        <p14:creationId xmlns:p14="http://schemas.microsoft.com/office/powerpoint/2010/main" val="2439234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58DB73AE-0C16-484C-9355-80981CCE5934}" type="datetime1">
              <a:rPr lang="zh-CN" altLang="en-US"/>
              <a:pPr>
                <a:defRPr/>
              </a:pPr>
              <a:t>2021/9/9</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7CEF4273-7A7F-4F52-911F-D2AEE3222526}" type="slidenum">
              <a:rPr lang="en-US" altLang="zh-CN"/>
              <a:pPr>
                <a:defRPr/>
              </a:pPr>
              <a:t>‹#›</a:t>
            </a:fld>
            <a:endParaRPr lang="en-US" altLang="zh-CN"/>
          </a:p>
        </p:txBody>
      </p:sp>
    </p:spTree>
    <p:extLst>
      <p:ext uri="{BB962C8B-B14F-4D97-AF65-F5344CB8AC3E}">
        <p14:creationId xmlns:p14="http://schemas.microsoft.com/office/powerpoint/2010/main" val="2709003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fld id="{0EC2BAF8-A1D7-4490-8995-41ED44E8470A}" type="datetime1">
              <a:rPr lang="zh-CN" altLang="en-US"/>
              <a:pPr>
                <a:defRPr/>
              </a:pPr>
              <a:t>2021/9/9</a:t>
            </a:fld>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3E6F6BEA-F9EA-485F-9CA7-2A4CAA7D0335}" type="slidenum">
              <a:rPr lang="en-US" altLang="zh-CN"/>
              <a:pPr>
                <a:defRPr/>
              </a:pPr>
              <a:t>‹#›</a:t>
            </a:fld>
            <a:endParaRPr lang="en-US" altLang="zh-CN"/>
          </a:p>
        </p:txBody>
      </p:sp>
    </p:spTree>
    <p:extLst>
      <p:ext uri="{BB962C8B-B14F-4D97-AF65-F5344CB8AC3E}">
        <p14:creationId xmlns:p14="http://schemas.microsoft.com/office/powerpoint/2010/main" val="308401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fld id="{1D01F177-A226-4010-B014-46F5E632006B}" type="datetime1">
              <a:rPr lang="zh-CN" altLang="en-US"/>
              <a:pPr>
                <a:defRPr/>
              </a:pPr>
              <a:t>2021/9/9</a:t>
            </a:fld>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6C70022A-0EBD-46E3-B3B7-799F9E93BA0F}" type="slidenum">
              <a:rPr lang="en-US" altLang="zh-CN"/>
              <a:pPr>
                <a:defRPr/>
              </a:pPr>
              <a:t>‹#›</a:t>
            </a:fld>
            <a:endParaRPr lang="en-US" altLang="zh-CN"/>
          </a:p>
        </p:txBody>
      </p:sp>
    </p:spTree>
    <p:extLst>
      <p:ext uri="{BB962C8B-B14F-4D97-AF65-F5344CB8AC3E}">
        <p14:creationId xmlns:p14="http://schemas.microsoft.com/office/powerpoint/2010/main" val="2795859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fld id="{3F9E9067-41AE-4AC2-B5B8-55A64D8579D5}" type="datetime1">
              <a:rPr lang="zh-CN" altLang="en-US"/>
              <a:pPr>
                <a:defRPr/>
              </a:pPr>
              <a:t>2021/9/9</a:t>
            </a:fld>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7D83C012-A532-4D13-8073-1A89CE4DFD87}" type="slidenum">
              <a:rPr lang="en-US" altLang="zh-CN"/>
              <a:pPr>
                <a:defRPr/>
              </a:pPr>
              <a:t>‹#›</a:t>
            </a:fld>
            <a:endParaRPr lang="en-US" altLang="zh-CN"/>
          </a:p>
        </p:txBody>
      </p:sp>
    </p:spTree>
    <p:extLst>
      <p:ext uri="{BB962C8B-B14F-4D97-AF65-F5344CB8AC3E}">
        <p14:creationId xmlns:p14="http://schemas.microsoft.com/office/powerpoint/2010/main" val="327517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794AB681-DE37-4AC6-93D2-2D493704D12A}" type="datetime1">
              <a:rPr lang="zh-CN" altLang="en-US"/>
              <a:pPr>
                <a:defRPr/>
              </a:pPr>
              <a:t>2021/9/9</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3C064C6B-235E-467F-97F3-DFF1D89DE1E6}" type="slidenum">
              <a:rPr lang="en-US" altLang="zh-CN"/>
              <a:pPr>
                <a:defRPr/>
              </a:pPr>
              <a:t>‹#›</a:t>
            </a:fld>
            <a:endParaRPr lang="en-US" altLang="zh-CN"/>
          </a:p>
        </p:txBody>
      </p:sp>
    </p:spTree>
    <p:extLst>
      <p:ext uri="{BB962C8B-B14F-4D97-AF65-F5344CB8AC3E}">
        <p14:creationId xmlns:p14="http://schemas.microsoft.com/office/powerpoint/2010/main" val="1429810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F86D9ABC-FE4B-49CF-AA56-4AE4739182F7}" type="datetime1">
              <a:rPr lang="zh-CN" altLang="en-US"/>
              <a:pPr>
                <a:defRPr/>
              </a:pPr>
              <a:t>2021/9/9</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5226F8FE-98DA-4393-84C6-B4940EB0C0E3}" type="slidenum">
              <a:rPr lang="en-US" altLang="zh-CN"/>
              <a:pPr>
                <a:defRPr/>
              </a:pPr>
              <a:t>‹#›</a:t>
            </a:fld>
            <a:endParaRPr lang="en-US" altLang="zh-CN"/>
          </a:p>
        </p:txBody>
      </p:sp>
    </p:spTree>
    <p:extLst>
      <p:ext uri="{BB962C8B-B14F-4D97-AF65-F5344CB8AC3E}">
        <p14:creationId xmlns:p14="http://schemas.microsoft.com/office/powerpoint/2010/main" val="1410843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9EF8F092-D52C-4103-AB02-CABF0BA5F12F}" type="datetime1">
              <a:rPr lang="zh-CN" altLang="en-US"/>
              <a:pPr>
                <a:defRPr/>
              </a:pPr>
              <a:t>2021/9/9</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BD16558B-27BC-4816-B896-177C509A51BB}" type="slidenum">
              <a:rPr lang="en-US" altLang="zh-CN"/>
              <a:pPr>
                <a:defRPr/>
              </a:pPr>
              <a:t>‹#›</a:t>
            </a:fld>
            <a:endParaRPr lang="en-US" altLang="zh-CN"/>
          </a:p>
        </p:txBody>
      </p:sp>
    </p:spTree>
    <p:extLst>
      <p:ext uri="{BB962C8B-B14F-4D97-AF65-F5344CB8AC3E}">
        <p14:creationId xmlns:p14="http://schemas.microsoft.com/office/powerpoint/2010/main" val="2058793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AFBBE209-61D7-4A3D-947D-B529CA2D4E94}" type="datetime1">
              <a:rPr lang="zh-CN" altLang="en-US"/>
              <a:pPr>
                <a:defRPr/>
              </a:pPr>
              <a:t>2021/9/9</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57923AA7-7561-4C8B-8396-1380EF7B6A53}" type="slidenum">
              <a:rPr lang="en-US" altLang="zh-CN"/>
              <a:pPr>
                <a:defRPr/>
              </a:pPr>
              <a:t>‹#›</a:t>
            </a:fld>
            <a:endParaRPr lang="en-US" altLang="zh-CN"/>
          </a:p>
        </p:txBody>
      </p:sp>
    </p:spTree>
    <p:extLst>
      <p:ext uri="{BB962C8B-B14F-4D97-AF65-F5344CB8AC3E}">
        <p14:creationId xmlns:p14="http://schemas.microsoft.com/office/powerpoint/2010/main" val="4072810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86439673-1AD0-409F-BC9C-814030050CF8}" type="datetime1">
              <a:rPr lang="zh-CN" altLang="en-US"/>
              <a:pPr>
                <a:defRPr/>
              </a:pPr>
              <a:t>2021/9/9</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90CF7C6E-6999-4CE9-91D6-9C1AC3530314}" type="slidenum">
              <a:rPr lang="en-US" altLang="zh-CN"/>
              <a:pPr>
                <a:defRPr/>
              </a:pPr>
              <a:t>‹#›</a:t>
            </a:fld>
            <a:endParaRPr lang="en-US" altLang="zh-CN"/>
          </a:p>
        </p:txBody>
      </p:sp>
    </p:spTree>
    <p:extLst>
      <p:ext uri="{BB962C8B-B14F-4D97-AF65-F5344CB8AC3E}">
        <p14:creationId xmlns:p14="http://schemas.microsoft.com/office/powerpoint/2010/main" val="89312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sz="1000">
                <a:latin typeface="Arial" charset="0"/>
              </a:defRPr>
            </a:lvl1pPr>
          </a:lstStyle>
          <a:p>
            <a:pPr>
              <a:defRPr/>
            </a:pPr>
            <a:fld id="{DE9A2CD4-C8A1-41D4-96FC-99A6BF36FA21}" type="datetime1">
              <a:rPr lang="zh-CN" altLang="en-US"/>
              <a:pPr>
                <a:defRPr/>
              </a:pPr>
              <a:t>2021/9/9</a:t>
            </a:fld>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a:defRPr sz="1000">
                <a:latin typeface="Arial" charset="0"/>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000">
                <a:latin typeface="Arial" charset="0"/>
              </a:defRPr>
            </a:lvl1pPr>
          </a:lstStyle>
          <a:p>
            <a:pPr>
              <a:defRPr/>
            </a:pPr>
            <a:fld id="{18941123-DFBA-4D0F-83CD-2CBAC202F8F9}" type="slidenum">
              <a:rPr lang="en-US" altLang="zh-CN"/>
              <a:pPr>
                <a:defRPr/>
              </a:pPr>
              <a:t>‹#›</a:t>
            </a:fld>
            <a:endParaRPr lang="en-US" altLang="zh-CN"/>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0" name="Oval 16"/>
            <p:cNvSpPr>
              <a:spLocks noChangeArrowheads="1"/>
            </p:cNvSpPr>
            <p:nvPr/>
          </p:nvSpPr>
          <p:spPr bwMode="auto">
            <a:xfrm>
              <a:off x="5136" y="1184"/>
              <a:ext cx="80" cy="73"/>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1" name="Oval 17"/>
            <p:cNvSpPr>
              <a:spLocks noChangeArrowheads="1"/>
            </p:cNvSpPr>
            <p:nvPr/>
          </p:nvSpPr>
          <p:spPr bwMode="auto">
            <a:xfrm>
              <a:off x="5248" y="1184"/>
              <a:ext cx="79" cy="73"/>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smtClean="0"/>
            </a:p>
          </p:txBody>
        </p:sp>
      </p:grpSp>
    </p:spTree>
  </p:cSld>
  <p:clrMap bg1="lt1" tx1="dk1" bg2="lt2" tx2="dk2" accent1="accent1" accent2="accent2" accent3="accent3" accent4="accent4" accent5="accent5" accent6="accent6" hlink="hlink" folHlink="folHlink"/>
  <p:sldLayoutIdLst>
    <p:sldLayoutId id="2147484135" r:id="rId1"/>
    <p:sldLayoutId id="2147484124" r:id="rId2"/>
    <p:sldLayoutId id="2147484125" r:id="rId3"/>
    <p:sldLayoutId id="2147484126" r:id="rId4"/>
    <p:sldLayoutId id="2147484127" r:id="rId5"/>
    <p:sldLayoutId id="2147484128" r:id="rId6"/>
    <p:sldLayoutId id="2147484129" r:id="rId7"/>
    <p:sldLayoutId id="2147484130" r:id="rId8"/>
    <p:sldLayoutId id="2147484131" r:id="rId9"/>
    <p:sldLayoutId id="2147484132" r:id="rId10"/>
    <p:sldLayoutId id="2147484133" r:id="rId11"/>
    <p:sldLayoutId id="2147484134" r:id="rId12"/>
  </p:sldLayoutIdLst>
  <p:timing>
    <p:tnLst>
      <p:par>
        <p:cTn id="1" dur="indefinite" restart="never" nodeType="tmRoot"/>
      </p:par>
    </p:tnLst>
  </p:timing>
  <p:hf hdr="0" ftr="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ea typeface="宋体" pitchFamily="2" charset="-122"/>
        </a:defRPr>
      </a:lvl2pPr>
      <a:lvl3pPr algn="l" rtl="0" eaLnBrk="0" fontAlgn="base" hangingPunct="0">
        <a:spcBef>
          <a:spcPct val="0"/>
        </a:spcBef>
        <a:spcAft>
          <a:spcPct val="0"/>
        </a:spcAft>
        <a:defRPr sz="3900" b="1">
          <a:solidFill>
            <a:schemeClr val="tx2"/>
          </a:solidFill>
          <a:latin typeface="Arial" charset="0"/>
          <a:ea typeface="宋体" pitchFamily="2" charset="-122"/>
        </a:defRPr>
      </a:lvl3pPr>
      <a:lvl4pPr algn="l" rtl="0" eaLnBrk="0" fontAlgn="base" hangingPunct="0">
        <a:spcBef>
          <a:spcPct val="0"/>
        </a:spcBef>
        <a:spcAft>
          <a:spcPct val="0"/>
        </a:spcAft>
        <a:defRPr sz="3900" b="1">
          <a:solidFill>
            <a:schemeClr val="tx2"/>
          </a:solidFill>
          <a:latin typeface="Arial" charset="0"/>
          <a:ea typeface="宋体" pitchFamily="2" charset="-122"/>
        </a:defRPr>
      </a:lvl4pPr>
      <a:lvl5pPr algn="l" rtl="0" eaLnBrk="0" fontAlgn="base" hangingPunct="0">
        <a:spcBef>
          <a:spcPct val="0"/>
        </a:spcBef>
        <a:spcAft>
          <a:spcPct val="0"/>
        </a:spcAft>
        <a:defRPr sz="3900" b="1">
          <a:solidFill>
            <a:schemeClr val="tx2"/>
          </a:solidFill>
          <a:latin typeface="Arial" charset="0"/>
          <a:ea typeface="宋体" pitchFamily="2" charset="-122"/>
        </a:defRPr>
      </a:lvl5pPr>
      <a:lvl6pPr marL="457200" algn="l" rtl="0" fontAlgn="base">
        <a:spcBef>
          <a:spcPct val="0"/>
        </a:spcBef>
        <a:spcAft>
          <a:spcPct val="0"/>
        </a:spcAft>
        <a:defRPr sz="3900" b="1">
          <a:solidFill>
            <a:schemeClr val="tx2"/>
          </a:solidFill>
          <a:latin typeface="Arial" charset="0"/>
          <a:ea typeface="宋体" pitchFamily="2" charset="-122"/>
        </a:defRPr>
      </a:lvl6pPr>
      <a:lvl7pPr marL="914400" algn="l" rtl="0" fontAlgn="base">
        <a:spcBef>
          <a:spcPct val="0"/>
        </a:spcBef>
        <a:spcAft>
          <a:spcPct val="0"/>
        </a:spcAft>
        <a:defRPr sz="3900" b="1">
          <a:solidFill>
            <a:schemeClr val="tx2"/>
          </a:solidFill>
          <a:latin typeface="Arial" charset="0"/>
          <a:ea typeface="宋体" pitchFamily="2" charset="-122"/>
        </a:defRPr>
      </a:lvl7pPr>
      <a:lvl8pPr marL="1371600" algn="l" rtl="0" fontAlgn="base">
        <a:spcBef>
          <a:spcPct val="0"/>
        </a:spcBef>
        <a:spcAft>
          <a:spcPct val="0"/>
        </a:spcAft>
        <a:defRPr sz="3900" b="1">
          <a:solidFill>
            <a:schemeClr val="tx2"/>
          </a:solidFill>
          <a:latin typeface="Arial" charset="0"/>
          <a:ea typeface="宋体" pitchFamily="2" charset="-122"/>
        </a:defRPr>
      </a:lvl8pPr>
      <a:lvl9pPr marL="1828800" algn="l" rtl="0" fontAlgn="base">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2.1.ht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1.htm"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1.htm"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1.htm"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file:///F:\%25E5%25BB%25BA%25E7%25AD%2591%25E5%25A4%25A7%25E5%25AD%25A6\%25E8%25AF%25BE%25E7%25A8%258B%25E6%2595%2599%25E6%25A1%2588\%25E8%25AE%25A1%25E7%25AE%2597%25E6%259C%25BA%25E7%25BB%2584%25E6%2588%2590%25E5%258E%259F%25E7%2590%2586\%25E6%2595%2599%25E6%25A1%2588\%25E7%25AC%25AC%25E4%25BA%258C%25E7%25AB%25A0\2.2.htm"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hyperlink" Target="file:///F:\%25E5%25BB%25BA%25E7%25AD%2591%25E5%25A4%25A7%25E5%25AD%25A6\%25E8%25AF%25BE%25E7%25A8%258B%25E6%2595%2599%25E6%25A1%2588\%25E8%25AE%25A1%25E7%25AE%2597%25E6%259C%25BA%25E7%25BB%2584%25E6%2588%2590%25E5%258E%259F%25E7%2590%2586\%25E6%2595%2599%25E6%25A1%2588\%25E7%25AC%25AC%25E4%25BA%258C%25E7%25AB%25A0\2.2.htm"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2.htm"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file:///D:\jinerwork\&#32452;&#25104;\&#30333;&#20013;&#33521;&#29256;&#25913;&#32534;\visio\2.2_3.jpg" TargetMode="External"/><Relationship Id="rId4" Type="http://schemas.openxmlformats.org/officeDocument/2006/relationships/image" Target="../media/image13.jpeg"/></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2.3.ht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file:///G:\jzdx\%E8%AE%A1%E7%AE%97%E6%9C%BA%E7%BB%84%E6%88%90%E5%8E%9F%E7%90%86\%E6%95%99%E6%A1%88\%E7%AC%AC%E4%BA%8C%E7%AB%A0\2.3.htm"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htm\Images\t2.6.swf"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hyperlink" Target="t2.6.swf"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htm\Images\t2.6.swf"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hyperlink" Target="t2.6.swf" TargetMode="Externa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index.htm"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8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8.wmf"/><Relationship Id="rId5" Type="http://schemas.openxmlformats.org/officeDocument/2006/relationships/oleObject" Target="../embeddings/oleObject1.bin"/><Relationship Id="rId4" Type="http://schemas.openxmlformats.org/officeDocument/2006/relationships/image" Target="file:///D:\jinerwork\&#32452;&#25104;\&#30333;&#20013;&#33521;&#29256;&#25913;&#32534;\Chap02\Images\2.5.gif" TargetMode="Externa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file:///G:\jzdx\%25E8%25AE%25A1%25E7%25AE%2597%25E6%259C%25BA%25E7%25BB%2584%25E6%2588%2590%25E5%258E%259F%25E7%2590%2586\%25E6%2595%2599%25E6%25A1%2588\%25E7%25AC%25AC%25E4%25BA%258C%25E7%25AB%25A0\htm\Images\t2.11.swf"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2.13.swf" TargetMode="Externa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htm\Images\t2.15.swf" TargetMode="External"/><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6.htm" TargetMode="Externa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6.htm" TargetMode="Externa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hyperlink" Target="2.18.swf" TargetMode="External"/><Relationship Id="rId2" Type="http://schemas.openxmlformats.org/officeDocument/2006/relationships/hyperlink" Target="file:///G:\jzdx\%25E8%25AE%25A1%25E7%25AE%2597%25E6%259C%25BA%25E7%25BB%2584%25E6%2588%2590%25E5%258E%259F%25E7%2590%2586\%25E6%2595%2599%25E6%25A1%2588\%25E7%25AC%25AC%25E4%25BA%258C%25E7%25AB%25A0\htm\Images\t2.17.swf" TargetMode="External"/><Relationship Id="rId1" Type="http://schemas.openxmlformats.org/officeDocument/2006/relationships/slideLayout" Target="../slideLayouts/slideLayout7.xml"/><Relationship Id="rId4" Type="http://schemas.openxmlformats.org/officeDocument/2006/relationships/image" Target="../media/image61.jpeg"/></Relationships>
</file>

<file path=ppt/slides/_rels/slide13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hyperlink" Target="2.18.swf" TargetMode="Externa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65.png"/></Relationships>
</file>

<file path=ppt/slides/_rels/slide15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6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67.png"/></Relationships>
</file>

<file path=ppt/slides/_rels/slide16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042988" y="2492375"/>
            <a:ext cx="725646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4800" b="1"/>
              <a:t>第二章 运算方法与运算器</a:t>
            </a:r>
            <a:endParaRPr lang="zh-CN" altLang="en-US" sz="4800" b="1">
              <a:solidFill>
                <a:schemeClr val="tx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0" y="2087563"/>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zh-CN"/>
          </a:p>
          <a:p>
            <a:pPr lvl="1" eaLnBrk="0" hangingPunct="0"/>
            <a:endParaRPr lang="en-US" altLang="zh-CN"/>
          </a:p>
        </p:txBody>
      </p:sp>
      <p:sp>
        <p:nvSpPr>
          <p:cNvPr id="4099" name="矩形 1"/>
          <p:cNvSpPr>
            <a:spLocks noChangeArrowheads="1"/>
          </p:cNvSpPr>
          <p:nvPr/>
        </p:nvSpPr>
        <p:spPr bwMode="auto">
          <a:xfrm>
            <a:off x="160338" y="188913"/>
            <a:ext cx="8713787" cy="637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800" b="1">
                <a:latin typeface="黑体" pitchFamily="2" charset="-122"/>
                <a:ea typeface="黑体" pitchFamily="2" charset="-122"/>
              </a:rPr>
              <a:t>2.1 </a:t>
            </a:r>
            <a:r>
              <a:rPr lang="zh-CN" altLang="en-US" sz="2800" b="1">
                <a:latin typeface="黑体" pitchFamily="2" charset="-122"/>
                <a:ea typeface="黑体" pitchFamily="2" charset="-122"/>
              </a:rPr>
              <a:t>数据与文字的表示方法</a:t>
            </a:r>
          </a:p>
          <a:p>
            <a:pPr>
              <a:lnSpc>
                <a:spcPct val="150000"/>
              </a:lnSpc>
            </a:pPr>
            <a:r>
              <a:rPr lang="en-US" altLang="zh-CN" sz="2800" b="1">
                <a:latin typeface="黑体" pitchFamily="2" charset="-122"/>
                <a:ea typeface="黑体" pitchFamily="2" charset="-122"/>
              </a:rPr>
              <a:t>2.1.1 </a:t>
            </a:r>
            <a:r>
              <a:rPr lang="zh-CN" altLang="en-US" sz="2800" b="1">
                <a:latin typeface="黑体" pitchFamily="2" charset="-122"/>
                <a:ea typeface="黑体" pitchFamily="2" charset="-122"/>
              </a:rPr>
              <a:t>数据格式 　</a:t>
            </a:r>
            <a:r>
              <a:rPr lang="zh-CN" altLang="en-US" sz="2400">
                <a:latin typeface="黑体" pitchFamily="2" charset="-122"/>
                <a:ea typeface="黑体" pitchFamily="2" charset="-122"/>
              </a:rPr>
              <a:t>　　　　　　　　</a:t>
            </a:r>
          </a:p>
          <a:p>
            <a:pPr>
              <a:lnSpc>
                <a:spcPct val="150000"/>
              </a:lnSpc>
            </a:pPr>
            <a:r>
              <a:rPr lang="zh-CN" altLang="en-US" sz="2400">
                <a:latin typeface="黑体" pitchFamily="2" charset="-122"/>
                <a:ea typeface="黑体" pitchFamily="2" charset="-122"/>
              </a:rPr>
              <a:t>　　设计一个计算机系统首先必须要确定信息的表示方法，现代计算机不仅仅是一种计算的工具，而且也是一种信息的处理系统，它不仅能处理数据，也能处理文字，如数值，文字，符号，语言，图形和图像等等。但是在计算机内部，各种信息都必须采用数字化编码，而且采用二进制来表示，用二进制表示有很多优点。</a:t>
            </a:r>
          </a:p>
          <a:p>
            <a:pPr>
              <a:lnSpc>
                <a:spcPct val="150000"/>
              </a:lnSpc>
            </a:pPr>
            <a:r>
              <a:rPr lang="en-US" altLang="zh-CN" sz="2400">
                <a:latin typeface="黑体" pitchFamily="2" charset="-122"/>
                <a:ea typeface="黑体" pitchFamily="2" charset="-122"/>
              </a:rPr>
              <a:t>    1.</a:t>
            </a:r>
            <a:r>
              <a:rPr lang="zh-CN" altLang="en-US" sz="2400">
                <a:latin typeface="黑体" pitchFamily="2" charset="-122"/>
                <a:ea typeface="黑体" pitchFamily="2" charset="-122"/>
              </a:rPr>
              <a:t>采用二进制表示的状态稳定，它只有</a:t>
            </a:r>
            <a:r>
              <a:rPr lang="en-US" altLang="zh-CN" sz="2400">
                <a:latin typeface="黑体" pitchFamily="2" charset="-122"/>
                <a:ea typeface="黑体" pitchFamily="2" charset="-122"/>
              </a:rPr>
              <a:t>0</a:t>
            </a:r>
            <a:r>
              <a:rPr lang="zh-CN" altLang="en-US" sz="2400">
                <a:latin typeface="黑体" pitchFamily="2" charset="-122"/>
                <a:ea typeface="黑体" pitchFamily="2" charset="-122"/>
              </a:rPr>
              <a:t>和</a:t>
            </a:r>
            <a:r>
              <a:rPr lang="en-US" altLang="zh-CN" sz="2400">
                <a:latin typeface="黑体" pitchFamily="2" charset="-122"/>
                <a:ea typeface="黑体" pitchFamily="2" charset="-122"/>
              </a:rPr>
              <a:t>1</a:t>
            </a:r>
            <a:r>
              <a:rPr lang="zh-CN" altLang="en-US" sz="2400">
                <a:latin typeface="黑体" pitchFamily="2" charset="-122"/>
                <a:ea typeface="黑体" pitchFamily="2" charset="-122"/>
              </a:rPr>
              <a:t>两种状态。</a:t>
            </a:r>
          </a:p>
          <a:p>
            <a:pPr>
              <a:lnSpc>
                <a:spcPct val="150000"/>
              </a:lnSpc>
            </a:pPr>
            <a:r>
              <a:rPr lang="en-US" altLang="zh-CN" sz="2400">
                <a:latin typeface="黑体" pitchFamily="2" charset="-122"/>
                <a:ea typeface="黑体" pitchFamily="2" charset="-122"/>
              </a:rPr>
              <a:t>    2.</a:t>
            </a:r>
            <a:r>
              <a:rPr lang="zh-CN" altLang="en-US" sz="2400">
                <a:latin typeface="黑体" pitchFamily="2" charset="-122"/>
                <a:ea typeface="黑体" pitchFamily="2" charset="-122"/>
              </a:rPr>
              <a:t>运算简单，加法只有四句口诀；乘法也只要四句口诀</a:t>
            </a:r>
          </a:p>
          <a:p>
            <a:pPr>
              <a:lnSpc>
                <a:spcPct val="150000"/>
              </a:lnSpc>
            </a:pPr>
            <a:r>
              <a:rPr lang="en-US" altLang="zh-CN" sz="2400">
                <a:latin typeface="黑体" pitchFamily="2" charset="-122"/>
                <a:ea typeface="黑体" pitchFamily="2" charset="-122"/>
              </a:rPr>
              <a:t>    3.</a:t>
            </a:r>
            <a:r>
              <a:rPr lang="zh-CN" altLang="en-US" sz="2400">
                <a:latin typeface="黑体" pitchFamily="2" charset="-122"/>
                <a:ea typeface="黑体" pitchFamily="2" charset="-122"/>
              </a:rPr>
              <a:t>可靠性高，约定高电平为</a:t>
            </a:r>
            <a:r>
              <a:rPr lang="en-US" altLang="zh-CN" sz="2400">
                <a:latin typeface="黑体" pitchFamily="2" charset="-122"/>
                <a:ea typeface="黑体" pitchFamily="2" charset="-122"/>
              </a:rPr>
              <a:t>3.5v</a:t>
            </a:r>
            <a:r>
              <a:rPr lang="zh-CN" altLang="en-US" sz="2400">
                <a:latin typeface="黑体" pitchFamily="2" charset="-122"/>
                <a:ea typeface="黑体" pitchFamily="2" charset="-122"/>
              </a:rPr>
              <a:t>左右，低点平为</a:t>
            </a:r>
            <a:r>
              <a:rPr lang="en-US" altLang="zh-CN" sz="2400">
                <a:latin typeface="黑体" pitchFamily="2" charset="-122"/>
                <a:ea typeface="黑体" pitchFamily="2" charset="-122"/>
              </a:rPr>
              <a:t>0.5V</a:t>
            </a:r>
            <a:r>
              <a:rPr lang="zh-CN" altLang="en-US" sz="2400">
                <a:latin typeface="黑体" pitchFamily="2" charset="-122"/>
                <a:ea typeface="黑体" pitchFamily="2" charset="-122"/>
              </a:rPr>
              <a:t>以下。</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1"/>
          <p:cNvSpPr>
            <a:spLocks noChangeArrowheads="1"/>
          </p:cNvSpPr>
          <p:nvPr/>
        </p:nvSpPr>
        <p:spPr bwMode="auto">
          <a:xfrm>
            <a:off x="250825" y="258763"/>
            <a:ext cx="7634288" cy="61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dirty="0">
                <a:latin typeface="黑体" pitchFamily="2" charset="-122"/>
                <a:ea typeface="黑体" pitchFamily="2" charset="-122"/>
              </a:rPr>
              <a:t>　　</a:t>
            </a:r>
            <a:r>
              <a:rPr lang="zh-CN" altLang="en-US" sz="2400" dirty="0">
                <a:latin typeface="黑体" pitchFamily="2" charset="-122"/>
                <a:ea typeface="黑体" pitchFamily="2" charset="-122"/>
              </a:rPr>
              <a:t>在计算机中采用二进制编码来表示数值、文字、符号等。那么在计算机中数的表示方式也是很多，在表示数时，我们需要考虑几个因素。</a:t>
            </a:r>
          </a:p>
          <a:p>
            <a:pPr>
              <a:lnSpc>
                <a:spcPct val="150000"/>
              </a:lnSpc>
            </a:pPr>
            <a:r>
              <a:rPr lang="en-US" altLang="zh-CN" sz="2400" dirty="0">
                <a:latin typeface="黑体" pitchFamily="2" charset="-122"/>
                <a:ea typeface="黑体" pitchFamily="2" charset="-122"/>
              </a:rPr>
              <a:t>    1.</a:t>
            </a:r>
            <a:r>
              <a:rPr lang="zh-CN" altLang="en-US" sz="2400" dirty="0">
                <a:latin typeface="黑体" pitchFamily="2" charset="-122"/>
                <a:ea typeface="黑体" pitchFamily="2" charset="-122"/>
              </a:rPr>
              <a:t>数的表示类型</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小数，整数，实数和复数</a:t>
            </a:r>
            <a:r>
              <a:rPr lang="en-US" altLang="zh-CN" sz="2400" dirty="0">
                <a:latin typeface="黑体" pitchFamily="2" charset="-122"/>
                <a:ea typeface="黑体" pitchFamily="2" charset="-122"/>
              </a:rPr>
              <a:t>)</a:t>
            </a:r>
          </a:p>
          <a:p>
            <a:pPr>
              <a:lnSpc>
                <a:spcPct val="150000"/>
              </a:lnSpc>
            </a:pPr>
            <a:r>
              <a:rPr lang="en-US" altLang="zh-CN" sz="2400" dirty="0">
                <a:latin typeface="黑体" pitchFamily="2" charset="-122"/>
                <a:ea typeface="黑体" pitchFamily="2" charset="-122"/>
              </a:rPr>
              <a:t>    2.</a:t>
            </a:r>
            <a:r>
              <a:rPr lang="zh-CN" altLang="en-US" sz="2400" dirty="0">
                <a:latin typeface="黑体" pitchFamily="2" charset="-122"/>
                <a:ea typeface="黑体" pitchFamily="2" charset="-122"/>
              </a:rPr>
              <a:t>数的表示范围。</a:t>
            </a:r>
          </a:p>
          <a:p>
            <a:pPr>
              <a:lnSpc>
                <a:spcPct val="150000"/>
              </a:lnSpc>
            </a:pPr>
            <a:r>
              <a:rPr lang="en-US" altLang="zh-CN" sz="2400" dirty="0">
                <a:latin typeface="黑体" pitchFamily="2" charset="-122"/>
                <a:ea typeface="黑体" pitchFamily="2" charset="-122"/>
              </a:rPr>
              <a:t>    3.</a:t>
            </a:r>
            <a:r>
              <a:rPr lang="zh-CN" altLang="en-US" sz="2400" dirty="0">
                <a:latin typeface="黑体" pitchFamily="2" charset="-122"/>
                <a:ea typeface="黑体" pitchFamily="2" charset="-122"/>
              </a:rPr>
              <a:t>数的精度</a:t>
            </a:r>
          </a:p>
          <a:p>
            <a:pPr>
              <a:lnSpc>
                <a:spcPct val="150000"/>
              </a:lnSpc>
            </a:pPr>
            <a:r>
              <a:rPr lang="en-US" altLang="zh-CN" sz="2400" dirty="0">
                <a:latin typeface="黑体" pitchFamily="2" charset="-122"/>
                <a:ea typeface="黑体" pitchFamily="2" charset="-122"/>
              </a:rPr>
              <a:t>    4.</a:t>
            </a:r>
            <a:r>
              <a:rPr lang="zh-CN" altLang="en-US" sz="2400" dirty="0">
                <a:latin typeface="黑体" pitchFamily="2" charset="-122"/>
                <a:ea typeface="黑体" pitchFamily="2" charset="-122"/>
              </a:rPr>
              <a:t>数的存储和处理等所需的硬件代价。</a:t>
            </a:r>
          </a:p>
          <a:p>
            <a:pPr>
              <a:lnSpc>
                <a:spcPct val="150000"/>
              </a:lnSpc>
            </a:pPr>
            <a:r>
              <a:rPr lang="zh-CN" altLang="en-US" sz="2400" dirty="0">
                <a:latin typeface="黑体" pitchFamily="2" charset="-122"/>
                <a:ea typeface="黑体" pitchFamily="2" charset="-122"/>
              </a:rPr>
              <a:t>　　书写时采用八进制或十六进制</a:t>
            </a:r>
          </a:p>
          <a:p>
            <a:pPr>
              <a:lnSpc>
                <a:spcPct val="150000"/>
              </a:lnSpc>
            </a:pPr>
            <a:r>
              <a:rPr lang="zh-CN" altLang="en-US" sz="2400" dirty="0">
                <a:latin typeface="黑体" pitchFamily="2" charset="-122"/>
                <a:ea typeface="黑体" pitchFamily="2" charset="-122"/>
              </a:rPr>
              <a:t>    二进制数：后缀</a:t>
            </a:r>
            <a:r>
              <a:rPr lang="en-US" altLang="zh-CN" sz="2400" dirty="0">
                <a:latin typeface="黑体" pitchFamily="2" charset="-122"/>
                <a:ea typeface="黑体" pitchFamily="2" charset="-122"/>
              </a:rPr>
              <a:t>B</a:t>
            </a:r>
            <a:r>
              <a:rPr lang="zh-CN" altLang="en-US" sz="2400" dirty="0">
                <a:latin typeface="黑体" pitchFamily="2" charset="-122"/>
                <a:ea typeface="黑体" pitchFamily="2" charset="-122"/>
              </a:rPr>
              <a:t>、八进制数：后缀</a:t>
            </a:r>
            <a:r>
              <a:rPr lang="en-US" altLang="zh-CN" sz="2400" dirty="0">
                <a:latin typeface="黑体" pitchFamily="2" charset="-122"/>
                <a:ea typeface="黑体" pitchFamily="2" charset="-122"/>
              </a:rPr>
              <a:t>Q</a:t>
            </a:r>
          </a:p>
          <a:p>
            <a:pPr>
              <a:lnSpc>
                <a:spcPct val="150000"/>
              </a:lnSpc>
            </a:pPr>
            <a:r>
              <a:rPr lang="zh-CN" altLang="en-US" sz="2400" dirty="0">
                <a:latin typeface="黑体" pitchFamily="2" charset="-122"/>
                <a:ea typeface="黑体" pitchFamily="2" charset="-122"/>
              </a:rPr>
              <a:t>    十进制数：后缀</a:t>
            </a:r>
            <a:r>
              <a:rPr lang="en-US" altLang="zh-CN" sz="2400" dirty="0">
                <a:latin typeface="黑体" pitchFamily="2" charset="-122"/>
                <a:ea typeface="黑体" pitchFamily="2" charset="-122"/>
              </a:rPr>
              <a:t>D</a:t>
            </a:r>
            <a:r>
              <a:rPr lang="zh-CN" altLang="en-US" sz="2400" dirty="0">
                <a:latin typeface="黑体" pitchFamily="2" charset="-122"/>
                <a:ea typeface="黑体" pitchFamily="2" charset="-122"/>
              </a:rPr>
              <a:t>或省略、十六进制数：后缀</a:t>
            </a:r>
            <a:r>
              <a:rPr lang="en-US" altLang="zh-CN" sz="2400" dirty="0">
                <a:latin typeface="黑体" pitchFamily="2" charset="-122"/>
                <a:ea typeface="黑体" pitchFamily="2" charset="-122"/>
              </a:rPr>
              <a:t>H</a:t>
            </a:r>
          </a:p>
          <a:p>
            <a:pPr>
              <a:lnSpc>
                <a:spcPct val="150000"/>
              </a:lnSpc>
            </a:pPr>
            <a:r>
              <a:rPr lang="en-US" altLang="zh-CN" sz="2400" dirty="0">
                <a:latin typeface="黑体" pitchFamily="2" charset="-122"/>
                <a:ea typeface="黑体" pitchFamily="2" charset="-122"/>
              </a:rPr>
              <a:t>     (1010)2</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(1010)10</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(1010)8</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356D</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35Q</a:t>
            </a:r>
            <a:endParaRPr lang="zh-CN" altLang="en-US" sz="2400"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1"/>
          <p:cNvSpPr>
            <a:spLocks noChangeArrowheads="1"/>
          </p:cNvSpPr>
          <p:nvPr/>
        </p:nvSpPr>
        <p:spPr bwMode="auto">
          <a:xfrm>
            <a:off x="179388" y="174625"/>
            <a:ext cx="8785225" cy="64944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Bef>
                <a:spcPts val="600"/>
              </a:spcBef>
            </a:pPr>
            <a:r>
              <a:rPr lang="zh-CN" altLang="en-US" sz="2400" dirty="0">
                <a:latin typeface="黑体" pitchFamily="2" charset="-122"/>
                <a:ea typeface="黑体" pitchFamily="2" charset="-122"/>
              </a:rPr>
              <a:t>    计算机中常用的数据表示格式有两种，一是定点格式，二是浮点格式。一般来说，定点格式容许的数值范围有限，但要求的处理硬件比较简单。而浮点格式容许的数值范围很大，但要求的处理硬件比较复杂。</a:t>
            </a:r>
          </a:p>
          <a:p>
            <a:pPr>
              <a:lnSpc>
                <a:spcPct val="150000"/>
              </a:lnSpc>
              <a:spcBef>
                <a:spcPts val="600"/>
              </a:spcBef>
            </a:pPr>
            <a:r>
              <a:rPr lang="en-US" altLang="zh-CN" sz="2400" dirty="0">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1.</a:t>
            </a:r>
            <a:r>
              <a:rPr lang="zh-CN" altLang="en-US" sz="2400" dirty="0">
                <a:solidFill>
                  <a:srgbClr val="FF0000"/>
                </a:solidFill>
                <a:latin typeface="黑体" pitchFamily="2" charset="-122"/>
                <a:ea typeface="黑体" pitchFamily="2" charset="-122"/>
              </a:rPr>
              <a:t>定点数的表示方法</a:t>
            </a:r>
          </a:p>
          <a:p>
            <a:pPr>
              <a:lnSpc>
                <a:spcPct val="150000"/>
              </a:lnSpc>
              <a:spcBef>
                <a:spcPts val="600"/>
              </a:spcBef>
            </a:pPr>
            <a:r>
              <a:rPr lang="zh-CN" altLang="en-US" sz="2400" dirty="0">
                <a:latin typeface="黑体" pitchFamily="2" charset="-122"/>
                <a:ea typeface="黑体" pitchFamily="2" charset="-122"/>
              </a:rPr>
              <a:t>　　定点表示：约定机器中所有数据的小数点位置是固定不变的。从原理上讲，小数点位置固定在那一个位都可以，但通常约定在固定的位置，小数点就不再使用记号“</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来表示。将数据表示成纯小数或纯整数。</a:t>
            </a:r>
          </a:p>
          <a:p>
            <a:pPr>
              <a:lnSpc>
                <a:spcPct val="150000"/>
              </a:lnSpc>
              <a:spcBef>
                <a:spcPts val="600"/>
              </a:spcBef>
            </a:pPr>
            <a:r>
              <a:rPr lang="zh-CN" altLang="en-US" sz="2400" dirty="0">
                <a:latin typeface="黑体" pitchFamily="2" charset="-122"/>
                <a:ea typeface="黑体" pitchFamily="2" charset="-122"/>
              </a:rPr>
              <a:t>例如：</a:t>
            </a:r>
            <a:r>
              <a:rPr lang="en-US" altLang="zh-CN" sz="2400" dirty="0">
                <a:latin typeface="黑体" pitchFamily="2" charset="-122"/>
                <a:ea typeface="黑体" pitchFamily="2" charset="-122"/>
              </a:rPr>
              <a:t>123.45 = </a:t>
            </a:r>
            <a:r>
              <a:rPr lang="en-US" altLang="zh-CN" sz="2400" dirty="0">
                <a:solidFill>
                  <a:srgbClr val="FF0000"/>
                </a:solidFill>
                <a:latin typeface="黑体" pitchFamily="2" charset="-122"/>
                <a:ea typeface="黑体" pitchFamily="2" charset="-122"/>
              </a:rPr>
              <a:t>0.12345</a:t>
            </a:r>
            <a:r>
              <a:rPr lang="en-US" altLang="zh-CN" sz="2400" dirty="0">
                <a:latin typeface="黑体" pitchFamily="2" charset="-122"/>
                <a:ea typeface="黑体" pitchFamily="2" charset="-122"/>
              </a:rPr>
              <a:t> x 10</a:t>
            </a:r>
            <a:r>
              <a:rPr lang="en-US" altLang="zh-CN" sz="2400" baseline="30000" dirty="0">
                <a:latin typeface="黑体" pitchFamily="2" charset="-122"/>
                <a:ea typeface="黑体" pitchFamily="2" charset="-122"/>
              </a:rPr>
              <a:t>3</a:t>
            </a:r>
            <a:r>
              <a:rPr lang="en-US" altLang="zh-CN" sz="2400" dirty="0">
                <a:latin typeface="黑体" pitchFamily="2" charset="-122"/>
                <a:ea typeface="黑体" pitchFamily="2" charset="-122"/>
              </a:rPr>
              <a:t> </a:t>
            </a:r>
            <a:r>
              <a:rPr lang="zh-CN" altLang="en-US" sz="2400" dirty="0">
                <a:solidFill>
                  <a:srgbClr val="FF0000"/>
                </a:solidFill>
                <a:latin typeface="黑体" pitchFamily="2" charset="-122"/>
                <a:ea typeface="黑体" pitchFamily="2" charset="-122"/>
              </a:rPr>
              <a:t>纯小数</a:t>
            </a:r>
          </a:p>
          <a:p>
            <a:pPr>
              <a:lnSpc>
                <a:spcPct val="150000"/>
              </a:lnSpc>
              <a:spcBef>
                <a:spcPts val="600"/>
              </a:spcBef>
            </a:pPr>
            <a:r>
              <a:rPr lang="en-US" altLang="zh-CN" sz="2400" dirty="0">
                <a:latin typeface="黑体" pitchFamily="2" charset="-122"/>
                <a:ea typeface="黑体" pitchFamily="2" charset="-122"/>
              </a:rPr>
              <a:t>123.45 = </a:t>
            </a:r>
            <a:r>
              <a:rPr lang="en-US" altLang="zh-CN" sz="2400" dirty="0">
                <a:solidFill>
                  <a:srgbClr val="FF0000"/>
                </a:solidFill>
                <a:latin typeface="黑体" pitchFamily="2" charset="-122"/>
                <a:ea typeface="黑体" pitchFamily="2" charset="-122"/>
              </a:rPr>
              <a:t>12345</a:t>
            </a:r>
            <a:r>
              <a:rPr lang="en-US" altLang="zh-CN" sz="2400" dirty="0">
                <a:latin typeface="黑体" pitchFamily="2" charset="-122"/>
                <a:ea typeface="黑体" pitchFamily="2" charset="-122"/>
              </a:rPr>
              <a:t> x 10</a:t>
            </a:r>
            <a:r>
              <a:rPr lang="en-US" altLang="zh-CN" sz="2400" baseline="30000" dirty="0">
                <a:latin typeface="黑体" pitchFamily="2" charset="-122"/>
                <a:ea typeface="黑体" pitchFamily="2" charset="-122"/>
              </a:rPr>
              <a:t>-2</a:t>
            </a:r>
            <a:r>
              <a:rPr lang="en-US" altLang="zh-CN" sz="2400" dirty="0">
                <a:latin typeface="黑体" pitchFamily="2" charset="-122"/>
                <a:ea typeface="黑体" pitchFamily="2" charset="-122"/>
              </a:rPr>
              <a:t> </a:t>
            </a:r>
            <a:r>
              <a:rPr lang="zh-CN" altLang="en-US" sz="2400" dirty="0">
                <a:solidFill>
                  <a:srgbClr val="FF0000"/>
                </a:solidFill>
                <a:latin typeface="黑体" pitchFamily="2" charset="-122"/>
                <a:ea typeface="黑体" pitchFamily="2" charset="-122"/>
              </a:rPr>
              <a:t>纯整数</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179388" y="188913"/>
            <a:ext cx="8785225" cy="63865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n+1</a:t>
            </a:r>
            <a:r>
              <a:rPr lang="zh-CN" altLang="en-US" sz="2400" dirty="0">
                <a:latin typeface="黑体" pitchFamily="2" charset="-122"/>
                <a:ea typeface="黑体" pitchFamily="2" charset="-122"/>
              </a:rPr>
              <a:t>位定点数ｘ</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ｘ</a:t>
            </a:r>
            <a:r>
              <a:rPr lang="en-US" altLang="zh-CN" sz="2400" baseline="-25000" dirty="0">
                <a:latin typeface="黑体" pitchFamily="2" charset="-122"/>
                <a:ea typeface="黑体" pitchFamily="2" charset="-122"/>
              </a:rPr>
              <a:t>n</a:t>
            </a:r>
            <a:r>
              <a:rPr lang="zh-CN" altLang="en-US" sz="2400" dirty="0">
                <a:latin typeface="黑体" pitchFamily="2" charset="-122"/>
                <a:ea typeface="黑体" pitchFamily="2" charset="-122"/>
              </a:rPr>
              <a:t>ｘ</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ｘ</a:t>
            </a:r>
            <a:r>
              <a:rPr lang="en-US" altLang="zh-CN" sz="2400" baseline="-25000" dirty="0">
                <a:latin typeface="黑体" pitchFamily="2" charset="-122"/>
                <a:ea typeface="黑体" pitchFamily="2" charset="-122"/>
              </a:rPr>
              <a:t>1</a:t>
            </a:r>
            <a:r>
              <a:rPr lang="zh-CN" altLang="en-US" sz="2400" dirty="0">
                <a:latin typeface="黑体" pitchFamily="2" charset="-122"/>
                <a:ea typeface="黑体" pitchFamily="2" charset="-122"/>
              </a:rPr>
              <a:t>ｘ</a:t>
            </a:r>
            <a:r>
              <a:rPr lang="en-US" altLang="zh-CN" sz="2400" baseline="-25000" dirty="0">
                <a:latin typeface="黑体" pitchFamily="2" charset="-122"/>
                <a:ea typeface="黑体" pitchFamily="2" charset="-122"/>
              </a:rPr>
              <a:t>0</a:t>
            </a:r>
            <a:r>
              <a:rPr lang="en-US" altLang="zh-CN" sz="2400" dirty="0">
                <a:latin typeface="黑体" pitchFamily="2" charset="-122"/>
                <a:ea typeface="黑体" pitchFamily="2" charset="-122"/>
              </a:rPr>
              <a:t> </a:t>
            </a:r>
          </a:p>
          <a:p>
            <a:pPr>
              <a:lnSpc>
                <a:spcPct val="150000"/>
              </a:lnSpc>
            </a:pPr>
            <a:r>
              <a:rPr lang="en-US" altLang="zh-CN" sz="2400" dirty="0">
                <a:latin typeface="黑体" pitchFamily="2" charset="-122"/>
                <a:ea typeface="黑体" pitchFamily="2" charset="-122"/>
              </a:rPr>
              <a:t>    </a:t>
            </a:r>
            <a:r>
              <a:rPr lang="zh-CN" altLang="en-US" sz="2400" dirty="0">
                <a:latin typeface="黑体" pitchFamily="2" charset="-122"/>
                <a:ea typeface="黑体" pitchFamily="2" charset="-122"/>
              </a:rPr>
              <a:t>在定点机中表示如下</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ｘ</a:t>
            </a:r>
            <a:r>
              <a:rPr lang="en-US" altLang="zh-CN" sz="2400" baseline="-25000" dirty="0">
                <a:latin typeface="黑体" pitchFamily="2" charset="-122"/>
                <a:ea typeface="黑体" pitchFamily="2" charset="-122"/>
              </a:rPr>
              <a:t>n</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符号位，</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代表正号，</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代表负号</a:t>
            </a:r>
            <a:r>
              <a:rPr lang="en-US" altLang="zh-CN" sz="2400" dirty="0">
                <a:latin typeface="黑体" pitchFamily="2" charset="-122"/>
                <a:ea typeface="黑体" pitchFamily="2" charset="-122"/>
              </a:rPr>
              <a:t>)</a:t>
            </a:r>
          </a:p>
          <a:p>
            <a:pPr>
              <a:lnSpc>
                <a:spcPct val="150000"/>
              </a:lnSpc>
            </a:pPr>
            <a:endParaRPr lang="en-US" altLang="zh-CN" sz="2400" dirty="0">
              <a:latin typeface="黑体" pitchFamily="2" charset="-122"/>
              <a:ea typeface="黑体" pitchFamily="2" charset="-122"/>
            </a:endParaRPr>
          </a:p>
          <a:p>
            <a:pPr>
              <a:lnSpc>
                <a:spcPct val="150000"/>
              </a:lnSpc>
            </a:pPr>
            <a:endParaRPr lang="en-US" altLang="zh-CN" sz="2400" dirty="0">
              <a:latin typeface="黑体" pitchFamily="2" charset="-122"/>
              <a:ea typeface="黑体" pitchFamily="2" charset="-122"/>
            </a:endParaRPr>
          </a:p>
          <a:p>
            <a:r>
              <a:rPr lang="zh-CN" altLang="en-US" sz="2400" dirty="0">
                <a:latin typeface="黑体" pitchFamily="2" charset="-122"/>
                <a:ea typeface="黑体" pitchFamily="2" charset="-122"/>
              </a:rPr>
              <a:t>　　纯小数的表示范围：各位均为</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时最小；各位均为</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时最大</a:t>
            </a:r>
          </a:p>
          <a:p>
            <a:r>
              <a:rPr lang="zh-CN" altLang="en-US" sz="2400" dirty="0">
                <a:latin typeface="黑体" pitchFamily="2" charset="-122"/>
                <a:ea typeface="黑体" pitchFamily="2" charset="-122"/>
              </a:rPr>
              <a:t>                                    </a:t>
            </a:r>
            <a:endParaRPr lang="en-US" altLang="zh-CN" sz="2400" dirty="0">
              <a:latin typeface="黑体" pitchFamily="2" charset="-122"/>
              <a:ea typeface="黑体" pitchFamily="2" charset="-122"/>
            </a:endParaRPr>
          </a:p>
          <a:p>
            <a:r>
              <a:rPr lang="en-US" altLang="zh-CN" sz="2400" dirty="0">
                <a:latin typeface="黑体" pitchFamily="2" charset="-122"/>
                <a:ea typeface="黑体" pitchFamily="2" charset="-122"/>
              </a:rPr>
              <a:t>                                     0≤|</a:t>
            </a:r>
            <a:r>
              <a:rPr lang="zh-CN" altLang="en-US" sz="2400" dirty="0">
                <a:latin typeface="黑体" pitchFamily="2" charset="-122"/>
                <a:ea typeface="黑体" pitchFamily="2" charset="-122"/>
              </a:rPr>
              <a:t>ｘ</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2</a:t>
            </a:r>
            <a:r>
              <a:rPr lang="zh-CN" altLang="en-US" sz="2400" baseline="30000" dirty="0">
                <a:latin typeface="黑体" pitchFamily="2" charset="-122"/>
                <a:ea typeface="黑体" pitchFamily="2" charset="-122"/>
              </a:rPr>
              <a:t>－</a:t>
            </a:r>
            <a:r>
              <a:rPr lang="en-US" altLang="zh-CN" sz="2400" baseline="30000" dirty="0">
                <a:latin typeface="黑体" pitchFamily="2" charset="-122"/>
                <a:ea typeface="黑体" pitchFamily="2" charset="-122"/>
              </a:rPr>
              <a:t>n</a:t>
            </a:r>
            <a:r>
              <a:rPr lang="zh-CN" altLang="en-US" sz="2400" dirty="0">
                <a:latin typeface="黑体" pitchFamily="2" charset="-122"/>
                <a:ea typeface="黑体" pitchFamily="2" charset="-122"/>
              </a:rPr>
              <a:t>　 　　　　　　　　　</a:t>
            </a:r>
            <a:endParaRPr lang="en-US" altLang="zh-CN" sz="2400" dirty="0">
              <a:latin typeface="黑体" pitchFamily="2" charset="-122"/>
              <a:ea typeface="黑体" pitchFamily="2" charset="-122"/>
            </a:endParaRPr>
          </a:p>
          <a:p>
            <a:endParaRPr lang="en-US" altLang="zh-CN" sz="2400" dirty="0">
              <a:latin typeface="黑体" pitchFamily="2" charset="-122"/>
              <a:ea typeface="黑体" pitchFamily="2" charset="-122"/>
            </a:endParaRPr>
          </a:p>
          <a:p>
            <a:r>
              <a:rPr lang="zh-CN" altLang="en-US" sz="2400" dirty="0">
                <a:latin typeface="黑体" pitchFamily="2" charset="-122"/>
                <a:ea typeface="黑体" pitchFamily="2" charset="-122"/>
              </a:rPr>
              <a:t>　　纯整数的表示范围为</a:t>
            </a:r>
          </a:p>
          <a:p>
            <a:pPr>
              <a:spcBef>
                <a:spcPts val="1800"/>
              </a:spcBef>
            </a:pP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ｘ</a:t>
            </a:r>
            <a:r>
              <a:rPr lang="en-US" altLang="zh-CN" sz="2400" dirty="0">
                <a:latin typeface="黑体" pitchFamily="2" charset="-122"/>
                <a:ea typeface="黑体" pitchFamily="2" charset="-122"/>
              </a:rPr>
              <a:t>|≤2</a:t>
            </a:r>
            <a:r>
              <a:rPr lang="en-US" altLang="zh-CN" sz="2400" baseline="30000" dirty="0">
                <a:latin typeface="黑体" pitchFamily="2" charset="-122"/>
                <a:ea typeface="黑体" pitchFamily="2" charset="-122"/>
              </a:rPr>
              <a:t>n</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　　　　　　　　　　　 </a:t>
            </a:r>
            <a:endParaRPr lang="en-US" altLang="zh-CN" sz="2400" dirty="0">
              <a:latin typeface="黑体" pitchFamily="2" charset="-122"/>
              <a:ea typeface="黑体" pitchFamily="2" charset="-122"/>
            </a:endParaRPr>
          </a:p>
          <a:p>
            <a:endParaRPr lang="en-US" altLang="zh-CN" sz="2400" dirty="0">
              <a:latin typeface="黑体" pitchFamily="2" charset="-122"/>
              <a:ea typeface="黑体" pitchFamily="2" charset="-122"/>
            </a:endParaRPr>
          </a:p>
          <a:p>
            <a:pPr>
              <a:lnSpc>
                <a:spcPct val="150000"/>
              </a:lnSpc>
              <a:spcBef>
                <a:spcPts val="1200"/>
              </a:spcBef>
              <a:spcAft>
                <a:spcPts val="1200"/>
              </a:spcAft>
            </a:pPr>
            <a:r>
              <a:rPr lang="zh-CN" altLang="en-US" sz="2400" dirty="0">
                <a:latin typeface="黑体" pitchFamily="2" charset="-122"/>
                <a:ea typeface="黑体" pitchFamily="2" charset="-122"/>
              </a:rPr>
              <a:t>　　目前计算机中多采用定点纯整数表示，因此将定点数表示的运算简称为整数运算。</a:t>
            </a:r>
          </a:p>
        </p:txBody>
      </p:sp>
      <p:pic>
        <p:nvPicPr>
          <p:cNvPr id="71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484313"/>
            <a:ext cx="446405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997200"/>
            <a:ext cx="4421187"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4263" y="4365625"/>
            <a:ext cx="43513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250825" y="219075"/>
            <a:ext cx="8569325" cy="6416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spcBef>
                <a:spcPts val="1200"/>
              </a:spcBef>
              <a:spcAft>
                <a:spcPts val="600"/>
              </a:spcAft>
            </a:pPr>
            <a:r>
              <a:rPr lang="zh-CN" altLang="zh-CN">
                <a:solidFill>
                  <a:srgbClr val="000000"/>
                </a:solidFill>
              </a:rPr>
              <a:t> </a:t>
            </a:r>
            <a:r>
              <a:rPr lang="en-US" altLang="zh-CN">
                <a:solidFill>
                  <a:srgbClr val="000000"/>
                </a:solidFill>
              </a:rPr>
              <a:t>         </a:t>
            </a:r>
            <a:r>
              <a:rPr lang="en-US" altLang="zh-CN" sz="2400">
                <a:solidFill>
                  <a:srgbClr val="FF0000"/>
                </a:solidFill>
                <a:latin typeface="黑体" pitchFamily="2" charset="-122"/>
                <a:ea typeface="黑体" pitchFamily="2" charset="-122"/>
              </a:rPr>
              <a:t>2.</a:t>
            </a:r>
            <a:r>
              <a:rPr lang="zh-CN" altLang="en-US" sz="2400">
                <a:solidFill>
                  <a:srgbClr val="FF0000"/>
                </a:solidFill>
                <a:latin typeface="黑体" pitchFamily="2" charset="-122"/>
                <a:ea typeface="黑体" pitchFamily="2" charset="-122"/>
              </a:rPr>
              <a:t>浮点数的表示方法</a:t>
            </a:r>
          </a:p>
          <a:p>
            <a:pPr eaLnBrk="0" hangingPunct="0">
              <a:spcBef>
                <a:spcPts val="1200"/>
              </a:spcBef>
              <a:spcAft>
                <a:spcPts val="600"/>
              </a:spcAft>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电子的质量(9×10</a:t>
            </a:r>
            <a:r>
              <a:rPr lang="zh-CN" altLang="zh-CN" sz="2400" baseline="30000">
                <a:solidFill>
                  <a:srgbClr val="000000"/>
                </a:solidFill>
                <a:latin typeface="黑体" pitchFamily="2" charset="-122"/>
                <a:ea typeface="黑体" pitchFamily="2" charset="-122"/>
              </a:rPr>
              <a:t>－28</a:t>
            </a:r>
            <a:r>
              <a:rPr lang="zh-CN" altLang="zh-CN" sz="2400">
                <a:solidFill>
                  <a:srgbClr val="000000"/>
                </a:solidFill>
                <a:latin typeface="黑体" pitchFamily="2" charset="-122"/>
                <a:ea typeface="黑体" pitchFamily="2" charset="-122"/>
              </a:rPr>
              <a:t>克)和太阳的质量(2×10</a:t>
            </a:r>
            <a:r>
              <a:rPr lang="zh-CN" altLang="zh-CN" sz="2400" baseline="30000">
                <a:solidFill>
                  <a:srgbClr val="000000"/>
                </a:solidFill>
                <a:latin typeface="黑体" pitchFamily="2" charset="-122"/>
                <a:ea typeface="黑体" pitchFamily="2" charset="-122"/>
              </a:rPr>
              <a:t>33</a:t>
            </a:r>
            <a:r>
              <a:rPr lang="zh-CN" altLang="zh-CN" sz="2400">
                <a:solidFill>
                  <a:srgbClr val="000000"/>
                </a:solidFill>
                <a:latin typeface="黑体" pitchFamily="2" charset="-122"/>
                <a:ea typeface="黑体" pitchFamily="2" charset="-122"/>
              </a:rPr>
              <a:t>克)相差甚远，在定点计算机中无法直接来表示这个数值范围。要使它们送入定点计算机进行某种运算，必须对它们分别取不同的比例因子，使其数值部分绝对值小于1，即：</a:t>
            </a:r>
            <a:endParaRPr lang="zh-CN" altLang="zh-CN" sz="2400">
              <a:latin typeface="黑体" pitchFamily="2" charset="-122"/>
              <a:ea typeface="黑体" pitchFamily="2" charset="-122"/>
            </a:endParaRPr>
          </a:p>
          <a:p>
            <a:pPr eaLnBrk="0" hangingPunct="0">
              <a:spcBef>
                <a:spcPts val="1200"/>
              </a:spcBef>
              <a:spcAft>
                <a:spcPts val="600"/>
              </a:spcAft>
            </a:pPr>
            <a:r>
              <a:rPr lang="zh-CN" altLang="zh-CN" sz="2400">
                <a:solidFill>
                  <a:srgbClr val="6600FF"/>
                </a:solidFill>
                <a:latin typeface="黑体" pitchFamily="2" charset="-122"/>
                <a:ea typeface="黑体" pitchFamily="2" charset="-122"/>
              </a:rPr>
              <a:t>　　　9 × 10</a:t>
            </a:r>
            <a:r>
              <a:rPr lang="zh-CN" altLang="zh-CN" sz="2400" baseline="30000">
                <a:solidFill>
                  <a:srgbClr val="6600FF"/>
                </a:solidFill>
                <a:latin typeface="黑体" pitchFamily="2" charset="-122"/>
                <a:ea typeface="黑体" pitchFamily="2" charset="-122"/>
              </a:rPr>
              <a:t>－28 </a:t>
            </a:r>
            <a:r>
              <a:rPr lang="zh-CN" altLang="zh-CN" sz="2400">
                <a:solidFill>
                  <a:srgbClr val="6600FF"/>
                </a:solidFill>
                <a:latin typeface="黑体" pitchFamily="2" charset="-122"/>
                <a:ea typeface="黑体" pitchFamily="2" charset="-122"/>
              </a:rPr>
              <a:t>= 0.9 × 10</a:t>
            </a:r>
            <a:r>
              <a:rPr lang="zh-CN" altLang="zh-CN" sz="2400" baseline="30000">
                <a:solidFill>
                  <a:srgbClr val="6600FF"/>
                </a:solidFill>
                <a:latin typeface="黑体" pitchFamily="2" charset="-122"/>
                <a:ea typeface="黑体" pitchFamily="2" charset="-122"/>
              </a:rPr>
              <a:t>－27</a:t>
            </a:r>
            <a:endParaRPr lang="zh-CN" altLang="zh-CN" sz="2400">
              <a:latin typeface="黑体" pitchFamily="2" charset="-122"/>
              <a:ea typeface="黑体" pitchFamily="2" charset="-122"/>
            </a:endParaRPr>
          </a:p>
          <a:p>
            <a:pPr eaLnBrk="0" hangingPunct="0">
              <a:spcBef>
                <a:spcPts val="1200"/>
              </a:spcBef>
              <a:spcAft>
                <a:spcPts val="600"/>
              </a:spcAft>
            </a:pPr>
            <a:r>
              <a:rPr lang="zh-CN" altLang="zh-CN" sz="2400">
                <a:solidFill>
                  <a:srgbClr val="6600FF"/>
                </a:solidFill>
                <a:latin typeface="黑体" pitchFamily="2" charset="-122"/>
                <a:ea typeface="黑体" pitchFamily="2" charset="-122"/>
              </a:rPr>
              <a:t>　　　2 × 10</a:t>
            </a:r>
            <a:r>
              <a:rPr lang="zh-CN" altLang="zh-CN" sz="2400" baseline="30000">
                <a:solidFill>
                  <a:srgbClr val="6600FF"/>
                </a:solidFill>
                <a:latin typeface="黑体" pitchFamily="2" charset="-122"/>
                <a:ea typeface="黑体" pitchFamily="2" charset="-122"/>
              </a:rPr>
              <a:t>33</a:t>
            </a:r>
            <a:r>
              <a:rPr lang="zh-CN" altLang="zh-CN" sz="2400">
                <a:solidFill>
                  <a:srgbClr val="6600FF"/>
                </a:solidFill>
                <a:latin typeface="黑体" pitchFamily="2" charset="-122"/>
                <a:ea typeface="黑体" pitchFamily="2" charset="-122"/>
              </a:rPr>
              <a:t> = 0.2 × 10</a:t>
            </a:r>
            <a:r>
              <a:rPr lang="zh-CN" altLang="zh-CN" sz="2400" baseline="30000">
                <a:solidFill>
                  <a:srgbClr val="6600FF"/>
                </a:solidFill>
                <a:latin typeface="黑体" pitchFamily="2" charset="-122"/>
                <a:ea typeface="黑体" pitchFamily="2" charset="-122"/>
              </a:rPr>
              <a:t>34</a:t>
            </a:r>
            <a:endParaRPr lang="zh-CN" altLang="zh-CN" sz="2400">
              <a:latin typeface="黑体" pitchFamily="2" charset="-122"/>
              <a:ea typeface="黑体" pitchFamily="2" charset="-122"/>
            </a:endParaRPr>
          </a:p>
          <a:p>
            <a:pPr eaLnBrk="0" hangingPunct="0">
              <a:spcBef>
                <a:spcPts val="1200"/>
              </a:spcBef>
              <a:spcAft>
                <a:spcPts val="600"/>
              </a:spcAft>
            </a:pPr>
            <a:r>
              <a:rPr lang="zh-CN" altLang="zh-CN" sz="2400">
                <a:solidFill>
                  <a:srgbClr val="000000"/>
                </a:solidFill>
                <a:latin typeface="黑体" pitchFamily="2" charset="-122"/>
                <a:ea typeface="黑体" pitchFamily="2" charset="-122"/>
              </a:rPr>
              <a:t>　 </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这里的比例因子10</a:t>
            </a:r>
            <a:r>
              <a:rPr lang="zh-CN" altLang="zh-CN" sz="2400" baseline="30000">
                <a:solidFill>
                  <a:srgbClr val="000000"/>
                </a:solidFill>
                <a:latin typeface="黑体" pitchFamily="2" charset="-122"/>
                <a:ea typeface="黑体" pitchFamily="2" charset="-122"/>
              </a:rPr>
              <a:t>－27</a:t>
            </a:r>
            <a:r>
              <a:rPr lang="zh-CN" altLang="zh-CN" sz="2400">
                <a:solidFill>
                  <a:srgbClr val="000000"/>
                </a:solidFill>
                <a:latin typeface="黑体" pitchFamily="2" charset="-122"/>
                <a:ea typeface="黑体" pitchFamily="2" charset="-122"/>
              </a:rPr>
              <a:t> 和 10</a:t>
            </a:r>
            <a:r>
              <a:rPr lang="zh-CN" altLang="zh-CN" sz="2400" baseline="30000">
                <a:solidFill>
                  <a:srgbClr val="000000"/>
                </a:solidFill>
                <a:latin typeface="黑体" pitchFamily="2" charset="-122"/>
                <a:ea typeface="黑体" pitchFamily="2" charset="-122"/>
              </a:rPr>
              <a:t>34 </a:t>
            </a:r>
            <a:r>
              <a:rPr lang="zh-CN" altLang="zh-CN" sz="2400">
                <a:solidFill>
                  <a:srgbClr val="000000"/>
                </a:solidFill>
                <a:latin typeface="黑体" pitchFamily="2" charset="-122"/>
                <a:ea typeface="黑体" pitchFamily="2" charset="-122"/>
              </a:rPr>
              <a:t>要分别存放在机器的某个存储单元中，以便以后对计算结果按这个比例增大。显然这要占用一定的存储空间和运算时间。因此得到浮电表示法如下：</a:t>
            </a:r>
            <a:endParaRPr lang="zh-CN" altLang="zh-CN" sz="2400">
              <a:latin typeface="黑体" pitchFamily="2" charset="-122"/>
              <a:ea typeface="黑体" pitchFamily="2" charset="-122"/>
            </a:endParaRPr>
          </a:p>
          <a:p>
            <a:pPr eaLnBrk="0" hangingPunct="0">
              <a:spcBef>
                <a:spcPts val="1200"/>
              </a:spcBef>
              <a:spcAft>
                <a:spcPts val="600"/>
              </a:spcAft>
            </a:pPr>
            <a:r>
              <a:rPr lang="zh-CN" altLang="zh-CN" sz="2400" b="1">
                <a:solidFill>
                  <a:srgbClr val="FF0000"/>
                </a:solidFill>
                <a:latin typeface="黑体" pitchFamily="2" charset="-122"/>
                <a:ea typeface="黑体" pitchFamily="2" charset="-122"/>
              </a:rPr>
              <a:t>　</a:t>
            </a:r>
            <a:r>
              <a:rPr lang="en-US" altLang="zh-CN" sz="2400" b="1">
                <a:solidFill>
                  <a:srgbClr val="FF0000"/>
                </a:solidFill>
                <a:latin typeface="黑体" pitchFamily="2" charset="-122"/>
                <a:ea typeface="黑体" pitchFamily="2" charset="-122"/>
              </a:rPr>
              <a:t>  </a:t>
            </a:r>
            <a:r>
              <a:rPr lang="zh-CN" altLang="zh-CN" sz="2400" b="1">
                <a:solidFill>
                  <a:srgbClr val="FF0000"/>
                </a:solidFill>
                <a:latin typeface="黑体" pitchFamily="2" charset="-122"/>
                <a:ea typeface="黑体" pitchFamily="2" charset="-122"/>
              </a:rPr>
              <a:t>浮点表示法</a:t>
            </a:r>
            <a:r>
              <a:rPr lang="zh-CN" altLang="zh-CN" sz="2400">
                <a:solidFill>
                  <a:srgbClr val="000000"/>
                </a:solidFill>
                <a:latin typeface="黑体" pitchFamily="2" charset="-122"/>
                <a:ea typeface="黑体" pitchFamily="2" charset="-122"/>
              </a:rPr>
              <a:t>：把一个数的有效数字和数的范围在计算机的一个存储单元中分别予以表示，这种把数的范围和精度分别表示的方法，相当于数的小数点位置随比例因子不同而在一定范围内自由浮动。</a:t>
            </a:r>
            <a:endParaRPr lang="zh-CN" altLang="zh-CN" sz="240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ChangeArrowheads="1"/>
          </p:cNvSpPr>
          <p:nvPr/>
        </p:nvSpPr>
        <p:spPr bwMode="auto">
          <a:xfrm>
            <a:off x="166688" y="73025"/>
            <a:ext cx="8785225"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任意一个十进制数</a:t>
            </a:r>
            <a:r>
              <a:rPr lang="zh-CN" altLang="zh-CN" sz="2400" i="1" dirty="0">
                <a:latin typeface="黑体" pitchFamily="2" charset="-122"/>
                <a:ea typeface="黑体" pitchFamily="2" charset="-122"/>
              </a:rPr>
              <a:t>Ｎ</a:t>
            </a:r>
            <a:r>
              <a:rPr lang="zh-CN" altLang="zh-CN" sz="2400" dirty="0">
                <a:latin typeface="黑体" pitchFamily="2" charset="-122"/>
                <a:ea typeface="黑体" pitchFamily="2" charset="-122"/>
              </a:rPr>
              <a:t>可以写成</a:t>
            </a:r>
          </a:p>
          <a:p>
            <a:pPr eaLnBrk="0" hangingPunct="0">
              <a:lnSpc>
                <a:spcPct val="150000"/>
              </a:lnSpc>
            </a:pPr>
            <a:r>
              <a:rPr lang="zh-CN" altLang="zh-CN" sz="2400" i="1" dirty="0">
                <a:solidFill>
                  <a:srgbClr val="6600FF"/>
                </a:solidFill>
                <a:latin typeface="黑体" pitchFamily="2" charset="-122"/>
                <a:ea typeface="黑体" pitchFamily="2" charset="-122"/>
              </a:rPr>
              <a:t>　　　Ｎ</a:t>
            </a:r>
            <a:r>
              <a:rPr lang="zh-CN" altLang="zh-CN" sz="2400" baseline="30000" dirty="0">
                <a:solidFill>
                  <a:srgbClr val="6600FF"/>
                </a:solidFill>
                <a:latin typeface="黑体" pitchFamily="2" charset="-122"/>
                <a:ea typeface="黑体" pitchFamily="2" charset="-122"/>
              </a:rPr>
              <a:t>＝</a:t>
            </a:r>
            <a:r>
              <a:rPr lang="zh-CN" altLang="zh-CN" sz="2400" i="1" dirty="0">
                <a:solidFill>
                  <a:srgbClr val="6600FF"/>
                </a:solidFill>
                <a:latin typeface="黑体" pitchFamily="2" charset="-122"/>
                <a:ea typeface="黑体" pitchFamily="2" charset="-122"/>
              </a:rPr>
              <a:t>10</a:t>
            </a:r>
            <a:r>
              <a:rPr lang="en-US" altLang="zh-CN" sz="2400" i="1" dirty="0">
                <a:solidFill>
                  <a:srgbClr val="6600FF"/>
                </a:solidFill>
                <a:latin typeface="黑体" pitchFamily="2" charset="-122"/>
                <a:ea typeface="黑体" pitchFamily="2" charset="-122"/>
              </a:rPr>
              <a:t> </a:t>
            </a:r>
            <a:r>
              <a:rPr lang="zh-CN" altLang="zh-CN" sz="2400" i="1" baseline="30000" dirty="0">
                <a:solidFill>
                  <a:srgbClr val="6600FF"/>
                </a:solidFill>
                <a:latin typeface="黑体" pitchFamily="2" charset="-122"/>
                <a:ea typeface="黑体" pitchFamily="2" charset="-122"/>
              </a:rPr>
              <a:t>E</a:t>
            </a:r>
            <a:r>
              <a:rPr lang="zh-CN" altLang="zh-CN" sz="2400" i="1" dirty="0">
                <a:solidFill>
                  <a:srgbClr val="6600FF"/>
                </a:solidFill>
                <a:latin typeface="黑体" pitchFamily="2" charset="-122"/>
                <a:ea typeface="黑体" pitchFamily="2" charset="-122"/>
              </a:rPr>
              <a:t>.Ｍ　　　　　　　　　　　 </a:t>
            </a:r>
            <a:r>
              <a:rPr lang="zh-CN" altLang="zh-CN" sz="2400" dirty="0">
                <a:solidFill>
                  <a:srgbClr val="6600FF"/>
                </a:solidFill>
                <a:latin typeface="黑体" pitchFamily="2" charset="-122"/>
                <a:ea typeface="黑体" pitchFamily="2" charset="-122"/>
              </a:rPr>
              <a:t>(2.3)</a:t>
            </a:r>
            <a:endParaRPr lang="zh-CN" altLang="zh-CN" sz="2400" dirty="0">
              <a:latin typeface="黑体" pitchFamily="2" charset="-122"/>
              <a:ea typeface="黑体" pitchFamily="2" charset="-122"/>
            </a:endParaRPr>
          </a:p>
          <a:p>
            <a:pPr eaLnBrk="0" hangingPunct="0">
              <a:lnSpc>
                <a:spcPct val="150000"/>
              </a:lnSpc>
            </a:pPr>
            <a:r>
              <a:rPr lang="zh-CN" altLang="zh-CN" sz="2400" dirty="0">
                <a:latin typeface="黑体" pitchFamily="2" charset="-122"/>
                <a:ea typeface="黑体" pitchFamily="2" charset="-122"/>
              </a:rPr>
              <a:t>　　同样，在计算机中一个任意进制数</a:t>
            </a:r>
            <a:r>
              <a:rPr lang="zh-CN" altLang="zh-CN" sz="2400" i="1" dirty="0">
                <a:latin typeface="黑体" pitchFamily="2" charset="-122"/>
                <a:ea typeface="黑体" pitchFamily="2" charset="-122"/>
              </a:rPr>
              <a:t>Ｎ </a:t>
            </a:r>
            <a:r>
              <a:rPr lang="zh-CN" altLang="zh-CN" sz="2400" dirty="0">
                <a:latin typeface="黑体" pitchFamily="2" charset="-122"/>
                <a:ea typeface="黑体" pitchFamily="2" charset="-122"/>
              </a:rPr>
              <a:t>可以写成</a:t>
            </a:r>
          </a:p>
          <a:p>
            <a:pPr eaLnBrk="0" hangingPunct="0">
              <a:lnSpc>
                <a:spcPct val="150000"/>
              </a:lnSpc>
            </a:pPr>
            <a:r>
              <a:rPr lang="zh-CN" altLang="zh-CN" sz="2400" i="1" dirty="0">
                <a:solidFill>
                  <a:srgbClr val="6600FF"/>
                </a:solidFill>
                <a:latin typeface="黑体" pitchFamily="2" charset="-122"/>
                <a:ea typeface="黑体" pitchFamily="2" charset="-122"/>
              </a:rPr>
              <a:t>　　　Ｎ＝Ｒ</a:t>
            </a:r>
            <a:r>
              <a:rPr lang="zh-CN" altLang="zh-CN" sz="2400" i="1" baseline="30000" dirty="0">
                <a:solidFill>
                  <a:srgbClr val="6600FF"/>
                </a:solidFill>
                <a:latin typeface="黑体" pitchFamily="2" charset="-122"/>
                <a:ea typeface="黑体" pitchFamily="2" charset="-122"/>
              </a:rPr>
              <a:t>e</a:t>
            </a:r>
            <a:r>
              <a:rPr lang="zh-CN" altLang="zh-CN" sz="2400" i="1" dirty="0">
                <a:solidFill>
                  <a:srgbClr val="6600FF"/>
                </a:solidFill>
                <a:latin typeface="黑体" pitchFamily="2" charset="-122"/>
                <a:ea typeface="黑体" pitchFamily="2" charset="-122"/>
              </a:rPr>
              <a:t>.Ｍ</a:t>
            </a:r>
            <a:r>
              <a:rPr lang="zh-CN" altLang="zh-CN" sz="2400" dirty="0">
                <a:solidFill>
                  <a:srgbClr val="6600FF"/>
                </a:solidFill>
                <a:latin typeface="黑体" pitchFamily="2" charset="-122"/>
                <a:ea typeface="黑体" pitchFamily="2" charset="-122"/>
              </a:rPr>
              <a:t>　　　　　　　　　　　</a:t>
            </a:r>
            <a:r>
              <a:rPr lang="en-US" altLang="zh-CN" sz="2400" dirty="0">
                <a:solidFill>
                  <a:srgbClr val="6600FF"/>
                </a:solidFill>
                <a:latin typeface="黑体" pitchFamily="2" charset="-122"/>
                <a:ea typeface="黑体" pitchFamily="2" charset="-122"/>
              </a:rPr>
              <a:t> </a:t>
            </a:r>
            <a:r>
              <a:rPr lang="zh-CN" altLang="zh-CN" sz="2400" dirty="0">
                <a:solidFill>
                  <a:srgbClr val="6600FF"/>
                </a:solidFill>
                <a:latin typeface="黑体" pitchFamily="2" charset="-122"/>
                <a:ea typeface="黑体" pitchFamily="2" charset="-122"/>
              </a:rPr>
              <a:t>(2.4)</a:t>
            </a:r>
            <a:endParaRPr lang="zh-CN" altLang="zh-CN" sz="2400" dirty="0">
              <a:latin typeface="黑体" pitchFamily="2" charset="-122"/>
              <a:ea typeface="黑体" pitchFamily="2" charset="-122"/>
            </a:endParaRPr>
          </a:p>
          <a:p>
            <a:pPr eaLnBrk="0" hangingPunct="0">
              <a:lnSpc>
                <a:spcPct val="150000"/>
              </a:lnSpc>
            </a:pPr>
            <a:r>
              <a:rPr lang="en-US" altLang="zh-CN" sz="2400" i="1" dirty="0">
                <a:solidFill>
                  <a:srgbClr val="000000"/>
                </a:solidFill>
                <a:latin typeface="黑体" pitchFamily="2" charset="-122"/>
                <a:ea typeface="黑体" pitchFamily="2" charset="-122"/>
              </a:rPr>
              <a:t>    </a:t>
            </a:r>
            <a:r>
              <a:rPr lang="zh-CN" altLang="zh-CN" sz="2400" i="1" dirty="0">
                <a:solidFill>
                  <a:srgbClr val="000000"/>
                </a:solidFill>
                <a:latin typeface="黑体" pitchFamily="2" charset="-122"/>
                <a:ea typeface="黑体" pitchFamily="2" charset="-122"/>
              </a:rPr>
              <a:t>Ｍ</a:t>
            </a:r>
            <a:r>
              <a:rPr lang="zh-CN" altLang="zh-CN" sz="2400" dirty="0">
                <a:solidFill>
                  <a:srgbClr val="000000"/>
                </a:solidFill>
                <a:latin typeface="黑体" pitchFamily="2" charset="-122"/>
                <a:ea typeface="黑体" pitchFamily="2" charset="-122"/>
              </a:rPr>
              <a:t> ：浮点数的</a:t>
            </a:r>
            <a:r>
              <a:rPr lang="zh-CN" altLang="zh-CN" sz="2400" dirty="0">
                <a:solidFill>
                  <a:srgbClr val="FF0000"/>
                </a:solidFill>
                <a:latin typeface="黑体" pitchFamily="2" charset="-122"/>
                <a:ea typeface="黑体" pitchFamily="2" charset="-122"/>
              </a:rPr>
              <a:t>尾数</a:t>
            </a:r>
            <a:r>
              <a:rPr lang="zh-CN" altLang="zh-CN" sz="2400" dirty="0">
                <a:solidFill>
                  <a:srgbClr val="000000"/>
                </a:solidFill>
                <a:latin typeface="黑体" pitchFamily="2" charset="-122"/>
                <a:ea typeface="黑体" pitchFamily="2" charset="-122"/>
              </a:rPr>
              <a:t>，是一个纯小数。</a:t>
            </a:r>
          </a:p>
          <a:p>
            <a:pPr eaLnBrk="0" hangingPunct="0">
              <a:lnSpc>
                <a:spcPct val="150000"/>
              </a:lnSpc>
            </a:pPr>
            <a:r>
              <a:rPr lang="en-US" altLang="zh-CN" sz="2400" i="1" dirty="0">
                <a:solidFill>
                  <a:srgbClr val="000000"/>
                </a:solidFill>
                <a:latin typeface="黑体" pitchFamily="2" charset="-122"/>
                <a:ea typeface="黑体" pitchFamily="2" charset="-122"/>
              </a:rPr>
              <a:t>     </a:t>
            </a:r>
            <a:r>
              <a:rPr lang="zh-CN" altLang="zh-CN" sz="2400" i="1" dirty="0">
                <a:solidFill>
                  <a:srgbClr val="000000"/>
                </a:solidFill>
                <a:latin typeface="黑体" pitchFamily="2" charset="-122"/>
                <a:ea typeface="黑体" pitchFamily="2" charset="-122"/>
              </a:rPr>
              <a:t>e</a:t>
            </a:r>
            <a:r>
              <a:rPr lang="zh-CN" altLang="zh-CN" sz="2400" dirty="0">
                <a:solidFill>
                  <a:srgbClr val="000000"/>
                </a:solidFill>
                <a:latin typeface="黑体" pitchFamily="2" charset="-122"/>
                <a:ea typeface="黑体" pitchFamily="2" charset="-122"/>
              </a:rPr>
              <a:t> ：比例因子的指数，称为浮点数的</a:t>
            </a:r>
            <a:r>
              <a:rPr lang="zh-CN" altLang="zh-CN" sz="2400" dirty="0">
                <a:solidFill>
                  <a:srgbClr val="FF0000"/>
                </a:solidFill>
                <a:latin typeface="黑体" pitchFamily="2" charset="-122"/>
                <a:ea typeface="黑体" pitchFamily="2" charset="-122"/>
              </a:rPr>
              <a:t>指数</a:t>
            </a:r>
            <a:r>
              <a:rPr lang="zh-CN" altLang="zh-CN" sz="2400" dirty="0">
                <a:solidFill>
                  <a:srgbClr val="000000"/>
                </a:solidFill>
                <a:latin typeface="黑体" pitchFamily="2" charset="-122"/>
                <a:ea typeface="黑体" pitchFamily="2" charset="-122"/>
              </a:rPr>
              <a:t>，是一个整数。</a:t>
            </a:r>
          </a:p>
          <a:p>
            <a:pPr eaLnBrk="0" hangingPunct="0">
              <a:lnSpc>
                <a:spcPct val="150000"/>
              </a:lnSpc>
            </a:pPr>
            <a:r>
              <a:rPr lang="en-US" altLang="zh-CN" sz="2400" i="1" dirty="0">
                <a:solidFill>
                  <a:srgbClr val="000000"/>
                </a:solidFill>
                <a:latin typeface="黑体" pitchFamily="2" charset="-122"/>
                <a:ea typeface="黑体" pitchFamily="2" charset="-122"/>
              </a:rPr>
              <a:t>     </a:t>
            </a:r>
            <a:r>
              <a:rPr lang="zh-CN" altLang="zh-CN" sz="2400" i="1" dirty="0">
                <a:solidFill>
                  <a:srgbClr val="000000"/>
                </a:solidFill>
                <a:latin typeface="黑体" pitchFamily="2" charset="-122"/>
                <a:ea typeface="黑体" pitchFamily="2" charset="-122"/>
              </a:rPr>
              <a:t>R </a:t>
            </a:r>
            <a:r>
              <a:rPr lang="zh-CN" altLang="zh-CN" sz="2400" dirty="0">
                <a:solidFill>
                  <a:srgbClr val="000000"/>
                </a:solidFill>
                <a:latin typeface="黑体" pitchFamily="2" charset="-122"/>
                <a:ea typeface="黑体" pitchFamily="2" charset="-122"/>
              </a:rPr>
              <a:t>：比例因子的</a:t>
            </a:r>
            <a:r>
              <a:rPr lang="zh-CN" altLang="zh-CN" sz="2400" dirty="0">
                <a:solidFill>
                  <a:srgbClr val="FF0000"/>
                </a:solidFill>
                <a:latin typeface="黑体" pitchFamily="2" charset="-122"/>
                <a:ea typeface="黑体" pitchFamily="2" charset="-122"/>
              </a:rPr>
              <a:t>基数</a:t>
            </a:r>
            <a:endParaRPr lang="zh-CN" altLang="zh-CN" sz="2400" dirty="0">
              <a:solidFill>
                <a:srgbClr val="000000"/>
              </a:solidFill>
              <a:latin typeface="黑体" pitchFamily="2" charset="-122"/>
              <a:ea typeface="黑体" pitchFamily="2" charset="-122"/>
            </a:endParaRPr>
          </a:p>
          <a:p>
            <a:pPr eaLnBrk="0" hangingPunct="0">
              <a:lnSpc>
                <a:spcPct val="150000"/>
              </a:lnSpc>
            </a:pP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一般规定</a:t>
            </a:r>
            <a:r>
              <a:rPr lang="zh-CN" altLang="zh-CN" sz="2400" i="1" dirty="0">
                <a:solidFill>
                  <a:srgbClr val="000000"/>
                </a:solidFill>
                <a:latin typeface="黑体" pitchFamily="2" charset="-122"/>
                <a:ea typeface="黑体" pitchFamily="2" charset="-122"/>
              </a:rPr>
              <a:t>Ｒ</a:t>
            </a:r>
            <a:r>
              <a:rPr lang="zh-CN" altLang="zh-CN" sz="2400" dirty="0">
                <a:solidFill>
                  <a:srgbClr val="000000"/>
                </a:solidFill>
                <a:latin typeface="黑体" pitchFamily="2" charset="-122"/>
                <a:ea typeface="黑体" pitchFamily="2" charset="-122"/>
              </a:rPr>
              <a:t>为2，8或16。对于二进记数制的机器是个常数。</a:t>
            </a:r>
          </a:p>
          <a:p>
            <a:pPr eaLnBrk="0" hangingPunct="0">
              <a:lnSpc>
                <a:spcPct val="150000"/>
              </a:lnSpc>
            </a:pPr>
            <a:r>
              <a:rPr lang="zh-CN" altLang="zh-CN" sz="2400" dirty="0">
                <a:solidFill>
                  <a:srgbClr val="000000"/>
                </a:solidFill>
                <a:latin typeface="黑体" pitchFamily="2" charset="-122"/>
                <a:ea typeface="黑体" pitchFamily="2" charset="-122"/>
              </a:rPr>
              <a:t>　 </a:t>
            </a: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一个机器浮点数由阶码和尾数及其符号位组成（</a:t>
            </a:r>
            <a:r>
              <a:rPr lang="zh-CN" altLang="zh-CN" sz="2400" dirty="0">
                <a:solidFill>
                  <a:srgbClr val="FF0000"/>
                </a:solidFill>
                <a:latin typeface="黑体" pitchFamily="2" charset="-122"/>
                <a:ea typeface="黑体" pitchFamily="2" charset="-122"/>
              </a:rPr>
              <a:t>尾数</a:t>
            </a:r>
            <a:r>
              <a:rPr lang="zh-CN" altLang="zh-CN" sz="2400" dirty="0">
                <a:solidFill>
                  <a:srgbClr val="000000"/>
                </a:solidFill>
                <a:latin typeface="黑体" pitchFamily="2" charset="-122"/>
                <a:ea typeface="黑体" pitchFamily="2" charset="-122"/>
              </a:rPr>
              <a:t>：用定点小数表示，给出有效数字的位数决定了浮点数的表示精度；</a:t>
            </a:r>
            <a:r>
              <a:rPr lang="zh-CN" altLang="zh-CN" sz="2400" dirty="0">
                <a:solidFill>
                  <a:srgbClr val="FF0000"/>
                </a:solidFill>
                <a:latin typeface="黑体" pitchFamily="2" charset="-122"/>
                <a:ea typeface="黑体" pitchFamily="2" charset="-122"/>
              </a:rPr>
              <a:t>阶码</a:t>
            </a:r>
            <a:r>
              <a:rPr lang="zh-CN" altLang="zh-CN" sz="2400" dirty="0">
                <a:solidFill>
                  <a:srgbClr val="333333"/>
                </a:solidFill>
                <a:latin typeface="黑体" pitchFamily="2" charset="-122"/>
                <a:ea typeface="黑体" pitchFamily="2" charset="-122"/>
              </a:rPr>
              <a:t>（指数部分）</a:t>
            </a:r>
            <a:r>
              <a:rPr lang="zh-CN" altLang="zh-CN" sz="2400" dirty="0">
                <a:solidFill>
                  <a:srgbClr val="000000"/>
                </a:solidFill>
                <a:latin typeface="黑体" pitchFamily="2" charset="-122"/>
                <a:ea typeface="黑体" pitchFamily="2" charset="-122"/>
              </a:rPr>
              <a:t>：用整数形式表示，指明小数点在数据中的位置，决定了浮点数的表示范围。）</a:t>
            </a:r>
            <a:endParaRPr lang="zh-CN" altLang="zh-C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ChangeArrowheads="1"/>
          </p:cNvSpPr>
          <p:nvPr/>
        </p:nvSpPr>
        <p:spPr bwMode="auto">
          <a:xfrm>
            <a:off x="149225" y="260440"/>
            <a:ext cx="8887271"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0" hangingPunct="0">
              <a:lnSpc>
                <a:spcPct val="150000"/>
              </a:lnSpc>
            </a:pP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在早期计算机中：</a:t>
            </a:r>
            <a:endParaRPr lang="en-US" altLang="zh-CN" sz="2400" dirty="0">
              <a:solidFill>
                <a:srgbClr val="000000"/>
              </a:solidFill>
              <a:latin typeface="黑体" pitchFamily="2" charset="-122"/>
              <a:ea typeface="黑体" pitchFamily="2" charset="-122"/>
            </a:endParaRPr>
          </a:p>
          <a:p>
            <a:pPr eaLnBrk="0" hangingPunct="0">
              <a:lnSpc>
                <a:spcPct val="150000"/>
              </a:lnSpc>
            </a:pPr>
            <a:endParaRPr lang="en-US" altLang="zh-CN" sz="2400" dirty="0">
              <a:solidFill>
                <a:srgbClr val="000000"/>
              </a:solidFill>
              <a:latin typeface="黑体" pitchFamily="2" charset="-122"/>
              <a:ea typeface="黑体" pitchFamily="2" charset="-122"/>
            </a:endParaRPr>
          </a:p>
          <a:p>
            <a:pPr eaLnBrk="0" hangingPunct="0">
              <a:lnSpc>
                <a:spcPct val="150000"/>
              </a:lnSpc>
            </a:pPr>
            <a:endParaRPr lang="zh-CN" altLang="zh-CN" sz="2400" dirty="0">
              <a:solidFill>
                <a:srgbClr val="000000"/>
              </a:solidFill>
              <a:latin typeface="黑体" pitchFamily="2" charset="-122"/>
              <a:ea typeface="黑体" pitchFamily="2" charset="-122"/>
            </a:endParaRPr>
          </a:p>
          <a:p>
            <a:pPr eaLnBrk="0" hangingPunct="0">
              <a:lnSpc>
                <a:spcPct val="150000"/>
              </a:lnSpc>
            </a:pPr>
            <a:r>
              <a:rPr lang="zh-CN" altLang="zh-CN" sz="2400" dirty="0">
                <a:latin typeface="黑体" pitchFamily="2" charset="-122"/>
                <a:ea typeface="黑体" pitchFamily="2" charset="-122"/>
              </a:rPr>
              <a:t>  </a:t>
            </a:r>
          </a:p>
          <a:p>
            <a:pPr eaLnBrk="0" hangingPunct="0">
              <a:lnSpc>
                <a:spcPct val="150000"/>
              </a:lnSpc>
            </a:pPr>
            <a:r>
              <a:rPr lang="en-US" altLang="zh-CN" sz="2400" dirty="0">
                <a:latin typeface="黑体" pitchFamily="2" charset="-122"/>
                <a:ea typeface="黑体" pitchFamily="2" charset="-122"/>
              </a:rPr>
              <a:t> </a:t>
            </a:r>
            <a:r>
              <a:rPr lang="zh-CN" altLang="zh-CN" sz="2400" dirty="0" smtClean="0">
                <a:latin typeface="黑体" pitchFamily="2" charset="-122"/>
                <a:ea typeface="黑体" pitchFamily="2" charset="-122"/>
              </a:rPr>
              <a:t>若</a:t>
            </a:r>
            <a:r>
              <a:rPr lang="zh-CN" altLang="zh-CN" sz="2400" dirty="0">
                <a:latin typeface="黑体" pitchFamily="2" charset="-122"/>
                <a:ea typeface="黑体" pitchFamily="2" charset="-122"/>
              </a:rPr>
              <a:t>不对浮点数的表示作明确规定，同一个浮点数的表示不唯一</a:t>
            </a:r>
            <a:r>
              <a:rPr lang="zh-CN" altLang="zh-CN" sz="2400" dirty="0" smtClean="0">
                <a:latin typeface="黑体" pitchFamily="2" charset="-122"/>
                <a:ea typeface="黑体" pitchFamily="2" charset="-122"/>
              </a:rPr>
              <a:t>。</a:t>
            </a:r>
            <a:r>
              <a:rPr lang="en-US" altLang="zh-CN" sz="2400" dirty="0" smtClean="0">
                <a:latin typeface="黑体" pitchFamily="2" charset="-122"/>
                <a:ea typeface="黑体" pitchFamily="2" charset="-122"/>
              </a:rPr>
              <a:t> </a:t>
            </a:r>
          </a:p>
          <a:p>
            <a:pPr eaLnBrk="0" hangingPunct="0">
              <a:lnSpc>
                <a:spcPct val="150000"/>
              </a:lnSpc>
            </a:pP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1</a:t>
            </a:r>
            <a:r>
              <a:rPr lang="zh-CN" altLang="zh-CN" sz="2400" dirty="0">
                <a:latin typeface="黑体" pitchFamily="2" charset="-122"/>
                <a:ea typeface="黑体" pitchFamily="2" charset="-122"/>
              </a:rPr>
              <a:t>.11可以表示成 0.111 x 2</a:t>
            </a:r>
            <a:r>
              <a:rPr lang="zh-CN" altLang="zh-CN" sz="2400" baseline="30000" dirty="0">
                <a:latin typeface="黑体" pitchFamily="2" charset="-122"/>
                <a:ea typeface="黑体" pitchFamily="2" charset="-122"/>
              </a:rPr>
              <a:t>1</a:t>
            </a:r>
            <a:r>
              <a:rPr lang="zh-CN" altLang="zh-CN" sz="2400" dirty="0">
                <a:latin typeface="黑体" pitchFamily="2" charset="-122"/>
                <a:ea typeface="黑体" pitchFamily="2" charset="-122"/>
              </a:rPr>
              <a:t>、0.0111 x 2</a:t>
            </a:r>
            <a:r>
              <a:rPr lang="zh-CN" altLang="zh-CN" sz="2400" baseline="30000" dirty="0">
                <a:latin typeface="黑体" pitchFamily="2" charset="-122"/>
                <a:ea typeface="黑体" pitchFamily="2" charset="-122"/>
              </a:rPr>
              <a:t>2</a:t>
            </a:r>
            <a:r>
              <a:rPr lang="zh-CN" altLang="zh-CN" sz="2400" dirty="0">
                <a:latin typeface="黑体" pitchFamily="2" charset="-122"/>
                <a:ea typeface="黑体" pitchFamily="2" charset="-122"/>
              </a:rPr>
              <a:t>、0.00111 x 2</a:t>
            </a:r>
            <a:r>
              <a:rPr lang="zh-CN" altLang="zh-CN" sz="2400" baseline="30000" dirty="0">
                <a:latin typeface="黑体" pitchFamily="2" charset="-122"/>
                <a:ea typeface="黑体" pitchFamily="2" charset="-122"/>
              </a:rPr>
              <a:t>3</a:t>
            </a:r>
            <a:r>
              <a:rPr lang="zh-CN" altLang="zh-CN" sz="2400" dirty="0">
                <a:latin typeface="黑体" pitchFamily="2" charset="-122"/>
                <a:ea typeface="黑体" pitchFamily="2" charset="-122"/>
              </a:rPr>
              <a:t>等。</a:t>
            </a:r>
          </a:p>
          <a:p>
            <a:pPr eaLnBrk="0" hangingPunct="0">
              <a:lnSpc>
                <a:spcPct val="150000"/>
              </a:lnSpc>
            </a:pPr>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为了提高数据的表示精度，当尾数的值不为0时，尾数域的最高有效位应为1，否则要以修改阶码同时左右移小数点的办法，使其变成这一要求的表示形式，这称为浮点数的</a:t>
            </a:r>
            <a:r>
              <a:rPr lang="zh-CN" altLang="zh-CN" sz="2400" b="1" dirty="0">
                <a:solidFill>
                  <a:srgbClr val="FF0000"/>
                </a:solidFill>
                <a:latin typeface="黑体" pitchFamily="2" charset="-122"/>
                <a:ea typeface="黑体" pitchFamily="2" charset="-122"/>
              </a:rPr>
              <a:t>规格化表示</a:t>
            </a:r>
            <a:r>
              <a:rPr lang="zh-CN" altLang="zh-CN" sz="2400" dirty="0">
                <a:latin typeface="黑体" pitchFamily="2" charset="-122"/>
                <a:ea typeface="黑体" pitchFamily="2" charset="-122"/>
              </a:rPr>
              <a:t>。这是一般形式，如果没有特殊要求的就是这种形式。如有特殊要求，那么按特殊要求的形式来写。 </a:t>
            </a:r>
          </a:p>
        </p:txBody>
      </p:sp>
      <p:sp>
        <p:nvSpPr>
          <p:cNvPr id="10243" name="AutoShape 2" descr="G:\jzdx\%E8%AE%A1%E7%AE%97%E6%9C%BA%E7%BB%84%E6%88%90%E5%8E%9F%E7%90%86\%E6%95%99%E6%A1%88\%E7%AC%AC%E4%BA%8C%E7%AB%A0\Images\picture2.gif"/>
          <p:cNvSpPr>
            <a:spLocks noChangeAspect="1" noChangeArrowheads="1"/>
          </p:cNvSpPr>
          <p:nvPr/>
        </p:nvSpPr>
        <p:spPr bwMode="auto">
          <a:xfrm>
            <a:off x="149225" y="-228600"/>
            <a:ext cx="61436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24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052513"/>
            <a:ext cx="7110412"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73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323528" y="1095028"/>
            <a:ext cx="8423854" cy="5053691"/>
          </a:xfrm>
          <a:prstGeom prst="rect">
            <a:avLst/>
          </a:prstGeom>
        </p:spPr>
        <p:txBody>
          <a:bodyPr wrap="square">
            <a:spAutoFit/>
          </a:bodyPr>
          <a:lstStyle/>
          <a:p>
            <a:pPr>
              <a:lnSpc>
                <a:spcPct val="120000"/>
              </a:lnSpc>
            </a:pPr>
            <a:r>
              <a:rPr lang="en-US" altLang="zh-CN" sz="2800" dirty="0" smtClean="0">
                <a:latin typeface="华文新魏" panose="02010800040101010101" pitchFamily="2" charset="-122"/>
                <a:ea typeface="华文新魏" panose="02010800040101010101" pitchFamily="2" charset="-122"/>
              </a:rPr>
              <a:t>16</a:t>
            </a:r>
            <a:r>
              <a:rPr lang="zh-CN" altLang="zh-CN" sz="2800" dirty="0">
                <a:latin typeface="华文新魏" panose="02010800040101010101" pitchFamily="2" charset="-122"/>
                <a:ea typeface="华文新魏" panose="02010800040101010101" pitchFamily="2" charset="-122"/>
              </a:rPr>
              <a:t>位字长（其中最高位为符号位）表示定点</a:t>
            </a:r>
            <a:r>
              <a:rPr lang="zh-CN" altLang="zh-CN" sz="2800" dirty="0" smtClean="0">
                <a:latin typeface="华文新魏" panose="02010800040101010101" pitchFamily="2" charset="-122"/>
                <a:ea typeface="华文新魏" panose="02010800040101010101" pitchFamily="2" charset="-122"/>
              </a:rPr>
              <a:t>整数</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zh-CN" altLang="zh-CN" sz="2800" dirty="0" smtClean="0">
                <a:latin typeface="华文新魏" panose="02010800040101010101" pitchFamily="2" charset="-122"/>
                <a:ea typeface="华文新魏" panose="02010800040101010101" pitchFamily="2" charset="-122"/>
              </a:rPr>
              <a:t>时</a:t>
            </a:r>
            <a:r>
              <a:rPr lang="zh-CN" altLang="zh-CN" sz="2800" dirty="0">
                <a:latin typeface="华文新魏" panose="02010800040101010101" pitchFamily="2" charset="-122"/>
                <a:ea typeface="华文新魏" panose="02010800040101010101" pitchFamily="2" charset="-122"/>
              </a:rPr>
              <a:t>，所能表示的数值范围是</a:t>
            </a:r>
            <a:r>
              <a:rPr lang="en-US" altLang="zh-CN" sz="2800" dirty="0">
                <a:latin typeface="华文新魏" panose="02010800040101010101" pitchFamily="2" charset="-122"/>
                <a:ea typeface="华文新魏" panose="02010800040101010101" pitchFamily="2" charset="-122"/>
              </a:rPr>
              <a:t>______ </a:t>
            </a:r>
            <a:r>
              <a:rPr lang="zh-CN" altLang="zh-CN" sz="2800" dirty="0">
                <a:latin typeface="华文新魏" panose="02010800040101010101" pitchFamily="2" charset="-122"/>
                <a:ea typeface="华文新魏" panose="02010800040101010101" pitchFamily="2" charset="-122"/>
              </a:rPr>
              <a:t>。</a:t>
            </a:r>
          </a:p>
          <a:p>
            <a:pPr>
              <a:lnSpc>
                <a:spcPct val="150000"/>
              </a:lnSpc>
              <a:spcBef>
                <a:spcPts val="600"/>
              </a:spcBef>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-2</a:t>
            </a:r>
            <a:r>
              <a:rPr lang="en-US" altLang="zh-CN" sz="2800" baseline="30000" dirty="0">
                <a:latin typeface="华文新魏" panose="02010800040101010101" pitchFamily="2" charset="-122"/>
                <a:ea typeface="华文新魏" panose="02010800040101010101" pitchFamily="2" charset="-122"/>
              </a:rPr>
              <a:t>15</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15              </a:t>
            </a:r>
            <a:r>
              <a:rPr lang="en-US" altLang="zh-CN" sz="2800" dirty="0">
                <a:latin typeface="华文新魏" panose="02010800040101010101" pitchFamily="2" charset="-122"/>
                <a:ea typeface="华文新魏" panose="02010800040101010101" pitchFamily="2" charset="-122"/>
              </a:rPr>
              <a:t>    B. -2</a:t>
            </a:r>
            <a:r>
              <a:rPr lang="en-US" altLang="zh-CN" sz="2800" baseline="30000" dirty="0">
                <a:latin typeface="华文新魏" panose="02010800040101010101" pitchFamily="2" charset="-122"/>
                <a:ea typeface="华文新魏" panose="02010800040101010101" pitchFamily="2" charset="-122"/>
              </a:rPr>
              <a:t>16</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16 </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-2</a:t>
            </a:r>
            <a:r>
              <a:rPr lang="en-US" altLang="zh-CN" sz="2800" baseline="30000" dirty="0">
                <a:latin typeface="华文新魏" panose="02010800040101010101" pitchFamily="2" charset="-122"/>
                <a:ea typeface="华文新魏" panose="02010800040101010101" pitchFamily="2" charset="-122"/>
              </a:rPr>
              <a:t>15</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15</a:t>
            </a:r>
            <a:r>
              <a:rPr lang="en-US" altLang="zh-CN" sz="2800" dirty="0">
                <a:latin typeface="华文新魏" panose="02010800040101010101" pitchFamily="2" charset="-122"/>
                <a:ea typeface="华文新魏" panose="02010800040101010101" pitchFamily="2" charset="-122"/>
              </a:rPr>
              <a:t>-1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D. -2</a:t>
            </a:r>
            <a:r>
              <a:rPr lang="en-US" altLang="zh-CN" sz="2800" baseline="30000" dirty="0">
                <a:latin typeface="华文新魏" panose="02010800040101010101" pitchFamily="2" charset="-122"/>
                <a:ea typeface="华文新魏" panose="02010800040101010101" pitchFamily="2" charset="-122"/>
              </a:rPr>
              <a:t>16</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16</a:t>
            </a:r>
            <a:r>
              <a:rPr lang="en-US" altLang="zh-CN" sz="2800" dirty="0">
                <a:latin typeface="华文新魏" panose="02010800040101010101" pitchFamily="2" charset="-122"/>
                <a:ea typeface="华文新魏" panose="02010800040101010101" pitchFamily="2" charset="-122"/>
              </a:rPr>
              <a:t>-1</a:t>
            </a:r>
            <a:endParaRPr lang="zh-CN" altLang="zh-CN" sz="2800" dirty="0">
              <a:latin typeface="华文新魏" panose="02010800040101010101" pitchFamily="2" charset="-122"/>
              <a:ea typeface="华文新魏" panose="02010800040101010101" pitchFamily="2" charset="-122"/>
            </a:endParaRPr>
          </a:p>
          <a:p>
            <a:pPr>
              <a:lnSpc>
                <a:spcPct val="120000"/>
              </a:lnSpc>
              <a:spcBef>
                <a:spcPts val="1200"/>
              </a:spcBef>
            </a:pPr>
            <a:r>
              <a:rPr lang="en-US" altLang="zh-CN" sz="2800" dirty="0" smtClean="0">
                <a:latin typeface="华文新魏" panose="02010800040101010101" pitchFamily="2" charset="-122"/>
                <a:ea typeface="华文新魏" panose="02010800040101010101" pitchFamily="2" charset="-122"/>
              </a:rPr>
              <a:t>16</a:t>
            </a:r>
            <a:r>
              <a:rPr lang="zh-CN" altLang="zh-CN" sz="2800" dirty="0">
                <a:latin typeface="华文新魏" panose="02010800040101010101" pitchFamily="2" charset="-122"/>
                <a:ea typeface="华文新魏" panose="02010800040101010101" pitchFamily="2" charset="-122"/>
              </a:rPr>
              <a:t>位字长（其中最高位为符号位）表示定点小数时，所能表示的数值范围是</a:t>
            </a:r>
            <a:r>
              <a:rPr lang="en-US" altLang="zh-CN" sz="2800" dirty="0">
                <a:latin typeface="华文新魏" panose="02010800040101010101" pitchFamily="2" charset="-122"/>
                <a:ea typeface="华文新魏" panose="02010800040101010101" pitchFamily="2" charset="-122"/>
              </a:rPr>
              <a:t>______ </a:t>
            </a:r>
            <a:r>
              <a:rPr lang="zh-CN" altLang="zh-CN" sz="2800" dirty="0">
                <a:latin typeface="华文新魏" panose="02010800040101010101" pitchFamily="2" charset="-122"/>
                <a:ea typeface="华文新魏" panose="02010800040101010101" pitchFamily="2" charset="-122"/>
              </a:rPr>
              <a:t>。</a:t>
            </a:r>
          </a:p>
          <a:p>
            <a:pPr>
              <a:lnSpc>
                <a:spcPct val="150000"/>
              </a:lnSpc>
              <a:spcBef>
                <a:spcPts val="600"/>
              </a:spcBef>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2</a:t>
            </a:r>
            <a:r>
              <a:rPr lang="en-US" altLang="zh-CN" sz="2800" baseline="30000" dirty="0">
                <a:latin typeface="华文新魏" panose="02010800040101010101" pitchFamily="2" charset="-122"/>
                <a:ea typeface="华文新魏" panose="02010800040101010101" pitchFamily="2" charset="-122"/>
              </a:rPr>
              <a:t>-15</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1-2</a:t>
            </a:r>
            <a:r>
              <a:rPr lang="en-US" altLang="zh-CN" sz="2800" baseline="30000" dirty="0">
                <a:latin typeface="华文新魏" panose="02010800040101010101" pitchFamily="2" charset="-122"/>
                <a:ea typeface="华文新魏" panose="02010800040101010101" pitchFamily="2" charset="-122"/>
              </a:rPr>
              <a:t>-15      </a:t>
            </a:r>
            <a:r>
              <a:rPr lang="en-US" altLang="zh-CN" sz="2800" baseline="30000" dirty="0" smtClean="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B. 2</a:t>
            </a:r>
            <a:r>
              <a:rPr lang="en-US" altLang="zh-CN" sz="2800" baseline="30000" dirty="0">
                <a:latin typeface="华文新魏" panose="02010800040101010101" pitchFamily="2" charset="-122"/>
                <a:ea typeface="华文新魏" panose="02010800040101010101" pitchFamily="2" charset="-122"/>
              </a:rPr>
              <a:t>-16</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1-2</a:t>
            </a:r>
            <a:r>
              <a:rPr lang="en-US" altLang="zh-CN" sz="2800" baseline="30000" dirty="0">
                <a:latin typeface="华文新魏" panose="02010800040101010101" pitchFamily="2" charset="-122"/>
                <a:ea typeface="华文新魏" panose="02010800040101010101" pitchFamily="2" charset="-122"/>
              </a:rPr>
              <a:t>-16  </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-1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D. -2</a:t>
            </a:r>
            <a:r>
              <a:rPr lang="en-US" altLang="zh-CN" sz="2800" baseline="30000" dirty="0">
                <a:latin typeface="华文新魏" panose="02010800040101010101" pitchFamily="2" charset="-122"/>
                <a:ea typeface="华文新魏" panose="02010800040101010101" pitchFamily="2" charset="-122"/>
              </a:rPr>
              <a:t>-15</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-15 </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911008" y="2961008"/>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885608" y="4869160"/>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3963079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73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323528" y="1006128"/>
            <a:ext cx="8423854" cy="5521512"/>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浮点数</a:t>
            </a:r>
            <a:r>
              <a:rPr lang="zh-CN" altLang="zh-CN" sz="2800" dirty="0">
                <a:latin typeface="华文新魏" panose="02010800040101010101" pitchFamily="2" charset="-122"/>
                <a:ea typeface="华文新魏" panose="02010800040101010101" pitchFamily="2" charset="-122"/>
              </a:rPr>
              <a:t>的表示范围和精度取决于</a:t>
            </a:r>
            <a:r>
              <a:rPr lang="en-US" altLang="zh-CN" sz="2800" dirty="0">
                <a:latin typeface="华文新魏" panose="02010800040101010101" pitchFamily="2" charset="-122"/>
                <a:ea typeface="华文新魏" panose="02010800040101010101" pitchFamily="2" charset="-122"/>
              </a:rPr>
              <a:t>_____ </a:t>
            </a:r>
            <a:r>
              <a:rPr lang="zh-CN" altLang="zh-CN" sz="2800" dirty="0">
                <a:latin typeface="华文新魏" panose="02010800040101010101" pitchFamily="2" charset="-122"/>
                <a:ea typeface="华文新魏" panose="02010800040101010101" pitchFamily="2" charset="-122"/>
              </a:rPr>
              <a:t>。</a:t>
            </a:r>
          </a:p>
          <a:p>
            <a:pPr>
              <a:lnSpc>
                <a:spcPct val="12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阶</a:t>
            </a:r>
            <a:r>
              <a:rPr lang="zh-CN" altLang="zh-CN" sz="2800" dirty="0">
                <a:latin typeface="华文新魏" panose="02010800040101010101" pitchFamily="2" charset="-122"/>
                <a:ea typeface="华文新魏" panose="02010800040101010101" pitchFamily="2" charset="-122"/>
              </a:rPr>
              <a:t>码的位数和尾数的机器数形式</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阶码的机器数形式和尾数的位数</a:t>
            </a:r>
          </a:p>
          <a:p>
            <a:pPr>
              <a:lnSpc>
                <a:spcPct val="12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阶码的位数和尾数的位数　　　</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阶码的机器数形式和尾数的机器数</a:t>
            </a:r>
            <a:r>
              <a:rPr lang="zh-CN" altLang="zh-CN" sz="2800" dirty="0" smtClean="0">
                <a:latin typeface="华文新魏" panose="02010800040101010101" pitchFamily="2" charset="-122"/>
                <a:ea typeface="华文新魏" panose="02010800040101010101" pitchFamily="2" charset="-122"/>
              </a:rPr>
              <a:t>形式</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zh-CN" altLang="zh-CN" sz="2800" dirty="0" smtClean="0">
                <a:latin typeface="华文新魏" panose="02010800040101010101" pitchFamily="2" charset="-122"/>
                <a:ea typeface="华文新魏" panose="02010800040101010101" pitchFamily="2" charset="-122"/>
              </a:rPr>
              <a:t>在</a:t>
            </a:r>
            <a:r>
              <a:rPr lang="zh-CN" altLang="zh-CN" sz="2800" dirty="0">
                <a:latin typeface="华文新魏" panose="02010800040101010101" pitchFamily="2" charset="-122"/>
                <a:ea typeface="华文新魏" panose="02010800040101010101" pitchFamily="2" charset="-122"/>
              </a:rPr>
              <a:t>浮点机中，判断原码规格化形式的原则是</a:t>
            </a:r>
            <a:r>
              <a:rPr lang="en-US" altLang="zh-CN" sz="2800" dirty="0">
                <a:latin typeface="华文新魏" panose="02010800040101010101" pitchFamily="2" charset="-122"/>
                <a:ea typeface="华文新魏" panose="02010800040101010101" pitchFamily="2" charset="-122"/>
              </a:rPr>
              <a:t>______</a:t>
            </a:r>
            <a:r>
              <a:rPr lang="zh-CN" altLang="zh-CN" sz="2800" dirty="0">
                <a:latin typeface="华文新魏" panose="02010800040101010101" pitchFamily="2" charset="-122"/>
                <a:ea typeface="华文新魏" panose="02010800040101010101" pitchFamily="2" charset="-122"/>
              </a:rPr>
              <a:t>。</a:t>
            </a:r>
          </a:p>
          <a:p>
            <a:pPr>
              <a:lnSpc>
                <a:spcPct val="120000"/>
              </a:lnSpc>
            </a:pPr>
            <a:r>
              <a:rPr lang="en-US" altLang="zh-CN" sz="2800" dirty="0" smtClean="0">
                <a:latin typeface="华文新魏" panose="02010800040101010101" pitchFamily="2" charset="-122"/>
                <a:ea typeface="华文新魏" panose="02010800040101010101" pitchFamily="2" charset="-122"/>
              </a:rPr>
              <a:t>        A</a:t>
            </a:r>
            <a:r>
              <a:rPr lang="zh-CN" altLang="zh-CN" sz="2800" dirty="0">
                <a:latin typeface="华文新魏" panose="02010800040101010101" pitchFamily="2" charset="-122"/>
                <a:ea typeface="华文新魏" panose="02010800040101010101" pitchFamily="2" charset="-122"/>
              </a:rPr>
              <a:t>．尾数的符号位与第一数位不同</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smtClean="0">
                <a:latin typeface="华文新魏" panose="02010800040101010101" pitchFamily="2" charset="-122"/>
                <a:ea typeface="华文新魏" panose="02010800040101010101" pitchFamily="2" charset="-122"/>
              </a:rPr>
              <a:t>        B</a:t>
            </a:r>
            <a:r>
              <a:rPr lang="zh-CN" altLang="zh-CN" sz="2800" dirty="0">
                <a:latin typeface="华文新魏" panose="02010800040101010101" pitchFamily="2" charset="-122"/>
                <a:ea typeface="华文新魏" panose="02010800040101010101" pitchFamily="2" charset="-122"/>
              </a:rPr>
              <a:t>．尾数的第一数位为</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，数符任意</a:t>
            </a:r>
          </a:p>
          <a:p>
            <a:pPr>
              <a:lnSpc>
                <a:spcPct val="120000"/>
              </a:lnSpc>
            </a:pPr>
            <a:r>
              <a:rPr lang="en-US" altLang="zh-CN" sz="2800" dirty="0" smtClean="0">
                <a:latin typeface="华文新魏" panose="02010800040101010101" pitchFamily="2" charset="-122"/>
                <a:ea typeface="华文新魏" panose="02010800040101010101" pitchFamily="2" charset="-122"/>
              </a:rPr>
              <a:t>        C</a:t>
            </a:r>
            <a:r>
              <a:rPr lang="zh-CN" altLang="zh-CN" sz="2800" dirty="0">
                <a:latin typeface="华文新魏" panose="02010800040101010101" pitchFamily="2" charset="-122"/>
                <a:ea typeface="华文新魏" panose="02010800040101010101" pitchFamily="2" charset="-122"/>
              </a:rPr>
              <a:t>．尾数的符号位与第一数位相同</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smtClean="0">
                <a:latin typeface="华文新魏" panose="02010800040101010101" pitchFamily="2" charset="-122"/>
                <a:ea typeface="华文新魏" panose="02010800040101010101" pitchFamily="2" charset="-122"/>
              </a:rPr>
              <a:t>        D</a:t>
            </a:r>
            <a:r>
              <a:rPr lang="zh-CN" altLang="zh-CN" sz="2800" dirty="0">
                <a:latin typeface="华文新魏" panose="02010800040101010101" pitchFamily="2" charset="-122"/>
                <a:ea typeface="华文新魏" panose="02010800040101010101" pitchFamily="2" charset="-122"/>
              </a:rPr>
              <a:t>．阶符与数符</a:t>
            </a:r>
            <a:r>
              <a:rPr lang="zh-CN" altLang="zh-CN" sz="2800" dirty="0" smtClean="0">
                <a:latin typeface="华文新魏" panose="02010800040101010101" pitchFamily="2" charset="-122"/>
                <a:ea typeface="华文新魏" panose="02010800040101010101" pitchFamily="2" charset="-122"/>
              </a:rPr>
              <a:t>不同</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991675" y="2717428"/>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974508" y="4881860"/>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04960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ChangeArrowheads="1"/>
          </p:cNvSpPr>
          <p:nvPr/>
        </p:nvSpPr>
        <p:spPr bwMode="auto">
          <a:xfrm>
            <a:off x="179388" y="73025"/>
            <a:ext cx="8713787"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solidFill>
                  <a:srgbClr val="FF0000"/>
                </a:solidFill>
                <a:latin typeface="黑体" pitchFamily="2" charset="-122"/>
                <a:ea typeface="黑体" pitchFamily="2" charset="-122"/>
              </a:rPr>
              <a:t>3.</a:t>
            </a:r>
            <a:r>
              <a:rPr lang="zh-CN" altLang="en-US" sz="2400" dirty="0">
                <a:solidFill>
                  <a:srgbClr val="FF0000"/>
                </a:solidFill>
                <a:latin typeface="黑体" pitchFamily="2" charset="-122"/>
                <a:ea typeface="黑体" pitchFamily="2" charset="-122"/>
              </a:rPr>
              <a:t>十进制数串的表示方法</a:t>
            </a:r>
          </a:p>
          <a:p>
            <a:pPr eaLnBrk="0" hangingPunct="0">
              <a:lnSpc>
                <a:spcPct val="150000"/>
              </a:lnSpc>
            </a:pP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目前,大多数计算机都能直接处理十进制形式表示的</a:t>
            </a:r>
            <a:endParaRPr lang="en-US" altLang="zh-CN" sz="2400" dirty="0">
              <a:solidFill>
                <a:srgbClr val="000000"/>
              </a:solidFill>
              <a:latin typeface="黑体" pitchFamily="2" charset="-122"/>
              <a:ea typeface="黑体" pitchFamily="2" charset="-122"/>
            </a:endParaRPr>
          </a:p>
          <a:p>
            <a:pPr eaLnBrk="0" hangingPunct="0">
              <a:lnSpc>
                <a:spcPct val="150000"/>
              </a:lnSpc>
            </a:pPr>
            <a:r>
              <a:rPr lang="zh-CN" altLang="zh-CN" sz="2400" dirty="0">
                <a:solidFill>
                  <a:srgbClr val="000000"/>
                </a:solidFill>
                <a:latin typeface="黑体" pitchFamily="2" charset="-122"/>
                <a:ea typeface="黑体" pitchFamily="2" charset="-122"/>
              </a:rPr>
              <a:t>数据。十进制数串在计算机内主要有两种表示形式：</a:t>
            </a:r>
            <a:endParaRPr lang="zh-CN" altLang="zh-CN" sz="2400" dirty="0">
              <a:latin typeface="黑体" pitchFamily="2" charset="-122"/>
              <a:ea typeface="黑体" pitchFamily="2" charset="-122"/>
            </a:endParaRPr>
          </a:p>
          <a:p>
            <a:pPr eaLnBrk="0" hangingPunct="0">
              <a:lnSpc>
                <a:spcPct val="150000"/>
              </a:lnSpc>
            </a:pPr>
            <a:r>
              <a:rPr lang="zh-CN" altLang="en-US"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1</a:t>
            </a:r>
            <a:r>
              <a:rPr lang="zh-CN" altLang="en-US" sz="2400" dirty="0">
                <a:solidFill>
                  <a:srgbClr val="000000"/>
                </a:solidFill>
                <a:latin typeface="黑体" pitchFamily="2" charset="-122"/>
                <a:ea typeface="黑体" pitchFamily="2" charset="-122"/>
              </a:rPr>
              <a:t>）</a:t>
            </a:r>
            <a:r>
              <a:rPr lang="zh-CN" altLang="zh-CN" sz="2400" dirty="0">
                <a:solidFill>
                  <a:srgbClr val="000000"/>
                </a:solidFill>
                <a:latin typeface="黑体" pitchFamily="2" charset="-122"/>
                <a:ea typeface="黑体" pitchFamily="2" charset="-122"/>
              </a:rPr>
              <a:t>字符串形式</a:t>
            </a:r>
            <a:endParaRPr lang="zh-CN" altLang="zh-CN" sz="2400" dirty="0">
              <a:latin typeface="黑体" pitchFamily="2" charset="-122"/>
              <a:ea typeface="黑体" pitchFamily="2" charset="-122"/>
            </a:endParaRPr>
          </a:p>
          <a:p>
            <a:pPr eaLnBrk="0" hangingPunct="0">
              <a:lnSpc>
                <a:spcPct val="150000"/>
              </a:lnSpc>
            </a:pPr>
            <a:r>
              <a:rPr lang="zh-CN" altLang="zh-CN"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  </a:t>
            </a:r>
            <a:r>
              <a:rPr lang="zh-CN" altLang="zh-CN" sz="2400" dirty="0">
                <a:solidFill>
                  <a:srgbClr val="FF0000"/>
                </a:solidFill>
                <a:latin typeface="黑体" pitchFamily="2" charset="-122"/>
                <a:ea typeface="黑体" pitchFamily="2" charset="-122"/>
              </a:rPr>
              <a:t>字符串形式</a:t>
            </a:r>
            <a:r>
              <a:rPr lang="zh-CN" altLang="zh-CN" sz="2400" dirty="0">
                <a:solidFill>
                  <a:srgbClr val="000000"/>
                </a:solidFill>
                <a:latin typeface="黑体" pitchFamily="2" charset="-122"/>
                <a:ea typeface="黑体" pitchFamily="2" charset="-122"/>
              </a:rPr>
              <a:t>：一个字节存放一个十进制的数位或符号位。为了指明这样一个数，需要给出该数在主存中的起始地址和位数(串的长度)。</a:t>
            </a:r>
            <a:endParaRPr lang="zh-CN" altLang="zh-CN" sz="2400" dirty="0">
              <a:latin typeface="黑体" pitchFamily="2" charset="-122"/>
              <a:ea typeface="黑体" pitchFamily="2" charset="-122"/>
            </a:endParaRPr>
          </a:p>
          <a:p>
            <a:pPr eaLnBrk="0" hangingPunct="0">
              <a:lnSpc>
                <a:spcPct val="150000"/>
              </a:lnSpc>
            </a:pPr>
            <a:r>
              <a:rPr lang="zh-CN" altLang="zh-CN" sz="2400" dirty="0">
                <a:latin typeface="黑体" pitchFamily="2" charset="-122"/>
                <a:ea typeface="黑体" pitchFamily="2" charset="-122"/>
              </a:rPr>
              <a:t>如：128 存储情况 31(内存1)、32(内存2)、38(内存3)</a:t>
            </a:r>
            <a:r>
              <a:rPr lang="zh-CN" altLang="zh-CN" sz="2400" dirty="0">
                <a:solidFill>
                  <a:srgbClr val="000000"/>
                </a:solidFill>
                <a:latin typeface="黑体" pitchFamily="2" charset="-122"/>
                <a:ea typeface="黑体" pitchFamily="2" charset="-122"/>
              </a:rPr>
              <a:t> </a:t>
            </a:r>
            <a:endParaRPr lang="en-US" altLang="zh-CN" sz="2400" dirty="0">
              <a:solidFill>
                <a:srgbClr val="000000"/>
              </a:solidFill>
              <a:latin typeface="黑体" pitchFamily="2" charset="-122"/>
              <a:ea typeface="黑体" pitchFamily="2" charset="-122"/>
            </a:endParaRPr>
          </a:p>
          <a:p>
            <a:pPr eaLnBrk="0" hangingPunct="0">
              <a:lnSpc>
                <a:spcPct val="150000"/>
              </a:lnSpc>
            </a:pPr>
            <a:r>
              <a:rPr lang="en-US" altLang="zh-CN" sz="2400" dirty="0">
                <a:solidFill>
                  <a:srgbClr val="000000"/>
                </a:solidFill>
                <a:latin typeface="黑体" pitchFamily="2" charset="-122"/>
                <a:ea typeface="黑体" pitchFamily="2" charset="-122"/>
              </a:rPr>
              <a:t>   </a:t>
            </a:r>
            <a:r>
              <a:rPr lang="zh-CN" altLang="en-US" sz="2400" dirty="0">
                <a:solidFill>
                  <a:srgbClr val="000000"/>
                </a:solidFill>
                <a:latin typeface="黑体" pitchFamily="2" charset="-122"/>
                <a:ea typeface="黑体" pitchFamily="2" charset="-122"/>
              </a:rPr>
              <a:t>（</a:t>
            </a:r>
            <a:r>
              <a:rPr lang="en-US" altLang="zh-CN" sz="2400" dirty="0">
                <a:solidFill>
                  <a:srgbClr val="000000"/>
                </a:solidFill>
                <a:latin typeface="黑体" pitchFamily="2" charset="-122"/>
                <a:ea typeface="黑体" pitchFamily="2" charset="-122"/>
              </a:rPr>
              <a:t>2</a:t>
            </a:r>
            <a:r>
              <a:rPr lang="zh-CN" altLang="en-US" sz="2400" dirty="0">
                <a:solidFill>
                  <a:srgbClr val="000000"/>
                </a:solidFill>
                <a:latin typeface="黑体" pitchFamily="2" charset="-122"/>
                <a:ea typeface="黑体" pitchFamily="2" charset="-122"/>
              </a:rPr>
              <a:t>）</a:t>
            </a:r>
            <a:r>
              <a:rPr lang="zh-CN" altLang="zh-CN" sz="2400" dirty="0">
                <a:solidFill>
                  <a:srgbClr val="000000"/>
                </a:solidFill>
                <a:latin typeface="黑体" pitchFamily="2" charset="-122"/>
                <a:ea typeface="黑体" pitchFamily="2" charset="-122"/>
              </a:rPr>
              <a:t>压缩的十进制数串形式</a:t>
            </a:r>
            <a:endParaRPr lang="zh-CN" altLang="zh-CN" sz="2400" dirty="0">
              <a:latin typeface="黑体" pitchFamily="2" charset="-122"/>
              <a:ea typeface="黑体" pitchFamily="2" charset="-122"/>
            </a:endParaRPr>
          </a:p>
          <a:p>
            <a:pPr eaLnBrk="0" hangingPunct="0">
              <a:lnSpc>
                <a:spcPct val="150000"/>
              </a:lnSpc>
            </a:pPr>
            <a:r>
              <a:rPr lang="zh-CN" altLang="zh-CN"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 </a:t>
            </a:r>
            <a:r>
              <a:rPr lang="zh-CN" altLang="zh-CN" sz="2400" dirty="0">
                <a:solidFill>
                  <a:srgbClr val="FF0000"/>
                </a:solidFill>
                <a:latin typeface="黑体" pitchFamily="2" charset="-122"/>
                <a:ea typeface="黑体" pitchFamily="2" charset="-122"/>
              </a:rPr>
              <a:t>压缩的十进制数串形式</a:t>
            </a:r>
            <a:r>
              <a:rPr lang="zh-CN" altLang="zh-CN" sz="2400" dirty="0">
                <a:solidFill>
                  <a:srgbClr val="000000"/>
                </a:solidFill>
                <a:latin typeface="黑体" pitchFamily="2" charset="-122"/>
                <a:ea typeface="黑体" pitchFamily="2" charset="-122"/>
              </a:rPr>
              <a:t>：一个字节存放两个十进制的数位。它比前一种形式节省存储空间，又便于直接完成十进制数的算术运算，是广泛采用的较为理想的方法。</a:t>
            </a:r>
            <a:endParaRPr lang="zh-CN" altLang="zh-CN" sz="2400" dirty="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ChangeArrowheads="1"/>
          </p:cNvSpPr>
          <p:nvPr/>
        </p:nvSpPr>
        <p:spPr bwMode="auto">
          <a:xfrm>
            <a:off x="179388" y="346075"/>
            <a:ext cx="8785225" cy="616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a:solidFill>
                  <a:srgbClr val="000000"/>
                </a:solidFill>
                <a:latin typeface="黑体" pitchFamily="2" charset="-122"/>
                <a:ea typeface="黑体" pitchFamily="2" charset="-122"/>
              </a:rPr>
              <a:t>　　用压缩的十进制数串表示一个数,也要占用主存连续</a:t>
            </a:r>
            <a:endParaRPr lang="en-US" altLang="zh-CN" sz="2400">
              <a:solidFill>
                <a:srgbClr val="000000"/>
              </a:solidFill>
              <a:latin typeface="黑体" pitchFamily="2" charset="-122"/>
              <a:ea typeface="黑体" pitchFamily="2" charset="-122"/>
            </a:endParaRPr>
          </a:p>
          <a:p>
            <a:pPr eaLnBrk="0" hangingPunct="0">
              <a:lnSpc>
                <a:spcPct val="130000"/>
              </a:lnSpc>
            </a:pPr>
            <a:r>
              <a:rPr lang="zh-CN" altLang="zh-CN" sz="2400">
                <a:solidFill>
                  <a:srgbClr val="000000"/>
                </a:solidFill>
                <a:latin typeface="黑体" pitchFamily="2" charset="-122"/>
                <a:ea typeface="黑体" pitchFamily="2" charset="-122"/>
              </a:rPr>
              <a:t>的多个字节。每个数位占用半个字节(即4个二进制位),其</a:t>
            </a:r>
            <a:endParaRPr lang="en-US" altLang="zh-CN" sz="2400">
              <a:solidFill>
                <a:srgbClr val="000000"/>
              </a:solidFill>
              <a:latin typeface="黑体" pitchFamily="2" charset="-122"/>
              <a:ea typeface="黑体" pitchFamily="2" charset="-122"/>
            </a:endParaRPr>
          </a:p>
          <a:p>
            <a:pPr eaLnBrk="0" hangingPunct="0">
              <a:lnSpc>
                <a:spcPct val="130000"/>
              </a:lnSpc>
            </a:pPr>
            <a:r>
              <a:rPr lang="zh-CN" altLang="zh-CN" sz="2400">
                <a:solidFill>
                  <a:srgbClr val="000000"/>
                </a:solidFill>
                <a:latin typeface="黑体" pitchFamily="2" charset="-122"/>
                <a:ea typeface="黑体" pitchFamily="2" charset="-122"/>
              </a:rPr>
              <a:t>值可用二－十编码(BCD码)或数字符的ASCII码的低4位表</a:t>
            </a:r>
            <a:endParaRPr lang="en-US" altLang="zh-CN" sz="2400">
              <a:solidFill>
                <a:srgbClr val="000000"/>
              </a:solidFill>
              <a:latin typeface="黑体" pitchFamily="2" charset="-122"/>
              <a:ea typeface="黑体" pitchFamily="2" charset="-122"/>
            </a:endParaRPr>
          </a:p>
          <a:p>
            <a:pPr eaLnBrk="0" hangingPunct="0">
              <a:lnSpc>
                <a:spcPct val="130000"/>
              </a:lnSpc>
            </a:pPr>
            <a:r>
              <a:rPr lang="zh-CN" altLang="zh-CN" sz="2400">
                <a:solidFill>
                  <a:srgbClr val="000000"/>
                </a:solidFill>
                <a:latin typeface="黑体" pitchFamily="2" charset="-122"/>
                <a:ea typeface="黑体" pitchFamily="2" charset="-122"/>
              </a:rPr>
              <a:t>示。符号位也占半个字节并放在最低数字位之后,其值选用四位编码中的六种冗余状态中的有关值,如用12(C)表示正号,用13(D)表示负号。在这种表示中,规定数位加符号位之和必须为偶数,当和不为偶数时,应在最高数字位之前补一个0。例如 ＋123 和－12分别被表示成：</a:t>
            </a:r>
            <a:endParaRPr lang="en-US" altLang="zh-CN" sz="2400">
              <a:solidFill>
                <a:srgbClr val="000000"/>
              </a:solidFill>
              <a:latin typeface="黑体" pitchFamily="2" charset="-122"/>
              <a:ea typeface="黑体" pitchFamily="2" charset="-122"/>
            </a:endParaRPr>
          </a:p>
          <a:p>
            <a:pPr eaLnBrk="0" hangingPunct="0">
              <a:lnSpc>
                <a:spcPct val="130000"/>
              </a:lnSpc>
              <a:spcBef>
                <a:spcPts val="1200"/>
              </a:spcBef>
              <a:spcAft>
                <a:spcPts val="1200"/>
              </a:spcAft>
            </a:pPr>
            <a:r>
              <a:rPr lang="en-US" altLang="zh-CN" sz="2400">
                <a:latin typeface="黑体" pitchFamily="2" charset="-122"/>
                <a:ea typeface="黑体" pitchFamily="2" charset="-122"/>
              </a:rPr>
              <a:t>                   (</a:t>
            </a:r>
            <a:r>
              <a:rPr lang="zh-CN" altLang="en-US" sz="2400">
                <a:latin typeface="黑体" pitchFamily="2" charset="-122"/>
                <a:ea typeface="黑体" pitchFamily="2" charset="-122"/>
              </a:rPr>
              <a:t>＋</a:t>
            </a:r>
            <a:r>
              <a:rPr lang="en-US" altLang="zh-CN" sz="2400">
                <a:latin typeface="黑体" pitchFamily="2" charset="-122"/>
                <a:ea typeface="黑体" pitchFamily="2" charset="-122"/>
              </a:rPr>
              <a:t>123)                  (-12)</a:t>
            </a:r>
            <a:endParaRPr lang="en-US" altLang="zh-CN" sz="2400">
              <a:solidFill>
                <a:srgbClr val="000000"/>
              </a:solidFill>
              <a:latin typeface="黑体" pitchFamily="2" charset="-122"/>
              <a:ea typeface="黑体" pitchFamily="2" charset="-122"/>
            </a:endParaRPr>
          </a:p>
          <a:p>
            <a:pPr eaLnBrk="0" hangingPunct="0">
              <a:lnSpc>
                <a:spcPct val="130000"/>
              </a:lnSpc>
            </a:pPr>
            <a:r>
              <a:rPr lang="zh-CN" altLang="zh-CN" sz="2400">
                <a:solidFill>
                  <a:srgbClr val="000000"/>
                </a:solidFill>
                <a:latin typeface="黑体" pitchFamily="2" charset="-122"/>
                <a:ea typeface="黑体" pitchFamily="2" charset="-122"/>
              </a:rPr>
              <a:t>　　在上述表示中,每一个小框内给出一个数值位或符号位的编码值(用十六进制形式给出),符号位在数字位之后。前两个小框占一个字节，后两个小框占一个字节。</a:t>
            </a:r>
            <a:endParaRPr lang="zh-CN" altLang="zh-CN" sz="2400">
              <a:latin typeface="黑体" pitchFamily="2" charset="-122"/>
              <a:ea typeface="黑体" pitchFamily="2" charset="-122"/>
            </a:endParaRPr>
          </a:p>
        </p:txBody>
      </p:sp>
      <p:graphicFrame>
        <p:nvGraphicFramePr>
          <p:cNvPr id="7" name="表格 6"/>
          <p:cNvGraphicFramePr>
            <a:graphicFrameLocks noGrp="1"/>
          </p:cNvGraphicFramePr>
          <p:nvPr/>
        </p:nvGraphicFramePr>
        <p:xfrm>
          <a:off x="827088" y="4365625"/>
          <a:ext cx="2089150" cy="503238"/>
        </p:xfrm>
        <a:graphic>
          <a:graphicData uri="http://schemas.openxmlformats.org/drawingml/2006/table">
            <a:tbl>
              <a:tblPr/>
              <a:tblGrid>
                <a:gridCol w="525415"/>
                <a:gridCol w="500395"/>
                <a:gridCol w="512905"/>
                <a:gridCol w="550435"/>
              </a:tblGrid>
              <a:tr h="503238">
                <a:tc>
                  <a:txBody>
                    <a:bodyPr/>
                    <a:lstStyle/>
                    <a:p>
                      <a:pPr algn="ctr"/>
                      <a:r>
                        <a:rPr lang="en-US" altLang="zh-CN" sz="2400" dirty="0">
                          <a:solidFill>
                            <a:srgbClr val="FF0000"/>
                          </a:solidFill>
                          <a:latin typeface="黑体"/>
                        </a:rPr>
                        <a:t>1</a:t>
                      </a:r>
                      <a:endParaRPr lang="zh-CN" alt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a:rPr>
                        <a:t>2</a:t>
                      </a:r>
                      <a:endParaRPr lang="zh-CN" alt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a:rPr>
                        <a:t>3</a:t>
                      </a:r>
                      <a:endParaRPr lang="zh-CN" alt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2400" dirty="0">
                          <a:solidFill>
                            <a:srgbClr val="FF0000"/>
                          </a:solidFill>
                          <a:latin typeface="黑体"/>
                        </a:rPr>
                        <a:t>C</a:t>
                      </a:r>
                      <a:endParaRPr 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r>
            </a:tbl>
          </a:graphicData>
        </a:graphic>
      </p:graphicFrame>
      <p:graphicFrame>
        <p:nvGraphicFramePr>
          <p:cNvPr id="9" name="表格 8"/>
          <p:cNvGraphicFramePr>
            <a:graphicFrameLocks noGrp="1"/>
          </p:cNvGraphicFramePr>
          <p:nvPr/>
        </p:nvGraphicFramePr>
        <p:xfrm>
          <a:off x="4427538" y="4365625"/>
          <a:ext cx="2160588" cy="503238"/>
        </p:xfrm>
        <a:graphic>
          <a:graphicData uri="http://schemas.openxmlformats.org/drawingml/2006/table">
            <a:tbl>
              <a:tblPr/>
              <a:tblGrid>
                <a:gridCol w="546655"/>
                <a:gridCol w="520624"/>
                <a:gridCol w="533639"/>
                <a:gridCol w="559670"/>
              </a:tblGrid>
              <a:tr h="503238">
                <a:tc>
                  <a:txBody>
                    <a:bodyPr/>
                    <a:lstStyle/>
                    <a:p>
                      <a:pPr algn="ctr"/>
                      <a:r>
                        <a:rPr lang="en-US" altLang="zh-CN" sz="2400" dirty="0">
                          <a:solidFill>
                            <a:srgbClr val="FF0000"/>
                          </a:solidFill>
                          <a:latin typeface="黑体"/>
                        </a:rPr>
                        <a:t>0</a:t>
                      </a:r>
                      <a:endParaRPr lang="zh-CN" alt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a:rPr>
                        <a:t>1</a:t>
                      </a:r>
                      <a:endParaRPr lang="zh-CN" alt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a:rPr>
                        <a:t>2</a:t>
                      </a:r>
                      <a:endParaRPr lang="zh-CN" alt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2400" dirty="0">
                          <a:solidFill>
                            <a:srgbClr val="FF0000"/>
                          </a:solidFill>
                          <a:latin typeface="黑体"/>
                        </a:rPr>
                        <a:t>D</a:t>
                      </a:r>
                      <a:endParaRPr 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ChangeArrowheads="1"/>
          </p:cNvSpPr>
          <p:nvPr/>
        </p:nvSpPr>
        <p:spPr bwMode="auto">
          <a:xfrm>
            <a:off x="179388" y="87313"/>
            <a:ext cx="8785225" cy="666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10000"/>
              </a:lnSpc>
            </a:pPr>
            <a:r>
              <a:rPr lang="en-US" altLang="zh-CN" sz="2800" dirty="0">
                <a:latin typeface="黑体" pitchFamily="2" charset="-122"/>
                <a:ea typeface="黑体" pitchFamily="2" charset="-122"/>
              </a:rPr>
              <a:t> </a:t>
            </a:r>
            <a:r>
              <a:rPr lang="zh-CN" altLang="zh-CN" sz="2800" dirty="0">
                <a:latin typeface="黑体" pitchFamily="2" charset="-122"/>
                <a:ea typeface="黑体" pitchFamily="2" charset="-122"/>
              </a:rPr>
              <a:t>2.1.2 数的机器码表示 </a:t>
            </a:r>
            <a:r>
              <a:rPr lang="zh-CN" altLang="zh-CN" sz="2400" dirty="0">
                <a:latin typeface="黑体" pitchFamily="2" charset="-122"/>
                <a:ea typeface="黑体" pitchFamily="2" charset="-122"/>
                <a:hlinkClick r:id="rId3" action="ppaction://hlinkfile"/>
              </a:rPr>
              <a:t>　　　　　　　  </a:t>
            </a:r>
            <a:endParaRPr lang="zh-CN" altLang="zh-CN" sz="2400" dirty="0">
              <a:latin typeface="黑体" pitchFamily="2" charset="-122"/>
              <a:ea typeface="黑体" pitchFamily="2" charset="-122"/>
            </a:endParaRPr>
          </a:p>
          <a:p>
            <a:pPr eaLnBrk="0" hangingPunct="0">
              <a:lnSpc>
                <a:spcPct val="110000"/>
              </a:lnSpc>
            </a:pPr>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在日常生活中我们习惯于用正负号后跟以绝对值数的</a:t>
            </a:r>
            <a:endParaRPr lang="en-US" altLang="zh-CN" sz="2400" dirty="0">
              <a:latin typeface="黑体" pitchFamily="2" charset="-122"/>
              <a:ea typeface="黑体" pitchFamily="2" charset="-122"/>
            </a:endParaRPr>
          </a:p>
          <a:p>
            <a:pPr eaLnBrk="0" hangingPunct="0">
              <a:lnSpc>
                <a:spcPct val="110000"/>
              </a:lnSpc>
            </a:pPr>
            <a:r>
              <a:rPr lang="zh-CN" altLang="zh-CN" sz="2400" dirty="0">
                <a:latin typeface="黑体" pitchFamily="2" charset="-122"/>
                <a:ea typeface="黑体" pitchFamily="2" charset="-122"/>
              </a:rPr>
              <a:t>大小。这种按一般书写形式表示的数在计算机技术中称为</a:t>
            </a:r>
            <a:endParaRPr lang="en-US" altLang="zh-CN" sz="2400" dirty="0">
              <a:latin typeface="黑体" pitchFamily="2" charset="-122"/>
              <a:ea typeface="黑体" pitchFamily="2" charset="-122"/>
            </a:endParaRPr>
          </a:p>
          <a:p>
            <a:pPr eaLnBrk="0" hangingPunct="0">
              <a:lnSpc>
                <a:spcPct val="110000"/>
              </a:lnSpc>
            </a:pPr>
            <a:r>
              <a:rPr lang="zh-CN" altLang="zh-CN" sz="2400" dirty="0">
                <a:latin typeface="黑体" pitchFamily="2" charset="-122"/>
                <a:ea typeface="黑体" pitchFamily="2" charset="-122"/>
              </a:rPr>
              <a:t>真值。( 如： +123</a:t>
            </a:r>
            <a:r>
              <a:rPr lang="zh-CN" altLang="zh-CN" sz="2400" dirty="0" smtClean="0">
                <a:latin typeface="黑体" pitchFamily="2" charset="-122"/>
                <a:ea typeface="黑体" pitchFamily="2" charset="-122"/>
              </a:rPr>
              <a:t>，</a:t>
            </a:r>
            <a:r>
              <a:rPr lang="en-US" altLang="zh-CN" sz="2400" dirty="0" smtClean="0">
                <a:latin typeface="黑体" pitchFamily="2" charset="-122"/>
                <a:ea typeface="黑体" pitchFamily="2" charset="-122"/>
              </a:rPr>
              <a:t>-</a:t>
            </a:r>
            <a:r>
              <a:rPr lang="zh-CN" altLang="zh-CN" sz="2400" dirty="0" smtClean="0">
                <a:latin typeface="黑体" pitchFamily="2" charset="-122"/>
                <a:ea typeface="黑体" pitchFamily="2" charset="-122"/>
              </a:rPr>
              <a:t>123</a:t>
            </a:r>
            <a:r>
              <a:rPr lang="zh-CN" altLang="zh-CN" sz="2400" dirty="0">
                <a:latin typeface="黑体" pitchFamily="2" charset="-122"/>
                <a:ea typeface="黑体" pitchFamily="2" charset="-122"/>
              </a:rPr>
              <a:t>， +101011</a:t>
            </a:r>
            <a:r>
              <a:rPr lang="zh-CN" altLang="zh-CN" sz="2400" dirty="0" smtClean="0">
                <a:latin typeface="黑体" pitchFamily="2" charset="-122"/>
                <a:ea typeface="黑体" pitchFamily="2" charset="-122"/>
              </a:rPr>
              <a:t>，</a:t>
            </a:r>
            <a:r>
              <a:rPr lang="en-US" altLang="zh-CN" sz="2400" dirty="0" smtClean="0">
                <a:latin typeface="黑体" pitchFamily="2" charset="-122"/>
                <a:ea typeface="黑体" pitchFamily="2" charset="-122"/>
              </a:rPr>
              <a:t>-</a:t>
            </a:r>
            <a:r>
              <a:rPr lang="zh-CN" altLang="zh-CN" sz="2400" dirty="0" smtClean="0">
                <a:latin typeface="黑体" pitchFamily="2" charset="-122"/>
                <a:ea typeface="黑体" pitchFamily="2" charset="-122"/>
              </a:rPr>
              <a:t>10101011</a:t>
            </a:r>
            <a:r>
              <a:rPr lang="zh-CN" altLang="zh-CN" sz="2400" dirty="0">
                <a:latin typeface="黑体" pitchFamily="2" charset="-122"/>
                <a:ea typeface="黑体" pitchFamily="2" charset="-122"/>
              </a:rPr>
              <a:t>)</a:t>
            </a:r>
          </a:p>
          <a:p>
            <a:pPr eaLnBrk="0" hangingPunct="0">
              <a:lnSpc>
                <a:spcPct val="110000"/>
              </a:lnSpc>
            </a:pPr>
            <a:r>
              <a:rPr lang="zh-CN" altLang="zh-CN" sz="2400" dirty="0">
                <a:latin typeface="黑体" pitchFamily="2" charset="-122"/>
                <a:ea typeface="黑体" pitchFamily="2" charset="-122"/>
              </a:rPr>
              <a:t>　　但是，计算机所能表示的数或者其他信息都是数字化的，数的正负要用数码表示，通常约定数的最高位为符号位，“正”和“负 ”分别用“0”、“1”表示。这样，一个带符号的n位二进制数，在机器数中表示为n+1位的二进制数，即把符号位看成数的一部分，这种把符号位数码化后出现在机器中的数称为机器数或机器码。</a:t>
            </a:r>
          </a:p>
          <a:p>
            <a:pPr eaLnBrk="0" hangingPunct="0">
              <a:lnSpc>
                <a:spcPct val="11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如： +123 </a:t>
            </a:r>
            <a:r>
              <a:rPr lang="zh-CN" altLang="en-US" sz="2400" dirty="0">
                <a:latin typeface="黑体" pitchFamily="2" charset="-122"/>
                <a:ea typeface="黑体" pitchFamily="2" charset="-122"/>
              </a:rPr>
              <a:t>→</a:t>
            </a:r>
            <a:r>
              <a:rPr lang="zh-CN" altLang="zh-CN" sz="2400" dirty="0">
                <a:latin typeface="黑体" pitchFamily="2" charset="-122"/>
                <a:ea typeface="黑体" pitchFamily="2" charset="-122"/>
              </a:rPr>
              <a:t> 01111011，-123 </a:t>
            </a:r>
            <a:r>
              <a:rPr lang="zh-CN" altLang="en-US" sz="2400" dirty="0">
                <a:latin typeface="黑体" pitchFamily="2" charset="-122"/>
                <a:ea typeface="黑体" pitchFamily="2" charset="-122"/>
              </a:rPr>
              <a:t>→</a:t>
            </a:r>
            <a:r>
              <a:rPr lang="zh-CN" altLang="zh-CN" sz="2400" dirty="0">
                <a:latin typeface="黑体" pitchFamily="2" charset="-122"/>
                <a:ea typeface="黑体" pitchFamily="2" charset="-122"/>
              </a:rPr>
              <a:t> 11111011</a:t>
            </a:r>
          </a:p>
          <a:p>
            <a:pPr eaLnBrk="0" hangingPunct="0">
              <a:lnSpc>
                <a:spcPct val="11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+101011 </a:t>
            </a:r>
            <a:r>
              <a:rPr lang="zh-CN" altLang="en-US" sz="2400" dirty="0">
                <a:latin typeface="黑体" pitchFamily="2" charset="-122"/>
                <a:ea typeface="黑体" pitchFamily="2" charset="-122"/>
              </a:rPr>
              <a:t>→ </a:t>
            </a:r>
            <a:r>
              <a:rPr lang="zh-CN" altLang="zh-CN" sz="2400" dirty="0">
                <a:latin typeface="黑体" pitchFamily="2" charset="-122"/>
                <a:ea typeface="黑体" pitchFamily="2" charset="-122"/>
              </a:rPr>
              <a:t>0101011 ， -10101011 </a:t>
            </a:r>
            <a:r>
              <a:rPr lang="zh-CN" altLang="en-US" sz="2400" dirty="0">
                <a:latin typeface="黑体" pitchFamily="2" charset="-122"/>
                <a:ea typeface="黑体" pitchFamily="2" charset="-122"/>
              </a:rPr>
              <a:t>→ </a:t>
            </a:r>
            <a:r>
              <a:rPr lang="zh-CN" altLang="zh-CN" sz="2400" dirty="0">
                <a:latin typeface="黑体" pitchFamily="2" charset="-122"/>
                <a:ea typeface="黑体" pitchFamily="2" charset="-122"/>
              </a:rPr>
              <a:t>110101011</a:t>
            </a:r>
            <a:br>
              <a:rPr lang="zh-CN" altLang="zh-CN" sz="2400" dirty="0">
                <a:latin typeface="黑体" pitchFamily="2" charset="-122"/>
                <a:ea typeface="黑体" pitchFamily="2" charset="-122"/>
              </a:rPr>
            </a:b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带符号的n位有效数，机器数为n+l位。</a:t>
            </a:r>
            <a:br>
              <a:rPr lang="zh-CN" altLang="zh-CN" sz="2400" dirty="0">
                <a:latin typeface="黑体" pitchFamily="2" charset="-122"/>
                <a:ea typeface="黑体" pitchFamily="2" charset="-122"/>
              </a:rPr>
            </a:br>
            <a:r>
              <a:rPr lang="zh-CN" altLang="zh-CN" sz="2400" dirty="0">
                <a:latin typeface="黑体" pitchFamily="2" charset="-122"/>
                <a:ea typeface="黑体" pitchFamily="2" charset="-122"/>
              </a:rPr>
              <a:t>　　因此，带符号的数在机器内部总是以机器数的形式存在，机器内部不存在数的真值。为了运算方法的需要，机器数有四种不同的表示方法：即原码、补码、反码、移码表示法。</a:t>
            </a:r>
          </a:p>
        </p:txBody>
      </p:sp>
      <p:sp>
        <p:nvSpPr>
          <p:cNvPr id="18435" name="AutoShape 2" descr="G:\jzdx\%E8%AE%A1%E7%AE%97%E6%9C%BA%E7%BB%84%E6%88%90%E5%8E%9F%E7%90%86\%E6%95%99%E6%A1%88\%E7%AC%AC%E4%BA%8C%E7%AB%A0\Images\Home07.gif">
            <a:hlinkClick r:id="rId3" action="ppaction://hlinkfile"/>
          </p:cNvPr>
          <p:cNvSpPr>
            <a:spLocks noChangeAspect="1" noChangeArrowheads="1"/>
          </p:cNvSpPr>
          <p:nvPr/>
        </p:nvSpPr>
        <p:spPr bwMode="auto">
          <a:xfrm>
            <a:off x="4252913" y="-11525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92088" y="44450"/>
            <a:ext cx="78359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1.</a:t>
            </a:r>
            <a:r>
              <a:rPr lang="zh-CN" altLang="en-US" sz="2400" dirty="0">
                <a:solidFill>
                  <a:srgbClr val="FF0000"/>
                </a:solidFill>
                <a:latin typeface="黑体" pitchFamily="2" charset="-122"/>
                <a:ea typeface="黑体" pitchFamily="2" charset="-122"/>
              </a:rPr>
              <a:t>原码表示法</a:t>
            </a:r>
          </a:p>
          <a:p>
            <a:pPr eaLnBrk="0" hangingPunct="0">
              <a:lnSpc>
                <a:spcPct val="150000"/>
              </a:lnSpc>
            </a:pPr>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原码表示法中，用一个符号位表示数据的正负，用0代表正号，1代表负号，其余的代码表示数据的绝对值。</a:t>
            </a:r>
            <a:r>
              <a:rPr lang="en-US" altLang="zh-CN" sz="2400" dirty="0">
                <a:latin typeface="黑体" pitchFamily="2" charset="-122"/>
                <a:ea typeface="黑体" pitchFamily="2" charset="-122"/>
              </a:rPr>
              <a:t>  </a:t>
            </a:r>
          </a:p>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对于给定的一个二制整数：</a:t>
            </a:r>
          </a:p>
          <a:p>
            <a:pPr eaLnBrk="0" hangingPunct="0">
              <a:lnSpc>
                <a:spcPct val="150000"/>
              </a:lnSpc>
            </a:pPr>
            <a:r>
              <a:rPr lang="en-US" altLang="zh-CN" sz="2400" i="1" dirty="0">
                <a:latin typeface="黑体" pitchFamily="2" charset="-122"/>
                <a:ea typeface="黑体" pitchFamily="2" charset="-122"/>
              </a:rPr>
              <a:t>   </a:t>
            </a:r>
            <a:r>
              <a:rPr lang="zh-CN" altLang="zh-CN" sz="2400" i="1" dirty="0">
                <a:latin typeface="黑体" pitchFamily="2" charset="-122"/>
                <a:ea typeface="黑体" pitchFamily="2" charset="-122"/>
              </a:rPr>
              <a:t>ｘ</a:t>
            </a:r>
            <a:r>
              <a:rPr lang="zh-CN" altLang="zh-CN" sz="2400" i="1" baseline="-25000" dirty="0">
                <a:latin typeface="黑体" pitchFamily="2" charset="-122"/>
                <a:ea typeface="黑体" pitchFamily="2" charset="-122"/>
              </a:rPr>
              <a:t>n</a:t>
            </a:r>
            <a:r>
              <a:rPr lang="zh-CN" altLang="zh-CN" sz="2400" i="1" dirty="0">
                <a:latin typeface="黑体" pitchFamily="2" charset="-122"/>
                <a:ea typeface="黑体" pitchFamily="2" charset="-122"/>
              </a:rPr>
              <a:t>ｘ</a:t>
            </a:r>
            <a:r>
              <a:rPr lang="zh-CN" altLang="zh-CN" sz="2400" i="1" baseline="-25000" dirty="0">
                <a:latin typeface="黑体" pitchFamily="2" charset="-122"/>
                <a:ea typeface="黑体" pitchFamily="2" charset="-122"/>
              </a:rPr>
              <a:t>n-</a:t>
            </a:r>
            <a:r>
              <a:rPr lang="zh-CN" altLang="zh-CN" sz="2400" baseline="-25000" dirty="0">
                <a:latin typeface="黑体" pitchFamily="2" charset="-122"/>
                <a:ea typeface="黑体" pitchFamily="2" charset="-122"/>
              </a:rPr>
              <a:t>1</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n-2</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0</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n</a:t>
            </a:r>
            <a:r>
              <a:rPr lang="zh-CN" altLang="zh-CN" sz="2400" i="1" dirty="0">
                <a:latin typeface="黑体" pitchFamily="2" charset="-122"/>
                <a:ea typeface="黑体" pitchFamily="2" charset="-122"/>
              </a:rPr>
              <a:t>是符号位</a:t>
            </a:r>
            <a:r>
              <a:rPr lang="zh-CN" altLang="zh-CN" sz="2400" dirty="0">
                <a:latin typeface="黑体" pitchFamily="2" charset="-122"/>
                <a:ea typeface="黑体" pitchFamily="2" charset="-122"/>
              </a:rPr>
              <a:t>),则原码表示为：</a:t>
            </a:r>
          </a:p>
          <a:p>
            <a:pPr eaLnBrk="0" hangingPunct="0">
              <a:lnSpc>
                <a:spcPct val="150000"/>
              </a:lnSpc>
            </a:pPr>
            <a:r>
              <a:rPr lang="en-US" altLang="zh-CN" sz="2400" i="1" dirty="0">
                <a:solidFill>
                  <a:srgbClr val="000000"/>
                </a:solidFill>
                <a:latin typeface="黑体" pitchFamily="2" charset="-122"/>
                <a:ea typeface="黑体" pitchFamily="2" charset="-122"/>
              </a:rPr>
              <a:t>     </a:t>
            </a:r>
            <a:r>
              <a:rPr lang="zh-CN" altLang="zh-CN" sz="2400" i="1" dirty="0">
                <a:solidFill>
                  <a:srgbClr val="000000"/>
                </a:solidFill>
                <a:latin typeface="黑体" pitchFamily="2" charset="-122"/>
                <a:ea typeface="黑体" pitchFamily="2" charset="-122"/>
              </a:rPr>
              <a:t>ｘ</a:t>
            </a:r>
            <a:r>
              <a:rPr lang="zh-CN" altLang="zh-CN" sz="2400" dirty="0">
                <a:solidFill>
                  <a:srgbClr val="000000"/>
                </a:solidFill>
                <a:latin typeface="黑体" pitchFamily="2" charset="-122"/>
                <a:ea typeface="黑体" pitchFamily="2" charset="-122"/>
              </a:rPr>
              <a:t>≥0 [x]</a:t>
            </a:r>
            <a:r>
              <a:rPr lang="zh-CN" altLang="zh-CN" sz="2400" baseline="-30000" dirty="0">
                <a:solidFill>
                  <a:srgbClr val="000000"/>
                </a:solidFill>
                <a:latin typeface="黑体" pitchFamily="2" charset="-122"/>
                <a:ea typeface="黑体" pitchFamily="2" charset="-122"/>
              </a:rPr>
              <a:t>原</a:t>
            </a:r>
            <a:r>
              <a:rPr lang="zh-CN" altLang="zh-CN" sz="2400" dirty="0">
                <a:solidFill>
                  <a:srgbClr val="000000"/>
                </a:solidFill>
                <a:latin typeface="黑体" pitchFamily="2" charset="-122"/>
                <a:ea typeface="黑体" pitchFamily="2" charset="-122"/>
              </a:rPr>
              <a:t> =</a:t>
            </a:r>
            <a:r>
              <a:rPr lang="zh-CN" altLang="zh-CN" sz="2400" dirty="0">
                <a:latin typeface="黑体" pitchFamily="2" charset="-122"/>
                <a:ea typeface="黑体" pitchFamily="2" charset="-122"/>
              </a:rPr>
              <a:t> </a:t>
            </a:r>
            <a:r>
              <a:rPr lang="zh-CN" altLang="zh-CN" sz="2400" i="1" dirty="0">
                <a:latin typeface="黑体" pitchFamily="2" charset="-122"/>
                <a:ea typeface="黑体" pitchFamily="2" charset="-122"/>
              </a:rPr>
              <a:t>0ｘ</a:t>
            </a:r>
            <a:r>
              <a:rPr lang="zh-CN" altLang="zh-CN" sz="2400" i="1" baseline="-25000" dirty="0">
                <a:latin typeface="黑体" pitchFamily="2" charset="-122"/>
                <a:ea typeface="黑体" pitchFamily="2" charset="-122"/>
              </a:rPr>
              <a:t>n-</a:t>
            </a:r>
            <a:r>
              <a:rPr lang="zh-CN" altLang="zh-CN" sz="2400" baseline="-25000" dirty="0">
                <a:latin typeface="黑体" pitchFamily="2" charset="-122"/>
                <a:ea typeface="黑体" pitchFamily="2" charset="-122"/>
              </a:rPr>
              <a:t>1</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n-2</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0</a:t>
            </a:r>
            <a:endParaRPr lang="zh-CN" altLang="zh-CN" sz="2400" dirty="0">
              <a:latin typeface="黑体" pitchFamily="2" charset="-122"/>
              <a:ea typeface="黑体" pitchFamily="2" charset="-122"/>
            </a:endParaRPr>
          </a:p>
          <a:p>
            <a:pPr eaLnBrk="0" hangingPunct="0">
              <a:lnSpc>
                <a:spcPct val="150000"/>
              </a:lnSpc>
            </a:pPr>
            <a:r>
              <a:rPr lang="en-US" altLang="zh-CN" sz="2400" i="1" dirty="0">
                <a:solidFill>
                  <a:srgbClr val="000000"/>
                </a:solidFill>
                <a:latin typeface="黑体" pitchFamily="2" charset="-122"/>
                <a:ea typeface="黑体" pitchFamily="2" charset="-122"/>
              </a:rPr>
              <a:t>     </a:t>
            </a:r>
            <a:r>
              <a:rPr lang="zh-CN" altLang="zh-CN" sz="2400" i="1" dirty="0">
                <a:solidFill>
                  <a:srgbClr val="000000"/>
                </a:solidFill>
                <a:latin typeface="黑体" pitchFamily="2" charset="-122"/>
                <a:ea typeface="黑体" pitchFamily="2" charset="-122"/>
              </a:rPr>
              <a:t>ｘ</a:t>
            </a:r>
            <a:r>
              <a:rPr lang="zh-CN" altLang="zh-CN" sz="2400" dirty="0">
                <a:solidFill>
                  <a:srgbClr val="000000"/>
                </a:solidFill>
                <a:latin typeface="黑体" pitchFamily="2" charset="-122"/>
                <a:ea typeface="黑体" pitchFamily="2" charset="-122"/>
              </a:rPr>
              <a:t>≤0 [x]</a:t>
            </a:r>
            <a:r>
              <a:rPr lang="zh-CN" altLang="zh-CN" sz="2400" baseline="-30000" dirty="0">
                <a:solidFill>
                  <a:srgbClr val="000000"/>
                </a:solidFill>
                <a:latin typeface="黑体" pitchFamily="2" charset="-122"/>
                <a:ea typeface="黑体" pitchFamily="2" charset="-122"/>
              </a:rPr>
              <a:t>原</a:t>
            </a:r>
            <a:r>
              <a:rPr lang="zh-CN" altLang="zh-CN" sz="2400" dirty="0">
                <a:solidFill>
                  <a:srgbClr val="000000"/>
                </a:solidFill>
                <a:latin typeface="黑体" pitchFamily="2" charset="-122"/>
                <a:ea typeface="黑体" pitchFamily="2" charset="-122"/>
              </a:rPr>
              <a:t> =</a:t>
            </a:r>
            <a:r>
              <a:rPr lang="zh-CN" altLang="zh-CN" sz="2400" dirty="0">
                <a:latin typeface="黑体" pitchFamily="2" charset="-122"/>
                <a:ea typeface="黑体" pitchFamily="2" charset="-122"/>
              </a:rPr>
              <a:t> </a:t>
            </a:r>
            <a:r>
              <a:rPr lang="zh-CN" altLang="zh-CN" sz="2400" i="1" dirty="0">
                <a:latin typeface="黑体" pitchFamily="2" charset="-122"/>
                <a:ea typeface="黑体" pitchFamily="2" charset="-122"/>
              </a:rPr>
              <a:t>1ｘ</a:t>
            </a:r>
            <a:r>
              <a:rPr lang="zh-CN" altLang="zh-CN" sz="2400" i="1" baseline="-25000" dirty="0">
                <a:latin typeface="黑体" pitchFamily="2" charset="-122"/>
                <a:ea typeface="黑体" pitchFamily="2" charset="-122"/>
              </a:rPr>
              <a:t>n-</a:t>
            </a:r>
            <a:r>
              <a:rPr lang="zh-CN" altLang="zh-CN" sz="2400" baseline="-25000" dirty="0">
                <a:latin typeface="黑体" pitchFamily="2" charset="-122"/>
                <a:ea typeface="黑体" pitchFamily="2" charset="-122"/>
              </a:rPr>
              <a:t>1</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n-2</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0</a:t>
            </a:r>
            <a:endParaRPr lang="zh-CN" altLang="zh-CN" sz="2400" dirty="0">
              <a:latin typeface="黑体" pitchFamily="2" charset="-122"/>
              <a:ea typeface="黑体" pitchFamily="2" charset="-122"/>
            </a:endParaRPr>
          </a:p>
          <a:p>
            <a:pPr eaLnBrk="0" hangingPunct="0">
              <a:lnSpc>
                <a:spcPct val="150000"/>
              </a:lnSpc>
            </a:pPr>
            <a:r>
              <a:rPr lang="zh-CN" altLang="zh-CN" sz="2400" dirty="0">
                <a:latin typeface="黑体" pitchFamily="2" charset="-122"/>
                <a:ea typeface="黑体" pitchFamily="2" charset="-122"/>
              </a:rPr>
              <a:t>　　若</a:t>
            </a:r>
            <a:r>
              <a:rPr lang="zh-CN" altLang="zh-CN" sz="2400" dirty="0">
                <a:solidFill>
                  <a:srgbClr val="FF0000"/>
                </a:solidFill>
                <a:latin typeface="黑体" pitchFamily="2" charset="-122"/>
                <a:ea typeface="黑体" pitchFamily="2" charset="-122"/>
              </a:rPr>
              <a:t>定点整数</a:t>
            </a:r>
            <a:r>
              <a:rPr lang="zh-CN" altLang="zh-CN" sz="2400" dirty="0">
                <a:latin typeface="黑体" pitchFamily="2" charset="-122"/>
                <a:ea typeface="黑体" pitchFamily="2" charset="-122"/>
              </a:rPr>
              <a:t>的原码形式</a:t>
            </a:r>
            <a:r>
              <a:rPr lang="zh-CN" altLang="zh-CN" sz="2400" dirty="0" smtClean="0">
                <a:latin typeface="黑体" pitchFamily="2" charset="-122"/>
                <a:ea typeface="黑体" pitchFamily="2" charset="-122"/>
              </a:rPr>
              <a:t>为</a:t>
            </a:r>
            <a:r>
              <a:rPr lang="zh-CN" altLang="zh-CN" sz="2400" i="1" dirty="0">
                <a:latin typeface="黑体" pitchFamily="2" charset="-122"/>
                <a:ea typeface="黑体" pitchFamily="2" charset="-122"/>
              </a:rPr>
              <a:t>ｘ</a:t>
            </a:r>
            <a:r>
              <a:rPr lang="zh-CN" altLang="zh-CN" sz="2400" i="1" baseline="-25000" dirty="0">
                <a:latin typeface="黑体" pitchFamily="2" charset="-122"/>
                <a:ea typeface="黑体" pitchFamily="2" charset="-122"/>
              </a:rPr>
              <a:t>n</a:t>
            </a:r>
            <a:r>
              <a:rPr lang="zh-CN" altLang="zh-CN" sz="2400" i="1" dirty="0">
                <a:latin typeface="黑体" pitchFamily="2" charset="-122"/>
                <a:ea typeface="黑体" pitchFamily="2" charset="-122"/>
              </a:rPr>
              <a:t>ｘ</a:t>
            </a:r>
            <a:r>
              <a:rPr lang="zh-CN" altLang="zh-CN" sz="2400" i="1" baseline="-25000" dirty="0">
                <a:latin typeface="黑体" pitchFamily="2" charset="-122"/>
                <a:ea typeface="黑体" pitchFamily="2" charset="-122"/>
              </a:rPr>
              <a:t>n-</a:t>
            </a:r>
            <a:r>
              <a:rPr lang="zh-CN" altLang="zh-CN" sz="2400" baseline="-25000" dirty="0">
                <a:latin typeface="黑体" pitchFamily="2" charset="-122"/>
                <a:ea typeface="黑体" pitchFamily="2" charset="-122"/>
              </a:rPr>
              <a:t>1</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n-2</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0</a:t>
            </a:r>
            <a:r>
              <a:rPr lang="zh-CN" altLang="zh-CN" sz="2400" i="1" dirty="0" smtClean="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baseline="-25000" dirty="0">
                <a:latin typeface="黑体" pitchFamily="2" charset="-122"/>
                <a:ea typeface="黑体" pitchFamily="2" charset="-122"/>
              </a:rPr>
              <a:t>n</a:t>
            </a:r>
            <a:r>
              <a:rPr lang="zh-CN" altLang="zh-CN" sz="2400" i="1" dirty="0">
                <a:latin typeface="黑体" pitchFamily="2" charset="-122"/>
                <a:ea typeface="黑体" pitchFamily="2" charset="-122"/>
              </a:rPr>
              <a:t>是符号位</a:t>
            </a:r>
            <a:r>
              <a:rPr lang="zh-CN" altLang="zh-CN" sz="2400" dirty="0">
                <a:latin typeface="黑体" pitchFamily="2" charset="-122"/>
                <a:ea typeface="黑体" pitchFamily="2" charset="-122"/>
              </a:rPr>
              <a:t>),则原码表示的定义是</a:t>
            </a:r>
          </a:p>
        </p:txBody>
      </p:sp>
      <p:graphicFrame>
        <p:nvGraphicFramePr>
          <p:cNvPr id="5" name="表格 4"/>
          <p:cNvGraphicFramePr>
            <a:graphicFrameLocks noGrp="1"/>
          </p:cNvGraphicFramePr>
          <p:nvPr/>
        </p:nvGraphicFramePr>
        <p:xfrm>
          <a:off x="1187450" y="5229225"/>
          <a:ext cx="5976938" cy="936625"/>
        </p:xfrm>
        <a:graphic>
          <a:graphicData uri="http://schemas.openxmlformats.org/drawingml/2006/table">
            <a:tbl>
              <a:tblPr/>
              <a:tblGrid>
                <a:gridCol w="1152525"/>
                <a:gridCol w="360363"/>
                <a:gridCol w="4464050"/>
              </a:tblGrid>
              <a:tr h="9366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en-US"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en-US"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zh-CN" altLang="en-US" sz="2400" b="0" i="0" u="none" strike="noStrike" cap="none" normalizeH="0" baseline="-25000" dirty="0" smtClean="0">
                          <a:ln>
                            <a:noFill/>
                          </a:ln>
                          <a:solidFill>
                            <a:schemeClr val="tx1"/>
                          </a:solidFill>
                          <a:effectLst/>
                          <a:latin typeface="黑体" pitchFamily="2" charset="-122"/>
                          <a:ea typeface="黑体" pitchFamily="2" charset="-122"/>
                        </a:rPr>
                        <a:t>原</a:t>
                      </a:r>
                      <a:r>
                        <a:rPr kumimoji="0" lang="en-US" altLang="zh-CN" sz="2400" b="0" i="0" u="none" strike="noStrike" cap="none" normalizeH="0" baseline="0" dirty="0" smtClean="0">
                          <a:ln>
                            <a:noFill/>
                          </a:ln>
                          <a:solidFill>
                            <a:schemeClr val="tx1"/>
                          </a:solidFill>
                          <a:effectLst/>
                          <a:latin typeface="黑体" pitchFamily="2" charset="-122"/>
                          <a:ea typeface="黑体"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黑体" pitchFamily="2" charset="-122"/>
                          <a:ea typeface="黑体" pitchFamily="2" charset="-122"/>
                        </a:rPr>
                        <a:t>{</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    </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　　　　　  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≥0</a:t>
                      </a:r>
                    </a:p>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 </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 </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 |</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   0≥</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a:t>
                      </a:r>
                      <a:endParaRPr kumimoji="0" lang="pt-BR" altLang="zh-CN" sz="2400" b="0" i="0" u="none" strike="noStrike" cap="none" normalizeH="0" baseline="0" dirty="0" smtClean="0">
                        <a:ln>
                          <a:noFill/>
                        </a:ln>
                        <a:solidFill>
                          <a:schemeClr val="tx1"/>
                        </a:solidFill>
                        <a:effectLst/>
                        <a:latin typeface="黑体" pitchFamily="2" charset="-122"/>
                        <a:ea typeface="黑体" pitchFamily="2" charset="-122"/>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
          <p:cNvSpPr>
            <a:spLocks noChangeArrowheads="1"/>
          </p:cNvSpPr>
          <p:nvPr/>
        </p:nvSpPr>
        <p:spPr bwMode="auto">
          <a:xfrm>
            <a:off x="182515" y="1844824"/>
            <a:ext cx="856932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dirty="0">
                <a:solidFill>
                  <a:srgbClr val="FF0000"/>
                </a:solidFill>
                <a:latin typeface="黑体" pitchFamily="2" charset="-122"/>
                <a:ea typeface="黑体" pitchFamily="2" charset="-122"/>
              </a:rPr>
              <a:t>   </a:t>
            </a:r>
            <a:r>
              <a:rPr lang="en-US" altLang="zh-CN" sz="2400" dirty="0" err="1">
                <a:solidFill>
                  <a:srgbClr val="FF0000"/>
                </a:solidFill>
                <a:latin typeface="黑体" pitchFamily="2" charset="-122"/>
                <a:ea typeface="黑体" pitchFamily="2" charset="-122"/>
              </a:rPr>
              <a:t>n+l</a:t>
            </a:r>
            <a:r>
              <a:rPr lang="zh-CN" altLang="en-US" sz="2400" dirty="0">
                <a:solidFill>
                  <a:srgbClr val="FF0000"/>
                </a:solidFill>
                <a:latin typeface="黑体" pitchFamily="2" charset="-122"/>
                <a:ea typeface="黑体" pitchFamily="2" charset="-122"/>
              </a:rPr>
              <a:t>位整数原码能表示的数的范围</a:t>
            </a:r>
          </a:p>
          <a:p>
            <a:pPr>
              <a:lnSpc>
                <a:spcPct val="150000"/>
              </a:lnSpc>
            </a:pPr>
            <a:r>
              <a:rPr lang="en-US" altLang="zh-CN" sz="2400" dirty="0">
                <a:solidFill>
                  <a:srgbClr val="FF0000"/>
                </a:solidFill>
                <a:latin typeface="黑体" pitchFamily="2" charset="-122"/>
                <a:ea typeface="黑体" pitchFamily="2" charset="-122"/>
              </a:rPr>
              <a:t>   -2</a:t>
            </a:r>
            <a:r>
              <a:rPr lang="en-US" altLang="zh-CN" sz="2400" baseline="30000" dirty="0">
                <a:solidFill>
                  <a:srgbClr val="FF0000"/>
                </a:solidFill>
                <a:latin typeface="黑体" pitchFamily="2" charset="-122"/>
                <a:ea typeface="黑体" pitchFamily="2" charset="-122"/>
              </a:rPr>
              <a:t>n</a:t>
            </a:r>
            <a:r>
              <a:rPr lang="zh-CN" altLang="en-US"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+ 1 </a:t>
            </a:r>
            <a:r>
              <a:rPr lang="zh-CN" altLang="en-US" sz="2400" dirty="0">
                <a:solidFill>
                  <a:srgbClr val="FF0000"/>
                </a:solidFill>
                <a:latin typeface="黑体" pitchFamily="2" charset="-122"/>
                <a:ea typeface="黑体" pitchFamily="2" charset="-122"/>
              </a:rPr>
              <a:t>≤</a:t>
            </a:r>
            <a:r>
              <a:rPr lang="zh-CN" altLang="en-US" sz="2400" i="1" dirty="0">
                <a:solidFill>
                  <a:srgbClr val="FF0000"/>
                </a:solidFill>
                <a:latin typeface="黑体" pitchFamily="2" charset="-122"/>
                <a:ea typeface="黑体" pitchFamily="2" charset="-122"/>
              </a:rPr>
              <a:t>ｘ</a:t>
            </a:r>
            <a:r>
              <a:rPr lang="zh-CN" altLang="en-US"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2</a:t>
            </a:r>
            <a:r>
              <a:rPr lang="en-US" altLang="zh-CN" sz="2400" baseline="30000" dirty="0">
                <a:solidFill>
                  <a:srgbClr val="FF0000"/>
                </a:solidFill>
                <a:latin typeface="黑体" pitchFamily="2" charset="-122"/>
                <a:ea typeface="黑体" pitchFamily="2" charset="-122"/>
              </a:rPr>
              <a:t>n </a:t>
            </a:r>
            <a:r>
              <a:rPr lang="en-US" altLang="zh-CN" sz="2400" dirty="0">
                <a:solidFill>
                  <a:srgbClr val="FF0000"/>
                </a:solidFill>
                <a:latin typeface="黑体" pitchFamily="2" charset="-122"/>
                <a:ea typeface="黑体" pitchFamily="2" charset="-122"/>
              </a:rPr>
              <a:t>-1</a:t>
            </a:r>
          </a:p>
          <a:p>
            <a:pPr>
              <a:lnSpc>
                <a:spcPct val="150000"/>
              </a:lnSpc>
            </a:pPr>
            <a:r>
              <a:rPr lang="zh-CN" altLang="en-US" sz="2400" dirty="0">
                <a:solidFill>
                  <a:srgbClr val="FF0000"/>
                </a:solidFill>
                <a:latin typeface="黑体" pitchFamily="2" charset="-122"/>
                <a:ea typeface="黑体" pitchFamily="2" charset="-122"/>
              </a:rPr>
              <a:t>   对于给定原码 </a:t>
            </a:r>
            <a:r>
              <a:rPr lang="en-US" altLang="zh-CN" sz="2400" dirty="0">
                <a:solidFill>
                  <a:srgbClr val="FF0000"/>
                </a:solidFill>
                <a:latin typeface="黑体" pitchFamily="2" charset="-122"/>
                <a:ea typeface="黑体" pitchFamily="2" charset="-122"/>
              </a:rPr>
              <a:t>[</a:t>
            </a:r>
            <a:r>
              <a:rPr lang="zh-CN" altLang="en-US" sz="2400" i="1" dirty="0">
                <a:solidFill>
                  <a:srgbClr val="FF0000"/>
                </a:solidFill>
                <a:latin typeface="黑体" pitchFamily="2" charset="-122"/>
                <a:ea typeface="黑体" pitchFamily="2" charset="-122"/>
              </a:rPr>
              <a:t>ｘ</a:t>
            </a:r>
            <a:r>
              <a:rPr lang="en-US" altLang="zh-CN" sz="2400" dirty="0">
                <a:solidFill>
                  <a:srgbClr val="FF0000"/>
                </a:solidFill>
                <a:latin typeface="黑体" pitchFamily="2" charset="-122"/>
                <a:ea typeface="黑体" pitchFamily="2" charset="-122"/>
              </a:rPr>
              <a:t>]</a:t>
            </a:r>
            <a:r>
              <a:rPr lang="zh-CN" altLang="en-US" sz="2400" baseline="-25000" dirty="0">
                <a:solidFill>
                  <a:srgbClr val="FF0000"/>
                </a:solidFill>
                <a:latin typeface="黑体" pitchFamily="2" charset="-122"/>
                <a:ea typeface="黑体" pitchFamily="2" charset="-122"/>
              </a:rPr>
              <a:t>原</a:t>
            </a:r>
            <a:r>
              <a:rPr lang="zh-CN" altLang="en-US"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 </a:t>
            </a:r>
            <a:r>
              <a:rPr lang="zh-CN" altLang="zh-CN" sz="2400" i="1" dirty="0">
                <a:solidFill>
                  <a:srgbClr val="FF0000"/>
                </a:solidFill>
                <a:latin typeface="黑体" pitchFamily="2" charset="-122"/>
                <a:ea typeface="黑体" pitchFamily="2" charset="-122"/>
              </a:rPr>
              <a:t>ｘ</a:t>
            </a:r>
            <a:r>
              <a:rPr lang="zh-CN" altLang="zh-CN" sz="2400" i="1" baseline="-25000" dirty="0">
                <a:solidFill>
                  <a:srgbClr val="FF0000"/>
                </a:solidFill>
                <a:latin typeface="黑体" pitchFamily="2" charset="-122"/>
                <a:ea typeface="黑体" pitchFamily="2" charset="-122"/>
              </a:rPr>
              <a:t>n</a:t>
            </a:r>
            <a:r>
              <a:rPr lang="zh-CN" altLang="zh-CN" sz="2400" i="1" dirty="0">
                <a:solidFill>
                  <a:srgbClr val="FF0000"/>
                </a:solidFill>
                <a:latin typeface="黑体" pitchFamily="2" charset="-122"/>
                <a:ea typeface="黑体" pitchFamily="2" charset="-122"/>
              </a:rPr>
              <a:t>ｘ</a:t>
            </a:r>
            <a:r>
              <a:rPr lang="zh-CN" altLang="zh-CN" sz="2400" i="1" baseline="-25000" dirty="0">
                <a:solidFill>
                  <a:srgbClr val="FF0000"/>
                </a:solidFill>
                <a:latin typeface="黑体" pitchFamily="2" charset="-122"/>
                <a:ea typeface="黑体" pitchFamily="2" charset="-122"/>
              </a:rPr>
              <a:t>n-</a:t>
            </a:r>
            <a:r>
              <a:rPr lang="zh-CN" altLang="zh-CN" sz="2400" baseline="-25000" dirty="0">
                <a:solidFill>
                  <a:srgbClr val="FF0000"/>
                </a:solidFill>
                <a:latin typeface="黑体" pitchFamily="2" charset="-122"/>
                <a:ea typeface="黑体" pitchFamily="2" charset="-122"/>
              </a:rPr>
              <a:t>1</a:t>
            </a:r>
            <a:r>
              <a:rPr lang="zh-CN" altLang="zh-CN" sz="2400" i="1" dirty="0">
                <a:solidFill>
                  <a:srgbClr val="FF0000"/>
                </a:solidFill>
                <a:latin typeface="黑体" pitchFamily="2" charset="-122"/>
                <a:ea typeface="黑体" pitchFamily="2" charset="-122"/>
              </a:rPr>
              <a:t>ｘ</a:t>
            </a:r>
            <a:r>
              <a:rPr lang="zh-CN" altLang="zh-CN" sz="2400" baseline="-25000" dirty="0">
                <a:solidFill>
                  <a:srgbClr val="FF0000"/>
                </a:solidFill>
                <a:latin typeface="黑体" pitchFamily="2" charset="-122"/>
                <a:ea typeface="黑体" pitchFamily="2" charset="-122"/>
              </a:rPr>
              <a:t>n-2</a:t>
            </a:r>
            <a:r>
              <a:rPr lang="zh-CN" altLang="zh-CN" sz="2400" dirty="0">
                <a:solidFill>
                  <a:srgbClr val="FF0000"/>
                </a:solidFill>
                <a:latin typeface="黑体" pitchFamily="2" charset="-122"/>
                <a:ea typeface="黑体" pitchFamily="2" charset="-122"/>
              </a:rPr>
              <a:t>…</a:t>
            </a:r>
            <a:r>
              <a:rPr lang="zh-CN" altLang="zh-CN" sz="2400" i="1" dirty="0">
                <a:solidFill>
                  <a:srgbClr val="FF0000"/>
                </a:solidFill>
                <a:latin typeface="黑体" pitchFamily="2" charset="-122"/>
                <a:ea typeface="黑体" pitchFamily="2" charset="-122"/>
              </a:rPr>
              <a:t>ｘ</a:t>
            </a:r>
            <a:r>
              <a:rPr lang="zh-CN" altLang="zh-CN" sz="2400" baseline="-25000" dirty="0" smtClean="0">
                <a:solidFill>
                  <a:srgbClr val="FF0000"/>
                </a:solidFill>
                <a:latin typeface="黑体" pitchFamily="2" charset="-122"/>
                <a:ea typeface="黑体" pitchFamily="2" charset="-122"/>
              </a:rPr>
              <a:t>0</a:t>
            </a:r>
            <a:endParaRPr lang="en-US" altLang="zh-CN" sz="2400" baseline="-25000" dirty="0" smtClean="0">
              <a:solidFill>
                <a:srgbClr val="FF0000"/>
              </a:solidFill>
              <a:latin typeface="黑体" pitchFamily="2" charset="-122"/>
              <a:ea typeface="黑体" pitchFamily="2" charset="-122"/>
            </a:endParaRPr>
          </a:p>
          <a:p>
            <a:pPr>
              <a:lnSpc>
                <a:spcPct val="150000"/>
              </a:lnSpc>
            </a:pPr>
            <a:r>
              <a:rPr lang="en-US" altLang="zh-CN" sz="2400" dirty="0" smtClean="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x = (-1)</a:t>
            </a:r>
            <a:r>
              <a:rPr lang="en-US" altLang="zh-CN" sz="2400" baseline="30000" dirty="0" err="1">
                <a:solidFill>
                  <a:srgbClr val="FF0000"/>
                </a:solidFill>
                <a:latin typeface="黑体" pitchFamily="2" charset="-122"/>
                <a:ea typeface="黑体" pitchFamily="2" charset="-122"/>
              </a:rPr>
              <a:t>Xn</a:t>
            </a:r>
            <a:r>
              <a:rPr lang="en-US" altLang="zh-CN" sz="2400" dirty="0">
                <a:solidFill>
                  <a:srgbClr val="FF0000"/>
                </a:solidFill>
                <a:latin typeface="黑体" pitchFamily="2" charset="-122"/>
                <a:ea typeface="黑体" pitchFamily="2" charset="-122"/>
              </a:rPr>
              <a:t>(X</a:t>
            </a:r>
            <a:r>
              <a:rPr lang="en-US" altLang="zh-CN" sz="2400" baseline="-25000" dirty="0">
                <a:solidFill>
                  <a:srgbClr val="FF0000"/>
                </a:solidFill>
                <a:latin typeface="黑体" pitchFamily="2" charset="-122"/>
                <a:ea typeface="黑体" pitchFamily="2" charset="-122"/>
              </a:rPr>
              <a:t>n-1</a:t>
            </a:r>
            <a:r>
              <a:rPr lang="en-US" altLang="zh-CN" sz="2400" dirty="0">
                <a:solidFill>
                  <a:srgbClr val="FF0000"/>
                </a:solidFill>
                <a:latin typeface="黑体" pitchFamily="2" charset="-122"/>
                <a:ea typeface="黑体" pitchFamily="2" charset="-122"/>
              </a:rPr>
              <a:t>2</a:t>
            </a:r>
            <a:r>
              <a:rPr lang="en-US" altLang="zh-CN" sz="2400" baseline="30000" dirty="0">
                <a:solidFill>
                  <a:srgbClr val="FF0000"/>
                </a:solidFill>
                <a:latin typeface="黑体" pitchFamily="2" charset="-122"/>
                <a:ea typeface="黑体" pitchFamily="2" charset="-122"/>
              </a:rPr>
              <a:t>n-1</a:t>
            </a:r>
            <a:r>
              <a:rPr lang="zh-CN" altLang="en-US"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 X</a:t>
            </a:r>
            <a:r>
              <a:rPr lang="en-US" altLang="zh-CN" sz="2400" baseline="-25000" dirty="0">
                <a:solidFill>
                  <a:srgbClr val="FF0000"/>
                </a:solidFill>
                <a:latin typeface="黑体" pitchFamily="2" charset="-122"/>
                <a:ea typeface="黑体" pitchFamily="2" charset="-122"/>
              </a:rPr>
              <a:t>1</a:t>
            </a:r>
            <a:r>
              <a:rPr lang="en-US" altLang="zh-CN" sz="2400" dirty="0">
                <a:solidFill>
                  <a:srgbClr val="FF0000"/>
                </a:solidFill>
                <a:latin typeface="黑体" pitchFamily="2" charset="-122"/>
                <a:ea typeface="黑体" pitchFamily="2" charset="-122"/>
              </a:rPr>
              <a:t>2</a:t>
            </a:r>
            <a:r>
              <a:rPr lang="en-US" altLang="zh-CN" sz="2400" baseline="30000" dirty="0">
                <a:solidFill>
                  <a:srgbClr val="FF0000"/>
                </a:solidFill>
                <a:latin typeface="黑体" pitchFamily="2" charset="-122"/>
                <a:ea typeface="黑体" pitchFamily="2" charset="-122"/>
              </a:rPr>
              <a:t>1</a:t>
            </a:r>
            <a:r>
              <a:rPr lang="zh-CN" altLang="en-US"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 x</a:t>
            </a:r>
            <a:r>
              <a:rPr lang="en-US" altLang="zh-CN" sz="2400" baseline="-25000" dirty="0">
                <a:solidFill>
                  <a:srgbClr val="FF0000"/>
                </a:solidFill>
                <a:latin typeface="黑体" pitchFamily="2" charset="-122"/>
                <a:ea typeface="黑体" pitchFamily="2" charset="-122"/>
              </a:rPr>
              <a:t>0</a:t>
            </a:r>
            <a:r>
              <a:rPr lang="en-US" altLang="zh-CN" sz="2400" dirty="0">
                <a:solidFill>
                  <a:srgbClr val="FF0000"/>
                </a:solidFill>
                <a:latin typeface="黑体" pitchFamily="2" charset="-122"/>
                <a:ea typeface="黑体" pitchFamily="2" charset="-122"/>
              </a:rPr>
              <a:t>2</a:t>
            </a:r>
            <a:r>
              <a:rPr lang="en-US" altLang="zh-CN" sz="2400" baseline="30000" dirty="0">
                <a:solidFill>
                  <a:srgbClr val="FF0000"/>
                </a:solidFill>
                <a:latin typeface="黑体" pitchFamily="2" charset="-122"/>
                <a:ea typeface="黑体" pitchFamily="2" charset="-122"/>
              </a:rPr>
              <a:t>0</a:t>
            </a:r>
            <a:r>
              <a:rPr lang="en-US" altLang="zh-CN" sz="2400" dirty="0">
                <a:solidFill>
                  <a:srgbClr val="FF0000"/>
                </a:solidFill>
                <a:latin typeface="黑体" pitchFamily="2" charset="-122"/>
                <a:ea typeface="黑体" pitchFamily="2" charset="-122"/>
              </a:rPr>
              <a:t>) </a:t>
            </a:r>
            <a:r>
              <a:rPr lang="zh-CN" altLang="en-US" sz="2400" dirty="0">
                <a:latin typeface="黑体" pitchFamily="2" charset="-122"/>
                <a:ea typeface="黑体" pitchFamily="2" charset="-122"/>
              </a:rPr>
              <a:t>　　</a:t>
            </a:r>
          </a:p>
        </p:txBody>
      </p:sp>
      <p:graphicFrame>
        <p:nvGraphicFramePr>
          <p:cNvPr id="2" name="表格 1"/>
          <p:cNvGraphicFramePr>
            <a:graphicFrameLocks noGrp="1"/>
          </p:cNvGraphicFramePr>
          <p:nvPr>
            <p:extLst>
              <p:ext uri="{D42A27DB-BD31-4B8C-83A1-F6EECF244321}">
                <p14:modId xmlns:p14="http://schemas.microsoft.com/office/powerpoint/2010/main" val="328624084"/>
              </p:ext>
            </p:extLst>
          </p:nvPr>
        </p:nvGraphicFramePr>
        <p:xfrm>
          <a:off x="611560" y="620688"/>
          <a:ext cx="5976938" cy="936625"/>
        </p:xfrm>
        <a:graphic>
          <a:graphicData uri="http://schemas.openxmlformats.org/drawingml/2006/table">
            <a:tbl>
              <a:tblPr/>
              <a:tblGrid>
                <a:gridCol w="1152525"/>
                <a:gridCol w="360363"/>
                <a:gridCol w="4464050"/>
              </a:tblGrid>
              <a:tr h="9366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en-US"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en-US"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zh-CN" altLang="en-US" sz="2400" b="0" i="0" u="none" strike="noStrike" cap="none" normalizeH="0" baseline="-25000" dirty="0" smtClean="0">
                          <a:ln>
                            <a:noFill/>
                          </a:ln>
                          <a:solidFill>
                            <a:schemeClr val="tx1"/>
                          </a:solidFill>
                          <a:effectLst/>
                          <a:latin typeface="黑体" pitchFamily="2" charset="-122"/>
                          <a:ea typeface="黑体" pitchFamily="2" charset="-122"/>
                        </a:rPr>
                        <a:t>原</a:t>
                      </a:r>
                      <a:r>
                        <a:rPr kumimoji="0" lang="en-US" altLang="zh-CN" sz="2400" b="0" i="0" u="none" strike="noStrike" cap="none" normalizeH="0" baseline="0" dirty="0" smtClean="0">
                          <a:ln>
                            <a:noFill/>
                          </a:ln>
                          <a:solidFill>
                            <a:schemeClr val="tx1"/>
                          </a:solidFill>
                          <a:effectLst/>
                          <a:latin typeface="黑体" pitchFamily="2" charset="-122"/>
                          <a:ea typeface="黑体"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黑体" pitchFamily="2" charset="-122"/>
                          <a:ea typeface="黑体" pitchFamily="2" charset="-122"/>
                        </a:rPr>
                        <a:t>{</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    </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　　　　　  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≥0</a:t>
                      </a:r>
                    </a:p>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 </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 </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 |</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   0≥</a:t>
                      </a:r>
                      <a:r>
                        <a:rPr kumimoji="0" lang="pt-BR" altLang="zh-CN" sz="2400" b="0" i="1" u="none" strike="noStrike" cap="none" normalizeH="0" baseline="0" dirty="0" smtClean="0">
                          <a:ln>
                            <a:noFill/>
                          </a:ln>
                          <a:solidFill>
                            <a:schemeClr val="tx1"/>
                          </a:solidFill>
                          <a:effectLst/>
                          <a:latin typeface="黑体" pitchFamily="2" charset="-122"/>
                          <a:ea typeface="黑体" pitchFamily="2" charset="-122"/>
                        </a:rPr>
                        <a:t>ｘ</a:t>
                      </a:r>
                      <a:r>
                        <a:rPr kumimoji="0" lang="pt-BR" altLang="zh-CN" sz="2400" b="0" i="0" u="none" strike="noStrike" cap="none" normalizeH="0" baseline="0" dirty="0" smtClean="0">
                          <a:ln>
                            <a:noFill/>
                          </a:ln>
                          <a:solidFill>
                            <a:schemeClr val="tx1"/>
                          </a:solidFill>
                          <a:effectLst/>
                          <a:latin typeface="黑体" pitchFamily="2" charset="-122"/>
                          <a:ea typeface="黑体" pitchFamily="2" charset="-122"/>
                        </a:rPr>
                        <a:t>＞-2</a:t>
                      </a:r>
                      <a:r>
                        <a:rPr kumimoji="0" lang="pt-BR" altLang="zh-CN" sz="2400" b="0" i="0" u="none" strike="noStrike" cap="none" normalizeH="0" baseline="30000" dirty="0" smtClean="0">
                          <a:ln>
                            <a:noFill/>
                          </a:ln>
                          <a:solidFill>
                            <a:schemeClr val="tx1"/>
                          </a:solidFill>
                          <a:effectLst/>
                          <a:latin typeface="黑体" pitchFamily="2" charset="-122"/>
                          <a:ea typeface="黑体" pitchFamily="2" charset="-122"/>
                        </a:rPr>
                        <a:t>n</a:t>
                      </a:r>
                      <a:endParaRPr kumimoji="0" lang="pt-BR" altLang="zh-CN" sz="2400" b="0" i="0" u="none" strike="noStrike" cap="none" normalizeH="0" baseline="0" dirty="0" smtClean="0">
                        <a:ln>
                          <a:noFill/>
                        </a:ln>
                        <a:solidFill>
                          <a:schemeClr val="tx1"/>
                        </a:solidFill>
                        <a:effectLst/>
                        <a:latin typeface="黑体" pitchFamily="2" charset="-122"/>
                        <a:ea typeface="黑体" pitchFamily="2" charset="-122"/>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06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323528" y="1268760"/>
            <a:ext cx="8423854" cy="5262979"/>
          </a:xfrm>
          <a:prstGeom prst="rect">
            <a:avLst/>
          </a:prstGeom>
        </p:spPr>
        <p:txBody>
          <a:bodyPr wrap="square">
            <a:spAutoFit/>
          </a:bodyPr>
          <a:lstStyle/>
          <a:p>
            <a:pPr>
              <a:lnSpc>
                <a:spcPct val="120000"/>
              </a:lnSpc>
            </a:pPr>
            <a:r>
              <a:rPr lang="zh-TW" altLang="zh-CN" sz="2800" dirty="0" smtClean="0">
                <a:latin typeface="华文新魏" panose="02010800040101010101" pitchFamily="2" charset="-122"/>
                <a:ea typeface="华文新魏" panose="02010800040101010101" pitchFamily="2" charset="-122"/>
              </a:rPr>
              <a:t>某</a:t>
            </a:r>
            <a:r>
              <a:rPr lang="zh-TW" altLang="zh-CN" sz="2800" dirty="0">
                <a:latin typeface="华文新魏" panose="02010800040101010101" pitchFamily="2" charset="-122"/>
                <a:ea typeface="华文新魏" panose="02010800040101010101" pitchFamily="2" charset="-122"/>
              </a:rPr>
              <a:t>机字长8位，含一位数符，采用原码表示</a:t>
            </a:r>
            <a:r>
              <a:rPr lang="zh-TW" altLang="zh-CN" sz="2800" dirty="0" smtClean="0">
                <a:latin typeface="华文新魏" panose="02010800040101010101" pitchFamily="2" charset="-122"/>
                <a:ea typeface="华文新魏" panose="02010800040101010101" pitchFamily="2" charset="-122"/>
              </a:rPr>
              <a:t>，</a:t>
            </a:r>
            <a:endParaRPr lang="en-US" altLang="zh-TW" sz="2800" dirty="0" smtClean="0">
              <a:latin typeface="华文新魏" panose="02010800040101010101" pitchFamily="2" charset="-122"/>
              <a:ea typeface="华文新魏" panose="02010800040101010101" pitchFamily="2" charset="-122"/>
            </a:endParaRPr>
          </a:p>
          <a:p>
            <a:pPr>
              <a:lnSpc>
                <a:spcPct val="120000"/>
              </a:lnSpc>
            </a:pPr>
            <a:r>
              <a:rPr lang="zh-TW" altLang="zh-CN" sz="2800" dirty="0" smtClean="0">
                <a:latin typeface="华文新魏" panose="02010800040101010101" pitchFamily="2" charset="-122"/>
                <a:ea typeface="华文新魏" panose="02010800040101010101" pitchFamily="2" charset="-122"/>
              </a:rPr>
              <a:t>则</a:t>
            </a:r>
            <a:r>
              <a:rPr lang="zh-TW" altLang="zh-CN" sz="2800" dirty="0">
                <a:latin typeface="华文新魏" panose="02010800040101010101" pitchFamily="2" charset="-122"/>
                <a:ea typeface="华文新魏" panose="02010800040101010101" pitchFamily="2" charset="-122"/>
              </a:rPr>
              <a:t>定点小数所能表示的非零最小正数为_____。</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l-2</a:t>
            </a:r>
            <a:r>
              <a:rPr lang="en-US" altLang="zh-CN" sz="2800" baseline="30000" dirty="0" smtClean="0">
                <a:latin typeface="华文新魏" panose="02010800040101010101" pitchFamily="2" charset="-122"/>
                <a:ea typeface="华文新魏" panose="02010800040101010101" pitchFamily="2" charset="-122"/>
              </a:rPr>
              <a:t>-8  </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2</a:t>
            </a:r>
            <a:r>
              <a:rPr lang="en-US" altLang="zh-CN" sz="2800" baseline="30000" dirty="0" smtClean="0">
                <a:latin typeface="华文新魏" panose="02010800040101010101" pitchFamily="2" charset="-122"/>
                <a:ea typeface="华文新魏" panose="02010800040101010101" pitchFamily="2" charset="-122"/>
              </a:rPr>
              <a:t>-8</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l-2</a:t>
            </a:r>
            <a:r>
              <a:rPr lang="en-US" altLang="zh-CN" sz="2800" baseline="30000" dirty="0" smtClean="0">
                <a:latin typeface="华文新魏" panose="02010800040101010101" pitchFamily="2" charset="-122"/>
                <a:ea typeface="华文新魏" panose="02010800040101010101" pitchFamily="2" charset="-122"/>
              </a:rPr>
              <a:t>-7</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2</a:t>
            </a:r>
            <a:r>
              <a:rPr lang="en-US" altLang="zh-CN" sz="2800" baseline="30000" dirty="0">
                <a:latin typeface="华文新魏" panose="02010800040101010101" pitchFamily="2" charset="-122"/>
                <a:ea typeface="华文新魏" panose="02010800040101010101" pitchFamily="2" charset="-122"/>
              </a:rPr>
              <a:t>-7</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zh-CN" altLang="zh-CN" sz="2800" dirty="0">
              <a:latin typeface="华文新魏" panose="02010800040101010101" pitchFamily="2" charset="-122"/>
              <a:ea typeface="华文新魏" panose="02010800040101010101" pitchFamily="2" charset="-122"/>
            </a:endParaRPr>
          </a:p>
          <a:p>
            <a:pPr>
              <a:lnSpc>
                <a:spcPct val="120000"/>
              </a:lnSpc>
            </a:pPr>
            <a:r>
              <a:rPr lang="zh-TW" altLang="zh-CN" sz="2800" dirty="0" smtClean="0">
                <a:latin typeface="华文新魏" panose="02010800040101010101" pitchFamily="2" charset="-122"/>
                <a:ea typeface="华文新魏" panose="02010800040101010101" pitchFamily="2" charset="-122"/>
              </a:rPr>
              <a:t>某</a:t>
            </a:r>
            <a:r>
              <a:rPr lang="zh-TW" altLang="zh-CN" sz="2800" dirty="0">
                <a:latin typeface="华文新魏" panose="02010800040101010101" pitchFamily="2" charset="-122"/>
                <a:ea typeface="华文新魏" panose="02010800040101010101" pitchFamily="2" charset="-122"/>
              </a:rPr>
              <a:t>机字长8位，含一位数符，采用原码表示，则定点小数所能表示的最小负数为_____。</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2</a:t>
            </a:r>
            <a:r>
              <a:rPr lang="en-US" altLang="zh-CN" sz="2800" baseline="30000" dirty="0" smtClean="0">
                <a:latin typeface="华文新魏" panose="02010800040101010101" pitchFamily="2" charset="-122"/>
                <a:ea typeface="华文新魏" panose="02010800040101010101" pitchFamily="2" charset="-122"/>
              </a:rPr>
              <a:t>-8</a:t>
            </a:r>
            <a:r>
              <a:rPr lang="en-US" altLang="zh-CN" sz="2800" dirty="0" smtClean="0">
                <a:latin typeface="华文新魏" panose="02010800040101010101" pitchFamily="2" charset="-122"/>
                <a:ea typeface="华文新魏" panose="02010800040101010101" pitchFamily="2" charset="-122"/>
              </a:rPr>
              <a:t>-l        B</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2</a:t>
            </a:r>
            <a:r>
              <a:rPr lang="en-US" altLang="zh-CN" sz="2800" baseline="30000" dirty="0" smtClean="0">
                <a:latin typeface="华文新魏" panose="02010800040101010101" pitchFamily="2" charset="-122"/>
                <a:ea typeface="华文新魏" panose="02010800040101010101" pitchFamily="2" charset="-122"/>
              </a:rPr>
              <a:t>-8           </a:t>
            </a:r>
            <a:r>
              <a:rPr lang="en-US" altLang="zh-CN" sz="2800" dirty="0" smtClean="0">
                <a:latin typeface="华文新魏" panose="02010800040101010101" pitchFamily="2" charset="-122"/>
                <a:ea typeface="华文新魏" panose="02010800040101010101" pitchFamily="2" charset="-122"/>
              </a:rPr>
              <a:t>C</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2</a:t>
            </a:r>
            <a:r>
              <a:rPr lang="en-US" altLang="zh-CN" sz="2800" baseline="30000" dirty="0" smtClean="0">
                <a:latin typeface="华文新魏" panose="02010800040101010101" pitchFamily="2" charset="-122"/>
                <a:ea typeface="华文新魏" panose="02010800040101010101" pitchFamily="2" charset="-122"/>
              </a:rPr>
              <a:t>-7</a:t>
            </a:r>
            <a:r>
              <a:rPr lang="en-US" altLang="zh-CN" sz="2800" dirty="0" smtClean="0">
                <a:latin typeface="华文新魏" panose="02010800040101010101" pitchFamily="2" charset="-122"/>
                <a:ea typeface="华文新魏" panose="02010800040101010101" pitchFamily="2" charset="-122"/>
              </a:rPr>
              <a:t>-l        D</a:t>
            </a:r>
            <a:r>
              <a:rPr lang="en-US" altLang="zh-CN" sz="2800" dirty="0">
                <a:latin typeface="华文新魏" panose="02010800040101010101" pitchFamily="2" charset="-122"/>
                <a:ea typeface="华文新魏" panose="02010800040101010101" pitchFamily="2" charset="-122"/>
              </a:rPr>
              <a:t>. -2</a:t>
            </a:r>
            <a:r>
              <a:rPr lang="en-US" altLang="zh-CN" sz="2800" baseline="30000" dirty="0">
                <a:latin typeface="华文新魏" panose="02010800040101010101" pitchFamily="2" charset="-122"/>
                <a:ea typeface="华文新魏" panose="02010800040101010101" pitchFamily="2" charset="-122"/>
              </a:rPr>
              <a:t>-7</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5880844" y="282753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269771" y="539861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857485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
          <p:cNvSpPr>
            <a:spLocks noChangeArrowheads="1"/>
          </p:cNvSpPr>
          <p:nvPr/>
        </p:nvSpPr>
        <p:spPr bwMode="auto">
          <a:xfrm>
            <a:off x="182515" y="404664"/>
            <a:ext cx="856932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itchFamily="2" charset="-122"/>
                <a:ea typeface="黑体" pitchFamily="2" charset="-122"/>
              </a:rPr>
              <a:t>　　采用原码表示法简单易懂，缺点是加减法运算复杂。</a:t>
            </a:r>
            <a:endParaRPr lang="en-US" altLang="zh-CN" sz="2400" dirty="0">
              <a:latin typeface="黑体" pitchFamily="2" charset="-122"/>
              <a:ea typeface="黑体" pitchFamily="2" charset="-122"/>
            </a:endParaRPr>
          </a:p>
          <a:p>
            <a:pPr>
              <a:lnSpc>
                <a:spcPct val="150000"/>
              </a:lnSpc>
            </a:pPr>
            <a:r>
              <a:rPr lang="en-US" altLang="zh-CN" sz="2400" dirty="0">
                <a:latin typeface="黑体" pitchFamily="2" charset="-122"/>
                <a:ea typeface="黑体" pitchFamily="2" charset="-122"/>
              </a:rPr>
              <a:t>    x = +0011 (+3)</a:t>
            </a:r>
            <a:r>
              <a:rPr lang="en-US" altLang="zh-CN" sz="2400" baseline="-25000" dirty="0">
                <a:latin typeface="黑体" pitchFamily="2" charset="-122"/>
                <a:ea typeface="黑体" pitchFamily="2" charset="-122"/>
              </a:rPr>
              <a:t>10</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y = -1001 (-9)</a:t>
            </a:r>
            <a:r>
              <a:rPr lang="en-US" altLang="zh-CN" sz="2400" baseline="-25000" dirty="0">
                <a:latin typeface="黑体" pitchFamily="2" charset="-122"/>
                <a:ea typeface="黑体" pitchFamily="2" charset="-122"/>
              </a:rPr>
              <a:t>10</a:t>
            </a:r>
            <a:endParaRPr lang="zh-CN" altLang="en-US" sz="2400" dirty="0">
              <a:latin typeface="黑体" pitchFamily="2" charset="-122"/>
              <a:ea typeface="黑体" pitchFamily="2" charset="-122"/>
            </a:endParaRPr>
          </a:p>
          <a:p>
            <a:pPr>
              <a:lnSpc>
                <a:spcPct val="150000"/>
              </a:lnSpc>
            </a:pPr>
            <a:r>
              <a:rPr lang="en-US" altLang="zh-CN" sz="2400" dirty="0">
                <a:latin typeface="黑体" pitchFamily="2" charset="-122"/>
                <a:ea typeface="黑体" pitchFamily="2" charset="-122"/>
              </a:rPr>
              <a:t>    [</a:t>
            </a:r>
            <a:r>
              <a:rPr lang="en-US" altLang="zh-CN" sz="2400" dirty="0" err="1">
                <a:latin typeface="黑体" pitchFamily="2" charset="-122"/>
                <a:ea typeface="黑体" pitchFamily="2" charset="-122"/>
              </a:rPr>
              <a:t>x+y</a:t>
            </a:r>
            <a:r>
              <a:rPr lang="en-US" altLang="zh-CN" sz="2400" dirty="0">
                <a:latin typeface="黑体" pitchFamily="2" charset="-122"/>
                <a:ea typeface="黑体" pitchFamily="2" charset="-122"/>
              </a:rPr>
              <a:t>]</a:t>
            </a:r>
            <a:r>
              <a:rPr lang="zh-CN" altLang="en-US" sz="2400" baseline="-25000" dirty="0">
                <a:latin typeface="黑体" pitchFamily="2" charset="-122"/>
                <a:ea typeface="黑体" pitchFamily="2" charset="-122"/>
              </a:rPr>
              <a:t>原</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 00011 + 11001 = 11100 = -(12)</a:t>
            </a:r>
            <a:r>
              <a:rPr lang="en-US" altLang="zh-CN" sz="2400" baseline="-25000" dirty="0">
                <a:latin typeface="黑体" pitchFamily="2" charset="-122"/>
                <a:ea typeface="黑体" pitchFamily="2" charset="-122"/>
              </a:rPr>
              <a:t>10 </a:t>
            </a:r>
            <a:r>
              <a:rPr lang="zh-CN" altLang="en-US" sz="2400" dirty="0">
                <a:latin typeface="黑体" pitchFamily="2" charset="-122"/>
                <a:ea typeface="黑体" pitchFamily="2" charset="-122"/>
              </a:rPr>
              <a:t>错误</a:t>
            </a:r>
          </a:p>
          <a:p>
            <a:pPr>
              <a:lnSpc>
                <a:spcPct val="150000"/>
              </a:lnSpc>
            </a:pPr>
            <a:r>
              <a:rPr lang="zh-CN" altLang="en-US" sz="2400" dirty="0">
                <a:latin typeface="黑体" pitchFamily="2" charset="-122"/>
                <a:ea typeface="黑体" pitchFamily="2" charset="-122"/>
              </a:rPr>
              <a:t>    因为，当两数相加时，如果是同号则数值相加；如果是异号，则要进行减法。而在进行减法时还要比较绝对值的大小，然后大数减去小数，最后还要给结果选择符号</a:t>
            </a:r>
            <a:r>
              <a:rPr lang="zh-CN" altLang="en-US" sz="2400" dirty="0" smtClean="0">
                <a:latin typeface="黑体" pitchFamily="2" charset="-122"/>
                <a:ea typeface="黑体" pitchFamily="2" charset="-122"/>
              </a:rPr>
              <a:t>。</a:t>
            </a:r>
            <a:endParaRPr lang="zh-CN" altLang="en-US" sz="2400" dirty="0">
              <a:latin typeface="黑体" pitchFamily="2" charset="-122"/>
              <a:ea typeface="黑体" pitchFamily="2" charset="-122"/>
            </a:endParaRPr>
          </a:p>
        </p:txBody>
      </p:sp>
    </p:spTree>
    <p:extLst>
      <p:ext uri="{BB962C8B-B14F-4D97-AF65-F5344CB8AC3E}">
        <p14:creationId xmlns:p14="http://schemas.microsoft.com/office/powerpoint/2010/main" val="16370162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250825" y="332656"/>
            <a:ext cx="8281615"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0" hangingPunct="0">
              <a:lnSpc>
                <a:spcPct val="200000"/>
              </a:lnSpc>
            </a:pPr>
            <a:r>
              <a:rPr lang="zh-CN" altLang="zh-CN" sz="1600" dirty="0"/>
              <a:t>　　</a:t>
            </a:r>
            <a:r>
              <a:rPr lang="en-US" altLang="zh-CN" sz="2800" dirty="0"/>
              <a:t>   </a:t>
            </a:r>
            <a:r>
              <a:rPr lang="en-US" altLang="zh-CN" sz="2800" dirty="0">
                <a:solidFill>
                  <a:srgbClr val="FF0000"/>
                </a:solidFill>
                <a:latin typeface="黑体" pitchFamily="2" charset="-122"/>
                <a:ea typeface="黑体" pitchFamily="2" charset="-122"/>
              </a:rPr>
              <a:t>2.</a:t>
            </a:r>
            <a:r>
              <a:rPr lang="zh-CN" altLang="en-US" sz="2800" dirty="0">
                <a:solidFill>
                  <a:srgbClr val="FF0000"/>
                </a:solidFill>
                <a:latin typeface="黑体" pitchFamily="2" charset="-122"/>
                <a:ea typeface="黑体" pitchFamily="2" charset="-122"/>
              </a:rPr>
              <a:t>补码表示法</a:t>
            </a:r>
          </a:p>
          <a:p>
            <a:pPr eaLnBrk="0" hangingPunct="0">
              <a:lnSpc>
                <a:spcPct val="200000"/>
              </a:lnSpc>
            </a:pPr>
            <a:r>
              <a:rPr lang="en-US" altLang="zh-CN" sz="2800" dirty="0" smtClean="0">
                <a:latin typeface="黑体" pitchFamily="2" charset="-122"/>
                <a:ea typeface="黑体" pitchFamily="2" charset="-122"/>
              </a:rPr>
              <a:t>    </a:t>
            </a:r>
            <a:r>
              <a:rPr lang="zh-CN" altLang="zh-CN" sz="2800" dirty="0" smtClean="0">
                <a:latin typeface="黑体" pitchFamily="2" charset="-122"/>
                <a:ea typeface="黑体" pitchFamily="2" charset="-122"/>
              </a:rPr>
              <a:t>有</a:t>
            </a:r>
            <a:r>
              <a:rPr lang="zh-CN" altLang="zh-CN" sz="2800" dirty="0">
                <a:latin typeface="黑体" pitchFamily="2" charset="-122"/>
                <a:ea typeface="黑体" pitchFamily="2" charset="-122"/>
              </a:rPr>
              <a:t>模</a:t>
            </a:r>
            <a:r>
              <a:rPr lang="zh-CN" altLang="zh-CN" sz="2800" dirty="0" smtClean="0">
                <a:latin typeface="黑体" pitchFamily="2" charset="-122"/>
                <a:ea typeface="黑体" pitchFamily="2" charset="-122"/>
              </a:rPr>
              <a:t>运算</a:t>
            </a:r>
            <a:r>
              <a:rPr lang="zh-CN" altLang="en-US" sz="2800" dirty="0" smtClean="0">
                <a:latin typeface="黑体" pitchFamily="2" charset="-122"/>
                <a:ea typeface="黑体" pitchFamily="2" charset="-122"/>
              </a:rPr>
              <a:t>：</a:t>
            </a:r>
            <a:r>
              <a:rPr lang="zh-CN" altLang="zh-CN" sz="2800" dirty="0" smtClean="0">
                <a:latin typeface="黑体" pitchFamily="2" charset="-122"/>
                <a:ea typeface="黑体" pitchFamily="2" charset="-122"/>
              </a:rPr>
              <a:t>一</a:t>
            </a:r>
            <a:r>
              <a:rPr lang="zh-CN" altLang="zh-CN" sz="2800" dirty="0">
                <a:latin typeface="黑体" pitchFamily="2" charset="-122"/>
                <a:ea typeface="黑体" pitchFamily="2" charset="-122"/>
              </a:rPr>
              <a:t>个二位十进制计数器，它所能计数的</a:t>
            </a:r>
            <a:r>
              <a:rPr lang="zh-CN" altLang="zh-CN" sz="2800" dirty="0" smtClean="0">
                <a:latin typeface="黑体" pitchFamily="2" charset="-122"/>
                <a:ea typeface="黑体" pitchFamily="2" charset="-122"/>
              </a:rPr>
              <a:t>范围为</a:t>
            </a:r>
            <a:r>
              <a:rPr lang="zh-CN" altLang="zh-CN" sz="2800" dirty="0">
                <a:latin typeface="黑体" pitchFamily="2" charset="-122"/>
                <a:ea typeface="黑体" pitchFamily="2" charset="-122"/>
              </a:rPr>
              <a:t>00-99</a:t>
            </a:r>
            <a:r>
              <a:rPr lang="zh-CN" altLang="zh-CN" sz="2800" dirty="0" smtClean="0">
                <a:latin typeface="黑体" pitchFamily="2" charset="-122"/>
                <a:ea typeface="黑体" pitchFamily="2" charset="-122"/>
              </a:rPr>
              <a:t>，向</a:t>
            </a:r>
            <a:r>
              <a:rPr lang="zh-CN" altLang="zh-CN" sz="2800" dirty="0">
                <a:latin typeface="黑体" pitchFamily="2" charset="-122"/>
                <a:ea typeface="黑体" pitchFamily="2" charset="-122"/>
              </a:rPr>
              <a:t>该计数器计入了103和03脉冲，结果在计数器中显示的内容均为03，因为超过100的数，在该计数器中无法表示而自动舍去100，只能表示剩余部分。称该的计数器进行的运算，是以100为模的</a:t>
            </a:r>
            <a:r>
              <a:rPr lang="zh-CN" altLang="zh-CN" sz="2800" dirty="0" smtClean="0">
                <a:latin typeface="黑体" pitchFamily="2" charset="-122"/>
                <a:ea typeface="黑体" pitchFamily="2" charset="-122"/>
              </a:rPr>
              <a:t>运算。</a:t>
            </a:r>
            <a:endParaRPr lang="zh-CN" altLang="zh-CN" sz="2800" dirty="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73038" y="324148"/>
            <a:ext cx="8858250" cy="629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4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再以钟表为例。假设现在的标准时间为4点正； </a:t>
            </a:r>
            <a:endParaRPr lang="en-US" altLang="zh-CN" sz="2400" dirty="0">
              <a:latin typeface="黑体" pitchFamily="2" charset="-122"/>
              <a:ea typeface="黑体" pitchFamily="2" charset="-122"/>
            </a:endParaRPr>
          </a:p>
          <a:p>
            <a:pPr eaLnBrk="0" hangingPunct="0">
              <a:lnSpc>
                <a:spcPct val="140000"/>
              </a:lnSpc>
            </a:pP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表</a:t>
            </a:r>
            <a:r>
              <a:rPr lang="zh-CN" altLang="zh-CN" sz="2400" dirty="0">
                <a:latin typeface="黑体" pitchFamily="2" charset="-122"/>
                <a:ea typeface="黑体" pitchFamily="2" charset="-122"/>
              </a:rPr>
              <a:t>已经7点，两种方法校准</a:t>
            </a:r>
            <a:r>
              <a:rPr lang="zh-CN" altLang="zh-CN" sz="2400" dirty="0" smtClean="0">
                <a:latin typeface="黑体" pitchFamily="2" charset="-122"/>
                <a:ea typeface="黑体" pitchFamily="2" charset="-122"/>
              </a:rPr>
              <a:t>时间：</a:t>
            </a:r>
            <a:endParaRPr lang="en-US" altLang="zh-CN" sz="2400" dirty="0">
              <a:latin typeface="黑体" pitchFamily="2" charset="-122"/>
              <a:ea typeface="黑体" pitchFamily="2" charset="-122"/>
            </a:endParaRPr>
          </a:p>
          <a:p>
            <a:pPr eaLnBrk="0" hangingPunct="0">
              <a:lnSpc>
                <a:spcPct val="140000"/>
              </a:lnSpc>
            </a:pPr>
            <a:r>
              <a:rPr lang="en-US" altLang="zh-CN" sz="2400" dirty="0">
                <a:latin typeface="黑体" pitchFamily="2" charset="-122"/>
                <a:ea typeface="黑体" pitchFamily="2" charset="-122"/>
              </a:rPr>
              <a:t>   </a:t>
            </a:r>
            <a:r>
              <a:rPr lang="en-US" altLang="zh-CN" sz="2400" dirty="0" smtClean="0">
                <a:latin typeface="黑体" pitchFamily="2" charset="-122"/>
                <a:ea typeface="黑体" pitchFamily="2" charset="-122"/>
              </a:rPr>
              <a:t>               1</a:t>
            </a:r>
            <a:r>
              <a:rPr lang="zh-CN" altLang="en-US" sz="2400" dirty="0" smtClean="0">
                <a:latin typeface="黑体" pitchFamily="2" charset="-122"/>
                <a:ea typeface="黑体" pitchFamily="2" charset="-122"/>
              </a:rPr>
              <a:t>、</a:t>
            </a:r>
            <a:r>
              <a:rPr lang="zh-CN" altLang="zh-CN" sz="2400" dirty="0" smtClean="0">
                <a:latin typeface="黑体" pitchFamily="2" charset="-122"/>
                <a:ea typeface="黑体" pitchFamily="2" charset="-122"/>
              </a:rPr>
              <a:t>时针</a:t>
            </a:r>
            <a:r>
              <a:rPr lang="zh-CN" altLang="zh-CN" sz="2400" dirty="0">
                <a:latin typeface="黑体" pitchFamily="2" charset="-122"/>
                <a:ea typeface="黑体" pitchFamily="2" charset="-122"/>
              </a:rPr>
              <a:t>退7-4=3格</a:t>
            </a:r>
            <a:r>
              <a:rPr lang="zh-CN" altLang="zh-CN"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eaLnBrk="0" hangingPunct="0">
              <a:lnSpc>
                <a:spcPct val="140000"/>
              </a:lnSpc>
            </a:pPr>
            <a:r>
              <a:rPr lang="en-US" altLang="zh-CN" sz="2400" dirty="0">
                <a:latin typeface="黑体" pitchFamily="2" charset="-122"/>
                <a:ea typeface="黑体" pitchFamily="2" charset="-122"/>
              </a:rPr>
              <a:t> </a:t>
            </a:r>
            <a:r>
              <a:rPr lang="en-US" altLang="zh-CN" sz="2400" dirty="0" smtClean="0">
                <a:latin typeface="黑体" pitchFamily="2" charset="-122"/>
                <a:ea typeface="黑体" pitchFamily="2" charset="-122"/>
              </a:rPr>
              <a:t>                 2</a:t>
            </a:r>
            <a:r>
              <a:rPr lang="zh-CN" altLang="en-US" sz="2400" dirty="0" smtClean="0">
                <a:latin typeface="黑体" pitchFamily="2" charset="-122"/>
                <a:ea typeface="黑体" pitchFamily="2" charset="-122"/>
              </a:rPr>
              <a:t>、</a:t>
            </a:r>
            <a:r>
              <a:rPr lang="zh-CN" altLang="zh-CN" sz="2400" dirty="0" smtClean="0">
                <a:latin typeface="黑体" pitchFamily="2" charset="-122"/>
                <a:ea typeface="黑体" pitchFamily="2" charset="-122"/>
              </a:rPr>
              <a:t>时针</a:t>
            </a:r>
            <a:r>
              <a:rPr lang="zh-CN" altLang="zh-CN" sz="2400" dirty="0">
                <a:latin typeface="黑体" pitchFamily="2" charset="-122"/>
                <a:ea typeface="黑体" pitchFamily="2" charset="-122"/>
              </a:rPr>
              <a:t>向前拨12-3=9格</a:t>
            </a:r>
            <a:r>
              <a:rPr lang="zh-CN" altLang="zh-CN"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eaLnBrk="0" hangingPunct="0">
              <a:lnSpc>
                <a:spcPct val="140000"/>
              </a:lnSpc>
            </a:pP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减</a:t>
            </a:r>
            <a:r>
              <a:rPr lang="zh-CN" altLang="zh-CN" sz="2400" dirty="0">
                <a:latin typeface="黑体" pitchFamily="2" charset="-122"/>
                <a:ea typeface="黑体" pitchFamily="2" charset="-122"/>
              </a:rPr>
              <a:t>3和加</a:t>
            </a:r>
            <a:r>
              <a:rPr lang="zh-CN" altLang="zh-CN" sz="2400" dirty="0" smtClean="0">
                <a:latin typeface="黑体" pitchFamily="2" charset="-122"/>
                <a:ea typeface="黑体" pitchFamily="2" charset="-122"/>
              </a:rPr>
              <a:t>9等价</a:t>
            </a:r>
            <a:r>
              <a:rPr lang="zh-CN" altLang="en-US" sz="2400" dirty="0" smtClean="0">
                <a:latin typeface="黑体" pitchFamily="2" charset="-122"/>
                <a:ea typeface="黑体" pitchFamily="2" charset="-122"/>
              </a:rPr>
              <a:t>：</a:t>
            </a:r>
            <a:r>
              <a:rPr lang="zh-CN" altLang="zh-CN" sz="2400" dirty="0" smtClean="0">
                <a:solidFill>
                  <a:srgbClr val="000000"/>
                </a:solidFill>
                <a:latin typeface="黑体" pitchFamily="2" charset="-122"/>
                <a:ea typeface="黑体" pitchFamily="2" charset="-122"/>
              </a:rPr>
              <a:t>原因</a:t>
            </a:r>
            <a:r>
              <a:rPr lang="zh-CN" altLang="zh-CN" sz="2400" dirty="0">
                <a:solidFill>
                  <a:srgbClr val="000000"/>
                </a:solidFill>
                <a:latin typeface="黑体" pitchFamily="2" charset="-122"/>
                <a:ea typeface="黑体" pitchFamily="2" charset="-122"/>
              </a:rPr>
              <a:t>是表指针超过12时，将12自动丢掉，最后得到16-12=4</a:t>
            </a:r>
            <a:r>
              <a:rPr lang="zh-CN" altLang="en-US" sz="2400" dirty="0">
                <a:solidFill>
                  <a:srgbClr val="000000"/>
                </a:solidFill>
                <a:latin typeface="黑体" pitchFamily="2" charset="-122"/>
                <a:ea typeface="黑体" pitchFamily="2" charset="-122"/>
              </a:rPr>
              <a:t>，</a:t>
            </a:r>
            <a:r>
              <a:rPr lang="en-US" altLang="zh-CN" sz="2400" dirty="0">
                <a:solidFill>
                  <a:srgbClr val="000000"/>
                </a:solidFill>
                <a:latin typeface="黑体" pitchFamily="2" charset="-122"/>
                <a:ea typeface="黑体" pitchFamily="2" charset="-122"/>
              </a:rPr>
              <a:t>12</a:t>
            </a:r>
            <a:r>
              <a:rPr lang="zh-CN" altLang="en-US" sz="2400" dirty="0">
                <a:solidFill>
                  <a:srgbClr val="000000"/>
                </a:solidFill>
                <a:latin typeface="黑体" pitchFamily="2" charset="-122"/>
                <a:ea typeface="黑体" pitchFamily="2" charset="-122"/>
              </a:rPr>
              <a:t>称为</a:t>
            </a:r>
            <a:r>
              <a:rPr lang="zh-CN" altLang="zh-CN" sz="2400" dirty="0">
                <a:solidFill>
                  <a:srgbClr val="000000"/>
                </a:solidFill>
                <a:latin typeface="黑体" pitchFamily="2" charset="-122"/>
                <a:ea typeface="黑体" pitchFamily="2" charset="-122"/>
              </a:rPr>
              <a:t>模数</a:t>
            </a:r>
            <a:r>
              <a:rPr lang="zh-CN" altLang="en-US" sz="2400" dirty="0">
                <a:solidFill>
                  <a:srgbClr val="000000"/>
                </a:solidFill>
                <a:latin typeface="黑体" pitchFamily="2" charset="-122"/>
                <a:ea typeface="黑体" pitchFamily="2" charset="-122"/>
              </a:rPr>
              <a:t>，用</a:t>
            </a:r>
            <a:r>
              <a:rPr lang="zh-CN" altLang="zh-CN" sz="2400" dirty="0">
                <a:solidFill>
                  <a:srgbClr val="000000"/>
                </a:solidFill>
                <a:latin typeface="黑体" pitchFamily="2" charset="-122"/>
                <a:ea typeface="黑体" pitchFamily="2" charset="-122"/>
              </a:rPr>
              <a:t>mod12</a:t>
            </a:r>
            <a:r>
              <a:rPr lang="zh-CN" altLang="en-US" sz="2400" dirty="0">
                <a:solidFill>
                  <a:srgbClr val="000000"/>
                </a:solidFill>
                <a:latin typeface="黑体" pitchFamily="2" charset="-122"/>
                <a:ea typeface="黑体" pitchFamily="2" charset="-122"/>
              </a:rPr>
              <a:t>表示</a:t>
            </a:r>
            <a:r>
              <a:rPr lang="zh-CN" altLang="zh-CN" sz="2400" dirty="0">
                <a:solidFill>
                  <a:srgbClr val="000000"/>
                </a:solidFill>
                <a:latin typeface="黑体" pitchFamily="2" charset="-122"/>
                <a:ea typeface="黑体" pitchFamily="2" charset="-122"/>
              </a:rPr>
              <a:t>。</a:t>
            </a:r>
            <a:endParaRPr lang="en-US" altLang="zh-CN" sz="2400" dirty="0">
              <a:latin typeface="黑体" pitchFamily="2" charset="-122"/>
              <a:ea typeface="黑体" pitchFamily="2" charset="-122"/>
            </a:endParaRPr>
          </a:p>
          <a:p>
            <a:pPr eaLnBrk="0" hangingPunct="0">
              <a:lnSpc>
                <a:spcPct val="14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用数学公式表示</a:t>
            </a:r>
            <a:r>
              <a:rPr lang="en-US" altLang="zh-CN" sz="2400" dirty="0">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-3＝+9（mod12）</a:t>
            </a:r>
            <a:r>
              <a:rPr lang="zh-CN" altLang="en-US" sz="2400" dirty="0">
                <a:solidFill>
                  <a:srgbClr val="000000"/>
                </a:solidFill>
                <a:latin typeface="黑体" pitchFamily="2" charset="-122"/>
                <a:ea typeface="黑体" pitchFamily="2" charset="-122"/>
              </a:rPr>
              <a:t>，</a:t>
            </a:r>
            <a:r>
              <a:rPr lang="zh-CN" altLang="zh-CN" sz="2400" dirty="0">
                <a:latin typeface="黑体" pitchFamily="2" charset="-122"/>
                <a:ea typeface="黑体" pitchFamily="2" charset="-122"/>
              </a:rPr>
              <a:t>9是(-3)对12的补码</a:t>
            </a:r>
            <a:r>
              <a:rPr lang="zh-CN" altLang="en-US" sz="2400" dirty="0">
                <a:latin typeface="黑体" pitchFamily="2" charset="-122"/>
                <a:ea typeface="黑体" pitchFamily="2" charset="-122"/>
              </a:rPr>
              <a:t>。</a:t>
            </a:r>
            <a:endParaRPr lang="en-US" altLang="zh-CN" sz="2400" dirty="0">
              <a:latin typeface="黑体" pitchFamily="2" charset="-122"/>
              <a:ea typeface="黑体" pitchFamily="2" charset="-122"/>
            </a:endParaRPr>
          </a:p>
          <a:p>
            <a:pPr eaLnBrk="0" hangingPunct="0">
              <a:lnSpc>
                <a:spcPct val="140000"/>
              </a:lnSpc>
            </a:pPr>
            <a:r>
              <a:rPr lang="zh-CN" altLang="zh-CN" sz="2400" dirty="0">
                <a:solidFill>
                  <a:srgbClr val="000000"/>
                </a:solidFill>
                <a:latin typeface="黑体" pitchFamily="2" charset="-122"/>
                <a:ea typeface="黑体" pitchFamily="2" charset="-122"/>
              </a:rPr>
              <a:t>　</a:t>
            </a: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利用“补”的概念，减法操作可以用加法操作代替，就是负数用补码表示时，可以把减法转化为加法。这样，在计算机中实现起来就比较方便。</a:t>
            </a:r>
            <a:endParaRPr lang="zh-CN" altLang="zh-CN" sz="2400" dirty="0">
              <a:latin typeface="黑体" pitchFamily="2" charset="-122"/>
              <a:ea typeface="黑体" pitchFamily="2" charset="-122"/>
            </a:endParaRPr>
          </a:p>
          <a:p>
            <a:pPr eaLnBrk="0" hangingPunct="0">
              <a:lnSpc>
                <a:spcPct val="140000"/>
              </a:lnSpc>
            </a:pP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7-3=7+(-3)=7+(12-3)=7+9=16=4(mod 12)</a:t>
            </a:r>
            <a:br>
              <a:rPr lang="zh-CN" altLang="zh-CN" sz="2400" dirty="0">
                <a:solidFill>
                  <a:srgbClr val="000000"/>
                </a:solidFill>
                <a:latin typeface="黑体" pitchFamily="2" charset="-122"/>
                <a:ea typeface="黑体" pitchFamily="2" charset="-122"/>
              </a:rPr>
            </a:b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65-25=65+(-25)=65+(100-25)=65+75=140=40(mod 100)</a:t>
            </a:r>
            <a:endParaRPr lang="zh-CN" altLang="zh-CN" sz="2400" dirty="0">
              <a:latin typeface="黑体" pitchFamily="2" charset="-122"/>
              <a:ea typeface="黑体" pitchFamily="2" charset="-122"/>
            </a:endParaRPr>
          </a:p>
        </p:txBody>
      </p:sp>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00" y="1001812"/>
            <a:ext cx="1866701" cy="1777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236538" y="260350"/>
            <a:ext cx="75755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在计算机中，它有字长的限制，所以它也有模。把</a:t>
            </a:r>
            <a:r>
              <a:rPr lang="zh-CN" altLang="en-US" sz="2400" dirty="0">
                <a:latin typeface="黑体" pitchFamily="2" charset="-122"/>
                <a:ea typeface="黑体" pitchFamily="2" charset="-122"/>
              </a:rPr>
              <a:t>“</a:t>
            </a:r>
            <a:r>
              <a:rPr lang="zh-CN" altLang="zh-CN" sz="2400" dirty="0">
                <a:latin typeface="黑体" pitchFamily="2" charset="-122"/>
                <a:ea typeface="黑体" pitchFamily="2" charset="-122"/>
              </a:rPr>
              <a:t>补数”的概念运用到机器数中，引出了机器数的“补码”表示。</a:t>
            </a:r>
          </a:p>
          <a:p>
            <a:pPr eaLnBrk="0" hangingPunct="0">
              <a:lnSpc>
                <a:spcPct val="150000"/>
              </a:lnSpc>
            </a:pPr>
            <a:r>
              <a:rPr lang="zh-CN" altLang="zh-CN" sz="2400" dirty="0">
                <a:solidFill>
                  <a:srgbClr val="000000"/>
                </a:solidFill>
                <a:latin typeface="黑体" pitchFamily="2" charset="-122"/>
                <a:ea typeface="黑体" pitchFamily="2" charset="-122"/>
              </a:rPr>
              <a:t>　</a:t>
            </a:r>
            <a:r>
              <a:rPr lang="en-US" altLang="zh-CN" sz="2400" dirty="0">
                <a:solidFill>
                  <a:srgbClr val="000000"/>
                </a:solidFill>
                <a:latin typeface="黑体" pitchFamily="2" charset="-122"/>
                <a:ea typeface="黑体" pitchFamily="2" charset="-122"/>
              </a:rPr>
              <a:t>  </a:t>
            </a:r>
            <a:r>
              <a:rPr lang="zh-CN" altLang="zh-CN" sz="2400" dirty="0" smtClean="0">
                <a:solidFill>
                  <a:srgbClr val="000000"/>
                </a:solidFill>
                <a:latin typeface="黑体" pitchFamily="2" charset="-122"/>
                <a:ea typeface="黑体" pitchFamily="2" charset="-122"/>
              </a:rPr>
              <a:t>对</a:t>
            </a:r>
            <a:r>
              <a:rPr lang="en-US" altLang="zh-CN" sz="2400" dirty="0" smtClean="0">
                <a:solidFill>
                  <a:srgbClr val="000000"/>
                </a:solidFill>
                <a:latin typeface="黑体" pitchFamily="2" charset="-122"/>
                <a:ea typeface="黑体" pitchFamily="2" charset="-122"/>
              </a:rPr>
              <a:t>n+1</a:t>
            </a:r>
            <a:r>
              <a:rPr lang="zh-CN" altLang="en-US" sz="2400" dirty="0" smtClean="0">
                <a:solidFill>
                  <a:srgbClr val="000000"/>
                </a:solidFill>
                <a:latin typeface="黑体" pitchFamily="2" charset="-122"/>
                <a:ea typeface="黑体" pitchFamily="2" charset="-122"/>
              </a:rPr>
              <a:t>位</a:t>
            </a:r>
            <a:r>
              <a:rPr lang="zh-CN" altLang="zh-CN" sz="2400" dirty="0" smtClean="0">
                <a:latin typeface="黑体" pitchFamily="2" charset="-122"/>
                <a:ea typeface="黑体" pitchFamily="2" charset="-122"/>
              </a:rPr>
              <a:t>定点</a:t>
            </a:r>
            <a:r>
              <a:rPr lang="zh-CN" altLang="zh-CN" sz="2400" dirty="0">
                <a:latin typeface="黑体" pitchFamily="2" charset="-122"/>
                <a:ea typeface="黑体" pitchFamily="2" charset="-122"/>
              </a:rPr>
              <a:t>整数</a:t>
            </a:r>
            <a:r>
              <a:rPr lang="zh-CN" altLang="zh-CN" sz="2400" dirty="0">
                <a:solidFill>
                  <a:srgbClr val="000000"/>
                </a:solidFill>
                <a:latin typeface="黑体" pitchFamily="2" charset="-122"/>
                <a:ea typeface="黑体" pitchFamily="2" charset="-122"/>
              </a:rPr>
              <a:t>,补码表示的定义是</a:t>
            </a:r>
            <a:r>
              <a:rPr lang="zh-CN" altLang="en-US" sz="2400" dirty="0">
                <a:solidFill>
                  <a:srgbClr val="000000"/>
                </a:solidFill>
                <a:latin typeface="黑体" pitchFamily="2" charset="-122"/>
                <a:ea typeface="黑体" pitchFamily="2" charset="-122"/>
              </a:rPr>
              <a:t>：</a:t>
            </a:r>
            <a:endParaRPr lang="zh-CN" altLang="zh-CN" sz="2400" dirty="0">
              <a:latin typeface="黑体" pitchFamily="2" charset="-122"/>
              <a:ea typeface="黑体" pitchFamily="2" charset="-122"/>
            </a:endParaRPr>
          </a:p>
        </p:txBody>
      </p:sp>
      <p:sp>
        <p:nvSpPr>
          <p:cNvPr id="23555" name="Rectangle 2"/>
          <p:cNvSpPr>
            <a:spLocks noChangeArrowheads="1"/>
          </p:cNvSpPr>
          <p:nvPr/>
        </p:nvSpPr>
        <p:spPr bwMode="auto">
          <a:xfrm>
            <a:off x="1544638" y="3330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zh-CN"/>
              <a:t/>
            </a:r>
            <a:br>
              <a:rPr lang="zh-CN" altLang="zh-CN"/>
            </a:br>
            <a:endParaRPr lang="zh-CN" altLang="zh-CN"/>
          </a:p>
        </p:txBody>
      </p:sp>
      <p:sp>
        <p:nvSpPr>
          <p:cNvPr id="23556" name="矩形 4"/>
          <p:cNvSpPr>
            <a:spLocks noChangeArrowheads="1"/>
          </p:cNvSpPr>
          <p:nvPr/>
        </p:nvSpPr>
        <p:spPr bwMode="auto">
          <a:xfrm>
            <a:off x="611188" y="4149725"/>
            <a:ext cx="79216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itchFamily="2" charset="-122"/>
                <a:ea typeface="黑体" pitchFamily="2" charset="-122"/>
              </a:rPr>
              <a:t>例如，</a:t>
            </a:r>
            <a:r>
              <a:rPr lang="zh-CN" altLang="en-US" sz="2400" i="1" dirty="0">
                <a:latin typeface="黑体" pitchFamily="2" charset="-122"/>
                <a:ea typeface="黑体" pitchFamily="2" charset="-122"/>
              </a:rPr>
              <a:t>ｘ</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+1011,</a:t>
            </a:r>
            <a:r>
              <a:rPr lang="zh-CN" altLang="en-US" sz="2400" dirty="0">
                <a:latin typeface="黑体" pitchFamily="2" charset="-122"/>
                <a:ea typeface="黑体" pitchFamily="2" charset="-122"/>
              </a:rPr>
              <a:t>则</a:t>
            </a:r>
            <a:r>
              <a:rPr lang="en-US" altLang="zh-CN" sz="2400" dirty="0">
                <a:latin typeface="黑体" pitchFamily="2" charset="-122"/>
                <a:ea typeface="黑体" pitchFamily="2" charset="-122"/>
              </a:rPr>
              <a:t>[</a:t>
            </a:r>
            <a:r>
              <a:rPr lang="zh-CN" altLang="en-US" sz="2400" i="1" dirty="0">
                <a:latin typeface="黑体" pitchFamily="2" charset="-122"/>
                <a:ea typeface="黑体" pitchFamily="2" charset="-122"/>
              </a:rPr>
              <a:t>ｘ</a:t>
            </a:r>
            <a:r>
              <a:rPr lang="en-US" altLang="zh-CN" sz="2400" dirty="0">
                <a:latin typeface="黑体" pitchFamily="2" charset="-122"/>
                <a:ea typeface="黑体" pitchFamily="2" charset="-122"/>
              </a:rPr>
              <a:t>]</a:t>
            </a:r>
            <a:r>
              <a:rPr lang="zh-CN" altLang="en-US" sz="2400" baseline="-25000" dirty="0">
                <a:latin typeface="黑体" pitchFamily="2" charset="-122"/>
                <a:ea typeface="黑体" pitchFamily="2" charset="-122"/>
              </a:rPr>
              <a:t>补</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01011</a:t>
            </a:r>
            <a:endParaRPr lang="zh-CN" altLang="en-US" sz="2400" dirty="0">
              <a:latin typeface="黑体" pitchFamily="2" charset="-122"/>
              <a:ea typeface="黑体" pitchFamily="2" charset="-122"/>
            </a:endParaRPr>
          </a:p>
          <a:p>
            <a:pPr>
              <a:lnSpc>
                <a:spcPct val="150000"/>
              </a:lnSpc>
            </a:pPr>
            <a:r>
              <a:rPr lang="zh-CN" altLang="en-US" sz="2400" i="1" dirty="0">
                <a:latin typeface="黑体" pitchFamily="2" charset="-122"/>
                <a:ea typeface="黑体" pitchFamily="2" charset="-122"/>
              </a:rPr>
              <a:t>　　　ｘ</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-1011,</a:t>
            </a:r>
            <a:r>
              <a:rPr lang="zh-CN" altLang="en-US" sz="2400" dirty="0">
                <a:latin typeface="黑体" pitchFamily="2" charset="-122"/>
                <a:ea typeface="黑体" pitchFamily="2" charset="-122"/>
              </a:rPr>
              <a:t>则</a:t>
            </a:r>
            <a:r>
              <a:rPr lang="en-US" altLang="zh-CN" sz="2400" dirty="0">
                <a:latin typeface="黑体" pitchFamily="2" charset="-122"/>
                <a:ea typeface="黑体" pitchFamily="2" charset="-122"/>
              </a:rPr>
              <a:t>[</a:t>
            </a:r>
            <a:r>
              <a:rPr lang="zh-CN" altLang="en-US" sz="2400" i="1" dirty="0">
                <a:latin typeface="黑体" pitchFamily="2" charset="-122"/>
                <a:ea typeface="黑体" pitchFamily="2" charset="-122"/>
              </a:rPr>
              <a:t>ｘ</a:t>
            </a:r>
            <a:r>
              <a:rPr lang="en-US" altLang="zh-CN" sz="2400" dirty="0">
                <a:latin typeface="黑体" pitchFamily="2" charset="-122"/>
                <a:ea typeface="黑体" pitchFamily="2" charset="-122"/>
              </a:rPr>
              <a:t>]</a:t>
            </a:r>
            <a:r>
              <a:rPr lang="zh-CN" altLang="en-US" sz="2400" baseline="-25000" dirty="0">
                <a:latin typeface="黑体" pitchFamily="2" charset="-122"/>
                <a:ea typeface="黑体" pitchFamily="2" charset="-122"/>
              </a:rPr>
              <a:t>补</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2</a:t>
            </a:r>
            <a:r>
              <a:rPr lang="en-US" altLang="zh-CN" sz="2400" baseline="30000" dirty="0">
                <a:latin typeface="黑体" pitchFamily="2" charset="-122"/>
                <a:ea typeface="黑体" pitchFamily="2" charset="-122"/>
              </a:rPr>
              <a:t>5</a:t>
            </a:r>
            <a:r>
              <a:rPr lang="en-US" altLang="zh-CN" sz="2400" dirty="0">
                <a:latin typeface="黑体" pitchFamily="2" charset="-122"/>
                <a:ea typeface="黑体" pitchFamily="2" charset="-122"/>
              </a:rPr>
              <a:t>+</a:t>
            </a:r>
            <a:r>
              <a:rPr lang="zh-CN" altLang="en-US" sz="2400" i="1" dirty="0">
                <a:latin typeface="黑体" pitchFamily="2" charset="-122"/>
                <a:ea typeface="黑体" pitchFamily="2" charset="-122"/>
              </a:rPr>
              <a:t>ｘ</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100000-1011</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10101</a:t>
            </a:r>
            <a:endParaRPr lang="zh-CN" altLang="en-US" sz="2400" dirty="0">
              <a:latin typeface="黑体" pitchFamily="2" charset="-122"/>
              <a:ea typeface="黑体" pitchFamily="2" charset="-122"/>
            </a:endParaRPr>
          </a:p>
          <a:p>
            <a:pPr>
              <a:lnSpc>
                <a:spcPct val="150000"/>
              </a:lnSpc>
            </a:pPr>
            <a:r>
              <a:rPr lang="zh-CN" altLang="en-US" sz="2400" dirty="0">
                <a:latin typeface="黑体" pitchFamily="2" charset="-122"/>
                <a:ea typeface="黑体" pitchFamily="2" charset="-122"/>
              </a:rPr>
              <a:t>对于</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0]</a:t>
            </a:r>
            <a:r>
              <a:rPr lang="zh-CN" altLang="en-US" sz="2400" baseline="-25000" dirty="0">
                <a:latin typeface="黑体" pitchFamily="2" charset="-122"/>
                <a:ea typeface="黑体" pitchFamily="2" charset="-122"/>
              </a:rPr>
              <a:t>补</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0]</a:t>
            </a:r>
            <a:r>
              <a:rPr lang="zh-CN" altLang="en-US" sz="2400" baseline="-25000" dirty="0">
                <a:latin typeface="黑体" pitchFamily="2" charset="-122"/>
                <a:ea typeface="黑体" pitchFamily="2" charset="-122"/>
              </a:rPr>
              <a:t>补</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0</a:t>
            </a:r>
            <a:endParaRPr lang="zh-CN" altLang="en-US" sz="2400" dirty="0">
              <a:latin typeface="黑体" pitchFamily="2" charset="-122"/>
              <a:ea typeface="黑体" pitchFamily="2" charset="-122"/>
            </a:endParaRPr>
          </a:p>
          <a:p>
            <a:pPr>
              <a:lnSpc>
                <a:spcPct val="150000"/>
              </a:lnSpc>
            </a:pPr>
            <a:r>
              <a:rPr lang="zh-CN" altLang="en-US" sz="2400" dirty="0">
                <a:latin typeface="黑体" pitchFamily="2" charset="-122"/>
                <a:ea typeface="黑体" pitchFamily="2" charset="-122"/>
              </a:rPr>
              <a:t>注意，</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的补码表示只有</a:t>
            </a:r>
            <a:r>
              <a:rPr lang="zh-CN" altLang="en-US" sz="2400" dirty="0" smtClean="0">
                <a:latin typeface="黑体" pitchFamily="2" charset="-122"/>
                <a:ea typeface="黑体" pitchFamily="2" charset="-122"/>
              </a:rPr>
              <a:t>一种</a:t>
            </a:r>
            <a:r>
              <a:rPr lang="zh-CN" altLang="en-US" sz="2400" dirty="0">
                <a:latin typeface="黑体" pitchFamily="2" charset="-122"/>
                <a:ea typeface="黑体" pitchFamily="2" charset="-122"/>
              </a:rPr>
              <a:t>形式。</a:t>
            </a:r>
          </a:p>
        </p:txBody>
      </p:sp>
      <p:graphicFrame>
        <p:nvGraphicFramePr>
          <p:cNvPr id="6" name="表格 5"/>
          <p:cNvGraphicFramePr>
            <a:graphicFrameLocks noGrp="1"/>
          </p:cNvGraphicFramePr>
          <p:nvPr/>
        </p:nvGraphicFramePr>
        <p:xfrm>
          <a:off x="684213" y="2790825"/>
          <a:ext cx="7777162" cy="1079500"/>
        </p:xfrm>
        <a:graphic>
          <a:graphicData uri="http://schemas.openxmlformats.org/drawingml/2006/table">
            <a:tbl>
              <a:tblPr/>
              <a:tblGrid>
                <a:gridCol w="1224183"/>
                <a:gridCol w="288045"/>
                <a:gridCol w="4697254"/>
                <a:gridCol w="1567680"/>
              </a:tblGrid>
              <a:tr h="1079500">
                <a:tc>
                  <a:txBody>
                    <a:bodyPr/>
                    <a:lstStyle/>
                    <a:p>
                      <a:pPr algn="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a:t>
                      </a:r>
                      <a:r>
                        <a:rPr lang="zh-CN" altLang="en-US" sz="2400" baseline="-25000" dirty="0">
                          <a:latin typeface="黑体" pitchFamily="2" charset="-122"/>
                          <a:ea typeface="黑体" pitchFamily="2" charset="-122"/>
                        </a:rPr>
                        <a:t>补</a:t>
                      </a:r>
                      <a:r>
                        <a:rPr lang="zh-CN" altLang="en-US" sz="2400" dirty="0">
                          <a:latin typeface="黑体" pitchFamily="2" charset="-122"/>
                          <a:ea typeface="黑体" pitchFamily="2" charset="-122"/>
                        </a:rPr>
                        <a:t>＝</a:t>
                      </a:r>
                    </a:p>
                  </a:txBody>
                  <a:tcPr marL="0" marR="0" marT="0" marB="0"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altLang="zh-CN" sz="2800" dirty="0">
                          <a:latin typeface="黑体" pitchFamily="2" charset="-122"/>
                          <a:ea typeface="黑体" pitchFamily="2" charset="-122"/>
                        </a:rPr>
                        <a:t>{</a:t>
                      </a:r>
                      <a:endParaRPr lang="zh-CN" altLang="en-US" sz="2800" dirty="0">
                        <a:latin typeface="黑体" pitchFamily="2" charset="-122"/>
                        <a:ea typeface="黑体"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pPr algn="l"/>
                      <a:r>
                        <a:rPr lang="en-US" sz="2400" i="1" dirty="0">
                          <a:latin typeface="黑体" pitchFamily="2" charset="-122"/>
                          <a:ea typeface="黑体" pitchFamily="2" charset="-122"/>
                        </a:rPr>
                        <a:t>ｘ</a:t>
                      </a:r>
                      <a:r>
                        <a:rPr lang="en-US" sz="2400" dirty="0">
                          <a:latin typeface="黑体" pitchFamily="2" charset="-122"/>
                          <a:ea typeface="黑体" pitchFamily="2" charset="-122"/>
                        </a:rPr>
                        <a:t>　　　　　　　 　2</a:t>
                      </a:r>
                      <a:r>
                        <a:rPr lang="en-US" sz="2400" baseline="30000" dirty="0">
                          <a:latin typeface="黑体" pitchFamily="2" charset="-122"/>
                          <a:ea typeface="黑体" pitchFamily="2" charset="-122"/>
                        </a:rPr>
                        <a:t>n</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≥0</a:t>
                      </a:r>
                    </a:p>
                    <a:p>
                      <a:pPr algn="l"/>
                      <a:r>
                        <a:rPr lang="en-US" sz="2400" dirty="0">
                          <a:latin typeface="黑体" pitchFamily="2" charset="-122"/>
                          <a:ea typeface="黑体" pitchFamily="2" charset="-122"/>
                        </a:rPr>
                        <a:t>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　0≥</a:t>
                      </a:r>
                      <a:r>
                        <a:rPr lang="en-US" sz="2400" i="1" dirty="0">
                          <a:latin typeface="黑体" pitchFamily="2" charset="-122"/>
                          <a:ea typeface="黑体" pitchFamily="2" charset="-122"/>
                        </a:rPr>
                        <a:t>ｘ</a:t>
                      </a:r>
                      <a:r>
                        <a:rPr lang="en-US" sz="2400" dirty="0">
                          <a:solidFill>
                            <a:srgbClr val="FF0000"/>
                          </a:solidFill>
                          <a:latin typeface="黑体" pitchFamily="2" charset="-122"/>
                          <a:ea typeface="黑体" pitchFamily="2" charset="-122"/>
                        </a:rPr>
                        <a:t>≥</a:t>
                      </a:r>
                      <a:r>
                        <a:rPr lang="en-US" sz="2400" dirty="0">
                          <a:latin typeface="黑体" pitchFamily="2" charset="-122"/>
                          <a:ea typeface="黑体" pitchFamily="2" charset="-122"/>
                        </a:rPr>
                        <a:t>－2</a:t>
                      </a:r>
                      <a:r>
                        <a:rPr lang="en-US" sz="2400" baseline="30000" dirty="0">
                          <a:latin typeface="黑体" pitchFamily="2" charset="-122"/>
                          <a:ea typeface="黑体" pitchFamily="2" charset="-122"/>
                        </a:rPr>
                        <a:t>n</a:t>
                      </a:r>
                      <a:endParaRPr lang="en-US" sz="2400" dirty="0">
                        <a:latin typeface="黑体" pitchFamily="2" charset="-122"/>
                        <a:ea typeface="黑体"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sz="2400" dirty="0">
                          <a:latin typeface="黑体" pitchFamily="2" charset="-122"/>
                          <a:ea typeface="黑体" pitchFamily="2" charset="-122"/>
                        </a:rPr>
                        <a:t>(mod 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p>
                  </a:txBody>
                  <a:tcPr marL="0" marR="0" marT="0" marB="0"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1"/>
          <p:cNvSpPr>
            <a:spLocks noChangeArrowheads="1"/>
          </p:cNvSpPr>
          <p:nvPr/>
        </p:nvSpPr>
        <p:spPr bwMode="auto">
          <a:xfrm>
            <a:off x="323850" y="3573463"/>
            <a:ext cx="820896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itchFamily="2" charset="-122"/>
                <a:ea typeface="黑体" pitchFamily="2" charset="-122"/>
              </a:rPr>
              <a:t>真值 </a:t>
            </a:r>
            <a:r>
              <a:rPr lang="en-US" altLang="zh-CN" sz="2400" dirty="0">
                <a:latin typeface="黑体" pitchFamily="2" charset="-122"/>
                <a:ea typeface="黑体" pitchFamily="2" charset="-122"/>
              </a:rPr>
              <a:t>-111 -110 -101 -100 -011 -010 -001 -000</a:t>
            </a:r>
            <a:endParaRPr lang="zh-CN" altLang="en-US" sz="2400" dirty="0">
              <a:latin typeface="黑体" pitchFamily="2" charset="-122"/>
              <a:ea typeface="黑体" pitchFamily="2" charset="-122"/>
            </a:endParaRPr>
          </a:p>
          <a:p>
            <a:pPr>
              <a:lnSpc>
                <a:spcPct val="150000"/>
              </a:lnSpc>
            </a:pPr>
            <a:r>
              <a:rPr lang="zh-CN" altLang="en-US" sz="2400" i="1" dirty="0">
                <a:latin typeface="黑体" pitchFamily="2" charset="-122"/>
                <a:ea typeface="黑体" pitchFamily="2" charset="-122"/>
              </a:rPr>
              <a:t>　　 </a:t>
            </a:r>
            <a:r>
              <a:rPr lang="en-US" altLang="zh-CN" sz="2400" dirty="0">
                <a:latin typeface="黑体" pitchFamily="2" charset="-122"/>
                <a:ea typeface="黑体" pitchFamily="2" charset="-122"/>
              </a:rPr>
              <a:t>+000 +001 +010 +011 +100 +101 +110 +111</a:t>
            </a:r>
            <a:endParaRPr lang="zh-CN" altLang="en-US" sz="2400" dirty="0">
              <a:latin typeface="黑体" pitchFamily="2" charset="-122"/>
              <a:ea typeface="黑体" pitchFamily="2" charset="-122"/>
            </a:endParaRPr>
          </a:p>
          <a:p>
            <a:pPr>
              <a:lnSpc>
                <a:spcPct val="150000"/>
              </a:lnSpc>
            </a:pPr>
            <a:r>
              <a:rPr lang="zh-CN" altLang="en-US" sz="2400" dirty="0">
                <a:latin typeface="黑体" pitchFamily="2" charset="-122"/>
                <a:ea typeface="黑体" pitchFamily="2" charset="-122"/>
              </a:rPr>
              <a:t>补码 </a:t>
            </a:r>
            <a:r>
              <a:rPr lang="en-US" altLang="zh-CN" sz="2400" dirty="0">
                <a:latin typeface="黑体" pitchFamily="2" charset="-122"/>
                <a:ea typeface="黑体" pitchFamily="2" charset="-122"/>
              </a:rPr>
              <a:t>1001 1010 1011 1100 1101 1110 1111 0000</a:t>
            </a:r>
            <a:endParaRPr lang="zh-CN" altLang="en-US" sz="2400" dirty="0">
              <a:latin typeface="黑体" pitchFamily="2" charset="-122"/>
              <a:ea typeface="黑体" pitchFamily="2" charset="-122"/>
            </a:endParaRPr>
          </a:p>
          <a:p>
            <a:pPr>
              <a:lnSpc>
                <a:spcPct val="150000"/>
              </a:lnSpc>
            </a:pPr>
            <a:r>
              <a:rPr lang="zh-CN" altLang="en-US" sz="2400" i="1" dirty="0">
                <a:latin typeface="黑体" pitchFamily="2" charset="-122"/>
                <a:ea typeface="黑体" pitchFamily="2" charset="-122"/>
              </a:rPr>
              <a:t>　　 </a:t>
            </a:r>
            <a:r>
              <a:rPr lang="en-US" altLang="zh-CN" sz="2400" dirty="0">
                <a:latin typeface="黑体" pitchFamily="2" charset="-122"/>
                <a:ea typeface="黑体" pitchFamily="2" charset="-122"/>
              </a:rPr>
              <a:t>0000 0001 0010 0011 0100 0101 0110 0111</a:t>
            </a:r>
            <a:endParaRPr lang="zh-CN" altLang="en-US" sz="2400" dirty="0">
              <a:latin typeface="黑体" pitchFamily="2" charset="-122"/>
              <a:ea typeface="黑体" pitchFamily="2" charset="-122"/>
            </a:endParaRPr>
          </a:p>
          <a:p>
            <a:pPr>
              <a:lnSpc>
                <a:spcPct val="150000"/>
              </a:lnSpc>
            </a:pPr>
            <a:r>
              <a:rPr lang="en-US" altLang="zh-CN" sz="2400" dirty="0">
                <a:solidFill>
                  <a:srgbClr val="FF0000"/>
                </a:solidFill>
                <a:latin typeface="黑体" pitchFamily="2" charset="-122"/>
                <a:ea typeface="黑体" pitchFamily="2" charset="-122"/>
              </a:rPr>
              <a:t>1000 </a:t>
            </a:r>
            <a:r>
              <a:rPr lang="zh-CN" altLang="en-US" sz="2400" dirty="0">
                <a:solidFill>
                  <a:srgbClr val="FF0000"/>
                </a:solidFill>
                <a:latin typeface="黑体" pitchFamily="2" charset="-122"/>
                <a:ea typeface="黑体" pitchFamily="2" charset="-122"/>
              </a:rPr>
              <a:t>按补码公式　</a:t>
            </a:r>
            <a:r>
              <a:rPr lang="en-US" altLang="zh-CN" sz="2400" dirty="0">
                <a:solidFill>
                  <a:srgbClr val="FF0000"/>
                </a:solidFill>
                <a:latin typeface="黑体" pitchFamily="2" charset="-122"/>
                <a:ea typeface="黑体" pitchFamily="2" charset="-122"/>
              </a:rPr>
              <a:t>x = 1000 - 2</a:t>
            </a:r>
            <a:r>
              <a:rPr lang="en-US" altLang="zh-CN" sz="2400" baseline="30000" dirty="0">
                <a:solidFill>
                  <a:srgbClr val="FF0000"/>
                </a:solidFill>
                <a:latin typeface="黑体" pitchFamily="2" charset="-122"/>
                <a:ea typeface="黑体" pitchFamily="2" charset="-122"/>
              </a:rPr>
              <a:t>4 </a:t>
            </a:r>
            <a:r>
              <a:rPr lang="en-US" altLang="zh-CN" sz="2400" dirty="0">
                <a:solidFill>
                  <a:srgbClr val="FF0000"/>
                </a:solidFill>
                <a:latin typeface="黑体" pitchFamily="2" charset="-122"/>
                <a:ea typeface="黑体" pitchFamily="2" charset="-122"/>
              </a:rPr>
              <a:t>= -2</a:t>
            </a:r>
            <a:r>
              <a:rPr lang="en-US" altLang="zh-CN" sz="2400" baseline="30000" dirty="0">
                <a:solidFill>
                  <a:srgbClr val="FF0000"/>
                </a:solidFill>
                <a:latin typeface="黑体" pitchFamily="2" charset="-122"/>
                <a:ea typeface="黑体" pitchFamily="2" charset="-122"/>
              </a:rPr>
              <a:t>3</a:t>
            </a:r>
            <a:endParaRPr lang="zh-CN" altLang="en-US" sz="2400" dirty="0">
              <a:solidFill>
                <a:srgbClr val="FF0000"/>
              </a:solidFill>
              <a:latin typeface="黑体" pitchFamily="2" charset="-122"/>
              <a:ea typeface="黑体" pitchFamily="2" charset="-122"/>
            </a:endParaRPr>
          </a:p>
        </p:txBody>
      </p:sp>
      <p:graphicFrame>
        <p:nvGraphicFramePr>
          <p:cNvPr id="3" name="表格 2"/>
          <p:cNvGraphicFramePr>
            <a:graphicFrameLocks noGrp="1"/>
          </p:cNvGraphicFramePr>
          <p:nvPr/>
        </p:nvGraphicFramePr>
        <p:xfrm>
          <a:off x="323850" y="333375"/>
          <a:ext cx="7488238" cy="936625"/>
        </p:xfrm>
        <a:graphic>
          <a:graphicData uri="http://schemas.openxmlformats.org/drawingml/2006/table">
            <a:tbl>
              <a:tblPr/>
              <a:tblGrid>
                <a:gridCol w="1178704"/>
                <a:gridCol w="277344"/>
                <a:gridCol w="4522750"/>
                <a:gridCol w="1509440"/>
              </a:tblGrid>
              <a:tr h="936625">
                <a:tc>
                  <a:txBody>
                    <a:bodyPr/>
                    <a:lstStyle/>
                    <a:p>
                      <a:pPr algn="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a:t>
                      </a:r>
                      <a:r>
                        <a:rPr lang="zh-CN" altLang="en-US" sz="2400" baseline="-25000" dirty="0">
                          <a:latin typeface="黑体" pitchFamily="2" charset="-122"/>
                          <a:ea typeface="黑体" pitchFamily="2" charset="-122"/>
                        </a:rPr>
                        <a:t>补</a:t>
                      </a:r>
                      <a:r>
                        <a:rPr lang="zh-CN" altLang="en-US" sz="2400" dirty="0">
                          <a:latin typeface="黑体" pitchFamily="2" charset="-122"/>
                          <a:ea typeface="黑体" pitchFamily="2" charset="-122"/>
                        </a:rPr>
                        <a:t>＝</a:t>
                      </a:r>
                    </a:p>
                  </a:txBody>
                  <a:tcPr marL="0" marR="0" marT="0" marB="0"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altLang="zh-CN" sz="2800" dirty="0">
                          <a:latin typeface="黑体" pitchFamily="2" charset="-122"/>
                          <a:ea typeface="黑体" pitchFamily="2" charset="-122"/>
                        </a:rPr>
                        <a:t>{</a:t>
                      </a:r>
                      <a:endParaRPr lang="zh-CN" altLang="en-US" sz="2800" dirty="0">
                        <a:latin typeface="黑体" pitchFamily="2" charset="-122"/>
                        <a:ea typeface="黑体"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pPr algn="l"/>
                      <a:r>
                        <a:rPr lang="en-US" sz="2400" i="1" dirty="0">
                          <a:latin typeface="黑体" pitchFamily="2" charset="-122"/>
                          <a:ea typeface="黑体" pitchFamily="2" charset="-122"/>
                        </a:rPr>
                        <a:t>ｘ</a:t>
                      </a:r>
                      <a:r>
                        <a:rPr lang="en-US" sz="2400" dirty="0">
                          <a:latin typeface="黑体" pitchFamily="2" charset="-122"/>
                          <a:ea typeface="黑体" pitchFamily="2" charset="-122"/>
                        </a:rPr>
                        <a:t>　　　　　　　 　2</a:t>
                      </a:r>
                      <a:r>
                        <a:rPr lang="en-US" sz="2400" baseline="30000" dirty="0">
                          <a:latin typeface="黑体" pitchFamily="2" charset="-122"/>
                          <a:ea typeface="黑体" pitchFamily="2" charset="-122"/>
                        </a:rPr>
                        <a:t>n</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≥0</a:t>
                      </a:r>
                    </a:p>
                    <a:p>
                      <a:pPr algn="l"/>
                      <a:r>
                        <a:rPr lang="en-US" sz="2400" dirty="0">
                          <a:latin typeface="黑体" pitchFamily="2" charset="-122"/>
                          <a:ea typeface="黑体" pitchFamily="2" charset="-122"/>
                        </a:rPr>
                        <a:t>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　0≥</a:t>
                      </a:r>
                      <a:r>
                        <a:rPr lang="en-US" sz="2400" i="1" dirty="0">
                          <a:latin typeface="黑体" pitchFamily="2" charset="-122"/>
                          <a:ea typeface="黑体" pitchFamily="2" charset="-122"/>
                        </a:rPr>
                        <a:t>ｘ</a:t>
                      </a:r>
                      <a:r>
                        <a:rPr lang="en-US" sz="2400" dirty="0">
                          <a:solidFill>
                            <a:srgbClr val="FF0000"/>
                          </a:solidFill>
                          <a:latin typeface="黑体" pitchFamily="2" charset="-122"/>
                          <a:ea typeface="黑体" pitchFamily="2" charset="-122"/>
                        </a:rPr>
                        <a:t>≥</a:t>
                      </a:r>
                      <a:r>
                        <a:rPr lang="en-US" sz="2400" dirty="0">
                          <a:latin typeface="黑体" pitchFamily="2" charset="-122"/>
                          <a:ea typeface="黑体" pitchFamily="2" charset="-122"/>
                        </a:rPr>
                        <a:t>－2</a:t>
                      </a:r>
                      <a:r>
                        <a:rPr lang="en-US" sz="2400" baseline="30000" dirty="0">
                          <a:latin typeface="黑体" pitchFamily="2" charset="-122"/>
                          <a:ea typeface="黑体" pitchFamily="2" charset="-122"/>
                        </a:rPr>
                        <a:t>n</a:t>
                      </a:r>
                      <a:endParaRPr lang="en-US" sz="2400" dirty="0">
                        <a:latin typeface="黑体" pitchFamily="2" charset="-122"/>
                        <a:ea typeface="黑体"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sz="2400" dirty="0">
                          <a:latin typeface="黑体" pitchFamily="2" charset="-122"/>
                          <a:ea typeface="黑体" pitchFamily="2" charset="-122"/>
                        </a:rPr>
                        <a:t>(mod 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p>
                  </a:txBody>
                  <a:tcPr marL="0" marR="0" marT="0" marB="0"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r>
            </a:tbl>
          </a:graphicData>
        </a:graphic>
      </p:graphicFrame>
      <p:pic>
        <p:nvPicPr>
          <p:cNvPr id="245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484313"/>
            <a:ext cx="7488238" cy="1919287"/>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06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327844" y="1347381"/>
            <a:ext cx="8423854" cy="4745915"/>
          </a:xfrm>
          <a:prstGeom prst="rect">
            <a:avLst/>
          </a:prstGeom>
        </p:spPr>
        <p:txBody>
          <a:bodyPr wrap="square">
            <a:spAutoFit/>
          </a:bodyPr>
          <a:lstStyle/>
          <a:p>
            <a:pPr>
              <a:lnSpc>
                <a:spcPct val="120000"/>
              </a:lnSpc>
            </a:pPr>
            <a:r>
              <a:rPr lang="en-US" altLang="zh-CN" sz="2800" dirty="0">
                <a:latin typeface="华文新魏" panose="02010800040101010101" pitchFamily="2" charset="-122"/>
                <a:ea typeface="华文新魏" panose="02010800040101010101" pitchFamily="2" charset="-122"/>
              </a:rPr>
              <a:t> n+1</a:t>
            </a:r>
            <a:r>
              <a:rPr lang="zh-CN" altLang="zh-CN" sz="2800" dirty="0">
                <a:latin typeface="华文新魏" panose="02010800040101010101" pitchFamily="2" charset="-122"/>
                <a:ea typeface="华文新魏" panose="02010800040101010101" pitchFamily="2" charset="-122"/>
              </a:rPr>
              <a:t>位定点整数，其原码表示的数值范围是（</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a:t>
            </a:r>
            <a:r>
              <a:rPr lang="zh-CN" altLang="en-US" sz="2800" dirty="0">
                <a:latin typeface="华文新魏" panose="02010800040101010101" pitchFamily="2" charset="-122"/>
                <a:ea typeface="华文新魏" panose="02010800040101010101" pitchFamily="2" charset="-122"/>
              </a:rPr>
              <a:t>。</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A.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+1&lt;x&lt;2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1       </a:t>
            </a:r>
            <a:r>
              <a:rPr lang="en-US" altLang="zh-CN" sz="2800" dirty="0">
                <a:latin typeface="华文新魏" panose="02010800040101010101" pitchFamily="2" charset="-122"/>
                <a:ea typeface="华文新魏" panose="02010800040101010101" pitchFamily="2" charset="-122"/>
              </a:rPr>
              <a:t>B.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C.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+1&lt;x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1       </a:t>
            </a:r>
            <a:r>
              <a:rPr lang="en-US" altLang="zh-CN" sz="2800" dirty="0">
                <a:latin typeface="华文新魏" panose="02010800040101010101" pitchFamily="2" charset="-122"/>
                <a:ea typeface="华文新魏" panose="02010800040101010101" pitchFamily="2" charset="-122"/>
              </a:rPr>
              <a:t>D.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smtClean="0">
                <a:latin typeface="华文新魏" panose="02010800040101010101" pitchFamily="2" charset="-122"/>
                <a:ea typeface="华文新魏" panose="02010800040101010101" pitchFamily="2" charset="-122"/>
              </a:rPr>
              <a:t>n+1</a:t>
            </a:r>
            <a:r>
              <a:rPr lang="zh-CN" altLang="zh-CN" sz="2800" dirty="0">
                <a:latin typeface="华文新魏" panose="02010800040101010101" pitchFamily="2" charset="-122"/>
                <a:ea typeface="华文新魏" panose="02010800040101010101" pitchFamily="2" charset="-122"/>
              </a:rPr>
              <a:t>位定点整数，其</a:t>
            </a:r>
            <a:r>
              <a:rPr lang="zh-CN" altLang="en-US" sz="2800" dirty="0">
                <a:latin typeface="华文新魏" panose="02010800040101010101" pitchFamily="2" charset="-122"/>
                <a:ea typeface="华文新魏" panose="02010800040101010101" pitchFamily="2" charset="-122"/>
              </a:rPr>
              <a:t>补</a:t>
            </a:r>
            <a:r>
              <a:rPr lang="zh-CN" altLang="zh-CN" sz="2800" dirty="0">
                <a:latin typeface="华文新魏" panose="02010800040101010101" pitchFamily="2" charset="-122"/>
                <a:ea typeface="华文新魏" panose="02010800040101010101" pitchFamily="2" charset="-122"/>
              </a:rPr>
              <a:t>码表示的数值范围是（</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a:t>
            </a:r>
            <a:r>
              <a:rPr lang="zh-CN" altLang="en-US" sz="2800" dirty="0">
                <a:latin typeface="华文新魏" panose="02010800040101010101" pitchFamily="2" charset="-122"/>
                <a:ea typeface="华文新魏" panose="02010800040101010101" pitchFamily="2" charset="-122"/>
              </a:rPr>
              <a:t>。</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A.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r>
              <a:rPr lang="zh-CN" altLang="zh-CN" sz="2800" dirty="0">
                <a:latin typeface="华文新魏" panose="02010800040101010101" pitchFamily="2" charset="-122"/>
                <a:ea typeface="华文新魏" panose="02010800040101010101" pitchFamily="2" charset="-122"/>
              </a:rPr>
              <a:t> ≤ </a:t>
            </a:r>
            <a:r>
              <a:rPr lang="en-US" altLang="zh-CN" sz="2800" dirty="0">
                <a:latin typeface="华文新魏" panose="02010800040101010101" pitchFamily="2" charset="-122"/>
                <a:ea typeface="华文新魏" panose="02010800040101010101" pitchFamily="2" charset="-122"/>
              </a:rPr>
              <a: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1     </a:t>
            </a:r>
            <a:r>
              <a:rPr lang="en-US" altLang="zh-CN" sz="2800" dirty="0">
                <a:latin typeface="华文新魏" panose="02010800040101010101" pitchFamily="2" charset="-122"/>
                <a:ea typeface="华文新魏" panose="02010800040101010101" pitchFamily="2" charset="-122"/>
              </a:rPr>
              <a:t>B.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C.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&lt;x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1           </a:t>
            </a:r>
            <a:r>
              <a:rPr lang="en-US" altLang="zh-CN" sz="2800" dirty="0">
                <a:latin typeface="华文新魏" panose="02010800040101010101" pitchFamily="2" charset="-122"/>
                <a:ea typeface="华文新魏" panose="02010800040101010101" pitchFamily="2" charset="-122"/>
              </a:rPr>
              <a:t>D.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4257071" y="2909910"/>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231671" y="5466254"/>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089992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p:cNvSpPr>
            <a:spLocks noChangeArrowheads="1"/>
          </p:cNvSpPr>
          <p:nvPr/>
        </p:nvSpPr>
        <p:spPr bwMode="auto">
          <a:xfrm>
            <a:off x="214282" y="1428736"/>
            <a:ext cx="8713788" cy="443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itchFamily="2" charset="-122"/>
                <a:ea typeface="黑体" pitchFamily="2" charset="-122"/>
              </a:rPr>
              <a:t> </a:t>
            </a:r>
            <a:r>
              <a:rPr lang="zh-CN" altLang="en-US" sz="2400" dirty="0">
                <a:solidFill>
                  <a:srgbClr val="FF0000"/>
                </a:solidFill>
                <a:latin typeface="黑体" pitchFamily="2" charset="-122"/>
                <a:ea typeface="黑体" pitchFamily="2" charset="-122"/>
              </a:rPr>
              <a:t>正数补码同原码</a:t>
            </a:r>
          </a:p>
          <a:p>
            <a:pPr>
              <a:lnSpc>
                <a:spcPct val="150000"/>
              </a:lnSpc>
            </a:pPr>
            <a:r>
              <a:rPr lang="zh-CN" altLang="en-US" sz="2400" dirty="0">
                <a:solidFill>
                  <a:srgbClr val="FF0000"/>
                </a:solidFill>
                <a:latin typeface="黑体" pitchFamily="2" charset="-122"/>
                <a:ea typeface="黑体" pitchFamily="2" charset="-122"/>
              </a:rPr>
              <a:t> 负数补码 </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 </a:t>
            </a:r>
            <a:r>
              <a:rPr lang="zh-CN" altLang="en-US" sz="2400" dirty="0">
                <a:latin typeface="黑体" pitchFamily="2" charset="-122"/>
                <a:ea typeface="黑体" pitchFamily="2" charset="-122"/>
              </a:rPr>
              <a:t>的补码</a:t>
            </a:r>
          </a:p>
          <a:p>
            <a:pPr>
              <a:lnSpc>
                <a:spcPct val="150000"/>
              </a:lnSpc>
            </a:pPr>
            <a:r>
              <a:rPr lang="en-US" altLang="zh-CN" sz="2400" dirty="0">
                <a:latin typeface="黑体" pitchFamily="2" charset="-122"/>
                <a:ea typeface="黑体" pitchFamily="2" charset="-122"/>
              </a:rPr>
              <a:t>  2</a:t>
            </a:r>
            <a:r>
              <a:rPr lang="en-US" altLang="zh-CN" sz="2400" baseline="30000" dirty="0">
                <a:latin typeface="黑体" pitchFamily="2" charset="-122"/>
                <a:ea typeface="黑体" pitchFamily="2" charset="-122"/>
              </a:rPr>
              <a:t>n+1</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a:t>
            </a:r>
            <a:r>
              <a:rPr lang="en-US" altLang="zh-CN" sz="2400" dirty="0">
                <a:latin typeface="黑体" pitchFamily="2" charset="-122"/>
                <a:ea typeface="黑体" pitchFamily="2" charset="-122"/>
              </a:rPr>
              <a:t> = 10.....0(n+1</a:t>
            </a:r>
            <a:r>
              <a:rPr lang="zh-CN" altLang="en-US" sz="2400" dirty="0">
                <a:latin typeface="黑体" pitchFamily="2" charset="-122"/>
                <a:ea typeface="黑体" pitchFamily="2" charset="-122"/>
              </a:rPr>
              <a:t>个</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a:t>
            </a:r>
            <a:r>
              <a:rPr lang="en-US" altLang="zh-CN" sz="2400" dirty="0">
                <a:latin typeface="黑体" pitchFamily="2" charset="-122"/>
                <a:ea typeface="黑体" pitchFamily="2" charset="-122"/>
              </a:rPr>
              <a:t> </a:t>
            </a:r>
          </a:p>
          <a:p>
            <a:pPr>
              <a:lnSpc>
                <a:spcPct val="150000"/>
              </a:lnSpc>
            </a:pPr>
            <a:r>
              <a:rPr lang="en-US" altLang="zh-CN" sz="2400" dirty="0">
                <a:latin typeface="黑体" pitchFamily="2" charset="-122"/>
                <a:ea typeface="黑体" pitchFamily="2" charset="-122"/>
              </a:rPr>
              <a:t>  = 11.....1(n+1</a:t>
            </a:r>
            <a:r>
              <a:rPr lang="zh-CN" altLang="en-US" sz="2400" dirty="0">
                <a:latin typeface="黑体" pitchFamily="2" charset="-122"/>
                <a:ea typeface="黑体" pitchFamily="2" charset="-122"/>
              </a:rPr>
              <a:t>位） </a:t>
            </a:r>
            <a:r>
              <a:rPr lang="en-US" altLang="zh-CN" sz="2400" dirty="0">
                <a:latin typeface="黑体" pitchFamily="2" charset="-122"/>
                <a:ea typeface="黑体" pitchFamily="2" charset="-122"/>
              </a:rPr>
              <a:t>+ 1 -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a:t>
            </a:r>
          </a:p>
          <a:p>
            <a:pPr>
              <a:lnSpc>
                <a:spcPct val="150000"/>
              </a:lnSpc>
            </a:pPr>
            <a:r>
              <a:rPr lang="en-US" altLang="zh-CN" sz="2400" dirty="0">
                <a:latin typeface="黑体" pitchFamily="2" charset="-122"/>
                <a:ea typeface="黑体" pitchFamily="2" charset="-122"/>
              </a:rPr>
              <a:t>  = 10.....0(n</a:t>
            </a:r>
            <a:r>
              <a:rPr lang="zh-CN" altLang="en-US" sz="2400" dirty="0">
                <a:latin typeface="黑体" pitchFamily="2" charset="-122"/>
                <a:ea typeface="黑体" pitchFamily="2" charset="-122"/>
              </a:rPr>
              <a:t>个</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+ 11.....1(n</a:t>
            </a:r>
            <a:r>
              <a:rPr lang="zh-CN" altLang="en-US" sz="2400" dirty="0">
                <a:latin typeface="黑体" pitchFamily="2" charset="-122"/>
                <a:ea typeface="黑体" pitchFamily="2" charset="-122"/>
              </a:rPr>
              <a:t>位）</a:t>
            </a:r>
            <a:r>
              <a:rPr lang="en-US" altLang="zh-CN" sz="2400" dirty="0">
                <a:latin typeface="黑体" pitchFamily="2" charset="-122"/>
                <a:ea typeface="黑体" pitchFamily="2" charset="-122"/>
              </a:rPr>
              <a:t>+ 1 -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a:t>
            </a:r>
          </a:p>
          <a:p>
            <a:pPr>
              <a:lnSpc>
                <a:spcPct val="150000"/>
              </a:lnSpc>
            </a:pPr>
            <a:r>
              <a:rPr lang="en-US" altLang="zh-CN" sz="2400" dirty="0">
                <a:latin typeface="黑体" pitchFamily="2" charset="-122"/>
                <a:ea typeface="黑体" pitchFamily="2" charset="-122"/>
              </a:rPr>
              <a:t>  = 10.....0(n</a:t>
            </a:r>
            <a:r>
              <a:rPr lang="zh-CN" altLang="en-US" sz="2400" dirty="0">
                <a:latin typeface="黑体" pitchFamily="2" charset="-122"/>
                <a:ea typeface="黑体" pitchFamily="2" charset="-122"/>
              </a:rPr>
              <a:t>个</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+ 11.....1(n</a:t>
            </a:r>
            <a:r>
              <a:rPr lang="zh-CN" altLang="en-US" sz="2400" dirty="0">
                <a:latin typeface="黑体" pitchFamily="2" charset="-122"/>
                <a:ea typeface="黑体" pitchFamily="2" charset="-122"/>
              </a:rPr>
              <a:t>位）</a:t>
            </a:r>
            <a:r>
              <a:rPr lang="en-US" altLang="zh-CN" sz="2400" dirty="0">
                <a:latin typeface="黑体" pitchFamily="2" charset="-122"/>
                <a:ea typeface="黑体" pitchFamily="2" charset="-122"/>
              </a:rPr>
              <a:t>-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a:t>
            </a:r>
            <a:r>
              <a:rPr lang="en-US" altLang="zh-CN" sz="2400" dirty="0">
                <a:latin typeface="黑体" pitchFamily="2" charset="-122"/>
                <a:ea typeface="黑体" pitchFamily="2" charset="-122"/>
              </a:rPr>
              <a:t> + 1</a:t>
            </a:r>
          </a:p>
          <a:p>
            <a:pPr>
              <a:lnSpc>
                <a:spcPct val="150000"/>
              </a:lnSpc>
            </a:pPr>
            <a:r>
              <a:rPr lang="en-US" altLang="zh-CN" sz="2400" dirty="0">
                <a:latin typeface="黑体" pitchFamily="2" charset="-122"/>
                <a:ea typeface="黑体" pitchFamily="2" charset="-122"/>
              </a:rPr>
              <a:t>  = 1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a:t>
            </a:r>
            <a:r>
              <a:rPr lang="en-US" altLang="zh-CN" sz="2400" dirty="0">
                <a:latin typeface="黑体" pitchFamily="2" charset="-122"/>
                <a:ea typeface="黑体" pitchFamily="2" charset="-122"/>
              </a:rPr>
              <a:t> + 1 </a:t>
            </a:r>
          </a:p>
          <a:p>
            <a:pPr>
              <a:lnSpc>
                <a:spcPct val="150000"/>
              </a:lnSpc>
            </a:pPr>
            <a:r>
              <a:rPr lang="en-US" altLang="zh-CN" sz="2400" dirty="0">
                <a:latin typeface="黑体" pitchFamily="2" charset="-122"/>
                <a:ea typeface="黑体" pitchFamily="2" charset="-122"/>
              </a:rPr>
              <a:t>    </a:t>
            </a:r>
            <a:r>
              <a:rPr lang="zh-CN" altLang="en-US" sz="2400" dirty="0">
                <a:solidFill>
                  <a:srgbClr val="FF0000"/>
                </a:solidFill>
                <a:latin typeface="黑体" pitchFamily="2" charset="-122"/>
                <a:ea typeface="黑体" pitchFamily="2" charset="-122"/>
              </a:rPr>
              <a:t>符号位置</a:t>
            </a:r>
            <a:r>
              <a:rPr lang="en-US" altLang="zh-CN" sz="2400" dirty="0">
                <a:solidFill>
                  <a:srgbClr val="FF0000"/>
                </a:solidFill>
                <a:latin typeface="黑体" pitchFamily="2" charset="-122"/>
                <a:ea typeface="黑体" pitchFamily="2" charset="-122"/>
              </a:rPr>
              <a:t>1,</a:t>
            </a:r>
            <a:r>
              <a:rPr lang="zh-CN" altLang="en-US" sz="2400" dirty="0">
                <a:solidFill>
                  <a:srgbClr val="FF0000"/>
                </a:solidFill>
                <a:latin typeface="黑体" pitchFamily="2" charset="-122"/>
                <a:ea typeface="黑体" pitchFamily="2" charset="-122"/>
              </a:rPr>
              <a:t>其余各位取反，然后在最末位上加</a:t>
            </a:r>
            <a:r>
              <a:rPr lang="en-US" altLang="zh-CN" sz="2400" dirty="0" smtClean="0">
                <a:solidFill>
                  <a:srgbClr val="FF0000"/>
                </a:solidFill>
                <a:latin typeface="黑体" pitchFamily="2" charset="-122"/>
                <a:ea typeface="黑体" pitchFamily="2" charset="-122"/>
              </a:rPr>
              <a:t>1</a:t>
            </a:r>
            <a:endParaRPr lang="en-US" altLang="zh-CN" sz="2400" dirty="0">
              <a:solidFill>
                <a:srgbClr val="FF0000"/>
              </a:solidFill>
              <a:latin typeface="黑体" pitchFamily="2" charset="-122"/>
              <a:ea typeface="黑体" pitchFamily="2" charset="-122"/>
            </a:endParaRPr>
          </a:p>
        </p:txBody>
      </p:sp>
      <p:graphicFrame>
        <p:nvGraphicFramePr>
          <p:cNvPr id="3" name="表格 2"/>
          <p:cNvGraphicFramePr>
            <a:graphicFrameLocks noGrp="1"/>
          </p:cNvGraphicFramePr>
          <p:nvPr/>
        </p:nvGraphicFramePr>
        <p:xfrm>
          <a:off x="357158" y="428604"/>
          <a:ext cx="7488237" cy="863600"/>
        </p:xfrm>
        <a:graphic>
          <a:graphicData uri="http://schemas.openxmlformats.org/drawingml/2006/table">
            <a:tbl>
              <a:tblPr/>
              <a:tblGrid>
                <a:gridCol w="1178703"/>
                <a:gridCol w="277344"/>
                <a:gridCol w="4522750"/>
                <a:gridCol w="1509440"/>
              </a:tblGrid>
              <a:tr h="863600">
                <a:tc>
                  <a:txBody>
                    <a:bodyPr/>
                    <a:lstStyle/>
                    <a:p>
                      <a:pPr algn="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a:t>
                      </a:r>
                      <a:r>
                        <a:rPr lang="zh-CN" altLang="en-US" sz="2400" baseline="-25000" dirty="0">
                          <a:latin typeface="黑体" pitchFamily="2" charset="-122"/>
                          <a:ea typeface="黑体" pitchFamily="2" charset="-122"/>
                        </a:rPr>
                        <a:t>补</a:t>
                      </a:r>
                      <a:r>
                        <a:rPr lang="zh-CN" altLang="en-US" sz="2400" dirty="0">
                          <a:latin typeface="黑体" pitchFamily="2" charset="-122"/>
                          <a:ea typeface="黑体" pitchFamily="2" charset="-122"/>
                        </a:rPr>
                        <a:t>＝</a:t>
                      </a:r>
                    </a:p>
                  </a:txBody>
                  <a:tcPr marL="0" marR="0" marT="0" marB="0"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altLang="zh-CN" sz="2800" dirty="0">
                          <a:latin typeface="黑体" pitchFamily="2" charset="-122"/>
                          <a:ea typeface="黑体" pitchFamily="2" charset="-122"/>
                        </a:rPr>
                        <a:t>{</a:t>
                      </a:r>
                      <a:endParaRPr lang="zh-CN" altLang="en-US" sz="2800" dirty="0">
                        <a:latin typeface="黑体" pitchFamily="2" charset="-122"/>
                        <a:ea typeface="黑体"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pPr algn="l"/>
                      <a:r>
                        <a:rPr lang="en-US" sz="2400" i="1" dirty="0">
                          <a:latin typeface="黑体" pitchFamily="2" charset="-122"/>
                          <a:ea typeface="黑体" pitchFamily="2" charset="-122"/>
                        </a:rPr>
                        <a:t>ｘ</a:t>
                      </a:r>
                      <a:r>
                        <a:rPr lang="en-US" sz="2400" dirty="0">
                          <a:latin typeface="黑体" pitchFamily="2" charset="-122"/>
                          <a:ea typeface="黑体" pitchFamily="2" charset="-122"/>
                        </a:rPr>
                        <a:t>　　　　　　　 　2</a:t>
                      </a:r>
                      <a:r>
                        <a:rPr lang="en-US" sz="2400" baseline="30000" dirty="0">
                          <a:latin typeface="黑体" pitchFamily="2" charset="-122"/>
                          <a:ea typeface="黑体" pitchFamily="2" charset="-122"/>
                        </a:rPr>
                        <a:t>n</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≥0</a:t>
                      </a:r>
                    </a:p>
                    <a:p>
                      <a:pPr algn="l"/>
                      <a:r>
                        <a:rPr lang="en-US" sz="2400" dirty="0">
                          <a:latin typeface="黑体" pitchFamily="2" charset="-122"/>
                          <a:ea typeface="黑体" pitchFamily="2" charset="-122"/>
                        </a:rPr>
                        <a:t>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r>
                        <a:rPr lang="en-US" sz="2400" i="1" dirty="0">
                          <a:latin typeface="黑体" pitchFamily="2" charset="-122"/>
                          <a:ea typeface="黑体" pitchFamily="2" charset="-122"/>
                        </a:rPr>
                        <a:t>ｘ</a:t>
                      </a:r>
                      <a:r>
                        <a:rPr lang="en-US" sz="2400" dirty="0">
                          <a:latin typeface="黑体" pitchFamily="2" charset="-122"/>
                          <a:ea typeface="黑体" pitchFamily="2" charset="-122"/>
                        </a:rPr>
                        <a:t>|　0≥</a:t>
                      </a:r>
                      <a:r>
                        <a:rPr lang="en-US" sz="2400" i="1" dirty="0">
                          <a:latin typeface="黑体" pitchFamily="2" charset="-122"/>
                          <a:ea typeface="黑体" pitchFamily="2" charset="-122"/>
                        </a:rPr>
                        <a:t>ｘ</a:t>
                      </a:r>
                      <a:r>
                        <a:rPr lang="en-US" sz="2400" dirty="0">
                          <a:solidFill>
                            <a:srgbClr val="FF0000"/>
                          </a:solidFill>
                          <a:latin typeface="黑体" pitchFamily="2" charset="-122"/>
                          <a:ea typeface="黑体" pitchFamily="2" charset="-122"/>
                        </a:rPr>
                        <a:t>≥</a:t>
                      </a:r>
                      <a:r>
                        <a:rPr lang="en-US" sz="2400" dirty="0">
                          <a:latin typeface="黑体" pitchFamily="2" charset="-122"/>
                          <a:ea typeface="黑体" pitchFamily="2" charset="-122"/>
                        </a:rPr>
                        <a:t>－2</a:t>
                      </a:r>
                      <a:r>
                        <a:rPr lang="en-US" sz="2400" baseline="30000" dirty="0">
                          <a:latin typeface="黑体" pitchFamily="2" charset="-122"/>
                          <a:ea typeface="黑体" pitchFamily="2" charset="-122"/>
                        </a:rPr>
                        <a:t>n</a:t>
                      </a:r>
                      <a:endParaRPr lang="en-US" sz="2400" dirty="0">
                        <a:latin typeface="黑体" pitchFamily="2" charset="-122"/>
                        <a:ea typeface="黑体"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sz="2400" dirty="0">
                          <a:latin typeface="黑体" pitchFamily="2" charset="-122"/>
                          <a:ea typeface="黑体" pitchFamily="2" charset="-122"/>
                        </a:rPr>
                        <a:t>(mod 2</a:t>
                      </a:r>
                      <a:r>
                        <a:rPr lang="en-US" sz="2400" baseline="30000" dirty="0">
                          <a:latin typeface="黑体" pitchFamily="2" charset="-122"/>
                          <a:ea typeface="黑体" pitchFamily="2" charset="-122"/>
                        </a:rPr>
                        <a:t>n＋1</a:t>
                      </a:r>
                      <a:r>
                        <a:rPr lang="en-US" sz="2400" dirty="0">
                          <a:latin typeface="黑体" pitchFamily="2" charset="-122"/>
                          <a:ea typeface="黑体" pitchFamily="2" charset="-122"/>
                        </a:rPr>
                        <a:t>)</a:t>
                      </a:r>
                    </a:p>
                  </a:txBody>
                  <a:tcPr marL="0" marR="0" marT="0" marB="0"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r>
            </a:tbl>
          </a:graphicData>
        </a:graphic>
      </p:graphicFrame>
      <p:grpSp>
        <p:nvGrpSpPr>
          <p:cNvPr id="25612" name="组合 17"/>
          <p:cNvGrpSpPr>
            <a:grpSpLocks/>
          </p:cNvGrpSpPr>
          <p:nvPr/>
        </p:nvGrpSpPr>
        <p:grpSpPr bwMode="auto">
          <a:xfrm>
            <a:off x="1230064" y="4868646"/>
            <a:ext cx="1440160" cy="0"/>
            <a:chOff x="1230064" y="4868646"/>
            <a:chExt cx="1440160" cy="0"/>
          </a:xfrm>
        </p:grpSpPr>
        <p:cxnSp>
          <p:nvCxnSpPr>
            <p:cNvPr id="25630" name="直接连接符 4"/>
            <p:cNvCxnSpPr>
              <a:cxnSpLocks noChangeShapeType="1"/>
            </p:cNvCxnSpPr>
            <p:nvPr/>
          </p:nvCxnSpPr>
          <p:spPr bwMode="auto">
            <a:xfrm>
              <a:off x="1230064" y="4868646"/>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31" name="直接连接符 7"/>
            <p:cNvCxnSpPr>
              <a:cxnSpLocks noChangeShapeType="1"/>
            </p:cNvCxnSpPr>
            <p:nvPr/>
          </p:nvCxnSpPr>
          <p:spPr bwMode="auto">
            <a:xfrm>
              <a:off x="1734120" y="4868646"/>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32" name="直接连接符 8"/>
            <p:cNvCxnSpPr>
              <a:cxnSpLocks noChangeShapeType="1"/>
            </p:cNvCxnSpPr>
            <p:nvPr/>
          </p:nvCxnSpPr>
          <p:spPr bwMode="auto">
            <a:xfrm>
              <a:off x="2382192" y="4868646"/>
              <a:ext cx="28803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p:cNvSpPr>
            <a:spLocks noChangeArrowheads="1"/>
          </p:cNvSpPr>
          <p:nvPr/>
        </p:nvSpPr>
        <p:spPr bwMode="auto">
          <a:xfrm>
            <a:off x="285720" y="428604"/>
            <a:ext cx="8713788"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itchFamily="2" charset="-122"/>
                <a:ea typeface="黑体" pitchFamily="2" charset="-122"/>
              </a:rPr>
              <a:t> </a:t>
            </a:r>
            <a:r>
              <a:rPr lang="zh-CN" altLang="en-US" sz="2400" dirty="0" smtClean="0">
                <a:solidFill>
                  <a:srgbClr val="FF0000"/>
                </a:solidFill>
                <a:latin typeface="黑体" pitchFamily="2" charset="-122"/>
                <a:ea typeface="黑体" pitchFamily="2" charset="-122"/>
              </a:rPr>
              <a:t>负数</a:t>
            </a:r>
            <a:r>
              <a:rPr lang="zh-CN" altLang="en-US" sz="2400" dirty="0">
                <a:solidFill>
                  <a:srgbClr val="FF0000"/>
                </a:solidFill>
                <a:latin typeface="黑体" pitchFamily="2" charset="-122"/>
                <a:ea typeface="黑体" pitchFamily="2" charset="-122"/>
              </a:rPr>
              <a:t>补码 </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 </a:t>
            </a:r>
            <a:r>
              <a:rPr lang="zh-CN" altLang="en-US" sz="2400" dirty="0">
                <a:latin typeface="黑体" pitchFamily="2" charset="-122"/>
                <a:ea typeface="黑体" pitchFamily="2" charset="-122"/>
              </a:rPr>
              <a:t>的补码</a:t>
            </a:r>
          </a:p>
          <a:p>
            <a:pPr>
              <a:lnSpc>
                <a:spcPct val="150000"/>
              </a:lnSpc>
            </a:pPr>
            <a:r>
              <a:rPr lang="en-US" altLang="zh-CN" sz="2400" dirty="0" smtClean="0">
                <a:latin typeface="黑体" pitchFamily="2" charset="-122"/>
                <a:ea typeface="黑体" pitchFamily="2" charset="-122"/>
              </a:rPr>
              <a:t>  = </a:t>
            </a:r>
            <a:r>
              <a:rPr lang="en-US" altLang="zh-CN" sz="2400" dirty="0">
                <a:latin typeface="黑体" pitchFamily="2" charset="-122"/>
                <a:ea typeface="黑体" pitchFamily="2" charset="-122"/>
              </a:rPr>
              <a:t>1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0</a:t>
            </a:r>
            <a:r>
              <a:rPr lang="en-US" altLang="zh-CN" sz="2400" dirty="0">
                <a:latin typeface="黑体" pitchFamily="2" charset="-122"/>
                <a:ea typeface="黑体" pitchFamily="2" charset="-122"/>
              </a:rPr>
              <a:t> + 1 </a:t>
            </a:r>
          </a:p>
          <a:p>
            <a:pPr>
              <a:lnSpc>
                <a:spcPct val="150000"/>
              </a:lnSpc>
              <a:spcBef>
                <a:spcPts val="600"/>
              </a:spcBef>
              <a:spcAft>
                <a:spcPts val="600"/>
              </a:spcAft>
            </a:pPr>
            <a:r>
              <a:rPr lang="en-US" altLang="zh-CN" sz="2400" dirty="0" smtClean="0">
                <a:latin typeface="黑体" pitchFamily="2" charset="-122"/>
                <a:ea typeface="黑体" pitchFamily="2" charset="-122"/>
              </a:rPr>
              <a:t>    </a:t>
            </a:r>
            <a:r>
              <a:rPr lang="zh-CN" altLang="en-US" sz="2800" dirty="0">
                <a:solidFill>
                  <a:srgbClr val="FF0000"/>
                </a:solidFill>
                <a:latin typeface="黑体" pitchFamily="2" charset="-122"/>
                <a:ea typeface="黑体" pitchFamily="2" charset="-122"/>
              </a:rPr>
              <a:t>符号位置</a:t>
            </a:r>
            <a:r>
              <a:rPr lang="en-US" altLang="zh-CN" sz="2800" dirty="0">
                <a:solidFill>
                  <a:srgbClr val="FF0000"/>
                </a:solidFill>
                <a:latin typeface="黑体" pitchFamily="2" charset="-122"/>
                <a:ea typeface="黑体" pitchFamily="2" charset="-122"/>
              </a:rPr>
              <a:t>1,</a:t>
            </a:r>
            <a:r>
              <a:rPr lang="zh-CN" altLang="en-US" sz="2800" dirty="0">
                <a:solidFill>
                  <a:srgbClr val="FF0000"/>
                </a:solidFill>
                <a:latin typeface="黑体" pitchFamily="2" charset="-122"/>
                <a:ea typeface="黑体" pitchFamily="2" charset="-122"/>
              </a:rPr>
              <a:t>其余各位取反，然后在最末位上加</a:t>
            </a:r>
            <a:r>
              <a:rPr lang="en-US" altLang="zh-CN" sz="2800" dirty="0">
                <a:solidFill>
                  <a:srgbClr val="FF0000"/>
                </a:solidFill>
                <a:latin typeface="黑体" pitchFamily="2" charset="-122"/>
                <a:ea typeface="黑体" pitchFamily="2" charset="-122"/>
              </a:rPr>
              <a:t>1</a:t>
            </a:r>
          </a:p>
          <a:p>
            <a:pPr>
              <a:lnSpc>
                <a:spcPct val="150000"/>
              </a:lnSpc>
            </a:pPr>
            <a:r>
              <a:rPr lang="zh-CN" altLang="en-US" sz="2400" dirty="0" smtClean="0">
                <a:latin typeface="黑体" pitchFamily="2" charset="-122"/>
                <a:ea typeface="黑体" pitchFamily="2" charset="-122"/>
              </a:rPr>
              <a:t>    设 </a:t>
            </a:r>
            <a:r>
              <a:rPr lang="en-US" altLang="zh-CN" sz="2400" dirty="0" smtClean="0">
                <a:latin typeface="黑体" pitchFamily="2" charset="-122"/>
                <a:ea typeface="黑体" pitchFamily="2" charset="-122"/>
              </a:rPr>
              <a:t>- X</a:t>
            </a:r>
            <a:r>
              <a:rPr lang="en-US" altLang="zh-CN" sz="2400" baseline="-25000" dirty="0" smtClean="0">
                <a:latin typeface="黑体" pitchFamily="2" charset="-122"/>
                <a:ea typeface="黑体" pitchFamily="2" charset="-122"/>
              </a:rPr>
              <a:t>n-1</a:t>
            </a:r>
            <a:r>
              <a:rPr lang="en-US" altLang="zh-CN" sz="2400" dirty="0" smtClean="0">
                <a:latin typeface="黑体" pitchFamily="2" charset="-122"/>
                <a:ea typeface="黑体" pitchFamily="2" charset="-122"/>
              </a:rPr>
              <a:t>X</a:t>
            </a:r>
            <a:r>
              <a:rPr lang="en-US" altLang="zh-CN" sz="2400" baseline="-25000" dirty="0" smtClean="0">
                <a:latin typeface="黑体" pitchFamily="2" charset="-122"/>
                <a:ea typeface="黑体" pitchFamily="2" charset="-122"/>
              </a:rPr>
              <a:t>n-2</a:t>
            </a:r>
            <a:r>
              <a:rPr lang="en-US" altLang="zh-CN" sz="2400" dirty="0" smtClean="0">
                <a:latin typeface="黑体" pitchFamily="2" charset="-122"/>
                <a:ea typeface="黑体" pitchFamily="2" charset="-122"/>
              </a:rPr>
              <a:t>…X</a:t>
            </a:r>
            <a:r>
              <a:rPr lang="en-US" altLang="zh-CN" sz="2400" baseline="-25000" dirty="0" smtClean="0">
                <a:latin typeface="黑体" pitchFamily="2" charset="-122"/>
                <a:ea typeface="黑体" pitchFamily="2" charset="-122"/>
              </a:rPr>
              <a:t>0  </a:t>
            </a:r>
            <a:r>
              <a:rPr lang="zh-CN" altLang="en-US" sz="2400" dirty="0" smtClean="0">
                <a:latin typeface="黑体" pitchFamily="2" charset="-122"/>
                <a:ea typeface="黑体" pitchFamily="2" charset="-122"/>
              </a:rPr>
              <a:t>为</a:t>
            </a:r>
            <a:r>
              <a:rPr lang="en-US" altLang="zh-CN" sz="2400" dirty="0" smtClean="0">
                <a:latin typeface="黑体" pitchFamily="2" charset="-122"/>
                <a:ea typeface="黑体" pitchFamily="2" charset="-122"/>
              </a:rPr>
              <a:t> -</a:t>
            </a:r>
            <a:r>
              <a:rPr lang="en-US" altLang="zh-CN" sz="2400" dirty="0">
                <a:latin typeface="黑体" pitchFamily="2" charset="-122"/>
                <a:ea typeface="黑体" pitchFamily="2" charset="-122"/>
              </a:rPr>
              <a:t> X</a:t>
            </a:r>
            <a:r>
              <a:rPr lang="en-US" altLang="zh-CN" sz="2400" baseline="-25000" dirty="0">
                <a:latin typeface="黑体" pitchFamily="2" charset="-122"/>
                <a:ea typeface="黑体" pitchFamily="2" charset="-122"/>
              </a:rPr>
              <a:t>n-1</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n-2</a:t>
            </a:r>
            <a:r>
              <a:rPr lang="en-US" altLang="zh-CN" sz="2400" dirty="0">
                <a:latin typeface="黑体" pitchFamily="2" charset="-122"/>
                <a:ea typeface="黑体" pitchFamily="2" charset="-122"/>
              </a:rPr>
              <a:t>…X</a:t>
            </a:r>
            <a:r>
              <a:rPr lang="en-US" altLang="zh-CN" sz="2400" baseline="-25000" dirty="0">
                <a:latin typeface="黑体" pitchFamily="2" charset="-122"/>
                <a:ea typeface="黑体" pitchFamily="2" charset="-122"/>
              </a:rPr>
              <a:t>i+1</a:t>
            </a:r>
            <a:r>
              <a:rPr lang="en-US" altLang="zh-CN" sz="2400" dirty="0">
                <a:latin typeface="黑体" pitchFamily="2" charset="-122"/>
                <a:ea typeface="黑体" pitchFamily="2" charset="-122"/>
              </a:rPr>
              <a:t> </a:t>
            </a:r>
            <a:r>
              <a:rPr lang="en-US" altLang="zh-CN" sz="2400" b="1" dirty="0" smtClean="0">
                <a:solidFill>
                  <a:srgbClr val="FF0000"/>
                </a:solidFill>
                <a:latin typeface="黑体" pitchFamily="2" charset="-122"/>
                <a:ea typeface="黑体" pitchFamily="2" charset="-122"/>
              </a:rPr>
              <a:t>1</a:t>
            </a:r>
            <a:r>
              <a:rPr lang="en-US" altLang="zh-CN" sz="2400" b="1" dirty="0" smtClean="0">
                <a:solidFill>
                  <a:schemeClr val="tx2">
                    <a:lumMod val="40000"/>
                    <a:lumOff val="60000"/>
                  </a:schemeClr>
                </a:solidFill>
                <a:latin typeface="黑体" pitchFamily="2" charset="-122"/>
                <a:ea typeface="黑体" pitchFamily="2" charset="-122"/>
              </a:rPr>
              <a:t>00…00</a:t>
            </a:r>
            <a:r>
              <a:rPr lang="zh-CN" altLang="en-US" sz="2400" dirty="0" smtClean="0">
                <a:latin typeface="黑体" pitchFamily="2" charset="-122"/>
                <a:ea typeface="黑体" pitchFamily="2" charset="-122"/>
              </a:rPr>
              <a:t>形式</a:t>
            </a:r>
            <a:endParaRPr lang="en-US" altLang="zh-CN" sz="2400" dirty="0">
              <a:latin typeface="黑体" pitchFamily="2" charset="-122"/>
              <a:ea typeface="黑体" pitchFamily="2" charset="-122"/>
            </a:endParaRPr>
          </a:p>
          <a:p>
            <a:pPr>
              <a:lnSpc>
                <a:spcPct val="150000"/>
              </a:lnSpc>
            </a:pPr>
            <a:r>
              <a:rPr lang="zh-CN" altLang="en-US" sz="2400" dirty="0" smtClean="0">
                <a:latin typeface="黑体" pitchFamily="2" charset="-122"/>
                <a:ea typeface="黑体" pitchFamily="2" charset="-122"/>
              </a:rPr>
              <a:t>     补码 </a:t>
            </a:r>
            <a:r>
              <a:rPr lang="en-US" altLang="zh-CN" sz="2400" dirty="0" smtClean="0">
                <a:latin typeface="黑体" pitchFamily="2" charset="-122"/>
                <a:ea typeface="黑体" pitchFamily="2" charset="-122"/>
              </a:rPr>
              <a:t>= </a:t>
            </a:r>
            <a:r>
              <a:rPr lang="en-US" altLang="zh-CN" sz="2400" dirty="0">
                <a:latin typeface="黑体" pitchFamily="2" charset="-122"/>
                <a:ea typeface="黑体" pitchFamily="2" charset="-122"/>
              </a:rPr>
              <a:t>1 </a:t>
            </a:r>
            <a:r>
              <a:rPr lang="en-US" altLang="zh-CN" sz="2400" dirty="0" smtClean="0">
                <a:latin typeface="黑体" pitchFamily="2" charset="-122"/>
                <a:ea typeface="黑体" pitchFamily="2" charset="-122"/>
              </a:rPr>
              <a:t>X</a:t>
            </a:r>
            <a:r>
              <a:rPr lang="en-US" altLang="zh-CN" sz="2400" baseline="-25000" dirty="0" smtClean="0">
                <a:latin typeface="黑体" pitchFamily="2" charset="-122"/>
                <a:ea typeface="黑体" pitchFamily="2" charset="-122"/>
              </a:rPr>
              <a:t>n-1</a:t>
            </a:r>
            <a:r>
              <a:rPr lang="en-US" altLang="zh-CN" sz="2400" dirty="0" smtClean="0">
                <a:latin typeface="黑体" pitchFamily="2" charset="-122"/>
                <a:ea typeface="黑体" pitchFamily="2" charset="-122"/>
              </a:rPr>
              <a:t>X</a:t>
            </a:r>
            <a:r>
              <a:rPr lang="en-US" altLang="zh-CN" sz="2400" baseline="-25000" dirty="0" smtClean="0">
                <a:latin typeface="黑体" pitchFamily="2" charset="-122"/>
                <a:ea typeface="黑体" pitchFamily="2" charset="-122"/>
              </a:rPr>
              <a:t>n-2</a:t>
            </a:r>
            <a:r>
              <a:rPr lang="en-US" altLang="zh-CN" sz="2400" dirty="0" smtClean="0">
                <a:latin typeface="黑体" pitchFamily="2" charset="-122"/>
                <a:ea typeface="黑体" pitchFamily="2" charset="-122"/>
              </a:rPr>
              <a:t>…X</a:t>
            </a:r>
            <a:r>
              <a:rPr lang="en-US" altLang="zh-CN" sz="2400" baseline="-25000" dirty="0" smtClean="0">
                <a:latin typeface="黑体" pitchFamily="2" charset="-122"/>
                <a:ea typeface="黑体" pitchFamily="2" charset="-122"/>
              </a:rPr>
              <a:t>i+1</a:t>
            </a:r>
            <a:r>
              <a:rPr lang="en-US" altLang="zh-CN" sz="2400" dirty="0" smtClean="0">
                <a:latin typeface="黑体" pitchFamily="2" charset="-122"/>
                <a:ea typeface="黑体" pitchFamily="2" charset="-122"/>
              </a:rPr>
              <a:t> </a:t>
            </a:r>
            <a:r>
              <a:rPr lang="en-US" altLang="zh-CN" sz="2400" b="1" dirty="0" smtClean="0">
                <a:solidFill>
                  <a:srgbClr val="FF0000"/>
                </a:solidFill>
                <a:latin typeface="黑体" pitchFamily="2" charset="-122"/>
                <a:ea typeface="黑体" pitchFamily="2" charset="-122"/>
              </a:rPr>
              <a:t>0</a:t>
            </a:r>
            <a:r>
              <a:rPr lang="en-US" altLang="zh-CN" sz="2400" b="1" dirty="0" smtClean="0">
                <a:solidFill>
                  <a:schemeClr val="tx2">
                    <a:lumMod val="40000"/>
                    <a:lumOff val="60000"/>
                  </a:schemeClr>
                </a:solidFill>
                <a:latin typeface="黑体" pitchFamily="2" charset="-122"/>
                <a:ea typeface="黑体" pitchFamily="2" charset="-122"/>
              </a:rPr>
              <a:t>11…11</a:t>
            </a:r>
            <a:r>
              <a:rPr lang="en-US" altLang="zh-CN" sz="2400" dirty="0" smtClean="0">
                <a:latin typeface="黑体" pitchFamily="2" charset="-122"/>
                <a:ea typeface="黑体" pitchFamily="2" charset="-122"/>
              </a:rPr>
              <a:t> + </a:t>
            </a:r>
            <a:r>
              <a:rPr lang="en-US" altLang="zh-CN" sz="2400" dirty="0">
                <a:latin typeface="黑体" pitchFamily="2" charset="-122"/>
                <a:ea typeface="黑体" pitchFamily="2" charset="-122"/>
              </a:rPr>
              <a:t>1 </a:t>
            </a:r>
            <a:endParaRPr lang="en-US" altLang="zh-CN" sz="2400" dirty="0" smtClean="0">
              <a:latin typeface="黑体" pitchFamily="2" charset="-122"/>
              <a:ea typeface="黑体" pitchFamily="2" charset="-122"/>
            </a:endParaRPr>
          </a:p>
          <a:p>
            <a:pPr>
              <a:lnSpc>
                <a:spcPct val="150000"/>
              </a:lnSpc>
            </a:pPr>
            <a:r>
              <a:rPr lang="en-US" altLang="zh-CN" sz="2400" dirty="0" smtClean="0">
                <a:latin typeface="黑体" pitchFamily="2" charset="-122"/>
                <a:ea typeface="黑体" pitchFamily="2" charset="-122"/>
              </a:rPr>
              <a:t>          = </a:t>
            </a:r>
            <a:r>
              <a:rPr lang="en-US" altLang="zh-CN" sz="2400" dirty="0">
                <a:latin typeface="黑体" pitchFamily="2" charset="-122"/>
                <a:ea typeface="黑体" pitchFamily="2" charset="-122"/>
              </a:rPr>
              <a:t>1 </a:t>
            </a:r>
            <a:r>
              <a:rPr lang="en-US" altLang="zh-CN" sz="2400">
                <a:latin typeface="黑体" pitchFamily="2" charset="-122"/>
                <a:ea typeface="黑体" pitchFamily="2" charset="-122"/>
              </a:rPr>
              <a:t>X</a:t>
            </a:r>
            <a:r>
              <a:rPr lang="en-US" altLang="zh-CN" sz="2400" baseline="-25000">
                <a:latin typeface="黑体" pitchFamily="2" charset="-122"/>
                <a:ea typeface="黑体" pitchFamily="2" charset="-122"/>
              </a:rPr>
              <a:t>n-1</a:t>
            </a:r>
            <a:r>
              <a:rPr lang="en-US" altLang="zh-CN" sz="2400">
                <a:latin typeface="黑体" pitchFamily="2" charset="-122"/>
                <a:ea typeface="黑体" pitchFamily="2" charset="-122"/>
              </a:rPr>
              <a:t>X</a:t>
            </a:r>
            <a:r>
              <a:rPr lang="en-US" altLang="zh-CN" sz="2400" baseline="-25000">
                <a:latin typeface="黑体" pitchFamily="2" charset="-122"/>
                <a:ea typeface="黑体" pitchFamily="2" charset="-122"/>
              </a:rPr>
              <a:t>n-2</a:t>
            </a:r>
            <a:r>
              <a:rPr lang="en-US" altLang="zh-CN" sz="2400">
                <a:latin typeface="黑体" pitchFamily="2" charset="-122"/>
                <a:ea typeface="黑体" pitchFamily="2" charset="-122"/>
              </a:rPr>
              <a:t>…X</a:t>
            </a:r>
            <a:r>
              <a:rPr lang="en-US" altLang="zh-CN" sz="2400" baseline="-25000">
                <a:latin typeface="黑体" pitchFamily="2" charset="-122"/>
                <a:ea typeface="黑体" pitchFamily="2" charset="-122"/>
              </a:rPr>
              <a:t>i+1</a:t>
            </a:r>
            <a:r>
              <a:rPr lang="en-US" altLang="zh-CN" sz="2400">
                <a:latin typeface="黑体" pitchFamily="2" charset="-122"/>
                <a:ea typeface="黑体" pitchFamily="2" charset="-122"/>
              </a:rPr>
              <a:t> </a:t>
            </a:r>
            <a:r>
              <a:rPr lang="en-US" altLang="zh-CN" sz="2400" b="1" smtClean="0">
                <a:solidFill>
                  <a:srgbClr val="FF0000"/>
                </a:solidFill>
                <a:latin typeface="黑体" pitchFamily="2" charset="-122"/>
                <a:ea typeface="黑体" pitchFamily="2" charset="-122"/>
              </a:rPr>
              <a:t>1</a:t>
            </a:r>
            <a:r>
              <a:rPr lang="en-US" altLang="zh-CN" sz="2400" b="1" smtClean="0">
                <a:solidFill>
                  <a:schemeClr val="tx2">
                    <a:lumMod val="40000"/>
                    <a:lumOff val="60000"/>
                  </a:schemeClr>
                </a:solidFill>
                <a:latin typeface="黑体" pitchFamily="2" charset="-122"/>
                <a:ea typeface="黑体" pitchFamily="2" charset="-122"/>
              </a:rPr>
              <a:t>00…00</a:t>
            </a:r>
            <a:endParaRPr lang="en-US" altLang="zh-CN" sz="2400" b="1" dirty="0">
              <a:solidFill>
                <a:schemeClr val="tx2">
                  <a:lumMod val="40000"/>
                  <a:lumOff val="60000"/>
                </a:schemeClr>
              </a:solidFill>
              <a:latin typeface="黑体" pitchFamily="2" charset="-122"/>
              <a:ea typeface="黑体" pitchFamily="2" charset="-122"/>
            </a:endParaRPr>
          </a:p>
          <a:p>
            <a:pPr>
              <a:lnSpc>
                <a:spcPct val="150000"/>
              </a:lnSpc>
            </a:pPr>
            <a:r>
              <a:rPr lang="zh-CN" altLang="en-US" sz="2400" dirty="0">
                <a:latin typeface="黑体" pitchFamily="2" charset="-122"/>
                <a:ea typeface="黑体" pitchFamily="2" charset="-122"/>
              </a:rPr>
              <a:t>    </a:t>
            </a:r>
            <a:r>
              <a:rPr lang="zh-CN" altLang="en-US" sz="2800" dirty="0">
                <a:solidFill>
                  <a:srgbClr val="FF0000"/>
                </a:solidFill>
                <a:latin typeface="黑体" pitchFamily="2" charset="-122"/>
                <a:ea typeface="黑体" pitchFamily="2" charset="-122"/>
              </a:rPr>
              <a:t>自低位向高位，尾数的第一个</a:t>
            </a:r>
            <a:r>
              <a:rPr lang="en-US" altLang="zh-CN" sz="2800" dirty="0">
                <a:solidFill>
                  <a:srgbClr val="FF0000"/>
                </a:solidFill>
                <a:latin typeface="黑体" pitchFamily="2" charset="-122"/>
                <a:ea typeface="黑体" pitchFamily="2" charset="-122"/>
              </a:rPr>
              <a:t>1</a:t>
            </a:r>
            <a:r>
              <a:rPr lang="zh-CN" altLang="en-US" sz="2800" dirty="0">
                <a:solidFill>
                  <a:srgbClr val="FF0000"/>
                </a:solidFill>
                <a:latin typeface="黑体" pitchFamily="2" charset="-122"/>
                <a:ea typeface="黑体" pitchFamily="2" charset="-122"/>
              </a:rPr>
              <a:t>及其右部的</a:t>
            </a:r>
            <a:r>
              <a:rPr lang="en-US" altLang="zh-CN" sz="2800" dirty="0">
                <a:solidFill>
                  <a:srgbClr val="FF0000"/>
                </a:solidFill>
                <a:latin typeface="黑体" pitchFamily="2" charset="-122"/>
                <a:ea typeface="黑体" pitchFamily="2" charset="-122"/>
              </a:rPr>
              <a:t>0</a:t>
            </a:r>
            <a:r>
              <a:rPr lang="zh-CN" altLang="en-US" sz="2800" dirty="0">
                <a:solidFill>
                  <a:srgbClr val="FF0000"/>
                </a:solidFill>
                <a:latin typeface="黑体" pitchFamily="2" charset="-122"/>
                <a:ea typeface="黑体" pitchFamily="2" charset="-122"/>
              </a:rPr>
              <a:t>保持不变，左部的各位取反，符号位置</a:t>
            </a:r>
            <a:r>
              <a:rPr lang="en-US" altLang="zh-CN" sz="2800" dirty="0">
                <a:solidFill>
                  <a:srgbClr val="FF0000"/>
                </a:solidFill>
                <a:latin typeface="黑体" pitchFamily="2" charset="-122"/>
                <a:ea typeface="黑体" pitchFamily="2" charset="-122"/>
              </a:rPr>
              <a:t>1</a:t>
            </a:r>
            <a:endParaRPr lang="zh-CN" altLang="en-US" sz="2800" dirty="0">
              <a:solidFill>
                <a:srgbClr val="FF0000"/>
              </a:solidFill>
              <a:latin typeface="黑体" pitchFamily="2" charset="-122"/>
              <a:ea typeface="黑体" pitchFamily="2" charset="-122"/>
            </a:endParaRPr>
          </a:p>
        </p:txBody>
      </p:sp>
      <p:grpSp>
        <p:nvGrpSpPr>
          <p:cNvPr id="2" name="组合 17"/>
          <p:cNvGrpSpPr>
            <a:grpSpLocks/>
          </p:cNvGrpSpPr>
          <p:nvPr/>
        </p:nvGrpSpPr>
        <p:grpSpPr bwMode="auto">
          <a:xfrm>
            <a:off x="1281862" y="1142984"/>
            <a:ext cx="1440160" cy="0"/>
            <a:chOff x="1281862" y="1142984"/>
            <a:chExt cx="1440160" cy="0"/>
          </a:xfrm>
        </p:grpSpPr>
        <p:cxnSp>
          <p:nvCxnSpPr>
            <p:cNvPr id="25630" name="直接连接符 4"/>
            <p:cNvCxnSpPr>
              <a:cxnSpLocks noChangeShapeType="1"/>
            </p:cNvCxnSpPr>
            <p:nvPr/>
          </p:nvCxnSpPr>
          <p:spPr bwMode="auto">
            <a:xfrm>
              <a:off x="1281862" y="1142984"/>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31" name="直接连接符 7"/>
            <p:cNvCxnSpPr>
              <a:cxnSpLocks noChangeShapeType="1"/>
            </p:cNvCxnSpPr>
            <p:nvPr/>
          </p:nvCxnSpPr>
          <p:spPr bwMode="auto">
            <a:xfrm>
              <a:off x="1785918" y="1142984"/>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32" name="直接连接符 8"/>
            <p:cNvCxnSpPr>
              <a:cxnSpLocks noChangeShapeType="1"/>
            </p:cNvCxnSpPr>
            <p:nvPr/>
          </p:nvCxnSpPr>
          <p:spPr bwMode="auto">
            <a:xfrm>
              <a:off x="2433990" y="1142984"/>
              <a:ext cx="28803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6" name="组合 26"/>
          <p:cNvGrpSpPr>
            <a:grpSpLocks/>
          </p:cNvGrpSpPr>
          <p:nvPr/>
        </p:nvGrpSpPr>
        <p:grpSpPr bwMode="auto">
          <a:xfrm>
            <a:off x="2496308" y="3000372"/>
            <a:ext cx="1440160" cy="0"/>
            <a:chOff x="2496308" y="3000372"/>
            <a:chExt cx="1440160" cy="0"/>
          </a:xfrm>
        </p:grpSpPr>
        <p:cxnSp>
          <p:nvCxnSpPr>
            <p:cNvPr id="25623" name="直接连接符 27"/>
            <p:cNvCxnSpPr>
              <a:cxnSpLocks noChangeShapeType="1"/>
            </p:cNvCxnSpPr>
            <p:nvPr/>
          </p:nvCxnSpPr>
          <p:spPr bwMode="auto">
            <a:xfrm>
              <a:off x="2496308" y="3000372"/>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24" name="直接连接符 28"/>
            <p:cNvCxnSpPr>
              <a:cxnSpLocks noChangeShapeType="1"/>
            </p:cNvCxnSpPr>
            <p:nvPr/>
          </p:nvCxnSpPr>
          <p:spPr bwMode="auto">
            <a:xfrm>
              <a:off x="3000364" y="3000372"/>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25" name="直接连接符 29"/>
            <p:cNvCxnSpPr>
              <a:cxnSpLocks noChangeShapeType="1"/>
            </p:cNvCxnSpPr>
            <p:nvPr/>
          </p:nvCxnSpPr>
          <p:spPr bwMode="auto">
            <a:xfrm>
              <a:off x="3648436" y="3000372"/>
              <a:ext cx="28803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7" name="组合 30"/>
          <p:cNvGrpSpPr>
            <a:grpSpLocks/>
          </p:cNvGrpSpPr>
          <p:nvPr/>
        </p:nvGrpSpPr>
        <p:grpSpPr bwMode="auto">
          <a:xfrm>
            <a:off x="2571736" y="3571876"/>
            <a:ext cx="1441450" cy="0"/>
            <a:chOff x="2571305" y="2275260"/>
            <a:chExt cx="1440160" cy="0"/>
          </a:xfrm>
        </p:grpSpPr>
        <p:cxnSp>
          <p:nvCxnSpPr>
            <p:cNvPr id="25620" name="直接连接符 31"/>
            <p:cNvCxnSpPr>
              <a:cxnSpLocks noChangeShapeType="1"/>
            </p:cNvCxnSpPr>
            <p:nvPr/>
          </p:nvCxnSpPr>
          <p:spPr bwMode="auto">
            <a:xfrm>
              <a:off x="2571305" y="2275260"/>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21" name="直接连接符 32"/>
            <p:cNvCxnSpPr>
              <a:cxnSpLocks noChangeShapeType="1"/>
            </p:cNvCxnSpPr>
            <p:nvPr/>
          </p:nvCxnSpPr>
          <p:spPr bwMode="auto">
            <a:xfrm>
              <a:off x="3075362" y="2275260"/>
              <a:ext cx="4320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622" name="直接连接符 33"/>
            <p:cNvCxnSpPr>
              <a:cxnSpLocks noChangeShapeType="1"/>
            </p:cNvCxnSpPr>
            <p:nvPr/>
          </p:nvCxnSpPr>
          <p:spPr bwMode="auto">
            <a:xfrm>
              <a:off x="3723433" y="2275260"/>
              <a:ext cx="28803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201613" y="598488"/>
            <a:ext cx="8601075" cy="574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70000"/>
              </a:lnSpc>
            </a:pPr>
            <a:r>
              <a:rPr lang="zh-CN" altLang="zh-CN" sz="2400">
                <a:solidFill>
                  <a:srgbClr val="000000"/>
                </a:solidFill>
                <a:latin typeface="黑体" pitchFamily="2" charset="-122"/>
                <a:ea typeface="黑体" pitchFamily="2" charset="-122"/>
              </a:rPr>
              <a:t>例如，</a:t>
            </a:r>
            <a:r>
              <a:rPr lang="zh-CN" altLang="zh-CN" sz="2400" i="1">
                <a:solidFill>
                  <a:srgbClr val="000000"/>
                </a:solidFill>
                <a:latin typeface="黑体" pitchFamily="2" charset="-122"/>
                <a:ea typeface="黑体" pitchFamily="2" charset="-122"/>
              </a:rPr>
              <a:t>ｘ</a:t>
            </a:r>
            <a:r>
              <a:rPr lang="zh-CN" altLang="zh-CN" sz="2400">
                <a:solidFill>
                  <a:srgbClr val="000000"/>
                </a:solidFill>
                <a:latin typeface="黑体" pitchFamily="2" charset="-122"/>
                <a:ea typeface="黑体" pitchFamily="2" charset="-122"/>
              </a:rPr>
              <a:t>＝</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0.101011,则</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a:t>
            </a:r>
            <a:r>
              <a:rPr lang="zh-CN" altLang="zh-CN" sz="2400" i="1">
                <a:solidFill>
                  <a:srgbClr val="000000"/>
                </a:solidFill>
                <a:latin typeface="黑体" pitchFamily="2" charset="-122"/>
                <a:ea typeface="黑体" pitchFamily="2" charset="-122"/>
              </a:rPr>
              <a:t>ｘ</a:t>
            </a:r>
            <a:r>
              <a:rPr lang="zh-CN" altLang="zh-CN" sz="2400">
                <a:solidFill>
                  <a:srgbClr val="000000"/>
                </a:solidFill>
                <a:latin typeface="黑体" pitchFamily="2" charset="-122"/>
                <a:ea typeface="黑体" pitchFamily="2" charset="-122"/>
              </a:rPr>
              <a:t>]</a:t>
            </a:r>
            <a:r>
              <a:rPr lang="zh-CN" altLang="zh-CN" sz="2400" baseline="-30000">
                <a:solidFill>
                  <a:srgbClr val="000000"/>
                </a:solidFill>
                <a:latin typeface="黑体" pitchFamily="2" charset="-122"/>
                <a:ea typeface="黑体" pitchFamily="2" charset="-122"/>
              </a:rPr>
              <a:t>补</a:t>
            </a:r>
            <a:r>
              <a:rPr lang="zh-CN" altLang="zh-CN" sz="2400">
                <a:solidFill>
                  <a:srgbClr val="000000"/>
                </a:solidFill>
                <a:latin typeface="黑体" pitchFamily="2" charset="-122"/>
                <a:ea typeface="黑体" pitchFamily="2" charset="-122"/>
              </a:rPr>
              <a:t>＝</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0.101011</a:t>
            </a:r>
            <a:endParaRPr lang="zh-CN" altLang="zh-CN" sz="2400">
              <a:latin typeface="黑体" pitchFamily="2" charset="-122"/>
              <a:ea typeface="黑体" pitchFamily="2" charset="-122"/>
            </a:endParaRPr>
          </a:p>
          <a:p>
            <a:pPr eaLnBrk="0" hangingPunct="0">
              <a:lnSpc>
                <a:spcPct val="170000"/>
              </a:lnSpc>
            </a:pPr>
            <a:r>
              <a:rPr lang="zh-CN" altLang="zh-CN" sz="2400" i="1">
                <a:solidFill>
                  <a:srgbClr val="000000"/>
                </a:solidFill>
                <a:latin typeface="黑体" pitchFamily="2" charset="-122"/>
                <a:ea typeface="黑体" pitchFamily="2" charset="-122"/>
              </a:rPr>
              <a:t>　　　ｘ</a:t>
            </a:r>
            <a:r>
              <a:rPr lang="zh-CN" altLang="zh-CN" sz="2400">
                <a:solidFill>
                  <a:srgbClr val="000000"/>
                </a:solidFill>
                <a:latin typeface="黑体" pitchFamily="2" charset="-122"/>
                <a:ea typeface="黑体" pitchFamily="2" charset="-122"/>
              </a:rPr>
              <a:t>＝</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0.110011,则</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a:t>
            </a:r>
            <a:r>
              <a:rPr lang="zh-CN" altLang="zh-CN" sz="2400" i="1">
                <a:solidFill>
                  <a:srgbClr val="000000"/>
                </a:solidFill>
                <a:latin typeface="黑体" pitchFamily="2" charset="-122"/>
                <a:ea typeface="黑体" pitchFamily="2" charset="-122"/>
              </a:rPr>
              <a:t>ｘ</a:t>
            </a:r>
            <a:r>
              <a:rPr lang="zh-CN" altLang="zh-CN" sz="2400">
                <a:solidFill>
                  <a:srgbClr val="000000"/>
                </a:solidFill>
                <a:latin typeface="黑体" pitchFamily="2" charset="-122"/>
                <a:ea typeface="黑体" pitchFamily="2" charset="-122"/>
              </a:rPr>
              <a:t>]</a:t>
            </a:r>
            <a:r>
              <a:rPr lang="zh-CN" altLang="zh-CN" sz="2400" baseline="-30000">
                <a:solidFill>
                  <a:srgbClr val="000000"/>
                </a:solidFill>
                <a:latin typeface="黑体" pitchFamily="2" charset="-122"/>
                <a:ea typeface="黑体" pitchFamily="2" charset="-122"/>
              </a:rPr>
              <a:t>补</a:t>
            </a:r>
            <a:r>
              <a:rPr lang="zh-CN" altLang="zh-CN" sz="2400">
                <a:solidFill>
                  <a:srgbClr val="000000"/>
                </a:solidFill>
                <a:latin typeface="黑体" pitchFamily="2" charset="-122"/>
                <a:ea typeface="黑体" pitchFamily="2" charset="-122"/>
              </a:rPr>
              <a:t>＝</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1.001101</a:t>
            </a:r>
            <a:endParaRPr lang="zh-CN" altLang="zh-CN" sz="2400">
              <a:latin typeface="黑体" pitchFamily="2" charset="-122"/>
              <a:ea typeface="黑体" pitchFamily="2" charset="-122"/>
            </a:endParaRPr>
          </a:p>
          <a:p>
            <a:pPr eaLnBrk="0" hangingPunct="0">
              <a:lnSpc>
                <a:spcPct val="170000"/>
              </a:lnSpc>
            </a:pPr>
            <a:r>
              <a:rPr lang="en-US" altLang="zh-CN" sz="2400">
                <a:solidFill>
                  <a:srgbClr val="FF0000"/>
                </a:solidFill>
                <a:latin typeface="黑体" pitchFamily="2" charset="-122"/>
                <a:ea typeface="黑体" pitchFamily="2" charset="-122"/>
              </a:rPr>
              <a:t>    </a:t>
            </a:r>
            <a:r>
              <a:rPr lang="zh-CN" altLang="zh-CN" sz="2400">
                <a:solidFill>
                  <a:srgbClr val="FF0000"/>
                </a:solidFill>
                <a:latin typeface="黑体" pitchFamily="2" charset="-122"/>
                <a:ea typeface="黑体" pitchFamily="2" charset="-122"/>
              </a:rPr>
              <a:t>由补码转原码</a:t>
            </a:r>
            <a:r>
              <a:rPr lang="en-US" altLang="zh-CN" sz="2400">
                <a:solidFill>
                  <a:srgbClr val="FF0000"/>
                </a:solidFill>
                <a:latin typeface="黑体" pitchFamily="2" charset="-122"/>
                <a:ea typeface="黑体" pitchFamily="2" charset="-122"/>
              </a:rPr>
              <a:t> ---- </a:t>
            </a:r>
            <a:r>
              <a:rPr lang="zh-CN" altLang="en-US" sz="2400">
                <a:solidFill>
                  <a:srgbClr val="FF0000"/>
                </a:solidFill>
                <a:latin typeface="黑体" pitchFamily="2" charset="-122"/>
                <a:ea typeface="黑体" pitchFamily="2" charset="-122"/>
              </a:rPr>
              <a:t>对补码再次求补得到原码</a:t>
            </a:r>
            <a:endParaRPr lang="en-US" altLang="zh-CN" sz="2400">
              <a:solidFill>
                <a:srgbClr val="FF0000"/>
              </a:solidFill>
              <a:latin typeface="黑体" pitchFamily="2" charset="-122"/>
              <a:ea typeface="黑体" pitchFamily="2" charset="-122"/>
            </a:endParaRPr>
          </a:p>
          <a:p>
            <a:pPr eaLnBrk="0" hangingPunct="0">
              <a:lnSpc>
                <a:spcPct val="170000"/>
              </a:lnSpc>
            </a:pPr>
            <a:r>
              <a:rPr lang="en-US" altLang="zh-CN" sz="2400">
                <a:solidFill>
                  <a:srgbClr val="FF0000"/>
                </a:solidFill>
                <a:latin typeface="黑体" pitchFamily="2" charset="-122"/>
                <a:ea typeface="黑体" pitchFamily="2" charset="-122"/>
              </a:rPr>
              <a:t>    3.</a:t>
            </a:r>
            <a:r>
              <a:rPr lang="zh-CN" altLang="en-US" sz="2400">
                <a:solidFill>
                  <a:srgbClr val="FF0000"/>
                </a:solidFill>
                <a:latin typeface="黑体" pitchFamily="2" charset="-122"/>
                <a:ea typeface="黑体" pitchFamily="2" charset="-122"/>
              </a:rPr>
              <a:t>反码表示法</a:t>
            </a:r>
            <a:endParaRPr lang="en-US" altLang="zh-CN" sz="2400">
              <a:solidFill>
                <a:srgbClr val="FF0000"/>
              </a:solidFill>
              <a:latin typeface="黑体" pitchFamily="2" charset="-122"/>
              <a:ea typeface="黑体" pitchFamily="2" charset="-122"/>
            </a:endParaRPr>
          </a:p>
          <a:p>
            <a:pPr eaLnBrk="0" hangingPunct="0">
              <a:lnSpc>
                <a:spcPct val="17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若Xi=1，则反码为xi=0；若xi=0，则反码xi=1。数值上面的一横表示反码的意思。</a:t>
            </a:r>
            <a:endParaRPr lang="en-US" altLang="zh-CN" sz="2400">
              <a:solidFill>
                <a:srgbClr val="000000"/>
              </a:solidFill>
              <a:latin typeface="黑体" pitchFamily="2" charset="-122"/>
              <a:ea typeface="黑体" pitchFamily="2" charset="-122"/>
            </a:endParaRPr>
          </a:p>
          <a:p>
            <a:pPr eaLnBrk="0" hangingPunct="0">
              <a:lnSpc>
                <a:spcPct val="17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对于0,有[＋0]</a:t>
            </a:r>
            <a:r>
              <a:rPr lang="zh-CN" altLang="zh-CN" sz="2400" baseline="-30000">
                <a:latin typeface="黑体" pitchFamily="2" charset="-122"/>
                <a:ea typeface="黑体" pitchFamily="2" charset="-122"/>
              </a:rPr>
              <a:t>反</a:t>
            </a:r>
            <a:r>
              <a:rPr lang="zh-CN" altLang="zh-CN" sz="2400">
                <a:latin typeface="黑体" pitchFamily="2" charset="-122"/>
                <a:ea typeface="黑体" pitchFamily="2" charset="-122"/>
              </a:rPr>
              <a:t>和[－0]</a:t>
            </a:r>
            <a:r>
              <a:rPr lang="zh-CN" altLang="zh-CN" sz="2400" baseline="-30000">
                <a:latin typeface="黑体" pitchFamily="2" charset="-122"/>
                <a:ea typeface="黑体" pitchFamily="2" charset="-122"/>
              </a:rPr>
              <a:t>反</a:t>
            </a:r>
            <a:r>
              <a:rPr lang="zh-CN" altLang="zh-CN" sz="2400">
                <a:latin typeface="黑体" pitchFamily="2" charset="-122"/>
                <a:ea typeface="黑体" pitchFamily="2" charset="-122"/>
              </a:rPr>
              <a:t>之分:</a:t>
            </a:r>
            <a:r>
              <a:rPr lang="zh-CN" altLang="zh-CN" sz="2400">
                <a:solidFill>
                  <a:srgbClr val="0000FF"/>
                </a:solidFill>
                <a:latin typeface="黑体" pitchFamily="2" charset="-122"/>
                <a:ea typeface="黑体" pitchFamily="2" charset="-122"/>
              </a:rPr>
              <a:t>　 </a:t>
            </a:r>
            <a:endParaRPr lang="en-US" altLang="zh-CN" sz="2400">
              <a:solidFill>
                <a:srgbClr val="0000FF"/>
              </a:solidFill>
              <a:latin typeface="黑体" pitchFamily="2" charset="-122"/>
              <a:ea typeface="黑体" pitchFamily="2" charset="-122"/>
            </a:endParaRPr>
          </a:p>
          <a:p>
            <a:pPr eaLnBrk="0" hangingPunct="0">
              <a:lnSpc>
                <a:spcPct val="170000"/>
              </a:lnSpc>
            </a:pPr>
            <a:r>
              <a:rPr lang="en-US" altLang="zh-CN" sz="2400">
                <a:solidFill>
                  <a:srgbClr val="0000FF"/>
                </a:solidFill>
                <a:latin typeface="黑体" pitchFamily="2" charset="-122"/>
                <a:ea typeface="黑体" pitchFamily="2" charset="-122"/>
              </a:rPr>
              <a:t>       </a:t>
            </a:r>
            <a:r>
              <a:rPr lang="zh-CN" altLang="zh-CN" sz="2400">
                <a:solidFill>
                  <a:srgbClr val="0000FF"/>
                </a:solidFill>
                <a:latin typeface="黑体" pitchFamily="2" charset="-122"/>
                <a:ea typeface="黑体" pitchFamily="2" charset="-122"/>
              </a:rPr>
              <a:t>[＋0]</a:t>
            </a:r>
            <a:r>
              <a:rPr lang="zh-CN" altLang="zh-CN" sz="2400" baseline="-30000">
                <a:solidFill>
                  <a:srgbClr val="0000FF"/>
                </a:solidFill>
                <a:latin typeface="黑体" pitchFamily="2" charset="-122"/>
                <a:ea typeface="黑体" pitchFamily="2" charset="-122"/>
              </a:rPr>
              <a:t>反</a:t>
            </a:r>
            <a:r>
              <a:rPr lang="zh-CN" altLang="zh-CN" sz="2400">
                <a:solidFill>
                  <a:srgbClr val="0000FF"/>
                </a:solidFill>
                <a:latin typeface="黑体" pitchFamily="2" charset="-122"/>
                <a:ea typeface="黑体" pitchFamily="2" charset="-122"/>
              </a:rPr>
              <a:t>＝00...0</a:t>
            </a:r>
            <a:endParaRPr lang="en-US" altLang="zh-CN" sz="2400">
              <a:latin typeface="黑体" pitchFamily="2" charset="-122"/>
              <a:ea typeface="黑体" pitchFamily="2" charset="-122"/>
            </a:endParaRPr>
          </a:p>
          <a:p>
            <a:pPr eaLnBrk="0" hangingPunct="0">
              <a:lnSpc>
                <a:spcPct val="170000"/>
              </a:lnSpc>
            </a:pPr>
            <a:r>
              <a:rPr lang="en-US" altLang="zh-CN" sz="2400">
                <a:solidFill>
                  <a:srgbClr val="0000FF"/>
                </a:solidFill>
                <a:latin typeface="黑体" pitchFamily="2" charset="-122"/>
                <a:ea typeface="黑体" pitchFamily="2" charset="-122"/>
              </a:rPr>
              <a:t>       </a:t>
            </a:r>
            <a:r>
              <a:rPr lang="zh-CN" altLang="zh-CN" sz="2400">
                <a:solidFill>
                  <a:srgbClr val="0000FF"/>
                </a:solidFill>
                <a:latin typeface="黑体" pitchFamily="2" charset="-122"/>
                <a:ea typeface="黑体" pitchFamily="2" charset="-122"/>
              </a:rPr>
              <a:t>[－0]</a:t>
            </a:r>
            <a:r>
              <a:rPr lang="zh-CN" altLang="zh-CN" sz="2400" baseline="-30000">
                <a:solidFill>
                  <a:srgbClr val="0000FF"/>
                </a:solidFill>
                <a:latin typeface="黑体" pitchFamily="2" charset="-122"/>
                <a:ea typeface="黑体" pitchFamily="2" charset="-122"/>
              </a:rPr>
              <a:t>反</a:t>
            </a:r>
            <a:r>
              <a:rPr lang="zh-CN" altLang="zh-CN" sz="2400">
                <a:solidFill>
                  <a:srgbClr val="0000FF"/>
                </a:solidFill>
                <a:latin typeface="黑体" pitchFamily="2" charset="-122"/>
                <a:ea typeface="黑体" pitchFamily="2" charset="-122"/>
              </a:rPr>
              <a:t>＝111...1</a:t>
            </a:r>
            <a:endParaRPr lang="en-US" altLang="zh-CN" sz="2400">
              <a:solidFill>
                <a:srgbClr val="FF0000"/>
              </a:solidFill>
              <a:latin typeface="黑体" pitchFamily="2" charset="-122"/>
              <a:ea typeface="黑体" pitchFamily="2" charset="-122"/>
            </a:endParaRPr>
          </a:p>
        </p:txBody>
      </p:sp>
      <p:sp>
        <p:nvSpPr>
          <p:cNvPr id="26627" name="AutoShape 2" descr="G:\jzdx\%E8%AE%A1%E7%AE%97%E6%9C%BA%E7%BB%84%E6%88%90%E5%8E%9F%E7%90%86\%E6%95%99%E6%A1%88\%E7%AC%AC%E4%BA%8C%E7%AB%A0\Images\2.9.JPG"/>
          <p:cNvSpPr>
            <a:spLocks noChangeAspect="1" noChangeArrowheads="1"/>
          </p:cNvSpPr>
          <p:nvPr/>
        </p:nvSpPr>
        <p:spPr bwMode="auto">
          <a:xfrm>
            <a:off x="63500" y="412750"/>
            <a:ext cx="44386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8" name="Rectangle 4"/>
          <p:cNvSpPr>
            <a:spLocks noChangeArrowheads="1"/>
          </p:cNvSpPr>
          <p:nvPr/>
        </p:nvSpPr>
        <p:spPr bwMode="auto">
          <a:xfrm>
            <a:off x="5580063" y="3100388"/>
            <a:ext cx="6059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zh-CN">
                <a:solidFill>
                  <a:srgbClr val="000000"/>
                </a:solidFill>
              </a:rPr>
              <a:t>　</a:t>
            </a:r>
            <a:r>
              <a:rPr lang="zh-CN" altLang="zh-CN" sz="1600">
                <a:solidFill>
                  <a:srgbClr val="000000"/>
                </a:solidFill>
              </a:rPr>
              <a:t>　</a:t>
            </a:r>
            <a:endParaRPr lang="zh-CN" altLang="zh-CN"/>
          </a:p>
        </p:txBody>
      </p:sp>
      <p:cxnSp>
        <p:nvCxnSpPr>
          <p:cNvPr id="26629" name="直接连接符 9"/>
          <p:cNvCxnSpPr>
            <a:cxnSpLocks noChangeShapeType="1"/>
          </p:cNvCxnSpPr>
          <p:nvPr/>
        </p:nvCxnSpPr>
        <p:spPr bwMode="auto">
          <a:xfrm>
            <a:off x="3348038" y="3290888"/>
            <a:ext cx="2873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630" name="直接连接符 11"/>
          <p:cNvCxnSpPr>
            <a:cxnSpLocks noChangeShapeType="1"/>
          </p:cNvCxnSpPr>
          <p:nvPr/>
        </p:nvCxnSpPr>
        <p:spPr bwMode="auto">
          <a:xfrm>
            <a:off x="6443663" y="3290888"/>
            <a:ext cx="215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4638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289744" y="1476152"/>
            <a:ext cx="8423854" cy="4662815"/>
          </a:xfrm>
          <a:prstGeom prst="rect">
            <a:avLst/>
          </a:prstGeom>
        </p:spPr>
        <p:txBody>
          <a:bodyPr wrap="square">
            <a:spAutoFit/>
          </a:bodyPr>
          <a:lstStyle/>
          <a:p>
            <a:r>
              <a:rPr lang="zh-CN" altLang="zh-CN" sz="2800" dirty="0" smtClean="0">
                <a:latin typeface="华文新魏" panose="02010800040101010101" pitchFamily="2" charset="-122"/>
                <a:ea typeface="华文新魏" panose="02010800040101010101" pitchFamily="2" charset="-122"/>
              </a:rPr>
              <a:t>计算机系统</a:t>
            </a:r>
            <a:r>
              <a:rPr lang="zh-CN" altLang="zh-CN" sz="2800" dirty="0">
                <a:latin typeface="华文新魏" panose="02010800040101010101" pitchFamily="2" charset="-122"/>
                <a:ea typeface="华文新魏" panose="02010800040101010101" pitchFamily="2" charset="-122"/>
              </a:rPr>
              <a:t>中采用补码运算的目的是为了</a:t>
            </a:r>
            <a:r>
              <a:rPr lang="en-US" altLang="zh-CN" sz="2800" dirty="0">
                <a:latin typeface="华文新魏" panose="02010800040101010101" pitchFamily="2" charset="-122"/>
                <a:ea typeface="华文新魏" panose="02010800040101010101" pitchFamily="2" charset="-122"/>
              </a:rPr>
              <a:t>____</a:t>
            </a:r>
            <a:r>
              <a:rPr lang="zh-CN" altLang="zh-CN" sz="2800" dirty="0">
                <a:latin typeface="华文新魏" panose="02010800040101010101" pitchFamily="2" charset="-122"/>
                <a:ea typeface="华文新魏" panose="02010800040101010101" pitchFamily="2" charset="-122"/>
              </a:rPr>
              <a:t>。</a:t>
            </a:r>
          </a:p>
          <a:p>
            <a:pPr>
              <a:spcBef>
                <a:spcPts val="600"/>
              </a:spcBef>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与手工运算方式保持一致</a:t>
            </a: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提高运算速度</a:t>
            </a:r>
            <a:r>
              <a:rPr lang="en-US" altLang="zh-CN" sz="2800" dirty="0">
                <a:latin typeface="华文新魏" panose="02010800040101010101" pitchFamily="2" charset="-122"/>
                <a:ea typeface="华文新魏" panose="02010800040101010101" pitchFamily="2" charset="-122"/>
              </a:rPr>
              <a:t>    </a:t>
            </a:r>
            <a:endParaRPr lang="zh-CN" altLang="zh-CN" sz="2800" dirty="0">
              <a:latin typeface="华文新魏" panose="02010800040101010101" pitchFamily="2" charset="-122"/>
              <a:ea typeface="华文新魏" panose="02010800040101010101" pitchFamily="2" charset="-122"/>
            </a:endParaRPr>
          </a:p>
          <a:p>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简化计算机的设计</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提高运算的</a:t>
            </a:r>
            <a:r>
              <a:rPr lang="zh-CN" altLang="zh-CN" sz="2800" dirty="0" smtClean="0">
                <a:latin typeface="华文新魏" panose="02010800040101010101" pitchFamily="2" charset="-122"/>
                <a:ea typeface="华文新魏" panose="02010800040101010101" pitchFamily="2" charset="-122"/>
              </a:rPr>
              <a:t>精度</a:t>
            </a:r>
            <a:endParaRPr lang="en-US" altLang="zh-CN" sz="2800" dirty="0" smtClean="0">
              <a:latin typeface="华文新魏" panose="02010800040101010101" pitchFamily="2" charset="-122"/>
              <a:ea typeface="华文新魏" panose="02010800040101010101" pitchFamily="2" charset="-122"/>
            </a:endParaRPr>
          </a:p>
          <a:p>
            <a:pPr>
              <a:spcBef>
                <a:spcPts val="1800"/>
              </a:spcBef>
            </a:pPr>
            <a:r>
              <a:rPr lang="zh-CN" altLang="zh-CN" sz="2800" dirty="0" smtClean="0">
                <a:latin typeface="华文新魏" panose="02010800040101010101" pitchFamily="2" charset="-122"/>
                <a:ea typeface="华文新魏" panose="02010800040101010101" pitchFamily="2" charset="-122"/>
              </a:rPr>
              <a:t>设</a:t>
            </a:r>
            <a:r>
              <a:rPr lang="zh-CN" altLang="zh-CN" sz="2800" dirty="0">
                <a:latin typeface="华文新魏" panose="02010800040101010101" pitchFamily="2" charset="-122"/>
                <a:ea typeface="华文新魏" panose="02010800040101010101" pitchFamily="2" charset="-122"/>
              </a:rPr>
              <a:t>机器数采用补码形式（含</a:t>
            </a:r>
            <a:r>
              <a:rPr lang="en-US" altLang="zh-CN" sz="2800" dirty="0">
                <a:latin typeface="华文新魏" panose="02010800040101010101" pitchFamily="2" charset="-122"/>
                <a:ea typeface="华文新魏" panose="02010800040101010101" pitchFamily="2" charset="-122"/>
              </a:rPr>
              <a:t>l</a:t>
            </a:r>
            <a:r>
              <a:rPr lang="zh-CN" altLang="zh-CN" sz="2800" dirty="0">
                <a:latin typeface="华文新魏" panose="02010800040101010101" pitchFamily="2" charset="-122"/>
                <a:ea typeface="华文新魏" panose="02010800040101010101" pitchFamily="2" charset="-122"/>
              </a:rPr>
              <a:t>位符号位），若寄存器内容为</a:t>
            </a:r>
            <a:r>
              <a:rPr lang="en-US" altLang="zh-CN" sz="2800" dirty="0">
                <a:latin typeface="华文新魏" panose="02010800040101010101" pitchFamily="2" charset="-122"/>
                <a:ea typeface="华文新魏" panose="02010800040101010101" pitchFamily="2" charset="-122"/>
              </a:rPr>
              <a:t>9BH</a:t>
            </a:r>
            <a:r>
              <a:rPr lang="zh-CN" altLang="zh-CN" sz="2800" dirty="0">
                <a:latin typeface="华文新魏" panose="02010800040101010101" pitchFamily="2" charset="-122"/>
                <a:ea typeface="华文新魏" panose="02010800040101010101" pitchFamily="2" charset="-122"/>
              </a:rPr>
              <a:t>，则对应的十进制数为</a:t>
            </a:r>
            <a:r>
              <a:rPr lang="en-US" altLang="zh-CN" sz="2800" dirty="0">
                <a:latin typeface="华文新魏" panose="02010800040101010101" pitchFamily="2" charset="-122"/>
                <a:ea typeface="华文新魏" panose="02010800040101010101" pitchFamily="2" charset="-122"/>
              </a:rPr>
              <a:t>____</a:t>
            </a:r>
            <a:r>
              <a:rPr lang="zh-CN" altLang="zh-CN" sz="2800" dirty="0">
                <a:latin typeface="华文新魏" panose="02010800040101010101" pitchFamily="2" charset="-122"/>
                <a:ea typeface="华文新魏" panose="02010800040101010101" pitchFamily="2" charset="-122"/>
              </a:rPr>
              <a:t>。</a:t>
            </a:r>
          </a:p>
          <a:p>
            <a:pPr>
              <a:spcBef>
                <a:spcPts val="600"/>
              </a:spcBef>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-27        B. -97        C. -101        D. 155</a:t>
            </a:r>
            <a:endParaRPr lang="zh-CN" altLang="zh-CN" sz="2800" dirty="0">
              <a:latin typeface="华文新魏" panose="02010800040101010101" pitchFamily="2" charset="-122"/>
              <a:ea typeface="华文新魏" panose="02010800040101010101" pitchFamily="2" charset="-122"/>
            </a:endParaRPr>
          </a:p>
          <a:p>
            <a:pPr>
              <a:spcBef>
                <a:spcPts val="1800"/>
              </a:spcBef>
            </a:pPr>
            <a:r>
              <a:rPr lang="zh-CN" altLang="zh-CN" sz="2800" dirty="0" smtClean="0">
                <a:latin typeface="华文新魏" panose="02010800040101010101" pitchFamily="2" charset="-122"/>
                <a:ea typeface="华文新魏" panose="02010800040101010101" pitchFamily="2" charset="-122"/>
              </a:rPr>
              <a:t>设</a:t>
            </a:r>
            <a:r>
              <a:rPr lang="zh-CN" altLang="zh-CN" sz="2800" dirty="0">
                <a:latin typeface="华文新魏" panose="02010800040101010101" pitchFamily="2" charset="-122"/>
                <a:ea typeface="华文新魏" panose="02010800040101010101" pitchFamily="2" charset="-122"/>
              </a:rPr>
              <a:t>寄存器位数为</a:t>
            </a:r>
            <a:r>
              <a:rPr lang="en-US" altLang="zh-CN" sz="2800" dirty="0">
                <a:latin typeface="华文新魏" panose="02010800040101010101" pitchFamily="2" charset="-122"/>
                <a:ea typeface="华文新魏" panose="02010800040101010101" pitchFamily="2" charset="-122"/>
              </a:rPr>
              <a:t>8</a:t>
            </a:r>
            <a:r>
              <a:rPr lang="zh-CN" altLang="zh-CN" sz="2800" dirty="0">
                <a:latin typeface="华文新魏" panose="02010800040101010101" pitchFamily="2" charset="-122"/>
                <a:ea typeface="华文新魏" panose="02010800040101010101" pitchFamily="2" charset="-122"/>
              </a:rPr>
              <a:t>位，机器数采用补码形式（含一位符号位）。对应于十进制数 </a:t>
            </a:r>
            <a:r>
              <a:rPr lang="en-US" altLang="zh-CN" sz="2800" dirty="0">
                <a:latin typeface="华文新魏" panose="02010800040101010101" pitchFamily="2" charset="-122"/>
                <a:ea typeface="华文新魏" panose="02010800040101010101" pitchFamily="2" charset="-122"/>
              </a:rPr>
              <a:t>-27</a:t>
            </a:r>
            <a:r>
              <a:rPr lang="zh-CN" altLang="zh-CN" sz="2800" dirty="0">
                <a:latin typeface="华文新魏" panose="02010800040101010101" pitchFamily="2" charset="-122"/>
                <a:ea typeface="华文新魏" panose="02010800040101010101" pitchFamily="2" charset="-122"/>
              </a:rPr>
              <a:t>，寄存器内为</a:t>
            </a:r>
            <a:r>
              <a:rPr lang="en-US" altLang="zh-CN" sz="2800" dirty="0">
                <a:latin typeface="华文新魏" panose="02010800040101010101" pitchFamily="2" charset="-122"/>
                <a:ea typeface="华文新魏" panose="02010800040101010101" pitchFamily="2" charset="-122"/>
              </a:rPr>
              <a:t>_____</a:t>
            </a:r>
            <a:r>
              <a:rPr lang="zh-CN" altLang="zh-CN" sz="2800" dirty="0">
                <a:latin typeface="华文新魏" panose="02010800040101010101" pitchFamily="2" charset="-122"/>
                <a:ea typeface="华文新魏" panose="02010800040101010101" pitchFamily="2" charset="-122"/>
              </a:rPr>
              <a:t>。</a:t>
            </a:r>
          </a:p>
          <a:p>
            <a:pPr>
              <a:spcBef>
                <a:spcPts val="600"/>
              </a:spcBef>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27H       </a:t>
            </a:r>
            <a:r>
              <a:rPr lang="en-US" altLang="zh-CN" sz="2800" dirty="0" smtClean="0">
                <a:latin typeface="华文新魏" panose="02010800040101010101" pitchFamily="2" charset="-122"/>
                <a:ea typeface="华文新魏" panose="02010800040101010101" pitchFamily="2" charset="-122"/>
              </a:rPr>
              <a:t>B</a:t>
            </a:r>
            <a:r>
              <a:rPr lang="en-US" altLang="zh-CN" sz="2800" dirty="0">
                <a:latin typeface="华文新魏" panose="02010800040101010101" pitchFamily="2" charset="-122"/>
                <a:ea typeface="华文新魏" panose="02010800040101010101" pitchFamily="2" charset="-122"/>
              </a:rPr>
              <a:t>. 9BH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C. E5H       </a:t>
            </a:r>
            <a:r>
              <a:rPr lang="en-US" altLang="zh-CN" sz="2800" dirty="0" smtClean="0">
                <a:latin typeface="华文新魏" panose="02010800040101010101" pitchFamily="2" charset="-122"/>
                <a:ea typeface="华文新魏" panose="02010800040101010101" pitchFamily="2" charset="-122"/>
              </a:rPr>
              <a:t>D</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5AH</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730176" y="239511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043742" y="3969181"/>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4119942" y="555329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60870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07950" y="44450"/>
            <a:ext cx="8640763" cy="6740525"/>
          </a:xfrm>
          <a:prstGeom prst="rect">
            <a:avLst/>
          </a:prstGeom>
          <a:noFill/>
          <a:ln>
            <a:noFill/>
          </a:ln>
          <a:effectLst/>
          <a:extLst/>
        </p:spPr>
        <p:txBody>
          <a:bodyPr anchor="ctr">
            <a:spAutoFit/>
          </a:bodyPr>
          <a:lstStyle/>
          <a:p>
            <a:pPr eaLnBrk="0" hangingPunct="0">
              <a:lnSpc>
                <a:spcPct val="150000"/>
              </a:lnSpc>
              <a:defRPr/>
            </a:pPr>
            <a:r>
              <a:rPr lang="zh-CN" dirty="0">
                <a:solidFill>
                  <a:srgbClr val="000000"/>
                </a:solidFill>
                <a:latin typeface="Arial" pitchFamily="34" charset="0"/>
              </a:rPr>
              <a:t>　　</a:t>
            </a:r>
            <a:r>
              <a:rPr lang="en-US" altLang="zh-CN" sz="2400" dirty="0">
                <a:solidFill>
                  <a:srgbClr val="FF0000"/>
                </a:solidFill>
                <a:latin typeface="黑体" pitchFamily="2" charset="-122"/>
                <a:ea typeface="黑体" pitchFamily="2" charset="-122"/>
              </a:rPr>
              <a:t>4.</a:t>
            </a:r>
            <a:r>
              <a:rPr lang="zh-CN" altLang="en-US" sz="2400" dirty="0">
                <a:solidFill>
                  <a:srgbClr val="FF0000"/>
                </a:solidFill>
                <a:latin typeface="黑体" pitchFamily="2" charset="-122"/>
                <a:ea typeface="黑体" pitchFamily="2" charset="-122"/>
              </a:rPr>
              <a:t>移码表示法</a:t>
            </a:r>
          </a:p>
          <a:p>
            <a:pPr eaLnBrk="0" hangingPunct="0">
              <a:lnSpc>
                <a:spcPct val="150000"/>
              </a:lnSpc>
              <a:defRPr/>
            </a:pPr>
            <a:r>
              <a:rPr lang="en-US" altLang="zh-CN" sz="2400" dirty="0">
                <a:solidFill>
                  <a:srgbClr val="000000"/>
                </a:solidFill>
                <a:latin typeface="黑体" pitchFamily="2" charset="-122"/>
                <a:ea typeface="黑体" pitchFamily="2" charset="-122"/>
              </a:rPr>
              <a:t>    </a:t>
            </a:r>
            <a:r>
              <a:rPr lang="zh-CN" sz="2400" dirty="0">
                <a:solidFill>
                  <a:srgbClr val="000000"/>
                </a:solidFill>
                <a:latin typeface="黑体" pitchFamily="2" charset="-122"/>
                <a:ea typeface="黑体" pitchFamily="2" charset="-122"/>
              </a:rPr>
              <a:t>移码常用于表示浮点数的阶码。</a:t>
            </a:r>
            <a:endParaRPr lang="en-US" altLang="zh-CN" sz="2400" dirty="0">
              <a:solidFill>
                <a:srgbClr val="000000"/>
              </a:solidFill>
              <a:latin typeface="黑体" pitchFamily="2" charset="-122"/>
              <a:ea typeface="黑体" pitchFamily="2" charset="-122"/>
            </a:endParaRPr>
          </a:p>
          <a:p>
            <a:pPr eaLnBrk="0" hangingPunct="0">
              <a:lnSpc>
                <a:spcPct val="150000"/>
              </a:lnSpc>
              <a:defRPr/>
            </a:pPr>
            <a:r>
              <a:rPr lang="en-US" altLang="zh-CN" sz="2400" dirty="0">
                <a:solidFill>
                  <a:srgbClr val="000000"/>
                </a:solidFill>
                <a:latin typeface="黑体" pitchFamily="2" charset="-122"/>
                <a:ea typeface="黑体" pitchFamily="2" charset="-122"/>
              </a:rPr>
              <a:t>    </a:t>
            </a:r>
            <a:r>
              <a:rPr lang="zh-CN" sz="2400" dirty="0">
                <a:solidFill>
                  <a:srgbClr val="000000"/>
                </a:solidFill>
                <a:latin typeface="黑体" pitchFamily="2" charset="-122"/>
                <a:ea typeface="黑体" pitchFamily="2" charset="-122"/>
              </a:rPr>
              <a:t>由于阶码是个</a:t>
            </a:r>
            <a:r>
              <a:rPr lang="en-US" altLang="zh-CN" sz="2400" i="1" dirty="0">
                <a:solidFill>
                  <a:srgbClr val="000000"/>
                </a:solidFill>
                <a:latin typeface="黑体" pitchFamily="2" charset="-122"/>
                <a:ea typeface="黑体" pitchFamily="2" charset="-122"/>
              </a:rPr>
              <a:t>k</a:t>
            </a:r>
            <a:r>
              <a:rPr lang="zh-CN" sz="2400" dirty="0">
                <a:solidFill>
                  <a:srgbClr val="000000"/>
                </a:solidFill>
                <a:latin typeface="黑体" pitchFamily="2" charset="-122"/>
                <a:ea typeface="黑体" pitchFamily="2" charset="-122"/>
              </a:rPr>
              <a:t>位的整数，假定定点整数移码形式为</a:t>
            </a:r>
            <a:endParaRPr lang="en-US" altLang="zh-CN" sz="2400" dirty="0">
              <a:solidFill>
                <a:srgbClr val="000000"/>
              </a:solidFill>
              <a:latin typeface="黑体" pitchFamily="2" charset="-122"/>
              <a:ea typeface="黑体" pitchFamily="2" charset="-122"/>
            </a:endParaRPr>
          </a:p>
          <a:p>
            <a:pPr eaLnBrk="0" hangingPunct="0">
              <a:lnSpc>
                <a:spcPct val="150000"/>
              </a:lnSpc>
              <a:defRPr/>
            </a:pPr>
            <a:r>
              <a:rPr lang="zh-CN" sz="2400" dirty="0">
                <a:solidFill>
                  <a:srgbClr val="000000"/>
                </a:solidFill>
                <a:latin typeface="黑体" pitchFamily="2" charset="-122"/>
                <a:ea typeface="黑体" pitchFamily="2" charset="-122"/>
              </a:rPr>
              <a:t> </a:t>
            </a:r>
            <a:r>
              <a:rPr lang="en-US" altLang="zh-CN" sz="2400" i="1" dirty="0">
                <a:solidFill>
                  <a:srgbClr val="000000"/>
                </a:solidFill>
                <a:latin typeface="黑体" pitchFamily="2" charset="-122"/>
                <a:ea typeface="黑体" pitchFamily="2" charset="-122"/>
              </a:rPr>
              <a:t>e</a:t>
            </a:r>
            <a:r>
              <a:rPr lang="en-US" altLang="zh-CN" sz="2400" i="1" baseline="-25000" dirty="0">
                <a:solidFill>
                  <a:srgbClr val="000000"/>
                </a:solidFill>
                <a:latin typeface="黑体" pitchFamily="2" charset="-122"/>
                <a:ea typeface="黑体" pitchFamily="2" charset="-122"/>
              </a:rPr>
              <a:t>k</a:t>
            </a:r>
            <a:r>
              <a:rPr lang="en-US" altLang="zh-CN" sz="2400" i="1" dirty="0">
                <a:solidFill>
                  <a:srgbClr val="000000"/>
                </a:solidFill>
                <a:latin typeface="黑体" pitchFamily="2" charset="-122"/>
                <a:ea typeface="黑体" pitchFamily="2" charset="-122"/>
              </a:rPr>
              <a:t>e</a:t>
            </a:r>
            <a:r>
              <a:rPr lang="en-US" altLang="zh-CN" sz="2400" i="1" baseline="-25000" dirty="0">
                <a:solidFill>
                  <a:srgbClr val="000000"/>
                </a:solidFill>
                <a:latin typeface="黑体" pitchFamily="2" charset="-122"/>
                <a:ea typeface="黑体" pitchFamily="2" charset="-122"/>
              </a:rPr>
              <a:t>k-1</a:t>
            </a:r>
            <a:r>
              <a:rPr lang="en-US" altLang="zh-CN" sz="2400" i="1" dirty="0">
                <a:solidFill>
                  <a:srgbClr val="000000"/>
                </a:solidFill>
                <a:latin typeface="黑体" pitchFamily="2" charset="-122"/>
                <a:ea typeface="黑体" pitchFamily="2" charset="-122"/>
              </a:rPr>
              <a:t>e</a:t>
            </a:r>
            <a:r>
              <a:rPr lang="en-US" altLang="zh-CN" sz="2400" i="1" baseline="-25000" dirty="0">
                <a:solidFill>
                  <a:srgbClr val="000000"/>
                </a:solidFill>
                <a:latin typeface="黑体" pitchFamily="2" charset="-122"/>
                <a:ea typeface="黑体" pitchFamily="2" charset="-122"/>
              </a:rPr>
              <a:t>k-2</a:t>
            </a:r>
            <a:r>
              <a:rPr lang="zh-CN" altLang="zh-CN" sz="2400" i="1" dirty="0">
                <a:solidFill>
                  <a:srgbClr val="000000"/>
                </a:solidFill>
                <a:latin typeface="黑体" pitchFamily="2" charset="-122"/>
                <a:ea typeface="黑体" pitchFamily="2" charset="-122"/>
              </a:rPr>
              <a:t>…</a:t>
            </a:r>
            <a:r>
              <a:rPr lang="en-US" altLang="zh-CN" sz="2400" i="1" dirty="0">
                <a:solidFill>
                  <a:srgbClr val="000000"/>
                </a:solidFill>
                <a:latin typeface="黑体" pitchFamily="2" charset="-122"/>
                <a:ea typeface="黑体" pitchFamily="2" charset="-122"/>
              </a:rPr>
              <a:t>e</a:t>
            </a:r>
            <a:r>
              <a:rPr lang="en-US" altLang="zh-CN" sz="2400" i="1" baseline="-25000" dirty="0">
                <a:solidFill>
                  <a:srgbClr val="000000"/>
                </a:solidFill>
                <a:latin typeface="黑体" pitchFamily="2" charset="-122"/>
                <a:ea typeface="黑体" pitchFamily="2" charset="-122"/>
              </a:rPr>
              <a:t>0</a:t>
            </a:r>
            <a:r>
              <a:rPr lang="zh-CN" altLang="zh-CN" sz="2400" i="1" dirty="0">
                <a:solidFill>
                  <a:srgbClr val="000000"/>
                </a:solidFill>
                <a:latin typeface="黑体" pitchFamily="2" charset="-122"/>
                <a:ea typeface="黑体" pitchFamily="2" charset="-122"/>
              </a:rPr>
              <a:t> </a:t>
            </a:r>
            <a:r>
              <a:rPr lang="en-US" altLang="zh-CN" sz="2400" dirty="0">
                <a:solidFill>
                  <a:srgbClr val="000000"/>
                </a:solidFill>
                <a:latin typeface="黑体" pitchFamily="2" charset="-122"/>
                <a:ea typeface="黑体" pitchFamily="2" charset="-122"/>
              </a:rPr>
              <a:t>(</a:t>
            </a:r>
            <a:r>
              <a:rPr lang="zh-CN" altLang="en-US" sz="2400" dirty="0">
                <a:solidFill>
                  <a:srgbClr val="000000"/>
                </a:solidFill>
                <a:latin typeface="黑体" pitchFamily="2" charset="-122"/>
                <a:ea typeface="黑体" pitchFamily="2" charset="-122"/>
              </a:rPr>
              <a:t>最高位为符号位</a:t>
            </a:r>
            <a:r>
              <a:rPr lang="en-US" altLang="zh-CN" sz="2400" dirty="0">
                <a:solidFill>
                  <a:srgbClr val="000000"/>
                </a:solidFill>
                <a:latin typeface="黑体" pitchFamily="2" charset="-122"/>
                <a:ea typeface="黑体" pitchFamily="2" charset="-122"/>
              </a:rPr>
              <a:t>)</a:t>
            </a:r>
            <a:r>
              <a:rPr lang="zh-CN" sz="2400" dirty="0">
                <a:solidFill>
                  <a:srgbClr val="000000"/>
                </a:solidFill>
                <a:latin typeface="黑体" pitchFamily="2" charset="-122"/>
                <a:ea typeface="黑体" pitchFamily="2" charset="-122"/>
              </a:rPr>
              <a:t>时，移码的传统定义是</a:t>
            </a:r>
            <a:endParaRPr lang="zh-CN" sz="2400" dirty="0">
              <a:latin typeface="黑体" pitchFamily="2" charset="-122"/>
              <a:ea typeface="黑体" pitchFamily="2" charset="-122"/>
            </a:endParaRPr>
          </a:p>
          <a:p>
            <a:pPr eaLnBrk="0" hangingPunct="0">
              <a:lnSpc>
                <a:spcPct val="150000"/>
              </a:lnSpc>
              <a:defRPr/>
            </a:pPr>
            <a:r>
              <a:rPr lang="zh-CN" sz="2400" dirty="0">
                <a:solidFill>
                  <a:srgbClr val="000000"/>
                </a:solidFill>
                <a:latin typeface="黑体" pitchFamily="2" charset="-122"/>
                <a:ea typeface="黑体" pitchFamily="2" charset="-122"/>
              </a:rPr>
              <a:t> </a:t>
            </a:r>
            <a:r>
              <a:rPr lang="en-US" altLang="zh-CN" sz="2400" dirty="0">
                <a:solidFill>
                  <a:srgbClr val="000000"/>
                </a:solidFill>
                <a:latin typeface="黑体" pitchFamily="2" charset="-122"/>
                <a:ea typeface="黑体" pitchFamily="2" charset="-122"/>
              </a:rPr>
              <a:t>   </a:t>
            </a:r>
            <a:r>
              <a:rPr lang="pt-BR" altLang="zh-CN" sz="2400" dirty="0">
                <a:solidFill>
                  <a:schemeClr val="tx2">
                    <a:lumMod val="60000"/>
                    <a:lumOff val="40000"/>
                  </a:schemeClr>
                </a:solidFill>
                <a:latin typeface="黑体" pitchFamily="2" charset="-122"/>
                <a:ea typeface="黑体" pitchFamily="2" charset="-122"/>
              </a:rPr>
              <a:t>[</a:t>
            </a:r>
            <a:r>
              <a:rPr lang="en-US" altLang="zh-CN" sz="2400" i="1" dirty="0">
                <a:solidFill>
                  <a:schemeClr val="tx2">
                    <a:lumMod val="60000"/>
                    <a:lumOff val="40000"/>
                  </a:schemeClr>
                </a:solidFill>
                <a:latin typeface="黑体" pitchFamily="2" charset="-122"/>
                <a:ea typeface="黑体" pitchFamily="2" charset="-122"/>
              </a:rPr>
              <a:t>e</a:t>
            </a:r>
            <a:r>
              <a:rPr lang="pt-BR" altLang="zh-CN" sz="2400" dirty="0">
                <a:solidFill>
                  <a:schemeClr val="tx2">
                    <a:lumMod val="60000"/>
                    <a:lumOff val="40000"/>
                  </a:schemeClr>
                </a:solidFill>
                <a:latin typeface="黑体" pitchFamily="2" charset="-122"/>
                <a:ea typeface="黑体" pitchFamily="2" charset="-122"/>
              </a:rPr>
              <a:t>]</a:t>
            </a:r>
            <a:r>
              <a:rPr lang="zh-CN" altLang="pt-BR" sz="2400" baseline="-25000" dirty="0">
                <a:solidFill>
                  <a:schemeClr val="tx2">
                    <a:lumMod val="60000"/>
                    <a:lumOff val="40000"/>
                  </a:schemeClr>
                </a:solidFill>
                <a:latin typeface="黑体" pitchFamily="2" charset="-122"/>
                <a:ea typeface="黑体" pitchFamily="2" charset="-122"/>
              </a:rPr>
              <a:t>移</a:t>
            </a:r>
            <a:r>
              <a:rPr lang="zh-CN" altLang="pt-BR" sz="2400" dirty="0">
                <a:solidFill>
                  <a:schemeClr val="tx2">
                    <a:lumMod val="60000"/>
                    <a:lumOff val="40000"/>
                  </a:schemeClr>
                </a:solidFill>
                <a:latin typeface="黑体" pitchFamily="2" charset="-122"/>
                <a:ea typeface="黑体" pitchFamily="2" charset="-122"/>
              </a:rPr>
              <a:t>＝</a:t>
            </a:r>
            <a:r>
              <a:rPr lang="pt-BR" altLang="zh-CN" sz="2400" dirty="0">
                <a:solidFill>
                  <a:schemeClr val="tx2">
                    <a:lumMod val="60000"/>
                    <a:lumOff val="40000"/>
                  </a:schemeClr>
                </a:solidFill>
                <a:latin typeface="黑体" pitchFamily="2" charset="-122"/>
                <a:ea typeface="黑体" pitchFamily="2" charset="-122"/>
              </a:rPr>
              <a:t>2</a:t>
            </a:r>
            <a:r>
              <a:rPr lang="pt-BR" altLang="zh-CN" sz="2400" i="1" baseline="30000" dirty="0">
                <a:solidFill>
                  <a:schemeClr val="tx2">
                    <a:lumMod val="60000"/>
                    <a:lumOff val="40000"/>
                  </a:schemeClr>
                </a:solidFill>
                <a:latin typeface="黑体" pitchFamily="2" charset="-122"/>
                <a:ea typeface="黑体" pitchFamily="2" charset="-122"/>
              </a:rPr>
              <a:t>k</a:t>
            </a:r>
            <a:r>
              <a:rPr lang="zh-CN" altLang="pt-BR" sz="2400" dirty="0">
                <a:solidFill>
                  <a:schemeClr val="tx2">
                    <a:lumMod val="60000"/>
                    <a:lumOff val="40000"/>
                  </a:schemeClr>
                </a:solidFill>
                <a:latin typeface="黑体" pitchFamily="2" charset="-122"/>
                <a:ea typeface="黑体" pitchFamily="2" charset="-122"/>
              </a:rPr>
              <a:t>＋</a:t>
            </a:r>
            <a:r>
              <a:rPr lang="en-US" altLang="zh-CN" sz="2400" i="1" dirty="0">
                <a:solidFill>
                  <a:schemeClr val="tx2">
                    <a:lumMod val="60000"/>
                    <a:lumOff val="40000"/>
                  </a:schemeClr>
                </a:solidFill>
                <a:latin typeface="黑体" pitchFamily="2" charset="-122"/>
                <a:ea typeface="黑体" pitchFamily="2" charset="-122"/>
              </a:rPr>
              <a:t>e</a:t>
            </a:r>
            <a:r>
              <a:rPr lang="zh-CN" altLang="pt-BR" sz="2400" dirty="0">
                <a:solidFill>
                  <a:schemeClr val="tx2">
                    <a:lumMod val="60000"/>
                    <a:lumOff val="40000"/>
                  </a:schemeClr>
                </a:solidFill>
                <a:latin typeface="黑体" pitchFamily="2" charset="-122"/>
                <a:ea typeface="黑体" pitchFamily="2" charset="-122"/>
              </a:rPr>
              <a:t>　　</a:t>
            </a:r>
            <a:r>
              <a:rPr lang="pt-BR" altLang="zh-CN" sz="2400" dirty="0">
                <a:solidFill>
                  <a:schemeClr val="tx2">
                    <a:lumMod val="60000"/>
                    <a:lumOff val="40000"/>
                  </a:schemeClr>
                </a:solidFill>
                <a:latin typeface="黑体" pitchFamily="2" charset="-122"/>
                <a:ea typeface="黑体" pitchFamily="2" charset="-122"/>
              </a:rPr>
              <a:t>2</a:t>
            </a:r>
            <a:r>
              <a:rPr lang="pt-BR" altLang="zh-CN" sz="2400" i="1" baseline="30000" dirty="0">
                <a:solidFill>
                  <a:schemeClr val="tx2">
                    <a:lumMod val="60000"/>
                    <a:lumOff val="40000"/>
                  </a:schemeClr>
                </a:solidFill>
                <a:latin typeface="黑体" pitchFamily="2" charset="-122"/>
                <a:ea typeface="黑体" pitchFamily="2" charset="-122"/>
              </a:rPr>
              <a:t>k</a:t>
            </a:r>
            <a:r>
              <a:rPr lang="pt-BR" altLang="zh-CN" sz="2400" baseline="30000" dirty="0">
                <a:solidFill>
                  <a:schemeClr val="tx2">
                    <a:lumMod val="60000"/>
                    <a:lumOff val="40000"/>
                  </a:schemeClr>
                </a:solidFill>
                <a:latin typeface="黑体" pitchFamily="2" charset="-122"/>
                <a:ea typeface="黑体" pitchFamily="2" charset="-122"/>
              </a:rPr>
              <a:t> </a:t>
            </a:r>
            <a:r>
              <a:rPr lang="zh-CN" altLang="en-US" sz="2400" dirty="0">
                <a:solidFill>
                  <a:schemeClr val="tx2">
                    <a:lumMod val="60000"/>
                    <a:lumOff val="40000"/>
                  </a:schemeClr>
                </a:solidFill>
                <a:latin typeface="黑体" pitchFamily="2" charset="-122"/>
                <a:ea typeface="黑体" pitchFamily="2" charset="-122"/>
              </a:rPr>
              <a:t>＞</a:t>
            </a:r>
            <a:r>
              <a:rPr lang="en-US" altLang="zh-CN" sz="2400" i="1" dirty="0">
                <a:solidFill>
                  <a:schemeClr val="tx2">
                    <a:lumMod val="60000"/>
                    <a:lumOff val="40000"/>
                  </a:schemeClr>
                </a:solidFill>
                <a:latin typeface="黑体" pitchFamily="2" charset="-122"/>
                <a:ea typeface="黑体" pitchFamily="2" charset="-122"/>
              </a:rPr>
              <a:t>e</a:t>
            </a:r>
            <a:r>
              <a:rPr lang="zh-CN" altLang="en-US" sz="2400" dirty="0">
                <a:solidFill>
                  <a:schemeClr val="tx2">
                    <a:lumMod val="60000"/>
                    <a:lumOff val="40000"/>
                  </a:schemeClr>
                </a:solidFill>
                <a:latin typeface="黑体" pitchFamily="2" charset="-122"/>
                <a:ea typeface="黑体" pitchFamily="2" charset="-122"/>
              </a:rPr>
              <a:t>≥</a:t>
            </a:r>
            <a:r>
              <a:rPr lang="pt-BR" altLang="zh-CN" sz="2400" dirty="0">
                <a:solidFill>
                  <a:schemeClr val="tx2">
                    <a:lumMod val="60000"/>
                    <a:lumOff val="40000"/>
                  </a:schemeClr>
                </a:solidFill>
                <a:latin typeface="黑体" pitchFamily="2" charset="-122"/>
                <a:ea typeface="黑体" pitchFamily="2" charset="-122"/>
              </a:rPr>
              <a:t> -2</a:t>
            </a:r>
            <a:r>
              <a:rPr lang="pt-BR" altLang="zh-CN" sz="2400" i="1" baseline="30000" dirty="0">
                <a:solidFill>
                  <a:schemeClr val="tx2">
                    <a:lumMod val="60000"/>
                    <a:lumOff val="40000"/>
                  </a:schemeClr>
                </a:solidFill>
                <a:latin typeface="黑体" pitchFamily="2" charset="-122"/>
                <a:ea typeface="黑体" pitchFamily="2" charset="-122"/>
              </a:rPr>
              <a:t>k</a:t>
            </a:r>
            <a:endParaRPr lang="zh-CN" sz="2400" dirty="0">
              <a:solidFill>
                <a:schemeClr val="tx2">
                  <a:lumMod val="60000"/>
                  <a:lumOff val="40000"/>
                </a:schemeClr>
              </a:solidFill>
              <a:latin typeface="黑体" pitchFamily="2" charset="-122"/>
              <a:ea typeface="黑体" pitchFamily="2" charset="-122"/>
            </a:endParaRPr>
          </a:p>
          <a:p>
            <a:pPr eaLnBrk="0" hangingPunct="0">
              <a:lnSpc>
                <a:spcPct val="150000"/>
              </a:lnSpc>
              <a:defRPr/>
            </a:pPr>
            <a:r>
              <a:rPr lang="zh-CN" sz="2400" dirty="0">
                <a:solidFill>
                  <a:srgbClr val="000000"/>
                </a:solidFill>
                <a:latin typeface="黑体" pitchFamily="2" charset="-122"/>
                <a:ea typeface="黑体" pitchFamily="2" charset="-122"/>
              </a:rPr>
              <a:t>　</a:t>
            </a:r>
            <a:r>
              <a:rPr lang="en-US" altLang="zh-CN" sz="2400" dirty="0">
                <a:solidFill>
                  <a:srgbClr val="000000"/>
                </a:solidFill>
                <a:latin typeface="黑体" pitchFamily="2" charset="-122"/>
                <a:ea typeface="黑体" pitchFamily="2" charset="-122"/>
              </a:rPr>
              <a:t>  </a:t>
            </a:r>
            <a:r>
              <a:rPr lang="zh-CN" sz="2400" dirty="0">
                <a:solidFill>
                  <a:srgbClr val="000000"/>
                </a:solidFill>
                <a:latin typeface="黑体" pitchFamily="2" charset="-122"/>
                <a:ea typeface="黑体" pitchFamily="2" charset="-122"/>
              </a:rPr>
              <a:t>若阶码数值部分为</a:t>
            </a:r>
            <a:r>
              <a:rPr lang="en-US" altLang="zh-CN" sz="2400" dirty="0">
                <a:solidFill>
                  <a:srgbClr val="000000"/>
                </a:solidFill>
                <a:latin typeface="黑体" pitchFamily="2" charset="-122"/>
                <a:ea typeface="黑体" pitchFamily="2" charset="-122"/>
              </a:rPr>
              <a:t>5</a:t>
            </a:r>
            <a:r>
              <a:rPr lang="zh-CN" altLang="en-US" sz="2400" dirty="0">
                <a:solidFill>
                  <a:srgbClr val="000000"/>
                </a:solidFill>
                <a:latin typeface="黑体" pitchFamily="2" charset="-122"/>
                <a:ea typeface="黑体" pitchFamily="2" charset="-122"/>
              </a:rPr>
              <a:t>位</a:t>
            </a:r>
            <a:r>
              <a:rPr lang="en-US" altLang="zh-CN" sz="2400" dirty="0">
                <a:solidFill>
                  <a:srgbClr val="000000"/>
                </a:solidFill>
                <a:latin typeface="黑体" pitchFamily="2" charset="-122"/>
                <a:ea typeface="黑体" pitchFamily="2" charset="-122"/>
              </a:rPr>
              <a:t>,</a:t>
            </a:r>
            <a:r>
              <a:rPr lang="zh-CN" altLang="en-US" sz="2400" dirty="0">
                <a:solidFill>
                  <a:srgbClr val="000000"/>
                </a:solidFill>
                <a:latin typeface="黑体" pitchFamily="2" charset="-122"/>
                <a:ea typeface="黑体" pitchFamily="2" charset="-122"/>
              </a:rPr>
              <a:t>以</a:t>
            </a:r>
            <a:r>
              <a:rPr lang="en-US" altLang="zh-CN" sz="2400" i="1" dirty="0">
                <a:solidFill>
                  <a:srgbClr val="000000"/>
                </a:solidFill>
                <a:latin typeface="黑体" pitchFamily="2" charset="-122"/>
                <a:ea typeface="黑体" pitchFamily="2" charset="-122"/>
              </a:rPr>
              <a:t>e</a:t>
            </a:r>
            <a:r>
              <a:rPr lang="zh-CN" altLang="en-US" sz="2400" dirty="0">
                <a:solidFill>
                  <a:srgbClr val="000000"/>
                </a:solidFill>
                <a:latin typeface="黑体" pitchFamily="2" charset="-122"/>
                <a:ea typeface="黑体" pitchFamily="2" charset="-122"/>
              </a:rPr>
              <a:t>表示真值</a:t>
            </a:r>
            <a:r>
              <a:rPr lang="en-US" altLang="zh-CN" sz="2400" dirty="0">
                <a:solidFill>
                  <a:srgbClr val="000000"/>
                </a:solidFill>
                <a:latin typeface="黑体" pitchFamily="2" charset="-122"/>
                <a:ea typeface="黑体" pitchFamily="2" charset="-122"/>
              </a:rPr>
              <a:t>,</a:t>
            </a:r>
            <a:r>
              <a:rPr lang="zh-CN" altLang="en-US" sz="2400" dirty="0">
                <a:solidFill>
                  <a:srgbClr val="000000"/>
                </a:solidFill>
                <a:latin typeface="黑体" pitchFamily="2" charset="-122"/>
                <a:ea typeface="黑体" pitchFamily="2" charset="-122"/>
              </a:rPr>
              <a:t>则</a:t>
            </a:r>
            <a:endParaRPr lang="zh-CN" altLang="en-US" sz="2400" dirty="0">
              <a:latin typeface="黑体" pitchFamily="2" charset="-122"/>
              <a:ea typeface="黑体" pitchFamily="2" charset="-122"/>
            </a:endParaRPr>
          </a:p>
          <a:p>
            <a:pPr eaLnBrk="0" hangingPunct="0">
              <a:lnSpc>
                <a:spcPct val="150000"/>
              </a:lnSpc>
              <a:defRPr/>
            </a:pPr>
            <a:r>
              <a:rPr lang="zh-CN" altLang="en-US" sz="2400" dirty="0">
                <a:latin typeface="黑体" pitchFamily="2" charset="-122"/>
                <a:ea typeface="黑体" pitchFamily="2" charset="-122"/>
              </a:rPr>
              <a:t> </a:t>
            </a:r>
            <a:r>
              <a:rPr lang="zh-CN" altLang="en-US" sz="2400" dirty="0">
                <a:solidFill>
                  <a:srgbClr val="0000FF"/>
                </a:solidFill>
                <a:latin typeface="黑体" pitchFamily="2" charset="-122"/>
                <a:ea typeface="黑体" pitchFamily="2" charset="-122"/>
              </a:rPr>
              <a:t>　 </a:t>
            </a:r>
            <a:r>
              <a:rPr lang="en-US" altLang="zh-CN" sz="2400" dirty="0">
                <a:solidFill>
                  <a:schemeClr val="tx2">
                    <a:lumMod val="60000"/>
                    <a:lumOff val="40000"/>
                  </a:schemeClr>
                </a:solidFill>
                <a:latin typeface="黑体" pitchFamily="2" charset="-122"/>
                <a:ea typeface="黑体" pitchFamily="2" charset="-122"/>
              </a:rPr>
              <a:t>[</a:t>
            </a:r>
            <a:r>
              <a:rPr lang="en-US" altLang="zh-CN" sz="2400" i="1" dirty="0">
                <a:solidFill>
                  <a:schemeClr val="tx2">
                    <a:lumMod val="60000"/>
                    <a:lumOff val="40000"/>
                  </a:schemeClr>
                </a:solidFill>
                <a:latin typeface="黑体" pitchFamily="2" charset="-122"/>
                <a:ea typeface="黑体" pitchFamily="2" charset="-122"/>
              </a:rPr>
              <a:t>e</a:t>
            </a:r>
            <a:r>
              <a:rPr lang="en-US" altLang="zh-CN" sz="2400" dirty="0">
                <a:solidFill>
                  <a:schemeClr val="tx2">
                    <a:lumMod val="60000"/>
                    <a:lumOff val="40000"/>
                  </a:schemeClr>
                </a:solidFill>
                <a:latin typeface="黑体" pitchFamily="2" charset="-122"/>
                <a:ea typeface="黑体" pitchFamily="2" charset="-122"/>
              </a:rPr>
              <a:t>]</a:t>
            </a:r>
            <a:r>
              <a:rPr lang="zh-CN" altLang="en-US" sz="2400" baseline="-30000" dirty="0">
                <a:solidFill>
                  <a:schemeClr val="tx2">
                    <a:lumMod val="60000"/>
                    <a:lumOff val="40000"/>
                  </a:schemeClr>
                </a:solidFill>
                <a:latin typeface="黑体" pitchFamily="2" charset="-122"/>
                <a:ea typeface="黑体" pitchFamily="2" charset="-122"/>
              </a:rPr>
              <a:t>移</a:t>
            </a:r>
            <a:r>
              <a:rPr lang="zh-CN" altLang="en-US" sz="2400" dirty="0">
                <a:solidFill>
                  <a:schemeClr val="tx2">
                    <a:lumMod val="60000"/>
                    <a:lumOff val="40000"/>
                  </a:schemeClr>
                </a:solidFill>
                <a:latin typeface="黑体" pitchFamily="2" charset="-122"/>
                <a:ea typeface="黑体" pitchFamily="2" charset="-122"/>
              </a:rPr>
              <a:t>＝</a:t>
            </a:r>
            <a:r>
              <a:rPr lang="en-US" altLang="zh-CN" sz="2400" dirty="0">
                <a:solidFill>
                  <a:schemeClr val="tx2">
                    <a:lumMod val="60000"/>
                    <a:lumOff val="40000"/>
                  </a:schemeClr>
                </a:solidFill>
                <a:latin typeface="黑体" pitchFamily="2" charset="-122"/>
                <a:ea typeface="黑体" pitchFamily="2" charset="-122"/>
              </a:rPr>
              <a:t>2</a:t>
            </a:r>
            <a:r>
              <a:rPr lang="en-US" altLang="zh-CN" sz="2400" baseline="30000" dirty="0">
                <a:solidFill>
                  <a:schemeClr val="tx2">
                    <a:lumMod val="60000"/>
                    <a:lumOff val="40000"/>
                  </a:schemeClr>
                </a:solidFill>
                <a:latin typeface="黑体" pitchFamily="2" charset="-122"/>
                <a:ea typeface="黑体" pitchFamily="2" charset="-122"/>
              </a:rPr>
              <a:t>5</a:t>
            </a:r>
            <a:r>
              <a:rPr lang="zh-CN" altLang="en-US" sz="2400" dirty="0">
                <a:solidFill>
                  <a:schemeClr val="tx2">
                    <a:lumMod val="60000"/>
                    <a:lumOff val="40000"/>
                  </a:schemeClr>
                </a:solidFill>
                <a:latin typeface="黑体" pitchFamily="2" charset="-122"/>
                <a:ea typeface="黑体" pitchFamily="2" charset="-122"/>
              </a:rPr>
              <a:t>＋</a:t>
            </a:r>
            <a:r>
              <a:rPr lang="en-US" altLang="zh-CN" sz="2400" i="1" dirty="0">
                <a:solidFill>
                  <a:schemeClr val="tx2">
                    <a:lumMod val="60000"/>
                    <a:lumOff val="40000"/>
                  </a:schemeClr>
                </a:solidFill>
                <a:latin typeface="黑体" pitchFamily="2" charset="-122"/>
                <a:ea typeface="黑体" pitchFamily="2" charset="-122"/>
              </a:rPr>
              <a:t>e</a:t>
            </a:r>
            <a:r>
              <a:rPr lang="zh-CN" altLang="en-US" sz="2400" dirty="0">
                <a:solidFill>
                  <a:schemeClr val="tx2">
                    <a:lumMod val="60000"/>
                    <a:lumOff val="40000"/>
                  </a:schemeClr>
                </a:solidFill>
                <a:latin typeface="黑体" pitchFamily="2" charset="-122"/>
                <a:ea typeface="黑体" pitchFamily="2" charset="-122"/>
              </a:rPr>
              <a:t>    　　　</a:t>
            </a:r>
            <a:r>
              <a:rPr lang="en-US" altLang="zh-CN" sz="2400" dirty="0">
                <a:solidFill>
                  <a:schemeClr val="tx2">
                    <a:lumMod val="60000"/>
                    <a:lumOff val="40000"/>
                  </a:schemeClr>
                </a:solidFill>
                <a:latin typeface="黑体" pitchFamily="2" charset="-122"/>
                <a:ea typeface="黑体" pitchFamily="2" charset="-122"/>
              </a:rPr>
              <a:t>2</a:t>
            </a:r>
            <a:r>
              <a:rPr lang="en-US" altLang="zh-CN" sz="2400" baseline="30000" dirty="0">
                <a:solidFill>
                  <a:schemeClr val="tx2">
                    <a:lumMod val="60000"/>
                    <a:lumOff val="40000"/>
                  </a:schemeClr>
                </a:solidFill>
                <a:latin typeface="黑体" pitchFamily="2" charset="-122"/>
                <a:ea typeface="黑体" pitchFamily="2" charset="-122"/>
              </a:rPr>
              <a:t>5 </a:t>
            </a:r>
            <a:r>
              <a:rPr lang="zh-CN" altLang="en-US" sz="2400" dirty="0">
                <a:solidFill>
                  <a:schemeClr val="tx2">
                    <a:lumMod val="60000"/>
                    <a:lumOff val="40000"/>
                  </a:schemeClr>
                </a:solidFill>
                <a:latin typeface="黑体" pitchFamily="2" charset="-122"/>
                <a:ea typeface="黑体" pitchFamily="2" charset="-122"/>
              </a:rPr>
              <a:t>＞</a:t>
            </a:r>
            <a:r>
              <a:rPr lang="en-US" altLang="zh-CN" sz="2400" i="1" dirty="0">
                <a:solidFill>
                  <a:schemeClr val="tx2">
                    <a:lumMod val="60000"/>
                    <a:lumOff val="40000"/>
                  </a:schemeClr>
                </a:solidFill>
                <a:latin typeface="黑体" pitchFamily="2" charset="-122"/>
                <a:ea typeface="黑体" pitchFamily="2" charset="-122"/>
              </a:rPr>
              <a:t>e</a:t>
            </a:r>
            <a:r>
              <a:rPr lang="zh-CN" altLang="en-US" sz="2400" dirty="0">
                <a:solidFill>
                  <a:schemeClr val="tx2">
                    <a:lumMod val="60000"/>
                    <a:lumOff val="40000"/>
                  </a:schemeClr>
                </a:solidFill>
                <a:latin typeface="黑体" pitchFamily="2" charset="-122"/>
                <a:ea typeface="黑体" pitchFamily="2" charset="-122"/>
              </a:rPr>
              <a:t>≥－ </a:t>
            </a:r>
            <a:r>
              <a:rPr lang="en-US" altLang="zh-CN" sz="2400" dirty="0">
                <a:solidFill>
                  <a:schemeClr val="tx2">
                    <a:lumMod val="60000"/>
                    <a:lumOff val="40000"/>
                  </a:schemeClr>
                </a:solidFill>
                <a:latin typeface="黑体" pitchFamily="2" charset="-122"/>
                <a:ea typeface="黑体" pitchFamily="2" charset="-122"/>
              </a:rPr>
              <a:t>2</a:t>
            </a:r>
            <a:r>
              <a:rPr lang="en-US" altLang="zh-CN" sz="2400" baseline="30000" dirty="0">
                <a:solidFill>
                  <a:schemeClr val="tx2">
                    <a:lumMod val="60000"/>
                    <a:lumOff val="40000"/>
                  </a:schemeClr>
                </a:solidFill>
                <a:latin typeface="黑体" pitchFamily="2" charset="-122"/>
                <a:ea typeface="黑体" pitchFamily="2" charset="-122"/>
              </a:rPr>
              <a:t>5</a:t>
            </a:r>
            <a:endParaRPr lang="en-US" altLang="zh-CN" sz="2400" dirty="0">
              <a:solidFill>
                <a:schemeClr val="tx2">
                  <a:lumMod val="60000"/>
                  <a:lumOff val="40000"/>
                </a:schemeClr>
              </a:solidFill>
              <a:latin typeface="黑体" pitchFamily="2" charset="-122"/>
              <a:ea typeface="黑体" pitchFamily="2" charset="-122"/>
            </a:endParaRPr>
          </a:p>
          <a:p>
            <a:pPr eaLnBrk="0" hangingPunct="0">
              <a:lnSpc>
                <a:spcPct val="150000"/>
              </a:lnSpc>
              <a:defRPr/>
            </a:pPr>
            <a:r>
              <a:rPr lang="zh-CN" altLang="en-US" sz="2400" dirty="0">
                <a:solidFill>
                  <a:srgbClr val="000000"/>
                </a:solidFill>
                <a:latin typeface="黑体" pitchFamily="2" charset="-122"/>
                <a:ea typeface="黑体" pitchFamily="2" charset="-122"/>
              </a:rPr>
              <a:t>　  例如</a:t>
            </a:r>
            <a:r>
              <a:rPr lang="en-US" altLang="zh-CN" sz="2400" i="1" dirty="0">
                <a:solidFill>
                  <a:srgbClr val="000000"/>
                </a:solidFill>
                <a:latin typeface="黑体" pitchFamily="2" charset="-122"/>
                <a:ea typeface="黑体" pitchFamily="2" charset="-122"/>
              </a:rPr>
              <a:t>e</a:t>
            </a:r>
            <a:r>
              <a:rPr lang="zh-CN" altLang="en-US" sz="2400" dirty="0">
                <a:solidFill>
                  <a:srgbClr val="000000"/>
                </a:solidFill>
                <a:latin typeface="黑体" pitchFamily="2" charset="-122"/>
                <a:ea typeface="黑体" pitchFamily="2" charset="-122"/>
              </a:rPr>
              <a:t>＝＋</a:t>
            </a:r>
            <a:r>
              <a:rPr lang="en-US" altLang="zh-CN" sz="2400" dirty="0">
                <a:solidFill>
                  <a:srgbClr val="000000"/>
                </a:solidFill>
                <a:latin typeface="黑体" pitchFamily="2" charset="-122"/>
                <a:ea typeface="黑体" pitchFamily="2" charset="-122"/>
              </a:rPr>
              <a:t>10101 </a:t>
            </a:r>
            <a:r>
              <a:rPr lang="zh-CN" altLang="en-US" sz="2400" dirty="0">
                <a:solidFill>
                  <a:srgbClr val="000000"/>
                </a:solidFill>
                <a:latin typeface="黑体" pitchFamily="2" charset="-122"/>
                <a:ea typeface="黑体" pitchFamily="2" charset="-122"/>
              </a:rPr>
              <a:t>时</a:t>
            </a:r>
            <a:r>
              <a:rPr lang="en-US" altLang="zh-CN" sz="2400" dirty="0">
                <a:solidFill>
                  <a:srgbClr val="000000"/>
                </a:solidFill>
                <a:latin typeface="黑体" pitchFamily="2" charset="-122"/>
                <a:ea typeface="黑体" pitchFamily="2" charset="-122"/>
              </a:rPr>
              <a:t>,[</a:t>
            </a:r>
            <a:r>
              <a:rPr lang="en-US" altLang="zh-CN" sz="2400" i="1" dirty="0">
                <a:solidFill>
                  <a:srgbClr val="000000"/>
                </a:solidFill>
                <a:latin typeface="黑体" pitchFamily="2" charset="-122"/>
                <a:ea typeface="黑体" pitchFamily="2" charset="-122"/>
              </a:rPr>
              <a:t>e</a:t>
            </a:r>
            <a:r>
              <a:rPr lang="en-US" altLang="zh-CN" sz="2400" dirty="0">
                <a:solidFill>
                  <a:srgbClr val="000000"/>
                </a:solidFill>
                <a:latin typeface="黑体" pitchFamily="2" charset="-122"/>
                <a:ea typeface="黑体" pitchFamily="2" charset="-122"/>
              </a:rPr>
              <a:t>]</a:t>
            </a:r>
            <a:r>
              <a:rPr lang="zh-CN" altLang="en-US" sz="2400" baseline="-30000" dirty="0">
                <a:solidFill>
                  <a:srgbClr val="000000"/>
                </a:solidFill>
                <a:latin typeface="黑体" pitchFamily="2" charset="-122"/>
                <a:ea typeface="黑体" pitchFamily="2" charset="-122"/>
              </a:rPr>
              <a:t>移</a:t>
            </a:r>
            <a:r>
              <a:rPr lang="zh-CN" altLang="en-US" sz="2400" dirty="0">
                <a:solidFill>
                  <a:srgbClr val="000000"/>
                </a:solidFill>
                <a:latin typeface="黑体" pitchFamily="2" charset="-122"/>
                <a:ea typeface="黑体" pitchFamily="2" charset="-122"/>
              </a:rPr>
              <a:t>＝</a:t>
            </a:r>
            <a:r>
              <a:rPr lang="en-US" altLang="zh-CN" sz="2400" dirty="0">
                <a:solidFill>
                  <a:srgbClr val="000000"/>
                </a:solidFill>
                <a:latin typeface="黑体" pitchFamily="2" charset="-122"/>
                <a:ea typeface="黑体" pitchFamily="2" charset="-122"/>
              </a:rPr>
              <a:t>100000 + 10101 = 1</a:t>
            </a:r>
            <a:r>
              <a:rPr lang="zh-CN" altLang="en-US" sz="2400" dirty="0">
                <a:solidFill>
                  <a:srgbClr val="000000"/>
                </a:solidFill>
                <a:latin typeface="黑体" pitchFamily="2" charset="-122"/>
                <a:ea typeface="黑体" pitchFamily="2" charset="-122"/>
              </a:rPr>
              <a:t>，</a:t>
            </a:r>
            <a:r>
              <a:rPr lang="en-US" altLang="zh-CN" sz="2400" dirty="0">
                <a:solidFill>
                  <a:srgbClr val="000000"/>
                </a:solidFill>
                <a:latin typeface="黑体" pitchFamily="2" charset="-122"/>
                <a:ea typeface="黑体" pitchFamily="2" charset="-122"/>
              </a:rPr>
              <a:t>10101</a:t>
            </a:r>
            <a:endParaRPr lang="en-US" altLang="zh-CN" sz="2400" dirty="0">
              <a:latin typeface="黑体" pitchFamily="2" charset="-122"/>
              <a:ea typeface="黑体" pitchFamily="2" charset="-122"/>
            </a:endParaRPr>
          </a:p>
          <a:p>
            <a:pPr eaLnBrk="0" hangingPunct="0">
              <a:lnSpc>
                <a:spcPct val="150000"/>
              </a:lnSpc>
              <a:defRPr/>
            </a:pPr>
            <a:r>
              <a:rPr lang="en-US" altLang="zh-CN" sz="2400" i="1" dirty="0">
                <a:latin typeface="黑体" pitchFamily="2" charset="-122"/>
                <a:ea typeface="黑体" pitchFamily="2" charset="-122"/>
              </a:rPr>
              <a:t>    e</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10101</a:t>
            </a:r>
            <a:r>
              <a:rPr lang="zh-CN" altLang="en-US" sz="2400" dirty="0">
                <a:latin typeface="黑体" pitchFamily="2" charset="-122"/>
                <a:ea typeface="黑体" pitchFamily="2" charset="-122"/>
              </a:rPr>
              <a:t>时</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e</a:t>
            </a:r>
            <a:r>
              <a:rPr lang="en-US" altLang="zh-CN" sz="2400" dirty="0">
                <a:latin typeface="黑体" pitchFamily="2" charset="-122"/>
                <a:ea typeface="黑体" pitchFamily="2" charset="-122"/>
              </a:rPr>
              <a:t>]</a:t>
            </a:r>
            <a:r>
              <a:rPr lang="zh-CN" altLang="en-US" sz="2400" baseline="-30000" dirty="0">
                <a:latin typeface="黑体" pitchFamily="2" charset="-122"/>
                <a:ea typeface="黑体" pitchFamily="2" charset="-122"/>
              </a:rPr>
              <a:t>移</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2</a:t>
            </a:r>
            <a:r>
              <a:rPr lang="en-US" altLang="zh-CN" sz="2400" baseline="30000" dirty="0">
                <a:latin typeface="黑体" pitchFamily="2" charset="-122"/>
                <a:ea typeface="黑体" pitchFamily="2" charset="-122"/>
              </a:rPr>
              <a:t>5</a:t>
            </a:r>
            <a:r>
              <a:rPr lang="zh-CN" altLang="en-US" sz="2400" dirty="0">
                <a:latin typeface="黑体" pitchFamily="2" charset="-122"/>
                <a:ea typeface="黑体" pitchFamily="2" charset="-122"/>
              </a:rPr>
              <a:t>＋</a:t>
            </a:r>
            <a:r>
              <a:rPr lang="zh-CN" altLang="en-US" sz="2400" i="1" dirty="0">
                <a:latin typeface="黑体" pitchFamily="2" charset="-122"/>
                <a:ea typeface="黑体" pitchFamily="2" charset="-122"/>
              </a:rPr>
              <a:t>ｘ</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100000 - 10101</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01011</a:t>
            </a:r>
            <a:endParaRPr lang="zh-CN" altLang="en-US" sz="2400" dirty="0">
              <a:latin typeface="黑体" pitchFamily="2" charset="-122"/>
              <a:ea typeface="黑体" pitchFamily="2" charset="-122"/>
            </a:endParaRPr>
          </a:p>
          <a:p>
            <a:pPr eaLnBrk="0" hangingPunct="0">
              <a:lnSpc>
                <a:spcPct val="150000"/>
              </a:lnSpc>
              <a:defRPr/>
            </a:pPr>
            <a:r>
              <a:rPr lang="zh-CN" altLang="en-US" sz="2400" dirty="0">
                <a:latin typeface="黑体" pitchFamily="2" charset="-122"/>
                <a:ea typeface="黑体" pitchFamily="2" charset="-122"/>
              </a:rPr>
              <a:t>    移码中的逗号不是小数点，而是表示左边一位是符号位。显然，移码中符号位</a:t>
            </a:r>
            <a:r>
              <a:rPr lang="en-US" altLang="zh-CN" sz="2400" i="1" dirty="0" err="1">
                <a:solidFill>
                  <a:srgbClr val="000000"/>
                </a:solidFill>
                <a:latin typeface="黑体" pitchFamily="2" charset="-122"/>
                <a:ea typeface="黑体" pitchFamily="2" charset="-122"/>
              </a:rPr>
              <a:t>e</a:t>
            </a:r>
            <a:r>
              <a:rPr lang="en-US" altLang="zh-CN" sz="2400" i="1" baseline="-25000" dirty="0" err="1">
                <a:solidFill>
                  <a:srgbClr val="000000"/>
                </a:solidFill>
                <a:latin typeface="黑体" pitchFamily="2" charset="-122"/>
                <a:ea typeface="黑体" pitchFamily="2" charset="-122"/>
              </a:rPr>
              <a:t>k</a:t>
            </a:r>
            <a:r>
              <a:rPr lang="zh-CN" altLang="en-US" sz="2400" dirty="0">
                <a:latin typeface="黑体" pitchFamily="2" charset="-122"/>
                <a:ea typeface="黑体" pitchFamily="2" charset="-122"/>
              </a:rPr>
              <a:t>表示的规律与原码、补码、反码相反。</a:t>
            </a:r>
            <a:r>
              <a:rPr lang="en-US" altLang="zh-CN" sz="2400" dirty="0">
                <a:latin typeface="黑体" pitchFamily="2" charset="-122"/>
                <a:ea typeface="黑体" pitchFamily="2" charset="-122"/>
              </a:rPr>
              <a:t>1 </a:t>
            </a:r>
            <a:r>
              <a:rPr lang="zh-CN" altLang="en-US" sz="2400" dirty="0">
                <a:latin typeface="黑体" pitchFamily="2" charset="-122"/>
                <a:ea typeface="黑体" pitchFamily="2" charset="-122"/>
              </a:rPr>
              <a:t>正，</a:t>
            </a:r>
            <a:r>
              <a:rPr lang="en-US" altLang="zh-CN" sz="2400" dirty="0">
                <a:latin typeface="黑体" pitchFamily="2" charset="-122"/>
                <a:ea typeface="黑体" pitchFamily="2" charset="-122"/>
              </a:rPr>
              <a:t>0 </a:t>
            </a:r>
            <a:r>
              <a:rPr lang="zh-CN" altLang="en-US" sz="2400" dirty="0">
                <a:latin typeface="黑体" pitchFamily="2" charset="-122"/>
                <a:ea typeface="黑体" pitchFamily="2" charset="-122"/>
              </a:rPr>
              <a:t>负。</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
          <p:cNvSpPr>
            <a:spLocks noChangeArrowheads="1"/>
          </p:cNvSpPr>
          <p:nvPr/>
        </p:nvSpPr>
        <p:spPr bwMode="auto">
          <a:xfrm>
            <a:off x="290513" y="379413"/>
            <a:ext cx="8674100"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200000"/>
              </a:lnSpc>
            </a:pPr>
            <a:r>
              <a:rPr lang="en-US" altLang="zh-CN" sz="2800"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dirty="0">
                <a:latin typeface="黑体" pitchFamily="2" charset="-122"/>
                <a:ea typeface="黑体" pitchFamily="2" charset="-122"/>
              </a:rPr>
              <a:t>]</a:t>
            </a:r>
            <a:r>
              <a:rPr lang="zh-CN" altLang="en-US" sz="2800" baseline="-25000" dirty="0">
                <a:latin typeface="黑体" pitchFamily="2" charset="-122"/>
                <a:ea typeface="黑体" pitchFamily="2" charset="-122"/>
              </a:rPr>
              <a:t>补</a:t>
            </a:r>
            <a:r>
              <a:rPr lang="zh-CN" altLang="en-US" sz="2800" dirty="0">
                <a:latin typeface="黑体" pitchFamily="2" charset="-122"/>
                <a:ea typeface="黑体" pitchFamily="2" charset="-122"/>
              </a:rPr>
              <a:t> </a:t>
            </a:r>
            <a:r>
              <a:rPr lang="en-US" altLang="zh-CN" sz="2800" dirty="0">
                <a:latin typeface="黑体" pitchFamily="2" charset="-122"/>
                <a:ea typeface="黑体" pitchFamily="2" charset="-122"/>
              </a:rPr>
              <a:t>= </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n-1</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n-2</a:t>
            </a:r>
            <a:r>
              <a:rPr lang="en-US" altLang="zh-CN" sz="2800" i="1"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0</a:t>
            </a:r>
          </a:p>
          <a:p>
            <a:pPr>
              <a:lnSpc>
                <a:spcPct val="200000"/>
              </a:lnSpc>
            </a:pPr>
            <a:r>
              <a:rPr lang="zh-CN" altLang="en-US" sz="2800" dirty="0">
                <a:latin typeface="黑体" pitchFamily="2" charset="-122"/>
                <a:ea typeface="黑体" pitchFamily="2" charset="-122"/>
              </a:rPr>
              <a:t>正数 </a:t>
            </a:r>
            <a:r>
              <a:rPr lang="en-US" altLang="zh-CN" sz="2800"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dirty="0">
                <a:latin typeface="黑体" pitchFamily="2" charset="-122"/>
                <a:ea typeface="黑体" pitchFamily="2" charset="-122"/>
              </a:rPr>
              <a:t>]</a:t>
            </a:r>
            <a:r>
              <a:rPr lang="zh-CN" altLang="en-US" sz="2800" baseline="-25000" dirty="0">
                <a:latin typeface="黑体" pitchFamily="2" charset="-122"/>
                <a:ea typeface="黑体" pitchFamily="2" charset="-122"/>
              </a:rPr>
              <a:t>移</a:t>
            </a:r>
            <a:r>
              <a:rPr lang="zh-CN" altLang="en-US" sz="2800" dirty="0">
                <a:latin typeface="黑体" pitchFamily="2" charset="-122"/>
                <a:ea typeface="黑体" pitchFamily="2" charset="-122"/>
              </a:rPr>
              <a:t>＝ </a:t>
            </a:r>
            <a:r>
              <a:rPr lang="en-US" altLang="zh-CN" sz="2800" i="1" dirty="0">
                <a:latin typeface="黑体" pitchFamily="2" charset="-122"/>
                <a:ea typeface="黑体" pitchFamily="2" charset="-122"/>
              </a:rPr>
              <a:t>2</a:t>
            </a:r>
            <a:r>
              <a:rPr lang="en-US" altLang="zh-CN" sz="2800" i="1" baseline="30000" dirty="0">
                <a:latin typeface="黑体" pitchFamily="2" charset="-122"/>
                <a:ea typeface="黑体" pitchFamily="2" charset="-122"/>
              </a:rPr>
              <a:t>n</a:t>
            </a:r>
            <a:r>
              <a:rPr lang="zh-CN" altLang="en-US" sz="2800" i="1" dirty="0">
                <a:latin typeface="黑体" pitchFamily="2" charset="-122"/>
                <a:ea typeface="黑体" pitchFamily="2" charset="-122"/>
              </a:rPr>
              <a:t>＋</a:t>
            </a:r>
            <a:r>
              <a:rPr lang="en-US" altLang="zh-CN" sz="2800" i="1" dirty="0">
                <a:latin typeface="黑体" pitchFamily="2" charset="-122"/>
                <a:ea typeface="黑体" pitchFamily="2" charset="-122"/>
              </a:rPr>
              <a:t> </a:t>
            </a:r>
            <a:r>
              <a:rPr lang="en-US" altLang="zh-CN" sz="2800" i="1" dirty="0" smtClean="0">
                <a:latin typeface="黑体" pitchFamily="2" charset="-122"/>
                <a:ea typeface="黑体" pitchFamily="2" charset="-122"/>
              </a:rPr>
              <a:t>0</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n-1</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n-2</a:t>
            </a:r>
            <a:r>
              <a:rPr lang="en-US" altLang="zh-CN" sz="2800" i="1"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0</a:t>
            </a:r>
          </a:p>
          <a:p>
            <a:pPr>
              <a:lnSpc>
                <a:spcPct val="200000"/>
              </a:lnSpc>
            </a:pPr>
            <a:r>
              <a:rPr lang="en-US" altLang="zh-CN" sz="2800" i="1" dirty="0" smtClean="0">
                <a:latin typeface="黑体" pitchFamily="2" charset="-122"/>
                <a:ea typeface="黑体" pitchFamily="2" charset="-122"/>
              </a:rPr>
              <a:t>           </a:t>
            </a:r>
            <a:r>
              <a:rPr lang="en-US" altLang="zh-CN" sz="2800" i="1" dirty="0">
                <a:latin typeface="黑体" pitchFamily="2" charset="-122"/>
                <a:ea typeface="黑体" pitchFamily="2" charset="-122"/>
              </a:rPr>
              <a:t>= </a:t>
            </a:r>
            <a:r>
              <a:rPr lang="en-US" altLang="zh-CN" sz="2800" i="1" dirty="0" smtClean="0">
                <a:latin typeface="黑体" pitchFamily="2" charset="-122"/>
                <a:ea typeface="黑体" pitchFamily="2" charset="-122"/>
              </a:rPr>
              <a:t>1</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n-1</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n-2</a:t>
            </a:r>
            <a:r>
              <a:rPr lang="en-US" altLang="zh-CN" sz="2800" i="1"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0</a:t>
            </a:r>
          </a:p>
          <a:p>
            <a:pPr>
              <a:lnSpc>
                <a:spcPct val="200000"/>
              </a:lnSpc>
            </a:pPr>
            <a:r>
              <a:rPr lang="zh-CN" altLang="en-US" sz="2800" dirty="0" smtClean="0">
                <a:latin typeface="黑体" pitchFamily="2" charset="-122"/>
                <a:ea typeface="黑体" pitchFamily="2" charset="-122"/>
              </a:rPr>
              <a:t>负数</a:t>
            </a:r>
            <a:r>
              <a:rPr lang="zh-CN" altLang="en-US" sz="2800" dirty="0">
                <a:latin typeface="黑体" pitchFamily="2" charset="-122"/>
                <a:ea typeface="黑体" pitchFamily="2" charset="-122"/>
              </a:rPr>
              <a:t> </a:t>
            </a:r>
            <a:r>
              <a:rPr lang="en-US" altLang="zh-CN" sz="2800"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dirty="0">
                <a:latin typeface="黑体" pitchFamily="2" charset="-122"/>
                <a:ea typeface="黑体" pitchFamily="2" charset="-122"/>
              </a:rPr>
              <a:t>]</a:t>
            </a:r>
            <a:r>
              <a:rPr lang="zh-CN" altLang="en-US" sz="2800" baseline="-25000" dirty="0">
                <a:latin typeface="黑体" pitchFamily="2" charset="-122"/>
                <a:ea typeface="黑体" pitchFamily="2" charset="-122"/>
              </a:rPr>
              <a:t>移</a:t>
            </a:r>
            <a:r>
              <a:rPr lang="zh-CN" altLang="en-US" sz="2800" dirty="0">
                <a:latin typeface="黑体" pitchFamily="2" charset="-122"/>
                <a:ea typeface="黑体" pitchFamily="2" charset="-122"/>
              </a:rPr>
              <a:t>＝</a:t>
            </a:r>
            <a:r>
              <a:rPr lang="en-US" altLang="zh-CN" sz="2800" i="1" dirty="0">
                <a:latin typeface="黑体" pitchFamily="2" charset="-122"/>
                <a:ea typeface="黑体" pitchFamily="2" charset="-122"/>
              </a:rPr>
              <a:t>2</a:t>
            </a:r>
            <a:r>
              <a:rPr lang="en-US" altLang="zh-CN" sz="2800" i="1" baseline="30000" dirty="0">
                <a:latin typeface="黑体" pitchFamily="2" charset="-122"/>
                <a:ea typeface="黑体" pitchFamily="2" charset="-122"/>
              </a:rPr>
              <a:t>n</a:t>
            </a:r>
            <a:r>
              <a:rPr lang="zh-CN" altLang="en-US" sz="2800" i="1" dirty="0">
                <a:latin typeface="黑体" pitchFamily="2" charset="-122"/>
                <a:ea typeface="黑体" pitchFamily="2" charset="-122"/>
              </a:rPr>
              <a:t>＋ｘ</a:t>
            </a:r>
            <a:r>
              <a:rPr lang="en-US" altLang="zh-CN" sz="2800" i="1" dirty="0">
                <a:latin typeface="黑体" pitchFamily="2" charset="-122"/>
                <a:ea typeface="黑体" pitchFamily="2" charset="-122"/>
              </a:rPr>
              <a:t> = 2</a:t>
            </a:r>
            <a:r>
              <a:rPr lang="en-US" altLang="zh-CN" sz="2800" i="1" baseline="30000" dirty="0">
                <a:latin typeface="黑体" pitchFamily="2" charset="-122"/>
                <a:ea typeface="黑体" pitchFamily="2" charset="-122"/>
              </a:rPr>
              <a:t>n+1</a:t>
            </a:r>
            <a:r>
              <a:rPr lang="zh-CN" altLang="en-US" sz="2800" i="1" dirty="0">
                <a:latin typeface="黑体" pitchFamily="2" charset="-122"/>
                <a:ea typeface="黑体" pitchFamily="2" charset="-122"/>
              </a:rPr>
              <a:t>＋ｘ </a:t>
            </a:r>
            <a:r>
              <a:rPr lang="en-US" altLang="zh-CN" sz="2800" i="1" dirty="0">
                <a:latin typeface="黑体" pitchFamily="2" charset="-122"/>
                <a:ea typeface="黑体" pitchFamily="2" charset="-122"/>
              </a:rPr>
              <a:t>- 2</a:t>
            </a:r>
            <a:r>
              <a:rPr lang="en-US" altLang="zh-CN" sz="2800" i="1" baseline="30000" dirty="0">
                <a:latin typeface="黑体" pitchFamily="2" charset="-122"/>
                <a:ea typeface="黑体" pitchFamily="2" charset="-122"/>
              </a:rPr>
              <a:t>n </a:t>
            </a:r>
            <a:r>
              <a:rPr lang="en-US" altLang="zh-CN" sz="2800" i="1" dirty="0">
                <a:latin typeface="黑体" pitchFamily="2" charset="-122"/>
                <a:ea typeface="黑体" pitchFamily="2" charset="-122"/>
              </a:rPr>
              <a:t>= [</a:t>
            </a:r>
            <a:r>
              <a:rPr lang="zh-CN" altLang="en-US" sz="2800" i="1" dirty="0">
                <a:latin typeface="黑体" pitchFamily="2" charset="-122"/>
                <a:ea typeface="黑体" pitchFamily="2" charset="-122"/>
              </a:rPr>
              <a:t>ｘ</a:t>
            </a:r>
            <a:r>
              <a:rPr lang="en-US" altLang="zh-CN" sz="2800" i="1" dirty="0">
                <a:latin typeface="黑体" pitchFamily="2" charset="-122"/>
                <a:ea typeface="黑体" pitchFamily="2" charset="-122"/>
              </a:rPr>
              <a:t>]</a:t>
            </a:r>
            <a:r>
              <a:rPr lang="zh-CN" altLang="en-US" sz="2800" i="1" baseline="-25000" dirty="0">
                <a:latin typeface="黑体" pitchFamily="2" charset="-122"/>
                <a:ea typeface="黑体" pitchFamily="2" charset="-122"/>
              </a:rPr>
              <a:t>补</a:t>
            </a:r>
            <a:r>
              <a:rPr lang="en-US" altLang="zh-CN" sz="2800" i="1" dirty="0">
                <a:latin typeface="黑体" pitchFamily="2" charset="-122"/>
                <a:ea typeface="黑体" pitchFamily="2" charset="-122"/>
              </a:rPr>
              <a:t>- 2</a:t>
            </a:r>
            <a:r>
              <a:rPr lang="en-US" altLang="zh-CN" sz="2800" i="1" baseline="30000" dirty="0">
                <a:latin typeface="黑体" pitchFamily="2" charset="-122"/>
                <a:ea typeface="黑体" pitchFamily="2" charset="-122"/>
              </a:rPr>
              <a:t>n</a:t>
            </a:r>
            <a:endParaRPr lang="en-US" altLang="zh-CN" sz="2800" i="1" dirty="0">
              <a:latin typeface="黑体" pitchFamily="2" charset="-122"/>
              <a:ea typeface="黑体" pitchFamily="2" charset="-122"/>
            </a:endParaRPr>
          </a:p>
          <a:p>
            <a:pPr>
              <a:lnSpc>
                <a:spcPct val="200000"/>
              </a:lnSpc>
            </a:pPr>
            <a:r>
              <a:rPr lang="en-US" altLang="zh-CN" sz="2800" dirty="0">
                <a:latin typeface="黑体" pitchFamily="2" charset="-122"/>
                <a:ea typeface="黑体" pitchFamily="2" charset="-122"/>
              </a:rPr>
              <a:t>          =</a:t>
            </a:r>
            <a:r>
              <a:rPr lang="en-US" altLang="zh-CN" sz="2800" i="1" dirty="0" smtClean="0">
                <a:latin typeface="黑体" pitchFamily="2" charset="-122"/>
                <a:ea typeface="黑体" pitchFamily="2" charset="-122"/>
              </a:rPr>
              <a:t>1</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n-1</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n-2</a:t>
            </a:r>
            <a:r>
              <a:rPr lang="en-US" altLang="zh-CN" sz="2800" i="1"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i="1" baseline="-25000" dirty="0" smtClean="0">
                <a:latin typeface="黑体" pitchFamily="2" charset="-122"/>
                <a:ea typeface="黑体" pitchFamily="2" charset="-122"/>
              </a:rPr>
              <a:t>0 </a:t>
            </a:r>
            <a:r>
              <a:rPr lang="en-US" altLang="zh-CN" sz="2800" i="1" dirty="0">
                <a:latin typeface="黑体" pitchFamily="2" charset="-122"/>
                <a:ea typeface="黑体" pitchFamily="2" charset="-122"/>
              </a:rPr>
              <a:t>- </a:t>
            </a:r>
            <a:r>
              <a:rPr lang="en-US" altLang="zh-CN" sz="2800" i="1" dirty="0" smtClean="0">
                <a:latin typeface="黑体" pitchFamily="2" charset="-122"/>
                <a:ea typeface="黑体" pitchFamily="2" charset="-122"/>
              </a:rPr>
              <a:t>100…0</a:t>
            </a:r>
            <a:r>
              <a:rPr lang="zh-CN" altLang="en-US" sz="2800" i="1" dirty="0" smtClean="0">
                <a:latin typeface="黑体" pitchFamily="2" charset="-122"/>
                <a:ea typeface="黑体" pitchFamily="2" charset="-122"/>
              </a:rPr>
              <a:t>（</a:t>
            </a:r>
            <a:r>
              <a:rPr lang="en-US" altLang="zh-CN" sz="2800" i="1" dirty="0" smtClean="0">
                <a:latin typeface="黑体" pitchFamily="2" charset="-122"/>
                <a:ea typeface="黑体" pitchFamily="2" charset="-122"/>
              </a:rPr>
              <a:t>n</a:t>
            </a:r>
            <a:r>
              <a:rPr lang="zh-CN" altLang="en-US" sz="2800" i="1" dirty="0" smtClean="0">
                <a:latin typeface="黑体" pitchFamily="2" charset="-122"/>
                <a:ea typeface="黑体" pitchFamily="2" charset="-122"/>
              </a:rPr>
              <a:t>个</a:t>
            </a:r>
            <a:r>
              <a:rPr lang="en-US" altLang="zh-CN" sz="2800" i="1" dirty="0" smtClean="0">
                <a:latin typeface="黑体" pitchFamily="2" charset="-122"/>
                <a:ea typeface="黑体" pitchFamily="2" charset="-122"/>
              </a:rPr>
              <a:t>0</a:t>
            </a:r>
            <a:r>
              <a:rPr lang="zh-CN" altLang="en-US" sz="2800" i="1" dirty="0" smtClean="0">
                <a:latin typeface="黑体" pitchFamily="2" charset="-122"/>
                <a:ea typeface="黑体" pitchFamily="2" charset="-122"/>
              </a:rPr>
              <a:t>）</a:t>
            </a:r>
            <a:endParaRPr lang="en-US" altLang="zh-CN" sz="2800" i="1" dirty="0">
              <a:latin typeface="黑体" pitchFamily="2" charset="-122"/>
              <a:ea typeface="黑体" pitchFamily="2" charset="-122"/>
            </a:endParaRPr>
          </a:p>
          <a:p>
            <a:pPr>
              <a:lnSpc>
                <a:spcPct val="200000"/>
              </a:lnSpc>
            </a:pPr>
            <a:r>
              <a:rPr lang="en-US" altLang="zh-CN" sz="2800" dirty="0" smtClean="0">
                <a:latin typeface="黑体" pitchFamily="2" charset="-122"/>
                <a:ea typeface="黑体" pitchFamily="2" charset="-122"/>
              </a:rPr>
              <a:t>         =</a:t>
            </a:r>
            <a:r>
              <a:rPr lang="en-US" altLang="zh-CN" sz="2800" i="1" dirty="0" smtClean="0">
                <a:latin typeface="黑体" pitchFamily="2" charset="-122"/>
                <a:ea typeface="黑体" pitchFamily="2" charset="-122"/>
              </a:rPr>
              <a:t>0</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n-1</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n-2</a:t>
            </a:r>
            <a:r>
              <a:rPr lang="en-US" altLang="zh-CN" sz="2800" i="1" dirty="0">
                <a:latin typeface="黑体" pitchFamily="2" charset="-122"/>
                <a:ea typeface="黑体" pitchFamily="2" charset="-122"/>
              </a:rPr>
              <a:t>…</a:t>
            </a:r>
            <a:r>
              <a:rPr lang="zh-CN" altLang="en-US" sz="2800" i="1" dirty="0">
                <a:latin typeface="黑体" pitchFamily="2" charset="-122"/>
                <a:ea typeface="黑体" pitchFamily="2" charset="-122"/>
              </a:rPr>
              <a:t>ｘ</a:t>
            </a:r>
            <a:r>
              <a:rPr lang="en-US" altLang="zh-CN" sz="2800" i="1" baseline="-25000" dirty="0">
                <a:latin typeface="黑体" pitchFamily="2" charset="-122"/>
                <a:ea typeface="黑体" pitchFamily="2" charset="-122"/>
              </a:rPr>
              <a:t>0</a:t>
            </a:r>
          </a:p>
          <a:p>
            <a:pPr>
              <a:lnSpc>
                <a:spcPct val="200000"/>
              </a:lnSpc>
            </a:pPr>
            <a:r>
              <a:rPr lang="zh-CN" altLang="en-US" sz="2800" dirty="0" smtClean="0">
                <a:latin typeface="黑体" pitchFamily="2" charset="-122"/>
                <a:ea typeface="黑体" pitchFamily="2" charset="-122"/>
              </a:rPr>
              <a:t>      </a:t>
            </a:r>
            <a:r>
              <a:rPr lang="zh-CN" altLang="en-US" sz="2800" dirty="0">
                <a:solidFill>
                  <a:srgbClr val="FF0000"/>
                </a:solidFill>
                <a:latin typeface="黑体" pitchFamily="2" charset="-122"/>
                <a:ea typeface="黑体" pitchFamily="2" charset="-122"/>
              </a:rPr>
              <a:t>移码就是将对应于真值的补码符号位取反</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ChangeArrowheads="1"/>
          </p:cNvSpPr>
          <p:nvPr/>
        </p:nvSpPr>
        <p:spPr bwMode="auto">
          <a:xfrm>
            <a:off x="222250" y="166650"/>
            <a:ext cx="7562850" cy="19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en-US" sz="2400" dirty="0" smtClean="0">
                <a:solidFill>
                  <a:srgbClr val="000000"/>
                </a:solidFill>
                <a:latin typeface="黑体" pitchFamily="2" charset="-122"/>
                <a:ea typeface="黑体" pitchFamily="2" charset="-122"/>
              </a:rPr>
              <a:t>浮点数的机器表示</a:t>
            </a:r>
            <a:endParaRPr lang="en-US" altLang="zh-CN" sz="2400" dirty="0" smtClean="0">
              <a:solidFill>
                <a:srgbClr val="000000"/>
              </a:solidFill>
              <a:latin typeface="黑体" pitchFamily="2" charset="-122"/>
              <a:ea typeface="黑体" pitchFamily="2" charset="-122"/>
            </a:endParaRPr>
          </a:p>
          <a:p>
            <a:pPr eaLnBrk="0" hangingPunct="0">
              <a:lnSpc>
                <a:spcPct val="130000"/>
              </a:lnSpc>
            </a:pPr>
            <a:r>
              <a:rPr lang="en-US" altLang="zh-CN" sz="2400" dirty="0" smtClean="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为便于软件移植，大家按照美国电子和电气工程师协议的标准，即IEEE754的标准格式来表示数据，它的32位浮点数和64位浮点数的标准格式为</a:t>
            </a:r>
            <a:r>
              <a:rPr lang="zh-CN" altLang="en-US" sz="2400" dirty="0">
                <a:solidFill>
                  <a:srgbClr val="000000"/>
                </a:solidFill>
                <a:latin typeface="黑体" pitchFamily="2" charset="-122"/>
                <a:ea typeface="黑体" pitchFamily="2" charset="-122"/>
              </a:rPr>
              <a:t>：</a:t>
            </a:r>
            <a:endParaRPr lang="zh-CN" altLang="zh-CN" sz="2400" dirty="0">
              <a:solidFill>
                <a:srgbClr val="000000"/>
              </a:solidFill>
              <a:latin typeface="黑体" pitchFamily="2" charset="-122"/>
              <a:ea typeface="黑体" pitchFamily="2" charset="-122"/>
            </a:endParaRPr>
          </a:p>
        </p:txBody>
      </p:sp>
      <p:sp>
        <p:nvSpPr>
          <p:cNvPr id="11267" name="AutoShape 2" descr="G:\jzdx\%E8%AE%A1%E7%AE%97%E6%9C%BA%E7%BB%84%E6%88%90%E5%8E%9F%E7%90%86\%E6%95%99%E6%A1%88\%E7%AC%AC%E4%BA%8C%E7%AB%A0\Images\picture3.gif"/>
          <p:cNvSpPr>
            <a:spLocks noChangeAspect="1" noChangeArrowheads="1"/>
          </p:cNvSpPr>
          <p:nvPr/>
        </p:nvSpPr>
        <p:spPr bwMode="auto">
          <a:xfrm>
            <a:off x="155575" y="-1106488"/>
            <a:ext cx="3810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8" name="AutoShape 3" descr="G:\jzdx\%E8%AE%A1%E7%AE%97%E6%9C%BA%E7%BB%84%E6%88%90%E5%8E%9F%E7%90%86\%E6%95%99%E6%A1%88\%E7%AC%AC%E4%BA%8C%E7%AB%A0\Images\picture4.gif"/>
          <p:cNvSpPr>
            <a:spLocks noChangeAspect="1" noChangeArrowheads="1"/>
          </p:cNvSpPr>
          <p:nvPr/>
        </p:nvSpPr>
        <p:spPr bwMode="auto">
          <a:xfrm>
            <a:off x="222250" y="-831850"/>
            <a:ext cx="4733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126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3051175"/>
            <a:ext cx="70564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2225675"/>
            <a:ext cx="5419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Rectangle 1"/>
          <p:cNvSpPr>
            <a:spLocks noChangeArrowheads="1"/>
          </p:cNvSpPr>
          <p:nvPr/>
        </p:nvSpPr>
        <p:spPr bwMode="auto">
          <a:xfrm>
            <a:off x="222250" y="3881487"/>
            <a:ext cx="8670925" cy="2905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spcBef>
                <a:spcPts val="1200"/>
              </a:spcBef>
              <a:spcAft>
                <a:spcPts val="600"/>
              </a:spcAft>
            </a:pPr>
            <a:r>
              <a:rPr lang="zh-CN" altLang="zh-CN" sz="2400" dirty="0">
                <a:solidFill>
                  <a:srgbClr val="000000"/>
                </a:solidFill>
                <a:latin typeface="黑体" pitchFamily="2" charset="-122"/>
                <a:ea typeface="黑体" pitchFamily="2" charset="-122"/>
              </a:rPr>
              <a:t>　　 32位的浮点数中，</a:t>
            </a:r>
            <a:r>
              <a:rPr lang="zh-CN" altLang="zh-CN" sz="2400" i="1" dirty="0">
                <a:solidFill>
                  <a:srgbClr val="000000"/>
                </a:solidFill>
                <a:latin typeface="黑体" pitchFamily="2" charset="-122"/>
                <a:ea typeface="黑体" pitchFamily="2" charset="-122"/>
              </a:rPr>
              <a:t>Ｓ</a:t>
            </a:r>
            <a:r>
              <a:rPr lang="zh-CN" altLang="zh-CN" sz="2400" dirty="0">
                <a:solidFill>
                  <a:srgbClr val="000000"/>
                </a:solidFill>
                <a:latin typeface="黑体" pitchFamily="2" charset="-122"/>
                <a:ea typeface="黑体" pitchFamily="2" charset="-122"/>
              </a:rPr>
              <a:t>：浮点数的符号位，1</a:t>
            </a:r>
            <a:r>
              <a:rPr lang="en-US" altLang="zh-CN" sz="2400" dirty="0">
                <a:solidFill>
                  <a:srgbClr val="000000"/>
                </a:solidFill>
                <a:latin typeface="黑体" pitchFamily="2" charset="-122"/>
                <a:ea typeface="黑体" pitchFamily="2" charset="-122"/>
              </a:rPr>
              <a:t> </a:t>
            </a:r>
            <a:r>
              <a:rPr lang="zh-CN" altLang="zh-CN" sz="2400" dirty="0">
                <a:solidFill>
                  <a:srgbClr val="000000"/>
                </a:solidFill>
                <a:latin typeface="黑体" pitchFamily="2" charset="-122"/>
                <a:ea typeface="黑体" pitchFamily="2" charset="-122"/>
              </a:rPr>
              <a:t>位，0表示正数，1表示负数。</a:t>
            </a:r>
            <a:r>
              <a:rPr lang="zh-CN" altLang="zh-CN" sz="2400" i="1" dirty="0">
                <a:solidFill>
                  <a:srgbClr val="000000"/>
                </a:solidFill>
                <a:latin typeface="黑体" pitchFamily="2" charset="-122"/>
                <a:ea typeface="黑体" pitchFamily="2" charset="-122"/>
              </a:rPr>
              <a:t>Ｍ</a:t>
            </a:r>
            <a:r>
              <a:rPr lang="zh-CN" altLang="zh-CN" sz="2400" dirty="0">
                <a:solidFill>
                  <a:srgbClr val="000000"/>
                </a:solidFill>
                <a:latin typeface="黑体" pitchFamily="2" charset="-122"/>
                <a:ea typeface="黑体" pitchFamily="2" charset="-122"/>
              </a:rPr>
              <a:t>：尾数，23位，用小数表示，小数点放在尾数域的最左有效位的右面（即小数点左边有1位）。</a:t>
            </a:r>
            <a:r>
              <a:rPr lang="zh-CN" altLang="zh-CN" sz="2400" i="1" dirty="0">
                <a:solidFill>
                  <a:srgbClr val="000000"/>
                </a:solidFill>
                <a:latin typeface="黑体" pitchFamily="2" charset="-122"/>
                <a:ea typeface="黑体" pitchFamily="2" charset="-122"/>
              </a:rPr>
              <a:t>Ｅ</a:t>
            </a:r>
            <a:r>
              <a:rPr lang="zh-CN" altLang="zh-CN" sz="2400" dirty="0">
                <a:solidFill>
                  <a:srgbClr val="000000"/>
                </a:solidFill>
                <a:latin typeface="黑体" pitchFamily="2" charset="-122"/>
                <a:ea typeface="黑体" pitchFamily="2" charset="-122"/>
              </a:rPr>
              <a:t>：阶码，8 位。阶符采用隐含方式，即用移码方式来表示正负指数。移码方法对两个指数大小的比较和对阶操作都比较方便，因为阶码域值大者其指数值也大。</a:t>
            </a:r>
          </a:p>
        </p:txBody>
      </p:sp>
    </p:spTree>
    <p:extLst>
      <p:ext uri="{BB962C8B-B14F-4D97-AF65-F5344CB8AC3E}">
        <p14:creationId xmlns:p14="http://schemas.microsoft.com/office/powerpoint/2010/main" val="30485551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ChangeArrowheads="1"/>
          </p:cNvSpPr>
          <p:nvPr/>
        </p:nvSpPr>
        <p:spPr bwMode="auto">
          <a:xfrm>
            <a:off x="233363" y="2133600"/>
            <a:ext cx="8659812" cy="45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采用这种方式时，</a:t>
            </a:r>
            <a:r>
              <a:rPr lang="zh-CN" altLang="zh-CN" sz="2400">
                <a:solidFill>
                  <a:srgbClr val="FF0000"/>
                </a:solidFill>
                <a:latin typeface="黑体" pitchFamily="2" charset="-122"/>
                <a:ea typeface="黑体" pitchFamily="2" charset="-122"/>
              </a:rPr>
              <a:t>将浮点数的指数真值</a:t>
            </a:r>
            <a:r>
              <a:rPr lang="zh-CN" altLang="zh-CN" sz="2400" i="1">
                <a:solidFill>
                  <a:srgbClr val="FF0000"/>
                </a:solidFill>
                <a:latin typeface="黑体" pitchFamily="2" charset="-122"/>
                <a:ea typeface="黑体" pitchFamily="2" charset="-122"/>
              </a:rPr>
              <a:t>e</a:t>
            </a:r>
            <a:r>
              <a:rPr lang="zh-CN" altLang="zh-CN" sz="2400" b="1" i="1">
                <a:solidFill>
                  <a:srgbClr val="FF0000"/>
                </a:solidFill>
                <a:latin typeface="黑体" pitchFamily="2" charset="-122"/>
                <a:ea typeface="黑体" pitchFamily="2" charset="-122"/>
              </a:rPr>
              <a:t> </a:t>
            </a:r>
            <a:r>
              <a:rPr lang="zh-CN" altLang="zh-CN" sz="2400">
                <a:solidFill>
                  <a:srgbClr val="FF0000"/>
                </a:solidFill>
                <a:latin typeface="黑体" pitchFamily="2" charset="-122"/>
                <a:ea typeface="黑体" pitchFamily="2" charset="-122"/>
              </a:rPr>
              <a:t>变成阶码</a:t>
            </a:r>
            <a:r>
              <a:rPr lang="zh-CN" altLang="zh-CN" sz="2400" i="1">
                <a:solidFill>
                  <a:srgbClr val="FF0000"/>
                </a:solidFill>
                <a:latin typeface="黑体" pitchFamily="2" charset="-122"/>
                <a:ea typeface="黑体" pitchFamily="2" charset="-122"/>
              </a:rPr>
              <a:t>Ｅ</a:t>
            </a:r>
            <a:r>
              <a:rPr lang="zh-CN" altLang="zh-CN" sz="2400" b="1" i="1">
                <a:solidFill>
                  <a:srgbClr val="FF0000"/>
                </a:solidFill>
                <a:latin typeface="黑体" pitchFamily="2" charset="-122"/>
                <a:ea typeface="黑体" pitchFamily="2" charset="-122"/>
              </a:rPr>
              <a:t> </a:t>
            </a:r>
            <a:r>
              <a:rPr lang="zh-CN" altLang="zh-CN" sz="2400">
                <a:solidFill>
                  <a:srgbClr val="FF0000"/>
                </a:solidFill>
                <a:latin typeface="黑体" pitchFamily="2" charset="-122"/>
                <a:ea typeface="黑体" pitchFamily="2" charset="-122"/>
              </a:rPr>
              <a:t>时，应将指数</a:t>
            </a:r>
            <a:r>
              <a:rPr lang="zh-CN" altLang="zh-CN" sz="2400" i="1">
                <a:solidFill>
                  <a:srgbClr val="FF0000"/>
                </a:solidFill>
                <a:latin typeface="黑体" pitchFamily="2" charset="-122"/>
                <a:ea typeface="黑体" pitchFamily="2" charset="-122"/>
              </a:rPr>
              <a:t>e</a:t>
            </a:r>
            <a:r>
              <a:rPr lang="zh-CN" altLang="zh-CN" sz="2400">
                <a:solidFill>
                  <a:srgbClr val="FF0000"/>
                </a:solidFill>
                <a:latin typeface="黑体" pitchFamily="2" charset="-122"/>
                <a:ea typeface="黑体" pitchFamily="2" charset="-122"/>
              </a:rPr>
              <a:t> 加上一个固定的偏移值127</a:t>
            </a:r>
            <a:r>
              <a:rPr lang="zh-CN" altLang="zh-CN" sz="2400">
                <a:solidFill>
                  <a:srgbClr val="000000"/>
                </a:solidFill>
                <a:latin typeface="黑体" pitchFamily="2" charset="-122"/>
                <a:ea typeface="黑体" pitchFamily="2" charset="-122"/>
              </a:rPr>
              <a:t>(01111111)，即 </a:t>
            </a:r>
            <a:endParaRPr lang="en-US" altLang="zh-CN" sz="2400">
              <a:solidFill>
                <a:srgbClr val="000000"/>
              </a:solidFill>
              <a:latin typeface="黑体" pitchFamily="2" charset="-122"/>
              <a:ea typeface="黑体" pitchFamily="2" charset="-122"/>
            </a:endParaRPr>
          </a:p>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i="1">
                <a:solidFill>
                  <a:srgbClr val="000000"/>
                </a:solidFill>
                <a:latin typeface="黑体" pitchFamily="2" charset="-122"/>
                <a:ea typeface="黑体" pitchFamily="2" charset="-122"/>
              </a:rPr>
              <a:t>Ｅ＝e</a:t>
            </a:r>
            <a:r>
              <a:rPr lang="zh-CN" altLang="zh-CN" sz="2400">
                <a:solidFill>
                  <a:srgbClr val="000000"/>
                </a:solidFill>
                <a:latin typeface="黑体" pitchFamily="2" charset="-122"/>
                <a:ea typeface="黑体" pitchFamily="2" charset="-122"/>
              </a:rPr>
              <a:t>＋127。</a:t>
            </a:r>
            <a:endParaRPr lang="zh-CN" altLang="zh-CN" sz="2400">
              <a:latin typeface="黑体" pitchFamily="2" charset="-122"/>
              <a:ea typeface="黑体" pitchFamily="2" charset="-122"/>
            </a:endParaRPr>
          </a:p>
          <a:p>
            <a:pPr eaLnBrk="0" hangingPunct="0">
              <a:lnSpc>
                <a:spcPct val="150000"/>
              </a:lnSpc>
            </a:pPr>
            <a:r>
              <a:rPr lang="zh-CN" altLang="zh-CN" sz="2400">
                <a:solidFill>
                  <a:srgbClr val="000000"/>
                </a:solidFill>
                <a:latin typeface="黑体" pitchFamily="2" charset="-122"/>
                <a:ea typeface="黑体" pitchFamily="2" charset="-122"/>
              </a:rPr>
              <a:t>　　IEEE754 标准中，一个规格化的32位浮点数</a:t>
            </a:r>
            <a:r>
              <a:rPr lang="zh-CN" altLang="zh-CN" sz="2400" i="1">
                <a:solidFill>
                  <a:srgbClr val="000000"/>
                </a:solidFill>
                <a:latin typeface="黑体" pitchFamily="2" charset="-122"/>
                <a:ea typeface="黑体" pitchFamily="2" charset="-122"/>
              </a:rPr>
              <a:t>ｘ</a:t>
            </a:r>
            <a:r>
              <a:rPr lang="zh-CN" altLang="zh-CN" sz="2400">
                <a:solidFill>
                  <a:srgbClr val="000000"/>
                </a:solidFill>
                <a:latin typeface="黑体" pitchFamily="2" charset="-122"/>
                <a:ea typeface="黑体" pitchFamily="2" charset="-122"/>
              </a:rPr>
              <a:t>的真值可表示为</a:t>
            </a:r>
            <a:endParaRPr lang="zh-CN" altLang="zh-CN" sz="2400">
              <a:latin typeface="黑体" pitchFamily="2" charset="-122"/>
              <a:ea typeface="黑体" pitchFamily="2" charset="-122"/>
            </a:endParaRPr>
          </a:p>
          <a:p>
            <a:pPr eaLnBrk="0" hangingPunct="0">
              <a:lnSpc>
                <a:spcPct val="150000"/>
              </a:lnSpc>
            </a:pPr>
            <a:r>
              <a:rPr lang="en-US" altLang="zh-CN" sz="2400" i="1">
                <a:solidFill>
                  <a:srgbClr val="6600FF"/>
                </a:solidFill>
                <a:latin typeface="黑体" pitchFamily="2" charset="-122"/>
                <a:ea typeface="黑体" pitchFamily="2" charset="-122"/>
              </a:rPr>
              <a:t>    </a:t>
            </a:r>
            <a:r>
              <a:rPr lang="zh-CN" altLang="zh-CN" sz="2400" i="1">
                <a:solidFill>
                  <a:srgbClr val="6600FF"/>
                </a:solidFill>
                <a:latin typeface="黑体" pitchFamily="2" charset="-122"/>
                <a:ea typeface="黑体" pitchFamily="2" charset="-122"/>
              </a:rPr>
              <a:t>ｘ</a:t>
            </a:r>
            <a:r>
              <a:rPr lang="zh-CN" altLang="zh-CN" sz="2400">
                <a:solidFill>
                  <a:srgbClr val="6600FF"/>
                </a:solidFill>
                <a:latin typeface="黑体" pitchFamily="2" charset="-122"/>
                <a:ea typeface="黑体" pitchFamily="2" charset="-122"/>
              </a:rPr>
              <a:t>＝(－1)</a:t>
            </a:r>
            <a:r>
              <a:rPr lang="zh-CN" altLang="zh-CN" sz="2400" i="1" baseline="30000">
                <a:solidFill>
                  <a:srgbClr val="6600FF"/>
                </a:solidFill>
                <a:latin typeface="黑体" pitchFamily="2" charset="-122"/>
                <a:ea typeface="黑体" pitchFamily="2" charset="-122"/>
              </a:rPr>
              <a:t>s</a:t>
            </a:r>
            <a:r>
              <a:rPr lang="zh-CN" altLang="zh-CN" sz="2400">
                <a:solidFill>
                  <a:srgbClr val="6600FF"/>
                </a:solidFill>
                <a:latin typeface="黑体" pitchFamily="2" charset="-122"/>
                <a:ea typeface="黑体" pitchFamily="2" charset="-122"/>
              </a:rPr>
              <a:t>×(1.</a:t>
            </a:r>
            <a:r>
              <a:rPr lang="zh-CN" altLang="zh-CN" sz="2400" i="1">
                <a:solidFill>
                  <a:srgbClr val="6600FF"/>
                </a:solidFill>
                <a:latin typeface="黑体" pitchFamily="2" charset="-122"/>
                <a:ea typeface="黑体" pitchFamily="2" charset="-122"/>
              </a:rPr>
              <a:t>Ｍ</a:t>
            </a:r>
            <a:r>
              <a:rPr lang="zh-CN" altLang="zh-CN" sz="2400">
                <a:solidFill>
                  <a:srgbClr val="6600FF"/>
                </a:solidFill>
                <a:latin typeface="黑体" pitchFamily="2" charset="-122"/>
                <a:ea typeface="黑体" pitchFamily="2" charset="-122"/>
              </a:rPr>
              <a:t>)×2</a:t>
            </a:r>
            <a:r>
              <a:rPr lang="zh-CN" altLang="zh-CN" sz="2400" i="1" baseline="30000">
                <a:solidFill>
                  <a:srgbClr val="6600FF"/>
                </a:solidFill>
                <a:latin typeface="黑体" pitchFamily="2" charset="-122"/>
                <a:ea typeface="黑体" pitchFamily="2" charset="-122"/>
              </a:rPr>
              <a:t>Ｅ－127</a:t>
            </a:r>
            <a:r>
              <a:rPr lang="zh-CN" altLang="zh-CN" sz="2400">
                <a:solidFill>
                  <a:srgbClr val="6600FF"/>
                </a:solidFill>
                <a:latin typeface="黑体" pitchFamily="2" charset="-122"/>
                <a:ea typeface="黑体" pitchFamily="2" charset="-122"/>
              </a:rPr>
              <a:t> </a:t>
            </a:r>
            <a:r>
              <a:rPr lang="zh-CN" altLang="zh-CN" sz="2400" i="1">
                <a:solidFill>
                  <a:srgbClr val="6600FF"/>
                </a:solidFill>
                <a:latin typeface="黑体" pitchFamily="2" charset="-122"/>
                <a:ea typeface="黑体" pitchFamily="2" charset="-122"/>
              </a:rPr>
              <a:t>　e</a:t>
            </a:r>
            <a:r>
              <a:rPr lang="zh-CN" altLang="zh-CN" sz="2400">
                <a:solidFill>
                  <a:srgbClr val="6600FF"/>
                </a:solidFill>
                <a:latin typeface="黑体" pitchFamily="2" charset="-122"/>
                <a:ea typeface="黑体" pitchFamily="2" charset="-122"/>
              </a:rPr>
              <a:t>＝</a:t>
            </a:r>
            <a:r>
              <a:rPr lang="zh-CN" altLang="zh-CN" sz="2400" i="1">
                <a:solidFill>
                  <a:srgbClr val="6600FF"/>
                </a:solidFill>
                <a:latin typeface="黑体" pitchFamily="2" charset="-122"/>
                <a:ea typeface="黑体" pitchFamily="2" charset="-122"/>
              </a:rPr>
              <a:t>Ｅ</a:t>
            </a:r>
            <a:r>
              <a:rPr lang="zh-CN" altLang="zh-CN" sz="2400">
                <a:solidFill>
                  <a:srgbClr val="6600FF"/>
                </a:solidFill>
                <a:latin typeface="黑体" pitchFamily="2" charset="-122"/>
                <a:ea typeface="黑体" pitchFamily="2" charset="-122"/>
              </a:rPr>
              <a:t>－127　</a:t>
            </a:r>
            <a:endParaRPr lang="zh-CN" altLang="zh-CN" sz="2400" b="1">
              <a:latin typeface="黑体" pitchFamily="2" charset="-122"/>
              <a:ea typeface="黑体" pitchFamily="2" charset="-122"/>
            </a:endParaRPr>
          </a:p>
          <a:p>
            <a:pPr eaLnBrk="0" hangingPunct="0">
              <a:lnSpc>
                <a:spcPct val="150000"/>
              </a:lnSpc>
            </a:pPr>
            <a:r>
              <a:rPr lang="zh-CN" altLang="zh-CN" sz="2400" b="1">
                <a:latin typeface="黑体" pitchFamily="2" charset="-122"/>
                <a:ea typeface="黑体" pitchFamily="2" charset="-122"/>
              </a:rPr>
              <a:t>一个规格化的64位浮点数</a:t>
            </a:r>
            <a:r>
              <a:rPr lang="zh-CN" altLang="zh-CN" sz="2400" b="1" i="1">
                <a:latin typeface="黑体" pitchFamily="2" charset="-122"/>
                <a:ea typeface="黑体" pitchFamily="2" charset="-122"/>
              </a:rPr>
              <a:t>ｘ</a:t>
            </a:r>
            <a:r>
              <a:rPr lang="zh-CN" altLang="zh-CN" sz="2400" b="1">
                <a:latin typeface="黑体" pitchFamily="2" charset="-122"/>
                <a:ea typeface="黑体" pitchFamily="2" charset="-122"/>
              </a:rPr>
              <a:t>的真值为</a:t>
            </a:r>
            <a:endParaRPr lang="zh-CN" altLang="zh-CN" sz="2400">
              <a:latin typeface="黑体" pitchFamily="2" charset="-122"/>
              <a:ea typeface="黑体" pitchFamily="2" charset="-122"/>
            </a:endParaRPr>
          </a:p>
          <a:p>
            <a:pPr eaLnBrk="0" hangingPunct="0">
              <a:lnSpc>
                <a:spcPct val="150000"/>
              </a:lnSpc>
            </a:pPr>
            <a:r>
              <a:rPr lang="zh-CN" altLang="zh-CN" sz="2400" i="1">
                <a:solidFill>
                  <a:srgbClr val="6600FF"/>
                </a:solidFill>
                <a:latin typeface="黑体" pitchFamily="2" charset="-122"/>
                <a:ea typeface="黑体" pitchFamily="2" charset="-122"/>
              </a:rPr>
              <a:t>　　ｘ</a:t>
            </a:r>
            <a:r>
              <a:rPr lang="zh-CN" altLang="zh-CN" sz="2400">
                <a:solidFill>
                  <a:srgbClr val="6600FF"/>
                </a:solidFill>
                <a:latin typeface="黑体" pitchFamily="2" charset="-122"/>
                <a:ea typeface="黑体" pitchFamily="2" charset="-122"/>
              </a:rPr>
              <a:t>＝(－1)</a:t>
            </a:r>
            <a:r>
              <a:rPr lang="zh-CN" altLang="zh-CN" sz="2400" i="1" baseline="30000">
                <a:solidFill>
                  <a:srgbClr val="6600FF"/>
                </a:solidFill>
                <a:latin typeface="黑体" pitchFamily="2" charset="-122"/>
                <a:ea typeface="黑体" pitchFamily="2" charset="-122"/>
              </a:rPr>
              <a:t>s</a:t>
            </a:r>
            <a:r>
              <a:rPr lang="zh-CN" altLang="zh-CN" sz="2400">
                <a:solidFill>
                  <a:srgbClr val="6600FF"/>
                </a:solidFill>
                <a:latin typeface="黑体" pitchFamily="2" charset="-122"/>
                <a:ea typeface="黑体" pitchFamily="2" charset="-122"/>
              </a:rPr>
              <a:t>×(1.</a:t>
            </a:r>
            <a:r>
              <a:rPr lang="zh-CN" altLang="zh-CN" sz="2400" i="1">
                <a:solidFill>
                  <a:srgbClr val="6600FF"/>
                </a:solidFill>
                <a:latin typeface="黑体" pitchFamily="2" charset="-122"/>
                <a:ea typeface="黑体" pitchFamily="2" charset="-122"/>
              </a:rPr>
              <a:t>Ｍ</a:t>
            </a:r>
            <a:r>
              <a:rPr lang="zh-CN" altLang="zh-CN" sz="2400">
                <a:solidFill>
                  <a:srgbClr val="6600FF"/>
                </a:solidFill>
                <a:latin typeface="黑体" pitchFamily="2" charset="-122"/>
                <a:ea typeface="黑体" pitchFamily="2" charset="-122"/>
              </a:rPr>
              <a:t>)×2</a:t>
            </a:r>
            <a:r>
              <a:rPr lang="zh-CN" altLang="zh-CN" sz="2400" i="1" baseline="30000">
                <a:solidFill>
                  <a:srgbClr val="6600FF"/>
                </a:solidFill>
                <a:latin typeface="黑体" pitchFamily="2" charset="-122"/>
                <a:ea typeface="黑体" pitchFamily="2" charset="-122"/>
              </a:rPr>
              <a:t>Ｅ－1023</a:t>
            </a:r>
            <a:r>
              <a:rPr lang="zh-CN" altLang="zh-CN" sz="2400">
                <a:solidFill>
                  <a:srgbClr val="6600FF"/>
                </a:solidFill>
                <a:latin typeface="黑体" pitchFamily="2" charset="-122"/>
                <a:ea typeface="黑体" pitchFamily="2" charset="-122"/>
              </a:rPr>
              <a:t> </a:t>
            </a:r>
            <a:r>
              <a:rPr lang="zh-CN" altLang="zh-CN" sz="2400" i="1">
                <a:solidFill>
                  <a:srgbClr val="6600FF"/>
                </a:solidFill>
                <a:latin typeface="黑体" pitchFamily="2" charset="-122"/>
                <a:ea typeface="黑体" pitchFamily="2" charset="-122"/>
              </a:rPr>
              <a:t>　e</a:t>
            </a:r>
            <a:r>
              <a:rPr lang="zh-CN" altLang="zh-CN" sz="2400">
                <a:solidFill>
                  <a:srgbClr val="6600FF"/>
                </a:solidFill>
                <a:latin typeface="黑体" pitchFamily="2" charset="-122"/>
                <a:ea typeface="黑体" pitchFamily="2" charset="-122"/>
              </a:rPr>
              <a:t>＝</a:t>
            </a:r>
            <a:r>
              <a:rPr lang="zh-CN" altLang="zh-CN" sz="2400" i="1">
                <a:solidFill>
                  <a:srgbClr val="6600FF"/>
                </a:solidFill>
                <a:latin typeface="黑体" pitchFamily="2" charset="-122"/>
                <a:ea typeface="黑体" pitchFamily="2" charset="-122"/>
              </a:rPr>
              <a:t>Ｅ</a:t>
            </a:r>
            <a:r>
              <a:rPr lang="zh-CN" altLang="zh-CN" sz="2400">
                <a:solidFill>
                  <a:srgbClr val="6600FF"/>
                </a:solidFill>
                <a:latin typeface="黑体" pitchFamily="2" charset="-122"/>
                <a:ea typeface="黑体" pitchFamily="2" charset="-122"/>
              </a:rPr>
              <a:t>－1023</a:t>
            </a:r>
            <a:r>
              <a:rPr lang="zh-CN" altLang="zh-CN" sz="2400" b="1">
                <a:solidFill>
                  <a:srgbClr val="6600FF"/>
                </a:solidFill>
                <a:latin typeface="黑体" pitchFamily="2" charset="-122"/>
                <a:ea typeface="黑体" pitchFamily="2" charset="-122"/>
              </a:rPr>
              <a:t> </a:t>
            </a:r>
            <a:endParaRPr lang="zh-CN" altLang="zh-CN" sz="2400">
              <a:latin typeface="黑体" pitchFamily="2" charset="-122"/>
              <a:ea typeface="黑体" pitchFamily="2" charset="-122"/>
            </a:endParaRPr>
          </a:p>
        </p:txBody>
      </p:sp>
      <p:pic>
        <p:nvPicPr>
          <p:cNvPr id="1229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3375"/>
            <a:ext cx="5419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268413"/>
            <a:ext cx="70564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23666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1"/>
          <p:cNvSpPr>
            <a:spLocks noChangeArrowheads="1"/>
          </p:cNvSpPr>
          <p:nvPr/>
        </p:nvSpPr>
        <p:spPr bwMode="auto">
          <a:xfrm>
            <a:off x="171450" y="1393825"/>
            <a:ext cx="8577263" cy="527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ts val="1200"/>
              </a:spcBef>
              <a:spcAft>
                <a:spcPts val="1200"/>
              </a:spcAft>
            </a:pPr>
            <a:r>
              <a:rPr lang="zh-CN" altLang="en-US" sz="2400" dirty="0">
                <a:latin typeface="黑体" pitchFamily="2" charset="-122"/>
                <a:ea typeface="黑体" pitchFamily="2" charset="-122"/>
              </a:rPr>
              <a:t>    当阶码</a:t>
            </a:r>
            <a:r>
              <a:rPr lang="en-US" altLang="zh-CN" sz="2400" i="1" dirty="0">
                <a:latin typeface="黑体" pitchFamily="2" charset="-122"/>
                <a:ea typeface="黑体" pitchFamily="2" charset="-122"/>
              </a:rPr>
              <a:t>E </a:t>
            </a:r>
            <a:r>
              <a:rPr lang="zh-CN" altLang="en-US" sz="2400" dirty="0">
                <a:latin typeface="黑体" pitchFamily="2" charset="-122"/>
                <a:ea typeface="黑体" pitchFamily="2" charset="-122"/>
              </a:rPr>
              <a:t>为全</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且尾数</a:t>
            </a:r>
            <a:r>
              <a:rPr lang="en-US" altLang="zh-CN" sz="2400" i="1" dirty="0">
                <a:latin typeface="黑体" pitchFamily="2" charset="-122"/>
                <a:ea typeface="黑体" pitchFamily="2" charset="-122"/>
              </a:rPr>
              <a:t>M </a:t>
            </a:r>
            <a:r>
              <a:rPr lang="zh-CN" altLang="en-US" sz="2400" dirty="0">
                <a:latin typeface="黑体" pitchFamily="2" charset="-122"/>
                <a:ea typeface="黑体" pitchFamily="2" charset="-122"/>
              </a:rPr>
              <a:t>也为全</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时，表示的真值</a:t>
            </a:r>
            <a:r>
              <a:rPr lang="en-US" altLang="zh-CN" sz="2400" i="1" dirty="0" smtClean="0">
                <a:latin typeface="黑体" pitchFamily="2" charset="-122"/>
                <a:ea typeface="黑体" pitchFamily="2" charset="-122"/>
              </a:rPr>
              <a:t>x </a:t>
            </a:r>
            <a:r>
              <a:rPr lang="zh-CN" altLang="en-US" sz="2400" dirty="0" smtClean="0">
                <a:latin typeface="黑体" pitchFamily="2" charset="-122"/>
                <a:ea typeface="黑体" pitchFamily="2" charset="-122"/>
              </a:rPr>
              <a:t>为</a:t>
            </a:r>
            <a:r>
              <a:rPr lang="zh-CN" altLang="en-US" sz="2400" dirty="0">
                <a:latin typeface="黑体" pitchFamily="2" charset="-122"/>
                <a:ea typeface="黑体" pitchFamily="2" charset="-122"/>
              </a:rPr>
              <a:t>零，结合符号位</a:t>
            </a:r>
            <a:r>
              <a:rPr lang="en-US" altLang="zh-CN" sz="2400" i="1" dirty="0">
                <a:latin typeface="黑体" pitchFamily="2" charset="-122"/>
                <a:ea typeface="黑体" pitchFamily="2" charset="-122"/>
              </a:rPr>
              <a:t>S </a:t>
            </a:r>
            <a:r>
              <a:rPr lang="zh-CN" altLang="en-US" sz="2400" dirty="0">
                <a:latin typeface="黑体" pitchFamily="2" charset="-122"/>
                <a:ea typeface="黑体" pitchFamily="2" charset="-122"/>
              </a:rPr>
              <a:t>为</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或</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，有正零和负零之分。当阶码</a:t>
            </a:r>
            <a:r>
              <a:rPr lang="en-US" altLang="zh-CN" sz="2400" i="1" dirty="0">
                <a:latin typeface="黑体" pitchFamily="2" charset="-122"/>
                <a:ea typeface="黑体" pitchFamily="2" charset="-122"/>
              </a:rPr>
              <a:t>E </a:t>
            </a:r>
            <a:r>
              <a:rPr lang="zh-CN" altLang="en-US" sz="2400" dirty="0">
                <a:latin typeface="黑体" pitchFamily="2" charset="-122"/>
                <a:ea typeface="黑体" pitchFamily="2" charset="-122"/>
              </a:rPr>
              <a:t>为全</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且尾数</a:t>
            </a:r>
            <a:r>
              <a:rPr lang="en-US" altLang="zh-CN" sz="2400" i="1" dirty="0">
                <a:latin typeface="黑体" pitchFamily="2" charset="-122"/>
                <a:ea typeface="黑体" pitchFamily="2" charset="-122"/>
              </a:rPr>
              <a:t>M </a:t>
            </a:r>
            <a:r>
              <a:rPr lang="zh-CN" altLang="en-US" sz="2400" dirty="0">
                <a:latin typeface="黑体" pitchFamily="2" charset="-122"/>
                <a:ea typeface="黑体" pitchFamily="2" charset="-122"/>
              </a:rPr>
              <a:t>为全</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时，表示的真值</a:t>
            </a:r>
            <a:r>
              <a:rPr lang="en-US" altLang="zh-CN" sz="2400" i="1" dirty="0">
                <a:latin typeface="黑体" pitchFamily="2" charset="-122"/>
                <a:ea typeface="黑体" pitchFamily="2" charset="-122"/>
              </a:rPr>
              <a:t>x </a:t>
            </a:r>
            <a:r>
              <a:rPr lang="zh-CN" altLang="en-US" sz="2400" dirty="0">
                <a:latin typeface="黑体" pitchFamily="2" charset="-122"/>
                <a:ea typeface="黑体" pitchFamily="2" charset="-122"/>
              </a:rPr>
              <a:t>为无穷大，结合符号位</a:t>
            </a:r>
            <a:r>
              <a:rPr lang="en-US" altLang="zh-CN" sz="2400" i="1" dirty="0">
                <a:latin typeface="黑体" pitchFamily="2" charset="-122"/>
                <a:ea typeface="黑体" pitchFamily="2" charset="-122"/>
              </a:rPr>
              <a:t>S </a:t>
            </a:r>
            <a:r>
              <a:rPr lang="zh-CN" altLang="en-US" sz="2400" dirty="0">
                <a:latin typeface="黑体" pitchFamily="2" charset="-122"/>
                <a:ea typeface="黑体" pitchFamily="2" charset="-122"/>
              </a:rPr>
              <a:t>为</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或</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，也有</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和</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之分。这样在</a:t>
            </a:r>
            <a:r>
              <a:rPr lang="en-US" altLang="zh-CN" sz="2400" dirty="0">
                <a:latin typeface="黑体" pitchFamily="2" charset="-122"/>
                <a:ea typeface="黑体" pitchFamily="2" charset="-122"/>
              </a:rPr>
              <a:t>32</a:t>
            </a:r>
            <a:r>
              <a:rPr lang="zh-CN" altLang="en-US" sz="2400" dirty="0">
                <a:latin typeface="黑体" pitchFamily="2" charset="-122"/>
                <a:ea typeface="黑体" pitchFamily="2" charset="-122"/>
              </a:rPr>
              <a:t>位浮点数表示中，要除去</a:t>
            </a:r>
            <a:r>
              <a:rPr lang="en-US" altLang="zh-CN" sz="2400" i="1" dirty="0">
                <a:latin typeface="黑体" pitchFamily="2" charset="-122"/>
                <a:ea typeface="黑体" pitchFamily="2" charset="-122"/>
              </a:rPr>
              <a:t>E </a:t>
            </a:r>
            <a:r>
              <a:rPr lang="zh-CN" altLang="en-US" sz="2400" dirty="0">
                <a:latin typeface="黑体" pitchFamily="2" charset="-122"/>
                <a:ea typeface="黑体" pitchFamily="2" charset="-122"/>
              </a:rPr>
              <a:t>用全</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和全</a:t>
            </a:r>
            <a:r>
              <a:rPr lang="en-US" altLang="zh-CN" sz="2400" dirty="0">
                <a:latin typeface="黑体" pitchFamily="2" charset="-122"/>
                <a:ea typeface="黑体" pitchFamily="2" charset="-122"/>
              </a:rPr>
              <a:t>1(255)</a:t>
            </a:r>
            <a:r>
              <a:rPr lang="en-US" altLang="zh-CN" sz="2400" baseline="-25000" dirty="0">
                <a:latin typeface="黑体" pitchFamily="2" charset="-122"/>
                <a:ea typeface="黑体" pitchFamily="2" charset="-122"/>
              </a:rPr>
              <a:t>10</a:t>
            </a:r>
            <a:r>
              <a:rPr lang="zh-CN" altLang="en-US" sz="2400" dirty="0">
                <a:latin typeface="黑体" pitchFamily="2" charset="-122"/>
                <a:ea typeface="黑体" pitchFamily="2" charset="-122"/>
              </a:rPr>
              <a:t>表示零和无穷大的特殊情况，对于规格化浮点数，</a:t>
            </a:r>
            <a:r>
              <a:rPr lang="en-US" altLang="zh-CN" sz="2400" i="1" dirty="0">
                <a:latin typeface="黑体" pitchFamily="2" charset="-122"/>
                <a:ea typeface="黑体" pitchFamily="2" charset="-122"/>
              </a:rPr>
              <a:t>E </a:t>
            </a:r>
            <a:r>
              <a:rPr lang="zh-CN" altLang="en-US" sz="2400" dirty="0">
                <a:latin typeface="黑体" pitchFamily="2" charset="-122"/>
                <a:ea typeface="黑体" pitchFamily="2" charset="-122"/>
              </a:rPr>
              <a:t>的范围变为</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到</a:t>
            </a:r>
            <a:r>
              <a:rPr lang="en-US" altLang="zh-CN" sz="2400" dirty="0">
                <a:latin typeface="黑体" pitchFamily="2" charset="-122"/>
                <a:ea typeface="黑体" pitchFamily="2" charset="-122"/>
              </a:rPr>
              <a:t>254</a:t>
            </a:r>
            <a:r>
              <a:rPr lang="zh-CN" altLang="en-US" sz="2400" dirty="0">
                <a:latin typeface="黑体" pitchFamily="2" charset="-122"/>
                <a:ea typeface="黑体" pitchFamily="2" charset="-122"/>
              </a:rPr>
              <a:t>，真正的指数值</a:t>
            </a:r>
            <a:r>
              <a:rPr lang="en-US" altLang="zh-CN" sz="2400" i="1" dirty="0">
                <a:latin typeface="黑体" pitchFamily="2" charset="-122"/>
                <a:ea typeface="黑体" pitchFamily="2" charset="-122"/>
              </a:rPr>
              <a:t>e </a:t>
            </a:r>
            <a:r>
              <a:rPr lang="zh-CN" altLang="en-US" sz="2400" dirty="0">
                <a:latin typeface="黑体" pitchFamily="2" charset="-122"/>
                <a:ea typeface="黑体" pitchFamily="2" charset="-122"/>
              </a:rPr>
              <a:t>则为</a:t>
            </a:r>
            <a:r>
              <a:rPr lang="en-US" altLang="zh-CN" sz="2400" dirty="0">
                <a:latin typeface="黑体" pitchFamily="2" charset="-122"/>
                <a:ea typeface="黑体" pitchFamily="2" charset="-122"/>
              </a:rPr>
              <a:t>-126</a:t>
            </a:r>
            <a:r>
              <a:rPr lang="zh-CN" altLang="en-US" sz="2400" dirty="0">
                <a:latin typeface="黑体" pitchFamily="2" charset="-122"/>
                <a:ea typeface="黑体" pitchFamily="2" charset="-122"/>
              </a:rPr>
              <a:t>到</a:t>
            </a:r>
            <a:r>
              <a:rPr lang="en-US" altLang="zh-CN" sz="2400" dirty="0">
                <a:latin typeface="黑体" pitchFamily="2" charset="-122"/>
                <a:ea typeface="黑体" pitchFamily="2" charset="-122"/>
              </a:rPr>
              <a:t>+127</a:t>
            </a:r>
            <a:r>
              <a:rPr lang="zh-CN" altLang="en-US" sz="2400" dirty="0">
                <a:latin typeface="黑体" pitchFamily="2" charset="-122"/>
                <a:ea typeface="黑体" pitchFamily="2" charset="-122"/>
              </a:rPr>
              <a:t>。因此</a:t>
            </a:r>
            <a:r>
              <a:rPr lang="en-US" altLang="zh-CN" sz="2400" dirty="0">
                <a:latin typeface="黑体" pitchFamily="2" charset="-122"/>
                <a:ea typeface="黑体" pitchFamily="2" charset="-122"/>
              </a:rPr>
              <a:t>32</a:t>
            </a:r>
            <a:r>
              <a:rPr lang="zh-CN" altLang="en-US" sz="2400" dirty="0">
                <a:latin typeface="黑体" pitchFamily="2" charset="-122"/>
                <a:ea typeface="黑体" pitchFamily="2" charset="-122"/>
              </a:rPr>
              <a:t>位浮点数表示的绝对值的范围是</a:t>
            </a:r>
            <a:r>
              <a:rPr lang="en-US" altLang="zh-CN" sz="2400" dirty="0">
                <a:latin typeface="黑体" pitchFamily="2" charset="-122"/>
                <a:ea typeface="黑体" pitchFamily="2" charset="-122"/>
              </a:rPr>
              <a:t>10</a:t>
            </a:r>
            <a:r>
              <a:rPr lang="en-US" altLang="zh-CN" sz="2400" baseline="30000" dirty="0">
                <a:latin typeface="黑体" pitchFamily="2" charset="-122"/>
                <a:ea typeface="黑体" pitchFamily="2" charset="-122"/>
              </a:rPr>
              <a:t>-38</a:t>
            </a:r>
            <a:r>
              <a:rPr lang="en-US" altLang="zh-CN" sz="2400" dirty="0">
                <a:latin typeface="黑体" pitchFamily="2" charset="-122"/>
                <a:ea typeface="黑体" pitchFamily="2" charset="-122"/>
              </a:rPr>
              <a:t>~10</a:t>
            </a:r>
            <a:r>
              <a:rPr lang="en-US" altLang="zh-CN" sz="2400" baseline="30000" dirty="0">
                <a:latin typeface="黑体" pitchFamily="2" charset="-122"/>
                <a:ea typeface="黑体" pitchFamily="2" charset="-122"/>
              </a:rPr>
              <a:t>38</a:t>
            </a:r>
            <a:r>
              <a:rPr lang="zh-CN" altLang="en-US" sz="2400" dirty="0">
                <a:latin typeface="黑体" pitchFamily="2" charset="-122"/>
                <a:ea typeface="黑体" pitchFamily="2" charset="-122"/>
              </a:rPr>
              <a:t>（以</a:t>
            </a:r>
            <a:r>
              <a:rPr lang="en-US" altLang="zh-CN" sz="2400" dirty="0">
                <a:latin typeface="黑体" pitchFamily="2" charset="-122"/>
                <a:ea typeface="黑体" pitchFamily="2" charset="-122"/>
              </a:rPr>
              <a:t>10</a:t>
            </a:r>
            <a:r>
              <a:rPr lang="zh-CN" altLang="en-US" sz="2400" dirty="0">
                <a:latin typeface="黑体" pitchFamily="2" charset="-122"/>
                <a:ea typeface="黑体" pitchFamily="2" charset="-122"/>
              </a:rPr>
              <a:t>的幂表示）。</a:t>
            </a:r>
          </a:p>
          <a:p>
            <a:pPr>
              <a:lnSpc>
                <a:spcPct val="120000"/>
              </a:lnSpc>
              <a:spcBef>
                <a:spcPts val="1200"/>
              </a:spcBef>
              <a:spcAft>
                <a:spcPts val="1200"/>
              </a:spcAft>
            </a:pPr>
            <a:r>
              <a:rPr lang="zh-CN" altLang="en-US" sz="2400" i="1" dirty="0">
                <a:latin typeface="黑体" pitchFamily="2" charset="-122"/>
                <a:ea typeface="黑体" pitchFamily="2" charset="-122"/>
              </a:rPr>
              <a:t>　　</a:t>
            </a:r>
            <a:r>
              <a:rPr lang="zh-CN" altLang="en-US" sz="2400" dirty="0">
                <a:latin typeface="黑体" pitchFamily="2" charset="-122"/>
                <a:ea typeface="黑体" pitchFamily="2" charset="-122"/>
              </a:rPr>
              <a:t>浮点数表示的范围远比定点数大。一台计算机中究竟采用定点表示还是浮点表示</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要根据计算机的使用条件来确定。一般在高档微机以上的计算机中同时采用定点、浮点表示</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由使用者进行选择</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而单片机中多采用定点表示。</a:t>
            </a:r>
          </a:p>
        </p:txBody>
      </p:sp>
      <p:sp>
        <p:nvSpPr>
          <p:cNvPr id="13315" name="矩形 2"/>
          <p:cNvSpPr>
            <a:spLocks noChangeArrowheads="1"/>
          </p:cNvSpPr>
          <p:nvPr/>
        </p:nvSpPr>
        <p:spPr bwMode="auto">
          <a:xfrm>
            <a:off x="250825" y="404813"/>
            <a:ext cx="79216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800" i="1" dirty="0">
                <a:solidFill>
                  <a:srgbClr val="6600FF"/>
                </a:solidFill>
                <a:latin typeface="黑体" pitchFamily="2" charset="-122"/>
                <a:ea typeface="黑体" pitchFamily="2" charset="-122"/>
              </a:rPr>
              <a:t>ｘ</a:t>
            </a:r>
            <a:r>
              <a:rPr lang="zh-CN" altLang="zh-CN" sz="2800" dirty="0">
                <a:solidFill>
                  <a:srgbClr val="6600FF"/>
                </a:solidFill>
                <a:latin typeface="黑体" pitchFamily="2" charset="-122"/>
                <a:ea typeface="黑体" pitchFamily="2" charset="-122"/>
              </a:rPr>
              <a:t>＝(－1)</a:t>
            </a:r>
            <a:r>
              <a:rPr lang="zh-CN" altLang="zh-CN" sz="2800" i="1" baseline="30000" dirty="0">
                <a:solidFill>
                  <a:srgbClr val="6600FF"/>
                </a:solidFill>
                <a:latin typeface="黑体" pitchFamily="2" charset="-122"/>
                <a:ea typeface="黑体" pitchFamily="2" charset="-122"/>
              </a:rPr>
              <a:t>s</a:t>
            </a:r>
            <a:r>
              <a:rPr lang="zh-CN" altLang="zh-CN" sz="2800" dirty="0">
                <a:solidFill>
                  <a:srgbClr val="6600FF"/>
                </a:solidFill>
                <a:latin typeface="黑体" pitchFamily="2" charset="-122"/>
                <a:ea typeface="黑体" pitchFamily="2" charset="-122"/>
              </a:rPr>
              <a:t>×(1.</a:t>
            </a:r>
            <a:r>
              <a:rPr lang="zh-CN" altLang="zh-CN" sz="2800" i="1" dirty="0">
                <a:solidFill>
                  <a:srgbClr val="6600FF"/>
                </a:solidFill>
                <a:latin typeface="黑体" pitchFamily="2" charset="-122"/>
                <a:ea typeface="黑体" pitchFamily="2" charset="-122"/>
              </a:rPr>
              <a:t>Ｍ</a:t>
            </a:r>
            <a:r>
              <a:rPr lang="zh-CN" altLang="zh-CN" sz="2800" dirty="0">
                <a:solidFill>
                  <a:srgbClr val="6600FF"/>
                </a:solidFill>
                <a:latin typeface="黑体" pitchFamily="2" charset="-122"/>
                <a:ea typeface="黑体" pitchFamily="2" charset="-122"/>
              </a:rPr>
              <a:t>)×2</a:t>
            </a:r>
            <a:r>
              <a:rPr lang="zh-CN" altLang="zh-CN" sz="2800" i="1" baseline="30000" dirty="0">
                <a:solidFill>
                  <a:srgbClr val="6600FF"/>
                </a:solidFill>
                <a:latin typeface="黑体" pitchFamily="2" charset="-122"/>
                <a:ea typeface="黑体" pitchFamily="2" charset="-122"/>
              </a:rPr>
              <a:t>Ｅ－127</a:t>
            </a:r>
            <a:r>
              <a:rPr lang="zh-CN" altLang="zh-CN" sz="2800" dirty="0">
                <a:solidFill>
                  <a:srgbClr val="6600FF"/>
                </a:solidFill>
                <a:latin typeface="黑体" pitchFamily="2" charset="-122"/>
                <a:ea typeface="黑体" pitchFamily="2" charset="-122"/>
              </a:rPr>
              <a:t> </a:t>
            </a:r>
            <a:r>
              <a:rPr lang="zh-CN" altLang="zh-CN" sz="2800" i="1" dirty="0">
                <a:solidFill>
                  <a:srgbClr val="6600FF"/>
                </a:solidFill>
                <a:latin typeface="黑体" pitchFamily="2" charset="-122"/>
                <a:ea typeface="黑体" pitchFamily="2" charset="-122"/>
              </a:rPr>
              <a:t>　e</a:t>
            </a:r>
            <a:r>
              <a:rPr lang="zh-CN" altLang="zh-CN" sz="2800" dirty="0">
                <a:solidFill>
                  <a:srgbClr val="6600FF"/>
                </a:solidFill>
                <a:latin typeface="黑体" pitchFamily="2" charset="-122"/>
                <a:ea typeface="黑体" pitchFamily="2" charset="-122"/>
              </a:rPr>
              <a:t>＝</a:t>
            </a:r>
            <a:r>
              <a:rPr lang="zh-CN" altLang="zh-CN" sz="2800" i="1" dirty="0">
                <a:solidFill>
                  <a:srgbClr val="6600FF"/>
                </a:solidFill>
                <a:latin typeface="黑体" pitchFamily="2" charset="-122"/>
                <a:ea typeface="黑体" pitchFamily="2" charset="-122"/>
              </a:rPr>
              <a:t>Ｅ</a:t>
            </a:r>
            <a:r>
              <a:rPr lang="zh-CN" altLang="zh-CN" sz="2800" dirty="0">
                <a:solidFill>
                  <a:srgbClr val="6600FF"/>
                </a:solidFill>
                <a:latin typeface="黑体" pitchFamily="2" charset="-122"/>
                <a:ea typeface="黑体" pitchFamily="2" charset="-122"/>
              </a:rPr>
              <a:t>－127　</a:t>
            </a:r>
            <a:endParaRPr lang="zh-CN" altLang="zh-CN" sz="2800" b="1" dirty="0">
              <a:latin typeface="黑体" pitchFamily="2" charset="-122"/>
              <a:ea typeface="黑体" pitchFamily="2" charset="-122"/>
            </a:endParaRPr>
          </a:p>
        </p:txBody>
      </p:sp>
    </p:spTree>
    <p:extLst>
      <p:ext uri="{BB962C8B-B14F-4D97-AF65-F5344CB8AC3E}">
        <p14:creationId xmlns:p14="http://schemas.microsoft.com/office/powerpoint/2010/main" val="18075465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1"/>
          <p:cNvSpPr>
            <a:spLocks noChangeArrowheads="1"/>
          </p:cNvSpPr>
          <p:nvPr/>
        </p:nvSpPr>
        <p:spPr bwMode="auto">
          <a:xfrm>
            <a:off x="179388" y="300038"/>
            <a:ext cx="8569325" cy="629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0000"/>
              </a:lnSpc>
            </a:pPr>
            <a:r>
              <a:rPr lang="zh-CN" altLang="en-US" sz="2400">
                <a:latin typeface="黑体" pitchFamily="2" charset="-122"/>
                <a:ea typeface="黑体" pitchFamily="2" charset="-122"/>
              </a:rPr>
              <a:t>    小结：上面的数据四种机器表示法中，移码表示法主</a:t>
            </a:r>
            <a:endParaRPr lang="en-US" altLang="zh-CN" sz="2400">
              <a:latin typeface="黑体" pitchFamily="2" charset="-122"/>
              <a:ea typeface="黑体" pitchFamily="2" charset="-122"/>
            </a:endParaRPr>
          </a:p>
          <a:p>
            <a:pPr>
              <a:lnSpc>
                <a:spcPct val="140000"/>
              </a:lnSpc>
            </a:pPr>
            <a:r>
              <a:rPr lang="zh-CN" altLang="en-US" sz="2400">
                <a:latin typeface="黑体" pitchFamily="2" charset="-122"/>
                <a:ea typeface="黑体" pitchFamily="2" charset="-122"/>
              </a:rPr>
              <a:t>要用于表示浮点数的阶码。由于补码表示对加减法运算十</a:t>
            </a:r>
            <a:endParaRPr lang="en-US" altLang="zh-CN" sz="2400">
              <a:latin typeface="黑体" pitchFamily="2" charset="-122"/>
              <a:ea typeface="黑体" pitchFamily="2" charset="-122"/>
            </a:endParaRPr>
          </a:p>
          <a:p>
            <a:pPr>
              <a:lnSpc>
                <a:spcPct val="140000"/>
              </a:lnSpc>
            </a:pPr>
            <a:r>
              <a:rPr lang="zh-CN" altLang="en-US" sz="2400">
                <a:latin typeface="黑体" pitchFamily="2" charset="-122"/>
                <a:ea typeface="黑体" pitchFamily="2" charset="-122"/>
              </a:rPr>
              <a:t>分方便，因此目前机器中广泛采用补码表示法。在这类机</a:t>
            </a:r>
            <a:endParaRPr lang="en-US" altLang="zh-CN" sz="2400">
              <a:latin typeface="黑体" pitchFamily="2" charset="-122"/>
              <a:ea typeface="黑体" pitchFamily="2" charset="-122"/>
            </a:endParaRPr>
          </a:p>
          <a:p>
            <a:pPr>
              <a:lnSpc>
                <a:spcPct val="140000"/>
              </a:lnSpc>
            </a:pPr>
            <a:r>
              <a:rPr lang="zh-CN" altLang="en-US" sz="2400">
                <a:latin typeface="黑体" pitchFamily="2" charset="-122"/>
                <a:ea typeface="黑体" pitchFamily="2" charset="-122"/>
              </a:rPr>
              <a:t>器中，数用补码表示，补码存储，补码运算。也有些机器，数用原码来存储和传送，运算时改用补码。还有些机器在做加减法时用补码运算，在做乘除法时用原码运算。</a:t>
            </a:r>
            <a:endParaRPr lang="en-US" altLang="zh-CN" sz="2400">
              <a:latin typeface="黑体" pitchFamily="2" charset="-122"/>
              <a:ea typeface="黑体" pitchFamily="2" charset="-122"/>
            </a:endParaRPr>
          </a:p>
          <a:p>
            <a:pPr>
              <a:lnSpc>
                <a:spcPct val="140000"/>
              </a:lnSpc>
            </a:pPr>
            <a:r>
              <a:rPr lang="en-US" altLang="zh-CN" sz="2400">
                <a:latin typeface="黑体" pitchFamily="2" charset="-122"/>
                <a:ea typeface="黑体" pitchFamily="2" charset="-122"/>
              </a:rPr>
              <a:t>    </a:t>
            </a:r>
            <a:r>
              <a:rPr lang="zh-CN" altLang="en-US" sz="2400">
                <a:solidFill>
                  <a:srgbClr val="FF0000"/>
                </a:solidFill>
                <a:latin typeface="黑体" pitchFamily="2" charset="-122"/>
                <a:ea typeface="黑体" pitchFamily="2" charset="-122"/>
              </a:rPr>
              <a:t>原码</a:t>
            </a:r>
            <a:r>
              <a:rPr lang="en-US" altLang="zh-CN" sz="2400">
                <a:solidFill>
                  <a:srgbClr val="FF0000"/>
                </a:solidFill>
                <a:latin typeface="黑体" pitchFamily="2" charset="-122"/>
                <a:ea typeface="黑体" pitchFamily="2" charset="-122"/>
              </a:rPr>
              <a:t>:</a:t>
            </a:r>
            <a:r>
              <a:rPr lang="zh-CN" altLang="en-US" sz="2400">
                <a:solidFill>
                  <a:srgbClr val="FF0000"/>
                </a:solidFill>
                <a:latin typeface="黑体" pitchFamily="2" charset="-122"/>
                <a:ea typeface="黑体" pitchFamily="2" charset="-122"/>
              </a:rPr>
              <a:t>用</a:t>
            </a:r>
            <a:r>
              <a:rPr lang="en-US" altLang="zh-CN" sz="2400">
                <a:solidFill>
                  <a:srgbClr val="FF0000"/>
                </a:solidFill>
                <a:latin typeface="黑体" pitchFamily="2" charset="-122"/>
                <a:ea typeface="黑体" pitchFamily="2" charset="-122"/>
              </a:rPr>
              <a:t>0--</a:t>
            </a:r>
            <a:r>
              <a:rPr lang="zh-CN" altLang="en-US" sz="2400">
                <a:solidFill>
                  <a:srgbClr val="FF0000"/>
                </a:solidFill>
                <a:latin typeface="黑体" pitchFamily="2" charset="-122"/>
                <a:ea typeface="黑体" pitchFamily="2" charset="-122"/>
              </a:rPr>
              <a:t>正号，</a:t>
            </a:r>
            <a:r>
              <a:rPr lang="en-US" altLang="zh-CN" sz="2400">
                <a:solidFill>
                  <a:srgbClr val="FF0000"/>
                </a:solidFill>
                <a:latin typeface="黑体" pitchFamily="2" charset="-122"/>
                <a:ea typeface="黑体" pitchFamily="2" charset="-122"/>
              </a:rPr>
              <a:t>1--</a:t>
            </a:r>
            <a:r>
              <a:rPr lang="zh-CN" altLang="en-US" sz="2400">
                <a:solidFill>
                  <a:srgbClr val="FF0000"/>
                </a:solidFill>
                <a:latin typeface="黑体" pitchFamily="2" charset="-122"/>
                <a:ea typeface="黑体" pitchFamily="2" charset="-122"/>
              </a:rPr>
              <a:t>负号，其余的代码表示数据的绝对值</a:t>
            </a:r>
          </a:p>
          <a:p>
            <a:pPr>
              <a:lnSpc>
                <a:spcPct val="140000"/>
              </a:lnSpc>
            </a:pPr>
            <a:r>
              <a:rPr lang="zh-CN" altLang="en-US" sz="2400">
                <a:solidFill>
                  <a:srgbClr val="FF0000"/>
                </a:solidFill>
                <a:latin typeface="黑体" pitchFamily="2" charset="-122"/>
                <a:ea typeface="黑体" pitchFamily="2" charset="-122"/>
              </a:rPr>
              <a:t>    反码：正数同原码，负数 </a:t>
            </a:r>
            <a:r>
              <a:rPr lang="en-US" altLang="zh-CN" sz="2400">
                <a:solidFill>
                  <a:srgbClr val="FF0000"/>
                </a:solidFill>
                <a:latin typeface="黑体" pitchFamily="2" charset="-122"/>
                <a:ea typeface="黑体" pitchFamily="2" charset="-122"/>
              </a:rPr>
              <a:t>-- </a:t>
            </a:r>
            <a:r>
              <a:rPr lang="zh-CN" altLang="en-US" sz="2400">
                <a:solidFill>
                  <a:srgbClr val="FF0000"/>
                </a:solidFill>
                <a:latin typeface="黑体" pitchFamily="2" charset="-122"/>
                <a:ea typeface="黑体" pitchFamily="2" charset="-122"/>
              </a:rPr>
              <a:t>符号位置</a:t>
            </a:r>
            <a:r>
              <a:rPr lang="en-US" altLang="zh-CN" sz="2400">
                <a:solidFill>
                  <a:srgbClr val="FF0000"/>
                </a:solidFill>
                <a:latin typeface="黑体" pitchFamily="2" charset="-122"/>
                <a:ea typeface="黑体" pitchFamily="2" charset="-122"/>
              </a:rPr>
              <a:t>1,</a:t>
            </a:r>
            <a:r>
              <a:rPr lang="zh-CN" altLang="en-US" sz="2400">
                <a:solidFill>
                  <a:srgbClr val="FF0000"/>
                </a:solidFill>
                <a:latin typeface="黑体" pitchFamily="2" charset="-122"/>
                <a:ea typeface="黑体" pitchFamily="2" charset="-122"/>
              </a:rPr>
              <a:t>其余位取反</a:t>
            </a:r>
          </a:p>
          <a:p>
            <a:pPr>
              <a:lnSpc>
                <a:spcPct val="140000"/>
              </a:lnSpc>
            </a:pPr>
            <a:r>
              <a:rPr lang="zh-CN" altLang="en-US" sz="2400">
                <a:solidFill>
                  <a:srgbClr val="FF0000"/>
                </a:solidFill>
                <a:latin typeface="黑体" pitchFamily="2" charset="-122"/>
                <a:ea typeface="黑体" pitchFamily="2" charset="-122"/>
              </a:rPr>
              <a:t>    补码：正数同原码，负数 </a:t>
            </a:r>
            <a:r>
              <a:rPr lang="en-US" altLang="zh-CN" sz="2400">
                <a:solidFill>
                  <a:srgbClr val="FF0000"/>
                </a:solidFill>
                <a:latin typeface="黑体" pitchFamily="2" charset="-122"/>
                <a:ea typeface="黑体" pitchFamily="2" charset="-122"/>
              </a:rPr>
              <a:t>-- </a:t>
            </a:r>
            <a:r>
              <a:rPr lang="zh-CN" altLang="en-US" sz="2400">
                <a:solidFill>
                  <a:srgbClr val="FF0000"/>
                </a:solidFill>
                <a:latin typeface="黑体" pitchFamily="2" charset="-122"/>
                <a:ea typeface="黑体" pitchFamily="2" charset="-122"/>
              </a:rPr>
              <a:t>取反码</a:t>
            </a:r>
            <a:r>
              <a:rPr lang="en-US" altLang="zh-CN" sz="2400">
                <a:solidFill>
                  <a:srgbClr val="FF0000"/>
                </a:solidFill>
                <a:latin typeface="黑体" pitchFamily="2" charset="-122"/>
                <a:ea typeface="黑体" pitchFamily="2" charset="-122"/>
              </a:rPr>
              <a:t>,</a:t>
            </a:r>
            <a:r>
              <a:rPr lang="zh-CN" altLang="en-US" sz="2400">
                <a:solidFill>
                  <a:srgbClr val="FF0000"/>
                </a:solidFill>
                <a:latin typeface="黑体" pitchFamily="2" charset="-122"/>
                <a:ea typeface="黑体" pitchFamily="2" charset="-122"/>
              </a:rPr>
              <a:t>然后在最末位加</a:t>
            </a:r>
            <a:r>
              <a:rPr lang="en-US" altLang="zh-CN" sz="2400">
                <a:solidFill>
                  <a:srgbClr val="FF0000"/>
                </a:solidFill>
                <a:latin typeface="黑体" pitchFamily="2" charset="-122"/>
                <a:ea typeface="黑体" pitchFamily="2" charset="-122"/>
              </a:rPr>
              <a:t>1</a:t>
            </a:r>
            <a:r>
              <a:rPr lang="zh-CN" altLang="en-US" sz="2400">
                <a:solidFill>
                  <a:srgbClr val="FF0000"/>
                </a:solidFill>
                <a:latin typeface="黑体" pitchFamily="2" charset="-122"/>
                <a:ea typeface="黑体" pitchFamily="2" charset="-122"/>
              </a:rPr>
              <a:t>或自低位向高位，尾数的第一个“</a:t>
            </a:r>
            <a:r>
              <a:rPr lang="en-US" altLang="zh-CN" sz="2400">
                <a:solidFill>
                  <a:srgbClr val="FF0000"/>
                </a:solidFill>
                <a:latin typeface="黑体" pitchFamily="2" charset="-122"/>
                <a:ea typeface="黑体" pitchFamily="2" charset="-122"/>
              </a:rPr>
              <a:t>1”</a:t>
            </a:r>
            <a:r>
              <a:rPr lang="zh-CN" altLang="en-US" sz="2400">
                <a:solidFill>
                  <a:srgbClr val="FF0000"/>
                </a:solidFill>
                <a:latin typeface="黑体" pitchFamily="2" charset="-122"/>
                <a:ea typeface="黑体" pitchFamily="2" charset="-122"/>
              </a:rPr>
              <a:t>及其右部的“</a:t>
            </a:r>
            <a:r>
              <a:rPr lang="en-US" altLang="zh-CN" sz="2400">
                <a:solidFill>
                  <a:srgbClr val="FF0000"/>
                </a:solidFill>
                <a:latin typeface="黑体" pitchFamily="2" charset="-122"/>
                <a:ea typeface="黑体" pitchFamily="2" charset="-122"/>
              </a:rPr>
              <a:t>0”</a:t>
            </a:r>
            <a:r>
              <a:rPr lang="zh-CN" altLang="en-US" sz="2400">
                <a:solidFill>
                  <a:srgbClr val="FF0000"/>
                </a:solidFill>
                <a:latin typeface="黑体" pitchFamily="2" charset="-122"/>
                <a:ea typeface="黑体" pitchFamily="2" charset="-122"/>
              </a:rPr>
              <a:t>保持不变，左部的各位取反，符号位保持不变。</a:t>
            </a:r>
          </a:p>
          <a:p>
            <a:pPr>
              <a:lnSpc>
                <a:spcPct val="140000"/>
              </a:lnSpc>
            </a:pPr>
            <a:r>
              <a:rPr lang="zh-CN" altLang="en-US" sz="2400">
                <a:solidFill>
                  <a:srgbClr val="FF0000"/>
                </a:solidFill>
                <a:latin typeface="黑体" pitchFamily="2" charset="-122"/>
                <a:ea typeface="黑体" pitchFamily="2" charset="-122"/>
              </a:rPr>
              <a:t>    移码：就是将对应于真值的补码符号位取反</a:t>
            </a:r>
          </a:p>
        </p:txBody>
      </p:sp>
    </p:spTree>
    <p:extLst>
      <p:ext uri="{BB962C8B-B14F-4D97-AF65-F5344CB8AC3E}">
        <p14:creationId xmlns:p14="http://schemas.microsoft.com/office/powerpoint/2010/main" val="6872113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
          <p:cNvSpPr>
            <a:spLocks noChangeArrowheads="1"/>
          </p:cNvSpPr>
          <p:nvPr/>
        </p:nvSpPr>
        <p:spPr bwMode="auto">
          <a:xfrm>
            <a:off x="395288" y="115888"/>
            <a:ext cx="7416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itchFamily="2" charset="-122"/>
                <a:ea typeface="黑体" pitchFamily="2" charset="-122"/>
              </a:rPr>
              <a:t>例：以定点整数为例</a:t>
            </a:r>
            <a:r>
              <a:rPr lang="en-US" altLang="zh-CN" sz="2000">
                <a:latin typeface="黑体" pitchFamily="2" charset="-122"/>
                <a:ea typeface="黑体" pitchFamily="2" charset="-122"/>
              </a:rPr>
              <a:t>,</a:t>
            </a:r>
            <a:r>
              <a:rPr lang="zh-CN" altLang="en-US" sz="2000">
                <a:latin typeface="黑体" pitchFamily="2" charset="-122"/>
                <a:ea typeface="黑体" pitchFamily="2" charset="-122"/>
              </a:rPr>
              <a:t>用数轴形式说明原码、反码、补</a:t>
            </a:r>
            <a:endParaRPr lang="en-US" altLang="zh-CN" sz="2000">
              <a:latin typeface="黑体" pitchFamily="2" charset="-122"/>
              <a:ea typeface="黑体" pitchFamily="2" charset="-122"/>
            </a:endParaRPr>
          </a:p>
          <a:p>
            <a:pPr>
              <a:lnSpc>
                <a:spcPct val="15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码表示范围和可能的数码组合情况。</a:t>
            </a:r>
          </a:p>
        </p:txBody>
      </p:sp>
      <p:pic>
        <p:nvPicPr>
          <p:cNvPr id="307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1201738"/>
            <a:ext cx="7297738" cy="244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矩形 8"/>
          <p:cNvSpPr>
            <a:spLocks noChangeArrowheads="1"/>
          </p:cNvSpPr>
          <p:nvPr/>
        </p:nvSpPr>
        <p:spPr bwMode="auto">
          <a:xfrm>
            <a:off x="468313" y="3789363"/>
            <a:ext cx="73437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000" dirty="0">
                <a:latin typeface="黑体" pitchFamily="2" charset="-122"/>
                <a:ea typeface="黑体" pitchFamily="2" charset="-122"/>
              </a:rPr>
              <a:t>p63 2</a:t>
            </a:r>
            <a:r>
              <a:rPr lang="zh-CN" altLang="en-US" sz="2000" dirty="0">
                <a:latin typeface="黑体" pitchFamily="2" charset="-122"/>
                <a:ea typeface="黑体" pitchFamily="2" charset="-122"/>
              </a:rPr>
              <a:t>题 设</a:t>
            </a:r>
            <a:r>
              <a:rPr lang="en-US" altLang="zh-CN" sz="2000" dirty="0">
                <a:latin typeface="黑体" pitchFamily="2" charset="-122"/>
                <a:ea typeface="黑体" pitchFamily="2" charset="-122"/>
              </a:rPr>
              <a:t>[</a:t>
            </a:r>
            <a:r>
              <a:rPr lang="zh-CN" altLang="en-US" sz="2000" i="1" dirty="0">
                <a:latin typeface="黑体" pitchFamily="2" charset="-122"/>
                <a:ea typeface="黑体" pitchFamily="2" charset="-122"/>
              </a:rPr>
              <a:t>ｘ</a:t>
            </a:r>
            <a:r>
              <a:rPr lang="en-US" altLang="zh-CN" sz="2000" dirty="0">
                <a:latin typeface="黑体" pitchFamily="2" charset="-122"/>
                <a:ea typeface="黑体" pitchFamily="2" charset="-122"/>
              </a:rPr>
              <a:t>]</a:t>
            </a:r>
            <a:r>
              <a:rPr lang="zh-CN" altLang="en-US" sz="2000" baseline="-25000" dirty="0">
                <a:latin typeface="黑体" pitchFamily="2" charset="-122"/>
                <a:ea typeface="黑体" pitchFamily="2" charset="-122"/>
              </a:rPr>
              <a:t>补</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a0.a1a2...a6</a:t>
            </a:r>
            <a:r>
              <a:rPr lang="zh-CN" altLang="en-US" sz="2000" dirty="0">
                <a:latin typeface="黑体" pitchFamily="2" charset="-122"/>
                <a:ea typeface="黑体" pitchFamily="2" charset="-122"/>
              </a:rPr>
              <a:t>，其中</a:t>
            </a:r>
            <a:r>
              <a:rPr lang="en-US" altLang="zh-CN" sz="2000" dirty="0" err="1">
                <a:latin typeface="黑体" pitchFamily="2" charset="-122"/>
                <a:ea typeface="黑体" pitchFamily="2" charset="-122"/>
              </a:rPr>
              <a:t>ai</a:t>
            </a:r>
            <a:r>
              <a:rPr lang="zh-CN" altLang="en-US" sz="2000" dirty="0">
                <a:latin typeface="黑体" pitchFamily="2" charset="-122"/>
                <a:ea typeface="黑体" pitchFamily="2" charset="-122"/>
              </a:rPr>
              <a:t>取</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或</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，若要</a:t>
            </a:r>
            <a:r>
              <a:rPr lang="en-US" altLang="zh-CN" sz="2000" dirty="0">
                <a:latin typeface="黑体" pitchFamily="2" charset="-122"/>
                <a:ea typeface="黑体" pitchFamily="2" charset="-122"/>
              </a:rPr>
              <a:t>x&gt;-0.5,</a:t>
            </a:r>
          </a:p>
          <a:p>
            <a:pPr>
              <a:lnSpc>
                <a:spcPct val="150000"/>
              </a:lnSpc>
            </a:pPr>
            <a:r>
              <a:rPr lang="zh-CN" altLang="en-US" sz="2000" dirty="0">
                <a:latin typeface="黑体" pitchFamily="2" charset="-122"/>
                <a:ea typeface="黑体" pitchFamily="2" charset="-122"/>
              </a:rPr>
              <a:t>    求</a:t>
            </a:r>
            <a:r>
              <a:rPr lang="en-US" altLang="zh-CN" sz="2000" dirty="0">
                <a:latin typeface="黑体" pitchFamily="2" charset="-122"/>
                <a:ea typeface="黑体" pitchFamily="2" charset="-122"/>
              </a:rPr>
              <a:t>a0,a1,a2,...a6</a:t>
            </a:r>
            <a:r>
              <a:rPr lang="zh-CN" altLang="en-US" sz="2000" dirty="0">
                <a:latin typeface="黑体" pitchFamily="2" charset="-122"/>
                <a:ea typeface="黑体" pitchFamily="2" charset="-122"/>
              </a:rPr>
              <a:t>的取值。</a:t>
            </a:r>
          </a:p>
          <a:p>
            <a:pPr>
              <a:lnSpc>
                <a:spcPct val="150000"/>
              </a:lnSpc>
            </a:pPr>
            <a:r>
              <a:rPr lang="zh-CN" altLang="en-US" sz="2000" dirty="0">
                <a:latin typeface="黑体" pitchFamily="2" charset="-122"/>
                <a:ea typeface="黑体" pitchFamily="2" charset="-122"/>
              </a:rPr>
              <a:t>解：（</a:t>
            </a:r>
            <a:r>
              <a:rPr lang="en-US" altLang="zh-CN" sz="2000" dirty="0">
                <a:latin typeface="黑体" pitchFamily="2" charset="-122"/>
                <a:ea typeface="黑体" pitchFamily="2" charset="-122"/>
              </a:rPr>
              <a:t>-0.5)</a:t>
            </a:r>
            <a:r>
              <a:rPr lang="en-US" altLang="zh-CN" sz="2000" baseline="-25000" dirty="0">
                <a:latin typeface="黑体" pitchFamily="2" charset="-122"/>
                <a:ea typeface="黑体" pitchFamily="2" charset="-122"/>
              </a:rPr>
              <a:t>10</a:t>
            </a:r>
            <a:r>
              <a:rPr lang="en-US" altLang="zh-CN" sz="2000" dirty="0">
                <a:latin typeface="黑体" pitchFamily="2" charset="-122"/>
                <a:ea typeface="黑体" pitchFamily="2" charset="-122"/>
              </a:rPr>
              <a:t> = (-0.100000)</a:t>
            </a:r>
            <a:r>
              <a:rPr lang="en-US" altLang="zh-CN" sz="2000" baseline="-25000" dirty="0">
                <a:latin typeface="黑体" pitchFamily="2" charset="-122"/>
                <a:ea typeface="黑体" pitchFamily="2" charset="-122"/>
              </a:rPr>
              <a:t>2</a:t>
            </a:r>
            <a:endParaRPr lang="zh-CN" altLang="en-US" sz="2000" baseline="-25000" dirty="0">
              <a:latin typeface="黑体" pitchFamily="2" charset="-122"/>
              <a:ea typeface="黑体" pitchFamily="2" charset="-122"/>
            </a:endParaRPr>
          </a:p>
          <a:p>
            <a:pPr>
              <a:lnSpc>
                <a:spcPct val="150000"/>
              </a:lnSpc>
            </a:pPr>
            <a:r>
              <a:rPr lang="en-US" altLang="zh-CN" sz="2000" dirty="0">
                <a:latin typeface="黑体" pitchFamily="2" charset="-122"/>
                <a:ea typeface="黑体" pitchFamily="2" charset="-122"/>
              </a:rPr>
              <a:t>     [-0.100000]</a:t>
            </a:r>
            <a:r>
              <a:rPr lang="zh-CN" altLang="en-US" sz="2000" baseline="-25000" dirty="0">
                <a:latin typeface="黑体" pitchFamily="2" charset="-122"/>
                <a:ea typeface="黑体" pitchFamily="2" charset="-122"/>
              </a:rPr>
              <a:t>补</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1.100000</a:t>
            </a:r>
            <a:endParaRPr lang="zh-CN" altLang="en-US" sz="2000" dirty="0">
              <a:latin typeface="黑体" pitchFamily="2" charset="-122"/>
              <a:ea typeface="黑体" pitchFamily="2" charset="-122"/>
            </a:endParaRPr>
          </a:p>
          <a:p>
            <a:pPr>
              <a:lnSpc>
                <a:spcPct val="150000"/>
              </a:lnSpc>
            </a:pPr>
            <a:r>
              <a:rPr lang="en-US" altLang="zh-CN" sz="2000" dirty="0">
                <a:latin typeface="黑体" pitchFamily="2" charset="-122"/>
                <a:ea typeface="黑体" pitchFamily="2" charset="-122"/>
              </a:rPr>
              <a:t>     a0 = 0</a:t>
            </a:r>
            <a:r>
              <a:rPr lang="zh-CN" altLang="en-US" sz="2000" dirty="0">
                <a:latin typeface="黑体" pitchFamily="2" charset="-122"/>
                <a:ea typeface="黑体" pitchFamily="2" charset="-122"/>
              </a:rPr>
              <a:t>时，</a:t>
            </a:r>
            <a:r>
              <a:rPr lang="en-US" altLang="zh-CN" sz="2000" dirty="0">
                <a:latin typeface="黑体" pitchFamily="2" charset="-122"/>
                <a:ea typeface="黑体" pitchFamily="2" charset="-122"/>
              </a:rPr>
              <a:t>a1,a2,...a6</a:t>
            </a:r>
            <a:r>
              <a:rPr lang="zh-CN" altLang="en-US" sz="2000" dirty="0">
                <a:latin typeface="黑体" pitchFamily="2" charset="-122"/>
                <a:ea typeface="黑体" pitchFamily="2" charset="-122"/>
              </a:rPr>
              <a:t>取</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或</a:t>
            </a:r>
            <a:r>
              <a:rPr lang="en-US" altLang="zh-CN" sz="2000" dirty="0">
                <a:latin typeface="黑体" pitchFamily="2" charset="-122"/>
                <a:ea typeface="黑体" pitchFamily="2" charset="-122"/>
              </a:rPr>
              <a:t>1</a:t>
            </a:r>
            <a:endParaRPr lang="zh-CN" altLang="en-US" sz="2000" dirty="0">
              <a:latin typeface="黑体" pitchFamily="2" charset="-122"/>
              <a:ea typeface="黑体" pitchFamily="2" charset="-122"/>
            </a:endParaRPr>
          </a:p>
          <a:p>
            <a:pPr>
              <a:lnSpc>
                <a:spcPct val="150000"/>
              </a:lnSpc>
            </a:pPr>
            <a:r>
              <a:rPr lang="en-US" altLang="zh-CN" sz="2000" dirty="0">
                <a:latin typeface="黑体" pitchFamily="2" charset="-122"/>
                <a:ea typeface="黑体" pitchFamily="2" charset="-122"/>
              </a:rPr>
              <a:t>     a0 = 1</a:t>
            </a:r>
            <a:r>
              <a:rPr lang="zh-CN" altLang="en-US" sz="2000" dirty="0">
                <a:latin typeface="黑体" pitchFamily="2" charset="-122"/>
                <a:ea typeface="黑体" pitchFamily="2" charset="-122"/>
              </a:rPr>
              <a:t>时，</a:t>
            </a:r>
            <a:r>
              <a:rPr lang="en-US" altLang="zh-CN" sz="2000" dirty="0">
                <a:latin typeface="黑体" pitchFamily="2" charset="-122"/>
                <a:ea typeface="黑体" pitchFamily="2" charset="-122"/>
              </a:rPr>
              <a:t>a1 = 1,a2,...a6</a:t>
            </a:r>
            <a:r>
              <a:rPr lang="zh-CN" altLang="en-US" sz="2000" dirty="0">
                <a:latin typeface="黑体" pitchFamily="2" charset="-122"/>
                <a:ea typeface="黑体" pitchFamily="2" charset="-122"/>
              </a:rPr>
              <a:t>至少</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位取</a:t>
            </a:r>
            <a:r>
              <a:rPr lang="en-US" altLang="zh-CN" sz="2000" dirty="0">
                <a:latin typeface="黑体" pitchFamily="2" charset="-122"/>
                <a:ea typeface="黑体" pitchFamily="2" charset="-122"/>
              </a:rPr>
              <a:t>1</a:t>
            </a:r>
            <a:endParaRPr lang="zh-CN" altLang="en-US" sz="2000" dirty="0">
              <a:latin typeface="黑体" pitchFamily="2" charset="-122"/>
              <a:ea typeface="黑体" pitchFamily="2" charset="-122"/>
            </a:endParaRPr>
          </a:p>
        </p:txBody>
      </p:sp>
    </p:spTree>
    <p:extLst>
      <p:ext uri="{BB962C8B-B14F-4D97-AF65-F5344CB8AC3E}">
        <p14:creationId xmlns:p14="http://schemas.microsoft.com/office/powerpoint/2010/main" val="2830474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2"/>
          <p:cNvSpPr>
            <a:spLocks noChangeArrowheads="1"/>
          </p:cNvSpPr>
          <p:nvPr/>
        </p:nvSpPr>
        <p:spPr bwMode="auto">
          <a:xfrm>
            <a:off x="179512" y="255588"/>
            <a:ext cx="77055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例</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 若浮点数</a:t>
            </a:r>
            <a:r>
              <a:rPr lang="zh-CN" altLang="en-US" sz="2400" i="1" dirty="0">
                <a:latin typeface="黑体" pitchFamily="2" charset="-122"/>
                <a:ea typeface="黑体" pitchFamily="2" charset="-122"/>
              </a:rPr>
              <a:t>ｘ</a:t>
            </a:r>
            <a:r>
              <a:rPr lang="zh-CN" altLang="en-US" sz="2400" dirty="0" smtClean="0">
                <a:latin typeface="黑体" pitchFamily="2" charset="-122"/>
                <a:ea typeface="黑体" pitchFamily="2" charset="-122"/>
              </a:rPr>
              <a:t>的</a:t>
            </a:r>
            <a:r>
              <a:rPr lang="en-US" altLang="zh-CN" sz="2400" dirty="0">
                <a:latin typeface="黑体" pitchFamily="2" charset="-122"/>
                <a:ea typeface="黑体" pitchFamily="2" charset="-122"/>
              </a:rPr>
              <a:t>IEEE754</a:t>
            </a:r>
            <a:r>
              <a:rPr lang="zh-CN" altLang="en-US" sz="2400" dirty="0">
                <a:latin typeface="黑体" pitchFamily="2" charset="-122"/>
                <a:ea typeface="黑体" pitchFamily="2" charset="-122"/>
              </a:rPr>
              <a:t>标准存储格式为</a:t>
            </a:r>
            <a:r>
              <a:rPr lang="en-US" altLang="zh-CN" sz="2400" dirty="0">
                <a:latin typeface="黑体" pitchFamily="2" charset="-122"/>
                <a:ea typeface="黑体" pitchFamily="2" charset="-122"/>
              </a:rPr>
              <a:t>(41360000)</a:t>
            </a:r>
            <a:r>
              <a:rPr lang="en-US" altLang="zh-CN" sz="2400" baseline="-25000" dirty="0">
                <a:latin typeface="黑体" pitchFamily="2" charset="-122"/>
                <a:ea typeface="黑体" pitchFamily="2" charset="-122"/>
              </a:rPr>
              <a:t>16</a:t>
            </a:r>
            <a:r>
              <a:rPr lang="zh-CN" altLang="en-US" sz="2400" dirty="0">
                <a:latin typeface="黑体" pitchFamily="2" charset="-122"/>
                <a:ea typeface="黑体" pitchFamily="2" charset="-122"/>
              </a:rPr>
              <a:t>，  </a:t>
            </a:r>
            <a:endParaRPr lang="en-US" altLang="zh-CN" sz="2400" dirty="0">
              <a:latin typeface="黑体" pitchFamily="2" charset="-122"/>
              <a:ea typeface="黑体" pitchFamily="2" charset="-122"/>
            </a:endParaRPr>
          </a:p>
          <a:p>
            <a:r>
              <a:rPr lang="en-US" altLang="zh-CN" sz="2400" dirty="0">
                <a:latin typeface="黑体" pitchFamily="2" charset="-122"/>
                <a:ea typeface="黑体" pitchFamily="2" charset="-122"/>
              </a:rPr>
              <a:t>     </a:t>
            </a:r>
            <a:r>
              <a:rPr lang="zh-CN" altLang="en-US" sz="2400" dirty="0">
                <a:latin typeface="黑体" pitchFamily="2" charset="-122"/>
                <a:ea typeface="黑体" pitchFamily="2" charset="-122"/>
              </a:rPr>
              <a:t>求其浮点数的十进制数值。</a:t>
            </a:r>
          </a:p>
        </p:txBody>
      </p:sp>
      <p:sp>
        <p:nvSpPr>
          <p:cNvPr id="14339" name="AutoShape 2" descr="G:\jzdx\%E8%AE%A1%E7%AE%97%E6%9C%BA%E7%BB%84%E6%88%90%E5%8E%9F%E7%90%86\%E6%95%99%E6%A1%88\%E7%AC%AC%E4%BA%8C%E7%AB%A0\Images\question1.gif"/>
          <p:cNvSpPr>
            <a:spLocks noChangeAspect="1" noChangeArrowheads="1"/>
          </p:cNvSpPr>
          <p:nvPr/>
        </p:nvSpPr>
        <p:spPr bwMode="auto">
          <a:xfrm>
            <a:off x="155575" y="-334963"/>
            <a:ext cx="5343525" cy="647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2" name="组合 5"/>
          <p:cNvGrpSpPr>
            <a:grpSpLocks/>
          </p:cNvGrpSpPr>
          <p:nvPr/>
        </p:nvGrpSpPr>
        <p:grpSpPr bwMode="auto">
          <a:xfrm>
            <a:off x="250825" y="1308100"/>
            <a:ext cx="8497888" cy="5262563"/>
            <a:chOff x="251520" y="1307674"/>
            <a:chExt cx="8496944" cy="5262979"/>
          </a:xfrm>
        </p:grpSpPr>
        <p:sp>
          <p:nvSpPr>
            <p:cNvPr id="14341" name="Rectangle 1"/>
            <p:cNvSpPr>
              <a:spLocks noChangeArrowheads="1"/>
            </p:cNvSpPr>
            <p:nvPr/>
          </p:nvSpPr>
          <p:spPr bwMode="auto">
            <a:xfrm>
              <a:off x="251520" y="1307674"/>
              <a:ext cx="8496944"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400" dirty="0">
                  <a:solidFill>
                    <a:srgbClr val="002060"/>
                  </a:solidFill>
                  <a:latin typeface="黑体" pitchFamily="2" charset="-122"/>
                  <a:ea typeface="黑体" pitchFamily="2" charset="-122"/>
                </a:rPr>
                <a:t>解:</a:t>
              </a:r>
            </a:p>
            <a:p>
              <a:pPr eaLnBrk="0" hangingPunct="0">
                <a:lnSpc>
                  <a:spcPct val="120000"/>
                </a:lnSpc>
              </a:pPr>
              <a:r>
                <a:rPr lang="zh-CN" altLang="zh-CN" sz="2400" dirty="0">
                  <a:solidFill>
                    <a:srgbClr val="002060"/>
                  </a:solidFill>
                  <a:latin typeface="黑体" pitchFamily="2" charset="-122"/>
                  <a:ea typeface="黑体" pitchFamily="2" charset="-122"/>
                </a:rPr>
                <a:t>　　将十六进制数展开后，可得二进制数格式为</a:t>
              </a:r>
              <a:endParaRPr lang="en-US" altLang="zh-CN" sz="2400" dirty="0">
                <a:solidFill>
                  <a:srgbClr val="002060"/>
                </a:solidFill>
                <a:latin typeface="黑体" pitchFamily="2" charset="-122"/>
                <a:ea typeface="黑体" pitchFamily="2" charset="-122"/>
              </a:endParaRPr>
            </a:p>
            <a:p>
              <a:pPr eaLnBrk="0" hangingPunct="0">
                <a:lnSpc>
                  <a:spcPct val="120000"/>
                </a:lnSpc>
              </a:pPr>
              <a:endParaRPr lang="en-US" altLang="zh-CN" sz="2400" dirty="0">
                <a:solidFill>
                  <a:srgbClr val="002060"/>
                </a:solidFill>
                <a:latin typeface="黑体" pitchFamily="2" charset="-122"/>
                <a:ea typeface="黑体" pitchFamily="2" charset="-122"/>
              </a:endParaRPr>
            </a:p>
            <a:p>
              <a:pPr eaLnBrk="0" hangingPunct="0">
                <a:lnSpc>
                  <a:spcPct val="120000"/>
                </a:lnSpc>
              </a:pPr>
              <a:endParaRPr lang="zh-CN" altLang="zh-CN" sz="2400" dirty="0">
                <a:solidFill>
                  <a:srgbClr val="002060"/>
                </a:solidFill>
                <a:latin typeface="黑体" pitchFamily="2" charset="-122"/>
                <a:ea typeface="黑体" pitchFamily="2" charset="-122"/>
              </a:endParaRPr>
            </a:p>
            <a:p>
              <a:pPr eaLnBrk="0" hangingPunct="0">
                <a:lnSpc>
                  <a:spcPct val="120000"/>
                </a:lnSpc>
              </a:pPr>
              <a:r>
                <a:rPr lang="zh-CN" altLang="zh-CN" sz="2400" dirty="0">
                  <a:solidFill>
                    <a:srgbClr val="002060"/>
                  </a:solidFill>
                  <a:latin typeface="黑体" pitchFamily="2" charset="-122"/>
                  <a:ea typeface="黑体" pitchFamily="2" charset="-122"/>
                </a:rPr>
                <a:t>  </a:t>
              </a:r>
            </a:p>
            <a:p>
              <a:pPr eaLnBrk="0" hangingPunct="0">
                <a:lnSpc>
                  <a:spcPct val="120000"/>
                </a:lnSpc>
              </a:pPr>
              <a:r>
                <a:rPr lang="en-US" altLang="zh-CN" sz="2400" dirty="0">
                  <a:solidFill>
                    <a:srgbClr val="002060"/>
                  </a:solidFill>
                  <a:latin typeface="黑体" pitchFamily="2" charset="-122"/>
                  <a:ea typeface="黑体" pitchFamily="2" charset="-122"/>
                </a:rPr>
                <a:t>  </a:t>
              </a:r>
              <a:r>
                <a:rPr lang="zh-CN" altLang="zh-CN" sz="2400" dirty="0">
                  <a:solidFill>
                    <a:srgbClr val="002060"/>
                  </a:solidFill>
                  <a:latin typeface="黑体" pitchFamily="2" charset="-122"/>
                  <a:ea typeface="黑体" pitchFamily="2" charset="-122"/>
                </a:rPr>
                <a:t>指数e＝阶码－127＝10000010－01111111＝00000011=(3)</a:t>
              </a:r>
              <a:r>
                <a:rPr lang="zh-CN" altLang="zh-CN" sz="2400" baseline="-30000" dirty="0">
                  <a:solidFill>
                    <a:srgbClr val="002060"/>
                  </a:solidFill>
                  <a:latin typeface="黑体" pitchFamily="2" charset="-122"/>
                  <a:ea typeface="黑体" pitchFamily="2" charset="-122"/>
                </a:rPr>
                <a:t>10</a:t>
              </a:r>
              <a:endParaRPr lang="zh-CN" altLang="zh-CN" sz="2400" dirty="0">
                <a:solidFill>
                  <a:srgbClr val="002060"/>
                </a:solidFill>
                <a:latin typeface="黑体" pitchFamily="2" charset="-122"/>
                <a:ea typeface="黑体" pitchFamily="2" charset="-122"/>
              </a:endParaRPr>
            </a:p>
            <a:p>
              <a:pPr eaLnBrk="0" hangingPunct="0">
                <a:lnSpc>
                  <a:spcPct val="120000"/>
                </a:lnSpc>
              </a:pPr>
              <a:r>
                <a:rPr lang="zh-CN" altLang="zh-CN" sz="2400" dirty="0">
                  <a:solidFill>
                    <a:srgbClr val="002060"/>
                  </a:solidFill>
                  <a:latin typeface="黑体" pitchFamily="2" charset="-122"/>
                  <a:ea typeface="黑体" pitchFamily="2" charset="-122"/>
                </a:rPr>
                <a:t>　包括隐藏位1的尾数</a:t>
              </a:r>
              <a:endParaRPr lang="en-US" altLang="zh-CN" sz="2400" dirty="0">
                <a:solidFill>
                  <a:srgbClr val="002060"/>
                </a:solidFill>
                <a:latin typeface="黑体" pitchFamily="2" charset="-122"/>
                <a:ea typeface="黑体" pitchFamily="2" charset="-122"/>
              </a:endParaRPr>
            </a:p>
            <a:p>
              <a:pPr eaLnBrk="0" hangingPunct="0">
                <a:lnSpc>
                  <a:spcPct val="120000"/>
                </a:lnSpc>
              </a:pPr>
              <a:r>
                <a:rPr lang="en-US" altLang="zh-CN" sz="2400" dirty="0">
                  <a:solidFill>
                    <a:srgbClr val="002060"/>
                  </a:solidFill>
                  <a:latin typeface="黑体" pitchFamily="2" charset="-122"/>
                  <a:ea typeface="黑体" pitchFamily="2" charset="-122"/>
                </a:rPr>
                <a:t>       </a:t>
              </a:r>
              <a:r>
                <a:rPr lang="zh-CN" altLang="zh-CN" sz="2400" dirty="0">
                  <a:solidFill>
                    <a:srgbClr val="002060"/>
                  </a:solidFill>
                  <a:latin typeface="黑体" pitchFamily="2" charset="-122"/>
                  <a:ea typeface="黑体" pitchFamily="2" charset="-122"/>
                </a:rPr>
                <a:t>1.</a:t>
              </a:r>
              <a:r>
                <a:rPr lang="zh-CN" altLang="zh-CN" sz="2400" i="1" dirty="0">
                  <a:solidFill>
                    <a:srgbClr val="002060"/>
                  </a:solidFill>
                  <a:latin typeface="黑体" pitchFamily="2" charset="-122"/>
                  <a:ea typeface="黑体" pitchFamily="2" charset="-122"/>
                </a:rPr>
                <a:t>M</a:t>
              </a:r>
              <a:r>
                <a:rPr lang="zh-CN" altLang="zh-CN" sz="2400" dirty="0">
                  <a:solidFill>
                    <a:srgbClr val="002060"/>
                  </a:solidFill>
                  <a:latin typeface="黑体" pitchFamily="2" charset="-122"/>
                  <a:ea typeface="黑体" pitchFamily="2" charset="-122"/>
                </a:rPr>
                <a:t>＝1.011 0110 0000 0000 0000 0000＝1.011011</a:t>
              </a:r>
              <a:endParaRPr lang="en-US" altLang="zh-CN" sz="2400" dirty="0">
                <a:solidFill>
                  <a:srgbClr val="002060"/>
                </a:solidFill>
                <a:latin typeface="黑体" pitchFamily="2" charset="-122"/>
                <a:ea typeface="黑体" pitchFamily="2" charset="-122"/>
              </a:endParaRPr>
            </a:p>
            <a:p>
              <a:pPr eaLnBrk="0" hangingPunct="0">
                <a:lnSpc>
                  <a:spcPct val="120000"/>
                </a:lnSpc>
              </a:pPr>
              <a:r>
                <a:rPr lang="en-US" altLang="zh-CN" sz="2400" dirty="0">
                  <a:solidFill>
                    <a:srgbClr val="002060"/>
                  </a:solidFill>
                  <a:latin typeface="黑体" pitchFamily="2" charset="-122"/>
                  <a:ea typeface="黑体" pitchFamily="2" charset="-122"/>
                </a:rPr>
                <a:t>   </a:t>
              </a:r>
              <a:r>
                <a:rPr lang="zh-CN" altLang="zh-CN" sz="2400" dirty="0">
                  <a:solidFill>
                    <a:srgbClr val="002060"/>
                  </a:solidFill>
                  <a:latin typeface="黑体" pitchFamily="2" charset="-122"/>
                  <a:ea typeface="黑体" pitchFamily="2" charset="-122"/>
                </a:rPr>
                <a:t>于是有</a:t>
              </a:r>
            </a:p>
            <a:p>
              <a:pPr eaLnBrk="0" hangingPunct="0">
                <a:lnSpc>
                  <a:spcPct val="120000"/>
                </a:lnSpc>
              </a:pPr>
              <a:r>
                <a:rPr lang="zh-CN" altLang="zh-CN" sz="2400" dirty="0">
                  <a:solidFill>
                    <a:srgbClr val="002060"/>
                  </a:solidFill>
                  <a:latin typeface="黑体" pitchFamily="2" charset="-122"/>
                  <a:ea typeface="黑体" pitchFamily="2" charset="-122"/>
                </a:rPr>
                <a:t>　</a:t>
              </a:r>
              <a:r>
                <a:rPr lang="en-US" altLang="zh-CN" sz="2400" dirty="0">
                  <a:solidFill>
                    <a:srgbClr val="002060"/>
                  </a:solidFill>
                  <a:latin typeface="黑体" pitchFamily="2" charset="-122"/>
                  <a:ea typeface="黑体" pitchFamily="2" charset="-122"/>
                </a:rPr>
                <a:t> </a:t>
              </a:r>
              <a:r>
                <a:rPr lang="zh-CN" altLang="zh-CN" sz="2400" dirty="0">
                  <a:solidFill>
                    <a:srgbClr val="002060"/>
                  </a:solidFill>
                  <a:latin typeface="黑体" pitchFamily="2" charset="-122"/>
                  <a:ea typeface="黑体" pitchFamily="2" charset="-122"/>
                </a:rPr>
                <a:t>　</a:t>
              </a:r>
              <a:r>
                <a:rPr lang="zh-CN" altLang="zh-CN" sz="2400" i="1" dirty="0">
                  <a:solidFill>
                    <a:srgbClr val="002060"/>
                  </a:solidFill>
                  <a:latin typeface="黑体" pitchFamily="2" charset="-122"/>
                  <a:ea typeface="黑体" pitchFamily="2" charset="-122"/>
                </a:rPr>
                <a:t>ｘ</a:t>
              </a:r>
              <a:r>
                <a:rPr lang="zh-CN" altLang="zh-CN" sz="2400" dirty="0">
                  <a:solidFill>
                    <a:srgbClr val="002060"/>
                  </a:solidFill>
                  <a:latin typeface="黑体" pitchFamily="2" charset="-122"/>
                  <a:ea typeface="黑体" pitchFamily="2" charset="-122"/>
                </a:rPr>
                <a:t>＝(－1)</a:t>
              </a:r>
              <a:r>
                <a:rPr lang="zh-CN" altLang="zh-CN" sz="2400" baseline="30000" dirty="0">
                  <a:solidFill>
                    <a:srgbClr val="002060"/>
                  </a:solidFill>
                  <a:latin typeface="黑体" pitchFamily="2" charset="-122"/>
                  <a:ea typeface="黑体" pitchFamily="2" charset="-122"/>
                </a:rPr>
                <a:t>s</a:t>
              </a:r>
              <a:r>
                <a:rPr lang="zh-CN" altLang="zh-CN" sz="2400" dirty="0">
                  <a:solidFill>
                    <a:srgbClr val="002060"/>
                  </a:solidFill>
                  <a:latin typeface="黑体" pitchFamily="2" charset="-122"/>
                  <a:ea typeface="黑体" pitchFamily="2" charset="-122"/>
                </a:rPr>
                <a:t>×1.</a:t>
              </a:r>
              <a:r>
                <a:rPr lang="zh-CN" altLang="zh-CN" sz="2400" i="1" dirty="0">
                  <a:solidFill>
                    <a:srgbClr val="002060"/>
                  </a:solidFill>
                  <a:latin typeface="黑体" pitchFamily="2" charset="-122"/>
                  <a:ea typeface="黑体" pitchFamily="2" charset="-122"/>
                </a:rPr>
                <a:t>M</a:t>
              </a:r>
              <a:r>
                <a:rPr lang="zh-CN" altLang="zh-CN" sz="2400" dirty="0">
                  <a:solidFill>
                    <a:srgbClr val="002060"/>
                  </a:solidFill>
                  <a:latin typeface="黑体" pitchFamily="2" charset="-122"/>
                  <a:ea typeface="黑体" pitchFamily="2" charset="-122"/>
                </a:rPr>
                <a:t>×2</a:t>
              </a:r>
              <a:r>
                <a:rPr lang="zh-CN" altLang="zh-CN" sz="2400" baseline="30000" dirty="0">
                  <a:solidFill>
                    <a:srgbClr val="002060"/>
                  </a:solidFill>
                  <a:latin typeface="黑体" pitchFamily="2" charset="-122"/>
                  <a:ea typeface="黑体" pitchFamily="2" charset="-122"/>
                </a:rPr>
                <a:t>e</a:t>
              </a:r>
              <a:r>
                <a:rPr lang="zh-CN" altLang="zh-CN" sz="2400" dirty="0">
                  <a:solidFill>
                    <a:srgbClr val="002060"/>
                  </a:solidFill>
                  <a:latin typeface="黑体" pitchFamily="2" charset="-122"/>
                  <a:ea typeface="黑体" pitchFamily="2" charset="-122"/>
                </a:rPr>
                <a:t> ＝＋(1.011011)×2</a:t>
              </a:r>
              <a:r>
                <a:rPr lang="zh-CN" altLang="zh-CN" sz="2400" baseline="30000" dirty="0">
                  <a:solidFill>
                    <a:srgbClr val="002060"/>
                  </a:solidFill>
                  <a:latin typeface="黑体" pitchFamily="2" charset="-122"/>
                  <a:ea typeface="黑体" pitchFamily="2" charset="-122"/>
                </a:rPr>
                <a:t>3</a:t>
              </a:r>
              <a:r>
                <a:rPr lang="zh-CN" altLang="zh-CN" sz="2400" dirty="0">
                  <a:solidFill>
                    <a:srgbClr val="002060"/>
                  </a:solidFill>
                  <a:latin typeface="黑体" pitchFamily="2" charset="-122"/>
                  <a:ea typeface="黑体" pitchFamily="2" charset="-122"/>
                </a:rPr>
                <a:t>＝＋1011.011</a:t>
              </a:r>
              <a:r>
                <a:rPr lang="en-US" altLang="zh-CN" sz="2400" dirty="0">
                  <a:solidFill>
                    <a:srgbClr val="002060"/>
                  </a:solidFill>
                  <a:latin typeface="黑体" pitchFamily="2" charset="-122"/>
                  <a:ea typeface="黑体" pitchFamily="2" charset="-122"/>
                </a:rPr>
                <a:t> </a:t>
              </a:r>
            </a:p>
            <a:p>
              <a:pPr eaLnBrk="0" hangingPunct="0">
                <a:lnSpc>
                  <a:spcPct val="120000"/>
                </a:lnSpc>
              </a:pPr>
              <a:r>
                <a:rPr lang="en-US" altLang="zh-CN" sz="2400" dirty="0">
                  <a:solidFill>
                    <a:srgbClr val="002060"/>
                  </a:solidFill>
                  <a:latin typeface="黑体" pitchFamily="2" charset="-122"/>
                  <a:ea typeface="黑体" pitchFamily="2" charset="-122"/>
                </a:rPr>
                <a:t>   </a:t>
              </a:r>
              <a:r>
                <a:rPr lang="zh-CN" altLang="zh-CN" sz="2400" dirty="0">
                  <a:solidFill>
                    <a:srgbClr val="002060"/>
                  </a:solidFill>
                  <a:latin typeface="黑体" pitchFamily="2" charset="-122"/>
                  <a:ea typeface="黑体" pitchFamily="2" charset="-122"/>
                </a:rPr>
                <a:t>＝(1x2</a:t>
              </a:r>
              <a:r>
                <a:rPr lang="zh-CN" altLang="zh-CN" sz="2400" baseline="30000" dirty="0">
                  <a:solidFill>
                    <a:srgbClr val="002060"/>
                  </a:solidFill>
                  <a:latin typeface="黑体" pitchFamily="2" charset="-122"/>
                  <a:ea typeface="黑体" pitchFamily="2" charset="-122"/>
                </a:rPr>
                <a:t>0</a:t>
              </a:r>
              <a:r>
                <a:rPr lang="zh-CN" altLang="zh-CN" sz="2400" dirty="0">
                  <a:solidFill>
                    <a:srgbClr val="002060"/>
                  </a:solidFill>
                  <a:latin typeface="黑体" pitchFamily="2" charset="-122"/>
                  <a:ea typeface="黑体" pitchFamily="2" charset="-122"/>
                </a:rPr>
                <a:t>+1x2</a:t>
              </a:r>
              <a:r>
                <a:rPr lang="zh-CN" altLang="zh-CN" sz="2400" baseline="30000" dirty="0">
                  <a:solidFill>
                    <a:srgbClr val="002060"/>
                  </a:solidFill>
                  <a:latin typeface="黑体" pitchFamily="2" charset="-122"/>
                  <a:ea typeface="黑体" pitchFamily="2" charset="-122"/>
                </a:rPr>
                <a:t>1</a:t>
              </a:r>
              <a:r>
                <a:rPr lang="zh-CN" altLang="zh-CN" sz="2400" dirty="0">
                  <a:solidFill>
                    <a:srgbClr val="002060"/>
                  </a:solidFill>
                  <a:latin typeface="黑体" pitchFamily="2" charset="-122"/>
                  <a:ea typeface="黑体" pitchFamily="2" charset="-122"/>
                </a:rPr>
                <a:t>+0x2</a:t>
              </a:r>
              <a:r>
                <a:rPr lang="zh-CN" altLang="zh-CN" sz="2400" baseline="30000" dirty="0">
                  <a:solidFill>
                    <a:srgbClr val="002060"/>
                  </a:solidFill>
                  <a:latin typeface="黑体" pitchFamily="2" charset="-122"/>
                  <a:ea typeface="黑体" pitchFamily="2" charset="-122"/>
                </a:rPr>
                <a:t>2</a:t>
              </a:r>
              <a:r>
                <a:rPr lang="zh-CN" altLang="zh-CN" sz="2400" dirty="0">
                  <a:solidFill>
                    <a:srgbClr val="002060"/>
                  </a:solidFill>
                  <a:latin typeface="黑体" pitchFamily="2" charset="-122"/>
                  <a:ea typeface="黑体" pitchFamily="2" charset="-122"/>
                </a:rPr>
                <a:t>+1x2</a:t>
              </a:r>
              <a:r>
                <a:rPr lang="zh-CN" altLang="zh-CN" sz="2400" baseline="30000" dirty="0">
                  <a:solidFill>
                    <a:srgbClr val="002060"/>
                  </a:solidFill>
                  <a:latin typeface="黑体" pitchFamily="2" charset="-122"/>
                  <a:ea typeface="黑体" pitchFamily="2" charset="-122"/>
                </a:rPr>
                <a:t>3</a:t>
              </a:r>
              <a:r>
                <a:rPr lang="zh-CN" altLang="zh-CN" sz="2400" dirty="0">
                  <a:solidFill>
                    <a:srgbClr val="002060"/>
                  </a:solidFill>
                  <a:latin typeface="黑体" pitchFamily="2" charset="-122"/>
                  <a:ea typeface="黑体" pitchFamily="2" charset="-122"/>
                </a:rPr>
                <a:t>.0x2</a:t>
              </a:r>
              <a:r>
                <a:rPr lang="zh-CN" altLang="zh-CN" sz="2400" baseline="30000" dirty="0">
                  <a:solidFill>
                    <a:srgbClr val="002060"/>
                  </a:solidFill>
                  <a:latin typeface="黑体" pitchFamily="2" charset="-122"/>
                  <a:ea typeface="黑体" pitchFamily="2" charset="-122"/>
                </a:rPr>
                <a:t>-1</a:t>
              </a:r>
              <a:r>
                <a:rPr lang="zh-CN" altLang="zh-CN" sz="2400" dirty="0">
                  <a:solidFill>
                    <a:srgbClr val="002060"/>
                  </a:solidFill>
                  <a:latin typeface="黑体" pitchFamily="2" charset="-122"/>
                  <a:ea typeface="黑体" pitchFamily="2" charset="-122"/>
                </a:rPr>
                <a:t>+1x2</a:t>
              </a:r>
              <a:r>
                <a:rPr lang="zh-CN" altLang="zh-CN" sz="2400" baseline="30000" dirty="0">
                  <a:solidFill>
                    <a:srgbClr val="002060"/>
                  </a:solidFill>
                  <a:latin typeface="黑体" pitchFamily="2" charset="-122"/>
                  <a:ea typeface="黑体" pitchFamily="2" charset="-122"/>
                </a:rPr>
                <a:t>-2</a:t>
              </a:r>
              <a:r>
                <a:rPr lang="zh-CN" altLang="zh-CN" sz="2400" dirty="0">
                  <a:solidFill>
                    <a:srgbClr val="002060"/>
                  </a:solidFill>
                  <a:latin typeface="黑体" pitchFamily="2" charset="-122"/>
                  <a:ea typeface="黑体" pitchFamily="2" charset="-122"/>
                </a:rPr>
                <a:t>+1x2</a:t>
              </a:r>
              <a:r>
                <a:rPr lang="zh-CN" altLang="zh-CN" sz="2400" baseline="30000" dirty="0">
                  <a:solidFill>
                    <a:srgbClr val="002060"/>
                  </a:solidFill>
                  <a:latin typeface="黑体" pitchFamily="2" charset="-122"/>
                  <a:ea typeface="黑体" pitchFamily="2" charset="-122"/>
                </a:rPr>
                <a:t>-3</a:t>
              </a:r>
              <a:r>
                <a:rPr lang="zh-CN" altLang="zh-CN" sz="2400" dirty="0">
                  <a:solidFill>
                    <a:srgbClr val="002060"/>
                  </a:solidFill>
                  <a:latin typeface="黑体" pitchFamily="2" charset="-122"/>
                  <a:ea typeface="黑体" pitchFamily="2" charset="-122"/>
                </a:rPr>
                <a:t>)</a:t>
              </a:r>
              <a:r>
                <a:rPr lang="zh-CN" altLang="zh-CN" sz="2400" baseline="-30000" dirty="0">
                  <a:solidFill>
                    <a:srgbClr val="002060"/>
                  </a:solidFill>
                  <a:latin typeface="黑体" pitchFamily="2" charset="-122"/>
                  <a:ea typeface="黑体" pitchFamily="2" charset="-122"/>
                </a:rPr>
                <a:t>10</a:t>
              </a:r>
              <a:r>
                <a:rPr lang="zh-CN" altLang="zh-CN" sz="2400" dirty="0">
                  <a:solidFill>
                    <a:srgbClr val="002060"/>
                  </a:solidFill>
                  <a:latin typeface="黑体" pitchFamily="2" charset="-122"/>
                  <a:ea typeface="黑体" pitchFamily="2" charset="-122"/>
                </a:rPr>
                <a:t>＝(11.375)</a:t>
              </a:r>
              <a:r>
                <a:rPr lang="zh-CN" altLang="zh-CN" sz="2400" baseline="-30000" dirty="0">
                  <a:solidFill>
                    <a:srgbClr val="002060"/>
                  </a:solidFill>
                  <a:latin typeface="黑体" pitchFamily="2" charset="-122"/>
                  <a:ea typeface="黑体" pitchFamily="2" charset="-122"/>
                </a:rPr>
                <a:t>10</a:t>
              </a:r>
              <a:r>
                <a:rPr lang="zh-CN" altLang="zh-CN" sz="4000" dirty="0">
                  <a:solidFill>
                    <a:srgbClr val="002060"/>
                  </a:solidFill>
                </a:rPr>
                <a:t> </a:t>
              </a:r>
            </a:p>
          </p:txBody>
        </p:sp>
        <p:pic>
          <p:nvPicPr>
            <p:cNvPr id="1434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420888"/>
              <a:ext cx="604867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7142999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矩形 2"/>
          <p:cNvSpPr>
            <a:spLocks noChangeArrowheads="1"/>
          </p:cNvSpPr>
          <p:nvPr/>
        </p:nvSpPr>
        <p:spPr bwMode="auto">
          <a:xfrm>
            <a:off x="251520" y="341882"/>
            <a:ext cx="7416800" cy="10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800" dirty="0">
                <a:latin typeface="黑体" pitchFamily="2" charset="-122"/>
                <a:ea typeface="黑体" pitchFamily="2" charset="-122"/>
              </a:rPr>
              <a:t>[</a:t>
            </a:r>
            <a:r>
              <a:rPr lang="zh-CN" altLang="en-US" sz="2800" dirty="0">
                <a:latin typeface="黑体" pitchFamily="2" charset="-122"/>
                <a:ea typeface="黑体" pitchFamily="2" charset="-122"/>
              </a:rPr>
              <a:t>例</a:t>
            </a:r>
            <a:r>
              <a:rPr lang="en-US" altLang="zh-CN" sz="2800" dirty="0" smtClean="0">
                <a:latin typeface="黑体" pitchFamily="2" charset="-122"/>
                <a:ea typeface="黑体" pitchFamily="2" charset="-122"/>
              </a:rPr>
              <a:t>] </a:t>
            </a:r>
            <a:r>
              <a:rPr lang="zh-CN" altLang="en-US" sz="2800" dirty="0" smtClean="0">
                <a:latin typeface="黑体" pitchFamily="2" charset="-122"/>
                <a:ea typeface="黑体" pitchFamily="2" charset="-122"/>
              </a:rPr>
              <a:t>若</a:t>
            </a:r>
            <a:r>
              <a:rPr lang="en-US" altLang="zh-CN" sz="2800" dirty="0">
                <a:latin typeface="黑体" pitchFamily="2" charset="-122"/>
                <a:ea typeface="黑体" pitchFamily="2" charset="-122"/>
              </a:rPr>
              <a:t>32</a:t>
            </a:r>
            <a:r>
              <a:rPr lang="zh-CN" altLang="en-US" sz="2800" dirty="0">
                <a:latin typeface="黑体" pitchFamily="2" charset="-122"/>
                <a:ea typeface="黑体" pitchFamily="2" charset="-122"/>
              </a:rPr>
              <a:t>位浮点数</a:t>
            </a:r>
            <a:r>
              <a:rPr lang="zh-CN" altLang="en-US" sz="2800" i="1" dirty="0">
                <a:latin typeface="黑体" pitchFamily="2" charset="-122"/>
                <a:ea typeface="黑体" pitchFamily="2" charset="-122"/>
              </a:rPr>
              <a:t>ｘ</a:t>
            </a:r>
            <a:r>
              <a:rPr lang="zh-CN" altLang="en-US" sz="2800" dirty="0">
                <a:latin typeface="黑体" pitchFamily="2" charset="-122"/>
                <a:ea typeface="黑体" pitchFamily="2" charset="-122"/>
              </a:rPr>
              <a:t>的</a:t>
            </a:r>
            <a:r>
              <a:rPr lang="en-US" altLang="zh-CN" sz="2800" dirty="0">
                <a:latin typeface="黑体" pitchFamily="2" charset="-122"/>
                <a:ea typeface="黑体" pitchFamily="2" charset="-122"/>
              </a:rPr>
              <a:t>IEEE754</a:t>
            </a:r>
            <a:r>
              <a:rPr lang="zh-CN" altLang="en-US" sz="2800" dirty="0">
                <a:latin typeface="黑体" pitchFamily="2" charset="-122"/>
                <a:ea typeface="黑体" pitchFamily="2" charset="-122"/>
              </a:rPr>
              <a:t>标准存储</a:t>
            </a:r>
            <a:r>
              <a:rPr lang="zh-CN" altLang="en-US" sz="2800" dirty="0" smtClean="0">
                <a:latin typeface="黑体" pitchFamily="2" charset="-122"/>
                <a:ea typeface="黑体" pitchFamily="2" charset="-122"/>
              </a:rPr>
              <a:t>格式</a:t>
            </a:r>
            <a:endParaRPr lang="en-US" altLang="zh-CN" sz="2800" dirty="0" smtClean="0">
              <a:latin typeface="黑体" pitchFamily="2" charset="-122"/>
              <a:ea typeface="黑体" pitchFamily="2" charset="-122"/>
            </a:endParaRPr>
          </a:p>
          <a:p>
            <a:pPr>
              <a:lnSpc>
                <a:spcPct val="120000"/>
              </a:lnSpc>
            </a:pPr>
            <a:r>
              <a:rPr lang="en-US" altLang="zh-CN" sz="2800" dirty="0">
                <a:latin typeface="黑体" pitchFamily="2" charset="-122"/>
                <a:ea typeface="黑体" pitchFamily="2" charset="-122"/>
              </a:rPr>
              <a:t> </a:t>
            </a:r>
            <a:r>
              <a:rPr lang="en-US" altLang="zh-CN" sz="2800" dirty="0" smtClean="0">
                <a:latin typeface="黑体" pitchFamily="2" charset="-122"/>
                <a:ea typeface="黑体" pitchFamily="2" charset="-122"/>
              </a:rPr>
              <a:t>    </a:t>
            </a:r>
            <a:r>
              <a:rPr lang="zh-CN" altLang="en-US" sz="2800" dirty="0" smtClean="0">
                <a:latin typeface="黑体" pitchFamily="2" charset="-122"/>
                <a:ea typeface="黑体" pitchFamily="2" charset="-122"/>
              </a:rPr>
              <a:t>为</a:t>
            </a:r>
            <a:r>
              <a:rPr lang="en-US" altLang="zh-CN" sz="2800" dirty="0" smtClean="0">
                <a:latin typeface="黑体" pitchFamily="2" charset="-122"/>
                <a:ea typeface="黑体" pitchFamily="2" charset="-122"/>
              </a:rPr>
              <a:t>C0400000H</a:t>
            </a:r>
            <a:r>
              <a:rPr lang="zh-CN" altLang="en-US" sz="2800" dirty="0" smtClean="0">
                <a:latin typeface="黑体" pitchFamily="2" charset="-122"/>
                <a:ea typeface="黑体" pitchFamily="2" charset="-122"/>
              </a:rPr>
              <a:t>，求</a:t>
            </a:r>
            <a:r>
              <a:rPr lang="zh-CN" altLang="en-US" sz="2800" dirty="0">
                <a:latin typeface="黑体" pitchFamily="2" charset="-122"/>
                <a:ea typeface="黑体" pitchFamily="2" charset="-122"/>
              </a:rPr>
              <a:t>其浮点数的十进制数值。</a:t>
            </a:r>
          </a:p>
        </p:txBody>
      </p:sp>
      <p:sp>
        <p:nvSpPr>
          <p:cNvPr id="32773" name="矩形 2"/>
          <p:cNvSpPr>
            <a:spLocks noChangeArrowheads="1"/>
          </p:cNvSpPr>
          <p:nvPr/>
        </p:nvSpPr>
        <p:spPr bwMode="auto">
          <a:xfrm>
            <a:off x="475680" y="2792561"/>
            <a:ext cx="79216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800" i="1">
                <a:solidFill>
                  <a:srgbClr val="6600FF"/>
                </a:solidFill>
                <a:latin typeface="黑体" pitchFamily="2" charset="-122"/>
                <a:ea typeface="黑体" pitchFamily="2" charset="-122"/>
              </a:rPr>
              <a:t>ｘ</a:t>
            </a:r>
            <a:r>
              <a:rPr lang="zh-CN" altLang="zh-CN" sz="2800">
                <a:solidFill>
                  <a:srgbClr val="6600FF"/>
                </a:solidFill>
                <a:latin typeface="黑体" pitchFamily="2" charset="-122"/>
                <a:ea typeface="黑体" pitchFamily="2" charset="-122"/>
              </a:rPr>
              <a:t>＝(－1)</a:t>
            </a:r>
            <a:r>
              <a:rPr lang="zh-CN" altLang="zh-CN" sz="2800" i="1" baseline="30000">
                <a:solidFill>
                  <a:srgbClr val="6600FF"/>
                </a:solidFill>
                <a:latin typeface="黑体" pitchFamily="2" charset="-122"/>
                <a:ea typeface="黑体" pitchFamily="2" charset="-122"/>
              </a:rPr>
              <a:t>s</a:t>
            </a:r>
            <a:r>
              <a:rPr lang="zh-CN" altLang="zh-CN" sz="2800">
                <a:solidFill>
                  <a:srgbClr val="6600FF"/>
                </a:solidFill>
                <a:latin typeface="黑体" pitchFamily="2" charset="-122"/>
                <a:ea typeface="黑体" pitchFamily="2" charset="-122"/>
              </a:rPr>
              <a:t>×(1.</a:t>
            </a:r>
            <a:r>
              <a:rPr lang="zh-CN" altLang="zh-CN" sz="2800" i="1">
                <a:solidFill>
                  <a:srgbClr val="6600FF"/>
                </a:solidFill>
                <a:latin typeface="黑体" pitchFamily="2" charset="-122"/>
                <a:ea typeface="黑体" pitchFamily="2" charset="-122"/>
              </a:rPr>
              <a:t>Ｍ</a:t>
            </a:r>
            <a:r>
              <a:rPr lang="zh-CN" altLang="zh-CN" sz="2800">
                <a:solidFill>
                  <a:srgbClr val="6600FF"/>
                </a:solidFill>
                <a:latin typeface="黑体" pitchFamily="2" charset="-122"/>
                <a:ea typeface="黑体" pitchFamily="2" charset="-122"/>
              </a:rPr>
              <a:t>)×2</a:t>
            </a:r>
            <a:r>
              <a:rPr lang="zh-CN" altLang="zh-CN" sz="2800" i="1" baseline="30000">
                <a:solidFill>
                  <a:srgbClr val="6600FF"/>
                </a:solidFill>
                <a:latin typeface="黑体" pitchFamily="2" charset="-122"/>
                <a:ea typeface="黑体" pitchFamily="2" charset="-122"/>
              </a:rPr>
              <a:t>Ｅ－127</a:t>
            </a:r>
            <a:r>
              <a:rPr lang="zh-CN" altLang="zh-CN" sz="2800">
                <a:solidFill>
                  <a:srgbClr val="6600FF"/>
                </a:solidFill>
                <a:latin typeface="黑体" pitchFamily="2" charset="-122"/>
                <a:ea typeface="黑体" pitchFamily="2" charset="-122"/>
              </a:rPr>
              <a:t> </a:t>
            </a:r>
            <a:r>
              <a:rPr lang="zh-CN" altLang="zh-CN" sz="2800" i="1">
                <a:solidFill>
                  <a:srgbClr val="6600FF"/>
                </a:solidFill>
                <a:latin typeface="黑体" pitchFamily="2" charset="-122"/>
                <a:ea typeface="黑体" pitchFamily="2" charset="-122"/>
              </a:rPr>
              <a:t>　e</a:t>
            </a:r>
            <a:r>
              <a:rPr lang="zh-CN" altLang="zh-CN" sz="2800">
                <a:solidFill>
                  <a:srgbClr val="6600FF"/>
                </a:solidFill>
                <a:latin typeface="黑体" pitchFamily="2" charset="-122"/>
                <a:ea typeface="黑体" pitchFamily="2" charset="-122"/>
              </a:rPr>
              <a:t>＝</a:t>
            </a:r>
            <a:r>
              <a:rPr lang="zh-CN" altLang="zh-CN" sz="2800" i="1">
                <a:solidFill>
                  <a:srgbClr val="6600FF"/>
                </a:solidFill>
                <a:latin typeface="黑体" pitchFamily="2" charset="-122"/>
                <a:ea typeface="黑体" pitchFamily="2" charset="-122"/>
              </a:rPr>
              <a:t>Ｅ</a:t>
            </a:r>
            <a:r>
              <a:rPr lang="zh-CN" altLang="zh-CN" sz="2800">
                <a:solidFill>
                  <a:srgbClr val="6600FF"/>
                </a:solidFill>
                <a:latin typeface="黑体" pitchFamily="2" charset="-122"/>
                <a:ea typeface="黑体" pitchFamily="2" charset="-122"/>
              </a:rPr>
              <a:t>－127　</a:t>
            </a:r>
            <a:endParaRPr lang="zh-CN" altLang="zh-CN" sz="2800" b="1">
              <a:latin typeface="黑体" pitchFamily="2" charset="-122"/>
              <a:ea typeface="黑体" pitchFamily="2" charset="-122"/>
            </a:endParaRPr>
          </a:p>
        </p:txBody>
      </p:sp>
      <p:pic>
        <p:nvPicPr>
          <p:cNvPr id="3277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844824"/>
            <a:ext cx="6336704"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364555" y="3656161"/>
            <a:ext cx="83915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dirty="0">
                <a:latin typeface="黑体" pitchFamily="2" charset="-122"/>
                <a:ea typeface="黑体" pitchFamily="2" charset="-122"/>
              </a:rPr>
              <a:t>  C    0    4    0    0    0    0    0</a:t>
            </a:r>
          </a:p>
          <a:p>
            <a:r>
              <a:rPr lang="en-US" altLang="zh-CN" sz="3200" dirty="0">
                <a:latin typeface="黑体" pitchFamily="2" charset="-122"/>
                <a:ea typeface="黑体" pitchFamily="2" charset="-122"/>
              </a:rPr>
              <a:t>1100 0000 0100 0000 0000 0000 0000 0000</a:t>
            </a:r>
          </a:p>
        </p:txBody>
      </p:sp>
      <p:cxnSp>
        <p:nvCxnSpPr>
          <p:cNvPr id="9" name="直接连接符 8"/>
          <p:cNvCxnSpPr>
            <a:cxnSpLocks noChangeShapeType="1"/>
          </p:cNvCxnSpPr>
          <p:nvPr/>
        </p:nvCxnSpPr>
        <p:spPr bwMode="auto">
          <a:xfrm>
            <a:off x="467742" y="4732486"/>
            <a:ext cx="1444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 name="直接连接符 10"/>
          <p:cNvCxnSpPr>
            <a:cxnSpLocks noChangeShapeType="1"/>
          </p:cNvCxnSpPr>
          <p:nvPr/>
        </p:nvCxnSpPr>
        <p:spPr bwMode="auto">
          <a:xfrm>
            <a:off x="683642" y="4732486"/>
            <a:ext cx="194468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 name="直接连接符 12"/>
          <p:cNvCxnSpPr>
            <a:cxnSpLocks noChangeShapeType="1"/>
          </p:cNvCxnSpPr>
          <p:nvPr/>
        </p:nvCxnSpPr>
        <p:spPr bwMode="auto">
          <a:xfrm>
            <a:off x="2771205" y="4732486"/>
            <a:ext cx="5626100"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14" name="矩形 13"/>
          <p:cNvSpPr>
            <a:spLocks noChangeArrowheads="1"/>
          </p:cNvSpPr>
          <p:nvPr/>
        </p:nvSpPr>
        <p:spPr bwMode="auto">
          <a:xfrm>
            <a:off x="442342" y="5024586"/>
            <a:ext cx="7981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a:latin typeface="黑体" pitchFamily="2" charset="-122"/>
                <a:ea typeface="黑体" pitchFamily="2" charset="-122"/>
              </a:rPr>
              <a:t>S=1,e=128-127=1,M=1000…0000000000000</a:t>
            </a:r>
          </a:p>
        </p:txBody>
      </p:sp>
      <p:sp>
        <p:nvSpPr>
          <p:cNvPr id="15" name="矩形 2"/>
          <p:cNvSpPr>
            <a:spLocks noChangeArrowheads="1"/>
          </p:cNvSpPr>
          <p:nvPr/>
        </p:nvSpPr>
        <p:spPr bwMode="auto">
          <a:xfrm>
            <a:off x="553467" y="5816749"/>
            <a:ext cx="792162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800" i="1" dirty="0">
                <a:solidFill>
                  <a:srgbClr val="6600FF"/>
                </a:solidFill>
                <a:latin typeface="黑体" pitchFamily="2" charset="-122"/>
                <a:ea typeface="黑体" pitchFamily="2" charset="-122"/>
              </a:rPr>
              <a:t>ｘ＝(－1)</a:t>
            </a:r>
            <a:r>
              <a:rPr lang="en-US" altLang="zh-CN" sz="2800" i="1" baseline="30000" dirty="0">
                <a:solidFill>
                  <a:srgbClr val="6600FF"/>
                </a:solidFill>
                <a:latin typeface="黑体" pitchFamily="2" charset="-122"/>
                <a:ea typeface="黑体" pitchFamily="2" charset="-122"/>
              </a:rPr>
              <a:t>1</a:t>
            </a:r>
            <a:r>
              <a:rPr lang="zh-CN" altLang="zh-CN" sz="2800" i="1" dirty="0">
                <a:solidFill>
                  <a:srgbClr val="6600FF"/>
                </a:solidFill>
                <a:latin typeface="黑体" pitchFamily="2" charset="-122"/>
                <a:ea typeface="黑体" pitchFamily="2" charset="-122"/>
              </a:rPr>
              <a:t>×(1.</a:t>
            </a:r>
            <a:r>
              <a:rPr lang="en-US" altLang="zh-CN" sz="2800" i="1" dirty="0">
                <a:solidFill>
                  <a:srgbClr val="6600FF"/>
                </a:solidFill>
                <a:latin typeface="黑体" pitchFamily="2" charset="-122"/>
                <a:ea typeface="黑体" pitchFamily="2" charset="-122"/>
              </a:rPr>
              <a:t>1</a:t>
            </a:r>
            <a:r>
              <a:rPr lang="zh-CN" altLang="zh-CN" sz="2800" i="1" dirty="0">
                <a:solidFill>
                  <a:srgbClr val="6600FF"/>
                </a:solidFill>
                <a:latin typeface="黑体" pitchFamily="2" charset="-122"/>
                <a:ea typeface="黑体" pitchFamily="2" charset="-122"/>
              </a:rPr>
              <a:t>)×2</a:t>
            </a:r>
            <a:r>
              <a:rPr lang="zh-CN" altLang="zh-CN" sz="2800" i="1" baseline="30000" dirty="0">
                <a:solidFill>
                  <a:srgbClr val="6600FF"/>
                </a:solidFill>
                <a:latin typeface="黑体" pitchFamily="2" charset="-122"/>
                <a:ea typeface="黑体" pitchFamily="2" charset="-122"/>
              </a:rPr>
              <a:t>1</a:t>
            </a:r>
            <a:r>
              <a:rPr lang="zh-CN" altLang="zh-CN" sz="2800" i="1" dirty="0">
                <a:solidFill>
                  <a:srgbClr val="6600FF"/>
                </a:solidFill>
                <a:latin typeface="黑体" pitchFamily="2" charset="-122"/>
                <a:ea typeface="黑体" pitchFamily="2" charset="-122"/>
              </a:rPr>
              <a:t>＝</a:t>
            </a:r>
            <a:r>
              <a:rPr lang="en-US" altLang="zh-CN" sz="2800" i="1" dirty="0">
                <a:solidFill>
                  <a:srgbClr val="6600FF"/>
                </a:solidFill>
                <a:latin typeface="黑体" pitchFamily="2" charset="-122"/>
                <a:ea typeface="黑体" pitchFamily="2" charset="-122"/>
              </a:rPr>
              <a:t>-11B=-3</a:t>
            </a:r>
            <a:r>
              <a:rPr lang="zh-CN" altLang="zh-CN" sz="2800" i="1" dirty="0">
                <a:solidFill>
                  <a:srgbClr val="6600FF"/>
                </a:solidFill>
                <a:latin typeface="黑体" pitchFamily="2" charset="-122"/>
                <a:ea typeface="黑体" pitchFamily="2" charset="-122"/>
              </a:rPr>
              <a:t>　</a:t>
            </a:r>
            <a:endParaRPr lang="zh-CN" altLang="zh-CN" sz="2800" b="1" i="1" dirty="0">
              <a:latin typeface="黑体" pitchFamily="2" charset="-122"/>
              <a:ea typeface="黑体" pitchFamily="2" charset="-122"/>
            </a:endParaRPr>
          </a:p>
        </p:txBody>
      </p:sp>
    </p:spTree>
    <p:extLst>
      <p:ext uri="{BB962C8B-B14F-4D97-AF65-F5344CB8AC3E}">
        <p14:creationId xmlns:p14="http://schemas.microsoft.com/office/powerpoint/2010/main" val="32634881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31941" y="116632"/>
            <a:ext cx="8763000" cy="5909310"/>
          </a:xfrm>
          <a:prstGeom prst="rect">
            <a:avLst/>
          </a:prstGeom>
          <a:solidFill>
            <a:schemeClr val="bg1"/>
          </a:solidFill>
          <a:ln>
            <a:noFill/>
          </a:ln>
          <a:effectLst/>
        </p:spPr>
        <p:txBody>
          <a:bodyPr>
            <a:spAutoFit/>
          </a:bodyPr>
          <a:lstStyle/>
          <a:p>
            <a:pPr>
              <a:lnSpc>
                <a:spcPct val="135000"/>
              </a:lnSpc>
              <a:spcBef>
                <a:spcPts val="0"/>
              </a:spcBef>
              <a:spcAft>
                <a:spcPts val="0"/>
              </a:spcAft>
              <a:defRPr/>
            </a:pPr>
            <a:r>
              <a:rPr lang="en-US" altLang="zh-CN" sz="2800" dirty="0">
                <a:effectLst>
                  <a:outerShdw blurRad="38100" dist="38100" dir="2700000" algn="tl">
                    <a:srgbClr val="000000">
                      <a:alpha val="43137"/>
                    </a:srgbClr>
                  </a:outerShdw>
                </a:effectLst>
                <a:latin typeface="黑体" pitchFamily="2" charset="-122"/>
                <a:ea typeface="黑体" pitchFamily="2" charset="-122"/>
              </a:rPr>
              <a:t> </a:t>
            </a:r>
            <a:r>
              <a:rPr lang="en-US" altLang="zh-CN" sz="2800" dirty="0">
                <a:latin typeface="黑体" pitchFamily="2" charset="-122"/>
                <a:ea typeface="黑体" pitchFamily="2" charset="-122"/>
              </a:rPr>
              <a:t>[</a:t>
            </a:r>
            <a:r>
              <a:rPr lang="zh-CN" altLang="en-US" sz="2800" dirty="0">
                <a:latin typeface="黑体" pitchFamily="2" charset="-122"/>
                <a:ea typeface="黑体" pitchFamily="2" charset="-122"/>
              </a:rPr>
              <a:t>例</a:t>
            </a:r>
            <a:r>
              <a:rPr lang="en-US" altLang="zh-CN" sz="2800" dirty="0" smtClean="0">
                <a:latin typeface="黑体" pitchFamily="2" charset="-122"/>
                <a:ea typeface="黑体" pitchFamily="2" charset="-122"/>
              </a:rPr>
              <a:t>] </a:t>
            </a:r>
            <a:r>
              <a:rPr lang="zh-CN" altLang="en-US" sz="2800" dirty="0" smtClean="0">
                <a:latin typeface="黑体" pitchFamily="2" charset="-122"/>
                <a:ea typeface="黑体" pitchFamily="2" charset="-122"/>
              </a:rPr>
              <a:t>将</a:t>
            </a:r>
            <a:r>
              <a:rPr lang="zh-CN" altLang="en-US" sz="2800" dirty="0">
                <a:latin typeface="黑体" pitchFamily="2" charset="-122"/>
                <a:ea typeface="黑体" pitchFamily="2" charset="-122"/>
              </a:rPr>
              <a:t>十进制数“</a:t>
            </a:r>
            <a:r>
              <a:rPr lang="pt-BR" altLang="zh-CN" sz="2800" dirty="0">
                <a:latin typeface="黑体" pitchFamily="2" charset="-122"/>
                <a:ea typeface="黑体" pitchFamily="2" charset="-122"/>
              </a:rPr>
              <a:t>-12/64</a:t>
            </a:r>
            <a:r>
              <a:rPr lang="zh-CN" altLang="en-US" sz="2800" dirty="0">
                <a:latin typeface="黑体" pitchFamily="2" charset="-122"/>
                <a:ea typeface="黑体" pitchFamily="2" charset="-122"/>
              </a:rPr>
              <a:t>”表示成</a:t>
            </a:r>
            <a:r>
              <a:rPr lang="en-US" altLang="zh-CN" sz="2800" dirty="0">
                <a:latin typeface="黑体" pitchFamily="2" charset="-122"/>
                <a:ea typeface="黑体" pitchFamily="2" charset="-122"/>
              </a:rPr>
              <a:t>IEEE754</a:t>
            </a:r>
            <a:r>
              <a:rPr lang="zh-CN" altLang="en-US" sz="2800" dirty="0">
                <a:latin typeface="黑体" pitchFamily="2" charset="-122"/>
                <a:ea typeface="黑体" pitchFamily="2" charset="-122"/>
              </a:rPr>
              <a:t>标准</a:t>
            </a:r>
            <a:r>
              <a:rPr lang="en-US" altLang="zh-CN" sz="2800" dirty="0">
                <a:latin typeface="黑体" pitchFamily="2" charset="-122"/>
                <a:ea typeface="黑体" pitchFamily="2" charset="-122"/>
              </a:rPr>
              <a:t>32</a:t>
            </a:r>
            <a:r>
              <a:rPr lang="zh-CN" altLang="en-US" sz="2800" dirty="0" smtClean="0">
                <a:latin typeface="黑体" pitchFamily="2" charset="-122"/>
                <a:ea typeface="黑体" pitchFamily="2" charset="-122"/>
              </a:rPr>
              <a:t>位</a:t>
            </a:r>
            <a:endParaRPr lang="en-US" altLang="zh-CN" sz="2800" dirty="0" smtClean="0">
              <a:latin typeface="黑体" pitchFamily="2" charset="-122"/>
              <a:ea typeface="黑体" pitchFamily="2" charset="-122"/>
            </a:endParaRPr>
          </a:p>
          <a:p>
            <a:pPr>
              <a:lnSpc>
                <a:spcPct val="135000"/>
              </a:lnSpc>
              <a:spcBef>
                <a:spcPts val="0"/>
              </a:spcBef>
              <a:spcAft>
                <a:spcPts val="0"/>
              </a:spcAft>
              <a:defRPr/>
            </a:pPr>
            <a:r>
              <a:rPr lang="en-US" altLang="zh-CN" sz="2800" dirty="0">
                <a:latin typeface="黑体" pitchFamily="2" charset="-122"/>
                <a:ea typeface="黑体" pitchFamily="2" charset="-122"/>
              </a:rPr>
              <a:t> </a:t>
            </a:r>
            <a:r>
              <a:rPr lang="en-US" altLang="zh-CN" sz="2800" dirty="0" smtClean="0">
                <a:latin typeface="黑体" pitchFamily="2" charset="-122"/>
                <a:ea typeface="黑体" pitchFamily="2" charset="-122"/>
              </a:rPr>
              <a:t>     </a:t>
            </a:r>
            <a:r>
              <a:rPr lang="zh-CN" altLang="en-US" sz="2800" dirty="0" smtClean="0">
                <a:latin typeface="黑体" pitchFamily="2" charset="-122"/>
                <a:ea typeface="黑体" pitchFamily="2" charset="-122"/>
              </a:rPr>
              <a:t>浮点</a:t>
            </a:r>
            <a:r>
              <a:rPr lang="zh-CN" altLang="en-US" sz="2800" dirty="0">
                <a:latin typeface="黑体" pitchFamily="2" charset="-122"/>
                <a:ea typeface="黑体" pitchFamily="2" charset="-122"/>
              </a:rPr>
              <a:t>规格化数。</a:t>
            </a:r>
            <a:endParaRPr lang="en-US" altLang="zh-CN" sz="2800" dirty="0">
              <a:latin typeface="黑体" pitchFamily="2" charset="-122"/>
              <a:ea typeface="黑体" pitchFamily="2" charset="-122"/>
            </a:endParaRPr>
          </a:p>
          <a:p>
            <a:pPr eaLnBrk="0" hangingPunct="0">
              <a:lnSpc>
                <a:spcPct val="135000"/>
              </a:lnSpc>
              <a:spcBef>
                <a:spcPts val="0"/>
              </a:spcBef>
              <a:spcAft>
                <a:spcPts val="0"/>
              </a:spcAft>
              <a:defRPr/>
            </a:pPr>
            <a:r>
              <a:rPr lang="zh-CN" altLang="en-US" sz="2800" dirty="0">
                <a:latin typeface="黑体" pitchFamily="2" charset="-122"/>
                <a:ea typeface="黑体" pitchFamily="2" charset="-122"/>
              </a:rPr>
              <a:t>  解</a:t>
            </a:r>
            <a:r>
              <a:rPr lang="zh-CN" altLang="pt-BR" sz="2800" dirty="0">
                <a:latin typeface="黑体" pitchFamily="2" charset="-122"/>
                <a:ea typeface="黑体" pitchFamily="2" charset="-122"/>
              </a:rPr>
              <a:t>：（-</a:t>
            </a:r>
            <a:r>
              <a:rPr lang="en-US" altLang="zh-CN" sz="2800" dirty="0">
                <a:latin typeface="黑体" pitchFamily="2" charset="-122"/>
                <a:ea typeface="黑体" pitchFamily="2" charset="-122"/>
              </a:rPr>
              <a:t>1</a:t>
            </a:r>
            <a:r>
              <a:rPr lang="zh-CN" altLang="pt-BR" sz="2800" dirty="0">
                <a:latin typeface="黑体" pitchFamily="2" charset="-122"/>
                <a:ea typeface="黑体" pitchFamily="2" charset="-122"/>
              </a:rPr>
              <a:t>2/64）</a:t>
            </a:r>
            <a:r>
              <a:rPr lang="zh-CN" altLang="pt-BR" sz="2800" baseline="-30000" dirty="0">
                <a:latin typeface="黑体" pitchFamily="2" charset="-122"/>
                <a:ea typeface="黑体" pitchFamily="2" charset="-122"/>
              </a:rPr>
              <a:t>10</a:t>
            </a:r>
            <a:r>
              <a:rPr lang="zh-CN" altLang="pt-BR" sz="2800" dirty="0">
                <a:latin typeface="黑体" pitchFamily="2" charset="-122"/>
                <a:ea typeface="黑体" pitchFamily="2" charset="-122"/>
              </a:rPr>
              <a:t> = (-0.</a:t>
            </a:r>
            <a:r>
              <a:rPr lang="en-US" altLang="zh-CN" sz="2800" dirty="0">
                <a:latin typeface="黑体" pitchFamily="2" charset="-122"/>
                <a:ea typeface="黑体" pitchFamily="2" charset="-122"/>
              </a:rPr>
              <a:t>0</a:t>
            </a:r>
            <a:r>
              <a:rPr lang="zh-CN" altLang="pt-BR" sz="2800" dirty="0">
                <a:latin typeface="黑体" pitchFamily="2" charset="-122"/>
                <a:ea typeface="黑体" pitchFamily="2" charset="-122"/>
              </a:rPr>
              <a:t>0110</a:t>
            </a:r>
            <a:r>
              <a:rPr lang="en-US" altLang="zh-CN" sz="2800" dirty="0">
                <a:latin typeface="黑体" pitchFamily="2" charset="-122"/>
                <a:ea typeface="黑体" pitchFamily="2" charset="-122"/>
              </a:rPr>
              <a:t>0</a:t>
            </a:r>
            <a:r>
              <a:rPr lang="zh-CN" altLang="pt-BR" sz="2800" dirty="0">
                <a:latin typeface="黑体" pitchFamily="2" charset="-122"/>
                <a:ea typeface="黑体" pitchFamily="2" charset="-122"/>
              </a:rPr>
              <a:t>)</a:t>
            </a:r>
            <a:r>
              <a:rPr lang="zh-CN" altLang="pt-BR" sz="2800" baseline="-30000" dirty="0">
                <a:latin typeface="黑体" pitchFamily="2" charset="-122"/>
                <a:ea typeface="黑体" pitchFamily="2" charset="-122"/>
              </a:rPr>
              <a:t>2</a:t>
            </a:r>
            <a:endParaRPr lang="en-US" altLang="zh-CN" sz="2800" dirty="0">
              <a:latin typeface="黑体" pitchFamily="2" charset="-122"/>
              <a:ea typeface="黑体" pitchFamily="2" charset="-122"/>
            </a:endParaRPr>
          </a:p>
          <a:p>
            <a:pPr eaLnBrk="0" hangingPunct="0">
              <a:lnSpc>
                <a:spcPct val="135000"/>
              </a:lnSpc>
              <a:spcBef>
                <a:spcPts val="0"/>
              </a:spcBef>
              <a:spcAft>
                <a:spcPts val="0"/>
              </a:spcAft>
              <a:defRPr/>
            </a:pPr>
            <a:r>
              <a:rPr lang="zh-CN" altLang="pt-BR" sz="2800" dirty="0">
                <a:latin typeface="黑体" pitchFamily="2" charset="-122"/>
                <a:ea typeface="黑体" pitchFamily="2" charset="-122"/>
              </a:rPr>
              <a:t>       -0.0</a:t>
            </a:r>
            <a:r>
              <a:rPr lang="en-US" altLang="zh-CN" sz="2800" dirty="0">
                <a:latin typeface="黑体" pitchFamily="2" charset="-122"/>
                <a:ea typeface="黑体" pitchFamily="2" charset="-122"/>
              </a:rPr>
              <a:t>0</a:t>
            </a:r>
            <a:r>
              <a:rPr lang="zh-CN" altLang="pt-BR" sz="2800" dirty="0">
                <a:latin typeface="黑体" pitchFamily="2" charset="-122"/>
                <a:ea typeface="黑体" pitchFamily="2" charset="-122"/>
              </a:rPr>
              <a:t>110</a:t>
            </a:r>
            <a:r>
              <a:rPr lang="en-US" altLang="zh-CN" sz="2800" dirty="0">
                <a:latin typeface="黑体" pitchFamily="2" charset="-122"/>
                <a:ea typeface="黑体" pitchFamily="2" charset="-122"/>
              </a:rPr>
              <a:t>0 </a:t>
            </a:r>
            <a:r>
              <a:rPr lang="zh-CN" altLang="pt-BR" sz="2800" dirty="0">
                <a:latin typeface="黑体" pitchFamily="2" charset="-122"/>
                <a:ea typeface="黑体" pitchFamily="2" charset="-122"/>
              </a:rPr>
              <a:t>= -1.1</a:t>
            </a:r>
            <a:r>
              <a:rPr lang="en-US" altLang="zh-CN" sz="2800" dirty="0">
                <a:latin typeface="黑体" pitchFamily="2" charset="-122"/>
                <a:ea typeface="黑体" pitchFamily="2" charset="-122"/>
              </a:rPr>
              <a:t>00 </a:t>
            </a:r>
            <a:r>
              <a:rPr lang="pt-BR" altLang="zh-CN" sz="2800" dirty="0">
                <a:latin typeface="黑体" pitchFamily="2" charset="-122"/>
                <a:ea typeface="黑体" pitchFamily="2" charset="-122"/>
              </a:rPr>
              <a:t>x </a:t>
            </a:r>
            <a:r>
              <a:rPr lang="pt-BR" altLang="zh-CN" sz="2800" dirty="0" smtClean="0">
                <a:latin typeface="黑体" pitchFamily="2" charset="-122"/>
                <a:ea typeface="黑体" pitchFamily="2" charset="-122"/>
              </a:rPr>
              <a:t>2</a:t>
            </a:r>
            <a:r>
              <a:rPr lang="pt-BR" altLang="zh-CN" sz="2800" baseline="30000" dirty="0" smtClean="0">
                <a:latin typeface="黑体" pitchFamily="2" charset="-122"/>
                <a:ea typeface="黑体" pitchFamily="2" charset="-122"/>
              </a:rPr>
              <a:t>-3</a:t>
            </a:r>
            <a:endParaRPr lang="en-US" altLang="zh-CN" sz="2800" dirty="0">
              <a:latin typeface="黑体" pitchFamily="2" charset="-122"/>
              <a:ea typeface="黑体" pitchFamily="2" charset="-122"/>
            </a:endParaRPr>
          </a:p>
          <a:p>
            <a:pPr eaLnBrk="0" hangingPunct="0">
              <a:lnSpc>
                <a:spcPct val="135000"/>
              </a:lnSpc>
              <a:spcBef>
                <a:spcPts val="0"/>
              </a:spcBef>
              <a:spcAft>
                <a:spcPts val="0"/>
              </a:spcAft>
              <a:defRPr/>
            </a:pPr>
            <a:r>
              <a:rPr lang="pt-BR" altLang="zh-CN" sz="2800" dirty="0">
                <a:latin typeface="黑体" pitchFamily="2" charset="-122"/>
                <a:ea typeface="黑体" pitchFamily="2" charset="-122"/>
              </a:rPr>
              <a:t>       S = 1,E = </a:t>
            </a:r>
            <a:r>
              <a:rPr lang="pt-BR" altLang="zh-CN" sz="2800" dirty="0" smtClean="0">
                <a:latin typeface="黑体" pitchFamily="2" charset="-122"/>
                <a:ea typeface="黑体" pitchFamily="2" charset="-122"/>
              </a:rPr>
              <a:t>-3 </a:t>
            </a:r>
            <a:r>
              <a:rPr lang="pt-BR" altLang="zh-CN" sz="2800" dirty="0">
                <a:latin typeface="黑体" pitchFamily="2" charset="-122"/>
                <a:ea typeface="黑体" pitchFamily="2" charset="-122"/>
              </a:rPr>
              <a:t>+ 127 = </a:t>
            </a:r>
            <a:r>
              <a:rPr lang="pt-BR" altLang="zh-CN" sz="2800" dirty="0" smtClean="0">
                <a:latin typeface="黑体" pitchFamily="2" charset="-122"/>
                <a:ea typeface="黑体" pitchFamily="2" charset="-122"/>
              </a:rPr>
              <a:t>124 </a:t>
            </a:r>
            <a:r>
              <a:rPr lang="pt-BR" altLang="zh-CN" sz="2800" dirty="0">
                <a:latin typeface="黑体" pitchFamily="2" charset="-122"/>
                <a:ea typeface="黑体" pitchFamily="2" charset="-122"/>
              </a:rPr>
              <a:t>= (</a:t>
            </a:r>
            <a:r>
              <a:rPr lang="pt-BR" altLang="zh-CN" sz="2800" dirty="0" smtClean="0">
                <a:latin typeface="黑体" pitchFamily="2" charset="-122"/>
                <a:ea typeface="黑体" pitchFamily="2" charset="-122"/>
              </a:rPr>
              <a:t>01111100)</a:t>
            </a:r>
            <a:r>
              <a:rPr lang="pt-BR" altLang="zh-CN" sz="2800" baseline="-30000" dirty="0" smtClean="0">
                <a:latin typeface="黑体" pitchFamily="2" charset="-122"/>
                <a:ea typeface="黑体" pitchFamily="2" charset="-122"/>
              </a:rPr>
              <a:t>2 </a:t>
            </a:r>
            <a:endParaRPr lang="en-US" altLang="zh-CN" sz="2800" dirty="0">
              <a:latin typeface="黑体" pitchFamily="2" charset="-122"/>
              <a:ea typeface="黑体" pitchFamily="2" charset="-122"/>
            </a:endParaRPr>
          </a:p>
          <a:p>
            <a:pPr eaLnBrk="0" hangingPunct="0">
              <a:lnSpc>
                <a:spcPct val="135000"/>
              </a:lnSpc>
              <a:spcBef>
                <a:spcPts val="0"/>
              </a:spcBef>
              <a:spcAft>
                <a:spcPts val="0"/>
              </a:spcAft>
              <a:defRPr/>
            </a:pPr>
            <a:r>
              <a:rPr lang="pt-BR" altLang="zh-CN" sz="2800" dirty="0">
                <a:latin typeface="黑体" pitchFamily="2" charset="-122"/>
                <a:ea typeface="黑体" pitchFamily="2" charset="-122"/>
              </a:rPr>
              <a:t>       M = 100</a:t>
            </a:r>
            <a:endParaRPr lang="en-US" altLang="zh-CN" sz="2800" dirty="0">
              <a:latin typeface="黑体" pitchFamily="2" charset="-122"/>
              <a:ea typeface="黑体" pitchFamily="2" charset="-122"/>
            </a:endParaRPr>
          </a:p>
          <a:p>
            <a:pPr eaLnBrk="0" hangingPunct="0">
              <a:lnSpc>
                <a:spcPct val="135000"/>
              </a:lnSpc>
              <a:spcBef>
                <a:spcPts val="0"/>
              </a:spcBef>
              <a:spcAft>
                <a:spcPts val="0"/>
              </a:spcAft>
              <a:defRPr/>
            </a:pPr>
            <a:r>
              <a:rPr lang="pt-BR" altLang="zh-CN" sz="2800" dirty="0">
                <a:latin typeface="黑体" pitchFamily="2" charset="-122"/>
                <a:ea typeface="黑体" pitchFamily="2" charset="-122"/>
              </a:rPr>
              <a:t>       </a:t>
            </a:r>
            <a:r>
              <a:rPr lang="en-US" altLang="zh-CN" sz="2800" dirty="0">
                <a:latin typeface="黑体" pitchFamily="2" charset="-122"/>
                <a:ea typeface="黑体" pitchFamily="2" charset="-122"/>
              </a:rPr>
              <a:t>IEEE754</a:t>
            </a:r>
            <a:r>
              <a:rPr lang="zh-CN" altLang="en-US" sz="2800" dirty="0">
                <a:latin typeface="黑体" pitchFamily="2" charset="-122"/>
                <a:ea typeface="黑体" pitchFamily="2" charset="-122"/>
              </a:rPr>
              <a:t>标准</a:t>
            </a:r>
            <a:r>
              <a:rPr lang="en-US" altLang="zh-CN" sz="2800" dirty="0">
                <a:latin typeface="黑体" pitchFamily="2" charset="-122"/>
                <a:ea typeface="黑体" pitchFamily="2" charset="-122"/>
              </a:rPr>
              <a:t>32</a:t>
            </a:r>
            <a:r>
              <a:rPr lang="zh-CN" altLang="en-US" sz="2800" dirty="0">
                <a:latin typeface="黑体" pitchFamily="2" charset="-122"/>
                <a:ea typeface="黑体" pitchFamily="2" charset="-122"/>
              </a:rPr>
              <a:t>位浮点规格化数为</a:t>
            </a:r>
          </a:p>
          <a:p>
            <a:pPr eaLnBrk="0" hangingPunct="0">
              <a:lnSpc>
                <a:spcPct val="135000"/>
              </a:lnSpc>
              <a:spcBef>
                <a:spcPts val="0"/>
              </a:spcBef>
              <a:spcAft>
                <a:spcPts val="0"/>
              </a:spcAft>
              <a:defRPr/>
            </a:pPr>
            <a:r>
              <a:rPr lang="zh-CN" altLang="en-US" sz="2800" dirty="0">
                <a:latin typeface="黑体" pitchFamily="2" charset="-122"/>
                <a:ea typeface="黑体" pitchFamily="2" charset="-122"/>
              </a:rPr>
              <a:t>      </a:t>
            </a:r>
            <a:r>
              <a:rPr lang="zh-CN" altLang="en-US" sz="2800" dirty="0" smtClean="0">
                <a:latin typeface="黑体" pitchFamily="2" charset="-122"/>
                <a:ea typeface="黑体" pitchFamily="2" charset="-122"/>
              </a:rPr>
              <a:t>  </a:t>
            </a:r>
            <a:r>
              <a:rPr lang="en-US" altLang="zh-CN" sz="2800" dirty="0" smtClean="0">
                <a:latin typeface="黑体" pitchFamily="2" charset="-122"/>
                <a:ea typeface="黑体" pitchFamily="2" charset="-122"/>
              </a:rPr>
              <a:t>1 01111100 </a:t>
            </a:r>
            <a:r>
              <a:rPr lang="en-US" altLang="zh-CN" sz="2800" dirty="0">
                <a:latin typeface="黑体" pitchFamily="2" charset="-122"/>
                <a:ea typeface="黑体" pitchFamily="2" charset="-122"/>
              </a:rPr>
              <a:t>10000000000000000000000 </a:t>
            </a:r>
          </a:p>
          <a:p>
            <a:pPr eaLnBrk="0" hangingPunct="0">
              <a:lnSpc>
                <a:spcPct val="135000"/>
              </a:lnSpc>
              <a:spcBef>
                <a:spcPts val="0"/>
              </a:spcBef>
              <a:spcAft>
                <a:spcPts val="0"/>
              </a:spcAft>
              <a:defRPr/>
            </a:pPr>
            <a:r>
              <a:rPr lang="en-US" altLang="zh-CN" sz="2800" dirty="0">
                <a:latin typeface="黑体" pitchFamily="2" charset="-122"/>
                <a:ea typeface="黑体" pitchFamily="2" charset="-122"/>
              </a:rPr>
              <a:t>      </a:t>
            </a:r>
            <a:r>
              <a:rPr lang="en-US" altLang="zh-CN" sz="2800" dirty="0" smtClean="0">
                <a:latin typeface="黑体" pitchFamily="2" charset="-122"/>
                <a:ea typeface="黑体" pitchFamily="2" charset="-122"/>
              </a:rPr>
              <a:t>= </a:t>
            </a:r>
            <a:r>
              <a:rPr lang="en-US" altLang="zh-CN" sz="2800" dirty="0">
                <a:latin typeface="黑体" pitchFamily="2" charset="-122"/>
                <a:ea typeface="黑体" pitchFamily="2" charset="-122"/>
              </a:rPr>
              <a:t>1011 1110 </a:t>
            </a:r>
            <a:r>
              <a:rPr lang="en-US" altLang="zh-CN" sz="2800" dirty="0" smtClean="0">
                <a:latin typeface="黑体" pitchFamily="2" charset="-122"/>
                <a:ea typeface="黑体" pitchFamily="2" charset="-122"/>
              </a:rPr>
              <a:t>0100 </a:t>
            </a:r>
            <a:r>
              <a:rPr lang="en-US" altLang="zh-CN" sz="2800" dirty="0">
                <a:latin typeface="黑体" pitchFamily="2" charset="-122"/>
                <a:ea typeface="黑体" pitchFamily="2" charset="-122"/>
              </a:rPr>
              <a:t>0000 0000 0000 0000 0000 </a:t>
            </a:r>
          </a:p>
          <a:p>
            <a:pPr eaLnBrk="0" hangingPunct="0">
              <a:lnSpc>
                <a:spcPct val="135000"/>
              </a:lnSpc>
              <a:spcBef>
                <a:spcPts val="0"/>
              </a:spcBef>
              <a:spcAft>
                <a:spcPts val="0"/>
              </a:spcAft>
              <a:defRPr/>
            </a:pPr>
            <a:r>
              <a:rPr lang="en-US" altLang="zh-CN" sz="2800" dirty="0">
                <a:latin typeface="黑体" pitchFamily="2" charset="-122"/>
                <a:ea typeface="黑体" pitchFamily="2" charset="-122"/>
              </a:rPr>
              <a:t>      </a:t>
            </a:r>
            <a:r>
              <a:rPr lang="en-US" altLang="zh-CN" sz="2800" dirty="0" smtClean="0">
                <a:latin typeface="黑体" pitchFamily="2" charset="-122"/>
                <a:ea typeface="黑体" pitchFamily="2" charset="-122"/>
              </a:rPr>
              <a:t>= </a:t>
            </a:r>
            <a:r>
              <a:rPr lang="zh-CN" altLang="en-US" sz="2800" dirty="0">
                <a:latin typeface="黑体" pitchFamily="2" charset="-122"/>
                <a:ea typeface="黑体" pitchFamily="2" charset="-122"/>
              </a:rPr>
              <a:t>（</a:t>
            </a:r>
            <a:r>
              <a:rPr lang="en-US" altLang="zh-CN" sz="2800" dirty="0" smtClean="0">
                <a:latin typeface="黑体" pitchFamily="2" charset="-122"/>
                <a:ea typeface="黑体" pitchFamily="2" charset="-122"/>
              </a:rPr>
              <a:t>BE400000</a:t>
            </a:r>
            <a:r>
              <a:rPr lang="zh-CN" altLang="en-US" sz="2800" dirty="0">
                <a:latin typeface="黑体" pitchFamily="2" charset="-122"/>
                <a:ea typeface="黑体" pitchFamily="2" charset="-122"/>
              </a:rPr>
              <a:t>）</a:t>
            </a:r>
            <a:r>
              <a:rPr lang="en-US" altLang="zh-CN" sz="2800" baseline="-30000" dirty="0">
                <a:latin typeface="黑体" pitchFamily="2" charset="-122"/>
                <a:ea typeface="黑体" pitchFamily="2" charset="-122"/>
              </a:rPr>
              <a:t>16</a:t>
            </a:r>
            <a:endParaRPr lang="zh-CN" altLang="en-US" sz="2800" dirty="0">
              <a:latin typeface="宋体" pitchFamily="2" charset="-122"/>
            </a:endParaRP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5995602"/>
            <a:ext cx="7056784"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36322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86636" y="412284"/>
            <a:ext cx="8819380" cy="6229398"/>
          </a:xfrm>
          <a:prstGeom prst="rect">
            <a:avLst/>
          </a:prstGeom>
        </p:spPr>
        <p:txBody>
          <a:bodyPr wrap="square">
            <a:spAutoFit/>
          </a:bodyPr>
          <a:lstStyle/>
          <a:p>
            <a:pPr algn="ctr">
              <a:lnSpc>
                <a:spcPct val="120000"/>
              </a:lnSpc>
            </a:pPr>
            <a:r>
              <a:rPr lang="zh-CN" altLang="en-US" sz="4800" b="1" dirty="0" smtClean="0">
                <a:solidFill>
                  <a:schemeClr val="tx2">
                    <a:lumMod val="40000"/>
                    <a:lumOff val="60000"/>
                  </a:schemeClr>
                </a:solidFill>
                <a:latin typeface="华文新魏" panose="02010800040101010101" pitchFamily="2" charset="-122"/>
                <a:ea typeface="华文新魏" panose="02010800040101010101" pitchFamily="2" charset="-122"/>
              </a:rPr>
              <a:t>作业</a:t>
            </a:r>
            <a:r>
              <a:rPr lang="en-US" altLang="zh-CN" sz="4800" b="1" dirty="0" smtClean="0">
                <a:solidFill>
                  <a:schemeClr val="tx2">
                    <a:lumMod val="40000"/>
                    <a:lumOff val="60000"/>
                  </a:schemeClr>
                </a:solidFill>
                <a:latin typeface="华文新魏" panose="02010800040101010101" pitchFamily="2" charset="-122"/>
                <a:ea typeface="华文新魏" panose="02010800040101010101" pitchFamily="2" charset="-122"/>
              </a:rPr>
              <a:t>2</a:t>
            </a:r>
            <a:endParaRPr lang="en-US" altLang="zh-CN" sz="4800" b="1" dirty="0">
              <a:solidFill>
                <a:schemeClr val="tx2">
                  <a:lumMod val="40000"/>
                  <a:lumOff val="60000"/>
                </a:schemeClr>
              </a:solidFill>
              <a:latin typeface="华文新魏" panose="02010800040101010101" pitchFamily="2" charset="-122"/>
              <a:ea typeface="华文新魏" panose="02010800040101010101" pitchFamily="2" charset="-122"/>
            </a:endParaRPr>
          </a:p>
          <a:p>
            <a:pPr>
              <a:lnSpc>
                <a:spcPct val="120000"/>
              </a:lnSpc>
              <a:spcBef>
                <a:spcPts val="1200"/>
              </a:spcBef>
            </a:pPr>
            <a:r>
              <a:rPr lang="en-US" altLang="zh-CN" sz="3600" dirty="0" smtClean="0">
                <a:latin typeface="华文新魏" panose="02010800040101010101" pitchFamily="2" charset="-122"/>
                <a:ea typeface="华文新魏" panose="02010800040101010101" pitchFamily="2" charset="-122"/>
              </a:rPr>
              <a:t>1. </a:t>
            </a:r>
            <a:r>
              <a:rPr lang="zh-CN" altLang="zh-CN" sz="3600" dirty="0" smtClean="0">
                <a:latin typeface="华文新魏" panose="02010800040101010101" pitchFamily="2" charset="-122"/>
                <a:ea typeface="华文新魏" panose="02010800040101010101" pitchFamily="2" charset="-122"/>
              </a:rPr>
              <a:t>将</a:t>
            </a:r>
            <a:r>
              <a:rPr lang="zh-CN" altLang="zh-CN" sz="3600" dirty="0">
                <a:latin typeface="华文新魏" panose="02010800040101010101" pitchFamily="2" charset="-122"/>
                <a:ea typeface="华文新魏" panose="02010800040101010101" pitchFamily="2" charset="-122"/>
              </a:rPr>
              <a:t>十进制数“</a:t>
            </a:r>
            <a:r>
              <a:rPr lang="pt-BR" altLang="zh-CN" sz="3600" dirty="0">
                <a:latin typeface="华文新魏" panose="02010800040101010101" pitchFamily="2" charset="-122"/>
                <a:ea typeface="华文新魏" panose="02010800040101010101" pitchFamily="2" charset="-122"/>
              </a:rPr>
              <a:t>-27/64</a:t>
            </a:r>
            <a:r>
              <a:rPr lang="zh-CN" altLang="zh-CN" sz="3600" dirty="0">
                <a:latin typeface="华文新魏" panose="02010800040101010101" pitchFamily="2" charset="-122"/>
                <a:ea typeface="华文新魏" panose="02010800040101010101" pitchFamily="2" charset="-122"/>
              </a:rPr>
              <a:t>”表示成</a:t>
            </a:r>
            <a:r>
              <a:rPr lang="en-US" altLang="zh-CN" sz="3600" dirty="0" smtClean="0">
                <a:latin typeface="华文新魏" panose="02010800040101010101" pitchFamily="2" charset="-122"/>
                <a:ea typeface="华文新魏" panose="02010800040101010101" pitchFamily="2" charset="-122"/>
              </a:rPr>
              <a:t>IEEE754</a:t>
            </a:r>
          </a:p>
          <a:p>
            <a:pPr>
              <a:lnSpc>
                <a:spcPct val="120000"/>
              </a:lnSpc>
            </a:pPr>
            <a:r>
              <a:rPr lang="en-US" altLang="zh-CN" sz="3600" dirty="0" smtClean="0">
                <a:latin typeface="华文新魏" panose="02010800040101010101" pitchFamily="2" charset="-122"/>
                <a:ea typeface="华文新魏" panose="02010800040101010101" pitchFamily="2" charset="-122"/>
              </a:rPr>
              <a:t>    </a:t>
            </a:r>
            <a:r>
              <a:rPr lang="zh-CN" altLang="zh-CN" sz="3600" dirty="0" smtClean="0">
                <a:latin typeface="华文新魏" panose="02010800040101010101" pitchFamily="2" charset="-122"/>
                <a:ea typeface="华文新魏" panose="02010800040101010101" pitchFamily="2" charset="-122"/>
              </a:rPr>
              <a:t>标准</a:t>
            </a:r>
            <a:r>
              <a:rPr lang="en-US" altLang="zh-CN" sz="3600" dirty="0">
                <a:latin typeface="华文新魏" panose="02010800040101010101" pitchFamily="2" charset="-122"/>
                <a:ea typeface="华文新魏" panose="02010800040101010101" pitchFamily="2" charset="-122"/>
              </a:rPr>
              <a:t>32</a:t>
            </a:r>
            <a:r>
              <a:rPr lang="zh-CN" altLang="zh-CN" sz="3600" dirty="0">
                <a:latin typeface="华文新魏" panose="02010800040101010101" pitchFamily="2" charset="-122"/>
                <a:ea typeface="华文新魏" panose="02010800040101010101" pitchFamily="2" charset="-122"/>
              </a:rPr>
              <a:t>位浮点规格化数。</a:t>
            </a:r>
          </a:p>
          <a:p>
            <a:pPr>
              <a:lnSpc>
                <a:spcPct val="120000"/>
              </a:lnSpc>
            </a:pPr>
            <a:r>
              <a:rPr lang="en-US" altLang="zh-CN" sz="3600" dirty="0" smtClean="0">
                <a:latin typeface="华文新魏" panose="02010800040101010101" pitchFamily="2" charset="-122"/>
                <a:ea typeface="华文新魏" panose="02010800040101010101" pitchFamily="2" charset="-122"/>
              </a:rPr>
              <a:t>2. </a:t>
            </a:r>
            <a:r>
              <a:rPr lang="zh-CN" altLang="zh-CN" sz="3600" dirty="0" smtClean="0">
                <a:latin typeface="华文新魏" panose="02010800040101010101" pitchFamily="2" charset="-122"/>
                <a:ea typeface="华文新魏" panose="02010800040101010101" pitchFamily="2" charset="-122"/>
              </a:rPr>
              <a:t>将</a:t>
            </a:r>
            <a:r>
              <a:rPr lang="zh-CN" altLang="zh-CN" sz="3600" dirty="0">
                <a:latin typeface="华文新魏" panose="02010800040101010101" pitchFamily="2" charset="-122"/>
                <a:ea typeface="华文新魏" panose="02010800040101010101" pitchFamily="2" charset="-122"/>
              </a:rPr>
              <a:t>十进制数“</a:t>
            </a:r>
            <a:r>
              <a:rPr lang="en-US" altLang="zh-CN" sz="3600" dirty="0">
                <a:latin typeface="华文新魏" panose="02010800040101010101" pitchFamily="2" charset="-122"/>
                <a:ea typeface="华文新魏" panose="02010800040101010101" pitchFamily="2" charset="-122"/>
              </a:rPr>
              <a:t> -7*2</a:t>
            </a:r>
            <a:r>
              <a:rPr lang="en-US" altLang="zh-CN" sz="3600" baseline="30000" dirty="0">
                <a:latin typeface="华文新魏" panose="02010800040101010101" pitchFamily="2" charset="-122"/>
                <a:ea typeface="华文新魏" panose="02010800040101010101" pitchFamily="2" charset="-122"/>
              </a:rPr>
              <a:t>-5  </a:t>
            </a:r>
            <a:r>
              <a:rPr lang="zh-CN" altLang="zh-CN" sz="3600" dirty="0">
                <a:latin typeface="华文新魏" panose="02010800040101010101" pitchFamily="2" charset="-122"/>
                <a:ea typeface="华文新魏" panose="02010800040101010101" pitchFamily="2" charset="-122"/>
              </a:rPr>
              <a:t>”表示成</a:t>
            </a:r>
            <a:r>
              <a:rPr lang="en-US" altLang="zh-CN" sz="3600" dirty="0" smtClean="0">
                <a:latin typeface="华文新魏" panose="02010800040101010101" pitchFamily="2" charset="-122"/>
                <a:ea typeface="华文新魏" panose="02010800040101010101" pitchFamily="2" charset="-122"/>
              </a:rPr>
              <a:t>IEEE754</a:t>
            </a:r>
          </a:p>
          <a:p>
            <a:pPr>
              <a:lnSpc>
                <a:spcPct val="120000"/>
              </a:lnSpc>
            </a:pPr>
            <a:r>
              <a:rPr lang="en-US" altLang="zh-CN" sz="3600" dirty="0">
                <a:latin typeface="华文新魏" panose="02010800040101010101" pitchFamily="2" charset="-122"/>
                <a:ea typeface="华文新魏" panose="02010800040101010101" pitchFamily="2" charset="-122"/>
              </a:rPr>
              <a:t> </a:t>
            </a:r>
            <a:r>
              <a:rPr lang="en-US" altLang="zh-CN" sz="3600" dirty="0" smtClean="0">
                <a:latin typeface="华文新魏" panose="02010800040101010101" pitchFamily="2" charset="-122"/>
                <a:ea typeface="华文新魏" panose="02010800040101010101" pitchFamily="2" charset="-122"/>
              </a:rPr>
              <a:t>   </a:t>
            </a:r>
            <a:r>
              <a:rPr lang="zh-CN" altLang="zh-CN" sz="3600" dirty="0" smtClean="0">
                <a:latin typeface="华文新魏" panose="02010800040101010101" pitchFamily="2" charset="-122"/>
                <a:ea typeface="华文新魏" panose="02010800040101010101" pitchFamily="2" charset="-122"/>
              </a:rPr>
              <a:t>标准</a:t>
            </a:r>
            <a:r>
              <a:rPr lang="zh-CN" altLang="zh-CN" sz="3600" dirty="0">
                <a:latin typeface="华文新魏" panose="02010800040101010101" pitchFamily="2" charset="-122"/>
                <a:ea typeface="华文新魏" panose="02010800040101010101" pitchFamily="2" charset="-122"/>
              </a:rPr>
              <a:t>的</a:t>
            </a:r>
            <a:r>
              <a:rPr lang="en-US" altLang="zh-CN" sz="3600" dirty="0">
                <a:latin typeface="华文新魏" panose="02010800040101010101" pitchFamily="2" charset="-122"/>
                <a:ea typeface="华文新魏" panose="02010800040101010101" pitchFamily="2" charset="-122"/>
              </a:rPr>
              <a:t>32</a:t>
            </a:r>
            <a:r>
              <a:rPr lang="zh-CN" altLang="zh-CN" sz="3600" dirty="0">
                <a:latin typeface="华文新魏" panose="02010800040101010101" pitchFamily="2" charset="-122"/>
                <a:ea typeface="华文新魏" panose="02010800040101010101" pitchFamily="2" charset="-122"/>
              </a:rPr>
              <a:t>位浮点规格化数。</a:t>
            </a:r>
          </a:p>
          <a:p>
            <a:pPr>
              <a:lnSpc>
                <a:spcPct val="120000"/>
              </a:lnSpc>
            </a:pPr>
            <a:r>
              <a:rPr lang="en-US" altLang="zh-CN" sz="3600" dirty="0" smtClean="0">
                <a:latin typeface="华文新魏" panose="02010800040101010101" pitchFamily="2" charset="-122"/>
                <a:ea typeface="华文新魏" panose="02010800040101010101" pitchFamily="2" charset="-122"/>
              </a:rPr>
              <a:t>3. </a:t>
            </a:r>
            <a:r>
              <a:rPr lang="zh-CN" altLang="zh-CN" sz="3600" dirty="0" smtClean="0">
                <a:latin typeface="华文新魏" panose="02010800040101010101" pitchFamily="2" charset="-122"/>
                <a:ea typeface="华文新魏" panose="02010800040101010101" pitchFamily="2" charset="-122"/>
              </a:rPr>
              <a:t>将</a:t>
            </a:r>
            <a:r>
              <a:rPr lang="zh-CN" altLang="zh-CN" sz="3600" dirty="0">
                <a:latin typeface="华文新魏" panose="02010800040101010101" pitchFamily="2" charset="-122"/>
                <a:ea typeface="华文新魏" panose="02010800040101010101" pitchFamily="2" charset="-122"/>
              </a:rPr>
              <a:t>十进制数“</a:t>
            </a:r>
            <a:r>
              <a:rPr lang="en-US" altLang="zh-CN" sz="3600" dirty="0">
                <a:latin typeface="华文新魏" panose="02010800040101010101" pitchFamily="2" charset="-122"/>
                <a:ea typeface="华文新魏" panose="02010800040101010101" pitchFamily="2" charset="-122"/>
              </a:rPr>
              <a:t>8</a:t>
            </a:r>
            <a:r>
              <a:rPr lang="pt-BR" altLang="zh-CN" sz="3600" dirty="0">
                <a:latin typeface="华文新魏" panose="02010800040101010101" pitchFamily="2" charset="-122"/>
                <a:ea typeface="华文新魏" panose="02010800040101010101" pitchFamily="2" charset="-122"/>
              </a:rPr>
              <a:t>/32</a:t>
            </a:r>
            <a:r>
              <a:rPr lang="zh-CN" altLang="zh-CN" sz="3600" dirty="0">
                <a:latin typeface="华文新魏" panose="02010800040101010101" pitchFamily="2" charset="-122"/>
                <a:ea typeface="华文新魏" panose="02010800040101010101" pitchFamily="2" charset="-122"/>
              </a:rPr>
              <a:t>”表示成</a:t>
            </a:r>
            <a:r>
              <a:rPr lang="en-US" altLang="zh-CN" sz="3600" dirty="0">
                <a:latin typeface="华文新魏" panose="02010800040101010101" pitchFamily="2" charset="-122"/>
                <a:ea typeface="华文新魏" panose="02010800040101010101" pitchFamily="2" charset="-122"/>
              </a:rPr>
              <a:t>IEEE754</a:t>
            </a:r>
            <a:r>
              <a:rPr lang="zh-CN" altLang="zh-CN" sz="3600" dirty="0" smtClean="0">
                <a:latin typeface="华文新魏" panose="02010800040101010101" pitchFamily="2" charset="-122"/>
                <a:ea typeface="华文新魏" panose="02010800040101010101" pitchFamily="2" charset="-122"/>
              </a:rPr>
              <a:t>标</a:t>
            </a:r>
            <a:endParaRPr lang="en-US" altLang="zh-CN" sz="3600" dirty="0" smtClean="0">
              <a:latin typeface="华文新魏" panose="02010800040101010101" pitchFamily="2" charset="-122"/>
              <a:ea typeface="华文新魏" panose="02010800040101010101" pitchFamily="2" charset="-122"/>
            </a:endParaRPr>
          </a:p>
          <a:p>
            <a:pPr>
              <a:lnSpc>
                <a:spcPct val="120000"/>
              </a:lnSpc>
            </a:pPr>
            <a:r>
              <a:rPr lang="en-US" altLang="zh-CN" sz="3600" dirty="0">
                <a:latin typeface="华文新魏" panose="02010800040101010101" pitchFamily="2" charset="-122"/>
                <a:ea typeface="华文新魏" panose="02010800040101010101" pitchFamily="2" charset="-122"/>
              </a:rPr>
              <a:t> </a:t>
            </a:r>
            <a:r>
              <a:rPr lang="en-US" altLang="zh-CN" sz="3600" dirty="0" smtClean="0">
                <a:latin typeface="华文新魏" panose="02010800040101010101" pitchFamily="2" charset="-122"/>
                <a:ea typeface="华文新魏" panose="02010800040101010101" pitchFamily="2" charset="-122"/>
              </a:rPr>
              <a:t>   </a:t>
            </a:r>
            <a:r>
              <a:rPr lang="zh-CN" altLang="zh-CN" sz="3600" dirty="0" smtClean="0">
                <a:latin typeface="华文新魏" panose="02010800040101010101" pitchFamily="2" charset="-122"/>
                <a:ea typeface="华文新魏" panose="02010800040101010101" pitchFamily="2" charset="-122"/>
              </a:rPr>
              <a:t>准</a:t>
            </a:r>
            <a:r>
              <a:rPr lang="zh-CN" altLang="zh-CN" sz="3600" dirty="0">
                <a:latin typeface="华文新魏" panose="02010800040101010101" pitchFamily="2" charset="-122"/>
                <a:ea typeface="华文新魏" panose="02010800040101010101" pitchFamily="2" charset="-122"/>
              </a:rPr>
              <a:t>的</a:t>
            </a:r>
            <a:r>
              <a:rPr lang="en-US" altLang="zh-CN" sz="3600" dirty="0">
                <a:latin typeface="华文新魏" panose="02010800040101010101" pitchFamily="2" charset="-122"/>
                <a:ea typeface="华文新魏" panose="02010800040101010101" pitchFamily="2" charset="-122"/>
              </a:rPr>
              <a:t>32</a:t>
            </a:r>
            <a:r>
              <a:rPr lang="zh-CN" altLang="zh-CN" sz="3600" dirty="0">
                <a:latin typeface="华文新魏" panose="02010800040101010101" pitchFamily="2" charset="-122"/>
                <a:ea typeface="华文新魏" panose="02010800040101010101" pitchFamily="2" charset="-122"/>
              </a:rPr>
              <a:t>位浮点规格化数。</a:t>
            </a:r>
          </a:p>
          <a:p>
            <a:r>
              <a:rPr lang="en-US" altLang="zh-CN" sz="3600" dirty="0" smtClean="0">
                <a:latin typeface="华文新魏" panose="02010800040101010101" pitchFamily="2" charset="-122"/>
                <a:ea typeface="华文新魏" panose="02010800040101010101" pitchFamily="2" charset="-122"/>
              </a:rPr>
              <a:t>4. </a:t>
            </a:r>
            <a:r>
              <a:rPr lang="zh-CN" altLang="zh-CN" sz="3600" dirty="0" smtClean="0">
                <a:latin typeface="华文新魏" panose="02010800040101010101" pitchFamily="2" charset="-122"/>
                <a:ea typeface="华文新魏" panose="02010800040101010101" pitchFamily="2" charset="-122"/>
              </a:rPr>
              <a:t>若</a:t>
            </a:r>
            <a:r>
              <a:rPr lang="en-US" altLang="zh-CN" sz="3600" dirty="0">
                <a:latin typeface="华文新魏" panose="02010800040101010101" pitchFamily="2" charset="-122"/>
                <a:ea typeface="华文新魏" panose="02010800040101010101" pitchFamily="2" charset="-122"/>
              </a:rPr>
              <a:t>32</a:t>
            </a:r>
            <a:r>
              <a:rPr lang="zh-CN" altLang="zh-CN" sz="3600" dirty="0">
                <a:latin typeface="华文新魏" panose="02010800040101010101" pitchFamily="2" charset="-122"/>
                <a:ea typeface="华文新魏" panose="02010800040101010101" pitchFamily="2" charset="-122"/>
              </a:rPr>
              <a:t>位</a:t>
            </a:r>
            <a:r>
              <a:rPr lang="zh-CN" altLang="zh-CN" sz="3600" dirty="0" smtClean="0">
                <a:latin typeface="华文新魏" panose="02010800040101010101" pitchFamily="2" charset="-122"/>
                <a:ea typeface="华文新魏" panose="02010800040101010101" pitchFamily="2" charset="-122"/>
              </a:rPr>
              <a:t>浮点数</a:t>
            </a:r>
            <a:r>
              <a:rPr lang="en-US" altLang="zh-CN" sz="3600" dirty="0">
                <a:latin typeface="华文新魏" panose="02010800040101010101" pitchFamily="2" charset="-122"/>
                <a:ea typeface="华文新魏" panose="02010800040101010101" pitchFamily="2" charset="-122"/>
              </a:rPr>
              <a:t>x</a:t>
            </a:r>
            <a:r>
              <a:rPr lang="zh-CN" altLang="zh-CN" sz="3600" dirty="0" smtClean="0">
                <a:latin typeface="华文新魏" panose="02010800040101010101" pitchFamily="2" charset="-122"/>
                <a:ea typeface="华文新魏" panose="02010800040101010101" pitchFamily="2" charset="-122"/>
              </a:rPr>
              <a:t>的</a:t>
            </a:r>
            <a:r>
              <a:rPr lang="en-US" altLang="zh-CN" sz="3600" dirty="0">
                <a:latin typeface="华文新魏" panose="02010800040101010101" pitchFamily="2" charset="-122"/>
                <a:ea typeface="华文新魏" panose="02010800040101010101" pitchFamily="2" charset="-122"/>
              </a:rPr>
              <a:t>IEEE754</a:t>
            </a:r>
            <a:r>
              <a:rPr lang="zh-CN" altLang="zh-CN" sz="3600" dirty="0">
                <a:latin typeface="华文新魏" panose="02010800040101010101" pitchFamily="2" charset="-122"/>
                <a:ea typeface="华文新魏" panose="02010800040101010101" pitchFamily="2" charset="-122"/>
              </a:rPr>
              <a:t>标准存储</a:t>
            </a:r>
            <a:r>
              <a:rPr lang="zh-CN" altLang="zh-CN" sz="3600" dirty="0" smtClean="0">
                <a:latin typeface="华文新魏" panose="02010800040101010101" pitchFamily="2" charset="-122"/>
                <a:ea typeface="华文新魏" panose="02010800040101010101" pitchFamily="2" charset="-122"/>
              </a:rPr>
              <a:t>格式</a:t>
            </a:r>
            <a:endParaRPr lang="en-US" altLang="zh-CN" sz="3600" dirty="0" smtClean="0">
              <a:latin typeface="华文新魏" panose="02010800040101010101" pitchFamily="2" charset="-122"/>
              <a:ea typeface="华文新魏" panose="02010800040101010101" pitchFamily="2" charset="-122"/>
            </a:endParaRPr>
          </a:p>
          <a:p>
            <a:r>
              <a:rPr lang="en-US" altLang="zh-CN" sz="3600" dirty="0">
                <a:latin typeface="华文新魏" panose="02010800040101010101" pitchFamily="2" charset="-122"/>
                <a:ea typeface="华文新魏" panose="02010800040101010101" pitchFamily="2" charset="-122"/>
              </a:rPr>
              <a:t> </a:t>
            </a:r>
            <a:r>
              <a:rPr lang="en-US" altLang="zh-CN" sz="3600" dirty="0" smtClean="0">
                <a:latin typeface="华文新魏" panose="02010800040101010101" pitchFamily="2" charset="-122"/>
                <a:ea typeface="华文新魏" panose="02010800040101010101" pitchFamily="2" charset="-122"/>
              </a:rPr>
              <a:t>    </a:t>
            </a:r>
            <a:r>
              <a:rPr lang="zh-CN" altLang="zh-CN" sz="3600" dirty="0" smtClean="0">
                <a:latin typeface="华文新魏" panose="02010800040101010101" pitchFamily="2" charset="-122"/>
                <a:ea typeface="华文新魏" panose="02010800040101010101" pitchFamily="2" charset="-122"/>
              </a:rPr>
              <a:t>为</a:t>
            </a:r>
            <a:r>
              <a:rPr lang="en-US" altLang="zh-CN" sz="3600" dirty="0" smtClean="0">
                <a:latin typeface="华文新魏" panose="02010800040101010101" pitchFamily="2" charset="-122"/>
                <a:ea typeface="华文新魏" panose="02010800040101010101" pitchFamily="2" charset="-122"/>
              </a:rPr>
              <a:t>C0400000H</a:t>
            </a:r>
            <a:r>
              <a:rPr lang="en-US" altLang="zh-CN" sz="3600" dirty="0">
                <a:latin typeface="华文新魏" panose="02010800040101010101" pitchFamily="2" charset="-122"/>
                <a:ea typeface="华文新魏" panose="02010800040101010101" pitchFamily="2" charset="-122"/>
              </a:rPr>
              <a:t>,</a:t>
            </a:r>
            <a:r>
              <a:rPr lang="zh-CN" altLang="zh-CN" sz="3600" dirty="0" smtClean="0">
                <a:latin typeface="华文新魏" panose="02010800040101010101" pitchFamily="2" charset="-122"/>
                <a:ea typeface="华文新魏" panose="02010800040101010101" pitchFamily="2" charset="-122"/>
              </a:rPr>
              <a:t>求</a:t>
            </a:r>
            <a:r>
              <a:rPr lang="en-US" altLang="zh-CN" sz="3600" dirty="0" smtClean="0">
                <a:latin typeface="华文新魏" panose="02010800040101010101" pitchFamily="2" charset="-122"/>
                <a:ea typeface="华文新魏" panose="02010800040101010101" pitchFamily="2" charset="-122"/>
              </a:rPr>
              <a:t>x</a:t>
            </a:r>
            <a:r>
              <a:rPr lang="zh-CN" altLang="zh-CN" sz="3600" dirty="0" smtClean="0">
                <a:latin typeface="华文新魏" panose="02010800040101010101" pitchFamily="2" charset="-122"/>
                <a:ea typeface="华文新魏" panose="02010800040101010101" pitchFamily="2" charset="-122"/>
              </a:rPr>
              <a:t>的十进制</a:t>
            </a:r>
            <a:r>
              <a:rPr lang="zh-CN" altLang="en-US" sz="3600" dirty="0" smtClean="0">
                <a:latin typeface="华文新魏" panose="02010800040101010101" pitchFamily="2" charset="-122"/>
                <a:ea typeface="华文新魏" panose="02010800040101010101" pitchFamily="2" charset="-122"/>
              </a:rPr>
              <a:t>中真</a:t>
            </a:r>
            <a:r>
              <a:rPr lang="zh-CN" altLang="zh-CN" sz="3600" dirty="0" smtClean="0">
                <a:latin typeface="华文新魏" panose="02010800040101010101" pitchFamily="2" charset="-122"/>
                <a:ea typeface="华文新魏" panose="02010800040101010101" pitchFamily="2" charset="-122"/>
              </a:rPr>
              <a:t>值。 </a:t>
            </a:r>
            <a:endParaRPr lang="zh-CN" altLang="zh-CN" sz="3600"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1410478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303213" y="404813"/>
            <a:ext cx="844550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itchFamily="2" charset="-122"/>
                <a:ea typeface="黑体" pitchFamily="2" charset="-122"/>
              </a:rPr>
              <a:t>2.1.3 字符与字符串的表示方法</a:t>
            </a:r>
            <a:r>
              <a:rPr lang="zh-CN" altLang="zh-CN" sz="2400" i="1">
                <a:solidFill>
                  <a:srgbClr val="8080FF"/>
                </a:solidFill>
                <a:latin typeface="黑体" pitchFamily="2" charset="-122"/>
                <a:ea typeface="黑体" pitchFamily="2" charset="-122"/>
              </a:rPr>
              <a:t> </a:t>
            </a:r>
            <a:endParaRPr lang="en-US" altLang="zh-CN" sz="2400" i="1">
              <a:solidFill>
                <a:srgbClr val="8080FF"/>
              </a:solidFill>
              <a:latin typeface="黑体" pitchFamily="2" charset="-122"/>
              <a:ea typeface="黑体" pitchFamily="2" charset="-122"/>
            </a:endParaRPr>
          </a:p>
          <a:p>
            <a:pPr eaLnBrk="0" hangingPunct="0">
              <a:lnSpc>
                <a:spcPct val="150000"/>
              </a:lnSpc>
            </a:pPr>
            <a:r>
              <a:rPr lang="en-US" altLang="zh-CN" sz="2400">
                <a:solidFill>
                  <a:srgbClr val="FF0000"/>
                </a:solidFill>
                <a:latin typeface="黑体" pitchFamily="2" charset="-122"/>
                <a:ea typeface="黑体" pitchFamily="2" charset="-122"/>
              </a:rPr>
              <a:t>    1.</a:t>
            </a:r>
            <a:r>
              <a:rPr lang="zh-CN" altLang="en-US" sz="2400">
                <a:solidFill>
                  <a:srgbClr val="FF0000"/>
                </a:solidFill>
                <a:latin typeface="黑体" pitchFamily="2" charset="-122"/>
                <a:ea typeface="黑体" pitchFamily="2" charset="-122"/>
              </a:rPr>
              <a:t>字符的表示方法</a:t>
            </a:r>
          </a:p>
          <a:p>
            <a:pPr eaLnBrk="0" hangingPunct="0">
              <a:lnSpc>
                <a:spcPct val="150000"/>
              </a:lnSpc>
            </a:pPr>
            <a:r>
              <a:rPr lang="zh-CN" altLang="zh-CN" sz="2400" i="1">
                <a:solidFill>
                  <a:srgbClr val="8080FF"/>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现代计算机不仅处理数值领域的问题，而且处理大量非数值领域的问题。这样一来，必然要引入文字、字母以及某些专用符号，以便表示文字语言、逻辑语言等信息。</a:t>
            </a:r>
            <a:endParaRPr lang="zh-CN" altLang="zh-CN" sz="2400">
              <a:latin typeface="黑体" pitchFamily="2" charset="-122"/>
              <a:ea typeface="黑体" pitchFamily="2" charset="-122"/>
            </a:endParaRPr>
          </a:p>
          <a:p>
            <a:pPr eaLnBrk="0" hangingPunct="0">
              <a:lnSpc>
                <a:spcPct val="150000"/>
              </a:lnSpc>
            </a:pPr>
            <a:r>
              <a:rPr lang="zh-CN" altLang="zh-CN" sz="2400">
                <a:solidFill>
                  <a:srgbClr val="000000"/>
                </a:solidFill>
                <a:latin typeface="黑体" pitchFamily="2" charset="-122"/>
                <a:ea typeface="黑体" pitchFamily="2" charset="-122"/>
              </a:rPr>
              <a:t>　　目前国际上普遍采用的字符系统是七单位的ASCII码(美国国家信息交换标准字符码),它包括10个十进制数码,26个英文字母和一定数量的专用符号,如$,%,＋,＝等，共128个元素,因此二进制编码需7位,加一位偶校验位,共8位一个字节。表2.1列出了七单位ASCII码字符编码表。</a:t>
            </a:r>
            <a:endParaRPr lang="zh-CN" altLang="zh-CN" sz="2400" i="1">
              <a:solidFill>
                <a:srgbClr val="8080FF"/>
              </a:solidFill>
              <a:latin typeface="黑体" pitchFamily="2" charset="-122"/>
              <a:ea typeface="黑体" pitchFamily="2" charset="-122"/>
            </a:endParaRPr>
          </a:p>
        </p:txBody>
      </p:sp>
      <p:sp>
        <p:nvSpPr>
          <p:cNvPr id="37891" name="AutoShape 2" descr="G:\jzdx\%E8%AE%A1%E7%AE%97%E6%9C%BA%E7%BB%84%E6%88%90%E5%8E%9F%E7%90%86\%E6%95%99%E6%A1%88\%E7%AC%AC%E4%BA%8C%E7%AB%A0\Images\Home07.gif">
            <a:hlinkClick r:id="rId2" action="ppaction://hlinkfile"/>
          </p:cNvPr>
          <p:cNvSpPr>
            <a:spLocks noChangeAspect="1" noChangeArrowheads="1"/>
          </p:cNvSpPr>
          <p:nvPr/>
        </p:nvSpPr>
        <p:spPr bwMode="auto">
          <a:xfrm>
            <a:off x="9877425" y="3328988"/>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04825" y="692150"/>
          <a:ext cx="5761037" cy="4432308"/>
        </p:xfrm>
        <a:graphic>
          <a:graphicData uri="http://schemas.openxmlformats.org/drawingml/2006/table">
            <a:tbl>
              <a:tblPr/>
              <a:tblGrid>
                <a:gridCol w="824556"/>
                <a:gridCol w="553320"/>
                <a:gridCol w="596717"/>
                <a:gridCol w="520771"/>
                <a:gridCol w="629266"/>
                <a:gridCol w="640115"/>
                <a:gridCol w="683512"/>
                <a:gridCol w="650965"/>
                <a:gridCol w="661815"/>
              </a:tblGrid>
              <a:tr h="260724">
                <a:tc>
                  <a:txBody>
                    <a:bodyPr/>
                    <a:lstStyle/>
                    <a:p>
                      <a:pPr algn="ctr"/>
                      <a:r>
                        <a:rPr lang="zh-CN" altLang="en-US" sz="1600" dirty="0">
                          <a:latin typeface="黑体"/>
                        </a:rPr>
                        <a:t>　</a:t>
                      </a:r>
                      <a:endParaRPr lang="zh-CN" altLang="en-US" sz="1600" dirty="0"/>
                    </a:p>
                  </a:txBody>
                  <a:tcPr marL="8427" marR="8427" marT="8427" marB="8427"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a:rPr>
                        <a:t>000</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a:rPr>
                        <a:t>001</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dirty="0">
                          <a:latin typeface="黑体"/>
                        </a:rPr>
                        <a:t>010</a:t>
                      </a:r>
                      <a:endParaRPr lang="zh-CN" altLang="en-US" sz="1600" dirty="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a:rPr>
                        <a:t>011</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a:rPr>
                        <a:t>100</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a:rPr>
                        <a:t>101</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a:rPr>
                        <a:t>110</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a:rPr>
                        <a:t>111</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a:noFill/>
                    </a:lnB>
                    <a:solidFill>
                      <a:srgbClr val="CCFFFF"/>
                    </a:solidFill>
                  </a:tcPr>
                </a:tc>
              </a:tr>
              <a:tr h="260724">
                <a:tc>
                  <a:txBody>
                    <a:bodyPr/>
                    <a:lstStyle/>
                    <a:p>
                      <a:pPr algn="ctr"/>
                      <a:r>
                        <a:rPr lang="en-US" altLang="zh-CN" sz="1600">
                          <a:latin typeface="黑体"/>
                        </a:rPr>
                        <a:t>0000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NUL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DEL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SP</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0</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P</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a:rPr>
                        <a:t>　</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p</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0001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SOH</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DC1</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dirty="0">
                          <a:latin typeface="黑体"/>
                        </a:rPr>
                        <a:t>!</a:t>
                      </a:r>
                      <a:endParaRPr lang="zh-CN" altLang="en-US" sz="1600" dirty="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1</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A</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Q</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a</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q</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0010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STX</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DC2</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2</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B</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R</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b</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r</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0011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ETX</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DC3</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3</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C</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c</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s</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0100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EOT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DC4</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4</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D</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d</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t</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0101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ENQ</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NAK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5</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E</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U</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e</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u</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0110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ACK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SYN</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&amp;</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6</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V</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v</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0111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DEL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ETB</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a:rPr>
                        <a:t>　</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7</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G</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W</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g</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w</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1000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BS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CAN</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8</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H</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X</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h</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x</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1001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HT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EM</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9</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I</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Y</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i</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y</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1010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LF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SUB</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J</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Z</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j</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z</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1011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VT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ESC</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1100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FF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FS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&lt;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dirty="0">
                          <a:latin typeface="黑体"/>
                        </a:rPr>
                        <a:t>L</a:t>
                      </a:r>
                      <a:endParaRPr lang="en-US" sz="1600" dirty="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1101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CR</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GS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M</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m</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1110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a:rPr>
                        <a:t>SO</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RS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&gt;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N</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a:rPr>
                        <a:t>　</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a:rPr>
                        <a:t>n</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tr>
              <a:tr h="260724">
                <a:tc>
                  <a:txBody>
                    <a:bodyPr/>
                    <a:lstStyle/>
                    <a:p>
                      <a:pPr algn="ctr"/>
                      <a:r>
                        <a:rPr lang="en-US" altLang="zh-CN" sz="1600">
                          <a:latin typeface="黑体"/>
                        </a:rPr>
                        <a:t>1111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a:rPr>
                        <a:t>SI</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a:rPr>
                        <a:t>US</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altLang="zh-CN" sz="1600">
                          <a:latin typeface="黑体"/>
                        </a:rPr>
                        <a:t>?</a:t>
                      </a:r>
                      <a:endParaRPr lang="zh-CN" alt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a:rPr>
                        <a:t>O</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altLang="zh-CN" sz="1600">
                          <a:latin typeface="黑体"/>
                        </a:rPr>
                        <a:t>_</a:t>
                      </a:r>
                      <a:endParaRPr lang="zh-CN" alt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a:rPr>
                        <a:t>o</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dirty="0">
                          <a:latin typeface="黑体"/>
                        </a:rPr>
                        <a:t>DEL</a:t>
                      </a:r>
                      <a:endParaRPr lang="en-US" sz="1600" dirty="0"/>
                    </a:p>
                  </a:txBody>
                  <a:tcPr marL="8427" marR="8427" marT="8427" marB="8427" anchor="ctr">
                    <a:lnL>
                      <a:noFill/>
                    </a:lnL>
                    <a:lnR w="12700" cap="flat" cmpd="sng" algn="ctr">
                      <a:solidFill>
                        <a:srgbClr val="FF0000"/>
                      </a:solidFill>
                      <a:prstDash val="solid"/>
                      <a:round/>
                      <a:headEnd type="none" w="med" len="med"/>
                      <a:tailEnd type="none" w="med" len="med"/>
                    </a:lnR>
                    <a:lnT>
                      <a:noFill/>
                    </a:lnT>
                    <a:lnB w="12700" cap="flat" cmpd="sng" algn="ctr">
                      <a:solidFill>
                        <a:srgbClr val="FF0000"/>
                      </a:solidFill>
                      <a:prstDash val="solid"/>
                      <a:round/>
                      <a:headEnd type="none" w="med" len="med"/>
                      <a:tailEnd type="none" w="med" len="med"/>
                    </a:lnB>
                    <a:solidFill>
                      <a:srgbClr val="CCFFFF"/>
                    </a:solidFill>
                  </a:tcPr>
                </a:tc>
              </a:tr>
            </a:tbl>
          </a:graphicData>
        </a:graphic>
      </p:graphicFrame>
      <p:sp>
        <p:nvSpPr>
          <p:cNvPr id="39072" name="Rectangle 1"/>
          <p:cNvSpPr>
            <a:spLocks noChangeArrowheads="1"/>
          </p:cNvSpPr>
          <p:nvPr/>
        </p:nvSpPr>
        <p:spPr bwMode="auto">
          <a:xfrm>
            <a:off x="539750" y="193675"/>
            <a:ext cx="5691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zh-CN">
                <a:solidFill>
                  <a:srgbClr val="000000"/>
                </a:solidFill>
                <a:latin typeface="黑体" pitchFamily="2" charset="-122"/>
                <a:ea typeface="黑体" pitchFamily="2" charset="-122"/>
              </a:rPr>
              <a:t>表2.1 ASCII字符编码表</a:t>
            </a:r>
            <a:endParaRPr lang="zh-CN" altLang="zh-CN"/>
          </a:p>
        </p:txBody>
      </p:sp>
      <p:sp>
        <p:nvSpPr>
          <p:cNvPr id="39073" name="矩形 3"/>
          <p:cNvSpPr>
            <a:spLocks noChangeArrowheads="1"/>
          </p:cNvSpPr>
          <p:nvPr/>
        </p:nvSpPr>
        <p:spPr bwMode="auto">
          <a:xfrm>
            <a:off x="363538" y="5229225"/>
            <a:ext cx="846137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黑体" pitchFamily="2" charset="-122"/>
                <a:ea typeface="黑体" pitchFamily="2" charset="-122"/>
              </a:rPr>
              <a:t>2.</a:t>
            </a:r>
            <a:r>
              <a:rPr lang="zh-CN" altLang="en-US">
                <a:latin typeface="黑体" pitchFamily="2" charset="-122"/>
                <a:ea typeface="黑体" pitchFamily="2" charset="-122"/>
              </a:rPr>
              <a:t>字符串</a:t>
            </a:r>
            <a:endParaRPr lang="en-US" altLang="zh-CN">
              <a:latin typeface="黑体" pitchFamily="2" charset="-122"/>
              <a:ea typeface="黑体" pitchFamily="2" charset="-122"/>
            </a:endParaRPr>
          </a:p>
          <a:p>
            <a:r>
              <a:rPr lang="zh-CN" altLang="en-US">
                <a:latin typeface="黑体" pitchFamily="2" charset="-122"/>
                <a:ea typeface="黑体" pitchFamily="2" charset="-122"/>
              </a:rPr>
              <a:t>    字符串是指连续的一串字符</a:t>
            </a:r>
            <a:r>
              <a:rPr lang="en-US" altLang="zh-CN">
                <a:latin typeface="黑体" pitchFamily="2" charset="-122"/>
                <a:ea typeface="黑体" pitchFamily="2" charset="-122"/>
              </a:rPr>
              <a:t>,</a:t>
            </a:r>
            <a:r>
              <a:rPr lang="zh-CN" altLang="en-US">
                <a:latin typeface="黑体" pitchFamily="2" charset="-122"/>
                <a:ea typeface="黑体" pitchFamily="2" charset="-122"/>
              </a:rPr>
              <a:t>通常方式下</a:t>
            </a:r>
            <a:r>
              <a:rPr lang="en-US" altLang="zh-CN">
                <a:latin typeface="黑体" pitchFamily="2" charset="-122"/>
                <a:ea typeface="黑体" pitchFamily="2" charset="-122"/>
              </a:rPr>
              <a:t>,</a:t>
            </a:r>
            <a:r>
              <a:rPr lang="zh-CN" altLang="en-US">
                <a:latin typeface="黑体" pitchFamily="2" charset="-122"/>
                <a:ea typeface="黑体" pitchFamily="2" charset="-122"/>
              </a:rPr>
              <a:t>它们占用主存中连续的多个字节</a:t>
            </a:r>
            <a:r>
              <a:rPr lang="en-US" altLang="zh-CN">
                <a:latin typeface="黑体" pitchFamily="2" charset="-122"/>
                <a:ea typeface="黑体" pitchFamily="2" charset="-122"/>
              </a:rPr>
              <a:t>,</a:t>
            </a:r>
            <a:r>
              <a:rPr lang="zh-CN" altLang="en-US">
                <a:latin typeface="黑体" pitchFamily="2" charset="-122"/>
                <a:ea typeface="黑体" pitchFamily="2" charset="-122"/>
              </a:rPr>
              <a:t>每个字节存一个字符。当主存字由</a:t>
            </a:r>
            <a:r>
              <a:rPr lang="en-US" altLang="zh-CN">
                <a:latin typeface="黑体" pitchFamily="2" charset="-122"/>
                <a:ea typeface="黑体" pitchFamily="2" charset="-122"/>
              </a:rPr>
              <a:t>2</a:t>
            </a:r>
            <a:r>
              <a:rPr lang="zh-CN" altLang="en-US">
                <a:latin typeface="黑体" pitchFamily="2" charset="-122"/>
                <a:ea typeface="黑体" pitchFamily="2" charset="-122"/>
              </a:rPr>
              <a:t>个或</a:t>
            </a:r>
            <a:r>
              <a:rPr lang="en-US" altLang="zh-CN">
                <a:latin typeface="黑体" pitchFamily="2" charset="-122"/>
                <a:ea typeface="黑体" pitchFamily="2" charset="-122"/>
              </a:rPr>
              <a:t>4</a:t>
            </a:r>
            <a:r>
              <a:rPr lang="zh-CN" altLang="en-US">
                <a:latin typeface="黑体" pitchFamily="2" charset="-122"/>
                <a:ea typeface="黑体" pitchFamily="2" charset="-122"/>
              </a:rPr>
              <a:t>个字节组成时</a:t>
            </a:r>
            <a:r>
              <a:rPr lang="en-US" altLang="zh-CN">
                <a:latin typeface="黑体" pitchFamily="2" charset="-122"/>
                <a:ea typeface="黑体" pitchFamily="2" charset="-122"/>
              </a:rPr>
              <a:t>,</a:t>
            </a:r>
            <a:r>
              <a:rPr lang="zh-CN" altLang="en-US">
                <a:latin typeface="黑体" pitchFamily="2" charset="-122"/>
                <a:ea typeface="黑体" pitchFamily="2" charset="-122"/>
              </a:rPr>
              <a:t>在同一个主存字中</a:t>
            </a:r>
            <a:r>
              <a:rPr lang="en-US" altLang="zh-CN">
                <a:latin typeface="黑体" pitchFamily="2" charset="-122"/>
                <a:ea typeface="黑体" pitchFamily="2" charset="-122"/>
              </a:rPr>
              <a:t>,</a:t>
            </a:r>
            <a:r>
              <a:rPr lang="zh-CN" altLang="en-US">
                <a:latin typeface="黑体" pitchFamily="2" charset="-122"/>
                <a:ea typeface="黑体" pitchFamily="2" charset="-122"/>
              </a:rPr>
              <a:t>既可按从低位字节向高位字节的顺序存放字符串的内容</a:t>
            </a:r>
            <a:r>
              <a:rPr lang="en-US" altLang="zh-CN">
                <a:latin typeface="黑体" pitchFamily="2" charset="-122"/>
                <a:ea typeface="黑体" pitchFamily="2" charset="-122"/>
              </a:rPr>
              <a:t>,</a:t>
            </a:r>
            <a:r>
              <a:rPr lang="zh-CN" altLang="en-US">
                <a:latin typeface="黑体" pitchFamily="2" charset="-122"/>
                <a:ea typeface="黑体" pitchFamily="2" charset="-122"/>
              </a:rPr>
              <a:t>也可按从高位字节向低位字节的次序顺序存放字符串的内容。</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ChangeArrowheads="1"/>
          </p:cNvSpPr>
          <p:nvPr/>
        </p:nvSpPr>
        <p:spPr bwMode="auto">
          <a:xfrm>
            <a:off x="130175" y="44450"/>
            <a:ext cx="8834438"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400">
                <a:solidFill>
                  <a:srgbClr val="FF0000"/>
                </a:solidFill>
                <a:latin typeface="黑体" pitchFamily="2" charset="-122"/>
                <a:ea typeface="黑体" pitchFamily="2" charset="-122"/>
              </a:rPr>
              <a:t>2.1.4 汉字的表示方法 </a:t>
            </a:r>
            <a:r>
              <a:rPr lang="zh-CN" altLang="zh-CN" sz="2400">
                <a:solidFill>
                  <a:srgbClr val="8080FF"/>
                </a:solidFill>
                <a:latin typeface="黑体" pitchFamily="2" charset="-122"/>
                <a:ea typeface="黑体" pitchFamily="2" charset="-122"/>
                <a:hlinkClick r:id="rId2" action="ppaction://hlinkfile"/>
              </a:rPr>
              <a:t>　　　　　　  </a:t>
            </a:r>
            <a:endParaRPr lang="zh-CN" altLang="zh-CN" sz="2400">
              <a:solidFill>
                <a:srgbClr val="000000"/>
              </a:solidFill>
              <a:latin typeface="黑体" pitchFamily="2" charset="-122"/>
              <a:ea typeface="黑体" pitchFamily="2" charset="-122"/>
            </a:endParaRPr>
          </a:p>
          <a:p>
            <a:pPr eaLnBrk="0" hangingPunct="0">
              <a:lnSpc>
                <a:spcPct val="120000"/>
              </a:lnSpc>
            </a:pPr>
            <a:r>
              <a:rPr lang="en-US" altLang="zh-CN" sz="2400">
                <a:solidFill>
                  <a:srgbClr val="FF0000"/>
                </a:solidFill>
                <a:latin typeface="黑体" pitchFamily="2" charset="-122"/>
                <a:ea typeface="黑体" pitchFamily="2" charset="-122"/>
              </a:rPr>
              <a:t>    1.</a:t>
            </a:r>
            <a:r>
              <a:rPr lang="zh-CN" altLang="en-US" sz="2400">
                <a:solidFill>
                  <a:srgbClr val="FF0000"/>
                </a:solidFill>
                <a:latin typeface="黑体" pitchFamily="2" charset="-122"/>
                <a:ea typeface="黑体" pitchFamily="2" charset="-122"/>
              </a:rPr>
              <a:t>汉字的输入编码</a:t>
            </a:r>
          </a:p>
          <a:p>
            <a:pPr eaLnBrk="0" hangingPunct="0">
              <a:lnSpc>
                <a:spcPct val="120000"/>
              </a:lnSpc>
            </a:pPr>
            <a:r>
              <a:rPr lang="zh-CN" altLang="zh-CN" sz="2400">
                <a:solidFill>
                  <a:srgbClr val="000000"/>
                </a:solidFill>
                <a:latin typeface="黑体" pitchFamily="2" charset="-122"/>
                <a:ea typeface="黑体" pitchFamily="2" charset="-122"/>
              </a:rPr>
              <a:t>　　使用西文标准键盘把汉字输入到计算机,就</a:t>
            </a:r>
            <a:r>
              <a:rPr lang="zh-CN" altLang="en-US" sz="2400">
                <a:solidFill>
                  <a:srgbClr val="000000"/>
                </a:solidFill>
                <a:latin typeface="黑体" pitchFamily="2" charset="-122"/>
                <a:ea typeface="黑体" pitchFamily="2" charset="-122"/>
              </a:rPr>
              <a:t>要</a:t>
            </a:r>
            <a:r>
              <a:rPr lang="zh-CN" altLang="zh-CN" sz="2400">
                <a:solidFill>
                  <a:srgbClr val="000000"/>
                </a:solidFill>
                <a:latin typeface="黑体" pitchFamily="2" charset="-122"/>
                <a:ea typeface="黑体" pitchFamily="2" charset="-122"/>
              </a:rPr>
              <a:t>为汉字设</a:t>
            </a:r>
            <a:endParaRPr lang="en-US" altLang="zh-CN" sz="2400">
              <a:solidFill>
                <a:srgbClr val="000000"/>
              </a:solidFill>
              <a:latin typeface="黑体" pitchFamily="2" charset="-122"/>
              <a:ea typeface="黑体" pitchFamily="2" charset="-122"/>
            </a:endParaRPr>
          </a:p>
          <a:p>
            <a:pPr eaLnBrk="0" hangingPunct="0">
              <a:lnSpc>
                <a:spcPct val="120000"/>
              </a:lnSpc>
            </a:pPr>
            <a:r>
              <a:rPr lang="zh-CN" altLang="zh-CN" sz="2400">
                <a:solidFill>
                  <a:srgbClr val="000000"/>
                </a:solidFill>
                <a:latin typeface="黑体" pitchFamily="2" charset="-122"/>
                <a:ea typeface="黑体" pitchFamily="2" charset="-122"/>
              </a:rPr>
              <a:t>计相应的输入编码方法。当前采用的方法主要有以下三类:</a:t>
            </a:r>
            <a:endParaRPr lang="zh-CN" altLang="zh-CN" sz="2400">
              <a:latin typeface="黑体" pitchFamily="2" charset="-122"/>
              <a:ea typeface="黑体" pitchFamily="2" charset="-122"/>
            </a:endParaRPr>
          </a:p>
          <a:p>
            <a:pPr eaLnBrk="0" hangingPunct="0">
              <a:lnSpc>
                <a:spcPct val="120000"/>
              </a:lnSpc>
            </a:pPr>
            <a:r>
              <a:rPr lang="zh-CN" altLang="zh-CN" sz="2400">
                <a:solidFill>
                  <a:srgbClr val="FF0000"/>
                </a:solidFill>
                <a:latin typeface="黑体" pitchFamily="2" charset="-122"/>
                <a:ea typeface="黑体" pitchFamily="2" charset="-122"/>
              </a:rPr>
              <a:t>　　数字编码</a:t>
            </a:r>
            <a:r>
              <a:rPr lang="zh-CN" altLang="zh-CN" sz="2400">
                <a:solidFill>
                  <a:srgbClr val="000000"/>
                </a:solidFill>
                <a:latin typeface="黑体" pitchFamily="2" charset="-122"/>
                <a:ea typeface="黑体" pitchFamily="2" charset="-122"/>
              </a:rPr>
              <a:t> 常用的是国标区位码</a:t>
            </a:r>
            <a:r>
              <a:rPr lang="en-US" altLang="zh-CN" sz="2400">
                <a:solidFill>
                  <a:srgbClr val="000000"/>
                </a:solidFill>
                <a:latin typeface="黑体" pitchFamily="2" charset="-122"/>
                <a:ea typeface="黑体" pitchFamily="2" charset="-122"/>
              </a:rPr>
              <a:t>,</a:t>
            </a:r>
            <a:r>
              <a:rPr lang="zh-CN" altLang="zh-CN" sz="2400">
                <a:solidFill>
                  <a:srgbClr val="000000"/>
                </a:solidFill>
                <a:latin typeface="黑体" pitchFamily="2" charset="-122"/>
                <a:ea typeface="黑体" pitchFamily="2" charset="-122"/>
              </a:rPr>
              <a:t>数字编码输入的优点是无重码,且输入码与内部编码的转换比较方便,缺点是代码难以记忆。</a:t>
            </a:r>
            <a:endParaRPr lang="zh-CN" altLang="zh-CN" sz="2400">
              <a:latin typeface="黑体" pitchFamily="2" charset="-122"/>
              <a:ea typeface="黑体" pitchFamily="2" charset="-122"/>
            </a:endParaRPr>
          </a:p>
          <a:p>
            <a:pPr eaLnBrk="0" hangingPunct="0">
              <a:lnSpc>
                <a:spcPct val="120000"/>
              </a:lnSpc>
            </a:pPr>
            <a:r>
              <a:rPr lang="zh-CN" altLang="zh-CN" sz="2400">
                <a:solidFill>
                  <a:srgbClr val="FF0000"/>
                </a:solidFill>
                <a:latin typeface="黑体" pitchFamily="2" charset="-122"/>
                <a:ea typeface="黑体" pitchFamily="2" charset="-122"/>
              </a:rPr>
              <a:t>　　拼音码</a:t>
            </a:r>
            <a:r>
              <a:rPr lang="zh-CN" altLang="zh-CN" sz="2400">
                <a:solidFill>
                  <a:srgbClr val="000000"/>
                </a:solidFill>
                <a:latin typeface="黑体" pitchFamily="2" charset="-122"/>
                <a:ea typeface="黑体" pitchFamily="2" charset="-122"/>
              </a:rPr>
              <a:t> 拼音码是以汉字拼音为基础的输入方法。使用简单方便，但汉字同音字太多,输入重码率很高,同音字选择影响了输入速度。</a:t>
            </a:r>
            <a:endParaRPr lang="zh-CN" altLang="zh-CN" sz="2400">
              <a:latin typeface="黑体" pitchFamily="2" charset="-122"/>
              <a:ea typeface="黑体" pitchFamily="2" charset="-122"/>
            </a:endParaRPr>
          </a:p>
          <a:p>
            <a:pPr eaLnBrk="0" hangingPunct="0">
              <a:lnSpc>
                <a:spcPct val="120000"/>
              </a:lnSpc>
            </a:pPr>
            <a:r>
              <a:rPr lang="zh-CN" altLang="zh-CN" sz="2400">
                <a:solidFill>
                  <a:srgbClr val="FF0000"/>
                </a:solidFill>
                <a:latin typeface="黑体" pitchFamily="2" charset="-122"/>
                <a:ea typeface="黑体" pitchFamily="2" charset="-122"/>
              </a:rPr>
              <a:t>　　字形编码</a:t>
            </a:r>
            <a:r>
              <a:rPr lang="zh-CN" altLang="zh-CN" sz="2400">
                <a:solidFill>
                  <a:srgbClr val="000000"/>
                </a:solidFill>
                <a:latin typeface="黑体" pitchFamily="2" charset="-122"/>
                <a:ea typeface="黑体" pitchFamily="2" charset="-122"/>
              </a:rPr>
              <a:t> 字形编码是用汉字的形状来进行的编码。把汉字的笔划部件用字母或数字进行编码,按笔划的顺序依次输入,就能表示一个汉字。</a:t>
            </a:r>
            <a:endParaRPr lang="zh-CN" altLang="zh-CN" sz="2400">
              <a:latin typeface="黑体" pitchFamily="2" charset="-122"/>
              <a:ea typeface="黑体" pitchFamily="2" charset="-122"/>
            </a:endParaRPr>
          </a:p>
          <a:p>
            <a:pPr eaLnBrk="0" hangingPunct="0">
              <a:lnSpc>
                <a:spcPct val="120000"/>
              </a:lnSpc>
            </a:pPr>
            <a:r>
              <a:rPr lang="zh-CN" altLang="zh-CN" sz="2400">
                <a:solidFill>
                  <a:srgbClr val="000000"/>
                </a:solidFill>
                <a:latin typeface="黑体" pitchFamily="2" charset="-122"/>
                <a:ea typeface="黑体" pitchFamily="2" charset="-122"/>
              </a:rPr>
              <a:t>　　理想的输入方式是利用语音或图象识别技术“自动”将拼音或文本输入到计算机内,使计算机能认识汉字,听懂汉语,并将其自动转换为机内代码表示。目前这种理想已经成为现实。</a:t>
            </a:r>
            <a:endParaRPr lang="zh-CN" altLang="zh-CN" sz="2400">
              <a:solidFill>
                <a:srgbClr val="8080FF"/>
              </a:solidFill>
              <a:latin typeface="黑体" pitchFamily="2" charset="-122"/>
              <a:ea typeface="黑体" pitchFamily="2" charset="-122"/>
            </a:endParaRPr>
          </a:p>
        </p:txBody>
      </p:sp>
      <p:sp>
        <p:nvSpPr>
          <p:cNvPr id="39939" name="AutoShape 4" descr="G:\jzdx\%E8%AE%A1%E7%AE%97%E6%9C%BA%E7%BB%84%E6%88%90%E5%8E%9F%E7%90%86\%E6%95%99%E6%A1%88\%E7%AC%AC%E4%BA%8C%E7%AB%A0\Images\Home07.gif">
            <a:hlinkClick r:id="rId2" action="ppaction://hlinkfile"/>
          </p:cNvPr>
          <p:cNvSpPr>
            <a:spLocks noChangeAspect="1" noChangeArrowheads="1"/>
          </p:cNvSpPr>
          <p:nvPr/>
        </p:nvSpPr>
        <p:spPr bwMode="auto">
          <a:xfrm>
            <a:off x="7212013" y="22828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250825" y="44450"/>
            <a:ext cx="7594600"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solidFill>
                  <a:srgbClr val="FF0000"/>
                </a:solidFill>
                <a:latin typeface="黑体" pitchFamily="2" charset="-122"/>
                <a:ea typeface="黑体" pitchFamily="2" charset="-122"/>
              </a:rPr>
              <a:t>    2.</a:t>
            </a:r>
            <a:r>
              <a:rPr lang="zh-CN" altLang="en-US" sz="2400">
                <a:solidFill>
                  <a:srgbClr val="FF0000"/>
                </a:solidFill>
                <a:latin typeface="黑体" pitchFamily="2" charset="-122"/>
                <a:ea typeface="黑体" pitchFamily="2" charset="-122"/>
              </a:rPr>
              <a:t>汉字内码</a:t>
            </a:r>
          </a:p>
          <a:p>
            <a:pPr eaLnBrk="0" hangingPunct="0">
              <a:lnSpc>
                <a:spcPct val="150000"/>
              </a:lnSpc>
            </a:pPr>
            <a:r>
              <a:rPr lang="zh-CN" altLang="zh-CN" sz="2400">
                <a:solidFill>
                  <a:srgbClr val="FF0000"/>
                </a:solidFill>
                <a:latin typeface="黑体" pitchFamily="2" charset="-122"/>
                <a:ea typeface="黑体" pitchFamily="2" charset="-122"/>
              </a:rPr>
              <a:t>　　</a:t>
            </a:r>
            <a:r>
              <a:rPr lang="zh-CN" altLang="zh-CN" sz="2400">
                <a:latin typeface="黑体" pitchFamily="2" charset="-122"/>
                <a:ea typeface="黑体" pitchFamily="2" charset="-122"/>
              </a:rPr>
              <a:t>汉字内码是用于汉字信息的存储、交换、检索等操作的机内代码,一般用两个字节表示。英文字符的机内代码是七位的ASCII码，当用一个字节表示时,最高位为“0”。为了与英文字符相区别,汉字机内代码中两个字节的最高位均规定为“1”。</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en-US" altLang="zh-CN" sz="2400">
                <a:solidFill>
                  <a:srgbClr val="FF0000"/>
                </a:solidFill>
                <a:latin typeface="黑体" pitchFamily="2" charset="-122"/>
                <a:ea typeface="黑体" pitchFamily="2" charset="-122"/>
              </a:rPr>
              <a:t>3.</a:t>
            </a:r>
            <a:r>
              <a:rPr lang="zh-CN" altLang="en-US" sz="2400">
                <a:solidFill>
                  <a:srgbClr val="FF0000"/>
                </a:solidFill>
                <a:latin typeface="黑体" pitchFamily="2" charset="-122"/>
                <a:ea typeface="黑体" pitchFamily="2" charset="-122"/>
              </a:rPr>
              <a:t>汉字字模码</a:t>
            </a:r>
          </a:p>
          <a:p>
            <a:pPr>
              <a:lnSpc>
                <a:spcPct val="150000"/>
              </a:lnSpc>
            </a:pPr>
            <a:r>
              <a:rPr lang="zh-CN" altLang="en-US" sz="2400">
                <a:latin typeface="黑体" pitchFamily="2" charset="-122"/>
                <a:ea typeface="黑体" pitchFamily="2" charset="-122"/>
              </a:rPr>
              <a:t>    字模码是用点阵表示的汉字字形代码</a:t>
            </a:r>
            <a:r>
              <a:rPr lang="en-US" altLang="zh-CN" sz="2400">
                <a:latin typeface="黑体" pitchFamily="2" charset="-122"/>
                <a:ea typeface="黑体" pitchFamily="2" charset="-122"/>
              </a:rPr>
              <a:t>,</a:t>
            </a:r>
            <a:r>
              <a:rPr lang="zh-CN" altLang="en-US" sz="2400">
                <a:latin typeface="黑体" pitchFamily="2" charset="-122"/>
                <a:ea typeface="黑体" pitchFamily="2" charset="-122"/>
              </a:rPr>
              <a:t>它是汉字的输出形式。</a:t>
            </a:r>
            <a:endParaRPr lang="en-US" altLang="zh-CN" sz="2400">
              <a:latin typeface="黑体" pitchFamily="2" charset="-122"/>
              <a:ea typeface="黑体" pitchFamily="2" charset="-122"/>
            </a:endParaRPr>
          </a:p>
          <a:p>
            <a:pPr>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汉字的输入编码、汉字内码、字模码是计算机中用于输入 、内部处理、输出三种不同用途的编码,不要混为一谈。</a:t>
            </a:r>
          </a:p>
        </p:txBody>
      </p:sp>
      <p:sp>
        <p:nvSpPr>
          <p:cNvPr id="40963" name="AutoShape 2" descr="2.1.gif (6766 bytes)"/>
          <p:cNvSpPr>
            <a:spLocks noChangeAspect="1" noChangeArrowheads="1"/>
          </p:cNvSpPr>
          <p:nvPr/>
        </p:nvSpPr>
        <p:spPr bwMode="auto">
          <a:xfrm>
            <a:off x="10023475" y="919163"/>
            <a:ext cx="237172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50813" y="303213"/>
            <a:ext cx="8742362" cy="629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40000"/>
              </a:lnSpc>
            </a:pPr>
            <a:r>
              <a:rPr lang="en-US" altLang="zh-CN" sz="2400">
                <a:solidFill>
                  <a:srgbClr val="FF0000"/>
                </a:solidFill>
                <a:latin typeface="黑体" pitchFamily="2" charset="-122"/>
                <a:ea typeface="黑体" pitchFamily="2" charset="-122"/>
              </a:rPr>
              <a:t>    </a:t>
            </a:r>
            <a:r>
              <a:rPr lang="zh-CN" altLang="zh-CN" sz="2400">
                <a:solidFill>
                  <a:srgbClr val="FF0000"/>
                </a:solidFill>
                <a:latin typeface="黑体" pitchFamily="2" charset="-122"/>
                <a:ea typeface="黑体" pitchFamily="2" charset="-122"/>
              </a:rPr>
              <a:t>2.1.5 校验码</a:t>
            </a:r>
            <a:r>
              <a:rPr lang="zh-CN" altLang="zh-CN" sz="2400">
                <a:solidFill>
                  <a:srgbClr val="8080FF"/>
                </a:solidFill>
                <a:latin typeface="黑体" pitchFamily="2" charset="-122"/>
                <a:ea typeface="黑体" pitchFamily="2" charset="-122"/>
              </a:rPr>
              <a:t> </a:t>
            </a:r>
            <a:r>
              <a:rPr lang="zh-CN" altLang="zh-CN" sz="2400" i="1">
                <a:solidFill>
                  <a:srgbClr val="8080FF"/>
                </a:solidFill>
                <a:latin typeface="黑体" pitchFamily="2" charset="-122"/>
                <a:ea typeface="黑体" pitchFamily="2" charset="-122"/>
                <a:hlinkClick r:id="rId2" action="ppaction://hlinkfile"/>
              </a:rPr>
              <a:t>　　　　　　　　　　  </a:t>
            </a:r>
            <a:endParaRPr lang="zh-CN" altLang="zh-CN" sz="2400">
              <a:solidFill>
                <a:srgbClr val="000000"/>
              </a:solidFill>
              <a:latin typeface="黑体" pitchFamily="2" charset="-122"/>
              <a:ea typeface="黑体" pitchFamily="2" charset="-122"/>
            </a:endParaRPr>
          </a:p>
          <a:p>
            <a:pPr eaLnBrk="0" hangingPunct="0">
              <a:lnSpc>
                <a:spcPct val="140000"/>
              </a:lnSpc>
            </a:pPr>
            <a:r>
              <a:rPr lang="zh-CN" altLang="zh-CN" sz="2400">
                <a:solidFill>
                  <a:srgbClr val="000000"/>
                </a:solidFill>
                <a:latin typeface="黑体" pitchFamily="2" charset="-122"/>
                <a:ea typeface="黑体" pitchFamily="2" charset="-122"/>
              </a:rPr>
              <a:t>　　信息在计算机中存取、传送，要求绝对正确，如某一</a:t>
            </a:r>
            <a:endParaRPr lang="en-US" altLang="zh-CN" sz="2400">
              <a:solidFill>
                <a:srgbClr val="000000"/>
              </a:solidFill>
              <a:latin typeface="黑体" pitchFamily="2" charset="-122"/>
              <a:ea typeface="黑体" pitchFamily="2" charset="-122"/>
            </a:endParaRPr>
          </a:p>
          <a:p>
            <a:pPr eaLnBrk="0" hangingPunct="0">
              <a:lnSpc>
                <a:spcPct val="140000"/>
              </a:lnSpc>
            </a:pPr>
            <a:r>
              <a:rPr lang="zh-CN" altLang="zh-CN" sz="2400">
                <a:solidFill>
                  <a:srgbClr val="000000"/>
                </a:solidFill>
                <a:latin typeface="黑体" pitchFamily="2" charset="-122"/>
                <a:ea typeface="黑体" pitchFamily="2" charset="-122"/>
              </a:rPr>
              <a:t>位出错，就没有正确的结果。</a:t>
            </a:r>
            <a:endParaRPr lang="en-US" altLang="zh-CN" sz="2400">
              <a:solidFill>
                <a:srgbClr val="000000"/>
              </a:solidFill>
              <a:latin typeface="黑体" pitchFamily="2" charset="-122"/>
              <a:ea typeface="黑体" pitchFamily="2" charset="-122"/>
            </a:endParaRPr>
          </a:p>
          <a:p>
            <a:pPr eaLnBrk="0" hangingPunct="0">
              <a:lnSpc>
                <a:spcPct val="14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为发现(检错)和校正(纠错)错误，计算机中广泛采用容错计数，现在提出的检验办法大多采用“冗余校验”，即在基本有效信息代码基础上扩充部分代码(冗余部分——称校验位)。然后，将有效信息和校验位一起按某种规律编码，一起入存贮器或向外发送。当从存储器读出或者接收到代码时，按同一约定的规律进行译码或计算，取出有效信息，判断约定的规律是否被破坏，如果被破坏，表示传送信息过程中有错，可能是有效信息位错，也可能是校验位错。根据被破坏后的某些特征，有可能判断出错在那一位，或哪几位错，从而自动纠正它。</a:t>
            </a:r>
            <a:endParaRPr lang="zh-CN" altLang="zh-CN" sz="2400" i="1">
              <a:solidFill>
                <a:srgbClr val="8080FF"/>
              </a:solidFill>
              <a:latin typeface="黑体" pitchFamily="2" charset="-122"/>
              <a:ea typeface="黑体" pitchFamily="2" charset="-122"/>
            </a:endParaRPr>
          </a:p>
        </p:txBody>
      </p:sp>
      <p:sp>
        <p:nvSpPr>
          <p:cNvPr id="41987" name="AutoShape 2" descr="G:\jzdx\%E8%AE%A1%E7%AE%97%E6%9C%BA%E7%BB%84%E6%88%90%E5%8E%9F%E7%90%86\%E6%95%99%E6%A1%88\%E7%AC%AC%E4%BA%8C%E7%AB%A0\Images\Home07.gif">
            <a:hlinkClick r:id="rId2" action="ppaction://hlinkfile"/>
          </p:cNvPr>
          <p:cNvSpPr>
            <a:spLocks noChangeAspect="1" noChangeArrowheads="1"/>
          </p:cNvSpPr>
          <p:nvPr/>
        </p:nvSpPr>
        <p:spPr bwMode="auto">
          <a:xfrm>
            <a:off x="3927475" y="-8477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250825" y="354013"/>
            <a:ext cx="792162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最简单且应用广泛的检错码是用一位校验位的</a:t>
            </a:r>
            <a:r>
              <a:rPr lang="zh-CN" altLang="zh-CN" sz="2400">
                <a:solidFill>
                  <a:srgbClr val="FF0000"/>
                </a:solidFill>
                <a:latin typeface="黑体" pitchFamily="2" charset="-122"/>
                <a:ea typeface="黑体" pitchFamily="2" charset="-122"/>
              </a:rPr>
              <a:t>奇校验</a:t>
            </a:r>
            <a:r>
              <a:rPr lang="zh-CN" altLang="zh-CN" sz="2400">
                <a:solidFill>
                  <a:srgbClr val="000000"/>
                </a:solidFill>
                <a:latin typeface="黑体" pitchFamily="2" charset="-122"/>
                <a:ea typeface="黑体" pitchFamily="2" charset="-122"/>
              </a:rPr>
              <a:t>或</a:t>
            </a:r>
            <a:r>
              <a:rPr lang="zh-CN" altLang="zh-CN" sz="2400">
                <a:solidFill>
                  <a:srgbClr val="FF0000"/>
                </a:solidFill>
                <a:latin typeface="黑体" pitchFamily="2" charset="-122"/>
                <a:ea typeface="黑体" pitchFamily="2" charset="-122"/>
              </a:rPr>
              <a:t>偶校验</a:t>
            </a:r>
            <a:r>
              <a:rPr lang="zh-CN" altLang="zh-CN" sz="2400">
                <a:solidFill>
                  <a:srgbClr val="000000"/>
                </a:solidFill>
                <a:latin typeface="黑体" pitchFamily="2" charset="-122"/>
                <a:ea typeface="黑体" pitchFamily="2" charset="-122"/>
              </a:rPr>
              <a:t>。</a:t>
            </a:r>
            <a:endParaRPr lang="zh-CN" altLang="zh-CN" sz="2400">
              <a:latin typeface="黑体" pitchFamily="2" charset="-122"/>
              <a:ea typeface="黑体" pitchFamily="2" charset="-122"/>
            </a:endParaRPr>
          </a:p>
          <a:p>
            <a:pPr eaLnBrk="0" hangingPunct="0">
              <a:lnSpc>
                <a:spcPct val="150000"/>
              </a:lnSpc>
            </a:pPr>
            <a:r>
              <a:rPr lang="en-US" altLang="zh-CN" sz="2400">
                <a:solidFill>
                  <a:srgbClr val="FF0000"/>
                </a:solidFill>
                <a:latin typeface="黑体" pitchFamily="2" charset="-122"/>
                <a:ea typeface="黑体" pitchFamily="2" charset="-122"/>
              </a:rPr>
              <a:t>    </a:t>
            </a:r>
            <a:r>
              <a:rPr lang="zh-CN" altLang="zh-CN" sz="2400">
                <a:solidFill>
                  <a:srgbClr val="FF0000"/>
                </a:solidFill>
                <a:latin typeface="黑体" pitchFamily="2" charset="-122"/>
                <a:ea typeface="黑体" pitchFamily="2" charset="-122"/>
              </a:rPr>
              <a:t>奇校验</a:t>
            </a:r>
            <a:r>
              <a:rPr lang="zh-CN" altLang="zh-CN" sz="2400">
                <a:solidFill>
                  <a:srgbClr val="000000"/>
                </a:solidFill>
                <a:latin typeface="黑体" pitchFamily="2" charset="-122"/>
                <a:ea typeface="黑体" pitchFamily="2" charset="-122"/>
              </a:rPr>
              <a:t>：有效信息和校验位中1的个数配成奇数个。</a:t>
            </a:r>
            <a:endParaRPr lang="zh-CN" altLang="zh-CN" sz="2400">
              <a:latin typeface="黑体" pitchFamily="2" charset="-122"/>
              <a:ea typeface="黑体" pitchFamily="2" charset="-122"/>
            </a:endParaRPr>
          </a:p>
          <a:p>
            <a:pPr eaLnBrk="0" hangingPunct="0">
              <a:lnSpc>
                <a:spcPct val="150000"/>
              </a:lnSpc>
            </a:pPr>
            <a:r>
              <a:rPr lang="en-US" altLang="zh-CN" sz="2400">
                <a:solidFill>
                  <a:srgbClr val="FF0000"/>
                </a:solidFill>
                <a:latin typeface="黑体" pitchFamily="2" charset="-122"/>
                <a:ea typeface="黑体" pitchFamily="2" charset="-122"/>
              </a:rPr>
              <a:t>    </a:t>
            </a:r>
            <a:r>
              <a:rPr lang="zh-CN" altLang="zh-CN" sz="2400">
                <a:solidFill>
                  <a:srgbClr val="FF0000"/>
                </a:solidFill>
                <a:latin typeface="黑体" pitchFamily="2" charset="-122"/>
                <a:ea typeface="黑体" pitchFamily="2" charset="-122"/>
              </a:rPr>
              <a:t>偶校验</a:t>
            </a:r>
            <a:r>
              <a:rPr lang="zh-CN" altLang="zh-CN" sz="2400">
                <a:solidFill>
                  <a:srgbClr val="000000"/>
                </a:solidFill>
                <a:latin typeface="黑体" pitchFamily="2" charset="-122"/>
                <a:ea typeface="黑体" pitchFamily="2" charset="-122"/>
              </a:rPr>
              <a:t>：有效信息和校验位中1的个数配成偶数个。</a:t>
            </a:r>
            <a:endParaRPr lang="zh-CN" altLang="zh-CN" sz="2400">
              <a:latin typeface="黑体" pitchFamily="2" charset="-122"/>
              <a:ea typeface="黑体" pitchFamily="2" charset="-122"/>
            </a:endParaRPr>
          </a:p>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例：有效信息 0100111 </a:t>
            </a:r>
            <a:endParaRPr lang="en-US" altLang="zh-CN" sz="2400">
              <a:solidFill>
                <a:srgbClr val="000000"/>
              </a:solidFill>
              <a:latin typeface="黑体" pitchFamily="2" charset="-122"/>
              <a:ea typeface="黑体" pitchFamily="2" charset="-122"/>
            </a:endParaRPr>
          </a:p>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校验码</a:t>
            </a:r>
            <a:r>
              <a:rPr lang="en-US" altLang="zh-CN" sz="2400">
                <a:latin typeface="黑体" pitchFamily="2" charset="-122"/>
                <a:ea typeface="黑体" pitchFamily="2" charset="-122"/>
              </a:rPr>
              <a:t> </a:t>
            </a:r>
            <a:r>
              <a:rPr lang="zh-CN" altLang="zh-CN" sz="2400">
                <a:latin typeface="黑体" pitchFamily="2" charset="-122"/>
                <a:ea typeface="黑体" pitchFamily="2" charset="-122"/>
              </a:rPr>
              <a:t>偶校验：0100111 0</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奇校验：0100111 1</a:t>
            </a:r>
          </a:p>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例：有效信息 0100110 </a:t>
            </a:r>
            <a:endParaRPr lang="en-US" altLang="zh-CN" sz="2400">
              <a:solidFill>
                <a:srgbClr val="000000"/>
              </a:solidFill>
              <a:latin typeface="黑体" pitchFamily="2" charset="-122"/>
              <a:ea typeface="黑体" pitchFamily="2" charset="-122"/>
            </a:endParaRPr>
          </a:p>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校验码</a:t>
            </a:r>
            <a:r>
              <a:rPr lang="en-US" altLang="zh-CN" sz="2400">
                <a:latin typeface="黑体" pitchFamily="2" charset="-122"/>
                <a:ea typeface="黑体" pitchFamily="2" charset="-122"/>
              </a:rPr>
              <a:t> </a:t>
            </a:r>
            <a:r>
              <a:rPr lang="zh-CN" altLang="zh-CN" sz="2400">
                <a:latin typeface="黑体" pitchFamily="2" charset="-122"/>
                <a:ea typeface="黑体" pitchFamily="2" charset="-122"/>
              </a:rPr>
              <a:t>偶校验：0100110 1</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奇校验：0100110 0</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ChangeArrowheads="1"/>
          </p:cNvSpPr>
          <p:nvPr/>
        </p:nvSpPr>
        <p:spPr bwMode="auto">
          <a:xfrm>
            <a:off x="246063" y="149225"/>
            <a:ext cx="8358187" cy="659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6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设</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0</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n－1)是一个n位字,则</a:t>
            </a:r>
            <a:r>
              <a:rPr lang="zh-CN" altLang="zh-CN" sz="2400">
                <a:solidFill>
                  <a:srgbClr val="FF0000"/>
                </a:solidFill>
                <a:latin typeface="黑体" pitchFamily="2" charset="-122"/>
                <a:ea typeface="黑体" pitchFamily="2" charset="-122"/>
              </a:rPr>
              <a:t>奇校验位</a:t>
            </a:r>
            <a:endParaRPr lang="en-US" altLang="zh-CN" sz="2400">
              <a:solidFill>
                <a:srgbClr val="FF0000"/>
              </a:solidFill>
              <a:latin typeface="黑体" pitchFamily="2" charset="-122"/>
              <a:ea typeface="黑体" pitchFamily="2" charset="-122"/>
            </a:endParaRPr>
          </a:p>
          <a:p>
            <a:pPr eaLnBrk="0" hangingPunct="0">
              <a:lnSpc>
                <a:spcPct val="160000"/>
              </a:lnSpc>
            </a:pPr>
            <a:r>
              <a:rPr lang="zh-CN" altLang="zh-CN" sz="2400" i="1">
                <a:latin typeface="黑体" pitchFamily="2" charset="-122"/>
                <a:ea typeface="黑体" pitchFamily="2" charset="-122"/>
              </a:rPr>
              <a:t>Ｃ</a:t>
            </a:r>
            <a:r>
              <a:rPr lang="zh-CN" altLang="zh-CN" sz="2400">
                <a:latin typeface="黑体" pitchFamily="2" charset="-122"/>
                <a:ea typeface="黑体" pitchFamily="2" charset="-122"/>
              </a:rPr>
              <a:t>定义为</a:t>
            </a:r>
            <a:r>
              <a:rPr lang="zh-CN" altLang="en-US" sz="2400">
                <a:latin typeface="黑体" pitchFamily="2" charset="-122"/>
                <a:ea typeface="黑体" pitchFamily="2" charset="-122"/>
              </a:rPr>
              <a:t>：</a:t>
            </a:r>
            <a:endParaRPr lang="zh-CN" altLang="zh-CN" sz="2400">
              <a:latin typeface="黑体" pitchFamily="2" charset="-122"/>
              <a:ea typeface="黑体" pitchFamily="2" charset="-122"/>
            </a:endParaRPr>
          </a:p>
          <a:p>
            <a:pPr eaLnBrk="0" hangingPunct="0">
              <a:lnSpc>
                <a:spcPct val="16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式中⊕代表按位加,表明只有当</a:t>
            </a:r>
            <a:r>
              <a:rPr lang="zh-CN" altLang="zh-CN" sz="2400" i="1">
                <a:solidFill>
                  <a:srgbClr val="000000"/>
                </a:solidFill>
                <a:latin typeface="黑体" pitchFamily="2" charset="-122"/>
                <a:ea typeface="黑体" pitchFamily="2" charset="-122"/>
              </a:rPr>
              <a:t>ｘ</a:t>
            </a:r>
            <a:r>
              <a:rPr lang="zh-CN" altLang="zh-CN" sz="2400">
                <a:solidFill>
                  <a:srgbClr val="000000"/>
                </a:solidFill>
                <a:latin typeface="黑体" pitchFamily="2" charset="-122"/>
                <a:ea typeface="黑体" pitchFamily="2" charset="-122"/>
              </a:rPr>
              <a:t>中包含有奇数个1时,才使</a:t>
            </a:r>
            <a:r>
              <a:rPr lang="zh-CN" altLang="zh-CN" sz="2400" i="1">
                <a:solidFill>
                  <a:srgbClr val="000000"/>
                </a:solidFill>
                <a:latin typeface="黑体" pitchFamily="2" charset="-122"/>
                <a:ea typeface="黑体" pitchFamily="2" charset="-122"/>
              </a:rPr>
              <a:t>C</a:t>
            </a:r>
            <a:r>
              <a:rPr lang="zh-CN" altLang="zh-CN" sz="2400">
                <a:solidFill>
                  <a:srgbClr val="000000"/>
                </a:solidFill>
                <a:latin typeface="黑体" pitchFamily="2" charset="-122"/>
                <a:ea typeface="黑体" pitchFamily="2" charset="-122"/>
              </a:rPr>
              <a:t>＝1,即</a:t>
            </a:r>
            <a:r>
              <a:rPr lang="zh-CN" altLang="zh-CN" sz="2400" i="1">
                <a:solidFill>
                  <a:srgbClr val="000000"/>
                </a:solidFill>
                <a:latin typeface="黑体" pitchFamily="2" charset="-122"/>
                <a:ea typeface="黑体" pitchFamily="2" charset="-122"/>
              </a:rPr>
              <a:t>C</a:t>
            </a:r>
            <a:r>
              <a:rPr lang="zh-CN" altLang="zh-CN" sz="2400">
                <a:solidFill>
                  <a:srgbClr val="000000"/>
                </a:solidFill>
                <a:latin typeface="黑体" pitchFamily="2" charset="-122"/>
                <a:ea typeface="黑体" pitchFamily="2" charset="-122"/>
              </a:rPr>
              <a:t>＝0。 　</a:t>
            </a:r>
            <a:endParaRPr lang="zh-CN" altLang="zh-CN" sz="2400">
              <a:latin typeface="黑体" pitchFamily="2" charset="-122"/>
              <a:ea typeface="黑体" pitchFamily="2" charset="-122"/>
            </a:endParaRPr>
          </a:p>
          <a:p>
            <a:pPr eaLnBrk="0" hangingPunct="0">
              <a:lnSpc>
                <a:spcPct val="160000"/>
              </a:lnSpc>
            </a:pPr>
            <a:r>
              <a:rPr lang="zh-CN" altLang="zh-CN" sz="2400">
                <a:solidFill>
                  <a:srgbClr val="000000"/>
                </a:solidFill>
                <a:latin typeface="黑体" pitchFamily="2" charset="-122"/>
                <a:ea typeface="黑体" pitchFamily="2" charset="-122"/>
              </a:rPr>
              <a:t>　同理,</a:t>
            </a:r>
            <a:r>
              <a:rPr lang="zh-CN" altLang="zh-CN" sz="2400">
                <a:solidFill>
                  <a:srgbClr val="FF0000"/>
                </a:solidFill>
                <a:latin typeface="黑体" pitchFamily="2" charset="-122"/>
                <a:ea typeface="黑体" pitchFamily="2" charset="-122"/>
              </a:rPr>
              <a:t>偶校验位</a:t>
            </a:r>
            <a:r>
              <a:rPr lang="zh-CN" altLang="zh-CN" sz="2400" i="1">
                <a:solidFill>
                  <a:srgbClr val="000000"/>
                </a:solidFill>
                <a:latin typeface="黑体" pitchFamily="2" charset="-122"/>
                <a:ea typeface="黑体" pitchFamily="2" charset="-122"/>
              </a:rPr>
              <a:t>Ｃ</a:t>
            </a:r>
            <a:r>
              <a:rPr lang="zh-CN" altLang="zh-CN" sz="2400">
                <a:solidFill>
                  <a:srgbClr val="000000"/>
                </a:solidFill>
                <a:latin typeface="黑体" pitchFamily="2" charset="-122"/>
                <a:ea typeface="黑体" pitchFamily="2" charset="-122"/>
              </a:rPr>
              <a:t>定义为</a:t>
            </a:r>
            <a:r>
              <a:rPr lang="zh-CN" altLang="en-US" sz="2400">
                <a:solidFill>
                  <a:srgbClr val="000000"/>
                </a:solidFill>
                <a:latin typeface="黑体" pitchFamily="2" charset="-122"/>
                <a:ea typeface="黑体" pitchFamily="2" charset="-122"/>
              </a:rPr>
              <a:t>：</a:t>
            </a:r>
            <a:r>
              <a:rPr lang="en-US" altLang="zh-CN" sz="2400" i="1"/>
              <a:t>C</a:t>
            </a:r>
            <a:r>
              <a:rPr lang="zh-CN" altLang="en-US" sz="2400"/>
              <a:t>＝</a:t>
            </a:r>
            <a:r>
              <a:rPr lang="zh-CN" altLang="en-US" sz="2400" i="1"/>
              <a:t>ｘ</a:t>
            </a:r>
            <a:r>
              <a:rPr lang="en-US" altLang="zh-CN" sz="2400"/>
              <a:t>0⊕</a:t>
            </a:r>
            <a:r>
              <a:rPr lang="zh-CN" altLang="en-US" sz="2400" i="1"/>
              <a:t>ｘ</a:t>
            </a:r>
            <a:r>
              <a:rPr lang="en-US" altLang="zh-CN" sz="2400"/>
              <a:t>1⊕…⊕</a:t>
            </a:r>
            <a:r>
              <a:rPr lang="zh-CN" altLang="en-US" sz="2400" i="1"/>
              <a:t>ｘ</a:t>
            </a:r>
            <a:r>
              <a:rPr lang="en-US" altLang="zh-CN" sz="2400"/>
              <a:t>n</a:t>
            </a:r>
            <a:r>
              <a:rPr lang="zh-CN" altLang="en-US" sz="2400"/>
              <a:t>－</a:t>
            </a:r>
            <a:r>
              <a:rPr lang="en-US" altLang="zh-CN" sz="2400"/>
              <a:t>1</a:t>
            </a:r>
            <a:endParaRPr lang="zh-CN" altLang="zh-CN" sz="2400">
              <a:latin typeface="黑体" pitchFamily="2" charset="-122"/>
              <a:ea typeface="黑体" pitchFamily="2" charset="-122"/>
            </a:endParaRPr>
          </a:p>
          <a:p>
            <a:pPr eaLnBrk="0" hangingPunct="0">
              <a:lnSpc>
                <a:spcPct val="16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即</a:t>
            </a:r>
            <a:r>
              <a:rPr lang="zh-CN" altLang="zh-CN" sz="2400" i="1">
                <a:solidFill>
                  <a:srgbClr val="000000"/>
                </a:solidFill>
                <a:latin typeface="黑体" pitchFamily="2" charset="-122"/>
                <a:ea typeface="黑体" pitchFamily="2" charset="-122"/>
              </a:rPr>
              <a:t>ｘ</a:t>
            </a:r>
            <a:r>
              <a:rPr lang="zh-CN" altLang="zh-CN" sz="2400">
                <a:solidFill>
                  <a:srgbClr val="000000"/>
                </a:solidFill>
                <a:latin typeface="黑体" pitchFamily="2" charset="-122"/>
                <a:ea typeface="黑体" pitchFamily="2" charset="-122"/>
              </a:rPr>
              <a:t>中包含偶数个1时,才使</a:t>
            </a:r>
            <a:r>
              <a:rPr lang="zh-CN" altLang="zh-CN" sz="2400" i="1">
                <a:solidFill>
                  <a:srgbClr val="000000"/>
                </a:solidFill>
                <a:latin typeface="黑体" pitchFamily="2" charset="-122"/>
                <a:ea typeface="黑体" pitchFamily="2" charset="-122"/>
              </a:rPr>
              <a:t>C</a:t>
            </a:r>
            <a:r>
              <a:rPr lang="zh-CN" altLang="zh-CN" sz="2400">
                <a:solidFill>
                  <a:srgbClr val="000000"/>
                </a:solidFill>
                <a:latin typeface="黑体" pitchFamily="2" charset="-122"/>
                <a:ea typeface="黑体" pitchFamily="2" charset="-122"/>
              </a:rPr>
              <a:t>＝0。</a:t>
            </a:r>
            <a:endParaRPr lang="zh-CN" altLang="zh-CN" sz="2400">
              <a:latin typeface="黑体" pitchFamily="2" charset="-122"/>
              <a:ea typeface="黑体" pitchFamily="2" charset="-122"/>
            </a:endParaRPr>
          </a:p>
          <a:p>
            <a:pPr eaLnBrk="0" hangingPunct="0">
              <a:lnSpc>
                <a:spcPct val="160000"/>
              </a:lnSpc>
            </a:pPr>
            <a:r>
              <a:rPr lang="zh-CN" altLang="zh-CN" sz="2400">
                <a:solidFill>
                  <a:srgbClr val="000000"/>
                </a:solidFill>
                <a:latin typeface="黑体" pitchFamily="2" charset="-122"/>
                <a:ea typeface="黑体" pitchFamily="2" charset="-122"/>
              </a:rPr>
              <a:t>　　这样，把有效信息写入存储器或发送信息时，在发送端要产生一个奇偶校验位并一起发送。在接收端，读出或接收到的信息要进行奇偶性判别。若奇偶性规则被破坏，则出错，否则为正确。奇偶校验只能发现奇数个错，对偶数个错就不能检测，而且也无能力纠错。</a:t>
            </a:r>
            <a:endParaRPr lang="zh-CN" altLang="zh-CN" sz="2400">
              <a:latin typeface="黑体" pitchFamily="2" charset="-122"/>
              <a:ea typeface="黑体" pitchFamily="2" charset="-122"/>
            </a:endParaRPr>
          </a:p>
        </p:txBody>
      </p:sp>
      <p:sp>
        <p:nvSpPr>
          <p:cNvPr id="44035" name="矩形 4"/>
          <p:cNvSpPr>
            <a:spLocks noChangeArrowheads="1"/>
          </p:cNvSpPr>
          <p:nvPr/>
        </p:nvSpPr>
        <p:spPr bwMode="auto">
          <a:xfrm>
            <a:off x="1763713" y="908050"/>
            <a:ext cx="3863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1">
                <a:latin typeface="黑体" pitchFamily="2" charset="-122"/>
                <a:ea typeface="黑体" pitchFamily="2" charset="-122"/>
              </a:rPr>
              <a:t>C</a:t>
            </a:r>
            <a:r>
              <a:rPr lang="zh-CN" altLang="en-US" sz="2400">
                <a:latin typeface="黑体" pitchFamily="2" charset="-122"/>
                <a:ea typeface="黑体" pitchFamily="2" charset="-122"/>
              </a:rPr>
              <a:t>＝</a:t>
            </a:r>
            <a:r>
              <a:rPr lang="zh-CN" altLang="en-US" sz="2400" i="1">
                <a:latin typeface="黑体" pitchFamily="2" charset="-122"/>
                <a:ea typeface="黑体" pitchFamily="2" charset="-122"/>
              </a:rPr>
              <a:t>ｘ</a:t>
            </a:r>
            <a:r>
              <a:rPr lang="en-US" altLang="zh-CN" sz="2400">
                <a:latin typeface="黑体" pitchFamily="2" charset="-122"/>
                <a:ea typeface="黑体" pitchFamily="2" charset="-122"/>
              </a:rPr>
              <a:t>0⊕</a:t>
            </a:r>
            <a:r>
              <a:rPr lang="zh-CN" altLang="en-US" sz="2400" i="1">
                <a:latin typeface="黑体" pitchFamily="2" charset="-122"/>
                <a:ea typeface="黑体" pitchFamily="2" charset="-122"/>
              </a:rPr>
              <a:t>ｘ</a:t>
            </a:r>
            <a:r>
              <a:rPr lang="en-US" altLang="zh-CN" sz="2400">
                <a:latin typeface="黑体" pitchFamily="2" charset="-122"/>
                <a:ea typeface="黑体" pitchFamily="2" charset="-122"/>
              </a:rPr>
              <a:t>1⊕…⊕</a:t>
            </a:r>
            <a:r>
              <a:rPr lang="zh-CN" altLang="en-US" sz="2400" i="1">
                <a:latin typeface="黑体" pitchFamily="2" charset="-122"/>
                <a:ea typeface="黑体" pitchFamily="2" charset="-122"/>
              </a:rPr>
              <a:t>ｘ</a:t>
            </a:r>
            <a:r>
              <a:rPr lang="en-US" altLang="zh-CN" sz="2400">
                <a:latin typeface="黑体" pitchFamily="2" charset="-122"/>
                <a:ea typeface="黑体" pitchFamily="2" charset="-122"/>
              </a:rPr>
              <a:t>n</a:t>
            </a:r>
            <a:r>
              <a:rPr lang="zh-CN" altLang="en-US" sz="2400">
                <a:latin typeface="黑体" pitchFamily="2" charset="-122"/>
                <a:ea typeface="黑体" pitchFamily="2" charset="-122"/>
              </a:rPr>
              <a:t>－</a:t>
            </a:r>
            <a:r>
              <a:rPr lang="en-US" altLang="zh-CN" sz="2400">
                <a:latin typeface="黑体" pitchFamily="2" charset="-122"/>
                <a:ea typeface="黑体" pitchFamily="2" charset="-122"/>
              </a:rPr>
              <a:t>1</a:t>
            </a:r>
            <a:endParaRPr lang="zh-CN" altLang="en-US" sz="2400">
              <a:latin typeface="黑体" pitchFamily="2" charset="-122"/>
              <a:ea typeface="黑体" pitchFamily="2" charset="-122"/>
            </a:endParaRPr>
          </a:p>
        </p:txBody>
      </p:sp>
      <p:cxnSp>
        <p:nvCxnSpPr>
          <p:cNvPr id="44036" name="直接连接符 6"/>
          <p:cNvCxnSpPr>
            <a:cxnSpLocks noChangeShapeType="1"/>
          </p:cNvCxnSpPr>
          <p:nvPr/>
        </p:nvCxnSpPr>
        <p:spPr bwMode="auto">
          <a:xfrm>
            <a:off x="395288" y="908050"/>
            <a:ext cx="215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4037" name="直接连接符 8"/>
          <p:cNvCxnSpPr>
            <a:cxnSpLocks noChangeShapeType="1"/>
          </p:cNvCxnSpPr>
          <p:nvPr/>
        </p:nvCxnSpPr>
        <p:spPr bwMode="auto">
          <a:xfrm>
            <a:off x="1835150" y="981075"/>
            <a:ext cx="215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4038" name="直接连接符 10"/>
          <p:cNvCxnSpPr>
            <a:cxnSpLocks noChangeShapeType="1"/>
          </p:cNvCxnSpPr>
          <p:nvPr/>
        </p:nvCxnSpPr>
        <p:spPr bwMode="auto">
          <a:xfrm>
            <a:off x="611188" y="2133600"/>
            <a:ext cx="2889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4638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289744" y="1565052"/>
            <a:ext cx="8423854" cy="4893647"/>
          </a:xfrm>
          <a:prstGeom prst="rect">
            <a:avLst/>
          </a:prstGeom>
        </p:spPr>
        <p:txBody>
          <a:bodyPr wrap="square">
            <a:spAutoFit/>
          </a:bodyPr>
          <a:lstStyle/>
          <a:p>
            <a:r>
              <a:rPr lang="zh-CN" altLang="zh-CN" sz="2800" dirty="0" smtClean="0">
                <a:latin typeface="华文新魏" panose="02010800040101010101" pitchFamily="2" charset="-122"/>
                <a:ea typeface="华文新魏" panose="02010800040101010101" pitchFamily="2" charset="-122"/>
              </a:rPr>
              <a:t>目前</a:t>
            </a:r>
            <a:r>
              <a:rPr lang="zh-CN" altLang="zh-CN" sz="2800" dirty="0">
                <a:latin typeface="华文新魏" panose="02010800040101010101" pitchFamily="2" charset="-122"/>
                <a:ea typeface="华文新魏" panose="02010800040101010101" pitchFamily="2" charset="-122"/>
              </a:rPr>
              <a:t>在小型和微型计算机里最普遍采用的字母与字符编码是</a:t>
            </a:r>
            <a:r>
              <a:rPr lang="en-US" altLang="zh-CN" sz="2800" dirty="0">
                <a:latin typeface="华文新魏" panose="02010800040101010101" pitchFamily="2" charset="-122"/>
                <a:ea typeface="华文新魏" panose="02010800040101010101" pitchFamily="2" charset="-122"/>
              </a:rPr>
              <a:t>_____</a:t>
            </a:r>
            <a:r>
              <a:rPr lang="zh-CN" altLang="zh-CN" sz="2800" dirty="0">
                <a:latin typeface="华文新魏" panose="02010800040101010101" pitchFamily="2" charset="-122"/>
                <a:ea typeface="华文新魏" panose="02010800040101010101" pitchFamily="2" charset="-122"/>
              </a:rPr>
              <a:t>。</a:t>
            </a:r>
          </a:p>
          <a:p>
            <a:pPr>
              <a:spcBef>
                <a:spcPts val="1200"/>
              </a:spcBef>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BCD</a:t>
            </a:r>
            <a:r>
              <a:rPr lang="zh-CN" altLang="zh-CN" sz="2800" dirty="0">
                <a:latin typeface="华文新魏" panose="02010800040101010101" pitchFamily="2" charset="-122"/>
                <a:ea typeface="华文新魏" panose="02010800040101010101" pitchFamily="2" charset="-122"/>
              </a:rPr>
              <a:t>码</a:t>
            </a: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十六进制代码</a:t>
            </a:r>
            <a:r>
              <a:rPr lang="en-US" altLang="zh-CN" sz="2800" dirty="0">
                <a:latin typeface="华文新魏" panose="02010800040101010101" pitchFamily="2" charset="-122"/>
                <a:ea typeface="华文新魏" panose="02010800040101010101" pitchFamily="2" charset="-122"/>
              </a:rPr>
              <a:t>  C. ASCII</a:t>
            </a:r>
            <a:r>
              <a:rPr lang="zh-CN" altLang="zh-CN" sz="2800" dirty="0">
                <a:latin typeface="华文新魏" panose="02010800040101010101" pitchFamily="2" charset="-122"/>
                <a:ea typeface="华文新魏" panose="02010800040101010101" pitchFamily="2" charset="-122"/>
              </a:rPr>
              <a:t>码</a:t>
            </a:r>
            <a:r>
              <a:rPr lang="en-US" altLang="zh-CN" sz="2800" dirty="0">
                <a:latin typeface="华文新魏" panose="02010800040101010101" pitchFamily="2" charset="-122"/>
                <a:ea typeface="华文新魏" panose="02010800040101010101" pitchFamily="2" charset="-122"/>
              </a:rPr>
              <a:t>  D. </a:t>
            </a:r>
            <a:r>
              <a:rPr lang="zh-CN" altLang="zh-CN" sz="2800" dirty="0">
                <a:latin typeface="华文新魏" panose="02010800040101010101" pitchFamily="2" charset="-122"/>
                <a:ea typeface="华文新魏" panose="02010800040101010101" pitchFamily="2" charset="-122"/>
              </a:rPr>
              <a:t>海明码</a:t>
            </a:r>
          </a:p>
          <a:p>
            <a:pPr>
              <a:spcBef>
                <a:spcPts val="1800"/>
              </a:spcBef>
            </a:pPr>
            <a:r>
              <a:rPr lang="zh-CN" altLang="zh-CN" sz="2800" dirty="0" smtClean="0">
                <a:latin typeface="华文新魏" panose="02010800040101010101" pitchFamily="2" charset="-122"/>
                <a:ea typeface="华文新魏" panose="02010800040101010101" pitchFamily="2" charset="-122"/>
              </a:rPr>
              <a:t>根据</a:t>
            </a:r>
            <a:r>
              <a:rPr lang="zh-CN" altLang="zh-CN" sz="2800" dirty="0">
                <a:latin typeface="华文新魏" panose="02010800040101010101" pitchFamily="2" charset="-122"/>
                <a:ea typeface="华文新魏" panose="02010800040101010101" pitchFamily="2" charset="-122"/>
              </a:rPr>
              <a:t>国标规定，每个汉字在计算机内占用</a:t>
            </a:r>
            <a:r>
              <a:rPr lang="en-US" altLang="zh-CN" sz="2800" dirty="0">
                <a:latin typeface="华文新魏" panose="02010800040101010101" pitchFamily="2" charset="-122"/>
                <a:ea typeface="华文新魏" panose="02010800040101010101" pitchFamily="2" charset="-122"/>
              </a:rPr>
              <a:t>______</a:t>
            </a:r>
            <a:r>
              <a:rPr lang="zh-CN" altLang="zh-CN" sz="2800" dirty="0">
                <a:latin typeface="华文新魏" panose="02010800040101010101" pitchFamily="2" charset="-122"/>
                <a:ea typeface="华文新魏" panose="02010800040101010101" pitchFamily="2" charset="-122"/>
              </a:rPr>
              <a:t>存储。</a:t>
            </a:r>
          </a:p>
          <a:p>
            <a:pPr>
              <a:spcBef>
                <a:spcPts val="1200"/>
              </a:spcBef>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一个字节</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B. </a:t>
            </a:r>
            <a:r>
              <a:rPr lang="zh-CN" altLang="zh-CN" sz="2800" dirty="0">
                <a:latin typeface="华文新魏" panose="02010800040101010101" pitchFamily="2" charset="-122"/>
                <a:ea typeface="华文新魏" panose="02010800040101010101" pitchFamily="2" charset="-122"/>
              </a:rPr>
              <a:t>二个字节</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三个字节</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四个字节</a:t>
            </a:r>
          </a:p>
          <a:p>
            <a:pPr>
              <a:spcBef>
                <a:spcPts val="1800"/>
              </a:spcBef>
            </a:pPr>
            <a:r>
              <a:rPr lang="zh-CN" altLang="zh-CN" sz="2800" dirty="0" smtClean="0">
                <a:latin typeface="华文新魏" panose="02010800040101010101" pitchFamily="2" charset="-122"/>
                <a:ea typeface="华文新魏" panose="02010800040101010101" pitchFamily="2" charset="-122"/>
              </a:rPr>
              <a:t>假定</a:t>
            </a:r>
            <a:r>
              <a:rPr lang="zh-CN" altLang="zh-CN" sz="2800" dirty="0">
                <a:latin typeface="华文新魏" panose="02010800040101010101" pitchFamily="2" charset="-122"/>
                <a:ea typeface="华文新魏" panose="02010800040101010101" pitchFamily="2" charset="-122"/>
              </a:rPr>
              <a:t>下列字符码中有奇偶校验位，但没有数据错误，采用偶校验的字符码是</a:t>
            </a:r>
            <a:r>
              <a:rPr lang="en-US" altLang="zh-CN" sz="2800" dirty="0">
                <a:latin typeface="华文新魏" panose="02010800040101010101" pitchFamily="2" charset="-122"/>
                <a:ea typeface="华文新魏" panose="02010800040101010101" pitchFamily="2" charset="-122"/>
              </a:rPr>
              <a:t>_____</a:t>
            </a:r>
            <a:r>
              <a:rPr lang="zh-CN" altLang="zh-CN" sz="2800" dirty="0">
                <a:latin typeface="华文新魏" panose="02010800040101010101" pitchFamily="2" charset="-122"/>
                <a:ea typeface="华文新魏" panose="02010800040101010101" pitchFamily="2" charset="-122"/>
              </a:rPr>
              <a:t>。</a:t>
            </a:r>
          </a:p>
          <a:p>
            <a:pPr>
              <a:spcBef>
                <a:spcPts val="1200"/>
              </a:spcBef>
            </a:pPr>
            <a:r>
              <a:rPr lang="en-US" altLang="zh-CN" sz="2800" dirty="0" smtClean="0">
                <a:latin typeface="华文新魏" panose="02010800040101010101" pitchFamily="2" charset="-122"/>
                <a:ea typeface="华文新魏" panose="02010800040101010101" pitchFamily="2" charset="-122"/>
              </a:rPr>
              <a:t>        A. 11001011</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   B. 11010110     </a:t>
            </a:r>
            <a:endParaRPr lang="en-US" altLang="zh-CN" sz="2800" dirty="0" smtClean="0">
              <a:latin typeface="华文新魏" panose="02010800040101010101" pitchFamily="2" charset="-122"/>
              <a:ea typeface="华文新魏" panose="02010800040101010101" pitchFamily="2" charset="-122"/>
            </a:endParaRPr>
          </a:p>
          <a:p>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11000001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  D. 11001001 </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4877296" y="254687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2520622" y="376727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4144384" y="5864947"/>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676107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1"/>
          <p:cNvSpPr>
            <a:spLocks noChangeArrowheads="1"/>
          </p:cNvSpPr>
          <p:nvPr/>
        </p:nvSpPr>
        <p:spPr bwMode="auto">
          <a:xfrm>
            <a:off x="323850" y="328613"/>
            <a:ext cx="8640763"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800">
                <a:solidFill>
                  <a:srgbClr val="FF0000"/>
                </a:solidFill>
                <a:latin typeface="黑体" pitchFamily="2" charset="-122"/>
                <a:ea typeface="黑体" pitchFamily="2" charset="-122"/>
              </a:rPr>
              <a:t>2.2 </a:t>
            </a:r>
            <a:r>
              <a:rPr lang="zh-CN" altLang="en-US" sz="2800">
                <a:solidFill>
                  <a:srgbClr val="FF0000"/>
                </a:solidFill>
                <a:latin typeface="黑体" pitchFamily="2" charset="-122"/>
                <a:ea typeface="黑体" pitchFamily="2" charset="-122"/>
              </a:rPr>
              <a:t>定点加法减法运算</a:t>
            </a:r>
            <a:endParaRPr lang="en-US" altLang="zh-CN" sz="2800">
              <a:solidFill>
                <a:srgbClr val="FF0000"/>
              </a:solidFill>
              <a:latin typeface="黑体" pitchFamily="2" charset="-122"/>
              <a:ea typeface="黑体" pitchFamily="2" charset="-122"/>
            </a:endParaRPr>
          </a:p>
          <a:p>
            <a:pPr>
              <a:lnSpc>
                <a:spcPct val="200000"/>
              </a:lnSpc>
            </a:pPr>
            <a:r>
              <a:rPr lang="en-US" altLang="zh-CN" sz="2400">
                <a:latin typeface="黑体" pitchFamily="2" charset="-122"/>
                <a:ea typeface="黑体" pitchFamily="2" charset="-122"/>
              </a:rPr>
              <a:t>    2.2.1 </a:t>
            </a:r>
            <a:r>
              <a:rPr lang="zh-CN" altLang="en-US" sz="2400">
                <a:latin typeface="黑体" pitchFamily="2" charset="-122"/>
                <a:ea typeface="黑体" pitchFamily="2" charset="-122"/>
              </a:rPr>
              <a:t>补码加法</a:t>
            </a:r>
            <a:r>
              <a:rPr lang="zh-CN" altLang="en-US" sz="2400" i="1">
                <a:latin typeface="黑体" pitchFamily="2" charset="-122"/>
                <a:ea typeface="黑体" pitchFamily="2" charset="-122"/>
              </a:rPr>
              <a:t> 　　　　　　　　　</a:t>
            </a:r>
            <a:endParaRPr lang="zh-CN" altLang="en-US" sz="2400">
              <a:latin typeface="黑体" pitchFamily="2" charset="-122"/>
              <a:ea typeface="黑体" pitchFamily="2" charset="-122"/>
            </a:endParaRPr>
          </a:p>
          <a:p>
            <a:pPr>
              <a:lnSpc>
                <a:spcPct val="200000"/>
              </a:lnSpc>
            </a:pPr>
            <a:r>
              <a:rPr lang="zh-CN" altLang="en-US" sz="2400">
                <a:latin typeface="黑体" pitchFamily="2" charset="-122"/>
                <a:ea typeface="黑体" pitchFamily="2" charset="-122"/>
              </a:rPr>
              <a:t>　　负数用补码表示后，可以和正数一样来处理。这样</a:t>
            </a:r>
            <a:r>
              <a:rPr lang="en-US" altLang="zh-CN" sz="2400">
                <a:latin typeface="黑体" pitchFamily="2" charset="-122"/>
                <a:ea typeface="黑体" pitchFamily="2" charset="-122"/>
              </a:rPr>
              <a:t>,</a:t>
            </a:r>
            <a:r>
              <a:rPr lang="zh-CN" altLang="en-US" sz="2400">
                <a:latin typeface="黑体" pitchFamily="2" charset="-122"/>
                <a:ea typeface="黑体" pitchFamily="2" charset="-122"/>
              </a:rPr>
              <a:t>运算器里只需要一个加法器就可以了</a:t>
            </a:r>
            <a:r>
              <a:rPr lang="en-US" altLang="zh-CN" sz="2400">
                <a:latin typeface="黑体" pitchFamily="2" charset="-122"/>
                <a:ea typeface="黑体" pitchFamily="2" charset="-122"/>
              </a:rPr>
              <a:t>,</a:t>
            </a:r>
            <a:r>
              <a:rPr lang="zh-CN" altLang="en-US" sz="2400">
                <a:latin typeface="黑体" pitchFamily="2" charset="-122"/>
                <a:ea typeface="黑体" pitchFamily="2" charset="-122"/>
              </a:rPr>
              <a:t>不必为了负数的加法运算</a:t>
            </a:r>
            <a:r>
              <a:rPr lang="en-US" altLang="zh-CN" sz="2400">
                <a:latin typeface="黑体" pitchFamily="2" charset="-122"/>
                <a:ea typeface="黑体" pitchFamily="2" charset="-122"/>
              </a:rPr>
              <a:t>,</a:t>
            </a:r>
            <a:r>
              <a:rPr lang="zh-CN" altLang="en-US" sz="2400">
                <a:latin typeface="黑体" pitchFamily="2" charset="-122"/>
                <a:ea typeface="黑体" pitchFamily="2" charset="-122"/>
              </a:rPr>
              <a:t>再配一个减法器。</a:t>
            </a:r>
          </a:p>
          <a:p>
            <a:pPr>
              <a:lnSpc>
                <a:spcPct val="200000"/>
              </a:lnSpc>
            </a:pPr>
            <a:r>
              <a:rPr lang="zh-CN" altLang="en-US" sz="2400">
                <a:latin typeface="黑体" pitchFamily="2" charset="-122"/>
                <a:ea typeface="黑体" pitchFamily="2" charset="-122"/>
              </a:rPr>
              <a:t>　　补码加法的公式是：</a:t>
            </a:r>
            <a:endParaRPr lang="en-US" altLang="zh-CN" sz="2400">
              <a:latin typeface="黑体" pitchFamily="2" charset="-122"/>
              <a:ea typeface="黑体" pitchFamily="2" charset="-122"/>
            </a:endParaRPr>
          </a:p>
          <a:p>
            <a:pPr>
              <a:lnSpc>
                <a:spcPct val="200000"/>
              </a:lnSpc>
            </a:pPr>
            <a:r>
              <a:rPr lang="en-US" altLang="zh-CN" sz="2400">
                <a:latin typeface="黑体" pitchFamily="2" charset="-122"/>
                <a:ea typeface="黑体" pitchFamily="2" charset="-122"/>
              </a:rPr>
              <a:t>    </a:t>
            </a:r>
            <a:r>
              <a:rPr lang="en-US" altLang="zh-CN" sz="2400"/>
              <a:t>[</a:t>
            </a:r>
            <a:r>
              <a:rPr lang="zh-CN" altLang="en-US" sz="2400"/>
              <a:t>ｘ</a:t>
            </a:r>
            <a:r>
              <a:rPr lang="en-US" altLang="zh-CN" sz="2400"/>
              <a:t>]</a:t>
            </a:r>
            <a:r>
              <a:rPr lang="zh-CN" altLang="en-US" sz="2400" baseline="-25000"/>
              <a:t>补</a:t>
            </a:r>
            <a:r>
              <a:rPr lang="zh-CN" altLang="en-US" sz="2400"/>
              <a:t>＋</a:t>
            </a:r>
            <a:r>
              <a:rPr lang="en-US" altLang="zh-CN" sz="2400"/>
              <a:t>[</a:t>
            </a:r>
            <a:r>
              <a:rPr lang="zh-CN" altLang="en-US" sz="2400" i="1"/>
              <a:t>ｙ</a:t>
            </a:r>
            <a:r>
              <a:rPr lang="en-US" altLang="zh-CN" sz="2400"/>
              <a:t>]</a:t>
            </a:r>
            <a:r>
              <a:rPr lang="zh-CN" altLang="en-US" sz="2400" baseline="-25000"/>
              <a:t>补</a:t>
            </a:r>
            <a:r>
              <a:rPr lang="zh-CN" altLang="en-US" sz="2400"/>
              <a:t>＝</a:t>
            </a:r>
            <a:r>
              <a:rPr lang="en-US" altLang="zh-CN" sz="2400"/>
              <a:t>[</a:t>
            </a:r>
            <a:r>
              <a:rPr lang="zh-CN" altLang="en-US" sz="2400" i="1"/>
              <a:t>ｘ</a:t>
            </a:r>
            <a:r>
              <a:rPr lang="zh-CN" altLang="en-US" sz="2400"/>
              <a:t>＋</a:t>
            </a:r>
            <a:r>
              <a:rPr lang="zh-CN" altLang="en-US" sz="2400" i="1"/>
              <a:t>ｙ</a:t>
            </a:r>
            <a:r>
              <a:rPr lang="en-US" altLang="zh-CN" sz="2400"/>
              <a:t>]</a:t>
            </a:r>
            <a:r>
              <a:rPr lang="zh-CN" altLang="en-US" sz="2400" baseline="-25000"/>
              <a:t>补</a:t>
            </a:r>
            <a:r>
              <a:rPr lang="zh-CN" altLang="en-US" sz="2400"/>
              <a:t> </a:t>
            </a:r>
            <a:r>
              <a:rPr lang="en-US" altLang="zh-CN" sz="2400"/>
              <a:t>(mod 2</a:t>
            </a:r>
            <a:r>
              <a:rPr lang="en-US" altLang="zh-CN" sz="2400" baseline="30000"/>
              <a:t>n+1</a:t>
            </a:r>
            <a:r>
              <a:rPr lang="en-US" altLang="zh-CN" sz="2400"/>
              <a:t>)</a:t>
            </a:r>
          </a:p>
          <a:p>
            <a:pPr>
              <a:lnSpc>
                <a:spcPct val="200000"/>
              </a:lnSpc>
            </a:pPr>
            <a:r>
              <a:rPr lang="zh-CN" altLang="en-US" sz="2400">
                <a:latin typeface="黑体" pitchFamily="2" charset="-122"/>
                <a:ea typeface="黑体" pitchFamily="2" charset="-122"/>
              </a:rPr>
              <a:t>    在模</a:t>
            </a:r>
            <a:r>
              <a:rPr lang="en-US" altLang="zh-CN" sz="2400">
                <a:latin typeface="黑体" pitchFamily="2" charset="-122"/>
                <a:ea typeface="黑体" pitchFamily="2" charset="-122"/>
              </a:rPr>
              <a:t>2</a:t>
            </a:r>
            <a:r>
              <a:rPr lang="en-US" altLang="zh-CN" sz="2400" baseline="30000">
                <a:latin typeface="黑体" pitchFamily="2" charset="-122"/>
                <a:ea typeface="黑体" pitchFamily="2" charset="-122"/>
              </a:rPr>
              <a:t>n+1</a:t>
            </a:r>
            <a:r>
              <a:rPr lang="zh-CN" altLang="en-US" sz="2400">
                <a:latin typeface="黑体" pitchFamily="2" charset="-122"/>
                <a:ea typeface="黑体" pitchFamily="2" charset="-122"/>
              </a:rPr>
              <a:t>下</a:t>
            </a:r>
            <a:r>
              <a:rPr lang="en-US" altLang="zh-CN" sz="2400">
                <a:latin typeface="黑体" pitchFamily="2" charset="-122"/>
                <a:ea typeface="黑体" pitchFamily="2" charset="-122"/>
              </a:rPr>
              <a:t>,</a:t>
            </a:r>
            <a:r>
              <a:rPr lang="zh-CN" altLang="en-US" sz="2400">
                <a:latin typeface="黑体" pitchFamily="2" charset="-122"/>
                <a:ea typeface="黑体" pitchFamily="2" charset="-122"/>
              </a:rPr>
              <a:t>任意两数的补码之和等于该两数之和的补码</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250825" y="180975"/>
            <a:ext cx="8713788" cy="648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a:latin typeface="黑体" pitchFamily="2" charset="-122"/>
                <a:ea typeface="黑体" pitchFamily="2" charset="-122"/>
              </a:rPr>
              <a:t>[例]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＝+1001, </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＝+0101,求</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解:</a:t>
            </a: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＝01001, [</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＝00101</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01001</a:t>
            </a:r>
          </a:p>
          <a:p>
            <a:pPr eaLnBrk="0" hangingPunct="0">
              <a:lnSpc>
                <a:spcPct val="130000"/>
              </a:lnSpc>
            </a:pP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a:t>
            </a: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a:t>
            </a:r>
            <a:r>
              <a:rPr lang="zh-CN" altLang="zh-CN" sz="2400" i="1" u="sng">
                <a:latin typeface="黑体" pitchFamily="2" charset="-122"/>
                <a:ea typeface="黑体" pitchFamily="2" charset="-122"/>
              </a:rPr>
              <a:t>ｙ</a:t>
            </a:r>
            <a:r>
              <a:rPr lang="zh-CN" altLang="zh-CN" sz="2400" u="sng">
                <a:latin typeface="黑体" pitchFamily="2" charset="-122"/>
                <a:ea typeface="黑体" pitchFamily="2" charset="-122"/>
              </a:rPr>
              <a:t>]</a:t>
            </a:r>
            <a:r>
              <a:rPr lang="zh-CN" altLang="zh-CN" sz="2400" u="sng" baseline="-25000">
                <a:latin typeface="黑体" pitchFamily="2" charset="-122"/>
                <a:ea typeface="黑体" pitchFamily="2" charset="-122"/>
              </a:rPr>
              <a:t>补</a:t>
            </a:r>
            <a:r>
              <a:rPr lang="zh-CN" altLang="zh-CN" sz="2400" u="sng">
                <a:latin typeface="黑体" pitchFamily="2" charset="-122"/>
                <a:ea typeface="黑体" pitchFamily="2" charset="-122"/>
              </a:rPr>
              <a:t>　　</a:t>
            </a: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00101</a:t>
            </a: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　</a:t>
            </a:r>
            <a:endParaRPr lang="zh-CN" altLang="zh-CN" sz="2400">
              <a:latin typeface="黑体" pitchFamily="2" charset="-122"/>
              <a:ea typeface="黑体" pitchFamily="2" charset="-122"/>
            </a:endParaRP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a:latin typeface="黑体" pitchFamily="2" charset="-122"/>
                <a:ea typeface="黑体" pitchFamily="2" charset="-122"/>
              </a:rPr>
              <a:t>01110　</a:t>
            </a:r>
            <a:r>
              <a:rPr lang="en-US" altLang="zh-CN" sz="2400">
                <a:latin typeface="黑体" pitchFamily="2" charset="-122"/>
                <a:ea typeface="黑体" pitchFamily="2" charset="-122"/>
              </a:rPr>
              <a:t>    </a:t>
            </a:r>
            <a:r>
              <a:rPr lang="zh-CN" altLang="zh-CN" sz="2400">
                <a:latin typeface="黑体" pitchFamily="2" charset="-122"/>
                <a:ea typeface="黑体" pitchFamily="2" charset="-122"/>
              </a:rPr>
              <a:t>所以</a:t>
            </a:r>
            <a:r>
              <a:rPr lang="en-US" altLang="zh-CN" sz="2400">
                <a:latin typeface="黑体" pitchFamily="2" charset="-122"/>
                <a:ea typeface="黑体" pitchFamily="2" charset="-122"/>
              </a:rPr>
              <a:t>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＝＋1110</a:t>
            </a:r>
          </a:p>
          <a:p>
            <a:pPr eaLnBrk="0" hangingPunct="0">
              <a:lnSpc>
                <a:spcPct val="130000"/>
              </a:lnSpc>
              <a:spcBef>
                <a:spcPts val="600"/>
              </a:spcBef>
            </a:pPr>
            <a:r>
              <a:rPr lang="zh-CN" altLang="zh-CN" sz="2400">
                <a:latin typeface="黑体" pitchFamily="2" charset="-122"/>
                <a:ea typeface="黑体" pitchFamily="2" charset="-122"/>
              </a:rPr>
              <a:t>[例]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＝＋1011, </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＝－0101,求</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endParaRPr lang="zh-CN" altLang="zh-CN" sz="2400">
              <a:latin typeface="黑体" pitchFamily="2" charset="-122"/>
              <a:ea typeface="黑体" pitchFamily="2" charset="-122"/>
            </a:endParaRP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解:</a:t>
            </a: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＝01011,　[</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01011</a:t>
            </a:r>
          </a:p>
          <a:p>
            <a:pPr eaLnBrk="0" hangingPunct="0">
              <a:lnSpc>
                <a:spcPct val="130000"/>
              </a:lnSpc>
            </a:pP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a:t>
            </a:r>
            <a:r>
              <a:rPr lang="zh-CN" altLang="zh-CN" sz="2400" i="1" u="sng">
                <a:latin typeface="黑体" pitchFamily="2" charset="-122"/>
                <a:ea typeface="黑体" pitchFamily="2" charset="-122"/>
              </a:rPr>
              <a:t>ｙ</a:t>
            </a:r>
            <a:r>
              <a:rPr lang="zh-CN" altLang="zh-CN" sz="2400" u="sng">
                <a:latin typeface="黑体" pitchFamily="2" charset="-122"/>
                <a:ea typeface="黑体" pitchFamily="2" charset="-122"/>
              </a:rPr>
              <a:t>]</a:t>
            </a:r>
            <a:r>
              <a:rPr lang="zh-CN" altLang="zh-CN" sz="2400" u="sng" baseline="-25000">
                <a:latin typeface="黑体" pitchFamily="2" charset="-122"/>
                <a:ea typeface="黑体" pitchFamily="2" charset="-122"/>
              </a:rPr>
              <a:t>补</a:t>
            </a:r>
            <a:r>
              <a:rPr lang="zh-CN" altLang="zh-CN" sz="2400" u="sng">
                <a:latin typeface="黑体" pitchFamily="2" charset="-122"/>
                <a:ea typeface="黑体" pitchFamily="2" charset="-122"/>
              </a:rPr>
              <a:t>　　　11011　</a:t>
            </a:r>
            <a:endParaRPr lang="zh-CN" altLang="zh-CN" sz="2400">
              <a:latin typeface="黑体" pitchFamily="2" charset="-122"/>
              <a:ea typeface="黑体" pitchFamily="2" charset="-122"/>
            </a:endParaRP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100110　</a:t>
            </a:r>
            <a:r>
              <a:rPr lang="en-US" altLang="zh-CN" sz="2400">
                <a:latin typeface="黑体" pitchFamily="2" charset="-122"/>
                <a:ea typeface="黑体" pitchFamily="2" charset="-122"/>
              </a:rPr>
              <a:t>   </a:t>
            </a:r>
            <a:r>
              <a:rPr lang="zh-CN" altLang="zh-CN" sz="2400">
                <a:latin typeface="黑体" pitchFamily="2" charset="-122"/>
                <a:ea typeface="黑体" pitchFamily="2" charset="-122"/>
              </a:rPr>
              <a:t>所以</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＝＋0110</a:t>
            </a:r>
          </a:p>
          <a:p>
            <a:pPr eaLnBrk="0" hangingPunct="0">
              <a:lnSpc>
                <a:spcPct val="130000"/>
              </a:lnSpc>
              <a:spcBef>
                <a:spcPts val="600"/>
              </a:spcBef>
            </a:pPr>
            <a:r>
              <a:rPr lang="zh-CN" altLang="zh-CN" sz="2400">
                <a:latin typeface="黑体" pitchFamily="2" charset="-122"/>
                <a:ea typeface="黑体" pitchFamily="2" charset="-122"/>
              </a:rPr>
              <a:t>　　由以上两例看到,补码加法的特点,一是符号位要作为数的一部分一起参加运算,二是要在模2</a:t>
            </a:r>
            <a:r>
              <a:rPr lang="zh-CN" altLang="zh-CN" sz="2400" baseline="30000">
                <a:latin typeface="黑体" pitchFamily="2" charset="-122"/>
                <a:ea typeface="黑体" pitchFamily="2" charset="-122"/>
              </a:rPr>
              <a:t>n+1</a:t>
            </a:r>
            <a:r>
              <a:rPr lang="zh-CN" altLang="zh-CN" sz="2400">
                <a:latin typeface="黑体" pitchFamily="2" charset="-122"/>
                <a:ea typeface="黑体" pitchFamily="2" charset="-122"/>
              </a:rPr>
              <a:t>的意义下相加,即超过2</a:t>
            </a:r>
            <a:r>
              <a:rPr lang="zh-CN" altLang="zh-CN" sz="2400" baseline="30000">
                <a:latin typeface="黑体" pitchFamily="2" charset="-122"/>
                <a:ea typeface="黑体" pitchFamily="2" charset="-122"/>
              </a:rPr>
              <a:t>n+1</a:t>
            </a:r>
            <a:r>
              <a:rPr lang="zh-CN" altLang="zh-CN" sz="2400">
                <a:latin typeface="黑体" pitchFamily="2" charset="-122"/>
                <a:ea typeface="黑体" pitchFamily="2" charset="-122"/>
              </a:rPr>
              <a:t>的进位要丢掉。</a:t>
            </a:r>
            <a:endParaRPr lang="zh-CN" altLang="zh-C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250825" y="23813"/>
            <a:ext cx="8569325"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a:latin typeface="黑体" pitchFamily="2" charset="-122"/>
                <a:ea typeface="黑体" pitchFamily="2" charset="-122"/>
              </a:rPr>
              <a:t>2.2.2 补码减法</a:t>
            </a:r>
            <a:r>
              <a:rPr lang="zh-CN" altLang="zh-CN" sz="2400" i="1">
                <a:latin typeface="黑体" pitchFamily="2" charset="-122"/>
                <a:ea typeface="黑体" pitchFamily="2" charset="-122"/>
                <a:hlinkClick r:id="rId2" action="ppaction://hlinkfile"/>
              </a:rPr>
              <a:t>　　　　　　　　　　  </a:t>
            </a:r>
            <a:endParaRPr lang="zh-CN" altLang="zh-CN" sz="2400">
              <a:latin typeface="黑体" pitchFamily="2" charset="-122"/>
              <a:ea typeface="黑体" pitchFamily="2" charset="-122"/>
            </a:endParaRPr>
          </a:p>
          <a:p>
            <a:pPr eaLnBrk="0" hangingPunct="0">
              <a:lnSpc>
                <a:spcPct val="130000"/>
              </a:lnSpc>
            </a:pPr>
            <a:r>
              <a:rPr lang="zh-CN" altLang="zh-CN" sz="2400">
                <a:latin typeface="黑体" pitchFamily="2" charset="-122"/>
                <a:ea typeface="黑体" pitchFamily="2" charset="-122"/>
              </a:rPr>
              <a:t>　　负数的加法可以用补码化为加法来做，减法运算也</a:t>
            </a:r>
            <a:endParaRPr lang="en-US" altLang="zh-CN" sz="2400">
              <a:latin typeface="黑体" pitchFamily="2" charset="-122"/>
              <a:ea typeface="黑体" pitchFamily="2" charset="-122"/>
            </a:endParaRPr>
          </a:p>
          <a:p>
            <a:pPr eaLnBrk="0" hangingPunct="0">
              <a:lnSpc>
                <a:spcPct val="130000"/>
              </a:lnSpc>
            </a:pPr>
            <a:r>
              <a:rPr lang="zh-CN" altLang="zh-CN" sz="2400">
                <a:latin typeface="黑体" pitchFamily="2" charset="-122"/>
                <a:ea typeface="黑体" pitchFamily="2" charset="-122"/>
              </a:rPr>
              <a:t>要设法化为加法来做,其所以使用这种方法而不使用直</a:t>
            </a:r>
            <a:endParaRPr lang="en-US" altLang="zh-CN" sz="2400">
              <a:latin typeface="黑体" pitchFamily="2" charset="-122"/>
              <a:ea typeface="黑体" pitchFamily="2" charset="-122"/>
            </a:endParaRPr>
          </a:p>
          <a:p>
            <a:pPr eaLnBrk="0" hangingPunct="0">
              <a:lnSpc>
                <a:spcPct val="130000"/>
              </a:lnSpc>
            </a:pPr>
            <a:r>
              <a:rPr lang="zh-CN" altLang="zh-CN" sz="2400">
                <a:latin typeface="黑体" pitchFamily="2" charset="-122"/>
                <a:ea typeface="黑体" pitchFamily="2" charset="-122"/>
              </a:rPr>
              <a:t>接减法,是因为它可以和常规的加法运算使用同一加法器电路,从而简化了计算机的设计。</a:t>
            </a:r>
          </a:p>
          <a:p>
            <a:pPr eaLnBrk="0" hangingPunct="0">
              <a:lnSpc>
                <a:spcPct val="130000"/>
              </a:lnSpc>
            </a:pPr>
            <a:r>
              <a:rPr lang="zh-CN" altLang="zh-CN" sz="2400">
                <a:latin typeface="黑体" pitchFamily="2" charset="-122"/>
                <a:ea typeface="黑体" pitchFamily="2" charset="-122"/>
              </a:rPr>
              <a:t>　　数用补码表示时,减法运算的公式为</a:t>
            </a:r>
            <a:r>
              <a:rPr lang="zh-CN" altLang="en-US" sz="2400">
                <a:latin typeface="黑体" pitchFamily="2" charset="-122"/>
                <a:ea typeface="黑体" pitchFamily="2" charset="-122"/>
              </a:rPr>
              <a:t>：</a:t>
            </a:r>
            <a:endParaRPr lang="zh-CN" altLang="zh-CN" sz="2400" i="1">
              <a:latin typeface="黑体" pitchFamily="2" charset="-122"/>
              <a:ea typeface="黑体" pitchFamily="2" charset="-122"/>
            </a:endParaRPr>
          </a:p>
        </p:txBody>
      </p:sp>
      <p:sp>
        <p:nvSpPr>
          <p:cNvPr id="47107" name="AutoShape 2" descr="F:\%E5%BB%BA%E7%AD%91%E5%A4%A7%E5%AD%A6\%E8%AF%BE%E7%A8%8B%E6%95%99%E6%A1%88\%E8%AE%A1%E7%AE%97%E6%9C%BA%E7%BB%84%E6%88%90%E5%8E%9F%E7%90%86\%E6%95%99%E6%A1%88\%E7%AC%AC%E4%BA%8C%E7%AB%A0\Images\Home07.gif">
            <a:hlinkClick r:id="rId2" action="ppaction://hlinkfile"/>
          </p:cNvPr>
          <p:cNvSpPr>
            <a:spLocks noChangeAspect="1" noChangeArrowheads="1"/>
          </p:cNvSpPr>
          <p:nvPr/>
        </p:nvSpPr>
        <p:spPr bwMode="auto">
          <a:xfrm>
            <a:off x="4048125" y="-41275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矩形 3"/>
          <p:cNvSpPr/>
          <p:nvPr/>
        </p:nvSpPr>
        <p:spPr>
          <a:xfrm>
            <a:off x="971550" y="2924175"/>
            <a:ext cx="6442075" cy="461963"/>
          </a:xfrm>
          <a:prstGeom prst="rect">
            <a:avLst/>
          </a:prstGeom>
        </p:spPr>
        <p:txBody>
          <a:bodyPr wrap="none">
            <a:spAutoFit/>
          </a:bodyPr>
          <a:lstStyle/>
          <a:p>
            <a:pPr>
              <a:defRPr/>
            </a:pPr>
            <a:r>
              <a:rPr lang="en-US" altLang="zh-CN"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ｘ</a:t>
            </a:r>
            <a:r>
              <a:rPr lang="zh-CN" altLang="en-US"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ｙ</a:t>
            </a:r>
            <a:r>
              <a:rPr lang="en-US" altLang="zh-CN" sz="2400" dirty="0">
                <a:solidFill>
                  <a:schemeClr val="tx2">
                    <a:lumMod val="60000"/>
                    <a:lumOff val="40000"/>
                  </a:schemeClr>
                </a:solidFill>
                <a:latin typeface="黑体" pitchFamily="49" charset="-122"/>
                <a:ea typeface="黑体" pitchFamily="49" charset="-122"/>
              </a:rPr>
              <a:t>]</a:t>
            </a:r>
            <a:r>
              <a:rPr lang="zh-CN" altLang="en-US" sz="2400" baseline="-25000" dirty="0">
                <a:solidFill>
                  <a:schemeClr val="tx2">
                    <a:lumMod val="60000"/>
                    <a:lumOff val="40000"/>
                  </a:schemeClr>
                </a:solidFill>
                <a:latin typeface="黑体" pitchFamily="49" charset="-122"/>
                <a:ea typeface="黑体" pitchFamily="49" charset="-122"/>
              </a:rPr>
              <a:t>补</a:t>
            </a:r>
            <a:r>
              <a:rPr lang="zh-CN" altLang="en-US" sz="2400" dirty="0">
                <a:solidFill>
                  <a:schemeClr val="tx2">
                    <a:lumMod val="60000"/>
                    <a:lumOff val="40000"/>
                  </a:schemeClr>
                </a:solidFill>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ｘ</a:t>
            </a:r>
            <a:r>
              <a:rPr lang="en-US" altLang="zh-CN" sz="2400" dirty="0">
                <a:solidFill>
                  <a:schemeClr val="tx2">
                    <a:lumMod val="60000"/>
                    <a:lumOff val="40000"/>
                  </a:schemeClr>
                </a:solidFill>
                <a:latin typeface="黑体" pitchFamily="49" charset="-122"/>
                <a:ea typeface="黑体" pitchFamily="49" charset="-122"/>
              </a:rPr>
              <a:t>]</a:t>
            </a:r>
            <a:r>
              <a:rPr lang="zh-CN" altLang="en-US" sz="2400" baseline="-25000" dirty="0">
                <a:solidFill>
                  <a:schemeClr val="tx2">
                    <a:lumMod val="60000"/>
                    <a:lumOff val="40000"/>
                  </a:schemeClr>
                </a:solidFill>
                <a:latin typeface="黑体" pitchFamily="49" charset="-122"/>
                <a:ea typeface="黑体" pitchFamily="49" charset="-122"/>
              </a:rPr>
              <a:t>补</a:t>
            </a:r>
            <a:r>
              <a:rPr lang="zh-CN" altLang="en-US" sz="2400" dirty="0">
                <a:solidFill>
                  <a:schemeClr val="tx2">
                    <a:lumMod val="60000"/>
                    <a:lumOff val="40000"/>
                  </a:schemeClr>
                </a:solidFill>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ｙ</a:t>
            </a:r>
            <a:r>
              <a:rPr lang="en-US" altLang="zh-CN" sz="2400" dirty="0">
                <a:solidFill>
                  <a:schemeClr val="tx2">
                    <a:lumMod val="60000"/>
                    <a:lumOff val="40000"/>
                  </a:schemeClr>
                </a:solidFill>
                <a:latin typeface="黑体" pitchFamily="49" charset="-122"/>
                <a:ea typeface="黑体" pitchFamily="49" charset="-122"/>
              </a:rPr>
              <a:t>]</a:t>
            </a:r>
            <a:r>
              <a:rPr lang="zh-CN" altLang="en-US" sz="2400" baseline="-25000" dirty="0">
                <a:solidFill>
                  <a:schemeClr val="tx2">
                    <a:lumMod val="60000"/>
                    <a:lumOff val="40000"/>
                  </a:schemeClr>
                </a:solidFill>
                <a:latin typeface="黑体" pitchFamily="49" charset="-122"/>
                <a:ea typeface="黑体" pitchFamily="49" charset="-122"/>
              </a:rPr>
              <a:t>补</a:t>
            </a:r>
            <a:r>
              <a:rPr lang="zh-CN" altLang="en-US" sz="2400" dirty="0">
                <a:solidFill>
                  <a:schemeClr val="tx2">
                    <a:lumMod val="60000"/>
                    <a:lumOff val="40000"/>
                  </a:schemeClr>
                </a:solidFill>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ｘ</a:t>
            </a:r>
            <a:r>
              <a:rPr lang="en-US" altLang="zh-CN" sz="2400" dirty="0">
                <a:solidFill>
                  <a:schemeClr val="tx2">
                    <a:lumMod val="60000"/>
                    <a:lumOff val="40000"/>
                  </a:schemeClr>
                </a:solidFill>
                <a:latin typeface="黑体" pitchFamily="49" charset="-122"/>
                <a:ea typeface="黑体" pitchFamily="49" charset="-122"/>
              </a:rPr>
              <a:t>]</a:t>
            </a:r>
            <a:r>
              <a:rPr lang="zh-CN" altLang="en-US" sz="2400" baseline="-25000" dirty="0">
                <a:solidFill>
                  <a:schemeClr val="tx2">
                    <a:lumMod val="60000"/>
                    <a:lumOff val="40000"/>
                  </a:schemeClr>
                </a:solidFill>
                <a:latin typeface="黑体" pitchFamily="49" charset="-122"/>
                <a:ea typeface="黑体" pitchFamily="49" charset="-122"/>
              </a:rPr>
              <a:t>补</a:t>
            </a:r>
            <a:r>
              <a:rPr lang="zh-CN" altLang="en-US" sz="2400" dirty="0">
                <a:solidFill>
                  <a:schemeClr val="tx2">
                    <a:lumMod val="60000"/>
                    <a:lumOff val="40000"/>
                  </a:schemeClr>
                </a:solidFill>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a:t>
            </a:r>
            <a:r>
              <a:rPr lang="zh-CN" altLang="en-US"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ｙ</a:t>
            </a:r>
            <a:r>
              <a:rPr lang="en-US" altLang="zh-CN" sz="2400" dirty="0">
                <a:solidFill>
                  <a:schemeClr val="tx2">
                    <a:lumMod val="60000"/>
                    <a:lumOff val="40000"/>
                  </a:schemeClr>
                </a:solidFill>
                <a:latin typeface="黑体" pitchFamily="49" charset="-122"/>
                <a:ea typeface="黑体" pitchFamily="49" charset="-122"/>
              </a:rPr>
              <a:t>]</a:t>
            </a:r>
            <a:r>
              <a:rPr lang="zh-CN" altLang="en-US" sz="2400" baseline="-25000" dirty="0">
                <a:solidFill>
                  <a:schemeClr val="tx2">
                    <a:lumMod val="60000"/>
                    <a:lumOff val="40000"/>
                  </a:schemeClr>
                </a:solidFill>
                <a:latin typeface="黑体" pitchFamily="49" charset="-122"/>
                <a:ea typeface="黑体" pitchFamily="49" charset="-122"/>
              </a:rPr>
              <a:t>补</a:t>
            </a:r>
            <a:endParaRPr lang="zh-CN" altLang="en-US" sz="2400" dirty="0">
              <a:solidFill>
                <a:schemeClr val="tx2">
                  <a:lumMod val="60000"/>
                  <a:lumOff val="40000"/>
                </a:schemeClr>
              </a:solidFill>
              <a:latin typeface="黑体" pitchFamily="49" charset="-122"/>
              <a:ea typeface="黑体" pitchFamily="49" charset="-122"/>
            </a:endParaRPr>
          </a:p>
        </p:txBody>
      </p:sp>
      <p:sp>
        <p:nvSpPr>
          <p:cNvPr id="47109" name="矩形 4"/>
          <p:cNvSpPr>
            <a:spLocks noChangeArrowheads="1"/>
          </p:cNvSpPr>
          <p:nvPr/>
        </p:nvSpPr>
        <p:spPr bwMode="auto">
          <a:xfrm>
            <a:off x="250825" y="3357563"/>
            <a:ext cx="8642350" cy="345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2400">
                <a:latin typeface="黑体" pitchFamily="2" charset="-122"/>
                <a:ea typeface="黑体" pitchFamily="2" charset="-122"/>
              </a:rPr>
              <a:t>    只要证明</a:t>
            </a:r>
            <a:r>
              <a:rPr lang="en-US" altLang="zh-CN" sz="2400">
                <a:latin typeface="黑体" pitchFamily="2" charset="-122"/>
                <a:ea typeface="黑体" pitchFamily="2" charset="-122"/>
              </a:rPr>
              <a:t>[</a:t>
            </a:r>
            <a:r>
              <a:rPr lang="zh-CN" altLang="en-US"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a:t>
            </a:r>
            <a:r>
              <a:rPr lang="en-US" altLang="zh-CN"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en-US" altLang="zh-CN" sz="2400">
                <a:latin typeface="黑体" pitchFamily="2" charset="-122"/>
                <a:ea typeface="黑体" pitchFamily="2" charset="-122"/>
              </a:rPr>
              <a:t>,</a:t>
            </a:r>
            <a:r>
              <a:rPr lang="zh-CN" altLang="en-US" sz="2400">
                <a:latin typeface="黑体" pitchFamily="2" charset="-122"/>
                <a:ea typeface="黑体" pitchFamily="2" charset="-122"/>
              </a:rPr>
              <a:t>上式即得证。</a:t>
            </a:r>
            <a:endParaRPr lang="en-US" altLang="zh-CN" sz="2400">
              <a:latin typeface="黑体" pitchFamily="2" charset="-122"/>
              <a:ea typeface="黑体" pitchFamily="2" charset="-122"/>
            </a:endParaRPr>
          </a:p>
          <a:p>
            <a:pPr>
              <a:lnSpc>
                <a:spcPct val="130000"/>
              </a:lnSpc>
            </a:pPr>
            <a:r>
              <a:rPr lang="en-US" altLang="zh-CN" sz="2400">
                <a:latin typeface="黑体" pitchFamily="2" charset="-122"/>
                <a:ea typeface="黑体" pitchFamily="2" charset="-122"/>
              </a:rPr>
              <a:t>    1. </a:t>
            </a:r>
            <a:r>
              <a:rPr lang="zh-CN" altLang="en-US" sz="2400">
                <a:latin typeface="黑体" pitchFamily="2" charset="-122"/>
                <a:ea typeface="黑体" pitchFamily="2" charset="-122"/>
              </a:rPr>
              <a:t>从</a:t>
            </a:r>
            <a:r>
              <a:rPr lang="en-US" altLang="zh-CN"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求</a:t>
            </a:r>
            <a:r>
              <a:rPr lang="en-US" altLang="zh-CN" sz="2400">
                <a:latin typeface="黑体" pitchFamily="2" charset="-122"/>
                <a:ea typeface="黑体" pitchFamily="2" charset="-122"/>
              </a:rPr>
              <a:t>[</a:t>
            </a:r>
            <a:r>
              <a:rPr lang="zh-CN" altLang="en-US"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（变补操作）的法则是：对</a:t>
            </a:r>
            <a:r>
              <a:rPr lang="en-US" altLang="zh-CN"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包括符号位“求反且最末位加</a:t>
            </a:r>
            <a:r>
              <a:rPr lang="en-US" altLang="zh-CN" sz="2400">
                <a:latin typeface="黑体" pitchFamily="2" charset="-122"/>
                <a:ea typeface="黑体" pitchFamily="2" charset="-122"/>
              </a:rPr>
              <a:t>1”,</a:t>
            </a:r>
            <a:r>
              <a:rPr lang="zh-CN" altLang="en-US" sz="2400">
                <a:latin typeface="黑体" pitchFamily="2" charset="-122"/>
                <a:ea typeface="黑体" pitchFamily="2" charset="-122"/>
              </a:rPr>
              <a:t>即可得到</a:t>
            </a:r>
            <a:r>
              <a:rPr lang="en-US" altLang="zh-CN" sz="2400">
                <a:latin typeface="黑体" pitchFamily="2" charset="-122"/>
                <a:ea typeface="黑体" pitchFamily="2" charset="-122"/>
              </a:rPr>
              <a:t>[</a:t>
            </a:r>
            <a:r>
              <a:rPr lang="zh-CN" altLang="en-US"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a:t>
            </a:r>
            <a:endParaRPr lang="en-US" altLang="zh-CN" sz="2400">
              <a:latin typeface="黑体" pitchFamily="2" charset="-122"/>
              <a:ea typeface="黑体" pitchFamily="2" charset="-122"/>
            </a:endParaRPr>
          </a:p>
          <a:p>
            <a:pPr>
              <a:lnSpc>
                <a:spcPct val="130000"/>
              </a:lnSpc>
            </a:pPr>
            <a:endParaRPr lang="en-US" altLang="zh-CN" sz="2400">
              <a:latin typeface="黑体" pitchFamily="2" charset="-122"/>
              <a:ea typeface="黑体" pitchFamily="2" charset="-122"/>
            </a:endParaRPr>
          </a:p>
          <a:p>
            <a:pPr>
              <a:lnSpc>
                <a:spcPct val="130000"/>
              </a:lnSpc>
            </a:pPr>
            <a:r>
              <a:rPr lang="zh-CN" altLang="en-US" sz="2400">
                <a:latin typeface="黑体" pitchFamily="2" charset="-122"/>
                <a:ea typeface="黑体" pitchFamily="2" charset="-122"/>
              </a:rPr>
              <a:t>     其中符号</a:t>
            </a:r>
            <a:r>
              <a:rPr lang="en-US" altLang="zh-CN" sz="2400">
                <a:latin typeface="黑体" pitchFamily="2" charset="-122"/>
                <a:ea typeface="黑体" pitchFamily="2" charset="-122"/>
              </a:rPr>
              <a:t>﹁</a:t>
            </a:r>
            <a:r>
              <a:rPr lang="zh-CN" altLang="en-US" sz="2400">
                <a:latin typeface="黑体" pitchFamily="2" charset="-122"/>
                <a:ea typeface="黑体" pitchFamily="2" charset="-122"/>
              </a:rPr>
              <a:t>表示对</a:t>
            </a:r>
            <a:r>
              <a:rPr lang="en-US" altLang="zh-CN" sz="2400">
                <a:latin typeface="黑体" pitchFamily="2" charset="-122"/>
                <a:ea typeface="黑体" pitchFamily="2" charset="-122"/>
              </a:rPr>
              <a:t>[</a:t>
            </a:r>
            <a:r>
              <a:rPr lang="zh-CN" altLang="en-US" sz="2400">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作包括符号位在内的求反操作</a:t>
            </a:r>
            <a:endParaRPr lang="en-US" altLang="zh-CN" sz="2400">
              <a:latin typeface="黑体" pitchFamily="2" charset="-122"/>
              <a:ea typeface="黑体" pitchFamily="2" charset="-122"/>
            </a:endParaRPr>
          </a:p>
          <a:p>
            <a:pPr>
              <a:lnSpc>
                <a:spcPct val="130000"/>
              </a:lnSpc>
            </a:pPr>
            <a:r>
              <a:rPr lang="en-US" altLang="zh-CN" sz="2400">
                <a:latin typeface="黑体" pitchFamily="2" charset="-122"/>
                <a:ea typeface="黑体" pitchFamily="2" charset="-122"/>
              </a:rPr>
              <a:t>    2. </a:t>
            </a:r>
            <a:r>
              <a:rPr lang="zh-CN" altLang="en-US" sz="2400">
                <a:latin typeface="黑体" pitchFamily="2" charset="-122"/>
                <a:ea typeface="黑体" pitchFamily="2" charset="-122"/>
              </a:rPr>
              <a:t>或是自低位向高位，尾数的第一个</a:t>
            </a:r>
            <a:r>
              <a:rPr lang="en-US" altLang="zh-CN" sz="2400">
                <a:latin typeface="黑体" pitchFamily="2" charset="-122"/>
                <a:ea typeface="黑体" pitchFamily="2" charset="-122"/>
              </a:rPr>
              <a:t>1</a:t>
            </a:r>
            <a:r>
              <a:rPr lang="zh-CN" altLang="en-US" sz="2400">
                <a:latin typeface="黑体" pitchFamily="2" charset="-122"/>
                <a:ea typeface="黑体" pitchFamily="2" charset="-122"/>
              </a:rPr>
              <a:t>及其右部的</a:t>
            </a:r>
            <a:r>
              <a:rPr lang="en-US" altLang="zh-CN" sz="2400">
                <a:latin typeface="黑体" pitchFamily="2" charset="-122"/>
                <a:ea typeface="黑体" pitchFamily="2" charset="-122"/>
              </a:rPr>
              <a:t>0</a:t>
            </a:r>
            <a:r>
              <a:rPr lang="zh-CN" altLang="en-US" sz="2400">
                <a:latin typeface="黑体" pitchFamily="2" charset="-122"/>
                <a:ea typeface="黑体" pitchFamily="2" charset="-122"/>
              </a:rPr>
              <a:t>保持不变，左部的各位（包括符号位）取反</a:t>
            </a:r>
          </a:p>
        </p:txBody>
      </p:sp>
      <p:sp>
        <p:nvSpPr>
          <p:cNvPr id="6" name="矩形 5"/>
          <p:cNvSpPr/>
          <p:nvPr/>
        </p:nvSpPr>
        <p:spPr>
          <a:xfrm>
            <a:off x="971550" y="4797425"/>
            <a:ext cx="3211513" cy="461963"/>
          </a:xfrm>
          <a:prstGeom prst="rect">
            <a:avLst/>
          </a:prstGeom>
        </p:spPr>
        <p:txBody>
          <a:bodyPr wrap="none">
            <a:spAutoFit/>
          </a:bodyPr>
          <a:lstStyle/>
          <a:p>
            <a:pPr>
              <a:defRPr/>
            </a:pPr>
            <a:r>
              <a:rPr lang="en-US" altLang="zh-CN" sz="2400" dirty="0">
                <a:solidFill>
                  <a:schemeClr val="tx2">
                    <a:lumMod val="60000"/>
                    <a:lumOff val="40000"/>
                  </a:schemeClr>
                </a:solidFill>
                <a:latin typeface="黑体" pitchFamily="49" charset="-122"/>
                <a:ea typeface="黑体" pitchFamily="49" charset="-122"/>
              </a:rPr>
              <a:t>[</a:t>
            </a:r>
            <a:r>
              <a:rPr lang="zh-CN" altLang="en-US"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ｙ</a:t>
            </a:r>
            <a:r>
              <a:rPr lang="en-US" altLang="zh-CN" sz="2400" dirty="0">
                <a:solidFill>
                  <a:schemeClr val="tx2">
                    <a:lumMod val="60000"/>
                    <a:lumOff val="40000"/>
                  </a:schemeClr>
                </a:solidFill>
                <a:latin typeface="黑体" pitchFamily="49" charset="-122"/>
                <a:ea typeface="黑体" pitchFamily="49" charset="-122"/>
              </a:rPr>
              <a:t>]</a:t>
            </a:r>
            <a:r>
              <a:rPr lang="zh-CN" altLang="en-US" sz="2400" baseline="-25000" dirty="0">
                <a:solidFill>
                  <a:schemeClr val="tx2">
                    <a:lumMod val="60000"/>
                    <a:lumOff val="40000"/>
                  </a:schemeClr>
                </a:solidFill>
                <a:latin typeface="黑体" pitchFamily="49" charset="-122"/>
                <a:ea typeface="黑体" pitchFamily="49" charset="-122"/>
              </a:rPr>
              <a:t>补</a:t>
            </a:r>
            <a:r>
              <a:rPr lang="zh-CN" altLang="en-US" sz="2400" dirty="0">
                <a:solidFill>
                  <a:schemeClr val="tx2">
                    <a:lumMod val="60000"/>
                    <a:lumOff val="40000"/>
                  </a:schemeClr>
                </a:solidFill>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a:t>
            </a:r>
            <a:r>
              <a:rPr lang="zh-CN" altLang="en-US" sz="2400" i="1" dirty="0">
                <a:solidFill>
                  <a:schemeClr val="tx2">
                    <a:lumMod val="60000"/>
                    <a:lumOff val="40000"/>
                  </a:schemeClr>
                </a:solidFill>
                <a:latin typeface="黑体" pitchFamily="49" charset="-122"/>
                <a:ea typeface="黑体" pitchFamily="49" charset="-122"/>
              </a:rPr>
              <a:t>ｙ</a:t>
            </a:r>
            <a:r>
              <a:rPr lang="en-US" altLang="zh-CN" sz="2400" dirty="0">
                <a:solidFill>
                  <a:schemeClr val="tx2">
                    <a:lumMod val="60000"/>
                    <a:lumOff val="40000"/>
                  </a:schemeClr>
                </a:solidFill>
                <a:latin typeface="黑体" pitchFamily="49" charset="-122"/>
                <a:ea typeface="黑体" pitchFamily="49" charset="-122"/>
              </a:rPr>
              <a:t>]</a:t>
            </a:r>
            <a:r>
              <a:rPr lang="zh-CN" altLang="en-US" sz="2400" baseline="-25000" dirty="0">
                <a:solidFill>
                  <a:schemeClr val="tx2">
                    <a:lumMod val="60000"/>
                    <a:lumOff val="40000"/>
                  </a:schemeClr>
                </a:solidFill>
                <a:latin typeface="黑体" pitchFamily="49" charset="-122"/>
                <a:ea typeface="黑体" pitchFamily="49" charset="-122"/>
              </a:rPr>
              <a:t>补</a:t>
            </a:r>
            <a:r>
              <a:rPr lang="zh-CN" altLang="en-US" sz="2400" dirty="0">
                <a:solidFill>
                  <a:schemeClr val="tx2">
                    <a:lumMod val="60000"/>
                    <a:lumOff val="40000"/>
                  </a:schemeClr>
                </a:solidFill>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1</a:t>
            </a:r>
            <a:endParaRPr lang="zh-CN" altLang="en-US" sz="2400" dirty="0">
              <a:solidFill>
                <a:schemeClr val="tx2">
                  <a:lumMod val="60000"/>
                  <a:lumOff val="40000"/>
                </a:schemeClr>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250825" y="44450"/>
            <a:ext cx="8642350"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latin typeface="黑体" pitchFamily="2" charset="-122"/>
                <a:ea typeface="黑体" pitchFamily="2" charset="-122"/>
              </a:rPr>
              <a:t>[例] 已知</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1＝－1110,</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2＝＋1101</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求：[</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2]</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2]</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a:t>
            </a:r>
          </a:p>
          <a:p>
            <a:pPr eaLnBrk="0" hangingPunct="0">
              <a:lnSpc>
                <a:spcPct val="150000"/>
              </a:lnSpc>
            </a:pPr>
            <a:r>
              <a:rPr lang="zh-CN" altLang="zh-CN" sz="2400">
                <a:latin typeface="黑体" pitchFamily="2" charset="-122"/>
                <a:ea typeface="黑体" pitchFamily="2" charset="-122"/>
              </a:rPr>
              <a:t>解:</a:t>
            </a: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＝10010</a:t>
            </a:r>
            <a:r>
              <a:rPr lang="zh-CN" altLang="en-US" sz="2400">
                <a:latin typeface="黑体" pitchFamily="2" charset="-122"/>
                <a:ea typeface="黑体" pitchFamily="2" charset="-122"/>
              </a:rPr>
              <a:t>、</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＝01101＋00001＝01110</a:t>
            </a:r>
          </a:p>
          <a:p>
            <a:pPr eaLnBrk="0" hangingPunct="0">
              <a:lnSpc>
                <a:spcPct val="150000"/>
              </a:lnSpc>
            </a:pPr>
            <a:r>
              <a:rPr lang="zh-CN" altLang="zh-CN" sz="2400">
                <a:latin typeface="黑体" pitchFamily="2" charset="-122"/>
                <a:ea typeface="黑体" pitchFamily="2" charset="-122"/>
              </a:rPr>
              <a:t>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2]</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＝01101</a:t>
            </a:r>
            <a:r>
              <a:rPr lang="zh-CN" altLang="en-US" sz="2400">
                <a:latin typeface="黑体" pitchFamily="2" charset="-122"/>
                <a:ea typeface="黑体" pitchFamily="2" charset="-122"/>
              </a:rPr>
              <a:t>、</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2]</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＝10010＋00001＝10011</a:t>
            </a:r>
          </a:p>
          <a:p>
            <a:pPr eaLnBrk="0" hangingPunct="0">
              <a:lnSpc>
                <a:spcPct val="150000"/>
              </a:lnSpc>
            </a:pPr>
            <a:r>
              <a:rPr lang="zh-CN" altLang="zh-CN" sz="2400">
                <a:latin typeface="黑体" pitchFamily="2" charset="-122"/>
                <a:ea typeface="黑体" pitchFamily="2" charset="-122"/>
              </a:rPr>
              <a:t>[例]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＝-11001,</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＝-10011,求</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endParaRPr lang="zh-CN" altLang="zh-CN" sz="2400">
              <a:latin typeface="黑体" pitchFamily="2" charset="-122"/>
              <a:ea typeface="黑体" pitchFamily="2" charset="-122"/>
            </a:endParaRPr>
          </a:p>
          <a:p>
            <a:pPr eaLnBrk="0" hangingPunct="0">
              <a:lnSpc>
                <a:spcPct val="150000"/>
              </a:lnSpc>
            </a:pPr>
            <a:r>
              <a:rPr lang="zh-CN" altLang="zh-CN" sz="2400">
                <a:latin typeface="黑体" pitchFamily="2" charset="-122"/>
                <a:ea typeface="黑体" pitchFamily="2" charset="-122"/>
              </a:rPr>
              <a:t>解:[</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＝100111</a:t>
            </a:r>
            <a:r>
              <a:rPr lang="zh-CN" altLang="en-US" sz="2400">
                <a:latin typeface="黑体" pitchFamily="2" charset="-122"/>
                <a:ea typeface="黑体" pitchFamily="2" charset="-122"/>
              </a:rPr>
              <a:t>、</a:t>
            </a:r>
            <a:r>
              <a:rPr lang="zh-CN" altLang="zh-CN" sz="2400">
                <a:latin typeface="黑体" pitchFamily="2" charset="-122"/>
                <a:ea typeface="黑体" pitchFamily="2" charset="-122"/>
              </a:rPr>
              <a:t>[ｙ]</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＝101101</a:t>
            </a:r>
            <a:r>
              <a:rPr lang="zh-CN" altLang="en-US" sz="2400">
                <a:latin typeface="黑体" pitchFamily="2" charset="-122"/>
                <a:ea typeface="黑体" pitchFamily="2" charset="-122"/>
              </a:rPr>
              <a:t>、</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＝010011</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100111</a:t>
            </a:r>
          </a:p>
          <a:p>
            <a:pPr eaLnBrk="0" hangingPunct="0">
              <a:lnSpc>
                <a:spcPct val="150000"/>
              </a:lnSpc>
            </a:pP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a:t>
            </a:r>
            <a:r>
              <a:rPr lang="zh-CN" altLang="zh-CN" sz="2400" i="1" u="sng">
                <a:latin typeface="黑体" pitchFamily="2" charset="-122"/>
                <a:ea typeface="黑体" pitchFamily="2" charset="-122"/>
              </a:rPr>
              <a:t>ｙ</a:t>
            </a:r>
            <a:r>
              <a:rPr lang="zh-CN" altLang="zh-CN" sz="2400" u="sng">
                <a:latin typeface="黑体" pitchFamily="2" charset="-122"/>
                <a:ea typeface="黑体" pitchFamily="2" charset="-122"/>
              </a:rPr>
              <a:t>]</a:t>
            </a:r>
            <a:r>
              <a:rPr lang="zh-CN" altLang="zh-CN" sz="2400" u="sng" baseline="-25000">
                <a:latin typeface="黑体" pitchFamily="2" charset="-122"/>
                <a:ea typeface="黑体" pitchFamily="2" charset="-122"/>
              </a:rPr>
              <a:t>补</a:t>
            </a:r>
            <a:r>
              <a:rPr lang="zh-CN" altLang="zh-CN" sz="2400" u="sng">
                <a:latin typeface="黑体" pitchFamily="2" charset="-122"/>
                <a:ea typeface="黑体" pitchFamily="2" charset="-122"/>
              </a:rPr>
              <a:t>　　 010011　</a:t>
            </a:r>
            <a:endParaRPr lang="zh-CN"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111010</a:t>
            </a:r>
            <a:r>
              <a:rPr lang="en-US" altLang="zh-CN" sz="2400">
                <a:latin typeface="黑体" pitchFamily="2" charset="-122"/>
                <a:ea typeface="黑体" pitchFamily="2" charset="-122"/>
              </a:rPr>
              <a:t>   </a:t>
            </a:r>
            <a:r>
              <a:rPr lang="zh-CN" altLang="zh-CN" sz="2400">
                <a:latin typeface="黑体" pitchFamily="2" charset="-122"/>
                <a:ea typeface="黑体" pitchFamily="2" charset="-122"/>
              </a:rPr>
              <a:t>所以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 - 00110</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补码加减运算中符号也一起参加运算，减法可化为加法来实现。若结果为负 -- 真值等于</a:t>
            </a:r>
            <a:r>
              <a:rPr lang="zh-CN" altLang="en-US" sz="2400">
                <a:latin typeface="黑体" pitchFamily="2" charset="-122"/>
                <a:ea typeface="黑体" pitchFamily="2" charset="-122"/>
              </a:rPr>
              <a:t>对结果求补；</a:t>
            </a:r>
            <a:r>
              <a:rPr lang="zh-CN" altLang="zh-CN" sz="2400">
                <a:latin typeface="黑体" pitchFamily="2" charset="-122"/>
                <a:ea typeface="黑体" pitchFamily="2" charset="-122"/>
              </a:rPr>
              <a:t>若结果为正 -- 该数就是真值。</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323850" y="174625"/>
            <a:ext cx="7920038" cy="627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itchFamily="2" charset="-122"/>
                <a:ea typeface="黑体" pitchFamily="2" charset="-122"/>
              </a:rPr>
              <a:t>2.2.3 溢出概念与检测方法</a:t>
            </a:r>
            <a:r>
              <a:rPr lang="zh-CN" altLang="zh-CN" sz="2400">
                <a:latin typeface="黑体" pitchFamily="2" charset="-122"/>
                <a:ea typeface="黑体" pitchFamily="2" charset="-122"/>
                <a:hlinkClick r:id="rId2" action="ppaction://hlinkfile"/>
              </a:rPr>
              <a:t>　　　　　  </a:t>
            </a:r>
            <a:endParaRPr lang="zh-CN" altLang="zh-CN" sz="2400">
              <a:latin typeface="黑体" pitchFamily="2" charset="-122"/>
              <a:ea typeface="黑体" pitchFamily="2" charset="-122"/>
            </a:endParaRPr>
          </a:p>
          <a:p>
            <a:pPr eaLnBrk="0" hangingPunct="0">
              <a:lnSpc>
                <a:spcPct val="150000"/>
              </a:lnSpc>
            </a:pPr>
            <a:r>
              <a:rPr lang="zh-CN" altLang="zh-CN" sz="2400">
                <a:latin typeface="黑体" pitchFamily="2" charset="-122"/>
                <a:ea typeface="黑体" pitchFamily="2" charset="-122"/>
              </a:rPr>
              <a:t>[例] ｘ＝＋1011, ｙ＝＋1001,求ｘ＋ｙ。</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解:</a:t>
            </a:r>
            <a:r>
              <a:rPr lang="en-US" altLang="zh-CN" sz="2400">
                <a:latin typeface="黑体" pitchFamily="2" charset="-122"/>
                <a:ea typeface="黑体" pitchFamily="2" charset="-122"/>
              </a:rPr>
              <a:t> </a:t>
            </a:r>
            <a:r>
              <a:rPr lang="zh-CN" altLang="zh-CN" sz="2400">
                <a:latin typeface="黑体" pitchFamily="2" charset="-122"/>
                <a:ea typeface="黑体" pitchFamily="2" charset="-122"/>
              </a:rPr>
              <a:t>[ｘ]</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＝01011</a:t>
            </a:r>
            <a:r>
              <a:rPr lang="zh-CN" altLang="en-US" sz="2400">
                <a:latin typeface="黑体" pitchFamily="2" charset="-122"/>
                <a:ea typeface="黑体" pitchFamily="2" charset="-122"/>
              </a:rPr>
              <a:t>、</a:t>
            </a:r>
            <a:r>
              <a:rPr lang="zh-CN" altLang="zh-CN" sz="2400">
                <a:latin typeface="黑体" pitchFamily="2" charset="-122"/>
                <a:ea typeface="黑体" pitchFamily="2" charset="-122"/>
              </a:rPr>
              <a:t>[ｙ]</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＝01001</a:t>
            </a:r>
          </a:p>
          <a:p>
            <a:pPr eaLnBrk="0" hangingPunct="0"/>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a:latin typeface="黑体" pitchFamily="2" charset="-122"/>
                <a:ea typeface="黑体" pitchFamily="2" charset="-122"/>
              </a:rPr>
              <a:t>[ｘ]</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01011</a:t>
            </a:r>
          </a:p>
          <a:p>
            <a:pPr eaLnBrk="0" hangingPunct="0"/>
            <a:r>
              <a:rPr lang="en-US" altLang="zh-CN" sz="2400">
                <a:latin typeface="黑体" pitchFamily="2" charset="-122"/>
                <a:ea typeface="黑体" pitchFamily="2" charset="-122"/>
              </a:rPr>
              <a:t>   </a:t>
            </a: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 [ｙ]</a:t>
            </a:r>
            <a:r>
              <a:rPr lang="zh-CN" altLang="zh-CN" sz="2400" u="sng" baseline="-25000">
                <a:latin typeface="黑体" pitchFamily="2" charset="-122"/>
                <a:ea typeface="黑体" pitchFamily="2" charset="-122"/>
              </a:rPr>
              <a:t>补</a:t>
            </a:r>
            <a:r>
              <a:rPr lang="zh-CN" altLang="zh-CN" sz="2400" u="sng">
                <a:latin typeface="黑体" pitchFamily="2" charset="-122"/>
                <a:ea typeface="黑体" pitchFamily="2" charset="-122"/>
              </a:rPr>
              <a:t>　　　01001</a:t>
            </a:r>
            <a:endParaRPr lang="zh-CN" altLang="zh-CN" sz="2400">
              <a:latin typeface="黑体" pitchFamily="2" charset="-122"/>
              <a:ea typeface="黑体" pitchFamily="2" charset="-122"/>
            </a:endParaRPr>
          </a:p>
          <a:p>
            <a:pPr eaLnBrk="0" hangingPunct="0"/>
            <a:r>
              <a:rPr lang="en-US" altLang="zh-CN" sz="2400">
                <a:latin typeface="黑体" pitchFamily="2" charset="-122"/>
                <a:ea typeface="黑体" pitchFamily="2" charset="-122"/>
              </a:rPr>
              <a:t>        </a:t>
            </a:r>
            <a:r>
              <a:rPr lang="zh-CN" altLang="zh-CN" sz="2400">
                <a:latin typeface="黑体" pitchFamily="2" charset="-122"/>
                <a:ea typeface="黑体" pitchFamily="2" charset="-122"/>
              </a:rPr>
              <a:t>[ｘ＋ｙ]</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10100</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两个正数相加的结果成为负数,这显然是错误的。</a:t>
            </a:r>
          </a:p>
          <a:p>
            <a:pPr eaLnBrk="0" hangingPunct="0">
              <a:lnSpc>
                <a:spcPct val="150000"/>
              </a:lnSpc>
            </a:pPr>
            <a:r>
              <a:rPr lang="zh-CN" altLang="zh-CN" sz="2400">
                <a:latin typeface="黑体" pitchFamily="2" charset="-122"/>
                <a:ea typeface="黑体" pitchFamily="2" charset="-122"/>
              </a:rPr>
              <a:t>[例] ｘ＝－1101, ｙ＝－1011,求ｘ＋ｙ。</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解:</a:t>
            </a:r>
            <a:r>
              <a:rPr lang="en-US" altLang="zh-CN" sz="2400">
                <a:latin typeface="黑体" pitchFamily="2" charset="-122"/>
                <a:ea typeface="黑体" pitchFamily="2" charset="-122"/>
              </a:rPr>
              <a:t> </a:t>
            </a:r>
            <a:r>
              <a:rPr lang="zh-CN" altLang="zh-CN" sz="2400">
                <a:latin typeface="黑体" pitchFamily="2" charset="-122"/>
                <a:ea typeface="黑体" pitchFamily="2" charset="-122"/>
              </a:rPr>
              <a:t>[ｘ]</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＝10011</a:t>
            </a:r>
            <a:r>
              <a:rPr lang="zh-CN" altLang="en-US" sz="2400">
                <a:latin typeface="黑体" pitchFamily="2" charset="-122"/>
                <a:ea typeface="黑体" pitchFamily="2" charset="-122"/>
              </a:rPr>
              <a:t>、</a:t>
            </a:r>
            <a:r>
              <a:rPr lang="zh-CN" altLang="zh-CN" sz="2400">
                <a:latin typeface="黑体" pitchFamily="2" charset="-122"/>
                <a:ea typeface="黑体" pitchFamily="2" charset="-122"/>
              </a:rPr>
              <a:t>[ｙ]</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＝10101</a:t>
            </a:r>
          </a:p>
          <a:p>
            <a:pPr eaLnBrk="0" hangingPunct="0"/>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a:latin typeface="黑体" pitchFamily="2" charset="-122"/>
                <a:ea typeface="黑体" pitchFamily="2" charset="-122"/>
              </a:rPr>
              <a:t>　[ｘ]</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10011</a:t>
            </a:r>
          </a:p>
          <a:p>
            <a:pPr eaLnBrk="0" hangingPunct="0"/>
            <a:r>
              <a:rPr lang="en-US" altLang="zh-CN" sz="2400">
                <a:latin typeface="黑体" pitchFamily="2" charset="-122"/>
                <a:ea typeface="黑体" pitchFamily="2" charset="-122"/>
              </a:rPr>
              <a:t>     </a:t>
            </a:r>
            <a:r>
              <a:rPr lang="en-US" altLang="zh-CN" sz="2400" u="sng">
                <a:latin typeface="黑体" pitchFamily="2" charset="-122"/>
                <a:ea typeface="黑体" pitchFamily="2" charset="-122"/>
              </a:rPr>
              <a:t> </a:t>
            </a:r>
            <a:r>
              <a:rPr lang="zh-CN" altLang="zh-CN" sz="2400" u="sng">
                <a:latin typeface="黑体" pitchFamily="2" charset="-122"/>
                <a:ea typeface="黑体" pitchFamily="2" charset="-122"/>
              </a:rPr>
              <a:t>＋　 [ｙ]</a:t>
            </a:r>
            <a:r>
              <a:rPr lang="zh-CN" altLang="zh-CN" sz="2400" u="sng" baseline="-25000">
                <a:latin typeface="黑体" pitchFamily="2" charset="-122"/>
                <a:ea typeface="黑体" pitchFamily="2" charset="-122"/>
              </a:rPr>
              <a:t>补</a:t>
            </a:r>
            <a:r>
              <a:rPr lang="zh-CN" altLang="zh-CN" sz="2400" u="sng">
                <a:latin typeface="黑体" pitchFamily="2" charset="-122"/>
                <a:ea typeface="黑体" pitchFamily="2" charset="-122"/>
              </a:rPr>
              <a:t>　　　10101</a:t>
            </a:r>
            <a:endParaRPr lang="zh-CN" altLang="zh-CN" sz="2400">
              <a:latin typeface="黑体" pitchFamily="2" charset="-122"/>
              <a:ea typeface="黑体" pitchFamily="2" charset="-122"/>
            </a:endParaRPr>
          </a:p>
          <a:p>
            <a:pPr eaLnBrk="0" hangingPunct="0"/>
            <a:r>
              <a:rPr lang="en-US" altLang="zh-CN" sz="2400">
                <a:latin typeface="黑体" pitchFamily="2" charset="-122"/>
                <a:ea typeface="黑体" pitchFamily="2" charset="-122"/>
              </a:rPr>
              <a:t>        </a:t>
            </a:r>
            <a:r>
              <a:rPr lang="zh-CN" altLang="zh-CN" sz="2400">
                <a:latin typeface="黑体" pitchFamily="2" charset="-122"/>
                <a:ea typeface="黑体" pitchFamily="2" charset="-122"/>
              </a:rPr>
              <a:t>[ｘ＋ｙ]</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01000</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两个负数相加的结果成为正数,这同样是错误的。</a:t>
            </a:r>
          </a:p>
        </p:txBody>
      </p:sp>
      <p:sp>
        <p:nvSpPr>
          <p:cNvPr id="49155" name="AutoShape 2" descr="F:\%E5%BB%BA%E7%AD%91%E5%A4%A7%E5%AD%A6\%E8%AF%BE%E7%A8%8B%E6%95%99%E6%A1%88\%E8%AE%A1%E7%AE%97%E6%9C%BA%E7%BB%84%E6%88%90%E5%8E%9F%E7%90%86\%E6%95%99%E6%A1%88\%E7%AC%AC%E4%BA%8C%E7%AB%A0\Images\Home07.gif">
            <a:hlinkClick r:id="rId2" action="ppaction://hlinkfile"/>
          </p:cNvPr>
          <p:cNvSpPr>
            <a:spLocks noChangeAspect="1" noChangeArrowheads="1"/>
          </p:cNvSpPr>
          <p:nvPr/>
        </p:nvSpPr>
        <p:spPr bwMode="auto">
          <a:xfrm>
            <a:off x="4302125" y="-16351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ChangeArrowheads="1"/>
          </p:cNvSpPr>
          <p:nvPr/>
        </p:nvSpPr>
        <p:spPr bwMode="auto">
          <a:xfrm>
            <a:off x="250825" y="188913"/>
            <a:ext cx="8642350" cy="5632450"/>
          </a:xfrm>
          <a:prstGeom prst="rect">
            <a:avLst/>
          </a:prstGeom>
          <a:noFill/>
          <a:ln w="9525">
            <a:noFill/>
            <a:miter lim="800000"/>
            <a:headEnd/>
            <a:tailEnd/>
          </a:ln>
          <a:effectLst/>
        </p:spPr>
        <p:txBody>
          <a:bodyPr anchor="ctr">
            <a:spAutoFit/>
          </a:bodyPr>
          <a:lstStyle/>
          <a:p>
            <a:pPr eaLnBrk="0" hangingPunct="0">
              <a:lnSpc>
                <a:spcPct val="150000"/>
              </a:lnSpc>
              <a:defRPr/>
            </a:pPr>
            <a:r>
              <a:rPr lang="en-US" altLang="zh-CN" sz="2400" dirty="0">
                <a:latin typeface="黑体" pitchFamily="49" charset="-122"/>
                <a:ea typeface="黑体" pitchFamily="49" charset="-122"/>
              </a:rPr>
              <a:t>     </a:t>
            </a:r>
            <a:r>
              <a:rPr lang="zh-CN" sz="2400" dirty="0">
                <a:latin typeface="黑体" pitchFamily="49" charset="-122"/>
                <a:ea typeface="黑体" pitchFamily="49" charset="-122"/>
              </a:rPr>
              <a:t>之所以发生错误</a:t>
            </a:r>
            <a:r>
              <a:rPr lang="zh-CN" altLang="zh-CN" sz="2400" dirty="0">
                <a:latin typeface="黑体" pitchFamily="49" charset="-122"/>
                <a:ea typeface="黑体" pitchFamily="49" charset="-122"/>
              </a:rPr>
              <a:t>,</a:t>
            </a:r>
            <a:r>
              <a:rPr lang="zh-CN" sz="2400" dirty="0">
                <a:latin typeface="黑体" pitchFamily="49" charset="-122"/>
                <a:ea typeface="黑体" pitchFamily="49" charset="-122"/>
              </a:rPr>
              <a:t>是因为运算结果产生了溢出。</a:t>
            </a:r>
            <a:endParaRPr lang="en-US" altLang="zh-CN" sz="2400" dirty="0">
              <a:latin typeface="黑体" pitchFamily="49" charset="-122"/>
              <a:ea typeface="黑体" pitchFamily="49" charset="-122"/>
            </a:endParaRPr>
          </a:p>
          <a:p>
            <a:pPr eaLnBrk="0" hangingPunct="0">
              <a:lnSpc>
                <a:spcPct val="150000"/>
              </a:lnSpc>
              <a:defRPr/>
            </a:pPr>
            <a:r>
              <a:rPr lang="en-US" altLang="zh-CN" sz="2400" dirty="0">
                <a:latin typeface="黑体" pitchFamily="49" charset="-122"/>
                <a:ea typeface="黑体" pitchFamily="49" charset="-122"/>
              </a:rPr>
              <a:t>     </a:t>
            </a:r>
            <a:r>
              <a:rPr lang="zh-CN" sz="2400" dirty="0">
                <a:latin typeface="黑体" pitchFamily="49" charset="-122"/>
                <a:ea typeface="黑体" pitchFamily="49" charset="-122"/>
              </a:rPr>
              <a:t>两个正数相加</a:t>
            </a:r>
            <a:r>
              <a:rPr lang="zh-CN" altLang="zh-CN" sz="2400" dirty="0">
                <a:latin typeface="黑体" pitchFamily="49" charset="-122"/>
                <a:ea typeface="黑体" pitchFamily="49" charset="-122"/>
              </a:rPr>
              <a:t>,</a:t>
            </a:r>
            <a:r>
              <a:rPr lang="zh-CN" sz="2400" dirty="0">
                <a:latin typeface="黑体" pitchFamily="49" charset="-122"/>
                <a:ea typeface="黑体" pitchFamily="49" charset="-122"/>
              </a:rPr>
              <a:t>结果大于机器所能表示的最大正数</a:t>
            </a:r>
            <a:r>
              <a:rPr lang="zh-CN" altLang="zh-CN" sz="2400" dirty="0">
                <a:latin typeface="黑体" pitchFamily="49" charset="-122"/>
                <a:ea typeface="黑体" pitchFamily="49" charset="-122"/>
              </a:rPr>
              <a:t>,</a:t>
            </a:r>
            <a:endParaRPr lang="en-US" altLang="zh-CN" sz="2400" dirty="0">
              <a:latin typeface="黑体" pitchFamily="49" charset="-122"/>
              <a:ea typeface="黑体" pitchFamily="49" charset="-122"/>
            </a:endParaRPr>
          </a:p>
          <a:p>
            <a:pPr eaLnBrk="0" hangingPunct="0">
              <a:lnSpc>
                <a:spcPct val="150000"/>
              </a:lnSpc>
              <a:defRPr/>
            </a:pPr>
            <a:r>
              <a:rPr lang="zh-CN" sz="2400" dirty="0" smtClean="0">
                <a:latin typeface="黑体" pitchFamily="49" charset="-122"/>
                <a:ea typeface="黑体" pitchFamily="49" charset="-122"/>
              </a:rPr>
              <a:t>称为</a:t>
            </a:r>
            <a:r>
              <a:rPr lang="zh-CN" altLang="en-US" sz="2400" dirty="0" smtClean="0">
                <a:solidFill>
                  <a:srgbClr val="FF0000"/>
                </a:solidFill>
                <a:latin typeface="黑体" pitchFamily="49" charset="-122"/>
                <a:ea typeface="黑体" pitchFamily="49" charset="-122"/>
              </a:rPr>
              <a:t>正</a:t>
            </a:r>
            <a:r>
              <a:rPr lang="zh-CN" sz="2400" dirty="0" smtClean="0">
                <a:solidFill>
                  <a:srgbClr val="FF0000"/>
                </a:solidFill>
                <a:latin typeface="黑体" pitchFamily="49" charset="-122"/>
                <a:ea typeface="黑体" pitchFamily="49" charset="-122"/>
              </a:rPr>
              <a:t>溢</a:t>
            </a:r>
            <a:r>
              <a:rPr lang="zh-CN" sz="2400" dirty="0">
                <a:latin typeface="黑体" pitchFamily="49" charset="-122"/>
                <a:ea typeface="黑体" pitchFamily="49" charset="-122"/>
              </a:rPr>
              <a:t>。</a:t>
            </a:r>
            <a:endParaRPr lang="en-US" altLang="zh-CN" sz="2400" dirty="0">
              <a:latin typeface="黑体" pitchFamily="49" charset="-122"/>
              <a:ea typeface="黑体" pitchFamily="49" charset="-122"/>
            </a:endParaRPr>
          </a:p>
          <a:p>
            <a:pPr eaLnBrk="0" hangingPunct="0">
              <a:lnSpc>
                <a:spcPct val="150000"/>
              </a:lnSpc>
              <a:defRPr/>
            </a:pPr>
            <a:r>
              <a:rPr lang="en-US" altLang="zh-CN" sz="2400" dirty="0">
                <a:latin typeface="黑体" pitchFamily="49" charset="-122"/>
                <a:ea typeface="黑体" pitchFamily="49" charset="-122"/>
              </a:rPr>
              <a:t>     </a:t>
            </a:r>
            <a:r>
              <a:rPr lang="zh-CN" sz="2400" dirty="0">
                <a:latin typeface="黑体" pitchFamily="49" charset="-122"/>
                <a:ea typeface="黑体" pitchFamily="49" charset="-122"/>
              </a:rPr>
              <a:t>而两个负数相加</a:t>
            </a:r>
            <a:r>
              <a:rPr lang="zh-CN" altLang="zh-CN" sz="2400" dirty="0">
                <a:latin typeface="黑体" pitchFamily="49" charset="-122"/>
                <a:ea typeface="黑体" pitchFamily="49" charset="-122"/>
              </a:rPr>
              <a:t>,</a:t>
            </a:r>
            <a:r>
              <a:rPr lang="zh-CN" sz="2400" dirty="0">
                <a:latin typeface="黑体" pitchFamily="49" charset="-122"/>
                <a:ea typeface="黑体" pitchFamily="49" charset="-122"/>
              </a:rPr>
              <a:t>结果小于机器所能表示的最小负数</a:t>
            </a:r>
            <a:r>
              <a:rPr lang="zh-CN" altLang="zh-CN" sz="2400" dirty="0">
                <a:latin typeface="黑体" pitchFamily="49" charset="-122"/>
                <a:ea typeface="黑体" pitchFamily="49" charset="-122"/>
              </a:rPr>
              <a:t>,</a:t>
            </a:r>
            <a:r>
              <a:rPr lang="zh-CN" sz="2400" dirty="0" smtClean="0">
                <a:latin typeface="黑体" pitchFamily="49" charset="-122"/>
                <a:ea typeface="黑体" pitchFamily="49" charset="-122"/>
              </a:rPr>
              <a:t>称为</a:t>
            </a:r>
            <a:r>
              <a:rPr lang="zh-CN" altLang="en-US" sz="2400" dirty="0" smtClean="0">
                <a:solidFill>
                  <a:srgbClr val="FF0000"/>
                </a:solidFill>
                <a:latin typeface="黑体" pitchFamily="49" charset="-122"/>
                <a:ea typeface="黑体" pitchFamily="49" charset="-122"/>
              </a:rPr>
              <a:t>负</a:t>
            </a:r>
            <a:r>
              <a:rPr lang="zh-CN" sz="2400" dirty="0" smtClean="0">
                <a:solidFill>
                  <a:srgbClr val="FF0000"/>
                </a:solidFill>
                <a:latin typeface="黑体" pitchFamily="49" charset="-122"/>
                <a:ea typeface="黑体" pitchFamily="49" charset="-122"/>
              </a:rPr>
              <a:t>溢</a:t>
            </a:r>
            <a:r>
              <a:rPr lang="zh-CN" sz="2400" dirty="0">
                <a:latin typeface="黑体" pitchFamily="49" charset="-122"/>
                <a:ea typeface="黑体" pitchFamily="49" charset="-122"/>
              </a:rPr>
              <a:t>。</a:t>
            </a:r>
          </a:p>
          <a:p>
            <a:pPr eaLnBrk="0" hangingPunct="0">
              <a:lnSpc>
                <a:spcPct val="150000"/>
              </a:lnSpc>
              <a:defRPr/>
            </a:pPr>
            <a:r>
              <a:rPr lang="zh-CN" sz="2400" dirty="0">
                <a:latin typeface="黑体" pitchFamily="49" charset="-122"/>
                <a:ea typeface="黑体" pitchFamily="49" charset="-122"/>
              </a:rPr>
              <a:t>　　为了判断“溢出”是否发生</a:t>
            </a:r>
            <a:r>
              <a:rPr lang="zh-CN" altLang="zh-CN" sz="2400" dirty="0">
                <a:latin typeface="黑体" pitchFamily="49" charset="-122"/>
                <a:ea typeface="黑体" pitchFamily="49" charset="-122"/>
              </a:rPr>
              <a:t>,</a:t>
            </a:r>
            <a:r>
              <a:rPr lang="zh-CN" sz="2400" dirty="0">
                <a:latin typeface="黑体" pitchFamily="49" charset="-122"/>
                <a:ea typeface="黑体" pitchFamily="49" charset="-122"/>
              </a:rPr>
              <a:t>可采用两种检测的方法。</a:t>
            </a:r>
          </a:p>
          <a:p>
            <a:pPr eaLnBrk="0" hangingPunct="0">
              <a:lnSpc>
                <a:spcPct val="150000"/>
              </a:lnSpc>
              <a:defRPr/>
            </a:pPr>
            <a:r>
              <a:rPr lang="zh-CN" sz="2400" dirty="0">
                <a:solidFill>
                  <a:srgbClr val="C00000"/>
                </a:solidFill>
                <a:latin typeface="黑体" pitchFamily="49" charset="-122"/>
                <a:ea typeface="黑体" pitchFamily="49" charset="-122"/>
              </a:rPr>
              <a:t>第一种方法</a:t>
            </a:r>
            <a:r>
              <a:rPr lang="zh-CN" altLang="en-US" sz="2400" dirty="0">
                <a:solidFill>
                  <a:srgbClr val="C00000"/>
                </a:solidFill>
                <a:latin typeface="黑体" pitchFamily="49" charset="-122"/>
                <a:ea typeface="黑体" pitchFamily="49" charset="-122"/>
              </a:rPr>
              <a:t>：</a:t>
            </a:r>
            <a:r>
              <a:rPr lang="zh-CN" sz="2400" dirty="0">
                <a:latin typeface="黑体" pitchFamily="49" charset="-122"/>
                <a:ea typeface="黑体" pitchFamily="49" charset="-122"/>
              </a:rPr>
              <a:t>采用双符号位法</a:t>
            </a:r>
            <a:r>
              <a:rPr lang="zh-CN" altLang="zh-CN" sz="2400" dirty="0">
                <a:latin typeface="黑体" pitchFamily="49" charset="-122"/>
                <a:ea typeface="黑体" pitchFamily="49" charset="-122"/>
              </a:rPr>
              <a:t>,</a:t>
            </a:r>
            <a:r>
              <a:rPr lang="zh-CN" sz="2400" dirty="0">
                <a:latin typeface="黑体" pitchFamily="49" charset="-122"/>
                <a:ea typeface="黑体" pitchFamily="49" charset="-122"/>
              </a:rPr>
              <a:t>称为“</a:t>
            </a:r>
            <a:r>
              <a:rPr lang="zh-CN" sz="2400" dirty="0">
                <a:solidFill>
                  <a:srgbClr val="0000FF"/>
                </a:solidFill>
                <a:latin typeface="黑体" pitchFamily="49" charset="-122"/>
                <a:ea typeface="黑体" pitchFamily="49" charset="-122"/>
              </a:rPr>
              <a:t>变形补码</a:t>
            </a:r>
            <a:r>
              <a:rPr lang="zh-CN" sz="2400" dirty="0">
                <a:latin typeface="黑体" pitchFamily="49" charset="-122"/>
                <a:ea typeface="黑体" pitchFamily="49" charset="-122"/>
              </a:rPr>
              <a:t>”</a:t>
            </a:r>
            <a:r>
              <a:rPr lang="zh-CN" altLang="zh-CN" sz="2400" dirty="0">
                <a:latin typeface="黑体" pitchFamily="49" charset="-122"/>
                <a:ea typeface="黑体" pitchFamily="49" charset="-122"/>
              </a:rPr>
              <a:t>,</a:t>
            </a:r>
            <a:r>
              <a:rPr lang="zh-CN" sz="2400" dirty="0">
                <a:latin typeface="黑体" pitchFamily="49" charset="-122"/>
                <a:ea typeface="黑体" pitchFamily="49" charset="-122"/>
              </a:rPr>
              <a:t>可</a:t>
            </a:r>
            <a:r>
              <a:rPr lang="zh-CN" sz="2400" dirty="0">
                <a:solidFill>
                  <a:srgbClr val="000000"/>
                </a:solidFill>
                <a:latin typeface="黑体" pitchFamily="49" charset="-122"/>
                <a:ea typeface="黑体" pitchFamily="49" charset="-122"/>
              </a:rPr>
              <a:t>使模</a:t>
            </a:r>
            <a:r>
              <a:rPr lang="zh-CN" altLang="zh-CN" sz="2400" dirty="0">
                <a:solidFill>
                  <a:srgbClr val="000000"/>
                </a:solidFill>
                <a:latin typeface="黑体" pitchFamily="49" charset="-122"/>
                <a:ea typeface="黑体" pitchFamily="49" charset="-122"/>
              </a:rPr>
              <a:t>2</a:t>
            </a:r>
            <a:r>
              <a:rPr lang="zh-CN" altLang="zh-CN" sz="2400" baseline="30000" dirty="0">
                <a:solidFill>
                  <a:srgbClr val="000000"/>
                </a:solidFill>
                <a:latin typeface="黑体" pitchFamily="49" charset="-122"/>
                <a:ea typeface="黑体" pitchFamily="49" charset="-122"/>
              </a:rPr>
              <a:t>n+1</a:t>
            </a:r>
            <a:r>
              <a:rPr lang="zh-CN" sz="2400" dirty="0">
                <a:solidFill>
                  <a:srgbClr val="000000"/>
                </a:solidFill>
                <a:latin typeface="黑体" pitchFamily="49" charset="-122"/>
                <a:ea typeface="黑体" pitchFamily="49" charset="-122"/>
              </a:rPr>
              <a:t>补码</a:t>
            </a:r>
            <a:r>
              <a:rPr lang="zh-CN" sz="2400" dirty="0">
                <a:latin typeface="黑体" pitchFamily="49" charset="-122"/>
                <a:ea typeface="黑体" pitchFamily="49" charset="-122"/>
              </a:rPr>
              <a:t>所能表示的数的范围扩大一倍。变形补码定义为</a:t>
            </a:r>
          </a:p>
          <a:p>
            <a:pPr eaLnBrk="0" hangingPunct="0">
              <a:lnSpc>
                <a:spcPct val="150000"/>
              </a:lnSpc>
              <a:defRPr/>
            </a:pPr>
            <a:r>
              <a:rPr lang="zh-CN" sz="2400" dirty="0">
                <a:latin typeface="黑体" pitchFamily="49" charset="-122"/>
                <a:ea typeface="黑体" pitchFamily="49" charset="-122"/>
              </a:rPr>
              <a:t>　　　　</a:t>
            </a:r>
            <a:r>
              <a:rPr lang="zh-CN" altLang="zh-CN" sz="2400" dirty="0">
                <a:solidFill>
                  <a:schemeClr val="tx2">
                    <a:lumMod val="60000"/>
                    <a:lumOff val="40000"/>
                  </a:schemeClr>
                </a:solidFill>
                <a:latin typeface="黑体" pitchFamily="49" charset="-122"/>
                <a:ea typeface="黑体" pitchFamily="49" charset="-122"/>
              </a:rPr>
              <a:t>[</a:t>
            </a:r>
            <a:r>
              <a:rPr lang="zh-CN" sz="2400" i="1" dirty="0">
                <a:solidFill>
                  <a:schemeClr val="tx2">
                    <a:lumMod val="60000"/>
                    <a:lumOff val="40000"/>
                  </a:schemeClr>
                </a:solidFill>
                <a:latin typeface="黑体" pitchFamily="49" charset="-122"/>
                <a:ea typeface="黑体" pitchFamily="49" charset="-122"/>
              </a:rPr>
              <a:t>ｘ</a:t>
            </a:r>
            <a:r>
              <a:rPr lang="zh-CN" altLang="zh-CN" sz="2400" dirty="0">
                <a:solidFill>
                  <a:schemeClr val="tx2">
                    <a:lumMod val="60000"/>
                    <a:lumOff val="40000"/>
                  </a:schemeClr>
                </a:solidFill>
                <a:latin typeface="黑体" pitchFamily="49" charset="-122"/>
                <a:ea typeface="黑体" pitchFamily="49" charset="-122"/>
              </a:rPr>
              <a:t>]</a:t>
            </a:r>
            <a:r>
              <a:rPr lang="zh-CN" sz="2400" baseline="-30000" dirty="0">
                <a:solidFill>
                  <a:schemeClr val="tx2">
                    <a:lumMod val="60000"/>
                    <a:lumOff val="40000"/>
                  </a:schemeClr>
                </a:solidFill>
                <a:latin typeface="黑体" pitchFamily="49" charset="-122"/>
                <a:ea typeface="黑体" pitchFamily="49" charset="-122"/>
              </a:rPr>
              <a:t>补</a:t>
            </a:r>
            <a:r>
              <a:rPr lang="zh-CN" sz="2400" dirty="0">
                <a:solidFill>
                  <a:schemeClr val="tx2">
                    <a:lumMod val="60000"/>
                    <a:lumOff val="40000"/>
                  </a:schemeClr>
                </a:solidFill>
                <a:latin typeface="黑体" pitchFamily="49" charset="-122"/>
                <a:ea typeface="黑体" pitchFamily="49" charset="-122"/>
              </a:rPr>
              <a:t>＝</a:t>
            </a:r>
            <a:r>
              <a:rPr lang="zh-CN" altLang="zh-CN" sz="2400" dirty="0">
                <a:solidFill>
                  <a:schemeClr val="tx2">
                    <a:lumMod val="60000"/>
                    <a:lumOff val="40000"/>
                  </a:schemeClr>
                </a:solidFill>
                <a:latin typeface="黑体" pitchFamily="49" charset="-122"/>
                <a:ea typeface="黑体" pitchFamily="49" charset="-122"/>
              </a:rPr>
              <a:t>2</a:t>
            </a:r>
            <a:r>
              <a:rPr lang="zh-CN" altLang="zh-CN" sz="2400" baseline="30000" dirty="0">
                <a:solidFill>
                  <a:schemeClr val="tx2">
                    <a:lumMod val="60000"/>
                    <a:lumOff val="40000"/>
                  </a:schemeClr>
                </a:solidFill>
                <a:latin typeface="黑体" pitchFamily="49" charset="-122"/>
                <a:ea typeface="黑体" pitchFamily="49" charset="-122"/>
              </a:rPr>
              <a:t>n+2 </a:t>
            </a:r>
            <a:r>
              <a:rPr lang="zh-CN" altLang="zh-CN" sz="2400" dirty="0">
                <a:solidFill>
                  <a:schemeClr val="tx2">
                    <a:lumMod val="60000"/>
                    <a:lumOff val="40000"/>
                  </a:schemeClr>
                </a:solidFill>
                <a:latin typeface="黑体" pitchFamily="49" charset="-122"/>
                <a:ea typeface="黑体" pitchFamily="49" charset="-122"/>
              </a:rPr>
              <a:t>+ </a:t>
            </a:r>
            <a:r>
              <a:rPr lang="zh-CN" altLang="zh-CN" sz="2400" i="1" dirty="0">
                <a:solidFill>
                  <a:schemeClr val="tx2">
                    <a:lumMod val="60000"/>
                    <a:lumOff val="40000"/>
                  </a:schemeClr>
                </a:solidFill>
                <a:latin typeface="黑体" pitchFamily="49" charset="-122"/>
                <a:ea typeface="黑体" pitchFamily="49" charset="-122"/>
              </a:rPr>
              <a:t>x</a:t>
            </a:r>
            <a:r>
              <a:rPr lang="zh-CN" altLang="zh-CN" sz="2400" dirty="0">
                <a:solidFill>
                  <a:schemeClr val="tx2">
                    <a:lumMod val="60000"/>
                    <a:lumOff val="40000"/>
                  </a:schemeClr>
                </a:solidFill>
                <a:latin typeface="黑体" pitchFamily="49" charset="-122"/>
                <a:ea typeface="黑体" pitchFamily="49" charset="-122"/>
              </a:rPr>
              <a:t> </a:t>
            </a:r>
            <a:r>
              <a:rPr lang="zh-CN" sz="2400" dirty="0">
                <a:solidFill>
                  <a:schemeClr val="tx2">
                    <a:lumMod val="60000"/>
                    <a:lumOff val="40000"/>
                  </a:schemeClr>
                </a:solidFill>
                <a:latin typeface="黑体" pitchFamily="49" charset="-122"/>
                <a:ea typeface="黑体" pitchFamily="49" charset="-122"/>
              </a:rPr>
              <a:t>　</a:t>
            </a:r>
            <a:r>
              <a:rPr lang="zh-CN" altLang="zh-CN" sz="2400" dirty="0">
                <a:solidFill>
                  <a:schemeClr val="tx2">
                    <a:lumMod val="60000"/>
                    <a:lumOff val="40000"/>
                  </a:schemeClr>
                </a:solidFill>
                <a:latin typeface="黑体" pitchFamily="49" charset="-122"/>
                <a:ea typeface="黑体" pitchFamily="49" charset="-122"/>
              </a:rPr>
              <a:t>(mod 2</a:t>
            </a:r>
            <a:r>
              <a:rPr lang="zh-CN" altLang="zh-CN" sz="2400" baseline="30000" dirty="0">
                <a:solidFill>
                  <a:schemeClr val="tx2">
                    <a:lumMod val="60000"/>
                    <a:lumOff val="40000"/>
                  </a:schemeClr>
                </a:solidFill>
                <a:latin typeface="黑体" pitchFamily="49" charset="-122"/>
                <a:ea typeface="黑体" pitchFamily="49" charset="-122"/>
              </a:rPr>
              <a:t>n+2</a:t>
            </a:r>
            <a:r>
              <a:rPr lang="zh-CN" altLang="zh-CN" sz="2400" dirty="0">
                <a:solidFill>
                  <a:schemeClr val="tx2">
                    <a:lumMod val="60000"/>
                    <a:lumOff val="40000"/>
                  </a:schemeClr>
                </a:solidFill>
                <a:latin typeface="黑体" pitchFamily="49" charset="-122"/>
                <a:ea typeface="黑体" pitchFamily="49" charset="-122"/>
              </a:rPr>
              <a:t>)</a:t>
            </a:r>
          </a:p>
          <a:p>
            <a:pPr eaLnBrk="0" hangingPunct="0">
              <a:lnSpc>
                <a:spcPct val="150000"/>
              </a:lnSpc>
              <a:defRPr/>
            </a:pPr>
            <a:r>
              <a:rPr lang="zh-CN" altLang="zh-CN" sz="2400" dirty="0">
                <a:latin typeface="黑体" pitchFamily="49" charset="-122"/>
                <a:ea typeface="黑体" pitchFamily="49" charset="-122"/>
              </a:rPr>
              <a:t> </a:t>
            </a:r>
            <a:r>
              <a:rPr lang="zh-CN" sz="2400" dirty="0">
                <a:latin typeface="黑体" pitchFamily="49" charset="-122"/>
                <a:ea typeface="黑体" pitchFamily="49" charset="-122"/>
              </a:rPr>
              <a:t>　　下式也同样成立：　</a:t>
            </a:r>
          </a:p>
        </p:txBody>
      </p:sp>
      <p:sp>
        <p:nvSpPr>
          <p:cNvPr id="50179" name="矩形 3"/>
          <p:cNvSpPr>
            <a:spLocks noChangeArrowheads="1"/>
          </p:cNvSpPr>
          <p:nvPr/>
        </p:nvSpPr>
        <p:spPr bwMode="auto">
          <a:xfrm>
            <a:off x="1619250" y="5876925"/>
            <a:ext cx="5673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黑体" pitchFamily="2" charset="-122"/>
                <a:ea typeface="黑体" pitchFamily="2" charset="-122"/>
              </a:rPr>
              <a:t> [</a:t>
            </a:r>
            <a:r>
              <a:rPr lang="zh-CN" altLang="en-US" sz="2400">
                <a:latin typeface="黑体" pitchFamily="2" charset="-122"/>
                <a:ea typeface="黑体" pitchFamily="2" charset="-122"/>
              </a:rPr>
              <a:t>ｘ</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a:t>
            </a:r>
            <a:r>
              <a:rPr lang="en-US" altLang="zh-CN"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a:t>
            </a:r>
            <a:r>
              <a:rPr lang="en-US" altLang="zh-CN" sz="2400">
                <a:latin typeface="黑体" pitchFamily="2" charset="-122"/>
                <a:ea typeface="黑体" pitchFamily="2" charset="-122"/>
              </a:rPr>
              <a:t>[</a:t>
            </a:r>
            <a:r>
              <a:rPr lang="zh-CN" altLang="en-US" sz="2400" i="1">
                <a:latin typeface="黑体" pitchFamily="2" charset="-122"/>
                <a:ea typeface="黑体" pitchFamily="2" charset="-122"/>
              </a:rPr>
              <a:t>ｘ</a:t>
            </a:r>
            <a:r>
              <a:rPr lang="zh-CN" altLang="en-US" sz="2400">
                <a:latin typeface="黑体" pitchFamily="2" charset="-122"/>
                <a:ea typeface="黑体" pitchFamily="2" charset="-122"/>
              </a:rPr>
              <a:t>＋</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baseline="-25000">
                <a:latin typeface="黑体" pitchFamily="2" charset="-122"/>
                <a:ea typeface="黑体" pitchFamily="2" charset="-122"/>
              </a:rPr>
              <a:t>补</a:t>
            </a:r>
            <a:r>
              <a:rPr lang="zh-CN" altLang="en-US" sz="2400">
                <a:latin typeface="黑体" pitchFamily="2" charset="-122"/>
                <a:ea typeface="黑体" pitchFamily="2" charset="-122"/>
              </a:rPr>
              <a:t> </a:t>
            </a:r>
            <a:r>
              <a:rPr lang="en-US" altLang="zh-CN" sz="2400">
                <a:latin typeface="黑体" pitchFamily="2" charset="-122"/>
                <a:ea typeface="黑体" pitchFamily="2" charset="-122"/>
              </a:rPr>
              <a:t>(mod 2</a:t>
            </a:r>
            <a:r>
              <a:rPr lang="en-US" altLang="zh-CN" sz="2400" baseline="30000">
                <a:latin typeface="黑体" pitchFamily="2" charset="-122"/>
                <a:ea typeface="黑体" pitchFamily="2" charset="-122"/>
              </a:rPr>
              <a:t>n+2</a:t>
            </a:r>
            <a:r>
              <a:rPr lang="en-US" altLang="zh-CN" sz="2400">
                <a:latin typeface="黑体" pitchFamily="2" charset="-122"/>
                <a:ea typeface="黑体" pitchFamily="2" charset="-122"/>
              </a:rPr>
              <a:t>)</a:t>
            </a:r>
            <a:endParaRPr lang="zh-CN" altLang="en-US" sz="240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1"/>
          <p:cNvSpPr>
            <a:spLocks noChangeArrowheads="1"/>
          </p:cNvSpPr>
          <p:nvPr/>
        </p:nvSpPr>
        <p:spPr bwMode="auto">
          <a:xfrm>
            <a:off x="225232" y="1595438"/>
            <a:ext cx="8640638" cy="448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70000"/>
              </a:lnSpc>
            </a:pPr>
            <a:r>
              <a:rPr lang="zh-CN" altLang="en-US" sz="2400" dirty="0">
                <a:latin typeface="黑体" pitchFamily="2" charset="-122"/>
                <a:ea typeface="黑体" pitchFamily="2" charset="-122"/>
              </a:rPr>
              <a:t>   ** 为了得到两数变形补码之和等于两数之和的变形补码</a:t>
            </a:r>
            <a:r>
              <a:rPr lang="en-US" altLang="zh-CN" sz="2400" dirty="0">
                <a:latin typeface="黑体" pitchFamily="2" charset="-122"/>
                <a:ea typeface="黑体" pitchFamily="2" charset="-122"/>
              </a:rPr>
              <a:t>,</a:t>
            </a:r>
          </a:p>
          <a:p>
            <a:pPr>
              <a:lnSpc>
                <a:spcPct val="170000"/>
              </a:lnSpc>
            </a:pPr>
            <a:r>
              <a:rPr lang="zh-CN" altLang="en-US" sz="2400" dirty="0">
                <a:latin typeface="黑体" pitchFamily="2" charset="-122"/>
                <a:ea typeface="黑体" pitchFamily="2" charset="-122"/>
              </a:rPr>
              <a:t>同样必须：</a:t>
            </a:r>
          </a:p>
          <a:p>
            <a:pPr>
              <a:lnSpc>
                <a:spcPct val="170000"/>
              </a:lnSpc>
            </a:pPr>
            <a:r>
              <a:rPr lang="en-US" altLang="zh-CN" sz="2400" dirty="0">
                <a:latin typeface="黑体" pitchFamily="2" charset="-122"/>
                <a:ea typeface="黑体" pitchFamily="2" charset="-122"/>
              </a:rPr>
              <a:t>     1. </a:t>
            </a:r>
            <a:r>
              <a:rPr lang="zh-CN" altLang="en-US" sz="2400" dirty="0">
                <a:latin typeface="黑体" pitchFamily="2" charset="-122"/>
                <a:ea typeface="黑体" pitchFamily="2" charset="-122"/>
              </a:rPr>
              <a:t>两个符号位都看作数码一样参加运算</a:t>
            </a:r>
          </a:p>
          <a:p>
            <a:pPr>
              <a:lnSpc>
                <a:spcPct val="170000"/>
              </a:lnSpc>
            </a:pPr>
            <a:r>
              <a:rPr lang="en-US" altLang="zh-CN" sz="2400" dirty="0">
                <a:latin typeface="黑体" pitchFamily="2" charset="-122"/>
                <a:ea typeface="黑体" pitchFamily="2" charset="-122"/>
              </a:rPr>
              <a:t>     2. </a:t>
            </a:r>
            <a:r>
              <a:rPr lang="zh-CN" altLang="en-US" sz="2400" dirty="0">
                <a:latin typeface="黑体" pitchFamily="2" charset="-122"/>
                <a:ea typeface="黑体" pitchFamily="2" charset="-122"/>
              </a:rPr>
              <a:t>两数进行以</a:t>
            </a:r>
            <a:r>
              <a:rPr lang="en-US" altLang="zh-CN" sz="2400" dirty="0">
                <a:latin typeface="黑体" pitchFamily="2" charset="-122"/>
                <a:ea typeface="黑体" pitchFamily="2" charset="-122"/>
              </a:rPr>
              <a:t>2</a:t>
            </a:r>
            <a:r>
              <a:rPr lang="en-US" altLang="zh-CN" sz="2400" baseline="30000" dirty="0">
                <a:latin typeface="黑体" pitchFamily="2" charset="-122"/>
                <a:ea typeface="黑体" pitchFamily="2" charset="-122"/>
              </a:rPr>
              <a:t>n+2</a:t>
            </a:r>
            <a:r>
              <a:rPr lang="zh-CN" altLang="en-US" sz="2400" dirty="0">
                <a:latin typeface="黑体" pitchFamily="2" charset="-122"/>
                <a:ea typeface="黑体" pitchFamily="2" charset="-122"/>
              </a:rPr>
              <a:t>为模的加法</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即最高符号位上产生的进位要丢掉。</a:t>
            </a:r>
          </a:p>
          <a:p>
            <a:pPr>
              <a:lnSpc>
                <a:spcPct val="170000"/>
              </a:lnSpc>
            </a:pPr>
            <a:r>
              <a:rPr lang="zh-CN" altLang="en-US" sz="2400" dirty="0">
                <a:latin typeface="黑体" pitchFamily="2" charset="-122"/>
                <a:ea typeface="黑体" pitchFamily="2" charset="-122"/>
              </a:rPr>
              <a:t>　　采用变形补码后，如果两个数相加后，其结果的符号位出现“</a:t>
            </a:r>
            <a:r>
              <a:rPr lang="en-US" altLang="zh-CN" sz="2400" dirty="0">
                <a:latin typeface="黑体" pitchFamily="2" charset="-122"/>
                <a:ea typeface="黑体" pitchFamily="2" charset="-122"/>
              </a:rPr>
              <a:t>01</a:t>
            </a:r>
            <a:r>
              <a:rPr lang="zh-CN" altLang="en-US" sz="2400" dirty="0" smtClean="0">
                <a:latin typeface="黑体" pitchFamily="2" charset="-122"/>
                <a:ea typeface="黑体" pitchFamily="2" charset="-122"/>
              </a:rPr>
              <a:t>（正溢</a:t>
            </a:r>
            <a:r>
              <a:rPr lang="zh-CN" altLang="en-US" sz="2400" dirty="0">
                <a:latin typeface="黑体" pitchFamily="2" charset="-122"/>
                <a:ea typeface="黑体" pitchFamily="2" charset="-122"/>
              </a:rPr>
              <a:t>）”或“</a:t>
            </a:r>
            <a:r>
              <a:rPr lang="en-US" altLang="zh-CN" sz="2400" dirty="0">
                <a:latin typeface="黑体" pitchFamily="2" charset="-122"/>
                <a:ea typeface="黑体" pitchFamily="2" charset="-122"/>
              </a:rPr>
              <a:t>10</a:t>
            </a:r>
            <a:r>
              <a:rPr lang="zh-CN" altLang="en-US" sz="2400" dirty="0" smtClean="0">
                <a:latin typeface="黑体" pitchFamily="2" charset="-122"/>
                <a:ea typeface="黑体" pitchFamily="2" charset="-122"/>
              </a:rPr>
              <a:t>（负溢</a:t>
            </a:r>
            <a:r>
              <a:rPr lang="zh-CN" altLang="en-US" sz="2400" dirty="0">
                <a:latin typeface="黑体" pitchFamily="2" charset="-122"/>
                <a:ea typeface="黑体" pitchFamily="2" charset="-122"/>
              </a:rPr>
              <a:t>）”两种组合时</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表示发生溢出。</a:t>
            </a:r>
          </a:p>
        </p:txBody>
      </p:sp>
      <p:sp>
        <p:nvSpPr>
          <p:cNvPr id="51203" name="矩形 2"/>
          <p:cNvSpPr>
            <a:spLocks noChangeArrowheads="1"/>
          </p:cNvSpPr>
          <p:nvPr/>
        </p:nvSpPr>
        <p:spPr bwMode="auto">
          <a:xfrm>
            <a:off x="1009650" y="673100"/>
            <a:ext cx="6442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黑体" pitchFamily="2" charset="-122"/>
                <a:ea typeface="黑体" pitchFamily="2" charset="-122"/>
              </a:rPr>
              <a:t> </a:t>
            </a:r>
            <a:r>
              <a:rPr lang="en-US" altLang="zh-CN" sz="2800">
                <a:latin typeface="黑体" pitchFamily="2" charset="-122"/>
                <a:ea typeface="黑体" pitchFamily="2" charset="-122"/>
              </a:rPr>
              <a:t>[</a:t>
            </a:r>
            <a:r>
              <a:rPr lang="zh-CN" altLang="en-US" sz="2800">
                <a:latin typeface="黑体" pitchFamily="2" charset="-122"/>
                <a:ea typeface="黑体" pitchFamily="2" charset="-122"/>
              </a:rPr>
              <a:t>ｘ</a:t>
            </a:r>
            <a:r>
              <a:rPr lang="en-US" altLang="zh-CN" sz="2800">
                <a:latin typeface="黑体" pitchFamily="2" charset="-122"/>
                <a:ea typeface="黑体" pitchFamily="2" charset="-122"/>
              </a:rPr>
              <a:t>]</a:t>
            </a:r>
            <a:r>
              <a:rPr lang="zh-CN" altLang="en-US" sz="2800" baseline="-25000">
                <a:latin typeface="黑体" pitchFamily="2" charset="-122"/>
                <a:ea typeface="黑体" pitchFamily="2" charset="-122"/>
              </a:rPr>
              <a:t>补</a:t>
            </a:r>
            <a:r>
              <a:rPr lang="zh-CN" altLang="en-US" sz="2800">
                <a:latin typeface="黑体" pitchFamily="2" charset="-122"/>
                <a:ea typeface="黑体" pitchFamily="2" charset="-122"/>
              </a:rPr>
              <a:t>＋</a:t>
            </a:r>
            <a:r>
              <a:rPr lang="en-US" altLang="zh-CN" sz="2800">
                <a:latin typeface="黑体" pitchFamily="2" charset="-122"/>
                <a:ea typeface="黑体" pitchFamily="2" charset="-122"/>
              </a:rPr>
              <a:t>[</a:t>
            </a:r>
            <a:r>
              <a:rPr lang="zh-CN" altLang="en-US" sz="2800" i="1">
                <a:latin typeface="黑体" pitchFamily="2" charset="-122"/>
                <a:ea typeface="黑体" pitchFamily="2" charset="-122"/>
              </a:rPr>
              <a:t>ｙ</a:t>
            </a:r>
            <a:r>
              <a:rPr lang="en-US" altLang="zh-CN" sz="2800">
                <a:latin typeface="黑体" pitchFamily="2" charset="-122"/>
                <a:ea typeface="黑体" pitchFamily="2" charset="-122"/>
              </a:rPr>
              <a:t>]</a:t>
            </a:r>
            <a:r>
              <a:rPr lang="zh-CN" altLang="en-US" sz="2800" baseline="-25000">
                <a:latin typeface="黑体" pitchFamily="2" charset="-122"/>
                <a:ea typeface="黑体" pitchFamily="2" charset="-122"/>
              </a:rPr>
              <a:t>补</a:t>
            </a:r>
            <a:r>
              <a:rPr lang="zh-CN" altLang="en-US" sz="2800">
                <a:latin typeface="黑体" pitchFamily="2" charset="-122"/>
                <a:ea typeface="黑体" pitchFamily="2" charset="-122"/>
              </a:rPr>
              <a:t>＝</a:t>
            </a:r>
            <a:r>
              <a:rPr lang="en-US" altLang="zh-CN" sz="2800">
                <a:latin typeface="黑体" pitchFamily="2" charset="-122"/>
                <a:ea typeface="黑体" pitchFamily="2" charset="-122"/>
              </a:rPr>
              <a:t>[</a:t>
            </a:r>
            <a:r>
              <a:rPr lang="zh-CN" altLang="en-US" sz="2800" i="1">
                <a:latin typeface="黑体" pitchFamily="2" charset="-122"/>
                <a:ea typeface="黑体" pitchFamily="2" charset="-122"/>
              </a:rPr>
              <a:t>ｘ</a:t>
            </a:r>
            <a:r>
              <a:rPr lang="zh-CN" altLang="en-US" sz="2800">
                <a:latin typeface="黑体" pitchFamily="2" charset="-122"/>
                <a:ea typeface="黑体" pitchFamily="2" charset="-122"/>
              </a:rPr>
              <a:t>＋</a:t>
            </a:r>
            <a:r>
              <a:rPr lang="zh-CN" altLang="en-US" sz="2800" i="1">
                <a:latin typeface="黑体" pitchFamily="2" charset="-122"/>
                <a:ea typeface="黑体" pitchFamily="2" charset="-122"/>
              </a:rPr>
              <a:t>ｙ</a:t>
            </a:r>
            <a:r>
              <a:rPr lang="en-US" altLang="zh-CN" sz="2800">
                <a:latin typeface="黑体" pitchFamily="2" charset="-122"/>
                <a:ea typeface="黑体" pitchFamily="2" charset="-122"/>
              </a:rPr>
              <a:t>]</a:t>
            </a:r>
            <a:r>
              <a:rPr lang="zh-CN" altLang="en-US" sz="2800" baseline="-25000">
                <a:latin typeface="黑体" pitchFamily="2" charset="-122"/>
                <a:ea typeface="黑体" pitchFamily="2" charset="-122"/>
              </a:rPr>
              <a:t>补</a:t>
            </a:r>
            <a:r>
              <a:rPr lang="zh-CN" altLang="en-US" sz="2800">
                <a:latin typeface="黑体" pitchFamily="2" charset="-122"/>
                <a:ea typeface="黑体" pitchFamily="2" charset="-122"/>
              </a:rPr>
              <a:t> </a:t>
            </a:r>
            <a:r>
              <a:rPr lang="en-US" altLang="zh-CN" sz="2800">
                <a:latin typeface="黑体" pitchFamily="2" charset="-122"/>
                <a:ea typeface="黑体" pitchFamily="2" charset="-122"/>
              </a:rPr>
              <a:t>(mod 2</a:t>
            </a:r>
            <a:r>
              <a:rPr lang="en-US" altLang="zh-CN" sz="2800" baseline="30000">
                <a:latin typeface="黑体" pitchFamily="2" charset="-122"/>
                <a:ea typeface="黑体" pitchFamily="2" charset="-122"/>
              </a:rPr>
              <a:t>n+2</a:t>
            </a:r>
            <a:r>
              <a:rPr lang="en-US" altLang="zh-CN" sz="2800">
                <a:latin typeface="黑体" pitchFamily="2" charset="-122"/>
                <a:ea typeface="黑体" pitchFamily="2" charset="-122"/>
              </a:rPr>
              <a:t>)</a:t>
            </a:r>
            <a:endParaRPr lang="zh-CN" altLang="en-US" sz="280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4463" y="258763"/>
            <a:ext cx="8891587" cy="6462712"/>
          </a:xfrm>
          <a:prstGeom prst="rect">
            <a:avLst/>
          </a:prstGeom>
          <a:solidFill>
            <a:schemeClr val="bg1"/>
          </a:solidFill>
        </p:spPr>
        <p:txBody>
          <a:bodyPr>
            <a:spAutoFit/>
          </a:bodyPr>
          <a:lstStyle/>
          <a:p>
            <a:pPr>
              <a:lnSpc>
                <a:spcPct val="130000"/>
              </a:lnSpc>
              <a:defRPr/>
            </a:pPr>
            <a:r>
              <a:rPr lang="zh-CN" altLang="en-US" sz="2400" dirty="0">
                <a:latin typeface="黑体" pitchFamily="49" charset="-122"/>
                <a:ea typeface="黑体" pitchFamily="49" charset="-122"/>
              </a:rPr>
              <a:t>字长</a:t>
            </a:r>
            <a:r>
              <a:rPr lang="en-US" altLang="zh-CN" sz="2400" dirty="0">
                <a:latin typeface="黑体" pitchFamily="49" charset="-122"/>
                <a:ea typeface="黑体" pitchFamily="49" charset="-122"/>
              </a:rPr>
              <a:t>4</a:t>
            </a:r>
            <a:r>
              <a:rPr lang="zh-CN" altLang="en-US" sz="2400" dirty="0">
                <a:latin typeface="黑体" pitchFamily="49" charset="-122"/>
                <a:ea typeface="黑体" pitchFamily="49" charset="-122"/>
              </a:rPr>
              <a:t>位的定点正整数 </a:t>
            </a:r>
            <a:r>
              <a:rPr lang="en-US" altLang="zh-CN" sz="2400" dirty="0">
                <a:latin typeface="黑体" pitchFamily="49" charset="-122"/>
                <a:ea typeface="黑体" pitchFamily="49" charset="-122"/>
              </a:rPr>
              <a:t>2</a:t>
            </a:r>
            <a:r>
              <a:rPr lang="en-US" altLang="zh-CN" sz="2400" baseline="30000" dirty="0">
                <a:latin typeface="黑体" pitchFamily="49" charset="-122"/>
                <a:ea typeface="黑体" pitchFamily="49" charset="-122"/>
              </a:rPr>
              <a:t>3</a:t>
            </a:r>
            <a:r>
              <a:rPr lang="zh-CN" altLang="en-US" sz="2400" dirty="0">
                <a:latin typeface="黑体" pitchFamily="49" charset="-122"/>
                <a:ea typeface="黑体" pitchFamily="49" charset="-122"/>
              </a:rPr>
              <a:t>＞</a:t>
            </a:r>
            <a:r>
              <a:rPr lang="zh-CN" altLang="en-US" sz="2400" i="1" dirty="0">
                <a:latin typeface="黑体" pitchFamily="49" charset="-122"/>
                <a:ea typeface="黑体" pitchFamily="49" charset="-122"/>
              </a:rPr>
              <a:t>ｘ</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0 </a:t>
            </a:r>
            <a:r>
              <a:rPr lang="en-US" altLang="zh-CN" sz="2400" dirty="0">
                <a:solidFill>
                  <a:srgbClr val="FF0000"/>
                </a:solidFill>
                <a:latin typeface="黑体" pitchFamily="49" charset="-122"/>
                <a:ea typeface="黑体" pitchFamily="49" charset="-122"/>
              </a:rPr>
              <a:t>+111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+110</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a:t>
            </a:r>
            <a:r>
              <a:rPr lang="zh-CN" altLang="en-US" sz="2400" dirty="0">
                <a:solidFill>
                  <a:srgbClr val="FF0000"/>
                </a:solidFill>
                <a:latin typeface="黑体" pitchFamily="49" charset="-122"/>
                <a:ea typeface="黑体" pitchFamily="49" charset="-122"/>
              </a:rPr>
              <a:t>　</a:t>
            </a:r>
          </a:p>
          <a:p>
            <a:pPr>
              <a:lnSpc>
                <a:spcPct val="130000"/>
              </a:lnSpc>
              <a:defRPr/>
            </a:pPr>
            <a:r>
              <a:rPr lang="zh-CN" altLang="en-US" sz="2400" dirty="0">
                <a:latin typeface="黑体" pitchFamily="49" charset="-122"/>
                <a:ea typeface="黑体" pitchFamily="49" charset="-122"/>
              </a:rPr>
              <a:t>字长扩大一倍 </a:t>
            </a:r>
            <a:r>
              <a:rPr lang="en-US" altLang="zh-CN" sz="2400" dirty="0">
                <a:latin typeface="黑体" pitchFamily="49" charset="-122"/>
                <a:ea typeface="黑体" pitchFamily="49" charset="-122"/>
              </a:rPr>
              <a:t>2</a:t>
            </a:r>
            <a:r>
              <a:rPr lang="en-US" altLang="zh-CN" sz="2400" baseline="30000" dirty="0">
                <a:latin typeface="黑体" pitchFamily="49" charset="-122"/>
                <a:ea typeface="黑体" pitchFamily="49" charset="-122"/>
              </a:rPr>
              <a:t>3+1</a:t>
            </a:r>
            <a:r>
              <a:rPr lang="zh-CN" altLang="en-US" sz="2400" dirty="0">
                <a:latin typeface="黑体" pitchFamily="49" charset="-122"/>
                <a:ea typeface="黑体" pitchFamily="49" charset="-122"/>
              </a:rPr>
              <a:t>＞</a:t>
            </a:r>
            <a:r>
              <a:rPr lang="zh-CN" altLang="en-US" sz="2400" i="1" dirty="0">
                <a:latin typeface="黑体" pitchFamily="49" charset="-122"/>
                <a:ea typeface="黑体" pitchFamily="49" charset="-122"/>
              </a:rPr>
              <a:t>ｘ</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0 </a:t>
            </a:r>
            <a:r>
              <a:rPr lang="zh-CN" altLang="en-US" sz="2400" dirty="0">
                <a:latin typeface="黑体" pitchFamily="49" charset="-122"/>
                <a:ea typeface="黑体" pitchFamily="49" charset="-122"/>
              </a:rPr>
              <a:t>　</a:t>
            </a:r>
          </a:p>
          <a:p>
            <a:pPr>
              <a:lnSpc>
                <a:spcPct val="130000"/>
              </a:lnSpc>
              <a:defRPr/>
            </a:pPr>
            <a:r>
              <a:rPr lang="en-US" altLang="zh-CN" sz="2400" dirty="0">
                <a:latin typeface="黑体" pitchFamily="49" charset="-122"/>
                <a:ea typeface="黑体" pitchFamily="49" charset="-122"/>
              </a:rPr>
              <a:t> +1111</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+1110</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+1000</a:t>
            </a:r>
            <a:r>
              <a:rPr lang="zh-CN" altLang="en-US" sz="2400" dirty="0">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+ 0111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+0110</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+0000</a:t>
            </a:r>
            <a:r>
              <a:rPr lang="zh-CN" altLang="en-US" sz="2400" dirty="0">
                <a:latin typeface="黑体" pitchFamily="49" charset="-122"/>
                <a:ea typeface="黑体" pitchFamily="49" charset="-122"/>
              </a:rPr>
              <a:t>　</a:t>
            </a:r>
          </a:p>
          <a:p>
            <a:pPr>
              <a:lnSpc>
                <a:spcPct val="130000"/>
              </a:lnSpc>
              <a:defRPr/>
            </a:pPr>
            <a:r>
              <a:rPr lang="zh-CN" altLang="en-US" sz="2400" dirty="0">
                <a:latin typeface="黑体" pitchFamily="49" charset="-122"/>
                <a:ea typeface="黑体" pitchFamily="49" charset="-122"/>
              </a:rPr>
              <a:t>   补码：</a:t>
            </a:r>
            <a:r>
              <a:rPr lang="en-US" altLang="zh-CN" sz="2400" dirty="0">
                <a:solidFill>
                  <a:schemeClr val="tx2">
                    <a:lumMod val="60000"/>
                    <a:lumOff val="40000"/>
                  </a:schemeClr>
                </a:solidFill>
                <a:latin typeface="黑体" pitchFamily="49" charset="-122"/>
                <a:ea typeface="黑体" pitchFamily="49" charset="-122"/>
              </a:rPr>
              <a:t>01</a:t>
            </a:r>
            <a:r>
              <a:rPr lang="en-US" altLang="zh-CN" sz="2400" dirty="0">
                <a:latin typeface="黑体" pitchFamily="49" charset="-122"/>
                <a:ea typeface="黑体" pitchFamily="49" charset="-122"/>
              </a:rPr>
              <a:t>111</a:t>
            </a:r>
            <a:r>
              <a:rPr lang="zh-CN" altLang="en-US" sz="2400" dirty="0">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01</a:t>
            </a:r>
            <a:r>
              <a:rPr lang="en-US" altLang="zh-CN" sz="2400" dirty="0">
                <a:latin typeface="黑体" pitchFamily="49" charset="-122"/>
                <a:ea typeface="黑体" pitchFamily="49" charset="-122"/>
              </a:rPr>
              <a:t>110</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a:t>
            </a:r>
            <a:r>
              <a:rPr lang="zh-CN" altLang="en-US" sz="2400" dirty="0">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01</a:t>
            </a:r>
            <a:r>
              <a:rPr lang="en-US" altLang="zh-CN" sz="2400" dirty="0">
                <a:latin typeface="黑体" pitchFamily="49" charset="-122"/>
                <a:ea typeface="黑体" pitchFamily="49" charset="-122"/>
              </a:rPr>
              <a:t>001</a:t>
            </a:r>
            <a:r>
              <a:rPr lang="zh-CN" altLang="en-US" sz="2400" dirty="0">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01</a:t>
            </a:r>
            <a:r>
              <a:rPr lang="en-US" altLang="zh-CN" sz="2400" dirty="0">
                <a:latin typeface="黑体" pitchFamily="49" charset="-122"/>
                <a:ea typeface="黑体" pitchFamily="49" charset="-122"/>
              </a:rPr>
              <a:t>000</a:t>
            </a:r>
            <a:r>
              <a:rPr lang="zh-CN" altLang="en-US" sz="2400" dirty="0">
                <a:latin typeface="黑体" pitchFamily="49" charset="-122"/>
                <a:ea typeface="黑体" pitchFamily="49" charset="-122"/>
              </a:rPr>
              <a:t>、</a:t>
            </a:r>
          </a:p>
          <a:p>
            <a:pPr>
              <a:lnSpc>
                <a:spcPct val="130000"/>
              </a:lnSpc>
              <a:defRPr/>
            </a:pPr>
            <a:r>
              <a:rPr lang="zh-CN" altLang="en-US" sz="2400" dirty="0">
                <a:latin typeface="黑体" pitchFamily="49" charset="-122"/>
                <a:ea typeface="黑体" pitchFamily="49" charset="-122"/>
              </a:rPr>
              <a:t>　　　   </a:t>
            </a:r>
            <a:r>
              <a:rPr lang="en-US" altLang="zh-CN" sz="2400" dirty="0">
                <a:solidFill>
                  <a:srgbClr val="FF0000"/>
                </a:solidFill>
                <a:latin typeface="黑体" pitchFamily="49" charset="-122"/>
                <a:ea typeface="黑体" pitchFamily="49" charset="-122"/>
              </a:rPr>
              <a:t>00111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00110</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00001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00000</a:t>
            </a:r>
            <a:r>
              <a:rPr lang="zh-CN" altLang="en-US" sz="2400" dirty="0">
                <a:latin typeface="黑体" pitchFamily="49" charset="-122"/>
                <a:ea typeface="黑体" pitchFamily="49" charset="-122"/>
              </a:rPr>
              <a:t>　</a:t>
            </a:r>
          </a:p>
          <a:p>
            <a:pPr>
              <a:lnSpc>
                <a:spcPct val="130000"/>
              </a:lnSpc>
              <a:defRPr/>
            </a:pPr>
            <a:r>
              <a:rPr lang="zh-CN" altLang="en-US" sz="2400" dirty="0">
                <a:latin typeface="黑体" pitchFamily="49" charset="-122"/>
                <a:ea typeface="黑体" pitchFamily="49" charset="-122"/>
              </a:rPr>
              <a:t>   出现</a:t>
            </a:r>
            <a:r>
              <a:rPr lang="en-US" altLang="zh-CN" sz="2400" dirty="0" smtClean="0">
                <a:solidFill>
                  <a:schemeClr val="tx2">
                    <a:lumMod val="60000"/>
                    <a:lumOff val="40000"/>
                  </a:schemeClr>
                </a:solidFill>
                <a:latin typeface="黑体" pitchFamily="49" charset="-122"/>
                <a:ea typeface="黑体" pitchFamily="49" charset="-122"/>
              </a:rPr>
              <a:t>01</a:t>
            </a:r>
            <a:r>
              <a:rPr lang="zh-CN" altLang="en-US" sz="2400" dirty="0" smtClean="0">
                <a:latin typeface="黑体" pitchFamily="49" charset="-122"/>
                <a:ea typeface="黑体" pitchFamily="49" charset="-122"/>
              </a:rPr>
              <a:t>正溢</a:t>
            </a:r>
            <a:r>
              <a:rPr lang="zh-CN" altLang="en-US" sz="2400" dirty="0">
                <a:latin typeface="黑体" pitchFamily="49" charset="-122"/>
                <a:ea typeface="黑体" pitchFamily="49" charset="-122"/>
              </a:rPr>
              <a:t>、大于等于</a:t>
            </a:r>
            <a:r>
              <a:rPr lang="en-US" altLang="zh-CN" sz="2400" dirty="0">
                <a:latin typeface="黑体" pitchFamily="49" charset="-122"/>
                <a:ea typeface="黑体" pitchFamily="49" charset="-122"/>
              </a:rPr>
              <a:t>2</a:t>
            </a:r>
            <a:r>
              <a:rPr lang="en-US" altLang="zh-CN" sz="2400" baseline="30000" dirty="0">
                <a:latin typeface="黑体" pitchFamily="49" charset="-122"/>
                <a:ea typeface="黑体" pitchFamily="49" charset="-122"/>
              </a:rPr>
              <a:t>3</a:t>
            </a:r>
            <a:endParaRPr lang="zh-CN" altLang="en-US" sz="2400" dirty="0">
              <a:latin typeface="黑体" pitchFamily="49" charset="-122"/>
              <a:ea typeface="黑体" pitchFamily="49" charset="-122"/>
            </a:endParaRPr>
          </a:p>
          <a:p>
            <a:pPr>
              <a:lnSpc>
                <a:spcPts val="1000"/>
              </a:lnSpc>
              <a:defRPr/>
            </a:pPr>
            <a:r>
              <a:rPr lang="en-US" altLang="zh-CN" sz="2400" dirty="0">
                <a:latin typeface="黑体" pitchFamily="49" charset="-122"/>
                <a:ea typeface="黑体" pitchFamily="49" charset="-122"/>
              </a:rPr>
              <a:t>---------------------------------------------------------</a:t>
            </a:r>
          </a:p>
          <a:p>
            <a:pPr>
              <a:lnSpc>
                <a:spcPct val="130000"/>
              </a:lnSpc>
              <a:defRPr/>
            </a:pPr>
            <a:r>
              <a:rPr lang="zh-CN" altLang="en-US" sz="2400" dirty="0">
                <a:latin typeface="黑体" pitchFamily="49" charset="-122"/>
                <a:ea typeface="黑体" pitchFamily="49" charset="-122"/>
              </a:rPr>
              <a:t>字长</a:t>
            </a:r>
            <a:r>
              <a:rPr lang="en-US" altLang="zh-CN" sz="2400" dirty="0">
                <a:latin typeface="黑体" pitchFamily="49" charset="-122"/>
                <a:ea typeface="黑体" pitchFamily="49" charset="-122"/>
              </a:rPr>
              <a:t>4</a:t>
            </a:r>
            <a:r>
              <a:rPr lang="zh-CN" altLang="en-US" sz="2400" dirty="0">
                <a:latin typeface="黑体" pitchFamily="49" charset="-122"/>
                <a:ea typeface="黑体" pitchFamily="49" charset="-122"/>
              </a:rPr>
              <a:t>位的定点负整数 </a:t>
            </a:r>
            <a:r>
              <a:rPr lang="en-US" altLang="zh-CN" sz="2400" dirty="0" smtClean="0">
                <a:latin typeface="黑体" pitchFamily="49" charset="-122"/>
                <a:ea typeface="黑体" pitchFamily="49" charset="-122"/>
              </a:rPr>
              <a:t>0</a:t>
            </a:r>
            <a:r>
              <a:rPr lang="zh-CN" altLang="en-US" sz="2400" dirty="0" smtClean="0">
                <a:latin typeface="黑体" pitchFamily="49" charset="-122"/>
                <a:ea typeface="黑体" pitchFamily="49" charset="-122"/>
              </a:rPr>
              <a:t>≥</a:t>
            </a:r>
            <a:r>
              <a:rPr lang="zh-CN" altLang="en-US" sz="2400" i="1" dirty="0" smtClean="0">
                <a:latin typeface="黑体" pitchFamily="49" charset="-122"/>
                <a:ea typeface="黑体" pitchFamily="49" charset="-122"/>
              </a:rPr>
              <a:t>ｘ</a:t>
            </a:r>
            <a:r>
              <a:rPr lang="zh-CN" altLang="en-US" sz="2400" dirty="0">
                <a:latin typeface="黑体" pitchFamily="49" charset="-122"/>
                <a:ea typeface="黑体" pitchFamily="49" charset="-122"/>
              </a:rPr>
              <a:t>＞</a:t>
            </a:r>
            <a:r>
              <a:rPr lang="en-US" altLang="zh-CN" sz="2400" dirty="0" smtClean="0">
                <a:latin typeface="黑体" pitchFamily="49" charset="-122"/>
                <a:ea typeface="黑体" pitchFamily="49" charset="-122"/>
              </a:rPr>
              <a:t>-2</a:t>
            </a:r>
            <a:r>
              <a:rPr lang="en-US" altLang="zh-CN" sz="2400" baseline="30000" dirty="0" smtClean="0">
                <a:latin typeface="黑体" pitchFamily="49" charset="-122"/>
                <a:ea typeface="黑体" pitchFamily="49" charset="-122"/>
              </a:rPr>
              <a:t>3</a:t>
            </a:r>
            <a:r>
              <a:rPr lang="zh-CN" altLang="en-US" sz="2400" dirty="0">
                <a:latin typeface="黑体" pitchFamily="49" charset="-122"/>
                <a:ea typeface="黑体" pitchFamily="49" charset="-122"/>
              </a:rPr>
              <a:t>　</a:t>
            </a:r>
            <a:r>
              <a:rPr lang="en-US" altLang="zh-CN" sz="2400" dirty="0">
                <a:solidFill>
                  <a:srgbClr val="FF0000"/>
                </a:solidFill>
                <a:latin typeface="黑体" pitchFamily="49" charset="-122"/>
                <a:ea typeface="黑体" pitchFamily="49" charset="-122"/>
              </a:rPr>
              <a:t>-111,-110,…,-001,-000</a:t>
            </a:r>
            <a:r>
              <a:rPr lang="zh-CN" altLang="en-US" sz="2400" dirty="0">
                <a:solidFill>
                  <a:srgbClr val="FF0000"/>
                </a:solidFill>
                <a:latin typeface="黑体" pitchFamily="49" charset="-122"/>
                <a:ea typeface="黑体" pitchFamily="49" charset="-122"/>
              </a:rPr>
              <a:t>　</a:t>
            </a:r>
          </a:p>
          <a:p>
            <a:pPr>
              <a:lnSpc>
                <a:spcPct val="130000"/>
              </a:lnSpc>
              <a:defRPr/>
            </a:pPr>
            <a:r>
              <a:rPr lang="zh-CN" altLang="en-US" sz="2400" dirty="0">
                <a:latin typeface="黑体" pitchFamily="49" charset="-122"/>
                <a:ea typeface="黑体" pitchFamily="49" charset="-122"/>
              </a:rPr>
              <a:t>字长扩大一倍 </a:t>
            </a:r>
            <a:r>
              <a:rPr lang="en-US" altLang="zh-CN" sz="2400" dirty="0">
                <a:latin typeface="黑体" pitchFamily="49" charset="-122"/>
                <a:ea typeface="黑体" pitchFamily="49" charset="-122"/>
              </a:rPr>
              <a:t> 0</a:t>
            </a:r>
            <a:r>
              <a:rPr lang="zh-CN" altLang="en-US" sz="2400" dirty="0">
                <a:latin typeface="黑体" pitchFamily="49" charset="-122"/>
                <a:ea typeface="黑体" pitchFamily="49" charset="-122"/>
              </a:rPr>
              <a:t>≥</a:t>
            </a:r>
            <a:r>
              <a:rPr lang="zh-CN" altLang="en-US" sz="2400" i="1" dirty="0">
                <a:latin typeface="黑体" pitchFamily="49" charset="-122"/>
                <a:ea typeface="黑体" pitchFamily="49" charset="-122"/>
              </a:rPr>
              <a:t>ｘ</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a:t>
            </a:r>
            <a:r>
              <a:rPr lang="en-US" altLang="zh-CN" sz="2400" dirty="0" smtClean="0">
                <a:latin typeface="黑体" pitchFamily="49" charset="-122"/>
                <a:ea typeface="黑体" pitchFamily="49" charset="-122"/>
              </a:rPr>
              <a:t>2</a:t>
            </a:r>
            <a:r>
              <a:rPr lang="en-US" altLang="zh-CN" sz="2400" baseline="30000" dirty="0" smtClean="0">
                <a:latin typeface="黑体" pitchFamily="49" charset="-122"/>
                <a:ea typeface="黑体" pitchFamily="49" charset="-122"/>
              </a:rPr>
              <a:t>4</a:t>
            </a:r>
            <a:endParaRPr lang="zh-CN" altLang="en-US" sz="2400" dirty="0">
              <a:latin typeface="黑体" pitchFamily="49" charset="-122"/>
              <a:ea typeface="黑体" pitchFamily="49" charset="-122"/>
            </a:endParaRPr>
          </a:p>
          <a:p>
            <a:pPr>
              <a:lnSpc>
                <a:spcPct val="130000"/>
              </a:lnSpc>
              <a:defRPr/>
            </a:pPr>
            <a:r>
              <a:rPr lang="en-US" altLang="zh-CN" sz="2400" dirty="0">
                <a:latin typeface="黑体" pitchFamily="49" charset="-122"/>
                <a:ea typeface="黑体" pitchFamily="49" charset="-122"/>
              </a:rPr>
              <a:t>-1111</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-1110</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-1101 …</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-1001</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-1000</a:t>
            </a:r>
            <a:r>
              <a:rPr lang="zh-CN" altLang="en-US" sz="2400" dirty="0">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 </a:t>
            </a:r>
            <a:r>
              <a:rPr lang="en-US" altLang="zh-CN" sz="2400" dirty="0">
                <a:solidFill>
                  <a:srgbClr val="FF0000"/>
                </a:solidFill>
                <a:latin typeface="黑体" pitchFamily="49" charset="-122"/>
                <a:ea typeface="黑体" pitchFamily="49" charset="-122"/>
              </a:rPr>
              <a:t>-0111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-0110</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-0000</a:t>
            </a:r>
            <a:r>
              <a:rPr lang="zh-CN" altLang="en-US" sz="2400" dirty="0">
                <a:solidFill>
                  <a:srgbClr val="FF0000"/>
                </a:solidFill>
                <a:latin typeface="黑体" pitchFamily="49" charset="-122"/>
                <a:ea typeface="黑体" pitchFamily="49" charset="-122"/>
              </a:rPr>
              <a:t>　</a:t>
            </a:r>
          </a:p>
          <a:p>
            <a:pPr>
              <a:lnSpc>
                <a:spcPct val="130000"/>
              </a:lnSpc>
              <a:defRPr/>
            </a:pPr>
            <a:r>
              <a:rPr lang="zh-CN" altLang="en-US" sz="2400" dirty="0">
                <a:latin typeface="黑体" pitchFamily="49" charset="-122"/>
                <a:ea typeface="黑体" pitchFamily="49" charset="-122"/>
              </a:rPr>
              <a:t>补码：</a:t>
            </a:r>
            <a:r>
              <a:rPr lang="en-US" altLang="zh-CN" sz="2400" dirty="0">
                <a:solidFill>
                  <a:schemeClr val="tx2">
                    <a:lumMod val="60000"/>
                    <a:lumOff val="40000"/>
                  </a:schemeClr>
                </a:solidFill>
                <a:latin typeface="黑体" pitchFamily="49" charset="-122"/>
                <a:ea typeface="黑体" pitchFamily="49" charset="-122"/>
              </a:rPr>
              <a:t>10</a:t>
            </a:r>
            <a:r>
              <a:rPr lang="en-US" altLang="zh-CN" sz="2400" dirty="0">
                <a:latin typeface="黑体" pitchFamily="49" charset="-122"/>
                <a:ea typeface="黑体" pitchFamily="49" charset="-122"/>
              </a:rPr>
              <a:t>001</a:t>
            </a:r>
            <a:r>
              <a:rPr lang="zh-CN" altLang="en-US" sz="2400" dirty="0">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10</a:t>
            </a:r>
            <a:r>
              <a:rPr lang="en-US" altLang="zh-CN" sz="2400" dirty="0">
                <a:latin typeface="黑体" pitchFamily="49" charset="-122"/>
                <a:ea typeface="黑体" pitchFamily="49" charset="-122"/>
              </a:rPr>
              <a:t>010</a:t>
            </a:r>
            <a:r>
              <a:rPr lang="zh-CN" altLang="en-US" sz="2400" dirty="0">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10</a:t>
            </a:r>
            <a:r>
              <a:rPr lang="en-US" altLang="zh-CN" sz="2400" dirty="0">
                <a:latin typeface="黑体" pitchFamily="49" charset="-122"/>
                <a:ea typeface="黑体" pitchFamily="49" charset="-122"/>
              </a:rPr>
              <a:t>011 …</a:t>
            </a:r>
            <a:r>
              <a:rPr lang="zh-CN" altLang="en-US" sz="2400" dirty="0">
                <a:latin typeface="黑体" pitchFamily="49" charset="-122"/>
                <a:ea typeface="黑体" pitchFamily="49" charset="-122"/>
              </a:rPr>
              <a:t>、</a:t>
            </a:r>
            <a:r>
              <a:rPr lang="en-US" altLang="zh-CN" sz="2400" dirty="0">
                <a:solidFill>
                  <a:schemeClr val="tx2">
                    <a:lumMod val="60000"/>
                    <a:lumOff val="40000"/>
                  </a:schemeClr>
                </a:solidFill>
                <a:latin typeface="黑体" pitchFamily="49" charset="-122"/>
                <a:ea typeface="黑体" pitchFamily="49" charset="-122"/>
              </a:rPr>
              <a:t>10</a:t>
            </a:r>
            <a:r>
              <a:rPr lang="en-US" altLang="zh-CN" sz="2400" dirty="0">
                <a:latin typeface="黑体" pitchFamily="49" charset="-122"/>
                <a:ea typeface="黑体" pitchFamily="49" charset="-122"/>
              </a:rPr>
              <a:t>111</a:t>
            </a:r>
            <a:r>
              <a:rPr lang="zh-CN" altLang="en-US" sz="2400" dirty="0" smtClean="0">
                <a:latin typeface="黑体" pitchFamily="49" charset="-122"/>
                <a:ea typeface="黑体" pitchFamily="49" charset="-122"/>
              </a:rPr>
              <a:t>、</a:t>
            </a:r>
            <a:endParaRPr lang="zh-CN" altLang="en-US" sz="2400" dirty="0">
              <a:latin typeface="黑体" pitchFamily="49" charset="-122"/>
              <a:ea typeface="黑体" pitchFamily="49" charset="-122"/>
            </a:endParaRPr>
          </a:p>
          <a:p>
            <a:pPr>
              <a:lnSpc>
                <a:spcPct val="130000"/>
              </a:lnSpc>
              <a:defRPr/>
            </a:pPr>
            <a:r>
              <a:rPr lang="zh-CN" altLang="en-US" sz="2400" dirty="0">
                <a:latin typeface="黑体" pitchFamily="49" charset="-122"/>
                <a:ea typeface="黑体" pitchFamily="49" charset="-122"/>
              </a:rPr>
              <a:t>　　　</a:t>
            </a:r>
            <a:r>
              <a:rPr lang="en-US" altLang="zh-CN" sz="2400" dirty="0">
                <a:solidFill>
                  <a:srgbClr val="FF0000"/>
                </a:solidFill>
                <a:latin typeface="黑体" pitchFamily="49" charset="-122"/>
                <a:ea typeface="黑体" pitchFamily="49" charset="-122"/>
              </a:rPr>
              <a:t>11000</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11001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11010</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11111</a:t>
            </a:r>
            <a:r>
              <a:rPr lang="zh-CN" altLang="en-US" sz="2400" dirty="0">
                <a:solidFill>
                  <a:srgbClr val="FF000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00000</a:t>
            </a:r>
            <a:r>
              <a:rPr lang="zh-CN" altLang="en-US" sz="2400" dirty="0">
                <a:latin typeface="黑体" pitchFamily="49" charset="-122"/>
                <a:ea typeface="黑体" pitchFamily="49" charset="-122"/>
              </a:rPr>
              <a:t>　</a:t>
            </a:r>
          </a:p>
          <a:p>
            <a:pPr>
              <a:lnSpc>
                <a:spcPct val="130000"/>
              </a:lnSpc>
              <a:defRPr/>
            </a:pPr>
            <a:r>
              <a:rPr lang="zh-CN" altLang="en-US" sz="2400" dirty="0">
                <a:latin typeface="黑体" pitchFamily="49" charset="-122"/>
                <a:ea typeface="黑体" pitchFamily="49" charset="-122"/>
              </a:rPr>
              <a:t>    出现</a:t>
            </a:r>
            <a:r>
              <a:rPr lang="en-US" altLang="zh-CN" sz="2400" dirty="0" smtClean="0">
                <a:solidFill>
                  <a:schemeClr val="tx2">
                    <a:lumMod val="60000"/>
                    <a:lumOff val="40000"/>
                  </a:schemeClr>
                </a:solidFill>
                <a:latin typeface="黑体" pitchFamily="49" charset="-122"/>
                <a:ea typeface="黑体" pitchFamily="49" charset="-122"/>
              </a:rPr>
              <a:t>10</a:t>
            </a:r>
            <a:r>
              <a:rPr lang="zh-CN" altLang="en-US" sz="2400" dirty="0" smtClean="0">
                <a:latin typeface="黑体" pitchFamily="49" charset="-122"/>
                <a:ea typeface="黑体" pitchFamily="49" charset="-122"/>
              </a:rPr>
              <a:t>负溢</a:t>
            </a:r>
            <a:r>
              <a:rPr lang="zh-CN" altLang="en-US" sz="2400" dirty="0">
                <a:latin typeface="黑体" pitchFamily="49" charset="-122"/>
                <a:ea typeface="黑体" pitchFamily="49" charset="-122"/>
              </a:rPr>
              <a:t>、小于</a:t>
            </a:r>
            <a:r>
              <a:rPr lang="en-US" altLang="zh-CN" sz="2400" dirty="0">
                <a:latin typeface="黑体" pitchFamily="49" charset="-122"/>
                <a:ea typeface="黑体" pitchFamily="49" charset="-122"/>
              </a:rPr>
              <a:t>-</a:t>
            </a:r>
            <a:r>
              <a:rPr lang="en-US" altLang="zh-CN" sz="2400" dirty="0" smtClean="0">
                <a:latin typeface="黑体" pitchFamily="49" charset="-122"/>
                <a:ea typeface="黑体" pitchFamily="49" charset="-122"/>
              </a:rPr>
              <a:t>2</a:t>
            </a:r>
            <a:r>
              <a:rPr lang="en-US" altLang="zh-CN" sz="2400" baseline="30000" dirty="0" smtClean="0">
                <a:latin typeface="黑体" pitchFamily="49" charset="-122"/>
                <a:ea typeface="黑体" pitchFamily="49" charset="-122"/>
              </a:rPr>
              <a:t>3</a:t>
            </a:r>
            <a:endParaRPr lang="zh-CN" altLang="en-US" sz="2400" dirty="0">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1"/>
          <p:cNvSpPr>
            <a:spLocks noChangeArrowheads="1"/>
          </p:cNvSpPr>
          <p:nvPr/>
        </p:nvSpPr>
        <p:spPr bwMode="auto">
          <a:xfrm>
            <a:off x="395288" y="404813"/>
            <a:ext cx="76327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200000"/>
              </a:lnSpc>
            </a:pPr>
            <a:r>
              <a:rPr lang="zh-CN" altLang="en-US" sz="2400">
                <a:latin typeface="黑体" pitchFamily="2" charset="-122"/>
                <a:ea typeface="黑体" pitchFamily="2" charset="-122"/>
              </a:rPr>
              <a:t>    由此可以得出如下结论：</a:t>
            </a:r>
          </a:p>
          <a:p>
            <a:pPr>
              <a:lnSpc>
                <a:spcPct val="200000"/>
              </a:lnSpc>
            </a:pPr>
            <a:r>
              <a:rPr lang="en-US" altLang="zh-CN" sz="2400">
                <a:latin typeface="黑体" pitchFamily="2" charset="-122"/>
                <a:ea typeface="黑体" pitchFamily="2" charset="-122"/>
              </a:rPr>
              <a:t>    1. </a:t>
            </a:r>
            <a:r>
              <a:rPr lang="zh-CN" altLang="en-US" sz="2400">
                <a:latin typeface="黑体" pitchFamily="2" charset="-122"/>
                <a:ea typeface="黑体" pitchFamily="2" charset="-122"/>
              </a:rPr>
              <a:t>当以模</a:t>
            </a:r>
            <a:r>
              <a:rPr lang="en-US" altLang="zh-CN" sz="2400" b="1">
                <a:latin typeface="黑体" pitchFamily="2" charset="-122"/>
                <a:ea typeface="黑体" pitchFamily="2" charset="-122"/>
              </a:rPr>
              <a:t>2</a:t>
            </a:r>
            <a:r>
              <a:rPr lang="en-US" altLang="zh-CN" sz="2400" b="1" baseline="30000">
                <a:latin typeface="黑体" pitchFamily="2" charset="-122"/>
                <a:ea typeface="黑体" pitchFamily="2" charset="-122"/>
              </a:rPr>
              <a:t>n+2</a:t>
            </a:r>
            <a:r>
              <a:rPr lang="zh-CN" altLang="en-US" sz="2400">
                <a:latin typeface="黑体" pitchFamily="2" charset="-122"/>
                <a:ea typeface="黑体" pitchFamily="2" charset="-122"/>
              </a:rPr>
              <a:t>补码运算</a:t>
            </a:r>
            <a:r>
              <a:rPr lang="en-US" altLang="zh-CN" sz="2400">
                <a:latin typeface="黑体" pitchFamily="2" charset="-122"/>
                <a:ea typeface="黑体" pitchFamily="2" charset="-122"/>
              </a:rPr>
              <a:t>,</a:t>
            </a:r>
            <a:r>
              <a:rPr lang="zh-CN" altLang="en-US" sz="2400">
                <a:latin typeface="黑体" pitchFamily="2" charset="-122"/>
                <a:ea typeface="黑体" pitchFamily="2" charset="-122"/>
              </a:rPr>
              <a:t>运算结果的二符号位相异时</a:t>
            </a:r>
            <a:r>
              <a:rPr lang="en-US" altLang="zh-CN" sz="2400">
                <a:latin typeface="黑体" pitchFamily="2" charset="-122"/>
                <a:ea typeface="黑体" pitchFamily="2" charset="-122"/>
              </a:rPr>
              <a:t>,</a:t>
            </a:r>
            <a:r>
              <a:rPr lang="zh-CN" altLang="en-US" sz="2400">
                <a:latin typeface="黑体" pitchFamily="2" charset="-122"/>
                <a:ea typeface="黑体" pitchFamily="2" charset="-122"/>
              </a:rPr>
              <a:t>表示溢出；相同时</a:t>
            </a:r>
            <a:r>
              <a:rPr lang="en-US" altLang="zh-CN" sz="2400">
                <a:latin typeface="黑体" pitchFamily="2" charset="-122"/>
                <a:ea typeface="黑体" pitchFamily="2" charset="-122"/>
              </a:rPr>
              <a:t>,</a:t>
            </a:r>
            <a:r>
              <a:rPr lang="zh-CN" altLang="en-US" sz="2400">
                <a:latin typeface="黑体" pitchFamily="2" charset="-122"/>
                <a:ea typeface="黑体" pitchFamily="2" charset="-122"/>
              </a:rPr>
              <a:t>表示未溢出。</a:t>
            </a:r>
            <a:endParaRPr lang="en-US" altLang="zh-CN" sz="2400">
              <a:latin typeface="黑体" pitchFamily="2" charset="-122"/>
              <a:ea typeface="黑体" pitchFamily="2" charset="-122"/>
            </a:endParaRPr>
          </a:p>
          <a:p>
            <a:pPr>
              <a:lnSpc>
                <a:spcPct val="20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故溢出逻辑表达式为</a:t>
            </a:r>
            <a:r>
              <a:rPr lang="en-US" altLang="zh-CN" sz="2400" i="1">
                <a:latin typeface="黑体" pitchFamily="2" charset="-122"/>
                <a:ea typeface="黑体" pitchFamily="2" charset="-122"/>
              </a:rPr>
              <a:t>V</a:t>
            </a:r>
            <a:r>
              <a:rPr lang="zh-CN" altLang="en-US" sz="2400">
                <a:latin typeface="黑体" pitchFamily="2" charset="-122"/>
                <a:ea typeface="黑体" pitchFamily="2" charset="-122"/>
              </a:rPr>
              <a:t>＝</a:t>
            </a:r>
            <a:r>
              <a:rPr lang="en-US" altLang="zh-CN" sz="2400" i="1">
                <a:latin typeface="黑体" pitchFamily="2" charset="-122"/>
                <a:ea typeface="黑体" pitchFamily="2" charset="-122"/>
              </a:rPr>
              <a:t>S</a:t>
            </a:r>
            <a:r>
              <a:rPr lang="en-US" altLang="zh-CN" sz="2400" i="1" baseline="-25000">
                <a:latin typeface="黑体" pitchFamily="2" charset="-122"/>
                <a:ea typeface="黑体" pitchFamily="2" charset="-122"/>
              </a:rPr>
              <a:t>f</a:t>
            </a:r>
            <a:r>
              <a:rPr lang="en-US" altLang="zh-CN" sz="2400" baseline="-25000">
                <a:latin typeface="黑体" pitchFamily="2" charset="-122"/>
                <a:ea typeface="黑体" pitchFamily="2" charset="-122"/>
              </a:rPr>
              <a:t>1</a:t>
            </a:r>
            <a:r>
              <a:rPr lang="zh-CN" altLang="en-US" sz="2400">
                <a:latin typeface="黑体" pitchFamily="2" charset="-122"/>
                <a:ea typeface="黑体" pitchFamily="2" charset="-122"/>
              </a:rPr>
              <a:t>⊕</a:t>
            </a:r>
            <a:r>
              <a:rPr lang="en-US" altLang="zh-CN" sz="2400" i="1">
                <a:latin typeface="黑体" pitchFamily="2" charset="-122"/>
                <a:ea typeface="黑体" pitchFamily="2" charset="-122"/>
              </a:rPr>
              <a:t>S</a:t>
            </a:r>
            <a:r>
              <a:rPr lang="en-US" altLang="zh-CN" sz="2400" i="1" baseline="-25000">
                <a:latin typeface="黑体" pitchFamily="2" charset="-122"/>
                <a:ea typeface="黑体" pitchFamily="2" charset="-122"/>
              </a:rPr>
              <a:t>f</a:t>
            </a:r>
            <a:r>
              <a:rPr lang="en-US" altLang="zh-CN" sz="2400" baseline="-25000">
                <a:latin typeface="黑体" pitchFamily="2" charset="-122"/>
                <a:ea typeface="黑体" pitchFamily="2" charset="-122"/>
              </a:rPr>
              <a:t>2</a:t>
            </a:r>
            <a:r>
              <a:rPr lang="en-US" altLang="zh-CN" sz="2400">
                <a:latin typeface="黑体" pitchFamily="2" charset="-122"/>
                <a:ea typeface="黑体" pitchFamily="2" charset="-122"/>
              </a:rPr>
              <a:t>,</a:t>
            </a:r>
            <a:r>
              <a:rPr lang="zh-CN" altLang="en-US" sz="2400">
                <a:latin typeface="黑体" pitchFamily="2" charset="-122"/>
                <a:ea typeface="黑体" pitchFamily="2" charset="-122"/>
              </a:rPr>
              <a:t>其中</a:t>
            </a:r>
            <a:r>
              <a:rPr lang="en-US" altLang="zh-CN" sz="2400" i="1">
                <a:latin typeface="黑体" pitchFamily="2" charset="-122"/>
                <a:ea typeface="黑体" pitchFamily="2" charset="-122"/>
              </a:rPr>
              <a:t>S</a:t>
            </a:r>
            <a:r>
              <a:rPr lang="en-US" altLang="zh-CN" sz="2400" i="1" baseline="-25000">
                <a:latin typeface="黑体" pitchFamily="2" charset="-122"/>
                <a:ea typeface="黑体" pitchFamily="2" charset="-122"/>
              </a:rPr>
              <a:t>f</a:t>
            </a:r>
            <a:r>
              <a:rPr lang="en-US" altLang="zh-CN" sz="2400" baseline="-25000">
                <a:latin typeface="黑体" pitchFamily="2" charset="-122"/>
                <a:ea typeface="黑体" pitchFamily="2" charset="-122"/>
              </a:rPr>
              <a:t>1</a:t>
            </a:r>
            <a:r>
              <a:rPr lang="zh-CN" altLang="en-US" sz="2400">
                <a:latin typeface="黑体" pitchFamily="2" charset="-122"/>
                <a:ea typeface="黑体" pitchFamily="2" charset="-122"/>
              </a:rPr>
              <a:t>和</a:t>
            </a:r>
            <a:r>
              <a:rPr lang="en-US" altLang="zh-CN" sz="2400" i="1">
                <a:latin typeface="黑体" pitchFamily="2" charset="-122"/>
                <a:ea typeface="黑体" pitchFamily="2" charset="-122"/>
              </a:rPr>
              <a:t>S</a:t>
            </a:r>
            <a:r>
              <a:rPr lang="en-US" altLang="zh-CN" sz="2400" i="1" baseline="-25000">
                <a:latin typeface="黑体" pitchFamily="2" charset="-122"/>
                <a:ea typeface="黑体" pitchFamily="2" charset="-122"/>
              </a:rPr>
              <a:t>f</a:t>
            </a:r>
            <a:r>
              <a:rPr lang="en-US" altLang="zh-CN" sz="2400" baseline="-25000">
                <a:latin typeface="黑体" pitchFamily="2" charset="-122"/>
                <a:ea typeface="黑体" pitchFamily="2" charset="-122"/>
              </a:rPr>
              <a:t>2</a:t>
            </a:r>
            <a:r>
              <a:rPr lang="zh-CN" altLang="en-US" sz="2400">
                <a:latin typeface="黑体" pitchFamily="2" charset="-122"/>
                <a:ea typeface="黑体" pitchFamily="2" charset="-122"/>
              </a:rPr>
              <a:t>分别为最高符号位和第二符号位。此逻辑表达式可用异或门实现。</a:t>
            </a:r>
          </a:p>
          <a:p>
            <a:pPr>
              <a:lnSpc>
                <a:spcPct val="200000"/>
              </a:lnSpc>
            </a:pPr>
            <a:r>
              <a:rPr lang="en-US" altLang="zh-CN" sz="2400">
                <a:latin typeface="黑体" pitchFamily="2" charset="-122"/>
                <a:ea typeface="黑体" pitchFamily="2" charset="-122"/>
              </a:rPr>
              <a:t>     2. </a:t>
            </a:r>
            <a:r>
              <a:rPr lang="zh-CN" altLang="en-US" sz="2400">
                <a:latin typeface="黑体" pitchFamily="2" charset="-122"/>
                <a:ea typeface="黑体" pitchFamily="2" charset="-122"/>
              </a:rPr>
              <a:t>模</a:t>
            </a:r>
            <a:r>
              <a:rPr lang="en-US" altLang="zh-CN" sz="2400" b="1">
                <a:latin typeface="黑体" pitchFamily="2" charset="-122"/>
                <a:ea typeface="黑体" pitchFamily="2" charset="-122"/>
              </a:rPr>
              <a:t>2</a:t>
            </a:r>
            <a:r>
              <a:rPr lang="en-US" altLang="zh-CN" sz="2400" b="1" baseline="30000">
                <a:latin typeface="黑体" pitchFamily="2" charset="-122"/>
                <a:ea typeface="黑体" pitchFamily="2" charset="-122"/>
              </a:rPr>
              <a:t>n+2</a:t>
            </a:r>
            <a:r>
              <a:rPr lang="zh-CN" altLang="en-US" sz="2400">
                <a:latin typeface="黑体" pitchFamily="2" charset="-122"/>
                <a:ea typeface="黑体" pitchFamily="2" charset="-122"/>
              </a:rPr>
              <a:t>补码相加的结果</a:t>
            </a:r>
            <a:r>
              <a:rPr lang="en-US" altLang="zh-CN" sz="2400">
                <a:latin typeface="黑体" pitchFamily="2" charset="-122"/>
                <a:ea typeface="黑体" pitchFamily="2" charset="-122"/>
              </a:rPr>
              <a:t>,</a:t>
            </a:r>
            <a:r>
              <a:rPr lang="zh-CN" altLang="en-US" sz="2400">
                <a:latin typeface="黑体" pitchFamily="2" charset="-122"/>
                <a:ea typeface="黑体" pitchFamily="2" charset="-122"/>
              </a:rPr>
              <a:t>不论溢出与否</a:t>
            </a:r>
            <a:r>
              <a:rPr lang="en-US" altLang="zh-CN" sz="2400">
                <a:latin typeface="黑体" pitchFamily="2" charset="-122"/>
                <a:ea typeface="黑体" pitchFamily="2" charset="-122"/>
              </a:rPr>
              <a:t>,</a:t>
            </a:r>
            <a:r>
              <a:rPr lang="zh-CN" altLang="en-US" sz="2400">
                <a:latin typeface="黑体" pitchFamily="2" charset="-122"/>
                <a:ea typeface="黑体" pitchFamily="2" charset="-122"/>
              </a:rPr>
              <a:t>最高符号位始终指示正确的符号。 　</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250825" y="73025"/>
            <a:ext cx="8642350"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dirty="0">
                <a:latin typeface="黑体" pitchFamily="2" charset="-122"/>
                <a:ea typeface="黑体" pitchFamily="2" charset="-122"/>
              </a:rPr>
              <a:t>[例] </a:t>
            </a:r>
            <a:r>
              <a:rPr lang="zh-CN" altLang="zh-CN" sz="2400" i="1" dirty="0">
                <a:latin typeface="黑体" pitchFamily="2" charset="-122"/>
                <a:ea typeface="黑体" pitchFamily="2" charset="-122"/>
              </a:rPr>
              <a:t>ｘ</a:t>
            </a:r>
            <a:r>
              <a:rPr lang="zh-CN" altLang="zh-CN" sz="2400" dirty="0">
                <a:latin typeface="黑体" pitchFamily="2" charset="-122"/>
                <a:ea typeface="黑体" pitchFamily="2" charset="-122"/>
              </a:rPr>
              <a:t>＝＋1100, </a:t>
            </a:r>
            <a:r>
              <a:rPr lang="zh-CN" altLang="zh-CN" sz="2400" i="1" dirty="0">
                <a:latin typeface="黑体" pitchFamily="2" charset="-122"/>
                <a:ea typeface="黑体" pitchFamily="2" charset="-122"/>
              </a:rPr>
              <a:t>ｙ</a:t>
            </a:r>
            <a:r>
              <a:rPr lang="zh-CN" altLang="zh-CN" sz="2400" dirty="0">
                <a:latin typeface="黑体" pitchFamily="2" charset="-122"/>
                <a:ea typeface="黑体" pitchFamily="2" charset="-122"/>
              </a:rPr>
              <a:t>＝＋1000,求</a:t>
            </a:r>
            <a:r>
              <a:rPr lang="zh-CN" altLang="zh-CN" sz="2400" i="1" dirty="0">
                <a:latin typeface="黑体" pitchFamily="2" charset="-122"/>
                <a:ea typeface="黑体" pitchFamily="2" charset="-122"/>
              </a:rPr>
              <a:t>ｘ</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ｙ。</a:t>
            </a:r>
            <a:endParaRPr lang="zh-CN" altLang="zh-CN" sz="2400" dirty="0">
              <a:latin typeface="黑体" pitchFamily="2" charset="-122"/>
              <a:ea typeface="黑体" pitchFamily="2" charset="-122"/>
            </a:endParaRPr>
          </a:p>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解:</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dirty="0">
                <a:latin typeface="黑体" pitchFamily="2" charset="-122"/>
                <a:ea typeface="黑体" pitchFamily="2" charset="-122"/>
              </a:rPr>
              <a:t>]</a:t>
            </a:r>
            <a:r>
              <a:rPr lang="zh-CN" altLang="zh-CN" sz="2400" baseline="-30000" dirty="0">
                <a:latin typeface="黑体" pitchFamily="2" charset="-122"/>
                <a:ea typeface="黑体" pitchFamily="2" charset="-122"/>
              </a:rPr>
              <a:t>补</a:t>
            </a:r>
            <a:r>
              <a:rPr lang="zh-CN" altLang="zh-CN" sz="2400" dirty="0">
                <a:latin typeface="黑体" pitchFamily="2" charset="-122"/>
                <a:ea typeface="黑体" pitchFamily="2" charset="-122"/>
              </a:rPr>
              <a:t>＝001100,　[</a:t>
            </a:r>
            <a:r>
              <a:rPr lang="zh-CN" altLang="zh-CN" sz="2400" i="1" dirty="0">
                <a:latin typeface="黑体" pitchFamily="2" charset="-122"/>
                <a:ea typeface="黑体" pitchFamily="2" charset="-122"/>
              </a:rPr>
              <a:t>ｙ</a:t>
            </a:r>
            <a:r>
              <a:rPr lang="zh-CN" altLang="zh-CN" sz="2400" dirty="0">
                <a:latin typeface="黑体" pitchFamily="2" charset="-122"/>
                <a:ea typeface="黑体" pitchFamily="2" charset="-122"/>
              </a:rPr>
              <a:t>]</a:t>
            </a:r>
            <a:r>
              <a:rPr lang="zh-CN" altLang="zh-CN" sz="2400" baseline="-30000" dirty="0">
                <a:latin typeface="黑体" pitchFamily="2" charset="-122"/>
                <a:ea typeface="黑体" pitchFamily="2" charset="-122"/>
              </a:rPr>
              <a:t>补</a:t>
            </a:r>
            <a:r>
              <a:rPr lang="zh-CN" altLang="zh-CN" sz="2400" dirty="0">
                <a:latin typeface="黑体" pitchFamily="2" charset="-122"/>
                <a:ea typeface="黑体" pitchFamily="2" charset="-122"/>
              </a:rPr>
              <a:t>＝001000</a:t>
            </a:r>
          </a:p>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dirty="0">
                <a:latin typeface="黑体" pitchFamily="2" charset="-122"/>
                <a:ea typeface="黑体" pitchFamily="2" charset="-122"/>
              </a:rPr>
              <a:t>]</a:t>
            </a:r>
            <a:r>
              <a:rPr lang="zh-CN" altLang="zh-CN" sz="2400" baseline="-30000" dirty="0">
                <a:latin typeface="黑体" pitchFamily="2" charset="-122"/>
                <a:ea typeface="黑体" pitchFamily="2" charset="-122"/>
              </a:rPr>
              <a:t>补</a:t>
            </a:r>
            <a:r>
              <a:rPr lang="zh-CN" altLang="zh-CN" sz="2400" dirty="0">
                <a:latin typeface="黑体" pitchFamily="2" charset="-122"/>
                <a:ea typeface="黑体" pitchFamily="2" charset="-122"/>
              </a:rPr>
              <a:t>　　　001100</a:t>
            </a:r>
          </a:p>
          <a:p>
            <a:pPr eaLnBrk="0" hangingPunct="0">
              <a:lnSpc>
                <a:spcPct val="150000"/>
              </a:lnSpc>
            </a:pPr>
            <a:r>
              <a:rPr lang="en-US" altLang="zh-CN" sz="2400" dirty="0">
                <a:latin typeface="黑体" pitchFamily="2" charset="-122"/>
                <a:ea typeface="黑体" pitchFamily="2" charset="-122"/>
              </a:rPr>
              <a:t>    </a:t>
            </a:r>
            <a:r>
              <a:rPr lang="en-US" altLang="zh-CN" sz="2400" u="sng" dirty="0">
                <a:latin typeface="黑体" pitchFamily="2" charset="-122"/>
                <a:ea typeface="黑体" pitchFamily="2" charset="-122"/>
              </a:rPr>
              <a:t> </a:t>
            </a:r>
            <a:r>
              <a:rPr lang="zh-CN" altLang="zh-CN" sz="2400" u="sng" dirty="0">
                <a:latin typeface="黑体" pitchFamily="2" charset="-122"/>
                <a:ea typeface="黑体" pitchFamily="2" charset="-122"/>
              </a:rPr>
              <a:t>＋[</a:t>
            </a:r>
            <a:r>
              <a:rPr lang="zh-CN" altLang="zh-CN" sz="2400" i="1" u="sng" dirty="0">
                <a:latin typeface="黑体" pitchFamily="2" charset="-122"/>
                <a:ea typeface="黑体" pitchFamily="2" charset="-122"/>
              </a:rPr>
              <a:t>ｙ</a:t>
            </a:r>
            <a:r>
              <a:rPr lang="zh-CN" altLang="zh-CN" sz="2400" u="sng" dirty="0">
                <a:latin typeface="黑体" pitchFamily="2" charset="-122"/>
                <a:ea typeface="黑体" pitchFamily="2" charset="-122"/>
              </a:rPr>
              <a:t>]</a:t>
            </a:r>
            <a:r>
              <a:rPr lang="zh-CN" altLang="zh-CN" sz="2400" u="sng" baseline="-25000" dirty="0">
                <a:latin typeface="黑体" pitchFamily="2" charset="-122"/>
                <a:ea typeface="黑体" pitchFamily="2" charset="-122"/>
              </a:rPr>
              <a:t>补</a:t>
            </a:r>
            <a:r>
              <a:rPr lang="zh-CN" altLang="zh-CN" sz="2400" u="sng" dirty="0">
                <a:latin typeface="黑体" pitchFamily="2" charset="-122"/>
                <a:ea typeface="黑体" pitchFamily="2" charset="-122"/>
              </a:rPr>
              <a:t>　　　001000　</a:t>
            </a:r>
            <a:endParaRPr lang="zh-CN" altLang="zh-CN" sz="2400" dirty="0">
              <a:latin typeface="黑体" pitchFamily="2" charset="-122"/>
              <a:ea typeface="黑体" pitchFamily="2" charset="-122"/>
            </a:endParaRPr>
          </a:p>
          <a:p>
            <a:pPr eaLnBrk="0" hangingPunct="0">
              <a:lnSpc>
                <a:spcPct val="150000"/>
              </a:lnSpc>
            </a:pPr>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010100</a:t>
            </a:r>
          </a:p>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两个符号位出现“01”,表示已溢出,即结果大于等于＋2</a:t>
            </a:r>
            <a:r>
              <a:rPr lang="zh-CN" altLang="zh-CN" sz="2400" baseline="30000" dirty="0">
                <a:latin typeface="黑体" pitchFamily="2" charset="-122"/>
                <a:ea typeface="黑体" pitchFamily="2" charset="-122"/>
              </a:rPr>
              <a:t>n</a:t>
            </a:r>
            <a:r>
              <a:rPr lang="zh-CN" altLang="zh-CN" sz="2400" i="1" dirty="0">
                <a:latin typeface="黑体" pitchFamily="2" charset="-122"/>
                <a:ea typeface="黑体" pitchFamily="2" charset="-122"/>
              </a:rPr>
              <a:t>。</a:t>
            </a:r>
            <a:endParaRPr lang="zh-CN" altLang="zh-CN" sz="2400" dirty="0">
              <a:latin typeface="黑体" pitchFamily="2" charset="-122"/>
              <a:ea typeface="黑体" pitchFamily="2" charset="-122"/>
            </a:endParaRPr>
          </a:p>
          <a:p>
            <a:pPr eaLnBrk="0" hangingPunct="0">
              <a:lnSpc>
                <a:spcPct val="150000"/>
              </a:lnSpc>
            </a:pPr>
            <a:r>
              <a:rPr lang="zh-CN" altLang="zh-CN" sz="2400" dirty="0">
                <a:latin typeface="黑体" pitchFamily="2" charset="-122"/>
                <a:ea typeface="黑体" pitchFamily="2" charset="-122"/>
              </a:rPr>
              <a:t>[例]</a:t>
            </a:r>
            <a:r>
              <a:rPr lang="zh-CN" altLang="zh-CN" sz="2400" i="1" dirty="0">
                <a:latin typeface="黑体" pitchFamily="2" charset="-122"/>
                <a:ea typeface="黑体" pitchFamily="2" charset="-122"/>
              </a:rPr>
              <a:t> ｘ</a:t>
            </a:r>
            <a:r>
              <a:rPr lang="zh-CN" altLang="zh-CN" sz="2400" dirty="0">
                <a:latin typeface="黑体" pitchFamily="2" charset="-122"/>
                <a:ea typeface="黑体" pitchFamily="2" charset="-122"/>
              </a:rPr>
              <a:t>＝－1100, </a:t>
            </a:r>
            <a:r>
              <a:rPr lang="zh-CN" altLang="zh-CN" sz="2400" i="1" dirty="0">
                <a:latin typeface="黑体" pitchFamily="2" charset="-122"/>
                <a:ea typeface="黑体" pitchFamily="2" charset="-122"/>
              </a:rPr>
              <a:t>ｙ</a:t>
            </a:r>
            <a:r>
              <a:rPr lang="zh-CN" altLang="zh-CN" sz="2400" dirty="0">
                <a:latin typeface="黑体" pitchFamily="2" charset="-122"/>
                <a:ea typeface="黑体" pitchFamily="2" charset="-122"/>
              </a:rPr>
              <a:t>＝-1000,求</a:t>
            </a:r>
            <a:r>
              <a:rPr lang="zh-CN" altLang="zh-CN" sz="2400" i="1" dirty="0">
                <a:latin typeface="黑体" pitchFamily="2" charset="-122"/>
                <a:ea typeface="黑体" pitchFamily="2" charset="-122"/>
              </a:rPr>
              <a:t>ｘ</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ｙ。</a:t>
            </a:r>
            <a:endParaRPr lang="zh-CN" altLang="zh-CN" sz="2400" dirty="0">
              <a:latin typeface="黑体" pitchFamily="2" charset="-122"/>
              <a:ea typeface="黑体" pitchFamily="2" charset="-122"/>
            </a:endParaRPr>
          </a:p>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解:</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dirty="0">
                <a:latin typeface="黑体" pitchFamily="2" charset="-122"/>
                <a:ea typeface="黑体" pitchFamily="2" charset="-122"/>
              </a:rPr>
              <a:t>]</a:t>
            </a:r>
            <a:r>
              <a:rPr lang="zh-CN" altLang="zh-CN" sz="2400" baseline="-30000" dirty="0">
                <a:latin typeface="黑体" pitchFamily="2" charset="-122"/>
                <a:ea typeface="黑体" pitchFamily="2" charset="-122"/>
              </a:rPr>
              <a:t>补</a:t>
            </a:r>
            <a:r>
              <a:rPr lang="zh-CN" altLang="zh-CN" sz="2400" dirty="0">
                <a:latin typeface="黑体" pitchFamily="2" charset="-122"/>
                <a:ea typeface="黑体" pitchFamily="2" charset="-122"/>
              </a:rPr>
              <a:t>＝110100,　[</a:t>
            </a:r>
            <a:r>
              <a:rPr lang="zh-CN" altLang="zh-CN" sz="2400" i="1" dirty="0">
                <a:latin typeface="黑体" pitchFamily="2" charset="-122"/>
                <a:ea typeface="黑体" pitchFamily="2" charset="-122"/>
              </a:rPr>
              <a:t>ｙ</a:t>
            </a:r>
            <a:r>
              <a:rPr lang="zh-CN" altLang="zh-CN" sz="2400" dirty="0">
                <a:latin typeface="黑体" pitchFamily="2" charset="-122"/>
                <a:ea typeface="黑体" pitchFamily="2" charset="-122"/>
              </a:rPr>
              <a:t>]</a:t>
            </a:r>
            <a:r>
              <a:rPr lang="zh-CN" altLang="zh-CN" sz="2400" baseline="-30000" dirty="0">
                <a:latin typeface="黑体" pitchFamily="2" charset="-122"/>
                <a:ea typeface="黑体" pitchFamily="2" charset="-122"/>
              </a:rPr>
              <a:t>补</a:t>
            </a:r>
            <a:r>
              <a:rPr lang="zh-CN" altLang="zh-CN" sz="2400" dirty="0">
                <a:latin typeface="黑体" pitchFamily="2" charset="-122"/>
                <a:ea typeface="黑体" pitchFamily="2" charset="-122"/>
              </a:rPr>
              <a:t>＝111000</a:t>
            </a:r>
          </a:p>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a:t>
            </a:r>
            <a:r>
              <a:rPr lang="zh-CN" altLang="zh-CN" sz="2400" i="1" dirty="0">
                <a:latin typeface="黑体" pitchFamily="2" charset="-122"/>
                <a:ea typeface="黑体" pitchFamily="2" charset="-122"/>
              </a:rPr>
              <a:t>ｘ</a:t>
            </a:r>
            <a:r>
              <a:rPr lang="zh-CN" altLang="zh-CN" sz="2400" dirty="0">
                <a:latin typeface="黑体" pitchFamily="2" charset="-122"/>
                <a:ea typeface="黑体" pitchFamily="2" charset="-122"/>
              </a:rPr>
              <a:t>]</a:t>
            </a:r>
            <a:r>
              <a:rPr lang="zh-CN" altLang="zh-CN" sz="2400" baseline="-30000" dirty="0">
                <a:latin typeface="黑体" pitchFamily="2" charset="-122"/>
                <a:ea typeface="黑体" pitchFamily="2" charset="-122"/>
              </a:rPr>
              <a:t>补</a:t>
            </a:r>
            <a:r>
              <a:rPr lang="zh-CN" altLang="zh-CN" sz="2400" dirty="0">
                <a:latin typeface="黑体" pitchFamily="2" charset="-122"/>
                <a:ea typeface="黑体" pitchFamily="2" charset="-122"/>
              </a:rPr>
              <a:t>　　　110100</a:t>
            </a:r>
          </a:p>
          <a:p>
            <a:pPr eaLnBrk="0" hangingPunct="0">
              <a:lnSpc>
                <a:spcPct val="150000"/>
              </a:lnSpc>
            </a:pPr>
            <a:r>
              <a:rPr lang="en-US" altLang="zh-CN" sz="2400" u="sng" dirty="0">
                <a:latin typeface="黑体" pitchFamily="2" charset="-122"/>
                <a:ea typeface="黑体" pitchFamily="2" charset="-122"/>
              </a:rPr>
              <a:t>      </a:t>
            </a:r>
            <a:r>
              <a:rPr lang="zh-CN" altLang="zh-CN" sz="2400" u="sng" dirty="0">
                <a:latin typeface="黑体" pitchFamily="2" charset="-122"/>
                <a:ea typeface="黑体" pitchFamily="2" charset="-122"/>
              </a:rPr>
              <a:t>＋[</a:t>
            </a:r>
            <a:r>
              <a:rPr lang="zh-CN" altLang="zh-CN" sz="2400" i="1" u="sng" dirty="0">
                <a:latin typeface="黑体" pitchFamily="2" charset="-122"/>
                <a:ea typeface="黑体" pitchFamily="2" charset="-122"/>
              </a:rPr>
              <a:t>ｙ</a:t>
            </a:r>
            <a:r>
              <a:rPr lang="zh-CN" altLang="zh-CN" sz="2400" u="sng" dirty="0">
                <a:latin typeface="黑体" pitchFamily="2" charset="-122"/>
                <a:ea typeface="黑体" pitchFamily="2" charset="-122"/>
              </a:rPr>
              <a:t>]</a:t>
            </a:r>
            <a:r>
              <a:rPr lang="zh-CN" altLang="zh-CN" sz="2400" u="sng" baseline="-25000" dirty="0">
                <a:latin typeface="黑体" pitchFamily="2" charset="-122"/>
                <a:ea typeface="黑体" pitchFamily="2" charset="-122"/>
              </a:rPr>
              <a:t>补</a:t>
            </a:r>
            <a:r>
              <a:rPr lang="zh-CN" altLang="zh-CN" sz="2400" u="sng" dirty="0">
                <a:latin typeface="黑体" pitchFamily="2" charset="-122"/>
                <a:ea typeface="黑体" pitchFamily="2" charset="-122"/>
              </a:rPr>
              <a:t>　　　111000　</a:t>
            </a:r>
            <a:endParaRPr lang="zh-CN" altLang="zh-CN" sz="2400" dirty="0">
              <a:latin typeface="黑体" pitchFamily="2" charset="-122"/>
              <a:ea typeface="黑体" pitchFamily="2" charset="-122"/>
            </a:endParaRPr>
          </a:p>
          <a:p>
            <a:pPr eaLnBrk="0" hangingPunct="0">
              <a:lnSpc>
                <a:spcPct val="150000"/>
              </a:lnSpc>
            </a:pPr>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　 101100</a:t>
            </a:r>
          </a:p>
          <a:p>
            <a:pPr eaLnBrk="0" hangingPunct="0">
              <a:lnSpc>
                <a:spcPct val="15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两个符号位出现“10”,表示已溢出,即结果小于－2</a:t>
            </a:r>
            <a:r>
              <a:rPr lang="zh-CN" altLang="zh-CN" sz="2400" baseline="30000" dirty="0">
                <a:latin typeface="黑体" pitchFamily="2" charset="-122"/>
                <a:ea typeface="黑体" pitchFamily="2" charset="-122"/>
              </a:rPr>
              <a:t>n</a:t>
            </a:r>
            <a:r>
              <a:rPr lang="zh-CN" altLang="zh-CN" sz="2400" dirty="0">
                <a:latin typeface="黑体" pitchFamily="2" charset="-122"/>
                <a:ea typeface="黑体" pitchFamily="2" charset="-122"/>
              </a:rPr>
              <a:t>。</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79688" y="532506"/>
            <a:ext cx="8619608" cy="5847755"/>
          </a:xfrm>
          <a:prstGeom prst="rect">
            <a:avLst/>
          </a:prstGeom>
        </p:spPr>
        <p:txBody>
          <a:bodyPr wrap="square">
            <a:spAutoFit/>
          </a:bodyPr>
          <a:lstStyle/>
          <a:p>
            <a:r>
              <a:rPr lang="zh-CN" altLang="zh-CN" sz="2800" dirty="0">
                <a:latin typeface="黑体" panose="02010609060101010101" pitchFamily="49" charset="-122"/>
                <a:ea typeface="黑体" panose="02010609060101010101" pitchFamily="49" charset="-122"/>
              </a:rPr>
              <a:t>设机器数字长为</a:t>
            </a:r>
            <a:r>
              <a:rPr lang="en-US" altLang="zh-CN" sz="2800" dirty="0">
                <a:latin typeface="黑体" panose="02010609060101010101" pitchFamily="49" charset="-122"/>
                <a:ea typeface="黑体" panose="02010609060101010101" pitchFamily="49" charset="-122"/>
              </a:rPr>
              <a:t>8</a:t>
            </a:r>
            <a:r>
              <a:rPr lang="zh-CN" altLang="zh-CN" sz="2800" dirty="0">
                <a:latin typeface="黑体" panose="02010609060101010101" pitchFamily="49" charset="-122"/>
                <a:ea typeface="黑体" panose="02010609060101010101" pitchFamily="49" charset="-122"/>
              </a:rPr>
              <a:t>位（含</a:t>
            </a:r>
            <a:r>
              <a:rPr lang="en-US" altLang="zh-CN" sz="2800" dirty="0">
                <a:latin typeface="黑体" panose="02010609060101010101" pitchFamily="49" charset="-122"/>
                <a:ea typeface="黑体" panose="02010609060101010101" pitchFamily="49" charset="-122"/>
              </a:rPr>
              <a:t>1</a:t>
            </a:r>
            <a:r>
              <a:rPr lang="zh-CN" altLang="zh-CN" sz="2800" dirty="0">
                <a:latin typeface="黑体" panose="02010609060101010101" pitchFamily="49" charset="-122"/>
                <a:ea typeface="黑体" panose="02010609060101010101" pitchFamily="49" charset="-122"/>
              </a:rPr>
              <a:t>位符号位</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设</a:t>
            </a:r>
            <a:r>
              <a:rPr lang="en-US" altLang="zh-CN" sz="2800" dirty="0">
                <a:latin typeface="黑体" panose="02010609060101010101" pitchFamily="49" charset="-122"/>
                <a:ea typeface="黑体" panose="02010609060101010101" pitchFamily="49" charset="-122"/>
              </a:rPr>
              <a:t>A</a:t>
            </a:r>
            <a:r>
              <a:rPr lang="zh-CN" altLang="zh-CN"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9/64</a:t>
            </a:r>
            <a:r>
              <a:rPr lang="zh-CN" altLang="zh-CN"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B</a:t>
            </a:r>
            <a:r>
              <a:rPr lang="zh-CN" altLang="zh-CN"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-13/32</a:t>
            </a:r>
            <a:r>
              <a:rPr lang="zh-CN" altLang="zh-CN" sz="2800" dirty="0">
                <a:latin typeface="黑体" panose="02010609060101010101" pitchFamily="49" charset="-122"/>
                <a:ea typeface="黑体" panose="02010609060101010101" pitchFamily="49" charset="-122"/>
              </a:rPr>
              <a:t>，试用变形补码</a:t>
            </a:r>
            <a:r>
              <a:rPr lang="zh-CN" altLang="zh-CN" sz="2800" dirty="0" smtClean="0">
                <a:latin typeface="黑体" panose="02010609060101010101" pitchFamily="49" charset="-122"/>
                <a:ea typeface="黑体" panose="02010609060101010101" pitchFamily="49" charset="-122"/>
              </a:rPr>
              <a:t>计算</a:t>
            </a:r>
            <a:endParaRPr lang="en-US" altLang="zh-CN" sz="2800" dirty="0" smtClean="0">
              <a:latin typeface="黑体" panose="02010609060101010101" pitchFamily="49" charset="-122"/>
              <a:ea typeface="黑体" panose="02010609060101010101" pitchFamily="49" charset="-122"/>
            </a:endParaRPr>
          </a:p>
          <a:p>
            <a:r>
              <a:rPr lang="en-US" altLang="zh-CN" sz="2800" dirty="0" smtClean="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A±B]</a:t>
            </a:r>
            <a:r>
              <a:rPr lang="zh-CN" altLang="zh-CN" sz="2800" baseline="-25000" dirty="0">
                <a:latin typeface="黑体" panose="02010609060101010101" pitchFamily="49" charset="-122"/>
                <a:ea typeface="黑体" panose="02010609060101010101" pitchFamily="49" charset="-122"/>
              </a:rPr>
              <a:t>补</a:t>
            </a:r>
            <a:r>
              <a:rPr lang="zh-CN" altLang="zh-CN" sz="2800" dirty="0">
                <a:latin typeface="黑体" panose="02010609060101010101" pitchFamily="49" charset="-122"/>
                <a:ea typeface="黑体" panose="02010609060101010101" pitchFamily="49" charset="-122"/>
              </a:rPr>
              <a:t>，并还原成真值</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eaLnBrk="0" hangingPunct="0">
              <a:lnSpc>
                <a:spcPct val="150000"/>
              </a:lnSpc>
              <a:spcBef>
                <a:spcPts val="1200"/>
              </a:spcBef>
            </a:pPr>
            <a:r>
              <a:rPr lang="zh-CN" altLang="zh-CN" sz="2800" dirty="0" smtClean="0">
                <a:latin typeface="黑体" pitchFamily="2" charset="-122"/>
                <a:ea typeface="黑体" pitchFamily="2" charset="-122"/>
              </a:rPr>
              <a:t>解</a:t>
            </a:r>
            <a:r>
              <a:rPr lang="zh-CN" altLang="zh-CN" sz="2800" dirty="0">
                <a:latin typeface="黑体" pitchFamily="2" charset="-122"/>
                <a:ea typeface="黑体" pitchFamily="2" charset="-122"/>
              </a:rPr>
              <a:t>:</a:t>
            </a:r>
            <a:r>
              <a:rPr lang="en-US" altLang="zh-CN" sz="2800" dirty="0">
                <a:latin typeface="黑体" pitchFamily="2" charset="-122"/>
                <a:ea typeface="黑体" pitchFamily="2" charset="-122"/>
              </a:rPr>
              <a:t> </a:t>
            </a:r>
            <a:r>
              <a:rPr lang="en-US" altLang="zh-CN" sz="2800" dirty="0" smtClean="0">
                <a:latin typeface="黑体" pitchFamily="2" charset="-122"/>
                <a:ea typeface="黑体" pitchFamily="2" charset="-122"/>
              </a:rPr>
              <a:t>A</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0.0010010</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B</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-0.0110100</a:t>
            </a:r>
          </a:p>
          <a:p>
            <a:pPr eaLnBrk="0" hangingPunct="0">
              <a:lnSpc>
                <a:spcPct val="150000"/>
              </a:lnSpc>
            </a:pPr>
            <a:r>
              <a:rPr lang="en-US" altLang="zh-CN" sz="2800" dirty="0">
                <a:latin typeface="黑体" pitchFamily="2" charset="-122"/>
                <a:ea typeface="黑体" pitchFamily="2" charset="-122"/>
              </a:rPr>
              <a:t> </a:t>
            </a:r>
            <a:r>
              <a:rPr lang="en-US" altLang="zh-CN" sz="2800" dirty="0" smtClean="0">
                <a:latin typeface="黑体" pitchFamily="2" charset="-122"/>
                <a:ea typeface="黑体" pitchFamily="2" charset="-122"/>
              </a:rPr>
              <a:t>  </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A</a:t>
            </a:r>
            <a:r>
              <a:rPr lang="zh-CN" altLang="zh-CN" sz="2800" dirty="0" smtClean="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00.0010010</a:t>
            </a:r>
            <a:r>
              <a:rPr lang="zh-CN" altLang="zh-CN" sz="2800" dirty="0">
                <a:latin typeface="黑体" pitchFamily="2" charset="-122"/>
                <a:ea typeface="黑体" pitchFamily="2" charset="-122"/>
              </a:rPr>
              <a:t>,[</a:t>
            </a:r>
            <a:r>
              <a:rPr lang="en-US" altLang="zh-CN" sz="2800" dirty="0">
                <a:latin typeface="黑体" pitchFamily="2" charset="-122"/>
                <a:ea typeface="黑体" pitchFamily="2" charset="-122"/>
              </a:rPr>
              <a:t>B</a:t>
            </a:r>
            <a:r>
              <a:rPr lang="zh-CN" altLang="zh-CN" sz="2800" dirty="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a:latin typeface="黑体" pitchFamily="2" charset="-122"/>
                <a:ea typeface="黑体" pitchFamily="2" charset="-122"/>
              </a:rPr>
              <a:t>＝</a:t>
            </a:r>
            <a:r>
              <a:rPr lang="en-US" altLang="zh-CN" sz="2800" dirty="0" smtClean="0">
                <a:latin typeface="黑体" pitchFamily="2" charset="-122"/>
                <a:ea typeface="黑体" pitchFamily="2" charset="-122"/>
              </a:rPr>
              <a:t>11.1001100</a:t>
            </a:r>
            <a:r>
              <a:rPr lang="zh-CN" altLang="zh-CN" sz="2800" dirty="0" smtClean="0">
                <a:latin typeface="黑体" pitchFamily="2" charset="-122"/>
                <a:ea typeface="黑体" pitchFamily="2" charset="-122"/>
              </a:rPr>
              <a:t>,</a:t>
            </a:r>
            <a:endParaRPr lang="en-US" altLang="zh-CN" sz="2800" dirty="0" smtClean="0">
              <a:latin typeface="黑体" pitchFamily="2" charset="-122"/>
              <a:ea typeface="黑体" pitchFamily="2" charset="-122"/>
            </a:endParaRPr>
          </a:p>
          <a:p>
            <a:pPr eaLnBrk="0" hangingPunct="0">
              <a:lnSpc>
                <a:spcPct val="150000"/>
              </a:lnSpc>
            </a:pPr>
            <a:r>
              <a:rPr lang="en-US" altLang="zh-CN" sz="2800" dirty="0">
                <a:latin typeface="黑体" pitchFamily="2" charset="-122"/>
                <a:ea typeface="黑体" pitchFamily="2" charset="-122"/>
              </a:rPr>
              <a:t> </a:t>
            </a:r>
            <a:r>
              <a:rPr lang="en-US" altLang="zh-CN" sz="2800" dirty="0" smtClean="0">
                <a:latin typeface="黑体" pitchFamily="2" charset="-122"/>
                <a:ea typeface="黑体" pitchFamily="2" charset="-122"/>
              </a:rPr>
              <a:t>                  </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-B</a:t>
            </a:r>
            <a:r>
              <a:rPr lang="zh-CN" altLang="zh-CN" sz="2800" dirty="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00.0110100</a:t>
            </a:r>
            <a:endParaRPr lang="zh-CN" altLang="zh-CN" sz="2800" dirty="0">
              <a:latin typeface="黑体" pitchFamily="2" charset="-122"/>
              <a:ea typeface="黑体" pitchFamily="2" charset="-122"/>
            </a:endParaRPr>
          </a:p>
          <a:p>
            <a:pPr eaLnBrk="0" hangingPunct="0"/>
            <a:r>
              <a:rPr lang="en-US" altLang="zh-CN" sz="2800" dirty="0" smtClean="0">
                <a:latin typeface="黑体" pitchFamily="2" charset="-122"/>
                <a:ea typeface="黑体" pitchFamily="2" charset="-122"/>
              </a:rPr>
              <a:t>    </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A</a:t>
            </a:r>
            <a:r>
              <a:rPr lang="zh-CN" altLang="zh-CN" sz="2800" dirty="0" smtClean="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a:latin typeface="黑体" pitchFamily="2" charset="-122"/>
                <a:ea typeface="黑体" pitchFamily="2" charset="-122"/>
              </a:rPr>
              <a:t>　</a:t>
            </a:r>
            <a:r>
              <a:rPr lang="en-US" altLang="zh-CN" sz="2800" dirty="0" smtClean="0">
                <a:latin typeface="黑体" pitchFamily="2" charset="-122"/>
                <a:ea typeface="黑体" pitchFamily="2" charset="-122"/>
              </a:rPr>
              <a:t>00.0010010            00.0010010</a:t>
            </a:r>
            <a:endParaRPr lang="zh-CN" altLang="zh-CN" sz="2800" dirty="0">
              <a:latin typeface="黑体" pitchFamily="2" charset="-122"/>
              <a:ea typeface="黑体" pitchFamily="2" charset="-122"/>
            </a:endParaRPr>
          </a:p>
          <a:p>
            <a:pPr eaLnBrk="0" hangingPunct="0"/>
            <a:r>
              <a:rPr lang="en-US" altLang="zh-CN" sz="2800" dirty="0" smtClean="0">
                <a:latin typeface="黑体" pitchFamily="2" charset="-122"/>
                <a:ea typeface="黑体" pitchFamily="2" charset="-122"/>
              </a:rPr>
              <a:t>  </a:t>
            </a:r>
            <a:r>
              <a:rPr lang="zh-CN" altLang="zh-CN" sz="2800" u="sng" dirty="0" smtClean="0">
                <a:latin typeface="黑体" pitchFamily="2" charset="-122"/>
                <a:ea typeface="黑体" pitchFamily="2" charset="-122"/>
              </a:rPr>
              <a:t>＋[</a:t>
            </a:r>
            <a:r>
              <a:rPr lang="en-US" altLang="zh-CN" sz="2800" u="sng" dirty="0" smtClean="0">
                <a:latin typeface="黑体" pitchFamily="2" charset="-122"/>
                <a:ea typeface="黑体" pitchFamily="2" charset="-122"/>
              </a:rPr>
              <a:t>B</a:t>
            </a:r>
            <a:r>
              <a:rPr lang="zh-CN" altLang="zh-CN" sz="2800" u="sng" dirty="0" smtClean="0">
                <a:latin typeface="黑体" pitchFamily="2" charset="-122"/>
                <a:ea typeface="黑体" pitchFamily="2" charset="-122"/>
              </a:rPr>
              <a:t>]</a:t>
            </a:r>
            <a:r>
              <a:rPr lang="zh-CN" altLang="zh-CN" sz="2800" u="sng" baseline="-25000" dirty="0">
                <a:latin typeface="黑体" pitchFamily="2" charset="-122"/>
                <a:ea typeface="黑体" pitchFamily="2" charset="-122"/>
              </a:rPr>
              <a:t>补</a:t>
            </a:r>
            <a:r>
              <a:rPr lang="zh-CN" altLang="zh-CN" sz="2800" u="sng" dirty="0">
                <a:latin typeface="黑体" pitchFamily="2" charset="-122"/>
                <a:ea typeface="黑体" pitchFamily="2" charset="-122"/>
              </a:rPr>
              <a:t>　</a:t>
            </a:r>
            <a:r>
              <a:rPr lang="en-US" altLang="zh-CN" sz="2800" u="sng" dirty="0" smtClean="0">
                <a:latin typeface="黑体" pitchFamily="2" charset="-122"/>
                <a:ea typeface="黑体" pitchFamily="2" charset="-122"/>
              </a:rPr>
              <a:t>11.1001100</a:t>
            </a:r>
            <a:r>
              <a:rPr lang="zh-CN" altLang="zh-CN" sz="2800" u="sng" dirty="0">
                <a:latin typeface="黑体" pitchFamily="2" charset="-122"/>
                <a:ea typeface="黑体" pitchFamily="2" charset="-122"/>
              </a:rPr>
              <a:t>　</a:t>
            </a:r>
            <a:r>
              <a:rPr lang="zh-CN" altLang="zh-CN" sz="2800" dirty="0">
                <a:latin typeface="黑体" pitchFamily="2" charset="-122"/>
                <a:ea typeface="黑体" pitchFamily="2" charset="-122"/>
              </a:rPr>
              <a:t> </a:t>
            </a:r>
            <a:r>
              <a:rPr lang="zh-CN" altLang="zh-CN" sz="2800" u="sng" dirty="0">
                <a:latin typeface="黑体" pitchFamily="2" charset="-122"/>
                <a:ea typeface="黑体" pitchFamily="2" charset="-122"/>
              </a:rPr>
              <a:t>＋</a:t>
            </a:r>
            <a:r>
              <a:rPr lang="zh-CN" altLang="zh-CN" sz="2800" u="sng" dirty="0" smtClean="0">
                <a:latin typeface="黑体" pitchFamily="2" charset="-122"/>
                <a:ea typeface="黑体" pitchFamily="2" charset="-122"/>
              </a:rPr>
              <a:t>[</a:t>
            </a:r>
            <a:r>
              <a:rPr lang="en-US" altLang="zh-CN" sz="2800" u="sng" dirty="0" smtClean="0">
                <a:latin typeface="黑体" pitchFamily="2" charset="-122"/>
                <a:ea typeface="黑体" pitchFamily="2" charset="-122"/>
              </a:rPr>
              <a:t>-B</a:t>
            </a:r>
            <a:r>
              <a:rPr lang="zh-CN" altLang="zh-CN" sz="2800" u="sng" dirty="0">
                <a:latin typeface="黑体" pitchFamily="2" charset="-122"/>
                <a:ea typeface="黑体" pitchFamily="2" charset="-122"/>
              </a:rPr>
              <a:t>]</a:t>
            </a:r>
            <a:r>
              <a:rPr lang="zh-CN" altLang="zh-CN" sz="2800" u="sng" baseline="-25000" dirty="0" smtClean="0">
                <a:latin typeface="黑体" pitchFamily="2" charset="-122"/>
                <a:ea typeface="黑体" pitchFamily="2" charset="-122"/>
              </a:rPr>
              <a:t>补</a:t>
            </a:r>
            <a:r>
              <a:rPr lang="en-US" altLang="zh-CN" sz="2800" u="sng" baseline="-25000" dirty="0" smtClean="0">
                <a:latin typeface="黑体" pitchFamily="2" charset="-122"/>
                <a:ea typeface="黑体" pitchFamily="2" charset="-122"/>
              </a:rPr>
              <a:t>  </a:t>
            </a:r>
            <a:r>
              <a:rPr lang="en-US" altLang="zh-CN" sz="2800" u="sng" dirty="0" smtClean="0">
                <a:latin typeface="黑体" pitchFamily="2" charset="-122"/>
                <a:ea typeface="黑体" pitchFamily="2" charset="-122"/>
              </a:rPr>
              <a:t>00.0110100</a:t>
            </a:r>
            <a:r>
              <a:rPr lang="en-US" altLang="zh-CN" sz="2800" dirty="0" smtClean="0">
                <a:latin typeface="黑体" pitchFamily="2" charset="-122"/>
                <a:ea typeface="黑体" pitchFamily="2" charset="-122"/>
              </a:rPr>
              <a:t>  </a:t>
            </a:r>
            <a:endParaRPr lang="zh-CN" altLang="zh-CN" sz="2800" dirty="0">
              <a:latin typeface="黑体" pitchFamily="2" charset="-122"/>
              <a:ea typeface="黑体" pitchFamily="2" charset="-122"/>
            </a:endParaRPr>
          </a:p>
          <a:p>
            <a:pPr eaLnBrk="0" hangingPunct="0"/>
            <a:r>
              <a:rPr lang="en-US" altLang="zh-CN" sz="2800" dirty="0" smtClean="0">
                <a:latin typeface="黑体" pitchFamily="2" charset="-122"/>
                <a:ea typeface="黑体" pitchFamily="2" charset="-122"/>
              </a:rPr>
              <a:t>          11.1011110            00.1000110                </a:t>
            </a:r>
            <a:endParaRPr lang="zh-CN" altLang="zh-CN" sz="2800" dirty="0">
              <a:latin typeface="黑体" pitchFamily="2" charset="-122"/>
              <a:ea typeface="黑体" pitchFamily="2" charset="-122"/>
            </a:endParaRPr>
          </a:p>
          <a:p>
            <a:pPr eaLnBrk="0" hangingPunct="0">
              <a:lnSpc>
                <a:spcPct val="150000"/>
              </a:lnSpc>
            </a:pPr>
            <a:r>
              <a:rPr lang="en-US" altLang="zh-CN" sz="2800" dirty="0" smtClean="0">
                <a:latin typeface="黑体" panose="02010609060101010101" pitchFamily="49" charset="-122"/>
                <a:ea typeface="黑体" panose="02010609060101010101" pitchFamily="49" charset="-122"/>
              </a:rPr>
              <a:t>  [A+B</a:t>
            </a:r>
            <a:r>
              <a:rPr lang="en-US" altLang="zh-CN" sz="2800" dirty="0">
                <a:latin typeface="黑体" panose="02010609060101010101" pitchFamily="49" charset="-122"/>
                <a:ea typeface="黑体" panose="02010609060101010101" pitchFamily="49" charset="-122"/>
              </a:rPr>
              <a:t>]</a:t>
            </a:r>
            <a:r>
              <a:rPr lang="zh-CN" altLang="zh-CN" sz="2800" baseline="-25000" dirty="0" smtClean="0">
                <a:latin typeface="黑体" panose="02010609060101010101" pitchFamily="49" charset="-122"/>
                <a:ea typeface="黑体" panose="02010609060101010101" pitchFamily="49" charset="-122"/>
              </a:rPr>
              <a:t>补</a:t>
            </a:r>
            <a:r>
              <a:rPr lang="en-US" altLang="zh-CN" sz="2800" dirty="0" smtClean="0">
                <a:latin typeface="黑体" pitchFamily="2" charset="-122"/>
                <a:ea typeface="黑体" pitchFamily="2" charset="-122"/>
              </a:rPr>
              <a:t>=1.1011110      </a:t>
            </a:r>
            <a:r>
              <a:rPr lang="en-US" altLang="zh-CN" sz="2800" dirty="0" smtClean="0">
                <a:latin typeface="黑体" panose="02010609060101010101" pitchFamily="49" charset="-122"/>
                <a:ea typeface="黑体" panose="02010609060101010101" pitchFamily="49" charset="-122"/>
              </a:rPr>
              <a:t>[A-B</a:t>
            </a:r>
            <a:r>
              <a:rPr lang="en-US" altLang="zh-CN" sz="2800" dirty="0">
                <a:latin typeface="黑体" panose="02010609060101010101" pitchFamily="49" charset="-122"/>
                <a:ea typeface="黑体" panose="02010609060101010101" pitchFamily="49" charset="-122"/>
              </a:rPr>
              <a:t>]</a:t>
            </a:r>
            <a:r>
              <a:rPr lang="zh-CN" altLang="zh-CN" sz="2800" baseline="-25000" dirty="0" smtClean="0">
                <a:latin typeface="黑体" panose="02010609060101010101" pitchFamily="49" charset="-122"/>
                <a:ea typeface="黑体" panose="02010609060101010101" pitchFamily="49" charset="-122"/>
              </a:rPr>
              <a:t>补</a:t>
            </a:r>
            <a:r>
              <a:rPr lang="en-US" altLang="zh-CN" sz="2800" dirty="0" smtClean="0">
                <a:latin typeface="黑体" pitchFamily="2" charset="-122"/>
                <a:ea typeface="黑体" pitchFamily="2" charset="-122"/>
              </a:rPr>
              <a:t>=0.1000110 </a:t>
            </a:r>
            <a:endParaRPr lang="zh-CN" altLang="zh-CN" sz="2800" dirty="0">
              <a:latin typeface="黑体" pitchFamily="2" charset="-122"/>
              <a:ea typeface="黑体" pitchFamily="2" charset="-122"/>
            </a:endParaRPr>
          </a:p>
          <a:p>
            <a:r>
              <a:rPr lang="en-US" altLang="zh-CN" sz="2800" dirty="0" smtClean="0">
                <a:latin typeface="黑体" panose="02010609060101010101" pitchFamily="49" charset="-122"/>
                <a:ea typeface="黑体" panose="02010609060101010101" pitchFamily="49" charset="-122"/>
              </a:rPr>
              <a:t>  A+B = -0.0100010       A-B = +0.1000110</a:t>
            </a:r>
            <a:r>
              <a:rPr lang="en-US" altLang="zh-CN" sz="2800" dirty="0">
                <a:latin typeface="黑体" panose="02010609060101010101" pitchFamily="49" charset="-122"/>
                <a:ea typeface="黑体" panose="02010609060101010101" pitchFamily="49" charset="-122"/>
              </a:rPr>
              <a:t> </a:t>
            </a:r>
            <a:endParaRPr lang="zh-CN" altLang="zh-CN"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2163082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16848" y="550248"/>
            <a:ext cx="8820472" cy="5847755"/>
          </a:xfrm>
          <a:prstGeom prst="rect">
            <a:avLst/>
          </a:prstGeom>
        </p:spPr>
        <p:txBody>
          <a:bodyPr wrap="square">
            <a:spAutoFit/>
          </a:bodyPr>
          <a:lstStyle/>
          <a:p>
            <a:r>
              <a:rPr lang="zh-CN" altLang="zh-CN" sz="2800" dirty="0" smtClean="0">
                <a:latin typeface="黑体" panose="02010609060101010101" pitchFamily="49" charset="-122"/>
                <a:ea typeface="黑体" panose="02010609060101010101" pitchFamily="49" charset="-122"/>
              </a:rPr>
              <a:t>设</a:t>
            </a:r>
            <a:r>
              <a:rPr lang="zh-CN" altLang="zh-CN" sz="2800" dirty="0">
                <a:latin typeface="黑体" panose="02010609060101010101" pitchFamily="49" charset="-122"/>
                <a:ea typeface="黑体" panose="02010609060101010101" pitchFamily="49" charset="-122"/>
              </a:rPr>
              <a:t>机器数字长为</a:t>
            </a:r>
            <a:r>
              <a:rPr lang="en-US" altLang="zh-CN" sz="2800" dirty="0">
                <a:latin typeface="黑体" panose="02010609060101010101" pitchFamily="49" charset="-122"/>
                <a:ea typeface="黑体" panose="02010609060101010101" pitchFamily="49" charset="-122"/>
              </a:rPr>
              <a:t>8</a:t>
            </a:r>
            <a:r>
              <a:rPr lang="zh-CN" altLang="zh-CN" sz="2800" dirty="0">
                <a:latin typeface="黑体" panose="02010609060101010101" pitchFamily="49" charset="-122"/>
                <a:ea typeface="黑体" panose="02010609060101010101" pitchFamily="49" charset="-122"/>
              </a:rPr>
              <a:t>位（含</a:t>
            </a:r>
            <a:r>
              <a:rPr lang="en-US" altLang="zh-CN" sz="2800" dirty="0">
                <a:latin typeface="黑体" panose="02010609060101010101" pitchFamily="49" charset="-122"/>
                <a:ea typeface="黑体" panose="02010609060101010101" pitchFamily="49" charset="-122"/>
              </a:rPr>
              <a:t>1</a:t>
            </a:r>
            <a:r>
              <a:rPr lang="zh-CN" altLang="zh-CN" sz="2800" dirty="0">
                <a:latin typeface="黑体" panose="02010609060101010101" pitchFamily="49" charset="-122"/>
                <a:ea typeface="黑体" panose="02010609060101010101" pitchFamily="49" charset="-122"/>
              </a:rPr>
              <a:t>位符号位</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若</a:t>
            </a:r>
            <a:r>
              <a:rPr lang="en-US" altLang="zh-CN" sz="2800" dirty="0" smtClean="0">
                <a:latin typeface="黑体" panose="02010609060101010101" pitchFamily="49" charset="-122"/>
                <a:ea typeface="黑体" panose="02010609060101010101" pitchFamily="49" charset="-122"/>
              </a:rPr>
              <a:t>A=-15</a:t>
            </a:r>
            <a:r>
              <a:rPr lang="zh-CN" altLang="zh-CN" sz="2800" dirty="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B=+</a:t>
            </a:r>
            <a:r>
              <a:rPr lang="en-US" altLang="zh-CN" sz="2800" dirty="0">
                <a:latin typeface="黑体" panose="02010609060101010101" pitchFamily="49" charset="-122"/>
                <a:ea typeface="黑体" panose="02010609060101010101" pitchFamily="49" charset="-122"/>
              </a:rPr>
              <a:t>24</a:t>
            </a:r>
            <a:r>
              <a:rPr lang="zh-CN" altLang="zh-CN" sz="2800" dirty="0">
                <a:latin typeface="黑体" panose="02010609060101010101" pitchFamily="49" charset="-122"/>
                <a:ea typeface="黑体" panose="02010609060101010101" pitchFamily="49" charset="-122"/>
              </a:rPr>
              <a:t>，试用变形补码计算</a:t>
            </a:r>
            <a:r>
              <a:rPr lang="en-US" altLang="zh-CN" sz="2800" dirty="0">
                <a:latin typeface="黑体" panose="02010609060101010101" pitchFamily="49" charset="-122"/>
                <a:ea typeface="黑体" panose="02010609060101010101" pitchFamily="49" charset="-122"/>
              </a:rPr>
              <a:t>[A±B]</a:t>
            </a:r>
            <a:r>
              <a:rPr lang="zh-CN" altLang="zh-CN" sz="2800" baseline="-25000" dirty="0">
                <a:latin typeface="黑体" panose="02010609060101010101" pitchFamily="49" charset="-122"/>
                <a:ea typeface="黑体" panose="02010609060101010101" pitchFamily="49" charset="-122"/>
              </a:rPr>
              <a:t>补</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并</a:t>
            </a:r>
            <a:r>
              <a:rPr lang="zh-CN" altLang="zh-CN" sz="2800" dirty="0">
                <a:latin typeface="黑体" panose="02010609060101010101" pitchFamily="49" charset="-122"/>
                <a:ea typeface="黑体" panose="02010609060101010101" pitchFamily="49" charset="-122"/>
              </a:rPr>
              <a:t>还原成真值</a:t>
            </a:r>
            <a:r>
              <a:rPr lang="zh-CN" altLang="zh-CN" sz="2800" dirty="0" smtClean="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eaLnBrk="0" hangingPunct="0">
              <a:lnSpc>
                <a:spcPct val="150000"/>
              </a:lnSpc>
              <a:spcBef>
                <a:spcPts val="1200"/>
              </a:spcBef>
            </a:pPr>
            <a:r>
              <a:rPr lang="zh-CN" altLang="zh-CN" sz="2800" dirty="0">
                <a:latin typeface="黑体" pitchFamily="2" charset="-122"/>
                <a:ea typeface="黑体" pitchFamily="2" charset="-122"/>
              </a:rPr>
              <a:t>解:</a:t>
            </a:r>
            <a:r>
              <a:rPr lang="en-US" altLang="zh-CN" sz="2800" dirty="0">
                <a:latin typeface="黑体" pitchFamily="2" charset="-122"/>
                <a:ea typeface="黑体" pitchFamily="2" charset="-122"/>
              </a:rPr>
              <a:t> A</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-0001111</a:t>
            </a:r>
            <a:r>
              <a:rPr lang="zh-CN" altLang="zh-CN" sz="2800" dirty="0" smtClean="0">
                <a:latin typeface="黑体" pitchFamily="2" charset="-122"/>
                <a:ea typeface="黑体" pitchFamily="2" charset="-122"/>
              </a:rPr>
              <a:t>,</a:t>
            </a:r>
            <a:r>
              <a:rPr lang="en-US" altLang="zh-CN" sz="2800" dirty="0">
                <a:latin typeface="黑体" pitchFamily="2" charset="-122"/>
                <a:ea typeface="黑体" pitchFamily="2" charset="-122"/>
              </a:rPr>
              <a:t>B</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0011000</a:t>
            </a:r>
            <a:endParaRPr lang="en-US" altLang="zh-CN" sz="2800" dirty="0">
              <a:latin typeface="黑体" pitchFamily="2" charset="-122"/>
              <a:ea typeface="黑体" pitchFamily="2" charset="-122"/>
            </a:endParaRPr>
          </a:p>
          <a:p>
            <a:pPr eaLnBrk="0" hangingPunct="0">
              <a:lnSpc>
                <a:spcPct val="150000"/>
              </a:lnSpc>
            </a:pPr>
            <a:r>
              <a:rPr lang="en-US" altLang="zh-CN" sz="2800" dirty="0">
                <a:latin typeface="黑体" pitchFamily="2" charset="-122"/>
                <a:ea typeface="黑体" pitchFamily="2" charset="-122"/>
              </a:rPr>
              <a:t>   </a:t>
            </a:r>
            <a:r>
              <a:rPr lang="zh-CN" altLang="zh-CN" sz="2800" dirty="0">
                <a:latin typeface="黑体" pitchFamily="2" charset="-122"/>
                <a:ea typeface="黑体" pitchFamily="2" charset="-122"/>
              </a:rPr>
              <a:t>[</a:t>
            </a:r>
            <a:r>
              <a:rPr lang="en-US" altLang="zh-CN" sz="2800" dirty="0">
                <a:latin typeface="黑体" pitchFamily="2" charset="-122"/>
                <a:ea typeface="黑体" pitchFamily="2" charset="-122"/>
              </a:rPr>
              <a:t>A</a:t>
            </a:r>
            <a:r>
              <a:rPr lang="zh-CN" altLang="zh-CN" sz="2800" dirty="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111110001</a:t>
            </a:r>
            <a:r>
              <a:rPr lang="zh-CN" altLang="zh-CN" sz="2800" dirty="0" smtClean="0">
                <a:latin typeface="黑体" pitchFamily="2" charset="-122"/>
                <a:ea typeface="黑体" pitchFamily="2" charset="-122"/>
              </a:rPr>
              <a:t>,[</a:t>
            </a:r>
            <a:r>
              <a:rPr lang="en-US" altLang="zh-CN" sz="2800" dirty="0">
                <a:latin typeface="黑体" pitchFamily="2" charset="-122"/>
                <a:ea typeface="黑体" pitchFamily="2" charset="-122"/>
              </a:rPr>
              <a:t>B</a:t>
            </a:r>
            <a:r>
              <a:rPr lang="zh-CN" altLang="zh-CN" sz="2800" dirty="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smtClean="0">
                <a:latin typeface="黑体" pitchFamily="2" charset="-122"/>
                <a:ea typeface="黑体" pitchFamily="2" charset="-122"/>
              </a:rPr>
              <a:t>＝</a:t>
            </a:r>
            <a:r>
              <a:rPr lang="en-US" altLang="zh-CN" sz="2800" dirty="0">
                <a:latin typeface="黑体" pitchFamily="2" charset="-122"/>
                <a:ea typeface="黑体" pitchFamily="2" charset="-122"/>
              </a:rPr>
              <a:t>0</a:t>
            </a:r>
            <a:r>
              <a:rPr lang="en-US" altLang="zh-CN" sz="2800" dirty="0" smtClean="0">
                <a:latin typeface="黑体" pitchFamily="2" charset="-122"/>
                <a:ea typeface="黑体" pitchFamily="2" charset="-122"/>
              </a:rPr>
              <a:t>00011000</a:t>
            </a:r>
            <a:r>
              <a:rPr lang="zh-CN" altLang="zh-CN" sz="2800" dirty="0" smtClean="0">
                <a:latin typeface="黑体" pitchFamily="2" charset="-122"/>
                <a:ea typeface="黑体" pitchFamily="2" charset="-122"/>
              </a:rPr>
              <a:t>,</a:t>
            </a:r>
            <a:endParaRPr lang="en-US" altLang="zh-CN" sz="2800" dirty="0">
              <a:latin typeface="黑体" pitchFamily="2" charset="-122"/>
              <a:ea typeface="黑体" pitchFamily="2" charset="-122"/>
            </a:endParaRPr>
          </a:p>
          <a:p>
            <a:pPr eaLnBrk="0" hangingPunct="0">
              <a:lnSpc>
                <a:spcPct val="150000"/>
              </a:lnSpc>
            </a:pPr>
            <a:r>
              <a:rPr lang="en-US" altLang="zh-CN" sz="2800" dirty="0">
                <a:latin typeface="黑体" pitchFamily="2" charset="-122"/>
                <a:ea typeface="黑体" pitchFamily="2" charset="-122"/>
              </a:rPr>
              <a:t>                  </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a:t>
            </a:r>
            <a:r>
              <a:rPr lang="en-US" altLang="zh-CN" sz="2800" dirty="0">
                <a:latin typeface="黑体" pitchFamily="2" charset="-122"/>
                <a:ea typeface="黑体" pitchFamily="2" charset="-122"/>
              </a:rPr>
              <a:t>B</a:t>
            </a:r>
            <a:r>
              <a:rPr lang="zh-CN" altLang="zh-CN" sz="2800" dirty="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smtClean="0">
                <a:latin typeface="黑体" pitchFamily="2" charset="-122"/>
                <a:ea typeface="黑体" pitchFamily="2" charset="-122"/>
              </a:rPr>
              <a:t>＝</a:t>
            </a:r>
            <a:r>
              <a:rPr lang="en-US" altLang="zh-CN" sz="2800" dirty="0" smtClean="0">
                <a:latin typeface="黑体" pitchFamily="2" charset="-122"/>
                <a:ea typeface="黑体" pitchFamily="2" charset="-122"/>
              </a:rPr>
              <a:t>111101000</a:t>
            </a:r>
            <a:endParaRPr lang="zh-CN" altLang="zh-CN" sz="2800" dirty="0">
              <a:latin typeface="黑体" pitchFamily="2" charset="-122"/>
              <a:ea typeface="黑体" pitchFamily="2" charset="-122"/>
            </a:endParaRPr>
          </a:p>
          <a:p>
            <a:pPr eaLnBrk="0" hangingPunct="0"/>
            <a:r>
              <a:rPr lang="en-US" altLang="zh-CN" sz="2800" dirty="0">
                <a:latin typeface="黑体" pitchFamily="2" charset="-122"/>
                <a:ea typeface="黑体" pitchFamily="2" charset="-122"/>
              </a:rPr>
              <a:t>    </a:t>
            </a:r>
            <a:r>
              <a:rPr lang="zh-CN" altLang="zh-CN" sz="2800" dirty="0">
                <a:latin typeface="黑体" pitchFamily="2" charset="-122"/>
                <a:ea typeface="黑体" pitchFamily="2" charset="-122"/>
              </a:rPr>
              <a:t>[</a:t>
            </a:r>
            <a:r>
              <a:rPr lang="en-US" altLang="zh-CN" sz="2800" dirty="0">
                <a:latin typeface="黑体" pitchFamily="2" charset="-122"/>
                <a:ea typeface="黑体" pitchFamily="2" charset="-122"/>
              </a:rPr>
              <a:t>A</a:t>
            </a:r>
            <a:r>
              <a:rPr lang="zh-CN" altLang="zh-CN" sz="2800" dirty="0">
                <a:latin typeface="黑体" pitchFamily="2" charset="-122"/>
                <a:ea typeface="黑体" pitchFamily="2" charset="-122"/>
              </a:rPr>
              <a:t>]</a:t>
            </a:r>
            <a:r>
              <a:rPr lang="zh-CN" altLang="zh-CN" sz="2800" baseline="-30000" dirty="0">
                <a:latin typeface="黑体" pitchFamily="2" charset="-122"/>
                <a:ea typeface="黑体" pitchFamily="2" charset="-122"/>
              </a:rPr>
              <a:t>补</a:t>
            </a:r>
            <a:r>
              <a:rPr lang="zh-CN" altLang="zh-CN" sz="2800" dirty="0">
                <a:latin typeface="黑体" pitchFamily="2" charset="-122"/>
                <a:ea typeface="黑体" pitchFamily="2" charset="-122"/>
              </a:rPr>
              <a:t>　</a:t>
            </a:r>
            <a:r>
              <a:rPr lang="en-US" altLang="zh-CN" sz="2800" dirty="0" smtClean="0">
                <a:latin typeface="黑体" pitchFamily="2" charset="-122"/>
                <a:ea typeface="黑体" pitchFamily="2" charset="-122"/>
              </a:rPr>
              <a:t>111110001              111110001</a:t>
            </a:r>
            <a:endParaRPr lang="zh-CN" altLang="zh-CN" sz="2800" dirty="0">
              <a:latin typeface="黑体" pitchFamily="2" charset="-122"/>
              <a:ea typeface="黑体" pitchFamily="2" charset="-122"/>
            </a:endParaRPr>
          </a:p>
          <a:p>
            <a:pPr eaLnBrk="0" hangingPunct="0"/>
            <a:r>
              <a:rPr lang="en-US" altLang="zh-CN" sz="2800" dirty="0">
                <a:latin typeface="黑体" pitchFamily="2" charset="-122"/>
                <a:ea typeface="黑体" pitchFamily="2" charset="-122"/>
              </a:rPr>
              <a:t>  </a:t>
            </a:r>
            <a:r>
              <a:rPr lang="zh-CN" altLang="zh-CN" sz="2800" u="sng" dirty="0">
                <a:latin typeface="黑体" pitchFamily="2" charset="-122"/>
                <a:ea typeface="黑体" pitchFamily="2" charset="-122"/>
              </a:rPr>
              <a:t>＋[</a:t>
            </a:r>
            <a:r>
              <a:rPr lang="en-US" altLang="zh-CN" sz="2800" u="sng" dirty="0">
                <a:latin typeface="黑体" pitchFamily="2" charset="-122"/>
                <a:ea typeface="黑体" pitchFamily="2" charset="-122"/>
              </a:rPr>
              <a:t>B</a:t>
            </a:r>
            <a:r>
              <a:rPr lang="zh-CN" altLang="zh-CN" sz="2800" u="sng" dirty="0">
                <a:latin typeface="黑体" pitchFamily="2" charset="-122"/>
                <a:ea typeface="黑体" pitchFamily="2" charset="-122"/>
              </a:rPr>
              <a:t>]</a:t>
            </a:r>
            <a:r>
              <a:rPr lang="zh-CN" altLang="zh-CN" sz="2800" u="sng" baseline="-25000" dirty="0">
                <a:latin typeface="黑体" pitchFamily="2" charset="-122"/>
                <a:ea typeface="黑体" pitchFamily="2" charset="-122"/>
              </a:rPr>
              <a:t>补</a:t>
            </a:r>
            <a:r>
              <a:rPr lang="zh-CN" altLang="zh-CN" sz="2800" u="sng" dirty="0">
                <a:latin typeface="黑体" pitchFamily="2" charset="-122"/>
                <a:ea typeface="黑体" pitchFamily="2" charset="-122"/>
              </a:rPr>
              <a:t>　</a:t>
            </a:r>
            <a:r>
              <a:rPr lang="en-US" altLang="zh-CN" sz="2800" u="sng" dirty="0" smtClean="0">
                <a:latin typeface="黑体" pitchFamily="2" charset="-122"/>
                <a:ea typeface="黑体" pitchFamily="2" charset="-122"/>
              </a:rPr>
              <a:t>000011000 </a:t>
            </a:r>
            <a:r>
              <a:rPr lang="zh-CN" altLang="zh-CN" sz="2800" u="sng" dirty="0">
                <a:latin typeface="黑体" pitchFamily="2" charset="-122"/>
                <a:ea typeface="黑体" pitchFamily="2" charset="-122"/>
              </a:rPr>
              <a:t>　</a:t>
            </a:r>
            <a:r>
              <a:rPr lang="zh-CN" altLang="zh-CN" sz="2800" dirty="0">
                <a:latin typeface="黑体" pitchFamily="2" charset="-122"/>
                <a:ea typeface="黑体" pitchFamily="2" charset="-122"/>
              </a:rPr>
              <a:t> </a:t>
            </a:r>
            <a:r>
              <a:rPr lang="zh-CN" altLang="zh-CN" sz="2800" u="sng" dirty="0">
                <a:latin typeface="黑体" pitchFamily="2" charset="-122"/>
                <a:ea typeface="黑体" pitchFamily="2" charset="-122"/>
              </a:rPr>
              <a:t>＋[</a:t>
            </a:r>
            <a:r>
              <a:rPr lang="en-US" altLang="zh-CN" sz="2800" u="sng" dirty="0">
                <a:latin typeface="黑体" pitchFamily="2" charset="-122"/>
                <a:ea typeface="黑体" pitchFamily="2" charset="-122"/>
              </a:rPr>
              <a:t>-B</a:t>
            </a:r>
            <a:r>
              <a:rPr lang="zh-CN" altLang="zh-CN" sz="2800" u="sng" dirty="0">
                <a:latin typeface="黑体" pitchFamily="2" charset="-122"/>
                <a:ea typeface="黑体" pitchFamily="2" charset="-122"/>
              </a:rPr>
              <a:t>]</a:t>
            </a:r>
            <a:r>
              <a:rPr lang="zh-CN" altLang="zh-CN" sz="2800" u="sng" baseline="-25000" dirty="0">
                <a:latin typeface="黑体" pitchFamily="2" charset="-122"/>
                <a:ea typeface="黑体" pitchFamily="2" charset="-122"/>
              </a:rPr>
              <a:t>补</a:t>
            </a:r>
            <a:r>
              <a:rPr lang="en-US" altLang="zh-CN" sz="2800" u="sng" baseline="-25000" dirty="0">
                <a:latin typeface="黑体" pitchFamily="2" charset="-122"/>
                <a:ea typeface="黑体" pitchFamily="2" charset="-122"/>
              </a:rPr>
              <a:t>  </a:t>
            </a:r>
            <a:r>
              <a:rPr lang="en-US" altLang="zh-CN" sz="2800" u="sng" baseline="-25000" dirty="0" smtClean="0">
                <a:latin typeface="黑体" pitchFamily="2" charset="-122"/>
                <a:ea typeface="黑体" pitchFamily="2" charset="-122"/>
              </a:rPr>
              <a:t>  </a:t>
            </a:r>
            <a:r>
              <a:rPr lang="en-US" altLang="zh-CN" sz="2800" u="sng" dirty="0" smtClean="0">
                <a:latin typeface="黑体" pitchFamily="2" charset="-122"/>
                <a:ea typeface="黑体" pitchFamily="2" charset="-122"/>
              </a:rPr>
              <a:t>111101000  </a:t>
            </a:r>
            <a:endParaRPr lang="zh-CN" altLang="zh-CN" sz="2800" u="sng" dirty="0">
              <a:latin typeface="黑体" pitchFamily="2" charset="-122"/>
              <a:ea typeface="黑体" pitchFamily="2" charset="-122"/>
            </a:endParaRPr>
          </a:p>
          <a:p>
            <a:pPr eaLnBrk="0" hangingPunct="0"/>
            <a:r>
              <a:rPr lang="en-US" altLang="zh-CN" sz="2800" dirty="0" smtClean="0">
                <a:latin typeface="黑体" pitchFamily="2" charset="-122"/>
                <a:ea typeface="黑体" pitchFamily="2" charset="-122"/>
              </a:rPr>
              <a:t>         </a:t>
            </a:r>
            <a:r>
              <a:rPr lang="en-US" altLang="zh-CN" sz="2800" dirty="0" smtClean="0">
                <a:solidFill>
                  <a:srgbClr val="FF0000"/>
                </a:solidFill>
                <a:latin typeface="黑体" pitchFamily="2" charset="-122"/>
                <a:ea typeface="黑体" pitchFamily="2" charset="-122"/>
              </a:rPr>
              <a:t>1</a:t>
            </a:r>
            <a:r>
              <a:rPr lang="en-US" altLang="zh-CN" sz="2800" dirty="0" smtClean="0">
                <a:latin typeface="黑体" pitchFamily="2" charset="-122"/>
                <a:ea typeface="黑体" pitchFamily="2" charset="-122"/>
              </a:rPr>
              <a:t>000001001             </a:t>
            </a:r>
            <a:r>
              <a:rPr lang="en-US" altLang="zh-CN" sz="2800" dirty="0" smtClean="0">
                <a:solidFill>
                  <a:srgbClr val="FF0000"/>
                </a:solidFill>
                <a:latin typeface="黑体" pitchFamily="2" charset="-122"/>
                <a:ea typeface="黑体" pitchFamily="2" charset="-122"/>
              </a:rPr>
              <a:t>1</a:t>
            </a:r>
            <a:r>
              <a:rPr lang="en-US" altLang="zh-CN" sz="2800" dirty="0" smtClean="0">
                <a:latin typeface="黑体" pitchFamily="2" charset="-122"/>
                <a:ea typeface="黑体" pitchFamily="2" charset="-122"/>
              </a:rPr>
              <a:t>111011001                  </a:t>
            </a:r>
            <a:endParaRPr lang="zh-CN" altLang="zh-CN" sz="2800" dirty="0">
              <a:latin typeface="黑体" pitchFamily="2" charset="-122"/>
              <a:ea typeface="黑体" pitchFamily="2" charset="-122"/>
            </a:endParaRPr>
          </a:p>
          <a:p>
            <a:pPr eaLnBrk="0" hangingPunct="0">
              <a:lnSpc>
                <a:spcPct val="150000"/>
              </a:lnSpc>
            </a:pPr>
            <a:r>
              <a:rPr lang="en-US" altLang="zh-CN" sz="2800" dirty="0">
                <a:latin typeface="黑体" panose="02010609060101010101" pitchFamily="49" charset="-122"/>
                <a:ea typeface="黑体" panose="02010609060101010101" pitchFamily="49" charset="-122"/>
              </a:rPr>
              <a:t>  [A+B]</a:t>
            </a:r>
            <a:r>
              <a:rPr lang="zh-CN" altLang="zh-CN" sz="2800" baseline="-25000" dirty="0">
                <a:latin typeface="黑体" panose="02010609060101010101" pitchFamily="49" charset="-122"/>
                <a:ea typeface="黑体" panose="02010609060101010101" pitchFamily="49" charset="-122"/>
              </a:rPr>
              <a:t>补</a:t>
            </a:r>
            <a:r>
              <a:rPr lang="en-US" altLang="zh-CN" sz="2800" dirty="0" smtClean="0">
                <a:latin typeface="黑体" pitchFamily="2" charset="-122"/>
                <a:ea typeface="黑体" pitchFamily="2" charset="-122"/>
              </a:rPr>
              <a:t>=00001001       </a:t>
            </a:r>
            <a:r>
              <a:rPr lang="en-US" altLang="zh-CN" sz="2800" dirty="0">
                <a:latin typeface="黑体" panose="02010609060101010101" pitchFamily="49" charset="-122"/>
                <a:ea typeface="黑体" panose="02010609060101010101" pitchFamily="49" charset="-122"/>
              </a:rPr>
              <a:t>[A-B]</a:t>
            </a:r>
            <a:r>
              <a:rPr lang="zh-CN" altLang="zh-CN" sz="2800" baseline="-25000" dirty="0">
                <a:latin typeface="黑体" panose="02010609060101010101" pitchFamily="49" charset="-122"/>
                <a:ea typeface="黑体" panose="02010609060101010101" pitchFamily="49" charset="-122"/>
              </a:rPr>
              <a:t>补</a:t>
            </a:r>
            <a:r>
              <a:rPr lang="en-US" altLang="zh-CN" sz="2800" dirty="0" smtClean="0">
                <a:latin typeface="黑体" pitchFamily="2" charset="-122"/>
                <a:ea typeface="黑体" pitchFamily="2" charset="-122"/>
              </a:rPr>
              <a:t>=11011001 </a:t>
            </a:r>
            <a:endParaRPr lang="zh-CN" altLang="zh-CN" sz="2800" dirty="0">
              <a:latin typeface="黑体" pitchFamily="2" charset="-122"/>
              <a:ea typeface="黑体" pitchFamily="2" charset="-122"/>
            </a:endParaRPr>
          </a:p>
          <a:p>
            <a:r>
              <a:rPr lang="en-US" altLang="zh-CN" sz="2800" dirty="0">
                <a:latin typeface="黑体" panose="02010609060101010101" pitchFamily="49" charset="-122"/>
                <a:ea typeface="黑体" panose="02010609060101010101" pitchFamily="49" charset="-122"/>
              </a:rPr>
              <a:t>  </a:t>
            </a:r>
            <a:r>
              <a:rPr lang="en-US" altLang="zh-CN" sz="2800" dirty="0" smtClean="0">
                <a:latin typeface="黑体" panose="02010609060101010101" pitchFamily="49" charset="-122"/>
                <a:ea typeface="黑体" panose="02010609060101010101" pitchFamily="49" charset="-122"/>
              </a:rPr>
              <a:t> A+B = +0001001=(9)</a:t>
            </a:r>
            <a:r>
              <a:rPr lang="en-US" altLang="zh-CN" sz="2800" baseline="-25000" dirty="0" smtClean="0">
                <a:latin typeface="黑体" panose="02010609060101010101" pitchFamily="49" charset="-122"/>
                <a:ea typeface="黑体" panose="02010609060101010101" pitchFamily="49" charset="-122"/>
              </a:rPr>
              <a:t>10</a:t>
            </a:r>
            <a:r>
              <a:rPr lang="en-US" altLang="zh-CN" sz="2800" dirty="0" smtClean="0">
                <a:latin typeface="黑体" panose="02010609060101010101" pitchFamily="49" charset="-122"/>
                <a:ea typeface="黑体" panose="02010609060101010101" pitchFamily="49" charset="-122"/>
              </a:rPr>
              <a:t>  A-B </a:t>
            </a:r>
            <a:r>
              <a:rPr lang="en-US" altLang="zh-CN" sz="2800" dirty="0">
                <a:latin typeface="黑体" panose="02010609060101010101" pitchFamily="49" charset="-122"/>
                <a:ea typeface="黑体" panose="02010609060101010101" pitchFamily="49" charset="-122"/>
              </a:rPr>
              <a:t>= </a:t>
            </a:r>
            <a:r>
              <a:rPr lang="en-US" altLang="zh-CN" sz="2800" dirty="0" smtClean="0">
                <a:latin typeface="黑体" panose="02010609060101010101" pitchFamily="49" charset="-122"/>
                <a:ea typeface="黑体" panose="02010609060101010101" pitchFamily="49" charset="-122"/>
              </a:rPr>
              <a:t>-0100111=(-39)</a:t>
            </a:r>
            <a:r>
              <a:rPr lang="en-US" altLang="zh-CN" sz="2800" baseline="-25000" dirty="0" smtClean="0">
                <a:latin typeface="黑体" panose="02010609060101010101" pitchFamily="49" charset="-122"/>
                <a:ea typeface="黑体" panose="02010609060101010101" pitchFamily="49" charset="-122"/>
              </a:rPr>
              <a:t>10</a:t>
            </a:r>
            <a:r>
              <a:rPr lang="en-US" altLang="zh-CN" sz="2800" dirty="0">
                <a:latin typeface="黑体" panose="02010609060101010101" pitchFamily="49" charset="-122"/>
                <a:ea typeface="黑体" panose="02010609060101010101" pitchFamily="49" charset="-122"/>
              </a:rPr>
              <a:t>  </a:t>
            </a:r>
            <a:endParaRPr lang="zh-CN" altLang="zh-CN"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9528647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1"/>
          <p:cNvSpPr>
            <a:spLocks noChangeArrowheads="1"/>
          </p:cNvSpPr>
          <p:nvPr/>
        </p:nvSpPr>
        <p:spPr bwMode="auto">
          <a:xfrm>
            <a:off x="250825" y="188913"/>
            <a:ext cx="8821738"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2400" dirty="0">
                <a:solidFill>
                  <a:srgbClr val="C00000"/>
                </a:solidFill>
                <a:latin typeface="黑体" pitchFamily="2" charset="-122"/>
                <a:ea typeface="黑体" pitchFamily="2" charset="-122"/>
              </a:rPr>
              <a:t>第二种方法：</a:t>
            </a:r>
            <a:r>
              <a:rPr lang="zh-CN" altLang="en-US" sz="2400" dirty="0">
                <a:latin typeface="黑体" pitchFamily="2" charset="-122"/>
                <a:ea typeface="黑体" pitchFamily="2" charset="-122"/>
              </a:rPr>
              <a:t>采用单符号位法。</a:t>
            </a:r>
          </a:p>
          <a:p>
            <a:pPr>
              <a:lnSpc>
                <a:spcPct val="130000"/>
              </a:lnSpc>
            </a:pPr>
            <a:r>
              <a:rPr lang="en-US" altLang="zh-CN" sz="2400" dirty="0">
                <a:latin typeface="黑体" pitchFamily="2" charset="-122"/>
                <a:ea typeface="黑体" pitchFamily="2" charset="-122"/>
              </a:rPr>
              <a:t>  </a:t>
            </a:r>
            <a:r>
              <a:rPr lang="en-US" altLang="zh-CN" sz="2400" dirty="0">
                <a:solidFill>
                  <a:srgbClr val="C00000"/>
                </a:solidFill>
                <a:latin typeface="黑体" pitchFamily="2" charset="-122"/>
                <a:ea typeface="黑体" pitchFamily="2" charset="-122"/>
              </a:rPr>
              <a:t>x1+y1</a:t>
            </a:r>
            <a:r>
              <a:rPr lang="zh-CN" altLang="en-US" sz="2400" dirty="0">
                <a:solidFill>
                  <a:srgbClr val="C00000"/>
                </a:solidFill>
                <a:latin typeface="黑体" pitchFamily="2" charset="-122"/>
                <a:ea typeface="黑体" pitchFamily="2" charset="-122"/>
              </a:rPr>
              <a:t>有进位</a:t>
            </a:r>
          </a:p>
          <a:p>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00x1x2 </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00x1x2 </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11x1x2</a:t>
            </a:r>
          </a:p>
          <a:p>
            <a:r>
              <a:rPr lang="en-US" altLang="zh-CN" sz="2400" dirty="0">
                <a:latin typeface="黑体" pitchFamily="2" charset="-122"/>
                <a:ea typeface="黑体" pitchFamily="2" charset="-122"/>
              </a:rPr>
              <a:t>+  00y1y2 </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+ 11y1y2</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+ 11y1y2</a:t>
            </a:r>
          </a:p>
          <a:p>
            <a:r>
              <a:rPr lang="en-US" altLang="zh-CN" sz="2400" dirty="0">
                <a:latin typeface="黑体" pitchFamily="2" charset="-122"/>
                <a:ea typeface="黑体" pitchFamily="2" charset="-122"/>
              </a:rPr>
              <a:t>-----------  ----------  -----------</a:t>
            </a:r>
          </a:p>
          <a:p>
            <a:r>
              <a:rPr lang="zh-CN" altLang="en-US" sz="2400" dirty="0">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01</a:t>
            </a:r>
            <a:r>
              <a:rPr lang="en-US" altLang="zh-CN" sz="2400" dirty="0">
                <a:latin typeface="黑体" pitchFamily="2" charset="-122"/>
                <a:ea typeface="黑体" pitchFamily="2" charset="-122"/>
              </a:rPr>
              <a:t>z1z2 </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100z1z2 </a:t>
            </a:r>
            <a:r>
              <a:rPr lang="zh-CN" altLang="en-US" sz="2400" dirty="0">
                <a:latin typeface="黑体" pitchFamily="2" charset="-122"/>
                <a:ea typeface="黑体" pitchFamily="2" charset="-122"/>
              </a:rPr>
              <a:t>　  </a:t>
            </a:r>
            <a:r>
              <a:rPr lang="en-US" altLang="zh-CN" sz="2400" dirty="0">
                <a:latin typeface="黑体" pitchFamily="2" charset="-122"/>
                <a:ea typeface="黑体" pitchFamily="2" charset="-122"/>
              </a:rPr>
              <a:t>111z1z2</a:t>
            </a:r>
          </a:p>
          <a:p>
            <a:pPr eaLnBrk="0" hangingPunct="0">
              <a:lnSpc>
                <a:spcPct val="130000"/>
              </a:lnSpc>
            </a:pPr>
            <a:r>
              <a:rPr lang="zh-CN" altLang="en-US" sz="2400" dirty="0">
                <a:solidFill>
                  <a:schemeClr val="tx2">
                    <a:lumMod val="60000"/>
                    <a:lumOff val="40000"/>
                  </a:schemeClr>
                </a:solidFill>
                <a:effectLst>
                  <a:outerShdw blurRad="38100" dist="38100" dir="2700000" algn="tl">
                    <a:srgbClr val="000000">
                      <a:alpha val="43137"/>
                    </a:srgbClr>
                  </a:outerShdw>
                </a:effectLst>
                <a:latin typeface="黑体" pitchFamily="2" charset="-122"/>
                <a:ea typeface="黑体" pitchFamily="2" charset="-122"/>
              </a:rPr>
              <a:t>  当最高有效位产生进位，而符号位无进位时</a:t>
            </a:r>
            <a:r>
              <a:rPr lang="en-US" altLang="zh-CN" sz="2400" dirty="0">
                <a:solidFill>
                  <a:schemeClr val="tx2">
                    <a:lumMod val="60000"/>
                    <a:lumOff val="40000"/>
                  </a:schemeClr>
                </a:solidFill>
                <a:effectLst>
                  <a:outerShdw blurRad="38100" dist="38100" dir="2700000" algn="tl">
                    <a:srgbClr val="000000">
                      <a:alpha val="43137"/>
                    </a:srgbClr>
                  </a:outerShdw>
                </a:effectLst>
                <a:latin typeface="黑体" pitchFamily="2" charset="-122"/>
                <a:ea typeface="黑体" pitchFamily="2" charset="-122"/>
              </a:rPr>
              <a:t>,</a:t>
            </a:r>
            <a:r>
              <a:rPr lang="zh-CN" altLang="en-US" sz="2400" dirty="0" smtClean="0">
                <a:solidFill>
                  <a:schemeClr val="tx2">
                    <a:lumMod val="60000"/>
                    <a:lumOff val="40000"/>
                  </a:schemeClr>
                </a:solidFill>
                <a:effectLst>
                  <a:outerShdw blurRad="38100" dist="38100" dir="2700000" algn="tl">
                    <a:srgbClr val="000000">
                      <a:alpha val="43137"/>
                    </a:srgbClr>
                  </a:outerShdw>
                </a:effectLst>
                <a:latin typeface="黑体" pitchFamily="2" charset="-122"/>
                <a:ea typeface="黑体" pitchFamily="2" charset="-122"/>
              </a:rPr>
              <a:t>产生正溢</a:t>
            </a:r>
            <a:r>
              <a:rPr lang="zh-CN" altLang="en-US" sz="2400" dirty="0">
                <a:latin typeface="黑体" pitchFamily="2" charset="-122"/>
                <a:ea typeface="黑体" pitchFamily="2" charset="-122"/>
              </a:rPr>
              <a:t>；</a:t>
            </a:r>
            <a:endParaRPr lang="en-US" altLang="zh-CN" sz="2400" dirty="0">
              <a:latin typeface="黑体" pitchFamily="2" charset="-122"/>
              <a:ea typeface="黑体" pitchFamily="2" charset="-122"/>
            </a:endParaRPr>
          </a:p>
          <a:p>
            <a:pPr eaLnBrk="0" hangingPunct="0">
              <a:lnSpc>
                <a:spcPct val="130000"/>
              </a:lnSpc>
            </a:pPr>
            <a:r>
              <a:rPr lang="en-US" altLang="zh-CN" sz="2400" dirty="0">
                <a:solidFill>
                  <a:srgbClr val="FF0000"/>
                </a:solidFill>
                <a:latin typeface="黑体" pitchFamily="2" charset="-122"/>
                <a:ea typeface="黑体" pitchFamily="2" charset="-122"/>
              </a:rPr>
              <a:t>  </a:t>
            </a:r>
            <a:r>
              <a:rPr lang="zh-CN" altLang="zh-CN" sz="2400" dirty="0">
                <a:solidFill>
                  <a:srgbClr val="C00000"/>
                </a:solidFill>
                <a:latin typeface="黑体" pitchFamily="2" charset="-122"/>
                <a:ea typeface="黑体" pitchFamily="2" charset="-122"/>
              </a:rPr>
              <a:t>x1+y1无进位</a:t>
            </a:r>
          </a:p>
          <a:p>
            <a:pPr eaLnBrk="0" hangingPunct="0"/>
            <a:r>
              <a:rPr lang="zh-CN" altLang="zh-CN" sz="2400" dirty="0">
                <a:latin typeface="黑体" pitchFamily="2" charset="-122"/>
                <a:ea typeface="黑体" pitchFamily="2" charset="-122"/>
              </a:rPr>
              <a:t>　 00x1x2 　 　00x1x2 　 　11x1x2</a:t>
            </a:r>
          </a:p>
          <a:p>
            <a:pPr eaLnBrk="0" hangingPunct="0"/>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00y1y2 　 + 11y1y2 　 + 11y1y2</a:t>
            </a:r>
          </a:p>
          <a:p>
            <a:pPr eaLnBrk="0" hangingPunct="0"/>
            <a:r>
              <a:rPr lang="zh-CN" altLang="zh-CN" sz="2400" dirty="0">
                <a:latin typeface="黑体" pitchFamily="2" charset="-122"/>
                <a:ea typeface="黑体" pitchFamily="2" charset="-122"/>
              </a:rPr>
              <a:t>-----------</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　-----------</a:t>
            </a:r>
          </a:p>
          <a:p>
            <a:pPr eaLnBrk="0" hangingPunct="0"/>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00z1z2 　　 11z1z2 　 </a:t>
            </a: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1</a:t>
            </a:r>
            <a:r>
              <a:rPr lang="zh-CN" altLang="zh-CN" sz="2400" dirty="0">
                <a:solidFill>
                  <a:srgbClr val="FF0000"/>
                </a:solidFill>
                <a:latin typeface="黑体" pitchFamily="2" charset="-122"/>
                <a:ea typeface="黑体" pitchFamily="2" charset="-122"/>
              </a:rPr>
              <a:t>10</a:t>
            </a:r>
            <a:r>
              <a:rPr lang="zh-CN" altLang="zh-CN" sz="2400" dirty="0">
                <a:latin typeface="黑体" pitchFamily="2" charset="-122"/>
                <a:ea typeface="黑体" pitchFamily="2" charset="-122"/>
              </a:rPr>
              <a:t>z1z2</a:t>
            </a:r>
          </a:p>
          <a:p>
            <a:pPr eaLnBrk="0" hangingPunct="0">
              <a:lnSpc>
                <a:spcPct val="130000"/>
              </a:lnSpc>
            </a:pPr>
            <a:r>
              <a:rPr lang="en-US" altLang="zh-CN" sz="2400" dirty="0">
                <a:latin typeface="黑体" pitchFamily="2" charset="-122"/>
                <a:ea typeface="黑体" pitchFamily="2" charset="-122"/>
              </a:rPr>
              <a:t>  </a:t>
            </a:r>
            <a:r>
              <a:rPr lang="zh-CN" altLang="zh-CN" sz="2400" b="1" dirty="0">
                <a:solidFill>
                  <a:schemeClr val="tx2">
                    <a:lumMod val="60000"/>
                    <a:lumOff val="40000"/>
                  </a:schemeClr>
                </a:solidFill>
                <a:latin typeface="黑体" pitchFamily="2" charset="-122"/>
                <a:ea typeface="黑体" pitchFamily="2" charset="-122"/>
              </a:rPr>
              <a:t>当最高有效位无进位</a:t>
            </a:r>
            <a:r>
              <a:rPr lang="zh-CN" altLang="en-US" sz="2400" b="1" dirty="0">
                <a:solidFill>
                  <a:schemeClr val="tx2">
                    <a:lumMod val="60000"/>
                    <a:lumOff val="40000"/>
                  </a:schemeClr>
                </a:solidFill>
                <a:latin typeface="黑体" pitchFamily="2" charset="-122"/>
                <a:ea typeface="黑体" pitchFamily="2" charset="-122"/>
              </a:rPr>
              <a:t>，</a:t>
            </a:r>
            <a:r>
              <a:rPr lang="zh-CN" altLang="zh-CN" sz="2400" b="1" dirty="0">
                <a:solidFill>
                  <a:schemeClr val="tx2">
                    <a:lumMod val="60000"/>
                    <a:lumOff val="40000"/>
                  </a:schemeClr>
                </a:solidFill>
                <a:latin typeface="黑体" pitchFamily="2" charset="-122"/>
                <a:ea typeface="黑体" pitchFamily="2" charset="-122"/>
              </a:rPr>
              <a:t>而符号位有进位时,</a:t>
            </a:r>
            <a:r>
              <a:rPr lang="zh-CN" altLang="zh-CN" sz="2400" b="1" dirty="0" smtClean="0">
                <a:solidFill>
                  <a:schemeClr val="tx2">
                    <a:lumMod val="60000"/>
                    <a:lumOff val="40000"/>
                  </a:schemeClr>
                </a:solidFill>
                <a:latin typeface="黑体" pitchFamily="2" charset="-122"/>
                <a:ea typeface="黑体" pitchFamily="2" charset="-122"/>
              </a:rPr>
              <a:t>产生</a:t>
            </a:r>
            <a:r>
              <a:rPr lang="zh-CN" altLang="en-US" sz="2400" b="1" dirty="0" smtClean="0">
                <a:solidFill>
                  <a:schemeClr val="tx2">
                    <a:lumMod val="60000"/>
                    <a:lumOff val="40000"/>
                  </a:schemeClr>
                </a:solidFill>
                <a:latin typeface="黑体" pitchFamily="2" charset="-122"/>
                <a:ea typeface="黑体" pitchFamily="2" charset="-122"/>
              </a:rPr>
              <a:t>负</a:t>
            </a:r>
            <a:r>
              <a:rPr lang="zh-CN" altLang="zh-CN" sz="2400" b="1" dirty="0" smtClean="0">
                <a:solidFill>
                  <a:schemeClr val="tx2">
                    <a:lumMod val="60000"/>
                    <a:lumOff val="40000"/>
                  </a:schemeClr>
                </a:solidFill>
                <a:latin typeface="黑体" pitchFamily="2" charset="-122"/>
                <a:ea typeface="黑体" pitchFamily="2" charset="-122"/>
              </a:rPr>
              <a:t>溢</a:t>
            </a:r>
            <a:r>
              <a:rPr lang="zh-CN" altLang="zh-CN" sz="2400" b="1" dirty="0">
                <a:solidFill>
                  <a:schemeClr val="tx2">
                    <a:lumMod val="60000"/>
                    <a:lumOff val="40000"/>
                  </a:schemeClr>
                </a:solidFill>
                <a:latin typeface="黑体" pitchFamily="2" charset="-122"/>
                <a:ea typeface="黑体" pitchFamily="2" charset="-122"/>
              </a:rPr>
              <a:t>。</a:t>
            </a:r>
            <a:endParaRPr lang="en-US" altLang="zh-CN" sz="2400" b="1" dirty="0">
              <a:solidFill>
                <a:schemeClr val="tx2">
                  <a:lumMod val="60000"/>
                  <a:lumOff val="40000"/>
                </a:schemeClr>
              </a:solidFill>
              <a:latin typeface="黑体" pitchFamily="2" charset="-122"/>
              <a:ea typeface="黑体" pitchFamily="2" charset="-122"/>
            </a:endParaRPr>
          </a:p>
          <a:p>
            <a:pPr eaLnBrk="0" hangingPunct="0">
              <a:lnSpc>
                <a:spcPct val="130000"/>
              </a:lnSpc>
            </a:pPr>
            <a:r>
              <a:rPr lang="en-US" altLang="zh-CN" sz="2400" dirty="0">
                <a:latin typeface="黑体" pitchFamily="2" charset="-122"/>
                <a:ea typeface="黑体" pitchFamily="2" charset="-122"/>
              </a:rPr>
              <a:t>    </a:t>
            </a:r>
            <a:r>
              <a:rPr lang="zh-CN" altLang="zh-CN" sz="2400" dirty="0">
                <a:solidFill>
                  <a:srgbClr val="FF0000"/>
                </a:solidFill>
                <a:latin typeface="黑体" pitchFamily="2" charset="-122"/>
                <a:ea typeface="黑体" pitchFamily="2" charset="-122"/>
              </a:rPr>
              <a:t>故溢出逻辑表达式</a:t>
            </a:r>
            <a:r>
              <a:rPr lang="zh-CN" altLang="zh-CN" sz="2400" i="1" dirty="0">
                <a:solidFill>
                  <a:srgbClr val="FF0000"/>
                </a:solidFill>
                <a:latin typeface="黑体" pitchFamily="2" charset="-122"/>
                <a:ea typeface="黑体" pitchFamily="2" charset="-122"/>
              </a:rPr>
              <a:t>V</a:t>
            </a:r>
            <a:r>
              <a:rPr lang="zh-CN" altLang="zh-CN" sz="2400" dirty="0">
                <a:solidFill>
                  <a:srgbClr val="FF0000"/>
                </a:solidFill>
                <a:latin typeface="黑体" pitchFamily="2" charset="-122"/>
                <a:ea typeface="黑体" pitchFamily="2" charset="-122"/>
              </a:rPr>
              <a:t>＝</a:t>
            </a:r>
            <a:r>
              <a:rPr lang="zh-CN" altLang="zh-CN" sz="2400" i="1" dirty="0">
                <a:solidFill>
                  <a:srgbClr val="FF0000"/>
                </a:solidFill>
                <a:latin typeface="黑体" pitchFamily="2" charset="-122"/>
                <a:ea typeface="黑体" pitchFamily="2" charset="-122"/>
              </a:rPr>
              <a:t>C</a:t>
            </a:r>
            <a:r>
              <a:rPr lang="zh-CN" altLang="zh-CN" sz="2400" i="1" baseline="-30000" dirty="0">
                <a:solidFill>
                  <a:srgbClr val="FF0000"/>
                </a:solidFill>
                <a:latin typeface="黑体" pitchFamily="2" charset="-122"/>
                <a:ea typeface="黑体" pitchFamily="2" charset="-122"/>
              </a:rPr>
              <a:t>f</a:t>
            </a:r>
            <a:r>
              <a:rPr lang="zh-CN" altLang="zh-CN" sz="2400" dirty="0">
                <a:solidFill>
                  <a:srgbClr val="FF0000"/>
                </a:solidFill>
                <a:latin typeface="黑体" pitchFamily="2" charset="-122"/>
                <a:ea typeface="黑体" pitchFamily="2" charset="-122"/>
              </a:rPr>
              <a:t>⊕</a:t>
            </a:r>
            <a:r>
              <a:rPr lang="zh-CN" altLang="zh-CN" sz="2400" i="1" dirty="0">
                <a:solidFill>
                  <a:srgbClr val="FF0000"/>
                </a:solidFill>
                <a:latin typeface="黑体" pitchFamily="2" charset="-122"/>
                <a:ea typeface="黑体" pitchFamily="2" charset="-122"/>
              </a:rPr>
              <a:t>C</a:t>
            </a:r>
            <a:r>
              <a:rPr lang="zh-CN" altLang="zh-CN" sz="2400" baseline="-30000" dirty="0">
                <a:solidFill>
                  <a:srgbClr val="FF0000"/>
                </a:solidFill>
                <a:latin typeface="黑体" pitchFamily="2" charset="-122"/>
                <a:ea typeface="黑体" pitchFamily="2" charset="-122"/>
              </a:rPr>
              <a:t>0</a:t>
            </a:r>
            <a:r>
              <a:rPr lang="zh-CN" altLang="zh-CN" sz="2400" dirty="0">
                <a:solidFill>
                  <a:srgbClr val="FF0000"/>
                </a:solidFill>
                <a:latin typeface="黑体" pitchFamily="2" charset="-122"/>
                <a:ea typeface="黑体" pitchFamily="2" charset="-122"/>
              </a:rPr>
              <a:t>,其中C</a:t>
            </a:r>
            <a:r>
              <a:rPr lang="zh-CN" altLang="zh-CN" sz="2400" i="1" baseline="-30000" dirty="0">
                <a:solidFill>
                  <a:srgbClr val="FF0000"/>
                </a:solidFill>
                <a:latin typeface="黑体" pitchFamily="2" charset="-122"/>
                <a:ea typeface="黑体" pitchFamily="2" charset="-122"/>
              </a:rPr>
              <a:t>f</a:t>
            </a:r>
            <a:r>
              <a:rPr lang="zh-CN" altLang="zh-CN" sz="2400" dirty="0">
                <a:solidFill>
                  <a:srgbClr val="FF0000"/>
                </a:solidFill>
                <a:latin typeface="黑体" pitchFamily="2" charset="-122"/>
                <a:ea typeface="黑体" pitchFamily="2" charset="-122"/>
              </a:rPr>
              <a:t>为符号位产生的进位,</a:t>
            </a:r>
            <a:endParaRPr lang="en-US" altLang="zh-CN" sz="2400" dirty="0">
              <a:solidFill>
                <a:srgbClr val="FF0000"/>
              </a:solidFill>
              <a:latin typeface="黑体" pitchFamily="2" charset="-122"/>
              <a:ea typeface="黑体" pitchFamily="2" charset="-122"/>
            </a:endParaRPr>
          </a:p>
          <a:p>
            <a:pPr eaLnBrk="0" hangingPunct="0">
              <a:lnSpc>
                <a:spcPct val="130000"/>
              </a:lnSpc>
            </a:pPr>
            <a:r>
              <a:rPr lang="zh-CN" altLang="zh-CN" sz="2400" dirty="0">
                <a:solidFill>
                  <a:srgbClr val="FF0000"/>
                </a:solidFill>
                <a:latin typeface="黑体" pitchFamily="2" charset="-122"/>
                <a:ea typeface="黑体" pitchFamily="2" charset="-122"/>
              </a:rPr>
              <a:t>C</a:t>
            </a:r>
            <a:r>
              <a:rPr lang="zh-CN" altLang="zh-CN" sz="2400" baseline="-30000" dirty="0">
                <a:solidFill>
                  <a:srgbClr val="FF0000"/>
                </a:solidFill>
                <a:latin typeface="黑体" pitchFamily="2" charset="-122"/>
                <a:ea typeface="黑体" pitchFamily="2" charset="-122"/>
              </a:rPr>
              <a:t>0</a:t>
            </a:r>
            <a:r>
              <a:rPr lang="zh-CN" altLang="zh-CN" sz="2400" dirty="0">
                <a:solidFill>
                  <a:srgbClr val="FF0000"/>
                </a:solidFill>
                <a:latin typeface="黑体" pitchFamily="2" charset="-122"/>
                <a:ea typeface="黑体" pitchFamily="2" charset="-122"/>
              </a:rPr>
              <a:t>为最高有效位产生的进位。此逻辑表达式也可用异或门实现。</a:t>
            </a:r>
            <a:endParaRPr lang="zh-CN" altLang="en-US" sz="2400" dirty="0">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5892" y="548680"/>
            <a:ext cx="8705844" cy="6026265"/>
          </a:xfrm>
          <a:prstGeom prst="rect">
            <a:avLst/>
          </a:prstGeom>
        </p:spPr>
        <p:txBody>
          <a:bodyPr wrap="square">
            <a:spAutoFit/>
          </a:bodyPr>
          <a:lstStyle/>
          <a:p>
            <a:pPr algn="ctr">
              <a:lnSpc>
                <a:spcPct val="120000"/>
              </a:lnSpc>
              <a:spcAft>
                <a:spcPts val="1800"/>
              </a:spcAft>
            </a:pPr>
            <a:r>
              <a:rPr lang="zh-CN" altLang="en-US" sz="4800" b="1" dirty="0" smtClean="0">
                <a:solidFill>
                  <a:schemeClr val="tx2">
                    <a:lumMod val="40000"/>
                    <a:lumOff val="60000"/>
                  </a:schemeClr>
                </a:solidFill>
                <a:latin typeface="华文新魏" panose="02010800040101010101" pitchFamily="2" charset="-122"/>
                <a:ea typeface="华文新魏" panose="02010800040101010101" pitchFamily="2" charset="-122"/>
              </a:rPr>
              <a:t>作业</a:t>
            </a:r>
            <a:r>
              <a:rPr lang="en-US" altLang="zh-CN" sz="4800" b="1" dirty="0" smtClean="0">
                <a:solidFill>
                  <a:schemeClr val="tx2">
                    <a:lumMod val="40000"/>
                    <a:lumOff val="60000"/>
                  </a:schemeClr>
                </a:solidFill>
                <a:latin typeface="华文新魏" panose="02010800040101010101" pitchFamily="2" charset="-122"/>
                <a:ea typeface="华文新魏" panose="02010800040101010101" pitchFamily="2" charset="-122"/>
              </a:rPr>
              <a:t>3</a:t>
            </a:r>
            <a:endParaRPr lang="en-US" altLang="zh-CN" sz="4800" b="1" dirty="0">
              <a:solidFill>
                <a:schemeClr val="tx2">
                  <a:lumMod val="40000"/>
                  <a:lumOff val="60000"/>
                </a:schemeClr>
              </a:solidFill>
              <a:latin typeface="华文新魏" panose="02010800040101010101" pitchFamily="2" charset="-122"/>
              <a:ea typeface="华文新魏" panose="02010800040101010101" pitchFamily="2" charset="-122"/>
            </a:endParaRPr>
          </a:p>
          <a:p>
            <a:pPr marL="742950" indent="-742950">
              <a:buAutoNum type="arabicPeriod"/>
            </a:pPr>
            <a:r>
              <a:rPr lang="zh-CN" altLang="zh-CN" sz="3600" dirty="0" smtClean="0">
                <a:latin typeface="华文新魏" panose="02010800040101010101" pitchFamily="2" charset="-122"/>
                <a:ea typeface="华文新魏" panose="02010800040101010101" pitchFamily="2" charset="-122"/>
              </a:rPr>
              <a:t>设</a:t>
            </a:r>
            <a:r>
              <a:rPr lang="en-US" altLang="zh-CN" sz="3600" dirty="0">
                <a:latin typeface="华文新魏" panose="02010800040101010101" pitchFamily="2" charset="-122"/>
                <a:ea typeface="华文新魏" panose="02010800040101010101" pitchFamily="2" charset="-122"/>
              </a:rPr>
              <a:t>[</a:t>
            </a:r>
            <a:r>
              <a:rPr lang="zh-CN" altLang="zh-CN" sz="3600" i="1" dirty="0">
                <a:latin typeface="华文新魏" panose="02010800040101010101" pitchFamily="2" charset="-122"/>
                <a:ea typeface="华文新魏" panose="02010800040101010101" pitchFamily="2" charset="-122"/>
              </a:rPr>
              <a:t>ｘ</a:t>
            </a:r>
            <a:r>
              <a:rPr lang="en-US" altLang="zh-CN" sz="3600" dirty="0">
                <a:latin typeface="华文新魏" panose="02010800040101010101" pitchFamily="2" charset="-122"/>
                <a:ea typeface="华文新魏" panose="02010800040101010101" pitchFamily="2" charset="-122"/>
              </a:rPr>
              <a:t>]</a:t>
            </a:r>
            <a:r>
              <a:rPr lang="zh-CN" altLang="zh-CN" sz="3600" baseline="-25000" dirty="0">
                <a:latin typeface="华文新魏" panose="02010800040101010101" pitchFamily="2" charset="-122"/>
                <a:ea typeface="华文新魏" panose="02010800040101010101" pitchFamily="2" charset="-122"/>
              </a:rPr>
              <a:t>补</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a0.a1a2...a6</a:t>
            </a:r>
            <a:r>
              <a:rPr lang="zh-CN" altLang="zh-CN" sz="3600" dirty="0">
                <a:latin typeface="华文新魏" panose="02010800040101010101" pitchFamily="2" charset="-122"/>
                <a:ea typeface="华文新魏" panose="02010800040101010101" pitchFamily="2" charset="-122"/>
              </a:rPr>
              <a:t>，其中</a:t>
            </a:r>
            <a:r>
              <a:rPr lang="en-US" altLang="zh-CN" sz="3600" dirty="0" err="1">
                <a:latin typeface="华文新魏" panose="02010800040101010101" pitchFamily="2" charset="-122"/>
                <a:ea typeface="华文新魏" panose="02010800040101010101" pitchFamily="2" charset="-122"/>
              </a:rPr>
              <a:t>ai</a:t>
            </a:r>
            <a:r>
              <a:rPr lang="zh-CN" altLang="zh-CN" sz="3600" dirty="0">
                <a:latin typeface="华文新魏" panose="02010800040101010101" pitchFamily="2" charset="-122"/>
                <a:ea typeface="华文新魏" panose="02010800040101010101" pitchFamily="2" charset="-122"/>
              </a:rPr>
              <a:t>取</a:t>
            </a:r>
            <a:r>
              <a:rPr lang="en-US" altLang="zh-CN" sz="3600" dirty="0">
                <a:latin typeface="华文新魏" panose="02010800040101010101" pitchFamily="2" charset="-122"/>
                <a:ea typeface="华文新魏" panose="02010800040101010101" pitchFamily="2" charset="-122"/>
              </a:rPr>
              <a:t>0</a:t>
            </a:r>
            <a:r>
              <a:rPr lang="zh-CN" altLang="zh-CN" sz="3600" dirty="0">
                <a:latin typeface="华文新魏" panose="02010800040101010101" pitchFamily="2" charset="-122"/>
                <a:ea typeface="华文新魏" panose="02010800040101010101" pitchFamily="2" charset="-122"/>
              </a:rPr>
              <a:t>或</a:t>
            </a:r>
            <a:r>
              <a:rPr lang="en-US" altLang="zh-CN" sz="3600" dirty="0">
                <a:latin typeface="华文新魏" panose="02010800040101010101" pitchFamily="2" charset="-122"/>
                <a:ea typeface="华文新魏" panose="02010800040101010101" pitchFamily="2" charset="-122"/>
              </a:rPr>
              <a:t>1</a:t>
            </a:r>
            <a:r>
              <a:rPr lang="zh-CN" altLang="zh-CN" sz="3600" dirty="0">
                <a:latin typeface="华文新魏" panose="02010800040101010101" pitchFamily="2" charset="-122"/>
                <a:ea typeface="华文新魏" panose="02010800040101010101" pitchFamily="2" charset="-122"/>
              </a:rPr>
              <a:t>，若要</a:t>
            </a:r>
            <a:r>
              <a:rPr lang="en-US" altLang="zh-CN" sz="3600" dirty="0">
                <a:latin typeface="华文新魏" panose="02010800040101010101" pitchFamily="2" charset="-122"/>
                <a:ea typeface="华文新魏" panose="02010800040101010101" pitchFamily="2" charset="-122"/>
              </a:rPr>
              <a:t>x&gt;-0.5,</a:t>
            </a:r>
            <a:r>
              <a:rPr lang="zh-CN" altLang="zh-CN" sz="3600" dirty="0">
                <a:latin typeface="华文新魏" panose="02010800040101010101" pitchFamily="2" charset="-122"/>
                <a:ea typeface="华文新魏" panose="02010800040101010101" pitchFamily="2" charset="-122"/>
              </a:rPr>
              <a:t>求</a:t>
            </a:r>
            <a:r>
              <a:rPr lang="en-US" altLang="zh-CN" sz="3600" dirty="0">
                <a:latin typeface="华文新魏" panose="02010800040101010101" pitchFamily="2" charset="-122"/>
                <a:ea typeface="华文新魏" panose="02010800040101010101" pitchFamily="2" charset="-122"/>
              </a:rPr>
              <a:t>a0,a1,a2,...a6</a:t>
            </a:r>
            <a:r>
              <a:rPr lang="zh-CN" altLang="zh-CN" sz="3600" dirty="0">
                <a:latin typeface="华文新魏" panose="02010800040101010101" pitchFamily="2" charset="-122"/>
                <a:ea typeface="华文新魏" panose="02010800040101010101" pitchFamily="2" charset="-122"/>
              </a:rPr>
              <a:t>的取值</a:t>
            </a:r>
            <a:r>
              <a:rPr lang="zh-CN" altLang="zh-CN" sz="3600" dirty="0" smtClean="0">
                <a:latin typeface="华文新魏" panose="02010800040101010101" pitchFamily="2" charset="-122"/>
                <a:ea typeface="华文新魏" panose="02010800040101010101" pitchFamily="2" charset="-122"/>
              </a:rPr>
              <a:t>。</a:t>
            </a:r>
            <a:endParaRPr lang="en-US" altLang="zh-CN" sz="3600" dirty="0" smtClean="0">
              <a:latin typeface="华文新魏" panose="02010800040101010101" pitchFamily="2" charset="-122"/>
              <a:ea typeface="华文新魏" panose="02010800040101010101" pitchFamily="2" charset="-122"/>
            </a:endParaRPr>
          </a:p>
          <a:p>
            <a:pPr marL="742950" indent="-742950">
              <a:spcBef>
                <a:spcPts val="1200"/>
              </a:spcBef>
              <a:buAutoNum type="arabicPeriod"/>
            </a:pPr>
            <a:r>
              <a:rPr lang="zh-CN" altLang="zh-CN" sz="3600" dirty="0" smtClean="0">
                <a:latin typeface="华文新魏" panose="02010800040101010101" pitchFamily="2" charset="-122"/>
                <a:ea typeface="华文新魏" panose="02010800040101010101" pitchFamily="2" charset="-122"/>
              </a:rPr>
              <a:t>设</a:t>
            </a:r>
            <a:r>
              <a:rPr lang="zh-CN" altLang="zh-CN" sz="3600" dirty="0">
                <a:latin typeface="华文新魏" panose="02010800040101010101" pitchFamily="2" charset="-122"/>
                <a:ea typeface="华文新魏" panose="02010800040101010101" pitchFamily="2" charset="-122"/>
              </a:rPr>
              <a:t>机器数字长为</a:t>
            </a:r>
            <a:r>
              <a:rPr lang="en-US" altLang="zh-CN" sz="3600" dirty="0">
                <a:latin typeface="华文新魏" panose="02010800040101010101" pitchFamily="2" charset="-122"/>
                <a:ea typeface="华文新魏" panose="02010800040101010101" pitchFamily="2" charset="-122"/>
              </a:rPr>
              <a:t>8</a:t>
            </a:r>
            <a:r>
              <a:rPr lang="zh-CN" altLang="zh-CN" sz="3600" dirty="0">
                <a:latin typeface="华文新魏" panose="02010800040101010101" pitchFamily="2" charset="-122"/>
                <a:ea typeface="华文新魏" panose="02010800040101010101" pitchFamily="2" charset="-122"/>
              </a:rPr>
              <a:t>位（含</a:t>
            </a:r>
            <a:r>
              <a:rPr lang="en-US" altLang="zh-CN" sz="3600" dirty="0">
                <a:latin typeface="华文新魏" panose="02010800040101010101" pitchFamily="2" charset="-122"/>
                <a:ea typeface="华文新魏" panose="02010800040101010101" pitchFamily="2" charset="-122"/>
              </a:rPr>
              <a:t>1</a:t>
            </a:r>
            <a:r>
              <a:rPr lang="zh-CN" altLang="zh-CN" sz="3600" dirty="0">
                <a:latin typeface="华文新魏" panose="02010800040101010101" pitchFamily="2" charset="-122"/>
                <a:ea typeface="华文新魏" panose="02010800040101010101" pitchFamily="2" charset="-122"/>
              </a:rPr>
              <a:t>位符号位），设</a:t>
            </a:r>
            <a:r>
              <a:rPr lang="en-US" altLang="zh-CN" sz="3600" dirty="0">
                <a:latin typeface="华文新魏" panose="02010800040101010101" pitchFamily="2" charset="-122"/>
                <a:ea typeface="华文新魏" panose="02010800040101010101" pitchFamily="2" charset="-122"/>
              </a:rPr>
              <a:t>A</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9/64</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B</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-13/32</a:t>
            </a:r>
            <a:r>
              <a:rPr lang="zh-CN" altLang="zh-CN" sz="3600" dirty="0">
                <a:latin typeface="华文新魏" panose="02010800040101010101" pitchFamily="2" charset="-122"/>
                <a:ea typeface="华文新魏" panose="02010800040101010101" pitchFamily="2" charset="-122"/>
              </a:rPr>
              <a:t>，试用变形补码计算</a:t>
            </a:r>
            <a:r>
              <a:rPr lang="en-US" altLang="zh-CN" sz="3600" dirty="0">
                <a:latin typeface="华文新魏" panose="02010800040101010101" pitchFamily="2" charset="-122"/>
                <a:ea typeface="华文新魏" panose="02010800040101010101" pitchFamily="2" charset="-122"/>
              </a:rPr>
              <a:t>[A±B]</a:t>
            </a:r>
            <a:r>
              <a:rPr lang="zh-CN" altLang="zh-CN" sz="3600" baseline="-25000" dirty="0">
                <a:latin typeface="华文新魏" panose="02010800040101010101" pitchFamily="2" charset="-122"/>
                <a:ea typeface="华文新魏" panose="02010800040101010101" pitchFamily="2" charset="-122"/>
              </a:rPr>
              <a:t>补</a:t>
            </a:r>
            <a:r>
              <a:rPr lang="zh-CN" altLang="zh-CN" sz="3600" dirty="0">
                <a:latin typeface="华文新魏" panose="02010800040101010101" pitchFamily="2" charset="-122"/>
                <a:ea typeface="华文新魏" panose="02010800040101010101" pitchFamily="2" charset="-122"/>
              </a:rPr>
              <a:t>，并还原成真值</a:t>
            </a:r>
            <a:r>
              <a:rPr lang="zh-CN" altLang="zh-CN" sz="3600" dirty="0" smtClean="0">
                <a:latin typeface="华文新魏" panose="02010800040101010101" pitchFamily="2" charset="-122"/>
                <a:ea typeface="华文新魏" panose="02010800040101010101" pitchFamily="2" charset="-122"/>
              </a:rPr>
              <a:t>。</a:t>
            </a:r>
            <a:endParaRPr lang="en-US" altLang="zh-CN" sz="3600" dirty="0" smtClean="0">
              <a:latin typeface="华文新魏" panose="02010800040101010101" pitchFamily="2" charset="-122"/>
              <a:ea typeface="华文新魏" panose="02010800040101010101" pitchFamily="2" charset="-122"/>
            </a:endParaRPr>
          </a:p>
          <a:p>
            <a:pPr marL="742950" indent="-742950">
              <a:spcBef>
                <a:spcPts val="1200"/>
              </a:spcBef>
              <a:buFont typeface="+mj-lt"/>
              <a:buAutoNum type="arabicPeriod"/>
            </a:pPr>
            <a:r>
              <a:rPr lang="en-US" altLang="zh-CN" sz="3600" dirty="0" smtClean="0">
                <a:latin typeface="华文新魏" panose="02010800040101010101" pitchFamily="2" charset="-122"/>
                <a:ea typeface="华文新魏" panose="02010800040101010101" pitchFamily="2" charset="-122"/>
              </a:rPr>
              <a:t> </a:t>
            </a:r>
            <a:r>
              <a:rPr lang="zh-CN" altLang="zh-CN" sz="3600" dirty="0" smtClean="0">
                <a:latin typeface="华文新魏" panose="02010800040101010101" pitchFamily="2" charset="-122"/>
                <a:ea typeface="华文新魏" panose="02010800040101010101" pitchFamily="2" charset="-122"/>
              </a:rPr>
              <a:t>设</a:t>
            </a:r>
            <a:r>
              <a:rPr lang="zh-CN" altLang="zh-CN" sz="3600" dirty="0">
                <a:latin typeface="华文新魏" panose="02010800040101010101" pitchFamily="2" charset="-122"/>
                <a:ea typeface="华文新魏" panose="02010800040101010101" pitchFamily="2" charset="-122"/>
              </a:rPr>
              <a:t>机器数字长为</a:t>
            </a:r>
            <a:r>
              <a:rPr lang="en-US" altLang="zh-CN" sz="3600" dirty="0">
                <a:latin typeface="华文新魏" panose="02010800040101010101" pitchFamily="2" charset="-122"/>
                <a:ea typeface="华文新魏" panose="02010800040101010101" pitchFamily="2" charset="-122"/>
              </a:rPr>
              <a:t>8</a:t>
            </a:r>
            <a:r>
              <a:rPr lang="zh-CN" altLang="zh-CN" sz="3600" dirty="0">
                <a:latin typeface="华文新魏" panose="02010800040101010101" pitchFamily="2" charset="-122"/>
                <a:ea typeface="华文新魏" panose="02010800040101010101" pitchFamily="2" charset="-122"/>
              </a:rPr>
              <a:t>位（含</a:t>
            </a:r>
            <a:r>
              <a:rPr lang="en-US" altLang="zh-CN" sz="3600" dirty="0">
                <a:latin typeface="华文新魏" panose="02010800040101010101" pitchFamily="2" charset="-122"/>
                <a:ea typeface="华文新魏" panose="02010800040101010101" pitchFamily="2" charset="-122"/>
              </a:rPr>
              <a:t>1</a:t>
            </a:r>
            <a:r>
              <a:rPr lang="zh-CN" altLang="zh-CN" sz="3600" dirty="0">
                <a:latin typeface="华文新魏" panose="02010800040101010101" pitchFamily="2" charset="-122"/>
                <a:ea typeface="华文新魏" panose="02010800040101010101" pitchFamily="2" charset="-122"/>
              </a:rPr>
              <a:t>位符号位），若</a:t>
            </a:r>
            <a:r>
              <a:rPr lang="en-US" altLang="zh-CN" sz="3600" dirty="0">
                <a:latin typeface="华文新魏" panose="02010800040101010101" pitchFamily="2" charset="-122"/>
                <a:ea typeface="华文新魏" panose="02010800040101010101" pitchFamily="2" charset="-122"/>
              </a:rPr>
              <a:t>A = -15</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B = +24</a:t>
            </a:r>
            <a:r>
              <a:rPr lang="zh-CN" altLang="zh-CN" sz="3600" dirty="0">
                <a:latin typeface="华文新魏" panose="02010800040101010101" pitchFamily="2" charset="-122"/>
                <a:ea typeface="华文新魏" panose="02010800040101010101" pitchFamily="2" charset="-122"/>
              </a:rPr>
              <a:t>，试用变形补码计算</a:t>
            </a:r>
            <a:r>
              <a:rPr lang="en-US" altLang="zh-CN" sz="3600" dirty="0">
                <a:latin typeface="华文新魏" panose="02010800040101010101" pitchFamily="2" charset="-122"/>
                <a:ea typeface="华文新魏" panose="02010800040101010101" pitchFamily="2" charset="-122"/>
              </a:rPr>
              <a:t>[A±B]</a:t>
            </a:r>
            <a:r>
              <a:rPr lang="zh-CN" altLang="zh-CN" sz="3600" baseline="-25000" dirty="0">
                <a:latin typeface="华文新魏" panose="02010800040101010101" pitchFamily="2" charset="-122"/>
                <a:ea typeface="华文新魏" panose="02010800040101010101" pitchFamily="2" charset="-122"/>
              </a:rPr>
              <a:t>补</a:t>
            </a:r>
            <a:r>
              <a:rPr lang="zh-CN" altLang="zh-CN" sz="3600" dirty="0">
                <a:latin typeface="华文新魏" panose="02010800040101010101" pitchFamily="2" charset="-122"/>
                <a:ea typeface="华文新魏" panose="02010800040101010101" pitchFamily="2" charset="-122"/>
              </a:rPr>
              <a:t>，并还原成真值。</a:t>
            </a:r>
          </a:p>
        </p:txBody>
      </p:sp>
    </p:spTree>
    <p:extLst>
      <p:ext uri="{BB962C8B-B14F-4D97-AF65-F5344CB8AC3E}">
        <p14:creationId xmlns:p14="http://schemas.microsoft.com/office/powerpoint/2010/main" val="39517036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271463" y="192088"/>
            <a:ext cx="8443912"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dirty="0">
                <a:solidFill>
                  <a:srgbClr val="FF0000"/>
                </a:solidFill>
                <a:latin typeface="黑体" pitchFamily="2" charset="-122"/>
                <a:ea typeface="黑体" pitchFamily="2" charset="-122"/>
              </a:rPr>
              <a:t>2.2.4 基本的二进制加法/减法器 </a:t>
            </a:r>
            <a:r>
              <a:rPr lang="zh-CN" altLang="zh-CN" sz="2400" dirty="0">
                <a:latin typeface="黑体" pitchFamily="2" charset="-122"/>
                <a:ea typeface="黑体" pitchFamily="2" charset="-122"/>
                <a:hlinkClick r:id="rId2" action="ppaction://hlinkfile"/>
              </a:rPr>
              <a:t>　</a:t>
            </a:r>
            <a:r>
              <a:rPr lang="zh-CN" altLang="zh-CN" sz="2400" i="1" dirty="0">
                <a:latin typeface="黑体" pitchFamily="2" charset="-122"/>
                <a:ea typeface="黑体" pitchFamily="2" charset="-122"/>
                <a:hlinkClick r:id="rId2" action="ppaction://hlinkfile"/>
              </a:rPr>
              <a:t>　　　  </a:t>
            </a:r>
            <a:endParaRPr lang="zh-CN" altLang="zh-CN" sz="2400" dirty="0">
              <a:latin typeface="黑体" pitchFamily="2" charset="-122"/>
              <a:ea typeface="黑体" pitchFamily="2" charset="-122"/>
            </a:endParaRPr>
          </a:p>
          <a:p>
            <a:pPr>
              <a:lnSpc>
                <a:spcPct val="150000"/>
              </a:lnSpc>
            </a:pPr>
            <a:r>
              <a:rPr lang="zh-CN" altLang="zh-CN" sz="2400" dirty="0">
                <a:latin typeface="黑体" pitchFamily="2" charset="-122"/>
                <a:ea typeface="黑体" pitchFamily="2" charset="-122"/>
              </a:rPr>
              <a:t>　</a:t>
            </a:r>
            <a:r>
              <a:rPr lang="zh-CN" altLang="en-US" sz="2400" dirty="0">
                <a:latin typeface="黑体" pitchFamily="2" charset="-122"/>
                <a:ea typeface="黑体" pitchFamily="2" charset="-122"/>
              </a:rPr>
              <a:t>半加器：</a:t>
            </a:r>
            <a:r>
              <a:rPr lang="zh-CN" altLang="zh-CN" sz="2400" dirty="0">
                <a:latin typeface="黑体" pitchFamily="2" charset="-122"/>
                <a:ea typeface="黑体" pitchFamily="2" charset="-122"/>
              </a:rPr>
              <a:t>两个二进制数字A</a:t>
            </a:r>
            <a:r>
              <a:rPr lang="zh-CN" altLang="zh-CN" sz="2400" baseline="-30000" dirty="0">
                <a:latin typeface="黑体" pitchFamily="2" charset="-122"/>
                <a:ea typeface="黑体" pitchFamily="2" charset="-122"/>
              </a:rPr>
              <a:t>i</a:t>
            </a:r>
            <a:r>
              <a:rPr lang="zh-CN" altLang="zh-CN" sz="2400" dirty="0">
                <a:latin typeface="黑体" pitchFamily="2" charset="-122"/>
                <a:ea typeface="黑体" pitchFamily="2" charset="-122"/>
              </a:rPr>
              <a:t>,B</a:t>
            </a:r>
            <a:r>
              <a:rPr lang="zh-CN" altLang="zh-CN" sz="2400" baseline="-30000" dirty="0">
                <a:latin typeface="黑体" pitchFamily="2" charset="-122"/>
                <a:ea typeface="黑体" pitchFamily="2" charset="-122"/>
              </a:rPr>
              <a:t>i</a:t>
            </a:r>
            <a:r>
              <a:rPr lang="zh-CN" altLang="zh-CN" sz="2400" dirty="0">
                <a:latin typeface="黑体" pitchFamily="2" charset="-122"/>
                <a:ea typeface="黑体" pitchFamily="2" charset="-122"/>
              </a:rPr>
              <a:t>相加,产生一个和输出S</a:t>
            </a:r>
            <a:r>
              <a:rPr lang="zh-CN" altLang="zh-CN" sz="2400" baseline="-30000" dirty="0">
                <a:latin typeface="黑体" pitchFamily="2" charset="-122"/>
                <a:ea typeface="黑体" pitchFamily="2" charset="-122"/>
              </a:rPr>
              <a:t>i</a:t>
            </a:r>
            <a:r>
              <a:rPr lang="zh-CN" altLang="zh-CN" sz="2400" dirty="0">
                <a:latin typeface="黑体" pitchFamily="2" charset="-122"/>
                <a:ea typeface="黑体" pitchFamily="2" charset="-122"/>
              </a:rPr>
              <a:t>。</a:t>
            </a:r>
            <a:r>
              <a:rPr lang="en-US" altLang="zh-CN" sz="2400" i="1" dirty="0">
                <a:latin typeface="黑体" pitchFamily="2" charset="-122"/>
                <a:ea typeface="黑体" pitchFamily="2" charset="-122"/>
              </a:rPr>
              <a:t>           </a:t>
            </a:r>
          </a:p>
          <a:p>
            <a:pPr>
              <a:lnSpc>
                <a:spcPct val="150000"/>
              </a:lnSpc>
            </a:pPr>
            <a:r>
              <a:rPr lang="en-US" altLang="zh-CN" sz="2400" i="1" dirty="0">
                <a:latin typeface="黑体" pitchFamily="2" charset="-122"/>
                <a:ea typeface="黑体" pitchFamily="2" charset="-122"/>
              </a:rPr>
              <a:t>         </a:t>
            </a:r>
            <a:r>
              <a:rPr lang="en-US" altLang="zh-CN" sz="2400" dirty="0">
                <a:latin typeface="黑体" pitchFamily="2" charset="-122"/>
                <a:ea typeface="黑体" pitchFamily="2" charset="-122"/>
              </a:rPr>
              <a:t>S</a:t>
            </a:r>
            <a:r>
              <a:rPr lang="zh-CN" altLang="zh-CN" sz="2400" baseline="-30000" dirty="0">
                <a:latin typeface="黑体" pitchFamily="2" charset="-122"/>
                <a:ea typeface="黑体" pitchFamily="2" charset="-122"/>
              </a:rPr>
              <a:t>i</a:t>
            </a:r>
            <a:r>
              <a:rPr lang="zh-CN" altLang="en-US" sz="2400" dirty="0">
                <a:latin typeface="黑体" pitchFamily="2" charset="-122"/>
                <a:ea typeface="黑体" pitchFamily="2" charset="-122"/>
              </a:rPr>
              <a:t>＝</a:t>
            </a:r>
            <a:r>
              <a:rPr lang="zh-CN" altLang="zh-CN" sz="2400" dirty="0">
                <a:latin typeface="黑体" pitchFamily="2" charset="-122"/>
                <a:ea typeface="黑体" pitchFamily="2" charset="-122"/>
              </a:rPr>
              <a:t> A</a:t>
            </a:r>
            <a:r>
              <a:rPr lang="zh-CN" altLang="zh-CN" sz="2400" baseline="-30000" dirty="0">
                <a:latin typeface="黑体" pitchFamily="2" charset="-122"/>
                <a:ea typeface="黑体" pitchFamily="2" charset="-122"/>
              </a:rPr>
              <a:t>i</a:t>
            </a:r>
            <a:r>
              <a:rPr lang="en-US" altLang="zh-CN" sz="2400" dirty="0">
                <a:latin typeface="黑体" pitchFamily="2" charset="-122"/>
                <a:ea typeface="黑体" pitchFamily="2" charset="-122"/>
              </a:rPr>
              <a:t>⊕</a:t>
            </a:r>
            <a:r>
              <a:rPr lang="zh-CN" altLang="zh-CN" sz="2400" dirty="0">
                <a:latin typeface="黑体" pitchFamily="2" charset="-122"/>
                <a:ea typeface="黑体" pitchFamily="2" charset="-122"/>
              </a:rPr>
              <a:t>B</a:t>
            </a:r>
            <a:r>
              <a:rPr lang="zh-CN" altLang="zh-CN" sz="2400" baseline="-30000" dirty="0">
                <a:latin typeface="黑体" pitchFamily="2" charset="-122"/>
                <a:ea typeface="黑体" pitchFamily="2" charset="-122"/>
              </a:rPr>
              <a:t>i</a:t>
            </a:r>
            <a:r>
              <a:rPr lang="en-US" altLang="zh-CN" sz="2400" dirty="0">
                <a:latin typeface="黑体" pitchFamily="2" charset="-122"/>
                <a:ea typeface="黑体" pitchFamily="2" charset="-122"/>
              </a:rPr>
              <a:t/>
            </a:r>
            <a:br>
              <a:rPr lang="en-US" altLang="zh-CN" sz="2400" dirty="0">
                <a:latin typeface="黑体" pitchFamily="2" charset="-122"/>
                <a:ea typeface="黑体" pitchFamily="2" charset="-122"/>
              </a:rPr>
            </a:br>
            <a:r>
              <a:rPr lang="en-US" altLang="zh-CN" sz="2400" dirty="0">
                <a:latin typeface="黑体" pitchFamily="2" charset="-122"/>
                <a:ea typeface="黑体" pitchFamily="2" charset="-122"/>
              </a:rPr>
              <a:t>         </a:t>
            </a:r>
            <a:r>
              <a:rPr lang="zh-CN" altLang="en-US" sz="2400" dirty="0">
                <a:latin typeface="黑体" pitchFamily="2" charset="-122"/>
                <a:ea typeface="黑体" pitchFamily="2" charset="-122"/>
              </a:rPr>
              <a:t>不考虑进位</a:t>
            </a:r>
            <a:endParaRPr lang="zh-CN" altLang="zh-CN" sz="2400" i="1" dirty="0">
              <a:latin typeface="黑体" pitchFamily="2" charset="-122"/>
              <a:ea typeface="黑体" pitchFamily="2" charset="-122"/>
            </a:endParaRPr>
          </a:p>
        </p:txBody>
      </p:sp>
      <p:sp>
        <p:nvSpPr>
          <p:cNvPr id="56323" name="AutoShape 2" descr="G:\jzdx\%E8%AE%A1%E7%AE%97%E6%9C%BA%E7%BB%84%E6%88%90%E5%8E%9F%E7%90%86\%E6%95%99%E6%A1%88\%E7%AC%AC%E4%BA%8C%E7%AB%A0\Images\Home07.gif">
            <a:hlinkClick r:id="rId2" action="ppaction://hlinkfile"/>
          </p:cNvPr>
          <p:cNvSpPr>
            <a:spLocks noChangeAspect="1" noChangeArrowheads="1"/>
          </p:cNvSpPr>
          <p:nvPr/>
        </p:nvSpPr>
        <p:spPr bwMode="auto">
          <a:xfrm>
            <a:off x="4319588" y="-46038"/>
            <a:ext cx="533400"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56324" name="Group 5"/>
          <p:cNvGrpSpPr>
            <a:grpSpLocks/>
          </p:cNvGrpSpPr>
          <p:nvPr/>
        </p:nvGrpSpPr>
        <p:grpSpPr bwMode="auto">
          <a:xfrm>
            <a:off x="4856163" y="2708275"/>
            <a:ext cx="3151187" cy="3802063"/>
            <a:chOff x="-3" y="2056"/>
            <a:chExt cx="1507" cy="3116"/>
          </a:xfrm>
        </p:grpSpPr>
        <p:grpSp>
          <p:nvGrpSpPr>
            <p:cNvPr id="56326" name="Group 6"/>
            <p:cNvGrpSpPr>
              <a:grpSpLocks/>
            </p:cNvGrpSpPr>
            <p:nvPr/>
          </p:nvGrpSpPr>
          <p:grpSpPr bwMode="auto">
            <a:xfrm>
              <a:off x="0" y="2059"/>
              <a:ext cx="1501" cy="3110"/>
              <a:chOff x="0" y="2059"/>
              <a:chExt cx="1501" cy="3110"/>
            </a:xfrm>
          </p:grpSpPr>
          <p:grpSp>
            <p:nvGrpSpPr>
              <p:cNvPr id="56328" name="Group 7"/>
              <p:cNvGrpSpPr>
                <a:grpSpLocks/>
              </p:cNvGrpSpPr>
              <p:nvPr/>
            </p:nvGrpSpPr>
            <p:grpSpPr bwMode="auto">
              <a:xfrm>
                <a:off x="0" y="2059"/>
                <a:ext cx="825" cy="288"/>
                <a:chOff x="0" y="2059"/>
                <a:chExt cx="825" cy="288"/>
              </a:xfrm>
            </p:grpSpPr>
            <p:sp>
              <p:nvSpPr>
                <p:cNvPr id="56467" name="Rectangle 8"/>
                <p:cNvSpPr>
                  <a:spLocks noChangeArrowheads="1"/>
                </p:cNvSpPr>
                <p:nvPr/>
              </p:nvSpPr>
              <p:spPr bwMode="auto">
                <a:xfrm>
                  <a:off x="0" y="2059"/>
                  <a:ext cx="8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itchFamily="2" charset="-122"/>
                      <a:ea typeface="黑体" pitchFamily="2" charset="-122"/>
                    </a:rPr>
                    <a:t>输入</a:t>
                  </a:r>
                </a:p>
              </p:txBody>
            </p:sp>
            <p:sp>
              <p:nvSpPr>
                <p:cNvPr id="56468" name="Rectangle 9"/>
                <p:cNvSpPr>
                  <a:spLocks noChangeArrowheads="1"/>
                </p:cNvSpPr>
                <p:nvPr/>
              </p:nvSpPr>
              <p:spPr bwMode="auto">
                <a:xfrm>
                  <a:off x="0" y="2059"/>
                  <a:ext cx="825"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29" name="Group 10"/>
              <p:cNvGrpSpPr>
                <a:grpSpLocks/>
              </p:cNvGrpSpPr>
              <p:nvPr/>
            </p:nvGrpSpPr>
            <p:grpSpPr bwMode="auto">
              <a:xfrm>
                <a:off x="825" y="2059"/>
                <a:ext cx="676" cy="288"/>
                <a:chOff x="825" y="2059"/>
                <a:chExt cx="676" cy="288"/>
              </a:xfrm>
            </p:grpSpPr>
            <p:sp>
              <p:nvSpPr>
                <p:cNvPr id="56465" name="Rectangle 11"/>
                <p:cNvSpPr>
                  <a:spLocks noChangeArrowheads="1"/>
                </p:cNvSpPr>
                <p:nvPr/>
              </p:nvSpPr>
              <p:spPr bwMode="auto">
                <a:xfrm>
                  <a:off x="825" y="2059"/>
                  <a:ext cx="6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itchFamily="2" charset="-122"/>
                      <a:ea typeface="黑体" pitchFamily="2" charset="-122"/>
                    </a:rPr>
                    <a:t>输出</a:t>
                  </a:r>
                </a:p>
              </p:txBody>
            </p:sp>
            <p:sp>
              <p:nvSpPr>
                <p:cNvPr id="56466" name="Rectangle 12"/>
                <p:cNvSpPr>
                  <a:spLocks noChangeArrowheads="1"/>
                </p:cNvSpPr>
                <p:nvPr/>
              </p:nvSpPr>
              <p:spPr bwMode="auto">
                <a:xfrm>
                  <a:off x="825" y="2059"/>
                  <a:ext cx="6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0" name="Group 13"/>
              <p:cNvGrpSpPr>
                <a:grpSpLocks/>
              </p:cNvGrpSpPr>
              <p:nvPr/>
            </p:nvGrpSpPr>
            <p:grpSpPr bwMode="auto">
              <a:xfrm>
                <a:off x="0" y="2347"/>
                <a:ext cx="276" cy="518"/>
                <a:chOff x="0" y="2347"/>
                <a:chExt cx="276" cy="518"/>
              </a:xfrm>
            </p:grpSpPr>
            <p:sp>
              <p:nvSpPr>
                <p:cNvPr id="56463" name="Rectangle 14"/>
                <p:cNvSpPr>
                  <a:spLocks noChangeArrowheads="1"/>
                </p:cNvSpPr>
                <p:nvPr/>
              </p:nvSpPr>
              <p:spPr bwMode="auto">
                <a:xfrm>
                  <a:off x="0"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A</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6464" name="Rectangle 15"/>
                <p:cNvSpPr>
                  <a:spLocks noChangeArrowheads="1"/>
                </p:cNvSpPr>
                <p:nvPr/>
              </p:nvSpPr>
              <p:spPr bwMode="auto">
                <a:xfrm>
                  <a:off x="0" y="2347"/>
                  <a:ext cx="27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1" name="Group 16"/>
              <p:cNvGrpSpPr>
                <a:grpSpLocks/>
              </p:cNvGrpSpPr>
              <p:nvPr/>
            </p:nvGrpSpPr>
            <p:grpSpPr bwMode="auto">
              <a:xfrm>
                <a:off x="276" y="2347"/>
                <a:ext cx="276" cy="518"/>
                <a:chOff x="276" y="2347"/>
                <a:chExt cx="276" cy="518"/>
              </a:xfrm>
            </p:grpSpPr>
            <p:sp>
              <p:nvSpPr>
                <p:cNvPr id="56461" name="Rectangle 17"/>
                <p:cNvSpPr>
                  <a:spLocks noChangeArrowheads="1"/>
                </p:cNvSpPr>
                <p:nvPr/>
              </p:nvSpPr>
              <p:spPr bwMode="auto">
                <a:xfrm>
                  <a:off x="276"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B</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6462" name="Rectangle 18"/>
                <p:cNvSpPr>
                  <a:spLocks noChangeArrowheads="1"/>
                </p:cNvSpPr>
                <p:nvPr/>
              </p:nvSpPr>
              <p:spPr bwMode="auto">
                <a:xfrm>
                  <a:off x="276" y="2347"/>
                  <a:ext cx="27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2" name="Group 19"/>
              <p:cNvGrpSpPr>
                <a:grpSpLocks/>
              </p:cNvGrpSpPr>
              <p:nvPr/>
            </p:nvGrpSpPr>
            <p:grpSpPr bwMode="auto">
              <a:xfrm>
                <a:off x="552" y="2347"/>
                <a:ext cx="273" cy="518"/>
                <a:chOff x="552" y="2347"/>
                <a:chExt cx="273" cy="518"/>
              </a:xfrm>
            </p:grpSpPr>
            <p:sp>
              <p:nvSpPr>
                <p:cNvPr id="56459" name="Rectangle 20"/>
                <p:cNvSpPr>
                  <a:spLocks noChangeArrowheads="1"/>
                </p:cNvSpPr>
                <p:nvPr/>
              </p:nvSpPr>
              <p:spPr bwMode="auto">
                <a:xfrm>
                  <a:off x="552" y="2347"/>
                  <a:ext cx="2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C</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6460" name="Rectangle 21"/>
                <p:cNvSpPr>
                  <a:spLocks noChangeArrowheads="1"/>
                </p:cNvSpPr>
                <p:nvPr/>
              </p:nvSpPr>
              <p:spPr bwMode="auto">
                <a:xfrm>
                  <a:off x="552" y="2347"/>
                  <a:ext cx="27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3" name="Group 22"/>
              <p:cNvGrpSpPr>
                <a:grpSpLocks/>
              </p:cNvGrpSpPr>
              <p:nvPr/>
            </p:nvGrpSpPr>
            <p:grpSpPr bwMode="auto">
              <a:xfrm>
                <a:off x="825" y="2347"/>
                <a:ext cx="338" cy="518"/>
                <a:chOff x="825" y="2347"/>
                <a:chExt cx="338" cy="518"/>
              </a:xfrm>
            </p:grpSpPr>
            <p:sp>
              <p:nvSpPr>
                <p:cNvPr id="56457" name="Rectangle 23"/>
                <p:cNvSpPr>
                  <a:spLocks noChangeArrowheads="1"/>
                </p:cNvSpPr>
                <p:nvPr/>
              </p:nvSpPr>
              <p:spPr bwMode="auto">
                <a:xfrm>
                  <a:off x="825"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S</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6458" name="Rectangle 24"/>
                <p:cNvSpPr>
                  <a:spLocks noChangeArrowheads="1"/>
                </p:cNvSpPr>
                <p:nvPr/>
              </p:nvSpPr>
              <p:spPr bwMode="auto">
                <a:xfrm>
                  <a:off x="825" y="2347"/>
                  <a:ext cx="33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4" name="Group 25"/>
              <p:cNvGrpSpPr>
                <a:grpSpLocks/>
              </p:cNvGrpSpPr>
              <p:nvPr/>
            </p:nvGrpSpPr>
            <p:grpSpPr bwMode="auto">
              <a:xfrm>
                <a:off x="1163" y="2347"/>
                <a:ext cx="338" cy="518"/>
                <a:chOff x="1163" y="2347"/>
                <a:chExt cx="338" cy="518"/>
              </a:xfrm>
            </p:grpSpPr>
            <p:sp>
              <p:nvSpPr>
                <p:cNvPr id="56455" name="Rectangle 26"/>
                <p:cNvSpPr>
                  <a:spLocks noChangeArrowheads="1"/>
                </p:cNvSpPr>
                <p:nvPr/>
              </p:nvSpPr>
              <p:spPr bwMode="auto">
                <a:xfrm>
                  <a:off x="1163"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C</a:t>
                  </a:r>
                  <a:r>
                    <a:rPr kumimoji="1" lang="en-US" altLang="zh-CN" baseline="-30000">
                      <a:latin typeface="黑体" pitchFamily="2" charset="-122"/>
                      <a:ea typeface="黑体" pitchFamily="2" charset="-122"/>
                    </a:rPr>
                    <a:t>i</a:t>
                  </a:r>
                  <a:r>
                    <a:rPr kumimoji="1" lang="zh-CN" altLang="en-US" baseline="-30000">
                      <a:latin typeface="黑体" pitchFamily="2" charset="-122"/>
                      <a:ea typeface="黑体" pitchFamily="2" charset="-122"/>
                    </a:rPr>
                    <a:t>＋</a:t>
                  </a:r>
                  <a:r>
                    <a:rPr kumimoji="1" lang="en-US" altLang="zh-CN" baseline="-30000">
                      <a:latin typeface="黑体" pitchFamily="2" charset="-122"/>
                      <a:ea typeface="黑体" pitchFamily="2" charset="-122"/>
                    </a:rPr>
                    <a:t>1</a:t>
                  </a:r>
                  <a:endParaRPr kumimoji="1" lang="en-US" altLang="zh-CN">
                    <a:latin typeface="黑体" pitchFamily="2" charset="-122"/>
                    <a:ea typeface="黑体" pitchFamily="2" charset="-122"/>
                  </a:endParaRPr>
                </a:p>
              </p:txBody>
            </p:sp>
            <p:sp>
              <p:nvSpPr>
                <p:cNvPr id="56456" name="Rectangle 27"/>
                <p:cNvSpPr>
                  <a:spLocks noChangeArrowheads="1"/>
                </p:cNvSpPr>
                <p:nvPr/>
              </p:nvSpPr>
              <p:spPr bwMode="auto">
                <a:xfrm>
                  <a:off x="1163" y="2347"/>
                  <a:ext cx="33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5" name="Group 28"/>
              <p:cNvGrpSpPr>
                <a:grpSpLocks/>
              </p:cNvGrpSpPr>
              <p:nvPr/>
            </p:nvGrpSpPr>
            <p:grpSpPr bwMode="auto">
              <a:xfrm>
                <a:off x="0" y="2865"/>
                <a:ext cx="276" cy="288"/>
                <a:chOff x="0" y="2865"/>
                <a:chExt cx="276" cy="288"/>
              </a:xfrm>
            </p:grpSpPr>
            <p:sp>
              <p:nvSpPr>
                <p:cNvPr id="56453" name="Rectangle 29"/>
                <p:cNvSpPr>
                  <a:spLocks noChangeArrowheads="1"/>
                </p:cNvSpPr>
                <p:nvPr/>
              </p:nvSpPr>
              <p:spPr bwMode="auto">
                <a:xfrm>
                  <a:off x="0"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54" name="Rectangle 30"/>
                <p:cNvSpPr>
                  <a:spLocks noChangeArrowheads="1"/>
                </p:cNvSpPr>
                <p:nvPr/>
              </p:nvSpPr>
              <p:spPr bwMode="auto">
                <a:xfrm>
                  <a:off x="0" y="286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6" name="Group 31"/>
              <p:cNvGrpSpPr>
                <a:grpSpLocks/>
              </p:cNvGrpSpPr>
              <p:nvPr/>
            </p:nvGrpSpPr>
            <p:grpSpPr bwMode="auto">
              <a:xfrm>
                <a:off x="276" y="2865"/>
                <a:ext cx="276" cy="288"/>
                <a:chOff x="276" y="2865"/>
                <a:chExt cx="276" cy="288"/>
              </a:xfrm>
            </p:grpSpPr>
            <p:sp>
              <p:nvSpPr>
                <p:cNvPr id="56451" name="Rectangle 32"/>
                <p:cNvSpPr>
                  <a:spLocks noChangeArrowheads="1"/>
                </p:cNvSpPr>
                <p:nvPr/>
              </p:nvSpPr>
              <p:spPr bwMode="auto">
                <a:xfrm>
                  <a:off x="276"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52" name="Rectangle 33"/>
                <p:cNvSpPr>
                  <a:spLocks noChangeArrowheads="1"/>
                </p:cNvSpPr>
                <p:nvPr/>
              </p:nvSpPr>
              <p:spPr bwMode="auto">
                <a:xfrm>
                  <a:off x="276" y="286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7" name="Group 34"/>
              <p:cNvGrpSpPr>
                <a:grpSpLocks/>
              </p:cNvGrpSpPr>
              <p:nvPr/>
            </p:nvGrpSpPr>
            <p:grpSpPr bwMode="auto">
              <a:xfrm>
                <a:off x="552" y="2865"/>
                <a:ext cx="273" cy="288"/>
                <a:chOff x="552" y="2865"/>
                <a:chExt cx="273" cy="288"/>
              </a:xfrm>
            </p:grpSpPr>
            <p:sp>
              <p:nvSpPr>
                <p:cNvPr id="56449" name="Rectangle 35"/>
                <p:cNvSpPr>
                  <a:spLocks noChangeArrowheads="1"/>
                </p:cNvSpPr>
                <p:nvPr/>
              </p:nvSpPr>
              <p:spPr bwMode="auto">
                <a:xfrm>
                  <a:off x="552" y="286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50" name="Rectangle 36"/>
                <p:cNvSpPr>
                  <a:spLocks noChangeArrowheads="1"/>
                </p:cNvSpPr>
                <p:nvPr/>
              </p:nvSpPr>
              <p:spPr bwMode="auto">
                <a:xfrm>
                  <a:off x="552" y="2865"/>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8" name="Group 37"/>
              <p:cNvGrpSpPr>
                <a:grpSpLocks/>
              </p:cNvGrpSpPr>
              <p:nvPr/>
            </p:nvGrpSpPr>
            <p:grpSpPr bwMode="auto">
              <a:xfrm>
                <a:off x="825" y="2865"/>
                <a:ext cx="338" cy="288"/>
                <a:chOff x="825" y="2865"/>
                <a:chExt cx="338" cy="288"/>
              </a:xfrm>
            </p:grpSpPr>
            <p:sp>
              <p:nvSpPr>
                <p:cNvPr id="56447" name="Rectangle 38"/>
                <p:cNvSpPr>
                  <a:spLocks noChangeArrowheads="1"/>
                </p:cNvSpPr>
                <p:nvPr/>
              </p:nvSpPr>
              <p:spPr bwMode="auto">
                <a:xfrm>
                  <a:off x="825"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48" name="Rectangle 39"/>
                <p:cNvSpPr>
                  <a:spLocks noChangeArrowheads="1"/>
                </p:cNvSpPr>
                <p:nvPr/>
              </p:nvSpPr>
              <p:spPr bwMode="auto">
                <a:xfrm>
                  <a:off x="825" y="286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39" name="Group 40"/>
              <p:cNvGrpSpPr>
                <a:grpSpLocks/>
              </p:cNvGrpSpPr>
              <p:nvPr/>
            </p:nvGrpSpPr>
            <p:grpSpPr bwMode="auto">
              <a:xfrm>
                <a:off x="1163" y="2865"/>
                <a:ext cx="338" cy="288"/>
                <a:chOff x="1163" y="2865"/>
                <a:chExt cx="338" cy="288"/>
              </a:xfrm>
            </p:grpSpPr>
            <p:sp>
              <p:nvSpPr>
                <p:cNvPr id="56445" name="Rectangle 41"/>
                <p:cNvSpPr>
                  <a:spLocks noChangeArrowheads="1"/>
                </p:cNvSpPr>
                <p:nvPr/>
              </p:nvSpPr>
              <p:spPr bwMode="auto">
                <a:xfrm>
                  <a:off x="1163"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46" name="Rectangle 42"/>
                <p:cNvSpPr>
                  <a:spLocks noChangeArrowheads="1"/>
                </p:cNvSpPr>
                <p:nvPr/>
              </p:nvSpPr>
              <p:spPr bwMode="auto">
                <a:xfrm>
                  <a:off x="1163" y="286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0" name="Group 43"/>
              <p:cNvGrpSpPr>
                <a:grpSpLocks/>
              </p:cNvGrpSpPr>
              <p:nvPr/>
            </p:nvGrpSpPr>
            <p:grpSpPr bwMode="auto">
              <a:xfrm>
                <a:off x="0" y="3153"/>
                <a:ext cx="276" cy="288"/>
                <a:chOff x="0" y="3153"/>
                <a:chExt cx="276" cy="288"/>
              </a:xfrm>
            </p:grpSpPr>
            <p:sp>
              <p:nvSpPr>
                <p:cNvPr id="56443" name="Rectangle 44"/>
                <p:cNvSpPr>
                  <a:spLocks noChangeArrowheads="1"/>
                </p:cNvSpPr>
                <p:nvPr/>
              </p:nvSpPr>
              <p:spPr bwMode="auto">
                <a:xfrm>
                  <a:off x="0"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44" name="Rectangle 45"/>
                <p:cNvSpPr>
                  <a:spLocks noChangeArrowheads="1"/>
                </p:cNvSpPr>
                <p:nvPr/>
              </p:nvSpPr>
              <p:spPr bwMode="auto">
                <a:xfrm>
                  <a:off x="0" y="315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1" name="Group 46"/>
              <p:cNvGrpSpPr>
                <a:grpSpLocks/>
              </p:cNvGrpSpPr>
              <p:nvPr/>
            </p:nvGrpSpPr>
            <p:grpSpPr bwMode="auto">
              <a:xfrm>
                <a:off x="276" y="3153"/>
                <a:ext cx="276" cy="288"/>
                <a:chOff x="276" y="3153"/>
                <a:chExt cx="276" cy="288"/>
              </a:xfrm>
            </p:grpSpPr>
            <p:sp>
              <p:nvSpPr>
                <p:cNvPr id="56441" name="Rectangle 47"/>
                <p:cNvSpPr>
                  <a:spLocks noChangeArrowheads="1"/>
                </p:cNvSpPr>
                <p:nvPr/>
              </p:nvSpPr>
              <p:spPr bwMode="auto">
                <a:xfrm>
                  <a:off x="276"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42" name="Rectangle 48"/>
                <p:cNvSpPr>
                  <a:spLocks noChangeArrowheads="1"/>
                </p:cNvSpPr>
                <p:nvPr/>
              </p:nvSpPr>
              <p:spPr bwMode="auto">
                <a:xfrm>
                  <a:off x="276" y="315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2" name="Group 49"/>
              <p:cNvGrpSpPr>
                <a:grpSpLocks/>
              </p:cNvGrpSpPr>
              <p:nvPr/>
            </p:nvGrpSpPr>
            <p:grpSpPr bwMode="auto">
              <a:xfrm>
                <a:off x="552" y="3153"/>
                <a:ext cx="273" cy="288"/>
                <a:chOff x="552" y="3153"/>
                <a:chExt cx="273" cy="288"/>
              </a:xfrm>
            </p:grpSpPr>
            <p:sp>
              <p:nvSpPr>
                <p:cNvPr id="56439" name="Rectangle 50"/>
                <p:cNvSpPr>
                  <a:spLocks noChangeArrowheads="1"/>
                </p:cNvSpPr>
                <p:nvPr/>
              </p:nvSpPr>
              <p:spPr bwMode="auto">
                <a:xfrm>
                  <a:off x="552" y="315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40" name="Rectangle 51"/>
                <p:cNvSpPr>
                  <a:spLocks noChangeArrowheads="1"/>
                </p:cNvSpPr>
                <p:nvPr/>
              </p:nvSpPr>
              <p:spPr bwMode="auto">
                <a:xfrm>
                  <a:off x="552" y="3153"/>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3" name="Group 52"/>
              <p:cNvGrpSpPr>
                <a:grpSpLocks/>
              </p:cNvGrpSpPr>
              <p:nvPr/>
            </p:nvGrpSpPr>
            <p:grpSpPr bwMode="auto">
              <a:xfrm>
                <a:off x="825" y="3153"/>
                <a:ext cx="338" cy="288"/>
                <a:chOff x="825" y="3153"/>
                <a:chExt cx="338" cy="288"/>
              </a:xfrm>
            </p:grpSpPr>
            <p:sp>
              <p:nvSpPr>
                <p:cNvPr id="56437" name="Rectangle 53"/>
                <p:cNvSpPr>
                  <a:spLocks noChangeArrowheads="1"/>
                </p:cNvSpPr>
                <p:nvPr/>
              </p:nvSpPr>
              <p:spPr bwMode="auto">
                <a:xfrm>
                  <a:off x="825"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38" name="Rectangle 54"/>
                <p:cNvSpPr>
                  <a:spLocks noChangeArrowheads="1"/>
                </p:cNvSpPr>
                <p:nvPr/>
              </p:nvSpPr>
              <p:spPr bwMode="auto">
                <a:xfrm>
                  <a:off x="825" y="315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4" name="Group 55"/>
              <p:cNvGrpSpPr>
                <a:grpSpLocks/>
              </p:cNvGrpSpPr>
              <p:nvPr/>
            </p:nvGrpSpPr>
            <p:grpSpPr bwMode="auto">
              <a:xfrm>
                <a:off x="1163" y="3153"/>
                <a:ext cx="338" cy="288"/>
                <a:chOff x="1163" y="3153"/>
                <a:chExt cx="338" cy="288"/>
              </a:xfrm>
            </p:grpSpPr>
            <p:sp>
              <p:nvSpPr>
                <p:cNvPr id="56435" name="Rectangle 56"/>
                <p:cNvSpPr>
                  <a:spLocks noChangeArrowheads="1"/>
                </p:cNvSpPr>
                <p:nvPr/>
              </p:nvSpPr>
              <p:spPr bwMode="auto">
                <a:xfrm>
                  <a:off x="1163"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36" name="Rectangle 57"/>
                <p:cNvSpPr>
                  <a:spLocks noChangeArrowheads="1"/>
                </p:cNvSpPr>
                <p:nvPr/>
              </p:nvSpPr>
              <p:spPr bwMode="auto">
                <a:xfrm>
                  <a:off x="1163" y="315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5" name="Group 58"/>
              <p:cNvGrpSpPr>
                <a:grpSpLocks/>
              </p:cNvGrpSpPr>
              <p:nvPr/>
            </p:nvGrpSpPr>
            <p:grpSpPr bwMode="auto">
              <a:xfrm>
                <a:off x="0" y="3441"/>
                <a:ext cx="276" cy="288"/>
                <a:chOff x="0" y="3441"/>
                <a:chExt cx="276" cy="288"/>
              </a:xfrm>
            </p:grpSpPr>
            <p:sp>
              <p:nvSpPr>
                <p:cNvPr id="56433" name="Rectangle 59"/>
                <p:cNvSpPr>
                  <a:spLocks noChangeArrowheads="1"/>
                </p:cNvSpPr>
                <p:nvPr/>
              </p:nvSpPr>
              <p:spPr bwMode="auto">
                <a:xfrm>
                  <a:off x="0"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34" name="Rectangle 60"/>
                <p:cNvSpPr>
                  <a:spLocks noChangeArrowheads="1"/>
                </p:cNvSpPr>
                <p:nvPr/>
              </p:nvSpPr>
              <p:spPr bwMode="auto">
                <a:xfrm>
                  <a:off x="0" y="344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6" name="Group 61"/>
              <p:cNvGrpSpPr>
                <a:grpSpLocks/>
              </p:cNvGrpSpPr>
              <p:nvPr/>
            </p:nvGrpSpPr>
            <p:grpSpPr bwMode="auto">
              <a:xfrm>
                <a:off x="276" y="3441"/>
                <a:ext cx="276" cy="288"/>
                <a:chOff x="276" y="3441"/>
                <a:chExt cx="276" cy="288"/>
              </a:xfrm>
            </p:grpSpPr>
            <p:sp>
              <p:nvSpPr>
                <p:cNvPr id="56431" name="Rectangle 62"/>
                <p:cNvSpPr>
                  <a:spLocks noChangeArrowheads="1"/>
                </p:cNvSpPr>
                <p:nvPr/>
              </p:nvSpPr>
              <p:spPr bwMode="auto">
                <a:xfrm>
                  <a:off x="276"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32" name="Rectangle 63"/>
                <p:cNvSpPr>
                  <a:spLocks noChangeArrowheads="1"/>
                </p:cNvSpPr>
                <p:nvPr/>
              </p:nvSpPr>
              <p:spPr bwMode="auto">
                <a:xfrm>
                  <a:off x="276" y="344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7" name="Group 64"/>
              <p:cNvGrpSpPr>
                <a:grpSpLocks/>
              </p:cNvGrpSpPr>
              <p:nvPr/>
            </p:nvGrpSpPr>
            <p:grpSpPr bwMode="auto">
              <a:xfrm>
                <a:off x="552" y="3441"/>
                <a:ext cx="273" cy="288"/>
                <a:chOff x="552" y="3441"/>
                <a:chExt cx="273" cy="288"/>
              </a:xfrm>
            </p:grpSpPr>
            <p:sp>
              <p:nvSpPr>
                <p:cNvPr id="56429" name="Rectangle 65"/>
                <p:cNvSpPr>
                  <a:spLocks noChangeArrowheads="1"/>
                </p:cNvSpPr>
                <p:nvPr/>
              </p:nvSpPr>
              <p:spPr bwMode="auto">
                <a:xfrm>
                  <a:off x="552" y="344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30" name="Rectangle 66"/>
                <p:cNvSpPr>
                  <a:spLocks noChangeArrowheads="1"/>
                </p:cNvSpPr>
                <p:nvPr/>
              </p:nvSpPr>
              <p:spPr bwMode="auto">
                <a:xfrm>
                  <a:off x="552" y="3441"/>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8" name="Group 67"/>
              <p:cNvGrpSpPr>
                <a:grpSpLocks/>
              </p:cNvGrpSpPr>
              <p:nvPr/>
            </p:nvGrpSpPr>
            <p:grpSpPr bwMode="auto">
              <a:xfrm>
                <a:off x="825" y="3441"/>
                <a:ext cx="338" cy="288"/>
                <a:chOff x="825" y="3441"/>
                <a:chExt cx="338" cy="288"/>
              </a:xfrm>
            </p:grpSpPr>
            <p:sp>
              <p:nvSpPr>
                <p:cNvPr id="56427" name="Rectangle 68"/>
                <p:cNvSpPr>
                  <a:spLocks noChangeArrowheads="1"/>
                </p:cNvSpPr>
                <p:nvPr/>
              </p:nvSpPr>
              <p:spPr bwMode="auto">
                <a:xfrm>
                  <a:off x="825"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28" name="Rectangle 69"/>
                <p:cNvSpPr>
                  <a:spLocks noChangeArrowheads="1"/>
                </p:cNvSpPr>
                <p:nvPr/>
              </p:nvSpPr>
              <p:spPr bwMode="auto">
                <a:xfrm>
                  <a:off x="825" y="344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49" name="Group 70"/>
              <p:cNvGrpSpPr>
                <a:grpSpLocks/>
              </p:cNvGrpSpPr>
              <p:nvPr/>
            </p:nvGrpSpPr>
            <p:grpSpPr bwMode="auto">
              <a:xfrm>
                <a:off x="1163" y="3441"/>
                <a:ext cx="338" cy="288"/>
                <a:chOff x="1163" y="3441"/>
                <a:chExt cx="338" cy="288"/>
              </a:xfrm>
            </p:grpSpPr>
            <p:sp>
              <p:nvSpPr>
                <p:cNvPr id="56425" name="Rectangle 71"/>
                <p:cNvSpPr>
                  <a:spLocks noChangeArrowheads="1"/>
                </p:cNvSpPr>
                <p:nvPr/>
              </p:nvSpPr>
              <p:spPr bwMode="auto">
                <a:xfrm>
                  <a:off x="1163"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26" name="Rectangle 72"/>
                <p:cNvSpPr>
                  <a:spLocks noChangeArrowheads="1"/>
                </p:cNvSpPr>
                <p:nvPr/>
              </p:nvSpPr>
              <p:spPr bwMode="auto">
                <a:xfrm>
                  <a:off x="1163" y="344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0" name="Group 73"/>
              <p:cNvGrpSpPr>
                <a:grpSpLocks/>
              </p:cNvGrpSpPr>
              <p:nvPr/>
            </p:nvGrpSpPr>
            <p:grpSpPr bwMode="auto">
              <a:xfrm>
                <a:off x="0" y="3729"/>
                <a:ext cx="276" cy="288"/>
                <a:chOff x="0" y="3729"/>
                <a:chExt cx="276" cy="288"/>
              </a:xfrm>
            </p:grpSpPr>
            <p:sp>
              <p:nvSpPr>
                <p:cNvPr id="56423" name="Rectangle 74"/>
                <p:cNvSpPr>
                  <a:spLocks noChangeArrowheads="1"/>
                </p:cNvSpPr>
                <p:nvPr/>
              </p:nvSpPr>
              <p:spPr bwMode="auto">
                <a:xfrm>
                  <a:off x="0"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24" name="Rectangle 75"/>
                <p:cNvSpPr>
                  <a:spLocks noChangeArrowheads="1"/>
                </p:cNvSpPr>
                <p:nvPr/>
              </p:nvSpPr>
              <p:spPr bwMode="auto">
                <a:xfrm>
                  <a:off x="0" y="3729"/>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1" name="Group 76"/>
              <p:cNvGrpSpPr>
                <a:grpSpLocks/>
              </p:cNvGrpSpPr>
              <p:nvPr/>
            </p:nvGrpSpPr>
            <p:grpSpPr bwMode="auto">
              <a:xfrm>
                <a:off x="276" y="3729"/>
                <a:ext cx="276" cy="288"/>
                <a:chOff x="276" y="3729"/>
                <a:chExt cx="276" cy="288"/>
              </a:xfrm>
            </p:grpSpPr>
            <p:sp>
              <p:nvSpPr>
                <p:cNvPr id="56421" name="Rectangle 77"/>
                <p:cNvSpPr>
                  <a:spLocks noChangeArrowheads="1"/>
                </p:cNvSpPr>
                <p:nvPr/>
              </p:nvSpPr>
              <p:spPr bwMode="auto">
                <a:xfrm>
                  <a:off x="276"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22" name="Rectangle 78"/>
                <p:cNvSpPr>
                  <a:spLocks noChangeArrowheads="1"/>
                </p:cNvSpPr>
                <p:nvPr/>
              </p:nvSpPr>
              <p:spPr bwMode="auto">
                <a:xfrm>
                  <a:off x="276" y="3729"/>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2" name="Group 79"/>
              <p:cNvGrpSpPr>
                <a:grpSpLocks/>
              </p:cNvGrpSpPr>
              <p:nvPr/>
            </p:nvGrpSpPr>
            <p:grpSpPr bwMode="auto">
              <a:xfrm>
                <a:off x="552" y="3729"/>
                <a:ext cx="273" cy="288"/>
                <a:chOff x="552" y="3729"/>
                <a:chExt cx="273" cy="288"/>
              </a:xfrm>
            </p:grpSpPr>
            <p:sp>
              <p:nvSpPr>
                <p:cNvPr id="56419" name="Rectangle 80"/>
                <p:cNvSpPr>
                  <a:spLocks noChangeArrowheads="1"/>
                </p:cNvSpPr>
                <p:nvPr/>
              </p:nvSpPr>
              <p:spPr bwMode="auto">
                <a:xfrm>
                  <a:off x="552" y="3729"/>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20" name="Rectangle 81"/>
                <p:cNvSpPr>
                  <a:spLocks noChangeArrowheads="1"/>
                </p:cNvSpPr>
                <p:nvPr/>
              </p:nvSpPr>
              <p:spPr bwMode="auto">
                <a:xfrm>
                  <a:off x="552" y="3729"/>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3" name="Group 82"/>
              <p:cNvGrpSpPr>
                <a:grpSpLocks/>
              </p:cNvGrpSpPr>
              <p:nvPr/>
            </p:nvGrpSpPr>
            <p:grpSpPr bwMode="auto">
              <a:xfrm>
                <a:off x="825" y="3729"/>
                <a:ext cx="338" cy="288"/>
                <a:chOff x="825" y="3729"/>
                <a:chExt cx="338" cy="288"/>
              </a:xfrm>
            </p:grpSpPr>
            <p:sp>
              <p:nvSpPr>
                <p:cNvPr id="56417" name="Rectangle 83"/>
                <p:cNvSpPr>
                  <a:spLocks noChangeArrowheads="1"/>
                </p:cNvSpPr>
                <p:nvPr/>
              </p:nvSpPr>
              <p:spPr bwMode="auto">
                <a:xfrm>
                  <a:off x="825"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18" name="Rectangle 84"/>
                <p:cNvSpPr>
                  <a:spLocks noChangeArrowheads="1"/>
                </p:cNvSpPr>
                <p:nvPr/>
              </p:nvSpPr>
              <p:spPr bwMode="auto">
                <a:xfrm>
                  <a:off x="825" y="3729"/>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4" name="Group 85"/>
              <p:cNvGrpSpPr>
                <a:grpSpLocks/>
              </p:cNvGrpSpPr>
              <p:nvPr/>
            </p:nvGrpSpPr>
            <p:grpSpPr bwMode="auto">
              <a:xfrm>
                <a:off x="1163" y="3729"/>
                <a:ext cx="338" cy="288"/>
                <a:chOff x="1163" y="3729"/>
                <a:chExt cx="338" cy="288"/>
              </a:xfrm>
            </p:grpSpPr>
            <p:sp>
              <p:nvSpPr>
                <p:cNvPr id="56415" name="Rectangle 86"/>
                <p:cNvSpPr>
                  <a:spLocks noChangeArrowheads="1"/>
                </p:cNvSpPr>
                <p:nvPr/>
              </p:nvSpPr>
              <p:spPr bwMode="auto">
                <a:xfrm>
                  <a:off x="1163"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16" name="Rectangle 87"/>
                <p:cNvSpPr>
                  <a:spLocks noChangeArrowheads="1"/>
                </p:cNvSpPr>
                <p:nvPr/>
              </p:nvSpPr>
              <p:spPr bwMode="auto">
                <a:xfrm>
                  <a:off x="1163" y="3729"/>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5" name="Group 88"/>
              <p:cNvGrpSpPr>
                <a:grpSpLocks/>
              </p:cNvGrpSpPr>
              <p:nvPr/>
            </p:nvGrpSpPr>
            <p:grpSpPr bwMode="auto">
              <a:xfrm>
                <a:off x="0" y="4017"/>
                <a:ext cx="276" cy="288"/>
                <a:chOff x="0" y="4017"/>
                <a:chExt cx="276" cy="288"/>
              </a:xfrm>
            </p:grpSpPr>
            <p:sp>
              <p:nvSpPr>
                <p:cNvPr id="56413" name="Rectangle 89"/>
                <p:cNvSpPr>
                  <a:spLocks noChangeArrowheads="1"/>
                </p:cNvSpPr>
                <p:nvPr/>
              </p:nvSpPr>
              <p:spPr bwMode="auto">
                <a:xfrm>
                  <a:off x="0"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14" name="Rectangle 90"/>
                <p:cNvSpPr>
                  <a:spLocks noChangeArrowheads="1"/>
                </p:cNvSpPr>
                <p:nvPr/>
              </p:nvSpPr>
              <p:spPr bwMode="auto">
                <a:xfrm>
                  <a:off x="0" y="4017"/>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6" name="Group 91"/>
              <p:cNvGrpSpPr>
                <a:grpSpLocks/>
              </p:cNvGrpSpPr>
              <p:nvPr/>
            </p:nvGrpSpPr>
            <p:grpSpPr bwMode="auto">
              <a:xfrm>
                <a:off x="276" y="4017"/>
                <a:ext cx="276" cy="288"/>
                <a:chOff x="276" y="4017"/>
                <a:chExt cx="276" cy="288"/>
              </a:xfrm>
            </p:grpSpPr>
            <p:sp>
              <p:nvSpPr>
                <p:cNvPr id="56411" name="Rectangle 92"/>
                <p:cNvSpPr>
                  <a:spLocks noChangeArrowheads="1"/>
                </p:cNvSpPr>
                <p:nvPr/>
              </p:nvSpPr>
              <p:spPr bwMode="auto">
                <a:xfrm>
                  <a:off x="276"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12" name="Rectangle 93"/>
                <p:cNvSpPr>
                  <a:spLocks noChangeArrowheads="1"/>
                </p:cNvSpPr>
                <p:nvPr/>
              </p:nvSpPr>
              <p:spPr bwMode="auto">
                <a:xfrm>
                  <a:off x="276" y="4017"/>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7" name="Group 94"/>
              <p:cNvGrpSpPr>
                <a:grpSpLocks/>
              </p:cNvGrpSpPr>
              <p:nvPr/>
            </p:nvGrpSpPr>
            <p:grpSpPr bwMode="auto">
              <a:xfrm>
                <a:off x="552" y="4017"/>
                <a:ext cx="273" cy="288"/>
                <a:chOff x="552" y="4017"/>
                <a:chExt cx="273" cy="288"/>
              </a:xfrm>
            </p:grpSpPr>
            <p:sp>
              <p:nvSpPr>
                <p:cNvPr id="56409" name="Rectangle 95"/>
                <p:cNvSpPr>
                  <a:spLocks noChangeArrowheads="1"/>
                </p:cNvSpPr>
                <p:nvPr/>
              </p:nvSpPr>
              <p:spPr bwMode="auto">
                <a:xfrm>
                  <a:off x="552" y="4017"/>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10" name="Rectangle 96"/>
                <p:cNvSpPr>
                  <a:spLocks noChangeArrowheads="1"/>
                </p:cNvSpPr>
                <p:nvPr/>
              </p:nvSpPr>
              <p:spPr bwMode="auto">
                <a:xfrm>
                  <a:off x="552" y="4017"/>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8" name="Group 97"/>
              <p:cNvGrpSpPr>
                <a:grpSpLocks/>
              </p:cNvGrpSpPr>
              <p:nvPr/>
            </p:nvGrpSpPr>
            <p:grpSpPr bwMode="auto">
              <a:xfrm>
                <a:off x="825" y="4017"/>
                <a:ext cx="338" cy="288"/>
                <a:chOff x="825" y="4017"/>
                <a:chExt cx="338" cy="288"/>
              </a:xfrm>
            </p:grpSpPr>
            <p:sp>
              <p:nvSpPr>
                <p:cNvPr id="56407" name="Rectangle 98"/>
                <p:cNvSpPr>
                  <a:spLocks noChangeArrowheads="1"/>
                </p:cNvSpPr>
                <p:nvPr/>
              </p:nvSpPr>
              <p:spPr bwMode="auto">
                <a:xfrm>
                  <a:off x="825"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08" name="Rectangle 99"/>
                <p:cNvSpPr>
                  <a:spLocks noChangeArrowheads="1"/>
                </p:cNvSpPr>
                <p:nvPr/>
              </p:nvSpPr>
              <p:spPr bwMode="auto">
                <a:xfrm>
                  <a:off x="825" y="4017"/>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59" name="Group 100"/>
              <p:cNvGrpSpPr>
                <a:grpSpLocks/>
              </p:cNvGrpSpPr>
              <p:nvPr/>
            </p:nvGrpSpPr>
            <p:grpSpPr bwMode="auto">
              <a:xfrm>
                <a:off x="1163" y="4017"/>
                <a:ext cx="338" cy="288"/>
                <a:chOff x="1163" y="4017"/>
                <a:chExt cx="338" cy="288"/>
              </a:xfrm>
            </p:grpSpPr>
            <p:sp>
              <p:nvSpPr>
                <p:cNvPr id="56405" name="Rectangle 101"/>
                <p:cNvSpPr>
                  <a:spLocks noChangeArrowheads="1"/>
                </p:cNvSpPr>
                <p:nvPr/>
              </p:nvSpPr>
              <p:spPr bwMode="auto">
                <a:xfrm>
                  <a:off x="1163"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06" name="Rectangle 102"/>
                <p:cNvSpPr>
                  <a:spLocks noChangeArrowheads="1"/>
                </p:cNvSpPr>
                <p:nvPr/>
              </p:nvSpPr>
              <p:spPr bwMode="auto">
                <a:xfrm>
                  <a:off x="1163" y="4017"/>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0" name="Group 103"/>
              <p:cNvGrpSpPr>
                <a:grpSpLocks/>
              </p:cNvGrpSpPr>
              <p:nvPr/>
            </p:nvGrpSpPr>
            <p:grpSpPr bwMode="auto">
              <a:xfrm>
                <a:off x="0" y="4305"/>
                <a:ext cx="276" cy="288"/>
                <a:chOff x="0" y="4305"/>
                <a:chExt cx="276" cy="288"/>
              </a:xfrm>
            </p:grpSpPr>
            <p:sp>
              <p:nvSpPr>
                <p:cNvPr id="56403" name="Rectangle 104"/>
                <p:cNvSpPr>
                  <a:spLocks noChangeArrowheads="1"/>
                </p:cNvSpPr>
                <p:nvPr/>
              </p:nvSpPr>
              <p:spPr bwMode="auto">
                <a:xfrm>
                  <a:off x="0"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04" name="Rectangle 105"/>
                <p:cNvSpPr>
                  <a:spLocks noChangeArrowheads="1"/>
                </p:cNvSpPr>
                <p:nvPr/>
              </p:nvSpPr>
              <p:spPr bwMode="auto">
                <a:xfrm>
                  <a:off x="0" y="430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1" name="Group 106"/>
              <p:cNvGrpSpPr>
                <a:grpSpLocks/>
              </p:cNvGrpSpPr>
              <p:nvPr/>
            </p:nvGrpSpPr>
            <p:grpSpPr bwMode="auto">
              <a:xfrm>
                <a:off x="276" y="4305"/>
                <a:ext cx="276" cy="288"/>
                <a:chOff x="276" y="4305"/>
                <a:chExt cx="276" cy="288"/>
              </a:xfrm>
            </p:grpSpPr>
            <p:sp>
              <p:nvSpPr>
                <p:cNvPr id="56401" name="Rectangle 107"/>
                <p:cNvSpPr>
                  <a:spLocks noChangeArrowheads="1"/>
                </p:cNvSpPr>
                <p:nvPr/>
              </p:nvSpPr>
              <p:spPr bwMode="auto">
                <a:xfrm>
                  <a:off x="276"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402" name="Rectangle 108"/>
                <p:cNvSpPr>
                  <a:spLocks noChangeArrowheads="1"/>
                </p:cNvSpPr>
                <p:nvPr/>
              </p:nvSpPr>
              <p:spPr bwMode="auto">
                <a:xfrm>
                  <a:off x="276" y="430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2" name="Group 109"/>
              <p:cNvGrpSpPr>
                <a:grpSpLocks/>
              </p:cNvGrpSpPr>
              <p:nvPr/>
            </p:nvGrpSpPr>
            <p:grpSpPr bwMode="auto">
              <a:xfrm>
                <a:off x="552" y="4305"/>
                <a:ext cx="273" cy="288"/>
                <a:chOff x="552" y="4305"/>
                <a:chExt cx="273" cy="288"/>
              </a:xfrm>
            </p:grpSpPr>
            <p:sp>
              <p:nvSpPr>
                <p:cNvPr id="56399" name="Rectangle 110"/>
                <p:cNvSpPr>
                  <a:spLocks noChangeArrowheads="1"/>
                </p:cNvSpPr>
                <p:nvPr/>
              </p:nvSpPr>
              <p:spPr bwMode="auto">
                <a:xfrm>
                  <a:off x="552" y="430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400" name="Rectangle 111"/>
                <p:cNvSpPr>
                  <a:spLocks noChangeArrowheads="1"/>
                </p:cNvSpPr>
                <p:nvPr/>
              </p:nvSpPr>
              <p:spPr bwMode="auto">
                <a:xfrm>
                  <a:off x="552" y="4305"/>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3" name="Group 112"/>
              <p:cNvGrpSpPr>
                <a:grpSpLocks/>
              </p:cNvGrpSpPr>
              <p:nvPr/>
            </p:nvGrpSpPr>
            <p:grpSpPr bwMode="auto">
              <a:xfrm>
                <a:off x="825" y="4305"/>
                <a:ext cx="338" cy="288"/>
                <a:chOff x="825" y="4305"/>
                <a:chExt cx="338" cy="288"/>
              </a:xfrm>
            </p:grpSpPr>
            <p:sp>
              <p:nvSpPr>
                <p:cNvPr id="56397" name="Rectangle 113"/>
                <p:cNvSpPr>
                  <a:spLocks noChangeArrowheads="1"/>
                </p:cNvSpPr>
                <p:nvPr/>
              </p:nvSpPr>
              <p:spPr bwMode="auto">
                <a:xfrm>
                  <a:off x="825"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398" name="Rectangle 114"/>
                <p:cNvSpPr>
                  <a:spLocks noChangeArrowheads="1"/>
                </p:cNvSpPr>
                <p:nvPr/>
              </p:nvSpPr>
              <p:spPr bwMode="auto">
                <a:xfrm>
                  <a:off x="825" y="430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4" name="Group 115"/>
              <p:cNvGrpSpPr>
                <a:grpSpLocks/>
              </p:cNvGrpSpPr>
              <p:nvPr/>
            </p:nvGrpSpPr>
            <p:grpSpPr bwMode="auto">
              <a:xfrm>
                <a:off x="1163" y="4305"/>
                <a:ext cx="338" cy="288"/>
                <a:chOff x="1163" y="4305"/>
                <a:chExt cx="338" cy="288"/>
              </a:xfrm>
            </p:grpSpPr>
            <p:sp>
              <p:nvSpPr>
                <p:cNvPr id="56395" name="Rectangle 116"/>
                <p:cNvSpPr>
                  <a:spLocks noChangeArrowheads="1"/>
                </p:cNvSpPr>
                <p:nvPr/>
              </p:nvSpPr>
              <p:spPr bwMode="auto">
                <a:xfrm>
                  <a:off x="1163"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96" name="Rectangle 117"/>
                <p:cNvSpPr>
                  <a:spLocks noChangeArrowheads="1"/>
                </p:cNvSpPr>
                <p:nvPr/>
              </p:nvSpPr>
              <p:spPr bwMode="auto">
                <a:xfrm>
                  <a:off x="1163" y="430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5" name="Group 118"/>
              <p:cNvGrpSpPr>
                <a:grpSpLocks/>
              </p:cNvGrpSpPr>
              <p:nvPr/>
            </p:nvGrpSpPr>
            <p:grpSpPr bwMode="auto">
              <a:xfrm>
                <a:off x="0" y="4593"/>
                <a:ext cx="276" cy="288"/>
                <a:chOff x="0" y="4593"/>
                <a:chExt cx="276" cy="288"/>
              </a:xfrm>
            </p:grpSpPr>
            <p:sp>
              <p:nvSpPr>
                <p:cNvPr id="56393" name="Rectangle 119"/>
                <p:cNvSpPr>
                  <a:spLocks noChangeArrowheads="1"/>
                </p:cNvSpPr>
                <p:nvPr/>
              </p:nvSpPr>
              <p:spPr bwMode="auto">
                <a:xfrm>
                  <a:off x="0"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94" name="Rectangle 120"/>
                <p:cNvSpPr>
                  <a:spLocks noChangeArrowheads="1"/>
                </p:cNvSpPr>
                <p:nvPr/>
              </p:nvSpPr>
              <p:spPr bwMode="auto">
                <a:xfrm>
                  <a:off x="0" y="459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6" name="Group 121"/>
              <p:cNvGrpSpPr>
                <a:grpSpLocks/>
              </p:cNvGrpSpPr>
              <p:nvPr/>
            </p:nvGrpSpPr>
            <p:grpSpPr bwMode="auto">
              <a:xfrm>
                <a:off x="276" y="4593"/>
                <a:ext cx="276" cy="288"/>
                <a:chOff x="276" y="4593"/>
                <a:chExt cx="276" cy="288"/>
              </a:xfrm>
            </p:grpSpPr>
            <p:sp>
              <p:nvSpPr>
                <p:cNvPr id="56391" name="Rectangle 122"/>
                <p:cNvSpPr>
                  <a:spLocks noChangeArrowheads="1"/>
                </p:cNvSpPr>
                <p:nvPr/>
              </p:nvSpPr>
              <p:spPr bwMode="auto">
                <a:xfrm>
                  <a:off x="276"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92" name="Rectangle 123"/>
                <p:cNvSpPr>
                  <a:spLocks noChangeArrowheads="1"/>
                </p:cNvSpPr>
                <p:nvPr/>
              </p:nvSpPr>
              <p:spPr bwMode="auto">
                <a:xfrm>
                  <a:off x="276" y="459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7" name="Group 124"/>
              <p:cNvGrpSpPr>
                <a:grpSpLocks/>
              </p:cNvGrpSpPr>
              <p:nvPr/>
            </p:nvGrpSpPr>
            <p:grpSpPr bwMode="auto">
              <a:xfrm>
                <a:off x="552" y="4593"/>
                <a:ext cx="273" cy="288"/>
                <a:chOff x="552" y="4593"/>
                <a:chExt cx="273" cy="288"/>
              </a:xfrm>
            </p:grpSpPr>
            <p:sp>
              <p:nvSpPr>
                <p:cNvPr id="56389" name="Rectangle 125"/>
                <p:cNvSpPr>
                  <a:spLocks noChangeArrowheads="1"/>
                </p:cNvSpPr>
                <p:nvPr/>
              </p:nvSpPr>
              <p:spPr bwMode="auto">
                <a:xfrm>
                  <a:off x="552" y="459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390" name="Rectangle 126"/>
                <p:cNvSpPr>
                  <a:spLocks noChangeArrowheads="1"/>
                </p:cNvSpPr>
                <p:nvPr/>
              </p:nvSpPr>
              <p:spPr bwMode="auto">
                <a:xfrm>
                  <a:off x="552" y="4593"/>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8" name="Group 127"/>
              <p:cNvGrpSpPr>
                <a:grpSpLocks/>
              </p:cNvGrpSpPr>
              <p:nvPr/>
            </p:nvGrpSpPr>
            <p:grpSpPr bwMode="auto">
              <a:xfrm>
                <a:off x="825" y="4593"/>
                <a:ext cx="338" cy="288"/>
                <a:chOff x="825" y="4593"/>
                <a:chExt cx="338" cy="288"/>
              </a:xfrm>
            </p:grpSpPr>
            <p:sp>
              <p:nvSpPr>
                <p:cNvPr id="56387" name="Rectangle 128"/>
                <p:cNvSpPr>
                  <a:spLocks noChangeArrowheads="1"/>
                </p:cNvSpPr>
                <p:nvPr/>
              </p:nvSpPr>
              <p:spPr bwMode="auto">
                <a:xfrm>
                  <a:off x="825"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6388" name="Rectangle 129"/>
                <p:cNvSpPr>
                  <a:spLocks noChangeArrowheads="1"/>
                </p:cNvSpPr>
                <p:nvPr/>
              </p:nvSpPr>
              <p:spPr bwMode="auto">
                <a:xfrm>
                  <a:off x="825" y="459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69" name="Group 130"/>
              <p:cNvGrpSpPr>
                <a:grpSpLocks/>
              </p:cNvGrpSpPr>
              <p:nvPr/>
            </p:nvGrpSpPr>
            <p:grpSpPr bwMode="auto">
              <a:xfrm>
                <a:off x="1163" y="4593"/>
                <a:ext cx="338" cy="288"/>
                <a:chOff x="1163" y="4593"/>
                <a:chExt cx="338" cy="288"/>
              </a:xfrm>
            </p:grpSpPr>
            <p:sp>
              <p:nvSpPr>
                <p:cNvPr id="56385" name="Rectangle 131"/>
                <p:cNvSpPr>
                  <a:spLocks noChangeArrowheads="1"/>
                </p:cNvSpPr>
                <p:nvPr/>
              </p:nvSpPr>
              <p:spPr bwMode="auto">
                <a:xfrm>
                  <a:off x="1163"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86" name="Rectangle 132"/>
                <p:cNvSpPr>
                  <a:spLocks noChangeArrowheads="1"/>
                </p:cNvSpPr>
                <p:nvPr/>
              </p:nvSpPr>
              <p:spPr bwMode="auto">
                <a:xfrm>
                  <a:off x="1163" y="459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70" name="Group 133"/>
              <p:cNvGrpSpPr>
                <a:grpSpLocks/>
              </p:cNvGrpSpPr>
              <p:nvPr/>
            </p:nvGrpSpPr>
            <p:grpSpPr bwMode="auto">
              <a:xfrm>
                <a:off x="0" y="4881"/>
                <a:ext cx="276" cy="288"/>
                <a:chOff x="0" y="4881"/>
                <a:chExt cx="276" cy="288"/>
              </a:xfrm>
            </p:grpSpPr>
            <p:sp>
              <p:nvSpPr>
                <p:cNvPr id="56383" name="Rectangle 134"/>
                <p:cNvSpPr>
                  <a:spLocks noChangeArrowheads="1"/>
                </p:cNvSpPr>
                <p:nvPr/>
              </p:nvSpPr>
              <p:spPr bwMode="auto">
                <a:xfrm>
                  <a:off x="0"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84" name="Rectangle 135"/>
                <p:cNvSpPr>
                  <a:spLocks noChangeArrowheads="1"/>
                </p:cNvSpPr>
                <p:nvPr/>
              </p:nvSpPr>
              <p:spPr bwMode="auto">
                <a:xfrm>
                  <a:off x="0" y="488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71" name="Group 136"/>
              <p:cNvGrpSpPr>
                <a:grpSpLocks/>
              </p:cNvGrpSpPr>
              <p:nvPr/>
            </p:nvGrpSpPr>
            <p:grpSpPr bwMode="auto">
              <a:xfrm>
                <a:off x="276" y="4881"/>
                <a:ext cx="276" cy="288"/>
                <a:chOff x="276" y="4881"/>
                <a:chExt cx="276" cy="288"/>
              </a:xfrm>
            </p:grpSpPr>
            <p:sp>
              <p:nvSpPr>
                <p:cNvPr id="56381" name="Rectangle 137"/>
                <p:cNvSpPr>
                  <a:spLocks noChangeArrowheads="1"/>
                </p:cNvSpPr>
                <p:nvPr/>
              </p:nvSpPr>
              <p:spPr bwMode="auto">
                <a:xfrm>
                  <a:off x="276"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82" name="Rectangle 138"/>
                <p:cNvSpPr>
                  <a:spLocks noChangeArrowheads="1"/>
                </p:cNvSpPr>
                <p:nvPr/>
              </p:nvSpPr>
              <p:spPr bwMode="auto">
                <a:xfrm>
                  <a:off x="276" y="488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72" name="Group 139"/>
              <p:cNvGrpSpPr>
                <a:grpSpLocks/>
              </p:cNvGrpSpPr>
              <p:nvPr/>
            </p:nvGrpSpPr>
            <p:grpSpPr bwMode="auto">
              <a:xfrm>
                <a:off x="552" y="4881"/>
                <a:ext cx="273" cy="288"/>
                <a:chOff x="552" y="4881"/>
                <a:chExt cx="273" cy="288"/>
              </a:xfrm>
            </p:grpSpPr>
            <p:sp>
              <p:nvSpPr>
                <p:cNvPr id="56379" name="Rectangle 140"/>
                <p:cNvSpPr>
                  <a:spLocks noChangeArrowheads="1"/>
                </p:cNvSpPr>
                <p:nvPr/>
              </p:nvSpPr>
              <p:spPr bwMode="auto">
                <a:xfrm>
                  <a:off x="552" y="488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80" name="Rectangle 141"/>
                <p:cNvSpPr>
                  <a:spLocks noChangeArrowheads="1"/>
                </p:cNvSpPr>
                <p:nvPr/>
              </p:nvSpPr>
              <p:spPr bwMode="auto">
                <a:xfrm>
                  <a:off x="552" y="4881"/>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73" name="Group 142"/>
              <p:cNvGrpSpPr>
                <a:grpSpLocks/>
              </p:cNvGrpSpPr>
              <p:nvPr/>
            </p:nvGrpSpPr>
            <p:grpSpPr bwMode="auto">
              <a:xfrm>
                <a:off x="825" y="4881"/>
                <a:ext cx="338" cy="288"/>
                <a:chOff x="825" y="4881"/>
                <a:chExt cx="338" cy="288"/>
              </a:xfrm>
            </p:grpSpPr>
            <p:sp>
              <p:nvSpPr>
                <p:cNvPr id="56377" name="Rectangle 143"/>
                <p:cNvSpPr>
                  <a:spLocks noChangeArrowheads="1"/>
                </p:cNvSpPr>
                <p:nvPr/>
              </p:nvSpPr>
              <p:spPr bwMode="auto">
                <a:xfrm>
                  <a:off x="825"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78" name="Rectangle 144"/>
                <p:cNvSpPr>
                  <a:spLocks noChangeArrowheads="1"/>
                </p:cNvSpPr>
                <p:nvPr/>
              </p:nvSpPr>
              <p:spPr bwMode="auto">
                <a:xfrm>
                  <a:off x="825" y="488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6374" name="Group 145"/>
              <p:cNvGrpSpPr>
                <a:grpSpLocks/>
              </p:cNvGrpSpPr>
              <p:nvPr/>
            </p:nvGrpSpPr>
            <p:grpSpPr bwMode="auto">
              <a:xfrm>
                <a:off x="1163" y="4881"/>
                <a:ext cx="338" cy="288"/>
                <a:chOff x="1163" y="4881"/>
                <a:chExt cx="338" cy="288"/>
              </a:xfrm>
            </p:grpSpPr>
            <p:sp>
              <p:nvSpPr>
                <p:cNvPr id="56375" name="Rectangle 146"/>
                <p:cNvSpPr>
                  <a:spLocks noChangeArrowheads="1"/>
                </p:cNvSpPr>
                <p:nvPr/>
              </p:nvSpPr>
              <p:spPr bwMode="auto">
                <a:xfrm>
                  <a:off x="1163"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6376" name="Rectangle 147"/>
                <p:cNvSpPr>
                  <a:spLocks noChangeArrowheads="1"/>
                </p:cNvSpPr>
                <p:nvPr/>
              </p:nvSpPr>
              <p:spPr bwMode="auto">
                <a:xfrm>
                  <a:off x="1163" y="488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sp>
          <p:nvSpPr>
            <p:cNvPr id="56327" name="Rectangle 148"/>
            <p:cNvSpPr>
              <a:spLocks noChangeArrowheads="1"/>
            </p:cNvSpPr>
            <p:nvPr/>
          </p:nvSpPr>
          <p:spPr bwMode="auto">
            <a:xfrm>
              <a:off x="-3" y="2056"/>
              <a:ext cx="1507" cy="311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sp>
        <p:nvSpPr>
          <p:cNvPr id="56325" name="Rectangle 1"/>
          <p:cNvSpPr>
            <a:spLocks noChangeArrowheads="1"/>
          </p:cNvSpPr>
          <p:nvPr/>
        </p:nvSpPr>
        <p:spPr bwMode="auto">
          <a:xfrm>
            <a:off x="512763" y="2708275"/>
            <a:ext cx="4073525"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en-US" sz="2400">
                <a:latin typeface="黑体" pitchFamily="2" charset="-122"/>
                <a:ea typeface="黑体" pitchFamily="2" charset="-122"/>
              </a:rPr>
              <a:t>全加器：</a:t>
            </a:r>
            <a:r>
              <a:rPr lang="zh-CN" altLang="zh-CN" sz="2400">
                <a:latin typeface="黑体" pitchFamily="2" charset="-122"/>
                <a:ea typeface="黑体" pitchFamily="2" charset="-122"/>
              </a:rPr>
              <a:t>两个二进制数字A</a:t>
            </a:r>
            <a:r>
              <a:rPr lang="zh-CN" altLang="zh-CN" sz="2400" baseline="-30000">
                <a:latin typeface="黑体" pitchFamily="2" charset="-122"/>
                <a:ea typeface="黑体" pitchFamily="2" charset="-122"/>
              </a:rPr>
              <a:t>i</a:t>
            </a:r>
            <a:r>
              <a:rPr lang="zh-CN" altLang="zh-CN" sz="2400">
                <a:latin typeface="黑体" pitchFamily="2" charset="-122"/>
                <a:ea typeface="黑体" pitchFamily="2" charset="-122"/>
              </a:rPr>
              <a:t>,B</a:t>
            </a:r>
            <a:r>
              <a:rPr lang="zh-CN" altLang="zh-CN" sz="2400" baseline="-30000">
                <a:latin typeface="黑体" pitchFamily="2" charset="-122"/>
                <a:ea typeface="黑体" pitchFamily="2" charset="-122"/>
              </a:rPr>
              <a:t>i</a:t>
            </a:r>
            <a:r>
              <a:rPr lang="zh-CN" altLang="zh-CN" sz="2400">
                <a:latin typeface="黑体" pitchFamily="2" charset="-122"/>
                <a:ea typeface="黑体" pitchFamily="2" charset="-122"/>
              </a:rPr>
              <a:t>和一个进位输入C</a:t>
            </a:r>
            <a:r>
              <a:rPr lang="zh-CN" altLang="zh-CN" sz="2400" baseline="-30000">
                <a:latin typeface="黑体" pitchFamily="2" charset="-122"/>
                <a:ea typeface="黑体" pitchFamily="2" charset="-122"/>
              </a:rPr>
              <a:t>i</a:t>
            </a:r>
            <a:r>
              <a:rPr lang="zh-CN" altLang="zh-CN" sz="2400">
                <a:latin typeface="黑体" pitchFamily="2" charset="-122"/>
                <a:ea typeface="黑体" pitchFamily="2" charset="-122"/>
              </a:rPr>
              <a:t>相加,产生一个和输出S</a:t>
            </a:r>
            <a:r>
              <a:rPr lang="zh-CN" altLang="zh-CN" sz="2400" baseline="-30000">
                <a:latin typeface="黑体" pitchFamily="2" charset="-122"/>
                <a:ea typeface="黑体" pitchFamily="2" charset="-122"/>
              </a:rPr>
              <a:t>i</a:t>
            </a:r>
            <a:r>
              <a:rPr lang="zh-CN" altLang="zh-CN" sz="2400">
                <a:latin typeface="黑体" pitchFamily="2" charset="-122"/>
                <a:ea typeface="黑体" pitchFamily="2" charset="-122"/>
              </a:rPr>
              <a:t>,以及一个进位输出C</a:t>
            </a:r>
            <a:r>
              <a:rPr lang="zh-CN" altLang="zh-CN" sz="2400" baseline="-30000">
                <a:latin typeface="黑体" pitchFamily="2" charset="-122"/>
                <a:ea typeface="黑体" pitchFamily="2" charset="-122"/>
              </a:rPr>
              <a:t>i＋1</a:t>
            </a:r>
            <a:r>
              <a:rPr lang="zh-CN" altLang="zh-CN" sz="2400">
                <a:latin typeface="黑体" pitchFamily="2" charset="-122"/>
                <a:ea typeface="黑体" pitchFamily="2" charset="-122"/>
              </a:rPr>
              <a:t>。</a:t>
            </a:r>
            <a:endParaRPr lang="en-US" altLang="zh-CN" sz="2400">
              <a:latin typeface="黑体" pitchFamily="2" charset="-122"/>
              <a:ea typeface="黑体" pitchFamily="2" charset="-122"/>
            </a:endParaRPr>
          </a:p>
          <a:p>
            <a:pPr eaLnBrk="0" hangingPunct="0">
              <a:lnSpc>
                <a:spcPct val="150000"/>
              </a:lnSpc>
            </a:pP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一位全加器真值表 </a:t>
            </a:r>
            <a:r>
              <a:rPr lang="zh-CN" altLang="en-US" sz="3600">
                <a:solidFill>
                  <a:srgbClr val="FF0000"/>
                </a:solidFill>
                <a:latin typeface="黑体" pitchFamily="2" charset="-122"/>
                <a:ea typeface="黑体" pitchFamily="2" charset="-122"/>
              </a:rPr>
              <a:t>→</a:t>
            </a:r>
            <a:endParaRPr lang="zh-CN" altLang="zh-CN" sz="3600" i="1">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5"/>
          <p:cNvGrpSpPr>
            <a:grpSpLocks/>
          </p:cNvGrpSpPr>
          <p:nvPr/>
        </p:nvGrpSpPr>
        <p:grpSpPr bwMode="auto">
          <a:xfrm>
            <a:off x="250825" y="246063"/>
            <a:ext cx="3151188" cy="3446462"/>
            <a:chOff x="-3" y="2056"/>
            <a:chExt cx="1507" cy="3116"/>
          </a:xfrm>
        </p:grpSpPr>
        <p:grpSp>
          <p:nvGrpSpPr>
            <p:cNvPr id="57353" name="Group 6"/>
            <p:cNvGrpSpPr>
              <a:grpSpLocks/>
            </p:cNvGrpSpPr>
            <p:nvPr/>
          </p:nvGrpSpPr>
          <p:grpSpPr bwMode="auto">
            <a:xfrm>
              <a:off x="0" y="2059"/>
              <a:ext cx="1501" cy="3110"/>
              <a:chOff x="0" y="2059"/>
              <a:chExt cx="1501" cy="3110"/>
            </a:xfrm>
          </p:grpSpPr>
          <p:grpSp>
            <p:nvGrpSpPr>
              <p:cNvPr id="57355" name="Group 7"/>
              <p:cNvGrpSpPr>
                <a:grpSpLocks/>
              </p:cNvGrpSpPr>
              <p:nvPr/>
            </p:nvGrpSpPr>
            <p:grpSpPr bwMode="auto">
              <a:xfrm>
                <a:off x="0" y="2059"/>
                <a:ext cx="825" cy="288"/>
                <a:chOff x="0" y="2059"/>
                <a:chExt cx="825" cy="288"/>
              </a:xfrm>
            </p:grpSpPr>
            <p:sp>
              <p:nvSpPr>
                <p:cNvPr id="57494" name="Rectangle 8"/>
                <p:cNvSpPr>
                  <a:spLocks noChangeArrowheads="1"/>
                </p:cNvSpPr>
                <p:nvPr/>
              </p:nvSpPr>
              <p:spPr bwMode="auto">
                <a:xfrm>
                  <a:off x="0" y="2059"/>
                  <a:ext cx="8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itchFamily="2" charset="-122"/>
                      <a:ea typeface="黑体" pitchFamily="2" charset="-122"/>
                    </a:rPr>
                    <a:t>输入</a:t>
                  </a:r>
                </a:p>
              </p:txBody>
            </p:sp>
            <p:sp>
              <p:nvSpPr>
                <p:cNvPr id="57495" name="Rectangle 9"/>
                <p:cNvSpPr>
                  <a:spLocks noChangeArrowheads="1"/>
                </p:cNvSpPr>
                <p:nvPr/>
              </p:nvSpPr>
              <p:spPr bwMode="auto">
                <a:xfrm>
                  <a:off x="0" y="2059"/>
                  <a:ext cx="825"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56" name="Group 10"/>
              <p:cNvGrpSpPr>
                <a:grpSpLocks/>
              </p:cNvGrpSpPr>
              <p:nvPr/>
            </p:nvGrpSpPr>
            <p:grpSpPr bwMode="auto">
              <a:xfrm>
                <a:off x="825" y="2059"/>
                <a:ext cx="676" cy="288"/>
                <a:chOff x="825" y="2059"/>
                <a:chExt cx="676" cy="288"/>
              </a:xfrm>
            </p:grpSpPr>
            <p:sp>
              <p:nvSpPr>
                <p:cNvPr id="57492" name="Rectangle 11"/>
                <p:cNvSpPr>
                  <a:spLocks noChangeArrowheads="1"/>
                </p:cNvSpPr>
                <p:nvPr/>
              </p:nvSpPr>
              <p:spPr bwMode="auto">
                <a:xfrm>
                  <a:off x="825" y="2059"/>
                  <a:ext cx="6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itchFamily="2" charset="-122"/>
                      <a:ea typeface="黑体" pitchFamily="2" charset="-122"/>
                    </a:rPr>
                    <a:t>输出</a:t>
                  </a:r>
                </a:p>
              </p:txBody>
            </p:sp>
            <p:sp>
              <p:nvSpPr>
                <p:cNvPr id="57493" name="Rectangle 12"/>
                <p:cNvSpPr>
                  <a:spLocks noChangeArrowheads="1"/>
                </p:cNvSpPr>
                <p:nvPr/>
              </p:nvSpPr>
              <p:spPr bwMode="auto">
                <a:xfrm>
                  <a:off x="825" y="2059"/>
                  <a:ext cx="6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57" name="Group 13"/>
              <p:cNvGrpSpPr>
                <a:grpSpLocks/>
              </p:cNvGrpSpPr>
              <p:nvPr/>
            </p:nvGrpSpPr>
            <p:grpSpPr bwMode="auto">
              <a:xfrm>
                <a:off x="0" y="2347"/>
                <a:ext cx="276" cy="518"/>
                <a:chOff x="0" y="2347"/>
                <a:chExt cx="276" cy="518"/>
              </a:xfrm>
            </p:grpSpPr>
            <p:sp>
              <p:nvSpPr>
                <p:cNvPr id="57490" name="Rectangle 14"/>
                <p:cNvSpPr>
                  <a:spLocks noChangeArrowheads="1"/>
                </p:cNvSpPr>
                <p:nvPr/>
              </p:nvSpPr>
              <p:spPr bwMode="auto">
                <a:xfrm>
                  <a:off x="0"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A</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7491" name="Rectangle 15"/>
                <p:cNvSpPr>
                  <a:spLocks noChangeArrowheads="1"/>
                </p:cNvSpPr>
                <p:nvPr/>
              </p:nvSpPr>
              <p:spPr bwMode="auto">
                <a:xfrm>
                  <a:off x="0" y="2347"/>
                  <a:ext cx="27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58" name="Group 16"/>
              <p:cNvGrpSpPr>
                <a:grpSpLocks/>
              </p:cNvGrpSpPr>
              <p:nvPr/>
            </p:nvGrpSpPr>
            <p:grpSpPr bwMode="auto">
              <a:xfrm>
                <a:off x="276" y="2347"/>
                <a:ext cx="276" cy="518"/>
                <a:chOff x="276" y="2347"/>
                <a:chExt cx="276" cy="518"/>
              </a:xfrm>
            </p:grpSpPr>
            <p:sp>
              <p:nvSpPr>
                <p:cNvPr id="57488" name="Rectangle 17"/>
                <p:cNvSpPr>
                  <a:spLocks noChangeArrowheads="1"/>
                </p:cNvSpPr>
                <p:nvPr/>
              </p:nvSpPr>
              <p:spPr bwMode="auto">
                <a:xfrm>
                  <a:off x="276"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B</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7489" name="Rectangle 18"/>
                <p:cNvSpPr>
                  <a:spLocks noChangeArrowheads="1"/>
                </p:cNvSpPr>
                <p:nvPr/>
              </p:nvSpPr>
              <p:spPr bwMode="auto">
                <a:xfrm>
                  <a:off x="276" y="2347"/>
                  <a:ext cx="27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59" name="Group 19"/>
              <p:cNvGrpSpPr>
                <a:grpSpLocks/>
              </p:cNvGrpSpPr>
              <p:nvPr/>
            </p:nvGrpSpPr>
            <p:grpSpPr bwMode="auto">
              <a:xfrm>
                <a:off x="552" y="2347"/>
                <a:ext cx="273" cy="518"/>
                <a:chOff x="552" y="2347"/>
                <a:chExt cx="273" cy="518"/>
              </a:xfrm>
            </p:grpSpPr>
            <p:sp>
              <p:nvSpPr>
                <p:cNvPr id="57486" name="Rectangle 20"/>
                <p:cNvSpPr>
                  <a:spLocks noChangeArrowheads="1"/>
                </p:cNvSpPr>
                <p:nvPr/>
              </p:nvSpPr>
              <p:spPr bwMode="auto">
                <a:xfrm>
                  <a:off x="552" y="2347"/>
                  <a:ext cx="2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C</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7487" name="Rectangle 21"/>
                <p:cNvSpPr>
                  <a:spLocks noChangeArrowheads="1"/>
                </p:cNvSpPr>
                <p:nvPr/>
              </p:nvSpPr>
              <p:spPr bwMode="auto">
                <a:xfrm>
                  <a:off x="552" y="2347"/>
                  <a:ext cx="27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0" name="Group 22"/>
              <p:cNvGrpSpPr>
                <a:grpSpLocks/>
              </p:cNvGrpSpPr>
              <p:nvPr/>
            </p:nvGrpSpPr>
            <p:grpSpPr bwMode="auto">
              <a:xfrm>
                <a:off x="825" y="2347"/>
                <a:ext cx="338" cy="518"/>
                <a:chOff x="825" y="2347"/>
                <a:chExt cx="338" cy="518"/>
              </a:xfrm>
            </p:grpSpPr>
            <p:sp>
              <p:nvSpPr>
                <p:cNvPr id="57484" name="Rectangle 23"/>
                <p:cNvSpPr>
                  <a:spLocks noChangeArrowheads="1"/>
                </p:cNvSpPr>
                <p:nvPr/>
              </p:nvSpPr>
              <p:spPr bwMode="auto">
                <a:xfrm>
                  <a:off x="825"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S</a:t>
                  </a:r>
                  <a:r>
                    <a:rPr kumimoji="1" lang="en-US" altLang="zh-CN" baseline="-30000">
                      <a:latin typeface="黑体" pitchFamily="2" charset="-122"/>
                      <a:ea typeface="黑体" pitchFamily="2" charset="-122"/>
                    </a:rPr>
                    <a:t>i</a:t>
                  </a:r>
                  <a:endParaRPr kumimoji="1" lang="en-US" altLang="zh-CN">
                    <a:latin typeface="黑体" pitchFamily="2" charset="-122"/>
                    <a:ea typeface="黑体" pitchFamily="2" charset="-122"/>
                  </a:endParaRPr>
                </a:p>
              </p:txBody>
            </p:sp>
            <p:sp>
              <p:nvSpPr>
                <p:cNvPr id="57485" name="Rectangle 24"/>
                <p:cNvSpPr>
                  <a:spLocks noChangeArrowheads="1"/>
                </p:cNvSpPr>
                <p:nvPr/>
              </p:nvSpPr>
              <p:spPr bwMode="auto">
                <a:xfrm>
                  <a:off x="825" y="2347"/>
                  <a:ext cx="33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1" name="Group 25"/>
              <p:cNvGrpSpPr>
                <a:grpSpLocks/>
              </p:cNvGrpSpPr>
              <p:nvPr/>
            </p:nvGrpSpPr>
            <p:grpSpPr bwMode="auto">
              <a:xfrm>
                <a:off x="1163" y="2347"/>
                <a:ext cx="338" cy="518"/>
                <a:chOff x="1163" y="2347"/>
                <a:chExt cx="338" cy="518"/>
              </a:xfrm>
            </p:grpSpPr>
            <p:sp>
              <p:nvSpPr>
                <p:cNvPr id="57482" name="Rectangle 26"/>
                <p:cNvSpPr>
                  <a:spLocks noChangeArrowheads="1"/>
                </p:cNvSpPr>
                <p:nvPr/>
              </p:nvSpPr>
              <p:spPr bwMode="auto">
                <a:xfrm>
                  <a:off x="1163"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C</a:t>
                  </a:r>
                  <a:r>
                    <a:rPr kumimoji="1" lang="en-US" altLang="zh-CN" baseline="-30000">
                      <a:latin typeface="黑体" pitchFamily="2" charset="-122"/>
                      <a:ea typeface="黑体" pitchFamily="2" charset="-122"/>
                    </a:rPr>
                    <a:t>i</a:t>
                  </a:r>
                  <a:r>
                    <a:rPr kumimoji="1" lang="zh-CN" altLang="en-US" baseline="-30000">
                      <a:latin typeface="黑体" pitchFamily="2" charset="-122"/>
                      <a:ea typeface="黑体" pitchFamily="2" charset="-122"/>
                    </a:rPr>
                    <a:t>＋</a:t>
                  </a:r>
                  <a:r>
                    <a:rPr kumimoji="1" lang="en-US" altLang="zh-CN" baseline="-30000">
                      <a:latin typeface="黑体" pitchFamily="2" charset="-122"/>
                      <a:ea typeface="黑体" pitchFamily="2" charset="-122"/>
                    </a:rPr>
                    <a:t>1</a:t>
                  </a:r>
                  <a:endParaRPr kumimoji="1" lang="en-US" altLang="zh-CN">
                    <a:latin typeface="黑体" pitchFamily="2" charset="-122"/>
                    <a:ea typeface="黑体" pitchFamily="2" charset="-122"/>
                  </a:endParaRPr>
                </a:p>
              </p:txBody>
            </p:sp>
            <p:sp>
              <p:nvSpPr>
                <p:cNvPr id="57483" name="Rectangle 27"/>
                <p:cNvSpPr>
                  <a:spLocks noChangeArrowheads="1"/>
                </p:cNvSpPr>
                <p:nvPr/>
              </p:nvSpPr>
              <p:spPr bwMode="auto">
                <a:xfrm>
                  <a:off x="1163" y="2347"/>
                  <a:ext cx="33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2" name="Group 28"/>
              <p:cNvGrpSpPr>
                <a:grpSpLocks/>
              </p:cNvGrpSpPr>
              <p:nvPr/>
            </p:nvGrpSpPr>
            <p:grpSpPr bwMode="auto">
              <a:xfrm>
                <a:off x="0" y="2865"/>
                <a:ext cx="276" cy="288"/>
                <a:chOff x="0" y="2865"/>
                <a:chExt cx="276" cy="288"/>
              </a:xfrm>
            </p:grpSpPr>
            <p:sp>
              <p:nvSpPr>
                <p:cNvPr id="57480" name="Rectangle 29"/>
                <p:cNvSpPr>
                  <a:spLocks noChangeArrowheads="1"/>
                </p:cNvSpPr>
                <p:nvPr/>
              </p:nvSpPr>
              <p:spPr bwMode="auto">
                <a:xfrm>
                  <a:off x="0"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81" name="Rectangle 30"/>
                <p:cNvSpPr>
                  <a:spLocks noChangeArrowheads="1"/>
                </p:cNvSpPr>
                <p:nvPr/>
              </p:nvSpPr>
              <p:spPr bwMode="auto">
                <a:xfrm>
                  <a:off x="0" y="286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3" name="Group 31"/>
              <p:cNvGrpSpPr>
                <a:grpSpLocks/>
              </p:cNvGrpSpPr>
              <p:nvPr/>
            </p:nvGrpSpPr>
            <p:grpSpPr bwMode="auto">
              <a:xfrm>
                <a:off x="276" y="2865"/>
                <a:ext cx="276" cy="288"/>
                <a:chOff x="276" y="2865"/>
                <a:chExt cx="276" cy="288"/>
              </a:xfrm>
            </p:grpSpPr>
            <p:sp>
              <p:nvSpPr>
                <p:cNvPr id="57478" name="Rectangle 32"/>
                <p:cNvSpPr>
                  <a:spLocks noChangeArrowheads="1"/>
                </p:cNvSpPr>
                <p:nvPr/>
              </p:nvSpPr>
              <p:spPr bwMode="auto">
                <a:xfrm>
                  <a:off x="276"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79" name="Rectangle 33"/>
                <p:cNvSpPr>
                  <a:spLocks noChangeArrowheads="1"/>
                </p:cNvSpPr>
                <p:nvPr/>
              </p:nvSpPr>
              <p:spPr bwMode="auto">
                <a:xfrm>
                  <a:off x="276" y="286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4" name="Group 34"/>
              <p:cNvGrpSpPr>
                <a:grpSpLocks/>
              </p:cNvGrpSpPr>
              <p:nvPr/>
            </p:nvGrpSpPr>
            <p:grpSpPr bwMode="auto">
              <a:xfrm>
                <a:off x="552" y="2865"/>
                <a:ext cx="273" cy="288"/>
                <a:chOff x="552" y="2865"/>
                <a:chExt cx="273" cy="288"/>
              </a:xfrm>
            </p:grpSpPr>
            <p:sp>
              <p:nvSpPr>
                <p:cNvPr id="57476" name="Rectangle 35"/>
                <p:cNvSpPr>
                  <a:spLocks noChangeArrowheads="1"/>
                </p:cNvSpPr>
                <p:nvPr/>
              </p:nvSpPr>
              <p:spPr bwMode="auto">
                <a:xfrm>
                  <a:off x="552" y="286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77" name="Rectangle 36"/>
                <p:cNvSpPr>
                  <a:spLocks noChangeArrowheads="1"/>
                </p:cNvSpPr>
                <p:nvPr/>
              </p:nvSpPr>
              <p:spPr bwMode="auto">
                <a:xfrm>
                  <a:off x="552" y="2865"/>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5" name="Group 37"/>
              <p:cNvGrpSpPr>
                <a:grpSpLocks/>
              </p:cNvGrpSpPr>
              <p:nvPr/>
            </p:nvGrpSpPr>
            <p:grpSpPr bwMode="auto">
              <a:xfrm>
                <a:off x="825" y="2865"/>
                <a:ext cx="338" cy="288"/>
                <a:chOff x="825" y="2865"/>
                <a:chExt cx="338" cy="288"/>
              </a:xfrm>
            </p:grpSpPr>
            <p:sp>
              <p:nvSpPr>
                <p:cNvPr id="57474" name="Rectangle 38"/>
                <p:cNvSpPr>
                  <a:spLocks noChangeArrowheads="1"/>
                </p:cNvSpPr>
                <p:nvPr/>
              </p:nvSpPr>
              <p:spPr bwMode="auto">
                <a:xfrm>
                  <a:off x="825"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75" name="Rectangle 39"/>
                <p:cNvSpPr>
                  <a:spLocks noChangeArrowheads="1"/>
                </p:cNvSpPr>
                <p:nvPr/>
              </p:nvSpPr>
              <p:spPr bwMode="auto">
                <a:xfrm>
                  <a:off x="825" y="286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6" name="Group 40"/>
              <p:cNvGrpSpPr>
                <a:grpSpLocks/>
              </p:cNvGrpSpPr>
              <p:nvPr/>
            </p:nvGrpSpPr>
            <p:grpSpPr bwMode="auto">
              <a:xfrm>
                <a:off x="1163" y="2865"/>
                <a:ext cx="338" cy="288"/>
                <a:chOff x="1163" y="2865"/>
                <a:chExt cx="338" cy="288"/>
              </a:xfrm>
            </p:grpSpPr>
            <p:sp>
              <p:nvSpPr>
                <p:cNvPr id="57472" name="Rectangle 41"/>
                <p:cNvSpPr>
                  <a:spLocks noChangeArrowheads="1"/>
                </p:cNvSpPr>
                <p:nvPr/>
              </p:nvSpPr>
              <p:spPr bwMode="auto">
                <a:xfrm>
                  <a:off x="1163"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73" name="Rectangle 42"/>
                <p:cNvSpPr>
                  <a:spLocks noChangeArrowheads="1"/>
                </p:cNvSpPr>
                <p:nvPr/>
              </p:nvSpPr>
              <p:spPr bwMode="auto">
                <a:xfrm>
                  <a:off x="1163" y="286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7" name="Group 43"/>
              <p:cNvGrpSpPr>
                <a:grpSpLocks/>
              </p:cNvGrpSpPr>
              <p:nvPr/>
            </p:nvGrpSpPr>
            <p:grpSpPr bwMode="auto">
              <a:xfrm>
                <a:off x="0" y="3153"/>
                <a:ext cx="276" cy="288"/>
                <a:chOff x="0" y="3153"/>
                <a:chExt cx="276" cy="288"/>
              </a:xfrm>
            </p:grpSpPr>
            <p:sp>
              <p:nvSpPr>
                <p:cNvPr id="57470" name="Rectangle 44"/>
                <p:cNvSpPr>
                  <a:spLocks noChangeArrowheads="1"/>
                </p:cNvSpPr>
                <p:nvPr/>
              </p:nvSpPr>
              <p:spPr bwMode="auto">
                <a:xfrm>
                  <a:off x="0"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71" name="Rectangle 45"/>
                <p:cNvSpPr>
                  <a:spLocks noChangeArrowheads="1"/>
                </p:cNvSpPr>
                <p:nvPr/>
              </p:nvSpPr>
              <p:spPr bwMode="auto">
                <a:xfrm>
                  <a:off x="0" y="315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8" name="Group 46"/>
              <p:cNvGrpSpPr>
                <a:grpSpLocks/>
              </p:cNvGrpSpPr>
              <p:nvPr/>
            </p:nvGrpSpPr>
            <p:grpSpPr bwMode="auto">
              <a:xfrm>
                <a:off x="276" y="3153"/>
                <a:ext cx="276" cy="288"/>
                <a:chOff x="276" y="3153"/>
                <a:chExt cx="276" cy="288"/>
              </a:xfrm>
            </p:grpSpPr>
            <p:sp>
              <p:nvSpPr>
                <p:cNvPr id="57468" name="Rectangle 47"/>
                <p:cNvSpPr>
                  <a:spLocks noChangeArrowheads="1"/>
                </p:cNvSpPr>
                <p:nvPr/>
              </p:nvSpPr>
              <p:spPr bwMode="auto">
                <a:xfrm>
                  <a:off x="276"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69" name="Rectangle 48"/>
                <p:cNvSpPr>
                  <a:spLocks noChangeArrowheads="1"/>
                </p:cNvSpPr>
                <p:nvPr/>
              </p:nvSpPr>
              <p:spPr bwMode="auto">
                <a:xfrm>
                  <a:off x="276" y="315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69" name="Group 49"/>
              <p:cNvGrpSpPr>
                <a:grpSpLocks/>
              </p:cNvGrpSpPr>
              <p:nvPr/>
            </p:nvGrpSpPr>
            <p:grpSpPr bwMode="auto">
              <a:xfrm>
                <a:off x="552" y="3153"/>
                <a:ext cx="273" cy="288"/>
                <a:chOff x="552" y="3153"/>
                <a:chExt cx="273" cy="288"/>
              </a:xfrm>
            </p:grpSpPr>
            <p:sp>
              <p:nvSpPr>
                <p:cNvPr id="57466" name="Rectangle 50"/>
                <p:cNvSpPr>
                  <a:spLocks noChangeArrowheads="1"/>
                </p:cNvSpPr>
                <p:nvPr/>
              </p:nvSpPr>
              <p:spPr bwMode="auto">
                <a:xfrm>
                  <a:off x="552" y="315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67" name="Rectangle 51"/>
                <p:cNvSpPr>
                  <a:spLocks noChangeArrowheads="1"/>
                </p:cNvSpPr>
                <p:nvPr/>
              </p:nvSpPr>
              <p:spPr bwMode="auto">
                <a:xfrm>
                  <a:off x="552" y="3153"/>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0" name="Group 52"/>
              <p:cNvGrpSpPr>
                <a:grpSpLocks/>
              </p:cNvGrpSpPr>
              <p:nvPr/>
            </p:nvGrpSpPr>
            <p:grpSpPr bwMode="auto">
              <a:xfrm>
                <a:off x="825" y="3153"/>
                <a:ext cx="338" cy="288"/>
                <a:chOff x="825" y="3153"/>
                <a:chExt cx="338" cy="288"/>
              </a:xfrm>
            </p:grpSpPr>
            <p:sp>
              <p:nvSpPr>
                <p:cNvPr id="57464" name="Rectangle 53"/>
                <p:cNvSpPr>
                  <a:spLocks noChangeArrowheads="1"/>
                </p:cNvSpPr>
                <p:nvPr/>
              </p:nvSpPr>
              <p:spPr bwMode="auto">
                <a:xfrm>
                  <a:off x="825"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65" name="Rectangle 54"/>
                <p:cNvSpPr>
                  <a:spLocks noChangeArrowheads="1"/>
                </p:cNvSpPr>
                <p:nvPr/>
              </p:nvSpPr>
              <p:spPr bwMode="auto">
                <a:xfrm>
                  <a:off x="825" y="315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1" name="Group 55"/>
              <p:cNvGrpSpPr>
                <a:grpSpLocks/>
              </p:cNvGrpSpPr>
              <p:nvPr/>
            </p:nvGrpSpPr>
            <p:grpSpPr bwMode="auto">
              <a:xfrm>
                <a:off x="1163" y="3153"/>
                <a:ext cx="338" cy="288"/>
                <a:chOff x="1163" y="3153"/>
                <a:chExt cx="338" cy="288"/>
              </a:xfrm>
            </p:grpSpPr>
            <p:sp>
              <p:nvSpPr>
                <p:cNvPr id="57462" name="Rectangle 56"/>
                <p:cNvSpPr>
                  <a:spLocks noChangeArrowheads="1"/>
                </p:cNvSpPr>
                <p:nvPr/>
              </p:nvSpPr>
              <p:spPr bwMode="auto">
                <a:xfrm>
                  <a:off x="1163"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63" name="Rectangle 57"/>
                <p:cNvSpPr>
                  <a:spLocks noChangeArrowheads="1"/>
                </p:cNvSpPr>
                <p:nvPr/>
              </p:nvSpPr>
              <p:spPr bwMode="auto">
                <a:xfrm>
                  <a:off x="1163" y="315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2" name="Group 58"/>
              <p:cNvGrpSpPr>
                <a:grpSpLocks/>
              </p:cNvGrpSpPr>
              <p:nvPr/>
            </p:nvGrpSpPr>
            <p:grpSpPr bwMode="auto">
              <a:xfrm>
                <a:off x="0" y="3441"/>
                <a:ext cx="276" cy="288"/>
                <a:chOff x="0" y="3441"/>
                <a:chExt cx="276" cy="288"/>
              </a:xfrm>
            </p:grpSpPr>
            <p:sp>
              <p:nvSpPr>
                <p:cNvPr id="57460" name="Rectangle 59"/>
                <p:cNvSpPr>
                  <a:spLocks noChangeArrowheads="1"/>
                </p:cNvSpPr>
                <p:nvPr/>
              </p:nvSpPr>
              <p:spPr bwMode="auto">
                <a:xfrm>
                  <a:off x="0"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61" name="Rectangle 60"/>
                <p:cNvSpPr>
                  <a:spLocks noChangeArrowheads="1"/>
                </p:cNvSpPr>
                <p:nvPr/>
              </p:nvSpPr>
              <p:spPr bwMode="auto">
                <a:xfrm>
                  <a:off x="0" y="344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3" name="Group 61"/>
              <p:cNvGrpSpPr>
                <a:grpSpLocks/>
              </p:cNvGrpSpPr>
              <p:nvPr/>
            </p:nvGrpSpPr>
            <p:grpSpPr bwMode="auto">
              <a:xfrm>
                <a:off x="276" y="3441"/>
                <a:ext cx="276" cy="288"/>
                <a:chOff x="276" y="3441"/>
                <a:chExt cx="276" cy="288"/>
              </a:xfrm>
            </p:grpSpPr>
            <p:sp>
              <p:nvSpPr>
                <p:cNvPr id="57458" name="Rectangle 62"/>
                <p:cNvSpPr>
                  <a:spLocks noChangeArrowheads="1"/>
                </p:cNvSpPr>
                <p:nvPr/>
              </p:nvSpPr>
              <p:spPr bwMode="auto">
                <a:xfrm>
                  <a:off x="276"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59" name="Rectangle 63"/>
                <p:cNvSpPr>
                  <a:spLocks noChangeArrowheads="1"/>
                </p:cNvSpPr>
                <p:nvPr/>
              </p:nvSpPr>
              <p:spPr bwMode="auto">
                <a:xfrm>
                  <a:off x="276" y="344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4" name="Group 64"/>
              <p:cNvGrpSpPr>
                <a:grpSpLocks/>
              </p:cNvGrpSpPr>
              <p:nvPr/>
            </p:nvGrpSpPr>
            <p:grpSpPr bwMode="auto">
              <a:xfrm>
                <a:off x="552" y="3441"/>
                <a:ext cx="273" cy="288"/>
                <a:chOff x="552" y="3441"/>
                <a:chExt cx="273" cy="288"/>
              </a:xfrm>
            </p:grpSpPr>
            <p:sp>
              <p:nvSpPr>
                <p:cNvPr id="57456" name="Rectangle 65"/>
                <p:cNvSpPr>
                  <a:spLocks noChangeArrowheads="1"/>
                </p:cNvSpPr>
                <p:nvPr/>
              </p:nvSpPr>
              <p:spPr bwMode="auto">
                <a:xfrm>
                  <a:off x="552" y="344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57" name="Rectangle 66"/>
                <p:cNvSpPr>
                  <a:spLocks noChangeArrowheads="1"/>
                </p:cNvSpPr>
                <p:nvPr/>
              </p:nvSpPr>
              <p:spPr bwMode="auto">
                <a:xfrm>
                  <a:off x="552" y="3441"/>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5" name="Group 67"/>
              <p:cNvGrpSpPr>
                <a:grpSpLocks/>
              </p:cNvGrpSpPr>
              <p:nvPr/>
            </p:nvGrpSpPr>
            <p:grpSpPr bwMode="auto">
              <a:xfrm>
                <a:off x="825" y="3441"/>
                <a:ext cx="338" cy="288"/>
                <a:chOff x="825" y="3441"/>
                <a:chExt cx="338" cy="288"/>
              </a:xfrm>
            </p:grpSpPr>
            <p:sp>
              <p:nvSpPr>
                <p:cNvPr id="57454" name="Rectangle 68"/>
                <p:cNvSpPr>
                  <a:spLocks noChangeArrowheads="1"/>
                </p:cNvSpPr>
                <p:nvPr/>
              </p:nvSpPr>
              <p:spPr bwMode="auto">
                <a:xfrm>
                  <a:off x="825"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55" name="Rectangle 69"/>
                <p:cNvSpPr>
                  <a:spLocks noChangeArrowheads="1"/>
                </p:cNvSpPr>
                <p:nvPr/>
              </p:nvSpPr>
              <p:spPr bwMode="auto">
                <a:xfrm>
                  <a:off x="825" y="344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6" name="Group 70"/>
              <p:cNvGrpSpPr>
                <a:grpSpLocks/>
              </p:cNvGrpSpPr>
              <p:nvPr/>
            </p:nvGrpSpPr>
            <p:grpSpPr bwMode="auto">
              <a:xfrm>
                <a:off x="1163" y="3441"/>
                <a:ext cx="338" cy="288"/>
                <a:chOff x="1163" y="3441"/>
                <a:chExt cx="338" cy="288"/>
              </a:xfrm>
            </p:grpSpPr>
            <p:sp>
              <p:nvSpPr>
                <p:cNvPr id="57452" name="Rectangle 71"/>
                <p:cNvSpPr>
                  <a:spLocks noChangeArrowheads="1"/>
                </p:cNvSpPr>
                <p:nvPr/>
              </p:nvSpPr>
              <p:spPr bwMode="auto">
                <a:xfrm>
                  <a:off x="1163"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53" name="Rectangle 72"/>
                <p:cNvSpPr>
                  <a:spLocks noChangeArrowheads="1"/>
                </p:cNvSpPr>
                <p:nvPr/>
              </p:nvSpPr>
              <p:spPr bwMode="auto">
                <a:xfrm>
                  <a:off x="1163" y="344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7" name="Group 73"/>
              <p:cNvGrpSpPr>
                <a:grpSpLocks/>
              </p:cNvGrpSpPr>
              <p:nvPr/>
            </p:nvGrpSpPr>
            <p:grpSpPr bwMode="auto">
              <a:xfrm>
                <a:off x="0" y="3729"/>
                <a:ext cx="276" cy="288"/>
                <a:chOff x="0" y="3729"/>
                <a:chExt cx="276" cy="288"/>
              </a:xfrm>
            </p:grpSpPr>
            <p:sp>
              <p:nvSpPr>
                <p:cNvPr id="57450" name="Rectangle 74"/>
                <p:cNvSpPr>
                  <a:spLocks noChangeArrowheads="1"/>
                </p:cNvSpPr>
                <p:nvPr/>
              </p:nvSpPr>
              <p:spPr bwMode="auto">
                <a:xfrm>
                  <a:off x="0"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51" name="Rectangle 75"/>
                <p:cNvSpPr>
                  <a:spLocks noChangeArrowheads="1"/>
                </p:cNvSpPr>
                <p:nvPr/>
              </p:nvSpPr>
              <p:spPr bwMode="auto">
                <a:xfrm>
                  <a:off x="0" y="3729"/>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8" name="Group 76"/>
              <p:cNvGrpSpPr>
                <a:grpSpLocks/>
              </p:cNvGrpSpPr>
              <p:nvPr/>
            </p:nvGrpSpPr>
            <p:grpSpPr bwMode="auto">
              <a:xfrm>
                <a:off x="276" y="3729"/>
                <a:ext cx="276" cy="288"/>
                <a:chOff x="276" y="3729"/>
                <a:chExt cx="276" cy="288"/>
              </a:xfrm>
            </p:grpSpPr>
            <p:sp>
              <p:nvSpPr>
                <p:cNvPr id="57448" name="Rectangle 77"/>
                <p:cNvSpPr>
                  <a:spLocks noChangeArrowheads="1"/>
                </p:cNvSpPr>
                <p:nvPr/>
              </p:nvSpPr>
              <p:spPr bwMode="auto">
                <a:xfrm>
                  <a:off x="276"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49" name="Rectangle 78"/>
                <p:cNvSpPr>
                  <a:spLocks noChangeArrowheads="1"/>
                </p:cNvSpPr>
                <p:nvPr/>
              </p:nvSpPr>
              <p:spPr bwMode="auto">
                <a:xfrm>
                  <a:off x="276" y="3729"/>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79" name="Group 79"/>
              <p:cNvGrpSpPr>
                <a:grpSpLocks/>
              </p:cNvGrpSpPr>
              <p:nvPr/>
            </p:nvGrpSpPr>
            <p:grpSpPr bwMode="auto">
              <a:xfrm>
                <a:off x="552" y="3729"/>
                <a:ext cx="273" cy="288"/>
                <a:chOff x="552" y="3729"/>
                <a:chExt cx="273" cy="288"/>
              </a:xfrm>
            </p:grpSpPr>
            <p:sp>
              <p:nvSpPr>
                <p:cNvPr id="57446" name="Rectangle 80"/>
                <p:cNvSpPr>
                  <a:spLocks noChangeArrowheads="1"/>
                </p:cNvSpPr>
                <p:nvPr/>
              </p:nvSpPr>
              <p:spPr bwMode="auto">
                <a:xfrm>
                  <a:off x="552" y="3729"/>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47" name="Rectangle 81"/>
                <p:cNvSpPr>
                  <a:spLocks noChangeArrowheads="1"/>
                </p:cNvSpPr>
                <p:nvPr/>
              </p:nvSpPr>
              <p:spPr bwMode="auto">
                <a:xfrm>
                  <a:off x="552" y="3729"/>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0" name="Group 82"/>
              <p:cNvGrpSpPr>
                <a:grpSpLocks/>
              </p:cNvGrpSpPr>
              <p:nvPr/>
            </p:nvGrpSpPr>
            <p:grpSpPr bwMode="auto">
              <a:xfrm>
                <a:off x="825" y="3729"/>
                <a:ext cx="338" cy="288"/>
                <a:chOff x="825" y="3729"/>
                <a:chExt cx="338" cy="288"/>
              </a:xfrm>
            </p:grpSpPr>
            <p:sp>
              <p:nvSpPr>
                <p:cNvPr id="57444" name="Rectangle 83"/>
                <p:cNvSpPr>
                  <a:spLocks noChangeArrowheads="1"/>
                </p:cNvSpPr>
                <p:nvPr/>
              </p:nvSpPr>
              <p:spPr bwMode="auto">
                <a:xfrm>
                  <a:off x="825"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45" name="Rectangle 84"/>
                <p:cNvSpPr>
                  <a:spLocks noChangeArrowheads="1"/>
                </p:cNvSpPr>
                <p:nvPr/>
              </p:nvSpPr>
              <p:spPr bwMode="auto">
                <a:xfrm>
                  <a:off x="825" y="3729"/>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1" name="Group 85"/>
              <p:cNvGrpSpPr>
                <a:grpSpLocks/>
              </p:cNvGrpSpPr>
              <p:nvPr/>
            </p:nvGrpSpPr>
            <p:grpSpPr bwMode="auto">
              <a:xfrm>
                <a:off x="1163" y="3729"/>
                <a:ext cx="338" cy="288"/>
                <a:chOff x="1163" y="3729"/>
                <a:chExt cx="338" cy="288"/>
              </a:xfrm>
            </p:grpSpPr>
            <p:sp>
              <p:nvSpPr>
                <p:cNvPr id="57442" name="Rectangle 86"/>
                <p:cNvSpPr>
                  <a:spLocks noChangeArrowheads="1"/>
                </p:cNvSpPr>
                <p:nvPr/>
              </p:nvSpPr>
              <p:spPr bwMode="auto">
                <a:xfrm>
                  <a:off x="1163"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43" name="Rectangle 87"/>
                <p:cNvSpPr>
                  <a:spLocks noChangeArrowheads="1"/>
                </p:cNvSpPr>
                <p:nvPr/>
              </p:nvSpPr>
              <p:spPr bwMode="auto">
                <a:xfrm>
                  <a:off x="1163" y="3729"/>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2" name="Group 88"/>
              <p:cNvGrpSpPr>
                <a:grpSpLocks/>
              </p:cNvGrpSpPr>
              <p:nvPr/>
            </p:nvGrpSpPr>
            <p:grpSpPr bwMode="auto">
              <a:xfrm>
                <a:off x="0" y="4017"/>
                <a:ext cx="276" cy="288"/>
                <a:chOff x="0" y="4017"/>
                <a:chExt cx="276" cy="288"/>
              </a:xfrm>
            </p:grpSpPr>
            <p:sp>
              <p:nvSpPr>
                <p:cNvPr id="57440" name="Rectangle 89"/>
                <p:cNvSpPr>
                  <a:spLocks noChangeArrowheads="1"/>
                </p:cNvSpPr>
                <p:nvPr/>
              </p:nvSpPr>
              <p:spPr bwMode="auto">
                <a:xfrm>
                  <a:off x="0"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41" name="Rectangle 90"/>
                <p:cNvSpPr>
                  <a:spLocks noChangeArrowheads="1"/>
                </p:cNvSpPr>
                <p:nvPr/>
              </p:nvSpPr>
              <p:spPr bwMode="auto">
                <a:xfrm>
                  <a:off x="0" y="4017"/>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3" name="Group 91"/>
              <p:cNvGrpSpPr>
                <a:grpSpLocks/>
              </p:cNvGrpSpPr>
              <p:nvPr/>
            </p:nvGrpSpPr>
            <p:grpSpPr bwMode="auto">
              <a:xfrm>
                <a:off x="276" y="4017"/>
                <a:ext cx="276" cy="288"/>
                <a:chOff x="276" y="4017"/>
                <a:chExt cx="276" cy="288"/>
              </a:xfrm>
            </p:grpSpPr>
            <p:sp>
              <p:nvSpPr>
                <p:cNvPr id="57438" name="Rectangle 92"/>
                <p:cNvSpPr>
                  <a:spLocks noChangeArrowheads="1"/>
                </p:cNvSpPr>
                <p:nvPr/>
              </p:nvSpPr>
              <p:spPr bwMode="auto">
                <a:xfrm>
                  <a:off x="276"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39" name="Rectangle 93"/>
                <p:cNvSpPr>
                  <a:spLocks noChangeArrowheads="1"/>
                </p:cNvSpPr>
                <p:nvPr/>
              </p:nvSpPr>
              <p:spPr bwMode="auto">
                <a:xfrm>
                  <a:off x="276" y="4017"/>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4" name="Group 94"/>
              <p:cNvGrpSpPr>
                <a:grpSpLocks/>
              </p:cNvGrpSpPr>
              <p:nvPr/>
            </p:nvGrpSpPr>
            <p:grpSpPr bwMode="auto">
              <a:xfrm>
                <a:off x="552" y="4017"/>
                <a:ext cx="273" cy="288"/>
                <a:chOff x="552" y="4017"/>
                <a:chExt cx="273" cy="288"/>
              </a:xfrm>
            </p:grpSpPr>
            <p:sp>
              <p:nvSpPr>
                <p:cNvPr id="57436" name="Rectangle 95"/>
                <p:cNvSpPr>
                  <a:spLocks noChangeArrowheads="1"/>
                </p:cNvSpPr>
                <p:nvPr/>
              </p:nvSpPr>
              <p:spPr bwMode="auto">
                <a:xfrm>
                  <a:off x="552" y="4017"/>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37" name="Rectangle 96"/>
                <p:cNvSpPr>
                  <a:spLocks noChangeArrowheads="1"/>
                </p:cNvSpPr>
                <p:nvPr/>
              </p:nvSpPr>
              <p:spPr bwMode="auto">
                <a:xfrm>
                  <a:off x="552" y="4017"/>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5" name="Group 97"/>
              <p:cNvGrpSpPr>
                <a:grpSpLocks/>
              </p:cNvGrpSpPr>
              <p:nvPr/>
            </p:nvGrpSpPr>
            <p:grpSpPr bwMode="auto">
              <a:xfrm>
                <a:off x="825" y="4017"/>
                <a:ext cx="338" cy="288"/>
                <a:chOff x="825" y="4017"/>
                <a:chExt cx="338" cy="288"/>
              </a:xfrm>
            </p:grpSpPr>
            <p:sp>
              <p:nvSpPr>
                <p:cNvPr id="57434" name="Rectangle 98"/>
                <p:cNvSpPr>
                  <a:spLocks noChangeArrowheads="1"/>
                </p:cNvSpPr>
                <p:nvPr/>
              </p:nvSpPr>
              <p:spPr bwMode="auto">
                <a:xfrm>
                  <a:off x="825"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35" name="Rectangle 99"/>
                <p:cNvSpPr>
                  <a:spLocks noChangeArrowheads="1"/>
                </p:cNvSpPr>
                <p:nvPr/>
              </p:nvSpPr>
              <p:spPr bwMode="auto">
                <a:xfrm>
                  <a:off x="825" y="4017"/>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6" name="Group 100"/>
              <p:cNvGrpSpPr>
                <a:grpSpLocks/>
              </p:cNvGrpSpPr>
              <p:nvPr/>
            </p:nvGrpSpPr>
            <p:grpSpPr bwMode="auto">
              <a:xfrm>
                <a:off x="1163" y="4017"/>
                <a:ext cx="338" cy="288"/>
                <a:chOff x="1163" y="4017"/>
                <a:chExt cx="338" cy="288"/>
              </a:xfrm>
            </p:grpSpPr>
            <p:sp>
              <p:nvSpPr>
                <p:cNvPr id="57432" name="Rectangle 101"/>
                <p:cNvSpPr>
                  <a:spLocks noChangeArrowheads="1"/>
                </p:cNvSpPr>
                <p:nvPr/>
              </p:nvSpPr>
              <p:spPr bwMode="auto">
                <a:xfrm>
                  <a:off x="1163"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33" name="Rectangle 102"/>
                <p:cNvSpPr>
                  <a:spLocks noChangeArrowheads="1"/>
                </p:cNvSpPr>
                <p:nvPr/>
              </p:nvSpPr>
              <p:spPr bwMode="auto">
                <a:xfrm>
                  <a:off x="1163" y="4017"/>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7" name="Group 103"/>
              <p:cNvGrpSpPr>
                <a:grpSpLocks/>
              </p:cNvGrpSpPr>
              <p:nvPr/>
            </p:nvGrpSpPr>
            <p:grpSpPr bwMode="auto">
              <a:xfrm>
                <a:off x="0" y="4305"/>
                <a:ext cx="276" cy="288"/>
                <a:chOff x="0" y="4305"/>
                <a:chExt cx="276" cy="288"/>
              </a:xfrm>
            </p:grpSpPr>
            <p:sp>
              <p:nvSpPr>
                <p:cNvPr id="57430" name="Rectangle 104"/>
                <p:cNvSpPr>
                  <a:spLocks noChangeArrowheads="1"/>
                </p:cNvSpPr>
                <p:nvPr/>
              </p:nvSpPr>
              <p:spPr bwMode="auto">
                <a:xfrm>
                  <a:off x="0"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31" name="Rectangle 105"/>
                <p:cNvSpPr>
                  <a:spLocks noChangeArrowheads="1"/>
                </p:cNvSpPr>
                <p:nvPr/>
              </p:nvSpPr>
              <p:spPr bwMode="auto">
                <a:xfrm>
                  <a:off x="0" y="430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8" name="Group 106"/>
              <p:cNvGrpSpPr>
                <a:grpSpLocks/>
              </p:cNvGrpSpPr>
              <p:nvPr/>
            </p:nvGrpSpPr>
            <p:grpSpPr bwMode="auto">
              <a:xfrm>
                <a:off x="276" y="4305"/>
                <a:ext cx="276" cy="288"/>
                <a:chOff x="276" y="4305"/>
                <a:chExt cx="276" cy="288"/>
              </a:xfrm>
            </p:grpSpPr>
            <p:sp>
              <p:nvSpPr>
                <p:cNvPr id="57428" name="Rectangle 107"/>
                <p:cNvSpPr>
                  <a:spLocks noChangeArrowheads="1"/>
                </p:cNvSpPr>
                <p:nvPr/>
              </p:nvSpPr>
              <p:spPr bwMode="auto">
                <a:xfrm>
                  <a:off x="276"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29" name="Rectangle 108"/>
                <p:cNvSpPr>
                  <a:spLocks noChangeArrowheads="1"/>
                </p:cNvSpPr>
                <p:nvPr/>
              </p:nvSpPr>
              <p:spPr bwMode="auto">
                <a:xfrm>
                  <a:off x="276" y="4305"/>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89" name="Group 109"/>
              <p:cNvGrpSpPr>
                <a:grpSpLocks/>
              </p:cNvGrpSpPr>
              <p:nvPr/>
            </p:nvGrpSpPr>
            <p:grpSpPr bwMode="auto">
              <a:xfrm>
                <a:off x="552" y="4305"/>
                <a:ext cx="273" cy="288"/>
                <a:chOff x="552" y="4305"/>
                <a:chExt cx="273" cy="288"/>
              </a:xfrm>
            </p:grpSpPr>
            <p:sp>
              <p:nvSpPr>
                <p:cNvPr id="57426" name="Rectangle 110"/>
                <p:cNvSpPr>
                  <a:spLocks noChangeArrowheads="1"/>
                </p:cNvSpPr>
                <p:nvPr/>
              </p:nvSpPr>
              <p:spPr bwMode="auto">
                <a:xfrm>
                  <a:off x="552" y="430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27" name="Rectangle 111"/>
                <p:cNvSpPr>
                  <a:spLocks noChangeArrowheads="1"/>
                </p:cNvSpPr>
                <p:nvPr/>
              </p:nvSpPr>
              <p:spPr bwMode="auto">
                <a:xfrm>
                  <a:off x="552" y="4305"/>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0" name="Group 112"/>
              <p:cNvGrpSpPr>
                <a:grpSpLocks/>
              </p:cNvGrpSpPr>
              <p:nvPr/>
            </p:nvGrpSpPr>
            <p:grpSpPr bwMode="auto">
              <a:xfrm>
                <a:off x="825" y="4305"/>
                <a:ext cx="338" cy="288"/>
                <a:chOff x="825" y="4305"/>
                <a:chExt cx="338" cy="288"/>
              </a:xfrm>
            </p:grpSpPr>
            <p:sp>
              <p:nvSpPr>
                <p:cNvPr id="57424" name="Rectangle 113"/>
                <p:cNvSpPr>
                  <a:spLocks noChangeArrowheads="1"/>
                </p:cNvSpPr>
                <p:nvPr/>
              </p:nvSpPr>
              <p:spPr bwMode="auto">
                <a:xfrm>
                  <a:off x="825"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25" name="Rectangle 114"/>
                <p:cNvSpPr>
                  <a:spLocks noChangeArrowheads="1"/>
                </p:cNvSpPr>
                <p:nvPr/>
              </p:nvSpPr>
              <p:spPr bwMode="auto">
                <a:xfrm>
                  <a:off x="825" y="430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1" name="Group 115"/>
              <p:cNvGrpSpPr>
                <a:grpSpLocks/>
              </p:cNvGrpSpPr>
              <p:nvPr/>
            </p:nvGrpSpPr>
            <p:grpSpPr bwMode="auto">
              <a:xfrm>
                <a:off x="1163" y="4305"/>
                <a:ext cx="338" cy="288"/>
                <a:chOff x="1163" y="4305"/>
                <a:chExt cx="338" cy="288"/>
              </a:xfrm>
            </p:grpSpPr>
            <p:sp>
              <p:nvSpPr>
                <p:cNvPr id="57422" name="Rectangle 116"/>
                <p:cNvSpPr>
                  <a:spLocks noChangeArrowheads="1"/>
                </p:cNvSpPr>
                <p:nvPr/>
              </p:nvSpPr>
              <p:spPr bwMode="auto">
                <a:xfrm>
                  <a:off x="1163"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23" name="Rectangle 117"/>
                <p:cNvSpPr>
                  <a:spLocks noChangeArrowheads="1"/>
                </p:cNvSpPr>
                <p:nvPr/>
              </p:nvSpPr>
              <p:spPr bwMode="auto">
                <a:xfrm>
                  <a:off x="1163" y="4305"/>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2" name="Group 118"/>
              <p:cNvGrpSpPr>
                <a:grpSpLocks/>
              </p:cNvGrpSpPr>
              <p:nvPr/>
            </p:nvGrpSpPr>
            <p:grpSpPr bwMode="auto">
              <a:xfrm>
                <a:off x="0" y="4593"/>
                <a:ext cx="276" cy="288"/>
                <a:chOff x="0" y="4593"/>
                <a:chExt cx="276" cy="288"/>
              </a:xfrm>
            </p:grpSpPr>
            <p:sp>
              <p:nvSpPr>
                <p:cNvPr id="57420" name="Rectangle 119"/>
                <p:cNvSpPr>
                  <a:spLocks noChangeArrowheads="1"/>
                </p:cNvSpPr>
                <p:nvPr/>
              </p:nvSpPr>
              <p:spPr bwMode="auto">
                <a:xfrm>
                  <a:off x="0"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21" name="Rectangle 120"/>
                <p:cNvSpPr>
                  <a:spLocks noChangeArrowheads="1"/>
                </p:cNvSpPr>
                <p:nvPr/>
              </p:nvSpPr>
              <p:spPr bwMode="auto">
                <a:xfrm>
                  <a:off x="0" y="459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3" name="Group 121"/>
              <p:cNvGrpSpPr>
                <a:grpSpLocks/>
              </p:cNvGrpSpPr>
              <p:nvPr/>
            </p:nvGrpSpPr>
            <p:grpSpPr bwMode="auto">
              <a:xfrm>
                <a:off x="276" y="4593"/>
                <a:ext cx="276" cy="288"/>
                <a:chOff x="276" y="4593"/>
                <a:chExt cx="276" cy="288"/>
              </a:xfrm>
            </p:grpSpPr>
            <p:sp>
              <p:nvSpPr>
                <p:cNvPr id="57418" name="Rectangle 122"/>
                <p:cNvSpPr>
                  <a:spLocks noChangeArrowheads="1"/>
                </p:cNvSpPr>
                <p:nvPr/>
              </p:nvSpPr>
              <p:spPr bwMode="auto">
                <a:xfrm>
                  <a:off x="276"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19" name="Rectangle 123"/>
                <p:cNvSpPr>
                  <a:spLocks noChangeArrowheads="1"/>
                </p:cNvSpPr>
                <p:nvPr/>
              </p:nvSpPr>
              <p:spPr bwMode="auto">
                <a:xfrm>
                  <a:off x="276" y="4593"/>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4" name="Group 124"/>
              <p:cNvGrpSpPr>
                <a:grpSpLocks/>
              </p:cNvGrpSpPr>
              <p:nvPr/>
            </p:nvGrpSpPr>
            <p:grpSpPr bwMode="auto">
              <a:xfrm>
                <a:off x="552" y="4593"/>
                <a:ext cx="273" cy="288"/>
                <a:chOff x="552" y="4593"/>
                <a:chExt cx="273" cy="288"/>
              </a:xfrm>
            </p:grpSpPr>
            <p:sp>
              <p:nvSpPr>
                <p:cNvPr id="57416" name="Rectangle 125"/>
                <p:cNvSpPr>
                  <a:spLocks noChangeArrowheads="1"/>
                </p:cNvSpPr>
                <p:nvPr/>
              </p:nvSpPr>
              <p:spPr bwMode="auto">
                <a:xfrm>
                  <a:off x="552" y="459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17" name="Rectangle 126"/>
                <p:cNvSpPr>
                  <a:spLocks noChangeArrowheads="1"/>
                </p:cNvSpPr>
                <p:nvPr/>
              </p:nvSpPr>
              <p:spPr bwMode="auto">
                <a:xfrm>
                  <a:off x="552" y="4593"/>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5" name="Group 127"/>
              <p:cNvGrpSpPr>
                <a:grpSpLocks/>
              </p:cNvGrpSpPr>
              <p:nvPr/>
            </p:nvGrpSpPr>
            <p:grpSpPr bwMode="auto">
              <a:xfrm>
                <a:off x="825" y="4593"/>
                <a:ext cx="338" cy="288"/>
                <a:chOff x="825" y="4593"/>
                <a:chExt cx="338" cy="288"/>
              </a:xfrm>
            </p:grpSpPr>
            <p:sp>
              <p:nvSpPr>
                <p:cNvPr id="57414" name="Rectangle 128"/>
                <p:cNvSpPr>
                  <a:spLocks noChangeArrowheads="1"/>
                </p:cNvSpPr>
                <p:nvPr/>
              </p:nvSpPr>
              <p:spPr bwMode="auto">
                <a:xfrm>
                  <a:off x="825"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0</a:t>
                  </a:r>
                </a:p>
              </p:txBody>
            </p:sp>
            <p:sp>
              <p:nvSpPr>
                <p:cNvPr id="57415" name="Rectangle 129"/>
                <p:cNvSpPr>
                  <a:spLocks noChangeArrowheads="1"/>
                </p:cNvSpPr>
                <p:nvPr/>
              </p:nvSpPr>
              <p:spPr bwMode="auto">
                <a:xfrm>
                  <a:off x="825" y="459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6" name="Group 130"/>
              <p:cNvGrpSpPr>
                <a:grpSpLocks/>
              </p:cNvGrpSpPr>
              <p:nvPr/>
            </p:nvGrpSpPr>
            <p:grpSpPr bwMode="auto">
              <a:xfrm>
                <a:off x="1163" y="4593"/>
                <a:ext cx="338" cy="288"/>
                <a:chOff x="1163" y="4593"/>
                <a:chExt cx="338" cy="288"/>
              </a:xfrm>
            </p:grpSpPr>
            <p:sp>
              <p:nvSpPr>
                <p:cNvPr id="57412" name="Rectangle 131"/>
                <p:cNvSpPr>
                  <a:spLocks noChangeArrowheads="1"/>
                </p:cNvSpPr>
                <p:nvPr/>
              </p:nvSpPr>
              <p:spPr bwMode="auto">
                <a:xfrm>
                  <a:off x="1163"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13" name="Rectangle 132"/>
                <p:cNvSpPr>
                  <a:spLocks noChangeArrowheads="1"/>
                </p:cNvSpPr>
                <p:nvPr/>
              </p:nvSpPr>
              <p:spPr bwMode="auto">
                <a:xfrm>
                  <a:off x="1163" y="4593"/>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7" name="Group 133"/>
              <p:cNvGrpSpPr>
                <a:grpSpLocks/>
              </p:cNvGrpSpPr>
              <p:nvPr/>
            </p:nvGrpSpPr>
            <p:grpSpPr bwMode="auto">
              <a:xfrm>
                <a:off x="0" y="4881"/>
                <a:ext cx="276" cy="288"/>
                <a:chOff x="0" y="4881"/>
                <a:chExt cx="276" cy="288"/>
              </a:xfrm>
            </p:grpSpPr>
            <p:sp>
              <p:nvSpPr>
                <p:cNvPr id="57410" name="Rectangle 134"/>
                <p:cNvSpPr>
                  <a:spLocks noChangeArrowheads="1"/>
                </p:cNvSpPr>
                <p:nvPr/>
              </p:nvSpPr>
              <p:spPr bwMode="auto">
                <a:xfrm>
                  <a:off x="0"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11" name="Rectangle 135"/>
                <p:cNvSpPr>
                  <a:spLocks noChangeArrowheads="1"/>
                </p:cNvSpPr>
                <p:nvPr/>
              </p:nvSpPr>
              <p:spPr bwMode="auto">
                <a:xfrm>
                  <a:off x="0" y="488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8" name="Group 136"/>
              <p:cNvGrpSpPr>
                <a:grpSpLocks/>
              </p:cNvGrpSpPr>
              <p:nvPr/>
            </p:nvGrpSpPr>
            <p:grpSpPr bwMode="auto">
              <a:xfrm>
                <a:off x="276" y="4881"/>
                <a:ext cx="276" cy="288"/>
                <a:chOff x="276" y="4881"/>
                <a:chExt cx="276" cy="288"/>
              </a:xfrm>
            </p:grpSpPr>
            <p:sp>
              <p:nvSpPr>
                <p:cNvPr id="57408" name="Rectangle 137"/>
                <p:cNvSpPr>
                  <a:spLocks noChangeArrowheads="1"/>
                </p:cNvSpPr>
                <p:nvPr/>
              </p:nvSpPr>
              <p:spPr bwMode="auto">
                <a:xfrm>
                  <a:off x="276"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09" name="Rectangle 138"/>
                <p:cNvSpPr>
                  <a:spLocks noChangeArrowheads="1"/>
                </p:cNvSpPr>
                <p:nvPr/>
              </p:nvSpPr>
              <p:spPr bwMode="auto">
                <a:xfrm>
                  <a:off x="276" y="4881"/>
                  <a:ext cx="276"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399" name="Group 139"/>
              <p:cNvGrpSpPr>
                <a:grpSpLocks/>
              </p:cNvGrpSpPr>
              <p:nvPr/>
            </p:nvGrpSpPr>
            <p:grpSpPr bwMode="auto">
              <a:xfrm>
                <a:off x="552" y="4881"/>
                <a:ext cx="273" cy="288"/>
                <a:chOff x="552" y="4881"/>
                <a:chExt cx="273" cy="288"/>
              </a:xfrm>
            </p:grpSpPr>
            <p:sp>
              <p:nvSpPr>
                <p:cNvPr id="57406" name="Rectangle 140"/>
                <p:cNvSpPr>
                  <a:spLocks noChangeArrowheads="1"/>
                </p:cNvSpPr>
                <p:nvPr/>
              </p:nvSpPr>
              <p:spPr bwMode="auto">
                <a:xfrm>
                  <a:off x="552" y="488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07" name="Rectangle 141"/>
                <p:cNvSpPr>
                  <a:spLocks noChangeArrowheads="1"/>
                </p:cNvSpPr>
                <p:nvPr/>
              </p:nvSpPr>
              <p:spPr bwMode="auto">
                <a:xfrm>
                  <a:off x="552" y="4881"/>
                  <a:ext cx="273"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400" name="Group 142"/>
              <p:cNvGrpSpPr>
                <a:grpSpLocks/>
              </p:cNvGrpSpPr>
              <p:nvPr/>
            </p:nvGrpSpPr>
            <p:grpSpPr bwMode="auto">
              <a:xfrm>
                <a:off x="825" y="4881"/>
                <a:ext cx="338" cy="288"/>
                <a:chOff x="825" y="4881"/>
                <a:chExt cx="338" cy="288"/>
              </a:xfrm>
            </p:grpSpPr>
            <p:sp>
              <p:nvSpPr>
                <p:cNvPr id="57404" name="Rectangle 143"/>
                <p:cNvSpPr>
                  <a:spLocks noChangeArrowheads="1"/>
                </p:cNvSpPr>
                <p:nvPr/>
              </p:nvSpPr>
              <p:spPr bwMode="auto">
                <a:xfrm>
                  <a:off x="825"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05" name="Rectangle 144"/>
                <p:cNvSpPr>
                  <a:spLocks noChangeArrowheads="1"/>
                </p:cNvSpPr>
                <p:nvPr/>
              </p:nvSpPr>
              <p:spPr bwMode="auto">
                <a:xfrm>
                  <a:off x="825" y="488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nvGrpSpPr>
              <p:cNvPr id="57401" name="Group 145"/>
              <p:cNvGrpSpPr>
                <a:grpSpLocks/>
              </p:cNvGrpSpPr>
              <p:nvPr/>
            </p:nvGrpSpPr>
            <p:grpSpPr bwMode="auto">
              <a:xfrm>
                <a:off x="1163" y="4881"/>
                <a:ext cx="338" cy="288"/>
                <a:chOff x="1163" y="4881"/>
                <a:chExt cx="338" cy="288"/>
              </a:xfrm>
            </p:grpSpPr>
            <p:sp>
              <p:nvSpPr>
                <p:cNvPr id="57402" name="Rectangle 146"/>
                <p:cNvSpPr>
                  <a:spLocks noChangeArrowheads="1"/>
                </p:cNvSpPr>
                <p:nvPr/>
              </p:nvSpPr>
              <p:spPr bwMode="auto">
                <a:xfrm>
                  <a:off x="1163"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itchFamily="2" charset="-122"/>
                      <a:ea typeface="黑体" pitchFamily="2" charset="-122"/>
                    </a:rPr>
                    <a:t>1</a:t>
                  </a:r>
                </a:p>
              </p:txBody>
            </p:sp>
            <p:sp>
              <p:nvSpPr>
                <p:cNvPr id="57403" name="Rectangle 147"/>
                <p:cNvSpPr>
                  <a:spLocks noChangeArrowheads="1"/>
                </p:cNvSpPr>
                <p:nvPr/>
              </p:nvSpPr>
              <p:spPr bwMode="auto">
                <a:xfrm>
                  <a:off x="1163" y="4881"/>
                  <a:ext cx="338"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grpSp>
        <p:sp>
          <p:nvSpPr>
            <p:cNvPr id="57354" name="Rectangle 148"/>
            <p:cNvSpPr>
              <a:spLocks noChangeArrowheads="1"/>
            </p:cNvSpPr>
            <p:nvPr/>
          </p:nvSpPr>
          <p:spPr bwMode="auto">
            <a:xfrm>
              <a:off x="-3" y="2056"/>
              <a:ext cx="1507" cy="311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itchFamily="2" charset="-122"/>
                <a:ea typeface="黑体" pitchFamily="2" charset="-122"/>
              </a:endParaRPr>
            </a:p>
          </p:txBody>
        </p:sp>
      </p:grpSp>
      <p:pic>
        <p:nvPicPr>
          <p:cNvPr id="5734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290513"/>
            <a:ext cx="5256212"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3931783"/>
            <a:ext cx="2232025" cy="229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0" name="Text Box 8"/>
          <p:cNvSpPr txBox="1">
            <a:spLocks noChangeArrowheads="1"/>
          </p:cNvSpPr>
          <p:nvPr/>
        </p:nvSpPr>
        <p:spPr bwMode="auto">
          <a:xfrm>
            <a:off x="1697038" y="6015038"/>
            <a:ext cx="1501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000">
                <a:latin typeface="黑体" pitchFamily="2" charset="-122"/>
                <a:ea typeface="黑体" pitchFamily="2" charset="-122"/>
              </a:rPr>
              <a:t>FA</a:t>
            </a:r>
            <a:r>
              <a:rPr kumimoji="1" lang="zh-CN" altLang="en-US" sz="2000">
                <a:latin typeface="黑体" pitchFamily="2" charset="-122"/>
                <a:ea typeface="黑体" pitchFamily="2" charset="-122"/>
              </a:rPr>
              <a:t>框图</a:t>
            </a:r>
          </a:p>
        </p:txBody>
      </p:sp>
      <p:sp>
        <p:nvSpPr>
          <p:cNvPr id="57351" name="Text Box 8"/>
          <p:cNvSpPr txBox="1">
            <a:spLocks noChangeArrowheads="1"/>
          </p:cNvSpPr>
          <p:nvPr/>
        </p:nvSpPr>
        <p:spPr bwMode="auto">
          <a:xfrm>
            <a:off x="4335463" y="6297613"/>
            <a:ext cx="34575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000">
                <a:latin typeface="黑体" pitchFamily="2" charset="-122"/>
                <a:ea typeface="黑体" pitchFamily="2" charset="-122"/>
              </a:rPr>
              <a:t>FA</a:t>
            </a:r>
            <a:r>
              <a:rPr kumimoji="1" lang="zh-CN" altLang="en-US" sz="2000">
                <a:latin typeface="黑体" pitchFamily="2" charset="-122"/>
                <a:ea typeface="黑体" pitchFamily="2" charset="-122"/>
              </a:rPr>
              <a:t>（全加器）逻辑电路</a:t>
            </a:r>
          </a:p>
        </p:txBody>
      </p:sp>
      <p:pic>
        <p:nvPicPr>
          <p:cNvPr id="57352" name="Picture 6" descr="D:\jinerwork\组成\白中英版改编\visio\2.2_3.jpg"/>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573088" y="3986213"/>
            <a:ext cx="2625725" cy="194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613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8904" y="2161806"/>
            <a:ext cx="5241246" cy="1577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196975"/>
            <a:ext cx="7948612"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
          <p:cNvSpPr>
            <a:spLocks noChangeArrowheads="1"/>
          </p:cNvSpPr>
          <p:nvPr/>
        </p:nvSpPr>
        <p:spPr bwMode="auto">
          <a:xfrm>
            <a:off x="150813" y="44450"/>
            <a:ext cx="8742362" cy="675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en-US" altLang="zh-CN" sz="2400" i="1">
                <a:latin typeface="黑体" pitchFamily="2" charset="-122"/>
                <a:ea typeface="黑体" pitchFamily="2" charset="-122"/>
              </a:rPr>
              <a:t> </a:t>
            </a:r>
            <a:r>
              <a:rPr lang="en-US" altLang="zh-CN" sz="2000" i="1">
                <a:latin typeface="黑体" pitchFamily="2" charset="-122"/>
                <a:ea typeface="黑体" pitchFamily="2" charset="-122"/>
              </a:rPr>
              <a:t>n</a:t>
            </a:r>
            <a:r>
              <a:rPr lang="zh-CN" altLang="en-US" sz="2000">
                <a:latin typeface="黑体" pitchFamily="2" charset="-122"/>
                <a:ea typeface="黑体" pitchFamily="2" charset="-122"/>
              </a:rPr>
              <a:t>个</a:t>
            </a:r>
            <a:r>
              <a:rPr lang="en-US" altLang="zh-CN" sz="2000">
                <a:latin typeface="黑体" pitchFamily="2" charset="-122"/>
                <a:ea typeface="黑体" pitchFamily="2" charset="-122"/>
              </a:rPr>
              <a:t>1</a:t>
            </a:r>
            <a:r>
              <a:rPr lang="zh-CN" altLang="en-US" sz="2000">
                <a:latin typeface="黑体" pitchFamily="2" charset="-122"/>
                <a:ea typeface="黑体" pitchFamily="2" charset="-122"/>
              </a:rPr>
              <a:t>位的全加器</a:t>
            </a:r>
            <a:r>
              <a:rPr lang="en-US" altLang="zh-CN" sz="2000">
                <a:latin typeface="黑体" pitchFamily="2" charset="-122"/>
                <a:ea typeface="黑体" pitchFamily="2" charset="-122"/>
              </a:rPr>
              <a:t>(FA)</a:t>
            </a:r>
            <a:r>
              <a:rPr lang="zh-CN" altLang="en-US" sz="2000">
                <a:latin typeface="黑体" pitchFamily="2" charset="-122"/>
                <a:ea typeface="黑体" pitchFamily="2" charset="-122"/>
              </a:rPr>
              <a:t>可级联成一个</a:t>
            </a:r>
            <a:r>
              <a:rPr lang="en-US" altLang="zh-CN" sz="2000" i="1">
                <a:latin typeface="黑体" pitchFamily="2" charset="-122"/>
                <a:ea typeface="黑体" pitchFamily="2" charset="-122"/>
              </a:rPr>
              <a:t>n</a:t>
            </a:r>
            <a:r>
              <a:rPr lang="zh-CN" altLang="en-US" sz="2000">
                <a:latin typeface="黑体" pitchFamily="2" charset="-122"/>
                <a:ea typeface="黑体" pitchFamily="2" charset="-122"/>
              </a:rPr>
              <a:t>位的行波进位加减器。</a:t>
            </a:r>
            <a:endParaRPr lang="en-US" altLang="zh-CN" sz="2000">
              <a:latin typeface="黑体" pitchFamily="2" charset="-122"/>
              <a:ea typeface="黑体" pitchFamily="2" charset="-122"/>
            </a:endParaRPr>
          </a:p>
          <a:p>
            <a:pPr>
              <a:lnSpc>
                <a:spcPct val="130000"/>
              </a:lnSpc>
            </a:pPr>
            <a:endParaRPr lang="en-US" altLang="zh-CN" sz="2000">
              <a:latin typeface="黑体" pitchFamily="2" charset="-122"/>
              <a:ea typeface="黑体" pitchFamily="2" charset="-122"/>
            </a:endParaRPr>
          </a:p>
          <a:p>
            <a:pPr>
              <a:lnSpc>
                <a:spcPct val="130000"/>
              </a:lnSpc>
            </a:pPr>
            <a:endParaRPr lang="en-US" altLang="zh-CN" sz="2000">
              <a:latin typeface="黑体" pitchFamily="2" charset="-122"/>
              <a:ea typeface="黑体" pitchFamily="2" charset="-122"/>
            </a:endParaRPr>
          </a:p>
          <a:p>
            <a:pPr>
              <a:lnSpc>
                <a:spcPct val="130000"/>
              </a:lnSpc>
            </a:pPr>
            <a:endParaRPr lang="en-US" altLang="zh-CN" sz="2000">
              <a:latin typeface="黑体" pitchFamily="2" charset="-122"/>
              <a:ea typeface="黑体" pitchFamily="2" charset="-122"/>
            </a:endParaRPr>
          </a:p>
          <a:p>
            <a:pPr>
              <a:lnSpc>
                <a:spcPct val="130000"/>
              </a:lnSpc>
            </a:pPr>
            <a:r>
              <a:rPr lang="en-US" altLang="zh-CN" sz="2000">
                <a:latin typeface="黑体" pitchFamily="2" charset="-122"/>
                <a:ea typeface="黑体" pitchFamily="2" charset="-122"/>
              </a:rPr>
              <a:t>                                               </a:t>
            </a:r>
          </a:p>
          <a:p>
            <a:pPr>
              <a:lnSpc>
                <a:spcPct val="130000"/>
              </a:lnSpc>
            </a:pPr>
            <a:endParaRPr lang="en-US" altLang="zh-CN" sz="2000">
              <a:latin typeface="黑体" pitchFamily="2" charset="-122"/>
              <a:ea typeface="黑体" pitchFamily="2" charset="-122"/>
            </a:endParaRPr>
          </a:p>
          <a:p>
            <a:pPr>
              <a:lnSpc>
                <a:spcPct val="130000"/>
              </a:lnSpc>
            </a:pPr>
            <a:r>
              <a:rPr lang="en-US" altLang="zh-CN" sz="2000">
                <a:latin typeface="黑体" pitchFamily="2" charset="-122"/>
                <a:ea typeface="黑体" pitchFamily="2" charset="-122"/>
              </a:rPr>
              <a:t>                                                </a:t>
            </a:r>
          </a:p>
          <a:p>
            <a:pPr>
              <a:lnSpc>
                <a:spcPct val="130000"/>
              </a:lnSpc>
            </a:pPr>
            <a:endParaRPr lang="en-US" altLang="zh-CN" sz="2000">
              <a:latin typeface="黑体" pitchFamily="2" charset="-122"/>
              <a:ea typeface="黑体" pitchFamily="2" charset="-122"/>
            </a:endParaRPr>
          </a:p>
          <a:p>
            <a:pPr>
              <a:lnSpc>
                <a:spcPct val="150000"/>
              </a:lnSpc>
            </a:pPr>
            <a:r>
              <a:rPr lang="en-US" altLang="zh-CN" sz="2000">
                <a:latin typeface="黑体" pitchFamily="2" charset="-122"/>
                <a:ea typeface="黑体" pitchFamily="2" charset="-122"/>
              </a:rPr>
              <a:t>    M</a:t>
            </a:r>
            <a:r>
              <a:rPr lang="zh-CN" altLang="en-US" sz="2000">
                <a:latin typeface="黑体" pitchFamily="2" charset="-122"/>
                <a:ea typeface="黑体" pitchFamily="2" charset="-122"/>
              </a:rPr>
              <a:t>为方式控制输入线，当</a:t>
            </a:r>
            <a:r>
              <a:rPr lang="en-US" altLang="zh-CN" sz="2000">
                <a:latin typeface="黑体" pitchFamily="2" charset="-122"/>
                <a:ea typeface="黑体" pitchFamily="2" charset="-122"/>
              </a:rPr>
              <a:t>M</a:t>
            </a:r>
            <a:r>
              <a:rPr lang="zh-CN" altLang="en-US" sz="2000">
                <a:latin typeface="黑体" pitchFamily="2" charset="-122"/>
                <a:ea typeface="黑体" pitchFamily="2" charset="-122"/>
              </a:rPr>
              <a:t>＝</a:t>
            </a:r>
            <a:r>
              <a:rPr lang="en-US" altLang="zh-CN" sz="2000">
                <a:latin typeface="黑体" pitchFamily="2" charset="-122"/>
                <a:ea typeface="黑体" pitchFamily="2" charset="-122"/>
              </a:rPr>
              <a:t>0</a:t>
            </a:r>
            <a:r>
              <a:rPr lang="zh-CN" altLang="en-US" sz="2000">
                <a:latin typeface="黑体" pitchFamily="2" charset="-122"/>
                <a:ea typeface="黑体" pitchFamily="2" charset="-122"/>
              </a:rPr>
              <a:t>时</a:t>
            </a:r>
            <a:r>
              <a:rPr lang="en-US" altLang="zh-CN" sz="2000">
                <a:latin typeface="黑体" pitchFamily="2" charset="-122"/>
                <a:ea typeface="黑体" pitchFamily="2" charset="-122"/>
              </a:rPr>
              <a:t>,</a:t>
            </a:r>
            <a:r>
              <a:rPr lang="zh-CN" altLang="en-US" sz="2000">
                <a:latin typeface="黑体" pitchFamily="2" charset="-122"/>
                <a:ea typeface="黑体" pitchFamily="2" charset="-122"/>
              </a:rPr>
              <a:t>作加法</a:t>
            </a:r>
            <a:r>
              <a:rPr lang="en-US" altLang="zh-CN" sz="2000">
                <a:latin typeface="黑体" pitchFamily="2" charset="-122"/>
                <a:ea typeface="黑体" pitchFamily="2" charset="-122"/>
              </a:rPr>
              <a:t>(A</a:t>
            </a:r>
            <a:r>
              <a:rPr lang="zh-CN" altLang="en-US" sz="2000">
                <a:latin typeface="黑体" pitchFamily="2" charset="-122"/>
                <a:ea typeface="黑体" pitchFamily="2" charset="-122"/>
              </a:rPr>
              <a:t>＋</a:t>
            </a:r>
            <a:r>
              <a:rPr lang="en-US" altLang="zh-CN" sz="2000">
                <a:latin typeface="黑体" pitchFamily="2" charset="-122"/>
                <a:ea typeface="黑体" pitchFamily="2" charset="-122"/>
              </a:rPr>
              <a:t>B)</a:t>
            </a:r>
            <a:r>
              <a:rPr lang="zh-CN" altLang="en-US" sz="2000">
                <a:latin typeface="黑体" pitchFamily="2" charset="-122"/>
                <a:ea typeface="黑体" pitchFamily="2" charset="-122"/>
              </a:rPr>
              <a:t>运算；当</a:t>
            </a:r>
            <a:r>
              <a:rPr lang="en-US" altLang="zh-CN" sz="2000">
                <a:latin typeface="黑体" pitchFamily="2" charset="-122"/>
                <a:ea typeface="黑体" pitchFamily="2" charset="-122"/>
              </a:rPr>
              <a:t>M</a:t>
            </a:r>
            <a:r>
              <a:rPr lang="zh-CN" altLang="en-US" sz="2000">
                <a:latin typeface="黑体" pitchFamily="2" charset="-122"/>
                <a:ea typeface="黑体" pitchFamily="2" charset="-122"/>
              </a:rPr>
              <a:t>＝</a:t>
            </a:r>
            <a:r>
              <a:rPr lang="en-US" altLang="zh-CN" sz="2000">
                <a:latin typeface="黑体" pitchFamily="2" charset="-122"/>
                <a:ea typeface="黑体" pitchFamily="2" charset="-122"/>
              </a:rPr>
              <a:t>1</a:t>
            </a:r>
            <a:r>
              <a:rPr lang="zh-CN" altLang="en-US" sz="2000">
                <a:latin typeface="黑体" pitchFamily="2" charset="-122"/>
                <a:ea typeface="黑体" pitchFamily="2" charset="-122"/>
              </a:rPr>
              <a:t>时</a:t>
            </a:r>
            <a:r>
              <a:rPr lang="en-US" altLang="zh-CN" sz="2000">
                <a:latin typeface="黑体" pitchFamily="2" charset="-122"/>
                <a:ea typeface="黑体" pitchFamily="2" charset="-122"/>
              </a:rPr>
              <a:t>,</a:t>
            </a:r>
            <a:r>
              <a:rPr lang="zh-CN" altLang="en-US" sz="2000">
                <a:latin typeface="黑体" pitchFamily="2" charset="-122"/>
                <a:ea typeface="黑体" pitchFamily="2" charset="-122"/>
              </a:rPr>
              <a:t>作减法</a:t>
            </a:r>
            <a:r>
              <a:rPr lang="en-US" altLang="zh-CN" sz="2000">
                <a:latin typeface="黑体" pitchFamily="2" charset="-122"/>
                <a:ea typeface="黑体" pitchFamily="2" charset="-122"/>
              </a:rPr>
              <a:t>(A</a:t>
            </a:r>
            <a:r>
              <a:rPr lang="zh-CN" altLang="en-US" sz="2000">
                <a:latin typeface="黑体" pitchFamily="2" charset="-122"/>
                <a:ea typeface="黑体" pitchFamily="2" charset="-122"/>
              </a:rPr>
              <a:t>－</a:t>
            </a:r>
            <a:r>
              <a:rPr lang="en-US" altLang="zh-CN" sz="2000">
                <a:latin typeface="黑体" pitchFamily="2" charset="-122"/>
                <a:ea typeface="黑体" pitchFamily="2" charset="-122"/>
              </a:rPr>
              <a:t>B)</a:t>
            </a:r>
            <a:r>
              <a:rPr lang="zh-CN" altLang="en-US" sz="2000">
                <a:latin typeface="黑体" pitchFamily="2" charset="-122"/>
                <a:ea typeface="黑体" pitchFamily="2" charset="-122"/>
              </a:rPr>
              <a:t>运算</a:t>
            </a:r>
            <a:r>
              <a:rPr lang="en-US" altLang="zh-CN" sz="2000">
                <a:latin typeface="黑体" pitchFamily="2" charset="-122"/>
                <a:ea typeface="黑体" pitchFamily="2" charset="-122"/>
              </a:rPr>
              <a:t>,A</a:t>
            </a:r>
            <a:r>
              <a:rPr lang="zh-CN" altLang="en-US" sz="2000">
                <a:latin typeface="黑体" pitchFamily="2" charset="-122"/>
                <a:ea typeface="黑体" pitchFamily="2" charset="-122"/>
              </a:rPr>
              <a:t>－</a:t>
            </a:r>
            <a:r>
              <a:rPr lang="en-US" altLang="zh-CN" sz="2000">
                <a:latin typeface="黑体" pitchFamily="2" charset="-122"/>
                <a:ea typeface="黑体" pitchFamily="2" charset="-122"/>
              </a:rPr>
              <a:t>B</a:t>
            </a:r>
            <a:r>
              <a:rPr lang="zh-CN" altLang="en-US" sz="2000">
                <a:latin typeface="黑体" pitchFamily="2" charset="-122"/>
                <a:ea typeface="黑体" pitchFamily="2" charset="-122"/>
              </a:rPr>
              <a:t>运算转化成</a:t>
            </a:r>
            <a:r>
              <a:rPr lang="en-US" altLang="zh-CN" sz="2000">
                <a:latin typeface="黑体" pitchFamily="2" charset="-122"/>
                <a:ea typeface="黑体" pitchFamily="2" charset="-122"/>
              </a:rPr>
              <a:t>[A]</a:t>
            </a:r>
            <a:r>
              <a:rPr lang="zh-CN" altLang="en-US" sz="2000" baseline="-25000">
                <a:latin typeface="黑体" pitchFamily="2" charset="-122"/>
                <a:ea typeface="黑体" pitchFamily="2" charset="-122"/>
              </a:rPr>
              <a:t>补</a:t>
            </a:r>
            <a:r>
              <a:rPr lang="zh-CN" altLang="en-US" sz="2000">
                <a:latin typeface="黑体" pitchFamily="2" charset="-122"/>
                <a:ea typeface="黑体" pitchFamily="2" charset="-122"/>
              </a:rPr>
              <a:t>＋</a:t>
            </a:r>
            <a:r>
              <a:rPr lang="en-US" altLang="zh-CN" sz="2000">
                <a:latin typeface="黑体" pitchFamily="2" charset="-122"/>
                <a:ea typeface="黑体" pitchFamily="2" charset="-122"/>
              </a:rPr>
              <a:t>[</a:t>
            </a:r>
            <a:r>
              <a:rPr lang="zh-CN" altLang="en-US" sz="2000">
                <a:latin typeface="黑体" pitchFamily="2" charset="-122"/>
                <a:ea typeface="黑体" pitchFamily="2" charset="-122"/>
              </a:rPr>
              <a:t>－</a:t>
            </a:r>
            <a:r>
              <a:rPr lang="en-US" altLang="zh-CN" sz="2000">
                <a:latin typeface="黑体" pitchFamily="2" charset="-122"/>
                <a:ea typeface="黑体" pitchFamily="2" charset="-122"/>
              </a:rPr>
              <a:t>B]</a:t>
            </a:r>
            <a:r>
              <a:rPr lang="zh-CN" altLang="en-US" sz="2000" baseline="-25000">
                <a:latin typeface="黑体" pitchFamily="2" charset="-122"/>
                <a:ea typeface="黑体" pitchFamily="2" charset="-122"/>
              </a:rPr>
              <a:t>补</a:t>
            </a:r>
            <a:r>
              <a:rPr lang="zh-CN" altLang="en-US" sz="2000">
                <a:latin typeface="黑体" pitchFamily="2" charset="-122"/>
                <a:ea typeface="黑体" pitchFamily="2" charset="-122"/>
              </a:rPr>
              <a:t>运算；单符号位法的溢出检测逻辑；</a:t>
            </a:r>
            <a:r>
              <a:rPr lang="zh-CN" altLang="zh-CN" sz="2000">
                <a:latin typeface="黑体" pitchFamily="2" charset="-122"/>
                <a:ea typeface="黑体" pitchFamily="2" charset="-122"/>
              </a:rPr>
              <a:t>溢出逻辑表达式</a:t>
            </a:r>
            <a:r>
              <a:rPr lang="zh-CN" altLang="zh-CN" sz="2000" i="1">
                <a:latin typeface="黑体" pitchFamily="2" charset="-122"/>
                <a:ea typeface="黑体" pitchFamily="2" charset="-122"/>
              </a:rPr>
              <a:t>V</a:t>
            </a:r>
            <a:r>
              <a:rPr lang="zh-CN" altLang="zh-CN" sz="2000">
                <a:latin typeface="黑体" pitchFamily="2" charset="-122"/>
                <a:ea typeface="黑体" pitchFamily="2" charset="-122"/>
              </a:rPr>
              <a:t>＝</a:t>
            </a:r>
            <a:r>
              <a:rPr lang="en-US" altLang="zh-CN" sz="2000">
                <a:latin typeface="黑体" pitchFamily="2" charset="-122"/>
                <a:ea typeface="黑体" pitchFamily="2" charset="-122"/>
              </a:rPr>
              <a:t>C</a:t>
            </a:r>
            <a:r>
              <a:rPr lang="en-US" altLang="zh-CN" sz="2000" baseline="-25000">
                <a:latin typeface="黑体" pitchFamily="2" charset="-122"/>
                <a:ea typeface="黑体" pitchFamily="2" charset="-122"/>
              </a:rPr>
              <a:t>n</a:t>
            </a:r>
            <a:r>
              <a:rPr lang="zh-CN" altLang="zh-CN" sz="2000">
                <a:latin typeface="黑体" pitchFamily="2" charset="-122"/>
                <a:ea typeface="黑体" pitchFamily="2" charset="-122"/>
              </a:rPr>
              <a:t>⊕</a:t>
            </a:r>
            <a:r>
              <a:rPr lang="en-US" altLang="zh-CN" sz="2000">
                <a:latin typeface="黑体" pitchFamily="2" charset="-122"/>
                <a:ea typeface="黑体" pitchFamily="2" charset="-122"/>
              </a:rPr>
              <a:t>C</a:t>
            </a:r>
            <a:r>
              <a:rPr lang="en-US" altLang="zh-CN" sz="2000" baseline="-25000">
                <a:latin typeface="黑体" pitchFamily="2" charset="-122"/>
                <a:ea typeface="黑体" pitchFamily="2" charset="-122"/>
              </a:rPr>
              <a:t>n</a:t>
            </a:r>
            <a:r>
              <a:rPr lang="zh-CN" altLang="en-US" sz="2000" baseline="-25000">
                <a:latin typeface="黑体" pitchFamily="2" charset="-122"/>
                <a:ea typeface="黑体" pitchFamily="2" charset="-122"/>
              </a:rPr>
              <a:t>－</a:t>
            </a:r>
            <a:r>
              <a:rPr lang="en-US" altLang="zh-CN" sz="2000" baseline="-25000">
                <a:latin typeface="黑体" pitchFamily="2" charset="-122"/>
                <a:ea typeface="黑体" pitchFamily="2" charset="-122"/>
              </a:rPr>
              <a:t>1</a:t>
            </a:r>
            <a:r>
              <a:rPr lang="zh-CN" altLang="en-US" sz="2000">
                <a:latin typeface="黑体" pitchFamily="2" charset="-122"/>
                <a:ea typeface="黑体" pitchFamily="2" charset="-122"/>
              </a:rPr>
              <a:t>。</a:t>
            </a:r>
            <a:r>
              <a:rPr lang="en-US" altLang="zh-CN" sz="2000" i="1">
                <a:latin typeface="Simsun" pitchFamily="2" charset="-122"/>
              </a:rPr>
              <a:t> </a:t>
            </a:r>
          </a:p>
          <a:p>
            <a:pPr>
              <a:lnSpc>
                <a:spcPct val="150000"/>
              </a:lnSpc>
              <a:spcBef>
                <a:spcPts val="1200"/>
              </a:spcBef>
            </a:pPr>
            <a:r>
              <a:rPr lang="en-US" altLang="zh-CN" sz="2000">
                <a:latin typeface="黑体" pitchFamily="2" charset="-122"/>
                <a:ea typeface="黑体" pitchFamily="2" charset="-122"/>
              </a:rPr>
              <a:t>    </a:t>
            </a:r>
            <a:r>
              <a:rPr lang="zh-CN" altLang="zh-CN" sz="2000">
                <a:latin typeface="黑体" pitchFamily="2" charset="-122"/>
                <a:ea typeface="黑体" pitchFamily="2" charset="-122"/>
              </a:rPr>
              <a:t>考虑溢出检测,那么</a:t>
            </a:r>
            <a:r>
              <a:rPr lang="zh-CN" altLang="zh-CN" sz="2000" i="1">
                <a:latin typeface="黑体" pitchFamily="2" charset="-122"/>
                <a:ea typeface="黑体" pitchFamily="2" charset="-122"/>
              </a:rPr>
              <a:t>n</a:t>
            </a:r>
            <a:r>
              <a:rPr lang="zh-CN" altLang="zh-CN" sz="2000">
                <a:latin typeface="黑体" pitchFamily="2" charset="-122"/>
                <a:ea typeface="黑体" pitchFamily="2" charset="-122"/>
              </a:rPr>
              <a:t>位行波进位加法器的延迟时间</a:t>
            </a:r>
            <a:r>
              <a:rPr lang="zh-CN" altLang="zh-CN" sz="2000" i="1">
                <a:latin typeface="黑体" pitchFamily="2" charset="-122"/>
                <a:ea typeface="黑体" pitchFamily="2" charset="-122"/>
              </a:rPr>
              <a:t>t</a:t>
            </a:r>
            <a:r>
              <a:rPr lang="zh-CN" altLang="zh-CN" sz="2000" i="1" baseline="-30000">
                <a:latin typeface="黑体" pitchFamily="2" charset="-122"/>
                <a:ea typeface="黑体" pitchFamily="2" charset="-122"/>
              </a:rPr>
              <a:t>a</a:t>
            </a:r>
            <a:r>
              <a:rPr lang="zh-CN" altLang="zh-CN" sz="2000">
                <a:latin typeface="黑体" pitchFamily="2" charset="-122"/>
                <a:ea typeface="黑体" pitchFamily="2" charset="-122"/>
              </a:rPr>
              <a:t>为</a:t>
            </a:r>
            <a:r>
              <a:rPr lang="zh-CN" altLang="en-US" sz="2000">
                <a:latin typeface="黑体" pitchFamily="2" charset="-122"/>
                <a:ea typeface="黑体" pitchFamily="2" charset="-122"/>
              </a:rPr>
              <a:t>：</a:t>
            </a:r>
            <a:endParaRPr lang="zh-CN"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　　</a:t>
            </a:r>
            <a:r>
              <a:rPr lang="en-US" altLang="zh-CN" sz="2000">
                <a:latin typeface="黑体" pitchFamily="2" charset="-122"/>
                <a:ea typeface="黑体" pitchFamily="2" charset="-122"/>
              </a:rPr>
              <a:t> </a:t>
            </a:r>
            <a:r>
              <a:rPr lang="en-US" altLang="zh-CN" sz="2000" i="1">
                <a:latin typeface="黑体" pitchFamily="2" charset="-122"/>
                <a:ea typeface="黑体" pitchFamily="2" charset="-122"/>
              </a:rPr>
              <a:t>t</a:t>
            </a:r>
            <a:r>
              <a:rPr lang="en-US" altLang="zh-CN" sz="2000" i="1" baseline="-25000">
                <a:latin typeface="黑体" pitchFamily="2" charset="-122"/>
                <a:ea typeface="黑体" pitchFamily="2" charset="-122"/>
              </a:rPr>
              <a:t>a</a:t>
            </a:r>
            <a:r>
              <a:rPr lang="zh-CN" altLang="en-US" sz="2000" i="1">
                <a:latin typeface="黑体" pitchFamily="2" charset="-122"/>
                <a:ea typeface="黑体" pitchFamily="2" charset="-122"/>
              </a:rPr>
              <a:t>＝</a:t>
            </a:r>
            <a:r>
              <a:rPr lang="en-US" altLang="zh-CN" sz="2000" i="1">
                <a:latin typeface="黑体" pitchFamily="2" charset="-122"/>
                <a:ea typeface="黑体" pitchFamily="2" charset="-122"/>
              </a:rPr>
              <a:t>n·2T</a:t>
            </a:r>
            <a:r>
              <a:rPr lang="zh-CN" altLang="en-US" sz="2000" i="1">
                <a:latin typeface="黑体" pitchFamily="2" charset="-122"/>
                <a:ea typeface="黑体" pitchFamily="2" charset="-122"/>
              </a:rPr>
              <a:t>（每级</a:t>
            </a:r>
            <a:r>
              <a:rPr lang="zh-CN" altLang="zh-CN" sz="2000" i="1">
                <a:latin typeface="黑体" pitchFamily="2" charset="-122"/>
                <a:ea typeface="黑体" pitchFamily="2" charset="-122"/>
              </a:rPr>
              <a:t>进位链</a:t>
            </a:r>
            <a:r>
              <a:rPr lang="zh-CN" altLang="en-US" sz="2000" i="1">
                <a:latin typeface="黑体" pitchFamily="2" charset="-122"/>
                <a:ea typeface="黑体" pitchFamily="2" charset="-122"/>
              </a:rPr>
              <a:t>）＋</a:t>
            </a:r>
            <a:r>
              <a:rPr lang="en-US" altLang="zh-CN" sz="2000" i="1">
                <a:latin typeface="黑体" pitchFamily="2" charset="-122"/>
                <a:ea typeface="黑体" pitchFamily="2" charset="-122"/>
              </a:rPr>
              <a:t>9T</a:t>
            </a:r>
            <a:r>
              <a:rPr lang="zh-CN" altLang="en-US" sz="2000" i="1">
                <a:latin typeface="黑体" pitchFamily="2" charset="-122"/>
                <a:ea typeface="黑体" pitchFamily="2" charset="-122"/>
              </a:rPr>
              <a:t>（</a:t>
            </a:r>
            <a:r>
              <a:rPr lang="zh-CN" altLang="zh-CN" sz="2000" i="1">
                <a:latin typeface="黑体" pitchFamily="2" charset="-122"/>
                <a:ea typeface="黑体" pitchFamily="2" charset="-122"/>
              </a:rPr>
              <a:t>B取反、加法器</a:t>
            </a:r>
            <a:r>
              <a:rPr lang="zh-CN" altLang="en-US" sz="2000" i="1">
                <a:latin typeface="黑体" pitchFamily="2" charset="-122"/>
                <a:ea typeface="黑体" pitchFamily="2" charset="-122"/>
              </a:rPr>
              <a:t>、</a:t>
            </a:r>
            <a:r>
              <a:rPr lang="zh-CN" altLang="zh-CN" sz="2000" i="1">
                <a:latin typeface="黑体" pitchFamily="2" charset="-122"/>
                <a:ea typeface="黑体" pitchFamily="2" charset="-122"/>
              </a:rPr>
              <a:t>溢出</a:t>
            </a:r>
            <a:r>
              <a:rPr lang="zh-CN" altLang="en-US" sz="2000" i="1">
                <a:latin typeface="黑体" pitchFamily="2" charset="-122"/>
                <a:ea typeface="黑体" pitchFamily="2" charset="-122"/>
              </a:rPr>
              <a:t>）＝</a:t>
            </a:r>
            <a:r>
              <a:rPr lang="en-US" altLang="zh-CN" sz="2000" i="1">
                <a:latin typeface="黑体" pitchFamily="2" charset="-122"/>
                <a:ea typeface="黑体" pitchFamily="2" charset="-122"/>
              </a:rPr>
              <a:t>(2n</a:t>
            </a:r>
            <a:r>
              <a:rPr lang="zh-CN" altLang="en-US" sz="2000" i="1">
                <a:latin typeface="黑体" pitchFamily="2" charset="-122"/>
                <a:ea typeface="黑体" pitchFamily="2" charset="-122"/>
              </a:rPr>
              <a:t>＋</a:t>
            </a:r>
            <a:r>
              <a:rPr lang="en-US" altLang="zh-CN" sz="2000" i="1">
                <a:latin typeface="黑体" pitchFamily="2" charset="-122"/>
                <a:ea typeface="黑体" pitchFamily="2" charset="-122"/>
              </a:rPr>
              <a:t>9)T</a:t>
            </a:r>
          </a:p>
          <a:p>
            <a:pPr eaLnBrk="0" hangingPunct="0">
              <a:lnSpc>
                <a:spcPct val="150000"/>
              </a:lnSpc>
            </a:pPr>
            <a:r>
              <a:rPr lang="zh-CN" altLang="zh-CN" sz="2000">
                <a:latin typeface="黑体" pitchFamily="2" charset="-122"/>
                <a:ea typeface="黑体" pitchFamily="2" charset="-122"/>
              </a:rPr>
              <a:t>　　</a:t>
            </a:r>
            <a:r>
              <a:rPr lang="zh-CN" altLang="zh-CN" sz="2000" i="1">
                <a:latin typeface="黑体" pitchFamily="2" charset="-122"/>
                <a:ea typeface="黑体" pitchFamily="2" charset="-122"/>
              </a:rPr>
              <a:t>t</a:t>
            </a:r>
            <a:r>
              <a:rPr lang="zh-CN" altLang="zh-CN" sz="2000" i="1" baseline="-30000">
                <a:latin typeface="黑体" pitchFamily="2" charset="-122"/>
                <a:ea typeface="黑体" pitchFamily="2" charset="-122"/>
              </a:rPr>
              <a:t>a</a:t>
            </a:r>
            <a:r>
              <a:rPr lang="zh-CN" altLang="zh-CN" sz="2000">
                <a:latin typeface="黑体" pitchFamily="2" charset="-122"/>
                <a:ea typeface="黑体" pitchFamily="2" charset="-122"/>
              </a:rPr>
              <a:t>意味着加法器的输入端输入加数和被加数后,在最坏情况下加法器输出端得到稳定的求和输出所需的最长时间。显然这个时间越小越好。</a:t>
            </a:r>
            <a:endParaRPr lang="zh-CN" altLang="en-US" sz="2000">
              <a:latin typeface="黑体" pitchFamily="2" charset="-122"/>
              <a:ea typeface="黑体" pitchFamily="2" charset="-122"/>
            </a:endParaRPr>
          </a:p>
        </p:txBody>
      </p:sp>
      <p:pic>
        <p:nvPicPr>
          <p:cNvPr id="5939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682625"/>
            <a:ext cx="5688012"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650" y="765175"/>
            <a:ext cx="1973263"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AutoShape 2" descr="G:\jzdx\%E8%AE%A1%E7%AE%97%E6%9C%BA%E7%BB%84%E6%88%90%E5%8E%9F%E7%90%86\%E6%95%99%E6%A1%88\%E7%AC%AC%E4%BA%8C%E7%AB%A0\Images\Home07.gif">
            <a:hlinkClick r:id="rId3" action="ppaction://hlinkfile"/>
          </p:cNvPr>
          <p:cNvSpPr>
            <a:spLocks noChangeAspect="1" noChangeArrowheads="1"/>
          </p:cNvSpPr>
          <p:nvPr/>
        </p:nvSpPr>
        <p:spPr bwMode="auto">
          <a:xfrm>
            <a:off x="4765675" y="-86360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19" name="AutoShape 3" descr="G:\jzdx\%E8%AE%A1%E7%AE%97%E6%9C%BA%E7%BB%84%E6%88%90%E5%8E%9F%E7%90%86\%E6%95%99%E6%A1%88\%E7%AC%AC%E4%BA%8C%E7%AB%A0\Images\s2.3.1.0.gif"/>
          <p:cNvSpPr>
            <a:spLocks noChangeAspect="1" noChangeArrowheads="1"/>
          </p:cNvSpPr>
          <p:nvPr/>
        </p:nvSpPr>
        <p:spPr bwMode="auto">
          <a:xfrm>
            <a:off x="1387475" y="2251075"/>
            <a:ext cx="5934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20" name="矩形 5"/>
          <p:cNvSpPr>
            <a:spLocks noChangeArrowheads="1"/>
          </p:cNvSpPr>
          <p:nvPr/>
        </p:nvSpPr>
        <p:spPr bwMode="auto">
          <a:xfrm>
            <a:off x="250825" y="404813"/>
            <a:ext cx="8713788"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800">
                <a:solidFill>
                  <a:srgbClr val="FF0000"/>
                </a:solidFill>
                <a:latin typeface="黑体" pitchFamily="2" charset="-122"/>
                <a:ea typeface="黑体" pitchFamily="2" charset="-122"/>
              </a:rPr>
              <a:t>2.3.1</a:t>
            </a:r>
            <a:r>
              <a:rPr lang="en-US" altLang="zh-CN" sz="2800">
                <a:solidFill>
                  <a:srgbClr val="FF0000"/>
                </a:solidFill>
                <a:latin typeface="黑体" pitchFamily="2" charset="-122"/>
                <a:ea typeface="黑体" pitchFamily="2" charset="-122"/>
              </a:rPr>
              <a:t> </a:t>
            </a:r>
            <a:r>
              <a:rPr lang="zh-CN" altLang="en-US" sz="2800">
                <a:solidFill>
                  <a:srgbClr val="FF0000"/>
                </a:solidFill>
                <a:latin typeface="黑体" pitchFamily="2" charset="-122"/>
                <a:ea typeface="黑体" pitchFamily="2" charset="-122"/>
              </a:rPr>
              <a:t>原码乘法 </a:t>
            </a:r>
            <a:r>
              <a:rPr lang="zh-CN" altLang="en-US" sz="2400">
                <a:solidFill>
                  <a:srgbClr val="0000FF"/>
                </a:solidFill>
                <a:latin typeface="黑体" pitchFamily="2" charset="-122"/>
                <a:ea typeface="黑体" pitchFamily="2" charset="-122"/>
                <a:hlinkClick r:id="rId4"/>
              </a:rPr>
              <a:t>　　　　　　　　  </a:t>
            </a:r>
            <a:endParaRPr lang="zh-CN" altLang="en-US" sz="2400">
              <a:solidFill>
                <a:srgbClr val="000000"/>
              </a:solidFill>
              <a:latin typeface="黑体" pitchFamily="2" charset="-122"/>
              <a:ea typeface="黑体" pitchFamily="2" charset="-122"/>
            </a:endParaRPr>
          </a:p>
          <a:p>
            <a:pPr eaLnBrk="0" hangingPunct="0">
              <a:lnSpc>
                <a:spcPct val="150000"/>
              </a:lnSpc>
            </a:pPr>
            <a:r>
              <a:rPr lang="en-US" altLang="zh-CN" sz="2400">
                <a:solidFill>
                  <a:srgbClr val="333399"/>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1.</a:t>
            </a:r>
            <a:r>
              <a:rPr lang="zh-CN" altLang="en-US" sz="2400">
                <a:solidFill>
                  <a:srgbClr val="000000"/>
                </a:solidFill>
                <a:latin typeface="黑体" pitchFamily="2" charset="-122"/>
                <a:ea typeface="黑体" pitchFamily="2" charset="-122"/>
              </a:rPr>
              <a:t>人工算法与机器算法的同异性</a:t>
            </a:r>
          </a:p>
          <a:p>
            <a:pPr eaLnBrk="0" hangingPunct="0">
              <a:lnSpc>
                <a:spcPct val="150000"/>
              </a:lnSpc>
            </a:pPr>
            <a:r>
              <a:rPr lang="zh-CN" altLang="en-US" sz="2400">
                <a:solidFill>
                  <a:srgbClr val="000000"/>
                </a:solidFill>
                <a:latin typeface="黑体" pitchFamily="2" charset="-122"/>
                <a:ea typeface="黑体" pitchFamily="2" charset="-122"/>
              </a:rPr>
              <a:t>　　在定点计算机中</a:t>
            </a:r>
            <a:r>
              <a:rPr lang="zh-CN" altLang="zh-CN" sz="2400">
                <a:solidFill>
                  <a:srgbClr val="000000"/>
                </a:solidFill>
                <a:latin typeface="黑体" pitchFamily="2" charset="-122"/>
                <a:ea typeface="黑体" pitchFamily="2" charset="-122"/>
              </a:rPr>
              <a:t>,</a:t>
            </a:r>
            <a:r>
              <a:rPr lang="zh-CN" altLang="en-US" sz="2400">
                <a:solidFill>
                  <a:srgbClr val="000000"/>
                </a:solidFill>
                <a:latin typeface="黑体" pitchFamily="2" charset="-122"/>
                <a:ea typeface="黑体" pitchFamily="2" charset="-122"/>
              </a:rPr>
              <a:t>两个原码表示的数相乘的运算规则是</a:t>
            </a:r>
            <a:r>
              <a:rPr lang="zh-CN" altLang="zh-CN" sz="2400">
                <a:solidFill>
                  <a:srgbClr val="000000"/>
                </a:solidFill>
                <a:latin typeface="黑体" pitchFamily="2" charset="-122"/>
                <a:ea typeface="黑体" pitchFamily="2" charset="-122"/>
              </a:rPr>
              <a:t>:</a:t>
            </a:r>
            <a:r>
              <a:rPr lang="zh-CN" altLang="en-US" sz="2400">
                <a:solidFill>
                  <a:srgbClr val="000000"/>
                </a:solidFill>
                <a:latin typeface="黑体" pitchFamily="2" charset="-122"/>
                <a:ea typeface="黑体" pitchFamily="2" charset="-122"/>
              </a:rPr>
              <a:t>乘积的符号位由两数的符号位按异或运算得到</a:t>
            </a:r>
            <a:r>
              <a:rPr lang="zh-CN" altLang="zh-CN" sz="2400">
                <a:solidFill>
                  <a:srgbClr val="000000"/>
                </a:solidFill>
                <a:latin typeface="黑体" pitchFamily="2" charset="-122"/>
                <a:ea typeface="黑体" pitchFamily="2" charset="-122"/>
              </a:rPr>
              <a:t>,</a:t>
            </a:r>
            <a:r>
              <a:rPr lang="zh-CN" altLang="en-US" sz="2400">
                <a:solidFill>
                  <a:srgbClr val="000000"/>
                </a:solidFill>
                <a:latin typeface="黑体" pitchFamily="2" charset="-122"/>
                <a:ea typeface="黑体" pitchFamily="2" charset="-122"/>
              </a:rPr>
              <a:t>而乘积的数值部分则是两个正数相乘之积。</a:t>
            </a:r>
          </a:p>
          <a:p>
            <a:pPr eaLnBrk="0" hangingPunct="0">
              <a:lnSpc>
                <a:spcPct val="150000"/>
              </a:lnSpc>
            </a:pPr>
            <a:r>
              <a:rPr lang="zh-CN" altLang="en-US" sz="2400">
                <a:solidFill>
                  <a:srgbClr val="000000"/>
                </a:solidFill>
                <a:latin typeface="黑体" pitchFamily="2" charset="-122"/>
                <a:ea typeface="黑体" pitchFamily="2" charset="-122"/>
              </a:rPr>
              <a:t>　　设</a:t>
            </a:r>
            <a:r>
              <a:rPr lang="zh-CN" altLang="zh-CN" sz="2400">
                <a:solidFill>
                  <a:srgbClr val="000000"/>
                </a:solidFill>
                <a:latin typeface="黑体" pitchFamily="2" charset="-122"/>
                <a:ea typeface="黑体" pitchFamily="2" charset="-122"/>
              </a:rPr>
              <a:t>n</a:t>
            </a:r>
            <a:r>
              <a:rPr lang="zh-CN" altLang="en-US" sz="2400">
                <a:solidFill>
                  <a:srgbClr val="000000"/>
                </a:solidFill>
                <a:latin typeface="黑体" pitchFamily="2" charset="-122"/>
                <a:ea typeface="黑体" pitchFamily="2" charset="-122"/>
              </a:rPr>
              <a:t>位被乘数和乘数用定点整数表示</a:t>
            </a:r>
          </a:p>
          <a:p>
            <a:pPr eaLnBrk="0" hangingPunct="0">
              <a:lnSpc>
                <a:spcPct val="150000"/>
              </a:lnSpc>
            </a:pPr>
            <a:r>
              <a:rPr lang="zh-CN" altLang="en-US" sz="2400">
                <a:solidFill>
                  <a:srgbClr val="0000FF"/>
                </a:solidFill>
                <a:latin typeface="黑体" pitchFamily="2" charset="-122"/>
                <a:ea typeface="黑体" pitchFamily="2" charset="-122"/>
              </a:rPr>
              <a:t>　　被乘数 　　</a:t>
            </a:r>
            <a:r>
              <a:rPr lang="zh-CN" altLang="zh-CN" sz="2400">
                <a:solidFill>
                  <a:srgbClr val="0000FF"/>
                </a:solidFill>
                <a:latin typeface="黑体" pitchFamily="2" charset="-122"/>
                <a:ea typeface="黑体" pitchFamily="2" charset="-122"/>
              </a:rPr>
              <a:t>[</a:t>
            </a:r>
            <a:r>
              <a:rPr lang="zh-CN" altLang="en-US" sz="2400">
                <a:solidFill>
                  <a:srgbClr val="0000FF"/>
                </a:solidFill>
                <a:latin typeface="黑体" pitchFamily="2" charset="-122"/>
                <a:ea typeface="黑体" pitchFamily="2" charset="-122"/>
              </a:rPr>
              <a:t>ｘ</a:t>
            </a:r>
            <a:r>
              <a:rPr lang="zh-CN" altLang="zh-CN" sz="2400">
                <a:solidFill>
                  <a:srgbClr val="0000FF"/>
                </a:solidFill>
                <a:latin typeface="黑体" pitchFamily="2" charset="-122"/>
                <a:ea typeface="黑体" pitchFamily="2" charset="-122"/>
              </a:rPr>
              <a:t>]</a:t>
            </a:r>
            <a:r>
              <a:rPr lang="zh-CN" altLang="en-US" sz="2400" baseline="-30000">
                <a:solidFill>
                  <a:srgbClr val="0000FF"/>
                </a:solidFill>
                <a:latin typeface="黑体" pitchFamily="2" charset="-122"/>
                <a:ea typeface="黑体" pitchFamily="2" charset="-122"/>
              </a:rPr>
              <a:t>原</a:t>
            </a:r>
            <a:r>
              <a:rPr lang="zh-CN" altLang="en-US" sz="2400">
                <a:solidFill>
                  <a:srgbClr val="0000FF"/>
                </a:solidFill>
                <a:latin typeface="黑体" pitchFamily="2" charset="-122"/>
                <a:ea typeface="黑体" pitchFamily="2" charset="-122"/>
              </a:rPr>
              <a:t>＝ｘ</a:t>
            </a:r>
            <a:r>
              <a:rPr lang="zh-CN" altLang="zh-CN" sz="2400" baseline="-30000">
                <a:solidFill>
                  <a:srgbClr val="0000FF"/>
                </a:solidFill>
                <a:latin typeface="黑体" pitchFamily="2" charset="-122"/>
                <a:ea typeface="黑体" pitchFamily="2" charset="-122"/>
              </a:rPr>
              <a:t>f</a:t>
            </a:r>
            <a:r>
              <a:rPr lang="zh-CN" altLang="en-US" sz="2400">
                <a:solidFill>
                  <a:srgbClr val="0000FF"/>
                </a:solidFill>
                <a:latin typeface="黑体" pitchFamily="2" charset="-122"/>
                <a:ea typeface="黑体" pitchFamily="2" charset="-122"/>
              </a:rPr>
              <a:t>ｘ</a:t>
            </a:r>
            <a:r>
              <a:rPr lang="zh-CN" altLang="zh-CN" sz="2400" baseline="-30000">
                <a:solidFill>
                  <a:srgbClr val="0000FF"/>
                </a:solidFill>
                <a:latin typeface="黑体" pitchFamily="2" charset="-122"/>
                <a:ea typeface="黑体" pitchFamily="2" charset="-122"/>
              </a:rPr>
              <a:t>n</a:t>
            </a:r>
            <a:r>
              <a:rPr lang="zh-CN" altLang="en-US" sz="2400" baseline="-30000">
                <a:solidFill>
                  <a:srgbClr val="0000FF"/>
                </a:solidFill>
                <a:latin typeface="黑体" pitchFamily="2" charset="-122"/>
                <a:ea typeface="黑体" pitchFamily="2" charset="-122"/>
              </a:rPr>
              <a:t>－</a:t>
            </a:r>
            <a:r>
              <a:rPr lang="zh-CN" altLang="zh-CN" sz="2400" baseline="-30000">
                <a:solidFill>
                  <a:srgbClr val="0000FF"/>
                </a:solidFill>
                <a:latin typeface="黑体" pitchFamily="2" charset="-122"/>
                <a:ea typeface="黑体" pitchFamily="2" charset="-122"/>
              </a:rPr>
              <a:t>1</a:t>
            </a:r>
            <a:r>
              <a:rPr lang="zh-CN" altLang="zh-CN" sz="2400">
                <a:solidFill>
                  <a:srgbClr val="0000FF"/>
                </a:solidFill>
                <a:latin typeface="黑体" pitchFamily="2" charset="-122"/>
                <a:ea typeface="黑体" pitchFamily="2" charset="-122"/>
              </a:rPr>
              <a:t>…</a:t>
            </a:r>
            <a:r>
              <a:rPr lang="zh-CN" altLang="en-US" sz="2400">
                <a:solidFill>
                  <a:srgbClr val="0000FF"/>
                </a:solidFill>
                <a:latin typeface="黑体" pitchFamily="2" charset="-122"/>
                <a:ea typeface="黑体" pitchFamily="2" charset="-122"/>
              </a:rPr>
              <a:t>ｘ</a:t>
            </a:r>
            <a:r>
              <a:rPr lang="zh-CN" altLang="zh-CN" sz="2400" baseline="-30000">
                <a:solidFill>
                  <a:srgbClr val="0000FF"/>
                </a:solidFill>
                <a:latin typeface="黑体" pitchFamily="2" charset="-122"/>
                <a:ea typeface="黑体" pitchFamily="2" charset="-122"/>
              </a:rPr>
              <a:t>1</a:t>
            </a:r>
            <a:r>
              <a:rPr lang="zh-CN" altLang="en-US" sz="2400">
                <a:solidFill>
                  <a:srgbClr val="0000FF"/>
                </a:solidFill>
                <a:latin typeface="黑体" pitchFamily="2" charset="-122"/>
                <a:ea typeface="黑体" pitchFamily="2" charset="-122"/>
              </a:rPr>
              <a:t>ｘ</a:t>
            </a:r>
            <a:r>
              <a:rPr lang="zh-CN" altLang="zh-CN" sz="2400" baseline="-30000">
                <a:solidFill>
                  <a:srgbClr val="0000FF"/>
                </a:solidFill>
                <a:latin typeface="黑体" pitchFamily="2" charset="-122"/>
                <a:ea typeface="黑体" pitchFamily="2" charset="-122"/>
              </a:rPr>
              <a:t>0</a:t>
            </a:r>
            <a:endParaRPr lang="zh-CN" altLang="zh-CN" sz="2400">
              <a:solidFill>
                <a:srgbClr val="0000FF"/>
              </a:solidFill>
              <a:latin typeface="黑体" pitchFamily="2" charset="-122"/>
              <a:ea typeface="黑体" pitchFamily="2" charset="-122"/>
            </a:endParaRPr>
          </a:p>
          <a:p>
            <a:pPr eaLnBrk="0" hangingPunct="0">
              <a:lnSpc>
                <a:spcPct val="150000"/>
              </a:lnSpc>
            </a:pPr>
            <a:r>
              <a:rPr lang="zh-CN" altLang="en-US" sz="2400">
                <a:solidFill>
                  <a:srgbClr val="0000FF"/>
                </a:solidFill>
                <a:latin typeface="黑体" pitchFamily="2" charset="-122"/>
                <a:ea typeface="黑体" pitchFamily="2" charset="-122"/>
              </a:rPr>
              <a:t>　　</a:t>
            </a:r>
            <a:r>
              <a:rPr lang="en-US" altLang="zh-CN" sz="2400">
                <a:solidFill>
                  <a:srgbClr val="0000FF"/>
                </a:solidFill>
                <a:latin typeface="黑体" pitchFamily="2" charset="-122"/>
                <a:ea typeface="黑体" pitchFamily="2" charset="-122"/>
              </a:rPr>
              <a:t>  </a:t>
            </a:r>
            <a:r>
              <a:rPr lang="zh-CN" altLang="en-US" sz="2400">
                <a:solidFill>
                  <a:srgbClr val="0000FF"/>
                </a:solidFill>
                <a:latin typeface="黑体" pitchFamily="2" charset="-122"/>
                <a:ea typeface="黑体" pitchFamily="2" charset="-122"/>
              </a:rPr>
              <a:t>乘数 　　</a:t>
            </a:r>
            <a:r>
              <a:rPr lang="zh-CN" altLang="zh-CN" sz="2400">
                <a:solidFill>
                  <a:srgbClr val="0000FF"/>
                </a:solidFill>
                <a:latin typeface="黑体" pitchFamily="2" charset="-122"/>
                <a:ea typeface="黑体" pitchFamily="2" charset="-122"/>
              </a:rPr>
              <a:t>[</a:t>
            </a:r>
            <a:r>
              <a:rPr lang="zh-CN" altLang="en-US" sz="2400">
                <a:solidFill>
                  <a:srgbClr val="0000FF"/>
                </a:solidFill>
                <a:latin typeface="黑体" pitchFamily="2" charset="-122"/>
                <a:ea typeface="黑体" pitchFamily="2" charset="-122"/>
              </a:rPr>
              <a:t>ｙ</a:t>
            </a:r>
            <a:r>
              <a:rPr lang="zh-CN" altLang="zh-CN" sz="2400">
                <a:solidFill>
                  <a:srgbClr val="0000FF"/>
                </a:solidFill>
                <a:latin typeface="黑体" pitchFamily="2" charset="-122"/>
                <a:ea typeface="黑体" pitchFamily="2" charset="-122"/>
              </a:rPr>
              <a:t>]</a:t>
            </a:r>
            <a:r>
              <a:rPr lang="zh-CN" altLang="en-US" sz="2400" baseline="-30000">
                <a:solidFill>
                  <a:srgbClr val="0000FF"/>
                </a:solidFill>
                <a:latin typeface="黑体" pitchFamily="2" charset="-122"/>
                <a:ea typeface="黑体" pitchFamily="2" charset="-122"/>
              </a:rPr>
              <a:t>原</a:t>
            </a:r>
            <a:r>
              <a:rPr lang="zh-CN" altLang="en-US" sz="2400">
                <a:solidFill>
                  <a:srgbClr val="0000FF"/>
                </a:solidFill>
                <a:latin typeface="黑体" pitchFamily="2" charset="-122"/>
                <a:ea typeface="黑体" pitchFamily="2" charset="-122"/>
              </a:rPr>
              <a:t>＝ｙ</a:t>
            </a:r>
            <a:r>
              <a:rPr lang="zh-CN" altLang="zh-CN" sz="2400" baseline="-30000">
                <a:solidFill>
                  <a:srgbClr val="0000FF"/>
                </a:solidFill>
                <a:latin typeface="黑体" pitchFamily="2" charset="-122"/>
                <a:ea typeface="黑体" pitchFamily="2" charset="-122"/>
              </a:rPr>
              <a:t>f</a:t>
            </a:r>
            <a:r>
              <a:rPr lang="zh-CN" altLang="en-US" sz="2400">
                <a:solidFill>
                  <a:srgbClr val="0000FF"/>
                </a:solidFill>
                <a:latin typeface="黑体" pitchFamily="2" charset="-122"/>
                <a:ea typeface="黑体" pitchFamily="2" charset="-122"/>
              </a:rPr>
              <a:t>ｙ</a:t>
            </a:r>
            <a:r>
              <a:rPr lang="zh-CN" altLang="zh-CN" sz="2400" baseline="-30000">
                <a:solidFill>
                  <a:srgbClr val="0000FF"/>
                </a:solidFill>
                <a:latin typeface="黑体" pitchFamily="2" charset="-122"/>
                <a:ea typeface="黑体" pitchFamily="2" charset="-122"/>
              </a:rPr>
              <a:t>n</a:t>
            </a:r>
            <a:r>
              <a:rPr lang="zh-CN" altLang="en-US" sz="2400" baseline="-30000">
                <a:solidFill>
                  <a:srgbClr val="0000FF"/>
                </a:solidFill>
                <a:latin typeface="黑体" pitchFamily="2" charset="-122"/>
                <a:ea typeface="黑体" pitchFamily="2" charset="-122"/>
              </a:rPr>
              <a:t>－</a:t>
            </a:r>
            <a:r>
              <a:rPr lang="zh-CN" altLang="zh-CN" sz="2400" baseline="-30000">
                <a:solidFill>
                  <a:srgbClr val="0000FF"/>
                </a:solidFill>
                <a:latin typeface="黑体" pitchFamily="2" charset="-122"/>
                <a:ea typeface="黑体" pitchFamily="2" charset="-122"/>
              </a:rPr>
              <a:t>1</a:t>
            </a:r>
            <a:r>
              <a:rPr lang="zh-CN" altLang="zh-CN" sz="2400">
                <a:solidFill>
                  <a:srgbClr val="0000FF"/>
                </a:solidFill>
                <a:latin typeface="黑体" pitchFamily="2" charset="-122"/>
                <a:ea typeface="黑体" pitchFamily="2" charset="-122"/>
              </a:rPr>
              <a:t>…</a:t>
            </a:r>
            <a:r>
              <a:rPr lang="zh-CN" altLang="en-US" sz="2400">
                <a:solidFill>
                  <a:srgbClr val="0000FF"/>
                </a:solidFill>
                <a:latin typeface="黑体" pitchFamily="2" charset="-122"/>
                <a:ea typeface="黑体" pitchFamily="2" charset="-122"/>
              </a:rPr>
              <a:t>ｙ</a:t>
            </a:r>
            <a:r>
              <a:rPr lang="zh-CN" altLang="zh-CN" sz="2400" baseline="-30000">
                <a:solidFill>
                  <a:srgbClr val="0000FF"/>
                </a:solidFill>
                <a:latin typeface="黑体" pitchFamily="2" charset="-122"/>
                <a:ea typeface="黑体" pitchFamily="2" charset="-122"/>
              </a:rPr>
              <a:t>1</a:t>
            </a:r>
            <a:r>
              <a:rPr lang="zh-CN" altLang="en-US" sz="2400">
                <a:solidFill>
                  <a:srgbClr val="0000FF"/>
                </a:solidFill>
                <a:latin typeface="黑体" pitchFamily="2" charset="-122"/>
                <a:ea typeface="黑体" pitchFamily="2" charset="-122"/>
              </a:rPr>
              <a:t>ｙ</a:t>
            </a:r>
            <a:r>
              <a:rPr lang="zh-CN" altLang="zh-CN" sz="2400" baseline="-30000">
                <a:solidFill>
                  <a:srgbClr val="0000FF"/>
                </a:solidFill>
                <a:latin typeface="黑体" pitchFamily="2" charset="-122"/>
                <a:ea typeface="黑体" pitchFamily="2" charset="-122"/>
              </a:rPr>
              <a:t>0</a:t>
            </a:r>
            <a:endParaRPr lang="zh-CN" altLang="zh-CN" sz="2400">
              <a:solidFill>
                <a:srgbClr val="0000FF"/>
              </a:solidFill>
              <a:latin typeface="黑体" pitchFamily="2" charset="-122"/>
              <a:ea typeface="黑体" pitchFamily="2" charset="-122"/>
            </a:endParaRPr>
          </a:p>
          <a:p>
            <a:pPr eaLnBrk="0" hangingPunct="0">
              <a:lnSpc>
                <a:spcPct val="150000"/>
              </a:lnSpc>
            </a:pPr>
            <a:r>
              <a:rPr lang="en-US" altLang="zh-CN" sz="2400">
                <a:solidFill>
                  <a:srgbClr val="0000FF"/>
                </a:solidFill>
                <a:latin typeface="黑体" pitchFamily="2" charset="-122"/>
                <a:ea typeface="黑体" pitchFamily="2" charset="-122"/>
              </a:rPr>
              <a:t>    </a:t>
            </a:r>
            <a:r>
              <a:rPr lang="zh-CN" altLang="en-US" sz="2400">
                <a:solidFill>
                  <a:srgbClr val="0000FF"/>
                </a:solidFill>
                <a:latin typeface="黑体" pitchFamily="2" charset="-122"/>
                <a:ea typeface="黑体" pitchFamily="2" charset="-122"/>
              </a:rPr>
              <a:t>则乘积</a:t>
            </a:r>
            <a:r>
              <a:rPr lang="en-US" altLang="zh-CN" sz="2400">
                <a:solidFill>
                  <a:srgbClr val="0000FF"/>
                </a:solidFill>
                <a:latin typeface="黑体" pitchFamily="2" charset="-122"/>
                <a:ea typeface="黑体" pitchFamily="2" charset="-122"/>
              </a:rPr>
              <a:t>  </a:t>
            </a:r>
            <a:r>
              <a:rPr lang="en-US" altLang="zh-CN" sz="2400">
                <a:solidFill>
                  <a:srgbClr val="0000FF"/>
                </a:solidFill>
              </a:rPr>
              <a:t>[</a:t>
            </a:r>
            <a:r>
              <a:rPr lang="zh-CN" altLang="en-US" sz="2400" i="1">
                <a:solidFill>
                  <a:srgbClr val="0000FF"/>
                </a:solidFill>
              </a:rPr>
              <a:t>ｚ</a:t>
            </a:r>
            <a:r>
              <a:rPr lang="en-US" altLang="zh-CN" sz="2400">
                <a:solidFill>
                  <a:srgbClr val="0000FF"/>
                </a:solidFill>
              </a:rPr>
              <a:t>]</a:t>
            </a:r>
            <a:r>
              <a:rPr lang="zh-CN" altLang="en-US" sz="2400" baseline="-25000">
                <a:solidFill>
                  <a:srgbClr val="0000FF"/>
                </a:solidFill>
              </a:rPr>
              <a:t>原</a:t>
            </a:r>
            <a:r>
              <a:rPr lang="zh-CN" altLang="en-US" sz="2400">
                <a:solidFill>
                  <a:srgbClr val="0000FF"/>
                </a:solidFill>
              </a:rPr>
              <a:t>＝</a:t>
            </a:r>
            <a:r>
              <a:rPr lang="en-US" altLang="zh-CN" sz="2400">
                <a:solidFill>
                  <a:srgbClr val="0000FF"/>
                </a:solidFill>
              </a:rPr>
              <a:t>(</a:t>
            </a:r>
            <a:r>
              <a:rPr lang="zh-CN" altLang="en-US" sz="2400" i="1">
                <a:solidFill>
                  <a:srgbClr val="0000FF"/>
                </a:solidFill>
              </a:rPr>
              <a:t>ｘ</a:t>
            </a:r>
            <a:r>
              <a:rPr lang="en-US" altLang="zh-CN" sz="2400" i="1" baseline="-25000">
                <a:solidFill>
                  <a:srgbClr val="0000FF"/>
                </a:solidFill>
              </a:rPr>
              <a:t>f</a:t>
            </a:r>
            <a:r>
              <a:rPr lang="en-US" altLang="zh-CN" sz="2400">
                <a:solidFill>
                  <a:srgbClr val="0000FF"/>
                </a:solidFill>
              </a:rPr>
              <a:t>⊕</a:t>
            </a:r>
            <a:r>
              <a:rPr lang="zh-CN" altLang="en-US" sz="2400" i="1">
                <a:solidFill>
                  <a:srgbClr val="0000FF"/>
                </a:solidFill>
              </a:rPr>
              <a:t>ｙ</a:t>
            </a:r>
            <a:r>
              <a:rPr lang="en-US" altLang="zh-CN" sz="2400" i="1" baseline="-25000">
                <a:solidFill>
                  <a:srgbClr val="0000FF"/>
                </a:solidFill>
              </a:rPr>
              <a:t>f</a:t>
            </a:r>
            <a:r>
              <a:rPr lang="en-US" altLang="zh-CN" sz="2400">
                <a:solidFill>
                  <a:srgbClr val="0000FF"/>
                </a:solidFill>
              </a:rPr>
              <a:t>)</a:t>
            </a:r>
            <a:r>
              <a:rPr lang="zh-CN" altLang="en-US" sz="2400">
                <a:solidFill>
                  <a:srgbClr val="0000FF"/>
                </a:solidFill>
              </a:rPr>
              <a:t>＋</a:t>
            </a:r>
            <a:r>
              <a:rPr lang="en-US" altLang="zh-CN" sz="2400">
                <a:solidFill>
                  <a:srgbClr val="0000FF"/>
                </a:solidFill>
              </a:rPr>
              <a:t>(</a:t>
            </a:r>
            <a:r>
              <a:rPr lang="zh-CN" altLang="en-US" sz="2400" i="1">
                <a:solidFill>
                  <a:srgbClr val="0000FF"/>
                </a:solidFill>
              </a:rPr>
              <a:t>ｘ</a:t>
            </a:r>
            <a:r>
              <a:rPr lang="en-US" altLang="zh-CN" sz="2400" i="1" baseline="-25000">
                <a:solidFill>
                  <a:srgbClr val="0000FF"/>
                </a:solidFill>
              </a:rPr>
              <a:t>n</a:t>
            </a:r>
            <a:r>
              <a:rPr lang="zh-CN" altLang="en-US" sz="2400" i="1" baseline="-25000">
                <a:solidFill>
                  <a:srgbClr val="0000FF"/>
                </a:solidFill>
              </a:rPr>
              <a:t>－</a:t>
            </a:r>
            <a:r>
              <a:rPr lang="en-US" altLang="zh-CN" sz="2400" i="1" baseline="-25000">
                <a:solidFill>
                  <a:srgbClr val="0000FF"/>
                </a:solidFill>
              </a:rPr>
              <a:t>1</a:t>
            </a:r>
            <a:r>
              <a:rPr lang="en-US" altLang="zh-CN" sz="2400" i="1">
                <a:solidFill>
                  <a:srgbClr val="0000FF"/>
                </a:solidFill>
              </a:rPr>
              <a:t>…</a:t>
            </a:r>
            <a:r>
              <a:rPr lang="zh-CN" altLang="en-US" sz="2400" i="1">
                <a:solidFill>
                  <a:srgbClr val="0000FF"/>
                </a:solidFill>
              </a:rPr>
              <a:t>ｘ</a:t>
            </a:r>
            <a:r>
              <a:rPr lang="en-US" altLang="zh-CN" sz="2400" i="1" baseline="-25000">
                <a:solidFill>
                  <a:srgbClr val="0000FF"/>
                </a:solidFill>
              </a:rPr>
              <a:t>1</a:t>
            </a:r>
            <a:r>
              <a:rPr lang="zh-CN" altLang="en-US" sz="2400" i="1">
                <a:solidFill>
                  <a:srgbClr val="0000FF"/>
                </a:solidFill>
              </a:rPr>
              <a:t>ｘ</a:t>
            </a:r>
            <a:r>
              <a:rPr lang="en-US" altLang="zh-CN" sz="2400" i="1" baseline="-25000">
                <a:solidFill>
                  <a:srgbClr val="0000FF"/>
                </a:solidFill>
              </a:rPr>
              <a:t>0</a:t>
            </a:r>
            <a:r>
              <a:rPr lang="en-US" altLang="zh-CN" sz="2400">
                <a:solidFill>
                  <a:srgbClr val="0000FF"/>
                </a:solidFill>
              </a:rPr>
              <a:t>)(</a:t>
            </a:r>
            <a:r>
              <a:rPr lang="zh-CN" altLang="en-US" sz="2400" i="1">
                <a:solidFill>
                  <a:srgbClr val="0000FF"/>
                </a:solidFill>
              </a:rPr>
              <a:t>ｙ</a:t>
            </a:r>
            <a:r>
              <a:rPr lang="en-US" altLang="zh-CN" sz="2400" i="1" baseline="-25000">
                <a:solidFill>
                  <a:srgbClr val="0000FF"/>
                </a:solidFill>
              </a:rPr>
              <a:t>n</a:t>
            </a:r>
            <a:r>
              <a:rPr lang="zh-CN" altLang="en-US" sz="2400" i="1" baseline="-25000">
                <a:solidFill>
                  <a:srgbClr val="0000FF"/>
                </a:solidFill>
              </a:rPr>
              <a:t>－</a:t>
            </a:r>
            <a:r>
              <a:rPr lang="en-US" altLang="zh-CN" sz="2400" i="1" baseline="-25000">
                <a:solidFill>
                  <a:srgbClr val="0000FF"/>
                </a:solidFill>
              </a:rPr>
              <a:t>1</a:t>
            </a:r>
            <a:r>
              <a:rPr lang="en-US" altLang="zh-CN" sz="2400" i="1">
                <a:solidFill>
                  <a:srgbClr val="0000FF"/>
                </a:solidFill>
              </a:rPr>
              <a:t>…</a:t>
            </a:r>
            <a:r>
              <a:rPr lang="zh-CN" altLang="en-US" sz="2400" i="1">
                <a:solidFill>
                  <a:srgbClr val="0000FF"/>
                </a:solidFill>
              </a:rPr>
              <a:t>ｙ</a:t>
            </a:r>
            <a:r>
              <a:rPr lang="en-US" altLang="zh-CN" sz="2400" i="1" baseline="-25000">
                <a:solidFill>
                  <a:srgbClr val="0000FF"/>
                </a:solidFill>
              </a:rPr>
              <a:t>1</a:t>
            </a:r>
            <a:r>
              <a:rPr lang="zh-CN" altLang="en-US" sz="2400" i="1">
                <a:solidFill>
                  <a:srgbClr val="0000FF"/>
                </a:solidFill>
              </a:rPr>
              <a:t>ｙ</a:t>
            </a:r>
            <a:r>
              <a:rPr lang="en-US" altLang="zh-CN" sz="2400" i="1" baseline="-25000">
                <a:solidFill>
                  <a:srgbClr val="0000FF"/>
                </a:solidFill>
              </a:rPr>
              <a:t>0</a:t>
            </a:r>
            <a:r>
              <a:rPr lang="en-US" altLang="zh-CN" sz="2400">
                <a:solidFill>
                  <a:srgbClr val="0000FF"/>
                </a:solidFill>
              </a:rPr>
              <a:t>)</a:t>
            </a:r>
            <a:endParaRPr lang="zh-CN" altLang="en-US" sz="2400">
              <a:solidFill>
                <a:srgbClr val="0000FF"/>
              </a:solidFill>
              <a:latin typeface="黑体" pitchFamily="2" charset="-122"/>
              <a:ea typeface="黑体" pitchFamily="2" charset="-122"/>
            </a:endParaRPr>
          </a:p>
          <a:p>
            <a:pPr eaLnBrk="0" hangingPunct="0">
              <a:lnSpc>
                <a:spcPct val="150000"/>
              </a:lnSpc>
            </a:pPr>
            <a:r>
              <a:rPr lang="en-US" altLang="zh-CN" sz="2400">
                <a:solidFill>
                  <a:srgbClr val="0000FF"/>
                </a:solidFill>
                <a:latin typeface="黑体" pitchFamily="2" charset="-122"/>
                <a:ea typeface="黑体" pitchFamily="2" charset="-122"/>
              </a:rPr>
              <a:t>            </a:t>
            </a:r>
            <a:r>
              <a:rPr lang="zh-CN" altLang="en-US" sz="2400">
                <a:solidFill>
                  <a:srgbClr val="0000FF"/>
                </a:solidFill>
                <a:latin typeface="黑体" pitchFamily="2" charset="-122"/>
                <a:ea typeface="黑体" pitchFamily="2" charset="-122"/>
              </a:rPr>
              <a:t>式中</a:t>
            </a:r>
            <a:r>
              <a:rPr lang="zh-CN" altLang="zh-CN" sz="2400">
                <a:solidFill>
                  <a:srgbClr val="0000FF"/>
                </a:solidFill>
                <a:latin typeface="黑体" pitchFamily="2" charset="-122"/>
                <a:ea typeface="黑体" pitchFamily="2" charset="-122"/>
              </a:rPr>
              <a:t>,</a:t>
            </a:r>
            <a:r>
              <a:rPr lang="zh-CN" altLang="en-US" sz="2400">
                <a:solidFill>
                  <a:srgbClr val="0000FF"/>
                </a:solidFill>
                <a:latin typeface="黑体" pitchFamily="2" charset="-122"/>
                <a:ea typeface="黑体" pitchFamily="2" charset="-122"/>
              </a:rPr>
              <a:t>ｘ</a:t>
            </a:r>
            <a:r>
              <a:rPr lang="zh-CN" altLang="zh-CN" sz="2400" baseline="-30000">
                <a:solidFill>
                  <a:srgbClr val="0000FF"/>
                </a:solidFill>
                <a:latin typeface="黑体" pitchFamily="2" charset="-122"/>
                <a:ea typeface="黑体" pitchFamily="2" charset="-122"/>
              </a:rPr>
              <a:t>f</a:t>
            </a:r>
            <a:r>
              <a:rPr lang="zh-CN" altLang="en-US" sz="2400">
                <a:solidFill>
                  <a:srgbClr val="0000FF"/>
                </a:solidFill>
                <a:latin typeface="黑体" pitchFamily="2" charset="-122"/>
                <a:ea typeface="黑体" pitchFamily="2" charset="-122"/>
              </a:rPr>
              <a:t>为被乘数符号</a:t>
            </a:r>
            <a:r>
              <a:rPr lang="zh-CN" altLang="zh-CN" sz="2400">
                <a:solidFill>
                  <a:srgbClr val="0000FF"/>
                </a:solidFill>
                <a:latin typeface="黑体" pitchFamily="2" charset="-122"/>
                <a:ea typeface="黑体" pitchFamily="2" charset="-122"/>
              </a:rPr>
              <a:t>,</a:t>
            </a:r>
            <a:r>
              <a:rPr lang="zh-CN" altLang="en-US" sz="2400">
                <a:solidFill>
                  <a:srgbClr val="0000FF"/>
                </a:solidFill>
                <a:latin typeface="黑体" pitchFamily="2" charset="-122"/>
                <a:ea typeface="黑体" pitchFamily="2" charset="-122"/>
              </a:rPr>
              <a:t>ｙ</a:t>
            </a:r>
            <a:r>
              <a:rPr lang="zh-CN" altLang="zh-CN" sz="2400" baseline="-30000">
                <a:solidFill>
                  <a:srgbClr val="0000FF"/>
                </a:solidFill>
                <a:latin typeface="黑体" pitchFamily="2" charset="-122"/>
                <a:ea typeface="黑体" pitchFamily="2" charset="-122"/>
              </a:rPr>
              <a:t>f</a:t>
            </a:r>
            <a:r>
              <a:rPr lang="zh-CN" altLang="en-US" sz="2400">
                <a:solidFill>
                  <a:srgbClr val="0000FF"/>
                </a:solidFill>
                <a:latin typeface="黑体" pitchFamily="2" charset="-122"/>
                <a:ea typeface="黑体" pitchFamily="2" charset="-122"/>
              </a:rPr>
              <a:t>为乘数符号。</a:t>
            </a:r>
            <a:endParaRPr lang="zh-CN" alt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228600" y="44450"/>
            <a:ext cx="8569325"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solidFill>
                  <a:srgbClr val="000000"/>
                </a:solidFill>
                <a:latin typeface="黑体" pitchFamily="2" charset="-122"/>
                <a:ea typeface="黑体" pitchFamily="2" charset="-122"/>
              </a:rPr>
              <a:t>　　设ｘ＝1101,ｙ＝1011.用习惯方法求其乘积:</a:t>
            </a:r>
            <a:endParaRPr lang="zh-CN" altLang="zh-CN" sz="2400">
              <a:latin typeface="黑体" pitchFamily="2" charset="-122"/>
              <a:ea typeface="黑体" pitchFamily="2" charset="-122"/>
            </a:endParaRPr>
          </a:p>
          <a:p>
            <a:pPr eaLnBrk="0" hangingPunct="0">
              <a:lnSpc>
                <a:spcPct val="150000"/>
              </a:lnSpc>
            </a:pPr>
            <a:r>
              <a:rPr lang="zh-CN" altLang="zh-CN" sz="2400">
                <a:solidFill>
                  <a:srgbClr val="0000FF"/>
                </a:solidFill>
                <a:latin typeface="黑体" pitchFamily="2" charset="-122"/>
                <a:ea typeface="黑体" pitchFamily="2" charset="-122"/>
              </a:rPr>
              <a:t>  </a:t>
            </a:r>
            <a:endParaRPr lang="en-US" altLang="zh-CN" sz="2400">
              <a:solidFill>
                <a:srgbClr val="0000FF"/>
              </a:solidFill>
              <a:latin typeface="黑体" pitchFamily="2" charset="-122"/>
              <a:ea typeface="黑体" pitchFamily="2" charset="-122"/>
            </a:endParaRPr>
          </a:p>
          <a:p>
            <a:pPr eaLnBrk="0" hangingPunct="0">
              <a:lnSpc>
                <a:spcPct val="150000"/>
              </a:lnSpc>
            </a:pPr>
            <a:endParaRPr lang="en-US" altLang="zh-CN" sz="2400">
              <a:solidFill>
                <a:srgbClr val="0000FF"/>
              </a:solidFill>
              <a:latin typeface="黑体" pitchFamily="2" charset="-122"/>
              <a:ea typeface="黑体" pitchFamily="2" charset="-122"/>
            </a:endParaRPr>
          </a:p>
          <a:p>
            <a:pPr eaLnBrk="0" hangingPunct="0">
              <a:lnSpc>
                <a:spcPct val="150000"/>
              </a:lnSpc>
            </a:pPr>
            <a:endParaRPr lang="en-US" altLang="zh-CN" sz="2400">
              <a:solidFill>
                <a:srgbClr val="0000FF"/>
              </a:solidFill>
              <a:latin typeface="黑体" pitchFamily="2" charset="-122"/>
              <a:ea typeface="黑体" pitchFamily="2" charset="-122"/>
            </a:endParaRPr>
          </a:p>
          <a:p>
            <a:pPr eaLnBrk="0" hangingPunct="0">
              <a:lnSpc>
                <a:spcPct val="150000"/>
              </a:lnSpc>
            </a:pPr>
            <a:r>
              <a:rPr lang="zh-CN" altLang="zh-CN" sz="2400">
                <a:solidFill>
                  <a:srgbClr val="000000"/>
                </a:solidFill>
                <a:latin typeface="黑体" pitchFamily="2" charset="-122"/>
                <a:ea typeface="黑体" pitchFamily="2" charset="-122"/>
              </a:rPr>
              <a:t>　</a:t>
            </a:r>
            <a:endParaRPr lang="en-US" altLang="zh-CN" sz="2400">
              <a:solidFill>
                <a:srgbClr val="000000"/>
              </a:solidFill>
              <a:latin typeface="黑体" pitchFamily="2" charset="-122"/>
              <a:ea typeface="黑体" pitchFamily="2" charset="-122"/>
            </a:endParaRPr>
          </a:p>
          <a:p>
            <a:pPr>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人们习惯的算法对机器并不完全适用。</a:t>
            </a:r>
            <a:r>
              <a:rPr lang="zh-CN" altLang="zh-CN" sz="2400">
                <a:latin typeface="黑体" pitchFamily="2" charset="-122"/>
                <a:ea typeface="黑体" pitchFamily="2" charset="-122"/>
              </a:rPr>
              <a:t>原因之一,机器通常有n位,两个n位数相乘,乘积可能为2n位。原因之二,</a:t>
            </a:r>
            <a:r>
              <a:rPr lang="zh-CN" altLang="en-US" sz="2400">
                <a:latin typeface="黑体" pitchFamily="2" charset="-122"/>
                <a:ea typeface="黑体" pitchFamily="2" charset="-122"/>
              </a:rPr>
              <a:t>乘积的最后是所有部分积之和，有</a:t>
            </a:r>
            <a:r>
              <a:rPr lang="en-US" altLang="zh-CN" sz="2400">
                <a:latin typeface="黑体" pitchFamily="2" charset="-122"/>
                <a:ea typeface="黑体" pitchFamily="2" charset="-122"/>
              </a:rPr>
              <a:t>n</a:t>
            </a:r>
            <a:r>
              <a:rPr lang="zh-CN" altLang="en-US" sz="2400">
                <a:latin typeface="黑体" pitchFamily="2" charset="-122"/>
                <a:ea typeface="黑体" pitchFamily="2" charset="-122"/>
              </a:rPr>
              <a:t>个数相加，而</a:t>
            </a:r>
            <a:r>
              <a:rPr lang="en-US" altLang="zh-CN" sz="2400">
                <a:latin typeface="黑体" pitchFamily="2" charset="-122"/>
                <a:ea typeface="黑体" pitchFamily="2" charset="-122"/>
              </a:rPr>
              <a:t>FA</a:t>
            </a:r>
            <a:r>
              <a:rPr lang="zh-CN" altLang="en-US" sz="2400">
                <a:latin typeface="黑体" pitchFamily="2" charset="-122"/>
                <a:ea typeface="黑体" pitchFamily="2" charset="-122"/>
              </a:rPr>
              <a:t>只有两个输入端。</a:t>
            </a:r>
            <a:endParaRPr lang="en-US" altLang="zh-CN" sz="2400">
              <a:latin typeface="黑体" pitchFamily="2" charset="-122"/>
              <a:ea typeface="黑体" pitchFamily="2" charset="-122"/>
            </a:endParaRPr>
          </a:p>
          <a:p>
            <a:pPr>
              <a:lnSpc>
                <a:spcPct val="15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所以需要改造：</a:t>
            </a:r>
          </a:p>
          <a:p>
            <a:pPr lvl="1">
              <a:lnSpc>
                <a:spcPct val="150000"/>
              </a:lnSpc>
            </a:pPr>
            <a:r>
              <a:rPr lang="zh-CN" altLang="en-US" sz="2400">
                <a:latin typeface="黑体" pitchFamily="2" charset="-122"/>
                <a:ea typeface="黑体" pitchFamily="2" charset="-122"/>
              </a:rPr>
              <a:t> 方法一：硬件实现方法</a:t>
            </a:r>
            <a:r>
              <a:rPr lang="en-US" altLang="zh-CN" sz="2400">
                <a:latin typeface="黑体" pitchFamily="2" charset="-122"/>
                <a:ea typeface="黑体" pitchFamily="2" charset="-122"/>
              </a:rPr>
              <a:t>(</a:t>
            </a:r>
            <a:r>
              <a:rPr lang="zh-CN" altLang="en-US" sz="2400">
                <a:latin typeface="黑体" pitchFamily="2" charset="-122"/>
                <a:ea typeface="黑体" pitchFamily="2" charset="-122"/>
              </a:rPr>
              <a:t>串行的“加法和移位”</a:t>
            </a:r>
            <a:r>
              <a:rPr lang="en-US" altLang="zh-CN" sz="2400">
                <a:latin typeface="黑体" pitchFamily="2" charset="-122"/>
                <a:ea typeface="黑体" pitchFamily="2" charset="-122"/>
              </a:rPr>
              <a:t>),</a:t>
            </a:r>
            <a:r>
              <a:rPr lang="zh-CN" altLang="en-US" sz="2400">
                <a:latin typeface="黑体" pitchFamily="2" charset="-122"/>
                <a:ea typeface="黑体" pitchFamily="2" charset="-122"/>
              </a:rPr>
              <a:t>硬件</a:t>
            </a:r>
          </a:p>
          <a:p>
            <a:pPr lvl="1">
              <a:lnSpc>
                <a:spcPct val="150000"/>
              </a:lnSpc>
              <a:buFont typeface="Wingdings" pitchFamily="2" charset="2"/>
              <a:buNone/>
            </a:pPr>
            <a:r>
              <a:rPr lang="zh-CN" altLang="en-US" sz="2400">
                <a:latin typeface="黑体" pitchFamily="2" charset="-122"/>
                <a:ea typeface="黑体" pitchFamily="2" charset="-122"/>
              </a:rPr>
              <a:t>         结构简单</a:t>
            </a:r>
            <a:r>
              <a:rPr lang="en-US" altLang="zh-CN" sz="2400">
                <a:latin typeface="黑体" pitchFamily="2" charset="-122"/>
                <a:ea typeface="黑体" pitchFamily="2" charset="-122"/>
              </a:rPr>
              <a:t>,</a:t>
            </a:r>
            <a:r>
              <a:rPr lang="zh-CN" altLang="en-US" sz="2400">
                <a:latin typeface="黑体" pitchFamily="2" charset="-122"/>
                <a:ea typeface="黑体" pitchFamily="2" charset="-122"/>
              </a:rPr>
              <a:t>速度太慢</a:t>
            </a:r>
            <a:r>
              <a:rPr lang="en-US" altLang="zh-CN" sz="2400">
                <a:latin typeface="黑体" pitchFamily="2" charset="-122"/>
                <a:ea typeface="黑体" pitchFamily="2" charset="-122"/>
              </a:rPr>
              <a:t>(</a:t>
            </a:r>
            <a:r>
              <a:rPr lang="zh-CN" altLang="en-US" sz="2400">
                <a:latin typeface="黑体" pitchFamily="2" charset="-122"/>
                <a:ea typeface="黑体" pitchFamily="2" charset="-122"/>
              </a:rPr>
              <a:t>时间延迟太长</a:t>
            </a:r>
            <a:r>
              <a:rPr lang="en-US" altLang="zh-CN" sz="2400">
                <a:latin typeface="黑体" pitchFamily="2" charset="-122"/>
                <a:ea typeface="黑体" pitchFamily="2" charset="-122"/>
              </a:rPr>
              <a:t>).</a:t>
            </a:r>
          </a:p>
          <a:p>
            <a:pPr lvl="1">
              <a:lnSpc>
                <a:spcPct val="150000"/>
              </a:lnSpc>
            </a:pPr>
            <a:r>
              <a:rPr lang="zh-CN" altLang="en-US" sz="2400">
                <a:latin typeface="黑体" pitchFamily="2" charset="-122"/>
                <a:ea typeface="黑体" pitchFamily="2" charset="-122"/>
              </a:rPr>
              <a:t> 方法二：阵列乘法器（并行乘法器）</a:t>
            </a:r>
            <a:endParaRPr lang="zh-CN" altLang="zh-CN" sz="2400" i="1">
              <a:latin typeface="黑体" pitchFamily="2" charset="-122"/>
              <a:ea typeface="黑体" pitchFamily="2" charset="-122"/>
            </a:endParaRPr>
          </a:p>
        </p:txBody>
      </p:sp>
      <p:pic>
        <p:nvPicPr>
          <p:cNvPr id="6144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908050"/>
            <a:ext cx="3960813"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9" name="Rectangle 3"/>
          <p:cNvSpPr>
            <a:spLocks noGrp="1" noChangeArrowheads="1"/>
          </p:cNvSpPr>
          <p:nvPr>
            <p:ph type="body" idx="1"/>
          </p:nvPr>
        </p:nvSpPr>
        <p:spPr>
          <a:xfrm>
            <a:off x="179388" y="260350"/>
            <a:ext cx="8497887" cy="6481763"/>
          </a:xfrm>
        </p:spPr>
        <p:txBody>
          <a:bodyPr/>
          <a:lstStyle/>
          <a:p>
            <a:pPr>
              <a:buFont typeface="Wingdings" pitchFamily="2" charset="2"/>
              <a:buNone/>
            </a:pPr>
            <a:r>
              <a:rPr lang="zh-CN" altLang="en-US" sz="1800" dirty="0" smtClean="0">
                <a:latin typeface="黑体" pitchFamily="2" charset="-122"/>
                <a:ea typeface="黑体" pitchFamily="2" charset="-122"/>
              </a:rPr>
              <a:t>设ｘ＝</a:t>
            </a:r>
            <a:r>
              <a:rPr lang="zh-CN" altLang="zh-CN" sz="1800" dirty="0" smtClean="0">
                <a:solidFill>
                  <a:srgbClr val="000000"/>
                </a:solidFill>
                <a:latin typeface="黑体" pitchFamily="2" charset="-122"/>
                <a:ea typeface="黑体" pitchFamily="2" charset="-122"/>
              </a:rPr>
              <a:t>1101,ｙ＝1011</a:t>
            </a:r>
            <a:r>
              <a:rPr lang="en-US" altLang="zh-CN" sz="1800" dirty="0" smtClean="0">
                <a:solidFill>
                  <a:srgbClr val="000000"/>
                </a:solidFill>
                <a:latin typeface="黑体" pitchFamily="2" charset="-122"/>
                <a:ea typeface="黑体" pitchFamily="2" charset="-122"/>
              </a:rPr>
              <a:t> </a:t>
            </a:r>
            <a:r>
              <a:rPr lang="zh-CN" altLang="en-US" sz="1800" dirty="0" smtClean="0">
                <a:latin typeface="黑体" pitchFamily="2" charset="-122"/>
                <a:ea typeface="黑体" pitchFamily="2" charset="-122"/>
              </a:rPr>
              <a:t>　求</a:t>
            </a:r>
            <a:r>
              <a:rPr lang="en-US" altLang="zh-CN" sz="1800" dirty="0" smtClean="0">
                <a:latin typeface="黑体" pitchFamily="2" charset="-122"/>
                <a:ea typeface="黑体" pitchFamily="2" charset="-122"/>
              </a:rPr>
              <a:t>x*y</a:t>
            </a:r>
          </a:p>
          <a:p>
            <a:pPr>
              <a:buFont typeface="Wingdings" pitchFamily="2" charset="2"/>
              <a:buNone/>
            </a:pPr>
            <a:r>
              <a:rPr lang="en-US" altLang="zh-CN" sz="1800" dirty="0" smtClean="0">
                <a:latin typeface="黑体" pitchFamily="2" charset="-122"/>
                <a:ea typeface="黑体" pitchFamily="2" charset="-122"/>
              </a:rPr>
              <a:t>   </a:t>
            </a:r>
            <a:r>
              <a:rPr lang="zh-CN" altLang="en-US" sz="1800" dirty="0" smtClean="0">
                <a:latin typeface="黑体" pitchFamily="2" charset="-122"/>
                <a:ea typeface="黑体" pitchFamily="2" charset="-122"/>
              </a:rPr>
              <a:t>部分积   乘数　 部分积初始化为０</a:t>
            </a:r>
          </a:p>
          <a:p>
            <a:pPr>
              <a:buFont typeface="Wingdings" pitchFamily="2" charset="2"/>
              <a:buNone/>
            </a:pPr>
            <a:r>
              <a:rPr lang="zh-CN" altLang="en-US" sz="1800" dirty="0" smtClean="0">
                <a:latin typeface="黑体" pitchFamily="2" charset="-122"/>
                <a:ea typeface="黑体" pitchFamily="2" charset="-122"/>
              </a:rPr>
              <a:t>	</a:t>
            </a:r>
            <a:r>
              <a:rPr lang="en-US" altLang="zh-CN" sz="1800" dirty="0" smtClean="0">
                <a:latin typeface="黑体" pitchFamily="2" charset="-122"/>
                <a:ea typeface="黑体" pitchFamily="2" charset="-122"/>
              </a:rPr>
              <a:t> 0000    </a:t>
            </a:r>
            <a:r>
              <a:rPr lang="en-US" altLang="zh-CN" sz="1800" dirty="0" smtClean="0">
                <a:solidFill>
                  <a:srgbClr val="FF0000"/>
                </a:solidFill>
                <a:latin typeface="黑体" pitchFamily="2" charset="-122"/>
                <a:ea typeface="黑体" pitchFamily="2" charset="-122"/>
              </a:rPr>
              <a:t>1011 </a:t>
            </a:r>
            <a:r>
              <a:rPr lang="zh-CN" altLang="en-US" sz="1800" dirty="0" smtClean="0">
                <a:solidFill>
                  <a:srgbClr val="0000FF"/>
                </a:solidFill>
                <a:latin typeface="黑体" pitchFamily="2" charset="-122"/>
                <a:ea typeface="黑体" pitchFamily="2" charset="-122"/>
              </a:rPr>
              <a:t>   </a:t>
            </a:r>
          </a:p>
          <a:p>
            <a:pPr>
              <a:buFont typeface="Wingdings" pitchFamily="2" charset="2"/>
              <a:buNone/>
            </a:pPr>
            <a:r>
              <a:rPr lang="en-US" altLang="zh-CN" sz="1800" dirty="0" smtClean="0">
                <a:latin typeface="黑体" pitchFamily="2" charset="-122"/>
                <a:ea typeface="黑体" pitchFamily="2" charset="-122"/>
              </a:rPr>
              <a:t>+X	 1101           </a:t>
            </a:r>
            <a:r>
              <a:rPr lang="zh-CN" altLang="en-US" sz="1800" dirty="0" smtClean="0">
                <a:latin typeface="黑体" pitchFamily="2" charset="-122"/>
                <a:ea typeface="黑体" pitchFamily="2" charset="-122"/>
              </a:rPr>
              <a:t>乘数最低位为</a:t>
            </a:r>
            <a:r>
              <a:rPr lang="zh-CN" altLang="en-US" sz="1800" dirty="0" smtClean="0">
                <a:solidFill>
                  <a:srgbClr val="0000FF"/>
                </a:solidFill>
                <a:latin typeface="黑体" pitchFamily="2" charset="-122"/>
                <a:ea typeface="黑体" pitchFamily="2" charset="-122"/>
              </a:rPr>
              <a:t>１，</a:t>
            </a:r>
            <a:r>
              <a:rPr lang="zh-CN" altLang="en-US" sz="1800" dirty="0" smtClean="0">
                <a:latin typeface="黑体" pitchFamily="2" charset="-122"/>
                <a:ea typeface="黑体" pitchFamily="2" charset="-122"/>
              </a:rPr>
              <a:t>加上被乘数</a:t>
            </a:r>
          </a:p>
          <a:p>
            <a:pPr>
              <a:buFont typeface="Wingdings" pitchFamily="2" charset="2"/>
              <a:buNone/>
            </a:pPr>
            <a:r>
              <a:rPr lang="en-US" altLang="zh-CN" sz="1800" dirty="0" smtClean="0">
                <a:latin typeface="黑体" pitchFamily="2" charset="-122"/>
                <a:ea typeface="黑体" pitchFamily="2" charset="-122"/>
              </a:rPr>
              <a:t>------------------------------------------</a:t>
            </a:r>
          </a:p>
          <a:p>
            <a:pPr>
              <a:buFont typeface="Wingdings" pitchFamily="2" charset="2"/>
              <a:buNone/>
            </a:pPr>
            <a:r>
              <a:rPr lang="en-US" altLang="zh-CN" sz="1800" dirty="0" smtClean="0">
                <a:latin typeface="黑体" pitchFamily="2" charset="-122"/>
                <a:ea typeface="黑体" pitchFamily="2" charset="-122"/>
              </a:rPr>
              <a:t>	 1101    </a:t>
            </a:r>
            <a:r>
              <a:rPr lang="en-US" altLang="zh-CN" sz="1800" dirty="0" smtClean="0">
                <a:solidFill>
                  <a:srgbClr val="FF0000"/>
                </a:solidFill>
                <a:latin typeface="黑体" pitchFamily="2" charset="-122"/>
                <a:ea typeface="黑体" pitchFamily="2" charset="-122"/>
              </a:rPr>
              <a:t>1011</a:t>
            </a:r>
            <a:r>
              <a:rPr lang="zh-CN" altLang="en-US" sz="1800" dirty="0" smtClean="0">
                <a:latin typeface="黑体" pitchFamily="2" charset="-122"/>
                <a:ea typeface="黑体" pitchFamily="2" charset="-122"/>
              </a:rPr>
              <a:t>　 部分积右移</a:t>
            </a:r>
            <a:endParaRPr lang="en-US" altLang="zh-CN" sz="1800" dirty="0" smtClean="0">
              <a:latin typeface="黑体" pitchFamily="2" charset="-122"/>
              <a:ea typeface="黑体" pitchFamily="2" charset="-122"/>
            </a:endParaRPr>
          </a:p>
          <a:p>
            <a:pPr>
              <a:buFont typeface="Wingdings" pitchFamily="2" charset="2"/>
              <a:buNone/>
            </a:pPr>
            <a:r>
              <a:rPr lang="zh-CN" altLang="en-US" sz="1800" dirty="0" smtClean="0">
                <a:latin typeface="黑体" pitchFamily="2" charset="-122"/>
                <a:ea typeface="黑体" pitchFamily="2" charset="-122"/>
              </a:rPr>
              <a:t>	</a:t>
            </a:r>
            <a:r>
              <a:rPr lang="en-US" altLang="zh-CN" sz="1800" dirty="0" smtClean="0">
                <a:latin typeface="黑体" pitchFamily="2" charset="-122"/>
                <a:ea typeface="黑体" pitchFamily="2" charset="-122"/>
              </a:rPr>
              <a:t> 0110    1</a:t>
            </a:r>
            <a:r>
              <a:rPr lang="en-US" altLang="zh-CN" sz="1800" dirty="0" smtClean="0">
                <a:solidFill>
                  <a:srgbClr val="FF0000"/>
                </a:solidFill>
                <a:latin typeface="黑体" pitchFamily="2" charset="-122"/>
                <a:ea typeface="黑体" pitchFamily="2" charset="-122"/>
              </a:rPr>
              <a:t>101   </a:t>
            </a:r>
            <a:r>
              <a:rPr lang="zh-CN" altLang="en-US" sz="1800" dirty="0" smtClean="0">
                <a:latin typeface="黑体" pitchFamily="2" charset="-122"/>
                <a:ea typeface="黑体" pitchFamily="2" charset="-122"/>
              </a:rPr>
              <a:t>乘数最低位为</a:t>
            </a:r>
            <a:r>
              <a:rPr lang="zh-CN" altLang="en-US" sz="1800" dirty="0" smtClean="0">
                <a:solidFill>
                  <a:srgbClr val="0000FF"/>
                </a:solidFill>
                <a:latin typeface="黑体" pitchFamily="2" charset="-122"/>
                <a:ea typeface="黑体" pitchFamily="2" charset="-122"/>
              </a:rPr>
              <a:t>１，</a:t>
            </a:r>
            <a:r>
              <a:rPr lang="zh-CN" altLang="en-US" sz="1800" dirty="0" smtClean="0">
                <a:latin typeface="黑体" pitchFamily="2" charset="-122"/>
                <a:ea typeface="黑体" pitchFamily="2" charset="-122"/>
              </a:rPr>
              <a:t>加上被乘数</a:t>
            </a:r>
            <a:endParaRPr lang="zh-CN" altLang="en-US" sz="1800" dirty="0" smtClean="0">
              <a:solidFill>
                <a:srgbClr val="0000FF"/>
              </a:solidFill>
              <a:latin typeface="黑体" pitchFamily="2" charset="-122"/>
              <a:ea typeface="黑体" pitchFamily="2" charset="-122"/>
            </a:endParaRPr>
          </a:p>
          <a:p>
            <a:pPr>
              <a:buFont typeface="Wingdings" pitchFamily="2" charset="2"/>
              <a:buNone/>
            </a:pPr>
            <a:r>
              <a:rPr lang="en-US" altLang="zh-CN" sz="1800" dirty="0" smtClean="0">
                <a:latin typeface="黑体" pitchFamily="2" charset="-122"/>
                <a:ea typeface="黑体" pitchFamily="2" charset="-122"/>
              </a:rPr>
              <a:t>+X	 1101</a:t>
            </a:r>
          </a:p>
          <a:p>
            <a:pPr>
              <a:buFont typeface="Wingdings" pitchFamily="2" charset="2"/>
              <a:buNone/>
            </a:pPr>
            <a:r>
              <a:rPr lang="en-US" altLang="zh-CN" sz="1800" dirty="0" smtClean="0">
                <a:latin typeface="黑体" pitchFamily="2" charset="-122"/>
                <a:ea typeface="黑体" pitchFamily="2" charset="-122"/>
              </a:rPr>
              <a:t>------------------------------------------</a:t>
            </a:r>
          </a:p>
          <a:p>
            <a:pPr>
              <a:buFont typeface="Wingdings" pitchFamily="2" charset="2"/>
              <a:buNone/>
            </a:pPr>
            <a:r>
              <a:rPr lang="en-US" altLang="zh-CN" sz="1800" dirty="0" smtClean="0">
                <a:latin typeface="黑体" pitchFamily="2" charset="-122"/>
                <a:ea typeface="黑体" pitchFamily="2" charset="-122"/>
              </a:rPr>
              <a:t>   10011    1</a:t>
            </a:r>
            <a:r>
              <a:rPr lang="en-US" altLang="zh-CN" sz="1800" dirty="0" smtClean="0">
                <a:solidFill>
                  <a:srgbClr val="FF0000"/>
                </a:solidFill>
                <a:latin typeface="黑体" pitchFamily="2" charset="-122"/>
                <a:ea typeface="黑体" pitchFamily="2" charset="-122"/>
              </a:rPr>
              <a:t>101</a:t>
            </a:r>
            <a:r>
              <a:rPr lang="zh-CN" altLang="en-US" sz="1800" dirty="0" smtClean="0">
                <a:latin typeface="黑体" pitchFamily="2" charset="-122"/>
                <a:ea typeface="黑体" pitchFamily="2" charset="-122"/>
              </a:rPr>
              <a:t>　 部分积右移</a:t>
            </a:r>
            <a:endParaRPr lang="en-US" altLang="zh-CN" sz="1800" dirty="0" smtClean="0">
              <a:latin typeface="黑体" pitchFamily="2" charset="-122"/>
              <a:ea typeface="黑体" pitchFamily="2" charset="-122"/>
            </a:endParaRPr>
          </a:p>
          <a:p>
            <a:pPr>
              <a:buFont typeface="Wingdings" pitchFamily="2" charset="2"/>
              <a:buNone/>
            </a:pPr>
            <a:r>
              <a:rPr lang="zh-CN" altLang="en-US" sz="1800" dirty="0" smtClean="0">
                <a:latin typeface="黑体" pitchFamily="2" charset="-122"/>
                <a:ea typeface="黑体" pitchFamily="2" charset="-122"/>
              </a:rPr>
              <a:t>	 </a:t>
            </a:r>
            <a:r>
              <a:rPr lang="en-US" altLang="zh-CN" sz="1800" dirty="0" smtClean="0">
                <a:latin typeface="黑体" pitchFamily="2" charset="-122"/>
                <a:ea typeface="黑体" pitchFamily="2" charset="-122"/>
              </a:rPr>
              <a:t>1001    11</a:t>
            </a:r>
            <a:r>
              <a:rPr lang="en-US" altLang="zh-CN" sz="1800" dirty="0" smtClean="0">
                <a:solidFill>
                  <a:srgbClr val="FF0000"/>
                </a:solidFill>
                <a:latin typeface="黑体" pitchFamily="2" charset="-122"/>
                <a:ea typeface="黑体" pitchFamily="2" charset="-122"/>
              </a:rPr>
              <a:t>10</a:t>
            </a:r>
            <a:r>
              <a:rPr lang="en-US" altLang="zh-CN" sz="1800" dirty="0" smtClean="0">
                <a:latin typeface="黑体" pitchFamily="2" charset="-122"/>
                <a:ea typeface="黑体" pitchFamily="2" charset="-122"/>
              </a:rPr>
              <a:t> </a:t>
            </a:r>
            <a:r>
              <a:rPr lang="zh-CN" altLang="en-US" sz="1800" dirty="0" smtClean="0">
                <a:solidFill>
                  <a:srgbClr val="0000FF"/>
                </a:solidFill>
                <a:latin typeface="黑体" pitchFamily="2" charset="-122"/>
                <a:ea typeface="黑体" pitchFamily="2" charset="-122"/>
              </a:rPr>
              <a:t>  </a:t>
            </a:r>
            <a:r>
              <a:rPr lang="zh-CN" altLang="en-US" sz="1800" dirty="0" smtClean="0">
                <a:latin typeface="黑体" pitchFamily="2" charset="-122"/>
                <a:ea typeface="黑体" pitchFamily="2" charset="-122"/>
              </a:rPr>
              <a:t>乘数最低位为</a:t>
            </a:r>
            <a:r>
              <a:rPr lang="en-US" altLang="zh-CN" sz="1800" dirty="0" smtClean="0">
                <a:latin typeface="黑体" pitchFamily="2" charset="-122"/>
                <a:ea typeface="黑体" pitchFamily="2" charset="-122"/>
              </a:rPr>
              <a:t>0</a:t>
            </a:r>
            <a:r>
              <a:rPr lang="zh-CN" altLang="en-US" sz="1800" dirty="0" smtClean="0">
                <a:solidFill>
                  <a:srgbClr val="0000FF"/>
                </a:solidFill>
                <a:latin typeface="黑体" pitchFamily="2" charset="-122"/>
                <a:ea typeface="黑体" pitchFamily="2" charset="-122"/>
              </a:rPr>
              <a:t>，</a:t>
            </a:r>
            <a:r>
              <a:rPr lang="zh-CN" altLang="en-US" sz="1800" dirty="0" smtClean="0">
                <a:latin typeface="黑体" pitchFamily="2" charset="-122"/>
                <a:ea typeface="黑体" pitchFamily="2" charset="-122"/>
              </a:rPr>
              <a:t>加上</a:t>
            </a:r>
            <a:r>
              <a:rPr lang="en-US" altLang="zh-CN" sz="1800" dirty="0" smtClean="0">
                <a:latin typeface="黑体" pitchFamily="2" charset="-122"/>
                <a:ea typeface="黑体" pitchFamily="2" charset="-122"/>
              </a:rPr>
              <a:t>0</a:t>
            </a:r>
            <a:endParaRPr lang="zh-CN" altLang="en-US" sz="1800" dirty="0" smtClean="0">
              <a:solidFill>
                <a:srgbClr val="0000FF"/>
              </a:solidFill>
              <a:latin typeface="黑体" pitchFamily="2" charset="-122"/>
              <a:ea typeface="黑体" pitchFamily="2" charset="-122"/>
            </a:endParaRPr>
          </a:p>
          <a:p>
            <a:pPr>
              <a:buFont typeface="Wingdings" pitchFamily="2" charset="2"/>
              <a:buNone/>
            </a:pPr>
            <a:r>
              <a:rPr lang="en-US" altLang="zh-CN" sz="1800" dirty="0" smtClean="0">
                <a:latin typeface="黑体" pitchFamily="2" charset="-122"/>
                <a:ea typeface="黑体" pitchFamily="2" charset="-122"/>
              </a:rPr>
              <a:t>+0	 0000</a:t>
            </a:r>
          </a:p>
          <a:p>
            <a:pPr>
              <a:buFont typeface="Wingdings" pitchFamily="2" charset="2"/>
              <a:buNone/>
            </a:pPr>
            <a:r>
              <a:rPr lang="en-US" altLang="zh-CN" sz="1800" dirty="0" smtClean="0">
                <a:latin typeface="黑体" pitchFamily="2" charset="-122"/>
                <a:ea typeface="黑体" pitchFamily="2" charset="-122"/>
              </a:rPr>
              <a:t>------------------------------------------</a:t>
            </a:r>
          </a:p>
          <a:p>
            <a:pPr>
              <a:buFont typeface="Wingdings" pitchFamily="2" charset="2"/>
              <a:buNone/>
            </a:pPr>
            <a:r>
              <a:rPr lang="en-US" altLang="zh-CN" sz="1800" dirty="0" smtClean="0">
                <a:latin typeface="黑体" pitchFamily="2" charset="-122"/>
                <a:ea typeface="黑体" pitchFamily="2" charset="-122"/>
              </a:rPr>
              <a:t>    1001    11</a:t>
            </a:r>
            <a:r>
              <a:rPr lang="en-US" altLang="zh-CN" sz="1800" dirty="0" smtClean="0">
                <a:solidFill>
                  <a:srgbClr val="FF0000"/>
                </a:solidFill>
                <a:latin typeface="黑体" pitchFamily="2" charset="-122"/>
                <a:ea typeface="黑体" pitchFamily="2" charset="-122"/>
              </a:rPr>
              <a:t>10</a:t>
            </a:r>
            <a:r>
              <a:rPr lang="zh-CN" altLang="en-US" sz="1800" dirty="0" smtClean="0">
                <a:latin typeface="黑体" pitchFamily="2" charset="-122"/>
                <a:ea typeface="黑体" pitchFamily="2" charset="-122"/>
              </a:rPr>
              <a:t>　　部分积右移</a:t>
            </a:r>
            <a:endParaRPr lang="en-US" altLang="zh-CN" sz="1800" dirty="0" smtClean="0">
              <a:latin typeface="黑体" pitchFamily="2" charset="-122"/>
              <a:ea typeface="黑体" pitchFamily="2" charset="-122"/>
            </a:endParaRPr>
          </a:p>
          <a:p>
            <a:pPr>
              <a:buFont typeface="Wingdings" pitchFamily="2" charset="2"/>
              <a:buNone/>
            </a:pPr>
            <a:r>
              <a:rPr lang="zh-CN" altLang="en-US" sz="1800" dirty="0" smtClean="0">
                <a:latin typeface="黑体" pitchFamily="2" charset="-122"/>
                <a:ea typeface="黑体" pitchFamily="2" charset="-122"/>
              </a:rPr>
              <a:t>	 </a:t>
            </a:r>
            <a:r>
              <a:rPr lang="en-US" altLang="zh-CN" sz="1800" dirty="0" smtClean="0">
                <a:latin typeface="黑体" pitchFamily="2" charset="-122"/>
                <a:ea typeface="黑体" pitchFamily="2" charset="-122"/>
              </a:rPr>
              <a:t>0100    111</a:t>
            </a:r>
            <a:r>
              <a:rPr lang="en-US" altLang="zh-CN" sz="1800" dirty="0" smtClean="0">
                <a:solidFill>
                  <a:srgbClr val="FF0000"/>
                </a:solidFill>
                <a:latin typeface="黑体" pitchFamily="2" charset="-122"/>
                <a:ea typeface="黑体" pitchFamily="2" charset="-122"/>
              </a:rPr>
              <a:t>1</a:t>
            </a:r>
            <a:r>
              <a:rPr lang="zh-CN" altLang="en-US" sz="1800" dirty="0" smtClean="0">
                <a:solidFill>
                  <a:srgbClr val="0000FF"/>
                </a:solidFill>
                <a:latin typeface="黑体" pitchFamily="2" charset="-122"/>
                <a:ea typeface="黑体" pitchFamily="2" charset="-122"/>
              </a:rPr>
              <a:t>　　</a:t>
            </a:r>
            <a:r>
              <a:rPr lang="zh-CN" altLang="en-US" sz="1800" dirty="0" smtClean="0">
                <a:latin typeface="黑体" pitchFamily="2" charset="-122"/>
                <a:ea typeface="黑体" pitchFamily="2" charset="-122"/>
              </a:rPr>
              <a:t>乘数最低位为</a:t>
            </a:r>
            <a:r>
              <a:rPr lang="zh-CN" altLang="en-US" sz="1800" dirty="0" smtClean="0">
                <a:solidFill>
                  <a:srgbClr val="0000FF"/>
                </a:solidFill>
                <a:latin typeface="黑体" pitchFamily="2" charset="-122"/>
                <a:ea typeface="黑体" pitchFamily="2" charset="-122"/>
              </a:rPr>
              <a:t>１，</a:t>
            </a:r>
            <a:r>
              <a:rPr lang="zh-CN" altLang="en-US" sz="1800" dirty="0" smtClean="0">
                <a:latin typeface="黑体" pitchFamily="2" charset="-122"/>
                <a:ea typeface="黑体" pitchFamily="2" charset="-122"/>
              </a:rPr>
              <a:t>加上被乘数</a:t>
            </a:r>
            <a:endParaRPr lang="zh-CN" altLang="en-US" sz="1800" dirty="0" smtClean="0">
              <a:solidFill>
                <a:srgbClr val="0000FF"/>
              </a:solidFill>
              <a:latin typeface="黑体" pitchFamily="2" charset="-122"/>
              <a:ea typeface="黑体" pitchFamily="2" charset="-122"/>
            </a:endParaRPr>
          </a:p>
          <a:p>
            <a:pPr>
              <a:buFont typeface="Wingdings" pitchFamily="2" charset="2"/>
              <a:buNone/>
            </a:pPr>
            <a:r>
              <a:rPr lang="en-US" altLang="zh-CN" sz="1800" dirty="0" smtClean="0">
                <a:latin typeface="黑体" pitchFamily="2" charset="-122"/>
                <a:ea typeface="黑体" pitchFamily="2" charset="-122"/>
              </a:rPr>
              <a:t>+X	 1101</a:t>
            </a:r>
          </a:p>
          <a:p>
            <a:pPr>
              <a:buFont typeface="Wingdings" pitchFamily="2" charset="2"/>
              <a:buNone/>
            </a:pPr>
            <a:r>
              <a:rPr lang="en-US" altLang="zh-CN" sz="1800" dirty="0" smtClean="0">
                <a:latin typeface="黑体" pitchFamily="2" charset="-122"/>
                <a:ea typeface="黑体" pitchFamily="2" charset="-122"/>
              </a:rPr>
              <a:t>------------------------------------------ </a:t>
            </a:r>
          </a:p>
          <a:p>
            <a:pPr>
              <a:buFont typeface="Wingdings" pitchFamily="2" charset="2"/>
              <a:buNone/>
            </a:pPr>
            <a:r>
              <a:rPr lang="en-US" altLang="zh-CN" sz="1800" dirty="0" smtClean="0">
                <a:latin typeface="黑体" pitchFamily="2" charset="-122"/>
                <a:ea typeface="黑体" pitchFamily="2" charset="-122"/>
              </a:rPr>
              <a:t>   10001    111</a:t>
            </a:r>
            <a:r>
              <a:rPr lang="en-US" altLang="zh-CN" sz="1800" dirty="0" smtClean="0">
                <a:solidFill>
                  <a:srgbClr val="FF0000"/>
                </a:solidFill>
                <a:latin typeface="黑体" pitchFamily="2" charset="-122"/>
                <a:ea typeface="黑体" pitchFamily="2" charset="-122"/>
              </a:rPr>
              <a:t>1</a:t>
            </a:r>
            <a:r>
              <a:rPr lang="zh-CN" altLang="en-US" sz="1800" dirty="0" smtClean="0">
                <a:latin typeface="黑体" pitchFamily="2" charset="-122"/>
                <a:ea typeface="黑体" pitchFamily="2" charset="-122"/>
              </a:rPr>
              <a:t>　  部分积右移</a:t>
            </a:r>
            <a:endParaRPr lang="en-US" altLang="zh-CN" sz="1800" dirty="0" smtClean="0">
              <a:latin typeface="黑体" pitchFamily="2" charset="-122"/>
              <a:ea typeface="黑体" pitchFamily="2" charset="-122"/>
            </a:endParaRPr>
          </a:p>
          <a:p>
            <a:pPr>
              <a:buFont typeface="Wingdings" pitchFamily="2" charset="2"/>
              <a:buNone/>
            </a:pPr>
            <a:r>
              <a:rPr lang="zh-CN" altLang="en-US" sz="1800" dirty="0" smtClean="0">
                <a:latin typeface="黑体" pitchFamily="2" charset="-122"/>
                <a:ea typeface="黑体" pitchFamily="2" charset="-122"/>
              </a:rPr>
              <a:t>    </a:t>
            </a:r>
            <a:r>
              <a:rPr lang="en-US" altLang="zh-CN" sz="1800" dirty="0" smtClean="0">
                <a:latin typeface="黑体" pitchFamily="2" charset="-122"/>
                <a:ea typeface="黑体" pitchFamily="2" charset="-122"/>
              </a:rPr>
              <a:t>1000    1111 </a:t>
            </a:r>
            <a:r>
              <a:rPr lang="zh-CN" altLang="en-US" sz="1800" dirty="0" smtClean="0">
                <a:solidFill>
                  <a:srgbClr val="FF3300"/>
                </a:solidFill>
                <a:latin typeface="黑体" pitchFamily="2" charset="-122"/>
                <a:ea typeface="黑体" pitchFamily="2" charset="-122"/>
              </a:rPr>
              <a:t>　 </a:t>
            </a:r>
            <a:r>
              <a:rPr lang="zh-CN" altLang="en-US" sz="1800" dirty="0" smtClean="0">
                <a:latin typeface="黑体" pitchFamily="2" charset="-122"/>
                <a:ea typeface="黑体" pitchFamily="2" charset="-122"/>
              </a:rPr>
              <a:t>运算四次结束，数值部分运算</a:t>
            </a:r>
          </a:p>
        </p:txBody>
      </p:sp>
      <p:pic>
        <p:nvPicPr>
          <p:cNvPr id="6246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563" y="1844675"/>
            <a:ext cx="3519487"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 calcmode="lin" valueType="num">
                                      <p:cBhvr additive="base">
                                        <p:cTn id="7" dur="500" fill="hold"/>
                                        <p:tgtEl>
                                          <p:spTgt spid="860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0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019">
                                            <p:txEl>
                                              <p:pRg st="1" end="1"/>
                                            </p:txEl>
                                          </p:spTgt>
                                        </p:tgtEl>
                                        <p:attrNameLst>
                                          <p:attrName>style.visibility</p:attrName>
                                        </p:attrNameLst>
                                      </p:cBhvr>
                                      <p:to>
                                        <p:strVal val="visible"/>
                                      </p:to>
                                    </p:set>
                                    <p:anim calcmode="lin" valueType="num">
                                      <p:cBhvr additive="base">
                                        <p:cTn id="13" dur="500" fill="hold"/>
                                        <p:tgtEl>
                                          <p:spTgt spid="860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60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6019">
                                            <p:txEl>
                                              <p:pRg st="2" end="2"/>
                                            </p:txEl>
                                          </p:spTgt>
                                        </p:tgtEl>
                                        <p:attrNameLst>
                                          <p:attrName>style.visibility</p:attrName>
                                        </p:attrNameLst>
                                      </p:cBhvr>
                                      <p:to>
                                        <p:strVal val="visible"/>
                                      </p:to>
                                    </p:set>
                                    <p:anim calcmode="lin" valueType="num">
                                      <p:cBhvr additive="base">
                                        <p:cTn id="19" dur="500" fill="hold"/>
                                        <p:tgtEl>
                                          <p:spTgt spid="860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60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6019">
                                            <p:txEl>
                                              <p:pRg st="3" end="3"/>
                                            </p:txEl>
                                          </p:spTgt>
                                        </p:tgtEl>
                                        <p:attrNameLst>
                                          <p:attrName>style.visibility</p:attrName>
                                        </p:attrNameLst>
                                      </p:cBhvr>
                                      <p:to>
                                        <p:strVal val="visible"/>
                                      </p:to>
                                    </p:set>
                                    <p:anim calcmode="lin" valueType="num">
                                      <p:cBhvr additive="base">
                                        <p:cTn id="25" dur="500" fill="hold"/>
                                        <p:tgtEl>
                                          <p:spTgt spid="8601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60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6019">
                                            <p:txEl>
                                              <p:pRg st="4" end="4"/>
                                            </p:txEl>
                                          </p:spTgt>
                                        </p:tgtEl>
                                        <p:attrNameLst>
                                          <p:attrName>style.visibility</p:attrName>
                                        </p:attrNameLst>
                                      </p:cBhvr>
                                      <p:to>
                                        <p:strVal val="visible"/>
                                      </p:to>
                                    </p:set>
                                    <p:anim calcmode="lin" valueType="num">
                                      <p:cBhvr additive="base">
                                        <p:cTn id="31" dur="500" fill="hold"/>
                                        <p:tgtEl>
                                          <p:spTgt spid="8601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60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6019">
                                            <p:txEl>
                                              <p:pRg st="5" end="5"/>
                                            </p:txEl>
                                          </p:spTgt>
                                        </p:tgtEl>
                                        <p:attrNameLst>
                                          <p:attrName>style.visibility</p:attrName>
                                        </p:attrNameLst>
                                      </p:cBhvr>
                                      <p:to>
                                        <p:strVal val="visible"/>
                                      </p:to>
                                    </p:set>
                                    <p:anim calcmode="lin" valueType="num">
                                      <p:cBhvr additive="base">
                                        <p:cTn id="37" dur="500" fill="hold"/>
                                        <p:tgtEl>
                                          <p:spTgt spid="8601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60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6019">
                                            <p:txEl>
                                              <p:pRg st="6" end="6"/>
                                            </p:txEl>
                                          </p:spTgt>
                                        </p:tgtEl>
                                        <p:attrNameLst>
                                          <p:attrName>style.visibility</p:attrName>
                                        </p:attrNameLst>
                                      </p:cBhvr>
                                      <p:to>
                                        <p:strVal val="visible"/>
                                      </p:to>
                                    </p:set>
                                    <p:anim calcmode="lin" valueType="num">
                                      <p:cBhvr additive="base">
                                        <p:cTn id="43" dur="500" fill="hold"/>
                                        <p:tgtEl>
                                          <p:spTgt spid="86019">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60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86019">
                                            <p:txEl>
                                              <p:pRg st="7" end="7"/>
                                            </p:txEl>
                                          </p:spTgt>
                                        </p:tgtEl>
                                        <p:attrNameLst>
                                          <p:attrName>style.visibility</p:attrName>
                                        </p:attrNameLst>
                                      </p:cBhvr>
                                      <p:to>
                                        <p:strVal val="visible"/>
                                      </p:to>
                                    </p:set>
                                    <p:anim calcmode="lin" valueType="num">
                                      <p:cBhvr additive="base">
                                        <p:cTn id="49" dur="500" fill="hold"/>
                                        <p:tgtEl>
                                          <p:spTgt spid="86019">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601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86019">
                                            <p:txEl>
                                              <p:pRg st="8" end="8"/>
                                            </p:txEl>
                                          </p:spTgt>
                                        </p:tgtEl>
                                        <p:attrNameLst>
                                          <p:attrName>style.visibility</p:attrName>
                                        </p:attrNameLst>
                                      </p:cBhvr>
                                      <p:to>
                                        <p:strVal val="visible"/>
                                      </p:to>
                                    </p:set>
                                    <p:anim calcmode="lin" valueType="num">
                                      <p:cBhvr additive="base">
                                        <p:cTn id="55" dur="500" fill="hold"/>
                                        <p:tgtEl>
                                          <p:spTgt spid="86019">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8601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86019">
                                            <p:txEl>
                                              <p:pRg st="9" end="9"/>
                                            </p:txEl>
                                          </p:spTgt>
                                        </p:tgtEl>
                                        <p:attrNameLst>
                                          <p:attrName>style.visibility</p:attrName>
                                        </p:attrNameLst>
                                      </p:cBhvr>
                                      <p:to>
                                        <p:strVal val="visible"/>
                                      </p:to>
                                    </p:set>
                                    <p:anim calcmode="lin" valueType="num">
                                      <p:cBhvr additive="base">
                                        <p:cTn id="61" dur="500" fill="hold"/>
                                        <p:tgtEl>
                                          <p:spTgt spid="86019">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86019">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86019">
                                            <p:txEl>
                                              <p:pRg st="10" end="10"/>
                                            </p:txEl>
                                          </p:spTgt>
                                        </p:tgtEl>
                                        <p:attrNameLst>
                                          <p:attrName>style.visibility</p:attrName>
                                        </p:attrNameLst>
                                      </p:cBhvr>
                                      <p:to>
                                        <p:strVal val="visible"/>
                                      </p:to>
                                    </p:set>
                                    <p:anim calcmode="lin" valueType="num">
                                      <p:cBhvr additive="base">
                                        <p:cTn id="67" dur="500" fill="hold"/>
                                        <p:tgtEl>
                                          <p:spTgt spid="86019">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86019">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86019">
                                            <p:txEl>
                                              <p:pRg st="11" end="11"/>
                                            </p:txEl>
                                          </p:spTgt>
                                        </p:tgtEl>
                                        <p:attrNameLst>
                                          <p:attrName>style.visibility</p:attrName>
                                        </p:attrNameLst>
                                      </p:cBhvr>
                                      <p:to>
                                        <p:strVal val="visible"/>
                                      </p:to>
                                    </p:set>
                                    <p:anim calcmode="lin" valueType="num">
                                      <p:cBhvr additive="base">
                                        <p:cTn id="73" dur="500" fill="hold"/>
                                        <p:tgtEl>
                                          <p:spTgt spid="86019">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86019">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86019">
                                            <p:txEl>
                                              <p:pRg st="12" end="12"/>
                                            </p:txEl>
                                          </p:spTgt>
                                        </p:tgtEl>
                                        <p:attrNameLst>
                                          <p:attrName>style.visibility</p:attrName>
                                        </p:attrNameLst>
                                      </p:cBhvr>
                                      <p:to>
                                        <p:strVal val="visible"/>
                                      </p:to>
                                    </p:set>
                                    <p:anim calcmode="lin" valueType="num">
                                      <p:cBhvr additive="base">
                                        <p:cTn id="79" dur="500" fill="hold"/>
                                        <p:tgtEl>
                                          <p:spTgt spid="86019">
                                            <p:txEl>
                                              <p:pRg st="12" end="12"/>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86019">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86019">
                                            <p:txEl>
                                              <p:pRg st="13" end="13"/>
                                            </p:txEl>
                                          </p:spTgt>
                                        </p:tgtEl>
                                        <p:attrNameLst>
                                          <p:attrName>style.visibility</p:attrName>
                                        </p:attrNameLst>
                                      </p:cBhvr>
                                      <p:to>
                                        <p:strVal val="visible"/>
                                      </p:to>
                                    </p:set>
                                    <p:anim calcmode="lin" valueType="num">
                                      <p:cBhvr additive="base">
                                        <p:cTn id="85" dur="500" fill="hold"/>
                                        <p:tgtEl>
                                          <p:spTgt spid="86019">
                                            <p:txEl>
                                              <p:pRg st="13" end="13"/>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86019">
                                            <p:txEl>
                                              <p:pRg st="13" end="13"/>
                                            </p:txEl>
                                          </p:spTgt>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86019">
                                            <p:txEl>
                                              <p:pRg st="14" end="14"/>
                                            </p:txEl>
                                          </p:spTgt>
                                        </p:tgtEl>
                                        <p:attrNameLst>
                                          <p:attrName>style.visibility</p:attrName>
                                        </p:attrNameLst>
                                      </p:cBhvr>
                                      <p:to>
                                        <p:strVal val="visible"/>
                                      </p:to>
                                    </p:set>
                                    <p:anim calcmode="lin" valueType="num">
                                      <p:cBhvr additive="base">
                                        <p:cTn id="91" dur="500" fill="hold"/>
                                        <p:tgtEl>
                                          <p:spTgt spid="86019">
                                            <p:txEl>
                                              <p:pRg st="14" end="14"/>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86019">
                                            <p:txEl>
                                              <p:pRg st="14" end="14"/>
                                            </p:txEl>
                                          </p:spTgt>
                                        </p:tgtEl>
                                        <p:attrNameLst>
                                          <p:attrName>ppt_y</p:attrName>
                                        </p:attrNameLst>
                                      </p:cBhvr>
                                      <p:tavLst>
                                        <p:tav tm="0">
                                          <p:val>
                                            <p:strVal val="#ppt_y"/>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86019">
                                            <p:txEl>
                                              <p:pRg st="15" end="15"/>
                                            </p:txEl>
                                          </p:spTgt>
                                        </p:tgtEl>
                                        <p:attrNameLst>
                                          <p:attrName>style.visibility</p:attrName>
                                        </p:attrNameLst>
                                      </p:cBhvr>
                                      <p:to>
                                        <p:strVal val="visible"/>
                                      </p:to>
                                    </p:set>
                                    <p:anim calcmode="lin" valueType="num">
                                      <p:cBhvr additive="base">
                                        <p:cTn id="97" dur="500" fill="hold"/>
                                        <p:tgtEl>
                                          <p:spTgt spid="86019">
                                            <p:txEl>
                                              <p:pRg st="15" end="15"/>
                                            </p:txEl>
                                          </p:spTgt>
                                        </p:tgtEl>
                                        <p:attrNameLst>
                                          <p:attrName>ppt_x</p:attrName>
                                        </p:attrNameLst>
                                      </p:cBhvr>
                                      <p:tavLst>
                                        <p:tav tm="0">
                                          <p:val>
                                            <p:strVal val="1+#ppt_w/2"/>
                                          </p:val>
                                        </p:tav>
                                        <p:tav tm="100000">
                                          <p:val>
                                            <p:strVal val="#ppt_x"/>
                                          </p:val>
                                        </p:tav>
                                      </p:tavLst>
                                    </p:anim>
                                    <p:anim calcmode="lin" valueType="num">
                                      <p:cBhvr additive="base">
                                        <p:cTn id="98" dur="500" fill="hold"/>
                                        <p:tgtEl>
                                          <p:spTgt spid="86019">
                                            <p:txEl>
                                              <p:pRg st="15" end="15"/>
                                            </p:txEl>
                                          </p:spTgt>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86019">
                                            <p:txEl>
                                              <p:pRg st="16" end="16"/>
                                            </p:txEl>
                                          </p:spTgt>
                                        </p:tgtEl>
                                        <p:attrNameLst>
                                          <p:attrName>style.visibility</p:attrName>
                                        </p:attrNameLst>
                                      </p:cBhvr>
                                      <p:to>
                                        <p:strVal val="visible"/>
                                      </p:to>
                                    </p:set>
                                    <p:anim calcmode="lin" valueType="num">
                                      <p:cBhvr additive="base">
                                        <p:cTn id="103" dur="500" fill="hold"/>
                                        <p:tgtEl>
                                          <p:spTgt spid="86019">
                                            <p:txEl>
                                              <p:pRg st="16" end="16"/>
                                            </p:txEl>
                                          </p:spTgt>
                                        </p:tgtEl>
                                        <p:attrNameLst>
                                          <p:attrName>ppt_x</p:attrName>
                                        </p:attrNameLst>
                                      </p:cBhvr>
                                      <p:tavLst>
                                        <p:tav tm="0">
                                          <p:val>
                                            <p:strVal val="1+#ppt_w/2"/>
                                          </p:val>
                                        </p:tav>
                                        <p:tav tm="100000">
                                          <p:val>
                                            <p:strVal val="#ppt_x"/>
                                          </p:val>
                                        </p:tav>
                                      </p:tavLst>
                                    </p:anim>
                                    <p:anim calcmode="lin" valueType="num">
                                      <p:cBhvr additive="base">
                                        <p:cTn id="104" dur="500" fill="hold"/>
                                        <p:tgtEl>
                                          <p:spTgt spid="86019">
                                            <p:txEl>
                                              <p:pRg st="16" end="16"/>
                                            </p:txEl>
                                          </p:spTgt>
                                        </p:tgtEl>
                                        <p:attrNameLst>
                                          <p:attrName>ppt_y</p:attrName>
                                        </p:attrNameLst>
                                      </p:cBhvr>
                                      <p:tavLst>
                                        <p:tav tm="0">
                                          <p:val>
                                            <p:strVal val="#ppt_y"/>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86019">
                                            <p:txEl>
                                              <p:pRg st="17" end="17"/>
                                            </p:txEl>
                                          </p:spTgt>
                                        </p:tgtEl>
                                        <p:attrNameLst>
                                          <p:attrName>style.visibility</p:attrName>
                                        </p:attrNameLst>
                                      </p:cBhvr>
                                      <p:to>
                                        <p:strVal val="visible"/>
                                      </p:to>
                                    </p:set>
                                    <p:anim calcmode="lin" valueType="num">
                                      <p:cBhvr additive="base">
                                        <p:cTn id="109" dur="500" fill="hold"/>
                                        <p:tgtEl>
                                          <p:spTgt spid="86019">
                                            <p:txEl>
                                              <p:pRg st="17" end="17"/>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86019">
                                            <p:txEl>
                                              <p:pRg st="17" end="17"/>
                                            </p:txEl>
                                          </p:spTgt>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86019">
                                            <p:txEl>
                                              <p:pRg st="18" end="18"/>
                                            </p:txEl>
                                          </p:spTgt>
                                        </p:tgtEl>
                                        <p:attrNameLst>
                                          <p:attrName>style.visibility</p:attrName>
                                        </p:attrNameLst>
                                      </p:cBhvr>
                                      <p:to>
                                        <p:strVal val="visible"/>
                                      </p:to>
                                    </p:set>
                                    <p:anim calcmode="lin" valueType="num">
                                      <p:cBhvr additive="base">
                                        <p:cTn id="115" dur="500" fill="hold"/>
                                        <p:tgtEl>
                                          <p:spTgt spid="86019">
                                            <p:txEl>
                                              <p:pRg st="18" end="18"/>
                                            </p:txEl>
                                          </p:spTgt>
                                        </p:tgtEl>
                                        <p:attrNameLst>
                                          <p:attrName>ppt_x</p:attrName>
                                        </p:attrNameLst>
                                      </p:cBhvr>
                                      <p:tavLst>
                                        <p:tav tm="0">
                                          <p:val>
                                            <p:strVal val="1+#ppt_w/2"/>
                                          </p:val>
                                        </p:tav>
                                        <p:tav tm="100000">
                                          <p:val>
                                            <p:strVal val="#ppt_x"/>
                                          </p:val>
                                        </p:tav>
                                      </p:tavLst>
                                    </p:anim>
                                    <p:anim calcmode="lin" valueType="num">
                                      <p:cBhvr additive="base">
                                        <p:cTn id="116" dur="500" fill="hold"/>
                                        <p:tgtEl>
                                          <p:spTgt spid="86019">
                                            <p:txEl>
                                              <p:pRg st="18" end="1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250825" y="115888"/>
            <a:ext cx="8569325"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spcAft>
                <a:spcPts val="1800"/>
              </a:spcAft>
            </a:pPr>
            <a:r>
              <a:rPr lang="en-US" altLang="zh-CN" sz="2400">
                <a:latin typeface="黑体" pitchFamily="2" charset="-122"/>
                <a:ea typeface="黑体" pitchFamily="2" charset="-122"/>
              </a:rPr>
              <a:t>   </a:t>
            </a:r>
            <a:r>
              <a:rPr lang="zh-CN" altLang="zh-CN" sz="2400">
                <a:latin typeface="黑体" pitchFamily="2" charset="-122"/>
                <a:ea typeface="黑体" pitchFamily="2" charset="-122"/>
              </a:rPr>
              <a:t>2.不带符号的阵列乘法器</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设有两个不带符号的二进制整数：</a:t>
            </a:r>
          </a:p>
          <a:p>
            <a:pPr eaLnBrk="0" hangingPunct="0">
              <a:lnSpc>
                <a:spcPct val="150000"/>
              </a:lnSpc>
            </a:pPr>
            <a:r>
              <a:rPr lang="en-US" altLang="zh-CN" sz="2400" i="1">
                <a:latin typeface="黑体" pitchFamily="2" charset="-122"/>
                <a:ea typeface="黑体" pitchFamily="2" charset="-122"/>
              </a:rPr>
              <a:t>    </a:t>
            </a:r>
            <a:r>
              <a:rPr lang="zh-CN" altLang="zh-CN" sz="2400" i="1">
                <a:latin typeface="黑体" pitchFamily="2" charset="-122"/>
                <a:ea typeface="黑体" pitchFamily="2" charset="-122"/>
              </a:rPr>
              <a:t>A</a:t>
            </a:r>
            <a:r>
              <a:rPr lang="zh-CN" altLang="zh-CN" sz="2400">
                <a:latin typeface="黑体" pitchFamily="2" charset="-122"/>
                <a:ea typeface="黑体" pitchFamily="2" charset="-122"/>
              </a:rPr>
              <a:t>＝</a:t>
            </a:r>
            <a:r>
              <a:rPr lang="zh-CN" altLang="zh-CN" sz="2400" i="1">
                <a:latin typeface="黑体" pitchFamily="2" charset="-122"/>
                <a:ea typeface="黑体" pitchFamily="2" charset="-122"/>
              </a:rPr>
              <a:t>a</a:t>
            </a:r>
            <a:r>
              <a:rPr lang="zh-CN" altLang="zh-CN" sz="2400" i="1" baseline="-30000">
                <a:latin typeface="黑体" pitchFamily="2" charset="-122"/>
                <a:ea typeface="黑体" pitchFamily="2" charset="-122"/>
              </a:rPr>
              <a:t>m－1</a:t>
            </a:r>
            <a:r>
              <a:rPr lang="zh-CN" altLang="zh-CN" sz="2400" i="1">
                <a:latin typeface="黑体" pitchFamily="2" charset="-122"/>
                <a:ea typeface="黑体" pitchFamily="2" charset="-122"/>
              </a:rPr>
              <a:t>…a</a:t>
            </a:r>
            <a:r>
              <a:rPr lang="zh-CN" altLang="zh-CN" sz="2400" i="1" baseline="-30000">
                <a:latin typeface="黑体" pitchFamily="2" charset="-122"/>
                <a:ea typeface="黑体" pitchFamily="2" charset="-122"/>
              </a:rPr>
              <a:t>1</a:t>
            </a:r>
            <a:r>
              <a:rPr lang="zh-CN" altLang="zh-CN" sz="2400" i="1">
                <a:latin typeface="黑体" pitchFamily="2" charset="-122"/>
                <a:ea typeface="黑体" pitchFamily="2" charset="-122"/>
              </a:rPr>
              <a:t>a</a:t>
            </a:r>
            <a:r>
              <a:rPr lang="zh-CN" altLang="zh-CN" sz="2400" i="1" baseline="-30000">
                <a:latin typeface="黑体" pitchFamily="2" charset="-122"/>
                <a:ea typeface="黑体" pitchFamily="2" charset="-122"/>
              </a:rPr>
              <a:t>0</a:t>
            </a:r>
            <a:r>
              <a:rPr lang="zh-CN" altLang="en-US" sz="2400" i="1" baseline="-30000">
                <a:latin typeface="黑体" pitchFamily="2" charset="-122"/>
                <a:ea typeface="黑体" pitchFamily="2" charset="-122"/>
              </a:rPr>
              <a:t>、</a:t>
            </a:r>
            <a:r>
              <a:rPr lang="zh-CN" altLang="zh-CN" sz="2400" i="1">
                <a:latin typeface="黑体" pitchFamily="2" charset="-122"/>
                <a:ea typeface="黑体" pitchFamily="2" charset="-122"/>
              </a:rPr>
              <a:t>B</a:t>
            </a:r>
            <a:r>
              <a:rPr lang="zh-CN" altLang="zh-CN" sz="2400">
                <a:latin typeface="黑体" pitchFamily="2" charset="-122"/>
                <a:ea typeface="黑体" pitchFamily="2" charset="-122"/>
              </a:rPr>
              <a:t>＝</a:t>
            </a:r>
            <a:r>
              <a:rPr lang="zh-CN" altLang="zh-CN" sz="2400" i="1">
                <a:latin typeface="黑体" pitchFamily="2" charset="-122"/>
                <a:ea typeface="黑体" pitchFamily="2" charset="-122"/>
              </a:rPr>
              <a:t>b</a:t>
            </a:r>
            <a:r>
              <a:rPr lang="zh-CN" altLang="zh-CN" sz="2400" i="1" baseline="-30000">
                <a:latin typeface="黑体" pitchFamily="2" charset="-122"/>
                <a:ea typeface="黑体" pitchFamily="2" charset="-122"/>
              </a:rPr>
              <a:t>n－1</a:t>
            </a:r>
            <a:r>
              <a:rPr lang="zh-CN" altLang="zh-CN" sz="2400" i="1">
                <a:latin typeface="黑体" pitchFamily="2" charset="-122"/>
                <a:ea typeface="黑体" pitchFamily="2" charset="-122"/>
              </a:rPr>
              <a:t>…b</a:t>
            </a:r>
            <a:r>
              <a:rPr lang="zh-CN" altLang="zh-CN" sz="2400" i="1" baseline="-30000">
                <a:latin typeface="黑体" pitchFamily="2" charset="-122"/>
                <a:ea typeface="黑体" pitchFamily="2" charset="-122"/>
              </a:rPr>
              <a:t>1</a:t>
            </a:r>
            <a:r>
              <a:rPr lang="zh-CN" altLang="zh-CN" sz="2400" i="1">
                <a:latin typeface="黑体" pitchFamily="2" charset="-122"/>
                <a:ea typeface="黑体" pitchFamily="2" charset="-122"/>
              </a:rPr>
              <a:t>b</a:t>
            </a:r>
            <a:r>
              <a:rPr lang="zh-CN" altLang="zh-CN" sz="2400" i="1" baseline="-30000">
                <a:latin typeface="黑体" pitchFamily="2" charset="-122"/>
                <a:ea typeface="黑体" pitchFamily="2" charset="-122"/>
              </a:rPr>
              <a:t>0</a:t>
            </a:r>
            <a:endParaRPr lang="zh-CN"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它们的数值分别为</a:t>
            </a:r>
            <a:r>
              <a:rPr lang="zh-CN" altLang="zh-CN" sz="2400" i="1">
                <a:latin typeface="黑体" pitchFamily="2" charset="-122"/>
                <a:ea typeface="黑体" pitchFamily="2" charset="-122"/>
              </a:rPr>
              <a:t>a</a:t>
            </a:r>
            <a:r>
              <a:rPr lang="zh-CN" altLang="zh-CN" sz="2400">
                <a:latin typeface="黑体" pitchFamily="2" charset="-122"/>
                <a:ea typeface="黑体" pitchFamily="2" charset="-122"/>
              </a:rPr>
              <a:t>和</a:t>
            </a:r>
            <a:r>
              <a:rPr lang="zh-CN" altLang="zh-CN" sz="2400" i="1">
                <a:latin typeface="黑体" pitchFamily="2" charset="-122"/>
                <a:ea typeface="黑体" pitchFamily="2" charset="-122"/>
              </a:rPr>
              <a:t>b</a:t>
            </a:r>
            <a:r>
              <a:rPr lang="zh-CN" altLang="zh-CN" sz="2400">
                <a:latin typeface="黑体" pitchFamily="2" charset="-122"/>
                <a:ea typeface="黑体" pitchFamily="2" charset="-122"/>
              </a:rPr>
              <a:t>,即</a:t>
            </a:r>
            <a:endParaRPr lang="en-US" altLang="zh-CN" sz="2400">
              <a:latin typeface="黑体" pitchFamily="2" charset="-122"/>
              <a:ea typeface="黑体" pitchFamily="2" charset="-122"/>
            </a:endParaRPr>
          </a:p>
          <a:p>
            <a:pPr eaLnBrk="0" hangingPunct="0">
              <a:lnSpc>
                <a:spcPts val="2800"/>
              </a:lnSpc>
            </a:pPr>
            <a:r>
              <a:rPr lang="en-US" altLang="zh-CN" sz="2400" i="1" baseline="-30000">
                <a:latin typeface="黑体" pitchFamily="2" charset="-122"/>
                <a:ea typeface="黑体" pitchFamily="2" charset="-122"/>
              </a:rPr>
              <a:t>               </a:t>
            </a:r>
            <a:r>
              <a:rPr lang="zh-CN" altLang="zh-CN" sz="2400" i="1" baseline="-30000">
                <a:latin typeface="黑体" pitchFamily="2" charset="-122"/>
                <a:ea typeface="黑体" pitchFamily="2" charset="-122"/>
              </a:rPr>
              <a:t>m</a:t>
            </a:r>
            <a:r>
              <a:rPr lang="zh-CN" altLang="zh-CN" sz="2400" baseline="-30000">
                <a:latin typeface="黑体" pitchFamily="2" charset="-122"/>
                <a:ea typeface="黑体" pitchFamily="2" charset="-122"/>
              </a:rPr>
              <a:t>－1</a:t>
            </a:r>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i="1" baseline="-30000">
                <a:latin typeface="黑体" pitchFamily="2" charset="-122"/>
                <a:ea typeface="黑体" pitchFamily="2" charset="-122"/>
              </a:rPr>
              <a:t>n</a:t>
            </a:r>
            <a:r>
              <a:rPr lang="en-US" altLang="zh-CN" sz="2400" i="1" baseline="-30000">
                <a:latin typeface="黑体" pitchFamily="2" charset="-122"/>
                <a:ea typeface="黑体" pitchFamily="2" charset="-122"/>
              </a:rPr>
              <a:t>-1</a:t>
            </a:r>
            <a:endParaRPr lang="en-US" altLang="zh-CN" sz="2400" baseline="-30000">
              <a:latin typeface="黑体" pitchFamily="2" charset="-122"/>
              <a:ea typeface="黑体" pitchFamily="2" charset="-122"/>
            </a:endParaRPr>
          </a:p>
          <a:p>
            <a:pPr eaLnBrk="0" hangingPunct="0">
              <a:lnSpc>
                <a:spcPts val="2800"/>
              </a:lnSpc>
            </a:pPr>
            <a:r>
              <a:rPr lang="en-US" altLang="zh-CN" sz="2400" i="1">
                <a:latin typeface="黑体" pitchFamily="2" charset="-122"/>
                <a:ea typeface="黑体" pitchFamily="2" charset="-122"/>
              </a:rPr>
              <a:t>      </a:t>
            </a:r>
            <a:r>
              <a:rPr lang="zh-CN" altLang="zh-CN" sz="2400" i="1">
                <a:latin typeface="黑体" pitchFamily="2" charset="-122"/>
                <a:ea typeface="黑体" pitchFamily="2" charset="-122"/>
              </a:rPr>
              <a:t>a</a:t>
            </a:r>
            <a:r>
              <a:rPr lang="zh-CN" altLang="zh-CN" sz="2400">
                <a:latin typeface="黑体" pitchFamily="2" charset="-122"/>
                <a:ea typeface="黑体" pitchFamily="2" charset="-122"/>
              </a:rPr>
              <a:t> ＝∑</a:t>
            </a:r>
            <a:r>
              <a:rPr lang="zh-CN" altLang="zh-CN" sz="2400" i="1">
                <a:latin typeface="黑体" pitchFamily="2" charset="-122"/>
                <a:ea typeface="黑体" pitchFamily="2" charset="-122"/>
              </a:rPr>
              <a:t>a</a:t>
            </a:r>
            <a:r>
              <a:rPr lang="zh-CN" altLang="zh-CN" sz="2400" i="1" baseline="-30000">
                <a:latin typeface="黑体" pitchFamily="2" charset="-122"/>
                <a:ea typeface="黑体" pitchFamily="2" charset="-122"/>
              </a:rPr>
              <a:t>i</a:t>
            </a:r>
            <a:r>
              <a:rPr lang="zh-CN" altLang="zh-CN" sz="2400">
                <a:latin typeface="黑体" pitchFamily="2" charset="-122"/>
                <a:ea typeface="黑体" pitchFamily="2" charset="-122"/>
              </a:rPr>
              <a:t>2</a:t>
            </a:r>
            <a:r>
              <a:rPr lang="zh-CN" altLang="zh-CN" sz="2400" i="1" baseline="30000">
                <a:latin typeface="黑体" pitchFamily="2" charset="-122"/>
                <a:ea typeface="黑体" pitchFamily="2" charset="-122"/>
              </a:rPr>
              <a:t>i　　</a:t>
            </a:r>
            <a:r>
              <a:rPr lang="zh-CN" altLang="zh-CN" sz="2400" i="1">
                <a:latin typeface="黑体" pitchFamily="2" charset="-122"/>
                <a:ea typeface="黑体" pitchFamily="2" charset="-122"/>
              </a:rPr>
              <a:t>b</a:t>
            </a:r>
            <a:r>
              <a:rPr lang="zh-CN" altLang="zh-CN" sz="2400">
                <a:latin typeface="黑体" pitchFamily="2" charset="-122"/>
                <a:ea typeface="黑体" pitchFamily="2" charset="-122"/>
              </a:rPr>
              <a:t> ＝∑</a:t>
            </a:r>
            <a:r>
              <a:rPr lang="zh-CN" altLang="zh-CN" sz="2400" i="1">
                <a:latin typeface="黑体" pitchFamily="2" charset="-122"/>
                <a:ea typeface="黑体" pitchFamily="2" charset="-122"/>
              </a:rPr>
              <a:t>b</a:t>
            </a:r>
            <a:r>
              <a:rPr lang="zh-CN" altLang="zh-CN" sz="2400" i="1" baseline="-30000">
                <a:latin typeface="黑体" pitchFamily="2" charset="-122"/>
                <a:ea typeface="黑体" pitchFamily="2" charset="-122"/>
              </a:rPr>
              <a:t>j</a:t>
            </a:r>
            <a:r>
              <a:rPr lang="zh-CN" altLang="zh-CN" sz="2400">
                <a:latin typeface="黑体" pitchFamily="2" charset="-122"/>
                <a:ea typeface="黑体" pitchFamily="2" charset="-122"/>
              </a:rPr>
              <a:t>2</a:t>
            </a:r>
            <a:r>
              <a:rPr lang="zh-CN" altLang="zh-CN" sz="2400" i="1" baseline="30000">
                <a:latin typeface="黑体" pitchFamily="2" charset="-122"/>
                <a:ea typeface="黑体" pitchFamily="2" charset="-122"/>
              </a:rPr>
              <a:t>j</a:t>
            </a:r>
            <a:r>
              <a:rPr lang="zh-CN" altLang="zh-CN" sz="2400">
                <a:latin typeface="黑体" pitchFamily="2" charset="-122"/>
                <a:ea typeface="黑体" pitchFamily="2" charset="-122"/>
              </a:rPr>
              <a:t/>
            </a:r>
            <a:br>
              <a:rPr lang="zh-CN" altLang="zh-CN" sz="2400">
                <a:latin typeface="黑体" pitchFamily="2" charset="-122"/>
                <a:ea typeface="黑体" pitchFamily="2" charset="-122"/>
              </a:rPr>
            </a:br>
            <a:r>
              <a:rPr lang="en-US" altLang="zh-CN" sz="2400">
                <a:latin typeface="黑体" pitchFamily="2" charset="-122"/>
                <a:ea typeface="黑体" pitchFamily="2" charset="-122"/>
              </a:rPr>
              <a:t>          </a:t>
            </a:r>
            <a:r>
              <a:rPr lang="zh-CN" altLang="zh-CN" sz="2400" i="1" baseline="30000">
                <a:latin typeface="黑体" pitchFamily="2" charset="-122"/>
                <a:ea typeface="黑体" pitchFamily="2" charset="-122"/>
              </a:rPr>
              <a:t>i</a:t>
            </a:r>
            <a:r>
              <a:rPr lang="zh-CN" altLang="zh-CN" sz="2400" baseline="30000">
                <a:latin typeface="黑体" pitchFamily="2" charset="-122"/>
                <a:ea typeface="黑体" pitchFamily="2" charset="-122"/>
              </a:rPr>
              <a:t>＝0</a:t>
            </a:r>
            <a:r>
              <a:rPr lang="zh-CN" altLang="zh-CN" sz="2400" i="1" baseline="30000">
                <a:latin typeface="黑体" pitchFamily="2" charset="-122"/>
                <a:ea typeface="黑体" pitchFamily="2" charset="-122"/>
              </a:rPr>
              <a:t>　</a:t>
            </a:r>
            <a:r>
              <a:rPr lang="en-US" altLang="zh-CN" sz="2400" i="1" baseline="30000">
                <a:latin typeface="黑体" pitchFamily="2" charset="-122"/>
                <a:ea typeface="黑体" pitchFamily="2" charset="-122"/>
              </a:rPr>
              <a:t> </a:t>
            </a:r>
            <a:r>
              <a:rPr lang="zh-CN" altLang="zh-CN" sz="2400" i="1" baseline="30000">
                <a:latin typeface="黑体" pitchFamily="2" charset="-122"/>
                <a:ea typeface="黑体" pitchFamily="2" charset="-122"/>
              </a:rPr>
              <a:t>　　　　　j</a:t>
            </a:r>
            <a:r>
              <a:rPr lang="zh-CN" altLang="zh-CN" sz="2400" baseline="30000">
                <a:latin typeface="黑体" pitchFamily="2" charset="-122"/>
                <a:ea typeface="黑体" pitchFamily="2" charset="-122"/>
              </a:rPr>
              <a:t>＝0</a:t>
            </a:r>
            <a:endParaRPr lang="zh-CN"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在二进制乘法中,被乘数</a:t>
            </a:r>
            <a:r>
              <a:rPr lang="zh-CN" altLang="zh-CN" sz="2400" i="1">
                <a:latin typeface="黑体" pitchFamily="2" charset="-122"/>
                <a:ea typeface="黑体" pitchFamily="2" charset="-122"/>
              </a:rPr>
              <a:t>A</a:t>
            </a:r>
            <a:r>
              <a:rPr lang="zh-CN" altLang="zh-CN" sz="2400">
                <a:latin typeface="黑体" pitchFamily="2" charset="-122"/>
                <a:ea typeface="黑体" pitchFamily="2" charset="-122"/>
              </a:rPr>
              <a:t>与乘数</a:t>
            </a:r>
            <a:r>
              <a:rPr lang="zh-CN" altLang="zh-CN" sz="2400" i="1">
                <a:latin typeface="黑体" pitchFamily="2" charset="-122"/>
                <a:ea typeface="黑体" pitchFamily="2" charset="-122"/>
              </a:rPr>
              <a:t>B</a:t>
            </a:r>
            <a:r>
              <a:rPr lang="zh-CN" altLang="zh-CN" sz="2400">
                <a:latin typeface="黑体" pitchFamily="2" charset="-122"/>
                <a:ea typeface="黑体" pitchFamily="2" charset="-122"/>
              </a:rPr>
              <a:t>相乘,产生</a:t>
            </a:r>
            <a:r>
              <a:rPr lang="zh-CN" altLang="zh-CN" sz="2400" i="1">
                <a:latin typeface="黑体" pitchFamily="2" charset="-122"/>
                <a:ea typeface="黑体" pitchFamily="2" charset="-122"/>
              </a:rPr>
              <a:t>m</a:t>
            </a:r>
            <a:r>
              <a:rPr lang="zh-CN" altLang="zh-CN" sz="2400">
                <a:latin typeface="黑体" pitchFamily="2" charset="-122"/>
                <a:ea typeface="黑体" pitchFamily="2" charset="-122"/>
              </a:rPr>
              <a:t>＋</a:t>
            </a:r>
            <a:r>
              <a:rPr lang="zh-CN" altLang="zh-CN" sz="2400" i="1">
                <a:latin typeface="黑体" pitchFamily="2" charset="-122"/>
                <a:ea typeface="黑体" pitchFamily="2" charset="-122"/>
              </a:rPr>
              <a:t>n</a:t>
            </a:r>
            <a:r>
              <a:rPr lang="zh-CN" altLang="zh-CN" sz="2400">
                <a:latin typeface="黑体" pitchFamily="2" charset="-122"/>
                <a:ea typeface="黑体" pitchFamily="2" charset="-122"/>
              </a:rPr>
              <a:t>位乘积</a:t>
            </a:r>
            <a:r>
              <a:rPr lang="zh-CN" altLang="zh-CN" sz="2400" i="1">
                <a:latin typeface="黑体" pitchFamily="2" charset="-122"/>
                <a:ea typeface="黑体" pitchFamily="2" charset="-122"/>
              </a:rPr>
              <a:t>P</a:t>
            </a:r>
            <a:r>
              <a:rPr lang="zh-CN" altLang="zh-CN" sz="2400">
                <a:latin typeface="黑体" pitchFamily="2" charset="-122"/>
                <a:ea typeface="黑体" pitchFamily="2" charset="-122"/>
              </a:rPr>
              <a:t>：</a:t>
            </a:r>
          </a:p>
          <a:p>
            <a:pPr eaLnBrk="0" hangingPunct="0">
              <a:lnSpc>
                <a:spcPct val="150000"/>
              </a:lnSpc>
            </a:pPr>
            <a:r>
              <a:rPr lang="en-US" altLang="zh-CN" sz="2400" i="1">
                <a:latin typeface="黑体" pitchFamily="2" charset="-122"/>
                <a:ea typeface="黑体" pitchFamily="2" charset="-122"/>
              </a:rPr>
              <a:t>      </a:t>
            </a:r>
            <a:r>
              <a:rPr lang="zh-CN" altLang="zh-CN" sz="2400" i="1">
                <a:latin typeface="黑体" pitchFamily="2" charset="-122"/>
                <a:ea typeface="黑体" pitchFamily="2" charset="-122"/>
              </a:rPr>
              <a:t>P</a:t>
            </a:r>
            <a:r>
              <a:rPr lang="zh-CN" altLang="zh-CN" sz="2400">
                <a:latin typeface="黑体" pitchFamily="2" charset="-122"/>
                <a:ea typeface="黑体" pitchFamily="2" charset="-122"/>
              </a:rPr>
              <a:t>＝</a:t>
            </a:r>
            <a:r>
              <a:rPr lang="zh-CN" altLang="zh-CN" sz="2400" i="1">
                <a:latin typeface="黑体" pitchFamily="2" charset="-122"/>
                <a:ea typeface="黑体" pitchFamily="2" charset="-122"/>
              </a:rPr>
              <a:t>p</a:t>
            </a:r>
            <a:r>
              <a:rPr lang="zh-CN" altLang="zh-CN" sz="2400" i="1" baseline="-30000">
                <a:latin typeface="黑体" pitchFamily="2" charset="-122"/>
                <a:ea typeface="黑体" pitchFamily="2" charset="-122"/>
              </a:rPr>
              <a:t>m＋n－1</a:t>
            </a:r>
            <a:r>
              <a:rPr lang="zh-CN" altLang="zh-CN" sz="2400" i="1">
                <a:latin typeface="黑体" pitchFamily="2" charset="-122"/>
                <a:ea typeface="黑体" pitchFamily="2" charset="-122"/>
              </a:rPr>
              <a:t>…p</a:t>
            </a:r>
            <a:r>
              <a:rPr lang="zh-CN" altLang="zh-CN" sz="2400" i="1" baseline="-30000">
                <a:latin typeface="黑体" pitchFamily="2" charset="-122"/>
                <a:ea typeface="黑体" pitchFamily="2" charset="-122"/>
              </a:rPr>
              <a:t>1</a:t>
            </a:r>
            <a:r>
              <a:rPr lang="zh-CN" altLang="zh-CN" sz="2400" i="1">
                <a:latin typeface="黑体" pitchFamily="2" charset="-122"/>
                <a:ea typeface="黑体" pitchFamily="2" charset="-122"/>
              </a:rPr>
              <a:t>p</a:t>
            </a:r>
            <a:r>
              <a:rPr lang="zh-CN" altLang="zh-CN" sz="2400" i="1" baseline="-30000">
                <a:latin typeface="黑体" pitchFamily="2" charset="-122"/>
                <a:ea typeface="黑体" pitchFamily="2" charset="-122"/>
              </a:rPr>
              <a:t>0</a:t>
            </a:r>
            <a:endParaRPr lang="zh-CN"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乘积</a:t>
            </a:r>
            <a:r>
              <a:rPr lang="zh-CN" altLang="zh-CN" sz="2400" i="1">
                <a:latin typeface="黑体" pitchFamily="2" charset="-122"/>
                <a:ea typeface="黑体" pitchFamily="2" charset="-122"/>
              </a:rPr>
              <a:t>P</a:t>
            </a:r>
            <a:r>
              <a:rPr lang="zh-CN" altLang="zh-CN" sz="2400">
                <a:latin typeface="黑体" pitchFamily="2" charset="-122"/>
                <a:ea typeface="黑体" pitchFamily="2" charset="-122"/>
              </a:rPr>
              <a:t> 的数值为</a:t>
            </a:r>
            <a:r>
              <a:rPr lang="zh-CN" altLang="zh-CN" sz="2400" baseline="-30000">
                <a:solidFill>
                  <a:srgbClr val="0000FF"/>
                </a:solidFill>
                <a:latin typeface="黑体" pitchFamily="2" charset="-122"/>
                <a:ea typeface="黑体" pitchFamily="2" charset="-122"/>
              </a:rPr>
              <a:t>　　　　　</a:t>
            </a:r>
            <a:r>
              <a:rPr lang="zh-CN" altLang="en-US" sz="2400">
                <a:solidFill>
                  <a:srgbClr val="000000"/>
                </a:solidFill>
                <a:latin typeface="黑体" pitchFamily="2" charset="-122"/>
                <a:ea typeface="黑体" pitchFamily="2" charset="-122"/>
                <a:cs typeface="Times New Roman" pitchFamily="18" charset="0"/>
              </a:rPr>
              <a:t>   </a:t>
            </a:r>
          </a:p>
        </p:txBody>
      </p:sp>
      <p:sp>
        <p:nvSpPr>
          <p:cNvPr id="63491" name="AutoShape 2" descr="G:\jzdx\%E8%AE%A1%E7%AE%97%E6%9C%BA%E7%BB%84%E6%88%90%E5%8E%9F%E7%90%86\%E6%95%99%E6%A1%88\%E7%AC%AC%E4%BA%8C%E7%AB%A0\Images\s2.3.1.1.gif"/>
          <p:cNvSpPr>
            <a:spLocks noChangeAspect="1" noChangeArrowheads="1"/>
          </p:cNvSpPr>
          <p:nvPr/>
        </p:nvSpPr>
        <p:spPr bwMode="auto">
          <a:xfrm>
            <a:off x="904875" y="1290638"/>
            <a:ext cx="42957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34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5589588"/>
            <a:ext cx="56657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ChangeArrowheads="1"/>
          </p:cNvSpPr>
          <p:nvPr/>
        </p:nvSpPr>
        <p:spPr bwMode="auto">
          <a:xfrm>
            <a:off x="3148013" y="2257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endParaRPr lang="zh-CN" altLang="en-US"/>
          </a:p>
        </p:txBody>
      </p:sp>
      <p:sp>
        <p:nvSpPr>
          <p:cNvPr id="64515" name="Rectangle 8"/>
          <p:cNvSpPr>
            <a:spLocks noChangeArrowheads="1"/>
          </p:cNvSpPr>
          <p:nvPr/>
        </p:nvSpPr>
        <p:spPr bwMode="auto">
          <a:xfrm>
            <a:off x="250825" y="44450"/>
            <a:ext cx="8551863" cy="664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latin typeface="黑体" pitchFamily="2" charset="-122"/>
                <a:ea typeface="黑体" pitchFamily="2" charset="-122"/>
              </a:rPr>
              <a:t>    </a:t>
            </a:r>
            <a:r>
              <a:rPr lang="zh-CN" altLang="zh-CN" sz="2000">
                <a:latin typeface="黑体" pitchFamily="2" charset="-122"/>
                <a:ea typeface="黑体" pitchFamily="2" charset="-122"/>
              </a:rPr>
              <a:t>实现这个乘法过程所需要的操作和人们的习惯方法非常类似：</a:t>
            </a:r>
          </a:p>
          <a:p>
            <a:pPr eaLnBrk="0" hangingPunct="0">
              <a:lnSpc>
                <a:spcPct val="150000"/>
              </a:lnSpc>
            </a:pPr>
            <a:r>
              <a:rPr lang="zh-CN" altLang="zh-CN" sz="2000">
                <a:latin typeface="黑体" pitchFamily="2" charset="-122"/>
                <a:ea typeface="黑体" pitchFamily="2" charset="-122"/>
              </a:rPr>
              <a:t>  </a:t>
            </a: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zh-CN" altLang="zh-CN" sz="2000">
              <a:latin typeface="黑体" pitchFamily="2" charset="-122"/>
              <a:ea typeface="黑体" pitchFamily="2" charset="-122"/>
            </a:endParaRPr>
          </a:p>
          <a:p>
            <a:pPr eaLnBrk="0" hangingPunct="0">
              <a:lnSpc>
                <a:spcPct val="150000"/>
              </a:lnSpc>
            </a:pPr>
            <a:r>
              <a:rPr lang="zh-CN" altLang="zh-CN" sz="2000">
                <a:solidFill>
                  <a:srgbClr val="000000"/>
                </a:solidFill>
                <a:latin typeface="黑体" pitchFamily="2" charset="-122"/>
                <a:ea typeface="黑体" pitchFamily="2" charset="-122"/>
              </a:rPr>
              <a:t>　　上述过程说明在</a:t>
            </a:r>
            <a:r>
              <a:rPr lang="zh-CN" altLang="zh-CN" sz="2000" i="1">
                <a:solidFill>
                  <a:srgbClr val="000000"/>
                </a:solidFill>
                <a:latin typeface="黑体" pitchFamily="2" charset="-122"/>
                <a:ea typeface="黑体" pitchFamily="2" charset="-122"/>
              </a:rPr>
              <a:t>m</a:t>
            </a:r>
            <a:r>
              <a:rPr lang="zh-CN" altLang="zh-CN" sz="2000">
                <a:solidFill>
                  <a:srgbClr val="000000"/>
                </a:solidFill>
                <a:latin typeface="黑体" pitchFamily="2" charset="-122"/>
                <a:ea typeface="黑体" pitchFamily="2" charset="-122"/>
              </a:rPr>
              <a:t>位乘</a:t>
            </a:r>
            <a:r>
              <a:rPr lang="zh-CN" altLang="zh-CN" sz="2000" i="1">
                <a:solidFill>
                  <a:srgbClr val="000000"/>
                </a:solidFill>
                <a:latin typeface="黑体" pitchFamily="2" charset="-122"/>
                <a:ea typeface="黑体" pitchFamily="2" charset="-122"/>
              </a:rPr>
              <a:t>n</a:t>
            </a:r>
            <a:r>
              <a:rPr lang="zh-CN" altLang="zh-CN" sz="2000">
                <a:solidFill>
                  <a:srgbClr val="000000"/>
                </a:solidFill>
                <a:latin typeface="黑体" pitchFamily="2" charset="-122"/>
                <a:ea typeface="黑体" pitchFamily="2" charset="-122"/>
              </a:rPr>
              <a:t>位不带符号整数的阵列乘法中,“加法—移位”操作的被加数矩阵。每一个部分乘积项(位积)</a:t>
            </a:r>
            <a:r>
              <a:rPr lang="zh-CN" altLang="zh-CN" sz="2000" i="1">
                <a:solidFill>
                  <a:srgbClr val="000000"/>
                </a:solidFill>
                <a:latin typeface="黑体" pitchFamily="2" charset="-122"/>
                <a:ea typeface="黑体" pitchFamily="2" charset="-122"/>
              </a:rPr>
              <a:t>a</a:t>
            </a:r>
            <a:r>
              <a:rPr lang="zh-CN" altLang="zh-CN" sz="2000" i="1" baseline="-30000">
                <a:solidFill>
                  <a:srgbClr val="000000"/>
                </a:solidFill>
                <a:latin typeface="黑体" pitchFamily="2" charset="-122"/>
                <a:ea typeface="黑体" pitchFamily="2" charset="-122"/>
              </a:rPr>
              <a:t>i</a:t>
            </a:r>
            <a:r>
              <a:rPr lang="zh-CN" altLang="zh-CN" sz="2000" i="1">
                <a:solidFill>
                  <a:srgbClr val="000000"/>
                </a:solidFill>
                <a:latin typeface="黑体" pitchFamily="2" charset="-122"/>
                <a:ea typeface="黑体" pitchFamily="2" charset="-122"/>
              </a:rPr>
              <a:t>b</a:t>
            </a:r>
            <a:r>
              <a:rPr lang="zh-CN" altLang="zh-CN" sz="2000" i="1" baseline="-30000">
                <a:solidFill>
                  <a:srgbClr val="000000"/>
                </a:solidFill>
                <a:latin typeface="黑体" pitchFamily="2" charset="-122"/>
                <a:ea typeface="黑体" pitchFamily="2" charset="-122"/>
              </a:rPr>
              <a:t>j</a:t>
            </a:r>
            <a:r>
              <a:rPr lang="zh-CN" altLang="zh-CN" sz="2000">
                <a:solidFill>
                  <a:srgbClr val="000000"/>
                </a:solidFill>
                <a:latin typeface="黑体" pitchFamily="2" charset="-122"/>
                <a:ea typeface="黑体" pitchFamily="2" charset="-122"/>
              </a:rPr>
              <a:t>叫做一个被加数。这</a:t>
            </a:r>
            <a:r>
              <a:rPr lang="zh-CN" altLang="zh-CN" sz="2000" i="1">
                <a:solidFill>
                  <a:srgbClr val="000000"/>
                </a:solidFill>
                <a:latin typeface="黑体" pitchFamily="2" charset="-122"/>
                <a:ea typeface="黑体" pitchFamily="2" charset="-122"/>
              </a:rPr>
              <a:t>m×n</a:t>
            </a:r>
            <a:r>
              <a:rPr lang="zh-CN" altLang="zh-CN" sz="2000">
                <a:solidFill>
                  <a:srgbClr val="000000"/>
                </a:solidFill>
                <a:latin typeface="黑体" pitchFamily="2" charset="-122"/>
                <a:ea typeface="黑体" pitchFamily="2" charset="-122"/>
              </a:rPr>
              <a:t>个被加数{</a:t>
            </a:r>
            <a:r>
              <a:rPr lang="zh-CN" altLang="zh-CN" sz="2000" i="1">
                <a:solidFill>
                  <a:srgbClr val="000000"/>
                </a:solidFill>
                <a:latin typeface="黑体" pitchFamily="2" charset="-122"/>
                <a:ea typeface="黑体" pitchFamily="2" charset="-122"/>
              </a:rPr>
              <a:t>a</a:t>
            </a:r>
            <a:r>
              <a:rPr lang="zh-CN" altLang="zh-CN" sz="2000" i="1" baseline="-30000">
                <a:solidFill>
                  <a:srgbClr val="000000"/>
                </a:solidFill>
                <a:latin typeface="黑体" pitchFamily="2" charset="-122"/>
                <a:ea typeface="黑体" pitchFamily="2" charset="-122"/>
              </a:rPr>
              <a:t>i</a:t>
            </a:r>
            <a:r>
              <a:rPr lang="zh-CN" altLang="zh-CN" sz="2000" i="1">
                <a:solidFill>
                  <a:srgbClr val="000000"/>
                </a:solidFill>
                <a:latin typeface="黑体" pitchFamily="2" charset="-122"/>
                <a:ea typeface="黑体" pitchFamily="2" charset="-122"/>
              </a:rPr>
              <a:t>b</a:t>
            </a:r>
            <a:r>
              <a:rPr lang="zh-CN" altLang="zh-CN" sz="2000" i="1" baseline="-30000">
                <a:solidFill>
                  <a:srgbClr val="000000"/>
                </a:solidFill>
                <a:latin typeface="黑体" pitchFamily="2" charset="-122"/>
                <a:ea typeface="黑体" pitchFamily="2" charset="-122"/>
              </a:rPr>
              <a:t>j</a:t>
            </a:r>
            <a:r>
              <a:rPr lang="zh-CN" altLang="zh-CN" sz="2000">
                <a:solidFill>
                  <a:srgbClr val="000000"/>
                </a:solidFill>
                <a:latin typeface="黑体" pitchFamily="2" charset="-122"/>
                <a:ea typeface="黑体" pitchFamily="2" charset="-122"/>
              </a:rPr>
              <a:t>|0≤</a:t>
            </a:r>
            <a:r>
              <a:rPr lang="zh-CN" altLang="zh-CN" sz="2000" i="1">
                <a:solidFill>
                  <a:srgbClr val="000000"/>
                </a:solidFill>
                <a:latin typeface="黑体" pitchFamily="2" charset="-122"/>
                <a:ea typeface="黑体" pitchFamily="2" charset="-122"/>
              </a:rPr>
              <a:t>i</a:t>
            </a:r>
            <a:r>
              <a:rPr lang="zh-CN" altLang="zh-CN" sz="2000">
                <a:solidFill>
                  <a:srgbClr val="000000"/>
                </a:solidFill>
                <a:latin typeface="黑体" pitchFamily="2" charset="-122"/>
                <a:ea typeface="黑体" pitchFamily="2" charset="-122"/>
              </a:rPr>
              <a:t>≤</a:t>
            </a:r>
            <a:r>
              <a:rPr lang="zh-CN" altLang="zh-CN" sz="2000" i="1">
                <a:solidFill>
                  <a:srgbClr val="000000"/>
                </a:solidFill>
                <a:latin typeface="黑体" pitchFamily="2" charset="-122"/>
                <a:ea typeface="黑体" pitchFamily="2" charset="-122"/>
              </a:rPr>
              <a:t>m</a:t>
            </a:r>
            <a:r>
              <a:rPr lang="zh-CN" altLang="zh-CN" sz="2000">
                <a:solidFill>
                  <a:srgbClr val="000000"/>
                </a:solidFill>
                <a:latin typeface="黑体" pitchFamily="2" charset="-122"/>
                <a:ea typeface="黑体" pitchFamily="2" charset="-122"/>
              </a:rPr>
              <a:t>－1和0≤</a:t>
            </a:r>
            <a:r>
              <a:rPr lang="zh-CN" altLang="zh-CN" sz="2000" i="1">
                <a:solidFill>
                  <a:srgbClr val="000000"/>
                </a:solidFill>
                <a:latin typeface="黑体" pitchFamily="2" charset="-122"/>
                <a:ea typeface="黑体" pitchFamily="2" charset="-122"/>
              </a:rPr>
              <a:t>j</a:t>
            </a:r>
            <a:r>
              <a:rPr lang="zh-CN" altLang="zh-CN" sz="2000">
                <a:solidFill>
                  <a:srgbClr val="000000"/>
                </a:solidFill>
                <a:latin typeface="黑体" pitchFamily="2" charset="-122"/>
                <a:ea typeface="黑体" pitchFamily="2" charset="-122"/>
              </a:rPr>
              <a:t>≤</a:t>
            </a:r>
            <a:r>
              <a:rPr lang="zh-CN" altLang="zh-CN" sz="2000" i="1">
                <a:solidFill>
                  <a:srgbClr val="000000"/>
                </a:solidFill>
                <a:latin typeface="黑体" pitchFamily="2" charset="-122"/>
                <a:ea typeface="黑体" pitchFamily="2" charset="-122"/>
              </a:rPr>
              <a:t>n</a:t>
            </a:r>
            <a:r>
              <a:rPr lang="zh-CN" altLang="zh-CN" sz="2000">
                <a:solidFill>
                  <a:srgbClr val="000000"/>
                </a:solidFill>
                <a:latin typeface="黑体" pitchFamily="2" charset="-122"/>
                <a:ea typeface="黑体" pitchFamily="2" charset="-122"/>
              </a:rPr>
              <a:t>－1}可以用</a:t>
            </a:r>
            <a:r>
              <a:rPr lang="zh-CN" altLang="zh-CN" sz="2000" i="1">
                <a:solidFill>
                  <a:srgbClr val="000000"/>
                </a:solidFill>
                <a:latin typeface="黑体" pitchFamily="2" charset="-122"/>
                <a:ea typeface="黑体" pitchFamily="2" charset="-122"/>
              </a:rPr>
              <a:t>m×n</a:t>
            </a:r>
            <a:r>
              <a:rPr lang="zh-CN" altLang="zh-CN" sz="2000">
                <a:solidFill>
                  <a:srgbClr val="000000"/>
                </a:solidFill>
                <a:latin typeface="黑体" pitchFamily="2" charset="-122"/>
                <a:ea typeface="黑体" pitchFamily="2" charset="-122"/>
              </a:rPr>
              <a:t>个“与”门并行地产生。显然,设计高速并行乘法器的基本问题,就在于缩短被加数矩阵中每列所包含的1的加法时间。</a:t>
            </a:r>
            <a:endParaRPr lang="zh-CN" altLang="zh-CN" sz="2000">
              <a:latin typeface="黑体" pitchFamily="2" charset="-122"/>
              <a:ea typeface="黑体" pitchFamily="2" charset="-122"/>
            </a:endParaRPr>
          </a:p>
        </p:txBody>
      </p:sp>
      <p:sp>
        <p:nvSpPr>
          <p:cNvPr id="64516" name="AutoShape 9" descr="G:\jzdx\%E8%AE%A1%E7%AE%97%E6%9C%BA%E7%BB%84%E6%88%90%E5%8E%9F%E7%90%86\%E6%95%99%E6%A1%88\%E7%AC%AC%E4%BA%8C%E7%AB%A0\Images\t2.4.gif"/>
          <p:cNvSpPr>
            <a:spLocks noChangeAspect="1" noChangeArrowheads="1"/>
          </p:cNvSpPr>
          <p:nvPr/>
        </p:nvSpPr>
        <p:spPr bwMode="auto">
          <a:xfrm>
            <a:off x="149225" y="-15875"/>
            <a:ext cx="8296275"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451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 y="908050"/>
            <a:ext cx="8050213"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4"/>
          <p:cNvSpPr>
            <a:spLocks noChangeArrowheads="1"/>
          </p:cNvSpPr>
          <p:nvPr/>
        </p:nvSpPr>
        <p:spPr bwMode="auto">
          <a:xfrm>
            <a:off x="323850" y="188913"/>
            <a:ext cx="5399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latin typeface="黑体" pitchFamily="2" charset="-122"/>
                <a:ea typeface="黑体" pitchFamily="2" charset="-122"/>
              </a:rPr>
              <a:t>5</a:t>
            </a:r>
            <a:r>
              <a:rPr lang="zh-CN" altLang="en-US" sz="2400">
                <a:latin typeface="黑体" pitchFamily="2" charset="-122"/>
                <a:ea typeface="黑体" pitchFamily="2" charset="-122"/>
              </a:rPr>
              <a:t>位</a:t>
            </a:r>
            <a:r>
              <a:rPr lang="en-US" altLang="zh-CN" sz="2400" i="1">
                <a:latin typeface="黑体" pitchFamily="2" charset="-122"/>
                <a:ea typeface="黑体" pitchFamily="2" charset="-122"/>
              </a:rPr>
              <a:t>×</a:t>
            </a:r>
            <a:r>
              <a:rPr lang="en-US" altLang="zh-CN" sz="2400">
                <a:latin typeface="黑体" pitchFamily="2" charset="-122"/>
                <a:ea typeface="黑体" pitchFamily="2" charset="-122"/>
              </a:rPr>
              <a:t>5</a:t>
            </a:r>
            <a:r>
              <a:rPr lang="zh-CN" altLang="en-US" sz="2400">
                <a:latin typeface="黑体" pitchFamily="2" charset="-122"/>
                <a:ea typeface="黑体" pitchFamily="2" charset="-122"/>
              </a:rPr>
              <a:t>位阵列乘法器的逻辑电路图演示</a:t>
            </a:r>
          </a:p>
        </p:txBody>
      </p:sp>
      <p:pic>
        <p:nvPicPr>
          <p:cNvPr id="6553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836613"/>
            <a:ext cx="492442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4437063"/>
            <a:ext cx="5327650"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8938" y="2420938"/>
            <a:ext cx="349567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65175"/>
            <a:ext cx="8534400"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82563" y="115888"/>
            <a:ext cx="871061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dirty="0">
                <a:latin typeface="黑体" pitchFamily="2" charset="-122"/>
                <a:ea typeface="黑体" pitchFamily="2" charset="-122"/>
              </a:rPr>
              <a:t>3.带符号的阵列乘法器</a:t>
            </a:r>
          </a:p>
          <a:p>
            <a:pPr eaLnBrk="0" hangingPunct="0">
              <a:lnSpc>
                <a:spcPct val="13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(1) 对2求补器电路</a:t>
            </a:r>
          </a:p>
          <a:p>
            <a:pPr eaLnBrk="0" hangingPunct="0">
              <a:lnSpc>
                <a:spcPct val="130000"/>
              </a:lnSpc>
            </a:pPr>
            <a:r>
              <a:rPr lang="zh-CN" altLang="zh-CN" sz="2400" dirty="0">
                <a:latin typeface="黑体" pitchFamily="2" charset="-122"/>
                <a:ea typeface="黑体" pitchFamily="2" charset="-122"/>
              </a:rPr>
              <a:t>　　我们先来看看算术运算部件设计中经常用到的求补电路。</a:t>
            </a:r>
            <a:endParaRPr lang="en-US" altLang="zh-CN" sz="2400" dirty="0">
              <a:latin typeface="黑体" pitchFamily="2" charset="-122"/>
              <a:ea typeface="黑体" pitchFamily="2" charset="-122"/>
            </a:endParaRPr>
          </a:p>
          <a:p>
            <a:pPr eaLnBrk="0" hangingPunct="0">
              <a:lnSpc>
                <a:spcPct val="130000"/>
              </a:lnSpc>
            </a:pPr>
            <a:r>
              <a:rPr lang="en-US" altLang="zh-CN" sz="2400" dirty="0">
                <a:latin typeface="黑体" pitchFamily="2" charset="-122"/>
                <a:ea typeface="黑体" pitchFamily="2" charset="-122"/>
              </a:rPr>
              <a:t>     </a:t>
            </a:r>
            <a:r>
              <a:rPr lang="zh-CN" altLang="zh-CN" sz="2400" dirty="0">
                <a:latin typeface="黑体" pitchFamily="2" charset="-122"/>
                <a:ea typeface="黑体" pitchFamily="2" charset="-122"/>
              </a:rPr>
              <a:t>一个具有使能控制的二进制对2求补器电路</a:t>
            </a:r>
          </a:p>
        </p:txBody>
      </p:sp>
      <p:sp>
        <p:nvSpPr>
          <p:cNvPr id="67587" name="AutoShape 2" descr="G:\jzdx\%E8%AE%A1%E7%AE%97%E6%9C%BA%E7%BB%84%E6%88%90%E5%8E%9F%E7%90%86\%E6%95%99%E6%A1%88\%E7%AC%AC%E4%BA%8C%E7%AB%A0\htm\Images\cai.jpg">
            <a:hlinkClick r:id="rId3" action="ppaction://hlinkfile"/>
          </p:cNvPr>
          <p:cNvSpPr>
            <a:spLocks noChangeAspect="1" noChangeArrowheads="1"/>
          </p:cNvSpPr>
          <p:nvPr/>
        </p:nvSpPr>
        <p:spPr bwMode="auto">
          <a:xfrm>
            <a:off x="8356600" y="-22225"/>
            <a:ext cx="7810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7588" name="Picture 4">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300" y="2112963"/>
            <a:ext cx="692467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矩形 3"/>
          <p:cNvSpPr>
            <a:spLocks noChangeArrowheads="1"/>
          </p:cNvSpPr>
          <p:nvPr/>
        </p:nvSpPr>
        <p:spPr bwMode="auto">
          <a:xfrm>
            <a:off x="250825" y="4508500"/>
            <a:ext cx="85645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i="1" dirty="0">
                <a:latin typeface="黑体" pitchFamily="2" charset="-122"/>
                <a:ea typeface="黑体" pitchFamily="2" charset="-122"/>
              </a:rPr>
              <a:t>  E=0, </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dirty="0" err="1">
                <a:latin typeface="黑体" pitchFamily="2" charset="-122"/>
                <a:ea typeface="黑体" pitchFamily="2" charset="-122"/>
              </a:rPr>
              <a:t>⊕E</a:t>
            </a:r>
            <a:r>
              <a:rPr lang="en-US" altLang="zh-CN" sz="2400" i="1" dirty="0" err="1">
                <a:latin typeface="黑体" pitchFamily="2" charset="-122"/>
                <a:ea typeface="黑体" pitchFamily="2" charset="-122"/>
              </a:rPr>
              <a:t>C</a:t>
            </a:r>
            <a:r>
              <a:rPr lang="en-US" altLang="zh-CN" sz="2400" i="1" baseline="-25000" dirty="0" err="1">
                <a:latin typeface="黑体" pitchFamily="2" charset="-122"/>
                <a:ea typeface="黑体" pitchFamily="2" charset="-122"/>
              </a:rPr>
              <a:t>i</a:t>
            </a:r>
            <a:r>
              <a:rPr lang="zh-CN" altLang="en-US" sz="2400" baseline="-25000" dirty="0">
                <a:latin typeface="黑体" pitchFamily="2" charset="-122"/>
                <a:ea typeface="黑体" pitchFamily="2" charset="-122"/>
              </a:rPr>
              <a:t>－</a:t>
            </a:r>
            <a:r>
              <a:rPr lang="en-US" altLang="zh-CN" sz="2400" baseline="-25000" dirty="0">
                <a:latin typeface="黑体" pitchFamily="2" charset="-122"/>
                <a:ea typeface="黑体" pitchFamily="2" charset="-122"/>
              </a:rPr>
              <a:t>1</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i</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i="1" baseline="-25000" dirty="0">
                <a:latin typeface="黑体" pitchFamily="2" charset="-122"/>
                <a:ea typeface="黑体" pitchFamily="2" charset="-122"/>
              </a:rPr>
              <a:t>  </a:t>
            </a:r>
          </a:p>
          <a:p>
            <a:pPr>
              <a:lnSpc>
                <a:spcPct val="120000"/>
              </a:lnSpc>
            </a:pPr>
            <a:r>
              <a:rPr lang="en-US" altLang="zh-CN" sz="2400" baseline="-25000" dirty="0">
                <a:latin typeface="黑体" pitchFamily="2" charset="-122"/>
                <a:ea typeface="黑体" pitchFamily="2" charset="-122"/>
              </a:rPr>
              <a:t>   </a:t>
            </a:r>
            <a:r>
              <a:rPr lang="en-US" altLang="zh-CN" sz="2400" i="1" dirty="0">
                <a:latin typeface="黑体" pitchFamily="2" charset="-122"/>
                <a:ea typeface="黑体" pitchFamily="2" charset="-122"/>
              </a:rPr>
              <a:t>E=1, </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dirty="0" err="1">
                <a:latin typeface="黑体" pitchFamily="2" charset="-122"/>
                <a:ea typeface="黑体" pitchFamily="2" charset="-122"/>
              </a:rPr>
              <a:t>⊕E</a:t>
            </a:r>
            <a:r>
              <a:rPr lang="en-US" altLang="zh-CN" sz="2400" i="1" dirty="0" err="1">
                <a:latin typeface="黑体" pitchFamily="2" charset="-122"/>
                <a:ea typeface="黑体" pitchFamily="2" charset="-122"/>
              </a:rPr>
              <a:t>C</a:t>
            </a:r>
            <a:r>
              <a:rPr lang="en-US" altLang="zh-CN" sz="2400" i="1" baseline="-25000" dirty="0" err="1">
                <a:latin typeface="黑体" pitchFamily="2" charset="-122"/>
                <a:ea typeface="黑体" pitchFamily="2" charset="-122"/>
              </a:rPr>
              <a:t>i</a:t>
            </a:r>
            <a:r>
              <a:rPr lang="zh-CN" altLang="en-US" sz="2400" baseline="-25000" dirty="0">
                <a:latin typeface="黑体" pitchFamily="2" charset="-122"/>
                <a:ea typeface="黑体" pitchFamily="2" charset="-122"/>
              </a:rPr>
              <a:t>－</a:t>
            </a:r>
            <a:r>
              <a:rPr lang="en-US" altLang="zh-CN" sz="2400" baseline="-25000" dirty="0">
                <a:latin typeface="黑体" pitchFamily="2" charset="-122"/>
                <a:ea typeface="黑体" pitchFamily="2" charset="-122"/>
              </a:rPr>
              <a:t>1</a:t>
            </a:r>
            <a:r>
              <a:rPr lang="zh-CN" altLang="en-US"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dirty="0" err="1">
                <a:latin typeface="黑体" pitchFamily="2" charset="-122"/>
                <a:ea typeface="黑体" pitchFamily="2" charset="-122"/>
              </a:rPr>
              <a:t>⊕</a:t>
            </a:r>
            <a:r>
              <a:rPr lang="en-US" altLang="zh-CN" sz="2400" i="1" dirty="0" err="1">
                <a:latin typeface="黑体" pitchFamily="2" charset="-122"/>
                <a:ea typeface="黑体" pitchFamily="2" charset="-122"/>
              </a:rPr>
              <a:t>C</a:t>
            </a:r>
            <a:r>
              <a:rPr lang="en-US" altLang="zh-CN" sz="2400" i="1" baseline="-25000" dirty="0" err="1">
                <a:latin typeface="黑体" pitchFamily="2" charset="-122"/>
                <a:ea typeface="黑体" pitchFamily="2" charset="-122"/>
              </a:rPr>
              <a:t>i</a:t>
            </a:r>
            <a:r>
              <a:rPr lang="zh-CN" altLang="en-US" sz="2400" baseline="-25000" dirty="0">
                <a:latin typeface="黑体" pitchFamily="2" charset="-122"/>
                <a:ea typeface="黑体" pitchFamily="2" charset="-122"/>
              </a:rPr>
              <a:t>－</a:t>
            </a:r>
            <a:r>
              <a:rPr lang="en-US" altLang="zh-CN" sz="2400" baseline="-25000" dirty="0">
                <a:latin typeface="黑体" pitchFamily="2" charset="-122"/>
                <a:ea typeface="黑体" pitchFamily="2" charset="-122"/>
              </a:rPr>
              <a:t>1, </a:t>
            </a:r>
            <a:r>
              <a:rPr lang="zh-CN" altLang="en-US" sz="2400" i="1" dirty="0">
                <a:latin typeface="黑体" pitchFamily="2" charset="-122"/>
                <a:ea typeface="黑体" pitchFamily="2" charset="-122"/>
              </a:rPr>
              <a:t>设</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0,</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m-1,</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m</a:t>
            </a:r>
            <a:r>
              <a:rPr lang="en-US" altLang="zh-CN" sz="2400" i="1" dirty="0">
                <a:latin typeface="黑体" pitchFamily="2" charset="-122"/>
                <a:ea typeface="黑体" pitchFamily="2" charset="-122"/>
              </a:rPr>
              <a:t>=0</a:t>
            </a:r>
            <a:r>
              <a:rPr lang="en-US" altLang="zh-CN" sz="2400" i="1" baseline="-25000" dirty="0">
                <a:latin typeface="黑体" pitchFamily="2" charset="-122"/>
                <a:ea typeface="黑体" pitchFamily="2" charset="-122"/>
              </a:rPr>
              <a:t> ,</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m+1</a:t>
            </a:r>
            <a:r>
              <a:rPr lang="en-US" altLang="zh-CN" sz="2400" i="1" dirty="0">
                <a:latin typeface="黑体" pitchFamily="2" charset="-122"/>
                <a:ea typeface="黑体" pitchFamily="2" charset="-122"/>
              </a:rPr>
              <a:t>=1</a:t>
            </a:r>
          </a:p>
          <a:p>
            <a:pPr>
              <a:lnSpc>
                <a:spcPct val="120000"/>
              </a:lnSpc>
            </a:pPr>
            <a:r>
              <a:rPr lang="en-US" altLang="zh-CN" sz="2400" i="1" dirty="0">
                <a:latin typeface="黑体" pitchFamily="2" charset="-122"/>
                <a:ea typeface="黑体" pitchFamily="2" charset="-122"/>
              </a:rPr>
              <a:t>  j&lt;=m,</a:t>
            </a:r>
            <a:r>
              <a:rPr lang="en-US" altLang="zh-CN" sz="2400" i="1" baseline="-25000" dirty="0">
                <a:latin typeface="黑体" pitchFamily="2" charset="-122"/>
                <a:ea typeface="黑体" pitchFamily="2" charset="-122"/>
              </a:rPr>
              <a:t>       </a:t>
            </a:r>
            <a:r>
              <a:rPr lang="en-US" altLang="zh-CN" sz="2400" i="1" dirty="0" err="1">
                <a:latin typeface="黑体" pitchFamily="2" charset="-122"/>
                <a:ea typeface="黑体" pitchFamily="2" charset="-122"/>
              </a:rPr>
              <a:t>C</a:t>
            </a:r>
            <a:r>
              <a:rPr lang="en-US" altLang="zh-CN" sz="2400" baseline="-25000" dirty="0" err="1">
                <a:latin typeface="黑体" pitchFamily="2" charset="-122"/>
                <a:ea typeface="黑体" pitchFamily="2" charset="-122"/>
              </a:rPr>
              <a:t>j</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0,</a:t>
            </a:r>
            <a:r>
              <a:rPr lang="en-US" altLang="zh-CN" sz="2400" i="1" dirty="0">
                <a:latin typeface="黑体" pitchFamily="2" charset="-122"/>
                <a:ea typeface="黑体" pitchFamily="2" charset="-122"/>
              </a:rPr>
              <a:t> </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i="1" baseline="-25000" dirty="0">
                <a:latin typeface="黑体" pitchFamily="2" charset="-122"/>
                <a:ea typeface="黑体" pitchFamily="2" charset="-122"/>
              </a:rPr>
              <a:t> </a:t>
            </a:r>
          </a:p>
          <a:p>
            <a:pPr>
              <a:lnSpc>
                <a:spcPct val="120000"/>
              </a:lnSpc>
            </a:pPr>
            <a:r>
              <a:rPr lang="en-US" altLang="zh-CN" sz="2400" i="1" dirty="0">
                <a:latin typeface="黑体" pitchFamily="2" charset="-122"/>
                <a:ea typeface="黑体" pitchFamily="2" charset="-122"/>
              </a:rPr>
              <a:t> j=m+1,</a:t>
            </a:r>
            <a:r>
              <a:rPr lang="en-US" altLang="zh-CN" sz="2400" i="1" baseline="-25000" dirty="0">
                <a:latin typeface="黑体" pitchFamily="2" charset="-122"/>
                <a:ea typeface="黑体" pitchFamily="2" charset="-122"/>
              </a:rPr>
              <a:t>       </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m+1</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m+1 </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C</a:t>
            </a:r>
            <a:r>
              <a:rPr lang="en-US" altLang="zh-CN" sz="2400" i="1" baseline="-25000" dirty="0">
                <a:latin typeface="黑体" pitchFamily="2" charset="-122"/>
                <a:ea typeface="黑体" pitchFamily="2" charset="-122"/>
              </a:rPr>
              <a:t>m</a:t>
            </a:r>
            <a:r>
              <a:rPr lang="zh-CN" altLang="en-US" sz="2400" dirty="0">
                <a:latin typeface="黑体" pitchFamily="2" charset="-122"/>
                <a:ea typeface="黑体" pitchFamily="2" charset="-122"/>
              </a:rPr>
              <a:t> ＝</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m+1</a:t>
            </a:r>
            <a:r>
              <a:rPr lang="en-US" altLang="zh-CN" sz="2400" baseline="-25000" dirty="0">
                <a:latin typeface="黑体" pitchFamily="2" charset="-122"/>
                <a:ea typeface="黑体" pitchFamily="2" charset="-122"/>
              </a:rPr>
              <a:t> </a:t>
            </a:r>
            <a:r>
              <a:rPr lang="en-US" altLang="zh-CN" sz="2400" i="1" baseline="-25000" dirty="0">
                <a:latin typeface="黑体" pitchFamily="2" charset="-122"/>
                <a:ea typeface="黑体" pitchFamily="2" charset="-122"/>
              </a:rPr>
              <a:t>, </a:t>
            </a:r>
            <a:r>
              <a:rPr lang="en-US" altLang="zh-CN" sz="2400" i="1" dirty="0">
                <a:latin typeface="黑体" pitchFamily="2" charset="-122"/>
                <a:ea typeface="黑体" pitchFamily="2" charset="-122"/>
              </a:rPr>
              <a:t>C</a:t>
            </a:r>
            <a:r>
              <a:rPr lang="en-US" altLang="zh-CN" sz="2400" i="1" baseline="-25000" dirty="0">
                <a:latin typeface="黑体" pitchFamily="2" charset="-122"/>
                <a:ea typeface="黑体" pitchFamily="2" charset="-122"/>
              </a:rPr>
              <a:t>m+1</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m+1</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C</a:t>
            </a:r>
            <a:r>
              <a:rPr lang="en-US" altLang="zh-CN" sz="2400" i="1" baseline="-25000" dirty="0">
                <a:latin typeface="黑体" pitchFamily="2" charset="-122"/>
                <a:ea typeface="黑体" pitchFamily="2" charset="-122"/>
              </a:rPr>
              <a:t>m</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a:t>
            </a:r>
            <a:r>
              <a:rPr lang="en-US" altLang="zh-CN" sz="2400" i="1" baseline="-25000" dirty="0">
                <a:latin typeface="黑体" pitchFamily="2" charset="-122"/>
                <a:ea typeface="黑体" pitchFamily="2" charset="-122"/>
              </a:rPr>
              <a:t> </a:t>
            </a:r>
          </a:p>
          <a:p>
            <a:pPr>
              <a:lnSpc>
                <a:spcPct val="120000"/>
              </a:lnSpc>
            </a:pPr>
            <a:r>
              <a:rPr lang="en-US" altLang="zh-CN" sz="2400" i="1" dirty="0">
                <a:latin typeface="黑体" pitchFamily="2" charset="-122"/>
                <a:ea typeface="黑体" pitchFamily="2" charset="-122"/>
              </a:rPr>
              <a:t> j&gt;=m+1</a:t>
            </a:r>
            <a:r>
              <a:rPr lang="zh-CN" altLang="en-US" sz="2400" i="1" dirty="0">
                <a:latin typeface="黑体" pitchFamily="2" charset="-122"/>
                <a:ea typeface="黑体" pitchFamily="2" charset="-122"/>
              </a:rPr>
              <a:t>后，</a:t>
            </a:r>
            <a:r>
              <a:rPr lang="en-US" altLang="zh-CN" sz="2400" i="1" dirty="0" err="1">
                <a:latin typeface="黑体" pitchFamily="2" charset="-122"/>
                <a:ea typeface="黑体" pitchFamily="2" charset="-122"/>
              </a:rPr>
              <a:t>C</a:t>
            </a:r>
            <a:r>
              <a:rPr lang="en-US" altLang="zh-CN" sz="2400" i="1" baseline="-25000" dirty="0" err="1">
                <a:latin typeface="黑体" pitchFamily="2" charset="-122"/>
                <a:ea typeface="黑体" pitchFamily="2" charset="-122"/>
              </a:rPr>
              <a:t>j</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i</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1</a:t>
            </a:r>
            <a:r>
              <a:rPr lang="zh-CN" altLang="en-US"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endParaRPr lang="en-US" altLang="zh-CN" sz="2400" dirty="0">
              <a:latin typeface="黑体" pitchFamily="2" charset="-122"/>
              <a:ea typeface="黑体" pitchFamily="2" charset="-122"/>
            </a:endParaRPr>
          </a:p>
        </p:txBody>
      </p:sp>
      <p:cxnSp>
        <p:nvCxnSpPr>
          <p:cNvPr id="67592" name="直接连接符 2"/>
          <p:cNvCxnSpPr>
            <a:cxnSpLocks noChangeShapeType="1"/>
          </p:cNvCxnSpPr>
          <p:nvPr/>
        </p:nvCxnSpPr>
        <p:spPr bwMode="auto">
          <a:xfrm>
            <a:off x="4787900" y="6421438"/>
            <a:ext cx="2889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75931954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AutoShape 2" descr="G:\jzdx\%E8%AE%A1%E7%AE%97%E6%9C%BA%E7%BB%84%E6%88%90%E5%8E%9F%E7%90%86\%E6%95%99%E6%A1%88\%E7%AC%AC%E4%BA%8C%E7%AB%A0\htm\Images\cai.jpg">
            <a:hlinkClick r:id="rId3" action="ppaction://hlinkfile"/>
          </p:cNvPr>
          <p:cNvSpPr>
            <a:spLocks noChangeAspect="1" noChangeArrowheads="1"/>
          </p:cNvSpPr>
          <p:nvPr/>
        </p:nvSpPr>
        <p:spPr bwMode="auto">
          <a:xfrm>
            <a:off x="8356600" y="-22225"/>
            <a:ext cx="7810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7588" name="Picture 4">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300" y="2200047"/>
            <a:ext cx="692467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174011" y="71927"/>
            <a:ext cx="8782050" cy="1938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latin typeface="黑体" pitchFamily="2" charset="-122"/>
                <a:ea typeface="黑体" pitchFamily="2" charset="-122"/>
              </a:rPr>
              <a:t>   在对</a:t>
            </a:r>
            <a:r>
              <a:rPr lang="en-US" altLang="zh-CN" sz="2400" dirty="0">
                <a:latin typeface="黑体" pitchFamily="2" charset="-122"/>
                <a:ea typeface="黑体" pitchFamily="2" charset="-122"/>
              </a:rPr>
              <a:t>2</a:t>
            </a:r>
            <a:r>
              <a:rPr lang="zh-CN" altLang="en-US" sz="2400" dirty="0">
                <a:latin typeface="黑体" pitchFamily="2" charset="-122"/>
                <a:ea typeface="黑体" pitchFamily="2" charset="-122"/>
              </a:rPr>
              <a:t>求补时</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要采用按位扫描技术来执行所需要的求补操作。令</a:t>
            </a:r>
            <a:r>
              <a:rPr lang="en-US" altLang="zh-CN" sz="2400" i="1" dirty="0">
                <a:latin typeface="黑体" pitchFamily="2" charset="-122"/>
                <a:ea typeface="黑体" pitchFamily="2" charset="-122"/>
              </a:rPr>
              <a:t>A</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n</a:t>
            </a:r>
            <a:r>
              <a:rPr lang="en-US" altLang="zh-CN" sz="2400" i="1" dirty="0">
                <a:latin typeface="黑体" pitchFamily="2" charset="-122"/>
                <a:ea typeface="黑体" pitchFamily="2" charset="-122"/>
              </a:rPr>
              <a:t>…a</a:t>
            </a:r>
            <a:r>
              <a:rPr lang="en-US" altLang="zh-CN" sz="2400" baseline="-25000" dirty="0">
                <a:latin typeface="黑体" pitchFamily="2" charset="-122"/>
                <a:ea typeface="黑体" pitchFamily="2" charset="-122"/>
              </a:rPr>
              <a:t>1</a:t>
            </a:r>
            <a:r>
              <a:rPr lang="en-US" altLang="zh-CN" sz="2400" i="1" dirty="0">
                <a:latin typeface="黑体" pitchFamily="2" charset="-122"/>
                <a:ea typeface="黑体" pitchFamily="2" charset="-122"/>
              </a:rPr>
              <a:t>a</a:t>
            </a:r>
            <a:r>
              <a:rPr lang="en-US" altLang="zh-CN" sz="2400" baseline="-25000" dirty="0">
                <a:latin typeface="黑体" pitchFamily="2" charset="-122"/>
                <a:ea typeface="黑体" pitchFamily="2" charset="-122"/>
              </a:rPr>
              <a:t>0</a:t>
            </a:r>
            <a:r>
              <a:rPr lang="zh-CN" altLang="en-US" sz="2400" dirty="0">
                <a:latin typeface="黑体" pitchFamily="2" charset="-122"/>
                <a:ea typeface="黑体" pitchFamily="2" charset="-122"/>
              </a:rPr>
              <a:t>是给定的</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n</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位带符号的数</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要求确定它的补码形式。进行求补的方法就是从数的最右端</a:t>
            </a:r>
            <a:r>
              <a:rPr lang="en-US" altLang="zh-CN" sz="2400" i="1" dirty="0">
                <a:latin typeface="黑体" pitchFamily="2" charset="-122"/>
                <a:ea typeface="黑体" pitchFamily="2" charset="-122"/>
              </a:rPr>
              <a:t>a</a:t>
            </a:r>
            <a:r>
              <a:rPr lang="en-US" altLang="zh-CN" sz="2400" baseline="-25000" dirty="0">
                <a:latin typeface="黑体" pitchFamily="2" charset="-122"/>
                <a:ea typeface="黑体" pitchFamily="2" charset="-122"/>
              </a:rPr>
              <a:t>0</a:t>
            </a:r>
            <a:r>
              <a:rPr lang="zh-CN" altLang="en-US" sz="2400" dirty="0">
                <a:latin typeface="黑体" pitchFamily="2" charset="-122"/>
                <a:ea typeface="黑体" pitchFamily="2" charset="-122"/>
              </a:rPr>
              <a:t>开始</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由右向左</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直到找出第一个“</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例如</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 0≤</a:t>
            </a:r>
            <a:r>
              <a:rPr lang="en-US" altLang="zh-CN" sz="2400" i="1" dirty="0">
                <a:latin typeface="黑体" pitchFamily="2" charset="-122"/>
                <a:ea typeface="黑体" pitchFamily="2" charset="-122"/>
              </a:rPr>
              <a:t>i</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n</a:t>
            </a:r>
            <a:r>
              <a:rPr lang="zh-CN" altLang="en-US" sz="2400" dirty="0">
                <a:latin typeface="黑体" pitchFamily="2" charset="-122"/>
                <a:ea typeface="黑体" pitchFamily="2" charset="-122"/>
              </a:rPr>
              <a:t>。这样</a:t>
            </a:r>
            <a:r>
              <a:rPr lang="en-US" altLang="zh-CN" sz="2400" dirty="0">
                <a:latin typeface="黑体" pitchFamily="2" charset="-122"/>
                <a:ea typeface="黑体" pitchFamily="2" charset="-122"/>
              </a:rPr>
              <a:t>,</a:t>
            </a:r>
            <a:r>
              <a:rPr lang="en-US" altLang="zh-CN" sz="2400" i="1" dirty="0" err="1">
                <a:latin typeface="黑体" pitchFamily="2" charset="-122"/>
                <a:ea typeface="黑体" pitchFamily="2" charset="-122"/>
              </a:rPr>
              <a:t>a</a:t>
            </a:r>
            <a:r>
              <a:rPr lang="en-US" altLang="zh-CN" sz="2400" i="1" baseline="-25000" dirty="0" err="1">
                <a:latin typeface="黑体" pitchFamily="2" charset="-122"/>
                <a:ea typeface="黑体" pitchFamily="2" charset="-122"/>
              </a:rPr>
              <a:t>i</a:t>
            </a:r>
            <a:r>
              <a:rPr lang="zh-CN" altLang="en-US" sz="2400" dirty="0">
                <a:latin typeface="黑体" pitchFamily="2" charset="-122"/>
                <a:ea typeface="黑体" pitchFamily="2" charset="-122"/>
              </a:rPr>
              <a:t>以左的每一个输入位都求反</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即</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变</a:t>
            </a:r>
            <a:r>
              <a:rPr lang="en-US" altLang="zh-CN" sz="2400" dirty="0">
                <a:latin typeface="黑体" pitchFamily="2" charset="-122"/>
                <a:ea typeface="黑体" pitchFamily="2" charset="-122"/>
              </a:rPr>
              <a:t>0,0</a:t>
            </a:r>
            <a:r>
              <a:rPr lang="zh-CN" altLang="en-US" sz="2400" dirty="0">
                <a:latin typeface="黑体" pitchFamily="2" charset="-122"/>
                <a:ea typeface="黑体" pitchFamily="2" charset="-122"/>
              </a:rPr>
              <a:t>变</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a:t>
            </a:r>
          </a:p>
        </p:txBody>
      </p:sp>
      <p:sp>
        <p:nvSpPr>
          <p:cNvPr id="8" name="矩形 7"/>
          <p:cNvSpPr>
            <a:spLocks noChangeArrowheads="1"/>
          </p:cNvSpPr>
          <p:nvPr/>
        </p:nvSpPr>
        <p:spPr bwMode="auto">
          <a:xfrm>
            <a:off x="232067" y="4713737"/>
            <a:ext cx="8710613" cy="193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latin typeface="黑体" pitchFamily="2" charset="-122"/>
                <a:ea typeface="黑体" pitchFamily="2" charset="-122"/>
              </a:rPr>
              <a:t>　　最右端的起始链式输入</a:t>
            </a:r>
            <a:r>
              <a:rPr lang="en-US" altLang="zh-CN" sz="2400" i="1" dirty="0">
                <a:latin typeface="黑体" pitchFamily="2" charset="-122"/>
                <a:ea typeface="黑体" pitchFamily="2" charset="-122"/>
              </a:rPr>
              <a:t>C</a:t>
            </a:r>
            <a:r>
              <a:rPr lang="zh-CN" altLang="en-US" sz="2400" baseline="-25000" dirty="0">
                <a:latin typeface="黑体" pitchFamily="2" charset="-122"/>
                <a:ea typeface="黑体" pitchFamily="2" charset="-122"/>
              </a:rPr>
              <a:t>－</a:t>
            </a:r>
            <a:r>
              <a:rPr lang="en-US" altLang="zh-CN" sz="2400" baseline="-25000" dirty="0">
                <a:latin typeface="黑体" pitchFamily="2" charset="-122"/>
                <a:ea typeface="黑体" pitchFamily="2" charset="-122"/>
              </a:rPr>
              <a:t>1</a:t>
            </a:r>
            <a:r>
              <a:rPr lang="zh-CN" altLang="en-US" sz="2400" dirty="0">
                <a:latin typeface="黑体" pitchFamily="2" charset="-122"/>
                <a:ea typeface="黑体" pitchFamily="2" charset="-122"/>
              </a:rPr>
              <a:t>必须永远置成“</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。当控制信号线</a:t>
            </a:r>
            <a:r>
              <a:rPr lang="en-US" altLang="zh-CN" sz="2400" dirty="0">
                <a:latin typeface="黑体" pitchFamily="2" charset="-122"/>
                <a:ea typeface="黑体" pitchFamily="2" charset="-122"/>
              </a:rPr>
              <a:t>E</a:t>
            </a:r>
            <a:r>
              <a:rPr lang="zh-CN" altLang="en-US" sz="2400" dirty="0">
                <a:latin typeface="黑体" pitchFamily="2" charset="-122"/>
                <a:ea typeface="黑体" pitchFamily="2" charset="-122"/>
              </a:rPr>
              <a:t>为“</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时</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启动对</a:t>
            </a:r>
            <a:r>
              <a:rPr lang="en-US" altLang="zh-CN" sz="2400" dirty="0">
                <a:latin typeface="黑体" pitchFamily="2" charset="-122"/>
                <a:ea typeface="黑体" pitchFamily="2" charset="-122"/>
              </a:rPr>
              <a:t>2</a:t>
            </a:r>
            <a:r>
              <a:rPr lang="zh-CN" altLang="en-US" sz="2400" dirty="0">
                <a:latin typeface="黑体" pitchFamily="2" charset="-122"/>
                <a:ea typeface="黑体" pitchFamily="2" charset="-122"/>
              </a:rPr>
              <a:t>求补的操作。当控制信号线</a:t>
            </a:r>
            <a:r>
              <a:rPr lang="en-US" altLang="zh-CN" sz="2400" dirty="0">
                <a:latin typeface="黑体" pitchFamily="2" charset="-122"/>
                <a:ea typeface="黑体" pitchFamily="2" charset="-122"/>
              </a:rPr>
              <a:t>E</a:t>
            </a:r>
            <a:r>
              <a:rPr lang="zh-CN" altLang="en-US" sz="2400" dirty="0">
                <a:latin typeface="黑体" pitchFamily="2" charset="-122"/>
                <a:ea typeface="黑体" pitchFamily="2" charset="-122"/>
              </a:rPr>
              <a:t>为“</a:t>
            </a:r>
            <a:r>
              <a:rPr lang="en-US" altLang="zh-CN" sz="2400" dirty="0">
                <a:latin typeface="黑体" pitchFamily="2" charset="-122"/>
                <a:ea typeface="黑体" pitchFamily="2" charset="-122"/>
              </a:rPr>
              <a:t>0”</a:t>
            </a:r>
            <a:r>
              <a:rPr lang="zh-CN" altLang="en-US" sz="2400" dirty="0">
                <a:latin typeface="黑体" pitchFamily="2" charset="-122"/>
                <a:ea typeface="黑体" pitchFamily="2" charset="-122"/>
              </a:rPr>
              <a:t>时</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输出将和输入相等。</a:t>
            </a:r>
          </a:p>
          <a:p>
            <a:r>
              <a:rPr lang="zh-CN" altLang="en-US" sz="2400" dirty="0">
                <a:latin typeface="黑体" pitchFamily="2" charset="-122"/>
                <a:ea typeface="黑体" pitchFamily="2" charset="-122"/>
              </a:rPr>
              <a:t>    转换</a:t>
            </a:r>
            <a:r>
              <a:rPr lang="en-US" altLang="zh-CN" sz="2400" dirty="0">
                <a:latin typeface="黑体" pitchFamily="2" charset="-122"/>
                <a:ea typeface="黑体" pitchFamily="2" charset="-122"/>
              </a:rPr>
              <a:t>n+1</a:t>
            </a:r>
            <a:r>
              <a:rPr lang="zh-CN" altLang="en-US" sz="2400" dirty="0">
                <a:latin typeface="黑体" pitchFamily="2" charset="-122"/>
                <a:ea typeface="黑体" pitchFamily="2" charset="-122"/>
              </a:rPr>
              <a:t>位带符号的时间延迟为</a:t>
            </a:r>
            <a:r>
              <a:rPr lang="en-US" altLang="zh-CN" sz="2400" dirty="0">
                <a:latin typeface="黑体" pitchFamily="2" charset="-122"/>
                <a:ea typeface="黑体" pitchFamily="2" charset="-122"/>
              </a:rPr>
              <a:t>t=n*2T+5T</a:t>
            </a:r>
            <a:r>
              <a:rPr lang="zh-CN" altLang="en-US" sz="2400" dirty="0">
                <a:latin typeface="黑体" pitchFamily="2" charset="-122"/>
                <a:ea typeface="黑体" pitchFamily="2" charset="-122"/>
              </a:rPr>
              <a:t>，其中</a:t>
            </a:r>
            <a:r>
              <a:rPr lang="en-US" altLang="zh-CN" sz="2400" dirty="0">
                <a:latin typeface="黑体" pitchFamily="2" charset="-122"/>
                <a:ea typeface="黑体" pitchFamily="2" charset="-122"/>
              </a:rPr>
              <a:t>n*2T</a:t>
            </a:r>
            <a:r>
              <a:rPr lang="zh-CN" altLang="en-US" sz="2400" dirty="0">
                <a:latin typeface="黑体" pitchFamily="2" charset="-122"/>
                <a:ea typeface="黑体" pitchFamily="2" charset="-122"/>
              </a:rPr>
              <a:t>为或门延迟时间，</a:t>
            </a:r>
            <a:r>
              <a:rPr lang="en-US" altLang="zh-CN" sz="2400" dirty="0">
                <a:latin typeface="黑体" pitchFamily="2" charset="-122"/>
                <a:ea typeface="黑体" pitchFamily="2" charset="-122"/>
              </a:rPr>
              <a:t>5T</a:t>
            </a:r>
            <a:r>
              <a:rPr lang="zh-CN" altLang="en-US" sz="2400" dirty="0">
                <a:latin typeface="黑体" pitchFamily="2" charset="-122"/>
                <a:ea typeface="黑体" pitchFamily="2" charset="-122"/>
              </a:rPr>
              <a:t>为最高位与门和异或门的时延。</a:t>
            </a:r>
          </a:p>
        </p:txBody>
      </p:sp>
      <p:cxnSp>
        <p:nvCxnSpPr>
          <p:cNvPr id="67592" name="直接连接符 2"/>
          <p:cNvCxnSpPr>
            <a:cxnSpLocks noChangeShapeType="1"/>
          </p:cNvCxnSpPr>
          <p:nvPr/>
        </p:nvCxnSpPr>
        <p:spPr bwMode="auto">
          <a:xfrm>
            <a:off x="4787900" y="6421438"/>
            <a:ext cx="2889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1"/>
          <p:cNvSpPr>
            <a:spLocks noChangeArrowheads="1"/>
          </p:cNvSpPr>
          <p:nvPr/>
        </p:nvSpPr>
        <p:spPr bwMode="auto">
          <a:xfrm>
            <a:off x="539750" y="188913"/>
            <a:ext cx="3570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黑体" pitchFamily="2" charset="-122"/>
                <a:ea typeface="黑体" pitchFamily="2" charset="-122"/>
              </a:rPr>
              <a:t>(2) </a:t>
            </a:r>
            <a:r>
              <a:rPr lang="zh-CN" altLang="en-US" sz="2400">
                <a:latin typeface="黑体" pitchFamily="2" charset="-122"/>
                <a:ea typeface="黑体" pitchFamily="2" charset="-122"/>
              </a:rPr>
              <a:t>带符号的阵列乘法器</a:t>
            </a:r>
          </a:p>
        </p:txBody>
      </p:sp>
      <p:sp>
        <p:nvSpPr>
          <p:cNvPr id="68611" name="矩形 3"/>
          <p:cNvSpPr>
            <a:spLocks noChangeArrowheads="1"/>
          </p:cNvSpPr>
          <p:nvPr/>
        </p:nvSpPr>
        <p:spPr bwMode="auto">
          <a:xfrm>
            <a:off x="401638" y="4868863"/>
            <a:ext cx="834707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000">
                <a:latin typeface="黑体" pitchFamily="2" charset="-122"/>
                <a:ea typeface="黑体" pitchFamily="2" charset="-122"/>
              </a:rPr>
              <a:t>    通常</a:t>
            </a:r>
            <a:r>
              <a:rPr lang="en-US" altLang="zh-CN" sz="2000">
                <a:latin typeface="黑体" pitchFamily="2" charset="-122"/>
                <a:ea typeface="黑体" pitchFamily="2" charset="-122"/>
              </a:rPr>
              <a:t>,</a:t>
            </a:r>
            <a:r>
              <a:rPr lang="zh-CN" altLang="en-US" sz="2000">
                <a:latin typeface="黑体" pitchFamily="2" charset="-122"/>
                <a:ea typeface="黑体" pitchFamily="2" charset="-122"/>
              </a:rPr>
              <a:t>把包括这些求补级的乘法器又称为符号求补的阵列乘法器。在这种逻辑结构中</a:t>
            </a:r>
            <a:r>
              <a:rPr lang="en-US" altLang="zh-CN" sz="2000">
                <a:latin typeface="黑体" pitchFamily="2" charset="-122"/>
                <a:ea typeface="黑体" pitchFamily="2" charset="-122"/>
              </a:rPr>
              <a:t>,</a:t>
            </a:r>
            <a:r>
              <a:rPr lang="zh-CN" altLang="en-US" sz="2000">
                <a:latin typeface="黑体" pitchFamily="2" charset="-122"/>
                <a:ea typeface="黑体" pitchFamily="2" charset="-122"/>
              </a:rPr>
              <a:t>共使用三个求补器。其中两个算前求补器的作用是：将两个操作数</a:t>
            </a:r>
            <a:r>
              <a:rPr lang="en-US" altLang="zh-CN" sz="2000" i="1">
                <a:latin typeface="黑体" pitchFamily="2" charset="-122"/>
                <a:ea typeface="黑体" pitchFamily="2" charset="-122"/>
              </a:rPr>
              <a:t>A</a:t>
            </a:r>
            <a:r>
              <a:rPr lang="zh-CN" altLang="en-US" sz="2000">
                <a:latin typeface="黑体" pitchFamily="2" charset="-122"/>
                <a:ea typeface="黑体" pitchFamily="2" charset="-122"/>
              </a:rPr>
              <a:t>和</a:t>
            </a:r>
            <a:r>
              <a:rPr lang="en-US" altLang="zh-CN" sz="2000" i="1">
                <a:latin typeface="黑体" pitchFamily="2" charset="-122"/>
                <a:ea typeface="黑体" pitchFamily="2" charset="-122"/>
              </a:rPr>
              <a:t>B</a:t>
            </a:r>
            <a:r>
              <a:rPr lang="zh-CN" altLang="en-US" sz="2000">
                <a:latin typeface="黑体" pitchFamily="2" charset="-122"/>
                <a:ea typeface="黑体" pitchFamily="2" charset="-122"/>
              </a:rPr>
              <a:t>在被不带符号的乘法阵列</a:t>
            </a:r>
            <a:r>
              <a:rPr lang="en-US" altLang="zh-CN" sz="2000">
                <a:latin typeface="黑体" pitchFamily="2" charset="-122"/>
                <a:ea typeface="黑体" pitchFamily="2" charset="-122"/>
              </a:rPr>
              <a:t>(</a:t>
            </a:r>
            <a:r>
              <a:rPr lang="zh-CN" altLang="en-US" sz="2000">
                <a:latin typeface="黑体" pitchFamily="2" charset="-122"/>
                <a:ea typeface="黑体" pitchFamily="2" charset="-122"/>
              </a:rPr>
              <a:t>核心部件</a:t>
            </a:r>
            <a:r>
              <a:rPr lang="en-US" altLang="zh-CN" sz="2000">
                <a:latin typeface="黑体" pitchFamily="2" charset="-122"/>
                <a:ea typeface="黑体" pitchFamily="2" charset="-122"/>
              </a:rPr>
              <a:t>)</a:t>
            </a:r>
            <a:r>
              <a:rPr lang="zh-CN" altLang="en-US" sz="2000">
                <a:latin typeface="黑体" pitchFamily="2" charset="-122"/>
                <a:ea typeface="黑体" pitchFamily="2" charset="-122"/>
              </a:rPr>
              <a:t>相乘以前</a:t>
            </a:r>
            <a:r>
              <a:rPr lang="en-US" altLang="zh-CN" sz="2000">
                <a:latin typeface="黑体" pitchFamily="2" charset="-122"/>
                <a:ea typeface="黑体" pitchFamily="2" charset="-122"/>
              </a:rPr>
              <a:t>,</a:t>
            </a:r>
            <a:r>
              <a:rPr lang="zh-CN" altLang="en-US" sz="2000">
                <a:latin typeface="黑体" pitchFamily="2" charset="-122"/>
                <a:ea typeface="黑体" pitchFamily="2" charset="-122"/>
              </a:rPr>
              <a:t>先变成正整数。而算后求补器的作用是：当两个输入操作数的符号不一致时</a:t>
            </a:r>
            <a:r>
              <a:rPr lang="en-US" altLang="zh-CN" sz="2000">
                <a:latin typeface="黑体" pitchFamily="2" charset="-122"/>
                <a:ea typeface="黑体" pitchFamily="2" charset="-122"/>
              </a:rPr>
              <a:t>,</a:t>
            </a:r>
            <a:r>
              <a:rPr lang="zh-CN" altLang="en-US" sz="2000">
                <a:latin typeface="黑体" pitchFamily="2" charset="-122"/>
                <a:ea typeface="黑体" pitchFamily="2" charset="-122"/>
              </a:rPr>
              <a:t>把运算结果变成带符号的数。</a:t>
            </a:r>
          </a:p>
        </p:txBody>
      </p:sp>
      <p:pic>
        <p:nvPicPr>
          <p:cNvPr id="6861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776288"/>
            <a:ext cx="475297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1"/>
          <p:cNvSpPr>
            <a:spLocks noChangeArrowheads="1"/>
          </p:cNvSpPr>
          <p:nvPr/>
        </p:nvSpPr>
        <p:spPr bwMode="auto">
          <a:xfrm>
            <a:off x="179388" y="52824"/>
            <a:ext cx="482466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dirty="0">
                <a:latin typeface="黑体" pitchFamily="2" charset="-122"/>
                <a:ea typeface="黑体" pitchFamily="2" charset="-122"/>
              </a:rPr>
              <a:t>    设</a:t>
            </a:r>
            <a:r>
              <a:rPr lang="en-US" altLang="zh-CN" sz="2400" i="1" dirty="0">
                <a:latin typeface="黑体" pitchFamily="2" charset="-122"/>
                <a:ea typeface="黑体" pitchFamily="2" charset="-122"/>
              </a:rPr>
              <a:t>A</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n</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n-1</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1</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0</a:t>
            </a:r>
            <a:r>
              <a:rPr lang="zh-CN" altLang="en-US" sz="2400" dirty="0">
                <a:latin typeface="黑体" pitchFamily="2" charset="-122"/>
                <a:ea typeface="黑体" pitchFamily="2" charset="-122"/>
              </a:rPr>
              <a:t>和</a:t>
            </a:r>
            <a:r>
              <a:rPr lang="en-US" altLang="zh-CN" sz="2400" i="1" dirty="0">
                <a:latin typeface="黑体" pitchFamily="2" charset="-122"/>
                <a:ea typeface="黑体" pitchFamily="2" charset="-122"/>
              </a:rPr>
              <a:t>B</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b</a:t>
            </a:r>
            <a:r>
              <a:rPr lang="en-US" altLang="zh-CN" sz="2400" i="1" baseline="-25000" dirty="0">
                <a:latin typeface="黑体" pitchFamily="2" charset="-122"/>
                <a:ea typeface="黑体" pitchFamily="2" charset="-122"/>
              </a:rPr>
              <a:t>n</a:t>
            </a:r>
            <a:r>
              <a:rPr lang="en-US" altLang="zh-CN" sz="2400" i="1" dirty="0">
                <a:latin typeface="黑体" pitchFamily="2" charset="-122"/>
                <a:ea typeface="黑体" pitchFamily="2" charset="-122"/>
              </a:rPr>
              <a:t>b</a:t>
            </a:r>
            <a:r>
              <a:rPr lang="en-US" altLang="zh-CN" sz="2400" i="1" baseline="-25000" dirty="0">
                <a:latin typeface="黑体" pitchFamily="2" charset="-122"/>
                <a:ea typeface="黑体" pitchFamily="2" charset="-122"/>
              </a:rPr>
              <a:t>n-1</a:t>
            </a:r>
            <a:r>
              <a:rPr lang="en-US" altLang="zh-CN" sz="2400" i="1" dirty="0">
                <a:latin typeface="黑体" pitchFamily="2" charset="-122"/>
                <a:ea typeface="黑体" pitchFamily="2" charset="-122"/>
              </a:rPr>
              <a:t>…b</a:t>
            </a:r>
            <a:r>
              <a:rPr lang="en-US" altLang="zh-CN" sz="2400" i="1" baseline="-25000" dirty="0">
                <a:latin typeface="黑体" pitchFamily="2" charset="-122"/>
                <a:ea typeface="黑体" pitchFamily="2" charset="-122"/>
              </a:rPr>
              <a:t>1</a:t>
            </a:r>
            <a:r>
              <a:rPr lang="en-US" altLang="zh-CN" sz="2400" i="1" dirty="0">
                <a:latin typeface="黑体" pitchFamily="2" charset="-122"/>
                <a:ea typeface="黑体" pitchFamily="2" charset="-122"/>
              </a:rPr>
              <a:t>b</a:t>
            </a:r>
            <a:r>
              <a:rPr lang="en-US" altLang="zh-CN" sz="2400" i="1" baseline="-25000" dirty="0">
                <a:latin typeface="黑体" pitchFamily="2" charset="-122"/>
                <a:ea typeface="黑体" pitchFamily="2" charset="-122"/>
              </a:rPr>
              <a:t>0</a:t>
            </a:r>
            <a:r>
              <a:rPr lang="zh-CN" altLang="en-US" sz="2400" dirty="0">
                <a:latin typeface="黑体" pitchFamily="2" charset="-122"/>
                <a:ea typeface="黑体" pitchFamily="2" charset="-122"/>
              </a:rPr>
              <a:t>均为用定点表示的</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n</a:t>
            </a: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位带符号整数。在必要的求补操作以后</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A</a:t>
            </a:r>
            <a:r>
              <a:rPr lang="zh-CN" altLang="en-US" sz="2400" dirty="0">
                <a:latin typeface="黑体" pitchFamily="2" charset="-122"/>
                <a:ea typeface="黑体" pitchFamily="2" charset="-122"/>
              </a:rPr>
              <a:t>和</a:t>
            </a:r>
            <a:r>
              <a:rPr lang="en-US" altLang="zh-CN" sz="2400" i="1" dirty="0">
                <a:latin typeface="黑体" pitchFamily="2" charset="-122"/>
                <a:ea typeface="黑体" pitchFamily="2" charset="-122"/>
              </a:rPr>
              <a:t>B</a:t>
            </a:r>
            <a:r>
              <a:rPr lang="zh-CN" altLang="en-US" sz="2400" dirty="0">
                <a:latin typeface="黑体" pitchFamily="2" charset="-122"/>
                <a:ea typeface="黑体" pitchFamily="2" charset="-122"/>
              </a:rPr>
              <a:t>的码值输送给</a:t>
            </a:r>
            <a:r>
              <a:rPr lang="en-US" altLang="zh-CN" sz="2400" i="1" dirty="0" err="1">
                <a:latin typeface="黑体" pitchFamily="2" charset="-122"/>
                <a:ea typeface="黑体" pitchFamily="2" charset="-122"/>
              </a:rPr>
              <a:t>n×n</a:t>
            </a:r>
            <a:r>
              <a:rPr lang="zh-CN" altLang="en-US" sz="2400" dirty="0">
                <a:latin typeface="黑体" pitchFamily="2" charset="-122"/>
                <a:ea typeface="黑体" pitchFamily="2" charset="-122"/>
              </a:rPr>
              <a:t>位不带符号的阵列乘法器</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并由此产生</a:t>
            </a:r>
            <a:r>
              <a:rPr lang="en-US" altLang="zh-CN" sz="2400" dirty="0">
                <a:latin typeface="黑体" pitchFamily="2" charset="-122"/>
                <a:ea typeface="黑体" pitchFamily="2" charset="-122"/>
              </a:rPr>
              <a:t>2</a:t>
            </a:r>
            <a:r>
              <a:rPr lang="en-US" altLang="zh-CN" sz="2400" i="1" dirty="0">
                <a:latin typeface="黑体" pitchFamily="2" charset="-122"/>
                <a:ea typeface="黑体" pitchFamily="2" charset="-122"/>
              </a:rPr>
              <a:t>n</a:t>
            </a:r>
            <a:r>
              <a:rPr lang="zh-CN" altLang="en-US" sz="2400" dirty="0">
                <a:latin typeface="黑体" pitchFamily="2" charset="-122"/>
                <a:ea typeface="黑体" pitchFamily="2" charset="-122"/>
              </a:rPr>
              <a:t>位真值乘积</a:t>
            </a:r>
            <a:r>
              <a:rPr lang="en-US" altLang="zh-CN" sz="2400" dirty="0" smtClean="0">
                <a:latin typeface="黑体" pitchFamily="2" charset="-122"/>
                <a:ea typeface="黑体" pitchFamily="2" charset="-122"/>
              </a:rPr>
              <a:t>:</a:t>
            </a:r>
            <a:endParaRPr lang="zh-CN" altLang="en-US" sz="2400" dirty="0">
              <a:latin typeface="黑体" pitchFamily="2" charset="-122"/>
              <a:ea typeface="黑体" pitchFamily="2" charset="-122"/>
            </a:endParaRPr>
          </a:p>
        </p:txBody>
      </p:sp>
      <p:pic>
        <p:nvPicPr>
          <p:cNvPr id="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35284"/>
            <a:ext cx="3888432" cy="328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1"/>
          <p:cNvSpPr>
            <a:spLocks noChangeArrowheads="1"/>
          </p:cNvSpPr>
          <p:nvPr/>
        </p:nvSpPr>
        <p:spPr bwMode="auto">
          <a:xfrm>
            <a:off x="179388" y="3421846"/>
            <a:ext cx="871309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i="1" dirty="0">
                <a:latin typeface="黑体" pitchFamily="2" charset="-122"/>
                <a:ea typeface="黑体" pitchFamily="2" charset="-122"/>
              </a:rPr>
              <a:t>　</a:t>
            </a:r>
            <a:r>
              <a:rPr lang="zh-CN" altLang="en-US" sz="2400" i="1" dirty="0" smtClean="0">
                <a:latin typeface="黑体" pitchFamily="2" charset="-122"/>
                <a:ea typeface="黑体" pitchFamily="2" charset="-122"/>
              </a:rPr>
              <a:t>  </a:t>
            </a:r>
            <a:r>
              <a:rPr lang="en-US" altLang="zh-CN" sz="2400" i="1" dirty="0" smtClean="0">
                <a:latin typeface="黑体" pitchFamily="2" charset="-122"/>
                <a:ea typeface="黑体" pitchFamily="2" charset="-122"/>
              </a:rPr>
              <a:t>A·B</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P</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p</a:t>
            </a:r>
            <a:r>
              <a:rPr lang="en-US" altLang="zh-CN" sz="2400" baseline="-25000" dirty="0">
                <a:latin typeface="黑体" pitchFamily="2" charset="-122"/>
                <a:ea typeface="黑体" pitchFamily="2" charset="-122"/>
              </a:rPr>
              <a:t>2</a:t>
            </a:r>
            <a:r>
              <a:rPr lang="en-US" altLang="zh-CN" sz="2400" i="1" baseline="-25000" dirty="0">
                <a:latin typeface="黑体" pitchFamily="2" charset="-122"/>
                <a:ea typeface="黑体" pitchFamily="2" charset="-122"/>
              </a:rPr>
              <a:t>n</a:t>
            </a:r>
            <a:r>
              <a:rPr lang="zh-CN" altLang="en-US" sz="2400" baseline="-25000" dirty="0">
                <a:latin typeface="黑体" pitchFamily="2" charset="-122"/>
                <a:ea typeface="黑体" pitchFamily="2" charset="-122"/>
              </a:rPr>
              <a:t>－</a:t>
            </a:r>
            <a:r>
              <a:rPr lang="en-US" altLang="zh-CN" sz="2400" baseline="-25000" dirty="0" smtClean="0">
                <a:latin typeface="黑体" pitchFamily="2" charset="-122"/>
                <a:ea typeface="黑体" pitchFamily="2" charset="-122"/>
              </a:rPr>
              <a:t>1</a:t>
            </a:r>
            <a:r>
              <a:rPr lang="en-US" altLang="zh-CN" sz="2400" dirty="0" smtClean="0">
                <a:latin typeface="黑体" pitchFamily="2" charset="-122"/>
                <a:ea typeface="黑体" pitchFamily="2" charset="-122"/>
              </a:rPr>
              <a:t>…</a:t>
            </a:r>
            <a:r>
              <a:rPr lang="en-US" altLang="zh-CN" sz="2400" i="1" dirty="0" smtClean="0">
                <a:latin typeface="黑体" pitchFamily="2" charset="-122"/>
                <a:ea typeface="黑体" pitchFamily="2" charset="-122"/>
              </a:rPr>
              <a:t>p</a:t>
            </a:r>
            <a:r>
              <a:rPr lang="en-US" altLang="zh-CN" sz="2400" baseline="-25000" dirty="0" smtClean="0">
                <a:latin typeface="黑体" pitchFamily="2" charset="-122"/>
                <a:ea typeface="黑体" pitchFamily="2" charset="-122"/>
              </a:rPr>
              <a:t>1</a:t>
            </a:r>
            <a:r>
              <a:rPr lang="en-US" altLang="zh-CN" sz="2400" i="1" dirty="0" smtClean="0">
                <a:latin typeface="黑体" pitchFamily="2" charset="-122"/>
                <a:ea typeface="黑体" pitchFamily="2" charset="-122"/>
              </a:rPr>
              <a:t>p</a:t>
            </a:r>
            <a:r>
              <a:rPr lang="en-US" altLang="zh-CN" sz="2400" baseline="-25000" dirty="0" smtClean="0">
                <a:latin typeface="黑体" pitchFamily="2" charset="-122"/>
                <a:ea typeface="黑体" pitchFamily="2" charset="-122"/>
              </a:rPr>
              <a:t>0 </a:t>
            </a:r>
            <a:r>
              <a:rPr lang="zh-CN" altLang="en-US" sz="2400" baseline="-25000" dirty="0" smtClean="0">
                <a:latin typeface="黑体" pitchFamily="2" charset="-122"/>
                <a:ea typeface="黑体" pitchFamily="2" charset="-122"/>
              </a:rPr>
              <a:t>、</a:t>
            </a:r>
            <a:r>
              <a:rPr lang="en-US" altLang="zh-CN" sz="2400" i="1" dirty="0" smtClean="0">
                <a:latin typeface="黑体" pitchFamily="2" charset="-122"/>
                <a:ea typeface="黑体" pitchFamily="2" charset="-122"/>
              </a:rPr>
              <a:t>p</a:t>
            </a:r>
            <a:r>
              <a:rPr lang="en-US" altLang="zh-CN" sz="2400" baseline="-25000" dirty="0" smtClean="0">
                <a:latin typeface="黑体" pitchFamily="2" charset="-122"/>
                <a:ea typeface="黑体" pitchFamily="2" charset="-122"/>
              </a:rPr>
              <a:t>2</a:t>
            </a:r>
            <a:r>
              <a:rPr lang="en-US" altLang="zh-CN" sz="2400" i="1" baseline="-25000" dirty="0" smtClean="0">
                <a:latin typeface="黑体" pitchFamily="2" charset="-122"/>
                <a:ea typeface="黑体" pitchFamily="2" charset="-122"/>
              </a:rPr>
              <a:t>n</a:t>
            </a:r>
            <a:r>
              <a:rPr lang="zh-CN" altLang="en-US" sz="2400" dirty="0">
                <a:latin typeface="黑体" pitchFamily="2" charset="-122"/>
                <a:ea typeface="黑体" pitchFamily="2" charset="-122"/>
              </a:rPr>
              <a:t>＝</a:t>
            </a:r>
            <a:r>
              <a:rPr lang="en-US" altLang="zh-CN" sz="2400" i="1" dirty="0">
                <a:latin typeface="黑体" pitchFamily="2" charset="-122"/>
                <a:ea typeface="黑体" pitchFamily="2" charset="-122"/>
              </a:rPr>
              <a:t>a</a:t>
            </a:r>
            <a:r>
              <a:rPr lang="en-US" altLang="zh-CN" sz="2400" i="1" baseline="-25000" dirty="0">
                <a:latin typeface="黑体" pitchFamily="2" charset="-122"/>
                <a:ea typeface="黑体" pitchFamily="2" charset="-122"/>
              </a:rPr>
              <a:t>n</a:t>
            </a:r>
            <a:r>
              <a:rPr lang="zh-CN" altLang="en-US" sz="2400" dirty="0">
                <a:latin typeface="黑体" pitchFamily="2" charset="-122"/>
                <a:ea typeface="黑体" pitchFamily="2" charset="-122"/>
              </a:rPr>
              <a:t>⊕</a:t>
            </a:r>
            <a:r>
              <a:rPr lang="en-US" altLang="zh-CN" sz="2400" i="1" dirty="0" err="1" smtClean="0">
                <a:latin typeface="黑体" pitchFamily="2" charset="-122"/>
                <a:ea typeface="黑体" pitchFamily="2" charset="-122"/>
              </a:rPr>
              <a:t>b</a:t>
            </a:r>
            <a:r>
              <a:rPr lang="en-US" altLang="zh-CN" sz="2400" i="1" baseline="-25000" dirty="0" err="1" smtClean="0">
                <a:latin typeface="黑体" pitchFamily="2" charset="-122"/>
                <a:ea typeface="黑体" pitchFamily="2" charset="-122"/>
              </a:rPr>
              <a:t>n</a:t>
            </a:r>
            <a:r>
              <a:rPr lang="zh-CN" altLang="en-US" sz="2400" dirty="0">
                <a:latin typeface="黑体" pitchFamily="2" charset="-122"/>
                <a:ea typeface="黑体" pitchFamily="2" charset="-122"/>
              </a:rPr>
              <a:t>　</a:t>
            </a:r>
            <a:r>
              <a:rPr lang="zh-CN" altLang="en-US" sz="2400" dirty="0" smtClean="0">
                <a:latin typeface="黑体" pitchFamily="2" charset="-122"/>
                <a:ea typeface="黑体" pitchFamily="2" charset="-122"/>
              </a:rPr>
              <a:t>其中</a:t>
            </a:r>
            <a:r>
              <a:rPr lang="en-US" altLang="zh-CN" sz="2400" i="1" dirty="0">
                <a:latin typeface="黑体" pitchFamily="2" charset="-122"/>
                <a:ea typeface="黑体" pitchFamily="2" charset="-122"/>
              </a:rPr>
              <a:t>P</a:t>
            </a:r>
            <a:r>
              <a:rPr lang="en-US" altLang="zh-CN" sz="2400" baseline="-25000" dirty="0">
                <a:latin typeface="黑体" pitchFamily="2" charset="-122"/>
                <a:ea typeface="黑体" pitchFamily="2" charset="-122"/>
              </a:rPr>
              <a:t>2</a:t>
            </a:r>
            <a:r>
              <a:rPr lang="en-US" altLang="zh-CN" sz="2400" i="1" baseline="-25000" dirty="0">
                <a:latin typeface="黑体" pitchFamily="2" charset="-122"/>
                <a:ea typeface="黑体" pitchFamily="2" charset="-122"/>
              </a:rPr>
              <a:t>n</a:t>
            </a:r>
            <a:r>
              <a:rPr lang="zh-CN" altLang="en-US" sz="2400" dirty="0">
                <a:latin typeface="黑体" pitchFamily="2" charset="-122"/>
                <a:ea typeface="黑体" pitchFamily="2" charset="-122"/>
              </a:rPr>
              <a:t>为符号位。</a:t>
            </a:r>
          </a:p>
          <a:p>
            <a:pPr>
              <a:lnSpc>
                <a:spcPct val="150000"/>
              </a:lnSpc>
            </a:pPr>
            <a:r>
              <a:rPr lang="zh-CN" altLang="en-US" sz="2400" dirty="0">
                <a:latin typeface="黑体" pitchFamily="2" charset="-122"/>
                <a:ea typeface="黑体" pitchFamily="2" charset="-122"/>
              </a:rPr>
              <a:t>　　带求补级的阵列乘法器既适用于原码乘法</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也适用于间接的补码乘法。不过在原码乘法中</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算前求补和算后求补都不需要</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因为输入数据都是立即可用的。而间接的补码阵列乘法却需要使用三个求补器。为了完成所必需的求补与乘法操作</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时间大约比原码阵列乘法增加</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倍。</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95263" y="260350"/>
            <a:ext cx="8772525"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latin typeface="黑体" pitchFamily="2" charset="-122"/>
                <a:ea typeface="黑体" pitchFamily="2" charset="-122"/>
              </a:rPr>
              <a:t>例</a:t>
            </a:r>
            <a:r>
              <a:rPr lang="en-US" altLang="zh-CN" sz="2400">
                <a:latin typeface="黑体" pitchFamily="2" charset="-122"/>
                <a:ea typeface="黑体" pitchFamily="2" charset="-122"/>
              </a:rPr>
              <a:t>:</a:t>
            </a:r>
            <a:r>
              <a:rPr lang="zh-CN" altLang="zh-CN" sz="2400">
                <a:latin typeface="黑体" pitchFamily="2" charset="-122"/>
                <a:ea typeface="黑体" pitchFamily="2" charset="-122"/>
              </a:rPr>
              <a:t>设</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＝＋15,</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＝－13,用带求补器的原码阵列乘法器</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求出乘积</a:t>
            </a:r>
            <a:r>
              <a:rPr lang="zh-CN" altLang="zh-CN" sz="2400" i="1">
                <a:latin typeface="黑体" pitchFamily="2" charset="-122"/>
                <a:ea typeface="黑体" pitchFamily="2" charset="-122"/>
              </a:rPr>
              <a:t>ｘ·ｙ</a:t>
            </a:r>
            <a:r>
              <a:rPr lang="zh-CN" altLang="zh-CN" sz="2400">
                <a:latin typeface="黑体" pitchFamily="2" charset="-122"/>
                <a:ea typeface="黑体" pitchFamily="2" charset="-122"/>
              </a:rPr>
              <a:t>＝？</a:t>
            </a:r>
          </a:p>
          <a:p>
            <a:pPr eaLnBrk="0" hangingPunct="0">
              <a:lnSpc>
                <a:spcPct val="150000"/>
              </a:lnSpc>
            </a:pPr>
            <a:r>
              <a:rPr lang="zh-CN" altLang="zh-CN" sz="2400">
                <a:latin typeface="黑体" pitchFamily="2" charset="-122"/>
                <a:ea typeface="黑体" pitchFamily="2" charset="-122"/>
              </a:rPr>
              <a:t>解：设最高位为符号位,则输入数据为原码</a:t>
            </a:r>
          </a:p>
          <a:p>
            <a:pPr eaLnBrk="0" hangingPunct="0">
              <a:lnSpc>
                <a:spcPct val="150000"/>
              </a:lnSpc>
            </a:pPr>
            <a:r>
              <a:rPr lang="zh-CN" altLang="zh-CN" sz="2400">
                <a:latin typeface="黑体" pitchFamily="2" charset="-122"/>
                <a:ea typeface="黑体" pitchFamily="2" charset="-122"/>
              </a:rPr>
              <a:t>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原</a:t>
            </a:r>
            <a:r>
              <a:rPr lang="zh-CN" altLang="zh-CN" sz="2400">
                <a:latin typeface="黑体" pitchFamily="2" charset="-122"/>
                <a:ea typeface="黑体" pitchFamily="2" charset="-122"/>
              </a:rPr>
              <a:t> ＝01111　　　 [</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原</a:t>
            </a:r>
            <a:r>
              <a:rPr lang="zh-CN" altLang="zh-CN" sz="2400">
                <a:latin typeface="黑体" pitchFamily="2" charset="-122"/>
                <a:ea typeface="黑体" pitchFamily="2" charset="-122"/>
              </a:rPr>
              <a:t> ＝ 11101</a:t>
            </a:r>
          </a:p>
          <a:p>
            <a:pPr eaLnBrk="0" hangingPunct="0">
              <a:lnSpc>
                <a:spcPct val="150000"/>
              </a:lnSpc>
            </a:pPr>
            <a:r>
              <a:rPr lang="zh-CN" altLang="zh-CN" sz="2400">
                <a:latin typeface="黑体" pitchFamily="2" charset="-122"/>
                <a:ea typeface="黑体" pitchFamily="2" charset="-122"/>
              </a:rPr>
              <a:t>　　符号位单独运算：X</a:t>
            </a:r>
            <a:r>
              <a:rPr lang="zh-CN" altLang="zh-CN" sz="2400" baseline="-30000">
                <a:latin typeface="黑体" pitchFamily="2" charset="-122"/>
                <a:ea typeface="黑体" pitchFamily="2" charset="-122"/>
              </a:rPr>
              <a:t>0</a:t>
            </a:r>
            <a:r>
              <a:rPr lang="zh-CN" altLang="zh-CN" sz="2400">
                <a:latin typeface="黑体" pitchFamily="2" charset="-122"/>
                <a:ea typeface="黑体" pitchFamily="2" charset="-122"/>
              </a:rPr>
              <a:t>⊕Y</a:t>
            </a:r>
            <a:r>
              <a:rPr lang="zh-CN" altLang="zh-CN" sz="2400" baseline="-30000">
                <a:latin typeface="黑体" pitchFamily="2" charset="-122"/>
                <a:ea typeface="黑体" pitchFamily="2" charset="-122"/>
              </a:rPr>
              <a:t>0 </a:t>
            </a:r>
            <a:r>
              <a:rPr lang="zh-CN" altLang="zh-CN" sz="2400">
                <a:latin typeface="黑体" pitchFamily="2" charset="-122"/>
                <a:ea typeface="黑体" pitchFamily="2" charset="-122"/>
              </a:rPr>
              <a:t>= 1</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算前求补级输出 |ｘ|＝1111,|ｙ|＝1101</a:t>
            </a:r>
          </a:p>
          <a:p>
            <a:pPr eaLnBrk="0" hangingPunct="0">
              <a:lnSpc>
                <a:spcPct val="150000"/>
              </a:lnSpc>
            </a:pPr>
            <a:r>
              <a:rPr lang="zh-CN" altLang="zh-CN" sz="2400">
                <a:latin typeface="黑体" pitchFamily="2" charset="-122"/>
                <a:ea typeface="黑体" pitchFamily="2" charset="-122"/>
              </a:rPr>
              <a:t>  　算后经求补级输出并加上乘积符号位1,</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则原码乘积值为111000011。</a:t>
            </a:r>
          </a:p>
          <a:p>
            <a:pPr eaLnBrk="0" hangingPunct="0">
              <a:lnSpc>
                <a:spcPct val="150000"/>
              </a:lnSpc>
            </a:pPr>
            <a:r>
              <a:rPr lang="zh-CN" altLang="zh-CN" sz="2400">
                <a:latin typeface="黑体" pitchFamily="2" charset="-122"/>
                <a:ea typeface="黑体" pitchFamily="2" charset="-122"/>
              </a:rPr>
              <a:t>　　换算成二进制数真值是</a:t>
            </a:r>
          </a:p>
          <a:p>
            <a:pPr eaLnBrk="0" hangingPunct="0">
              <a:lnSpc>
                <a:spcPct val="150000"/>
              </a:lnSpc>
            </a:pPr>
            <a:r>
              <a:rPr lang="en-US" altLang="zh-CN" sz="2400" i="1">
                <a:latin typeface="黑体" pitchFamily="2" charset="-122"/>
                <a:ea typeface="黑体" pitchFamily="2" charset="-122"/>
              </a:rPr>
              <a:t>    </a:t>
            </a:r>
            <a:r>
              <a:rPr lang="zh-CN" altLang="zh-CN" sz="2400" i="1">
                <a:latin typeface="黑体" pitchFamily="2" charset="-122"/>
                <a:ea typeface="黑体" pitchFamily="2" charset="-122"/>
              </a:rPr>
              <a:t>ｘ·ｙ</a:t>
            </a:r>
            <a:r>
              <a:rPr lang="zh-CN" altLang="zh-CN" sz="2400">
                <a:latin typeface="黑体" pitchFamily="2" charset="-122"/>
                <a:ea typeface="黑体" pitchFamily="2" charset="-122"/>
              </a:rPr>
              <a:t>＝( －11000011)</a:t>
            </a:r>
            <a:r>
              <a:rPr lang="zh-CN" altLang="zh-CN" sz="2400" baseline="-30000">
                <a:latin typeface="黑体" pitchFamily="2" charset="-122"/>
                <a:ea typeface="黑体" pitchFamily="2" charset="-122"/>
              </a:rPr>
              <a:t>2</a:t>
            </a:r>
            <a:r>
              <a:rPr lang="zh-CN" altLang="zh-CN" sz="2400">
                <a:latin typeface="黑体" pitchFamily="2" charset="-122"/>
                <a:ea typeface="黑体" pitchFamily="2" charset="-122"/>
              </a:rPr>
              <a:t>=(-195)</a:t>
            </a:r>
            <a:r>
              <a:rPr lang="zh-CN" altLang="zh-CN" sz="2400" baseline="-30000">
                <a:latin typeface="黑体" pitchFamily="2" charset="-122"/>
                <a:ea typeface="黑体" pitchFamily="2" charset="-122"/>
              </a:rPr>
              <a:t>10</a:t>
            </a:r>
            <a:endParaRPr lang="zh-CN"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十进制数验证：15×(－13)＝－195。</a:t>
            </a:r>
          </a:p>
        </p:txBody>
      </p:sp>
      <p:sp>
        <p:nvSpPr>
          <p:cNvPr id="70659" name="AutoShape 2" descr="G:\jzdx\%E8%AE%A1%E7%AE%97%E6%9C%BA%E7%BB%84%E6%88%90%E5%8E%9F%E7%90%86\%E6%95%99%E6%A1%88\%E7%AC%AC%E4%BA%8C%E7%AB%A0\htm\Images\s2.3.1.4.gif"/>
          <p:cNvSpPr>
            <a:spLocks noChangeAspect="1" noChangeArrowheads="1"/>
          </p:cNvSpPr>
          <p:nvPr/>
        </p:nvSpPr>
        <p:spPr bwMode="auto">
          <a:xfrm>
            <a:off x="149225" y="350838"/>
            <a:ext cx="36861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7066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6475" y="3600450"/>
            <a:ext cx="290988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49225" y="260350"/>
            <a:ext cx="8815388"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latin typeface="黑体" pitchFamily="2" charset="-122"/>
                <a:ea typeface="黑体" pitchFamily="2" charset="-122"/>
              </a:rPr>
              <a:t>例</a:t>
            </a:r>
            <a:r>
              <a:rPr lang="en-US" altLang="zh-CN" sz="2400">
                <a:latin typeface="黑体" pitchFamily="2" charset="-122"/>
                <a:ea typeface="黑体" pitchFamily="2" charset="-122"/>
              </a:rPr>
              <a:t>:</a:t>
            </a:r>
            <a:r>
              <a:rPr lang="zh-CN" altLang="zh-CN" sz="2400">
                <a:latin typeface="黑体" pitchFamily="2" charset="-122"/>
                <a:ea typeface="黑体" pitchFamily="2" charset="-122"/>
              </a:rPr>
              <a:t>设</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 - 15,</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＝－13,用带求补器的补码阵列乘法器</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求出乘积</a:t>
            </a:r>
            <a:r>
              <a:rPr lang="zh-CN" altLang="zh-CN" sz="2400" i="1">
                <a:latin typeface="黑体" pitchFamily="2" charset="-122"/>
                <a:ea typeface="黑体" pitchFamily="2" charset="-122"/>
              </a:rPr>
              <a:t>ｘ·ｙ</a:t>
            </a:r>
            <a:r>
              <a:rPr lang="zh-CN" altLang="zh-CN" sz="2400">
                <a:latin typeface="黑体" pitchFamily="2" charset="-122"/>
                <a:ea typeface="黑体" pitchFamily="2" charset="-122"/>
              </a:rPr>
              <a:t>＝？</a:t>
            </a:r>
          </a:p>
          <a:p>
            <a:pPr eaLnBrk="0" hangingPunct="0">
              <a:lnSpc>
                <a:spcPct val="150000"/>
              </a:lnSpc>
            </a:pPr>
            <a:r>
              <a:rPr lang="zh-CN" altLang="zh-CN" sz="2400">
                <a:latin typeface="黑体" pitchFamily="2" charset="-122"/>
                <a:ea typeface="黑体" pitchFamily="2" charset="-122"/>
              </a:rPr>
              <a:t>解：设最高位为符号位,则输入数据为用补码表示</a:t>
            </a:r>
          </a:p>
          <a:p>
            <a:pPr eaLnBrk="0" hangingPunct="0">
              <a:lnSpc>
                <a:spcPct val="150000"/>
              </a:lnSpc>
            </a:pPr>
            <a:r>
              <a:rPr lang="zh-CN" altLang="zh-CN" sz="2400">
                <a:latin typeface="黑体" pitchFamily="2" charset="-122"/>
                <a:ea typeface="黑体" pitchFamily="2" charset="-122"/>
              </a:rPr>
              <a:t>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en-US" altLang="zh-CN" sz="2400">
                <a:latin typeface="黑体" pitchFamily="2" charset="-122"/>
                <a:ea typeface="黑体" pitchFamily="2" charset="-122"/>
              </a:rPr>
              <a:t>-</a:t>
            </a:r>
            <a:r>
              <a:rPr lang="zh-CN" altLang="zh-CN" sz="2400">
                <a:latin typeface="黑体" pitchFamily="2" charset="-122"/>
                <a:ea typeface="黑体" pitchFamily="2" charset="-122"/>
              </a:rPr>
              <a:t>1111</a:t>
            </a:r>
            <a:r>
              <a:rPr lang="zh-CN" altLang="en-US"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en-US" altLang="zh-CN" sz="2400">
                <a:latin typeface="黑体" pitchFamily="2" charset="-122"/>
                <a:ea typeface="黑体" pitchFamily="2" charset="-122"/>
              </a:rPr>
              <a:t>-</a:t>
            </a:r>
            <a:r>
              <a:rPr lang="zh-CN" altLang="zh-CN" sz="2400">
                <a:latin typeface="黑体" pitchFamily="2" charset="-122"/>
                <a:ea typeface="黑体" pitchFamily="2" charset="-122"/>
              </a:rPr>
              <a:t>1101</a:t>
            </a:r>
            <a:r>
              <a:rPr lang="zh-CN" altLang="en-US" sz="2400">
                <a:latin typeface="黑体" pitchFamily="2" charset="-122"/>
                <a:ea typeface="黑体" pitchFamily="2" charset="-122"/>
              </a:rPr>
              <a:t>；</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＝10001</a:t>
            </a:r>
            <a:r>
              <a:rPr lang="zh-CN" altLang="en-US" sz="2400">
                <a:latin typeface="黑体" pitchFamily="2" charset="-122"/>
                <a:ea typeface="黑体" pitchFamily="2" charset="-122"/>
              </a:rPr>
              <a:t>、</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＝10011</a:t>
            </a:r>
          </a:p>
          <a:p>
            <a:pPr eaLnBrk="0" hangingPunct="0">
              <a:lnSpc>
                <a:spcPct val="150000"/>
              </a:lnSpc>
            </a:pPr>
            <a:r>
              <a:rPr lang="zh-CN" altLang="zh-CN" sz="2400">
                <a:latin typeface="黑体" pitchFamily="2" charset="-122"/>
                <a:ea typeface="黑体" pitchFamily="2" charset="-122"/>
              </a:rPr>
              <a:t>　　符号位单独运算：X</a:t>
            </a:r>
            <a:r>
              <a:rPr lang="zh-CN" altLang="zh-CN" sz="2400" baseline="-30000">
                <a:latin typeface="黑体" pitchFamily="2" charset="-122"/>
                <a:ea typeface="黑体" pitchFamily="2" charset="-122"/>
              </a:rPr>
              <a:t>0</a:t>
            </a:r>
            <a:r>
              <a:rPr lang="zh-CN" altLang="zh-CN" sz="2400">
                <a:latin typeface="黑体" pitchFamily="2" charset="-122"/>
                <a:ea typeface="黑体" pitchFamily="2" charset="-122"/>
              </a:rPr>
              <a:t>⊕Y</a:t>
            </a:r>
            <a:r>
              <a:rPr lang="zh-CN" altLang="zh-CN" sz="2400" baseline="-30000">
                <a:latin typeface="黑体" pitchFamily="2" charset="-122"/>
                <a:ea typeface="黑体" pitchFamily="2" charset="-122"/>
              </a:rPr>
              <a:t>0 </a:t>
            </a:r>
            <a:r>
              <a:rPr lang="zh-CN" altLang="zh-CN" sz="2400">
                <a:latin typeface="黑体" pitchFamily="2" charset="-122"/>
                <a:ea typeface="黑体" pitchFamily="2" charset="-122"/>
              </a:rPr>
              <a:t>= 0</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算前求补级输出 |ｘ|＝1111,|ｙ|＝1101</a:t>
            </a:r>
          </a:p>
          <a:p>
            <a:pPr eaLnBrk="0" hangingPunct="0">
              <a:lnSpc>
                <a:spcPct val="150000"/>
              </a:lnSpc>
            </a:pPr>
            <a:r>
              <a:rPr lang="zh-CN" altLang="zh-CN" sz="2400">
                <a:latin typeface="黑体" pitchFamily="2" charset="-122"/>
                <a:ea typeface="黑体" pitchFamily="2" charset="-122"/>
              </a:rPr>
              <a:t>  　算后经求补级输出并加上乘积符号位0,则补码乘积值为</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 = 011000011。</a:t>
            </a:r>
          </a:p>
          <a:p>
            <a:pPr eaLnBrk="0" hangingPunct="0">
              <a:lnSpc>
                <a:spcPct val="150000"/>
              </a:lnSpc>
            </a:pPr>
            <a:r>
              <a:rPr lang="zh-CN" altLang="zh-CN" sz="2400">
                <a:latin typeface="黑体" pitchFamily="2" charset="-122"/>
                <a:ea typeface="黑体" pitchFamily="2" charset="-122"/>
              </a:rPr>
              <a:t>　　换算成二进制数真值是</a:t>
            </a:r>
          </a:p>
          <a:p>
            <a:pPr eaLnBrk="0" hangingPunct="0">
              <a:lnSpc>
                <a:spcPct val="150000"/>
              </a:lnSpc>
            </a:pPr>
            <a:r>
              <a:rPr lang="en-US" altLang="zh-CN" sz="2400" i="1">
                <a:latin typeface="黑体" pitchFamily="2" charset="-122"/>
                <a:ea typeface="黑体" pitchFamily="2" charset="-122"/>
              </a:rPr>
              <a:t>    </a:t>
            </a:r>
            <a:r>
              <a:rPr lang="zh-CN" altLang="zh-CN" sz="2400" i="1">
                <a:latin typeface="黑体" pitchFamily="2" charset="-122"/>
                <a:ea typeface="黑体" pitchFamily="2" charset="-122"/>
              </a:rPr>
              <a:t>ｘ·ｙ</a:t>
            </a:r>
            <a:r>
              <a:rPr lang="zh-CN" altLang="zh-CN" sz="2400">
                <a:latin typeface="黑体" pitchFamily="2" charset="-122"/>
                <a:ea typeface="黑体" pitchFamily="2" charset="-122"/>
              </a:rPr>
              <a:t>＝(11000011)</a:t>
            </a:r>
            <a:r>
              <a:rPr lang="zh-CN" altLang="zh-CN" sz="2400" baseline="-30000">
                <a:latin typeface="黑体" pitchFamily="2" charset="-122"/>
                <a:ea typeface="黑体" pitchFamily="2" charset="-122"/>
              </a:rPr>
              <a:t>2</a:t>
            </a:r>
            <a:r>
              <a:rPr lang="zh-CN" altLang="zh-CN" sz="2400">
                <a:latin typeface="黑体" pitchFamily="2" charset="-122"/>
                <a:ea typeface="黑体" pitchFamily="2" charset="-122"/>
              </a:rPr>
              <a:t>=(195)</a:t>
            </a:r>
            <a:r>
              <a:rPr lang="zh-CN" altLang="zh-CN" sz="2400" baseline="-30000">
                <a:latin typeface="黑体" pitchFamily="2" charset="-122"/>
                <a:ea typeface="黑体" pitchFamily="2" charset="-122"/>
              </a:rPr>
              <a:t>10</a:t>
            </a:r>
            <a:endParaRPr lang="zh-CN"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十进制数验证：（-15）×(-13)＝195。</a:t>
            </a:r>
          </a:p>
        </p:txBody>
      </p:sp>
      <p:sp>
        <p:nvSpPr>
          <p:cNvPr id="71683" name="AutoShape 2" descr="G:\jzdx\%E8%AE%A1%E7%AE%97%E6%9C%BA%E7%BB%84%E6%88%90%E5%8E%9F%E7%90%86\%E6%95%99%E6%A1%88\%E7%AC%AC%E4%BA%8C%E7%AB%A0\htm\Images\s2.3.1.4.gif"/>
          <p:cNvSpPr>
            <a:spLocks noChangeAspect="1" noChangeArrowheads="1"/>
          </p:cNvSpPr>
          <p:nvPr/>
        </p:nvSpPr>
        <p:spPr bwMode="auto">
          <a:xfrm>
            <a:off x="149225" y="-593725"/>
            <a:ext cx="33909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7168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4213225"/>
            <a:ext cx="26733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6"/>
          <p:cNvSpPr>
            <a:spLocks noChangeArrowheads="1"/>
          </p:cNvSpPr>
          <p:nvPr/>
        </p:nvSpPr>
        <p:spPr bwMode="auto">
          <a:xfrm>
            <a:off x="323850" y="319088"/>
            <a:ext cx="8434388" cy="627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itchFamily="2" charset="-122"/>
                <a:ea typeface="黑体" pitchFamily="2" charset="-122"/>
              </a:rPr>
              <a:t>2.4 </a:t>
            </a:r>
            <a:r>
              <a:rPr lang="zh-CN" altLang="en-US" sz="2800">
                <a:solidFill>
                  <a:srgbClr val="FF0000"/>
                </a:solidFill>
                <a:latin typeface="黑体" pitchFamily="2" charset="-122"/>
                <a:ea typeface="黑体" pitchFamily="2" charset="-122"/>
              </a:rPr>
              <a:t>定点除法运算</a:t>
            </a:r>
          </a:p>
          <a:p>
            <a:pPr eaLnBrk="0" hangingPunct="0">
              <a:lnSpc>
                <a:spcPct val="150000"/>
              </a:lnSpc>
            </a:pPr>
            <a:r>
              <a:rPr lang="zh-CN" altLang="zh-CN" sz="2400">
                <a:latin typeface="黑体" pitchFamily="2" charset="-122"/>
                <a:ea typeface="黑体" pitchFamily="2" charset="-122"/>
              </a:rPr>
              <a:t>2.4.1 原码除法运算原理</a:t>
            </a:r>
            <a:r>
              <a:rPr lang="zh-CN" altLang="zh-CN" sz="2400" i="1">
                <a:latin typeface="黑体" pitchFamily="2" charset="-122"/>
                <a:ea typeface="黑体" pitchFamily="2" charset="-122"/>
              </a:rPr>
              <a:t> 　　　　　　　</a:t>
            </a:r>
            <a:endParaRPr lang="zh-CN" altLang="zh-CN" sz="2400">
              <a:latin typeface="黑体" pitchFamily="2" charset="-122"/>
              <a:ea typeface="黑体" pitchFamily="2" charset="-122"/>
            </a:endParaRPr>
          </a:p>
          <a:p>
            <a:pPr eaLnBrk="0" hangingPunct="0">
              <a:lnSpc>
                <a:spcPct val="150000"/>
              </a:lnSpc>
            </a:pPr>
            <a:r>
              <a:rPr lang="zh-CN" altLang="zh-CN" sz="2400">
                <a:latin typeface="黑体" pitchFamily="2" charset="-122"/>
                <a:ea typeface="黑体" pitchFamily="2" charset="-122"/>
              </a:rPr>
              <a:t>　　两个原码表示的数相除时,商的符号由两数的符号按位相加求得,商的数值部分由两数的数值部分相除求得。</a:t>
            </a:r>
          </a:p>
          <a:p>
            <a:pPr eaLnBrk="0" hangingPunct="0">
              <a:lnSpc>
                <a:spcPct val="150000"/>
              </a:lnSpc>
            </a:pPr>
            <a:r>
              <a:rPr lang="zh-CN" altLang="zh-CN" sz="2400">
                <a:latin typeface="黑体" pitchFamily="2" charset="-122"/>
                <a:ea typeface="黑体" pitchFamily="2" charset="-122"/>
              </a:rPr>
              <a:t>　　设有</a:t>
            </a:r>
            <a:r>
              <a:rPr lang="zh-CN" altLang="zh-CN" sz="2400" i="1">
                <a:latin typeface="黑体" pitchFamily="2" charset="-122"/>
                <a:ea typeface="黑体" pitchFamily="2" charset="-122"/>
              </a:rPr>
              <a:t>n</a:t>
            </a:r>
            <a:r>
              <a:rPr lang="zh-CN" altLang="zh-CN" sz="2400">
                <a:latin typeface="黑体" pitchFamily="2" charset="-122"/>
                <a:ea typeface="黑体" pitchFamily="2" charset="-122"/>
              </a:rPr>
              <a:t>位定点小数(定点整数也同样适用)：</a:t>
            </a:r>
          </a:p>
          <a:p>
            <a:pPr eaLnBrk="0" hangingPunct="0">
              <a:lnSpc>
                <a:spcPct val="150000"/>
              </a:lnSpc>
            </a:pPr>
            <a:r>
              <a:rPr lang="zh-CN" altLang="zh-CN" sz="2400">
                <a:latin typeface="黑体" pitchFamily="2" charset="-122"/>
                <a:ea typeface="黑体" pitchFamily="2" charset="-122"/>
              </a:rPr>
              <a:t>　　被除数</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,其原码为　[</a:t>
            </a:r>
            <a:r>
              <a:rPr lang="zh-CN" altLang="zh-CN" sz="2400" i="1">
                <a:latin typeface="黑体" pitchFamily="2" charset="-122"/>
                <a:ea typeface="黑体" pitchFamily="2" charset="-122"/>
              </a:rPr>
              <a:t>ｘ</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原</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f</a:t>
            </a:r>
            <a:r>
              <a:rPr lang="zh-CN" altLang="zh-CN" sz="2400" i="1">
                <a:latin typeface="黑体" pitchFamily="2" charset="-122"/>
                <a:ea typeface="黑体" pitchFamily="2" charset="-122"/>
              </a:rPr>
              <a:t> .ｘ</a:t>
            </a:r>
            <a:r>
              <a:rPr lang="zh-CN" altLang="zh-CN" sz="2400" i="1" baseline="-30000">
                <a:latin typeface="黑体" pitchFamily="2" charset="-122"/>
                <a:ea typeface="黑体" pitchFamily="2" charset="-122"/>
              </a:rPr>
              <a:t>n－1</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1</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0</a:t>
            </a:r>
            <a:endParaRPr lang="zh-CN" altLang="zh-CN" sz="2400">
              <a:latin typeface="黑体" pitchFamily="2" charset="-122"/>
              <a:ea typeface="黑体" pitchFamily="2" charset="-122"/>
            </a:endParaRPr>
          </a:p>
          <a:p>
            <a:pPr eaLnBrk="0" hangingPunct="0">
              <a:lnSpc>
                <a:spcPct val="150000"/>
              </a:lnSpc>
            </a:pPr>
            <a:r>
              <a:rPr lang="zh-CN" altLang="zh-CN" sz="2400">
                <a:latin typeface="黑体" pitchFamily="2" charset="-122"/>
                <a:ea typeface="黑体" pitchFamily="2" charset="-122"/>
              </a:rPr>
              <a:t>　　除数</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,其原码为　　[</a:t>
            </a:r>
            <a:r>
              <a:rPr lang="zh-CN" altLang="zh-CN" sz="2400" i="1">
                <a:latin typeface="黑体" pitchFamily="2" charset="-122"/>
                <a:ea typeface="黑体" pitchFamily="2" charset="-122"/>
              </a:rPr>
              <a:t>ｙ</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原</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i="1" baseline="-30000">
                <a:latin typeface="黑体" pitchFamily="2" charset="-122"/>
                <a:ea typeface="黑体" pitchFamily="2" charset="-122"/>
              </a:rPr>
              <a:t>f</a:t>
            </a:r>
            <a:r>
              <a:rPr lang="zh-CN" altLang="zh-CN" sz="2400" i="1">
                <a:latin typeface="黑体" pitchFamily="2" charset="-122"/>
                <a:ea typeface="黑体" pitchFamily="2" charset="-122"/>
              </a:rPr>
              <a:t> .ｙ</a:t>
            </a:r>
            <a:r>
              <a:rPr lang="zh-CN" altLang="zh-CN" sz="2400" i="1" baseline="-30000">
                <a:latin typeface="黑体" pitchFamily="2" charset="-122"/>
                <a:ea typeface="黑体" pitchFamily="2" charset="-122"/>
              </a:rPr>
              <a:t>n－1</a:t>
            </a:r>
            <a:r>
              <a:rPr lang="zh-CN" altLang="zh-CN" sz="2400" i="1">
                <a:latin typeface="黑体" pitchFamily="2" charset="-122"/>
                <a:ea typeface="黑体" pitchFamily="2" charset="-122"/>
              </a:rPr>
              <a:t>…ｙ</a:t>
            </a:r>
            <a:r>
              <a:rPr lang="zh-CN" altLang="zh-CN" sz="2400" i="1" baseline="-30000">
                <a:latin typeface="黑体" pitchFamily="2" charset="-122"/>
                <a:ea typeface="黑体" pitchFamily="2" charset="-122"/>
              </a:rPr>
              <a:t>1</a:t>
            </a:r>
            <a:r>
              <a:rPr lang="zh-CN" altLang="zh-CN" sz="2400" i="1">
                <a:latin typeface="黑体" pitchFamily="2" charset="-122"/>
                <a:ea typeface="黑体" pitchFamily="2" charset="-122"/>
              </a:rPr>
              <a:t>ｙ</a:t>
            </a:r>
            <a:r>
              <a:rPr lang="zh-CN" altLang="zh-CN" sz="2400" i="1" baseline="-30000">
                <a:latin typeface="黑体" pitchFamily="2" charset="-122"/>
                <a:ea typeface="黑体" pitchFamily="2" charset="-122"/>
              </a:rPr>
              <a:t>0</a:t>
            </a:r>
            <a:endParaRPr lang="zh-CN" altLang="zh-CN" sz="2400">
              <a:latin typeface="黑体" pitchFamily="2" charset="-122"/>
              <a:ea typeface="黑体" pitchFamily="2" charset="-122"/>
            </a:endParaRPr>
          </a:p>
          <a:p>
            <a:pPr eaLnBrk="0" hangingPunct="0">
              <a:lnSpc>
                <a:spcPct val="150000"/>
              </a:lnSpc>
            </a:pPr>
            <a:r>
              <a:rPr lang="zh-CN" altLang="zh-CN" sz="2400">
                <a:latin typeface="黑体" pitchFamily="2" charset="-122"/>
                <a:ea typeface="黑体" pitchFamily="2" charset="-122"/>
              </a:rPr>
              <a:t>　　则有商</a:t>
            </a:r>
            <a:r>
              <a:rPr lang="zh-CN" altLang="zh-CN" sz="2400" i="1">
                <a:latin typeface="黑体" pitchFamily="2" charset="-122"/>
                <a:ea typeface="黑体" pitchFamily="2" charset="-122"/>
              </a:rPr>
              <a:t>q＝ｘ/ｙ</a:t>
            </a:r>
            <a:r>
              <a:rPr lang="zh-CN" altLang="zh-CN" sz="2400">
                <a:latin typeface="黑体" pitchFamily="2" charset="-122"/>
                <a:ea typeface="黑体" pitchFamily="2" charset="-122"/>
              </a:rPr>
              <a:t>,其原码为</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q</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原</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f</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i="1" baseline="-30000">
                <a:latin typeface="黑体" pitchFamily="2" charset="-122"/>
                <a:ea typeface="黑体" pitchFamily="2" charset="-122"/>
              </a:rPr>
              <a:t>f</a:t>
            </a:r>
            <a:r>
              <a:rPr lang="zh-CN" altLang="zh-CN" sz="2400">
                <a:latin typeface="黑体" pitchFamily="2" charset="-122"/>
                <a:ea typeface="黑体" pitchFamily="2" charset="-122"/>
              </a:rPr>
              <a:t>)+(0.</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n－1</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1</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0</a:t>
            </a:r>
            <a:r>
              <a:rPr lang="zh-CN" altLang="zh-CN" sz="2400" i="1">
                <a:latin typeface="黑体" pitchFamily="2" charset="-122"/>
                <a:ea typeface="黑体" pitchFamily="2" charset="-122"/>
              </a:rPr>
              <a:t>/0.ｙ</a:t>
            </a:r>
            <a:r>
              <a:rPr lang="zh-CN" altLang="zh-CN" sz="2400" i="1" baseline="-30000">
                <a:latin typeface="黑体" pitchFamily="2" charset="-122"/>
                <a:ea typeface="黑体" pitchFamily="2" charset="-122"/>
              </a:rPr>
              <a:t>n－1</a:t>
            </a:r>
            <a:r>
              <a:rPr lang="zh-CN" altLang="zh-CN" sz="2400" i="1">
                <a:latin typeface="黑体" pitchFamily="2" charset="-122"/>
                <a:ea typeface="黑体" pitchFamily="2" charset="-122"/>
              </a:rPr>
              <a:t>…ｙ</a:t>
            </a:r>
            <a:r>
              <a:rPr lang="zh-CN" altLang="zh-CN" sz="2400" i="1" baseline="-30000">
                <a:latin typeface="黑体" pitchFamily="2" charset="-122"/>
                <a:ea typeface="黑体" pitchFamily="2" charset="-122"/>
              </a:rPr>
              <a:t>1</a:t>
            </a:r>
            <a:r>
              <a:rPr lang="zh-CN" altLang="zh-CN" sz="2400" i="1">
                <a:latin typeface="黑体" pitchFamily="2" charset="-122"/>
                <a:ea typeface="黑体" pitchFamily="2" charset="-122"/>
              </a:rPr>
              <a:t>ｙ</a:t>
            </a:r>
            <a:r>
              <a:rPr lang="zh-CN" altLang="zh-CN" sz="2400" i="1" baseline="-30000">
                <a:latin typeface="黑体" pitchFamily="2" charset="-122"/>
                <a:ea typeface="黑体" pitchFamily="2" charset="-122"/>
              </a:rPr>
              <a:t>0</a:t>
            </a:r>
            <a:r>
              <a:rPr lang="zh-CN" altLang="zh-CN" sz="2400">
                <a:latin typeface="黑体" pitchFamily="2" charset="-122"/>
                <a:ea typeface="黑体" pitchFamily="2" charset="-122"/>
              </a:rPr>
              <a:t>)</a:t>
            </a:r>
          </a:p>
          <a:p>
            <a:pPr eaLnBrk="0" hangingPunct="0">
              <a:lnSpc>
                <a:spcPct val="150000"/>
              </a:lnSpc>
            </a:pPr>
            <a:r>
              <a:rPr lang="zh-CN" altLang="zh-CN" sz="2400">
                <a:latin typeface="黑体" pitchFamily="2" charset="-122"/>
                <a:ea typeface="黑体" pitchFamily="2" charset="-122"/>
              </a:rPr>
              <a:t>　　商的符号运算</a:t>
            </a:r>
            <a:r>
              <a:rPr lang="zh-CN" altLang="zh-CN" sz="2400" i="1">
                <a:latin typeface="黑体" pitchFamily="2" charset="-122"/>
                <a:ea typeface="黑体" pitchFamily="2" charset="-122"/>
              </a:rPr>
              <a:t>q</a:t>
            </a:r>
            <a:r>
              <a:rPr lang="zh-CN" altLang="zh-CN" sz="2400" i="1" baseline="-30000">
                <a:latin typeface="黑体" pitchFamily="2" charset="-122"/>
                <a:ea typeface="黑体" pitchFamily="2" charset="-122"/>
              </a:rPr>
              <a:t>f</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i="1" baseline="-30000">
                <a:latin typeface="黑体" pitchFamily="2" charset="-122"/>
                <a:ea typeface="黑体" pitchFamily="2" charset="-122"/>
              </a:rPr>
              <a:t>f</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ｙ</a:t>
            </a:r>
            <a:r>
              <a:rPr lang="zh-CN" altLang="zh-CN" sz="2400" i="1" baseline="-30000">
                <a:latin typeface="黑体" pitchFamily="2" charset="-122"/>
                <a:ea typeface="黑体" pitchFamily="2" charset="-122"/>
              </a:rPr>
              <a:t>f</a:t>
            </a:r>
            <a:r>
              <a:rPr lang="en-US" altLang="zh-CN" sz="2400" i="1" baseline="-30000">
                <a:latin typeface="黑体" pitchFamily="2" charset="-122"/>
                <a:ea typeface="黑体" pitchFamily="2" charset="-122"/>
              </a:rPr>
              <a:t> </a:t>
            </a:r>
            <a:r>
              <a:rPr lang="zh-CN" altLang="zh-CN" sz="2400">
                <a:latin typeface="黑体" pitchFamily="2" charset="-122"/>
                <a:ea typeface="黑体" pitchFamily="2" charset="-122"/>
              </a:rPr>
              <a:t>与原码乘法一样,用模2求和得到。商的数值部分的运算,实质上是两个正数求商的运算。</a:t>
            </a:r>
          </a:p>
        </p:txBody>
      </p:sp>
      <p:sp>
        <p:nvSpPr>
          <p:cNvPr id="84995" name="AutoShape 4" descr="G:\jzdx\%E8%AE%A1%E7%AE%97%E6%9C%BA%E7%BB%84%E6%88%90%E5%8E%9F%E7%90%86\%E6%95%99%E6%A1%88\%E7%AC%AC%E4%BA%8C%E7%AB%A0\htm\Images\Home07.gif">
            <a:hlinkClick r:id="rId2" action="ppaction://hlinkfile"/>
          </p:cNvPr>
          <p:cNvSpPr>
            <a:spLocks noChangeAspect="1" noChangeArrowheads="1"/>
          </p:cNvSpPr>
          <p:nvPr/>
        </p:nvSpPr>
        <p:spPr bwMode="auto">
          <a:xfrm>
            <a:off x="1470025" y="-198438"/>
            <a:ext cx="533400"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a:spLocks noGrp="1" noChangeArrowheads="1"/>
          </p:cNvSpPr>
          <p:nvPr>
            <p:ph type="body" idx="1"/>
          </p:nvPr>
        </p:nvSpPr>
        <p:spPr>
          <a:xfrm>
            <a:off x="395288" y="1412875"/>
            <a:ext cx="8229600" cy="3663950"/>
          </a:xfrm>
        </p:spPr>
        <p:txBody>
          <a:bodyPr/>
          <a:lstStyle/>
          <a:p>
            <a:pPr>
              <a:buFont typeface="Wingdings" pitchFamily="2" charset="2"/>
              <a:buNone/>
            </a:pPr>
            <a:r>
              <a:rPr lang="zh-CN" altLang="en-US" sz="1900" dirty="0" smtClean="0"/>
              <a:t>　　　　　</a:t>
            </a:r>
            <a:r>
              <a:rPr lang="zh-CN" altLang="en-US" sz="1900" u="sng" dirty="0" smtClean="0"/>
              <a:t>　　　　　   </a:t>
            </a:r>
            <a:r>
              <a:rPr lang="en-US" altLang="zh-CN" sz="1900" u="sng" dirty="0" smtClean="0"/>
              <a:t>0.1 1 0 1</a:t>
            </a:r>
            <a:r>
              <a:rPr lang="zh-CN" altLang="en-US" sz="1900" u="sng" dirty="0" smtClean="0"/>
              <a:t>　</a:t>
            </a:r>
            <a:r>
              <a:rPr lang="zh-CN" altLang="en-US" sz="1900" dirty="0" smtClean="0"/>
              <a:t>　　商</a:t>
            </a:r>
            <a:r>
              <a:rPr lang="en-US" altLang="zh-CN" sz="1900" i="1" dirty="0" smtClean="0"/>
              <a:t>q</a:t>
            </a:r>
          </a:p>
          <a:p>
            <a:pPr>
              <a:buFont typeface="Wingdings" pitchFamily="2" charset="2"/>
              <a:buNone/>
            </a:pPr>
            <a:r>
              <a:rPr lang="en-US" altLang="zh-CN" sz="1900" dirty="0" smtClean="0"/>
              <a:t>0.1 0 1 1</a:t>
            </a:r>
            <a:r>
              <a:rPr lang="zh-CN" altLang="en-US" sz="1900" dirty="0" smtClean="0"/>
              <a:t>　         </a:t>
            </a:r>
            <a:r>
              <a:rPr lang="en-US" altLang="zh-CN" sz="1900" dirty="0" smtClean="0"/>
              <a:t>0.1 0 0 1 0</a:t>
            </a:r>
            <a:r>
              <a:rPr lang="zh-CN" altLang="en-US" sz="1900" dirty="0" smtClean="0"/>
              <a:t>　　　　　　</a:t>
            </a:r>
            <a:r>
              <a:rPr lang="zh-CN" altLang="en-US" sz="1900" i="1" dirty="0" smtClean="0"/>
              <a:t>ｘ</a:t>
            </a:r>
            <a:r>
              <a:rPr lang="en-US" altLang="zh-CN" sz="1900" dirty="0" smtClean="0"/>
              <a:t>(</a:t>
            </a:r>
            <a:r>
              <a:rPr lang="en-US" altLang="zh-CN" sz="1900" i="1" dirty="0" smtClean="0"/>
              <a:t>r</a:t>
            </a:r>
            <a:r>
              <a:rPr lang="en-US" altLang="zh-CN" sz="1900" i="1" baseline="-30000" dirty="0" smtClean="0"/>
              <a:t>0</a:t>
            </a:r>
            <a:r>
              <a:rPr lang="en-US" altLang="zh-CN" sz="1900" dirty="0" smtClean="0"/>
              <a:t>)</a:t>
            </a:r>
            <a:r>
              <a:rPr lang="zh-CN" altLang="en-US" sz="1900" dirty="0" smtClean="0"/>
              <a:t>　</a:t>
            </a:r>
            <a:r>
              <a:rPr lang="zh-CN" altLang="en-US" sz="1500" dirty="0" smtClean="0"/>
              <a:t>被除数</a:t>
            </a:r>
            <a:br>
              <a:rPr lang="zh-CN" altLang="en-US" sz="1500" dirty="0" smtClean="0"/>
            </a:br>
            <a:r>
              <a:rPr lang="zh-CN" altLang="en-US" sz="1900" dirty="0" smtClean="0"/>
              <a:t>　　     －     </a:t>
            </a:r>
            <a:r>
              <a:rPr lang="en-US" altLang="zh-CN" sz="1900" u="sng" dirty="0" smtClean="0"/>
              <a:t>0.0 1 0 1 1</a:t>
            </a:r>
            <a:r>
              <a:rPr lang="zh-CN" altLang="en-US" sz="1900" u="sng" dirty="0" smtClean="0"/>
              <a:t>　　　　</a:t>
            </a:r>
            <a:r>
              <a:rPr lang="zh-CN" altLang="en-US" sz="1900" dirty="0" smtClean="0"/>
              <a:t>　　</a:t>
            </a:r>
            <a:r>
              <a:rPr lang="en-US" altLang="zh-CN" sz="1900" dirty="0" smtClean="0"/>
              <a:t>2</a:t>
            </a:r>
            <a:r>
              <a:rPr lang="zh-CN" altLang="en-US" sz="1900" baseline="30000" dirty="0" smtClean="0"/>
              <a:t>－</a:t>
            </a:r>
            <a:r>
              <a:rPr lang="en-US" altLang="zh-CN" sz="1900" baseline="30000" dirty="0" smtClean="0"/>
              <a:t>1</a:t>
            </a:r>
            <a:r>
              <a:rPr lang="zh-CN" altLang="en-US" sz="1900" i="1" dirty="0" smtClean="0"/>
              <a:t>ｙ　</a:t>
            </a:r>
            <a:r>
              <a:rPr lang="zh-CN" altLang="en-US" sz="1500" dirty="0" smtClean="0"/>
              <a:t>除数右移</a:t>
            </a:r>
            <a:r>
              <a:rPr lang="en-US" altLang="zh-CN" sz="1500" dirty="0" smtClean="0"/>
              <a:t>1</a:t>
            </a:r>
            <a:r>
              <a:rPr lang="zh-CN" altLang="en-US" sz="1500" dirty="0" smtClean="0"/>
              <a:t>位</a:t>
            </a:r>
            <a:r>
              <a:rPr lang="en-US" altLang="zh-CN" sz="1500" dirty="0" smtClean="0"/>
              <a:t>,</a:t>
            </a:r>
            <a:r>
              <a:rPr lang="zh-CN" altLang="en-US" sz="1500" dirty="0" smtClean="0"/>
              <a:t>减除数</a:t>
            </a:r>
            <a:r>
              <a:rPr lang="zh-CN" altLang="en-US" sz="1900" dirty="0" smtClean="0"/>
              <a:t/>
            </a:r>
            <a:br>
              <a:rPr lang="zh-CN" altLang="en-US" sz="1900" dirty="0" smtClean="0"/>
            </a:br>
            <a:r>
              <a:rPr lang="zh-CN" altLang="en-US" sz="1900" dirty="0" smtClean="0"/>
              <a:t>　　　　　  </a:t>
            </a:r>
            <a:r>
              <a:rPr lang="en-US" altLang="zh-CN" sz="1900" dirty="0" smtClean="0"/>
              <a:t>0.0 0 1 1 1 0</a:t>
            </a:r>
            <a:r>
              <a:rPr lang="zh-CN" altLang="en-US" sz="1900" dirty="0" smtClean="0"/>
              <a:t>　　　　　</a:t>
            </a:r>
            <a:r>
              <a:rPr lang="en-US" altLang="zh-CN" sz="1900" i="1" dirty="0" smtClean="0"/>
              <a:t>r</a:t>
            </a:r>
            <a:r>
              <a:rPr lang="en-US" altLang="zh-CN" sz="1900" i="1" baseline="-30000" dirty="0" smtClean="0"/>
              <a:t>1</a:t>
            </a:r>
            <a:r>
              <a:rPr lang="zh-CN" altLang="en-US" sz="1900" dirty="0" smtClean="0"/>
              <a:t>　　　得余数</a:t>
            </a:r>
            <a:r>
              <a:rPr lang="en-US" altLang="zh-CN" sz="1900" dirty="0" smtClean="0"/>
              <a:t>r1</a:t>
            </a:r>
            <a:br>
              <a:rPr lang="en-US" altLang="zh-CN" sz="1900" dirty="0" smtClean="0"/>
            </a:br>
            <a:r>
              <a:rPr lang="zh-CN" altLang="en-US" sz="1900" dirty="0" smtClean="0"/>
              <a:t>　　　　  －</a:t>
            </a:r>
            <a:r>
              <a:rPr lang="en-US" altLang="zh-CN" sz="1900" u="sng" dirty="0" smtClean="0"/>
              <a:t>0.0 0 1 0 1 1</a:t>
            </a:r>
            <a:r>
              <a:rPr lang="zh-CN" altLang="en-US" sz="1900" u="sng" dirty="0" smtClean="0"/>
              <a:t>　　　</a:t>
            </a:r>
            <a:r>
              <a:rPr lang="zh-CN" altLang="en-US" sz="1900" dirty="0" smtClean="0"/>
              <a:t>　　</a:t>
            </a:r>
            <a:r>
              <a:rPr lang="en-US" altLang="zh-CN" sz="1900" dirty="0" smtClean="0"/>
              <a:t>2</a:t>
            </a:r>
            <a:r>
              <a:rPr lang="zh-CN" altLang="en-US" sz="1900" baseline="30000" dirty="0" smtClean="0"/>
              <a:t>－</a:t>
            </a:r>
            <a:r>
              <a:rPr lang="en-US" altLang="zh-CN" sz="1900" baseline="30000" dirty="0" smtClean="0"/>
              <a:t>2</a:t>
            </a:r>
            <a:r>
              <a:rPr lang="zh-CN" altLang="en-US" sz="1900" i="1" dirty="0" smtClean="0"/>
              <a:t>ｙ　</a:t>
            </a:r>
            <a:r>
              <a:rPr lang="zh-CN" altLang="en-US" sz="1500" dirty="0" smtClean="0"/>
              <a:t>除数右移</a:t>
            </a:r>
            <a:r>
              <a:rPr lang="en-US" altLang="zh-CN" sz="1500" dirty="0" smtClean="0"/>
              <a:t>1</a:t>
            </a:r>
            <a:r>
              <a:rPr lang="zh-CN" altLang="en-US" sz="1500" dirty="0" smtClean="0"/>
              <a:t>位</a:t>
            </a:r>
            <a:r>
              <a:rPr lang="en-US" altLang="zh-CN" sz="1500" dirty="0" smtClean="0"/>
              <a:t>,</a:t>
            </a:r>
            <a:r>
              <a:rPr lang="zh-CN" altLang="en-US" sz="1500" dirty="0" smtClean="0"/>
              <a:t>减除数</a:t>
            </a:r>
            <a:br>
              <a:rPr lang="zh-CN" altLang="en-US" sz="1500" dirty="0" smtClean="0"/>
            </a:br>
            <a:r>
              <a:rPr lang="zh-CN" altLang="en-US" sz="1900" dirty="0" smtClean="0"/>
              <a:t>　　　　　  </a:t>
            </a:r>
            <a:r>
              <a:rPr lang="en-US" altLang="zh-CN" sz="1900" dirty="0" smtClean="0"/>
              <a:t>0.0 0 0 0 1 1 0</a:t>
            </a:r>
            <a:r>
              <a:rPr lang="zh-CN" altLang="en-US" sz="1900" dirty="0" smtClean="0"/>
              <a:t>　　　　</a:t>
            </a:r>
            <a:r>
              <a:rPr lang="en-US" altLang="zh-CN" sz="1900" i="1" dirty="0" smtClean="0"/>
              <a:t>r</a:t>
            </a:r>
            <a:r>
              <a:rPr lang="en-US" altLang="zh-CN" sz="1900" i="1" baseline="-30000" dirty="0" smtClean="0"/>
              <a:t>2</a:t>
            </a:r>
            <a:r>
              <a:rPr lang="zh-CN" altLang="en-US" sz="1900" i="1" dirty="0" smtClean="0"/>
              <a:t>　　　</a:t>
            </a:r>
            <a:r>
              <a:rPr lang="zh-CN" altLang="en-US" sz="1900" dirty="0" smtClean="0"/>
              <a:t>得余数</a:t>
            </a:r>
            <a:r>
              <a:rPr lang="en-US" altLang="zh-CN" sz="1900" dirty="0" smtClean="0"/>
              <a:t>r2</a:t>
            </a:r>
            <a:br>
              <a:rPr lang="en-US" altLang="zh-CN" sz="1900" dirty="0" smtClean="0"/>
            </a:br>
            <a:r>
              <a:rPr lang="zh-CN" altLang="en-US" sz="1900" dirty="0" smtClean="0"/>
              <a:t>　　　　  －</a:t>
            </a:r>
            <a:r>
              <a:rPr lang="en-US" altLang="zh-CN" sz="1900" u="sng" dirty="0" smtClean="0"/>
              <a:t>0.0 0 0 1 0 1 1</a:t>
            </a:r>
            <a:r>
              <a:rPr lang="zh-CN" altLang="en-US" sz="1900" u="sng" dirty="0" smtClean="0"/>
              <a:t>　　</a:t>
            </a:r>
            <a:r>
              <a:rPr lang="zh-CN" altLang="en-US" sz="1900" dirty="0" smtClean="0"/>
              <a:t>　　</a:t>
            </a:r>
            <a:r>
              <a:rPr lang="en-US" altLang="zh-CN" sz="1900" dirty="0" smtClean="0"/>
              <a:t>2</a:t>
            </a:r>
            <a:r>
              <a:rPr lang="zh-CN" altLang="en-US" sz="1900" baseline="30000" dirty="0" smtClean="0"/>
              <a:t>－</a:t>
            </a:r>
            <a:r>
              <a:rPr lang="en-US" altLang="zh-CN" sz="1900" baseline="30000" dirty="0" smtClean="0"/>
              <a:t>3</a:t>
            </a:r>
            <a:r>
              <a:rPr lang="zh-CN" altLang="en-US" sz="1900" i="1" dirty="0" smtClean="0"/>
              <a:t>ｙ</a:t>
            </a:r>
            <a:r>
              <a:rPr lang="zh-CN" altLang="en-US" sz="1900" dirty="0" smtClean="0"/>
              <a:t>　</a:t>
            </a:r>
            <a:r>
              <a:rPr lang="zh-CN" altLang="en-US" sz="1500" dirty="0" smtClean="0"/>
              <a:t>除数右移</a:t>
            </a:r>
            <a:r>
              <a:rPr lang="en-US" altLang="zh-CN" sz="1500" dirty="0" smtClean="0"/>
              <a:t>1</a:t>
            </a:r>
            <a:r>
              <a:rPr lang="zh-CN" altLang="en-US" sz="1500" dirty="0" smtClean="0"/>
              <a:t>位</a:t>
            </a:r>
            <a:r>
              <a:rPr lang="en-US" altLang="zh-CN" sz="1500" dirty="0" smtClean="0"/>
              <a:t>,</a:t>
            </a:r>
            <a:r>
              <a:rPr lang="zh-CN" altLang="en-US" sz="1500" dirty="0" smtClean="0"/>
              <a:t>不减除数</a:t>
            </a:r>
            <a:br>
              <a:rPr lang="zh-CN" altLang="en-US" sz="1500" dirty="0" smtClean="0"/>
            </a:br>
            <a:r>
              <a:rPr lang="zh-CN" altLang="en-US" sz="1900" dirty="0" smtClean="0"/>
              <a:t>　　　　　  </a:t>
            </a:r>
            <a:r>
              <a:rPr lang="en-US" altLang="zh-CN" sz="1900" dirty="0" smtClean="0"/>
              <a:t>0.0 0 0 0 1 1 0 0</a:t>
            </a:r>
            <a:r>
              <a:rPr lang="zh-CN" altLang="en-US" sz="1900" dirty="0" smtClean="0"/>
              <a:t>　　　</a:t>
            </a:r>
            <a:r>
              <a:rPr lang="en-US" altLang="zh-CN" sz="1900" i="1" dirty="0" smtClean="0"/>
              <a:t>r</a:t>
            </a:r>
            <a:r>
              <a:rPr lang="en-US" altLang="zh-CN" sz="1900" i="1" baseline="-30000" dirty="0" smtClean="0"/>
              <a:t>3</a:t>
            </a:r>
            <a:r>
              <a:rPr lang="zh-CN" altLang="en-US" sz="1900" i="1" dirty="0" smtClean="0"/>
              <a:t>　　　</a:t>
            </a:r>
            <a:r>
              <a:rPr lang="zh-CN" altLang="en-US" sz="1900" dirty="0" smtClean="0"/>
              <a:t>得余数</a:t>
            </a:r>
            <a:r>
              <a:rPr lang="en-US" altLang="zh-CN" sz="1900" dirty="0" smtClean="0"/>
              <a:t>r3</a:t>
            </a:r>
            <a:br>
              <a:rPr lang="en-US" altLang="zh-CN" sz="1900" dirty="0" smtClean="0"/>
            </a:br>
            <a:r>
              <a:rPr lang="zh-CN" altLang="en-US" sz="1900" dirty="0" smtClean="0"/>
              <a:t>　　　　  －</a:t>
            </a:r>
            <a:r>
              <a:rPr lang="en-US" altLang="zh-CN" sz="1900" u="sng" dirty="0" smtClean="0"/>
              <a:t>0.0 0 0 0 1 0 1 1</a:t>
            </a:r>
            <a:r>
              <a:rPr lang="zh-CN" altLang="en-US" sz="1900" u="sng" dirty="0" smtClean="0"/>
              <a:t>　</a:t>
            </a:r>
            <a:r>
              <a:rPr lang="zh-CN" altLang="en-US" sz="1900" dirty="0" smtClean="0"/>
              <a:t>　　</a:t>
            </a:r>
            <a:r>
              <a:rPr lang="en-US" altLang="zh-CN" sz="1900" dirty="0" smtClean="0"/>
              <a:t>2</a:t>
            </a:r>
            <a:r>
              <a:rPr lang="zh-CN" altLang="en-US" sz="1900" baseline="30000" dirty="0" smtClean="0"/>
              <a:t>－</a:t>
            </a:r>
            <a:r>
              <a:rPr lang="en-US" altLang="zh-CN" sz="1900" baseline="30000" dirty="0" smtClean="0"/>
              <a:t>4</a:t>
            </a:r>
            <a:r>
              <a:rPr lang="zh-CN" altLang="en-US" sz="1900" i="1" dirty="0" smtClean="0"/>
              <a:t>ｙ　</a:t>
            </a:r>
            <a:r>
              <a:rPr lang="zh-CN" altLang="en-US" sz="1500" dirty="0" smtClean="0"/>
              <a:t>除数右移</a:t>
            </a:r>
            <a:r>
              <a:rPr lang="en-US" altLang="zh-CN" sz="1500" dirty="0" smtClean="0"/>
              <a:t>1</a:t>
            </a:r>
            <a:r>
              <a:rPr lang="zh-CN" altLang="en-US" sz="1500" dirty="0" smtClean="0"/>
              <a:t>位</a:t>
            </a:r>
            <a:r>
              <a:rPr lang="en-US" altLang="zh-CN" sz="1500" dirty="0" smtClean="0"/>
              <a:t>,</a:t>
            </a:r>
            <a:r>
              <a:rPr lang="zh-CN" altLang="en-US" sz="1500" dirty="0" smtClean="0"/>
              <a:t>减除数</a:t>
            </a:r>
            <a:br>
              <a:rPr lang="zh-CN" altLang="en-US" sz="1500" dirty="0" smtClean="0"/>
            </a:br>
            <a:r>
              <a:rPr lang="zh-CN" altLang="en-US" sz="1900" dirty="0" smtClean="0"/>
              <a:t>　　　　  －</a:t>
            </a:r>
            <a:r>
              <a:rPr lang="en-US" altLang="zh-CN" sz="1900" dirty="0" smtClean="0"/>
              <a:t>0.0 0 0 0 0 0 0 1</a:t>
            </a:r>
            <a:r>
              <a:rPr lang="zh-CN" altLang="en-US" sz="1900" dirty="0" smtClean="0"/>
              <a:t>　　　</a:t>
            </a:r>
            <a:r>
              <a:rPr lang="en-US" altLang="zh-CN" sz="1900" i="1" dirty="0" smtClean="0"/>
              <a:t>r</a:t>
            </a:r>
            <a:r>
              <a:rPr lang="en-US" altLang="zh-CN" sz="1900" i="1" baseline="-30000" dirty="0" smtClean="0"/>
              <a:t>4</a:t>
            </a:r>
            <a:r>
              <a:rPr lang="zh-CN" altLang="en-US" sz="1900" dirty="0" smtClean="0"/>
              <a:t>　　</a:t>
            </a:r>
            <a:r>
              <a:rPr lang="zh-CN" altLang="en-US" sz="1500" dirty="0" smtClean="0"/>
              <a:t>　得余数</a:t>
            </a:r>
            <a:r>
              <a:rPr lang="en-US" altLang="zh-CN" sz="1500" dirty="0" smtClean="0"/>
              <a:t>r4</a:t>
            </a:r>
          </a:p>
          <a:p>
            <a:pPr>
              <a:buFont typeface="Wingdings" pitchFamily="2" charset="2"/>
              <a:buNone/>
            </a:pPr>
            <a:endParaRPr lang="en-US" altLang="zh-CN" sz="1500" dirty="0" smtClean="0"/>
          </a:p>
        </p:txBody>
      </p:sp>
      <p:sp>
        <p:nvSpPr>
          <p:cNvPr id="86019" name="Text Box 5"/>
          <p:cNvSpPr txBox="1">
            <a:spLocks noChangeArrowheads="1"/>
          </p:cNvSpPr>
          <p:nvPr/>
        </p:nvSpPr>
        <p:spPr bwMode="auto">
          <a:xfrm>
            <a:off x="309563" y="260350"/>
            <a:ext cx="57594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dirty="0">
                <a:latin typeface="黑体" pitchFamily="2" charset="-122"/>
                <a:ea typeface="黑体" pitchFamily="2" charset="-122"/>
              </a:rPr>
              <a:t>定点原</a:t>
            </a:r>
            <a:r>
              <a:rPr kumimoji="1" lang="zh-CN" altLang="en-US" sz="2400" dirty="0" smtClean="0">
                <a:latin typeface="黑体" pitchFamily="2" charset="-122"/>
                <a:ea typeface="黑体" pitchFamily="2" charset="-122"/>
              </a:rPr>
              <a:t>码除法</a:t>
            </a:r>
            <a:r>
              <a:rPr kumimoji="1" lang="zh-CN" altLang="en-US" sz="2400" dirty="0">
                <a:latin typeface="黑体" pitchFamily="2" charset="-122"/>
                <a:ea typeface="黑体" pitchFamily="2" charset="-122"/>
              </a:rPr>
              <a:t>实现方案（手工）</a:t>
            </a:r>
            <a:endParaRPr kumimoji="1" lang="en-US" altLang="zh-CN" sz="2400" dirty="0">
              <a:latin typeface="黑体" pitchFamily="2" charset="-122"/>
              <a:ea typeface="黑体" pitchFamily="2" charset="-122"/>
            </a:endParaRPr>
          </a:p>
          <a:p>
            <a:pPr eaLnBrk="1" hangingPunct="1">
              <a:spcBef>
                <a:spcPct val="50000"/>
              </a:spcBef>
            </a:pPr>
            <a:r>
              <a:rPr kumimoji="1" lang="en-US" altLang="zh-CN" sz="2400" dirty="0" smtClean="0">
                <a:latin typeface="黑体" pitchFamily="2" charset="-122"/>
                <a:ea typeface="黑体" pitchFamily="2" charset="-122"/>
              </a:rPr>
              <a:t>0.</a:t>
            </a:r>
            <a:r>
              <a:rPr kumimoji="1" lang="zh-CN" altLang="en-US" sz="2400" dirty="0" smtClean="0">
                <a:latin typeface="黑体" pitchFamily="2" charset="-122"/>
                <a:ea typeface="黑体" pitchFamily="2" charset="-122"/>
              </a:rPr>
              <a:t>１</a:t>
            </a:r>
            <a:r>
              <a:rPr kumimoji="1" lang="en-US" altLang="zh-CN" sz="2400" dirty="0" smtClean="0">
                <a:latin typeface="黑体" pitchFamily="2" charset="-122"/>
                <a:ea typeface="黑体" pitchFamily="2" charset="-122"/>
              </a:rPr>
              <a:t>00</a:t>
            </a:r>
            <a:r>
              <a:rPr kumimoji="1" lang="zh-CN" altLang="en-US" sz="2400" dirty="0" smtClean="0">
                <a:latin typeface="黑体" pitchFamily="2" charset="-122"/>
                <a:ea typeface="黑体" pitchFamily="2" charset="-122"/>
              </a:rPr>
              <a:t>１／</a:t>
            </a:r>
            <a:r>
              <a:rPr kumimoji="1" lang="en-US" altLang="zh-CN" sz="2400" dirty="0" smtClean="0">
                <a:latin typeface="黑体" pitchFamily="2" charset="-122"/>
                <a:ea typeface="黑体" pitchFamily="2" charset="-122"/>
              </a:rPr>
              <a:t>0.</a:t>
            </a:r>
            <a:r>
              <a:rPr kumimoji="1" lang="zh-CN" altLang="en-US" sz="2400" dirty="0" smtClean="0">
                <a:latin typeface="黑体" pitchFamily="2" charset="-122"/>
                <a:ea typeface="黑体" pitchFamily="2" charset="-122"/>
              </a:rPr>
              <a:t>１</a:t>
            </a:r>
            <a:r>
              <a:rPr kumimoji="1" lang="en-US" altLang="zh-CN" sz="2400" dirty="0" smtClean="0">
                <a:latin typeface="黑体" pitchFamily="2" charset="-122"/>
                <a:ea typeface="黑体" pitchFamily="2" charset="-122"/>
              </a:rPr>
              <a:t>0</a:t>
            </a:r>
            <a:r>
              <a:rPr kumimoji="1" lang="zh-CN" altLang="en-US" sz="2400" dirty="0" smtClean="0">
                <a:latin typeface="黑体" pitchFamily="2" charset="-122"/>
                <a:ea typeface="黑体" pitchFamily="2" charset="-122"/>
              </a:rPr>
              <a:t>１１</a:t>
            </a:r>
            <a:endParaRPr kumimoji="1" lang="zh-CN" altLang="en-US" sz="2400" dirty="0">
              <a:latin typeface="黑体" pitchFamily="2" charset="-122"/>
              <a:ea typeface="黑体" pitchFamily="2" charset="-122"/>
            </a:endParaRPr>
          </a:p>
        </p:txBody>
      </p:sp>
      <p:sp>
        <p:nvSpPr>
          <p:cNvPr id="86020" name="Line 6"/>
          <p:cNvSpPr>
            <a:spLocks noChangeShapeType="1"/>
          </p:cNvSpPr>
          <p:nvPr/>
        </p:nvSpPr>
        <p:spPr bwMode="auto">
          <a:xfrm flipH="1">
            <a:off x="1341438" y="1725613"/>
            <a:ext cx="38100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6021" name="Rectangle 9"/>
          <p:cNvSpPr>
            <a:spLocks noChangeArrowheads="1"/>
          </p:cNvSpPr>
          <p:nvPr/>
        </p:nvSpPr>
        <p:spPr bwMode="auto">
          <a:xfrm rot="10800000" flipV="1">
            <a:off x="179388" y="4657725"/>
            <a:ext cx="87852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上面的笔算过程可叙述如下：</a:t>
            </a:r>
          </a:p>
          <a:p>
            <a:pPr eaLnBrk="0" hangingPunct="0">
              <a:lnSpc>
                <a:spcPct val="120000"/>
              </a:lnSpc>
            </a:pPr>
            <a:r>
              <a:rPr lang="en-US" altLang="zh-CN" sz="2000">
                <a:solidFill>
                  <a:srgbClr val="202050"/>
                </a:solidFill>
                <a:latin typeface="黑体" pitchFamily="2" charset="-122"/>
                <a:ea typeface="黑体" pitchFamily="2" charset="-122"/>
              </a:rPr>
              <a:t>    </a:t>
            </a:r>
            <a:r>
              <a:rPr lang="zh-CN" altLang="zh-CN" sz="2000">
                <a:solidFill>
                  <a:srgbClr val="202050"/>
                </a:solidFill>
                <a:latin typeface="黑体" pitchFamily="2" charset="-122"/>
                <a:ea typeface="黑体" pitchFamily="2" charset="-122"/>
              </a:rPr>
              <a:t>1.每次上商都是由心算来比较余数（被除数）和除数的大小，确定商为“1”还是“0”。</a:t>
            </a:r>
            <a:endParaRPr lang="zh-CN" altLang="zh-CN" sz="2000">
              <a:latin typeface="黑体" pitchFamily="2" charset="-122"/>
              <a:ea typeface="黑体" pitchFamily="2" charset="-122"/>
            </a:endParaRPr>
          </a:p>
          <a:p>
            <a:pPr eaLnBrk="0" hangingPunct="0">
              <a:lnSpc>
                <a:spcPct val="120000"/>
              </a:lnSpc>
            </a:pPr>
            <a:r>
              <a:rPr lang="en-US" altLang="zh-CN" sz="2000">
                <a:solidFill>
                  <a:srgbClr val="202050"/>
                </a:solidFill>
                <a:latin typeface="黑体" pitchFamily="2" charset="-122"/>
                <a:ea typeface="黑体" pitchFamily="2" charset="-122"/>
              </a:rPr>
              <a:t>    </a:t>
            </a:r>
            <a:r>
              <a:rPr lang="zh-CN" altLang="zh-CN" sz="2000">
                <a:solidFill>
                  <a:srgbClr val="202050"/>
                </a:solidFill>
                <a:latin typeface="黑体" pitchFamily="2" charset="-122"/>
                <a:ea typeface="黑体" pitchFamily="2" charset="-122"/>
              </a:rPr>
              <a:t>2.每做一次减法，总是保持余数不动，低位补0，再减去右移后的除数。</a:t>
            </a:r>
            <a:endParaRPr lang="zh-CN" altLang="zh-CN" sz="2000">
              <a:latin typeface="黑体" pitchFamily="2" charset="-122"/>
              <a:ea typeface="黑体" pitchFamily="2" charset="-122"/>
            </a:endParaRPr>
          </a:p>
          <a:p>
            <a:pPr eaLnBrk="0" hangingPunct="0">
              <a:lnSpc>
                <a:spcPct val="120000"/>
              </a:lnSpc>
            </a:pPr>
            <a:r>
              <a:rPr lang="en-US" altLang="zh-CN" sz="2000">
                <a:solidFill>
                  <a:srgbClr val="202050"/>
                </a:solidFill>
                <a:latin typeface="黑体" pitchFamily="2" charset="-122"/>
                <a:ea typeface="黑体" pitchFamily="2" charset="-122"/>
              </a:rPr>
              <a:t>    </a:t>
            </a:r>
            <a:r>
              <a:rPr lang="zh-CN" altLang="zh-CN" sz="2000">
                <a:solidFill>
                  <a:srgbClr val="202050"/>
                </a:solidFill>
                <a:latin typeface="黑体" pitchFamily="2" charset="-122"/>
                <a:ea typeface="黑体" pitchFamily="2" charset="-122"/>
              </a:rPr>
              <a:t>3.商单独处理。</a:t>
            </a:r>
            <a:endParaRPr lang="zh-CN" altLang="zh-CN" sz="2000">
              <a:latin typeface="黑体" pitchFamily="2" charset="-122"/>
              <a:ea typeface="黑体" pitchFamily="2" charset="-122"/>
            </a:endParaRPr>
          </a:p>
        </p:txBody>
      </p:sp>
      <p:sp>
        <p:nvSpPr>
          <p:cNvPr id="2" name="矩形 1"/>
          <p:cNvSpPr/>
          <p:nvPr/>
        </p:nvSpPr>
        <p:spPr bwMode="auto">
          <a:xfrm>
            <a:off x="1722438" y="2975180"/>
            <a:ext cx="2489522" cy="597836"/>
          </a:xfrm>
          <a:prstGeom prst="rect">
            <a:avLst/>
          </a:prstGeom>
          <a:solidFill>
            <a:schemeClr val="accent1">
              <a:alpha val="0"/>
            </a:schemeClr>
          </a:solid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cxnSp>
        <p:nvCxnSpPr>
          <p:cNvPr id="4" name="直接连接符 3"/>
          <p:cNvCxnSpPr/>
          <p:nvPr/>
        </p:nvCxnSpPr>
        <p:spPr bwMode="auto">
          <a:xfrm>
            <a:off x="1722438" y="3832584"/>
            <a:ext cx="2489522" cy="0"/>
          </a:xfrm>
          <a:prstGeom prst="line">
            <a:avLst/>
          </a:prstGeom>
          <a:solidFill>
            <a:schemeClr val="accent1"/>
          </a:solid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矩形 1"/>
          <p:cNvSpPr>
            <a:spLocks noChangeArrowheads="1"/>
          </p:cNvSpPr>
          <p:nvPr/>
        </p:nvSpPr>
        <p:spPr bwMode="auto">
          <a:xfrm>
            <a:off x="306388" y="404813"/>
            <a:ext cx="8569325"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a:latin typeface="黑体" pitchFamily="2" charset="-122"/>
                <a:ea typeface="黑体" pitchFamily="2" charset="-122"/>
              </a:rPr>
              <a:t>    事实上</a:t>
            </a:r>
            <a:r>
              <a:rPr lang="en-US" altLang="zh-CN" sz="2400">
                <a:latin typeface="黑体" pitchFamily="2" charset="-122"/>
                <a:ea typeface="黑体" pitchFamily="2" charset="-122"/>
              </a:rPr>
              <a:t>,</a:t>
            </a:r>
            <a:r>
              <a:rPr lang="zh-CN" altLang="en-US" sz="2400">
                <a:latin typeface="黑体" pitchFamily="2" charset="-122"/>
                <a:ea typeface="黑体" pitchFamily="2" charset="-122"/>
              </a:rPr>
              <a:t>机器的运算过程和人毕竟不同</a:t>
            </a:r>
            <a:r>
              <a:rPr lang="en-US" altLang="zh-CN" sz="2400">
                <a:latin typeface="黑体" pitchFamily="2" charset="-122"/>
                <a:ea typeface="黑体" pitchFamily="2" charset="-122"/>
              </a:rPr>
              <a:t>,</a:t>
            </a:r>
            <a:r>
              <a:rPr lang="zh-CN" altLang="en-US" sz="2400">
                <a:latin typeface="黑体" pitchFamily="2" charset="-122"/>
                <a:ea typeface="黑体" pitchFamily="2" charset="-122"/>
              </a:rPr>
              <a:t>人会心算</a:t>
            </a:r>
            <a:r>
              <a:rPr lang="en-US" altLang="zh-CN" sz="2400">
                <a:latin typeface="黑体" pitchFamily="2" charset="-122"/>
                <a:ea typeface="黑体" pitchFamily="2" charset="-122"/>
              </a:rPr>
              <a:t>,</a:t>
            </a:r>
          </a:p>
          <a:p>
            <a:pPr>
              <a:lnSpc>
                <a:spcPct val="150000"/>
              </a:lnSpc>
            </a:pPr>
            <a:r>
              <a:rPr lang="zh-CN" altLang="en-US" sz="2400">
                <a:latin typeface="黑体" pitchFamily="2" charset="-122"/>
                <a:ea typeface="黑体" pitchFamily="2" charset="-122"/>
              </a:rPr>
              <a:t>一看就知道够不够减。但机器却不会心算</a:t>
            </a:r>
            <a:r>
              <a:rPr lang="en-US" altLang="zh-CN" sz="2400">
                <a:latin typeface="黑体" pitchFamily="2" charset="-122"/>
                <a:ea typeface="黑体" pitchFamily="2" charset="-122"/>
              </a:rPr>
              <a:t>,</a:t>
            </a:r>
            <a:r>
              <a:rPr lang="zh-CN" altLang="en-US" sz="2400">
                <a:latin typeface="黑体" pitchFamily="2" charset="-122"/>
                <a:ea typeface="黑体" pitchFamily="2" charset="-122"/>
              </a:rPr>
              <a:t>必须先作减法</a:t>
            </a:r>
            <a:r>
              <a:rPr lang="en-US" altLang="zh-CN" sz="2400">
                <a:latin typeface="黑体" pitchFamily="2" charset="-122"/>
                <a:ea typeface="黑体" pitchFamily="2" charset="-122"/>
              </a:rPr>
              <a:t>,</a:t>
            </a:r>
          </a:p>
          <a:p>
            <a:pPr>
              <a:lnSpc>
                <a:spcPct val="150000"/>
              </a:lnSpc>
            </a:pPr>
            <a:r>
              <a:rPr lang="zh-CN" altLang="en-US" sz="2400">
                <a:latin typeface="黑体" pitchFamily="2" charset="-122"/>
                <a:ea typeface="黑体" pitchFamily="2" charset="-122"/>
              </a:rPr>
              <a:t>若余数为正</a:t>
            </a:r>
            <a:r>
              <a:rPr lang="en-US" altLang="zh-CN" sz="2400">
                <a:latin typeface="黑体" pitchFamily="2" charset="-122"/>
                <a:ea typeface="黑体" pitchFamily="2" charset="-122"/>
              </a:rPr>
              <a:t>,</a:t>
            </a:r>
            <a:r>
              <a:rPr lang="zh-CN" altLang="en-US" sz="2400">
                <a:latin typeface="黑体" pitchFamily="2" charset="-122"/>
                <a:ea typeface="黑体" pitchFamily="2" charset="-122"/>
              </a:rPr>
              <a:t>才知道够减；若余数为负</a:t>
            </a:r>
            <a:r>
              <a:rPr lang="en-US" altLang="zh-CN" sz="2400">
                <a:latin typeface="黑体" pitchFamily="2" charset="-122"/>
                <a:ea typeface="黑体" pitchFamily="2" charset="-122"/>
              </a:rPr>
              <a:t>,</a:t>
            </a:r>
            <a:r>
              <a:rPr lang="zh-CN" altLang="en-US" sz="2400">
                <a:latin typeface="黑体" pitchFamily="2" charset="-122"/>
                <a:ea typeface="黑体" pitchFamily="2" charset="-122"/>
              </a:rPr>
              <a:t>才知道不够减。</a:t>
            </a:r>
            <a:endParaRPr lang="en-US" altLang="zh-CN" sz="2400">
              <a:latin typeface="黑体" pitchFamily="2" charset="-122"/>
              <a:ea typeface="黑体" pitchFamily="2" charset="-122"/>
            </a:endParaRPr>
          </a:p>
          <a:p>
            <a:pPr>
              <a:lnSpc>
                <a:spcPct val="150000"/>
              </a:lnSpc>
            </a:pPr>
            <a:r>
              <a:rPr lang="zh-CN" altLang="en-US" sz="2400">
                <a:latin typeface="黑体" pitchFamily="2" charset="-122"/>
                <a:ea typeface="黑体" pitchFamily="2" charset="-122"/>
              </a:rPr>
              <a:t>不够减时必须恢复原来的余数</a:t>
            </a:r>
            <a:r>
              <a:rPr lang="en-US" altLang="zh-CN" sz="2400">
                <a:latin typeface="黑体" pitchFamily="2" charset="-122"/>
                <a:ea typeface="黑体" pitchFamily="2" charset="-122"/>
              </a:rPr>
              <a:t>,</a:t>
            </a:r>
            <a:r>
              <a:rPr lang="zh-CN" altLang="en-US" sz="2400">
                <a:latin typeface="黑体" pitchFamily="2" charset="-122"/>
                <a:ea typeface="黑体" pitchFamily="2" charset="-122"/>
              </a:rPr>
              <a:t>以便再继续往下运算。这种方法称为恢复余数法。要恢复原来的余数</a:t>
            </a:r>
            <a:r>
              <a:rPr lang="en-US" altLang="zh-CN" sz="2400">
                <a:latin typeface="黑体" pitchFamily="2" charset="-122"/>
                <a:ea typeface="黑体" pitchFamily="2" charset="-122"/>
              </a:rPr>
              <a:t>,</a:t>
            </a:r>
            <a:r>
              <a:rPr lang="zh-CN" altLang="en-US" sz="2400">
                <a:latin typeface="黑体" pitchFamily="2" charset="-122"/>
                <a:ea typeface="黑体" pitchFamily="2" charset="-122"/>
              </a:rPr>
              <a:t>只要当前的余数加上除数即可。但由于要恢复余数</a:t>
            </a:r>
            <a:r>
              <a:rPr lang="en-US" altLang="zh-CN" sz="2400">
                <a:latin typeface="黑体" pitchFamily="2" charset="-122"/>
                <a:ea typeface="黑体" pitchFamily="2" charset="-122"/>
              </a:rPr>
              <a:t>,</a:t>
            </a:r>
            <a:r>
              <a:rPr lang="zh-CN" altLang="en-US" sz="2400">
                <a:latin typeface="黑体" pitchFamily="2" charset="-122"/>
                <a:ea typeface="黑体" pitchFamily="2" charset="-122"/>
              </a:rPr>
              <a:t>使除法进行过程的步数不固定</a:t>
            </a:r>
            <a:r>
              <a:rPr lang="en-US" altLang="zh-CN" sz="2400">
                <a:latin typeface="黑体" pitchFamily="2" charset="-122"/>
                <a:ea typeface="黑体" pitchFamily="2" charset="-122"/>
              </a:rPr>
              <a:t>,</a:t>
            </a:r>
            <a:r>
              <a:rPr lang="zh-CN" altLang="en-US" sz="2400">
                <a:latin typeface="黑体" pitchFamily="2" charset="-122"/>
                <a:ea typeface="黑体" pitchFamily="2" charset="-122"/>
              </a:rPr>
              <a:t>因此控制比较复杂。实际中常用不恢复余数法</a:t>
            </a:r>
            <a:r>
              <a:rPr lang="en-US" altLang="zh-CN" sz="2400">
                <a:latin typeface="黑体" pitchFamily="2" charset="-122"/>
                <a:ea typeface="黑体" pitchFamily="2" charset="-122"/>
              </a:rPr>
              <a:t>,</a:t>
            </a:r>
            <a:r>
              <a:rPr lang="zh-CN" altLang="en-US" sz="2400">
                <a:latin typeface="黑体" pitchFamily="2" charset="-122"/>
                <a:ea typeface="黑体" pitchFamily="2" charset="-122"/>
              </a:rPr>
              <a:t>又称加减交替法。其特点是运算过程中如出现不够减</a:t>
            </a:r>
            <a:r>
              <a:rPr lang="en-US" altLang="zh-CN" sz="2400">
                <a:latin typeface="黑体" pitchFamily="2" charset="-122"/>
                <a:ea typeface="黑体" pitchFamily="2" charset="-122"/>
              </a:rPr>
              <a:t>,</a:t>
            </a:r>
            <a:r>
              <a:rPr lang="zh-CN" altLang="en-US" sz="2400">
                <a:latin typeface="黑体" pitchFamily="2" charset="-122"/>
                <a:ea typeface="黑体" pitchFamily="2" charset="-122"/>
              </a:rPr>
              <a:t>则不必恢复余数</a:t>
            </a:r>
            <a:r>
              <a:rPr lang="en-US" altLang="zh-CN" sz="2400">
                <a:latin typeface="黑体" pitchFamily="2" charset="-122"/>
                <a:ea typeface="黑体" pitchFamily="2" charset="-122"/>
              </a:rPr>
              <a:t>,</a:t>
            </a:r>
            <a:r>
              <a:rPr lang="zh-CN" altLang="en-US" sz="2400">
                <a:latin typeface="黑体" pitchFamily="2" charset="-122"/>
                <a:ea typeface="黑体" pitchFamily="2" charset="-122"/>
              </a:rPr>
              <a:t>根据余数符号</a:t>
            </a:r>
            <a:r>
              <a:rPr lang="en-US" altLang="zh-CN" sz="2400">
                <a:latin typeface="黑体" pitchFamily="2" charset="-122"/>
                <a:ea typeface="黑体" pitchFamily="2" charset="-122"/>
              </a:rPr>
              <a:t>,</a:t>
            </a:r>
            <a:r>
              <a:rPr lang="zh-CN" altLang="en-US" sz="2400">
                <a:latin typeface="黑体" pitchFamily="2" charset="-122"/>
                <a:ea typeface="黑体" pitchFamily="2" charset="-122"/>
              </a:rPr>
              <a:t>可以继续往下运算</a:t>
            </a:r>
            <a:r>
              <a:rPr lang="en-US" altLang="zh-CN" sz="2400">
                <a:latin typeface="黑体" pitchFamily="2" charset="-122"/>
                <a:ea typeface="黑体" pitchFamily="2" charset="-122"/>
              </a:rPr>
              <a:t>,</a:t>
            </a:r>
            <a:r>
              <a:rPr lang="zh-CN" altLang="en-US" sz="2400">
                <a:latin typeface="黑体" pitchFamily="2" charset="-122"/>
                <a:ea typeface="黑体" pitchFamily="2" charset="-122"/>
              </a:rPr>
              <a:t>因此步数固定</a:t>
            </a:r>
            <a:r>
              <a:rPr lang="en-US" altLang="zh-CN" sz="2400">
                <a:latin typeface="黑体" pitchFamily="2" charset="-122"/>
                <a:ea typeface="黑体" pitchFamily="2" charset="-122"/>
              </a:rPr>
              <a:t>,</a:t>
            </a:r>
            <a:r>
              <a:rPr lang="zh-CN" altLang="en-US" sz="2400">
                <a:latin typeface="黑体" pitchFamily="2" charset="-122"/>
                <a:ea typeface="黑体" pitchFamily="2" charset="-122"/>
              </a:rPr>
              <a:t>控制简单。</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95720"/>
            <a:ext cx="8784976" cy="619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674457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矩形 1"/>
          <p:cNvSpPr>
            <a:spLocks noChangeArrowheads="1"/>
          </p:cNvSpPr>
          <p:nvPr/>
        </p:nvSpPr>
        <p:spPr bwMode="auto">
          <a:xfrm>
            <a:off x="179388" y="44450"/>
            <a:ext cx="8640762"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dirty="0">
                <a:latin typeface="黑体" pitchFamily="2" charset="-122"/>
                <a:ea typeface="黑体" pitchFamily="2" charset="-122"/>
              </a:rPr>
              <a:t>2.4.2 </a:t>
            </a:r>
            <a:r>
              <a:rPr lang="zh-CN" altLang="en-US" sz="2400" dirty="0">
                <a:latin typeface="黑体" pitchFamily="2" charset="-122"/>
                <a:ea typeface="黑体" pitchFamily="2" charset="-122"/>
              </a:rPr>
              <a:t>并行除法器 　</a:t>
            </a:r>
          </a:p>
          <a:p>
            <a:pPr>
              <a:lnSpc>
                <a:spcPct val="150000"/>
              </a:lnSpc>
            </a:pPr>
            <a:r>
              <a:rPr lang="en-US" altLang="zh-CN" sz="2400" dirty="0">
                <a:latin typeface="黑体" pitchFamily="2" charset="-122"/>
                <a:ea typeface="黑体" pitchFamily="2" charset="-122"/>
              </a:rPr>
              <a:t>    1.</a:t>
            </a:r>
            <a:r>
              <a:rPr lang="zh-CN" altLang="en-US" sz="2400" dirty="0">
                <a:latin typeface="黑体" pitchFamily="2" charset="-122"/>
                <a:ea typeface="黑体" pitchFamily="2" charset="-122"/>
              </a:rPr>
              <a:t>可控加法</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减法</a:t>
            </a:r>
            <a:r>
              <a:rPr lang="en-US" altLang="zh-CN" sz="2400" dirty="0">
                <a:latin typeface="黑体" pitchFamily="2" charset="-122"/>
                <a:ea typeface="黑体" pitchFamily="2" charset="-122"/>
              </a:rPr>
              <a:t>(CAS)</a:t>
            </a:r>
            <a:r>
              <a:rPr lang="zh-CN" altLang="en-US" sz="2400" dirty="0">
                <a:latin typeface="黑体" pitchFamily="2" charset="-122"/>
                <a:ea typeface="黑体" pitchFamily="2" charset="-122"/>
              </a:rPr>
              <a:t>单元　　　　　　　</a:t>
            </a:r>
          </a:p>
          <a:p>
            <a:pPr>
              <a:lnSpc>
                <a:spcPct val="150000"/>
              </a:lnSpc>
            </a:pPr>
            <a:r>
              <a:rPr lang="zh-CN" altLang="en-US" sz="2400" dirty="0">
                <a:latin typeface="黑体" pitchFamily="2" charset="-122"/>
                <a:ea typeface="黑体" pitchFamily="2" charset="-122"/>
              </a:rPr>
              <a:t>　　和阵列乘法器非常相似，阵列式除法器也是一种并行运算部件，能提供令人满意的高速运算速度。</a:t>
            </a:r>
          </a:p>
          <a:p>
            <a:pPr>
              <a:lnSpc>
                <a:spcPct val="150000"/>
              </a:lnSpc>
            </a:pPr>
            <a:r>
              <a:rPr lang="zh-CN" altLang="en-US" sz="2400" dirty="0">
                <a:latin typeface="黑体" pitchFamily="2" charset="-122"/>
                <a:ea typeface="黑体" pitchFamily="2" charset="-122"/>
              </a:rPr>
              <a:t>　　阵列除法器有多种多样形式，如不恢复余数阵列除法器，补码阵列除法器</a:t>
            </a:r>
            <a:r>
              <a:rPr lang="zh-CN" altLang="en-US" sz="2400">
                <a:latin typeface="黑体" pitchFamily="2" charset="-122"/>
                <a:ea typeface="黑体" pitchFamily="2" charset="-122"/>
              </a:rPr>
              <a:t>等等</a:t>
            </a:r>
            <a:r>
              <a:rPr lang="zh-CN" altLang="en-US" sz="2400" smtClean="0">
                <a:latin typeface="黑体" pitchFamily="2" charset="-122"/>
                <a:ea typeface="黑体" pitchFamily="2" charset="-122"/>
              </a:rPr>
              <a:t>。</a:t>
            </a:r>
            <a:endParaRPr lang="zh-CN" altLang="en-US" sz="2400" dirty="0">
              <a:latin typeface="黑体" pitchFamily="2" charset="-122"/>
              <a:ea typeface="黑体" pitchFamily="2" charset="-122"/>
            </a:endParaRPr>
          </a:p>
        </p:txBody>
      </p:sp>
      <p:sp>
        <p:nvSpPr>
          <p:cNvPr id="89091" name="矩形 3"/>
          <p:cNvSpPr>
            <a:spLocks noChangeArrowheads="1"/>
          </p:cNvSpPr>
          <p:nvPr/>
        </p:nvSpPr>
        <p:spPr bwMode="auto">
          <a:xfrm>
            <a:off x="325438" y="3460750"/>
            <a:ext cx="483235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a:latin typeface="黑体" pitchFamily="2" charset="-122"/>
                <a:ea typeface="黑体" pitchFamily="2" charset="-122"/>
              </a:rPr>
              <a:t>　　首先介绍可控加法</a:t>
            </a:r>
            <a:r>
              <a:rPr lang="en-US" altLang="zh-CN" sz="2400">
                <a:latin typeface="黑体" pitchFamily="2" charset="-122"/>
                <a:ea typeface="黑体" pitchFamily="2" charset="-122"/>
              </a:rPr>
              <a:t>/</a:t>
            </a:r>
            <a:r>
              <a:rPr lang="zh-CN" altLang="en-US" sz="2400">
                <a:latin typeface="黑体" pitchFamily="2" charset="-122"/>
                <a:ea typeface="黑体" pitchFamily="2" charset="-122"/>
              </a:rPr>
              <a:t>减法</a:t>
            </a:r>
            <a:r>
              <a:rPr lang="en-US" altLang="zh-CN" sz="2400">
                <a:latin typeface="黑体" pitchFamily="2" charset="-122"/>
                <a:ea typeface="黑体" pitchFamily="2" charset="-122"/>
              </a:rPr>
              <a:t>(CAS)</a:t>
            </a:r>
            <a:r>
              <a:rPr lang="zh-CN" altLang="en-US" sz="2400">
                <a:latin typeface="黑体" pitchFamily="2" charset="-122"/>
                <a:ea typeface="黑体" pitchFamily="2" charset="-122"/>
              </a:rPr>
              <a:t>单元</a:t>
            </a:r>
            <a:r>
              <a:rPr lang="en-US" altLang="zh-CN" sz="2400">
                <a:latin typeface="黑体" pitchFamily="2" charset="-122"/>
                <a:ea typeface="黑体" pitchFamily="2" charset="-122"/>
              </a:rPr>
              <a:t>,</a:t>
            </a:r>
            <a:r>
              <a:rPr lang="zh-CN" altLang="en-US" sz="2400">
                <a:latin typeface="黑体" pitchFamily="2" charset="-122"/>
                <a:ea typeface="黑体" pitchFamily="2" charset="-122"/>
              </a:rPr>
              <a:t>它将用于并行除法流水逻辑阵列中，它有四个输出端和四个输入端。当输入线</a:t>
            </a:r>
            <a:r>
              <a:rPr lang="en-US" altLang="zh-CN" sz="2400">
                <a:latin typeface="黑体" pitchFamily="2" charset="-122"/>
                <a:ea typeface="黑体" pitchFamily="2" charset="-122"/>
              </a:rPr>
              <a:t>P</a:t>
            </a:r>
            <a:r>
              <a:rPr lang="zh-CN" altLang="en-US" sz="2400">
                <a:latin typeface="黑体" pitchFamily="2" charset="-122"/>
                <a:ea typeface="黑体" pitchFamily="2" charset="-122"/>
              </a:rPr>
              <a:t>＝</a:t>
            </a:r>
            <a:r>
              <a:rPr lang="en-US" altLang="zh-CN" sz="2400">
                <a:latin typeface="黑体" pitchFamily="2" charset="-122"/>
                <a:ea typeface="黑体" pitchFamily="2" charset="-122"/>
              </a:rPr>
              <a:t>0</a:t>
            </a:r>
            <a:r>
              <a:rPr lang="zh-CN" altLang="en-US" sz="2400">
                <a:latin typeface="黑体" pitchFamily="2" charset="-122"/>
                <a:ea typeface="黑体" pitchFamily="2" charset="-122"/>
              </a:rPr>
              <a:t>时，</a:t>
            </a:r>
            <a:r>
              <a:rPr lang="en-US" altLang="zh-CN" sz="2400">
                <a:latin typeface="黑体" pitchFamily="2" charset="-122"/>
                <a:ea typeface="黑体" pitchFamily="2" charset="-122"/>
              </a:rPr>
              <a:t>CAS</a:t>
            </a:r>
            <a:r>
              <a:rPr lang="zh-CN" altLang="en-US" sz="2400">
                <a:latin typeface="黑体" pitchFamily="2" charset="-122"/>
                <a:ea typeface="黑体" pitchFamily="2" charset="-122"/>
              </a:rPr>
              <a:t>作加法运算；当</a:t>
            </a:r>
            <a:r>
              <a:rPr lang="en-US" altLang="zh-CN" sz="2400">
                <a:latin typeface="黑体" pitchFamily="2" charset="-122"/>
                <a:ea typeface="黑体" pitchFamily="2" charset="-122"/>
              </a:rPr>
              <a:t>P</a:t>
            </a:r>
            <a:r>
              <a:rPr lang="zh-CN" altLang="en-US" sz="2400">
                <a:latin typeface="黑体" pitchFamily="2" charset="-122"/>
                <a:ea typeface="黑体" pitchFamily="2" charset="-122"/>
              </a:rPr>
              <a:t>＝</a:t>
            </a:r>
            <a:r>
              <a:rPr lang="en-US" altLang="zh-CN" sz="2400">
                <a:latin typeface="黑体" pitchFamily="2" charset="-122"/>
                <a:ea typeface="黑体" pitchFamily="2" charset="-122"/>
              </a:rPr>
              <a:t>1</a:t>
            </a:r>
            <a:r>
              <a:rPr lang="zh-CN" altLang="en-US" sz="2400">
                <a:latin typeface="黑体" pitchFamily="2" charset="-122"/>
                <a:ea typeface="黑体" pitchFamily="2" charset="-122"/>
              </a:rPr>
              <a:t>时</a:t>
            </a:r>
            <a:r>
              <a:rPr lang="en-US" altLang="zh-CN" sz="2400">
                <a:latin typeface="黑体" pitchFamily="2" charset="-122"/>
                <a:ea typeface="黑体" pitchFamily="2" charset="-122"/>
              </a:rPr>
              <a:t>,CAS</a:t>
            </a:r>
            <a:r>
              <a:rPr lang="zh-CN" altLang="en-US" sz="2400">
                <a:latin typeface="黑体" pitchFamily="2" charset="-122"/>
                <a:ea typeface="黑体" pitchFamily="2" charset="-122"/>
              </a:rPr>
              <a:t>作减法运算。</a:t>
            </a:r>
          </a:p>
        </p:txBody>
      </p:sp>
      <p:pic>
        <p:nvPicPr>
          <p:cNvPr id="8909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788" y="3141663"/>
            <a:ext cx="3662362"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600075"/>
            <a:ext cx="8724900" cy="565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矩形 3"/>
          <p:cNvSpPr>
            <a:spLocks noChangeArrowheads="1"/>
          </p:cNvSpPr>
          <p:nvPr/>
        </p:nvSpPr>
        <p:spPr bwMode="auto">
          <a:xfrm>
            <a:off x="107950" y="313009"/>
            <a:ext cx="8785225" cy="195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dirty="0">
                <a:latin typeface="黑体" pitchFamily="2" charset="-122"/>
                <a:ea typeface="黑体" pitchFamily="2" charset="-122"/>
              </a:rPr>
              <a:t>   2.</a:t>
            </a:r>
            <a:r>
              <a:rPr lang="zh-CN" altLang="en-US" sz="2400" dirty="0">
                <a:latin typeface="黑体" pitchFamily="2" charset="-122"/>
                <a:ea typeface="黑体" pitchFamily="2" charset="-122"/>
              </a:rPr>
              <a:t>不恢复余数的阵列除法器</a:t>
            </a:r>
          </a:p>
          <a:p>
            <a:pPr>
              <a:lnSpc>
                <a:spcPct val="150000"/>
              </a:lnSpc>
            </a:pPr>
            <a:r>
              <a:rPr lang="zh-CN" altLang="en-US" sz="2000" dirty="0" smtClean="0">
                <a:latin typeface="黑体" pitchFamily="2" charset="-122"/>
                <a:ea typeface="黑体" pitchFamily="2" charset="-122"/>
              </a:rPr>
              <a:t>    假定</a:t>
            </a:r>
            <a:r>
              <a:rPr lang="zh-CN" altLang="en-US" sz="2000" dirty="0">
                <a:latin typeface="黑体" pitchFamily="2" charset="-122"/>
                <a:ea typeface="黑体" pitchFamily="2" charset="-122"/>
              </a:rPr>
              <a:t>所有被处理的数都是正的小数。</a:t>
            </a:r>
          </a:p>
          <a:p>
            <a:pPr>
              <a:lnSpc>
                <a:spcPct val="150000"/>
              </a:lnSpc>
            </a:pP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4</a:t>
            </a:r>
            <a:r>
              <a:rPr lang="zh-CN" altLang="en-US" sz="2000" dirty="0">
                <a:latin typeface="黑体" pitchFamily="2" charset="-122"/>
                <a:ea typeface="黑体" pitchFamily="2" charset="-122"/>
              </a:rPr>
              <a:t>位除</a:t>
            </a:r>
            <a:r>
              <a:rPr lang="en-US" altLang="zh-CN" sz="2000" dirty="0">
                <a:latin typeface="黑体" pitchFamily="2" charset="-122"/>
                <a:ea typeface="黑体" pitchFamily="2" charset="-122"/>
              </a:rPr>
              <a:t>4</a:t>
            </a:r>
            <a:r>
              <a:rPr lang="zh-CN" altLang="en-US" sz="2000" dirty="0">
                <a:latin typeface="黑体" pitchFamily="2" charset="-122"/>
                <a:ea typeface="黑体" pitchFamily="2" charset="-122"/>
              </a:rPr>
              <a:t>位的不恢复余数阵列</a:t>
            </a:r>
            <a:r>
              <a:rPr lang="zh-CN" altLang="en-US" sz="2000" dirty="0" smtClean="0">
                <a:latin typeface="黑体" pitchFamily="2" charset="-122"/>
                <a:ea typeface="黑体" pitchFamily="2" charset="-122"/>
              </a:rPr>
              <a:t>除法器</a:t>
            </a:r>
            <a:endParaRPr lang="en-US" altLang="zh-CN" sz="2000" dirty="0" smtClean="0">
              <a:latin typeface="黑体" pitchFamily="2" charset="-122"/>
              <a:ea typeface="黑体" pitchFamily="2" charset="-122"/>
            </a:endParaRPr>
          </a:p>
          <a:p>
            <a:pPr>
              <a:lnSpc>
                <a:spcPct val="150000"/>
              </a:lnSpc>
            </a:pPr>
            <a:r>
              <a:rPr lang="en-US" altLang="zh-CN" sz="2000" dirty="0">
                <a:latin typeface="黑体" pitchFamily="2" charset="-122"/>
                <a:ea typeface="黑体" pitchFamily="2" charset="-122"/>
              </a:rPr>
              <a:t> </a:t>
            </a:r>
            <a:r>
              <a:rPr lang="en-US" altLang="zh-CN" sz="2000" dirty="0" smtClean="0">
                <a:latin typeface="黑体" pitchFamily="2" charset="-122"/>
                <a:ea typeface="黑体" pitchFamily="2" charset="-122"/>
              </a:rPr>
              <a:t>   </a:t>
            </a:r>
            <a:r>
              <a:rPr lang="zh-CN" altLang="en-US" sz="2000" dirty="0" smtClean="0">
                <a:latin typeface="黑体" pitchFamily="2" charset="-122"/>
                <a:ea typeface="黑体" pitchFamily="2" charset="-122"/>
              </a:rPr>
              <a:t>的</a:t>
            </a:r>
            <a:r>
              <a:rPr lang="zh-CN" altLang="en-US" sz="2000" dirty="0">
                <a:latin typeface="黑体" pitchFamily="2" charset="-122"/>
                <a:ea typeface="黑体" pitchFamily="2" charset="-122"/>
              </a:rPr>
              <a:t>逻辑原理图</a:t>
            </a:r>
            <a:r>
              <a:rPr lang="zh-CN" altLang="en-US" sz="2000" dirty="0" smtClean="0">
                <a:latin typeface="黑体" pitchFamily="2" charset="-122"/>
                <a:ea typeface="黑体" pitchFamily="2" charset="-122"/>
              </a:rPr>
              <a:t>。</a:t>
            </a:r>
            <a:endParaRPr lang="zh-CN" altLang="en-US" sz="2000" dirty="0">
              <a:latin typeface="黑体" pitchFamily="2" charset="-122"/>
              <a:ea typeface="黑体" pitchFamily="2" charset="-122"/>
            </a:endParaRPr>
          </a:p>
        </p:txBody>
      </p:sp>
      <p:pic>
        <p:nvPicPr>
          <p:cNvPr id="1740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1" y="313009"/>
            <a:ext cx="3024336" cy="2795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61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3212976"/>
            <a:ext cx="8524875"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658258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F9E9067-41AE-4AC2-B5B8-55A64D8579D5}" type="datetime1">
              <a:rPr lang="zh-CN" altLang="en-US" smtClean="0"/>
              <a:pPr>
                <a:defRPr/>
              </a:pPr>
              <a:t>2021/9/9</a:t>
            </a:fld>
            <a:endParaRPr lang="en-US" altLang="zh-CN"/>
          </a:p>
        </p:txBody>
      </p:sp>
      <p:sp>
        <p:nvSpPr>
          <p:cNvPr id="3" name="灯片编号占位符 2"/>
          <p:cNvSpPr>
            <a:spLocks noGrp="1"/>
          </p:cNvSpPr>
          <p:nvPr>
            <p:ph type="sldNum" sz="quarter" idx="12"/>
          </p:nvPr>
        </p:nvSpPr>
        <p:spPr/>
        <p:txBody>
          <a:bodyPr/>
          <a:lstStyle/>
          <a:p>
            <a:pPr>
              <a:defRPr/>
            </a:pPr>
            <a:fld id="{7D83C012-A532-4D13-8073-1A89CE4DFD87}" type="slidenum">
              <a:rPr lang="en-US" altLang="zh-CN" smtClean="0"/>
              <a:pPr>
                <a:defRPr/>
              </a:pPr>
              <a:t>84</a:t>
            </a:fld>
            <a:endParaRPr lang="en-US" altLang="zh-CN"/>
          </a:p>
        </p:txBody>
      </p:sp>
      <p:sp>
        <p:nvSpPr>
          <p:cNvPr id="4" name="矩形 3"/>
          <p:cNvSpPr>
            <a:spLocks noChangeArrowheads="1"/>
          </p:cNvSpPr>
          <p:nvPr/>
        </p:nvSpPr>
        <p:spPr bwMode="auto">
          <a:xfrm>
            <a:off x="107950" y="4077072"/>
            <a:ext cx="8785225" cy="215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latin typeface="黑体" pitchFamily="2" charset="-122"/>
                <a:ea typeface="黑体" pitchFamily="2" charset="-122"/>
              </a:rPr>
              <a:t>　</a:t>
            </a:r>
            <a:r>
              <a:rPr lang="zh-CN" altLang="en-US" sz="2000" dirty="0" smtClean="0">
                <a:latin typeface="黑体" pitchFamily="2" charset="-122"/>
                <a:ea typeface="黑体" pitchFamily="2" charset="-122"/>
              </a:rPr>
              <a:t>  </a:t>
            </a:r>
            <a:r>
              <a:rPr lang="zh-CN" altLang="en-US" dirty="0">
                <a:latin typeface="黑体" pitchFamily="2" charset="-122"/>
                <a:ea typeface="黑体" pitchFamily="2" charset="-122"/>
              </a:rPr>
              <a:t>这里被除数</a:t>
            </a:r>
            <a:r>
              <a:rPr lang="zh-CN" altLang="en-US" i="1" dirty="0">
                <a:latin typeface="黑体" pitchFamily="2" charset="-122"/>
                <a:ea typeface="黑体" pitchFamily="2" charset="-122"/>
              </a:rPr>
              <a:t>ｘ</a:t>
            </a:r>
            <a:r>
              <a:rPr lang="zh-CN" altLang="en-US" dirty="0">
                <a:latin typeface="黑体" pitchFamily="2" charset="-122"/>
                <a:ea typeface="黑体" pitchFamily="2" charset="-122"/>
              </a:rPr>
              <a:t>是一个</a:t>
            </a:r>
            <a:r>
              <a:rPr lang="en-US" altLang="zh-CN" dirty="0">
                <a:latin typeface="黑体" pitchFamily="2" charset="-122"/>
                <a:ea typeface="黑体" pitchFamily="2" charset="-122"/>
              </a:rPr>
              <a:t>6</a:t>
            </a:r>
            <a:r>
              <a:rPr lang="zh-CN" altLang="en-US" dirty="0">
                <a:latin typeface="黑体" pitchFamily="2" charset="-122"/>
                <a:ea typeface="黑体" pitchFamily="2" charset="-122"/>
              </a:rPr>
              <a:t>位的小数</a:t>
            </a:r>
            <a:r>
              <a:rPr lang="en-US" altLang="zh-CN" dirty="0">
                <a:latin typeface="黑体" pitchFamily="2" charset="-122"/>
                <a:ea typeface="黑体" pitchFamily="2" charset="-122"/>
              </a:rPr>
              <a:t>(</a:t>
            </a:r>
            <a:r>
              <a:rPr lang="zh-CN" altLang="en-US" dirty="0">
                <a:latin typeface="黑体" pitchFamily="2" charset="-122"/>
                <a:ea typeface="黑体" pitchFamily="2" charset="-122"/>
              </a:rPr>
              <a:t>双倍长度值</a:t>
            </a:r>
            <a:r>
              <a:rPr lang="en-US" altLang="zh-CN" dirty="0">
                <a:latin typeface="黑体" pitchFamily="2" charset="-122"/>
                <a:ea typeface="黑体" pitchFamily="2" charset="-122"/>
              </a:rPr>
              <a:t>)</a:t>
            </a:r>
            <a:r>
              <a:rPr lang="zh-CN" altLang="en-US" dirty="0">
                <a:latin typeface="黑体" pitchFamily="2" charset="-122"/>
                <a:ea typeface="黑体" pitchFamily="2" charset="-122"/>
              </a:rPr>
              <a:t>：</a:t>
            </a:r>
            <a:r>
              <a:rPr lang="zh-CN" altLang="en-US" i="1" dirty="0">
                <a:latin typeface="黑体" pitchFamily="2" charset="-122"/>
                <a:ea typeface="黑体" pitchFamily="2" charset="-122"/>
              </a:rPr>
              <a:t>ｘ</a:t>
            </a:r>
            <a:r>
              <a:rPr lang="zh-CN" altLang="en-US" dirty="0">
                <a:latin typeface="黑体" pitchFamily="2" charset="-122"/>
                <a:ea typeface="黑体" pitchFamily="2" charset="-122"/>
              </a:rPr>
              <a:t>＝</a:t>
            </a:r>
            <a:r>
              <a:rPr lang="en-US" altLang="zh-CN" dirty="0">
                <a:latin typeface="黑体" pitchFamily="2" charset="-122"/>
                <a:ea typeface="黑体" pitchFamily="2" charset="-122"/>
              </a:rPr>
              <a:t>0.</a:t>
            </a:r>
            <a:r>
              <a:rPr lang="zh-CN" altLang="en-US" i="1" dirty="0">
                <a:latin typeface="黑体" pitchFamily="2" charset="-122"/>
                <a:ea typeface="黑体" pitchFamily="2" charset="-122"/>
              </a:rPr>
              <a:t>ｘ</a:t>
            </a:r>
            <a:r>
              <a:rPr lang="en-US" altLang="zh-CN" i="1" baseline="-25000" dirty="0">
                <a:latin typeface="黑体" pitchFamily="2" charset="-122"/>
                <a:ea typeface="黑体" pitchFamily="2" charset="-122"/>
              </a:rPr>
              <a:t>6</a:t>
            </a:r>
            <a:r>
              <a:rPr lang="zh-CN" altLang="en-US" i="1" dirty="0">
                <a:latin typeface="黑体" pitchFamily="2" charset="-122"/>
                <a:ea typeface="黑体" pitchFamily="2" charset="-122"/>
              </a:rPr>
              <a:t>ｘ</a:t>
            </a:r>
            <a:r>
              <a:rPr lang="en-US" altLang="zh-CN" i="1" baseline="-25000" dirty="0">
                <a:latin typeface="黑体" pitchFamily="2" charset="-122"/>
                <a:ea typeface="黑体" pitchFamily="2" charset="-122"/>
              </a:rPr>
              <a:t>5</a:t>
            </a:r>
            <a:r>
              <a:rPr lang="zh-CN" altLang="en-US" i="1" dirty="0">
                <a:latin typeface="黑体" pitchFamily="2" charset="-122"/>
                <a:ea typeface="黑体" pitchFamily="2" charset="-122"/>
              </a:rPr>
              <a:t>ｘ</a:t>
            </a:r>
            <a:r>
              <a:rPr lang="en-US" altLang="zh-CN" i="1" baseline="-25000" dirty="0">
                <a:latin typeface="黑体" pitchFamily="2" charset="-122"/>
                <a:ea typeface="黑体" pitchFamily="2" charset="-122"/>
              </a:rPr>
              <a:t>4</a:t>
            </a:r>
            <a:r>
              <a:rPr lang="zh-CN" altLang="en-US" i="1" dirty="0">
                <a:latin typeface="黑体" pitchFamily="2" charset="-122"/>
                <a:ea typeface="黑体" pitchFamily="2" charset="-122"/>
              </a:rPr>
              <a:t>ｘ</a:t>
            </a:r>
            <a:r>
              <a:rPr lang="en-US" altLang="zh-CN" i="1" baseline="-25000" dirty="0">
                <a:latin typeface="黑体" pitchFamily="2" charset="-122"/>
                <a:ea typeface="黑体" pitchFamily="2" charset="-122"/>
              </a:rPr>
              <a:t>3</a:t>
            </a:r>
            <a:r>
              <a:rPr lang="zh-CN" altLang="en-US" i="1" dirty="0">
                <a:latin typeface="黑体" pitchFamily="2" charset="-122"/>
                <a:ea typeface="黑体" pitchFamily="2" charset="-122"/>
              </a:rPr>
              <a:t>ｘ</a:t>
            </a:r>
            <a:r>
              <a:rPr lang="en-US" altLang="zh-CN" i="1" baseline="-25000" dirty="0">
                <a:latin typeface="黑体" pitchFamily="2" charset="-122"/>
                <a:ea typeface="黑体" pitchFamily="2" charset="-122"/>
              </a:rPr>
              <a:t>2</a:t>
            </a:r>
            <a:r>
              <a:rPr lang="zh-CN" altLang="en-US" i="1" dirty="0">
                <a:latin typeface="黑体" pitchFamily="2" charset="-122"/>
                <a:ea typeface="黑体" pitchFamily="2" charset="-122"/>
              </a:rPr>
              <a:t>ｘ</a:t>
            </a:r>
            <a:r>
              <a:rPr lang="en-US" altLang="zh-CN" i="1" baseline="-25000" dirty="0">
                <a:latin typeface="黑体" pitchFamily="2" charset="-122"/>
                <a:ea typeface="黑体" pitchFamily="2" charset="-122"/>
              </a:rPr>
              <a:t>1</a:t>
            </a:r>
            <a:r>
              <a:rPr lang="zh-CN" altLang="en-US" dirty="0">
                <a:latin typeface="黑体" pitchFamily="2" charset="-122"/>
                <a:ea typeface="黑体" pitchFamily="2" charset="-122"/>
              </a:rPr>
              <a:t>它是由顶部一行和最右边的对角线上的垂直输入线来提供的。</a:t>
            </a:r>
          </a:p>
          <a:p>
            <a:pPr>
              <a:lnSpc>
                <a:spcPct val="150000"/>
              </a:lnSpc>
            </a:pPr>
            <a:r>
              <a:rPr lang="zh-CN" altLang="en-US" dirty="0">
                <a:latin typeface="黑体" pitchFamily="2" charset="-122"/>
                <a:ea typeface="黑体" pitchFamily="2" charset="-122"/>
              </a:rPr>
              <a:t>　　除数ｙ是一个</a:t>
            </a:r>
            <a:r>
              <a:rPr lang="en-US" altLang="zh-CN" dirty="0">
                <a:latin typeface="黑体" pitchFamily="2" charset="-122"/>
                <a:ea typeface="黑体" pitchFamily="2" charset="-122"/>
              </a:rPr>
              <a:t>3</a:t>
            </a:r>
            <a:r>
              <a:rPr lang="zh-CN" altLang="en-US" dirty="0">
                <a:latin typeface="黑体" pitchFamily="2" charset="-122"/>
                <a:ea typeface="黑体" pitchFamily="2" charset="-122"/>
              </a:rPr>
              <a:t>位的小数：</a:t>
            </a:r>
            <a:r>
              <a:rPr lang="zh-CN" altLang="en-US" i="1" dirty="0">
                <a:latin typeface="黑体" pitchFamily="2" charset="-122"/>
                <a:ea typeface="黑体" pitchFamily="2" charset="-122"/>
              </a:rPr>
              <a:t>ｙ</a:t>
            </a:r>
            <a:r>
              <a:rPr lang="zh-CN" altLang="en-US" dirty="0">
                <a:latin typeface="黑体" pitchFamily="2" charset="-122"/>
                <a:ea typeface="黑体" pitchFamily="2" charset="-122"/>
              </a:rPr>
              <a:t>＝</a:t>
            </a:r>
            <a:r>
              <a:rPr lang="en-US" altLang="zh-CN" dirty="0">
                <a:latin typeface="黑体" pitchFamily="2" charset="-122"/>
                <a:ea typeface="黑体" pitchFamily="2" charset="-122"/>
              </a:rPr>
              <a:t>0.</a:t>
            </a:r>
            <a:r>
              <a:rPr lang="zh-CN" altLang="en-US" i="1" dirty="0">
                <a:latin typeface="黑体" pitchFamily="2" charset="-122"/>
                <a:ea typeface="黑体" pitchFamily="2" charset="-122"/>
              </a:rPr>
              <a:t>ｙ</a:t>
            </a:r>
            <a:r>
              <a:rPr lang="en-US" altLang="zh-CN" i="1" baseline="-25000" dirty="0">
                <a:latin typeface="黑体" pitchFamily="2" charset="-122"/>
                <a:ea typeface="黑体" pitchFamily="2" charset="-122"/>
              </a:rPr>
              <a:t>3</a:t>
            </a:r>
            <a:r>
              <a:rPr lang="zh-CN" altLang="en-US" i="1" dirty="0">
                <a:latin typeface="黑体" pitchFamily="2" charset="-122"/>
                <a:ea typeface="黑体" pitchFamily="2" charset="-122"/>
              </a:rPr>
              <a:t>ｙ</a:t>
            </a:r>
            <a:r>
              <a:rPr lang="en-US" altLang="zh-CN" i="1" baseline="-25000" dirty="0">
                <a:latin typeface="黑体" pitchFamily="2" charset="-122"/>
                <a:ea typeface="黑体" pitchFamily="2" charset="-122"/>
              </a:rPr>
              <a:t>2</a:t>
            </a:r>
            <a:r>
              <a:rPr lang="zh-CN" altLang="en-US" i="1" dirty="0">
                <a:latin typeface="黑体" pitchFamily="2" charset="-122"/>
                <a:ea typeface="黑体" pitchFamily="2" charset="-122"/>
              </a:rPr>
              <a:t>ｙ</a:t>
            </a:r>
            <a:r>
              <a:rPr lang="en-US" altLang="zh-CN" i="1" baseline="-25000" dirty="0">
                <a:latin typeface="黑体" pitchFamily="2" charset="-122"/>
                <a:ea typeface="黑体" pitchFamily="2" charset="-122"/>
              </a:rPr>
              <a:t>1 </a:t>
            </a:r>
            <a:r>
              <a:rPr lang="zh-CN" altLang="en-US" dirty="0">
                <a:latin typeface="黑体" pitchFamily="2" charset="-122"/>
                <a:ea typeface="黑体" pitchFamily="2" charset="-122"/>
              </a:rPr>
              <a:t>它沿对角线方向进入这个阵列。</a:t>
            </a:r>
          </a:p>
          <a:p>
            <a:pPr>
              <a:lnSpc>
                <a:spcPct val="150000"/>
              </a:lnSpc>
            </a:pPr>
            <a:r>
              <a:rPr lang="zh-CN" altLang="en-US" dirty="0">
                <a:latin typeface="黑体" pitchFamily="2" charset="-122"/>
                <a:ea typeface="黑体" pitchFamily="2" charset="-122"/>
              </a:rPr>
              <a:t>　　商</a:t>
            </a:r>
            <a:r>
              <a:rPr lang="en-US" altLang="zh-CN" i="1" dirty="0">
                <a:latin typeface="黑体" pitchFamily="2" charset="-122"/>
                <a:ea typeface="黑体" pitchFamily="2" charset="-122"/>
              </a:rPr>
              <a:t>q</a:t>
            </a:r>
            <a:r>
              <a:rPr lang="zh-CN" altLang="en-US" dirty="0">
                <a:latin typeface="黑体" pitchFamily="2" charset="-122"/>
                <a:ea typeface="黑体" pitchFamily="2" charset="-122"/>
              </a:rPr>
              <a:t>是一个</a:t>
            </a:r>
            <a:r>
              <a:rPr lang="en-US" altLang="zh-CN" dirty="0">
                <a:latin typeface="黑体" pitchFamily="2" charset="-122"/>
                <a:ea typeface="黑体" pitchFamily="2" charset="-122"/>
              </a:rPr>
              <a:t>3</a:t>
            </a:r>
            <a:r>
              <a:rPr lang="zh-CN" altLang="en-US" dirty="0">
                <a:latin typeface="黑体" pitchFamily="2" charset="-122"/>
                <a:ea typeface="黑体" pitchFamily="2" charset="-122"/>
              </a:rPr>
              <a:t>位的小数：</a:t>
            </a:r>
            <a:r>
              <a:rPr lang="en-US" altLang="zh-CN" i="1" dirty="0">
                <a:latin typeface="黑体" pitchFamily="2" charset="-122"/>
                <a:ea typeface="黑体" pitchFamily="2" charset="-122"/>
              </a:rPr>
              <a:t>q</a:t>
            </a:r>
            <a:r>
              <a:rPr lang="zh-CN" altLang="en-US" dirty="0">
                <a:latin typeface="黑体" pitchFamily="2" charset="-122"/>
                <a:ea typeface="黑体" pitchFamily="2" charset="-122"/>
              </a:rPr>
              <a:t>＝</a:t>
            </a:r>
            <a:r>
              <a:rPr lang="en-US" altLang="zh-CN" dirty="0">
                <a:latin typeface="黑体" pitchFamily="2" charset="-122"/>
                <a:ea typeface="黑体" pitchFamily="2" charset="-122"/>
              </a:rPr>
              <a:t>0.</a:t>
            </a:r>
            <a:r>
              <a:rPr lang="en-US" altLang="zh-CN" i="1" dirty="0">
                <a:latin typeface="黑体" pitchFamily="2" charset="-122"/>
                <a:ea typeface="黑体" pitchFamily="2" charset="-122"/>
              </a:rPr>
              <a:t>q</a:t>
            </a:r>
            <a:r>
              <a:rPr lang="en-US" altLang="zh-CN" i="1" baseline="-25000" dirty="0">
                <a:latin typeface="黑体" pitchFamily="2" charset="-122"/>
                <a:ea typeface="黑体" pitchFamily="2" charset="-122"/>
              </a:rPr>
              <a:t>3</a:t>
            </a:r>
            <a:r>
              <a:rPr lang="en-US" altLang="zh-CN" i="1" dirty="0">
                <a:latin typeface="黑体" pitchFamily="2" charset="-122"/>
                <a:ea typeface="黑体" pitchFamily="2" charset="-122"/>
              </a:rPr>
              <a:t>q</a:t>
            </a:r>
            <a:r>
              <a:rPr lang="en-US" altLang="zh-CN" i="1" baseline="-25000" dirty="0">
                <a:latin typeface="黑体" pitchFamily="2" charset="-122"/>
                <a:ea typeface="黑体" pitchFamily="2" charset="-122"/>
              </a:rPr>
              <a:t>2</a:t>
            </a:r>
            <a:r>
              <a:rPr lang="en-US" altLang="zh-CN" i="1" dirty="0">
                <a:latin typeface="黑体" pitchFamily="2" charset="-122"/>
                <a:ea typeface="黑体" pitchFamily="2" charset="-122"/>
              </a:rPr>
              <a:t>q</a:t>
            </a:r>
            <a:r>
              <a:rPr lang="en-US" altLang="zh-CN" i="1" baseline="-25000" dirty="0">
                <a:latin typeface="黑体" pitchFamily="2" charset="-122"/>
                <a:ea typeface="黑体" pitchFamily="2" charset="-122"/>
              </a:rPr>
              <a:t>1</a:t>
            </a:r>
            <a:r>
              <a:rPr lang="zh-CN" altLang="en-US" dirty="0">
                <a:latin typeface="黑体" pitchFamily="2" charset="-122"/>
                <a:ea typeface="黑体" pitchFamily="2" charset="-122"/>
              </a:rPr>
              <a:t>　它在阵列的左边产生。</a:t>
            </a:r>
          </a:p>
          <a:p>
            <a:pPr>
              <a:lnSpc>
                <a:spcPct val="150000"/>
              </a:lnSpc>
            </a:pPr>
            <a:r>
              <a:rPr lang="zh-CN" altLang="en-US" dirty="0">
                <a:latin typeface="黑体" pitchFamily="2" charset="-122"/>
                <a:ea typeface="黑体" pitchFamily="2" charset="-122"/>
              </a:rPr>
              <a:t>　　余数</a:t>
            </a:r>
            <a:r>
              <a:rPr lang="en-US" altLang="zh-CN" i="1" dirty="0">
                <a:latin typeface="黑体" pitchFamily="2" charset="-122"/>
                <a:ea typeface="黑体" pitchFamily="2" charset="-122"/>
              </a:rPr>
              <a:t>r</a:t>
            </a:r>
            <a:r>
              <a:rPr lang="zh-CN" altLang="en-US" dirty="0">
                <a:latin typeface="黑体" pitchFamily="2" charset="-122"/>
                <a:ea typeface="黑体" pitchFamily="2" charset="-122"/>
              </a:rPr>
              <a:t>是一个</a:t>
            </a:r>
            <a:r>
              <a:rPr lang="en-US" altLang="zh-CN" dirty="0">
                <a:latin typeface="黑体" pitchFamily="2" charset="-122"/>
                <a:ea typeface="黑体" pitchFamily="2" charset="-122"/>
              </a:rPr>
              <a:t>6</a:t>
            </a:r>
            <a:r>
              <a:rPr lang="zh-CN" altLang="en-US" dirty="0">
                <a:latin typeface="黑体" pitchFamily="2" charset="-122"/>
                <a:ea typeface="黑体" pitchFamily="2" charset="-122"/>
              </a:rPr>
              <a:t>位的小数：</a:t>
            </a:r>
            <a:r>
              <a:rPr lang="en-US" altLang="zh-CN" i="1" dirty="0">
                <a:latin typeface="黑体" pitchFamily="2" charset="-122"/>
                <a:ea typeface="黑体" pitchFamily="2" charset="-122"/>
              </a:rPr>
              <a:t>r</a:t>
            </a:r>
            <a:r>
              <a:rPr lang="zh-CN" altLang="en-US" dirty="0">
                <a:latin typeface="黑体" pitchFamily="2" charset="-122"/>
                <a:ea typeface="黑体" pitchFamily="2" charset="-122"/>
              </a:rPr>
              <a:t>＝</a:t>
            </a:r>
            <a:r>
              <a:rPr lang="en-US" altLang="zh-CN" dirty="0">
                <a:latin typeface="黑体" pitchFamily="2" charset="-122"/>
                <a:ea typeface="黑体" pitchFamily="2" charset="-122"/>
              </a:rPr>
              <a:t>0.00</a:t>
            </a:r>
            <a:r>
              <a:rPr lang="en-US" altLang="zh-CN" i="1" dirty="0">
                <a:latin typeface="黑体" pitchFamily="2" charset="-122"/>
                <a:ea typeface="黑体" pitchFamily="2" charset="-122"/>
              </a:rPr>
              <a:t>r</a:t>
            </a:r>
            <a:r>
              <a:rPr lang="en-US" altLang="zh-CN" i="1" baseline="-25000" dirty="0">
                <a:latin typeface="黑体" pitchFamily="2" charset="-122"/>
                <a:ea typeface="黑体" pitchFamily="2" charset="-122"/>
              </a:rPr>
              <a:t>6</a:t>
            </a:r>
            <a:r>
              <a:rPr lang="en-US" altLang="zh-CN" i="1" dirty="0">
                <a:latin typeface="黑体" pitchFamily="2" charset="-122"/>
                <a:ea typeface="黑体" pitchFamily="2" charset="-122"/>
              </a:rPr>
              <a:t>r</a:t>
            </a:r>
            <a:r>
              <a:rPr lang="en-US" altLang="zh-CN" i="1" baseline="-25000" dirty="0">
                <a:latin typeface="黑体" pitchFamily="2" charset="-122"/>
                <a:ea typeface="黑体" pitchFamily="2" charset="-122"/>
              </a:rPr>
              <a:t>5</a:t>
            </a:r>
            <a:r>
              <a:rPr lang="en-US" altLang="zh-CN" i="1" dirty="0">
                <a:latin typeface="黑体" pitchFamily="2" charset="-122"/>
                <a:ea typeface="黑体" pitchFamily="2" charset="-122"/>
              </a:rPr>
              <a:t>r</a:t>
            </a:r>
            <a:r>
              <a:rPr lang="en-US" altLang="zh-CN" i="1" baseline="-25000" dirty="0">
                <a:latin typeface="黑体" pitchFamily="2" charset="-122"/>
                <a:ea typeface="黑体" pitchFamily="2" charset="-122"/>
              </a:rPr>
              <a:t>4</a:t>
            </a:r>
            <a:r>
              <a:rPr lang="en-US" altLang="zh-CN" i="1" dirty="0">
                <a:latin typeface="黑体" pitchFamily="2" charset="-122"/>
                <a:ea typeface="黑体" pitchFamily="2" charset="-122"/>
              </a:rPr>
              <a:t>r</a:t>
            </a:r>
            <a:r>
              <a:rPr lang="en-US" altLang="zh-CN" i="1" baseline="-25000" dirty="0">
                <a:latin typeface="黑体" pitchFamily="2" charset="-122"/>
                <a:ea typeface="黑体" pitchFamily="2" charset="-122"/>
              </a:rPr>
              <a:t>3 </a:t>
            </a:r>
            <a:r>
              <a:rPr lang="zh-CN" altLang="en-US" dirty="0">
                <a:latin typeface="黑体" pitchFamily="2" charset="-122"/>
                <a:ea typeface="黑体" pitchFamily="2" charset="-122"/>
              </a:rPr>
              <a:t>它在阵列的最下一行产生。</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04663"/>
            <a:ext cx="8496944" cy="3672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4258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333375"/>
            <a:ext cx="6192837"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068638"/>
            <a:ext cx="8359775"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179388" y="268288"/>
            <a:ext cx="8785225" cy="2584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dirty="0">
                <a:latin typeface="黑体" pitchFamily="2" charset="-122"/>
                <a:ea typeface="黑体" pitchFamily="2" charset="-122"/>
              </a:rPr>
              <a:t>    推广到一般情况</a:t>
            </a:r>
            <a:r>
              <a:rPr lang="en-US" altLang="zh-CN" dirty="0">
                <a:latin typeface="黑体" pitchFamily="2" charset="-122"/>
                <a:ea typeface="黑体" pitchFamily="2" charset="-122"/>
              </a:rPr>
              <a:t>,</a:t>
            </a:r>
            <a:r>
              <a:rPr lang="zh-CN" altLang="en-US" dirty="0">
                <a:latin typeface="黑体" pitchFamily="2" charset="-122"/>
                <a:ea typeface="黑体" pitchFamily="2" charset="-122"/>
              </a:rPr>
              <a:t>一个</a:t>
            </a:r>
            <a:r>
              <a:rPr lang="en-US" altLang="zh-CN" dirty="0">
                <a:latin typeface="黑体" pitchFamily="2" charset="-122"/>
                <a:ea typeface="黑体" pitchFamily="2" charset="-122"/>
              </a:rPr>
              <a:t>(n</a:t>
            </a:r>
            <a:r>
              <a:rPr lang="zh-CN" altLang="en-US" dirty="0">
                <a:latin typeface="黑体" pitchFamily="2" charset="-122"/>
                <a:ea typeface="黑体" pitchFamily="2" charset="-122"/>
              </a:rPr>
              <a:t>＋</a:t>
            </a:r>
            <a:r>
              <a:rPr lang="en-US" altLang="zh-CN" dirty="0">
                <a:latin typeface="黑体" pitchFamily="2" charset="-122"/>
                <a:ea typeface="黑体" pitchFamily="2" charset="-122"/>
              </a:rPr>
              <a:t>1)</a:t>
            </a:r>
            <a:r>
              <a:rPr lang="zh-CN" altLang="en-US" dirty="0">
                <a:latin typeface="黑体" pitchFamily="2" charset="-122"/>
                <a:ea typeface="黑体" pitchFamily="2" charset="-122"/>
              </a:rPr>
              <a:t>位除</a:t>
            </a:r>
            <a:r>
              <a:rPr lang="en-US" altLang="zh-CN" dirty="0">
                <a:latin typeface="黑体" pitchFamily="2" charset="-122"/>
                <a:ea typeface="黑体" pitchFamily="2" charset="-122"/>
              </a:rPr>
              <a:t>(n</a:t>
            </a:r>
            <a:r>
              <a:rPr lang="zh-CN" altLang="en-US" dirty="0">
                <a:latin typeface="黑体" pitchFamily="2" charset="-122"/>
                <a:ea typeface="黑体" pitchFamily="2" charset="-122"/>
              </a:rPr>
              <a:t>＋</a:t>
            </a:r>
            <a:r>
              <a:rPr lang="en-US" altLang="zh-CN" dirty="0">
                <a:latin typeface="黑体" pitchFamily="2" charset="-122"/>
                <a:ea typeface="黑体" pitchFamily="2" charset="-122"/>
              </a:rPr>
              <a:t>1)</a:t>
            </a:r>
            <a:r>
              <a:rPr lang="zh-CN" altLang="en-US" dirty="0">
                <a:latin typeface="黑体" pitchFamily="2" charset="-122"/>
                <a:ea typeface="黑体" pitchFamily="2" charset="-122"/>
              </a:rPr>
              <a:t>位的加减交替除法阵列由</a:t>
            </a:r>
            <a:r>
              <a:rPr lang="en-US" altLang="zh-CN" dirty="0">
                <a:latin typeface="黑体" pitchFamily="2" charset="-122"/>
                <a:ea typeface="黑体" pitchFamily="2" charset="-122"/>
              </a:rPr>
              <a:t>(n</a:t>
            </a:r>
            <a:r>
              <a:rPr lang="zh-CN" altLang="en-US" dirty="0">
                <a:latin typeface="黑体" pitchFamily="2" charset="-122"/>
                <a:ea typeface="黑体" pitchFamily="2" charset="-122"/>
              </a:rPr>
              <a:t>＋</a:t>
            </a:r>
            <a:r>
              <a:rPr lang="en-US" altLang="zh-CN" dirty="0">
                <a:latin typeface="黑体" pitchFamily="2" charset="-122"/>
                <a:ea typeface="黑体" pitchFamily="2" charset="-122"/>
              </a:rPr>
              <a:t>1)</a:t>
            </a:r>
            <a:r>
              <a:rPr lang="en-US" altLang="zh-CN" baseline="30000" dirty="0">
                <a:latin typeface="黑体" pitchFamily="2" charset="-122"/>
                <a:ea typeface="黑体" pitchFamily="2" charset="-122"/>
              </a:rPr>
              <a:t>2</a:t>
            </a:r>
            <a:r>
              <a:rPr lang="zh-CN" altLang="en-US" dirty="0">
                <a:latin typeface="黑体" pitchFamily="2" charset="-122"/>
                <a:ea typeface="黑体" pitchFamily="2" charset="-122"/>
              </a:rPr>
              <a:t>个可控加法</a:t>
            </a:r>
            <a:r>
              <a:rPr lang="en-US" altLang="zh-CN" dirty="0">
                <a:latin typeface="黑体" pitchFamily="2" charset="-122"/>
                <a:ea typeface="黑体" pitchFamily="2" charset="-122"/>
              </a:rPr>
              <a:t>/</a:t>
            </a:r>
            <a:r>
              <a:rPr lang="zh-CN" altLang="en-US" dirty="0">
                <a:latin typeface="黑体" pitchFamily="2" charset="-122"/>
                <a:ea typeface="黑体" pitchFamily="2" charset="-122"/>
              </a:rPr>
              <a:t>减法</a:t>
            </a:r>
            <a:r>
              <a:rPr lang="en-US" altLang="zh-CN" dirty="0">
                <a:latin typeface="黑体" pitchFamily="2" charset="-122"/>
                <a:ea typeface="黑体" pitchFamily="2" charset="-122"/>
              </a:rPr>
              <a:t>(CAS)</a:t>
            </a:r>
            <a:r>
              <a:rPr lang="zh-CN" altLang="en-US" dirty="0">
                <a:latin typeface="黑体" pitchFamily="2" charset="-122"/>
                <a:ea typeface="黑体" pitchFamily="2" charset="-122"/>
              </a:rPr>
              <a:t>单元组成</a:t>
            </a:r>
            <a:r>
              <a:rPr lang="en-US" altLang="zh-CN" dirty="0">
                <a:latin typeface="黑体" pitchFamily="2" charset="-122"/>
                <a:ea typeface="黑体" pitchFamily="2" charset="-122"/>
              </a:rPr>
              <a:t>,</a:t>
            </a:r>
            <a:r>
              <a:rPr lang="zh-CN" altLang="en-US" dirty="0">
                <a:latin typeface="黑体" pitchFamily="2" charset="-122"/>
                <a:ea typeface="黑体" pitchFamily="2" charset="-122"/>
              </a:rPr>
              <a:t>其中两个操作数</a:t>
            </a:r>
            <a:r>
              <a:rPr lang="en-US" altLang="zh-CN" dirty="0">
                <a:latin typeface="黑体" pitchFamily="2" charset="-122"/>
                <a:ea typeface="黑体" pitchFamily="2" charset="-122"/>
              </a:rPr>
              <a:t>(</a:t>
            </a:r>
            <a:r>
              <a:rPr lang="zh-CN" altLang="en-US" dirty="0">
                <a:latin typeface="黑体" pitchFamily="2" charset="-122"/>
                <a:ea typeface="黑体" pitchFamily="2" charset="-122"/>
              </a:rPr>
              <a:t>被除数与除数</a:t>
            </a:r>
            <a:r>
              <a:rPr lang="en-US" altLang="zh-CN" dirty="0">
                <a:latin typeface="黑体" pitchFamily="2" charset="-122"/>
                <a:ea typeface="黑体" pitchFamily="2" charset="-122"/>
              </a:rPr>
              <a:t>)</a:t>
            </a:r>
            <a:r>
              <a:rPr lang="zh-CN" altLang="en-US" dirty="0">
                <a:latin typeface="黑体" pitchFamily="2" charset="-122"/>
                <a:ea typeface="黑体" pitchFamily="2" charset="-122"/>
              </a:rPr>
              <a:t>都是正的。</a:t>
            </a:r>
          </a:p>
          <a:p>
            <a:pPr>
              <a:lnSpc>
                <a:spcPct val="150000"/>
              </a:lnSpc>
            </a:pPr>
            <a:r>
              <a:rPr lang="zh-CN" altLang="en-US" dirty="0">
                <a:latin typeface="黑体" pitchFamily="2" charset="-122"/>
                <a:ea typeface="黑体" pitchFamily="2" charset="-122"/>
              </a:rPr>
              <a:t>　  对不恢复余数阵列除法器来说</a:t>
            </a:r>
            <a:r>
              <a:rPr lang="en-US" altLang="zh-CN" dirty="0">
                <a:latin typeface="黑体" pitchFamily="2" charset="-122"/>
                <a:ea typeface="黑体" pitchFamily="2" charset="-122"/>
              </a:rPr>
              <a:t>,</a:t>
            </a:r>
            <a:r>
              <a:rPr lang="zh-CN" altLang="en-US" dirty="0">
                <a:latin typeface="黑体" pitchFamily="2" charset="-122"/>
                <a:ea typeface="黑体" pitchFamily="2" charset="-122"/>
              </a:rPr>
              <a:t>在进行运算时</a:t>
            </a:r>
            <a:r>
              <a:rPr lang="en-US" altLang="zh-CN" dirty="0">
                <a:latin typeface="黑体" pitchFamily="2" charset="-122"/>
                <a:ea typeface="黑体" pitchFamily="2" charset="-122"/>
              </a:rPr>
              <a:t>,</a:t>
            </a:r>
            <a:r>
              <a:rPr lang="zh-CN" altLang="en-US" dirty="0">
                <a:latin typeface="黑体" pitchFamily="2" charset="-122"/>
                <a:ea typeface="黑体" pitchFamily="2" charset="-122"/>
              </a:rPr>
              <a:t>沿着每一行都有进位</a:t>
            </a:r>
            <a:r>
              <a:rPr lang="en-US" altLang="zh-CN" dirty="0">
                <a:latin typeface="黑体" pitchFamily="2" charset="-122"/>
                <a:ea typeface="黑体" pitchFamily="2" charset="-122"/>
              </a:rPr>
              <a:t>(</a:t>
            </a:r>
            <a:r>
              <a:rPr lang="zh-CN" altLang="en-US" dirty="0">
                <a:latin typeface="黑体" pitchFamily="2" charset="-122"/>
                <a:ea typeface="黑体" pitchFamily="2" charset="-122"/>
              </a:rPr>
              <a:t>或借位</a:t>
            </a:r>
            <a:r>
              <a:rPr lang="en-US" altLang="zh-CN" dirty="0">
                <a:latin typeface="黑体" pitchFamily="2" charset="-122"/>
                <a:ea typeface="黑体" pitchFamily="2" charset="-122"/>
              </a:rPr>
              <a:t>)</a:t>
            </a:r>
            <a:r>
              <a:rPr lang="zh-CN" altLang="en-US" dirty="0">
                <a:latin typeface="黑体" pitchFamily="2" charset="-122"/>
                <a:ea typeface="黑体" pitchFamily="2" charset="-122"/>
              </a:rPr>
              <a:t>传播</a:t>
            </a:r>
            <a:r>
              <a:rPr lang="en-US" altLang="zh-CN" dirty="0">
                <a:latin typeface="黑体" pitchFamily="2" charset="-122"/>
                <a:ea typeface="黑体" pitchFamily="2" charset="-122"/>
              </a:rPr>
              <a:t>,</a:t>
            </a:r>
            <a:r>
              <a:rPr lang="zh-CN" altLang="en-US" dirty="0">
                <a:latin typeface="黑体" pitchFamily="2" charset="-122"/>
                <a:ea typeface="黑体" pitchFamily="2" charset="-122"/>
              </a:rPr>
              <a:t>同时所有行在它们的进位链上都是串行连接。而每个</a:t>
            </a:r>
            <a:r>
              <a:rPr lang="en-US" altLang="zh-CN" dirty="0">
                <a:latin typeface="黑体" pitchFamily="2" charset="-122"/>
                <a:ea typeface="黑体" pitchFamily="2" charset="-122"/>
              </a:rPr>
              <a:t>CAS</a:t>
            </a:r>
            <a:r>
              <a:rPr lang="zh-CN" altLang="en-US" dirty="0">
                <a:latin typeface="黑体" pitchFamily="2" charset="-122"/>
                <a:ea typeface="黑体" pitchFamily="2" charset="-122"/>
              </a:rPr>
              <a:t>单元的延迟时间为</a:t>
            </a:r>
            <a:r>
              <a:rPr lang="en-US" altLang="zh-CN" dirty="0">
                <a:latin typeface="黑体" pitchFamily="2" charset="-122"/>
                <a:ea typeface="黑体" pitchFamily="2" charset="-122"/>
              </a:rPr>
              <a:t>3T</a:t>
            </a:r>
            <a:r>
              <a:rPr lang="zh-CN" altLang="en-US" dirty="0">
                <a:latin typeface="黑体" pitchFamily="2" charset="-122"/>
                <a:ea typeface="黑体" pitchFamily="2" charset="-122"/>
              </a:rPr>
              <a:t>单元</a:t>
            </a:r>
            <a:r>
              <a:rPr lang="en-US" altLang="zh-CN" dirty="0">
                <a:latin typeface="黑体" pitchFamily="2" charset="-122"/>
                <a:ea typeface="黑体" pitchFamily="2" charset="-122"/>
              </a:rPr>
              <a:t>,</a:t>
            </a:r>
            <a:r>
              <a:rPr lang="zh-CN" altLang="en-US" dirty="0">
                <a:latin typeface="黑体" pitchFamily="2" charset="-122"/>
                <a:ea typeface="黑体" pitchFamily="2" charset="-122"/>
              </a:rPr>
              <a:t>因此</a:t>
            </a:r>
            <a:r>
              <a:rPr lang="en-US" altLang="zh-CN" dirty="0">
                <a:latin typeface="黑体" pitchFamily="2" charset="-122"/>
                <a:ea typeface="黑体" pitchFamily="2" charset="-122"/>
              </a:rPr>
              <a:t>,</a:t>
            </a:r>
            <a:r>
              <a:rPr lang="zh-CN" altLang="en-US" dirty="0">
                <a:latin typeface="黑体" pitchFamily="2" charset="-122"/>
                <a:ea typeface="黑体" pitchFamily="2" charset="-122"/>
              </a:rPr>
              <a:t>对一个</a:t>
            </a:r>
            <a:r>
              <a:rPr lang="en-US" altLang="zh-CN" dirty="0">
                <a:latin typeface="黑体" pitchFamily="2" charset="-122"/>
                <a:ea typeface="黑体" pitchFamily="2" charset="-122"/>
              </a:rPr>
              <a:t>2n</a:t>
            </a:r>
            <a:r>
              <a:rPr lang="zh-CN" altLang="en-US" dirty="0">
                <a:latin typeface="黑体" pitchFamily="2" charset="-122"/>
                <a:ea typeface="黑体" pitchFamily="2" charset="-122"/>
              </a:rPr>
              <a:t>位除以</a:t>
            </a:r>
            <a:r>
              <a:rPr lang="en-US" altLang="zh-CN" dirty="0">
                <a:latin typeface="黑体" pitchFamily="2" charset="-122"/>
                <a:ea typeface="黑体" pitchFamily="2" charset="-122"/>
              </a:rPr>
              <a:t>n</a:t>
            </a:r>
            <a:r>
              <a:rPr lang="zh-CN" altLang="en-US" dirty="0">
                <a:latin typeface="黑体" pitchFamily="2" charset="-122"/>
                <a:ea typeface="黑体" pitchFamily="2" charset="-122"/>
              </a:rPr>
              <a:t>位的不恢复余数阵列除法器来说</a:t>
            </a:r>
            <a:r>
              <a:rPr lang="en-US" altLang="zh-CN" dirty="0">
                <a:latin typeface="黑体" pitchFamily="2" charset="-122"/>
                <a:ea typeface="黑体" pitchFamily="2" charset="-122"/>
              </a:rPr>
              <a:t>,</a:t>
            </a:r>
            <a:r>
              <a:rPr lang="zh-CN" altLang="en-US" dirty="0">
                <a:latin typeface="黑体" pitchFamily="2" charset="-122"/>
                <a:ea typeface="黑体" pitchFamily="2" charset="-122"/>
              </a:rPr>
              <a:t>单元的数量为</a:t>
            </a:r>
            <a:r>
              <a:rPr lang="en-US" altLang="zh-CN" dirty="0">
                <a:latin typeface="黑体" pitchFamily="2" charset="-122"/>
                <a:ea typeface="黑体" pitchFamily="2" charset="-122"/>
              </a:rPr>
              <a:t>(n</a:t>
            </a:r>
            <a:r>
              <a:rPr lang="zh-CN" altLang="en-US" dirty="0">
                <a:latin typeface="黑体" pitchFamily="2" charset="-122"/>
                <a:ea typeface="黑体" pitchFamily="2" charset="-122"/>
              </a:rPr>
              <a:t>＋</a:t>
            </a:r>
            <a:r>
              <a:rPr lang="en-US" altLang="zh-CN" dirty="0">
                <a:latin typeface="黑体" pitchFamily="2" charset="-122"/>
                <a:ea typeface="黑体" pitchFamily="2" charset="-122"/>
              </a:rPr>
              <a:t>1)</a:t>
            </a:r>
            <a:r>
              <a:rPr lang="en-US" altLang="zh-CN" baseline="30000" dirty="0">
                <a:latin typeface="黑体" pitchFamily="2" charset="-122"/>
                <a:ea typeface="黑体" pitchFamily="2" charset="-122"/>
              </a:rPr>
              <a:t>2</a:t>
            </a:r>
            <a:r>
              <a:rPr lang="en-US" altLang="zh-CN" dirty="0">
                <a:latin typeface="黑体" pitchFamily="2" charset="-122"/>
                <a:ea typeface="黑体" pitchFamily="2" charset="-122"/>
              </a:rPr>
              <a:t>,</a:t>
            </a:r>
            <a:r>
              <a:rPr lang="zh-CN" altLang="en-US" dirty="0">
                <a:latin typeface="黑体" pitchFamily="2" charset="-122"/>
                <a:ea typeface="黑体" pitchFamily="2" charset="-122"/>
              </a:rPr>
              <a:t>考虑最大情况下的信号延迟</a:t>
            </a:r>
            <a:r>
              <a:rPr lang="en-US" altLang="zh-CN" dirty="0">
                <a:latin typeface="黑体" pitchFamily="2" charset="-122"/>
                <a:ea typeface="黑体" pitchFamily="2" charset="-122"/>
              </a:rPr>
              <a:t>,</a:t>
            </a:r>
            <a:r>
              <a:rPr lang="zh-CN" altLang="en-US" dirty="0">
                <a:latin typeface="黑体" pitchFamily="2" charset="-122"/>
                <a:ea typeface="黑体" pitchFamily="2" charset="-122"/>
              </a:rPr>
              <a:t>其除法执行时间为：</a:t>
            </a:r>
            <a:r>
              <a:rPr lang="en-US" altLang="zh-CN" dirty="0">
                <a:latin typeface="黑体" pitchFamily="2" charset="-122"/>
                <a:ea typeface="黑体" pitchFamily="2" charset="-122"/>
              </a:rPr>
              <a:t>td</a:t>
            </a:r>
            <a:r>
              <a:rPr lang="zh-CN" altLang="en-US" dirty="0">
                <a:latin typeface="黑体" pitchFamily="2" charset="-122"/>
                <a:ea typeface="黑体" pitchFamily="2" charset="-122"/>
              </a:rPr>
              <a:t>＝</a:t>
            </a:r>
            <a:r>
              <a:rPr lang="en-US" altLang="zh-CN" dirty="0">
                <a:latin typeface="黑体" pitchFamily="2" charset="-122"/>
                <a:ea typeface="黑体" pitchFamily="2" charset="-122"/>
              </a:rPr>
              <a:t>3(n</a:t>
            </a:r>
            <a:r>
              <a:rPr lang="zh-CN" altLang="en-US" dirty="0">
                <a:latin typeface="黑体" pitchFamily="2" charset="-122"/>
                <a:ea typeface="黑体" pitchFamily="2" charset="-122"/>
              </a:rPr>
              <a:t>＋</a:t>
            </a:r>
            <a:r>
              <a:rPr lang="en-US" altLang="zh-CN" dirty="0">
                <a:latin typeface="黑体" pitchFamily="2" charset="-122"/>
                <a:ea typeface="黑体" pitchFamily="2" charset="-122"/>
              </a:rPr>
              <a:t>1)</a:t>
            </a:r>
            <a:r>
              <a:rPr lang="en-US" altLang="zh-CN" baseline="30000" dirty="0">
                <a:latin typeface="黑体" pitchFamily="2" charset="-122"/>
                <a:ea typeface="黑体" pitchFamily="2" charset="-122"/>
              </a:rPr>
              <a:t>2</a:t>
            </a:r>
            <a:r>
              <a:rPr lang="en-US" altLang="zh-CN" dirty="0">
                <a:latin typeface="黑体" pitchFamily="2" charset="-122"/>
                <a:ea typeface="黑体" pitchFamily="2" charset="-122"/>
              </a:rPr>
              <a:t>T</a:t>
            </a:r>
            <a:r>
              <a:rPr lang="zh-CN" altLang="en-US" dirty="0">
                <a:latin typeface="黑体" pitchFamily="2" charset="-122"/>
                <a:ea typeface="黑体" pitchFamily="2" charset="-122"/>
              </a:rPr>
              <a:t>，其中</a:t>
            </a:r>
            <a:r>
              <a:rPr lang="en-US" altLang="zh-CN" dirty="0">
                <a:latin typeface="黑体" pitchFamily="2" charset="-122"/>
                <a:ea typeface="黑体" pitchFamily="2" charset="-122"/>
              </a:rPr>
              <a:t>n</a:t>
            </a:r>
            <a:r>
              <a:rPr lang="zh-CN" altLang="en-US" dirty="0">
                <a:latin typeface="黑体" pitchFamily="2" charset="-122"/>
                <a:ea typeface="黑体" pitchFamily="2" charset="-122"/>
              </a:rPr>
              <a:t>为尾数位数。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3"/>
          <p:cNvSpPr>
            <a:spLocks noChangeArrowheads="1"/>
          </p:cNvSpPr>
          <p:nvPr/>
        </p:nvSpPr>
        <p:spPr bwMode="auto">
          <a:xfrm>
            <a:off x="250825" y="207963"/>
            <a:ext cx="7634288" cy="655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latin typeface="黑体" pitchFamily="2" charset="-122"/>
                <a:ea typeface="黑体" pitchFamily="2" charset="-122"/>
              </a:rPr>
              <a:t>例：</a:t>
            </a:r>
            <a:r>
              <a:rPr lang="en-US" altLang="zh-CN" sz="2000" dirty="0">
                <a:latin typeface="黑体" pitchFamily="2" charset="-122"/>
                <a:ea typeface="黑体" pitchFamily="2" charset="-122"/>
              </a:rPr>
              <a:t> </a:t>
            </a:r>
            <a:r>
              <a:rPr lang="zh-CN" altLang="en-US" sz="2000" i="1" dirty="0">
                <a:latin typeface="黑体" pitchFamily="2" charset="-122"/>
                <a:ea typeface="黑体" pitchFamily="2" charset="-122"/>
              </a:rPr>
              <a:t>ｘ</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0.101001, </a:t>
            </a:r>
            <a:r>
              <a:rPr lang="zh-CN" altLang="en-US" sz="2000" i="1" dirty="0">
                <a:latin typeface="黑体" pitchFamily="2" charset="-122"/>
                <a:ea typeface="黑体" pitchFamily="2" charset="-122"/>
              </a:rPr>
              <a:t>ｙ</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0.111, </a:t>
            </a:r>
            <a:r>
              <a:rPr lang="zh-CN" altLang="en-US" sz="2000" dirty="0">
                <a:latin typeface="黑体" pitchFamily="2" charset="-122"/>
                <a:ea typeface="黑体" pitchFamily="2" charset="-122"/>
              </a:rPr>
              <a:t>求</a:t>
            </a:r>
            <a:r>
              <a:rPr lang="zh-CN" altLang="en-US" sz="2000" i="1" dirty="0">
                <a:latin typeface="黑体" pitchFamily="2" charset="-122"/>
                <a:ea typeface="黑体" pitchFamily="2" charset="-122"/>
              </a:rPr>
              <a:t>ｘ</a:t>
            </a:r>
            <a:r>
              <a:rPr lang="en-US" altLang="zh-CN" sz="2000" i="1" dirty="0">
                <a:latin typeface="黑体" pitchFamily="2" charset="-122"/>
                <a:ea typeface="黑体" pitchFamily="2" charset="-122"/>
              </a:rPr>
              <a:t>÷</a:t>
            </a:r>
            <a:r>
              <a:rPr lang="zh-CN" altLang="en-US" sz="2000" i="1" dirty="0">
                <a:latin typeface="黑体" pitchFamily="2" charset="-122"/>
                <a:ea typeface="黑体" pitchFamily="2" charset="-122"/>
              </a:rPr>
              <a:t>ｙ</a:t>
            </a:r>
            <a:r>
              <a:rPr lang="zh-CN" altLang="en-US" sz="2000" dirty="0">
                <a:latin typeface="黑体" pitchFamily="2" charset="-122"/>
                <a:ea typeface="黑体" pitchFamily="2" charset="-122"/>
              </a:rPr>
              <a:t>。</a:t>
            </a:r>
            <a:endParaRPr lang="en-US" altLang="zh-CN" sz="2000" dirty="0">
              <a:latin typeface="黑体" pitchFamily="2" charset="-122"/>
              <a:ea typeface="黑体" pitchFamily="2" charset="-122"/>
            </a:endParaRPr>
          </a:p>
          <a:p>
            <a:pPr>
              <a:lnSpc>
                <a:spcPct val="150000"/>
              </a:lnSpc>
            </a:pPr>
            <a:r>
              <a:rPr lang="zh-CN" altLang="en-US" sz="2000" dirty="0">
                <a:latin typeface="黑体" pitchFamily="2" charset="-122"/>
                <a:ea typeface="黑体" pitchFamily="2" charset="-122"/>
              </a:rPr>
              <a:t>解</a:t>
            </a: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－ｙ</a:t>
            </a:r>
            <a:r>
              <a:rPr lang="en-US" altLang="zh-CN" sz="2000" dirty="0">
                <a:latin typeface="黑体" pitchFamily="2" charset="-122"/>
                <a:ea typeface="黑体" pitchFamily="2" charset="-122"/>
              </a:rPr>
              <a:t>]</a:t>
            </a:r>
            <a:r>
              <a:rPr lang="zh-CN" altLang="en-US" sz="2000" baseline="-25000" dirty="0">
                <a:latin typeface="黑体" pitchFamily="2" charset="-122"/>
                <a:ea typeface="黑体" pitchFamily="2" charset="-122"/>
              </a:rPr>
              <a:t>补</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1.001</a:t>
            </a:r>
            <a:endParaRPr lang="zh-CN" altLang="en-US" sz="2000" dirty="0">
              <a:latin typeface="黑体" pitchFamily="2" charset="-122"/>
              <a:ea typeface="黑体" pitchFamily="2" charset="-122"/>
            </a:endParaRPr>
          </a:p>
          <a:p>
            <a:pPr>
              <a:lnSpc>
                <a:spcPct val="150000"/>
              </a:lnSpc>
            </a:pP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0.1 0 1 0 0 1</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a:t>
            </a:r>
            <a:r>
              <a:rPr lang="en-US" altLang="zh-CN" sz="2000" u="sng" dirty="0">
                <a:latin typeface="黑体" pitchFamily="2" charset="-122"/>
                <a:ea typeface="黑体" pitchFamily="2" charset="-122"/>
              </a:rPr>
              <a:t>+</a:t>
            </a:r>
            <a:r>
              <a:rPr lang="en-US" altLang="zh-CN" sz="2000" dirty="0">
                <a:latin typeface="黑体" pitchFamily="2" charset="-122"/>
                <a:ea typeface="黑体" pitchFamily="2" charset="-122"/>
              </a:rPr>
              <a:t>[</a:t>
            </a:r>
            <a:r>
              <a:rPr lang="en-US" altLang="zh-CN" sz="2000" u="sng" dirty="0">
                <a:latin typeface="黑体" pitchFamily="2" charset="-122"/>
                <a:ea typeface="黑体" pitchFamily="2" charset="-122"/>
              </a:rPr>
              <a:t>-</a:t>
            </a:r>
            <a:r>
              <a:rPr lang="zh-CN" altLang="en-US" sz="2000" u="sng" dirty="0">
                <a:latin typeface="黑体" pitchFamily="2" charset="-122"/>
                <a:ea typeface="黑体" pitchFamily="2" charset="-122"/>
              </a:rPr>
              <a:t>ｙ</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补</a:t>
            </a:r>
            <a:r>
              <a:rPr lang="zh-CN" altLang="en-US" sz="2000" i="1" u="sng" dirty="0">
                <a:latin typeface="黑体" pitchFamily="2" charset="-122"/>
                <a:ea typeface="黑体" pitchFamily="2" charset="-122"/>
              </a:rPr>
              <a:t> </a:t>
            </a:r>
            <a:r>
              <a:rPr lang="zh-CN" altLang="en-US" sz="2000" u="sng" dirty="0">
                <a:latin typeface="黑体" pitchFamily="2" charset="-122"/>
                <a:ea typeface="黑体" pitchFamily="2" charset="-122"/>
              </a:rPr>
              <a:t>　 　 </a:t>
            </a:r>
            <a:r>
              <a:rPr lang="en-US" altLang="zh-CN" sz="2000" u="sng" dirty="0">
                <a:latin typeface="黑体" pitchFamily="2" charset="-122"/>
                <a:ea typeface="黑体" pitchFamily="2" charset="-122"/>
              </a:rPr>
              <a:t>1.0 0 1</a:t>
            </a:r>
            <a:r>
              <a:rPr lang="zh-CN" altLang="en-US" sz="2000" u="sng" dirty="0">
                <a:latin typeface="黑体" pitchFamily="2" charset="-122"/>
                <a:ea typeface="黑体" pitchFamily="2" charset="-122"/>
              </a:rPr>
              <a:t>　 　　 　　</a:t>
            </a:r>
            <a:r>
              <a:rPr lang="zh-CN" altLang="en-US" sz="2000" dirty="0">
                <a:latin typeface="黑体" pitchFamily="2" charset="-122"/>
                <a:ea typeface="黑体" pitchFamily="2" charset="-122"/>
              </a:rPr>
              <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1.1 1 0 0 0 1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　　　　　</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4</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a:t>
            </a:r>
            <a:r>
              <a:rPr lang="en-US" altLang="zh-CN" sz="2000" u="sng" dirty="0">
                <a:latin typeface="黑体" pitchFamily="2" charset="-122"/>
                <a:ea typeface="黑体" pitchFamily="2" charset="-122"/>
              </a:rPr>
              <a:t> + </a:t>
            </a:r>
            <a:r>
              <a:rPr lang="en-US" altLang="zh-CN" sz="2000" dirty="0">
                <a:latin typeface="黑体" pitchFamily="2" charset="-122"/>
                <a:ea typeface="黑体" pitchFamily="2" charset="-122"/>
              </a:rPr>
              <a:t>[</a:t>
            </a:r>
            <a:r>
              <a:rPr lang="zh-CN" altLang="en-US" sz="2000" u="sng" dirty="0">
                <a:latin typeface="黑体" pitchFamily="2" charset="-122"/>
                <a:ea typeface="黑体" pitchFamily="2" charset="-122"/>
              </a:rPr>
              <a:t>ｙ</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补</a:t>
            </a:r>
            <a:r>
              <a:rPr lang="zh-CN" altLang="en-US" sz="2000" u="sng" dirty="0">
                <a:latin typeface="黑体" pitchFamily="2" charset="-122"/>
                <a:ea typeface="黑体" pitchFamily="2" charset="-122"/>
              </a:rPr>
              <a:t> →　　</a:t>
            </a:r>
            <a:r>
              <a:rPr lang="en-US" altLang="zh-CN" sz="2000" u="sng" dirty="0">
                <a:latin typeface="黑体" pitchFamily="2" charset="-122"/>
                <a:ea typeface="黑体" pitchFamily="2" charset="-122"/>
              </a:rPr>
              <a:t>0.0 1 1 1</a:t>
            </a:r>
            <a:r>
              <a:rPr lang="zh-CN" altLang="en-US" sz="2000" u="sng" dirty="0">
                <a:latin typeface="黑体" pitchFamily="2" charset="-122"/>
                <a:ea typeface="黑体" pitchFamily="2" charset="-122"/>
              </a:rPr>
              <a:t>　　 　　　</a:t>
            </a:r>
            <a:r>
              <a:rPr lang="zh-CN" altLang="en-US" sz="2000" dirty="0">
                <a:latin typeface="黑体" pitchFamily="2" charset="-122"/>
                <a:ea typeface="黑体" pitchFamily="2" charset="-122"/>
              </a:rPr>
              <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0.0 0 1 1 0 1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　　　　　</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3</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a:t>
            </a:r>
            <a:r>
              <a:rPr lang="en-US" altLang="zh-CN" sz="2000" u="sng" dirty="0">
                <a:latin typeface="黑体" pitchFamily="2" charset="-122"/>
                <a:ea typeface="黑体" pitchFamily="2" charset="-122"/>
              </a:rPr>
              <a:t> +</a:t>
            </a:r>
            <a:r>
              <a:rPr lang="en-US" altLang="zh-CN" sz="2000" dirty="0">
                <a:latin typeface="黑体" pitchFamily="2" charset="-122"/>
                <a:ea typeface="黑体" pitchFamily="2" charset="-122"/>
              </a:rPr>
              <a:t>[</a:t>
            </a:r>
            <a:r>
              <a:rPr lang="en-US" altLang="zh-CN" sz="2000" u="sng" dirty="0">
                <a:latin typeface="黑体" pitchFamily="2" charset="-122"/>
                <a:ea typeface="黑体" pitchFamily="2" charset="-122"/>
              </a:rPr>
              <a:t>-</a:t>
            </a:r>
            <a:r>
              <a:rPr lang="zh-CN" altLang="en-US" sz="2000" u="sng" dirty="0">
                <a:latin typeface="黑体" pitchFamily="2" charset="-122"/>
                <a:ea typeface="黑体" pitchFamily="2" charset="-122"/>
              </a:rPr>
              <a:t>ｙ</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补</a:t>
            </a:r>
            <a:r>
              <a:rPr lang="zh-CN" altLang="en-US" sz="2000" u="sng" dirty="0">
                <a:latin typeface="黑体" pitchFamily="2" charset="-122"/>
                <a:ea typeface="黑体" pitchFamily="2" charset="-122"/>
              </a:rPr>
              <a:t> →</a:t>
            </a:r>
            <a:r>
              <a:rPr lang="zh-CN" altLang="en-US" sz="2000" i="1" u="sng" dirty="0">
                <a:latin typeface="黑体" pitchFamily="2" charset="-122"/>
                <a:ea typeface="黑体" pitchFamily="2" charset="-122"/>
              </a:rPr>
              <a:t> </a:t>
            </a:r>
            <a:r>
              <a:rPr lang="zh-CN" altLang="en-US" sz="2000" u="sng" dirty="0">
                <a:latin typeface="黑体" pitchFamily="2" charset="-122"/>
                <a:ea typeface="黑体" pitchFamily="2" charset="-122"/>
              </a:rPr>
              <a:t>　 </a:t>
            </a:r>
            <a:r>
              <a:rPr lang="en-US" altLang="zh-CN" sz="2000" u="sng" dirty="0">
                <a:latin typeface="黑体" pitchFamily="2" charset="-122"/>
                <a:ea typeface="黑体" pitchFamily="2" charset="-122"/>
              </a:rPr>
              <a:t>1.1 1 0 0 1</a:t>
            </a:r>
            <a:r>
              <a:rPr lang="zh-CN" altLang="en-US" sz="2000" u="sng" dirty="0">
                <a:latin typeface="黑体" pitchFamily="2" charset="-122"/>
                <a:ea typeface="黑体" pitchFamily="2" charset="-122"/>
              </a:rPr>
              <a:t>　 　　 　　</a:t>
            </a:r>
            <a:r>
              <a:rPr lang="zh-CN" altLang="en-US" sz="2000" dirty="0">
                <a:latin typeface="黑体" pitchFamily="2" charset="-122"/>
                <a:ea typeface="黑体" pitchFamily="2" charset="-122"/>
              </a:rPr>
              <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1.1 1 1 1 1 1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　　　　　</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2</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a:t>
            </a:r>
            <a:r>
              <a:rPr lang="en-US" altLang="zh-CN" sz="2000" u="sng" dirty="0">
                <a:latin typeface="黑体" pitchFamily="2" charset="-122"/>
                <a:ea typeface="黑体" pitchFamily="2" charset="-122"/>
              </a:rPr>
              <a:t> +</a:t>
            </a:r>
            <a:r>
              <a:rPr lang="en-US" altLang="zh-CN" sz="2000" dirty="0">
                <a:latin typeface="黑体" pitchFamily="2" charset="-122"/>
                <a:ea typeface="黑体" pitchFamily="2" charset="-122"/>
              </a:rPr>
              <a:t> [</a:t>
            </a:r>
            <a:r>
              <a:rPr lang="zh-CN" altLang="en-US" sz="2000" u="sng" dirty="0">
                <a:latin typeface="黑体" pitchFamily="2" charset="-122"/>
                <a:ea typeface="黑体" pitchFamily="2" charset="-122"/>
              </a:rPr>
              <a:t>ｙ</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补</a:t>
            </a:r>
            <a:r>
              <a:rPr lang="zh-CN" altLang="en-US" sz="2000" u="sng" dirty="0">
                <a:latin typeface="黑体" pitchFamily="2" charset="-122"/>
                <a:ea typeface="黑体" pitchFamily="2" charset="-122"/>
              </a:rPr>
              <a:t> →　　</a:t>
            </a:r>
            <a:r>
              <a:rPr lang="en-US" altLang="zh-CN" sz="2000" u="sng" dirty="0">
                <a:latin typeface="黑体" pitchFamily="2" charset="-122"/>
                <a:ea typeface="黑体" pitchFamily="2" charset="-122"/>
              </a:rPr>
              <a:t>0.0 0 0 1 1 1</a:t>
            </a:r>
            <a:r>
              <a:rPr lang="zh-CN" altLang="en-US" sz="2000" u="sng" dirty="0">
                <a:latin typeface="黑体" pitchFamily="2" charset="-122"/>
                <a:ea typeface="黑体" pitchFamily="2" charset="-122"/>
              </a:rPr>
              <a:t>　 　　　</a:t>
            </a:r>
            <a:r>
              <a:rPr lang="zh-CN" altLang="en-US" sz="2000" dirty="0">
                <a:latin typeface="黑体" pitchFamily="2" charset="-122"/>
                <a:ea typeface="黑体" pitchFamily="2" charset="-122"/>
              </a:rPr>
              <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zh-CN" altLang="en-US" sz="2000" dirty="0">
                <a:latin typeface="黑体" pitchFamily="2" charset="-122"/>
                <a:ea typeface="黑体" pitchFamily="2" charset="-122"/>
              </a:rPr>
              <a:t>　</a:t>
            </a:r>
            <a:r>
              <a:rPr lang="zh-CN" altLang="en-US" sz="2000" i="1" dirty="0">
                <a:latin typeface="黑体" pitchFamily="2" charset="-122"/>
                <a:ea typeface="黑体" pitchFamily="2" charset="-122"/>
              </a:rPr>
              <a:t> </a:t>
            </a:r>
            <a:r>
              <a:rPr lang="en-US" altLang="zh-CN" sz="2000" dirty="0">
                <a:latin typeface="黑体" pitchFamily="2" charset="-122"/>
                <a:ea typeface="黑体" pitchFamily="2" charset="-122"/>
              </a:rPr>
              <a:t>0.0 0 0 1 1 0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　　　　　</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br>
              <a:rPr lang="en-US" altLang="zh-CN" sz="2000" dirty="0">
                <a:latin typeface="黑体" pitchFamily="2" charset="-122"/>
                <a:ea typeface="黑体" pitchFamily="2" charset="-122"/>
              </a:rPr>
            </a:b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故得</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商 </a:t>
            </a:r>
            <a:r>
              <a:rPr lang="en-US" altLang="zh-CN" sz="2000" i="1" dirty="0">
                <a:latin typeface="黑体" pitchFamily="2" charset="-122"/>
                <a:ea typeface="黑体" pitchFamily="2" charset="-122"/>
              </a:rPr>
              <a:t>q</a:t>
            </a:r>
            <a:r>
              <a:rPr lang="zh-CN" altLang="en-US" sz="2000" dirty="0">
                <a:latin typeface="黑体" pitchFamily="2" charset="-122"/>
                <a:ea typeface="黑体" pitchFamily="2" charset="-122"/>
              </a:rPr>
              <a:t>＝</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4</a:t>
            </a:r>
            <a:r>
              <a:rPr lang="en-US" altLang="zh-CN" sz="2000" dirty="0">
                <a:latin typeface="黑体" pitchFamily="2" charset="-122"/>
                <a:ea typeface="黑体" pitchFamily="2" charset="-122"/>
              </a:rPr>
              <a:t>.</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3</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2</a:t>
            </a:r>
            <a:r>
              <a:rPr lang="en-US" altLang="zh-CN" sz="2000" i="1" dirty="0">
                <a:latin typeface="黑体" pitchFamily="2" charset="-122"/>
                <a:ea typeface="黑体" pitchFamily="2" charset="-122"/>
              </a:rPr>
              <a:t>q</a:t>
            </a:r>
            <a:r>
              <a:rPr lang="en-US" altLang="zh-CN" sz="2000" i="1" baseline="-25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i="1" dirty="0">
                <a:latin typeface="黑体" pitchFamily="2" charset="-122"/>
                <a:ea typeface="黑体" pitchFamily="2" charset="-122"/>
              </a:rPr>
              <a:t>0.101</a:t>
            </a:r>
            <a:endParaRPr lang="en-US" altLang="zh-CN" sz="2000" dirty="0">
              <a:latin typeface="黑体" pitchFamily="2" charset="-122"/>
              <a:ea typeface="黑体" pitchFamily="2" charset="-122"/>
            </a:endParaRPr>
          </a:p>
          <a:p>
            <a:pPr>
              <a:lnSpc>
                <a:spcPct val="150000"/>
              </a:lnSpc>
            </a:pPr>
            <a:r>
              <a:rPr lang="zh-CN" altLang="en-US" sz="2000" dirty="0">
                <a:latin typeface="黑体" pitchFamily="2" charset="-122"/>
                <a:ea typeface="黑体" pitchFamily="2" charset="-122"/>
              </a:rPr>
              <a:t>　　　　　　　　余数 </a:t>
            </a:r>
            <a:r>
              <a:rPr lang="en-US" altLang="zh-CN" sz="2000" i="1" dirty="0">
                <a:latin typeface="黑体" pitchFamily="2" charset="-122"/>
                <a:ea typeface="黑体" pitchFamily="2" charset="-122"/>
              </a:rPr>
              <a:t>r</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(0.00</a:t>
            </a:r>
            <a:r>
              <a:rPr lang="en-US" altLang="zh-CN" sz="2000" i="1" dirty="0">
                <a:latin typeface="黑体" pitchFamily="2" charset="-122"/>
                <a:ea typeface="黑体" pitchFamily="2" charset="-122"/>
              </a:rPr>
              <a:t>r</a:t>
            </a:r>
            <a:r>
              <a:rPr lang="en-US" altLang="zh-CN" sz="2000" i="1" baseline="-25000" dirty="0">
                <a:latin typeface="黑体" pitchFamily="2" charset="-122"/>
                <a:ea typeface="黑体" pitchFamily="2" charset="-122"/>
              </a:rPr>
              <a:t>6</a:t>
            </a:r>
            <a:r>
              <a:rPr lang="en-US" altLang="zh-CN" sz="2000" i="1" dirty="0">
                <a:latin typeface="黑体" pitchFamily="2" charset="-122"/>
                <a:ea typeface="黑体" pitchFamily="2" charset="-122"/>
              </a:rPr>
              <a:t>r</a:t>
            </a:r>
            <a:r>
              <a:rPr lang="en-US" altLang="zh-CN" sz="2000" i="1" baseline="-25000" dirty="0">
                <a:latin typeface="黑体" pitchFamily="2" charset="-122"/>
                <a:ea typeface="黑体" pitchFamily="2" charset="-122"/>
              </a:rPr>
              <a:t>5</a:t>
            </a:r>
            <a:r>
              <a:rPr lang="en-US" altLang="zh-CN" sz="2000" i="1" dirty="0">
                <a:latin typeface="黑体" pitchFamily="2" charset="-122"/>
                <a:ea typeface="黑体" pitchFamily="2" charset="-122"/>
              </a:rPr>
              <a:t>r</a:t>
            </a:r>
            <a:r>
              <a:rPr lang="en-US" altLang="zh-CN" sz="2000" i="1" baseline="-25000" dirty="0">
                <a:latin typeface="黑体" pitchFamily="2" charset="-122"/>
                <a:ea typeface="黑体" pitchFamily="2" charset="-122"/>
              </a:rPr>
              <a:t>4</a:t>
            </a:r>
            <a:r>
              <a:rPr lang="en-US" altLang="zh-CN" sz="2000" i="1" dirty="0">
                <a:latin typeface="黑体" pitchFamily="2" charset="-122"/>
                <a:ea typeface="黑体" pitchFamily="2" charset="-122"/>
              </a:rPr>
              <a:t>r</a:t>
            </a:r>
            <a:r>
              <a:rPr lang="en-US" altLang="zh-CN" sz="2000" i="1" baseline="-25000" dirty="0">
                <a:latin typeface="黑体" pitchFamily="2" charset="-122"/>
                <a:ea typeface="黑体" pitchFamily="2" charset="-122"/>
              </a:rPr>
              <a:t>3</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0.000110</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
          <p:cNvSpPr>
            <a:spLocks noChangeArrowheads="1"/>
          </p:cNvSpPr>
          <p:nvPr/>
        </p:nvSpPr>
        <p:spPr bwMode="auto">
          <a:xfrm>
            <a:off x="236538" y="260350"/>
            <a:ext cx="8640762" cy="627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000" dirty="0">
                <a:latin typeface="黑体" pitchFamily="2" charset="-122"/>
                <a:ea typeface="黑体" pitchFamily="2" charset="-122"/>
              </a:rPr>
              <a:t>例</a:t>
            </a:r>
            <a:r>
              <a:rPr lang="zh-CN" altLang="en-US" sz="2000" dirty="0">
                <a:latin typeface="黑体" pitchFamily="2" charset="-122"/>
                <a:ea typeface="黑体" pitchFamily="2" charset="-122"/>
              </a:rPr>
              <a:t>：</a:t>
            </a: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ｘ</a:t>
            </a:r>
            <a:r>
              <a:rPr lang="zh-CN" altLang="zh-CN" sz="2000" dirty="0">
                <a:latin typeface="黑体" pitchFamily="2" charset="-122"/>
                <a:ea typeface="黑体" pitchFamily="2" charset="-122"/>
              </a:rPr>
              <a:t>＝0.10010000, </a:t>
            </a:r>
            <a:r>
              <a:rPr lang="zh-CN" altLang="zh-CN" sz="2000" i="1" dirty="0">
                <a:latin typeface="黑体" pitchFamily="2" charset="-122"/>
                <a:ea typeface="黑体" pitchFamily="2" charset="-122"/>
              </a:rPr>
              <a:t>ｙ</a:t>
            </a:r>
            <a:r>
              <a:rPr lang="zh-CN" altLang="zh-CN" sz="2000" dirty="0">
                <a:latin typeface="黑体" pitchFamily="2" charset="-122"/>
                <a:ea typeface="黑体" pitchFamily="2" charset="-122"/>
              </a:rPr>
              <a:t>＝0.1011, 求</a:t>
            </a:r>
            <a:r>
              <a:rPr lang="zh-CN" altLang="zh-CN" sz="2000" i="1" dirty="0">
                <a:latin typeface="黑体" pitchFamily="2" charset="-122"/>
                <a:ea typeface="黑体" pitchFamily="2" charset="-122"/>
              </a:rPr>
              <a:t>ｘ÷ｙ</a:t>
            </a:r>
            <a:r>
              <a:rPr lang="zh-CN" altLang="zh-CN" sz="2000" dirty="0">
                <a:latin typeface="黑体" pitchFamily="2" charset="-122"/>
                <a:ea typeface="黑体" pitchFamily="2" charset="-122"/>
              </a:rPr>
              <a:t>。</a:t>
            </a:r>
          </a:p>
          <a:p>
            <a:pPr eaLnBrk="0" hangingPunct="0">
              <a:lnSpc>
                <a:spcPct val="150000"/>
              </a:lnSpc>
            </a:pPr>
            <a:r>
              <a:rPr lang="zh-CN" altLang="zh-CN" sz="2000" dirty="0">
                <a:latin typeface="黑体" pitchFamily="2" charset="-122"/>
                <a:ea typeface="黑体" pitchFamily="2" charset="-122"/>
              </a:rPr>
              <a:t>解:　　[－ｙ]</a:t>
            </a:r>
            <a:r>
              <a:rPr lang="zh-CN" altLang="zh-CN" sz="2000" baseline="-30000" dirty="0">
                <a:latin typeface="黑体" pitchFamily="2" charset="-122"/>
                <a:ea typeface="黑体" pitchFamily="2" charset="-122"/>
              </a:rPr>
              <a:t>补</a:t>
            </a:r>
            <a:r>
              <a:rPr lang="zh-CN" altLang="zh-CN" sz="2000" dirty="0">
                <a:latin typeface="黑体" pitchFamily="2" charset="-122"/>
                <a:ea typeface="黑体" pitchFamily="2" charset="-122"/>
              </a:rPr>
              <a:t>＝1.0101</a:t>
            </a:r>
          </a:p>
          <a:p>
            <a:pPr eaLnBrk="0" hangingPunct="0">
              <a:lnSpc>
                <a:spcPct val="120000"/>
              </a:lnSpc>
            </a:pP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　　 0.1 0 0 1 0 0 0 0 </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u="sng" dirty="0">
                <a:latin typeface="黑体" pitchFamily="2" charset="-122"/>
                <a:ea typeface="黑体" pitchFamily="2" charset="-122"/>
              </a:rPr>
              <a:t>+</a:t>
            </a:r>
            <a:r>
              <a:rPr lang="zh-CN" altLang="zh-CN" sz="2000" dirty="0">
                <a:latin typeface="黑体" pitchFamily="2" charset="-122"/>
                <a:ea typeface="黑体" pitchFamily="2" charset="-122"/>
              </a:rPr>
              <a:t>[</a:t>
            </a:r>
            <a:r>
              <a:rPr lang="zh-CN" altLang="zh-CN" sz="2000" u="sng" dirty="0">
                <a:latin typeface="黑体" pitchFamily="2" charset="-122"/>
                <a:ea typeface="黑体" pitchFamily="2" charset="-122"/>
              </a:rPr>
              <a:t>-ｙ</a:t>
            </a:r>
            <a:r>
              <a:rPr lang="zh-CN" altLang="zh-CN" sz="2000" dirty="0">
                <a:latin typeface="黑体" pitchFamily="2" charset="-122"/>
                <a:ea typeface="黑体" pitchFamily="2" charset="-122"/>
              </a:rPr>
              <a:t>]补</a:t>
            </a:r>
            <a:r>
              <a:rPr lang="zh-CN" altLang="zh-CN" sz="2000" i="1" u="sng" dirty="0">
                <a:latin typeface="黑体" pitchFamily="2" charset="-122"/>
                <a:ea typeface="黑体" pitchFamily="2" charset="-122"/>
              </a:rPr>
              <a:t> </a:t>
            </a:r>
            <a:r>
              <a:rPr lang="zh-CN" altLang="zh-CN" sz="2000" u="sng" dirty="0">
                <a:latin typeface="黑体" pitchFamily="2" charset="-122"/>
                <a:ea typeface="黑体" pitchFamily="2" charset="-122"/>
              </a:rPr>
              <a:t>　 　 1.0 1 0 1　 　　 　　</a:t>
            </a:r>
            <a:r>
              <a:rPr lang="zh-CN" altLang="zh-CN" sz="2000" dirty="0">
                <a:latin typeface="黑体" pitchFamily="2" charset="-122"/>
                <a:ea typeface="黑体" pitchFamily="2" charset="-122"/>
              </a:rPr>
              <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　　　 1.1 1 1 0 0 0 0 0 ＜0　　　　　</a:t>
            </a:r>
            <a:r>
              <a:rPr lang="zh-CN" altLang="zh-CN" sz="2000" i="1" dirty="0">
                <a:latin typeface="黑体" pitchFamily="2" charset="-122"/>
                <a:ea typeface="黑体" pitchFamily="2" charset="-122"/>
              </a:rPr>
              <a:t>q</a:t>
            </a:r>
            <a:r>
              <a:rPr lang="zh-CN" altLang="zh-CN" sz="2000" i="1" baseline="-30000" dirty="0">
                <a:latin typeface="黑体" pitchFamily="2" charset="-122"/>
                <a:ea typeface="黑体" pitchFamily="2" charset="-122"/>
              </a:rPr>
              <a:t>5</a:t>
            </a:r>
            <a:r>
              <a:rPr lang="zh-CN" altLang="zh-CN" sz="2000" dirty="0">
                <a:latin typeface="黑体" pitchFamily="2" charset="-122"/>
                <a:ea typeface="黑体" pitchFamily="2" charset="-122"/>
              </a:rPr>
              <a:t>＝0</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u="sng" dirty="0">
                <a:latin typeface="黑体" pitchFamily="2" charset="-122"/>
                <a:ea typeface="黑体" pitchFamily="2" charset="-122"/>
              </a:rPr>
              <a:t> + </a:t>
            </a:r>
            <a:r>
              <a:rPr lang="zh-CN" altLang="zh-CN" sz="2000" dirty="0">
                <a:latin typeface="黑体" pitchFamily="2" charset="-122"/>
                <a:ea typeface="黑体" pitchFamily="2" charset="-122"/>
              </a:rPr>
              <a:t>[</a:t>
            </a:r>
            <a:r>
              <a:rPr lang="zh-CN" altLang="zh-CN" sz="2000" u="sng" dirty="0">
                <a:latin typeface="黑体" pitchFamily="2" charset="-122"/>
                <a:ea typeface="黑体" pitchFamily="2" charset="-122"/>
              </a:rPr>
              <a:t>ｙ</a:t>
            </a:r>
            <a:r>
              <a:rPr lang="zh-CN" altLang="zh-CN" sz="2000" dirty="0">
                <a:latin typeface="黑体" pitchFamily="2" charset="-122"/>
                <a:ea typeface="黑体" pitchFamily="2" charset="-122"/>
              </a:rPr>
              <a:t>]补</a:t>
            </a:r>
            <a:r>
              <a:rPr lang="zh-CN" altLang="zh-CN" sz="2000" u="sng" dirty="0">
                <a:latin typeface="黑体" pitchFamily="2" charset="-122"/>
                <a:ea typeface="黑体" pitchFamily="2" charset="-122"/>
              </a:rPr>
              <a:t> →　　0.0 1 0 1 1　　 　　　</a:t>
            </a:r>
            <a:r>
              <a:rPr lang="zh-CN" altLang="zh-CN" sz="2000" dirty="0">
                <a:latin typeface="黑体" pitchFamily="2" charset="-122"/>
                <a:ea typeface="黑体" pitchFamily="2" charset="-122"/>
              </a:rPr>
              <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0.0 0 1 1 1 0 0 0 ＞0　　　　　</a:t>
            </a:r>
            <a:r>
              <a:rPr lang="zh-CN" altLang="zh-CN" sz="2000" i="1" dirty="0">
                <a:latin typeface="黑体" pitchFamily="2" charset="-122"/>
                <a:ea typeface="黑体" pitchFamily="2" charset="-122"/>
              </a:rPr>
              <a:t>q</a:t>
            </a:r>
            <a:r>
              <a:rPr lang="zh-CN" altLang="zh-CN" sz="2000" i="1" baseline="-30000" dirty="0">
                <a:latin typeface="黑体" pitchFamily="2" charset="-122"/>
                <a:ea typeface="黑体" pitchFamily="2" charset="-122"/>
              </a:rPr>
              <a:t>4</a:t>
            </a:r>
            <a:r>
              <a:rPr lang="zh-CN" altLang="zh-CN" sz="2000" dirty="0">
                <a:latin typeface="黑体" pitchFamily="2" charset="-122"/>
                <a:ea typeface="黑体" pitchFamily="2" charset="-122"/>
              </a:rPr>
              <a:t>＝1</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u="sng" dirty="0">
                <a:latin typeface="黑体" pitchFamily="2" charset="-122"/>
                <a:ea typeface="黑体" pitchFamily="2" charset="-122"/>
              </a:rPr>
              <a:t> +</a:t>
            </a:r>
            <a:r>
              <a:rPr lang="zh-CN" altLang="zh-CN" sz="2000" dirty="0">
                <a:latin typeface="黑体" pitchFamily="2" charset="-122"/>
                <a:ea typeface="黑体" pitchFamily="2" charset="-122"/>
              </a:rPr>
              <a:t>[</a:t>
            </a:r>
            <a:r>
              <a:rPr lang="zh-CN" altLang="zh-CN" sz="2000" u="sng" dirty="0">
                <a:latin typeface="黑体" pitchFamily="2" charset="-122"/>
                <a:ea typeface="黑体" pitchFamily="2" charset="-122"/>
              </a:rPr>
              <a:t>-ｙ</a:t>
            </a:r>
            <a:r>
              <a:rPr lang="zh-CN" altLang="zh-CN" sz="2000" dirty="0">
                <a:latin typeface="黑体" pitchFamily="2" charset="-122"/>
                <a:ea typeface="黑体" pitchFamily="2" charset="-122"/>
              </a:rPr>
              <a:t>]补</a:t>
            </a:r>
            <a:r>
              <a:rPr lang="zh-CN" altLang="zh-CN" sz="2000" u="sng" dirty="0">
                <a:latin typeface="黑体" pitchFamily="2" charset="-122"/>
                <a:ea typeface="黑体" pitchFamily="2" charset="-122"/>
              </a:rPr>
              <a:t> →</a:t>
            </a:r>
            <a:r>
              <a:rPr lang="zh-CN" altLang="zh-CN" sz="2000" i="1" u="sng" dirty="0">
                <a:latin typeface="黑体" pitchFamily="2" charset="-122"/>
                <a:ea typeface="黑体" pitchFamily="2" charset="-122"/>
              </a:rPr>
              <a:t> </a:t>
            </a:r>
            <a:r>
              <a:rPr lang="zh-CN" altLang="zh-CN" sz="2000" u="sng" dirty="0">
                <a:latin typeface="黑体" pitchFamily="2" charset="-122"/>
                <a:ea typeface="黑体" pitchFamily="2" charset="-122"/>
              </a:rPr>
              <a:t>　 1.1 1 0 1 0 1　 　　 　　</a:t>
            </a:r>
            <a:r>
              <a:rPr lang="zh-CN" altLang="zh-CN" sz="2000" dirty="0">
                <a:latin typeface="黑体" pitchFamily="2" charset="-122"/>
                <a:ea typeface="黑体" pitchFamily="2" charset="-122"/>
              </a:rPr>
              <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　　　 0.0 0 0 0 1 1 0 0 ＞0　　　　　</a:t>
            </a:r>
            <a:r>
              <a:rPr lang="zh-CN" altLang="zh-CN" sz="2000" i="1" dirty="0">
                <a:latin typeface="黑体" pitchFamily="2" charset="-122"/>
                <a:ea typeface="黑体" pitchFamily="2" charset="-122"/>
              </a:rPr>
              <a:t>q</a:t>
            </a:r>
            <a:r>
              <a:rPr lang="zh-CN" altLang="zh-CN" sz="2000" i="1" baseline="-30000" dirty="0">
                <a:latin typeface="黑体" pitchFamily="2" charset="-122"/>
                <a:ea typeface="黑体" pitchFamily="2" charset="-122"/>
              </a:rPr>
              <a:t>3</a:t>
            </a:r>
            <a:r>
              <a:rPr lang="zh-CN" altLang="zh-CN" sz="2000" dirty="0">
                <a:latin typeface="黑体" pitchFamily="2" charset="-122"/>
                <a:ea typeface="黑体" pitchFamily="2" charset="-122"/>
              </a:rPr>
              <a:t>＝1</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u="sng" dirty="0">
                <a:latin typeface="黑体" pitchFamily="2" charset="-122"/>
                <a:ea typeface="黑体" pitchFamily="2" charset="-122"/>
              </a:rPr>
              <a:t> +</a:t>
            </a:r>
            <a:r>
              <a:rPr lang="zh-CN" altLang="zh-CN" sz="2000" dirty="0">
                <a:latin typeface="黑体" pitchFamily="2" charset="-122"/>
                <a:ea typeface="黑体" pitchFamily="2" charset="-122"/>
              </a:rPr>
              <a:t>[-</a:t>
            </a:r>
            <a:r>
              <a:rPr lang="zh-CN" altLang="zh-CN" sz="2000" u="sng" dirty="0">
                <a:latin typeface="黑体" pitchFamily="2" charset="-122"/>
                <a:ea typeface="黑体" pitchFamily="2" charset="-122"/>
              </a:rPr>
              <a:t>ｙ</a:t>
            </a:r>
            <a:r>
              <a:rPr lang="zh-CN" altLang="zh-CN" sz="2000" dirty="0">
                <a:latin typeface="黑体" pitchFamily="2" charset="-122"/>
                <a:ea typeface="黑体" pitchFamily="2" charset="-122"/>
              </a:rPr>
              <a:t>]补</a:t>
            </a:r>
            <a:r>
              <a:rPr lang="zh-CN" altLang="zh-CN" sz="2000" u="sng" dirty="0">
                <a:latin typeface="黑体" pitchFamily="2" charset="-122"/>
                <a:ea typeface="黑体" pitchFamily="2" charset="-122"/>
              </a:rPr>
              <a:t> →　　1.1 1 1 0 1 0 1　 　　　</a:t>
            </a:r>
            <a:r>
              <a:rPr lang="zh-CN" altLang="zh-CN" sz="2000" dirty="0">
                <a:latin typeface="黑体" pitchFamily="2" charset="-122"/>
                <a:ea typeface="黑体" pitchFamily="2" charset="-122"/>
              </a:rPr>
              <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　</a:t>
            </a:r>
            <a:r>
              <a:rPr lang="zh-CN" altLang="zh-CN" sz="2000" i="1" dirty="0">
                <a:latin typeface="黑体" pitchFamily="2" charset="-122"/>
                <a:ea typeface="黑体" pitchFamily="2" charset="-122"/>
              </a:rPr>
              <a:t> </a:t>
            </a:r>
            <a:r>
              <a:rPr lang="zh-CN" altLang="zh-CN" sz="2000" dirty="0">
                <a:latin typeface="黑体" pitchFamily="2" charset="-122"/>
                <a:ea typeface="黑体" pitchFamily="2" charset="-122"/>
              </a:rPr>
              <a:t>1.1 1 1 1 0 1 1 0 ＜0　　　　　</a:t>
            </a:r>
            <a:r>
              <a:rPr lang="zh-CN" altLang="zh-CN" sz="2000" i="1" dirty="0">
                <a:latin typeface="黑体" pitchFamily="2" charset="-122"/>
                <a:ea typeface="黑体" pitchFamily="2" charset="-122"/>
              </a:rPr>
              <a:t>q</a:t>
            </a:r>
            <a:r>
              <a:rPr lang="zh-CN" altLang="zh-CN" sz="2000" i="1" baseline="-30000" dirty="0">
                <a:latin typeface="黑体" pitchFamily="2" charset="-122"/>
                <a:ea typeface="黑体" pitchFamily="2" charset="-122"/>
              </a:rPr>
              <a:t>2</a:t>
            </a:r>
            <a:r>
              <a:rPr lang="zh-CN" altLang="zh-CN" sz="2000" dirty="0">
                <a:latin typeface="黑体" pitchFamily="2" charset="-122"/>
                <a:ea typeface="黑体" pitchFamily="2" charset="-122"/>
              </a:rPr>
              <a:t>＝0</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zh-CN" altLang="zh-CN" sz="2000" u="sng" dirty="0">
                <a:latin typeface="黑体" pitchFamily="2" charset="-122"/>
                <a:ea typeface="黑体" pitchFamily="2" charset="-122"/>
              </a:rPr>
              <a:t> + </a:t>
            </a:r>
            <a:r>
              <a:rPr lang="zh-CN" altLang="zh-CN" sz="2000" dirty="0">
                <a:latin typeface="黑体" pitchFamily="2" charset="-122"/>
                <a:ea typeface="黑体" pitchFamily="2" charset="-122"/>
              </a:rPr>
              <a:t>[</a:t>
            </a:r>
            <a:r>
              <a:rPr lang="zh-CN" altLang="zh-CN" sz="2000" u="sng" dirty="0">
                <a:latin typeface="黑体" pitchFamily="2" charset="-122"/>
                <a:ea typeface="黑体" pitchFamily="2" charset="-122"/>
              </a:rPr>
              <a:t>ｙ</a:t>
            </a:r>
            <a:r>
              <a:rPr lang="zh-CN" altLang="zh-CN" sz="2000" dirty="0">
                <a:latin typeface="黑体" pitchFamily="2" charset="-122"/>
                <a:ea typeface="黑体" pitchFamily="2" charset="-122"/>
              </a:rPr>
              <a:t>]补</a:t>
            </a:r>
            <a:r>
              <a:rPr lang="zh-CN" altLang="zh-CN" sz="2000" u="sng" dirty="0">
                <a:latin typeface="黑体" pitchFamily="2" charset="-122"/>
                <a:ea typeface="黑体" pitchFamily="2" charset="-122"/>
              </a:rPr>
              <a:t> →　　0.0 0 0 0 1 0 1 1　　 　　　</a:t>
            </a:r>
            <a:r>
              <a:rPr lang="zh-CN" altLang="zh-CN" sz="2000" dirty="0">
                <a:latin typeface="黑体" pitchFamily="2" charset="-122"/>
                <a:ea typeface="黑体" pitchFamily="2" charset="-122"/>
              </a:rPr>
              <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0.0 0 0 0 0 0 0 1 ＞0　　　　　</a:t>
            </a:r>
            <a:r>
              <a:rPr lang="zh-CN" altLang="zh-CN" sz="2000" i="1" dirty="0">
                <a:latin typeface="黑体" pitchFamily="2" charset="-122"/>
                <a:ea typeface="黑体" pitchFamily="2" charset="-122"/>
              </a:rPr>
              <a:t>q</a:t>
            </a:r>
            <a:r>
              <a:rPr lang="zh-CN" altLang="zh-CN" sz="2000" i="1" baseline="-30000" dirty="0">
                <a:latin typeface="黑体" pitchFamily="2" charset="-122"/>
                <a:ea typeface="黑体" pitchFamily="2" charset="-122"/>
              </a:rPr>
              <a:t>1</a:t>
            </a:r>
            <a:r>
              <a:rPr lang="zh-CN" altLang="zh-CN" sz="2000" dirty="0">
                <a:latin typeface="黑体" pitchFamily="2" charset="-122"/>
                <a:ea typeface="黑体" pitchFamily="2" charset="-122"/>
              </a:rPr>
              <a:t>＝1</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故得</a:t>
            </a:r>
            <a:br>
              <a:rPr lang="zh-CN" altLang="zh-CN" sz="2000" dirty="0">
                <a:latin typeface="黑体" pitchFamily="2" charset="-122"/>
                <a:ea typeface="黑体" pitchFamily="2" charset="-122"/>
              </a:rPr>
            </a:br>
            <a:r>
              <a:rPr lang="zh-CN" altLang="zh-CN" sz="2000" dirty="0">
                <a:latin typeface="黑体" pitchFamily="2" charset="-122"/>
                <a:ea typeface="黑体" pitchFamily="2" charset="-122"/>
              </a:rPr>
              <a:t>　　　　 </a:t>
            </a: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商 </a:t>
            </a:r>
            <a:r>
              <a:rPr lang="zh-CN" altLang="zh-CN" sz="2000" i="1" dirty="0">
                <a:latin typeface="黑体" pitchFamily="2" charset="-122"/>
                <a:ea typeface="黑体" pitchFamily="2" charset="-122"/>
              </a:rPr>
              <a:t>q</a:t>
            </a:r>
            <a:r>
              <a:rPr lang="zh-CN" altLang="zh-CN" sz="2000" dirty="0">
                <a:latin typeface="黑体" pitchFamily="2" charset="-122"/>
                <a:ea typeface="黑体" pitchFamily="2" charset="-122"/>
              </a:rPr>
              <a:t>＝</a:t>
            </a:r>
            <a:r>
              <a:rPr lang="zh-CN" altLang="zh-CN" sz="2000" i="1" dirty="0">
                <a:latin typeface="黑体" pitchFamily="2" charset="-122"/>
                <a:ea typeface="黑体" pitchFamily="2" charset="-122"/>
              </a:rPr>
              <a:t>0.1101</a:t>
            </a:r>
            <a:endParaRPr lang="zh-CN" altLang="zh-CN" sz="2000" dirty="0">
              <a:latin typeface="黑体" pitchFamily="2" charset="-122"/>
              <a:ea typeface="黑体" pitchFamily="2" charset="-122"/>
            </a:endParaRPr>
          </a:p>
          <a:p>
            <a:pPr eaLnBrk="0" hangingPunct="0">
              <a:lnSpc>
                <a:spcPct val="150000"/>
              </a:lnSpc>
            </a:pPr>
            <a:r>
              <a:rPr lang="zh-CN" altLang="zh-CN" sz="2000" dirty="0">
                <a:latin typeface="黑体" pitchFamily="2" charset="-122"/>
                <a:ea typeface="黑体" pitchFamily="2" charset="-122"/>
              </a:rPr>
              <a:t>　　</a:t>
            </a: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余数 </a:t>
            </a:r>
            <a:r>
              <a:rPr lang="zh-CN" altLang="zh-CN" sz="2000" i="1" dirty="0">
                <a:latin typeface="黑体" pitchFamily="2" charset="-122"/>
                <a:ea typeface="黑体" pitchFamily="2" charset="-122"/>
              </a:rPr>
              <a:t>r</a:t>
            </a:r>
            <a:r>
              <a:rPr lang="zh-CN" altLang="zh-CN" sz="2000" dirty="0">
                <a:latin typeface="黑体" pitchFamily="2" charset="-122"/>
                <a:ea typeface="黑体" pitchFamily="2" charset="-122"/>
              </a:rPr>
              <a:t>＝0.00000001 </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
          <p:cNvSpPr>
            <a:spLocks noChangeArrowheads="1"/>
          </p:cNvSpPr>
          <p:nvPr/>
        </p:nvSpPr>
        <p:spPr bwMode="auto">
          <a:xfrm>
            <a:off x="153988" y="188913"/>
            <a:ext cx="8640762" cy="649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000">
                <a:latin typeface="黑体" pitchFamily="2" charset="-122"/>
                <a:ea typeface="黑体" pitchFamily="2" charset="-122"/>
              </a:rPr>
              <a:t>例</a:t>
            </a:r>
            <a:r>
              <a:rPr lang="zh-CN" altLang="en-US" sz="2000">
                <a:latin typeface="黑体" pitchFamily="2" charset="-122"/>
                <a:ea typeface="黑体" pitchFamily="2" charset="-122"/>
              </a:rPr>
              <a:t>：</a:t>
            </a:r>
            <a:r>
              <a:rPr lang="zh-CN" altLang="zh-CN" sz="2000" i="1">
                <a:latin typeface="黑体" pitchFamily="2" charset="-122"/>
                <a:ea typeface="黑体" pitchFamily="2" charset="-122"/>
              </a:rPr>
              <a:t>ｘ</a:t>
            </a:r>
            <a:r>
              <a:rPr lang="zh-CN" altLang="zh-CN" sz="2000">
                <a:latin typeface="黑体" pitchFamily="2" charset="-122"/>
                <a:ea typeface="黑体" pitchFamily="2" charset="-122"/>
              </a:rPr>
              <a:t>＝0.10110, </a:t>
            </a:r>
            <a:r>
              <a:rPr lang="zh-CN" altLang="zh-CN" sz="2000" i="1">
                <a:latin typeface="黑体" pitchFamily="2" charset="-122"/>
                <a:ea typeface="黑体" pitchFamily="2" charset="-122"/>
              </a:rPr>
              <a:t>ｙ</a:t>
            </a:r>
            <a:r>
              <a:rPr lang="zh-CN" altLang="zh-CN" sz="2000">
                <a:latin typeface="黑体" pitchFamily="2" charset="-122"/>
                <a:ea typeface="黑体" pitchFamily="2" charset="-122"/>
              </a:rPr>
              <a:t>＝0.11111, 求</a:t>
            </a:r>
            <a:r>
              <a:rPr lang="zh-CN" altLang="zh-CN" sz="2000" i="1">
                <a:latin typeface="黑体" pitchFamily="2" charset="-122"/>
                <a:ea typeface="黑体" pitchFamily="2" charset="-122"/>
              </a:rPr>
              <a:t>ｘ÷ｙ</a:t>
            </a:r>
            <a:r>
              <a:rPr lang="zh-CN" altLang="zh-CN" sz="2000">
                <a:latin typeface="黑体" pitchFamily="2" charset="-122"/>
                <a:ea typeface="黑体" pitchFamily="2" charset="-122"/>
              </a:rPr>
              <a:t>。</a:t>
            </a:r>
          </a:p>
          <a:p>
            <a:pPr eaLnBrk="0" hangingPunct="0">
              <a:lnSpc>
                <a:spcPct val="120000"/>
              </a:lnSpc>
            </a:pPr>
            <a:r>
              <a:rPr lang="zh-CN" altLang="zh-CN" sz="2000">
                <a:latin typeface="黑体" pitchFamily="2" charset="-122"/>
                <a:ea typeface="黑体" pitchFamily="2" charset="-122"/>
              </a:rPr>
              <a:t>解:　　[－ｙ]</a:t>
            </a:r>
            <a:r>
              <a:rPr lang="zh-CN" altLang="zh-CN" sz="2000" baseline="-30000">
                <a:latin typeface="黑体" pitchFamily="2" charset="-122"/>
                <a:ea typeface="黑体" pitchFamily="2" charset="-122"/>
              </a:rPr>
              <a:t>补</a:t>
            </a:r>
            <a:r>
              <a:rPr lang="zh-CN" altLang="zh-CN" sz="2000">
                <a:latin typeface="黑体" pitchFamily="2" charset="-122"/>
                <a:ea typeface="黑体" pitchFamily="2" charset="-122"/>
              </a:rPr>
              <a:t>＝1.00001</a:t>
            </a:r>
          </a:p>
          <a:p>
            <a:pPr eaLnBrk="0" hangingPunct="0"/>
            <a:r>
              <a:rPr lang="zh-CN" altLang="zh-CN" sz="2000">
                <a:latin typeface="黑体" pitchFamily="2" charset="-122"/>
                <a:ea typeface="黑体" pitchFamily="2" charset="-122"/>
              </a:rPr>
              <a:t>　　　　　　　　　　　0.1 0 1 1 0 0 0 0 0 0 </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u="sng">
                <a:latin typeface="黑体" pitchFamily="2" charset="-122"/>
                <a:ea typeface="黑体" pitchFamily="2" charset="-122"/>
              </a:rPr>
              <a:t>+</a:t>
            </a:r>
            <a:r>
              <a:rPr lang="zh-CN" altLang="zh-CN" sz="2000">
                <a:latin typeface="黑体" pitchFamily="2" charset="-122"/>
                <a:ea typeface="黑体" pitchFamily="2" charset="-122"/>
              </a:rPr>
              <a:t>[</a:t>
            </a:r>
            <a:r>
              <a:rPr lang="zh-CN" altLang="zh-CN" sz="2000" u="sng">
                <a:latin typeface="黑体" pitchFamily="2" charset="-122"/>
                <a:ea typeface="黑体" pitchFamily="2" charset="-122"/>
              </a:rPr>
              <a:t>-ｙ</a:t>
            </a:r>
            <a:r>
              <a:rPr lang="zh-CN" altLang="zh-CN" sz="2000">
                <a:latin typeface="黑体" pitchFamily="2" charset="-122"/>
                <a:ea typeface="黑体" pitchFamily="2" charset="-122"/>
              </a:rPr>
              <a:t>]补</a:t>
            </a:r>
            <a:r>
              <a:rPr lang="zh-CN" altLang="zh-CN" sz="2000" i="1" u="sng">
                <a:latin typeface="黑体" pitchFamily="2" charset="-122"/>
                <a:ea typeface="黑体" pitchFamily="2" charset="-122"/>
              </a:rPr>
              <a:t> </a:t>
            </a:r>
            <a:r>
              <a:rPr lang="zh-CN" altLang="zh-CN" sz="2000" u="sng">
                <a:latin typeface="黑体" pitchFamily="2" charset="-122"/>
                <a:ea typeface="黑体" pitchFamily="2" charset="-122"/>
              </a:rPr>
              <a:t>　 　 1.0 0 0 0 1　 　　 　　</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1.1 0 1 1 1 0 0 0 0 0 ＜0　　　</a:t>
            </a:r>
            <a:r>
              <a:rPr lang="zh-CN" altLang="zh-CN" sz="2000" i="1">
                <a:latin typeface="黑体" pitchFamily="2" charset="-122"/>
                <a:ea typeface="黑体" pitchFamily="2" charset="-122"/>
              </a:rPr>
              <a:t>q</a:t>
            </a:r>
            <a:r>
              <a:rPr lang="zh-CN" altLang="zh-CN" sz="2000" i="1" baseline="-30000">
                <a:latin typeface="黑体" pitchFamily="2" charset="-122"/>
                <a:ea typeface="黑体" pitchFamily="2" charset="-122"/>
              </a:rPr>
              <a:t>6</a:t>
            </a:r>
            <a:r>
              <a:rPr lang="zh-CN" altLang="zh-CN" sz="2000">
                <a:latin typeface="黑体" pitchFamily="2" charset="-122"/>
                <a:ea typeface="黑体" pitchFamily="2" charset="-122"/>
              </a:rPr>
              <a:t>＝0</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u="sng">
                <a:latin typeface="黑体" pitchFamily="2" charset="-122"/>
                <a:ea typeface="黑体" pitchFamily="2" charset="-122"/>
              </a:rPr>
              <a:t> + </a:t>
            </a:r>
            <a:r>
              <a:rPr lang="zh-CN" altLang="zh-CN" sz="2000">
                <a:latin typeface="黑体" pitchFamily="2" charset="-122"/>
                <a:ea typeface="黑体" pitchFamily="2" charset="-122"/>
              </a:rPr>
              <a:t>[</a:t>
            </a:r>
            <a:r>
              <a:rPr lang="zh-CN" altLang="zh-CN" sz="2000" u="sng">
                <a:latin typeface="黑体" pitchFamily="2" charset="-122"/>
                <a:ea typeface="黑体" pitchFamily="2" charset="-122"/>
              </a:rPr>
              <a:t>ｙ</a:t>
            </a:r>
            <a:r>
              <a:rPr lang="zh-CN" altLang="zh-CN" sz="2000">
                <a:latin typeface="黑体" pitchFamily="2" charset="-122"/>
                <a:ea typeface="黑体" pitchFamily="2" charset="-122"/>
              </a:rPr>
              <a:t>]补</a:t>
            </a:r>
            <a:r>
              <a:rPr lang="zh-CN" altLang="zh-CN" sz="2000" u="sng">
                <a:latin typeface="黑体" pitchFamily="2" charset="-122"/>
                <a:ea typeface="黑体" pitchFamily="2" charset="-122"/>
              </a:rPr>
              <a:t> →　　0.0 1 1 1 1 1　　 　　　</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0.0 0 1 1 0 1 0 0 0 0 ＞0　　　</a:t>
            </a:r>
            <a:r>
              <a:rPr lang="zh-CN" altLang="zh-CN" sz="2000" i="1">
                <a:latin typeface="黑体" pitchFamily="2" charset="-122"/>
                <a:ea typeface="黑体" pitchFamily="2" charset="-122"/>
              </a:rPr>
              <a:t>q</a:t>
            </a:r>
            <a:r>
              <a:rPr lang="zh-CN" altLang="zh-CN" sz="2000" i="1" baseline="-30000">
                <a:latin typeface="黑体" pitchFamily="2" charset="-122"/>
                <a:ea typeface="黑体" pitchFamily="2" charset="-122"/>
              </a:rPr>
              <a:t>5</a:t>
            </a:r>
            <a:r>
              <a:rPr lang="zh-CN" altLang="zh-CN" sz="2000">
                <a:latin typeface="黑体" pitchFamily="2" charset="-122"/>
                <a:ea typeface="黑体" pitchFamily="2" charset="-122"/>
              </a:rPr>
              <a:t>＝1</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u="sng">
                <a:latin typeface="黑体" pitchFamily="2" charset="-122"/>
                <a:ea typeface="黑体" pitchFamily="2" charset="-122"/>
              </a:rPr>
              <a:t> +</a:t>
            </a:r>
            <a:r>
              <a:rPr lang="zh-CN" altLang="zh-CN" sz="2000">
                <a:latin typeface="黑体" pitchFamily="2" charset="-122"/>
                <a:ea typeface="黑体" pitchFamily="2" charset="-122"/>
              </a:rPr>
              <a:t>[</a:t>
            </a:r>
            <a:r>
              <a:rPr lang="zh-CN" altLang="zh-CN" sz="2000" u="sng">
                <a:latin typeface="黑体" pitchFamily="2" charset="-122"/>
                <a:ea typeface="黑体" pitchFamily="2" charset="-122"/>
              </a:rPr>
              <a:t>-ｙ</a:t>
            </a:r>
            <a:r>
              <a:rPr lang="zh-CN" altLang="zh-CN" sz="2000">
                <a:latin typeface="黑体" pitchFamily="2" charset="-122"/>
                <a:ea typeface="黑体" pitchFamily="2" charset="-122"/>
              </a:rPr>
              <a:t>]补</a:t>
            </a:r>
            <a:r>
              <a:rPr lang="zh-CN" altLang="zh-CN" sz="2000" u="sng">
                <a:latin typeface="黑体" pitchFamily="2" charset="-122"/>
                <a:ea typeface="黑体" pitchFamily="2" charset="-122"/>
              </a:rPr>
              <a:t> →</a:t>
            </a:r>
            <a:r>
              <a:rPr lang="zh-CN" altLang="zh-CN" sz="2000" i="1" u="sng">
                <a:latin typeface="黑体" pitchFamily="2" charset="-122"/>
                <a:ea typeface="黑体" pitchFamily="2" charset="-122"/>
              </a:rPr>
              <a:t> </a:t>
            </a:r>
            <a:r>
              <a:rPr lang="zh-CN" altLang="zh-CN" sz="2000" u="sng">
                <a:latin typeface="黑体" pitchFamily="2" charset="-122"/>
                <a:ea typeface="黑体" pitchFamily="2" charset="-122"/>
              </a:rPr>
              <a:t>　 1.1 1 0 0 0 0 1　 　　 　　</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1.1 1 1 1 0 1 1 0 0 0 ＜0　　　</a:t>
            </a:r>
            <a:r>
              <a:rPr lang="zh-CN" altLang="zh-CN" sz="2000" i="1">
                <a:latin typeface="黑体" pitchFamily="2" charset="-122"/>
                <a:ea typeface="黑体" pitchFamily="2" charset="-122"/>
              </a:rPr>
              <a:t>q</a:t>
            </a:r>
            <a:r>
              <a:rPr lang="zh-CN" altLang="zh-CN" sz="2000" i="1" baseline="-30000">
                <a:latin typeface="黑体" pitchFamily="2" charset="-122"/>
                <a:ea typeface="黑体" pitchFamily="2" charset="-122"/>
              </a:rPr>
              <a:t>4</a:t>
            </a:r>
            <a:r>
              <a:rPr lang="zh-CN" altLang="zh-CN" sz="2000">
                <a:latin typeface="黑体" pitchFamily="2" charset="-122"/>
                <a:ea typeface="黑体" pitchFamily="2" charset="-122"/>
              </a:rPr>
              <a:t>＝0</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u="sng">
                <a:latin typeface="黑体" pitchFamily="2" charset="-122"/>
                <a:ea typeface="黑体" pitchFamily="2" charset="-122"/>
              </a:rPr>
              <a:t> +</a:t>
            </a:r>
            <a:r>
              <a:rPr lang="zh-CN" altLang="zh-CN" sz="2000">
                <a:latin typeface="黑体" pitchFamily="2" charset="-122"/>
                <a:ea typeface="黑体" pitchFamily="2" charset="-122"/>
              </a:rPr>
              <a:t> [</a:t>
            </a:r>
            <a:r>
              <a:rPr lang="zh-CN" altLang="zh-CN" sz="2000" u="sng">
                <a:latin typeface="黑体" pitchFamily="2" charset="-122"/>
                <a:ea typeface="黑体" pitchFamily="2" charset="-122"/>
              </a:rPr>
              <a:t>ｙ</a:t>
            </a:r>
            <a:r>
              <a:rPr lang="zh-CN" altLang="zh-CN" sz="2000">
                <a:latin typeface="黑体" pitchFamily="2" charset="-122"/>
                <a:ea typeface="黑体" pitchFamily="2" charset="-122"/>
              </a:rPr>
              <a:t>]补</a:t>
            </a:r>
            <a:r>
              <a:rPr lang="zh-CN" altLang="zh-CN" sz="2000" u="sng">
                <a:latin typeface="黑体" pitchFamily="2" charset="-122"/>
                <a:ea typeface="黑体" pitchFamily="2" charset="-122"/>
              </a:rPr>
              <a:t> →　　0.0 0 0 1 1 1 1 1　 　　　</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0.0 0 0 1 0 1 0 1 0 0 ＞0　　　</a:t>
            </a:r>
            <a:r>
              <a:rPr lang="zh-CN" altLang="zh-CN" sz="2000" i="1">
                <a:latin typeface="黑体" pitchFamily="2" charset="-122"/>
                <a:ea typeface="黑体" pitchFamily="2" charset="-122"/>
              </a:rPr>
              <a:t>q</a:t>
            </a:r>
            <a:r>
              <a:rPr lang="zh-CN" altLang="zh-CN" sz="2000" i="1" baseline="-30000">
                <a:latin typeface="黑体" pitchFamily="2" charset="-122"/>
                <a:ea typeface="黑体" pitchFamily="2" charset="-122"/>
              </a:rPr>
              <a:t>3</a:t>
            </a:r>
            <a:r>
              <a:rPr lang="zh-CN" altLang="zh-CN" sz="2000">
                <a:latin typeface="黑体" pitchFamily="2" charset="-122"/>
                <a:ea typeface="黑体" pitchFamily="2" charset="-122"/>
              </a:rPr>
              <a:t>＝1</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u="sng">
                <a:latin typeface="黑体" pitchFamily="2" charset="-122"/>
                <a:ea typeface="黑体" pitchFamily="2" charset="-122"/>
              </a:rPr>
              <a:t> +</a:t>
            </a:r>
            <a:r>
              <a:rPr lang="zh-CN" altLang="zh-CN" sz="2000">
                <a:latin typeface="黑体" pitchFamily="2" charset="-122"/>
                <a:ea typeface="黑体" pitchFamily="2" charset="-122"/>
              </a:rPr>
              <a:t>[-</a:t>
            </a:r>
            <a:r>
              <a:rPr lang="zh-CN" altLang="zh-CN" sz="2000" u="sng">
                <a:latin typeface="黑体" pitchFamily="2" charset="-122"/>
                <a:ea typeface="黑体" pitchFamily="2" charset="-122"/>
              </a:rPr>
              <a:t>ｙ</a:t>
            </a:r>
            <a:r>
              <a:rPr lang="zh-CN" altLang="zh-CN" sz="2000">
                <a:latin typeface="黑体" pitchFamily="2" charset="-122"/>
                <a:ea typeface="黑体" pitchFamily="2" charset="-122"/>
              </a:rPr>
              <a:t>]补</a:t>
            </a:r>
            <a:r>
              <a:rPr lang="zh-CN" altLang="zh-CN" sz="2000" u="sng">
                <a:latin typeface="黑体" pitchFamily="2" charset="-122"/>
                <a:ea typeface="黑体" pitchFamily="2" charset="-122"/>
              </a:rPr>
              <a:t> →　　1.1 1 1 1 0 0 0 0 1 　 　　　</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0.0 0 0 0 0 1 0 1 1 0 ＞0　　　</a:t>
            </a:r>
            <a:r>
              <a:rPr lang="zh-CN" altLang="zh-CN" sz="2000" i="1">
                <a:latin typeface="黑体" pitchFamily="2" charset="-122"/>
                <a:ea typeface="黑体" pitchFamily="2" charset="-122"/>
              </a:rPr>
              <a:t>q</a:t>
            </a:r>
            <a:r>
              <a:rPr lang="zh-CN" altLang="zh-CN" sz="2000" i="1" baseline="-30000">
                <a:latin typeface="黑体" pitchFamily="2" charset="-122"/>
                <a:ea typeface="黑体" pitchFamily="2" charset="-122"/>
              </a:rPr>
              <a:t>2</a:t>
            </a:r>
            <a:r>
              <a:rPr lang="zh-CN" altLang="zh-CN" sz="2000">
                <a:latin typeface="黑体" pitchFamily="2" charset="-122"/>
                <a:ea typeface="黑体" pitchFamily="2" charset="-122"/>
              </a:rPr>
              <a:t>＝1</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u="sng">
                <a:latin typeface="黑体" pitchFamily="2" charset="-122"/>
                <a:ea typeface="黑体" pitchFamily="2" charset="-122"/>
              </a:rPr>
              <a:t> +</a:t>
            </a:r>
            <a:r>
              <a:rPr lang="zh-CN" altLang="zh-CN" sz="2000">
                <a:latin typeface="黑体" pitchFamily="2" charset="-122"/>
                <a:ea typeface="黑体" pitchFamily="2" charset="-122"/>
              </a:rPr>
              <a:t>[-</a:t>
            </a:r>
            <a:r>
              <a:rPr lang="zh-CN" altLang="zh-CN" sz="2000" u="sng">
                <a:latin typeface="黑体" pitchFamily="2" charset="-122"/>
                <a:ea typeface="黑体" pitchFamily="2" charset="-122"/>
              </a:rPr>
              <a:t>ｙ</a:t>
            </a:r>
            <a:r>
              <a:rPr lang="zh-CN" altLang="zh-CN" sz="2000">
                <a:latin typeface="黑体" pitchFamily="2" charset="-122"/>
                <a:ea typeface="黑体" pitchFamily="2" charset="-122"/>
              </a:rPr>
              <a:t>]补</a:t>
            </a:r>
            <a:r>
              <a:rPr lang="zh-CN" altLang="zh-CN" sz="2000" u="sng">
                <a:latin typeface="黑体" pitchFamily="2" charset="-122"/>
                <a:ea typeface="黑体" pitchFamily="2" charset="-122"/>
              </a:rPr>
              <a:t> →　　1.1 1 1 1 1 0 0 0 0 1　 　　　</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　</a:t>
            </a:r>
            <a:r>
              <a:rPr lang="zh-CN" altLang="zh-CN" sz="2000" i="1">
                <a:latin typeface="黑体" pitchFamily="2" charset="-122"/>
                <a:ea typeface="黑体" pitchFamily="2" charset="-122"/>
              </a:rPr>
              <a:t> </a:t>
            </a:r>
            <a:r>
              <a:rPr lang="zh-CN" altLang="zh-CN" sz="2000">
                <a:latin typeface="黑体" pitchFamily="2" charset="-122"/>
                <a:ea typeface="黑体" pitchFamily="2" charset="-122"/>
              </a:rPr>
              <a:t>1.1 1 1 1 1 1 0 1 1 1 ＜0　　　</a:t>
            </a:r>
            <a:r>
              <a:rPr lang="zh-CN" altLang="zh-CN" sz="2000" i="1">
                <a:latin typeface="黑体" pitchFamily="2" charset="-122"/>
                <a:ea typeface="黑体" pitchFamily="2" charset="-122"/>
              </a:rPr>
              <a:t>q</a:t>
            </a:r>
            <a:r>
              <a:rPr lang="zh-CN" altLang="zh-CN" sz="2000" i="1" baseline="-30000">
                <a:latin typeface="黑体" pitchFamily="2" charset="-122"/>
                <a:ea typeface="黑体" pitchFamily="2" charset="-122"/>
              </a:rPr>
              <a:t>1</a:t>
            </a:r>
            <a:r>
              <a:rPr lang="zh-CN" altLang="zh-CN" sz="2000">
                <a:latin typeface="黑体" pitchFamily="2" charset="-122"/>
                <a:ea typeface="黑体" pitchFamily="2" charset="-122"/>
              </a:rPr>
              <a:t>＝0</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zh-CN" altLang="zh-CN" sz="2000" u="sng">
                <a:latin typeface="黑体" pitchFamily="2" charset="-122"/>
                <a:ea typeface="黑体" pitchFamily="2" charset="-122"/>
              </a:rPr>
              <a:t> +</a:t>
            </a:r>
            <a:r>
              <a:rPr lang="zh-CN" altLang="zh-CN" sz="2000">
                <a:latin typeface="黑体" pitchFamily="2" charset="-122"/>
                <a:ea typeface="黑体" pitchFamily="2" charset="-122"/>
              </a:rPr>
              <a:t> [</a:t>
            </a:r>
            <a:r>
              <a:rPr lang="zh-CN" altLang="zh-CN" sz="2000" u="sng">
                <a:latin typeface="黑体" pitchFamily="2" charset="-122"/>
                <a:ea typeface="黑体" pitchFamily="2" charset="-122"/>
              </a:rPr>
              <a:t>ｙ</a:t>
            </a:r>
            <a:r>
              <a:rPr lang="zh-CN" altLang="zh-CN" sz="2000">
                <a:latin typeface="黑体" pitchFamily="2" charset="-122"/>
                <a:ea typeface="黑体" pitchFamily="2" charset="-122"/>
              </a:rPr>
              <a:t>]补</a:t>
            </a:r>
            <a:r>
              <a:rPr lang="zh-CN" altLang="zh-CN" sz="2000" u="sng">
                <a:latin typeface="黑体" pitchFamily="2" charset="-122"/>
                <a:ea typeface="黑体" pitchFamily="2" charset="-122"/>
              </a:rPr>
              <a:t> →　　0.0 0 0 0 0 1 1 1 1 1　 　　　</a:t>
            </a:r>
            <a:endParaRPr lang="zh-CN" altLang="zh-CN" sz="2000">
              <a:latin typeface="黑体" pitchFamily="2" charset="-122"/>
              <a:ea typeface="黑体" pitchFamily="2" charset="-122"/>
            </a:endParaRPr>
          </a:p>
          <a:p>
            <a:pPr eaLnBrk="0" hangingPunct="0"/>
            <a:r>
              <a:rPr lang="zh-CN" altLang="zh-CN" sz="2000">
                <a:latin typeface="黑体" pitchFamily="2" charset="-122"/>
                <a:ea typeface="黑体" pitchFamily="2" charset="-122"/>
              </a:rPr>
              <a:t>　　　　　　　　　　　0.0 0 0 0 0 1 0 1 1 0</a:t>
            </a:r>
            <a:br>
              <a:rPr lang="zh-CN" altLang="zh-CN" sz="2000">
                <a:latin typeface="黑体" pitchFamily="2" charset="-122"/>
                <a:ea typeface="黑体" pitchFamily="2" charset="-122"/>
              </a:rPr>
            </a:br>
            <a:r>
              <a:rPr lang="en-US" altLang="zh-CN" sz="2000">
                <a:latin typeface="黑体" pitchFamily="2" charset="-122"/>
                <a:ea typeface="黑体" pitchFamily="2" charset="-122"/>
              </a:rPr>
              <a:t>  </a:t>
            </a:r>
            <a:r>
              <a:rPr lang="zh-CN" altLang="zh-CN" sz="2000">
                <a:latin typeface="黑体" pitchFamily="2" charset="-122"/>
                <a:ea typeface="黑体" pitchFamily="2" charset="-122"/>
              </a:rPr>
              <a:t>(最终余数为负时，必须恢复一次余数，使之变为正数且不需要移位）</a:t>
            </a:r>
          </a:p>
          <a:p>
            <a:pPr eaLnBrk="0" hangingPunct="0">
              <a:lnSpc>
                <a:spcPct val="12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故得：商 </a:t>
            </a:r>
            <a:r>
              <a:rPr lang="zh-CN" altLang="zh-CN" sz="2000" i="1">
                <a:latin typeface="黑体" pitchFamily="2" charset="-122"/>
                <a:ea typeface="黑体" pitchFamily="2" charset="-122"/>
              </a:rPr>
              <a:t>q</a:t>
            </a:r>
            <a:r>
              <a:rPr lang="zh-CN" altLang="zh-CN" sz="2000">
                <a:latin typeface="黑体" pitchFamily="2" charset="-122"/>
                <a:ea typeface="黑体" pitchFamily="2" charset="-122"/>
              </a:rPr>
              <a:t>＝＝</a:t>
            </a:r>
            <a:r>
              <a:rPr lang="zh-CN" altLang="zh-CN" sz="2000" i="1">
                <a:latin typeface="黑体" pitchFamily="2" charset="-122"/>
                <a:ea typeface="黑体" pitchFamily="2" charset="-122"/>
              </a:rPr>
              <a:t>0.10110</a:t>
            </a:r>
            <a:endParaRPr lang="zh-CN" altLang="zh-CN" sz="2000">
              <a:latin typeface="黑体" pitchFamily="2" charset="-122"/>
              <a:ea typeface="黑体" pitchFamily="2" charset="-122"/>
            </a:endParaRPr>
          </a:p>
          <a:p>
            <a:pPr eaLnBrk="0" hangingPunct="0">
              <a:lnSpc>
                <a:spcPct val="120000"/>
              </a:lnSpc>
            </a:pPr>
            <a:r>
              <a:rPr lang="zh-CN" altLang="zh-CN" sz="2000">
                <a:latin typeface="黑体" pitchFamily="2" charset="-122"/>
                <a:ea typeface="黑体" pitchFamily="2" charset="-122"/>
              </a:rPr>
              <a:t>　　　　　</a:t>
            </a:r>
            <a:r>
              <a:rPr lang="en-US" altLang="zh-CN" sz="2000">
                <a:latin typeface="黑体" pitchFamily="2" charset="-122"/>
                <a:ea typeface="黑体" pitchFamily="2" charset="-122"/>
              </a:rPr>
              <a:t>  </a:t>
            </a:r>
            <a:r>
              <a:rPr lang="zh-CN" altLang="zh-CN" sz="2000">
                <a:latin typeface="黑体" pitchFamily="2" charset="-122"/>
                <a:ea typeface="黑体" pitchFamily="2" charset="-122"/>
              </a:rPr>
              <a:t>余数 </a:t>
            </a:r>
            <a:r>
              <a:rPr lang="zh-CN" altLang="zh-CN" sz="2000" i="1">
                <a:latin typeface="黑体" pitchFamily="2" charset="-122"/>
                <a:ea typeface="黑体" pitchFamily="2" charset="-122"/>
              </a:rPr>
              <a:t>r</a:t>
            </a:r>
            <a:r>
              <a:rPr lang="zh-CN" altLang="zh-CN" sz="2000">
                <a:latin typeface="黑体" pitchFamily="2" charset="-122"/>
                <a:ea typeface="黑体" pitchFamily="2" charset="-122"/>
              </a:rPr>
              <a:t>＝0.0000010110</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
          <p:cNvSpPr>
            <a:spLocks noChangeArrowheads="1"/>
          </p:cNvSpPr>
          <p:nvPr/>
        </p:nvSpPr>
        <p:spPr bwMode="auto">
          <a:xfrm>
            <a:off x="174625" y="265113"/>
            <a:ext cx="8789988" cy="635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800" dirty="0">
                <a:solidFill>
                  <a:srgbClr val="FF0000"/>
                </a:solidFill>
                <a:latin typeface="黑体" pitchFamily="2" charset="-122"/>
                <a:ea typeface="黑体" pitchFamily="2" charset="-122"/>
              </a:rPr>
              <a:t>2.5 </a:t>
            </a:r>
            <a:r>
              <a:rPr lang="zh-CN" altLang="en-US" sz="2800" dirty="0">
                <a:solidFill>
                  <a:srgbClr val="FF0000"/>
                </a:solidFill>
                <a:latin typeface="黑体" pitchFamily="2" charset="-122"/>
                <a:ea typeface="黑体" pitchFamily="2" charset="-122"/>
              </a:rPr>
              <a:t>定点运算器的组成</a:t>
            </a:r>
            <a:endParaRPr lang="en-US" altLang="zh-CN" sz="2800" dirty="0">
              <a:solidFill>
                <a:srgbClr val="FF0000"/>
              </a:solidFill>
              <a:latin typeface="黑体" pitchFamily="2" charset="-122"/>
              <a:ea typeface="黑体" pitchFamily="2" charset="-122"/>
            </a:endParaRPr>
          </a:p>
          <a:p>
            <a:pPr eaLnBrk="0" hangingPunct="0">
              <a:lnSpc>
                <a:spcPct val="130000"/>
              </a:lnSpc>
            </a:pPr>
            <a:r>
              <a:rPr lang="zh-CN" altLang="zh-CN" sz="2800" dirty="0">
                <a:latin typeface="黑体" pitchFamily="2" charset="-122"/>
                <a:ea typeface="黑体" pitchFamily="2" charset="-122"/>
              </a:rPr>
              <a:t>2.5.1逻辑运算</a:t>
            </a:r>
            <a:r>
              <a:rPr lang="zh-CN" altLang="zh-CN" sz="2000" dirty="0">
                <a:latin typeface="黑体" pitchFamily="2" charset="-122"/>
                <a:ea typeface="黑体" pitchFamily="2" charset="-122"/>
                <a:hlinkClick r:id="rId2" action="ppaction://hlinkfile"/>
              </a:rPr>
              <a:t>　　　　　　　　　  </a:t>
            </a:r>
            <a:endParaRPr lang="zh-CN" altLang="zh-CN" sz="2000" dirty="0">
              <a:latin typeface="黑体" pitchFamily="2" charset="-122"/>
              <a:ea typeface="黑体" pitchFamily="2" charset="-122"/>
            </a:endParaRPr>
          </a:p>
          <a:p>
            <a:pPr eaLnBrk="0" hangingPunct="0">
              <a:lnSpc>
                <a:spcPct val="130000"/>
              </a:lnSpc>
            </a:pPr>
            <a:r>
              <a:rPr lang="zh-CN" altLang="zh-CN" sz="2000" dirty="0">
                <a:latin typeface="黑体" pitchFamily="2" charset="-122"/>
                <a:ea typeface="黑体" pitchFamily="2" charset="-122"/>
              </a:rPr>
              <a:t>　　计算机中除了进行加、减、乘、除等基本算术运算外,还可对两</a:t>
            </a:r>
            <a:endParaRPr lang="en-US" altLang="zh-CN" sz="2000" dirty="0">
              <a:latin typeface="黑体" pitchFamily="2" charset="-122"/>
              <a:ea typeface="黑体" pitchFamily="2" charset="-122"/>
            </a:endParaRPr>
          </a:p>
          <a:p>
            <a:pPr eaLnBrk="0" hangingPunct="0">
              <a:lnSpc>
                <a:spcPct val="130000"/>
              </a:lnSpc>
            </a:pPr>
            <a:r>
              <a:rPr lang="zh-CN" altLang="zh-CN" sz="2000" dirty="0">
                <a:latin typeface="黑体" pitchFamily="2" charset="-122"/>
                <a:ea typeface="黑体" pitchFamily="2" charset="-122"/>
              </a:rPr>
              <a:t>个或一个逻辑数进行逻辑运算。</a:t>
            </a:r>
            <a:endParaRPr lang="en-US" altLang="zh-CN" sz="2000" dirty="0">
              <a:latin typeface="黑体" pitchFamily="2" charset="-122"/>
              <a:ea typeface="黑体" pitchFamily="2" charset="-122"/>
            </a:endParaRPr>
          </a:p>
          <a:p>
            <a:pPr eaLnBrk="0" hangingPunct="0">
              <a:lnSpc>
                <a:spcPct val="130000"/>
              </a:lnSpc>
            </a:pP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所谓逻辑数,是指不带符号的二进制数。利用逻辑运算可以进行两个数的比较,或者从某个数中选取某几位等操作。</a:t>
            </a:r>
            <a:endParaRPr lang="en-US" altLang="zh-CN" sz="2000" dirty="0">
              <a:latin typeface="黑体" pitchFamily="2" charset="-122"/>
              <a:ea typeface="黑体" pitchFamily="2" charset="-122"/>
            </a:endParaRPr>
          </a:p>
          <a:p>
            <a:pPr eaLnBrk="0" hangingPunct="0">
              <a:lnSpc>
                <a:spcPct val="130000"/>
              </a:lnSpc>
            </a:pP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计算机中的逻辑运算,主要是指逻辑非、逻辑加、逻辑乘、逻辑异四种基本运算。</a:t>
            </a:r>
          </a:p>
          <a:p>
            <a:pPr eaLnBrk="0" hangingPunct="0">
              <a:lnSpc>
                <a:spcPct val="130000"/>
              </a:lnSpc>
            </a:pP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1.逻辑非运算</a:t>
            </a:r>
          </a:p>
          <a:p>
            <a:pPr eaLnBrk="0" hangingPunct="0">
              <a:lnSpc>
                <a:spcPct val="130000"/>
              </a:lnSpc>
            </a:pPr>
            <a:r>
              <a:rPr lang="zh-CN" altLang="zh-CN" sz="2000" dirty="0">
                <a:latin typeface="黑体" pitchFamily="2" charset="-122"/>
                <a:ea typeface="黑体" pitchFamily="2" charset="-122"/>
              </a:rPr>
              <a:t>　　逻辑非也称求反。对某数进行逻辑非运算,就是按位求它的反,常用变量上方加一横来表示。</a:t>
            </a:r>
          </a:p>
          <a:p>
            <a:pPr eaLnBrk="0" hangingPunct="0">
              <a:lnSpc>
                <a:spcPct val="130000"/>
              </a:lnSpc>
            </a:pPr>
            <a:r>
              <a:rPr lang="zh-CN" altLang="zh-CN" sz="2000" dirty="0">
                <a:latin typeface="黑体" pitchFamily="2" charset="-122"/>
                <a:ea typeface="黑体" pitchFamily="2" charset="-122"/>
              </a:rPr>
              <a:t>　　设一个数ｘ表示成：ｘ＝ｘ</a:t>
            </a:r>
            <a:r>
              <a:rPr lang="zh-CN" altLang="zh-CN" sz="2000" baseline="-30000" dirty="0">
                <a:latin typeface="黑体" pitchFamily="2" charset="-122"/>
                <a:ea typeface="黑体" pitchFamily="2" charset="-122"/>
              </a:rPr>
              <a:t>0</a:t>
            </a:r>
            <a:r>
              <a:rPr lang="zh-CN" altLang="zh-CN" sz="2000" dirty="0">
                <a:latin typeface="黑体" pitchFamily="2" charset="-122"/>
                <a:ea typeface="黑体" pitchFamily="2" charset="-122"/>
              </a:rPr>
              <a:t>ｘ</a:t>
            </a:r>
            <a:r>
              <a:rPr lang="zh-CN" altLang="zh-CN" sz="2000" baseline="-30000" dirty="0">
                <a:latin typeface="黑体" pitchFamily="2" charset="-122"/>
                <a:ea typeface="黑体" pitchFamily="2" charset="-122"/>
              </a:rPr>
              <a:t>1</a:t>
            </a:r>
            <a:r>
              <a:rPr lang="zh-CN" altLang="zh-CN" sz="2000" dirty="0">
                <a:latin typeface="黑体" pitchFamily="2" charset="-122"/>
                <a:ea typeface="黑体" pitchFamily="2" charset="-122"/>
              </a:rPr>
              <a:t>ｘ</a:t>
            </a:r>
            <a:r>
              <a:rPr lang="zh-CN" altLang="zh-CN" sz="2000" baseline="-30000" dirty="0">
                <a:latin typeface="黑体" pitchFamily="2" charset="-122"/>
                <a:ea typeface="黑体" pitchFamily="2" charset="-122"/>
              </a:rPr>
              <a:t>2</a:t>
            </a:r>
            <a:r>
              <a:rPr lang="zh-CN" altLang="zh-CN" sz="2000" dirty="0">
                <a:latin typeface="黑体" pitchFamily="2" charset="-122"/>
                <a:ea typeface="黑体" pitchFamily="2" charset="-122"/>
              </a:rPr>
              <a:t>…ｘ</a:t>
            </a:r>
            <a:r>
              <a:rPr lang="zh-CN" altLang="zh-CN" sz="2000" baseline="-30000" dirty="0">
                <a:latin typeface="黑体" pitchFamily="2" charset="-122"/>
                <a:ea typeface="黑体" pitchFamily="2" charset="-122"/>
              </a:rPr>
              <a:t>n</a:t>
            </a:r>
            <a:r>
              <a:rPr lang="en-US" altLang="zh-CN" sz="2000" baseline="-30000" dirty="0">
                <a:latin typeface="黑体" pitchFamily="2" charset="-122"/>
                <a:ea typeface="黑体" pitchFamily="2" charset="-122"/>
              </a:rPr>
              <a:t>  </a:t>
            </a:r>
            <a:r>
              <a:rPr lang="zh-CN" altLang="zh-CN" sz="2000" dirty="0">
                <a:latin typeface="黑体" pitchFamily="2" charset="-122"/>
                <a:ea typeface="黑体" pitchFamily="2" charset="-122"/>
              </a:rPr>
              <a:t>对ｘ求逻辑非</a:t>
            </a:r>
            <a:endParaRPr lang="en-US" altLang="zh-CN" sz="2000" dirty="0">
              <a:latin typeface="黑体" pitchFamily="2" charset="-122"/>
              <a:ea typeface="黑体" pitchFamily="2" charset="-122"/>
            </a:endParaRPr>
          </a:p>
          <a:p>
            <a:pPr eaLnBrk="0" hangingPunct="0">
              <a:lnSpc>
                <a:spcPct val="130000"/>
              </a:lnSpc>
            </a:pP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则有</a:t>
            </a:r>
            <a:r>
              <a:rPr lang="zh-CN" altLang="en-US" sz="2000" dirty="0">
                <a:latin typeface="黑体" pitchFamily="2" charset="-122"/>
                <a:ea typeface="黑体" pitchFamily="2" charset="-122"/>
              </a:rPr>
              <a:t>：</a:t>
            </a:r>
            <a:r>
              <a:rPr lang="zh-CN" altLang="zh-CN" sz="2000" dirty="0">
                <a:latin typeface="黑体" pitchFamily="2" charset="-122"/>
                <a:ea typeface="黑体" pitchFamily="2" charset="-122"/>
              </a:rPr>
              <a:t>ｘ＝ｚ＝ｚ</a:t>
            </a:r>
            <a:r>
              <a:rPr lang="zh-CN" altLang="zh-CN" sz="2000" baseline="-30000" dirty="0">
                <a:latin typeface="黑体" pitchFamily="2" charset="-122"/>
                <a:ea typeface="黑体" pitchFamily="2" charset="-122"/>
              </a:rPr>
              <a:t>0</a:t>
            </a:r>
            <a:r>
              <a:rPr lang="zh-CN" altLang="zh-CN" sz="2000" dirty="0">
                <a:latin typeface="黑体" pitchFamily="2" charset="-122"/>
                <a:ea typeface="黑体" pitchFamily="2" charset="-122"/>
              </a:rPr>
              <a:t>ｚ</a:t>
            </a:r>
            <a:r>
              <a:rPr lang="zh-CN" altLang="zh-CN" sz="2000" baseline="-30000" dirty="0">
                <a:latin typeface="黑体" pitchFamily="2" charset="-122"/>
                <a:ea typeface="黑体" pitchFamily="2" charset="-122"/>
              </a:rPr>
              <a:t>1</a:t>
            </a:r>
            <a:r>
              <a:rPr lang="zh-CN" altLang="zh-CN" sz="2000" dirty="0">
                <a:latin typeface="黑体" pitchFamily="2" charset="-122"/>
                <a:ea typeface="黑体" pitchFamily="2" charset="-122"/>
              </a:rPr>
              <a:t>ｚ</a:t>
            </a:r>
            <a:r>
              <a:rPr lang="zh-CN" altLang="zh-CN" sz="2000" baseline="-30000" dirty="0">
                <a:latin typeface="黑体" pitchFamily="2" charset="-122"/>
                <a:ea typeface="黑体" pitchFamily="2" charset="-122"/>
              </a:rPr>
              <a:t>2</a:t>
            </a:r>
            <a:r>
              <a:rPr lang="zh-CN" altLang="zh-CN" sz="2000" dirty="0">
                <a:latin typeface="黑体" pitchFamily="2" charset="-122"/>
                <a:ea typeface="黑体" pitchFamily="2" charset="-122"/>
              </a:rPr>
              <a:t>…ｚ</a:t>
            </a:r>
            <a:r>
              <a:rPr lang="zh-CN" altLang="zh-CN" sz="2000" baseline="-30000" dirty="0">
                <a:latin typeface="黑体" pitchFamily="2" charset="-122"/>
                <a:ea typeface="黑体" pitchFamily="2" charset="-122"/>
              </a:rPr>
              <a:t>n</a:t>
            </a:r>
            <a:r>
              <a:rPr lang="zh-CN" altLang="en-US" sz="2000" dirty="0">
                <a:latin typeface="黑体" pitchFamily="2" charset="-122"/>
                <a:ea typeface="黑体" pitchFamily="2" charset="-122"/>
              </a:rPr>
              <a:t>、</a:t>
            </a:r>
            <a:r>
              <a:rPr lang="zh-CN" altLang="zh-CN" sz="2000" dirty="0">
                <a:latin typeface="黑体" pitchFamily="2" charset="-122"/>
                <a:ea typeface="黑体" pitchFamily="2" charset="-122"/>
              </a:rPr>
              <a:t>ｚ</a:t>
            </a:r>
            <a:r>
              <a:rPr lang="zh-CN" altLang="zh-CN" sz="2000" baseline="-30000" dirty="0">
                <a:latin typeface="黑体" pitchFamily="2" charset="-122"/>
                <a:ea typeface="黑体" pitchFamily="2" charset="-122"/>
              </a:rPr>
              <a:t>i</a:t>
            </a:r>
            <a:r>
              <a:rPr lang="zh-CN" altLang="zh-CN" sz="2000" dirty="0">
                <a:latin typeface="黑体" pitchFamily="2" charset="-122"/>
                <a:ea typeface="黑体" pitchFamily="2" charset="-122"/>
              </a:rPr>
              <a:t>＝ｘ</a:t>
            </a:r>
            <a:r>
              <a:rPr lang="zh-CN" altLang="zh-CN" sz="2000" baseline="-30000" dirty="0">
                <a:latin typeface="黑体" pitchFamily="2" charset="-122"/>
                <a:ea typeface="黑体" pitchFamily="2" charset="-122"/>
              </a:rPr>
              <a:t>i</a:t>
            </a:r>
            <a:r>
              <a:rPr lang="zh-CN" altLang="zh-CN" sz="2000" dirty="0">
                <a:latin typeface="黑体" pitchFamily="2" charset="-122"/>
                <a:ea typeface="黑体" pitchFamily="2" charset="-122"/>
              </a:rPr>
              <a:t>,(i＝0,1,2,…n)</a:t>
            </a:r>
          </a:p>
          <a:p>
            <a:pPr eaLnBrk="0" hangingPunct="0">
              <a:lnSpc>
                <a:spcPct val="130000"/>
              </a:lnSpc>
            </a:pP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例 ｘ</a:t>
            </a:r>
            <a:r>
              <a:rPr lang="zh-CN" altLang="zh-CN" sz="2000" baseline="-30000" dirty="0">
                <a:latin typeface="黑体" pitchFamily="2" charset="-122"/>
                <a:ea typeface="黑体" pitchFamily="2" charset="-122"/>
              </a:rPr>
              <a:t>1</a:t>
            </a:r>
            <a:r>
              <a:rPr lang="zh-CN" altLang="zh-CN" sz="2000" dirty="0">
                <a:latin typeface="黑体" pitchFamily="2" charset="-122"/>
                <a:ea typeface="黑体" pitchFamily="2" charset="-122"/>
              </a:rPr>
              <a:t>＝01001011,ｘ</a:t>
            </a:r>
            <a:r>
              <a:rPr lang="zh-CN" altLang="zh-CN" sz="2000" baseline="-30000" dirty="0">
                <a:latin typeface="黑体" pitchFamily="2" charset="-122"/>
                <a:ea typeface="黑体" pitchFamily="2" charset="-122"/>
              </a:rPr>
              <a:t>2</a:t>
            </a:r>
            <a:r>
              <a:rPr lang="zh-CN" altLang="zh-CN" sz="2000" dirty="0">
                <a:latin typeface="黑体" pitchFamily="2" charset="-122"/>
                <a:ea typeface="黑体" pitchFamily="2" charset="-122"/>
              </a:rPr>
              <a:t>＝11110000,求ｘ</a:t>
            </a:r>
            <a:r>
              <a:rPr lang="zh-CN" altLang="zh-CN" sz="2000" baseline="-30000" dirty="0">
                <a:latin typeface="黑体" pitchFamily="2" charset="-122"/>
                <a:ea typeface="黑体" pitchFamily="2" charset="-122"/>
              </a:rPr>
              <a:t>1</a:t>
            </a:r>
            <a:r>
              <a:rPr lang="zh-CN" altLang="zh-CN" sz="2000" dirty="0">
                <a:latin typeface="黑体" pitchFamily="2" charset="-122"/>
                <a:ea typeface="黑体" pitchFamily="2" charset="-122"/>
              </a:rPr>
              <a:t> ， ｘ</a:t>
            </a:r>
            <a:r>
              <a:rPr lang="zh-CN" altLang="zh-CN" sz="2000" baseline="-30000" dirty="0">
                <a:latin typeface="黑体" pitchFamily="2" charset="-122"/>
                <a:ea typeface="黑体" pitchFamily="2" charset="-122"/>
              </a:rPr>
              <a:t>2</a:t>
            </a:r>
            <a:endParaRPr lang="zh-CN" altLang="zh-CN" sz="2000" dirty="0">
              <a:latin typeface="黑体" pitchFamily="2" charset="-122"/>
              <a:ea typeface="黑体" pitchFamily="2" charset="-122"/>
            </a:endParaRPr>
          </a:p>
          <a:p>
            <a:pPr eaLnBrk="0" hangingPunct="0">
              <a:lnSpc>
                <a:spcPct val="130000"/>
              </a:lnSpc>
            </a:pP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解:</a:t>
            </a: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ｘ</a:t>
            </a:r>
            <a:r>
              <a:rPr lang="zh-CN" altLang="zh-CN" sz="2000" baseline="-30000" dirty="0">
                <a:latin typeface="黑体" pitchFamily="2" charset="-122"/>
                <a:ea typeface="黑体" pitchFamily="2" charset="-122"/>
              </a:rPr>
              <a:t>1</a:t>
            </a:r>
            <a:r>
              <a:rPr lang="zh-CN" altLang="zh-CN" sz="2000" dirty="0">
                <a:latin typeface="黑体" pitchFamily="2" charset="-122"/>
                <a:ea typeface="黑体" pitchFamily="2" charset="-122"/>
              </a:rPr>
              <a:t>＝10110100 、</a:t>
            </a:r>
            <a:r>
              <a:rPr lang="en-US" altLang="zh-CN" sz="2000" dirty="0">
                <a:latin typeface="黑体" pitchFamily="2" charset="-122"/>
                <a:ea typeface="黑体" pitchFamily="2" charset="-122"/>
              </a:rPr>
              <a:t> </a:t>
            </a:r>
            <a:r>
              <a:rPr lang="zh-CN" altLang="zh-CN" sz="2000" dirty="0">
                <a:latin typeface="黑体" pitchFamily="2" charset="-122"/>
                <a:ea typeface="黑体" pitchFamily="2" charset="-122"/>
              </a:rPr>
              <a:t>ｘ</a:t>
            </a:r>
            <a:r>
              <a:rPr lang="zh-CN" altLang="zh-CN" sz="2000" baseline="-30000" dirty="0">
                <a:latin typeface="黑体" pitchFamily="2" charset="-122"/>
                <a:ea typeface="黑体" pitchFamily="2" charset="-122"/>
              </a:rPr>
              <a:t>2</a:t>
            </a:r>
            <a:r>
              <a:rPr lang="zh-CN" altLang="zh-CN" sz="2000" dirty="0">
                <a:latin typeface="黑体" pitchFamily="2" charset="-122"/>
                <a:ea typeface="黑体" pitchFamily="2" charset="-122"/>
              </a:rPr>
              <a:t>＝00001111</a:t>
            </a:r>
            <a:endParaRPr lang="en-US" altLang="zh-CN" sz="2000" dirty="0">
              <a:latin typeface="黑体" pitchFamily="2" charset="-122"/>
              <a:ea typeface="黑体" pitchFamily="2" charset="-122"/>
            </a:endParaRPr>
          </a:p>
        </p:txBody>
      </p:sp>
      <p:sp>
        <p:nvSpPr>
          <p:cNvPr id="96259" name="AutoShape 2" descr="G:\jzdx\%E8%AE%A1%E7%AE%97%E6%9C%BA%E7%BB%84%E6%88%90%E5%8E%9F%E7%90%86\%E6%95%99%E6%A1%88\%E7%AC%AC%E4%BA%8C%E7%AB%A0\htm\Images\Home07.gif">
            <a:hlinkClick r:id="rId2" action="ppaction://hlinkfile"/>
          </p:cNvPr>
          <p:cNvSpPr>
            <a:spLocks noChangeAspect="1" noChangeArrowheads="1"/>
          </p:cNvSpPr>
          <p:nvPr/>
        </p:nvSpPr>
        <p:spPr bwMode="auto">
          <a:xfrm>
            <a:off x="3297238" y="-741680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cxnSp>
        <p:nvCxnSpPr>
          <p:cNvPr id="96260" name="直接连接符 4"/>
          <p:cNvCxnSpPr>
            <a:cxnSpLocks noChangeShapeType="1"/>
          </p:cNvCxnSpPr>
          <p:nvPr/>
        </p:nvCxnSpPr>
        <p:spPr bwMode="auto">
          <a:xfrm>
            <a:off x="1547813" y="5516563"/>
            <a:ext cx="215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6261" name="直接连接符 6"/>
          <p:cNvCxnSpPr>
            <a:cxnSpLocks noChangeShapeType="1"/>
          </p:cNvCxnSpPr>
          <p:nvPr/>
        </p:nvCxnSpPr>
        <p:spPr bwMode="auto">
          <a:xfrm>
            <a:off x="5003800" y="5516563"/>
            <a:ext cx="14446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6262" name="直接连接符 8"/>
          <p:cNvCxnSpPr>
            <a:cxnSpLocks noChangeShapeType="1"/>
          </p:cNvCxnSpPr>
          <p:nvPr/>
        </p:nvCxnSpPr>
        <p:spPr bwMode="auto">
          <a:xfrm>
            <a:off x="4859338" y="5876925"/>
            <a:ext cx="14446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6263" name="直接连接符 10"/>
          <p:cNvCxnSpPr>
            <a:cxnSpLocks noChangeShapeType="1"/>
          </p:cNvCxnSpPr>
          <p:nvPr/>
        </p:nvCxnSpPr>
        <p:spPr bwMode="auto">
          <a:xfrm>
            <a:off x="5724525" y="5876925"/>
            <a:ext cx="215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6264" name="直接连接符 12"/>
          <p:cNvCxnSpPr>
            <a:cxnSpLocks noChangeShapeType="1"/>
          </p:cNvCxnSpPr>
          <p:nvPr/>
        </p:nvCxnSpPr>
        <p:spPr bwMode="auto">
          <a:xfrm>
            <a:off x="1331913" y="6308725"/>
            <a:ext cx="14446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6265" name="直接连接符 14"/>
          <p:cNvCxnSpPr>
            <a:cxnSpLocks noChangeShapeType="1"/>
          </p:cNvCxnSpPr>
          <p:nvPr/>
        </p:nvCxnSpPr>
        <p:spPr bwMode="auto">
          <a:xfrm>
            <a:off x="3419475" y="6308725"/>
            <a:ext cx="14446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
          <p:cNvSpPr>
            <a:spLocks noChangeArrowheads="1"/>
          </p:cNvSpPr>
          <p:nvPr/>
        </p:nvSpPr>
        <p:spPr bwMode="auto">
          <a:xfrm>
            <a:off x="225425" y="404813"/>
            <a:ext cx="7626350"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2.逻辑加运算</a:t>
            </a:r>
          </a:p>
          <a:p>
            <a:pPr eaLnBrk="0" hangingPunct="0">
              <a:lnSpc>
                <a:spcPct val="150000"/>
              </a:lnSpc>
            </a:pPr>
            <a:r>
              <a:rPr lang="zh-CN" altLang="zh-CN" sz="2000">
                <a:latin typeface="黑体" pitchFamily="2" charset="-122"/>
                <a:ea typeface="黑体" pitchFamily="2" charset="-122"/>
              </a:rPr>
              <a:t>　　对两个数进行逻辑加,就是按位求它们的“或”,所以逻辑加又</a:t>
            </a:r>
          </a:p>
          <a:p>
            <a:pPr eaLnBrk="0" hangingPunct="0">
              <a:lnSpc>
                <a:spcPct val="150000"/>
              </a:lnSpc>
            </a:pPr>
            <a:r>
              <a:rPr lang="zh-CN" altLang="zh-CN" sz="2000">
                <a:latin typeface="黑体" pitchFamily="2" charset="-122"/>
                <a:ea typeface="黑体" pitchFamily="2" charset="-122"/>
              </a:rPr>
              <a:t>称逻辑或,常用记号“＋”来表示。</a:t>
            </a:r>
          </a:p>
          <a:p>
            <a:pPr eaLnBrk="0" hangingPunct="0">
              <a:lnSpc>
                <a:spcPct val="150000"/>
              </a:lnSpc>
            </a:pPr>
            <a:r>
              <a:rPr lang="zh-CN" altLang="zh-CN" sz="2000">
                <a:latin typeface="黑体" pitchFamily="2" charset="-122"/>
                <a:ea typeface="黑体" pitchFamily="2" charset="-122"/>
              </a:rPr>
              <a:t>　　设有两数 ,它们表示为ｘ＝ｘ</a:t>
            </a:r>
            <a:r>
              <a:rPr lang="zh-CN" altLang="zh-CN" sz="2000" baseline="-30000">
                <a:latin typeface="黑体" pitchFamily="2" charset="-122"/>
                <a:ea typeface="黑体" pitchFamily="2" charset="-122"/>
              </a:rPr>
              <a:t>0</a:t>
            </a:r>
            <a:r>
              <a:rPr lang="zh-CN" altLang="zh-CN" sz="2000">
                <a:latin typeface="黑体" pitchFamily="2" charset="-122"/>
                <a:ea typeface="黑体" pitchFamily="2" charset="-122"/>
              </a:rPr>
              <a:t>ｘ</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…ｘ</a:t>
            </a:r>
            <a:r>
              <a:rPr lang="zh-CN" altLang="zh-CN" sz="2000" baseline="-30000">
                <a:latin typeface="黑体" pitchFamily="2" charset="-122"/>
                <a:ea typeface="黑体" pitchFamily="2" charset="-122"/>
              </a:rPr>
              <a:t>n</a:t>
            </a:r>
            <a:r>
              <a:rPr lang="en-US" altLang="zh-CN" sz="2000" baseline="-30000">
                <a:latin typeface="黑体" pitchFamily="2" charset="-122"/>
                <a:ea typeface="黑体" pitchFamily="2" charset="-122"/>
              </a:rPr>
              <a:t> </a:t>
            </a:r>
            <a:r>
              <a:rPr lang="zh-CN" altLang="en-US" sz="2000" baseline="-30000">
                <a:latin typeface="黑体" pitchFamily="2" charset="-122"/>
                <a:ea typeface="黑体" pitchFamily="2" charset="-122"/>
              </a:rPr>
              <a:t>、</a:t>
            </a:r>
            <a:r>
              <a:rPr lang="zh-CN" altLang="zh-CN" sz="2000">
                <a:latin typeface="黑体" pitchFamily="2" charset="-122"/>
                <a:ea typeface="黑体" pitchFamily="2" charset="-122"/>
              </a:rPr>
              <a:t>ｙ＝ｙ</a:t>
            </a:r>
            <a:r>
              <a:rPr lang="zh-CN" altLang="zh-CN" sz="2000" baseline="-30000">
                <a:latin typeface="黑体" pitchFamily="2" charset="-122"/>
                <a:ea typeface="黑体" pitchFamily="2" charset="-122"/>
              </a:rPr>
              <a:t>0</a:t>
            </a:r>
            <a:r>
              <a:rPr lang="zh-CN" altLang="zh-CN" sz="2000">
                <a:latin typeface="黑体" pitchFamily="2" charset="-122"/>
                <a:ea typeface="黑体" pitchFamily="2" charset="-122"/>
              </a:rPr>
              <a:t>ｙ</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…ｙ</a:t>
            </a:r>
            <a:r>
              <a:rPr lang="zh-CN" altLang="zh-CN" sz="2000" baseline="-30000">
                <a:latin typeface="黑体" pitchFamily="2" charset="-122"/>
                <a:ea typeface="黑体" pitchFamily="2" charset="-122"/>
              </a:rPr>
              <a:t>n</a:t>
            </a:r>
            <a:endParaRPr lang="zh-CN"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　　若 ｘ+ｙ＝ｚ＝ｚ</a:t>
            </a:r>
            <a:r>
              <a:rPr lang="zh-CN" altLang="zh-CN" sz="2000" baseline="-30000">
                <a:latin typeface="黑体" pitchFamily="2" charset="-122"/>
                <a:ea typeface="黑体" pitchFamily="2" charset="-122"/>
              </a:rPr>
              <a:t>0</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2</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n</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则</a:t>
            </a:r>
            <a:r>
              <a:rPr lang="en-US" altLang="zh-CN" sz="2000">
                <a:latin typeface="黑体" pitchFamily="2" charset="-122"/>
                <a:ea typeface="黑体" pitchFamily="2" charset="-122"/>
              </a:rPr>
              <a:t> </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i</a:t>
            </a:r>
            <a:r>
              <a:rPr lang="zh-CN" altLang="zh-CN" sz="2000">
                <a:latin typeface="黑体" pitchFamily="2" charset="-122"/>
                <a:ea typeface="黑体" pitchFamily="2" charset="-122"/>
              </a:rPr>
              <a:t>＝ｘ</a:t>
            </a:r>
            <a:r>
              <a:rPr lang="zh-CN" altLang="zh-CN" sz="2000" baseline="-30000">
                <a:latin typeface="黑体" pitchFamily="2" charset="-122"/>
                <a:ea typeface="黑体" pitchFamily="2" charset="-122"/>
              </a:rPr>
              <a:t>i</a:t>
            </a:r>
            <a:r>
              <a:rPr lang="zh-CN" altLang="zh-CN" sz="2000">
                <a:latin typeface="黑体" pitchFamily="2" charset="-122"/>
                <a:ea typeface="黑体" pitchFamily="2" charset="-122"/>
              </a:rPr>
              <a:t>+ｙ</a:t>
            </a:r>
            <a:r>
              <a:rPr lang="zh-CN" altLang="zh-CN" sz="2000" baseline="-30000">
                <a:latin typeface="黑体" pitchFamily="2" charset="-122"/>
                <a:ea typeface="黑体" pitchFamily="2" charset="-122"/>
              </a:rPr>
              <a:t>i</a:t>
            </a:r>
            <a:r>
              <a:rPr lang="zh-CN" altLang="zh-CN" sz="2000">
                <a:latin typeface="黑体" pitchFamily="2" charset="-122"/>
                <a:ea typeface="黑体" pitchFamily="2" charset="-122"/>
              </a:rPr>
              <a:t>,　(i＝0,1,2,…,n)</a:t>
            </a: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例</a:t>
            </a:r>
            <a:r>
              <a:rPr lang="zh-CN" altLang="en-US" sz="2000">
                <a:latin typeface="黑体" pitchFamily="2" charset="-122"/>
                <a:ea typeface="黑体" pitchFamily="2" charset="-122"/>
              </a:rPr>
              <a:t>：</a:t>
            </a:r>
            <a:r>
              <a:rPr lang="zh-CN" altLang="zh-CN" sz="2000">
                <a:latin typeface="黑体" pitchFamily="2" charset="-122"/>
                <a:ea typeface="黑体" pitchFamily="2" charset="-122"/>
              </a:rPr>
              <a:t>ｘ＝10100001,ｙ＝10011011, 求ｘ+ｙ。</a:t>
            </a: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解:　　　　　1 0 1 0 0 0 0 1 ｘ</a:t>
            </a:r>
            <a:br>
              <a:rPr lang="zh-CN" altLang="zh-CN" sz="2000">
                <a:latin typeface="黑体" pitchFamily="2" charset="-122"/>
                <a:ea typeface="黑体" pitchFamily="2" charset="-122"/>
              </a:rPr>
            </a:br>
            <a:r>
              <a:rPr lang="zh-CN" altLang="zh-CN" sz="2000">
                <a:latin typeface="黑体" pitchFamily="2" charset="-122"/>
                <a:ea typeface="黑体" pitchFamily="2" charset="-122"/>
              </a:rPr>
              <a:t>　　　　　</a:t>
            </a:r>
            <a:r>
              <a:rPr lang="en-US" altLang="zh-CN" sz="2000">
                <a:latin typeface="黑体" pitchFamily="2" charset="-122"/>
                <a:ea typeface="黑体" pitchFamily="2" charset="-122"/>
              </a:rPr>
              <a:t> </a:t>
            </a:r>
            <a:r>
              <a:rPr lang="zh-CN" altLang="zh-CN" sz="2000">
                <a:latin typeface="黑体" pitchFamily="2" charset="-122"/>
                <a:ea typeface="黑体" pitchFamily="2" charset="-122"/>
              </a:rPr>
              <a:t>　　　</a:t>
            </a:r>
            <a:r>
              <a:rPr lang="zh-CN" altLang="zh-CN" sz="2000" u="sng">
                <a:latin typeface="黑体" pitchFamily="2" charset="-122"/>
                <a:ea typeface="黑体" pitchFamily="2" charset="-122"/>
              </a:rPr>
              <a:t>+ 　1 0 0 1 1 0 1 1 ｙ</a:t>
            </a:r>
            <a:br>
              <a:rPr lang="zh-CN" altLang="zh-CN" sz="2000" u="sng">
                <a:latin typeface="黑体" pitchFamily="2" charset="-122"/>
                <a:ea typeface="黑体" pitchFamily="2" charset="-122"/>
              </a:rPr>
            </a:br>
            <a:r>
              <a:rPr lang="zh-CN" altLang="zh-CN" sz="2000">
                <a:latin typeface="黑体" pitchFamily="2" charset="-122"/>
                <a:ea typeface="黑体" pitchFamily="2" charset="-122"/>
              </a:rPr>
              <a:t>　　　　　</a:t>
            </a:r>
            <a:r>
              <a:rPr lang="en-US" altLang="zh-CN" sz="2000">
                <a:latin typeface="黑体" pitchFamily="2" charset="-122"/>
                <a:ea typeface="黑体" pitchFamily="2" charset="-122"/>
              </a:rPr>
              <a:t> </a:t>
            </a:r>
            <a:r>
              <a:rPr lang="zh-CN" altLang="zh-CN" sz="2000">
                <a:latin typeface="黑体" pitchFamily="2" charset="-122"/>
                <a:ea typeface="黑体" pitchFamily="2" charset="-122"/>
              </a:rPr>
              <a:t>　　　　　1 0 1 1 1 0 1 1 ｚ</a:t>
            </a:r>
          </a:p>
          <a:p>
            <a:pPr eaLnBrk="0" hangingPunct="0">
              <a:lnSpc>
                <a:spcPct val="150000"/>
              </a:lnSpc>
            </a:pPr>
            <a:r>
              <a:rPr lang="zh-CN" altLang="zh-CN" sz="2000">
                <a:latin typeface="黑体" pitchFamily="2" charset="-122"/>
                <a:ea typeface="黑体" pitchFamily="2" charset="-122"/>
              </a:rPr>
              <a:t>　　　</a:t>
            </a:r>
            <a:r>
              <a:rPr lang="en-US" altLang="zh-CN" sz="2000">
                <a:latin typeface="黑体" pitchFamily="2" charset="-122"/>
                <a:ea typeface="黑体" pitchFamily="2" charset="-122"/>
              </a:rPr>
              <a:t>      </a:t>
            </a:r>
            <a:r>
              <a:rPr lang="zh-CN" altLang="zh-CN" sz="2000">
                <a:latin typeface="黑体" pitchFamily="2" charset="-122"/>
                <a:ea typeface="黑体" pitchFamily="2" charset="-122"/>
              </a:rPr>
              <a:t>即</a:t>
            </a:r>
            <a:r>
              <a:rPr lang="en-US" altLang="zh-CN" sz="2000">
                <a:latin typeface="黑体" pitchFamily="2" charset="-122"/>
                <a:ea typeface="黑体" pitchFamily="2" charset="-122"/>
              </a:rPr>
              <a:t> </a:t>
            </a:r>
            <a:r>
              <a:rPr lang="zh-CN" altLang="zh-CN" sz="2000">
                <a:latin typeface="黑体" pitchFamily="2" charset="-122"/>
                <a:ea typeface="黑体" pitchFamily="2" charset="-122"/>
              </a:rPr>
              <a:t>ｘ+ｙ ＝ 10111011</a:t>
            </a:r>
            <a:endParaRPr lang="en-US" altLang="zh-CN" sz="200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矩形 2"/>
          <p:cNvSpPr>
            <a:spLocks noChangeArrowheads="1"/>
          </p:cNvSpPr>
          <p:nvPr/>
        </p:nvSpPr>
        <p:spPr bwMode="auto">
          <a:xfrm>
            <a:off x="539750" y="474663"/>
            <a:ext cx="7345363" cy="609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latin typeface="黑体" pitchFamily="2" charset="-122"/>
                <a:ea typeface="黑体" pitchFamily="2" charset="-122"/>
              </a:rPr>
              <a:t>    </a:t>
            </a:r>
            <a:r>
              <a:rPr lang="zh-CN" altLang="zh-CN" sz="2000">
                <a:latin typeface="黑体" pitchFamily="2" charset="-122"/>
                <a:ea typeface="黑体" pitchFamily="2" charset="-122"/>
              </a:rPr>
              <a:t>3.逻辑乘运算</a:t>
            </a:r>
          </a:p>
          <a:p>
            <a:pPr eaLnBrk="0" hangingPunct="0">
              <a:lnSpc>
                <a:spcPct val="150000"/>
              </a:lnSpc>
            </a:pPr>
            <a:r>
              <a:rPr lang="zh-CN" altLang="zh-CN" sz="2000">
                <a:latin typeface="黑体" pitchFamily="2" charset="-122"/>
                <a:ea typeface="黑体" pitchFamily="2" charset="-122"/>
              </a:rPr>
              <a:t>　　对两数进行逻辑乘,就是按位求它们的“与”,所以逻辑乘又称“逻辑与”,常用记号“·”来表示。</a:t>
            </a:r>
          </a:p>
          <a:p>
            <a:pPr eaLnBrk="0" hangingPunct="0">
              <a:lnSpc>
                <a:spcPct val="150000"/>
              </a:lnSpc>
            </a:pPr>
            <a:r>
              <a:rPr lang="zh-CN" altLang="zh-CN" sz="2000">
                <a:latin typeface="黑体" pitchFamily="2" charset="-122"/>
                <a:ea typeface="黑体" pitchFamily="2" charset="-122"/>
              </a:rPr>
              <a:t>　　设有两数ｘ和ｙ,它们表示为ｘ＝ｘ</a:t>
            </a:r>
            <a:r>
              <a:rPr lang="zh-CN" altLang="zh-CN" sz="2000" baseline="-30000">
                <a:latin typeface="黑体" pitchFamily="2" charset="-122"/>
                <a:ea typeface="黑体" pitchFamily="2" charset="-122"/>
              </a:rPr>
              <a:t>0</a:t>
            </a:r>
            <a:r>
              <a:rPr lang="zh-CN" altLang="zh-CN" sz="2000">
                <a:latin typeface="黑体" pitchFamily="2" charset="-122"/>
                <a:ea typeface="黑体" pitchFamily="2" charset="-122"/>
              </a:rPr>
              <a:t>ｘ</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…ｘ</a:t>
            </a:r>
            <a:r>
              <a:rPr lang="zh-CN" altLang="zh-CN" sz="2000" baseline="-30000">
                <a:latin typeface="黑体" pitchFamily="2" charset="-122"/>
                <a:ea typeface="黑体" pitchFamily="2" charset="-122"/>
              </a:rPr>
              <a:t>n</a:t>
            </a:r>
            <a:r>
              <a:rPr lang="en-US" altLang="zh-CN" sz="2000" baseline="-30000">
                <a:latin typeface="黑体" pitchFamily="2" charset="-122"/>
                <a:ea typeface="黑体" pitchFamily="2" charset="-122"/>
              </a:rPr>
              <a:t> </a:t>
            </a:r>
            <a:r>
              <a:rPr lang="zh-CN" altLang="en-US" sz="2000" baseline="-30000">
                <a:latin typeface="黑体" pitchFamily="2" charset="-122"/>
                <a:ea typeface="黑体" pitchFamily="2" charset="-122"/>
              </a:rPr>
              <a:t>、</a:t>
            </a:r>
            <a:r>
              <a:rPr lang="zh-CN" altLang="zh-CN" sz="2000">
                <a:latin typeface="黑体" pitchFamily="2" charset="-122"/>
                <a:ea typeface="黑体" pitchFamily="2" charset="-122"/>
              </a:rPr>
              <a:t>ｙ＝ｙ</a:t>
            </a:r>
            <a:r>
              <a:rPr lang="zh-CN" altLang="zh-CN" sz="2000" baseline="-30000">
                <a:latin typeface="黑体" pitchFamily="2" charset="-122"/>
                <a:ea typeface="黑体" pitchFamily="2" charset="-122"/>
              </a:rPr>
              <a:t>0</a:t>
            </a:r>
            <a:r>
              <a:rPr lang="zh-CN" altLang="zh-CN" sz="2000">
                <a:latin typeface="黑体" pitchFamily="2" charset="-122"/>
                <a:ea typeface="黑体" pitchFamily="2" charset="-122"/>
              </a:rPr>
              <a:t>ｙ</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…ｙ</a:t>
            </a:r>
            <a:r>
              <a:rPr lang="zh-CN" altLang="zh-CN" sz="2000" baseline="-30000">
                <a:latin typeface="黑体" pitchFamily="2" charset="-122"/>
                <a:ea typeface="黑体" pitchFamily="2" charset="-122"/>
              </a:rPr>
              <a:t>n</a:t>
            </a:r>
            <a:endParaRPr lang="zh-CN"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　　若</a:t>
            </a:r>
            <a:r>
              <a:rPr lang="en-US" altLang="zh-CN" sz="2000">
                <a:latin typeface="黑体" pitchFamily="2" charset="-122"/>
                <a:ea typeface="黑体" pitchFamily="2" charset="-122"/>
              </a:rPr>
              <a:t> </a:t>
            </a:r>
            <a:r>
              <a:rPr lang="zh-CN" altLang="zh-CN" sz="2000">
                <a:latin typeface="黑体" pitchFamily="2" charset="-122"/>
                <a:ea typeface="黑体" pitchFamily="2" charset="-122"/>
              </a:rPr>
              <a:t>ｘ·ｙ＝ｚ＝ｚ</a:t>
            </a:r>
            <a:r>
              <a:rPr lang="zh-CN" altLang="zh-CN" sz="2000" baseline="-30000">
                <a:latin typeface="黑体" pitchFamily="2" charset="-122"/>
                <a:ea typeface="黑体" pitchFamily="2" charset="-122"/>
              </a:rPr>
              <a:t>0</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2</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n</a:t>
            </a:r>
            <a:r>
              <a:rPr lang="zh-CN" altLang="zh-CN" sz="2000">
                <a:latin typeface="黑体" pitchFamily="2" charset="-122"/>
                <a:ea typeface="黑体" pitchFamily="2" charset="-122"/>
              </a:rPr>
              <a:t/>
            </a:r>
            <a:br>
              <a:rPr lang="zh-CN" altLang="zh-CN" sz="2000">
                <a:latin typeface="黑体" pitchFamily="2" charset="-122"/>
                <a:ea typeface="黑体" pitchFamily="2" charset="-122"/>
              </a:rPr>
            </a:br>
            <a:r>
              <a:rPr lang="zh-CN" altLang="zh-CN" sz="2000">
                <a:latin typeface="黑体" pitchFamily="2" charset="-122"/>
                <a:ea typeface="黑体" pitchFamily="2" charset="-122"/>
              </a:rPr>
              <a:t>　　则</a:t>
            </a:r>
            <a:r>
              <a:rPr lang="en-US" altLang="zh-CN" sz="2000">
                <a:latin typeface="黑体" pitchFamily="2" charset="-122"/>
                <a:ea typeface="黑体" pitchFamily="2" charset="-122"/>
              </a:rPr>
              <a:t> </a:t>
            </a:r>
            <a:r>
              <a:rPr lang="zh-CN" altLang="zh-CN" sz="2000">
                <a:latin typeface="黑体" pitchFamily="2" charset="-122"/>
                <a:ea typeface="黑体" pitchFamily="2" charset="-122"/>
              </a:rPr>
              <a:t>ｚ</a:t>
            </a:r>
            <a:r>
              <a:rPr lang="zh-CN" altLang="zh-CN" sz="2000" baseline="-30000">
                <a:latin typeface="黑体" pitchFamily="2" charset="-122"/>
                <a:ea typeface="黑体" pitchFamily="2" charset="-122"/>
              </a:rPr>
              <a:t>i</a:t>
            </a:r>
            <a:r>
              <a:rPr lang="zh-CN" altLang="zh-CN" sz="2000">
                <a:latin typeface="黑体" pitchFamily="2" charset="-122"/>
                <a:ea typeface="黑体" pitchFamily="2" charset="-122"/>
              </a:rPr>
              <a:t>＝ｘ</a:t>
            </a:r>
            <a:r>
              <a:rPr lang="zh-CN" altLang="zh-CN" sz="2000" baseline="-30000">
                <a:latin typeface="黑体" pitchFamily="2" charset="-122"/>
                <a:ea typeface="黑体" pitchFamily="2" charset="-122"/>
              </a:rPr>
              <a:t>i</a:t>
            </a:r>
            <a:r>
              <a:rPr lang="zh-CN" altLang="zh-CN" sz="2000">
                <a:latin typeface="黑体" pitchFamily="2" charset="-122"/>
                <a:ea typeface="黑体" pitchFamily="2" charset="-122"/>
              </a:rPr>
              <a:t>·ｙ</a:t>
            </a:r>
            <a:r>
              <a:rPr lang="zh-CN" altLang="zh-CN" sz="2000" baseline="-30000">
                <a:latin typeface="黑体" pitchFamily="2" charset="-122"/>
                <a:ea typeface="黑体" pitchFamily="2" charset="-122"/>
              </a:rPr>
              <a:t>i</a:t>
            </a:r>
            <a:r>
              <a:rPr lang="zh-CN" altLang="zh-CN" sz="2000">
                <a:latin typeface="黑体" pitchFamily="2" charset="-122"/>
                <a:ea typeface="黑体" pitchFamily="2" charset="-122"/>
              </a:rPr>
              <a:t>,　　(i＝0,1,2,…,n)</a:t>
            </a: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例</a:t>
            </a:r>
            <a:r>
              <a:rPr lang="zh-CN" altLang="en-US" sz="2000">
                <a:latin typeface="黑体" pitchFamily="2" charset="-122"/>
                <a:ea typeface="黑体" pitchFamily="2" charset="-122"/>
              </a:rPr>
              <a:t>：</a:t>
            </a:r>
            <a:r>
              <a:rPr lang="zh-CN" altLang="zh-CN" sz="2000">
                <a:latin typeface="黑体" pitchFamily="2" charset="-122"/>
                <a:ea typeface="黑体" pitchFamily="2" charset="-122"/>
              </a:rPr>
              <a:t> ｘ＝10111001,ｙ＝11110011,求</a:t>
            </a:r>
            <a:r>
              <a:rPr lang="zh-CN" altLang="en-US" sz="2000">
                <a:latin typeface="黑体" pitchFamily="2" charset="-122"/>
                <a:ea typeface="黑体" pitchFamily="2" charset="-122"/>
              </a:rPr>
              <a:t>ｘ</a:t>
            </a:r>
            <a:r>
              <a:rPr lang="en-US" altLang="zh-CN" sz="2000">
                <a:latin typeface="黑体" pitchFamily="2" charset="-122"/>
                <a:ea typeface="黑体" pitchFamily="2" charset="-122"/>
              </a:rPr>
              <a:t>·</a:t>
            </a:r>
            <a:r>
              <a:rPr lang="zh-CN" altLang="en-US" sz="2000">
                <a:latin typeface="黑体" pitchFamily="2" charset="-122"/>
                <a:ea typeface="黑体" pitchFamily="2" charset="-122"/>
              </a:rPr>
              <a:t>ｙ。</a:t>
            </a:r>
          </a:p>
          <a:p>
            <a:pPr eaLnBrk="0" hangingPunct="0">
              <a:lnSpc>
                <a:spcPct val="15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解</a:t>
            </a:r>
            <a:r>
              <a:rPr lang="en-US" altLang="zh-CN" sz="2000">
                <a:latin typeface="黑体" pitchFamily="2" charset="-122"/>
                <a:ea typeface="黑体" pitchFamily="2" charset="-122"/>
              </a:rPr>
              <a:t>:</a:t>
            </a:r>
          </a:p>
          <a:p>
            <a:pPr eaLnBrk="0" hangingPunct="0">
              <a:lnSpc>
                <a:spcPct val="150000"/>
              </a:lnSpc>
            </a:pPr>
            <a:r>
              <a:rPr lang="zh-CN" altLang="en-US" sz="2000">
                <a:latin typeface="黑体" pitchFamily="2" charset="-122"/>
                <a:ea typeface="黑体" pitchFamily="2" charset="-122"/>
              </a:rPr>
              <a:t>　　　　　　　　　　　</a:t>
            </a:r>
            <a:r>
              <a:rPr lang="en-US" altLang="zh-CN" sz="2000">
                <a:latin typeface="黑体" pitchFamily="2" charset="-122"/>
                <a:ea typeface="黑体" pitchFamily="2" charset="-122"/>
              </a:rPr>
              <a:t>1 0 1 1 1 0 0 1 </a:t>
            </a:r>
            <a:r>
              <a:rPr lang="zh-CN" altLang="en-US" sz="2000">
                <a:latin typeface="黑体" pitchFamily="2" charset="-122"/>
                <a:ea typeface="黑体" pitchFamily="2" charset="-122"/>
              </a:rPr>
              <a:t>ｘ</a:t>
            </a:r>
            <a:br>
              <a:rPr lang="zh-CN" altLang="en-US" sz="2000">
                <a:latin typeface="黑体" pitchFamily="2" charset="-122"/>
                <a:ea typeface="黑体" pitchFamily="2" charset="-122"/>
              </a:rPr>
            </a:br>
            <a:r>
              <a:rPr lang="zh-CN" altLang="en-US" sz="2000">
                <a:latin typeface="黑体" pitchFamily="2" charset="-122"/>
                <a:ea typeface="黑体" pitchFamily="2" charset="-122"/>
              </a:rPr>
              <a:t>　　　　　　　　　</a:t>
            </a:r>
            <a:r>
              <a:rPr lang="en-US" altLang="zh-CN" sz="2000">
                <a:latin typeface="黑体" pitchFamily="2" charset="-122"/>
                <a:ea typeface="黑体" pitchFamily="2" charset="-122"/>
              </a:rPr>
              <a:t>·</a:t>
            </a:r>
            <a:r>
              <a:rPr lang="zh-CN" altLang="en-US" sz="2000" u="sng">
                <a:latin typeface="黑体" pitchFamily="2" charset="-122"/>
                <a:ea typeface="黑体" pitchFamily="2" charset="-122"/>
              </a:rPr>
              <a:t>　</a:t>
            </a:r>
            <a:r>
              <a:rPr lang="en-US" altLang="zh-CN" sz="2000" u="sng">
                <a:latin typeface="黑体" pitchFamily="2" charset="-122"/>
                <a:ea typeface="黑体" pitchFamily="2" charset="-122"/>
              </a:rPr>
              <a:t>1 1 1 1 0 0 1 1 </a:t>
            </a:r>
            <a:r>
              <a:rPr lang="zh-CN" altLang="en-US" sz="2000" u="sng">
                <a:latin typeface="黑体" pitchFamily="2" charset="-122"/>
                <a:ea typeface="黑体" pitchFamily="2" charset="-122"/>
              </a:rPr>
              <a:t>ｙ</a:t>
            </a:r>
            <a:br>
              <a:rPr lang="zh-CN" altLang="en-US" sz="2000" u="sng">
                <a:latin typeface="黑体" pitchFamily="2" charset="-122"/>
                <a:ea typeface="黑体" pitchFamily="2" charset="-122"/>
              </a:rPr>
            </a:br>
            <a:r>
              <a:rPr lang="zh-CN" altLang="en-US" sz="2000">
                <a:latin typeface="黑体" pitchFamily="2" charset="-122"/>
                <a:ea typeface="黑体" pitchFamily="2" charset="-122"/>
              </a:rPr>
              <a:t>　　　　　　　　　　　</a:t>
            </a:r>
            <a:r>
              <a:rPr lang="en-US" altLang="zh-CN" sz="2000">
                <a:latin typeface="黑体" pitchFamily="2" charset="-122"/>
                <a:ea typeface="黑体" pitchFamily="2" charset="-122"/>
              </a:rPr>
              <a:t>1 0 1 1 0 0 0 1 </a:t>
            </a:r>
            <a:r>
              <a:rPr lang="zh-CN" altLang="en-US" sz="2000">
                <a:latin typeface="黑体" pitchFamily="2" charset="-122"/>
                <a:ea typeface="黑体" pitchFamily="2" charset="-122"/>
              </a:rPr>
              <a:t>ｚ</a:t>
            </a:r>
          </a:p>
          <a:p>
            <a:pPr eaLnBrk="0" hangingPunct="0">
              <a:lnSpc>
                <a:spcPct val="150000"/>
              </a:lnSpc>
            </a:pPr>
            <a:r>
              <a:rPr lang="zh-CN" altLang="en-US" sz="2000">
                <a:latin typeface="黑体" pitchFamily="2" charset="-122"/>
                <a:ea typeface="黑体" pitchFamily="2" charset="-122"/>
              </a:rPr>
              <a:t>　　　即　　　　　　ｘ</a:t>
            </a:r>
            <a:r>
              <a:rPr lang="en-US" altLang="zh-CN" sz="2000">
                <a:latin typeface="黑体" pitchFamily="2" charset="-122"/>
                <a:ea typeface="黑体" pitchFamily="2" charset="-122"/>
              </a:rPr>
              <a:t>·</a:t>
            </a:r>
            <a:r>
              <a:rPr lang="zh-CN" altLang="en-US" sz="2000">
                <a:latin typeface="黑体" pitchFamily="2" charset="-122"/>
                <a:ea typeface="黑体" pitchFamily="2" charset="-122"/>
              </a:rPr>
              <a:t>ｙ ＝ </a:t>
            </a:r>
            <a:r>
              <a:rPr lang="en-US" altLang="zh-CN" sz="2000">
                <a:latin typeface="黑体" pitchFamily="2" charset="-122"/>
                <a:ea typeface="黑体" pitchFamily="2" charset="-122"/>
              </a:rPr>
              <a:t>10110001</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矩形 1"/>
          <p:cNvSpPr>
            <a:spLocks noChangeArrowheads="1"/>
          </p:cNvSpPr>
          <p:nvPr/>
        </p:nvSpPr>
        <p:spPr bwMode="auto">
          <a:xfrm>
            <a:off x="390525" y="115888"/>
            <a:ext cx="7350125" cy="591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endParaRPr lang="en-US" altLang="zh-CN" i="1">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4.</a:t>
            </a:r>
            <a:r>
              <a:rPr lang="zh-CN" altLang="en-US" sz="2000">
                <a:latin typeface="黑体" pitchFamily="2" charset="-122"/>
                <a:ea typeface="黑体" pitchFamily="2" charset="-122"/>
              </a:rPr>
              <a:t>逻辑异运算</a:t>
            </a:r>
          </a:p>
          <a:p>
            <a:pPr eaLnBrk="0" hangingPunct="0">
              <a:lnSpc>
                <a:spcPct val="150000"/>
              </a:lnSpc>
            </a:pPr>
            <a:r>
              <a:rPr lang="zh-CN" altLang="en-US" sz="2000">
                <a:latin typeface="黑体" pitchFamily="2" charset="-122"/>
                <a:ea typeface="黑体" pitchFamily="2" charset="-122"/>
              </a:rPr>
              <a:t>　　对两数进行异就是按位求它们的模</a:t>
            </a:r>
            <a:r>
              <a:rPr lang="en-US" altLang="zh-CN" sz="2000">
                <a:latin typeface="黑体" pitchFamily="2" charset="-122"/>
                <a:ea typeface="黑体" pitchFamily="2" charset="-122"/>
              </a:rPr>
              <a:t>2</a:t>
            </a:r>
            <a:r>
              <a:rPr lang="zh-CN" altLang="en-US" sz="2000">
                <a:latin typeface="黑体" pitchFamily="2" charset="-122"/>
                <a:ea typeface="黑体" pitchFamily="2" charset="-122"/>
              </a:rPr>
              <a:t>和</a:t>
            </a:r>
            <a:r>
              <a:rPr lang="en-US" altLang="zh-CN" sz="2000">
                <a:latin typeface="黑体" pitchFamily="2" charset="-122"/>
                <a:ea typeface="黑体" pitchFamily="2" charset="-122"/>
              </a:rPr>
              <a:t>,</a:t>
            </a:r>
            <a:r>
              <a:rPr lang="zh-CN" altLang="en-US" sz="2000">
                <a:latin typeface="黑体" pitchFamily="2" charset="-122"/>
                <a:ea typeface="黑体" pitchFamily="2" charset="-122"/>
              </a:rPr>
              <a:t>所以逻辑异又称“按位加”</a:t>
            </a:r>
            <a:r>
              <a:rPr lang="en-US" altLang="zh-CN" sz="2000">
                <a:latin typeface="黑体" pitchFamily="2" charset="-122"/>
                <a:ea typeface="黑体" pitchFamily="2" charset="-122"/>
              </a:rPr>
              <a:t>,</a:t>
            </a:r>
            <a:r>
              <a:rPr lang="zh-CN" altLang="en-US" sz="2000">
                <a:latin typeface="黑体" pitchFamily="2" charset="-122"/>
                <a:ea typeface="黑体" pitchFamily="2" charset="-122"/>
              </a:rPr>
              <a:t>常用记号“⊕”表示。 </a:t>
            </a:r>
            <a:br>
              <a:rPr lang="zh-CN" altLang="en-US" sz="2000">
                <a:latin typeface="黑体" pitchFamily="2" charset="-122"/>
                <a:ea typeface="黑体" pitchFamily="2" charset="-122"/>
              </a:rPr>
            </a:br>
            <a:r>
              <a:rPr lang="zh-CN" altLang="en-US" sz="2000">
                <a:latin typeface="黑体" pitchFamily="2" charset="-122"/>
                <a:ea typeface="黑体" pitchFamily="2" charset="-122"/>
              </a:rPr>
              <a:t>　　设有两数ｘ和ｙ：ｘ＝ｘ</a:t>
            </a:r>
            <a:r>
              <a:rPr lang="en-US" altLang="zh-CN" sz="2000" baseline="-30000">
                <a:latin typeface="黑体" pitchFamily="2" charset="-122"/>
                <a:ea typeface="黑体" pitchFamily="2" charset="-122"/>
              </a:rPr>
              <a:t>0</a:t>
            </a:r>
            <a:r>
              <a:rPr lang="zh-CN" altLang="en-US" sz="2000">
                <a:latin typeface="黑体" pitchFamily="2" charset="-122"/>
                <a:ea typeface="黑体" pitchFamily="2" charset="-122"/>
              </a:rPr>
              <a:t>ｘ</a:t>
            </a:r>
            <a:r>
              <a:rPr lang="en-US" altLang="zh-CN" sz="2000" baseline="-30000">
                <a:latin typeface="黑体" pitchFamily="2" charset="-122"/>
                <a:ea typeface="黑体" pitchFamily="2" charset="-122"/>
              </a:rPr>
              <a:t>1</a:t>
            </a:r>
            <a:r>
              <a:rPr lang="en-US" altLang="zh-CN" sz="2000">
                <a:latin typeface="黑体" pitchFamily="2" charset="-122"/>
                <a:ea typeface="黑体" pitchFamily="2" charset="-122"/>
              </a:rPr>
              <a:t>…</a:t>
            </a:r>
            <a:r>
              <a:rPr lang="zh-CN" altLang="en-US" sz="2000">
                <a:latin typeface="黑体" pitchFamily="2" charset="-122"/>
                <a:ea typeface="黑体" pitchFamily="2" charset="-122"/>
              </a:rPr>
              <a:t>ｘ</a:t>
            </a:r>
            <a:r>
              <a:rPr lang="en-US" altLang="zh-CN" sz="2000" baseline="-30000">
                <a:latin typeface="黑体" pitchFamily="2" charset="-122"/>
                <a:ea typeface="黑体" pitchFamily="2" charset="-122"/>
              </a:rPr>
              <a:t>n </a:t>
            </a:r>
            <a:r>
              <a:rPr lang="zh-CN" altLang="en-US" sz="2000" baseline="-30000">
                <a:latin typeface="黑体" pitchFamily="2" charset="-122"/>
                <a:ea typeface="黑体" pitchFamily="2" charset="-122"/>
              </a:rPr>
              <a:t>、</a:t>
            </a:r>
            <a:r>
              <a:rPr lang="zh-CN" altLang="en-US" sz="2000">
                <a:latin typeface="黑体" pitchFamily="2" charset="-122"/>
                <a:ea typeface="黑体" pitchFamily="2" charset="-122"/>
              </a:rPr>
              <a:t>ｙ＝ｙ</a:t>
            </a:r>
            <a:r>
              <a:rPr lang="en-US" altLang="zh-CN" sz="2000" baseline="-30000">
                <a:latin typeface="黑体" pitchFamily="2" charset="-122"/>
                <a:ea typeface="黑体" pitchFamily="2" charset="-122"/>
              </a:rPr>
              <a:t>0</a:t>
            </a:r>
            <a:r>
              <a:rPr lang="zh-CN" altLang="en-US" sz="2000">
                <a:latin typeface="黑体" pitchFamily="2" charset="-122"/>
                <a:ea typeface="黑体" pitchFamily="2" charset="-122"/>
              </a:rPr>
              <a:t>ｙ</a:t>
            </a:r>
            <a:r>
              <a:rPr lang="en-US" altLang="zh-CN" sz="2000" baseline="-30000">
                <a:latin typeface="黑体" pitchFamily="2" charset="-122"/>
                <a:ea typeface="黑体" pitchFamily="2" charset="-122"/>
              </a:rPr>
              <a:t>1</a:t>
            </a:r>
            <a:r>
              <a:rPr lang="en-US" altLang="zh-CN" sz="2000">
                <a:latin typeface="黑体" pitchFamily="2" charset="-122"/>
                <a:ea typeface="黑体" pitchFamily="2" charset="-122"/>
              </a:rPr>
              <a:t>…</a:t>
            </a:r>
            <a:r>
              <a:rPr lang="zh-CN" altLang="en-US" sz="2000">
                <a:latin typeface="黑体" pitchFamily="2" charset="-122"/>
                <a:ea typeface="黑体" pitchFamily="2" charset="-122"/>
              </a:rPr>
              <a:t>ｙ</a:t>
            </a:r>
            <a:r>
              <a:rPr lang="en-US" altLang="zh-CN" sz="2000" baseline="-30000">
                <a:latin typeface="黑体" pitchFamily="2" charset="-122"/>
                <a:ea typeface="黑体" pitchFamily="2" charset="-122"/>
              </a:rPr>
              <a:t>n</a:t>
            </a:r>
            <a:endParaRPr lang="en-US" altLang="zh-CN" sz="2000">
              <a:latin typeface="黑体" pitchFamily="2" charset="-122"/>
              <a:ea typeface="黑体" pitchFamily="2" charset="-122"/>
            </a:endParaRPr>
          </a:p>
          <a:p>
            <a:pPr eaLnBrk="0" hangingPunct="0">
              <a:lnSpc>
                <a:spcPct val="150000"/>
              </a:lnSpc>
            </a:pPr>
            <a:r>
              <a:rPr lang="zh-CN" altLang="en-US" sz="2000">
                <a:latin typeface="黑体" pitchFamily="2" charset="-122"/>
                <a:ea typeface="黑体" pitchFamily="2" charset="-122"/>
              </a:rPr>
              <a:t>    若 ｘ和ｙ的逻辑异为ｚ：ｘ⊕ｙ＝ｚ＝ｚ</a:t>
            </a:r>
            <a:r>
              <a:rPr lang="en-US" altLang="zh-CN" sz="2000" baseline="-30000">
                <a:latin typeface="黑体" pitchFamily="2" charset="-122"/>
                <a:ea typeface="黑体" pitchFamily="2" charset="-122"/>
              </a:rPr>
              <a:t>0</a:t>
            </a:r>
            <a:r>
              <a:rPr lang="zh-CN" altLang="en-US" sz="2000">
                <a:latin typeface="黑体" pitchFamily="2" charset="-122"/>
                <a:ea typeface="黑体" pitchFamily="2" charset="-122"/>
              </a:rPr>
              <a:t>ｚ</a:t>
            </a:r>
            <a:r>
              <a:rPr lang="en-US" altLang="zh-CN" sz="2000" baseline="-30000">
                <a:latin typeface="黑体" pitchFamily="2" charset="-122"/>
                <a:ea typeface="黑体" pitchFamily="2" charset="-122"/>
              </a:rPr>
              <a:t>1</a:t>
            </a:r>
            <a:r>
              <a:rPr lang="zh-CN" altLang="en-US" sz="2000">
                <a:latin typeface="黑体" pitchFamily="2" charset="-122"/>
                <a:ea typeface="黑体" pitchFamily="2" charset="-122"/>
              </a:rPr>
              <a:t>ｚ</a:t>
            </a:r>
            <a:r>
              <a:rPr lang="en-US" altLang="zh-CN" sz="2000" baseline="-30000">
                <a:latin typeface="黑体" pitchFamily="2" charset="-122"/>
                <a:ea typeface="黑体" pitchFamily="2" charset="-122"/>
              </a:rPr>
              <a:t>2</a:t>
            </a:r>
            <a:r>
              <a:rPr lang="en-US" altLang="zh-CN" sz="2000">
                <a:latin typeface="黑体" pitchFamily="2" charset="-122"/>
                <a:ea typeface="黑体" pitchFamily="2" charset="-122"/>
              </a:rPr>
              <a:t>…</a:t>
            </a:r>
            <a:r>
              <a:rPr lang="zh-CN" altLang="en-US" sz="2000">
                <a:latin typeface="黑体" pitchFamily="2" charset="-122"/>
                <a:ea typeface="黑体" pitchFamily="2" charset="-122"/>
              </a:rPr>
              <a:t>ｚ</a:t>
            </a:r>
            <a:r>
              <a:rPr lang="en-US" altLang="zh-CN" sz="2000" baseline="-30000">
                <a:latin typeface="黑体" pitchFamily="2" charset="-122"/>
                <a:ea typeface="黑体" pitchFamily="2" charset="-122"/>
              </a:rPr>
              <a:t>n</a:t>
            </a:r>
            <a:r>
              <a:rPr lang="en-US" altLang="zh-CN" sz="2000">
                <a:latin typeface="黑体" pitchFamily="2" charset="-122"/>
                <a:ea typeface="黑体" pitchFamily="2" charset="-122"/>
              </a:rPr>
              <a:t/>
            </a:r>
            <a:br>
              <a:rPr lang="en-US" altLang="zh-CN" sz="2000">
                <a:latin typeface="黑体" pitchFamily="2" charset="-122"/>
                <a:ea typeface="黑体" pitchFamily="2" charset="-122"/>
              </a:rPr>
            </a:br>
            <a:r>
              <a:rPr lang="en-US" altLang="zh-CN" sz="2000">
                <a:latin typeface="黑体" pitchFamily="2" charset="-122"/>
                <a:ea typeface="黑体" pitchFamily="2" charset="-122"/>
              </a:rPr>
              <a:t>    </a:t>
            </a:r>
            <a:r>
              <a:rPr lang="zh-CN" altLang="en-US" sz="2000">
                <a:latin typeface="黑体" pitchFamily="2" charset="-122"/>
                <a:ea typeface="黑体" pitchFamily="2" charset="-122"/>
              </a:rPr>
              <a:t>则 ｚ</a:t>
            </a:r>
            <a:r>
              <a:rPr lang="en-US" altLang="zh-CN" sz="2000" baseline="-30000">
                <a:latin typeface="黑体" pitchFamily="2" charset="-122"/>
                <a:ea typeface="黑体" pitchFamily="2" charset="-122"/>
              </a:rPr>
              <a:t>i</a:t>
            </a:r>
            <a:r>
              <a:rPr lang="zh-CN" altLang="en-US" sz="2000">
                <a:latin typeface="黑体" pitchFamily="2" charset="-122"/>
                <a:ea typeface="黑体" pitchFamily="2" charset="-122"/>
              </a:rPr>
              <a:t>＝ｘ</a:t>
            </a:r>
            <a:r>
              <a:rPr lang="en-US" altLang="zh-CN" sz="2000" baseline="-30000">
                <a:latin typeface="黑体" pitchFamily="2" charset="-122"/>
                <a:ea typeface="黑体" pitchFamily="2" charset="-122"/>
              </a:rPr>
              <a:t>i</a:t>
            </a:r>
            <a:r>
              <a:rPr lang="en-US" altLang="zh-CN" sz="2000">
                <a:latin typeface="黑体" pitchFamily="2" charset="-122"/>
                <a:ea typeface="黑体" pitchFamily="2" charset="-122"/>
              </a:rPr>
              <a:t>⊕</a:t>
            </a:r>
            <a:r>
              <a:rPr lang="zh-CN" altLang="en-US" sz="2000">
                <a:latin typeface="黑体" pitchFamily="2" charset="-122"/>
                <a:ea typeface="黑体" pitchFamily="2" charset="-122"/>
              </a:rPr>
              <a:t>ｙ</a:t>
            </a:r>
            <a:r>
              <a:rPr lang="en-US" altLang="zh-CN" sz="2000" baseline="-30000">
                <a:latin typeface="黑体" pitchFamily="2" charset="-122"/>
                <a:ea typeface="黑体" pitchFamily="2" charset="-122"/>
              </a:rPr>
              <a:t>i</a:t>
            </a:r>
            <a:r>
              <a:rPr lang="en-US" altLang="zh-CN" sz="2000">
                <a:latin typeface="黑体" pitchFamily="2" charset="-122"/>
                <a:ea typeface="黑体" pitchFamily="2" charset="-122"/>
              </a:rPr>
              <a:t>,</a:t>
            </a:r>
            <a:r>
              <a:rPr lang="zh-CN" altLang="en-US" sz="2000">
                <a:latin typeface="黑体" pitchFamily="2" charset="-122"/>
                <a:ea typeface="黑体" pitchFamily="2" charset="-122"/>
              </a:rPr>
              <a:t>　　</a:t>
            </a:r>
            <a:r>
              <a:rPr lang="en-US" altLang="zh-CN" sz="2000">
                <a:latin typeface="黑体" pitchFamily="2" charset="-122"/>
                <a:ea typeface="黑体" pitchFamily="2" charset="-122"/>
              </a:rPr>
              <a:t>(i</a:t>
            </a:r>
            <a:r>
              <a:rPr lang="zh-CN" altLang="en-US" sz="2000">
                <a:latin typeface="黑体" pitchFamily="2" charset="-122"/>
                <a:ea typeface="黑体" pitchFamily="2" charset="-122"/>
              </a:rPr>
              <a:t>＝</a:t>
            </a:r>
            <a:r>
              <a:rPr lang="en-US" altLang="zh-CN" sz="2000">
                <a:latin typeface="黑体" pitchFamily="2" charset="-122"/>
                <a:ea typeface="黑体" pitchFamily="2" charset="-122"/>
              </a:rPr>
              <a:t>0,1,2,…,n)</a:t>
            </a:r>
          </a:p>
          <a:p>
            <a:pPr eaLnBrk="0" hangingPunct="0">
              <a:lnSpc>
                <a:spcPct val="15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例：</a:t>
            </a:r>
            <a:r>
              <a:rPr lang="en-US" altLang="zh-CN" sz="2000">
                <a:latin typeface="黑体" pitchFamily="2" charset="-122"/>
                <a:ea typeface="黑体" pitchFamily="2" charset="-122"/>
              </a:rPr>
              <a:t> </a:t>
            </a:r>
            <a:r>
              <a:rPr lang="zh-CN" altLang="en-US" sz="2000">
                <a:latin typeface="黑体" pitchFamily="2" charset="-122"/>
                <a:ea typeface="黑体" pitchFamily="2" charset="-122"/>
              </a:rPr>
              <a:t>ｘ＝</a:t>
            </a:r>
            <a:r>
              <a:rPr lang="en-US" altLang="zh-CN" sz="2000">
                <a:latin typeface="黑体" pitchFamily="2" charset="-122"/>
                <a:ea typeface="黑体" pitchFamily="2" charset="-122"/>
              </a:rPr>
              <a:t>10101011,</a:t>
            </a:r>
            <a:r>
              <a:rPr lang="zh-CN" altLang="en-US" sz="2000">
                <a:latin typeface="黑体" pitchFamily="2" charset="-122"/>
                <a:ea typeface="黑体" pitchFamily="2" charset="-122"/>
              </a:rPr>
              <a:t>ｙ＝</a:t>
            </a:r>
            <a:r>
              <a:rPr lang="en-US" altLang="zh-CN" sz="2000">
                <a:latin typeface="黑体" pitchFamily="2" charset="-122"/>
                <a:ea typeface="黑体" pitchFamily="2" charset="-122"/>
              </a:rPr>
              <a:t>11001100,</a:t>
            </a:r>
            <a:r>
              <a:rPr lang="zh-CN" altLang="en-US" sz="2000">
                <a:latin typeface="黑体" pitchFamily="2" charset="-122"/>
                <a:ea typeface="黑体" pitchFamily="2" charset="-122"/>
              </a:rPr>
              <a:t>求ｘ⊕ｙ。</a:t>
            </a:r>
          </a:p>
          <a:p>
            <a:pPr eaLnBrk="0" hangingPunct="0">
              <a:lnSpc>
                <a:spcPct val="15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解</a:t>
            </a:r>
            <a:r>
              <a:rPr lang="en-US" altLang="zh-CN" sz="2000">
                <a:latin typeface="黑体" pitchFamily="2" charset="-122"/>
                <a:ea typeface="黑体" pitchFamily="2" charset="-122"/>
              </a:rPr>
              <a:t>:</a:t>
            </a:r>
          </a:p>
          <a:p>
            <a:pPr eaLnBrk="0" hangingPunct="0">
              <a:lnSpc>
                <a:spcPct val="150000"/>
              </a:lnSpc>
            </a:pPr>
            <a:r>
              <a:rPr lang="zh-CN" altLang="en-US" sz="2000">
                <a:latin typeface="黑体" pitchFamily="2" charset="-122"/>
                <a:ea typeface="黑体" pitchFamily="2" charset="-122"/>
              </a:rPr>
              <a:t>　　　　　　　　　　　　</a:t>
            </a:r>
            <a:r>
              <a:rPr lang="en-US" altLang="zh-CN" sz="2000">
                <a:latin typeface="黑体" pitchFamily="2" charset="-122"/>
                <a:ea typeface="黑体" pitchFamily="2" charset="-122"/>
              </a:rPr>
              <a:t>1 0 1 0 1 0 1 1 </a:t>
            </a:r>
            <a:r>
              <a:rPr lang="zh-CN" altLang="en-US" sz="2000">
                <a:latin typeface="黑体" pitchFamily="2" charset="-122"/>
                <a:ea typeface="黑体" pitchFamily="2" charset="-122"/>
              </a:rPr>
              <a:t>ｘ</a:t>
            </a:r>
            <a:br>
              <a:rPr lang="zh-CN" altLang="en-US" sz="2000">
                <a:latin typeface="黑体" pitchFamily="2" charset="-122"/>
                <a:ea typeface="黑体" pitchFamily="2" charset="-122"/>
              </a:rPr>
            </a:br>
            <a:r>
              <a:rPr lang="zh-CN" altLang="en-US" sz="2000">
                <a:latin typeface="黑体" pitchFamily="2" charset="-122"/>
                <a:ea typeface="黑体" pitchFamily="2" charset="-122"/>
              </a:rPr>
              <a:t>　　　　　　　　　　</a:t>
            </a:r>
            <a:r>
              <a:rPr lang="zh-CN" altLang="en-US" sz="2000" u="sng">
                <a:latin typeface="黑体" pitchFamily="2" charset="-122"/>
                <a:ea typeface="黑体" pitchFamily="2" charset="-122"/>
              </a:rPr>
              <a:t>⊕　</a:t>
            </a:r>
            <a:r>
              <a:rPr lang="en-US" altLang="zh-CN" sz="2000" u="sng">
                <a:latin typeface="黑体" pitchFamily="2" charset="-122"/>
                <a:ea typeface="黑体" pitchFamily="2" charset="-122"/>
              </a:rPr>
              <a:t>1 1 0 0 1 1 0 0 </a:t>
            </a:r>
            <a:r>
              <a:rPr lang="zh-CN" altLang="en-US" sz="2000" u="sng">
                <a:latin typeface="黑体" pitchFamily="2" charset="-122"/>
                <a:ea typeface="黑体" pitchFamily="2" charset="-122"/>
              </a:rPr>
              <a:t>ｙ</a:t>
            </a:r>
            <a:br>
              <a:rPr lang="zh-CN" altLang="en-US" sz="2000" u="sng">
                <a:latin typeface="黑体" pitchFamily="2" charset="-122"/>
                <a:ea typeface="黑体" pitchFamily="2" charset="-122"/>
              </a:rPr>
            </a:br>
            <a:r>
              <a:rPr lang="zh-CN" altLang="en-US" sz="2000">
                <a:latin typeface="黑体" pitchFamily="2" charset="-122"/>
                <a:ea typeface="黑体" pitchFamily="2" charset="-122"/>
              </a:rPr>
              <a:t>　　　　　　　　　　　　</a:t>
            </a:r>
            <a:r>
              <a:rPr lang="en-US" altLang="zh-CN" sz="2000">
                <a:latin typeface="黑体" pitchFamily="2" charset="-122"/>
                <a:ea typeface="黑体" pitchFamily="2" charset="-122"/>
              </a:rPr>
              <a:t>0 1 1 0 0 1 1 1 </a:t>
            </a:r>
            <a:r>
              <a:rPr lang="zh-CN" altLang="en-US" sz="2000">
                <a:latin typeface="黑体" pitchFamily="2" charset="-122"/>
                <a:ea typeface="黑体" pitchFamily="2" charset="-122"/>
              </a:rPr>
              <a:t>ｚ</a:t>
            </a:r>
          </a:p>
          <a:p>
            <a:pPr eaLnBrk="0" hangingPunct="0">
              <a:lnSpc>
                <a:spcPct val="150000"/>
              </a:lnSpc>
            </a:pPr>
            <a:r>
              <a:rPr lang="zh-CN" altLang="en-US" sz="2000">
                <a:latin typeface="黑体" pitchFamily="2" charset="-122"/>
                <a:ea typeface="黑体" pitchFamily="2" charset="-122"/>
              </a:rPr>
              <a:t>　　　   即　　　　　　ｘ⊕ｙ ＝ </a:t>
            </a:r>
            <a:r>
              <a:rPr lang="en-US" altLang="zh-CN" sz="2000">
                <a:latin typeface="黑体" pitchFamily="2" charset="-122"/>
                <a:ea typeface="黑体" pitchFamily="2" charset="-122"/>
              </a:rPr>
              <a:t>01100111</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
          <p:cNvSpPr>
            <a:spLocks noChangeArrowheads="1"/>
          </p:cNvSpPr>
          <p:nvPr/>
        </p:nvSpPr>
        <p:spPr bwMode="auto">
          <a:xfrm>
            <a:off x="250825" y="414338"/>
            <a:ext cx="864235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itchFamily="2" charset="-122"/>
                <a:ea typeface="黑体" pitchFamily="2" charset="-122"/>
              </a:rPr>
              <a:t>2.5.2 多功能算术/逻辑运算单元(ALU)</a:t>
            </a:r>
            <a:r>
              <a:rPr lang="zh-CN" altLang="zh-CN" sz="2800" b="1" i="1">
                <a:solidFill>
                  <a:srgbClr val="FF0000"/>
                </a:solidFill>
                <a:latin typeface="黑体" pitchFamily="2" charset="-122"/>
                <a:ea typeface="黑体" pitchFamily="2" charset="-122"/>
              </a:rPr>
              <a:t> </a:t>
            </a:r>
            <a:r>
              <a:rPr lang="zh-CN" altLang="zh-CN" sz="2400" b="1" i="1">
                <a:solidFill>
                  <a:srgbClr val="0000FF"/>
                </a:solidFill>
                <a:latin typeface="黑体" pitchFamily="2" charset="-122"/>
                <a:ea typeface="黑体" pitchFamily="2" charset="-122"/>
                <a:hlinkClick r:id="rId2" action="ppaction://hlinkfile"/>
              </a:rPr>
              <a:t>　　　　　  </a:t>
            </a:r>
            <a:endParaRPr lang="zh-CN" altLang="zh-CN" sz="2400">
              <a:latin typeface="黑体" pitchFamily="2" charset="-122"/>
              <a:ea typeface="黑体" pitchFamily="2" charset="-122"/>
            </a:endParaRPr>
          </a:p>
          <a:p>
            <a:pPr eaLnBrk="0" hangingPunct="0">
              <a:lnSpc>
                <a:spcPct val="150000"/>
              </a:lnSpc>
            </a:pPr>
            <a:r>
              <a:rPr lang="zh-CN" altLang="zh-CN" sz="2400">
                <a:solidFill>
                  <a:srgbClr val="000000"/>
                </a:solidFill>
                <a:latin typeface="黑体" pitchFamily="2" charset="-122"/>
                <a:ea typeface="黑体" pitchFamily="2" charset="-122"/>
              </a:rPr>
              <a:t>　　由一位全加器(FA)构成的行波进位加法器,它可以实</a:t>
            </a:r>
            <a:endParaRPr lang="en-US" altLang="zh-CN" sz="2400">
              <a:solidFill>
                <a:srgbClr val="000000"/>
              </a:solidFill>
              <a:latin typeface="黑体" pitchFamily="2" charset="-122"/>
              <a:ea typeface="黑体" pitchFamily="2" charset="-122"/>
            </a:endParaRPr>
          </a:p>
          <a:p>
            <a:pPr eaLnBrk="0" hangingPunct="0">
              <a:lnSpc>
                <a:spcPct val="150000"/>
              </a:lnSpc>
            </a:pPr>
            <a:r>
              <a:rPr lang="zh-CN" altLang="zh-CN" sz="2400">
                <a:solidFill>
                  <a:srgbClr val="000000"/>
                </a:solidFill>
                <a:latin typeface="黑体" pitchFamily="2" charset="-122"/>
                <a:ea typeface="黑体" pitchFamily="2" charset="-122"/>
              </a:rPr>
              <a:t>现补码数的加法运算和减法运算。但是这种加法/减法器存在两个问题：</a:t>
            </a:r>
            <a:endParaRPr lang="en-US" altLang="zh-CN" sz="2400">
              <a:solidFill>
                <a:srgbClr val="000000"/>
              </a:solidFill>
              <a:latin typeface="黑体" pitchFamily="2" charset="-122"/>
              <a:ea typeface="黑体" pitchFamily="2" charset="-122"/>
            </a:endParaRPr>
          </a:p>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一是由于串行进位,它的运算时间很长。假如加法器由n位全加器构成,每一位的进位延迟时间为20ns,那么最坏情况下, 进位信号从最低位传递到最高位而最后输出稳定,至少需要n*20ns,这在高速计算中显然是不利的。</a:t>
            </a:r>
            <a:endParaRPr lang="en-US" altLang="zh-CN" sz="2400">
              <a:solidFill>
                <a:srgbClr val="000000"/>
              </a:solidFill>
              <a:latin typeface="黑体" pitchFamily="2" charset="-122"/>
              <a:ea typeface="黑体" pitchFamily="2" charset="-122"/>
            </a:endParaRPr>
          </a:p>
          <a:p>
            <a:pPr eaLnBrk="0" hangingPunct="0">
              <a:lnSpc>
                <a:spcPct val="150000"/>
              </a:lnSpc>
            </a:pP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二是就行波进位加法器本身来说,它只能完成加法和减法两种操作而不能完成逻辑操作。</a:t>
            </a:r>
            <a:endParaRPr lang="zh-CN" altLang="zh-CN" sz="2400" b="1" i="1">
              <a:solidFill>
                <a:srgbClr val="0000FF"/>
              </a:solidFill>
              <a:latin typeface="黑体" pitchFamily="2" charset="-122"/>
              <a:ea typeface="黑体" pitchFamily="2" charset="-122"/>
            </a:endParaRPr>
          </a:p>
        </p:txBody>
      </p:sp>
      <p:sp>
        <p:nvSpPr>
          <p:cNvPr id="100355" name="AutoShape 2" descr="G:\jzdx\%E8%AE%A1%E7%AE%97%E6%9C%BA%E7%BB%84%E6%88%90%E5%8E%9F%E7%90%86\%E6%95%99%E6%A1%88\%E7%AC%AC%E4%BA%8C%E7%AB%A0\htm\Images\Home07.gif">
            <a:hlinkClick r:id="rId2" action="ppaction://hlinkfile"/>
          </p:cNvPr>
          <p:cNvSpPr>
            <a:spLocks noChangeAspect="1" noChangeArrowheads="1"/>
          </p:cNvSpPr>
          <p:nvPr/>
        </p:nvSpPr>
        <p:spPr bwMode="auto">
          <a:xfrm>
            <a:off x="5491163" y="-39687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
          <p:cNvSpPr>
            <a:spLocks noChangeArrowheads="1"/>
          </p:cNvSpPr>
          <p:nvPr/>
        </p:nvSpPr>
        <p:spPr bwMode="auto">
          <a:xfrm>
            <a:off x="203200" y="107950"/>
            <a:ext cx="7753350" cy="664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latin typeface="黑体" pitchFamily="2" charset="-122"/>
                <a:ea typeface="黑体" pitchFamily="2" charset="-122"/>
              </a:rPr>
              <a:t>    </a:t>
            </a:r>
            <a:r>
              <a:rPr lang="zh-CN" altLang="zh-CN" sz="2000">
                <a:latin typeface="黑体" pitchFamily="2" charset="-122"/>
                <a:ea typeface="黑体" pitchFamily="2" charset="-122"/>
              </a:rPr>
              <a:t>我们介绍的多功能算术/逻辑运算单元(ALU)不仅具有多种算术</a:t>
            </a:r>
            <a:endParaRPr lang="en-US"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运算和逻辑运算的功能,而且具有先行进位逻辑, 从而能实现高速运算。</a:t>
            </a: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1.基本思想</a:t>
            </a: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r>
              <a:rPr lang="zh-CN" altLang="en-US" sz="2000">
                <a:latin typeface="黑体" pitchFamily="2" charset="-122"/>
                <a:ea typeface="黑体" pitchFamily="2" charset="-122"/>
              </a:rPr>
              <a:t>    我们将</a:t>
            </a:r>
            <a:r>
              <a:rPr lang="en-US" altLang="zh-CN" sz="2000">
                <a:latin typeface="黑体" pitchFamily="2" charset="-122"/>
                <a:ea typeface="黑体" pitchFamily="2" charset="-122"/>
              </a:rPr>
              <a:t>Ai</a:t>
            </a:r>
            <a:r>
              <a:rPr lang="zh-CN" altLang="en-US" sz="2000">
                <a:latin typeface="黑体" pitchFamily="2" charset="-122"/>
                <a:ea typeface="黑体" pitchFamily="2" charset="-122"/>
              </a:rPr>
              <a:t>和</a:t>
            </a:r>
            <a:r>
              <a:rPr lang="en-US" altLang="zh-CN" sz="2000">
                <a:latin typeface="黑体" pitchFamily="2" charset="-122"/>
                <a:ea typeface="黑体" pitchFamily="2" charset="-122"/>
              </a:rPr>
              <a:t>Bi</a:t>
            </a:r>
            <a:r>
              <a:rPr lang="zh-CN" altLang="en-US" sz="2000">
                <a:latin typeface="黑体" pitchFamily="2" charset="-122"/>
                <a:ea typeface="黑体" pitchFamily="2" charset="-122"/>
              </a:rPr>
              <a:t>先组合成由控制参数</a:t>
            </a:r>
            <a:r>
              <a:rPr lang="en-US" altLang="zh-CN" sz="2000">
                <a:latin typeface="黑体" pitchFamily="2" charset="-122"/>
                <a:ea typeface="黑体" pitchFamily="2" charset="-122"/>
              </a:rPr>
              <a:t>S0,S1,S2,S3</a:t>
            </a:r>
            <a:r>
              <a:rPr lang="zh-CN" altLang="en-US" sz="2000">
                <a:latin typeface="黑体" pitchFamily="2" charset="-122"/>
                <a:ea typeface="黑体" pitchFamily="2" charset="-122"/>
              </a:rPr>
              <a:t>控制的组合函数</a:t>
            </a:r>
            <a:r>
              <a:rPr lang="en-US" altLang="zh-CN" sz="2000">
                <a:latin typeface="黑体" pitchFamily="2" charset="-122"/>
                <a:ea typeface="黑体" pitchFamily="2" charset="-122"/>
              </a:rPr>
              <a:t>Xi</a:t>
            </a:r>
            <a:r>
              <a:rPr lang="zh-CN" altLang="en-US" sz="2000">
                <a:latin typeface="黑体" pitchFamily="2" charset="-122"/>
                <a:ea typeface="黑体" pitchFamily="2" charset="-122"/>
              </a:rPr>
              <a:t>和</a:t>
            </a:r>
            <a:r>
              <a:rPr lang="en-US" altLang="zh-CN" sz="2000">
                <a:latin typeface="黑体" pitchFamily="2" charset="-122"/>
                <a:ea typeface="黑体" pitchFamily="2" charset="-122"/>
              </a:rPr>
              <a:t>Yi,</a:t>
            </a:r>
            <a:r>
              <a:rPr lang="zh-CN" altLang="en-US" sz="2000">
                <a:latin typeface="黑体" pitchFamily="2" charset="-122"/>
                <a:ea typeface="黑体" pitchFamily="2" charset="-122"/>
              </a:rPr>
              <a:t>然后再将</a:t>
            </a:r>
            <a:r>
              <a:rPr lang="en-US" altLang="zh-CN" sz="2000">
                <a:latin typeface="黑体" pitchFamily="2" charset="-122"/>
                <a:ea typeface="黑体" pitchFamily="2" charset="-122"/>
              </a:rPr>
              <a:t>Xi,Yi</a:t>
            </a:r>
            <a:r>
              <a:rPr lang="zh-CN" altLang="en-US" sz="2000">
                <a:latin typeface="黑体" pitchFamily="2" charset="-122"/>
                <a:ea typeface="黑体" pitchFamily="2" charset="-122"/>
              </a:rPr>
              <a:t>和下一位进位数通过全加器进行全加。这样</a:t>
            </a:r>
            <a:r>
              <a:rPr lang="en-US" altLang="zh-CN" sz="2000">
                <a:latin typeface="黑体" pitchFamily="2" charset="-122"/>
                <a:ea typeface="黑体" pitchFamily="2" charset="-122"/>
              </a:rPr>
              <a:t>,</a:t>
            </a:r>
            <a:r>
              <a:rPr lang="zh-CN" altLang="en-US" sz="2000">
                <a:latin typeface="黑体" pitchFamily="2" charset="-122"/>
                <a:ea typeface="黑体" pitchFamily="2" charset="-122"/>
              </a:rPr>
              <a:t>不同的控制参数可以得到不同的组合函数</a:t>
            </a:r>
            <a:r>
              <a:rPr lang="en-US" altLang="zh-CN" sz="2000">
                <a:latin typeface="黑体" pitchFamily="2" charset="-122"/>
                <a:ea typeface="黑体" pitchFamily="2" charset="-122"/>
              </a:rPr>
              <a:t>,</a:t>
            </a:r>
            <a:r>
              <a:rPr lang="zh-CN" altLang="en-US" sz="2000">
                <a:latin typeface="黑体" pitchFamily="2" charset="-122"/>
                <a:ea typeface="黑体" pitchFamily="2" charset="-122"/>
              </a:rPr>
              <a:t>因而能够实现多种算术运算和逻辑运算。</a:t>
            </a:r>
            <a:r>
              <a:rPr lang="zh-CN" altLang="zh-CN" sz="2000">
                <a:latin typeface="黑体" pitchFamily="2" charset="-122"/>
                <a:ea typeface="黑体" pitchFamily="2" charset="-122"/>
              </a:rPr>
              <a:t> </a:t>
            </a:r>
          </a:p>
        </p:txBody>
      </p:sp>
      <p:sp>
        <p:nvSpPr>
          <p:cNvPr id="101379" name="AutoShape 2" descr="G:\jzdx\%E8%AE%A1%E7%AE%97%E6%9C%BA%E7%BB%84%E6%88%90%E5%8E%9F%E7%90%86\%E6%95%99%E6%A1%88\%E7%AC%AC%E4%BA%8C%E7%AB%A0\htm\Images\t2.10.gif"/>
          <p:cNvSpPr>
            <a:spLocks noChangeAspect="1" noChangeArrowheads="1"/>
          </p:cNvSpPr>
          <p:nvPr/>
        </p:nvSpPr>
        <p:spPr bwMode="auto">
          <a:xfrm>
            <a:off x="63500" y="107950"/>
            <a:ext cx="6781800"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13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190750"/>
            <a:ext cx="80645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矩形 3"/>
          <p:cNvSpPr>
            <a:spLocks noChangeArrowheads="1"/>
          </p:cNvSpPr>
          <p:nvPr/>
        </p:nvSpPr>
        <p:spPr bwMode="auto">
          <a:xfrm>
            <a:off x="179388" y="58738"/>
            <a:ext cx="777716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000">
                <a:latin typeface="黑体" pitchFamily="2" charset="-122"/>
                <a:ea typeface="黑体" pitchFamily="2" charset="-122"/>
              </a:rPr>
              <a:t>    2.</a:t>
            </a:r>
            <a:r>
              <a:rPr lang="zh-CN" altLang="en-US" sz="2000">
                <a:latin typeface="黑体" pitchFamily="2" charset="-122"/>
                <a:ea typeface="黑体" pitchFamily="2" charset="-122"/>
              </a:rPr>
              <a:t>逻辑表达式</a:t>
            </a:r>
          </a:p>
          <a:p>
            <a:pPr>
              <a:lnSpc>
                <a:spcPct val="120000"/>
              </a:lnSpc>
            </a:pPr>
            <a:r>
              <a:rPr lang="zh-CN" altLang="en-US" sz="2000">
                <a:latin typeface="黑体" pitchFamily="2" charset="-122"/>
                <a:ea typeface="黑体" pitchFamily="2" charset="-122"/>
              </a:rPr>
              <a:t>　　控制参数</a:t>
            </a:r>
            <a:r>
              <a:rPr lang="en-US" altLang="zh-CN" sz="2000">
                <a:latin typeface="黑体" pitchFamily="2" charset="-122"/>
                <a:ea typeface="黑体" pitchFamily="2" charset="-122"/>
              </a:rPr>
              <a:t>S</a:t>
            </a:r>
            <a:r>
              <a:rPr lang="en-US" altLang="zh-CN" sz="2000" baseline="-25000">
                <a:latin typeface="黑体" pitchFamily="2" charset="-122"/>
                <a:ea typeface="黑体" pitchFamily="2" charset="-122"/>
              </a:rPr>
              <a:t>0 </a:t>
            </a:r>
            <a:r>
              <a:rPr lang="en-US" altLang="zh-CN" sz="2000">
                <a:latin typeface="黑体" pitchFamily="2" charset="-122"/>
                <a:ea typeface="黑体" pitchFamily="2" charset="-122"/>
              </a:rPr>
              <a:t>,S</a:t>
            </a:r>
            <a:r>
              <a:rPr lang="en-US" altLang="zh-CN" sz="2000" baseline="-25000">
                <a:latin typeface="黑体" pitchFamily="2" charset="-122"/>
                <a:ea typeface="黑体" pitchFamily="2" charset="-122"/>
              </a:rPr>
              <a:t>1 </a:t>
            </a:r>
            <a:r>
              <a:rPr lang="en-US" altLang="zh-CN" sz="2000">
                <a:latin typeface="黑体" pitchFamily="2" charset="-122"/>
                <a:ea typeface="黑体" pitchFamily="2" charset="-122"/>
              </a:rPr>
              <a:t>,S</a:t>
            </a:r>
            <a:r>
              <a:rPr lang="en-US" altLang="zh-CN" sz="2000" baseline="-25000">
                <a:latin typeface="黑体" pitchFamily="2" charset="-122"/>
                <a:ea typeface="黑体" pitchFamily="2" charset="-122"/>
              </a:rPr>
              <a:t>2</a:t>
            </a:r>
            <a:r>
              <a:rPr lang="en-US" altLang="zh-CN" sz="2000">
                <a:latin typeface="黑体" pitchFamily="2" charset="-122"/>
                <a:ea typeface="黑体" pitchFamily="2" charset="-122"/>
              </a:rPr>
              <a:t> ,S</a:t>
            </a:r>
            <a:r>
              <a:rPr lang="en-US" altLang="zh-CN" sz="2000" baseline="-25000">
                <a:latin typeface="黑体" pitchFamily="2" charset="-122"/>
                <a:ea typeface="黑体" pitchFamily="2" charset="-122"/>
              </a:rPr>
              <a:t>3</a:t>
            </a:r>
            <a:r>
              <a:rPr lang="en-US" altLang="zh-CN" sz="2000">
                <a:latin typeface="黑体" pitchFamily="2" charset="-122"/>
                <a:ea typeface="黑体" pitchFamily="2" charset="-122"/>
              </a:rPr>
              <a:t> </a:t>
            </a:r>
            <a:r>
              <a:rPr lang="zh-CN" altLang="en-US" sz="2000">
                <a:latin typeface="黑体" pitchFamily="2" charset="-122"/>
                <a:ea typeface="黑体" pitchFamily="2" charset="-122"/>
              </a:rPr>
              <a:t>分别控制输入</a:t>
            </a:r>
            <a:r>
              <a:rPr lang="en-US" altLang="zh-CN" sz="2000">
                <a:latin typeface="黑体" pitchFamily="2" charset="-122"/>
                <a:ea typeface="黑体" pitchFamily="2" charset="-122"/>
              </a:rPr>
              <a:t>A</a:t>
            </a:r>
            <a:r>
              <a:rPr lang="en-US" altLang="zh-CN" sz="2000" baseline="-25000">
                <a:latin typeface="黑体" pitchFamily="2" charset="-122"/>
                <a:ea typeface="黑体" pitchFamily="2" charset="-122"/>
              </a:rPr>
              <a:t>i</a:t>
            </a:r>
            <a:r>
              <a:rPr lang="en-US" altLang="zh-CN" sz="2000">
                <a:latin typeface="黑体" pitchFamily="2" charset="-122"/>
                <a:ea typeface="黑体" pitchFamily="2" charset="-122"/>
              </a:rPr>
              <a:t> </a:t>
            </a:r>
            <a:r>
              <a:rPr lang="zh-CN" altLang="en-US" sz="2000">
                <a:latin typeface="黑体" pitchFamily="2" charset="-122"/>
                <a:ea typeface="黑体" pitchFamily="2" charset="-122"/>
              </a:rPr>
              <a:t>和</a:t>
            </a:r>
            <a:r>
              <a:rPr lang="en-US" altLang="zh-CN" sz="2000">
                <a:latin typeface="黑体" pitchFamily="2" charset="-122"/>
                <a:ea typeface="黑体" pitchFamily="2" charset="-122"/>
              </a:rPr>
              <a:t>B</a:t>
            </a:r>
            <a:r>
              <a:rPr lang="en-US" altLang="zh-CN" sz="2000" baseline="-25000">
                <a:latin typeface="黑体" pitchFamily="2" charset="-122"/>
                <a:ea typeface="黑体" pitchFamily="2" charset="-122"/>
              </a:rPr>
              <a:t>i</a:t>
            </a:r>
            <a:r>
              <a:rPr lang="en-US" altLang="zh-CN" sz="2000">
                <a:latin typeface="黑体" pitchFamily="2" charset="-122"/>
                <a:ea typeface="黑体" pitchFamily="2" charset="-122"/>
              </a:rPr>
              <a:t> ,</a:t>
            </a:r>
            <a:r>
              <a:rPr lang="zh-CN" altLang="en-US" sz="2000">
                <a:latin typeface="黑体" pitchFamily="2" charset="-122"/>
                <a:ea typeface="黑体" pitchFamily="2" charset="-122"/>
              </a:rPr>
              <a:t>产生</a:t>
            </a:r>
            <a:r>
              <a:rPr lang="en-US" altLang="zh-CN" sz="2000">
                <a:latin typeface="黑体" pitchFamily="2" charset="-122"/>
                <a:ea typeface="黑体" pitchFamily="2" charset="-122"/>
              </a:rPr>
              <a:t>Y</a:t>
            </a:r>
            <a:r>
              <a:rPr lang="zh-CN" altLang="en-US" sz="2000">
                <a:latin typeface="黑体" pitchFamily="2" charset="-122"/>
                <a:ea typeface="黑体" pitchFamily="2" charset="-122"/>
              </a:rPr>
              <a:t>和</a:t>
            </a:r>
            <a:r>
              <a:rPr lang="en-US" altLang="zh-CN" sz="2000">
                <a:latin typeface="黑体" pitchFamily="2" charset="-122"/>
                <a:ea typeface="黑体" pitchFamily="2" charset="-122"/>
              </a:rPr>
              <a:t>X</a:t>
            </a:r>
            <a:r>
              <a:rPr lang="zh-CN" altLang="en-US" sz="2000">
                <a:latin typeface="黑体" pitchFamily="2" charset="-122"/>
                <a:ea typeface="黑体" pitchFamily="2" charset="-122"/>
              </a:rPr>
              <a:t>的函数。其中</a:t>
            </a:r>
            <a:r>
              <a:rPr lang="en-US" altLang="zh-CN" sz="2000">
                <a:latin typeface="黑体" pitchFamily="2" charset="-122"/>
                <a:ea typeface="黑体" pitchFamily="2" charset="-122"/>
              </a:rPr>
              <a:t>Y</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是受</a:t>
            </a:r>
            <a:r>
              <a:rPr lang="en-US" altLang="zh-CN" sz="2000">
                <a:latin typeface="黑体" pitchFamily="2" charset="-122"/>
                <a:ea typeface="黑体" pitchFamily="2" charset="-122"/>
              </a:rPr>
              <a:t>S</a:t>
            </a:r>
            <a:r>
              <a:rPr lang="en-US" altLang="zh-CN" sz="2000" baseline="-25000">
                <a:latin typeface="黑体" pitchFamily="2" charset="-122"/>
                <a:ea typeface="黑体" pitchFamily="2" charset="-122"/>
              </a:rPr>
              <a:t>0</a:t>
            </a:r>
            <a:r>
              <a:rPr lang="en-US" altLang="zh-CN" sz="2000">
                <a:latin typeface="黑体" pitchFamily="2" charset="-122"/>
                <a:ea typeface="黑体" pitchFamily="2" charset="-122"/>
              </a:rPr>
              <a:t> ,S</a:t>
            </a:r>
            <a:r>
              <a:rPr lang="en-US" altLang="zh-CN" sz="2000" baseline="-25000">
                <a:latin typeface="黑体" pitchFamily="2" charset="-122"/>
                <a:ea typeface="黑体" pitchFamily="2" charset="-122"/>
              </a:rPr>
              <a:t>1</a:t>
            </a:r>
            <a:r>
              <a:rPr lang="zh-CN" altLang="en-US" sz="2000">
                <a:latin typeface="黑体" pitchFamily="2" charset="-122"/>
                <a:ea typeface="黑体" pitchFamily="2" charset="-122"/>
              </a:rPr>
              <a:t>控制的</a:t>
            </a:r>
            <a:r>
              <a:rPr lang="en-US" altLang="zh-CN" sz="2000">
                <a:latin typeface="黑体" pitchFamily="2" charset="-122"/>
                <a:ea typeface="黑体" pitchFamily="2" charset="-122"/>
              </a:rPr>
              <a:t>A</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和</a:t>
            </a:r>
            <a:r>
              <a:rPr lang="en-US" altLang="zh-CN" sz="2000">
                <a:latin typeface="黑体" pitchFamily="2" charset="-122"/>
                <a:ea typeface="黑体" pitchFamily="2" charset="-122"/>
              </a:rPr>
              <a:t>B</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的组合函数</a:t>
            </a:r>
            <a:r>
              <a:rPr lang="en-US" altLang="zh-CN" sz="2000">
                <a:latin typeface="黑体" pitchFamily="2" charset="-122"/>
                <a:ea typeface="黑体" pitchFamily="2" charset="-122"/>
              </a:rPr>
              <a:t>,</a:t>
            </a:r>
            <a:r>
              <a:rPr lang="zh-CN" altLang="en-US" sz="2000">
                <a:latin typeface="黑体" pitchFamily="2" charset="-122"/>
                <a:ea typeface="黑体" pitchFamily="2" charset="-122"/>
              </a:rPr>
              <a:t>而</a:t>
            </a:r>
            <a:r>
              <a:rPr lang="en-US" altLang="zh-CN" sz="2000">
                <a:latin typeface="黑体" pitchFamily="2" charset="-122"/>
                <a:ea typeface="黑体" pitchFamily="2" charset="-122"/>
              </a:rPr>
              <a:t>X</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是受</a:t>
            </a:r>
            <a:r>
              <a:rPr lang="en-US" altLang="zh-CN" sz="2000">
                <a:latin typeface="黑体" pitchFamily="2" charset="-122"/>
                <a:ea typeface="黑体" pitchFamily="2" charset="-122"/>
              </a:rPr>
              <a:t>S</a:t>
            </a:r>
            <a:r>
              <a:rPr lang="en-US" altLang="zh-CN" sz="2000" baseline="-25000">
                <a:latin typeface="黑体" pitchFamily="2" charset="-122"/>
                <a:ea typeface="黑体" pitchFamily="2" charset="-122"/>
              </a:rPr>
              <a:t>2</a:t>
            </a:r>
            <a:r>
              <a:rPr lang="en-US" altLang="zh-CN" sz="2000">
                <a:latin typeface="黑体" pitchFamily="2" charset="-122"/>
                <a:ea typeface="黑体" pitchFamily="2" charset="-122"/>
              </a:rPr>
              <a:t> ,S</a:t>
            </a:r>
            <a:r>
              <a:rPr lang="en-US" altLang="zh-CN" sz="2000" baseline="-25000">
                <a:latin typeface="黑体" pitchFamily="2" charset="-122"/>
                <a:ea typeface="黑体" pitchFamily="2" charset="-122"/>
              </a:rPr>
              <a:t>3</a:t>
            </a:r>
            <a:r>
              <a:rPr lang="zh-CN" altLang="en-US" sz="2000">
                <a:latin typeface="黑体" pitchFamily="2" charset="-122"/>
                <a:ea typeface="黑体" pitchFamily="2" charset="-122"/>
              </a:rPr>
              <a:t>控制的</a:t>
            </a:r>
            <a:r>
              <a:rPr lang="en-US" altLang="zh-CN" sz="2000">
                <a:latin typeface="黑体" pitchFamily="2" charset="-122"/>
                <a:ea typeface="黑体" pitchFamily="2" charset="-122"/>
              </a:rPr>
              <a:t>A</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和</a:t>
            </a:r>
            <a:r>
              <a:rPr lang="en-US" altLang="zh-CN" sz="2000">
                <a:latin typeface="黑体" pitchFamily="2" charset="-122"/>
                <a:ea typeface="黑体" pitchFamily="2" charset="-122"/>
              </a:rPr>
              <a:t>B</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组合函数</a:t>
            </a:r>
            <a:r>
              <a:rPr lang="en-US" altLang="zh-CN" sz="2000">
                <a:latin typeface="黑体" pitchFamily="2" charset="-122"/>
                <a:ea typeface="黑体" pitchFamily="2" charset="-122"/>
              </a:rPr>
              <a:t>,</a:t>
            </a:r>
            <a:r>
              <a:rPr lang="zh-CN" altLang="en-US" sz="2000">
                <a:latin typeface="黑体" pitchFamily="2" charset="-122"/>
                <a:ea typeface="黑体" pitchFamily="2" charset="-122"/>
              </a:rPr>
              <a:t>其函数关系如下所示。</a:t>
            </a:r>
          </a:p>
        </p:txBody>
      </p:sp>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49" y="1661542"/>
            <a:ext cx="8510017" cy="5079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D:\jinerwork\组成\白中英版改编\Chap02\Images\2.5.gif"/>
          <p:cNvPicPr>
            <a:picLocks noGrp="1" noChangeAspect="1" noChangeArrowheads="1"/>
          </p:cNvPicPr>
          <p:nvPr>
            <p:ph sz="half" idx="1"/>
          </p:nvPr>
        </p:nvPicPr>
        <p:blipFill>
          <a:blip r:embed="rId3" r:link="rId4">
            <a:extLst>
              <a:ext uri="{28A0092B-C50C-407E-A947-70E740481C1C}">
                <a14:useLocalDpi xmlns:a14="http://schemas.microsoft.com/office/drawing/2010/main" val="0"/>
              </a:ext>
            </a:extLst>
          </a:blip>
          <a:srcRect/>
          <a:stretch>
            <a:fillRect/>
          </a:stretch>
        </p:blipFill>
        <p:spPr>
          <a:xfrm>
            <a:off x="250825" y="433388"/>
            <a:ext cx="2665413" cy="2798762"/>
          </a:xfrm>
        </p:spPr>
      </p:pic>
      <p:sp>
        <p:nvSpPr>
          <p:cNvPr id="103427" name="Text Box 4"/>
          <p:cNvSpPr txBox="1">
            <a:spLocks noChangeArrowheads="1"/>
          </p:cNvSpPr>
          <p:nvPr/>
        </p:nvSpPr>
        <p:spPr bwMode="auto">
          <a:xfrm>
            <a:off x="468313" y="3532188"/>
            <a:ext cx="3887787"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000">
                <a:latin typeface="黑体" pitchFamily="2" charset="-122"/>
                <a:ea typeface="黑体" pitchFamily="2" charset="-122"/>
              </a:rPr>
              <a:t>例如：</a:t>
            </a:r>
            <a:r>
              <a:rPr kumimoji="1" lang="en-US" altLang="zh-CN" sz="2000">
                <a:latin typeface="黑体" pitchFamily="2" charset="-122"/>
                <a:ea typeface="黑体" pitchFamily="2" charset="-122"/>
              </a:rPr>
              <a:t>S</a:t>
            </a:r>
            <a:r>
              <a:rPr kumimoji="1" lang="en-US" altLang="zh-CN" sz="2000" baseline="-25000">
                <a:latin typeface="黑体" pitchFamily="2" charset="-122"/>
                <a:ea typeface="黑体" pitchFamily="2" charset="-122"/>
              </a:rPr>
              <a:t>3</a:t>
            </a:r>
            <a:r>
              <a:rPr kumimoji="1" lang="en-US" altLang="zh-CN" sz="2000">
                <a:latin typeface="黑体" pitchFamily="2" charset="-122"/>
                <a:ea typeface="黑体" pitchFamily="2" charset="-122"/>
              </a:rPr>
              <a:t>S</a:t>
            </a:r>
            <a:r>
              <a:rPr kumimoji="1" lang="en-US" altLang="zh-CN" sz="2000" baseline="-25000">
                <a:latin typeface="黑体" pitchFamily="2" charset="-122"/>
                <a:ea typeface="黑体" pitchFamily="2" charset="-122"/>
              </a:rPr>
              <a:t>2</a:t>
            </a:r>
            <a:r>
              <a:rPr kumimoji="1" lang="en-US" altLang="zh-CN" sz="2000">
                <a:latin typeface="黑体" pitchFamily="2" charset="-122"/>
                <a:ea typeface="黑体" pitchFamily="2" charset="-122"/>
              </a:rPr>
              <a:t>S</a:t>
            </a:r>
            <a:r>
              <a:rPr kumimoji="1" lang="en-US" altLang="zh-CN" sz="2000" baseline="-25000">
                <a:latin typeface="黑体" pitchFamily="2" charset="-122"/>
                <a:ea typeface="黑体" pitchFamily="2" charset="-122"/>
              </a:rPr>
              <a:t>1</a:t>
            </a:r>
            <a:r>
              <a:rPr kumimoji="1" lang="en-US" altLang="zh-CN" sz="2000">
                <a:latin typeface="黑体" pitchFamily="2" charset="-122"/>
                <a:ea typeface="黑体" pitchFamily="2" charset="-122"/>
              </a:rPr>
              <a:t>S</a:t>
            </a:r>
            <a:r>
              <a:rPr kumimoji="1" lang="en-US" altLang="zh-CN" sz="2000" baseline="-25000">
                <a:latin typeface="黑体" pitchFamily="2" charset="-122"/>
                <a:ea typeface="黑体" pitchFamily="2" charset="-122"/>
              </a:rPr>
              <a:t>0</a:t>
            </a:r>
            <a:r>
              <a:rPr kumimoji="1" lang="zh-CN" altLang="en-US" sz="2000">
                <a:latin typeface="黑体" pitchFamily="2" charset="-122"/>
                <a:ea typeface="黑体" pitchFamily="2" charset="-122"/>
              </a:rPr>
              <a:t>＝</a:t>
            </a:r>
            <a:r>
              <a:rPr kumimoji="1" lang="en-US" altLang="zh-CN" sz="2000">
                <a:latin typeface="黑体" pitchFamily="2" charset="-122"/>
                <a:ea typeface="黑体" pitchFamily="2" charset="-122"/>
              </a:rPr>
              <a:t>0100</a:t>
            </a:r>
            <a:r>
              <a:rPr kumimoji="1" lang="zh-CN" altLang="en-US" sz="2000">
                <a:latin typeface="黑体" pitchFamily="2" charset="-122"/>
                <a:ea typeface="黑体" pitchFamily="2" charset="-122"/>
              </a:rPr>
              <a:t>，</a:t>
            </a:r>
            <a:r>
              <a:rPr kumimoji="1" lang="en-US" altLang="zh-CN" sz="2000">
                <a:latin typeface="黑体" pitchFamily="2" charset="-122"/>
                <a:ea typeface="黑体" pitchFamily="2" charset="-122"/>
              </a:rPr>
              <a:t>C</a:t>
            </a:r>
            <a:r>
              <a:rPr kumimoji="1" lang="en-US" altLang="zh-CN" sz="2000" baseline="-25000">
                <a:latin typeface="黑体" pitchFamily="2" charset="-122"/>
                <a:ea typeface="黑体" pitchFamily="2" charset="-122"/>
              </a:rPr>
              <a:t>n+1</a:t>
            </a:r>
            <a:r>
              <a:rPr kumimoji="1" lang="zh-CN" altLang="en-US" sz="2000">
                <a:latin typeface="黑体" pitchFamily="2" charset="-122"/>
                <a:ea typeface="黑体" pitchFamily="2" charset="-122"/>
              </a:rPr>
              <a:t>＝</a:t>
            </a:r>
            <a:r>
              <a:rPr kumimoji="1" lang="en-US" altLang="zh-CN" sz="2000">
                <a:latin typeface="黑体" pitchFamily="2" charset="-122"/>
                <a:ea typeface="黑体" pitchFamily="2" charset="-122"/>
              </a:rPr>
              <a:t>0</a:t>
            </a:r>
          </a:p>
        </p:txBody>
      </p:sp>
      <p:graphicFrame>
        <p:nvGraphicFramePr>
          <p:cNvPr id="103428" name="Object 5"/>
          <p:cNvGraphicFramePr>
            <a:graphicFrameLocks noChangeAspect="1"/>
          </p:cNvGraphicFramePr>
          <p:nvPr/>
        </p:nvGraphicFramePr>
        <p:xfrm>
          <a:off x="1341438" y="4057650"/>
          <a:ext cx="4875212" cy="1670050"/>
        </p:xfrm>
        <a:graphic>
          <a:graphicData uri="http://schemas.openxmlformats.org/presentationml/2006/ole">
            <mc:AlternateContent xmlns:mc="http://schemas.openxmlformats.org/markup-compatibility/2006">
              <mc:Choice xmlns:v="urn:schemas-microsoft-com:vml" Requires="v">
                <p:oleObj spid="_x0000_s103573" name="公式" r:id="rId5" imgW="2984500" imgH="1092200" progId="Equation.3">
                  <p:embed/>
                </p:oleObj>
              </mc:Choice>
              <mc:Fallback>
                <p:oleObj name="公式" r:id="rId5" imgW="2984500" imgH="1092200" progId="Equation.3">
                  <p:embed/>
                  <p:pic>
                    <p:nvPicPr>
                      <p:cNvPr id="0"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1438" y="4057650"/>
                        <a:ext cx="4875212" cy="167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29" name="Text Box 6"/>
          <p:cNvSpPr txBox="1">
            <a:spLocks noChangeArrowheads="1"/>
          </p:cNvSpPr>
          <p:nvPr/>
        </p:nvSpPr>
        <p:spPr bwMode="auto">
          <a:xfrm>
            <a:off x="539750" y="5873750"/>
            <a:ext cx="8064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000">
                <a:latin typeface="黑体" pitchFamily="2" charset="-122"/>
                <a:ea typeface="黑体" pitchFamily="2" charset="-122"/>
              </a:rPr>
              <a:t>可以处理算术</a:t>
            </a:r>
            <a:r>
              <a:rPr kumimoji="1" lang="en-US" altLang="zh-CN" sz="2000">
                <a:latin typeface="黑体" pitchFamily="2" charset="-122"/>
                <a:ea typeface="黑体" pitchFamily="2" charset="-122"/>
              </a:rPr>
              <a:t>\</a:t>
            </a:r>
            <a:r>
              <a:rPr kumimoji="1" lang="zh-CN" altLang="en-US" sz="2000">
                <a:latin typeface="黑体" pitchFamily="2" charset="-122"/>
                <a:ea typeface="黑体" pitchFamily="2" charset="-122"/>
              </a:rPr>
              <a:t>逻辑运算，每种运算只针对</a:t>
            </a:r>
            <a:r>
              <a:rPr kumimoji="1" lang="en-US" altLang="zh-CN" sz="2000">
                <a:latin typeface="黑体" pitchFamily="2" charset="-122"/>
                <a:ea typeface="黑体" pitchFamily="2" charset="-122"/>
              </a:rPr>
              <a:t>1</a:t>
            </a:r>
            <a:r>
              <a:rPr kumimoji="1" lang="zh-CN" altLang="en-US" sz="2000">
                <a:latin typeface="黑体" pitchFamily="2" charset="-122"/>
                <a:ea typeface="黑体" pitchFamily="2" charset="-122"/>
              </a:rPr>
              <a:t>位二进制编码</a:t>
            </a:r>
          </a:p>
        </p:txBody>
      </p:sp>
      <p:pic>
        <p:nvPicPr>
          <p:cNvPr id="10343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50" y="273050"/>
            <a:ext cx="306705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1"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1813" y="2257425"/>
            <a:ext cx="54197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矩形 5"/>
          <p:cNvSpPr>
            <a:spLocks noChangeArrowheads="1"/>
          </p:cNvSpPr>
          <p:nvPr/>
        </p:nvSpPr>
        <p:spPr bwMode="auto">
          <a:xfrm>
            <a:off x="323850" y="115888"/>
            <a:ext cx="5543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t>4</a:t>
            </a:r>
            <a:r>
              <a:rPr lang="zh-CN" altLang="en-US"/>
              <a:t>位一片的</a:t>
            </a:r>
            <a:r>
              <a:rPr lang="en-US" altLang="zh-CN"/>
              <a:t>ALU,</a:t>
            </a:r>
            <a:r>
              <a:rPr lang="zh-CN" altLang="en-US"/>
              <a:t>每一位的进位公式可递推如下：</a:t>
            </a:r>
          </a:p>
        </p:txBody>
      </p:sp>
      <p:sp>
        <p:nvSpPr>
          <p:cNvPr id="104451" name="Rectangle 6"/>
          <p:cNvSpPr>
            <a:spLocks noChangeArrowheads="1"/>
          </p:cNvSpPr>
          <p:nvPr/>
        </p:nvSpPr>
        <p:spPr bwMode="auto">
          <a:xfrm>
            <a:off x="6300788" y="765175"/>
            <a:ext cx="2232025" cy="2170113"/>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pP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r>
              <a:rPr kumimoji="1" lang="zh-CN" altLang="en-US" baseline="-30000">
                <a:latin typeface="黑体" pitchFamily="2" charset="-122"/>
                <a:ea typeface="黑体" pitchFamily="2" charset="-122"/>
                <a:cs typeface="Times New Roman" pitchFamily="18" charset="0"/>
              </a:rPr>
              <a:t>＋</a:t>
            </a:r>
            <a:r>
              <a:rPr kumimoji="1" lang="en-US" altLang="zh-CN" baseline="-30000">
                <a:latin typeface="黑体" pitchFamily="2" charset="-122"/>
                <a:ea typeface="黑体" pitchFamily="2" charset="-122"/>
                <a:cs typeface="Times New Roman" pitchFamily="18" charset="0"/>
              </a:rPr>
              <a:t>1</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Y</a:t>
            </a:r>
            <a:r>
              <a:rPr kumimoji="1" lang="en-US" altLang="zh-CN" baseline="-30000">
                <a:latin typeface="黑体" pitchFamily="2" charset="-122"/>
                <a:ea typeface="黑体" pitchFamily="2" charset="-122"/>
                <a:cs typeface="Times New Roman" pitchFamily="18" charset="0"/>
              </a:rPr>
              <a:t>0</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X</a:t>
            </a:r>
            <a:r>
              <a:rPr kumimoji="1" lang="en-US" altLang="zh-CN" baseline="-30000">
                <a:latin typeface="黑体" pitchFamily="2" charset="-122"/>
                <a:ea typeface="黑体" pitchFamily="2" charset="-122"/>
                <a:cs typeface="Times New Roman" pitchFamily="18" charset="0"/>
              </a:rPr>
              <a:t>0</a:t>
            </a: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endParaRPr kumimoji="1" lang="en-US" altLang="zh-CN">
              <a:latin typeface="黑体" pitchFamily="2" charset="-122"/>
              <a:ea typeface="黑体" pitchFamily="2" charset="-122"/>
              <a:cs typeface="Times New Roman" pitchFamily="18" charset="0"/>
            </a:endParaRPr>
          </a:p>
          <a:p>
            <a:pPr algn="just" eaLnBrk="0" hangingPunct="0">
              <a:lnSpc>
                <a:spcPct val="150000"/>
              </a:lnSpc>
            </a:pP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r>
              <a:rPr kumimoji="1" lang="zh-CN" altLang="en-US" baseline="-30000">
                <a:latin typeface="黑体" pitchFamily="2" charset="-122"/>
                <a:ea typeface="黑体" pitchFamily="2" charset="-122"/>
                <a:cs typeface="Times New Roman" pitchFamily="18" charset="0"/>
              </a:rPr>
              <a:t>＋</a:t>
            </a:r>
            <a:r>
              <a:rPr kumimoji="1" lang="en-US" altLang="zh-CN" baseline="-30000">
                <a:latin typeface="黑体" pitchFamily="2" charset="-122"/>
                <a:ea typeface="黑体" pitchFamily="2" charset="-122"/>
                <a:cs typeface="Times New Roman" pitchFamily="18" charset="0"/>
              </a:rPr>
              <a:t>2</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Y</a:t>
            </a:r>
            <a:r>
              <a:rPr kumimoji="1" lang="en-US" altLang="zh-CN" baseline="-30000">
                <a:latin typeface="黑体" pitchFamily="2" charset="-122"/>
                <a:ea typeface="黑体" pitchFamily="2" charset="-122"/>
                <a:cs typeface="Times New Roman" pitchFamily="18" charset="0"/>
              </a:rPr>
              <a:t>1</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X</a:t>
            </a:r>
            <a:r>
              <a:rPr kumimoji="1" lang="en-US" altLang="zh-CN" baseline="-30000">
                <a:latin typeface="黑体" pitchFamily="2" charset="-122"/>
                <a:ea typeface="黑体" pitchFamily="2" charset="-122"/>
                <a:cs typeface="Times New Roman" pitchFamily="18" charset="0"/>
              </a:rPr>
              <a:t>1</a:t>
            </a: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r>
              <a:rPr kumimoji="1" lang="zh-CN" altLang="en-US" baseline="-30000">
                <a:latin typeface="黑体" pitchFamily="2" charset="-122"/>
                <a:ea typeface="黑体" pitchFamily="2" charset="-122"/>
                <a:cs typeface="Times New Roman" pitchFamily="18" charset="0"/>
              </a:rPr>
              <a:t>＋</a:t>
            </a:r>
            <a:r>
              <a:rPr kumimoji="1" lang="en-US" altLang="zh-CN" baseline="-30000">
                <a:latin typeface="黑体" pitchFamily="2" charset="-122"/>
                <a:ea typeface="黑体" pitchFamily="2" charset="-122"/>
                <a:cs typeface="Times New Roman" pitchFamily="18" charset="0"/>
              </a:rPr>
              <a:t>1</a:t>
            </a:r>
            <a:r>
              <a:rPr kumimoji="1" lang="en-US" altLang="zh-CN">
                <a:latin typeface="黑体" pitchFamily="2" charset="-122"/>
                <a:ea typeface="黑体" pitchFamily="2" charset="-122"/>
                <a:cs typeface="Times New Roman" pitchFamily="18" charset="0"/>
              </a:rPr>
              <a:t>   </a:t>
            </a:r>
          </a:p>
          <a:p>
            <a:pPr algn="just" eaLnBrk="0" hangingPunct="0">
              <a:lnSpc>
                <a:spcPct val="150000"/>
              </a:lnSpc>
            </a:pP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r>
              <a:rPr kumimoji="1" lang="zh-CN" altLang="en-US" baseline="-30000">
                <a:latin typeface="黑体" pitchFamily="2" charset="-122"/>
                <a:ea typeface="黑体" pitchFamily="2" charset="-122"/>
                <a:cs typeface="Times New Roman" pitchFamily="18" charset="0"/>
              </a:rPr>
              <a:t>＋</a:t>
            </a:r>
            <a:r>
              <a:rPr kumimoji="1" lang="en-US" altLang="zh-CN" baseline="-30000">
                <a:latin typeface="黑体" pitchFamily="2" charset="-122"/>
                <a:ea typeface="黑体" pitchFamily="2" charset="-122"/>
                <a:cs typeface="Times New Roman" pitchFamily="18" charset="0"/>
              </a:rPr>
              <a:t>3</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Y</a:t>
            </a:r>
            <a:r>
              <a:rPr kumimoji="1" lang="en-US" altLang="zh-CN" baseline="-30000">
                <a:latin typeface="黑体" pitchFamily="2" charset="-122"/>
                <a:ea typeface="黑体" pitchFamily="2" charset="-122"/>
                <a:cs typeface="Times New Roman" pitchFamily="18" charset="0"/>
              </a:rPr>
              <a:t>2</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X</a:t>
            </a:r>
            <a:r>
              <a:rPr kumimoji="1" lang="en-US" altLang="zh-CN" baseline="-30000">
                <a:latin typeface="黑体" pitchFamily="2" charset="-122"/>
                <a:ea typeface="黑体" pitchFamily="2" charset="-122"/>
                <a:cs typeface="Times New Roman" pitchFamily="18" charset="0"/>
              </a:rPr>
              <a:t>2</a:t>
            </a: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r>
              <a:rPr kumimoji="1" lang="zh-CN" altLang="en-US" baseline="-30000">
                <a:latin typeface="黑体" pitchFamily="2" charset="-122"/>
                <a:ea typeface="黑体" pitchFamily="2" charset="-122"/>
                <a:cs typeface="Times New Roman" pitchFamily="18" charset="0"/>
              </a:rPr>
              <a:t>＋</a:t>
            </a:r>
            <a:r>
              <a:rPr kumimoji="1" lang="en-US" altLang="zh-CN" baseline="-30000">
                <a:latin typeface="黑体" pitchFamily="2" charset="-122"/>
                <a:ea typeface="黑体" pitchFamily="2" charset="-122"/>
                <a:cs typeface="Times New Roman" pitchFamily="18" charset="0"/>
              </a:rPr>
              <a:t>2</a:t>
            </a:r>
            <a:endParaRPr kumimoji="1" lang="en-US" altLang="zh-CN">
              <a:latin typeface="黑体" pitchFamily="2" charset="-122"/>
              <a:ea typeface="黑体" pitchFamily="2" charset="-122"/>
              <a:cs typeface="Times New Roman" pitchFamily="18" charset="0"/>
            </a:endParaRPr>
          </a:p>
          <a:p>
            <a:pPr algn="just" eaLnBrk="0" hangingPunct="0">
              <a:lnSpc>
                <a:spcPct val="150000"/>
              </a:lnSpc>
            </a:pP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r>
              <a:rPr kumimoji="1" lang="zh-CN" altLang="en-US" baseline="-30000">
                <a:latin typeface="黑体" pitchFamily="2" charset="-122"/>
                <a:ea typeface="黑体" pitchFamily="2" charset="-122"/>
                <a:cs typeface="Times New Roman" pitchFamily="18" charset="0"/>
              </a:rPr>
              <a:t>＋</a:t>
            </a:r>
            <a:r>
              <a:rPr kumimoji="1" lang="en-US" altLang="zh-CN" baseline="-30000">
                <a:latin typeface="黑体" pitchFamily="2" charset="-122"/>
                <a:ea typeface="黑体" pitchFamily="2" charset="-122"/>
                <a:cs typeface="Times New Roman" pitchFamily="18" charset="0"/>
              </a:rPr>
              <a:t>4</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Y</a:t>
            </a:r>
            <a:r>
              <a:rPr kumimoji="1" lang="en-US" altLang="zh-CN" baseline="-30000">
                <a:latin typeface="黑体" pitchFamily="2" charset="-122"/>
                <a:ea typeface="黑体" pitchFamily="2" charset="-122"/>
                <a:cs typeface="Times New Roman" pitchFamily="18" charset="0"/>
              </a:rPr>
              <a:t>3</a:t>
            </a:r>
            <a:r>
              <a:rPr kumimoji="1" lang="zh-CN" altLang="en-US">
                <a:latin typeface="黑体" pitchFamily="2" charset="-122"/>
                <a:ea typeface="黑体" pitchFamily="2" charset="-122"/>
                <a:cs typeface="Times New Roman" pitchFamily="18" charset="0"/>
              </a:rPr>
              <a:t>＋</a:t>
            </a:r>
            <a:r>
              <a:rPr kumimoji="1" lang="en-US" altLang="zh-CN">
                <a:latin typeface="黑体" pitchFamily="2" charset="-122"/>
                <a:ea typeface="黑体" pitchFamily="2" charset="-122"/>
                <a:cs typeface="Times New Roman" pitchFamily="18" charset="0"/>
              </a:rPr>
              <a:t>X</a:t>
            </a:r>
            <a:r>
              <a:rPr kumimoji="1" lang="en-US" altLang="zh-CN" baseline="-30000">
                <a:latin typeface="黑体" pitchFamily="2" charset="-122"/>
                <a:ea typeface="黑体" pitchFamily="2" charset="-122"/>
                <a:cs typeface="Times New Roman" pitchFamily="18" charset="0"/>
              </a:rPr>
              <a:t>3</a:t>
            </a:r>
            <a:r>
              <a:rPr kumimoji="1" lang="en-US" altLang="zh-CN">
                <a:latin typeface="黑体" pitchFamily="2" charset="-122"/>
                <a:ea typeface="黑体" pitchFamily="2" charset="-122"/>
                <a:cs typeface="Times New Roman" pitchFamily="18" charset="0"/>
              </a:rPr>
              <a:t>C</a:t>
            </a:r>
            <a:r>
              <a:rPr kumimoji="1" lang="en-US" altLang="zh-CN" baseline="-30000">
                <a:latin typeface="黑体" pitchFamily="2" charset="-122"/>
                <a:ea typeface="黑体" pitchFamily="2" charset="-122"/>
                <a:cs typeface="Times New Roman" pitchFamily="18" charset="0"/>
              </a:rPr>
              <a:t>n</a:t>
            </a:r>
            <a:r>
              <a:rPr kumimoji="1" lang="zh-CN" altLang="en-US" baseline="-30000">
                <a:latin typeface="黑体" pitchFamily="2" charset="-122"/>
                <a:ea typeface="黑体" pitchFamily="2" charset="-122"/>
                <a:cs typeface="Times New Roman" pitchFamily="18" charset="0"/>
              </a:rPr>
              <a:t>＋</a:t>
            </a:r>
            <a:r>
              <a:rPr kumimoji="1" lang="en-US" altLang="zh-CN" baseline="-30000">
                <a:latin typeface="黑体" pitchFamily="2" charset="-122"/>
                <a:ea typeface="黑体" pitchFamily="2" charset="-122"/>
                <a:cs typeface="Times New Roman" pitchFamily="18" charset="0"/>
              </a:rPr>
              <a:t>3</a:t>
            </a:r>
            <a:endParaRPr kumimoji="1" lang="en-US" altLang="zh-CN">
              <a:latin typeface="黑体" pitchFamily="2" charset="-122"/>
              <a:ea typeface="黑体" pitchFamily="2" charset="-122"/>
              <a:cs typeface="Times New Roman" pitchFamily="18" charset="0"/>
            </a:endParaRPr>
          </a:p>
          <a:p>
            <a:pPr algn="just" eaLnBrk="0" hangingPunct="0">
              <a:lnSpc>
                <a:spcPct val="150000"/>
              </a:lnSpc>
            </a:pPr>
            <a:r>
              <a:rPr kumimoji="1" lang="zh-CN" altLang="en-US">
                <a:latin typeface="黑体" pitchFamily="2" charset="-122"/>
                <a:ea typeface="黑体" pitchFamily="2" charset="-122"/>
                <a:cs typeface="Times New Roman" pitchFamily="18" charset="0"/>
              </a:rPr>
              <a:t>串行进位，速度慢</a:t>
            </a:r>
            <a:endParaRPr kumimoji="1" lang="en-US" altLang="zh-CN">
              <a:latin typeface="黑体" pitchFamily="2" charset="-122"/>
              <a:ea typeface="黑体" pitchFamily="2" charset="-122"/>
              <a:cs typeface="Times New Roman" pitchFamily="18" charset="0"/>
            </a:endParaRPr>
          </a:p>
        </p:txBody>
      </p:sp>
      <p:sp>
        <p:nvSpPr>
          <p:cNvPr id="104452" name="Rectangle 1"/>
          <p:cNvSpPr>
            <a:spLocks noChangeArrowheads="1"/>
          </p:cNvSpPr>
          <p:nvPr/>
        </p:nvSpPr>
        <p:spPr bwMode="auto">
          <a:xfrm>
            <a:off x="325438" y="3181350"/>
            <a:ext cx="8710612"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a:latin typeface="黑体" pitchFamily="2" charset="-122"/>
                <a:ea typeface="黑体" pitchFamily="2" charset="-122"/>
              </a:rPr>
              <a:t>第0位向第1位的进位公式为</a:t>
            </a:r>
            <a:r>
              <a:rPr lang="zh-CN" altLang="en-US">
                <a:latin typeface="黑体" pitchFamily="2" charset="-122"/>
                <a:ea typeface="黑体" pitchFamily="2" charset="-122"/>
              </a:rPr>
              <a:t>：</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n＋1</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a:t>
            </a:r>
            <a:r>
              <a:rPr lang="en-US" altLang="zh-CN" baseline="-30000">
                <a:solidFill>
                  <a:srgbClr val="0000FF"/>
                </a:solidFill>
                <a:latin typeface="黑体" pitchFamily="2" charset="-122"/>
                <a:ea typeface="黑体" pitchFamily="2" charset="-122"/>
              </a:rPr>
              <a:t> </a:t>
            </a:r>
            <a:r>
              <a:rPr lang="zh-CN" altLang="en-US" baseline="-30000">
                <a:solidFill>
                  <a:srgbClr val="0000FF"/>
                </a:solidFill>
                <a:latin typeface="黑体" pitchFamily="2" charset="-122"/>
                <a:ea typeface="黑体" pitchFamily="2" charset="-122"/>
              </a:rPr>
              <a:t>，</a:t>
            </a:r>
            <a:r>
              <a:rPr lang="zh-CN" altLang="zh-CN">
                <a:latin typeface="黑体" pitchFamily="2" charset="-122"/>
                <a:ea typeface="黑体" pitchFamily="2" charset="-122"/>
              </a:rPr>
              <a:t>其中C</a:t>
            </a:r>
            <a:r>
              <a:rPr lang="zh-CN" altLang="zh-CN" baseline="-30000">
                <a:latin typeface="黑体" pitchFamily="2" charset="-122"/>
                <a:ea typeface="黑体" pitchFamily="2" charset="-122"/>
              </a:rPr>
              <a:t>n</a:t>
            </a:r>
            <a:r>
              <a:rPr lang="zh-CN" altLang="zh-CN">
                <a:latin typeface="黑体" pitchFamily="2" charset="-122"/>
                <a:ea typeface="黑体" pitchFamily="2" charset="-122"/>
              </a:rPr>
              <a:t>是向第0位（末位）的进位。</a:t>
            </a:r>
          </a:p>
          <a:p>
            <a:pPr eaLnBrk="0" hangingPunct="0">
              <a:lnSpc>
                <a:spcPct val="130000"/>
              </a:lnSpc>
            </a:pPr>
            <a:r>
              <a:rPr lang="zh-CN" altLang="zh-CN">
                <a:latin typeface="黑体" pitchFamily="2" charset="-122"/>
                <a:ea typeface="黑体" pitchFamily="2" charset="-122"/>
              </a:rPr>
              <a:t>第1位向第2位的进位公式为</a:t>
            </a:r>
            <a:r>
              <a:rPr lang="zh-CN" altLang="en-US">
                <a:latin typeface="黑体" pitchFamily="2" charset="-122"/>
                <a:ea typeface="黑体" pitchFamily="2" charset="-122"/>
              </a:rPr>
              <a:t>：</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n＋2</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n＋1</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　</a:t>
            </a:r>
            <a:endParaRPr lang="zh-CN" altLang="zh-CN">
              <a:latin typeface="黑体" pitchFamily="2" charset="-122"/>
              <a:ea typeface="黑体" pitchFamily="2" charset="-122"/>
            </a:endParaRPr>
          </a:p>
          <a:p>
            <a:pPr eaLnBrk="0" hangingPunct="0">
              <a:lnSpc>
                <a:spcPct val="130000"/>
              </a:lnSpc>
            </a:pPr>
            <a:r>
              <a:rPr lang="zh-CN" altLang="zh-CN">
                <a:latin typeface="黑体" pitchFamily="2" charset="-122"/>
                <a:ea typeface="黑体" pitchFamily="2" charset="-122"/>
              </a:rPr>
              <a:t>第2位向第3位的进位公式</a:t>
            </a:r>
            <a:r>
              <a:rPr lang="zh-CN" altLang="en-US">
                <a:latin typeface="黑体" pitchFamily="2" charset="-122"/>
                <a:ea typeface="黑体" pitchFamily="2" charset="-122"/>
              </a:rPr>
              <a:t>：</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n＋2</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a:t>
            </a:r>
            <a:endParaRPr lang="zh-CN" altLang="zh-CN">
              <a:latin typeface="黑体" pitchFamily="2" charset="-122"/>
              <a:ea typeface="黑体" pitchFamily="2" charset="-122"/>
            </a:endParaRPr>
          </a:p>
          <a:p>
            <a:pPr eaLnBrk="0" hangingPunct="0">
              <a:lnSpc>
                <a:spcPct val="130000"/>
              </a:lnSpc>
            </a:pPr>
            <a:r>
              <a:rPr lang="zh-CN" altLang="zh-CN">
                <a:latin typeface="黑体" pitchFamily="2" charset="-122"/>
                <a:ea typeface="黑体" pitchFamily="2" charset="-122"/>
              </a:rPr>
              <a:t>第3位的进位输出（即整个4位运算进位输出）公式为</a:t>
            </a:r>
            <a:r>
              <a:rPr lang="zh-CN" altLang="en-US">
                <a:latin typeface="黑体" pitchFamily="2" charset="-122"/>
                <a:ea typeface="黑体" pitchFamily="2" charset="-122"/>
              </a:rPr>
              <a:t>：</a:t>
            </a:r>
            <a:endParaRPr lang="zh-CN" altLang="zh-CN">
              <a:latin typeface="黑体" pitchFamily="2" charset="-122"/>
              <a:ea typeface="黑体" pitchFamily="2" charset="-122"/>
            </a:endParaRPr>
          </a:p>
          <a:p>
            <a:pPr eaLnBrk="0" hangingPunct="0">
              <a:lnSpc>
                <a:spcPct val="130000"/>
              </a:lnSpc>
            </a:pPr>
            <a:r>
              <a:rPr lang="zh-CN" altLang="zh-CN">
                <a:latin typeface="黑体" pitchFamily="2" charset="-122"/>
                <a:ea typeface="黑体" pitchFamily="2" charset="-122"/>
              </a:rPr>
              <a:t>　</a:t>
            </a:r>
            <a:r>
              <a:rPr lang="en-US" altLang="zh-CN">
                <a:latin typeface="黑体" pitchFamily="2" charset="-122"/>
                <a:ea typeface="黑体" pitchFamily="2" charset="-122"/>
              </a:rPr>
              <a:t>                      </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n＋4</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C</a:t>
            </a:r>
            <a:r>
              <a:rPr lang="zh-CN" altLang="zh-CN" baseline="-30000">
                <a:solidFill>
                  <a:srgbClr val="0000FF"/>
                </a:solidFill>
                <a:latin typeface="黑体" pitchFamily="2" charset="-122"/>
                <a:ea typeface="黑体" pitchFamily="2" charset="-122"/>
              </a:rPr>
              <a:t>n</a:t>
            </a:r>
            <a:endParaRPr lang="zh-CN" altLang="zh-CN">
              <a:latin typeface="黑体" pitchFamily="2" charset="-122"/>
              <a:ea typeface="黑体" pitchFamily="2" charset="-122"/>
            </a:endParaRPr>
          </a:p>
          <a:p>
            <a:pPr eaLnBrk="0" hangingPunct="0">
              <a:lnSpc>
                <a:spcPct val="130000"/>
              </a:lnSpc>
            </a:pPr>
            <a:r>
              <a:rPr lang="zh-CN" altLang="zh-CN">
                <a:solidFill>
                  <a:srgbClr val="000000"/>
                </a:solidFill>
                <a:latin typeface="黑体" pitchFamily="2" charset="-122"/>
                <a:ea typeface="黑体" pitchFamily="2" charset="-122"/>
              </a:rPr>
              <a:t>设</a:t>
            </a:r>
            <a:r>
              <a:rPr lang="zh-CN" altLang="zh-CN">
                <a:solidFill>
                  <a:srgbClr val="0000FF"/>
                </a:solidFill>
                <a:latin typeface="黑体" pitchFamily="2" charset="-122"/>
                <a:ea typeface="黑体" pitchFamily="2" charset="-122"/>
              </a:rPr>
              <a:t>　G＝Y</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zh-CN" altLang="zh-CN">
                <a:solidFill>
                  <a:srgbClr val="0000FF"/>
                </a:solidFill>
                <a:latin typeface="黑体" pitchFamily="2" charset="-122"/>
                <a:ea typeface="黑体" pitchFamily="2" charset="-122"/>
              </a:rPr>
              <a:t>＋Y</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r>
              <a:rPr lang="en-US" altLang="zh-CN" baseline="-30000">
                <a:solidFill>
                  <a:srgbClr val="0000FF"/>
                </a:solidFill>
                <a:latin typeface="黑体" pitchFamily="2" charset="-122"/>
                <a:ea typeface="黑体" pitchFamily="2" charset="-122"/>
              </a:rPr>
              <a:t> </a:t>
            </a:r>
            <a:r>
              <a:rPr lang="zh-CN" altLang="en-US" baseline="-30000">
                <a:solidFill>
                  <a:srgbClr val="0000FF"/>
                </a:solidFill>
                <a:latin typeface="黑体" pitchFamily="2" charset="-122"/>
                <a:ea typeface="黑体" pitchFamily="2" charset="-122"/>
              </a:rPr>
              <a:t>、</a:t>
            </a:r>
            <a:r>
              <a:rPr lang="zh-CN" altLang="zh-CN">
                <a:solidFill>
                  <a:srgbClr val="0000FF"/>
                </a:solidFill>
                <a:latin typeface="黑体" pitchFamily="2" charset="-122"/>
                <a:ea typeface="黑体" pitchFamily="2" charset="-122"/>
              </a:rPr>
              <a:t>P＝X</a:t>
            </a:r>
            <a:r>
              <a:rPr lang="zh-CN" altLang="zh-CN" baseline="-30000">
                <a:solidFill>
                  <a:srgbClr val="0000FF"/>
                </a:solidFill>
                <a:latin typeface="黑体" pitchFamily="2" charset="-122"/>
                <a:ea typeface="黑体" pitchFamily="2" charset="-122"/>
              </a:rPr>
              <a:t>0</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1</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2</a:t>
            </a:r>
            <a:r>
              <a:rPr lang="zh-CN" altLang="zh-CN">
                <a:solidFill>
                  <a:srgbClr val="0000FF"/>
                </a:solidFill>
                <a:latin typeface="黑体" pitchFamily="2" charset="-122"/>
                <a:ea typeface="黑体" pitchFamily="2" charset="-122"/>
              </a:rPr>
              <a:t>X</a:t>
            </a:r>
            <a:r>
              <a:rPr lang="zh-CN" altLang="zh-CN" baseline="-30000">
                <a:solidFill>
                  <a:srgbClr val="0000FF"/>
                </a:solidFill>
                <a:latin typeface="黑体" pitchFamily="2" charset="-122"/>
                <a:ea typeface="黑体" pitchFamily="2" charset="-122"/>
              </a:rPr>
              <a:t>3</a:t>
            </a:r>
            <a:endParaRPr lang="zh-CN" altLang="zh-CN">
              <a:latin typeface="黑体" pitchFamily="2" charset="-122"/>
              <a:ea typeface="黑体" pitchFamily="2" charset="-122"/>
            </a:endParaRPr>
          </a:p>
          <a:p>
            <a:pPr eaLnBrk="0" hangingPunct="0">
              <a:lnSpc>
                <a:spcPct val="130000"/>
              </a:lnSpc>
            </a:pPr>
            <a:r>
              <a:rPr lang="zh-CN" altLang="zh-CN">
                <a:latin typeface="黑体" pitchFamily="2" charset="-122"/>
                <a:ea typeface="黑体" pitchFamily="2" charset="-122"/>
              </a:rPr>
              <a:t>则 </a:t>
            </a:r>
            <a:r>
              <a:rPr lang="en-US" altLang="zh-CN">
                <a:latin typeface="黑体" pitchFamily="2" charset="-122"/>
                <a:ea typeface="黑体" pitchFamily="2" charset="-122"/>
              </a:rPr>
              <a:t> </a:t>
            </a:r>
            <a:r>
              <a:rPr lang="zh-CN" altLang="zh-CN">
                <a:solidFill>
                  <a:srgbClr val="FF0000"/>
                </a:solidFill>
                <a:latin typeface="黑体" pitchFamily="2" charset="-122"/>
                <a:ea typeface="黑体" pitchFamily="2" charset="-122"/>
              </a:rPr>
              <a:t>C</a:t>
            </a:r>
            <a:r>
              <a:rPr lang="zh-CN" altLang="zh-CN" baseline="-30000">
                <a:solidFill>
                  <a:srgbClr val="FF0000"/>
                </a:solidFill>
                <a:latin typeface="黑体" pitchFamily="2" charset="-122"/>
                <a:ea typeface="黑体" pitchFamily="2" charset="-122"/>
              </a:rPr>
              <a:t>n＋4</a:t>
            </a:r>
            <a:r>
              <a:rPr lang="zh-CN" altLang="zh-CN">
                <a:solidFill>
                  <a:srgbClr val="FF0000"/>
                </a:solidFill>
                <a:latin typeface="黑体" pitchFamily="2" charset="-122"/>
                <a:ea typeface="黑体" pitchFamily="2" charset="-122"/>
              </a:rPr>
              <a:t>＝ G ＋ PC</a:t>
            </a:r>
            <a:r>
              <a:rPr lang="zh-CN" altLang="zh-CN" baseline="-30000">
                <a:solidFill>
                  <a:srgbClr val="FF0000"/>
                </a:solidFill>
                <a:latin typeface="黑体" pitchFamily="2" charset="-122"/>
                <a:ea typeface="黑体" pitchFamily="2" charset="-122"/>
              </a:rPr>
              <a:t>n</a:t>
            </a:r>
            <a:endParaRPr lang="en-US" altLang="zh-CN" baseline="-30000">
              <a:solidFill>
                <a:srgbClr val="FF0000"/>
              </a:solidFill>
              <a:latin typeface="黑体" pitchFamily="2" charset="-122"/>
              <a:ea typeface="黑体" pitchFamily="2" charset="-122"/>
            </a:endParaRPr>
          </a:p>
          <a:p>
            <a:pPr eaLnBrk="0" hangingPunct="0">
              <a:lnSpc>
                <a:spcPct val="130000"/>
              </a:lnSpc>
            </a:pPr>
            <a:r>
              <a:rPr lang="zh-CN" altLang="en-US">
                <a:latin typeface="黑体" pitchFamily="2" charset="-122"/>
                <a:ea typeface="黑体" pitchFamily="2" charset="-122"/>
              </a:rPr>
              <a:t>    这样</a:t>
            </a:r>
            <a:r>
              <a:rPr lang="en-US" altLang="zh-CN">
                <a:latin typeface="黑体" pitchFamily="2" charset="-122"/>
                <a:ea typeface="黑体" pitchFamily="2" charset="-122"/>
              </a:rPr>
              <a:t>,</a:t>
            </a:r>
            <a:r>
              <a:rPr lang="zh-CN" altLang="en-US">
                <a:latin typeface="黑体" pitchFamily="2" charset="-122"/>
                <a:ea typeface="黑体" pitchFamily="2" charset="-122"/>
              </a:rPr>
              <a:t>对一片</a:t>
            </a:r>
            <a:r>
              <a:rPr lang="en-US" altLang="zh-CN">
                <a:latin typeface="黑体" pitchFamily="2" charset="-122"/>
                <a:ea typeface="黑体" pitchFamily="2" charset="-122"/>
              </a:rPr>
              <a:t>ALU</a:t>
            </a:r>
            <a:r>
              <a:rPr lang="zh-CN" altLang="en-US">
                <a:latin typeface="黑体" pitchFamily="2" charset="-122"/>
                <a:ea typeface="黑体" pitchFamily="2" charset="-122"/>
              </a:rPr>
              <a:t>来说</a:t>
            </a:r>
            <a:r>
              <a:rPr lang="en-US" altLang="zh-CN">
                <a:latin typeface="黑体" pitchFamily="2" charset="-122"/>
                <a:ea typeface="黑体" pitchFamily="2" charset="-122"/>
              </a:rPr>
              <a:t>,</a:t>
            </a:r>
            <a:r>
              <a:rPr lang="zh-CN" altLang="en-US">
                <a:latin typeface="黑体" pitchFamily="2" charset="-122"/>
                <a:ea typeface="黑体" pitchFamily="2" charset="-122"/>
              </a:rPr>
              <a:t>可有三个进位输出。其中</a:t>
            </a:r>
            <a:r>
              <a:rPr lang="en-US" altLang="zh-CN">
                <a:latin typeface="黑体" pitchFamily="2" charset="-122"/>
                <a:ea typeface="黑体" pitchFamily="2" charset="-122"/>
              </a:rPr>
              <a:t>G</a:t>
            </a:r>
            <a:r>
              <a:rPr lang="zh-CN" altLang="en-US">
                <a:latin typeface="黑体" pitchFamily="2" charset="-122"/>
                <a:ea typeface="黑体" pitchFamily="2" charset="-122"/>
              </a:rPr>
              <a:t>称为</a:t>
            </a:r>
            <a:r>
              <a:rPr lang="zh-CN" altLang="en-US">
                <a:solidFill>
                  <a:srgbClr val="FF0000"/>
                </a:solidFill>
                <a:latin typeface="黑体" pitchFamily="2" charset="-122"/>
                <a:ea typeface="黑体" pitchFamily="2" charset="-122"/>
              </a:rPr>
              <a:t>进位发生输出</a:t>
            </a:r>
            <a:r>
              <a:rPr lang="en-US" altLang="zh-CN">
                <a:latin typeface="黑体" pitchFamily="2" charset="-122"/>
                <a:ea typeface="黑体" pitchFamily="2" charset="-122"/>
              </a:rPr>
              <a:t>,P</a:t>
            </a:r>
            <a:r>
              <a:rPr lang="zh-CN" altLang="en-US">
                <a:latin typeface="黑体" pitchFamily="2" charset="-122"/>
                <a:ea typeface="黑体" pitchFamily="2" charset="-122"/>
              </a:rPr>
              <a:t>称为</a:t>
            </a:r>
            <a:r>
              <a:rPr lang="zh-CN" altLang="en-US">
                <a:solidFill>
                  <a:srgbClr val="FF0000"/>
                </a:solidFill>
                <a:latin typeface="黑体" pitchFamily="2" charset="-122"/>
                <a:ea typeface="黑体" pitchFamily="2" charset="-122"/>
              </a:rPr>
              <a:t>进位传送输出</a:t>
            </a:r>
            <a:r>
              <a:rPr lang="zh-CN" altLang="en-US">
                <a:latin typeface="黑体" pitchFamily="2" charset="-122"/>
                <a:ea typeface="黑体" pitchFamily="2" charset="-122"/>
              </a:rPr>
              <a:t>。在电路中多加这两个进位输出的目的</a:t>
            </a:r>
            <a:r>
              <a:rPr lang="en-US" altLang="zh-CN">
                <a:latin typeface="黑体" pitchFamily="2" charset="-122"/>
                <a:ea typeface="黑体" pitchFamily="2" charset="-122"/>
              </a:rPr>
              <a:t>,</a:t>
            </a:r>
            <a:r>
              <a:rPr lang="zh-CN" altLang="en-US">
                <a:latin typeface="黑体" pitchFamily="2" charset="-122"/>
                <a:ea typeface="黑体" pitchFamily="2" charset="-122"/>
              </a:rPr>
              <a:t>是为了便于实现多片（组）</a:t>
            </a:r>
            <a:r>
              <a:rPr lang="en-US" altLang="zh-CN">
                <a:latin typeface="黑体" pitchFamily="2" charset="-122"/>
                <a:ea typeface="黑体" pitchFamily="2" charset="-122"/>
              </a:rPr>
              <a:t>ALU</a:t>
            </a:r>
            <a:r>
              <a:rPr lang="zh-CN" altLang="en-US">
                <a:latin typeface="黑体" pitchFamily="2" charset="-122"/>
                <a:ea typeface="黑体" pitchFamily="2" charset="-122"/>
              </a:rPr>
              <a:t>之间的先行进位</a:t>
            </a:r>
            <a:r>
              <a:rPr lang="en-US" altLang="zh-CN">
                <a:latin typeface="黑体" pitchFamily="2" charset="-122"/>
                <a:ea typeface="黑体" pitchFamily="2" charset="-122"/>
              </a:rPr>
              <a:t>,</a:t>
            </a:r>
            <a:r>
              <a:rPr lang="zh-CN" altLang="en-US">
                <a:latin typeface="黑体" pitchFamily="2" charset="-122"/>
                <a:ea typeface="黑体" pitchFamily="2" charset="-122"/>
              </a:rPr>
              <a:t>为此还需一个配合电路</a:t>
            </a:r>
            <a:r>
              <a:rPr lang="en-US" altLang="zh-CN">
                <a:latin typeface="黑体" pitchFamily="2" charset="-122"/>
                <a:ea typeface="黑体" pitchFamily="2" charset="-122"/>
              </a:rPr>
              <a:t>,</a:t>
            </a:r>
            <a:r>
              <a:rPr lang="zh-CN" altLang="en-US">
                <a:latin typeface="黑体" pitchFamily="2" charset="-122"/>
                <a:ea typeface="黑体" pitchFamily="2" charset="-122"/>
              </a:rPr>
              <a:t>称之为先行进位发生器</a:t>
            </a:r>
            <a:r>
              <a:rPr lang="en-US" altLang="zh-CN">
                <a:latin typeface="黑体" pitchFamily="2" charset="-122"/>
                <a:ea typeface="黑体" pitchFamily="2" charset="-122"/>
              </a:rPr>
              <a:t>(CLA)</a:t>
            </a:r>
            <a:r>
              <a:rPr lang="zh-CN" altLang="en-US">
                <a:latin typeface="黑体" pitchFamily="2" charset="-122"/>
                <a:ea typeface="黑体" pitchFamily="2" charset="-122"/>
              </a:rPr>
              <a:t>。</a:t>
            </a:r>
            <a:endParaRPr lang="zh-CN" altLang="zh-CN">
              <a:latin typeface="黑体" pitchFamily="2" charset="-122"/>
              <a:ea typeface="黑体" pitchFamily="2" charset="-122"/>
            </a:endParaRPr>
          </a:p>
        </p:txBody>
      </p:sp>
      <p:sp>
        <p:nvSpPr>
          <p:cNvPr id="10" name="矩形 9"/>
          <p:cNvSpPr>
            <a:spLocks noChangeArrowheads="1"/>
          </p:cNvSpPr>
          <p:nvPr/>
        </p:nvSpPr>
        <p:spPr bwMode="auto">
          <a:xfrm>
            <a:off x="323850" y="5805488"/>
            <a:ext cx="8640763" cy="92233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a:latin typeface="黑体" pitchFamily="2" charset="-122"/>
                <a:ea typeface="黑体" pitchFamily="2" charset="-122"/>
              </a:rPr>
              <a:t>    C</a:t>
            </a:r>
            <a:r>
              <a:rPr lang="en-US" altLang="zh-CN" baseline="-25000">
                <a:latin typeface="黑体" pitchFamily="2" charset="-122"/>
                <a:ea typeface="黑体" pitchFamily="2" charset="-122"/>
              </a:rPr>
              <a:t>n+4</a:t>
            </a:r>
            <a:r>
              <a:rPr lang="zh-CN" altLang="en-US">
                <a:latin typeface="黑体" pitchFamily="2" charset="-122"/>
                <a:ea typeface="黑体" pitchFamily="2" charset="-122"/>
              </a:rPr>
              <a:t>是本片</a:t>
            </a:r>
            <a:r>
              <a:rPr lang="en-US" altLang="zh-CN">
                <a:latin typeface="黑体" pitchFamily="2" charset="-122"/>
                <a:ea typeface="黑体" pitchFamily="2" charset="-122"/>
              </a:rPr>
              <a:t>(</a:t>
            </a:r>
            <a:r>
              <a:rPr lang="zh-CN" altLang="en-US">
                <a:latin typeface="黑体" pitchFamily="2" charset="-122"/>
                <a:ea typeface="黑体" pitchFamily="2" charset="-122"/>
              </a:rPr>
              <a:t>组</a:t>
            </a:r>
            <a:r>
              <a:rPr lang="en-US" altLang="zh-CN">
                <a:latin typeface="黑体" pitchFamily="2" charset="-122"/>
                <a:ea typeface="黑体" pitchFamily="2" charset="-122"/>
              </a:rPr>
              <a:t>)</a:t>
            </a:r>
            <a:r>
              <a:rPr lang="zh-CN" altLang="en-US">
                <a:latin typeface="黑体" pitchFamily="2" charset="-122"/>
                <a:ea typeface="黑体" pitchFamily="2" charset="-122"/>
              </a:rPr>
              <a:t>的最后进位输出。逻辑表达式表明</a:t>
            </a:r>
            <a:r>
              <a:rPr lang="en-US" altLang="zh-CN">
                <a:latin typeface="黑体" pitchFamily="2" charset="-122"/>
                <a:ea typeface="黑体" pitchFamily="2" charset="-122"/>
              </a:rPr>
              <a:t>,</a:t>
            </a:r>
            <a:r>
              <a:rPr lang="zh-CN" altLang="en-US">
                <a:latin typeface="黑体" pitchFamily="2" charset="-122"/>
                <a:ea typeface="黑体" pitchFamily="2" charset="-122"/>
              </a:rPr>
              <a:t>这是一个</a:t>
            </a:r>
            <a:r>
              <a:rPr lang="zh-CN" altLang="en-US" b="1">
                <a:solidFill>
                  <a:srgbClr val="FF0000"/>
                </a:solidFill>
                <a:latin typeface="黑体" pitchFamily="2" charset="-122"/>
                <a:ea typeface="黑体" pitchFamily="2" charset="-122"/>
              </a:rPr>
              <a:t>先行进位</a:t>
            </a:r>
            <a:r>
              <a:rPr lang="zh-CN" altLang="en-US">
                <a:latin typeface="黑体" pitchFamily="2" charset="-122"/>
                <a:ea typeface="黑体" pitchFamily="2" charset="-122"/>
              </a:rPr>
              <a:t>逻辑。换句话说</a:t>
            </a:r>
            <a:r>
              <a:rPr lang="en-US" altLang="zh-CN">
                <a:latin typeface="黑体" pitchFamily="2" charset="-122"/>
                <a:ea typeface="黑体" pitchFamily="2" charset="-122"/>
              </a:rPr>
              <a:t>,</a:t>
            </a:r>
            <a:r>
              <a:rPr lang="zh-CN" altLang="en-US">
                <a:latin typeface="黑体" pitchFamily="2" charset="-122"/>
                <a:ea typeface="黑体" pitchFamily="2" charset="-122"/>
              </a:rPr>
              <a:t>第</a:t>
            </a:r>
            <a:r>
              <a:rPr lang="en-US" altLang="zh-CN">
                <a:latin typeface="黑体" pitchFamily="2" charset="-122"/>
                <a:ea typeface="黑体" pitchFamily="2" charset="-122"/>
              </a:rPr>
              <a:t>0</a:t>
            </a:r>
            <a:r>
              <a:rPr lang="zh-CN" altLang="en-US">
                <a:latin typeface="黑体" pitchFamily="2" charset="-122"/>
                <a:ea typeface="黑体" pitchFamily="2" charset="-122"/>
              </a:rPr>
              <a:t>位的进位输入</a:t>
            </a:r>
            <a:r>
              <a:rPr lang="en-US" altLang="zh-CN">
                <a:latin typeface="黑体" pitchFamily="2" charset="-122"/>
                <a:ea typeface="黑体" pitchFamily="2" charset="-122"/>
              </a:rPr>
              <a:t>C</a:t>
            </a:r>
            <a:r>
              <a:rPr lang="en-US" altLang="zh-CN" baseline="-25000">
                <a:latin typeface="黑体" pitchFamily="2" charset="-122"/>
                <a:ea typeface="黑体" pitchFamily="2" charset="-122"/>
              </a:rPr>
              <a:t>n</a:t>
            </a:r>
            <a:r>
              <a:rPr lang="zh-CN" altLang="en-US">
                <a:latin typeface="黑体" pitchFamily="2" charset="-122"/>
                <a:ea typeface="黑体" pitchFamily="2" charset="-122"/>
              </a:rPr>
              <a:t>可以直接传送到最高位上去</a:t>
            </a:r>
            <a:r>
              <a:rPr lang="en-US" altLang="zh-CN">
                <a:latin typeface="黑体" pitchFamily="2" charset="-122"/>
                <a:ea typeface="黑体" pitchFamily="2" charset="-122"/>
              </a:rPr>
              <a:t>,</a:t>
            </a:r>
            <a:r>
              <a:rPr lang="zh-CN" altLang="en-US">
                <a:latin typeface="黑体" pitchFamily="2" charset="-122"/>
                <a:ea typeface="黑体" pitchFamily="2" charset="-122"/>
              </a:rPr>
              <a:t>因而可以实现高速运算。</a:t>
            </a:r>
          </a:p>
        </p:txBody>
      </p:sp>
      <p:pic>
        <p:nvPicPr>
          <p:cNvPr id="10445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549275"/>
            <a:ext cx="568801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ChangeArrowheads="1"/>
          </p:cNvSpPr>
          <p:nvPr/>
        </p:nvSpPr>
        <p:spPr bwMode="auto">
          <a:xfrm>
            <a:off x="250825" y="122238"/>
            <a:ext cx="76342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3.算术逻辑运算的实现　</a:t>
            </a:r>
          </a:p>
          <a:p>
            <a:pPr eaLnBrk="0" hangingPunct="0">
              <a:lnSpc>
                <a:spcPct val="150000"/>
              </a:lnSpc>
            </a:pPr>
            <a:r>
              <a:rPr lang="zh-CN" altLang="zh-CN" sz="2000">
                <a:latin typeface="黑体" pitchFamily="2" charset="-122"/>
                <a:ea typeface="黑体" pitchFamily="2" charset="-122"/>
              </a:rPr>
              <a:t>　　</a:t>
            </a:r>
            <a:r>
              <a:rPr lang="zh-CN" altLang="en-US" sz="2000">
                <a:latin typeface="黑体" pitchFamily="2" charset="-122"/>
                <a:ea typeface="黑体" pitchFamily="2" charset="-122"/>
              </a:rPr>
              <a:t>下图是</a:t>
            </a:r>
            <a:r>
              <a:rPr lang="zh-CN" altLang="zh-CN" sz="2000">
                <a:latin typeface="黑体" pitchFamily="2" charset="-122"/>
                <a:ea typeface="黑体" pitchFamily="2" charset="-122"/>
              </a:rPr>
              <a:t>用正逻辑表示的4位算术/逻辑运算单元(ALU)的逻辑电路图,它是根据上面的原始推导公式用TTL电路实现的。这个器件的商业标号为74181ALU。</a:t>
            </a:r>
          </a:p>
        </p:txBody>
      </p:sp>
      <p:sp>
        <p:nvSpPr>
          <p:cNvPr id="105476" name="AutoShape 3" descr="G:\jzdx\%E8%AE%A1%E7%AE%97%E6%9C%BA%E7%BB%84%E6%88%90%E5%8E%9F%E7%90%86\%E6%95%99%E6%A1%88\%E7%AC%AC%E4%BA%8C%E7%AB%A0\htm\Images\cai.jpg">
            <a:hlinkClick r:id="rId2" action="ppaction://hlinkfile"/>
          </p:cNvPr>
          <p:cNvSpPr>
            <a:spLocks noChangeAspect="1" noChangeArrowheads="1"/>
          </p:cNvSpPr>
          <p:nvPr/>
        </p:nvSpPr>
        <p:spPr bwMode="auto">
          <a:xfrm>
            <a:off x="6132513" y="107950"/>
            <a:ext cx="6381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751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628" y="2136775"/>
            <a:ext cx="8582025"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矩形 1"/>
          <p:cNvSpPr>
            <a:spLocks noChangeArrowheads="1"/>
          </p:cNvSpPr>
          <p:nvPr/>
        </p:nvSpPr>
        <p:spPr bwMode="auto">
          <a:xfrm>
            <a:off x="315913" y="188913"/>
            <a:ext cx="8424862"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itchFamily="2" charset="-122"/>
                <a:ea typeface="黑体" pitchFamily="2" charset="-122"/>
              </a:rPr>
              <a:t>    除了</a:t>
            </a:r>
            <a:r>
              <a:rPr lang="en-US" altLang="zh-CN" sz="2000">
                <a:latin typeface="黑体" pitchFamily="2" charset="-122"/>
                <a:ea typeface="黑体" pitchFamily="2" charset="-122"/>
              </a:rPr>
              <a:t>S</a:t>
            </a:r>
            <a:r>
              <a:rPr lang="en-US" altLang="zh-CN" sz="2000" baseline="-25000">
                <a:latin typeface="黑体" pitchFamily="2" charset="-122"/>
                <a:ea typeface="黑体" pitchFamily="2" charset="-122"/>
              </a:rPr>
              <a:t>0</a:t>
            </a:r>
            <a:r>
              <a:rPr lang="zh-CN" altLang="en-US" sz="2000">
                <a:latin typeface="黑体" pitchFamily="2" charset="-122"/>
                <a:ea typeface="黑体" pitchFamily="2" charset="-122"/>
              </a:rPr>
              <a:t>－</a:t>
            </a:r>
            <a:r>
              <a:rPr lang="en-US" altLang="zh-CN" sz="2000">
                <a:latin typeface="黑体" pitchFamily="2" charset="-122"/>
                <a:ea typeface="黑体" pitchFamily="2" charset="-122"/>
              </a:rPr>
              <a:t>S</a:t>
            </a:r>
            <a:r>
              <a:rPr lang="en-US" altLang="zh-CN" sz="2000" baseline="-25000">
                <a:latin typeface="黑体" pitchFamily="2" charset="-122"/>
                <a:ea typeface="黑体" pitchFamily="2" charset="-122"/>
              </a:rPr>
              <a:t>3</a:t>
            </a:r>
            <a:r>
              <a:rPr lang="zh-CN" altLang="en-US" sz="2000">
                <a:latin typeface="黑体" pitchFamily="2" charset="-122"/>
                <a:ea typeface="黑体" pitchFamily="2" charset="-122"/>
              </a:rPr>
              <a:t>四个控制端外</a:t>
            </a:r>
            <a:r>
              <a:rPr lang="en-US" altLang="zh-CN" sz="2000">
                <a:latin typeface="黑体" pitchFamily="2" charset="-122"/>
                <a:ea typeface="黑体" pitchFamily="2" charset="-122"/>
              </a:rPr>
              <a:t>,</a:t>
            </a:r>
            <a:r>
              <a:rPr lang="zh-CN" altLang="en-US" sz="2000">
                <a:latin typeface="黑体" pitchFamily="2" charset="-122"/>
                <a:ea typeface="黑体" pitchFamily="2" charset="-122"/>
              </a:rPr>
              <a:t>还有一个控制端</a:t>
            </a:r>
            <a:r>
              <a:rPr lang="zh-CN" altLang="en-US" sz="2000" i="1">
                <a:latin typeface="黑体" pitchFamily="2" charset="-122"/>
                <a:ea typeface="黑体" pitchFamily="2" charset="-122"/>
              </a:rPr>
              <a:t>Ｍ</a:t>
            </a:r>
            <a:r>
              <a:rPr lang="en-US" altLang="zh-CN" sz="2000">
                <a:latin typeface="黑体" pitchFamily="2" charset="-122"/>
                <a:ea typeface="黑体" pitchFamily="2" charset="-122"/>
              </a:rPr>
              <a:t>,</a:t>
            </a:r>
            <a:r>
              <a:rPr lang="zh-CN" altLang="en-US" sz="2000">
                <a:latin typeface="黑体" pitchFamily="2" charset="-122"/>
                <a:ea typeface="黑体" pitchFamily="2" charset="-122"/>
              </a:rPr>
              <a:t>它用来控制</a:t>
            </a:r>
            <a:r>
              <a:rPr lang="en-US" altLang="zh-CN" sz="2000">
                <a:latin typeface="黑体" pitchFamily="2" charset="-122"/>
                <a:ea typeface="黑体" pitchFamily="2" charset="-122"/>
              </a:rPr>
              <a:t>ALU</a:t>
            </a:r>
            <a:r>
              <a:rPr lang="zh-CN" altLang="en-US" sz="2000">
                <a:latin typeface="黑体" pitchFamily="2" charset="-122"/>
                <a:ea typeface="黑体" pitchFamily="2" charset="-122"/>
              </a:rPr>
              <a:t>是</a:t>
            </a:r>
            <a:endParaRPr lang="en-US" altLang="zh-CN"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进行算术运算还是进行逻辑运算的。</a:t>
            </a:r>
          </a:p>
          <a:p>
            <a:pPr>
              <a:lnSpc>
                <a:spcPct val="150000"/>
              </a:lnSpc>
            </a:pPr>
            <a:r>
              <a:rPr lang="zh-CN" altLang="en-US" sz="2000">
                <a:latin typeface="黑体" pitchFamily="2" charset="-122"/>
                <a:ea typeface="黑体" pitchFamily="2" charset="-122"/>
              </a:rPr>
              <a:t>　　当</a:t>
            </a:r>
            <a:r>
              <a:rPr lang="zh-CN" altLang="en-US" sz="2000" i="1">
                <a:latin typeface="黑体" pitchFamily="2" charset="-122"/>
                <a:ea typeface="黑体" pitchFamily="2" charset="-122"/>
              </a:rPr>
              <a:t>Ｍ</a:t>
            </a:r>
            <a:r>
              <a:rPr lang="zh-CN" altLang="en-US" sz="2000">
                <a:latin typeface="黑体" pitchFamily="2" charset="-122"/>
                <a:ea typeface="黑体" pitchFamily="2" charset="-122"/>
              </a:rPr>
              <a:t>＝</a:t>
            </a:r>
            <a:r>
              <a:rPr lang="en-US" altLang="zh-CN" sz="2000">
                <a:latin typeface="黑体" pitchFamily="2" charset="-122"/>
                <a:ea typeface="黑体" pitchFamily="2" charset="-122"/>
              </a:rPr>
              <a:t>0</a:t>
            </a:r>
            <a:r>
              <a:rPr lang="zh-CN" altLang="en-US" sz="2000">
                <a:latin typeface="黑体" pitchFamily="2" charset="-122"/>
                <a:ea typeface="黑体" pitchFamily="2" charset="-122"/>
              </a:rPr>
              <a:t>时</a:t>
            </a:r>
            <a:r>
              <a:rPr lang="en-US" altLang="zh-CN" sz="2000">
                <a:latin typeface="黑体" pitchFamily="2" charset="-122"/>
                <a:ea typeface="黑体" pitchFamily="2" charset="-122"/>
              </a:rPr>
              <a:t>,</a:t>
            </a:r>
            <a:r>
              <a:rPr lang="zh-CN" altLang="en-US" sz="2000" i="1">
                <a:latin typeface="黑体" pitchFamily="2" charset="-122"/>
                <a:ea typeface="黑体" pitchFamily="2" charset="-122"/>
              </a:rPr>
              <a:t>Ｍ</a:t>
            </a:r>
            <a:r>
              <a:rPr lang="zh-CN" altLang="en-US" sz="2000">
                <a:latin typeface="黑体" pitchFamily="2" charset="-122"/>
                <a:ea typeface="黑体" pitchFamily="2" charset="-122"/>
              </a:rPr>
              <a:t>对进位信号没有任何影响。此时</a:t>
            </a:r>
            <a:r>
              <a:rPr lang="en-US" altLang="zh-CN" sz="2000">
                <a:latin typeface="黑体" pitchFamily="2" charset="-122"/>
                <a:ea typeface="黑体" pitchFamily="2" charset="-122"/>
              </a:rPr>
              <a:t>F</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不仅与本位的</a:t>
            </a:r>
            <a:endParaRPr lang="en-US" altLang="zh-CN"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被操作数</a:t>
            </a:r>
            <a:r>
              <a:rPr lang="en-US" altLang="zh-CN" sz="2000">
                <a:latin typeface="黑体" pitchFamily="2" charset="-122"/>
                <a:ea typeface="黑体" pitchFamily="2" charset="-122"/>
              </a:rPr>
              <a:t>Y</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和操作数</a:t>
            </a:r>
            <a:r>
              <a:rPr lang="en-US" altLang="zh-CN" sz="2000">
                <a:latin typeface="黑体" pitchFamily="2" charset="-122"/>
                <a:ea typeface="黑体" pitchFamily="2" charset="-122"/>
              </a:rPr>
              <a:t>X</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有关</a:t>
            </a:r>
            <a:r>
              <a:rPr lang="en-US" altLang="zh-CN" sz="2000">
                <a:latin typeface="黑体" pitchFamily="2" charset="-122"/>
                <a:ea typeface="黑体" pitchFamily="2" charset="-122"/>
              </a:rPr>
              <a:t>,</a:t>
            </a:r>
            <a:r>
              <a:rPr lang="zh-CN" altLang="en-US" sz="2000">
                <a:latin typeface="黑体" pitchFamily="2" charset="-122"/>
                <a:ea typeface="黑体" pitchFamily="2" charset="-122"/>
              </a:rPr>
              <a:t>而且与本位的进位输出</a:t>
            </a:r>
            <a:r>
              <a:rPr lang="en-US" altLang="zh-CN" sz="2000">
                <a:latin typeface="黑体" pitchFamily="2" charset="-122"/>
                <a:ea typeface="黑体" pitchFamily="2" charset="-122"/>
              </a:rPr>
              <a:t>,</a:t>
            </a:r>
            <a:r>
              <a:rPr lang="zh-CN" altLang="en-US" sz="2000">
                <a:latin typeface="黑体" pitchFamily="2" charset="-122"/>
                <a:ea typeface="黑体" pitchFamily="2" charset="-122"/>
              </a:rPr>
              <a:t>即</a:t>
            </a:r>
            <a:r>
              <a:rPr lang="en-US" altLang="zh-CN" sz="2000">
                <a:latin typeface="黑体" pitchFamily="2" charset="-122"/>
                <a:ea typeface="黑体" pitchFamily="2" charset="-122"/>
              </a:rPr>
              <a:t>C</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有关</a:t>
            </a:r>
            <a:r>
              <a:rPr lang="en-US" altLang="zh-CN" sz="2000">
                <a:latin typeface="黑体" pitchFamily="2" charset="-122"/>
                <a:ea typeface="黑体" pitchFamily="2" charset="-122"/>
              </a:rPr>
              <a:t>,</a:t>
            </a:r>
            <a:r>
              <a:rPr lang="zh-CN" altLang="en-US" sz="2000">
                <a:latin typeface="黑体" pitchFamily="2" charset="-122"/>
                <a:ea typeface="黑体" pitchFamily="2" charset="-122"/>
              </a:rPr>
              <a:t>因此</a:t>
            </a:r>
            <a:r>
              <a:rPr lang="zh-CN" altLang="en-US" sz="2000" i="1">
                <a:latin typeface="黑体" pitchFamily="2" charset="-122"/>
                <a:ea typeface="黑体" pitchFamily="2" charset="-122"/>
              </a:rPr>
              <a:t>Ｍ</a:t>
            </a:r>
            <a:r>
              <a:rPr lang="zh-CN" altLang="en-US" sz="2000">
                <a:latin typeface="黑体" pitchFamily="2" charset="-122"/>
                <a:ea typeface="黑体" pitchFamily="2" charset="-122"/>
              </a:rPr>
              <a:t>＝</a:t>
            </a:r>
            <a:r>
              <a:rPr lang="en-US" altLang="zh-CN" sz="2000">
                <a:latin typeface="黑体" pitchFamily="2" charset="-122"/>
                <a:ea typeface="黑体" pitchFamily="2" charset="-122"/>
              </a:rPr>
              <a:t>0</a:t>
            </a:r>
            <a:r>
              <a:rPr lang="zh-CN" altLang="en-US" sz="2000">
                <a:latin typeface="黑体" pitchFamily="2" charset="-122"/>
                <a:ea typeface="黑体" pitchFamily="2" charset="-122"/>
              </a:rPr>
              <a:t>时</a:t>
            </a:r>
            <a:r>
              <a:rPr lang="en-US" altLang="zh-CN" sz="2000">
                <a:latin typeface="黑体" pitchFamily="2" charset="-122"/>
                <a:ea typeface="黑体" pitchFamily="2" charset="-122"/>
              </a:rPr>
              <a:t>,</a:t>
            </a:r>
            <a:r>
              <a:rPr lang="zh-CN" altLang="en-US" sz="2000">
                <a:latin typeface="黑体" pitchFamily="2" charset="-122"/>
                <a:ea typeface="黑体" pitchFamily="2" charset="-122"/>
              </a:rPr>
              <a:t>进行算术操作。</a:t>
            </a:r>
          </a:p>
          <a:p>
            <a:pPr>
              <a:lnSpc>
                <a:spcPct val="150000"/>
              </a:lnSpc>
            </a:pPr>
            <a:r>
              <a:rPr lang="zh-CN" altLang="en-US" sz="2000">
                <a:latin typeface="黑体" pitchFamily="2" charset="-122"/>
                <a:ea typeface="黑体" pitchFamily="2" charset="-122"/>
              </a:rPr>
              <a:t>　　当</a:t>
            </a:r>
            <a:r>
              <a:rPr lang="zh-CN" altLang="en-US" sz="2000" i="1">
                <a:latin typeface="黑体" pitchFamily="2" charset="-122"/>
                <a:ea typeface="黑体" pitchFamily="2" charset="-122"/>
              </a:rPr>
              <a:t>Ｍ</a:t>
            </a:r>
            <a:r>
              <a:rPr lang="zh-CN" altLang="en-US" sz="2000">
                <a:latin typeface="黑体" pitchFamily="2" charset="-122"/>
                <a:ea typeface="黑体" pitchFamily="2" charset="-122"/>
              </a:rPr>
              <a:t>＝</a:t>
            </a:r>
            <a:r>
              <a:rPr lang="en-US" altLang="zh-CN" sz="2000">
                <a:latin typeface="黑体" pitchFamily="2" charset="-122"/>
                <a:ea typeface="黑体" pitchFamily="2" charset="-122"/>
              </a:rPr>
              <a:t>1</a:t>
            </a:r>
            <a:r>
              <a:rPr lang="zh-CN" altLang="en-US" sz="2000">
                <a:latin typeface="黑体" pitchFamily="2" charset="-122"/>
                <a:ea typeface="黑体" pitchFamily="2" charset="-122"/>
              </a:rPr>
              <a:t>时</a:t>
            </a:r>
            <a:r>
              <a:rPr lang="en-US" altLang="zh-CN" sz="2000">
                <a:latin typeface="黑体" pitchFamily="2" charset="-122"/>
                <a:ea typeface="黑体" pitchFamily="2" charset="-122"/>
              </a:rPr>
              <a:t>,</a:t>
            </a:r>
            <a:r>
              <a:rPr lang="zh-CN" altLang="en-US" sz="2000">
                <a:latin typeface="黑体" pitchFamily="2" charset="-122"/>
                <a:ea typeface="黑体" pitchFamily="2" charset="-122"/>
              </a:rPr>
              <a:t>封锁了各位的进位输出</a:t>
            </a:r>
            <a:r>
              <a:rPr lang="en-US" altLang="zh-CN" sz="2000">
                <a:latin typeface="黑体" pitchFamily="2" charset="-122"/>
                <a:ea typeface="黑体" pitchFamily="2" charset="-122"/>
              </a:rPr>
              <a:t>,</a:t>
            </a:r>
            <a:r>
              <a:rPr lang="zh-CN" altLang="en-US" sz="2000">
                <a:latin typeface="黑体" pitchFamily="2" charset="-122"/>
                <a:ea typeface="黑体" pitchFamily="2" charset="-122"/>
              </a:rPr>
              <a:t>即</a:t>
            </a:r>
            <a:r>
              <a:rPr lang="en-US" altLang="zh-CN" sz="2000">
                <a:latin typeface="黑体" pitchFamily="2" charset="-122"/>
                <a:ea typeface="黑体" pitchFamily="2" charset="-122"/>
              </a:rPr>
              <a:t>C</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a:t>
            </a:r>
            <a:r>
              <a:rPr lang="en-US" altLang="zh-CN" sz="2000">
                <a:latin typeface="黑体" pitchFamily="2" charset="-122"/>
                <a:ea typeface="黑体" pitchFamily="2" charset="-122"/>
              </a:rPr>
              <a:t>0,</a:t>
            </a:r>
            <a:r>
              <a:rPr lang="zh-CN" altLang="en-US" sz="2000">
                <a:latin typeface="黑体" pitchFamily="2" charset="-122"/>
                <a:ea typeface="黑体" pitchFamily="2" charset="-122"/>
              </a:rPr>
              <a:t>因此各位的运算结果</a:t>
            </a:r>
            <a:r>
              <a:rPr lang="en-US" altLang="zh-CN" sz="2000">
                <a:latin typeface="黑体" pitchFamily="2" charset="-122"/>
                <a:ea typeface="黑体" pitchFamily="2" charset="-122"/>
              </a:rPr>
              <a:t>F</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仅与</a:t>
            </a:r>
            <a:r>
              <a:rPr lang="en-US" altLang="zh-CN" sz="2000">
                <a:latin typeface="黑体" pitchFamily="2" charset="-122"/>
                <a:ea typeface="黑体" pitchFamily="2" charset="-122"/>
              </a:rPr>
              <a:t>Y</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和</a:t>
            </a:r>
            <a:r>
              <a:rPr lang="en-US" altLang="zh-CN" sz="2000">
                <a:latin typeface="黑体" pitchFamily="2" charset="-122"/>
                <a:ea typeface="黑体" pitchFamily="2" charset="-122"/>
              </a:rPr>
              <a:t>X</a:t>
            </a:r>
            <a:r>
              <a:rPr lang="en-US" altLang="zh-CN" sz="2000" baseline="-25000">
                <a:latin typeface="黑体" pitchFamily="2" charset="-122"/>
                <a:ea typeface="黑体" pitchFamily="2" charset="-122"/>
              </a:rPr>
              <a:t>i</a:t>
            </a:r>
            <a:r>
              <a:rPr lang="zh-CN" altLang="en-US" sz="2000">
                <a:latin typeface="黑体" pitchFamily="2" charset="-122"/>
                <a:ea typeface="黑体" pitchFamily="2" charset="-122"/>
              </a:rPr>
              <a:t>有关</a:t>
            </a:r>
            <a:r>
              <a:rPr lang="en-US" altLang="zh-CN" sz="2000">
                <a:latin typeface="黑体" pitchFamily="2" charset="-122"/>
                <a:ea typeface="黑体" pitchFamily="2" charset="-122"/>
              </a:rPr>
              <a:t>,</a:t>
            </a:r>
            <a:r>
              <a:rPr lang="zh-CN" altLang="en-US" sz="2000">
                <a:latin typeface="黑体" pitchFamily="2" charset="-122"/>
                <a:ea typeface="黑体" pitchFamily="2" charset="-122"/>
              </a:rPr>
              <a:t>故</a:t>
            </a:r>
            <a:r>
              <a:rPr lang="zh-CN" altLang="en-US" sz="2000" i="1">
                <a:latin typeface="黑体" pitchFamily="2" charset="-122"/>
                <a:ea typeface="黑体" pitchFamily="2" charset="-122"/>
              </a:rPr>
              <a:t>Ｍ</a:t>
            </a:r>
            <a:r>
              <a:rPr lang="zh-CN" altLang="en-US" sz="2000">
                <a:latin typeface="黑体" pitchFamily="2" charset="-122"/>
                <a:ea typeface="黑体" pitchFamily="2" charset="-122"/>
              </a:rPr>
              <a:t>＝</a:t>
            </a:r>
            <a:r>
              <a:rPr lang="en-US" altLang="zh-CN" sz="2000">
                <a:latin typeface="黑体" pitchFamily="2" charset="-122"/>
                <a:ea typeface="黑体" pitchFamily="2" charset="-122"/>
              </a:rPr>
              <a:t>1</a:t>
            </a:r>
            <a:r>
              <a:rPr lang="zh-CN" altLang="en-US" sz="2000">
                <a:latin typeface="黑体" pitchFamily="2" charset="-122"/>
                <a:ea typeface="黑体" pitchFamily="2" charset="-122"/>
              </a:rPr>
              <a:t>时</a:t>
            </a:r>
            <a:r>
              <a:rPr lang="en-US" altLang="zh-CN" sz="2000">
                <a:latin typeface="黑体" pitchFamily="2" charset="-122"/>
                <a:ea typeface="黑体" pitchFamily="2" charset="-122"/>
              </a:rPr>
              <a:t>,</a:t>
            </a:r>
            <a:r>
              <a:rPr lang="zh-CN" altLang="en-US" sz="2000">
                <a:latin typeface="黑体" pitchFamily="2" charset="-122"/>
                <a:ea typeface="黑体" pitchFamily="2" charset="-122"/>
              </a:rPr>
              <a:t>进行逻辑操作。</a:t>
            </a:r>
          </a:p>
        </p:txBody>
      </p:sp>
      <p:pic>
        <p:nvPicPr>
          <p:cNvPr id="10649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644900"/>
            <a:ext cx="6408737"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矩形 1"/>
          <p:cNvSpPr>
            <a:spLocks noChangeArrowheads="1"/>
          </p:cNvSpPr>
          <p:nvPr/>
        </p:nvSpPr>
        <p:spPr bwMode="auto">
          <a:xfrm>
            <a:off x="250825" y="404813"/>
            <a:ext cx="8497888" cy="61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a:latin typeface="黑体" pitchFamily="2" charset="-122"/>
                <a:ea typeface="黑体" pitchFamily="2" charset="-122"/>
              </a:rPr>
              <a:t>    74181ALU</a:t>
            </a:r>
            <a:r>
              <a:rPr lang="zh-CN" altLang="en-US" sz="2400">
                <a:latin typeface="黑体" pitchFamily="2" charset="-122"/>
                <a:ea typeface="黑体" pitchFamily="2" charset="-122"/>
              </a:rPr>
              <a:t>可以工作于负逻辑和正逻辑操作数方式</a:t>
            </a:r>
            <a:r>
              <a:rPr lang="en-US" altLang="zh-CN" sz="2400">
                <a:latin typeface="黑体" pitchFamily="2" charset="-122"/>
                <a:ea typeface="黑体" pitchFamily="2" charset="-122"/>
              </a:rPr>
              <a:t>,</a:t>
            </a:r>
          </a:p>
          <a:p>
            <a:pPr>
              <a:lnSpc>
                <a:spcPct val="150000"/>
              </a:lnSpc>
            </a:pPr>
            <a:r>
              <a:rPr lang="zh-CN" altLang="en-US" sz="2400">
                <a:latin typeface="黑体" pitchFamily="2" charset="-122"/>
                <a:ea typeface="黑体" pitchFamily="2" charset="-122"/>
              </a:rPr>
              <a:t>执行正逻辑输入</a:t>
            </a:r>
            <a:r>
              <a:rPr lang="en-US" altLang="zh-CN" sz="2400">
                <a:latin typeface="黑体" pitchFamily="2" charset="-122"/>
                <a:ea typeface="黑体" pitchFamily="2" charset="-122"/>
              </a:rPr>
              <a:t>/</a:t>
            </a:r>
            <a:r>
              <a:rPr lang="zh-CN" altLang="en-US" sz="2400">
                <a:latin typeface="黑体" pitchFamily="2" charset="-122"/>
                <a:ea typeface="黑体" pitchFamily="2" charset="-122"/>
              </a:rPr>
              <a:t>输出方式的一组算术运算和逻辑操作与</a:t>
            </a:r>
            <a:endParaRPr lang="en-US" altLang="zh-CN" sz="2400">
              <a:latin typeface="黑体" pitchFamily="2" charset="-122"/>
              <a:ea typeface="黑体" pitchFamily="2" charset="-122"/>
            </a:endParaRPr>
          </a:p>
          <a:p>
            <a:pPr>
              <a:lnSpc>
                <a:spcPct val="150000"/>
              </a:lnSpc>
            </a:pPr>
            <a:r>
              <a:rPr lang="zh-CN" altLang="en-US" sz="2400">
                <a:latin typeface="黑体" pitchFamily="2" charset="-122"/>
                <a:ea typeface="黑体" pitchFamily="2" charset="-122"/>
              </a:rPr>
              <a:t>负逻辑输入</a:t>
            </a:r>
            <a:r>
              <a:rPr lang="en-US" altLang="zh-CN" sz="2400">
                <a:latin typeface="黑体" pitchFamily="2" charset="-122"/>
                <a:ea typeface="黑体" pitchFamily="2" charset="-122"/>
              </a:rPr>
              <a:t>/</a:t>
            </a:r>
            <a:r>
              <a:rPr lang="zh-CN" altLang="en-US" sz="2400">
                <a:latin typeface="黑体" pitchFamily="2" charset="-122"/>
                <a:ea typeface="黑体" pitchFamily="2" charset="-122"/>
              </a:rPr>
              <a:t>输出方式的一组算术运算和逻辑操作是等效的。</a:t>
            </a:r>
          </a:p>
          <a:p>
            <a:pPr>
              <a:lnSpc>
                <a:spcPct val="150000"/>
              </a:lnSpc>
            </a:pPr>
            <a:r>
              <a:rPr lang="zh-CN" altLang="en-US" sz="2400">
                <a:latin typeface="黑体" pitchFamily="2" charset="-122"/>
                <a:ea typeface="黑体" pitchFamily="2" charset="-122"/>
              </a:rPr>
              <a:t>　</a:t>
            </a:r>
            <a:endParaRPr lang="en-US" altLang="zh-CN" sz="2400">
              <a:latin typeface="黑体" pitchFamily="2" charset="-122"/>
              <a:ea typeface="黑体" pitchFamily="2" charset="-122"/>
            </a:endParaRPr>
          </a:p>
          <a:p>
            <a:pPr>
              <a:lnSpc>
                <a:spcPct val="150000"/>
              </a:lnSpc>
            </a:pPr>
            <a:endParaRPr lang="en-US" altLang="zh-CN" sz="2400">
              <a:latin typeface="黑体" pitchFamily="2" charset="-122"/>
              <a:ea typeface="黑体" pitchFamily="2" charset="-122"/>
            </a:endParaRPr>
          </a:p>
          <a:p>
            <a:pPr>
              <a:lnSpc>
                <a:spcPct val="150000"/>
              </a:lnSpc>
            </a:pPr>
            <a:endParaRPr lang="en-US" altLang="zh-CN" sz="2400">
              <a:latin typeface="黑体" pitchFamily="2" charset="-122"/>
              <a:ea typeface="黑体" pitchFamily="2" charset="-122"/>
            </a:endParaRPr>
          </a:p>
          <a:p>
            <a:pPr>
              <a:lnSpc>
                <a:spcPct val="150000"/>
              </a:lnSpc>
            </a:pPr>
            <a:endParaRPr lang="en-US" altLang="zh-CN" sz="2400">
              <a:latin typeface="黑体" pitchFamily="2" charset="-122"/>
              <a:ea typeface="黑体" pitchFamily="2" charset="-122"/>
            </a:endParaRPr>
          </a:p>
          <a:p>
            <a:pPr>
              <a:lnSpc>
                <a:spcPct val="150000"/>
              </a:lnSpc>
            </a:pPr>
            <a:r>
              <a:rPr lang="zh-CN" altLang="en-US" sz="2400">
                <a:latin typeface="黑体" pitchFamily="2" charset="-122"/>
                <a:ea typeface="黑体" pitchFamily="2" charset="-122"/>
              </a:rPr>
              <a:t>　</a:t>
            </a:r>
            <a:endParaRPr lang="en-US" altLang="zh-CN" sz="2400">
              <a:latin typeface="黑体" pitchFamily="2" charset="-122"/>
              <a:ea typeface="黑体" pitchFamily="2" charset="-122"/>
            </a:endParaRPr>
          </a:p>
          <a:p>
            <a:pPr>
              <a:lnSpc>
                <a:spcPct val="150000"/>
              </a:lnSpc>
            </a:pPr>
            <a:r>
              <a:rPr lang="en-US" altLang="zh-CN" sz="2400">
                <a:latin typeface="黑体" pitchFamily="2" charset="-122"/>
                <a:ea typeface="黑体" pitchFamily="2" charset="-122"/>
              </a:rPr>
              <a:t>    </a:t>
            </a:r>
          </a:p>
          <a:p>
            <a:pPr>
              <a:lnSpc>
                <a:spcPct val="15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由于</a:t>
            </a:r>
            <a:r>
              <a:rPr lang="en-US" altLang="zh-CN" sz="2400">
                <a:latin typeface="黑体" pitchFamily="2" charset="-122"/>
                <a:ea typeface="黑体" pitchFamily="2" charset="-122"/>
              </a:rPr>
              <a:t>S0</a:t>
            </a:r>
            <a:r>
              <a:rPr lang="zh-CN" altLang="en-US" sz="2400">
                <a:latin typeface="黑体" pitchFamily="2" charset="-122"/>
                <a:ea typeface="黑体" pitchFamily="2" charset="-122"/>
              </a:rPr>
              <a:t>－</a:t>
            </a:r>
            <a:r>
              <a:rPr lang="en-US" altLang="zh-CN" sz="2400">
                <a:latin typeface="黑体" pitchFamily="2" charset="-122"/>
                <a:ea typeface="黑体" pitchFamily="2" charset="-122"/>
              </a:rPr>
              <a:t>S3</a:t>
            </a:r>
            <a:r>
              <a:rPr lang="zh-CN" altLang="en-US" sz="2400">
                <a:latin typeface="黑体" pitchFamily="2" charset="-122"/>
                <a:ea typeface="黑体" pitchFamily="2" charset="-122"/>
              </a:rPr>
              <a:t>有</a:t>
            </a:r>
            <a:r>
              <a:rPr lang="en-US" altLang="zh-CN" sz="2400">
                <a:latin typeface="黑体" pitchFamily="2" charset="-122"/>
                <a:ea typeface="黑体" pitchFamily="2" charset="-122"/>
              </a:rPr>
              <a:t>16</a:t>
            </a:r>
            <a:r>
              <a:rPr lang="zh-CN" altLang="en-US" sz="2400">
                <a:latin typeface="黑体" pitchFamily="2" charset="-122"/>
                <a:ea typeface="黑体" pitchFamily="2" charset="-122"/>
              </a:rPr>
              <a:t>种状态组合，</a:t>
            </a:r>
            <a:r>
              <a:rPr lang="en-US" altLang="zh-CN" sz="2400">
                <a:latin typeface="黑体" pitchFamily="2" charset="-122"/>
                <a:ea typeface="黑体" pitchFamily="2" charset="-122"/>
              </a:rPr>
              <a:t>74181ALU</a:t>
            </a:r>
            <a:r>
              <a:rPr lang="zh-CN" altLang="en-US" sz="2400">
                <a:latin typeface="黑体" pitchFamily="2" charset="-122"/>
                <a:ea typeface="黑体" pitchFamily="2" charset="-122"/>
              </a:rPr>
              <a:t>有</a:t>
            </a:r>
            <a:r>
              <a:rPr lang="en-US" altLang="zh-CN" sz="2400">
                <a:latin typeface="黑体" pitchFamily="2" charset="-122"/>
                <a:ea typeface="黑体" pitchFamily="2" charset="-122"/>
              </a:rPr>
              <a:t>16</a:t>
            </a:r>
            <a:r>
              <a:rPr lang="zh-CN" altLang="en-US" sz="2400">
                <a:latin typeface="黑体" pitchFamily="2" charset="-122"/>
                <a:ea typeface="黑体" pitchFamily="2" charset="-122"/>
              </a:rPr>
              <a:t>种算术运算功能和</a:t>
            </a:r>
            <a:r>
              <a:rPr lang="en-US" altLang="zh-CN" sz="2400">
                <a:latin typeface="黑体" pitchFamily="2" charset="-122"/>
                <a:ea typeface="黑体" pitchFamily="2" charset="-122"/>
              </a:rPr>
              <a:t>16</a:t>
            </a:r>
            <a:r>
              <a:rPr lang="zh-CN" altLang="en-US" sz="2400">
                <a:latin typeface="黑体" pitchFamily="2" charset="-122"/>
                <a:ea typeface="黑体" pitchFamily="2" charset="-122"/>
              </a:rPr>
              <a:t>种逻辑运算功能。</a:t>
            </a:r>
          </a:p>
        </p:txBody>
      </p:sp>
      <p:pic>
        <p:nvPicPr>
          <p:cNvPr id="10752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276475"/>
            <a:ext cx="806450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1"/>
          <p:cNvSpPr>
            <a:spLocks noChangeArrowheads="1"/>
          </p:cNvSpPr>
          <p:nvPr/>
        </p:nvSpPr>
        <p:spPr bwMode="auto">
          <a:xfrm rot="10800000" flipV="1">
            <a:off x="250825" y="266700"/>
            <a:ext cx="8569325"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4.两级先行进位的ALU</a:t>
            </a:r>
          </a:p>
          <a:p>
            <a:pPr eaLnBrk="0" hangingPunct="0">
              <a:lnSpc>
                <a:spcPct val="150000"/>
              </a:lnSpc>
            </a:pPr>
            <a:r>
              <a:rPr lang="zh-CN" altLang="zh-CN" sz="2400">
                <a:latin typeface="黑体" pitchFamily="2" charset="-122"/>
                <a:ea typeface="黑体" pitchFamily="2" charset="-122"/>
              </a:rPr>
              <a:t>  </a:t>
            </a:r>
            <a:endParaRPr lang="en-US" altLang="zh-CN" sz="2400">
              <a:latin typeface="黑体" pitchFamily="2" charset="-122"/>
              <a:ea typeface="黑体" pitchFamily="2" charset="-122"/>
            </a:endParaRPr>
          </a:p>
          <a:p>
            <a:pPr eaLnBrk="0" hangingPunct="0">
              <a:lnSpc>
                <a:spcPct val="150000"/>
              </a:lnSpc>
            </a:pPr>
            <a:endParaRPr lang="en-US" altLang="zh-CN" sz="2400">
              <a:latin typeface="黑体" pitchFamily="2" charset="-122"/>
              <a:ea typeface="黑体" pitchFamily="2" charset="-122"/>
            </a:endParaRPr>
          </a:p>
          <a:p>
            <a:pPr eaLnBrk="0" hangingPunct="0">
              <a:lnSpc>
                <a:spcPct val="150000"/>
              </a:lnSpc>
            </a:pPr>
            <a:endParaRPr lang="en-US" altLang="zh-CN" sz="2400">
              <a:latin typeface="黑体" pitchFamily="2" charset="-122"/>
              <a:ea typeface="黑体" pitchFamily="2" charset="-122"/>
            </a:endParaRPr>
          </a:p>
          <a:p>
            <a:pPr eaLnBrk="0" hangingPunct="0">
              <a:lnSpc>
                <a:spcPct val="150000"/>
              </a:lnSpc>
            </a:pPr>
            <a:endParaRPr lang="en-US" altLang="zh-CN" sz="2400">
              <a:latin typeface="黑体" pitchFamily="2" charset="-122"/>
              <a:ea typeface="黑体" pitchFamily="2" charset="-122"/>
            </a:endParaRPr>
          </a:p>
          <a:p>
            <a:pPr eaLnBrk="0" hangingPunct="0">
              <a:lnSpc>
                <a:spcPct val="150000"/>
              </a:lnSpc>
            </a:pPr>
            <a:endParaRPr lang="en-US" altLang="zh-CN" sz="2400">
              <a:latin typeface="黑体" pitchFamily="2" charset="-122"/>
              <a:ea typeface="黑体" pitchFamily="2" charset="-122"/>
            </a:endParaRPr>
          </a:p>
          <a:p>
            <a:pPr eaLnBrk="0" hangingPunct="0">
              <a:lnSpc>
                <a:spcPct val="150000"/>
              </a:lnSpc>
            </a:pPr>
            <a:endParaRPr lang="zh-CN" altLang="zh-CN" sz="2400">
              <a:latin typeface="黑体" pitchFamily="2" charset="-122"/>
              <a:ea typeface="黑体" pitchFamily="2" charset="-122"/>
            </a:endParaRPr>
          </a:p>
          <a:p>
            <a:pPr eaLnBrk="0" hangingPunct="0">
              <a:lnSpc>
                <a:spcPct val="150000"/>
              </a:lnSpc>
            </a:pPr>
            <a:r>
              <a:rPr lang="zh-CN" altLang="zh-CN" sz="2400">
                <a:latin typeface="黑体" pitchFamily="2" charset="-122"/>
                <a:ea typeface="黑体" pitchFamily="2" charset="-122"/>
              </a:rPr>
              <a:t>　　</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前面说过,74181ALU设置了P和G两个本组先行进位输出端。如果将四片74181的P,G输出端送入到74182先行进位部件（CLA）,又可实现第二级的先行进位,即组与组之间的先行进位。</a:t>
            </a:r>
          </a:p>
        </p:txBody>
      </p:sp>
      <p:sp>
        <p:nvSpPr>
          <p:cNvPr id="108547" name="AutoShape 2" descr="G:\jzdx\%E8%AE%A1%E7%AE%97%E6%9C%BA%E7%BB%84%E6%88%90%E5%8E%9F%E7%90%86\%E6%95%99%E6%A1%88\%E7%AC%AC%E4%BA%8C%E7%AB%A0\htm\Images\t2.5.2.0.gif"/>
          <p:cNvSpPr>
            <a:spLocks noChangeAspect="1" noChangeArrowheads="1"/>
          </p:cNvSpPr>
          <p:nvPr/>
        </p:nvSpPr>
        <p:spPr bwMode="auto">
          <a:xfrm>
            <a:off x="155575" y="-136525"/>
            <a:ext cx="618172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85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938" y="1125538"/>
            <a:ext cx="7402512"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
          <p:cNvSpPr>
            <a:spLocks noChangeArrowheads="1"/>
          </p:cNvSpPr>
          <p:nvPr/>
        </p:nvSpPr>
        <p:spPr bwMode="auto">
          <a:xfrm>
            <a:off x="395288" y="2389188"/>
            <a:ext cx="8497887"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假设4片</a:t>
            </a:r>
            <a:r>
              <a:rPr lang="en-US" altLang="zh-CN" sz="2000">
                <a:solidFill>
                  <a:srgbClr val="000000"/>
                </a:solidFill>
                <a:latin typeface="黑体" pitchFamily="2" charset="-122"/>
                <a:ea typeface="黑体" pitchFamily="2" charset="-122"/>
              </a:rPr>
              <a:t>(</a:t>
            </a:r>
            <a:r>
              <a:rPr lang="zh-CN" altLang="zh-CN" sz="2000">
                <a:solidFill>
                  <a:srgbClr val="000000"/>
                </a:solidFill>
                <a:latin typeface="黑体" pitchFamily="2" charset="-122"/>
                <a:ea typeface="黑体" pitchFamily="2" charset="-122"/>
              </a:rPr>
              <a:t>组</a:t>
            </a:r>
            <a:r>
              <a:rPr lang="en-US" altLang="zh-CN" sz="2000">
                <a:solidFill>
                  <a:srgbClr val="000000"/>
                </a:solidFill>
                <a:latin typeface="黑体" pitchFamily="2" charset="-122"/>
                <a:ea typeface="黑体" pitchFamily="2" charset="-122"/>
              </a:rPr>
              <a:t>)</a:t>
            </a:r>
            <a:r>
              <a:rPr lang="zh-CN" altLang="zh-CN" sz="2000">
                <a:solidFill>
                  <a:srgbClr val="000000"/>
                </a:solidFill>
                <a:latin typeface="黑体" pitchFamily="2" charset="-122"/>
                <a:ea typeface="黑体" pitchFamily="2" charset="-122"/>
              </a:rPr>
              <a:t>74181的先行进位输出依次为P0,G0,G1,P1,P2,G2,P3,G3,</a:t>
            </a:r>
            <a:endParaRPr lang="en-US" altLang="zh-CN" sz="2000">
              <a:solidFill>
                <a:srgbClr val="000000"/>
              </a:solidFill>
              <a:latin typeface="黑体" pitchFamily="2" charset="-122"/>
              <a:ea typeface="黑体" pitchFamily="2" charset="-122"/>
            </a:endParaRPr>
          </a:p>
          <a:p>
            <a:pPr eaLnBrk="0" hangingPunct="0">
              <a:lnSpc>
                <a:spcPct val="150000"/>
              </a:lnSpc>
            </a:pPr>
            <a:r>
              <a:rPr lang="zh-CN" altLang="zh-CN" sz="2000">
                <a:solidFill>
                  <a:srgbClr val="000000"/>
                </a:solidFill>
                <a:latin typeface="黑体" pitchFamily="2" charset="-122"/>
                <a:ea typeface="黑体" pitchFamily="2" charset="-122"/>
              </a:rPr>
              <a:t>先行进位部件74182CLA所提供的进位逻辑关系如下：</a:t>
            </a:r>
            <a:endParaRPr lang="zh-CN" altLang="zh-CN" sz="2000">
              <a:latin typeface="黑体" pitchFamily="2" charset="-122"/>
              <a:ea typeface="黑体" pitchFamily="2" charset="-122"/>
            </a:endParaRPr>
          </a:p>
          <a:p>
            <a:pPr eaLnBrk="0" hangingPunct="0">
              <a:lnSpc>
                <a:spcPct val="150000"/>
              </a:lnSpc>
            </a:pPr>
            <a:r>
              <a:rPr lang="en-US" altLang="zh-CN" sz="2000">
                <a:solidFill>
                  <a:srgbClr val="FF00FF"/>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r>
              <a:rPr lang="zh-CN" altLang="zh-CN" sz="2000" i="1" baseline="-30000">
                <a:solidFill>
                  <a:srgbClr val="0000FF"/>
                </a:solidFill>
                <a:latin typeface="黑体" pitchFamily="2" charset="-122"/>
                <a:ea typeface="黑体" pitchFamily="2" charset="-122"/>
              </a:rPr>
              <a:t>ｘ</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endParaRPr lang="zh-CN" altLang="zh-CN" sz="2000">
              <a:latin typeface="黑体" pitchFamily="2" charset="-122"/>
              <a:ea typeface="黑体" pitchFamily="2" charset="-122"/>
            </a:endParaRPr>
          </a:p>
          <a:p>
            <a:pPr eaLnBrk="0" hangingPunct="0">
              <a:lnSpc>
                <a:spcPct val="150000"/>
              </a:lnSpc>
            </a:pPr>
            <a:r>
              <a:rPr lang="en-US" altLang="zh-CN" sz="2000">
                <a:solidFill>
                  <a:srgbClr val="0000FF"/>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r>
              <a:rPr lang="zh-CN" altLang="zh-CN" sz="2000" i="1" baseline="-30000">
                <a:solidFill>
                  <a:srgbClr val="0000FF"/>
                </a:solidFill>
                <a:latin typeface="黑体" pitchFamily="2" charset="-122"/>
                <a:ea typeface="黑体" pitchFamily="2" charset="-122"/>
              </a:rPr>
              <a:t>ｙ</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r>
              <a:rPr lang="zh-CN" altLang="zh-CN" sz="2000" i="1" baseline="-30000">
                <a:solidFill>
                  <a:srgbClr val="0000FF"/>
                </a:solidFill>
                <a:latin typeface="黑体" pitchFamily="2" charset="-122"/>
                <a:ea typeface="黑体" pitchFamily="2" charset="-122"/>
              </a:rPr>
              <a:t>ｘ</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endParaRPr lang="zh-CN" altLang="zh-CN" sz="2000">
              <a:latin typeface="黑体" pitchFamily="2" charset="-122"/>
              <a:ea typeface="黑体" pitchFamily="2" charset="-122"/>
            </a:endParaRPr>
          </a:p>
          <a:p>
            <a:pPr eaLnBrk="0" hangingPunct="0">
              <a:lnSpc>
                <a:spcPct val="150000"/>
              </a:lnSpc>
            </a:pPr>
            <a:r>
              <a:rPr lang="en-US" altLang="zh-CN" sz="2000">
                <a:solidFill>
                  <a:srgbClr val="0000FF"/>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r>
              <a:rPr lang="zh-CN" altLang="zh-CN" sz="2000" i="1" baseline="-30000">
                <a:solidFill>
                  <a:srgbClr val="0000FF"/>
                </a:solidFill>
                <a:latin typeface="黑体" pitchFamily="2" charset="-122"/>
                <a:ea typeface="黑体" pitchFamily="2" charset="-122"/>
              </a:rPr>
              <a:t>ｚ</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r>
              <a:rPr lang="zh-CN" altLang="zh-CN" sz="2000" i="1" baseline="-30000">
                <a:solidFill>
                  <a:srgbClr val="0000FF"/>
                </a:solidFill>
                <a:latin typeface="黑体" pitchFamily="2" charset="-122"/>
                <a:ea typeface="黑体" pitchFamily="2" charset="-122"/>
              </a:rPr>
              <a:t>ｙ</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　　　</a:t>
            </a:r>
            <a:endParaRPr lang="zh-CN" altLang="zh-CN" sz="2000">
              <a:latin typeface="黑体" pitchFamily="2" charset="-122"/>
              <a:ea typeface="黑体" pitchFamily="2" charset="-122"/>
            </a:endParaRPr>
          </a:p>
          <a:p>
            <a:pPr eaLnBrk="0" hangingPunct="0">
              <a:lnSpc>
                <a:spcPct val="150000"/>
              </a:lnSpc>
            </a:pPr>
            <a:r>
              <a:rPr lang="en-US" altLang="zh-CN" sz="2000">
                <a:solidFill>
                  <a:srgbClr val="0000FF"/>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n＋4 </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r>
              <a:rPr lang="zh-CN" altLang="zh-CN" sz="2000" i="1" baseline="-30000">
                <a:solidFill>
                  <a:srgbClr val="0000FF"/>
                </a:solidFill>
                <a:latin typeface="黑体" pitchFamily="2" charset="-122"/>
                <a:ea typeface="黑体" pitchFamily="2" charset="-122"/>
              </a:rPr>
              <a:t>ｚ</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endParaRPr lang="zh-CN" altLang="zh-CN" sz="2000">
              <a:latin typeface="黑体" pitchFamily="2" charset="-122"/>
              <a:ea typeface="黑体" pitchFamily="2" charset="-122"/>
            </a:endParaRPr>
          </a:p>
          <a:p>
            <a:pPr eaLnBrk="0" hangingPunct="0">
              <a:lnSpc>
                <a:spcPct val="150000"/>
              </a:lnSpc>
            </a:pPr>
            <a:r>
              <a:rPr lang="zh-CN" altLang="zh-CN" sz="2000">
                <a:solidFill>
                  <a:srgbClr val="0000FF"/>
                </a:solidFill>
                <a:latin typeface="黑体" pitchFamily="2" charset="-122"/>
                <a:ea typeface="黑体" pitchFamily="2" charset="-122"/>
              </a:rPr>
              <a:t>　　</a:t>
            </a:r>
            <a:r>
              <a:rPr lang="zh-CN" altLang="zh-CN" sz="2000" baseline="-30000">
                <a:solidFill>
                  <a:srgbClr val="0000FF"/>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a:t>
            </a:r>
            <a:r>
              <a:rPr lang="zh-CN" altLang="zh-CN" sz="2000">
                <a:solidFill>
                  <a:srgbClr val="0000FF"/>
                </a:solidFill>
                <a:latin typeface="黑体" pitchFamily="2" charset="-122"/>
                <a:ea typeface="黑体" pitchFamily="2" charset="-122"/>
              </a:rPr>
              <a:t>C</a:t>
            </a:r>
            <a:r>
              <a:rPr lang="zh-CN" altLang="zh-CN" sz="2000" baseline="-30000">
                <a:solidFill>
                  <a:srgbClr val="0000FF"/>
                </a:solidFill>
                <a:latin typeface="黑体" pitchFamily="2" charset="-122"/>
                <a:ea typeface="黑体" pitchFamily="2" charset="-122"/>
              </a:rPr>
              <a:t>n</a:t>
            </a:r>
            <a:endParaRPr lang="zh-CN" altLang="zh-CN" sz="2000">
              <a:latin typeface="黑体" pitchFamily="2" charset="-122"/>
              <a:ea typeface="黑体" pitchFamily="2" charset="-122"/>
            </a:endParaRPr>
          </a:p>
          <a:p>
            <a:pPr eaLnBrk="0" hangingPunct="0">
              <a:lnSpc>
                <a:spcPct val="150000"/>
              </a:lnSpc>
            </a:pPr>
            <a:r>
              <a:rPr lang="zh-CN" altLang="zh-CN" sz="2000">
                <a:solidFill>
                  <a:srgbClr val="000000"/>
                </a:solidFill>
                <a:latin typeface="黑体" pitchFamily="2" charset="-122"/>
                <a:ea typeface="黑体" pitchFamily="2" charset="-122"/>
              </a:rPr>
              <a:t>其中</a:t>
            </a:r>
            <a:r>
              <a:rPr lang="en-US" altLang="zh-CN" sz="2000">
                <a:solidFill>
                  <a:srgbClr val="000000"/>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3 </a:t>
            </a:r>
            <a:r>
              <a:rPr lang="zh-CN" altLang="zh-CN" sz="2000" b="1">
                <a:solidFill>
                  <a:srgbClr val="FF0000"/>
                </a:solidFill>
                <a:latin typeface="黑体" pitchFamily="2" charset="-122"/>
                <a:ea typeface="黑体" pitchFamily="2" charset="-122"/>
              </a:rPr>
              <a:t>成组进位传送输出</a:t>
            </a:r>
            <a:r>
              <a:rPr lang="zh-CN" altLang="zh-CN" sz="2000">
                <a:latin typeface="黑体" pitchFamily="2" charset="-122"/>
                <a:ea typeface="黑体" pitchFamily="2" charset="-122"/>
              </a:rPr>
              <a:t>。</a:t>
            </a:r>
            <a:endParaRPr lang="zh-CN" altLang="zh-CN" sz="2000">
              <a:solidFill>
                <a:srgbClr val="0000FF"/>
              </a:solidFill>
              <a:latin typeface="黑体" pitchFamily="2" charset="-122"/>
              <a:ea typeface="黑体" pitchFamily="2" charset="-122"/>
            </a:endParaRPr>
          </a:p>
          <a:p>
            <a:pPr eaLnBrk="0" hangingPunct="0">
              <a:lnSpc>
                <a:spcPct val="150000"/>
              </a:lnSpc>
            </a:pPr>
            <a:r>
              <a:rPr lang="en-US" altLang="zh-CN" sz="2000">
                <a:solidFill>
                  <a:srgbClr val="0000FF"/>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3</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＋G</a:t>
            </a:r>
            <a:r>
              <a:rPr lang="zh-CN" altLang="zh-CN" sz="2000" baseline="-30000">
                <a:solidFill>
                  <a:srgbClr val="0000FF"/>
                </a:solidFill>
                <a:latin typeface="黑体" pitchFamily="2" charset="-122"/>
                <a:ea typeface="黑体" pitchFamily="2" charset="-122"/>
              </a:rPr>
              <a:t>0</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P</a:t>
            </a:r>
            <a:r>
              <a:rPr lang="zh-CN" altLang="zh-CN" sz="2000" baseline="-30000">
                <a:solidFill>
                  <a:srgbClr val="0000FF"/>
                </a:solidFill>
                <a:latin typeface="黑体" pitchFamily="2" charset="-122"/>
                <a:ea typeface="黑体" pitchFamily="2" charset="-122"/>
              </a:rPr>
              <a:t>3 </a:t>
            </a:r>
            <a:r>
              <a:rPr lang="zh-CN" altLang="zh-CN" sz="2000" b="1">
                <a:solidFill>
                  <a:srgbClr val="FF0000"/>
                </a:solidFill>
                <a:latin typeface="黑体" pitchFamily="2" charset="-122"/>
                <a:ea typeface="黑体" pitchFamily="2" charset="-122"/>
              </a:rPr>
              <a:t>成组进位发生输出</a:t>
            </a:r>
            <a:r>
              <a:rPr lang="zh-CN" altLang="zh-CN" sz="2000">
                <a:latin typeface="黑体" pitchFamily="2" charset="-122"/>
                <a:ea typeface="黑体" pitchFamily="2" charset="-122"/>
              </a:rPr>
              <a:t> </a:t>
            </a:r>
          </a:p>
        </p:txBody>
      </p:sp>
      <p:pic>
        <p:nvPicPr>
          <p:cNvPr id="1095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342900"/>
            <a:ext cx="63246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1"/>
          <p:cNvSpPr>
            <a:spLocks noChangeArrowheads="1"/>
          </p:cNvSpPr>
          <p:nvPr/>
        </p:nvSpPr>
        <p:spPr bwMode="auto">
          <a:xfrm>
            <a:off x="250825" y="260350"/>
            <a:ext cx="7345363"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itchFamily="2" charset="-122"/>
                <a:ea typeface="黑体" pitchFamily="2" charset="-122"/>
              </a:rPr>
              <a:t>    根据以上表达式</a:t>
            </a:r>
            <a:r>
              <a:rPr lang="en-US" altLang="zh-CN" sz="2000">
                <a:latin typeface="黑体" pitchFamily="2" charset="-122"/>
                <a:ea typeface="黑体" pitchFamily="2" charset="-122"/>
              </a:rPr>
              <a:t>,</a:t>
            </a:r>
            <a:r>
              <a:rPr lang="zh-CN" altLang="en-US" sz="2000">
                <a:latin typeface="黑体" pitchFamily="2" charset="-122"/>
                <a:ea typeface="黑体" pitchFamily="2" charset="-122"/>
              </a:rPr>
              <a:t>用</a:t>
            </a:r>
            <a:r>
              <a:rPr lang="en-US" altLang="zh-CN" sz="2000">
                <a:latin typeface="黑体" pitchFamily="2" charset="-122"/>
                <a:ea typeface="黑体" pitchFamily="2" charset="-122"/>
              </a:rPr>
              <a:t>TTL</a:t>
            </a:r>
            <a:r>
              <a:rPr lang="zh-CN" altLang="en-US" sz="2000">
                <a:latin typeface="黑体" pitchFamily="2" charset="-122"/>
                <a:ea typeface="黑体" pitchFamily="2" charset="-122"/>
              </a:rPr>
              <a:t>器件实现的成组先行进位部件</a:t>
            </a:r>
            <a:r>
              <a:rPr lang="en-US" altLang="zh-CN" sz="2000">
                <a:latin typeface="黑体" pitchFamily="2" charset="-122"/>
                <a:ea typeface="黑体" pitchFamily="2" charset="-122"/>
              </a:rPr>
              <a:t>74182</a:t>
            </a:r>
            <a:r>
              <a:rPr lang="zh-CN" altLang="en-US" sz="2000">
                <a:latin typeface="黑体" pitchFamily="2" charset="-122"/>
                <a:ea typeface="黑体" pitchFamily="2" charset="-122"/>
              </a:rPr>
              <a:t>的逻辑电路图。</a:t>
            </a:r>
          </a:p>
        </p:txBody>
      </p:sp>
      <p:pic>
        <p:nvPicPr>
          <p:cNvPr id="11059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412875"/>
            <a:ext cx="6913562" cy="504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3" descr="2">
            <a:hlinkClick r:id="rId2" action="ppaction://hlinkfile"/>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0825" y="4087813"/>
            <a:ext cx="8604250" cy="2581275"/>
          </a:xfrm>
        </p:spPr>
      </p:pic>
      <p:sp>
        <p:nvSpPr>
          <p:cNvPr id="112643" name="矩形 3"/>
          <p:cNvSpPr>
            <a:spLocks noChangeArrowheads="1"/>
          </p:cNvSpPr>
          <p:nvPr/>
        </p:nvSpPr>
        <p:spPr bwMode="auto">
          <a:xfrm>
            <a:off x="323850" y="373063"/>
            <a:ext cx="84963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a:latin typeface="黑体" pitchFamily="2" charset="-122"/>
                <a:ea typeface="黑体" pitchFamily="2" charset="-122"/>
              </a:rPr>
              <a:t>例：用两个</a:t>
            </a:r>
            <a:r>
              <a:rPr lang="en-US" altLang="zh-CN" sz="2400">
                <a:latin typeface="黑体" pitchFamily="2" charset="-122"/>
                <a:ea typeface="黑体" pitchFamily="2" charset="-122"/>
              </a:rPr>
              <a:t>16</a:t>
            </a:r>
            <a:r>
              <a:rPr lang="zh-CN" altLang="en-US" sz="2400">
                <a:latin typeface="黑体" pitchFamily="2" charset="-122"/>
                <a:ea typeface="黑体" pitchFamily="2" charset="-122"/>
              </a:rPr>
              <a:t>位全先行进位部件级联组成的</a:t>
            </a:r>
            <a:r>
              <a:rPr lang="en-US" altLang="zh-CN" sz="2400">
                <a:latin typeface="黑体" pitchFamily="2" charset="-122"/>
                <a:ea typeface="黑体" pitchFamily="2" charset="-122"/>
              </a:rPr>
              <a:t>32</a:t>
            </a:r>
            <a:r>
              <a:rPr lang="zh-CN" altLang="en-US" sz="2400">
                <a:latin typeface="黑体" pitchFamily="2" charset="-122"/>
                <a:ea typeface="黑体" pitchFamily="2" charset="-122"/>
              </a:rPr>
              <a:t>位</a:t>
            </a:r>
            <a:r>
              <a:rPr lang="en-US" altLang="zh-CN" sz="2400">
                <a:latin typeface="黑体" pitchFamily="2" charset="-122"/>
                <a:ea typeface="黑体" pitchFamily="2" charset="-122"/>
              </a:rPr>
              <a:t>ALU</a:t>
            </a:r>
          </a:p>
          <a:p>
            <a:pPr>
              <a:lnSpc>
                <a:spcPct val="15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逻辑方框图。</a:t>
            </a:r>
            <a:endParaRPr lang="en-US" altLang="zh-CN" sz="2400">
              <a:latin typeface="黑体" pitchFamily="2" charset="-122"/>
              <a:ea typeface="黑体" pitchFamily="2" charset="-122"/>
            </a:endParaRPr>
          </a:p>
          <a:p>
            <a:pPr>
              <a:lnSpc>
                <a:spcPct val="15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电路中使用了八个</a:t>
            </a:r>
            <a:r>
              <a:rPr lang="en-US" altLang="zh-CN" sz="2400">
                <a:latin typeface="黑体" pitchFamily="2" charset="-122"/>
                <a:ea typeface="黑体" pitchFamily="2" charset="-122"/>
              </a:rPr>
              <a:t>74181ALU</a:t>
            </a:r>
            <a:r>
              <a:rPr lang="zh-CN" altLang="en-US" sz="2400">
                <a:latin typeface="黑体" pitchFamily="2" charset="-122"/>
                <a:ea typeface="黑体" pitchFamily="2" charset="-122"/>
              </a:rPr>
              <a:t>和两个</a:t>
            </a:r>
            <a:r>
              <a:rPr lang="en-US" altLang="zh-CN" sz="2400">
                <a:latin typeface="黑体" pitchFamily="2" charset="-122"/>
                <a:ea typeface="黑体" pitchFamily="2" charset="-122"/>
              </a:rPr>
              <a:t>74182CLA</a:t>
            </a:r>
            <a:r>
              <a:rPr lang="zh-CN" altLang="en-US" sz="2400">
                <a:latin typeface="黑体" pitchFamily="2" charset="-122"/>
                <a:ea typeface="黑体" pitchFamily="2" charset="-122"/>
              </a:rPr>
              <a:t>器件。</a:t>
            </a:r>
            <a:endParaRPr lang="en-US" altLang="zh-CN" sz="2400">
              <a:latin typeface="黑体" pitchFamily="2" charset="-122"/>
              <a:ea typeface="黑体" pitchFamily="2" charset="-122"/>
            </a:endParaRPr>
          </a:p>
          <a:p>
            <a:pPr>
              <a:lnSpc>
                <a:spcPct val="15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对一个</a:t>
            </a:r>
            <a:r>
              <a:rPr lang="en-US" altLang="zh-CN" sz="2400">
                <a:latin typeface="黑体" pitchFamily="2" charset="-122"/>
                <a:ea typeface="黑体" pitchFamily="2" charset="-122"/>
              </a:rPr>
              <a:t>16</a:t>
            </a:r>
            <a:r>
              <a:rPr lang="zh-CN" altLang="en-US" sz="2400">
                <a:latin typeface="黑体" pitchFamily="2" charset="-122"/>
                <a:ea typeface="黑体" pitchFamily="2" charset="-122"/>
              </a:rPr>
              <a:t>位来说</a:t>
            </a:r>
            <a:r>
              <a:rPr lang="en-US" altLang="zh-CN" sz="2400">
                <a:latin typeface="黑体" pitchFamily="2" charset="-122"/>
                <a:ea typeface="黑体" pitchFamily="2" charset="-122"/>
              </a:rPr>
              <a:t>,CLA</a:t>
            </a:r>
            <a:r>
              <a:rPr lang="zh-CN" altLang="en-US" sz="2400">
                <a:latin typeface="黑体" pitchFamily="2" charset="-122"/>
                <a:ea typeface="黑体" pitchFamily="2" charset="-122"/>
              </a:rPr>
              <a:t>部件构成了第二级的先行进位逻辑</a:t>
            </a:r>
            <a:r>
              <a:rPr lang="en-US" altLang="zh-CN" sz="2400">
                <a:latin typeface="黑体" pitchFamily="2" charset="-122"/>
                <a:ea typeface="黑体" pitchFamily="2" charset="-122"/>
              </a:rPr>
              <a:t>,</a:t>
            </a:r>
            <a:r>
              <a:rPr lang="zh-CN" altLang="en-US" sz="2400">
                <a:latin typeface="黑体" pitchFamily="2" charset="-122"/>
                <a:ea typeface="黑体" pitchFamily="2" charset="-122"/>
              </a:rPr>
              <a:t>即实现四个小组（位片）之间的先行进位</a:t>
            </a:r>
            <a:r>
              <a:rPr lang="en-US" altLang="zh-CN" sz="2400">
                <a:latin typeface="黑体" pitchFamily="2" charset="-122"/>
                <a:ea typeface="黑体" pitchFamily="2" charset="-122"/>
              </a:rPr>
              <a:t>,</a:t>
            </a:r>
            <a:r>
              <a:rPr lang="zh-CN" altLang="en-US" sz="2400">
                <a:latin typeface="黑体" pitchFamily="2" charset="-122"/>
                <a:ea typeface="黑体" pitchFamily="2" charset="-122"/>
              </a:rPr>
              <a:t>从而使全字长</a:t>
            </a:r>
            <a:r>
              <a:rPr lang="en-US" altLang="zh-CN" sz="2400">
                <a:latin typeface="黑体" pitchFamily="2" charset="-122"/>
                <a:ea typeface="黑体" pitchFamily="2" charset="-122"/>
              </a:rPr>
              <a:t>ALU</a:t>
            </a:r>
            <a:r>
              <a:rPr lang="zh-CN" altLang="en-US" sz="2400">
                <a:latin typeface="黑体" pitchFamily="2" charset="-122"/>
                <a:ea typeface="黑体" pitchFamily="2" charset="-122"/>
              </a:rPr>
              <a:t>的运算时间大大缩短。</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矩形 1"/>
          <p:cNvSpPr>
            <a:spLocks noChangeArrowheads="1"/>
          </p:cNvSpPr>
          <p:nvPr/>
        </p:nvSpPr>
        <p:spPr bwMode="auto">
          <a:xfrm>
            <a:off x="179388" y="188913"/>
            <a:ext cx="77771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a:latin typeface="黑体" pitchFamily="2" charset="-122"/>
                <a:ea typeface="黑体" pitchFamily="2" charset="-122"/>
              </a:rPr>
              <a:t>P64</a:t>
            </a:r>
            <a:r>
              <a:rPr lang="zh-CN" altLang="en-US" sz="2400">
                <a:latin typeface="黑体" pitchFamily="2" charset="-122"/>
                <a:ea typeface="黑体" pitchFamily="2" charset="-122"/>
              </a:rPr>
              <a:t>、</a:t>
            </a:r>
            <a:r>
              <a:rPr lang="en-US" altLang="zh-CN" sz="2400">
                <a:latin typeface="黑体" pitchFamily="2" charset="-122"/>
                <a:ea typeface="黑体" pitchFamily="2" charset="-122"/>
              </a:rPr>
              <a:t>12. </a:t>
            </a:r>
            <a:r>
              <a:rPr lang="zh-CN" altLang="en-US" sz="2400">
                <a:latin typeface="黑体" pitchFamily="2" charset="-122"/>
                <a:ea typeface="黑体" pitchFamily="2" charset="-122"/>
              </a:rPr>
              <a:t>某机字长</a:t>
            </a:r>
            <a:r>
              <a:rPr lang="en-US" altLang="zh-CN" sz="2400">
                <a:latin typeface="黑体" pitchFamily="2" charset="-122"/>
                <a:ea typeface="黑体" pitchFamily="2" charset="-122"/>
              </a:rPr>
              <a:t>16</a:t>
            </a:r>
            <a:r>
              <a:rPr lang="zh-CN" altLang="en-US" sz="2400">
                <a:latin typeface="黑体" pitchFamily="2" charset="-122"/>
                <a:ea typeface="黑体" pitchFamily="2" charset="-122"/>
              </a:rPr>
              <a:t>位，使用四片</a:t>
            </a:r>
            <a:r>
              <a:rPr lang="en-US" altLang="zh-CN" sz="2400">
                <a:latin typeface="黑体" pitchFamily="2" charset="-122"/>
                <a:ea typeface="黑体" pitchFamily="2" charset="-122"/>
              </a:rPr>
              <a:t>74181</a:t>
            </a:r>
            <a:r>
              <a:rPr lang="zh-CN" altLang="en-US" sz="2400">
                <a:latin typeface="黑体" pitchFamily="2" charset="-122"/>
                <a:ea typeface="黑体" pitchFamily="2" charset="-122"/>
              </a:rPr>
              <a:t>组成算术／逻辑运算单元，设最低位序号标注为第</a:t>
            </a:r>
            <a:r>
              <a:rPr lang="en-US" altLang="zh-CN" sz="2400">
                <a:latin typeface="黑体" pitchFamily="2" charset="-122"/>
                <a:ea typeface="黑体" pitchFamily="2" charset="-122"/>
              </a:rPr>
              <a:t>0</a:t>
            </a:r>
            <a:r>
              <a:rPr lang="zh-CN" altLang="en-US" sz="2400">
                <a:latin typeface="黑体" pitchFamily="2" charset="-122"/>
                <a:ea typeface="黑体" pitchFamily="2" charset="-122"/>
              </a:rPr>
              <a:t>位。</a:t>
            </a:r>
            <a:br>
              <a:rPr lang="zh-CN" altLang="en-US" sz="2400">
                <a:latin typeface="黑体" pitchFamily="2" charset="-122"/>
                <a:ea typeface="黑体" pitchFamily="2" charset="-122"/>
              </a:rPr>
            </a:br>
            <a:r>
              <a:rPr lang="zh-CN" altLang="en-US" sz="2400">
                <a:latin typeface="黑体" pitchFamily="2" charset="-122"/>
                <a:ea typeface="黑体" pitchFamily="2" charset="-122"/>
              </a:rPr>
              <a:t>    </a:t>
            </a:r>
            <a:r>
              <a:rPr lang="en-US" altLang="zh-CN" sz="2400">
                <a:latin typeface="黑体" pitchFamily="2" charset="-122"/>
                <a:ea typeface="黑体" pitchFamily="2" charset="-122"/>
              </a:rPr>
              <a:t>(1)</a:t>
            </a:r>
            <a:r>
              <a:rPr lang="zh-CN" altLang="en-US" sz="2400">
                <a:latin typeface="黑体" pitchFamily="2" charset="-122"/>
                <a:ea typeface="黑体" pitchFamily="2" charset="-122"/>
              </a:rPr>
              <a:t>写出第</a:t>
            </a:r>
            <a:r>
              <a:rPr lang="en-US" altLang="zh-CN" sz="2400">
                <a:latin typeface="黑体" pitchFamily="2" charset="-122"/>
                <a:ea typeface="黑体" pitchFamily="2" charset="-122"/>
              </a:rPr>
              <a:t>5</a:t>
            </a:r>
            <a:r>
              <a:rPr lang="zh-CN" altLang="en-US" sz="2400">
                <a:latin typeface="黑体" pitchFamily="2" charset="-122"/>
                <a:ea typeface="黑体" pitchFamily="2" charset="-122"/>
              </a:rPr>
              <a:t>位的进位信号</a:t>
            </a:r>
            <a:r>
              <a:rPr lang="en-US" altLang="zh-CN" sz="2400">
                <a:latin typeface="黑体" pitchFamily="2" charset="-122"/>
                <a:ea typeface="黑体" pitchFamily="2" charset="-122"/>
              </a:rPr>
              <a:t>C6</a:t>
            </a:r>
            <a:r>
              <a:rPr lang="zh-CN" altLang="en-US" sz="2400">
                <a:latin typeface="黑体" pitchFamily="2" charset="-122"/>
                <a:ea typeface="黑体" pitchFamily="2" charset="-122"/>
              </a:rPr>
              <a:t>的逻辑表达式。</a:t>
            </a:r>
            <a:br>
              <a:rPr lang="zh-CN" altLang="en-US" sz="2400">
                <a:latin typeface="黑体" pitchFamily="2" charset="-122"/>
                <a:ea typeface="黑体" pitchFamily="2" charset="-122"/>
              </a:rPr>
            </a:br>
            <a:r>
              <a:rPr lang="zh-CN" altLang="en-US" sz="2400">
                <a:latin typeface="黑体" pitchFamily="2" charset="-122"/>
                <a:ea typeface="黑体" pitchFamily="2" charset="-122"/>
              </a:rPr>
              <a:t>    </a:t>
            </a:r>
            <a:r>
              <a:rPr lang="en-US" altLang="zh-CN" sz="2400">
                <a:latin typeface="黑体" pitchFamily="2" charset="-122"/>
                <a:ea typeface="黑体" pitchFamily="2" charset="-122"/>
              </a:rPr>
              <a:t>(2)</a:t>
            </a:r>
            <a:r>
              <a:rPr lang="zh-CN" altLang="en-US" sz="2400">
                <a:latin typeface="黑体" pitchFamily="2" charset="-122"/>
                <a:ea typeface="黑体" pitchFamily="2" charset="-122"/>
              </a:rPr>
              <a:t>估算产生</a:t>
            </a:r>
            <a:r>
              <a:rPr lang="en-US" altLang="zh-CN" sz="2400">
                <a:latin typeface="黑体" pitchFamily="2" charset="-122"/>
                <a:ea typeface="黑体" pitchFamily="2" charset="-122"/>
              </a:rPr>
              <a:t>C6</a:t>
            </a:r>
            <a:r>
              <a:rPr lang="zh-CN" altLang="en-US" sz="2400">
                <a:latin typeface="黑体" pitchFamily="2" charset="-122"/>
                <a:ea typeface="黑体" pitchFamily="2" charset="-122"/>
              </a:rPr>
              <a:t>所需的最长时间。</a:t>
            </a:r>
            <a:br>
              <a:rPr lang="zh-CN" altLang="en-US" sz="2400">
                <a:latin typeface="黑体" pitchFamily="2" charset="-122"/>
                <a:ea typeface="黑体" pitchFamily="2" charset="-122"/>
              </a:rPr>
            </a:br>
            <a:r>
              <a:rPr lang="zh-CN" altLang="en-US" sz="2400">
                <a:latin typeface="黑体" pitchFamily="2" charset="-122"/>
                <a:ea typeface="黑体" pitchFamily="2" charset="-122"/>
              </a:rPr>
              <a:t>    </a:t>
            </a:r>
            <a:r>
              <a:rPr lang="en-US" altLang="zh-CN" sz="2400">
                <a:latin typeface="黑体" pitchFamily="2" charset="-122"/>
                <a:ea typeface="黑体" pitchFamily="2" charset="-122"/>
              </a:rPr>
              <a:t>(3)</a:t>
            </a:r>
            <a:r>
              <a:rPr lang="zh-CN" altLang="en-US" sz="2400">
                <a:latin typeface="黑体" pitchFamily="2" charset="-122"/>
                <a:ea typeface="黑体" pitchFamily="2" charset="-122"/>
              </a:rPr>
              <a:t>估算最长求和时间。</a:t>
            </a: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636838"/>
            <a:ext cx="833755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215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11" y="220172"/>
            <a:ext cx="8713788"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180" y="1733656"/>
            <a:ext cx="8353425" cy="477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bwMode="auto">
          <a:xfrm>
            <a:off x="5192241" y="5791944"/>
            <a:ext cx="792088" cy="576064"/>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5" name="椭圆 4"/>
          <p:cNvSpPr/>
          <p:nvPr/>
        </p:nvSpPr>
        <p:spPr bwMode="auto">
          <a:xfrm>
            <a:off x="5436096" y="4510658"/>
            <a:ext cx="1224135" cy="1080120"/>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7" name="椭圆 6"/>
          <p:cNvSpPr/>
          <p:nvPr/>
        </p:nvSpPr>
        <p:spPr bwMode="auto">
          <a:xfrm>
            <a:off x="1288207" y="2911624"/>
            <a:ext cx="1728191" cy="1728192"/>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8" name="椭圆 7"/>
          <p:cNvSpPr/>
          <p:nvPr/>
        </p:nvSpPr>
        <p:spPr bwMode="auto">
          <a:xfrm>
            <a:off x="1331641" y="2191544"/>
            <a:ext cx="1224135" cy="864096"/>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9" name="椭圆 8"/>
          <p:cNvSpPr/>
          <p:nvPr/>
        </p:nvSpPr>
        <p:spPr bwMode="auto">
          <a:xfrm>
            <a:off x="5148065" y="2767608"/>
            <a:ext cx="1224135" cy="1080120"/>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15558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8" grpId="0" animBg="1"/>
      <p:bldP spid="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矩形 1"/>
          <p:cNvSpPr>
            <a:spLocks noChangeArrowheads="1"/>
          </p:cNvSpPr>
          <p:nvPr/>
        </p:nvSpPr>
        <p:spPr bwMode="auto">
          <a:xfrm>
            <a:off x="179388" y="188913"/>
            <a:ext cx="77771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a:latin typeface="黑体" pitchFamily="2" charset="-122"/>
                <a:ea typeface="黑体" pitchFamily="2" charset="-122"/>
              </a:rPr>
              <a:t>P64</a:t>
            </a:r>
            <a:r>
              <a:rPr lang="zh-CN" altLang="en-US" sz="2400">
                <a:latin typeface="黑体" pitchFamily="2" charset="-122"/>
                <a:ea typeface="黑体" pitchFamily="2" charset="-122"/>
              </a:rPr>
              <a:t>、</a:t>
            </a:r>
            <a:r>
              <a:rPr lang="en-US" altLang="zh-CN" sz="2400">
                <a:latin typeface="黑体" pitchFamily="2" charset="-122"/>
                <a:ea typeface="黑体" pitchFamily="2" charset="-122"/>
              </a:rPr>
              <a:t>12. </a:t>
            </a:r>
            <a:r>
              <a:rPr lang="zh-CN" altLang="en-US" sz="2400">
                <a:latin typeface="黑体" pitchFamily="2" charset="-122"/>
                <a:ea typeface="黑体" pitchFamily="2" charset="-122"/>
              </a:rPr>
              <a:t>某机字长</a:t>
            </a:r>
            <a:r>
              <a:rPr lang="en-US" altLang="zh-CN" sz="2400">
                <a:latin typeface="黑体" pitchFamily="2" charset="-122"/>
                <a:ea typeface="黑体" pitchFamily="2" charset="-122"/>
              </a:rPr>
              <a:t>16</a:t>
            </a:r>
            <a:r>
              <a:rPr lang="zh-CN" altLang="en-US" sz="2400">
                <a:latin typeface="黑体" pitchFamily="2" charset="-122"/>
                <a:ea typeface="黑体" pitchFamily="2" charset="-122"/>
              </a:rPr>
              <a:t>位，使用四片</a:t>
            </a:r>
            <a:r>
              <a:rPr lang="en-US" altLang="zh-CN" sz="2400">
                <a:latin typeface="黑体" pitchFamily="2" charset="-122"/>
                <a:ea typeface="黑体" pitchFamily="2" charset="-122"/>
              </a:rPr>
              <a:t>74181</a:t>
            </a:r>
            <a:r>
              <a:rPr lang="zh-CN" altLang="en-US" sz="2400">
                <a:latin typeface="黑体" pitchFamily="2" charset="-122"/>
                <a:ea typeface="黑体" pitchFamily="2" charset="-122"/>
              </a:rPr>
              <a:t>组成算术／逻辑运算单元，设最低位序号标注为第</a:t>
            </a:r>
            <a:r>
              <a:rPr lang="en-US" altLang="zh-CN" sz="2400">
                <a:latin typeface="黑体" pitchFamily="2" charset="-122"/>
                <a:ea typeface="黑体" pitchFamily="2" charset="-122"/>
              </a:rPr>
              <a:t>0</a:t>
            </a:r>
            <a:r>
              <a:rPr lang="zh-CN" altLang="en-US" sz="2400">
                <a:latin typeface="黑体" pitchFamily="2" charset="-122"/>
                <a:ea typeface="黑体" pitchFamily="2" charset="-122"/>
              </a:rPr>
              <a:t>位。</a:t>
            </a:r>
            <a:br>
              <a:rPr lang="zh-CN" altLang="en-US" sz="2400">
                <a:latin typeface="黑体" pitchFamily="2" charset="-122"/>
                <a:ea typeface="黑体" pitchFamily="2" charset="-122"/>
              </a:rPr>
            </a:br>
            <a:r>
              <a:rPr lang="zh-CN" altLang="en-US" sz="2400">
                <a:latin typeface="黑体" pitchFamily="2" charset="-122"/>
                <a:ea typeface="黑体" pitchFamily="2" charset="-122"/>
              </a:rPr>
              <a:t>    </a:t>
            </a:r>
            <a:r>
              <a:rPr lang="en-US" altLang="zh-CN" sz="2400">
                <a:latin typeface="黑体" pitchFamily="2" charset="-122"/>
                <a:ea typeface="黑体" pitchFamily="2" charset="-122"/>
              </a:rPr>
              <a:t>(1)</a:t>
            </a:r>
            <a:r>
              <a:rPr lang="zh-CN" altLang="en-US" sz="2400">
                <a:latin typeface="黑体" pitchFamily="2" charset="-122"/>
                <a:ea typeface="黑体" pitchFamily="2" charset="-122"/>
              </a:rPr>
              <a:t>写出第</a:t>
            </a:r>
            <a:r>
              <a:rPr lang="en-US" altLang="zh-CN" sz="2400">
                <a:latin typeface="黑体" pitchFamily="2" charset="-122"/>
                <a:ea typeface="黑体" pitchFamily="2" charset="-122"/>
              </a:rPr>
              <a:t>5</a:t>
            </a:r>
            <a:r>
              <a:rPr lang="zh-CN" altLang="en-US" sz="2400">
                <a:latin typeface="黑体" pitchFamily="2" charset="-122"/>
                <a:ea typeface="黑体" pitchFamily="2" charset="-122"/>
              </a:rPr>
              <a:t>位的进位信号</a:t>
            </a:r>
            <a:r>
              <a:rPr lang="en-US" altLang="zh-CN" sz="2400">
                <a:latin typeface="黑体" pitchFamily="2" charset="-122"/>
                <a:ea typeface="黑体" pitchFamily="2" charset="-122"/>
              </a:rPr>
              <a:t>C6</a:t>
            </a:r>
            <a:r>
              <a:rPr lang="zh-CN" altLang="en-US" sz="2400">
                <a:latin typeface="黑体" pitchFamily="2" charset="-122"/>
                <a:ea typeface="黑体" pitchFamily="2" charset="-122"/>
              </a:rPr>
              <a:t>的逻辑表达式。</a:t>
            </a:r>
            <a:br>
              <a:rPr lang="zh-CN" altLang="en-US" sz="2400">
                <a:latin typeface="黑体" pitchFamily="2" charset="-122"/>
                <a:ea typeface="黑体" pitchFamily="2" charset="-122"/>
              </a:rPr>
            </a:br>
            <a:r>
              <a:rPr lang="zh-CN" altLang="en-US" sz="2400">
                <a:latin typeface="黑体" pitchFamily="2" charset="-122"/>
                <a:ea typeface="黑体" pitchFamily="2" charset="-122"/>
              </a:rPr>
              <a:t>    </a:t>
            </a:r>
            <a:r>
              <a:rPr lang="en-US" altLang="zh-CN" sz="2400">
                <a:latin typeface="黑体" pitchFamily="2" charset="-122"/>
                <a:ea typeface="黑体" pitchFamily="2" charset="-122"/>
              </a:rPr>
              <a:t>(2)</a:t>
            </a:r>
            <a:r>
              <a:rPr lang="zh-CN" altLang="en-US" sz="2400">
                <a:latin typeface="黑体" pitchFamily="2" charset="-122"/>
                <a:ea typeface="黑体" pitchFamily="2" charset="-122"/>
              </a:rPr>
              <a:t>估算产生</a:t>
            </a:r>
            <a:r>
              <a:rPr lang="en-US" altLang="zh-CN" sz="2400">
                <a:latin typeface="黑体" pitchFamily="2" charset="-122"/>
                <a:ea typeface="黑体" pitchFamily="2" charset="-122"/>
              </a:rPr>
              <a:t>C6</a:t>
            </a:r>
            <a:r>
              <a:rPr lang="zh-CN" altLang="en-US" sz="2400">
                <a:latin typeface="黑体" pitchFamily="2" charset="-122"/>
                <a:ea typeface="黑体" pitchFamily="2" charset="-122"/>
              </a:rPr>
              <a:t>所需的最长时间。</a:t>
            </a:r>
            <a:br>
              <a:rPr lang="zh-CN" altLang="en-US" sz="2400">
                <a:latin typeface="黑体" pitchFamily="2" charset="-122"/>
                <a:ea typeface="黑体" pitchFamily="2" charset="-122"/>
              </a:rPr>
            </a:br>
            <a:r>
              <a:rPr lang="zh-CN" altLang="en-US" sz="2400">
                <a:latin typeface="黑体" pitchFamily="2" charset="-122"/>
                <a:ea typeface="黑体" pitchFamily="2" charset="-122"/>
              </a:rPr>
              <a:t>    </a:t>
            </a:r>
            <a:r>
              <a:rPr lang="en-US" altLang="zh-CN" sz="2400">
                <a:latin typeface="黑体" pitchFamily="2" charset="-122"/>
                <a:ea typeface="黑体" pitchFamily="2" charset="-122"/>
              </a:rPr>
              <a:t>(3)</a:t>
            </a:r>
            <a:r>
              <a:rPr lang="zh-CN" altLang="en-US" sz="2400">
                <a:latin typeface="黑体" pitchFamily="2" charset="-122"/>
                <a:ea typeface="黑体" pitchFamily="2" charset="-122"/>
              </a:rPr>
              <a:t>估算最长求和时间。</a:t>
            </a:r>
          </a:p>
        </p:txBody>
      </p:sp>
      <p:pic>
        <p:nvPicPr>
          <p:cNvPr id="11469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492375"/>
            <a:ext cx="7129463"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15888"/>
            <a:ext cx="86423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p:cNvSpPr/>
          <p:nvPr/>
        </p:nvSpPr>
        <p:spPr bwMode="auto">
          <a:xfrm>
            <a:off x="4906491" y="5896719"/>
            <a:ext cx="792088" cy="576064"/>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6" name="椭圆 5"/>
          <p:cNvSpPr/>
          <p:nvPr/>
        </p:nvSpPr>
        <p:spPr bwMode="auto">
          <a:xfrm>
            <a:off x="5150346" y="4739258"/>
            <a:ext cx="1224135" cy="1080120"/>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7" name="椭圆 6"/>
          <p:cNvSpPr/>
          <p:nvPr/>
        </p:nvSpPr>
        <p:spPr bwMode="auto">
          <a:xfrm>
            <a:off x="1532806" y="3573017"/>
            <a:ext cx="1464542" cy="1296144"/>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8" name="椭圆 7"/>
          <p:cNvSpPr/>
          <p:nvPr/>
        </p:nvSpPr>
        <p:spPr bwMode="auto">
          <a:xfrm>
            <a:off x="1570906" y="2845396"/>
            <a:ext cx="1224135" cy="864096"/>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9" name="椭圆 8"/>
          <p:cNvSpPr/>
          <p:nvPr/>
        </p:nvSpPr>
        <p:spPr bwMode="auto">
          <a:xfrm>
            <a:off x="2796209" y="3174876"/>
            <a:ext cx="612067" cy="576064"/>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10" name="椭圆 9"/>
          <p:cNvSpPr/>
          <p:nvPr/>
        </p:nvSpPr>
        <p:spPr bwMode="auto">
          <a:xfrm>
            <a:off x="1570906" y="2845396"/>
            <a:ext cx="1224135" cy="864096"/>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11" name="椭圆 10"/>
          <p:cNvSpPr/>
          <p:nvPr/>
        </p:nvSpPr>
        <p:spPr bwMode="auto">
          <a:xfrm>
            <a:off x="4864225" y="3366517"/>
            <a:ext cx="1224135" cy="864096"/>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12" name="椭圆 11"/>
          <p:cNvSpPr/>
          <p:nvPr/>
        </p:nvSpPr>
        <p:spPr bwMode="auto">
          <a:xfrm>
            <a:off x="4507707" y="2873971"/>
            <a:ext cx="804354" cy="617512"/>
          </a:xfrm>
          <a:prstGeom prst="ellipse">
            <a:avLst/>
          </a:prstGeom>
          <a:noFill/>
          <a:ln w="57150" cap="flat" cmpd="sng" algn="ctr">
            <a:solidFill>
              <a:srgbClr val="FF0000"/>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4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1"/>
          <p:cNvSpPr>
            <a:spLocks noChangeArrowheads="1"/>
          </p:cNvSpPr>
          <p:nvPr/>
        </p:nvSpPr>
        <p:spPr bwMode="auto">
          <a:xfrm>
            <a:off x="238125" y="188913"/>
            <a:ext cx="8542338" cy="637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itchFamily="2" charset="-122"/>
                <a:ea typeface="黑体" pitchFamily="2" charset="-122"/>
              </a:rPr>
              <a:t>2.5.3 内部总线 </a:t>
            </a:r>
            <a:r>
              <a:rPr lang="zh-CN" altLang="zh-CN" sz="2400">
                <a:solidFill>
                  <a:srgbClr val="8080FF"/>
                </a:solidFill>
                <a:latin typeface="黑体" pitchFamily="2" charset="-122"/>
                <a:ea typeface="黑体" pitchFamily="2" charset="-122"/>
                <a:hlinkClick r:id="rId2" action="ppaction://hlinkfile"/>
              </a:rPr>
              <a:t>　　　　　　　　　  </a:t>
            </a:r>
            <a:endParaRPr lang="zh-CN" altLang="zh-CN" sz="2400">
              <a:latin typeface="黑体" pitchFamily="2" charset="-122"/>
              <a:ea typeface="黑体" pitchFamily="2" charset="-122"/>
            </a:endParaRPr>
          </a:p>
          <a:p>
            <a:pPr eaLnBrk="0" hangingPunct="0">
              <a:lnSpc>
                <a:spcPct val="150000"/>
              </a:lnSpc>
            </a:pPr>
            <a:r>
              <a:rPr lang="zh-CN" altLang="zh-CN" sz="2400">
                <a:solidFill>
                  <a:srgbClr val="8080FF"/>
                </a:solidFill>
                <a:latin typeface="黑体" pitchFamily="2" charset="-122"/>
                <a:ea typeface="黑体" pitchFamily="2" charset="-122"/>
              </a:rPr>
              <a:t>　　</a:t>
            </a:r>
            <a:r>
              <a:rPr lang="zh-CN" altLang="zh-CN" sz="2000">
                <a:latin typeface="黑体" pitchFamily="2" charset="-122"/>
                <a:ea typeface="黑体" pitchFamily="2" charset="-122"/>
              </a:rPr>
              <a:t>由于计算机内部的主要工作过程是信息传送和加工的过程,因此</a:t>
            </a:r>
            <a:endParaRPr lang="en-US"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在机器内部各部件之间的数据传送非常频繁。</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为了减少内部的传送线并便于控制,通常将一些寄存器之间数据传送的通路加以归并,组成总线结构,使不同来源的信息在此传输线上分时传送。</a:t>
            </a:r>
          </a:p>
          <a:p>
            <a:pPr eaLnBrk="0" hangingPunct="0">
              <a:lnSpc>
                <a:spcPct val="150000"/>
              </a:lnSpc>
            </a:pPr>
            <a:r>
              <a:rPr lang="zh-CN" altLang="zh-CN" sz="2000">
                <a:latin typeface="黑体" pitchFamily="2" charset="-122"/>
                <a:ea typeface="黑体" pitchFamily="2" charset="-122"/>
              </a:rPr>
              <a:t>　　根据总线所在位置,总线分为</a:t>
            </a:r>
            <a:r>
              <a:rPr lang="zh-CN" altLang="zh-CN" sz="2000">
                <a:solidFill>
                  <a:srgbClr val="FF0000"/>
                </a:solidFill>
                <a:latin typeface="黑体" pitchFamily="2" charset="-122"/>
                <a:ea typeface="黑体" pitchFamily="2" charset="-122"/>
              </a:rPr>
              <a:t>内部总线</a:t>
            </a:r>
            <a:r>
              <a:rPr lang="zh-CN" altLang="zh-CN" sz="2000">
                <a:latin typeface="黑体" pitchFamily="2" charset="-122"/>
                <a:ea typeface="黑体" pitchFamily="2" charset="-122"/>
              </a:rPr>
              <a:t>和</a:t>
            </a:r>
            <a:r>
              <a:rPr lang="zh-CN" altLang="zh-CN" sz="2000">
                <a:solidFill>
                  <a:srgbClr val="FF0000"/>
                </a:solidFill>
                <a:latin typeface="黑体" pitchFamily="2" charset="-122"/>
                <a:ea typeface="黑体" pitchFamily="2" charset="-122"/>
              </a:rPr>
              <a:t>外部总线</a:t>
            </a:r>
            <a:r>
              <a:rPr lang="zh-CN" altLang="zh-CN" sz="2000">
                <a:latin typeface="黑体" pitchFamily="2" charset="-122"/>
                <a:ea typeface="黑体" pitchFamily="2" charset="-122"/>
              </a:rPr>
              <a:t>两类。</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solidFill>
                  <a:srgbClr val="FF0000"/>
                </a:solidFill>
                <a:latin typeface="黑体" pitchFamily="2" charset="-122"/>
                <a:ea typeface="黑体" pitchFamily="2" charset="-122"/>
              </a:rPr>
              <a:t>内部总线</a:t>
            </a:r>
            <a:r>
              <a:rPr lang="zh-CN" altLang="zh-CN" sz="2000">
                <a:latin typeface="黑体" pitchFamily="2" charset="-122"/>
                <a:ea typeface="黑体" pitchFamily="2" charset="-122"/>
              </a:rPr>
              <a:t>是指CPU内各部件的连线</a:t>
            </a:r>
            <a:r>
              <a:rPr lang="zh-CN" altLang="en-US" sz="2000">
                <a:latin typeface="黑体" pitchFamily="2" charset="-122"/>
                <a:ea typeface="黑体" pitchFamily="2" charset="-122"/>
              </a:rPr>
              <a:t>。</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solidFill>
                  <a:srgbClr val="FF0000"/>
                </a:solidFill>
                <a:latin typeface="黑体" pitchFamily="2" charset="-122"/>
                <a:ea typeface="黑体" pitchFamily="2" charset="-122"/>
              </a:rPr>
              <a:t>外部总线</a:t>
            </a:r>
            <a:r>
              <a:rPr lang="zh-CN" altLang="zh-CN" sz="2000">
                <a:latin typeface="黑体" pitchFamily="2" charset="-122"/>
                <a:ea typeface="黑体" pitchFamily="2" charset="-122"/>
              </a:rPr>
              <a:t>是指系统总线,即CPU与存储器、I/O系统之间的连线。本节只讨论内部总线。</a:t>
            </a:r>
          </a:p>
          <a:p>
            <a:pPr eaLnBrk="0" hangingPunct="0">
              <a:lnSpc>
                <a:spcPct val="150000"/>
              </a:lnSpc>
            </a:pPr>
            <a:r>
              <a:rPr lang="zh-CN" altLang="zh-CN" sz="2000">
                <a:latin typeface="黑体" pitchFamily="2" charset="-122"/>
                <a:ea typeface="黑体" pitchFamily="2" charset="-122"/>
              </a:rPr>
              <a:t>　　按总线的逻辑结构来说,总线可分为</a:t>
            </a:r>
            <a:r>
              <a:rPr lang="zh-CN" altLang="zh-CN" sz="2000">
                <a:solidFill>
                  <a:srgbClr val="FF0000"/>
                </a:solidFill>
                <a:latin typeface="黑体" pitchFamily="2" charset="-122"/>
                <a:ea typeface="黑体" pitchFamily="2" charset="-122"/>
              </a:rPr>
              <a:t>单向传送总线</a:t>
            </a:r>
            <a:r>
              <a:rPr lang="zh-CN" altLang="zh-CN" sz="2000">
                <a:latin typeface="黑体" pitchFamily="2" charset="-122"/>
                <a:ea typeface="黑体" pitchFamily="2" charset="-122"/>
              </a:rPr>
              <a:t>和</a:t>
            </a:r>
            <a:r>
              <a:rPr lang="zh-CN" altLang="zh-CN" sz="2000">
                <a:solidFill>
                  <a:srgbClr val="FF0000"/>
                </a:solidFill>
                <a:latin typeface="黑体" pitchFamily="2" charset="-122"/>
                <a:ea typeface="黑体" pitchFamily="2" charset="-122"/>
              </a:rPr>
              <a:t>双向传送总线</a:t>
            </a:r>
            <a:r>
              <a:rPr lang="zh-CN" altLang="zh-CN" sz="2000">
                <a:latin typeface="黑体" pitchFamily="2" charset="-122"/>
                <a:ea typeface="黑体" pitchFamily="2" charset="-122"/>
              </a:rPr>
              <a:t>。</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solidFill>
                  <a:srgbClr val="FF0000"/>
                </a:solidFill>
                <a:latin typeface="黑体" pitchFamily="2" charset="-122"/>
                <a:ea typeface="黑体" pitchFamily="2" charset="-122"/>
              </a:rPr>
              <a:t>单向总线</a:t>
            </a:r>
            <a:r>
              <a:rPr lang="zh-CN" altLang="zh-CN" sz="2000">
                <a:latin typeface="黑体" pitchFamily="2" charset="-122"/>
                <a:ea typeface="黑体" pitchFamily="2" charset="-122"/>
              </a:rPr>
              <a:t>,就是信息只能向一个方向传送。</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solidFill>
                  <a:srgbClr val="FF0000"/>
                </a:solidFill>
                <a:latin typeface="黑体" pitchFamily="2" charset="-122"/>
                <a:ea typeface="黑体" pitchFamily="2" charset="-122"/>
              </a:rPr>
              <a:t>双向总线</a:t>
            </a:r>
            <a:r>
              <a:rPr lang="zh-CN" altLang="zh-CN" sz="2000">
                <a:latin typeface="黑体" pitchFamily="2" charset="-122"/>
                <a:ea typeface="黑体" pitchFamily="2" charset="-122"/>
              </a:rPr>
              <a:t>,就是信息可以分两个方向传送,既可以发送数据,也可以接收数据。</a:t>
            </a:r>
          </a:p>
        </p:txBody>
      </p:sp>
      <p:sp>
        <p:nvSpPr>
          <p:cNvPr id="115715" name="AutoShape 2" descr="G:\jzdx\%E8%AE%A1%E7%AE%97%E6%9C%BA%E7%BB%84%E6%88%90%E5%8E%9F%E7%90%86\%E6%95%99%E6%A1%88\%E7%AC%AC%E4%BA%8C%E7%AB%A0\htm\Images\Home07.gif">
            <a:hlinkClick r:id="rId2" action="ppaction://hlinkfile"/>
          </p:cNvPr>
          <p:cNvSpPr>
            <a:spLocks noChangeAspect="1" noChangeArrowheads="1"/>
          </p:cNvSpPr>
          <p:nvPr/>
        </p:nvSpPr>
        <p:spPr bwMode="auto">
          <a:xfrm>
            <a:off x="3894138" y="-763588"/>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04664"/>
            <a:ext cx="6192688" cy="601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
          <p:cNvSpPr>
            <a:spLocks noChangeArrowheads="1"/>
          </p:cNvSpPr>
          <p:nvPr/>
        </p:nvSpPr>
        <p:spPr bwMode="auto">
          <a:xfrm>
            <a:off x="323850" y="336550"/>
            <a:ext cx="7561263"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itchFamily="2" charset="-122"/>
                <a:ea typeface="黑体" pitchFamily="2" charset="-122"/>
              </a:rPr>
              <a:t>2.5.4 定点运算器的基本结构</a:t>
            </a:r>
            <a:r>
              <a:rPr lang="zh-CN" altLang="zh-CN" sz="2400" i="1">
                <a:solidFill>
                  <a:srgbClr val="8080FF"/>
                </a:solidFill>
                <a:latin typeface="黑体" pitchFamily="2" charset="-122"/>
                <a:ea typeface="黑体" pitchFamily="2" charset="-122"/>
                <a:hlinkClick r:id="rId2" action="ppaction://hlinkfile"/>
              </a:rPr>
              <a:t>　　　  </a:t>
            </a:r>
            <a:endParaRPr lang="zh-CN" altLang="zh-CN" sz="2400">
              <a:latin typeface="黑体" pitchFamily="2" charset="-122"/>
              <a:ea typeface="黑体" pitchFamily="2" charset="-122"/>
            </a:endParaRPr>
          </a:p>
          <a:p>
            <a:pPr eaLnBrk="0" hangingPunct="0">
              <a:lnSpc>
                <a:spcPct val="150000"/>
              </a:lnSpc>
            </a:pPr>
            <a:r>
              <a:rPr lang="zh-CN" altLang="zh-CN" sz="2400">
                <a:solidFill>
                  <a:srgbClr val="000000"/>
                </a:solidFill>
                <a:latin typeface="黑体" pitchFamily="2" charset="-122"/>
                <a:ea typeface="黑体" pitchFamily="2" charset="-122"/>
              </a:rPr>
              <a:t>　　</a:t>
            </a:r>
            <a:r>
              <a:rPr lang="en-US" altLang="zh-CN" sz="2400">
                <a:solidFill>
                  <a:srgbClr val="000000"/>
                </a:solidFill>
                <a:latin typeface="黑体" pitchFamily="2" charset="-122"/>
                <a:ea typeface="黑体" pitchFamily="2" charset="-122"/>
              </a:rPr>
              <a:t> </a:t>
            </a:r>
            <a:r>
              <a:rPr lang="zh-CN" altLang="zh-CN" sz="2400">
                <a:solidFill>
                  <a:srgbClr val="000000"/>
                </a:solidFill>
                <a:latin typeface="黑体" pitchFamily="2" charset="-122"/>
                <a:ea typeface="黑体" pitchFamily="2" charset="-122"/>
              </a:rPr>
              <a:t>运算器包括ALU\阵列乘除器\寄存器\多路开关\三态缓冲器\数据总线等逻辑部件。运算器的设计,主要是围绕ALU和寄存器同数据总线之间如何传送操作数和运算结果进行的。在决定方案时,需要考虑数据传送的方便性和操作速度,在微型机和单片机中还要考虑在硅片上制作总线的工艺。 计算机的运算器大体有如下三种结构形式</a:t>
            </a:r>
            <a:r>
              <a:rPr lang="zh-CN" altLang="en-US" sz="2400">
                <a:solidFill>
                  <a:srgbClr val="000000"/>
                </a:solidFill>
                <a:latin typeface="黑体" pitchFamily="2" charset="-122"/>
                <a:ea typeface="黑体" pitchFamily="2" charset="-122"/>
              </a:rPr>
              <a:t>。</a:t>
            </a:r>
            <a:endParaRPr lang="zh-CN" altLang="zh-CN" sz="2400">
              <a:solidFill>
                <a:srgbClr val="000000"/>
              </a:solidFill>
              <a:latin typeface="黑体" pitchFamily="2" charset="-122"/>
              <a:ea typeface="黑体" pitchFamily="2" charset="-122"/>
            </a:endParaRPr>
          </a:p>
        </p:txBody>
      </p:sp>
      <p:sp>
        <p:nvSpPr>
          <p:cNvPr id="117763" name="AutoShape 2" descr="G:\jzdx\%E8%AE%A1%E7%AE%97%E6%9C%BA%E7%BB%84%E6%88%90%E5%8E%9F%E7%90%86\%E6%95%99%E6%A1%88\%E7%AC%AC%E4%BA%8C%E7%AB%A0\htm\Images\Home07.gif">
            <a:hlinkClick r:id="rId2" action="ppaction://hlinkfile"/>
          </p:cNvPr>
          <p:cNvSpPr>
            <a:spLocks noChangeAspect="1" noChangeArrowheads="1"/>
          </p:cNvSpPr>
          <p:nvPr/>
        </p:nvSpPr>
        <p:spPr bwMode="auto">
          <a:xfrm>
            <a:off x="3741738" y="-39687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4" name="AutoShape 3" descr="G:\jzdx\%E8%AE%A1%E7%AE%97%E6%9C%BA%E7%BB%84%E6%88%90%E5%8E%9F%E7%90%86\%E6%95%99%E6%A1%88\%E7%AC%AC%E4%BA%8C%E7%AB%A0\htm\Images\cai.jpg">
            <a:hlinkClick r:id="rId3" action="ppaction://hlinkfile"/>
          </p:cNvPr>
          <p:cNvSpPr>
            <a:spLocks noChangeAspect="1" noChangeArrowheads="1"/>
          </p:cNvSpPr>
          <p:nvPr/>
        </p:nvSpPr>
        <p:spPr bwMode="auto">
          <a:xfrm>
            <a:off x="11414125" y="365125"/>
            <a:ext cx="7239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1"/>
          <p:cNvSpPr>
            <a:spLocks noChangeArrowheads="1"/>
          </p:cNvSpPr>
          <p:nvPr/>
        </p:nvSpPr>
        <p:spPr bwMode="auto">
          <a:xfrm>
            <a:off x="206375" y="185738"/>
            <a:ext cx="868680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t>      </a:t>
            </a:r>
            <a:r>
              <a:rPr lang="zh-CN" altLang="zh-CN" sz="2000">
                <a:latin typeface="黑体" pitchFamily="2" charset="-122"/>
                <a:ea typeface="黑体" pitchFamily="2" charset="-122"/>
              </a:rPr>
              <a:t>1.单总线结构的运算器</a:t>
            </a:r>
          </a:p>
          <a:p>
            <a:pPr eaLnBrk="0" hangingPunct="0">
              <a:lnSpc>
                <a:spcPct val="150000"/>
              </a:lnSpc>
            </a:pPr>
            <a:r>
              <a:rPr lang="zh-CN" altLang="zh-CN" sz="2000">
                <a:latin typeface="黑体" pitchFamily="2" charset="-122"/>
                <a:ea typeface="黑体" pitchFamily="2" charset="-122"/>
              </a:rPr>
              <a:t>  </a:t>
            </a:r>
            <a:r>
              <a:rPr lang="en-US" altLang="zh-CN" sz="2000">
                <a:latin typeface="黑体" pitchFamily="2" charset="-122"/>
                <a:ea typeface="黑体" pitchFamily="2" charset="-122"/>
              </a:rPr>
              <a:t>     </a:t>
            </a:r>
            <a:r>
              <a:rPr lang="zh-CN" altLang="zh-CN" sz="2000">
                <a:latin typeface="黑体" pitchFamily="2" charset="-122"/>
                <a:ea typeface="黑体" pitchFamily="2" charset="-122"/>
              </a:rPr>
              <a:t>由于所有部件都接到同一</a:t>
            </a:r>
            <a:endParaRPr lang="en-US"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总线上,所以数据可以在任何两</a:t>
            </a:r>
            <a:endParaRPr lang="en-US"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个寄存器之间,或者在任一个寄</a:t>
            </a:r>
            <a:endParaRPr lang="en-US"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存器和ALU之间传送。如果具</a:t>
            </a:r>
            <a:endParaRPr lang="en-US"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有阵列乘法器或除法器,那么它</a:t>
            </a:r>
            <a:endParaRPr lang="en-US" altLang="zh-CN" sz="2000">
              <a:latin typeface="黑体" pitchFamily="2" charset="-122"/>
              <a:ea typeface="黑体" pitchFamily="2" charset="-122"/>
            </a:endParaRPr>
          </a:p>
          <a:p>
            <a:pPr eaLnBrk="0" hangingPunct="0">
              <a:lnSpc>
                <a:spcPct val="150000"/>
              </a:lnSpc>
            </a:pPr>
            <a:r>
              <a:rPr lang="zh-CN" altLang="zh-CN" sz="2000">
                <a:latin typeface="黑体" pitchFamily="2" charset="-122"/>
                <a:ea typeface="黑体" pitchFamily="2" charset="-122"/>
              </a:rPr>
              <a:t>们所处的位置应与ALU相当。</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对</a:t>
            </a:r>
            <a:r>
              <a:rPr lang="zh-CN" altLang="en-US" sz="2000">
                <a:latin typeface="黑体" pitchFamily="2" charset="-122"/>
                <a:ea typeface="黑体" pitchFamily="2" charset="-122"/>
              </a:rPr>
              <a:t>该</a:t>
            </a:r>
            <a:r>
              <a:rPr lang="zh-CN" altLang="zh-CN" sz="2000">
                <a:latin typeface="黑体" pitchFamily="2" charset="-122"/>
                <a:ea typeface="黑体" pitchFamily="2" charset="-122"/>
              </a:rPr>
              <a:t>结构的运算器来说,在同一时间内,只能有一个操作数放在单总线上。为了把两个操作数输入到ALU,需要分两次来做,而且还需要A,B两个缓冲寄存器。这种结构的主要缺点是操作速度较慢。</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虽然在这种结构中输入数据和操作结果需要三次串行的选通操作,但它并不会对每种指令都增加很多执行时间。只有在对全都是CPU寄存器中的两个操作数进行操作时,单总线结构的运算器才会造成一定的时间损失。但是由于它只控制一条总线,故控制电路比较简单。</a:t>
            </a:r>
          </a:p>
        </p:txBody>
      </p:sp>
      <p:sp>
        <p:nvSpPr>
          <p:cNvPr id="118787" name="AutoShape 2" descr="G:\jzdx\%E8%AE%A1%E7%AE%97%E6%9C%BA%E7%BB%84%E6%88%90%E5%8E%9F%E7%90%86\%E6%95%99%E6%A1%88\%E7%AC%AC%E4%BA%8C%E7%AB%A0\htm\Images\t2.15.0.gif"/>
          <p:cNvSpPr>
            <a:spLocks noChangeAspect="1" noChangeArrowheads="1"/>
          </p:cNvSpPr>
          <p:nvPr/>
        </p:nvSpPr>
        <p:spPr bwMode="auto">
          <a:xfrm>
            <a:off x="155575" y="-1463675"/>
            <a:ext cx="448627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1878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4138" y="404813"/>
            <a:ext cx="4710112"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1"/>
          <p:cNvSpPr>
            <a:spLocks noChangeArrowheads="1"/>
          </p:cNvSpPr>
          <p:nvPr/>
        </p:nvSpPr>
        <p:spPr bwMode="auto">
          <a:xfrm>
            <a:off x="130175" y="188913"/>
            <a:ext cx="8640763" cy="649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2.双总线结构的运算器</a:t>
            </a:r>
          </a:p>
          <a:p>
            <a:pPr eaLnBrk="0" hangingPunct="0">
              <a:lnSpc>
                <a:spcPct val="130000"/>
              </a:lnSpc>
            </a:pPr>
            <a:r>
              <a:rPr lang="zh-CN" altLang="zh-CN" sz="2000">
                <a:latin typeface="黑体" pitchFamily="2" charset="-122"/>
                <a:ea typeface="黑体" pitchFamily="2" charset="-122"/>
              </a:rPr>
              <a:t>　　在这种结构中,两个操作数</a:t>
            </a:r>
            <a:endParaRPr lang="en-US" altLang="zh-CN" sz="2000">
              <a:latin typeface="黑体" pitchFamily="2" charset="-122"/>
              <a:ea typeface="黑体" pitchFamily="2" charset="-122"/>
            </a:endParaRPr>
          </a:p>
          <a:p>
            <a:pPr eaLnBrk="0" hangingPunct="0">
              <a:lnSpc>
                <a:spcPct val="130000"/>
              </a:lnSpc>
            </a:pPr>
            <a:r>
              <a:rPr lang="zh-CN" altLang="zh-CN" sz="2000">
                <a:latin typeface="黑体" pitchFamily="2" charset="-122"/>
                <a:ea typeface="黑体" pitchFamily="2" charset="-122"/>
              </a:rPr>
              <a:t>同时加到ALU进行运算,只需一次</a:t>
            </a:r>
            <a:endParaRPr lang="en-US" altLang="zh-CN" sz="2000">
              <a:latin typeface="黑体" pitchFamily="2" charset="-122"/>
              <a:ea typeface="黑体" pitchFamily="2" charset="-122"/>
            </a:endParaRPr>
          </a:p>
          <a:p>
            <a:pPr eaLnBrk="0" hangingPunct="0">
              <a:lnSpc>
                <a:spcPct val="130000"/>
              </a:lnSpc>
            </a:pPr>
            <a:r>
              <a:rPr lang="zh-CN" altLang="zh-CN" sz="2000">
                <a:latin typeface="黑体" pitchFamily="2" charset="-122"/>
                <a:ea typeface="黑体" pitchFamily="2" charset="-122"/>
              </a:rPr>
              <a:t>操作控制,马上就可以得到运算</a:t>
            </a:r>
            <a:endParaRPr lang="en-US" altLang="zh-CN" sz="2000">
              <a:latin typeface="黑体" pitchFamily="2" charset="-122"/>
              <a:ea typeface="黑体" pitchFamily="2" charset="-122"/>
            </a:endParaRPr>
          </a:p>
          <a:p>
            <a:pPr eaLnBrk="0" hangingPunct="0">
              <a:lnSpc>
                <a:spcPct val="130000"/>
              </a:lnSpc>
            </a:pPr>
            <a:r>
              <a:rPr lang="zh-CN" altLang="zh-CN" sz="2000">
                <a:latin typeface="黑体" pitchFamily="2" charset="-122"/>
                <a:ea typeface="黑体" pitchFamily="2" charset="-122"/>
              </a:rPr>
              <a:t>结果。图中,两条总线各自把其</a:t>
            </a:r>
            <a:endParaRPr lang="en-US" altLang="zh-CN" sz="2000">
              <a:latin typeface="黑体" pitchFamily="2" charset="-122"/>
              <a:ea typeface="黑体" pitchFamily="2" charset="-122"/>
            </a:endParaRPr>
          </a:p>
          <a:p>
            <a:pPr eaLnBrk="0" hangingPunct="0">
              <a:lnSpc>
                <a:spcPct val="130000"/>
              </a:lnSpc>
            </a:pPr>
            <a:r>
              <a:rPr lang="zh-CN" altLang="zh-CN" sz="2000">
                <a:latin typeface="黑体" pitchFamily="2" charset="-122"/>
                <a:ea typeface="黑体" pitchFamily="2" charset="-122"/>
              </a:rPr>
              <a:t>数据送至ALU的输入端。特殊寄</a:t>
            </a:r>
            <a:endParaRPr lang="en-US" altLang="zh-CN" sz="2000">
              <a:latin typeface="黑体" pitchFamily="2" charset="-122"/>
              <a:ea typeface="黑体" pitchFamily="2" charset="-122"/>
            </a:endParaRPr>
          </a:p>
          <a:p>
            <a:pPr eaLnBrk="0" hangingPunct="0">
              <a:lnSpc>
                <a:spcPct val="130000"/>
              </a:lnSpc>
            </a:pPr>
            <a:r>
              <a:rPr lang="zh-CN" altLang="zh-CN" sz="2000">
                <a:latin typeface="黑体" pitchFamily="2" charset="-122"/>
                <a:ea typeface="黑体" pitchFamily="2" charset="-122"/>
              </a:rPr>
              <a:t>存器分为两组,它们分别与一条</a:t>
            </a:r>
            <a:endParaRPr lang="en-US" altLang="zh-CN" sz="2000">
              <a:latin typeface="黑体" pitchFamily="2" charset="-122"/>
              <a:ea typeface="黑体" pitchFamily="2" charset="-122"/>
            </a:endParaRPr>
          </a:p>
          <a:p>
            <a:pPr eaLnBrk="0" hangingPunct="0">
              <a:lnSpc>
                <a:spcPct val="130000"/>
              </a:lnSpc>
            </a:pPr>
            <a:r>
              <a:rPr lang="zh-CN" altLang="zh-CN" sz="2000">
                <a:latin typeface="黑体" pitchFamily="2" charset="-122"/>
                <a:ea typeface="黑体" pitchFamily="2" charset="-122"/>
              </a:rPr>
              <a:t>总线交换数据。这样,通用寄存器中的数就可进入到任一组特殊寄存器中去,从而使数据传送更为灵活。ALU的输出不能直接加到总线上去。这是因为,当形成操作结果的输出时,两条总线都被输入数占据,因而必须在ALU输出端设置缓冲寄存器。为此,操作的控制要分两步完成:</a:t>
            </a:r>
          </a:p>
          <a:p>
            <a:pPr eaLnBrk="0" hangingPunct="0">
              <a:lnSpc>
                <a:spcPct val="13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1.在ALU的两个输入端输入操作数,形成结果并送入缓冲寄存器;</a:t>
            </a:r>
          </a:p>
          <a:p>
            <a:pPr eaLnBrk="0" hangingPunct="0">
              <a:lnSpc>
                <a:spcPct val="13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2.把结果送入目的寄存器。</a:t>
            </a:r>
            <a:endParaRPr lang="en-US" altLang="zh-CN" sz="2000">
              <a:latin typeface="黑体" pitchFamily="2" charset="-122"/>
              <a:ea typeface="黑体" pitchFamily="2" charset="-122"/>
            </a:endParaRPr>
          </a:p>
          <a:p>
            <a:pPr eaLnBrk="0" hangingPunct="0">
              <a:lnSpc>
                <a:spcPct val="13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假如在总线1,2和ALU输入端之间再各加一个输入缓冲寄存器,并把两个输入数先放至这两个缓冲寄存器,那么,ALU输出端就可以直接把操作结果送至总线1或总线2上去。</a:t>
            </a:r>
          </a:p>
        </p:txBody>
      </p:sp>
      <p:sp>
        <p:nvSpPr>
          <p:cNvPr id="119811" name="AutoShape 2" descr="G:\jzdx\%E8%AE%A1%E7%AE%97%E6%9C%BA%E7%BB%84%E6%88%90%E5%8E%9F%E7%90%86\%E6%95%99%E6%A1%88\%E7%AC%AC%E4%BA%8C%E7%AB%A0\htm\Images\t2.15.1.gif"/>
          <p:cNvSpPr>
            <a:spLocks noChangeAspect="1" noChangeArrowheads="1"/>
          </p:cNvSpPr>
          <p:nvPr/>
        </p:nvSpPr>
        <p:spPr bwMode="auto">
          <a:xfrm>
            <a:off x="155575" y="-1714500"/>
            <a:ext cx="5038725"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198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838" y="188913"/>
            <a:ext cx="48387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1"/>
          <p:cNvSpPr>
            <a:spLocks noChangeArrowheads="1"/>
          </p:cNvSpPr>
          <p:nvPr/>
        </p:nvSpPr>
        <p:spPr bwMode="auto">
          <a:xfrm>
            <a:off x="212725" y="188913"/>
            <a:ext cx="8640763" cy="655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3.三总线结构的运算器</a:t>
            </a:r>
          </a:p>
          <a:p>
            <a:pPr eaLnBrk="0" hangingPunct="0">
              <a:lnSpc>
                <a:spcPct val="150000"/>
              </a:lnSpc>
            </a:pPr>
            <a:r>
              <a:rPr lang="zh-CN" altLang="zh-CN" sz="2000">
                <a:latin typeface="黑体" pitchFamily="2" charset="-122"/>
                <a:ea typeface="黑体" pitchFamily="2" charset="-122"/>
              </a:rPr>
              <a:t>  </a:t>
            </a:r>
            <a:r>
              <a:rPr lang="en-US" altLang="zh-CN" sz="2000">
                <a:latin typeface="黑体" pitchFamily="2" charset="-122"/>
                <a:ea typeface="黑体" pitchFamily="2" charset="-122"/>
              </a:rPr>
              <a:t>  </a:t>
            </a: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在三总线结构中,ALU的两个输入端分别由两条总线供给,而ALU的输出则与第三条总线相连。这样,算术逻辑操作就可以在一步的控制之内完成。由于ALU本身有时间延迟,所以打入输出结果的选通脉冲必须考虑到包括这个延迟。另外,设置了一个总线旁路器。如果一个操作数不需要修改,而直接从总线2传送到总线3,那么可以通过控制总线旁路器把数据传出;如果一个操作数传送时需要修改,那么就借助于ALU。很显然,三总线结构的运算器的特点是操作时间快。</a:t>
            </a:r>
          </a:p>
        </p:txBody>
      </p:sp>
      <p:sp>
        <p:nvSpPr>
          <p:cNvPr id="120835" name="AutoShape 2" descr="G:\jzdx\%E8%AE%A1%E7%AE%97%E6%9C%BA%E7%BB%84%E6%88%90%E5%8E%9F%E7%90%86\%E6%95%99%E6%A1%88\%E7%AC%AC%E4%BA%8C%E7%AB%A0\htm\Images\t2.15.2.gif"/>
          <p:cNvSpPr>
            <a:spLocks noChangeAspect="1" noChangeArrowheads="1"/>
          </p:cNvSpPr>
          <p:nvPr/>
        </p:nvSpPr>
        <p:spPr bwMode="auto">
          <a:xfrm>
            <a:off x="149225" y="-138113"/>
            <a:ext cx="4295775" cy="260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2083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765175"/>
            <a:ext cx="4238625"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06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323528" y="1124744"/>
            <a:ext cx="8423854" cy="5416868"/>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运算器</a:t>
            </a:r>
            <a:r>
              <a:rPr lang="zh-CN" altLang="zh-CN" sz="2800" dirty="0">
                <a:latin typeface="华文新魏" panose="02010800040101010101" pitchFamily="2" charset="-122"/>
                <a:ea typeface="华文新魏" panose="02010800040101010101" pitchFamily="2" charset="-122"/>
              </a:rPr>
              <a:t>由许多部件组成，其核心部分是</a:t>
            </a:r>
            <a:r>
              <a:rPr lang="en-US" altLang="zh-CN" sz="2800" dirty="0">
                <a:latin typeface="华文新魏" panose="02010800040101010101" pitchFamily="2" charset="-122"/>
                <a:ea typeface="华文新魏" panose="02010800040101010101" pitchFamily="2" charset="-122"/>
              </a:rPr>
              <a:t>______</a:t>
            </a:r>
            <a:r>
              <a:rPr lang="zh-CN" altLang="zh-CN" sz="2800" dirty="0" smtClean="0">
                <a:latin typeface="华文新魏" panose="02010800040101010101" pitchFamily="2" charset="-122"/>
                <a:ea typeface="华文新魏" panose="02010800040101010101" pitchFamily="2" charset="-122"/>
              </a:rPr>
              <a:t>。</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数据总线</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算术逻辑运算单元</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累加寄存器</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D. </a:t>
            </a:r>
            <a:r>
              <a:rPr lang="zh-CN" altLang="zh-CN" sz="2800" dirty="0">
                <a:latin typeface="华文新魏" panose="02010800040101010101" pitchFamily="2" charset="-122"/>
                <a:ea typeface="华文新魏" panose="02010800040101010101" pitchFamily="2" charset="-122"/>
              </a:rPr>
              <a:t>多路开关</a:t>
            </a:r>
          </a:p>
          <a:p>
            <a:pPr>
              <a:lnSpc>
                <a:spcPct val="150000"/>
              </a:lnSpc>
              <a:spcBef>
                <a:spcPts val="1200"/>
              </a:spcBef>
            </a:pPr>
            <a:r>
              <a:rPr lang="zh-CN" altLang="zh-CN" sz="2800" dirty="0" smtClean="0">
                <a:latin typeface="华文新魏" panose="02010800040101010101" pitchFamily="2" charset="-122"/>
                <a:ea typeface="华文新魏" panose="02010800040101010101" pitchFamily="2" charset="-122"/>
              </a:rPr>
              <a:t>计算机</a:t>
            </a:r>
            <a:r>
              <a:rPr lang="zh-CN" altLang="zh-CN" sz="2800" dirty="0">
                <a:latin typeface="华文新魏" panose="02010800040101010101" pitchFamily="2" charset="-122"/>
                <a:ea typeface="华文新魏" panose="02010800040101010101" pitchFamily="2" charset="-122"/>
              </a:rPr>
              <a:t>中有关</a:t>
            </a:r>
            <a:r>
              <a:rPr lang="en-US" altLang="zh-CN" sz="2800" dirty="0">
                <a:latin typeface="华文新魏" panose="02010800040101010101" pitchFamily="2" charset="-122"/>
                <a:ea typeface="华文新魏" panose="02010800040101010101" pitchFamily="2" charset="-122"/>
              </a:rPr>
              <a:t>ALU</a:t>
            </a:r>
            <a:r>
              <a:rPr lang="zh-CN" altLang="zh-CN" sz="2800" dirty="0">
                <a:latin typeface="华文新魏" panose="02010800040101010101" pitchFamily="2" charset="-122"/>
                <a:ea typeface="华文新魏" panose="02010800040101010101" pitchFamily="2" charset="-122"/>
              </a:rPr>
              <a:t>的描述，</a:t>
            </a:r>
            <a:r>
              <a:rPr lang="en-US" altLang="zh-CN" sz="2800" dirty="0">
                <a:latin typeface="华文新魏" panose="02010800040101010101" pitchFamily="2" charset="-122"/>
                <a:ea typeface="华文新魏" panose="02010800040101010101" pitchFamily="2" charset="-122"/>
              </a:rPr>
              <a:t>____</a:t>
            </a:r>
            <a:r>
              <a:rPr lang="zh-CN" altLang="zh-CN" sz="2800" dirty="0">
                <a:latin typeface="华文新魏" panose="02010800040101010101" pitchFamily="2" charset="-122"/>
                <a:ea typeface="华文新魏" panose="02010800040101010101" pitchFamily="2" charset="-122"/>
              </a:rPr>
              <a:t>是正确的。</a:t>
            </a:r>
          </a:p>
          <a:p>
            <a:pPr>
              <a:lnSpc>
                <a:spcPct val="150000"/>
              </a:lnSpc>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只做算术运算，不做逻辑运算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只做加法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能存放运算结果 </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以上答案都</a:t>
            </a:r>
            <a:r>
              <a:rPr lang="zh-CN" altLang="zh-CN" sz="2800" dirty="0" smtClean="0">
                <a:latin typeface="华文新魏" panose="02010800040101010101" pitchFamily="2" charset="-122"/>
                <a:ea typeface="华文新魏" panose="02010800040101010101" pitchFamily="2" charset="-122"/>
              </a:rPr>
              <a:t>不对</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3851920" y="191683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1047808" y="5898457"/>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540807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矩形 1"/>
          <p:cNvSpPr>
            <a:spLocks noChangeArrowheads="1"/>
          </p:cNvSpPr>
          <p:nvPr/>
        </p:nvSpPr>
        <p:spPr bwMode="auto">
          <a:xfrm>
            <a:off x="179388" y="44450"/>
            <a:ext cx="8713787" cy="683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800">
                <a:solidFill>
                  <a:srgbClr val="FF0000"/>
                </a:solidFill>
                <a:latin typeface="黑体" pitchFamily="2" charset="-122"/>
                <a:ea typeface="黑体" pitchFamily="2" charset="-122"/>
              </a:rPr>
              <a:t>2.6 </a:t>
            </a:r>
            <a:r>
              <a:rPr lang="zh-CN" altLang="en-US" sz="2800">
                <a:solidFill>
                  <a:srgbClr val="FF0000"/>
                </a:solidFill>
                <a:latin typeface="黑体" pitchFamily="2" charset="-122"/>
                <a:ea typeface="黑体" pitchFamily="2" charset="-122"/>
              </a:rPr>
              <a:t>浮点运算方法和浮点运算器</a:t>
            </a:r>
            <a:endParaRPr lang="en-US" altLang="zh-CN" sz="2800">
              <a:solidFill>
                <a:srgbClr val="FF0000"/>
              </a:solidFill>
              <a:latin typeface="黑体" pitchFamily="2" charset="-122"/>
              <a:ea typeface="黑体" pitchFamily="2" charset="-122"/>
            </a:endParaRPr>
          </a:p>
          <a:p>
            <a:pPr>
              <a:lnSpc>
                <a:spcPct val="150000"/>
              </a:lnSpc>
            </a:pPr>
            <a:r>
              <a:rPr lang="en-US" altLang="zh-CN" sz="2400">
                <a:latin typeface="黑体" pitchFamily="2" charset="-122"/>
                <a:ea typeface="黑体" pitchFamily="2" charset="-122"/>
              </a:rPr>
              <a:t>2.6.1 </a:t>
            </a:r>
            <a:r>
              <a:rPr lang="zh-CN" altLang="en-US" sz="2400">
                <a:latin typeface="黑体" pitchFamily="2" charset="-122"/>
                <a:ea typeface="黑体" pitchFamily="2" charset="-122"/>
              </a:rPr>
              <a:t>浮点加法、减法运算</a:t>
            </a:r>
            <a:r>
              <a:rPr lang="zh-CN" altLang="en-US" sz="2400" i="1">
                <a:latin typeface="黑体" pitchFamily="2" charset="-122"/>
                <a:ea typeface="黑体" pitchFamily="2" charset="-122"/>
              </a:rPr>
              <a:t> 　　　　　　</a:t>
            </a:r>
            <a:endParaRPr lang="zh-CN" altLang="en-US" sz="2400">
              <a:latin typeface="黑体" pitchFamily="2" charset="-122"/>
              <a:ea typeface="黑体" pitchFamily="2" charset="-122"/>
            </a:endParaRPr>
          </a:p>
          <a:p>
            <a:pPr>
              <a:lnSpc>
                <a:spcPct val="150000"/>
              </a:lnSpc>
            </a:pPr>
            <a:r>
              <a:rPr lang="zh-CN" altLang="en-US" sz="2400">
                <a:latin typeface="黑体" pitchFamily="2" charset="-122"/>
                <a:ea typeface="黑体" pitchFamily="2" charset="-122"/>
              </a:rPr>
              <a:t>　　设有两个浮点数</a:t>
            </a:r>
            <a:r>
              <a:rPr lang="zh-CN" altLang="en-US" sz="2400" i="1">
                <a:latin typeface="黑体" pitchFamily="2" charset="-122"/>
                <a:ea typeface="黑体" pitchFamily="2" charset="-122"/>
              </a:rPr>
              <a:t>ｘ</a:t>
            </a:r>
            <a:r>
              <a:rPr lang="zh-CN" altLang="en-US" sz="2400">
                <a:latin typeface="黑体" pitchFamily="2" charset="-122"/>
                <a:ea typeface="黑体" pitchFamily="2" charset="-122"/>
              </a:rPr>
              <a:t>和</a:t>
            </a:r>
            <a:r>
              <a:rPr lang="zh-CN" altLang="en-US" sz="2400" i="1">
                <a:latin typeface="黑体" pitchFamily="2" charset="-122"/>
                <a:ea typeface="黑体" pitchFamily="2" charset="-122"/>
              </a:rPr>
              <a:t>ｙ</a:t>
            </a:r>
            <a:r>
              <a:rPr lang="en-US" altLang="zh-CN" sz="2400">
                <a:latin typeface="黑体" pitchFamily="2" charset="-122"/>
                <a:ea typeface="黑体" pitchFamily="2" charset="-122"/>
              </a:rPr>
              <a:t>,</a:t>
            </a:r>
            <a:r>
              <a:rPr lang="zh-CN" altLang="en-US" sz="2400">
                <a:latin typeface="黑体" pitchFamily="2" charset="-122"/>
                <a:ea typeface="黑体" pitchFamily="2" charset="-122"/>
              </a:rPr>
              <a:t>它们分别为</a:t>
            </a:r>
          </a:p>
          <a:p>
            <a:pPr>
              <a:lnSpc>
                <a:spcPct val="150000"/>
              </a:lnSpc>
            </a:pPr>
            <a:r>
              <a:rPr lang="zh-CN" altLang="en-US" sz="2400" i="1">
                <a:latin typeface="黑体" pitchFamily="2" charset="-122"/>
                <a:ea typeface="黑体" pitchFamily="2" charset="-122"/>
              </a:rPr>
              <a:t>    ｘ</a:t>
            </a:r>
            <a:r>
              <a:rPr lang="zh-CN" altLang="en-US" sz="2400">
                <a:latin typeface="黑体" pitchFamily="2" charset="-122"/>
                <a:ea typeface="黑体" pitchFamily="2" charset="-122"/>
              </a:rPr>
              <a:t>＝</a:t>
            </a:r>
            <a:r>
              <a:rPr lang="en-US" altLang="zh-CN" sz="2400">
                <a:latin typeface="黑体" pitchFamily="2" charset="-122"/>
                <a:ea typeface="黑体" pitchFamily="2" charset="-122"/>
              </a:rPr>
              <a:t>2</a:t>
            </a:r>
            <a:r>
              <a:rPr lang="en-US" altLang="zh-CN" sz="2400" i="1" baseline="30000">
                <a:latin typeface="黑体" pitchFamily="2" charset="-122"/>
                <a:ea typeface="黑体" pitchFamily="2" charset="-122"/>
              </a:rPr>
              <a:t>E</a:t>
            </a:r>
            <a:r>
              <a:rPr lang="zh-CN" altLang="en-US" sz="2400" i="1" baseline="30000">
                <a:latin typeface="黑体" pitchFamily="2" charset="-122"/>
                <a:ea typeface="黑体" pitchFamily="2" charset="-122"/>
              </a:rPr>
              <a:t>ｘ</a:t>
            </a:r>
            <a:r>
              <a:rPr lang="en-US" altLang="zh-CN" sz="2400">
                <a:latin typeface="黑体" pitchFamily="2" charset="-122"/>
                <a:ea typeface="黑体" pitchFamily="2" charset="-122"/>
              </a:rPr>
              <a:t>·</a:t>
            </a:r>
            <a:r>
              <a:rPr lang="en-US" altLang="zh-CN" sz="2400" i="1">
                <a:latin typeface="黑体" pitchFamily="2" charset="-122"/>
                <a:ea typeface="黑体" pitchFamily="2" charset="-122"/>
              </a:rPr>
              <a:t>M</a:t>
            </a:r>
            <a:r>
              <a:rPr lang="zh-CN" altLang="en-US" sz="2400" i="1" baseline="-25000">
                <a:latin typeface="黑体" pitchFamily="2" charset="-122"/>
                <a:ea typeface="黑体" pitchFamily="2" charset="-122"/>
              </a:rPr>
              <a:t>ｘ</a:t>
            </a:r>
            <a:r>
              <a:rPr lang="zh-CN" altLang="en-US" sz="2400" i="1">
                <a:latin typeface="黑体" pitchFamily="2" charset="-122"/>
                <a:ea typeface="黑体" pitchFamily="2" charset="-122"/>
              </a:rPr>
              <a:t> 、ｙ</a:t>
            </a:r>
            <a:r>
              <a:rPr lang="zh-CN" altLang="en-US" sz="2400">
                <a:latin typeface="黑体" pitchFamily="2" charset="-122"/>
                <a:ea typeface="黑体" pitchFamily="2" charset="-122"/>
              </a:rPr>
              <a:t>＝</a:t>
            </a:r>
            <a:r>
              <a:rPr lang="en-US" altLang="zh-CN" sz="2400">
                <a:latin typeface="黑体" pitchFamily="2" charset="-122"/>
                <a:ea typeface="黑体" pitchFamily="2" charset="-122"/>
              </a:rPr>
              <a:t>2</a:t>
            </a:r>
            <a:r>
              <a:rPr lang="en-US" altLang="zh-CN" sz="2400" i="1" baseline="30000">
                <a:latin typeface="黑体" pitchFamily="2" charset="-122"/>
                <a:ea typeface="黑体" pitchFamily="2" charset="-122"/>
              </a:rPr>
              <a:t>E</a:t>
            </a:r>
            <a:r>
              <a:rPr lang="zh-CN" altLang="en-US" sz="2400" i="1" baseline="30000">
                <a:latin typeface="黑体" pitchFamily="2" charset="-122"/>
                <a:ea typeface="黑体" pitchFamily="2" charset="-122"/>
              </a:rPr>
              <a:t>ｙ</a:t>
            </a:r>
            <a:r>
              <a:rPr lang="en-US" altLang="zh-CN" sz="2400">
                <a:latin typeface="黑体" pitchFamily="2" charset="-122"/>
                <a:ea typeface="黑体" pitchFamily="2" charset="-122"/>
              </a:rPr>
              <a:t>·</a:t>
            </a:r>
            <a:r>
              <a:rPr lang="en-US" altLang="zh-CN" sz="2400" i="1">
                <a:latin typeface="黑体" pitchFamily="2" charset="-122"/>
                <a:ea typeface="黑体" pitchFamily="2" charset="-122"/>
              </a:rPr>
              <a:t>M</a:t>
            </a:r>
            <a:r>
              <a:rPr lang="zh-CN" altLang="en-US" sz="2400" i="1" baseline="-25000">
                <a:latin typeface="黑体" pitchFamily="2" charset="-122"/>
                <a:ea typeface="黑体" pitchFamily="2" charset="-122"/>
              </a:rPr>
              <a:t>ｙ</a:t>
            </a:r>
            <a:endParaRPr lang="zh-CN" altLang="en-US" sz="2400">
              <a:latin typeface="黑体" pitchFamily="2" charset="-122"/>
              <a:ea typeface="黑体" pitchFamily="2" charset="-122"/>
            </a:endParaRPr>
          </a:p>
          <a:p>
            <a:pPr>
              <a:lnSpc>
                <a:spcPct val="150000"/>
              </a:lnSpc>
            </a:pPr>
            <a:r>
              <a:rPr lang="en-US" altLang="zh-CN" sz="2400" i="1">
                <a:latin typeface="黑体" pitchFamily="2" charset="-122"/>
                <a:ea typeface="黑体" pitchFamily="2" charset="-122"/>
              </a:rPr>
              <a:t>  E</a:t>
            </a:r>
            <a:r>
              <a:rPr lang="zh-CN" altLang="en-US" sz="2400" i="1">
                <a:latin typeface="黑体" pitchFamily="2" charset="-122"/>
                <a:ea typeface="黑体" pitchFamily="2" charset="-122"/>
              </a:rPr>
              <a:t>ｘ</a:t>
            </a:r>
            <a:r>
              <a:rPr lang="zh-CN" altLang="en-US" sz="2400">
                <a:latin typeface="黑体" pitchFamily="2" charset="-122"/>
                <a:ea typeface="黑体" pitchFamily="2" charset="-122"/>
              </a:rPr>
              <a:t>和</a:t>
            </a:r>
            <a:r>
              <a:rPr lang="en-US" altLang="zh-CN" sz="2400" i="1">
                <a:latin typeface="黑体" pitchFamily="2" charset="-122"/>
                <a:ea typeface="黑体" pitchFamily="2" charset="-122"/>
              </a:rPr>
              <a:t>E</a:t>
            </a:r>
            <a:r>
              <a:rPr lang="zh-CN" altLang="en-US" sz="2400" i="1">
                <a:latin typeface="黑体" pitchFamily="2" charset="-122"/>
                <a:ea typeface="黑体" pitchFamily="2" charset="-122"/>
              </a:rPr>
              <a:t>ｙ</a:t>
            </a:r>
            <a:r>
              <a:rPr lang="zh-CN" altLang="en-US" sz="2400">
                <a:latin typeface="黑体" pitchFamily="2" charset="-122"/>
                <a:ea typeface="黑体" pitchFamily="2" charset="-122"/>
              </a:rPr>
              <a:t>分别为数</a:t>
            </a:r>
            <a:r>
              <a:rPr lang="zh-CN" altLang="en-US" sz="2400" i="1">
                <a:latin typeface="黑体" pitchFamily="2" charset="-122"/>
                <a:ea typeface="黑体" pitchFamily="2" charset="-122"/>
              </a:rPr>
              <a:t>ｘ</a:t>
            </a:r>
            <a:r>
              <a:rPr lang="zh-CN" altLang="en-US" sz="2400">
                <a:latin typeface="黑体" pitchFamily="2" charset="-122"/>
                <a:ea typeface="黑体" pitchFamily="2" charset="-122"/>
              </a:rPr>
              <a:t>和</a:t>
            </a:r>
            <a:r>
              <a:rPr lang="zh-CN" altLang="en-US" sz="2400" i="1">
                <a:latin typeface="黑体" pitchFamily="2" charset="-122"/>
                <a:ea typeface="黑体" pitchFamily="2" charset="-122"/>
              </a:rPr>
              <a:t>ｙ</a:t>
            </a:r>
            <a:r>
              <a:rPr lang="zh-CN" altLang="en-US" sz="2400">
                <a:latin typeface="黑体" pitchFamily="2" charset="-122"/>
                <a:ea typeface="黑体" pitchFamily="2" charset="-122"/>
              </a:rPr>
              <a:t>的阶码</a:t>
            </a:r>
            <a:r>
              <a:rPr lang="en-US" altLang="zh-CN" sz="2400">
                <a:latin typeface="黑体" pitchFamily="2" charset="-122"/>
                <a:ea typeface="黑体" pitchFamily="2" charset="-122"/>
              </a:rPr>
              <a:t>,</a:t>
            </a:r>
            <a:r>
              <a:rPr lang="en-US" altLang="zh-CN" sz="2400" i="1">
                <a:latin typeface="黑体" pitchFamily="2" charset="-122"/>
                <a:ea typeface="黑体" pitchFamily="2" charset="-122"/>
              </a:rPr>
              <a:t>M</a:t>
            </a:r>
            <a:r>
              <a:rPr lang="zh-CN" altLang="en-US" sz="2400" i="1">
                <a:latin typeface="黑体" pitchFamily="2" charset="-122"/>
                <a:ea typeface="黑体" pitchFamily="2" charset="-122"/>
              </a:rPr>
              <a:t>ｘ</a:t>
            </a:r>
            <a:r>
              <a:rPr lang="zh-CN" altLang="en-US" sz="2400">
                <a:latin typeface="黑体" pitchFamily="2" charset="-122"/>
                <a:ea typeface="黑体" pitchFamily="2" charset="-122"/>
              </a:rPr>
              <a:t>和</a:t>
            </a:r>
            <a:r>
              <a:rPr lang="en-US" altLang="zh-CN" sz="2400" i="1">
                <a:latin typeface="黑体" pitchFamily="2" charset="-122"/>
                <a:ea typeface="黑体" pitchFamily="2" charset="-122"/>
              </a:rPr>
              <a:t>M</a:t>
            </a:r>
            <a:r>
              <a:rPr lang="zh-CN" altLang="en-US" sz="2400" i="1">
                <a:latin typeface="黑体" pitchFamily="2" charset="-122"/>
                <a:ea typeface="黑体" pitchFamily="2" charset="-122"/>
              </a:rPr>
              <a:t>ｙ</a:t>
            </a:r>
            <a:r>
              <a:rPr lang="zh-CN" altLang="en-US" sz="2400">
                <a:latin typeface="黑体" pitchFamily="2" charset="-122"/>
                <a:ea typeface="黑体" pitchFamily="2" charset="-122"/>
              </a:rPr>
              <a:t>为数</a:t>
            </a:r>
            <a:r>
              <a:rPr lang="zh-CN" altLang="en-US" sz="2400" i="1">
                <a:latin typeface="黑体" pitchFamily="2" charset="-122"/>
                <a:ea typeface="黑体" pitchFamily="2" charset="-122"/>
              </a:rPr>
              <a:t>ｘ</a:t>
            </a:r>
            <a:r>
              <a:rPr lang="zh-CN" altLang="en-US" sz="2400">
                <a:latin typeface="黑体" pitchFamily="2" charset="-122"/>
                <a:ea typeface="黑体" pitchFamily="2" charset="-122"/>
              </a:rPr>
              <a:t>和</a:t>
            </a:r>
            <a:r>
              <a:rPr lang="zh-CN" altLang="en-US" sz="2400" i="1">
                <a:latin typeface="黑体" pitchFamily="2" charset="-122"/>
                <a:ea typeface="黑体" pitchFamily="2" charset="-122"/>
              </a:rPr>
              <a:t>ｙ</a:t>
            </a:r>
            <a:r>
              <a:rPr lang="zh-CN" altLang="en-US" sz="2400">
                <a:latin typeface="黑体" pitchFamily="2" charset="-122"/>
                <a:ea typeface="黑体" pitchFamily="2" charset="-122"/>
              </a:rPr>
              <a:t>的尾数。</a:t>
            </a:r>
          </a:p>
          <a:p>
            <a:pPr>
              <a:lnSpc>
                <a:spcPct val="150000"/>
              </a:lnSpc>
            </a:pPr>
            <a:r>
              <a:rPr lang="zh-CN" altLang="en-US" sz="2400">
                <a:latin typeface="黑体" pitchFamily="2" charset="-122"/>
                <a:ea typeface="黑体" pitchFamily="2" charset="-122"/>
              </a:rPr>
              <a:t>　　两浮点数进行加法和减法的运算规则是</a:t>
            </a:r>
          </a:p>
          <a:p>
            <a:pPr>
              <a:lnSpc>
                <a:spcPct val="150000"/>
              </a:lnSpc>
            </a:pPr>
            <a:r>
              <a:rPr lang="zh-CN" altLang="en-US" sz="2400">
                <a:latin typeface="黑体" pitchFamily="2" charset="-122"/>
                <a:ea typeface="黑体" pitchFamily="2" charset="-122"/>
              </a:rPr>
              <a:t>　　</a:t>
            </a:r>
            <a:r>
              <a:rPr lang="en-US" altLang="zh-CN" sz="2400" i="1">
                <a:latin typeface="黑体" pitchFamily="2" charset="-122"/>
                <a:ea typeface="黑体" pitchFamily="2" charset="-122"/>
              </a:rPr>
              <a:t>z </a:t>
            </a:r>
            <a:r>
              <a:rPr lang="en-US" altLang="zh-CN" sz="2400">
                <a:latin typeface="黑体" pitchFamily="2" charset="-122"/>
                <a:ea typeface="黑体" pitchFamily="2" charset="-122"/>
              </a:rPr>
              <a:t>=</a:t>
            </a:r>
            <a:r>
              <a:rPr lang="zh-CN" altLang="en-US" sz="2400" i="1">
                <a:latin typeface="黑体" pitchFamily="2" charset="-122"/>
                <a:ea typeface="黑体" pitchFamily="2" charset="-122"/>
              </a:rPr>
              <a:t>ｘ</a:t>
            </a:r>
            <a:r>
              <a:rPr lang="en-US" altLang="zh-CN" sz="2400">
                <a:latin typeface="黑体" pitchFamily="2" charset="-122"/>
                <a:ea typeface="黑体" pitchFamily="2" charset="-122"/>
              </a:rPr>
              <a:t>±</a:t>
            </a:r>
            <a:r>
              <a:rPr lang="zh-CN" altLang="en-US" sz="2400" i="1">
                <a:latin typeface="黑体" pitchFamily="2" charset="-122"/>
                <a:ea typeface="黑体" pitchFamily="2" charset="-122"/>
              </a:rPr>
              <a:t>ｙ</a:t>
            </a:r>
            <a:r>
              <a:rPr lang="zh-CN" altLang="en-US" sz="2400">
                <a:latin typeface="黑体" pitchFamily="2" charset="-122"/>
                <a:ea typeface="黑体" pitchFamily="2" charset="-122"/>
              </a:rPr>
              <a:t>＝</a:t>
            </a:r>
            <a:r>
              <a:rPr lang="en-US" altLang="zh-CN" sz="2400">
                <a:latin typeface="黑体" pitchFamily="2" charset="-122"/>
                <a:ea typeface="黑体" pitchFamily="2" charset="-122"/>
              </a:rPr>
              <a:t>(</a:t>
            </a:r>
            <a:r>
              <a:rPr lang="en-US" altLang="zh-CN" sz="2400" i="1">
                <a:latin typeface="黑体" pitchFamily="2" charset="-122"/>
                <a:ea typeface="黑体" pitchFamily="2" charset="-122"/>
              </a:rPr>
              <a:t>M</a:t>
            </a:r>
            <a:r>
              <a:rPr lang="zh-CN" altLang="en-US" sz="2400" i="1" baseline="-25000">
                <a:latin typeface="黑体" pitchFamily="2" charset="-122"/>
                <a:ea typeface="黑体" pitchFamily="2" charset="-122"/>
              </a:rPr>
              <a:t>ｘ</a:t>
            </a:r>
            <a:r>
              <a:rPr lang="en-US" altLang="zh-CN" sz="2400">
                <a:latin typeface="黑体" pitchFamily="2" charset="-122"/>
                <a:ea typeface="黑体" pitchFamily="2" charset="-122"/>
              </a:rPr>
              <a:t>2</a:t>
            </a:r>
            <a:r>
              <a:rPr lang="en-US" altLang="zh-CN" sz="2400" i="1" baseline="30000">
                <a:latin typeface="黑体" pitchFamily="2" charset="-122"/>
                <a:ea typeface="黑体" pitchFamily="2" charset="-122"/>
              </a:rPr>
              <a:t>E</a:t>
            </a:r>
            <a:r>
              <a:rPr lang="zh-CN" altLang="en-US" sz="2400" i="1" baseline="30000">
                <a:latin typeface="黑体" pitchFamily="2" charset="-122"/>
                <a:ea typeface="黑体" pitchFamily="2" charset="-122"/>
              </a:rPr>
              <a:t>ｘ</a:t>
            </a:r>
            <a:r>
              <a:rPr lang="zh-CN" altLang="en-US" sz="2400" baseline="30000">
                <a:latin typeface="黑体" pitchFamily="2" charset="-122"/>
                <a:ea typeface="黑体" pitchFamily="2" charset="-122"/>
              </a:rPr>
              <a:t>－</a:t>
            </a:r>
            <a:r>
              <a:rPr lang="en-US" altLang="zh-CN" sz="2400" i="1" baseline="30000">
                <a:latin typeface="黑体" pitchFamily="2" charset="-122"/>
                <a:ea typeface="黑体" pitchFamily="2" charset="-122"/>
              </a:rPr>
              <a:t>E</a:t>
            </a:r>
            <a:r>
              <a:rPr lang="zh-CN" altLang="en-US" sz="2400" i="1" baseline="30000">
                <a:latin typeface="黑体" pitchFamily="2" charset="-122"/>
                <a:ea typeface="黑体" pitchFamily="2" charset="-122"/>
              </a:rPr>
              <a:t>ｙ</a:t>
            </a:r>
            <a:r>
              <a:rPr lang="en-US" altLang="zh-CN" sz="2400">
                <a:latin typeface="黑体" pitchFamily="2" charset="-122"/>
                <a:ea typeface="黑体" pitchFamily="2" charset="-122"/>
              </a:rPr>
              <a:t>±</a:t>
            </a:r>
            <a:r>
              <a:rPr lang="en-US" altLang="zh-CN" sz="2400" i="1">
                <a:latin typeface="黑体" pitchFamily="2" charset="-122"/>
                <a:ea typeface="黑体" pitchFamily="2" charset="-122"/>
              </a:rPr>
              <a:t>M</a:t>
            </a:r>
            <a:r>
              <a:rPr lang="zh-CN" altLang="en-US" sz="2400" i="1" baseline="-25000">
                <a:latin typeface="黑体" pitchFamily="2" charset="-122"/>
                <a:ea typeface="黑体" pitchFamily="2" charset="-122"/>
              </a:rPr>
              <a:t>ｙ</a:t>
            </a:r>
            <a:r>
              <a:rPr lang="en-US" altLang="zh-CN" sz="2400">
                <a:latin typeface="黑体" pitchFamily="2" charset="-122"/>
                <a:ea typeface="黑体" pitchFamily="2" charset="-122"/>
              </a:rPr>
              <a:t>)2</a:t>
            </a:r>
            <a:r>
              <a:rPr lang="en-US" altLang="zh-CN" sz="2400" i="1" baseline="30000">
                <a:latin typeface="黑体" pitchFamily="2" charset="-122"/>
                <a:ea typeface="黑体" pitchFamily="2" charset="-122"/>
              </a:rPr>
              <a:t>E</a:t>
            </a:r>
            <a:r>
              <a:rPr lang="zh-CN" altLang="en-US" sz="2400" i="1" baseline="30000">
                <a:latin typeface="黑体" pitchFamily="2" charset="-122"/>
                <a:ea typeface="黑体" pitchFamily="2" charset="-122"/>
              </a:rPr>
              <a:t>ｙ</a:t>
            </a:r>
            <a:r>
              <a:rPr lang="zh-CN" altLang="en-US" sz="2400">
                <a:latin typeface="黑体" pitchFamily="2" charset="-122"/>
                <a:ea typeface="黑体" pitchFamily="2" charset="-122"/>
              </a:rPr>
              <a:t>，</a:t>
            </a:r>
            <a:r>
              <a:rPr lang="en-US" altLang="zh-CN" sz="2400" i="1">
                <a:latin typeface="黑体" pitchFamily="2" charset="-122"/>
                <a:ea typeface="黑体" pitchFamily="2" charset="-122"/>
              </a:rPr>
              <a:t>E</a:t>
            </a:r>
            <a:r>
              <a:rPr lang="zh-CN" altLang="en-US" sz="2400" i="1" baseline="-25000">
                <a:latin typeface="黑体" pitchFamily="2" charset="-122"/>
                <a:ea typeface="黑体" pitchFamily="2" charset="-122"/>
              </a:rPr>
              <a:t>ｘ</a:t>
            </a:r>
            <a:r>
              <a:rPr lang="en-US" altLang="zh-CN" sz="2400">
                <a:latin typeface="黑体" pitchFamily="2" charset="-122"/>
                <a:ea typeface="黑体" pitchFamily="2" charset="-122"/>
              </a:rPr>
              <a:t>&lt;</a:t>
            </a:r>
            <a:r>
              <a:rPr lang="zh-CN" altLang="en-US" sz="2400">
                <a:latin typeface="黑体" pitchFamily="2" charset="-122"/>
                <a:ea typeface="黑体" pitchFamily="2" charset="-122"/>
              </a:rPr>
              <a:t>＝</a:t>
            </a:r>
            <a:r>
              <a:rPr lang="en-US" altLang="zh-CN" sz="2400" i="1">
                <a:latin typeface="黑体" pitchFamily="2" charset="-122"/>
                <a:ea typeface="黑体" pitchFamily="2" charset="-122"/>
              </a:rPr>
              <a:t>E</a:t>
            </a:r>
            <a:r>
              <a:rPr lang="zh-CN" altLang="en-US" sz="2400" i="1" baseline="-25000">
                <a:latin typeface="黑体" pitchFamily="2" charset="-122"/>
                <a:ea typeface="黑体" pitchFamily="2" charset="-122"/>
              </a:rPr>
              <a:t>ｙ</a:t>
            </a:r>
            <a:r>
              <a:rPr lang="zh-CN" altLang="en-US" sz="2400">
                <a:latin typeface="黑体" pitchFamily="2" charset="-122"/>
                <a:ea typeface="黑体" pitchFamily="2" charset="-122"/>
              </a:rPr>
              <a:t>　　</a:t>
            </a:r>
          </a:p>
          <a:p>
            <a:pPr>
              <a:lnSpc>
                <a:spcPct val="150000"/>
              </a:lnSpc>
            </a:pPr>
            <a:r>
              <a:rPr lang="zh-CN" altLang="en-US" sz="2400">
                <a:latin typeface="黑体" pitchFamily="2" charset="-122"/>
                <a:ea typeface="黑体" pitchFamily="2" charset="-122"/>
              </a:rPr>
              <a:t>　　完成浮点加减运算的操作过程大体分为四步：</a:t>
            </a:r>
          </a:p>
          <a:p>
            <a:pPr>
              <a:lnSpc>
                <a:spcPct val="150000"/>
              </a:lnSpc>
            </a:pPr>
            <a:r>
              <a:rPr lang="zh-CN" altLang="en-US" sz="2400">
                <a:latin typeface="黑体" pitchFamily="2" charset="-122"/>
                <a:ea typeface="黑体" pitchFamily="2" charset="-122"/>
              </a:rPr>
              <a:t>　　</a:t>
            </a:r>
            <a:r>
              <a:rPr lang="en-US" altLang="zh-CN" sz="2400">
                <a:latin typeface="黑体" pitchFamily="2" charset="-122"/>
                <a:ea typeface="黑体" pitchFamily="2" charset="-122"/>
              </a:rPr>
              <a:t>1. 0 </a:t>
            </a:r>
            <a:r>
              <a:rPr lang="zh-CN" altLang="en-US" sz="2400">
                <a:latin typeface="黑体" pitchFamily="2" charset="-122"/>
                <a:ea typeface="黑体" pitchFamily="2" charset="-122"/>
              </a:rPr>
              <a:t>操作数的检查；</a:t>
            </a:r>
          </a:p>
          <a:p>
            <a:pPr>
              <a:lnSpc>
                <a:spcPct val="150000"/>
              </a:lnSpc>
            </a:pPr>
            <a:r>
              <a:rPr lang="zh-CN" altLang="en-US" sz="2400">
                <a:latin typeface="黑体" pitchFamily="2" charset="-122"/>
                <a:ea typeface="黑体" pitchFamily="2" charset="-122"/>
              </a:rPr>
              <a:t>　　</a:t>
            </a:r>
            <a:r>
              <a:rPr lang="en-US" altLang="zh-CN" sz="2400">
                <a:latin typeface="黑体" pitchFamily="2" charset="-122"/>
                <a:ea typeface="黑体" pitchFamily="2" charset="-122"/>
              </a:rPr>
              <a:t>2. </a:t>
            </a:r>
            <a:r>
              <a:rPr lang="zh-CN" altLang="en-US" sz="2400">
                <a:latin typeface="黑体" pitchFamily="2" charset="-122"/>
                <a:ea typeface="黑体" pitchFamily="2" charset="-122"/>
              </a:rPr>
              <a:t>比较阶码大小并完成对阶；</a:t>
            </a:r>
          </a:p>
          <a:p>
            <a:pPr>
              <a:lnSpc>
                <a:spcPct val="150000"/>
              </a:lnSpc>
            </a:pPr>
            <a:r>
              <a:rPr lang="zh-CN" altLang="en-US" sz="2400">
                <a:latin typeface="黑体" pitchFamily="2" charset="-122"/>
                <a:ea typeface="黑体" pitchFamily="2" charset="-122"/>
              </a:rPr>
              <a:t>　　</a:t>
            </a:r>
            <a:r>
              <a:rPr lang="en-US" altLang="zh-CN" sz="2400">
                <a:latin typeface="黑体" pitchFamily="2" charset="-122"/>
                <a:ea typeface="黑体" pitchFamily="2" charset="-122"/>
              </a:rPr>
              <a:t>3. </a:t>
            </a:r>
            <a:r>
              <a:rPr lang="zh-CN" altLang="en-US" sz="2400">
                <a:latin typeface="黑体" pitchFamily="2" charset="-122"/>
                <a:ea typeface="黑体" pitchFamily="2" charset="-122"/>
              </a:rPr>
              <a:t>尾数进行加或减运算；</a:t>
            </a:r>
          </a:p>
          <a:p>
            <a:pPr>
              <a:lnSpc>
                <a:spcPct val="150000"/>
              </a:lnSpc>
            </a:pPr>
            <a:r>
              <a:rPr lang="zh-CN" altLang="en-US" sz="2400">
                <a:latin typeface="黑体" pitchFamily="2" charset="-122"/>
                <a:ea typeface="黑体" pitchFamily="2" charset="-122"/>
              </a:rPr>
              <a:t>　　</a:t>
            </a:r>
            <a:r>
              <a:rPr lang="en-US" altLang="zh-CN" sz="2400">
                <a:latin typeface="黑体" pitchFamily="2" charset="-122"/>
                <a:ea typeface="黑体" pitchFamily="2" charset="-122"/>
              </a:rPr>
              <a:t>4. </a:t>
            </a:r>
            <a:r>
              <a:rPr lang="zh-CN" altLang="en-US" sz="2400">
                <a:latin typeface="黑体" pitchFamily="2" charset="-122"/>
                <a:ea typeface="黑体" pitchFamily="2" charset="-122"/>
              </a:rPr>
              <a:t>结果规格化并进行舍入处理。</a:t>
            </a:r>
            <a:endParaRPr lang="zh-CN" alt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4" descr="2a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260350"/>
            <a:ext cx="7356475"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3" name="Rectangle 1"/>
          <p:cNvSpPr>
            <a:spLocks noChangeArrowheads="1"/>
          </p:cNvSpPr>
          <p:nvPr/>
        </p:nvSpPr>
        <p:spPr bwMode="auto">
          <a:xfrm>
            <a:off x="384175" y="3789363"/>
            <a:ext cx="836453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solidFill>
                  <a:srgbClr val="FF0000"/>
                </a:solidFill>
                <a:latin typeface="黑体" pitchFamily="2" charset="-122"/>
                <a:ea typeface="黑体" pitchFamily="2" charset="-122"/>
              </a:rPr>
              <a:t>    </a:t>
            </a:r>
            <a:r>
              <a:rPr lang="zh-CN" altLang="zh-CN" sz="2400">
                <a:solidFill>
                  <a:srgbClr val="FF0000"/>
                </a:solidFill>
                <a:latin typeface="黑体" pitchFamily="2" charset="-122"/>
                <a:ea typeface="黑体" pitchFamily="2" charset="-122"/>
              </a:rPr>
              <a:t>(1) 0 操作数检查</a:t>
            </a:r>
            <a:endParaRPr lang="zh-CN" altLang="zh-CN" sz="2400">
              <a:latin typeface="黑体" pitchFamily="2" charset="-122"/>
              <a:ea typeface="黑体" pitchFamily="2" charset="-122"/>
            </a:endParaRPr>
          </a:p>
          <a:p>
            <a:pPr eaLnBrk="0" hangingPunct="0">
              <a:lnSpc>
                <a:spcPct val="150000"/>
              </a:lnSpc>
            </a:pPr>
            <a:r>
              <a:rPr lang="zh-CN" altLang="zh-CN" sz="2400">
                <a:solidFill>
                  <a:srgbClr val="000000"/>
                </a:solidFill>
                <a:latin typeface="黑体" pitchFamily="2" charset="-122"/>
                <a:ea typeface="黑体" pitchFamily="2" charset="-122"/>
              </a:rPr>
              <a:t>　　浮点加减运算过程比定点运算过程复杂。如果判知两个操作数</a:t>
            </a:r>
            <a:r>
              <a:rPr lang="zh-CN" altLang="zh-CN" sz="2400" i="1">
                <a:solidFill>
                  <a:srgbClr val="000000"/>
                </a:solidFill>
                <a:latin typeface="黑体" pitchFamily="2" charset="-122"/>
                <a:ea typeface="黑体" pitchFamily="2" charset="-122"/>
              </a:rPr>
              <a:t>ｘ</a:t>
            </a:r>
            <a:r>
              <a:rPr lang="zh-CN" altLang="zh-CN" sz="2400">
                <a:solidFill>
                  <a:srgbClr val="000000"/>
                </a:solidFill>
                <a:latin typeface="黑体" pitchFamily="2" charset="-122"/>
                <a:ea typeface="黑体" pitchFamily="2" charset="-122"/>
              </a:rPr>
              <a:t>或</a:t>
            </a:r>
            <a:r>
              <a:rPr lang="zh-CN" altLang="zh-CN" sz="2400" i="1">
                <a:solidFill>
                  <a:srgbClr val="000000"/>
                </a:solidFill>
                <a:latin typeface="黑体" pitchFamily="2" charset="-122"/>
                <a:ea typeface="黑体" pitchFamily="2" charset="-122"/>
              </a:rPr>
              <a:t>ｙ</a:t>
            </a:r>
            <a:r>
              <a:rPr lang="zh-CN" altLang="zh-CN" sz="2400">
                <a:solidFill>
                  <a:srgbClr val="000000"/>
                </a:solidFill>
                <a:latin typeface="黑体" pitchFamily="2" charset="-122"/>
                <a:ea typeface="黑体" pitchFamily="2" charset="-122"/>
              </a:rPr>
              <a:t>中有一个数为0,即可得知运算结果而没有必要再进行后续的一系列操作以节省运算时间。0操作数检查步骤则用来完成这一功能。</a:t>
            </a:r>
            <a:endParaRPr lang="zh-CN" altLang="zh-CN" sz="240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4" descr="2a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188913"/>
            <a:ext cx="7356475"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7" name="Rectangle 1"/>
          <p:cNvSpPr>
            <a:spLocks noChangeArrowheads="1"/>
          </p:cNvSpPr>
          <p:nvPr/>
        </p:nvSpPr>
        <p:spPr bwMode="auto">
          <a:xfrm>
            <a:off x="384175" y="3560763"/>
            <a:ext cx="8291513"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dirty="0">
                <a:solidFill>
                  <a:srgbClr val="FF0000"/>
                </a:solidFill>
                <a:latin typeface="黑体" pitchFamily="2" charset="-122"/>
                <a:ea typeface="黑体" pitchFamily="2" charset="-122"/>
              </a:rPr>
              <a:t>     </a:t>
            </a:r>
            <a:r>
              <a:rPr lang="zh-CN" altLang="zh-CN" dirty="0">
                <a:solidFill>
                  <a:srgbClr val="FF0000"/>
                </a:solidFill>
                <a:latin typeface="黑体" pitchFamily="2" charset="-122"/>
                <a:ea typeface="黑体" pitchFamily="2" charset="-122"/>
              </a:rPr>
              <a:t>(2) 比较阶码大小并完成对阶</a:t>
            </a:r>
            <a:endParaRPr lang="zh-CN" altLang="zh-CN" dirty="0">
              <a:latin typeface="黑体" pitchFamily="2" charset="-122"/>
              <a:ea typeface="黑体" pitchFamily="2" charset="-122"/>
            </a:endParaRPr>
          </a:p>
          <a:p>
            <a:pPr eaLnBrk="0" hangingPunct="0"/>
            <a:r>
              <a:rPr lang="zh-CN" altLang="zh-CN" dirty="0">
                <a:solidFill>
                  <a:srgbClr val="000000"/>
                </a:solidFill>
                <a:latin typeface="黑体" pitchFamily="2" charset="-122"/>
                <a:ea typeface="黑体" pitchFamily="2" charset="-122"/>
              </a:rPr>
              <a:t>　　</a:t>
            </a:r>
            <a:r>
              <a:rPr lang="zh-CN" altLang="en-US" i="1" dirty="0">
                <a:latin typeface="黑体" pitchFamily="2" charset="-122"/>
                <a:ea typeface="黑体" pitchFamily="2" charset="-122"/>
              </a:rPr>
              <a:t>ｘ</a:t>
            </a:r>
            <a:r>
              <a:rPr lang="zh-CN" altLang="en-US" dirty="0">
                <a:latin typeface="黑体" pitchFamily="2" charset="-122"/>
                <a:ea typeface="黑体" pitchFamily="2" charset="-122"/>
              </a:rPr>
              <a:t>＝</a:t>
            </a:r>
            <a:r>
              <a:rPr lang="en-US" altLang="zh-CN" dirty="0">
                <a:latin typeface="黑体" pitchFamily="2" charset="-122"/>
                <a:ea typeface="黑体" pitchFamily="2" charset="-122"/>
              </a:rPr>
              <a:t>2</a:t>
            </a:r>
            <a:r>
              <a:rPr lang="en-US" altLang="zh-CN" i="1" baseline="30000" dirty="0">
                <a:latin typeface="黑体" pitchFamily="2" charset="-122"/>
                <a:ea typeface="黑体" pitchFamily="2" charset="-122"/>
              </a:rPr>
              <a:t>E</a:t>
            </a:r>
            <a:r>
              <a:rPr lang="zh-CN" altLang="en-US" i="1" baseline="30000" dirty="0">
                <a:latin typeface="黑体" pitchFamily="2" charset="-122"/>
                <a:ea typeface="黑体" pitchFamily="2" charset="-122"/>
              </a:rPr>
              <a:t>ｘ</a:t>
            </a:r>
            <a:r>
              <a:rPr lang="en-US" altLang="zh-CN" dirty="0">
                <a:latin typeface="黑体" pitchFamily="2" charset="-122"/>
                <a:ea typeface="黑体" pitchFamily="2" charset="-122"/>
              </a:rPr>
              <a:t>·</a:t>
            </a:r>
            <a:r>
              <a:rPr lang="en-US" altLang="zh-CN" i="1" dirty="0">
                <a:latin typeface="黑体" pitchFamily="2" charset="-122"/>
                <a:ea typeface="黑体" pitchFamily="2" charset="-122"/>
              </a:rPr>
              <a:t>M</a:t>
            </a:r>
            <a:r>
              <a:rPr lang="zh-CN" altLang="en-US" i="1" baseline="-25000" dirty="0">
                <a:latin typeface="黑体" pitchFamily="2" charset="-122"/>
                <a:ea typeface="黑体" pitchFamily="2" charset="-122"/>
              </a:rPr>
              <a:t>ｘ</a:t>
            </a:r>
            <a:r>
              <a:rPr lang="zh-CN" altLang="en-US" i="1" dirty="0">
                <a:latin typeface="黑体" pitchFamily="2" charset="-122"/>
                <a:ea typeface="黑体" pitchFamily="2" charset="-122"/>
              </a:rPr>
              <a:t> 、ｙ</a:t>
            </a:r>
            <a:r>
              <a:rPr lang="zh-CN" altLang="en-US" dirty="0">
                <a:latin typeface="黑体" pitchFamily="2" charset="-122"/>
                <a:ea typeface="黑体" pitchFamily="2" charset="-122"/>
              </a:rPr>
              <a:t>＝</a:t>
            </a:r>
            <a:r>
              <a:rPr lang="en-US" altLang="zh-CN" dirty="0">
                <a:latin typeface="黑体" pitchFamily="2" charset="-122"/>
                <a:ea typeface="黑体" pitchFamily="2" charset="-122"/>
              </a:rPr>
              <a:t>2</a:t>
            </a:r>
            <a:r>
              <a:rPr lang="en-US" altLang="zh-CN" i="1" baseline="30000" dirty="0">
                <a:latin typeface="黑体" pitchFamily="2" charset="-122"/>
                <a:ea typeface="黑体" pitchFamily="2" charset="-122"/>
              </a:rPr>
              <a:t>E</a:t>
            </a:r>
            <a:r>
              <a:rPr lang="zh-CN" altLang="en-US" i="1" baseline="30000" dirty="0">
                <a:latin typeface="黑体" pitchFamily="2" charset="-122"/>
                <a:ea typeface="黑体" pitchFamily="2" charset="-122"/>
              </a:rPr>
              <a:t>ｙ</a:t>
            </a:r>
            <a:r>
              <a:rPr lang="en-US" altLang="zh-CN" dirty="0">
                <a:latin typeface="黑体" pitchFamily="2" charset="-122"/>
                <a:ea typeface="黑体" pitchFamily="2" charset="-122"/>
              </a:rPr>
              <a:t>·</a:t>
            </a:r>
            <a:r>
              <a:rPr lang="en-US" altLang="zh-CN" i="1" dirty="0">
                <a:latin typeface="黑体" pitchFamily="2" charset="-122"/>
                <a:ea typeface="黑体" pitchFamily="2" charset="-122"/>
              </a:rPr>
              <a:t>M</a:t>
            </a:r>
            <a:r>
              <a:rPr lang="zh-CN" altLang="en-US" i="1" baseline="-25000" dirty="0">
                <a:latin typeface="黑体" pitchFamily="2" charset="-122"/>
                <a:ea typeface="黑体" pitchFamily="2" charset="-122"/>
              </a:rPr>
              <a:t>ｙ，</a:t>
            </a:r>
            <a:r>
              <a:rPr lang="zh-CN" altLang="zh-CN" dirty="0">
                <a:solidFill>
                  <a:srgbClr val="000000"/>
                </a:solidFill>
                <a:latin typeface="黑体" pitchFamily="2" charset="-122"/>
                <a:ea typeface="黑体" pitchFamily="2" charset="-122"/>
              </a:rPr>
              <a:t>两浮点数进行加减</a:t>
            </a:r>
            <a:r>
              <a:rPr lang="zh-CN" altLang="en-US" dirty="0">
                <a:solidFill>
                  <a:srgbClr val="000000"/>
                </a:solidFill>
                <a:latin typeface="黑体" pitchFamily="2" charset="-122"/>
                <a:ea typeface="黑体" pitchFamily="2" charset="-122"/>
              </a:rPr>
              <a:t>时</a:t>
            </a:r>
            <a:r>
              <a:rPr lang="zh-CN" altLang="zh-CN" dirty="0">
                <a:solidFill>
                  <a:srgbClr val="000000"/>
                </a:solidFill>
                <a:latin typeface="黑体" pitchFamily="2" charset="-122"/>
                <a:ea typeface="黑体" pitchFamily="2" charset="-122"/>
              </a:rPr>
              <a:t>阶码</a:t>
            </a:r>
            <a:r>
              <a:rPr lang="zh-CN" altLang="en-US" dirty="0">
                <a:solidFill>
                  <a:srgbClr val="000000"/>
                </a:solidFill>
                <a:latin typeface="黑体" pitchFamily="2" charset="-122"/>
                <a:ea typeface="黑体" pitchFamily="2" charset="-122"/>
              </a:rPr>
              <a:t>要</a:t>
            </a:r>
            <a:r>
              <a:rPr lang="zh-CN" altLang="zh-CN" dirty="0">
                <a:solidFill>
                  <a:srgbClr val="000000"/>
                </a:solidFill>
                <a:latin typeface="黑体" pitchFamily="2" charset="-122"/>
                <a:ea typeface="黑体" pitchFamily="2" charset="-122"/>
              </a:rPr>
              <a:t>相同,若二数阶码不同,表示小数点位置没有对齐,此时必须使二数阶码相同,这个过程叫作</a:t>
            </a:r>
            <a:r>
              <a:rPr lang="zh-CN" altLang="zh-CN" dirty="0">
                <a:solidFill>
                  <a:srgbClr val="FF0000"/>
                </a:solidFill>
                <a:latin typeface="黑体" pitchFamily="2" charset="-122"/>
                <a:ea typeface="黑体" pitchFamily="2" charset="-122"/>
              </a:rPr>
              <a:t>对阶</a:t>
            </a:r>
            <a:r>
              <a:rPr lang="zh-CN" altLang="zh-CN" dirty="0">
                <a:solidFill>
                  <a:srgbClr val="000000"/>
                </a:solidFill>
                <a:latin typeface="黑体" pitchFamily="2" charset="-122"/>
                <a:ea typeface="黑体" pitchFamily="2" charset="-122"/>
              </a:rPr>
              <a:t>。要对阶,首先应求出两数码</a:t>
            </a:r>
            <a:r>
              <a:rPr lang="zh-CN" altLang="zh-CN" i="1" dirty="0">
                <a:solidFill>
                  <a:srgbClr val="000000"/>
                </a:solidFill>
                <a:latin typeface="黑体" pitchFamily="2" charset="-122"/>
                <a:ea typeface="黑体" pitchFamily="2" charset="-122"/>
              </a:rPr>
              <a:t>Eｘ</a:t>
            </a:r>
            <a:r>
              <a:rPr lang="zh-CN" altLang="zh-CN" dirty="0">
                <a:solidFill>
                  <a:srgbClr val="000000"/>
                </a:solidFill>
                <a:latin typeface="黑体" pitchFamily="2" charset="-122"/>
                <a:ea typeface="黑体" pitchFamily="2" charset="-122"/>
              </a:rPr>
              <a:t>和</a:t>
            </a:r>
            <a:r>
              <a:rPr lang="zh-CN" altLang="zh-CN" i="1" dirty="0">
                <a:solidFill>
                  <a:srgbClr val="000000"/>
                </a:solidFill>
                <a:latin typeface="黑体" pitchFamily="2" charset="-122"/>
                <a:ea typeface="黑体" pitchFamily="2" charset="-122"/>
              </a:rPr>
              <a:t>Eｙ</a:t>
            </a:r>
            <a:r>
              <a:rPr lang="zh-CN" altLang="zh-CN" dirty="0">
                <a:solidFill>
                  <a:srgbClr val="000000"/>
                </a:solidFill>
                <a:latin typeface="黑体" pitchFamily="2" charset="-122"/>
                <a:ea typeface="黑体" pitchFamily="2" charset="-122"/>
              </a:rPr>
              <a:t>之差,即</a:t>
            </a:r>
            <a:endParaRPr lang="zh-CN" altLang="zh-CN" dirty="0">
              <a:latin typeface="黑体" pitchFamily="2" charset="-122"/>
              <a:ea typeface="黑体" pitchFamily="2" charset="-122"/>
            </a:endParaRPr>
          </a:p>
          <a:p>
            <a:pPr eaLnBrk="0" hangingPunct="0"/>
            <a:r>
              <a:rPr lang="en-US" altLang="zh-CN" dirty="0">
                <a:solidFill>
                  <a:srgbClr val="0000FF"/>
                </a:solidFill>
                <a:latin typeface="黑体" pitchFamily="2" charset="-122"/>
                <a:ea typeface="黑体" pitchFamily="2" charset="-122"/>
              </a:rPr>
              <a:t>    </a:t>
            </a:r>
            <a:r>
              <a:rPr lang="zh-CN" altLang="zh-CN" dirty="0">
                <a:solidFill>
                  <a:srgbClr val="0000FF"/>
                </a:solidFill>
                <a:latin typeface="黑体" pitchFamily="2" charset="-122"/>
                <a:ea typeface="黑体" pitchFamily="2" charset="-122"/>
              </a:rPr>
              <a:t>△</a:t>
            </a:r>
            <a:r>
              <a:rPr lang="zh-CN" altLang="zh-CN" i="1" dirty="0">
                <a:solidFill>
                  <a:srgbClr val="0000FF"/>
                </a:solidFill>
                <a:latin typeface="黑体" pitchFamily="2" charset="-122"/>
                <a:ea typeface="黑体" pitchFamily="2" charset="-122"/>
              </a:rPr>
              <a:t>E</a:t>
            </a:r>
            <a:r>
              <a:rPr lang="zh-CN" altLang="zh-CN" dirty="0">
                <a:solidFill>
                  <a:srgbClr val="0000FF"/>
                </a:solidFill>
                <a:latin typeface="黑体" pitchFamily="2" charset="-122"/>
                <a:ea typeface="黑体" pitchFamily="2" charset="-122"/>
              </a:rPr>
              <a:t> ＝ </a:t>
            </a:r>
            <a:r>
              <a:rPr lang="zh-CN" altLang="zh-CN" i="1" dirty="0">
                <a:solidFill>
                  <a:srgbClr val="0000FF"/>
                </a:solidFill>
                <a:latin typeface="黑体" pitchFamily="2" charset="-122"/>
                <a:ea typeface="黑体" pitchFamily="2" charset="-122"/>
              </a:rPr>
              <a:t>Eｘ</a:t>
            </a:r>
            <a:r>
              <a:rPr lang="zh-CN" altLang="zh-CN" dirty="0">
                <a:solidFill>
                  <a:srgbClr val="0000FF"/>
                </a:solidFill>
                <a:latin typeface="黑体" pitchFamily="2" charset="-122"/>
                <a:ea typeface="黑体" pitchFamily="2" charset="-122"/>
              </a:rPr>
              <a:t>－</a:t>
            </a:r>
            <a:r>
              <a:rPr lang="zh-CN" altLang="zh-CN" i="1" dirty="0">
                <a:solidFill>
                  <a:srgbClr val="0000FF"/>
                </a:solidFill>
                <a:latin typeface="黑体" pitchFamily="2" charset="-122"/>
                <a:ea typeface="黑体" pitchFamily="2" charset="-122"/>
              </a:rPr>
              <a:t>Eｙ</a:t>
            </a:r>
            <a:endParaRPr lang="zh-CN" altLang="zh-CN" dirty="0">
              <a:latin typeface="黑体" pitchFamily="2" charset="-122"/>
              <a:ea typeface="黑体" pitchFamily="2" charset="-122"/>
            </a:endParaRPr>
          </a:p>
          <a:p>
            <a:pPr eaLnBrk="0" hangingPunct="0"/>
            <a:r>
              <a:rPr lang="zh-CN" altLang="zh-CN" dirty="0">
                <a:solidFill>
                  <a:srgbClr val="000000"/>
                </a:solidFill>
                <a:latin typeface="黑体" pitchFamily="2" charset="-122"/>
                <a:ea typeface="黑体" pitchFamily="2" charset="-122"/>
              </a:rPr>
              <a:t>　　当</a:t>
            </a:r>
            <a:r>
              <a:rPr lang="zh-CN" altLang="zh-CN" i="1" dirty="0">
                <a:solidFill>
                  <a:srgbClr val="000000"/>
                </a:solidFill>
                <a:latin typeface="黑体" pitchFamily="2" charset="-122"/>
                <a:ea typeface="黑体" pitchFamily="2" charset="-122"/>
              </a:rPr>
              <a:t>Eｘ</a:t>
            </a:r>
            <a:r>
              <a:rPr lang="zh-CN" altLang="zh-CN" dirty="0">
                <a:solidFill>
                  <a:srgbClr val="000000"/>
                </a:solidFill>
                <a:latin typeface="黑体" pitchFamily="2" charset="-122"/>
                <a:ea typeface="黑体" pitchFamily="2" charset="-122"/>
              </a:rPr>
              <a:t>≠</a:t>
            </a:r>
            <a:r>
              <a:rPr lang="zh-CN" altLang="zh-CN" i="1" dirty="0">
                <a:solidFill>
                  <a:srgbClr val="000000"/>
                </a:solidFill>
                <a:latin typeface="黑体" pitchFamily="2" charset="-122"/>
                <a:ea typeface="黑体" pitchFamily="2" charset="-122"/>
              </a:rPr>
              <a:t>Eｙ</a:t>
            </a:r>
            <a:r>
              <a:rPr lang="zh-CN" altLang="zh-CN" dirty="0">
                <a:solidFill>
                  <a:srgbClr val="000000"/>
                </a:solidFill>
                <a:latin typeface="黑体" pitchFamily="2" charset="-122"/>
                <a:ea typeface="黑体" pitchFamily="2" charset="-122"/>
              </a:rPr>
              <a:t> 时,要通过尾数的移动以改变</a:t>
            </a:r>
            <a:r>
              <a:rPr lang="zh-CN" altLang="zh-CN" i="1" dirty="0">
                <a:solidFill>
                  <a:srgbClr val="000000"/>
                </a:solidFill>
                <a:latin typeface="黑体" pitchFamily="2" charset="-122"/>
                <a:ea typeface="黑体" pitchFamily="2" charset="-122"/>
              </a:rPr>
              <a:t>Eｘ</a:t>
            </a:r>
            <a:r>
              <a:rPr lang="zh-CN" altLang="zh-CN" dirty="0">
                <a:solidFill>
                  <a:srgbClr val="000000"/>
                </a:solidFill>
                <a:latin typeface="黑体" pitchFamily="2" charset="-122"/>
                <a:ea typeface="黑体" pitchFamily="2" charset="-122"/>
              </a:rPr>
              <a:t>或</a:t>
            </a:r>
            <a:r>
              <a:rPr lang="zh-CN" altLang="zh-CN" i="1" dirty="0">
                <a:solidFill>
                  <a:srgbClr val="000000"/>
                </a:solidFill>
                <a:latin typeface="黑体" pitchFamily="2" charset="-122"/>
                <a:ea typeface="黑体" pitchFamily="2" charset="-122"/>
              </a:rPr>
              <a:t>Eｙ</a:t>
            </a:r>
            <a:r>
              <a:rPr lang="zh-CN" altLang="zh-CN" dirty="0">
                <a:solidFill>
                  <a:srgbClr val="000000"/>
                </a:solidFill>
                <a:latin typeface="黑体" pitchFamily="2" charset="-122"/>
                <a:ea typeface="黑体" pitchFamily="2" charset="-122"/>
              </a:rPr>
              <a:t>,使之相等。由于浮点表示的数多是规格化的,尾数左移会引起最高有效位的丢失,造成很大误差。尾数右移虽引起最低有效位的丢失,但造成误差较小。因此,对阶操作规定使尾数右移,尾数右移后阶码作相应增加,因此在对阶时,总是使</a:t>
            </a:r>
            <a:r>
              <a:rPr lang="zh-CN" altLang="zh-CN" dirty="0">
                <a:solidFill>
                  <a:srgbClr val="FF0000"/>
                </a:solidFill>
                <a:latin typeface="黑体" pitchFamily="2" charset="-122"/>
                <a:ea typeface="黑体" pitchFamily="2" charset="-122"/>
              </a:rPr>
              <a:t>小阶向大阶看齐</a:t>
            </a:r>
            <a:r>
              <a:rPr lang="zh-CN" altLang="zh-CN" dirty="0">
                <a:solidFill>
                  <a:srgbClr val="000000"/>
                </a:solidFill>
                <a:latin typeface="黑体" pitchFamily="2" charset="-122"/>
                <a:ea typeface="黑体" pitchFamily="2" charset="-122"/>
              </a:rPr>
              <a:t>,即小阶的尾数向右移位(相当于小数点左移）每右移一位,其阶码加1,直到两数的阶码相等为止,右移的位数等于阶差△</a:t>
            </a:r>
            <a:r>
              <a:rPr lang="zh-CN" altLang="zh-CN" i="1" dirty="0">
                <a:solidFill>
                  <a:srgbClr val="000000"/>
                </a:solidFill>
                <a:latin typeface="黑体" pitchFamily="2" charset="-122"/>
                <a:ea typeface="黑体" pitchFamily="2" charset="-122"/>
              </a:rPr>
              <a:t>E</a:t>
            </a:r>
            <a:r>
              <a:rPr lang="zh-CN" altLang="zh-CN" dirty="0">
                <a:solidFill>
                  <a:srgbClr val="000000"/>
                </a:solidFill>
                <a:latin typeface="黑体" pitchFamily="2" charset="-122"/>
                <a:ea typeface="黑体" pitchFamily="2" charset="-122"/>
              </a:rPr>
              <a:t>。</a:t>
            </a:r>
            <a:endParaRPr lang="zh-CN" altLang="zh-CN" dirty="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4" descr="2a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63" y="280988"/>
            <a:ext cx="7356475"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1" name="矩形 2"/>
          <p:cNvSpPr>
            <a:spLocks noChangeArrowheads="1"/>
          </p:cNvSpPr>
          <p:nvPr/>
        </p:nvSpPr>
        <p:spPr bwMode="auto">
          <a:xfrm>
            <a:off x="323850" y="3662363"/>
            <a:ext cx="842486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000">
                <a:latin typeface="黑体" pitchFamily="2" charset="-122"/>
                <a:ea typeface="黑体" pitchFamily="2" charset="-122"/>
              </a:rPr>
              <a:t>    (3) </a:t>
            </a:r>
            <a:r>
              <a:rPr lang="zh-CN" altLang="en-US" sz="2000">
                <a:latin typeface="黑体" pitchFamily="2" charset="-122"/>
                <a:ea typeface="黑体" pitchFamily="2" charset="-122"/>
              </a:rPr>
              <a:t>尾数求和运算</a:t>
            </a:r>
          </a:p>
          <a:p>
            <a:pPr>
              <a:lnSpc>
                <a:spcPct val="150000"/>
              </a:lnSpc>
            </a:pPr>
            <a:r>
              <a:rPr lang="zh-CN" altLang="en-US" sz="2000">
                <a:latin typeface="黑体" pitchFamily="2" charset="-122"/>
                <a:ea typeface="黑体" pitchFamily="2" charset="-122"/>
              </a:rPr>
              <a:t>　　对阶结束后</a:t>
            </a:r>
            <a:r>
              <a:rPr lang="en-US" altLang="zh-CN" sz="2000">
                <a:latin typeface="黑体" pitchFamily="2" charset="-122"/>
                <a:ea typeface="黑体" pitchFamily="2" charset="-122"/>
              </a:rPr>
              <a:t>,</a:t>
            </a:r>
            <a:r>
              <a:rPr lang="zh-CN" altLang="en-US" sz="2000">
                <a:latin typeface="黑体" pitchFamily="2" charset="-122"/>
                <a:ea typeface="黑体" pitchFamily="2" charset="-122"/>
              </a:rPr>
              <a:t>即可进行尾数的求和运算。不论加法运算还是减法运算</a:t>
            </a:r>
            <a:r>
              <a:rPr lang="en-US" altLang="zh-CN" sz="2000">
                <a:latin typeface="黑体" pitchFamily="2" charset="-122"/>
                <a:ea typeface="黑体" pitchFamily="2" charset="-122"/>
              </a:rPr>
              <a:t>,</a:t>
            </a:r>
            <a:r>
              <a:rPr lang="zh-CN" altLang="en-US" sz="2000">
                <a:latin typeface="黑体" pitchFamily="2" charset="-122"/>
                <a:ea typeface="黑体" pitchFamily="2" charset="-122"/>
              </a:rPr>
              <a:t>都按加法进行操作</a:t>
            </a:r>
            <a:r>
              <a:rPr lang="en-US" altLang="zh-CN" sz="2000">
                <a:latin typeface="黑体" pitchFamily="2" charset="-122"/>
                <a:ea typeface="黑体" pitchFamily="2" charset="-122"/>
              </a:rPr>
              <a:t>,</a:t>
            </a:r>
            <a:r>
              <a:rPr lang="zh-CN" altLang="en-US" sz="2000">
                <a:latin typeface="黑体" pitchFamily="2" charset="-122"/>
                <a:ea typeface="黑体" pitchFamily="2" charset="-122"/>
              </a:rPr>
              <a:t>其方法与定点加减法运算完全一样。</a:t>
            </a:r>
          </a:p>
          <a:p>
            <a:pPr>
              <a:lnSpc>
                <a:spcPct val="150000"/>
              </a:lnSpc>
            </a:pPr>
            <a:r>
              <a:rPr lang="en-US" altLang="zh-CN" sz="2000">
                <a:latin typeface="黑体" pitchFamily="2" charset="-122"/>
                <a:ea typeface="黑体" pitchFamily="2" charset="-122"/>
              </a:rPr>
              <a:t>    (4) </a:t>
            </a:r>
            <a:r>
              <a:rPr lang="zh-CN" altLang="en-US" sz="2000">
                <a:latin typeface="黑体" pitchFamily="2" charset="-122"/>
                <a:ea typeface="黑体" pitchFamily="2" charset="-122"/>
              </a:rPr>
              <a:t>结果规格化</a:t>
            </a:r>
          </a:p>
          <a:p>
            <a:pPr>
              <a:lnSpc>
                <a:spcPct val="150000"/>
              </a:lnSpc>
            </a:pPr>
            <a:r>
              <a:rPr lang="zh-CN" altLang="en-US" sz="2000">
                <a:latin typeface="黑体" pitchFamily="2" charset="-122"/>
                <a:ea typeface="黑体" pitchFamily="2" charset="-122"/>
              </a:rPr>
              <a:t>　　尾数加</a:t>
            </a:r>
            <a:r>
              <a:rPr lang="en-US" altLang="zh-CN" sz="2000">
                <a:latin typeface="黑体" pitchFamily="2" charset="-122"/>
                <a:ea typeface="黑体" pitchFamily="2" charset="-122"/>
              </a:rPr>
              <a:t>/</a:t>
            </a:r>
            <a:r>
              <a:rPr lang="zh-CN" altLang="en-US" sz="2000">
                <a:latin typeface="黑体" pitchFamily="2" charset="-122"/>
                <a:ea typeface="黑体" pitchFamily="2" charset="-122"/>
              </a:rPr>
              <a:t>减运算之后得到的数可能不是规格化数，为了增加有效数字的位数，提高运算精度，必须进行结果规格化操作。</a:t>
            </a: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850" y="188913"/>
            <a:ext cx="8424863" cy="6554787"/>
          </a:xfrm>
          <a:prstGeom prst="rect">
            <a:avLst/>
          </a:prstGeom>
        </p:spPr>
        <p:txBody>
          <a:bodyPr>
            <a:spAutoFit/>
          </a:bodyPr>
          <a:lstStyle/>
          <a:p>
            <a:pPr>
              <a:lnSpc>
                <a:spcPct val="150000"/>
              </a:lnSpc>
              <a:defRPr/>
            </a:pPr>
            <a:r>
              <a:rPr lang="en-US" altLang="zh-CN" sz="2000" dirty="0">
                <a:latin typeface="黑体" pitchFamily="2" charset="-122"/>
                <a:ea typeface="黑体" pitchFamily="2" charset="-122"/>
              </a:rPr>
              <a:t>(4) </a:t>
            </a:r>
            <a:r>
              <a:rPr lang="zh-CN" altLang="en-US" sz="2000" dirty="0">
                <a:latin typeface="黑体" pitchFamily="2" charset="-122"/>
                <a:ea typeface="黑体" pitchFamily="2" charset="-122"/>
              </a:rPr>
              <a:t>结果规格化</a:t>
            </a:r>
          </a:p>
          <a:p>
            <a:pPr>
              <a:lnSpc>
                <a:spcPct val="150000"/>
              </a:lnSpc>
              <a:defRPr/>
            </a:pPr>
            <a:r>
              <a:rPr lang="zh-CN" altLang="en-US" sz="2000" dirty="0">
                <a:latin typeface="黑体" pitchFamily="2" charset="-122"/>
                <a:ea typeface="黑体" pitchFamily="2" charset="-122"/>
              </a:rPr>
              <a:t>　　设尾数用双符号位补码表示，经过加</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减运算之后，</a:t>
            </a:r>
            <a:endParaRPr lang="en-US" altLang="zh-CN" sz="2000" dirty="0">
              <a:latin typeface="黑体" pitchFamily="2" charset="-122"/>
              <a:ea typeface="黑体" pitchFamily="2" charset="-122"/>
            </a:endParaRPr>
          </a:p>
          <a:p>
            <a:pPr>
              <a:lnSpc>
                <a:spcPct val="150000"/>
              </a:lnSpc>
              <a:defRPr/>
            </a:pPr>
            <a:r>
              <a:rPr lang="zh-CN" altLang="en-US" sz="2000" dirty="0">
                <a:latin typeface="黑体" pitchFamily="2" charset="-122"/>
                <a:ea typeface="黑体" pitchFamily="2" charset="-122"/>
              </a:rPr>
              <a:t>可能出现以下</a:t>
            </a:r>
            <a:r>
              <a:rPr lang="en-US" altLang="zh-CN" sz="2000" dirty="0">
                <a:latin typeface="黑体" pitchFamily="2" charset="-122"/>
                <a:ea typeface="黑体" pitchFamily="2" charset="-122"/>
              </a:rPr>
              <a:t>6</a:t>
            </a:r>
            <a:r>
              <a:rPr lang="zh-CN" altLang="en-US" sz="2000" dirty="0">
                <a:latin typeface="黑体" pitchFamily="2" charset="-122"/>
                <a:ea typeface="黑体" pitchFamily="2" charset="-122"/>
              </a:rPr>
              <a:t>种情况，即：</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① </a:t>
            </a:r>
            <a:r>
              <a:rPr lang="en-US" altLang="zh-CN" sz="2000" dirty="0">
                <a:latin typeface="黑体" pitchFamily="2" charset="-122"/>
                <a:ea typeface="黑体" pitchFamily="2" charset="-122"/>
              </a:rPr>
              <a:t>00.1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p>
          <a:p>
            <a:pPr>
              <a:lnSpc>
                <a:spcPct val="150000"/>
              </a:lnSpc>
              <a:defRPr/>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② </a:t>
            </a:r>
            <a:r>
              <a:rPr lang="en-US" altLang="zh-CN" sz="2000" dirty="0">
                <a:latin typeface="黑体" pitchFamily="2" charset="-122"/>
                <a:ea typeface="黑体" pitchFamily="2" charset="-122"/>
              </a:rPr>
              <a:t>11.0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③ </a:t>
            </a:r>
            <a:r>
              <a:rPr lang="en-US" altLang="zh-CN" sz="2000" dirty="0">
                <a:latin typeface="黑体" pitchFamily="2" charset="-122"/>
                <a:ea typeface="黑体" pitchFamily="2" charset="-122"/>
              </a:rPr>
              <a:t>00.0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④ </a:t>
            </a:r>
            <a:r>
              <a:rPr lang="en-US" altLang="zh-CN" sz="2000" dirty="0">
                <a:latin typeface="黑体" pitchFamily="2" charset="-122"/>
                <a:ea typeface="黑体" pitchFamily="2" charset="-122"/>
              </a:rPr>
              <a:t>11.1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⑤ </a:t>
            </a:r>
            <a:r>
              <a:rPr lang="en-US" altLang="zh-CN" sz="2000" dirty="0">
                <a:latin typeface="黑体" pitchFamily="2" charset="-122"/>
                <a:ea typeface="黑体" pitchFamily="2" charset="-122"/>
              </a:rPr>
              <a:t>01.x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⑥ </a:t>
            </a:r>
            <a:r>
              <a:rPr lang="en-US" altLang="zh-CN" sz="2000" dirty="0">
                <a:latin typeface="黑体" pitchFamily="2" charset="-122"/>
                <a:ea typeface="黑体" pitchFamily="2" charset="-122"/>
              </a:rPr>
              <a:t>10.x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p>
          <a:p>
            <a:pPr>
              <a:lnSpc>
                <a:spcPct val="150000"/>
              </a:lnSpc>
              <a:defRPr/>
            </a:pPr>
            <a:r>
              <a:rPr lang="zh-CN" altLang="en-US" sz="2000" dirty="0">
                <a:latin typeface="+mn-ea"/>
                <a:ea typeface="+mn-ea"/>
              </a:rPr>
              <a:t>    </a:t>
            </a:r>
            <a:r>
              <a:rPr lang="en-US" altLang="zh-CN" sz="2000" dirty="0">
                <a:latin typeface="+mn-ea"/>
                <a:ea typeface="+mn-ea"/>
              </a:rPr>
              <a:t>=======================================</a:t>
            </a:r>
          </a:p>
          <a:p>
            <a:pPr>
              <a:lnSpc>
                <a:spcPct val="150000"/>
              </a:lnSpc>
              <a:defRPr/>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① </a:t>
            </a:r>
            <a:r>
              <a:rPr lang="en-US" altLang="zh-CN" sz="2000" dirty="0">
                <a:latin typeface="黑体" pitchFamily="2" charset="-122"/>
                <a:ea typeface="黑体" pitchFamily="2" charset="-122"/>
              </a:rPr>
              <a:t>00.1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  (+ 0.1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br>
              <a:rPr lang="en-US" altLang="zh-CN" sz="2000" dirty="0">
                <a:latin typeface="黑体" pitchFamily="2" charset="-122"/>
                <a:ea typeface="黑体" pitchFamily="2" charset="-122"/>
              </a:rPr>
            </a:br>
            <a:r>
              <a:rPr lang="zh-CN" altLang="en-US" sz="2000" dirty="0">
                <a:latin typeface="黑体" pitchFamily="2" charset="-122"/>
                <a:ea typeface="黑体" pitchFamily="2" charset="-122"/>
              </a:rPr>
              <a:t>　　② </a:t>
            </a:r>
            <a:r>
              <a:rPr lang="en-US" altLang="zh-CN" sz="2000" dirty="0">
                <a:latin typeface="黑体" pitchFamily="2" charset="-122"/>
                <a:ea typeface="黑体" pitchFamily="2" charset="-122"/>
              </a:rPr>
              <a:t>11.0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  (- 0.1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a:t>
            </a:r>
            <a:endParaRPr lang="zh-CN" altLang="en-US" sz="2000" dirty="0">
              <a:latin typeface="黑体" pitchFamily="2" charset="-122"/>
              <a:ea typeface="黑体" pitchFamily="2" charset="-122"/>
            </a:endParaRPr>
          </a:p>
          <a:p>
            <a:pPr>
              <a:lnSpc>
                <a:spcPct val="150000"/>
              </a:lnSpc>
              <a:defRPr/>
            </a:pPr>
            <a:r>
              <a:rPr lang="zh-CN" altLang="en-US" sz="2000" dirty="0">
                <a:latin typeface="黑体" pitchFamily="2" charset="-122"/>
                <a:ea typeface="黑体" pitchFamily="2" charset="-122"/>
              </a:rPr>
              <a:t>　　第①和②种情况，已是规格化数。</a:t>
            </a:r>
          </a:p>
          <a:p>
            <a:pPr>
              <a:lnSpc>
                <a:spcPct val="150000"/>
              </a:lnSpc>
              <a:defRPr/>
            </a:pPr>
            <a:r>
              <a:rPr lang="zh-CN" altLang="en-US" sz="2000" b="1" dirty="0">
                <a:latin typeface="黑体" pitchFamily="2" charset="-122"/>
                <a:ea typeface="黑体" pitchFamily="2" charset="-122"/>
              </a:rPr>
              <a:t>　</a:t>
            </a:r>
            <a:r>
              <a:rPr lang="zh-CN" altLang="en-US" sz="2000" b="1" dirty="0">
                <a:solidFill>
                  <a:srgbClr val="FF0000"/>
                </a:solidFill>
                <a:latin typeface="黑体" pitchFamily="2" charset="-122"/>
                <a:ea typeface="黑体" pitchFamily="2" charset="-122"/>
              </a:rPr>
              <a:t>（尾数运算结果的符号位与最高数值位不同值）</a:t>
            </a:r>
            <a:endParaRPr lang="zh-CN" altLang="en-US" sz="2000" dirty="0">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3"/>
          <p:cNvSpPr>
            <a:spLocks noChangeArrowheads="1"/>
          </p:cNvSpPr>
          <p:nvPr/>
        </p:nvSpPr>
        <p:spPr bwMode="auto">
          <a:xfrm>
            <a:off x="395288" y="533400"/>
            <a:ext cx="8208962"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200000"/>
              </a:lnSpc>
            </a:pPr>
            <a:r>
              <a:rPr lang="en-US" altLang="zh-CN" sz="2000" dirty="0"/>
              <a:t>       ③ 00.0 x </a:t>
            </a:r>
            <a:r>
              <a:rPr lang="en-US" altLang="zh-CN" sz="2000" dirty="0" err="1"/>
              <a:t>x</a:t>
            </a:r>
            <a:r>
              <a:rPr lang="en-US" altLang="zh-CN" sz="2000" dirty="0"/>
              <a:t> … x  (+ 0.0 x </a:t>
            </a:r>
            <a:r>
              <a:rPr lang="en-US" altLang="zh-CN" sz="2000" dirty="0" err="1"/>
              <a:t>x</a:t>
            </a:r>
            <a:r>
              <a:rPr lang="en-US" altLang="zh-CN" sz="2000" dirty="0"/>
              <a:t> ... x)</a:t>
            </a:r>
            <a:br>
              <a:rPr lang="en-US" altLang="zh-CN" sz="2000" dirty="0"/>
            </a:br>
            <a:r>
              <a:rPr lang="zh-CN" altLang="en-US" sz="2000" dirty="0"/>
              <a:t>　　④ </a:t>
            </a:r>
            <a:r>
              <a:rPr lang="en-US" altLang="zh-CN" sz="2000" dirty="0"/>
              <a:t>11.1 x </a:t>
            </a:r>
            <a:r>
              <a:rPr lang="en-US" altLang="zh-CN" sz="2000" dirty="0" err="1"/>
              <a:t>x</a:t>
            </a:r>
            <a:r>
              <a:rPr lang="en-US" altLang="zh-CN" sz="2000" dirty="0"/>
              <a:t> … x  (- 0.0 x </a:t>
            </a:r>
            <a:r>
              <a:rPr lang="en-US" altLang="zh-CN" sz="2000" dirty="0" err="1"/>
              <a:t>x</a:t>
            </a:r>
            <a:r>
              <a:rPr lang="en-US" altLang="zh-CN" sz="2000" dirty="0"/>
              <a:t> ... x)</a:t>
            </a:r>
          </a:p>
          <a:p>
            <a:pPr>
              <a:lnSpc>
                <a:spcPct val="200000"/>
              </a:lnSpc>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第③和④种情况需要使尾数左移以实现规格化，这个过程称为</a:t>
            </a:r>
            <a:r>
              <a:rPr lang="zh-CN" altLang="en-US" sz="2000" b="1" dirty="0">
                <a:solidFill>
                  <a:srgbClr val="FF0000"/>
                </a:solidFill>
                <a:latin typeface="黑体" pitchFamily="2" charset="-122"/>
                <a:ea typeface="黑体" pitchFamily="2" charset="-122"/>
              </a:rPr>
              <a:t>左规</a:t>
            </a:r>
            <a:r>
              <a:rPr lang="zh-CN" altLang="en-US" sz="2000" dirty="0">
                <a:latin typeface="黑体" pitchFamily="2" charset="-122"/>
                <a:ea typeface="黑体" pitchFamily="2" charset="-122"/>
              </a:rPr>
              <a:t>。尾数每左移一位，阶码相应减</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E</a:t>
            </a:r>
            <a:r>
              <a:rPr lang="en-US" altLang="zh-CN" sz="2000" baseline="-25000" dirty="0">
                <a:latin typeface="黑体" pitchFamily="2" charset="-122"/>
                <a:ea typeface="黑体" pitchFamily="2" charset="-122"/>
              </a:rPr>
              <a:t>C</a:t>
            </a:r>
            <a:r>
              <a:rPr lang="en-US" altLang="zh-CN" sz="2000" dirty="0">
                <a:latin typeface="黑体" pitchFamily="2" charset="-122"/>
                <a:ea typeface="黑体" pitchFamily="2" charset="-122"/>
              </a:rPr>
              <a:t>-1→E</a:t>
            </a:r>
            <a:r>
              <a:rPr lang="en-US" altLang="zh-CN" sz="2000" baseline="-25000" dirty="0">
                <a:latin typeface="黑体" pitchFamily="2" charset="-122"/>
                <a:ea typeface="黑体" pitchFamily="2" charset="-122"/>
              </a:rPr>
              <a:t>C</a:t>
            </a:r>
            <a:r>
              <a:rPr lang="zh-CN" altLang="en-US" sz="2000" dirty="0">
                <a:latin typeface="黑体" pitchFamily="2" charset="-122"/>
                <a:ea typeface="黑体" pitchFamily="2" charset="-122"/>
              </a:rPr>
              <a:t>），直至成为规格化数为止。   </a:t>
            </a:r>
            <a:endParaRPr lang="en-US" altLang="zh-CN" sz="2000" dirty="0">
              <a:latin typeface="黑体" pitchFamily="2" charset="-122"/>
              <a:ea typeface="黑体" pitchFamily="2" charset="-122"/>
            </a:endParaRPr>
          </a:p>
          <a:p>
            <a:pPr>
              <a:lnSpc>
                <a:spcPct val="200000"/>
              </a:lnSpc>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只要满足下列条件：</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左规 </a:t>
            </a:r>
            <a:r>
              <a:rPr lang="en-US" altLang="zh-CN" sz="2000" dirty="0">
                <a:latin typeface="黑体" pitchFamily="2" charset="-122"/>
                <a:ea typeface="黑体" pitchFamily="2" charset="-122"/>
              </a:rPr>
              <a:t>=  C</a:t>
            </a:r>
            <a:r>
              <a:rPr lang="en-US" altLang="zh-CN" sz="2000" baseline="-25000" dirty="0">
                <a:latin typeface="黑体" pitchFamily="2" charset="-122"/>
                <a:ea typeface="黑体" pitchFamily="2" charset="-122"/>
              </a:rPr>
              <a:t>s1</a:t>
            </a:r>
            <a:r>
              <a:rPr lang="en-US" altLang="zh-CN" sz="2000" dirty="0">
                <a:latin typeface="黑体" pitchFamily="2" charset="-122"/>
                <a:ea typeface="黑体" pitchFamily="2" charset="-122"/>
              </a:rPr>
              <a:t>C</a:t>
            </a:r>
            <a:r>
              <a:rPr lang="en-US" altLang="zh-CN" sz="2000" baseline="-25000" dirty="0">
                <a:latin typeface="黑体" pitchFamily="2" charset="-122"/>
                <a:ea typeface="黑体" pitchFamily="2" charset="-122"/>
              </a:rPr>
              <a:t>s2</a:t>
            </a:r>
            <a:r>
              <a:rPr lang="en-US" altLang="zh-CN" sz="2000" dirty="0">
                <a:latin typeface="黑体" pitchFamily="2" charset="-122"/>
                <a:ea typeface="黑体" pitchFamily="2" charset="-122"/>
              </a:rPr>
              <a:t>C</a:t>
            </a:r>
            <a:r>
              <a:rPr lang="en-US" altLang="zh-CN" sz="2000" baseline="-25000" dirty="0">
                <a:latin typeface="黑体" pitchFamily="2" charset="-122"/>
                <a:ea typeface="黑体" pitchFamily="2" charset="-122"/>
              </a:rPr>
              <a:t>1</a:t>
            </a:r>
            <a:r>
              <a:rPr lang="en-US" altLang="zh-CN" sz="2000" dirty="0">
                <a:latin typeface="黑体" pitchFamily="2" charset="-122"/>
                <a:ea typeface="黑体" pitchFamily="2" charset="-122"/>
              </a:rPr>
              <a:t> + C</a:t>
            </a:r>
            <a:r>
              <a:rPr lang="en-US" altLang="zh-CN" sz="2000" baseline="-25000" dirty="0">
                <a:latin typeface="黑体" pitchFamily="2" charset="-122"/>
                <a:ea typeface="黑体" pitchFamily="2" charset="-122"/>
              </a:rPr>
              <a:t>s1</a:t>
            </a:r>
            <a:r>
              <a:rPr lang="en-US" altLang="zh-CN" sz="2000" dirty="0">
                <a:latin typeface="黑体" pitchFamily="2" charset="-122"/>
                <a:ea typeface="黑体" pitchFamily="2" charset="-122"/>
              </a:rPr>
              <a:t>C</a:t>
            </a:r>
            <a:r>
              <a:rPr lang="en-US" altLang="zh-CN" sz="2000" baseline="-25000" dirty="0">
                <a:latin typeface="黑体" pitchFamily="2" charset="-122"/>
                <a:ea typeface="黑体" pitchFamily="2" charset="-122"/>
              </a:rPr>
              <a:t>s2</a:t>
            </a:r>
            <a:r>
              <a:rPr lang="en-US" altLang="zh-CN" sz="2000" dirty="0">
                <a:latin typeface="黑体" pitchFamily="2" charset="-122"/>
                <a:ea typeface="黑体" pitchFamily="2" charset="-122"/>
              </a:rPr>
              <a:t>C</a:t>
            </a:r>
            <a:r>
              <a:rPr lang="en-US" altLang="zh-CN" sz="2000" baseline="-25000" dirty="0">
                <a:latin typeface="黑体" pitchFamily="2" charset="-122"/>
                <a:ea typeface="黑体" pitchFamily="2" charset="-122"/>
              </a:rPr>
              <a:t>1 </a:t>
            </a:r>
          </a:p>
          <a:p>
            <a:pPr>
              <a:lnSpc>
                <a:spcPct val="200000"/>
              </a:lnSpc>
            </a:pPr>
            <a:r>
              <a:rPr lang="zh-CN" altLang="en-US" sz="2000" dirty="0">
                <a:latin typeface="黑体" pitchFamily="2" charset="-122"/>
                <a:ea typeface="黑体" pitchFamily="2" charset="-122"/>
              </a:rPr>
              <a:t>　　　</a:t>
            </a:r>
            <a:r>
              <a:rPr lang="zh-CN" altLang="en-US" sz="2000" b="1" dirty="0">
                <a:solidFill>
                  <a:srgbClr val="FF0000"/>
                </a:solidFill>
                <a:latin typeface="黑体" pitchFamily="2" charset="-122"/>
                <a:ea typeface="黑体" pitchFamily="2" charset="-122"/>
              </a:rPr>
              <a:t>（尾数运算结果的符号位与最高数值位同值）</a:t>
            </a:r>
            <a:r>
              <a:rPr lang="zh-CN" altLang="en-US" sz="2000" dirty="0">
                <a:solidFill>
                  <a:srgbClr val="FF0000"/>
                </a:solidFill>
                <a:latin typeface="黑体" pitchFamily="2" charset="-122"/>
                <a:ea typeface="黑体" pitchFamily="2" charset="-122"/>
              </a:rPr>
              <a:t/>
            </a:r>
            <a:br>
              <a:rPr lang="zh-CN" altLang="en-US" sz="2000" dirty="0">
                <a:solidFill>
                  <a:srgbClr val="FF0000"/>
                </a:solidFill>
                <a:latin typeface="黑体" pitchFamily="2" charset="-122"/>
                <a:ea typeface="黑体" pitchFamily="2" charset="-122"/>
              </a:rPr>
            </a:br>
            <a:r>
              <a:rPr lang="zh-CN" altLang="en-US" sz="2000" dirty="0">
                <a:solidFill>
                  <a:srgbClr val="FF0000"/>
                </a:solidFill>
                <a:latin typeface="黑体" pitchFamily="2" charset="-122"/>
                <a:ea typeface="黑体" pitchFamily="2" charset="-122"/>
              </a:rPr>
              <a:t>    </a:t>
            </a:r>
            <a:r>
              <a:rPr lang="zh-CN" altLang="en-US" sz="2000" dirty="0">
                <a:latin typeface="黑体" pitchFamily="2" charset="-122"/>
                <a:ea typeface="黑体" pitchFamily="2" charset="-122"/>
              </a:rPr>
              <a:t>就进行左规，左规可以进行多次。式中</a:t>
            </a:r>
            <a:r>
              <a:rPr lang="en-US" altLang="zh-CN" sz="2000" dirty="0">
                <a:latin typeface="黑体" pitchFamily="2" charset="-122"/>
                <a:ea typeface="黑体" pitchFamily="2" charset="-122"/>
              </a:rPr>
              <a:t>C</a:t>
            </a:r>
            <a:r>
              <a:rPr lang="en-US" altLang="zh-CN" sz="2000" baseline="-25000" dirty="0">
                <a:latin typeface="黑体" pitchFamily="2" charset="-122"/>
                <a:ea typeface="黑体" pitchFamily="2" charset="-122"/>
              </a:rPr>
              <a:t>s1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C</a:t>
            </a:r>
            <a:r>
              <a:rPr lang="en-US" altLang="zh-CN" sz="2000" baseline="-25000" dirty="0">
                <a:latin typeface="黑体" pitchFamily="2" charset="-122"/>
                <a:ea typeface="黑体" pitchFamily="2" charset="-122"/>
              </a:rPr>
              <a:t>s2</a:t>
            </a:r>
            <a:r>
              <a:rPr lang="zh-CN" altLang="en-US" sz="2000" dirty="0">
                <a:latin typeface="黑体" pitchFamily="2" charset="-122"/>
                <a:ea typeface="黑体" pitchFamily="2" charset="-122"/>
              </a:rPr>
              <a:t>表示尾数</a:t>
            </a:r>
            <a:r>
              <a:rPr lang="en-US" altLang="zh-CN" sz="2000" dirty="0">
                <a:latin typeface="黑体" pitchFamily="2" charset="-122"/>
                <a:ea typeface="黑体" pitchFamily="2" charset="-122"/>
              </a:rPr>
              <a:t>M</a:t>
            </a:r>
            <a:r>
              <a:rPr lang="en-US" altLang="zh-CN" sz="2000" baseline="-25000" dirty="0">
                <a:latin typeface="黑体" pitchFamily="2" charset="-122"/>
                <a:ea typeface="黑体" pitchFamily="2" charset="-122"/>
              </a:rPr>
              <a:t>C</a:t>
            </a:r>
            <a:r>
              <a:rPr lang="zh-CN" altLang="en-US" sz="2000" dirty="0">
                <a:latin typeface="黑体" pitchFamily="2" charset="-122"/>
                <a:ea typeface="黑体" pitchFamily="2" charset="-122"/>
              </a:rPr>
              <a:t>的两个符号位，</a:t>
            </a:r>
            <a:r>
              <a:rPr lang="en-US" altLang="zh-CN" sz="2000" dirty="0">
                <a:latin typeface="黑体" pitchFamily="2" charset="-122"/>
                <a:ea typeface="黑体" pitchFamily="2" charset="-122"/>
              </a:rPr>
              <a:t> C</a:t>
            </a:r>
            <a:r>
              <a:rPr lang="en-US" altLang="zh-CN" sz="2000" baseline="-25000" dirty="0">
                <a:latin typeface="黑体" pitchFamily="2" charset="-122"/>
                <a:ea typeface="黑体" pitchFamily="2" charset="-122"/>
              </a:rPr>
              <a:t>1</a:t>
            </a:r>
            <a:r>
              <a:rPr lang="zh-CN" altLang="en-US" sz="2000" dirty="0">
                <a:latin typeface="黑体" pitchFamily="2" charset="-122"/>
                <a:ea typeface="黑体" pitchFamily="2" charset="-122"/>
              </a:rPr>
              <a:t>为</a:t>
            </a:r>
            <a:r>
              <a:rPr lang="en-US" altLang="zh-CN" sz="2000" dirty="0">
                <a:latin typeface="黑体" pitchFamily="2" charset="-122"/>
                <a:ea typeface="黑体" pitchFamily="2" charset="-122"/>
              </a:rPr>
              <a:t>M</a:t>
            </a:r>
            <a:r>
              <a:rPr lang="en-US" altLang="zh-CN" sz="2000" baseline="-25000" dirty="0">
                <a:latin typeface="黑体" pitchFamily="2" charset="-122"/>
                <a:ea typeface="黑体" pitchFamily="2" charset="-122"/>
              </a:rPr>
              <a:t>C</a:t>
            </a:r>
            <a:r>
              <a:rPr lang="zh-CN" altLang="en-US" sz="2000" dirty="0">
                <a:latin typeface="黑体" pitchFamily="2" charset="-122"/>
                <a:ea typeface="黑体" pitchFamily="2" charset="-122"/>
              </a:rPr>
              <a:t>的最高数值位。</a:t>
            </a:r>
          </a:p>
        </p:txBody>
      </p:sp>
      <p:cxnSp>
        <p:nvCxnSpPr>
          <p:cNvPr id="126979" name="直接连接符 8"/>
          <p:cNvCxnSpPr>
            <a:cxnSpLocks noChangeShapeType="1"/>
          </p:cNvCxnSpPr>
          <p:nvPr/>
        </p:nvCxnSpPr>
        <p:spPr bwMode="auto">
          <a:xfrm>
            <a:off x="2484438" y="3860800"/>
            <a:ext cx="1428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0" name="直接连接符 10"/>
          <p:cNvCxnSpPr>
            <a:cxnSpLocks noChangeShapeType="1"/>
          </p:cNvCxnSpPr>
          <p:nvPr/>
        </p:nvCxnSpPr>
        <p:spPr bwMode="auto">
          <a:xfrm>
            <a:off x="2771775" y="3860800"/>
            <a:ext cx="14446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1" name="直接连接符 13"/>
          <p:cNvCxnSpPr>
            <a:cxnSpLocks noChangeShapeType="1"/>
          </p:cNvCxnSpPr>
          <p:nvPr/>
        </p:nvCxnSpPr>
        <p:spPr bwMode="auto">
          <a:xfrm>
            <a:off x="3059113" y="3860800"/>
            <a:ext cx="14446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矩形 1"/>
          <p:cNvSpPr>
            <a:spLocks noChangeArrowheads="1"/>
          </p:cNvSpPr>
          <p:nvPr/>
        </p:nvSpPr>
        <p:spPr bwMode="auto">
          <a:xfrm>
            <a:off x="323850" y="476250"/>
            <a:ext cx="8472488"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latin typeface="黑体" pitchFamily="2" charset="-122"/>
                <a:ea typeface="黑体" pitchFamily="2" charset="-122"/>
              </a:rPr>
              <a:t>    ⑤ </a:t>
            </a:r>
            <a:r>
              <a:rPr lang="en-US" altLang="zh-CN" sz="2000" dirty="0">
                <a:latin typeface="黑体" pitchFamily="2" charset="-122"/>
                <a:ea typeface="黑体" pitchFamily="2" charset="-122"/>
              </a:rPr>
              <a:t>01.x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  ( +1.x x ... x)</a:t>
            </a:r>
            <a:r>
              <a:rPr lang="zh-CN" altLang="en-US" sz="2000" dirty="0">
                <a:latin typeface="黑体" pitchFamily="2" charset="-122"/>
                <a:ea typeface="黑体" pitchFamily="2" charset="-122"/>
              </a:rPr>
              <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⑥ </a:t>
            </a:r>
            <a:r>
              <a:rPr lang="en-US" altLang="zh-CN" sz="2000" dirty="0">
                <a:latin typeface="黑体" pitchFamily="2" charset="-122"/>
                <a:ea typeface="黑体" pitchFamily="2" charset="-122"/>
              </a:rPr>
              <a:t>10.x x </a:t>
            </a:r>
            <a:r>
              <a:rPr lang="en-US" altLang="zh-CN" sz="2000" dirty="0" err="1">
                <a:latin typeface="黑体" pitchFamily="2" charset="-122"/>
                <a:ea typeface="黑体" pitchFamily="2" charset="-122"/>
              </a:rPr>
              <a:t>x</a:t>
            </a:r>
            <a:r>
              <a:rPr lang="en-US" altLang="zh-CN" sz="2000" dirty="0">
                <a:latin typeface="黑体" pitchFamily="2" charset="-122"/>
                <a:ea typeface="黑体" pitchFamily="2" charset="-122"/>
              </a:rPr>
              <a:t> … x  ( -1.x x ... x)</a:t>
            </a:r>
            <a:r>
              <a:rPr lang="zh-CN" altLang="en-US" sz="2000" dirty="0">
                <a:latin typeface="黑体" pitchFamily="2" charset="-122"/>
                <a:ea typeface="黑体" pitchFamily="2" charset="-122"/>
              </a:rPr>
              <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第⑤和⑥种情况在在定点加减运算中称为溢出；但浮点加减运算中，只表明此时尾数的绝对值大于</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，而并非真正的溢出。这种情况应将尾数右移以实现规格化。这个过程称为</a:t>
            </a:r>
            <a:r>
              <a:rPr lang="zh-CN" altLang="en-US" sz="2000" dirty="0">
                <a:solidFill>
                  <a:srgbClr val="FF0000"/>
                </a:solidFill>
                <a:latin typeface="黑体" pitchFamily="2" charset="-122"/>
                <a:ea typeface="黑体" pitchFamily="2" charset="-122"/>
              </a:rPr>
              <a:t>右规</a:t>
            </a:r>
            <a:r>
              <a:rPr lang="zh-CN" altLang="en-US" sz="2000" dirty="0">
                <a:latin typeface="黑体" pitchFamily="2" charset="-122"/>
                <a:ea typeface="黑体" pitchFamily="2" charset="-122"/>
              </a:rPr>
              <a:t>。尾数每右移一位，阶码相应加</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E</a:t>
            </a:r>
            <a:r>
              <a:rPr lang="en-US" altLang="zh-CN" sz="2000" baseline="-25000" dirty="0">
                <a:latin typeface="黑体" pitchFamily="2" charset="-122"/>
                <a:ea typeface="黑体" pitchFamily="2" charset="-122"/>
              </a:rPr>
              <a:t>C</a:t>
            </a:r>
            <a:r>
              <a:rPr lang="en-US" altLang="zh-CN" sz="2000" dirty="0">
                <a:latin typeface="黑体" pitchFamily="2" charset="-122"/>
                <a:ea typeface="黑体" pitchFamily="2" charset="-122"/>
              </a:rPr>
              <a:t>+1→E</a:t>
            </a:r>
            <a:r>
              <a:rPr lang="en-US" altLang="zh-CN" sz="2000" baseline="-25000" dirty="0">
                <a:latin typeface="黑体" pitchFamily="2" charset="-122"/>
                <a:ea typeface="黑体" pitchFamily="2" charset="-122"/>
              </a:rPr>
              <a:t>C</a:t>
            </a:r>
            <a:r>
              <a:rPr lang="zh-CN" altLang="en-US" sz="2000" dirty="0">
                <a:latin typeface="黑体" pitchFamily="2" charset="-122"/>
                <a:ea typeface="黑体" pitchFamily="2" charset="-122"/>
              </a:rPr>
              <a:t>）。右规的条件如下：</a:t>
            </a:r>
            <a:br>
              <a:rPr lang="zh-CN" altLang="en-US" sz="2000" dirty="0">
                <a:latin typeface="黑体" pitchFamily="2" charset="-122"/>
                <a:ea typeface="黑体" pitchFamily="2" charset="-122"/>
              </a:rPr>
            </a:br>
            <a:r>
              <a:rPr lang="zh-CN" altLang="en-US" sz="2000" dirty="0">
                <a:latin typeface="黑体" pitchFamily="2" charset="-122"/>
                <a:ea typeface="黑体" pitchFamily="2" charset="-122"/>
              </a:rPr>
              <a:t>　　　　右规 </a:t>
            </a:r>
            <a:r>
              <a:rPr lang="en-US" altLang="zh-CN" sz="2000" dirty="0">
                <a:latin typeface="黑体" pitchFamily="2" charset="-122"/>
                <a:ea typeface="黑体" pitchFamily="2" charset="-122"/>
              </a:rPr>
              <a:t>= Cs1⊕Cs2  </a:t>
            </a:r>
            <a:r>
              <a:rPr lang="zh-CN" altLang="en-US" sz="2000" dirty="0">
                <a:solidFill>
                  <a:srgbClr val="FF0000"/>
                </a:solidFill>
                <a:latin typeface="黑体" pitchFamily="2" charset="-122"/>
                <a:ea typeface="黑体" pitchFamily="2" charset="-122"/>
              </a:rPr>
              <a:t>右规最多只有一次</a:t>
            </a:r>
            <a:endParaRPr lang="zh-CN" altLang="en-US" sz="2400" dirty="0">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26" name="对象 3"/>
          <p:cNvGraphicFramePr>
            <a:graphicFrameLocks noChangeAspect="1"/>
          </p:cNvGraphicFramePr>
          <p:nvPr/>
        </p:nvGraphicFramePr>
        <p:xfrm>
          <a:off x="492125" y="3924300"/>
          <a:ext cx="8183563" cy="2600325"/>
        </p:xfrm>
        <a:graphic>
          <a:graphicData uri="http://schemas.openxmlformats.org/presentationml/2006/ole">
            <mc:AlternateContent xmlns:mc="http://schemas.openxmlformats.org/markup-compatibility/2006">
              <mc:Choice xmlns:v="urn:schemas-microsoft-com:vml" Requires="v">
                <p:oleObj spid="_x0000_s129170" name="位图图像" r:id="rId3" imgW="8183117" imgH="2600000" progId="PBrush">
                  <p:embed/>
                </p:oleObj>
              </mc:Choice>
              <mc:Fallback>
                <p:oleObj name="位图图像" r:id="rId3" imgW="8183117" imgH="2600000" progId="PBrush">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25" y="3924300"/>
                        <a:ext cx="8183563"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27" name="矩形 4"/>
          <p:cNvSpPr>
            <a:spLocks noChangeArrowheads="1"/>
          </p:cNvSpPr>
          <p:nvPr/>
        </p:nvSpPr>
        <p:spPr bwMode="auto">
          <a:xfrm>
            <a:off x="395288" y="260350"/>
            <a:ext cx="7416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solidFill>
                  <a:srgbClr val="FF0000"/>
                </a:solidFill>
                <a:latin typeface="黑体" pitchFamily="2" charset="-122"/>
                <a:ea typeface="黑体" pitchFamily="2" charset="-122"/>
              </a:rPr>
              <a:t>尾数运算结果的符号位与最高数值位不同值</a:t>
            </a:r>
            <a:endParaRPr lang="en-US" altLang="zh-CN" sz="2400" dirty="0">
              <a:solidFill>
                <a:srgbClr val="FF0000"/>
              </a:solidFill>
              <a:latin typeface="黑体" pitchFamily="2" charset="-122"/>
              <a:ea typeface="黑体" pitchFamily="2" charset="-122"/>
            </a:endParaRPr>
          </a:p>
          <a:p>
            <a:pPr>
              <a:lnSpc>
                <a:spcPct val="150000"/>
              </a:lnSpc>
            </a:pPr>
            <a:r>
              <a:rPr lang="en-US" altLang="zh-CN" sz="2400" dirty="0">
                <a:solidFill>
                  <a:srgbClr val="FF0000"/>
                </a:solidFill>
                <a:latin typeface="黑体" pitchFamily="2" charset="-122"/>
                <a:ea typeface="黑体" pitchFamily="2" charset="-122"/>
              </a:rPr>
              <a:t>                               -- </a:t>
            </a:r>
            <a:r>
              <a:rPr lang="zh-CN" altLang="en-US" sz="2400" dirty="0">
                <a:solidFill>
                  <a:srgbClr val="FF0000"/>
                </a:solidFill>
                <a:latin typeface="黑体" pitchFamily="2" charset="-122"/>
                <a:ea typeface="黑体" pitchFamily="2" charset="-122"/>
              </a:rPr>
              <a:t>已是规格化数</a:t>
            </a:r>
          </a:p>
          <a:p>
            <a:pPr>
              <a:lnSpc>
                <a:spcPct val="150000"/>
              </a:lnSpc>
            </a:pPr>
            <a:r>
              <a:rPr lang="zh-CN" altLang="en-US" sz="2400" dirty="0">
                <a:solidFill>
                  <a:srgbClr val="FF0000"/>
                </a:solidFill>
                <a:latin typeface="黑体" pitchFamily="2" charset="-122"/>
                <a:ea typeface="黑体" pitchFamily="2" charset="-122"/>
              </a:rPr>
              <a:t>尾数运算结果的符号位与最高数值位同值</a:t>
            </a:r>
            <a:endParaRPr lang="en-US" altLang="zh-CN" sz="2400" dirty="0">
              <a:solidFill>
                <a:srgbClr val="FF0000"/>
              </a:solidFill>
              <a:latin typeface="黑体" pitchFamily="2" charset="-122"/>
              <a:ea typeface="黑体" pitchFamily="2" charset="-122"/>
            </a:endParaRPr>
          </a:p>
          <a:p>
            <a:pPr>
              <a:lnSpc>
                <a:spcPct val="150000"/>
              </a:lnSpc>
            </a:pPr>
            <a:r>
              <a:rPr lang="en-US" altLang="zh-CN" sz="2400" dirty="0">
                <a:solidFill>
                  <a:srgbClr val="FF0000"/>
                </a:solidFill>
                <a:latin typeface="黑体" pitchFamily="2" charset="-122"/>
                <a:ea typeface="黑体" pitchFamily="2" charset="-122"/>
              </a:rPr>
              <a:t>                  </a:t>
            </a:r>
            <a:r>
              <a:rPr lang="zh-CN" altLang="en-US" sz="2400" dirty="0">
                <a:solidFill>
                  <a:srgbClr val="FF0000"/>
                </a:solidFill>
                <a:latin typeface="黑体" pitchFamily="2" charset="-122"/>
                <a:ea typeface="黑体" pitchFamily="2" charset="-122"/>
              </a:rPr>
              <a:t>    </a:t>
            </a:r>
            <a:r>
              <a:rPr lang="en-US" altLang="zh-CN" sz="2400" dirty="0">
                <a:solidFill>
                  <a:srgbClr val="FF0000"/>
                </a:solidFill>
                <a:latin typeface="黑体" pitchFamily="2" charset="-122"/>
                <a:ea typeface="黑体" pitchFamily="2" charset="-122"/>
              </a:rPr>
              <a:t>-- </a:t>
            </a:r>
            <a:r>
              <a:rPr lang="zh-CN" altLang="en-US" sz="2400" dirty="0">
                <a:solidFill>
                  <a:srgbClr val="FF0000"/>
                </a:solidFill>
                <a:latin typeface="黑体" pitchFamily="2" charset="-122"/>
                <a:ea typeface="黑体" pitchFamily="2" charset="-122"/>
              </a:rPr>
              <a:t>左规处理，可以执行多次</a:t>
            </a:r>
          </a:p>
          <a:p>
            <a:pPr>
              <a:lnSpc>
                <a:spcPct val="150000"/>
              </a:lnSpc>
            </a:pPr>
            <a:r>
              <a:rPr lang="zh-CN" altLang="en-US" sz="2400" dirty="0">
                <a:solidFill>
                  <a:srgbClr val="FF0000"/>
                </a:solidFill>
                <a:latin typeface="黑体" pitchFamily="2" charset="-122"/>
                <a:ea typeface="黑体" pitchFamily="2" charset="-122"/>
              </a:rPr>
              <a:t>尾数运算结果溢出             </a:t>
            </a:r>
            <a:endParaRPr lang="en-US" altLang="zh-CN" sz="2400" dirty="0">
              <a:solidFill>
                <a:srgbClr val="FF0000"/>
              </a:solidFill>
              <a:latin typeface="黑体" pitchFamily="2" charset="-122"/>
              <a:ea typeface="黑体" pitchFamily="2" charset="-122"/>
            </a:endParaRPr>
          </a:p>
          <a:p>
            <a:pPr>
              <a:lnSpc>
                <a:spcPct val="150000"/>
              </a:lnSpc>
            </a:pPr>
            <a:r>
              <a:rPr lang="en-US" altLang="zh-CN" sz="2400" dirty="0">
                <a:solidFill>
                  <a:srgbClr val="FF0000"/>
                </a:solidFill>
                <a:latin typeface="黑体" pitchFamily="2" charset="-122"/>
                <a:ea typeface="黑体" pitchFamily="2" charset="-122"/>
              </a:rPr>
              <a:t>                      -- </a:t>
            </a:r>
            <a:r>
              <a:rPr lang="zh-CN" altLang="en-US" sz="2400" dirty="0">
                <a:solidFill>
                  <a:srgbClr val="FF0000"/>
                </a:solidFill>
                <a:latin typeface="黑体" pitchFamily="2" charset="-122"/>
                <a:ea typeface="黑体" pitchFamily="2" charset="-122"/>
              </a:rPr>
              <a:t>右规处理，只执行一次</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p:cNvSpPr>
            <a:spLocks noChangeArrowheads="1"/>
          </p:cNvSpPr>
          <p:nvPr/>
        </p:nvSpPr>
        <p:spPr bwMode="auto">
          <a:xfrm>
            <a:off x="250825" y="188913"/>
            <a:ext cx="8642350" cy="6408737"/>
          </a:xfrm>
          <a:prstGeom prst="rect">
            <a:avLst/>
          </a:prstGeom>
          <a:noFill/>
          <a:ln>
            <a:noFill/>
          </a:ln>
          <a:extLst/>
        </p:spPr>
        <p:txBody>
          <a:bodyPr>
            <a:spAutoFit/>
          </a:bodyPr>
          <a:lstStyle/>
          <a:p>
            <a:pPr>
              <a:lnSpc>
                <a:spcPct val="114000"/>
              </a:lnSpc>
              <a:spcBef>
                <a:spcPts val="0"/>
              </a:spcBef>
              <a:defRPr/>
            </a:pPr>
            <a:r>
              <a:rPr lang="en-US" altLang="zh-CN" sz="2000" dirty="0">
                <a:latin typeface="黑体" pitchFamily="2" charset="-122"/>
                <a:ea typeface="黑体" pitchFamily="2" charset="-122"/>
              </a:rPr>
              <a:t>(5) </a:t>
            </a:r>
            <a:r>
              <a:rPr lang="zh-CN" altLang="en-US" sz="2000" dirty="0">
                <a:latin typeface="黑体" pitchFamily="2" charset="-122"/>
                <a:ea typeface="黑体" pitchFamily="2" charset="-122"/>
              </a:rPr>
              <a:t>舍入处理</a:t>
            </a:r>
          </a:p>
          <a:p>
            <a:pPr>
              <a:lnSpc>
                <a:spcPct val="114000"/>
              </a:lnSpc>
              <a:spcBef>
                <a:spcPts val="0"/>
              </a:spcBef>
              <a:defRPr/>
            </a:pPr>
            <a:r>
              <a:rPr lang="zh-CN" altLang="en-US" sz="2000" dirty="0">
                <a:latin typeface="黑体" pitchFamily="2" charset="-122"/>
                <a:ea typeface="黑体" pitchFamily="2" charset="-122"/>
              </a:rPr>
              <a:t>　　在对阶或向右规格化时</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尾数要向右移位</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这样</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被右移的尾数的</a:t>
            </a:r>
            <a:endParaRPr lang="en-US" altLang="zh-CN" sz="2000" dirty="0">
              <a:latin typeface="黑体" pitchFamily="2" charset="-122"/>
              <a:ea typeface="黑体" pitchFamily="2" charset="-122"/>
            </a:endParaRPr>
          </a:p>
          <a:p>
            <a:pPr>
              <a:lnSpc>
                <a:spcPct val="114000"/>
              </a:lnSpc>
              <a:spcBef>
                <a:spcPts val="0"/>
              </a:spcBef>
              <a:defRPr/>
            </a:pPr>
            <a:r>
              <a:rPr lang="zh-CN" altLang="en-US" sz="2000" dirty="0">
                <a:latin typeface="黑体" pitchFamily="2" charset="-122"/>
                <a:ea typeface="黑体" pitchFamily="2" charset="-122"/>
              </a:rPr>
              <a:t>低位部分会被丢掉</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从而造成一定误差</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因此要进行舍入处理。</a:t>
            </a:r>
          </a:p>
          <a:p>
            <a:pPr>
              <a:lnSpc>
                <a:spcPct val="114000"/>
              </a:lnSpc>
              <a:spcBef>
                <a:spcPts val="0"/>
              </a:spcBef>
              <a:defRPr/>
            </a:pPr>
            <a:r>
              <a:rPr lang="zh-CN" altLang="en-US" sz="2000" dirty="0">
                <a:latin typeface="黑体" pitchFamily="2" charset="-122"/>
                <a:ea typeface="黑体" pitchFamily="2" charset="-122"/>
              </a:rPr>
              <a:t>　　在</a:t>
            </a:r>
            <a:r>
              <a:rPr lang="en-US" altLang="zh-CN" sz="2000" dirty="0">
                <a:latin typeface="黑体" pitchFamily="2" charset="-122"/>
                <a:ea typeface="黑体" pitchFamily="2" charset="-122"/>
              </a:rPr>
              <a:t>IEEE754</a:t>
            </a:r>
            <a:r>
              <a:rPr lang="zh-CN" altLang="en-US" sz="2000" dirty="0">
                <a:latin typeface="黑体" pitchFamily="2" charset="-122"/>
                <a:ea typeface="黑体" pitchFamily="2" charset="-122"/>
              </a:rPr>
              <a:t>标准中</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舍入处理提供了四种可选方法：</a:t>
            </a:r>
          </a:p>
          <a:p>
            <a:pPr eaLnBrk="0" hangingPunct="0">
              <a:lnSpc>
                <a:spcPct val="114000"/>
              </a:lnSpc>
              <a:spcBef>
                <a:spcPts val="0"/>
              </a:spcBef>
              <a:defRPr/>
            </a:pPr>
            <a:r>
              <a:rPr lang="zh-CN" altLang="en-US" sz="2000" dirty="0">
                <a:latin typeface="黑体" pitchFamily="2" charset="-122"/>
                <a:ea typeface="黑体" pitchFamily="2" charset="-122"/>
              </a:rPr>
              <a:t>　　</a:t>
            </a:r>
            <a:r>
              <a:rPr lang="zh-CN" altLang="en-US" sz="2000" dirty="0">
                <a:solidFill>
                  <a:srgbClr val="FF0000"/>
                </a:solidFill>
                <a:latin typeface="黑体" pitchFamily="2" charset="-122"/>
                <a:ea typeface="黑体" pitchFamily="2" charset="-122"/>
              </a:rPr>
              <a:t>就近舍入（</a:t>
            </a:r>
            <a:r>
              <a:rPr lang="zh-CN" altLang="en-US" sz="2000" dirty="0">
                <a:latin typeface="黑体" pitchFamily="2" charset="-122"/>
                <a:ea typeface="黑体" pitchFamily="2" charset="-122"/>
              </a:rPr>
              <a:t>四舍五入）多余位的值超过规定的最低有效位值的一半</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故最低有效位应增</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；小于最低有效位值的一半则简单截尾；等于最低有效位值的一半时，若最低有效位现为</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则截尾，若最低有效位现为</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则向上进一位使其变为</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a:t>
            </a:r>
            <a:endParaRPr lang="en-US" altLang="zh-CN" sz="2000" dirty="0">
              <a:latin typeface="黑体" pitchFamily="2" charset="-122"/>
              <a:ea typeface="黑体" pitchFamily="2" charset="-122"/>
            </a:endParaRPr>
          </a:p>
          <a:p>
            <a:pPr eaLnBrk="0" hangingPunct="0">
              <a:lnSpc>
                <a:spcPct val="114000"/>
              </a:lnSpc>
              <a:spcBef>
                <a:spcPts val="0"/>
              </a:spcBef>
              <a:defRPr/>
            </a:pPr>
            <a:r>
              <a:rPr lang="en-US" altLang="zh-CN" sz="2000" dirty="0">
                <a:solidFill>
                  <a:schemeClr val="tx2">
                    <a:lumMod val="60000"/>
                    <a:lumOff val="40000"/>
                  </a:schemeClr>
                </a:solidFill>
                <a:latin typeface="黑体" pitchFamily="2" charset="-122"/>
                <a:ea typeface="黑体" pitchFamily="2" charset="-122"/>
              </a:rPr>
              <a:t>    </a:t>
            </a:r>
            <a:r>
              <a:rPr lang="zh-CN" altLang="en-US" sz="2000" dirty="0">
                <a:solidFill>
                  <a:schemeClr val="tx2">
                    <a:lumMod val="60000"/>
                    <a:lumOff val="40000"/>
                  </a:schemeClr>
                </a:solidFill>
                <a:latin typeface="黑体" pitchFamily="2" charset="-122"/>
                <a:ea typeface="黑体" pitchFamily="2" charset="-122"/>
              </a:rPr>
              <a:t>多余位</a:t>
            </a:r>
            <a:r>
              <a:rPr lang="en-US" altLang="zh-CN" sz="2000" dirty="0">
                <a:solidFill>
                  <a:schemeClr val="tx2">
                    <a:lumMod val="60000"/>
                    <a:lumOff val="40000"/>
                  </a:schemeClr>
                </a:solidFill>
                <a:latin typeface="黑体" pitchFamily="2" charset="-122"/>
                <a:ea typeface="黑体" pitchFamily="2" charset="-122"/>
              </a:rPr>
              <a:t>(A),</a:t>
            </a:r>
            <a:r>
              <a:rPr lang="zh-CN" altLang="en-US" sz="2000" dirty="0">
                <a:solidFill>
                  <a:schemeClr val="tx2">
                    <a:lumMod val="60000"/>
                    <a:lumOff val="40000"/>
                  </a:schemeClr>
                </a:solidFill>
                <a:latin typeface="黑体" pitchFamily="2" charset="-122"/>
                <a:ea typeface="黑体" pitchFamily="2" charset="-122"/>
              </a:rPr>
              <a:t>最低有效位值的一半</a:t>
            </a:r>
            <a:r>
              <a:rPr lang="en-US" altLang="zh-CN" sz="2000" dirty="0">
                <a:solidFill>
                  <a:schemeClr val="tx2">
                    <a:lumMod val="60000"/>
                    <a:lumOff val="40000"/>
                  </a:schemeClr>
                </a:solidFill>
                <a:latin typeface="黑体" pitchFamily="2" charset="-122"/>
                <a:ea typeface="黑体" pitchFamily="2" charset="-122"/>
              </a:rPr>
              <a:t>(B),</a:t>
            </a:r>
            <a:r>
              <a:rPr lang="zh-CN" altLang="en-US" sz="2000" dirty="0">
                <a:solidFill>
                  <a:schemeClr val="tx2">
                    <a:lumMod val="60000"/>
                    <a:lumOff val="40000"/>
                  </a:schemeClr>
                </a:solidFill>
                <a:latin typeface="黑体" pitchFamily="2" charset="-122"/>
                <a:ea typeface="黑体" pitchFamily="2" charset="-122"/>
              </a:rPr>
              <a:t>最低有效位</a:t>
            </a:r>
            <a:r>
              <a:rPr lang="en-US" altLang="zh-CN" sz="2000" dirty="0">
                <a:solidFill>
                  <a:schemeClr val="tx2">
                    <a:lumMod val="60000"/>
                    <a:lumOff val="40000"/>
                  </a:schemeClr>
                </a:solidFill>
                <a:latin typeface="黑体" pitchFamily="2" charset="-122"/>
                <a:ea typeface="黑体" pitchFamily="2" charset="-122"/>
              </a:rPr>
              <a:t>(C)</a:t>
            </a:r>
          </a:p>
          <a:p>
            <a:pPr eaLnBrk="0" hangingPunct="0">
              <a:lnSpc>
                <a:spcPct val="114000"/>
              </a:lnSpc>
              <a:spcBef>
                <a:spcPts val="0"/>
              </a:spcBef>
              <a:defRPr/>
            </a:pPr>
            <a:r>
              <a:rPr lang="en-US" altLang="zh-CN" sz="2000" dirty="0">
                <a:solidFill>
                  <a:schemeClr val="tx2">
                    <a:lumMod val="60000"/>
                    <a:lumOff val="40000"/>
                  </a:schemeClr>
                </a:solidFill>
                <a:latin typeface="黑体" pitchFamily="2" charset="-122"/>
                <a:ea typeface="黑体" pitchFamily="2" charset="-122"/>
              </a:rPr>
              <a:t>    A &gt; B   C+1</a:t>
            </a:r>
            <a:r>
              <a:rPr lang="zh-CN" altLang="en-US" sz="2000" dirty="0">
                <a:solidFill>
                  <a:schemeClr val="tx2">
                    <a:lumMod val="60000"/>
                    <a:lumOff val="40000"/>
                  </a:schemeClr>
                </a:solidFill>
                <a:latin typeface="黑体" pitchFamily="2" charset="-122"/>
                <a:ea typeface="黑体" pitchFamily="2" charset="-122"/>
              </a:rPr>
              <a:t>、 </a:t>
            </a:r>
            <a:r>
              <a:rPr lang="en-US" altLang="zh-CN" sz="2000" dirty="0">
                <a:solidFill>
                  <a:schemeClr val="tx2">
                    <a:lumMod val="60000"/>
                    <a:lumOff val="40000"/>
                  </a:schemeClr>
                </a:solidFill>
                <a:latin typeface="黑体" pitchFamily="2" charset="-122"/>
                <a:ea typeface="黑体" pitchFamily="2" charset="-122"/>
              </a:rPr>
              <a:t>A &lt; B   C</a:t>
            </a:r>
            <a:r>
              <a:rPr lang="zh-CN" altLang="en-US" sz="2000" dirty="0">
                <a:solidFill>
                  <a:schemeClr val="tx2">
                    <a:lumMod val="60000"/>
                    <a:lumOff val="40000"/>
                  </a:schemeClr>
                </a:solidFill>
                <a:latin typeface="黑体" pitchFamily="2" charset="-122"/>
                <a:ea typeface="黑体" pitchFamily="2" charset="-122"/>
              </a:rPr>
              <a:t>不变</a:t>
            </a:r>
          </a:p>
          <a:p>
            <a:pPr eaLnBrk="0" hangingPunct="0">
              <a:lnSpc>
                <a:spcPct val="114000"/>
              </a:lnSpc>
              <a:spcBef>
                <a:spcPts val="0"/>
              </a:spcBef>
              <a:defRPr/>
            </a:pPr>
            <a:r>
              <a:rPr lang="zh-CN" altLang="en-US" sz="2000" dirty="0">
                <a:solidFill>
                  <a:schemeClr val="tx2">
                    <a:lumMod val="60000"/>
                    <a:lumOff val="40000"/>
                  </a:schemeClr>
                </a:solidFill>
                <a:latin typeface="黑体" pitchFamily="2" charset="-122"/>
                <a:ea typeface="黑体" pitchFamily="2" charset="-122"/>
              </a:rPr>
              <a:t>    </a:t>
            </a:r>
            <a:r>
              <a:rPr lang="en-US" altLang="zh-CN" sz="2000" dirty="0">
                <a:solidFill>
                  <a:schemeClr val="tx2">
                    <a:lumMod val="60000"/>
                    <a:lumOff val="40000"/>
                  </a:schemeClr>
                </a:solidFill>
                <a:latin typeface="黑体" pitchFamily="2" charset="-122"/>
                <a:ea typeface="黑体" pitchFamily="2" charset="-122"/>
              </a:rPr>
              <a:t>A = B   C=1   C+1   C=0   C</a:t>
            </a:r>
            <a:r>
              <a:rPr lang="zh-CN" altLang="en-US" sz="2000" dirty="0">
                <a:solidFill>
                  <a:schemeClr val="tx2">
                    <a:lumMod val="60000"/>
                    <a:lumOff val="40000"/>
                  </a:schemeClr>
                </a:solidFill>
                <a:latin typeface="黑体" pitchFamily="2" charset="-122"/>
                <a:ea typeface="黑体" pitchFamily="2" charset="-122"/>
              </a:rPr>
              <a:t>不变</a:t>
            </a:r>
            <a:endParaRPr lang="zh-CN" altLang="en-US" sz="2000" dirty="0">
              <a:latin typeface="黑体" pitchFamily="2" charset="-122"/>
              <a:ea typeface="黑体" pitchFamily="2" charset="-122"/>
            </a:endParaRPr>
          </a:p>
          <a:p>
            <a:pPr>
              <a:lnSpc>
                <a:spcPct val="114000"/>
              </a:lnSpc>
              <a:spcBef>
                <a:spcPts val="0"/>
              </a:spcBef>
              <a:defRPr/>
            </a:pPr>
            <a:r>
              <a:rPr lang="zh-CN" altLang="en-US" sz="2000" dirty="0">
                <a:latin typeface="黑体" pitchFamily="2" charset="-122"/>
                <a:ea typeface="黑体" pitchFamily="2" charset="-122"/>
              </a:rPr>
              <a:t>　　</a:t>
            </a:r>
            <a:r>
              <a:rPr lang="zh-CN" altLang="en-US" sz="2000" dirty="0">
                <a:solidFill>
                  <a:srgbClr val="FF0000"/>
                </a:solidFill>
                <a:latin typeface="黑体" pitchFamily="2" charset="-122"/>
                <a:ea typeface="黑体" pitchFamily="2" charset="-122"/>
              </a:rPr>
              <a:t>朝</a:t>
            </a:r>
            <a:r>
              <a:rPr lang="en-US" altLang="zh-CN" sz="2000" dirty="0">
                <a:solidFill>
                  <a:srgbClr val="FF0000"/>
                </a:solidFill>
                <a:latin typeface="黑体" pitchFamily="2" charset="-122"/>
                <a:ea typeface="黑体" pitchFamily="2" charset="-122"/>
              </a:rPr>
              <a:t>0</a:t>
            </a:r>
            <a:r>
              <a:rPr lang="zh-CN" altLang="en-US" sz="2000" dirty="0">
                <a:solidFill>
                  <a:srgbClr val="FF0000"/>
                </a:solidFill>
                <a:latin typeface="黑体" pitchFamily="2" charset="-122"/>
                <a:ea typeface="黑体" pitchFamily="2" charset="-122"/>
              </a:rPr>
              <a:t>舍入</a:t>
            </a:r>
            <a:r>
              <a:rPr lang="zh-CN" altLang="en-US" sz="2000" dirty="0">
                <a:latin typeface="黑体" pitchFamily="2" charset="-122"/>
                <a:ea typeface="黑体" pitchFamily="2" charset="-122"/>
              </a:rPr>
              <a:t> 即朝数轴原点方向舍入</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就是简单的截尾。无论尾数是正数还是负数</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截尾都使取值的绝对值比原值的绝对值小。这种方法容易导致误差积累。</a:t>
            </a:r>
          </a:p>
          <a:p>
            <a:pPr>
              <a:lnSpc>
                <a:spcPct val="114000"/>
              </a:lnSpc>
              <a:spcBef>
                <a:spcPts val="0"/>
              </a:spcBef>
              <a:defRPr/>
            </a:pPr>
            <a:r>
              <a:rPr lang="zh-CN" altLang="en-US" sz="2000" dirty="0">
                <a:latin typeface="黑体" pitchFamily="2" charset="-122"/>
                <a:ea typeface="黑体" pitchFamily="2" charset="-122"/>
              </a:rPr>
              <a:t>　　</a:t>
            </a:r>
            <a:r>
              <a:rPr lang="zh-CN" altLang="en-US" sz="2000" dirty="0">
                <a:solidFill>
                  <a:srgbClr val="FF0000"/>
                </a:solidFill>
                <a:latin typeface="黑体" pitchFamily="2" charset="-122"/>
                <a:ea typeface="黑体" pitchFamily="2" charset="-122"/>
              </a:rPr>
              <a:t>朝＋∞舍入</a:t>
            </a:r>
            <a:r>
              <a:rPr lang="zh-CN" altLang="en-US" sz="2000" dirty="0">
                <a:latin typeface="黑体" pitchFamily="2" charset="-122"/>
                <a:ea typeface="黑体" pitchFamily="2" charset="-122"/>
              </a:rPr>
              <a:t> 对正数来说</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只要多余位不全为</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则向最低有效位进</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对负数来说则是简单的截尾。</a:t>
            </a:r>
          </a:p>
          <a:p>
            <a:pPr>
              <a:lnSpc>
                <a:spcPct val="114000"/>
              </a:lnSpc>
              <a:spcBef>
                <a:spcPts val="0"/>
              </a:spcBef>
              <a:defRPr/>
            </a:pPr>
            <a:r>
              <a:rPr lang="zh-CN" altLang="en-US" sz="2000" dirty="0">
                <a:latin typeface="黑体" pitchFamily="2" charset="-122"/>
                <a:ea typeface="黑体" pitchFamily="2" charset="-122"/>
              </a:rPr>
              <a:t>　　</a:t>
            </a:r>
            <a:r>
              <a:rPr lang="zh-CN" altLang="en-US" sz="2000" dirty="0">
                <a:solidFill>
                  <a:srgbClr val="FF0000"/>
                </a:solidFill>
                <a:latin typeface="黑体" pitchFamily="2" charset="-122"/>
                <a:ea typeface="黑体" pitchFamily="2" charset="-122"/>
              </a:rPr>
              <a:t>朝－∞舍入</a:t>
            </a:r>
            <a:r>
              <a:rPr lang="zh-CN" altLang="en-US" sz="2000" dirty="0">
                <a:latin typeface="黑体" pitchFamily="2" charset="-122"/>
                <a:ea typeface="黑体" pitchFamily="2" charset="-122"/>
              </a:rPr>
              <a:t> 处理方法正好与 朝＋∞舍入情况相反。对正数来说</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只要多余位不全为</a:t>
            </a:r>
            <a:r>
              <a:rPr lang="en-US" altLang="zh-CN" sz="2000" dirty="0">
                <a:latin typeface="黑体" pitchFamily="2" charset="-122"/>
                <a:ea typeface="黑体" pitchFamily="2" charset="-122"/>
              </a:rPr>
              <a:t>0</a:t>
            </a:r>
            <a:r>
              <a:rPr lang="zh-CN" altLang="en-US" sz="2000" dirty="0">
                <a:latin typeface="黑体" pitchFamily="2" charset="-122"/>
                <a:ea typeface="黑体" pitchFamily="2" charset="-122"/>
              </a:rPr>
              <a:t>则简单截尾</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对负数来说</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向最低有效位进</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
          <p:cNvSpPr>
            <a:spLocks noChangeArrowheads="1"/>
          </p:cNvSpPr>
          <p:nvPr/>
        </p:nvSpPr>
        <p:spPr bwMode="auto">
          <a:xfrm>
            <a:off x="149225" y="257175"/>
            <a:ext cx="8815388" cy="648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10000"/>
              </a:lnSpc>
            </a:pPr>
            <a:r>
              <a:rPr lang="zh-CN" altLang="zh-CN" sz="2000">
                <a:solidFill>
                  <a:srgbClr val="FF0000"/>
                </a:solidFill>
                <a:latin typeface="黑体" pitchFamily="2" charset="-122"/>
                <a:ea typeface="黑体" pitchFamily="2" charset="-122"/>
              </a:rPr>
              <a:t>(6) 浮点数的溢出</a:t>
            </a:r>
            <a:endParaRPr lang="zh-CN" altLang="zh-CN" sz="2000">
              <a:latin typeface="黑体" pitchFamily="2" charset="-122"/>
              <a:ea typeface="黑体" pitchFamily="2" charset="-122"/>
            </a:endParaRPr>
          </a:p>
          <a:p>
            <a:pPr eaLnBrk="0" hangingPunct="0">
              <a:lnSpc>
                <a:spcPct val="110000"/>
              </a:lnSpc>
            </a:pPr>
            <a:r>
              <a:rPr lang="zh-CN" altLang="zh-CN" sz="2000">
                <a:solidFill>
                  <a:srgbClr val="000000"/>
                </a:solidFill>
                <a:latin typeface="黑体" pitchFamily="2" charset="-122"/>
                <a:ea typeface="黑体" pitchFamily="2" charset="-122"/>
              </a:rPr>
              <a:t>　　下图表示了浮点机器数在数轴上的分布情况。</a:t>
            </a:r>
            <a:endParaRPr lang="zh-CN" altLang="zh-CN" sz="2000">
              <a:latin typeface="黑体" pitchFamily="2" charset="-122"/>
              <a:ea typeface="黑体" pitchFamily="2" charset="-122"/>
            </a:endParaRPr>
          </a:p>
          <a:p>
            <a:pPr eaLnBrk="0" hangingPunct="0">
              <a:lnSpc>
                <a:spcPct val="110000"/>
              </a:lnSpc>
            </a:pPr>
            <a:r>
              <a:rPr lang="zh-CN" altLang="zh-CN" sz="2000">
                <a:solidFill>
                  <a:srgbClr val="000000"/>
                </a:solidFill>
                <a:latin typeface="黑体" pitchFamily="2" charset="-122"/>
                <a:ea typeface="黑体" pitchFamily="2" charset="-122"/>
              </a:rPr>
              <a:t>  </a:t>
            </a:r>
            <a:endParaRPr lang="en-US" altLang="zh-CN" sz="2000">
              <a:solidFill>
                <a:srgbClr val="000000"/>
              </a:solidFill>
              <a:latin typeface="黑体" pitchFamily="2" charset="-122"/>
              <a:ea typeface="黑体" pitchFamily="2" charset="-122"/>
            </a:endParaRPr>
          </a:p>
          <a:p>
            <a:pPr eaLnBrk="0" hangingPunct="0">
              <a:lnSpc>
                <a:spcPct val="110000"/>
              </a:lnSpc>
            </a:pPr>
            <a:endParaRPr lang="en-US" altLang="zh-CN" sz="2000">
              <a:solidFill>
                <a:srgbClr val="000000"/>
              </a:solidFill>
              <a:latin typeface="黑体" pitchFamily="2" charset="-122"/>
              <a:ea typeface="黑体" pitchFamily="2" charset="-122"/>
            </a:endParaRPr>
          </a:p>
          <a:p>
            <a:pPr eaLnBrk="0" hangingPunct="0">
              <a:lnSpc>
                <a:spcPct val="110000"/>
              </a:lnSpc>
            </a:pPr>
            <a:r>
              <a:rPr lang="zh-CN" altLang="zh-CN" sz="2000">
                <a:solidFill>
                  <a:srgbClr val="000000"/>
                </a:solidFill>
                <a:latin typeface="黑体" pitchFamily="2" charset="-122"/>
                <a:ea typeface="黑体" pitchFamily="2" charset="-122"/>
              </a:rPr>
              <a:t>　</a:t>
            </a:r>
            <a:endParaRPr lang="en-US" altLang="zh-CN" sz="2000">
              <a:solidFill>
                <a:srgbClr val="000000"/>
              </a:solidFill>
              <a:latin typeface="黑体" pitchFamily="2" charset="-122"/>
              <a:ea typeface="黑体" pitchFamily="2" charset="-122"/>
            </a:endParaRPr>
          </a:p>
          <a:p>
            <a:pPr eaLnBrk="0" hangingPunct="0">
              <a:lnSpc>
                <a:spcPct val="110000"/>
              </a:lnSpc>
            </a:pPr>
            <a:endParaRPr lang="en-US" altLang="zh-CN" sz="2000">
              <a:solidFill>
                <a:srgbClr val="000000"/>
              </a:solidFill>
              <a:latin typeface="黑体" pitchFamily="2" charset="-122"/>
              <a:ea typeface="黑体" pitchFamily="2" charset="-122"/>
            </a:endParaRPr>
          </a:p>
          <a:p>
            <a:pPr eaLnBrk="0" hangingPunct="0">
              <a:lnSpc>
                <a:spcPct val="110000"/>
              </a:lnSpc>
            </a:pPr>
            <a:r>
              <a:rPr lang="en-US" altLang="zh-CN" sz="2000">
                <a:solidFill>
                  <a:srgbClr val="FF0000"/>
                </a:solidFill>
                <a:latin typeface="黑体" pitchFamily="2" charset="-122"/>
                <a:ea typeface="黑体" pitchFamily="2" charset="-122"/>
              </a:rPr>
              <a:t>   </a:t>
            </a:r>
            <a:r>
              <a:rPr lang="zh-CN" altLang="zh-CN" sz="2000">
                <a:solidFill>
                  <a:srgbClr val="FF0000"/>
                </a:solidFill>
                <a:latin typeface="黑体" pitchFamily="2" charset="-122"/>
                <a:ea typeface="黑体" pitchFamily="2" charset="-122"/>
              </a:rPr>
              <a:t>上溢</a:t>
            </a:r>
            <a:r>
              <a:rPr lang="zh-CN" altLang="en-US" sz="2000">
                <a:solidFill>
                  <a:srgbClr val="FF0000"/>
                </a:solidFill>
                <a:latin typeface="黑体" pitchFamily="2" charset="-122"/>
                <a:ea typeface="黑体" pitchFamily="2" charset="-122"/>
              </a:rPr>
              <a:t>：</a:t>
            </a:r>
            <a:r>
              <a:rPr lang="zh-CN" altLang="zh-CN" sz="2000">
                <a:solidFill>
                  <a:srgbClr val="000000"/>
                </a:solidFill>
                <a:latin typeface="黑体" pitchFamily="2" charset="-122"/>
                <a:ea typeface="黑体" pitchFamily="2" charset="-122"/>
              </a:rPr>
              <a:t>机器浮点数表示</a:t>
            </a:r>
            <a:r>
              <a:rPr lang="zh-CN" altLang="en-US" sz="2000">
                <a:solidFill>
                  <a:srgbClr val="000000"/>
                </a:solidFill>
                <a:latin typeface="黑体" pitchFamily="2" charset="-122"/>
                <a:ea typeface="黑体" pitchFamily="2" charset="-122"/>
              </a:rPr>
              <a:t>的</a:t>
            </a:r>
            <a:r>
              <a:rPr lang="zh-CN" altLang="zh-CN" sz="2000">
                <a:solidFill>
                  <a:srgbClr val="000000"/>
                </a:solidFill>
                <a:latin typeface="黑体" pitchFamily="2" charset="-122"/>
                <a:ea typeface="黑体" pitchFamily="2" charset="-122"/>
              </a:rPr>
              <a:t>机器浮点数值大于最大正数A值，或小于最小负数B值</a:t>
            </a:r>
            <a:r>
              <a:rPr lang="zh-CN" altLang="en-US" sz="2000">
                <a:solidFill>
                  <a:srgbClr val="000000"/>
                </a:solidFill>
                <a:latin typeface="黑体" pitchFamily="2" charset="-122"/>
                <a:ea typeface="黑体" pitchFamily="2" charset="-122"/>
              </a:rPr>
              <a:t>，</a:t>
            </a:r>
            <a:r>
              <a:rPr lang="zh-CN" altLang="zh-CN" sz="2000">
                <a:solidFill>
                  <a:srgbClr val="000000"/>
                </a:solidFill>
                <a:latin typeface="黑体" pitchFamily="2" charset="-122"/>
                <a:ea typeface="黑体" pitchFamily="2" charset="-122"/>
              </a:rPr>
              <a:t>这两种情况意味着阶码运算值超出了它所表示的范围</a:t>
            </a:r>
            <a:r>
              <a:rPr lang="zh-CN" altLang="en-US" sz="2000">
                <a:solidFill>
                  <a:srgbClr val="000000"/>
                </a:solidFill>
                <a:latin typeface="黑体" pitchFamily="2" charset="-122"/>
                <a:ea typeface="黑体" pitchFamily="2" charset="-122"/>
              </a:rPr>
              <a:t>。</a:t>
            </a:r>
            <a:endParaRPr lang="en-US" altLang="zh-CN" sz="2000">
              <a:solidFill>
                <a:srgbClr val="000000"/>
              </a:solidFill>
              <a:latin typeface="黑体" pitchFamily="2" charset="-122"/>
              <a:ea typeface="黑体" pitchFamily="2" charset="-122"/>
            </a:endParaRPr>
          </a:p>
          <a:p>
            <a:pPr eaLnBrk="0" hangingPunct="0">
              <a:lnSpc>
                <a:spcPct val="110000"/>
              </a:lnSpc>
            </a:pPr>
            <a:r>
              <a:rPr lang="en-US" altLang="zh-CN" sz="2000">
                <a:solidFill>
                  <a:srgbClr val="FF0000"/>
                </a:solidFill>
                <a:latin typeface="黑体" pitchFamily="2" charset="-122"/>
                <a:ea typeface="黑体" pitchFamily="2" charset="-122"/>
              </a:rPr>
              <a:t>   </a:t>
            </a:r>
            <a:r>
              <a:rPr lang="zh-CN" altLang="zh-CN" sz="2000">
                <a:solidFill>
                  <a:srgbClr val="FF0000"/>
                </a:solidFill>
                <a:latin typeface="黑体" pitchFamily="2" charset="-122"/>
                <a:ea typeface="黑体" pitchFamily="2" charset="-122"/>
              </a:rPr>
              <a:t>下溢</a:t>
            </a:r>
            <a:r>
              <a:rPr lang="zh-CN" altLang="en-US" sz="2000">
                <a:solidFill>
                  <a:srgbClr val="FF0000"/>
                </a:solidFill>
                <a:latin typeface="黑体" pitchFamily="2" charset="-122"/>
                <a:ea typeface="黑体" pitchFamily="2" charset="-122"/>
              </a:rPr>
              <a:t>：</a:t>
            </a:r>
            <a:r>
              <a:rPr lang="zh-CN" altLang="zh-CN" sz="2000">
                <a:solidFill>
                  <a:srgbClr val="000000"/>
                </a:solidFill>
                <a:latin typeface="黑体" pitchFamily="2" charset="-122"/>
                <a:ea typeface="黑体" pitchFamily="2" charset="-122"/>
              </a:rPr>
              <a:t>机器浮点数值小于最小正数a值，或大于最大负数b值，下溢不是一个严重问题，通常看作为机器零。</a:t>
            </a:r>
            <a:endParaRPr lang="en-US" altLang="zh-CN" sz="2000">
              <a:solidFill>
                <a:srgbClr val="000000"/>
              </a:solidFill>
              <a:latin typeface="黑体" pitchFamily="2" charset="-122"/>
              <a:ea typeface="黑体" pitchFamily="2" charset="-122"/>
            </a:endParaRPr>
          </a:p>
          <a:p>
            <a:pPr eaLnBrk="0" hangingPunct="0">
              <a:lnSpc>
                <a:spcPct val="11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在加\减运算过程中要检查是否产生了溢出：若当阶码正常,加(减)运算正常结束；若阶码溢出,则要进行相应处理。另外对尾数的溢出也需要处理。</a:t>
            </a:r>
            <a:endParaRPr lang="zh-CN" altLang="zh-CN" sz="2000">
              <a:latin typeface="黑体" pitchFamily="2" charset="-122"/>
              <a:ea typeface="黑体" pitchFamily="2" charset="-122"/>
            </a:endParaRPr>
          </a:p>
          <a:p>
            <a:pPr eaLnBrk="0" hangingPunct="0">
              <a:lnSpc>
                <a:spcPct val="110000"/>
              </a:lnSpc>
            </a:pPr>
            <a:r>
              <a:rPr lang="zh-CN" altLang="zh-CN" sz="2000">
                <a:solidFill>
                  <a:srgbClr val="000000"/>
                </a:solidFill>
                <a:latin typeface="黑体" pitchFamily="2" charset="-122"/>
                <a:ea typeface="黑体" pitchFamily="2" charset="-122"/>
              </a:rPr>
              <a:t>　　</a:t>
            </a:r>
            <a:r>
              <a:rPr lang="zh-CN" altLang="zh-CN" sz="2000">
                <a:solidFill>
                  <a:srgbClr val="FF0000"/>
                </a:solidFill>
                <a:latin typeface="黑体" pitchFamily="2" charset="-122"/>
                <a:ea typeface="黑体" pitchFamily="2" charset="-122"/>
              </a:rPr>
              <a:t>阶码上溢</a:t>
            </a:r>
            <a:r>
              <a:rPr lang="zh-CN" altLang="zh-CN" sz="2000">
                <a:solidFill>
                  <a:srgbClr val="000000"/>
                </a:solidFill>
                <a:latin typeface="黑体" pitchFamily="2" charset="-122"/>
                <a:ea typeface="黑体" pitchFamily="2" charset="-122"/>
              </a:rPr>
              <a:t> 超过了阶码可能表示的最大值的正指数值,一般将其认为是＋∞和－∞。</a:t>
            </a:r>
            <a:endParaRPr lang="zh-CN" altLang="zh-CN" sz="2000">
              <a:latin typeface="黑体" pitchFamily="2" charset="-122"/>
              <a:ea typeface="黑体" pitchFamily="2" charset="-122"/>
            </a:endParaRPr>
          </a:p>
          <a:p>
            <a:pPr eaLnBrk="0" hangingPunct="0">
              <a:lnSpc>
                <a:spcPct val="110000"/>
              </a:lnSpc>
            </a:pPr>
            <a:r>
              <a:rPr lang="zh-CN" altLang="zh-CN" sz="2000">
                <a:solidFill>
                  <a:srgbClr val="000000"/>
                </a:solidFill>
                <a:latin typeface="黑体" pitchFamily="2" charset="-122"/>
                <a:ea typeface="黑体" pitchFamily="2" charset="-122"/>
              </a:rPr>
              <a:t>　　</a:t>
            </a:r>
            <a:r>
              <a:rPr lang="zh-CN" altLang="zh-CN" sz="2000">
                <a:solidFill>
                  <a:srgbClr val="FF0000"/>
                </a:solidFill>
                <a:latin typeface="黑体" pitchFamily="2" charset="-122"/>
                <a:ea typeface="黑体" pitchFamily="2" charset="-122"/>
              </a:rPr>
              <a:t>阶码下溢</a:t>
            </a:r>
            <a:r>
              <a:rPr lang="zh-CN" altLang="zh-CN" sz="2000">
                <a:solidFill>
                  <a:srgbClr val="000000"/>
                </a:solidFill>
                <a:latin typeface="黑体" pitchFamily="2" charset="-122"/>
                <a:ea typeface="黑体" pitchFamily="2" charset="-122"/>
              </a:rPr>
              <a:t> 超过了阶码可能表示的最小值的负指数值,一般将其认为是0。</a:t>
            </a:r>
            <a:endParaRPr lang="zh-CN" altLang="zh-CN" sz="2000">
              <a:latin typeface="黑体" pitchFamily="2" charset="-122"/>
              <a:ea typeface="黑体" pitchFamily="2" charset="-122"/>
            </a:endParaRPr>
          </a:p>
          <a:p>
            <a:pPr eaLnBrk="0" hangingPunct="0">
              <a:lnSpc>
                <a:spcPct val="110000"/>
              </a:lnSpc>
            </a:pPr>
            <a:r>
              <a:rPr lang="zh-CN" altLang="zh-CN" sz="2000">
                <a:solidFill>
                  <a:srgbClr val="0000FF"/>
                </a:solidFill>
                <a:latin typeface="黑体" pitchFamily="2" charset="-122"/>
                <a:ea typeface="黑体" pitchFamily="2" charset="-122"/>
              </a:rPr>
              <a:t>　　</a:t>
            </a:r>
            <a:r>
              <a:rPr lang="zh-CN" altLang="zh-CN" sz="2000">
                <a:solidFill>
                  <a:srgbClr val="FF0000"/>
                </a:solidFill>
                <a:latin typeface="黑体" pitchFamily="2" charset="-122"/>
                <a:ea typeface="黑体" pitchFamily="2" charset="-122"/>
              </a:rPr>
              <a:t>尾数上溢</a:t>
            </a:r>
            <a:r>
              <a:rPr lang="zh-CN" altLang="zh-CN" sz="2000">
                <a:solidFill>
                  <a:srgbClr val="0000FF"/>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两个同符号尾数相加产生了最高位向上的进位,将尾数右移,阶码增1来重新对齐。</a:t>
            </a:r>
            <a:endParaRPr lang="zh-CN" altLang="zh-CN" sz="2000">
              <a:latin typeface="黑体" pitchFamily="2" charset="-122"/>
              <a:ea typeface="黑体" pitchFamily="2" charset="-122"/>
            </a:endParaRPr>
          </a:p>
          <a:p>
            <a:pPr eaLnBrk="0" hangingPunct="0">
              <a:lnSpc>
                <a:spcPct val="110000"/>
              </a:lnSpc>
            </a:pPr>
            <a:r>
              <a:rPr lang="zh-CN" altLang="zh-CN" sz="2000">
                <a:solidFill>
                  <a:srgbClr val="000000"/>
                </a:solidFill>
                <a:latin typeface="黑体" pitchFamily="2" charset="-122"/>
                <a:ea typeface="黑体" pitchFamily="2" charset="-122"/>
              </a:rPr>
              <a:t>　　</a:t>
            </a:r>
            <a:r>
              <a:rPr lang="zh-CN" altLang="zh-CN" sz="2000">
                <a:solidFill>
                  <a:srgbClr val="FF0000"/>
                </a:solidFill>
                <a:latin typeface="黑体" pitchFamily="2" charset="-122"/>
                <a:ea typeface="黑体" pitchFamily="2" charset="-122"/>
              </a:rPr>
              <a:t>尾数下溢</a:t>
            </a:r>
            <a:r>
              <a:rPr lang="zh-CN" altLang="zh-CN" sz="2000">
                <a:solidFill>
                  <a:srgbClr val="000000"/>
                </a:solidFill>
                <a:latin typeface="黑体" pitchFamily="2" charset="-122"/>
                <a:ea typeface="黑体" pitchFamily="2" charset="-122"/>
              </a:rPr>
              <a:t> 在将尾数右移时,尾数的最低有效位从尾数域右端流出,要进行舍入处理。</a:t>
            </a:r>
          </a:p>
        </p:txBody>
      </p:sp>
      <p:sp>
        <p:nvSpPr>
          <p:cNvPr id="131075" name="AutoShape 2" descr="G:\jzdx\%E8%AE%A1%E7%AE%97%E6%9C%BA%E7%BB%84%E6%88%90%E5%8E%9F%E7%90%86\%E6%95%99%E6%A1%88\%E7%AC%AC%E4%BA%8C%E7%AB%A0\htm\Images\t2.6.1.0.gif"/>
          <p:cNvSpPr>
            <a:spLocks noChangeAspect="1" noChangeArrowheads="1"/>
          </p:cNvSpPr>
          <p:nvPr/>
        </p:nvSpPr>
        <p:spPr bwMode="auto">
          <a:xfrm>
            <a:off x="149225" y="-504825"/>
            <a:ext cx="756285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3107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838" y="1004888"/>
            <a:ext cx="6143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463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179512" y="962819"/>
            <a:ext cx="8856984" cy="5736955"/>
          </a:xfrm>
          <a:prstGeom prst="rect">
            <a:avLst/>
          </a:prstGeom>
          <a:solidFill>
            <a:schemeClr val="bg1"/>
          </a:solidFill>
        </p:spPr>
        <p:txBody>
          <a:bodyPr wrap="square">
            <a:spAutoFit/>
          </a:bodyPr>
          <a:lstStyle/>
          <a:p>
            <a:pPr>
              <a:lnSpc>
                <a:spcPct val="120000"/>
              </a:lnSpc>
            </a:pPr>
            <a:r>
              <a:rPr lang="zh-CN" altLang="zh-CN" sz="2400" dirty="0" smtClean="0">
                <a:latin typeface="华文新魏" panose="02010800040101010101" pitchFamily="2" charset="-122"/>
                <a:ea typeface="华文新魏" panose="02010800040101010101" pitchFamily="2" charset="-122"/>
              </a:rPr>
              <a:t>浮点数</a:t>
            </a:r>
            <a:r>
              <a:rPr lang="zh-CN" altLang="zh-CN" sz="2400" dirty="0">
                <a:latin typeface="华文新魏" panose="02010800040101010101" pitchFamily="2" charset="-122"/>
                <a:ea typeface="华文新魏" panose="02010800040101010101" pitchFamily="2" charset="-122"/>
              </a:rPr>
              <a:t>加减法运算对阶操作规定使尾数右移</a:t>
            </a:r>
            <a:r>
              <a:rPr lang="zh-CN" altLang="zh-CN" sz="2400" dirty="0" smtClean="0">
                <a:latin typeface="华文新魏" panose="02010800040101010101" pitchFamily="2" charset="-122"/>
                <a:ea typeface="华文新魏" panose="02010800040101010101" pitchFamily="2" charset="-122"/>
              </a:rPr>
              <a:t>，使</a:t>
            </a:r>
            <a:r>
              <a:rPr lang="zh-CN" altLang="zh-CN" sz="2400" dirty="0">
                <a:latin typeface="华文新魏" panose="02010800040101010101" pitchFamily="2" charset="-122"/>
                <a:ea typeface="华文新魏" panose="02010800040101010101" pitchFamily="2" charset="-122"/>
              </a:rPr>
              <a:t>小阶向大阶看齐。</a:t>
            </a:r>
          </a:p>
          <a:p>
            <a:pPr>
              <a:lnSpc>
                <a:spcPct val="120000"/>
              </a:lnSpc>
              <a:spcBef>
                <a:spcPts val="600"/>
              </a:spcBef>
            </a:pPr>
            <a:r>
              <a:rPr lang="en-US" altLang="zh-CN" sz="2400" dirty="0" smtClean="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A. </a:t>
            </a:r>
            <a:r>
              <a:rPr lang="zh-CN" altLang="zh-CN" sz="2400" dirty="0">
                <a:latin typeface="华文新魏" panose="02010800040101010101" pitchFamily="2" charset="-122"/>
                <a:ea typeface="华文新魏" panose="02010800040101010101" pitchFamily="2" charset="-122"/>
              </a:rPr>
              <a:t>对</a:t>
            </a:r>
            <a:r>
              <a:rPr lang="en-US" altLang="zh-CN" sz="2400" dirty="0">
                <a:latin typeface="华文新魏" panose="02010800040101010101" pitchFamily="2" charset="-122"/>
                <a:ea typeface="华文新魏" panose="02010800040101010101" pitchFamily="2" charset="-122"/>
              </a:rPr>
              <a:t>    </a:t>
            </a:r>
            <a:r>
              <a:rPr lang="en-US" altLang="zh-CN" sz="2400" dirty="0" smtClean="0">
                <a:latin typeface="华文新魏" panose="02010800040101010101" pitchFamily="2" charset="-122"/>
                <a:ea typeface="华文新魏" panose="02010800040101010101" pitchFamily="2" charset="-122"/>
              </a:rPr>
              <a:t>    B</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错</a:t>
            </a:r>
          </a:p>
          <a:p>
            <a:pPr>
              <a:lnSpc>
                <a:spcPct val="120000"/>
              </a:lnSpc>
              <a:spcBef>
                <a:spcPts val="1200"/>
              </a:spcBef>
            </a:pPr>
            <a:r>
              <a:rPr lang="zh-CN" altLang="zh-CN" sz="2400" dirty="0" smtClean="0">
                <a:latin typeface="华文新魏" panose="02010800040101010101" pitchFamily="2" charset="-122"/>
                <a:ea typeface="华文新魏" panose="02010800040101010101" pitchFamily="2" charset="-122"/>
              </a:rPr>
              <a:t>在</a:t>
            </a:r>
            <a:r>
              <a:rPr lang="zh-CN" altLang="zh-CN" sz="2400" dirty="0">
                <a:latin typeface="华文新魏" panose="02010800040101010101" pitchFamily="2" charset="-122"/>
                <a:ea typeface="华文新魏" panose="02010800040101010101" pitchFamily="2" charset="-122"/>
              </a:rPr>
              <a:t>对浮点数加减法运算结果规格化时，如果运算结果</a:t>
            </a:r>
            <a:r>
              <a:rPr lang="zh-CN" altLang="zh-CN" sz="2400" dirty="0" smtClean="0">
                <a:latin typeface="华文新魏" panose="02010800040101010101" pitchFamily="2" charset="-122"/>
                <a:ea typeface="华文新魏" panose="02010800040101010101" pitchFamily="2" charset="-122"/>
              </a:rPr>
              <a:t>为</a:t>
            </a:r>
            <a:endParaRPr lang="en-US" altLang="zh-CN" sz="2400" dirty="0" smtClean="0">
              <a:latin typeface="华文新魏" panose="02010800040101010101" pitchFamily="2" charset="-122"/>
              <a:ea typeface="华文新魏" panose="02010800040101010101" pitchFamily="2" charset="-122"/>
            </a:endParaRPr>
          </a:p>
          <a:p>
            <a:pPr>
              <a:lnSpc>
                <a:spcPct val="120000"/>
              </a:lnSpc>
            </a:pPr>
            <a:r>
              <a:rPr lang="en-US" altLang="zh-CN" sz="2400" dirty="0" smtClean="0">
                <a:latin typeface="华文新魏" panose="02010800040101010101" pitchFamily="2" charset="-122"/>
                <a:ea typeface="华文新魏" panose="02010800040101010101" pitchFamily="2" charset="-122"/>
              </a:rPr>
              <a:t>00.1 </a:t>
            </a:r>
            <a:r>
              <a:rPr lang="en-US" altLang="zh-CN" sz="2400" dirty="0">
                <a:latin typeface="华文新魏" panose="02010800040101010101" pitchFamily="2" charset="-122"/>
                <a:ea typeface="华文新魏" panose="02010800040101010101" pitchFamily="2" charset="-122"/>
              </a:rPr>
              <a:t>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或</a:t>
            </a:r>
            <a:r>
              <a:rPr lang="en-US" altLang="zh-CN" sz="2400" dirty="0">
                <a:latin typeface="华文新魏" panose="02010800040101010101" pitchFamily="2" charset="-122"/>
                <a:ea typeface="华文新魏" panose="02010800040101010101" pitchFamily="2" charset="-122"/>
              </a:rPr>
              <a:t>11.0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形式，则需要对尾数进行</a:t>
            </a:r>
            <a:r>
              <a:rPr lang="en-US" altLang="zh-CN" sz="2400" u="sng"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p>
          <a:p>
            <a:pPr>
              <a:lnSpc>
                <a:spcPct val="120000"/>
              </a:lnSpc>
              <a:spcBef>
                <a:spcPts val="600"/>
              </a:spcBef>
            </a:pPr>
            <a:r>
              <a:rPr lang="en-US" altLang="zh-CN" sz="2400" dirty="0" smtClean="0">
                <a:latin typeface="华文新魏" panose="02010800040101010101" pitchFamily="2" charset="-122"/>
                <a:ea typeface="华文新魏" panose="02010800040101010101" pitchFamily="2" charset="-122"/>
              </a:rPr>
              <a:t>  A</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左规处理</a:t>
            </a:r>
            <a:r>
              <a:rPr lang="en-US" altLang="zh-CN" sz="2400" dirty="0">
                <a:latin typeface="华文新魏" panose="02010800040101010101" pitchFamily="2" charset="-122"/>
                <a:ea typeface="华文新魏" panose="02010800040101010101" pitchFamily="2" charset="-122"/>
              </a:rPr>
              <a:t>    B. </a:t>
            </a:r>
            <a:r>
              <a:rPr lang="zh-CN" altLang="zh-CN" sz="2400" dirty="0">
                <a:latin typeface="华文新魏" panose="02010800040101010101" pitchFamily="2" charset="-122"/>
                <a:ea typeface="华文新魏" panose="02010800040101010101" pitchFamily="2" charset="-122"/>
              </a:rPr>
              <a:t>右归处理</a:t>
            </a:r>
            <a:r>
              <a:rPr lang="en-US" altLang="zh-CN" sz="2400" dirty="0">
                <a:latin typeface="华文新魏" panose="02010800040101010101" pitchFamily="2" charset="-122"/>
                <a:ea typeface="华文新魏" panose="02010800040101010101" pitchFamily="2" charset="-122"/>
              </a:rPr>
              <a:t>   C. </a:t>
            </a:r>
            <a:r>
              <a:rPr lang="zh-CN" altLang="zh-CN" sz="2400" dirty="0">
                <a:latin typeface="华文新魏" panose="02010800040101010101" pitchFamily="2" charset="-122"/>
                <a:ea typeface="华文新魏" panose="02010800040101010101" pitchFamily="2" charset="-122"/>
              </a:rPr>
              <a:t>不需要处理</a:t>
            </a:r>
            <a:r>
              <a:rPr lang="en-US" altLang="zh-CN" sz="2400" dirty="0">
                <a:latin typeface="华文新魏" panose="02010800040101010101" pitchFamily="2" charset="-122"/>
                <a:ea typeface="华文新魏" panose="02010800040101010101" pitchFamily="2" charset="-122"/>
              </a:rPr>
              <a:t>    D. </a:t>
            </a:r>
            <a:r>
              <a:rPr lang="zh-CN" altLang="zh-CN" sz="2400" dirty="0">
                <a:latin typeface="华文新魏" panose="02010800040101010101" pitchFamily="2" charset="-122"/>
                <a:ea typeface="华文新魏" panose="02010800040101010101" pitchFamily="2" charset="-122"/>
              </a:rPr>
              <a:t>表示结果溢出</a:t>
            </a:r>
          </a:p>
          <a:p>
            <a:pPr>
              <a:lnSpc>
                <a:spcPct val="120000"/>
              </a:lnSpc>
              <a:spcBef>
                <a:spcPts val="1200"/>
              </a:spcBef>
            </a:pPr>
            <a:r>
              <a:rPr lang="zh-CN" altLang="zh-CN" sz="2400" dirty="0" smtClean="0">
                <a:latin typeface="华文新魏" panose="02010800040101010101" pitchFamily="2" charset="-122"/>
                <a:ea typeface="华文新魏" panose="02010800040101010101" pitchFamily="2" charset="-122"/>
              </a:rPr>
              <a:t>在</a:t>
            </a:r>
            <a:r>
              <a:rPr lang="zh-CN" altLang="zh-CN" sz="2400" dirty="0">
                <a:latin typeface="华文新魏" panose="02010800040101010101" pitchFamily="2" charset="-122"/>
                <a:ea typeface="华文新魏" panose="02010800040101010101" pitchFamily="2" charset="-122"/>
              </a:rPr>
              <a:t>对浮点数加减法运算结果规格化时，如果运算结果</a:t>
            </a:r>
            <a:r>
              <a:rPr lang="zh-CN" altLang="zh-CN" sz="2400" dirty="0" smtClean="0">
                <a:latin typeface="华文新魏" panose="02010800040101010101" pitchFamily="2" charset="-122"/>
                <a:ea typeface="华文新魏" panose="02010800040101010101" pitchFamily="2" charset="-122"/>
              </a:rPr>
              <a:t>为</a:t>
            </a:r>
            <a:endParaRPr lang="en-US" altLang="zh-CN" sz="2400" dirty="0" smtClean="0">
              <a:latin typeface="华文新魏" panose="02010800040101010101" pitchFamily="2" charset="-122"/>
              <a:ea typeface="华文新魏" panose="02010800040101010101" pitchFamily="2" charset="-122"/>
            </a:endParaRPr>
          </a:p>
          <a:p>
            <a:pPr>
              <a:lnSpc>
                <a:spcPct val="120000"/>
              </a:lnSpc>
            </a:pPr>
            <a:r>
              <a:rPr lang="en-US" altLang="zh-CN" sz="2400" dirty="0" smtClean="0">
                <a:latin typeface="华文新魏" panose="02010800040101010101" pitchFamily="2" charset="-122"/>
                <a:ea typeface="华文新魏" panose="02010800040101010101" pitchFamily="2" charset="-122"/>
              </a:rPr>
              <a:t>00.0 </a:t>
            </a:r>
            <a:r>
              <a:rPr lang="en-US" altLang="zh-CN" sz="2400" dirty="0">
                <a:latin typeface="华文新魏" panose="02010800040101010101" pitchFamily="2" charset="-122"/>
                <a:ea typeface="华文新魏" panose="02010800040101010101" pitchFamily="2" charset="-122"/>
              </a:rPr>
              <a:t>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 x</a:t>
            </a:r>
            <a:r>
              <a:rPr lang="zh-CN" altLang="zh-CN" sz="2400" dirty="0">
                <a:latin typeface="华文新魏" panose="02010800040101010101" pitchFamily="2" charset="-122"/>
                <a:ea typeface="华文新魏" panose="02010800040101010101" pitchFamily="2" charset="-122"/>
              </a:rPr>
              <a:t>或</a:t>
            </a:r>
            <a:r>
              <a:rPr lang="en-US" altLang="zh-CN" sz="2400" dirty="0">
                <a:latin typeface="华文新魏" panose="02010800040101010101" pitchFamily="2" charset="-122"/>
                <a:ea typeface="华文新魏" panose="02010800040101010101" pitchFamily="2" charset="-122"/>
              </a:rPr>
              <a:t>11.1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 x</a:t>
            </a:r>
            <a:r>
              <a:rPr lang="zh-CN" altLang="zh-CN" sz="2400" dirty="0">
                <a:latin typeface="华文新魏" panose="02010800040101010101" pitchFamily="2" charset="-122"/>
                <a:ea typeface="华文新魏" panose="02010800040101010101" pitchFamily="2" charset="-122"/>
              </a:rPr>
              <a:t>形式，则需要对尾数进行</a:t>
            </a:r>
            <a:r>
              <a:rPr lang="en-US" altLang="zh-CN" sz="2400" u="sng"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p>
          <a:p>
            <a:pPr>
              <a:lnSpc>
                <a:spcPct val="120000"/>
              </a:lnSpc>
              <a:spcBef>
                <a:spcPts val="600"/>
              </a:spcBef>
            </a:pPr>
            <a:r>
              <a:rPr lang="en-US" altLang="zh-CN" sz="2400" dirty="0" smtClean="0">
                <a:latin typeface="华文新魏" panose="02010800040101010101" pitchFamily="2" charset="-122"/>
                <a:ea typeface="华文新魏" panose="02010800040101010101" pitchFamily="2" charset="-122"/>
              </a:rPr>
              <a:t>  A</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左规处理</a:t>
            </a:r>
            <a:r>
              <a:rPr lang="en-US" altLang="zh-CN" sz="2400" dirty="0">
                <a:latin typeface="华文新魏" panose="02010800040101010101" pitchFamily="2" charset="-122"/>
                <a:ea typeface="华文新魏" panose="02010800040101010101" pitchFamily="2" charset="-122"/>
              </a:rPr>
              <a:t>    B. </a:t>
            </a:r>
            <a:r>
              <a:rPr lang="zh-CN" altLang="zh-CN" sz="2400" dirty="0">
                <a:latin typeface="华文新魏" panose="02010800040101010101" pitchFamily="2" charset="-122"/>
                <a:ea typeface="华文新魏" panose="02010800040101010101" pitchFamily="2" charset="-122"/>
              </a:rPr>
              <a:t>右归处理</a:t>
            </a:r>
            <a:r>
              <a:rPr lang="en-US" altLang="zh-CN" sz="2400" dirty="0">
                <a:latin typeface="华文新魏" panose="02010800040101010101" pitchFamily="2" charset="-122"/>
                <a:ea typeface="华文新魏" panose="02010800040101010101" pitchFamily="2" charset="-122"/>
              </a:rPr>
              <a:t>   C. </a:t>
            </a:r>
            <a:r>
              <a:rPr lang="zh-CN" altLang="zh-CN" sz="2400" dirty="0">
                <a:latin typeface="华文新魏" panose="02010800040101010101" pitchFamily="2" charset="-122"/>
                <a:ea typeface="华文新魏" panose="02010800040101010101" pitchFamily="2" charset="-122"/>
              </a:rPr>
              <a:t>不需要处理</a:t>
            </a:r>
            <a:r>
              <a:rPr lang="en-US" altLang="zh-CN" sz="2400" dirty="0">
                <a:latin typeface="华文新魏" panose="02010800040101010101" pitchFamily="2" charset="-122"/>
                <a:ea typeface="华文新魏" panose="02010800040101010101" pitchFamily="2" charset="-122"/>
              </a:rPr>
              <a:t>    D. </a:t>
            </a:r>
            <a:r>
              <a:rPr lang="zh-CN" altLang="zh-CN" sz="2400" dirty="0">
                <a:latin typeface="华文新魏" panose="02010800040101010101" pitchFamily="2" charset="-122"/>
                <a:ea typeface="华文新魏" panose="02010800040101010101" pitchFamily="2" charset="-122"/>
              </a:rPr>
              <a:t>表示结果溢出</a:t>
            </a:r>
          </a:p>
          <a:p>
            <a:pPr>
              <a:lnSpc>
                <a:spcPct val="120000"/>
              </a:lnSpc>
              <a:spcBef>
                <a:spcPts val="1200"/>
              </a:spcBef>
            </a:pPr>
            <a:r>
              <a:rPr lang="zh-CN" altLang="zh-CN" sz="2400" dirty="0" smtClean="0">
                <a:latin typeface="华文新魏" panose="02010800040101010101" pitchFamily="2" charset="-122"/>
                <a:ea typeface="华文新魏" panose="02010800040101010101" pitchFamily="2" charset="-122"/>
              </a:rPr>
              <a:t>在</a:t>
            </a:r>
            <a:r>
              <a:rPr lang="zh-CN" altLang="zh-CN" sz="2400" dirty="0">
                <a:latin typeface="华文新魏" panose="02010800040101010101" pitchFamily="2" charset="-122"/>
                <a:ea typeface="华文新魏" panose="02010800040101010101" pitchFamily="2" charset="-122"/>
              </a:rPr>
              <a:t>对浮点数加减法运算结果规格化时，如果运算结果</a:t>
            </a:r>
            <a:r>
              <a:rPr lang="zh-CN" altLang="zh-CN" sz="2400" dirty="0" smtClean="0">
                <a:latin typeface="华文新魏" panose="02010800040101010101" pitchFamily="2" charset="-122"/>
                <a:ea typeface="华文新魏" panose="02010800040101010101" pitchFamily="2" charset="-122"/>
              </a:rPr>
              <a:t>为</a:t>
            </a:r>
            <a:endParaRPr lang="en-US" altLang="zh-CN" sz="2400" dirty="0" smtClean="0">
              <a:latin typeface="华文新魏" panose="02010800040101010101" pitchFamily="2" charset="-122"/>
              <a:ea typeface="华文新魏" panose="02010800040101010101" pitchFamily="2" charset="-122"/>
            </a:endParaRPr>
          </a:p>
          <a:p>
            <a:pPr>
              <a:lnSpc>
                <a:spcPct val="120000"/>
              </a:lnSpc>
              <a:spcBef>
                <a:spcPts val="0"/>
              </a:spcBef>
            </a:pPr>
            <a:r>
              <a:rPr lang="en-US" altLang="zh-CN" sz="2400" dirty="0" smtClean="0">
                <a:latin typeface="华文新魏" panose="02010800040101010101" pitchFamily="2" charset="-122"/>
                <a:ea typeface="华文新魏" panose="02010800040101010101" pitchFamily="2" charset="-122"/>
              </a:rPr>
              <a:t>01.x </a:t>
            </a:r>
            <a:r>
              <a:rPr lang="en-US" altLang="zh-CN" sz="2400" dirty="0">
                <a:latin typeface="华文新魏" panose="02010800040101010101" pitchFamily="2" charset="-122"/>
                <a:ea typeface="华文新魏" panose="02010800040101010101" pitchFamily="2" charset="-122"/>
              </a:rPr>
              <a:t>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或</a:t>
            </a:r>
            <a:r>
              <a:rPr lang="en-US" altLang="zh-CN" sz="2400" dirty="0">
                <a:latin typeface="华文新魏" panose="02010800040101010101" pitchFamily="2" charset="-122"/>
                <a:ea typeface="华文新魏" panose="02010800040101010101" pitchFamily="2" charset="-122"/>
              </a:rPr>
              <a:t>10.x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形式，则需要对尾数进行</a:t>
            </a:r>
            <a:r>
              <a:rPr lang="en-US" altLang="zh-CN" sz="2400" u="sng"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p>
          <a:p>
            <a:pPr>
              <a:lnSpc>
                <a:spcPct val="120000"/>
              </a:lnSpc>
              <a:spcBef>
                <a:spcPts val="600"/>
              </a:spcBef>
            </a:pPr>
            <a:r>
              <a:rPr lang="en-US" altLang="zh-CN" sz="2400" dirty="0" smtClean="0">
                <a:latin typeface="华文新魏" panose="02010800040101010101" pitchFamily="2" charset="-122"/>
                <a:ea typeface="华文新魏" panose="02010800040101010101" pitchFamily="2" charset="-122"/>
              </a:rPr>
              <a:t>   A</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左规处理</a:t>
            </a:r>
            <a:r>
              <a:rPr lang="en-US" altLang="zh-CN" sz="2400" dirty="0">
                <a:latin typeface="华文新魏" panose="02010800040101010101" pitchFamily="2" charset="-122"/>
                <a:ea typeface="华文新魏" panose="02010800040101010101" pitchFamily="2" charset="-122"/>
              </a:rPr>
              <a:t>    B. </a:t>
            </a:r>
            <a:r>
              <a:rPr lang="zh-CN" altLang="zh-CN" sz="2400" dirty="0">
                <a:latin typeface="华文新魏" panose="02010800040101010101" pitchFamily="2" charset="-122"/>
                <a:ea typeface="华文新魏" panose="02010800040101010101" pitchFamily="2" charset="-122"/>
              </a:rPr>
              <a:t>右归处理</a:t>
            </a:r>
            <a:r>
              <a:rPr lang="en-US" altLang="zh-CN" sz="2400" dirty="0">
                <a:latin typeface="华文新魏" panose="02010800040101010101" pitchFamily="2" charset="-122"/>
                <a:ea typeface="华文新魏" panose="02010800040101010101" pitchFamily="2" charset="-122"/>
              </a:rPr>
              <a:t>   C. </a:t>
            </a:r>
            <a:r>
              <a:rPr lang="zh-CN" altLang="zh-CN" sz="2400" dirty="0">
                <a:latin typeface="华文新魏" panose="02010800040101010101" pitchFamily="2" charset="-122"/>
                <a:ea typeface="华文新魏" panose="02010800040101010101" pitchFamily="2" charset="-122"/>
              </a:rPr>
              <a:t>不需要处理</a:t>
            </a:r>
            <a:r>
              <a:rPr lang="en-US" altLang="zh-CN" sz="2400" dirty="0">
                <a:latin typeface="华文新魏" panose="02010800040101010101" pitchFamily="2" charset="-122"/>
                <a:ea typeface="华文新魏" panose="02010800040101010101" pitchFamily="2" charset="-122"/>
              </a:rPr>
              <a:t>    D. </a:t>
            </a:r>
            <a:r>
              <a:rPr lang="zh-CN" altLang="zh-CN" sz="2400" dirty="0">
                <a:latin typeface="华文新魏" panose="02010800040101010101" pitchFamily="2" charset="-122"/>
                <a:ea typeface="华文新魏" panose="02010800040101010101" pitchFamily="2" charset="-122"/>
              </a:rPr>
              <a:t>表示结果</a:t>
            </a:r>
            <a:r>
              <a:rPr lang="zh-CN" altLang="zh-CN" sz="2400" dirty="0" smtClean="0">
                <a:latin typeface="华文新魏" panose="02010800040101010101" pitchFamily="2" charset="-122"/>
                <a:ea typeface="华文新魏" panose="02010800040101010101" pitchFamily="2" charset="-122"/>
              </a:rPr>
              <a:t>溢出</a:t>
            </a:r>
            <a:endParaRPr lang="zh-CN" altLang="zh-CN" sz="24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640308" y="1487214"/>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3949206" y="3026668"/>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263551" y="457579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7" name="椭圆 6"/>
          <p:cNvSpPr/>
          <p:nvPr/>
        </p:nvSpPr>
        <p:spPr bwMode="auto">
          <a:xfrm>
            <a:off x="2187122" y="6112249"/>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1427537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6" grpId="0" animBg="1"/>
      <p:bldP spid="7" grpId="0" animBg="1"/>
    </p:bld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2098" name="矩形 1"/>
          <p:cNvSpPr>
            <a:spLocks noChangeArrowheads="1"/>
          </p:cNvSpPr>
          <p:nvPr/>
        </p:nvSpPr>
        <p:spPr bwMode="auto">
          <a:xfrm>
            <a:off x="179388" y="44450"/>
            <a:ext cx="8785225"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a:latin typeface="黑体" pitchFamily="2" charset="-122"/>
                <a:ea typeface="黑体" pitchFamily="2" charset="-122"/>
              </a:rPr>
              <a:t>例：设</a:t>
            </a:r>
            <a:r>
              <a:rPr lang="zh-CN" altLang="en-US" i="1">
                <a:latin typeface="黑体" pitchFamily="2" charset="-122"/>
                <a:ea typeface="黑体" pitchFamily="2" charset="-122"/>
              </a:rPr>
              <a:t>ｘ</a:t>
            </a:r>
            <a:r>
              <a:rPr lang="zh-CN" altLang="en-US">
                <a:latin typeface="黑体" pitchFamily="2" charset="-122"/>
                <a:ea typeface="黑体" pitchFamily="2" charset="-122"/>
              </a:rPr>
              <a:t>＝</a:t>
            </a:r>
            <a:r>
              <a:rPr lang="en-US" altLang="zh-CN">
                <a:latin typeface="黑体" pitchFamily="2" charset="-122"/>
                <a:ea typeface="黑体" pitchFamily="2" charset="-122"/>
              </a:rPr>
              <a:t>2</a:t>
            </a:r>
            <a:r>
              <a:rPr lang="en-US" altLang="zh-CN" baseline="30000">
                <a:latin typeface="黑体" pitchFamily="2" charset="-122"/>
                <a:ea typeface="黑体" pitchFamily="2" charset="-122"/>
              </a:rPr>
              <a:t>010</a:t>
            </a:r>
            <a:r>
              <a:rPr lang="en-US" altLang="zh-CN">
                <a:latin typeface="黑体" pitchFamily="2" charset="-122"/>
                <a:ea typeface="黑体" pitchFamily="2" charset="-122"/>
              </a:rPr>
              <a:t>×0.11011011,</a:t>
            </a:r>
            <a:r>
              <a:rPr lang="zh-CN" altLang="en-US" i="1">
                <a:latin typeface="黑体" pitchFamily="2" charset="-122"/>
                <a:ea typeface="黑体" pitchFamily="2" charset="-122"/>
              </a:rPr>
              <a:t>ｙ</a:t>
            </a:r>
            <a:r>
              <a:rPr lang="zh-CN" altLang="en-US">
                <a:latin typeface="黑体" pitchFamily="2" charset="-122"/>
                <a:ea typeface="黑体" pitchFamily="2" charset="-122"/>
              </a:rPr>
              <a:t>＝</a:t>
            </a:r>
            <a:r>
              <a:rPr lang="en-US" altLang="zh-CN">
                <a:latin typeface="黑体" pitchFamily="2" charset="-122"/>
                <a:ea typeface="黑体" pitchFamily="2" charset="-122"/>
              </a:rPr>
              <a:t>2</a:t>
            </a:r>
            <a:r>
              <a:rPr lang="en-US" altLang="zh-CN" baseline="30000">
                <a:latin typeface="黑体" pitchFamily="2" charset="-122"/>
                <a:ea typeface="黑体" pitchFamily="2" charset="-122"/>
              </a:rPr>
              <a:t>100</a:t>
            </a:r>
            <a:r>
              <a:rPr lang="en-US" altLang="zh-CN">
                <a:latin typeface="黑体" pitchFamily="2" charset="-122"/>
                <a:ea typeface="黑体" pitchFamily="2" charset="-122"/>
              </a:rPr>
              <a:t>×(</a:t>
            </a:r>
            <a:r>
              <a:rPr lang="zh-CN" altLang="en-US">
                <a:latin typeface="黑体" pitchFamily="2" charset="-122"/>
                <a:ea typeface="黑体" pitchFamily="2" charset="-122"/>
              </a:rPr>
              <a:t>－</a:t>
            </a:r>
            <a:r>
              <a:rPr lang="en-US" altLang="zh-CN">
                <a:latin typeface="黑体" pitchFamily="2" charset="-122"/>
                <a:ea typeface="黑体" pitchFamily="2" charset="-122"/>
              </a:rPr>
              <a:t>0.10101100),</a:t>
            </a:r>
            <a:r>
              <a:rPr lang="zh-CN" altLang="en-US">
                <a:latin typeface="黑体" pitchFamily="2" charset="-122"/>
                <a:ea typeface="黑体" pitchFamily="2" charset="-122"/>
              </a:rPr>
              <a:t>求</a:t>
            </a:r>
            <a:r>
              <a:rPr lang="zh-CN" altLang="en-US" i="1">
                <a:latin typeface="黑体" pitchFamily="2" charset="-122"/>
                <a:ea typeface="黑体" pitchFamily="2" charset="-122"/>
              </a:rPr>
              <a:t>ｘ</a:t>
            </a:r>
            <a:r>
              <a:rPr lang="zh-CN" altLang="en-US">
                <a:latin typeface="黑体" pitchFamily="2" charset="-122"/>
                <a:ea typeface="黑体" pitchFamily="2" charset="-122"/>
              </a:rPr>
              <a:t>＋</a:t>
            </a:r>
            <a:r>
              <a:rPr lang="zh-CN" altLang="en-US" i="1">
                <a:latin typeface="黑体" pitchFamily="2" charset="-122"/>
                <a:ea typeface="黑体" pitchFamily="2" charset="-122"/>
              </a:rPr>
              <a:t>ｙ</a:t>
            </a:r>
            <a:r>
              <a:rPr lang="zh-CN" altLang="en-US">
                <a:latin typeface="黑体" pitchFamily="2" charset="-122"/>
                <a:ea typeface="黑体" pitchFamily="2" charset="-122"/>
              </a:rPr>
              <a:t>。</a:t>
            </a:r>
          </a:p>
          <a:p>
            <a:pPr>
              <a:lnSpc>
                <a:spcPct val="120000"/>
              </a:lnSpc>
            </a:pPr>
            <a:r>
              <a:rPr lang="zh-CN" altLang="en-US">
                <a:latin typeface="黑体" pitchFamily="2" charset="-122"/>
                <a:ea typeface="黑体" pitchFamily="2" charset="-122"/>
              </a:rPr>
              <a:t>解</a:t>
            </a:r>
            <a:r>
              <a:rPr lang="en-US" altLang="zh-CN">
                <a:latin typeface="黑体" pitchFamily="2" charset="-122"/>
                <a:ea typeface="黑体" pitchFamily="2" charset="-122"/>
              </a:rPr>
              <a:t>: </a:t>
            </a:r>
            <a:r>
              <a:rPr lang="zh-CN" altLang="en-US">
                <a:latin typeface="黑体" pitchFamily="2" charset="-122"/>
                <a:ea typeface="黑体" pitchFamily="2" charset="-122"/>
              </a:rPr>
              <a:t>为了便于直观理解</a:t>
            </a:r>
            <a:r>
              <a:rPr lang="en-US" altLang="zh-CN">
                <a:latin typeface="黑体" pitchFamily="2" charset="-122"/>
                <a:ea typeface="黑体" pitchFamily="2" charset="-122"/>
              </a:rPr>
              <a:t>,</a:t>
            </a:r>
            <a:r>
              <a:rPr lang="zh-CN" altLang="en-US">
                <a:latin typeface="黑体" pitchFamily="2" charset="-122"/>
                <a:ea typeface="黑体" pitchFamily="2" charset="-122"/>
              </a:rPr>
              <a:t>假设两数均以补码表示</a:t>
            </a:r>
            <a:r>
              <a:rPr lang="en-US" altLang="zh-CN">
                <a:latin typeface="黑体" pitchFamily="2" charset="-122"/>
                <a:ea typeface="黑体" pitchFamily="2" charset="-122"/>
              </a:rPr>
              <a:t>,</a:t>
            </a:r>
            <a:r>
              <a:rPr lang="zh-CN" altLang="en-US">
                <a:latin typeface="黑体" pitchFamily="2" charset="-122"/>
                <a:ea typeface="黑体" pitchFamily="2" charset="-122"/>
              </a:rPr>
              <a:t>阶码采用双符号位</a:t>
            </a:r>
            <a:r>
              <a:rPr lang="en-US" altLang="zh-CN">
                <a:latin typeface="黑体" pitchFamily="2" charset="-122"/>
                <a:ea typeface="黑体" pitchFamily="2" charset="-122"/>
              </a:rPr>
              <a:t>,</a:t>
            </a:r>
          </a:p>
          <a:p>
            <a:pPr>
              <a:lnSpc>
                <a:spcPct val="120000"/>
              </a:lnSpc>
            </a:pPr>
            <a:r>
              <a:rPr lang="en-US" altLang="zh-CN">
                <a:latin typeface="黑体" pitchFamily="2" charset="-122"/>
                <a:ea typeface="黑体" pitchFamily="2" charset="-122"/>
              </a:rPr>
              <a:t>    </a:t>
            </a:r>
            <a:r>
              <a:rPr lang="zh-CN" altLang="en-US">
                <a:latin typeface="黑体" pitchFamily="2" charset="-122"/>
                <a:ea typeface="黑体" pitchFamily="2" charset="-122"/>
              </a:rPr>
              <a:t>尾数采用单符号位</a:t>
            </a:r>
            <a:r>
              <a:rPr lang="en-US" altLang="zh-CN">
                <a:latin typeface="黑体" pitchFamily="2" charset="-122"/>
                <a:ea typeface="黑体" pitchFamily="2" charset="-122"/>
              </a:rPr>
              <a:t>,</a:t>
            </a:r>
            <a:r>
              <a:rPr lang="zh-CN" altLang="en-US">
                <a:latin typeface="黑体" pitchFamily="2" charset="-122"/>
                <a:ea typeface="黑体" pitchFamily="2" charset="-122"/>
              </a:rPr>
              <a:t>则它们的浮点表示分别为</a:t>
            </a:r>
          </a:p>
          <a:p>
            <a:pPr>
              <a:lnSpc>
                <a:spcPct val="120000"/>
              </a:lnSpc>
            </a:pPr>
            <a:r>
              <a:rPr lang="en-US" altLang="zh-CN">
                <a:latin typeface="黑体" pitchFamily="2" charset="-122"/>
                <a:ea typeface="黑体" pitchFamily="2" charset="-122"/>
              </a:rPr>
              <a:t>    [</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baseline="-25000">
                <a:latin typeface="黑体" pitchFamily="2" charset="-122"/>
                <a:ea typeface="黑体" pitchFamily="2" charset="-122"/>
              </a:rPr>
              <a:t>浮</a:t>
            </a:r>
            <a:r>
              <a:rPr lang="zh-CN" altLang="en-US">
                <a:latin typeface="黑体" pitchFamily="2" charset="-122"/>
                <a:ea typeface="黑体" pitchFamily="2" charset="-122"/>
              </a:rPr>
              <a:t>＝</a:t>
            </a:r>
            <a:r>
              <a:rPr lang="en-US" altLang="zh-CN">
                <a:latin typeface="黑体" pitchFamily="2" charset="-122"/>
                <a:ea typeface="黑体" pitchFamily="2" charset="-122"/>
              </a:rPr>
              <a:t>00 010,</a:t>
            </a:r>
            <a:r>
              <a:rPr lang="zh-CN" altLang="en-US">
                <a:latin typeface="黑体" pitchFamily="2" charset="-122"/>
                <a:ea typeface="黑体" pitchFamily="2" charset="-122"/>
              </a:rPr>
              <a:t>　</a:t>
            </a:r>
            <a:r>
              <a:rPr lang="en-US" altLang="zh-CN">
                <a:latin typeface="黑体" pitchFamily="2" charset="-122"/>
                <a:ea typeface="黑体" pitchFamily="2" charset="-122"/>
              </a:rPr>
              <a:t>0.11011011</a:t>
            </a:r>
            <a:r>
              <a:rPr lang="zh-CN" altLang="en-US">
                <a:latin typeface="黑体" pitchFamily="2" charset="-122"/>
                <a:ea typeface="黑体" pitchFamily="2" charset="-122"/>
              </a:rPr>
              <a:t>、</a:t>
            </a:r>
            <a:r>
              <a:rPr lang="en-US" altLang="zh-CN">
                <a:latin typeface="黑体" pitchFamily="2" charset="-122"/>
                <a:ea typeface="黑体" pitchFamily="2" charset="-122"/>
              </a:rPr>
              <a:t>[</a:t>
            </a:r>
            <a:r>
              <a:rPr lang="zh-CN" altLang="en-US" i="1">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浮</a:t>
            </a:r>
            <a:r>
              <a:rPr lang="zh-CN" altLang="en-US">
                <a:latin typeface="黑体" pitchFamily="2" charset="-122"/>
                <a:ea typeface="黑体" pitchFamily="2" charset="-122"/>
              </a:rPr>
              <a:t>＝</a:t>
            </a:r>
            <a:r>
              <a:rPr lang="en-US" altLang="zh-CN">
                <a:latin typeface="黑体" pitchFamily="2" charset="-122"/>
                <a:ea typeface="黑体" pitchFamily="2" charset="-122"/>
              </a:rPr>
              <a:t>00 100,</a:t>
            </a:r>
            <a:r>
              <a:rPr lang="zh-CN" altLang="en-US">
                <a:latin typeface="黑体" pitchFamily="2" charset="-122"/>
                <a:ea typeface="黑体" pitchFamily="2" charset="-122"/>
              </a:rPr>
              <a:t>　</a:t>
            </a:r>
            <a:r>
              <a:rPr lang="en-US" altLang="zh-CN">
                <a:latin typeface="黑体" pitchFamily="2" charset="-122"/>
                <a:ea typeface="黑体" pitchFamily="2" charset="-122"/>
              </a:rPr>
              <a:t>1.01010100</a:t>
            </a:r>
            <a:endParaRPr lang="zh-CN" altLang="en-US">
              <a:latin typeface="黑体" pitchFamily="2" charset="-122"/>
              <a:ea typeface="黑体" pitchFamily="2" charset="-122"/>
            </a:endParaRPr>
          </a:p>
          <a:p>
            <a:pPr>
              <a:lnSpc>
                <a:spcPct val="120000"/>
              </a:lnSpc>
            </a:pPr>
            <a:r>
              <a:rPr lang="en-US" altLang="zh-CN">
                <a:latin typeface="黑体" pitchFamily="2" charset="-122"/>
                <a:ea typeface="黑体" pitchFamily="2" charset="-122"/>
              </a:rPr>
              <a:t>&lt;1&gt; </a:t>
            </a:r>
            <a:r>
              <a:rPr lang="zh-CN" altLang="en-US">
                <a:latin typeface="黑体" pitchFamily="2" charset="-122"/>
                <a:ea typeface="黑体" pitchFamily="2" charset="-122"/>
              </a:rPr>
              <a:t>求阶差并对阶</a:t>
            </a:r>
          </a:p>
          <a:p>
            <a:pPr>
              <a:lnSpc>
                <a:spcPct val="120000"/>
              </a:lnSpc>
            </a:pPr>
            <a:r>
              <a:rPr lang="zh-CN" altLang="en-US">
                <a:latin typeface="黑体" pitchFamily="2" charset="-122"/>
                <a:ea typeface="黑体" pitchFamily="2" charset="-122"/>
              </a:rPr>
              <a:t>　　△</a:t>
            </a:r>
            <a:r>
              <a:rPr lang="en-US" altLang="zh-CN" i="1">
                <a:latin typeface="黑体" pitchFamily="2" charset="-122"/>
                <a:ea typeface="黑体" pitchFamily="2" charset="-122"/>
              </a:rPr>
              <a:t>E</a:t>
            </a:r>
            <a:r>
              <a:rPr lang="zh-CN" altLang="en-US">
                <a:latin typeface="黑体" pitchFamily="2" charset="-122"/>
                <a:ea typeface="黑体" pitchFamily="2" charset="-122"/>
              </a:rPr>
              <a:t>＝</a:t>
            </a:r>
            <a:r>
              <a:rPr lang="en-US" altLang="zh-CN" i="1">
                <a:latin typeface="黑体" pitchFamily="2" charset="-122"/>
                <a:ea typeface="黑体" pitchFamily="2" charset="-122"/>
              </a:rPr>
              <a:t>E</a:t>
            </a:r>
            <a:r>
              <a:rPr lang="zh-CN" altLang="en-US" i="1" baseline="-25000">
                <a:latin typeface="黑体" pitchFamily="2" charset="-122"/>
                <a:ea typeface="黑体" pitchFamily="2" charset="-122"/>
              </a:rPr>
              <a:t>ｘ</a:t>
            </a:r>
            <a:r>
              <a:rPr lang="zh-CN" altLang="en-US">
                <a:latin typeface="黑体" pitchFamily="2" charset="-122"/>
                <a:ea typeface="黑体" pitchFamily="2" charset="-122"/>
              </a:rPr>
              <a:t>－</a:t>
            </a:r>
            <a:r>
              <a:rPr lang="en-US" altLang="zh-CN" i="1">
                <a:latin typeface="黑体" pitchFamily="2" charset="-122"/>
                <a:ea typeface="黑体" pitchFamily="2" charset="-122"/>
              </a:rPr>
              <a:t>E</a:t>
            </a:r>
            <a:r>
              <a:rPr lang="zh-CN" altLang="en-US" i="1" baseline="-25000">
                <a:latin typeface="黑体" pitchFamily="2" charset="-122"/>
                <a:ea typeface="黑体" pitchFamily="2" charset="-122"/>
              </a:rPr>
              <a:t>ｙ</a:t>
            </a:r>
            <a:r>
              <a:rPr lang="zh-CN" altLang="en-US">
                <a:latin typeface="黑体" pitchFamily="2" charset="-122"/>
                <a:ea typeface="黑体" pitchFamily="2" charset="-122"/>
              </a:rPr>
              <a:t>＝</a:t>
            </a:r>
            <a:r>
              <a:rPr lang="en-US" altLang="zh-CN">
                <a:latin typeface="黑体" pitchFamily="2" charset="-122"/>
                <a:ea typeface="黑体" pitchFamily="2" charset="-122"/>
              </a:rPr>
              <a:t>[</a:t>
            </a:r>
            <a:r>
              <a:rPr lang="en-US" altLang="zh-CN" i="1">
                <a:latin typeface="黑体" pitchFamily="2" charset="-122"/>
                <a:ea typeface="黑体" pitchFamily="2" charset="-122"/>
              </a:rPr>
              <a:t>E</a:t>
            </a:r>
            <a:r>
              <a:rPr lang="zh-CN" altLang="en-US" i="1" baseline="-25000">
                <a:latin typeface="黑体" pitchFamily="2" charset="-122"/>
                <a:ea typeface="黑体" pitchFamily="2" charset="-122"/>
              </a:rPr>
              <a:t>ｘ</a:t>
            </a:r>
            <a:r>
              <a:rPr lang="en-US" altLang="zh-CN">
                <a:latin typeface="黑体" pitchFamily="2" charset="-122"/>
                <a:ea typeface="黑体" pitchFamily="2" charset="-122"/>
              </a:rPr>
              <a:t>]</a:t>
            </a:r>
            <a:r>
              <a:rPr lang="zh-CN" altLang="en-US" baseline="-25000">
                <a:latin typeface="黑体" pitchFamily="2" charset="-122"/>
                <a:ea typeface="黑体" pitchFamily="2" charset="-122"/>
              </a:rPr>
              <a:t>补</a:t>
            </a:r>
            <a:r>
              <a:rPr lang="zh-CN" altLang="en-US">
                <a:latin typeface="黑体" pitchFamily="2" charset="-122"/>
                <a:ea typeface="黑体" pitchFamily="2" charset="-122"/>
              </a:rPr>
              <a:t>＋</a:t>
            </a:r>
            <a:r>
              <a:rPr lang="en-US" altLang="zh-CN">
                <a:latin typeface="黑体" pitchFamily="2" charset="-122"/>
                <a:ea typeface="黑体" pitchFamily="2" charset="-122"/>
              </a:rPr>
              <a:t>[</a:t>
            </a:r>
            <a:r>
              <a:rPr lang="zh-CN" altLang="en-US">
                <a:latin typeface="黑体" pitchFamily="2" charset="-122"/>
                <a:ea typeface="黑体" pitchFamily="2" charset="-122"/>
              </a:rPr>
              <a:t>－</a:t>
            </a:r>
            <a:r>
              <a:rPr lang="en-US" altLang="zh-CN" i="1">
                <a:latin typeface="黑体" pitchFamily="2" charset="-122"/>
                <a:ea typeface="黑体" pitchFamily="2" charset="-122"/>
              </a:rPr>
              <a:t>E</a:t>
            </a:r>
            <a:r>
              <a:rPr lang="zh-CN" altLang="en-US" i="1" baseline="-25000">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补</a:t>
            </a:r>
            <a:r>
              <a:rPr lang="zh-CN" altLang="en-US">
                <a:latin typeface="黑体" pitchFamily="2" charset="-122"/>
                <a:ea typeface="黑体" pitchFamily="2" charset="-122"/>
              </a:rPr>
              <a:t>＝</a:t>
            </a:r>
            <a:r>
              <a:rPr lang="en-US" altLang="zh-CN">
                <a:latin typeface="黑体" pitchFamily="2" charset="-122"/>
                <a:ea typeface="黑体" pitchFamily="2" charset="-122"/>
              </a:rPr>
              <a:t>00 010</a:t>
            </a:r>
            <a:r>
              <a:rPr lang="zh-CN" altLang="en-US">
                <a:latin typeface="黑体" pitchFamily="2" charset="-122"/>
                <a:ea typeface="黑体" pitchFamily="2" charset="-122"/>
              </a:rPr>
              <a:t>＋</a:t>
            </a:r>
            <a:r>
              <a:rPr lang="en-US" altLang="zh-CN">
                <a:latin typeface="黑体" pitchFamily="2" charset="-122"/>
                <a:ea typeface="黑体" pitchFamily="2" charset="-122"/>
              </a:rPr>
              <a:t>11 100</a:t>
            </a:r>
            <a:r>
              <a:rPr lang="zh-CN" altLang="en-US">
                <a:latin typeface="黑体" pitchFamily="2" charset="-122"/>
                <a:ea typeface="黑体" pitchFamily="2" charset="-122"/>
              </a:rPr>
              <a:t>＝</a:t>
            </a:r>
            <a:r>
              <a:rPr lang="en-US" altLang="zh-CN">
                <a:latin typeface="黑体" pitchFamily="2" charset="-122"/>
                <a:ea typeface="黑体" pitchFamily="2" charset="-122"/>
              </a:rPr>
              <a:t>11 110</a:t>
            </a:r>
            <a:endParaRPr lang="zh-CN" altLang="en-US">
              <a:latin typeface="黑体" pitchFamily="2" charset="-122"/>
              <a:ea typeface="黑体" pitchFamily="2" charset="-122"/>
            </a:endParaRPr>
          </a:p>
          <a:p>
            <a:pPr>
              <a:lnSpc>
                <a:spcPct val="120000"/>
              </a:lnSpc>
            </a:pPr>
            <a:r>
              <a:rPr lang="zh-CN" altLang="en-US">
                <a:latin typeface="黑体" pitchFamily="2" charset="-122"/>
                <a:ea typeface="黑体" pitchFamily="2" charset="-122"/>
              </a:rPr>
              <a:t>    即△</a:t>
            </a:r>
            <a:r>
              <a:rPr lang="en-US" altLang="zh-CN" i="1">
                <a:latin typeface="黑体" pitchFamily="2" charset="-122"/>
                <a:ea typeface="黑体" pitchFamily="2" charset="-122"/>
              </a:rPr>
              <a:t>E</a:t>
            </a:r>
            <a:r>
              <a:rPr lang="zh-CN" altLang="en-US">
                <a:latin typeface="黑体" pitchFamily="2" charset="-122"/>
                <a:ea typeface="黑体" pitchFamily="2" charset="-122"/>
              </a:rPr>
              <a:t>为－</a:t>
            </a:r>
            <a:r>
              <a:rPr lang="en-US" altLang="zh-CN">
                <a:latin typeface="黑体" pitchFamily="2" charset="-122"/>
                <a:ea typeface="黑体" pitchFamily="2" charset="-122"/>
              </a:rPr>
              <a:t>2,</a:t>
            </a:r>
            <a:r>
              <a:rPr lang="zh-CN" altLang="en-US" i="1">
                <a:latin typeface="黑体" pitchFamily="2" charset="-122"/>
                <a:ea typeface="黑体" pitchFamily="2" charset="-122"/>
              </a:rPr>
              <a:t>ｘ</a:t>
            </a:r>
            <a:r>
              <a:rPr lang="zh-CN" altLang="en-US">
                <a:latin typeface="黑体" pitchFamily="2" charset="-122"/>
                <a:ea typeface="黑体" pitchFamily="2" charset="-122"/>
              </a:rPr>
              <a:t>的阶码小</a:t>
            </a:r>
            <a:r>
              <a:rPr lang="en-US" altLang="zh-CN">
                <a:latin typeface="黑体" pitchFamily="2" charset="-122"/>
                <a:ea typeface="黑体" pitchFamily="2" charset="-122"/>
              </a:rPr>
              <a:t>,</a:t>
            </a:r>
            <a:r>
              <a:rPr lang="zh-CN" altLang="en-US">
                <a:latin typeface="黑体" pitchFamily="2" charset="-122"/>
                <a:ea typeface="黑体" pitchFamily="2" charset="-122"/>
              </a:rPr>
              <a:t>应使</a:t>
            </a:r>
            <a:r>
              <a:rPr lang="en-US" altLang="zh-CN" i="1">
                <a:latin typeface="黑体" pitchFamily="2" charset="-122"/>
                <a:ea typeface="黑体" pitchFamily="2" charset="-122"/>
              </a:rPr>
              <a:t>M</a:t>
            </a:r>
            <a:r>
              <a:rPr lang="zh-CN" altLang="en-US" i="1" baseline="-25000">
                <a:latin typeface="黑体" pitchFamily="2" charset="-122"/>
                <a:ea typeface="黑体" pitchFamily="2" charset="-122"/>
              </a:rPr>
              <a:t>ｘ</a:t>
            </a:r>
            <a:r>
              <a:rPr lang="zh-CN" altLang="en-US">
                <a:latin typeface="黑体" pitchFamily="2" charset="-122"/>
                <a:ea typeface="黑体" pitchFamily="2" charset="-122"/>
              </a:rPr>
              <a:t>右移两位</a:t>
            </a:r>
            <a:r>
              <a:rPr lang="en-US" altLang="zh-CN">
                <a:latin typeface="黑体" pitchFamily="2" charset="-122"/>
                <a:ea typeface="黑体" pitchFamily="2" charset="-122"/>
              </a:rPr>
              <a:t>,</a:t>
            </a:r>
            <a:r>
              <a:rPr lang="en-US" altLang="zh-CN" i="1">
                <a:latin typeface="黑体" pitchFamily="2" charset="-122"/>
                <a:ea typeface="黑体" pitchFamily="2" charset="-122"/>
              </a:rPr>
              <a:t>E</a:t>
            </a:r>
            <a:r>
              <a:rPr lang="zh-CN" altLang="en-US" i="1" baseline="-25000">
                <a:latin typeface="黑体" pitchFamily="2" charset="-122"/>
                <a:ea typeface="黑体" pitchFamily="2" charset="-122"/>
              </a:rPr>
              <a:t>ｘ</a:t>
            </a:r>
            <a:r>
              <a:rPr lang="zh-CN" altLang="en-US">
                <a:latin typeface="黑体" pitchFamily="2" charset="-122"/>
                <a:ea typeface="黑体" pitchFamily="2" charset="-122"/>
              </a:rPr>
              <a:t>加</a:t>
            </a:r>
            <a:r>
              <a:rPr lang="en-US" altLang="zh-CN">
                <a:latin typeface="黑体" pitchFamily="2" charset="-122"/>
                <a:ea typeface="黑体" pitchFamily="2" charset="-122"/>
              </a:rPr>
              <a:t>2,</a:t>
            </a:r>
            <a:br>
              <a:rPr lang="en-US" altLang="zh-CN">
                <a:latin typeface="黑体" pitchFamily="2" charset="-122"/>
                <a:ea typeface="黑体" pitchFamily="2" charset="-122"/>
              </a:rPr>
            </a:br>
            <a:r>
              <a:rPr lang="zh-CN" altLang="en-US">
                <a:latin typeface="黑体" pitchFamily="2" charset="-122"/>
                <a:ea typeface="黑体" pitchFamily="2" charset="-122"/>
              </a:rPr>
              <a:t>　  </a:t>
            </a:r>
            <a:r>
              <a:rPr lang="en-US" altLang="zh-CN">
                <a:latin typeface="黑体" pitchFamily="2" charset="-122"/>
                <a:ea typeface="黑体" pitchFamily="2" charset="-122"/>
              </a:rPr>
              <a:t>[</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baseline="-25000">
                <a:latin typeface="黑体" pitchFamily="2" charset="-122"/>
                <a:ea typeface="黑体" pitchFamily="2" charset="-122"/>
              </a:rPr>
              <a:t>浮</a:t>
            </a:r>
            <a:r>
              <a:rPr lang="zh-CN" altLang="en-US">
                <a:latin typeface="黑体" pitchFamily="2" charset="-122"/>
                <a:ea typeface="黑体" pitchFamily="2" charset="-122"/>
              </a:rPr>
              <a:t>＝</a:t>
            </a:r>
            <a:r>
              <a:rPr lang="en-US" altLang="zh-CN">
                <a:latin typeface="黑体" pitchFamily="2" charset="-122"/>
                <a:ea typeface="黑体" pitchFamily="2" charset="-122"/>
              </a:rPr>
              <a:t>00 100, 0.00110110(11) </a:t>
            </a:r>
            <a:r>
              <a:rPr lang="zh-CN" altLang="en-US">
                <a:latin typeface="黑体" pitchFamily="2" charset="-122"/>
                <a:ea typeface="黑体" pitchFamily="2" charset="-122"/>
              </a:rPr>
              <a:t>其中</a:t>
            </a:r>
            <a:r>
              <a:rPr lang="en-US" altLang="zh-CN">
                <a:latin typeface="黑体" pitchFamily="2" charset="-122"/>
                <a:ea typeface="黑体" pitchFamily="2" charset="-122"/>
              </a:rPr>
              <a:t>(11)</a:t>
            </a:r>
            <a:r>
              <a:rPr lang="zh-CN" altLang="en-US">
                <a:latin typeface="黑体" pitchFamily="2" charset="-122"/>
                <a:ea typeface="黑体" pitchFamily="2" charset="-122"/>
              </a:rPr>
              <a:t>表示</a:t>
            </a:r>
            <a:r>
              <a:rPr lang="en-US" altLang="zh-CN" i="1">
                <a:latin typeface="黑体" pitchFamily="2" charset="-122"/>
                <a:ea typeface="黑体" pitchFamily="2" charset="-122"/>
              </a:rPr>
              <a:t>M</a:t>
            </a:r>
            <a:r>
              <a:rPr lang="zh-CN" altLang="en-US" i="1" baseline="-25000">
                <a:latin typeface="黑体" pitchFamily="2" charset="-122"/>
                <a:ea typeface="黑体" pitchFamily="2" charset="-122"/>
              </a:rPr>
              <a:t>ｘ</a:t>
            </a:r>
            <a:r>
              <a:rPr lang="zh-CN" altLang="en-US">
                <a:latin typeface="黑体" pitchFamily="2" charset="-122"/>
                <a:ea typeface="黑体" pitchFamily="2" charset="-122"/>
              </a:rPr>
              <a:t>右移</a:t>
            </a:r>
            <a:r>
              <a:rPr lang="en-US" altLang="zh-CN">
                <a:latin typeface="黑体" pitchFamily="2" charset="-122"/>
                <a:ea typeface="黑体" pitchFamily="2" charset="-122"/>
              </a:rPr>
              <a:t>2</a:t>
            </a:r>
            <a:r>
              <a:rPr lang="zh-CN" altLang="en-US">
                <a:latin typeface="黑体" pitchFamily="2" charset="-122"/>
                <a:ea typeface="黑体" pitchFamily="2" charset="-122"/>
              </a:rPr>
              <a:t>位后移出的最低两位数。</a:t>
            </a:r>
          </a:p>
          <a:p>
            <a:pPr>
              <a:lnSpc>
                <a:spcPct val="120000"/>
              </a:lnSpc>
            </a:pPr>
            <a:r>
              <a:rPr lang="en-US" altLang="zh-CN">
                <a:latin typeface="黑体" pitchFamily="2" charset="-122"/>
                <a:ea typeface="黑体" pitchFamily="2" charset="-122"/>
              </a:rPr>
              <a:t>&lt;2&gt; </a:t>
            </a:r>
            <a:r>
              <a:rPr lang="zh-CN" altLang="en-US">
                <a:latin typeface="黑体" pitchFamily="2" charset="-122"/>
                <a:ea typeface="黑体" pitchFamily="2" charset="-122"/>
              </a:rPr>
              <a:t>尾数求和  　　　　　　　</a:t>
            </a:r>
            <a:endParaRPr lang="en-US" altLang="zh-CN">
              <a:latin typeface="黑体" pitchFamily="2" charset="-122"/>
              <a:ea typeface="黑体" pitchFamily="2" charset="-122"/>
            </a:endParaRPr>
          </a:p>
          <a:p>
            <a:pPr>
              <a:lnSpc>
                <a:spcPct val="120000"/>
              </a:lnSpc>
            </a:pPr>
            <a:r>
              <a:rPr lang="en-US" altLang="zh-CN">
                <a:latin typeface="黑体" pitchFamily="2" charset="-122"/>
                <a:ea typeface="黑体" pitchFamily="2" charset="-122"/>
              </a:rPr>
              <a:t>                            0. 0 0 1 1 0 1 1 0 (11)</a:t>
            </a:r>
            <a:br>
              <a:rPr lang="en-US" altLang="zh-CN">
                <a:latin typeface="黑体" pitchFamily="2" charset="-122"/>
                <a:ea typeface="黑体" pitchFamily="2" charset="-122"/>
              </a:rPr>
            </a:br>
            <a:r>
              <a:rPr lang="zh-CN" altLang="en-US">
                <a:latin typeface="黑体" pitchFamily="2" charset="-122"/>
                <a:ea typeface="黑体" pitchFamily="2" charset="-122"/>
              </a:rPr>
              <a:t>　　　　　　　　　　　　＋　</a:t>
            </a:r>
            <a:r>
              <a:rPr lang="en-US" altLang="zh-CN">
                <a:latin typeface="黑体" pitchFamily="2" charset="-122"/>
                <a:ea typeface="黑体" pitchFamily="2" charset="-122"/>
              </a:rPr>
              <a:t>1. 0 1 0 1 0 1 0 0</a:t>
            </a:r>
            <a:br>
              <a:rPr lang="en-US" altLang="zh-CN">
                <a:latin typeface="黑体" pitchFamily="2" charset="-122"/>
                <a:ea typeface="黑体" pitchFamily="2" charset="-122"/>
              </a:rPr>
            </a:br>
            <a:r>
              <a:rPr lang="zh-CN" altLang="en-US">
                <a:latin typeface="黑体" pitchFamily="2" charset="-122"/>
                <a:ea typeface="黑体" pitchFamily="2" charset="-122"/>
              </a:rPr>
              <a:t>　　　　　　　　　　　────────────────</a:t>
            </a:r>
            <a:br>
              <a:rPr lang="zh-CN" altLang="en-US">
                <a:latin typeface="黑体" pitchFamily="2" charset="-122"/>
                <a:ea typeface="黑体" pitchFamily="2" charset="-122"/>
              </a:rPr>
            </a:br>
            <a:r>
              <a:rPr lang="zh-CN" altLang="en-US">
                <a:latin typeface="黑体" pitchFamily="2" charset="-122"/>
                <a:ea typeface="黑体" pitchFamily="2" charset="-122"/>
              </a:rPr>
              <a:t>　　　　　　　　　　　　　　</a:t>
            </a:r>
            <a:r>
              <a:rPr lang="en-US" altLang="zh-CN">
                <a:latin typeface="黑体" pitchFamily="2" charset="-122"/>
                <a:ea typeface="黑体" pitchFamily="2" charset="-122"/>
              </a:rPr>
              <a:t>1. 1 0 0 0 1 0 1 0 (11)</a:t>
            </a:r>
            <a:endParaRPr lang="zh-CN" altLang="en-US">
              <a:latin typeface="黑体" pitchFamily="2" charset="-122"/>
              <a:ea typeface="黑体" pitchFamily="2" charset="-122"/>
            </a:endParaRPr>
          </a:p>
          <a:p>
            <a:pPr>
              <a:lnSpc>
                <a:spcPct val="120000"/>
              </a:lnSpc>
            </a:pPr>
            <a:r>
              <a:rPr lang="en-US" altLang="zh-CN">
                <a:latin typeface="黑体" pitchFamily="2" charset="-122"/>
                <a:ea typeface="黑体" pitchFamily="2" charset="-122"/>
              </a:rPr>
              <a:t>&lt;3&gt;</a:t>
            </a:r>
            <a:r>
              <a:rPr lang="zh-CN" altLang="en-US">
                <a:latin typeface="黑体" pitchFamily="2" charset="-122"/>
                <a:ea typeface="黑体" pitchFamily="2" charset="-122"/>
              </a:rPr>
              <a:t>规格化处理</a:t>
            </a:r>
          </a:p>
          <a:p>
            <a:pPr>
              <a:lnSpc>
                <a:spcPct val="120000"/>
              </a:lnSpc>
            </a:pPr>
            <a:r>
              <a:rPr lang="zh-CN" altLang="en-US">
                <a:latin typeface="黑体" pitchFamily="2" charset="-122"/>
                <a:ea typeface="黑体" pitchFamily="2" charset="-122"/>
              </a:rPr>
              <a:t>　　尾数运算结果的符号位与最高数值位同值</a:t>
            </a:r>
            <a:r>
              <a:rPr lang="en-US" altLang="zh-CN">
                <a:latin typeface="黑体" pitchFamily="2" charset="-122"/>
                <a:ea typeface="黑体" pitchFamily="2" charset="-122"/>
              </a:rPr>
              <a:t>,</a:t>
            </a:r>
            <a:r>
              <a:rPr lang="zh-CN" altLang="en-US">
                <a:latin typeface="黑体" pitchFamily="2" charset="-122"/>
                <a:ea typeface="黑体" pitchFamily="2" charset="-122"/>
              </a:rPr>
              <a:t>应执行左规处理</a:t>
            </a:r>
            <a:r>
              <a:rPr lang="en-US" altLang="zh-CN">
                <a:latin typeface="黑体" pitchFamily="2" charset="-122"/>
                <a:ea typeface="黑体" pitchFamily="2" charset="-122"/>
              </a:rPr>
              <a:t>,</a:t>
            </a:r>
            <a:r>
              <a:rPr lang="zh-CN" altLang="en-US">
                <a:latin typeface="黑体" pitchFamily="2" charset="-122"/>
                <a:ea typeface="黑体" pitchFamily="2" charset="-122"/>
              </a:rPr>
              <a:t>结果为  </a:t>
            </a:r>
            <a:endParaRPr lang="en-US" altLang="zh-CN">
              <a:latin typeface="黑体" pitchFamily="2" charset="-122"/>
              <a:ea typeface="黑体" pitchFamily="2" charset="-122"/>
            </a:endParaRPr>
          </a:p>
          <a:p>
            <a:pPr>
              <a:lnSpc>
                <a:spcPct val="120000"/>
              </a:lnSpc>
            </a:pPr>
            <a:r>
              <a:rPr lang="en-US" altLang="zh-CN">
                <a:latin typeface="黑体" pitchFamily="2" charset="-122"/>
                <a:ea typeface="黑体" pitchFamily="2" charset="-122"/>
              </a:rPr>
              <a:t>    1.00010101(10),</a:t>
            </a:r>
            <a:r>
              <a:rPr lang="zh-CN" altLang="en-US">
                <a:latin typeface="黑体" pitchFamily="2" charset="-122"/>
                <a:ea typeface="黑体" pitchFamily="2" charset="-122"/>
              </a:rPr>
              <a:t>阶码为 </a:t>
            </a:r>
            <a:r>
              <a:rPr lang="en-US" altLang="zh-CN">
                <a:latin typeface="黑体" pitchFamily="2" charset="-122"/>
                <a:ea typeface="黑体" pitchFamily="2" charset="-122"/>
              </a:rPr>
              <a:t>00 011</a:t>
            </a:r>
            <a:r>
              <a:rPr lang="zh-CN" altLang="en-US">
                <a:latin typeface="黑体" pitchFamily="2" charset="-122"/>
                <a:ea typeface="黑体" pitchFamily="2" charset="-122"/>
              </a:rPr>
              <a:t>。</a:t>
            </a:r>
          </a:p>
          <a:p>
            <a:pPr>
              <a:lnSpc>
                <a:spcPct val="120000"/>
              </a:lnSpc>
            </a:pPr>
            <a:r>
              <a:rPr lang="en-US" altLang="zh-CN">
                <a:latin typeface="黑体" pitchFamily="2" charset="-122"/>
                <a:ea typeface="黑体" pitchFamily="2" charset="-122"/>
              </a:rPr>
              <a:t>&lt;4&gt;</a:t>
            </a:r>
            <a:r>
              <a:rPr lang="zh-CN" altLang="en-US">
                <a:latin typeface="黑体" pitchFamily="2" charset="-122"/>
                <a:ea typeface="黑体" pitchFamily="2" charset="-122"/>
              </a:rPr>
              <a:t>舍入处理</a:t>
            </a:r>
          </a:p>
          <a:p>
            <a:pPr>
              <a:lnSpc>
                <a:spcPct val="120000"/>
              </a:lnSpc>
            </a:pPr>
            <a:r>
              <a:rPr lang="zh-CN" altLang="en-US">
                <a:latin typeface="黑体" pitchFamily="2" charset="-122"/>
                <a:ea typeface="黑体" pitchFamily="2" charset="-122"/>
              </a:rPr>
              <a:t>　　采用</a:t>
            </a:r>
            <a:r>
              <a:rPr lang="en-US" altLang="zh-CN">
                <a:latin typeface="黑体" pitchFamily="2" charset="-122"/>
                <a:ea typeface="黑体" pitchFamily="2" charset="-122"/>
              </a:rPr>
              <a:t>0</a:t>
            </a:r>
            <a:r>
              <a:rPr lang="zh-CN" altLang="en-US">
                <a:latin typeface="黑体" pitchFamily="2" charset="-122"/>
                <a:ea typeface="黑体" pitchFamily="2" charset="-122"/>
              </a:rPr>
              <a:t>舍</a:t>
            </a:r>
            <a:r>
              <a:rPr lang="en-US" altLang="zh-CN">
                <a:latin typeface="黑体" pitchFamily="2" charset="-122"/>
                <a:ea typeface="黑体" pitchFamily="2" charset="-122"/>
              </a:rPr>
              <a:t>1</a:t>
            </a:r>
            <a:r>
              <a:rPr lang="zh-CN" altLang="en-US">
                <a:latin typeface="黑体" pitchFamily="2" charset="-122"/>
                <a:ea typeface="黑体" pitchFamily="2" charset="-122"/>
              </a:rPr>
              <a:t>入法处理</a:t>
            </a:r>
            <a:r>
              <a:rPr lang="en-US" altLang="zh-CN">
                <a:latin typeface="黑体" pitchFamily="2" charset="-122"/>
                <a:ea typeface="黑体" pitchFamily="2" charset="-122"/>
              </a:rPr>
              <a:t>,</a:t>
            </a:r>
            <a:r>
              <a:rPr lang="zh-CN" altLang="en-US">
                <a:latin typeface="黑体" pitchFamily="2" charset="-122"/>
                <a:ea typeface="黑体" pitchFamily="2" charset="-122"/>
              </a:rPr>
              <a:t>则有</a:t>
            </a:r>
            <a:r>
              <a:rPr lang="en-US" altLang="zh-CN">
                <a:latin typeface="黑体" pitchFamily="2" charset="-122"/>
                <a:ea typeface="黑体" pitchFamily="2" charset="-122"/>
              </a:rPr>
              <a:t>1.00010101</a:t>
            </a:r>
            <a:r>
              <a:rPr lang="zh-CN" altLang="en-US">
                <a:latin typeface="黑体" pitchFamily="2" charset="-122"/>
                <a:ea typeface="黑体" pitchFamily="2" charset="-122"/>
              </a:rPr>
              <a:t>＋</a:t>
            </a:r>
            <a:r>
              <a:rPr lang="en-US" altLang="zh-CN">
                <a:latin typeface="黑体" pitchFamily="2" charset="-122"/>
                <a:ea typeface="黑体" pitchFamily="2" charset="-122"/>
              </a:rPr>
              <a:t>1 = 1.00010110</a:t>
            </a:r>
            <a:endParaRPr lang="zh-CN" altLang="en-US">
              <a:latin typeface="黑体" pitchFamily="2" charset="-122"/>
              <a:ea typeface="黑体" pitchFamily="2" charset="-122"/>
            </a:endParaRPr>
          </a:p>
          <a:p>
            <a:pPr>
              <a:lnSpc>
                <a:spcPct val="120000"/>
              </a:lnSpc>
            </a:pPr>
            <a:r>
              <a:rPr lang="en-US" altLang="zh-CN">
                <a:latin typeface="黑体" pitchFamily="2" charset="-122"/>
                <a:ea typeface="黑体" pitchFamily="2" charset="-122"/>
              </a:rPr>
              <a:t>&lt;5&gt;</a:t>
            </a:r>
            <a:r>
              <a:rPr lang="zh-CN" altLang="en-US">
                <a:latin typeface="黑体" pitchFamily="2" charset="-122"/>
                <a:ea typeface="黑体" pitchFamily="2" charset="-122"/>
              </a:rPr>
              <a:t>判溢出</a:t>
            </a:r>
          </a:p>
          <a:p>
            <a:pPr>
              <a:lnSpc>
                <a:spcPct val="120000"/>
              </a:lnSpc>
            </a:pPr>
            <a:r>
              <a:rPr lang="zh-CN" altLang="en-US">
                <a:latin typeface="黑体" pitchFamily="2" charset="-122"/>
                <a:ea typeface="黑体" pitchFamily="2" charset="-122"/>
              </a:rPr>
              <a:t>　　阶码符号位为</a:t>
            </a:r>
            <a:r>
              <a:rPr lang="en-US" altLang="zh-CN">
                <a:latin typeface="黑体" pitchFamily="2" charset="-122"/>
                <a:ea typeface="黑体" pitchFamily="2" charset="-122"/>
              </a:rPr>
              <a:t>00,</a:t>
            </a:r>
            <a:r>
              <a:rPr lang="zh-CN" altLang="en-US">
                <a:latin typeface="黑体" pitchFamily="2" charset="-122"/>
                <a:ea typeface="黑体" pitchFamily="2" charset="-122"/>
              </a:rPr>
              <a:t>不溢出</a:t>
            </a:r>
            <a:r>
              <a:rPr lang="en-US" altLang="zh-CN">
                <a:latin typeface="黑体" pitchFamily="2" charset="-122"/>
                <a:ea typeface="黑体" pitchFamily="2" charset="-122"/>
              </a:rPr>
              <a:t>,</a:t>
            </a:r>
            <a:r>
              <a:rPr lang="zh-CN" altLang="en-US">
                <a:latin typeface="黑体" pitchFamily="2" charset="-122"/>
                <a:ea typeface="黑体" pitchFamily="2" charset="-122"/>
              </a:rPr>
              <a:t>故得最终结果为</a:t>
            </a:r>
            <a:r>
              <a:rPr lang="zh-CN" altLang="en-US" i="1">
                <a:latin typeface="黑体" pitchFamily="2" charset="-122"/>
                <a:ea typeface="黑体" pitchFamily="2" charset="-122"/>
              </a:rPr>
              <a:t>ｘ</a:t>
            </a:r>
            <a:r>
              <a:rPr lang="zh-CN" altLang="en-US">
                <a:latin typeface="黑体" pitchFamily="2" charset="-122"/>
                <a:ea typeface="黑体" pitchFamily="2" charset="-122"/>
              </a:rPr>
              <a:t>＋</a:t>
            </a:r>
            <a:r>
              <a:rPr lang="zh-CN" altLang="en-US" i="1">
                <a:latin typeface="黑体" pitchFamily="2" charset="-122"/>
                <a:ea typeface="黑体" pitchFamily="2" charset="-122"/>
              </a:rPr>
              <a:t>ｙ</a:t>
            </a:r>
            <a:r>
              <a:rPr lang="zh-CN" altLang="en-US">
                <a:latin typeface="黑体" pitchFamily="2" charset="-122"/>
                <a:ea typeface="黑体" pitchFamily="2" charset="-122"/>
              </a:rPr>
              <a:t>＝</a:t>
            </a:r>
            <a:r>
              <a:rPr lang="en-US" altLang="zh-CN">
                <a:latin typeface="黑体" pitchFamily="2" charset="-122"/>
                <a:ea typeface="黑体" pitchFamily="2" charset="-122"/>
              </a:rPr>
              <a:t>2</a:t>
            </a:r>
            <a:r>
              <a:rPr lang="en-US" altLang="zh-CN" baseline="30000">
                <a:latin typeface="黑体" pitchFamily="2" charset="-122"/>
                <a:ea typeface="黑体" pitchFamily="2" charset="-122"/>
              </a:rPr>
              <a:t>011</a:t>
            </a:r>
            <a:r>
              <a:rPr lang="en-US" altLang="zh-CN">
                <a:latin typeface="黑体" pitchFamily="2" charset="-122"/>
                <a:ea typeface="黑体" pitchFamily="2" charset="-122"/>
              </a:rPr>
              <a:t>×(</a:t>
            </a:r>
            <a:r>
              <a:rPr lang="zh-CN" altLang="en-US">
                <a:latin typeface="黑体" pitchFamily="2" charset="-122"/>
                <a:ea typeface="黑体" pitchFamily="2" charset="-122"/>
              </a:rPr>
              <a:t>－</a:t>
            </a:r>
            <a:r>
              <a:rPr lang="en-US" altLang="zh-CN">
                <a:latin typeface="黑体" pitchFamily="2" charset="-122"/>
                <a:ea typeface="黑体" pitchFamily="2" charset="-122"/>
              </a:rPr>
              <a:t>0.11101010)</a:t>
            </a:r>
            <a:endParaRPr lang="zh-CN" altLang="en-US">
              <a:latin typeface="黑体" pitchFamily="2" charset="-122"/>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22" name="矩形 1"/>
          <p:cNvSpPr>
            <a:spLocks noChangeArrowheads="1"/>
          </p:cNvSpPr>
          <p:nvPr/>
        </p:nvSpPr>
        <p:spPr bwMode="auto">
          <a:xfrm>
            <a:off x="179388" y="188913"/>
            <a:ext cx="8713787" cy="655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000">
                <a:latin typeface="黑体" pitchFamily="2" charset="-122"/>
                <a:ea typeface="黑体" pitchFamily="2" charset="-122"/>
              </a:rPr>
              <a:t>P64 9(2) </a:t>
            </a:r>
            <a:r>
              <a:rPr lang="zh-CN" altLang="en-US" sz="2000">
                <a:latin typeface="黑体" pitchFamily="2" charset="-122"/>
                <a:ea typeface="黑体" pitchFamily="2" charset="-122"/>
              </a:rPr>
              <a:t>设阶码</a:t>
            </a:r>
            <a:r>
              <a:rPr lang="en-US" altLang="zh-CN" sz="2000">
                <a:latin typeface="黑体" pitchFamily="2" charset="-122"/>
                <a:ea typeface="黑体" pitchFamily="2" charset="-122"/>
              </a:rPr>
              <a:t>3</a:t>
            </a:r>
            <a:r>
              <a:rPr lang="zh-CN" altLang="en-US" sz="2000">
                <a:latin typeface="黑体" pitchFamily="2" charset="-122"/>
                <a:ea typeface="黑体" pitchFamily="2" charset="-122"/>
              </a:rPr>
              <a:t>位，尾数</a:t>
            </a:r>
            <a:r>
              <a:rPr lang="en-US" altLang="zh-CN" sz="2000">
                <a:latin typeface="黑体" pitchFamily="2" charset="-122"/>
                <a:ea typeface="黑体" pitchFamily="2" charset="-122"/>
              </a:rPr>
              <a:t>6</a:t>
            </a:r>
            <a:r>
              <a:rPr lang="zh-CN" altLang="en-US" sz="2000">
                <a:latin typeface="黑体" pitchFamily="2" charset="-122"/>
                <a:ea typeface="黑体" pitchFamily="2" charset="-122"/>
              </a:rPr>
              <a:t>位，用浮点运算方法，完成</a:t>
            </a:r>
            <a:r>
              <a:rPr lang="en-US" altLang="zh-CN" sz="2000">
                <a:latin typeface="黑体" pitchFamily="2" charset="-122"/>
                <a:ea typeface="黑体" pitchFamily="2" charset="-122"/>
              </a:rPr>
              <a:t>[</a:t>
            </a:r>
            <a:r>
              <a:rPr lang="zh-CN" altLang="en-US" sz="2000">
                <a:latin typeface="黑体" pitchFamily="2" charset="-122"/>
                <a:ea typeface="黑体" pitchFamily="2" charset="-122"/>
              </a:rPr>
              <a:t>ｘ＋ｙ</a:t>
            </a:r>
            <a:r>
              <a:rPr lang="en-US" altLang="zh-CN" sz="2000">
                <a:latin typeface="黑体" pitchFamily="2" charset="-122"/>
                <a:ea typeface="黑体" pitchFamily="2" charset="-122"/>
              </a:rPr>
              <a:t>]</a:t>
            </a:r>
            <a:r>
              <a:rPr lang="zh-CN" altLang="en-US" sz="2000">
                <a:latin typeface="黑体" pitchFamily="2" charset="-122"/>
                <a:ea typeface="黑体" pitchFamily="2" charset="-122"/>
              </a:rPr>
              <a:t>和</a:t>
            </a:r>
            <a:endParaRPr lang="en-US" altLang="zh-CN" sz="2000">
              <a:latin typeface="黑体" pitchFamily="2" charset="-122"/>
              <a:ea typeface="黑体" pitchFamily="2" charset="-122"/>
            </a:endParaRPr>
          </a:p>
          <a:p>
            <a:pPr>
              <a:lnSpc>
                <a:spcPct val="150000"/>
              </a:lnSpc>
            </a:pPr>
            <a:r>
              <a:rPr lang="en-US" altLang="zh-CN" sz="2000">
                <a:latin typeface="黑体" pitchFamily="2" charset="-122"/>
                <a:ea typeface="黑体" pitchFamily="2" charset="-122"/>
              </a:rPr>
              <a:t>[</a:t>
            </a:r>
            <a:r>
              <a:rPr lang="zh-CN" altLang="en-US" sz="2000">
                <a:latin typeface="黑体" pitchFamily="2" charset="-122"/>
                <a:ea typeface="黑体" pitchFamily="2" charset="-122"/>
              </a:rPr>
              <a:t>ｘ</a:t>
            </a:r>
            <a:r>
              <a:rPr lang="en-US" altLang="zh-CN" sz="2000">
                <a:latin typeface="黑体" pitchFamily="2" charset="-122"/>
                <a:ea typeface="黑体" pitchFamily="2" charset="-122"/>
              </a:rPr>
              <a:t>-</a:t>
            </a:r>
            <a:r>
              <a:rPr lang="zh-CN" altLang="en-US" sz="2000">
                <a:latin typeface="黑体" pitchFamily="2" charset="-122"/>
                <a:ea typeface="黑体" pitchFamily="2" charset="-122"/>
              </a:rPr>
              <a:t>ｙ</a:t>
            </a:r>
            <a:r>
              <a:rPr lang="en-US" altLang="zh-CN" sz="2000">
                <a:latin typeface="黑体" pitchFamily="2" charset="-122"/>
                <a:ea typeface="黑体" pitchFamily="2" charset="-122"/>
              </a:rPr>
              <a:t>]</a:t>
            </a:r>
            <a:r>
              <a:rPr lang="zh-CN" altLang="en-US" sz="2000">
                <a:latin typeface="黑体" pitchFamily="2" charset="-122"/>
                <a:ea typeface="黑体" pitchFamily="2" charset="-122"/>
              </a:rPr>
              <a:t>运算：</a:t>
            </a:r>
            <a:r>
              <a:rPr lang="zh-CN" altLang="en-US" sz="2000" i="1">
                <a:latin typeface="黑体" pitchFamily="2" charset="-122"/>
                <a:ea typeface="黑体" pitchFamily="2" charset="-122"/>
              </a:rPr>
              <a:t>ｘ</a:t>
            </a:r>
            <a:r>
              <a:rPr lang="zh-CN" altLang="en-US" sz="2000">
                <a:latin typeface="黑体" pitchFamily="2" charset="-122"/>
                <a:ea typeface="黑体" pitchFamily="2" charset="-122"/>
              </a:rPr>
              <a:t>＝</a:t>
            </a:r>
            <a:r>
              <a:rPr lang="en-US" altLang="zh-CN" sz="2000">
                <a:latin typeface="黑体" pitchFamily="2" charset="-122"/>
                <a:ea typeface="黑体" pitchFamily="2" charset="-122"/>
              </a:rPr>
              <a:t>2</a:t>
            </a:r>
            <a:r>
              <a:rPr lang="en-US" altLang="zh-CN" sz="2000" baseline="30000">
                <a:latin typeface="黑体" pitchFamily="2" charset="-122"/>
                <a:ea typeface="黑体" pitchFamily="2" charset="-122"/>
              </a:rPr>
              <a:t>-101</a:t>
            </a:r>
            <a:r>
              <a:rPr lang="en-US" altLang="zh-CN" sz="2000">
                <a:latin typeface="黑体" pitchFamily="2" charset="-122"/>
                <a:ea typeface="黑体" pitchFamily="2" charset="-122"/>
              </a:rPr>
              <a:t>×</a:t>
            </a:r>
            <a:r>
              <a:rPr lang="zh-CN" altLang="en-US" sz="2000">
                <a:latin typeface="黑体" pitchFamily="2" charset="-122"/>
                <a:ea typeface="黑体" pitchFamily="2" charset="-122"/>
              </a:rPr>
              <a:t>（</a:t>
            </a:r>
            <a:r>
              <a:rPr lang="en-US" altLang="zh-CN" sz="2000">
                <a:latin typeface="黑体" pitchFamily="2" charset="-122"/>
                <a:ea typeface="黑体" pitchFamily="2" charset="-122"/>
              </a:rPr>
              <a:t>-0.010110</a:t>
            </a:r>
            <a:r>
              <a:rPr lang="zh-CN" altLang="en-US" sz="2000">
                <a:latin typeface="黑体" pitchFamily="2" charset="-122"/>
                <a:ea typeface="黑体" pitchFamily="2" charset="-122"/>
              </a:rPr>
              <a:t>）</a:t>
            </a:r>
            <a:r>
              <a:rPr lang="en-US" altLang="zh-CN" sz="2000">
                <a:latin typeface="黑体" pitchFamily="2" charset="-122"/>
                <a:ea typeface="黑体" pitchFamily="2" charset="-122"/>
              </a:rPr>
              <a:t>,</a:t>
            </a:r>
            <a:r>
              <a:rPr lang="zh-CN" altLang="en-US" sz="2000" i="1">
                <a:latin typeface="黑体" pitchFamily="2" charset="-122"/>
                <a:ea typeface="黑体" pitchFamily="2" charset="-122"/>
              </a:rPr>
              <a:t>ｙ</a:t>
            </a:r>
            <a:r>
              <a:rPr lang="zh-CN" altLang="en-US" sz="2000">
                <a:latin typeface="黑体" pitchFamily="2" charset="-122"/>
                <a:ea typeface="黑体" pitchFamily="2" charset="-122"/>
              </a:rPr>
              <a:t>＝</a:t>
            </a:r>
            <a:r>
              <a:rPr lang="en-US" altLang="zh-CN" sz="2000">
                <a:latin typeface="黑体" pitchFamily="2" charset="-122"/>
                <a:ea typeface="黑体" pitchFamily="2" charset="-122"/>
              </a:rPr>
              <a:t>2</a:t>
            </a:r>
            <a:r>
              <a:rPr lang="en-US" altLang="zh-CN" sz="2000" baseline="30000">
                <a:latin typeface="黑体" pitchFamily="2" charset="-122"/>
                <a:ea typeface="黑体" pitchFamily="2" charset="-122"/>
              </a:rPr>
              <a:t>-100</a:t>
            </a:r>
            <a:r>
              <a:rPr lang="en-US" altLang="zh-CN" sz="2000">
                <a:latin typeface="黑体" pitchFamily="2" charset="-122"/>
                <a:ea typeface="黑体" pitchFamily="2" charset="-122"/>
              </a:rPr>
              <a:t>×(0.010110)</a:t>
            </a:r>
            <a:endParaRPr lang="zh-CN" altLang="en-US" sz="2000">
              <a:latin typeface="黑体" pitchFamily="2" charset="-122"/>
              <a:ea typeface="黑体" pitchFamily="2" charset="-122"/>
            </a:endParaRPr>
          </a:p>
          <a:p>
            <a:pPr>
              <a:lnSpc>
                <a:spcPct val="200000"/>
              </a:lnSpc>
            </a:pPr>
            <a:r>
              <a:rPr lang="zh-CN" altLang="en-US" sz="2000">
                <a:latin typeface="黑体" pitchFamily="2" charset="-122"/>
                <a:ea typeface="黑体" pitchFamily="2" charset="-122"/>
              </a:rPr>
              <a:t>解</a:t>
            </a:r>
            <a:r>
              <a:rPr lang="en-US" altLang="zh-CN" sz="2000">
                <a:latin typeface="黑体" pitchFamily="2" charset="-122"/>
                <a:ea typeface="黑体" pitchFamily="2" charset="-122"/>
              </a:rPr>
              <a:t>: </a:t>
            </a:r>
            <a:r>
              <a:rPr lang="zh-CN" altLang="en-US" sz="2000">
                <a:latin typeface="黑体" pitchFamily="2" charset="-122"/>
                <a:ea typeface="黑体" pitchFamily="2" charset="-122"/>
              </a:rPr>
              <a:t>假设两数均以补码表示</a:t>
            </a:r>
            <a:r>
              <a:rPr lang="en-US" altLang="zh-CN" sz="2000">
                <a:latin typeface="黑体" pitchFamily="2" charset="-122"/>
                <a:ea typeface="黑体" pitchFamily="2" charset="-122"/>
              </a:rPr>
              <a:t>,</a:t>
            </a:r>
            <a:r>
              <a:rPr lang="zh-CN" altLang="en-US" sz="2000">
                <a:latin typeface="黑体" pitchFamily="2" charset="-122"/>
                <a:ea typeface="黑体" pitchFamily="2" charset="-122"/>
              </a:rPr>
              <a:t>阶码采用双符号位</a:t>
            </a:r>
            <a:r>
              <a:rPr lang="en-US" altLang="zh-CN" sz="2000">
                <a:latin typeface="黑体" pitchFamily="2" charset="-122"/>
                <a:ea typeface="黑体" pitchFamily="2" charset="-122"/>
              </a:rPr>
              <a:t>,</a:t>
            </a:r>
            <a:r>
              <a:rPr lang="zh-CN" altLang="en-US" sz="2000">
                <a:latin typeface="黑体" pitchFamily="2" charset="-122"/>
                <a:ea typeface="黑体" pitchFamily="2" charset="-122"/>
              </a:rPr>
              <a:t>尾数采用单符号位</a:t>
            </a:r>
            <a:r>
              <a:rPr lang="en-US" altLang="zh-CN" sz="2000">
                <a:latin typeface="黑体" pitchFamily="2" charset="-122"/>
                <a:ea typeface="黑体" pitchFamily="2" charset="-122"/>
              </a:rPr>
              <a:t>,</a:t>
            </a:r>
          </a:p>
          <a:p>
            <a:pPr>
              <a:lnSpc>
                <a:spcPct val="20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则它们的浮点表示分别为</a:t>
            </a:r>
          </a:p>
          <a:p>
            <a:pPr>
              <a:lnSpc>
                <a:spcPct val="200000"/>
              </a:lnSpc>
            </a:pPr>
            <a:r>
              <a:rPr lang="en-US" altLang="zh-CN" sz="2000">
                <a:latin typeface="黑体" pitchFamily="2" charset="-122"/>
                <a:ea typeface="黑体" pitchFamily="2" charset="-122"/>
              </a:rPr>
              <a:t>    [</a:t>
            </a:r>
            <a:r>
              <a:rPr lang="zh-CN" altLang="en-US" sz="2000" i="1">
                <a:latin typeface="黑体" pitchFamily="2" charset="-122"/>
                <a:ea typeface="黑体" pitchFamily="2" charset="-122"/>
              </a:rPr>
              <a:t>ｘ</a:t>
            </a:r>
            <a:r>
              <a:rPr lang="en-US" altLang="zh-CN" sz="2000">
                <a:latin typeface="黑体" pitchFamily="2" charset="-122"/>
                <a:ea typeface="黑体" pitchFamily="2" charset="-122"/>
              </a:rPr>
              <a:t>]</a:t>
            </a:r>
            <a:r>
              <a:rPr lang="zh-CN" altLang="en-US" sz="2000" baseline="-25000">
                <a:latin typeface="黑体" pitchFamily="2" charset="-122"/>
                <a:ea typeface="黑体" pitchFamily="2" charset="-122"/>
              </a:rPr>
              <a:t>浮</a:t>
            </a:r>
            <a:r>
              <a:rPr lang="zh-CN" altLang="en-US" sz="2000">
                <a:latin typeface="黑体" pitchFamily="2" charset="-122"/>
                <a:ea typeface="黑体" pitchFamily="2" charset="-122"/>
              </a:rPr>
              <a:t>＝</a:t>
            </a:r>
            <a:r>
              <a:rPr lang="en-US" altLang="zh-CN" sz="2000">
                <a:latin typeface="黑体" pitchFamily="2" charset="-122"/>
                <a:ea typeface="黑体" pitchFamily="2" charset="-122"/>
              </a:rPr>
              <a:t>11 011,</a:t>
            </a:r>
            <a:r>
              <a:rPr lang="zh-CN" altLang="en-US" sz="2000">
                <a:latin typeface="黑体" pitchFamily="2" charset="-122"/>
                <a:ea typeface="黑体" pitchFamily="2" charset="-122"/>
              </a:rPr>
              <a:t>　　</a:t>
            </a:r>
            <a:r>
              <a:rPr lang="en-US" altLang="zh-CN" sz="2000">
                <a:latin typeface="黑体" pitchFamily="2" charset="-122"/>
                <a:ea typeface="黑体" pitchFamily="2" charset="-122"/>
              </a:rPr>
              <a:t>1.101010</a:t>
            </a:r>
            <a:endParaRPr lang="zh-CN" altLang="en-US" sz="2000">
              <a:latin typeface="黑体" pitchFamily="2" charset="-122"/>
              <a:ea typeface="黑体" pitchFamily="2" charset="-122"/>
            </a:endParaRPr>
          </a:p>
          <a:p>
            <a:pPr>
              <a:lnSpc>
                <a:spcPct val="200000"/>
              </a:lnSpc>
            </a:pPr>
            <a:r>
              <a:rPr lang="en-US" altLang="zh-CN" sz="2000">
                <a:latin typeface="黑体" pitchFamily="2" charset="-122"/>
                <a:ea typeface="黑体" pitchFamily="2" charset="-122"/>
              </a:rPr>
              <a:t>    [</a:t>
            </a:r>
            <a:r>
              <a:rPr lang="zh-CN" altLang="en-US" sz="2000" i="1">
                <a:latin typeface="黑体" pitchFamily="2" charset="-122"/>
                <a:ea typeface="黑体" pitchFamily="2" charset="-122"/>
              </a:rPr>
              <a:t>ｙ</a:t>
            </a:r>
            <a:r>
              <a:rPr lang="en-US" altLang="zh-CN" sz="2000">
                <a:latin typeface="黑体" pitchFamily="2" charset="-122"/>
                <a:ea typeface="黑体" pitchFamily="2" charset="-122"/>
              </a:rPr>
              <a:t>]</a:t>
            </a:r>
            <a:r>
              <a:rPr lang="zh-CN" altLang="en-US" sz="2000" baseline="-25000">
                <a:latin typeface="黑体" pitchFamily="2" charset="-122"/>
                <a:ea typeface="黑体" pitchFamily="2" charset="-122"/>
              </a:rPr>
              <a:t>浮</a:t>
            </a:r>
            <a:r>
              <a:rPr lang="zh-CN" altLang="en-US" sz="2000">
                <a:latin typeface="黑体" pitchFamily="2" charset="-122"/>
                <a:ea typeface="黑体" pitchFamily="2" charset="-122"/>
              </a:rPr>
              <a:t>＝</a:t>
            </a:r>
            <a:r>
              <a:rPr lang="en-US" altLang="zh-CN" sz="2000">
                <a:latin typeface="黑体" pitchFamily="2" charset="-122"/>
                <a:ea typeface="黑体" pitchFamily="2" charset="-122"/>
              </a:rPr>
              <a:t>11 100,</a:t>
            </a:r>
            <a:r>
              <a:rPr lang="zh-CN" altLang="en-US" sz="2000">
                <a:latin typeface="黑体" pitchFamily="2" charset="-122"/>
                <a:ea typeface="黑体" pitchFamily="2" charset="-122"/>
              </a:rPr>
              <a:t>　　</a:t>
            </a:r>
            <a:r>
              <a:rPr lang="en-US" altLang="zh-CN" sz="2000">
                <a:latin typeface="黑体" pitchFamily="2" charset="-122"/>
                <a:ea typeface="黑体" pitchFamily="2" charset="-122"/>
              </a:rPr>
              <a:t>0.010110</a:t>
            </a:r>
            <a:endParaRPr lang="zh-CN" altLang="en-US" sz="2000">
              <a:latin typeface="黑体" pitchFamily="2" charset="-122"/>
              <a:ea typeface="黑体" pitchFamily="2" charset="-122"/>
            </a:endParaRPr>
          </a:p>
          <a:p>
            <a:pPr>
              <a:lnSpc>
                <a:spcPct val="200000"/>
              </a:lnSpc>
            </a:pPr>
            <a:r>
              <a:rPr lang="zh-CN" altLang="en-US" sz="2000">
                <a:latin typeface="黑体" pitchFamily="2" charset="-122"/>
                <a:ea typeface="黑体" pitchFamily="2" charset="-122"/>
              </a:rPr>
              <a:t>    求阶差并对阶</a:t>
            </a:r>
          </a:p>
          <a:p>
            <a:pPr>
              <a:lnSpc>
                <a:spcPct val="200000"/>
              </a:lnSpc>
            </a:pPr>
            <a:r>
              <a:rPr lang="zh-CN" altLang="en-US" sz="2000">
                <a:latin typeface="黑体" pitchFamily="2" charset="-122"/>
                <a:ea typeface="黑体" pitchFamily="2" charset="-122"/>
              </a:rPr>
              <a:t>　　△</a:t>
            </a:r>
            <a:r>
              <a:rPr lang="en-US" altLang="zh-CN" sz="2000" i="1">
                <a:latin typeface="黑体" pitchFamily="2" charset="-122"/>
                <a:ea typeface="黑体" pitchFamily="2" charset="-122"/>
              </a:rPr>
              <a:t>E</a:t>
            </a:r>
            <a:r>
              <a:rPr lang="zh-CN" altLang="en-US" sz="2000">
                <a:latin typeface="黑体" pitchFamily="2" charset="-122"/>
                <a:ea typeface="黑体" pitchFamily="2" charset="-122"/>
              </a:rPr>
              <a:t>＝</a:t>
            </a:r>
            <a:r>
              <a:rPr lang="en-US" altLang="zh-CN" sz="2000" i="1">
                <a:latin typeface="黑体" pitchFamily="2" charset="-122"/>
                <a:ea typeface="黑体" pitchFamily="2" charset="-122"/>
              </a:rPr>
              <a:t>E</a:t>
            </a:r>
            <a:r>
              <a:rPr lang="zh-CN" altLang="en-US" sz="2000" i="1" baseline="-25000">
                <a:latin typeface="黑体" pitchFamily="2" charset="-122"/>
                <a:ea typeface="黑体" pitchFamily="2" charset="-122"/>
              </a:rPr>
              <a:t>ｘ</a:t>
            </a:r>
            <a:r>
              <a:rPr lang="zh-CN" altLang="en-US" sz="2000">
                <a:latin typeface="黑体" pitchFamily="2" charset="-122"/>
                <a:ea typeface="黑体" pitchFamily="2" charset="-122"/>
              </a:rPr>
              <a:t>－</a:t>
            </a:r>
            <a:r>
              <a:rPr lang="en-US" altLang="zh-CN" sz="2000" i="1">
                <a:latin typeface="黑体" pitchFamily="2" charset="-122"/>
                <a:ea typeface="黑体" pitchFamily="2" charset="-122"/>
              </a:rPr>
              <a:t>E</a:t>
            </a:r>
            <a:r>
              <a:rPr lang="zh-CN" altLang="en-US" sz="2000" i="1" baseline="-25000">
                <a:latin typeface="黑体" pitchFamily="2" charset="-122"/>
                <a:ea typeface="黑体" pitchFamily="2" charset="-122"/>
              </a:rPr>
              <a:t>ｙ</a:t>
            </a:r>
            <a:r>
              <a:rPr lang="zh-CN" altLang="en-US" sz="2000">
                <a:latin typeface="黑体" pitchFamily="2" charset="-122"/>
                <a:ea typeface="黑体" pitchFamily="2" charset="-122"/>
              </a:rPr>
              <a:t>＝</a:t>
            </a:r>
            <a:r>
              <a:rPr lang="en-US" altLang="zh-CN" sz="2000">
                <a:latin typeface="黑体" pitchFamily="2" charset="-122"/>
                <a:ea typeface="黑体" pitchFamily="2" charset="-122"/>
              </a:rPr>
              <a:t>[</a:t>
            </a:r>
            <a:r>
              <a:rPr lang="en-US" altLang="zh-CN" sz="2000" i="1">
                <a:latin typeface="黑体" pitchFamily="2" charset="-122"/>
                <a:ea typeface="黑体" pitchFamily="2" charset="-122"/>
              </a:rPr>
              <a:t>E</a:t>
            </a:r>
            <a:r>
              <a:rPr lang="zh-CN" altLang="en-US" sz="2000" i="1" baseline="-25000">
                <a:latin typeface="黑体" pitchFamily="2" charset="-122"/>
                <a:ea typeface="黑体" pitchFamily="2" charset="-122"/>
              </a:rPr>
              <a:t>ｘ</a:t>
            </a:r>
            <a:r>
              <a:rPr lang="en-US" altLang="zh-CN" sz="2000">
                <a:latin typeface="黑体" pitchFamily="2" charset="-122"/>
                <a:ea typeface="黑体" pitchFamily="2" charset="-122"/>
              </a:rPr>
              <a:t>]</a:t>
            </a:r>
            <a:r>
              <a:rPr lang="zh-CN" altLang="en-US" sz="2000" baseline="-25000">
                <a:latin typeface="黑体" pitchFamily="2" charset="-122"/>
                <a:ea typeface="黑体" pitchFamily="2" charset="-122"/>
              </a:rPr>
              <a:t>补</a:t>
            </a:r>
            <a:r>
              <a:rPr lang="zh-CN" altLang="en-US" sz="2000">
                <a:latin typeface="黑体" pitchFamily="2" charset="-122"/>
                <a:ea typeface="黑体" pitchFamily="2" charset="-122"/>
              </a:rPr>
              <a:t>＋</a:t>
            </a:r>
            <a:r>
              <a:rPr lang="en-US" altLang="zh-CN" sz="2000">
                <a:latin typeface="黑体" pitchFamily="2" charset="-122"/>
                <a:ea typeface="黑体" pitchFamily="2" charset="-122"/>
              </a:rPr>
              <a:t>[</a:t>
            </a:r>
            <a:r>
              <a:rPr lang="zh-CN" altLang="en-US" sz="2000">
                <a:latin typeface="黑体" pitchFamily="2" charset="-122"/>
                <a:ea typeface="黑体" pitchFamily="2" charset="-122"/>
              </a:rPr>
              <a:t>－</a:t>
            </a:r>
            <a:r>
              <a:rPr lang="en-US" altLang="zh-CN" sz="2000" i="1">
                <a:latin typeface="黑体" pitchFamily="2" charset="-122"/>
                <a:ea typeface="黑体" pitchFamily="2" charset="-122"/>
              </a:rPr>
              <a:t>E</a:t>
            </a:r>
            <a:r>
              <a:rPr lang="zh-CN" altLang="en-US" sz="2000" i="1" baseline="-25000">
                <a:latin typeface="黑体" pitchFamily="2" charset="-122"/>
                <a:ea typeface="黑体" pitchFamily="2" charset="-122"/>
              </a:rPr>
              <a:t>ｙ</a:t>
            </a:r>
            <a:r>
              <a:rPr lang="en-US" altLang="zh-CN" sz="2000">
                <a:latin typeface="黑体" pitchFamily="2" charset="-122"/>
                <a:ea typeface="黑体" pitchFamily="2" charset="-122"/>
              </a:rPr>
              <a:t>]</a:t>
            </a:r>
            <a:r>
              <a:rPr lang="zh-CN" altLang="en-US" sz="2000" baseline="-25000">
                <a:latin typeface="黑体" pitchFamily="2" charset="-122"/>
                <a:ea typeface="黑体" pitchFamily="2" charset="-122"/>
              </a:rPr>
              <a:t>补</a:t>
            </a:r>
            <a:r>
              <a:rPr lang="zh-CN" altLang="en-US" sz="2000">
                <a:latin typeface="黑体" pitchFamily="2" charset="-122"/>
                <a:ea typeface="黑体" pitchFamily="2" charset="-122"/>
              </a:rPr>
              <a:t>＝</a:t>
            </a:r>
            <a:r>
              <a:rPr lang="en-US" altLang="zh-CN" sz="2000">
                <a:latin typeface="黑体" pitchFamily="2" charset="-122"/>
                <a:ea typeface="黑体" pitchFamily="2" charset="-122"/>
              </a:rPr>
              <a:t>11 011</a:t>
            </a:r>
            <a:r>
              <a:rPr lang="zh-CN" altLang="en-US" sz="2000">
                <a:latin typeface="黑体" pitchFamily="2" charset="-122"/>
                <a:ea typeface="黑体" pitchFamily="2" charset="-122"/>
              </a:rPr>
              <a:t>＋</a:t>
            </a:r>
            <a:r>
              <a:rPr lang="en-US" altLang="zh-CN" sz="2000">
                <a:latin typeface="黑体" pitchFamily="2" charset="-122"/>
                <a:ea typeface="黑体" pitchFamily="2" charset="-122"/>
              </a:rPr>
              <a:t>00 100</a:t>
            </a:r>
            <a:r>
              <a:rPr lang="zh-CN" altLang="en-US" sz="2000">
                <a:latin typeface="黑体" pitchFamily="2" charset="-122"/>
                <a:ea typeface="黑体" pitchFamily="2" charset="-122"/>
              </a:rPr>
              <a:t>＝</a:t>
            </a:r>
            <a:r>
              <a:rPr lang="en-US" altLang="zh-CN" sz="2000">
                <a:latin typeface="黑体" pitchFamily="2" charset="-122"/>
                <a:ea typeface="黑体" pitchFamily="2" charset="-122"/>
              </a:rPr>
              <a:t>11 111</a:t>
            </a:r>
            <a:endParaRPr lang="zh-CN" altLang="en-US" sz="2000">
              <a:latin typeface="黑体" pitchFamily="2" charset="-122"/>
              <a:ea typeface="黑体" pitchFamily="2" charset="-122"/>
            </a:endParaRPr>
          </a:p>
          <a:p>
            <a:pPr>
              <a:lnSpc>
                <a:spcPct val="200000"/>
              </a:lnSpc>
            </a:pPr>
            <a:r>
              <a:rPr lang="zh-CN" altLang="en-US" sz="2000">
                <a:latin typeface="黑体" pitchFamily="2" charset="-122"/>
                <a:ea typeface="黑体" pitchFamily="2" charset="-122"/>
              </a:rPr>
              <a:t>    即△</a:t>
            </a:r>
            <a:r>
              <a:rPr lang="en-US" altLang="zh-CN" sz="2000" i="1">
                <a:latin typeface="黑体" pitchFamily="2" charset="-122"/>
                <a:ea typeface="黑体" pitchFamily="2" charset="-122"/>
              </a:rPr>
              <a:t>E</a:t>
            </a:r>
            <a:r>
              <a:rPr lang="zh-CN" altLang="en-US" sz="2000">
                <a:latin typeface="黑体" pitchFamily="2" charset="-122"/>
                <a:ea typeface="黑体" pitchFamily="2" charset="-122"/>
              </a:rPr>
              <a:t>为－</a:t>
            </a:r>
            <a:r>
              <a:rPr lang="en-US" altLang="zh-CN" sz="2000">
                <a:latin typeface="黑体" pitchFamily="2" charset="-122"/>
                <a:ea typeface="黑体" pitchFamily="2" charset="-122"/>
              </a:rPr>
              <a:t>1,</a:t>
            </a:r>
            <a:r>
              <a:rPr lang="zh-CN" altLang="en-US" sz="2000" i="1">
                <a:latin typeface="黑体" pitchFamily="2" charset="-122"/>
                <a:ea typeface="黑体" pitchFamily="2" charset="-122"/>
              </a:rPr>
              <a:t>ｘ</a:t>
            </a:r>
            <a:r>
              <a:rPr lang="zh-CN" altLang="en-US" sz="2000">
                <a:latin typeface="黑体" pitchFamily="2" charset="-122"/>
                <a:ea typeface="黑体" pitchFamily="2" charset="-122"/>
              </a:rPr>
              <a:t>的阶码小</a:t>
            </a:r>
            <a:r>
              <a:rPr lang="en-US" altLang="zh-CN" sz="2000">
                <a:latin typeface="黑体" pitchFamily="2" charset="-122"/>
                <a:ea typeface="黑体" pitchFamily="2" charset="-122"/>
              </a:rPr>
              <a:t>,</a:t>
            </a:r>
            <a:r>
              <a:rPr lang="zh-CN" altLang="en-US" sz="2000">
                <a:latin typeface="黑体" pitchFamily="2" charset="-122"/>
                <a:ea typeface="黑体" pitchFamily="2" charset="-122"/>
              </a:rPr>
              <a:t>应使</a:t>
            </a:r>
            <a:r>
              <a:rPr lang="en-US" altLang="zh-CN" sz="2000" i="1">
                <a:latin typeface="黑体" pitchFamily="2" charset="-122"/>
                <a:ea typeface="黑体" pitchFamily="2" charset="-122"/>
              </a:rPr>
              <a:t>M</a:t>
            </a:r>
            <a:r>
              <a:rPr lang="zh-CN" altLang="en-US" sz="2000" i="1" baseline="-25000">
                <a:latin typeface="黑体" pitchFamily="2" charset="-122"/>
                <a:ea typeface="黑体" pitchFamily="2" charset="-122"/>
              </a:rPr>
              <a:t>ｘ</a:t>
            </a:r>
            <a:r>
              <a:rPr lang="zh-CN" altLang="en-US" sz="2000">
                <a:latin typeface="黑体" pitchFamily="2" charset="-122"/>
                <a:ea typeface="黑体" pitchFamily="2" charset="-122"/>
              </a:rPr>
              <a:t>右移一位</a:t>
            </a:r>
            <a:r>
              <a:rPr lang="en-US" altLang="zh-CN" sz="2000">
                <a:latin typeface="黑体" pitchFamily="2" charset="-122"/>
                <a:ea typeface="黑体" pitchFamily="2" charset="-122"/>
              </a:rPr>
              <a:t>,</a:t>
            </a:r>
            <a:r>
              <a:rPr lang="en-US" altLang="zh-CN" sz="2000" i="1">
                <a:latin typeface="黑体" pitchFamily="2" charset="-122"/>
                <a:ea typeface="黑体" pitchFamily="2" charset="-122"/>
              </a:rPr>
              <a:t>E</a:t>
            </a:r>
            <a:r>
              <a:rPr lang="zh-CN" altLang="en-US" sz="2000" i="1" baseline="-25000">
                <a:latin typeface="黑体" pitchFamily="2" charset="-122"/>
                <a:ea typeface="黑体" pitchFamily="2" charset="-122"/>
              </a:rPr>
              <a:t>ｘ</a:t>
            </a:r>
            <a:r>
              <a:rPr lang="zh-CN" altLang="en-US" sz="2000">
                <a:latin typeface="黑体" pitchFamily="2" charset="-122"/>
                <a:ea typeface="黑体" pitchFamily="2" charset="-122"/>
              </a:rPr>
              <a:t>加</a:t>
            </a:r>
            <a:r>
              <a:rPr lang="en-US" altLang="zh-CN" sz="2000">
                <a:latin typeface="黑体" pitchFamily="2" charset="-122"/>
                <a:ea typeface="黑体" pitchFamily="2" charset="-122"/>
              </a:rPr>
              <a:t>1,</a:t>
            </a:r>
            <a:br>
              <a:rPr lang="en-US" altLang="zh-CN" sz="2000">
                <a:latin typeface="黑体" pitchFamily="2" charset="-122"/>
                <a:ea typeface="黑体" pitchFamily="2" charset="-122"/>
              </a:rPr>
            </a:br>
            <a:r>
              <a:rPr lang="zh-CN" altLang="en-US" sz="2000">
                <a:latin typeface="黑体" pitchFamily="2" charset="-122"/>
                <a:ea typeface="黑体" pitchFamily="2" charset="-122"/>
              </a:rPr>
              <a:t>　 </a:t>
            </a:r>
            <a:r>
              <a:rPr lang="en-US" altLang="zh-CN" sz="2000">
                <a:latin typeface="黑体" pitchFamily="2" charset="-122"/>
                <a:ea typeface="黑体" pitchFamily="2" charset="-122"/>
              </a:rPr>
              <a:t>[</a:t>
            </a:r>
            <a:r>
              <a:rPr lang="zh-CN" altLang="en-US" sz="2000" i="1">
                <a:latin typeface="黑体" pitchFamily="2" charset="-122"/>
                <a:ea typeface="黑体" pitchFamily="2" charset="-122"/>
              </a:rPr>
              <a:t>ｘ</a:t>
            </a:r>
            <a:r>
              <a:rPr lang="en-US" altLang="zh-CN" sz="2000">
                <a:latin typeface="黑体" pitchFamily="2" charset="-122"/>
                <a:ea typeface="黑体" pitchFamily="2" charset="-122"/>
              </a:rPr>
              <a:t>]</a:t>
            </a:r>
            <a:r>
              <a:rPr lang="zh-CN" altLang="en-US" sz="2000" baseline="-25000">
                <a:latin typeface="黑体" pitchFamily="2" charset="-122"/>
                <a:ea typeface="黑体" pitchFamily="2" charset="-122"/>
              </a:rPr>
              <a:t>浮</a:t>
            </a:r>
            <a:r>
              <a:rPr lang="zh-CN" altLang="en-US" sz="2000">
                <a:latin typeface="黑体" pitchFamily="2" charset="-122"/>
                <a:ea typeface="黑体" pitchFamily="2" charset="-122"/>
              </a:rPr>
              <a:t>＝</a:t>
            </a:r>
            <a:r>
              <a:rPr lang="en-US" altLang="zh-CN" sz="2000">
                <a:latin typeface="黑体" pitchFamily="2" charset="-122"/>
                <a:ea typeface="黑体" pitchFamily="2" charset="-122"/>
              </a:rPr>
              <a:t>11 100, 1.110101(0)</a:t>
            </a:r>
            <a:br>
              <a:rPr lang="en-US" altLang="zh-CN" sz="2000">
                <a:latin typeface="黑体" pitchFamily="2" charset="-122"/>
                <a:ea typeface="黑体" pitchFamily="2" charset="-122"/>
              </a:rPr>
            </a:br>
            <a:r>
              <a:rPr lang="en-US" altLang="zh-CN" sz="2000">
                <a:latin typeface="黑体" pitchFamily="2" charset="-122"/>
                <a:ea typeface="黑体" pitchFamily="2" charset="-122"/>
              </a:rPr>
              <a:t>   </a:t>
            </a:r>
            <a:r>
              <a:rPr lang="zh-CN" altLang="en-US" sz="2000">
                <a:latin typeface="黑体" pitchFamily="2" charset="-122"/>
                <a:ea typeface="黑体" pitchFamily="2" charset="-122"/>
              </a:rPr>
              <a:t>其中</a:t>
            </a:r>
            <a:r>
              <a:rPr lang="en-US" altLang="zh-CN" sz="2000">
                <a:latin typeface="黑体" pitchFamily="2" charset="-122"/>
                <a:ea typeface="黑体" pitchFamily="2" charset="-122"/>
              </a:rPr>
              <a:t>(0)</a:t>
            </a:r>
            <a:r>
              <a:rPr lang="zh-CN" altLang="en-US" sz="2000">
                <a:latin typeface="黑体" pitchFamily="2" charset="-122"/>
                <a:ea typeface="黑体" pitchFamily="2" charset="-122"/>
              </a:rPr>
              <a:t>表示</a:t>
            </a:r>
            <a:r>
              <a:rPr lang="en-US" altLang="zh-CN" sz="2000" i="1">
                <a:latin typeface="黑体" pitchFamily="2" charset="-122"/>
                <a:ea typeface="黑体" pitchFamily="2" charset="-122"/>
              </a:rPr>
              <a:t>M</a:t>
            </a:r>
            <a:r>
              <a:rPr lang="zh-CN" altLang="en-US" sz="2000" i="1" baseline="-25000">
                <a:latin typeface="黑体" pitchFamily="2" charset="-122"/>
                <a:ea typeface="黑体" pitchFamily="2" charset="-122"/>
              </a:rPr>
              <a:t>ｘ</a:t>
            </a:r>
            <a:r>
              <a:rPr lang="zh-CN" altLang="en-US" sz="2000">
                <a:latin typeface="黑体" pitchFamily="2" charset="-122"/>
                <a:ea typeface="黑体" pitchFamily="2" charset="-122"/>
              </a:rPr>
              <a:t>右移</a:t>
            </a:r>
            <a:r>
              <a:rPr lang="en-US" altLang="zh-CN" sz="2000">
                <a:latin typeface="黑体" pitchFamily="2" charset="-122"/>
                <a:ea typeface="黑体" pitchFamily="2" charset="-122"/>
              </a:rPr>
              <a:t>1</a:t>
            </a:r>
            <a:r>
              <a:rPr lang="zh-CN" altLang="en-US" sz="2000">
                <a:latin typeface="黑体" pitchFamily="2" charset="-122"/>
                <a:ea typeface="黑体" pitchFamily="2" charset="-122"/>
              </a:rPr>
              <a:t>位后移出的最低一位数。</a:t>
            </a:r>
          </a:p>
        </p:txBody>
      </p:sp>
      <p:sp>
        <p:nvSpPr>
          <p:cNvPr id="4" name="矩形 3"/>
          <p:cNvSpPr>
            <a:spLocks noChangeArrowheads="1"/>
          </p:cNvSpPr>
          <p:nvPr/>
        </p:nvSpPr>
        <p:spPr bwMode="auto">
          <a:xfrm>
            <a:off x="179388" y="1341438"/>
            <a:ext cx="8713787" cy="5170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itchFamily="2" charset="-122"/>
                <a:ea typeface="黑体" pitchFamily="2" charset="-122"/>
              </a:rPr>
              <a:t>ｘ＋ｙ</a:t>
            </a:r>
          </a:p>
          <a:p>
            <a:pPr>
              <a:lnSpc>
                <a:spcPct val="150000"/>
              </a:lnSpc>
            </a:pPr>
            <a:r>
              <a:rPr lang="zh-CN" altLang="en-US" sz="2000">
                <a:latin typeface="黑体" pitchFamily="2" charset="-122"/>
                <a:ea typeface="黑体" pitchFamily="2" charset="-122"/>
              </a:rPr>
              <a:t>　　尾数求和</a:t>
            </a:r>
          </a:p>
          <a:p>
            <a:pPr>
              <a:lnSpc>
                <a:spcPct val="150000"/>
              </a:lnSpc>
            </a:pPr>
            <a:r>
              <a:rPr lang="zh-CN" altLang="en-US" sz="2000">
                <a:latin typeface="黑体" pitchFamily="2" charset="-122"/>
                <a:ea typeface="黑体" pitchFamily="2" charset="-122"/>
              </a:rPr>
              <a:t>　　　　　　　　　　　　　　</a:t>
            </a:r>
            <a:r>
              <a:rPr lang="en-US" altLang="zh-CN" sz="2000">
                <a:latin typeface="黑体" pitchFamily="2" charset="-122"/>
                <a:ea typeface="黑体" pitchFamily="2" charset="-122"/>
              </a:rPr>
              <a:t>1. 1 1 0 1 0 1</a:t>
            </a:r>
            <a:r>
              <a:rPr lang="zh-CN" altLang="en-US" sz="2000">
                <a:latin typeface="黑体" pitchFamily="2" charset="-122"/>
                <a:ea typeface="黑体" pitchFamily="2" charset="-122"/>
              </a:rPr>
              <a:t>（</a:t>
            </a:r>
            <a:r>
              <a:rPr lang="en-US" altLang="zh-CN" sz="2000">
                <a:latin typeface="黑体" pitchFamily="2" charset="-122"/>
                <a:ea typeface="黑体" pitchFamily="2" charset="-122"/>
              </a:rPr>
              <a:t>0)</a:t>
            </a:r>
            <a:br>
              <a:rPr lang="en-US" altLang="zh-CN" sz="2000">
                <a:latin typeface="黑体" pitchFamily="2" charset="-122"/>
                <a:ea typeface="黑体" pitchFamily="2" charset="-122"/>
              </a:rPr>
            </a:br>
            <a:r>
              <a:rPr lang="zh-CN" altLang="en-US" sz="2000">
                <a:latin typeface="黑体" pitchFamily="2" charset="-122"/>
                <a:ea typeface="黑体" pitchFamily="2" charset="-122"/>
              </a:rPr>
              <a:t>　　　　　　　　　　　　＋　</a:t>
            </a:r>
            <a:r>
              <a:rPr lang="en-US" altLang="zh-CN" sz="2000">
                <a:latin typeface="黑体" pitchFamily="2" charset="-122"/>
                <a:ea typeface="黑体" pitchFamily="2" charset="-122"/>
              </a:rPr>
              <a:t>0. 0 1 0 1 1 0 </a:t>
            </a:r>
            <a:br>
              <a:rPr lang="en-US" altLang="zh-CN" sz="2000">
                <a:latin typeface="黑体" pitchFamily="2" charset="-122"/>
                <a:ea typeface="黑体" pitchFamily="2" charset="-122"/>
              </a:rPr>
            </a:br>
            <a:r>
              <a:rPr lang="zh-CN" altLang="en-US" sz="2000">
                <a:latin typeface="黑体" pitchFamily="2" charset="-122"/>
                <a:ea typeface="黑体" pitchFamily="2" charset="-122"/>
              </a:rPr>
              <a:t>　　　　　　　　　　　────────────────</a:t>
            </a:r>
            <a:br>
              <a:rPr lang="zh-CN" altLang="en-US" sz="2000">
                <a:latin typeface="黑体" pitchFamily="2" charset="-122"/>
                <a:ea typeface="黑体" pitchFamily="2" charset="-122"/>
              </a:rPr>
            </a:br>
            <a:r>
              <a:rPr lang="zh-CN" altLang="en-US" sz="2000">
                <a:latin typeface="黑体" pitchFamily="2" charset="-122"/>
                <a:ea typeface="黑体" pitchFamily="2" charset="-122"/>
              </a:rPr>
              <a:t>　　　　　　　　　　　　　　</a:t>
            </a:r>
            <a:r>
              <a:rPr lang="en-US" altLang="zh-CN" sz="2000">
                <a:latin typeface="黑体" pitchFamily="2" charset="-122"/>
                <a:ea typeface="黑体" pitchFamily="2" charset="-122"/>
              </a:rPr>
              <a:t>0. 0 0 1 0 1 1 (0)</a:t>
            </a:r>
            <a:endParaRPr lang="zh-CN" altLang="en-US"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　　规格化处理：尾数运算结果的符号位与最高数值位同值</a:t>
            </a:r>
            <a:r>
              <a:rPr lang="en-US" altLang="zh-CN" sz="2000">
                <a:latin typeface="黑体" pitchFamily="2" charset="-122"/>
                <a:ea typeface="黑体" pitchFamily="2" charset="-122"/>
              </a:rPr>
              <a:t>,</a:t>
            </a:r>
            <a:r>
              <a:rPr lang="zh-CN" altLang="en-US" sz="2000">
                <a:latin typeface="黑体" pitchFamily="2" charset="-122"/>
                <a:ea typeface="黑体" pitchFamily="2" charset="-122"/>
              </a:rPr>
              <a:t>应执行两次左规处理</a:t>
            </a:r>
            <a:r>
              <a:rPr lang="en-US" altLang="zh-CN" sz="2000">
                <a:latin typeface="黑体" pitchFamily="2" charset="-122"/>
                <a:ea typeface="黑体" pitchFamily="2" charset="-122"/>
              </a:rPr>
              <a:t>,</a:t>
            </a:r>
            <a:r>
              <a:rPr lang="zh-CN" altLang="en-US" sz="2000">
                <a:latin typeface="黑体" pitchFamily="2" charset="-122"/>
                <a:ea typeface="黑体" pitchFamily="2" charset="-122"/>
              </a:rPr>
              <a:t>结果为</a:t>
            </a:r>
            <a:r>
              <a:rPr lang="en-US" altLang="zh-CN" sz="2000">
                <a:latin typeface="黑体" pitchFamily="2" charset="-122"/>
                <a:ea typeface="黑体" pitchFamily="2" charset="-122"/>
              </a:rPr>
              <a:t>0.101100,</a:t>
            </a:r>
            <a:r>
              <a:rPr lang="zh-CN" altLang="en-US" sz="2000">
                <a:latin typeface="黑体" pitchFamily="2" charset="-122"/>
                <a:ea typeface="黑体" pitchFamily="2" charset="-122"/>
              </a:rPr>
              <a:t>阶码减</a:t>
            </a:r>
            <a:r>
              <a:rPr lang="en-US" altLang="zh-CN" sz="2000">
                <a:latin typeface="黑体" pitchFamily="2" charset="-122"/>
                <a:ea typeface="黑体" pitchFamily="2" charset="-122"/>
              </a:rPr>
              <a:t>2</a:t>
            </a:r>
            <a:r>
              <a:rPr lang="zh-CN" altLang="en-US" sz="2000">
                <a:latin typeface="黑体" pitchFamily="2" charset="-122"/>
                <a:ea typeface="黑体" pitchFamily="2" charset="-122"/>
              </a:rPr>
              <a:t>为</a:t>
            </a:r>
            <a:r>
              <a:rPr lang="en-US" altLang="zh-CN" sz="2000">
                <a:latin typeface="黑体" pitchFamily="2" charset="-122"/>
                <a:ea typeface="黑体" pitchFamily="2" charset="-122"/>
              </a:rPr>
              <a:t>11 010</a:t>
            </a:r>
            <a:r>
              <a:rPr lang="zh-CN" altLang="en-US" sz="2000">
                <a:latin typeface="黑体" pitchFamily="2" charset="-122"/>
                <a:ea typeface="黑体" pitchFamily="2" charset="-122"/>
              </a:rPr>
              <a:t>（</a:t>
            </a:r>
            <a:r>
              <a:rPr lang="en-US" altLang="zh-CN" sz="2000">
                <a:latin typeface="黑体" pitchFamily="2" charset="-122"/>
                <a:ea typeface="黑体" pitchFamily="2" charset="-122"/>
              </a:rPr>
              <a:t>11 100 + 11 110</a:t>
            </a:r>
            <a:r>
              <a:rPr lang="zh-CN" altLang="en-US" sz="2000">
                <a:latin typeface="黑体" pitchFamily="2" charset="-122"/>
                <a:ea typeface="黑体" pitchFamily="2" charset="-122"/>
              </a:rPr>
              <a:t>） 。</a:t>
            </a:r>
          </a:p>
          <a:p>
            <a:pPr>
              <a:lnSpc>
                <a:spcPct val="150000"/>
              </a:lnSpc>
            </a:pPr>
            <a:r>
              <a:rPr lang="zh-CN" altLang="en-US" sz="2000">
                <a:latin typeface="黑体" pitchFamily="2" charset="-122"/>
                <a:ea typeface="黑体" pitchFamily="2" charset="-122"/>
              </a:rPr>
              <a:t>　　舍入处理：无</a:t>
            </a:r>
          </a:p>
          <a:p>
            <a:pPr>
              <a:lnSpc>
                <a:spcPct val="150000"/>
              </a:lnSpc>
            </a:pPr>
            <a:r>
              <a:rPr lang="zh-CN" altLang="en-US" sz="2000">
                <a:latin typeface="黑体" pitchFamily="2" charset="-122"/>
                <a:ea typeface="黑体" pitchFamily="2" charset="-122"/>
              </a:rPr>
              <a:t>　　判溢出：阶码符号位为</a:t>
            </a:r>
            <a:r>
              <a:rPr lang="en-US" altLang="zh-CN" sz="2000">
                <a:latin typeface="黑体" pitchFamily="2" charset="-122"/>
                <a:ea typeface="黑体" pitchFamily="2" charset="-122"/>
              </a:rPr>
              <a:t>11,</a:t>
            </a:r>
            <a:r>
              <a:rPr lang="zh-CN" altLang="en-US" sz="2000">
                <a:latin typeface="黑体" pitchFamily="2" charset="-122"/>
                <a:ea typeface="黑体" pitchFamily="2" charset="-122"/>
              </a:rPr>
              <a:t>不溢出</a:t>
            </a:r>
            <a:r>
              <a:rPr lang="en-US" altLang="zh-CN" sz="2000">
                <a:latin typeface="黑体" pitchFamily="2" charset="-122"/>
                <a:ea typeface="黑体" pitchFamily="2" charset="-122"/>
              </a:rPr>
              <a:t>,</a:t>
            </a:r>
            <a:r>
              <a:rPr lang="zh-CN" altLang="en-US" sz="2000">
                <a:latin typeface="黑体" pitchFamily="2" charset="-122"/>
                <a:ea typeface="黑体" pitchFamily="2" charset="-122"/>
              </a:rPr>
              <a:t>故得最终结果为</a:t>
            </a:r>
            <a:r>
              <a:rPr lang="zh-CN" altLang="en-US" sz="2000" i="1">
                <a:latin typeface="黑体" pitchFamily="2" charset="-122"/>
                <a:ea typeface="黑体" pitchFamily="2" charset="-122"/>
              </a:rPr>
              <a:t/>
            </a:r>
            <a:br>
              <a:rPr lang="zh-CN" altLang="en-US" sz="2000" i="1">
                <a:latin typeface="黑体" pitchFamily="2" charset="-122"/>
                <a:ea typeface="黑体" pitchFamily="2" charset="-122"/>
              </a:rPr>
            </a:br>
            <a:r>
              <a:rPr lang="zh-CN" altLang="en-US" sz="2000" i="1">
                <a:latin typeface="黑体" pitchFamily="2" charset="-122"/>
                <a:ea typeface="黑体" pitchFamily="2" charset="-122"/>
              </a:rPr>
              <a:t>　　　　　　ｘ</a:t>
            </a:r>
            <a:r>
              <a:rPr lang="zh-CN" altLang="en-US" sz="2000">
                <a:latin typeface="黑体" pitchFamily="2" charset="-122"/>
                <a:ea typeface="黑体" pitchFamily="2" charset="-122"/>
              </a:rPr>
              <a:t>＋</a:t>
            </a:r>
            <a:r>
              <a:rPr lang="zh-CN" altLang="en-US" sz="2000" i="1">
                <a:latin typeface="黑体" pitchFamily="2" charset="-122"/>
                <a:ea typeface="黑体" pitchFamily="2" charset="-122"/>
              </a:rPr>
              <a:t>ｙ</a:t>
            </a:r>
            <a:r>
              <a:rPr lang="zh-CN" altLang="en-US" sz="2000">
                <a:latin typeface="黑体" pitchFamily="2" charset="-122"/>
                <a:ea typeface="黑体" pitchFamily="2" charset="-122"/>
              </a:rPr>
              <a:t>＝</a:t>
            </a:r>
            <a:r>
              <a:rPr lang="en-US" altLang="zh-CN" sz="2000">
                <a:latin typeface="黑体" pitchFamily="2" charset="-122"/>
                <a:ea typeface="黑体" pitchFamily="2" charset="-122"/>
              </a:rPr>
              <a:t>2</a:t>
            </a:r>
            <a:r>
              <a:rPr lang="en-US" altLang="zh-CN" sz="2000" baseline="30000">
                <a:latin typeface="黑体" pitchFamily="2" charset="-122"/>
                <a:ea typeface="黑体" pitchFamily="2" charset="-122"/>
              </a:rPr>
              <a:t>-110</a:t>
            </a:r>
            <a:r>
              <a:rPr lang="en-US" altLang="zh-CN" sz="2000">
                <a:latin typeface="黑体" pitchFamily="2" charset="-122"/>
                <a:ea typeface="黑体" pitchFamily="2" charset="-122"/>
              </a:rPr>
              <a:t>×(0.101100)</a:t>
            </a:r>
            <a:endParaRPr lang="zh-CN" altLang="en-US" sz="2000">
              <a:latin typeface="黑体" pitchFamily="2" charset="-122"/>
              <a:ea typeface="黑体" pitchFamily="2" charset="-122"/>
            </a:endParaRPr>
          </a:p>
        </p:txBody>
      </p:sp>
      <p:sp>
        <p:nvSpPr>
          <p:cNvPr id="5" name="矩形 4"/>
          <p:cNvSpPr>
            <a:spLocks noChangeArrowheads="1"/>
          </p:cNvSpPr>
          <p:nvPr/>
        </p:nvSpPr>
        <p:spPr bwMode="auto">
          <a:xfrm>
            <a:off x="179388" y="1412875"/>
            <a:ext cx="8713787" cy="51704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itchFamily="2" charset="-122"/>
                <a:ea typeface="黑体" pitchFamily="2" charset="-122"/>
              </a:rPr>
              <a:t>ｘ</a:t>
            </a:r>
            <a:r>
              <a:rPr lang="en-US" altLang="zh-CN" sz="2000">
                <a:latin typeface="黑体" pitchFamily="2" charset="-122"/>
                <a:ea typeface="黑体" pitchFamily="2" charset="-122"/>
              </a:rPr>
              <a:t>-</a:t>
            </a:r>
            <a:r>
              <a:rPr lang="zh-CN" altLang="en-US" sz="2000">
                <a:latin typeface="黑体" pitchFamily="2" charset="-122"/>
                <a:ea typeface="黑体" pitchFamily="2" charset="-122"/>
              </a:rPr>
              <a:t>ｙ</a:t>
            </a:r>
          </a:p>
          <a:p>
            <a:pPr>
              <a:lnSpc>
                <a:spcPct val="150000"/>
              </a:lnSpc>
            </a:pPr>
            <a:r>
              <a:rPr lang="zh-CN" altLang="en-US" sz="2000">
                <a:latin typeface="黑体" pitchFamily="2" charset="-122"/>
                <a:ea typeface="黑体" pitchFamily="2" charset="-122"/>
              </a:rPr>
              <a:t>　　尾数求差</a:t>
            </a:r>
          </a:p>
          <a:p>
            <a:pPr>
              <a:lnSpc>
                <a:spcPct val="150000"/>
              </a:lnSpc>
            </a:pPr>
            <a:r>
              <a:rPr lang="zh-CN" altLang="en-US" sz="2000">
                <a:latin typeface="黑体" pitchFamily="2" charset="-122"/>
                <a:ea typeface="黑体" pitchFamily="2" charset="-122"/>
              </a:rPr>
              <a:t>　　　　　　　　　　　　　　</a:t>
            </a:r>
            <a:r>
              <a:rPr lang="en-US" altLang="zh-CN" sz="2000">
                <a:latin typeface="黑体" pitchFamily="2" charset="-122"/>
                <a:ea typeface="黑体" pitchFamily="2" charset="-122"/>
              </a:rPr>
              <a:t>1. 1 1 0 1 0 1</a:t>
            </a:r>
            <a:r>
              <a:rPr lang="zh-CN" altLang="en-US" sz="2000">
                <a:latin typeface="黑体" pitchFamily="2" charset="-122"/>
                <a:ea typeface="黑体" pitchFamily="2" charset="-122"/>
              </a:rPr>
              <a:t>（</a:t>
            </a:r>
            <a:r>
              <a:rPr lang="en-US" altLang="zh-CN" sz="2000">
                <a:latin typeface="黑体" pitchFamily="2" charset="-122"/>
                <a:ea typeface="黑体" pitchFamily="2" charset="-122"/>
              </a:rPr>
              <a:t>0)</a:t>
            </a:r>
            <a:br>
              <a:rPr lang="en-US" altLang="zh-CN" sz="2000">
                <a:latin typeface="黑体" pitchFamily="2" charset="-122"/>
                <a:ea typeface="黑体" pitchFamily="2" charset="-122"/>
              </a:rPr>
            </a:br>
            <a:r>
              <a:rPr lang="zh-CN" altLang="en-US" sz="2000">
                <a:latin typeface="黑体" pitchFamily="2" charset="-122"/>
                <a:ea typeface="黑体" pitchFamily="2" charset="-122"/>
              </a:rPr>
              <a:t>　　　　　　　　　　　　＋　</a:t>
            </a:r>
            <a:r>
              <a:rPr lang="en-US" altLang="zh-CN" sz="2000">
                <a:latin typeface="黑体" pitchFamily="2" charset="-122"/>
                <a:ea typeface="黑体" pitchFamily="2" charset="-122"/>
              </a:rPr>
              <a:t>1. 1 0 1 0 1 0</a:t>
            </a:r>
            <a:br>
              <a:rPr lang="en-US" altLang="zh-CN" sz="2000">
                <a:latin typeface="黑体" pitchFamily="2" charset="-122"/>
                <a:ea typeface="黑体" pitchFamily="2" charset="-122"/>
              </a:rPr>
            </a:br>
            <a:r>
              <a:rPr lang="zh-CN" altLang="en-US" sz="2000">
                <a:latin typeface="黑体" pitchFamily="2" charset="-122"/>
                <a:ea typeface="黑体" pitchFamily="2" charset="-122"/>
              </a:rPr>
              <a:t>　　　　　　　　　　　────────────────</a:t>
            </a:r>
            <a:br>
              <a:rPr lang="zh-CN" altLang="en-US" sz="2000">
                <a:latin typeface="黑体" pitchFamily="2" charset="-122"/>
                <a:ea typeface="黑体" pitchFamily="2" charset="-122"/>
              </a:rPr>
            </a:br>
            <a:r>
              <a:rPr lang="zh-CN" altLang="en-US" sz="2000">
                <a:latin typeface="黑体" pitchFamily="2" charset="-122"/>
                <a:ea typeface="黑体" pitchFamily="2" charset="-122"/>
              </a:rPr>
              <a:t>　　　　　　　　　　　　　　</a:t>
            </a:r>
            <a:r>
              <a:rPr lang="en-US" altLang="zh-CN" sz="2000">
                <a:latin typeface="黑体" pitchFamily="2" charset="-122"/>
                <a:ea typeface="黑体" pitchFamily="2" charset="-122"/>
              </a:rPr>
              <a:t>1. 0 1 1 1 1 1 (0)</a:t>
            </a:r>
            <a:endParaRPr lang="zh-CN" altLang="en-US"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　　规格化处理：无</a:t>
            </a:r>
          </a:p>
          <a:p>
            <a:pPr>
              <a:lnSpc>
                <a:spcPct val="150000"/>
              </a:lnSpc>
            </a:pPr>
            <a:r>
              <a:rPr lang="zh-CN" altLang="en-US" sz="2000">
                <a:latin typeface="黑体" pitchFamily="2" charset="-122"/>
                <a:ea typeface="黑体" pitchFamily="2" charset="-122"/>
              </a:rPr>
              <a:t>　　舍入处理： 舍去</a:t>
            </a:r>
            <a:r>
              <a:rPr lang="en-US" altLang="zh-CN" sz="2000">
                <a:latin typeface="黑体" pitchFamily="2" charset="-122"/>
                <a:ea typeface="黑体" pitchFamily="2" charset="-122"/>
              </a:rPr>
              <a:t>0</a:t>
            </a:r>
            <a:endParaRPr lang="zh-CN" altLang="en-US"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　　判溢出：阶码符号位为</a:t>
            </a:r>
            <a:r>
              <a:rPr lang="en-US" altLang="zh-CN" sz="2000">
                <a:latin typeface="黑体" pitchFamily="2" charset="-122"/>
                <a:ea typeface="黑体" pitchFamily="2" charset="-122"/>
              </a:rPr>
              <a:t>11,</a:t>
            </a:r>
            <a:r>
              <a:rPr lang="zh-CN" altLang="en-US" sz="2000">
                <a:latin typeface="黑体" pitchFamily="2" charset="-122"/>
                <a:ea typeface="黑体" pitchFamily="2" charset="-122"/>
              </a:rPr>
              <a:t>不溢出</a:t>
            </a:r>
            <a:r>
              <a:rPr lang="en-US" altLang="zh-CN" sz="2000">
                <a:latin typeface="黑体" pitchFamily="2" charset="-122"/>
                <a:ea typeface="黑体" pitchFamily="2" charset="-122"/>
              </a:rPr>
              <a:t>,</a:t>
            </a:r>
            <a:r>
              <a:rPr lang="zh-CN" altLang="en-US" sz="2000">
                <a:latin typeface="黑体" pitchFamily="2" charset="-122"/>
                <a:ea typeface="黑体" pitchFamily="2" charset="-122"/>
              </a:rPr>
              <a:t>故得最终结果为</a:t>
            </a:r>
            <a:r>
              <a:rPr lang="zh-CN" altLang="en-US" sz="2000" i="1">
                <a:latin typeface="黑体" pitchFamily="2" charset="-122"/>
                <a:ea typeface="黑体" pitchFamily="2" charset="-122"/>
              </a:rPr>
              <a:t/>
            </a:r>
            <a:br>
              <a:rPr lang="zh-CN" altLang="en-US" sz="2000" i="1">
                <a:latin typeface="黑体" pitchFamily="2" charset="-122"/>
                <a:ea typeface="黑体" pitchFamily="2" charset="-122"/>
              </a:rPr>
            </a:br>
            <a:endParaRPr lang="zh-CN" altLang="en-US" sz="2000">
              <a:latin typeface="黑体" pitchFamily="2" charset="-122"/>
              <a:ea typeface="黑体" pitchFamily="2" charset="-122"/>
            </a:endParaRPr>
          </a:p>
          <a:p>
            <a:pPr>
              <a:lnSpc>
                <a:spcPct val="150000"/>
              </a:lnSpc>
            </a:pPr>
            <a:r>
              <a:rPr lang="zh-CN" altLang="en-US" sz="2000" i="1">
                <a:latin typeface="黑体" pitchFamily="2" charset="-122"/>
                <a:ea typeface="黑体" pitchFamily="2" charset="-122"/>
              </a:rPr>
              <a:t>　　　　　　ｘ</a:t>
            </a:r>
            <a:r>
              <a:rPr lang="zh-CN" altLang="en-US" sz="2000">
                <a:latin typeface="黑体" pitchFamily="2" charset="-122"/>
                <a:ea typeface="黑体" pitchFamily="2" charset="-122"/>
              </a:rPr>
              <a:t> </a:t>
            </a:r>
            <a:r>
              <a:rPr lang="en-US" altLang="zh-CN" sz="2000">
                <a:latin typeface="黑体" pitchFamily="2" charset="-122"/>
                <a:ea typeface="黑体" pitchFamily="2" charset="-122"/>
              </a:rPr>
              <a:t>-</a:t>
            </a:r>
            <a:r>
              <a:rPr lang="zh-CN" altLang="en-US" sz="2000" i="1">
                <a:latin typeface="黑体" pitchFamily="2" charset="-122"/>
                <a:ea typeface="黑体" pitchFamily="2" charset="-122"/>
              </a:rPr>
              <a:t>ｙ</a:t>
            </a:r>
            <a:r>
              <a:rPr lang="zh-CN" altLang="en-US" sz="2000">
                <a:latin typeface="黑体" pitchFamily="2" charset="-122"/>
                <a:ea typeface="黑体" pitchFamily="2" charset="-122"/>
              </a:rPr>
              <a:t>＝</a:t>
            </a:r>
            <a:r>
              <a:rPr lang="en-US" altLang="zh-CN" sz="2000">
                <a:latin typeface="黑体" pitchFamily="2" charset="-122"/>
                <a:ea typeface="黑体" pitchFamily="2" charset="-122"/>
              </a:rPr>
              <a:t>2</a:t>
            </a:r>
            <a:r>
              <a:rPr lang="en-US" altLang="zh-CN" sz="2000" baseline="30000">
                <a:latin typeface="黑体" pitchFamily="2" charset="-122"/>
                <a:ea typeface="黑体" pitchFamily="2" charset="-122"/>
              </a:rPr>
              <a:t>-100</a:t>
            </a:r>
            <a:r>
              <a:rPr lang="en-US" altLang="zh-CN" sz="2000">
                <a:latin typeface="黑体" pitchFamily="2" charset="-122"/>
                <a:ea typeface="黑体" pitchFamily="2" charset="-122"/>
              </a:rPr>
              <a:t>×(-0.100001)</a:t>
            </a:r>
            <a:endParaRPr lang="zh-CN" altLang="en-US" sz="2000">
              <a:latin typeface="黑体" pitchFamily="2" charset="-122"/>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1"/>
          <p:cNvSpPr>
            <a:spLocks noChangeArrowheads="1"/>
          </p:cNvSpPr>
          <p:nvPr/>
        </p:nvSpPr>
        <p:spPr bwMode="auto">
          <a:xfrm>
            <a:off x="250825" y="282575"/>
            <a:ext cx="8424863" cy="626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a:latin typeface="黑体" pitchFamily="2" charset="-122"/>
                <a:ea typeface="黑体" pitchFamily="2" charset="-122"/>
              </a:rPr>
              <a:t>2.6.2 浮点乘法、除法运算</a:t>
            </a:r>
            <a:r>
              <a:rPr lang="zh-CN" altLang="zh-CN" sz="2400">
                <a:latin typeface="黑体" pitchFamily="2" charset="-122"/>
                <a:ea typeface="黑体" pitchFamily="2" charset="-122"/>
                <a:hlinkClick r:id="rId2" action="ppaction://hlinkfile"/>
              </a:rPr>
              <a:t>  </a:t>
            </a:r>
            <a:r>
              <a:rPr lang="zh-CN" altLang="zh-CN" sz="2400">
                <a:latin typeface="黑体" pitchFamily="2" charset="-122"/>
                <a:ea typeface="黑体" pitchFamily="2" charset="-122"/>
              </a:rPr>
              <a:t>　　　　　</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1.浮点乘法、除法运算规则</a:t>
            </a:r>
          </a:p>
          <a:p>
            <a:pPr eaLnBrk="0" hangingPunct="0">
              <a:lnSpc>
                <a:spcPct val="130000"/>
              </a:lnSpc>
            </a:pPr>
            <a:r>
              <a:rPr lang="zh-CN" altLang="zh-CN" sz="2400">
                <a:latin typeface="黑体" pitchFamily="2" charset="-122"/>
                <a:ea typeface="黑体" pitchFamily="2" charset="-122"/>
              </a:rPr>
              <a:t>　　设有两个浮点数ｘ和ｙ：</a:t>
            </a:r>
            <a:br>
              <a:rPr lang="zh-CN" altLang="zh-CN" sz="2400">
                <a:latin typeface="黑体" pitchFamily="2" charset="-122"/>
                <a:ea typeface="黑体" pitchFamily="2" charset="-122"/>
              </a:rPr>
            </a:br>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a:latin typeface="黑体" pitchFamily="2" charset="-122"/>
                <a:ea typeface="黑体" pitchFamily="2" charset="-122"/>
              </a:rPr>
              <a:t>ｘ＝2</a:t>
            </a:r>
            <a:r>
              <a:rPr lang="zh-CN" altLang="zh-CN" sz="2400" baseline="30000">
                <a:latin typeface="黑体" pitchFamily="2" charset="-122"/>
                <a:ea typeface="黑体" pitchFamily="2" charset="-122"/>
              </a:rPr>
              <a:t>Eｘ</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ｘ</a:t>
            </a:r>
            <a:endParaRPr lang="en-US" altLang="zh-CN" sz="2400" baseline="-30000">
              <a:latin typeface="黑体" pitchFamily="2" charset="-122"/>
              <a:ea typeface="黑体" pitchFamily="2" charset="-122"/>
            </a:endParaRP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ｙ＝2</a:t>
            </a:r>
            <a:r>
              <a:rPr lang="zh-CN" altLang="zh-CN" sz="2400" baseline="30000">
                <a:latin typeface="黑体" pitchFamily="2" charset="-122"/>
                <a:ea typeface="黑体" pitchFamily="2" charset="-122"/>
              </a:rPr>
              <a:t>Eｙ</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ｙ</a:t>
            </a:r>
            <a:endParaRPr lang="zh-CN" altLang="zh-CN" sz="2400">
              <a:latin typeface="黑体" pitchFamily="2" charset="-122"/>
              <a:ea typeface="黑体" pitchFamily="2" charset="-122"/>
            </a:endParaRP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浮点乘法运算的规则是</a:t>
            </a:r>
          </a:p>
          <a:p>
            <a:pPr eaLnBrk="0" hangingPunct="0">
              <a:lnSpc>
                <a:spcPct val="130000"/>
              </a:lnSpc>
            </a:pPr>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a:latin typeface="黑体" pitchFamily="2" charset="-122"/>
                <a:ea typeface="黑体" pitchFamily="2" charset="-122"/>
              </a:rPr>
              <a:t> 　ｘ×ｙ＝2</a:t>
            </a:r>
            <a:r>
              <a:rPr lang="zh-CN" altLang="zh-CN" sz="2400" baseline="30000">
                <a:latin typeface="黑体" pitchFamily="2" charset="-122"/>
                <a:ea typeface="黑体" pitchFamily="2" charset="-122"/>
              </a:rPr>
              <a:t>(Eｘ＋Eｙ)</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ｘ</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ｙ</a:t>
            </a:r>
            <a:r>
              <a:rPr lang="zh-CN" altLang="zh-CN" sz="2400">
                <a:latin typeface="黑体" pitchFamily="2" charset="-122"/>
                <a:ea typeface="黑体" pitchFamily="2" charset="-122"/>
              </a:rPr>
              <a:t>)　　　</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即乘积的尾数是相乘两数的尾数之积,乘积的阶码是相乘两数的阶码之和。当然,这里也有规格化与舍入等步骤。</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浮点除法运算的规则是</a:t>
            </a:r>
          </a:p>
          <a:p>
            <a:pPr eaLnBrk="0" hangingPunct="0">
              <a:lnSpc>
                <a:spcPct val="130000"/>
              </a:lnSpc>
            </a:pPr>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a:latin typeface="黑体" pitchFamily="2" charset="-122"/>
                <a:ea typeface="黑体" pitchFamily="2" charset="-122"/>
              </a:rPr>
              <a:t> 　ｘ÷ｙ＝2</a:t>
            </a:r>
            <a:r>
              <a:rPr lang="zh-CN" altLang="zh-CN" sz="2400" baseline="30000">
                <a:latin typeface="黑体" pitchFamily="2" charset="-122"/>
                <a:ea typeface="黑体" pitchFamily="2" charset="-122"/>
              </a:rPr>
              <a:t>(Eｘ－Eｙ)</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ｘ</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ｙ</a:t>
            </a:r>
            <a:r>
              <a:rPr lang="zh-CN" altLang="zh-CN" sz="2400">
                <a:latin typeface="黑体" pitchFamily="2" charset="-122"/>
                <a:ea typeface="黑体" pitchFamily="2" charset="-122"/>
              </a:rPr>
              <a:t>)　　</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商的尾数是相除两数的尾数之商,商的阶码是相除两数的阶码之差。也有规格化和舍入等步骤。</a:t>
            </a:r>
          </a:p>
        </p:txBody>
      </p:sp>
      <p:sp>
        <p:nvSpPr>
          <p:cNvPr id="134147" name="AutoShape 2" descr="G:\jzdx\%E8%AE%A1%E7%AE%97%E6%9C%BA%E7%BB%84%E6%88%90%E5%8E%9F%E7%90%86\%E6%95%99%E6%A1%88\%E7%AC%AC%E4%BA%8C%E7%AB%A0\htm\Images\Home07.gif">
            <a:hlinkClick r:id="rId2" action="ppaction://hlinkfile"/>
          </p:cNvPr>
          <p:cNvSpPr>
            <a:spLocks noChangeAspect="1" noChangeArrowheads="1"/>
          </p:cNvSpPr>
          <p:nvPr/>
        </p:nvSpPr>
        <p:spPr bwMode="auto">
          <a:xfrm>
            <a:off x="3506788" y="-122237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
          <p:cNvSpPr>
            <a:spLocks noChangeArrowheads="1"/>
          </p:cNvSpPr>
          <p:nvPr/>
        </p:nvSpPr>
        <p:spPr bwMode="auto">
          <a:xfrm>
            <a:off x="539750" y="222250"/>
            <a:ext cx="8064500" cy="651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2.浮点乘、除法运算步骤</a:t>
            </a:r>
            <a:endParaRPr lang="en-US" altLang="zh-CN" sz="2400">
              <a:latin typeface="黑体" pitchFamily="2" charset="-122"/>
              <a:ea typeface="黑体" pitchFamily="2" charset="-122"/>
            </a:endParaRP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　ｘ×ｙ＝2</a:t>
            </a:r>
            <a:r>
              <a:rPr lang="zh-CN" altLang="zh-CN" sz="2400" baseline="30000">
                <a:latin typeface="黑体" pitchFamily="2" charset="-122"/>
                <a:ea typeface="黑体" pitchFamily="2" charset="-122"/>
              </a:rPr>
              <a:t>(Eｘ＋Eｙ)</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ｘ</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ｙ</a:t>
            </a:r>
            <a:r>
              <a:rPr lang="zh-CN" altLang="zh-CN" sz="2400">
                <a:latin typeface="黑体" pitchFamily="2" charset="-122"/>
                <a:ea typeface="黑体" pitchFamily="2" charset="-122"/>
              </a:rPr>
              <a:t>)　　　</a:t>
            </a:r>
          </a:p>
          <a:p>
            <a:pPr eaLnBrk="0" hangingPunct="0">
              <a:lnSpc>
                <a:spcPct val="13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 　ｘ÷ｙ＝2</a:t>
            </a:r>
            <a:r>
              <a:rPr lang="zh-CN" altLang="zh-CN" sz="2400" baseline="30000">
                <a:latin typeface="黑体" pitchFamily="2" charset="-122"/>
                <a:ea typeface="黑体" pitchFamily="2" charset="-122"/>
              </a:rPr>
              <a:t>(Eｘ－Eｙ)</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ｘ</a:t>
            </a:r>
            <a:r>
              <a:rPr lang="zh-CN" altLang="zh-CN" sz="2400">
                <a:latin typeface="黑体" pitchFamily="2" charset="-122"/>
                <a:ea typeface="黑体" pitchFamily="2" charset="-122"/>
              </a:rPr>
              <a:t>÷M</a:t>
            </a:r>
            <a:r>
              <a:rPr lang="zh-CN" altLang="zh-CN" sz="2400" baseline="-30000">
                <a:latin typeface="黑体" pitchFamily="2" charset="-122"/>
                <a:ea typeface="黑体" pitchFamily="2" charset="-122"/>
              </a:rPr>
              <a:t>ｙ</a:t>
            </a:r>
            <a:r>
              <a:rPr lang="zh-CN" altLang="zh-CN" sz="2400">
                <a:latin typeface="黑体" pitchFamily="2" charset="-122"/>
                <a:ea typeface="黑体" pitchFamily="2" charset="-122"/>
              </a:rPr>
              <a:t>)　</a:t>
            </a:r>
          </a:p>
          <a:p>
            <a:pPr eaLnBrk="0" hangingPunct="0">
              <a:lnSpc>
                <a:spcPct val="150000"/>
              </a:lnSpc>
            </a:pPr>
            <a:r>
              <a:rPr lang="zh-CN" altLang="zh-CN" sz="2400" i="1">
                <a:latin typeface="黑体" pitchFamily="2" charset="-122"/>
                <a:ea typeface="黑体" pitchFamily="2" charset="-122"/>
              </a:rPr>
              <a:t>　　</a:t>
            </a:r>
            <a:r>
              <a:rPr lang="zh-CN" altLang="zh-CN" sz="2400">
                <a:latin typeface="黑体" pitchFamily="2" charset="-122"/>
                <a:ea typeface="黑体" pitchFamily="2" charset="-122"/>
              </a:rPr>
              <a:t>浮点数的乘除运算大体分为四步：</a:t>
            </a:r>
          </a:p>
          <a:p>
            <a:pPr eaLnBrk="0" hangingPunct="0">
              <a:lnSpc>
                <a:spcPct val="150000"/>
              </a:lnSpc>
            </a:pPr>
            <a:r>
              <a:rPr lang="zh-CN" altLang="zh-CN" sz="2400">
                <a:latin typeface="黑体" pitchFamily="2" charset="-122"/>
                <a:ea typeface="黑体" pitchFamily="2" charset="-122"/>
              </a:rPr>
              <a:t>　　第一步,0操作数检查；第二步,阶码加/减操作；第三步,尾数乘/除操作；第四步,结果规格化及舍入处理。</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(1) 浮点数的阶码运算</a:t>
            </a:r>
          </a:p>
          <a:p>
            <a:pPr eaLnBrk="0" hangingPunct="0">
              <a:lnSpc>
                <a:spcPct val="150000"/>
              </a:lnSpc>
            </a:pPr>
            <a:r>
              <a:rPr lang="zh-CN" altLang="zh-CN" sz="2400">
                <a:latin typeface="黑体" pitchFamily="2" charset="-122"/>
                <a:ea typeface="黑体" pitchFamily="2" charset="-122"/>
              </a:rPr>
              <a:t>　　对阶码的运算有＋1、－1、两阶码求和、两阶码求差四种,运算还必须检查结果是否溢出。</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(2) 尾数处理</a:t>
            </a:r>
          </a:p>
          <a:p>
            <a:pPr eaLnBrk="0" hangingPunct="0">
              <a:lnSpc>
                <a:spcPct val="150000"/>
              </a:lnSpc>
            </a:pPr>
            <a:r>
              <a:rPr lang="zh-CN" altLang="zh-CN" sz="2400">
                <a:latin typeface="黑体" pitchFamily="2" charset="-122"/>
                <a:ea typeface="黑体" pitchFamily="2" charset="-122"/>
              </a:rPr>
              <a:t>　　浮点加减法对结果的规格化及舍入处理也适用于浮点乘除法。</a:t>
            </a: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
          <p:cNvSpPr>
            <a:spLocks noChangeArrowheads="1"/>
          </p:cNvSpPr>
          <p:nvPr/>
        </p:nvSpPr>
        <p:spPr bwMode="auto">
          <a:xfrm>
            <a:off x="395288" y="830263"/>
            <a:ext cx="8424862" cy="5078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itchFamily="2" charset="-122"/>
                <a:ea typeface="黑体" pitchFamily="2" charset="-122"/>
              </a:rPr>
              <a:t>    </a:t>
            </a:r>
            <a:r>
              <a:rPr lang="zh-CN" altLang="zh-CN" sz="2400">
                <a:solidFill>
                  <a:srgbClr val="FF0000"/>
                </a:solidFill>
                <a:latin typeface="黑体" pitchFamily="2" charset="-122"/>
                <a:ea typeface="黑体" pitchFamily="2" charset="-122"/>
              </a:rPr>
              <a:t>截断处理</a:t>
            </a:r>
            <a:r>
              <a:rPr lang="zh-CN" altLang="en-US" sz="2400">
                <a:solidFill>
                  <a:srgbClr val="FF0000"/>
                </a:solidFill>
                <a:latin typeface="黑体" pitchFamily="2" charset="-122"/>
                <a:ea typeface="黑体" pitchFamily="2" charset="-122"/>
              </a:rPr>
              <a:t>：</a:t>
            </a:r>
            <a:r>
              <a:rPr lang="zh-CN" altLang="zh-CN" sz="2400">
                <a:latin typeface="黑体" pitchFamily="2" charset="-122"/>
                <a:ea typeface="黑体" pitchFamily="2" charset="-122"/>
              </a:rPr>
              <a:t>无条件地丢掉正常尾数最低位之后的全部数值,好处是处理简单,缺点是影响结果的精度。</a:t>
            </a:r>
          </a:p>
          <a:p>
            <a:pPr eaLnBrk="0" hangingPunct="0">
              <a:lnSpc>
                <a:spcPct val="150000"/>
              </a:lnSpc>
            </a:pPr>
            <a:r>
              <a:rPr lang="zh-CN" altLang="zh-CN" sz="2400">
                <a:latin typeface="黑体" pitchFamily="2" charset="-122"/>
                <a:ea typeface="黑体" pitchFamily="2" charset="-122"/>
              </a:rPr>
              <a:t>　　</a:t>
            </a:r>
            <a:r>
              <a:rPr lang="zh-CN" altLang="zh-CN" sz="2400">
                <a:solidFill>
                  <a:srgbClr val="FF0000"/>
                </a:solidFill>
                <a:latin typeface="黑体" pitchFamily="2" charset="-122"/>
                <a:ea typeface="黑体" pitchFamily="2" charset="-122"/>
              </a:rPr>
              <a:t>舍入处理</a:t>
            </a:r>
            <a:r>
              <a:rPr lang="zh-CN" altLang="en-US" sz="2400">
                <a:solidFill>
                  <a:srgbClr val="FF0000"/>
                </a:solidFill>
                <a:latin typeface="黑体" pitchFamily="2" charset="-122"/>
                <a:ea typeface="黑体" pitchFamily="2" charset="-122"/>
              </a:rPr>
              <a:t>：</a:t>
            </a:r>
            <a:r>
              <a:rPr lang="zh-CN" altLang="zh-CN" sz="2400">
                <a:latin typeface="黑体" pitchFamily="2" charset="-122"/>
                <a:ea typeface="黑体" pitchFamily="2" charset="-122"/>
              </a:rPr>
              <a:t>运算过程中保留右移中移出的若干高位的值,最后再按某种规则用这些位上的值修正尾数。</a:t>
            </a:r>
          </a:p>
          <a:p>
            <a:pPr eaLnBrk="0" hangingPunct="0">
              <a:lnSpc>
                <a:spcPct val="150000"/>
              </a:lnSpc>
            </a:pPr>
            <a:r>
              <a:rPr lang="zh-CN" altLang="zh-CN" sz="2400">
                <a:latin typeface="黑体" pitchFamily="2" charset="-122"/>
                <a:ea typeface="黑体" pitchFamily="2" charset="-122"/>
              </a:rPr>
              <a:t>　　当尾数用原码表示时</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en-US" sz="2400">
                <a:latin typeface="黑体" pitchFamily="2" charset="-122"/>
                <a:ea typeface="黑体" pitchFamily="2" charset="-122"/>
              </a:rPr>
              <a:t>第一种方法：</a:t>
            </a:r>
            <a:r>
              <a:rPr lang="zh-CN" altLang="zh-CN" sz="2400">
                <a:latin typeface="黑体" pitchFamily="2" charset="-122"/>
                <a:ea typeface="黑体" pitchFamily="2" charset="-122"/>
              </a:rPr>
              <a:t>只要尾数的最低位为1,或移出的几位中有为1的数值位,就使最低位的值为1。</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另一种是0舍1入法,即当丢失的最高位的值为1时,把这个1加到最低数值位上进行修正。　</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
          <p:cNvSpPr>
            <a:spLocks noChangeArrowheads="1"/>
          </p:cNvSpPr>
          <p:nvPr/>
        </p:nvSpPr>
        <p:spPr bwMode="auto">
          <a:xfrm>
            <a:off x="323850" y="692150"/>
            <a:ext cx="8351838" cy="4986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000">
                <a:latin typeface="黑体" pitchFamily="2" charset="-122"/>
                <a:ea typeface="黑体" pitchFamily="2" charset="-122"/>
              </a:rPr>
              <a:t>　　</a:t>
            </a:r>
            <a:r>
              <a:rPr lang="zh-CN" altLang="zh-CN" sz="2400">
                <a:latin typeface="黑体" pitchFamily="2" charset="-122"/>
                <a:ea typeface="黑体" pitchFamily="2" charset="-122"/>
              </a:rPr>
              <a:t>当尾数是用补码表示时</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舍入规则与用原码表示时产生相同的处理效果。具体规则是：</a:t>
            </a:r>
          </a:p>
          <a:p>
            <a:pPr eaLnBrk="0" hangingPunct="0">
              <a:lnSpc>
                <a:spcPct val="150000"/>
              </a:lnSpc>
            </a:pPr>
            <a:r>
              <a:rPr lang="zh-CN" altLang="zh-CN" sz="2400">
                <a:latin typeface="黑体" pitchFamily="2" charset="-122"/>
                <a:ea typeface="黑体" pitchFamily="2" charset="-122"/>
              </a:rPr>
              <a:t>　</a:t>
            </a:r>
            <a:r>
              <a:rPr lang="zh-CN" altLang="zh-CN" sz="2400" i="1">
                <a:latin typeface="黑体" pitchFamily="2" charset="-122"/>
                <a:ea typeface="黑体" pitchFamily="2" charset="-122"/>
              </a:rPr>
              <a:t>　</a:t>
            </a:r>
            <a:r>
              <a:rPr lang="zh-CN" altLang="zh-CN" sz="2400">
                <a:latin typeface="黑体" pitchFamily="2" charset="-122"/>
                <a:ea typeface="黑体" pitchFamily="2" charset="-122"/>
              </a:rPr>
              <a:t>当丢失的各位均为0时,不必舍入；</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当丢失的最高位为0 时,以下各位不全为0 时,或者丢失的最高位为1,以下各位均为0时,则舍去丢失位上的值；</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当丢失的最高位为1,以下各位不全为0 时,则执行在尾数最低位入1的修正操作。</a:t>
            </a:r>
            <a:endParaRPr lang="en-US" altLang="zh-CN" sz="2400">
              <a:latin typeface="黑体" pitchFamily="2" charset="-122"/>
              <a:ea typeface="黑体" pitchFamily="2" charset="-122"/>
            </a:endParaRPr>
          </a:p>
          <a:p>
            <a:pPr eaLnBrk="0" hangingPunct="0">
              <a:lnSpc>
                <a:spcPct val="150000"/>
              </a:lnSpc>
            </a:pPr>
            <a:endParaRPr lang="zh-CN" altLang="zh-CN" sz="200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8242" name="Rectangle 1"/>
          <p:cNvSpPr>
            <a:spLocks noChangeArrowheads="1"/>
          </p:cNvSpPr>
          <p:nvPr/>
        </p:nvSpPr>
        <p:spPr bwMode="auto">
          <a:xfrm>
            <a:off x="360363" y="533400"/>
            <a:ext cx="83883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latin typeface="黑体" pitchFamily="2" charset="-122"/>
                <a:ea typeface="黑体" pitchFamily="2" charset="-122"/>
              </a:rPr>
              <a:t>例</a:t>
            </a:r>
            <a:r>
              <a:rPr lang="zh-CN" altLang="en-US" sz="2400">
                <a:latin typeface="黑体" pitchFamily="2" charset="-122"/>
                <a:ea typeface="黑体" pitchFamily="2" charset="-122"/>
              </a:rPr>
              <a:t>：</a:t>
            </a:r>
            <a:r>
              <a:rPr lang="zh-CN" altLang="zh-CN" sz="2400">
                <a:latin typeface="黑体" pitchFamily="2" charset="-122"/>
                <a:ea typeface="黑体" pitchFamily="2" charset="-122"/>
              </a:rPr>
              <a:t>设[</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1</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＝11.01100000,[</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2</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＝11.01100001,</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3</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＝11.01101000,[</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4</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＝11.01111001,</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求执行只保留小数点后4位有效数字的舍入操作值。</a:t>
            </a:r>
          </a:p>
          <a:p>
            <a:pPr eaLnBrk="0" hangingPunct="0">
              <a:lnSpc>
                <a:spcPct val="150000"/>
              </a:lnSpc>
            </a:pPr>
            <a:r>
              <a:rPr lang="zh-CN" altLang="zh-CN" sz="2400">
                <a:latin typeface="黑体" pitchFamily="2" charset="-122"/>
                <a:ea typeface="黑体" pitchFamily="2" charset="-122"/>
              </a:rPr>
              <a:t>解:</a:t>
            </a:r>
          </a:p>
          <a:p>
            <a:pPr eaLnBrk="0" hangingPunct="0">
              <a:lnSpc>
                <a:spcPct val="150000"/>
              </a:lnSpc>
            </a:pPr>
            <a:r>
              <a:rPr lang="zh-CN" altLang="zh-CN" sz="2400">
                <a:latin typeface="黑体" pitchFamily="2" charset="-122"/>
                <a:ea typeface="黑体" pitchFamily="2" charset="-122"/>
              </a:rPr>
              <a:t>　</a:t>
            </a:r>
            <a:r>
              <a:rPr lang="en-US" altLang="zh-CN" sz="2400">
                <a:latin typeface="黑体" pitchFamily="2" charset="-122"/>
                <a:ea typeface="黑体" pitchFamily="2" charset="-122"/>
              </a:rPr>
              <a:t> </a:t>
            </a:r>
            <a:r>
              <a:rPr lang="zh-CN" altLang="zh-CN" sz="2400">
                <a:latin typeface="黑体" pitchFamily="2" charset="-122"/>
                <a:ea typeface="黑体" pitchFamily="2" charset="-122"/>
              </a:rPr>
              <a:t>　执行舍入操作后,其结果值分别为</a:t>
            </a:r>
            <a:br>
              <a:rPr lang="zh-CN" altLang="zh-CN" sz="2400">
                <a:latin typeface="黑体" pitchFamily="2" charset="-122"/>
                <a:ea typeface="黑体" pitchFamily="2" charset="-122"/>
              </a:rPr>
            </a:br>
            <a:r>
              <a:rPr lang="zh-CN" altLang="zh-CN" sz="2400">
                <a:latin typeface="黑体" pitchFamily="2" charset="-122"/>
                <a:ea typeface="黑体" pitchFamily="2" charset="-122"/>
              </a:rPr>
              <a:t>　　　　　　　　</a:t>
            </a:r>
          </a:p>
          <a:p>
            <a:pPr eaLnBrk="0" hangingPunct="0">
              <a:lnSpc>
                <a:spcPct val="150000"/>
              </a:lnSpc>
            </a:pPr>
            <a:r>
              <a:rPr lang="zh-CN" altLang="zh-CN" sz="2400">
                <a:latin typeface="黑体" pitchFamily="2" charset="-122"/>
                <a:ea typeface="黑体" pitchFamily="2" charset="-122"/>
              </a:rPr>
              <a:t>　　[</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1</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＝11.01100000, </a:t>
            </a: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1</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　(不舍不入)</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2</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＝11.01100001, ［</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2</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　(舍)</a:t>
            </a: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3</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＝11.01101000, </a:t>
            </a: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3</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＝11.0110　(舍)</a:t>
            </a:r>
            <a:endParaRPr lang="en-US" altLang="zh-CN" sz="2400">
              <a:latin typeface="黑体" pitchFamily="2" charset="-122"/>
              <a:ea typeface="黑体" pitchFamily="2" charset="-122"/>
            </a:endParaRPr>
          </a:p>
          <a:p>
            <a:pPr eaLnBrk="0" hangingPunct="0">
              <a:lnSpc>
                <a:spcPct val="15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4</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＝11.01111001</a:t>
            </a:r>
            <a:r>
              <a:rPr lang="en-US" altLang="zh-CN" sz="2400">
                <a:latin typeface="黑体" pitchFamily="2" charset="-122"/>
                <a:ea typeface="黑体" pitchFamily="2" charset="-122"/>
              </a:rPr>
              <a:t>,  </a:t>
            </a:r>
            <a:r>
              <a:rPr lang="zh-CN" altLang="zh-CN" sz="2400">
                <a:latin typeface="黑体" pitchFamily="2" charset="-122"/>
                <a:ea typeface="黑体" pitchFamily="2" charset="-122"/>
              </a:rPr>
              <a:t>[</a:t>
            </a:r>
            <a:r>
              <a:rPr lang="zh-CN" altLang="zh-CN" sz="2400" i="1">
                <a:latin typeface="黑体" pitchFamily="2" charset="-122"/>
                <a:ea typeface="黑体" pitchFamily="2" charset="-122"/>
              </a:rPr>
              <a:t>ｘ</a:t>
            </a:r>
            <a:r>
              <a:rPr lang="zh-CN" altLang="zh-CN" sz="2400" baseline="-30000">
                <a:latin typeface="黑体" pitchFamily="2" charset="-122"/>
                <a:ea typeface="黑体" pitchFamily="2" charset="-122"/>
              </a:rPr>
              <a:t>4</a:t>
            </a:r>
            <a:r>
              <a:rPr lang="zh-CN" altLang="zh-CN" sz="2400">
                <a:latin typeface="黑体" pitchFamily="2" charset="-122"/>
                <a:ea typeface="黑体" pitchFamily="2" charset="-122"/>
              </a:rPr>
              <a:t>]</a:t>
            </a:r>
            <a:r>
              <a:rPr lang="zh-CN" altLang="zh-CN" sz="2400" baseline="-30000">
                <a:latin typeface="黑体" pitchFamily="2" charset="-122"/>
                <a:ea typeface="黑体" pitchFamily="2" charset="-122"/>
              </a:rPr>
              <a:t>补</a:t>
            </a:r>
            <a:r>
              <a:rPr lang="zh-CN" altLang="zh-CN" sz="2400">
                <a:latin typeface="黑体" pitchFamily="2" charset="-122"/>
                <a:ea typeface="黑体" pitchFamily="2" charset="-122"/>
              </a:rPr>
              <a:t>＝11.1000　(入)</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9266" name="矩形 1"/>
          <p:cNvSpPr>
            <a:spLocks noChangeArrowheads="1"/>
          </p:cNvSpPr>
          <p:nvPr/>
        </p:nvSpPr>
        <p:spPr bwMode="auto">
          <a:xfrm>
            <a:off x="179388" y="188913"/>
            <a:ext cx="8785225" cy="6324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b="1">
                <a:latin typeface="黑体" pitchFamily="2" charset="-122"/>
                <a:ea typeface="黑体" pitchFamily="2" charset="-122"/>
              </a:rPr>
              <a:t>例：</a:t>
            </a:r>
            <a:r>
              <a:rPr lang="zh-CN" altLang="en-US">
                <a:latin typeface="黑体" pitchFamily="2" charset="-122"/>
                <a:ea typeface="黑体" pitchFamily="2" charset="-122"/>
              </a:rPr>
              <a:t>设有浮点数</a:t>
            </a:r>
            <a:r>
              <a:rPr lang="zh-CN" altLang="en-US" i="1">
                <a:latin typeface="黑体" pitchFamily="2" charset="-122"/>
                <a:ea typeface="黑体" pitchFamily="2" charset="-122"/>
              </a:rPr>
              <a:t>ｘ</a:t>
            </a:r>
            <a:r>
              <a:rPr lang="zh-CN" altLang="en-US">
                <a:latin typeface="黑体" pitchFamily="2" charset="-122"/>
                <a:ea typeface="黑体" pitchFamily="2" charset="-122"/>
              </a:rPr>
              <a:t>＝</a:t>
            </a:r>
            <a:r>
              <a:rPr lang="en-US" altLang="zh-CN">
                <a:latin typeface="黑体" pitchFamily="2" charset="-122"/>
                <a:ea typeface="黑体" pitchFamily="2" charset="-122"/>
              </a:rPr>
              <a:t>2</a:t>
            </a:r>
            <a:r>
              <a:rPr lang="zh-CN" altLang="en-US" baseline="30000">
                <a:latin typeface="黑体" pitchFamily="2" charset="-122"/>
                <a:ea typeface="黑体" pitchFamily="2" charset="-122"/>
              </a:rPr>
              <a:t>－</a:t>
            </a:r>
            <a:r>
              <a:rPr lang="en-US" altLang="zh-CN" baseline="30000">
                <a:latin typeface="黑体" pitchFamily="2" charset="-122"/>
                <a:ea typeface="黑体" pitchFamily="2" charset="-122"/>
              </a:rPr>
              <a:t>5</a:t>
            </a:r>
            <a:r>
              <a:rPr lang="en-US" altLang="zh-CN">
                <a:latin typeface="黑体" pitchFamily="2" charset="-122"/>
                <a:ea typeface="黑体" pitchFamily="2" charset="-122"/>
              </a:rPr>
              <a:t>×0.0110011,</a:t>
            </a:r>
            <a:r>
              <a:rPr lang="zh-CN" altLang="en-US" i="1">
                <a:latin typeface="黑体" pitchFamily="2" charset="-122"/>
                <a:ea typeface="黑体" pitchFamily="2" charset="-122"/>
              </a:rPr>
              <a:t>ｙ</a:t>
            </a:r>
            <a:r>
              <a:rPr lang="zh-CN" altLang="en-US">
                <a:latin typeface="黑体" pitchFamily="2" charset="-122"/>
                <a:ea typeface="黑体" pitchFamily="2" charset="-122"/>
              </a:rPr>
              <a:t>＝</a:t>
            </a:r>
            <a:r>
              <a:rPr lang="en-US" altLang="zh-CN">
                <a:latin typeface="黑体" pitchFamily="2" charset="-122"/>
                <a:ea typeface="黑体" pitchFamily="2" charset="-122"/>
              </a:rPr>
              <a:t>2</a:t>
            </a:r>
            <a:r>
              <a:rPr lang="en-US" altLang="zh-CN" baseline="30000">
                <a:latin typeface="黑体" pitchFamily="2" charset="-122"/>
                <a:ea typeface="黑体" pitchFamily="2" charset="-122"/>
              </a:rPr>
              <a:t>3</a:t>
            </a:r>
            <a:r>
              <a:rPr lang="en-US" altLang="zh-CN">
                <a:latin typeface="黑体" pitchFamily="2" charset="-122"/>
                <a:ea typeface="黑体" pitchFamily="2" charset="-122"/>
              </a:rPr>
              <a:t>×(</a:t>
            </a:r>
            <a:r>
              <a:rPr lang="zh-CN" altLang="en-US">
                <a:latin typeface="黑体" pitchFamily="2" charset="-122"/>
                <a:ea typeface="黑体" pitchFamily="2" charset="-122"/>
              </a:rPr>
              <a:t>－</a:t>
            </a:r>
            <a:r>
              <a:rPr lang="en-US" altLang="zh-CN">
                <a:latin typeface="黑体" pitchFamily="2" charset="-122"/>
                <a:ea typeface="黑体" pitchFamily="2" charset="-122"/>
              </a:rPr>
              <a:t>0.1110010),</a:t>
            </a:r>
            <a:r>
              <a:rPr lang="zh-CN" altLang="en-US">
                <a:latin typeface="黑体" pitchFamily="2" charset="-122"/>
                <a:ea typeface="黑体" pitchFamily="2" charset="-122"/>
              </a:rPr>
              <a:t>阶码用</a:t>
            </a:r>
            <a:r>
              <a:rPr lang="en-US" altLang="zh-CN">
                <a:latin typeface="黑体" pitchFamily="2" charset="-122"/>
                <a:ea typeface="黑体" pitchFamily="2" charset="-122"/>
              </a:rPr>
              <a:t>4</a:t>
            </a:r>
            <a:r>
              <a:rPr lang="zh-CN" altLang="en-US">
                <a:latin typeface="黑体" pitchFamily="2" charset="-122"/>
                <a:ea typeface="黑体" pitchFamily="2" charset="-122"/>
              </a:rPr>
              <a:t>位补码表示</a:t>
            </a:r>
            <a:r>
              <a:rPr lang="en-US" altLang="zh-CN">
                <a:latin typeface="黑体" pitchFamily="2" charset="-122"/>
                <a:ea typeface="黑体" pitchFamily="2" charset="-122"/>
              </a:rPr>
              <a:t>,</a:t>
            </a:r>
            <a:r>
              <a:rPr lang="zh-CN" altLang="en-US">
                <a:latin typeface="黑体" pitchFamily="2" charset="-122"/>
                <a:ea typeface="黑体" pitchFamily="2" charset="-122"/>
              </a:rPr>
              <a:t>尾数</a:t>
            </a:r>
            <a:r>
              <a:rPr lang="en-US" altLang="zh-CN">
                <a:latin typeface="黑体" pitchFamily="2" charset="-122"/>
                <a:ea typeface="黑体" pitchFamily="2" charset="-122"/>
              </a:rPr>
              <a:t>(</a:t>
            </a:r>
            <a:r>
              <a:rPr lang="zh-CN" altLang="en-US">
                <a:latin typeface="黑体" pitchFamily="2" charset="-122"/>
                <a:ea typeface="黑体" pitchFamily="2" charset="-122"/>
              </a:rPr>
              <a:t>含符号位</a:t>
            </a:r>
            <a:r>
              <a:rPr lang="en-US" altLang="zh-CN">
                <a:latin typeface="黑体" pitchFamily="2" charset="-122"/>
                <a:ea typeface="黑体" pitchFamily="2" charset="-122"/>
              </a:rPr>
              <a:t>)</a:t>
            </a:r>
            <a:r>
              <a:rPr lang="zh-CN" altLang="en-US">
                <a:latin typeface="黑体" pitchFamily="2" charset="-122"/>
                <a:ea typeface="黑体" pitchFamily="2" charset="-122"/>
              </a:rPr>
              <a:t>用</a:t>
            </a:r>
            <a:r>
              <a:rPr lang="en-US" altLang="zh-CN">
                <a:latin typeface="黑体" pitchFamily="2" charset="-122"/>
                <a:ea typeface="黑体" pitchFamily="2" charset="-122"/>
              </a:rPr>
              <a:t>8</a:t>
            </a:r>
            <a:r>
              <a:rPr lang="zh-CN" altLang="en-US">
                <a:latin typeface="黑体" pitchFamily="2" charset="-122"/>
                <a:ea typeface="黑体" pitchFamily="2" charset="-122"/>
              </a:rPr>
              <a:t>位原码表示。求</a:t>
            </a:r>
            <a:r>
              <a:rPr lang="en-US" altLang="zh-CN">
                <a:latin typeface="黑体" pitchFamily="2" charset="-122"/>
                <a:ea typeface="黑体" pitchFamily="2" charset="-122"/>
              </a:rPr>
              <a:t>[</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i="1">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浮</a:t>
            </a:r>
            <a:r>
              <a:rPr lang="zh-CN" altLang="en-US">
                <a:latin typeface="黑体" pitchFamily="2" charset="-122"/>
                <a:ea typeface="黑体" pitchFamily="2" charset="-122"/>
              </a:rPr>
              <a:t>。要求用原码完成尾数乘法运算</a:t>
            </a:r>
            <a:r>
              <a:rPr lang="en-US" altLang="zh-CN">
                <a:latin typeface="黑体" pitchFamily="2" charset="-122"/>
                <a:ea typeface="黑体" pitchFamily="2" charset="-122"/>
              </a:rPr>
              <a:t>,</a:t>
            </a:r>
            <a:r>
              <a:rPr lang="zh-CN" altLang="en-US">
                <a:latin typeface="黑体" pitchFamily="2" charset="-122"/>
                <a:ea typeface="黑体" pitchFamily="2" charset="-122"/>
              </a:rPr>
              <a:t>运算结果尾数保留高</a:t>
            </a:r>
            <a:r>
              <a:rPr lang="en-US" altLang="zh-CN">
                <a:latin typeface="黑体" pitchFamily="2" charset="-122"/>
                <a:ea typeface="黑体" pitchFamily="2" charset="-122"/>
              </a:rPr>
              <a:t>8</a:t>
            </a:r>
            <a:r>
              <a:rPr lang="zh-CN" altLang="en-US">
                <a:latin typeface="黑体" pitchFamily="2" charset="-122"/>
                <a:ea typeface="黑体" pitchFamily="2" charset="-122"/>
              </a:rPr>
              <a:t>位</a:t>
            </a:r>
            <a:r>
              <a:rPr lang="en-US" altLang="zh-CN">
                <a:latin typeface="黑体" pitchFamily="2" charset="-122"/>
                <a:ea typeface="黑体" pitchFamily="2" charset="-122"/>
              </a:rPr>
              <a:t>(</a:t>
            </a:r>
            <a:r>
              <a:rPr lang="zh-CN" altLang="en-US">
                <a:latin typeface="黑体" pitchFamily="2" charset="-122"/>
                <a:ea typeface="黑体" pitchFamily="2" charset="-122"/>
              </a:rPr>
              <a:t>含符号位</a:t>
            </a:r>
            <a:r>
              <a:rPr lang="en-US" altLang="zh-CN">
                <a:latin typeface="黑体" pitchFamily="2" charset="-122"/>
                <a:ea typeface="黑体" pitchFamily="2" charset="-122"/>
              </a:rPr>
              <a:t>),</a:t>
            </a:r>
            <a:r>
              <a:rPr lang="zh-CN" altLang="en-US">
                <a:latin typeface="黑体" pitchFamily="2" charset="-122"/>
                <a:ea typeface="黑体" pitchFamily="2" charset="-122"/>
              </a:rPr>
              <a:t>并用尾数低位字长值处理舍入操作。</a:t>
            </a:r>
          </a:p>
          <a:p>
            <a:pPr>
              <a:lnSpc>
                <a:spcPct val="150000"/>
              </a:lnSpc>
            </a:pPr>
            <a:r>
              <a:rPr lang="zh-CN" altLang="en-US" b="1">
                <a:latin typeface="黑体" pitchFamily="2" charset="-122"/>
                <a:ea typeface="黑体" pitchFamily="2" charset="-122"/>
              </a:rPr>
              <a:t>解</a:t>
            </a:r>
            <a:r>
              <a:rPr lang="en-US" altLang="zh-CN" b="1">
                <a:latin typeface="黑体" pitchFamily="2" charset="-122"/>
                <a:ea typeface="黑体" pitchFamily="2" charset="-122"/>
              </a:rPr>
              <a:t>:</a:t>
            </a:r>
            <a:r>
              <a:rPr lang="zh-CN" altLang="en-US">
                <a:latin typeface="黑体" pitchFamily="2" charset="-122"/>
                <a:ea typeface="黑体" pitchFamily="2" charset="-122"/>
              </a:rPr>
              <a:t>　阶码采用双符号位</a:t>
            </a:r>
            <a:r>
              <a:rPr lang="en-US" altLang="zh-CN">
                <a:latin typeface="黑体" pitchFamily="2" charset="-122"/>
                <a:ea typeface="黑体" pitchFamily="2" charset="-122"/>
              </a:rPr>
              <a:t>,</a:t>
            </a:r>
            <a:r>
              <a:rPr lang="zh-CN" altLang="en-US">
                <a:latin typeface="黑体" pitchFamily="2" charset="-122"/>
                <a:ea typeface="黑体" pitchFamily="2" charset="-122"/>
              </a:rPr>
              <a:t>尾数原码采用单符号位</a:t>
            </a:r>
            <a:r>
              <a:rPr lang="en-US" altLang="zh-CN">
                <a:latin typeface="黑体" pitchFamily="2" charset="-122"/>
                <a:ea typeface="黑体" pitchFamily="2" charset="-122"/>
              </a:rPr>
              <a:t>,</a:t>
            </a:r>
            <a:r>
              <a:rPr lang="zh-CN" altLang="en-US">
                <a:latin typeface="黑体" pitchFamily="2" charset="-122"/>
                <a:ea typeface="黑体" pitchFamily="2" charset="-122"/>
              </a:rPr>
              <a:t>则有</a:t>
            </a:r>
            <a:br>
              <a:rPr lang="zh-CN" altLang="en-US">
                <a:latin typeface="黑体" pitchFamily="2" charset="-122"/>
                <a:ea typeface="黑体" pitchFamily="2" charset="-122"/>
              </a:rPr>
            </a:br>
            <a:r>
              <a:rPr lang="zh-CN" altLang="en-US">
                <a:latin typeface="黑体" pitchFamily="2" charset="-122"/>
                <a:ea typeface="黑体" pitchFamily="2" charset="-122"/>
              </a:rPr>
              <a:t>  　　</a:t>
            </a:r>
            <a:r>
              <a:rPr lang="en-US" altLang="zh-CN">
                <a:latin typeface="黑体" pitchFamily="2" charset="-122"/>
                <a:ea typeface="黑体" pitchFamily="2" charset="-122"/>
              </a:rPr>
              <a:t>[</a:t>
            </a:r>
            <a:r>
              <a:rPr lang="en-US" altLang="zh-CN" i="1">
                <a:latin typeface="黑体" pitchFamily="2" charset="-122"/>
                <a:ea typeface="黑体" pitchFamily="2" charset="-122"/>
              </a:rPr>
              <a:t>M</a:t>
            </a:r>
            <a:r>
              <a:rPr lang="zh-CN" altLang="en-US" i="1" baseline="-25000">
                <a:latin typeface="黑体" pitchFamily="2" charset="-122"/>
                <a:ea typeface="黑体" pitchFamily="2" charset="-122"/>
              </a:rPr>
              <a:t>ｘ</a:t>
            </a:r>
            <a:r>
              <a:rPr lang="en-US" altLang="zh-CN">
                <a:latin typeface="黑体" pitchFamily="2" charset="-122"/>
                <a:ea typeface="黑体" pitchFamily="2" charset="-122"/>
              </a:rPr>
              <a:t>]</a:t>
            </a:r>
            <a:r>
              <a:rPr lang="zh-CN" altLang="en-US" baseline="-25000">
                <a:latin typeface="黑体" pitchFamily="2" charset="-122"/>
                <a:ea typeface="黑体" pitchFamily="2" charset="-122"/>
              </a:rPr>
              <a:t>原</a:t>
            </a:r>
            <a:r>
              <a:rPr lang="zh-CN" altLang="en-US">
                <a:latin typeface="黑体" pitchFamily="2" charset="-122"/>
                <a:ea typeface="黑体" pitchFamily="2" charset="-122"/>
              </a:rPr>
              <a:t>＝</a:t>
            </a:r>
            <a:r>
              <a:rPr lang="en-US" altLang="zh-CN">
                <a:latin typeface="黑体" pitchFamily="2" charset="-122"/>
                <a:ea typeface="黑体" pitchFamily="2" charset="-122"/>
              </a:rPr>
              <a:t>0.0110011</a:t>
            </a:r>
            <a:r>
              <a:rPr lang="zh-CN" altLang="en-US">
                <a:latin typeface="黑体" pitchFamily="2" charset="-122"/>
                <a:ea typeface="黑体" pitchFamily="2" charset="-122"/>
              </a:rPr>
              <a:t>，</a:t>
            </a:r>
            <a:r>
              <a:rPr lang="en-US" altLang="zh-CN">
                <a:latin typeface="黑体" pitchFamily="2" charset="-122"/>
                <a:ea typeface="黑体" pitchFamily="2" charset="-122"/>
              </a:rPr>
              <a:t>[</a:t>
            </a:r>
            <a:r>
              <a:rPr lang="en-US" altLang="zh-CN" i="1">
                <a:latin typeface="黑体" pitchFamily="2" charset="-122"/>
                <a:ea typeface="黑体" pitchFamily="2" charset="-122"/>
              </a:rPr>
              <a:t>M</a:t>
            </a:r>
            <a:r>
              <a:rPr lang="zh-CN" altLang="en-US" i="1" baseline="-25000">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原</a:t>
            </a:r>
            <a:r>
              <a:rPr lang="zh-CN" altLang="en-US">
                <a:latin typeface="黑体" pitchFamily="2" charset="-122"/>
                <a:ea typeface="黑体" pitchFamily="2" charset="-122"/>
              </a:rPr>
              <a:t>＝</a:t>
            </a:r>
            <a:r>
              <a:rPr lang="en-US" altLang="zh-CN">
                <a:latin typeface="黑体" pitchFamily="2" charset="-122"/>
                <a:ea typeface="黑体" pitchFamily="2" charset="-122"/>
              </a:rPr>
              <a:t>1.1110010</a:t>
            </a:r>
            <a:br>
              <a:rPr lang="en-US" altLang="zh-CN">
                <a:latin typeface="黑体" pitchFamily="2" charset="-122"/>
                <a:ea typeface="黑体" pitchFamily="2" charset="-122"/>
              </a:rPr>
            </a:br>
            <a:r>
              <a:rPr lang="en-US" altLang="zh-CN">
                <a:latin typeface="黑体" pitchFamily="2" charset="-122"/>
                <a:ea typeface="黑体" pitchFamily="2" charset="-122"/>
              </a:rPr>
              <a:t>  </a:t>
            </a:r>
            <a:r>
              <a:rPr lang="zh-CN" altLang="en-US">
                <a:latin typeface="黑体" pitchFamily="2" charset="-122"/>
                <a:ea typeface="黑体" pitchFamily="2" charset="-122"/>
              </a:rPr>
              <a:t>　　</a:t>
            </a:r>
            <a:r>
              <a:rPr lang="en-US" altLang="zh-CN">
                <a:latin typeface="黑体" pitchFamily="2" charset="-122"/>
                <a:ea typeface="黑体" pitchFamily="2" charset="-122"/>
              </a:rPr>
              <a:t>[</a:t>
            </a:r>
            <a:r>
              <a:rPr lang="en-US" altLang="zh-CN" i="1">
                <a:latin typeface="黑体" pitchFamily="2" charset="-122"/>
                <a:ea typeface="黑体" pitchFamily="2" charset="-122"/>
              </a:rPr>
              <a:t>E</a:t>
            </a:r>
            <a:r>
              <a:rPr lang="en-US" altLang="zh-CN" i="1" baseline="-25000">
                <a:latin typeface="黑体" pitchFamily="2" charset="-122"/>
                <a:ea typeface="黑体" pitchFamily="2" charset="-122"/>
              </a:rPr>
              <a:t>x</a:t>
            </a:r>
            <a:r>
              <a:rPr lang="en-US" altLang="zh-CN">
                <a:latin typeface="黑体" pitchFamily="2" charset="-122"/>
                <a:ea typeface="黑体" pitchFamily="2" charset="-122"/>
              </a:rPr>
              <a:t>]</a:t>
            </a:r>
            <a:r>
              <a:rPr lang="zh-CN" altLang="en-US" baseline="-25000">
                <a:latin typeface="黑体" pitchFamily="2" charset="-122"/>
                <a:ea typeface="黑体" pitchFamily="2" charset="-122"/>
              </a:rPr>
              <a:t>补</a:t>
            </a:r>
            <a:r>
              <a:rPr lang="zh-CN" altLang="en-US">
                <a:latin typeface="黑体" pitchFamily="2" charset="-122"/>
                <a:ea typeface="黑体" pitchFamily="2" charset="-122"/>
              </a:rPr>
              <a:t>＝</a:t>
            </a:r>
            <a:r>
              <a:rPr lang="en-US" altLang="zh-CN">
                <a:latin typeface="黑体" pitchFamily="2" charset="-122"/>
                <a:ea typeface="黑体" pitchFamily="2" charset="-122"/>
              </a:rPr>
              <a:t>11 011, [</a:t>
            </a:r>
            <a:r>
              <a:rPr lang="en-US" altLang="zh-CN" i="1">
                <a:latin typeface="黑体" pitchFamily="2" charset="-122"/>
                <a:ea typeface="黑体" pitchFamily="2" charset="-122"/>
              </a:rPr>
              <a:t>E</a:t>
            </a:r>
            <a:r>
              <a:rPr lang="zh-CN" altLang="en-US" i="1" baseline="-25000">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补</a:t>
            </a:r>
            <a:r>
              <a:rPr lang="zh-CN" altLang="en-US">
                <a:latin typeface="黑体" pitchFamily="2" charset="-122"/>
                <a:ea typeface="黑体" pitchFamily="2" charset="-122"/>
              </a:rPr>
              <a:t>＝</a:t>
            </a:r>
            <a:r>
              <a:rPr lang="en-US" altLang="zh-CN">
                <a:latin typeface="黑体" pitchFamily="2" charset="-122"/>
                <a:ea typeface="黑体" pitchFamily="2" charset="-122"/>
              </a:rPr>
              <a:t>00 011</a:t>
            </a:r>
            <a:endParaRPr lang="zh-CN" altLang="en-US">
              <a:latin typeface="黑体" pitchFamily="2" charset="-122"/>
              <a:ea typeface="黑体" pitchFamily="2" charset="-122"/>
            </a:endParaRPr>
          </a:p>
          <a:p>
            <a:pPr>
              <a:lnSpc>
                <a:spcPct val="150000"/>
              </a:lnSpc>
            </a:pPr>
            <a:r>
              <a:rPr lang="zh-CN" altLang="en-US">
                <a:latin typeface="黑体" pitchFamily="2" charset="-122"/>
                <a:ea typeface="黑体" pitchFamily="2" charset="-122"/>
              </a:rPr>
              <a:t>　  　</a:t>
            </a:r>
            <a:r>
              <a:rPr lang="en-US" altLang="zh-CN">
                <a:latin typeface="黑体" pitchFamily="2" charset="-122"/>
                <a:ea typeface="黑体" pitchFamily="2" charset="-122"/>
              </a:rPr>
              <a:t>[</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baseline="-25000">
                <a:latin typeface="黑体" pitchFamily="2" charset="-122"/>
                <a:ea typeface="黑体" pitchFamily="2" charset="-122"/>
              </a:rPr>
              <a:t>浮</a:t>
            </a:r>
            <a:r>
              <a:rPr lang="zh-CN" altLang="en-US">
                <a:latin typeface="黑体" pitchFamily="2" charset="-122"/>
                <a:ea typeface="黑体" pitchFamily="2" charset="-122"/>
              </a:rPr>
              <a:t>＝</a:t>
            </a:r>
            <a:r>
              <a:rPr lang="en-US" altLang="zh-CN">
                <a:latin typeface="黑体" pitchFamily="2" charset="-122"/>
                <a:ea typeface="黑体" pitchFamily="2" charset="-122"/>
              </a:rPr>
              <a:t>11 011, 0.0110011, [</a:t>
            </a:r>
            <a:r>
              <a:rPr lang="zh-CN" altLang="en-US" i="1">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浮</a:t>
            </a:r>
            <a:r>
              <a:rPr lang="zh-CN" altLang="en-US">
                <a:latin typeface="黑体" pitchFamily="2" charset="-122"/>
                <a:ea typeface="黑体" pitchFamily="2" charset="-122"/>
              </a:rPr>
              <a:t>＝</a:t>
            </a:r>
            <a:r>
              <a:rPr lang="en-US" altLang="zh-CN">
                <a:latin typeface="黑体" pitchFamily="2" charset="-122"/>
                <a:ea typeface="黑体" pitchFamily="2" charset="-122"/>
              </a:rPr>
              <a:t>00 011, 1.1110010</a:t>
            </a:r>
            <a:endParaRPr lang="zh-CN" altLang="en-US">
              <a:latin typeface="黑体" pitchFamily="2" charset="-122"/>
              <a:ea typeface="黑体" pitchFamily="2" charset="-122"/>
            </a:endParaRPr>
          </a:p>
          <a:p>
            <a:pPr>
              <a:lnSpc>
                <a:spcPct val="150000"/>
              </a:lnSpc>
            </a:pPr>
            <a:r>
              <a:rPr lang="en-US" altLang="zh-CN">
                <a:latin typeface="黑体" pitchFamily="2" charset="-122"/>
                <a:ea typeface="黑体" pitchFamily="2" charset="-122"/>
              </a:rPr>
              <a:t>    (1) </a:t>
            </a:r>
            <a:r>
              <a:rPr lang="zh-CN" altLang="en-US">
                <a:latin typeface="黑体" pitchFamily="2" charset="-122"/>
                <a:ea typeface="黑体" pitchFamily="2" charset="-122"/>
              </a:rPr>
              <a:t>求阶码和</a:t>
            </a:r>
            <a:br>
              <a:rPr lang="zh-CN" altLang="en-US">
                <a:latin typeface="黑体" pitchFamily="2" charset="-122"/>
                <a:ea typeface="黑体" pitchFamily="2" charset="-122"/>
              </a:rPr>
            </a:br>
            <a:r>
              <a:rPr lang="zh-CN" altLang="en-US">
                <a:latin typeface="黑体" pitchFamily="2" charset="-122"/>
                <a:ea typeface="黑体" pitchFamily="2" charset="-122"/>
              </a:rPr>
              <a:t>       </a:t>
            </a:r>
            <a:r>
              <a:rPr lang="en-US" altLang="zh-CN">
                <a:latin typeface="黑体" pitchFamily="2" charset="-122"/>
                <a:ea typeface="黑体" pitchFamily="2" charset="-122"/>
              </a:rPr>
              <a:t>[</a:t>
            </a:r>
            <a:r>
              <a:rPr lang="en-US" altLang="zh-CN" i="1">
                <a:latin typeface="黑体" pitchFamily="2" charset="-122"/>
                <a:ea typeface="黑体" pitchFamily="2" charset="-122"/>
              </a:rPr>
              <a:t>E</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baseline="-25000">
                <a:latin typeface="黑体" pitchFamily="2" charset="-122"/>
                <a:ea typeface="黑体" pitchFamily="2" charset="-122"/>
              </a:rPr>
              <a:t>补</a:t>
            </a:r>
            <a:r>
              <a:rPr lang="zh-CN" altLang="en-US">
                <a:latin typeface="黑体" pitchFamily="2" charset="-122"/>
                <a:ea typeface="黑体" pitchFamily="2" charset="-122"/>
              </a:rPr>
              <a:t>＋</a:t>
            </a:r>
            <a:r>
              <a:rPr lang="en-US" altLang="zh-CN">
                <a:latin typeface="黑体" pitchFamily="2" charset="-122"/>
                <a:ea typeface="黑体" pitchFamily="2" charset="-122"/>
              </a:rPr>
              <a:t>[</a:t>
            </a:r>
            <a:r>
              <a:rPr lang="en-US" altLang="zh-CN" i="1">
                <a:latin typeface="黑体" pitchFamily="2" charset="-122"/>
                <a:ea typeface="黑体" pitchFamily="2" charset="-122"/>
              </a:rPr>
              <a:t>E</a:t>
            </a:r>
            <a:r>
              <a:rPr lang="zh-CN" altLang="en-US" i="1">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补</a:t>
            </a:r>
            <a:r>
              <a:rPr lang="zh-CN" altLang="en-US">
                <a:latin typeface="黑体" pitchFamily="2" charset="-122"/>
                <a:ea typeface="黑体" pitchFamily="2" charset="-122"/>
              </a:rPr>
              <a:t>＝</a:t>
            </a:r>
            <a:r>
              <a:rPr lang="en-US" altLang="zh-CN">
                <a:latin typeface="黑体" pitchFamily="2" charset="-122"/>
                <a:ea typeface="黑体" pitchFamily="2" charset="-122"/>
              </a:rPr>
              <a:t>11 011</a:t>
            </a:r>
            <a:r>
              <a:rPr lang="zh-CN" altLang="en-US">
                <a:latin typeface="黑体" pitchFamily="2" charset="-122"/>
                <a:ea typeface="黑体" pitchFamily="2" charset="-122"/>
              </a:rPr>
              <a:t>＋</a:t>
            </a:r>
            <a:r>
              <a:rPr lang="en-US" altLang="zh-CN">
                <a:latin typeface="黑体" pitchFamily="2" charset="-122"/>
                <a:ea typeface="黑体" pitchFamily="2" charset="-122"/>
              </a:rPr>
              <a:t>00 011</a:t>
            </a:r>
            <a:r>
              <a:rPr lang="zh-CN" altLang="en-US">
                <a:latin typeface="黑体" pitchFamily="2" charset="-122"/>
                <a:ea typeface="黑体" pitchFamily="2" charset="-122"/>
              </a:rPr>
              <a:t>＝</a:t>
            </a:r>
            <a:r>
              <a:rPr lang="en-US" altLang="zh-CN">
                <a:latin typeface="黑体" pitchFamily="2" charset="-122"/>
                <a:ea typeface="黑体" pitchFamily="2" charset="-122"/>
              </a:rPr>
              <a:t>11 110, </a:t>
            </a:r>
            <a:r>
              <a:rPr lang="zh-CN" altLang="en-US">
                <a:latin typeface="黑体" pitchFamily="2" charset="-122"/>
                <a:ea typeface="黑体" pitchFamily="2" charset="-122"/>
              </a:rPr>
              <a:t>值为补码形式－</a:t>
            </a:r>
            <a:r>
              <a:rPr lang="en-US" altLang="zh-CN">
                <a:latin typeface="黑体" pitchFamily="2" charset="-122"/>
                <a:ea typeface="黑体" pitchFamily="2" charset="-122"/>
              </a:rPr>
              <a:t>2</a:t>
            </a:r>
            <a:r>
              <a:rPr lang="zh-CN" altLang="en-US">
                <a:latin typeface="黑体" pitchFamily="2" charset="-122"/>
                <a:ea typeface="黑体" pitchFamily="2" charset="-122"/>
              </a:rPr>
              <a:t>。</a:t>
            </a:r>
          </a:p>
          <a:p>
            <a:pPr>
              <a:lnSpc>
                <a:spcPct val="150000"/>
              </a:lnSpc>
            </a:pPr>
            <a:r>
              <a:rPr lang="en-US" altLang="zh-CN">
                <a:latin typeface="黑体" pitchFamily="2" charset="-122"/>
                <a:ea typeface="黑体" pitchFamily="2" charset="-122"/>
              </a:rPr>
              <a:t>    (2) </a:t>
            </a:r>
            <a:r>
              <a:rPr lang="zh-CN" altLang="en-US">
                <a:latin typeface="黑体" pitchFamily="2" charset="-122"/>
                <a:ea typeface="黑体" pitchFamily="2" charset="-122"/>
              </a:rPr>
              <a:t>尾数乘法运算可采用原码阵列乘法器实现</a:t>
            </a:r>
            <a:r>
              <a:rPr lang="en-US" altLang="zh-CN">
                <a:latin typeface="黑体" pitchFamily="2" charset="-122"/>
                <a:ea typeface="黑体" pitchFamily="2" charset="-122"/>
              </a:rPr>
              <a:t>,</a:t>
            </a:r>
            <a:r>
              <a:rPr lang="zh-CN" altLang="en-US">
                <a:latin typeface="黑体" pitchFamily="2" charset="-122"/>
                <a:ea typeface="黑体" pitchFamily="2" charset="-122"/>
              </a:rPr>
              <a:t>即有</a:t>
            </a:r>
            <a:br>
              <a:rPr lang="zh-CN" altLang="en-US">
                <a:latin typeface="黑体" pitchFamily="2" charset="-122"/>
                <a:ea typeface="黑体" pitchFamily="2" charset="-122"/>
              </a:rPr>
            </a:br>
            <a:r>
              <a:rPr lang="zh-CN" altLang="en-US">
                <a:latin typeface="黑体" pitchFamily="2" charset="-122"/>
                <a:ea typeface="黑体" pitchFamily="2" charset="-122"/>
              </a:rPr>
              <a:t>   　　</a:t>
            </a:r>
            <a:r>
              <a:rPr lang="en-US" altLang="zh-CN">
                <a:latin typeface="黑体" pitchFamily="2" charset="-122"/>
                <a:ea typeface="黑体" pitchFamily="2" charset="-122"/>
              </a:rPr>
              <a:t>[</a:t>
            </a:r>
            <a:r>
              <a:rPr lang="en-US" altLang="zh-CN" i="1">
                <a:latin typeface="黑体" pitchFamily="2" charset="-122"/>
                <a:ea typeface="黑体" pitchFamily="2" charset="-122"/>
              </a:rPr>
              <a:t>M</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baseline="-25000">
                <a:latin typeface="黑体" pitchFamily="2" charset="-122"/>
                <a:ea typeface="黑体" pitchFamily="2" charset="-122"/>
              </a:rPr>
              <a:t>原</a:t>
            </a:r>
            <a:r>
              <a:rPr lang="en-US" altLang="zh-CN">
                <a:latin typeface="黑体" pitchFamily="2" charset="-122"/>
                <a:ea typeface="黑体" pitchFamily="2" charset="-122"/>
              </a:rPr>
              <a:t>×[</a:t>
            </a:r>
            <a:r>
              <a:rPr lang="en-US" altLang="zh-CN" i="1">
                <a:latin typeface="黑体" pitchFamily="2" charset="-122"/>
                <a:ea typeface="黑体" pitchFamily="2" charset="-122"/>
              </a:rPr>
              <a:t>M</a:t>
            </a:r>
            <a:r>
              <a:rPr lang="zh-CN" altLang="en-US" i="1">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原</a:t>
            </a:r>
            <a:r>
              <a:rPr lang="zh-CN" altLang="en-US">
                <a:latin typeface="黑体" pitchFamily="2" charset="-122"/>
                <a:ea typeface="黑体" pitchFamily="2" charset="-122"/>
              </a:rPr>
              <a:t>＝</a:t>
            </a:r>
            <a:r>
              <a:rPr lang="en-US" altLang="zh-CN">
                <a:latin typeface="黑体" pitchFamily="2" charset="-122"/>
                <a:ea typeface="黑体" pitchFamily="2" charset="-122"/>
              </a:rPr>
              <a:t>[0.0110011]</a:t>
            </a:r>
            <a:r>
              <a:rPr lang="zh-CN" altLang="en-US" baseline="-25000">
                <a:latin typeface="黑体" pitchFamily="2" charset="-122"/>
                <a:ea typeface="黑体" pitchFamily="2" charset="-122"/>
              </a:rPr>
              <a:t>原</a:t>
            </a:r>
            <a:r>
              <a:rPr lang="en-US" altLang="zh-CN">
                <a:latin typeface="黑体" pitchFamily="2" charset="-122"/>
                <a:ea typeface="黑体" pitchFamily="2" charset="-122"/>
              </a:rPr>
              <a:t>×[1.1110010]</a:t>
            </a:r>
            <a:r>
              <a:rPr lang="zh-CN" altLang="en-US" baseline="-25000">
                <a:latin typeface="黑体" pitchFamily="2" charset="-122"/>
                <a:ea typeface="黑体" pitchFamily="2" charset="-122"/>
              </a:rPr>
              <a:t>原</a:t>
            </a:r>
            <a:endParaRPr lang="zh-CN" altLang="en-US">
              <a:latin typeface="黑体" pitchFamily="2" charset="-122"/>
              <a:ea typeface="黑体" pitchFamily="2" charset="-122"/>
            </a:endParaRPr>
          </a:p>
          <a:p>
            <a:pPr>
              <a:lnSpc>
                <a:spcPct val="150000"/>
              </a:lnSpc>
            </a:pPr>
            <a:r>
              <a:rPr lang="zh-CN" altLang="en-US">
                <a:latin typeface="黑体" pitchFamily="2" charset="-122"/>
                <a:ea typeface="黑体" pitchFamily="2" charset="-122"/>
              </a:rPr>
              <a:t>　   　　　　　　　　 ＝</a:t>
            </a:r>
            <a:r>
              <a:rPr lang="en-US" altLang="zh-CN">
                <a:latin typeface="黑体" pitchFamily="2" charset="-122"/>
                <a:ea typeface="黑体" pitchFamily="2" charset="-122"/>
              </a:rPr>
              <a:t>[1.0101101</a:t>
            </a:r>
            <a:r>
              <a:rPr lang="zh-CN" altLang="en-US">
                <a:latin typeface="黑体" pitchFamily="2" charset="-122"/>
                <a:ea typeface="黑体" pitchFamily="2" charset="-122"/>
              </a:rPr>
              <a:t>，</a:t>
            </a:r>
            <a:r>
              <a:rPr lang="en-US" altLang="zh-CN">
                <a:latin typeface="黑体" pitchFamily="2" charset="-122"/>
                <a:ea typeface="黑体" pitchFamily="2" charset="-122"/>
              </a:rPr>
              <a:t>0110110]</a:t>
            </a:r>
            <a:r>
              <a:rPr lang="zh-CN" altLang="en-US" baseline="-25000">
                <a:latin typeface="黑体" pitchFamily="2" charset="-122"/>
                <a:ea typeface="黑体" pitchFamily="2" charset="-122"/>
              </a:rPr>
              <a:t>原</a:t>
            </a:r>
            <a:endParaRPr lang="zh-CN" altLang="en-US">
              <a:latin typeface="黑体" pitchFamily="2" charset="-122"/>
              <a:ea typeface="黑体" pitchFamily="2" charset="-122"/>
            </a:endParaRPr>
          </a:p>
          <a:p>
            <a:pPr>
              <a:lnSpc>
                <a:spcPct val="150000"/>
              </a:lnSpc>
            </a:pPr>
            <a:r>
              <a:rPr lang="en-US" altLang="zh-CN">
                <a:latin typeface="黑体" pitchFamily="2" charset="-122"/>
                <a:ea typeface="黑体" pitchFamily="2" charset="-122"/>
              </a:rPr>
              <a:t>    (3) </a:t>
            </a:r>
            <a:r>
              <a:rPr lang="zh-CN" altLang="en-US">
                <a:latin typeface="黑体" pitchFamily="2" charset="-122"/>
                <a:ea typeface="黑体" pitchFamily="2" charset="-122"/>
              </a:rPr>
              <a:t>规格化处理</a:t>
            </a:r>
            <a:br>
              <a:rPr lang="zh-CN" altLang="en-US">
                <a:latin typeface="黑体" pitchFamily="2" charset="-122"/>
                <a:ea typeface="黑体" pitchFamily="2" charset="-122"/>
              </a:rPr>
            </a:br>
            <a:r>
              <a:rPr lang="zh-CN" altLang="en-US">
                <a:latin typeface="黑体" pitchFamily="2" charset="-122"/>
                <a:ea typeface="黑体" pitchFamily="2" charset="-122"/>
              </a:rPr>
              <a:t>    　　乘积的尾数不是规格化的数</a:t>
            </a:r>
            <a:r>
              <a:rPr lang="en-US" altLang="zh-CN">
                <a:latin typeface="黑体" pitchFamily="2" charset="-122"/>
                <a:ea typeface="黑体" pitchFamily="2" charset="-122"/>
              </a:rPr>
              <a:t>,</a:t>
            </a:r>
            <a:r>
              <a:rPr lang="zh-CN" altLang="en-US">
                <a:latin typeface="黑体" pitchFamily="2" charset="-122"/>
                <a:ea typeface="黑体" pitchFamily="2" charset="-122"/>
              </a:rPr>
              <a:t>需要左规</a:t>
            </a:r>
            <a:r>
              <a:rPr lang="en-US" altLang="zh-CN">
                <a:latin typeface="黑体" pitchFamily="2" charset="-122"/>
                <a:ea typeface="黑体" pitchFamily="2" charset="-122"/>
              </a:rPr>
              <a:t>,</a:t>
            </a:r>
            <a:r>
              <a:rPr lang="zh-CN" altLang="en-US">
                <a:latin typeface="黑体" pitchFamily="2" charset="-122"/>
                <a:ea typeface="黑体" pitchFamily="2" charset="-122"/>
              </a:rPr>
              <a:t>阶码变为</a:t>
            </a:r>
            <a:r>
              <a:rPr lang="en-US" altLang="zh-CN">
                <a:latin typeface="黑体" pitchFamily="2" charset="-122"/>
                <a:ea typeface="黑体" pitchFamily="2" charset="-122"/>
              </a:rPr>
              <a:t>11 101(-3),</a:t>
            </a:r>
            <a:endParaRPr lang="zh-CN" altLang="en-US">
              <a:latin typeface="黑体" pitchFamily="2" charset="-122"/>
              <a:ea typeface="黑体" pitchFamily="2" charset="-122"/>
            </a:endParaRPr>
          </a:p>
          <a:p>
            <a:pPr>
              <a:lnSpc>
                <a:spcPct val="150000"/>
              </a:lnSpc>
            </a:pPr>
            <a:r>
              <a:rPr lang="zh-CN" altLang="en-US">
                <a:latin typeface="黑体" pitchFamily="2" charset="-122"/>
                <a:ea typeface="黑体" pitchFamily="2" charset="-122"/>
              </a:rPr>
              <a:t>　　    尾数变为 </a:t>
            </a:r>
            <a:r>
              <a:rPr lang="en-US" altLang="zh-CN">
                <a:latin typeface="黑体" pitchFamily="2" charset="-122"/>
                <a:ea typeface="黑体" pitchFamily="2" charset="-122"/>
              </a:rPr>
              <a:t>1.1011010</a:t>
            </a:r>
            <a:r>
              <a:rPr lang="zh-CN" altLang="en-US">
                <a:latin typeface="黑体" pitchFamily="2" charset="-122"/>
                <a:ea typeface="黑体" pitchFamily="2" charset="-122"/>
              </a:rPr>
              <a:t>，</a:t>
            </a:r>
            <a:r>
              <a:rPr lang="en-US" altLang="zh-CN">
                <a:latin typeface="黑体" pitchFamily="2" charset="-122"/>
                <a:ea typeface="黑体" pitchFamily="2" charset="-122"/>
              </a:rPr>
              <a:t>1101100</a:t>
            </a:r>
            <a:endParaRPr lang="zh-CN" altLang="en-US"/>
          </a:p>
        </p:txBody>
      </p:sp>
      <p:sp>
        <p:nvSpPr>
          <p:cNvPr id="3" name="矩形 1"/>
          <p:cNvSpPr>
            <a:spLocks noChangeArrowheads="1"/>
          </p:cNvSpPr>
          <p:nvPr/>
        </p:nvSpPr>
        <p:spPr bwMode="auto">
          <a:xfrm>
            <a:off x="539750" y="1989138"/>
            <a:ext cx="7777163" cy="300037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a:latin typeface="黑体" pitchFamily="2" charset="-122"/>
                <a:ea typeface="黑体" pitchFamily="2" charset="-122"/>
              </a:rPr>
              <a:t>(4) </a:t>
            </a:r>
            <a:r>
              <a:rPr lang="zh-CN" altLang="en-US">
                <a:latin typeface="黑体" pitchFamily="2" charset="-122"/>
                <a:ea typeface="黑体" pitchFamily="2" charset="-122"/>
              </a:rPr>
              <a:t>舍入处理</a:t>
            </a:r>
            <a:br>
              <a:rPr lang="zh-CN" altLang="en-US">
                <a:latin typeface="黑体" pitchFamily="2" charset="-122"/>
                <a:ea typeface="黑体" pitchFamily="2" charset="-122"/>
              </a:rPr>
            </a:br>
            <a:r>
              <a:rPr lang="zh-CN" altLang="en-US">
                <a:latin typeface="黑体" pitchFamily="2" charset="-122"/>
                <a:ea typeface="黑体" pitchFamily="2" charset="-122"/>
              </a:rPr>
              <a:t>　　尾数为负数</a:t>
            </a:r>
            <a:r>
              <a:rPr lang="en-US" altLang="zh-CN">
                <a:latin typeface="黑体" pitchFamily="2" charset="-122"/>
                <a:ea typeface="黑体" pitchFamily="2" charset="-122"/>
              </a:rPr>
              <a:t>,</a:t>
            </a:r>
            <a:r>
              <a:rPr lang="zh-CN" altLang="en-US">
                <a:latin typeface="黑体" pitchFamily="2" charset="-122"/>
                <a:ea typeface="黑体" pitchFamily="2" charset="-122"/>
              </a:rPr>
              <a:t>取尾数高位字长，按舍入规则</a:t>
            </a:r>
            <a:r>
              <a:rPr lang="en-US" altLang="zh-CN">
                <a:latin typeface="黑体" pitchFamily="2" charset="-122"/>
                <a:ea typeface="黑体" pitchFamily="2" charset="-122"/>
              </a:rPr>
              <a:t>,</a:t>
            </a:r>
            <a:r>
              <a:rPr lang="zh-CN" altLang="en-US">
                <a:latin typeface="黑体" pitchFamily="2" charset="-122"/>
                <a:ea typeface="黑体" pitchFamily="2" charset="-122"/>
              </a:rPr>
              <a:t>舍去低位字长，故尾数为</a:t>
            </a:r>
            <a:r>
              <a:rPr lang="en-US" altLang="zh-CN">
                <a:latin typeface="黑体" pitchFamily="2" charset="-122"/>
                <a:ea typeface="黑体" pitchFamily="2" charset="-122"/>
              </a:rPr>
              <a:t>1.1011011 </a:t>
            </a:r>
            <a:r>
              <a:rPr lang="zh-CN" altLang="en-US">
                <a:latin typeface="黑体" pitchFamily="2" charset="-122"/>
                <a:ea typeface="黑体" pitchFamily="2" charset="-122"/>
              </a:rPr>
              <a:t>。</a:t>
            </a:r>
          </a:p>
          <a:p>
            <a:pPr>
              <a:lnSpc>
                <a:spcPct val="150000"/>
              </a:lnSpc>
            </a:pPr>
            <a:r>
              <a:rPr lang="zh-CN" altLang="en-US">
                <a:latin typeface="黑体" pitchFamily="2" charset="-122"/>
                <a:ea typeface="黑体" pitchFamily="2" charset="-122"/>
              </a:rPr>
              <a:t>　　最终相乘结果为</a:t>
            </a:r>
            <a:br>
              <a:rPr lang="zh-CN" altLang="en-US">
                <a:latin typeface="黑体" pitchFamily="2" charset="-122"/>
                <a:ea typeface="黑体" pitchFamily="2" charset="-122"/>
              </a:rPr>
            </a:br>
            <a:r>
              <a:rPr lang="zh-CN" altLang="en-US">
                <a:latin typeface="黑体" pitchFamily="2" charset="-122"/>
                <a:ea typeface="黑体" pitchFamily="2" charset="-122"/>
              </a:rPr>
              <a:t>　　　　　　　　　</a:t>
            </a:r>
            <a:r>
              <a:rPr lang="en-US" altLang="zh-CN">
                <a:latin typeface="黑体" pitchFamily="2" charset="-122"/>
                <a:ea typeface="黑体" pitchFamily="2" charset="-122"/>
              </a:rPr>
              <a:t>[</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i="1">
                <a:latin typeface="黑体" pitchFamily="2" charset="-122"/>
                <a:ea typeface="黑体" pitchFamily="2" charset="-122"/>
              </a:rPr>
              <a:t>ｙ</a:t>
            </a:r>
            <a:r>
              <a:rPr lang="en-US" altLang="zh-CN">
                <a:latin typeface="黑体" pitchFamily="2" charset="-122"/>
                <a:ea typeface="黑体" pitchFamily="2" charset="-122"/>
              </a:rPr>
              <a:t>]</a:t>
            </a:r>
            <a:r>
              <a:rPr lang="zh-CN" altLang="en-US" baseline="-25000">
                <a:latin typeface="黑体" pitchFamily="2" charset="-122"/>
                <a:ea typeface="黑体" pitchFamily="2" charset="-122"/>
              </a:rPr>
              <a:t>浮</a:t>
            </a:r>
            <a:r>
              <a:rPr lang="zh-CN" altLang="en-US">
                <a:latin typeface="黑体" pitchFamily="2" charset="-122"/>
                <a:ea typeface="黑体" pitchFamily="2" charset="-122"/>
              </a:rPr>
              <a:t>＝</a:t>
            </a:r>
            <a:r>
              <a:rPr lang="en-US" altLang="zh-CN">
                <a:latin typeface="黑体" pitchFamily="2" charset="-122"/>
                <a:ea typeface="黑体" pitchFamily="2" charset="-122"/>
              </a:rPr>
              <a:t>11 101, 1.1011011</a:t>
            </a:r>
            <a:endParaRPr lang="zh-CN" altLang="en-US">
              <a:latin typeface="黑体" pitchFamily="2" charset="-122"/>
              <a:ea typeface="黑体" pitchFamily="2" charset="-122"/>
            </a:endParaRPr>
          </a:p>
          <a:p>
            <a:pPr>
              <a:lnSpc>
                <a:spcPct val="150000"/>
              </a:lnSpc>
            </a:pPr>
            <a:r>
              <a:rPr lang="zh-CN" altLang="en-US">
                <a:latin typeface="黑体" pitchFamily="2" charset="-122"/>
                <a:ea typeface="黑体" pitchFamily="2" charset="-122"/>
              </a:rPr>
              <a:t>     其真值为</a:t>
            </a:r>
            <a:br>
              <a:rPr lang="zh-CN" altLang="en-US">
                <a:latin typeface="黑体" pitchFamily="2" charset="-122"/>
                <a:ea typeface="黑体" pitchFamily="2" charset="-122"/>
              </a:rPr>
            </a:br>
            <a:r>
              <a:rPr lang="zh-CN" altLang="en-US">
                <a:latin typeface="黑体" pitchFamily="2" charset="-122"/>
                <a:ea typeface="黑体" pitchFamily="2" charset="-122"/>
              </a:rPr>
              <a:t>　　　　　　　　　</a:t>
            </a:r>
            <a:r>
              <a:rPr lang="zh-CN" altLang="en-US" i="1">
                <a:latin typeface="黑体" pitchFamily="2" charset="-122"/>
                <a:ea typeface="黑体" pitchFamily="2" charset="-122"/>
              </a:rPr>
              <a:t>ｘ</a:t>
            </a:r>
            <a:r>
              <a:rPr lang="en-US" altLang="zh-CN">
                <a:latin typeface="黑体" pitchFamily="2" charset="-122"/>
                <a:ea typeface="黑体" pitchFamily="2" charset="-122"/>
              </a:rPr>
              <a:t>×</a:t>
            </a:r>
            <a:r>
              <a:rPr lang="zh-CN" altLang="en-US" i="1">
                <a:latin typeface="黑体" pitchFamily="2" charset="-122"/>
                <a:ea typeface="黑体" pitchFamily="2" charset="-122"/>
              </a:rPr>
              <a:t>ｙ</a:t>
            </a:r>
            <a:r>
              <a:rPr lang="zh-CN" altLang="en-US">
                <a:latin typeface="黑体" pitchFamily="2" charset="-122"/>
                <a:ea typeface="黑体" pitchFamily="2" charset="-122"/>
              </a:rPr>
              <a:t>＝</a:t>
            </a:r>
            <a:r>
              <a:rPr lang="en-US" altLang="zh-CN">
                <a:latin typeface="黑体" pitchFamily="2" charset="-122"/>
                <a:ea typeface="黑体" pitchFamily="2" charset="-122"/>
              </a:rPr>
              <a:t>2</a:t>
            </a:r>
            <a:r>
              <a:rPr lang="zh-CN" altLang="en-US" baseline="30000">
                <a:latin typeface="黑体" pitchFamily="2" charset="-122"/>
                <a:ea typeface="黑体" pitchFamily="2" charset="-122"/>
              </a:rPr>
              <a:t>－</a:t>
            </a:r>
            <a:r>
              <a:rPr lang="en-US" altLang="zh-CN" baseline="30000">
                <a:latin typeface="黑体" pitchFamily="2" charset="-122"/>
                <a:ea typeface="黑体" pitchFamily="2" charset="-122"/>
              </a:rPr>
              <a:t>3</a:t>
            </a:r>
            <a:r>
              <a:rPr lang="en-US" altLang="zh-CN">
                <a:latin typeface="黑体" pitchFamily="2" charset="-122"/>
                <a:ea typeface="黑体" pitchFamily="2" charset="-122"/>
              </a:rPr>
              <a:t>×(</a:t>
            </a:r>
            <a:r>
              <a:rPr lang="zh-CN" altLang="en-US">
                <a:latin typeface="黑体" pitchFamily="2" charset="-122"/>
                <a:ea typeface="黑体" pitchFamily="2" charset="-122"/>
              </a:rPr>
              <a:t>－</a:t>
            </a:r>
            <a:r>
              <a:rPr lang="en-US" altLang="zh-CN">
                <a:latin typeface="黑体" pitchFamily="2" charset="-122"/>
                <a:ea typeface="黑体" pitchFamily="2" charset="-122"/>
              </a:rPr>
              <a:t>0.1011011)</a:t>
            </a:r>
            <a:endParaRPr lang="zh-CN" altLang="en-US">
              <a:latin typeface="黑体" pitchFamily="2" charset="-122"/>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1"/>
          <p:cNvSpPr>
            <a:spLocks noChangeArrowheads="1"/>
          </p:cNvSpPr>
          <p:nvPr/>
        </p:nvSpPr>
        <p:spPr bwMode="auto">
          <a:xfrm>
            <a:off x="250825" y="265113"/>
            <a:ext cx="856932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40000"/>
              </a:lnSpc>
            </a:pPr>
            <a:r>
              <a:rPr lang="zh-CN" altLang="zh-CN" sz="2400">
                <a:latin typeface="黑体" pitchFamily="2" charset="-122"/>
                <a:ea typeface="黑体" pitchFamily="2" charset="-122"/>
              </a:rPr>
              <a:t>2.6.3 浮点运算流水线</a:t>
            </a:r>
            <a:r>
              <a:rPr lang="zh-CN" altLang="zh-CN" sz="2400" i="1">
                <a:latin typeface="黑体" pitchFamily="2" charset="-122"/>
                <a:ea typeface="黑体" pitchFamily="2" charset="-122"/>
              </a:rPr>
              <a:t> </a:t>
            </a:r>
            <a:r>
              <a:rPr lang="zh-CN" altLang="zh-CN" sz="2400" i="1">
                <a:latin typeface="黑体" pitchFamily="2" charset="-122"/>
                <a:ea typeface="黑体" pitchFamily="2" charset="-122"/>
                <a:hlinkClick r:id="rId2" action="ppaction://hlinkfile"/>
              </a:rPr>
              <a:t>　  </a:t>
            </a:r>
            <a:r>
              <a:rPr lang="zh-CN" altLang="zh-CN" sz="2400" i="1">
                <a:latin typeface="黑体" pitchFamily="2" charset="-122"/>
                <a:ea typeface="黑体" pitchFamily="2" charset="-122"/>
              </a:rPr>
              <a:t>　　　　　</a:t>
            </a:r>
            <a:endParaRPr lang="zh-CN" altLang="zh-CN" sz="2400">
              <a:latin typeface="黑体" pitchFamily="2" charset="-122"/>
              <a:ea typeface="黑体" pitchFamily="2" charset="-122"/>
            </a:endParaRPr>
          </a:p>
          <a:p>
            <a:pPr eaLnBrk="0" hangingPunct="0">
              <a:lnSpc>
                <a:spcPct val="14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1.流水线原理</a:t>
            </a:r>
          </a:p>
          <a:p>
            <a:pPr eaLnBrk="0" hangingPunct="0">
              <a:lnSpc>
                <a:spcPct val="140000"/>
              </a:lnSpc>
            </a:pPr>
            <a:r>
              <a:rPr lang="zh-CN" altLang="zh-CN" sz="2400">
                <a:latin typeface="黑体" pitchFamily="2" charset="-122"/>
                <a:ea typeface="黑体" pitchFamily="2" charset="-122"/>
              </a:rPr>
              <a:t>　　计算机的流水处理过程同工厂中的流水装配线类似。</a:t>
            </a:r>
            <a:endParaRPr lang="en-US" altLang="zh-CN" sz="2400">
              <a:latin typeface="黑体" pitchFamily="2" charset="-122"/>
              <a:ea typeface="黑体" pitchFamily="2" charset="-122"/>
            </a:endParaRPr>
          </a:p>
          <a:p>
            <a:pPr eaLnBrk="0" hangingPunct="0">
              <a:lnSpc>
                <a:spcPct val="14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为了实现流水,首先必须把输入的任务分割为一系列的子任务,使各子任务能在流水线的各个阶段并发地执行。将任务连续不断地输入流水线,从而实现了子任务的并行。</a:t>
            </a:r>
            <a:endParaRPr lang="en-US" altLang="zh-CN" sz="2400">
              <a:latin typeface="黑体" pitchFamily="2" charset="-122"/>
              <a:ea typeface="黑体" pitchFamily="2" charset="-122"/>
            </a:endParaRPr>
          </a:p>
          <a:p>
            <a:pPr eaLnBrk="0" hangingPunct="0">
              <a:lnSpc>
                <a:spcPct val="14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流水处理大幅度地改善了计算机的系统性能,是在计算机上实现时间并行性的一种非常经济的方法。</a:t>
            </a:r>
          </a:p>
          <a:p>
            <a:pPr eaLnBrk="0" hangingPunct="0">
              <a:lnSpc>
                <a:spcPct val="140000"/>
              </a:lnSpc>
            </a:pPr>
            <a:r>
              <a:rPr lang="zh-CN" altLang="zh-CN" sz="2400">
                <a:latin typeface="黑体" pitchFamily="2" charset="-122"/>
                <a:ea typeface="黑体" pitchFamily="2" charset="-122"/>
              </a:rPr>
              <a:t>　　在流水线中,原则上要求各个阶段的处理时间都相同。若某一阶段的处理时间较长,势必造成其他阶段的空转等待。</a:t>
            </a:r>
            <a:endParaRPr lang="en-US" altLang="zh-CN" sz="2400">
              <a:latin typeface="黑体" pitchFamily="2" charset="-122"/>
              <a:ea typeface="黑体" pitchFamily="2" charset="-122"/>
            </a:endParaRPr>
          </a:p>
          <a:p>
            <a:pPr eaLnBrk="0" hangingPunct="0">
              <a:lnSpc>
                <a:spcPct val="140000"/>
              </a:lnSpc>
            </a:pPr>
            <a:r>
              <a:rPr lang="en-US" altLang="zh-CN" sz="2400">
                <a:latin typeface="黑体" pitchFamily="2" charset="-122"/>
                <a:ea typeface="黑体" pitchFamily="2" charset="-122"/>
              </a:rPr>
              <a:t>    </a:t>
            </a:r>
            <a:r>
              <a:rPr lang="zh-CN" altLang="zh-CN" sz="2400">
                <a:latin typeface="黑体" pitchFamily="2" charset="-122"/>
                <a:ea typeface="黑体" pitchFamily="2" charset="-122"/>
              </a:rPr>
              <a:t>对子任务的划分,是决定流水线性能的一个关键因素,它取决于操作部分的效率、所期望的处理速度,以及成本价格等等。</a:t>
            </a:r>
            <a:endParaRPr lang="zh-CN" altLang="zh-CN" sz="2400" i="1">
              <a:latin typeface="黑体" pitchFamily="2" charset="-122"/>
              <a:ea typeface="黑体" pitchFamily="2" charset="-122"/>
            </a:endParaRPr>
          </a:p>
        </p:txBody>
      </p:sp>
      <p:sp>
        <p:nvSpPr>
          <p:cNvPr id="140291" name="AutoShape 2" descr="G:\jzdx\%E8%AE%A1%E7%AE%97%E6%9C%BA%E7%BB%84%E6%88%90%E5%8E%9F%E7%90%86\%E6%95%99%E6%A1%88\%E7%AC%AC%E4%BA%8C%E7%AB%A0\htm\Images\Home07.gif">
            <a:hlinkClick r:id="rId2" action="ppaction://hlinkfile"/>
          </p:cNvPr>
          <p:cNvSpPr>
            <a:spLocks noChangeAspect="1" noChangeArrowheads="1"/>
          </p:cNvSpPr>
          <p:nvPr/>
        </p:nvSpPr>
        <p:spPr bwMode="auto">
          <a:xfrm>
            <a:off x="2751138" y="-97790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1"/>
          <p:cNvSpPr>
            <a:spLocks noChangeArrowheads="1"/>
          </p:cNvSpPr>
          <p:nvPr/>
        </p:nvSpPr>
        <p:spPr bwMode="auto">
          <a:xfrm rot="10800000" flipV="1">
            <a:off x="179388" y="293688"/>
            <a:ext cx="8640762" cy="609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假定作业 T 被分成 k 个子任务,可表达为</a:t>
            </a:r>
            <a:endParaRPr lang="zh-CN" altLang="zh-CN" sz="2000">
              <a:latin typeface="黑体" pitchFamily="2" charset="-122"/>
              <a:ea typeface="黑体" pitchFamily="2" charset="-122"/>
            </a:endParaRPr>
          </a:p>
          <a:p>
            <a:pPr eaLnBrk="0" hangingPunct="0">
              <a:lnSpc>
                <a:spcPct val="150000"/>
              </a:lnSpc>
            </a:pPr>
            <a:r>
              <a:rPr lang="en-US" altLang="zh-CN" sz="2000">
                <a:solidFill>
                  <a:srgbClr val="0000FF"/>
                </a:solidFill>
                <a:latin typeface="黑体" pitchFamily="2" charset="-122"/>
                <a:ea typeface="黑体" pitchFamily="2" charset="-122"/>
              </a:rPr>
              <a:t>    </a:t>
            </a:r>
            <a:r>
              <a:rPr lang="zh-CN" altLang="zh-CN" sz="2000">
                <a:solidFill>
                  <a:srgbClr val="0000FF"/>
                </a:solidFill>
                <a:latin typeface="黑体" pitchFamily="2" charset="-122"/>
                <a:ea typeface="黑体" pitchFamily="2" charset="-122"/>
              </a:rPr>
              <a:t>T＝{T</a:t>
            </a:r>
            <a:r>
              <a:rPr lang="zh-CN" altLang="zh-CN" sz="2000" baseline="-30000">
                <a:solidFill>
                  <a:srgbClr val="0000FF"/>
                </a:solidFill>
                <a:latin typeface="黑体" pitchFamily="2" charset="-122"/>
                <a:ea typeface="黑体" pitchFamily="2" charset="-122"/>
              </a:rPr>
              <a:t>1</a:t>
            </a:r>
            <a:r>
              <a:rPr lang="zh-CN" altLang="zh-CN" sz="2000">
                <a:solidFill>
                  <a:srgbClr val="0000FF"/>
                </a:solidFill>
                <a:latin typeface="黑体" pitchFamily="2" charset="-122"/>
                <a:ea typeface="黑体" pitchFamily="2" charset="-122"/>
              </a:rPr>
              <a:t>,T</a:t>
            </a:r>
            <a:r>
              <a:rPr lang="zh-CN" altLang="zh-CN" sz="2000" baseline="-30000">
                <a:solidFill>
                  <a:srgbClr val="0000FF"/>
                </a:solidFill>
                <a:latin typeface="黑体" pitchFamily="2" charset="-122"/>
                <a:ea typeface="黑体" pitchFamily="2" charset="-122"/>
              </a:rPr>
              <a:t>2</a:t>
            </a:r>
            <a:r>
              <a:rPr lang="zh-CN" altLang="zh-CN" sz="2000">
                <a:solidFill>
                  <a:srgbClr val="0000FF"/>
                </a:solidFill>
                <a:latin typeface="黑体" pitchFamily="2" charset="-122"/>
                <a:ea typeface="黑体" pitchFamily="2" charset="-122"/>
              </a:rPr>
              <a:t>,···,T</a:t>
            </a:r>
            <a:r>
              <a:rPr lang="zh-CN" altLang="zh-CN" sz="2000" baseline="-30000">
                <a:solidFill>
                  <a:srgbClr val="0000FF"/>
                </a:solidFill>
                <a:latin typeface="黑体" pitchFamily="2" charset="-122"/>
                <a:ea typeface="黑体" pitchFamily="2" charset="-122"/>
              </a:rPr>
              <a:t>k</a:t>
            </a:r>
            <a:r>
              <a:rPr lang="zh-CN" altLang="zh-CN" sz="2000">
                <a:solidFill>
                  <a:srgbClr val="0000FF"/>
                </a:solidFill>
                <a:latin typeface="黑体" pitchFamily="2" charset="-122"/>
                <a:ea typeface="黑体" pitchFamily="2" charset="-122"/>
              </a:rPr>
              <a:t>}</a:t>
            </a:r>
            <a:endParaRPr lang="zh-CN" altLang="zh-CN" sz="2000">
              <a:latin typeface="黑体" pitchFamily="2" charset="-122"/>
              <a:ea typeface="黑体" pitchFamily="2" charset="-122"/>
            </a:endParaRPr>
          </a:p>
          <a:p>
            <a:pPr eaLnBrk="0" hangingPunct="0">
              <a:lnSpc>
                <a:spcPct val="150000"/>
              </a:lnSpc>
            </a:pPr>
            <a:r>
              <a:rPr lang="zh-CN" altLang="zh-CN" sz="2000">
                <a:solidFill>
                  <a:srgbClr val="000000"/>
                </a:solidFill>
                <a:latin typeface="黑体" pitchFamily="2" charset="-122"/>
                <a:ea typeface="黑体" pitchFamily="2" charset="-122"/>
              </a:rPr>
              <a:t>　　</a:t>
            </a:r>
            <a:endParaRPr lang="en-US" altLang="zh-CN" sz="2000">
              <a:solidFill>
                <a:srgbClr val="000000"/>
              </a:solidFill>
              <a:latin typeface="黑体" pitchFamily="2" charset="-122"/>
              <a:ea typeface="黑体" pitchFamily="2" charset="-122"/>
            </a:endParaRPr>
          </a:p>
          <a:p>
            <a:pPr eaLnBrk="0" hangingPunct="0">
              <a:lnSpc>
                <a:spcPct val="150000"/>
              </a:lnSpc>
            </a:pPr>
            <a:endParaRPr lang="en-US" altLang="zh-CN" sz="2000">
              <a:solidFill>
                <a:srgbClr val="000000"/>
              </a:solidFill>
              <a:latin typeface="黑体" pitchFamily="2" charset="-122"/>
              <a:ea typeface="黑体" pitchFamily="2" charset="-122"/>
            </a:endParaRPr>
          </a:p>
          <a:p>
            <a:pPr eaLnBrk="0" hangingPunct="0">
              <a:lnSpc>
                <a:spcPct val="150000"/>
              </a:lnSpc>
            </a:pPr>
            <a:endParaRPr lang="en-US" altLang="zh-CN" sz="2000">
              <a:solidFill>
                <a:srgbClr val="000000"/>
              </a:solidFill>
              <a:latin typeface="黑体" pitchFamily="2" charset="-122"/>
              <a:ea typeface="黑体" pitchFamily="2" charset="-122"/>
            </a:endParaRPr>
          </a:p>
          <a:p>
            <a:pPr eaLnBrk="0" hangingPunct="0">
              <a:lnSpc>
                <a:spcPct val="150000"/>
              </a:lnSpc>
            </a:pPr>
            <a:endParaRPr lang="en-US" altLang="zh-CN" sz="2000">
              <a:solidFill>
                <a:srgbClr val="000000"/>
              </a:solidFill>
              <a:latin typeface="黑体" pitchFamily="2" charset="-122"/>
              <a:ea typeface="黑体" pitchFamily="2" charset="-122"/>
            </a:endParaRPr>
          </a:p>
          <a:p>
            <a:pPr eaLnBrk="0" hangingPunct="0">
              <a:lnSpc>
                <a:spcPct val="150000"/>
              </a:lnSpc>
            </a:pPr>
            <a:endParaRPr lang="en-US" altLang="zh-CN" sz="2000">
              <a:solidFill>
                <a:srgbClr val="000000"/>
              </a:solidFill>
              <a:latin typeface="黑体" pitchFamily="2" charset="-122"/>
              <a:ea typeface="黑体" pitchFamily="2" charset="-122"/>
            </a:endParaRPr>
          </a:p>
          <a:p>
            <a:pPr eaLnBrk="0" hangingPunct="0">
              <a:lnSpc>
                <a:spcPct val="15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各个子任务之间有一定的优先关系：若i&lt;j,则必须在 T</a:t>
            </a:r>
            <a:r>
              <a:rPr lang="zh-CN" altLang="zh-CN" sz="2000" baseline="-30000">
                <a:solidFill>
                  <a:srgbClr val="000000"/>
                </a:solidFill>
                <a:latin typeface="黑体" pitchFamily="2" charset="-122"/>
                <a:ea typeface="黑体" pitchFamily="2" charset="-122"/>
              </a:rPr>
              <a:t>i</a:t>
            </a:r>
            <a:r>
              <a:rPr lang="zh-CN" altLang="zh-CN" sz="2000">
                <a:solidFill>
                  <a:srgbClr val="000000"/>
                </a:solidFill>
                <a:latin typeface="黑体" pitchFamily="2" charset="-122"/>
                <a:ea typeface="黑体" pitchFamily="2" charset="-122"/>
              </a:rPr>
              <a:t> 完成以后,T</a:t>
            </a:r>
            <a:r>
              <a:rPr lang="zh-CN" altLang="zh-CN" sz="2000" baseline="-30000">
                <a:solidFill>
                  <a:srgbClr val="000000"/>
                </a:solidFill>
                <a:latin typeface="黑体" pitchFamily="2" charset="-122"/>
                <a:ea typeface="黑体" pitchFamily="2" charset="-122"/>
              </a:rPr>
              <a:t>j</a:t>
            </a:r>
            <a:r>
              <a:rPr lang="zh-CN" altLang="zh-CN" sz="2000">
                <a:solidFill>
                  <a:srgbClr val="000000"/>
                </a:solidFill>
                <a:latin typeface="黑体" pitchFamily="2" charset="-122"/>
                <a:ea typeface="黑体" pitchFamily="2" charset="-122"/>
              </a:rPr>
              <a:t>才能开始工作。具有这种线性优先关系的流水线称为</a:t>
            </a:r>
            <a:r>
              <a:rPr lang="zh-CN" altLang="zh-CN" sz="2000">
                <a:solidFill>
                  <a:srgbClr val="FF0000"/>
                </a:solidFill>
                <a:latin typeface="黑体" pitchFamily="2" charset="-122"/>
                <a:ea typeface="黑体" pitchFamily="2" charset="-122"/>
              </a:rPr>
              <a:t>线性流水线</a:t>
            </a:r>
            <a:r>
              <a:rPr lang="zh-CN" altLang="zh-CN" sz="2000">
                <a:solidFill>
                  <a:srgbClr val="000000"/>
                </a:solidFill>
                <a:latin typeface="黑体" pitchFamily="2" charset="-122"/>
                <a:ea typeface="黑体" pitchFamily="2" charset="-122"/>
              </a:rPr>
              <a:t>。</a:t>
            </a:r>
            <a:endParaRPr lang="zh-CN" altLang="zh-CN" sz="2000">
              <a:latin typeface="黑体" pitchFamily="2" charset="-122"/>
              <a:ea typeface="黑体" pitchFamily="2" charset="-122"/>
            </a:endParaRPr>
          </a:p>
          <a:p>
            <a:pPr eaLnBrk="0" hangingPunct="0">
              <a:lnSpc>
                <a:spcPct val="150000"/>
              </a:lnSpc>
            </a:pPr>
            <a:r>
              <a:rPr lang="zh-CN" altLang="zh-CN" sz="2000">
                <a:solidFill>
                  <a:srgbClr val="000000"/>
                </a:solidFill>
                <a:latin typeface="黑体" pitchFamily="2" charset="-122"/>
                <a:ea typeface="黑体" pitchFamily="2" charset="-122"/>
              </a:rPr>
              <a:t>　　处理一个子任务的过程为</a:t>
            </a:r>
            <a:r>
              <a:rPr lang="zh-CN" altLang="zh-CN" sz="2000">
                <a:solidFill>
                  <a:srgbClr val="FF0000"/>
                </a:solidFill>
                <a:latin typeface="黑体" pitchFamily="2" charset="-122"/>
                <a:ea typeface="黑体" pitchFamily="2" charset="-122"/>
              </a:rPr>
              <a:t>过程段</a:t>
            </a:r>
            <a:r>
              <a:rPr lang="zh-CN" altLang="zh-CN" sz="2000">
                <a:solidFill>
                  <a:srgbClr val="000000"/>
                </a:solidFill>
                <a:latin typeface="黑体" pitchFamily="2" charset="-122"/>
                <a:ea typeface="黑体" pitchFamily="2" charset="-122"/>
              </a:rPr>
              <a:t>(S</a:t>
            </a:r>
            <a:r>
              <a:rPr lang="zh-CN" altLang="zh-CN" sz="2000" baseline="-30000">
                <a:solidFill>
                  <a:srgbClr val="000000"/>
                </a:solidFill>
                <a:latin typeface="黑体" pitchFamily="2" charset="-122"/>
                <a:ea typeface="黑体" pitchFamily="2" charset="-122"/>
              </a:rPr>
              <a:t>i</a:t>
            </a:r>
            <a:r>
              <a:rPr lang="zh-CN" altLang="zh-CN" sz="2000">
                <a:solidFill>
                  <a:srgbClr val="000000"/>
                </a:solidFill>
                <a:latin typeface="黑体" pitchFamily="2" charset="-122"/>
                <a:ea typeface="黑体" pitchFamily="2" charset="-122"/>
              </a:rPr>
              <a:t>)。线性流水线由一系列串联的过程段组成,各个过程之间设有高速的缓冲寄存器(L),以暂时保存上一过程子任务处理的结果。在一个统一的时钟(C)控制下,数据从一个过程段流向相邻的过程段。</a:t>
            </a:r>
          </a:p>
        </p:txBody>
      </p:sp>
      <p:sp>
        <p:nvSpPr>
          <p:cNvPr id="141315" name="AutoShape 2" descr="G:\jzdx\%E8%AE%A1%E7%AE%97%E6%9C%BA%E7%BB%84%E6%88%90%E5%8E%9F%E7%90%86\%E6%95%99%E6%A1%88\%E7%AC%AC%E4%BA%8C%E7%AB%A0\htm\Images\cai.jpg">
            <a:hlinkClick r:id="rId2" action="ppaction://hlinkfile"/>
          </p:cNvPr>
          <p:cNvSpPr>
            <a:spLocks noChangeAspect="1" noChangeArrowheads="1"/>
          </p:cNvSpPr>
          <p:nvPr/>
        </p:nvSpPr>
        <p:spPr bwMode="auto">
          <a:xfrm>
            <a:off x="15941675" y="-258763"/>
            <a:ext cx="619125" cy="55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41316" name="Picture 5" descr="2">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341438"/>
            <a:ext cx="554355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188913"/>
            <a:ext cx="56165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39" name="Rectangle 2"/>
          <p:cNvSpPr>
            <a:spLocks noChangeArrowheads="1"/>
          </p:cNvSpPr>
          <p:nvPr/>
        </p:nvSpPr>
        <p:spPr bwMode="auto">
          <a:xfrm>
            <a:off x="223838" y="3357563"/>
            <a:ext cx="856773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000">
                <a:solidFill>
                  <a:srgbClr val="000000"/>
                </a:solidFill>
                <a:latin typeface="黑体" pitchFamily="2" charset="-122"/>
                <a:ea typeface="黑体" pitchFamily="2" charset="-122"/>
              </a:rPr>
              <a:t>　　在流水线处理中,当任务饱满时,任务源源不断的输入流水线,每隔一个时钟周期都能输出一个任务。从理论上说,一个具有k级过程段的流水线处理n个任务需要的时钟周期数为</a:t>
            </a:r>
            <a:r>
              <a:rPr lang="zh-CN" altLang="en-US" sz="2000">
                <a:solidFill>
                  <a:srgbClr val="000000"/>
                </a:solidFill>
                <a:latin typeface="黑体" pitchFamily="2" charset="-122"/>
                <a:ea typeface="黑体" pitchFamily="2" charset="-122"/>
              </a:rPr>
              <a:t>：</a:t>
            </a:r>
            <a:r>
              <a:rPr lang="zh-CN" altLang="zh-CN" sz="2000">
                <a:solidFill>
                  <a:srgbClr val="6600FF"/>
                </a:solidFill>
                <a:latin typeface="黑体" pitchFamily="2" charset="-122"/>
                <a:ea typeface="黑体" pitchFamily="2" charset="-122"/>
              </a:rPr>
              <a:t>T</a:t>
            </a:r>
            <a:r>
              <a:rPr lang="zh-CN" altLang="zh-CN" sz="2000" baseline="-30000">
                <a:solidFill>
                  <a:srgbClr val="6600FF"/>
                </a:solidFill>
                <a:latin typeface="黑体" pitchFamily="2" charset="-122"/>
                <a:ea typeface="黑体" pitchFamily="2" charset="-122"/>
              </a:rPr>
              <a:t>k</a:t>
            </a:r>
            <a:r>
              <a:rPr lang="zh-CN" altLang="zh-CN" sz="2000">
                <a:solidFill>
                  <a:srgbClr val="6600FF"/>
                </a:solidFill>
                <a:latin typeface="黑体" pitchFamily="2" charset="-122"/>
                <a:ea typeface="黑体" pitchFamily="2" charset="-122"/>
              </a:rPr>
              <a:t>＝k＋(n－1)</a:t>
            </a:r>
            <a:r>
              <a:rPr lang="zh-CN" altLang="zh-CN" sz="2000">
                <a:solidFill>
                  <a:srgbClr val="000000"/>
                </a:solidFill>
                <a:latin typeface="黑体" pitchFamily="2" charset="-122"/>
                <a:ea typeface="黑体" pitchFamily="2" charset="-122"/>
              </a:rPr>
              <a:t>　　　　　　　　　</a:t>
            </a:r>
            <a:endParaRPr lang="zh-CN" altLang="zh-CN" sz="2000">
              <a:latin typeface="黑体" pitchFamily="2" charset="-122"/>
              <a:ea typeface="黑体" pitchFamily="2" charset="-122"/>
            </a:endParaRPr>
          </a:p>
          <a:p>
            <a:pPr eaLnBrk="0" hangingPunct="0">
              <a:lnSpc>
                <a:spcPct val="120000"/>
              </a:lnSpc>
            </a:pPr>
            <a:r>
              <a:rPr lang="zh-CN" altLang="zh-CN" sz="2000">
                <a:solidFill>
                  <a:srgbClr val="000000"/>
                </a:solidFill>
                <a:latin typeface="黑体" pitchFamily="2" charset="-122"/>
                <a:ea typeface="黑体" pitchFamily="2" charset="-122"/>
              </a:rPr>
              <a:t>　　用非流水线的硬件来处理这n个任务,所需时钟周期数为</a:t>
            </a:r>
            <a:r>
              <a:rPr lang="zh-CN" altLang="en-US" sz="2000">
                <a:solidFill>
                  <a:srgbClr val="000000"/>
                </a:solidFill>
                <a:latin typeface="黑体" pitchFamily="2" charset="-122"/>
                <a:ea typeface="黑体" pitchFamily="2" charset="-122"/>
              </a:rPr>
              <a:t>：</a:t>
            </a:r>
            <a:r>
              <a:rPr lang="zh-CN" altLang="zh-CN" sz="2000">
                <a:solidFill>
                  <a:srgbClr val="0000FF"/>
                </a:solidFill>
                <a:latin typeface="黑体" pitchFamily="2" charset="-122"/>
                <a:ea typeface="黑体" pitchFamily="2" charset="-122"/>
              </a:rPr>
              <a:t>T</a:t>
            </a:r>
            <a:r>
              <a:rPr lang="zh-CN" altLang="zh-CN" sz="2000" baseline="-30000">
                <a:solidFill>
                  <a:srgbClr val="0000FF"/>
                </a:solidFill>
                <a:latin typeface="黑体" pitchFamily="2" charset="-122"/>
                <a:ea typeface="黑体" pitchFamily="2" charset="-122"/>
              </a:rPr>
              <a:t>L</a:t>
            </a:r>
            <a:r>
              <a:rPr lang="zh-CN" altLang="zh-CN" sz="2000">
                <a:solidFill>
                  <a:srgbClr val="0000FF"/>
                </a:solidFill>
                <a:latin typeface="黑体" pitchFamily="2" charset="-122"/>
                <a:ea typeface="黑体" pitchFamily="2" charset="-122"/>
              </a:rPr>
              <a:t>＝n·k 　　　　　　　　　</a:t>
            </a:r>
            <a:endParaRPr lang="zh-CN" altLang="zh-CN" sz="2000">
              <a:latin typeface="黑体" pitchFamily="2" charset="-122"/>
              <a:ea typeface="黑体" pitchFamily="2" charset="-122"/>
            </a:endParaRPr>
          </a:p>
          <a:p>
            <a:pPr eaLnBrk="0" hangingPunct="0">
              <a:lnSpc>
                <a:spcPct val="120000"/>
              </a:lnSpc>
            </a:pPr>
            <a:r>
              <a:rPr lang="zh-CN" altLang="zh-CN" sz="2000">
                <a:latin typeface="黑体" pitchFamily="2" charset="-122"/>
                <a:ea typeface="黑体" pitchFamily="2" charset="-122"/>
              </a:rPr>
              <a:t> </a:t>
            </a:r>
            <a:r>
              <a:rPr lang="zh-CN" altLang="zh-CN" sz="2000">
                <a:solidFill>
                  <a:srgbClr val="000000"/>
                </a:solidFill>
                <a:latin typeface="黑体" pitchFamily="2" charset="-122"/>
                <a:ea typeface="黑体" pitchFamily="2" charset="-122"/>
              </a:rPr>
              <a:t>　</a:t>
            </a: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k级线性流水线的加速比：</a:t>
            </a:r>
            <a:endParaRPr lang="zh-CN" altLang="zh-CN" sz="2000">
              <a:latin typeface="黑体" pitchFamily="2" charset="-122"/>
              <a:ea typeface="黑体" pitchFamily="2" charset="-122"/>
            </a:endParaRPr>
          </a:p>
          <a:p>
            <a:pPr eaLnBrk="0" hangingPunct="0">
              <a:lnSpc>
                <a:spcPct val="120000"/>
              </a:lnSpc>
            </a:pPr>
            <a:r>
              <a:rPr lang="zh-CN" altLang="zh-CN" sz="2000">
                <a:solidFill>
                  <a:srgbClr val="000000"/>
                </a:solidFill>
                <a:latin typeface="黑体" pitchFamily="2" charset="-122"/>
                <a:ea typeface="黑体" pitchFamily="2" charset="-122"/>
              </a:rPr>
              <a:t> </a:t>
            </a:r>
            <a:endParaRPr lang="zh-CN" altLang="zh-CN" sz="2000">
              <a:latin typeface="黑体" pitchFamily="2" charset="-122"/>
              <a:ea typeface="黑体" pitchFamily="2" charset="-122"/>
            </a:endParaRPr>
          </a:p>
          <a:p>
            <a:pPr eaLnBrk="0" hangingPunct="0">
              <a:lnSpc>
                <a:spcPct val="120000"/>
              </a:lnSpc>
            </a:pPr>
            <a:r>
              <a:rPr lang="zh-CN" altLang="zh-CN" sz="2000">
                <a:solidFill>
                  <a:srgbClr val="000000"/>
                </a:solidFill>
                <a:latin typeface="黑体" pitchFamily="2" charset="-122"/>
                <a:ea typeface="黑体" pitchFamily="2" charset="-122"/>
              </a:rPr>
              <a:t>　　当 n&gt;&gt;k 时, C</a:t>
            </a:r>
            <a:r>
              <a:rPr lang="zh-CN" altLang="zh-CN" sz="2000" baseline="-30000">
                <a:solidFill>
                  <a:srgbClr val="000000"/>
                </a:solidFill>
                <a:latin typeface="黑体" pitchFamily="2" charset="-122"/>
                <a:ea typeface="黑体" pitchFamily="2" charset="-122"/>
              </a:rPr>
              <a:t>k</a:t>
            </a:r>
            <a:r>
              <a:rPr lang="zh-CN" altLang="zh-CN" sz="2000">
                <a:solidFill>
                  <a:srgbClr val="000000"/>
                </a:solidFill>
                <a:latin typeface="黑体" pitchFamily="2" charset="-122"/>
                <a:ea typeface="黑体" pitchFamily="2" charset="-122"/>
              </a:rPr>
              <a:t>－&gt;k 。这就是说,理论上k级线性流水线处理几乎可以提高k倍速度。但实际上由于存储器冲突、数据相关,这个理想的加速比不一定能达到。</a:t>
            </a:r>
            <a:endParaRPr lang="zh-CN" altLang="zh-CN" sz="2000">
              <a:latin typeface="黑体" pitchFamily="2" charset="-122"/>
              <a:ea typeface="黑体" pitchFamily="2" charset="-122"/>
            </a:endParaRPr>
          </a:p>
        </p:txBody>
      </p:sp>
      <p:sp>
        <p:nvSpPr>
          <p:cNvPr id="142340" name="Rectangle 2"/>
          <p:cNvSpPr>
            <a:spLocks noChangeArrowheads="1"/>
          </p:cNvSpPr>
          <p:nvPr/>
        </p:nvSpPr>
        <p:spPr bwMode="auto">
          <a:xfrm>
            <a:off x="179388" y="404813"/>
            <a:ext cx="3313112"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过程段 S</a:t>
            </a:r>
            <a:r>
              <a:rPr lang="zh-CN" altLang="zh-CN" sz="2000" baseline="-30000">
                <a:solidFill>
                  <a:srgbClr val="000000"/>
                </a:solidFill>
                <a:latin typeface="黑体" pitchFamily="2" charset="-122"/>
                <a:ea typeface="黑体" pitchFamily="2" charset="-122"/>
              </a:rPr>
              <a:t>i</a:t>
            </a:r>
            <a:r>
              <a:rPr lang="zh-CN" altLang="zh-CN" sz="2000">
                <a:solidFill>
                  <a:srgbClr val="000000"/>
                </a:solidFill>
                <a:latin typeface="黑体" pitchFamily="2" charset="-122"/>
                <a:ea typeface="黑体" pitchFamily="2" charset="-122"/>
              </a:rPr>
              <a:t>所需的时间为τ</a:t>
            </a:r>
            <a:r>
              <a:rPr lang="zh-CN" altLang="zh-CN" sz="2000" baseline="-30000">
                <a:solidFill>
                  <a:srgbClr val="000000"/>
                </a:solidFill>
                <a:latin typeface="黑体" pitchFamily="2" charset="-122"/>
                <a:ea typeface="黑体" pitchFamily="2" charset="-122"/>
              </a:rPr>
              <a:t>i</a:t>
            </a:r>
            <a:endParaRPr lang="en-US" altLang="zh-CN" sz="2000" baseline="-30000">
              <a:solidFill>
                <a:srgbClr val="000000"/>
              </a:solidFill>
              <a:latin typeface="黑体" pitchFamily="2" charset="-122"/>
              <a:ea typeface="黑体" pitchFamily="2" charset="-122"/>
            </a:endParaRPr>
          </a:p>
          <a:p>
            <a:pPr eaLnBrk="0" hangingPunct="0">
              <a:lnSpc>
                <a:spcPct val="13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缓冲寄存器的延时为τ</a:t>
            </a:r>
            <a:r>
              <a:rPr lang="zh-CN" altLang="zh-CN" sz="2000" baseline="-30000">
                <a:solidFill>
                  <a:srgbClr val="000000"/>
                </a:solidFill>
                <a:latin typeface="黑体" pitchFamily="2" charset="-122"/>
                <a:ea typeface="黑体" pitchFamily="2" charset="-122"/>
              </a:rPr>
              <a:t>l</a:t>
            </a:r>
            <a:endParaRPr lang="en-US" altLang="zh-CN" sz="2000" baseline="-30000">
              <a:solidFill>
                <a:srgbClr val="000000"/>
              </a:solidFill>
              <a:latin typeface="黑体" pitchFamily="2" charset="-122"/>
              <a:ea typeface="黑体" pitchFamily="2" charset="-122"/>
            </a:endParaRPr>
          </a:p>
          <a:p>
            <a:pPr eaLnBrk="0" hangingPunct="0">
              <a:lnSpc>
                <a:spcPct val="13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线性流水线的时钟周期为</a:t>
            </a:r>
            <a:endParaRPr lang="zh-CN" altLang="zh-CN" sz="2000">
              <a:latin typeface="黑体" pitchFamily="2" charset="-122"/>
              <a:ea typeface="黑体" pitchFamily="2" charset="-122"/>
            </a:endParaRPr>
          </a:p>
          <a:p>
            <a:pPr eaLnBrk="0" hangingPunct="0">
              <a:lnSpc>
                <a:spcPct val="130000"/>
              </a:lnSpc>
            </a:pPr>
            <a:r>
              <a:rPr lang="en-US" altLang="zh-CN" sz="2000">
                <a:solidFill>
                  <a:srgbClr val="6600FF"/>
                </a:solidFill>
                <a:latin typeface="黑体" pitchFamily="2" charset="-122"/>
                <a:ea typeface="黑体" pitchFamily="2" charset="-122"/>
              </a:rPr>
              <a:t> </a:t>
            </a:r>
            <a:r>
              <a:rPr lang="zh-CN" altLang="zh-CN" sz="2000">
                <a:solidFill>
                  <a:srgbClr val="6600FF"/>
                </a:solidFill>
                <a:latin typeface="黑体" pitchFamily="2" charset="-122"/>
                <a:ea typeface="黑体" pitchFamily="2" charset="-122"/>
              </a:rPr>
              <a:t>τ＝max{τ</a:t>
            </a:r>
            <a:r>
              <a:rPr lang="zh-CN" altLang="zh-CN" sz="2000" baseline="-30000">
                <a:solidFill>
                  <a:srgbClr val="6600FF"/>
                </a:solidFill>
                <a:latin typeface="黑体" pitchFamily="2" charset="-122"/>
                <a:ea typeface="黑体" pitchFamily="2" charset="-122"/>
              </a:rPr>
              <a:t>i</a:t>
            </a:r>
            <a:r>
              <a:rPr lang="zh-CN" altLang="zh-CN" sz="2000">
                <a:solidFill>
                  <a:srgbClr val="6600FF"/>
                </a:solidFill>
                <a:latin typeface="黑体" pitchFamily="2" charset="-122"/>
                <a:ea typeface="黑体" pitchFamily="2" charset="-122"/>
              </a:rPr>
              <a:t>}＋τ</a:t>
            </a:r>
            <a:r>
              <a:rPr lang="zh-CN" altLang="zh-CN" sz="2000" baseline="-30000">
                <a:solidFill>
                  <a:srgbClr val="6600FF"/>
                </a:solidFill>
                <a:latin typeface="黑体" pitchFamily="2" charset="-122"/>
                <a:ea typeface="黑体" pitchFamily="2" charset="-122"/>
              </a:rPr>
              <a:t>l</a:t>
            </a:r>
            <a:endParaRPr lang="en-US" altLang="zh-CN" sz="2000" baseline="-30000">
              <a:solidFill>
                <a:srgbClr val="6600FF"/>
              </a:solidFill>
              <a:latin typeface="黑体" pitchFamily="2" charset="-122"/>
              <a:ea typeface="黑体" pitchFamily="2" charset="-122"/>
            </a:endParaRPr>
          </a:p>
          <a:p>
            <a:pPr eaLnBrk="0" hangingPunct="0">
              <a:lnSpc>
                <a:spcPct val="130000"/>
              </a:lnSpc>
            </a:pPr>
            <a:r>
              <a:rPr lang="en-US" altLang="zh-CN" sz="2000" baseline="-30000">
                <a:solidFill>
                  <a:srgbClr val="6600FF"/>
                </a:solidFill>
                <a:latin typeface="黑体" pitchFamily="2" charset="-122"/>
                <a:ea typeface="黑体" pitchFamily="2" charset="-122"/>
              </a:rPr>
              <a:t>    </a:t>
            </a:r>
            <a:r>
              <a:rPr lang="zh-CN" altLang="zh-CN" sz="2000">
                <a:solidFill>
                  <a:srgbClr val="6600FF"/>
                </a:solidFill>
                <a:latin typeface="黑体" pitchFamily="2" charset="-122"/>
                <a:ea typeface="黑体" pitchFamily="2" charset="-122"/>
              </a:rPr>
              <a:t>＝τ</a:t>
            </a:r>
            <a:r>
              <a:rPr lang="zh-CN" altLang="zh-CN" sz="2000" baseline="-30000">
                <a:solidFill>
                  <a:srgbClr val="6600FF"/>
                </a:solidFill>
                <a:latin typeface="黑体" pitchFamily="2" charset="-122"/>
                <a:ea typeface="黑体" pitchFamily="2" charset="-122"/>
              </a:rPr>
              <a:t>m</a:t>
            </a:r>
            <a:r>
              <a:rPr lang="zh-CN" altLang="zh-CN" sz="2000">
                <a:solidFill>
                  <a:srgbClr val="6600FF"/>
                </a:solidFill>
                <a:latin typeface="黑体" pitchFamily="2" charset="-122"/>
                <a:ea typeface="黑体" pitchFamily="2" charset="-122"/>
              </a:rPr>
              <a:t>＋τ</a:t>
            </a:r>
            <a:r>
              <a:rPr lang="zh-CN" altLang="zh-CN" sz="2000" baseline="-30000">
                <a:solidFill>
                  <a:srgbClr val="6600FF"/>
                </a:solidFill>
                <a:latin typeface="黑体" pitchFamily="2" charset="-122"/>
                <a:ea typeface="黑体" pitchFamily="2" charset="-122"/>
              </a:rPr>
              <a:t>l</a:t>
            </a:r>
            <a:r>
              <a:rPr lang="zh-CN" altLang="zh-CN" sz="2000">
                <a:solidFill>
                  <a:srgbClr val="000000"/>
                </a:solidFill>
                <a:latin typeface="黑体" pitchFamily="2" charset="-122"/>
                <a:ea typeface="黑体" pitchFamily="2" charset="-122"/>
              </a:rPr>
              <a:t>　　</a:t>
            </a:r>
            <a:endParaRPr lang="zh-CN" altLang="zh-CN" sz="2000">
              <a:latin typeface="黑体" pitchFamily="2" charset="-122"/>
              <a:ea typeface="黑体" pitchFamily="2" charset="-122"/>
            </a:endParaRPr>
          </a:p>
          <a:p>
            <a:pPr eaLnBrk="0" hangingPunct="0">
              <a:lnSpc>
                <a:spcPct val="13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流水线处理的频率为</a:t>
            </a:r>
            <a:endParaRPr lang="en-US" altLang="zh-CN" sz="2000">
              <a:solidFill>
                <a:srgbClr val="000000"/>
              </a:solidFill>
              <a:latin typeface="黑体" pitchFamily="2" charset="-122"/>
              <a:ea typeface="黑体" pitchFamily="2" charset="-122"/>
            </a:endParaRPr>
          </a:p>
          <a:p>
            <a:pPr eaLnBrk="0" hangingPunct="0">
              <a:lnSpc>
                <a:spcPct val="130000"/>
              </a:lnSpc>
            </a:pPr>
            <a:r>
              <a:rPr lang="en-US" altLang="zh-CN" sz="2000">
                <a:solidFill>
                  <a:srgbClr val="000000"/>
                </a:solidFill>
                <a:latin typeface="黑体" pitchFamily="2" charset="-122"/>
                <a:ea typeface="黑体" pitchFamily="2" charset="-122"/>
              </a:rPr>
              <a:t>  </a:t>
            </a:r>
            <a:r>
              <a:rPr lang="zh-CN" altLang="zh-CN" sz="2000">
                <a:solidFill>
                  <a:srgbClr val="000000"/>
                </a:solidFill>
                <a:latin typeface="黑体" pitchFamily="2" charset="-122"/>
                <a:ea typeface="黑体" pitchFamily="2" charset="-122"/>
              </a:rPr>
              <a:t> f＝1/τ　　</a:t>
            </a:r>
            <a:endParaRPr lang="zh-CN" altLang="zh-CN" sz="2000">
              <a:latin typeface="黑体" pitchFamily="2" charset="-122"/>
              <a:ea typeface="黑体" pitchFamily="2" charset="-122"/>
            </a:endParaRPr>
          </a:p>
        </p:txBody>
      </p:sp>
      <p:graphicFrame>
        <p:nvGraphicFramePr>
          <p:cNvPr id="4" name="表格 3"/>
          <p:cNvGraphicFramePr>
            <a:graphicFrameLocks noGrp="1"/>
          </p:cNvGraphicFramePr>
          <p:nvPr/>
        </p:nvGraphicFramePr>
        <p:xfrm>
          <a:off x="3708400" y="4949825"/>
          <a:ext cx="4629150" cy="639806"/>
        </p:xfrm>
        <a:graphic>
          <a:graphicData uri="http://schemas.openxmlformats.org/drawingml/2006/table">
            <a:tbl>
              <a:tblPr/>
              <a:tblGrid>
                <a:gridCol w="876300"/>
                <a:gridCol w="457200"/>
                <a:gridCol w="457200"/>
                <a:gridCol w="2838450"/>
              </a:tblGrid>
              <a:tr h="639763">
                <a:tc>
                  <a:txBody>
                    <a:bodyPr/>
                    <a:lstStyle/>
                    <a:p>
                      <a:pPr algn="r"/>
                      <a:r>
                        <a:rPr lang="en-US" sz="1800" dirty="0" err="1">
                          <a:latin typeface="黑体"/>
                        </a:rPr>
                        <a:t>C</a:t>
                      </a:r>
                      <a:r>
                        <a:rPr lang="en-US" sz="1800" baseline="-25000" dirty="0" err="1">
                          <a:latin typeface="黑体"/>
                        </a:rPr>
                        <a:t>k</a:t>
                      </a:r>
                      <a:r>
                        <a:rPr lang="en-US" sz="1800" dirty="0">
                          <a:latin typeface="黑体"/>
                        </a:rPr>
                        <a:t>＝</a:t>
                      </a:r>
                      <a:endParaRPr lang="en-US" sz="1800" dirty="0"/>
                    </a:p>
                  </a:txBody>
                  <a:tcPr marL="91428" marR="91428" marT="45583" marB="45583" anchor="ctr">
                    <a:lnL>
                      <a:noFill/>
                    </a:lnL>
                    <a:lnR>
                      <a:noFill/>
                    </a:lnR>
                    <a:lnT>
                      <a:noFill/>
                    </a:lnT>
                    <a:lnB>
                      <a:noFill/>
                    </a:lnB>
                    <a:solidFill>
                      <a:srgbClr val="FFFFCC"/>
                    </a:solidFill>
                  </a:tcPr>
                </a:tc>
                <a:tc>
                  <a:txBody>
                    <a:bodyPr/>
                    <a:lstStyle/>
                    <a:p>
                      <a:r>
                        <a:rPr lang="en-US" sz="1800" u="sng">
                          <a:latin typeface="黑体"/>
                        </a:rPr>
                        <a:t>TL</a:t>
                      </a:r>
                      <a:br>
                        <a:rPr lang="en-US" sz="1800" u="sng">
                          <a:latin typeface="黑体"/>
                        </a:rPr>
                      </a:br>
                      <a:r>
                        <a:rPr lang="en-US" sz="1800">
                          <a:latin typeface="黑体"/>
                        </a:rPr>
                        <a:t>Tk</a:t>
                      </a:r>
                      <a:endParaRPr lang="en-US" sz="1800"/>
                    </a:p>
                  </a:txBody>
                  <a:tcPr marL="91428" marR="91428" marT="45583" marB="45583" anchor="ctr">
                    <a:lnL>
                      <a:noFill/>
                    </a:lnL>
                    <a:lnR>
                      <a:noFill/>
                    </a:lnR>
                    <a:lnT>
                      <a:noFill/>
                    </a:lnT>
                    <a:lnB>
                      <a:noFill/>
                    </a:lnB>
                    <a:solidFill>
                      <a:srgbClr val="FFFFCC"/>
                    </a:solidFill>
                  </a:tcPr>
                </a:tc>
                <a:tc>
                  <a:txBody>
                    <a:bodyPr/>
                    <a:lstStyle/>
                    <a:p>
                      <a:r>
                        <a:rPr lang="zh-CN" altLang="en-US" sz="1800" dirty="0">
                          <a:latin typeface="黑体"/>
                        </a:rPr>
                        <a:t>＝</a:t>
                      </a:r>
                      <a:endParaRPr lang="zh-CN" altLang="en-US" sz="1800" dirty="0"/>
                    </a:p>
                  </a:txBody>
                  <a:tcPr marL="91428" marR="91428" marT="45583" marB="45583" anchor="ctr">
                    <a:lnL>
                      <a:noFill/>
                    </a:lnL>
                    <a:lnR>
                      <a:noFill/>
                    </a:lnR>
                    <a:lnT>
                      <a:noFill/>
                    </a:lnT>
                    <a:lnB>
                      <a:noFill/>
                    </a:lnB>
                    <a:solidFill>
                      <a:srgbClr val="FFFFCC"/>
                    </a:solidFill>
                  </a:tcPr>
                </a:tc>
                <a:tc>
                  <a:txBody>
                    <a:bodyPr/>
                    <a:lstStyle/>
                    <a:p>
                      <a:r>
                        <a:rPr lang="en-US" sz="1800" u="sng" dirty="0">
                          <a:latin typeface="黑体"/>
                        </a:rPr>
                        <a:t>　</a:t>
                      </a:r>
                      <a:r>
                        <a:rPr lang="en-US" sz="1800" u="sng" dirty="0" err="1">
                          <a:latin typeface="黑体"/>
                        </a:rPr>
                        <a:t>n·k</a:t>
                      </a:r>
                      <a:r>
                        <a:rPr lang="en-US" sz="1800" u="sng" dirty="0">
                          <a:latin typeface="黑体"/>
                        </a:rPr>
                        <a:t>　</a:t>
                      </a:r>
                      <a:br>
                        <a:rPr lang="en-US" sz="1800" u="sng" dirty="0">
                          <a:latin typeface="黑体"/>
                        </a:rPr>
                      </a:br>
                      <a:r>
                        <a:rPr lang="en-US" sz="1800" dirty="0">
                          <a:latin typeface="黑体"/>
                        </a:rPr>
                        <a:t>k＋(n－1)</a:t>
                      </a:r>
                      <a:endParaRPr lang="en-US" sz="1800" dirty="0"/>
                    </a:p>
                  </a:txBody>
                  <a:tcPr marL="91428" marR="91428" marT="45583" marB="45583" anchor="ctr">
                    <a:lnL>
                      <a:noFill/>
                    </a:lnL>
                    <a:lnR>
                      <a:noFill/>
                    </a:lnR>
                    <a:lnT>
                      <a:noFill/>
                    </a:lnT>
                    <a:lnB>
                      <a:noFill/>
                    </a:lnB>
                    <a:solidFill>
                      <a:srgbClr val="FFFFCC"/>
                    </a:solidFill>
                  </a:tcPr>
                </a:tc>
              </a:tr>
            </a:tbl>
          </a:graphicData>
        </a:graphic>
      </p:graphicFrame>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p:cNvSpPr>
            <a:spLocks noGrp="1" noChangeArrowheads="1"/>
          </p:cNvSpPr>
          <p:nvPr>
            <p:ph type="body" idx="1"/>
          </p:nvPr>
        </p:nvSpPr>
        <p:spPr>
          <a:xfrm>
            <a:off x="468313" y="2565400"/>
            <a:ext cx="8229600" cy="4013200"/>
          </a:xfrm>
        </p:spPr>
        <p:txBody>
          <a:bodyPr/>
          <a:lstStyle/>
          <a:p>
            <a:pPr marL="0" lvl="1" indent="0">
              <a:lnSpc>
                <a:spcPct val="130000"/>
              </a:lnSpc>
              <a:spcBef>
                <a:spcPct val="0"/>
              </a:spcBef>
              <a:buFont typeface="Wingdings" pitchFamily="2" charset="2"/>
              <a:buNone/>
            </a:pPr>
            <a:r>
              <a:rPr lang="zh-CN" altLang="en-US" sz="2000" smtClean="0">
                <a:latin typeface="黑体" pitchFamily="2" charset="-122"/>
                <a:ea typeface="黑体" pitchFamily="2" charset="-122"/>
              </a:rPr>
              <a:t>    在流水线中必须是连续的任务，只有不断的提供任务才能充分发挥流水线的效率。</a:t>
            </a:r>
          </a:p>
          <a:p>
            <a:pPr marL="0" lvl="1" indent="0">
              <a:lnSpc>
                <a:spcPct val="130000"/>
              </a:lnSpc>
              <a:spcBef>
                <a:spcPct val="0"/>
              </a:spcBef>
              <a:buFont typeface="Wingdings" pitchFamily="2" charset="2"/>
              <a:buNone/>
            </a:pPr>
            <a:r>
              <a:rPr lang="zh-CN" altLang="en-US" sz="2000" smtClean="0">
                <a:latin typeface="黑体" pitchFamily="2" charset="-122"/>
                <a:ea typeface="黑体" pitchFamily="2" charset="-122"/>
              </a:rPr>
              <a:t>    把一个任务分解为几个有联系的子任务。每个子任务由一个专门的功能部件实现。</a:t>
            </a:r>
          </a:p>
          <a:p>
            <a:pPr marL="0" lvl="1" indent="0">
              <a:lnSpc>
                <a:spcPct val="130000"/>
              </a:lnSpc>
              <a:spcBef>
                <a:spcPct val="0"/>
              </a:spcBef>
              <a:buFont typeface="Wingdings" pitchFamily="2" charset="2"/>
              <a:buNone/>
            </a:pPr>
            <a:r>
              <a:rPr lang="zh-CN" altLang="en-US" sz="2000" smtClean="0">
                <a:latin typeface="黑体" pitchFamily="2" charset="-122"/>
                <a:ea typeface="黑体" pitchFamily="2" charset="-122"/>
              </a:rPr>
              <a:t>    在流水线中的每个功能部件之后都要有一个缓冲寄存器，或称为锁存器。</a:t>
            </a:r>
          </a:p>
          <a:p>
            <a:pPr marL="0" lvl="1" indent="0">
              <a:lnSpc>
                <a:spcPct val="130000"/>
              </a:lnSpc>
              <a:spcBef>
                <a:spcPct val="0"/>
              </a:spcBef>
              <a:buFont typeface="Wingdings" pitchFamily="2" charset="2"/>
              <a:buNone/>
            </a:pPr>
            <a:r>
              <a:rPr lang="zh-CN" altLang="en-US" sz="2000" smtClean="0">
                <a:latin typeface="黑体" pitchFamily="2" charset="-122"/>
                <a:ea typeface="黑体" pitchFamily="2" charset="-122"/>
              </a:rPr>
              <a:t>    流水线中各段的时间应该尽量相等，否则将会引起“堵塞”和“断流”的现象。</a:t>
            </a:r>
          </a:p>
          <a:p>
            <a:pPr marL="0" lvl="1" indent="0">
              <a:lnSpc>
                <a:spcPct val="130000"/>
              </a:lnSpc>
              <a:spcBef>
                <a:spcPct val="0"/>
              </a:spcBef>
              <a:buFont typeface="Wingdings" pitchFamily="2" charset="2"/>
              <a:buNone/>
            </a:pPr>
            <a:r>
              <a:rPr lang="zh-CN" altLang="en-US" sz="2000" smtClean="0">
                <a:latin typeface="黑体" pitchFamily="2" charset="-122"/>
                <a:ea typeface="黑体" pitchFamily="2" charset="-122"/>
              </a:rPr>
              <a:t>    流水线需要有装入时间和排空时间，只有当流水线完全充满时，才能充分发挥效率。</a:t>
            </a:r>
            <a:endParaRPr lang="en-US" altLang="zh-CN" smtClean="0"/>
          </a:p>
        </p:txBody>
      </p:sp>
      <p:pic>
        <p:nvPicPr>
          <p:cNvPr id="143363" name="Picture 5" descr="2">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60350"/>
            <a:ext cx="5256212"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矩形 3"/>
          <p:cNvSpPr>
            <a:spLocks noChangeArrowheads="1"/>
          </p:cNvSpPr>
          <p:nvPr/>
        </p:nvSpPr>
        <p:spPr bwMode="auto">
          <a:xfrm>
            <a:off x="250825" y="115888"/>
            <a:ext cx="8713788" cy="61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a:latin typeface="黑体" pitchFamily="2" charset="-122"/>
                <a:ea typeface="黑体" pitchFamily="2" charset="-122"/>
              </a:rPr>
              <a:t>    </a:t>
            </a:r>
            <a:r>
              <a:rPr lang="en-US" altLang="zh-CN" sz="2000">
                <a:latin typeface="黑体" pitchFamily="2" charset="-122"/>
                <a:ea typeface="黑体" pitchFamily="2" charset="-122"/>
              </a:rPr>
              <a:t>2.</a:t>
            </a:r>
            <a:r>
              <a:rPr lang="zh-CN" altLang="en-US" sz="2000">
                <a:latin typeface="黑体" pitchFamily="2" charset="-122"/>
                <a:ea typeface="黑体" pitchFamily="2" charset="-122"/>
              </a:rPr>
              <a:t>流水线浮点加法器</a:t>
            </a:r>
          </a:p>
          <a:p>
            <a:pPr>
              <a:lnSpc>
                <a:spcPct val="150000"/>
              </a:lnSpc>
            </a:pPr>
            <a:r>
              <a:rPr lang="zh-CN" altLang="en-US" sz="2000">
                <a:latin typeface="黑体" pitchFamily="2" charset="-122"/>
                <a:ea typeface="黑体" pitchFamily="2" charset="-122"/>
              </a:rPr>
              <a:t>　　浮点数加减法由</a:t>
            </a:r>
            <a:r>
              <a:rPr lang="en-US" altLang="zh-CN" sz="2000">
                <a:latin typeface="黑体" pitchFamily="2" charset="-122"/>
                <a:ea typeface="黑体" pitchFamily="2" charset="-122"/>
              </a:rPr>
              <a:t>0</a:t>
            </a:r>
            <a:r>
              <a:rPr lang="zh-CN" altLang="en-US" sz="2000">
                <a:latin typeface="黑体" pitchFamily="2" charset="-122"/>
                <a:ea typeface="黑体" pitchFamily="2" charset="-122"/>
              </a:rPr>
              <a:t>操作数检查、对阶操作、尾数操作、结果规格</a:t>
            </a:r>
            <a:endParaRPr lang="en-US" altLang="zh-CN"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化及舍入处理共</a:t>
            </a:r>
            <a:r>
              <a:rPr lang="en-US" altLang="zh-CN" sz="2000">
                <a:latin typeface="黑体" pitchFamily="2" charset="-122"/>
                <a:ea typeface="黑体" pitchFamily="2" charset="-122"/>
              </a:rPr>
              <a:t>4</a:t>
            </a:r>
            <a:r>
              <a:rPr lang="zh-CN" altLang="en-US" sz="2000">
                <a:latin typeface="黑体" pitchFamily="2" charset="-122"/>
                <a:ea typeface="黑体" pitchFamily="2" charset="-122"/>
              </a:rPr>
              <a:t>步完成，因此流水线浮点加法器可由</a:t>
            </a:r>
            <a:r>
              <a:rPr lang="en-US" altLang="zh-CN" sz="2000">
                <a:latin typeface="黑体" pitchFamily="2" charset="-122"/>
                <a:ea typeface="黑体" pitchFamily="2" charset="-122"/>
              </a:rPr>
              <a:t>4</a:t>
            </a:r>
            <a:r>
              <a:rPr lang="zh-CN" altLang="en-US" sz="2000">
                <a:latin typeface="黑体" pitchFamily="2" charset="-122"/>
                <a:ea typeface="黑体" pitchFamily="2" charset="-122"/>
              </a:rPr>
              <a:t>个过程段组成。</a:t>
            </a:r>
          </a:p>
          <a:p>
            <a:pPr>
              <a:lnSpc>
                <a:spcPct val="150000"/>
              </a:lnSpc>
            </a:pPr>
            <a:r>
              <a:rPr lang="zh-CN" altLang="en-US" sz="2000">
                <a:latin typeface="黑体" pitchFamily="2" charset="-122"/>
                <a:ea typeface="黑体" pitchFamily="2" charset="-122"/>
              </a:rPr>
              <a:t>　　两个规格化的浮点数</a:t>
            </a:r>
            <a:r>
              <a:rPr lang="en-US" altLang="zh-CN" sz="2000">
                <a:latin typeface="黑体" pitchFamily="2" charset="-122"/>
                <a:ea typeface="黑体" pitchFamily="2" charset="-122"/>
              </a:rPr>
              <a:t>X=1.1000×2</a:t>
            </a:r>
            <a:r>
              <a:rPr lang="en-US" altLang="zh-CN" sz="2000" baseline="30000">
                <a:latin typeface="黑体" pitchFamily="2" charset="-122"/>
                <a:ea typeface="黑体" pitchFamily="2" charset="-122"/>
              </a:rPr>
              <a:t>2</a:t>
            </a:r>
            <a:r>
              <a:rPr lang="zh-CN" altLang="en-US" sz="2000">
                <a:latin typeface="黑体" pitchFamily="2" charset="-122"/>
                <a:ea typeface="黑体" pitchFamily="2" charset="-122"/>
              </a:rPr>
              <a:t>、</a:t>
            </a:r>
            <a:r>
              <a:rPr lang="en-US" altLang="zh-CN" sz="2000">
                <a:latin typeface="黑体" pitchFamily="2" charset="-122"/>
                <a:ea typeface="黑体" pitchFamily="2" charset="-122"/>
              </a:rPr>
              <a:t>Y=1.1100×2</a:t>
            </a:r>
            <a:r>
              <a:rPr lang="en-US" altLang="zh-CN" sz="2000" baseline="30000">
                <a:latin typeface="黑体" pitchFamily="2" charset="-122"/>
                <a:ea typeface="黑体" pitchFamily="2" charset="-122"/>
              </a:rPr>
              <a:t>4 </a:t>
            </a:r>
            <a:r>
              <a:rPr lang="zh-CN" altLang="en-US" sz="2000">
                <a:latin typeface="黑体" pitchFamily="2" charset="-122"/>
                <a:ea typeface="黑体" pitchFamily="2" charset="-122"/>
              </a:rPr>
              <a:t>加法操作。</a:t>
            </a:r>
            <a:endParaRPr lang="en-US" altLang="zh-CN" sz="2000">
              <a:latin typeface="黑体" pitchFamily="2" charset="-122"/>
              <a:ea typeface="黑体" pitchFamily="2" charset="-122"/>
            </a:endParaRPr>
          </a:p>
          <a:p>
            <a:pPr>
              <a:lnSpc>
                <a:spcPct val="150000"/>
              </a:lnSpc>
            </a:pPr>
            <a:r>
              <a:rPr lang="en-US" altLang="zh-CN" sz="2000">
                <a:latin typeface="黑体" pitchFamily="2" charset="-122"/>
                <a:ea typeface="黑体" pitchFamily="2" charset="-122"/>
              </a:rPr>
              <a:t>① </a:t>
            </a:r>
            <a:r>
              <a:rPr lang="zh-CN" altLang="en-US" sz="2000">
                <a:latin typeface="黑体" pitchFamily="2" charset="-122"/>
                <a:ea typeface="黑体" pitchFamily="2" charset="-122"/>
              </a:rPr>
              <a:t>对阶：</a:t>
            </a:r>
            <a:r>
              <a:rPr lang="en-US" altLang="zh-CN" sz="2000">
                <a:latin typeface="黑体" pitchFamily="2" charset="-122"/>
                <a:ea typeface="黑体" pitchFamily="2" charset="-122"/>
              </a:rPr>
              <a:t>X</a:t>
            </a:r>
            <a:r>
              <a:rPr lang="zh-CN" altLang="en-US" sz="2000">
                <a:latin typeface="黑体" pitchFamily="2" charset="-122"/>
                <a:ea typeface="黑体" pitchFamily="2" charset="-122"/>
              </a:rPr>
              <a:t>具有较小的阶码，应使它向</a:t>
            </a:r>
            <a:r>
              <a:rPr lang="en-US" altLang="zh-CN" sz="2000">
                <a:latin typeface="黑体" pitchFamily="2" charset="-122"/>
                <a:ea typeface="黑体" pitchFamily="2" charset="-122"/>
              </a:rPr>
              <a:t>Y</a:t>
            </a:r>
            <a:r>
              <a:rPr lang="zh-CN" altLang="en-US" sz="2000">
                <a:latin typeface="黑体" pitchFamily="2" charset="-122"/>
                <a:ea typeface="黑体" pitchFamily="2" charset="-122"/>
              </a:rPr>
              <a:t>对阶，从而得到</a:t>
            </a:r>
            <a:r>
              <a:rPr lang="en-US" altLang="zh-CN" sz="2000">
                <a:latin typeface="黑体" pitchFamily="2" charset="-122"/>
                <a:ea typeface="黑体" pitchFamily="2" charset="-122"/>
              </a:rPr>
              <a:t>X=0.0110×2</a:t>
            </a:r>
            <a:r>
              <a:rPr lang="en-US" altLang="zh-CN" sz="2000" baseline="30000">
                <a:latin typeface="黑体" pitchFamily="2" charset="-122"/>
                <a:ea typeface="黑体" pitchFamily="2" charset="-122"/>
              </a:rPr>
              <a:t>4</a:t>
            </a:r>
          </a:p>
          <a:p>
            <a:pPr>
              <a:lnSpc>
                <a:spcPct val="150000"/>
              </a:lnSpc>
            </a:pPr>
            <a:r>
              <a:rPr lang="en-US" altLang="zh-CN" sz="2000">
                <a:latin typeface="黑体" pitchFamily="2" charset="-122"/>
                <a:ea typeface="黑体" pitchFamily="2" charset="-122"/>
              </a:rPr>
              <a:t>② </a:t>
            </a:r>
            <a:r>
              <a:rPr lang="zh-CN" altLang="en-US" sz="2000">
                <a:latin typeface="黑体" pitchFamily="2" charset="-122"/>
                <a:ea typeface="黑体" pitchFamily="2" charset="-122"/>
              </a:rPr>
              <a:t>尾数再相</a:t>
            </a:r>
            <a:endParaRPr lang="en-US" altLang="zh-CN" sz="2000">
              <a:latin typeface="黑体" pitchFamily="2" charset="-122"/>
              <a:ea typeface="黑体" pitchFamily="2" charset="-122"/>
            </a:endParaRPr>
          </a:p>
          <a:p>
            <a:pPr>
              <a:lnSpc>
                <a:spcPct val="150000"/>
              </a:lnSpc>
            </a:pPr>
            <a:endParaRPr lang="en-US" altLang="zh-CN" sz="2000">
              <a:latin typeface="黑体" pitchFamily="2" charset="-122"/>
              <a:ea typeface="黑体" pitchFamily="2" charset="-122"/>
            </a:endParaRPr>
          </a:p>
          <a:p>
            <a:pPr>
              <a:lnSpc>
                <a:spcPct val="150000"/>
              </a:lnSpc>
            </a:pPr>
            <a:endParaRPr lang="en-US" altLang="zh-CN" sz="2000">
              <a:latin typeface="黑体" pitchFamily="2" charset="-122"/>
              <a:ea typeface="黑体" pitchFamily="2" charset="-122"/>
            </a:endParaRPr>
          </a:p>
          <a:p>
            <a:pPr>
              <a:lnSpc>
                <a:spcPct val="150000"/>
              </a:lnSpc>
            </a:pPr>
            <a:r>
              <a:rPr lang="en-US" altLang="zh-CN" sz="2000">
                <a:latin typeface="黑体" pitchFamily="2" charset="-122"/>
                <a:ea typeface="黑体" pitchFamily="2" charset="-122"/>
              </a:rPr>
              <a:t>③ </a:t>
            </a:r>
            <a:r>
              <a:rPr lang="zh-CN" altLang="en-US" sz="2000">
                <a:latin typeface="黑体" pitchFamily="2" charset="-122"/>
                <a:ea typeface="黑体" pitchFamily="2" charset="-122"/>
              </a:rPr>
              <a:t>结果规格化</a:t>
            </a:r>
            <a:endParaRPr lang="en-US" altLang="zh-CN"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   尾数右移</a:t>
            </a:r>
            <a:r>
              <a:rPr lang="en-US" altLang="zh-CN" sz="2000">
                <a:latin typeface="黑体" pitchFamily="2" charset="-122"/>
                <a:ea typeface="黑体" pitchFamily="2" charset="-122"/>
              </a:rPr>
              <a:t>1</a:t>
            </a:r>
            <a:r>
              <a:rPr lang="zh-CN" altLang="en-US" sz="2000">
                <a:latin typeface="黑体" pitchFamily="2" charset="-122"/>
                <a:ea typeface="黑体" pitchFamily="2" charset="-122"/>
              </a:rPr>
              <a:t>位</a:t>
            </a:r>
            <a:endParaRPr lang="en-US" altLang="zh-CN" sz="2000">
              <a:latin typeface="黑体" pitchFamily="2" charset="-122"/>
              <a:ea typeface="黑体" pitchFamily="2" charset="-122"/>
            </a:endParaRPr>
          </a:p>
          <a:p>
            <a:pPr>
              <a:lnSpc>
                <a:spcPct val="150000"/>
              </a:lnSpc>
            </a:pPr>
            <a:r>
              <a:rPr lang="zh-CN" altLang="en-US" sz="2000">
                <a:latin typeface="黑体" pitchFamily="2" charset="-122"/>
                <a:ea typeface="黑体" pitchFamily="2" charset="-122"/>
              </a:rPr>
              <a:t>   阶码加</a:t>
            </a:r>
            <a:r>
              <a:rPr lang="en-US" altLang="zh-CN" sz="2000">
                <a:latin typeface="黑体" pitchFamily="2" charset="-122"/>
                <a:ea typeface="黑体" pitchFamily="2" charset="-122"/>
              </a:rPr>
              <a:t>1</a:t>
            </a:r>
          </a:p>
          <a:p>
            <a:pPr>
              <a:lnSpc>
                <a:spcPct val="150000"/>
              </a:lnSpc>
            </a:pPr>
            <a:r>
              <a:rPr lang="zh-CN" altLang="en-US" sz="2000">
                <a:latin typeface="黑体" pitchFamily="2" charset="-122"/>
                <a:ea typeface="黑体" pitchFamily="2" charset="-122"/>
              </a:rPr>
              <a:t>即规格化的结果为</a:t>
            </a:r>
            <a:endParaRPr lang="en-US" altLang="zh-CN" sz="2000">
              <a:latin typeface="黑体" pitchFamily="2" charset="-122"/>
              <a:ea typeface="黑体" pitchFamily="2" charset="-122"/>
            </a:endParaRPr>
          </a:p>
          <a:p>
            <a:pPr>
              <a:lnSpc>
                <a:spcPct val="150000"/>
              </a:lnSpc>
            </a:pPr>
            <a:r>
              <a:rPr lang="en-US" altLang="zh-CN" sz="2000">
                <a:latin typeface="黑体" pitchFamily="2" charset="-122"/>
                <a:ea typeface="黑体" pitchFamily="2" charset="-122"/>
              </a:rPr>
              <a:t>   1.0001×2</a:t>
            </a:r>
            <a:r>
              <a:rPr lang="en-US" altLang="zh-CN" sz="2000" baseline="30000">
                <a:latin typeface="黑体" pitchFamily="2" charset="-122"/>
                <a:ea typeface="黑体" pitchFamily="2" charset="-122"/>
              </a:rPr>
              <a:t>5</a:t>
            </a:r>
            <a:r>
              <a:rPr lang="zh-CN" altLang="en-US" sz="2000">
                <a:latin typeface="黑体" pitchFamily="2" charset="-122"/>
                <a:ea typeface="黑体" pitchFamily="2" charset="-122"/>
              </a:rPr>
              <a:t>。</a:t>
            </a:r>
          </a:p>
        </p:txBody>
      </p:sp>
      <p:pic>
        <p:nvPicPr>
          <p:cNvPr id="14438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997200"/>
            <a:ext cx="2016125"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8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636838"/>
            <a:ext cx="6111875"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410" name="Rectangle 1"/>
          <p:cNvSpPr>
            <a:spLocks noChangeArrowheads="1"/>
          </p:cNvSpPr>
          <p:nvPr/>
        </p:nvSpPr>
        <p:spPr bwMode="auto">
          <a:xfrm>
            <a:off x="179388" y="404813"/>
            <a:ext cx="8713787"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000">
                <a:latin typeface="黑体" pitchFamily="2" charset="-122"/>
                <a:ea typeface="黑体" pitchFamily="2" charset="-122"/>
              </a:rPr>
              <a:t>例</a:t>
            </a:r>
            <a:r>
              <a:rPr lang="zh-CN" altLang="en-US" sz="2000">
                <a:latin typeface="黑体" pitchFamily="2" charset="-122"/>
                <a:ea typeface="黑体" pitchFamily="2" charset="-122"/>
              </a:rPr>
              <a:t>：</a:t>
            </a:r>
            <a:r>
              <a:rPr lang="zh-CN" altLang="zh-CN" sz="2000">
                <a:latin typeface="黑体" pitchFamily="2" charset="-122"/>
                <a:ea typeface="黑体" pitchFamily="2" charset="-122"/>
              </a:rPr>
              <a:t>假设有一个4级流水线加法器每个过程段所需的时间为：</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0操作数检查τ</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＝70ns,对阶τ</a:t>
            </a:r>
            <a:r>
              <a:rPr lang="zh-CN" altLang="zh-CN" sz="2000" baseline="-30000">
                <a:latin typeface="黑体" pitchFamily="2" charset="-122"/>
                <a:ea typeface="黑体" pitchFamily="2" charset="-122"/>
              </a:rPr>
              <a:t>2</a:t>
            </a:r>
            <a:r>
              <a:rPr lang="zh-CN" altLang="zh-CN" sz="2000">
                <a:latin typeface="黑体" pitchFamily="2" charset="-122"/>
                <a:ea typeface="黑体" pitchFamily="2" charset="-122"/>
              </a:rPr>
              <a:t>＝60ns,相加τ</a:t>
            </a:r>
            <a:r>
              <a:rPr lang="zh-CN" altLang="zh-CN" sz="2000" baseline="-30000">
                <a:latin typeface="黑体" pitchFamily="2" charset="-122"/>
                <a:ea typeface="黑体" pitchFamily="2" charset="-122"/>
              </a:rPr>
              <a:t>3</a:t>
            </a:r>
            <a:r>
              <a:rPr lang="zh-CN" altLang="zh-CN" sz="2000">
                <a:latin typeface="黑体" pitchFamily="2" charset="-122"/>
                <a:ea typeface="黑体" pitchFamily="2" charset="-122"/>
              </a:rPr>
              <a:t>＝90ns,</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规格化τ</a:t>
            </a:r>
            <a:r>
              <a:rPr lang="zh-CN" altLang="zh-CN" sz="2000" baseline="-30000">
                <a:latin typeface="黑体" pitchFamily="2" charset="-122"/>
                <a:ea typeface="黑体" pitchFamily="2" charset="-122"/>
              </a:rPr>
              <a:t>4</a:t>
            </a:r>
            <a:r>
              <a:rPr lang="zh-CN" altLang="zh-CN" sz="2000">
                <a:latin typeface="黑体" pitchFamily="2" charset="-122"/>
                <a:ea typeface="黑体" pitchFamily="2" charset="-122"/>
              </a:rPr>
              <a:t>＝80ns,缓冲寄存器L的延时为</a:t>
            </a:r>
            <a:r>
              <a:rPr lang="en-US" altLang="zh-CN" sz="2000">
                <a:latin typeface="黑体" pitchFamily="2" charset="-122"/>
                <a:ea typeface="黑体" pitchFamily="2" charset="-122"/>
              </a:rPr>
              <a:t> </a:t>
            </a:r>
            <a:r>
              <a:rPr lang="zh-CN" altLang="zh-CN" sz="2000">
                <a:latin typeface="黑体" pitchFamily="2" charset="-122"/>
                <a:ea typeface="黑体" pitchFamily="2" charset="-122"/>
              </a:rPr>
              <a:t>t</a:t>
            </a:r>
            <a:r>
              <a:rPr lang="zh-CN" altLang="zh-CN" sz="2000" baseline="-30000">
                <a:latin typeface="黑体" pitchFamily="2" charset="-122"/>
                <a:ea typeface="黑体" pitchFamily="2" charset="-122"/>
              </a:rPr>
              <a:t>l</a:t>
            </a:r>
            <a:r>
              <a:rPr lang="zh-CN" altLang="zh-CN" sz="2000">
                <a:latin typeface="黑体" pitchFamily="2" charset="-122"/>
                <a:ea typeface="黑体" pitchFamily="2" charset="-122"/>
              </a:rPr>
              <a:t>＝10ns</a:t>
            </a:r>
            <a:r>
              <a:rPr lang="zh-CN" altLang="en-US" sz="2000">
                <a:latin typeface="黑体" pitchFamily="2" charset="-122"/>
                <a:ea typeface="黑体" pitchFamily="2" charset="-122"/>
              </a:rPr>
              <a:t>。</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a:t>
            </a:r>
            <a:r>
              <a:rPr lang="zh-CN" altLang="zh-CN" sz="2000">
                <a:latin typeface="黑体" pitchFamily="2" charset="-122"/>
                <a:ea typeface="黑体" pitchFamily="2" charset="-122"/>
              </a:rPr>
              <a:t>1</a:t>
            </a:r>
            <a:r>
              <a:rPr lang="zh-CN" altLang="en-US" sz="2000">
                <a:latin typeface="黑体" pitchFamily="2" charset="-122"/>
                <a:ea typeface="黑体" pitchFamily="2" charset="-122"/>
              </a:rPr>
              <a:t>）</a:t>
            </a:r>
            <a:r>
              <a:rPr lang="zh-CN" altLang="zh-CN" sz="2000">
                <a:latin typeface="黑体" pitchFamily="2" charset="-122"/>
                <a:ea typeface="黑体" pitchFamily="2" charset="-122"/>
              </a:rPr>
              <a:t>求4级流水线加法器的加速比为多少？</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a:t>
            </a:r>
            <a:r>
              <a:rPr lang="zh-CN" altLang="zh-CN" sz="2000">
                <a:latin typeface="黑体" pitchFamily="2" charset="-122"/>
                <a:ea typeface="黑体" pitchFamily="2" charset="-122"/>
              </a:rPr>
              <a:t>2</a:t>
            </a:r>
            <a:r>
              <a:rPr lang="zh-CN" altLang="en-US" sz="2000">
                <a:latin typeface="黑体" pitchFamily="2" charset="-122"/>
                <a:ea typeface="黑体" pitchFamily="2" charset="-122"/>
              </a:rPr>
              <a:t>）</a:t>
            </a:r>
            <a:r>
              <a:rPr lang="zh-CN" altLang="zh-CN" sz="2000">
                <a:latin typeface="黑体" pitchFamily="2" charset="-122"/>
                <a:ea typeface="黑体" pitchFamily="2" charset="-122"/>
              </a:rPr>
              <a:t>如果每个过程段的时间相同,即都为75ns(包括缓冲寄存器时间),加速比是多少？</a:t>
            </a:r>
          </a:p>
          <a:p>
            <a:pPr eaLnBrk="0" hangingPunct="0">
              <a:lnSpc>
                <a:spcPct val="150000"/>
              </a:lnSpc>
            </a:pPr>
            <a:r>
              <a:rPr lang="zh-CN" altLang="zh-CN" sz="2000">
                <a:latin typeface="黑体" pitchFamily="2" charset="-122"/>
                <a:ea typeface="黑体" pitchFamily="2" charset="-122"/>
              </a:rPr>
              <a:t>解:</a:t>
            </a:r>
            <a:r>
              <a:rPr lang="en-US" altLang="zh-CN" sz="2000">
                <a:latin typeface="黑体" pitchFamily="2" charset="-122"/>
                <a:ea typeface="黑体" pitchFamily="2" charset="-122"/>
              </a:rPr>
              <a:t> </a:t>
            </a:r>
            <a:r>
              <a:rPr lang="zh-CN" altLang="en-US" sz="2000">
                <a:latin typeface="黑体" pitchFamily="2" charset="-122"/>
                <a:ea typeface="黑体" pitchFamily="2" charset="-122"/>
              </a:rPr>
              <a:t>（</a:t>
            </a:r>
            <a:r>
              <a:rPr lang="zh-CN" altLang="zh-CN" sz="2000">
                <a:latin typeface="黑体" pitchFamily="2" charset="-122"/>
                <a:ea typeface="黑体" pitchFamily="2" charset="-122"/>
              </a:rPr>
              <a:t>1</a:t>
            </a:r>
            <a:r>
              <a:rPr lang="zh-CN" altLang="en-US" sz="2000">
                <a:latin typeface="黑体" pitchFamily="2" charset="-122"/>
                <a:ea typeface="黑体" pitchFamily="2" charset="-122"/>
              </a:rPr>
              <a:t>）</a:t>
            </a:r>
            <a:r>
              <a:rPr lang="zh-CN" altLang="zh-CN" sz="2000">
                <a:latin typeface="黑体" pitchFamily="2" charset="-122"/>
                <a:ea typeface="黑体" pitchFamily="2" charset="-122"/>
              </a:rPr>
              <a:t>加法器的流水线时钟周期至少为</a:t>
            </a:r>
            <a:r>
              <a:rPr lang="zh-CN" altLang="en-US" sz="2000">
                <a:latin typeface="黑体" pitchFamily="2" charset="-122"/>
                <a:ea typeface="黑体" pitchFamily="2" charset="-122"/>
              </a:rPr>
              <a:t>：</a:t>
            </a:r>
            <a:r>
              <a:rPr lang="zh-CN" altLang="zh-CN" sz="2000">
                <a:latin typeface="黑体" pitchFamily="2" charset="-122"/>
                <a:ea typeface="黑体" pitchFamily="2" charset="-122"/>
              </a:rPr>
              <a:t>τ＝90ns＋10ns＝100ns</a:t>
            </a: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如果采用同样的逻辑电路,但不是流水线方式,则浮点加法所需</a:t>
            </a:r>
            <a:endParaRPr lang="en-US"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的时间为</a:t>
            </a:r>
            <a:r>
              <a:rPr lang="zh-CN" altLang="en-US" sz="2000">
                <a:latin typeface="黑体" pitchFamily="2" charset="-122"/>
                <a:ea typeface="黑体" pitchFamily="2" charset="-122"/>
              </a:rPr>
              <a:t>：</a:t>
            </a:r>
            <a:r>
              <a:rPr lang="zh-CN" altLang="zh-CN" sz="2000">
                <a:latin typeface="黑体" pitchFamily="2" charset="-122"/>
                <a:ea typeface="黑体" pitchFamily="2" charset="-122"/>
              </a:rPr>
              <a:t>τ</a:t>
            </a:r>
            <a:r>
              <a:rPr lang="zh-CN" altLang="zh-CN" sz="2000" baseline="-30000">
                <a:latin typeface="黑体" pitchFamily="2" charset="-122"/>
                <a:ea typeface="黑体" pitchFamily="2" charset="-122"/>
              </a:rPr>
              <a:t>1</a:t>
            </a:r>
            <a:r>
              <a:rPr lang="zh-CN" altLang="zh-CN" sz="2000">
                <a:latin typeface="黑体" pitchFamily="2" charset="-122"/>
                <a:ea typeface="黑体" pitchFamily="2" charset="-122"/>
              </a:rPr>
              <a:t>＋τ</a:t>
            </a:r>
            <a:r>
              <a:rPr lang="zh-CN" altLang="zh-CN" sz="2000" baseline="-30000">
                <a:latin typeface="黑体" pitchFamily="2" charset="-122"/>
                <a:ea typeface="黑体" pitchFamily="2" charset="-122"/>
              </a:rPr>
              <a:t>2</a:t>
            </a:r>
            <a:r>
              <a:rPr lang="zh-CN" altLang="zh-CN" sz="2000">
                <a:latin typeface="黑体" pitchFamily="2" charset="-122"/>
                <a:ea typeface="黑体" pitchFamily="2" charset="-122"/>
              </a:rPr>
              <a:t>＋τ</a:t>
            </a:r>
            <a:r>
              <a:rPr lang="zh-CN" altLang="zh-CN" sz="2000" baseline="-30000">
                <a:latin typeface="黑体" pitchFamily="2" charset="-122"/>
                <a:ea typeface="黑体" pitchFamily="2" charset="-122"/>
              </a:rPr>
              <a:t>3</a:t>
            </a:r>
            <a:r>
              <a:rPr lang="zh-CN" altLang="zh-CN" sz="2000">
                <a:latin typeface="黑体" pitchFamily="2" charset="-122"/>
                <a:ea typeface="黑体" pitchFamily="2" charset="-122"/>
              </a:rPr>
              <a:t>＋τ</a:t>
            </a:r>
            <a:r>
              <a:rPr lang="zh-CN" altLang="zh-CN" sz="2000" baseline="-30000">
                <a:latin typeface="黑体" pitchFamily="2" charset="-122"/>
                <a:ea typeface="黑体" pitchFamily="2" charset="-122"/>
              </a:rPr>
              <a:t>4</a:t>
            </a:r>
            <a:r>
              <a:rPr lang="zh-CN" altLang="zh-CN" sz="2000">
                <a:latin typeface="黑体" pitchFamily="2" charset="-122"/>
                <a:ea typeface="黑体" pitchFamily="2" charset="-122"/>
              </a:rPr>
              <a:t> ＝300ns</a:t>
            </a: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因此,4级流水线加法器的加速比为</a:t>
            </a:r>
            <a:r>
              <a:rPr lang="zh-CN" altLang="en-US" sz="2000">
                <a:latin typeface="黑体" pitchFamily="2" charset="-122"/>
                <a:ea typeface="黑体" pitchFamily="2" charset="-122"/>
              </a:rPr>
              <a:t>：</a:t>
            </a:r>
            <a:r>
              <a:rPr lang="zh-CN" altLang="zh-CN" sz="2000">
                <a:latin typeface="黑体" pitchFamily="2" charset="-122"/>
                <a:ea typeface="黑体" pitchFamily="2" charset="-122"/>
              </a:rPr>
              <a:t>C</a:t>
            </a:r>
            <a:r>
              <a:rPr lang="zh-CN" altLang="zh-CN" sz="2000" baseline="-30000">
                <a:latin typeface="黑体" pitchFamily="2" charset="-122"/>
                <a:ea typeface="黑体" pitchFamily="2" charset="-122"/>
              </a:rPr>
              <a:t>k</a:t>
            </a:r>
            <a:r>
              <a:rPr lang="zh-CN" altLang="zh-CN" sz="2000">
                <a:latin typeface="黑体" pitchFamily="2" charset="-122"/>
                <a:ea typeface="黑体" pitchFamily="2" charset="-122"/>
              </a:rPr>
              <a:t>＝300/100＝3</a:t>
            </a:r>
          </a:p>
          <a:p>
            <a:pPr eaLnBrk="0" hangingPunct="0">
              <a:lnSpc>
                <a:spcPct val="150000"/>
              </a:lnSpc>
            </a:pPr>
            <a:r>
              <a:rPr lang="en-US" altLang="zh-CN" sz="2000">
                <a:latin typeface="黑体" pitchFamily="2" charset="-122"/>
                <a:ea typeface="黑体" pitchFamily="2" charset="-122"/>
              </a:rPr>
              <a:t>     </a:t>
            </a:r>
            <a:r>
              <a:rPr lang="zh-CN" altLang="en-US" sz="2000">
                <a:latin typeface="黑体" pitchFamily="2" charset="-122"/>
                <a:ea typeface="黑体" pitchFamily="2" charset="-122"/>
              </a:rPr>
              <a:t>（</a:t>
            </a:r>
            <a:r>
              <a:rPr lang="zh-CN" altLang="zh-CN" sz="2000">
                <a:latin typeface="黑体" pitchFamily="2" charset="-122"/>
                <a:ea typeface="黑体" pitchFamily="2" charset="-122"/>
              </a:rPr>
              <a:t>2</a:t>
            </a:r>
            <a:r>
              <a:rPr lang="zh-CN" altLang="en-US" sz="2000">
                <a:latin typeface="黑体" pitchFamily="2" charset="-122"/>
                <a:ea typeface="黑体" pitchFamily="2" charset="-122"/>
              </a:rPr>
              <a:t>）</a:t>
            </a:r>
            <a:r>
              <a:rPr lang="zh-CN" altLang="zh-CN" sz="2000">
                <a:latin typeface="黑体" pitchFamily="2" charset="-122"/>
                <a:ea typeface="黑体" pitchFamily="2" charset="-122"/>
              </a:rPr>
              <a:t>当每个过程段的时间都是75ns时,加速比为</a:t>
            </a:r>
            <a:r>
              <a:rPr lang="zh-CN" altLang="en-US" sz="2000">
                <a:latin typeface="黑体" pitchFamily="2" charset="-122"/>
                <a:ea typeface="黑体" pitchFamily="2" charset="-122"/>
              </a:rPr>
              <a:t>： </a:t>
            </a:r>
            <a:endParaRPr lang="zh-CN" altLang="zh-CN" sz="2000">
              <a:latin typeface="黑体" pitchFamily="2" charset="-122"/>
              <a:ea typeface="黑体" pitchFamily="2" charset="-122"/>
            </a:endParaRPr>
          </a:p>
          <a:p>
            <a:pPr eaLnBrk="0" hangingPunct="0">
              <a:lnSpc>
                <a:spcPct val="150000"/>
              </a:lnSpc>
            </a:pPr>
            <a:r>
              <a:rPr lang="en-US" altLang="zh-CN" sz="2000">
                <a:latin typeface="黑体" pitchFamily="2" charset="-122"/>
                <a:ea typeface="黑体" pitchFamily="2" charset="-122"/>
              </a:rPr>
              <a:t>          </a:t>
            </a:r>
            <a:r>
              <a:rPr lang="zh-CN" altLang="zh-CN" sz="2000">
                <a:latin typeface="黑体" pitchFamily="2" charset="-122"/>
                <a:ea typeface="黑体" pitchFamily="2" charset="-122"/>
              </a:rPr>
              <a:t>C</a:t>
            </a:r>
            <a:r>
              <a:rPr lang="zh-CN" altLang="zh-CN" sz="2000" baseline="-30000">
                <a:latin typeface="黑体" pitchFamily="2" charset="-122"/>
                <a:ea typeface="黑体" pitchFamily="2" charset="-122"/>
              </a:rPr>
              <a:t>k</a:t>
            </a:r>
            <a:r>
              <a:rPr lang="zh-CN" altLang="zh-CN" sz="2000">
                <a:latin typeface="黑体" pitchFamily="2" charset="-122"/>
                <a:ea typeface="黑体" pitchFamily="2" charset="-122"/>
              </a:rPr>
              <a:t>＝300/75＝4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ChangeArrowheads="1"/>
          </p:cNvSpPr>
          <p:nvPr/>
        </p:nvSpPr>
        <p:spPr bwMode="auto">
          <a:xfrm>
            <a:off x="152400" y="152400"/>
            <a:ext cx="8839200" cy="658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ct val="50000"/>
              </a:spcBef>
            </a:pPr>
            <a:r>
              <a:rPr lang="zh-CN" altLang="en-US" sz="2000" b="1">
                <a:latin typeface="宋体" pitchFamily="2" charset="-122"/>
              </a:rPr>
              <a:t>第二章 运算方法和运算器</a:t>
            </a:r>
            <a:endParaRPr lang="zh-CN" altLang="en-US" sz="2000">
              <a:latin typeface="宋体" pitchFamily="2" charset="-122"/>
            </a:endParaRPr>
          </a:p>
          <a:p>
            <a:pPr eaLnBrk="0" hangingPunct="0">
              <a:lnSpc>
                <a:spcPct val="130000"/>
              </a:lnSpc>
              <a:spcBef>
                <a:spcPct val="50000"/>
              </a:spcBef>
            </a:pPr>
            <a:r>
              <a:rPr lang="en-US" altLang="zh-CN" sz="2000" b="1">
                <a:solidFill>
                  <a:srgbClr val="FF0000"/>
                </a:solidFill>
                <a:latin typeface="宋体" pitchFamily="2" charset="-122"/>
              </a:rPr>
              <a:t>1</a:t>
            </a:r>
            <a:r>
              <a:rPr lang="zh-CN" altLang="en-US" sz="2000" b="1">
                <a:solidFill>
                  <a:srgbClr val="FF0000"/>
                </a:solidFill>
                <a:latin typeface="宋体" pitchFamily="2" charset="-122"/>
              </a:rPr>
              <a:t>、掌握</a:t>
            </a:r>
            <a:endParaRPr lang="zh-CN" altLang="en-US" sz="2000">
              <a:latin typeface="宋体" pitchFamily="2" charset="-122"/>
            </a:endParaRPr>
          </a:p>
          <a:p>
            <a:pPr eaLnBrk="0" hangingPunct="0">
              <a:lnSpc>
                <a:spcPct val="130000"/>
              </a:lnSpc>
              <a:spcBef>
                <a:spcPct val="50000"/>
              </a:spcBef>
            </a:pPr>
            <a:r>
              <a:rPr lang="zh-CN" altLang="en-US" sz="2000">
                <a:latin typeface="宋体" pitchFamily="2" charset="-122"/>
              </a:rPr>
              <a:t>    定点数、浮点数的概念</a:t>
            </a:r>
          </a:p>
          <a:p>
            <a:pPr eaLnBrk="0" hangingPunct="0">
              <a:lnSpc>
                <a:spcPct val="130000"/>
              </a:lnSpc>
              <a:spcBef>
                <a:spcPct val="50000"/>
              </a:spcBef>
            </a:pPr>
            <a:r>
              <a:rPr lang="zh-CN" altLang="en-US" sz="2000">
                <a:latin typeface="宋体" pitchFamily="2" charset="-122"/>
              </a:rPr>
              <a:t>    </a:t>
            </a:r>
            <a:r>
              <a:rPr lang="en-US" altLang="zh-CN" sz="2000">
                <a:latin typeface="宋体" pitchFamily="2" charset="-122"/>
              </a:rPr>
              <a:t>IEEE754</a:t>
            </a:r>
            <a:r>
              <a:rPr lang="zh-CN" altLang="en-US" sz="2000">
                <a:latin typeface="宋体" pitchFamily="2" charset="-122"/>
              </a:rPr>
              <a:t>表示的浮点数和存储格式之间的相互转换。</a:t>
            </a:r>
          </a:p>
          <a:p>
            <a:pPr eaLnBrk="0" hangingPunct="0">
              <a:lnSpc>
                <a:spcPct val="130000"/>
              </a:lnSpc>
              <a:spcBef>
                <a:spcPct val="50000"/>
              </a:spcBef>
            </a:pPr>
            <a:r>
              <a:rPr lang="zh-CN" altLang="en-US" sz="2000">
                <a:latin typeface="宋体" pitchFamily="2" charset="-122"/>
              </a:rPr>
              <a:t>    真值、原码、补码、反码的相互转换</a:t>
            </a:r>
          </a:p>
          <a:p>
            <a:pPr eaLnBrk="0" hangingPunct="0">
              <a:lnSpc>
                <a:spcPct val="130000"/>
              </a:lnSpc>
              <a:spcBef>
                <a:spcPct val="50000"/>
              </a:spcBef>
            </a:pPr>
            <a:r>
              <a:rPr lang="zh-CN" altLang="en-US" sz="2000">
                <a:latin typeface="宋体" pitchFamily="2" charset="-122"/>
              </a:rPr>
              <a:t>    补码加减法运算和溢出检测方法</a:t>
            </a:r>
            <a:endParaRPr lang="en-US" altLang="zh-CN" sz="2000">
              <a:latin typeface="宋体" pitchFamily="2" charset="-122"/>
            </a:endParaRPr>
          </a:p>
          <a:p>
            <a:pPr eaLnBrk="0" hangingPunct="0">
              <a:lnSpc>
                <a:spcPct val="130000"/>
              </a:lnSpc>
              <a:spcBef>
                <a:spcPct val="50000"/>
              </a:spcBef>
            </a:pPr>
            <a:r>
              <a:rPr lang="en-US" altLang="zh-CN" sz="2000" b="1">
                <a:solidFill>
                  <a:srgbClr val="FF0000"/>
                </a:solidFill>
                <a:latin typeface="宋体" pitchFamily="2" charset="-122"/>
              </a:rPr>
              <a:t>2</a:t>
            </a:r>
            <a:r>
              <a:rPr lang="zh-CN" altLang="en-US" sz="2000" b="1">
                <a:solidFill>
                  <a:srgbClr val="FF0000"/>
                </a:solidFill>
                <a:latin typeface="宋体" pitchFamily="2" charset="-122"/>
              </a:rPr>
              <a:t>、理解</a:t>
            </a:r>
            <a:endParaRPr lang="zh-CN" altLang="en-US" sz="2000">
              <a:latin typeface="宋体" pitchFamily="2" charset="-122"/>
            </a:endParaRPr>
          </a:p>
          <a:p>
            <a:pPr eaLnBrk="0" hangingPunct="0">
              <a:lnSpc>
                <a:spcPct val="130000"/>
              </a:lnSpc>
              <a:spcBef>
                <a:spcPct val="50000"/>
              </a:spcBef>
            </a:pPr>
            <a:r>
              <a:rPr lang="zh-CN" altLang="en-US" sz="2000">
                <a:latin typeface="宋体" pitchFamily="2" charset="-122"/>
              </a:rPr>
              <a:t>    字符、字符串、汉字表示方法，校验码</a:t>
            </a:r>
          </a:p>
          <a:p>
            <a:pPr eaLnBrk="0" hangingPunct="0">
              <a:lnSpc>
                <a:spcPct val="130000"/>
              </a:lnSpc>
              <a:spcBef>
                <a:spcPct val="50000"/>
              </a:spcBef>
            </a:pPr>
            <a:r>
              <a:rPr lang="zh-CN" altLang="en-US" sz="2000">
                <a:latin typeface="宋体" pitchFamily="2" charset="-122"/>
              </a:rPr>
              <a:t>    原码乘法运算、补码乘法运算、不恢复余数除法运算</a:t>
            </a:r>
          </a:p>
          <a:p>
            <a:pPr eaLnBrk="0" hangingPunct="0">
              <a:lnSpc>
                <a:spcPct val="130000"/>
              </a:lnSpc>
              <a:spcBef>
                <a:spcPct val="50000"/>
              </a:spcBef>
            </a:pPr>
            <a:r>
              <a:rPr lang="zh-CN" altLang="en-US" sz="2000">
                <a:latin typeface="宋体" pitchFamily="2" charset="-122"/>
              </a:rPr>
              <a:t>    行波进位的补码加法器、加法器时间延时的含义</a:t>
            </a:r>
          </a:p>
          <a:p>
            <a:pPr eaLnBrk="0" hangingPunct="0">
              <a:lnSpc>
                <a:spcPct val="130000"/>
              </a:lnSpc>
              <a:spcBef>
                <a:spcPct val="50000"/>
              </a:spcBef>
            </a:pPr>
            <a:r>
              <a:rPr lang="zh-CN" altLang="en-US" sz="2000">
                <a:latin typeface="宋体" pitchFamily="2" charset="-122"/>
              </a:rPr>
              <a:t>    多功能算术</a:t>
            </a:r>
            <a:r>
              <a:rPr lang="en-US" altLang="zh-CN" sz="2000">
                <a:latin typeface="宋体" pitchFamily="2" charset="-122"/>
              </a:rPr>
              <a:t>/</a:t>
            </a:r>
            <a:r>
              <a:rPr lang="zh-CN" altLang="en-US" sz="2000">
                <a:latin typeface="宋体" pitchFamily="2" charset="-122"/>
              </a:rPr>
              <a:t>逻辑运算单元</a:t>
            </a:r>
          </a:p>
          <a:p>
            <a:pPr eaLnBrk="0" hangingPunct="0">
              <a:lnSpc>
                <a:spcPct val="130000"/>
              </a:lnSpc>
              <a:spcBef>
                <a:spcPct val="50000"/>
              </a:spcBef>
            </a:pPr>
            <a:r>
              <a:rPr lang="zh-CN" altLang="en-US" sz="2000">
                <a:latin typeface="宋体" pitchFamily="2" charset="-122"/>
              </a:rPr>
              <a:t>    浮点运算方法和浮点运算器</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1029"/>
          <p:cNvSpPr>
            <a:spLocks noChangeArrowheads="1"/>
          </p:cNvSpPr>
          <p:nvPr/>
        </p:nvSpPr>
        <p:spPr bwMode="auto">
          <a:xfrm>
            <a:off x="107950" y="1585913"/>
            <a:ext cx="4343400" cy="493871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Bef>
                <a:spcPts val="600"/>
              </a:spcBef>
            </a:pPr>
            <a:r>
              <a:rPr lang="zh-CN" altLang="en-US" b="1">
                <a:latin typeface="宋体" pitchFamily="2" charset="-122"/>
              </a:rPr>
              <a:t>（</a:t>
            </a:r>
            <a:r>
              <a:rPr lang="en-US" altLang="zh-CN" b="1">
                <a:latin typeface="宋体" pitchFamily="2" charset="-122"/>
              </a:rPr>
              <a:t>1</a:t>
            </a:r>
            <a:r>
              <a:rPr lang="zh-CN" altLang="en-US" b="1">
                <a:latin typeface="宋体" pitchFamily="2" charset="-122"/>
              </a:rPr>
              <a:t>）</a:t>
            </a:r>
            <a:r>
              <a:rPr lang="en-US" altLang="zh-CN" b="1">
                <a:latin typeface="宋体" pitchFamily="2" charset="-122"/>
              </a:rPr>
              <a:t>-35 </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-35D=-0100011B</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[-35]</a:t>
            </a:r>
            <a:r>
              <a:rPr lang="zh-CN" altLang="en-US" b="1" baseline="-30000">
                <a:latin typeface="宋体" pitchFamily="2" charset="-122"/>
              </a:rPr>
              <a:t>原</a:t>
            </a:r>
            <a:r>
              <a:rPr lang="zh-CN" altLang="en-US" b="1">
                <a:latin typeface="宋体" pitchFamily="2" charset="-122"/>
              </a:rPr>
              <a:t> </a:t>
            </a:r>
            <a:r>
              <a:rPr lang="en-US" altLang="zh-CN" b="1">
                <a:latin typeface="宋体" pitchFamily="2" charset="-122"/>
              </a:rPr>
              <a:t>= 10100011</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[-35]</a:t>
            </a:r>
            <a:r>
              <a:rPr lang="zh-CN" altLang="en-US" b="1" baseline="-30000">
                <a:latin typeface="宋体" pitchFamily="2" charset="-122"/>
              </a:rPr>
              <a:t>反</a:t>
            </a:r>
            <a:r>
              <a:rPr lang="zh-CN" altLang="en-US" b="1">
                <a:latin typeface="宋体" pitchFamily="2" charset="-122"/>
              </a:rPr>
              <a:t> </a:t>
            </a:r>
            <a:r>
              <a:rPr lang="en-US" altLang="zh-CN" b="1">
                <a:latin typeface="宋体" pitchFamily="2" charset="-122"/>
              </a:rPr>
              <a:t>= 11011100</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[-35]</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 11011101</a:t>
            </a:r>
            <a:endParaRPr lang="en-US" altLang="zh-CN">
              <a:latin typeface="宋体" pitchFamily="2" charset="-122"/>
              <a:cs typeface="Times New Roman" pitchFamily="18" charset="0"/>
            </a:endParaRPr>
          </a:p>
          <a:p>
            <a:pPr eaLnBrk="0" hangingPunct="0">
              <a:lnSpc>
                <a:spcPct val="150000"/>
              </a:lnSpc>
              <a:spcBef>
                <a:spcPts val="600"/>
              </a:spcBef>
            </a:pPr>
            <a:r>
              <a:rPr lang="zh-CN" altLang="en-US" b="1">
                <a:latin typeface="宋体" pitchFamily="2" charset="-122"/>
              </a:rPr>
              <a:t>（</a:t>
            </a:r>
            <a:r>
              <a:rPr lang="en-US" altLang="zh-CN" b="1">
                <a:latin typeface="宋体" pitchFamily="2" charset="-122"/>
              </a:rPr>
              <a:t>2</a:t>
            </a:r>
            <a:r>
              <a:rPr lang="zh-CN" altLang="en-US" b="1">
                <a:latin typeface="宋体" pitchFamily="2" charset="-122"/>
              </a:rPr>
              <a:t>）</a:t>
            </a:r>
            <a:r>
              <a:rPr lang="en-US" altLang="zh-CN" b="1">
                <a:latin typeface="宋体" pitchFamily="2" charset="-122"/>
              </a:rPr>
              <a:t>127 </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127D=+1111111B</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a:t>
            </a:r>
            <a:r>
              <a:rPr lang="zh-CN" altLang="en-US" b="1" baseline="-30000">
                <a:latin typeface="宋体" pitchFamily="2" charset="-122"/>
              </a:rPr>
              <a:t>原</a:t>
            </a:r>
            <a:r>
              <a:rPr lang="zh-CN" altLang="en-US" b="1">
                <a:latin typeface="宋体" pitchFamily="2" charset="-122"/>
              </a:rPr>
              <a:t> </a:t>
            </a:r>
            <a:r>
              <a:rPr lang="en-US" altLang="zh-CN" b="1">
                <a:latin typeface="宋体" pitchFamily="2" charset="-122"/>
              </a:rPr>
              <a:t>= 01111111</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a:t>
            </a:r>
            <a:r>
              <a:rPr lang="zh-CN" altLang="en-US" b="1" baseline="-30000">
                <a:latin typeface="宋体" pitchFamily="2" charset="-122"/>
              </a:rPr>
              <a:t>反</a:t>
            </a:r>
            <a:r>
              <a:rPr lang="zh-CN" altLang="en-US" b="1">
                <a:latin typeface="宋体" pitchFamily="2" charset="-122"/>
              </a:rPr>
              <a:t> </a:t>
            </a:r>
            <a:r>
              <a:rPr lang="en-US" altLang="zh-CN" b="1">
                <a:latin typeface="宋体" pitchFamily="2" charset="-122"/>
              </a:rPr>
              <a:t>= 01111111</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 01111111</a:t>
            </a:r>
            <a:endParaRPr lang="en-US" altLang="zh-CN">
              <a:latin typeface="宋体" pitchFamily="2" charset="-122"/>
              <a:cs typeface="Times New Roman" pitchFamily="18" charset="0"/>
            </a:endParaRPr>
          </a:p>
        </p:txBody>
      </p:sp>
      <p:sp>
        <p:nvSpPr>
          <p:cNvPr id="149507" name="Rectangle 1031"/>
          <p:cNvSpPr>
            <a:spLocks noChangeArrowheads="1"/>
          </p:cNvSpPr>
          <p:nvPr/>
        </p:nvSpPr>
        <p:spPr bwMode="auto">
          <a:xfrm>
            <a:off x="152400" y="152400"/>
            <a:ext cx="8839200" cy="584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latin typeface="宋体" pitchFamily="2" charset="-122"/>
              </a:rPr>
              <a:t>习题解答</a:t>
            </a:r>
          </a:p>
        </p:txBody>
      </p:sp>
      <p:sp>
        <p:nvSpPr>
          <p:cNvPr id="6152" name="Rectangle 1032"/>
          <p:cNvSpPr>
            <a:spLocks noChangeArrowheads="1"/>
          </p:cNvSpPr>
          <p:nvPr/>
        </p:nvSpPr>
        <p:spPr bwMode="auto">
          <a:xfrm>
            <a:off x="4572000" y="1577975"/>
            <a:ext cx="4343400" cy="48752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spcBef>
                <a:spcPts val="600"/>
              </a:spcBef>
            </a:pPr>
            <a:r>
              <a:rPr lang="zh-CN" altLang="en-US" b="1">
                <a:latin typeface="宋体" pitchFamily="2" charset="-122"/>
              </a:rPr>
              <a:t>（</a:t>
            </a:r>
            <a:r>
              <a:rPr lang="en-US" altLang="zh-CN" b="1">
                <a:latin typeface="宋体" pitchFamily="2" charset="-122"/>
              </a:rPr>
              <a:t>3</a:t>
            </a:r>
            <a:r>
              <a:rPr lang="zh-CN" altLang="en-US" b="1">
                <a:latin typeface="宋体" pitchFamily="2" charset="-122"/>
              </a:rPr>
              <a:t>）</a:t>
            </a:r>
            <a:r>
              <a:rPr lang="en-US" altLang="zh-CN" b="1">
                <a:latin typeface="宋体" pitchFamily="2" charset="-122"/>
              </a:rPr>
              <a:t>-127 </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-127D=-1111111B</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a:t>
            </a:r>
            <a:r>
              <a:rPr lang="zh-CN" altLang="en-US" b="1" baseline="-30000">
                <a:latin typeface="宋体" pitchFamily="2" charset="-122"/>
              </a:rPr>
              <a:t>原</a:t>
            </a:r>
            <a:r>
              <a:rPr lang="zh-CN" altLang="en-US" b="1">
                <a:latin typeface="宋体" pitchFamily="2" charset="-122"/>
              </a:rPr>
              <a:t> </a:t>
            </a:r>
            <a:r>
              <a:rPr lang="en-US" altLang="zh-CN" b="1">
                <a:latin typeface="宋体" pitchFamily="2" charset="-122"/>
              </a:rPr>
              <a:t>= 11111111</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a:t>
            </a:r>
            <a:r>
              <a:rPr lang="zh-CN" altLang="en-US" b="1" baseline="-30000">
                <a:latin typeface="宋体" pitchFamily="2" charset="-122"/>
              </a:rPr>
              <a:t>反</a:t>
            </a:r>
            <a:r>
              <a:rPr lang="zh-CN" altLang="en-US" b="1">
                <a:latin typeface="宋体" pitchFamily="2" charset="-122"/>
              </a:rPr>
              <a:t> </a:t>
            </a:r>
            <a:r>
              <a:rPr lang="en-US" altLang="zh-CN" b="1">
                <a:latin typeface="宋体" pitchFamily="2" charset="-122"/>
              </a:rPr>
              <a:t>= 10000000</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[-127]</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 10000001</a:t>
            </a:r>
            <a:endParaRPr lang="en-US" altLang="zh-CN">
              <a:latin typeface="宋体" pitchFamily="2" charset="-122"/>
              <a:cs typeface="Times New Roman" pitchFamily="18" charset="0"/>
            </a:endParaRPr>
          </a:p>
          <a:p>
            <a:pPr eaLnBrk="0" hangingPunct="0">
              <a:lnSpc>
                <a:spcPct val="150000"/>
              </a:lnSpc>
              <a:spcBef>
                <a:spcPts val="600"/>
              </a:spcBef>
            </a:pPr>
            <a:r>
              <a:rPr lang="zh-CN" altLang="en-US" b="1">
                <a:latin typeface="宋体" pitchFamily="2" charset="-122"/>
              </a:rPr>
              <a:t>（</a:t>
            </a:r>
            <a:r>
              <a:rPr lang="en-US" altLang="zh-CN" b="1">
                <a:latin typeface="宋体" pitchFamily="2" charset="-122"/>
              </a:rPr>
              <a:t>4</a:t>
            </a:r>
            <a:r>
              <a:rPr lang="zh-CN" altLang="en-US" b="1">
                <a:latin typeface="宋体" pitchFamily="2" charset="-122"/>
              </a:rPr>
              <a:t>）</a:t>
            </a:r>
            <a:r>
              <a:rPr lang="en-US" altLang="zh-CN" b="1">
                <a:latin typeface="宋体" pitchFamily="2" charset="-122"/>
              </a:rPr>
              <a:t>-1</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-1D=-0000001B</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a:t>
            </a:r>
            <a:r>
              <a:rPr lang="zh-CN" altLang="en-US" b="1" baseline="-30000">
                <a:latin typeface="宋体" pitchFamily="2" charset="-122"/>
              </a:rPr>
              <a:t>原</a:t>
            </a:r>
            <a:r>
              <a:rPr lang="zh-CN" altLang="en-US" b="1">
                <a:latin typeface="宋体" pitchFamily="2" charset="-122"/>
              </a:rPr>
              <a:t> </a:t>
            </a:r>
            <a:r>
              <a:rPr lang="en-US" altLang="zh-CN" b="1">
                <a:latin typeface="宋体" pitchFamily="2" charset="-122"/>
              </a:rPr>
              <a:t>= 10000001</a:t>
            </a:r>
            <a:endParaRPr lang="en-US" altLang="zh-CN">
              <a:latin typeface="宋体" pitchFamily="2" charset="-122"/>
              <a:cs typeface="Times New Roman" pitchFamily="18" charset="0"/>
            </a:endParaRPr>
          </a:p>
          <a:p>
            <a:pPr eaLnBrk="0" hangingPunct="0">
              <a:lnSpc>
                <a:spcPct val="150000"/>
              </a:lnSpc>
              <a:spcBef>
                <a:spcPts val="600"/>
              </a:spcBef>
            </a:pPr>
            <a:r>
              <a:rPr lang="en-US" altLang="zh-CN" b="1">
                <a:latin typeface="宋体" pitchFamily="2" charset="-122"/>
              </a:rPr>
              <a:t>     [-1]</a:t>
            </a:r>
            <a:r>
              <a:rPr lang="zh-CN" altLang="en-US" b="1" baseline="-30000">
                <a:latin typeface="宋体" pitchFamily="2" charset="-122"/>
              </a:rPr>
              <a:t>反</a:t>
            </a:r>
            <a:r>
              <a:rPr lang="zh-CN" altLang="en-US" b="1">
                <a:latin typeface="宋体" pitchFamily="2" charset="-122"/>
              </a:rPr>
              <a:t> </a:t>
            </a:r>
            <a:r>
              <a:rPr lang="en-US" altLang="zh-CN" b="1">
                <a:latin typeface="宋体" pitchFamily="2" charset="-122"/>
              </a:rPr>
              <a:t>= 11111110</a:t>
            </a:r>
          </a:p>
          <a:p>
            <a:pPr eaLnBrk="0" hangingPunct="0">
              <a:lnSpc>
                <a:spcPct val="150000"/>
              </a:lnSpc>
              <a:spcBef>
                <a:spcPts val="600"/>
              </a:spcBef>
            </a:pPr>
            <a:r>
              <a:rPr lang="en-US" altLang="zh-CN" b="1">
                <a:latin typeface="宋体" pitchFamily="2" charset="-122"/>
              </a:rPr>
              <a:t>     [-1]</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 11111111</a:t>
            </a:r>
          </a:p>
        </p:txBody>
      </p:sp>
      <p:sp>
        <p:nvSpPr>
          <p:cNvPr id="149509" name="Rectangle 1031"/>
          <p:cNvSpPr>
            <a:spLocks noChangeArrowheads="1"/>
          </p:cNvSpPr>
          <p:nvPr/>
        </p:nvSpPr>
        <p:spPr bwMode="auto">
          <a:xfrm>
            <a:off x="125413" y="838200"/>
            <a:ext cx="8839200" cy="646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itchFamily="2" charset="-122"/>
              </a:rPr>
              <a:t>1</a:t>
            </a:r>
            <a:r>
              <a:rPr lang="zh-CN" altLang="en-US" b="1">
                <a:latin typeface="宋体" pitchFamily="2" charset="-122"/>
              </a:rPr>
              <a:t>．写出下列各整数的原码、反码、补码表示（用</a:t>
            </a:r>
            <a:r>
              <a:rPr lang="en-US" altLang="zh-CN" b="1">
                <a:latin typeface="宋体" pitchFamily="2" charset="-122"/>
              </a:rPr>
              <a:t>8</a:t>
            </a:r>
            <a:r>
              <a:rPr lang="zh-CN" altLang="en-US" b="1">
                <a:latin typeface="宋体" pitchFamily="2" charset="-122"/>
              </a:rPr>
              <a:t>位二进制数）。</a:t>
            </a:r>
          </a:p>
          <a:p>
            <a:r>
              <a:rPr lang="zh-CN" altLang="en-US" b="1">
                <a:latin typeface="宋体" pitchFamily="2" charset="-122"/>
              </a:rPr>
              <a:t>   其中</a:t>
            </a:r>
            <a:r>
              <a:rPr lang="en-US" altLang="zh-CN" b="1">
                <a:latin typeface="宋体" pitchFamily="2" charset="-122"/>
              </a:rPr>
              <a:t>MSB</a:t>
            </a:r>
            <a:r>
              <a:rPr lang="zh-CN" altLang="en-US" b="1">
                <a:latin typeface="宋体" pitchFamily="2" charset="-122"/>
              </a:rPr>
              <a:t>是最高位（符号位），</a:t>
            </a:r>
            <a:r>
              <a:rPr lang="en-US" altLang="zh-CN" b="1">
                <a:latin typeface="宋体" pitchFamily="2" charset="-122"/>
              </a:rPr>
              <a:t>LSB</a:t>
            </a:r>
            <a:r>
              <a:rPr lang="zh-CN" altLang="en-US" b="1">
                <a:latin typeface="宋体" pitchFamily="2" charset="-122"/>
              </a:rPr>
              <a:t>是最低位。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ox(in)">
                                      <p:cBhvr>
                                        <p:cTn id="7" dur="500"/>
                                        <p:tgtEl>
                                          <p:spTgt spid="61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52"/>
                                        </p:tgtEl>
                                        <p:attrNameLst>
                                          <p:attrName>style.visibility</p:attrName>
                                        </p:attrNameLst>
                                      </p:cBhvr>
                                      <p:to>
                                        <p:strVal val="visible"/>
                                      </p:to>
                                    </p:set>
                                    <p:animEffect transition="in" filter="box(in)">
                                      <p:cBhvr>
                                        <p:cTn id="12"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nimBg="1" autoUpdateAnimBg="0"/>
      <p:bldP spid="6152" grpId="0" animBg="1"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ChangeArrowheads="1"/>
          </p:cNvSpPr>
          <p:nvPr/>
        </p:nvSpPr>
        <p:spPr bwMode="auto">
          <a:xfrm>
            <a:off x="152400" y="228600"/>
            <a:ext cx="8763000" cy="1066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a:solidFill>
                  <a:srgbClr val="000000"/>
                </a:solidFill>
                <a:latin typeface="宋体" pitchFamily="2" charset="-122"/>
              </a:rPr>
              <a:t>2.</a:t>
            </a:r>
            <a:r>
              <a:rPr lang="zh-CN" altLang="en-US" sz="3200">
                <a:solidFill>
                  <a:srgbClr val="000000"/>
                </a:solidFill>
                <a:latin typeface="宋体" pitchFamily="2" charset="-122"/>
              </a:rPr>
              <a:t>设</a:t>
            </a:r>
            <a:r>
              <a:rPr lang="en-US" altLang="zh-CN" sz="3200">
                <a:solidFill>
                  <a:srgbClr val="000000"/>
                </a:solidFill>
                <a:latin typeface="宋体" pitchFamily="2" charset="-122"/>
              </a:rPr>
              <a:t>[</a:t>
            </a:r>
            <a:r>
              <a:rPr lang="zh-CN" altLang="en-US" sz="3200" i="1">
                <a:solidFill>
                  <a:srgbClr val="000000"/>
                </a:solidFill>
                <a:latin typeface="宋体" pitchFamily="2" charset="-122"/>
              </a:rPr>
              <a:t>ｘ</a:t>
            </a:r>
            <a:r>
              <a:rPr lang="en-US" altLang="zh-CN" sz="3200">
                <a:solidFill>
                  <a:srgbClr val="000000"/>
                </a:solidFill>
                <a:latin typeface="宋体" pitchFamily="2" charset="-122"/>
              </a:rPr>
              <a:t>]</a:t>
            </a:r>
            <a:r>
              <a:rPr lang="zh-CN" altLang="en-US" sz="3200" baseline="-30000">
                <a:solidFill>
                  <a:srgbClr val="000000"/>
                </a:solidFill>
                <a:latin typeface="宋体" pitchFamily="2" charset="-122"/>
              </a:rPr>
              <a:t>补</a:t>
            </a:r>
            <a:r>
              <a:rPr lang="zh-CN" altLang="en-US" sz="3200">
                <a:solidFill>
                  <a:srgbClr val="000000"/>
                </a:solidFill>
                <a:latin typeface="宋体" pitchFamily="2" charset="-122"/>
              </a:rPr>
              <a:t>＝</a:t>
            </a:r>
            <a:r>
              <a:rPr lang="en-US" altLang="zh-CN" sz="3200">
                <a:solidFill>
                  <a:srgbClr val="000000"/>
                </a:solidFill>
                <a:latin typeface="宋体" pitchFamily="2" charset="-122"/>
              </a:rPr>
              <a:t>a0.a1a2...a6</a:t>
            </a:r>
            <a:r>
              <a:rPr lang="zh-CN" altLang="en-US" sz="3200">
                <a:solidFill>
                  <a:srgbClr val="000000"/>
                </a:solidFill>
                <a:latin typeface="宋体" pitchFamily="2" charset="-122"/>
              </a:rPr>
              <a:t>，其中</a:t>
            </a:r>
            <a:r>
              <a:rPr lang="en-US" altLang="zh-CN" sz="3200">
                <a:solidFill>
                  <a:srgbClr val="000000"/>
                </a:solidFill>
                <a:latin typeface="宋体" pitchFamily="2" charset="-122"/>
              </a:rPr>
              <a:t>ai</a:t>
            </a:r>
            <a:r>
              <a:rPr lang="zh-CN" altLang="en-US" sz="3200">
                <a:solidFill>
                  <a:srgbClr val="000000"/>
                </a:solidFill>
                <a:latin typeface="宋体" pitchFamily="2" charset="-122"/>
              </a:rPr>
              <a:t>取</a:t>
            </a:r>
            <a:r>
              <a:rPr lang="en-US" altLang="zh-CN" sz="3200">
                <a:solidFill>
                  <a:srgbClr val="000000"/>
                </a:solidFill>
                <a:latin typeface="宋体" pitchFamily="2" charset="-122"/>
              </a:rPr>
              <a:t>0</a:t>
            </a:r>
            <a:r>
              <a:rPr lang="zh-CN" altLang="en-US" sz="3200">
                <a:solidFill>
                  <a:srgbClr val="000000"/>
                </a:solidFill>
                <a:latin typeface="宋体" pitchFamily="2" charset="-122"/>
              </a:rPr>
              <a:t>或</a:t>
            </a:r>
            <a:r>
              <a:rPr lang="en-US" altLang="zh-CN" sz="3200">
                <a:solidFill>
                  <a:srgbClr val="000000"/>
                </a:solidFill>
                <a:latin typeface="宋体" pitchFamily="2" charset="-122"/>
              </a:rPr>
              <a:t>1</a:t>
            </a:r>
            <a:r>
              <a:rPr lang="zh-CN" altLang="en-US" sz="3200">
                <a:solidFill>
                  <a:srgbClr val="000000"/>
                </a:solidFill>
                <a:latin typeface="宋体" pitchFamily="2" charset="-122"/>
              </a:rPr>
              <a:t>，</a:t>
            </a:r>
          </a:p>
          <a:p>
            <a:r>
              <a:rPr lang="zh-CN" altLang="en-US" sz="3200">
                <a:solidFill>
                  <a:srgbClr val="000000"/>
                </a:solidFill>
                <a:latin typeface="宋体" pitchFamily="2" charset="-122"/>
              </a:rPr>
              <a:t>  若要</a:t>
            </a:r>
            <a:r>
              <a:rPr lang="en-US" altLang="zh-CN" sz="3200">
                <a:solidFill>
                  <a:srgbClr val="000000"/>
                </a:solidFill>
                <a:latin typeface="宋体" pitchFamily="2" charset="-122"/>
              </a:rPr>
              <a:t>x&gt;-0.5,</a:t>
            </a:r>
            <a:r>
              <a:rPr lang="zh-CN" altLang="en-US" sz="3200">
                <a:solidFill>
                  <a:srgbClr val="000000"/>
                </a:solidFill>
                <a:latin typeface="宋体" pitchFamily="2" charset="-122"/>
              </a:rPr>
              <a:t>求</a:t>
            </a:r>
            <a:r>
              <a:rPr lang="en-US" altLang="zh-CN" sz="3200">
                <a:solidFill>
                  <a:srgbClr val="000000"/>
                </a:solidFill>
                <a:latin typeface="宋体" pitchFamily="2" charset="-122"/>
              </a:rPr>
              <a:t>a0,a1,a2,...a6</a:t>
            </a:r>
            <a:r>
              <a:rPr lang="zh-CN" altLang="en-US" sz="3200">
                <a:solidFill>
                  <a:srgbClr val="000000"/>
                </a:solidFill>
                <a:latin typeface="宋体" pitchFamily="2" charset="-122"/>
              </a:rPr>
              <a:t>的取值。</a:t>
            </a:r>
            <a:endParaRPr lang="zh-CN" altLang="en-US" sz="3200">
              <a:latin typeface="宋体" pitchFamily="2" charset="-122"/>
            </a:endParaRPr>
          </a:p>
        </p:txBody>
      </p:sp>
      <p:sp>
        <p:nvSpPr>
          <p:cNvPr id="3075" name="Rectangle 3"/>
          <p:cNvSpPr>
            <a:spLocks noChangeArrowheads="1"/>
          </p:cNvSpPr>
          <p:nvPr/>
        </p:nvSpPr>
        <p:spPr bwMode="auto">
          <a:xfrm>
            <a:off x="152400" y="1447800"/>
            <a:ext cx="8763000" cy="255454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dirty="0">
                <a:solidFill>
                  <a:srgbClr val="000000"/>
                </a:solidFill>
                <a:latin typeface="宋体" pitchFamily="2" charset="-122"/>
              </a:rPr>
              <a:t>解：（</a:t>
            </a:r>
            <a:r>
              <a:rPr lang="en-US" altLang="zh-CN" sz="3200" dirty="0">
                <a:solidFill>
                  <a:srgbClr val="000000"/>
                </a:solidFill>
                <a:latin typeface="宋体" pitchFamily="2" charset="-122"/>
              </a:rPr>
              <a:t>-0.5)</a:t>
            </a:r>
            <a:r>
              <a:rPr lang="en-US" altLang="zh-CN" sz="3200" baseline="-25000" dirty="0">
                <a:solidFill>
                  <a:srgbClr val="000000"/>
                </a:solidFill>
                <a:latin typeface="宋体" pitchFamily="2" charset="-122"/>
              </a:rPr>
              <a:t>10</a:t>
            </a:r>
            <a:r>
              <a:rPr lang="en-US" altLang="zh-CN" sz="3200" dirty="0">
                <a:solidFill>
                  <a:srgbClr val="000000"/>
                </a:solidFill>
                <a:latin typeface="宋体" pitchFamily="2" charset="-122"/>
              </a:rPr>
              <a:t> = (-0.100000)</a:t>
            </a:r>
            <a:r>
              <a:rPr lang="en-US" altLang="zh-CN" sz="3200" baseline="-25000" dirty="0">
                <a:solidFill>
                  <a:srgbClr val="000000"/>
                </a:solidFill>
                <a:latin typeface="宋体" pitchFamily="2" charset="-122"/>
              </a:rPr>
              <a:t>2</a:t>
            </a:r>
          </a:p>
          <a:p>
            <a:pPr eaLnBrk="0" hangingPunct="0"/>
            <a:r>
              <a:rPr lang="en-US" altLang="zh-CN" sz="3200" dirty="0">
                <a:solidFill>
                  <a:srgbClr val="000000"/>
                </a:solidFill>
                <a:latin typeface="宋体" pitchFamily="2" charset="-122"/>
              </a:rPr>
              <a:t>     [-0.100000]</a:t>
            </a:r>
            <a:r>
              <a:rPr lang="zh-CN" altLang="en-US" sz="3200" baseline="-30000" dirty="0">
                <a:solidFill>
                  <a:srgbClr val="000000"/>
                </a:solidFill>
                <a:latin typeface="宋体" pitchFamily="2" charset="-122"/>
              </a:rPr>
              <a:t>补</a:t>
            </a:r>
            <a:r>
              <a:rPr lang="zh-CN" altLang="en-US" sz="3200" dirty="0">
                <a:solidFill>
                  <a:srgbClr val="000000"/>
                </a:solidFill>
                <a:latin typeface="宋体" pitchFamily="2" charset="-122"/>
              </a:rPr>
              <a:t>＝</a:t>
            </a:r>
            <a:r>
              <a:rPr lang="en-US" altLang="zh-CN" sz="3200" dirty="0">
                <a:solidFill>
                  <a:srgbClr val="000000"/>
                </a:solidFill>
                <a:latin typeface="宋体" pitchFamily="2" charset="-122"/>
              </a:rPr>
              <a:t>1.100000</a:t>
            </a:r>
            <a:endParaRPr lang="en-US" altLang="zh-CN" sz="3200" dirty="0">
              <a:latin typeface="宋体" pitchFamily="2" charset="-122"/>
            </a:endParaRPr>
          </a:p>
          <a:p>
            <a:pPr eaLnBrk="0" hangingPunct="0"/>
            <a:endParaRPr lang="en-US" altLang="zh-CN" sz="3200" dirty="0">
              <a:solidFill>
                <a:srgbClr val="000000"/>
              </a:solidFill>
              <a:latin typeface="宋体" pitchFamily="2" charset="-122"/>
            </a:endParaRPr>
          </a:p>
          <a:p>
            <a:pPr eaLnBrk="0" hangingPunct="0"/>
            <a:r>
              <a:rPr lang="en-US" altLang="zh-CN" sz="3200" dirty="0">
                <a:solidFill>
                  <a:srgbClr val="000000"/>
                </a:solidFill>
                <a:latin typeface="宋体" pitchFamily="2" charset="-122"/>
              </a:rPr>
              <a:t>     a0 = 0</a:t>
            </a:r>
            <a:r>
              <a:rPr lang="zh-CN" altLang="en-US" sz="3200" dirty="0">
                <a:solidFill>
                  <a:srgbClr val="000000"/>
                </a:solidFill>
                <a:latin typeface="宋体" pitchFamily="2" charset="-122"/>
              </a:rPr>
              <a:t>时，</a:t>
            </a:r>
            <a:r>
              <a:rPr lang="en-US" altLang="zh-CN" sz="3200" dirty="0">
                <a:solidFill>
                  <a:srgbClr val="000000"/>
                </a:solidFill>
                <a:latin typeface="宋体" pitchFamily="2" charset="-122"/>
              </a:rPr>
              <a:t>a1,a2,...a6</a:t>
            </a:r>
            <a:r>
              <a:rPr lang="zh-CN" altLang="en-US" sz="3200" dirty="0">
                <a:solidFill>
                  <a:srgbClr val="000000"/>
                </a:solidFill>
                <a:latin typeface="宋体" pitchFamily="2" charset="-122"/>
              </a:rPr>
              <a:t>取</a:t>
            </a:r>
            <a:r>
              <a:rPr lang="en-US" altLang="zh-CN" sz="3200" dirty="0">
                <a:solidFill>
                  <a:srgbClr val="000000"/>
                </a:solidFill>
                <a:latin typeface="宋体" pitchFamily="2" charset="-122"/>
              </a:rPr>
              <a:t>0</a:t>
            </a:r>
            <a:r>
              <a:rPr lang="zh-CN" altLang="en-US" sz="3200" dirty="0">
                <a:solidFill>
                  <a:srgbClr val="000000"/>
                </a:solidFill>
                <a:latin typeface="宋体" pitchFamily="2" charset="-122"/>
              </a:rPr>
              <a:t>或</a:t>
            </a:r>
            <a:r>
              <a:rPr lang="en-US" altLang="zh-CN" sz="3200" dirty="0">
                <a:solidFill>
                  <a:srgbClr val="000000"/>
                </a:solidFill>
                <a:latin typeface="宋体" pitchFamily="2" charset="-122"/>
              </a:rPr>
              <a:t>1</a:t>
            </a:r>
            <a:endParaRPr lang="en-US" altLang="zh-CN" sz="3200" dirty="0">
              <a:latin typeface="宋体" pitchFamily="2" charset="-122"/>
            </a:endParaRPr>
          </a:p>
          <a:p>
            <a:pPr eaLnBrk="0" hangingPunct="0"/>
            <a:r>
              <a:rPr lang="en-US" altLang="zh-CN" sz="3200" dirty="0">
                <a:solidFill>
                  <a:srgbClr val="000000"/>
                </a:solidFill>
                <a:latin typeface="宋体" pitchFamily="2" charset="-122"/>
              </a:rPr>
              <a:t>     a0 = 1</a:t>
            </a:r>
            <a:r>
              <a:rPr lang="zh-CN" altLang="en-US" sz="3200" dirty="0">
                <a:solidFill>
                  <a:srgbClr val="000000"/>
                </a:solidFill>
                <a:latin typeface="宋体" pitchFamily="2" charset="-122"/>
              </a:rPr>
              <a:t>时，</a:t>
            </a:r>
            <a:r>
              <a:rPr lang="en-US" altLang="zh-CN" sz="3200" dirty="0">
                <a:solidFill>
                  <a:srgbClr val="000000"/>
                </a:solidFill>
                <a:latin typeface="宋体" pitchFamily="2" charset="-122"/>
              </a:rPr>
              <a:t>a1 = 1,a2,...a6</a:t>
            </a:r>
            <a:r>
              <a:rPr lang="zh-CN" altLang="en-US" sz="3200" dirty="0">
                <a:solidFill>
                  <a:srgbClr val="000000"/>
                </a:solidFill>
                <a:latin typeface="宋体" pitchFamily="2" charset="-122"/>
              </a:rPr>
              <a:t>至少</a:t>
            </a:r>
            <a:r>
              <a:rPr lang="en-US" altLang="zh-CN" sz="3200" dirty="0">
                <a:solidFill>
                  <a:srgbClr val="000000"/>
                </a:solidFill>
                <a:latin typeface="宋体" pitchFamily="2" charset="-122"/>
              </a:rPr>
              <a:t>1</a:t>
            </a:r>
            <a:r>
              <a:rPr lang="zh-CN" altLang="en-US" sz="3200" dirty="0">
                <a:solidFill>
                  <a:srgbClr val="000000"/>
                </a:solidFill>
                <a:latin typeface="宋体" pitchFamily="2" charset="-122"/>
              </a:rPr>
              <a:t>位取</a:t>
            </a:r>
            <a:r>
              <a:rPr lang="en-US" altLang="zh-CN" sz="3200" dirty="0">
                <a:solidFill>
                  <a:srgbClr val="000000"/>
                </a:solidFill>
                <a:latin typeface="宋体" pitchFamily="2" charset="-122"/>
              </a:rPr>
              <a:t>1</a:t>
            </a:r>
            <a:endParaRPr lang="en-US" altLang="zh-CN" sz="32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blinds(horizontal)">
                                      <p:cBhvr>
                                        <p:cTn id="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nimBg="1"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ChangeArrowheads="1"/>
          </p:cNvSpPr>
          <p:nvPr/>
        </p:nvSpPr>
        <p:spPr bwMode="auto">
          <a:xfrm>
            <a:off x="152400" y="1371600"/>
            <a:ext cx="8763000" cy="50085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宋体" pitchFamily="2" charset="-122"/>
              </a:rPr>
              <a:t>解：（</a:t>
            </a:r>
            <a:r>
              <a:rPr lang="en-US" altLang="zh-CN" sz="2800" b="1">
                <a:latin typeface="宋体" pitchFamily="2" charset="-122"/>
              </a:rPr>
              <a:t>27/64</a:t>
            </a:r>
            <a:r>
              <a:rPr lang="zh-CN" altLang="en-US" sz="2800" b="1">
                <a:latin typeface="宋体" pitchFamily="2" charset="-122"/>
              </a:rPr>
              <a:t>）</a:t>
            </a:r>
            <a:r>
              <a:rPr lang="en-US" altLang="zh-CN" sz="2800" b="1" baseline="-30000">
                <a:latin typeface="宋体" pitchFamily="2" charset="-122"/>
              </a:rPr>
              <a:t>10</a:t>
            </a:r>
            <a:r>
              <a:rPr lang="en-US" altLang="zh-CN" sz="2800" b="1">
                <a:latin typeface="宋体" pitchFamily="2" charset="-122"/>
              </a:rPr>
              <a:t> = (0.011011)</a:t>
            </a:r>
            <a:r>
              <a:rPr lang="en-US" altLang="zh-CN" sz="2800" b="1" baseline="-30000">
                <a:latin typeface="宋体" pitchFamily="2" charset="-122"/>
              </a:rPr>
              <a:t>2</a:t>
            </a:r>
            <a:endParaRPr lang="en-US" altLang="zh-CN" sz="2800">
              <a:latin typeface="宋体" pitchFamily="2" charset="-122"/>
            </a:endParaRPr>
          </a:p>
          <a:p>
            <a:pPr eaLnBrk="0" hangingPunct="0">
              <a:spcBef>
                <a:spcPct val="50000"/>
              </a:spcBef>
            </a:pPr>
            <a:r>
              <a:rPr lang="en-US" altLang="zh-CN" sz="2800" b="1">
                <a:latin typeface="宋体" pitchFamily="2" charset="-122"/>
              </a:rPr>
              <a:t>     0.011011=1.1011x 2</a:t>
            </a:r>
            <a:r>
              <a:rPr lang="en-US" altLang="zh-CN" sz="2800" b="1" baseline="30000">
                <a:latin typeface="宋体" pitchFamily="2" charset="-122"/>
              </a:rPr>
              <a:t>-2</a:t>
            </a:r>
            <a:endParaRPr lang="en-US" altLang="zh-CN" sz="2800">
              <a:latin typeface="宋体" pitchFamily="2" charset="-122"/>
            </a:endParaRPr>
          </a:p>
          <a:p>
            <a:pPr eaLnBrk="0" hangingPunct="0">
              <a:spcBef>
                <a:spcPct val="50000"/>
              </a:spcBef>
            </a:pPr>
            <a:r>
              <a:rPr lang="en-US" altLang="zh-CN" sz="2800" b="1">
                <a:latin typeface="宋体" pitchFamily="2" charset="-122"/>
              </a:rPr>
              <a:t>     S = 0,E = -2 + 127 = 125 = (01111101)</a:t>
            </a:r>
            <a:r>
              <a:rPr lang="en-US" altLang="zh-CN" sz="2800" b="1" baseline="-30000">
                <a:latin typeface="宋体" pitchFamily="2" charset="-122"/>
              </a:rPr>
              <a:t>2 </a:t>
            </a:r>
            <a:endParaRPr lang="en-US" altLang="zh-CN" sz="2800">
              <a:latin typeface="宋体" pitchFamily="2" charset="-122"/>
            </a:endParaRPr>
          </a:p>
          <a:p>
            <a:pPr eaLnBrk="0" hangingPunct="0">
              <a:spcBef>
                <a:spcPct val="50000"/>
              </a:spcBef>
            </a:pPr>
            <a:r>
              <a:rPr lang="en-US" altLang="zh-CN" sz="2800" b="1">
                <a:latin typeface="宋体" pitchFamily="2" charset="-122"/>
              </a:rPr>
              <a:t>     M = 1011</a:t>
            </a:r>
            <a:endParaRPr lang="en-US" altLang="zh-CN" sz="2800">
              <a:latin typeface="宋体" pitchFamily="2" charset="-122"/>
            </a:endParaRPr>
          </a:p>
          <a:p>
            <a:pPr eaLnBrk="0" hangingPunct="0">
              <a:spcBef>
                <a:spcPct val="50000"/>
              </a:spcBef>
            </a:pPr>
            <a:r>
              <a:rPr lang="en-US" altLang="zh-CN" sz="2800" b="1">
                <a:latin typeface="宋体" pitchFamily="2" charset="-122"/>
              </a:rPr>
              <a:t>     IEEE754</a:t>
            </a:r>
            <a:r>
              <a:rPr lang="zh-CN" altLang="en-US" sz="2800" b="1">
                <a:latin typeface="宋体" pitchFamily="2" charset="-122"/>
              </a:rPr>
              <a:t>标准</a:t>
            </a:r>
            <a:r>
              <a:rPr lang="en-US" altLang="zh-CN" sz="2800" b="1">
                <a:latin typeface="宋体" pitchFamily="2" charset="-122"/>
              </a:rPr>
              <a:t>32</a:t>
            </a:r>
            <a:r>
              <a:rPr lang="zh-CN" altLang="en-US" sz="2800" b="1">
                <a:latin typeface="宋体" pitchFamily="2" charset="-122"/>
              </a:rPr>
              <a:t>位浮点规格化数为</a:t>
            </a:r>
            <a:endParaRPr lang="zh-CN" altLang="en-US" sz="2800">
              <a:latin typeface="宋体" pitchFamily="2" charset="-122"/>
            </a:endParaRPr>
          </a:p>
          <a:p>
            <a:pPr eaLnBrk="0" hangingPunct="0">
              <a:spcBef>
                <a:spcPct val="50000"/>
              </a:spcBef>
            </a:pPr>
            <a:r>
              <a:rPr lang="zh-CN" altLang="en-US" sz="2800" b="1">
                <a:latin typeface="宋体" pitchFamily="2" charset="-122"/>
              </a:rPr>
              <a:t>   </a:t>
            </a:r>
            <a:r>
              <a:rPr lang="zh-CN" altLang="pt-BR" sz="2800" b="1">
                <a:latin typeface="宋体" pitchFamily="2" charset="-122"/>
              </a:rPr>
              <a:t>0 01111101 10110000000000000000000  = </a:t>
            </a:r>
          </a:p>
          <a:p>
            <a:pPr eaLnBrk="0" hangingPunct="0">
              <a:spcBef>
                <a:spcPct val="50000"/>
              </a:spcBef>
            </a:pPr>
            <a:r>
              <a:rPr lang="zh-CN" altLang="pt-BR" sz="2800" b="1">
                <a:latin typeface="宋体" pitchFamily="2" charset="-122"/>
              </a:rPr>
              <a:t>  </a:t>
            </a:r>
            <a:r>
              <a:rPr lang="en-US" altLang="zh-CN" sz="2800" b="1">
                <a:latin typeface="宋体" pitchFamily="2" charset="-122"/>
              </a:rPr>
              <a:t> </a:t>
            </a:r>
            <a:r>
              <a:rPr lang="zh-CN" altLang="pt-BR" sz="2800" b="1">
                <a:latin typeface="宋体" pitchFamily="2" charset="-122"/>
              </a:rPr>
              <a:t>0011  1110 1101 1000 0000 0000 0000 0000</a:t>
            </a:r>
          </a:p>
          <a:p>
            <a:pPr eaLnBrk="0" hangingPunct="0">
              <a:spcBef>
                <a:spcPct val="50000"/>
              </a:spcBef>
            </a:pPr>
            <a:r>
              <a:rPr lang="zh-CN" altLang="pt-BR" sz="2800" b="1">
                <a:latin typeface="宋体" pitchFamily="2" charset="-122"/>
              </a:rPr>
              <a:t>     = （3</a:t>
            </a:r>
            <a:r>
              <a:rPr lang="pt-BR" altLang="zh-CN" sz="2800" b="1">
                <a:latin typeface="宋体" pitchFamily="2" charset="-122"/>
              </a:rPr>
              <a:t>ED80000）</a:t>
            </a:r>
            <a:r>
              <a:rPr lang="pt-BR" altLang="zh-CN" sz="2800" b="1" baseline="-30000">
                <a:latin typeface="宋体" pitchFamily="2" charset="-122"/>
              </a:rPr>
              <a:t>16</a:t>
            </a:r>
            <a:endParaRPr lang="en-US" altLang="zh-CN" sz="2800">
              <a:latin typeface="宋体" pitchFamily="2" charset="-122"/>
            </a:endParaRPr>
          </a:p>
        </p:txBody>
      </p:sp>
      <p:sp>
        <p:nvSpPr>
          <p:cNvPr id="151555" name="Rectangle 4"/>
          <p:cNvSpPr>
            <a:spLocks noChangeArrowheads="1"/>
          </p:cNvSpPr>
          <p:nvPr/>
        </p:nvSpPr>
        <p:spPr bwMode="auto">
          <a:xfrm>
            <a:off x="152400" y="228600"/>
            <a:ext cx="8763000" cy="10985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itchFamily="2" charset="-122"/>
              </a:rPr>
              <a:t>4</a:t>
            </a:r>
            <a:r>
              <a:rPr lang="zh-CN" altLang="en-US" b="1">
                <a:latin typeface="宋体" pitchFamily="2" charset="-122"/>
              </a:rPr>
              <a:t>．将下列十进制数表示成</a:t>
            </a:r>
            <a:r>
              <a:rPr lang="en-US" altLang="zh-CN" b="1">
                <a:latin typeface="宋体" pitchFamily="2" charset="-122"/>
              </a:rPr>
              <a:t>IEEE754</a:t>
            </a:r>
            <a:r>
              <a:rPr lang="zh-CN" altLang="en-US" b="1">
                <a:latin typeface="宋体" pitchFamily="2" charset="-122"/>
              </a:rPr>
              <a:t>标准</a:t>
            </a:r>
            <a:r>
              <a:rPr lang="en-US" altLang="zh-CN" b="1">
                <a:latin typeface="宋体" pitchFamily="2" charset="-122"/>
              </a:rPr>
              <a:t>32</a:t>
            </a:r>
            <a:r>
              <a:rPr lang="zh-CN" altLang="en-US" b="1">
                <a:latin typeface="宋体" pitchFamily="2" charset="-122"/>
              </a:rPr>
              <a:t>位浮点规格化数</a:t>
            </a:r>
            <a:endParaRPr lang="zh-CN" altLang="en-US">
              <a:latin typeface="宋体" pitchFamily="2" charset="-122"/>
            </a:endParaRPr>
          </a:p>
          <a:p>
            <a:pPr eaLnBrk="0" hangingPunct="0">
              <a:spcBef>
                <a:spcPct val="50000"/>
              </a:spcBef>
            </a:pPr>
            <a:r>
              <a:rPr lang="zh-CN" altLang="en-US" sz="2800" b="1">
                <a:latin typeface="宋体" pitchFamily="2" charset="-122"/>
              </a:rPr>
              <a:t>  </a:t>
            </a:r>
            <a:r>
              <a:rPr lang="en-US" altLang="zh-CN" sz="2800" b="1">
                <a:latin typeface="宋体" pitchFamily="2" charset="-122"/>
              </a:rPr>
              <a:t>(1)27/64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blinds(horizontal)">
                                      <p:cBhvr>
                                        <p:cTn id="7"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nimBg="1"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04800" y="762000"/>
            <a:ext cx="8458200" cy="5441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800" b="1">
                <a:latin typeface="宋体" pitchFamily="2" charset="-122"/>
              </a:rPr>
              <a:t>解</a:t>
            </a:r>
            <a:r>
              <a:rPr lang="zh-CN" altLang="pt-BR" sz="2800" b="1">
                <a:latin typeface="宋体" pitchFamily="2" charset="-122"/>
              </a:rPr>
              <a:t>：（-27/64）</a:t>
            </a:r>
            <a:r>
              <a:rPr lang="zh-CN" altLang="pt-BR" sz="2800" b="1" baseline="-30000">
                <a:latin typeface="宋体" pitchFamily="2" charset="-122"/>
              </a:rPr>
              <a:t>10</a:t>
            </a:r>
            <a:r>
              <a:rPr lang="zh-CN" altLang="pt-BR" sz="2800" b="1">
                <a:latin typeface="宋体" pitchFamily="2" charset="-122"/>
              </a:rPr>
              <a:t> = (-0.011011)</a:t>
            </a:r>
            <a:r>
              <a:rPr lang="zh-CN" altLang="pt-BR" sz="2800" b="1" baseline="-30000">
                <a:latin typeface="宋体" pitchFamily="2" charset="-122"/>
              </a:rPr>
              <a:t>2</a:t>
            </a:r>
            <a:endParaRPr lang="en-US" altLang="zh-CN" sz="2800">
              <a:latin typeface="宋体" pitchFamily="2" charset="-122"/>
            </a:endParaRPr>
          </a:p>
          <a:p>
            <a:pPr eaLnBrk="0" hangingPunct="0">
              <a:spcBef>
                <a:spcPct val="50000"/>
              </a:spcBef>
            </a:pPr>
            <a:r>
              <a:rPr lang="zh-CN" altLang="pt-BR" sz="2800" b="1">
                <a:latin typeface="宋体" pitchFamily="2" charset="-122"/>
              </a:rPr>
              <a:t>     -0.011011=-1.1011</a:t>
            </a:r>
            <a:r>
              <a:rPr lang="pt-BR" altLang="zh-CN" sz="2800" b="1">
                <a:latin typeface="宋体" pitchFamily="2" charset="-122"/>
              </a:rPr>
              <a:t>x 2</a:t>
            </a:r>
            <a:r>
              <a:rPr lang="pt-BR" altLang="zh-CN" sz="2800" b="1" baseline="30000">
                <a:latin typeface="宋体" pitchFamily="2" charset="-122"/>
              </a:rPr>
              <a:t>-2</a:t>
            </a:r>
            <a:endParaRPr lang="en-US" altLang="zh-CN" sz="2800">
              <a:latin typeface="宋体" pitchFamily="2" charset="-122"/>
            </a:endParaRPr>
          </a:p>
          <a:p>
            <a:pPr eaLnBrk="0" hangingPunct="0">
              <a:spcBef>
                <a:spcPct val="50000"/>
              </a:spcBef>
            </a:pPr>
            <a:r>
              <a:rPr lang="pt-BR" altLang="zh-CN" sz="2800" b="1">
                <a:latin typeface="宋体" pitchFamily="2" charset="-122"/>
              </a:rPr>
              <a:t>     S = 1,E = -2 + 127 = 125 = (01111101)</a:t>
            </a:r>
            <a:r>
              <a:rPr lang="pt-BR" altLang="zh-CN" sz="2800" b="1" baseline="-30000">
                <a:latin typeface="宋体" pitchFamily="2" charset="-122"/>
              </a:rPr>
              <a:t>2 </a:t>
            </a:r>
            <a:endParaRPr lang="en-US" altLang="zh-CN" sz="2800">
              <a:latin typeface="宋体" pitchFamily="2" charset="-122"/>
            </a:endParaRPr>
          </a:p>
          <a:p>
            <a:pPr eaLnBrk="0" hangingPunct="0">
              <a:spcBef>
                <a:spcPct val="50000"/>
              </a:spcBef>
            </a:pPr>
            <a:r>
              <a:rPr lang="pt-BR" altLang="zh-CN" sz="2800" b="1">
                <a:latin typeface="宋体" pitchFamily="2" charset="-122"/>
              </a:rPr>
              <a:t>     M = 1011</a:t>
            </a:r>
            <a:endParaRPr lang="en-US" altLang="zh-CN" sz="2800">
              <a:latin typeface="宋体" pitchFamily="2" charset="-122"/>
            </a:endParaRPr>
          </a:p>
          <a:p>
            <a:pPr eaLnBrk="0" hangingPunct="0">
              <a:spcBef>
                <a:spcPct val="50000"/>
              </a:spcBef>
            </a:pPr>
            <a:r>
              <a:rPr lang="pt-BR" altLang="zh-CN" sz="2800" b="1">
                <a:latin typeface="宋体" pitchFamily="2" charset="-122"/>
              </a:rPr>
              <a:t>     </a:t>
            </a:r>
            <a:r>
              <a:rPr lang="en-US" altLang="zh-CN" sz="2800" b="1">
                <a:latin typeface="宋体" pitchFamily="2" charset="-122"/>
              </a:rPr>
              <a:t>IEEE754</a:t>
            </a:r>
            <a:r>
              <a:rPr lang="zh-CN" altLang="en-US" sz="2800" b="1">
                <a:latin typeface="宋体" pitchFamily="2" charset="-122"/>
              </a:rPr>
              <a:t>标准</a:t>
            </a:r>
            <a:r>
              <a:rPr lang="en-US" altLang="zh-CN" sz="2800" b="1">
                <a:latin typeface="宋体" pitchFamily="2" charset="-122"/>
              </a:rPr>
              <a:t>32</a:t>
            </a:r>
            <a:r>
              <a:rPr lang="zh-CN" altLang="en-US" sz="2800" b="1">
                <a:latin typeface="宋体" pitchFamily="2" charset="-122"/>
              </a:rPr>
              <a:t>位浮点规格化数为</a:t>
            </a:r>
            <a:endParaRPr lang="zh-CN" altLang="en-US" sz="2800">
              <a:latin typeface="宋体" pitchFamily="2" charset="-122"/>
            </a:endParaRPr>
          </a:p>
          <a:p>
            <a:pPr eaLnBrk="0" hangingPunct="0">
              <a:spcBef>
                <a:spcPct val="50000"/>
              </a:spcBef>
            </a:pPr>
            <a:r>
              <a:rPr lang="zh-CN" altLang="en-US" sz="2800" b="1">
                <a:latin typeface="宋体" pitchFamily="2" charset="-122"/>
              </a:rPr>
              <a:t>     </a:t>
            </a:r>
            <a:r>
              <a:rPr lang="en-US" altLang="zh-CN" sz="2800" b="1">
                <a:latin typeface="宋体" pitchFamily="2" charset="-122"/>
              </a:rPr>
              <a:t>1 01111101 10110000000000000000000 </a:t>
            </a:r>
          </a:p>
          <a:p>
            <a:pPr eaLnBrk="0" hangingPunct="0">
              <a:spcBef>
                <a:spcPct val="50000"/>
              </a:spcBef>
            </a:pPr>
            <a:r>
              <a:rPr lang="en-US" altLang="zh-CN" sz="2800" b="1">
                <a:latin typeface="宋体" pitchFamily="2" charset="-122"/>
              </a:rPr>
              <a:t>   = 1011 1110 1101 1000 0000 0000 0000 0000 </a:t>
            </a:r>
          </a:p>
          <a:p>
            <a:pPr eaLnBrk="0" hangingPunct="0">
              <a:spcBef>
                <a:spcPct val="50000"/>
              </a:spcBef>
            </a:pPr>
            <a:r>
              <a:rPr lang="en-US" altLang="zh-CN" sz="2800" b="1">
                <a:latin typeface="宋体" pitchFamily="2" charset="-122"/>
              </a:rPr>
              <a:t>     = </a:t>
            </a:r>
            <a:r>
              <a:rPr lang="zh-CN" altLang="en-US" sz="2800" b="1">
                <a:latin typeface="宋体" pitchFamily="2" charset="-122"/>
              </a:rPr>
              <a:t>（</a:t>
            </a:r>
            <a:r>
              <a:rPr lang="en-US" altLang="zh-CN" sz="2800" b="1">
                <a:latin typeface="宋体" pitchFamily="2" charset="-122"/>
              </a:rPr>
              <a:t>BED80000</a:t>
            </a:r>
            <a:r>
              <a:rPr lang="zh-CN" altLang="en-US" sz="2800" b="1">
                <a:latin typeface="宋体" pitchFamily="2" charset="-122"/>
              </a:rPr>
              <a:t>）</a:t>
            </a:r>
            <a:r>
              <a:rPr lang="en-US" altLang="zh-CN" sz="2800" b="1" baseline="-30000">
                <a:latin typeface="宋体" pitchFamily="2" charset="-122"/>
              </a:rPr>
              <a:t>16</a:t>
            </a:r>
          </a:p>
          <a:p>
            <a:pPr eaLnBrk="0" hangingPunct="0">
              <a:spcBef>
                <a:spcPct val="50000"/>
              </a:spcBef>
            </a:pPr>
            <a:endParaRPr lang="en-US" altLang="zh-CN" sz="2800" b="1" baseline="-30000">
              <a:latin typeface="宋体" pitchFamily="2" charset="-122"/>
            </a:endParaRPr>
          </a:p>
        </p:txBody>
      </p:sp>
      <p:sp>
        <p:nvSpPr>
          <p:cNvPr id="152579" name="Rectangle 3"/>
          <p:cNvSpPr>
            <a:spLocks noChangeArrowheads="1"/>
          </p:cNvSpPr>
          <p:nvPr/>
        </p:nvSpPr>
        <p:spPr bwMode="auto">
          <a:xfrm>
            <a:off x="304800" y="152400"/>
            <a:ext cx="8458200" cy="519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pt-BR" altLang="zh-CN" sz="2800" b="1">
                <a:latin typeface="宋体" pitchFamily="2" charset="-122"/>
              </a:rPr>
              <a:t>(2) -27/64</a:t>
            </a:r>
            <a:endParaRPr lang="en-US" altLang="zh-CN" sz="2800" b="1">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nimBg="1"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228600" y="2057400"/>
            <a:ext cx="8610600" cy="39354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zh-CN" altLang="en-US" sz="2800" b="1">
                <a:latin typeface="宋体" pitchFamily="2" charset="-122"/>
              </a:rPr>
              <a:t>解：</a:t>
            </a:r>
            <a:r>
              <a:rPr lang="en-US" altLang="zh-CN" sz="2800" b="1">
                <a:latin typeface="宋体" pitchFamily="2" charset="-122"/>
              </a:rPr>
              <a:t>[</a:t>
            </a:r>
            <a:r>
              <a:rPr lang="zh-CN" altLang="en-US" sz="2800" b="1">
                <a:latin typeface="宋体" pitchFamily="2" charset="-122"/>
              </a:rPr>
              <a:t>ｘ</a:t>
            </a:r>
            <a:r>
              <a:rPr lang="en-US" altLang="zh-CN" sz="2800" b="1">
                <a:latin typeface="宋体" pitchFamily="2" charset="-122"/>
              </a:rPr>
              <a:t>]</a:t>
            </a:r>
            <a:r>
              <a:rPr lang="zh-CN" altLang="en-US" sz="2800" b="1" baseline="-30000">
                <a:latin typeface="宋体" pitchFamily="2" charset="-122"/>
              </a:rPr>
              <a:t>补</a:t>
            </a:r>
            <a:r>
              <a:rPr lang="zh-CN" altLang="en-US" sz="2800" b="1">
                <a:latin typeface="宋体" pitchFamily="2" charset="-122"/>
              </a:rPr>
              <a:t>＝</a:t>
            </a:r>
            <a:r>
              <a:rPr lang="en-US" altLang="zh-CN" sz="2800" b="1">
                <a:latin typeface="宋体" pitchFamily="2" charset="-122"/>
              </a:rPr>
              <a:t>0011011,</a:t>
            </a:r>
            <a:r>
              <a:rPr lang="zh-CN" altLang="en-US" sz="2800" b="1">
                <a:latin typeface="宋体" pitchFamily="2" charset="-122"/>
              </a:rPr>
              <a:t>　</a:t>
            </a:r>
            <a:r>
              <a:rPr lang="en-US" altLang="zh-CN" sz="2800" b="1">
                <a:latin typeface="宋体" pitchFamily="2" charset="-122"/>
              </a:rPr>
              <a:t>[</a:t>
            </a:r>
            <a:r>
              <a:rPr lang="zh-CN" altLang="en-US" sz="2800" b="1">
                <a:latin typeface="宋体" pitchFamily="2" charset="-122"/>
              </a:rPr>
              <a:t>ｙ</a:t>
            </a:r>
            <a:r>
              <a:rPr lang="en-US" altLang="zh-CN" sz="2800" b="1">
                <a:latin typeface="宋体" pitchFamily="2" charset="-122"/>
              </a:rPr>
              <a:t>]</a:t>
            </a:r>
            <a:r>
              <a:rPr lang="zh-CN" altLang="en-US" sz="2800" b="1" baseline="-30000">
                <a:latin typeface="宋体" pitchFamily="2" charset="-122"/>
              </a:rPr>
              <a:t>补</a:t>
            </a:r>
            <a:r>
              <a:rPr lang="zh-CN" altLang="en-US" sz="2800" b="1">
                <a:latin typeface="宋体" pitchFamily="2" charset="-122"/>
              </a:rPr>
              <a:t>＝</a:t>
            </a:r>
            <a:r>
              <a:rPr lang="en-US" altLang="zh-CN" sz="2800" b="1">
                <a:latin typeface="宋体" pitchFamily="2" charset="-122"/>
              </a:rPr>
              <a:t>0000011</a:t>
            </a:r>
          </a:p>
          <a:p>
            <a:pPr algn="just" eaLnBrk="0" hangingPunct="0"/>
            <a:endParaRPr lang="en-US" altLang="zh-CN" sz="2800">
              <a:latin typeface="宋体" pitchFamily="2" charset="-122"/>
            </a:endParaRPr>
          </a:p>
          <a:p>
            <a:pPr algn="just" eaLnBrk="0" hangingPunct="0"/>
            <a:r>
              <a:rPr lang="en-US" altLang="zh-CN" sz="2800" b="1">
                <a:latin typeface="宋体" pitchFamily="2" charset="-122"/>
              </a:rPr>
              <a:t>           [</a:t>
            </a:r>
            <a:r>
              <a:rPr lang="zh-CN" altLang="en-US" sz="2800" b="1">
                <a:latin typeface="宋体" pitchFamily="2" charset="-122"/>
              </a:rPr>
              <a:t>ｘ</a:t>
            </a:r>
            <a:r>
              <a:rPr lang="en-US" altLang="zh-CN" sz="2800" b="1">
                <a:latin typeface="宋体" pitchFamily="2" charset="-122"/>
              </a:rPr>
              <a:t>]</a:t>
            </a:r>
            <a:r>
              <a:rPr lang="zh-CN" altLang="en-US" sz="2800" b="1" baseline="-30000">
                <a:latin typeface="宋体" pitchFamily="2" charset="-122"/>
              </a:rPr>
              <a:t>补</a:t>
            </a:r>
            <a:r>
              <a:rPr lang="zh-CN" altLang="en-US" sz="2800" b="1">
                <a:latin typeface="宋体" pitchFamily="2" charset="-122"/>
              </a:rPr>
              <a:t>　　　</a:t>
            </a:r>
            <a:r>
              <a:rPr lang="en-US" altLang="zh-CN" sz="2800" b="1">
                <a:latin typeface="宋体" pitchFamily="2" charset="-122"/>
              </a:rPr>
              <a:t>0011011</a:t>
            </a:r>
            <a:endParaRPr lang="en-US" altLang="zh-CN" sz="2800">
              <a:latin typeface="宋体" pitchFamily="2" charset="-122"/>
            </a:endParaRPr>
          </a:p>
          <a:p>
            <a:pPr algn="just" eaLnBrk="0" hangingPunct="0"/>
            <a:r>
              <a:rPr lang="en-US" altLang="zh-CN" sz="2800" b="1">
                <a:latin typeface="宋体" pitchFamily="2" charset="-122"/>
              </a:rPr>
              <a:t>       </a:t>
            </a:r>
            <a:r>
              <a:rPr lang="zh-CN" altLang="en-US" sz="2800" b="1">
                <a:latin typeface="宋体" pitchFamily="2" charset="-122"/>
              </a:rPr>
              <a:t>＋  </a:t>
            </a:r>
            <a:r>
              <a:rPr lang="en-US" altLang="zh-CN" sz="2800" b="1">
                <a:latin typeface="宋体" pitchFamily="2" charset="-122"/>
              </a:rPr>
              <a:t>[</a:t>
            </a:r>
            <a:r>
              <a:rPr lang="zh-CN" altLang="en-US" sz="2800" b="1">
                <a:latin typeface="宋体" pitchFamily="2" charset="-122"/>
              </a:rPr>
              <a:t>ｙ</a:t>
            </a:r>
            <a:r>
              <a:rPr lang="en-US" altLang="zh-CN" sz="2800" b="1">
                <a:latin typeface="宋体" pitchFamily="2" charset="-122"/>
              </a:rPr>
              <a:t>]</a:t>
            </a:r>
            <a:r>
              <a:rPr lang="zh-CN" altLang="en-US" sz="2800" b="1" baseline="-30000">
                <a:latin typeface="宋体" pitchFamily="2" charset="-122"/>
              </a:rPr>
              <a:t>补</a:t>
            </a:r>
            <a:r>
              <a:rPr lang="zh-CN" altLang="en-US" sz="2800" b="1">
                <a:latin typeface="宋体" pitchFamily="2" charset="-122"/>
              </a:rPr>
              <a:t>　　　</a:t>
            </a:r>
            <a:r>
              <a:rPr lang="en-US" altLang="zh-CN" sz="2800" b="1">
                <a:latin typeface="宋体" pitchFamily="2" charset="-122"/>
              </a:rPr>
              <a:t>0000011</a:t>
            </a:r>
          </a:p>
          <a:p>
            <a:pPr algn="just" eaLnBrk="0" hangingPunct="0"/>
            <a:r>
              <a:rPr lang="zh-CN" altLang="en-US" sz="2800" b="1">
                <a:latin typeface="宋体" pitchFamily="2" charset="-122"/>
              </a:rPr>
              <a:t>　    </a:t>
            </a:r>
            <a:r>
              <a:rPr lang="en-US" altLang="zh-CN" sz="2800" b="1">
                <a:latin typeface="宋体" pitchFamily="2" charset="-122"/>
              </a:rPr>
              <a:t>___________________________</a:t>
            </a:r>
            <a:endParaRPr lang="en-US" altLang="zh-CN" sz="2800">
              <a:latin typeface="宋体" pitchFamily="2" charset="-122"/>
            </a:endParaRPr>
          </a:p>
          <a:p>
            <a:pPr algn="just" eaLnBrk="0" hangingPunct="0"/>
            <a:r>
              <a:rPr lang="zh-CN" altLang="en-US" sz="2800" b="1">
                <a:latin typeface="宋体" pitchFamily="2" charset="-122"/>
              </a:rPr>
              <a:t>　　　　　            </a:t>
            </a:r>
            <a:r>
              <a:rPr lang="en-US" altLang="zh-CN" sz="2800" b="1">
                <a:latin typeface="宋体" pitchFamily="2" charset="-122"/>
              </a:rPr>
              <a:t>0011110</a:t>
            </a:r>
            <a:endParaRPr lang="en-US" altLang="zh-CN" sz="2800">
              <a:latin typeface="宋体" pitchFamily="2" charset="-122"/>
            </a:endParaRPr>
          </a:p>
          <a:p>
            <a:pPr algn="just" eaLnBrk="0" hangingPunct="0"/>
            <a:r>
              <a:rPr lang="en-US" altLang="zh-CN" sz="2800" b="1">
                <a:latin typeface="宋体" pitchFamily="2" charset="-122"/>
              </a:rPr>
              <a:t>     </a:t>
            </a:r>
            <a:r>
              <a:rPr lang="zh-CN" altLang="en-US" sz="2800" b="1">
                <a:latin typeface="宋体" pitchFamily="2" charset="-122"/>
              </a:rPr>
              <a:t>两个符号位出现</a:t>
            </a:r>
            <a:r>
              <a:rPr lang="zh-CN" altLang="en-US" sz="2800" b="1"/>
              <a:t>“</a:t>
            </a:r>
            <a:r>
              <a:rPr lang="en-US" altLang="zh-CN" sz="2800" b="1">
                <a:latin typeface="宋体" pitchFamily="2" charset="-122"/>
              </a:rPr>
              <a:t>00</a:t>
            </a:r>
            <a:r>
              <a:rPr lang="en-US" altLang="zh-CN" sz="2800" b="1"/>
              <a:t>”</a:t>
            </a:r>
            <a:r>
              <a:rPr lang="en-US" altLang="zh-CN" sz="2800" b="1">
                <a:latin typeface="宋体" pitchFamily="2" charset="-122"/>
              </a:rPr>
              <a:t>,</a:t>
            </a:r>
            <a:r>
              <a:rPr lang="zh-CN" altLang="en-US" sz="2800" b="1">
                <a:latin typeface="宋体" pitchFamily="2" charset="-122"/>
              </a:rPr>
              <a:t>表示无溢出</a:t>
            </a:r>
            <a:r>
              <a:rPr lang="en-US" altLang="zh-CN" sz="2800" b="1">
                <a:latin typeface="宋体" pitchFamily="2" charset="-122"/>
              </a:rPr>
              <a:t>, </a:t>
            </a:r>
          </a:p>
          <a:p>
            <a:pPr algn="just" eaLnBrk="0" hangingPunct="0"/>
            <a:r>
              <a:rPr lang="en-US" altLang="zh-CN" sz="2800" b="1">
                <a:latin typeface="宋体" pitchFamily="2" charset="-122"/>
              </a:rPr>
              <a:t>       X+Y = 11110</a:t>
            </a:r>
          </a:p>
          <a:p>
            <a:pPr algn="just" eaLnBrk="0" hangingPunct="0"/>
            <a:endParaRPr lang="en-US" altLang="zh-CN" sz="2800">
              <a:latin typeface="宋体" pitchFamily="2" charset="-122"/>
            </a:endParaRPr>
          </a:p>
        </p:txBody>
      </p:sp>
      <p:sp>
        <p:nvSpPr>
          <p:cNvPr id="153603" name="Rectangle 3"/>
          <p:cNvSpPr>
            <a:spLocks noChangeArrowheads="1"/>
          </p:cNvSpPr>
          <p:nvPr/>
        </p:nvSpPr>
        <p:spPr bwMode="auto">
          <a:xfrm>
            <a:off x="228600" y="152400"/>
            <a:ext cx="8610600" cy="18018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宋体" pitchFamily="2" charset="-122"/>
              </a:rPr>
              <a:t>5</a:t>
            </a:r>
            <a:r>
              <a:rPr lang="zh-CN" altLang="en-US" sz="2800" b="1">
                <a:latin typeface="宋体" pitchFamily="2" charset="-122"/>
              </a:rPr>
              <a:t>．已知</a:t>
            </a:r>
            <a:r>
              <a:rPr lang="en-US" altLang="zh-CN" sz="2800" b="1">
                <a:latin typeface="宋体" pitchFamily="2" charset="-122"/>
              </a:rPr>
              <a:t>X</a:t>
            </a:r>
            <a:r>
              <a:rPr lang="zh-CN" altLang="en-US" sz="2800" b="1">
                <a:latin typeface="宋体" pitchFamily="2" charset="-122"/>
              </a:rPr>
              <a:t>和</a:t>
            </a:r>
            <a:r>
              <a:rPr lang="en-US" altLang="zh-CN" sz="2800" b="1">
                <a:latin typeface="宋体" pitchFamily="2" charset="-122"/>
              </a:rPr>
              <a:t>Y</a:t>
            </a:r>
            <a:r>
              <a:rPr lang="zh-CN" altLang="en-US" sz="2800" b="1">
                <a:latin typeface="宋体" pitchFamily="2" charset="-122"/>
              </a:rPr>
              <a:t>，用变形补码计算</a:t>
            </a:r>
            <a:r>
              <a:rPr lang="en-US" altLang="zh-CN" sz="2800" b="1">
                <a:latin typeface="宋体" pitchFamily="2" charset="-122"/>
              </a:rPr>
              <a:t>X+Y</a:t>
            </a:r>
            <a:r>
              <a:rPr lang="zh-CN" altLang="en-US" sz="2800" b="1">
                <a:latin typeface="宋体" pitchFamily="2" charset="-122"/>
              </a:rPr>
              <a:t>，同时指出运算结</a:t>
            </a:r>
          </a:p>
          <a:p>
            <a:pPr>
              <a:spcBef>
                <a:spcPct val="50000"/>
              </a:spcBef>
            </a:pPr>
            <a:r>
              <a:rPr lang="zh-CN" altLang="en-US" sz="2800" b="1">
                <a:latin typeface="宋体" pitchFamily="2" charset="-122"/>
              </a:rPr>
              <a:t>   果是否溢出。</a:t>
            </a:r>
            <a:endParaRPr lang="zh-CN" altLang="en-US" sz="2800">
              <a:latin typeface="宋体" pitchFamily="2" charset="-122"/>
            </a:endParaRPr>
          </a:p>
          <a:p>
            <a:pPr eaLnBrk="0" hangingPunct="0">
              <a:spcBef>
                <a:spcPct val="50000"/>
              </a:spcBef>
            </a:pPr>
            <a:r>
              <a:rPr lang="zh-CN" altLang="en-US" sz="2800" b="1">
                <a:latin typeface="宋体" pitchFamily="2" charset="-122"/>
              </a:rPr>
              <a:t>   </a:t>
            </a:r>
            <a:r>
              <a:rPr lang="en-US" altLang="zh-CN" sz="2800" b="1">
                <a:latin typeface="宋体" pitchFamily="2" charset="-122"/>
              </a:rPr>
              <a:t>(1</a:t>
            </a:r>
            <a:r>
              <a:rPr lang="zh-CN" altLang="en-US" sz="2800" b="1">
                <a:latin typeface="宋体" pitchFamily="2" charset="-122"/>
              </a:rPr>
              <a:t>）</a:t>
            </a:r>
            <a:r>
              <a:rPr lang="en-US" altLang="zh-CN" sz="2800" b="1">
                <a:latin typeface="宋体" pitchFamily="2" charset="-122"/>
              </a:rPr>
              <a:t>X = 11011  Y = 00011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blinds(horizontal)">
                                      <p:cBhvr>
                                        <p:cTn id="7" dur="5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228600" y="685800"/>
            <a:ext cx="8686800" cy="22828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zh-CN" altLang="en-US" b="1">
                <a:latin typeface="宋体" pitchFamily="2" charset="-122"/>
              </a:rPr>
              <a:t>解：</a:t>
            </a: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0011011,</a:t>
            </a:r>
            <a:r>
              <a:rPr lang="zh-CN" altLang="en-US" b="1">
                <a:latin typeface="宋体" pitchFamily="2" charset="-122"/>
              </a:rPr>
              <a:t>　</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1101011</a:t>
            </a:r>
            <a:endParaRPr lang="en-US" altLang="zh-CN">
              <a:latin typeface="宋体" pitchFamily="2" charset="-122"/>
            </a:endParaRPr>
          </a:p>
          <a:p>
            <a:pPr algn="just" eaLnBrk="0" hangingPunct="0"/>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0011011</a:t>
            </a:r>
            <a:endParaRPr lang="en-US" altLang="zh-CN">
              <a:latin typeface="宋体" pitchFamily="2" charset="-122"/>
            </a:endParaRPr>
          </a:p>
          <a:p>
            <a:pPr algn="just" eaLnBrk="0" hangingPunct="0"/>
            <a:r>
              <a:rPr lang="en-US" altLang="zh-CN" b="1">
                <a:latin typeface="宋体" pitchFamily="2" charset="-122"/>
              </a:rPr>
              <a:t>       </a:t>
            </a:r>
            <a:r>
              <a:rPr lang="zh-CN" altLang="en-US" b="1">
                <a:latin typeface="宋体" pitchFamily="2" charset="-122"/>
              </a:rPr>
              <a:t>＋  </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1101011</a:t>
            </a:r>
          </a:p>
          <a:p>
            <a:pPr algn="just" eaLnBrk="0" hangingPunct="0"/>
            <a:r>
              <a:rPr lang="en-US" altLang="zh-CN" b="1">
                <a:latin typeface="宋体" pitchFamily="2" charset="-122"/>
              </a:rPr>
              <a:t>     ___________________________</a:t>
            </a:r>
            <a:r>
              <a:rPr lang="zh-CN" altLang="en-US" b="1">
                <a:latin typeface="宋体" pitchFamily="2" charset="-122"/>
              </a:rPr>
              <a:t>　</a:t>
            </a:r>
            <a:endParaRPr lang="zh-CN" altLang="en-US">
              <a:latin typeface="宋体" pitchFamily="2" charset="-122"/>
            </a:endParaRPr>
          </a:p>
          <a:p>
            <a:pPr algn="just" eaLnBrk="0" hangingPunct="0"/>
            <a:r>
              <a:rPr lang="zh-CN" altLang="en-US" b="1">
                <a:latin typeface="宋体" pitchFamily="2" charset="-122"/>
              </a:rPr>
              <a:t>　　　　　            </a:t>
            </a:r>
            <a:r>
              <a:rPr lang="en-US" altLang="zh-CN" b="1">
                <a:latin typeface="宋体" pitchFamily="2" charset="-122"/>
              </a:rPr>
              <a:t>0000110</a:t>
            </a:r>
            <a:endParaRPr lang="en-US" altLang="zh-CN">
              <a:latin typeface="宋体" pitchFamily="2" charset="-122"/>
            </a:endParaRPr>
          </a:p>
          <a:p>
            <a:pPr algn="just" eaLnBrk="0" hangingPunct="0"/>
            <a:r>
              <a:rPr lang="en-US" altLang="zh-CN" b="1">
                <a:latin typeface="宋体" pitchFamily="2" charset="-122"/>
              </a:rPr>
              <a:t>     </a:t>
            </a:r>
            <a:r>
              <a:rPr lang="zh-CN" altLang="en-US" b="1">
                <a:latin typeface="宋体" pitchFamily="2" charset="-122"/>
              </a:rPr>
              <a:t>两个符号位出现</a:t>
            </a:r>
            <a:r>
              <a:rPr lang="zh-CN" altLang="en-US" b="1"/>
              <a:t>“</a:t>
            </a:r>
            <a:r>
              <a:rPr lang="en-US" altLang="zh-CN" b="1">
                <a:latin typeface="宋体" pitchFamily="2" charset="-122"/>
              </a:rPr>
              <a:t>00</a:t>
            </a:r>
            <a:r>
              <a:rPr lang="en-US" altLang="zh-CN" b="1"/>
              <a:t>”</a:t>
            </a:r>
            <a:r>
              <a:rPr lang="en-US" altLang="zh-CN" b="1">
                <a:latin typeface="宋体" pitchFamily="2" charset="-122"/>
              </a:rPr>
              <a:t>,</a:t>
            </a:r>
            <a:r>
              <a:rPr lang="zh-CN" altLang="en-US" b="1">
                <a:latin typeface="宋体" pitchFamily="2" charset="-122"/>
              </a:rPr>
              <a:t>表示无溢出</a:t>
            </a:r>
            <a:r>
              <a:rPr lang="en-US" altLang="zh-CN" b="1">
                <a:latin typeface="宋体" pitchFamily="2" charset="-122"/>
              </a:rPr>
              <a:t>, X+Y = 00110</a:t>
            </a:r>
            <a:endParaRPr lang="en-US" altLang="zh-CN">
              <a:latin typeface="宋体" pitchFamily="2" charset="-122"/>
            </a:endParaRPr>
          </a:p>
        </p:txBody>
      </p:sp>
      <p:sp>
        <p:nvSpPr>
          <p:cNvPr id="154627" name="Rectangle 3"/>
          <p:cNvSpPr>
            <a:spLocks noChangeArrowheads="1"/>
          </p:cNvSpPr>
          <p:nvPr/>
        </p:nvSpPr>
        <p:spPr bwMode="auto">
          <a:xfrm>
            <a:off x="228600" y="152400"/>
            <a:ext cx="86868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宋体" pitchFamily="2" charset="-122"/>
              </a:rPr>
              <a:t>(2</a:t>
            </a:r>
            <a:r>
              <a:rPr lang="zh-CN" altLang="en-US" b="1">
                <a:latin typeface="宋体" pitchFamily="2" charset="-122"/>
              </a:rPr>
              <a:t>）</a:t>
            </a:r>
            <a:r>
              <a:rPr lang="en-US" altLang="zh-CN" b="1">
                <a:latin typeface="宋体" pitchFamily="2" charset="-122"/>
              </a:rPr>
              <a:t>X = 11011  Y = -10101</a:t>
            </a:r>
          </a:p>
        </p:txBody>
      </p:sp>
      <p:sp>
        <p:nvSpPr>
          <p:cNvPr id="11268" name="Rectangle 4"/>
          <p:cNvSpPr>
            <a:spLocks noChangeArrowheads="1"/>
          </p:cNvSpPr>
          <p:nvPr/>
        </p:nvSpPr>
        <p:spPr bwMode="auto">
          <a:xfrm>
            <a:off x="228600" y="3581400"/>
            <a:ext cx="8686800" cy="3013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zh-CN" altLang="en-US" b="1">
                <a:latin typeface="宋体" pitchFamily="2" charset="-122"/>
              </a:rPr>
              <a:t>解：</a:t>
            </a: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1101010,</a:t>
            </a:r>
            <a:r>
              <a:rPr lang="zh-CN" altLang="en-US" b="1">
                <a:latin typeface="宋体" pitchFamily="2" charset="-122"/>
              </a:rPr>
              <a:t>　</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1111111</a:t>
            </a:r>
            <a:endParaRPr lang="en-US" altLang="zh-CN">
              <a:latin typeface="宋体" pitchFamily="2" charset="-122"/>
            </a:endParaRPr>
          </a:p>
          <a:p>
            <a:pPr algn="just" eaLnBrk="0" hangingPunct="0"/>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1101010</a:t>
            </a:r>
            <a:endParaRPr lang="en-US" altLang="zh-CN">
              <a:latin typeface="宋体" pitchFamily="2" charset="-122"/>
            </a:endParaRPr>
          </a:p>
          <a:p>
            <a:pPr algn="just" eaLnBrk="0" hangingPunct="0"/>
            <a:r>
              <a:rPr lang="en-US" altLang="zh-CN" b="1">
                <a:latin typeface="宋体" pitchFamily="2" charset="-122"/>
              </a:rPr>
              <a:t>      </a:t>
            </a:r>
            <a:r>
              <a:rPr lang="en-US" altLang="zh-CN">
                <a:latin typeface="宋体" pitchFamily="2" charset="-122"/>
              </a:rPr>
              <a:t> </a:t>
            </a:r>
            <a:r>
              <a:rPr lang="zh-CN" altLang="en-US">
                <a:latin typeface="宋体" pitchFamily="2" charset="-122"/>
              </a:rPr>
              <a:t>＋ </a:t>
            </a:r>
            <a:r>
              <a:rPr lang="zh-CN" altLang="en-US" b="1">
                <a:latin typeface="宋体" pitchFamily="2" charset="-122"/>
              </a:rPr>
              <a:t> </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1111111</a:t>
            </a:r>
            <a:r>
              <a:rPr lang="zh-CN" altLang="en-US" b="1">
                <a:latin typeface="宋体" pitchFamily="2" charset="-122"/>
              </a:rPr>
              <a:t>　</a:t>
            </a:r>
          </a:p>
          <a:p>
            <a:pPr algn="just" eaLnBrk="0" hangingPunct="0"/>
            <a:r>
              <a:rPr lang="zh-CN" altLang="en-US">
                <a:latin typeface="宋体" pitchFamily="2" charset="-122"/>
              </a:rPr>
              <a:t>     </a:t>
            </a:r>
            <a:r>
              <a:rPr lang="en-US" altLang="zh-CN">
                <a:latin typeface="宋体" pitchFamily="2" charset="-122"/>
              </a:rPr>
              <a:t>_______________________________</a:t>
            </a:r>
          </a:p>
          <a:p>
            <a:pPr algn="just" eaLnBrk="0" hangingPunct="0"/>
            <a:r>
              <a:rPr lang="zh-CN" altLang="en-US" b="1">
                <a:latin typeface="宋体" pitchFamily="2" charset="-122"/>
              </a:rPr>
              <a:t>　　　　　            </a:t>
            </a:r>
            <a:r>
              <a:rPr lang="en-US" altLang="zh-CN" b="1">
                <a:latin typeface="宋体" pitchFamily="2" charset="-122"/>
              </a:rPr>
              <a:t>1101001</a:t>
            </a:r>
            <a:endParaRPr lang="en-US" altLang="zh-CN">
              <a:latin typeface="宋体" pitchFamily="2" charset="-122"/>
            </a:endParaRPr>
          </a:p>
          <a:p>
            <a:pPr algn="just" eaLnBrk="0" hangingPunct="0"/>
            <a:r>
              <a:rPr lang="en-US" altLang="zh-CN" b="1">
                <a:latin typeface="宋体" pitchFamily="2" charset="-122"/>
              </a:rPr>
              <a:t>     </a:t>
            </a:r>
            <a:r>
              <a:rPr lang="zh-CN" altLang="en-US" b="1">
                <a:latin typeface="宋体" pitchFamily="2" charset="-122"/>
              </a:rPr>
              <a:t>两个符号位出现</a:t>
            </a:r>
            <a:r>
              <a:rPr lang="zh-CN" altLang="en-US" b="1"/>
              <a:t>“</a:t>
            </a:r>
            <a:r>
              <a:rPr lang="en-US" altLang="zh-CN" b="1">
                <a:latin typeface="宋体" pitchFamily="2" charset="-122"/>
              </a:rPr>
              <a:t>11</a:t>
            </a:r>
            <a:r>
              <a:rPr lang="en-US" altLang="zh-CN" b="1"/>
              <a:t>”</a:t>
            </a:r>
            <a:r>
              <a:rPr lang="en-US" altLang="zh-CN" b="1">
                <a:latin typeface="宋体" pitchFamily="2" charset="-122"/>
              </a:rPr>
              <a:t>,</a:t>
            </a:r>
            <a:r>
              <a:rPr lang="zh-CN" altLang="en-US" b="1">
                <a:latin typeface="宋体" pitchFamily="2" charset="-122"/>
              </a:rPr>
              <a:t>表示无溢出</a:t>
            </a:r>
            <a:endParaRPr lang="zh-CN" altLang="en-US">
              <a:latin typeface="宋体" pitchFamily="2" charset="-122"/>
            </a:endParaRPr>
          </a:p>
          <a:p>
            <a:pPr algn="just" eaLnBrk="0" hangingPunct="0"/>
            <a:r>
              <a:rPr lang="zh-CN" altLang="en-US" b="1">
                <a:latin typeface="宋体" pitchFamily="2" charset="-122"/>
              </a:rPr>
              <a:t>     </a:t>
            </a:r>
            <a:r>
              <a:rPr lang="en-US" altLang="zh-CN" b="1">
                <a:latin typeface="宋体" pitchFamily="2" charset="-122"/>
              </a:rPr>
              <a:t>[X+Y]</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 101001, X+Y = -10111</a:t>
            </a:r>
            <a:endParaRPr lang="en-US" altLang="zh-CN">
              <a:latin typeface="宋体" pitchFamily="2" charset="-122"/>
            </a:endParaRPr>
          </a:p>
          <a:p>
            <a:pPr eaLnBrk="0" hangingPunct="0"/>
            <a:endParaRPr lang="en-US" altLang="zh-CN">
              <a:latin typeface="宋体" pitchFamily="2" charset="-122"/>
            </a:endParaRPr>
          </a:p>
        </p:txBody>
      </p:sp>
      <p:sp>
        <p:nvSpPr>
          <p:cNvPr id="154629" name="Rectangle 5"/>
          <p:cNvSpPr>
            <a:spLocks noChangeArrowheads="1"/>
          </p:cNvSpPr>
          <p:nvPr/>
        </p:nvSpPr>
        <p:spPr bwMode="auto">
          <a:xfrm>
            <a:off x="228600" y="3048000"/>
            <a:ext cx="86868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宋体" pitchFamily="2" charset="-122"/>
              </a:rPr>
              <a:t>(3</a:t>
            </a:r>
            <a:r>
              <a:rPr lang="zh-CN" altLang="en-US" b="1">
                <a:latin typeface="宋体" pitchFamily="2" charset="-122"/>
              </a:rPr>
              <a:t>）</a:t>
            </a:r>
            <a:r>
              <a:rPr lang="en-US" altLang="zh-CN" b="1">
                <a:latin typeface="宋体" pitchFamily="2" charset="-122"/>
              </a:rPr>
              <a:t>X = -10110  Y = -00001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dissolve">
                                      <p:cBhvr>
                                        <p:cTn id="7" dur="5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box(in)">
                                      <p:cBhvr>
                                        <p:cTn id="12"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nimBg="1" autoUpdateAnimBg="0"/>
      <p:bldP spid="11268" grpId="0" animBg="1"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ChangeArrowheads="1"/>
          </p:cNvSpPr>
          <p:nvPr/>
        </p:nvSpPr>
        <p:spPr bwMode="auto">
          <a:xfrm>
            <a:off x="76200" y="152400"/>
            <a:ext cx="88392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itchFamily="2" charset="-122"/>
              </a:rPr>
              <a:t>6</a:t>
            </a:r>
            <a:r>
              <a:rPr lang="zh-CN" altLang="en-US" b="1">
                <a:latin typeface="宋体" pitchFamily="2" charset="-122"/>
              </a:rPr>
              <a:t>．已知</a:t>
            </a:r>
            <a:r>
              <a:rPr lang="en-US" altLang="zh-CN" b="1">
                <a:latin typeface="宋体" pitchFamily="2" charset="-122"/>
              </a:rPr>
              <a:t>X</a:t>
            </a:r>
            <a:r>
              <a:rPr lang="zh-CN" altLang="en-US" b="1">
                <a:latin typeface="宋体" pitchFamily="2" charset="-122"/>
              </a:rPr>
              <a:t>和</a:t>
            </a:r>
            <a:r>
              <a:rPr lang="en-US" altLang="zh-CN" b="1">
                <a:latin typeface="宋体" pitchFamily="2" charset="-122"/>
              </a:rPr>
              <a:t>Y</a:t>
            </a:r>
            <a:r>
              <a:rPr lang="zh-CN" altLang="en-US" b="1">
                <a:latin typeface="宋体" pitchFamily="2" charset="-122"/>
              </a:rPr>
              <a:t>，用变形补码计算</a:t>
            </a:r>
            <a:r>
              <a:rPr lang="en-US" altLang="zh-CN" b="1">
                <a:latin typeface="宋体" pitchFamily="2" charset="-122"/>
              </a:rPr>
              <a:t>X-Y</a:t>
            </a:r>
            <a:r>
              <a:rPr lang="zh-CN" altLang="en-US" b="1">
                <a:latin typeface="宋体" pitchFamily="2" charset="-122"/>
              </a:rPr>
              <a:t>，同时指出运算结果是否溢出。</a:t>
            </a:r>
            <a:endParaRPr lang="zh-CN" altLang="en-US">
              <a:latin typeface="宋体" pitchFamily="2" charset="-122"/>
            </a:endParaRPr>
          </a:p>
          <a:p>
            <a:pPr eaLnBrk="0" hangingPunct="0">
              <a:spcBef>
                <a:spcPct val="50000"/>
              </a:spcBef>
            </a:pPr>
            <a:r>
              <a:rPr lang="en-US" altLang="zh-CN" b="1">
                <a:latin typeface="宋体" pitchFamily="2" charset="-122"/>
              </a:rPr>
              <a:t>(1</a:t>
            </a:r>
            <a:r>
              <a:rPr lang="zh-CN" altLang="en-US" b="1">
                <a:latin typeface="宋体" pitchFamily="2" charset="-122"/>
              </a:rPr>
              <a:t>）</a:t>
            </a:r>
            <a:r>
              <a:rPr lang="en-US" altLang="zh-CN" b="1">
                <a:latin typeface="宋体" pitchFamily="2" charset="-122"/>
              </a:rPr>
              <a:t>X = 11011  Y = -11111</a:t>
            </a:r>
          </a:p>
        </p:txBody>
      </p:sp>
      <p:sp>
        <p:nvSpPr>
          <p:cNvPr id="12292" name="Rectangle 4"/>
          <p:cNvSpPr>
            <a:spLocks noChangeArrowheads="1"/>
          </p:cNvSpPr>
          <p:nvPr/>
        </p:nvSpPr>
        <p:spPr bwMode="auto">
          <a:xfrm>
            <a:off x="152400" y="1295400"/>
            <a:ext cx="8686800" cy="31956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itchFamily="2" charset="-122"/>
              </a:rPr>
              <a:t>解：</a:t>
            </a: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0011011,[</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1100001,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0011111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0011011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  </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0011111</a:t>
            </a:r>
          </a:p>
          <a:p>
            <a:pPr eaLnBrk="0" hangingPunct="0">
              <a:spcBef>
                <a:spcPct val="50000"/>
              </a:spcBef>
            </a:pPr>
            <a:r>
              <a:rPr lang="en-US" altLang="zh-CN" b="1">
                <a:latin typeface="宋体" pitchFamily="2" charset="-122"/>
              </a:rPr>
              <a:t>      ____________________________</a:t>
            </a:r>
          </a:p>
          <a:p>
            <a:pPr eaLnBrk="0" hangingPunct="0">
              <a:spcBef>
                <a:spcPct val="50000"/>
              </a:spcBef>
            </a:pPr>
            <a:r>
              <a:rPr lang="zh-CN" altLang="en-US" b="1">
                <a:latin typeface="宋体" pitchFamily="2" charset="-122"/>
              </a:rPr>
              <a:t>　　　　　            </a:t>
            </a:r>
            <a:r>
              <a:rPr lang="en-US" altLang="zh-CN" b="1">
                <a:latin typeface="宋体" pitchFamily="2" charset="-122"/>
              </a:rPr>
              <a:t>0111010</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两个符号位出现</a:t>
            </a:r>
            <a:r>
              <a:rPr lang="zh-CN" altLang="en-US" b="1"/>
              <a:t>“</a:t>
            </a:r>
            <a:r>
              <a:rPr lang="en-US" altLang="zh-CN" b="1">
                <a:latin typeface="宋体" pitchFamily="2" charset="-122"/>
              </a:rPr>
              <a:t>01</a:t>
            </a:r>
            <a:r>
              <a:rPr lang="en-US" altLang="zh-CN" b="1"/>
              <a:t>”</a:t>
            </a:r>
            <a:r>
              <a:rPr lang="en-US" altLang="zh-CN" b="1">
                <a:latin typeface="宋体" pitchFamily="2" charset="-122"/>
              </a:rPr>
              <a:t>,</a:t>
            </a:r>
            <a:r>
              <a:rPr lang="zh-CN" altLang="en-US" b="1">
                <a:latin typeface="宋体" pitchFamily="2" charset="-122"/>
              </a:rPr>
              <a:t>表示有正溢出。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ox(in)">
                                      <p:cBhvr>
                                        <p:cTn id="7"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p:cNvSpPr>
            <a:spLocks noChangeArrowheads="1"/>
          </p:cNvSpPr>
          <p:nvPr/>
        </p:nvSpPr>
        <p:spPr bwMode="auto">
          <a:xfrm>
            <a:off x="228600" y="152400"/>
            <a:ext cx="85344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宋体" pitchFamily="2" charset="-122"/>
              </a:rPr>
              <a:t>(2</a:t>
            </a:r>
            <a:r>
              <a:rPr lang="zh-CN" altLang="en-US" b="1">
                <a:latin typeface="宋体" pitchFamily="2" charset="-122"/>
              </a:rPr>
              <a:t>）</a:t>
            </a:r>
            <a:r>
              <a:rPr lang="en-US" altLang="zh-CN" b="1">
                <a:latin typeface="宋体" pitchFamily="2" charset="-122"/>
              </a:rPr>
              <a:t>X = 10111  Y = 11011</a:t>
            </a:r>
          </a:p>
        </p:txBody>
      </p:sp>
      <p:sp>
        <p:nvSpPr>
          <p:cNvPr id="21508" name="Rectangle 4"/>
          <p:cNvSpPr>
            <a:spLocks noChangeArrowheads="1"/>
          </p:cNvSpPr>
          <p:nvPr/>
        </p:nvSpPr>
        <p:spPr bwMode="auto">
          <a:xfrm>
            <a:off x="228600" y="685800"/>
            <a:ext cx="8534400" cy="42910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itchFamily="2" charset="-122"/>
              </a:rPr>
              <a:t>解：</a:t>
            </a: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0010111,[</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0011011,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1100101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0010111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  </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1100101</a:t>
            </a:r>
            <a:r>
              <a:rPr lang="zh-CN" altLang="en-US" b="1">
                <a:latin typeface="宋体" pitchFamily="2" charset="-122"/>
              </a:rPr>
              <a:t>　</a:t>
            </a:r>
          </a:p>
          <a:p>
            <a:pPr eaLnBrk="0" hangingPunct="0">
              <a:spcBef>
                <a:spcPct val="50000"/>
              </a:spcBef>
            </a:pPr>
            <a:r>
              <a:rPr lang="zh-CN" altLang="en-US">
                <a:latin typeface="宋体" pitchFamily="2" charset="-122"/>
              </a:rPr>
              <a:t>    </a:t>
            </a:r>
            <a:r>
              <a:rPr lang="en-US" altLang="zh-CN">
                <a:latin typeface="宋体" pitchFamily="2" charset="-122"/>
              </a:rPr>
              <a:t>_________________________________</a:t>
            </a:r>
          </a:p>
          <a:p>
            <a:pPr eaLnBrk="0" hangingPunct="0">
              <a:spcBef>
                <a:spcPct val="50000"/>
              </a:spcBef>
            </a:pPr>
            <a:r>
              <a:rPr lang="zh-CN" altLang="en-US" b="1">
                <a:latin typeface="宋体" pitchFamily="2" charset="-122"/>
              </a:rPr>
              <a:t>　　　　　            </a:t>
            </a:r>
            <a:r>
              <a:rPr lang="en-US" altLang="zh-CN" b="1">
                <a:latin typeface="宋体" pitchFamily="2" charset="-122"/>
              </a:rPr>
              <a:t>1111100</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两个符号位出现</a:t>
            </a:r>
            <a:r>
              <a:rPr lang="zh-CN" altLang="en-US" b="1"/>
              <a:t>“</a:t>
            </a:r>
            <a:r>
              <a:rPr lang="en-US" altLang="zh-CN" b="1">
                <a:latin typeface="宋体" pitchFamily="2" charset="-122"/>
              </a:rPr>
              <a:t>11</a:t>
            </a:r>
            <a:r>
              <a:rPr lang="en-US" altLang="zh-CN" b="1"/>
              <a:t>”</a:t>
            </a:r>
            <a:r>
              <a:rPr lang="en-US" altLang="zh-CN" b="1">
                <a:latin typeface="宋体" pitchFamily="2" charset="-122"/>
              </a:rPr>
              <a:t>,</a:t>
            </a:r>
            <a:r>
              <a:rPr lang="zh-CN" altLang="en-US" b="1">
                <a:latin typeface="宋体" pitchFamily="2" charset="-122"/>
              </a:rPr>
              <a:t>表示无溢出</a:t>
            </a:r>
            <a:endParaRPr lang="zh-CN" altLang="en-US">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[X-Y]</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 111100, X-Y = -00100</a:t>
            </a:r>
          </a:p>
          <a:p>
            <a:pPr eaLnBrk="0" hangingPunct="0">
              <a:spcBef>
                <a:spcPct val="50000"/>
              </a:spcBef>
            </a:pPr>
            <a:endParaRPr lang="en-US" altLang="zh-CN" b="1">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blinds(horizontal)">
                                      <p:cBhvr>
                                        <p:cTn id="7" dur="500"/>
                                        <p:tgtEl>
                                          <p:spTgt spid="21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304800" y="304800"/>
            <a:ext cx="85344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b="1">
                <a:latin typeface="宋体" pitchFamily="2" charset="-122"/>
              </a:rPr>
              <a:t>(3</a:t>
            </a:r>
            <a:r>
              <a:rPr lang="zh-CN" altLang="en-US" b="1">
                <a:latin typeface="宋体" pitchFamily="2" charset="-122"/>
              </a:rPr>
              <a:t>）</a:t>
            </a:r>
            <a:r>
              <a:rPr lang="en-US" altLang="zh-CN" b="1">
                <a:latin typeface="宋体" pitchFamily="2" charset="-122"/>
              </a:rPr>
              <a:t>X = 11011  Y = -10011</a:t>
            </a:r>
            <a:endParaRPr lang="en-US" altLang="zh-CN">
              <a:latin typeface="宋体" pitchFamily="2" charset="-122"/>
              <a:cs typeface="Times New Roman" pitchFamily="18" charset="0"/>
            </a:endParaRPr>
          </a:p>
        </p:txBody>
      </p:sp>
      <p:sp>
        <p:nvSpPr>
          <p:cNvPr id="23555" name="Rectangle 3"/>
          <p:cNvSpPr>
            <a:spLocks noChangeArrowheads="1"/>
          </p:cNvSpPr>
          <p:nvPr/>
        </p:nvSpPr>
        <p:spPr bwMode="auto">
          <a:xfrm>
            <a:off x="304800" y="838200"/>
            <a:ext cx="8534400" cy="37433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itchFamily="2" charset="-122"/>
              </a:rPr>
              <a:t>解：</a:t>
            </a: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0011011,[</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1101101,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0010011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0011011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  </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0010011</a:t>
            </a:r>
            <a:r>
              <a:rPr lang="zh-CN" altLang="en-US" b="1">
                <a:latin typeface="宋体" pitchFamily="2" charset="-122"/>
              </a:rPr>
              <a:t>　</a:t>
            </a:r>
          </a:p>
          <a:p>
            <a:pPr eaLnBrk="0" hangingPunct="0">
              <a:spcBef>
                <a:spcPct val="50000"/>
              </a:spcBef>
            </a:pPr>
            <a:r>
              <a:rPr lang="zh-CN" altLang="en-US">
                <a:latin typeface="宋体" pitchFamily="2" charset="-122"/>
              </a:rPr>
              <a:t>      </a:t>
            </a:r>
            <a:r>
              <a:rPr lang="en-US" altLang="zh-CN">
                <a:latin typeface="宋体" pitchFamily="2" charset="-122"/>
              </a:rPr>
              <a:t>____________________________  </a:t>
            </a:r>
          </a:p>
          <a:p>
            <a:pPr eaLnBrk="0" hangingPunct="0">
              <a:spcBef>
                <a:spcPct val="50000"/>
              </a:spcBef>
            </a:pPr>
            <a:r>
              <a:rPr lang="zh-CN" altLang="en-US" b="1">
                <a:latin typeface="宋体" pitchFamily="2" charset="-122"/>
              </a:rPr>
              <a:t>　　　　　            </a:t>
            </a:r>
            <a:r>
              <a:rPr lang="en-US" altLang="zh-CN" b="1">
                <a:latin typeface="宋体" pitchFamily="2" charset="-122"/>
              </a:rPr>
              <a:t>0101110</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两个符号位出现</a:t>
            </a:r>
            <a:r>
              <a:rPr lang="zh-CN" altLang="en-US" b="1"/>
              <a:t>“</a:t>
            </a:r>
            <a:r>
              <a:rPr lang="en-US" altLang="zh-CN" b="1">
                <a:latin typeface="宋体" pitchFamily="2" charset="-122"/>
              </a:rPr>
              <a:t>01</a:t>
            </a:r>
            <a:r>
              <a:rPr lang="en-US" altLang="zh-CN" b="1"/>
              <a:t>”</a:t>
            </a:r>
            <a:r>
              <a:rPr lang="en-US" altLang="zh-CN" b="1">
                <a:latin typeface="宋体" pitchFamily="2" charset="-122"/>
              </a:rPr>
              <a:t>, </a:t>
            </a:r>
            <a:r>
              <a:rPr lang="zh-CN" altLang="en-US" b="1">
                <a:latin typeface="宋体" pitchFamily="2" charset="-122"/>
              </a:rPr>
              <a:t>表示有正溢出。</a:t>
            </a:r>
            <a:endParaRPr lang="zh-CN" altLang="en-US">
              <a:latin typeface="宋体" pitchFamily="2" charset="-122"/>
            </a:endParaRPr>
          </a:p>
          <a:p>
            <a:pPr eaLnBrk="0" hangingPunct="0">
              <a:spcBef>
                <a:spcPct val="50000"/>
              </a:spcBef>
            </a:pPr>
            <a:endParaRPr lang="en-US" altLang="zh-CN">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checkerboard(across)">
                                      <p:cBhvr>
                                        <p:cTn id="7" dur="500"/>
                                        <p:tgtEl>
                                          <p:spTgt spid="23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animBg="1"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
          <p:cNvSpPr>
            <a:spLocks noChangeArrowheads="1"/>
          </p:cNvSpPr>
          <p:nvPr/>
        </p:nvSpPr>
        <p:spPr bwMode="auto">
          <a:xfrm>
            <a:off x="152400" y="76200"/>
            <a:ext cx="8839200" cy="11604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宋体" pitchFamily="2" charset="-122"/>
              </a:rPr>
              <a:t>7</a:t>
            </a:r>
            <a:r>
              <a:rPr lang="zh-CN" altLang="en-US" sz="2800" b="1">
                <a:latin typeface="宋体" pitchFamily="2" charset="-122"/>
              </a:rPr>
              <a:t>．用原码阵列乘法器、补码阵列乘法器分别计算</a:t>
            </a:r>
            <a:r>
              <a:rPr lang="en-US" altLang="zh-CN" sz="2800" b="1">
                <a:latin typeface="宋体" pitchFamily="2" charset="-122"/>
              </a:rPr>
              <a:t>X×Y</a:t>
            </a:r>
            <a:r>
              <a:rPr lang="zh-CN" altLang="en-US" sz="2800" b="1">
                <a:latin typeface="宋体" pitchFamily="2" charset="-122"/>
              </a:rPr>
              <a:t>。</a:t>
            </a:r>
            <a:endParaRPr lang="zh-CN" altLang="en-US" sz="2800">
              <a:latin typeface="宋体" pitchFamily="2" charset="-122"/>
            </a:endParaRPr>
          </a:p>
          <a:p>
            <a:pPr eaLnBrk="0" hangingPunct="0">
              <a:spcBef>
                <a:spcPct val="50000"/>
              </a:spcBef>
            </a:pPr>
            <a:r>
              <a:rPr lang="en-US" altLang="zh-CN" sz="2800" b="1">
                <a:latin typeface="宋体" pitchFamily="2" charset="-122"/>
              </a:rPr>
              <a:t>(1) X = 11011 Y = -11111</a:t>
            </a:r>
            <a:endParaRPr lang="en-US" altLang="zh-CN" sz="2800">
              <a:latin typeface="宋体" pitchFamily="2" charset="-122"/>
            </a:endParaRPr>
          </a:p>
        </p:txBody>
      </p:sp>
      <p:sp>
        <p:nvSpPr>
          <p:cNvPr id="26652" name="Rectangle 28"/>
          <p:cNvSpPr>
            <a:spLocks noChangeArrowheads="1"/>
          </p:cNvSpPr>
          <p:nvPr/>
        </p:nvSpPr>
        <p:spPr bwMode="auto">
          <a:xfrm>
            <a:off x="228600" y="1295400"/>
            <a:ext cx="3962400" cy="50085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宋体" pitchFamily="2" charset="-122"/>
              </a:rPr>
              <a:t>解</a:t>
            </a:r>
            <a:r>
              <a:rPr lang="en-US" altLang="zh-CN" sz="2800" b="1">
                <a:latin typeface="宋体" pitchFamily="2" charset="-122"/>
              </a:rPr>
              <a:t>: </a:t>
            </a:r>
            <a:r>
              <a:rPr lang="zh-CN" altLang="en-US" sz="2800" b="1">
                <a:latin typeface="宋体" pitchFamily="2" charset="-122"/>
              </a:rPr>
              <a:t>用原码阵列乘法器</a:t>
            </a:r>
            <a:endParaRPr lang="zh-CN" altLang="en-US" sz="2800">
              <a:latin typeface="宋体" pitchFamily="2" charset="-122"/>
            </a:endParaRPr>
          </a:p>
          <a:p>
            <a:pPr eaLnBrk="0" hangingPunct="0">
              <a:spcBef>
                <a:spcPct val="50000"/>
              </a:spcBef>
            </a:pPr>
            <a:r>
              <a:rPr lang="zh-CN" altLang="en-US" sz="2800" b="1">
                <a:latin typeface="宋体" pitchFamily="2" charset="-122"/>
              </a:rPr>
              <a:t>    </a:t>
            </a:r>
            <a:r>
              <a:rPr lang="en-US" altLang="zh-CN" sz="2800" b="1">
                <a:latin typeface="宋体" pitchFamily="2" charset="-122"/>
              </a:rPr>
              <a:t>[</a:t>
            </a:r>
            <a:r>
              <a:rPr lang="zh-CN" altLang="en-US" sz="2800" b="1">
                <a:latin typeface="宋体" pitchFamily="2" charset="-122"/>
              </a:rPr>
              <a:t>ｘ</a:t>
            </a:r>
            <a:r>
              <a:rPr lang="en-US" altLang="zh-CN" sz="2800" b="1">
                <a:latin typeface="宋体" pitchFamily="2" charset="-122"/>
              </a:rPr>
              <a:t>]</a:t>
            </a:r>
            <a:r>
              <a:rPr lang="zh-CN" altLang="en-US" sz="2800" b="1" baseline="-30000">
                <a:latin typeface="宋体" pitchFamily="2" charset="-122"/>
              </a:rPr>
              <a:t>原</a:t>
            </a:r>
            <a:r>
              <a:rPr lang="zh-CN" altLang="en-US" sz="2800" b="1">
                <a:latin typeface="宋体" pitchFamily="2" charset="-122"/>
              </a:rPr>
              <a:t> ＝</a:t>
            </a:r>
            <a:r>
              <a:rPr lang="en-US" altLang="zh-CN" sz="2800" b="1">
                <a:latin typeface="宋体" pitchFamily="2" charset="-122"/>
              </a:rPr>
              <a:t>011011 </a:t>
            </a:r>
          </a:p>
          <a:p>
            <a:pPr eaLnBrk="0" hangingPunct="0">
              <a:spcBef>
                <a:spcPct val="50000"/>
              </a:spcBef>
            </a:pPr>
            <a:r>
              <a:rPr lang="en-US" altLang="zh-CN" sz="2800" b="1">
                <a:latin typeface="宋体" pitchFamily="2" charset="-122"/>
              </a:rPr>
              <a:t>    [</a:t>
            </a:r>
            <a:r>
              <a:rPr lang="zh-CN" altLang="en-US" sz="2800" b="1">
                <a:latin typeface="宋体" pitchFamily="2" charset="-122"/>
              </a:rPr>
              <a:t>ｙ</a:t>
            </a:r>
            <a:r>
              <a:rPr lang="en-US" altLang="zh-CN" sz="2800" b="1">
                <a:latin typeface="宋体" pitchFamily="2" charset="-122"/>
              </a:rPr>
              <a:t>]</a:t>
            </a:r>
            <a:r>
              <a:rPr lang="zh-CN" altLang="en-US" sz="2800" b="1" baseline="-30000">
                <a:latin typeface="宋体" pitchFamily="2" charset="-122"/>
              </a:rPr>
              <a:t>原</a:t>
            </a:r>
            <a:r>
              <a:rPr lang="zh-CN" altLang="en-US" sz="2800" b="1">
                <a:latin typeface="宋体" pitchFamily="2" charset="-122"/>
              </a:rPr>
              <a:t> ＝ </a:t>
            </a:r>
            <a:r>
              <a:rPr lang="en-US" altLang="zh-CN" sz="2800" b="1">
                <a:latin typeface="宋体" pitchFamily="2" charset="-122"/>
              </a:rPr>
              <a:t>111111</a:t>
            </a:r>
            <a:endParaRPr lang="en-US" altLang="zh-CN" sz="2800">
              <a:latin typeface="宋体" pitchFamily="2" charset="-122"/>
            </a:endParaRPr>
          </a:p>
          <a:p>
            <a:pPr eaLnBrk="0" hangingPunct="0">
              <a:spcBef>
                <a:spcPct val="50000"/>
              </a:spcBef>
            </a:pPr>
            <a:r>
              <a:rPr lang="en-US" altLang="zh-CN" sz="2800" b="1">
                <a:latin typeface="宋体" pitchFamily="2" charset="-122"/>
              </a:rPr>
              <a:t>  </a:t>
            </a:r>
            <a:r>
              <a:rPr lang="zh-CN" altLang="en-US" sz="2800" b="1">
                <a:latin typeface="宋体" pitchFamily="2" charset="-122"/>
              </a:rPr>
              <a:t>　符号位单独运算：</a:t>
            </a:r>
          </a:p>
          <a:p>
            <a:pPr eaLnBrk="0" hangingPunct="0">
              <a:spcBef>
                <a:spcPct val="50000"/>
              </a:spcBef>
            </a:pPr>
            <a:r>
              <a:rPr lang="zh-CN" altLang="en-US" sz="2800" b="1">
                <a:latin typeface="宋体" pitchFamily="2" charset="-122"/>
              </a:rPr>
              <a:t>    </a:t>
            </a:r>
            <a:r>
              <a:rPr lang="en-US" altLang="zh-CN" sz="2800" b="1">
                <a:latin typeface="宋体" pitchFamily="2" charset="-122"/>
              </a:rPr>
              <a:t>X</a:t>
            </a:r>
            <a:r>
              <a:rPr lang="en-US" altLang="zh-CN" sz="2800" b="1" baseline="-30000">
                <a:latin typeface="宋体" pitchFamily="2" charset="-122"/>
              </a:rPr>
              <a:t>f</a:t>
            </a:r>
            <a:r>
              <a:rPr lang="en-US" altLang="zh-CN" sz="2800" b="1">
                <a:latin typeface="宋体" pitchFamily="2" charset="-122"/>
              </a:rPr>
              <a:t>⊕Y</a:t>
            </a:r>
            <a:r>
              <a:rPr lang="en-US" altLang="zh-CN" sz="2800" b="1" baseline="-30000">
                <a:latin typeface="宋体" pitchFamily="2" charset="-122"/>
              </a:rPr>
              <a:t>f</a:t>
            </a:r>
            <a:r>
              <a:rPr lang="en-US" altLang="zh-CN" sz="2800" b="1">
                <a:latin typeface="宋体" pitchFamily="2" charset="-122"/>
              </a:rPr>
              <a:t> = 1</a:t>
            </a:r>
            <a:endParaRPr lang="en-US" altLang="zh-CN" sz="2800">
              <a:latin typeface="宋体" pitchFamily="2" charset="-122"/>
            </a:endParaRPr>
          </a:p>
          <a:p>
            <a:pPr eaLnBrk="0" hangingPunct="0">
              <a:spcBef>
                <a:spcPct val="50000"/>
              </a:spcBef>
            </a:pPr>
            <a:r>
              <a:rPr lang="en-US" altLang="zh-CN" sz="2800" b="1">
                <a:latin typeface="宋体" pitchFamily="2" charset="-122"/>
              </a:rPr>
              <a:t>    |</a:t>
            </a:r>
            <a:r>
              <a:rPr lang="zh-CN" altLang="en-US" sz="2800" b="1">
                <a:latin typeface="宋体" pitchFamily="2" charset="-122"/>
              </a:rPr>
              <a:t>ｘ</a:t>
            </a:r>
            <a:r>
              <a:rPr lang="en-US" altLang="zh-CN" sz="2800" b="1">
                <a:latin typeface="宋体" pitchFamily="2" charset="-122"/>
              </a:rPr>
              <a:t>|</a:t>
            </a:r>
            <a:r>
              <a:rPr lang="zh-CN" altLang="en-US" sz="2800" b="1">
                <a:latin typeface="宋体" pitchFamily="2" charset="-122"/>
              </a:rPr>
              <a:t>＝</a:t>
            </a:r>
            <a:r>
              <a:rPr lang="en-US" altLang="zh-CN" sz="2800" b="1">
                <a:latin typeface="宋体" pitchFamily="2" charset="-122"/>
              </a:rPr>
              <a:t>11011</a:t>
            </a:r>
          </a:p>
          <a:p>
            <a:pPr eaLnBrk="0" hangingPunct="0">
              <a:spcBef>
                <a:spcPct val="50000"/>
              </a:spcBef>
            </a:pPr>
            <a:r>
              <a:rPr lang="en-US" altLang="zh-CN" sz="2800" b="1">
                <a:latin typeface="宋体" pitchFamily="2" charset="-122"/>
              </a:rPr>
              <a:t>    |</a:t>
            </a:r>
            <a:r>
              <a:rPr lang="zh-CN" altLang="en-US" sz="2800" b="1">
                <a:latin typeface="宋体" pitchFamily="2" charset="-122"/>
              </a:rPr>
              <a:t>ｙ</a:t>
            </a:r>
            <a:r>
              <a:rPr lang="en-US" altLang="zh-CN" sz="2800" b="1">
                <a:latin typeface="宋体" pitchFamily="2" charset="-122"/>
              </a:rPr>
              <a:t>|</a:t>
            </a:r>
            <a:r>
              <a:rPr lang="zh-CN" altLang="en-US" sz="2800" b="1">
                <a:latin typeface="宋体" pitchFamily="2" charset="-122"/>
              </a:rPr>
              <a:t>＝</a:t>
            </a:r>
            <a:r>
              <a:rPr lang="en-US" altLang="zh-CN" sz="2800" b="1">
                <a:latin typeface="宋体" pitchFamily="2" charset="-122"/>
              </a:rPr>
              <a:t>11111</a:t>
            </a:r>
          </a:p>
          <a:p>
            <a:pPr eaLnBrk="0" hangingPunct="0">
              <a:spcBef>
                <a:spcPct val="50000"/>
              </a:spcBef>
            </a:pPr>
            <a:endParaRPr lang="en-US" altLang="zh-CN" sz="2800" b="1">
              <a:latin typeface="宋体" pitchFamily="2" charset="-122"/>
            </a:endParaRPr>
          </a:p>
        </p:txBody>
      </p:sp>
      <p:sp>
        <p:nvSpPr>
          <p:cNvPr id="26655" name="Rectangle 31"/>
          <p:cNvSpPr>
            <a:spLocks noChangeArrowheads="1"/>
          </p:cNvSpPr>
          <p:nvPr/>
        </p:nvSpPr>
        <p:spPr bwMode="auto">
          <a:xfrm>
            <a:off x="4267200" y="1295400"/>
            <a:ext cx="4724400" cy="52974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1200" b="1">
                <a:latin typeface="宋体" pitchFamily="2" charset="-122"/>
              </a:rPr>
              <a:t>　</a:t>
            </a:r>
            <a:r>
              <a:rPr lang="zh-CN" altLang="en-US" b="1">
                <a:latin typeface="宋体" pitchFamily="2" charset="-122"/>
              </a:rPr>
              <a:t>　　　       </a:t>
            </a:r>
            <a:r>
              <a:rPr lang="en-US" altLang="zh-CN" b="1">
                <a:latin typeface="宋体" pitchFamily="2" charset="-122"/>
              </a:rPr>
              <a:t>1 1 0 1 1</a:t>
            </a:r>
            <a:endParaRPr lang="en-US" altLang="zh-CN">
              <a:latin typeface="宋体" pitchFamily="2" charset="-122"/>
            </a:endParaRPr>
          </a:p>
          <a:p>
            <a:pPr algn="just" eaLnBrk="0" hangingPunct="0"/>
            <a:r>
              <a:rPr lang="zh-CN" altLang="en-US" b="1">
                <a:latin typeface="宋体" pitchFamily="2" charset="-122"/>
              </a:rPr>
              <a:t>　　   </a:t>
            </a:r>
            <a:r>
              <a:rPr lang="en-US" altLang="zh-CN" b="1">
                <a:latin typeface="宋体" pitchFamily="2" charset="-122"/>
              </a:rPr>
              <a:t>×)    1 1 1 1 1 </a:t>
            </a:r>
            <a:r>
              <a:rPr lang="zh-CN" altLang="en-US" b="1">
                <a:latin typeface="宋体" pitchFamily="2" charset="-122"/>
              </a:rPr>
              <a:t>　　</a:t>
            </a:r>
            <a:endParaRPr lang="zh-CN" altLang="en-US">
              <a:latin typeface="宋体" pitchFamily="2" charset="-122"/>
            </a:endParaRPr>
          </a:p>
          <a:p>
            <a:pPr algn="just" eaLnBrk="0" hangingPunct="0"/>
            <a:r>
              <a:rPr lang="zh-CN" altLang="en-US" b="1">
                <a:latin typeface="宋体" pitchFamily="2" charset="-122"/>
              </a:rPr>
              <a:t>    　</a:t>
            </a:r>
            <a:r>
              <a:rPr lang="en-US" altLang="zh-CN" b="1"/>
              <a:t>——————————</a:t>
            </a:r>
            <a:r>
              <a:rPr lang="zh-CN" altLang="en-US" b="1">
                <a:latin typeface="宋体" pitchFamily="2" charset="-122"/>
              </a:rPr>
              <a:t>　</a:t>
            </a:r>
          </a:p>
          <a:p>
            <a:pPr algn="just" eaLnBrk="0" hangingPunct="0"/>
            <a:r>
              <a:rPr lang="zh-CN" altLang="en-US" b="1">
                <a:latin typeface="宋体" pitchFamily="2" charset="-122"/>
              </a:rPr>
              <a:t>　　　　      </a:t>
            </a:r>
            <a:r>
              <a:rPr lang="en-US" altLang="zh-CN" b="1">
                <a:latin typeface="宋体" pitchFamily="2" charset="-122"/>
              </a:rPr>
              <a:t>1 1 0 1 1</a:t>
            </a:r>
            <a:endParaRPr lang="en-US" altLang="zh-CN">
              <a:latin typeface="宋体" pitchFamily="2" charset="-122"/>
            </a:endParaRPr>
          </a:p>
          <a:p>
            <a:pPr algn="just" eaLnBrk="0" hangingPunct="0"/>
            <a:r>
              <a:rPr lang="zh-CN" altLang="en-US" b="1">
                <a:latin typeface="宋体" pitchFamily="2" charset="-122"/>
              </a:rPr>
              <a:t>　　　　　  </a:t>
            </a:r>
            <a:r>
              <a:rPr lang="en-US" altLang="zh-CN" b="1">
                <a:latin typeface="宋体" pitchFamily="2" charset="-122"/>
              </a:rPr>
              <a:t>1 1 0 1 1</a:t>
            </a:r>
          </a:p>
          <a:p>
            <a:pPr algn="just" eaLnBrk="0" hangingPunct="0"/>
            <a:r>
              <a:rPr lang="en-US" altLang="zh-CN" b="1">
                <a:latin typeface="宋体" pitchFamily="2" charset="-122"/>
              </a:rPr>
              <a:t>          1 1 0 1 1</a:t>
            </a:r>
            <a:endParaRPr lang="en-US" altLang="zh-CN">
              <a:latin typeface="宋体" pitchFamily="2" charset="-122"/>
            </a:endParaRPr>
          </a:p>
          <a:p>
            <a:pPr algn="just" eaLnBrk="0" hangingPunct="0"/>
            <a:r>
              <a:rPr lang="zh-CN" altLang="en-US" b="1">
                <a:latin typeface="宋体" pitchFamily="2" charset="-122"/>
              </a:rPr>
              <a:t>　　　　</a:t>
            </a:r>
            <a:r>
              <a:rPr lang="en-US" altLang="zh-CN" b="1">
                <a:latin typeface="宋体" pitchFamily="2" charset="-122"/>
              </a:rPr>
              <a:t>1 1 0 1 1</a:t>
            </a:r>
          </a:p>
          <a:p>
            <a:pPr algn="just" eaLnBrk="0" hangingPunct="0"/>
            <a:r>
              <a:rPr lang="en-US" altLang="zh-CN" b="1">
                <a:latin typeface="宋体" pitchFamily="2" charset="-122"/>
              </a:rPr>
              <a:t>    </a:t>
            </a:r>
            <a:r>
              <a:rPr lang="zh-CN" altLang="en-US" b="1">
                <a:latin typeface="宋体" pitchFamily="2" charset="-122"/>
              </a:rPr>
              <a:t>　</a:t>
            </a:r>
            <a:r>
              <a:rPr lang="en-US" altLang="zh-CN" b="1">
                <a:latin typeface="宋体" pitchFamily="2" charset="-122"/>
              </a:rPr>
              <a:t>1 1 0 1 1</a:t>
            </a:r>
            <a:endParaRPr lang="en-US" altLang="zh-CN">
              <a:latin typeface="宋体" pitchFamily="2" charset="-122"/>
            </a:endParaRPr>
          </a:p>
          <a:p>
            <a:pPr algn="just" eaLnBrk="0" hangingPunct="0"/>
            <a:r>
              <a:rPr lang="en-US" altLang="zh-CN" b="1">
                <a:latin typeface="宋体" pitchFamily="2" charset="-122"/>
              </a:rPr>
              <a:t>    </a:t>
            </a:r>
            <a:r>
              <a:rPr lang="en-US" altLang="zh-CN" b="1"/>
              <a:t>———————————</a:t>
            </a:r>
            <a:endParaRPr lang="en-US" altLang="zh-CN" b="1">
              <a:latin typeface="宋体" pitchFamily="2" charset="-122"/>
            </a:endParaRPr>
          </a:p>
          <a:p>
            <a:pPr algn="just" eaLnBrk="0" hangingPunct="0"/>
            <a:r>
              <a:rPr lang="zh-CN" altLang="en-US" b="1">
                <a:latin typeface="宋体" pitchFamily="2" charset="-122"/>
              </a:rPr>
              <a:t>　  </a:t>
            </a:r>
            <a:r>
              <a:rPr lang="en-US" altLang="zh-CN" b="1">
                <a:latin typeface="宋体" pitchFamily="2" charset="-122"/>
              </a:rPr>
              <a:t>1 1 0 1 0 0 0 1 0 1</a:t>
            </a:r>
            <a:endParaRPr lang="en-US" altLang="zh-CN">
              <a:latin typeface="宋体" pitchFamily="2" charset="-122"/>
            </a:endParaRPr>
          </a:p>
          <a:p>
            <a:pPr>
              <a:spcBef>
                <a:spcPct val="50000"/>
              </a:spcBef>
            </a:pPr>
            <a:r>
              <a:rPr lang="en-US" altLang="zh-CN" b="1">
                <a:latin typeface="宋体" pitchFamily="2" charset="-122"/>
              </a:rPr>
              <a:t>[X×Y]</a:t>
            </a:r>
            <a:r>
              <a:rPr lang="zh-CN" altLang="en-US" b="1" baseline="-30000">
                <a:latin typeface="宋体" pitchFamily="2" charset="-122"/>
              </a:rPr>
              <a:t>原</a:t>
            </a:r>
            <a:r>
              <a:rPr lang="zh-CN" altLang="en-US" b="1">
                <a:latin typeface="宋体" pitchFamily="2" charset="-122"/>
              </a:rPr>
              <a:t> ＝ </a:t>
            </a:r>
            <a:r>
              <a:rPr lang="en-US" altLang="zh-CN" b="1">
                <a:latin typeface="宋体" pitchFamily="2" charset="-122"/>
              </a:rPr>
              <a:t>1101000101 </a:t>
            </a:r>
          </a:p>
          <a:p>
            <a:pPr>
              <a:spcBef>
                <a:spcPct val="50000"/>
              </a:spcBef>
            </a:pPr>
            <a:r>
              <a:rPr lang="en-US" altLang="zh-CN" b="1">
                <a:latin typeface="宋体" pitchFamily="2" charset="-122"/>
              </a:rPr>
              <a:t> </a:t>
            </a:r>
            <a:r>
              <a:rPr lang="en-US" altLang="zh-CN" sz="2800" b="1">
                <a:latin typeface="宋体" pitchFamily="2" charset="-122"/>
              </a:rPr>
              <a:t>X×Y = -1101000101</a:t>
            </a:r>
            <a:endParaRPr lang="en-US" altLang="zh-CN">
              <a:latin typeface="宋体" pitchFamily="2" charset="-122"/>
            </a:endParaRPr>
          </a:p>
          <a:p>
            <a:pPr eaLnBrk="0" hangingPunct="0"/>
            <a:endParaRPr lang="en-US" altLang="zh-CN">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52"/>
                                        </p:tgtEl>
                                        <p:attrNameLst>
                                          <p:attrName>style.visibility</p:attrName>
                                        </p:attrNameLst>
                                      </p:cBhvr>
                                      <p:to>
                                        <p:strVal val="visible"/>
                                      </p:to>
                                    </p:set>
                                    <p:animEffect transition="in" filter="blinds(horizontal)">
                                      <p:cBhvr>
                                        <p:cTn id="7" dur="500"/>
                                        <p:tgtEl>
                                          <p:spTgt spid="26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55"/>
                                        </p:tgtEl>
                                        <p:attrNameLst>
                                          <p:attrName>style.visibility</p:attrName>
                                        </p:attrNameLst>
                                      </p:cBhvr>
                                      <p:to>
                                        <p:strVal val="visible"/>
                                      </p:to>
                                    </p:set>
                                    <p:animEffect transition="in" filter="blinds(horizontal)">
                                      <p:cBhvr>
                                        <p:cTn id="12" dur="500"/>
                                        <p:tgtEl>
                                          <p:spTgt spid="26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2" grpId="0" animBg="1" autoUpdateAnimBg="0"/>
      <p:bldP spid="26655" grpId="0" animBg="1"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ChangeArrowheads="1"/>
          </p:cNvSpPr>
          <p:nvPr/>
        </p:nvSpPr>
        <p:spPr bwMode="auto">
          <a:xfrm>
            <a:off x="152400" y="152400"/>
            <a:ext cx="8763000" cy="20240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300" b="1">
                <a:latin typeface="宋体" pitchFamily="2" charset="-122"/>
              </a:rPr>
              <a:t>用补码阵列乘法器 </a:t>
            </a:r>
            <a:endParaRPr lang="zh-CN" altLang="en-US" sz="2300">
              <a:latin typeface="宋体" pitchFamily="2" charset="-122"/>
            </a:endParaRPr>
          </a:p>
          <a:p>
            <a:pPr eaLnBrk="0" hangingPunct="0">
              <a:spcBef>
                <a:spcPct val="50000"/>
              </a:spcBef>
            </a:pPr>
            <a:r>
              <a:rPr lang="zh-CN" altLang="en-US" sz="2300" b="1">
                <a:latin typeface="宋体" pitchFamily="2" charset="-122"/>
              </a:rPr>
              <a:t>  </a:t>
            </a:r>
            <a:r>
              <a:rPr lang="en-US" altLang="zh-CN" sz="2300" b="1">
                <a:latin typeface="宋体" pitchFamily="2" charset="-122"/>
              </a:rPr>
              <a:t>[</a:t>
            </a:r>
            <a:r>
              <a:rPr lang="zh-CN" altLang="en-US" sz="2300" b="1">
                <a:latin typeface="宋体" pitchFamily="2" charset="-122"/>
              </a:rPr>
              <a:t>ｘ</a:t>
            </a:r>
            <a:r>
              <a:rPr lang="en-US" altLang="zh-CN" sz="2300" b="1">
                <a:latin typeface="宋体" pitchFamily="2" charset="-122"/>
              </a:rPr>
              <a:t>]</a:t>
            </a:r>
            <a:r>
              <a:rPr lang="zh-CN" altLang="en-US" sz="2300" b="1" baseline="-30000">
                <a:latin typeface="宋体" pitchFamily="2" charset="-122"/>
              </a:rPr>
              <a:t>补</a:t>
            </a:r>
            <a:r>
              <a:rPr lang="zh-CN" altLang="en-US" sz="2300" b="1">
                <a:latin typeface="宋体" pitchFamily="2" charset="-122"/>
              </a:rPr>
              <a:t> ＝</a:t>
            </a:r>
            <a:r>
              <a:rPr lang="en-US" altLang="zh-CN" sz="2300" b="1">
                <a:latin typeface="宋体" pitchFamily="2" charset="-122"/>
              </a:rPr>
              <a:t>011011 [</a:t>
            </a:r>
            <a:r>
              <a:rPr lang="zh-CN" altLang="en-US" sz="2300" b="1">
                <a:latin typeface="宋体" pitchFamily="2" charset="-122"/>
              </a:rPr>
              <a:t>ｙ</a:t>
            </a:r>
            <a:r>
              <a:rPr lang="en-US" altLang="zh-CN" sz="2300" b="1">
                <a:latin typeface="宋体" pitchFamily="2" charset="-122"/>
              </a:rPr>
              <a:t>]</a:t>
            </a:r>
            <a:r>
              <a:rPr lang="zh-CN" altLang="en-US" sz="2300" b="1" baseline="-30000">
                <a:latin typeface="宋体" pitchFamily="2" charset="-122"/>
              </a:rPr>
              <a:t>补</a:t>
            </a:r>
            <a:r>
              <a:rPr lang="zh-CN" altLang="en-US" sz="2300" b="1">
                <a:latin typeface="宋体" pitchFamily="2" charset="-122"/>
              </a:rPr>
              <a:t> ＝ </a:t>
            </a:r>
            <a:r>
              <a:rPr lang="en-US" altLang="zh-CN" sz="2300" b="1">
                <a:latin typeface="宋体" pitchFamily="2" charset="-122"/>
              </a:rPr>
              <a:t>100001</a:t>
            </a:r>
            <a:endParaRPr lang="en-US" altLang="zh-CN" sz="2300">
              <a:latin typeface="宋体" pitchFamily="2" charset="-122"/>
            </a:endParaRPr>
          </a:p>
          <a:p>
            <a:pPr eaLnBrk="0" hangingPunct="0">
              <a:spcBef>
                <a:spcPct val="50000"/>
              </a:spcBef>
            </a:pPr>
            <a:r>
              <a:rPr lang="en-US" altLang="zh-CN" sz="2300" b="1">
                <a:latin typeface="宋体" pitchFamily="2" charset="-122"/>
              </a:rPr>
              <a:t>  </a:t>
            </a:r>
            <a:r>
              <a:rPr lang="zh-CN" altLang="en-US" sz="2300" b="1">
                <a:latin typeface="宋体" pitchFamily="2" charset="-122"/>
              </a:rPr>
              <a:t>符号位单独运算：</a:t>
            </a:r>
            <a:r>
              <a:rPr lang="en-US" altLang="zh-CN" sz="2300" b="1">
                <a:latin typeface="宋体" pitchFamily="2" charset="-122"/>
              </a:rPr>
              <a:t>X</a:t>
            </a:r>
            <a:r>
              <a:rPr lang="en-US" altLang="zh-CN" sz="2300" b="1" baseline="-30000">
                <a:latin typeface="宋体" pitchFamily="2" charset="-122"/>
              </a:rPr>
              <a:t>f</a:t>
            </a:r>
            <a:r>
              <a:rPr lang="en-US" altLang="zh-CN" sz="2300" b="1">
                <a:latin typeface="宋体" pitchFamily="2" charset="-122"/>
              </a:rPr>
              <a:t>⊕Y</a:t>
            </a:r>
            <a:r>
              <a:rPr lang="en-US" altLang="zh-CN" sz="2300" b="1" baseline="-30000">
                <a:latin typeface="宋体" pitchFamily="2" charset="-122"/>
              </a:rPr>
              <a:t>f</a:t>
            </a:r>
            <a:r>
              <a:rPr lang="en-US" altLang="zh-CN" sz="2300" b="1">
                <a:latin typeface="宋体" pitchFamily="2" charset="-122"/>
              </a:rPr>
              <a:t> = 1</a:t>
            </a:r>
            <a:endParaRPr lang="en-US" altLang="zh-CN" sz="2300">
              <a:latin typeface="宋体" pitchFamily="2" charset="-122"/>
            </a:endParaRPr>
          </a:p>
          <a:p>
            <a:pPr eaLnBrk="0" hangingPunct="0">
              <a:spcBef>
                <a:spcPct val="50000"/>
              </a:spcBef>
            </a:pPr>
            <a:r>
              <a:rPr lang="en-US" altLang="zh-CN" sz="2300" b="1">
                <a:latin typeface="宋体" pitchFamily="2" charset="-122"/>
              </a:rPr>
              <a:t>  </a:t>
            </a:r>
            <a:r>
              <a:rPr lang="zh-CN" altLang="en-US" sz="2300" b="1">
                <a:latin typeface="宋体" pitchFamily="2" charset="-122"/>
              </a:rPr>
              <a:t>算前求补器输出 </a:t>
            </a:r>
            <a:r>
              <a:rPr lang="en-US" altLang="zh-CN" sz="2300" b="1">
                <a:latin typeface="宋体" pitchFamily="2" charset="-122"/>
              </a:rPr>
              <a:t>|</a:t>
            </a:r>
            <a:r>
              <a:rPr lang="zh-CN" altLang="en-US" sz="2300" b="1">
                <a:latin typeface="宋体" pitchFamily="2" charset="-122"/>
              </a:rPr>
              <a:t>ｘ</a:t>
            </a:r>
            <a:r>
              <a:rPr lang="en-US" altLang="zh-CN" sz="2300" b="1">
                <a:latin typeface="宋体" pitchFamily="2" charset="-122"/>
              </a:rPr>
              <a:t>|</a:t>
            </a:r>
            <a:r>
              <a:rPr lang="zh-CN" altLang="en-US" sz="2300" b="1">
                <a:latin typeface="宋体" pitchFamily="2" charset="-122"/>
              </a:rPr>
              <a:t>＝</a:t>
            </a:r>
            <a:r>
              <a:rPr lang="en-US" altLang="zh-CN" sz="2300" b="1">
                <a:latin typeface="宋体" pitchFamily="2" charset="-122"/>
              </a:rPr>
              <a:t>11011,|</a:t>
            </a:r>
            <a:r>
              <a:rPr lang="zh-CN" altLang="en-US" sz="2300" b="1">
                <a:latin typeface="宋体" pitchFamily="2" charset="-122"/>
              </a:rPr>
              <a:t>ｙ</a:t>
            </a:r>
            <a:r>
              <a:rPr lang="en-US" altLang="zh-CN" sz="2300" b="1">
                <a:latin typeface="宋体" pitchFamily="2" charset="-122"/>
              </a:rPr>
              <a:t>|</a:t>
            </a:r>
            <a:r>
              <a:rPr lang="zh-CN" altLang="en-US" sz="2300" b="1">
                <a:latin typeface="宋体" pitchFamily="2" charset="-122"/>
              </a:rPr>
              <a:t>＝</a:t>
            </a:r>
            <a:r>
              <a:rPr lang="en-US" altLang="zh-CN" sz="2300" b="1">
                <a:latin typeface="宋体" pitchFamily="2" charset="-122"/>
              </a:rPr>
              <a:t>11111</a:t>
            </a:r>
            <a:endParaRPr lang="en-US" altLang="zh-CN" sz="2300">
              <a:latin typeface="宋体" pitchFamily="2" charset="-122"/>
            </a:endParaRPr>
          </a:p>
        </p:txBody>
      </p:sp>
      <p:sp>
        <p:nvSpPr>
          <p:cNvPr id="27654" name="Rectangle 6"/>
          <p:cNvSpPr>
            <a:spLocks noChangeArrowheads="1"/>
          </p:cNvSpPr>
          <p:nvPr/>
        </p:nvSpPr>
        <p:spPr bwMode="auto">
          <a:xfrm>
            <a:off x="152400" y="2209800"/>
            <a:ext cx="8763000" cy="43021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r>
              <a:rPr lang="en-US" altLang="zh-CN" sz="1200" b="1">
                <a:latin typeface="宋体" pitchFamily="2" charset="-122"/>
              </a:rPr>
              <a:t>                            </a:t>
            </a:r>
            <a:r>
              <a:rPr lang="en-US" altLang="zh-CN" sz="2300" b="1">
                <a:latin typeface="宋体" pitchFamily="2" charset="-122"/>
              </a:rPr>
              <a:t>1 1 0 1 1</a:t>
            </a:r>
            <a:endParaRPr lang="en-US" altLang="zh-CN" sz="2300">
              <a:latin typeface="宋体" pitchFamily="2" charset="-122"/>
            </a:endParaRPr>
          </a:p>
          <a:p>
            <a:pPr indent="266700" algn="just" eaLnBrk="0" hangingPunct="0"/>
            <a:r>
              <a:rPr lang="zh-CN" altLang="en-US" sz="2300" b="1">
                <a:latin typeface="宋体" pitchFamily="2" charset="-122"/>
              </a:rPr>
              <a:t>　　</a:t>
            </a:r>
            <a:r>
              <a:rPr lang="en-US" altLang="zh-CN" sz="2300" b="1">
                <a:latin typeface="宋体" pitchFamily="2" charset="-122"/>
              </a:rPr>
              <a:t>×)</a:t>
            </a:r>
            <a:r>
              <a:rPr lang="zh-CN" altLang="en-US" sz="2300" b="1">
                <a:latin typeface="宋体" pitchFamily="2" charset="-122"/>
              </a:rPr>
              <a:t>　　   </a:t>
            </a:r>
            <a:r>
              <a:rPr lang="en-US" altLang="zh-CN" sz="2300" b="1">
                <a:latin typeface="宋体" pitchFamily="2" charset="-122"/>
              </a:rPr>
              <a:t>1 1 1 1 1</a:t>
            </a:r>
          </a:p>
          <a:p>
            <a:pPr indent="266700" algn="just" eaLnBrk="0" hangingPunct="0"/>
            <a:r>
              <a:rPr lang="en-US" altLang="zh-CN" sz="2300" b="1">
                <a:latin typeface="宋体" pitchFamily="2" charset="-122"/>
              </a:rPr>
              <a:t>  </a:t>
            </a:r>
            <a:r>
              <a:rPr lang="en-US" altLang="zh-CN" sz="2300" b="1"/>
              <a:t>——————————————</a:t>
            </a:r>
            <a:r>
              <a:rPr lang="en-US" altLang="zh-CN" sz="2300" b="1">
                <a:latin typeface="宋体" pitchFamily="2" charset="-122"/>
              </a:rPr>
              <a:t> </a:t>
            </a:r>
            <a:r>
              <a:rPr lang="zh-CN" altLang="en-US" sz="2300" b="1">
                <a:latin typeface="宋体" pitchFamily="2" charset="-122"/>
              </a:rPr>
              <a:t>　　</a:t>
            </a:r>
            <a:endParaRPr lang="zh-CN" altLang="en-US" sz="2300">
              <a:latin typeface="宋体" pitchFamily="2" charset="-122"/>
            </a:endParaRPr>
          </a:p>
          <a:p>
            <a:pPr indent="266700" algn="just" eaLnBrk="0" hangingPunct="0"/>
            <a:r>
              <a:rPr lang="zh-CN" altLang="en-US" sz="2300" b="1">
                <a:latin typeface="宋体" pitchFamily="2" charset="-122"/>
              </a:rPr>
              <a:t>  　　　　　　</a:t>
            </a:r>
            <a:r>
              <a:rPr lang="en-US" altLang="zh-CN" sz="2300" b="1">
                <a:latin typeface="宋体" pitchFamily="2" charset="-122"/>
              </a:rPr>
              <a:t>1 1 0 1 1</a:t>
            </a:r>
          </a:p>
          <a:p>
            <a:pPr indent="266700" algn="just" eaLnBrk="0" hangingPunct="0"/>
            <a:r>
              <a:rPr lang="en-US" altLang="zh-CN" sz="2300" b="1">
                <a:latin typeface="宋体" pitchFamily="2" charset="-122"/>
              </a:rPr>
              <a:t>            1 1 0 1 1</a:t>
            </a:r>
            <a:endParaRPr lang="en-US" altLang="zh-CN" sz="2300">
              <a:latin typeface="宋体" pitchFamily="2" charset="-122"/>
            </a:endParaRPr>
          </a:p>
          <a:p>
            <a:pPr indent="266700" algn="just" eaLnBrk="0" hangingPunct="0"/>
            <a:r>
              <a:rPr lang="en-US" altLang="zh-CN" sz="2300" b="1">
                <a:latin typeface="宋体" pitchFamily="2" charset="-122"/>
              </a:rPr>
              <a:t>          1 1 0 1 1</a:t>
            </a:r>
            <a:endParaRPr lang="en-US" altLang="zh-CN" sz="2300">
              <a:latin typeface="宋体" pitchFamily="2" charset="-122"/>
            </a:endParaRPr>
          </a:p>
          <a:p>
            <a:pPr indent="266700" algn="just" eaLnBrk="0" hangingPunct="0"/>
            <a:r>
              <a:rPr lang="zh-CN" altLang="en-US" sz="2300" b="1">
                <a:latin typeface="宋体" pitchFamily="2" charset="-122"/>
              </a:rPr>
              <a:t>　　　　</a:t>
            </a:r>
            <a:r>
              <a:rPr lang="en-US" altLang="zh-CN" sz="2300" b="1">
                <a:latin typeface="宋体" pitchFamily="2" charset="-122"/>
              </a:rPr>
              <a:t>1 1 0 1 1</a:t>
            </a:r>
            <a:endParaRPr lang="en-US" altLang="zh-CN" sz="2300">
              <a:latin typeface="宋体" pitchFamily="2" charset="-122"/>
            </a:endParaRPr>
          </a:p>
          <a:p>
            <a:pPr indent="266700" algn="just" eaLnBrk="0" hangingPunct="0"/>
            <a:r>
              <a:rPr lang="zh-CN" altLang="en-US" sz="2300" b="1">
                <a:latin typeface="宋体" pitchFamily="2" charset="-122"/>
              </a:rPr>
              <a:t>　　　</a:t>
            </a:r>
            <a:r>
              <a:rPr lang="en-US" altLang="zh-CN" sz="2300" b="1">
                <a:latin typeface="宋体" pitchFamily="2" charset="-122"/>
              </a:rPr>
              <a:t>1 1 0 1 1</a:t>
            </a:r>
          </a:p>
          <a:p>
            <a:pPr indent="266700" algn="just" eaLnBrk="0" hangingPunct="0"/>
            <a:r>
              <a:rPr lang="en-US" altLang="zh-CN" sz="2300" b="1">
                <a:latin typeface="宋体" pitchFamily="2" charset="-122"/>
              </a:rPr>
              <a:t> </a:t>
            </a:r>
            <a:r>
              <a:rPr lang="en-US" altLang="zh-CN" sz="2300" b="1"/>
              <a:t>————————————————</a:t>
            </a:r>
            <a:endParaRPr lang="en-US" altLang="zh-CN" sz="2300">
              <a:latin typeface="宋体" pitchFamily="2" charset="-122"/>
            </a:endParaRPr>
          </a:p>
          <a:p>
            <a:pPr indent="266700" algn="just" eaLnBrk="0" hangingPunct="0"/>
            <a:r>
              <a:rPr lang="zh-CN" altLang="en-US" sz="2300" b="1">
                <a:latin typeface="宋体" pitchFamily="2" charset="-122"/>
              </a:rPr>
              <a:t>　  </a:t>
            </a:r>
            <a:r>
              <a:rPr lang="en-US" altLang="zh-CN" sz="2300" b="1">
                <a:latin typeface="宋体" pitchFamily="2" charset="-122"/>
              </a:rPr>
              <a:t>1 1 0 1 0 0 0 1 0 1</a:t>
            </a:r>
            <a:endParaRPr lang="en-US" altLang="zh-CN" sz="2300">
              <a:latin typeface="宋体" pitchFamily="2" charset="-122"/>
            </a:endParaRPr>
          </a:p>
          <a:p>
            <a:pPr indent="266700" algn="just" eaLnBrk="0" hangingPunct="0"/>
            <a:r>
              <a:rPr lang="zh-CN" altLang="en-US" sz="2300" b="1">
                <a:latin typeface="宋体" pitchFamily="2" charset="-122"/>
              </a:rPr>
              <a:t>算后求补器输出 </a:t>
            </a:r>
            <a:r>
              <a:rPr lang="en-US" altLang="zh-CN" sz="2300" b="1">
                <a:latin typeface="宋体" pitchFamily="2" charset="-122"/>
              </a:rPr>
              <a:t>0010111011</a:t>
            </a:r>
          </a:p>
          <a:p>
            <a:pPr indent="266700" algn="just" eaLnBrk="0" hangingPunct="0"/>
            <a:r>
              <a:rPr lang="en-US" altLang="zh-CN" sz="2300" b="1">
                <a:latin typeface="宋体" pitchFamily="2" charset="-122"/>
              </a:rPr>
              <a:t>[X×Y]</a:t>
            </a:r>
            <a:r>
              <a:rPr lang="zh-CN" altLang="en-US" sz="2300" b="1" baseline="-30000">
                <a:latin typeface="宋体" pitchFamily="2" charset="-122"/>
              </a:rPr>
              <a:t>补</a:t>
            </a:r>
            <a:r>
              <a:rPr lang="zh-CN" altLang="en-US" sz="2300" b="1">
                <a:latin typeface="宋体" pitchFamily="2" charset="-122"/>
              </a:rPr>
              <a:t> ＝ </a:t>
            </a:r>
            <a:r>
              <a:rPr lang="en-US" altLang="zh-CN" sz="2300" b="1">
                <a:latin typeface="宋体" pitchFamily="2" charset="-122"/>
              </a:rPr>
              <a:t>10010111011</a:t>
            </a:r>
            <a:r>
              <a:rPr lang="zh-CN" altLang="en-US" sz="2300" b="1">
                <a:latin typeface="宋体" pitchFamily="2" charset="-122"/>
              </a:rPr>
              <a:t>、 </a:t>
            </a:r>
            <a:r>
              <a:rPr lang="en-US" altLang="zh-CN" sz="2300" b="1">
                <a:latin typeface="宋体" pitchFamily="2" charset="-122"/>
              </a:rPr>
              <a:t>X×Y = -1101000101</a:t>
            </a:r>
            <a:endParaRPr lang="en-US" altLang="zh-CN" sz="230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ox(in)">
                                      <p:cBhvr>
                                        <p:cTn id="7" dur="500"/>
                                        <p:tgtEl>
                                          <p:spTgt spid="276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7654"/>
                                        </p:tgtEl>
                                        <p:attrNameLst>
                                          <p:attrName>style.visibility</p:attrName>
                                        </p:attrNameLst>
                                      </p:cBhvr>
                                      <p:to>
                                        <p:strVal val="visible"/>
                                      </p:to>
                                    </p:set>
                                    <p:animEffect transition="in" filter="box(in)">
                                      <p:cBhvr>
                                        <p:cTn id="12" dur="500"/>
                                        <p:tgtEl>
                                          <p:spTgt spid="27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autoUpdateAnimBg="0"/>
      <p:bldP spid="27654" grpId="0" animBg="1"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3"/>
          <p:cNvSpPr>
            <a:spLocks noChangeArrowheads="1"/>
          </p:cNvSpPr>
          <p:nvPr/>
        </p:nvSpPr>
        <p:spPr bwMode="auto">
          <a:xfrm>
            <a:off x="381000" y="152400"/>
            <a:ext cx="84836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itchFamily="2" charset="-122"/>
              </a:rPr>
              <a:t>(2) X = -11111 Y = -11011</a:t>
            </a:r>
            <a:endParaRPr lang="en-US" altLang="zh-CN">
              <a:latin typeface="宋体" pitchFamily="2" charset="-122"/>
              <a:cs typeface="Times New Roman" pitchFamily="18" charset="0"/>
            </a:endParaRPr>
          </a:p>
          <a:p>
            <a:pPr eaLnBrk="0" hangingPunct="0">
              <a:spcBef>
                <a:spcPct val="50000"/>
              </a:spcBef>
            </a:pPr>
            <a:r>
              <a:rPr lang="zh-CN" altLang="en-US" b="1">
                <a:latin typeface="宋体" pitchFamily="2" charset="-122"/>
              </a:rPr>
              <a:t>解</a:t>
            </a:r>
            <a:r>
              <a:rPr lang="en-US" altLang="zh-CN" b="1">
                <a:latin typeface="宋体" pitchFamily="2" charset="-122"/>
              </a:rPr>
              <a:t>: </a:t>
            </a:r>
            <a:r>
              <a:rPr lang="zh-CN" altLang="en-US" b="1">
                <a:latin typeface="宋体" pitchFamily="2" charset="-122"/>
              </a:rPr>
              <a:t>用原码阵列乘法器</a:t>
            </a:r>
          </a:p>
        </p:txBody>
      </p:sp>
      <p:sp>
        <p:nvSpPr>
          <p:cNvPr id="28677" name="Rectangle 5"/>
          <p:cNvSpPr>
            <a:spLocks noChangeArrowheads="1"/>
          </p:cNvSpPr>
          <p:nvPr/>
        </p:nvSpPr>
        <p:spPr bwMode="auto">
          <a:xfrm>
            <a:off x="381000" y="1219200"/>
            <a:ext cx="84582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原</a:t>
            </a:r>
            <a:r>
              <a:rPr lang="zh-CN" altLang="en-US" b="1">
                <a:latin typeface="宋体" pitchFamily="2" charset="-122"/>
              </a:rPr>
              <a:t> ＝</a:t>
            </a:r>
            <a:r>
              <a:rPr lang="en-US" altLang="zh-CN" b="1">
                <a:latin typeface="宋体" pitchFamily="2" charset="-122"/>
              </a:rPr>
              <a:t>111111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原</a:t>
            </a:r>
            <a:r>
              <a:rPr lang="zh-CN" altLang="en-US" b="1">
                <a:latin typeface="宋体" pitchFamily="2" charset="-122"/>
              </a:rPr>
              <a:t> ＝ </a:t>
            </a:r>
            <a:r>
              <a:rPr lang="en-US" altLang="zh-CN" b="1">
                <a:latin typeface="宋体" pitchFamily="2" charset="-122"/>
              </a:rPr>
              <a:t>111011</a:t>
            </a:r>
            <a:endParaRPr lang="en-US" altLang="zh-CN">
              <a:latin typeface="宋体" pitchFamily="2" charset="-122"/>
              <a:cs typeface="Times New Roman" pitchFamily="18" charset="0"/>
            </a:endParaRPr>
          </a:p>
          <a:p>
            <a:pPr eaLnBrk="0" hangingPunct="0">
              <a:spcBef>
                <a:spcPct val="50000"/>
              </a:spcBef>
            </a:pPr>
            <a:r>
              <a:rPr lang="zh-CN" altLang="en-US" b="1">
                <a:latin typeface="宋体" pitchFamily="2" charset="-122"/>
              </a:rPr>
              <a:t>符号位单独运算：</a:t>
            </a:r>
            <a:r>
              <a:rPr lang="en-US" altLang="zh-CN" b="1">
                <a:latin typeface="宋体" pitchFamily="2" charset="-122"/>
              </a:rPr>
              <a:t>X</a:t>
            </a:r>
            <a:r>
              <a:rPr lang="en-US" altLang="zh-CN" b="1" baseline="-30000">
                <a:latin typeface="宋体" pitchFamily="2" charset="-122"/>
              </a:rPr>
              <a:t>f</a:t>
            </a:r>
            <a:r>
              <a:rPr lang="en-US" altLang="zh-CN" b="1">
                <a:latin typeface="宋体" pitchFamily="2" charset="-122"/>
              </a:rPr>
              <a:t>⊕Y</a:t>
            </a:r>
            <a:r>
              <a:rPr lang="en-US" altLang="zh-CN" b="1" baseline="-30000">
                <a:latin typeface="宋体" pitchFamily="2" charset="-122"/>
              </a:rPr>
              <a:t>f</a:t>
            </a:r>
            <a:r>
              <a:rPr lang="en-US" altLang="zh-CN" b="1">
                <a:latin typeface="宋体" pitchFamily="2" charset="-122"/>
              </a:rPr>
              <a:t> = 0  |</a:t>
            </a:r>
            <a:r>
              <a:rPr lang="zh-CN" altLang="en-US" b="1">
                <a:latin typeface="宋体" pitchFamily="2" charset="-122"/>
              </a:rPr>
              <a:t>ｘ</a:t>
            </a:r>
            <a:r>
              <a:rPr lang="en-US" altLang="zh-CN" b="1">
                <a:latin typeface="宋体" pitchFamily="2" charset="-122"/>
              </a:rPr>
              <a:t>|</a:t>
            </a:r>
            <a:r>
              <a:rPr lang="zh-CN" altLang="en-US" b="1">
                <a:latin typeface="宋体" pitchFamily="2" charset="-122"/>
              </a:rPr>
              <a:t>＝</a:t>
            </a:r>
            <a:r>
              <a:rPr lang="en-US" altLang="zh-CN" b="1">
                <a:latin typeface="宋体" pitchFamily="2" charset="-122"/>
              </a:rPr>
              <a:t>11111,|</a:t>
            </a:r>
            <a:r>
              <a:rPr lang="zh-CN" altLang="en-US" b="1">
                <a:latin typeface="宋体" pitchFamily="2" charset="-122"/>
              </a:rPr>
              <a:t>ｙ</a:t>
            </a:r>
            <a:r>
              <a:rPr lang="en-US" altLang="zh-CN" b="1">
                <a:latin typeface="宋体" pitchFamily="2" charset="-122"/>
              </a:rPr>
              <a:t>|</a:t>
            </a:r>
            <a:r>
              <a:rPr lang="zh-CN" altLang="en-US" b="1">
                <a:latin typeface="宋体" pitchFamily="2" charset="-122"/>
              </a:rPr>
              <a:t>＝</a:t>
            </a:r>
            <a:r>
              <a:rPr lang="en-US" altLang="zh-CN" b="1">
                <a:latin typeface="宋体" pitchFamily="2" charset="-122"/>
              </a:rPr>
              <a:t>11011</a:t>
            </a:r>
          </a:p>
        </p:txBody>
      </p:sp>
      <p:sp>
        <p:nvSpPr>
          <p:cNvPr id="28680" name="Rectangle 8"/>
          <p:cNvSpPr>
            <a:spLocks noChangeArrowheads="1"/>
          </p:cNvSpPr>
          <p:nvPr/>
        </p:nvSpPr>
        <p:spPr bwMode="auto">
          <a:xfrm>
            <a:off x="381000" y="2286000"/>
            <a:ext cx="8458200" cy="41084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r>
              <a:rPr lang="zh-CN" altLang="en-US" b="1">
                <a:latin typeface="宋体" pitchFamily="2" charset="-122"/>
              </a:rPr>
              <a:t>　            </a:t>
            </a:r>
            <a:r>
              <a:rPr lang="en-US" altLang="zh-CN" b="1">
                <a:latin typeface="宋体" pitchFamily="2" charset="-122"/>
              </a:rPr>
              <a:t>1 1 1 1 1</a:t>
            </a:r>
            <a:endParaRPr lang="en-US" altLang="zh-CN">
              <a:latin typeface="宋体" pitchFamily="2" charset="-122"/>
            </a:endParaRPr>
          </a:p>
          <a:p>
            <a:pPr indent="266700" algn="just" eaLnBrk="0" hangingPunct="0"/>
            <a:r>
              <a:rPr lang="zh-CN" altLang="en-US" b="1">
                <a:latin typeface="宋体" pitchFamily="2" charset="-122"/>
              </a:rPr>
              <a:t>　　</a:t>
            </a:r>
            <a:r>
              <a:rPr lang="en-US" altLang="zh-CN" b="1">
                <a:latin typeface="宋体" pitchFamily="2" charset="-122"/>
              </a:rPr>
              <a:t>×)</a:t>
            </a:r>
            <a:r>
              <a:rPr lang="zh-CN" altLang="en-US" b="1">
                <a:latin typeface="宋体" pitchFamily="2" charset="-122"/>
              </a:rPr>
              <a:t>　　   </a:t>
            </a:r>
            <a:r>
              <a:rPr lang="en-US" altLang="zh-CN" b="1">
                <a:latin typeface="宋体" pitchFamily="2" charset="-122"/>
              </a:rPr>
              <a:t>1 1 0 1 1 </a:t>
            </a:r>
          </a:p>
          <a:p>
            <a:pPr indent="266700" algn="just" eaLnBrk="0" hangingPunct="0"/>
            <a:r>
              <a:rPr lang="en-US" altLang="zh-CN" b="1"/>
              <a:t>——————————————</a:t>
            </a:r>
            <a:r>
              <a:rPr lang="zh-CN" altLang="en-US" b="1">
                <a:latin typeface="宋体" pitchFamily="2" charset="-122"/>
              </a:rPr>
              <a:t>　　</a:t>
            </a:r>
            <a:endParaRPr lang="zh-CN" altLang="en-US">
              <a:latin typeface="宋体" pitchFamily="2" charset="-122"/>
            </a:endParaRPr>
          </a:p>
          <a:p>
            <a:pPr indent="266700" algn="just" eaLnBrk="0" hangingPunct="0"/>
            <a:r>
              <a:rPr lang="zh-CN" altLang="en-US" b="1">
                <a:latin typeface="宋体" pitchFamily="2" charset="-122"/>
              </a:rPr>
              <a:t>  　　　　　　</a:t>
            </a:r>
            <a:r>
              <a:rPr lang="en-US" altLang="zh-CN" b="1">
                <a:latin typeface="宋体" pitchFamily="2" charset="-122"/>
              </a:rPr>
              <a:t>1 1 1 1 1</a:t>
            </a:r>
          </a:p>
          <a:p>
            <a:pPr indent="266700" algn="just" eaLnBrk="0" hangingPunct="0"/>
            <a:r>
              <a:rPr lang="en-US" altLang="zh-CN" b="1">
                <a:latin typeface="宋体" pitchFamily="2" charset="-122"/>
              </a:rPr>
              <a:t>            1 1 1 1 1</a:t>
            </a:r>
            <a:endParaRPr lang="en-US" altLang="zh-CN">
              <a:latin typeface="宋体" pitchFamily="2" charset="-122"/>
            </a:endParaRPr>
          </a:p>
          <a:p>
            <a:pPr indent="266700" algn="just" eaLnBrk="0" hangingPunct="0"/>
            <a:r>
              <a:rPr lang="zh-CN" altLang="en-US" b="1">
                <a:latin typeface="宋体" pitchFamily="2" charset="-122"/>
              </a:rPr>
              <a:t>　　　　　</a:t>
            </a:r>
            <a:r>
              <a:rPr lang="en-US" altLang="zh-CN" b="1">
                <a:latin typeface="宋体" pitchFamily="2" charset="-122"/>
              </a:rPr>
              <a:t>0 0 0 0 0</a:t>
            </a:r>
            <a:endParaRPr lang="en-US" altLang="zh-CN">
              <a:latin typeface="宋体" pitchFamily="2" charset="-122"/>
            </a:endParaRPr>
          </a:p>
          <a:p>
            <a:pPr indent="266700" algn="just" eaLnBrk="0" hangingPunct="0"/>
            <a:r>
              <a:rPr lang="zh-CN" altLang="en-US" b="1">
                <a:latin typeface="宋体" pitchFamily="2" charset="-122"/>
              </a:rPr>
              <a:t>　　　　</a:t>
            </a:r>
            <a:r>
              <a:rPr lang="en-US" altLang="zh-CN" b="1">
                <a:latin typeface="宋体" pitchFamily="2" charset="-122"/>
              </a:rPr>
              <a:t>1 1 1 1 1</a:t>
            </a:r>
          </a:p>
          <a:p>
            <a:pPr indent="266700" algn="just" eaLnBrk="0" hangingPunct="0"/>
            <a:r>
              <a:rPr lang="en-US" altLang="zh-CN" b="1">
                <a:latin typeface="宋体" pitchFamily="2" charset="-122"/>
              </a:rPr>
              <a:t>      1 1 1 1 1</a:t>
            </a:r>
            <a:endParaRPr lang="en-US" altLang="zh-CN">
              <a:latin typeface="宋体" pitchFamily="2" charset="-122"/>
            </a:endParaRPr>
          </a:p>
          <a:p>
            <a:pPr indent="266700" algn="just" eaLnBrk="0" hangingPunct="0"/>
            <a:r>
              <a:rPr lang="en-US" altLang="zh-CN"/>
              <a:t>——————————————</a:t>
            </a:r>
            <a:endParaRPr lang="en-US" altLang="zh-CN">
              <a:latin typeface="宋体" pitchFamily="2" charset="-122"/>
            </a:endParaRPr>
          </a:p>
          <a:p>
            <a:pPr indent="266700" algn="just" eaLnBrk="0" hangingPunct="0"/>
            <a:r>
              <a:rPr lang="zh-CN" altLang="en-US" b="1">
                <a:latin typeface="宋体" pitchFamily="2" charset="-122"/>
              </a:rPr>
              <a:t>　  </a:t>
            </a:r>
            <a:r>
              <a:rPr lang="en-US" altLang="zh-CN" b="1">
                <a:latin typeface="宋体" pitchFamily="2" charset="-122"/>
              </a:rPr>
              <a:t>1 1 0 1 0 0 0 1 0 1</a:t>
            </a:r>
          </a:p>
          <a:p>
            <a:pPr indent="266700" algn="just" eaLnBrk="0" hangingPunct="0"/>
            <a:r>
              <a:rPr lang="en-US" altLang="zh-CN" b="1">
                <a:latin typeface="宋体" pitchFamily="2" charset="-122"/>
              </a:rPr>
              <a:t>   [X×Y]</a:t>
            </a:r>
            <a:r>
              <a:rPr lang="zh-CN" altLang="en-US" b="1" baseline="-30000">
                <a:latin typeface="宋体" pitchFamily="2" charset="-122"/>
              </a:rPr>
              <a:t>原</a:t>
            </a:r>
            <a:r>
              <a:rPr lang="zh-CN" altLang="en-US" b="1">
                <a:latin typeface="宋体" pitchFamily="2" charset="-122"/>
              </a:rPr>
              <a:t> ＝ </a:t>
            </a:r>
            <a:r>
              <a:rPr lang="en-US" altLang="zh-CN" b="1">
                <a:latin typeface="宋体" pitchFamily="2" charset="-122"/>
              </a:rPr>
              <a:t>1101000101</a:t>
            </a:r>
            <a:r>
              <a:rPr lang="zh-CN" altLang="en-US" b="1">
                <a:latin typeface="宋体" pitchFamily="2" charset="-122"/>
              </a:rPr>
              <a:t>、</a:t>
            </a:r>
            <a:r>
              <a:rPr lang="en-US" altLang="zh-CN" b="1">
                <a:latin typeface="宋体" pitchFamily="2" charset="-122"/>
              </a:rPr>
              <a:t>X×Y = -1101000101</a:t>
            </a:r>
            <a:endParaRPr lang="en-US" altLang="zh-CN">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blinds(horizontal)">
                                      <p:cBhvr>
                                        <p:cTn id="7" dur="500"/>
                                        <p:tgtEl>
                                          <p:spTgt spid="286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80"/>
                                        </p:tgtEl>
                                        <p:attrNameLst>
                                          <p:attrName>style.visibility</p:attrName>
                                        </p:attrNameLst>
                                      </p:cBhvr>
                                      <p:to>
                                        <p:strVal val="visible"/>
                                      </p:to>
                                    </p:set>
                                    <p:animEffect transition="in" filter="blinds(horizontal)">
                                      <p:cBhvr>
                                        <p:cTn id="12"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nimBg="1" autoUpdateAnimBg="0"/>
      <p:bldP spid="28680" grpId="0" animBg="1"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3" name="Rectangle 7"/>
          <p:cNvSpPr>
            <a:spLocks noChangeArrowheads="1"/>
          </p:cNvSpPr>
          <p:nvPr/>
        </p:nvSpPr>
        <p:spPr bwMode="auto">
          <a:xfrm>
            <a:off x="152400" y="762000"/>
            <a:ext cx="2895600" cy="5934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a:t>
            </a:r>
            <a:r>
              <a:rPr lang="en-US" altLang="zh-CN" b="1">
                <a:latin typeface="宋体" pitchFamily="2" charset="-122"/>
              </a:rPr>
              <a:t>100001</a:t>
            </a:r>
          </a:p>
          <a:p>
            <a:pPr eaLnBrk="0" hangingPunct="0">
              <a:spcBef>
                <a:spcPct val="50000"/>
              </a:spcBef>
            </a:pPr>
            <a:r>
              <a:rPr lang="en-US" altLang="zh-CN" b="1">
                <a:latin typeface="宋体" pitchFamily="2" charset="-122"/>
              </a:rPr>
              <a:t>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 ＝ </a:t>
            </a:r>
            <a:r>
              <a:rPr lang="en-US" altLang="zh-CN" b="1">
                <a:latin typeface="宋体" pitchFamily="2" charset="-122"/>
              </a:rPr>
              <a:t>011011</a:t>
            </a:r>
            <a:endParaRPr lang="en-US" altLang="zh-CN">
              <a:latin typeface="宋体" pitchFamily="2" charset="-122"/>
              <a:cs typeface="Times New Roman" pitchFamily="18" charset="0"/>
            </a:endParaRPr>
          </a:p>
          <a:p>
            <a:pPr eaLnBrk="0" hangingPunct="0">
              <a:spcBef>
                <a:spcPct val="50000"/>
              </a:spcBef>
            </a:pPr>
            <a:r>
              <a:rPr lang="en-US" altLang="zh-CN" b="1">
                <a:latin typeface="宋体" pitchFamily="2" charset="-122"/>
              </a:rPr>
              <a:t> </a:t>
            </a:r>
            <a:r>
              <a:rPr lang="zh-CN" altLang="en-US" b="1">
                <a:latin typeface="宋体" pitchFamily="2" charset="-122"/>
              </a:rPr>
              <a:t>符号位单独运算：</a:t>
            </a:r>
          </a:p>
          <a:p>
            <a:pPr eaLnBrk="0" hangingPunct="0">
              <a:spcBef>
                <a:spcPct val="50000"/>
              </a:spcBef>
            </a:pPr>
            <a:r>
              <a:rPr lang="zh-CN" altLang="en-US" b="1">
                <a:latin typeface="宋体" pitchFamily="2" charset="-122"/>
              </a:rPr>
              <a:t>  </a:t>
            </a:r>
            <a:r>
              <a:rPr lang="en-US" altLang="zh-CN" b="1">
                <a:latin typeface="宋体" pitchFamily="2" charset="-122"/>
              </a:rPr>
              <a:t>X</a:t>
            </a:r>
            <a:r>
              <a:rPr lang="en-US" altLang="zh-CN" b="1" baseline="-30000">
                <a:latin typeface="宋体" pitchFamily="2" charset="-122"/>
              </a:rPr>
              <a:t>f</a:t>
            </a:r>
            <a:r>
              <a:rPr lang="en-US" altLang="zh-CN" b="1">
                <a:latin typeface="宋体" pitchFamily="2" charset="-122"/>
              </a:rPr>
              <a:t>⊕Y</a:t>
            </a:r>
            <a:r>
              <a:rPr lang="en-US" altLang="zh-CN" b="1" baseline="-30000">
                <a:latin typeface="宋体" pitchFamily="2" charset="-122"/>
              </a:rPr>
              <a:t>f</a:t>
            </a:r>
            <a:r>
              <a:rPr lang="en-US" altLang="zh-CN" b="1">
                <a:latin typeface="宋体" pitchFamily="2" charset="-122"/>
              </a:rPr>
              <a:t> = 1</a:t>
            </a:r>
          </a:p>
          <a:p>
            <a:pPr eaLnBrk="0" hangingPunct="0">
              <a:spcBef>
                <a:spcPct val="50000"/>
              </a:spcBef>
            </a:pPr>
            <a:r>
              <a:rPr lang="en-US" altLang="zh-CN" b="1">
                <a:latin typeface="宋体" pitchFamily="2" charset="-122"/>
              </a:rPr>
              <a:t> </a:t>
            </a:r>
            <a:r>
              <a:rPr lang="zh-CN" altLang="en-US" b="1">
                <a:latin typeface="宋体" pitchFamily="2" charset="-122"/>
              </a:rPr>
              <a:t>算前求补器输出</a:t>
            </a:r>
          </a:p>
          <a:p>
            <a:pPr eaLnBrk="0" hangingPunct="0">
              <a:spcBef>
                <a:spcPct val="50000"/>
              </a:spcBef>
            </a:pPr>
            <a:r>
              <a:rPr lang="zh-CN" altLang="en-US" b="1">
                <a:latin typeface="宋体" pitchFamily="2" charset="-122"/>
              </a:rPr>
              <a:t> </a:t>
            </a: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a:latin typeface="宋体" pitchFamily="2" charset="-122"/>
              </a:rPr>
              <a:t>＝</a:t>
            </a:r>
            <a:r>
              <a:rPr lang="en-US" altLang="zh-CN" b="1">
                <a:latin typeface="宋体" pitchFamily="2" charset="-122"/>
              </a:rPr>
              <a:t>11111</a:t>
            </a:r>
          </a:p>
          <a:p>
            <a:pPr eaLnBrk="0" hangingPunct="0">
              <a:spcBef>
                <a:spcPct val="50000"/>
              </a:spcBef>
            </a:pPr>
            <a:r>
              <a:rPr lang="en-US" altLang="zh-CN" b="1">
                <a:latin typeface="宋体" pitchFamily="2" charset="-122"/>
              </a:rPr>
              <a:t> |</a:t>
            </a:r>
            <a:r>
              <a:rPr lang="zh-CN" altLang="en-US" b="1">
                <a:latin typeface="宋体" pitchFamily="2" charset="-122"/>
              </a:rPr>
              <a:t>ｙ</a:t>
            </a:r>
            <a:r>
              <a:rPr lang="en-US" altLang="zh-CN" b="1">
                <a:latin typeface="宋体" pitchFamily="2" charset="-122"/>
              </a:rPr>
              <a:t>|</a:t>
            </a:r>
            <a:r>
              <a:rPr lang="zh-CN" altLang="en-US" b="1">
                <a:latin typeface="宋体" pitchFamily="2" charset="-122"/>
              </a:rPr>
              <a:t>＝</a:t>
            </a:r>
            <a:r>
              <a:rPr lang="en-US" altLang="zh-CN" b="1">
                <a:latin typeface="宋体" pitchFamily="2" charset="-122"/>
              </a:rPr>
              <a:t>11011</a:t>
            </a:r>
          </a:p>
          <a:p>
            <a:pPr eaLnBrk="0" hangingPunct="0">
              <a:spcBef>
                <a:spcPct val="50000"/>
              </a:spcBef>
            </a:pPr>
            <a:endParaRPr lang="en-US" altLang="zh-CN" b="1">
              <a:latin typeface="宋体" pitchFamily="2" charset="-122"/>
            </a:endParaRPr>
          </a:p>
          <a:p>
            <a:pPr eaLnBrk="0" hangingPunct="0">
              <a:spcBef>
                <a:spcPct val="50000"/>
              </a:spcBef>
            </a:pPr>
            <a:endParaRPr lang="en-US" altLang="zh-CN" b="1">
              <a:latin typeface="宋体" pitchFamily="2" charset="-122"/>
            </a:endParaRPr>
          </a:p>
          <a:p>
            <a:pPr eaLnBrk="0" hangingPunct="0">
              <a:spcBef>
                <a:spcPct val="50000"/>
              </a:spcBef>
            </a:pPr>
            <a:endParaRPr lang="en-US" altLang="zh-CN" b="1">
              <a:latin typeface="宋体" pitchFamily="2" charset="-122"/>
            </a:endParaRPr>
          </a:p>
          <a:p>
            <a:pPr eaLnBrk="0" hangingPunct="0">
              <a:spcBef>
                <a:spcPct val="50000"/>
              </a:spcBef>
            </a:pPr>
            <a:endParaRPr lang="en-US" altLang="zh-CN" b="1">
              <a:latin typeface="宋体" pitchFamily="2" charset="-122"/>
            </a:endParaRPr>
          </a:p>
        </p:txBody>
      </p:sp>
      <p:sp>
        <p:nvSpPr>
          <p:cNvPr id="29704" name="Rectangle 8"/>
          <p:cNvSpPr>
            <a:spLocks noChangeArrowheads="1"/>
          </p:cNvSpPr>
          <p:nvPr/>
        </p:nvSpPr>
        <p:spPr bwMode="auto">
          <a:xfrm>
            <a:off x="3200400" y="152400"/>
            <a:ext cx="5638800" cy="65992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1200" b="1">
                <a:latin typeface="宋体" pitchFamily="2" charset="-122"/>
              </a:rPr>
              <a:t>　                        </a:t>
            </a:r>
            <a:r>
              <a:rPr lang="en-US" altLang="zh-CN" sz="2200" b="1">
                <a:latin typeface="宋体" pitchFamily="2" charset="-122"/>
              </a:rPr>
              <a:t>1 1 1 1 1</a:t>
            </a:r>
            <a:endParaRPr lang="en-US" altLang="zh-CN" sz="2200">
              <a:latin typeface="宋体" pitchFamily="2" charset="-122"/>
            </a:endParaRPr>
          </a:p>
          <a:p>
            <a:pPr eaLnBrk="0" hangingPunct="0">
              <a:spcBef>
                <a:spcPct val="50000"/>
              </a:spcBef>
            </a:pPr>
            <a:r>
              <a:rPr lang="zh-CN" altLang="en-US" sz="2200" b="1">
                <a:latin typeface="宋体" pitchFamily="2" charset="-122"/>
              </a:rPr>
              <a:t>　　</a:t>
            </a:r>
            <a:r>
              <a:rPr lang="en-US" altLang="zh-CN" sz="2200" b="1">
                <a:latin typeface="宋体" pitchFamily="2" charset="-122"/>
              </a:rPr>
              <a:t>×)</a:t>
            </a:r>
            <a:r>
              <a:rPr lang="zh-CN" altLang="en-US" sz="2200" b="1">
                <a:latin typeface="宋体" pitchFamily="2" charset="-122"/>
              </a:rPr>
              <a:t>　　  </a:t>
            </a:r>
            <a:r>
              <a:rPr lang="en-US" altLang="zh-CN" sz="2200" b="1">
                <a:latin typeface="宋体" pitchFamily="2" charset="-122"/>
              </a:rPr>
              <a:t>1 1 0 1 1 </a:t>
            </a:r>
            <a:r>
              <a:rPr lang="zh-CN" altLang="en-US" sz="2200" b="1">
                <a:latin typeface="宋体" pitchFamily="2" charset="-122"/>
              </a:rPr>
              <a:t>　　</a:t>
            </a:r>
          </a:p>
          <a:p>
            <a:pPr eaLnBrk="0" hangingPunct="0">
              <a:spcBef>
                <a:spcPct val="50000"/>
              </a:spcBef>
            </a:pPr>
            <a:r>
              <a:rPr lang="en-US" altLang="zh-CN" sz="2200" b="1"/>
              <a:t>————————————————</a:t>
            </a:r>
            <a:endParaRPr lang="en-US" altLang="zh-CN" sz="2200">
              <a:latin typeface="宋体" pitchFamily="2" charset="-122"/>
            </a:endParaRPr>
          </a:p>
          <a:p>
            <a:pPr eaLnBrk="0" hangingPunct="0">
              <a:spcBef>
                <a:spcPct val="50000"/>
              </a:spcBef>
            </a:pPr>
            <a:r>
              <a:rPr lang="zh-CN" altLang="en-US" sz="2200" b="1">
                <a:latin typeface="宋体" pitchFamily="2" charset="-122"/>
              </a:rPr>
              <a:t>　  　　　   </a:t>
            </a:r>
            <a:r>
              <a:rPr lang="en-US" altLang="zh-CN" sz="2200" b="1">
                <a:latin typeface="宋体" pitchFamily="2" charset="-122"/>
              </a:rPr>
              <a:t>1 1 1 1 1</a:t>
            </a:r>
            <a:r>
              <a:rPr lang="zh-CN" altLang="en-US" sz="2200" b="1">
                <a:latin typeface="宋体" pitchFamily="2" charset="-122"/>
              </a:rPr>
              <a:t>　</a:t>
            </a:r>
          </a:p>
          <a:p>
            <a:pPr eaLnBrk="0" hangingPunct="0">
              <a:spcBef>
                <a:spcPct val="50000"/>
              </a:spcBef>
            </a:pPr>
            <a:r>
              <a:rPr lang="zh-CN" altLang="en-US" sz="2200" b="1">
                <a:latin typeface="宋体" pitchFamily="2" charset="-122"/>
              </a:rPr>
              <a:t>            </a:t>
            </a:r>
            <a:r>
              <a:rPr lang="en-US" altLang="zh-CN" sz="2200" b="1">
                <a:latin typeface="宋体" pitchFamily="2" charset="-122"/>
              </a:rPr>
              <a:t>1 1 1 1 1</a:t>
            </a:r>
            <a:endParaRPr lang="en-US" altLang="zh-CN" sz="2200">
              <a:latin typeface="宋体" pitchFamily="2" charset="-122"/>
            </a:endParaRPr>
          </a:p>
          <a:p>
            <a:pPr eaLnBrk="0" hangingPunct="0">
              <a:spcBef>
                <a:spcPct val="50000"/>
              </a:spcBef>
            </a:pPr>
            <a:r>
              <a:rPr lang="zh-CN" altLang="en-US" sz="2200" b="1">
                <a:latin typeface="宋体" pitchFamily="2" charset="-122"/>
              </a:rPr>
              <a:t>　　　　　</a:t>
            </a:r>
            <a:r>
              <a:rPr lang="en-US" altLang="zh-CN" sz="2200" b="1">
                <a:latin typeface="宋体" pitchFamily="2" charset="-122"/>
              </a:rPr>
              <a:t>0 0 0 0 0</a:t>
            </a:r>
            <a:endParaRPr lang="en-US" altLang="zh-CN" sz="2200">
              <a:latin typeface="宋体" pitchFamily="2" charset="-122"/>
            </a:endParaRPr>
          </a:p>
          <a:p>
            <a:pPr eaLnBrk="0" hangingPunct="0">
              <a:spcBef>
                <a:spcPct val="50000"/>
              </a:spcBef>
            </a:pPr>
            <a:r>
              <a:rPr lang="zh-CN" altLang="en-US" sz="2200" b="1">
                <a:latin typeface="宋体" pitchFamily="2" charset="-122"/>
              </a:rPr>
              <a:t>　　　　</a:t>
            </a:r>
            <a:r>
              <a:rPr lang="en-US" altLang="zh-CN" sz="2200" b="1">
                <a:latin typeface="宋体" pitchFamily="2" charset="-122"/>
              </a:rPr>
              <a:t>1 1 1 1 1</a:t>
            </a:r>
            <a:endParaRPr lang="en-US" altLang="zh-CN" sz="2200">
              <a:latin typeface="宋体" pitchFamily="2" charset="-122"/>
            </a:endParaRPr>
          </a:p>
          <a:p>
            <a:pPr eaLnBrk="0" hangingPunct="0">
              <a:spcBef>
                <a:spcPct val="50000"/>
              </a:spcBef>
            </a:pPr>
            <a:r>
              <a:rPr lang="en-US" altLang="zh-CN" sz="2200" b="1">
                <a:latin typeface="宋体" pitchFamily="2" charset="-122"/>
              </a:rPr>
              <a:t>    </a:t>
            </a:r>
            <a:r>
              <a:rPr lang="zh-CN" altLang="en-US" sz="2200" b="1">
                <a:latin typeface="宋体" pitchFamily="2" charset="-122"/>
              </a:rPr>
              <a:t>　</a:t>
            </a:r>
            <a:r>
              <a:rPr lang="en-US" altLang="zh-CN" sz="2200" b="1">
                <a:latin typeface="宋体" pitchFamily="2" charset="-122"/>
              </a:rPr>
              <a:t>1 1 1 1 1</a:t>
            </a:r>
            <a:endParaRPr lang="en-US" altLang="zh-CN" sz="2200">
              <a:latin typeface="宋体" pitchFamily="2" charset="-122"/>
            </a:endParaRPr>
          </a:p>
          <a:p>
            <a:pPr eaLnBrk="0" hangingPunct="0">
              <a:spcBef>
                <a:spcPct val="50000"/>
              </a:spcBef>
            </a:pPr>
            <a:r>
              <a:rPr lang="en-US" altLang="zh-CN" sz="2200" b="1"/>
              <a:t>————————————————</a:t>
            </a:r>
            <a:endParaRPr lang="en-US" altLang="zh-CN" sz="2200" b="1">
              <a:latin typeface="宋体" pitchFamily="2" charset="-122"/>
            </a:endParaRPr>
          </a:p>
          <a:p>
            <a:pPr eaLnBrk="0" hangingPunct="0">
              <a:spcBef>
                <a:spcPct val="50000"/>
              </a:spcBef>
            </a:pPr>
            <a:r>
              <a:rPr lang="zh-CN" altLang="en-US" sz="2200" b="1">
                <a:latin typeface="宋体" pitchFamily="2" charset="-122"/>
              </a:rPr>
              <a:t>　  </a:t>
            </a:r>
            <a:r>
              <a:rPr lang="en-US" altLang="zh-CN" sz="2200" b="1">
                <a:latin typeface="宋体" pitchFamily="2" charset="-122"/>
              </a:rPr>
              <a:t>1 1 0 1 0 0 0 1 0 1</a:t>
            </a:r>
          </a:p>
          <a:p>
            <a:pPr eaLnBrk="0" hangingPunct="0">
              <a:spcBef>
                <a:spcPct val="50000"/>
              </a:spcBef>
            </a:pPr>
            <a:r>
              <a:rPr lang="en-US" altLang="zh-CN" b="1">
                <a:latin typeface="宋体" pitchFamily="2" charset="-122"/>
              </a:rPr>
              <a:t>  </a:t>
            </a:r>
            <a:r>
              <a:rPr lang="zh-CN" altLang="en-US" b="1">
                <a:latin typeface="宋体" pitchFamily="2" charset="-122"/>
              </a:rPr>
              <a:t>算后求补器输出 </a:t>
            </a:r>
            <a:r>
              <a:rPr lang="en-US" altLang="zh-CN" b="1">
                <a:latin typeface="宋体" pitchFamily="2" charset="-122"/>
              </a:rPr>
              <a:t>0010111011</a:t>
            </a:r>
            <a:endParaRPr lang="en-US" altLang="zh-CN">
              <a:latin typeface="宋体" pitchFamily="2" charset="-122"/>
            </a:endParaRPr>
          </a:p>
          <a:p>
            <a:pPr eaLnBrk="0" hangingPunct="0">
              <a:spcBef>
                <a:spcPct val="50000"/>
              </a:spcBef>
            </a:pPr>
            <a:r>
              <a:rPr lang="en-US" altLang="zh-CN" b="1">
                <a:latin typeface="宋体" pitchFamily="2" charset="-122"/>
              </a:rPr>
              <a:t>  [X×Y]</a:t>
            </a:r>
            <a:r>
              <a:rPr lang="zh-CN" altLang="en-US" b="1" baseline="-30000">
                <a:latin typeface="宋体" pitchFamily="2" charset="-122"/>
              </a:rPr>
              <a:t>补</a:t>
            </a:r>
            <a:r>
              <a:rPr lang="zh-CN" altLang="en-US" b="1">
                <a:latin typeface="宋体" pitchFamily="2" charset="-122"/>
              </a:rPr>
              <a:t> ＝ </a:t>
            </a:r>
            <a:r>
              <a:rPr lang="en-US" altLang="zh-CN" b="1">
                <a:latin typeface="宋体" pitchFamily="2" charset="-122"/>
              </a:rPr>
              <a:t>10010111011</a:t>
            </a:r>
          </a:p>
          <a:p>
            <a:pPr eaLnBrk="0" hangingPunct="0">
              <a:spcBef>
                <a:spcPct val="50000"/>
              </a:spcBef>
            </a:pPr>
            <a:r>
              <a:rPr lang="en-US" altLang="zh-CN" b="1">
                <a:latin typeface="宋体" pitchFamily="2" charset="-122"/>
              </a:rPr>
              <a:t>   X×Y = -1101000101</a:t>
            </a:r>
          </a:p>
        </p:txBody>
      </p:sp>
      <p:sp>
        <p:nvSpPr>
          <p:cNvPr id="161796" name="Rectangle 11"/>
          <p:cNvSpPr>
            <a:spLocks noChangeArrowheads="1"/>
          </p:cNvSpPr>
          <p:nvPr/>
        </p:nvSpPr>
        <p:spPr bwMode="auto">
          <a:xfrm>
            <a:off x="152400" y="152400"/>
            <a:ext cx="2895600" cy="488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600" b="1">
                <a:latin typeface="宋体" pitchFamily="2" charset="-122"/>
              </a:rPr>
              <a:t>用补码阵列乘法器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blinds(horizontal)">
                                      <p:cBhvr>
                                        <p:cTn id="7" dur="500"/>
                                        <p:tgtEl>
                                          <p:spTgt spid="297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blinds(horizontal)">
                                      <p:cBhvr>
                                        <p:cTn id="12" dur="5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autoUpdateAnimBg="0"/>
      <p:bldP spid="29704" grpId="0" animBg="1" autoUpdateAnimBg="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p:cNvSpPr>
            <a:spLocks noChangeArrowheads="1"/>
          </p:cNvSpPr>
          <p:nvPr/>
        </p:nvSpPr>
        <p:spPr bwMode="auto">
          <a:xfrm>
            <a:off x="228600" y="152400"/>
            <a:ext cx="8686800" cy="11604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宋体" pitchFamily="2" charset="-122"/>
              </a:rPr>
              <a:t>8</a:t>
            </a:r>
            <a:r>
              <a:rPr lang="zh-CN" altLang="en-US" sz="2800" b="1">
                <a:latin typeface="宋体" pitchFamily="2" charset="-122"/>
              </a:rPr>
              <a:t>．用原码阵列除法器计算ｘ</a:t>
            </a:r>
            <a:r>
              <a:rPr lang="en-US" altLang="zh-CN" sz="2800" b="1">
                <a:latin typeface="宋体" pitchFamily="2" charset="-122"/>
              </a:rPr>
              <a:t>÷</a:t>
            </a:r>
            <a:r>
              <a:rPr lang="zh-CN" altLang="en-US" sz="2800" b="1">
                <a:latin typeface="宋体" pitchFamily="2" charset="-122"/>
              </a:rPr>
              <a:t>ｙ。</a:t>
            </a:r>
            <a:endParaRPr lang="zh-CN" altLang="en-US" sz="2800">
              <a:latin typeface="宋体" pitchFamily="2" charset="-122"/>
            </a:endParaRPr>
          </a:p>
          <a:p>
            <a:pPr eaLnBrk="0" hangingPunct="0">
              <a:spcBef>
                <a:spcPct val="50000"/>
              </a:spcBef>
            </a:pPr>
            <a:r>
              <a:rPr lang="zh-CN" altLang="en-US" sz="2800" b="1">
                <a:latin typeface="宋体" pitchFamily="2" charset="-122"/>
              </a:rPr>
              <a:t>（</a:t>
            </a:r>
            <a:r>
              <a:rPr lang="en-US" altLang="zh-CN" sz="2800" b="1">
                <a:latin typeface="宋体" pitchFamily="2" charset="-122"/>
              </a:rPr>
              <a:t>1</a:t>
            </a:r>
            <a:r>
              <a:rPr lang="zh-CN" altLang="en-US" sz="2800" b="1">
                <a:latin typeface="宋体" pitchFamily="2" charset="-122"/>
              </a:rPr>
              <a:t>）ｘ＝</a:t>
            </a:r>
            <a:r>
              <a:rPr lang="en-US" altLang="zh-CN" sz="2800" b="1">
                <a:latin typeface="宋体" pitchFamily="2" charset="-122"/>
              </a:rPr>
              <a:t>11000, </a:t>
            </a:r>
            <a:r>
              <a:rPr lang="zh-CN" altLang="en-US" sz="2800" b="1">
                <a:latin typeface="宋体" pitchFamily="2" charset="-122"/>
              </a:rPr>
              <a:t>ｙ＝</a:t>
            </a:r>
            <a:r>
              <a:rPr lang="en-US" altLang="zh-CN" sz="2800" b="1">
                <a:latin typeface="宋体" pitchFamily="2" charset="-122"/>
              </a:rPr>
              <a:t>-11111</a:t>
            </a:r>
          </a:p>
        </p:txBody>
      </p:sp>
      <p:sp>
        <p:nvSpPr>
          <p:cNvPr id="30725" name="Rectangle 5"/>
          <p:cNvSpPr>
            <a:spLocks noChangeArrowheads="1"/>
          </p:cNvSpPr>
          <p:nvPr/>
        </p:nvSpPr>
        <p:spPr bwMode="auto">
          <a:xfrm>
            <a:off x="317500" y="1498600"/>
            <a:ext cx="8597900" cy="15525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解</a:t>
            </a:r>
            <a:r>
              <a:rPr lang="en-US" altLang="zh-CN" b="1">
                <a:latin typeface="宋体" pitchFamily="2" charset="-122"/>
              </a:rPr>
              <a:t>: </a:t>
            </a:r>
            <a:r>
              <a:rPr lang="zh-CN" altLang="en-US" b="1">
                <a:latin typeface="宋体" pitchFamily="2" charset="-122"/>
              </a:rPr>
              <a:t>符号位单独运算：</a:t>
            </a:r>
            <a:r>
              <a:rPr lang="en-US" altLang="zh-CN" b="1">
                <a:latin typeface="宋体" pitchFamily="2" charset="-122"/>
              </a:rPr>
              <a:t>X</a:t>
            </a:r>
            <a:r>
              <a:rPr lang="en-US" altLang="zh-CN" b="1" baseline="-30000">
                <a:latin typeface="宋体" pitchFamily="2" charset="-122"/>
              </a:rPr>
              <a:t>f</a:t>
            </a:r>
            <a:r>
              <a:rPr lang="en-US" altLang="zh-CN" b="1">
                <a:latin typeface="宋体" pitchFamily="2" charset="-122"/>
              </a:rPr>
              <a:t>⊕Y</a:t>
            </a:r>
            <a:r>
              <a:rPr lang="en-US" altLang="zh-CN" b="1" baseline="-30000">
                <a:latin typeface="宋体" pitchFamily="2" charset="-122"/>
              </a:rPr>
              <a:t>f</a:t>
            </a:r>
            <a:r>
              <a:rPr lang="en-US" altLang="zh-CN" b="1">
                <a:latin typeface="宋体" pitchFamily="2" charset="-122"/>
              </a:rPr>
              <a:t> = 0⊕1 = 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a:latin typeface="宋体" pitchFamily="2" charset="-122"/>
              </a:rPr>
              <a:t>＝</a:t>
            </a:r>
            <a:r>
              <a:rPr lang="en-US" altLang="zh-CN" b="1">
                <a:latin typeface="宋体" pitchFamily="2" charset="-122"/>
              </a:rPr>
              <a:t>11000,|</a:t>
            </a:r>
            <a:r>
              <a:rPr lang="zh-CN" altLang="en-US" b="1">
                <a:latin typeface="宋体" pitchFamily="2" charset="-122"/>
              </a:rPr>
              <a:t>ｙ</a:t>
            </a:r>
            <a:r>
              <a:rPr lang="en-US" altLang="zh-CN" b="1">
                <a:latin typeface="宋体" pitchFamily="2" charset="-122"/>
              </a:rPr>
              <a:t>|</a:t>
            </a:r>
            <a:r>
              <a:rPr lang="zh-CN" altLang="en-US" b="1">
                <a:latin typeface="宋体" pitchFamily="2" charset="-122"/>
              </a:rPr>
              <a:t>＝</a:t>
            </a:r>
            <a:r>
              <a:rPr lang="en-US" altLang="zh-CN" b="1">
                <a:latin typeface="宋体" pitchFamily="2" charset="-122"/>
              </a:rPr>
              <a:t>11111</a:t>
            </a:r>
            <a:endParaRPr lang="en-US" altLang="zh-CN">
              <a:latin typeface="宋体" pitchFamily="2" charset="-122"/>
            </a:endParaRPr>
          </a:p>
          <a:p>
            <a:pPr eaLnBrk="0" hangingPunct="0">
              <a:spcBef>
                <a:spcPct val="50000"/>
              </a:spcBef>
            </a:pPr>
            <a:r>
              <a:rPr lang="en-US" altLang="zh-CN" b="1">
                <a:latin typeface="宋体" pitchFamily="2" charset="-122"/>
              </a:rPr>
              <a:t>  [|x|]</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011000</a:t>
            </a:r>
            <a:r>
              <a:rPr lang="zh-CN" altLang="en-US" b="1">
                <a:latin typeface="宋体" pitchFamily="2" charset="-122"/>
              </a:rPr>
              <a:t>、</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011111</a:t>
            </a:r>
            <a:r>
              <a:rPr lang="zh-CN" altLang="en-US" b="1">
                <a:latin typeface="宋体" pitchFamily="2" charset="-122"/>
              </a:rPr>
              <a:t>、</a:t>
            </a:r>
            <a:r>
              <a:rPr lang="en-US" altLang="zh-CN" b="1">
                <a:latin typeface="宋体" pitchFamily="2" charset="-122"/>
              </a:rPr>
              <a:t>[</a:t>
            </a:r>
            <a:r>
              <a:rPr lang="zh-CN" altLang="en-US" b="1">
                <a:latin typeface="宋体" pitchFamily="2" charset="-122"/>
              </a:rPr>
              <a:t>－</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100001</a:t>
            </a:r>
            <a:endParaRPr lang="en-US" altLang="zh-CN">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additive="base">
                                        <p:cTn id="7" dur="500" fill="hold"/>
                                        <p:tgtEl>
                                          <p:spTgt spid="30725"/>
                                        </p:tgtEl>
                                        <p:attrNameLst>
                                          <p:attrName>ppt_x</p:attrName>
                                        </p:attrNameLst>
                                      </p:cBhvr>
                                      <p:tavLst>
                                        <p:tav tm="0">
                                          <p:val>
                                            <p:strVal val="0-#ppt_w/2"/>
                                          </p:val>
                                        </p:tav>
                                        <p:tav tm="100000">
                                          <p:val>
                                            <p:strVal val="#ppt_x"/>
                                          </p:val>
                                        </p:tav>
                                      </p:tavLst>
                                    </p:anim>
                                    <p:anim calcmode="lin" valueType="num">
                                      <p:cBhvr additive="base">
                                        <p:cTn id="8" dur="500" fill="hold"/>
                                        <p:tgtEl>
                                          <p:spTgt spid="307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nimBg="1"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3"/>
          <p:cNvSpPr>
            <a:spLocks noChangeArrowheads="1"/>
          </p:cNvSpPr>
          <p:nvPr/>
        </p:nvSpPr>
        <p:spPr bwMode="auto">
          <a:xfrm>
            <a:off x="152400" y="152400"/>
            <a:ext cx="85979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itchFamily="2" charset="-122"/>
              </a:rPr>
              <a:t>  [|x|]</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011000</a:t>
            </a:r>
            <a:r>
              <a:rPr lang="zh-CN" altLang="en-US" b="1">
                <a:latin typeface="宋体" pitchFamily="2" charset="-122"/>
              </a:rPr>
              <a:t>、</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011111</a:t>
            </a:r>
            <a:r>
              <a:rPr lang="zh-CN" altLang="en-US" b="1">
                <a:latin typeface="宋体" pitchFamily="2" charset="-122"/>
              </a:rPr>
              <a:t>、</a:t>
            </a:r>
            <a:r>
              <a:rPr lang="en-US" altLang="zh-CN" b="1">
                <a:latin typeface="宋体" pitchFamily="2" charset="-122"/>
              </a:rPr>
              <a:t>[</a:t>
            </a:r>
            <a:r>
              <a:rPr lang="zh-CN" altLang="en-US" b="1">
                <a:latin typeface="宋体" pitchFamily="2" charset="-122"/>
              </a:rPr>
              <a:t>－</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100001</a:t>
            </a:r>
            <a:endParaRPr lang="en-US" altLang="zh-CN">
              <a:latin typeface="宋体" pitchFamily="2" charset="-122"/>
            </a:endParaRPr>
          </a:p>
        </p:txBody>
      </p:sp>
      <p:graphicFrame>
        <p:nvGraphicFramePr>
          <p:cNvPr id="31748" name="Object 4"/>
          <p:cNvGraphicFramePr>
            <a:graphicFrameLocks noChangeAspect="1"/>
          </p:cNvGraphicFramePr>
          <p:nvPr/>
        </p:nvGraphicFramePr>
        <p:xfrm>
          <a:off x="228600" y="685800"/>
          <a:ext cx="8458200" cy="4724400"/>
        </p:xfrm>
        <a:graphic>
          <a:graphicData uri="http://schemas.openxmlformats.org/presentationml/2006/ole">
            <mc:AlternateContent xmlns:mc="http://schemas.openxmlformats.org/markup-compatibility/2006">
              <mc:Choice xmlns:v="urn:schemas-microsoft-com:vml" Requires="v">
                <p:oleObj spid="_x0000_s163986" name="位图图像" r:id="rId3" imgW="5315692" imgH="3161905" progId="PBrush">
                  <p:embed/>
                </p:oleObj>
              </mc:Choice>
              <mc:Fallback>
                <p:oleObj name="位图图像" r:id="rId3" imgW="5315692" imgH="3161905" progId="PBrush">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85800"/>
                        <a:ext cx="8458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0" name="Rectangle 6"/>
          <p:cNvSpPr>
            <a:spLocks noChangeArrowheads="1"/>
          </p:cNvSpPr>
          <p:nvPr/>
        </p:nvSpPr>
        <p:spPr bwMode="auto">
          <a:xfrm>
            <a:off x="152400" y="5562600"/>
            <a:ext cx="8763000" cy="9747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200" b="1">
                <a:latin typeface="宋体" pitchFamily="2" charset="-122"/>
              </a:rPr>
              <a:t>(</a:t>
            </a:r>
            <a:r>
              <a:rPr lang="zh-CN" altLang="en-US" sz="2200" b="1">
                <a:latin typeface="宋体" pitchFamily="2" charset="-122"/>
              </a:rPr>
              <a:t>最终余数为负时，必须恢复一次余数，使之变为正数且不需要移位）</a:t>
            </a:r>
          </a:p>
          <a:p>
            <a:pPr eaLnBrk="0" hangingPunct="0">
              <a:spcBef>
                <a:spcPct val="50000"/>
              </a:spcBef>
            </a:pPr>
            <a:r>
              <a:rPr lang="zh-CN" altLang="en-US" b="1">
                <a:latin typeface="宋体" pitchFamily="2" charset="-122"/>
              </a:rPr>
              <a:t>  故得：商 </a:t>
            </a:r>
            <a:r>
              <a:rPr lang="en-US" altLang="zh-CN" b="1">
                <a:latin typeface="宋体" pitchFamily="2" charset="-122"/>
              </a:rPr>
              <a:t>q</a:t>
            </a:r>
            <a:r>
              <a:rPr lang="zh-CN" altLang="en-US" b="1">
                <a:latin typeface="宋体" pitchFamily="2" charset="-122"/>
              </a:rPr>
              <a:t>＝</a:t>
            </a:r>
            <a:r>
              <a:rPr lang="en-US" altLang="zh-CN" b="1">
                <a:latin typeface="宋体" pitchFamily="2" charset="-122"/>
              </a:rPr>
              <a:t>-0.11000  </a:t>
            </a:r>
            <a:r>
              <a:rPr lang="zh-CN" altLang="en-US" b="1">
                <a:latin typeface="宋体" pitchFamily="2" charset="-122"/>
              </a:rPr>
              <a:t>余数 </a:t>
            </a:r>
            <a:r>
              <a:rPr lang="en-US" altLang="zh-CN" b="1">
                <a:latin typeface="宋体" pitchFamily="2" charset="-122"/>
              </a:rPr>
              <a:t>r</a:t>
            </a:r>
            <a:r>
              <a:rPr lang="zh-CN" altLang="en-US" b="1">
                <a:latin typeface="宋体" pitchFamily="2" charset="-122"/>
              </a:rPr>
              <a:t>＝</a:t>
            </a:r>
            <a:r>
              <a:rPr lang="en-US" altLang="zh-CN" b="1">
                <a:latin typeface="宋体" pitchFamily="2" charset="-122"/>
              </a:rPr>
              <a:t>0.0000011000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box(in)">
                                      <p:cBhvr>
                                        <p:cTn id="7" dur="500"/>
                                        <p:tgtEl>
                                          <p:spTgt spid="317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1750"/>
                                        </p:tgtEl>
                                        <p:attrNameLst>
                                          <p:attrName>style.visibility</p:attrName>
                                        </p:attrNameLst>
                                      </p:cBhvr>
                                      <p:to>
                                        <p:strVal val="visible"/>
                                      </p:to>
                                    </p:set>
                                    <p:animEffect transition="in" filter="box(in)">
                                      <p:cBhvr>
                                        <p:cTn id="12" dur="500"/>
                                        <p:tgtEl>
                                          <p:spTgt spid="31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animBg="1"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3"/>
          <p:cNvSpPr>
            <a:spLocks noChangeArrowheads="1"/>
          </p:cNvSpPr>
          <p:nvPr/>
        </p:nvSpPr>
        <p:spPr bwMode="auto">
          <a:xfrm>
            <a:off x="190500" y="88900"/>
            <a:ext cx="87249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a:t>
            </a:r>
            <a:r>
              <a:rPr lang="en-US" altLang="zh-CN" b="1">
                <a:latin typeface="宋体" pitchFamily="2" charset="-122"/>
              </a:rPr>
              <a:t>2</a:t>
            </a:r>
            <a:r>
              <a:rPr lang="zh-CN" altLang="en-US" b="1">
                <a:latin typeface="宋体" pitchFamily="2" charset="-122"/>
              </a:rPr>
              <a:t>）ｘ＝</a:t>
            </a:r>
            <a:r>
              <a:rPr lang="en-US" altLang="zh-CN" b="1">
                <a:latin typeface="宋体" pitchFamily="2" charset="-122"/>
              </a:rPr>
              <a:t>-01011, </a:t>
            </a:r>
            <a:r>
              <a:rPr lang="zh-CN" altLang="en-US" b="1">
                <a:latin typeface="宋体" pitchFamily="2" charset="-122"/>
              </a:rPr>
              <a:t>ｙ＝</a:t>
            </a:r>
            <a:r>
              <a:rPr lang="en-US" altLang="zh-CN" b="1">
                <a:latin typeface="宋体" pitchFamily="2" charset="-122"/>
              </a:rPr>
              <a:t>11001</a:t>
            </a:r>
            <a:endParaRPr lang="en-US" altLang="zh-CN">
              <a:latin typeface="宋体" pitchFamily="2" charset="-122"/>
            </a:endParaRPr>
          </a:p>
        </p:txBody>
      </p:sp>
      <p:sp>
        <p:nvSpPr>
          <p:cNvPr id="164867" name="Rectangle 4"/>
          <p:cNvSpPr>
            <a:spLocks noChangeArrowheads="1"/>
          </p:cNvSpPr>
          <p:nvPr/>
        </p:nvSpPr>
        <p:spPr bwMode="auto">
          <a:xfrm>
            <a:off x="0" y="2927350"/>
            <a:ext cx="91440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endParaRPr lang="en-US" altLang="zh-CN" sz="1200">
              <a:latin typeface="宋体" pitchFamily="2" charset="-122"/>
              <a:cs typeface="Times New Roman" pitchFamily="18" charset="0"/>
            </a:endParaRPr>
          </a:p>
          <a:p>
            <a:pPr eaLnBrk="0" hangingPunct="0"/>
            <a:endParaRPr lang="en-US" altLang="zh-CN"/>
          </a:p>
        </p:txBody>
      </p:sp>
      <p:sp>
        <p:nvSpPr>
          <p:cNvPr id="32773" name="Rectangle 5"/>
          <p:cNvSpPr>
            <a:spLocks noChangeArrowheads="1"/>
          </p:cNvSpPr>
          <p:nvPr/>
        </p:nvSpPr>
        <p:spPr bwMode="auto">
          <a:xfrm>
            <a:off x="215900" y="622300"/>
            <a:ext cx="8699500" cy="15525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解</a:t>
            </a:r>
            <a:r>
              <a:rPr lang="en-US" altLang="zh-CN" b="1">
                <a:latin typeface="宋体" pitchFamily="2" charset="-122"/>
              </a:rPr>
              <a:t>: </a:t>
            </a:r>
            <a:r>
              <a:rPr lang="zh-CN" altLang="en-US" b="1">
                <a:latin typeface="宋体" pitchFamily="2" charset="-122"/>
              </a:rPr>
              <a:t>符号位单独运算：</a:t>
            </a:r>
            <a:r>
              <a:rPr lang="en-US" altLang="zh-CN" b="1">
                <a:latin typeface="宋体" pitchFamily="2" charset="-122"/>
              </a:rPr>
              <a:t>X</a:t>
            </a:r>
            <a:r>
              <a:rPr lang="en-US" altLang="zh-CN" b="1" baseline="-30000">
                <a:latin typeface="宋体" pitchFamily="2" charset="-122"/>
              </a:rPr>
              <a:t>f</a:t>
            </a:r>
            <a:r>
              <a:rPr lang="en-US" altLang="zh-CN" b="1">
                <a:latin typeface="宋体" pitchFamily="2" charset="-122"/>
              </a:rPr>
              <a:t>⊕Y</a:t>
            </a:r>
            <a:r>
              <a:rPr lang="en-US" altLang="zh-CN" b="1" baseline="-30000">
                <a:latin typeface="宋体" pitchFamily="2" charset="-122"/>
              </a:rPr>
              <a:t>f</a:t>
            </a:r>
            <a:r>
              <a:rPr lang="en-US" altLang="zh-CN" b="1">
                <a:latin typeface="宋体" pitchFamily="2" charset="-122"/>
              </a:rPr>
              <a:t> = 1⊕0 = 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a:latin typeface="宋体" pitchFamily="2" charset="-122"/>
              </a:rPr>
              <a:t>＝</a:t>
            </a:r>
            <a:r>
              <a:rPr lang="en-US" altLang="zh-CN" b="1">
                <a:latin typeface="宋体" pitchFamily="2" charset="-122"/>
              </a:rPr>
              <a:t>01011,|</a:t>
            </a:r>
            <a:r>
              <a:rPr lang="zh-CN" altLang="en-US" b="1">
                <a:latin typeface="宋体" pitchFamily="2" charset="-122"/>
              </a:rPr>
              <a:t>ｙ</a:t>
            </a:r>
            <a:r>
              <a:rPr lang="en-US" altLang="zh-CN" b="1">
                <a:latin typeface="宋体" pitchFamily="2" charset="-122"/>
              </a:rPr>
              <a:t>|</a:t>
            </a:r>
            <a:r>
              <a:rPr lang="zh-CN" altLang="en-US" b="1">
                <a:latin typeface="宋体" pitchFamily="2" charset="-122"/>
              </a:rPr>
              <a:t>＝</a:t>
            </a:r>
            <a:r>
              <a:rPr lang="en-US" altLang="zh-CN" b="1">
                <a:latin typeface="宋体" pitchFamily="2" charset="-122"/>
              </a:rPr>
              <a:t>11001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　</a:t>
            </a:r>
            <a:r>
              <a:rPr lang="en-US" altLang="zh-CN" b="1">
                <a:latin typeface="宋体" pitchFamily="2" charset="-122"/>
              </a:rPr>
              <a:t>[|x|]</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001011</a:t>
            </a:r>
            <a:r>
              <a:rPr lang="zh-CN" altLang="en-US" b="1">
                <a:latin typeface="宋体" pitchFamily="2" charset="-122"/>
              </a:rPr>
              <a:t>、</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011001</a:t>
            </a:r>
            <a:r>
              <a:rPr lang="zh-CN" altLang="en-US" b="1">
                <a:latin typeface="宋体" pitchFamily="2" charset="-122"/>
              </a:rPr>
              <a:t>、</a:t>
            </a:r>
            <a:r>
              <a:rPr lang="en-US" altLang="zh-CN" b="1">
                <a:latin typeface="宋体" pitchFamily="2" charset="-122"/>
              </a:rPr>
              <a:t>[</a:t>
            </a:r>
            <a:r>
              <a:rPr lang="zh-CN" altLang="en-US" b="1">
                <a:latin typeface="宋体" pitchFamily="2" charset="-122"/>
              </a:rPr>
              <a:t>－</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100111</a:t>
            </a:r>
          </a:p>
        </p:txBody>
      </p:sp>
      <p:graphicFrame>
        <p:nvGraphicFramePr>
          <p:cNvPr id="32774" name="Object 6"/>
          <p:cNvGraphicFramePr>
            <a:graphicFrameLocks noChangeAspect="1"/>
          </p:cNvGraphicFramePr>
          <p:nvPr/>
        </p:nvGraphicFramePr>
        <p:xfrm>
          <a:off x="914400" y="2362200"/>
          <a:ext cx="7391400" cy="3505200"/>
        </p:xfrm>
        <a:graphic>
          <a:graphicData uri="http://schemas.openxmlformats.org/presentationml/2006/ole">
            <mc:AlternateContent xmlns:mc="http://schemas.openxmlformats.org/markup-compatibility/2006">
              <mc:Choice xmlns:v="urn:schemas-microsoft-com:vml" Requires="v">
                <p:oleObj spid="_x0000_s165012" name="位图图像" r:id="rId3" imgW="5161905" imgH="3390476" progId="PBrush">
                  <p:embed/>
                </p:oleObj>
              </mc:Choice>
              <mc:Fallback>
                <p:oleObj name="位图图像" r:id="rId3" imgW="5161905" imgH="3390476" progId="PBrush">
                  <p:embed/>
                  <p:pic>
                    <p:nvPicPr>
                      <p:cNvPr id="0"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362200"/>
                        <a:ext cx="7391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6" name="Rectangle 8"/>
          <p:cNvSpPr>
            <a:spLocks noChangeArrowheads="1"/>
          </p:cNvSpPr>
          <p:nvPr/>
        </p:nvSpPr>
        <p:spPr bwMode="auto">
          <a:xfrm>
            <a:off x="533400" y="6096000"/>
            <a:ext cx="80772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itchFamily="2" charset="-122"/>
              </a:rPr>
              <a:t>故得：商 </a:t>
            </a:r>
            <a:r>
              <a:rPr lang="en-US" altLang="zh-CN" b="1">
                <a:latin typeface="宋体" pitchFamily="2" charset="-122"/>
              </a:rPr>
              <a:t>q</a:t>
            </a:r>
            <a:r>
              <a:rPr lang="zh-CN" altLang="en-US" b="1">
                <a:latin typeface="宋体" pitchFamily="2" charset="-122"/>
              </a:rPr>
              <a:t>＝</a:t>
            </a:r>
            <a:r>
              <a:rPr lang="en-US" altLang="zh-CN" b="1">
                <a:latin typeface="宋体" pitchFamily="2" charset="-122"/>
              </a:rPr>
              <a:t>-0.01110   </a:t>
            </a:r>
            <a:r>
              <a:rPr lang="zh-CN" altLang="en-US" b="1">
                <a:latin typeface="宋体" pitchFamily="2" charset="-122"/>
              </a:rPr>
              <a:t>余数 </a:t>
            </a:r>
            <a:r>
              <a:rPr lang="en-US" altLang="zh-CN" b="1">
                <a:latin typeface="宋体" pitchFamily="2" charset="-122"/>
              </a:rPr>
              <a:t>r</a:t>
            </a:r>
            <a:r>
              <a:rPr lang="zh-CN" altLang="en-US" b="1">
                <a:latin typeface="宋体" pitchFamily="2" charset="-122"/>
              </a:rPr>
              <a:t>＝</a:t>
            </a:r>
            <a:r>
              <a:rPr lang="en-US" altLang="zh-CN" b="1">
                <a:latin typeface="宋体" pitchFamily="2" charset="-122"/>
              </a:rPr>
              <a:t>0.0000000010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dissolve">
                                      <p:cBhvr>
                                        <p:cTn id="7" dur="500"/>
                                        <p:tgtEl>
                                          <p:spTgt spid="327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dissolve">
                                      <p:cBhvr>
                                        <p:cTn id="12" dur="500"/>
                                        <p:tgtEl>
                                          <p:spTgt spid="327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776"/>
                                        </p:tgtEl>
                                        <p:attrNameLst>
                                          <p:attrName>style.visibility</p:attrName>
                                        </p:attrNameLst>
                                      </p:cBhvr>
                                      <p:to>
                                        <p:strVal val="visible"/>
                                      </p:to>
                                    </p:set>
                                    <p:animEffect transition="in" filter="dissolve">
                                      <p:cBhvr>
                                        <p:cTn id="17" dur="500"/>
                                        <p:tgtEl>
                                          <p:spTgt spid="32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nimBg="1" autoUpdateAnimBg="0"/>
      <p:bldP spid="32776" grpId="0" animBg="1" autoUpdateAnimBg="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ChangeArrowheads="1"/>
          </p:cNvSpPr>
          <p:nvPr/>
        </p:nvSpPr>
        <p:spPr bwMode="auto">
          <a:xfrm>
            <a:off x="152400" y="152400"/>
            <a:ext cx="8763000" cy="15525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itchFamily="2" charset="-122"/>
              </a:rPr>
              <a:t>9</a:t>
            </a:r>
            <a:r>
              <a:rPr lang="zh-CN" altLang="en-US" b="1">
                <a:latin typeface="宋体" pitchFamily="2" charset="-122"/>
              </a:rPr>
              <a:t>．设阶码</a:t>
            </a:r>
            <a:r>
              <a:rPr lang="en-US" altLang="zh-CN" b="1">
                <a:latin typeface="宋体" pitchFamily="2" charset="-122"/>
              </a:rPr>
              <a:t>3</a:t>
            </a:r>
            <a:r>
              <a:rPr lang="zh-CN" altLang="en-US" b="1">
                <a:latin typeface="宋体" pitchFamily="2" charset="-122"/>
              </a:rPr>
              <a:t>位，尾数</a:t>
            </a:r>
            <a:r>
              <a:rPr lang="en-US" altLang="zh-CN" b="1">
                <a:latin typeface="宋体" pitchFamily="2" charset="-122"/>
              </a:rPr>
              <a:t>6</a:t>
            </a:r>
            <a:r>
              <a:rPr lang="zh-CN" altLang="en-US" b="1">
                <a:latin typeface="宋体" pitchFamily="2" charset="-122"/>
              </a:rPr>
              <a:t>位，按浮点运算方法，</a:t>
            </a:r>
          </a:p>
          <a:p>
            <a:pPr>
              <a:spcBef>
                <a:spcPct val="50000"/>
              </a:spcBef>
            </a:pPr>
            <a:r>
              <a:rPr lang="zh-CN" altLang="en-US" b="1">
                <a:latin typeface="宋体" pitchFamily="2" charset="-122"/>
              </a:rPr>
              <a:t>   完成</a:t>
            </a:r>
            <a:r>
              <a:rPr lang="en-US" altLang="zh-CN" b="1">
                <a:latin typeface="宋体" pitchFamily="2" charset="-122"/>
              </a:rPr>
              <a:t>[</a:t>
            </a:r>
            <a:r>
              <a:rPr lang="zh-CN" altLang="en-US" b="1">
                <a:latin typeface="宋体" pitchFamily="2" charset="-122"/>
              </a:rPr>
              <a:t>ｘ＋ｙ</a:t>
            </a:r>
            <a:r>
              <a:rPr lang="en-US" altLang="zh-CN" b="1">
                <a:latin typeface="宋体" pitchFamily="2" charset="-122"/>
              </a:rPr>
              <a:t>]</a:t>
            </a:r>
            <a:r>
              <a:rPr lang="zh-CN" altLang="en-US" b="1">
                <a:latin typeface="宋体" pitchFamily="2" charset="-122"/>
              </a:rPr>
              <a:t>和</a:t>
            </a: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a:latin typeface="宋体" pitchFamily="2" charset="-122"/>
              </a:rPr>
              <a:t>ｙ</a:t>
            </a:r>
            <a:r>
              <a:rPr lang="en-US" altLang="zh-CN" b="1">
                <a:latin typeface="宋体" pitchFamily="2" charset="-122"/>
              </a:rPr>
              <a:t>]</a:t>
            </a:r>
            <a:r>
              <a:rPr lang="zh-CN" altLang="en-US" b="1">
                <a:latin typeface="宋体" pitchFamily="2" charset="-122"/>
              </a:rPr>
              <a:t>运算：</a:t>
            </a:r>
            <a:endParaRPr lang="zh-CN" altLang="en-US">
              <a:latin typeface="宋体" pitchFamily="2" charset="-122"/>
            </a:endParaRPr>
          </a:p>
          <a:p>
            <a:pPr eaLnBrk="0" hangingPunct="0">
              <a:spcBef>
                <a:spcPct val="50000"/>
              </a:spcBef>
            </a:pPr>
            <a:r>
              <a:rPr lang="zh-CN" altLang="en-US" b="1">
                <a:latin typeface="宋体" pitchFamily="2" charset="-122"/>
              </a:rPr>
              <a:t>（</a:t>
            </a:r>
            <a:r>
              <a:rPr lang="en-US" altLang="zh-CN" b="1">
                <a:latin typeface="宋体" pitchFamily="2" charset="-122"/>
              </a:rPr>
              <a:t>1</a:t>
            </a:r>
            <a:r>
              <a:rPr lang="zh-CN" altLang="en-US" b="1">
                <a:latin typeface="宋体" pitchFamily="2" charset="-122"/>
              </a:rPr>
              <a:t>）ｘ＝</a:t>
            </a:r>
            <a:r>
              <a:rPr lang="en-US" altLang="zh-CN" b="1">
                <a:latin typeface="宋体" pitchFamily="2" charset="-122"/>
              </a:rPr>
              <a:t>2</a:t>
            </a:r>
            <a:r>
              <a:rPr lang="en-US" altLang="zh-CN" b="1" baseline="30000">
                <a:latin typeface="宋体" pitchFamily="2" charset="-122"/>
              </a:rPr>
              <a:t>-011</a:t>
            </a:r>
            <a:r>
              <a:rPr lang="en-US" altLang="zh-CN" b="1">
                <a:latin typeface="宋体" pitchFamily="2" charset="-122"/>
              </a:rPr>
              <a:t>×(0.100101),</a:t>
            </a:r>
            <a:r>
              <a:rPr lang="zh-CN" altLang="en-US" b="1">
                <a:latin typeface="宋体" pitchFamily="2" charset="-122"/>
              </a:rPr>
              <a:t>ｙ＝</a:t>
            </a:r>
            <a:r>
              <a:rPr lang="en-US" altLang="zh-CN" b="1">
                <a:latin typeface="宋体" pitchFamily="2" charset="-122"/>
              </a:rPr>
              <a:t>2</a:t>
            </a:r>
            <a:r>
              <a:rPr lang="en-US" altLang="zh-CN" b="1" baseline="30000">
                <a:latin typeface="宋体" pitchFamily="2" charset="-122"/>
              </a:rPr>
              <a:t>-010</a:t>
            </a:r>
            <a:r>
              <a:rPr lang="en-US" altLang="zh-CN" b="1">
                <a:latin typeface="宋体" pitchFamily="2" charset="-122"/>
              </a:rPr>
              <a:t>×(-0.011110)</a:t>
            </a:r>
          </a:p>
        </p:txBody>
      </p:sp>
      <p:sp>
        <p:nvSpPr>
          <p:cNvPr id="33797" name="Rectangle 5"/>
          <p:cNvSpPr>
            <a:spLocks noChangeArrowheads="1"/>
          </p:cNvSpPr>
          <p:nvPr/>
        </p:nvSpPr>
        <p:spPr bwMode="auto">
          <a:xfrm>
            <a:off x="152400" y="1828800"/>
            <a:ext cx="8648700" cy="46561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解</a:t>
            </a:r>
            <a:r>
              <a:rPr lang="en-US" altLang="zh-CN" b="1">
                <a:latin typeface="宋体" pitchFamily="2" charset="-122"/>
              </a:rPr>
              <a:t>:  </a:t>
            </a:r>
            <a:r>
              <a:rPr lang="zh-CN" altLang="en-US" b="1">
                <a:latin typeface="宋体" pitchFamily="2" charset="-122"/>
              </a:rPr>
              <a:t>假设两数均以补码表示</a:t>
            </a:r>
            <a:r>
              <a:rPr lang="en-US" altLang="zh-CN" b="1">
                <a:latin typeface="宋体" pitchFamily="2" charset="-122"/>
              </a:rPr>
              <a:t>,</a:t>
            </a:r>
            <a:r>
              <a:rPr lang="zh-CN" altLang="en-US" b="1">
                <a:latin typeface="宋体" pitchFamily="2" charset="-122"/>
              </a:rPr>
              <a:t>阶码采用双符号位</a:t>
            </a:r>
            <a:r>
              <a:rPr lang="en-US" altLang="zh-CN" b="1">
                <a:latin typeface="宋体" pitchFamily="2" charset="-122"/>
              </a:rPr>
              <a:t>,</a:t>
            </a:r>
            <a:r>
              <a:rPr lang="zh-CN" altLang="en-US" b="1">
                <a:latin typeface="宋体" pitchFamily="2" charset="-122"/>
              </a:rPr>
              <a:t>尾数采用单符号位</a:t>
            </a:r>
            <a:r>
              <a:rPr lang="en-US" altLang="zh-CN" b="1">
                <a:latin typeface="宋体" pitchFamily="2" charset="-122"/>
              </a:rPr>
              <a:t>,</a:t>
            </a:r>
            <a:r>
              <a:rPr lang="zh-CN" altLang="en-US" b="1">
                <a:latin typeface="宋体" pitchFamily="2" charset="-122"/>
              </a:rPr>
              <a:t>则它们的浮点表示分别为</a:t>
            </a:r>
            <a:r>
              <a:rPr lang="en-US" altLang="zh-CN" b="1">
                <a:latin typeface="宋体" pitchFamily="2" charset="-122"/>
              </a:rPr>
              <a:t>:</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11 101,</a:t>
            </a:r>
            <a:r>
              <a:rPr lang="zh-CN" altLang="en-US" b="1">
                <a:latin typeface="宋体" pitchFamily="2" charset="-122"/>
              </a:rPr>
              <a:t>　</a:t>
            </a:r>
            <a:r>
              <a:rPr lang="en-US" altLang="zh-CN" b="1">
                <a:latin typeface="宋体" pitchFamily="2" charset="-122"/>
              </a:rPr>
              <a:t>0.100101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11 110,</a:t>
            </a:r>
            <a:r>
              <a:rPr lang="zh-CN" altLang="en-US" b="1">
                <a:latin typeface="宋体" pitchFamily="2" charset="-122"/>
              </a:rPr>
              <a:t>　</a:t>
            </a:r>
            <a:r>
              <a:rPr lang="en-US" altLang="zh-CN" b="1">
                <a:latin typeface="宋体" pitchFamily="2" charset="-122"/>
              </a:rPr>
              <a:t>1.100010</a:t>
            </a:r>
            <a:endParaRPr lang="en-US" altLang="zh-CN">
              <a:latin typeface="宋体" pitchFamily="2" charset="-122"/>
            </a:endParaRPr>
          </a:p>
          <a:p>
            <a:pPr eaLnBrk="0" hangingPunct="0">
              <a:spcBef>
                <a:spcPct val="50000"/>
              </a:spcBef>
            </a:pPr>
            <a:r>
              <a:rPr lang="zh-CN" altLang="en-US" b="1">
                <a:latin typeface="宋体" pitchFamily="2" charset="-122"/>
              </a:rPr>
              <a:t>求阶差并对阶</a:t>
            </a:r>
            <a:endParaRPr lang="zh-CN" altLang="en-US">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E</a:t>
            </a:r>
            <a:r>
              <a:rPr lang="zh-CN" altLang="en-US" b="1">
                <a:latin typeface="宋体" pitchFamily="2" charset="-122"/>
              </a:rPr>
              <a:t>＝</a:t>
            </a:r>
            <a:r>
              <a:rPr lang="en-US" altLang="zh-CN" b="1">
                <a:latin typeface="宋体" pitchFamily="2" charset="-122"/>
              </a:rPr>
              <a:t>Ex-Ey</a:t>
            </a:r>
            <a:r>
              <a:rPr lang="zh-CN" altLang="en-US" b="1">
                <a:latin typeface="宋体" pitchFamily="2" charset="-122"/>
              </a:rPr>
              <a:t>＝</a:t>
            </a:r>
            <a:r>
              <a:rPr lang="en-US" altLang="zh-CN" b="1">
                <a:latin typeface="宋体" pitchFamily="2" charset="-122"/>
              </a:rPr>
              <a:t>[Ex]</a:t>
            </a:r>
            <a:r>
              <a:rPr lang="zh-CN" altLang="en-US" b="1" baseline="-30000">
                <a:latin typeface="宋体" pitchFamily="2" charset="-122"/>
              </a:rPr>
              <a:t>补</a:t>
            </a:r>
            <a:r>
              <a:rPr lang="en-US" altLang="zh-CN" b="1">
                <a:latin typeface="宋体" pitchFamily="2" charset="-122"/>
              </a:rPr>
              <a:t>+[-Ey]</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11 101+00 010</a:t>
            </a:r>
            <a:r>
              <a:rPr lang="zh-CN" altLang="en-US" b="1">
                <a:latin typeface="宋体" pitchFamily="2" charset="-122"/>
              </a:rPr>
              <a:t>＝</a:t>
            </a:r>
            <a:r>
              <a:rPr lang="en-US" altLang="zh-CN" b="1">
                <a:latin typeface="宋体" pitchFamily="2" charset="-122"/>
              </a:rPr>
              <a:t>11 111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即△</a:t>
            </a:r>
            <a:r>
              <a:rPr lang="en-US" altLang="zh-CN" b="1">
                <a:latin typeface="宋体" pitchFamily="2" charset="-122"/>
              </a:rPr>
              <a:t>E</a:t>
            </a:r>
            <a:r>
              <a:rPr lang="zh-CN" altLang="en-US" b="1">
                <a:latin typeface="宋体" pitchFamily="2" charset="-122"/>
              </a:rPr>
              <a:t>为－</a:t>
            </a:r>
            <a:r>
              <a:rPr lang="en-US" altLang="zh-CN" b="1">
                <a:latin typeface="宋体" pitchFamily="2" charset="-122"/>
              </a:rPr>
              <a:t>1,</a:t>
            </a:r>
            <a:r>
              <a:rPr lang="zh-CN" altLang="en-US" b="1">
                <a:latin typeface="宋体" pitchFamily="2" charset="-122"/>
              </a:rPr>
              <a:t>ｘ的阶码小</a:t>
            </a:r>
            <a:r>
              <a:rPr lang="en-US" altLang="zh-CN" b="1">
                <a:latin typeface="宋体" pitchFamily="2" charset="-122"/>
              </a:rPr>
              <a:t>,</a:t>
            </a:r>
            <a:r>
              <a:rPr lang="zh-CN" altLang="en-US" b="1">
                <a:latin typeface="宋体" pitchFamily="2" charset="-122"/>
              </a:rPr>
              <a:t>应使</a:t>
            </a:r>
            <a:r>
              <a:rPr lang="en-US" altLang="zh-CN" b="1">
                <a:latin typeface="宋体" pitchFamily="2" charset="-122"/>
              </a:rPr>
              <a:t>Mx</a:t>
            </a:r>
            <a:r>
              <a:rPr lang="zh-CN" altLang="en-US" b="1">
                <a:latin typeface="宋体" pitchFamily="2" charset="-122"/>
              </a:rPr>
              <a:t>右移一位</a:t>
            </a:r>
            <a:r>
              <a:rPr lang="en-US" altLang="zh-CN" b="1">
                <a:latin typeface="宋体" pitchFamily="2" charset="-122"/>
              </a:rPr>
              <a:t>,Ex</a:t>
            </a:r>
            <a:r>
              <a:rPr lang="zh-CN" altLang="en-US" b="1">
                <a:latin typeface="宋体" pitchFamily="2" charset="-122"/>
              </a:rPr>
              <a:t>加</a:t>
            </a:r>
            <a:r>
              <a:rPr lang="en-US" altLang="zh-CN" b="1">
                <a:latin typeface="宋体" pitchFamily="2" charset="-122"/>
              </a:rPr>
              <a:t>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11 110, 0.010010(1) </a:t>
            </a:r>
          </a:p>
          <a:p>
            <a:pPr eaLnBrk="0" hangingPunct="0">
              <a:spcBef>
                <a:spcPct val="50000"/>
              </a:spcBef>
            </a:pPr>
            <a:r>
              <a:rPr lang="en-US" altLang="zh-CN" b="1">
                <a:latin typeface="宋体" pitchFamily="2" charset="-122"/>
              </a:rPr>
              <a:t>    </a:t>
            </a:r>
            <a:r>
              <a:rPr lang="zh-CN" altLang="en-US" b="1">
                <a:latin typeface="宋体" pitchFamily="2" charset="-122"/>
              </a:rPr>
              <a:t>其中</a:t>
            </a:r>
            <a:r>
              <a:rPr lang="en-US" altLang="zh-CN" b="1">
                <a:latin typeface="宋体" pitchFamily="2" charset="-122"/>
              </a:rPr>
              <a:t>(1)</a:t>
            </a:r>
            <a:r>
              <a:rPr lang="zh-CN" altLang="en-US" b="1">
                <a:latin typeface="宋体" pitchFamily="2" charset="-122"/>
              </a:rPr>
              <a:t>表示</a:t>
            </a:r>
            <a:r>
              <a:rPr lang="en-US" altLang="zh-CN" b="1">
                <a:latin typeface="宋体" pitchFamily="2" charset="-122"/>
              </a:rPr>
              <a:t>M</a:t>
            </a:r>
            <a:r>
              <a:rPr lang="zh-CN" altLang="en-US" b="1">
                <a:latin typeface="宋体" pitchFamily="2" charset="-122"/>
              </a:rPr>
              <a:t>ｘ右移</a:t>
            </a:r>
            <a:r>
              <a:rPr lang="en-US" altLang="zh-CN" b="1">
                <a:latin typeface="宋体" pitchFamily="2" charset="-122"/>
              </a:rPr>
              <a:t>1</a:t>
            </a:r>
            <a:r>
              <a:rPr lang="zh-CN" altLang="en-US" b="1">
                <a:latin typeface="宋体" pitchFamily="2" charset="-122"/>
              </a:rPr>
              <a:t>位后移出的最低一位数。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checkerboard(across)">
                                      <p:cBhvr>
                                        <p:cTn id="7"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nimBg="1"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p:cNvSpPr>
            <a:spLocks noChangeArrowheads="1"/>
          </p:cNvSpPr>
          <p:nvPr/>
        </p:nvSpPr>
        <p:spPr bwMode="auto">
          <a:xfrm>
            <a:off x="228600" y="762000"/>
            <a:ext cx="8763000" cy="57515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ｘ＋ｙ   尾数求和</a:t>
            </a:r>
            <a:endParaRPr lang="zh-CN" altLang="en-US">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0. 0 1 0 0 1 0</a:t>
            </a:r>
            <a:r>
              <a:rPr lang="zh-CN" altLang="en-US" b="1">
                <a:latin typeface="宋体" pitchFamily="2" charset="-122"/>
              </a:rPr>
              <a:t>（</a:t>
            </a:r>
            <a:r>
              <a:rPr lang="en-US" altLang="zh-CN" b="1">
                <a:latin typeface="宋体" pitchFamily="2" charset="-122"/>
              </a:rPr>
              <a:t>1)</a:t>
            </a:r>
            <a:endParaRPr lang="en-US" altLang="zh-CN">
              <a:latin typeface="宋体" pitchFamily="2" charset="-122"/>
            </a:endParaRPr>
          </a:p>
          <a:p>
            <a:pPr eaLnBrk="0" hangingPunct="0">
              <a:spcBef>
                <a:spcPct val="50000"/>
              </a:spcBef>
            </a:pPr>
            <a:r>
              <a:rPr lang="zh-CN" altLang="en-US" b="1">
                <a:latin typeface="宋体" pitchFamily="2" charset="-122"/>
              </a:rPr>
              <a:t>　　　　　　　　＋　 </a:t>
            </a:r>
            <a:r>
              <a:rPr lang="en-US" altLang="zh-CN" b="1">
                <a:latin typeface="宋体" pitchFamily="2" charset="-122"/>
              </a:rPr>
              <a:t>1. 1 0 0 0 1 0</a:t>
            </a:r>
            <a:endParaRPr lang="en-US" altLang="zh-CN">
              <a:latin typeface="宋体" pitchFamily="2" charset="-122"/>
            </a:endParaRPr>
          </a:p>
          <a:p>
            <a:pPr eaLnBrk="0" hangingPunct="0">
              <a:spcBef>
                <a:spcPct val="50000"/>
              </a:spcBef>
            </a:pPr>
            <a:r>
              <a:rPr lang="zh-CN" altLang="en-US" b="1">
                <a:latin typeface="宋体" pitchFamily="2" charset="-122"/>
              </a:rPr>
              <a:t>　　　　　　────────────────</a:t>
            </a:r>
            <a:endParaRPr lang="zh-CN" altLang="en-US">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1. 1 1 0 1 0 0 (1)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规格化处理</a:t>
            </a:r>
            <a:r>
              <a:rPr lang="en-US" altLang="zh-CN" b="1">
                <a:latin typeface="宋体" pitchFamily="2" charset="-122"/>
              </a:rPr>
              <a:t>: </a:t>
            </a:r>
            <a:r>
              <a:rPr lang="zh-CN" altLang="en-US" b="1">
                <a:latin typeface="宋体" pitchFamily="2" charset="-122"/>
              </a:rPr>
              <a:t>尾数运算结果的符号位与最高数值位同值</a:t>
            </a:r>
            <a:r>
              <a:rPr lang="en-US" altLang="zh-CN" b="1">
                <a:latin typeface="宋体" pitchFamily="2" charset="-122"/>
              </a:rPr>
              <a:t>,</a:t>
            </a:r>
            <a:r>
              <a:rPr lang="zh-CN" altLang="en-US" b="1">
                <a:latin typeface="宋体" pitchFamily="2" charset="-122"/>
              </a:rPr>
              <a:t>应执</a:t>
            </a:r>
          </a:p>
          <a:p>
            <a:pPr eaLnBrk="0" hangingPunct="0">
              <a:spcBef>
                <a:spcPct val="50000"/>
              </a:spcBef>
            </a:pPr>
            <a:r>
              <a:rPr lang="zh-CN" altLang="en-US" b="1">
                <a:latin typeface="宋体" pitchFamily="2" charset="-122"/>
              </a:rPr>
              <a:t>             行两次左规处理</a:t>
            </a:r>
            <a:r>
              <a:rPr lang="en-US" altLang="zh-CN" b="1">
                <a:latin typeface="宋体" pitchFamily="2" charset="-122"/>
              </a:rPr>
              <a:t>,</a:t>
            </a:r>
            <a:r>
              <a:rPr lang="zh-CN" altLang="en-US" b="1">
                <a:latin typeface="宋体" pitchFamily="2" charset="-122"/>
              </a:rPr>
              <a:t>结果为</a:t>
            </a:r>
            <a:r>
              <a:rPr lang="en-US" altLang="zh-CN" b="1">
                <a:latin typeface="宋体" pitchFamily="2" charset="-122"/>
              </a:rPr>
              <a:t>1.010010,</a:t>
            </a:r>
            <a:r>
              <a:rPr lang="zh-CN" altLang="en-US" b="1">
                <a:latin typeface="宋体" pitchFamily="2" charset="-122"/>
              </a:rPr>
              <a:t>阶码减</a:t>
            </a:r>
            <a:r>
              <a:rPr lang="en-US" altLang="zh-CN" b="1">
                <a:latin typeface="宋体" pitchFamily="2" charset="-122"/>
              </a:rPr>
              <a:t>2</a:t>
            </a:r>
            <a:r>
              <a:rPr lang="zh-CN" altLang="en-US" b="1">
                <a:latin typeface="宋体" pitchFamily="2" charset="-122"/>
              </a:rPr>
              <a:t>为</a:t>
            </a:r>
            <a:r>
              <a:rPr lang="en-US" altLang="zh-CN" b="1">
                <a:latin typeface="宋体" pitchFamily="2" charset="-122"/>
              </a:rPr>
              <a:t>11 100</a:t>
            </a:r>
            <a:r>
              <a:rPr lang="zh-CN" altLang="en-US" b="1">
                <a:latin typeface="宋体" pitchFamily="2" charset="-122"/>
              </a:rPr>
              <a:t>（</a:t>
            </a:r>
            <a:r>
              <a:rPr lang="en-US" altLang="zh-CN" b="1">
                <a:latin typeface="宋体" pitchFamily="2" charset="-122"/>
              </a:rPr>
              <a:t>11 110 + 11 110</a:t>
            </a:r>
            <a:r>
              <a:rPr lang="zh-CN" altLang="en-US" b="1">
                <a:latin typeface="宋体" pitchFamily="2" charset="-122"/>
              </a:rPr>
              <a:t>）</a:t>
            </a:r>
            <a:endParaRPr lang="zh-CN" altLang="en-US">
              <a:latin typeface="宋体" pitchFamily="2" charset="-122"/>
            </a:endParaRPr>
          </a:p>
          <a:p>
            <a:pPr eaLnBrk="0" hangingPunct="0">
              <a:spcBef>
                <a:spcPct val="50000"/>
              </a:spcBef>
            </a:pPr>
            <a:r>
              <a:rPr lang="zh-CN" altLang="en-US" b="1">
                <a:latin typeface="宋体" pitchFamily="2" charset="-122"/>
              </a:rPr>
              <a:t> 舍入处理</a:t>
            </a:r>
            <a:r>
              <a:rPr lang="en-US" altLang="zh-CN" b="1">
                <a:latin typeface="宋体" pitchFamily="2" charset="-122"/>
              </a:rPr>
              <a:t>: </a:t>
            </a:r>
            <a:r>
              <a:rPr lang="zh-CN" altLang="en-US" b="1">
                <a:latin typeface="宋体" pitchFamily="2" charset="-122"/>
              </a:rPr>
              <a:t>无</a:t>
            </a:r>
            <a:endParaRPr lang="zh-CN" altLang="en-US">
              <a:latin typeface="宋体" pitchFamily="2" charset="-122"/>
            </a:endParaRPr>
          </a:p>
          <a:p>
            <a:pPr eaLnBrk="0" hangingPunct="0">
              <a:spcBef>
                <a:spcPct val="50000"/>
              </a:spcBef>
            </a:pPr>
            <a:r>
              <a:rPr lang="zh-CN" altLang="en-US" b="1">
                <a:latin typeface="宋体" pitchFamily="2" charset="-122"/>
              </a:rPr>
              <a:t> 判溢出</a:t>
            </a:r>
            <a:r>
              <a:rPr lang="en-US" altLang="zh-CN" b="1">
                <a:latin typeface="宋体" pitchFamily="2" charset="-122"/>
              </a:rPr>
              <a:t>: </a:t>
            </a:r>
            <a:r>
              <a:rPr lang="zh-CN" altLang="en-US" b="1">
                <a:latin typeface="宋体" pitchFamily="2" charset="-122"/>
              </a:rPr>
              <a:t>阶码符号位为</a:t>
            </a:r>
            <a:r>
              <a:rPr lang="en-US" altLang="zh-CN" b="1">
                <a:latin typeface="宋体" pitchFamily="2" charset="-122"/>
              </a:rPr>
              <a:t>11,</a:t>
            </a:r>
            <a:r>
              <a:rPr lang="zh-CN" altLang="en-US" b="1">
                <a:latin typeface="宋体" pitchFamily="2" charset="-122"/>
              </a:rPr>
              <a:t>不溢出</a:t>
            </a:r>
            <a:r>
              <a:rPr lang="en-US" altLang="zh-CN" b="1">
                <a:latin typeface="宋体" pitchFamily="2" charset="-122"/>
              </a:rPr>
              <a:t>,</a:t>
            </a:r>
            <a:r>
              <a:rPr lang="zh-CN" altLang="en-US" b="1">
                <a:latin typeface="宋体" pitchFamily="2" charset="-122"/>
              </a:rPr>
              <a:t>故得最终结果为</a:t>
            </a:r>
            <a:endParaRPr lang="zh-CN" altLang="en-US">
              <a:latin typeface="宋体" pitchFamily="2" charset="-122"/>
            </a:endParaRPr>
          </a:p>
          <a:p>
            <a:pPr eaLnBrk="0" hangingPunct="0">
              <a:spcBef>
                <a:spcPct val="50000"/>
              </a:spcBef>
            </a:pPr>
            <a:r>
              <a:rPr lang="zh-CN" altLang="en-US" b="1">
                <a:latin typeface="宋体" pitchFamily="2" charset="-122"/>
              </a:rPr>
              <a:t>　　　　   　　ｘ</a:t>
            </a:r>
            <a:r>
              <a:rPr lang="en-US" altLang="zh-CN" b="1">
                <a:latin typeface="宋体" pitchFamily="2" charset="-122"/>
              </a:rPr>
              <a:t>+</a:t>
            </a:r>
            <a:r>
              <a:rPr lang="zh-CN" altLang="en-US" b="1">
                <a:latin typeface="宋体" pitchFamily="2" charset="-122"/>
              </a:rPr>
              <a:t>ｙ＝</a:t>
            </a:r>
            <a:r>
              <a:rPr lang="en-US" altLang="zh-CN" b="1">
                <a:latin typeface="宋体" pitchFamily="2" charset="-122"/>
              </a:rPr>
              <a:t>2</a:t>
            </a:r>
            <a:r>
              <a:rPr lang="en-US" altLang="zh-CN" b="1" baseline="30000">
                <a:latin typeface="宋体" pitchFamily="2" charset="-122"/>
              </a:rPr>
              <a:t>-100</a:t>
            </a:r>
            <a:r>
              <a:rPr lang="en-US" altLang="zh-CN" b="1">
                <a:latin typeface="宋体" pitchFamily="2" charset="-122"/>
              </a:rPr>
              <a:t>×(-0.101110)</a:t>
            </a:r>
            <a:endParaRPr lang="en-US" altLang="zh-CN">
              <a:latin typeface="宋体" pitchFamily="2" charset="-122"/>
            </a:endParaRPr>
          </a:p>
        </p:txBody>
      </p:sp>
      <p:sp>
        <p:nvSpPr>
          <p:cNvPr id="166915" name="Rectangle 4"/>
          <p:cNvSpPr>
            <a:spLocks noChangeArrowheads="1"/>
          </p:cNvSpPr>
          <p:nvPr/>
        </p:nvSpPr>
        <p:spPr bwMode="auto">
          <a:xfrm>
            <a:off x="152400" y="152400"/>
            <a:ext cx="88392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11 110, 0.010010(1)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11 110,</a:t>
            </a:r>
            <a:r>
              <a:rPr lang="zh-CN" altLang="en-US" b="1">
                <a:latin typeface="宋体" pitchFamily="2" charset="-122"/>
              </a:rPr>
              <a:t>　</a:t>
            </a:r>
            <a:r>
              <a:rPr lang="en-US" altLang="zh-CN" b="1">
                <a:latin typeface="宋体" pitchFamily="2" charset="-122"/>
              </a:rPr>
              <a:t>1.100010 </a:t>
            </a: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ChangeArrowheads="1"/>
          </p:cNvSpPr>
          <p:nvPr/>
        </p:nvSpPr>
        <p:spPr bwMode="auto">
          <a:xfrm>
            <a:off x="228600" y="762000"/>
            <a:ext cx="8763000" cy="53863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b="1">
                <a:latin typeface="宋体" pitchFamily="2" charset="-122"/>
                <a:cs typeface="Times New Roman" pitchFamily="18" charset="0"/>
              </a:rPr>
              <a:t>ｘ</a:t>
            </a:r>
            <a:r>
              <a:rPr lang="en-US" altLang="zh-CN" b="1">
                <a:latin typeface="宋体" pitchFamily="2" charset="-122"/>
                <a:cs typeface="Times New Roman" pitchFamily="18" charset="0"/>
              </a:rPr>
              <a:t>-</a:t>
            </a:r>
            <a:r>
              <a:rPr lang="zh-CN" altLang="en-US" b="1">
                <a:latin typeface="宋体" pitchFamily="2" charset="-122"/>
                <a:cs typeface="Times New Roman" pitchFamily="18" charset="0"/>
              </a:rPr>
              <a:t>ｙ  尾数求差</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a:t>
            </a:r>
            <a:r>
              <a:rPr lang="en-US" altLang="zh-CN" b="1">
                <a:latin typeface="宋体" pitchFamily="2" charset="-122"/>
                <a:cs typeface="Times New Roman" pitchFamily="18" charset="0"/>
              </a:rPr>
              <a:t>0. 0 1 0 0 1 0 </a:t>
            </a:r>
            <a:r>
              <a:rPr lang="zh-CN" altLang="en-US" b="1">
                <a:latin typeface="宋体" pitchFamily="2" charset="-122"/>
                <a:cs typeface="Times New Roman" pitchFamily="18" charset="0"/>
              </a:rPr>
              <a:t>（</a:t>
            </a:r>
            <a:r>
              <a:rPr lang="en-US" altLang="zh-CN" b="1">
                <a:latin typeface="宋体" pitchFamily="2" charset="-122"/>
                <a:cs typeface="Times New Roman" pitchFamily="18" charset="0"/>
              </a:rPr>
              <a:t>1)</a:t>
            </a:r>
            <a:endParaRPr lang="en-US" altLang="zh-CN">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　</a:t>
            </a:r>
            <a:r>
              <a:rPr lang="en-US" altLang="zh-CN" b="1">
                <a:latin typeface="宋体" pitchFamily="2" charset="-122"/>
                <a:cs typeface="Times New Roman" pitchFamily="18" charset="0"/>
              </a:rPr>
              <a:t>0. 0 1 1 1 1 0 </a:t>
            </a:r>
            <a:endParaRPr lang="en-US" altLang="zh-CN">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a:t>
            </a:r>
            <a:r>
              <a:rPr lang="en-US" altLang="zh-CN" b="1">
                <a:latin typeface="宋体" pitchFamily="2" charset="-122"/>
                <a:cs typeface="Times New Roman" pitchFamily="18" charset="0"/>
              </a:rPr>
              <a:t>0. 1 1 0 0 0 0 (1)</a:t>
            </a:r>
            <a:endParaRPr lang="en-US" altLang="zh-CN">
              <a:latin typeface="宋体" pitchFamily="2" charset="-122"/>
              <a:cs typeface="Times New Roman" pitchFamily="18" charset="0"/>
            </a:endParaRPr>
          </a:p>
          <a:p>
            <a:pPr algn="just">
              <a:spcBef>
                <a:spcPct val="50000"/>
              </a:spcBef>
            </a:pPr>
            <a:r>
              <a:rPr lang="en-US" altLang="zh-CN" b="1">
                <a:latin typeface="宋体" pitchFamily="2" charset="-122"/>
                <a:cs typeface="Times New Roman" pitchFamily="18" charset="0"/>
              </a:rPr>
              <a:t> </a:t>
            </a:r>
            <a:r>
              <a:rPr lang="zh-CN" altLang="en-US" b="1">
                <a:latin typeface="宋体" pitchFamily="2" charset="-122"/>
                <a:cs typeface="Times New Roman" pitchFamily="18" charset="0"/>
              </a:rPr>
              <a:t>规格化处理：已是规格化数</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舍入处理：采用</a:t>
            </a:r>
            <a:r>
              <a:rPr lang="en-US" altLang="zh-CN" b="1">
                <a:latin typeface="宋体" pitchFamily="2" charset="-122"/>
                <a:cs typeface="Times New Roman" pitchFamily="18" charset="0"/>
              </a:rPr>
              <a:t>0</a:t>
            </a:r>
            <a:r>
              <a:rPr lang="zh-CN" altLang="en-US" b="1">
                <a:latin typeface="宋体" pitchFamily="2" charset="-122"/>
                <a:cs typeface="Times New Roman" pitchFamily="18" charset="0"/>
              </a:rPr>
              <a:t>舍</a:t>
            </a:r>
            <a:r>
              <a:rPr lang="en-US" altLang="zh-CN" b="1">
                <a:latin typeface="宋体" pitchFamily="2" charset="-122"/>
                <a:cs typeface="Times New Roman" pitchFamily="18" charset="0"/>
              </a:rPr>
              <a:t>1</a:t>
            </a:r>
            <a:r>
              <a:rPr lang="zh-CN" altLang="en-US" b="1">
                <a:latin typeface="宋体" pitchFamily="2" charset="-122"/>
                <a:cs typeface="Times New Roman" pitchFamily="18" charset="0"/>
              </a:rPr>
              <a:t>入法处理</a:t>
            </a:r>
            <a:r>
              <a:rPr lang="en-US" altLang="zh-CN" b="1">
                <a:latin typeface="宋体" pitchFamily="2" charset="-122"/>
                <a:cs typeface="Times New Roman" pitchFamily="18" charset="0"/>
              </a:rPr>
              <a:t>,</a:t>
            </a:r>
            <a:r>
              <a:rPr lang="zh-CN" altLang="en-US" b="1">
                <a:latin typeface="宋体" pitchFamily="2" charset="-122"/>
                <a:cs typeface="Times New Roman" pitchFamily="18" charset="0"/>
              </a:rPr>
              <a:t>则有 </a:t>
            </a:r>
          </a:p>
          <a:p>
            <a:pPr algn="just">
              <a:spcBef>
                <a:spcPct val="50000"/>
              </a:spcBef>
            </a:pPr>
            <a:r>
              <a:rPr lang="zh-CN" altLang="en-US" b="1">
                <a:latin typeface="宋体" pitchFamily="2" charset="-122"/>
                <a:cs typeface="Times New Roman" pitchFamily="18" charset="0"/>
              </a:rPr>
              <a:t>           </a:t>
            </a:r>
            <a:r>
              <a:rPr lang="en-US" altLang="zh-CN" b="1">
                <a:latin typeface="宋体" pitchFamily="2" charset="-122"/>
                <a:cs typeface="Times New Roman" pitchFamily="18" charset="0"/>
              </a:rPr>
              <a:t>0. 1 1 0 0 0 0 + 1 = 0. 1 1 0 0 0 1</a:t>
            </a:r>
            <a:r>
              <a:rPr lang="zh-CN" altLang="en-US" b="1">
                <a:latin typeface="宋体" pitchFamily="2" charset="-122"/>
                <a:cs typeface="Times New Roman" pitchFamily="18" charset="0"/>
              </a:rPr>
              <a:t>　　   </a:t>
            </a:r>
          </a:p>
          <a:p>
            <a:pPr algn="just">
              <a:spcBef>
                <a:spcPct val="50000"/>
              </a:spcBef>
            </a:pPr>
            <a:r>
              <a:rPr lang="zh-CN" altLang="en-US" b="1">
                <a:latin typeface="宋体" pitchFamily="2" charset="-122"/>
                <a:cs typeface="Times New Roman" pitchFamily="18" charset="0"/>
              </a:rPr>
              <a:t> 判溢出</a:t>
            </a:r>
            <a:r>
              <a:rPr lang="en-US" altLang="zh-CN" b="1">
                <a:latin typeface="宋体" pitchFamily="2" charset="-122"/>
                <a:cs typeface="Times New Roman" pitchFamily="18" charset="0"/>
              </a:rPr>
              <a:t>: </a:t>
            </a:r>
            <a:r>
              <a:rPr lang="zh-CN" altLang="en-US" b="1">
                <a:latin typeface="宋体" pitchFamily="2" charset="-122"/>
                <a:cs typeface="Times New Roman" pitchFamily="18" charset="0"/>
              </a:rPr>
              <a:t>阶码符号位为</a:t>
            </a:r>
            <a:r>
              <a:rPr lang="en-US" altLang="zh-CN" b="1">
                <a:latin typeface="宋体" pitchFamily="2" charset="-122"/>
                <a:cs typeface="Times New Roman" pitchFamily="18" charset="0"/>
              </a:rPr>
              <a:t>11,</a:t>
            </a:r>
            <a:r>
              <a:rPr lang="zh-CN" altLang="en-US" b="1">
                <a:latin typeface="宋体" pitchFamily="2" charset="-122"/>
                <a:cs typeface="Times New Roman" pitchFamily="18" charset="0"/>
              </a:rPr>
              <a:t>不溢出</a:t>
            </a:r>
            <a:r>
              <a:rPr lang="en-US" altLang="zh-CN" b="1">
                <a:latin typeface="宋体" pitchFamily="2" charset="-122"/>
                <a:cs typeface="Times New Roman" pitchFamily="18" charset="0"/>
              </a:rPr>
              <a:t>,</a:t>
            </a:r>
            <a:r>
              <a:rPr lang="zh-CN" altLang="en-US" b="1">
                <a:latin typeface="宋体" pitchFamily="2" charset="-122"/>
                <a:cs typeface="Times New Roman" pitchFamily="18" charset="0"/>
              </a:rPr>
              <a:t>故得最终结果为</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ｘ</a:t>
            </a:r>
            <a:r>
              <a:rPr lang="en-US" altLang="zh-CN" b="1">
                <a:latin typeface="宋体" pitchFamily="2" charset="-122"/>
                <a:cs typeface="Times New Roman" pitchFamily="18" charset="0"/>
              </a:rPr>
              <a:t>-</a:t>
            </a:r>
            <a:r>
              <a:rPr lang="zh-CN" altLang="en-US" b="1">
                <a:latin typeface="宋体" pitchFamily="2" charset="-122"/>
                <a:cs typeface="Times New Roman" pitchFamily="18" charset="0"/>
              </a:rPr>
              <a:t>ｙ＝</a:t>
            </a:r>
            <a:r>
              <a:rPr lang="en-US" altLang="zh-CN" b="1">
                <a:latin typeface="宋体" pitchFamily="2" charset="-122"/>
                <a:cs typeface="Times New Roman" pitchFamily="18" charset="0"/>
              </a:rPr>
              <a:t>2</a:t>
            </a:r>
            <a:r>
              <a:rPr lang="en-US" altLang="zh-CN" b="1" baseline="30000">
                <a:latin typeface="宋体" pitchFamily="2" charset="-122"/>
                <a:cs typeface="Times New Roman" pitchFamily="18" charset="0"/>
              </a:rPr>
              <a:t>-010</a:t>
            </a:r>
            <a:r>
              <a:rPr lang="en-US" altLang="zh-CN" b="1">
                <a:latin typeface="宋体" pitchFamily="2" charset="-122"/>
                <a:cs typeface="Times New Roman" pitchFamily="18" charset="0"/>
              </a:rPr>
              <a:t>×(0.110001)</a:t>
            </a:r>
          </a:p>
        </p:txBody>
      </p:sp>
      <p:sp>
        <p:nvSpPr>
          <p:cNvPr id="167939" name="Rectangle 3"/>
          <p:cNvSpPr>
            <a:spLocks noChangeArrowheads="1"/>
          </p:cNvSpPr>
          <p:nvPr/>
        </p:nvSpPr>
        <p:spPr bwMode="auto">
          <a:xfrm>
            <a:off x="228600" y="152400"/>
            <a:ext cx="87630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11 110, 0.010010(1)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11 110,</a:t>
            </a:r>
            <a:r>
              <a:rPr lang="zh-CN" altLang="en-US" b="1">
                <a:latin typeface="宋体" pitchFamily="2" charset="-122"/>
              </a:rPr>
              <a:t>　</a:t>
            </a:r>
            <a:r>
              <a:rPr lang="en-US" altLang="zh-CN" b="1">
                <a:latin typeface="宋体" pitchFamily="2" charset="-122"/>
              </a:rPr>
              <a:t>1.100010 </a:t>
            </a: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p:cNvSpPr>
            <a:spLocks noChangeArrowheads="1"/>
          </p:cNvSpPr>
          <p:nvPr/>
        </p:nvSpPr>
        <p:spPr bwMode="auto">
          <a:xfrm>
            <a:off x="228600" y="152400"/>
            <a:ext cx="86868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itchFamily="2" charset="-122"/>
              </a:rPr>
              <a:t>(2)</a:t>
            </a:r>
            <a:r>
              <a:rPr lang="zh-CN" altLang="en-US" b="1">
                <a:latin typeface="宋体" pitchFamily="2" charset="-122"/>
              </a:rPr>
              <a:t>ｘ＝</a:t>
            </a:r>
            <a:r>
              <a:rPr lang="en-US" altLang="zh-CN" b="1">
                <a:latin typeface="宋体" pitchFamily="2" charset="-122"/>
              </a:rPr>
              <a:t>2</a:t>
            </a:r>
            <a:r>
              <a:rPr lang="en-US" altLang="zh-CN" b="1" baseline="30000">
                <a:latin typeface="宋体" pitchFamily="2" charset="-122"/>
              </a:rPr>
              <a:t>-101</a:t>
            </a:r>
            <a:r>
              <a:rPr lang="en-US" altLang="zh-CN" b="1">
                <a:latin typeface="宋体" pitchFamily="2" charset="-122"/>
              </a:rPr>
              <a:t>×</a:t>
            </a:r>
            <a:r>
              <a:rPr lang="zh-CN" altLang="en-US" b="1">
                <a:latin typeface="宋体" pitchFamily="2" charset="-122"/>
              </a:rPr>
              <a:t>（</a:t>
            </a:r>
            <a:r>
              <a:rPr lang="en-US" altLang="zh-CN" b="1">
                <a:latin typeface="宋体" pitchFamily="2" charset="-122"/>
              </a:rPr>
              <a:t>-0.010110</a:t>
            </a:r>
            <a:r>
              <a:rPr lang="zh-CN" altLang="en-US" b="1">
                <a:latin typeface="宋体" pitchFamily="2" charset="-122"/>
              </a:rPr>
              <a:t>）</a:t>
            </a:r>
            <a:r>
              <a:rPr lang="en-US" altLang="zh-CN" b="1">
                <a:latin typeface="宋体" pitchFamily="2" charset="-122"/>
              </a:rPr>
              <a:t>,</a:t>
            </a:r>
            <a:r>
              <a:rPr lang="zh-CN" altLang="en-US" b="1">
                <a:latin typeface="宋体" pitchFamily="2" charset="-122"/>
              </a:rPr>
              <a:t>ｙ＝</a:t>
            </a:r>
            <a:r>
              <a:rPr lang="en-US" altLang="zh-CN" b="1">
                <a:latin typeface="宋体" pitchFamily="2" charset="-122"/>
              </a:rPr>
              <a:t>2</a:t>
            </a:r>
            <a:r>
              <a:rPr lang="en-US" altLang="zh-CN" b="1" baseline="30000">
                <a:latin typeface="宋体" pitchFamily="2" charset="-122"/>
              </a:rPr>
              <a:t>-100</a:t>
            </a:r>
            <a:r>
              <a:rPr lang="en-US" altLang="zh-CN" b="1">
                <a:latin typeface="宋体" pitchFamily="2" charset="-122"/>
              </a:rPr>
              <a:t>×(0.010110)</a:t>
            </a:r>
          </a:p>
        </p:txBody>
      </p:sp>
      <p:sp>
        <p:nvSpPr>
          <p:cNvPr id="168963" name="Rectangle 5"/>
          <p:cNvSpPr>
            <a:spLocks noChangeArrowheads="1"/>
          </p:cNvSpPr>
          <p:nvPr/>
        </p:nvSpPr>
        <p:spPr bwMode="auto">
          <a:xfrm>
            <a:off x="330200" y="774700"/>
            <a:ext cx="8585200" cy="48387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解</a:t>
            </a:r>
            <a:r>
              <a:rPr lang="en-US" altLang="zh-CN" b="1">
                <a:latin typeface="宋体" pitchFamily="2" charset="-122"/>
              </a:rPr>
              <a:t>:  </a:t>
            </a:r>
            <a:r>
              <a:rPr lang="zh-CN" altLang="en-US" b="1">
                <a:latin typeface="宋体" pitchFamily="2" charset="-122"/>
              </a:rPr>
              <a:t>假设两数均以补码表示</a:t>
            </a:r>
            <a:r>
              <a:rPr lang="en-US" altLang="zh-CN" b="1">
                <a:latin typeface="宋体" pitchFamily="2" charset="-122"/>
              </a:rPr>
              <a:t>,</a:t>
            </a:r>
            <a:r>
              <a:rPr lang="zh-CN" altLang="en-US" b="1">
                <a:latin typeface="宋体" pitchFamily="2" charset="-122"/>
              </a:rPr>
              <a:t>阶码采用双符号位</a:t>
            </a:r>
            <a:r>
              <a:rPr lang="en-US" altLang="zh-CN" b="1">
                <a:latin typeface="宋体" pitchFamily="2" charset="-122"/>
              </a:rPr>
              <a:t>,</a:t>
            </a:r>
            <a:r>
              <a:rPr lang="zh-CN" altLang="en-US" b="1">
                <a:latin typeface="宋体" pitchFamily="2" charset="-122"/>
              </a:rPr>
              <a:t>尾数采用单</a:t>
            </a:r>
          </a:p>
          <a:p>
            <a:pPr>
              <a:spcBef>
                <a:spcPct val="50000"/>
              </a:spcBef>
            </a:pPr>
            <a:r>
              <a:rPr lang="zh-CN" altLang="en-US" b="1">
                <a:latin typeface="宋体" pitchFamily="2" charset="-122"/>
              </a:rPr>
              <a:t>     符号位</a:t>
            </a:r>
            <a:r>
              <a:rPr lang="en-US" altLang="zh-CN" b="1">
                <a:latin typeface="宋体" pitchFamily="2" charset="-122"/>
              </a:rPr>
              <a:t>,</a:t>
            </a:r>
            <a:r>
              <a:rPr lang="zh-CN" altLang="en-US" b="1">
                <a:latin typeface="宋体" pitchFamily="2" charset="-122"/>
              </a:rPr>
              <a:t>则它们的浮点表示分别为</a:t>
            </a:r>
            <a:r>
              <a:rPr lang="en-US" altLang="zh-CN" b="1">
                <a:latin typeface="宋体" pitchFamily="2" charset="-122"/>
              </a:rPr>
              <a:t>:</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11 011, 1.101010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11 100, 0.010110</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求阶差并对阶</a:t>
            </a:r>
            <a:endParaRPr lang="zh-CN" altLang="en-US">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E</a:t>
            </a:r>
            <a:r>
              <a:rPr lang="zh-CN" altLang="en-US" b="1">
                <a:latin typeface="宋体" pitchFamily="2" charset="-122"/>
              </a:rPr>
              <a:t>＝</a:t>
            </a:r>
            <a:r>
              <a:rPr lang="en-US" altLang="zh-CN" b="1">
                <a:latin typeface="宋体" pitchFamily="2" charset="-122"/>
              </a:rPr>
              <a:t>E</a:t>
            </a:r>
            <a:r>
              <a:rPr lang="zh-CN" altLang="en-US" b="1">
                <a:latin typeface="宋体" pitchFamily="2" charset="-122"/>
              </a:rPr>
              <a:t>ｘ－</a:t>
            </a:r>
            <a:r>
              <a:rPr lang="en-US" altLang="zh-CN" b="1">
                <a:latin typeface="宋体" pitchFamily="2" charset="-122"/>
              </a:rPr>
              <a:t>E</a:t>
            </a:r>
            <a:r>
              <a:rPr lang="zh-CN" altLang="en-US" b="1">
                <a:latin typeface="宋体" pitchFamily="2" charset="-122"/>
              </a:rPr>
              <a:t>ｙ＝</a:t>
            </a:r>
            <a:r>
              <a:rPr lang="en-US" altLang="zh-CN" b="1">
                <a:latin typeface="宋体" pitchFamily="2" charset="-122"/>
              </a:rPr>
              <a:t>[E</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a:t>
            </a:r>
            <a:r>
              <a:rPr lang="zh-CN" altLang="en-US" b="1">
                <a:latin typeface="宋体" pitchFamily="2" charset="-122"/>
              </a:rPr>
              <a:t>－</a:t>
            </a:r>
            <a:r>
              <a:rPr lang="en-US" altLang="zh-CN" b="1">
                <a:latin typeface="宋体" pitchFamily="2" charset="-122"/>
              </a:rPr>
              <a:t>E</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补</a:t>
            </a:r>
          </a:p>
          <a:p>
            <a:pPr eaLnBrk="0" hangingPunct="0">
              <a:spcBef>
                <a:spcPct val="50000"/>
              </a:spcBef>
            </a:pPr>
            <a:r>
              <a:rPr lang="zh-CN" altLang="en-US" b="1" baseline="-30000">
                <a:latin typeface="宋体" pitchFamily="2" charset="-122"/>
              </a:rPr>
              <a:t>           </a:t>
            </a:r>
            <a:r>
              <a:rPr lang="zh-CN" altLang="en-US" b="1">
                <a:latin typeface="宋体" pitchFamily="2" charset="-122"/>
              </a:rPr>
              <a:t>＝</a:t>
            </a:r>
            <a:r>
              <a:rPr lang="en-US" altLang="zh-CN" b="1">
                <a:latin typeface="宋体" pitchFamily="2" charset="-122"/>
              </a:rPr>
              <a:t>11 011</a:t>
            </a:r>
            <a:r>
              <a:rPr lang="zh-CN" altLang="en-US" b="1">
                <a:latin typeface="宋体" pitchFamily="2" charset="-122"/>
              </a:rPr>
              <a:t>＋</a:t>
            </a:r>
            <a:r>
              <a:rPr lang="en-US" altLang="zh-CN" b="1">
                <a:latin typeface="宋体" pitchFamily="2" charset="-122"/>
              </a:rPr>
              <a:t>00 100</a:t>
            </a:r>
            <a:r>
              <a:rPr lang="zh-CN" altLang="en-US" b="1">
                <a:latin typeface="宋体" pitchFamily="2" charset="-122"/>
              </a:rPr>
              <a:t>＝</a:t>
            </a:r>
            <a:r>
              <a:rPr lang="en-US" altLang="zh-CN" b="1">
                <a:latin typeface="宋体" pitchFamily="2" charset="-122"/>
              </a:rPr>
              <a:t>11 111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即△</a:t>
            </a:r>
            <a:r>
              <a:rPr lang="en-US" altLang="zh-CN" b="1">
                <a:latin typeface="宋体" pitchFamily="2" charset="-122"/>
              </a:rPr>
              <a:t>E</a:t>
            </a:r>
            <a:r>
              <a:rPr lang="zh-CN" altLang="en-US" b="1">
                <a:latin typeface="宋体" pitchFamily="2" charset="-122"/>
              </a:rPr>
              <a:t>为－</a:t>
            </a:r>
            <a:r>
              <a:rPr lang="en-US" altLang="zh-CN" b="1">
                <a:latin typeface="宋体" pitchFamily="2" charset="-122"/>
              </a:rPr>
              <a:t>1,</a:t>
            </a:r>
            <a:r>
              <a:rPr lang="zh-CN" altLang="en-US" b="1">
                <a:latin typeface="宋体" pitchFamily="2" charset="-122"/>
              </a:rPr>
              <a:t>ｘ的阶码小</a:t>
            </a:r>
            <a:r>
              <a:rPr lang="en-US" altLang="zh-CN" b="1">
                <a:latin typeface="宋体" pitchFamily="2" charset="-122"/>
              </a:rPr>
              <a:t>,</a:t>
            </a:r>
            <a:r>
              <a:rPr lang="zh-CN" altLang="en-US" b="1">
                <a:latin typeface="宋体" pitchFamily="2" charset="-122"/>
              </a:rPr>
              <a:t>应使</a:t>
            </a:r>
            <a:r>
              <a:rPr lang="en-US" altLang="zh-CN" b="1">
                <a:latin typeface="宋体" pitchFamily="2" charset="-122"/>
              </a:rPr>
              <a:t>M</a:t>
            </a:r>
            <a:r>
              <a:rPr lang="zh-CN" altLang="en-US" b="1">
                <a:latin typeface="宋体" pitchFamily="2" charset="-122"/>
              </a:rPr>
              <a:t>ｘ右移一位</a:t>
            </a:r>
            <a:r>
              <a:rPr lang="en-US" altLang="zh-CN" b="1">
                <a:latin typeface="宋体" pitchFamily="2" charset="-122"/>
              </a:rPr>
              <a:t>,E</a:t>
            </a:r>
            <a:r>
              <a:rPr lang="zh-CN" altLang="en-US" b="1">
                <a:latin typeface="宋体" pitchFamily="2" charset="-122"/>
              </a:rPr>
              <a:t>ｘ加</a:t>
            </a:r>
            <a:r>
              <a:rPr lang="en-US" altLang="zh-CN" b="1">
                <a:latin typeface="宋体" pitchFamily="2" charset="-122"/>
              </a:rPr>
              <a:t>1,</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11 100, 1.110101(0) </a:t>
            </a:r>
          </a:p>
          <a:p>
            <a:pPr eaLnBrk="0" hangingPunct="0">
              <a:spcBef>
                <a:spcPct val="50000"/>
              </a:spcBef>
            </a:pPr>
            <a:r>
              <a:rPr lang="en-US" altLang="zh-CN" b="1">
                <a:latin typeface="宋体" pitchFamily="2" charset="-122"/>
              </a:rPr>
              <a:t>     </a:t>
            </a:r>
            <a:r>
              <a:rPr lang="zh-CN" altLang="en-US" b="1">
                <a:latin typeface="宋体" pitchFamily="2" charset="-122"/>
              </a:rPr>
              <a:t>其中</a:t>
            </a:r>
            <a:r>
              <a:rPr lang="en-US" altLang="zh-CN" b="1">
                <a:latin typeface="宋体" pitchFamily="2" charset="-122"/>
              </a:rPr>
              <a:t>(0)</a:t>
            </a:r>
            <a:r>
              <a:rPr lang="zh-CN" altLang="en-US" b="1">
                <a:latin typeface="宋体" pitchFamily="2" charset="-122"/>
              </a:rPr>
              <a:t>表示</a:t>
            </a:r>
            <a:r>
              <a:rPr lang="en-US" altLang="zh-CN" b="1">
                <a:latin typeface="宋体" pitchFamily="2" charset="-122"/>
              </a:rPr>
              <a:t>M</a:t>
            </a:r>
            <a:r>
              <a:rPr lang="zh-CN" altLang="en-US" b="1">
                <a:latin typeface="宋体" pitchFamily="2" charset="-122"/>
              </a:rPr>
              <a:t>ｘ右移</a:t>
            </a:r>
            <a:r>
              <a:rPr lang="en-US" altLang="zh-CN" b="1">
                <a:latin typeface="宋体" pitchFamily="2" charset="-122"/>
              </a:rPr>
              <a:t>1</a:t>
            </a:r>
            <a:r>
              <a:rPr lang="zh-CN" altLang="en-US" b="1">
                <a:latin typeface="宋体" pitchFamily="2" charset="-122"/>
              </a:rPr>
              <a:t>位后移出的最低一位数。</a:t>
            </a:r>
            <a:r>
              <a:rPr lang="zh-CN" altLang="en-US">
                <a:latin typeface="宋体" pitchFamily="2" charset="-122"/>
              </a:rPr>
              <a:t> </a:t>
            </a: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3"/>
          <p:cNvSpPr>
            <a:spLocks noChangeArrowheads="1"/>
          </p:cNvSpPr>
          <p:nvPr/>
        </p:nvSpPr>
        <p:spPr bwMode="auto">
          <a:xfrm>
            <a:off x="304800" y="685800"/>
            <a:ext cx="8534400" cy="57515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ｘ＋ｙ    尾数求和</a:t>
            </a:r>
            <a:endParaRPr lang="zh-CN" altLang="en-US">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1. 1 1 0 1 0 1</a:t>
            </a:r>
            <a:r>
              <a:rPr lang="zh-CN" altLang="en-US" b="1">
                <a:latin typeface="宋体" pitchFamily="2" charset="-122"/>
              </a:rPr>
              <a:t>（</a:t>
            </a:r>
            <a:r>
              <a:rPr lang="en-US" altLang="zh-CN" b="1">
                <a:latin typeface="宋体" pitchFamily="2" charset="-122"/>
              </a:rPr>
              <a:t>0)</a:t>
            </a:r>
            <a:endParaRPr lang="en-US" altLang="zh-CN">
              <a:latin typeface="宋体" pitchFamily="2" charset="-122"/>
            </a:endParaRPr>
          </a:p>
          <a:p>
            <a:pPr eaLnBrk="0" hangingPunct="0">
              <a:spcBef>
                <a:spcPct val="50000"/>
              </a:spcBef>
            </a:pPr>
            <a:r>
              <a:rPr lang="en-US" altLang="zh-CN" b="1">
                <a:latin typeface="宋体" pitchFamily="2" charset="-122"/>
              </a:rPr>
              <a:t>         </a:t>
            </a:r>
            <a:r>
              <a:rPr lang="zh-CN" altLang="en-US" b="1">
                <a:latin typeface="宋体" pitchFamily="2" charset="-122"/>
              </a:rPr>
              <a:t>＋　</a:t>
            </a:r>
            <a:r>
              <a:rPr lang="en-US" altLang="zh-CN" b="1">
                <a:latin typeface="宋体" pitchFamily="2" charset="-122"/>
              </a:rPr>
              <a:t>0. 0 1 0 1 1 0 </a:t>
            </a:r>
            <a:endParaRPr lang="en-US" altLang="zh-CN">
              <a:latin typeface="宋体" pitchFamily="2" charset="-122"/>
            </a:endParaRPr>
          </a:p>
          <a:p>
            <a:pPr eaLnBrk="0" hangingPunct="0">
              <a:spcBef>
                <a:spcPct val="50000"/>
              </a:spcBef>
            </a:pPr>
            <a:r>
              <a:rPr lang="en-US" altLang="zh-CN" b="1">
                <a:latin typeface="宋体" pitchFamily="2" charset="-122"/>
              </a:rPr>
              <a:t>       ────────────────</a:t>
            </a:r>
            <a:endParaRPr lang="en-US" altLang="zh-CN">
              <a:latin typeface="宋体" pitchFamily="2" charset="-122"/>
            </a:endParaRPr>
          </a:p>
          <a:p>
            <a:pPr eaLnBrk="0" hangingPunct="0">
              <a:spcBef>
                <a:spcPct val="50000"/>
              </a:spcBef>
            </a:pPr>
            <a:r>
              <a:rPr lang="en-US" altLang="zh-CN" b="1">
                <a:latin typeface="宋体" pitchFamily="2" charset="-122"/>
              </a:rPr>
              <a:t>             0. 0 0 1 0 1 1 (0)</a:t>
            </a:r>
            <a:endParaRPr lang="en-US" altLang="zh-CN">
              <a:latin typeface="宋体" pitchFamily="2" charset="-122"/>
            </a:endParaRPr>
          </a:p>
          <a:p>
            <a:pPr eaLnBrk="0" hangingPunct="0">
              <a:spcBef>
                <a:spcPct val="50000"/>
              </a:spcBef>
            </a:pPr>
            <a:r>
              <a:rPr lang="zh-CN" altLang="en-US" b="1">
                <a:latin typeface="宋体" pitchFamily="2" charset="-122"/>
              </a:rPr>
              <a:t>规格化处理 尾数运算结果的符号位与最高数值位同值</a:t>
            </a:r>
            <a:r>
              <a:rPr lang="en-US" altLang="zh-CN" b="1">
                <a:latin typeface="宋体" pitchFamily="2" charset="-122"/>
              </a:rPr>
              <a:t>,</a:t>
            </a:r>
            <a:r>
              <a:rPr lang="zh-CN" altLang="en-US" b="1">
                <a:latin typeface="宋体" pitchFamily="2" charset="-122"/>
              </a:rPr>
              <a:t>应执行</a:t>
            </a:r>
          </a:p>
          <a:p>
            <a:pPr eaLnBrk="0" hangingPunct="0">
              <a:spcBef>
                <a:spcPct val="50000"/>
              </a:spcBef>
            </a:pPr>
            <a:r>
              <a:rPr lang="zh-CN" altLang="en-US" b="1">
                <a:latin typeface="宋体" pitchFamily="2" charset="-122"/>
              </a:rPr>
              <a:t>           两次左规处理</a:t>
            </a:r>
            <a:r>
              <a:rPr lang="en-US" altLang="zh-CN" b="1">
                <a:latin typeface="宋体" pitchFamily="2" charset="-122"/>
              </a:rPr>
              <a:t>,</a:t>
            </a:r>
            <a:r>
              <a:rPr lang="zh-CN" altLang="en-US" b="1">
                <a:latin typeface="宋体" pitchFamily="2" charset="-122"/>
              </a:rPr>
              <a:t>结果为</a:t>
            </a:r>
            <a:r>
              <a:rPr lang="en-US" altLang="zh-CN" b="1">
                <a:latin typeface="宋体" pitchFamily="2" charset="-122"/>
              </a:rPr>
              <a:t>0.101100,</a:t>
            </a:r>
            <a:r>
              <a:rPr lang="zh-CN" altLang="en-US" b="1">
                <a:latin typeface="宋体" pitchFamily="2" charset="-122"/>
              </a:rPr>
              <a:t>阶码减</a:t>
            </a:r>
            <a:r>
              <a:rPr lang="en-US" altLang="zh-CN" b="1">
                <a:latin typeface="宋体" pitchFamily="2" charset="-122"/>
              </a:rPr>
              <a:t>2</a:t>
            </a:r>
            <a:r>
              <a:rPr lang="zh-CN" altLang="en-US" b="1">
                <a:latin typeface="宋体" pitchFamily="2" charset="-122"/>
              </a:rPr>
              <a:t>为</a:t>
            </a:r>
            <a:r>
              <a:rPr lang="en-US" altLang="zh-CN" b="1">
                <a:latin typeface="宋体" pitchFamily="2" charset="-122"/>
              </a:rPr>
              <a:t>11 010</a:t>
            </a:r>
            <a:r>
              <a:rPr lang="zh-CN" altLang="en-US" b="1">
                <a:latin typeface="宋体" pitchFamily="2" charset="-122"/>
              </a:rPr>
              <a:t>（</a:t>
            </a:r>
            <a:r>
              <a:rPr lang="en-US" altLang="zh-CN" b="1">
                <a:latin typeface="宋体" pitchFamily="2" charset="-122"/>
              </a:rPr>
              <a:t>11 100 + 11 110</a:t>
            </a:r>
            <a:r>
              <a:rPr lang="zh-CN" altLang="en-US" b="1">
                <a:latin typeface="宋体" pitchFamily="2" charset="-122"/>
              </a:rPr>
              <a:t>）</a:t>
            </a:r>
            <a:endParaRPr lang="zh-CN" altLang="en-US">
              <a:latin typeface="宋体" pitchFamily="2" charset="-122"/>
            </a:endParaRPr>
          </a:p>
          <a:p>
            <a:pPr eaLnBrk="0" hangingPunct="0">
              <a:spcBef>
                <a:spcPct val="50000"/>
              </a:spcBef>
            </a:pPr>
            <a:r>
              <a:rPr lang="zh-CN" altLang="en-US" b="1">
                <a:latin typeface="宋体" pitchFamily="2" charset="-122"/>
              </a:rPr>
              <a:t>舍入处理 无</a:t>
            </a:r>
            <a:endParaRPr lang="zh-CN" altLang="en-US">
              <a:latin typeface="宋体" pitchFamily="2" charset="-122"/>
            </a:endParaRPr>
          </a:p>
          <a:p>
            <a:pPr eaLnBrk="0" hangingPunct="0">
              <a:spcBef>
                <a:spcPct val="50000"/>
              </a:spcBef>
            </a:pPr>
            <a:r>
              <a:rPr lang="zh-CN" altLang="en-US" b="1">
                <a:latin typeface="宋体" pitchFamily="2" charset="-122"/>
              </a:rPr>
              <a:t>判溢出  阶码符号位为</a:t>
            </a:r>
            <a:r>
              <a:rPr lang="en-US" altLang="zh-CN" b="1">
                <a:latin typeface="宋体" pitchFamily="2" charset="-122"/>
              </a:rPr>
              <a:t>11,</a:t>
            </a:r>
            <a:r>
              <a:rPr lang="zh-CN" altLang="en-US" b="1">
                <a:latin typeface="宋体" pitchFamily="2" charset="-122"/>
              </a:rPr>
              <a:t>不溢出</a:t>
            </a:r>
            <a:r>
              <a:rPr lang="en-US" altLang="zh-CN" b="1">
                <a:latin typeface="宋体" pitchFamily="2" charset="-122"/>
              </a:rPr>
              <a:t>,</a:t>
            </a:r>
            <a:r>
              <a:rPr lang="zh-CN" altLang="en-US" b="1">
                <a:latin typeface="宋体" pitchFamily="2" charset="-122"/>
              </a:rPr>
              <a:t>故得最终结果为</a:t>
            </a:r>
            <a:endParaRPr lang="zh-CN" altLang="en-US">
              <a:latin typeface="宋体" pitchFamily="2" charset="-122"/>
            </a:endParaRPr>
          </a:p>
          <a:p>
            <a:pPr eaLnBrk="0" hangingPunct="0">
              <a:spcBef>
                <a:spcPct val="50000"/>
              </a:spcBef>
            </a:pPr>
            <a:r>
              <a:rPr lang="zh-CN" altLang="en-US" b="1">
                <a:latin typeface="宋体" pitchFamily="2" charset="-122"/>
              </a:rPr>
              <a:t>        ｘ＋ｙ＝</a:t>
            </a:r>
            <a:r>
              <a:rPr lang="en-US" altLang="zh-CN" b="1">
                <a:latin typeface="宋体" pitchFamily="2" charset="-122"/>
              </a:rPr>
              <a:t>2</a:t>
            </a:r>
            <a:r>
              <a:rPr lang="en-US" altLang="zh-CN" b="1" baseline="30000">
                <a:latin typeface="宋体" pitchFamily="2" charset="-122"/>
              </a:rPr>
              <a:t>-110</a:t>
            </a:r>
            <a:r>
              <a:rPr lang="en-US" altLang="zh-CN" b="1">
                <a:latin typeface="宋体" pitchFamily="2" charset="-122"/>
              </a:rPr>
              <a:t>×(0.101100)</a:t>
            </a:r>
            <a:endParaRPr lang="en-US" altLang="zh-CN">
              <a:latin typeface="宋体" pitchFamily="2" charset="-122"/>
            </a:endParaRPr>
          </a:p>
        </p:txBody>
      </p:sp>
      <p:sp>
        <p:nvSpPr>
          <p:cNvPr id="169987" name="Rectangle 4"/>
          <p:cNvSpPr>
            <a:spLocks noChangeArrowheads="1"/>
          </p:cNvSpPr>
          <p:nvPr/>
        </p:nvSpPr>
        <p:spPr bwMode="auto">
          <a:xfrm>
            <a:off x="304800" y="152400"/>
            <a:ext cx="86106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11 100, 1.110101(0)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11 100, 0.010110</a:t>
            </a: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304800" y="685800"/>
            <a:ext cx="8534400" cy="53863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b="1">
                <a:latin typeface="宋体" pitchFamily="2" charset="-122"/>
                <a:cs typeface="Times New Roman" pitchFamily="18" charset="0"/>
              </a:rPr>
              <a:t>ｘ</a:t>
            </a:r>
            <a:r>
              <a:rPr lang="en-US" altLang="zh-CN" b="1">
                <a:latin typeface="宋体" pitchFamily="2" charset="-122"/>
                <a:cs typeface="Times New Roman" pitchFamily="18" charset="0"/>
              </a:rPr>
              <a:t>-</a:t>
            </a:r>
            <a:r>
              <a:rPr lang="zh-CN" altLang="en-US" b="1">
                <a:latin typeface="宋体" pitchFamily="2" charset="-122"/>
                <a:cs typeface="Times New Roman" pitchFamily="18" charset="0"/>
              </a:rPr>
              <a:t>ｙ</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尾数求差</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a:t>
            </a:r>
            <a:r>
              <a:rPr lang="en-US" altLang="zh-CN" b="1">
                <a:latin typeface="宋体" pitchFamily="2" charset="-122"/>
                <a:cs typeface="Times New Roman" pitchFamily="18" charset="0"/>
              </a:rPr>
              <a:t>1. 1 1 0 1 0 1</a:t>
            </a:r>
            <a:r>
              <a:rPr lang="zh-CN" altLang="en-US" b="1">
                <a:latin typeface="宋体" pitchFamily="2" charset="-122"/>
                <a:cs typeface="Times New Roman" pitchFamily="18" charset="0"/>
              </a:rPr>
              <a:t>（</a:t>
            </a:r>
            <a:r>
              <a:rPr lang="en-US" altLang="zh-CN" b="1">
                <a:latin typeface="宋体" pitchFamily="2" charset="-122"/>
                <a:cs typeface="Times New Roman" pitchFamily="18" charset="0"/>
              </a:rPr>
              <a:t>0)</a:t>
            </a:r>
            <a:endParaRPr lang="en-US" altLang="zh-CN">
              <a:latin typeface="宋体" pitchFamily="2" charset="-122"/>
              <a:cs typeface="Times New Roman" pitchFamily="18" charset="0"/>
            </a:endParaRPr>
          </a:p>
          <a:p>
            <a:pPr algn="just">
              <a:spcBef>
                <a:spcPct val="50000"/>
              </a:spcBef>
            </a:pPr>
            <a:r>
              <a:rPr lang="en-US" altLang="zh-CN" b="1">
                <a:latin typeface="宋体" pitchFamily="2" charset="-122"/>
                <a:cs typeface="Times New Roman" pitchFamily="18" charset="0"/>
              </a:rPr>
              <a:t>  </a:t>
            </a:r>
            <a:r>
              <a:rPr lang="zh-CN" altLang="en-US" b="1">
                <a:latin typeface="宋体" pitchFamily="2" charset="-122"/>
                <a:cs typeface="Times New Roman" pitchFamily="18" charset="0"/>
              </a:rPr>
              <a:t>＋　</a:t>
            </a:r>
            <a:r>
              <a:rPr lang="en-US" altLang="zh-CN" b="1">
                <a:latin typeface="宋体" pitchFamily="2" charset="-122"/>
                <a:cs typeface="Times New Roman" pitchFamily="18" charset="0"/>
              </a:rPr>
              <a:t>1. 1 0 1 0 1 0</a:t>
            </a:r>
            <a:endParaRPr lang="en-US" altLang="zh-CN">
              <a:latin typeface="宋体" pitchFamily="2" charset="-122"/>
              <a:cs typeface="Times New Roman" pitchFamily="18" charset="0"/>
            </a:endParaRPr>
          </a:p>
          <a:p>
            <a:pPr algn="just">
              <a:spcBef>
                <a:spcPct val="50000"/>
              </a:spcBef>
            </a:pPr>
            <a:r>
              <a:rPr lang="en-US" altLang="zh-CN" b="1">
                <a:latin typeface="宋体" pitchFamily="2" charset="-122"/>
                <a:cs typeface="Times New Roman" pitchFamily="18" charset="0"/>
              </a:rPr>
              <a:t>    ────────────────</a:t>
            </a:r>
            <a:endParaRPr lang="en-US" altLang="zh-CN">
              <a:latin typeface="宋体" pitchFamily="2" charset="-122"/>
              <a:cs typeface="Times New Roman" pitchFamily="18" charset="0"/>
            </a:endParaRPr>
          </a:p>
          <a:p>
            <a:pPr algn="just">
              <a:spcBef>
                <a:spcPct val="50000"/>
              </a:spcBef>
            </a:pPr>
            <a:r>
              <a:rPr lang="en-US" altLang="zh-CN" b="1">
                <a:latin typeface="宋体" pitchFamily="2" charset="-122"/>
                <a:cs typeface="Times New Roman" pitchFamily="18" charset="0"/>
              </a:rPr>
              <a:t>    1. 0 1 1 1 1 1 (0)</a:t>
            </a:r>
            <a:endParaRPr lang="en-US" altLang="zh-CN">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规格化处理 无</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舍入处理 舍去</a:t>
            </a:r>
            <a:r>
              <a:rPr lang="en-US" altLang="zh-CN" b="1">
                <a:latin typeface="宋体" pitchFamily="2" charset="-122"/>
                <a:cs typeface="Times New Roman" pitchFamily="18" charset="0"/>
              </a:rPr>
              <a:t>0</a:t>
            </a:r>
            <a:endParaRPr lang="en-US" altLang="zh-CN">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判溢出 阶码符号位为</a:t>
            </a:r>
            <a:r>
              <a:rPr lang="en-US" altLang="zh-CN" b="1">
                <a:latin typeface="宋体" pitchFamily="2" charset="-122"/>
                <a:cs typeface="Times New Roman" pitchFamily="18" charset="0"/>
              </a:rPr>
              <a:t>11,</a:t>
            </a:r>
            <a:r>
              <a:rPr lang="zh-CN" altLang="en-US" b="1">
                <a:latin typeface="宋体" pitchFamily="2" charset="-122"/>
                <a:cs typeface="Times New Roman" pitchFamily="18" charset="0"/>
              </a:rPr>
              <a:t>不溢出</a:t>
            </a:r>
            <a:r>
              <a:rPr lang="en-US" altLang="zh-CN" b="1">
                <a:latin typeface="宋体" pitchFamily="2" charset="-122"/>
                <a:cs typeface="Times New Roman" pitchFamily="18" charset="0"/>
              </a:rPr>
              <a:t>,</a:t>
            </a:r>
            <a:r>
              <a:rPr lang="zh-CN" altLang="en-US" b="1">
                <a:latin typeface="宋体" pitchFamily="2" charset="-122"/>
                <a:cs typeface="Times New Roman" pitchFamily="18" charset="0"/>
              </a:rPr>
              <a:t>故得最终结果为</a:t>
            </a:r>
            <a:endParaRPr lang="zh-CN" altLang="en-US">
              <a:latin typeface="宋体" pitchFamily="2" charset="-122"/>
              <a:cs typeface="Times New Roman" pitchFamily="18" charset="0"/>
            </a:endParaRPr>
          </a:p>
          <a:p>
            <a:pPr algn="just">
              <a:spcBef>
                <a:spcPct val="50000"/>
              </a:spcBef>
            </a:pPr>
            <a:r>
              <a:rPr lang="zh-CN" altLang="en-US" b="1">
                <a:latin typeface="宋体" pitchFamily="2" charset="-122"/>
                <a:cs typeface="Times New Roman" pitchFamily="18" charset="0"/>
              </a:rPr>
              <a:t>    ｘ </a:t>
            </a:r>
            <a:r>
              <a:rPr lang="en-US" altLang="zh-CN" b="1">
                <a:latin typeface="宋体" pitchFamily="2" charset="-122"/>
                <a:cs typeface="Times New Roman" pitchFamily="18" charset="0"/>
              </a:rPr>
              <a:t>-</a:t>
            </a:r>
            <a:r>
              <a:rPr lang="zh-CN" altLang="en-US" b="1">
                <a:latin typeface="宋体" pitchFamily="2" charset="-122"/>
                <a:cs typeface="Times New Roman" pitchFamily="18" charset="0"/>
              </a:rPr>
              <a:t>ｙ＝</a:t>
            </a:r>
            <a:r>
              <a:rPr lang="en-US" altLang="zh-CN" b="1">
                <a:latin typeface="宋体" pitchFamily="2" charset="-122"/>
                <a:cs typeface="Times New Roman" pitchFamily="18" charset="0"/>
              </a:rPr>
              <a:t>2</a:t>
            </a:r>
            <a:r>
              <a:rPr lang="en-US" altLang="zh-CN" b="1" baseline="30000">
                <a:latin typeface="宋体" pitchFamily="2" charset="-122"/>
                <a:cs typeface="Times New Roman" pitchFamily="18" charset="0"/>
              </a:rPr>
              <a:t>-100</a:t>
            </a:r>
            <a:r>
              <a:rPr lang="en-US" altLang="zh-CN" b="1">
                <a:latin typeface="宋体" pitchFamily="2" charset="-122"/>
                <a:cs typeface="Times New Roman" pitchFamily="18" charset="0"/>
              </a:rPr>
              <a:t>×(-0.100001)</a:t>
            </a:r>
          </a:p>
        </p:txBody>
      </p:sp>
      <p:sp>
        <p:nvSpPr>
          <p:cNvPr id="171011" name="Rectangle 3"/>
          <p:cNvSpPr>
            <a:spLocks noChangeArrowheads="1"/>
          </p:cNvSpPr>
          <p:nvPr/>
        </p:nvSpPr>
        <p:spPr bwMode="auto">
          <a:xfrm>
            <a:off x="304800" y="152400"/>
            <a:ext cx="86106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itchFamily="2" charset="-122"/>
              </a:rPr>
              <a:t>[</a:t>
            </a:r>
            <a:r>
              <a:rPr lang="zh-CN" altLang="en-US" b="1">
                <a:latin typeface="宋体" pitchFamily="2" charset="-122"/>
              </a:rPr>
              <a:t>ｘ</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11 100, 1.110101(0)  [</a:t>
            </a:r>
            <a:r>
              <a:rPr lang="zh-CN" altLang="en-US" b="1">
                <a:latin typeface="宋体" pitchFamily="2" charset="-122"/>
              </a:rPr>
              <a:t>ｙ</a:t>
            </a:r>
            <a:r>
              <a:rPr lang="en-US" altLang="zh-CN" b="1">
                <a:latin typeface="宋体" pitchFamily="2" charset="-122"/>
              </a:rPr>
              <a:t>]</a:t>
            </a:r>
            <a:r>
              <a:rPr lang="zh-CN" altLang="en-US" b="1" baseline="-30000">
                <a:latin typeface="宋体" pitchFamily="2" charset="-122"/>
              </a:rPr>
              <a:t>浮</a:t>
            </a:r>
            <a:r>
              <a:rPr lang="zh-CN" altLang="en-US" b="1">
                <a:latin typeface="宋体" pitchFamily="2" charset="-122"/>
              </a:rPr>
              <a:t>＝</a:t>
            </a:r>
            <a:r>
              <a:rPr lang="en-US" altLang="zh-CN" b="1">
                <a:latin typeface="宋体" pitchFamily="2" charset="-122"/>
              </a:rPr>
              <a:t>11 100, 0.010110</a:t>
            </a: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p:cNvSpPr>
            <a:spLocks noChangeArrowheads="1"/>
          </p:cNvSpPr>
          <p:nvPr/>
        </p:nvSpPr>
        <p:spPr bwMode="auto">
          <a:xfrm>
            <a:off x="152400" y="152400"/>
            <a:ext cx="86995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itchFamily="2" charset="-122"/>
              </a:rPr>
              <a:t>10.</a:t>
            </a:r>
            <a:r>
              <a:rPr lang="zh-CN" altLang="en-US" b="1">
                <a:latin typeface="宋体" pitchFamily="2" charset="-122"/>
              </a:rPr>
              <a:t>设数的阶码</a:t>
            </a:r>
            <a:r>
              <a:rPr lang="en-US" altLang="zh-CN" b="1">
                <a:latin typeface="宋体" pitchFamily="2" charset="-122"/>
              </a:rPr>
              <a:t>3</a:t>
            </a:r>
            <a:r>
              <a:rPr lang="zh-CN" altLang="en-US" b="1">
                <a:latin typeface="宋体" pitchFamily="2" charset="-122"/>
              </a:rPr>
              <a:t>位，尾数</a:t>
            </a:r>
            <a:r>
              <a:rPr lang="en-US" altLang="zh-CN" b="1">
                <a:latin typeface="宋体" pitchFamily="2" charset="-122"/>
              </a:rPr>
              <a:t>6</a:t>
            </a:r>
            <a:r>
              <a:rPr lang="zh-CN" altLang="en-US" b="1">
                <a:latin typeface="宋体" pitchFamily="2" charset="-122"/>
              </a:rPr>
              <a:t>位，用浮点运算方法，计算下列各式：</a:t>
            </a:r>
            <a:endParaRPr lang="zh-CN" altLang="en-US">
              <a:latin typeface="宋体" pitchFamily="2" charset="-122"/>
            </a:endParaRPr>
          </a:p>
          <a:p>
            <a:pPr eaLnBrk="0" hangingPunct="0">
              <a:spcBef>
                <a:spcPct val="50000"/>
              </a:spcBef>
            </a:pPr>
            <a:r>
              <a:rPr lang="zh-CN" altLang="en-US" b="1">
                <a:latin typeface="宋体" pitchFamily="2" charset="-122"/>
              </a:rPr>
              <a:t>（</a:t>
            </a:r>
            <a:r>
              <a:rPr lang="en-US" altLang="zh-CN" b="1">
                <a:latin typeface="宋体" pitchFamily="2" charset="-122"/>
              </a:rPr>
              <a:t>1</a:t>
            </a:r>
            <a:r>
              <a:rPr lang="zh-CN" altLang="en-US" b="1">
                <a:latin typeface="宋体" pitchFamily="2" charset="-122"/>
              </a:rPr>
              <a:t>）（</a:t>
            </a:r>
            <a:r>
              <a:rPr lang="en-US" altLang="zh-CN" b="1">
                <a:latin typeface="宋体" pitchFamily="2" charset="-122"/>
              </a:rPr>
              <a:t>2</a:t>
            </a:r>
            <a:r>
              <a:rPr lang="en-US" altLang="zh-CN" b="1" baseline="30000">
                <a:latin typeface="宋体" pitchFamily="2" charset="-122"/>
              </a:rPr>
              <a:t>3</a:t>
            </a:r>
            <a:r>
              <a:rPr lang="en-US" altLang="zh-CN" b="1">
                <a:latin typeface="宋体" pitchFamily="2" charset="-122"/>
              </a:rPr>
              <a:t>x13/16</a:t>
            </a:r>
            <a:r>
              <a:rPr lang="zh-CN" altLang="en-US" b="1">
                <a:latin typeface="宋体" pitchFamily="2" charset="-122"/>
              </a:rPr>
              <a:t>）</a:t>
            </a:r>
            <a:r>
              <a:rPr lang="en-US" altLang="zh-CN" b="1">
                <a:latin typeface="宋体" pitchFamily="2" charset="-122"/>
              </a:rPr>
              <a:t>x [2</a:t>
            </a:r>
            <a:r>
              <a:rPr lang="en-US" altLang="zh-CN" b="1" baseline="30000">
                <a:latin typeface="宋体" pitchFamily="2" charset="-122"/>
              </a:rPr>
              <a:t>4</a:t>
            </a:r>
            <a:r>
              <a:rPr lang="en-US" altLang="zh-CN" b="1">
                <a:latin typeface="宋体" pitchFamily="2" charset="-122"/>
              </a:rPr>
              <a:t>x(-9/16)]</a:t>
            </a:r>
          </a:p>
        </p:txBody>
      </p:sp>
      <p:sp>
        <p:nvSpPr>
          <p:cNvPr id="37893" name="Rectangle 5"/>
          <p:cNvSpPr>
            <a:spLocks noChangeArrowheads="1"/>
          </p:cNvSpPr>
          <p:nvPr/>
        </p:nvSpPr>
        <p:spPr bwMode="auto">
          <a:xfrm>
            <a:off x="152400" y="1219200"/>
            <a:ext cx="8686800" cy="2647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itchFamily="2" charset="-122"/>
              </a:rPr>
              <a:t>解</a:t>
            </a:r>
            <a:r>
              <a:rPr lang="en-US" altLang="zh-CN" b="1">
                <a:latin typeface="宋体" pitchFamily="2" charset="-122"/>
              </a:rPr>
              <a:t>: [Ex]</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00 011, [Mx]</a:t>
            </a:r>
            <a:r>
              <a:rPr lang="zh-CN" altLang="en-US" b="1" baseline="-30000">
                <a:latin typeface="宋体" pitchFamily="2" charset="-122"/>
              </a:rPr>
              <a:t>原</a:t>
            </a:r>
            <a:r>
              <a:rPr lang="zh-CN" altLang="en-US" b="1">
                <a:latin typeface="宋体" pitchFamily="2" charset="-122"/>
              </a:rPr>
              <a:t>＝</a:t>
            </a:r>
            <a:r>
              <a:rPr lang="en-US" altLang="zh-CN" b="1">
                <a:latin typeface="宋体" pitchFamily="2" charset="-122"/>
              </a:rPr>
              <a:t>0.110100</a:t>
            </a:r>
            <a:endParaRPr lang="en-US" altLang="zh-CN">
              <a:latin typeface="宋体" pitchFamily="2" charset="-122"/>
            </a:endParaRPr>
          </a:p>
          <a:p>
            <a:pPr eaLnBrk="0" hangingPunct="0">
              <a:spcBef>
                <a:spcPct val="50000"/>
              </a:spcBef>
            </a:pPr>
            <a:r>
              <a:rPr lang="en-US" altLang="zh-CN" b="1">
                <a:latin typeface="宋体" pitchFamily="2" charset="-122"/>
              </a:rPr>
              <a:t>    [Ey]</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00 100, [My]</a:t>
            </a:r>
            <a:r>
              <a:rPr lang="zh-CN" altLang="en-US" b="1" baseline="-30000">
                <a:latin typeface="宋体" pitchFamily="2" charset="-122"/>
              </a:rPr>
              <a:t>原</a:t>
            </a:r>
            <a:r>
              <a:rPr lang="zh-CN" altLang="en-US" b="1">
                <a:latin typeface="宋体" pitchFamily="2" charset="-122"/>
              </a:rPr>
              <a:t>＝</a:t>
            </a:r>
            <a:r>
              <a:rPr lang="en-US" altLang="zh-CN" b="1">
                <a:latin typeface="宋体" pitchFamily="2" charset="-122"/>
              </a:rPr>
              <a:t>1.100100</a:t>
            </a:r>
            <a:endParaRPr lang="en-US" altLang="zh-CN">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(1) </a:t>
            </a:r>
            <a:r>
              <a:rPr lang="zh-CN" altLang="en-US" b="1">
                <a:latin typeface="宋体" pitchFamily="2" charset="-122"/>
              </a:rPr>
              <a:t>求阶码和 </a:t>
            </a:r>
            <a:r>
              <a:rPr lang="en-US" altLang="zh-CN" b="1">
                <a:latin typeface="宋体" pitchFamily="2" charset="-122"/>
              </a:rPr>
              <a:t>[Ex]</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[Ey]</a:t>
            </a:r>
            <a:r>
              <a:rPr lang="zh-CN" altLang="en-US" b="1" baseline="-30000">
                <a:latin typeface="宋体" pitchFamily="2" charset="-122"/>
              </a:rPr>
              <a:t>补</a:t>
            </a:r>
            <a:r>
              <a:rPr lang="zh-CN" altLang="en-US" b="1">
                <a:latin typeface="宋体" pitchFamily="2" charset="-122"/>
              </a:rPr>
              <a:t>＝</a:t>
            </a:r>
            <a:r>
              <a:rPr lang="en-US" altLang="zh-CN" b="1">
                <a:latin typeface="宋体" pitchFamily="2" charset="-122"/>
              </a:rPr>
              <a:t>00 011</a:t>
            </a:r>
            <a:r>
              <a:rPr lang="zh-CN" altLang="en-US" b="1">
                <a:latin typeface="宋体" pitchFamily="2" charset="-122"/>
              </a:rPr>
              <a:t>＋</a:t>
            </a:r>
            <a:r>
              <a:rPr lang="en-US" altLang="zh-CN" b="1">
                <a:latin typeface="宋体" pitchFamily="2" charset="-122"/>
              </a:rPr>
              <a:t>00 100</a:t>
            </a:r>
            <a:r>
              <a:rPr lang="zh-CN" altLang="en-US" b="1">
                <a:latin typeface="宋体" pitchFamily="2" charset="-122"/>
              </a:rPr>
              <a:t>＝</a:t>
            </a:r>
            <a:r>
              <a:rPr lang="en-US" altLang="zh-CN" b="1">
                <a:latin typeface="宋体" pitchFamily="2" charset="-122"/>
              </a:rPr>
              <a:t>00 111</a:t>
            </a:r>
            <a:endParaRPr lang="en-US" altLang="zh-CN">
              <a:latin typeface="宋体" pitchFamily="2" charset="-122"/>
            </a:endParaRPr>
          </a:p>
          <a:p>
            <a:pPr eaLnBrk="0" hangingPunct="0">
              <a:spcBef>
                <a:spcPct val="50000"/>
              </a:spcBef>
            </a:pPr>
            <a:r>
              <a:rPr lang="en-US" altLang="zh-CN" b="1">
                <a:latin typeface="宋体" pitchFamily="2" charset="-122"/>
              </a:rPr>
              <a:t>    (2) </a:t>
            </a:r>
            <a:r>
              <a:rPr lang="zh-CN" altLang="en-US" b="1">
                <a:latin typeface="宋体" pitchFamily="2" charset="-122"/>
              </a:rPr>
              <a:t>尾数乘法运算可采用原码乘法实现</a:t>
            </a:r>
            <a:r>
              <a:rPr lang="en-US" altLang="zh-CN" b="1">
                <a:latin typeface="宋体" pitchFamily="2" charset="-122"/>
              </a:rPr>
              <a:t>,</a:t>
            </a:r>
            <a:r>
              <a:rPr lang="zh-CN" altLang="en-US" b="1">
                <a:latin typeface="宋体" pitchFamily="2" charset="-122"/>
              </a:rPr>
              <a:t>即有</a:t>
            </a:r>
            <a:endParaRPr lang="zh-CN" altLang="en-US">
              <a:latin typeface="宋体" pitchFamily="2" charset="-122"/>
            </a:endParaRPr>
          </a:p>
          <a:p>
            <a:pPr eaLnBrk="0" hangingPunct="0">
              <a:spcBef>
                <a:spcPct val="50000"/>
              </a:spcBef>
            </a:pPr>
            <a:r>
              <a:rPr lang="zh-CN" altLang="en-US" b="1">
                <a:latin typeface="宋体" pitchFamily="2" charset="-122"/>
              </a:rPr>
              <a:t>        </a:t>
            </a:r>
            <a:r>
              <a:rPr lang="en-US" altLang="zh-CN" b="1">
                <a:latin typeface="宋体" pitchFamily="2" charset="-122"/>
              </a:rPr>
              <a:t>X</a:t>
            </a:r>
            <a:r>
              <a:rPr lang="en-US" altLang="zh-CN" b="1" baseline="-30000">
                <a:latin typeface="宋体" pitchFamily="2" charset="-122"/>
              </a:rPr>
              <a:t>f</a:t>
            </a:r>
            <a:r>
              <a:rPr lang="en-US" altLang="zh-CN" b="1">
                <a:latin typeface="宋体" pitchFamily="2" charset="-122"/>
              </a:rPr>
              <a:t>⊕Y</a:t>
            </a:r>
            <a:r>
              <a:rPr lang="en-US" altLang="zh-CN" b="1" baseline="-30000">
                <a:latin typeface="宋体" pitchFamily="2" charset="-122"/>
              </a:rPr>
              <a:t>f</a:t>
            </a:r>
            <a:r>
              <a:rPr lang="en-US" altLang="zh-CN" b="1">
                <a:latin typeface="宋体" pitchFamily="2" charset="-122"/>
              </a:rPr>
              <a:t> = 0⊕1 = 1</a:t>
            </a:r>
            <a:endParaRPr lang="en-US" altLang="zh-CN">
              <a:latin typeface="宋体" pitchFamily="2" charset="-122"/>
            </a:endParaRPr>
          </a:p>
        </p:txBody>
      </p:sp>
      <p:graphicFrame>
        <p:nvGraphicFramePr>
          <p:cNvPr id="37894" name="Object 6"/>
          <p:cNvGraphicFramePr>
            <a:graphicFrameLocks noChangeAspect="1"/>
          </p:cNvGraphicFramePr>
          <p:nvPr/>
        </p:nvGraphicFramePr>
        <p:xfrm>
          <a:off x="3124200" y="2209800"/>
          <a:ext cx="5629275" cy="4495800"/>
        </p:xfrm>
        <a:graphic>
          <a:graphicData uri="http://schemas.openxmlformats.org/presentationml/2006/ole">
            <mc:AlternateContent xmlns:mc="http://schemas.openxmlformats.org/markup-compatibility/2006">
              <mc:Choice xmlns:v="urn:schemas-microsoft-com:vml" Requires="v">
                <p:oleObj spid="_x0000_s172179" name="位图图像" r:id="rId3" imgW="4409524" imgH="3153215" progId="PBrush">
                  <p:embed/>
                </p:oleObj>
              </mc:Choice>
              <mc:Fallback>
                <p:oleObj name="位图图像" r:id="rId3" imgW="4409524" imgH="3153215" progId="PBrush">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209800"/>
                        <a:ext cx="562927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6" name="Rectangle 8"/>
          <p:cNvSpPr>
            <a:spLocks noChangeArrowheads="1"/>
          </p:cNvSpPr>
          <p:nvPr/>
        </p:nvSpPr>
        <p:spPr bwMode="auto">
          <a:xfrm>
            <a:off x="152400" y="3962400"/>
            <a:ext cx="8686800" cy="2647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b="1">
                <a:latin typeface="宋体" pitchFamily="2" charset="-122"/>
              </a:rPr>
              <a:t>      [Mx]</a:t>
            </a:r>
            <a:r>
              <a:rPr lang="zh-CN" altLang="en-US" b="1" baseline="-30000">
                <a:latin typeface="宋体" pitchFamily="2" charset="-122"/>
              </a:rPr>
              <a:t>原</a:t>
            </a:r>
            <a:r>
              <a:rPr lang="en-US" altLang="zh-CN" b="1">
                <a:latin typeface="宋体" pitchFamily="2" charset="-122"/>
              </a:rPr>
              <a:t>×[My]</a:t>
            </a:r>
            <a:r>
              <a:rPr lang="zh-CN" altLang="en-US" b="1" baseline="-30000">
                <a:latin typeface="宋体" pitchFamily="2" charset="-122"/>
              </a:rPr>
              <a:t>原  </a:t>
            </a:r>
            <a:r>
              <a:rPr lang="en-US" altLang="zh-CN" b="1">
                <a:latin typeface="宋体" pitchFamily="2" charset="-122"/>
              </a:rPr>
              <a:t>= 1.0 1 1 1 0 1, 0 1 0 0 0 0</a:t>
            </a:r>
          </a:p>
          <a:p>
            <a:pPr>
              <a:spcBef>
                <a:spcPct val="50000"/>
              </a:spcBef>
            </a:pPr>
            <a:r>
              <a:rPr lang="en-US" altLang="zh-CN" b="1">
                <a:latin typeface="宋体" pitchFamily="2" charset="-122"/>
              </a:rPr>
              <a:t>   (3) </a:t>
            </a:r>
            <a:r>
              <a:rPr lang="zh-CN" altLang="en-US" b="1">
                <a:latin typeface="宋体" pitchFamily="2" charset="-122"/>
              </a:rPr>
              <a:t>规格化处理 需要尾数左移</a:t>
            </a:r>
            <a:r>
              <a:rPr lang="en-US" altLang="zh-CN" b="1">
                <a:latin typeface="宋体" pitchFamily="2" charset="-122"/>
              </a:rPr>
              <a:t>,</a:t>
            </a:r>
            <a:r>
              <a:rPr lang="zh-CN" altLang="en-US" b="1">
                <a:latin typeface="宋体" pitchFamily="2" charset="-122"/>
              </a:rPr>
              <a:t>阶码减</a:t>
            </a:r>
            <a:r>
              <a:rPr lang="en-US" altLang="zh-CN" b="1">
                <a:latin typeface="宋体" pitchFamily="2" charset="-122"/>
              </a:rPr>
              <a:t>1</a:t>
            </a:r>
            <a:r>
              <a:rPr lang="zh-CN" altLang="en-US" b="1">
                <a:latin typeface="宋体" pitchFamily="2" charset="-122"/>
              </a:rPr>
              <a:t>变为 </a:t>
            </a:r>
            <a:r>
              <a:rPr lang="en-US" altLang="zh-CN" b="1">
                <a:latin typeface="宋体" pitchFamily="2" charset="-122"/>
              </a:rPr>
              <a:t>00 110</a:t>
            </a:r>
            <a:r>
              <a:rPr lang="zh-CN" altLang="en-US" b="1">
                <a:latin typeface="宋体" pitchFamily="2" charset="-122"/>
              </a:rPr>
              <a:t>，</a:t>
            </a:r>
          </a:p>
          <a:p>
            <a:pPr>
              <a:spcBef>
                <a:spcPct val="50000"/>
              </a:spcBef>
            </a:pPr>
            <a:r>
              <a:rPr lang="zh-CN" altLang="en-US" b="1">
                <a:latin typeface="宋体" pitchFamily="2" charset="-122"/>
              </a:rPr>
              <a:t>       尾数变为 </a:t>
            </a:r>
            <a:r>
              <a:rPr lang="en-US" altLang="zh-CN" b="1">
                <a:latin typeface="宋体" pitchFamily="2" charset="-122"/>
              </a:rPr>
              <a:t>1.111010</a:t>
            </a:r>
            <a:r>
              <a:rPr lang="zh-CN" altLang="en-US" b="1">
                <a:latin typeface="宋体" pitchFamily="2" charset="-122"/>
              </a:rPr>
              <a:t>，</a:t>
            </a:r>
            <a:r>
              <a:rPr lang="en-US" altLang="zh-CN" b="1">
                <a:latin typeface="宋体" pitchFamily="2" charset="-122"/>
              </a:rPr>
              <a:t>100000</a:t>
            </a:r>
            <a:endParaRPr lang="en-US" altLang="zh-CN">
              <a:latin typeface="宋体" pitchFamily="2" charset="-122"/>
            </a:endParaRPr>
          </a:p>
          <a:p>
            <a:pPr eaLnBrk="0" hangingPunct="0">
              <a:spcBef>
                <a:spcPct val="50000"/>
              </a:spcBef>
            </a:pPr>
            <a:r>
              <a:rPr lang="en-US" altLang="zh-CN" b="1">
                <a:latin typeface="宋体" pitchFamily="2" charset="-122"/>
              </a:rPr>
              <a:t>    (4) </a:t>
            </a:r>
            <a:r>
              <a:rPr lang="zh-CN" altLang="en-US" b="1">
                <a:latin typeface="宋体" pitchFamily="2" charset="-122"/>
              </a:rPr>
              <a:t>舍入处理 尾数为</a:t>
            </a:r>
            <a:r>
              <a:rPr lang="en-US" altLang="zh-CN" b="1">
                <a:latin typeface="宋体" pitchFamily="2" charset="-122"/>
              </a:rPr>
              <a:t>1.111011</a:t>
            </a:r>
            <a:endParaRPr lang="en-US" altLang="zh-CN">
              <a:latin typeface="宋体" pitchFamily="2" charset="-122"/>
            </a:endParaRPr>
          </a:p>
          <a:p>
            <a:pPr eaLnBrk="0" hangingPunct="0">
              <a:spcBef>
                <a:spcPct val="50000"/>
              </a:spcBef>
            </a:pPr>
            <a:r>
              <a:rPr lang="zh-CN" altLang="en-US" b="1">
                <a:latin typeface="宋体" pitchFamily="2" charset="-122"/>
              </a:rPr>
              <a:t>　　  最终相乘结果为ｘ</a:t>
            </a:r>
            <a:r>
              <a:rPr lang="en-US" altLang="zh-CN" b="1">
                <a:latin typeface="宋体" pitchFamily="2" charset="-122"/>
              </a:rPr>
              <a:t>×</a:t>
            </a:r>
            <a:r>
              <a:rPr lang="zh-CN" altLang="en-US" b="1">
                <a:latin typeface="宋体" pitchFamily="2" charset="-122"/>
              </a:rPr>
              <a:t>ｙ ＝ </a:t>
            </a:r>
            <a:r>
              <a:rPr lang="en-US" altLang="zh-CN" b="1">
                <a:latin typeface="宋体" pitchFamily="2" charset="-122"/>
              </a:rPr>
              <a:t>2</a:t>
            </a:r>
            <a:r>
              <a:rPr lang="en-US" altLang="zh-CN" b="1" baseline="30000">
                <a:latin typeface="宋体" pitchFamily="2" charset="-122"/>
              </a:rPr>
              <a:t>6</a:t>
            </a:r>
            <a:r>
              <a:rPr lang="en-US" altLang="zh-CN" b="1">
                <a:latin typeface="宋体" pitchFamily="2" charset="-122"/>
              </a:rPr>
              <a:t> x (</a:t>
            </a:r>
            <a:r>
              <a:rPr lang="zh-CN" altLang="en-US" b="1">
                <a:latin typeface="宋体" pitchFamily="2" charset="-122"/>
              </a:rPr>
              <a:t>－</a:t>
            </a:r>
            <a:r>
              <a:rPr lang="en-US" altLang="zh-CN" b="1">
                <a:latin typeface="宋体" pitchFamily="2" charset="-122"/>
              </a:rPr>
              <a:t>0.111011)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checkerboard(across)">
                                      <p:cBhvr>
                                        <p:cTn id="7" dur="500"/>
                                        <p:tgtEl>
                                          <p:spTgt spid="37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7894"/>
                                        </p:tgtEl>
                                        <p:attrNameLst>
                                          <p:attrName>style.visibility</p:attrName>
                                        </p:attrNameLst>
                                      </p:cBhvr>
                                      <p:to>
                                        <p:strVal val="visible"/>
                                      </p:to>
                                    </p:set>
                                    <p:animEffect transition="in" filter="checkerboard(across)">
                                      <p:cBhvr>
                                        <p:cTn id="12" dur="500"/>
                                        <p:tgtEl>
                                          <p:spTgt spid="37894"/>
                                        </p:tgtEl>
                                      </p:cBhvr>
                                    </p:animEffect>
                                  </p:childTnLst>
                                  <p:subTnLst>
                                    <p:set>
                                      <p:cBhvr override="childStyle">
                                        <p:cTn dur="1" fill="hold" display="0" masterRel="nextClick" afterEffect="1"/>
                                        <p:tgtEl>
                                          <p:spTgt spid="3789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7896"/>
                                        </p:tgtEl>
                                        <p:attrNameLst>
                                          <p:attrName>style.visibility</p:attrName>
                                        </p:attrNameLst>
                                      </p:cBhvr>
                                      <p:to>
                                        <p:strVal val="visible"/>
                                      </p:to>
                                    </p:set>
                                    <p:animEffect transition="in" filter="checkerboard(across)">
                                      <p:cBhvr>
                                        <p:cTn id="17" dur="5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animBg="1" autoUpdateAnimBg="0"/>
      <p:bldP spid="37896" grpId="0" animBg="1"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3"/>
          <p:cNvSpPr>
            <a:spLocks noChangeArrowheads="1"/>
          </p:cNvSpPr>
          <p:nvPr/>
        </p:nvSpPr>
        <p:spPr bwMode="auto">
          <a:xfrm>
            <a:off x="152400" y="152400"/>
            <a:ext cx="87630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itchFamily="2" charset="-122"/>
              </a:rPr>
              <a:t>（</a:t>
            </a:r>
            <a:r>
              <a:rPr lang="en-US" altLang="zh-CN" b="1">
                <a:latin typeface="宋体" pitchFamily="2" charset="-122"/>
              </a:rPr>
              <a:t>2</a:t>
            </a:r>
            <a:r>
              <a:rPr lang="zh-CN" altLang="en-US" b="1">
                <a:latin typeface="宋体" pitchFamily="2" charset="-122"/>
              </a:rPr>
              <a:t>）（</a:t>
            </a:r>
            <a:r>
              <a:rPr lang="en-US" altLang="zh-CN" b="1">
                <a:latin typeface="宋体" pitchFamily="2" charset="-122"/>
              </a:rPr>
              <a:t>2</a:t>
            </a:r>
            <a:r>
              <a:rPr lang="en-US" altLang="zh-CN" b="1" baseline="30000">
                <a:latin typeface="宋体" pitchFamily="2" charset="-122"/>
              </a:rPr>
              <a:t>-2</a:t>
            </a:r>
            <a:r>
              <a:rPr lang="en-US" altLang="zh-CN" b="1">
                <a:latin typeface="宋体" pitchFamily="2" charset="-122"/>
              </a:rPr>
              <a:t>x13/32</a:t>
            </a:r>
            <a:r>
              <a:rPr lang="zh-CN" altLang="en-US" b="1">
                <a:latin typeface="宋体" pitchFamily="2" charset="-122"/>
              </a:rPr>
              <a:t>）</a:t>
            </a:r>
            <a:r>
              <a:rPr lang="en-US" altLang="zh-CN" b="1">
                <a:latin typeface="宋体" pitchFamily="2" charset="-122"/>
              </a:rPr>
              <a:t>÷ (2</a:t>
            </a:r>
            <a:r>
              <a:rPr lang="en-US" altLang="zh-CN" b="1" baseline="30000">
                <a:latin typeface="宋体" pitchFamily="2" charset="-122"/>
              </a:rPr>
              <a:t>3</a:t>
            </a:r>
            <a:r>
              <a:rPr lang="en-US" altLang="zh-CN" b="1">
                <a:latin typeface="宋体" pitchFamily="2" charset="-122"/>
              </a:rPr>
              <a:t>x15/16)</a:t>
            </a:r>
          </a:p>
        </p:txBody>
      </p:sp>
      <p:sp>
        <p:nvSpPr>
          <p:cNvPr id="40965" name="Rectangle 5"/>
          <p:cNvSpPr>
            <a:spLocks noChangeArrowheads="1"/>
          </p:cNvSpPr>
          <p:nvPr/>
        </p:nvSpPr>
        <p:spPr bwMode="auto">
          <a:xfrm>
            <a:off x="152400" y="685800"/>
            <a:ext cx="8686800" cy="35972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宋体" pitchFamily="2" charset="-122"/>
              </a:rPr>
              <a:t>解</a:t>
            </a:r>
            <a:r>
              <a:rPr lang="en-US" altLang="zh-CN" sz="2000" b="1">
                <a:latin typeface="宋体" pitchFamily="2" charset="-122"/>
              </a:rPr>
              <a:t>: </a:t>
            </a:r>
            <a:r>
              <a:rPr lang="zh-CN" altLang="en-US" sz="2000" b="1">
                <a:latin typeface="宋体" pitchFamily="2" charset="-122"/>
              </a:rPr>
              <a:t>阶码用补码表示</a:t>
            </a:r>
            <a:r>
              <a:rPr lang="en-US" altLang="zh-CN" sz="2000" b="1">
                <a:latin typeface="宋体" pitchFamily="2" charset="-122"/>
              </a:rPr>
              <a:t>,</a:t>
            </a:r>
            <a:r>
              <a:rPr lang="zh-CN" altLang="en-US" sz="2000" b="1">
                <a:latin typeface="宋体" pitchFamily="2" charset="-122"/>
              </a:rPr>
              <a:t>尾数用补码表示</a:t>
            </a:r>
            <a:r>
              <a:rPr lang="en-US" altLang="zh-CN" sz="2000" b="1">
                <a:latin typeface="宋体" pitchFamily="2" charset="-122"/>
              </a:rPr>
              <a:t>,</a:t>
            </a:r>
            <a:r>
              <a:rPr lang="zh-CN" altLang="en-US" sz="2000" b="1">
                <a:latin typeface="宋体" pitchFamily="2" charset="-122"/>
              </a:rPr>
              <a:t>则有</a:t>
            </a:r>
            <a:endParaRPr lang="zh-CN" altLang="en-US" sz="2000">
              <a:latin typeface="宋体" pitchFamily="2" charset="-122"/>
            </a:endParaRPr>
          </a:p>
          <a:p>
            <a:pPr eaLnBrk="0" hangingPunct="0">
              <a:spcBef>
                <a:spcPct val="50000"/>
              </a:spcBef>
            </a:pPr>
            <a:r>
              <a:rPr lang="zh-CN" altLang="en-US" sz="2000" b="1">
                <a:latin typeface="宋体" pitchFamily="2" charset="-122"/>
              </a:rPr>
              <a:t>　　</a:t>
            </a:r>
            <a:r>
              <a:rPr lang="zh-CN" altLang="pt-BR" sz="2000" b="1">
                <a:latin typeface="宋体" pitchFamily="2" charset="-122"/>
              </a:rPr>
              <a:t>[</a:t>
            </a:r>
            <a:r>
              <a:rPr lang="pt-BR" altLang="zh-CN" sz="2000" b="1">
                <a:latin typeface="宋体" pitchFamily="2" charset="-122"/>
              </a:rPr>
              <a:t>Ex]</a:t>
            </a:r>
            <a:r>
              <a:rPr lang="zh-CN" altLang="en-US" sz="2000" b="1" baseline="-30000">
                <a:latin typeface="宋体" pitchFamily="2" charset="-122"/>
              </a:rPr>
              <a:t>补</a:t>
            </a:r>
            <a:r>
              <a:rPr lang="zh-CN" altLang="pt-BR" sz="2000" b="1">
                <a:latin typeface="宋体" pitchFamily="2" charset="-122"/>
              </a:rPr>
              <a:t>＝11 110, [</a:t>
            </a:r>
            <a:r>
              <a:rPr lang="pt-BR" altLang="zh-CN" sz="2000" b="1">
                <a:latin typeface="宋体" pitchFamily="2" charset="-122"/>
              </a:rPr>
              <a:t>Ey]</a:t>
            </a:r>
            <a:r>
              <a:rPr lang="zh-CN" altLang="en-US" sz="2000" b="1" baseline="-30000">
                <a:latin typeface="宋体" pitchFamily="2" charset="-122"/>
              </a:rPr>
              <a:t>补</a:t>
            </a:r>
            <a:r>
              <a:rPr lang="zh-CN" altLang="pt-BR" sz="2000" b="1">
                <a:latin typeface="宋体" pitchFamily="2" charset="-122"/>
              </a:rPr>
              <a:t>＝00 011，[-</a:t>
            </a:r>
            <a:r>
              <a:rPr lang="pt-BR" altLang="zh-CN" sz="2000" b="1">
                <a:latin typeface="宋体" pitchFamily="2" charset="-122"/>
              </a:rPr>
              <a:t>Ey]</a:t>
            </a:r>
            <a:r>
              <a:rPr lang="zh-CN" altLang="en-US" sz="2000" b="1" baseline="-30000">
                <a:latin typeface="宋体" pitchFamily="2" charset="-122"/>
              </a:rPr>
              <a:t>补</a:t>
            </a:r>
            <a:r>
              <a:rPr lang="zh-CN" altLang="pt-BR" sz="2000" b="1">
                <a:latin typeface="宋体" pitchFamily="2" charset="-122"/>
              </a:rPr>
              <a:t>＝11 101</a:t>
            </a:r>
            <a:endParaRPr lang="en-US" altLang="zh-CN" sz="2000">
              <a:latin typeface="宋体" pitchFamily="2" charset="-122"/>
            </a:endParaRPr>
          </a:p>
          <a:p>
            <a:pPr eaLnBrk="0" hangingPunct="0">
              <a:spcBef>
                <a:spcPct val="50000"/>
              </a:spcBef>
            </a:pPr>
            <a:r>
              <a:rPr lang="zh-CN" altLang="en-US" sz="2000" b="1">
                <a:latin typeface="宋体" pitchFamily="2" charset="-122"/>
              </a:rPr>
              <a:t>　　</a:t>
            </a:r>
            <a:r>
              <a:rPr lang="en-US" altLang="zh-CN" sz="2000" b="1">
                <a:latin typeface="宋体" pitchFamily="2" charset="-122"/>
              </a:rPr>
              <a:t>[Mx]</a:t>
            </a:r>
            <a:r>
              <a:rPr lang="zh-CN" altLang="en-US" sz="2000" b="1" baseline="-30000">
                <a:latin typeface="宋体" pitchFamily="2" charset="-122"/>
              </a:rPr>
              <a:t>补</a:t>
            </a:r>
            <a:r>
              <a:rPr lang="zh-CN" altLang="en-US" sz="2000" b="1">
                <a:latin typeface="宋体" pitchFamily="2" charset="-122"/>
              </a:rPr>
              <a:t>＝</a:t>
            </a:r>
            <a:r>
              <a:rPr lang="en-US" altLang="zh-CN" sz="2000" b="1">
                <a:latin typeface="宋体" pitchFamily="2" charset="-122"/>
              </a:rPr>
              <a:t>0.011010</a:t>
            </a:r>
            <a:r>
              <a:rPr lang="zh-CN" altLang="en-US" sz="2000" b="1">
                <a:latin typeface="宋体" pitchFamily="2" charset="-122"/>
              </a:rPr>
              <a:t>、</a:t>
            </a:r>
            <a:r>
              <a:rPr lang="en-US" altLang="zh-CN" sz="2000" b="1">
                <a:latin typeface="宋体" pitchFamily="2" charset="-122"/>
              </a:rPr>
              <a:t>[My]</a:t>
            </a:r>
            <a:r>
              <a:rPr lang="zh-CN" altLang="en-US" sz="2000" b="1" baseline="-30000">
                <a:latin typeface="宋体" pitchFamily="2" charset="-122"/>
              </a:rPr>
              <a:t>补</a:t>
            </a:r>
            <a:r>
              <a:rPr lang="zh-CN" altLang="en-US" sz="2000" b="1">
                <a:latin typeface="宋体" pitchFamily="2" charset="-122"/>
              </a:rPr>
              <a:t>＝</a:t>
            </a:r>
            <a:r>
              <a:rPr lang="en-US" altLang="zh-CN" sz="2000" b="1">
                <a:latin typeface="宋体" pitchFamily="2" charset="-122"/>
              </a:rPr>
              <a:t>0.111100</a:t>
            </a:r>
            <a:r>
              <a:rPr lang="zh-CN" altLang="en-US" sz="2000" b="1">
                <a:latin typeface="宋体" pitchFamily="2" charset="-122"/>
              </a:rPr>
              <a:t>、</a:t>
            </a:r>
            <a:r>
              <a:rPr lang="en-US" altLang="zh-CN" sz="2000" b="1">
                <a:latin typeface="宋体" pitchFamily="2" charset="-122"/>
              </a:rPr>
              <a:t>[-My]</a:t>
            </a:r>
            <a:r>
              <a:rPr lang="zh-CN" altLang="en-US" sz="2000" b="1" baseline="-30000">
                <a:latin typeface="宋体" pitchFamily="2" charset="-122"/>
              </a:rPr>
              <a:t>补</a:t>
            </a:r>
            <a:r>
              <a:rPr lang="zh-CN" altLang="en-US" sz="2000" b="1">
                <a:latin typeface="宋体" pitchFamily="2" charset="-122"/>
              </a:rPr>
              <a:t>＝</a:t>
            </a:r>
            <a:r>
              <a:rPr lang="en-US" altLang="zh-CN" sz="2000" b="1">
                <a:latin typeface="宋体" pitchFamily="2" charset="-122"/>
              </a:rPr>
              <a:t>1.000100</a:t>
            </a:r>
            <a:endParaRPr lang="en-US" altLang="zh-CN" sz="2000">
              <a:latin typeface="宋体" pitchFamily="2" charset="-122"/>
            </a:endParaRPr>
          </a:p>
          <a:p>
            <a:pPr eaLnBrk="0" hangingPunct="0">
              <a:spcBef>
                <a:spcPct val="50000"/>
              </a:spcBef>
            </a:pPr>
            <a:r>
              <a:rPr lang="zh-CN" altLang="en-US" sz="2000" b="1">
                <a:latin typeface="宋体" pitchFamily="2" charset="-122"/>
              </a:rPr>
              <a:t>　　</a:t>
            </a:r>
            <a:r>
              <a:rPr lang="en-US" altLang="zh-CN" sz="2000" b="1">
                <a:latin typeface="宋体" pitchFamily="2" charset="-122"/>
              </a:rPr>
              <a:t>[</a:t>
            </a:r>
            <a:r>
              <a:rPr lang="zh-CN" altLang="en-US" sz="2000" b="1">
                <a:latin typeface="宋体" pitchFamily="2" charset="-122"/>
              </a:rPr>
              <a:t>ｘ</a:t>
            </a:r>
            <a:r>
              <a:rPr lang="en-US" altLang="zh-CN" sz="2000" b="1">
                <a:latin typeface="宋体" pitchFamily="2" charset="-122"/>
              </a:rPr>
              <a:t>]</a:t>
            </a:r>
            <a:r>
              <a:rPr lang="zh-CN" altLang="en-US" sz="2000" b="1" baseline="-30000">
                <a:latin typeface="宋体" pitchFamily="2" charset="-122"/>
              </a:rPr>
              <a:t>浮</a:t>
            </a:r>
            <a:r>
              <a:rPr lang="zh-CN" altLang="en-US" sz="2000" b="1">
                <a:latin typeface="宋体" pitchFamily="2" charset="-122"/>
              </a:rPr>
              <a:t>＝</a:t>
            </a:r>
            <a:r>
              <a:rPr lang="en-US" altLang="zh-CN" sz="2000" b="1">
                <a:latin typeface="宋体" pitchFamily="2" charset="-122"/>
              </a:rPr>
              <a:t>11 010, 0.011010, [</a:t>
            </a:r>
            <a:r>
              <a:rPr lang="zh-CN" altLang="en-US" sz="2000" b="1">
                <a:latin typeface="宋体" pitchFamily="2" charset="-122"/>
              </a:rPr>
              <a:t>ｙ</a:t>
            </a:r>
            <a:r>
              <a:rPr lang="en-US" altLang="zh-CN" sz="2000" b="1">
                <a:latin typeface="宋体" pitchFamily="2" charset="-122"/>
              </a:rPr>
              <a:t>]</a:t>
            </a:r>
            <a:r>
              <a:rPr lang="zh-CN" altLang="en-US" sz="2000" b="1" baseline="-30000">
                <a:latin typeface="宋体" pitchFamily="2" charset="-122"/>
              </a:rPr>
              <a:t>浮</a:t>
            </a:r>
            <a:r>
              <a:rPr lang="zh-CN" altLang="en-US" sz="2000" b="1">
                <a:latin typeface="宋体" pitchFamily="2" charset="-122"/>
              </a:rPr>
              <a:t>＝</a:t>
            </a:r>
            <a:r>
              <a:rPr lang="en-US" altLang="zh-CN" sz="2000" b="1">
                <a:latin typeface="宋体" pitchFamily="2" charset="-122"/>
              </a:rPr>
              <a:t>00 011, 0.111100</a:t>
            </a:r>
            <a:endParaRPr lang="en-US" altLang="zh-CN" sz="2000">
              <a:latin typeface="宋体" pitchFamily="2" charset="-122"/>
            </a:endParaRPr>
          </a:p>
          <a:p>
            <a:pPr eaLnBrk="0" hangingPunct="0">
              <a:spcBef>
                <a:spcPct val="50000"/>
              </a:spcBef>
            </a:pPr>
            <a:r>
              <a:rPr lang="en-US" altLang="zh-CN" sz="2000" b="1">
                <a:latin typeface="宋体" pitchFamily="2" charset="-122"/>
              </a:rPr>
              <a:t>(1) </a:t>
            </a:r>
            <a:r>
              <a:rPr lang="zh-CN" altLang="en-US" sz="2000" b="1">
                <a:latin typeface="宋体" pitchFamily="2" charset="-122"/>
              </a:rPr>
              <a:t>求阶码差 </a:t>
            </a:r>
            <a:r>
              <a:rPr lang="en-US" altLang="zh-CN" sz="2000" b="1">
                <a:latin typeface="宋体" pitchFamily="2" charset="-122"/>
              </a:rPr>
              <a:t>[Ex]</a:t>
            </a:r>
            <a:r>
              <a:rPr lang="zh-CN" altLang="en-US" sz="2000" b="1" baseline="-30000">
                <a:latin typeface="宋体" pitchFamily="2" charset="-122"/>
              </a:rPr>
              <a:t>补</a:t>
            </a:r>
            <a:r>
              <a:rPr lang="en-US" altLang="zh-CN" sz="2000" b="1">
                <a:latin typeface="宋体" pitchFamily="2" charset="-122"/>
              </a:rPr>
              <a:t>-[Ey]</a:t>
            </a:r>
            <a:r>
              <a:rPr lang="zh-CN" altLang="en-US" sz="2000" b="1" baseline="-30000">
                <a:latin typeface="宋体" pitchFamily="2" charset="-122"/>
              </a:rPr>
              <a:t>补</a:t>
            </a:r>
            <a:r>
              <a:rPr lang="zh-CN" altLang="en-US" sz="2000" b="1">
                <a:latin typeface="宋体" pitchFamily="2" charset="-122"/>
              </a:rPr>
              <a:t>＝</a:t>
            </a:r>
            <a:r>
              <a:rPr lang="en-US" altLang="zh-CN" sz="2000" b="1">
                <a:latin typeface="宋体" pitchFamily="2" charset="-122"/>
              </a:rPr>
              <a:t>11 110</a:t>
            </a:r>
            <a:r>
              <a:rPr lang="zh-CN" altLang="en-US" sz="2000" b="1">
                <a:latin typeface="宋体" pitchFamily="2" charset="-122"/>
              </a:rPr>
              <a:t>＋</a:t>
            </a:r>
            <a:r>
              <a:rPr lang="en-US" altLang="zh-CN" sz="2000" b="1">
                <a:latin typeface="宋体" pitchFamily="2" charset="-122"/>
              </a:rPr>
              <a:t>11 101</a:t>
            </a:r>
            <a:r>
              <a:rPr lang="zh-CN" altLang="en-US" sz="2000" b="1">
                <a:latin typeface="宋体" pitchFamily="2" charset="-122"/>
              </a:rPr>
              <a:t>＝</a:t>
            </a:r>
            <a:r>
              <a:rPr lang="en-US" altLang="zh-CN" sz="2000" b="1">
                <a:latin typeface="宋体" pitchFamily="2" charset="-122"/>
              </a:rPr>
              <a:t>11 011</a:t>
            </a:r>
            <a:endParaRPr lang="en-US" altLang="zh-CN" sz="2000">
              <a:latin typeface="宋体" pitchFamily="2" charset="-122"/>
            </a:endParaRPr>
          </a:p>
          <a:p>
            <a:pPr eaLnBrk="0" hangingPunct="0">
              <a:spcBef>
                <a:spcPct val="50000"/>
              </a:spcBef>
            </a:pPr>
            <a:r>
              <a:rPr lang="en-US" altLang="zh-CN" sz="2000" b="1">
                <a:latin typeface="宋体" pitchFamily="2" charset="-122"/>
              </a:rPr>
              <a:t>(2) </a:t>
            </a:r>
            <a:r>
              <a:rPr lang="zh-CN" altLang="en-US" sz="2000" b="1">
                <a:latin typeface="宋体" pitchFamily="2" charset="-122"/>
              </a:rPr>
              <a:t>尾数除法运算采用补码阵列除法器实现</a:t>
            </a:r>
            <a:r>
              <a:rPr lang="en-US" altLang="zh-CN" sz="2000" b="1">
                <a:latin typeface="宋体" pitchFamily="2" charset="-122"/>
              </a:rPr>
              <a:t>,</a:t>
            </a:r>
            <a:r>
              <a:rPr lang="zh-CN" altLang="en-US" sz="2000" b="1">
                <a:latin typeface="宋体" pitchFamily="2" charset="-122"/>
              </a:rPr>
              <a:t>即有</a:t>
            </a:r>
            <a:endParaRPr lang="zh-CN" altLang="en-US" sz="2000">
              <a:latin typeface="宋体" pitchFamily="2" charset="-122"/>
            </a:endParaRPr>
          </a:p>
          <a:p>
            <a:pPr eaLnBrk="0" hangingPunct="0">
              <a:spcBef>
                <a:spcPct val="50000"/>
              </a:spcBef>
            </a:pPr>
            <a:r>
              <a:rPr lang="zh-CN" altLang="en-US" sz="2000" b="1">
                <a:latin typeface="宋体" pitchFamily="2" charset="-122"/>
              </a:rPr>
              <a:t>　　符号位单独运算：</a:t>
            </a:r>
            <a:r>
              <a:rPr lang="en-US" altLang="zh-CN" sz="2000" b="1">
                <a:latin typeface="宋体" pitchFamily="2" charset="-122"/>
              </a:rPr>
              <a:t>X</a:t>
            </a:r>
            <a:r>
              <a:rPr lang="en-US" altLang="zh-CN" sz="2000" b="1" baseline="-30000">
                <a:latin typeface="宋体" pitchFamily="2" charset="-122"/>
              </a:rPr>
              <a:t>f</a:t>
            </a:r>
            <a:r>
              <a:rPr lang="en-US" altLang="zh-CN" sz="2000" b="1">
                <a:latin typeface="宋体" pitchFamily="2" charset="-122"/>
              </a:rPr>
              <a:t>⊕Y</a:t>
            </a:r>
            <a:r>
              <a:rPr lang="en-US" altLang="zh-CN" sz="2000" b="1" baseline="-30000">
                <a:latin typeface="宋体" pitchFamily="2" charset="-122"/>
              </a:rPr>
              <a:t>f</a:t>
            </a:r>
            <a:r>
              <a:rPr lang="en-US" altLang="zh-CN" sz="2000" b="1">
                <a:latin typeface="宋体" pitchFamily="2" charset="-122"/>
              </a:rPr>
              <a:t> = 0⊕0 = 0</a:t>
            </a:r>
          </a:p>
          <a:p>
            <a:pPr algn="just" eaLnBrk="0" hangingPunct="0">
              <a:spcBef>
                <a:spcPct val="50000"/>
              </a:spcBef>
            </a:pPr>
            <a:r>
              <a:rPr lang="en-US" altLang="zh-CN" sz="2000" b="1">
                <a:latin typeface="宋体" pitchFamily="2" charset="-122"/>
              </a:rPr>
              <a:t>    </a:t>
            </a:r>
            <a:r>
              <a:rPr lang="zh-CN" altLang="en-US" sz="2000" b="1">
                <a:latin typeface="宋体" pitchFamily="2" charset="-122"/>
              </a:rPr>
              <a:t>故得：商 </a:t>
            </a:r>
            <a:r>
              <a:rPr lang="en-US" altLang="zh-CN" sz="2000" b="1">
                <a:latin typeface="宋体" pitchFamily="2" charset="-122"/>
              </a:rPr>
              <a:t>q</a:t>
            </a:r>
            <a:r>
              <a:rPr lang="zh-CN" altLang="en-US" sz="2000" b="1">
                <a:latin typeface="宋体" pitchFamily="2" charset="-122"/>
              </a:rPr>
              <a:t>＝</a:t>
            </a:r>
            <a:r>
              <a:rPr lang="en-US" altLang="zh-CN" sz="2000" b="1">
                <a:latin typeface="宋体" pitchFamily="2" charset="-122"/>
              </a:rPr>
              <a:t>0.011011 </a:t>
            </a:r>
            <a:r>
              <a:rPr lang="zh-CN" altLang="en-US" sz="2000" b="1">
                <a:latin typeface="宋体" pitchFamily="2" charset="-122"/>
              </a:rPr>
              <a:t>余数 </a:t>
            </a:r>
            <a:r>
              <a:rPr lang="en-US" altLang="zh-CN" sz="2000" b="1">
                <a:latin typeface="宋体" pitchFamily="2" charset="-122"/>
              </a:rPr>
              <a:t>r</a:t>
            </a:r>
            <a:r>
              <a:rPr lang="zh-CN" altLang="en-US" sz="2000" b="1">
                <a:latin typeface="宋体" pitchFamily="2" charset="-122"/>
              </a:rPr>
              <a:t>＝</a:t>
            </a:r>
            <a:r>
              <a:rPr lang="en-US" altLang="zh-CN" sz="2000" b="1">
                <a:latin typeface="宋体" pitchFamily="2" charset="-122"/>
              </a:rPr>
              <a:t>0.000000,101100</a:t>
            </a:r>
          </a:p>
        </p:txBody>
      </p:sp>
      <p:graphicFrame>
        <p:nvGraphicFramePr>
          <p:cNvPr id="40966" name="Object 6"/>
          <p:cNvGraphicFramePr>
            <a:graphicFrameLocks noChangeAspect="1"/>
          </p:cNvGraphicFramePr>
          <p:nvPr/>
        </p:nvGraphicFramePr>
        <p:xfrm>
          <a:off x="152400" y="152400"/>
          <a:ext cx="8763000" cy="6553200"/>
        </p:xfrm>
        <a:graphic>
          <a:graphicData uri="http://schemas.openxmlformats.org/presentationml/2006/ole">
            <mc:AlternateContent xmlns:mc="http://schemas.openxmlformats.org/markup-compatibility/2006">
              <mc:Choice xmlns:v="urn:schemas-microsoft-com:vml" Requires="v">
                <p:oleObj spid="_x0000_s173203" name="位图图像" r:id="rId3" imgW="7171429" imgH="6171429" progId="PBrush">
                  <p:embed/>
                </p:oleObj>
              </mc:Choice>
              <mc:Fallback>
                <p:oleObj name="位图图像" r:id="rId3" imgW="7171429" imgH="6171429" progId="PBrush">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52400"/>
                        <a:ext cx="87630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8" name="Rectangle 8"/>
          <p:cNvSpPr>
            <a:spLocks noChangeArrowheads="1"/>
          </p:cNvSpPr>
          <p:nvPr/>
        </p:nvSpPr>
        <p:spPr bwMode="auto">
          <a:xfrm>
            <a:off x="152400" y="4256088"/>
            <a:ext cx="8686800" cy="25304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宋体" pitchFamily="2" charset="-122"/>
              </a:rPr>
              <a:t>(3) </a:t>
            </a:r>
            <a:r>
              <a:rPr lang="zh-CN" altLang="en-US" sz="2000" b="1">
                <a:latin typeface="宋体" pitchFamily="2" charset="-122"/>
              </a:rPr>
              <a:t>规格化处理</a:t>
            </a:r>
            <a:endParaRPr lang="zh-CN" altLang="en-US" sz="2000">
              <a:latin typeface="宋体" pitchFamily="2" charset="-122"/>
            </a:endParaRPr>
          </a:p>
          <a:p>
            <a:pPr eaLnBrk="0" hangingPunct="0">
              <a:spcBef>
                <a:spcPct val="50000"/>
              </a:spcBef>
            </a:pPr>
            <a:r>
              <a:rPr lang="zh-CN" altLang="en-US" sz="2000" b="1">
                <a:latin typeface="宋体" pitchFamily="2" charset="-122"/>
              </a:rPr>
              <a:t>　　商的尾数符号位与最高数值位符号相同</a:t>
            </a:r>
            <a:r>
              <a:rPr lang="en-US" altLang="zh-CN" sz="2000" b="1">
                <a:latin typeface="宋体" pitchFamily="2" charset="-122"/>
              </a:rPr>
              <a:t>,</a:t>
            </a:r>
            <a:r>
              <a:rPr lang="zh-CN" altLang="en-US" sz="2000" b="1">
                <a:latin typeface="宋体" pitchFamily="2" charset="-122"/>
              </a:rPr>
              <a:t>不是规格化的数</a:t>
            </a:r>
            <a:r>
              <a:rPr lang="en-US" altLang="zh-CN" sz="2000" b="1">
                <a:latin typeface="宋体" pitchFamily="2" charset="-122"/>
              </a:rPr>
              <a:t>,</a:t>
            </a:r>
            <a:r>
              <a:rPr lang="zh-CN" altLang="en-US" sz="2000" b="1">
                <a:latin typeface="宋体" pitchFamily="2" charset="-122"/>
              </a:rPr>
              <a:t>需要左规</a:t>
            </a:r>
            <a:r>
              <a:rPr lang="en-US" altLang="zh-CN" sz="2000" b="1">
                <a:latin typeface="宋体" pitchFamily="2" charset="-122"/>
              </a:rPr>
              <a:t>,</a:t>
            </a:r>
            <a:r>
              <a:rPr lang="zh-CN" altLang="en-US" sz="2000" b="1">
                <a:latin typeface="宋体" pitchFamily="2" charset="-122"/>
              </a:rPr>
              <a:t>阶码变为</a:t>
            </a:r>
            <a:r>
              <a:rPr lang="en-US" altLang="zh-CN" sz="2000" b="1">
                <a:latin typeface="宋体" pitchFamily="2" charset="-122"/>
              </a:rPr>
              <a:t>11 010,</a:t>
            </a:r>
            <a:r>
              <a:rPr lang="zh-CN" altLang="en-US" sz="2000" b="1">
                <a:latin typeface="宋体" pitchFamily="2" charset="-122"/>
              </a:rPr>
              <a:t>尾数变为</a:t>
            </a:r>
            <a:r>
              <a:rPr lang="en-US" altLang="zh-CN" sz="2000" b="1">
                <a:latin typeface="宋体" pitchFamily="2" charset="-122"/>
              </a:rPr>
              <a:t>0.110110</a:t>
            </a:r>
            <a:endParaRPr lang="en-US" altLang="zh-CN" sz="2000">
              <a:latin typeface="宋体" pitchFamily="2" charset="-122"/>
            </a:endParaRPr>
          </a:p>
          <a:p>
            <a:pPr eaLnBrk="0" hangingPunct="0">
              <a:spcBef>
                <a:spcPct val="50000"/>
              </a:spcBef>
            </a:pPr>
            <a:r>
              <a:rPr lang="en-US" altLang="zh-CN" sz="2000" b="1">
                <a:latin typeface="宋体" pitchFamily="2" charset="-122"/>
              </a:rPr>
              <a:t>(4) </a:t>
            </a:r>
            <a:r>
              <a:rPr lang="zh-CN" altLang="en-US" sz="2000" b="1">
                <a:latin typeface="宋体" pitchFamily="2" charset="-122"/>
              </a:rPr>
              <a:t>舍入处理 无</a:t>
            </a:r>
            <a:endParaRPr lang="zh-CN" altLang="en-US" sz="2000">
              <a:latin typeface="宋体" pitchFamily="2" charset="-122"/>
            </a:endParaRPr>
          </a:p>
          <a:p>
            <a:pPr eaLnBrk="0" hangingPunct="0">
              <a:spcBef>
                <a:spcPct val="50000"/>
              </a:spcBef>
            </a:pPr>
            <a:r>
              <a:rPr lang="zh-CN" altLang="en-US" sz="2000" b="1">
                <a:latin typeface="宋体" pitchFamily="2" charset="-122"/>
              </a:rPr>
              <a:t>　　最终相除结果为　</a:t>
            </a:r>
            <a:r>
              <a:rPr lang="en-US" altLang="zh-CN" sz="2000" b="1">
                <a:latin typeface="宋体" pitchFamily="2" charset="-122"/>
              </a:rPr>
              <a:t>[</a:t>
            </a:r>
            <a:r>
              <a:rPr lang="zh-CN" altLang="en-US" sz="2000" b="1">
                <a:latin typeface="宋体" pitchFamily="2" charset="-122"/>
              </a:rPr>
              <a:t>ｘ</a:t>
            </a:r>
            <a:r>
              <a:rPr lang="en-US" altLang="zh-CN" sz="2000" b="1">
                <a:latin typeface="宋体" pitchFamily="2" charset="-122"/>
              </a:rPr>
              <a:t>÷</a:t>
            </a:r>
            <a:r>
              <a:rPr lang="zh-CN" altLang="en-US" sz="2000" b="1">
                <a:latin typeface="宋体" pitchFamily="2" charset="-122"/>
              </a:rPr>
              <a:t>ｙ</a:t>
            </a:r>
            <a:r>
              <a:rPr lang="en-US" altLang="zh-CN" sz="2000" b="1">
                <a:latin typeface="宋体" pitchFamily="2" charset="-122"/>
              </a:rPr>
              <a:t>]</a:t>
            </a:r>
            <a:r>
              <a:rPr lang="zh-CN" altLang="en-US" sz="2000" b="1" baseline="-30000">
                <a:latin typeface="宋体" pitchFamily="2" charset="-122"/>
              </a:rPr>
              <a:t>浮</a:t>
            </a:r>
            <a:r>
              <a:rPr lang="zh-CN" altLang="en-US" sz="2000" b="1">
                <a:latin typeface="宋体" pitchFamily="2" charset="-122"/>
              </a:rPr>
              <a:t>＝</a:t>
            </a:r>
            <a:r>
              <a:rPr lang="en-US" altLang="zh-CN" sz="2000" b="1">
                <a:latin typeface="宋体" pitchFamily="2" charset="-122"/>
              </a:rPr>
              <a:t>11 010</a:t>
            </a:r>
            <a:r>
              <a:rPr lang="zh-CN" altLang="en-US" sz="2000" b="1">
                <a:latin typeface="宋体" pitchFamily="2" charset="-122"/>
              </a:rPr>
              <a:t>，</a:t>
            </a:r>
            <a:r>
              <a:rPr lang="en-US" altLang="zh-CN" sz="2000" b="1">
                <a:latin typeface="宋体" pitchFamily="2" charset="-122"/>
              </a:rPr>
              <a:t>0.110110 </a:t>
            </a:r>
            <a:endParaRPr lang="en-US" altLang="zh-CN" sz="2000">
              <a:latin typeface="宋体" pitchFamily="2" charset="-122"/>
            </a:endParaRPr>
          </a:p>
          <a:p>
            <a:pPr eaLnBrk="0" hangingPunct="0">
              <a:spcBef>
                <a:spcPct val="50000"/>
              </a:spcBef>
            </a:pPr>
            <a:r>
              <a:rPr lang="zh-CN" altLang="en-US" sz="2000" b="1">
                <a:latin typeface="宋体" pitchFamily="2" charset="-122"/>
              </a:rPr>
              <a:t>其真值为 ｘ</a:t>
            </a:r>
            <a:r>
              <a:rPr lang="en-US" altLang="zh-CN" sz="2000" b="1">
                <a:latin typeface="宋体" pitchFamily="2" charset="-122"/>
              </a:rPr>
              <a:t>×</a:t>
            </a:r>
            <a:r>
              <a:rPr lang="zh-CN" altLang="en-US" sz="2000" b="1">
                <a:latin typeface="宋体" pitchFamily="2" charset="-122"/>
              </a:rPr>
              <a:t>ｙ＝</a:t>
            </a:r>
            <a:r>
              <a:rPr lang="en-US" altLang="zh-CN" sz="2000" b="1">
                <a:latin typeface="宋体" pitchFamily="2" charset="-122"/>
              </a:rPr>
              <a:t>2</a:t>
            </a:r>
            <a:r>
              <a:rPr lang="en-US" altLang="zh-CN" sz="2000" b="1" baseline="30000">
                <a:latin typeface="宋体" pitchFamily="2" charset="-122"/>
              </a:rPr>
              <a:t>-6</a:t>
            </a:r>
            <a:r>
              <a:rPr lang="en-US" altLang="zh-CN" sz="2000" b="1">
                <a:latin typeface="宋体" pitchFamily="2" charset="-122"/>
              </a:rPr>
              <a:t> x (0.110110) </a:t>
            </a:r>
            <a:endParaRPr lang="en-US" altLang="zh-CN" sz="200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dissolve">
                                      <p:cBhvr>
                                        <p:cTn id="7" dur="500"/>
                                        <p:tgtEl>
                                          <p:spTgt spid="409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0966"/>
                                        </p:tgtEl>
                                        <p:attrNameLst>
                                          <p:attrName>style.visibility</p:attrName>
                                        </p:attrNameLst>
                                      </p:cBhvr>
                                      <p:to>
                                        <p:strVal val="visible"/>
                                      </p:to>
                                    </p:set>
                                    <p:animEffect transition="in" filter="dissolve">
                                      <p:cBhvr>
                                        <p:cTn id="12" dur="500"/>
                                        <p:tgtEl>
                                          <p:spTgt spid="40966"/>
                                        </p:tgtEl>
                                      </p:cBhvr>
                                    </p:animEffect>
                                  </p:childTnLst>
                                  <p:subTnLst>
                                    <p:set>
                                      <p:cBhvr override="childStyle">
                                        <p:cTn dur="1" fill="hold" display="0" masterRel="nextClick" afterEffect="1"/>
                                        <p:tgtEl>
                                          <p:spTgt spid="40966"/>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968"/>
                                        </p:tgtEl>
                                        <p:attrNameLst>
                                          <p:attrName>style.visibility</p:attrName>
                                        </p:attrNameLst>
                                      </p:cBhvr>
                                      <p:to>
                                        <p:strVal val="visible"/>
                                      </p:to>
                                    </p:set>
                                    <p:animEffect transition="in" filter="dissolve">
                                      <p:cBhvr>
                                        <p:cTn id="17" dur="500"/>
                                        <p:tgtEl>
                                          <p:spTgt spid="40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autoUpdateAnimBg="0"/>
      <p:bldP spid="40968" grpId="0" animBg="1" autoUpdateAnimBg="0"/>
    </p:bld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8195</TotalTime>
  <Words>7600</Words>
  <Application>Microsoft Office PowerPoint</Application>
  <PresentationFormat>全屏显示(4:3)</PresentationFormat>
  <Paragraphs>1597</Paragraphs>
  <Slides>164</Slides>
  <Notes>15</Notes>
  <HiddenSlides>5</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164</vt:i4>
      </vt:variant>
    </vt:vector>
  </HeadingPairs>
  <TitlesOfParts>
    <vt:vector size="167" baseType="lpstr">
      <vt:lpstr>Network</vt:lpstr>
      <vt:lpstr>公式</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计算机组成原理</dc:title>
  <dc:creator>杨旭东</dc:creator>
  <cp:lastModifiedBy>msi</cp:lastModifiedBy>
  <cp:revision>352</cp:revision>
  <dcterms:created xsi:type="dcterms:W3CDTF">2008-05-19T20:45:51Z</dcterms:created>
  <dcterms:modified xsi:type="dcterms:W3CDTF">2021-09-09T10:45:00Z</dcterms:modified>
</cp:coreProperties>
</file>
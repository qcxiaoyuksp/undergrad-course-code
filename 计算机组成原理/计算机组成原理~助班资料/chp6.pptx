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3"/>
  </p:notesMasterIdLst>
  <p:sldIdLst>
    <p:sldId id="257" r:id="rId3"/>
    <p:sldId id="336" r:id="rId4"/>
    <p:sldId id="259" r:id="rId5"/>
    <p:sldId id="291" r:id="rId6"/>
    <p:sldId id="260" r:id="rId7"/>
    <p:sldId id="261" r:id="rId8"/>
    <p:sldId id="294" r:id="rId9"/>
    <p:sldId id="262" r:id="rId10"/>
    <p:sldId id="337" r:id="rId11"/>
    <p:sldId id="280" r:id="rId12"/>
    <p:sldId id="299" r:id="rId13"/>
    <p:sldId id="282" r:id="rId14"/>
    <p:sldId id="283" r:id="rId15"/>
    <p:sldId id="360" r:id="rId16"/>
    <p:sldId id="361" r:id="rId17"/>
    <p:sldId id="359" r:id="rId18"/>
    <p:sldId id="266" r:id="rId19"/>
    <p:sldId id="267" r:id="rId20"/>
    <p:sldId id="303" r:id="rId21"/>
    <p:sldId id="338" r:id="rId22"/>
    <p:sldId id="362" r:id="rId23"/>
    <p:sldId id="363" r:id="rId24"/>
    <p:sldId id="284" r:id="rId25"/>
    <p:sldId id="269" r:id="rId26"/>
    <p:sldId id="270" r:id="rId27"/>
    <p:sldId id="306" r:id="rId28"/>
    <p:sldId id="285" r:id="rId29"/>
    <p:sldId id="287" r:id="rId30"/>
    <p:sldId id="307" r:id="rId31"/>
    <p:sldId id="357" r:id="rId32"/>
    <p:sldId id="364" r:id="rId33"/>
    <p:sldId id="271" r:id="rId34"/>
    <p:sldId id="309" r:id="rId35"/>
    <p:sldId id="369" r:id="rId36"/>
    <p:sldId id="311" r:id="rId37"/>
    <p:sldId id="310" r:id="rId38"/>
    <p:sldId id="370" r:id="rId39"/>
    <p:sldId id="314" r:id="rId40"/>
    <p:sldId id="365" r:id="rId41"/>
    <p:sldId id="367" r:id="rId42"/>
    <p:sldId id="318" r:id="rId43"/>
    <p:sldId id="324" r:id="rId44"/>
    <p:sldId id="327" r:id="rId45"/>
    <p:sldId id="329" r:id="rId46"/>
    <p:sldId id="371" r:id="rId47"/>
    <p:sldId id="358" r:id="rId48"/>
    <p:sldId id="368" r:id="rId49"/>
    <p:sldId id="331" r:id="rId50"/>
    <p:sldId id="334" r:id="rId51"/>
    <p:sldId id="333" r:id="rId52"/>
    <p:sldId id="342" r:id="rId53"/>
    <p:sldId id="350" r:id="rId54"/>
    <p:sldId id="340" r:id="rId55"/>
    <p:sldId id="351" r:id="rId56"/>
    <p:sldId id="349" r:id="rId57"/>
    <p:sldId id="341" r:id="rId58"/>
    <p:sldId id="355" r:id="rId59"/>
    <p:sldId id="346" r:id="rId60"/>
    <p:sldId id="347" r:id="rId61"/>
    <p:sldId id="366" r:id="rId62"/>
  </p:sldIdLst>
  <p:sldSz cx="9144000" cy="6858000" type="screen4x3"/>
  <p:notesSz cx="6858000" cy="9144000"/>
  <p:defaultTextStyle>
    <a:defPPr>
      <a:defRPr lang="zh-CN"/>
    </a:defPPr>
    <a:lvl1pPr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1pPr>
    <a:lvl2pPr marL="4572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2pPr>
    <a:lvl3pPr marL="9144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3pPr>
    <a:lvl4pPr marL="13716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4pPr>
    <a:lvl5pPr marL="1828800" algn="l" rtl="0" fontAlgn="base">
      <a:lnSpc>
        <a:spcPct val="90000"/>
      </a:lnSpc>
      <a:spcBef>
        <a:spcPct val="20000"/>
      </a:spcBef>
      <a:spcAft>
        <a:spcPct val="0"/>
      </a:spcAft>
      <a:buClr>
        <a:schemeClr val="bg1"/>
      </a:buClr>
      <a:buSzPct val="70000"/>
      <a:buFont typeface="Wingdings" panose="05000000000000000000" pitchFamily="2" charset="2"/>
      <a:defRPr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ern="1200">
        <a:solidFill>
          <a:schemeClr val="tx1"/>
        </a:solidFill>
        <a:latin typeface="宋体" panose="02010600030101010101" pitchFamily="2" charset="-122"/>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00"/>
    <a:srgbClr val="00FF00"/>
    <a:srgbClr val="FF0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60"/>
  </p:normalViewPr>
  <p:slideViewPr>
    <p:cSldViewPr>
      <p:cViewPr>
        <p:scale>
          <a:sx n="70" d="100"/>
          <a:sy n="70" d="100"/>
        </p:scale>
        <p:origin x="-2214" y="-9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83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notesMaster" Target="notesMasters/notesMaster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nSpc>
                <a:spcPct val="100000"/>
              </a:lnSpc>
              <a:spcBef>
                <a:spcPct val="0"/>
              </a:spcBef>
              <a:buClrTx/>
              <a:buSzTx/>
              <a:buFontTx/>
              <a:buNone/>
              <a:defRPr kumimoji="1" sz="1200">
                <a:latin typeface="Times New Roman" panose="02020603050405020304" pitchFamily="18" charset="0"/>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lnSpc>
                <a:spcPct val="100000"/>
              </a:lnSpc>
              <a:spcBef>
                <a:spcPct val="0"/>
              </a:spcBef>
              <a:buClrTx/>
              <a:buSzTx/>
              <a:buFontTx/>
              <a:buNone/>
              <a:defRPr kumimoji="1" sz="1200">
                <a:latin typeface="Times New Roman" panose="02020603050405020304" pitchFamily="18" charset="0"/>
              </a:defRPr>
            </a:lvl1pPr>
          </a:lstStyle>
          <a:p>
            <a:pPr>
              <a:defRPr/>
            </a:pPr>
            <a:fld id="{0E24781B-7F08-449C-9DF4-66EB349AFEC3}"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smtClean="0"/>
              <a:t>单击此处编辑母版标题样式</a:t>
            </a:r>
            <a:endParaRPr lang="zh-CN" altLang="en-US" noProof="0" smtClean="0"/>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pPr lvl="0"/>
            <a:r>
              <a:rPr lang="zh-CN" altLang="en-US" noProof="0" smtClean="0"/>
              <a:t>单击此处编辑母版副标题样式</a:t>
            </a:r>
            <a:endParaRPr lang="zh-CN" altLang="en-US" noProof="0" smtClean="0"/>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C97CFABB-0249-4E8E-B69A-9B6D8E28CDFD}"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B60B389C-6F98-48AB-8252-7FE49BA84C9E}"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42318A7-15AF-42D7-9CCA-8C6B5FAABFF9}"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35FE3FC0-349D-467F-8B29-15B07DC32CBB}"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3523BF29-1459-4D53-8B74-40692DDA5CA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42F3EF66-55EB-4E6C-B889-A83630DE9E7A}"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299F3425-AF92-4882-BC17-A36921F9C3E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409C4D2C-17CC-4137-88F1-88029E04A697}"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A4E7589C-9D86-4A13-96F4-20A209D86ECF}"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0683E99C-C062-486F-B8E4-4951C95B5C5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25582F14-F0B6-4E5C-9197-FAF2FBD61D4C}"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lstStyle>
            <a:lvl1pPr>
              <a:lnSpc>
                <a:spcPct val="100000"/>
              </a:lnSpc>
              <a:spcBef>
                <a:spcPct val="0"/>
              </a:spcBef>
              <a:buClrTx/>
              <a:buSzTx/>
              <a:buFontTx/>
              <a:buNone/>
              <a:defRPr sz="1000">
                <a:latin typeface="+mn-lt"/>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lstStyle>
            <a:lvl1pPr algn="ctr">
              <a:lnSpc>
                <a:spcPct val="100000"/>
              </a:lnSpc>
              <a:spcBef>
                <a:spcPct val="0"/>
              </a:spcBef>
              <a:buClrTx/>
              <a:buSzTx/>
              <a:buFontTx/>
              <a:buNone/>
              <a:defRPr sz="1000">
                <a:latin typeface="+mn-lt"/>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lstStyle>
            <a:lvl1pPr algn="r">
              <a:lnSpc>
                <a:spcPct val="100000"/>
              </a:lnSpc>
              <a:spcBef>
                <a:spcPct val="0"/>
              </a:spcBef>
              <a:buClrTx/>
              <a:buSzTx/>
              <a:buFontTx/>
              <a:buNone/>
              <a:defRPr sz="1000">
                <a:latin typeface="+mn-lt"/>
              </a:defRPr>
            </a:lvl1pPr>
          </a:lstStyle>
          <a:p>
            <a:pPr>
              <a:defRPr/>
            </a:pPr>
            <a:fld id="{BC8127D0-196D-4F48-86C1-98F2A94D5AF7}" type="slidenum">
              <a:rPr lang="en-US" altLang="zh-CN"/>
            </a:fld>
            <a:endParaRPr lang="en-US" altLang="zh-CN"/>
          </a:p>
        </p:txBody>
      </p:sp>
      <p:grpSp>
        <p:nvGrpSpPr>
          <p:cNvPr id="1032" name="Group 8"/>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ln>
          </p:spPr>
          <p:txBody>
            <a:bodyPr wrap="none" anchor="ctr"/>
            <a:lstStyle/>
            <a:p>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ln>
          </p:spPr>
          <p:txBody>
            <a:bodyPr wrap="none" anchor="ctr"/>
            <a:lstStyle/>
            <a:p>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ln>
          </p:spPr>
          <p:txBody>
            <a:bodyPr wrap="none" anchor="ctr"/>
            <a:lstStyle/>
            <a:p>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ln>
          </p:spPr>
          <p:txBody>
            <a:bodyPr wrap="none" anchor="ctr"/>
            <a:lstStyle/>
            <a:p>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ln>
          </p:spPr>
          <p:txBody>
            <a:bodyPr wrap="none" anchor="ctr"/>
            <a:lstStyle/>
            <a:p>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ln>
          </p:spPr>
          <p:txBody>
            <a:bodyPr wrap="none" anchor="ctr"/>
            <a:lstStyle/>
            <a:p>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ln>
          </p:spPr>
          <p:txBody>
            <a:bodyPr wrap="none" anchor="ctr"/>
            <a:lstStyle/>
            <a:p>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ln>
          </p:spPr>
          <p:txBody>
            <a:bodyPr wrap="none" anchor="ctr"/>
            <a:lstStyle/>
            <a:p>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ln>
          </p:spPr>
          <p:txBody>
            <a:bodyPr wrap="none" anchor="ctr"/>
            <a:lstStyle/>
            <a:p>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ln>
          </p:spPr>
          <p:txBody>
            <a:bodyPr wrap="none" anchor="ctr"/>
            <a:lstStyle/>
            <a:p>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ln>
          </p:spPr>
          <p:txBody>
            <a:bodyPr wrap="none" anchor="ctr"/>
            <a:lstStyle/>
            <a:p>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ln>
          </p:spPr>
          <p:txBody>
            <a:bodyPr wrap="none" anchor="ctr"/>
            <a:lstStyle/>
            <a:p>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ln>
          </p:spPr>
          <p:txBody>
            <a:bodyPr wrap="none" anchor="ctr"/>
            <a:lstStyle/>
            <a:p>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ln>
          </p:spPr>
          <p:txBody>
            <a:bodyPr wrap="none" anchor="ctr"/>
            <a:lstStyle/>
            <a:p>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ln>
          </p:spPr>
          <p:txBody>
            <a:bodyPr wrap="none" anchor="ctr"/>
            <a:lstStyle/>
            <a:p>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ln>
          </p:spPr>
          <p:txBody>
            <a:bodyPr wrap="none" anchor="ctr"/>
            <a:lstStyle/>
            <a:p>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ln>
          </p:spPr>
          <p:txBody>
            <a:bodyPr wrap="none" anchor="ctr"/>
            <a:lstStyle/>
            <a:p>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ln>
          </p:spPr>
          <p:txBody>
            <a:bodyPr wrap="none" anchor="ctr"/>
            <a:lstStyle/>
            <a:p>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ln>
          </p:spPr>
          <p:txBody>
            <a:bodyPr wrap="none" anchor="ctr"/>
            <a:lstStyle/>
            <a:p>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ln>
          </p:spPr>
          <p:txBody>
            <a:bodyPr wrap="none" anchor="ctr"/>
            <a:lstStyle/>
            <a:p>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ln>
          </p:spPr>
          <p:txBody>
            <a:bodyPr wrap="none" anchor="ctr"/>
            <a:lstStyle/>
            <a:p>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hyperlink" Target="6.1.swf" TargetMode="Externa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hyperlink" Target="6.3.swf" TargetMode="Externa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hyperlink" Target="6.4.swf"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hyperlink" Target="6.5.swf" TargetMode="Externa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hyperlink" Target="6.6.swf" TargetMode="Externa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hyperlink" Target="6.8.swf"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hyperlink" Target="6.10.swf" TargetMode="Externa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hyperlink" Target="6.12.swf" TargetMode="Externa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hyperlink" Target="6.13.swf" TargetMode="Externa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hyperlink" Target="6.16.swf" TargetMode="External"/><Relationship Id="rId1"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hyperlink" Target="6.17.swf" TargetMode="External"/><Relationship Id="rId1"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hyperlink" Target="6.12.swf" TargetMode="Externa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hyperlink" Target="6.13.sw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12"/>
          </p:nvPr>
        </p:nvSpPr>
        <p:spPr/>
        <p:txBody>
          <a:bodyPr/>
          <a:lstStyle/>
          <a:p>
            <a:pPr>
              <a:defRPr/>
            </a:pPr>
            <a:fld id="{FF660F3D-D0DF-457F-A6A0-B1FCA4DBBAFE}" type="slidenum">
              <a:rPr lang="en-US" altLang="zh-CN"/>
            </a:fld>
            <a:endParaRPr lang="en-US" altLang="zh-CN"/>
          </a:p>
        </p:txBody>
      </p:sp>
      <p:sp>
        <p:nvSpPr>
          <p:cNvPr id="3075" name="Rectangle 2"/>
          <p:cNvSpPr>
            <a:spLocks noGrp="1" noChangeArrowheads="1"/>
          </p:cNvSpPr>
          <p:nvPr>
            <p:ph type="ctrTitle"/>
          </p:nvPr>
        </p:nvSpPr>
        <p:spPr>
          <a:xfrm>
            <a:off x="1763713" y="908050"/>
            <a:ext cx="4946650" cy="1835150"/>
          </a:xfrm>
        </p:spPr>
        <p:txBody>
          <a:bodyPr/>
          <a:lstStyle/>
          <a:p>
            <a:pPr eaLnBrk="1" hangingPunct="1"/>
            <a:r>
              <a:rPr lang="zh-CN" altLang="en-US" smtClean="0"/>
              <a:t>第六章  总线系统</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7FDF554-DF69-4AB3-9B15-6A7102205F2D}" type="slidenum">
              <a:rPr lang="en-US" altLang="zh-CN"/>
            </a:fld>
            <a:endParaRPr lang="en-US" altLang="zh-CN"/>
          </a:p>
        </p:txBody>
      </p:sp>
      <p:sp>
        <p:nvSpPr>
          <p:cNvPr id="4099" name="Rectangle 4"/>
          <p:cNvSpPr>
            <a:spLocks noChangeArrowheads="1"/>
          </p:cNvSpPr>
          <p:nvPr/>
        </p:nvSpPr>
        <p:spPr bwMode="auto">
          <a:xfrm>
            <a:off x="250825" y="1193800"/>
            <a:ext cx="7705725" cy="3935413"/>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a:latin typeface="Arial" panose="020B0604020202020204" pitchFamily="34" charset="0"/>
              </a:rPr>
              <a:t>           </a:t>
            </a:r>
            <a:r>
              <a:rPr lang="zh-CN" altLang="en-US" sz="2800"/>
              <a:t>任何一个微处理器都要与一定数量的部件和外围设备连接，但如果将各部件和每一种外围设备都分别用一组线路与</a:t>
            </a:r>
            <a:r>
              <a:rPr lang="en-US" altLang="zh-CN" sz="2800"/>
              <a:t>CPU</a:t>
            </a:r>
            <a:r>
              <a:rPr lang="zh-CN" altLang="en-US" sz="2800"/>
              <a:t>直接连接，那么连线将会错综复杂，甚至难以实现。为了简化硬件电路设计、简化系统结构，常用一组线路，配置以适当的接口电路，与各部件和外围设备连接，这组共用的连接线路被称为总线。采用总线结构便于部件和设备的扩充，尤其制定了统一的总线标准则容易使不同设备间实现互连。</a:t>
            </a:r>
            <a:endParaRPr lang="zh-CN" alt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89C422A-852F-429C-9243-F65F92465B6C}" type="slidenum">
              <a:rPr lang="en-US" altLang="zh-CN"/>
            </a:fld>
            <a:endParaRPr lang="en-US" altLang="zh-CN"/>
          </a:p>
        </p:txBody>
      </p:sp>
      <p:sp>
        <p:nvSpPr>
          <p:cNvPr id="5123" name="Rectangle 2"/>
          <p:cNvSpPr>
            <a:spLocks noGrp="1" noChangeArrowheads="1"/>
          </p:cNvSpPr>
          <p:nvPr>
            <p:ph type="title"/>
          </p:nvPr>
        </p:nvSpPr>
        <p:spPr>
          <a:xfrm>
            <a:off x="539750" y="333375"/>
            <a:ext cx="6911975" cy="719138"/>
          </a:xfrm>
        </p:spPr>
        <p:txBody>
          <a:bodyPr/>
          <a:lstStyle/>
          <a:p>
            <a:pPr eaLnBrk="1" hangingPunct="1"/>
            <a:r>
              <a:rPr lang="en-US" altLang="zh-CN" smtClean="0">
                <a:latin typeface="宋体" panose="02010600030101010101" pitchFamily="2" charset="-122"/>
              </a:rPr>
              <a:t>6.1.1</a:t>
            </a:r>
            <a:r>
              <a:rPr lang="zh-CN" altLang="en-US" smtClean="0">
                <a:latin typeface="宋体" panose="02010600030101010101" pitchFamily="2" charset="-122"/>
              </a:rPr>
              <a:t>总线的基本概念</a:t>
            </a:r>
            <a:endParaRPr lang="zh-CN" altLang="en-US" smtClean="0">
              <a:latin typeface="宋体" panose="02010600030101010101" pitchFamily="2" charset="-122"/>
            </a:endParaRPr>
          </a:p>
        </p:txBody>
      </p:sp>
      <p:sp>
        <p:nvSpPr>
          <p:cNvPr id="5124" name="Rectangle 3"/>
          <p:cNvSpPr>
            <a:spLocks noGrp="1" noChangeArrowheads="1"/>
          </p:cNvSpPr>
          <p:nvPr>
            <p:ph type="body" idx="1"/>
          </p:nvPr>
        </p:nvSpPr>
        <p:spPr>
          <a:xfrm>
            <a:off x="395288" y="1268413"/>
            <a:ext cx="7558087" cy="5113337"/>
          </a:xfrm>
        </p:spPr>
        <p:txBody>
          <a:bodyPr/>
          <a:lstStyle/>
          <a:p>
            <a:pPr lvl="1" eaLnBrk="1" hangingPunct="1"/>
            <a:r>
              <a:rPr lang="zh-CN" altLang="en-US" sz="2800" dirty="0" smtClean="0">
                <a:latin typeface="宋体" panose="02010600030101010101" pitchFamily="2" charset="-122"/>
              </a:rPr>
              <a:t>数字计算机是由若干系统功能部件构成的，这些系统功能部件在一起工作才能形成一个完整的计算机系统。</a:t>
            </a:r>
            <a:endParaRPr lang="zh-CN" altLang="en-US" sz="2800" dirty="0" smtClean="0">
              <a:latin typeface="宋体" panose="02010600030101010101" pitchFamily="2" charset="-122"/>
            </a:endParaRPr>
          </a:p>
          <a:p>
            <a:pPr lvl="1" eaLnBrk="1" hangingPunct="1"/>
            <a:r>
              <a:rPr lang="zh-CN" altLang="en-US" sz="2800" dirty="0" smtClean="0">
                <a:latin typeface="宋体" panose="02010600030101010101" pitchFamily="2" charset="-122"/>
              </a:rPr>
              <a:t>总线定义：计算机的若干功能部件之间不可能采用全互联形式，因此就需要有公共的信息通道，即总线。 </a:t>
            </a:r>
            <a:endParaRPr lang="zh-CN" altLang="en-US" sz="2800" dirty="0" smtClean="0">
              <a:latin typeface="宋体" panose="02010600030101010101" pitchFamily="2" charset="-122"/>
            </a:endParaRPr>
          </a:p>
          <a:p>
            <a:pPr lvl="1" eaLnBrk="1" hangingPunct="1"/>
            <a:r>
              <a:rPr lang="zh-CN" altLang="en-US" sz="2800" dirty="0" smtClean="0"/>
              <a:t>总线是构成计算机系统的互联机构，是多个系统功能部件之间进行数据传送的公共通路。借助于总线连接，计算机在各系统功能部件之间实现地址、数据和控制信息的交换，并在争用资源的基础上进行工作。</a:t>
            </a:r>
            <a:endParaRPr lang="zh-CN" altLang="en-US" sz="2800" dirty="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BF71B8F-4160-4095-810F-6FB10DF351F7}" type="slidenum">
              <a:rPr lang="en-US" altLang="zh-CN"/>
            </a:fld>
            <a:endParaRPr lang="en-US" altLang="zh-CN"/>
          </a:p>
        </p:txBody>
      </p:sp>
      <p:sp>
        <p:nvSpPr>
          <p:cNvPr id="6147" name="Rectangle 2"/>
          <p:cNvSpPr>
            <a:spLocks noGrp="1" noChangeArrowheads="1"/>
          </p:cNvSpPr>
          <p:nvPr>
            <p:ph type="title"/>
          </p:nvPr>
        </p:nvSpPr>
        <p:spPr>
          <a:xfrm>
            <a:off x="457200" y="122238"/>
            <a:ext cx="7543800" cy="930275"/>
          </a:xfrm>
        </p:spPr>
        <p:txBody>
          <a:bodyPr/>
          <a:lstStyle/>
          <a:p>
            <a:pPr eaLnBrk="1" hangingPunct="1"/>
            <a:r>
              <a:rPr lang="en-US" altLang="zh-CN" smtClean="0">
                <a:latin typeface="宋体" panose="02010600030101010101" pitchFamily="2" charset="-122"/>
              </a:rPr>
              <a:t>6.1.1</a:t>
            </a:r>
            <a:r>
              <a:rPr lang="zh-CN" altLang="en-US" smtClean="0">
                <a:latin typeface="宋体" panose="02010600030101010101" pitchFamily="2" charset="-122"/>
              </a:rPr>
              <a:t>总线的基本概念</a:t>
            </a:r>
            <a:endParaRPr lang="zh-CN" altLang="en-US" smtClean="0">
              <a:latin typeface="宋体" panose="02010600030101010101" pitchFamily="2" charset="-122"/>
            </a:endParaRPr>
          </a:p>
        </p:txBody>
      </p:sp>
      <p:sp>
        <p:nvSpPr>
          <p:cNvPr id="6148" name="Rectangle 3"/>
          <p:cNvSpPr>
            <a:spLocks noGrp="1" noChangeArrowheads="1"/>
          </p:cNvSpPr>
          <p:nvPr>
            <p:ph type="body" idx="1"/>
          </p:nvPr>
        </p:nvSpPr>
        <p:spPr>
          <a:xfrm>
            <a:off x="179388" y="1557338"/>
            <a:ext cx="7993062" cy="3240087"/>
          </a:xfrm>
        </p:spPr>
        <p:txBody>
          <a:bodyPr/>
          <a:lstStyle/>
          <a:p>
            <a:pPr lvl="1" eaLnBrk="1" hangingPunct="1"/>
            <a:r>
              <a:rPr lang="zh-CN" altLang="en-US" sz="2800" dirty="0" smtClean="0">
                <a:latin typeface="宋体" panose="02010600030101010101" pitchFamily="2" charset="-122"/>
              </a:rPr>
              <a:t>总线可分为以下几类： </a:t>
            </a:r>
            <a:endParaRPr lang="zh-CN" altLang="en-US" sz="2800" dirty="0" smtClean="0">
              <a:latin typeface="宋体" panose="02010600030101010101" pitchFamily="2" charset="-122"/>
            </a:endParaRPr>
          </a:p>
          <a:p>
            <a:pPr lvl="2" eaLnBrk="1" hangingPunct="1"/>
            <a:r>
              <a:rPr lang="zh-CN" altLang="en-US" sz="2800" dirty="0" smtClean="0">
                <a:latin typeface="宋体" panose="02010600030101010101" pitchFamily="2" charset="-122"/>
              </a:rPr>
              <a:t>内部总线：</a:t>
            </a:r>
            <a:r>
              <a:rPr lang="en-US" altLang="zh-CN" sz="2800" dirty="0" smtClean="0">
                <a:latin typeface="宋体" panose="02010600030101010101" pitchFamily="2" charset="-122"/>
              </a:rPr>
              <a:t>CPU</a:t>
            </a:r>
            <a:r>
              <a:rPr lang="zh-CN" altLang="en-US" sz="2800" dirty="0" smtClean="0">
                <a:latin typeface="宋体" panose="02010600030101010101" pitchFamily="2" charset="-122"/>
              </a:rPr>
              <a:t>内部连接各寄存器及运算器部件之间的总线。 </a:t>
            </a:r>
            <a:endParaRPr lang="zh-CN" altLang="en-US" sz="2800" dirty="0" smtClean="0">
              <a:latin typeface="宋体" panose="02010600030101010101" pitchFamily="2" charset="-122"/>
            </a:endParaRPr>
          </a:p>
          <a:p>
            <a:pPr lvl="2" eaLnBrk="1" hangingPunct="1"/>
            <a:r>
              <a:rPr lang="zh-CN" altLang="en-US" sz="2800" dirty="0" smtClean="0">
                <a:latin typeface="宋体" panose="02010600030101010101" pitchFamily="2" charset="-122"/>
              </a:rPr>
              <a:t>系统总线：</a:t>
            </a:r>
            <a:r>
              <a:rPr lang="en-US" altLang="zh-CN" sz="2800" dirty="0" smtClean="0">
                <a:latin typeface="宋体" panose="02010600030101010101" pitchFamily="2" charset="-122"/>
              </a:rPr>
              <a:t>CPU</a:t>
            </a:r>
            <a:r>
              <a:rPr lang="zh-CN" altLang="en-US" sz="2800" dirty="0" smtClean="0">
                <a:latin typeface="宋体" panose="02010600030101010101" pitchFamily="2" charset="-122"/>
              </a:rPr>
              <a:t>和计算机系统中其他高速功能部件相互连接的总线。 </a:t>
            </a:r>
            <a:endParaRPr lang="zh-CN" altLang="en-US" sz="2800" dirty="0" smtClean="0">
              <a:latin typeface="宋体" panose="02010600030101010101" pitchFamily="2" charset="-122"/>
            </a:endParaRPr>
          </a:p>
          <a:p>
            <a:pPr lvl="2" eaLnBrk="1" hangingPunct="1"/>
            <a:r>
              <a:rPr lang="en-US" altLang="zh-CN" sz="2800" dirty="0" smtClean="0">
                <a:latin typeface="宋体" panose="02010600030101010101" pitchFamily="2" charset="-122"/>
              </a:rPr>
              <a:t>I/O</a:t>
            </a:r>
            <a:r>
              <a:rPr lang="zh-CN" altLang="en-US" sz="2800" dirty="0" smtClean="0">
                <a:latin typeface="宋体" panose="02010600030101010101" pitchFamily="2" charset="-122"/>
              </a:rPr>
              <a:t>总线：中低速</a:t>
            </a:r>
            <a:r>
              <a:rPr lang="en-US" altLang="zh-CN" sz="2800" dirty="0" smtClean="0">
                <a:latin typeface="宋体" panose="02010600030101010101" pitchFamily="2" charset="-122"/>
              </a:rPr>
              <a:t>I/O</a:t>
            </a:r>
            <a:r>
              <a:rPr lang="zh-CN" altLang="en-US" sz="2800" dirty="0" smtClean="0">
                <a:latin typeface="宋体" panose="02010600030101010101" pitchFamily="2" charset="-122"/>
              </a:rPr>
              <a:t>设备相互连接的总线。</a:t>
            </a:r>
            <a:endParaRPr lang="zh-CN" altLang="en-US" sz="27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B018A68-9228-47D4-86DF-501D11B03079}" type="slidenum">
              <a:rPr lang="en-US" altLang="zh-CN"/>
            </a:fld>
            <a:endParaRPr lang="en-US" altLang="zh-CN"/>
          </a:p>
        </p:txBody>
      </p:sp>
      <p:sp>
        <p:nvSpPr>
          <p:cNvPr id="7171" name="Rectangle 2"/>
          <p:cNvSpPr>
            <a:spLocks noGrp="1" noChangeArrowheads="1"/>
          </p:cNvSpPr>
          <p:nvPr>
            <p:ph type="title"/>
          </p:nvPr>
        </p:nvSpPr>
        <p:spPr>
          <a:xfrm>
            <a:off x="457200" y="260350"/>
            <a:ext cx="7354888" cy="720725"/>
          </a:xfrm>
        </p:spPr>
        <p:txBody>
          <a:bodyPr/>
          <a:lstStyle/>
          <a:p>
            <a:pPr eaLnBrk="1" hangingPunct="1"/>
            <a:r>
              <a:rPr lang="en-US" altLang="zh-CN" smtClean="0">
                <a:latin typeface="宋体" panose="02010600030101010101" pitchFamily="2" charset="-122"/>
              </a:rPr>
              <a:t>6.1.1</a:t>
            </a:r>
            <a:r>
              <a:rPr lang="zh-CN" altLang="en-US" smtClean="0">
                <a:latin typeface="宋体" panose="02010600030101010101" pitchFamily="2" charset="-122"/>
              </a:rPr>
              <a:t>总线的基本概念</a:t>
            </a:r>
            <a:endParaRPr lang="zh-CN" altLang="en-US" smtClean="0">
              <a:latin typeface="宋体" panose="02010600030101010101" pitchFamily="2" charset="-122"/>
            </a:endParaRPr>
          </a:p>
        </p:txBody>
      </p:sp>
      <p:sp>
        <p:nvSpPr>
          <p:cNvPr id="7172" name="Rectangle 4"/>
          <p:cNvSpPr>
            <a:spLocks noChangeArrowheads="1"/>
          </p:cNvSpPr>
          <p:nvPr/>
        </p:nvSpPr>
        <p:spPr bwMode="auto">
          <a:xfrm>
            <a:off x="395288" y="1238250"/>
            <a:ext cx="7632700" cy="4757738"/>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3200" b="1" dirty="0"/>
              <a:t>1.</a:t>
            </a:r>
            <a:r>
              <a:rPr lang="zh-CN" altLang="en-US" sz="3200" b="1" dirty="0"/>
              <a:t>总线的特性</a:t>
            </a:r>
            <a:endParaRPr lang="zh-CN" altLang="en-US" sz="2800" b="1" dirty="0"/>
          </a:p>
          <a:p>
            <a:pPr>
              <a:lnSpc>
                <a:spcPct val="100000"/>
              </a:lnSpc>
              <a:spcBef>
                <a:spcPct val="0"/>
              </a:spcBef>
              <a:buClrTx/>
              <a:buSzTx/>
              <a:buFontTx/>
              <a:buNone/>
            </a:pPr>
            <a:r>
              <a:rPr lang="zh-CN" altLang="en-US" sz="2800" b="1" dirty="0"/>
              <a:t>    物理特性</a:t>
            </a:r>
            <a:r>
              <a:rPr lang="zh-CN" altLang="en-US" sz="2800" dirty="0"/>
              <a:t>：指总线的物理连接方式，包括总线的根数，总线的插头、插座的形状，引脚线的排列方式等。</a:t>
            </a:r>
            <a:endParaRPr lang="zh-CN" altLang="en-US" sz="2800" dirty="0"/>
          </a:p>
          <a:p>
            <a:pPr>
              <a:lnSpc>
                <a:spcPct val="100000"/>
              </a:lnSpc>
              <a:spcBef>
                <a:spcPct val="0"/>
              </a:spcBef>
              <a:buClrTx/>
              <a:buSzTx/>
              <a:buFontTx/>
              <a:buNone/>
            </a:pPr>
            <a:r>
              <a:rPr lang="zh-CN" altLang="en-US" sz="2800" b="1" dirty="0"/>
              <a:t>    功能特性</a:t>
            </a:r>
            <a:r>
              <a:rPr lang="zh-CN" altLang="en-US" sz="2800" dirty="0"/>
              <a:t>：描述总线中每一根线的功能。</a:t>
            </a:r>
            <a:endParaRPr lang="zh-CN" altLang="en-US" sz="2800" dirty="0"/>
          </a:p>
          <a:p>
            <a:pPr>
              <a:lnSpc>
                <a:spcPct val="100000"/>
              </a:lnSpc>
              <a:spcBef>
                <a:spcPct val="0"/>
              </a:spcBef>
              <a:buClrTx/>
              <a:buSzTx/>
              <a:buFontTx/>
              <a:buNone/>
            </a:pPr>
            <a:r>
              <a:rPr lang="zh-CN" altLang="en-US" sz="2800" b="1" dirty="0"/>
              <a:t>    电气特性</a:t>
            </a:r>
            <a:r>
              <a:rPr lang="zh-CN" altLang="en-US" sz="2800" dirty="0"/>
              <a:t>：定义每一根线上信号的传递方向及有效电平范围。送入</a:t>
            </a:r>
            <a:r>
              <a:rPr lang="en-US" altLang="zh-CN" sz="2800" dirty="0"/>
              <a:t>CPU</a:t>
            </a:r>
            <a:r>
              <a:rPr lang="zh-CN" altLang="en-US" sz="2800" dirty="0"/>
              <a:t>的信号叫输入信号</a:t>
            </a:r>
            <a:r>
              <a:rPr lang="en-US" altLang="zh-CN" sz="2800" dirty="0"/>
              <a:t>(IN)</a:t>
            </a:r>
            <a:r>
              <a:rPr lang="zh-CN" altLang="en-US" sz="2800" dirty="0"/>
              <a:t>，从</a:t>
            </a:r>
            <a:r>
              <a:rPr lang="en-US" altLang="zh-CN" sz="2800" dirty="0"/>
              <a:t>CPU</a:t>
            </a:r>
            <a:r>
              <a:rPr lang="zh-CN" altLang="en-US" sz="2800" dirty="0"/>
              <a:t>发出的信号叫输出信号</a:t>
            </a:r>
            <a:r>
              <a:rPr lang="en-US" altLang="zh-CN" sz="2800" dirty="0"/>
              <a:t>(OUT)</a:t>
            </a:r>
            <a:r>
              <a:rPr lang="zh-CN" altLang="en-US" sz="2800" dirty="0"/>
              <a:t>。</a:t>
            </a:r>
            <a:endParaRPr lang="zh-CN" altLang="en-US" sz="2800" dirty="0"/>
          </a:p>
          <a:p>
            <a:pPr>
              <a:lnSpc>
                <a:spcPct val="100000"/>
              </a:lnSpc>
              <a:spcBef>
                <a:spcPct val="0"/>
              </a:spcBef>
              <a:buClrTx/>
              <a:buSzTx/>
              <a:buFontTx/>
              <a:buNone/>
            </a:pPr>
            <a:r>
              <a:rPr lang="zh-CN" altLang="en-US" sz="2800" b="1" dirty="0"/>
              <a:t>    时间特性</a:t>
            </a:r>
            <a:r>
              <a:rPr lang="en-US" altLang="zh-CN" sz="2800" dirty="0"/>
              <a:t>:</a:t>
            </a:r>
            <a:r>
              <a:rPr lang="zh-CN" altLang="en-US" sz="2800" dirty="0"/>
              <a:t>定义了每根线在什么时间有效。规定了总线上各信号有效的时序关系，</a:t>
            </a:r>
            <a:r>
              <a:rPr lang="en-US" altLang="zh-CN" sz="2800" dirty="0"/>
              <a:t>CPU</a:t>
            </a:r>
            <a:r>
              <a:rPr lang="zh-CN" altLang="en-US" sz="2800" dirty="0"/>
              <a:t>才能正确无误地使用。</a:t>
            </a:r>
            <a:endParaRPr lang="zh-CN" altLang="en-US" dirty="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7CAF141-F8F7-476F-AD37-7F7BDF32369C}" type="slidenum">
              <a:rPr lang="en-US" altLang="zh-CN"/>
            </a:fld>
            <a:endParaRPr lang="en-US" altLang="zh-CN"/>
          </a:p>
        </p:txBody>
      </p:sp>
      <p:sp>
        <p:nvSpPr>
          <p:cNvPr id="8195" name="Rectangle 2"/>
          <p:cNvSpPr>
            <a:spLocks noGrp="1" noChangeArrowheads="1"/>
          </p:cNvSpPr>
          <p:nvPr>
            <p:ph type="title"/>
          </p:nvPr>
        </p:nvSpPr>
        <p:spPr>
          <a:xfrm>
            <a:off x="468313" y="0"/>
            <a:ext cx="7543800" cy="785813"/>
          </a:xfrm>
        </p:spPr>
        <p:txBody>
          <a:bodyPr/>
          <a:lstStyle/>
          <a:p>
            <a:pPr eaLnBrk="1" hangingPunct="1"/>
            <a:r>
              <a:rPr lang="en-US" altLang="zh-CN" smtClean="0">
                <a:latin typeface="宋体" panose="02010600030101010101" pitchFamily="2" charset="-122"/>
              </a:rPr>
              <a:t>6.1.1</a:t>
            </a:r>
            <a:r>
              <a:rPr lang="zh-CN" altLang="en-US" smtClean="0">
                <a:latin typeface="宋体" panose="02010600030101010101" pitchFamily="2" charset="-122"/>
              </a:rPr>
              <a:t>总线的基本概念</a:t>
            </a:r>
            <a:endParaRPr lang="zh-CN" altLang="en-US" smtClean="0">
              <a:latin typeface="宋体" panose="02010600030101010101" pitchFamily="2" charset="-122"/>
            </a:endParaRPr>
          </a:p>
        </p:txBody>
      </p:sp>
      <p:sp>
        <p:nvSpPr>
          <p:cNvPr id="10243" name="Rectangle 3"/>
          <p:cNvSpPr>
            <a:spLocks noGrp="1" noChangeArrowheads="1"/>
          </p:cNvSpPr>
          <p:nvPr>
            <p:ph type="body" idx="1"/>
          </p:nvPr>
        </p:nvSpPr>
        <p:spPr>
          <a:xfrm>
            <a:off x="179388" y="981075"/>
            <a:ext cx="8642350" cy="5616575"/>
          </a:xfrm>
        </p:spPr>
        <p:txBody>
          <a:bodyPr/>
          <a:lstStyle/>
          <a:p>
            <a:pPr eaLnBrk="1" hangingPunct="1">
              <a:lnSpc>
                <a:spcPct val="90000"/>
              </a:lnSpc>
              <a:buFont typeface="Wingdings" panose="05000000000000000000" pitchFamily="2" charset="2"/>
              <a:buNone/>
            </a:pPr>
            <a:r>
              <a:rPr lang="en-US" altLang="zh-CN" sz="2800" b="1" smtClean="0">
                <a:latin typeface="宋体" panose="02010600030101010101" pitchFamily="2" charset="-122"/>
              </a:rPr>
              <a:t>2.</a:t>
            </a:r>
            <a:r>
              <a:rPr lang="zh-CN" altLang="en-US" sz="2800" b="1" smtClean="0">
                <a:latin typeface="宋体" panose="02010600030101010101" pitchFamily="2" charset="-122"/>
              </a:rPr>
              <a:t>总线的标准化</a:t>
            </a:r>
            <a:endParaRPr lang="zh-CN" altLang="en-US" sz="2800" b="1" smtClean="0">
              <a:latin typeface="宋体" panose="02010600030101010101" pitchFamily="2" charset="-122"/>
            </a:endParaRPr>
          </a:p>
          <a:p>
            <a:pPr eaLnBrk="1" hangingPunct="1">
              <a:lnSpc>
                <a:spcPct val="90000"/>
              </a:lnSpc>
            </a:pPr>
            <a:r>
              <a:rPr lang="zh-CN" altLang="en-US" sz="2800" smtClean="0">
                <a:latin typeface="宋体" panose="02010600030101010101" pitchFamily="2" charset="-122"/>
              </a:rPr>
              <a:t>相同的指令系统，相同的功能，不同厂家生产的各功能部件在实现方法上几乎没有相同的，但各厂家生产的相同功能部件却可以互换使用，其原因在于它们都遵守了相同的系统总线的要求，这就是系统总线的标准化问题。目前，已经出现了很多总线标准，如</a:t>
            </a:r>
            <a:r>
              <a:rPr lang="en-US" altLang="zh-CN" sz="2800" smtClean="0">
                <a:latin typeface="宋体" panose="02010600030101010101" pitchFamily="2" charset="-122"/>
              </a:rPr>
              <a:t>PCI</a:t>
            </a:r>
            <a:r>
              <a:rPr lang="zh-CN" altLang="en-US" sz="2800" smtClean="0">
                <a:latin typeface="宋体" panose="02010600030101010101" pitchFamily="2" charset="-122"/>
              </a:rPr>
              <a:t>、</a:t>
            </a:r>
            <a:r>
              <a:rPr lang="en-US" altLang="zh-CN" sz="2800" smtClean="0">
                <a:latin typeface="宋体" panose="02010600030101010101" pitchFamily="2" charset="-122"/>
              </a:rPr>
              <a:t>ISA</a:t>
            </a:r>
            <a:r>
              <a:rPr lang="zh-CN" altLang="en-US" sz="2800" smtClean="0">
                <a:latin typeface="宋体" panose="02010600030101010101" pitchFamily="2" charset="-122"/>
              </a:rPr>
              <a:t>等。 </a:t>
            </a:r>
            <a:endParaRPr lang="zh-CN" altLang="en-US" sz="2800" smtClean="0">
              <a:latin typeface="宋体" panose="02010600030101010101" pitchFamily="2" charset="-122"/>
            </a:endParaRPr>
          </a:p>
          <a:p>
            <a:pPr eaLnBrk="1" hangingPunct="1">
              <a:lnSpc>
                <a:spcPct val="90000"/>
              </a:lnSpc>
            </a:pPr>
            <a:r>
              <a:rPr lang="zh-CN" altLang="en-US" sz="2800" smtClean="0">
                <a:latin typeface="宋体" panose="02010600030101010101" pitchFamily="2" charset="-122"/>
              </a:rPr>
              <a:t>采用标准总线的优点</a:t>
            </a:r>
            <a:endParaRPr lang="zh-CN" altLang="en-US" sz="2800" smtClean="0">
              <a:latin typeface="宋体" panose="02010600030101010101" pitchFamily="2" charset="-122"/>
            </a:endParaRPr>
          </a:p>
          <a:p>
            <a:pPr lvl="1" eaLnBrk="1" hangingPunct="1">
              <a:lnSpc>
                <a:spcPct val="90000"/>
              </a:lnSpc>
            </a:pPr>
            <a:r>
              <a:rPr lang="zh-CN" altLang="en-US" sz="2800" smtClean="0">
                <a:latin typeface="宋体" panose="02010600030101010101" pitchFamily="2" charset="-122"/>
              </a:rPr>
              <a:t>简化系统设计</a:t>
            </a:r>
            <a:endParaRPr lang="zh-CN" altLang="en-US" sz="2800" smtClean="0">
              <a:latin typeface="宋体" panose="02010600030101010101" pitchFamily="2" charset="-122"/>
            </a:endParaRPr>
          </a:p>
          <a:p>
            <a:pPr lvl="1" eaLnBrk="1" hangingPunct="1">
              <a:lnSpc>
                <a:spcPct val="90000"/>
              </a:lnSpc>
            </a:pPr>
            <a:r>
              <a:rPr lang="zh-CN" altLang="en-US" sz="2800" smtClean="0">
                <a:latin typeface="宋体" panose="02010600030101010101" pitchFamily="2" charset="-122"/>
              </a:rPr>
              <a:t>简化系统结构，提高系统可靠性</a:t>
            </a:r>
            <a:endParaRPr lang="zh-CN" altLang="en-US" sz="2800" smtClean="0">
              <a:latin typeface="宋体" panose="02010600030101010101" pitchFamily="2" charset="-122"/>
            </a:endParaRPr>
          </a:p>
          <a:p>
            <a:pPr lvl="1" eaLnBrk="1" hangingPunct="1">
              <a:lnSpc>
                <a:spcPct val="90000"/>
              </a:lnSpc>
            </a:pPr>
            <a:r>
              <a:rPr lang="zh-CN" altLang="en-US" sz="2800" smtClean="0">
                <a:latin typeface="宋体" panose="02010600030101010101" pitchFamily="2" charset="-122"/>
              </a:rPr>
              <a:t>便于系统的扩充和更新</a:t>
            </a:r>
            <a:endParaRPr lang="zh-CN" altLang="en-US" sz="2800" smtClean="0">
              <a:latin typeface="宋体" panose="02010600030101010101" pitchFamily="2" charset="-122"/>
            </a:endParaRPr>
          </a:p>
          <a:p>
            <a:pPr eaLnBrk="1" hangingPunct="1">
              <a:lnSpc>
                <a:spcPct val="90000"/>
              </a:lnSpc>
            </a:pPr>
            <a:r>
              <a:rPr lang="zh-CN" altLang="en-US" sz="2800" smtClean="0">
                <a:latin typeface="宋体" panose="02010600030101010101" pitchFamily="2" charset="-122"/>
              </a:rPr>
              <a:t>总线带宽：总线本身所能达到的最高传输速率，是衡量总线性能的重要指标，单位兆字节每秒</a:t>
            </a:r>
            <a:r>
              <a:rPr lang="en-US" altLang="zh-CN" sz="2800" smtClean="0">
                <a:latin typeface="宋体" panose="02010600030101010101" pitchFamily="2" charset="-122"/>
              </a:rPr>
              <a:t>(MB/s)</a:t>
            </a:r>
            <a:r>
              <a:rPr lang="zh-CN" altLang="en-US" sz="2800" smtClean="0">
                <a:latin typeface="宋体" panose="02010600030101010101" pitchFamily="2" charset="-122"/>
              </a:rPr>
              <a:t>。</a:t>
            </a:r>
            <a:endParaRPr lang="zh-CN" altLang="en-US" sz="2800" smtClean="0">
              <a:latin typeface="宋体" panose="02010600030101010101" pitchFamily="2"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anim calcmode="lin" valueType="num">
                                      <p:cBhvr additive="base">
                                        <p:cTn id="7"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13" dur="500"/>
                                        <p:tgtEl>
                                          <p:spTgt spid="1024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0243">
                                            <p:txEl>
                                              <p:pRg st="4" end="4"/>
                                            </p:txEl>
                                          </p:spTgt>
                                        </p:tgtEl>
                                        <p:attrNameLst>
                                          <p:attrName>style.visibility</p:attrName>
                                        </p:attrNameLst>
                                      </p:cBhvr>
                                      <p:to>
                                        <p:strVal val="visible"/>
                                      </p:to>
                                    </p:set>
                                    <p:anim calcmode="lin" valueType="num">
                                      <p:cBhvr additive="base">
                                        <p:cTn id="18"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2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0243">
                                            <p:txEl>
                                              <p:pRg st="5" end="5"/>
                                            </p:txEl>
                                          </p:spTgt>
                                        </p:tgtEl>
                                        <p:attrNameLst>
                                          <p:attrName>style.visibility</p:attrName>
                                        </p:attrNameLst>
                                      </p:cBhvr>
                                      <p:to>
                                        <p:strVal val="visible"/>
                                      </p:to>
                                    </p:set>
                                    <p:anim calcmode="lin" valueType="num">
                                      <p:cBhvr additive="base">
                                        <p:cTn id="24"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0243">
                                            <p:txEl>
                                              <p:pRg st="6" end="6"/>
                                            </p:txEl>
                                          </p:spTgt>
                                        </p:tgtEl>
                                        <p:attrNameLst>
                                          <p:attrName>style.visibility</p:attrName>
                                        </p:attrNameLst>
                                      </p:cBhvr>
                                      <p:to>
                                        <p:strVal val="visible"/>
                                      </p:to>
                                    </p:set>
                                    <p:anim calcmode="lin" valueType="num">
                                      <p:cBhvr additive="base">
                                        <p:cTn id="30"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2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2A4EB6B-6D45-4C6C-B12A-880897A6A41C}" type="slidenum">
              <a:rPr lang="en-US" altLang="zh-CN"/>
            </a:fld>
            <a:endParaRPr lang="en-US" altLang="zh-CN"/>
          </a:p>
        </p:txBody>
      </p:sp>
      <p:sp>
        <p:nvSpPr>
          <p:cNvPr id="9219" name="Rectangle 5"/>
          <p:cNvSpPr>
            <a:spLocks noChangeArrowheads="1"/>
          </p:cNvSpPr>
          <p:nvPr/>
        </p:nvSpPr>
        <p:spPr bwMode="auto">
          <a:xfrm>
            <a:off x="323850" y="188913"/>
            <a:ext cx="8569325" cy="2227262"/>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800"/>
              <a:t>【</a:t>
            </a:r>
            <a:r>
              <a:rPr lang="zh-CN" altLang="en-US" sz="2800"/>
              <a:t>例</a:t>
            </a:r>
            <a:r>
              <a:rPr lang="en-US" altLang="zh-CN" sz="2800"/>
              <a:t>1】</a:t>
            </a:r>
            <a:r>
              <a:rPr lang="zh-CN" altLang="en-US" sz="2800"/>
              <a:t>（</a:t>
            </a:r>
            <a:r>
              <a:rPr lang="en-US" altLang="zh-CN" sz="2800"/>
              <a:t>1</a:t>
            </a:r>
            <a:r>
              <a:rPr lang="zh-CN" altLang="en-US" sz="2800"/>
              <a:t>）某总线在一个总线周期中并行传送</a:t>
            </a:r>
            <a:r>
              <a:rPr lang="en-US" altLang="zh-CN" sz="2800"/>
              <a:t>4</a:t>
            </a:r>
            <a:r>
              <a:rPr lang="zh-CN" altLang="en-US" sz="2800"/>
              <a:t>个字节的数据，假设一个总线周期等于一个总线时钟周期，总线时钟频率为</a:t>
            </a:r>
            <a:r>
              <a:rPr lang="en-US" altLang="zh-CN" sz="2800"/>
              <a:t>33MHz</a:t>
            </a:r>
            <a:r>
              <a:rPr lang="zh-CN" altLang="en-US" sz="2800"/>
              <a:t>，总线带宽是多少</a:t>
            </a:r>
            <a:r>
              <a:rPr lang="en-US" altLang="zh-CN" sz="2800"/>
              <a:t>?</a:t>
            </a:r>
            <a:endParaRPr lang="en-US" altLang="zh-CN" sz="2800"/>
          </a:p>
          <a:p>
            <a:pPr>
              <a:lnSpc>
                <a:spcPct val="100000"/>
              </a:lnSpc>
              <a:spcBef>
                <a:spcPct val="0"/>
              </a:spcBef>
              <a:buClrTx/>
              <a:buSzTx/>
              <a:buFontTx/>
              <a:buNone/>
            </a:pPr>
            <a:r>
              <a:rPr lang="zh-CN" altLang="en-US" sz="2800"/>
              <a:t>（</a:t>
            </a:r>
            <a:r>
              <a:rPr lang="en-US" altLang="zh-CN" sz="2800"/>
              <a:t>2</a:t>
            </a:r>
            <a:r>
              <a:rPr lang="zh-CN" altLang="en-US" sz="2800"/>
              <a:t>）如果一个总线周期中并行传送</a:t>
            </a:r>
            <a:r>
              <a:rPr lang="en-US" altLang="zh-CN" sz="2800"/>
              <a:t>64</a:t>
            </a:r>
            <a:r>
              <a:rPr lang="zh-CN" altLang="en-US" sz="2800"/>
              <a:t>位数据，总线时钟频率升为</a:t>
            </a:r>
            <a:r>
              <a:rPr lang="en-US" altLang="zh-CN" sz="2800"/>
              <a:t>66MHz</a:t>
            </a:r>
            <a:r>
              <a:rPr lang="zh-CN" altLang="en-US" sz="2800"/>
              <a:t>，总线带宽是多少</a:t>
            </a:r>
            <a:r>
              <a:rPr lang="en-US" altLang="zh-CN" sz="2800"/>
              <a:t>?</a:t>
            </a:r>
            <a:endParaRPr lang="en-US" altLang="zh-CN" sz="2800"/>
          </a:p>
        </p:txBody>
      </p:sp>
      <p:sp>
        <p:nvSpPr>
          <p:cNvPr id="9220" name="Rectangle 6"/>
          <p:cNvSpPr>
            <a:spLocks noChangeArrowheads="1"/>
          </p:cNvSpPr>
          <p:nvPr/>
        </p:nvSpPr>
        <p:spPr bwMode="auto">
          <a:xfrm>
            <a:off x="323850" y="2565400"/>
            <a:ext cx="8424863" cy="3081338"/>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800"/>
              <a:t>解：</a:t>
            </a:r>
            <a:endParaRPr lang="zh-CN" altLang="en-US" sz="2800"/>
          </a:p>
          <a:p>
            <a:pPr>
              <a:lnSpc>
                <a:spcPct val="100000"/>
              </a:lnSpc>
              <a:spcBef>
                <a:spcPct val="0"/>
              </a:spcBef>
              <a:buClrTx/>
              <a:buSzTx/>
              <a:buFontTx/>
              <a:buNone/>
            </a:pPr>
            <a:r>
              <a:rPr lang="zh-CN" altLang="en-US" sz="2800"/>
              <a:t>（</a:t>
            </a:r>
            <a:r>
              <a:rPr lang="en-US" altLang="zh-CN" sz="2800"/>
              <a:t>1</a:t>
            </a:r>
            <a:r>
              <a:rPr lang="zh-CN" altLang="en-US" sz="2800"/>
              <a:t>）设总线带宽用</a:t>
            </a:r>
            <a:r>
              <a:rPr lang="en-US" altLang="zh-CN" sz="2800"/>
              <a:t>Dr</a:t>
            </a:r>
            <a:r>
              <a:rPr lang="zh-CN" altLang="en-US" sz="2800"/>
              <a:t>表示，总线时钟周期</a:t>
            </a:r>
            <a:r>
              <a:rPr lang="en-US" altLang="zh-CN" sz="2800"/>
              <a:t>T=1/f</a:t>
            </a:r>
            <a:r>
              <a:rPr lang="zh-CN" altLang="en-US" sz="2800"/>
              <a:t>，</a:t>
            </a:r>
            <a:endParaRPr lang="zh-CN" altLang="en-US" sz="2800"/>
          </a:p>
          <a:p>
            <a:pPr>
              <a:lnSpc>
                <a:spcPct val="100000"/>
              </a:lnSpc>
              <a:spcBef>
                <a:spcPct val="0"/>
              </a:spcBef>
              <a:buClrTx/>
              <a:buSzTx/>
              <a:buFontTx/>
              <a:buNone/>
            </a:pPr>
            <a:r>
              <a:rPr lang="zh-CN" altLang="en-US" sz="2800"/>
              <a:t>     一个总线周期传送的数据量用</a:t>
            </a:r>
            <a:r>
              <a:rPr lang="en-US" altLang="zh-CN" sz="2800"/>
              <a:t>D</a:t>
            </a:r>
            <a:r>
              <a:rPr lang="zh-CN" altLang="en-US" sz="2800"/>
              <a:t>表示，</a:t>
            </a:r>
            <a:endParaRPr lang="zh-CN" altLang="en-US" sz="2800"/>
          </a:p>
          <a:p>
            <a:pPr>
              <a:lnSpc>
                <a:spcPct val="100000"/>
              </a:lnSpc>
              <a:spcBef>
                <a:spcPct val="0"/>
              </a:spcBef>
              <a:buClrTx/>
              <a:buSzTx/>
              <a:buFontTx/>
              <a:buNone/>
            </a:pPr>
            <a:r>
              <a:rPr lang="zh-CN" altLang="en-US" sz="2800"/>
              <a:t>     根据定义可得</a:t>
            </a:r>
            <a:endParaRPr lang="zh-CN" altLang="en-US" sz="2800"/>
          </a:p>
          <a:p>
            <a:pPr>
              <a:lnSpc>
                <a:spcPct val="100000"/>
              </a:lnSpc>
              <a:spcBef>
                <a:spcPct val="0"/>
              </a:spcBef>
              <a:buClrTx/>
              <a:buSzTx/>
              <a:buFontTx/>
              <a:buNone/>
            </a:pPr>
            <a:r>
              <a:rPr lang="zh-CN" altLang="en-US" sz="2800"/>
              <a:t>	</a:t>
            </a:r>
            <a:r>
              <a:rPr lang="en-US" altLang="zh-CN" sz="2800"/>
              <a:t>Dr=D/T=D×f=4B×33×10</a:t>
            </a:r>
            <a:r>
              <a:rPr lang="en-US" altLang="zh-CN" sz="2800" baseline="30000"/>
              <a:t>6</a:t>
            </a:r>
            <a:r>
              <a:rPr lang="en-US" altLang="zh-CN" sz="2800"/>
              <a:t>/s=132MB/s</a:t>
            </a:r>
            <a:endParaRPr lang="en-US" altLang="zh-CN" sz="2800"/>
          </a:p>
          <a:p>
            <a:pPr>
              <a:lnSpc>
                <a:spcPct val="100000"/>
              </a:lnSpc>
              <a:spcBef>
                <a:spcPct val="0"/>
              </a:spcBef>
              <a:buClrTx/>
              <a:buSzTx/>
              <a:buFontTx/>
              <a:buNone/>
            </a:pPr>
            <a:r>
              <a:rPr lang="zh-CN" altLang="en-US" sz="2800"/>
              <a:t>（</a:t>
            </a:r>
            <a:r>
              <a:rPr lang="en-US" altLang="zh-CN" sz="2800"/>
              <a:t>2</a:t>
            </a:r>
            <a:r>
              <a:rPr lang="zh-CN" altLang="en-US" sz="2800"/>
              <a:t>）</a:t>
            </a:r>
            <a:r>
              <a:rPr lang="en-US" altLang="zh-CN" sz="2800"/>
              <a:t>64</a:t>
            </a:r>
            <a:r>
              <a:rPr lang="zh-CN" altLang="en-US" sz="2800"/>
              <a:t>位</a:t>
            </a:r>
            <a:r>
              <a:rPr lang="en-US" altLang="zh-CN" sz="2800"/>
              <a:t>=8B</a:t>
            </a:r>
            <a:endParaRPr lang="en-US" altLang="zh-CN" sz="2800"/>
          </a:p>
          <a:p>
            <a:pPr>
              <a:lnSpc>
                <a:spcPct val="100000"/>
              </a:lnSpc>
              <a:spcBef>
                <a:spcPct val="0"/>
              </a:spcBef>
              <a:buClrTx/>
              <a:buSzTx/>
              <a:buFontTx/>
              <a:buNone/>
            </a:pPr>
            <a:r>
              <a:rPr lang="en-US" altLang="zh-CN" sz="2800"/>
              <a:t>	Dr=D×f=8B×66×106/s=528MB/s</a:t>
            </a:r>
            <a:endParaRPr lang="en-US" altLang="zh-CN" sz="28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4A5DB412-CA1D-4B7E-8BAF-CEC1CF7E5F46}" type="slidenum">
              <a:rPr lang="en-US" altLang="zh-CN"/>
            </a:fld>
            <a:endParaRPr lang="en-US" altLang="zh-CN"/>
          </a:p>
        </p:txBody>
      </p:sp>
      <p:sp>
        <p:nvSpPr>
          <p:cNvPr id="10243" name="Rectangle 2"/>
          <p:cNvSpPr>
            <a:spLocks noGrp="1" noChangeArrowheads="1"/>
          </p:cNvSpPr>
          <p:nvPr>
            <p:ph type="title"/>
          </p:nvPr>
        </p:nvSpPr>
        <p:spPr>
          <a:xfrm>
            <a:off x="395288" y="404813"/>
            <a:ext cx="7543800" cy="714375"/>
          </a:xfrm>
        </p:spPr>
        <p:txBody>
          <a:bodyPr/>
          <a:lstStyle/>
          <a:p>
            <a:pPr eaLnBrk="1" hangingPunct="1"/>
            <a:r>
              <a:rPr lang="en-US" altLang="zh-CN" smtClean="0">
                <a:cs typeface="Times New Roman" panose="02020603050405020304" pitchFamily="18" charset="0"/>
              </a:rPr>
              <a:t>6.1.2 </a:t>
            </a:r>
            <a:r>
              <a:rPr lang="zh-CN" altLang="en-US" b="0" smtClean="0">
                <a:latin typeface="宋体" panose="02010600030101010101" pitchFamily="2" charset="-122"/>
              </a:rPr>
              <a:t>总线的连接方式</a:t>
            </a:r>
            <a:r>
              <a:rPr lang="zh-CN" altLang="en-US" b="0" i="1" smtClean="0">
                <a:latin typeface="宋体" panose="02010600030101010101" pitchFamily="2" charset="-122"/>
              </a:rPr>
              <a:t> </a:t>
            </a:r>
            <a:endParaRPr lang="zh-CN" altLang="en-US" b="0" i="1" smtClean="0">
              <a:latin typeface="宋体" panose="02010600030101010101" pitchFamily="2" charset="-122"/>
            </a:endParaRPr>
          </a:p>
        </p:txBody>
      </p:sp>
      <p:sp>
        <p:nvSpPr>
          <p:cNvPr id="10244" name="Rectangle 3"/>
          <p:cNvSpPr>
            <a:spLocks noGrp="1" noChangeArrowheads="1"/>
          </p:cNvSpPr>
          <p:nvPr>
            <p:ph type="body" idx="1"/>
          </p:nvPr>
        </p:nvSpPr>
        <p:spPr>
          <a:xfrm>
            <a:off x="323850" y="1268413"/>
            <a:ext cx="7634288" cy="2952750"/>
          </a:xfrm>
        </p:spPr>
        <p:txBody>
          <a:bodyPr/>
          <a:lstStyle/>
          <a:p>
            <a:pPr eaLnBrk="1" hangingPunct="1"/>
            <a:r>
              <a:rPr lang="zh-CN" altLang="en-US" sz="3200" smtClean="0">
                <a:latin typeface="宋体" panose="02010600030101010101" pitchFamily="2" charset="-122"/>
              </a:rPr>
              <a:t>适配器（接口）：实现高速</a:t>
            </a:r>
            <a:r>
              <a:rPr lang="en-US" altLang="zh-CN" sz="3200" smtClean="0">
                <a:latin typeface="宋体" panose="02010600030101010101" pitchFamily="2" charset="-122"/>
              </a:rPr>
              <a:t>CPU</a:t>
            </a:r>
            <a:r>
              <a:rPr lang="zh-CN" altLang="en-US" sz="3200" smtClean="0">
                <a:latin typeface="宋体" panose="02010600030101010101" pitchFamily="2" charset="-122"/>
              </a:rPr>
              <a:t>与低速外设之间工作速度上的匹配和同步，并完成计算机和外设之间的所有数据传送和控制。 </a:t>
            </a:r>
            <a:endParaRPr lang="zh-CN" altLang="en-US" sz="3200" smtClean="0">
              <a:latin typeface="宋体" panose="02010600030101010101" pitchFamily="2" charset="-122"/>
            </a:endParaRPr>
          </a:p>
          <a:p>
            <a:pPr eaLnBrk="1" hangingPunct="1"/>
            <a:r>
              <a:rPr lang="zh-CN" altLang="en-US" sz="3200" smtClean="0">
                <a:latin typeface="宋体" panose="02010600030101010101" pitchFamily="2" charset="-122"/>
              </a:rPr>
              <a:t>单机系统中总线结构的两种基本类型：</a:t>
            </a:r>
            <a:endParaRPr lang="zh-CN" altLang="en-US" sz="3200"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514B834-DBD8-48A8-A943-B6101BDD31F5}" type="slidenum">
              <a:rPr lang="en-US" altLang="zh-CN"/>
            </a:fld>
            <a:endParaRPr lang="en-US" altLang="zh-CN"/>
          </a:p>
        </p:txBody>
      </p:sp>
      <p:sp>
        <p:nvSpPr>
          <p:cNvPr id="11267" name="Rectangle 4"/>
          <p:cNvSpPr>
            <a:spLocks noChangeArrowheads="1"/>
          </p:cNvSpPr>
          <p:nvPr/>
        </p:nvSpPr>
        <p:spPr bwMode="auto">
          <a:xfrm>
            <a:off x="179388" y="260350"/>
            <a:ext cx="7705725" cy="822325"/>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400"/>
              <a:t>    </a:t>
            </a:r>
            <a:r>
              <a:rPr lang="zh-CN" altLang="en-US" sz="2400"/>
              <a:t>单总线：使用一条单一的系统总线来连接</a:t>
            </a:r>
            <a:r>
              <a:rPr lang="en-US" altLang="zh-CN" sz="2400"/>
              <a:t>CPU</a:t>
            </a:r>
            <a:r>
              <a:rPr lang="zh-CN" altLang="en-US" sz="2400"/>
              <a:t>、内存和</a:t>
            </a:r>
            <a:r>
              <a:rPr lang="en-US" altLang="zh-CN" sz="2400"/>
              <a:t>I/O</a:t>
            </a:r>
            <a:r>
              <a:rPr lang="zh-CN" altLang="en-US" sz="2400"/>
              <a:t>设备。</a:t>
            </a:r>
            <a:r>
              <a:rPr lang="zh-CN" altLang="en-US">
                <a:latin typeface="Arial" panose="020B0604020202020204" pitchFamily="34" charset="0"/>
              </a:rPr>
              <a:t> </a:t>
            </a:r>
            <a:endParaRPr lang="zh-CN" altLang="en-US">
              <a:latin typeface="Arial" panose="020B0604020202020204" pitchFamily="34" charset="0"/>
            </a:endParaRPr>
          </a:p>
        </p:txBody>
      </p:sp>
      <p:pic>
        <p:nvPicPr>
          <p:cNvPr id="11268" name="Picture 5" descr="6"/>
          <p:cNvPicPr>
            <a:picLocks noChangeAspect="1" noChangeArrowheads="1"/>
          </p:cNvPicPr>
          <p:nvPr/>
        </p:nvPicPr>
        <p:blipFill>
          <a:blip r:embed="rId1"/>
          <a:srcRect/>
          <a:stretch>
            <a:fillRect/>
          </a:stretch>
        </p:blipFill>
        <p:spPr bwMode="auto">
          <a:xfrm>
            <a:off x="250825" y="1168400"/>
            <a:ext cx="7634288" cy="3095625"/>
          </a:xfrm>
          <a:prstGeom prst="rect">
            <a:avLst/>
          </a:prstGeom>
          <a:noFill/>
          <a:ln w="9525">
            <a:noFill/>
            <a:miter lim="800000"/>
            <a:headEnd/>
            <a:tailEnd/>
          </a:ln>
        </p:spPr>
      </p:pic>
      <p:sp>
        <p:nvSpPr>
          <p:cNvPr id="11269" name="Rectangle 6"/>
          <p:cNvSpPr>
            <a:spLocks noChangeArrowheads="1"/>
          </p:cNvSpPr>
          <p:nvPr/>
        </p:nvSpPr>
        <p:spPr bwMode="auto">
          <a:xfrm>
            <a:off x="395288" y="4221163"/>
            <a:ext cx="8229600" cy="2376487"/>
          </a:xfrm>
          <a:prstGeom prst="rect">
            <a:avLst/>
          </a:prstGeom>
          <a:noFill/>
          <a:ln w="9525">
            <a:noFill/>
            <a:miter lim="800000"/>
          </a:ln>
        </p:spPr>
        <p:txBody>
          <a:bodyPr/>
          <a:lstStyle/>
          <a:p>
            <a:pPr marL="342900" indent="-342900">
              <a:lnSpc>
                <a:spcPct val="100000"/>
              </a:lnSpc>
              <a:buClr>
                <a:schemeClr val="tx2"/>
              </a:buClr>
            </a:pPr>
            <a:endParaRPr lang="zh-CN" altLang="zh-CN" sz="2400"/>
          </a:p>
        </p:txBody>
      </p:sp>
      <p:sp>
        <p:nvSpPr>
          <p:cNvPr id="11270" name="Rectangle 7"/>
          <p:cNvSpPr>
            <a:spLocks noChangeArrowheads="1"/>
          </p:cNvSpPr>
          <p:nvPr/>
        </p:nvSpPr>
        <p:spPr bwMode="auto">
          <a:xfrm>
            <a:off x="323850" y="4292600"/>
            <a:ext cx="7993063" cy="2282825"/>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400"/>
              <a:t>单总线结构特点：</a:t>
            </a:r>
            <a:endParaRPr lang="zh-CN" altLang="en-US" sz="2400"/>
          </a:p>
          <a:p>
            <a:pPr>
              <a:lnSpc>
                <a:spcPct val="100000"/>
              </a:lnSpc>
              <a:spcBef>
                <a:spcPct val="0"/>
              </a:spcBef>
              <a:buClrTx/>
              <a:buSzTx/>
              <a:buFontTx/>
              <a:buNone/>
            </a:pPr>
            <a:r>
              <a:rPr lang="zh-CN" altLang="en-US" sz="2400"/>
              <a:t>    在单总线结构中，要求连接到总线上的逻辑部件必须高速运行，以便在某些设备需要使用总线时，能迅速获得总线控制权；而当不再使用总线时，能迅速放弃总线控制权。否则，由于一条总线由多种功能部件共用，可能导致很大的时间延迟。</a:t>
            </a:r>
            <a:endParaRPr lang="zh-CN" altLang="en-US" sz="2400"/>
          </a:p>
        </p:txBody>
      </p:sp>
      <p:pic>
        <p:nvPicPr>
          <p:cNvPr id="11271" name="Picture 8">
            <a:hlinkClick r:id="rId2" action="ppaction://hlinkfile"/>
          </p:cNvPr>
          <p:cNvPicPr>
            <a:picLocks noChangeAspect="1" noChangeArrowheads="1"/>
          </p:cNvPicPr>
          <p:nvPr/>
        </p:nvPicPr>
        <p:blipFill>
          <a:blip r:embed="rId3"/>
          <a:srcRect/>
          <a:stretch>
            <a:fillRect/>
          </a:stretch>
        </p:blipFill>
        <p:spPr bwMode="auto">
          <a:xfrm>
            <a:off x="7885113" y="3500438"/>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D72910ED-E81A-4741-9E7B-62E25CEDB182}" type="slidenum">
              <a:rPr lang="en-US" altLang="zh-CN"/>
            </a:fld>
            <a:endParaRPr lang="en-US" altLang="zh-CN"/>
          </a:p>
        </p:txBody>
      </p:sp>
      <p:sp>
        <p:nvSpPr>
          <p:cNvPr id="12291" name="Rectangle 3"/>
          <p:cNvSpPr>
            <a:spLocks noGrp="1" noChangeArrowheads="1"/>
          </p:cNvSpPr>
          <p:nvPr>
            <p:ph type="body" idx="1"/>
          </p:nvPr>
        </p:nvSpPr>
        <p:spPr>
          <a:xfrm>
            <a:off x="323850" y="476250"/>
            <a:ext cx="7272338" cy="4411663"/>
          </a:xfrm>
        </p:spPr>
        <p:txBody>
          <a:bodyPr/>
          <a:lstStyle/>
          <a:p>
            <a:pPr eaLnBrk="1" hangingPunct="1">
              <a:buFont typeface="Wingdings" panose="05000000000000000000" pitchFamily="2" charset="2"/>
              <a:buNone/>
            </a:pPr>
            <a:endParaRPr lang="en-US" altLang="zh-CN" smtClean="0">
              <a:latin typeface="宋体" panose="02010600030101010101" pitchFamily="2" charset="-122"/>
            </a:endParaRPr>
          </a:p>
          <a:p>
            <a:pPr eaLnBrk="1" hangingPunct="1">
              <a:buFont typeface="Wingdings" panose="05000000000000000000" pitchFamily="2" charset="2"/>
              <a:buNone/>
            </a:pPr>
            <a:endParaRPr lang="en-US" altLang="zh-CN" smtClean="0"/>
          </a:p>
        </p:txBody>
      </p:sp>
      <p:sp>
        <p:nvSpPr>
          <p:cNvPr id="12293" name="Rectangle 6"/>
          <p:cNvSpPr>
            <a:spLocks noChangeArrowheads="1"/>
          </p:cNvSpPr>
          <p:nvPr/>
        </p:nvSpPr>
        <p:spPr bwMode="auto">
          <a:xfrm>
            <a:off x="323850" y="188913"/>
            <a:ext cx="8424863" cy="519112"/>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zh-CN" altLang="en-US" sz="2800"/>
              <a:t>多总线：在</a:t>
            </a:r>
            <a:r>
              <a:rPr lang="en-US" altLang="zh-CN" sz="2800"/>
              <a:t>CPU</a:t>
            </a:r>
            <a:r>
              <a:rPr lang="zh-CN" altLang="en-US" sz="2800"/>
              <a:t>、主存、</a:t>
            </a:r>
            <a:r>
              <a:rPr lang="en-US" altLang="zh-CN" sz="2800"/>
              <a:t>I/O</a:t>
            </a:r>
            <a:r>
              <a:rPr lang="zh-CN" altLang="en-US" sz="2800"/>
              <a:t>之间互联采用多条总线。</a:t>
            </a:r>
            <a:endParaRPr lang="zh-CN" altLang="en-US" sz="2800"/>
          </a:p>
        </p:txBody>
      </p:sp>
      <p:sp>
        <p:nvSpPr>
          <p:cNvPr id="15372" name="Rectangle 12"/>
          <p:cNvSpPr>
            <a:spLocks noChangeArrowheads="1"/>
          </p:cNvSpPr>
          <p:nvPr/>
        </p:nvSpPr>
        <p:spPr bwMode="auto">
          <a:xfrm>
            <a:off x="323528" y="5517232"/>
            <a:ext cx="8497887" cy="1150937"/>
          </a:xfrm>
          <a:prstGeom prst="rect">
            <a:avLst/>
          </a:prstGeom>
          <a:solidFill>
            <a:srgbClr val="CCFFFF"/>
          </a:solidFill>
          <a:ln w="9525">
            <a:noFill/>
            <a:miter lim="800000"/>
          </a:ln>
        </p:spPr>
        <p:txBody>
          <a:bodyPr/>
          <a:lstStyle/>
          <a:p>
            <a:pPr>
              <a:lnSpc>
                <a:spcPct val="80000"/>
              </a:lnSpc>
              <a:buClr>
                <a:schemeClr val="tx2"/>
              </a:buClr>
            </a:pPr>
            <a:r>
              <a:rPr lang="zh-CN" altLang="en-US" sz="2800" dirty="0" smtClean="0"/>
              <a:t>    多总线</a:t>
            </a:r>
            <a:r>
              <a:rPr lang="zh-CN" altLang="en-US" sz="2800" dirty="0"/>
              <a:t>结构体现了高速、中速、低速设备连接到不同的总线上同时进行工作，以提高总线的效率和吞吐量，而且处理器结构的变化不影响高速总线。</a:t>
            </a:r>
            <a:endParaRPr lang="zh-CN" altLang="en-US" sz="2800" dirty="0"/>
          </a:p>
        </p:txBody>
      </p:sp>
      <p:pic>
        <p:nvPicPr>
          <p:cNvPr id="286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9963" y="793279"/>
            <a:ext cx="8348836" cy="4651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A6809F3-0514-4C34-A217-1A61621D9438}" type="slidenum">
              <a:rPr lang="en-US" altLang="zh-CN"/>
            </a:fld>
            <a:endParaRPr lang="en-US" altLang="zh-CN"/>
          </a:p>
        </p:txBody>
      </p:sp>
      <p:sp>
        <p:nvSpPr>
          <p:cNvPr id="13315" name="Rectangle 2"/>
          <p:cNvSpPr>
            <a:spLocks noGrp="1" noChangeArrowheads="1"/>
          </p:cNvSpPr>
          <p:nvPr>
            <p:ph type="title"/>
          </p:nvPr>
        </p:nvSpPr>
        <p:spPr>
          <a:xfrm>
            <a:off x="323850" y="260350"/>
            <a:ext cx="7543800" cy="504825"/>
          </a:xfrm>
        </p:spPr>
        <p:txBody>
          <a:bodyPr/>
          <a:lstStyle/>
          <a:p>
            <a:pPr eaLnBrk="1" hangingPunct="1"/>
            <a:r>
              <a:rPr lang="en-US" altLang="zh-CN" sz="3500" smtClean="0">
                <a:solidFill>
                  <a:schemeClr val="tx1"/>
                </a:solidFill>
                <a:cs typeface="Times New Roman" panose="02020603050405020304" pitchFamily="18" charset="0"/>
              </a:rPr>
              <a:t>6.1</a:t>
            </a:r>
            <a:r>
              <a:rPr lang="en-US" altLang="zh-CN" sz="3500" smtClean="0">
                <a:solidFill>
                  <a:schemeClr val="tx1"/>
                </a:solidFill>
              </a:rPr>
              <a:t>.3</a:t>
            </a:r>
            <a:r>
              <a:rPr lang="zh-CN" altLang="en-US" sz="3500" b="0" smtClean="0">
                <a:latin typeface="宋体" panose="02010600030101010101" pitchFamily="2" charset="-122"/>
              </a:rPr>
              <a:t>总线的内部结构</a:t>
            </a:r>
            <a:endParaRPr lang="zh-CN" altLang="en-US" sz="3500" b="0" smtClean="0">
              <a:latin typeface="宋体" panose="02010600030101010101" pitchFamily="2" charset="-122"/>
            </a:endParaRPr>
          </a:p>
        </p:txBody>
      </p:sp>
      <p:pic>
        <p:nvPicPr>
          <p:cNvPr id="13316" name="Picture 4" descr="6">
            <a:hlinkClick r:id="rId1" action="ppaction://hlinkfile"/>
          </p:cNvPr>
          <p:cNvPicPr>
            <a:picLocks noChangeAspect="1" noChangeArrowheads="1"/>
          </p:cNvPicPr>
          <p:nvPr/>
        </p:nvPicPr>
        <p:blipFill>
          <a:blip r:embed="rId2"/>
          <a:srcRect/>
          <a:stretch>
            <a:fillRect/>
          </a:stretch>
        </p:blipFill>
        <p:spPr bwMode="auto">
          <a:xfrm>
            <a:off x="468313" y="908050"/>
            <a:ext cx="7200900" cy="4176713"/>
          </a:xfrm>
          <a:prstGeom prst="rect">
            <a:avLst/>
          </a:prstGeom>
          <a:noFill/>
          <a:ln w="9525">
            <a:noFill/>
            <a:miter lim="800000"/>
            <a:headEnd/>
            <a:tailEnd/>
          </a:ln>
        </p:spPr>
      </p:pic>
      <p:pic>
        <p:nvPicPr>
          <p:cNvPr id="13317" name="Picture 5">
            <a:hlinkClick r:id="rId1" action="ppaction://hlinkfile"/>
          </p:cNvPr>
          <p:cNvPicPr>
            <a:picLocks noChangeAspect="1" noChangeArrowheads="1"/>
          </p:cNvPicPr>
          <p:nvPr/>
        </p:nvPicPr>
        <p:blipFill>
          <a:blip r:embed="rId3"/>
          <a:srcRect/>
          <a:stretch>
            <a:fillRect/>
          </a:stretch>
        </p:blipFill>
        <p:spPr bwMode="auto">
          <a:xfrm>
            <a:off x="7956550" y="3716338"/>
            <a:ext cx="409575" cy="381000"/>
          </a:xfrm>
          <a:prstGeom prst="rect">
            <a:avLst/>
          </a:prstGeom>
          <a:noFill/>
          <a:ln w="9525">
            <a:noFill/>
            <a:miter lim="800000"/>
            <a:headEnd/>
            <a:tailEnd/>
          </a:ln>
        </p:spPr>
      </p:pic>
      <p:sp>
        <p:nvSpPr>
          <p:cNvPr id="13318" name="Rectangle 6"/>
          <p:cNvSpPr>
            <a:spLocks noChangeArrowheads="1"/>
          </p:cNvSpPr>
          <p:nvPr/>
        </p:nvSpPr>
        <p:spPr bwMode="auto">
          <a:xfrm>
            <a:off x="250825" y="5084763"/>
            <a:ext cx="8137525" cy="1406525"/>
          </a:xfrm>
          <a:prstGeom prst="rect">
            <a:avLst/>
          </a:prstGeom>
          <a:noFill/>
          <a:ln w="9525">
            <a:noFill/>
            <a:miter lim="800000"/>
          </a:ln>
        </p:spPr>
        <p:txBody>
          <a:bodyPr>
            <a:spAutoFit/>
          </a:bodyPr>
          <a:lstStyle/>
          <a:p>
            <a:pPr>
              <a:buClr>
                <a:schemeClr val="tx2"/>
              </a:buClr>
            </a:pPr>
            <a:r>
              <a:rPr lang="en-US" altLang="zh-CN" sz="2400" dirty="0"/>
              <a:t>    </a:t>
            </a:r>
            <a:r>
              <a:rPr lang="zh-CN" altLang="en-US" sz="2400" dirty="0"/>
              <a:t>早期总线的内部结构如图所示，它实际上是处理器芯片引脚的延伸，是处理器与</a:t>
            </a:r>
            <a:r>
              <a:rPr lang="en-US" altLang="zh-CN" sz="2400" dirty="0"/>
              <a:t>I/O</a:t>
            </a:r>
            <a:r>
              <a:rPr lang="zh-CN" altLang="en-US" sz="2400" dirty="0"/>
              <a:t>设备适配器的通道。这种简单的总线一般也由</a:t>
            </a:r>
            <a:r>
              <a:rPr lang="en-US" altLang="zh-CN" sz="2400" dirty="0"/>
              <a:t>50</a:t>
            </a:r>
            <a:r>
              <a:rPr lang="zh-CN" altLang="en-US" sz="2400" dirty="0"/>
              <a:t>～</a:t>
            </a:r>
            <a:r>
              <a:rPr lang="en-US" altLang="zh-CN" sz="2400" dirty="0"/>
              <a:t>100</a:t>
            </a:r>
            <a:r>
              <a:rPr lang="zh-CN" altLang="en-US" sz="2400" dirty="0"/>
              <a:t>条线组成，这些线按其功能可分为三类：地址线、数据线和控制线。</a:t>
            </a:r>
            <a:endParaRPr lang="zh-CN" altLang="en-US" sz="2400" dirty="0"/>
          </a:p>
        </p:txBody>
      </p:sp>
      <p:sp>
        <p:nvSpPr>
          <p:cNvPr id="17416" name="Rectangle 8"/>
          <p:cNvSpPr>
            <a:spLocks noChangeArrowheads="1"/>
          </p:cNvSpPr>
          <p:nvPr/>
        </p:nvSpPr>
        <p:spPr bwMode="auto">
          <a:xfrm>
            <a:off x="257157" y="5055279"/>
            <a:ext cx="8569325" cy="1552575"/>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t>    </a:t>
            </a:r>
            <a:r>
              <a:rPr lang="zh-CN" altLang="en-US" sz="2400" dirty="0"/>
              <a:t>早期总线结构的不足：第一，</a:t>
            </a:r>
            <a:r>
              <a:rPr lang="en-US" altLang="zh-CN" sz="2400" dirty="0"/>
              <a:t>CPU</a:t>
            </a:r>
            <a:r>
              <a:rPr lang="zh-CN" altLang="en-US" sz="2400" dirty="0"/>
              <a:t>是总线上唯一的主控者。即使后来增加了具有简单仲裁逻辑的</a:t>
            </a:r>
            <a:r>
              <a:rPr lang="en-US" altLang="zh-CN" sz="2400" dirty="0"/>
              <a:t>DMA</a:t>
            </a:r>
            <a:r>
              <a:rPr lang="zh-CN" altLang="en-US" sz="2400" dirty="0"/>
              <a:t>控制器以支持</a:t>
            </a:r>
            <a:r>
              <a:rPr lang="en-US" altLang="zh-CN" sz="2400" dirty="0"/>
              <a:t>DMA</a:t>
            </a:r>
            <a:r>
              <a:rPr lang="zh-CN" altLang="en-US" sz="2400" dirty="0"/>
              <a:t>传送，但仍不能满足多</a:t>
            </a:r>
            <a:r>
              <a:rPr lang="en-US" altLang="zh-CN" sz="2400" dirty="0"/>
              <a:t>CPU</a:t>
            </a:r>
            <a:r>
              <a:rPr lang="zh-CN" altLang="en-US" sz="2400" dirty="0"/>
              <a:t>环境的要求。第二，总线信号是</a:t>
            </a:r>
            <a:r>
              <a:rPr lang="en-US" altLang="zh-CN" sz="2400" dirty="0"/>
              <a:t>CPU</a:t>
            </a:r>
            <a:r>
              <a:rPr lang="zh-CN" altLang="en-US" sz="2400" dirty="0"/>
              <a:t>引脚信号的延伸，故总线结构紧密与</a:t>
            </a:r>
            <a:r>
              <a:rPr lang="en-US" altLang="zh-CN" sz="2400" dirty="0"/>
              <a:t>CPU</a:t>
            </a:r>
            <a:r>
              <a:rPr lang="zh-CN" altLang="en-US" sz="2400" dirty="0"/>
              <a:t>相关，通用性较差。</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dissolve">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F3F55955-CA02-4897-94FB-53E20508C6B2}" type="slidenum">
              <a:rPr lang="en-US" altLang="zh-CN"/>
            </a:fld>
            <a:endParaRPr lang="en-US" altLang="zh-CN"/>
          </a:p>
        </p:txBody>
      </p:sp>
      <p:pic>
        <p:nvPicPr>
          <p:cNvPr id="14339" name="Picture 4" descr="6">
            <a:hlinkClick r:id="rId1" action="ppaction://hlinkfile"/>
          </p:cNvPr>
          <p:cNvPicPr>
            <a:picLocks noChangeAspect="1" noChangeArrowheads="1"/>
          </p:cNvPicPr>
          <p:nvPr/>
        </p:nvPicPr>
        <p:blipFill>
          <a:blip r:embed="rId2"/>
          <a:srcRect/>
          <a:stretch>
            <a:fillRect/>
          </a:stretch>
        </p:blipFill>
        <p:spPr bwMode="auto">
          <a:xfrm>
            <a:off x="395288" y="1989138"/>
            <a:ext cx="7416800" cy="4868862"/>
          </a:xfrm>
          <a:prstGeom prst="rect">
            <a:avLst/>
          </a:prstGeom>
          <a:noFill/>
          <a:ln w="9525">
            <a:noFill/>
            <a:miter lim="800000"/>
            <a:headEnd/>
            <a:tailEnd/>
          </a:ln>
        </p:spPr>
      </p:pic>
      <p:sp>
        <p:nvSpPr>
          <p:cNvPr id="14340" name="Rectangle 6"/>
          <p:cNvSpPr>
            <a:spLocks noChangeArrowheads="1"/>
          </p:cNvSpPr>
          <p:nvPr/>
        </p:nvSpPr>
        <p:spPr bwMode="auto">
          <a:xfrm>
            <a:off x="323850" y="188913"/>
            <a:ext cx="4095750" cy="519112"/>
          </a:xfrm>
          <a:prstGeom prst="rect">
            <a:avLst/>
          </a:prstGeom>
          <a:noFill/>
          <a:ln w="9525">
            <a:noFill/>
            <a:miter lim="800000"/>
          </a:ln>
        </p:spPr>
        <p:txBody>
          <a:bodyPr>
            <a:spAutoFit/>
          </a:bodyPr>
          <a:lstStyle/>
          <a:p>
            <a:pPr>
              <a:lnSpc>
                <a:spcPct val="100000"/>
              </a:lnSpc>
              <a:spcBef>
                <a:spcPct val="0"/>
              </a:spcBef>
              <a:buClrTx/>
              <a:buSzTx/>
              <a:buFontTx/>
              <a:buNone/>
            </a:pPr>
            <a:r>
              <a:rPr lang="zh-CN" altLang="en-US" sz="2800">
                <a:latin typeface="Arial" panose="020B0604020202020204" pitchFamily="34" charset="0"/>
              </a:rPr>
              <a:t>当代流行的总线内部结构</a:t>
            </a:r>
            <a:endParaRPr lang="zh-CN" altLang="en-US" sz="2800">
              <a:latin typeface="Arial" panose="020B0604020202020204" pitchFamily="34" charset="0"/>
            </a:endParaRPr>
          </a:p>
        </p:txBody>
      </p:sp>
      <p:pic>
        <p:nvPicPr>
          <p:cNvPr id="14341" name="Picture 7">
            <a:hlinkClick r:id="rId1" action="ppaction://hlinkfile"/>
          </p:cNvPr>
          <p:cNvPicPr>
            <a:picLocks noChangeAspect="1" noChangeArrowheads="1"/>
          </p:cNvPicPr>
          <p:nvPr/>
        </p:nvPicPr>
        <p:blipFill>
          <a:blip r:embed="rId3"/>
          <a:srcRect/>
          <a:stretch>
            <a:fillRect/>
          </a:stretch>
        </p:blipFill>
        <p:spPr bwMode="auto">
          <a:xfrm>
            <a:off x="8101013" y="4076700"/>
            <a:ext cx="409575" cy="381000"/>
          </a:xfrm>
          <a:prstGeom prst="rect">
            <a:avLst/>
          </a:prstGeom>
          <a:noFill/>
          <a:ln w="9525">
            <a:noFill/>
            <a:miter lim="800000"/>
            <a:headEnd/>
            <a:tailEnd/>
          </a:ln>
        </p:spPr>
      </p:pic>
      <p:sp>
        <p:nvSpPr>
          <p:cNvPr id="19466" name="Rectangle 10"/>
          <p:cNvSpPr>
            <a:spLocks noChangeArrowheads="1"/>
          </p:cNvSpPr>
          <p:nvPr/>
        </p:nvSpPr>
        <p:spPr bwMode="auto">
          <a:xfrm>
            <a:off x="250825" y="765175"/>
            <a:ext cx="8569325" cy="11874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a:t>    </a:t>
            </a:r>
            <a:r>
              <a:rPr lang="zh-CN" altLang="en-US" sz="2400"/>
              <a:t>当代流行的总线内部结构如下，它是一些标准总线，追求与结构、</a:t>
            </a:r>
            <a:r>
              <a:rPr lang="en-US" altLang="zh-CN" sz="2400"/>
              <a:t>CPU</a:t>
            </a:r>
            <a:r>
              <a:rPr lang="zh-CN" altLang="en-US" sz="2400"/>
              <a:t>、技术无关的开发标准，并满足包括多个</a:t>
            </a:r>
            <a:r>
              <a:rPr lang="en-US" altLang="zh-CN" sz="2400"/>
              <a:t>CPU</a:t>
            </a:r>
            <a:r>
              <a:rPr lang="zh-CN" altLang="en-US" sz="2400"/>
              <a:t>在内的主控者环境需求。</a:t>
            </a:r>
            <a:endParaRPr lang="zh-CN" altLang="en-US" sz="2400"/>
          </a:p>
        </p:txBody>
      </p:sp>
      <p:sp>
        <p:nvSpPr>
          <p:cNvPr id="19467" name="Rectangle 11"/>
          <p:cNvSpPr>
            <a:spLocks noChangeArrowheads="1"/>
          </p:cNvSpPr>
          <p:nvPr/>
        </p:nvSpPr>
        <p:spPr bwMode="auto">
          <a:xfrm>
            <a:off x="250825" y="765175"/>
            <a:ext cx="8497888" cy="11874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t>    </a:t>
            </a:r>
            <a:r>
              <a:rPr lang="zh-CN" altLang="en-US" sz="2400" dirty="0"/>
              <a:t>在当代总线结构中，</a:t>
            </a:r>
            <a:r>
              <a:rPr lang="en-US" altLang="zh-CN" sz="2400" dirty="0"/>
              <a:t>CPU</a:t>
            </a:r>
            <a:r>
              <a:rPr lang="zh-CN" altLang="en-US" sz="2400" dirty="0"/>
              <a:t>和它私有的</a:t>
            </a:r>
            <a:r>
              <a:rPr lang="en-US" altLang="zh-CN" sz="2400" dirty="0"/>
              <a:t>cache</a:t>
            </a:r>
            <a:r>
              <a:rPr lang="zh-CN" altLang="en-US" sz="2400" dirty="0"/>
              <a:t>一起作为一个模块与总线相连。系统中允许有多个这样的处理器模块。而总线控制器完成几个总线请求者之间的协调与仲裁。</a:t>
            </a:r>
            <a:endParaRPr lang="zh-CN" altLang="en-US" sz="2400" dirty="0"/>
          </a:p>
        </p:txBody>
      </p:sp>
      <p:sp>
        <p:nvSpPr>
          <p:cNvPr id="19468" name="Rectangle 12"/>
          <p:cNvSpPr>
            <a:spLocks noChangeArrowheads="1"/>
          </p:cNvSpPr>
          <p:nvPr/>
        </p:nvSpPr>
        <p:spPr bwMode="auto">
          <a:xfrm>
            <a:off x="229844" y="109686"/>
            <a:ext cx="8640763" cy="1552575"/>
          </a:xfrm>
          <a:prstGeom prst="rect">
            <a:avLst/>
          </a:prstGeom>
          <a:solidFill>
            <a:srgbClr val="CCFFFF"/>
          </a:solidFill>
          <a:ln w="9525">
            <a:noFill/>
            <a:miter lim="800000"/>
          </a:ln>
        </p:spPr>
        <p:txBody>
          <a:bodyPr>
            <a:spAutoFit/>
          </a:bodyPr>
          <a:lstStyle/>
          <a:p>
            <a:pPr>
              <a:lnSpc>
                <a:spcPct val="100000"/>
              </a:lnSpc>
              <a:buClr>
                <a:schemeClr val="tx2"/>
              </a:buClr>
            </a:pPr>
            <a:r>
              <a:rPr lang="en-US" altLang="zh-CN" sz="2400" b="1" dirty="0"/>
              <a:t>    </a:t>
            </a:r>
            <a:r>
              <a:rPr lang="zh-CN" altLang="en-US" sz="2400" b="1" dirty="0"/>
              <a:t>数据传送总线</a:t>
            </a:r>
            <a:r>
              <a:rPr lang="zh-CN" altLang="en-US" sz="2400" dirty="0"/>
              <a:t>：由地址线、数据线、控制线组成。其结构与简单总线相似，但一般是</a:t>
            </a:r>
            <a:r>
              <a:rPr lang="en-US" altLang="zh-CN" sz="2400" dirty="0"/>
              <a:t>32</a:t>
            </a:r>
            <a:r>
              <a:rPr lang="zh-CN" altLang="en-US" sz="2400" dirty="0"/>
              <a:t>条地址线，</a:t>
            </a:r>
            <a:r>
              <a:rPr lang="en-US" altLang="zh-CN" sz="2400" dirty="0"/>
              <a:t>32</a:t>
            </a:r>
            <a:r>
              <a:rPr lang="zh-CN" altLang="en-US" sz="2400" dirty="0"/>
              <a:t>或</a:t>
            </a:r>
            <a:r>
              <a:rPr lang="en-US" altLang="zh-CN" sz="2400" dirty="0"/>
              <a:t>64</a:t>
            </a:r>
            <a:r>
              <a:rPr lang="zh-CN" altLang="en-US" sz="2400" dirty="0"/>
              <a:t>条数据线。为了减少布线，</a:t>
            </a:r>
            <a:r>
              <a:rPr lang="en-US" altLang="zh-CN" sz="2400" dirty="0"/>
              <a:t>64</a:t>
            </a:r>
            <a:r>
              <a:rPr lang="zh-CN" altLang="en-US" sz="2400" dirty="0"/>
              <a:t>位数据的低</a:t>
            </a:r>
            <a:r>
              <a:rPr lang="en-US" altLang="zh-CN" sz="2400" dirty="0"/>
              <a:t>32</a:t>
            </a:r>
            <a:r>
              <a:rPr lang="zh-CN" altLang="en-US" sz="2400" dirty="0"/>
              <a:t>位数据线常常和地址线采用多路复用方式。</a:t>
            </a:r>
            <a:endParaRPr lang="zh-CN" altLang="en-US" sz="2400" dirty="0"/>
          </a:p>
        </p:txBody>
      </p:sp>
      <p:sp>
        <p:nvSpPr>
          <p:cNvPr id="19469" name="Rectangle 13"/>
          <p:cNvSpPr>
            <a:spLocks noChangeArrowheads="1"/>
          </p:cNvSpPr>
          <p:nvPr/>
        </p:nvSpPr>
        <p:spPr bwMode="auto">
          <a:xfrm>
            <a:off x="-1" y="14208"/>
            <a:ext cx="9144000" cy="191770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en-US" altLang="zh-CN" sz="2400" dirty="0">
                <a:latin typeface="Arial" panose="020B0604020202020204" pitchFamily="34" charset="0"/>
              </a:rPr>
              <a:t>       </a:t>
            </a:r>
            <a:r>
              <a:rPr lang="zh-CN" altLang="en-US" sz="2400" b="1" dirty="0">
                <a:latin typeface="Arial" panose="020B0604020202020204" pitchFamily="34" charset="0"/>
              </a:rPr>
              <a:t>仲裁总线：</a:t>
            </a:r>
            <a:r>
              <a:rPr lang="zh-CN" altLang="en-US" sz="2400" dirty="0">
                <a:latin typeface="Arial" panose="020B0604020202020204" pitchFamily="34" charset="0"/>
              </a:rPr>
              <a:t>包括总线请求线和总线授权线。</a:t>
            </a:r>
            <a:endParaRPr lang="zh-CN" altLang="en-US" sz="2400" dirty="0">
              <a:latin typeface="Arial" panose="020B0604020202020204" pitchFamily="34" charset="0"/>
            </a:endParaRPr>
          </a:p>
          <a:p>
            <a:pPr>
              <a:lnSpc>
                <a:spcPct val="100000"/>
              </a:lnSpc>
              <a:spcBef>
                <a:spcPct val="0"/>
              </a:spcBef>
              <a:buClrTx/>
              <a:buSzTx/>
              <a:buFontTx/>
              <a:buNone/>
            </a:pPr>
            <a:r>
              <a:rPr lang="zh-CN" altLang="en-US" sz="2400" dirty="0">
                <a:latin typeface="Arial" panose="020B0604020202020204" pitchFamily="34" charset="0"/>
              </a:rPr>
              <a:t>       </a:t>
            </a:r>
            <a:r>
              <a:rPr lang="zh-CN" altLang="en-US" sz="2400" b="1" dirty="0">
                <a:latin typeface="Arial" panose="020B0604020202020204" pitchFamily="34" charset="0"/>
              </a:rPr>
              <a:t>中断和同步总线：</a:t>
            </a:r>
            <a:r>
              <a:rPr lang="zh-CN" altLang="en-US" sz="2400" dirty="0">
                <a:latin typeface="Arial" panose="020B0604020202020204" pitchFamily="34" charset="0"/>
              </a:rPr>
              <a:t>用于处理带优先级的中断操作，包括中断请求线和中断认可线。</a:t>
            </a:r>
            <a:endParaRPr lang="zh-CN" altLang="en-US" sz="2400" dirty="0">
              <a:latin typeface="Arial" panose="020B0604020202020204" pitchFamily="34" charset="0"/>
            </a:endParaRPr>
          </a:p>
          <a:p>
            <a:pPr>
              <a:lnSpc>
                <a:spcPct val="100000"/>
              </a:lnSpc>
              <a:spcBef>
                <a:spcPct val="0"/>
              </a:spcBef>
              <a:buClrTx/>
              <a:buSzTx/>
              <a:buFontTx/>
              <a:buNone/>
            </a:pPr>
            <a:r>
              <a:rPr lang="zh-CN" altLang="en-US" sz="2400" dirty="0">
                <a:latin typeface="Arial" panose="020B0604020202020204" pitchFamily="34" charset="0"/>
              </a:rPr>
              <a:t>       </a:t>
            </a:r>
            <a:r>
              <a:rPr lang="zh-CN" altLang="en-US" sz="2400" b="1" dirty="0">
                <a:latin typeface="Arial" panose="020B0604020202020204" pitchFamily="34" charset="0"/>
              </a:rPr>
              <a:t>公用线：</a:t>
            </a:r>
            <a:r>
              <a:rPr lang="zh-CN" altLang="en-US" sz="2400" dirty="0">
                <a:latin typeface="Arial" panose="020B0604020202020204" pitchFamily="34" charset="0"/>
              </a:rPr>
              <a:t>包括时钟信号线、电源线、地线、系统复位线以及加电或断电的时序信号线等。</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66"/>
                                        </p:tgtEl>
                                        <p:attrNameLst>
                                          <p:attrName>style.visibility</p:attrName>
                                        </p:attrNameLst>
                                      </p:cBhvr>
                                      <p:to>
                                        <p:strVal val="visible"/>
                                      </p:to>
                                    </p:set>
                                    <p:animEffect transition="in" filter="dissolve">
                                      <p:cBhvr>
                                        <p:cTn id="7" dur="500"/>
                                        <p:tgtEl>
                                          <p:spTgt spid="19466"/>
                                        </p:tgtEl>
                                      </p:cBhvr>
                                    </p:animEffect>
                                  </p:childTnLst>
                                  <p:subTnLst>
                                    <p:set>
                                      <p:cBhvr override="childStyle">
                                        <p:cTn dur="1" fill="hold" display="0" masterRel="nextClick" afterEffect="1"/>
                                        <p:tgtEl>
                                          <p:spTgt spid="1946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467"/>
                                        </p:tgtEl>
                                        <p:attrNameLst>
                                          <p:attrName>style.visibility</p:attrName>
                                        </p:attrNameLst>
                                      </p:cBhvr>
                                      <p:to>
                                        <p:strVal val="visible"/>
                                      </p:to>
                                    </p:set>
                                    <p:animEffect transition="in" filter="dissolve">
                                      <p:cBhvr>
                                        <p:cTn id="12" dur="500"/>
                                        <p:tgtEl>
                                          <p:spTgt spid="19467"/>
                                        </p:tgtEl>
                                      </p:cBhvr>
                                    </p:animEffect>
                                  </p:childTnLst>
                                  <p:subTnLst>
                                    <p:set>
                                      <p:cBhvr override="childStyle">
                                        <p:cTn dur="1" fill="hold" display="0" masterRel="nextClick" afterEffect="1"/>
                                        <p:tgtEl>
                                          <p:spTgt spid="1946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9468"/>
                                        </p:tgtEl>
                                        <p:attrNameLst>
                                          <p:attrName>style.visibility</p:attrName>
                                        </p:attrNameLst>
                                      </p:cBhvr>
                                      <p:to>
                                        <p:strVal val="visible"/>
                                      </p:to>
                                    </p:set>
                                    <p:animEffect transition="in" filter="dissolve">
                                      <p:cBhvr>
                                        <p:cTn id="17" dur="500"/>
                                        <p:tgtEl>
                                          <p:spTgt spid="19468"/>
                                        </p:tgtEl>
                                      </p:cBhvr>
                                    </p:animEffect>
                                  </p:childTnLst>
                                  <p:subTnLst>
                                    <p:set>
                                      <p:cBhvr override="childStyle">
                                        <p:cTn dur="1" fill="hold" display="0" masterRel="nextClick" afterEffect="1"/>
                                        <p:tgtEl>
                                          <p:spTgt spid="19468"/>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469"/>
                                        </p:tgtEl>
                                        <p:attrNameLst>
                                          <p:attrName>style.visibility</p:attrName>
                                        </p:attrNameLst>
                                      </p:cBhvr>
                                      <p:to>
                                        <p:strVal val="visible"/>
                                      </p:to>
                                    </p:set>
                                    <p:animEffect transition="in" filter="dissolve">
                                      <p:cBhvr>
                                        <p:cTn id="22" dur="500"/>
                                        <p:tgtEl>
                                          <p:spTgt spid="19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6" grpId="0" animBg="1" autoUpdateAnimBg="0"/>
      <p:bldP spid="19467" grpId="0" animBg="1" autoUpdateAnimBg="0"/>
      <p:bldP spid="19468" grpId="0" animBg="1" autoUpdateAnimBg="0"/>
      <p:bldP spid="19469"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1A3EACB8-F7E3-465C-9E26-8236D6381A65}" type="slidenum">
              <a:rPr lang="en-US" altLang="zh-CN"/>
            </a:fld>
            <a:endParaRPr lang="en-US" altLang="zh-CN"/>
          </a:p>
        </p:txBody>
      </p:sp>
      <p:sp>
        <p:nvSpPr>
          <p:cNvPr id="15363" name="Rectangle 2"/>
          <p:cNvSpPr>
            <a:spLocks noGrp="1" noChangeArrowheads="1"/>
          </p:cNvSpPr>
          <p:nvPr>
            <p:ph type="title"/>
          </p:nvPr>
        </p:nvSpPr>
        <p:spPr>
          <a:xfrm>
            <a:off x="457200" y="122238"/>
            <a:ext cx="7543800" cy="714375"/>
          </a:xfrm>
        </p:spPr>
        <p:txBody>
          <a:bodyPr/>
          <a:lstStyle/>
          <a:p>
            <a:pPr eaLnBrk="1" hangingPunct="1"/>
            <a:r>
              <a:rPr lang="en-US" altLang="zh-CN" smtClean="0">
                <a:solidFill>
                  <a:schemeClr val="tx1"/>
                </a:solidFill>
                <a:cs typeface="Times New Roman" panose="02020603050405020304" pitchFamily="18" charset="0"/>
              </a:rPr>
              <a:t>6.1</a:t>
            </a:r>
            <a:r>
              <a:rPr lang="en-US" altLang="zh-CN" smtClean="0">
                <a:solidFill>
                  <a:schemeClr val="tx1"/>
                </a:solidFill>
              </a:rPr>
              <a:t>.4 </a:t>
            </a:r>
            <a:r>
              <a:rPr lang="zh-CN" altLang="en-US" b="0" smtClean="0">
                <a:latin typeface="宋体" panose="02010600030101010101" pitchFamily="2" charset="-122"/>
              </a:rPr>
              <a:t>总线结构实例</a:t>
            </a:r>
            <a:endParaRPr lang="zh-CN" altLang="en-US" b="0" smtClean="0">
              <a:latin typeface="宋体" panose="02010600030101010101" pitchFamily="2" charset="-122"/>
            </a:endParaRPr>
          </a:p>
        </p:txBody>
      </p:sp>
      <p:pic>
        <p:nvPicPr>
          <p:cNvPr id="15364" name="Picture 4" descr="6"/>
          <p:cNvPicPr>
            <a:picLocks noChangeAspect="1" noChangeArrowheads="1"/>
          </p:cNvPicPr>
          <p:nvPr/>
        </p:nvPicPr>
        <p:blipFill>
          <a:blip r:embed="rId1"/>
          <a:srcRect/>
          <a:stretch>
            <a:fillRect/>
          </a:stretch>
        </p:blipFill>
        <p:spPr bwMode="auto">
          <a:xfrm>
            <a:off x="323850" y="2060575"/>
            <a:ext cx="8424863" cy="4797425"/>
          </a:xfrm>
          <a:prstGeom prst="rect">
            <a:avLst/>
          </a:prstGeom>
          <a:noFill/>
          <a:ln w="9525">
            <a:noFill/>
            <a:miter lim="800000"/>
            <a:headEnd/>
            <a:tailEnd/>
          </a:ln>
        </p:spPr>
      </p:pic>
      <p:sp>
        <p:nvSpPr>
          <p:cNvPr id="15365" name="Rectangle 5"/>
          <p:cNvSpPr>
            <a:spLocks noChangeArrowheads="1"/>
          </p:cNvSpPr>
          <p:nvPr/>
        </p:nvSpPr>
        <p:spPr bwMode="auto">
          <a:xfrm>
            <a:off x="179388" y="836613"/>
            <a:ext cx="8713787" cy="1187450"/>
          </a:xfrm>
          <a:prstGeom prst="rect">
            <a:avLst/>
          </a:prstGeom>
          <a:solidFill>
            <a:srgbClr val="CCFFFF"/>
          </a:solidFill>
          <a:ln w="9525">
            <a:noFill/>
            <a:miter lim="800000"/>
          </a:ln>
        </p:spPr>
        <p:txBody>
          <a:bodyPr anchor="ctr">
            <a:spAutoFit/>
          </a:bodyPr>
          <a:lstStyle/>
          <a:p>
            <a:pPr eaLnBrk="0" hangingPunct="0">
              <a:lnSpc>
                <a:spcPct val="100000"/>
              </a:lnSpc>
              <a:spcBef>
                <a:spcPct val="0"/>
              </a:spcBef>
              <a:buClrTx/>
              <a:buSzTx/>
              <a:buFontTx/>
              <a:buNone/>
            </a:pPr>
            <a:r>
              <a:rPr lang="en-US" altLang="zh-CN" sz="2400"/>
              <a:t>   </a:t>
            </a:r>
            <a:r>
              <a:rPr lang="zh-CN" altLang="en-US" sz="2400"/>
              <a:t>大多数计算机采用了分层次的多总线结构。在这种结构中，速度差异较大的设备模块使用不同速度的总线，而速度相近的设备模块使用同一类总线。</a:t>
            </a:r>
            <a:endParaRPr lang="zh-CN" altLang="en-US" sz="2400"/>
          </a:p>
        </p:txBody>
      </p:sp>
      <p:sp>
        <p:nvSpPr>
          <p:cNvPr id="15366" name="Rectangle 7"/>
          <p:cNvSpPr>
            <a:spLocks noChangeArrowheads="1"/>
          </p:cNvSpPr>
          <p:nvPr/>
        </p:nvSpPr>
        <p:spPr bwMode="auto">
          <a:xfrm>
            <a:off x="7380288" y="2492375"/>
            <a:ext cx="1368425" cy="1917700"/>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400"/>
              <a:t>pentium</a:t>
            </a:r>
            <a:r>
              <a:rPr lang="zh-CN" altLang="en-US" sz="2400"/>
              <a:t>计算机主板的总线结构框图</a:t>
            </a:r>
            <a:endParaRPr lang="zh-CN" altLang="en-US" sz="2400"/>
          </a:p>
        </p:txBody>
      </p:sp>
      <p:pic>
        <p:nvPicPr>
          <p:cNvPr id="15367" name="Picture 8">
            <a:hlinkClick r:id="rId2" action="ppaction://hlinkfile"/>
          </p:cNvPr>
          <p:cNvPicPr>
            <a:picLocks noChangeAspect="1" noChangeArrowheads="1"/>
          </p:cNvPicPr>
          <p:nvPr/>
        </p:nvPicPr>
        <p:blipFill>
          <a:blip r:embed="rId3"/>
          <a:srcRect/>
          <a:stretch>
            <a:fillRect/>
          </a:stretch>
        </p:blipFill>
        <p:spPr bwMode="auto">
          <a:xfrm>
            <a:off x="8388350" y="4724400"/>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323528" y="1159696"/>
            <a:ext cx="8525810" cy="457356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30000"/>
              </a:lnSpc>
              <a:spcBef>
                <a:spcPts val="0"/>
              </a:spcBef>
            </a:pPr>
            <a:r>
              <a:rPr lang="zh-CN" altLang="zh-CN" sz="2800" dirty="0" smtClean="0">
                <a:latin typeface="微软雅黑" panose="020B0503020204020204" charset="-122"/>
                <a:ea typeface="微软雅黑" panose="020B0503020204020204" charset="-122"/>
              </a:rPr>
              <a:t>单选题</a:t>
            </a:r>
            <a:endParaRPr lang="en-US" altLang="zh-CN" sz="2800" dirty="0" smtClean="0">
              <a:latin typeface="微软雅黑" panose="020B0503020204020204" charset="-122"/>
              <a:ea typeface="微软雅黑" panose="020B0503020204020204" charset="-122"/>
            </a:endParaRPr>
          </a:p>
          <a:p>
            <a:pPr marL="457200" indent="-457200">
              <a:lnSpc>
                <a:spcPct val="130000"/>
              </a:lnSpc>
              <a:spcBef>
                <a:spcPts val="0"/>
              </a:spcBef>
              <a:buClr>
                <a:schemeClr val="tx1"/>
              </a:buClr>
              <a:buFont typeface="Wingdings" panose="05000000000000000000" pitchFamily="2" charset="2"/>
              <a:buChar char="l"/>
            </a:pPr>
            <a:r>
              <a:rPr lang="zh-CN" altLang="zh-CN" sz="2800" dirty="0" smtClean="0">
                <a:latin typeface="微软雅黑" panose="020B0503020204020204" charset="-122"/>
                <a:ea typeface="微软雅黑" panose="020B0503020204020204" charset="-122"/>
              </a:rPr>
              <a:t>数据总线</a:t>
            </a:r>
            <a:r>
              <a:rPr lang="zh-CN" altLang="zh-CN" sz="2800" dirty="0">
                <a:latin typeface="微软雅黑" panose="020B0503020204020204" charset="-122"/>
                <a:ea typeface="微软雅黑" panose="020B0503020204020204" charset="-122"/>
              </a:rPr>
              <a:t>的宽度由总线的</a:t>
            </a:r>
            <a:r>
              <a:rPr lang="en-US" altLang="zh-CN" sz="2800" u="sng" dirty="0">
                <a:latin typeface="微软雅黑" panose="020B0503020204020204" charset="-122"/>
                <a:ea typeface="微软雅黑" panose="020B0503020204020204" charset="-122"/>
              </a:rPr>
              <a:t>  </a:t>
            </a:r>
            <a:r>
              <a:rPr lang="en-US" altLang="zh-CN" sz="2800" u="sng" dirty="0" smtClean="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定义。</a:t>
            </a:r>
            <a:endParaRPr lang="zh-CN" altLang="zh-CN" sz="2800" dirty="0">
              <a:latin typeface="微软雅黑" panose="020B0503020204020204" charset="-122"/>
              <a:ea typeface="微软雅黑" panose="020B0503020204020204" charset="-122"/>
            </a:endParaRPr>
          </a:p>
          <a:p>
            <a:pPr>
              <a:lnSpc>
                <a:spcPct val="130000"/>
              </a:lnSpc>
              <a:spcBef>
                <a:spcPts val="0"/>
              </a:spcBef>
              <a:buClr>
                <a:schemeClr val="tx1"/>
              </a:buClr>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a:t>
            </a:r>
            <a:r>
              <a:rPr lang="en-US" altLang="zh-CN" sz="2800" b="1" dirty="0">
                <a:latin typeface="微软雅黑" panose="020B0503020204020204" charset="-122"/>
                <a:ea typeface="微软雅黑" panose="020B0503020204020204" charset="-122"/>
              </a:rPr>
              <a:t>A. </a:t>
            </a:r>
            <a:r>
              <a:rPr lang="zh-CN" altLang="zh-CN" sz="2800" b="1" dirty="0">
                <a:latin typeface="微软雅黑" panose="020B0503020204020204" charset="-122"/>
                <a:ea typeface="微软雅黑" panose="020B0503020204020204" charset="-122"/>
              </a:rPr>
              <a:t>物理特性</a:t>
            </a: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B</a:t>
            </a:r>
            <a:r>
              <a:rPr lang="zh-CN" altLang="zh-CN" sz="2800" b="1" dirty="0">
                <a:latin typeface="微软雅黑" panose="020B0503020204020204" charset="-122"/>
                <a:ea typeface="微软雅黑" panose="020B0503020204020204" charset="-122"/>
              </a:rPr>
              <a:t>．功能特性</a:t>
            </a:r>
            <a:r>
              <a:rPr lang="en-US" altLang="zh-CN" sz="2800" b="1" dirty="0">
                <a:latin typeface="微软雅黑" panose="020B0503020204020204" charset="-122"/>
                <a:ea typeface="微软雅黑" panose="020B0503020204020204" charset="-122"/>
              </a:rPr>
              <a:t>  </a:t>
            </a:r>
            <a:endParaRPr lang="en-US" altLang="zh-CN" sz="2800" b="1" dirty="0" smtClean="0">
              <a:latin typeface="微软雅黑" panose="020B0503020204020204" charset="-122"/>
              <a:ea typeface="微软雅黑" panose="020B0503020204020204" charset="-122"/>
            </a:endParaRPr>
          </a:p>
          <a:p>
            <a:pPr>
              <a:lnSpc>
                <a:spcPct val="130000"/>
              </a:lnSpc>
              <a:spcBef>
                <a:spcPts val="0"/>
              </a:spcBef>
            </a:pP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C</a:t>
            </a:r>
            <a:r>
              <a:rPr lang="en-US" altLang="zh-CN" sz="2800" b="1" dirty="0">
                <a:latin typeface="微软雅黑" panose="020B0503020204020204" charset="-122"/>
                <a:ea typeface="微软雅黑" panose="020B0503020204020204" charset="-122"/>
              </a:rPr>
              <a:t>. </a:t>
            </a:r>
            <a:r>
              <a:rPr lang="zh-CN" altLang="zh-CN" sz="2800" b="1" dirty="0">
                <a:latin typeface="微软雅黑" panose="020B0503020204020204" charset="-122"/>
                <a:ea typeface="微软雅黑" panose="020B0503020204020204" charset="-122"/>
              </a:rPr>
              <a:t>电气特性</a:t>
            </a: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D</a:t>
            </a:r>
            <a:r>
              <a:rPr lang="zh-CN" altLang="zh-CN" sz="2800" b="1" dirty="0">
                <a:latin typeface="微软雅黑" panose="020B0503020204020204" charset="-122"/>
                <a:ea typeface="微软雅黑" panose="020B0503020204020204" charset="-122"/>
              </a:rPr>
              <a:t>．时间</a:t>
            </a:r>
            <a:r>
              <a:rPr lang="zh-CN" altLang="zh-CN" sz="2800" b="1" dirty="0" smtClean="0">
                <a:latin typeface="微软雅黑" panose="020B0503020204020204" charset="-122"/>
                <a:ea typeface="微软雅黑" panose="020B0503020204020204" charset="-122"/>
              </a:rPr>
              <a:t>特性</a:t>
            </a:r>
            <a:endParaRPr lang="zh-CN" altLang="zh-CN" sz="2800" dirty="0" smtClean="0">
              <a:latin typeface="微软雅黑" panose="020B0503020204020204" charset="-122"/>
              <a:ea typeface="微软雅黑" panose="020B0503020204020204" charset="-122"/>
            </a:endParaRPr>
          </a:p>
          <a:p>
            <a:pPr marL="457200" indent="-457200">
              <a:lnSpc>
                <a:spcPct val="130000"/>
              </a:lnSpc>
              <a:spcBef>
                <a:spcPts val="0"/>
              </a:spcBef>
              <a:buClr>
                <a:schemeClr val="tx1"/>
              </a:buClr>
              <a:buFont typeface="Wingdings" panose="05000000000000000000" pitchFamily="2" charset="2"/>
              <a:buChar char="l"/>
            </a:pPr>
            <a:r>
              <a:rPr lang="zh-CN" altLang="zh-CN" sz="2800" dirty="0" smtClean="0">
                <a:latin typeface="微软雅黑" panose="020B0503020204020204" charset="-122"/>
                <a:ea typeface="微软雅黑" panose="020B0503020204020204" charset="-122"/>
              </a:rPr>
              <a:t>总线上每一根线上信号的传递方向及有效电平范围由总线的</a:t>
            </a:r>
            <a:r>
              <a:rPr lang="en-US" altLang="zh-CN" sz="2800" u="sng" dirty="0" smtClean="0">
                <a:latin typeface="微软雅黑" panose="020B0503020204020204" charset="-122"/>
                <a:ea typeface="微软雅黑" panose="020B0503020204020204" charset="-122"/>
              </a:rPr>
              <a:t>           </a:t>
            </a:r>
            <a:r>
              <a:rPr lang="zh-CN" altLang="zh-CN" sz="2800" dirty="0" smtClean="0">
                <a:latin typeface="微软雅黑" panose="020B0503020204020204" charset="-122"/>
                <a:ea typeface="微软雅黑" panose="020B0503020204020204" charset="-122"/>
              </a:rPr>
              <a:t>定义。</a:t>
            </a:r>
            <a:endParaRPr lang="zh-CN" altLang="zh-CN" sz="2800" dirty="0" smtClean="0">
              <a:latin typeface="微软雅黑" panose="020B0503020204020204" charset="-122"/>
              <a:ea typeface="微软雅黑" panose="020B0503020204020204" charset="-122"/>
            </a:endParaRPr>
          </a:p>
          <a:p>
            <a:pPr>
              <a:lnSpc>
                <a:spcPct val="130000"/>
              </a:lnSpc>
              <a:spcBef>
                <a:spcPts val="0"/>
              </a:spcBef>
            </a:pPr>
            <a:r>
              <a:rPr lang="en-US" altLang="zh-CN" sz="2800" dirty="0" smtClean="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A</a:t>
            </a:r>
            <a:r>
              <a:rPr lang="en-US" altLang="zh-CN" sz="2800" b="1" dirty="0">
                <a:latin typeface="微软雅黑" panose="020B0503020204020204" charset="-122"/>
                <a:ea typeface="微软雅黑" panose="020B0503020204020204" charset="-122"/>
              </a:rPr>
              <a:t>. </a:t>
            </a:r>
            <a:r>
              <a:rPr lang="zh-CN" altLang="zh-CN" sz="2800" b="1" dirty="0">
                <a:latin typeface="微软雅黑" panose="020B0503020204020204" charset="-122"/>
                <a:ea typeface="微软雅黑" panose="020B0503020204020204" charset="-122"/>
              </a:rPr>
              <a:t>物理特性</a:t>
            </a: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B</a:t>
            </a:r>
            <a:r>
              <a:rPr lang="zh-CN" altLang="zh-CN" sz="2800" b="1" dirty="0">
                <a:latin typeface="微软雅黑" panose="020B0503020204020204" charset="-122"/>
                <a:ea typeface="微软雅黑" panose="020B0503020204020204" charset="-122"/>
              </a:rPr>
              <a:t>．功能特性</a:t>
            </a:r>
            <a:r>
              <a:rPr lang="en-US" altLang="zh-CN" sz="2800" b="1" dirty="0">
                <a:latin typeface="微软雅黑" panose="020B0503020204020204" charset="-122"/>
                <a:ea typeface="微软雅黑" panose="020B0503020204020204" charset="-122"/>
              </a:rPr>
              <a:t>  </a:t>
            </a:r>
            <a:endParaRPr lang="en-US" altLang="zh-CN" sz="2800" b="1" dirty="0" smtClean="0">
              <a:latin typeface="微软雅黑" panose="020B0503020204020204" charset="-122"/>
              <a:ea typeface="微软雅黑" panose="020B0503020204020204" charset="-122"/>
            </a:endParaRPr>
          </a:p>
          <a:p>
            <a:pPr>
              <a:lnSpc>
                <a:spcPct val="130000"/>
              </a:lnSpc>
              <a:spcBef>
                <a:spcPts val="0"/>
              </a:spcBef>
            </a:pP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C</a:t>
            </a:r>
            <a:r>
              <a:rPr lang="en-US" altLang="zh-CN" sz="2800" b="1" dirty="0">
                <a:latin typeface="微软雅黑" panose="020B0503020204020204" charset="-122"/>
                <a:ea typeface="微软雅黑" panose="020B0503020204020204" charset="-122"/>
              </a:rPr>
              <a:t>. </a:t>
            </a:r>
            <a:r>
              <a:rPr lang="zh-CN" altLang="zh-CN" sz="2800" b="1" dirty="0">
                <a:latin typeface="微软雅黑" panose="020B0503020204020204" charset="-122"/>
                <a:ea typeface="微软雅黑" panose="020B0503020204020204" charset="-122"/>
              </a:rPr>
              <a:t>电气特性</a:t>
            </a:r>
            <a:r>
              <a:rPr lang="en-US" altLang="zh-CN" sz="2800" b="1" dirty="0">
                <a:latin typeface="微软雅黑" panose="020B0503020204020204" charset="-122"/>
                <a:ea typeface="微软雅黑" panose="020B0503020204020204" charset="-122"/>
              </a:rPr>
              <a:t>  </a:t>
            </a:r>
            <a:r>
              <a:rPr lang="en-US" altLang="zh-CN" sz="2800" b="1" dirty="0" smtClean="0">
                <a:latin typeface="微软雅黑" panose="020B0503020204020204" charset="-122"/>
                <a:ea typeface="微软雅黑" panose="020B0503020204020204" charset="-122"/>
              </a:rPr>
              <a:t>       D</a:t>
            </a:r>
            <a:r>
              <a:rPr lang="zh-CN" altLang="zh-CN" sz="2800" b="1" dirty="0">
                <a:latin typeface="微软雅黑" panose="020B0503020204020204" charset="-122"/>
                <a:ea typeface="微软雅黑" panose="020B0503020204020204" charset="-122"/>
              </a:rPr>
              <a:t>．时间</a:t>
            </a:r>
            <a:r>
              <a:rPr lang="zh-CN" altLang="zh-CN" sz="2800" b="1" dirty="0" smtClean="0">
                <a:latin typeface="微软雅黑" panose="020B0503020204020204" charset="-122"/>
                <a:ea typeface="微软雅黑" panose="020B0503020204020204" charset="-122"/>
              </a:rPr>
              <a:t>特性</a:t>
            </a:r>
            <a:endParaRPr lang="zh-CN" altLang="zh-CN" sz="2800" dirty="0">
              <a:latin typeface="微软雅黑" panose="020B0503020204020204" charset="-122"/>
              <a:ea typeface="微软雅黑" panose="020B0503020204020204" charset="-122"/>
            </a:endParaRPr>
          </a:p>
        </p:txBody>
      </p:sp>
      <p:sp>
        <p:nvSpPr>
          <p:cNvPr id="9" name="椭圆 8"/>
          <p:cNvSpPr/>
          <p:nvPr/>
        </p:nvSpPr>
        <p:spPr bwMode="auto">
          <a:xfrm>
            <a:off x="3706232" y="2307028"/>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97955" y="5093611"/>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342566" y="1223749"/>
            <a:ext cx="8525810" cy="429348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zh-CN" sz="2600" dirty="0" smtClean="0">
                <a:latin typeface="微软雅黑" panose="020B0503020204020204" charset="-122"/>
                <a:ea typeface="微软雅黑" panose="020B0503020204020204" charset="-122"/>
              </a:rPr>
              <a:t>单选题</a:t>
            </a:r>
            <a:endParaRPr lang="en-US" altLang="zh-CN" sz="2600" dirty="0" smtClean="0">
              <a:latin typeface="微软雅黑" panose="020B0503020204020204" charset="-122"/>
              <a:ea typeface="微软雅黑" panose="020B0503020204020204" charset="-122"/>
            </a:endParaRPr>
          </a:p>
          <a:p>
            <a:pPr>
              <a:lnSpc>
                <a:spcPct val="150000"/>
              </a:lnSpc>
              <a:spcBef>
                <a:spcPts val="0"/>
              </a:spcBef>
            </a:pPr>
            <a:r>
              <a:rPr lang="en-US" altLang="zh-CN" sz="2600" dirty="0" smtClean="0">
                <a:latin typeface="微软雅黑" panose="020B0503020204020204" charset="-122"/>
                <a:ea typeface="微软雅黑" panose="020B0503020204020204" charset="-122"/>
              </a:rPr>
              <a:t>      </a:t>
            </a:r>
            <a:r>
              <a:rPr lang="zh-CN" altLang="zh-CN" sz="2600" dirty="0" smtClean="0">
                <a:latin typeface="微软雅黑" panose="020B0503020204020204" charset="-122"/>
                <a:ea typeface="微软雅黑" panose="020B0503020204020204" charset="-122"/>
              </a:rPr>
              <a:t>描述</a:t>
            </a:r>
            <a:r>
              <a:rPr lang="zh-CN" altLang="zh-CN" sz="2600" dirty="0">
                <a:latin typeface="微软雅黑" panose="020B0503020204020204" charset="-122"/>
                <a:ea typeface="微软雅黑" panose="020B0503020204020204" charset="-122"/>
              </a:rPr>
              <a:t>当代流行总线结构基本概念中，正确的是：</a:t>
            </a:r>
            <a:r>
              <a:rPr lang="en-US" altLang="zh-CN" sz="2600" u="sng" dirty="0">
                <a:latin typeface="微软雅黑" panose="020B0503020204020204" charset="-122"/>
                <a:ea typeface="微软雅黑" panose="020B0503020204020204" charset="-122"/>
              </a:rPr>
              <a:t>  </a:t>
            </a:r>
            <a:r>
              <a:rPr lang="en-US" altLang="zh-CN" sz="2600" u="sng" dirty="0" smtClean="0">
                <a:latin typeface="微软雅黑" panose="020B0503020204020204" charset="-122"/>
                <a:ea typeface="微软雅黑" panose="020B0503020204020204" charset="-122"/>
              </a:rPr>
              <a:t>    </a:t>
            </a:r>
            <a:r>
              <a:rPr lang="zh-CN" altLang="zh-CN" sz="2600" dirty="0">
                <a:latin typeface="微软雅黑" panose="020B0503020204020204" charset="-122"/>
                <a:ea typeface="微软雅黑" panose="020B0503020204020204" charset="-122"/>
              </a:rPr>
              <a:t>。</a:t>
            </a:r>
            <a:endParaRPr lang="zh-CN" altLang="zh-CN" sz="2600" dirty="0">
              <a:latin typeface="微软雅黑" panose="020B0503020204020204" charset="-122"/>
              <a:ea typeface="微软雅黑" panose="020B0503020204020204" charset="-122"/>
            </a:endParaRPr>
          </a:p>
          <a:p>
            <a:pPr>
              <a:lnSpc>
                <a:spcPct val="150000"/>
              </a:lnSpc>
              <a:spcBef>
                <a:spcPts val="0"/>
              </a:spcBef>
            </a:pPr>
            <a:r>
              <a:rPr lang="en-US" altLang="zh-CN" sz="2600" dirty="0">
                <a:latin typeface="微软雅黑" panose="020B0503020204020204" charset="-122"/>
                <a:ea typeface="微软雅黑" panose="020B0503020204020204" charset="-122"/>
              </a:rPr>
              <a:t>  </a:t>
            </a:r>
            <a:r>
              <a:rPr lang="en-US" altLang="zh-CN" sz="2600" dirty="0" smtClean="0">
                <a:latin typeface="微软雅黑" panose="020B0503020204020204" charset="-122"/>
                <a:ea typeface="微软雅黑" panose="020B0503020204020204" charset="-122"/>
              </a:rPr>
              <a:t>    A</a:t>
            </a:r>
            <a:r>
              <a:rPr lang="zh-CN" altLang="zh-CN" sz="2600" dirty="0">
                <a:latin typeface="微软雅黑" panose="020B0503020204020204" charset="-122"/>
                <a:ea typeface="微软雅黑" panose="020B0503020204020204" charset="-122"/>
              </a:rPr>
              <a:t>．当代流行的总线结构不是标准总线</a:t>
            </a:r>
            <a:endParaRPr lang="zh-CN" altLang="zh-CN" sz="2600" dirty="0">
              <a:latin typeface="微软雅黑" panose="020B0503020204020204" charset="-122"/>
              <a:ea typeface="微软雅黑" panose="020B0503020204020204" charset="-122"/>
            </a:endParaRPr>
          </a:p>
          <a:p>
            <a:pPr>
              <a:lnSpc>
                <a:spcPct val="150000"/>
              </a:lnSpc>
              <a:spcBef>
                <a:spcPts val="0"/>
              </a:spcBef>
            </a:pPr>
            <a:r>
              <a:rPr lang="en-US" altLang="zh-CN" sz="2600" dirty="0">
                <a:latin typeface="微软雅黑" panose="020B0503020204020204" charset="-122"/>
                <a:ea typeface="微软雅黑" panose="020B0503020204020204" charset="-122"/>
              </a:rPr>
              <a:t> </a:t>
            </a:r>
            <a:r>
              <a:rPr lang="en-US" altLang="zh-CN" sz="2600" dirty="0" smtClean="0">
                <a:latin typeface="微软雅黑" panose="020B0503020204020204" charset="-122"/>
                <a:ea typeface="微软雅黑" panose="020B0503020204020204" charset="-122"/>
              </a:rPr>
              <a:t>     </a:t>
            </a:r>
            <a:r>
              <a:rPr lang="en-US" altLang="zh-CN" sz="2600" dirty="0">
                <a:latin typeface="微软雅黑" panose="020B0503020204020204" charset="-122"/>
                <a:ea typeface="微软雅黑" panose="020B0503020204020204" charset="-122"/>
              </a:rPr>
              <a:t>B</a:t>
            </a:r>
            <a:r>
              <a:rPr lang="zh-CN" altLang="zh-CN" sz="2600" dirty="0">
                <a:latin typeface="微软雅黑" panose="020B0503020204020204" charset="-122"/>
                <a:ea typeface="微软雅黑" panose="020B0503020204020204" charset="-122"/>
              </a:rPr>
              <a:t>．当代总线结构中，</a:t>
            </a:r>
            <a:r>
              <a:rPr lang="en-US" altLang="zh-CN" sz="2600" dirty="0">
                <a:latin typeface="微软雅黑" panose="020B0503020204020204" charset="-122"/>
                <a:ea typeface="微软雅黑" panose="020B0503020204020204" charset="-122"/>
              </a:rPr>
              <a:t>CPU</a:t>
            </a:r>
            <a:r>
              <a:rPr lang="zh-CN" altLang="zh-CN" sz="2600" dirty="0">
                <a:latin typeface="微软雅黑" panose="020B0503020204020204" charset="-122"/>
                <a:ea typeface="微软雅黑" panose="020B0503020204020204" charset="-122"/>
              </a:rPr>
              <a:t>和它私有的</a:t>
            </a:r>
            <a:r>
              <a:rPr lang="en-US" altLang="zh-CN" sz="2600" dirty="0">
                <a:latin typeface="微软雅黑" panose="020B0503020204020204" charset="-122"/>
                <a:ea typeface="微软雅黑" panose="020B0503020204020204" charset="-122"/>
              </a:rPr>
              <a:t>cache</a:t>
            </a:r>
            <a:r>
              <a:rPr lang="zh-CN" altLang="zh-CN" sz="2600" dirty="0">
                <a:latin typeface="微软雅黑" panose="020B0503020204020204" charset="-122"/>
                <a:ea typeface="微软雅黑" panose="020B0503020204020204" charset="-122"/>
              </a:rPr>
              <a:t>一起作为一个模块与总线相连</a:t>
            </a:r>
            <a:endParaRPr lang="zh-CN" altLang="zh-CN" sz="2600" dirty="0">
              <a:latin typeface="微软雅黑" panose="020B0503020204020204" charset="-122"/>
              <a:ea typeface="微软雅黑" panose="020B0503020204020204" charset="-122"/>
            </a:endParaRPr>
          </a:p>
          <a:p>
            <a:pPr>
              <a:lnSpc>
                <a:spcPct val="150000"/>
              </a:lnSpc>
              <a:spcBef>
                <a:spcPts val="0"/>
              </a:spcBef>
            </a:pPr>
            <a:r>
              <a:rPr lang="en-US" altLang="zh-CN" sz="2600" dirty="0">
                <a:latin typeface="微软雅黑" panose="020B0503020204020204" charset="-122"/>
                <a:ea typeface="微软雅黑" panose="020B0503020204020204" charset="-122"/>
              </a:rPr>
              <a:t>  </a:t>
            </a:r>
            <a:r>
              <a:rPr lang="en-US" altLang="zh-CN" sz="2600" dirty="0" smtClean="0">
                <a:latin typeface="微软雅黑" panose="020B0503020204020204" charset="-122"/>
                <a:ea typeface="微软雅黑" panose="020B0503020204020204" charset="-122"/>
              </a:rPr>
              <a:t>    C</a:t>
            </a:r>
            <a:r>
              <a:rPr lang="zh-CN" altLang="zh-CN" sz="2600" dirty="0">
                <a:latin typeface="微软雅黑" panose="020B0503020204020204" charset="-122"/>
                <a:ea typeface="微软雅黑" panose="020B0503020204020204" charset="-122"/>
              </a:rPr>
              <a:t>．系统中只允许有一个这样的</a:t>
            </a:r>
            <a:r>
              <a:rPr lang="en-US" altLang="zh-CN" sz="2600" dirty="0">
                <a:latin typeface="微软雅黑" panose="020B0503020204020204" charset="-122"/>
                <a:ea typeface="微软雅黑" panose="020B0503020204020204" charset="-122"/>
              </a:rPr>
              <a:t>CPU</a:t>
            </a:r>
            <a:r>
              <a:rPr lang="zh-CN" altLang="zh-CN" sz="2600" dirty="0">
                <a:latin typeface="微软雅黑" panose="020B0503020204020204" charset="-122"/>
                <a:ea typeface="微软雅黑" panose="020B0503020204020204" charset="-122"/>
              </a:rPr>
              <a:t>模块</a:t>
            </a:r>
            <a:endParaRPr lang="zh-CN" altLang="zh-CN" sz="2600" dirty="0">
              <a:latin typeface="微软雅黑" panose="020B0503020204020204" charset="-122"/>
              <a:ea typeface="微软雅黑" panose="020B0503020204020204" charset="-122"/>
            </a:endParaRPr>
          </a:p>
          <a:p>
            <a:pPr>
              <a:lnSpc>
                <a:spcPct val="150000"/>
              </a:lnSpc>
              <a:spcBef>
                <a:spcPts val="0"/>
              </a:spcBef>
            </a:pPr>
            <a:r>
              <a:rPr lang="en-US" altLang="zh-CN" sz="2600" dirty="0" smtClean="0">
                <a:latin typeface="微软雅黑" panose="020B0503020204020204" charset="-122"/>
                <a:ea typeface="微软雅黑" panose="020B0503020204020204" charset="-122"/>
              </a:rPr>
              <a:t>      D</a:t>
            </a:r>
            <a:r>
              <a:rPr lang="en-US" altLang="zh-CN" sz="2600" dirty="0">
                <a:latin typeface="微软雅黑" panose="020B0503020204020204" charset="-122"/>
                <a:ea typeface="微软雅黑" panose="020B0503020204020204" charset="-122"/>
              </a:rPr>
              <a:t>. CPU</a:t>
            </a:r>
            <a:r>
              <a:rPr lang="zh-CN" altLang="zh-CN" sz="2600" dirty="0">
                <a:latin typeface="微软雅黑" panose="020B0503020204020204" charset="-122"/>
                <a:ea typeface="微软雅黑" panose="020B0503020204020204" charset="-122"/>
              </a:rPr>
              <a:t>是总线上唯一的主控</a:t>
            </a:r>
            <a:r>
              <a:rPr lang="zh-CN" altLang="zh-CN" sz="2600" dirty="0" smtClean="0">
                <a:latin typeface="微软雅黑" panose="020B0503020204020204" charset="-122"/>
                <a:ea typeface="微软雅黑" panose="020B0503020204020204" charset="-122"/>
              </a:rPr>
              <a:t>者</a:t>
            </a:r>
            <a:endParaRPr lang="zh-CN" altLang="zh-CN" sz="2600" dirty="0">
              <a:latin typeface="微软雅黑" panose="020B0503020204020204" charset="-122"/>
              <a:ea typeface="微软雅黑" panose="020B0503020204020204" charset="-122"/>
            </a:endParaRPr>
          </a:p>
        </p:txBody>
      </p:sp>
      <p:sp>
        <p:nvSpPr>
          <p:cNvPr id="9" name="椭圆 8"/>
          <p:cNvSpPr/>
          <p:nvPr/>
        </p:nvSpPr>
        <p:spPr bwMode="auto">
          <a:xfrm>
            <a:off x="810035" y="307954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282019" y="1224043"/>
            <a:ext cx="8525810" cy="3416320"/>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latin typeface="微软雅黑" panose="020B0503020204020204" charset="-122"/>
                <a:ea typeface="微软雅黑" panose="020B0503020204020204" charset="-122"/>
              </a:rPr>
              <a:t>判断</a:t>
            </a:r>
            <a:r>
              <a:rPr lang="zh-CN" altLang="zh-CN" sz="2400" dirty="0" smtClean="0">
                <a:latin typeface="微软雅黑" panose="020B0503020204020204" charset="-122"/>
                <a:ea typeface="微软雅黑" panose="020B0503020204020204" charset="-122"/>
              </a:rPr>
              <a:t>题</a:t>
            </a:r>
            <a:endParaRPr lang="en-US" altLang="zh-CN" sz="2400" dirty="0" smtClean="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早期总线结构与</a:t>
            </a:r>
            <a:r>
              <a:rPr lang="en-US" altLang="zh-CN" sz="2400" dirty="0" smtClean="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紧密相关</a:t>
            </a:r>
            <a:r>
              <a:rPr lang="zh-CN" altLang="zh-CN" sz="2400" dirty="0" smtClean="0">
                <a:latin typeface="微软雅黑" panose="020B0503020204020204" charset="-122"/>
                <a:ea typeface="微软雅黑" panose="020B0503020204020204" charset="-122"/>
              </a:rPr>
              <a:t>，不能</a:t>
            </a:r>
            <a:r>
              <a:rPr lang="zh-CN" altLang="zh-CN" sz="2400" dirty="0">
                <a:latin typeface="微软雅黑" panose="020B0503020204020204" charset="-122"/>
                <a:ea typeface="微软雅黑" panose="020B0503020204020204" charset="-122"/>
              </a:rPr>
              <a:t>满足多</a:t>
            </a:r>
            <a:r>
              <a:rPr lang="en-US" altLang="zh-CN" sz="2400" dirty="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环境的</a:t>
            </a:r>
            <a:r>
              <a:rPr lang="zh-CN" altLang="zh-CN" sz="2400" dirty="0" smtClean="0">
                <a:latin typeface="微软雅黑" panose="020B0503020204020204" charset="-122"/>
                <a:ea typeface="微软雅黑" panose="020B0503020204020204" charset="-122"/>
              </a:rPr>
              <a:t>要求</a:t>
            </a:r>
            <a:r>
              <a:rPr lang="zh-CN" altLang="en-US" sz="2400" dirty="0" smtClean="0">
                <a:latin typeface="微软雅黑" panose="020B0503020204020204" charset="-122"/>
                <a:ea typeface="微软雅黑" panose="020B0503020204020204" charset="-122"/>
              </a:rPr>
              <a:t>，</a:t>
            </a:r>
            <a:r>
              <a:rPr lang="zh-CN" altLang="zh-CN" sz="2400" dirty="0" smtClean="0">
                <a:latin typeface="微软雅黑" panose="020B0503020204020204" charset="-122"/>
                <a:ea typeface="微软雅黑" panose="020B0503020204020204" charset="-122"/>
              </a:rPr>
              <a:t>通用性</a:t>
            </a:r>
            <a:r>
              <a:rPr lang="zh-CN" altLang="zh-CN" sz="2400" dirty="0">
                <a:latin typeface="微软雅黑" panose="020B0503020204020204" charset="-122"/>
                <a:ea typeface="微软雅黑" panose="020B0503020204020204" charset="-122"/>
              </a:rPr>
              <a:t>较差。</a:t>
            </a:r>
            <a:endParaRPr lang="zh-CN" altLang="zh-CN" sz="2400"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en-US" altLang="zh-CN" sz="2400" b="1" dirty="0">
                <a:latin typeface="微软雅黑" panose="020B0503020204020204" charset="-122"/>
                <a:ea typeface="微软雅黑" panose="020B0503020204020204" charset="-122"/>
              </a:rPr>
              <a:t>. </a:t>
            </a:r>
            <a:r>
              <a:rPr lang="zh-CN" altLang="zh-CN" sz="2400" b="1" dirty="0" smtClean="0">
                <a:latin typeface="微软雅黑" panose="020B0503020204020204" charset="-122"/>
                <a:ea typeface="微软雅黑" panose="020B0503020204020204" charset="-122"/>
              </a:rPr>
              <a:t>错</a:t>
            </a:r>
            <a:endParaRPr lang="en-US" altLang="zh-CN" sz="2400" b="1" dirty="0" smtClean="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当代</a:t>
            </a:r>
            <a:r>
              <a:rPr lang="zh-CN" altLang="zh-CN" sz="2400" dirty="0">
                <a:latin typeface="微软雅黑" panose="020B0503020204020204" charset="-122"/>
                <a:ea typeface="微软雅黑" panose="020B0503020204020204" charset="-122"/>
              </a:rPr>
              <a:t>流行的总线追求与结构、</a:t>
            </a:r>
            <a:r>
              <a:rPr lang="en-US" altLang="zh-CN" sz="2400" dirty="0">
                <a:latin typeface="微软雅黑" panose="020B0503020204020204" charset="-122"/>
                <a:ea typeface="微软雅黑" panose="020B0503020204020204" charset="-122"/>
              </a:rPr>
              <a:t>CPU</a:t>
            </a:r>
            <a:r>
              <a:rPr lang="zh-CN" altLang="zh-CN" sz="2400" dirty="0">
                <a:latin typeface="微软雅黑" panose="020B0503020204020204" charset="-122"/>
                <a:ea typeface="微软雅黑" panose="020B0503020204020204" charset="-122"/>
              </a:rPr>
              <a:t>、技术无关的开发标准。</a:t>
            </a:r>
            <a:endParaRPr lang="zh-CN" altLang="zh-CN" sz="2400"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en-US" altLang="zh-CN" sz="2400" b="1" dirty="0">
                <a:latin typeface="微软雅黑" panose="020B0503020204020204" charset="-122"/>
                <a:ea typeface="微软雅黑" panose="020B0503020204020204" charset="-122"/>
              </a:rPr>
              <a:t>. </a:t>
            </a:r>
            <a:r>
              <a:rPr lang="zh-CN" altLang="zh-CN" sz="2400" b="1" dirty="0" smtClean="0">
                <a:latin typeface="微软雅黑" panose="020B0503020204020204" charset="-122"/>
                <a:ea typeface="微软雅黑" panose="020B0503020204020204" charset="-122"/>
              </a:rPr>
              <a:t>错</a:t>
            </a:r>
            <a:endParaRPr lang="zh-CN" altLang="zh-CN" sz="2400" dirty="0">
              <a:latin typeface="微软雅黑" panose="020B0503020204020204" charset="-122"/>
              <a:ea typeface="微软雅黑" panose="020B0503020204020204" charset="-122"/>
            </a:endParaRPr>
          </a:p>
        </p:txBody>
      </p:sp>
      <p:sp>
        <p:nvSpPr>
          <p:cNvPr id="9" name="椭圆 8"/>
          <p:cNvSpPr/>
          <p:nvPr/>
        </p:nvSpPr>
        <p:spPr bwMode="auto">
          <a:xfrm>
            <a:off x="827619" y="2932203"/>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30555" y="4027295"/>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8F05630E-67C2-45F0-BB2A-008EF4F25CC4}" type="slidenum">
              <a:rPr lang="en-US" altLang="zh-CN"/>
            </a:fld>
            <a:endParaRPr lang="en-US" altLang="zh-CN"/>
          </a:p>
        </p:txBody>
      </p:sp>
      <p:sp>
        <p:nvSpPr>
          <p:cNvPr id="16387" name="Rectangle 2"/>
          <p:cNvSpPr>
            <a:spLocks noGrp="1" noChangeArrowheads="1"/>
          </p:cNvSpPr>
          <p:nvPr>
            <p:ph type="title"/>
          </p:nvPr>
        </p:nvSpPr>
        <p:spPr>
          <a:xfrm>
            <a:off x="457200" y="122238"/>
            <a:ext cx="7543800" cy="642937"/>
          </a:xfrm>
        </p:spPr>
        <p:txBody>
          <a:bodyPr/>
          <a:lstStyle/>
          <a:p>
            <a:pPr eaLnBrk="1" hangingPunct="1"/>
            <a:r>
              <a:rPr lang="en-US" altLang="zh-CN" sz="3500" smtClean="0">
                <a:solidFill>
                  <a:schemeClr val="tx1"/>
                </a:solidFill>
                <a:cs typeface="Times New Roman" panose="02020603050405020304" pitchFamily="18" charset="0"/>
              </a:rPr>
              <a:t>6.2  </a:t>
            </a:r>
            <a:r>
              <a:rPr lang="zh-CN" altLang="en-US" sz="3500" smtClean="0">
                <a:solidFill>
                  <a:schemeClr val="tx1"/>
                </a:solidFill>
              </a:rPr>
              <a:t>总线接口</a:t>
            </a:r>
            <a:endParaRPr lang="zh-CN" altLang="en-US" sz="3500" smtClean="0">
              <a:solidFill>
                <a:schemeClr val="tx1"/>
              </a:solidFill>
            </a:endParaRPr>
          </a:p>
        </p:txBody>
      </p:sp>
      <p:pic>
        <p:nvPicPr>
          <p:cNvPr id="16388" name="Picture 4" descr="6a6"/>
          <p:cNvPicPr>
            <a:picLocks noChangeAspect="1" noChangeArrowheads="1"/>
          </p:cNvPicPr>
          <p:nvPr/>
        </p:nvPicPr>
        <p:blipFill>
          <a:blip r:embed="rId1"/>
          <a:srcRect/>
          <a:stretch>
            <a:fillRect/>
          </a:stretch>
        </p:blipFill>
        <p:spPr bwMode="auto">
          <a:xfrm>
            <a:off x="4211638" y="908050"/>
            <a:ext cx="4462462" cy="5329238"/>
          </a:xfrm>
          <a:prstGeom prst="rect">
            <a:avLst/>
          </a:prstGeom>
          <a:noFill/>
          <a:ln w="9525">
            <a:noFill/>
            <a:miter lim="800000"/>
            <a:headEnd/>
            <a:tailEnd/>
          </a:ln>
        </p:spPr>
      </p:pic>
      <p:sp>
        <p:nvSpPr>
          <p:cNvPr id="16389" name="Rectangle 6"/>
          <p:cNvSpPr>
            <a:spLocks noChangeArrowheads="1"/>
          </p:cNvSpPr>
          <p:nvPr/>
        </p:nvSpPr>
        <p:spPr bwMode="auto">
          <a:xfrm>
            <a:off x="246187" y="979443"/>
            <a:ext cx="3795713" cy="5216813"/>
          </a:xfrm>
          <a:prstGeom prst="rect">
            <a:avLst/>
          </a:prstGeom>
          <a:solidFill>
            <a:srgbClr val="CCFFFF"/>
          </a:solidFill>
          <a:ln w="9525">
            <a:noFill/>
            <a:miter lim="800000"/>
          </a:ln>
        </p:spPr>
        <p:txBody>
          <a:bodyPr bIns="0" anchor="ctr">
            <a:spAutoFit/>
          </a:bodyPr>
          <a:lstStyle/>
          <a:p>
            <a:pPr>
              <a:lnSpc>
                <a:spcPct val="100000"/>
              </a:lnSpc>
              <a:spcBef>
                <a:spcPct val="0"/>
              </a:spcBef>
              <a:buClrTx/>
              <a:buSzTx/>
              <a:buFontTx/>
              <a:buNone/>
            </a:pPr>
            <a:r>
              <a:rPr lang="en-US" altLang="zh-CN" sz="2800" b="1" dirty="0"/>
              <a:t>6.2.1 </a:t>
            </a:r>
            <a:r>
              <a:rPr lang="zh-CN" altLang="en-US" sz="2800" b="1" dirty="0"/>
              <a:t>信息的传送方式　　　　　　　　　</a:t>
            </a:r>
            <a:endParaRPr lang="zh-CN" altLang="en-US" sz="2800" b="1" dirty="0"/>
          </a:p>
          <a:p>
            <a:pPr>
              <a:lnSpc>
                <a:spcPct val="100000"/>
              </a:lnSpc>
              <a:spcBef>
                <a:spcPct val="0"/>
              </a:spcBef>
              <a:buClrTx/>
              <a:buSzTx/>
              <a:buFontTx/>
              <a:buNone/>
            </a:pPr>
            <a:r>
              <a:rPr lang="zh-CN" altLang="en-US" sz="2800" dirty="0"/>
              <a:t>　　数字计算机使用二进制数，它们或用电位的高、低来表示，或用脉冲的有、无来表示。</a:t>
            </a:r>
            <a:endParaRPr lang="zh-CN" altLang="en-US" sz="2800" dirty="0"/>
          </a:p>
          <a:p>
            <a:pPr>
              <a:lnSpc>
                <a:spcPct val="100000"/>
              </a:lnSpc>
              <a:spcBef>
                <a:spcPct val="0"/>
              </a:spcBef>
              <a:buClrTx/>
              <a:buSzTx/>
              <a:buFontTx/>
              <a:buNone/>
            </a:pPr>
            <a:r>
              <a:rPr lang="zh-CN" altLang="en-US" sz="2800" dirty="0"/>
              <a:t>    计算机系统中，传输信息</a:t>
            </a:r>
            <a:r>
              <a:rPr lang="zh-CN" altLang="en-US" sz="2800" dirty="0" smtClean="0"/>
              <a:t>采用一般采用</a:t>
            </a:r>
            <a:r>
              <a:rPr lang="zh-CN" altLang="en-US" sz="2800" b="1" dirty="0" smtClean="0"/>
              <a:t>串行传送</a:t>
            </a:r>
            <a:r>
              <a:rPr lang="zh-CN" altLang="en-US" sz="2800" dirty="0" smtClean="0"/>
              <a:t>或</a:t>
            </a:r>
            <a:r>
              <a:rPr lang="zh-CN" altLang="en-US" sz="2800" b="1" dirty="0" smtClean="0"/>
              <a:t>并行传送</a:t>
            </a:r>
            <a:r>
              <a:rPr lang="zh-CN" altLang="en-US" sz="2800" dirty="0" smtClean="0"/>
              <a:t>两种方式之一。</a:t>
            </a:r>
            <a:r>
              <a:rPr lang="zh-CN" altLang="en-US" sz="2800" dirty="0"/>
              <a:t>但是出于速度和效率上的考虑，系统总线上传送的信息必须采用</a:t>
            </a:r>
            <a:r>
              <a:rPr lang="zh-CN" altLang="en-US" sz="2800" b="1" dirty="0"/>
              <a:t>并行传送</a:t>
            </a:r>
            <a:r>
              <a:rPr lang="zh-CN" altLang="en-US" sz="2800" dirty="0"/>
              <a:t>方式。</a:t>
            </a:r>
            <a:endParaRPr lang="zh-CN" altLang="en-US" sz="2800" dirty="0"/>
          </a:p>
        </p:txBody>
      </p:sp>
      <p:sp>
        <p:nvSpPr>
          <p:cNvPr id="23559" name="Rectangle 7"/>
          <p:cNvSpPr>
            <a:spLocks noChangeArrowheads="1"/>
          </p:cNvSpPr>
          <p:nvPr/>
        </p:nvSpPr>
        <p:spPr bwMode="auto">
          <a:xfrm>
            <a:off x="179511" y="791027"/>
            <a:ext cx="4109789" cy="5893921"/>
          </a:xfrm>
          <a:prstGeom prst="rect">
            <a:avLst/>
          </a:prstGeom>
          <a:solidFill>
            <a:srgbClr val="CCFFFF"/>
          </a:solidFill>
          <a:ln w="9525">
            <a:noFill/>
            <a:miter lim="800000"/>
          </a:ln>
        </p:spPr>
        <p:txBody>
          <a:bodyPr wrap="square" bIns="0" anchor="ctr">
            <a:spAutoFit/>
          </a:bodyPr>
          <a:lstStyle/>
          <a:p>
            <a:pPr>
              <a:lnSpc>
                <a:spcPct val="100000"/>
              </a:lnSpc>
              <a:spcBef>
                <a:spcPct val="0"/>
              </a:spcBef>
              <a:buClrTx/>
              <a:buSzTx/>
              <a:buFontTx/>
              <a:buNone/>
            </a:pPr>
            <a:r>
              <a:rPr lang="zh-CN" altLang="en-US" sz="2000" b="1" dirty="0">
                <a:latin typeface="+mn-ea"/>
                <a:ea typeface="+mn-ea"/>
              </a:rPr>
              <a:t>串行传送：</a:t>
            </a:r>
            <a:r>
              <a:rPr lang="zh-CN" altLang="en-US" sz="2000" dirty="0">
                <a:latin typeface="+mn-ea"/>
                <a:ea typeface="+mn-ea"/>
              </a:rPr>
              <a:t>当信息以串行方式传送时，只有一条传输线，且采用脉冲传送。</a:t>
            </a:r>
            <a:endParaRPr lang="zh-CN" altLang="en-US" sz="2000" dirty="0">
              <a:latin typeface="+mn-ea"/>
              <a:ea typeface="+mn-ea"/>
            </a:endParaRPr>
          </a:p>
          <a:p>
            <a:pPr>
              <a:lnSpc>
                <a:spcPct val="100000"/>
              </a:lnSpc>
              <a:spcBef>
                <a:spcPct val="0"/>
              </a:spcBef>
              <a:buClrTx/>
              <a:buSzTx/>
              <a:buFontTx/>
              <a:buNone/>
            </a:pPr>
            <a:r>
              <a:rPr lang="zh-CN" altLang="en-US" sz="2000" dirty="0">
                <a:latin typeface="+mn-ea"/>
                <a:ea typeface="+mn-ea"/>
              </a:rPr>
              <a:t>　　在串行传送时，被传送的数据需要在发送部件进行并－串变换，这称为</a:t>
            </a:r>
            <a:r>
              <a:rPr lang="zh-CN" altLang="en-US" sz="2000" b="1" dirty="0">
                <a:latin typeface="+mn-ea"/>
                <a:ea typeface="+mn-ea"/>
              </a:rPr>
              <a:t>拆卸</a:t>
            </a:r>
            <a:r>
              <a:rPr lang="zh-CN" altLang="en-US" sz="2000" dirty="0">
                <a:latin typeface="+mn-ea"/>
                <a:ea typeface="+mn-ea"/>
              </a:rPr>
              <a:t>；而在接收部件又需要进行串－并变换，这称为</a:t>
            </a:r>
            <a:r>
              <a:rPr lang="zh-CN" altLang="en-US" sz="2000" b="1" dirty="0">
                <a:latin typeface="+mn-ea"/>
                <a:ea typeface="+mn-ea"/>
              </a:rPr>
              <a:t>装配</a:t>
            </a:r>
            <a:r>
              <a:rPr lang="zh-CN" altLang="en-US" sz="2000" dirty="0">
                <a:latin typeface="+mn-ea"/>
                <a:ea typeface="+mn-ea"/>
              </a:rPr>
              <a:t>。</a:t>
            </a:r>
            <a:endParaRPr lang="zh-CN" altLang="en-US" sz="2000" dirty="0">
              <a:latin typeface="+mn-ea"/>
              <a:ea typeface="+mn-ea"/>
            </a:endParaRPr>
          </a:p>
          <a:p>
            <a:pPr>
              <a:lnSpc>
                <a:spcPct val="100000"/>
              </a:lnSpc>
              <a:spcBef>
                <a:spcPct val="0"/>
              </a:spcBef>
              <a:buClrTx/>
              <a:buSzTx/>
              <a:buFontTx/>
              <a:buNone/>
            </a:pPr>
            <a:r>
              <a:rPr lang="zh-CN" altLang="en-US" sz="2000" dirty="0">
                <a:latin typeface="+mn-ea"/>
                <a:ea typeface="+mn-ea"/>
              </a:rPr>
              <a:t>　  优点：只需要一条传输线，这一点对长距离传输显得特别重要，不管传送的数据量有多少，只需要一条传输线，成本比较低廉。</a:t>
            </a:r>
            <a:endParaRPr lang="zh-CN" altLang="en-US" sz="2000" dirty="0">
              <a:latin typeface="+mn-ea"/>
              <a:ea typeface="+mn-ea"/>
            </a:endParaRPr>
          </a:p>
          <a:p>
            <a:pPr>
              <a:lnSpc>
                <a:spcPct val="100000"/>
              </a:lnSpc>
              <a:spcBef>
                <a:spcPct val="0"/>
              </a:spcBef>
              <a:buClrTx/>
              <a:buSzTx/>
              <a:buFontTx/>
              <a:buNone/>
            </a:pPr>
            <a:r>
              <a:rPr lang="zh-CN" altLang="en-US" sz="2000" dirty="0">
                <a:latin typeface="+mn-ea"/>
                <a:ea typeface="+mn-ea"/>
              </a:rPr>
              <a:t>    </a:t>
            </a:r>
            <a:r>
              <a:rPr lang="zh-CN" altLang="en-US" sz="2000" dirty="0" smtClean="0">
                <a:latin typeface="+mn-ea"/>
                <a:ea typeface="+mn-ea"/>
              </a:rPr>
              <a:t>缺点</a:t>
            </a:r>
            <a:r>
              <a:rPr lang="zh-CN" altLang="en-US" sz="2000" dirty="0">
                <a:latin typeface="+mn-ea"/>
                <a:ea typeface="+mn-ea"/>
              </a:rPr>
              <a:t>：速度慢</a:t>
            </a:r>
            <a:r>
              <a:rPr lang="zh-CN" altLang="en-US" sz="2000" dirty="0" smtClean="0">
                <a:latin typeface="+mn-ea"/>
                <a:ea typeface="+mn-ea"/>
              </a:rPr>
              <a:t>。</a:t>
            </a:r>
            <a:endParaRPr lang="en-US" altLang="zh-CN" sz="2000" dirty="0" smtClean="0">
              <a:latin typeface="+mn-ea"/>
              <a:ea typeface="+mn-ea"/>
            </a:endParaRPr>
          </a:p>
          <a:p>
            <a:pPr>
              <a:lnSpc>
                <a:spcPct val="100000"/>
              </a:lnSpc>
              <a:spcBef>
                <a:spcPct val="0"/>
              </a:spcBef>
              <a:buClrTx/>
              <a:buSzTx/>
              <a:buFontTx/>
              <a:buNone/>
            </a:pPr>
            <a:r>
              <a:rPr lang="zh-CN" altLang="en-US" sz="2000" b="1" dirty="0" smtClean="0">
                <a:latin typeface="+mn-ea"/>
                <a:ea typeface="+mn-ea"/>
              </a:rPr>
              <a:t>并行</a:t>
            </a:r>
            <a:r>
              <a:rPr lang="zh-CN" altLang="en-US" sz="2000" b="1" dirty="0">
                <a:latin typeface="+mn-ea"/>
                <a:ea typeface="+mn-ea"/>
              </a:rPr>
              <a:t>方式传送：</a:t>
            </a:r>
            <a:r>
              <a:rPr lang="zh-CN" altLang="en-US" sz="2000" dirty="0">
                <a:latin typeface="+mn-ea"/>
                <a:ea typeface="+mn-ea"/>
              </a:rPr>
              <a:t>用并行方式传送二进制信息时，对每个数据位都需要单独一条传输线。信息有多少二进制位组成，就需要多少条传输线。</a:t>
            </a:r>
            <a:endParaRPr lang="zh-CN" altLang="en-US" sz="2000" dirty="0">
              <a:latin typeface="+mn-ea"/>
              <a:ea typeface="+mn-ea"/>
            </a:endParaRPr>
          </a:p>
          <a:p>
            <a:pPr>
              <a:lnSpc>
                <a:spcPct val="100000"/>
              </a:lnSpc>
              <a:spcBef>
                <a:spcPct val="0"/>
              </a:spcBef>
              <a:buClrTx/>
              <a:buSzTx/>
              <a:buFontTx/>
              <a:buNone/>
            </a:pPr>
            <a:r>
              <a:rPr lang="zh-CN" altLang="en-US" sz="2000" dirty="0">
                <a:latin typeface="+mn-ea"/>
                <a:ea typeface="+mn-ea"/>
              </a:rPr>
              <a:t>　  并行传送一般采用电位传送。由于所有的位同时被传送，所以并行数据传送比串行数据传送快得多。</a:t>
            </a:r>
            <a:endParaRPr lang="en-US" altLang="zh-CN" sz="2000" dirty="0">
              <a:latin typeface="+mn-ea"/>
              <a:ea typeface="+mn-ea"/>
            </a:endParaRPr>
          </a:p>
        </p:txBody>
      </p:sp>
      <p:pic>
        <p:nvPicPr>
          <p:cNvPr id="16392" name="Picture 9">
            <a:hlinkClick r:id="rId2" action="ppaction://hlinkfile"/>
          </p:cNvPr>
          <p:cNvPicPr>
            <a:picLocks noChangeAspect="1" noChangeArrowheads="1"/>
          </p:cNvPicPr>
          <p:nvPr/>
        </p:nvPicPr>
        <p:blipFill>
          <a:blip r:embed="rId3"/>
          <a:srcRect/>
          <a:stretch>
            <a:fillRect/>
          </a:stretch>
        </p:blipFill>
        <p:spPr bwMode="auto">
          <a:xfrm>
            <a:off x="7667625" y="5805488"/>
            <a:ext cx="409575" cy="381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transition="in" filter="dissolve">
                                      <p:cBhvr>
                                        <p:cTn id="7" dur="500"/>
                                        <p:tgtEl>
                                          <p:spTgt spid="23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66E28F13-46EE-4782-8CEB-DEFF95F700B6}" type="slidenum">
              <a:rPr lang="en-US" altLang="zh-CN"/>
            </a:fld>
            <a:endParaRPr lang="en-US" altLang="zh-CN"/>
          </a:p>
        </p:txBody>
      </p:sp>
      <p:pic>
        <p:nvPicPr>
          <p:cNvPr id="17411" name="Picture 4" descr="6a7"/>
          <p:cNvPicPr>
            <a:picLocks noChangeAspect="1" noChangeArrowheads="1"/>
          </p:cNvPicPr>
          <p:nvPr/>
        </p:nvPicPr>
        <p:blipFill>
          <a:blip r:embed="rId1"/>
          <a:srcRect/>
          <a:stretch>
            <a:fillRect/>
          </a:stretch>
        </p:blipFill>
        <p:spPr bwMode="auto">
          <a:xfrm>
            <a:off x="611188" y="2852738"/>
            <a:ext cx="7489825" cy="3117850"/>
          </a:xfrm>
          <a:prstGeom prst="rect">
            <a:avLst/>
          </a:prstGeom>
          <a:noFill/>
          <a:ln w="9525">
            <a:noFill/>
            <a:miter lim="800000"/>
            <a:headEnd/>
            <a:tailEnd/>
          </a:ln>
        </p:spPr>
      </p:pic>
      <p:sp>
        <p:nvSpPr>
          <p:cNvPr id="17412" name="Rectangle 8"/>
          <p:cNvSpPr>
            <a:spLocks noChangeArrowheads="1"/>
          </p:cNvSpPr>
          <p:nvPr/>
        </p:nvSpPr>
        <p:spPr bwMode="auto">
          <a:xfrm>
            <a:off x="179388" y="188913"/>
            <a:ext cx="7850187" cy="2654300"/>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800" b="1"/>
              <a:t>6.2.2 </a:t>
            </a:r>
            <a:r>
              <a:rPr lang="zh-CN" altLang="en-US" sz="2800" b="1"/>
              <a:t>总线接口的基本概念</a:t>
            </a:r>
            <a:r>
              <a:rPr lang="zh-CN" altLang="en-US" sz="2800" b="1" i="1"/>
              <a:t> </a:t>
            </a:r>
            <a:endParaRPr lang="zh-CN" altLang="en-US" sz="2800" b="1" i="1"/>
          </a:p>
          <a:p>
            <a:pPr>
              <a:lnSpc>
                <a:spcPct val="100000"/>
              </a:lnSpc>
              <a:spcBef>
                <a:spcPct val="0"/>
              </a:spcBef>
              <a:buClrTx/>
              <a:buSzTx/>
              <a:buFontTx/>
              <a:buNone/>
            </a:pPr>
            <a:r>
              <a:rPr lang="zh-CN" altLang="en-US" sz="2800" b="1"/>
              <a:t>    接口：</a:t>
            </a:r>
            <a:r>
              <a:rPr lang="zh-CN" altLang="en-US" sz="2800"/>
              <a:t>即</a:t>
            </a:r>
            <a:r>
              <a:rPr lang="en-US" altLang="zh-CN" sz="2800"/>
              <a:t>I/O</a:t>
            </a:r>
            <a:r>
              <a:rPr lang="zh-CN" altLang="en-US" sz="2800"/>
              <a:t>设备适配器，具体指</a:t>
            </a:r>
            <a:r>
              <a:rPr lang="en-US" altLang="zh-CN" sz="2800"/>
              <a:t>CPU</a:t>
            </a:r>
            <a:r>
              <a:rPr lang="zh-CN" altLang="en-US" sz="2800"/>
              <a:t>和主存、外围设备之间通过总线进行连接的逻辑部件。</a:t>
            </a:r>
            <a:endParaRPr lang="zh-CN" altLang="en-US" sz="2800"/>
          </a:p>
          <a:p>
            <a:pPr>
              <a:lnSpc>
                <a:spcPct val="100000"/>
              </a:lnSpc>
              <a:spcBef>
                <a:spcPct val="0"/>
              </a:spcBef>
              <a:buClrTx/>
              <a:buSzTx/>
              <a:buFontTx/>
              <a:buNone/>
            </a:pPr>
            <a:r>
              <a:rPr lang="zh-CN" altLang="en-US" sz="2800"/>
              <a:t>　　接口部件在它动态连接的两个部件之间起着“转换器”的作用，以便实现彼此之间的信息传送。</a:t>
            </a:r>
            <a:endParaRPr lang="zh-CN" altLang="en-US" sz="2800"/>
          </a:p>
        </p:txBody>
      </p:sp>
      <p:sp>
        <p:nvSpPr>
          <p:cNvPr id="17413" name="Rectangle 9"/>
          <p:cNvSpPr>
            <a:spLocks noChangeArrowheads="1"/>
          </p:cNvSpPr>
          <p:nvPr/>
        </p:nvSpPr>
        <p:spPr bwMode="auto">
          <a:xfrm>
            <a:off x="1331913" y="5949950"/>
            <a:ext cx="6115050" cy="519113"/>
          </a:xfrm>
          <a:prstGeom prst="rect">
            <a:avLst/>
          </a:prstGeom>
          <a:noFill/>
          <a:ln w="9525">
            <a:noFill/>
            <a:miter lim="800000"/>
          </a:ln>
        </p:spPr>
        <p:txBody>
          <a:bodyPr wrap="none" anchor="ctr">
            <a:spAutoFit/>
          </a:bodyPr>
          <a:lstStyle/>
          <a:p>
            <a:pPr eaLnBrk="0" hangingPunct="0">
              <a:lnSpc>
                <a:spcPct val="100000"/>
              </a:lnSpc>
              <a:spcBef>
                <a:spcPct val="0"/>
              </a:spcBef>
              <a:buClrTx/>
              <a:buSzTx/>
              <a:buFontTx/>
              <a:buNone/>
            </a:pPr>
            <a:r>
              <a:rPr lang="en-US" altLang="zh-CN" sz="2800"/>
              <a:t>CPU</a:t>
            </a:r>
            <a:r>
              <a:rPr lang="zh-CN" altLang="en-US" sz="2800"/>
              <a:t>、接口和外围设备之间的连接关系</a:t>
            </a:r>
            <a:r>
              <a:rPr lang="zh-CN" altLang="en-US">
                <a:latin typeface="Arial" panose="020B0604020202020204" pitchFamily="34" charset="0"/>
              </a:rPr>
              <a:t> </a:t>
            </a:r>
            <a:endParaRPr lang="zh-CN" altLang="en-US">
              <a:latin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004BB066-40F7-4F46-9C35-32E256649AF9}" type="slidenum">
              <a:rPr lang="en-US" altLang="zh-CN"/>
            </a:fld>
            <a:endParaRPr lang="en-US" altLang="zh-CN"/>
          </a:p>
        </p:txBody>
      </p:sp>
      <p:sp>
        <p:nvSpPr>
          <p:cNvPr id="18435" name="Rectangle 6"/>
          <p:cNvSpPr>
            <a:spLocks noChangeArrowheads="1"/>
          </p:cNvSpPr>
          <p:nvPr/>
        </p:nvSpPr>
        <p:spPr bwMode="auto">
          <a:xfrm>
            <a:off x="323850" y="765175"/>
            <a:ext cx="7416800" cy="4789488"/>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sz="2800"/>
              <a:t>    </a:t>
            </a:r>
            <a:r>
              <a:rPr lang="zh-CN" altLang="en-US" sz="2800"/>
              <a:t>为了使所有的外围设备能够兼容，并能在一起正确地工作，</a:t>
            </a:r>
            <a:r>
              <a:rPr lang="en-US" altLang="zh-CN" sz="2800"/>
              <a:t>CPU</a:t>
            </a:r>
            <a:r>
              <a:rPr lang="zh-CN" altLang="en-US" sz="2800"/>
              <a:t>规定了不同的信息传送控制方法。不管什么样的外围设备，只要选用某种数据传送控制方法，并按它的规定通过总线和主机连接，就可以进行信息交换。通常在总线和每个外围设备的设备控制器之间使用一个适配器（接口）电路来解决这个问题，以保证外围设备用计算机系统特性所要求的形式发送和接收信息，因此接口逻辑必须标准化。</a:t>
            </a:r>
            <a:endParaRPr lang="zh-CN" altLang="en-US" sz="2800"/>
          </a:p>
          <a:p>
            <a:pPr eaLnBrk="0" hangingPunct="0">
              <a:lnSpc>
                <a:spcPct val="100000"/>
              </a:lnSpc>
              <a:spcBef>
                <a:spcPct val="0"/>
              </a:spcBef>
              <a:buClrTx/>
              <a:buSzTx/>
              <a:buFontTx/>
              <a:buNone/>
            </a:pPr>
            <a:r>
              <a:rPr lang="zh-CN" altLang="en-US" sz="2800"/>
              <a:t>    一个标准接口可能连接一个设备，也可能连接多个设备。 </a:t>
            </a:r>
            <a:endParaRPr lang="zh-CN" altLang="en-US" sz="28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42555E66-658F-484B-9580-9C447BA41F3B}" type="slidenum">
              <a:rPr lang="en-US" altLang="zh-CN"/>
            </a:fld>
            <a:endParaRPr lang="en-US" altLang="zh-CN"/>
          </a:p>
        </p:txBody>
      </p:sp>
      <p:pic>
        <p:nvPicPr>
          <p:cNvPr id="19459" name="Picture 5" descr="6a8">
            <a:hlinkClick r:id="rId1"/>
          </p:cNvPr>
          <p:cNvPicPr>
            <a:picLocks noChangeAspect="1" noChangeArrowheads="1"/>
          </p:cNvPicPr>
          <p:nvPr/>
        </p:nvPicPr>
        <p:blipFill>
          <a:blip r:embed="rId2"/>
          <a:srcRect/>
          <a:stretch>
            <a:fillRect/>
          </a:stretch>
        </p:blipFill>
        <p:spPr bwMode="auto">
          <a:xfrm>
            <a:off x="395288" y="549275"/>
            <a:ext cx="7129462" cy="3384550"/>
          </a:xfrm>
          <a:prstGeom prst="rect">
            <a:avLst/>
          </a:prstGeom>
          <a:noFill/>
          <a:ln w="9525">
            <a:noFill/>
            <a:miter lim="800000"/>
            <a:headEnd/>
            <a:tailEnd/>
          </a:ln>
        </p:spPr>
      </p:pic>
      <p:sp>
        <p:nvSpPr>
          <p:cNvPr id="19460" name="Rectangle 6"/>
          <p:cNvSpPr>
            <a:spLocks noChangeArrowheads="1"/>
          </p:cNvSpPr>
          <p:nvPr/>
        </p:nvSpPr>
        <p:spPr bwMode="auto">
          <a:xfrm>
            <a:off x="1835150" y="188913"/>
            <a:ext cx="2470150" cy="457200"/>
          </a:xfrm>
          <a:prstGeom prst="rect">
            <a:avLst/>
          </a:prstGeom>
          <a:noFill/>
          <a:ln w="9525">
            <a:noFill/>
            <a:miter lim="800000"/>
          </a:ln>
        </p:spPr>
        <p:txBody>
          <a:bodyPr wrap="none">
            <a:spAutoFit/>
          </a:bodyPr>
          <a:lstStyle/>
          <a:p>
            <a:pPr>
              <a:lnSpc>
                <a:spcPct val="100000"/>
              </a:lnSpc>
              <a:spcBef>
                <a:spcPct val="0"/>
              </a:spcBef>
              <a:buClrTx/>
              <a:buSzTx/>
              <a:buFontTx/>
              <a:buNone/>
            </a:pPr>
            <a:r>
              <a:rPr lang="en-US" altLang="zh-CN" sz="2400"/>
              <a:t>I/O</a:t>
            </a:r>
            <a:r>
              <a:rPr lang="zh-CN" altLang="en-US" sz="2400"/>
              <a:t>接口模块框图</a:t>
            </a:r>
            <a:endParaRPr lang="zh-CN" altLang="en-US" sz="2400"/>
          </a:p>
        </p:txBody>
      </p:sp>
      <p:sp>
        <p:nvSpPr>
          <p:cNvPr id="19461" name="Rectangle 7"/>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zh-CN" altLang="en-US" sz="2400"/>
              <a:t>接口通常具有如下功能：</a:t>
            </a:r>
            <a:endParaRPr lang="zh-CN" altLang="en-US" sz="2400" b="1"/>
          </a:p>
          <a:p>
            <a:pPr>
              <a:lnSpc>
                <a:spcPct val="100000"/>
              </a:lnSpc>
              <a:spcBef>
                <a:spcPct val="0"/>
              </a:spcBef>
              <a:buClrTx/>
              <a:buSzTx/>
              <a:buFontTx/>
              <a:buNone/>
            </a:pPr>
            <a:r>
              <a:rPr lang="en-US" altLang="zh-CN" sz="2400" b="1"/>
              <a:t>1.</a:t>
            </a:r>
            <a:r>
              <a:rPr lang="zh-CN" altLang="en-US" sz="2400" b="1"/>
              <a:t>控制</a:t>
            </a:r>
            <a:endParaRPr lang="zh-CN" altLang="en-US" sz="2400" b="1"/>
          </a:p>
          <a:p>
            <a:pPr>
              <a:lnSpc>
                <a:spcPct val="100000"/>
              </a:lnSpc>
              <a:spcBef>
                <a:spcPct val="0"/>
              </a:spcBef>
              <a:buClrTx/>
              <a:buSzTx/>
              <a:buFontTx/>
              <a:buNone/>
            </a:pPr>
            <a:r>
              <a:rPr lang="zh-CN" altLang="en-US" sz="2400"/>
              <a:t>　　接口靠程序的指令信息来控制外围设备的动作，如启动、关闭设备等。</a:t>
            </a:r>
            <a:endParaRPr lang="zh-CN" altLang="en-US" sz="2400" b="1"/>
          </a:p>
          <a:p>
            <a:pPr>
              <a:lnSpc>
                <a:spcPct val="100000"/>
              </a:lnSpc>
              <a:spcBef>
                <a:spcPct val="0"/>
              </a:spcBef>
              <a:buClrTx/>
              <a:buSzTx/>
              <a:buFontTx/>
              <a:buNone/>
            </a:pPr>
            <a:r>
              <a:rPr lang="en-US" altLang="zh-CN" sz="2400" b="1"/>
              <a:t>2.</a:t>
            </a:r>
            <a:r>
              <a:rPr lang="zh-CN" altLang="en-US" sz="2400" b="1"/>
              <a:t>缓冲</a:t>
            </a:r>
            <a:endParaRPr lang="zh-CN" altLang="en-US" sz="2400" b="1"/>
          </a:p>
          <a:p>
            <a:pPr>
              <a:lnSpc>
                <a:spcPct val="100000"/>
              </a:lnSpc>
              <a:spcBef>
                <a:spcPct val="0"/>
              </a:spcBef>
              <a:buClrTx/>
              <a:buSzTx/>
              <a:buFontTx/>
              <a:buNone/>
            </a:pPr>
            <a:r>
              <a:rPr lang="zh-CN" altLang="en-US" sz="2400"/>
              <a:t>　　接口在外围设备和计算机系统其他部件之间用作为一个缓冲器，以补偿各种设备在速度上的差异。</a:t>
            </a:r>
            <a:endParaRPr lang="zh-CN" altLang="en-US" sz="2400"/>
          </a:p>
        </p:txBody>
      </p:sp>
      <p:sp>
        <p:nvSpPr>
          <p:cNvPr id="71688" name="Rectangle 8"/>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en-US" altLang="zh-CN" sz="2400" b="1"/>
              <a:t>3.</a:t>
            </a:r>
            <a:r>
              <a:rPr lang="zh-CN" altLang="en-US" sz="2400" b="1"/>
              <a:t>状态</a:t>
            </a:r>
            <a:endParaRPr lang="zh-CN" altLang="en-US" sz="2400" b="1"/>
          </a:p>
          <a:p>
            <a:pPr>
              <a:lnSpc>
                <a:spcPct val="100000"/>
              </a:lnSpc>
              <a:spcBef>
                <a:spcPct val="0"/>
              </a:spcBef>
              <a:buClrTx/>
              <a:buSzTx/>
              <a:buFontTx/>
              <a:buNone/>
            </a:pPr>
            <a:r>
              <a:rPr lang="zh-CN" altLang="en-US" sz="2400"/>
              <a:t>　　接口监视外围设备的工作状态并保存状态信息。状态信息包括数据“准备就绪”、“忙”、“错误”等等，供</a:t>
            </a:r>
            <a:r>
              <a:rPr lang="en-US" altLang="zh-CN" sz="2400"/>
              <a:t>CPU</a:t>
            </a:r>
            <a:r>
              <a:rPr lang="zh-CN" altLang="en-US" sz="2400"/>
              <a:t>询问外围设备时进行分析之用。</a:t>
            </a:r>
            <a:endParaRPr lang="zh-CN" altLang="en-US" sz="2400" b="1"/>
          </a:p>
          <a:p>
            <a:pPr>
              <a:lnSpc>
                <a:spcPct val="100000"/>
              </a:lnSpc>
              <a:spcBef>
                <a:spcPct val="0"/>
              </a:spcBef>
              <a:buClrTx/>
              <a:buSzTx/>
              <a:buFontTx/>
              <a:buNone/>
            </a:pPr>
            <a:r>
              <a:rPr lang="en-US" altLang="zh-CN" sz="2400" b="1"/>
              <a:t>4.</a:t>
            </a:r>
            <a:r>
              <a:rPr lang="zh-CN" altLang="en-US" sz="2400" b="1"/>
              <a:t>转换</a:t>
            </a:r>
            <a:endParaRPr lang="zh-CN" altLang="en-US" sz="2400" b="1"/>
          </a:p>
          <a:p>
            <a:pPr>
              <a:lnSpc>
                <a:spcPct val="100000"/>
              </a:lnSpc>
              <a:spcBef>
                <a:spcPct val="0"/>
              </a:spcBef>
              <a:buClrTx/>
              <a:buSzTx/>
              <a:buFontTx/>
              <a:buNone/>
            </a:pPr>
            <a:r>
              <a:rPr lang="zh-CN" altLang="en-US" sz="2400"/>
              <a:t>　　接口可以完成任何要求的数据转换，例如并－串转换或串－并转换，因此数据能在外围设备和</a:t>
            </a:r>
            <a:r>
              <a:rPr lang="en-US" altLang="zh-CN" sz="2400"/>
              <a:t>CPU</a:t>
            </a:r>
            <a:r>
              <a:rPr lang="zh-CN" altLang="en-US" sz="2400"/>
              <a:t>之间正确地进行传送。</a:t>
            </a:r>
            <a:endParaRPr lang="zh-CN" altLang="en-US" sz="2400" b="1"/>
          </a:p>
        </p:txBody>
      </p:sp>
      <p:sp>
        <p:nvSpPr>
          <p:cNvPr id="71689" name="Rectangle 9"/>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en-US" altLang="zh-CN" sz="2400" b="1"/>
              <a:t>5.</a:t>
            </a:r>
            <a:r>
              <a:rPr lang="zh-CN" altLang="en-US" sz="2400" b="1"/>
              <a:t>整理</a:t>
            </a:r>
            <a:endParaRPr lang="zh-CN" altLang="en-US" sz="2400" b="1"/>
          </a:p>
          <a:p>
            <a:pPr>
              <a:lnSpc>
                <a:spcPct val="100000"/>
              </a:lnSpc>
              <a:spcBef>
                <a:spcPct val="0"/>
              </a:spcBef>
              <a:buClrTx/>
              <a:buSzTx/>
              <a:buFontTx/>
              <a:buNone/>
            </a:pPr>
            <a:r>
              <a:rPr lang="zh-CN" altLang="en-US" sz="2400"/>
              <a:t>　　接口可以完成一些特别的功能，例如在需要时可以修改字计数器或当前内存地址寄存器。</a:t>
            </a:r>
            <a:endParaRPr lang="zh-CN" altLang="en-US" sz="2400" b="1"/>
          </a:p>
          <a:p>
            <a:pPr>
              <a:lnSpc>
                <a:spcPct val="100000"/>
              </a:lnSpc>
              <a:spcBef>
                <a:spcPct val="0"/>
              </a:spcBef>
              <a:buClrTx/>
              <a:buSzTx/>
              <a:buFontTx/>
              <a:buNone/>
            </a:pPr>
            <a:r>
              <a:rPr lang="en-US" altLang="zh-CN" sz="2400" b="1"/>
              <a:t>6.</a:t>
            </a:r>
            <a:r>
              <a:rPr lang="zh-CN" altLang="en-US" sz="2400" b="1"/>
              <a:t>程序中断</a:t>
            </a:r>
            <a:endParaRPr lang="zh-CN" altLang="en-US" sz="2400" b="1"/>
          </a:p>
          <a:p>
            <a:pPr>
              <a:lnSpc>
                <a:spcPct val="100000"/>
              </a:lnSpc>
              <a:spcBef>
                <a:spcPct val="0"/>
              </a:spcBef>
              <a:buClrTx/>
              <a:buSzTx/>
              <a:buFontTx/>
              <a:buNone/>
            </a:pPr>
            <a:r>
              <a:rPr lang="zh-CN" altLang="en-US" sz="2400"/>
              <a:t>　　每当外围设备向</a:t>
            </a:r>
            <a:r>
              <a:rPr lang="en-US" altLang="zh-CN" sz="2400"/>
              <a:t>CPU</a:t>
            </a:r>
            <a:r>
              <a:rPr lang="zh-CN" altLang="en-US" sz="2400"/>
              <a:t>请求某种动作时，接口即发生一个中断请求信号到</a:t>
            </a:r>
            <a:r>
              <a:rPr lang="en-US" altLang="zh-CN" sz="2400"/>
              <a:t>CPU</a:t>
            </a:r>
            <a:r>
              <a:rPr lang="zh-CN" altLang="en-US" sz="2400"/>
              <a:t>。</a:t>
            </a:r>
            <a:endParaRPr lang="zh-CN" altLang="en-US" sz="2400"/>
          </a:p>
          <a:p>
            <a:pPr>
              <a:lnSpc>
                <a:spcPct val="100000"/>
              </a:lnSpc>
              <a:spcBef>
                <a:spcPct val="0"/>
              </a:spcBef>
              <a:buClrTx/>
              <a:buSzTx/>
              <a:buFontTx/>
              <a:buNone/>
            </a:pPr>
            <a:endParaRPr lang="en-US" altLang="zh-CN" sz="2400"/>
          </a:p>
        </p:txBody>
      </p:sp>
      <p:sp>
        <p:nvSpPr>
          <p:cNvPr id="71690" name="Rectangle 10"/>
          <p:cNvSpPr>
            <a:spLocks noChangeArrowheads="1"/>
          </p:cNvSpPr>
          <p:nvPr/>
        </p:nvSpPr>
        <p:spPr bwMode="auto">
          <a:xfrm>
            <a:off x="250825" y="4005263"/>
            <a:ext cx="8642350" cy="2555875"/>
          </a:xfrm>
          <a:prstGeom prst="rect">
            <a:avLst/>
          </a:prstGeom>
          <a:solidFill>
            <a:srgbClr val="CCFFFF"/>
          </a:solidFill>
          <a:ln w="9525">
            <a:noFill/>
            <a:miter lim="800000"/>
          </a:ln>
        </p:spPr>
        <p:txBody>
          <a:bodyPr tIns="0" bIns="0" anchor="ctr">
            <a:spAutoFit/>
          </a:bodyPr>
          <a:lstStyle/>
          <a:p>
            <a:pPr>
              <a:lnSpc>
                <a:spcPct val="100000"/>
              </a:lnSpc>
              <a:spcBef>
                <a:spcPct val="0"/>
              </a:spcBef>
              <a:buClrTx/>
              <a:buSzTx/>
              <a:buFontTx/>
              <a:buNone/>
            </a:pPr>
            <a:r>
              <a:rPr lang="zh-CN" altLang="en-US" sz="2400"/>
              <a:t>　 事实上，一个适配器必有两个接口：</a:t>
            </a:r>
            <a:endParaRPr lang="zh-CN" altLang="en-US" sz="2400"/>
          </a:p>
          <a:p>
            <a:pPr>
              <a:lnSpc>
                <a:spcPct val="100000"/>
              </a:lnSpc>
              <a:spcBef>
                <a:spcPct val="0"/>
              </a:spcBef>
              <a:buClrTx/>
              <a:buSzTx/>
              <a:buFontTx/>
              <a:buNone/>
            </a:pPr>
            <a:r>
              <a:rPr lang="zh-CN" altLang="en-US" sz="2400"/>
              <a:t>　 是和系统总线的接口</a:t>
            </a:r>
            <a:r>
              <a:rPr lang="en-US" altLang="zh-CN" sz="2400"/>
              <a:t>:CPU</a:t>
            </a:r>
            <a:r>
              <a:rPr lang="zh-CN" altLang="en-US" sz="2400"/>
              <a:t>和适配器的数据交换一定的是并行方式</a:t>
            </a:r>
            <a:endParaRPr lang="zh-CN" altLang="en-US" sz="2400"/>
          </a:p>
          <a:p>
            <a:pPr>
              <a:lnSpc>
                <a:spcPct val="100000"/>
              </a:lnSpc>
              <a:spcBef>
                <a:spcPct val="0"/>
              </a:spcBef>
              <a:buClrTx/>
              <a:buSzTx/>
              <a:buFontTx/>
              <a:buNone/>
            </a:pPr>
            <a:r>
              <a:rPr lang="zh-CN" altLang="en-US" sz="2400"/>
              <a:t>　 是和外设的接口</a:t>
            </a:r>
            <a:r>
              <a:rPr lang="en-US" altLang="zh-CN" sz="2400"/>
              <a:t>:</a:t>
            </a:r>
            <a:r>
              <a:rPr lang="zh-CN" altLang="en-US" sz="2400"/>
              <a:t>适配器和外设的数据交换可能是并行方式，也可能是串行方式。根据外围设备供求串行数据或并行数据的方式不同，适配器分为</a:t>
            </a:r>
            <a:r>
              <a:rPr lang="zh-CN" altLang="en-US" sz="2400" b="1"/>
              <a:t>串行数据接口</a:t>
            </a:r>
            <a:r>
              <a:rPr lang="zh-CN" altLang="en-US" sz="2400"/>
              <a:t>和</a:t>
            </a:r>
            <a:r>
              <a:rPr lang="zh-CN" altLang="en-US" sz="2400" b="1"/>
              <a:t>并行数据接口</a:t>
            </a:r>
            <a:r>
              <a:rPr lang="zh-CN" altLang="en-US" sz="2400"/>
              <a:t>两大类。</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8"/>
                                        </p:tgtEl>
                                        <p:attrNameLst>
                                          <p:attrName>style.visibility</p:attrName>
                                        </p:attrNameLst>
                                      </p:cBhvr>
                                      <p:to>
                                        <p:strVal val="visible"/>
                                      </p:to>
                                    </p:set>
                                    <p:animEffect transition="in" filter="dissolve">
                                      <p:cBhvr>
                                        <p:cTn id="7" dur="500"/>
                                        <p:tgtEl>
                                          <p:spTgt spid="7168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689"/>
                                        </p:tgtEl>
                                        <p:attrNameLst>
                                          <p:attrName>style.visibility</p:attrName>
                                        </p:attrNameLst>
                                      </p:cBhvr>
                                      <p:to>
                                        <p:strVal val="visible"/>
                                      </p:to>
                                    </p:set>
                                    <p:animEffect transition="in" filter="dissolve">
                                      <p:cBhvr>
                                        <p:cTn id="12" dur="500"/>
                                        <p:tgtEl>
                                          <p:spTgt spid="7168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1690"/>
                                        </p:tgtEl>
                                        <p:attrNameLst>
                                          <p:attrName>style.visibility</p:attrName>
                                        </p:attrNameLst>
                                      </p:cBhvr>
                                      <p:to>
                                        <p:strVal val="visible"/>
                                      </p:to>
                                    </p:set>
                                    <p:animEffect transition="in" filter="dissolve">
                                      <p:cBhvr>
                                        <p:cTn id="17" dur="500"/>
                                        <p:tgtEl>
                                          <p:spTgt spid="716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8" grpId="0" animBg="1" autoUpdateAnimBg="0"/>
      <p:bldP spid="71689" grpId="0" animBg="1" autoUpdateAnimBg="0"/>
      <p:bldP spid="71690"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179512" y="973421"/>
            <a:ext cx="8754477" cy="3970318"/>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zh-CN" sz="2800" dirty="0" smtClean="0">
                <a:latin typeface="微软雅黑" panose="020B0503020204020204" charset="-122"/>
                <a:ea typeface="微软雅黑" panose="020B0503020204020204" charset="-122"/>
              </a:rPr>
              <a:t>单选题</a:t>
            </a:r>
            <a:endParaRPr lang="en-US" altLang="zh-CN" sz="2800" dirty="0" smtClean="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a:t>
            </a:r>
            <a:r>
              <a:rPr lang="zh-CN" altLang="zh-CN" sz="2800" dirty="0" smtClean="0">
                <a:latin typeface="微软雅黑" panose="020B0503020204020204" charset="-122"/>
                <a:ea typeface="微软雅黑" panose="020B0503020204020204" charset="-122"/>
              </a:rPr>
              <a:t>系统</a:t>
            </a:r>
            <a:r>
              <a:rPr lang="zh-CN" altLang="zh-CN" sz="2800" dirty="0">
                <a:latin typeface="微软雅黑" panose="020B0503020204020204" charset="-122"/>
                <a:ea typeface="微软雅黑" panose="020B0503020204020204" charset="-122"/>
              </a:rPr>
              <a:t>总线中地址线的功用是</a:t>
            </a:r>
            <a:r>
              <a:rPr lang="en-US" altLang="zh-CN" sz="2800" u="sng" dirty="0">
                <a:latin typeface="微软雅黑" panose="020B0503020204020204" charset="-122"/>
                <a:ea typeface="微软雅黑" panose="020B0503020204020204" charset="-122"/>
              </a:rPr>
              <a:t> </a:t>
            </a:r>
            <a:r>
              <a:rPr lang="en-US" altLang="zh-CN" sz="2800" u="sng" dirty="0" smtClean="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a:t>
            </a:r>
            <a:endParaRPr lang="zh-CN" altLang="zh-CN" sz="2800" dirty="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a:t>
            </a:r>
            <a:r>
              <a:rPr lang="en-US" altLang="zh-CN" sz="2800" dirty="0">
                <a:latin typeface="微软雅黑" panose="020B0503020204020204" charset="-122"/>
                <a:ea typeface="微软雅黑" panose="020B0503020204020204" charset="-122"/>
              </a:rPr>
              <a:t>A</a:t>
            </a:r>
            <a:r>
              <a:rPr lang="zh-CN" altLang="zh-CN" sz="2800" dirty="0">
                <a:latin typeface="微软雅黑" panose="020B0503020204020204" charset="-122"/>
                <a:ea typeface="微软雅黑" panose="020B0503020204020204" charset="-122"/>
              </a:rPr>
              <a:t>．用于选择主存单元</a:t>
            </a:r>
            <a:endParaRPr lang="zh-CN" altLang="zh-CN" sz="2800" dirty="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a:t>
            </a:r>
            <a:r>
              <a:rPr lang="en-US" altLang="zh-CN" sz="2800" dirty="0">
                <a:latin typeface="微软雅黑" panose="020B0503020204020204" charset="-122"/>
                <a:ea typeface="微软雅黑" panose="020B0503020204020204" charset="-122"/>
              </a:rPr>
              <a:t>B</a:t>
            </a:r>
            <a:r>
              <a:rPr lang="zh-CN" altLang="zh-CN" sz="2800" dirty="0">
                <a:latin typeface="微软雅黑" panose="020B0503020204020204" charset="-122"/>
                <a:ea typeface="微软雅黑" panose="020B0503020204020204" charset="-122"/>
              </a:rPr>
              <a:t>．用于选择进行信息传输的设备</a:t>
            </a:r>
            <a:endParaRPr lang="zh-CN" altLang="zh-CN" sz="2800" dirty="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C</a:t>
            </a:r>
            <a:r>
              <a:rPr lang="zh-CN" altLang="zh-CN" sz="2800" dirty="0">
                <a:latin typeface="微软雅黑" panose="020B0503020204020204" charset="-122"/>
                <a:ea typeface="微软雅黑" panose="020B0503020204020204" charset="-122"/>
              </a:rPr>
              <a:t>．用于指定主存单元和</a:t>
            </a:r>
            <a:r>
              <a:rPr lang="en-US" altLang="zh-CN" sz="2800" dirty="0">
                <a:latin typeface="微软雅黑" panose="020B0503020204020204" charset="-122"/>
                <a:ea typeface="微软雅黑" panose="020B0503020204020204" charset="-122"/>
              </a:rPr>
              <a:t>I</a:t>
            </a:r>
            <a:r>
              <a:rPr lang="zh-CN" altLang="zh-CN" sz="2800" dirty="0">
                <a:latin typeface="微软雅黑" panose="020B0503020204020204" charset="-122"/>
                <a:ea typeface="微软雅黑" panose="020B0503020204020204" charset="-122"/>
              </a:rPr>
              <a:t>／</a:t>
            </a:r>
            <a:r>
              <a:rPr lang="en-US" altLang="zh-CN" sz="2800" dirty="0">
                <a:latin typeface="微软雅黑" panose="020B0503020204020204" charset="-122"/>
                <a:ea typeface="微软雅黑" panose="020B0503020204020204" charset="-122"/>
              </a:rPr>
              <a:t>O</a:t>
            </a:r>
            <a:r>
              <a:rPr lang="zh-CN" altLang="zh-CN" sz="2800" dirty="0">
                <a:latin typeface="微软雅黑" panose="020B0503020204020204" charset="-122"/>
                <a:ea typeface="微软雅黑" panose="020B0503020204020204" charset="-122"/>
              </a:rPr>
              <a:t>设备接口电路的地址</a:t>
            </a:r>
            <a:endParaRPr lang="zh-CN" altLang="zh-CN" sz="2800" dirty="0">
              <a:latin typeface="微软雅黑" panose="020B0503020204020204" charset="-122"/>
              <a:ea typeface="微软雅黑" panose="020B0503020204020204" charset="-122"/>
            </a:endParaRPr>
          </a:p>
          <a:p>
            <a:pPr>
              <a:lnSpc>
                <a:spcPct val="150000"/>
              </a:lnSpc>
              <a:spcBef>
                <a:spcPts val="0"/>
              </a:spcBef>
            </a:pPr>
            <a:r>
              <a:rPr lang="en-US" altLang="zh-CN" sz="2800" dirty="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rPr>
              <a:t>     D</a:t>
            </a:r>
            <a:r>
              <a:rPr lang="en-US" altLang="zh-CN" sz="2800" dirty="0">
                <a:latin typeface="微软雅黑" panose="020B0503020204020204" charset="-122"/>
                <a:ea typeface="微软雅黑" panose="020B0503020204020204" charset="-122"/>
              </a:rPr>
              <a:t>. </a:t>
            </a:r>
            <a:r>
              <a:rPr lang="zh-CN" altLang="zh-CN" sz="2800" dirty="0">
                <a:latin typeface="微软雅黑" panose="020B0503020204020204" charset="-122"/>
                <a:ea typeface="微软雅黑" panose="020B0503020204020204" charset="-122"/>
              </a:rPr>
              <a:t>用于传送主存物理地址和逻辑</a:t>
            </a:r>
            <a:r>
              <a:rPr lang="zh-CN" altLang="zh-CN" sz="2800" dirty="0" smtClean="0">
                <a:latin typeface="微软雅黑" panose="020B0503020204020204" charset="-122"/>
                <a:ea typeface="微软雅黑" panose="020B0503020204020204" charset="-122"/>
              </a:rPr>
              <a:t>地址</a:t>
            </a:r>
            <a:endParaRPr lang="zh-CN" altLang="zh-CN" sz="2800" dirty="0">
              <a:latin typeface="微软雅黑" panose="020B0503020204020204" charset="-122"/>
              <a:ea typeface="微软雅黑" panose="020B0503020204020204" charset="-122"/>
            </a:endParaRPr>
          </a:p>
        </p:txBody>
      </p:sp>
      <p:sp>
        <p:nvSpPr>
          <p:cNvPr id="9" name="椭圆 8"/>
          <p:cNvSpPr/>
          <p:nvPr/>
        </p:nvSpPr>
        <p:spPr bwMode="auto">
          <a:xfrm>
            <a:off x="839409" y="363920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401648" y="947523"/>
            <a:ext cx="8525810" cy="4567404"/>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30000"/>
              </a:lnSpc>
              <a:spcBef>
                <a:spcPts val="0"/>
              </a:spcBef>
            </a:pPr>
            <a:r>
              <a:rPr lang="zh-CN" altLang="zh-CN" sz="2400" dirty="0" smtClean="0">
                <a:latin typeface="微软雅黑" panose="020B0503020204020204" charset="-122"/>
                <a:ea typeface="微软雅黑" panose="020B0503020204020204" charset="-122"/>
              </a:rPr>
              <a:t>单选题</a:t>
            </a:r>
            <a:endParaRPr lang="en-US" altLang="zh-CN" sz="2400" dirty="0" smtClean="0">
              <a:latin typeface="微软雅黑" panose="020B0503020204020204" charset="-122"/>
              <a:ea typeface="微软雅黑" panose="020B0503020204020204" charset="-122"/>
            </a:endParaRPr>
          </a:p>
          <a:p>
            <a:pPr marL="342900" indent="-342900">
              <a:lnSpc>
                <a:spcPct val="13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计算机系统</a:t>
            </a:r>
            <a:r>
              <a:rPr lang="zh-CN" altLang="zh-CN" sz="2400" dirty="0">
                <a:latin typeface="微软雅黑" panose="020B0503020204020204" charset="-122"/>
                <a:ea typeface="微软雅黑" panose="020B0503020204020204" charset="-122"/>
              </a:rPr>
              <a:t>的输入输出接口是</a:t>
            </a:r>
            <a:r>
              <a:rPr lang="en-US" altLang="zh-CN" sz="2400" u="sng" dirty="0">
                <a:latin typeface="微软雅黑" panose="020B0503020204020204" charset="-122"/>
                <a:ea typeface="微软雅黑" panose="020B0503020204020204" charset="-122"/>
              </a:rPr>
              <a:t>  </a:t>
            </a:r>
            <a:r>
              <a:rPr lang="en-US" altLang="zh-CN" sz="2400" u="sng" dirty="0" smtClean="0">
                <a:latin typeface="微软雅黑" panose="020B0503020204020204" charset="-122"/>
                <a:ea typeface="微软雅黑" panose="020B0503020204020204" charset="-122"/>
              </a:rPr>
              <a:t>        </a:t>
            </a:r>
            <a:r>
              <a:rPr lang="zh-CN" altLang="zh-CN" sz="2400" dirty="0">
                <a:latin typeface="微软雅黑" panose="020B0503020204020204" charset="-122"/>
                <a:ea typeface="微软雅黑" panose="020B0503020204020204" charset="-122"/>
              </a:rPr>
              <a:t>之间的交接界面。</a:t>
            </a:r>
            <a:endParaRPr lang="zh-CN" altLang="zh-CN" sz="2400" dirty="0">
              <a:latin typeface="微软雅黑" panose="020B0503020204020204" charset="-122"/>
              <a:ea typeface="微软雅黑" panose="020B0503020204020204" charset="-122"/>
            </a:endParaRPr>
          </a:p>
          <a:p>
            <a:pPr>
              <a:lnSpc>
                <a:spcPct val="130000"/>
              </a:lnSpc>
              <a:spcBef>
                <a:spcPts val="0"/>
              </a:spcBef>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与存储器</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a:t>
            </a:r>
            <a:r>
              <a:rPr lang="zh-CN" altLang="zh-CN" sz="2400" b="1" dirty="0">
                <a:latin typeface="微软雅黑" panose="020B0503020204020204" charset="-122"/>
                <a:ea typeface="微软雅黑" panose="020B0503020204020204" charset="-122"/>
              </a:rPr>
              <a:t>．主机与外围设备 </a:t>
            </a:r>
            <a:endParaRPr lang="zh-CN" altLang="zh-CN" sz="2400" b="1" dirty="0">
              <a:latin typeface="微软雅黑" panose="020B0503020204020204" charset="-122"/>
              <a:ea typeface="微软雅黑" panose="020B0503020204020204" charset="-122"/>
            </a:endParaRPr>
          </a:p>
          <a:p>
            <a:pPr>
              <a:lnSpc>
                <a:spcPct val="13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C.  </a:t>
            </a:r>
            <a:r>
              <a:rPr lang="zh-CN" altLang="zh-CN" sz="2400" b="1" dirty="0" smtClean="0">
                <a:latin typeface="微软雅黑" panose="020B0503020204020204" charset="-122"/>
                <a:ea typeface="微软雅黑" panose="020B0503020204020204" charset="-122"/>
              </a:rPr>
              <a:t>存储器</a:t>
            </a:r>
            <a:r>
              <a:rPr lang="zh-CN" altLang="zh-CN" sz="2400" b="1" dirty="0">
                <a:latin typeface="微软雅黑" panose="020B0503020204020204" charset="-122"/>
                <a:ea typeface="微软雅黑" panose="020B0503020204020204" charset="-122"/>
              </a:rPr>
              <a:t>与外围设备</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D</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与系统</a:t>
            </a:r>
            <a:r>
              <a:rPr lang="zh-CN" altLang="zh-CN" sz="2400" b="1" dirty="0" smtClean="0">
                <a:latin typeface="微软雅黑" panose="020B0503020204020204" charset="-122"/>
                <a:ea typeface="微软雅黑" panose="020B0503020204020204" charset="-122"/>
              </a:rPr>
              <a:t>总线</a:t>
            </a:r>
            <a:endParaRPr lang="en-US" altLang="zh-CN" sz="2400" b="1" dirty="0" smtClean="0">
              <a:latin typeface="微软雅黑" panose="020B0503020204020204" charset="-122"/>
              <a:ea typeface="微软雅黑" panose="020B0503020204020204" charset="-122"/>
            </a:endParaRPr>
          </a:p>
          <a:p>
            <a:pPr>
              <a:lnSpc>
                <a:spcPct val="130000"/>
              </a:lnSpc>
              <a:spcBef>
                <a:spcPts val="1200"/>
              </a:spcBef>
            </a:pPr>
            <a:r>
              <a:rPr lang="zh-CN" altLang="en-US" sz="2400" dirty="0">
                <a:latin typeface="微软雅黑" panose="020B0503020204020204" charset="-122"/>
                <a:ea typeface="微软雅黑" panose="020B0503020204020204" charset="-122"/>
              </a:rPr>
              <a:t>判断题</a:t>
            </a:r>
            <a:endParaRPr lang="zh-CN" altLang="zh-CN" sz="2400" dirty="0">
              <a:latin typeface="微软雅黑" panose="020B0503020204020204" charset="-122"/>
              <a:ea typeface="微软雅黑" panose="020B0503020204020204" charset="-122"/>
            </a:endParaRPr>
          </a:p>
          <a:p>
            <a:pPr marL="342900" indent="-342900">
              <a:lnSpc>
                <a:spcPct val="13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适配器</a:t>
            </a:r>
            <a:r>
              <a:rPr lang="zh-CN" altLang="zh-CN" sz="2400" dirty="0">
                <a:latin typeface="微软雅黑" panose="020B0503020204020204" charset="-122"/>
                <a:ea typeface="微软雅黑" panose="020B0503020204020204" charset="-122"/>
              </a:rPr>
              <a:t>和系统总线接口的数据交换一定的是并行方式。</a:t>
            </a:r>
            <a:endParaRPr lang="zh-CN" altLang="zh-CN" sz="2400" dirty="0">
              <a:latin typeface="微软雅黑" panose="020B0503020204020204" charset="-122"/>
              <a:ea typeface="微软雅黑" panose="020B0503020204020204" charset="-122"/>
            </a:endParaRPr>
          </a:p>
          <a:p>
            <a:pPr>
              <a:lnSpc>
                <a:spcPct val="130000"/>
              </a:lnSpc>
              <a:spcBef>
                <a:spcPts val="0"/>
              </a:spcBef>
              <a:buClrTx/>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en-US" altLang="zh-CN" sz="2400" b="1" dirty="0">
                <a:latin typeface="微软雅黑" panose="020B0503020204020204" charset="-122"/>
                <a:ea typeface="微软雅黑" panose="020B0503020204020204" charset="-122"/>
              </a:rPr>
              <a:t>. </a:t>
            </a:r>
            <a:r>
              <a:rPr lang="zh-CN" altLang="zh-CN" sz="2400" b="1" dirty="0">
                <a:latin typeface="微软雅黑" panose="020B0503020204020204" charset="-122"/>
                <a:ea typeface="微软雅黑" panose="020B0503020204020204" charset="-122"/>
              </a:rPr>
              <a:t>错</a:t>
            </a:r>
            <a:endParaRPr lang="zh-CN" altLang="zh-CN" sz="2400" b="1" dirty="0">
              <a:latin typeface="微软雅黑" panose="020B0503020204020204" charset="-122"/>
              <a:ea typeface="微软雅黑" panose="020B0503020204020204" charset="-122"/>
            </a:endParaRPr>
          </a:p>
          <a:p>
            <a:pPr marL="342900" indent="-342900">
              <a:lnSpc>
                <a:spcPct val="13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适配器</a:t>
            </a:r>
            <a:r>
              <a:rPr lang="zh-CN" altLang="zh-CN" sz="2400" dirty="0">
                <a:latin typeface="微软雅黑" panose="020B0503020204020204" charset="-122"/>
                <a:ea typeface="微软雅黑" panose="020B0503020204020204" charset="-122"/>
              </a:rPr>
              <a:t>和外设接口的数据交换一定的是串行方式。</a:t>
            </a:r>
            <a:endParaRPr lang="zh-CN" altLang="zh-CN" sz="2400" dirty="0">
              <a:latin typeface="微软雅黑" panose="020B0503020204020204" charset="-122"/>
              <a:ea typeface="微软雅黑" panose="020B0503020204020204" charset="-122"/>
            </a:endParaRPr>
          </a:p>
          <a:p>
            <a:pPr>
              <a:lnSpc>
                <a:spcPct val="130000"/>
              </a:lnSpc>
              <a:spcBef>
                <a:spcPts val="0"/>
              </a:spcBef>
              <a:buClrTx/>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en-US" altLang="zh-CN" sz="2400" b="1" dirty="0">
                <a:latin typeface="微软雅黑" panose="020B0503020204020204" charset="-122"/>
                <a:ea typeface="微软雅黑" panose="020B0503020204020204" charset="-122"/>
              </a:rPr>
              <a:t>. </a:t>
            </a:r>
            <a:r>
              <a:rPr lang="zh-CN" altLang="zh-CN" sz="2400" b="1" dirty="0" smtClean="0">
                <a:latin typeface="微软雅黑" panose="020B0503020204020204" charset="-122"/>
                <a:ea typeface="微软雅黑" panose="020B0503020204020204" charset="-122"/>
              </a:rPr>
              <a:t>错</a:t>
            </a:r>
            <a:endParaRPr lang="zh-CN" altLang="zh-CN" sz="2400" b="1" dirty="0">
              <a:latin typeface="微软雅黑" panose="020B0503020204020204" charset="-122"/>
              <a:ea typeface="微软雅黑" panose="020B0503020204020204" charset="-122"/>
            </a:endParaRPr>
          </a:p>
        </p:txBody>
      </p:sp>
      <p:sp>
        <p:nvSpPr>
          <p:cNvPr id="9" name="椭圆 8"/>
          <p:cNvSpPr/>
          <p:nvPr/>
        </p:nvSpPr>
        <p:spPr bwMode="auto">
          <a:xfrm>
            <a:off x="4319136" y="189757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830555" y="39569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2473716" y="490352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2B3D6ED-07AA-45FC-B7EB-1BB9FE13DA6E}" type="slidenum">
              <a:rPr lang="en-US" altLang="zh-CN"/>
            </a:fld>
            <a:endParaRPr lang="en-US" altLang="zh-CN"/>
          </a:p>
        </p:txBody>
      </p:sp>
      <p:sp>
        <p:nvSpPr>
          <p:cNvPr id="20483" name="Rectangle 2"/>
          <p:cNvSpPr>
            <a:spLocks noGrp="1" noChangeArrowheads="1"/>
          </p:cNvSpPr>
          <p:nvPr>
            <p:ph type="title"/>
          </p:nvPr>
        </p:nvSpPr>
        <p:spPr>
          <a:xfrm>
            <a:off x="468313" y="260350"/>
            <a:ext cx="7543800" cy="858838"/>
          </a:xfrm>
        </p:spPr>
        <p:txBody>
          <a:bodyPr/>
          <a:lstStyle/>
          <a:p>
            <a:pPr eaLnBrk="1" hangingPunct="1"/>
            <a:r>
              <a:rPr lang="en-US" altLang="zh-CN" smtClean="0">
                <a:solidFill>
                  <a:schemeClr val="tx1"/>
                </a:solidFill>
                <a:cs typeface="Times New Roman" panose="02020603050405020304" pitchFamily="18" charset="0"/>
              </a:rPr>
              <a:t>6.3  </a:t>
            </a:r>
            <a:r>
              <a:rPr lang="zh-CN" altLang="en-US" smtClean="0">
                <a:solidFill>
                  <a:schemeClr val="tx1"/>
                </a:solidFill>
              </a:rPr>
              <a:t>总线的仲裁</a:t>
            </a:r>
            <a:endParaRPr lang="zh-CN" altLang="en-US" smtClean="0"/>
          </a:p>
        </p:txBody>
      </p:sp>
      <p:sp>
        <p:nvSpPr>
          <p:cNvPr id="20484" name="Rectangle 3"/>
          <p:cNvSpPr>
            <a:spLocks noGrp="1" noChangeArrowheads="1"/>
          </p:cNvSpPr>
          <p:nvPr>
            <p:ph type="body" idx="1"/>
          </p:nvPr>
        </p:nvSpPr>
        <p:spPr>
          <a:xfrm>
            <a:off x="395288" y="1196975"/>
            <a:ext cx="7489825" cy="5256213"/>
          </a:xfrm>
        </p:spPr>
        <p:txBody>
          <a:bodyPr/>
          <a:lstStyle/>
          <a:p>
            <a:pPr eaLnBrk="1" hangingPunct="1"/>
            <a:r>
              <a:rPr lang="zh-CN" altLang="en-US" smtClean="0">
                <a:latin typeface="宋体" panose="02010600030101010101" pitchFamily="2" charset="-122"/>
              </a:rPr>
              <a:t>连接到总线上的功能模块有主动和被动两种形态，其中主方可以启动一个总线周期，而从方只能响应主方请求。每次总线操作，只能有一个主方，但是可以有多个从方。 </a:t>
            </a:r>
            <a:endParaRPr lang="zh-CN" altLang="en-US" smtClean="0"/>
          </a:p>
          <a:p>
            <a:pPr eaLnBrk="1" hangingPunct="1"/>
            <a:r>
              <a:rPr lang="zh-CN" altLang="en-US" smtClean="0">
                <a:latin typeface="宋体" panose="02010600030101010101" pitchFamily="2" charset="-122"/>
              </a:rPr>
              <a:t>为了解决多个功能模块争用总线的问题，必须设置总线仲裁部件。 </a:t>
            </a:r>
            <a:endParaRPr lang="zh-CN" altLang="en-US" smtClean="0"/>
          </a:p>
          <a:p>
            <a:pPr eaLnBrk="1" hangingPunct="1"/>
            <a:r>
              <a:rPr lang="zh-CN" altLang="en-US" smtClean="0">
                <a:latin typeface="宋体" panose="02010600030101010101" pitchFamily="2" charset="-122"/>
              </a:rPr>
              <a:t>总线占用期：主方持续控制总线的时间。 </a:t>
            </a:r>
            <a:endParaRPr lang="zh-CN" altLang="en-US" smtClean="0"/>
          </a:p>
          <a:p>
            <a:pPr eaLnBrk="1" hangingPunct="1"/>
            <a:r>
              <a:rPr lang="zh-CN" altLang="en-US" smtClean="0">
                <a:latin typeface="宋体" panose="02010600030101010101" pitchFamily="2" charset="-122"/>
              </a:rPr>
              <a:t>按照总线仲裁电路的位置不同，仲裁方式分为集中式和分布式两种。</a:t>
            </a:r>
            <a:endParaRPr lang="zh-CN" altLang="en-US" smtClean="0">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3DECAED6-9F42-423E-88F9-658C67C09D39}" type="slidenum">
              <a:rPr lang="en-US" altLang="zh-CN"/>
            </a:fld>
            <a:endParaRPr lang="en-US" altLang="zh-CN"/>
          </a:p>
        </p:txBody>
      </p:sp>
      <p:sp>
        <p:nvSpPr>
          <p:cNvPr id="21507" name="Rectangle 2"/>
          <p:cNvSpPr>
            <a:spLocks noGrp="1" noChangeArrowheads="1"/>
          </p:cNvSpPr>
          <p:nvPr>
            <p:ph type="title"/>
          </p:nvPr>
        </p:nvSpPr>
        <p:spPr>
          <a:xfrm>
            <a:off x="468313" y="0"/>
            <a:ext cx="7543800" cy="765175"/>
          </a:xfrm>
        </p:spPr>
        <p:txBody>
          <a:bodyPr/>
          <a:lstStyle/>
          <a:p>
            <a:pPr eaLnBrk="1" hangingPunct="1"/>
            <a:r>
              <a:rPr lang="en-US" altLang="zh-CN" smtClean="0">
                <a:solidFill>
                  <a:schemeClr val="tx1"/>
                </a:solidFill>
                <a:latin typeface="宋体" panose="02010600030101010101" pitchFamily="2" charset="-122"/>
                <a:cs typeface="Times New Roman" panose="02020603050405020304" pitchFamily="18" charset="0"/>
              </a:rPr>
              <a:t>6.3.1 </a:t>
            </a:r>
            <a:r>
              <a:rPr lang="zh-CN" altLang="en-US" smtClean="0">
                <a:latin typeface="宋体" panose="02010600030101010101" pitchFamily="2" charset="-122"/>
              </a:rPr>
              <a:t>集中式仲裁</a:t>
            </a:r>
            <a:endParaRPr lang="zh-CN" altLang="en-US" smtClean="0">
              <a:latin typeface="宋体" panose="02010600030101010101" pitchFamily="2" charset="-122"/>
            </a:endParaRPr>
          </a:p>
        </p:txBody>
      </p:sp>
      <p:sp>
        <p:nvSpPr>
          <p:cNvPr id="21508" name="Rectangle 5"/>
          <p:cNvSpPr>
            <a:spLocks noChangeArrowheads="1"/>
          </p:cNvSpPr>
          <p:nvPr/>
        </p:nvSpPr>
        <p:spPr bwMode="auto">
          <a:xfrm>
            <a:off x="395288" y="765175"/>
            <a:ext cx="7561262" cy="1187450"/>
          </a:xfrm>
          <a:prstGeom prst="rect">
            <a:avLst/>
          </a:prstGeom>
          <a:noFill/>
          <a:ln w="9525">
            <a:noFill/>
            <a:miter lim="800000"/>
          </a:ln>
        </p:spPr>
        <p:txBody>
          <a:bodyPr anchor="ctr">
            <a:spAutoFit/>
          </a:bodyPr>
          <a:lstStyle/>
          <a:p>
            <a:pPr eaLnBrk="0" hangingPunct="0">
              <a:lnSpc>
                <a:spcPct val="100000"/>
              </a:lnSpc>
              <a:spcBef>
                <a:spcPct val="0"/>
              </a:spcBef>
              <a:buClrTx/>
              <a:buSzTx/>
              <a:buFontTx/>
              <a:buNone/>
            </a:pPr>
            <a:r>
              <a:rPr lang="en-US" altLang="zh-CN" sz="2400"/>
              <a:t>    </a:t>
            </a:r>
            <a:r>
              <a:rPr lang="zh-CN" altLang="en-US" sz="2400"/>
              <a:t>集中式仲裁中每个功能模块有两条线连到中央仲裁器：一条是送往仲裁器的总线请求信号线</a:t>
            </a:r>
            <a:r>
              <a:rPr lang="en-US" altLang="zh-CN" sz="2400"/>
              <a:t>BR</a:t>
            </a:r>
            <a:r>
              <a:rPr lang="zh-CN" altLang="en-US" sz="2400"/>
              <a:t>，一条是仲裁器送出的总线授权信号线</a:t>
            </a:r>
            <a:r>
              <a:rPr lang="en-US" altLang="zh-CN" sz="2400"/>
              <a:t>BG</a:t>
            </a:r>
            <a:r>
              <a:rPr lang="zh-CN" altLang="en-US" sz="2400"/>
              <a:t>。 </a:t>
            </a:r>
            <a:endParaRPr lang="zh-CN" altLang="en-US" sz="2400"/>
          </a:p>
        </p:txBody>
      </p:sp>
      <p:sp>
        <p:nvSpPr>
          <p:cNvPr id="21509" name="Rectangle 6"/>
          <p:cNvSpPr>
            <a:spLocks noChangeArrowheads="1"/>
          </p:cNvSpPr>
          <p:nvPr/>
        </p:nvSpPr>
        <p:spPr bwMode="auto">
          <a:xfrm>
            <a:off x="395288" y="4724400"/>
            <a:ext cx="8353425" cy="191770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zh-CN" altLang="en-US" sz="2400" b="1">
                <a:latin typeface="Arial" panose="020B0604020202020204" pitchFamily="34" charset="0"/>
              </a:rPr>
              <a:t>链式查询方式：</a:t>
            </a:r>
            <a:r>
              <a:rPr lang="zh-CN" altLang="en-US" sz="2400">
                <a:latin typeface="Arial" panose="020B0604020202020204" pitchFamily="34" charset="0"/>
              </a:rPr>
              <a:t>离中央仲裁器最近的设备具有最高优先权，离总线控制器越远，优先权越低。</a:t>
            </a:r>
            <a:endParaRPr lang="zh-CN" altLang="en-US" sz="2400">
              <a:latin typeface="Arial" panose="020B0604020202020204" pitchFamily="34" charset="0"/>
            </a:endParaRPr>
          </a:p>
          <a:p>
            <a:pPr lvl="1">
              <a:lnSpc>
                <a:spcPct val="100000"/>
              </a:lnSpc>
              <a:spcBef>
                <a:spcPct val="0"/>
              </a:spcBef>
              <a:buClrTx/>
              <a:buSzTx/>
              <a:buFontTx/>
              <a:buNone/>
            </a:pPr>
            <a:r>
              <a:rPr lang="zh-CN" altLang="en-US" sz="2400">
                <a:latin typeface="Arial" panose="020B0604020202020204" pitchFamily="34" charset="0"/>
              </a:rPr>
              <a:t>       </a:t>
            </a:r>
            <a:r>
              <a:rPr lang="zh-CN" altLang="en-US" sz="2400" b="1">
                <a:latin typeface="Arial" panose="020B0604020202020204" pitchFamily="34" charset="0"/>
              </a:rPr>
              <a:t>优点：</a:t>
            </a:r>
            <a:r>
              <a:rPr lang="zh-CN" altLang="en-US" sz="2400">
                <a:latin typeface="Arial" panose="020B0604020202020204" pitchFamily="34" charset="0"/>
              </a:rPr>
              <a:t>只用很少几根线就能按一定优先次序实现总线控制，并且这种链式结构很容易扩充设备。</a:t>
            </a:r>
            <a:endParaRPr lang="zh-CN" altLang="en-US" sz="2400">
              <a:latin typeface="Arial" panose="020B0604020202020204" pitchFamily="34" charset="0"/>
            </a:endParaRPr>
          </a:p>
          <a:p>
            <a:pPr lvl="1">
              <a:lnSpc>
                <a:spcPct val="100000"/>
              </a:lnSpc>
              <a:spcBef>
                <a:spcPct val="0"/>
              </a:spcBef>
              <a:buClrTx/>
              <a:buSzTx/>
              <a:buFontTx/>
              <a:buNone/>
            </a:pPr>
            <a:r>
              <a:rPr lang="zh-CN" altLang="en-US" sz="2400">
                <a:latin typeface="Arial" panose="020B0604020202020204" pitchFamily="34" charset="0"/>
              </a:rPr>
              <a:t>       </a:t>
            </a:r>
            <a:r>
              <a:rPr lang="zh-CN" altLang="en-US" sz="2400" b="1">
                <a:latin typeface="Arial" panose="020B0604020202020204" pitchFamily="34" charset="0"/>
              </a:rPr>
              <a:t>缺点：</a:t>
            </a:r>
            <a:r>
              <a:rPr lang="zh-CN" altLang="en-US" sz="2400">
                <a:latin typeface="Arial" panose="020B0604020202020204" pitchFamily="34" charset="0"/>
              </a:rPr>
              <a:t>是对询问链的电路故障很敏感，优先级固定</a:t>
            </a:r>
            <a:endParaRPr lang="zh-CN" altLang="en-US" sz="2400">
              <a:latin typeface="Arial" panose="020B0604020202020204" pitchFamily="34" charset="0"/>
            </a:endParaRPr>
          </a:p>
        </p:txBody>
      </p:sp>
      <p:pic>
        <p:nvPicPr>
          <p:cNvPr id="21510" name="Picture 9"/>
          <p:cNvPicPr>
            <a:picLocks noChangeAspect="1" noChangeArrowheads="1"/>
          </p:cNvPicPr>
          <p:nvPr/>
        </p:nvPicPr>
        <p:blipFill>
          <a:blip r:embed="rId1"/>
          <a:srcRect/>
          <a:stretch>
            <a:fillRect/>
          </a:stretch>
        </p:blipFill>
        <p:spPr bwMode="auto">
          <a:xfrm>
            <a:off x="395288" y="1916113"/>
            <a:ext cx="8353425" cy="27352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122DAC84-8408-4EA6-916F-1FAFB469A04B}" type="slidenum">
              <a:rPr lang="en-US" altLang="zh-CN"/>
            </a:fld>
            <a:endParaRPr lang="en-US" altLang="zh-CN"/>
          </a:p>
        </p:txBody>
      </p:sp>
      <p:sp>
        <p:nvSpPr>
          <p:cNvPr id="22531" name="Rectangle 3"/>
          <p:cNvSpPr>
            <a:spLocks noGrp="1" noChangeArrowheads="1"/>
          </p:cNvSpPr>
          <p:nvPr>
            <p:ph type="body" idx="1"/>
          </p:nvPr>
        </p:nvSpPr>
        <p:spPr>
          <a:xfrm>
            <a:off x="250825" y="3573463"/>
            <a:ext cx="8496300" cy="2952750"/>
          </a:xfrm>
          <a:solidFill>
            <a:srgbClr val="CCFFFF"/>
          </a:solidFill>
        </p:spPr>
        <p:txBody>
          <a:bodyPr/>
          <a:lstStyle/>
          <a:p>
            <a:pPr eaLnBrk="1" hangingPunct="1"/>
            <a:r>
              <a:rPr lang="zh-CN" altLang="en-US" sz="2600" b="1" smtClean="0">
                <a:latin typeface="宋体" panose="02010600030101010101" pitchFamily="2" charset="-122"/>
              </a:rPr>
              <a:t>计数器定时查询方式：</a:t>
            </a:r>
            <a:r>
              <a:rPr lang="zh-CN" altLang="en-US" sz="2600" smtClean="0">
                <a:latin typeface="宋体" panose="02010600030101010101" pitchFamily="2" charset="-122"/>
              </a:rPr>
              <a:t>总线上的任一设备要求使用总线时，通过</a:t>
            </a:r>
            <a:r>
              <a:rPr lang="en-US" altLang="zh-CN" sz="2600" smtClean="0">
                <a:latin typeface="宋体" panose="02010600030101010101" pitchFamily="2" charset="-122"/>
              </a:rPr>
              <a:t>BR</a:t>
            </a:r>
            <a:r>
              <a:rPr lang="zh-CN" altLang="en-US" sz="2600" smtClean="0">
                <a:latin typeface="宋体" panose="02010600030101010101" pitchFamily="2" charset="-122"/>
              </a:rPr>
              <a:t>线发出总线请求。中央仲裁器接到请求信号以后，在</a:t>
            </a:r>
            <a:r>
              <a:rPr lang="en-US" altLang="zh-CN" sz="2600" smtClean="0">
                <a:latin typeface="宋体" panose="02010600030101010101" pitchFamily="2" charset="-122"/>
              </a:rPr>
              <a:t>BS</a:t>
            </a:r>
            <a:r>
              <a:rPr lang="zh-CN" altLang="en-US" sz="2600" smtClean="0">
                <a:latin typeface="宋体" panose="02010600030101010101" pitchFamily="2" charset="-122"/>
              </a:rPr>
              <a:t>线为“</a:t>
            </a:r>
            <a:r>
              <a:rPr lang="en-US" altLang="zh-CN" sz="2600" smtClean="0">
                <a:latin typeface="宋体" panose="02010600030101010101" pitchFamily="2" charset="-122"/>
              </a:rPr>
              <a:t>0”</a:t>
            </a:r>
            <a:r>
              <a:rPr lang="zh-CN" altLang="en-US" sz="2600" smtClean="0">
                <a:latin typeface="宋体" panose="02010600030101010101" pitchFamily="2" charset="-122"/>
              </a:rPr>
              <a:t>的情况下让计数器开始计数，计数值通过一组地址线发向各设备。每个设备接口都有一个设备地址判别电路，当地址线上的计数值与请求总线的设备地址相一致时，该设备置“</a:t>
            </a:r>
            <a:r>
              <a:rPr lang="en-US" altLang="zh-CN" sz="2600" smtClean="0">
                <a:latin typeface="宋体" panose="02010600030101010101" pitchFamily="2" charset="-122"/>
              </a:rPr>
              <a:t>1”BS</a:t>
            </a:r>
            <a:r>
              <a:rPr lang="zh-CN" altLang="en-US" sz="2600" smtClean="0">
                <a:latin typeface="宋体" panose="02010600030101010101" pitchFamily="2" charset="-122"/>
              </a:rPr>
              <a:t>线，获得了总线使用权，此时中止计数查询。</a:t>
            </a:r>
            <a:endParaRPr lang="zh-CN" altLang="en-US" sz="2600" smtClean="0">
              <a:latin typeface="宋体" panose="02010600030101010101" pitchFamily="2" charset="-122"/>
            </a:endParaRPr>
          </a:p>
        </p:txBody>
      </p:sp>
      <p:pic>
        <p:nvPicPr>
          <p:cNvPr id="22532" name="Picture 6"/>
          <p:cNvPicPr>
            <a:picLocks noChangeAspect="1" noChangeArrowheads="1"/>
          </p:cNvPicPr>
          <p:nvPr/>
        </p:nvPicPr>
        <p:blipFill>
          <a:blip r:embed="rId1"/>
          <a:srcRect/>
          <a:stretch>
            <a:fillRect/>
          </a:stretch>
        </p:blipFill>
        <p:spPr bwMode="auto">
          <a:xfrm>
            <a:off x="323850" y="188913"/>
            <a:ext cx="8569325" cy="3311525"/>
          </a:xfrm>
          <a:prstGeom prst="rect">
            <a:avLst/>
          </a:prstGeom>
          <a:noFill/>
          <a:ln w="9525">
            <a:noFill/>
            <a:miter lim="800000"/>
            <a:headEnd/>
            <a:tailEnd/>
          </a:ln>
        </p:spPr>
      </p:pic>
      <p:sp>
        <p:nvSpPr>
          <p:cNvPr id="31751" name="Rectangle 7"/>
          <p:cNvSpPr>
            <a:spLocks noChangeArrowheads="1"/>
          </p:cNvSpPr>
          <p:nvPr/>
        </p:nvSpPr>
        <p:spPr bwMode="auto">
          <a:xfrm>
            <a:off x="250825" y="3573463"/>
            <a:ext cx="8496300" cy="3095625"/>
          </a:xfrm>
          <a:prstGeom prst="rect">
            <a:avLst/>
          </a:prstGeom>
          <a:solidFill>
            <a:srgbClr val="CCFFFF"/>
          </a:solidFill>
          <a:ln w="9525">
            <a:noFill/>
            <a:miter lim="800000"/>
          </a:ln>
        </p:spPr>
        <p:txBody>
          <a:bodyPr/>
          <a:lstStyle/>
          <a:p>
            <a:pPr marL="342900" indent="-342900">
              <a:lnSpc>
                <a:spcPct val="100000"/>
              </a:lnSpc>
              <a:buClr>
                <a:schemeClr val="tx2"/>
              </a:buClr>
              <a:buFont typeface="Wingdings" panose="05000000000000000000" pitchFamily="2" charset="2"/>
              <a:buChar char="l"/>
            </a:pPr>
            <a:r>
              <a:rPr lang="zh-CN" altLang="en-US" sz="2600"/>
              <a:t>每次计数可以从“</a:t>
            </a:r>
            <a:r>
              <a:rPr lang="en-US" altLang="zh-CN" sz="2600"/>
              <a:t>0”</a:t>
            </a:r>
            <a:r>
              <a:rPr lang="zh-CN" altLang="en-US" sz="2600"/>
              <a:t>开始，也可以从中止点开始。</a:t>
            </a:r>
            <a:endParaRPr lang="zh-CN" altLang="en-US" sz="2600"/>
          </a:p>
          <a:p>
            <a:pPr marL="342900" indent="-342900">
              <a:lnSpc>
                <a:spcPct val="100000"/>
              </a:lnSpc>
              <a:buClr>
                <a:schemeClr val="tx2"/>
              </a:buClr>
            </a:pPr>
            <a:r>
              <a:rPr lang="zh-CN" altLang="en-US" sz="2600"/>
              <a:t>      如果从“</a:t>
            </a:r>
            <a:r>
              <a:rPr lang="en-US" altLang="zh-CN" sz="2600"/>
              <a:t>0”</a:t>
            </a:r>
            <a:r>
              <a:rPr lang="zh-CN" altLang="en-US" sz="2600"/>
              <a:t>开始，各设备的优先次序与链式查询法相同，优先级的顺序是固定的。</a:t>
            </a:r>
            <a:endParaRPr lang="zh-CN" altLang="en-US" sz="2600"/>
          </a:p>
          <a:p>
            <a:pPr marL="342900" indent="-342900">
              <a:lnSpc>
                <a:spcPct val="100000"/>
              </a:lnSpc>
              <a:buClr>
                <a:schemeClr val="tx2"/>
              </a:buClr>
            </a:pPr>
            <a:r>
              <a:rPr lang="zh-CN" altLang="en-US" sz="2600"/>
              <a:t>      如果从中止点开始，则每个设备使用总线的优先级相等。</a:t>
            </a:r>
            <a:endParaRPr lang="zh-CN" altLang="en-US" sz="2600"/>
          </a:p>
          <a:p>
            <a:pPr marL="342900" indent="-342900">
              <a:lnSpc>
                <a:spcPct val="100000"/>
              </a:lnSpc>
              <a:buClr>
                <a:schemeClr val="tx2"/>
              </a:buClr>
              <a:buFont typeface="Wingdings" panose="05000000000000000000" pitchFamily="2" charset="2"/>
              <a:buChar char="l"/>
            </a:pPr>
            <a:r>
              <a:rPr lang="zh-CN" altLang="en-US" sz="2600"/>
              <a:t>计数器的初值也可用程序来设置，这可以方便地改变优先次序，但这种灵活性是以增加线数为代价的。</a:t>
            </a:r>
            <a:endParaRPr lang="zh-CN" altLang="en-US" sz="2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751"/>
                                        </p:tgtEl>
                                        <p:attrNameLst>
                                          <p:attrName>style.visibility</p:attrName>
                                        </p:attrNameLst>
                                      </p:cBhvr>
                                      <p:to>
                                        <p:strVal val="visible"/>
                                      </p:to>
                                    </p:set>
                                    <p:animEffect transition="in" filter="dissolve">
                                      <p:cBhvr>
                                        <p:cTn id="7"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51"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95D9C6A9-289F-4350-B675-83CFFA6BD223}" type="slidenum">
              <a:rPr lang="en-US" altLang="zh-CN"/>
            </a:fld>
            <a:endParaRPr lang="en-US" altLang="zh-CN"/>
          </a:p>
        </p:txBody>
      </p:sp>
      <p:sp>
        <p:nvSpPr>
          <p:cNvPr id="23555" name="Rectangle 8"/>
          <p:cNvSpPr>
            <a:spLocks noChangeArrowheads="1"/>
          </p:cNvSpPr>
          <p:nvPr/>
        </p:nvSpPr>
        <p:spPr bwMode="auto">
          <a:xfrm>
            <a:off x="250825" y="3789363"/>
            <a:ext cx="8424863" cy="2012950"/>
          </a:xfrm>
          <a:prstGeom prst="rect">
            <a:avLst/>
          </a:prstGeom>
          <a:solidFill>
            <a:srgbClr val="CCFFFF"/>
          </a:solidFill>
          <a:ln w="9525">
            <a:noFill/>
            <a:miter lim="800000"/>
          </a:ln>
        </p:spPr>
        <p:txBody>
          <a:bodyPr>
            <a:spAutoFit/>
          </a:bodyPr>
          <a:lstStyle/>
          <a:p>
            <a:pPr>
              <a:buClr>
                <a:schemeClr val="tx2"/>
              </a:buClr>
            </a:pPr>
            <a:r>
              <a:rPr lang="zh-CN" altLang="en-US" sz="2800" b="1"/>
              <a:t>独立请求方式：</a:t>
            </a:r>
            <a:r>
              <a:rPr lang="zh-CN" altLang="en-US" sz="2800"/>
              <a:t>每一个共享总线的设备均有一对总线请求线</a:t>
            </a:r>
            <a:r>
              <a:rPr lang="en-US" altLang="zh-CN" sz="2800"/>
              <a:t>BRi</a:t>
            </a:r>
            <a:r>
              <a:rPr lang="zh-CN" altLang="en-US" sz="2800"/>
              <a:t>和总线授权线</a:t>
            </a:r>
            <a:r>
              <a:rPr lang="en-US" altLang="zh-CN" sz="2800"/>
              <a:t>BGi</a:t>
            </a:r>
            <a:r>
              <a:rPr lang="zh-CN" altLang="en-US" sz="2800"/>
              <a:t>。当设备要求使用总线时，便发出该设备的请求信号。总线仲裁器中有一个排队电路，它根据一定的优先次序决定首先响应哪个设备的请求，给设备以授权信号</a:t>
            </a:r>
            <a:r>
              <a:rPr lang="en-US" altLang="zh-CN" sz="2800"/>
              <a:t>BGi</a:t>
            </a:r>
            <a:r>
              <a:rPr lang="zh-CN" altLang="en-US" sz="2800"/>
              <a:t>。</a:t>
            </a:r>
            <a:endParaRPr lang="zh-CN" altLang="en-US" sz="2800"/>
          </a:p>
        </p:txBody>
      </p:sp>
      <p:pic>
        <p:nvPicPr>
          <p:cNvPr id="23556" name="Picture 11"/>
          <p:cNvPicPr>
            <a:picLocks noChangeAspect="1" noChangeArrowheads="1"/>
          </p:cNvPicPr>
          <p:nvPr/>
        </p:nvPicPr>
        <p:blipFill>
          <a:blip r:embed="rId1"/>
          <a:srcRect/>
          <a:stretch>
            <a:fillRect/>
          </a:stretch>
        </p:blipFill>
        <p:spPr bwMode="auto">
          <a:xfrm>
            <a:off x="250825" y="0"/>
            <a:ext cx="8713788" cy="3644900"/>
          </a:xfrm>
          <a:prstGeom prst="rect">
            <a:avLst/>
          </a:prstGeom>
          <a:noFill/>
          <a:ln w="9525">
            <a:noFill/>
            <a:miter lim="800000"/>
            <a:headEnd/>
            <a:tailEnd/>
          </a:ln>
        </p:spPr>
      </p:pic>
      <p:sp>
        <p:nvSpPr>
          <p:cNvPr id="32780" name="Rectangle 12"/>
          <p:cNvSpPr>
            <a:spLocks noChangeArrowheads="1"/>
          </p:cNvSpPr>
          <p:nvPr/>
        </p:nvSpPr>
        <p:spPr bwMode="auto">
          <a:xfrm>
            <a:off x="228600" y="3810000"/>
            <a:ext cx="8610600" cy="2781300"/>
          </a:xfrm>
          <a:prstGeom prst="rect">
            <a:avLst/>
          </a:prstGeom>
          <a:solidFill>
            <a:srgbClr val="CCFFFF"/>
          </a:solidFill>
          <a:ln w="9525">
            <a:noFill/>
            <a:miter lim="800000"/>
          </a:ln>
        </p:spPr>
        <p:txBody>
          <a:bodyPr>
            <a:spAutoFit/>
          </a:bodyPr>
          <a:lstStyle/>
          <a:p>
            <a:pPr>
              <a:buClr>
                <a:schemeClr val="tx2"/>
              </a:buClr>
            </a:pPr>
            <a:r>
              <a:rPr lang="en-US" altLang="zh-CN" sz="2400"/>
              <a:t>    </a:t>
            </a:r>
            <a:r>
              <a:rPr lang="zh-CN" altLang="en-US" sz="2800"/>
              <a:t>独立请求方式的优点是响应时间快，即确定优先响应的设备所花费的时间少，用不着一个设备接一个设备地查询。其次，对优先次序的控制相当灵活。它可以预先固定，例如</a:t>
            </a:r>
            <a:r>
              <a:rPr lang="en-US" altLang="zh-CN" sz="2800"/>
              <a:t>BR0</a:t>
            </a:r>
            <a:r>
              <a:rPr lang="zh-CN" altLang="en-US" sz="2800"/>
              <a:t>优先级最高，</a:t>
            </a:r>
            <a:r>
              <a:rPr lang="en-US" altLang="zh-CN" sz="2800"/>
              <a:t>BR1</a:t>
            </a:r>
            <a:r>
              <a:rPr lang="zh-CN" altLang="en-US" sz="2800"/>
              <a:t>次之</a:t>
            </a:r>
            <a:r>
              <a:rPr lang="en-US" altLang="zh-CN" sz="2800"/>
              <a:t>…BRn</a:t>
            </a:r>
            <a:r>
              <a:rPr lang="zh-CN" altLang="en-US" sz="2800"/>
              <a:t>最低；也可以通过程序来改变优先次序；还可以用屏蔽（禁止）某个请求的办法，不响应来自无效设备的请求。因此当代总线标准普遍采用独立请求方式。</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2780"/>
                                        </p:tgtEl>
                                        <p:attrNameLst>
                                          <p:attrName>style.visibility</p:attrName>
                                        </p:attrNameLst>
                                      </p:cBhvr>
                                      <p:to>
                                        <p:strVal val="visible"/>
                                      </p:to>
                                    </p:set>
                                    <p:animEffect transition="in" filter="dissolve">
                                      <p:cBhvr>
                                        <p:cTn id="7" dur="500"/>
                                        <p:tgtEl>
                                          <p:spTgt spid="327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0"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C0B0A383-D0C3-45B0-8510-768430256EF2}" type="slidenum">
              <a:rPr lang="en-US" altLang="zh-CN"/>
            </a:fld>
            <a:endParaRPr lang="en-US" altLang="zh-CN"/>
          </a:p>
        </p:txBody>
      </p:sp>
      <p:pic>
        <p:nvPicPr>
          <p:cNvPr id="24579" name="Picture 3" descr="6a10"/>
          <p:cNvPicPr>
            <a:picLocks noChangeAspect="1" noChangeArrowheads="1"/>
          </p:cNvPicPr>
          <p:nvPr/>
        </p:nvPicPr>
        <p:blipFill>
          <a:blip r:embed="rId1"/>
          <a:srcRect/>
          <a:stretch>
            <a:fillRect/>
          </a:stretch>
        </p:blipFill>
        <p:spPr bwMode="auto">
          <a:xfrm>
            <a:off x="323850" y="981075"/>
            <a:ext cx="7848600" cy="5688013"/>
          </a:xfrm>
          <a:prstGeom prst="rect">
            <a:avLst/>
          </a:prstGeom>
          <a:noFill/>
          <a:ln w="9525">
            <a:noFill/>
            <a:miter lim="800000"/>
            <a:headEnd/>
            <a:tailEnd/>
          </a:ln>
        </p:spPr>
      </p:pic>
      <p:sp>
        <p:nvSpPr>
          <p:cNvPr id="24580" name="Rectangle 5"/>
          <p:cNvSpPr>
            <a:spLocks noChangeArrowheads="1"/>
          </p:cNvSpPr>
          <p:nvPr/>
        </p:nvSpPr>
        <p:spPr bwMode="auto">
          <a:xfrm>
            <a:off x="611188" y="188913"/>
            <a:ext cx="2478087" cy="641350"/>
          </a:xfrm>
          <a:prstGeom prst="rect">
            <a:avLst/>
          </a:prstGeom>
          <a:noFill/>
          <a:ln w="9525">
            <a:noFill/>
            <a:miter lim="800000"/>
          </a:ln>
        </p:spPr>
        <p:txBody>
          <a:bodyPr wrap="none">
            <a:spAutoFit/>
          </a:bodyPr>
          <a:lstStyle/>
          <a:p>
            <a:pPr>
              <a:lnSpc>
                <a:spcPct val="100000"/>
              </a:lnSpc>
              <a:spcBef>
                <a:spcPct val="0"/>
              </a:spcBef>
              <a:buClrTx/>
              <a:buSzTx/>
              <a:buFontTx/>
              <a:buNone/>
            </a:pPr>
            <a:r>
              <a:rPr lang="zh-CN" altLang="en-US" sz="3600" b="1">
                <a:solidFill>
                  <a:schemeClr val="tx2"/>
                </a:solidFill>
                <a:latin typeface="Arial" panose="020B0604020202020204" pitchFamily="34" charset="0"/>
              </a:rPr>
              <a:t>集中式仲裁</a:t>
            </a:r>
            <a:endParaRPr lang="zh-CN" altLang="en-US" sz="3600" b="1">
              <a:solidFill>
                <a:schemeClr val="tx2"/>
              </a:solidFill>
              <a:latin typeface="Arial" panose="020B0604020202020204" pitchFamily="34" charset="0"/>
            </a:endParaRPr>
          </a:p>
        </p:txBody>
      </p:sp>
      <p:pic>
        <p:nvPicPr>
          <p:cNvPr id="24581" name="Picture 6">
            <a:hlinkClick r:id="rId2" action="ppaction://hlinkfile"/>
          </p:cNvPr>
          <p:cNvPicPr>
            <a:picLocks noChangeAspect="1" noChangeArrowheads="1"/>
          </p:cNvPicPr>
          <p:nvPr/>
        </p:nvPicPr>
        <p:blipFill>
          <a:blip r:embed="rId3"/>
          <a:srcRect/>
          <a:stretch>
            <a:fillRect/>
          </a:stretch>
        </p:blipFill>
        <p:spPr bwMode="auto">
          <a:xfrm>
            <a:off x="7667625" y="5805488"/>
            <a:ext cx="409575" cy="381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5D272C2-FE6D-4CB9-80F8-7D9639F1FED0}" type="slidenum">
              <a:rPr lang="en-US" altLang="zh-CN"/>
            </a:fld>
            <a:endParaRPr lang="en-US" altLang="zh-CN"/>
          </a:p>
        </p:txBody>
      </p:sp>
      <p:sp>
        <p:nvSpPr>
          <p:cNvPr id="25603" name="Rectangle 2"/>
          <p:cNvSpPr>
            <a:spLocks noGrp="1" noChangeArrowheads="1"/>
          </p:cNvSpPr>
          <p:nvPr>
            <p:ph type="title"/>
          </p:nvPr>
        </p:nvSpPr>
        <p:spPr>
          <a:xfrm>
            <a:off x="468313" y="260350"/>
            <a:ext cx="7543800" cy="785813"/>
          </a:xfrm>
        </p:spPr>
        <p:txBody>
          <a:bodyPr/>
          <a:lstStyle/>
          <a:p>
            <a:pPr eaLnBrk="1" hangingPunct="1"/>
            <a:r>
              <a:rPr lang="en-US" altLang="zh-CN" smtClean="0">
                <a:solidFill>
                  <a:schemeClr val="tx1"/>
                </a:solidFill>
                <a:cs typeface="Times New Roman" panose="02020603050405020304" pitchFamily="18" charset="0"/>
              </a:rPr>
              <a:t>6.3.2</a:t>
            </a:r>
            <a:r>
              <a:rPr lang="zh-CN" altLang="en-US" smtClean="0">
                <a:latin typeface="宋体" panose="02010600030101010101" pitchFamily="2" charset="-122"/>
              </a:rPr>
              <a:t>分布式仲裁</a:t>
            </a:r>
            <a:endParaRPr lang="zh-CN" altLang="en-US" smtClean="0">
              <a:solidFill>
                <a:schemeClr val="tx1"/>
              </a:solidFill>
            </a:endParaRPr>
          </a:p>
        </p:txBody>
      </p:sp>
      <p:sp>
        <p:nvSpPr>
          <p:cNvPr id="25604" name="Rectangle 4"/>
          <p:cNvSpPr>
            <a:spLocks noChangeArrowheads="1"/>
          </p:cNvSpPr>
          <p:nvPr/>
        </p:nvSpPr>
        <p:spPr bwMode="auto">
          <a:xfrm>
            <a:off x="468313" y="1268413"/>
            <a:ext cx="7488237" cy="4965700"/>
          </a:xfrm>
          <a:prstGeom prst="rect">
            <a:avLst/>
          </a:prstGeom>
          <a:noFill/>
          <a:ln w="9525">
            <a:noFill/>
            <a:miter lim="800000"/>
          </a:ln>
        </p:spPr>
        <p:txBody>
          <a:bodyPr>
            <a:spAutoFit/>
          </a:bodyPr>
          <a:lstStyle/>
          <a:p>
            <a:pPr>
              <a:lnSpc>
                <a:spcPct val="100000"/>
              </a:lnSpc>
              <a:buClr>
                <a:schemeClr val="tx2"/>
              </a:buClr>
            </a:pPr>
            <a:r>
              <a:rPr lang="en-US" altLang="zh-CN" sz="3200">
                <a:latin typeface="Arial" panose="020B0604020202020204" pitchFamily="34" charset="0"/>
              </a:rPr>
              <a:t>        </a:t>
            </a:r>
            <a:r>
              <a:rPr lang="zh-CN" altLang="en-US" sz="3200">
                <a:latin typeface="Arial" panose="020B0604020202020204" pitchFamily="34" charset="0"/>
              </a:rPr>
              <a:t>分布式仲裁：不需要中央仲裁器，而是多个仲裁器竞争使用总线。当它们有总线请求时，把它们唯一的仲裁号发送到共享的仲裁总线上，每个仲裁器将仲裁总线上得到的号与自己的号进行比较。如果仲裁总线上的号大，则它的总线请求不予响应，并撤消它的仲裁号。最后，获胜者的仲裁号保留在仲裁总线上。显然，分布式仲裁是以优先级仲裁策略为基础。</a:t>
            </a:r>
            <a:endParaRPr lang="zh-CN" altLang="en-US" sz="32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A6C84735-5F07-4F84-B6D8-C7585E320B2C}" type="slidenum">
              <a:rPr lang="en-US" altLang="zh-CN"/>
            </a:fld>
            <a:endParaRPr lang="en-US" altLang="zh-CN"/>
          </a:p>
        </p:txBody>
      </p:sp>
      <p:sp>
        <p:nvSpPr>
          <p:cNvPr id="26627" name="Rectangle 3"/>
          <p:cNvSpPr>
            <a:spLocks noGrp="1" noChangeArrowheads="1"/>
          </p:cNvSpPr>
          <p:nvPr>
            <p:ph type="body" idx="1"/>
          </p:nvPr>
        </p:nvSpPr>
        <p:spPr>
          <a:xfrm>
            <a:off x="323850" y="188913"/>
            <a:ext cx="8229600" cy="630237"/>
          </a:xfrm>
        </p:spPr>
        <p:txBody>
          <a:bodyPr/>
          <a:lstStyle/>
          <a:p>
            <a:pPr eaLnBrk="1" hangingPunct="1">
              <a:buFont typeface="Wingdings" panose="05000000000000000000" pitchFamily="2" charset="2"/>
              <a:buNone/>
            </a:pPr>
            <a:r>
              <a:rPr lang="zh-CN" altLang="en-US" smtClean="0">
                <a:latin typeface="宋体" panose="02010600030101010101" pitchFamily="2" charset="-122"/>
              </a:rPr>
              <a:t>分布式仲裁示意图</a:t>
            </a:r>
            <a:endParaRPr lang="zh-CN" altLang="en-US" smtClean="0">
              <a:latin typeface="宋体" panose="02010600030101010101" pitchFamily="2" charset="-122"/>
            </a:endParaRPr>
          </a:p>
        </p:txBody>
      </p:sp>
      <p:pic>
        <p:nvPicPr>
          <p:cNvPr id="26628" name="Picture 4" descr="6a11"/>
          <p:cNvPicPr>
            <a:picLocks noChangeAspect="1" noChangeArrowheads="1"/>
          </p:cNvPicPr>
          <p:nvPr/>
        </p:nvPicPr>
        <p:blipFill>
          <a:blip r:embed="rId1"/>
          <a:srcRect/>
          <a:stretch>
            <a:fillRect/>
          </a:stretch>
        </p:blipFill>
        <p:spPr bwMode="auto">
          <a:xfrm>
            <a:off x="228600" y="762000"/>
            <a:ext cx="8713788" cy="4537075"/>
          </a:xfrm>
          <a:prstGeom prst="rect">
            <a:avLst/>
          </a:prstGeom>
          <a:noFill/>
          <a:ln w="9525">
            <a:noFill/>
            <a:miter lim="800000"/>
            <a:headEnd/>
            <a:tailEnd/>
          </a:ln>
        </p:spPr>
      </p:pic>
      <p:sp>
        <p:nvSpPr>
          <p:cNvPr id="36870" name="Rectangle 6"/>
          <p:cNvSpPr>
            <a:spLocks noChangeArrowheads="1"/>
          </p:cNvSpPr>
          <p:nvPr/>
        </p:nvSpPr>
        <p:spPr bwMode="auto">
          <a:xfrm>
            <a:off x="304800" y="5257800"/>
            <a:ext cx="8569325" cy="1066800"/>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3</a:t>
            </a:r>
            <a:r>
              <a:rPr lang="zh-CN" altLang="en-US" sz="2400"/>
              <a:t>）竞争不到的设备自动撤除其竞争号。在竞争期间，由于</a:t>
            </a:r>
            <a:r>
              <a:rPr lang="en-US" altLang="zh-CN" sz="2400"/>
              <a:t>W</a:t>
            </a:r>
            <a:r>
              <a:rPr lang="zh-CN" altLang="en-US" sz="2400"/>
              <a:t>位输入的作用，各设备在其内部的</a:t>
            </a:r>
            <a:r>
              <a:rPr lang="en-US" altLang="zh-CN" sz="2400"/>
              <a:t>CN</a:t>
            </a:r>
            <a:r>
              <a:rPr lang="zh-CN" altLang="en-US" sz="2400"/>
              <a:t>线上保留其竞争号并不破坏</a:t>
            </a:r>
            <a:r>
              <a:rPr lang="en-US" altLang="zh-CN" sz="2400"/>
              <a:t>AB</a:t>
            </a:r>
            <a:r>
              <a:rPr lang="zh-CN" altLang="en-US" sz="2400"/>
              <a:t>线上的信息。</a:t>
            </a:r>
            <a:endParaRPr lang="zh-CN" altLang="en-US" sz="2400"/>
          </a:p>
        </p:txBody>
      </p:sp>
      <p:sp>
        <p:nvSpPr>
          <p:cNvPr id="36871" name="Rectangle 7"/>
          <p:cNvSpPr>
            <a:spLocks noChangeArrowheads="1"/>
          </p:cNvSpPr>
          <p:nvPr/>
        </p:nvSpPr>
        <p:spPr bwMode="auto">
          <a:xfrm>
            <a:off x="304800" y="5257800"/>
            <a:ext cx="8569325" cy="1447800"/>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2</a:t>
            </a:r>
            <a:r>
              <a:rPr lang="zh-CN" altLang="en-US" sz="2400"/>
              <a:t>）竞争时</a:t>
            </a:r>
            <a:r>
              <a:rPr lang="en-US" altLang="zh-CN" sz="2400"/>
              <a:t>CN</a:t>
            </a:r>
            <a:r>
              <a:rPr lang="zh-CN" altLang="en-US" sz="2400"/>
              <a:t>与</a:t>
            </a:r>
            <a:r>
              <a:rPr lang="en-US" altLang="zh-CN" sz="2400"/>
              <a:t>AB</a:t>
            </a:r>
            <a:r>
              <a:rPr lang="zh-CN" altLang="en-US" sz="2400"/>
              <a:t>逐位比较，从最高位</a:t>
            </a:r>
            <a:r>
              <a:rPr lang="en-US" altLang="zh-CN" sz="2400"/>
              <a:t>(b7)</a:t>
            </a:r>
            <a:r>
              <a:rPr lang="zh-CN" altLang="en-US" sz="2400"/>
              <a:t>至最低位</a:t>
            </a:r>
            <a:r>
              <a:rPr lang="en-US" altLang="zh-CN" sz="2400"/>
              <a:t>(b0)</a:t>
            </a:r>
            <a:r>
              <a:rPr lang="zh-CN" altLang="en-US" sz="2400"/>
              <a:t>以一维菊花链方式进行，只有上一位竞争得胜者</a:t>
            </a:r>
            <a:r>
              <a:rPr lang="en-US" altLang="zh-CN" sz="2400"/>
              <a:t>Wi+1</a:t>
            </a:r>
            <a:r>
              <a:rPr lang="zh-CN" altLang="en-US" sz="2400"/>
              <a:t>位为</a:t>
            </a:r>
            <a:r>
              <a:rPr lang="en-US" altLang="zh-CN" sz="2400"/>
              <a:t>1</a:t>
            </a:r>
            <a:r>
              <a:rPr lang="zh-CN" altLang="en-US" sz="2400"/>
              <a:t>。当</a:t>
            </a:r>
            <a:r>
              <a:rPr lang="en-US" altLang="zh-CN" sz="2400"/>
              <a:t>CNi=1</a:t>
            </a:r>
            <a:r>
              <a:rPr lang="zh-CN" altLang="en-US" sz="2400"/>
              <a:t>，或</a:t>
            </a:r>
            <a:r>
              <a:rPr lang="en-US" altLang="zh-CN" sz="2400"/>
              <a:t>CNi=0</a:t>
            </a:r>
            <a:r>
              <a:rPr lang="zh-CN" altLang="en-US" sz="2400"/>
              <a:t>且</a:t>
            </a:r>
            <a:r>
              <a:rPr lang="en-US" altLang="zh-CN" sz="2400"/>
              <a:t>ABi</a:t>
            </a:r>
            <a:r>
              <a:rPr lang="zh-CN" altLang="en-US" sz="2400"/>
              <a:t>为高电平时，才使</a:t>
            </a:r>
            <a:r>
              <a:rPr lang="en-US" altLang="zh-CN" sz="2400"/>
              <a:t>Wi</a:t>
            </a:r>
            <a:r>
              <a:rPr lang="zh-CN" altLang="en-US" sz="2400"/>
              <a:t>位为</a:t>
            </a:r>
            <a:r>
              <a:rPr lang="en-US" altLang="zh-CN" sz="2400"/>
              <a:t>1</a:t>
            </a:r>
            <a:r>
              <a:rPr lang="zh-CN" altLang="en-US" sz="2400"/>
              <a:t>。若</a:t>
            </a:r>
            <a:r>
              <a:rPr lang="en-US" altLang="zh-CN" sz="2400"/>
              <a:t>Wi=0</a:t>
            </a:r>
            <a:r>
              <a:rPr lang="zh-CN" altLang="en-US" sz="2400"/>
              <a:t>时，将一直向下传递，使其竞争号后面的低位不能送上</a:t>
            </a:r>
            <a:r>
              <a:rPr lang="en-US" altLang="zh-CN" sz="2400"/>
              <a:t>AB</a:t>
            </a:r>
            <a:r>
              <a:rPr lang="zh-CN" altLang="en-US" sz="2400"/>
              <a:t>线。</a:t>
            </a:r>
            <a:endParaRPr lang="zh-CN" altLang="en-US" sz="2400"/>
          </a:p>
        </p:txBody>
      </p:sp>
      <p:sp>
        <p:nvSpPr>
          <p:cNvPr id="36872" name="Rectangle 8"/>
          <p:cNvSpPr>
            <a:spLocks noChangeArrowheads="1"/>
          </p:cNvSpPr>
          <p:nvPr/>
        </p:nvSpPr>
        <p:spPr bwMode="auto">
          <a:xfrm>
            <a:off x="304800" y="5257800"/>
            <a:ext cx="8569325" cy="1412875"/>
          </a:xfrm>
          <a:prstGeom prst="rect">
            <a:avLst/>
          </a:prstGeom>
          <a:solidFill>
            <a:srgbClr val="CCFFFF"/>
          </a:solidFill>
          <a:ln w="9525">
            <a:noFill/>
            <a:miter lim="800000"/>
          </a:ln>
        </p:spPr>
        <p:txBody>
          <a:bodyPr/>
          <a:lstStyle/>
          <a:p>
            <a:pPr marL="342900" indent="-342900">
              <a:buClr>
                <a:schemeClr val="tx2"/>
              </a:buClr>
            </a:pPr>
            <a:r>
              <a:rPr lang="zh-CN" altLang="en-US" sz="2400"/>
              <a:t>（</a:t>
            </a:r>
            <a:r>
              <a:rPr lang="en-US" altLang="zh-CN" sz="2400"/>
              <a:t>1</a:t>
            </a:r>
            <a:r>
              <a:rPr lang="zh-CN" altLang="en-US" sz="2400"/>
              <a:t>）所有参与本次竞争的各主设备将设备竞争号</a:t>
            </a:r>
            <a:r>
              <a:rPr lang="en-US" altLang="zh-CN" sz="2400"/>
              <a:t>CN</a:t>
            </a:r>
            <a:r>
              <a:rPr lang="zh-CN" altLang="en-US" sz="2400"/>
              <a:t>取反后打到仲裁总线</a:t>
            </a:r>
            <a:r>
              <a:rPr lang="en-US" altLang="zh-CN" sz="2400"/>
              <a:t>AB</a:t>
            </a:r>
            <a:r>
              <a:rPr lang="zh-CN" altLang="en-US" sz="2400"/>
              <a:t>上，以实现“线或”逻辑。</a:t>
            </a:r>
            <a:r>
              <a:rPr lang="en-US" altLang="zh-CN" sz="2400"/>
              <a:t>AB</a:t>
            </a:r>
            <a:r>
              <a:rPr lang="zh-CN" altLang="en-US" sz="2400"/>
              <a:t>线低电平时表示至少有一个主设备的</a:t>
            </a:r>
            <a:r>
              <a:rPr lang="en-US" altLang="zh-CN" sz="2400"/>
              <a:t>CNi</a:t>
            </a:r>
            <a:r>
              <a:rPr lang="zh-CN" altLang="en-US" sz="2400"/>
              <a:t>为</a:t>
            </a:r>
            <a:r>
              <a:rPr lang="en-US" altLang="zh-CN" sz="2400"/>
              <a:t>1</a:t>
            </a:r>
            <a:r>
              <a:rPr lang="zh-CN" altLang="en-US" sz="2400"/>
              <a:t>，</a:t>
            </a:r>
            <a:r>
              <a:rPr lang="en-US" altLang="zh-CN" sz="2400"/>
              <a:t>AB</a:t>
            </a:r>
            <a:r>
              <a:rPr lang="zh-CN" altLang="en-US" sz="2400"/>
              <a:t>线高电平时表示所有主设备的</a:t>
            </a:r>
            <a:r>
              <a:rPr lang="en-US" altLang="zh-CN" sz="2400"/>
              <a:t>CNi</a:t>
            </a:r>
            <a:r>
              <a:rPr lang="zh-CN" altLang="en-US" sz="2400"/>
              <a:t>为</a:t>
            </a:r>
            <a:r>
              <a:rPr lang="en-US" altLang="zh-CN" sz="2400"/>
              <a:t>0</a:t>
            </a:r>
            <a:r>
              <a:rPr lang="zh-CN" altLang="en-US" sz="2400"/>
              <a:t>。</a:t>
            </a:r>
            <a:endParaRPr lang="zh-CN" altLang="en-US" sz="2400"/>
          </a:p>
        </p:txBody>
      </p:sp>
      <p:sp>
        <p:nvSpPr>
          <p:cNvPr id="36873" name="Rectangle 9"/>
          <p:cNvSpPr>
            <a:spLocks noChangeArrowheads="1"/>
          </p:cNvSpPr>
          <p:nvPr/>
        </p:nvSpPr>
        <p:spPr bwMode="auto">
          <a:xfrm>
            <a:off x="304800" y="5334000"/>
            <a:ext cx="8569325" cy="1066800"/>
          </a:xfrm>
          <a:prstGeom prst="rect">
            <a:avLst/>
          </a:prstGeom>
          <a:solidFill>
            <a:srgbClr val="CCFFFF"/>
          </a:solidFill>
          <a:ln w="9525">
            <a:noFill/>
            <a:miter lim="800000"/>
          </a:ln>
        </p:spPr>
        <p:txBody>
          <a:bodyPr/>
          <a:lstStyle/>
          <a:p>
            <a:pPr marL="342900" indent="-342900">
              <a:buClr>
                <a:schemeClr val="tx2"/>
              </a:buClr>
            </a:pPr>
            <a:r>
              <a:rPr lang="zh-CN" altLang="en-US" sz="2400" dirty="0"/>
              <a:t>（</a:t>
            </a:r>
            <a:r>
              <a:rPr lang="en-US" altLang="zh-CN" sz="2400" dirty="0"/>
              <a:t>4</a:t>
            </a:r>
            <a:r>
              <a:rPr lang="zh-CN" altLang="en-US" sz="2400" dirty="0"/>
              <a:t>）由于参加竞争的各设备速度不一致，这个比较过程反复（自动）进行，才有最后稳定的结果。竞争期的时间要足够，保证最慢的设备也能参与竞争。</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872"/>
                                        </p:tgtEl>
                                        <p:attrNameLst>
                                          <p:attrName>style.visibility</p:attrName>
                                        </p:attrNameLst>
                                      </p:cBhvr>
                                      <p:to>
                                        <p:strVal val="visible"/>
                                      </p:to>
                                    </p:set>
                                    <p:animEffect transition="in" filter="dissolve">
                                      <p:cBhvr>
                                        <p:cTn id="7" dur="500"/>
                                        <p:tgtEl>
                                          <p:spTgt spid="36872"/>
                                        </p:tgtEl>
                                      </p:cBhvr>
                                    </p:animEffect>
                                  </p:childTnLst>
                                  <p:subTnLst>
                                    <p:set>
                                      <p:cBhvr override="childStyle">
                                        <p:cTn dur="1" fill="hold" display="0" masterRel="nextClick" afterEffect="1"/>
                                        <p:tgtEl>
                                          <p:spTgt spid="3687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6871"/>
                                        </p:tgtEl>
                                        <p:attrNameLst>
                                          <p:attrName>style.visibility</p:attrName>
                                        </p:attrNameLst>
                                      </p:cBhvr>
                                      <p:to>
                                        <p:strVal val="visible"/>
                                      </p:to>
                                    </p:set>
                                    <p:animEffect transition="in" filter="dissolve">
                                      <p:cBhvr>
                                        <p:cTn id="12" dur="500"/>
                                        <p:tgtEl>
                                          <p:spTgt spid="36871"/>
                                        </p:tgtEl>
                                      </p:cBhvr>
                                    </p:animEffect>
                                  </p:childTnLst>
                                  <p:subTnLst>
                                    <p:set>
                                      <p:cBhvr override="childStyle">
                                        <p:cTn dur="1" fill="hold" display="0" masterRel="nextClick" afterEffect="1"/>
                                        <p:tgtEl>
                                          <p:spTgt spid="3687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870"/>
                                        </p:tgtEl>
                                        <p:attrNameLst>
                                          <p:attrName>style.visibility</p:attrName>
                                        </p:attrNameLst>
                                      </p:cBhvr>
                                      <p:to>
                                        <p:strVal val="visible"/>
                                      </p:to>
                                    </p:set>
                                    <p:animEffect transition="in" filter="dissolve">
                                      <p:cBhvr>
                                        <p:cTn id="17" dur="500"/>
                                        <p:tgtEl>
                                          <p:spTgt spid="36870"/>
                                        </p:tgtEl>
                                      </p:cBhvr>
                                    </p:animEffect>
                                  </p:childTnLst>
                                  <p:subTnLst>
                                    <p:set>
                                      <p:cBhvr override="childStyle">
                                        <p:cTn dur="1" fill="hold" display="0" masterRel="nextClick" afterEffect="1"/>
                                        <p:tgtEl>
                                          <p:spTgt spid="36870"/>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6873"/>
                                        </p:tgtEl>
                                        <p:attrNameLst>
                                          <p:attrName>style.visibility</p:attrName>
                                        </p:attrNameLst>
                                      </p:cBhvr>
                                      <p:to>
                                        <p:strVal val="visible"/>
                                      </p:to>
                                    </p:set>
                                    <p:animEffect transition="in" filter="dissolve">
                                      <p:cBhvr>
                                        <p:cTn id="22" dur="500"/>
                                        <p:tgtEl>
                                          <p:spTgt spid="36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0" grpId="0" animBg="1" autoUpdateAnimBg="0"/>
      <p:bldP spid="36871" grpId="0" animBg="1" autoUpdateAnimBg="0"/>
      <p:bldP spid="36872" grpId="0" animBg="1" autoUpdateAnimBg="0"/>
      <p:bldP spid="36873"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3"/>
          <p:cNvSpPr>
            <a:spLocks noGrp="1"/>
          </p:cNvSpPr>
          <p:nvPr>
            <p:ph type="sldNum" sz="quarter" idx="12"/>
          </p:nvPr>
        </p:nvSpPr>
        <p:spPr/>
        <p:txBody>
          <a:bodyPr/>
          <a:lstStyle/>
          <a:p>
            <a:pPr>
              <a:defRPr/>
            </a:pPr>
            <a:fld id="{3AB1BDEF-FAF9-4CF3-B63A-E9C3715F5859}" type="slidenum">
              <a:rPr lang="en-US" altLang="zh-CN"/>
            </a:fld>
            <a:endParaRPr lang="en-US" altLang="zh-CN"/>
          </a:p>
        </p:txBody>
      </p:sp>
      <p:graphicFrame>
        <p:nvGraphicFramePr>
          <p:cNvPr id="27651" name="Object 23"/>
          <p:cNvGraphicFramePr>
            <a:graphicFrameLocks noChangeAspect="1"/>
          </p:cNvGraphicFramePr>
          <p:nvPr/>
        </p:nvGraphicFramePr>
        <p:xfrm>
          <a:off x="152400" y="304800"/>
          <a:ext cx="8763000" cy="5913438"/>
        </p:xfrm>
        <a:graphic>
          <a:graphicData uri="http://schemas.openxmlformats.org/presentationml/2006/ole">
            <mc:AlternateContent xmlns:mc="http://schemas.openxmlformats.org/markup-compatibility/2006">
              <mc:Choice xmlns:v="urn:schemas-microsoft-com:vml" Requires="v">
                <p:oleObj spid="_x0000_s27716" name="位图图像" r:id="rId1" imgW="7448550" imgH="4981575" progId="PBrush">
                  <p:embed/>
                </p:oleObj>
              </mc:Choice>
              <mc:Fallback>
                <p:oleObj name="位图图像" r:id="rId1" imgW="7448550" imgH="4981575" progId="PBrush">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04800"/>
                        <a:ext cx="8763000" cy="591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56" name="Text Box 24"/>
          <p:cNvSpPr txBox="1">
            <a:spLocks noChangeArrowheads="1"/>
          </p:cNvSpPr>
          <p:nvPr/>
        </p:nvSpPr>
        <p:spPr bwMode="auto">
          <a:xfrm>
            <a:off x="1600200" y="32004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endParaRPr lang="en-US" altLang="zh-CN" sz="3200" b="1">
              <a:solidFill>
                <a:srgbClr val="FF0000"/>
              </a:solidFill>
            </a:endParaRPr>
          </a:p>
        </p:txBody>
      </p:sp>
      <p:sp>
        <p:nvSpPr>
          <p:cNvPr id="95257" name="Text Box 25"/>
          <p:cNvSpPr txBox="1">
            <a:spLocks noChangeArrowheads="1"/>
          </p:cNvSpPr>
          <p:nvPr/>
        </p:nvSpPr>
        <p:spPr bwMode="auto">
          <a:xfrm>
            <a:off x="60960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endParaRPr lang="en-US" altLang="zh-CN" sz="3200" b="1">
              <a:solidFill>
                <a:srgbClr val="FF0000"/>
              </a:solidFill>
            </a:endParaRPr>
          </a:p>
        </p:txBody>
      </p:sp>
      <p:sp>
        <p:nvSpPr>
          <p:cNvPr id="95258" name="Text Box 26"/>
          <p:cNvSpPr txBox="1">
            <a:spLocks noChangeArrowheads="1"/>
          </p:cNvSpPr>
          <p:nvPr/>
        </p:nvSpPr>
        <p:spPr bwMode="auto">
          <a:xfrm>
            <a:off x="2133600" y="5334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endParaRPr lang="en-US" altLang="zh-CN" sz="3200" b="1">
              <a:solidFill>
                <a:srgbClr val="0000FF"/>
              </a:solidFill>
            </a:endParaRPr>
          </a:p>
        </p:txBody>
      </p:sp>
      <p:sp>
        <p:nvSpPr>
          <p:cNvPr id="95259" name="Text Box 27"/>
          <p:cNvSpPr txBox="1">
            <a:spLocks noChangeArrowheads="1"/>
          </p:cNvSpPr>
          <p:nvPr/>
        </p:nvSpPr>
        <p:spPr bwMode="auto">
          <a:xfrm>
            <a:off x="27432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endParaRPr lang="en-US" altLang="zh-CN" sz="3200" b="1">
              <a:solidFill>
                <a:srgbClr val="FF0000"/>
              </a:solidFill>
            </a:endParaRPr>
          </a:p>
        </p:txBody>
      </p:sp>
      <p:sp>
        <p:nvSpPr>
          <p:cNvPr id="95260" name="Text Box 28"/>
          <p:cNvSpPr txBox="1">
            <a:spLocks noChangeArrowheads="1"/>
          </p:cNvSpPr>
          <p:nvPr/>
        </p:nvSpPr>
        <p:spPr bwMode="auto">
          <a:xfrm>
            <a:off x="1524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endParaRPr lang="en-US" altLang="zh-CN" sz="3200" b="1">
              <a:solidFill>
                <a:srgbClr val="0000FF"/>
              </a:solidFill>
            </a:endParaRPr>
          </a:p>
        </p:txBody>
      </p:sp>
      <p:sp>
        <p:nvSpPr>
          <p:cNvPr id="95261" name="Text Box 29"/>
          <p:cNvSpPr txBox="1">
            <a:spLocks noChangeArrowheads="1"/>
          </p:cNvSpPr>
          <p:nvPr/>
        </p:nvSpPr>
        <p:spPr bwMode="auto">
          <a:xfrm>
            <a:off x="2971800" y="32004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endParaRPr lang="en-US" altLang="zh-CN" sz="3200" b="1">
              <a:solidFill>
                <a:srgbClr val="0000FF"/>
              </a:solidFill>
            </a:endParaRPr>
          </a:p>
        </p:txBody>
      </p:sp>
      <p:sp>
        <p:nvSpPr>
          <p:cNvPr id="95262" name="Text Box 30"/>
          <p:cNvSpPr txBox="1">
            <a:spLocks noChangeArrowheads="1"/>
          </p:cNvSpPr>
          <p:nvPr/>
        </p:nvSpPr>
        <p:spPr bwMode="auto">
          <a:xfrm>
            <a:off x="73914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endParaRPr lang="en-US" altLang="zh-CN" sz="3200" b="1">
              <a:solidFill>
                <a:srgbClr val="0000FF"/>
              </a:solidFill>
            </a:endParaRPr>
          </a:p>
        </p:txBody>
      </p:sp>
      <p:sp>
        <p:nvSpPr>
          <p:cNvPr id="95263" name="Text Box 31"/>
          <p:cNvSpPr txBox="1">
            <a:spLocks noChangeArrowheads="1"/>
          </p:cNvSpPr>
          <p:nvPr/>
        </p:nvSpPr>
        <p:spPr bwMode="auto">
          <a:xfrm>
            <a:off x="48006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endParaRPr lang="en-US" altLang="zh-CN" sz="3200" b="1">
              <a:solidFill>
                <a:srgbClr val="FF0000"/>
              </a:solidFill>
            </a:endParaRPr>
          </a:p>
        </p:txBody>
      </p:sp>
      <p:sp>
        <p:nvSpPr>
          <p:cNvPr id="95264" name="Text Box 32"/>
          <p:cNvSpPr txBox="1">
            <a:spLocks noChangeArrowheads="1"/>
          </p:cNvSpPr>
          <p:nvPr/>
        </p:nvSpPr>
        <p:spPr bwMode="auto">
          <a:xfrm>
            <a:off x="6096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0000FF"/>
                </a:solidFill>
              </a:rPr>
              <a:t>1</a:t>
            </a:r>
            <a:endParaRPr lang="en-US" altLang="zh-CN" sz="3200" b="1">
              <a:solidFill>
                <a:srgbClr val="0000FF"/>
              </a:solidFill>
            </a:endParaRPr>
          </a:p>
        </p:txBody>
      </p:sp>
      <p:grpSp>
        <p:nvGrpSpPr>
          <p:cNvPr id="2" name="Group 33"/>
          <p:cNvGrpSpPr/>
          <p:nvPr/>
        </p:nvGrpSpPr>
        <p:grpSpPr bwMode="auto">
          <a:xfrm>
            <a:off x="152400" y="4572000"/>
            <a:ext cx="4953000" cy="606425"/>
            <a:chOff x="96" y="2880"/>
            <a:chExt cx="3120" cy="382"/>
          </a:xfrm>
        </p:grpSpPr>
        <p:sp>
          <p:nvSpPr>
            <p:cNvPr id="27668" name="Text Box 34"/>
            <p:cNvSpPr txBox="1">
              <a:spLocks noChangeArrowheads="1"/>
            </p:cNvSpPr>
            <p:nvPr/>
          </p:nvSpPr>
          <p:spPr bwMode="auto">
            <a:xfrm>
              <a:off x="96" y="2928"/>
              <a:ext cx="240" cy="334"/>
            </a:xfrm>
            <a:prstGeom prst="rect">
              <a:avLst/>
            </a:prstGeom>
            <a:noFill/>
            <a:ln w="9525">
              <a:noFill/>
              <a:miter lim="800000"/>
            </a:ln>
          </p:spPr>
          <p:txBody>
            <a:bodyPr>
              <a:spAutoFit/>
            </a:bodyPr>
            <a:lstStyle/>
            <a:p>
              <a:pPr>
                <a:spcBef>
                  <a:spcPct val="50000"/>
                </a:spcBef>
              </a:pPr>
              <a:r>
                <a:rPr lang="en-US" altLang="zh-CN" sz="3200" b="1">
                  <a:solidFill>
                    <a:srgbClr val="00FF00"/>
                  </a:solidFill>
                </a:rPr>
                <a:t>1</a:t>
              </a:r>
              <a:endParaRPr lang="en-US" altLang="zh-CN" sz="3200" b="1">
                <a:solidFill>
                  <a:srgbClr val="00FF00"/>
                </a:solidFill>
              </a:endParaRPr>
            </a:p>
          </p:txBody>
        </p:sp>
        <p:sp>
          <p:nvSpPr>
            <p:cNvPr id="27669" name="Text Box 35"/>
            <p:cNvSpPr txBox="1">
              <a:spLocks noChangeArrowheads="1"/>
            </p:cNvSpPr>
            <p:nvPr/>
          </p:nvSpPr>
          <p:spPr bwMode="auto">
            <a:xfrm>
              <a:off x="2976" y="2880"/>
              <a:ext cx="240" cy="334"/>
            </a:xfrm>
            <a:prstGeom prst="rect">
              <a:avLst/>
            </a:prstGeom>
            <a:noFill/>
            <a:ln w="9525">
              <a:noFill/>
              <a:miter lim="800000"/>
            </a:ln>
          </p:spPr>
          <p:txBody>
            <a:bodyPr>
              <a:spAutoFit/>
            </a:bodyPr>
            <a:lstStyle/>
            <a:p>
              <a:pPr>
                <a:spcBef>
                  <a:spcPct val="50000"/>
                </a:spcBef>
              </a:pPr>
              <a:r>
                <a:rPr lang="en-US" altLang="zh-CN" sz="3200" b="1">
                  <a:solidFill>
                    <a:srgbClr val="00FF00"/>
                  </a:solidFill>
                </a:rPr>
                <a:t>1</a:t>
              </a:r>
              <a:endParaRPr lang="en-US" altLang="zh-CN" sz="3200" b="1">
                <a:solidFill>
                  <a:srgbClr val="00FF00"/>
                </a:solidFill>
              </a:endParaRPr>
            </a:p>
          </p:txBody>
        </p:sp>
      </p:grpSp>
      <p:sp>
        <p:nvSpPr>
          <p:cNvPr id="95268" name="Text Box 36"/>
          <p:cNvSpPr txBox="1">
            <a:spLocks noChangeArrowheads="1"/>
          </p:cNvSpPr>
          <p:nvPr/>
        </p:nvSpPr>
        <p:spPr bwMode="auto">
          <a:xfrm>
            <a:off x="1524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endParaRPr lang="en-US" altLang="zh-CN" sz="3200" b="1">
              <a:solidFill>
                <a:srgbClr val="FF0000"/>
              </a:solidFill>
            </a:endParaRPr>
          </a:p>
        </p:txBody>
      </p:sp>
      <p:sp>
        <p:nvSpPr>
          <p:cNvPr id="95269" name="Text Box 37"/>
          <p:cNvSpPr txBox="1">
            <a:spLocks noChangeArrowheads="1"/>
          </p:cNvSpPr>
          <p:nvPr/>
        </p:nvSpPr>
        <p:spPr bwMode="auto">
          <a:xfrm>
            <a:off x="7239000" y="1447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endParaRPr lang="en-US" altLang="zh-CN" sz="3200" b="1">
              <a:solidFill>
                <a:srgbClr val="FF0000"/>
              </a:solidFill>
            </a:endParaRPr>
          </a:p>
        </p:txBody>
      </p:sp>
      <p:sp>
        <p:nvSpPr>
          <p:cNvPr id="95270" name="Text Box 38"/>
          <p:cNvSpPr txBox="1">
            <a:spLocks noChangeArrowheads="1"/>
          </p:cNvSpPr>
          <p:nvPr/>
        </p:nvSpPr>
        <p:spPr bwMode="auto">
          <a:xfrm>
            <a:off x="3429000" y="609600"/>
            <a:ext cx="381000" cy="595313"/>
          </a:xfrm>
          <a:prstGeom prst="rect">
            <a:avLst/>
          </a:prstGeom>
          <a:solidFill>
            <a:schemeClr val="folHlink"/>
          </a:solidFill>
          <a:ln w="9525">
            <a:solidFill>
              <a:srgbClr val="FF0000"/>
            </a:solidFill>
            <a:miter lim="800000"/>
          </a:ln>
        </p:spPr>
        <p:txBody>
          <a:bodyPr>
            <a:spAutoFit/>
          </a:bodyPr>
          <a:lstStyle/>
          <a:p>
            <a:pPr algn="ctr">
              <a:spcBef>
                <a:spcPct val="50000"/>
              </a:spcBef>
            </a:pPr>
            <a:r>
              <a:rPr lang="en-US" altLang="zh-CN" sz="3600" b="1">
                <a:solidFill>
                  <a:srgbClr val="FF0000"/>
                </a:solidFill>
                <a:latin typeface="黑体" panose="02010609060101010101" pitchFamily="49" charset="-122"/>
                <a:ea typeface="黑体" panose="02010609060101010101" pitchFamily="49" charset="-122"/>
              </a:rPr>
              <a:t>0</a:t>
            </a:r>
            <a:endParaRPr lang="en-US" altLang="zh-CN" sz="3600" b="1">
              <a:solidFill>
                <a:srgbClr val="FF0000"/>
              </a:solidFill>
              <a:latin typeface="黑体" panose="02010609060101010101" pitchFamily="49" charset="-122"/>
              <a:ea typeface="黑体" panose="02010609060101010101" pitchFamily="49" charset="-122"/>
            </a:endParaRPr>
          </a:p>
        </p:txBody>
      </p:sp>
      <p:sp>
        <p:nvSpPr>
          <p:cNvPr id="95271" name="Text Box 39"/>
          <p:cNvSpPr txBox="1">
            <a:spLocks noChangeArrowheads="1"/>
          </p:cNvSpPr>
          <p:nvPr/>
        </p:nvSpPr>
        <p:spPr bwMode="auto">
          <a:xfrm>
            <a:off x="4343400" y="32766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endParaRPr lang="en-US" altLang="zh-CN" sz="3200" b="1">
              <a:solidFill>
                <a:srgbClr val="FF0000"/>
              </a:solidFill>
            </a:endParaRPr>
          </a:p>
        </p:txBody>
      </p:sp>
      <p:sp>
        <p:nvSpPr>
          <p:cNvPr id="95272" name="Text Box 40"/>
          <p:cNvSpPr txBox="1">
            <a:spLocks noChangeArrowheads="1"/>
          </p:cNvSpPr>
          <p:nvPr/>
        </p:nvSpPr>
        <p:spPr bwMode="auto">
          <a:xfrm>
            <a:off x="8610600" y="31242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1</a:t>
            </a:r>
            <a:endParaRPr lang="en-US" altLang="zh-CN" sz="3200" b="1">
              <a:solidFill>
                <a:srgbClr val="FF0000"/>
              </a:solidFill>
            </a:endParaRPr>
          </a:p>
        </p:txBody>
      </p:sp>
      <p:sp>
        <p:nvSpPr>
          <p:cNvPr id="95273" name="Text Box 41"/>
          <p:cNvSpPr txBox="1">
            <a:spLocks noChangeArrowheads="1"/>
          </p:cNvSpPr>
          <p:nvPr/>
        </p:nvSpPr>
        <p:spPr bwMode="auto">
          <a:xfrm>
            <a:off x="838200" y="304800"/>
            <a:ext cx="381000" cy="530225"/>
          </a:xfrm>
          <a:prstGeom prst="rect">
            <a:avLst/>
          </a:prstGeom>
          <a:noFill/>
          <a:ln w="9525">
            <a:noFill/>
            <a:miter lim="800000"/>
          </a:ln>
        </p:spPr>
        <p:txBody>
          <a:bodyPr>
            <a:spAutoFit/>
          </a:bodyPr>
          <a:lstStyle/>
          <a:p>
            <a:pPr>
              <a:spcBef>
                <a:spcPct val="50000"/>
              </a:spcBef>
            </a:pPr>
            <a:r>
              <a:rPr lang="en-US" altLang="zh-CN" sz="3200" b="1">
                <a:solidFill>
                  <a:srgbClr val="FF0000"/>
                </a:solidFill>
              </a:rPr>
              <a:t>0</a:t>
            </a:r>
            <a:endParaRPr lang="en-US" altLang="zh-CN" sz="32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2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26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52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52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52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526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526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52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52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952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525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952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9527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9527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952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56" grpId="0" autoUpdateAnimBg="0"/>
      <p:bldP spid="95257" grpId="0" autoUpdateAnimBg="0"/>
      <p:bldP spid="95258" grpId="0" autoUpdateAnimBg="0"/>
      <p:bldP spid="95259" grpId="0" autoUpdateAnimBg="0"/>
      <p:bldP spid="95260" grpId="0" autoUpdateAnimBg="0"/>
      <p:bldP spid="95261" grpId="0" autoUpdateAnimBg="0"/>
      <p:bldP spid="95262" grpId="0" autoUpdateAnimBg="0"/>
      <p:bldP spid="95263" grpId="0" autoUpdateAnimBg="0"/>
      <p:bldP spid="95264" grpId="0" autoUpdateAnimBg="0"/>
      <p:bldP spid="95268" grpId="0" autoUpdateAnimBg="0"/>
      <p:bldP spid="95269" grpId="0" autoUpdateAnimBg="0"/>
      <p:bldP spid="95270" grpId="0" animBg="1" autoUpdateAnimBg="0"/>
      <p:bldP spid="95271" grpId="0" autoUpdateAnimBg="0"/>
      <p:bldP spid="95272" grpId="0" autoUpdateAnimBg="0"/>
      <p:bldP spid="95273"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792648" y="5472206"/>
            <a:ext cx="5040560" cy="1323439"/>
          </a:xfrm>
          <a:prstGeom prst="rect">
            <a:avLst/>
          </a:prstGeom>
          <a:noFill/>
          <a:effectLst>
            <a:glow rad="228600">
              <a:schemeClr val="accent1">
                <a:satMod val="175000"/>
                <a:alpha val="40000"/>
              </a:schemeClr>
            </a:glow>
          </a:effectLst>
          <a:scene3d>
            <a:camera prst="perspectiveRelaxedModerately"/>
            <a:lightRig rig="threePt" dir="t"/>
          </a:scene3d>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4000" b="1" cap="none" spc="0" dirty="0" smtClean="0">
                <a:ln w="11430"/>
                <a:solidFill>
                  <a:srgbClr val="C00000"/>
                </a:solidFill>
                <a:effectLst>
                  <a:outerShdw blurRad="50800" dist="39000" dir="5460000" algn="tl">
                    <a:srgbClr val="000000">
                      <a:alpha val="38000"/>
                    </a:srgbClr>
                  </a:outerShdw>
                </a:effectLst>
                <a:latin typeface="微软雅黑" panose="020B0503020204020204" charset="-122"/>
                <a:ea typeface="微软雅黑" panose="020B0503020204020204" charset="-122"/>
              </a:rPr>
              <a:t>请上课时间内在雨课堂中解答</a:t>
            </a:r>
            <a:endParaRPr lang="zh-CN" altLang="en-US" sz="4000" b="1" cap="none" spc="0" dirty="0">
              <a:ln w="11430"/>
              <a:solidFill>
                <a:srgbClr val="C00000"/>
              </a:solidFill>
              <a:effectLst>
                <a:outerShdw blurRad="50800" dist="39000" dir="5460000" algn="tl">
                  <a:srgbClr val="000000">
                    <a:alpha val="38000"/>
                  </a:srgbClr>
                </a:outerShdw>
              </a:effectLst>
              <a:latin typeface="微软雅黑" panose="020B0503020204020204" charset="-122"/>
              <a:ea typeface="微软雅黑" panose="020B0503020204020204" charset="-122"/>
            </a:endParaRPr>
          </a:p>
        </p:txBody>
      </p:sp>
      <p:sp>
        <p:nvSpPr>
          <p:cNvPr id="2" name="矩形 1"/>
          <p:cNvSpPr/>
          <p:nvPr/>
        </p:nvSpPr>
        <p:spPr>
          <a:xfrm>
            <a:off x="323528" y="301124"/>
            <a:ext cx="2236510" cy="707886"/>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课内测试</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375272" y="1001705"/>
            <a:ext cx="8525810" cy="4459041"/>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latin typeface="微软雅黑" panose="020B0503020204020204" charset="-122"/>
                <a:ea typeface="微软雅黑" panose="020B0503020204020204" charset="-122"/>
              </a:rPr>
              <a:t>判断</a:t>
            </a:r>
            <a:r>
              <a:rPr lang="zh-CN" altLang="en-US" sz="2400" dirty="0">
                <a:latin typeface="微软雅黑" panose="020B0503020204020204" charset="-122"/>
                <a:ea typeface="微软雅黑" panose="020B0503020204020204" charset="-122"/>
              </a:rPr>
              <a:t>题</a:t>
            </a:r>
            <a:endParaRPr lang="zh-CN" altLang="zh-CN" sz="2400" dirty="0">
              <a:latin typeface="微软雅黑" panose="020B0503020204020204" charset="-122"/>
              <a:ea typeface="微软雅黑" panose="020B0503020204020204" charset="-122"/>
            </a:endParaRPr>
          </a:p>
          <a:p>
            <a:pPr marL="457200" indent="-457200">
              <a:lnSpc>
                <a:spcPct val="150000"/>
              </a:lnSpc>
              <a:spcBef>
                <a:spcPts val="0"/>
              </a:spcBef>
              <a:buClr>
                <a:schemeClr val="tx1"/>
              </a:buClr>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在</a:t>
            </a:r>
            <a:r>
              <a:rPr lang="zh-CN" altLang="zh-CN" sz="2400" dirty="0">
                <a:latin typeface="微软雅黑" panose="020B0503020204020204" charset="-122"/>
                <a:ea typeface="微软雅黑" panose="020B0503020204020204" charset="-122"/>
              </a:rPr>
              <a:t>集中式总线仲裁中独立请求方式响应时间最快。</a:t>
            </a:r>
            <a:endParaRPr lang="zh-CN" altLang="zh-CN" sz="2400" dirty="0">
              <a:latin typeface="微软雅黑" panose="020B0503020204020204" charset="-122"/>
              <a:ea typeface="微软雅黑" panose="020B0503020204020204" charset="-122"/>
            </a:endParaRPr>
          </a:p>
          <a:p>
            <a:pPr>
              <a:lnSpc>
                <a:spcPct val="150000"/>
              </a:lnSpc>
              <a:spcBef>
                <a:spcPts val="0"/>
              </a:spcBef>
              <a:buClr>
                <a:schemeClr val="tx1"/>
              </a:buClr>
            </a:pPr>
            <a:r>
              <a:rPr lang="en-US" altLang="zh-CN" sz="2400"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en-US" altLang="zh-CN" sz="2400" b="1" dirty="0">
                <a:latin typeface="微软雅黑" panose="020B0503020204020204" charset="-122"/>
                <a:ea typeface="微软雅黑" panose="020B0503020204020204" charset="-122"/>
              </a:rPr>
              <a:t>. </a:t>
            </a:r>
            <a:r>
              <a:rPr lang="zh-CN" altLang="zh-CN" sz="2400" b="1" dirty="0" smtClean="0">
                <a:latin typeface="微软雅黑" panose="020B0503020204020204" charset="-122"/>
                <a:ea typeface="微软雅黑" panose="020B0503020204020204" charset="-122"/>
              </a:rPr>
              <a:t>错</a:t>
            </a:r>
            <a:endParaRPr lang="en-US" altLang="zh-CN" sz="2400" b="1" dirty="0" smtClean="0">
              <a:latin typeface="微软雅黑" panose="020B0503020204020204" charset="-122"/>
              <a:ea typeface="微软雅黑" panose="020B0503020204020204" charset="-122"/>
            </a:endParaRPr>
          </a:p>
          <a:p>
            <a:pPr marL="457200" indent="-457200">
              <a:lnSpc>
                <a:spcPct val="150000"/>
              </a:lnSpc>
              <a:spcBef>
                <a:spcPts val="0"/>
              </a:spcBef>
              <a:buClr>
                <a:schemeClr val="tx1"/>
              </a:buClr>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在</a:t>
            </a:r>
            <a:r>
              <a:rPr lang="zh-CN" altLang="zh-CN" sz="2400" dirty="0">
                <a:latin typeface="微软雅黑" panose="020B0503020204020204" charset="-122"/>
                <a:ea typeface="微软雅黑" panose="020B0503020204020204" charset="-122"/>
              </a:rPr>
              <a:t>集中式总线仲裁中独立请求方式对电路故障最敏感。</a:t>
            </a:r>
            <a:endParaRPr lang="zh-CN" altLang="zh-CN" sz="2400" dirty="0">
              <a:latin typeface="微软雅黑" panose="020B0503020204020204" charset="-122"/>
              <a:ea typeface="微软雅黑" panose="020B0503020204020204" charset="-122"/>
            </a:endParaRPr>
          </a:p>
          <a:p>
            <a:pPr>
              <a:lnSpc>
                <a:spcPct val="150000"/>
              </a:lnSpc>
              <a:spcBef>
                <a:spcPts val="0"/>
              </a:spcBef>
              <a:buClr>
                <a:schemeClr val="tx1"/>
              </a:buClr>
            </a:pPr>
            <a:r>
              <a:rPr lang="en-US" altLang="zh-CN" sz="2400"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a:t>
            </a:r>
            <a:r>
              <a:rPr lang="zh-CN" altLang="zh-CN" sz="2400" b="1" dirty="0" smtClean="0">
                <a:latin typeface="微软雅黑" panose="020B0503020204020204" charset="-122"/>
                <a:ea typeface="微软雅黑" panose="020B0503020204020204" charset="-122"/>
              </a:rPr>
              <a:t>对</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 </a:t>
            </a:r>
            <a:r>
              <a:rPr lang="zh-CN" altLang="zh-CN" sz="2400" b="1" dirty="0">
                <a:latin typeface="微软雅黑" panose="020B0503020204020204" charset="-122"/>
                <a:ea typeface="微软雅黑" panose="020B0503020204020204" charset="-122"/>
              </a:rPr>
              <a:t>错</a:t>
            </a:r>
            <a:endParaRPr lang="zh-CN" altLang="zh-CN" sz="2400" b="1" dirty="0">
              <a:latin typeface="微软雅黑" panose="020B0503020204020204" charset="-122"/>
              <a:ea typeface="微软雅黑" panose="020B0503020204020204" charset="-122"/>
            </a:endParaRPr>
          </a:p>
          <a:p>
            <a:pPr marL="457200" indent="-457200">
              <a:lnSpc>
                <a:spcPct val="150000"/>
              </a:lnSpc>
              <a:spcBef>
                <a:spcPts val="0"/>
              </a:spcBef>
              <a:buClr>
                <a:schemeClr val="tx1"/>
              </a:buClr>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在</a:t>
            </a:r>
            <a:r>
              <a:rPr lang="zh-CN" altLang="zh-CN" sz="2400" dirty="0">
                <a:latin typeface="微软雅黑" panose="020B0503020204020204" charset="-122"/>
                <a:ea typeface="微软雅黑" panose="020B0503020204020204" charset="-122"/>
              </a:rPr>
              <a:t>集中式总线仲裁中不需要中央仲裁器，而是多个仲裁器竞争使用总线。</a:t>
            </a:r>
            <a:endParaRPr lang="zh-CN" altLang="zh-CN" sz="2400" dirty="0">
              <a:latin typeface="微软雅黑" panose="020B0503020204020204" charset="-122"/>
              <a:ea typeface="微软雅黑" panose="020B0503020204020204" charset="-122"/>
            </a:endParaRPr>
          </a:p>
          <a:p>
            <a:pPr>
              <a:lnSpc>
                <a:spcPct val="150000"/>
              </a:lnSpc>
              <a:spcBef>
                <a:spcPts val="0"/>
              </a:spcBef>
              <a:buClr>
                <a:schemeClr val="tx1"/>
              </a:buClr>
            </a:pPr>
            <a:r>
              <a:rPr lang="en-US" altLang="zh-CN" sz="2400"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 </a:t>
            </a:r>
            <a:r>
              <a:rPr lang="zh-CN" altLang="zh-CN" sz="2400" b="1" dirty="0" smtClean="0">
                <a:latin typeface="微软雅黑" panose="020B0503020204020204" charset="-122"/>
                <a:ea typeface="微软雅黑" panose="020B0503020204020204" charset="-122"/>
              </a:rPr>
              <a:t>错</a:t>
            </a:r>
            <a:endParaRPr lang="zh-CN" altLang="zh-CN" sz="2400" dirty="0">
              <a:latin typeface="微软雅黑" panose="020B0503020204020204" charset="-122"/>
              <a:ea typeface="微软雅黑" panose="020B0503020204020204" charset="-122"/>
            </a:endParaRPr>
          </a:p>
        </p:txBody>
      </p:sp>
      <p:sp>
        <p:nvSpPr>
          <p:cNvPr id="9" name="椭圆 8"/>
          <p:cNvSpPr/>
          <p:nvPr/>
        </p:nvSpPr>
        <p:spPr bwMode="auto">
          <a:xfrm>
            <a:off x="917176" y="214589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2279332" y="3228666"/>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2271500" y="486835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94F19538-F469-4DEF-A876-728AD261E1A3}" type="slidenum">
              <a:rPr lang="en-US" altLang="zh-CN"/>
            </a:fld>
            <a:endParaRPr lang="en-US" altLang="zh-CN"/>
          </a:p>
        </p:txBody>
      </p:sp>
      <p:sp>
        <p:nvSpPr>
          <p:cNvPr id="28675" name="Rectangle 2"/>
          <p:cNvSpPr>
            <a:spLocks noGrp="1" noChangeArrowheads="1"/>
          </p:cNvSpPr>
          <p:nvPr>
            <p:ph type="title"/>
          </p:nvPr>
        </p:nvSpPr>
        <p:spPr>
          <a:xfrm>
            <a:off x="457200" y="122238"/>
            <a:ext cx="7543800" cy="930275"/>
          </a:xfrm>
        </p:spPr>
        <p:txBody>
          <a:bodyPr/>
          <a:lstStyle/>
          <a:p>
            <a:pPr eaLnBrk="1" hangingPunct="1"/>
            <a:r>
              <a:rPr lang="en-US" altLang="zh-CN" smtClean="0"/>
              <a:t>6.4 </a:t>
            </a:r>
            <a:r>
              <a:rPr lang="zh-CN" altLang="en-US" smtClean="0"/>
              <a:t>总线的定时和数据传送模式</a:t>
            </a:r>
            <a:endParaRPr lang="zh-CN" altLang="en-US" smtClean="0"/>
          </a:p>
        </p:txBody>
      </p:sp>
      <p:sp>
        <p:nvSpPr>
          <p:cNvPr id="28676" name="Rectangle 5"/>
          <p:cNvSpPr>
            <a:spLocks noChangeArrowheads="1"/>
          </p:cNvSpPr>
          <p:nvPr/>
        </p:nvSpPr>
        <p:spPr bwMode="auto">
          <a:xfrm>
            <a:off x="514613" y="1210885"/>
            <a:ext cx="7416800" cy="5170646"/>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800" b="1" dirty="0"/>
              <a:t>6.4.1 </a:t>
            </a:r>
            <a:r>
              <a:rPr lang="zh-CN" altLang="en-US" sz="2800" b="1" dirty="0"/>
              <a:t>总线的定时</a:t>
            </a:r>
            <a:r>
              <a:rPr lang="zh-CN" altLang="en-US" sz="2800" b="1" i="1" dirty="0"/>
              <a:t>　　　　　　　　　　　</a:t>
            </a:r>
            <a:endParaRPr lang="zh-CN" altLang="en-US" sz="2800" b="1" dirty="0"/>
          </a:p>
          <a:p>
            <a:pPr>
              <a:lnSpc>
                <a:spcPct val="100000"/>
              </a:lnSpc>
              <a:spcBef>
                <a:spcPct val="0"/>
              </a:spcBef>
              <a:buClrTx/>
              <a:buSzTx/>
              <a:buFontTx/>
              <a:buNone/>
            </a:pPr>
            <a:r>
              <a:rPr lang="zh-CN" altLang="en-US" sz="2800" dirty="0"/>
              <a:t>　　总线的一次信息传送过程，大致可分为如下五个阶段：</a:t>
            </a:r>
            <a:endParaRPr lang="zh-CN" altLang="en-US" sz="2800" dirty="0"/>
          </a:p>
          <a:p>
            <a:pPr>
              <a:lnSpc>
                <a:spcPct val="100000"/>
              </a:lnSpc>
              <a:spcBef>
                <a:spcPct val="0"/>
              </a:spcBef>
              <a:buClrTx/>
              <a:buSzTx/>
              <a:buFontTx/>
              <a:buNone/>
            </a:pPr>
            <a:r>
              <a:rPr lang="zh-CN" altLang="en-US" sz="2800" dirty="0"/>
              <a:t>　　</a:t>
            </a:r>
            <a:r>
              <a:rPr lang="zh-CN" altLang="en-US" sz="2800" b="1" dirty="0"/>
              <a:t>请求总线，总线仲裁，寻址</a:t>
            </a:r>
            <a:r>
              <a:rPr lang="en-US" altLang="zh-CN" sz="2800" b="1" dirty="0"/>
              <a:t>(</a:t>
            </a:r>
            <a:r>
              <a:rPr lang="zh-CN" altLang="en-US" sz="2800" b="1" dirty="0"/>
              <a:t>目的地址</a:t>
            </a:r>
            <a:r>
              <a:rPr lang="en-US" altLang="zh-CN" sz="2800" b="1" dirty="0"/>
              <a:t>)</a:t>
            </a:r>
            <a:r>
              <a:rPr lang="zh-CN" altLang="en-US" sz="2800" b="1" dirty="0"/>
              <a:t>，信息传送，状态返回</a:t>
            </a:r>
            <a:r>
              <a:rPr lang="en-US" altLang="zh-CN" sz="2800" b="1" dirty="0"/>
              <a:t>(</a:t>
            </a:r>
            <a:r>
              <a:rPr lang="zh-CN" altLang="en-US" sz="2800" b="1" dirty="0"/>
              <a:t>或错误报告</a:t>
            </a:r>
            <a:r>
              <a:rPr lang="en-US" altLang="zh-CN" sz="2800" b="1" dirty="0"/>
              <a:t>)</a:t>
            </a:r>
            <a:endParaRPr lang="en-US" altLang="zh-CN" sz="2800" dirty="0"/>
          </a:p>
          <a:p>
            <a:pPr>
              <a:lnSpc>
                <a:spcPct val="100000"/>
              </a:lnSpc>
              <a:spcBef>
                <a:spcPct val="0"/>
              </a:spcBef>
              <a:buClrTx/>
              <a:buSzTx/>
              <a:buFontTx/>
              <a:buNone/>
            </a:pPr>
            <a:r>
              <a:rPr lang="en-US" altLang="zh-CN" sz="2800" dirty="0"/>
              <a:t>    </a:t>
            </a:r>
            <a:r>
              <a:rPr lang="zh-CN" altLang="en-US" sz="2800" dirty="0"/>
              <a:t>为了同步主方、从方的操作，必须制订定时协议。</a:t>
            </a:r>
            <a:endParaRPr lang="zh-CN" altLang="en-US" sz="2800" dirty="0"/>
          </a:p>
          <a:p>
            <a:pPr>
              <a:lnSpc>
                <a:spcPct val="100000"/>
              </a:lnSpc>
              <a:spcBef>
                <a:spcPct val="0"/>
              </a:spcBef>
              <a:buClrTx/>
              <a:buSzTx/>
              <a:buFontTx/>
              <a:buNone/>
            </a:pPr>
            <a:r>
              <a:rPr lang="zh-CN" altLang="en-US" sz="2800" dirty="0"/>
              <a:t>　　</a:t>
            </a:r>
            <a:r>
              <a:rPr lang="zh-CN" altLang="en-US" sz="2800" b="1" dirty="0"/>
              <a:t>定时</a:t>
            </a:r>
            <a:r>
              <a:rPr lang="zh-CN" altLang="en-US" sz="2800" dirty="0"/>
              <a:t>：事件出现在总线上的时序关系。</a:t>
            </a:r>
            <a:endParaRPr lang="zh-CN" altLang="en-US" sz="2800" dirty="0"/>
          </a:p>
          <a:p>
            <a:pPr>
              <a:lnSpc>
                <a:spcPct val="100000"/>
              </a:lnSpc>
              <a:spcBef>
                <a:spcPct val="0"/>
              </a:spcBef>
              <a:buClrTx/>
              <a:buSzTx/>
              <a:buFontTx/>
              <a:buNone/>
            </a:pPr>
            <a:r>
              <a:rPr lang="zh-CN" altLang="en-US" dirty="0">
                <a:latin typeface="Arial" panose="020B0604020202020204" pitchFamily="34" charset="0"/>
              </a:rPr>
              <a:t>           </a:t>
            </a:r>
            <a:r>
              <a:rPr lang="zh-CN" altLang="en-US" sz="2800" dirty="0"/>
              <a:t>同步</a:t>
            </a:r>
            <a:r>
              <a:rPr lang="zh-CN" altLang="en-US" sz="2800" dirty="0" smtClean="0"/>
              <a:t>定时协定</a:t>
            </a:r>
            <a:endParaRPr lang="en-US" altLang="zh-CN" sz="2800" dirty="0" smtClean="0"/>
          </a:p>
          <a:p>
            <a:pPr>
              <a:lnSpc>
                <a:spcPct val="100000"/>
              </a:lnSpc>
              <a:spcBef>
                <a:spcPct val="0"/>
              </a:spcBef>
              <a:buClrTx/>
              <a:buSzTx/>
              <a:buFontTx/>
              <a:buNone/>
            </a:pPr>
            <a:r>
              <a:rPr lang="en-US" altLang="zh-CN" sz="2800" dirty="0"/>
              <a:t> </a:t>
            </a:r>
            <a:r>
              <a:rPr lang="en-US" altLang="zh-CN" sz="2800" dirty="0" smtClean="0"/>
              <a:t>   </a:t>
            </a:r>
            <a:r>
              <a:rPr lang="zh-CN" altLang="en-US" sz="2800" dirty="0" smtClean="0"/>
              <a:t>异步定时协定</a:t>
            </a:r>
            <a:endParaRPr lang="en-US" altLang="zh-CN" sz="2800" dirty="0" smtClean="0"/>
          </a:p>
          <a:p>
            <a:pPr>
              <a:lnSpc>
                <a:spcPct val="100000"/>
              </a:lnSpc>
              <a:spcBef>
                <a:spcPct val="0"/>
              </a:spcBef>
              <a:buClrTx/>
              <a:buSzTx/>
              <a:buFontTx/>
              <a:buNone/>
            </a:pPr>
            <a:r>
              <a:rPr lang="en-US" altLang="zh-CN" sz="2800" dirty="0"/>
              <a:t> </a:t>
            </a:r>
            <a:r>
              <a:rPr lang="en-US" altLang="zh-CN" sz="2800" dirty="0" smtClean="0"/>
              <a:t>   </a:t>
            </a:r>
            <a:r>
              <a:rPr lang="zh-CN" altLang="en-US" sz="2800" dirty="0" smtClean="0"/>
              <a:t>半同步定时协定</a:t>
            </a:r>
            <a:endParaRPr lang="en-US" altLang="zh-CN" sz="2800" dirty="0" smtClean="0"/>
          </a:p>
          <a:p>
            <a:pPr>
              <a:lnSpc>
                <a:spcPct val="100000"/>
              </a:lnSpc>
              <a:spcBef>
                <a:spcPct val="0"/>
              </a:spcBef>
              <a:buClrTx/>
              <a:buSzTx/>
              <a:buFontTx/>
              <a:buNone/>
            </a:pPr>
            <a:r>
              <a:rPr lang="en-US" altLang="zh-CN" sz="2800" dirty="0"/>
              <a:t> </a:t>
            </a:r>
            <a:r>
              <a:rPr lang="en-US" altLang="zh-CN" sz="2800" dirty="0" smtClean="0"/>
              <a:t>   </a:t>
            </a:r>
            <a:r>
              <a:rPr lang="zh-CN" altLang="en-US" sz="2800" dirty="0" smtClean="0"/>
              <a:t>周期分裂式总线协定</a:t>
            </a:r>
            <a:endParaRPr lang="zh-CN" altLang="en-US"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153EA81B-3990-4FC7-B876-5CE5D861A614}" type="slidenum">
              <a:rPr lang="en-US" altLang="zh-CN"/>
            </a:fld>
            <a:endParaRPr lang="en-US" altLang="zh-CN"/>
          </a:p>
        </p:txBody>
      </p:sp>
      <p:sp>
        <p:nvSpPr>
          <p:cNvPr id="29699" name="Rectangle 2"/>
          <p:cNvSpPr>
            <a:spLocks noGrp="1" noChangeArrowheads="1"/>
          </p:cNvSpPr>
          <p:nvPr>
            <p:ph type="title"/>
          </p:nvPr>
        </p:nvSpPr>
        <p:spPr>
          <a:xfrm>
            <a:off x="457200" y="122238"/>
            <a:ext cx="7543800" cy="714375"/>
          </a:xfrm>
        </p:spPr>
        <p:txBody>
          <a:bodyPr/>
          <a:lstStyle/>
          <a:p>
            <a:pPr eaLnBrk="1" hangingPunct="1"/>
            <a:r>
              <a:rPr lang="en-US" altLang="zh-CN" smtClean="0"/>
              <a:t>6.4</a:t>
            </a:r>
            <a:r>
              <a:rPr lang="zh-CN" altLang="en-US" smtClean="0"/>
              <a:t>总线的定时和数据传送模式</a:t>
            </a:r>
            <a:endParaRPr lang="zh-CN" altLang="en-US" smtClean="0"/>
          </a:p>
        </p:txBody>
      </p:sp>
      <p:pic>
        <p:nvPicPr>
          <p:cNvPr id="29700" name="Picture 4" descr="6a12">
            <a:hlinkClick r:id="rId1" action="ppaction://hlinkfile"/>
          </p:cNvPr>
          <p:cNvPicPr>
            <a:picLocks noChangeAspect="1" noChangeArrowheads="1"/>
          </p:cNvPicPr>
          <p:nvPr/>
        </p:nvPicPr>
        <p:blipFill>
          <a:blip r:embed="rId2"/>
          <a:srcRect/>
          <a:stretch>
            <a:fillRect/>
          </a:stretch>
        </p:blipFill>
        <p:spPr bwMode="auto">
          <a:xfrm>
            <a:off x="468313" y="908050"/>
            <a:ext cx="7416800" cy="3097213"/>
          </a:xfrm>
          <a:prstGeom prst="rect">
            <a:avLst/>
          </a:prstGeom>
          <a:noFill/>
          <a:ln w="9525">
            <a:noFill/>
            <a:miter lim="800000"/>
            <a:headEnd/>
            <a:tailEnd/>
          </a:ln>
        </p:spPr>
      </p:pic>
      <p:sp>
        <p:nvSpPr>
          <p:cNvPr id="29701" name="Rectangle 5"/>
          <p:cNvSpPr>
            <a:spLocks noChangeArrowheads="1"/>
          </p:cNvSpPr>
          <p:nvPr/>
        </p:nvSpPr>
        <p:spPr bwMode="auto">
          <a:xfrm>
            <a:off x="179388" y="4005263"/>
            <a:ext cx="8569325" cy="2647950"/>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400"/>
              <a:t>1</a:t>
            </a:r>
            <a:r>
              <a:rPr lang="zh-CN" altLang="en-US" sz="2400"/>
              <a:t>、同步定时</a:t>
            </a:r>
            <a:endParaRPr lang="zh-CN" altLang="en-US" sz="2400"/>
          </a:p>
          <a:p>
            <a:pPr>
              <a:lnSpc>
                <a:spcPct val="100000"/>
              </a:lnSpc>
              <a:spcBef>
                <a:spcPct val="0"/>
              </a:spcBef>
              <a:buClrTx/>
              <a:buSzTx/>
              <a:buFontTx/>
              <a:buNone/>
            </a:pPr>
            <a:r>
              <a:rPr lang="zh-CN" altLang="en-US" sz="2400"/>
              <a:t>    在同步定时协议中，事件出现在总线上的时刻由总线时钟信号来确定。由于采用了公共时钟，每个功能模块什么时候发送或接收信息都由统一时钟规定，因此，同步定时具有较高的传输频率。</a:t>
            </a:r>
            <a:endParaRPr lang="zh-CN" altLang="en-US" sz="2400"/>
          </a:p>
          <a:p>
            <a:pPr>
              <a:lnSpc>
                <a:spcPct val="100000"/>
              </a:lnSpc>
              <a:spcBef>
                <a:spcPct val="0"/>
              </a:spcBef>
              <a:buClrTx/>
              <a:buSzTx/>
              <a:buFontTx/>
              <a:buNone/>
            </a:pPr>
            <a:r>
              <a:rPr lang="zh-CN" altLang="en-US" sz="2400"/>
              <a:t>    同步定时适用于总线长度较短、各功能模块存取时间比较接近的情况。</a:t>
            </a:r>
            <a:endParaRPr lang="zh-CN" altLang="en-US" sz="240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fld>
            <a:endParaRPr lang="en-US" altLang="zh-CN"/>
          </a:p>
        </p:txBody>
      </p:sp>
      <p:pic>
        <p:nvPicPr>
          <p:cNvPr id="30723" name="Picture 4" descr="6a13">
            <a:hlinkClick r:id="rId1" action="ppaction://hlinkfile"/>
          </p:cNvPr>
          <p:cNvPicPr>
            <a:picLocks noChangeAspect="1" noChangeArrowheads="1"/>
          </p:cNvPicPr>
          <p:nvPr/>
        </p:nvPicPr>
        <p:blipFill>
          <a:blip r:embed="rId2"/>
          <a:srcRect/>
          <a:stretch>
            <a:fillRect/>
          </a:stretch>
        </p:blipFill>
        <p:spPr bwMode="auto">
          <a:xfrm>
            <a:off x="323850" y="188913"/>
            <a:ext cx="7561263" cy="3887787"/>
          </a:xfrm>
          <a:prstGeom prst="rect">
            <a:avLst/>
          </a:prstGeom>
          <a:noFill/>
          <a:ln w="9525">
            <a:noFill/>
            <a:miter lim="800000"/>
            <a:headEnd/>
            <a:tailEnd/>
          </a:ln>
        </p:spPr>
      </p:pic>
      <p:sp>
        <p:nvSpPr>
          <p:cNvPr id="30724" name="Rectangle 7"/>
          <p:cNvSpPr>
            <a:spLocks noChangeArrowheads="1"/>
          </p:cNvSpPr>
          <p:nvPr/>
        </p:nvSpPr>
        <p:spPr bwMode="auto">
          <a:xfrm>
            <a:off x="179388" y="4113213"/>
            <a:ext cx="8739187" cy="2555875"/>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400" b="1" dirty="0"/>
              <a:t>2.</a:t>
            </a:r>
            <a:r>
              <a:rPr lang="zh-CN" altLang="en-US" sz="2400" b="1" dirty="0"/>
              <a:t>异步定时</a:t>
            </a:r>
            <a:endParaRPr lang="zh-CN" altLang="en-US" sz="2400" b="1" dirty="0"/>
          </a:p>
          <a:p>
            <a:pPr>
              <a:lnSpc>
                <a:spcPct val="100000"/>
              </a:lnSpc>
              <a:spcBef>
                <a:spcPct val="0"/>
              </a:spcBef>
              <a:buClrTx/>
              <a:buSzTx/>
              <a:buFontTx/>
              <a:buNone/>
            </a:pPr>
            <a:r>
              <a:rPr lang="zh-CN" altLang="en-US" sz="2400" dirty="0"/>
              <a:t>　　在异步定时协议中，后一事件出现在总线上的时刻取决于前一事件的出现，即建立在应答式或互锁机制基础上。在这种系统中，不需要统一的共公时钟信号。总线周期的长度是可变的。</a:t>
            </a:r>
            <a:endParaRPr lang="zh-CN" altLang="en-US" sz="2400" dirty="0"/>
          </a:p>
          <a:p>
            <a:pPr>
              <a:lnSpc>
                <a:spcPct val="100000"/>
              </a:lnSpc>
              <a:spcBef>
                <a:spcPct val="0"/>
              </a:spcBef>
              <a:buClrTx/>
              <a:buSzTx/>
              <a:buFontTx/>
              <a:buNone/>
            </a:pPr>
            <a:r>
              <a:rPr lang="zh-CN" altLang="en-US" sz="2400" dirty="0"/>
              <a:t>　 异步定时的优点是总线周期长度可变，不把响应时间强加到功能模块上，因而允许快速和慢速的功能模块都能连接到同一总线上。但这以增加总线的复杂性和成本为代价。</a:t>
            </a:r>
            <a:endParaRPr lang="zh-CN" altLang="en-US" sz="24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44A6A7A8-FE12-43D5-B269-97084761A010}" type="slidenum">
              <a:rPr lang="en-US" altLang="zh-CN"/>
            </a:fld>
            <a:endParaRPr lang="en-US" altLang="zh-CN"/>
          </a:p>
        </p:txBody>
      </p:sp>
      <p:sp>
        <p:nvSpPr>
          <p:cNvPr id="31747" name="Rectangle 5"/>
          <p:cNvSpPr>
            <a:spLocks noChangeArrowheads="1"/>
          </p:cNvSpPr>
          <p:nvPr/>
        </p:nvSpPr>
        <p:spPr bwMode="auto">
          <a:xfrm>
            <a:off x="179388" y="188913"/>
            <a:ext cx="7705725" cy="2647950"/>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a:t>【</a:t>
            </a:r>
            <a:r>
              <a:rPr lang="zh-CN" altLang="en-US" sz="2400"/>
              <a:t>例</a:t>
            </a:r>
            <a:r>
              <a:rPr lang="en-US" altLang="zh-CN" sz="2400"/>
              <a:t>3】</a:t>
            </a:r>
            <a:r>
              <a:rPr lang="zh-CN" altLang="en-US" sz="2400"/>
              <a:t>某</a:t>
            </a:r>
            <a:r>
              <a:rPr lang="en-US" altLang="zh-CN" sz="2400"/>
              <a:t>CPU</a:t>
            </a:r>
            <a:r>
              <a:rPr lang="zh-CN" altLang="en-US" sz="2400"/>
              <a:t>采用集中式仲裁方式，使用独立请求与菊花链查询相结合的二维总线控制结构。每一对请求线</a:t>
            </a:r>
            <a:r>
              <a:rPr lang="en-US" altLang="zh-CN" sz="2400"/>
              <a:t>BRi</a:t>
            </a:r>
            <a:r>
              <a:rPr lang="zh-CN" altLang="en-US" sz="2400"/>
              <a:t>和授权线</a:t>
            </a:r>
            <a:r>
              <a:rPr lang="en-US" altLang="zh-CN" sz="2400"/>
              <a:t>BGi</a:t>
            </a:r>
            <a:r>
              <a:rPr lang="zh-CN" altLang="en-US" sz="2400"/>
              <a:t>组成一对菊花链查询电路。每一根请求线可以被若干个传输速率接近的设备共享。当这些设备要求传送时通过</a:t>
            </a:r>
            <a:r>
              <a:rPr lang="en-US" altLang="zh-CN" sz="2400"/>
              <a:t>BRi</a:t>
            </a:r>
            <a:r>
              <a:rPr lang="zh-CN" altLang="en-US" sz="2400"/>
              <a:t>线向仲裁器发出请求，对应的</a:t>
            </a:r>
            <a:r>
              <a:rPr lang="en-US" altLang="zh-CN" sz="2400"/>
              <a:t>BGi</a:t>
            </a:r>
            <a:r>
              <a:rPr lang="zh-CN" altLang="en-US" sz="2400"/>
              <a:t>线则串行查询每个设备，从而确定哪个设备享有总线控制权。请分析说明图</a:t>
            </a:r>
            <a:r>
              <a:rPr lang="en-US" altLang="zh-CN" sz="2400"/>
              <a:t>6.14</a:t>
            </a:r>
            <a:r>
              <a:rPr lang="zh-CN" altLang="en-US" sz="2400"/>
              <a:t>所示的总线仲裁时序图。</a:t>
            </a:r>
            <a:endParaRPr lang="zh-CN" altLang="en-US" sz="2400">
              <a:latin typeface="Arial" panose="020B0604020202020204" pitchFamily="34" charset="0"/>
            </a:endParaRPr>
          </a:p>
        </p:txBody>
      </p:sp>
      <p:pic>
        <p:nvPicPr>
          <p:cNvPr id="31748" name="Picture 6"/>
          <p:cNvPicPr>
            <a:picLocks noChangeAspect="1" noChangeArrowheads="1"/>
          </p:cNvPicPr>
          <p:nvPr/>
        </p:nvPicPr>
        <p:blipFill>
          <a:blip r:embed="rId1"/>
          <a:srcRect/>
          <a:stretch>
            <a:fillRect/>
          </a:stretch>
        </p:blipFill>
        <p:spPr bwMode="auto">
          <a:xfrm>
            <a:off x="323850" y="2924175"/>
            <a:ext cx="8351838" cy="3409950"/>
          </a:xfrm>
          <a:prstGeom prst="rect">
            <a:avLst/>
          </a:prstGeom>
          <a:noFill/>
          <a:ln w="9525">
            <a:noFill/>
            <a:miter lim="800000"/>
            <a:headEnd/>
            <a:tailEnd/>
          </a:ln>
        </p:spPr>
      </p:pic>
      <p:sp>
        <p:nvSpPr>
          <p:cNvPr id="41992" name="Rectangle 8"/>
          <p:cNvSpPr>
            <a:spLocks noChangeArrowheads="1"/>
          </p:cNvSpPr>
          <p:nvPr/>
        </p:nvSpPr>
        <p:spPr bwMode="auto">
          <a:xfrm>
            <a:off x="250825" y="188913"/>
            <a:ext cx="8642350" cy="2647950"/>
          </a:xfrm>
          <a:prstGeom prst="rect">
            <a:avLst/>
          </a:prstGeom>
          <a:solidFill>
            <a:srgbClr val="CCFFFF"/>
          </a:solidFill>
          <a:ln w="9525">
            <a:noFill/>
            <a:miter lim="800000"/>
          </a:ln>
        </p:spPr>
        <p:txBody>
          <a:bodyPr>
            <a:spAutoFit/>
          </a:bodyPr>
          <a:lstStyle/>
          <a:p>
            <a:pPr>
              <a:lnSpc>
                <a:spcPct val="100000"/>
              </a:lnSpc>
              <a:spcBef>
                <a:spcPct val="0"/>
              </a:spcBef>
              <a:buClrTx/>
              <a:buSzTx/>
              <a:buFontTx/>
              <a:buNone/>
            </a:pPr>
            <a:r>
              <a:rPr lang="zh-CN" altLang="en-US" sz="2400"/>
              <a:t>解：从时序图看出，该总线采用异步定时协议。</a:t>
            </a:r>
            <a:endParaRPr lang="zh-CN" altLang="en-US" sz="2400"/>
          </a:p>
          <a:p>
            <a:pPr lvl="1">
              <a:lnSpc>
                <a:spcPct val="100000"/>
              </a:lnSpc>
              <a:spcBef>
                <a:spcPct val="0"/>
              </a:spcBef>
              <a:buClrTx/>
              <a:buSzTx/>
              <a:buFontTx/>
              <a:buNone/>
            </a:pPr>
            <a:r>
              <a:rPr lang="zh-CN" altLang="en-US" sz="2400"/>
              <a:t>（</a:t>
            </a:r>
            <a:r>
              <a:rPr lang="en-US" altLang="zh-CN" sz="2400"/>
              <a:t>1</a:t>
            </a:r>
            <a:r>
              <a:rPr lang="zh-CN" altLang="en-US" sz="2400"/>
              <a:t>）当某个设备请求使用总线时，在该设备所属的请求线上发出申请信号</a:t>
            </a:r>
            <a:r>
              <a:rPr lang="en-US" altLang="zh-CN" sz="2400"/>
              <a:t>BRi</a:t>
            </a:r>
            <a:r>
              <a:rPr lang="zh-CN" altLang="en-US" sz="2400"/>
              <a:t>。</a:t>
            </a:r>
            <a:endParaRPr lang="zh-CN" altLang="en-US" sz="2400"/>
          </a:p>
          <a:p>
            <a:pPr lvl="1">
              <a:lnSpc>
                <a:spcPct val="100000"/>
              </a:lnSpc>
              <a:spcBef>
                <a:spcPct val="0"/>
              </a:spcBef>
              <a:buClrTx/>
              <a:buSzTx/>
              <a:buFontTx/>
              <a:buNone/>
            </a:pPr>
            <a:r>
              <a:rPr lang="zh-CN" altLang="en-US" sz="2400"/>
              <a:t>（</a:t>
            </a:r>
            <a:r>
              <a:rPr lang="en-US" altLang="zh-CN" sz="2400"/>
              <a:t>2</a:t>
            </a:r>
            <a:r>
              <a:rPr lang="zh-CN" altLang="en-US" sz="2400"/>
              <a:t>）</a:t>
            </a:r>
            <a:r>
              <a:rPr lang="en-US" altLang="zh-CN" sz="2400"/>
              <a:t>CPU</a:t>
            </a:r>
            <a:r>
              <a:rPr lang="zh-CN" altLang="en-US" sz="2400"/>
              <a:t>按优先原则同意后给出授权信号</a:t>
            </a:r>
            <a:r>
              <a:rPr lang="en-US" altLang="zh-CN" sz="2400"/>
              <a:t>BGi</a:t>
            </a:r>
            <a:r>
              <a:rPr lang="zh-CN" altLang="en-US" sz="2400"/>
              <a:t>作为回答。</a:t>
            </a:r>
            <a:endParaRPr lang="zh-CN" altLang="en-US" sz="2400"/>
          </a:p>
          <a:p>
            <a:pPr lvl="1">
              <a:lnSpc>
                <a:spcPct val="100000"/>
              </a:lnSpc>
              <a:spcBef>
                <a:spcPct val="0"/>
              </a:spcBef>
              <a:buClrTx/>
              <a:buSzTx/>
              <a:buFontTx/>
              <a:buNone/>
            </a:pPr>
            <a:r>
              <a:rPr lang="zh-CN" altLang="en-US" sz="2400"/>
              <a:t>（</a:t>
            </a:r>
            <a:r>
              <a:rPr lang="en-US" altLang="zh-CN" sz="2400"/>
              <a:t>3</a:t>
            </a:r>
            <a:r>
              <a:rPr lang="zh-CN" altLang="en-US" sz="2400"/>
              <a:t>）</a:t>
            </a:r>
            <a:r>
              <a:rPr lang="en-US" altLang="zh-CN" sz="2400"/>
              <a:t>BGi</a:t>
            </a:r>
            <a:r>
              <a:rPr lang="zh-CN" altLang="en-US" sz="2400"/>
              <a:t>链式查询各设备，并上升从设备回答</a:t>
            </a:r>
            <a:r>
              <a:rPr lang="en-US" altLang="zh-CN" sz="2400"/>
              <a:t>SACK</a:t>
            </a:r>
            <a:r>
              <a:rPr lang="zh-CN" altLang="en-US" sz="2400"/>
              <a:t>信号证实已收到</a:t>
            </a:r>
            <a:r>
              <a:rPr lang="en-US" altLang="zh-CN" sz="2400"/>
              <a:t>BGi</a:t>
            </a:r>
            <a:r>
              <a:rPr lang="zh-CN" altLang="en-US" sz="2400"/>
              <a:t>信号。同时撤消请求信号</a:t>
            </a:r>
            <a:r>
              <a:rPr lang="en-US" altLang="zh-CN" sz="2400"/>
              <a:t>BRi</a:t>
            </a:r>
            <a:r>
              <a:rPr lang="zh-CN" altLang="en-US" sz="2400"/>
              <a:t>。</a:t>
            </a:r>
            <a:endParaRPr lang="zh-CN" altLang="en-US" sz="2400"/>
          </a:p>
          <a:p>
            <a:pPr lvl="1">
              <a:lnSpc>
                <a:spcPct val="100000"/>
              </a:lnSpc>
              <a:spcBef>
                <a:spcPct val="0"/>
              </a:spcBef>
              <a:buClrTx/>
              <a:buSzTx/>
              <a:buFontTx/>
              <a:buNone/>
            </a:pPr>
            <a:r>
              <a:rPr lang="zh-CN" altLang="en-US" sz="2400"/>
              <a:t>（</a:t>
            </a:r>
            <a:r>
              <a:rPr lang="en-US" altLang="zh-CN" sz="2400"/>
              <a:t>4</a:t>
            </a:r>
            <a:r>
              <a:rPr lang="zh-CN" altLang="en-US" sz="2400"/>
              <a:t>）</a:t>
            </a:r>
            <a:r>
              <a:rPr lang="en-US" altLang="zh-CN" sz="2400"/>
              <a:t>CPU</a:t>
            </a:r>
            <a:r>
              <a:rPr lang="zh-CN" altLang="en-US" sz="2400"/>
              <a:t>接到</a:t>
            </a:r>
            <a:r>
              <a:rPr lang="en-US" altLang="zh-CN" sz="2400"/>
              <a:t>SACK</a:t>
            </a:r>
            <a:r>
              <a:rPr lang="zh-CN" altLang="en-US" sz="2400"/>
              <a:t>信号后下降</a:t>
            </a:r>
            <a:r>
              <a:rPr lang="en-US" altLang="zh-CN" sz="2400"/>
              <a:t>BG</a:t>
            </a:r>
            <a:r>
              <a:rPr lang="zh-CN" altLang="en-US" sz="2400"/>
              <a:t>作为回答。</a:t>
            </a:r>
            <a:endParaRPr lang="zh-CN" altLang="en-US" sz="2400"/>
          </a:p>
        </p:txBody>
      </p:sp>
      <p:sp>
        <p:nvSpPr>
          <p:cNvPr id="41993" name="Rectangle 9"/>
          <p:cNvSpPr>
            <a:spLocks noChangeArrowheads="1"/>
          </p:cNvSpPr>
          <p:nvPr/>
        </p:nvSpPr>
        <p:spPr bwMode="auto">
          <a:xfrm>
            <a:off x="228600" y="228600"/>
            <a:ext cx="8642350" cy="2647950"/>
          </a:xfrm>
          <a:prstGeom prst="rect">
            <a:avLst/>
          </a:prstGeom>
          <a:solidFill>
            <a:srgbClr val="CCFFFF"/>
          </a:solidFill>
          <a:ln w="9525">
            <a:noFill/>
            <a:miter lim="800000"/>
          </a:ln>
        </p:spPr>
        <p:txBody>
          <a:bodyPr>
            <a:spAutoFit/>
          </a:bodyPr>
          <a:lstStyle/>
          <a:p>
            <a:pPr lvl="1">
              <a:lnSpc>
                <a:spcPct val="100000"/>
              </a:lnSpc>
              <a:spcBef>
                <a:spcPct val="0"/>
              </a:spcBef>
              <a:buClrTx/>
              <a:buSzTx/>
              <a:buFontTx/>
              <a:buNone/>
            </a:pPr>
            <a:r>
              <a:rPr lang="zh-CN" altLang="en-US" sz="2400"/>
              <a:t>（</a:t>
            </a:r>
            <a:r>
              <a:rPr lang="en-US" altLang="zh-CN" sz="2400"/>
              <a:t>5</a:t>
            </a:r>
            <a:r>
              <a:rPr lang="zh-CN" altLang="en-US" sz="2400"/>
              <a:t>）在总线“忙”标志</a:t>
            </a:r>
            <a:r>
              <a:rPr lang="en-US" altLang="zh-CN" sz="2400"/>
              <a:t>BBSY</a:t>
            </a:r>
            <a:r>
              <a:rPr lang="zh-CN" altLang="en-US" sz="2400"/>
              <a:t>为“</a:t>
            </a:r>
            <a:r>
              <a:rPr lang="en-US" altLang="zh-CN" sz="2400"/>
              <a:t>0”</a:t>
            </a:r>
            <a:r>
              <a:rPr lang="zh-CN" altLang="en-US" sz="2400"/>
              <a:t>情况该设备上升</a:t>
            </a:r>
            <a:r>
              <a:rPr lang="en-US" altLang="zh-CN" sz="2400"/>
              <a:t>BBSY</a:t>
            </a:r>
            <a:r>
              <a:rPr lang="zh-CN" altLang="en-US" sz="2400"/>
              <a:t>，表示该设备获得了总线控制权，成为控制总线的主设备。</a:t>
            </a:r>
            <a:endParaRPr lang="zh-CN" altLang="en-US" sz="2400"/>
          </a:p>
          <a:p>
            <a:pPr lvl="1">
              <a:lnSpc>
                <a:spcPct val="100000"/>
              </a:lnSpc>
              <a:spcBef>
                <a:spcPct val="0"/>
              </a:spcBef>
              <a:buClrTx/>
              <a:buSzTx/>
              <a:buFontTx/>
              <a:buNone/>
            </a:pPr>
            <a:r>
              <a:rPr lang="zh-CN" altLang="en-US" sz="2400"/>
              <a:t>（</a:t>
            </a:r>
            <a:r>
              <a:rPr lang="en-US" altLang="zh-CN" sz="2400"/>
              <a:t>6</a:t>
            </a:r>
            <a:r>
              <a:rPr lang="zh-CN" altLang="en-US" sz="2400"/>
              <a:t>）在设备用完总线后，下降</a:t>
            </a:r>
            <a:r>
              <a:rPr lang="en-US" altLang="zh-CN" sz="2400"/>
              <a:t>BBSY</a:t>
            </a:r>
            <a:r>
              <a:rPr lang="zh-CN" altLang="en-US" sz="2400"/>
              <a:t>和</a:t>
            </a:r>
            <a:r>
              <a:rPr lang="en-US" altLang="zh-CN" sz="2400"/>
              <a:t>SACK</a:t>
            </a:r>
            <a:r>
              <a:rPr lang="zh-CN" altLang="en-US" sz="2400"/>
              <a:t>，释放总线。</a:t>
            </a:r>
            <a:endParaRPr lang="zh-CN" altLang="en-US" sz="2400"/>
          </a:p>
          <a:p>
            <a:pPr lvl="1">
              <a:lnSpc>
                <a:spcPct val="100000"/>
              </a:lnSpc>
              <a:spcBef>
                <a:spcPct val="0"/>
              </a:spcBef>
              <a:buClrTx/>
              <a:buSzTx/>
              <a:buFontTx/>
              <a:buNone/>
            </a:pPr>
            <a:r>
              <a:rPr lang="zh-CN" altLang="en-US" sz="2400"/>
              <a:t>（</a:t>
            </a:r>
            <a:r>
              <a:rPr lang="en-US" altLang="zh-CN" sz="2400"/>
              <a:t>7</a:t>
            </a:r>
            <a:r>
              <a:rPr lang="zh-CN" altLang="en-US" sz="2400"/>
              <a:t>）在上述选择主设备过程中，可能现行的主从设备正在进行传送。此时需等待现行传送结束，即现行主设备下降</a:t>
            </a:r>
            <a:r>
              <a:rPr lang="en-US" altLang="zh-CN" sz="2400"/>
              <a:t>BBSY</a:t>
            </a:r>
            <a:r>
              <a:rPr lang="zh-CN" altLang="en-US" sz="2400"/>
              <a:t>信号后，新的主设备才能上升</a:t>
            </a:r>
            <a:r>
              <a:rPr lang="en-US" altLang="zh-CN" sz="2400"/>
              <a:t>BBSY</a:t>
            </a:r>
            <a:r>
              <a:rPr lang="zh-CN" altLang="en-US" sz="2400"/>
              <a:t>，获得总线控制权。</a:t>
            </a:r>
            <a:endParaRPr lang="zh-CN" altLang="en-US" sz="2400"/>
          </a:p>
          <a:p>
            <a:pPr lvl="1">
              <a:lnSpc>
                <a:spcPct val="100000"/>
              </a:lnSpc>
              <a:spcBef>
                <a:spcPct val="0"/>
              </a:spcBef>
              <a:buClrTx/>
              <a:buSzTx/>
              <a:buFontTx/>
              <a:buNone/>
            </a:pPr>
            <a:endParaRPr lang="en-US" altLang="zh-CN"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1992"/>
                                        </p:tgtEl>
                                        <p:attrNameLst>
                                          <p:attrName>style.visibility</p:attrName>
                                        </p:attrNameLst>
                                      </p:cBhvr>
                                      <p:to>
                                        <p:strVal val="visible"/>
                                      </p:to>
                                    </p:set>
                                    <p:animEffect transition="in" filter="dissolve">
                                      <p:cBhvr>
                                        <p:cTn id="7" dur="500"/>
                                        <p:tgtEl>
                                          <p:spTgt spid="41992"/>
                                        </p:tgtEl>
                                      </p:cBhvr>
                                    </p:animEffect>
                                  </p:childTnLst>
                                  <p:subTnLst>
                                    <p:set>
                                      <p:cBhvr override="childStyle">
                                        <p:cTn dur="1" fill="hold" display="0" masterRel="nextClick" afterEffect="1"/>
                                        <p:tgtEl>
                                          <p:spTgt spid="4199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993"/>
                                        </p:tgtEl>
                                        <p:attrNameLst>
                                          <p:attrName>style.visibility</p:attrName>
                                        </p:attrNameLst>
                                      </p:cBhvr>
                                      <p:to>
                                        <p:strVal val="visible"/>
                                      </p:to>
                                    </p:set>
                                    <p:animEffect transition="in" filter="dissolve">
                                      <p:cBhvr>
                                        <p:cTn id="12" dur="500"/>
                                        <p:tgtEl>
                                          <p:spTgt spid="41993"/>
                                        </p:tgtEl>
                                      </p:cBhvr>
                                    </p:animEffect>
                                  </p:childTnLst>
                                  <p:subTnLst>
                                    <p:set>
                                      <p:cBhvr override="childStyle">
                                        <p:cTn dur="1" fill="hold" display="0" masterRel="nextClick" afterEffect="1"/>
                                        <p:tgtEl>
                                          <p:spTgt spid="419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2" grpId="0" animBg="1" autoUpdateAnimBg="0"/>
      <p:bldP spid="41993"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fld>
            <a:endParaRPr lang="en-US" altLang="zh-CN"/>
          </a:p>
        </p:txBody>
      </p:sp>
      <p:sp>
        <p:nvSpPr>
          <p:cNvPr id="30724" name="Rectangle 7"/>
          <p:cNvSpPr>
            <a:spLocks noChangeArrowheads="1"/>
          </p:cNvSpPr>
          <p:nvPr/>
        </p:nvSpPr>
        <p:spPr bwMode="auto">
          <a:xfrm>
            <a:off x="153804" y="3597271"/>
            <a:ext cx="8739187" cy="3102388"/>
          </a:xfrm>
          <a:prstGeom prst="rect">
            <a:avLst/>
          </a:prstGeom>
          <a:noFill/>
          <a:ln w="9525">
            <a:noFill/>
            <a:miter lim="800000"/>
          </a:ln>
        </p:spPr>
        <p:txBody>
          <a:bodyPr tIns="0" bIns="0" anchor="ctr">
            <a:spAutoFit/>
          </a:bodyPr>
          <a:lstStyle/>
          <a:p>
            <a:pPr>
              <a:lnSpc>
                <a:spcPct val="120000"/>
              </a:lnSpc>
              <a:spcBef>
                <a:spcPct val="0"/>
              </a:spcBef>
              <a:buClrTx/>
              <a:buSzTx/>
              <a:buFontTx/>
              <a:buNone/>
            </a:pPr>
            <a:r>
              <a:rPr lang="en-US" altLang="zh-CN" sz="2800" dirty="0" smtClean="0"/>
              <a:t>3</a:t>
            </a:r>
            <a:r>
              <a:rPr lang="en-US" altLang="zh-CN" sz="2800" dirty="0"/>
              <a:t>.</a:t>
            </a:r>
            <a:r>
              <a:rPr lang="zh-CN" altLang="en-US" sz="2800" dirty="0"/>
              <a:t>半同步总线定时协定</a:t>
            </a:r>
            <a:endParaRPr lang="zh-CN" altLang="en-US" sz="2800" dirty="0"/>
          </a:p>
          <a:p>
            <a:pPr>
              <a:lnSpc>
                <a:spcPct val="120000"/>
              </a:lnSpc>
              <a:spcBef>
                <a:spcPct val="0"/>
              </a:spcBef>
              <a:buClrTx/>
              <a:buSzTx/>
              <a:buFontTx/>
              <a:buNone/>
            </a:pPr>
            <a:r>
              <a:rPr lang="zh-CN" altLang="en-US" sz="2800" dirty="0" smtClean="0"/>
              <a:t>    同步总线</a:t>
            </a:r>
            <a:r>
              <a:rPr lang="zh-CN" altLang="en-US" sz="2800" dirty="0"/>
              <a:t>的优点是控制简单，传输速率通常较高，但不适用于速度差异较大的设备</a:t>
            </a:r>
            <a:r>
              <a:rPr lang="zh-CN" altLang="en-US" sz="2800" dirty="0" smtClean="0"/>
              <a:t>。如果</a:t>
            </a:r>
            <a:r>
              <a:rPr lang="zh-CN" altLang="en-US" sz="2800" dirty="0"/>
              <a:t>在总线上传输的大部分设备的速度相当，仅有很少的设备需要较长的传输时间，则</a:t>
            </a:r>
            <a:r>
              <a:rPr lang="zh-CN" altLang="en-US" sz="2800" dirty="0" smtClean="0"/>
              <a:t>可以</a:t>
            </a:r>
            <a:r>
              <a:rPr lang="zh-CN" altLang="en-US" sz="2800" dirty="0"/>
              <a:t>在同步总线定时协定的基础上稍加改动，扩展为半同步总线定时协定</a:t>
            </a:r>
            <a:r>
              <a:rPr lang="zh-CN" altLang="en-US" sz="2800" dirty="0" smtClean="0"/>
              <a:t>。</a:t>
            </a:r>
            <a:endParaRPr lang="en-US" altLang="zh-CN" sz="2800" dirty="0" smtClean="0"/>
          </a:p>
        </p:txBody>
      </p:sp>
      <p:pic>
        <p:nvPicPr>
          <p:cNvPr id="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2" y="402320"/>
            <a:ext cx="7272808" cy="3057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a:spLocks noChangeArrowheads="1"/>
          </p:cNvSpPr>
          <p:nvPr/>
        </p:nvSpPr>
        <p:spPr bwMode="auto">
          <a:xfrm>
            <a:off x="210288" y="3700372"/>
            <a:ext cx="8739187" cy="3016210"/>
          </a:xfrm>
          <a:prstGeom prst="rect">
            <a:avLst/>
          </a:prstGeom>
          <a:solidFill>
            <a:schemeClr val="bg1"/>
          </a:solidFill>
          <a:ln w="9525">
            <a:noFill/>
            <a:miter lim="800000"/>
          </a:ln>
        </p:spPr>
        <p:txBody>
          <a:bodyPr tIns="0" bIns="0" anchor="ctr">
            <a:spAutoFit/>
          </a:bodyPr>
          <a:lstStyle/>
          <a:p>
            <a:pPr>
              <a:lnSpc>
                <a:spcPct val="100000"/>
              </a:lnSpc>
              <a:spcBef>
                <a:spcPct val="0"/>
              </a:spcBef>
              <a:buClrTx/>
              <a:buSzTx/>
              <a:buFontTx/>
              <a:buNone/>
            </a:pPr>
            <a:r>
              <a:rPr lang="zh-CN" altLang="en-US" sz="2800" dirty="0" smtClean="0"/>
              <a:t>    半</a:t>
            </a:r>
            <a:r>
              <a:rPr lang="zh-CN" altLang="en-US" sz="2800" dirty="0"/>
              <a:t>同步总线整体上仍然采用同步操作方式，其总线周期是时钟周期的整数倍。不同</a:t>
            </a:r>
            <a:r>
              <a:rPr lang="zh-CN" altLang="en-US" sz="2800" dirty="0" smtClean="0"/>
              <a:t>之处在</a:t>
            </a:r>
            <a:r>
              <a:rPr lang="zh-CN" altLang="en-US" sz="2800" dirty="0"/>
              <a:t>于增加一根联络信号线，如高电平有效的准备好信号</a:t>
            </a:r>
            <a:r>
              <a:rPr lang="en-US" altLang="zh-CN" sz="2800" dirty="0"/>
              <a:t>READY(</a:t>
            </a:r>
            <a:r>
              <a:rPr lang="zh-CN" altLang="en-US" sz="2800" dirty="0"/>
              <a:t>或者低电平有效的</a:t>
            </a:r>
            <a:r>
              <a:rPr lang="zh-CN" altLang="en-US" sz="2800" dirty="0" smtClean="0"/>
              <a:t>等待信号</a:t>
            </a:r>
            <a:r>
              <a:rPr lang="en-US" altLang="zh-CN" sz="2800" dirty="0" err="1"/>
              <a:t>nWAIT</a:t>
            </a:r>
            <a:r>
              <a:rPr lang="en-US" altLang="zh-CN" sz="2800" dirty="0"/>
              <a:t>))</a:t>
            </a:r>
            <a:r>
              <a:rPr lang="zh-CN" altLang="en-US" sz="2800" dirty="0"/>
              <a:t>，由此信号决定是否需要增加时钟周期</a:t>
            </a:r>
            <a:r>
              <a:rPr lang="zh-CN" altLang="en-US" sz="2800" dirty="0" smtClean="0"/>
              <a:t>。</a:t>
            </a:r>
            <a:endParaRPr lang="en-US" altLang="zh-CN" sz="2800" dirty="0" smtClean="0"/>
          </a:p>
          <a:p>
            <a:pPr>
              <a:lnSpc>
                <a:spcPct val="100000"/>
              </a:lnSpc>
              <a:spcBef>
                <a:spcPct val="0"/>
              </a:spcBef>
              <a:buClrTx/>
              <a:buSzTx/>
              <a:buFontTx/>
              <a:buNone/>
            </a:pPr>
            <a:endParaRPr lang="en-US" altLang="zh-CN" sz="2800" dirty="0"/>
          </a:p>
          <a:p>
            <a:pPr>
              <a:lnSpc>
                <a:spcPct val="100000"/>
              </a:lnSpc>
              <a:spcBef>
                <a:spcPct val="0"/>
              </a:spcBef>
              <a:buClrTx/>
              <a:buSzTx/>
              <a:buFontTx/>
              <a:buNone/>
            </a:pPr>
            <a:endParaRPr lang="en-US" altLang="zh-CN" sz="2800" dirty="0" smtClean="0"/>
          </a:p>
        </p:txBody>
      </p:sp>
      <p:sp>
        <p:nvSpPr>
          <p:cNvPr id="9" name="Rectangle 7"/>
          <p:cNvSpPr>
            <a:spLocks noChangeArrowheads="1"/>
          </p:cNvSpPr>
          <p:nvPr/>
        </p:nvSpPr>
        <p:spPr bwMode="auto">
          <a:xfrm>
            <a:off x="219349" y="3014293"/>
            <a:ext cx="8739187" cy="3693319"/>
          </a:xfrm>
          <a:prstGeom prst="rect">
            <a:avLst/>
          </a:prstGeom>
          <a:solidFill>
            <a:schemeClr val="bg1"/>
          </a:solidFill>
          <a:ln w="9525">
            <a:noFill/>
            <a:miter lim="800000"/>
          </a:ln>
        </p:spPr>
        <p:txBody>
          <a:bodyPr tIns="0" bIns="0" anchor="ctr">
            <a:spAutoFit/>
          </a:bodyPr>
          <a:lstStyle/>
          <a:p>
            <a:pPr>
              <a:lnSpc>
                <a:spcPct val="100000"/>
              </a:lnSpc>
              <a:spcBef>
                <a:spcPct val="0"/>
              </a:spcBef>
              <a:buClrTx/>
              <a:buSzTx/>
              <a:buFontTx/>
              <a:buNone/>
            </a:pPr>
            <a:r>
              <a:rPr lang="zh-CN" altLang="en-US" sz="2400" dirty="0" smtClean="0"/>
              <a:t>    基本</a:t>
            </a:r>
            <a:r>
              <a:rPr lang="zh-CN" altLang="en-US" sz="2400" dirty="0"/>
              <a:t>的总线传输周期由</a:t>
            </a:r>
            <a:r>
              <a:rPr lang="en-US" altLang="zh-CN" sz="2400" dirty="0" smtClean="0"/>
              <a:t>T1</a:t>
            </a:r>
            <a:r>
              <a:rPr lang="zh-CN" altLang="en-US" sz="2400" dirty="0" smtClean="0"/>
              <a:t>到</a:t>
            </a:r>
            <a:r>
              <a:rPr lang="en-US" altLang="zh-CN" sz="2400" dirty="0" smtClean="0"/>
              <a:t>T4</a:t>
            </a:r>
            <a:r>
              <a:rPr lang="zh-CN" altLang="en-US" sz="2400" dirty="0" smtClean="0"/>
              <a:t>四</a:t>
            </a:r>
            <a:r>
              <a:rPr lang="zh-CN" altLang="en-US" sz="2400" dirty="0"/>
              <a:t>个时钟周期构成，但如果某个</a:t>
            </a:r>
            <a:r>
              <a:rPr lang="zh-CN" altLang="en-US" sz="2400" dirty="0" smtClean="0"/>
              <a:t>设备</a:t>
            </a:r>
            <a:r>
              <a:rPr lang="zh-CN" altLang="en-US" sz="2400" dirty="0"/>
              <a:t>来不及在四个时钟周期内完成总线操作，可以使</a:t>
            </a:r>
            <a:r>
              <a:rPr lang="en-US" altLang="zh-CN" sz="2400" dirty="0"/>
              <a:t>READY</a:t>
            </a:r>
            <a:r>
              <a:rPr lang="zh-CN" altLang="en-US" sz="2400" dirty="0"/>
              <a:t>信号无效</a:t>
            </a:r>
            <a:r>
              <a:rPr lang="en-US" altLang="zh-CN" sz="2400" dirty="0"/>
              <a:t>(</a:t>
            </a:r>
            <a:r>
              <a:rPr lang="zh-CN" altLang="en-US" sz="2400" dirty="0"/>
              <a:t>或者</a:t>
            </a:r>
            <a:r>
              <a:rPr lang="en-US" altLang="zh-CN" sz="2400" dirty="0" err="1"/>
              <a:t>nWAIT</a:t>
            </a:r>
            <a:r>
              <a:rPr lang="zh-CN" altLang="en-US" sz="2400" dirty="0"/>
              <a:t>信号</a:t>
            </a:r>
            <a:r>
              <a:rPr lang="zh-CN" altLang="en-US" sz="2400" dirty="0" smtClean="0"/>
              <a:t>有效</a:t>
            </a:r>
            <a:r>
              <a:rPr lang="en-US" altLang="zh-CN" sz="2400" dirty="0"/>
              <a:t>)</a:t>
            </a:r>
            <a:r>
              <a:rPr lang="zh-CN" altLang="en-US" sz="2400" dirty="0"/>
              <a:t>以增加时钟周期数。总线控制逻辑在</a:t>
            </a:r>
            <a:r>
              <a:rPr lang="en-US" altLang="zh-CN" sz="2400" dirty="0"/>
              <a:t>T3</a:t>
            </a:r>
            <a:r>
              <a:rPr lang="zh-CN" altLang="en-US" sz="2400" dirty="0"/>
              <a:t>的前沿检测</a:t>
            </a:r>
            <a:r>
              <a:rPr lang="en-US" altLang="zh-CN" sz="2400" dirty="0"/>
              <a:t>READY</a:t>
            </a:r>
            <a:r>
              <a:rPr lang="zh-CN" altLang="en-US" sz="2400" dirty="0"/>
              <a:t>引脚是否有效</a:t>
            </a:r>
            <a:r>
              <a:rPr lang="en-US" altLang="zh-CN" sz="2400" dirty="0"/>
              <a:t>:</a:t>
            </a:r>
            <a:r>
              <a:rPr lang="zh-CN" altLang="en-US" sz="2400" dirty="0"/>
              <a:t>如果</a:t>
            </a:r>
            <a:r>
              <a:rPr lang="en-US" altLang="zh-CN" sz="2400" dirty="0" smtClean="0"/>
              <a:t>READY</a:t>
            </a:r>
            <a:r>
              <a:rPr lang="zh-CN" altLang="en-US" sz="2400" dirty="0" smtClean="0"/>
              <a:t>有效</a:t>
            </a:r>
            <a:r>
              <a:rPr lang="zh-CN" altLang="en-US" sz="2400" dirty="0"/>
              <a:t>，则在</a:t>
            </a:r>
            <a:r>
              <a:rPr lang="en-US" altLang="zh-CN" sz="2400" dirty="0"/>
              <a:t>T3</a:t>
            </a:r>
            <a:r>
              <a:rPr lang="zh-CN" altLang="en-US" sz="2400" dirty="0"/>
              <a:t>时钟周期后进入</a:t>
            </a:r>
            <a:r>
              <a:rPr lang="en-US" altLang="zh-CN" sz="2400" dirty="0" smtClean="0"/>
              <a:t>T4</a:t>
            </a:r>
            <a:r>
              <a:rPr lang="zh-CN" altLang="en-US" sz="2400" dirty="0" smtClean="0"/>
              <a:t>时钟</a:t>
            </a:r>
            <a:r>
              <a:rPr lang="zh-CN" altLang="en-US" sz="2400" dirty="0"/>
              <a:t>周期</a:t>
            </a:r>
            <a:r>
              <a:rPr lang="en-US" altLang="zh-CN" sz="2400" dirty="0"/>
              <a:t>;</a:t>
            </a:r>
            <a:r>
              <a:rPr lang="zh-CN" altLang="en-US" sz="2400" dirty="0"/>
              <a:t>如果</a:t>
            </a:r>
            <a:r>
              <a:rPr lang="en-US" altLang="zh-CN" sz="2400" dirty="0"/>
              <a:t>READY</a:t>
            </a:r>
            <a:r>
              <a:rPr lang="zh-CN" altLang="en-US" sz="2400" dirty="0"/>
              <a:t>无效，则在</a:t>
            </a:r>
            <a:r>
              <a:rPr lang="en-US" altLang="zh-CN" sz="2400" dirty="0"/>
              <a:t>T3</a:t>
            </a:r>
            <a:r>
              <a:rPr lang="zh-CN" altLang="en-US" sz="2400" dirty="0"/>
              <a:t>和</a:t>
            </a:r>
            <a:r>
              <a:rPr lang="en-US" altLang="zh-CN" sz="2400" dirty="0"/>
              <a:t>T4</a:t>
            </a:r>
            <a:r>
              <a:rPr lang="zh-CN" altLang="en-US" sz="2400" dirty="0"/>
              <a:t>之间插入</a:t>
            </a:r>
            <a:r>
              <a:rPr lang="zh-CN" altLang="en-US" sz="2400" dirty="0" smtClean="0"/>
              <a:t>一个</a:t>
            </a:r>
            <a:r>
              <a:rPr lang="zh-CN" altLang="en-US" sz="2400" dirty="0"/>
              <a:t>等待周期</a:t>
            </a:r>
            <a:r>
              <a:rPr lang="en-US" altLang="zh-CN" sz="2400" dirty="0"/>
              <a:t>Tw</a:t>
            </a:r>
            <a:r>
              <a:rPr lang="zh-CN" altLang="en-US" sz="2400" dirty="0"/>
              <a:t>，并在</a:t>
            </a:r>
            <a:r>
              <a:rPr lang="en-US" altLang="zh-CN" sz="2400" dirty="0" smtClean="0"/>
              <a:t>T</a:t>
            </a:r>
            <a:r>
              <a:rPr lang="en-US" altLang="zh-CN" sz="2400" dirty="0"/>
              <a:t>w</a:t>
            </a:r>
            <a:r>
              <a:rPr lang="zh-CN" altLang="en-US" sz="2400" dirty="0" smtClean="0"/>
              <a:t>前沿</a:t>
            </a:r>
            <a:r>
              <a:rPr lang="zh-CN" altLang="en-US" sz="2400" dirty="0"/>
              <a:t>再次检测</a:t>
            </a:r>
            <a:r>
              <a:rPr lang="en-US" altLang="zh-CN" sz="2400" dirty="0"/>
              <a:t>READY</a:t>
            </a:r>
            <a:r>
              <a:rPr lang="zh-CN" altLang="en-US" sz="2400" dirty="0"/>
              <a:t>引脚是否有效，直到</a:t>
            </a:r>
            <a:r>
              <a:rPr lang="en-US" altLang="zh-CN" sz="2400" dirty="0"/>
              <a:t>READY</a:t>
            </a:r>
            <a:r>
              <a:rPr lang="zh-CN" altLang="en-US" sz="2400" dirty="0"/>
              <a:t>有效后才</a:t>
            </a:r>
            <a:r>
              <a:rPr lang="zh-CN" altLang="en-US" sz="2400" dirty="0" smtClean="0"/>
              <a:t>进入</a:t>
            </a:r>
            <a:r>
              <a:rPr lang="en-US" altLang="zh-CN" sz="2400" dirty="0" smtClean="0"/>
              <a:t>T4</a:t>
            </a:r>
            <a:r>
              <a:rPr lang="zh-CN" altLang="en-US" sz="2400" dirty="0"/>
              <a:t>时钟周期。</a:t>
            </a:r>
            <a:endParaRPr lang="zh-CN" altLang="en-US" sz="2400" dirty="0"/>
          </a:p>
          <a:p>
            <a:pPr>
              <a:lnSpc>
                <a:spcPct val="100000"/>
              </a:lnSpc>
              <a:spcBef>
                <a:spcPct val="0"/>
              </a:spcBef>
              <a:buClrTx/>
              <a:buSzTx/>
              <a:buFontTx/>
              <a:buNone/>
            </a:pPr>
            <a:r>
              <a:rPr lang="zh-CN" altLang="en-US" sz="2400" dirty="0" smtClean="0"/>
              <a:t>    </a:t>
            </a:r>
            <a:r>
              <a:rPr lang="zh-CN" altLang="en-US" sz="2400" b="1" dirty="0" smtClean="0"/>
              <a:t>半</a:t>
            </a:r>
            <a:r>
              <a:rPr lang="zh-CN" altLang="en-US" sz="2400" b="1" dirty="0"/>
              <a:t>同步总线协定在同步总线协定的基础上仅仅增加了一点点成本，但适应能力却</a:t>
            </a:r>
            <a:r>
              <a:rPr lang="zh-CN" altLang="en-US" sz="2400" b="1" dirty="0" smtClean="0"/>
              <a:t>大大提升</a:t>
            </a:r>
            <a:r>
              <a:rPr lang="zh-CN" altLang="en-US" sz="2400" b="1" dirty="0"/>
              <a:t>。因此，现代的许多同步总线都已扩展为半同步总线</a:t>
            </a:r>
            <a:r>
              <a:rPr lang="zh-CN" altLang="en-US" sz="2400" b="1" dirty="0" smtClean="0"/>
              <a:t>。</a:t>
            </a:r>
            <a:endParaRPr lang="en-US" altLang="zh-CN" sz="24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687C2D26-7E1F-4517-B68A-1CA16319DCD6}" type="slidenum">
              <a:rPr lang="en-US" altLang="zh-CN"/>
            </a:fld>
            <a:endParaRPr lang="en-US" altLang="zh-CN"/>
          </a:p>
        </p:txBody>
      </p:sp>
      <p:sp>
        <p:nvSpPr>
          <p:cNvPr id="30724" name="Rectangle 7"/>
          <p:cNvSpPr>
            <a:spLocks noChangeArrowheads="1"/>
          </p:cNvSpPr>
          <p:nvPr/>
        </p:nvSpPr>
        <p:spPr bwMode="auto">
          <a:xfrm>
            <a:off x="183440" y="2694977"/>
            <a:ext cx="8739187" cy="4062651"/>
          </a:xfrm>
          <a:prstGeom prst="rect">
            <a:avLst/>
          </a:prstGeom>
          <a:noFill/>
          <a:ln w="9525">
            <a:noFill/>
            <a:miter lim="800000"/>
          </a:ln>
        </p:spPr>
        <p:txBody>
          <a:bodyPr tIns="0" bIns="0" anchor="ctr">
            <a:spAutoFit/>
          </a:bodyPr>
          <a:lstStyle/>
          <a:p>
            <a:pPr>
              <a:lnSpc>
                <a:spcPct val="100000"/>
              </a:lnSpc>
              <a:spcBef>
                <a:spcPct val="0"/>
              </a:spcBef>
              <a:buClrTx/>
              <a:buSzTx/>
              <a:buFontTx/>
              <a:buNone/>
            </a:pPr>
            <a:r>
              <a:rPr lang="en-US" altLang="zh-CN" sz="2400" dirty="0" smtClean="0"/>
              <a:t>4.</a:t>
            </a:r>
            <a:r>
              <a:rPr lang="zh-CN" altLang="en-US" sz="2400" dirty="0" smtClean="0"/>
              <a:t>周期</a:t>
            </a:r>
            <a:r>
              <a:rPr lang="zh-CN" altLang="en-US" sz="2400" dirty="0"/>
              <a:t>分裂式总线定时协定</a:t>
            </a:r>
            <a:endParaRPr lang="zh-CN" altLang="en-US" sz="2400" dirty="0"/>
          </a:p>
          <a:p>
            <a:pPr>
              <a:lnSpc>
                <a:spcPct val="100000"/>
              </a:lnSpc>
              <a:spcBef>
                <a:spcPct val="0"/>
              </a:spcBef>
              <a:buClrTx/>
              <a:buSzTx/>
              <a:buFontTx/>
              <a:buNone/>
            </a:pPr>
            <a:r>
              <a:rPr lang="zh-CN" altLang="en-US" sz="2400" dirty="0" smtClean="0"/>
              <a:t>    同步总线</a:t>
            </a:r>
            <a:r>
              <a:rPr lang="zh-CN" altLang="en-US" sz="2400" dirty="0"/>
              <a:t>读操作</a:t>
            </a:r>
            <a:r>
              <a:rPr lang="zh-CN" altLang="en-US" sz="2400" dirty="0" smtClean="0"/>
              <a:t>时序中，</a:t>
            </a:r>
            <a:r>
              <a:rPr lang="zh-CN" altLang="en-US" sz="2400" dirty="0"/>
              <a:t>在第一个时钟周期</a:t>
            </a:r>
            <a:r>
              <a:rPr lang="en-US" altLang="zh-CN" sz="2400" dirty="0"/>
              <a:t>CPU</a:t>
            </a:r>
            <a:r>
              <a:rPr lang="zh-CN" altLang="en-US" sz="2400" dirty="0"/>
              <a:t>送出地址</a:t>
            </a:r>
            <a:r>
              <a:rPr lang="zh-CN" altLang="en-US" sz="2400" dirty="0" smtClean="0"/>
              <a:t>信息和</a:t>
            </a:r>
            <a:r>
              <a:rPr lang="zh-CN" altLang="en-US" sz="2400" dirty="0"/>
              <a:t>最后一个时钟周期存储器送出数据之间，通常有若干个时钟周期的</a:t>
            </a:r>
            <a:r>
              <a:rPr lang="zh-CN" altLang="en-US" sz="2400" dirty="0" smtClean="0"/>
              <a:t>延迟时间</a:t>
            </a:r>
            <a:r>
              <a:rPr lang="en-US" altLang="zh-CN" sz="2400" dirty="0" smtClean="0"/>
              <a:t>(</a:t>
            </a:r>
            <a:r>
              <a:rPr lang="zh-CN" altLang="en-US" sz="2400" dirty="0" smtClean="0"/>
              <a:t>存储器</a:t>
            </a:r>
            <a:r>
              <a:rPr lang="zh-CN" altLang="en-US" sz="2400" dirty="0"/>
              <a:t>内部准备</a:t>
            </a:r>
            <a:r>
              <a:rPr lang="zh-CN" altLang="en-US" sz="2400" dirty="0" smtClean="0"/>
              <a:t>数据时间，占用总线资源</a:t>
            </a:r>
            <a:r>
              <a:rPr lang="en-US" altLang="zh-CN" sz="2400" dirty="0" smtClean="0"/>
              <a:t>)</a:t>
            </a:r>
            <a:r>
              <a:rPr lang="zh-CN" altLang="en-US" sz="2400" dirty="0" smtClean="0"/>
              <a:t>。</a:t>
            </a:r>
            <a:endParaRPr lang="en-US" altLang="zh-CN" sz="2400" dirty="0" smtClean="0"/>
          </a:p>
          <a:p>
            <a:pPr>
              <a:lnSpc>
                <a:spcPct val="100000"/>
              </a:lnSpc>
              <a:spcBef>
                <a:spcPct val="0"/>
              </a:spcBef>
              <a:buClrTx/>
              <a:buSzTx/>
              <a:buFontTx/>
              <a:buNone/>
            </a:pPr>
            <a:r>
              <a:rPr lang="en-US" altLang="zh-CN" sz="2400" dirty="0"/>
              <a:t> </a:t>
            </a:r>
            <a:r>
              <a:rPr lang="en-US" altLang="zh-CN" sz="2400" dirty="0" smtClean="0"/>
              <a:t>   </a:t>
            </a:r>
            <a:r>
              <a:rPr lang="zh-CN" altLang="en-US" sz="2400" dirty="0" smtClean="0"/>
              <a:t>在</a:t>
            </a:r>
            <a:r>
              <a:rPr lang="zh-CN" altLang="en-US" sz="2400" dirty="0"/>
              <a:t>对总线性能要求非常高的系统中，可以将每个读周期分为三步</a:t>
            </a:r>
            <a:r>
              <a:rPr lang="en-US" altLang="zh-CN" sz="2400" dirty="0" smtClean="0"/>
              <a:t>:</a:t>
            </a:r>
            <a:endParaRPr lang="en-US" altLang="zh-CN" sz="2400" dirty="0" smtClean="0"/>
          </a:p>
          <a:p>
            <a:pPr>
              <a:lnSpc>
                <a:spcPct val="100000"/>
              </a:lnSpc>
              <a:spcBef>
                <a:spcPct val="0"/>
              </a:spcBef>
              <a:buClrTx/>
              <a:buSzTx/>
              <a:buFontTx/>
              <a:buNone/>
            </a:pPr>
            <a:r>
              <a:rPr lang="en-US" altLang="zh-CN" sz="2400" dirty="0"/>
              <a:t> </a:t>
            </a:r>
            <a:r>
              <a:rPr lang="en-US" altLang="zh-CN" sz="2400" dirty="0" smtClean="0"/>
              <a:t>   ①</a:t>
            </a:r>
            <a:r>
              <a:rPr lang="zh-CN" altLang="en-US" sz="2400" dirty="0"/>
              <a:t>主方通过</a:t>
            </a:r>
            <a:r>
              <a:rPr lang="zh-CN" altLang="en-US" sz="2400" dirty="0" smtClean="0"/>
              <a:t>总线向</a:t>
            </a:r>
            <a:r>
              <a:rPr lang="zh-CN" altLang="en-US" sz="2400" dirty="0"/>
              <a:t>从方发送地址和读</a:t>
            </a:r>
            <a:r>
              <a:rPr lang="zh-CN" altLang="en-US" sz="2400" dirty="0" smtClean="0"/>
              <a:t>命令；</a:t>
            </a:r>
            <a:endParaRPr lang="en-US" altLang="zh-CN" sz="2400" dirty="0" smtClean="0"/>
          </a:p>
          <a:p>
            <a:pPr>
              <a:lnSpc>
                <a:spcPct val="100000"/>
              </a:lnSpc>
              <a:spcBef>
                <a:spcPct val="0"/>
              </a:spcBef>
              <a:buClrTx/>
              <a:buSzTx/>
              <a:buFontTx/>
              <a:buNone/>
            </a:pPr>
            <a:r>
              <a:rPr lang="en-US" altLang="zh-CN" sz="2400" dirty="0"/>
              <a:t> </a:t>
            </a:r>
            <a:r>
              <a:rPr lang="en-US" altLang="zh-CN" sz="2400" dirty="0" smtClean="0"/>
              <a:t>   </a:t>
            </a:r>
            <a:r>
              <a:rPr lang="zh-CN" altLang="en-US" sz="2400" dirty="0" smtClean="0"/>
              <a:t>②</a:t>
            </a:r>
            <a:r>
              <a:rPr lang="zh-CN" altLang="en-US" sz="2400" dirty="0"/>
              <a:t>从方根据命令进行内部读操作，这是从方执行读命令的</a:t>
            </a:r>
            <a:r>
              <a:rPr lang="zh-CN" altLang="en-US" sz="2400" dirty="0" smtClean="0"/>
              <a:t>数据准备</a:t>
            </a:r>
            <a:r>
              <a:rPr lang="zh-CN" altLang="en-US" sz="2400" dirty="0"/>
              <a:t>时间</a:t>
            </a:r>
            <a:r>
              <a:rPr lang="en-US" altLang="zh-CN" sz="2400" dirty="0" smtClean="0"/>
              <a:t>;</a:t>
            </a:r>
            <a:endParaRPr lang="en-US" altLang="zh-CN" sz="2400" dirty="0" smtClean="0"/>
          </a:p>
          <a:p>
            <a:pPr>
              <a:lnSpc>
                <a:spcPct val="100000"/>
              </a:lnSpc>
              <a:spcBef>
                <a:spcPct val="0"/>
              </a:spcBef>
              <a:buClrTx/>
              <a:buSzTx/>
            </a:pPr>
            <a:r>
              <a:rPr lang="en-US" altLang="zh-CN" sz="2400" dirty="0"/>
              <a:t> </a:t>
            </a:r>
            <a:r>
              <a:rPr lang="en-US" altLang="zh-CN" sz="2400" dirty="0" smtClean="0"/>
              <a:t>   ③</a:t>
            </a:r>
            <a:r>
              <a:rPr lang="zh-CN" altLang="en-US" sz="2400" dirty="0"/>
              <a:t>从方通过数据总线向主方提供数据</a:t>
            </a:r>
            <a:r>
              <a:rPr lang="zh-CN" altLang="en-US" sz="2400" dirty="0" smtClean="0"/>
              <a:t>。相应地将</a:t>
            </a:r>
            <a:r>
              <a:rPr lang="zh-CN" altLang="en-US" sz="2400" dirty="0"/>
              <a:t>一个读周期分解成两个分离的传输子</a:t>
            </a:r>
            <a:r>
              <a:rPr lang="zh-CN" altLang="en-US" sz="2400" dirty="0" smtClean="0"/>
              <a:t>周期。</a:t>
            </a:r>
            <a:endParaRPr lang="zh-CN" altLang="en-US" sz="2400" dirty="0"/>
          </a:p>
        </p:txBody>
      </p:sp>
      <p:pic>
        <p:nvPicPr>
          <p:cNvPr id="296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551" y="116632"/>
            <a:ext cx="653097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7"/>
          <p:cNvSpPr>
            <a:spLocks noChangeArrowheads="1"/>
          </p:cNvSpPr>
          <p:nvPr/>
        </p:nvSpPr>
        <p:spPr bwMode="auto">
          <a:xfrm>
            <a:off x="183440" y="2618499"/>
            <a:ext cx="8823171" cy="4136517"/>
          </a:xfrm>
          <a:prstGeom prst="rect">
            <a:avLst/>
          </a:prstGeom>
          <a:solidFill>
            <a:schemeClr val="bg1"/>
          </a:solidFill>
          <a:ln w="9525">
            <a:noFill/>
            <a:miter lim="800000"/>
          </a:ln>
        </p:spPr>
        <p:txBody>
          <a:bodyPr wrap="square" tIns="0" bIns="0" anchor="ctr">
            <a:spAutoFit/>
          </a:bodyPr>
          <a:lstStyle/>
          <a:p>
            <a:pPr>
              <a:lnSpc>
                <a:spcPct val="120000"/>
              </a:lnSpc>
              <a:spcBef>
                <a:spcPct val="0"/>
              </a:spcBef>
              <a:buClrTx/>
              <a:buSzTx/>
              <a:buFontTx/>
              <a:buNone/>
            </a:pPr>
            <a:r>
              <a:rPr lang="zh-CN" altLang="en-US" sz="2800" dirty="0"/>
              <a:t> </a:t>
            </a:r>
            <a:r>
              <a:rPr lang="zh-CN" altLang="en-US" sz="2800" dirty="0" smtClean="0"/>
              <a:t>   将</a:t>
            </a:r>
            <a:r>
              <a:rPr lang="zh-CN" altLang="en-US" sz="2800" dirty="0"/>
              <a:t>一个读周期分解成两个</a:t>
            </a:r>
            <a:r>
              <a:rPr lang="zh-CN" altLang="en-US" sz="2800" dirty="0" smtClean="0"/>
              <a:t>分离的</a:t>
            </a:r>
            <a:r>
              <a:rPr lang="zh-CN" altLang="en-US" sz="2800" dirty="0"/>
              <a:t>传输子周期</a:t>
            </a:r>
            <a:r>
              <a:rPr lang="en-US" altLang="zh-CN" sz="2800" dirty="0" smtClean="0"/>
              <a:t>:</a:t>
            </a:r>
            <a:endParaRPr lang="en-US" altLang="zh-CN" sz="2800" dirty="0" smtClean="0"/>
          </a:p>
          <a:p>
            <a:pPr>
              <a:lnSpc>
                <a:spcPct val="120000"/>
              </a:lnSpc>
              <a:spcBef>
                <a:spcPct val="0"/>
              </a:spcBef>
              <a:buClrTx/>
              <a:buSzTx/>
              <a:buFontTx/>
              <a:buNone/>
            </a:pPr>
            <a:r>
              <a:rPr lang="en-US" altLang="zh-CN" sz="2800" dirty="0"/>
              <a:t> </a:t>
            </a:r>
            <a:r>
              <a:rPr lang="en-US" altLang="zh-CN" sz="2800" dirty="0" smtClean="0"/>
              <a:t>   </a:t>
            </a:r>
            <a:r>
              <a:rPr lang="zh-CN" altLang="en-US" sz="2800" dirty="0" smtClean="0"/>
              <a:t>第一</a:t>
            </a:r>
            <a:r>
              <a:rPr lang="zh-CN" altLang="en-US" sz="2800" dirty="0"/>
              <a:t>个子周期，主方发送地址和命令及有关信息后，立即和总线断开，</a:t>
            </a:r>
            <a:r>
              <a:rPr lang="zh-CN" altLang="en-US" sz="2800" dirty="0" smtClean="0"/>
              <a:t>供其他</a:t>
            </a:r>
            <a:r>
              <a:rPr lang="zh-CN" altLang="en-US" sz="2800" dirty="0"/>
              <a:t>设备使用</a:t>
            </a:r>
            <a:r>
              <a:rPr lang="en-US" altLang="zh-CN" sz="2800" dirty="0" smtClean="0"/>
              <a:t>;</a:t>
            </a:r>
            <a:endParaRPr lang="en-US" altLang="zh-CN" sz="2800" dirty="0" smtClean="0"/>
          </a:p>
          <a:p>
            <a:pPr>
              <a:lnSpc>
                <a:spcPct val="120000"/>
              </a:lnSpc>
              <a:spcBef>
                <a:spcPct val="0"/>
              </a:spcBef>
              <a:buClrTx/>
              <a:buSzTx/>
              <a:buFontTx/>
              <a:buNone/>
            </a:pPr>
            <a:r>
              <a:rPr lang="en-US" altLang="zh-CN" sz="2800" dirty="0"/>
              <a:t> </a:t>
            </a:r>
            <a:r>
              <a:rPr lang="en-US" altLang="zh-CN" sz="2800" dirty="0" smtClean="0"/>
              <a:t>   </a:t>
            </a:r>
            <a:r>
              <a:rPr lang="zh-CN" altLang="en-US" sz="2800" dirty="0" smtClean="0"/>
              <a:t>第二</a:t>
            </a:r>
            <a:r>
              <a:rPr lang="zh-CN" altLang="en-US" sz="2800" dirty="0"/>
              <a:t>个子周期，被读出的设备重新申请总线使用权后将数据通过总线发</a:t>
            </a:r>
            <a:r>
              <a:rPr lang="zh-CN" altLang="en-US" sz="2800" dirty="0" smtClean="0"/>
              <a:t>向请求</a:t>
            </a:r>
            <a:r>
              <a:rPr lang="zh-CN" altLang="en-US" sz="2800" dirty="0"/>
              <a:t>数据的设备</a:t>
            </a:r>
            <a:r>
              <a:rPr lang="zh-CN" altLang="en-US" sz="2800" dirty="0" smtClean="0"/>
              <a:t>。</a:t>
            </a:r>
            <a:endParaRPr lang="en-US" altLang="zh-CN" sz="2800" dirty="0" smtClean="0"/>
          </a:p>
          <a:p>
            <a:pPr>
              <a:lnSpc>
                <a:spcPct val="120000"/>
              </a:lnSpc>
              <a:spcBef>
                <a:spcPct val="0"/>
              </a:spcBef>
              <a:buClrTx/>
              <a:buSzTx/>
              <a:buFontTx/>
              <a:buNone/>
            </a:pPr>
            <a:r>
              <a:rPr lang="en-US" altLang="zh-CN" sz="2800" dirty="0"/>
              <a:t> </a:t>
            </a:r>
            <a:r>
              <a:rPr lang="en-US" altLang="zh-CN" sz="2800" dirty="0" smtClean="0"/>
              <a:t>   </a:t>
            </a:r>
            <a:r>
              <a:rPr lang="zh-CN" altLang="en-US" sz="2800" b="1" dirty="0" smtClean="0"/>
              <a:t>在</a:t>
            </a:r>
            <a:r>
              <a:rPr lang="zh-CN" altLang="en-US" sz="2800" b="1" dirty="0"/>
              <a:t>分离式总线定时协定中，由于每个设备都要申请总线使用权，故读数据的双方</a:t>
            </a:r>
            <a:r>
              <a:rPr lang="zh-CN" altLang="en-US" sz="2800" b="1" dirty="0" smtClean="0"/>
              <a:t>都是总线</a:t>
            </a:r>
            <a:r>
              <a:rPr lang="zh-CN" altLang="en-US" sz="2800" b="1" dirty="0"/>
              <a:t>主方。分离式总线定时协定以硬件复杂度的提高换取总线性能的提升</a:t>
            </a:r>
            <a:r>
              <a:rPr lang="zh-CN" altLang="en-US" sz="2800" b="1" dirty="0" smtClean="0"/>
              <a:t>。</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E0FCAB9F-F98C-4910-B39B-E52D3A0458FF}" type="slidenum">
              <a:rPr lang="en-US" altLang="zh-CN"/>
            </a:fld>
            <a:endParaRPr lang="en-US" altLang="zh-CN"/>
          </a:p>
        </p:txBody>
      </p:sp>
      <p:pic>
        <p:nvPicPr>
          <p:cNvPr id="32771" name="Picture 4" descr="6a15"/>
          <p:cNvPicPr>
            <a:picLocks noChangeAspect="1" noChangeArrowheads="1"/>
          </p:cNvPicPr>
          <p:nvPr/>
        </p:nvPicPr>
        <p:blipFill>
          <a:blip r:embed="rId1"/>
          <a:srcRect/>
          <a:stretch>
            <a:fillRect/>
          </a:stretch>
        </p:blipFill>
        <p:spPr bwMode="auto">
          <a:xfrm>
            <a:off x="323850" y="1557338"/>
            <a:ext cx="3960813" cy="4652962"/>
          </a:xfrm>
          <a:prstGeom prst="rect">
            <a:avLst/>
          </a:prstGeom>
          <a:noFill/>
          <a:ln w="9525">
            <a:noFill/>
            <a:miter lim="800000"/>
            <a:headEnd/>
            <a:tailEnd/>
          </a:ln>
        </p:spPr>
      </p:pic>
      <p:sp>
        <p:nvSpPr>
          <p:cNvPr id="32772" name="Rectangle 6"/>
          <p:cNvSpPr>
            <a:spLocks noChangeArrowheads="1"/>
          </p:cNvSpPr>
          <p:nvPr/>
        </p:nvSpPr>
        <p:spPr bwMode="auto">
          <a:xfrm>
            <a:off x="250825" y="188913"/>
            <a:ext cx="7561263" cy="1373187"/>
          </a:xfrm>
          <a:prstGeom prst="rect">
            <a:avLst/>
          </a:prstGeom>
          <a:noFill/>
          <a:ln w="9525">
            <a:noFill/>
            <a:miter lim="800000"/>
          </a:ln>
        </p:spPr>
        <p:txBody>
          <a:bodyPr>
            <a:spAutoFit/>
          </a:bodyPr>
          <a:lstStyle/>
          <a:p>
            <a:pPr>
              <a:lnSpc>
                <a:spcPct val="100000"/>
              </a:lnSpc>
              <a:spcBef>
                <a:spcPct val="0"/>
              </a:spcBef>
              <a:buClrTx/>
              <a:buSzTx/>
              <a:buFontTx/>
              <a:buNone/>
            </a:pPr>
            <a:r>
              <a:rPr lang="en-US" altLang="zh-CN" sz="2800" b="1"/>
              <a:t>6.4.2 </a:t>
            </a:r>
            <a:r>
              <a:rPr lang="zh-CN" altLang="en-US" sz="2800" b="1"/>
              <a:t>总线数据传送模式　　　　</a:t>
            </a:r>
            <a:r>
              <a:rPr lang="zh-CN" altLang="en-US" sz="2800" b="1" i="1"/>
              <a:t>　　　　　</a:t>
            </a:r>
            <a:endParaRPr lang="zh-CN" altLang="en-US" sz="2800"/>
          </a:p>
          <a:p>
            <a:pPr>
              <a:lnSpc>
                <a:spcPct val="100000"/>
              </a:lnSpc>
              <a:spcBef>
                <a:spcPct val="0"/>
              </a:spcBef>
              <a:buClrTx/>
              <a:buSzTx/>
              <a:buFontTx/>
              <a:buNone/>
            </a:pPr>
            <a:r>
              <a:rPr lang="zh-CN" altLang="en-US" sz="2800"/>
              <a:t>　　当代的总线标准大都能支持以下四类模式的数据传送：</a:t>
            </a:r>
            <a:endParaRPr lang="zh-CN" altLang="en-US" sz="2800"/>
          </a:p>
        </p:txBody>
      </p:sp>
      <p:sp>
        <p:nvSpPr>
          <p:cNvPr id="45063" name="Rectangle 7"/>
          <p:cNvSpPr>
            <a:spLocks noChangeArrowheads="1"/>
          </p:cNvSpPr>
          <p:nvPr/>
        </p:nvSpPr>
        <p:spPr bwMode="auto">
          <a:xfrm>
            <a:off x="4211638" y="1700213"/>
            <a:ext cx="4464050" cy="4473575"/>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latin typeface="Arial" panose="020B0604020202020204" pitchFamily="34" charset="0"/>
              </a:rPr>
              <a:t>(a,b) </a:t>
            </a:r>
            <a:r>
              <a:rPr lang="zh-CN" altLang="en-US" sz="2400" b="1">
                <a:latin typeface="Arial" panose="020B0604020202020204" pitchFamily="34" charset="0"/>
              </a:rPr>
              <a:t>读、写操作</a:t>
            </a:r>
            <a:r>
              <a:rPr lang="zh-CN" altLang="en-US" sz="2400">
                <a:latin typeface="Arial" panose="020B0604020202020204" pitchFamily="34" charset="0"/>
              </a:rPr>
              <a:t>：读操作是由从方到主方的数据传送；写操作是由主方到从方的数据传送。一般，主方先以一个总线周期发出命令和从方地址，经过一定的延时再开始数据传送总线周期。为了提高总线利用率，减少延时损失，主方完成寻址总线周期后可让出总线控制权，以使其他主方完成更紧迫的操作。然后再重新竞争总线，完成数据传送总线周期。</a:t>
            </a:r>
            <a:endParaRPr lang="zh-CN" altLang="en-US" sz="3000">
              <a:latin typeface="Arial" panose="020B0604020202020204" pitchFamily="34" charset="0"/>
            </a:endParaRPr>
          </a:p>
        </p:txBody>
      </p:sp>
      <p:sp>
        <p:nvSpPr>
          <p:cNvPr id="45065" name="Rectangle 9"/>
          <p:cNvSpPr>
            <a:spLocks noChangeArrowheads="1"/>
          </p:cNvSpPr>
          <p:nvPr/>
        </p:nvSpPr>
        <p:spPr bwMode="auto">
          <a:xfrm>
            <a:off x="4211638" y="1773238"/>
            <a:ext cx="4464050" cy="3743325"/>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t>(c) </a:t>
            </a:r>
            <a:r>
              <a:rPr lang="zh-CN" altLang="en-US" sz="2400" b="1"/>
              <a:t>块传送操作</a:t>
            </a:r>
            <a:r>
              <a:rPr lang="zh-CN" altLang="en-US" sz="2400"/>
              <a:t>：只需给出块的起始地址，然后对固定块长度的数据一个接一个地读出或写入。对于</a:t>
            </a:r>
            <a:r>
              <a:rPr lang="en-US" altLang="zh-CN" sz="2400"/>
              <a:t>CPU</a:t>
            </a:r>
            <a:r>
              <a:rPr lang="zh-CN" altLang="en-US" sz="2400"/>
              <a:t>（主方）</a:t>
            </a:r>
            <a:r>
              <a:rPr lang="en-US" altLang="zh-CN" sz="2400"/>
              <a:t>- </a:t>
            </a:r>
            <a:r>
              <a:rPr lang="zh-CN" altLang="en-US" sz="2400"/>
              <a:t>存储器（从方）而言的块传送，常称为猝发式传送，其块长一般固定为数据线宽度（存储器字长）的</a:t>
            </a:r>
            <a:r>
              <a:rPr lang="en-US" altLang="zh-CN" sz="2400"/>
              <a:t>4</a:t>
            </a:r>
            <a:r>
              <a:rPr lang="zh-CN" altLang="en-US" sz="2400"/>
              <a:t>倍。例如一个</a:t>
            </a:r>
            <a:r>
              <a:rPr lang="en-US" altLang="zh-CN" sz="2400"/>
              <a:t>64</a:t>
            </a:r>
            <a:r>
              <a:rPr lang="zh-CN" altLang="en-US" sz="2400"/>
              <a:t>位数据线的总线，一次猝发式传送可达</a:t>
            </a:r>
            <a:r>
              <a:rPr lang="en-US" altLang="zh-CN" sz="2400"/>
              <a:t>256</a:t>
            </a:r>
            <a:r>
              <a:rPr lang="zh-CN" altLang="en-US" sz="2400"/>
              <a:t>位。这在超标量流水中十分有用。</a:t>
            </a:r>
            <a:endParaRPr lang="zh-CN" altLang="en-US" sz="2400"/>
          </a:p>
        </p:txBody>
      </p:sp>
      <p:sp>
        <p:nvSpPr>
          <p:cNvPr id="45066" name="Rectangle 10"/>
          <p:cNvSpPr>
            <a:spLocks noChangeArrowheads="1"/>
          </p:cNvSpPr>
          <p:nvPr/>
        </p:nvSpPr>
        <p:spPr bwMode="auto">
          <a:xfrm>
            <a:off x="4284663" y="1773238"/>
            <a:ext cx="4464050" cy="3378200"/>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t>(d) </a:t>
            </a:r>
            <a:r>
              <a:rPr lang="zh-CN" altLang="en-US" sz="2400" b="1"/>
              <a:t>写后读、读修改写操作</a:t>
            </a:r>
            <a:r>
              <a:rPr lang="zh-CN" altLang="en-US" sz="2400"/>
              <a:t>：这是两种组合操作。只给出地址一次（表示同一地址），或进行先写后读操作，或进行先读后写操作。前者用于校验目的，后者用于多道程序系统中对共享存储资源的保护。这两种操作和猝发式操作一样，主方掌管总线直到整个操作完成。</a:t>
            </a:r>
            <a:endParaRPr lang="zh-CN" altLang="en-US" sz="2400"/>
          </a:p>
        </p:txBody>
      </p:sp>
      <p:sp>
        <p:nvSpPr>
          <p:cNvPr id="45067" name="Rectangle 11"/>
          <p:cNvSpPr>
            <a:spLocks noChangeArrowheads="1"/>
          </p:cNvSpPr>
          <p:nvPr/>
        </p:nvSpPr>
        <p:spPr bwMode="auto">
          <a:xfrm>
            <a:off x="4284663" y="1773238"/>
            <a:ext cx="4464050" cy="3378200"/>
          </a:xfrm>
          <a:prstGeom prst="rect">
            <a:avLst/>
          </a:prstGeom>
          <a:noFill/>
          <a:ln w="9525">
            <a:noFill/>
            <a:miter lim="800000"/>
          </a:ln>
        </p:spPr>
        <p:txBody>
          <a:bodyPr>
            <a:spAutoFit/>
          </a:bodyPr>
          <a:lstStyle/>
          <a:p>
            <a:pPr>
              <a:lnSpc>
                <a:spcPct val="100000"/>
              </a:lnSpc>
              <a:spcBef>
                <a:spcPct val="50000"/>
              </a:spcBef>
              <a:buClr>
                <a:schemeClr val="tx2"/>
              </a:buClr>
            </a:pPr>
            <a:r>
              <a:rPr lang="en-US" altLang="zh-CN" sz="2400" b="1"/>
              <a:t>(e) </a:t>
            </a:r>
            <a:r>
              <a:rPr lang="zh-CN" altLang="en-US" sz="2400" b="1"/>
              <a:t>广播、广集操作</a:t>
            </a:r>
            <a:r>
              <a:rPr lang="zh-CN" altLang="en-US" sz="2400"/>
              <a:t>：一般而言，数据传送只在一个主方和一个从方之间进行。但有的总线允许一个主方对多个从方进行写操作，这种操作称为广播。与广播相反的操作称为广集，它将选定的多个从方数据在总线上完成</a:t>
            </a:r>
            <a:r>
              <a:rPr lang="en-US" altLang="zh-CN" sz="2400"/>
              <a:t>AND</a:t>
            </a:r>
            <a:r>
              <a:rPr lang="zh-CN" altLang="en-US" sz="2400"/>
              <a:t>或</a:t>
            </a:r>
            <a:r>
              <a:rPr lang="en-US" altLang="zh-CN" sz="2400"/>
              <a:t>OR</a:t>
            </a:r>
            <a:r>
              <a:rPr lang="zh-CN" altLang="en-US" sz="2400"/>
              <a:t>操作，用以检测多个中断源。</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063"/>
                                        </p:tgtEl>
                                        <p:attrNameLst>
                                          <p:attrName>style.visibility</p:attrName>
                                        </p:attrNameLst>
                                      </p:cBhvr>
                                      <p:to>
                                        <p:strVal val="visible"/>
                                      </p:to>
                                    </p:set>
                                    <p:animEffect transition="in" filter="dissolve">
                                      <p:cBhvr>
                                        <p:cTn id="7" dur="500"/>
                                        <p:tgtEl>
                                          <p:spTgt spid="45063"/>
                                        </p:tgtEl>
                                      </p:cBhvr>
                                    </p:animEffect>
                                  </p:childTnLst>
                                  <p:subTnLst>
                                    <p:set>
                                      <p:cBhvr override="childStyle">
                                        <p:cTn dur="1" fill="hold" display="0" masterRel="nextClick" afterEffect="1"/>
                                        <p:tgtEl>
                                          <p:spTgt spid="45063"/>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065"/>
                                        </p:tgtEl>
                                        <p:attrNameLst>
                                          <p:attrName>style.visibility</p:attrName>
                                        </p:attrNameLst>
                                      </p:cBhvr>
                                      <p:to>
                                        <p:strVal val="visible"/>
                                      </p:to>
                                    </p:set>
                                    <p:animEffect transition="in" filter="dissolve">
                                      <p:cBhvr>
                                        <p:cTn id="12" dur="500"/>
                                        <p:tgtEl>
                                          <p:spTgt spid="45065"/>
                                        </p:tgtEl>
                                      </p:cBhvr>
                                    </p:animEffect>
                                  </p:childTnLst>
                                  <p:subTnLst>
                                    <p:set>
                                      <p:cBhvr override="childStyle">
                                        <p:cTn dur="1" fill="hold" display="0" masterRel="nextClick" afterEffect="1"/>
                                        <p:tgtEl>
                                          <p:spTgt spid="4506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066"/>
                                        </p:tgtEl>
                                        <p:attrNameLst>
                                          <p:attrName>style.visibility</p:attrName>
                                        </p:attrNameLst>
                                      </p:cBhvr>
                                      <p:to>
                                        <p:strVal val="visible"/>
                                      </p:to>
                                    </p:set>
                                    <p:animEffect transition="in" filter="dissolve">
                                      <p:cBhvr>
                                        <p:cTn id="17" dur="500"/>
                                        <p:tgtEl>
                                          <p:spTgt spid="45066"/>
                                        </p:tgtEl>
                                      </p:cBhvr>
                                    </p:animEffect>
                                  </p:childTnLst>
                                  <p:subTnLst>
                                    <p:set>
                                      <p:cBhvr override="childStyle">
                                        <p:cTn dur="1" fill="hold" display="0" masterRel="nextClick" afterEffect="1"/>
                                        <p:tgtEl>
                                          <p:spTgt spid="4506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5067"/>
                                        </p:tgtEl>
                                        <p:attrNameLst>
                                          <p:attrName>style.visibility</p:attrName>
                                        </p:attrNameLst>
                                      </p:cBhvr>
                                      <p:to>
                                        <p:strVal val="visible"/>
                                      </p:to>
                                    </p:set>
                                    <p:animEffect transition="in" filter="dissolve">
                                      <p:cBhvr>
                                        <p:cTn id="22" dur="500"/>
                                        <p:tgtEl>
                                          <p:spTgt spid="45067"/>
                                        </p:tgtEl>
                                      </p:cBhvr>
                                    </p:animEffect>
                                  </p:childTnLst>
                                  <p:subTnLst>
                                    <p:set>
                                      <p:cBhvr override="childStyle">
                                        <p:cTn dur="1" fill="hold" display="0" masterRel="nextClick" afterEffect="1"/>
                                        <p:tgtEl>
                                          <p:spTgt spid="4506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3" grpId="0" autoUpdateAnimBg="0"/>
      <p:bldP spid="45065" grpId="0" autoUpdateAnimBg="0"/>
      <p:bldP spid="45066" grpId="0" autoUpdateAnimBg="0"/>
      <p:bldP spid="4506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350567" y="1366618"/>
            <a:ext cx="8525810" cy="3724096"/>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600"/>
              </a:spcBef>
            </a:pPr>
            <a:r>
              <a:rPr lang="zh-CN" altLang="en-US" sz="2400" dirty="0" smtClean="0">
                <a:latin typeface="微软雅黑" panose="020B0503020204020204" charset="-122"/>
                <a:ea typeface="微软雅黑" panose="020B0503020204020204" charset="-122"/>
              </a:rPr>
              <a:t>判断</a:t>
            </a:r>
            <a:r>
              <a:rPr lang="zh-CN" altLang="en-US" sz="2400" dirty="0">
                <a:latin typeface="微软雅黑" panose="020B0503020204020204" charset="-122"/>
                <a:ea typeface="微软雅黑" panose="020B0503020204020204" charset="-122"/>
              </a:rPr>
              <a:t>题</a:t>
            </a:r>
            <a:endParaRPr lang="zh-CN" altLang="zh-CN" sz="2400" dirty="0">
              <a:latin typeface="微软雅黑" panose="020B0503020204020204" charset="-122"/>
              <a:ea typeface="微软雅黑" panose="020B0503020204020204" charset="-122"/>
            </a:endParaRPr>
          </a:p>
          <a:p>
            <a:pPr marL="342900" indent="-342900">
              <a:lnSpc>
                <a:spcPct val="150000"/>
              </a:lnSpc>
              <a:spcBef>
                <a:spcPts val="60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同步</a:t>
            </a:r>
            <a:r>
              <a:rPr lang="zh-CN" altLang="zh-CN" sz="2400" dirty="0">
                <a:latin typeface="微软雅黑" panose="020B0503020204020204" charset="-122"/>
                <a:ea typeface="微软雅黑" panose="020B0503020204020204" charset="-122"/>
              </a:rPr>
              <a:t>定时适用于总线长度较短、各功能模块存取时间比较接近的情况。</a:t>
            </a:r>
            <a:endParaRPr lang="zh-CN" altLang="zh-CN" sz="2400" dirty="0">
              <a:latin typeface="微软雅黑" panose="020B0503020204020204" charset="-122"/>
              <a:ea typeface="微软雅黑" panose="020B0503020204020204" charset="-122"/>
            </a:endParaRPr>
          </a:p>
          <a:p>
            <a:pPr>
              <a:lnSpc>
                <a:spcPct val="150000"/>
              </a:lnSpc>
              <a:spcBef>
                <a:spcPts val="600"/>
              </a:spcBef>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 </a:t>
            </a:r>
            <a:r>
              <a:rPr lang="zh-CN" altLang="zh-CN" sz="2400" b="1" dirty="0">
                <a:latin typeface="微软雅黑" panose="020B0503020204020204" charset="-122"/>
                <a:ea typeface="微软雅黑" panose="020B0503020204020204" charset="-122"/>
              </a:rPr>
              <a:t>错</a:t>
            </a:r>
            <a:endParaRPr lang="zh-CN" altLang="zh-CN" sz="2400" b="1" dirty="0">
              <a:latin typeface="微软雅黑" panose="020B0503020204020204" charset="-122"/>
              <a:ea typeface="微软雅黑" panose="020B0503020204020204" charset="-122"/>
            </a:endParaRPr>
          </a:p>
          <a:p>
            <a:pPr marL="342900" indent="-342900">
              <a:lnSpc>
                <a:spcPct val="150000"/>
              </a:lnSpc>
              <a:spcBef>
                <a:spcPts val="60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异步</a:t>
            </a:r>
            <a:r>
              <a:rPr lang="zh-CN" altLang="zh-CN" sz="2400" dirty="0">
                <a:latin typeface="微软雅黑" panose="020B0503020204020204" charset="-122"/>
                <a:ea typeface="微软雅黑" panose="020B0503020204020204" charset="-122"/>
              </a:rPr>
              <a:t>定时允许快速和慢速的功能模块都能连接到同一总线上。</a:t>
            </a:r>
            <a:endParaRPr lang="zh-CN" altLang="zh-CN" sz="2400" dirty="0">
              <a:latin typeface="微软雅黑" panose="020B0503020204020204" charset="-122"/>
              <a:ea typeface="微软雅黑" panose="020B0503020204020204" charset="-122"/>
            </a:endParaRPr>
          </a:p>
          <a:p>
            <a:pPr>
              <a:lnSpc>
                <a:spcPct val="150000"/>
              </a:lnSpc>
              <a:spcBef>
                <a:spcPts val="600"/>
              </a:spcBef>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．对</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 </a:t>
            </a:r>
            <a:r>
              <a:rPr lang="zh-CN" altLang="zh-CN" sz="2400" b="1" dirty="0" smtClean="0">
                <a:latin typeface="微软雅黑" panose="020B0503020204020204" charset="-122"/>
                <a:ea typeface="微软雅黑" panose="020B0503020204020204" charset="-122"/>
              </a:rPr>
              <a:t>错</a:t>
            </a:r>
            <a:endParaRPr lang="zh-CN" altLang="zh-CN" sz="2400" b="1" dirty="0">
              <a:latin typeface="微软雅黑" panose="020B0503020204020204" charset="-122"/>
              <a:ea typeface="微软雅黑" panose="020B0503020204020204" charset="-122"/>
            </a:endParaRPr>
          </a:p>
        </p:txBody>
      </p:sp>
      <p:sp>
        <p:nvSpPr>
          <p:cNvPr id="9" name="椭圆 8"/>
          <p:cNvSpPr/>
          <p:nvPr/>
        </p:nvSpPr>
        <p:spPr bwMode="auto">
          <a:xfrm>
            <a:off x="890800" y="322344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8" name="椭圆 7"/>
          <p:cNvSpPr/>
          <p:nvPr/>
        </p:nvSpPr>
        <p:spPr bwMode="auto">
          <a:xfrm>
            <a:off x="880336" y="4472719"/>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301124"/>
            <a:ext cx="2236510" cy="646331"/>
          </a:xfrm>
          <a:prstGeom prst="rect">
            <a:avLst/>
          </a:prstGeom>
        </p:spPr>
        <p:txBody>
          <a:bodyPr wrap="none">
            <a:spAutoFit/>
          </a:bodyPr>
          <a:lstStyle/>
          <a:p>
            <a:pPr lvl="0">
              <a:spcBef>
                <a:spcPts val="0"/>
              </a:spcBef>
            </a:pPr>
            <a:r>
              <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课</a:t>
            </a:r>
            <a:r>
              <a:rPr lang="zh-CN" altLang="en-US" sz="4000" dirty="0" smtClean="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内练习</a:t>
            </a:r>
            <a:endParaRPr lang="zh-CN" altLang="en-US" sz="4000" dirty="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7" name="TextBox 6"/>
          <p:cNvSpPr txBox="1"/>
          <p:nvPr>
            <p:custDataLst>
              <p:tags r:id="rId1"/>
            </p:custDataLst>
          </p:nvPr>
        </p:nvSpPr>
        <p:spPr>
          <a:xfrm>
            <a:off x="375272" y="831596"/>
            <a:ext cx="8525810" cy="5078313"/>
          </a:xfrm>
          <a:prstGeom prst="rect">
            <a:avLst/>
          </a:prstGeom>
          <a:noFill/>
          <a:ln w="12700">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14:hiddenLine>
            </a:ext>
          </a:extLst>
        </p:spPr>
        <p:txBody>
          <a:bodyPr vert="horz" wrap="square" rtlCol="0" anchor="ctr">
            <a:spAutoFit/>
          </a:bodyPr>
          <a:lstStyle/>
          <a:p>
            <a:pPr>
              <a:lnSpc>
                <a:spcPct val="150000"/>
              </a:lnSpc>
              <a:spcBef>
                <a:spcPts val="0"/>
              </a:spcBef>
            </a:pPr>
            <a:r>
              <a:rPr lang="zh-CN" altLang="en-US" sz="2400" dirty="0" smtClean="0">
                <a:latin typeface="微软雅黑" panose="020B0503020204020204" charset="-122"/>
                <a:ea typeface="微软雅黑" panose="020B0503020204020204" charset="-122"/>
              </a:rPr>
              <a:t>单选题</a:t>
            </a:r>
            <a:endParaRPr lang="zh-CN" altLang="zh-CN" sz="2400" dirty="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下列</a:t>
            </a:r>
            <a:r>
              <a:rPr lang="zh-CN" altLang="zh-CN" sz="2400" dirty="0">
                <a:latin typeface="微软雅黑" panose="020B0503020204020204" charset="-122"/>
                <a:ea typeface="微软雅黑" panose="020B0503020204020204" charset="-122"/>
              </a:rPr>
              <a:t>各项中，</a:t>
            </a:r>
            <a:r>
              <a:rPr lang="en-US" altLang="zh-CN" sz="2400" u="sng" dirty="0">
                <a:latin typeface="微软雅黑" panose="020B0503020204020204" charset="-122"/>
                <a:ea typeface="微软雅黑" panose="020B0503020204020204" charset="-122"/>
              </a:rPr>
              <a:t>  </a:t>
            </a:r>
            <a:r>
              <a:rPr lang="en-US" altLang="zh-CN" sz="2400" u="sng" dirty="0" smtClean="0">
                <a:latin typeface="微软雅黑" panose="020B0503020204020204" charset="-122"/>
                <a:ea typeface="微软雅黑" panose="020B0503020204020204" charset="-122"/>
              </a:rPr>
              <a:t>            </a:t>
            </a:r>
            <a:r>
              <a:rPr lang="zh-CN" altLang="zh-CN" sz="2400" dirty="0">
                <a:latin typeface="微软雅黑" panose="020B0503020204020204" charset="-122"/>
                <a:ea typeface="微软雅黑" panose="020B0503020204020204" charset="-122"/>
              </a:rPr>
              <a:t>是同步定时的特点。</a:t>
            </a:r>
            <a:endParaRPr lang="zh-CN" altLang="zh-CN" sz="2400"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a:t>
            </a:r>
            <a:r>
              <a:rPr lang="zh-CN" altLang="zh-CN" sz="2400" b="1" dirty="0">
                <a:latin typeface="微软雅黑" panose="020B0503020204020204" charset="-122"/>
                <a:ea typeface="微软雅黑" panose="020B0503020204020204" charset="-122"/>
              </a:rPr>
              <a:t>．需要应答信号</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a:t>
            </a:r>
            <a:r>
              <a:rPr lang="en-US" altLang="zh-CN" sz="2400" b="1" dirty="0">
                <a:latin typeface="微软雅黑" panose="020B0503020204020204" charset="-122"/>
                <a:ea typeface="微软雅黑" panose="020B0503020204020204" charset="-122"/>
              </a:rPr>
              <a:t>B</a:t>
            </a:r>
            <a:r>
              <a:rPr lang="zh-CN" altLang="zh-CN" sz="2400" b="1" dirty="0">
                <a:latin typeface="微软雅黑" panose="020B0503020204020204" charset="-122"/>
                <a:ea typeface="微软雅黑" panose="020B0503020204020204" charset="-122"/>
              </a:rPr>
              <a:t>．各部件的存取时间比较接近</a:t>
            </a:r>
            <a:endParaRPr lang="zh-CN" altLang="zh-CN" sz="2400" b="1"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C. </a:t>
            </a:r>
            <a:r>
              <a:rPr lang="zh-CN" altLang="zh-CN" sz="2400" b="1" dirty="0">
                <a:latin typeface="微软雅黑" panose="020B0503020204020204" charset="-122"/>
                <a:ea typeface="微软雅黑" panose="020B0503020204020204" charset="-122"/>
              </a:rPr>
              <a:t>总线长度较长</a:t>
            </a: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D</a:t>
            </a:r>
            <a:r>
              <a:rPr lang="zh-CN" altLang="zh-CN" sz="2400" b="1" dirty="0">
                <a:latin typeface="微软雅黑" panose="020B0503020204020204" charset="-122"/>
                <a:ea typeface="微软雅黑" panose="020B0503020204020204" charset="-122"/>
              </a:rPr>
              <a:t>．总线周期长度可变</a:t>
            </a:r>
            <a:endParaRPr lang="zh-CN" altLang="zh-CN" sz="2400" b="1" dirty="0">
              <a:latin typeface="微软雅黑" panose="020B0503020204020204" charset="-122"/>
              <a:ea typeface="微软雅黑" panose="020B0503020204020204" charset="-122"/>
            </a:endParaRPr>
          </a:p>
          <a:p>
            <a:pPr marL="342900" indent="-342900">
              <a:lnSpc>
                <a:spcPct val="150000"/>
              </a:lnSpc>
              <a:spcBef>
                <a:spcPts val="0"/>
              </a:spcBef>
              <a:buClrTx/>
              <a:buFont typeface="Wingdings" panose="05000000000000000000" pitchFamily="2" charset="2"/>
              <a:buChar char="l"/>
            </a:pPr>
            <a:r>
              <a:rPr lang="zh-CN" altLang="zh-CN" sz="2400" dirty="0" smtClean="0">
                <a:latin typeface="微软雅黑" panose="020B0503020204020204" charset="-122"/>
                <a:ea typeface="微软雅黑" panose="020B0503020204020204" charset="-122"/>
              </a:rPr>
              <a:t>下列</a:t>
            </a:r>
            <a:r>
              <a:rPr lang="zh-CN" altLang="zh-CN" sz="2400" dirty="0">
                <a:latin typeface="微软雅黑" panose="020B0503020204020204" charset="-122"/>
                <a:ea typeface="微软雅黑" panose="020B0503020204020204" charset="-122"/>
              </a:rPr>
              <a:t>各种情况中，应采用异步定时方式的是</a:t>
            </a:r>
            <a:r>
              <a:rPr lang="en-US" altLang="zh-CN" sz="2400" u="sng" dirty="0">
                <a:latin typeface="微软雅黑" panose="020B0503020204020204" charset="-122"/>
                <a:ea typeface="微软雅黑" panose="020B0503020204020204" charset="-122"/>
              </a:rPr>
              <a:t>  </a:t>
            </a:r>
            <a:r>
              <a:rPr lang="en-US" altLang="zh-CN" sz="2400" u="sng" dirty="0" smtClean="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zh-CN" altLang="zh-CN" sz="2400" dirty="0">
                <a:latin typeface="微软雅黑" panose="020B0503020204020204" charset="-122"/>
                <a:ea typeface="微软雅黑" panose="020B0503020204020204" charset="-122"/>
              </a:rPr>
              <a:t>。</a:t>
            </a:r>
            <a:endParaRPr lang="zh-CN" altLang="zh-CN" sz="2400" dirty="0">
              <a:latin typeface="微软雅黑" panose="020B0503020204020204" charset="-122"/>
              <a:ea typeface="微软雅黑" panose="020B0503020204020204" charset="-122"/>
            </a:endParaRPr>
          </a:p>
          <a:p>
            <a:pPr>
              <a:lnSpc>
                <a:spcPct val="150000"/>
              </a:lnSpc>
              <a:spcBef>
                <a:spcPts val="0"/>
              </a:spcBef>
            </a:pPr>
            <a:r>
              <a:rPr lang="en-US" altLang="zh-CN" sz="2400" dirty="0">
                <a:latin typeface="微软雅黑" panose="020B0503020204020204" charset="-122"/>
                <a:ea typeface="微软雅黑" panose="020B0503020204020204" charset="-122"/>
              </a:rPr>
              <a:t>  </a:t>
            </a:r>
            <a:r>
              <a:rPr lang="en-US" altLang="zh-CN" sz="2400" dirty="0" smtClean="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A</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I</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O</a:t>
            </a:r>
            <a:r>
              <a:rPr lang="zh-CN" altLang="zh-CN" sz="2400" b="1" dirty="0">
                <a:latin typeface="微软雅黑" panose="020B0503020204020204" charset="-122"/>
                <a:ea typeface="微软雅黑" panose="020B0503020204020204" charset="-122"/>
              </a:rPr>
              <a:t>接口与打印机交换信息</a:t>
            </a:r>
            <a:endParaRPr lang="zh-CN" altLang="zh-CN" sz="2400" b="1"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B</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与存储器交换信息</a:t>
            </a:r>
            <a:endParaRPr lang="zh-CN" altLang="zh-CN" sz="2400" b="1"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C</a:t>
            </a:r>
            <a:r>
              <a:rPr lang="en-US" altLang="zh-CN" sz="2400" b="1" dirty="0">
                <a:latin typeface="微软雅黑" panose="020B0503020204020204" charset="-122"/>
                <a:ea typeface="微软雅黑" panose="020B0503020204020204" charset="-122"/>
              </a:rPr>
              <a:t>. CPU</a:t>
            </a:r>
            <a:r>
              <a:rPr lang="zh-CN" altLang="zh-CN" sz="2400" b="1" dirty="0">
                <a:latin typeface="微软雅黑" panose="020B0503020204020204" charset="-122"/>
                <a:ea typeface="微软雅黑" panose="020B0503020204020204" charset="-122"/>
              </a:rPr>
              <a:t>与</a:t>
            </a:r>
            <a:r>
              <a:rPr lang="en-US" altLang="zh-CN" sz="2400" b="1" dirty="0">
                <a:latin typeface="微软雅黑" panose="020B0503020204020204" charset="-122"/>
                <a:ea typeface="微软雅黑" panose="020B0503020204020204" charset="-122"/>
              </a:rPr>
              <a:t>I</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O</a:t>
            </a:r>
            <a:r>
              <a:rPr lang="zh-CN" altLang="zh-CN" sz="2400" b="1" dirty="0">
                <a:latin typeface="微软雅黑" panose="020B0503020204020204" charset="-122"/>
                <a:ea typeface="微软雅黑" panose="020B0503020204020204" charset="-122"/>
              </a:rPr>
              <a:t>接口交换信息</a:t>
            </a:r>
            <a:endParaRPr lang="zh-CN" altLang="zh-CN" sz="2400" b="1" dirty="0">
              <a:latin typeface="微软雅黑" panose="020B0503020204020204" charset="-122"/>
              <a:ea typeface="微软雅黑" panose="020B0503020204020204" charset="-122"/>
            </a:endParaRPr>
          </a:p>
          <a:p>
            <a:pPr>
              <a:lnSpc>
                <a:spcPct val="150000"/>
              </a:lnSpc>
              <a:spcBef>
                <a:spcPts val="0"/>
              </a:spcBef>
            </a:pPr>
            <a:r>
              <a:rPr lang="en-US" altLang="zh-CN" sz="2400" b="1" dirty="0">
                <a:latin typeface="微软雅黑" panose="020B0503020204020204" charset="-122"/>
                <a:ea typeface="微软雅黑" panose="020B0503020204020204" charset="-122"/>
              </a:rPr>
              <a:t>  </a:t>
            </a:r>
            <a:r>
              <a:rPr lang="en-US" altLang="zh-CN" sz="2400" b="1" dirty="0" smtClean="0">
                <a:latin typeface="微软雅黑" panose="020B0503020204020204" charset="-122"/>
                <a:ea typeface="微软雅黑" panose="020B0503020204020204" charset="-122"/>
              </a:rPr>
              <a:t>   D</a:t>
            </a:r>
            <a:r>
              <a:rPr lang="zh-CN" altLang="zh-CN" sz="2400" b="1" dirty="0">
                <a:latin typeface="微软雅黑" panose="020B0503020204020204" charset="-122"/>
                <a:ea typeface="微软雅黑" panose="020B0503020204020204" charset="-122"/>
              </a:rPr>
              <a:t>．</a:t>
            </a:r>
            <a:r>
              <a:rPr lang="en-US" altLang="zh-CN" sz="2400" b="1" dirty="0">
                <a:latin typeface="微软雅黑" panose="020B0503020204020204" charset="-122"/>
                <a:ea typeface="微软雅黑" panose="020B0503020204020204" charset="-122"/>
              </a:rPr>
              <a:t>CPU</a:t>
            </a:r>
            <a:r>
              <a:rPr lang="zh-CN" altLang="zh-CN" sz="2400" b="1" dirty="0">
                <a:latin typeface="微软雅黑" panose="020B0503020204020204" charset="-122"/>
                <a:ea typeface="微软雅黑" panose="020B0503020204020204" charset="-122"/>
              </a:rPr>
              <a:t>与</a:t>
            </a:r>
            <a:r>
              <a:rPr lang="en-US" altLang="zh-CN" sz="2400" b="1" dirty="0">
                <a:latin typeface="微软雅黑" panose="020B0503020204020204" charset="-122"/>
                <a:ea typeface="微软雅黑" panose="020B0503020204020204" charset="-122"/>
              </a:rPr>
              <a:t>PCI</a:t>
            </a:r>
            <a:r>
              <a:rPr lang="zh-CN" altLang="zh-CN" sz="2400" b="1" dirty="0">
                <a:latin typeface="微软雅黑" panose="020B0503020204020204" charset="-122"/>
                <a:ea typeface="微软雅黑" panose="020B0503020204020204" charset="-122"/>
              </a:rPr>
              <a:t>总线交换信息</a:t>
            </a:r>
            <a:endParaRPr lang="zh-CN" altLang="zh-CN" sz="2400" b="1" dirty="0">
              <a:latin typeface="微软雅黑" panose="020B0503020204020204" charset="-122"/>
              <a:ea typeface="微软雅黑" panose="020B0503020204020204" charset="-122"/>
            </a:endParaRPr>
          </a:p>
        </p:txBody>
      </p:sp>
      <p:sp>
        <p:nvSpPr>
          <p:cNvPr id="9" name="椭圆 8"/>
          <p:cNvSpPr/>
          <p:nvPr/>
        </p:nvSpPr>
        <p:spPr bwMode="auto">
          <a:xfrm>
            <a:off x="3616846" y="1988840"/>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
        <p:nvSpPr>
          <p:cNvPr id="6" name="椭圆 5"/>
          <p:cNvSpPr/>
          <p:nvPr/>
        </p:nvSpPr>
        <p:spPr bwMode="auto">
          <a:xfrm>
            <a:off x="727001" y="3650357"/>
            <a:ext cx="614164" cy="599465"/>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5"/>
          <p:cNvSpPr>
            <a:spLocks noGrp="1"/>
          </p:cNvSpPr>
          <p:nvPr>
            <p:ph type="sldNum" sz="quarter" idx="12"/>
          </p:nvPr>
        </p:nvSpPr>
        <p:spPr/>
        <p:txBody>
          <a:bodyPr/>
          <a:lstStyle/>
          <a:p>
            <a:pPr>
              <a:defRPr/>
            </a:pPr>
            <a:fld id="{59CDC430-99F2-4F2A-B0E7-A611DDE28B50}" type="slidenum">
              <a:rPr lang="en-US" altLang="zh-CN"/>
            </a:fld>
            <a:endParaRPr lang="en-US" altLang="zh-CN"/>
          </a:p>
        </p:txBody>
      </p:sp>
      <p:sp>
        <p:nvSpPr>
          <p:cNvPr id="33795" name="Rectangle 2"/>
          <p:cNvSpPr>
            <a:spLocks noGrp="1" noChangeArrowheads="1"/>
          </p:cNvSpPr>
          <p:nvPr>
            <p:ph type="title"/>
          </p:nvPr>
        </p:nvSpPr>
        <p:spPr>
          <a:xfrm>
            <a:off x="457200" y="122238"/>
            <a:ext cx="7543800" cy="858837"/>
          </a:xfrm>
        </p:spPr>
        <p:txBody>
          <a:bodyPr/>
          <a:lstStyle/>
          <a:p>
            <a:pPr eaLnBrk="1" hangingPunct="1"/>
            <a:r>
              <a:rPr lang="en-US" altLang="zh-CN" dirty="0" smtClean="0"/>
              <a:t>6.5 PCI</a:t>
            </a:r>
            <a:r>
              <a:rPr lang="zh-CN" altLang="en-US" dirty="0" smtClean="0"/>
              <a:t>总线和</a:t>
            </a:r>
            <a:r>
              <a:rPr lang="en-US" altLang="zh-CN" dirty="0" err="1" smtClean="0"/>
              <a:t>PCIe</a:t>
            </a:r>
            <a:r>
              <a:rPr lang="zh-CN" altLang="en-US" dirty="0" smtClean="0"/>
              <a:t>总线</a:t>
            </a:r>
            <a:endParaRPr lang="zh-CN" altLang="en-US" dirty="0" smtClean="0"/>
          </a:p>
        </p:txBody>
      </p:sp>
      <p:sp>
        <p:nvSpPr>
          <p:cNvPr id="33796" name="Rectangle 3"/>
          <p:cNvSpPr>
            <a:spLocks noGrp="1" noChangeArrowheads="1"/>
          </p:cNvSpPr>
          <p:nvPr>
            <p:ph type="body" idx="1"/>
          </p:nvPr>
        </p:nvSpPr>
        <p:spPr>
          <a:xfrm>
            <a:off x="250825" y="1196975"/>
            <a:ext cx="8497888" cy="1584325"/>
          </a:xfrm>
        </p:spPr>
        <p:txBody>
          <a:bodyPr/>
          <a:lstStyle/>
          <a:p>
            <a:pPr eaLnBrk="1" hangingPunct="1">
              <a:buFont typeface="Wingdings" panose="05000000000000000000" pitchFamily="2" charset="2"/>
              <a:buNone/>
            </a:pPr>
            <a:r>
              <a:rPr lang="zh-CN" altLang="en-US" sz="2800" smtClean="0">
                <a:latin typeface="宋体" panose="02010600030101010101" pitchFamily="2" charset="-122"/>
              </a:rPr>
              <a:t>一、多总线结构</a:t>
            </a:r>
            <a:endParaRPr lang="zh-CN" altLang="en-US" sz="2800" smtClean="0">
              <a:latin typeface="宋体" panose="02010600030101010101" pitchFamily="2" charset="-122"/>
            </a:endParaRPr>
          </a:p>
          <a:p>
            <a:pPr eaLnBrk="1" hangingPunct="1">
              <a:buFont typeface="Wingdings" panose="05000000000000000000" pitchFamily="2" charset="2"/>
              <a:buNone/>
            </a:pPr>
            <a:r>
              <a:rPr lang="zh-CN" altLang="en-US" sz="2800" smtClean="0">
                <a:latin typeface="宋体" panose="02010600030101010101" pitchFamily="2" charset="-122"/>
              </a:rPr>
              <a:t>      如图，典型的多总线结构框图。实际上，这也是高档</a:t>
            </a:r>
            <a:r>
              <a:rPr lang="en-US" altLang="zh-CN" sz="2800" smtClean="0">
                <a:latin typeface="宋体" panose="02010600030101010101" pitchFamily="2" charset="-122"/>
              </a:rPr>
              <a:t>PC</a:t>
            </a:r>
            <a:r>
              <a:rPr lang="zh-CN" altLang="en-US" sz="2800" smtClean="0">
                <a:latin typeface="宋体" panose="02010600030101010101" pitchFamily="2" charset="-122"/>
              </a:rPr>
              <a:t>机和服务器的主板总线框图。</a:t>
            </a:r>
            <a:endParaRPr lang="zh-CN" altLang="en-US" smtClean="0"/>
          </a:p>
        </p:txBody>
      </p:sp>
      <p:pic>
        <p:nvPicPr>
          <p:cNvPr id="33797" name="Picture 4" descr="6A17"/>
          <p:cNvPicPr>
            <a:picLocks noChangeAspect="1" noChangeArrowheads="1"/>
          </p:cNvPicPr>
          <p:nvPr/>
        </p:nvPicPr>
        <p:blipFill>
          <a:blip r:embed="rId1"/>
          <a:srcRect/>
          <a:stretch>
            <a:fillRect/>
          </a:stretch>
        </p:blipFill>
        <p:spPr bwMode="auto">
          <a:xfrm>
            <a:off x="468313" y="2852738"/>
            <a:ext cx="8064500" cy="3455987"/>
          </a:xfrm>
          <a:prstGeom prst="rect">
            <a:avLst/>
          </a:prstGeom>
          <a:noFill/>
          <a:ln w="9525">
            <a:noFill/>
            <a:miter lim="800000"/>
            <a:headEnd/>
            <a:tailEnd/>
          </a:ln>
        </p:spPr>
      </p:pic>
      <p:pic>
        <p:nvPicPr>
          <p:cNvPr id="33798" name="Picture 5">
            <a:hlinkClick r:id="rId2" action="ppaction://hlinkfile"/>
          </p:cNvPr>
          <p:cNvPicPr>
            <a:picLocks noChangeAspect="1" noChangeArrowheads="1"/>
          </p:cNvPicPr>
          <p:nvPr/>
        </p:nvPicPr>
        <p:blipFill>
          <a:blip r:embed="rId3"/>
          <a:srcRect/>
          <a:stretch>
            <a:fillRect/>
          </a:stretch>
        </p:blipFill>
        <p:spPr bwMode="auto">
          <a:xfrm>
            <a:off x="8316913" y="4797425"/>
            <a:ext cx="409575" cy="381000"/>
          </a:xfrm>
          <a:prstGeom prst="rect">
            <a:avLst/>
          </a:prstGeom>
          <a:noFill/>
          <a:ln w="9525">
            <a:noFill/>
            <a:miter lim="800000"/>
            <a:headEnd/>
            <a:tailEnd/>
          </a:ln>
        </p:spPr>
      </p:pic>
      <p:sp>
        <p:nvSpPr>
          <p:cNvPr id="50184" name="Rectangle 8"/>
          <p:cNvSpPr>
            <a:spLocks noChangeArrowheads="1"/>
          </p:cNvSpPr>
          <p:nvPr/>
        </p:nvSpPr>
        <p:spPr bwMode="auto">
          <a:xfrm>
            <a:off x="179512" y="116632"/>
            <a:ext cx="8785225" cy="2592388"/>
          </a:xfrm>
          <a:prstGeom prst="rect">
            <a:avLst/>
          </a:prstGeom>
          <a:solidFill>
            <a:srgbClr val="CCFFFF"/>
          </a:solidFill>
          <a:ln w="9525">
            <a:noFill/>
            <a:miter lim="800000"/>
          </a:ln>
        </p:spPr>
        <p:txBody>
          <a:bodyPr/>
          <a:lstStyle/>
          <a:p>
            <a:pPr marL="342900" indent="-342900">
              <a:lnSpc>
                <a:spcPct val="100000"/>
              </a:lnSpc>
              <a:buClr>
                <a:schemeClr val="tx2"/>
              </a:buClr>
              <a:buFont typeface="Wingdings" panose="05000000000000000000" pitchFamily="2" charset="2"/>
              <a:buChar char="l"/>
            </a:pPr>
            <a:r>
              <a:rPr lang="en-US" altLang="zh-CN" sz="2000" dirty="0"/>
              <a:t>HOST</a:t>
            </a:r>
            <a:r>
              <a:rPr lang="zh-CN" altLang="en-US" sz="2000" dirty="0"/>
              <a:t>总线：该总线有</a:t>
            </a:r>
            <a:r>
              <a:rPr lang="en-US" altLang="zh-CN" sz="2000" dirty="0"/>
              <a:t>CPU</a:t>
            </a:r>
            <a:r>
              <a:rPr lang="zh-CN" altLang="en-US" sz="2000" dirty="0"/>
              <a:t>总线、系统总线、主存总线、前端总线等多种名称，各自反映了总线功能的一个方面。这里称“宿主”总线，也许更全面，因为</a:t>
            </a:r>
            <a:r>
              <a:rPr lang="en-US" altLang="zh-CN" sz="2000" dirty="0"/>
              <a:t>HOST</a:t>
            </a:r>
            <a:r>
              <a:rPr lang="zh-CN" altLang="en-US" sz="2000" dirty="0"/>
              <a:t>总线不仅连接主存，还可以连接多个</a:t>
            </a:r>
            <a:r>
              <a:rPr lang="en-US" altLang="zh-CN" sz="2000" dirty="0"/>
              <a:t>CPU</a:t>
            </a:r>
            <a:r>
              <a:rPr lang="zh-CN" altLang="en-US" sz="2000" dirty="0"/>
              <a:t>。</a:t>
            </a:r>
            <a:endParaRPr lang="zh-CN" altLang="en-US" sz="2000" dirty="0"/>
          </a:p>
          <a:p>
            <a:pPr marL="342900" indent="-342900">
              <a:lnSpc>
                <a:spcPct val="100000"/>
              </a:lnSpc>
              <a:buClr>
                <a:schemeClr val="tx2"/>
              </a:buClr>
            </a:pPr>
            <a:r>
              <a:rPr lang="zh-CN" altLang="en-US" sz="2000" dirty="0"/>
              <a:t>       </a:t>
            </a:r>
            <a:r>
              <a:rPr lang="en-US" altLang="zh-CN" sz="2000" dirty="0"/>
              <a:t>HOST</a:t>
            </a:r>
            <a:r>
              <a:rPr lang="zh-CN" altLang="en-US" sz="2000" dirty="0"/>
              <a:t>总线是连接“北桥”芯片与</a:t>
            </a:r>
            <a:r>
              <a:rPr lang="en-US" altLang="zh-CN" sz="2000" dirty="0"/>
              <a:t>CPU</a:t>
            </a:r>
            <a:r>
              <a:rPr lang="zh-CN" altLang="en-US" sz="2000" dirty="0"/>
              <a:t>之间的信息通路，它是一个</a:t>
            </a:r>
            <a:r>
              <a:rPr lang="en-US" altLang="zh-CN" sz="2000" dirty="0"/>
              <a:t>64</a:t>
            </a:r>
            <a:r>
              <a:rPr lang="zh-CN" altLang="en-US" sz="2000" dirty="0"/>
              <a:t>位数据线和</a:t>
            </a:r>
            <a:r>
              <a:rPr lang="en-US" altLang="zh-CN" sz="2000" dirty="0"/>
              <a:t>32</a:t>
            </a:r>
            <a:r>
              <a:rPr lang="zh-CN" altLang="en-US" sz="2000" dirty="0"/>
              <a:t>位地址线的同步总线。</a:t>
            </a:r>
            <a:r>
              <a:rPr lang="en-US" altLang="zh-CN" sz="2000" dirty="0"/>
              <a:t>32</a:t>
            </a:r>
            <a:r>
              <a:rPr lang="zh-CN" altLang="en-US" sz="2000" dirty="0"/>
              <a:t>位的地址线可支持处理器</a:t>
            </a:r>
            <a:r>
              <a:rPr lang="en-US" altLang="zh-CN" sz="2000" dirty="0"/>
              <a:t>4GB</a:t>
            </a:r>
            <a:r>
              <a:rPr lang="zh-CN" altLang="en-US" sz="2000" dirty="0"/>
              <a:t>的存储寻址空间。总线上还接有</a:t>
            </a:r>
            <a:r>
              <a:rPr lang="en-US" altLang="zh-CN" sz="2000" dirty="0"/>
              <a:t>L2</a:t>
            </a:r>
            <a:r>
              <a:rPr lang="zh-CN" altLang="en-US" sz="2000" dirty="0"/>
              <a:t>级</a:t>
            </a:r>
            <a:r>
              <a:rPr lang="en-US" altLang="zh-CN" sz="2000" dirty="0"/>
              <a:t>cache</a:t>
            </a:r>
            <a:r>
              <a:rPr lang="zh-CN" altLang="en-US" sz="2000" dirty="0"/>
              <a:t>，主存与</a:t>
            </a:r>
            <a:r>
              <a:rPr lang="en-US" altLang="zh-CN" sz="2000" dirty="0"/>
              <a:t>cache</a:t>
            </a:r>
            <a:r>
              <a:rPr lang="zh-CN" altLang="en-US" sz="2000" dirty="0"/>
              <a:t>控制器芯片。后者用来管理</a:t>
            </a:r>
            <a:r>
              <a:rPr lang="en-US" altLang="zh-CN" sz="2000" dirty="0"/>
              <a:t>CPU</a:t>
            </a:r>
            <a:r>
              <a:rPr lang="zh-CN" altLang="en-US" sz="2000" dirty="0"/>
              <a:t>对主存和</a:t>
            </a:r>
            <a:r>
              <a:rPr lang="en-US" altLang="zh-CN" sz="2000" dirty="0"/>
              <a:t>cache</a:t>
            </a:r>
            <a:r>
              <a:rPr lang="zh-CN" altLang="en-US" sz="2000" dirty="0"/>
              <a:t>的存取操作。</a:t>
            </a:r>
            <a:r>
              <a:rPr lang="en-US" altLang="zh-CN" sz="2000" dirty="0"/>
              <a:t>CPU</a:t>
            </a:r>
            <a:r>
              <a:rPr lang="zh-CN" altLang="en-US" sz="2000" dirty="0"/>
              <a:t>拥有</a:t>
            </a:r>
            <a:r>
              <a:rPr lang="en-US" altLang="zh-CN" sz="2000" dirty="0"/>
              <a:t>HOST</a:t>
            </a:r>
            <a:r>
              <a:rPr lang="zh-CN" altLang="en-US" sz="2000" dirty="0"/>
              <a:t>总线的控制权，但在必要情况下可放弃总线控制权。</a:t>
            </a:r>
            <a:endParaRPr lang="zh-CN" altLang="en-US" sz="2000" dirty="0"/>
          </a:p>
        </p:txBody>
      </p:sp>
      <p:sp>
        <p:nvSpPr>
          <p:cNvPr id="50185" name="Rectangle 9"/>
          <p:cNvSpPr>
            <a:spLocks noChangeArrowheads="1"/>
          </p:cNvSpPr>
          <p:nvPr/>
        </p:nvSpPr>
        <p:spPr bwMode="auto">
          <a:xfrm>
            <a:off x="179512" y="116632"/>
            <a:ext cx="8785225" cy="2592388"/>
          </a:xfrm>
          <a:prstGeom prst="rect">
            <a:avLst/>
          </a:prstGeom>
          <a:solidFill>
            <a:srgbClr val="CCFFFF"/>
          </a:solidFill>
          <a:ln w="9525">
            <a:noFill/>
            <a:miter lim="800000"/>
          </a:ln>
        </p:spPr>
        <p:txBody>
          <a:bodyPr/>
          <a:lstStyle/>
          <a:p>
            <a:pPr marL="342900" indent="-342900">
              <a:lnSpc>
                <a:spcPct val="100000"/>
              </a:lnSpc>
              <a:buClr>
                <a:schemeClr val="tx2"/>
              </a:buClr>
              <a:buFont typeface="Wingdings" panose="05000000000000000000" pitchFamily="2" charset="2"/>
              <a:buChar char="l"/>
            </a:pPr>
            <a:r>
              <a:rPr lang="en-US" altLang="zh-CN" sz="2000" b="1" dirty="0"/>
              <a:t>PCI</a:t>
            </a:r>
            <a:r>
              <a:rPr lang="zh-CN" altLang="en-US" sz="2000" b="1" dirty="0"/>
              <a:t>总线：</a:t>
            </a:r>
            <a:r>
              <a:rPr lang="zh-CN" altLang="en-US" sz="2000" dirty="0"/>
              <a:t>连接各种高速的</a:t>
            </a:r>
            <a:r>
              <a:rPr lang="en-US" altLang="zh-CN" sz="2000" dirty="0"/>
              <a:t>PCI</a:t>
            </a:r>
            <a:r>
              <a:rPr lang="zh-CN" altLang="en-US" sz="2000" dirty="0"/>
              <a:t>设备。</a:t>
            </a:r>
            <a:r>
              <a:rPr lang="en-US" altLang="zh-CN" sz="2000" dirty="0"/>
              <a:t>PCI</a:t>
            </a:r>
            <a:r>
              <a:rPr lang="zh-CN" altLang="en-US" sz="2000" dirty="0"/>
              <a:t>设备可以是主设备，也可以是从设备，或兼而有之。在</a:t>
            </a:r>
            <a:r>
              <a:rPr lang="en-US" altLang="zh-CN" sz="2000" dirty="0"/>
              <a:t>PCI</a:t>
            </a:r>
            <a:r>
              <a:rPr lang="zh-CN" altLang="en-US" sz="2000" dirty="0"/>
              <a:t>设备中不存在</a:t>
            </a:r>
            <a:r>
              <a:rPr lang="en-US" altLang="zh-CN" sz="2000" dirty="0"/>
              <a:t>DMA</a:t>
            </a:r>
            <a:r>
              <a:rPr lang="zh-CN" altLang="en-US" sz="2000" dirty="0"/>
              <a:t>的概念，这是因为</a:t>
            </a:r>
            <a:r>
              <a:rPr lang="en-US" altLang="zh-CN" sz="2000" dirty="0"/>
              <a:t>PCI</a:t>
            </a:r>
            <a:r>
              <a:rPr lang="zh-CN" altLang="en-US" sz="2000" dirty="0"/>
              <a:t>总线支持无限的猝发式传送。这样，传统总线上用</a:t>
            </a:r>
            <a:r>
              <a:rPr lang="en-US" altLang="zh-CN" sz="2000" dirty="0"/>
              <a:t>DMA</a:t>
            </a:r>
            <a:r>
              <a:rPr lang="zh-CN" altLang="en-US" sz="2000" dirty="0"/>
              <a:t>方式工作的设备移植到</a:t>
            </a:r>
            <a:r>
              <a:rPr lang="en-US" altLang="zh-CN" sz="2000" dirty="0"/>
              <a:t>PCI</a:t>
            </a:r>
            <a:r>
              <a:rPr lang="zh-CN" altLang="en-US" sz="2000" dirty="0"/>
              <a:t>总线上时，采用主设备工作方式即可。系统中允许有多条</a:t>
            </a:r>
            <a:r>
              <a:rPr lang="en-US" altLang="zh-CN" sz="2000" dirty="0"/>
              <a:t>PCI</a:t>
            </a:r>
            <a:r>
              <a:rPr lang="zh-CN" altLang="en-US" sz="2000" dirty="0"/>
              <a:t>总线，它们可以使用</a:t>
            </a:r>
            <a:r>
              <a:rPr lang="en-US" altLang="zh-CN" sz="2000" dirty="0"/>
              <a:t>HOST</a:t>
            </a:r>
            <a:r>
              <a:rPr lang="zh-CN" altLang="en-US" sz="2000" dirty="0"/>
              <a:t>桥与</a:t>
            </a:r>
            <a:r>
              <a:rPr lang="en-US" altLang="zh-CN" sz="2000" dirty="0"/>
              <a:t>HOST</a:t>
            </a:r>
            <a:r>
              <a:rPr lang="zh-CN" altLang="en-US" sz="2000" dirty="0"/>
              <a:t>总线相连，也可使用</a:t>
            </a:r>
            <a:r>
              <a:rPr lang="en-US" altLang="zh-CN" sz="2000" dirty="0"/>
              <a:t>PCI/PCI</a:t>
            </a:r>
            <a:r>
              <a:rPr lang="zh-CN" altLang="en-US" sz="2000" dirty="0"/>
              <a:t>桥与已和</a:t>
            </a:r>
            <a:r>
              <a:rPr lang="en-US" altLang="zh-CN" sz="2000" dirty="0"/>
              <a:t>HOST</a:t>
            </a:r>
            <a:r>
              <a:rPr lang="zh-CN" altLang="en-US" sz="2000" dirty="0"/>
              <a:t>总线相连的</a:t>
            </a:r>
            <a:r>
              <a:rPr lang="en-US" altLang="zh-CN" sz="2000" dirty="0"/>
              <a:t>PCI</a:t>
            </a:r>
            <a:r>
              <a:rPr lang="zh-CN" altLang="en-US" sz="2000" dirty="0"/>
              <a:t>总线相连，从而得以扩充整个系统的</a:t>
            </a:r>
            <a:r>
              <a:rPr lang="en-US" altLang="zh-CN" sz="2000" dirty="0"/>
              <a:t>PCI</a:t>
            </a:r>
            <a:r>
              <a:rPr lang="zh-CN" altLang="en-US" sz="2000" dirty="0"/>
              <a:t>总线负载能力。</a:t>
            </a:r>
            <a:endParaRPr lang="zh-CN" altLang="en-US" sz="2000" b="1" dirty="0"/>
          </a:p>
          <a:p>
            <a:pPr marL="342900" indent="-342900">
              <a:lnSpc>
                <a:spcPct val="100000"/>
              </a:lnSpc>
              <a:buClr>
                <a:schemeClr val="tx2"/>
              </a:buClr>
              <a:buFont typeface="Wingdings" panose="05000000000000000000" pitchFamily="2" charset="2"/>
              <a:buChar char="l"/>
            </a:pPr>
            <a:r>
              <a:rPr lang="en-US" altLang="zh-CN" sz="2000" b="1" dirty="0"/>
              <a:t>LAGACY</a:t>
            </a:r>
            <a:r>
              <a:rPr lang="zh-CN" altLang="en-US" sz="2000" b="1" dirty="0"/>
              <a:t>总线：</a:t>
            </a:r>
            <a:r>
              <a:rPr lang="zh-CN" altLang="en-US" sz="2000" dirty="0"/>
              <a:t>可以是</a:t>
            </a:r>
            <a:r>
              <a:rPr lang="en-US" altLang="zh-CN" sz="2000" dirty="0"/>
              <a:t>ISA</a:t>
            </a:r>
            <a:r>
              <a:rPr lang="zh-CN" altLang="en-US" sz="2000" dirty="0"/>
              <a:t>，</a:t>
            </a:r>
            <a:r>
              <a:rPr lang="en-US" altLang="zh-CN" sz="2000" dirty="0"/>
              <a:t>EISA</a:t>
            </a:r>
            <a:r>
              <a:rPr lang="zh-CN" altLang="en-US" sz="2000" dirty="0"/>
              <a:t>，</a:t>
            </a:r>
            <a:r>
              <a:rPr lang="en-US" altLang="zh-CN" sz="2000" dirty="0"/>
              <a:t>MCA</a:t>
            </a:r>
            <a:r>
              <a:rPr lang="zh-CN" altLang="en-US" sz="2000" dirty="0"/>
              <a:t>等这类性能较低的传统总线，以便充分利用市场上丰富的适配器卡，支持中、低速</a:t>
            </a:r>
            <a:r>
              <a:rPr lang="en-US" altLang="zh-CN" sz="2000" dirty="0"/>
              <a:t>I/O</a:t>
            </a:r>
            <a:r>
              <a:rPr lang="zh-CN" altLang="en-US" sz="2000" dirty="0"/>
              <a:t>设备。</a:t>
            </a:r>
            <a:endParaRPr lang="zh-CN" altLang="en-US" sz="2000" dirty="0"/>
          </a:p>
        </p:txBody>
      </p:sp>
      <p:sp>
        <p:nvSpPr>
          <p:cNvPr id="50186" name="Rectangle 10"/>
          <p:cNvSpPr>
            <a:spLocks noChangeArrowheads="1"/>
          </p:cNvSpPr>
          <p:nvPr/>
        </p:nvSpPr>
        <p:spPr bwMode="auto">
          <a:xfrm>
            <a:off x="179512" y="116632"/>
            <a:ext cx="8785225" cy="2663825"/>
          </a:xfrm>
          <a:prstGeom prst="rect">
            <a:avLst/>
          </a:prstGeom>
          <a:solidFill>
            <a:srgbClr val="CCFFFF"/>
          </a:solidFill>
          <a:ln w="9525">
            <a:noFill/>
            <a:miter lim="800000"/>
          </a:ln>
        </p:spPr>
        <p:txBody>
          <a:bodyPr/>
          <a:lstStyle/>
          <a:p>
            <a:pPr marL="342900" indent="-342900">
              <a:lnSpc>
                <a:spcPct val="80000"/>
              </a:lnSpc>
              <a:buClr>
                <a:schemeClr val="tx2"/>
              </a:buClr>
              <a:buFont typeface="Wingdings" panose="05000000000000000000" pitchFamily="2" charset="2"/>
              <a:buChar char="l"/>
            </a:pPr>
            <a:r>
              <a:rPr lang="zh-CN" altLang="en-US" sz="2400" dirty="0"/>
              <a:t>在</a:t>
            </a:r>
            <a:r>
              <a:rPr lang="en-US" altLang="zh-CN" sz="2400" dirty="0"/>
              <a:t>PCI</a:t>
            </a:r>
            <a:r>
              <a:rPr lang="zh-CN" altLang="en-US" sz="2400" dirty="0"/>
              <a:t>总线体系结构中有三种桥。其中</a:t>
            </a:r>
            <a:r>
              <a:rPr lang="en-US" altLang="zh-CN" sz="2400" dirty="0"/>
              <a:t>HOST</a:t>
            </a:r>
            <a:r>
              <a:rPr lang="zh-CN" altLang="en-US" sz="2400" dirty="0"/>
              <a:t>桥又是</a:t>
            </a:r>
            <a:r>
              <a:rPr lang="en-US" altLang="zh-CN" sz="2400" dirty="0"/>
              <a:t>PCI</a:t>
            </a:r>
            <a:r>
              <a:rPr lang="zh-CN" altLang="en-US" sz="2400" dirty="0"/>
              <a:t>总线控制器，含有中央仲裁器。桥起着重要的作用，它连接两条总线，使彼此间相互通信。桥又是一个总线转换部件，可以把一条总线的地址空间映射到另一条总线的地址空间上，从而使系统中任意一个总线主设备都能看到同样的一份地址表。</a:t>
            </a:r>
            <a:endParaRPr lang="zh-CN" altLang="en-US" sz="2400" dirty="0"/>
          </a:p>
          <a:p>
            <a:pPr marL="342900" indent="-342900">
              <a:lnSpc>
                <a:spcPct val="80000"/>
              </a:lnSpc>
              <a:buClr>
                <a:schemeClr val="tx2"/>
              </a:buClr>
              <a:buFont typeface="Wingdings" panose="05000000000000000000" pitchFamily="2" charset="2"/>
              <a:buChar char="l"/>
            </a:pPr>
            <a:r>
              <a:rPr lang="zh-CN" altLang="en-US" sz="2400" dirty="0"/>
              <a:t>桥本身的结构可以十分简单，如只有信号缓冲能力和信号电平转换逻辑，也可以相当复杂，如有规程转换、数据快存、装拆数据等。</a:t>
            </a:r>
            <a:endParaRPr lang="zh-CN" altLang="en-US" sz="2400" dirty="0"/>
          </a:p>
        </p:txBody>
      </p:sp>
      <p:sp>
        <p:nvSpPr>
          <p:cNvPr id="50187" name="Rectangle 11"/>
          <p:cNvSpPr>
            <a:spLocks noChangeArrowheads="1"/>
          </p:cNvSpPr>
          <p:nvPr/>
        </p:nvSpPr>
        <p:spPr bwMode="auto">
          <a:xfrm>
            <a:off x="279611" y="146892"/>
            <a:ext cx="8569325" cy="2592388"/>
          </a:xfrm>
          <a:prstGeom prst="rect">
            <a:avLst/>
          </a:prstGeom>
          <a:solidFill>
            <a:srgbClr val="CCFFFF"/>
          </a:solidFill>
          <a:ln w="9525">
            <a:noFill/>
            <a:miter lim="800000"/>
          </a:ln>
        </p:spPr>
        <p:txBody>
          <a:bodyPr/>
          <a:lstStyle/>
          <a:p>
            <a:pPr marL="342900" indent="-342900">
              <a:buClr>
                <a:schemeClr val="tx2"/>
              </a:buClr>
              <a:buFont typeface="Wingdings" panose="05000000000000000000" pitchFamily="2" charset="2"/>
              <a:buChar char="l"/>
            </a:pPr>
            <a:r>
              <a:rPr lang="en-US" altLang="zh-CN" sz="2400" dirty="0"/>
              <a:t>PCI</a:t>
            </a:r>
            <a:r>
              <a:rPr lang="zh-CN" altLang="en-US" sz="2400" dirty="0"/>
              <a:t>总线的基本传输机制是猝发式传送，利用桥可以实现总线间的猝发式传送。写操作时，桥把上层总线的写周期先缓存起来，以后的时间再在下层总线上生成写周期，即延迟写。读操作时，桥可早于上层总线，直接在下层总线上进行预读。无论延迟写和预读，桥的作用可使所有的存取都按</a:t>
            </a:r>
            <a:r>
              <a:rPr lang="en-US" altLang="zh-CN" sz="2400" dirty="0"/>
              <a:t>CPU</a:t>
            </a:r>
            <a:r>
              <a:rPr lang="zh-CN" altLang="en-US" sz="2400" dirty="0"/>
              <a:t>的需要出现在总线上。</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dissolve">
                                      <p:cBhvr>
                                        <p:cTn id="7" dur="500"/>
                                        <p:tgtEl>
                                          <p:spTgt spid="50184"/>
                                        </p:tgtEl>
                                      </p:cBhvr>
                                    </p:animEffect>
                                  </p:childTnLst>
                                  <p:subTnLst>
                                    <p:set>
                                      <p:cBhvr override="childStyle">
                                        <p:cTn dur="1" fill="hold" display="0" masterRel="nextClick" afterEffect="1"/>
                                        <p:tgtEl>
                                          <p:spTgt spid="5018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185"/>
                                        </p:tgtEl>
                                        <p:attrNameLst>
                                          <p:attrName>style.visibility</p:attrName>
                                        </p:attrNameLst>
                                      </p:cBhvr>
                                      <p:to>
                                        <p:strVal val="visible"/>
                                      </p:to>
                                    </p:set>
                                    <p:animEffect transition="in" filter="dissolve">
                                      <p:cBhvr>
                                        <p:cTn id="12" dur="500"/>
                                        <p:tgtEl>
                                          <p:spTgt spid="50185"/>
                                        </p:tgtEl>
                                      </p:cBhvr>
                                    </p:animEffect>
                                  </p:childTnLst>
                                  <p:subTnLst>
                                    <p:set>
                                      <p:cBhvr override="childStyle">
                                        <p:cTn dur="1" fill="hold" display="0" masterRel="nextClick" afterEffect="1"/>
                                        <p:tgtEl>
                                          <p:spTgt spid="5018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0186"/>
                                        </p:tgtEl>
                                        <p:attrNameLst>
                                          <p:attrName>style.visibility</p:attrName>
                                        </p:attrNameLst>
                                      </p:cBhvr>
                                      <p:to>
                                        <p:strVal val="visible"/>
                                      </p:to>
                                    </p:set>
                                    <p:animEffect transition="in" filter="dissolve">
                                      <p:cBhvr>
                                        <p:cTn id="17" dur="500"/>
                                        <p:tgtEl>
                                          <p:spTgt spid="50186"/>
                                        </p:tgtEl>
                                      </p:cBhvr>
                                    </p:animEffect>
                                  </p:childTnLst>
                                  <p:subTnLst>
                                    <p:set>
                                      <p:cBhvr override="childStyle">
                                        <p:cTn dur="1" fill="hold" display="0" masterRel="nextClick" afterEffect="1"/>
                                        <p:tgtEl>
                                          <p:spTgt spid="5018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0187"/>
                                        </p:tgtEl>
                                        <p:attrNameLst>
                                          <p:attrName>style.visibility</p:attrName>
                                        </p:attrNameLst>
                                      </p:cBhvr>
                                      <p:to>
                                        <p:strVal val="visible"/>
                                      </p:to>
                                    </p:set>
                                    <p:animEffect transition="in" filter="dissolve">
                                      <p:cBhvr>
                                        <p:cTn id="22" dur="500"/>
                                        <p:tgtEl>
                                          <p:spTgt spid="50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animBg="1" autoUpdateAnimBg="0"/>
      <p:bldP spid="50185" grpId="0" animBg="1" autoUpdateAnimBg="0"/>
      <p:bldP spid="50186" grpId="0" animBg="1" autoUpdateAnimBg="0"/>
      <p:bldP spid="50187"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2A50C85-E27C-40D4-A6F5-55ADEA077334}" type="slidenum">
              <a:rPr lang="en-US" altLang="zh-CN"/>
            </a:fld>
            <a:endParaRPr lang="en-US" altLang="zh-CN"/>
          </a:p>
        </p:txBody>
      </p:sp>
      <p:sp>
        <p:nvSpPr>
          <p:cNvPr id="34819" name="Rectangle 3"/>
          <p:cNvSpPr>
            <a:spLocks noGrp="1" noChangeArrowheads="1"/>
          </p:cNvSpPr>
          <p:nvPr>
            <p:ph type="body" idx="1"/>
          </p:nvPr>
        </p:nvSpPr>
        <p:spPr>
          <a:xfrm>
            <a:off x="323850" y="333375"/>
            <a:ext cx="7561263" cy="6048375"/>
          </a:xfrm>
        </p:spPr>
        <p:txBody>
          <a:bodyPr/>
          <a:lstStyle/>
          <a:p>
            <a:pPr eaLnBrk="1" hangingPunct="1">
              <a:lnSpc>
                <a:spcPct val="90000"/>
              </a:lnSpc>
              <a:buFont typeface="Wingdings" panose="05000000000000000000" pitchFamily="2" charset="2"/>
              <a:buNone/>
            </a:pPr>
            <a:r>
              <a:rPr lang="zh-CN" altLang="en-US" sz="2800" smtClean="0">
                <a:latin typeface="宋体" panose="02010600030101010101" pitchFamily="2" charset="-122"/>
              </a:rPr>
              <a:t>二、 </a:t>
            </a:r>
            <a:r>
              <a:rPr lang="en-US" altLang="zh-CN" sz="2800" smtClean="0">
                <a:latin typeface="宋体" panose="02010600030101010101" pitchFamily="2" charset="-122"/>
              </a:rPr>
              <a:t>PCI</a:t>
            </a:r>
            <a:r>
              <a:rPr lang="zh-CN" altLang="en-US" sz="2800" smtClean="0">
                <a:latin typeface="宋体" panose="02010600030101010101" pitchFamily="2" charset="-122"/>
              </a:rPr>
              <a:t>总线信号线</a:t>
            </a:r>
            <a:endParaRPr lang="zh-CN" altLang="en-US" sz="2800" smtClean="0">
              <a:latin typeface="宋体" panose="02010600030101010101" pitchFamily="2" charset="-122"/>
            </a:endParaRPr>
          </a:p>
          <a:p>
            <a:pPr eaLnBrk="1" hangingPunct="1">
              <a:lnSpc>
                <a:spcPct val="90000"/>
              </a:lnSpc>
            </a:pPr>
            <a:r>
              <a:rPr lang="en-US" altLang="zh-CN" sz="2400" smtClean="0">
                <a:latin typeface="宋体" panose="02010600030101010101" pitchFamily="2" charset="-122"/>
              </a:rPr>
              <a:t>PCI</a:t>
            </a:r>
            <a:r>
              <a:rPr lang="zh-CN" altLang="en-US" sz="2400" smtClean="0">
                <a:latin typeface="宋体" panose="02010600030101010101" pitchFamily="2" charset="-122"/>
              </a:rPr>
              <a:t>总线信号线</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必要引脚控设备</a:t>
            </a:r>
            <a:r>
              <a:rPr lang="en-US" altLang="zh-CN" sz="2400" smtClean="0">
                <a:latin typeface="宋体" panose="02010600030101010101" pitchFamily="2" charset="-122"/>
              </a:rPr>
              <a:t>49</a:t>
            </a:r>
            <a:r>
              <a:rPr lang="zh-CN" altLang="en-US" sz="2400" smtClean="0">
                <a:latin typeface="宋体" panose="02010600030101010101" pitchFamily="2" charset="-122"/>
              </a:rPr>
              <a:t>条 </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目标设备</a:t>
            </a:r>
            <a:r>
              <a:rPr lang="en-US" altLang="zh-CN" sz="2400" smtClean="0">
                <a:latin typeface="宋体" panose="02010600030101010101" pitchFamily="2" charset="-122"/>
              </a:rPr>
              <a:t>47</a:t>
            </a:r>
            <a:r>
              <a:rPr lang="zh-CN" altLang="en-US" sz="2400" smtClean="0">
                <a:latin typeface="宋体" panose="02010600030101010101" pitchFamily="2" charset="-122"/>
              </a:rPr>
              <a:t>条 </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可选引脚</a:t>
            </a:r>
            <a:r>
              <a:rPr lang="en-US" altLang="zh-CN" sz="2400" smtClean="0">
                <a:latin typeface="宋体" panose="02010600030101010101" pitchFamily="2" charset="-122"/>
              </a:rPr>
              <a:t>51</a:t>
            </a:r>
            <a:r>
              <a:rPr lang="zh-CN" altLang="en-US" sz="2400" smtClean="0">
                <a:latin typeface="宋体" panose="02010600030101010101" pitchFamily="2" charset="-122"/>
              </a:rPr>
              <a:t>条（主要用于</a:t>
            </a:r>
            <a:r>
              <a:rPr lang="en-US" altLang="zh-CN" sz="2400" smtClean="0">
                <a:latin typeface="宋体" panose="02010600030101010101" pitchFamily="2" charset="-122"/>
              </a:rPr>
              <a:t>64</a:t>
            </a:r>
            <a:r>
              <a:rPr lang="zh-CN" altLang="en-US" sz="2400" smtClean="0">
                <a:latin typeface="宋体" panose="02010600030101010101" pitchFamily="2" charset="-122"/>
              </a:rPr>
              <a:t>位扩展、中 断请求、高速缓存支持等）</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总引脚数</a:t>
            </a:r>
            <a:r>
              <a:rPr lang="en-US" altLang="zh-CN" sz="2400" smtClean="0">
                <a:latin typeface="宋体" panose="02010600030101010101" pitchFamily="2" charset="-122"/>
              </a:rPr>
              <a:t>120</a:t>
            </a:r>
            <a:r>
              <a:rPr lang="zh-CN" altLang="en-US" sz="2400" smtClean="0">
                <a:latin typeface="宋体" panose="02010600030101010101" pitchFamily="2" charset="-122"/>
              </a:rPr>
              <a:t>条（包含电源、地、保留 引脚等）</a:t>
            </a:r>
            <a:endParaRPr lang="zh-CN" altLang="en-US" sz="2400" smtClean="0">
              <a:latin typeface="宋体" panose="02010600030101010101" pitchFamily="2" charset="-122"/>
            </a:endParaRPr>
          </a:p>
          <a:p>
            <a:pPr eaLnBrk="1" hangingPunct="1">
              <a:lnSpc>
                <a:spcPct val="90000"/>
              </a:lnSpc>
              <a:buFont typeface="Wingdings" panose="05000000000000000000" pitchFamily="2" charset="2"/>
              <a:buNone/>
            </a:pPr>
            <a:r>
              <a:rPr lang="zh-CN" altLang="en-US" sz="2800" smtClean="0">
                <a:latin typeface="宋体" panose="02010600030101010101" pitchFamily="2" charset="-122"/>
              </a:rPr>
              <a:t>三、总线周期类型</a:t>
            </a:r>
            <a:endParaRPr lang="zh-CN" altLang="en-US" sz="2800" smtClean="0">
              <a:latin typeface="宋体" panose="02010600030101010101" pitchFamily="2" charset="-122"/>
            </a:endParaRPr>
          </a:p>
          <a:p>
            <a:pPr eaLnBrk="1" hangingPunct="1">
              <a:lnSpc>
                <a:spcPct val="90000"/>
              </a:lnSpc>
            </a:pPr>
            <a:r>
              <a:rPr lang="en-US" altLang="zh-CN" sz="2400" smtClean="0">
                <a:latin typeface="宋体" panose="02010600030101010101" pitchFamily="2" charset="-122"/>
              </a:rPr>
              <a:t>PCI</a:t>
            </a:r>
            <a:r>
              <a:rPr lang="zh-CN" altLang="en-US" sz="2400" smtClean="0">
                <a:latin typeface="宋体" panose="02010600030101010101" pitchFamily="2" charset="-122"/>
              </a:rPr>
              <a:t>总线周期由当前被授权的主设备发起。</a:t>
            </a:r>
            <a:r>
              <a:rPr lang="en-US" altLang="zh-CN" sz="2400" smtClean="0">
                <a:latin typeface="宋体" panose="02010600030101010101" pitchFamily="2" charset="-122"/>
              </a:rPr>
              <a:t>PCI</a:t>
            </a:r>
            <a:r>
              <a:rPr lang="zh-CN" altLang="en-US" sz="2400" smtClean="0">
                <a:latin typeface="宋体" panose="02010600030101010101" pitchFamily="2" charset="-122"/>
              </a:rPr>
              <a:t>支持任何主设备和从设备之间点到点的对等访问，也支持某些主设备的广播读写。</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存储器读</a:t>
            </a:r>
            <a:r>
              <a:rPr lang="en-US" altLang="zh-CN" sz="2400" smtClean="0">
                <a:latin typeface="宋体" panose="02010600030101010101" pitchFamily="2" charset="-122"/>
              </a:rPr>
              <a:t>/</a:t>
            </a:r>
            <a:r>
              <a:rPr lang="zh-CN" altLang="en-US" sz="2400" smtClean="0">
                <a:latin typeface="宋体" panose="02010600030101010101" pitchFamily="2" charset="-122"/>
              </a:rPr>
              <a:t>写总线周期</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存储器写和使无效周期</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特殊周期</a:t>
            </a:r>
            <a:endParaRPr lang="zh-CN" altLang="en-US" sz="2400" smtClean="0">
              <a:latin typeface="宋体" panose="02010600030101010101" pitchFamily="2" charset="-122"/>
            </a:endParaRPr>
          </a:p>
          <a:p>
            <a:pPr lvl="1" eaLnBrk="1" hangingPunct="1">
              <a:lnSpc>
                <a:spcPct val="90000"/>
              </a:lnSpc>
            </a:pPr>
            <a:r>
              <a:rPr lang="zh-CN" altLang="en-US" sz="2400" smtClean="0">
                <a:latin typeface="宋体" panose="02010600030101010101" pitchFamily="2" charset="-122"/>
              </a:rPr>
              <a:t>配置读</a:t>
            </a:r>
            <a:r>
              <a:rPr lang="en-US" altLang="zh-CN" sz="2400" smtClean="0">
                <a:latin typeface="宋体" panose="02010600030101010101" pitchFamily="2" charset="-122"/>
              </a:rPr>
              <a:t>/</a:t>
            </a:r>
            <a:r>
              <a:rPr lang="zh-CN" altLang="en-US" sz="2400" smtClean="0">
                <a:latin typeface="宋体" panose="02010600030101010101" pitchFamily="2" charset="-122"/>
              </a:rPr>
              <a:t>写周期</a:t>
            </a:r>
            <a:endParaRPr lang="zh-CN" altLang="en-US" sz="2400" smtClean="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灯片编号占位符 5"/>
          <p:cNvSpPr>
            <a:spLocks noGrp="1"/>
          </p:cNvSpPr>
          <p:nvPr>
            <p:ph type="sldNum" sz="quarter" idx="12"/>
          </p:nvPr>
        </p:nvSpPr>
        <p:spPr/>
        <p:txBody>
          <a:bodyPr/>
          <a:lstStyle/>
          <a:p>
            <a:pPr>
              <a:defRPr/>
            </a:pPr>
            <a:fld id="{7980E43B-BE68-41B1-8CD3-E986C9F40FE6}" type="slidenum">
              <a:rPr lang="en-US" altLang="zh-CN"/>
            </a:fld>
            <a:endParaRPr lang="en-US" altLang="zh-CN"/>
          </a:p>
        </p:txBody>
      </p:sp>
      <p:sp>
        <p:nvSpPr>
          <p:cNvPr id="35843" name="Rectangle 3"/>
          <p:cNvSpPr>
            <a:spLocks noGrp="1" noChangeArrowheads="1"/>
          </p:cNvSpPr>
          <p:nvPr>
            <p:ph type="body" idx="1"/>
          </p:nvPr>
        </p:nvSpPr>
        <p:spPr>
          <a:xfrm>
            <a:off x="323850" y="188913"/>
            <a:ext cx="8229600" cy="576262"/>
          </a:xfrm>
        </p:spPr>
        <p:txBody>
          <a:bodyPr/>
          <a:lstStyle/>
          <a:p>
            <a:pPr eaLnBrk="1" hangingPunct="1">
              <a:buFont typeface="Wingdings" panose="05000000000000000000" pitchFamily="2" charset="2"/>
              <a:buNone/>
            </a:pPr>
            <a:r>
              <a:rPr lang="zh-CN" altLang="en-US" smtClean="0"/>
              <a:t>四、总线周期操作</a:t>
            </a:r>
            <a:endParaRPr lang="zh-CN" altLang="en-US" smtClean="0"/>
          </a:p>
        </p:txBody>
      </p:sp>
      <p:pic>
        <p:nvPicPr>
          <p:cNvPr id="35844" name="Picture 6"/>
          <p:cNvPicPr>
            <a:picLocks noChangeAspect="1" noChangeArrowheads="1"/>
          </p:cNvPicPr>
          <p:nvPr/>
        </p:nvPicPr>
        <p:blipFill>
          <a:blip r:embed="rId1"/>
          <a:srcRect/>
          <a:stretch>
            <a:fillRect/>
          </a:stretch>
        </p:blipFill>
        <p:spPr bwMode="auto">
          <a:xfrm>
            <a:off x="228600" y="914400"/>
            <a:ext cx="8569325" cy="5688013"/>
          </a:xfrm>
          <a:prstGeom prst="rect">
            <a:avLst/>
          </a:prstGeom>
          <a:noFill/>
          <a:ln w="9525">
            <a:noFill/>
            <a:miter lim="800000"/>
            <a:headEnd/>
            <a:tailEnd/>
          </a:ln>
        </p:spPr>
      </p:pic>
      <p:sp>
        <p:nvSpPr>
          <p:cNvPr id="57352" name="Rectangle 8"/>
          <p:cNvSpPr>
            <a:spLocks noChangeArrowheads="1"/>
          </p:cNvSpPr>
          <p:nvPr/>
        </p:nvSpPr>
        <p:spPr bwMode="auto">
          <a:xfrm>
            <a:off x="152400" y="228600"/>
            <a:ext cx="8763000" cy="2209800"/>
          </a:xfrm>
          <a:prstGeom prst="rect">
            <a:avLst/>
          </a:prstGeom>
          <a:solidFill>
            <a:srgbClr val="CCFFFF"/>
          </a:solidFill>
          <a:ln w="9525" algn="ctr">
            <a:noFill/>
            <a:miter lim="800000"/>
          </a:ln>
        </p:spPr>
        <p:txBody>
          <a:bodyPr>
            <a:spAutoFit/>
          </a:bodyPr>
          <a:lstStyle/>
          <a:p>
            <a:r>
              <a:rPr lang="en-US" altLang="zh-CN" sz="2400"/>
              <a:t>PCI</a:t>
            </a:r>
            <a:r>
              <a:rPr lang="zh-CN" altLang="en-US" sz="2400"/>
              <a:t>总线周期的操作过程有如下特点：</a:t>
            </a:r>
            <a:endParaRPr lang="zh-CN" altLang="en-US" sz="2400"/>
          </a:p>
          <a:p>
            <a:r>
              <a:rPr lang="zh-CN" altLang="en-US" sz="2400"/>
              <a:t>   （</a:t>
            </a:r>
            <a:r>
              <a:rPr lang="en-US" altLang="zh-CN" sz="2400"/>
              <a:t>1</a:t>
            </a:r>
            <a:r>
              <a:rPr lang="zh-CN" altLang="en-US" sz="2400"/>
              <a:t>）采用同步时序协议。总线时钟周期以上跳沿开始，半个周期高电平，半个周期低电平。总线上所有事件，即信号电平转换出现在时钟信号的下跳沿时刻，而对信号的采样出现在时钟信号的上跳沿时刻。</a:t>
            </a:r>
            <a:endParaRPr lang="zh-CN" altLang="en-US" sz="2400"/>
          </a:p>
          <a:p>
            <a:endParaRPr lang="en-US" altLang="zh-CN" sz="2400"/>
          </a:p>
        </p:txBody>
      </p:sp>
      <p:pic>
        <p:nvPicPr>
          <p:cNvPr id="57353" name="Picture 9"/>
          <p:cNvPicPr>
            <a:picLocks noChangeAspect="1" noChangeArrowheads="1"/>
          </p:cNvPicPr>
          <p:nvPr/>
        </p:nvPicPr>
        <p:blipFill>
          <a:blip r:embed="rId1"/>
          <a:srcRect/>
          <a:stretch>
            <a:fillRect/>
          </a:stretch>
        </p:blipFill>
        <p:spPr bwMode="auto">
          <a:xfrm>
            <a:off x="152400" y="2362200"/>
            <a:ext cx="8763000" cy="4343400"/>
          </a:xfrm>
          <a:prstGeom prst="rect">
            <a:avLst/>
          </a:prstGeom>
          <a:noFill/>
          <a:ln w="9525">
            <a:noFill/>
            <a:miter lim="800000"/>
            <a:headEnd/>
            <a:tailEnd/>
          </a:ln>
        </p:spPr>
      </p:pic>
      <p:sp>
        <p:nvSpPr>
          <p:cNvPr id="57354" name="Rectangle 10"/>
          <p:cNvSpPr>
            <a:spLocks noChangeArrowheads="1"/>
          </p:cNvSpPr>
          <p:nvPr/>
        </p:nvSpPr>
        <p:spPr bwMode="auto">
          <a:xfrm>
            <a:off x="152400" y="228600"/>
            <a:ext cx="8713788" cy="1808163"/>
          </a:xfrm>
          <a:prstGeom prst="rect">
            <a:avLst/>
          </a:prstGeom>
          <a:solidFill>
            <a:srgbClr val="CCFFFF"/>
          </a:solidFill>
          <a:ln w="9525" algn="ctr">
            <a:noFill/>
            <a:miter lim="800000"/>
          </a:ln>
        </p:spPr>
        <p:txBody>
          <a:bodyPr>
            <a:spAutoFit/>
          </a:bodyPr>
          <a:lstStyle/>
          <a:p>
            <a:r>
              <a:rPr lang="zh-CN" altLang="en-US" sz="2400"/>
              <a:t>（</a:t>
            </a:r>
            <a:r>
              <a:rPr lang="en-US" altLang="zh-CN" sz="2400"/>
              <a:t>2</a:t>
            </a:r>
            <a:r>
              <a:rPr lang="zh-CN" altLang="en-US" sz="2400"/>
              <a:t>）总线周期由被授权的主方启动，以帧</a:t>
            </a:r>
            <a:r>
              <a:rPr lang="en-US" altLang="zh-CN" sz="2400"/>
              <a:t>FRAME#</a:t>
            </a:r>
            <a:r>
              <a:rPr lang="zh-CN" altLang="en-US" sz="2400"/>
              <a:t>信号变为有效来指示一个总线周期的开始。</a:t>
            </a:r>
            <a:endParaRPr lang="zh-CN" altLang="en-US" sz="2400"/>
          </a:p>
          <a:p>
            <a:r>
              <a:rPr lang="zh-CN" altLang="en-US" sz="2400"/>
              <a:t>（</a:t>
            </a:r>
            <a:r>
              <a:rPr lang="en-US" altLang="zh-CN" sz="2400"/>
              <a:t>3</a:t>
            </a:r>
            <a:r>
              <a:rPr lang="zh-CN" altLang="en-US" sz="2400"/>
              <a:t>）一个总线周期由一个地址期和一个或多个数据期组成。在地址期内除给出目标地址外，还在</a:t>
            </a:r>
            <a:r>
              <a:rPr lang="en-US" altLang="zh-CN" sz="2400"/>
              <a:t>C/BE#</a:t>
            </a:r>
            <a:r>
              <a:rPr lang="zh-CN" altLang="en-US" sz="2400"/>
              <a:t>线上给出总线命令以指明总线周期类型。</a:t>
            </a:r>
            <a:endParaRPr lang="zh-CN" altLang="en-US" sz="2400"/>
          </a:p>
        </p:txBody>
      </p:sp>
      <p:sp>
        <p:nvSpPr>
          <p:cNvPr id="57355" name="Rectangle 11"/>
          <p:cNvSpPr>
            <a:spLocks noChangeArrowheads="1"/>
          </p:cNvSpPr>
          <p:nvPr/>
        </p:nvSpPr>
        <p:spPr bwMode="auto">
          <a:xfrm>
            <a:off x="152400" y="228600"/>
            <a:ext cx="8713788" cy="1808163"/>
          </a:xfrm>
          <a:prstGeom prst="rect">
            <a:avLst/>
          </a:prstGeom>
          <a:solidFill>
            <a:srgbClr val="CCFFFF"/>
          </a:solidFill>
          <a:ln w="9525" algn="ctr">
            <a:noFill/>
            <a:miter lim="800000"/>
          </a:ln>
        </p:spPr>
        <p:txBody>
          <a:bodyPr>
            <a:spAutoFit/>
          </a:bodyPr>
          <a:lstStyle/>
          <a:p>
            <a:r>
              <a:rPr lang="zh-CN" altLang="en-US" sz="2400"/>
              <a:t>（</a:t>
            </a:r>
            <a:r>
              <a:rPr lang="en-US" altLang="zh-CN" sz="2400"/>
              <a:t>4</a:t>
            </a:r>
            <a:r>
              <a:rPr lang="zh-CN" altLang="en-US" sz="2400"/>
              <a:t>）地址期为一个总线时钟周期，一个数据期在没有等待状态下也是一个时钟周期。一次数据传送是在挂钩信号</a:t>
            </a:r>
            <a:r>
              <a:rPr lang="en-US" altLang="zh-CN" sz="2400"/>
              <a:t>IRDY#</a:t>
            </a:r>
            <a:r>
              <a:rPr lang="zh-CN" altLang="en-US" sz="2400"/>
              <a:t>和</a:t>
            </a:r>
            <a:r>
              <a:rPr lang="en-US" altLang="zh-CN" sz="2400"/>
              <a:t>TRDY#</a:t>
            </a:r>
            <a:r>
              <a:rPr lang="zh-CN" altLang="en-US" sz="2400"/>
              <a:t>都有效情况下完成，任一信号无效（在时钟上跳沿被对方采样到），都将加入等待状态。</a:t>
            </a:r>
            <a:endParaRPr lang="zh-CN" altLang="en-US" sz="2400"/>
          </a:p>
          <a:p>
            <a:endParaRPr lang="en-US" altLang="zh-CN" sz="2400"/>
          </a:p>
        </p:txBody>
      </p:sp>
      <p:sp>
        <p:nvSpPr>
          <p:cNvPr id="57356" name="Rectangle 12"/>
          <p:cNvSpPr>
            <a:spLocks noChangeArrowheads="1"/>
          </p:cNvSpPr>
          <p:nvPr/>
        </p:nvSpPr>
        <p:spPr bwMode="auto">
          <a:xfrm>
            <a:off x="152400" y="228600"/>
            <a:ext cx="8713788" cy="2063750"/>
          </a:xfrm>
          <a:prstGeom prst="rect">
            <a:avLst/>
          </a:prstGeom>
          <a:solidFill>
            <a:srgbClr val="CCFFFF"/>
          </a:solidFill>
          <a:ln w="9525" algn="ctr">
            <a:noFill/>
            <a:miter lim="800000"/>
          </a:ln>
        </p:spPr>
        <p:txBody>
          <a:bodyPr>
            <a:spAutoFit/>
          </a:bodyPr>
          <a:lstStyle/>
          <a:p>
            <a:r>
              <a:rPr lang="zh-CN" altLang="en-US" sz="2400"/>
              <a:t>（</a:t>
            </a:r>
            <a:r>
              <a:rPr lang="en-US" altLang="zh-CN" sz="2400"/>
              <a:t>5</a:t>
            </a:r>
            <a:r>
              <a:rPr lang="zh-CN" altLang="en-US" sz="2400"/>
              <a:t>）总线周期长度由主方确定。在总线周期期间</a:t>
            </a:r>
            <a:r>
              <a:rPr lang="en-US" altLang="zh-CN" sz="2400"/>
              <a:t>FRAME#</a:t>
            </a:r>
            <a:r>
              <a:rPr lang="zh-CN" altLang="en-US" sz="2400"/>
              <a:t>持续有效，但在最后一个数据期开始前撤除。即以</a:t>
            </a:r>
            <a:r>
              <a:rPr lang="en-US" altLang="zh-CN" sz="2400"/>
              <a:t>FRAME#</a:t>
            </a:r>
            <a:r>
              <a:rPr lang="zh-CN" altLang="en-US" sz="2400"/>
              <a:t>无效后，</a:t>
            </a:r>
            <a:r>
              <a:rPr lang="en-US" altLang="zh-CN" sz="2400"/>
              <a:t>IRDY#</a:t>
            </a:r>
            <a:r>
              <a:rPr lang="zh-CN" altLang="en-US" sz="2400"/>
              <a:t>也变为无效的时刻表明一个总线周期结束。由此可见，</a:t>
            </a:r>
            <a:r>
              <a:rPr lang="en-US" altLang="zh-CN" sz="2400"/>
              <a:t>PCI</a:t>
            </a:r>
            <a:r>
              <a:rPr lang="zh-CN" altLang="en-US" sz="2400"/>
              <a:t>的数据传送以猝发式传送为基本机制，单一数据传送反而成为猝发式传送的一个特例。并且</a:t>
            </a:r>
            <a:r>
              <a:rPr lang="en-US" altLang="zh-CN" sz="2400"/>
              <a:t>PCI</a:t>
            </a:r>
            <a:r>
              <a:rPr lang="zh-CN" altLang="en-US" sz="2400"/>
              <a:t>具有无限制的猝发能力，猝发长度由主方确定，没有对猝发长度加以固定限制。</a:t>
            </a:r>
            <a:endParaRPr lang="zh-CN" altLang="en-US" sz="2400"/>
          </a:p>
        </p:txBody>
      </p:sp>
      <p:sp>
        <p:nvSpPr>
          <p:cNvPr id="57359" name="Rectangle 15"/>
          <p:cNvSpPr>
            <a:spLocks noChangeArrowheads="1"/>
          </p:cNvSpPr>
          <p:nvPr/>
        </p:nvSpPr>
        <p:spPr bwMode="auto">
          <a:xfrm>
            <a:off x="152400" y="228600"/>
            <a:ext cx="8686800" cy="2063750"/>
          </a:xfrm>
          <a:prstGeom prst="rect">
            <a:avLst/>
          </a:prstGeom>
          <a:solidFill>
            <a:srgbClr val="CCFFFF"/>
          </a:solidFill>
          <a:ln w="9525" algn="ctr">
            <a:noFill/>
            <a:miter lim="800000"/>
          </a:ln>
        </p:spPr>
        <p:txBody>
          <a:bodyPr>
            <a:spAutoFit/>
          </a:bodyPr>
          <a:lstStyle/>
          <a:p>
            <a:pPr>
              <a:lnSpc>
                <a:spcPct val="80000"/>
              </a:lnSpc>
              <a:buClr>
                <a:schemeClr val="tx2"/>
              </a:buClr>
            </a:pPr>
            <a:r>
              <a:rPr lang="zh-CN" altLang="en-US" sz="2400"/>
              <a:t>（</a:t>
            </a:r>
            <a:r>
              <a:rPr lang="en-US" altLang="zh-CN" sz="2400"/>
              <a:t>6</a:t>
            </a:r>
            <a:r>
              <a:rPr lang="zh-CN" altLang="en-US" sz="2400"/>
              <a:t>）主方启动一个总线周期时要求目标方确认。即在</a:t>
            </a:r>
            <a:r>
              <a:rPr lang="en-US" altLang="zh-CN" sz="2400"/>
              <a:t>FRAME#</a:t>
            </a:r>
            <a:r>
              <a:rPr lang="zh-CN" altLang="en-US" sz="2400"/>
              <a:t>变为有效和目标地址送上</a:t>
            </a:r>
            <a:r>
              <a:rPr lang="en-US" altLang="zh-CN" sz="2400"/>
              <a:t>AD</a:t>
            </a:r>
            <a:r>
              <a:rPr lang="zh-CN" altLang="en-US" sz="2400"/>
              <a:t>线后，目标方在延迟一个时钟周期后必须以</a:t>
            </a:r>
            <a:r>
              <a:rPr lang="en-US" altLang="zh-CN" sz="2400"/>
              <a:t>DEVSEL#</a:t>
            </a:r>
            <a:r>
              <a:rPr lang="zh-CN" altLang="en-US" sz="2400"/>
              <a:t>信号有效予以响应。否则，主设备中止总线周期。</a:t>
            </a:r>
            <a:endParaRPr lang="zh-CN" altLang="en-US" sz="2400"/>
          </a:p>
          <a:p>
            <a:pPr>
              <a:lnSpc>
                <a:spcPct val="80000"/>
              </a:lnSpc>
              <a:buClr>
                <a:schemeClr val="tx2"/>
              </a:buClr>
            </a:pPr>
            <a:endParaRPr lang="zh-CN" altLang="en-US" sz="2400"/>
          </a:p>
          <a:p>
            <a:pPr>
              <a:lnSpc>
                <a:spcPct val="80000"/>
              </a:lnSpc>
              <a:buClr>
                <a:schemeClr val="tx2"/>
              </a:buClr>
            </a:pPr>
            <a:endParaRPr lang="zh-CN" altLang="en-US" sz="2400"/>
          </a:p>
          <a:p>
            <a:pPr>
              <a:lnSpc>
                <a:spcPct val="80000"/>
              </a:lnSpc>
              <a:buClr>
                <a:schemeClr val="tx2"/>
              </a:buClr>
            </a:pPr>
            <a:endParaRPr lang="en-US" altLang="zh-CN" sz="2400"/>
          </a:p>
        </p:txBody>
      </p:sp>
      <p:sp>
        <p:nvSpPr>
          <p:cNvPr id="57360" name="Rectangle 16"/>
          <p:cNvSpPr>
            <a:spLocks noChangeArrowheads="1"/>
          </p:cNvSpPr>
          <p:nvPr/>
        </p:nvSpPr>
        <p:spPr bwMode="auto">
          <a:xfrm>
            <a:off x="152400" y="228600"/>
            <a:ext cx="8713788" cy="2136775"/>
          </a:xfrm>
          <a:prstGeom prst="rect">
            <a:avLst/>
          </a:prstGeom>
          <a:solidFill>
            <a:srgbClr val="CCFFFF"/>
          </a:solidFill>
          <a:ln w="9525" algn="ctr">
            <a:noFill/>
            <a:miter lim="800000"/>
          </a:ln>
        </p:spPr>
        <p:txBody>
          <a:bodyPr>
            <a:spAutoFit/>
          </a:bodyPr>
          <a:lstStyle/>
          <a:p>
            <a:r>
              <a:rPr lang="zh-CN" altLang="en-US" sz="2400"/>
              <a:t>（</a:t>
            </a:r>
            <a:r>
              <a:rPr lang="en-US" altLang="zh-CN" sz="2400"/>
              <a:t>7</a:t>
            </a:r>
            <a:r>
              <a:rPr lang="zh-CN" altLang="en-US" sz="2400"/>
              <a:t>）主方结束一个总线周期时不要求目标方确认。目标方采样到</a:t>
            </a:r>
            <a:r>
              <a:rPr lang="en-US" altLang="zh-CN" sz="2400"/>
              <a:t>FRAME#</a:t>
            </a:r>
            <a:r>
              <a:rPr lang="zh-CN" altLang="en-US" sz="2400"/>
              <a:t>信号已变为无效时，即知道下一数据传送是最后一个数据期。目标方传输速度跟不上主方速度，可用</a:t>
            </a:r>
            <a:r>
              <a:rPr lang="en-US" altLang="zh-CN" sz="2400"/>
              <a:t>TRDY#</a:t>
            </a:r>
            <a:r>
              <a:rPr lang="zh-CN" altLang="en-US" sz="2400"/>
              <a:t>无效通知主方加入等待状态时钟周期。当目标方出现故障不能进行传输时，以</a:t>
            </a:r>
            <a:r>
              <a:rPr lang="en-US" altLang="zh-CN" sz="2400"/>
              <a:t>STOP#</a:t>
            </a:r>
            <a:r>
              <a:rPr lang="zh-CN" altLang="en-US" sz="2400"/>
              <a:t>信号有效通知主方中止总线周期。</a:t>
            </a:r>
            <a:endParaRPr lang="zh-CN" altLang="en-US" sz="2400"/>
          </a:p>
          <a:p>
            <a:endParaRPr lang="en-US" altLang="zh-CN" sz="2400"/>
          </a:p>
        </p:txBody>
      </p:sp>
      <p:pic>
        <p:nvPicPr>
          <p:cNvPr id="35852" name="Picture 17">
            <a:hlinkClick r:id="rId2" action="ppaction://hlinkfile"/>
          </p:cNvPr>
          <p:cNvPicPr>
            <a:picLocks noChangeAspect="1" noChangeArrowheads="1"/>
          </p:cNvPicPr>
          <p:nvPr/>
        </p:nvPicPr>
        <p:blipFill>
          <a:blip r:embed="rId3"/>
          <a:srcRect/>
          <a:stretch>
            <a:fillRect/>
          </a:stretch>
        </p:blipFill>
        <p:spPr bwMode="auto">
          <a:xfrm>
            <a:off x="7596188" y="6165850"/>
            <a:ext cx="409575" cy="38100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352"/>
                                        </p:tgtEl>
                                        <p:attrNameLst>
                                          <p:attrName>style.visibility</p:attrName>
                                        </p:attrNameLst>
                                      </p:cBhvr>
                                      <p:to>
                                        <p:strVal val="visible"/>
                                      </p:to>
                                    </p:set>
                                    <p:animEffect transition="in" filter="dissolve">
                                      <p:cBhvr>
                                        <p:cTn id="7" dur="500"/>
                                        <p:tgtEl>
                                          <p:spTgt spid="5735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7353"/>
                                        </p:tgtEl>
                                        <p:attrNameLst>
                                          <p:attrName>style.visibility</p:attrName>
                                        </p:attrNameLst>
                                      </p:cBhvr>
                                      <p:to>
                                        <p:strVal val="visible"/>
                                      </p:to>
                                    </p:set>
                                    <p:animEffect transition="in" filter="dissolve">
                                      <p:cBhvr>
                                        <p:cTn id="11" dur="500"/>
                                        <p:tgtEl>
                                          <p:spTgt spid="5735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7354"/>
                                        </p:tgtEl>
                                        <p:attrNameLst>
                                          <p:attrName>style.visibility</p:attrName>
                                        </p:attrNameLst>
                                      </p:cBhvr>
                                      <p:to>
                                        <p:strVal val="visible"/>
                                      </p:to>
                                    </p:set>
                                    <p:animEffect transition="in" filter="dissolve">
                                      <p:cBhvr>
                                        <p:cTn id="16" dur="500"/>
                                        <p:tgtEl>
                                          <p:spTgt spid="57354"/>
                                        </p:tgtEl>
                                      </p:cBhvr>
                                    </p:animEffect>
                                  </p:childTnLst>
                                  <p:subTnLst>
                                    <p:set>
                                      <p:cBhvr override="childStyle">
                                        <p:cTn dur="1" fill="hold" display="0" masterRel="nextClick" afterEffect="1"/>
                                        <p:tgtEl>
                                          <p:spTgt spid="57354"/>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7355"/>
                                        </p:tgtEl>
                                        <p:attrNameLst>
                                          <p:attrName>style.visibility</p:attrName>
                                        </p:attrNameLst>
                                      </p:cBhvr>
                                      <p:to>
                                        <p:strVal val="visible"/>
                                      </p:to>
                                    </p:set>
                                    <p:animEffect transition="in" filter="dissolve">
                                      <p:cBhvr>
                                        <p:cTn id="21" dur="500"/>
                                        <p:tgtEl>
                                          <p:spTgt spid="57355"/>
                                        </p:tgtEl>
                                      </p:cBhvr>
                                    </p:animEffect>
                                  </p:childTnLst>
                                  <p:subTnLst>
                                    <p:set>
                                      <p:cBhvr override="childStyle">
                                        <p:cTn dur="1" fill="hold" display="0" masterRel="nextClick" afterEffect="1"/>
                                        <p:tgtEl>
                                          <p:spTgt spid="57355"/>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7356"/>
                                        </p:tgtEl>
                                        <p:attrNameLst>
                                          <p:attrName>style.visibility</p:attrName>
                                        </p:attrNameLst>
                                      </p:cBhvr>
                                      <p:to>
                                        <p:strVal val="visible"/>
                                      </p:to>
                                    </p:set>
                                    <p:animEffect transition="in" filter="dissolve">
                                      <p:cBhvr>
                                        <p:cTn id="26" dur="500"/>
                                        <p:tgtEl>
                                          <p:spTgt spid="57356"/>
                                        </p:tgtEl>
                                      </p:cBhvr>
                                    </p:animEffect>
                                  </p:childTnLst>
                                  <p:subTnLst>
                                    <p:set>
                                      <p:cBhvr override="childStyle">
                                        <p:cTn dur="1" fill="hold" display="0" masterRel="nextClick" afterEffect="1"/>
                                        <p:tgtEl>
                                          <p:spTgt spid="57356"/>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7359"/>
                                        </p:tgtEl>
                                        <p:attrNameLst>
                                          <p:attrName>style.visibility</p:attrName>
                                        </p:attrNameLst>
                                      </p:cBhvr>
                                      <p:to>
                                        <p:strVal val="visible"/>
                                      </p:to>
                                    </p:set>
                                    <p:animEffect transition="in" filter="dissolve">
                                      <p:cBhvr>
                                        <p:cTn id="31" dur="500"/>
                                        <p:tgtEl>
                                          <p:spTgt spid="57359"/>
                                        </p:tgtEl>
                                      </p:cBhvr>
                                    </p:animEffect>
                                  </p:childTnLst>
                                  <p:subTnLst>
                                    <p:set>
                                      <p:cBhvr override="childStyle">
                                        <p:cTn dur="1" fill="hold" display="0" masterRel="nextClick" afterEffect="1"/>
                                        <p:tgtEl>
                                          <p:spTgt spid="5735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7360"/>
                                        </p:tgtEl>
                                        <p:attrNameLst>
                                          <p:attrName>style.visibility</p:attrName>
                                        </p:attrNameLst>
                                      </p:cBhvr>
                                      <p:to>
                                        <p:strVal val="visible"/>
                                      </p:to>
                                    </p:set>
                                    <p:animEffect transition="in" filter="dissolve">
                                      <p:cBhvr>
                                        <p:cTn id="36" dur="500"/>
                                        <p:tgtEl>
                                          <p:spTgt spid="57360"/>
                                        </p:tgtEl>
                                      </p:cBhvr>
                                    </p:animEffect>
                                  </p:childTnLst>
                                  <p:subTnLst>
                                    <p:set>
                                      <p:cBhvr override="childStyle">
                                        <p:cTn dur="1" fill="hold" display="0" masterRel="nextClick" afterEffect="1"/>
                                        <p:tgtEl>
                                          <p:spTgt spid="573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2" grpId="0" animBg="1" autoUpdateAnimBg="0"/>
      <p:bldP spid="57354" grpId="0" animBg="1" autoUpdateAnimBg="0"/>
      <p:bldP spid="57355" grpId="0" animBg="1" autoUpdateAnimBg="0"/>
      <p:bldP spid="57356" grpId="0" animBg="1" autoUpdateAnimBg="0"/>
      <p:bldP spid="57359" grpId="0" animBg="1" autoUpdateAnimBg="0"/>
      <p:bldP spid="57360"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33A5198D-FBA5-41B2-874E-0FAE2C4C0C68}" type="slidenum">
              <a:rPr lang="en-US" altLang="zh-CN"/>
            </a:fld>
            <a:endParaRPr lang="en-US" altLang="zh-CN"/>
          </a:p>
        </p:txBody>
      </p:sp>
      <p:sp>
        <p:nvSpPr>
          <p:cNvPr id="36867" name="Rectangle 3"/>
          <p:cNvSpPr>
            <a:spLocks noGrp="1" noChangeArrowheads="1"/>
          </p:cNvSpPr>
          <p:nvPr>
            <p:ph type="body" idx="1"/>
          </p:nvPr>
        </p:nvSpPr>
        <p:spPr>
          <a:xfrm>
            <a:off x="323850" y="333375"/>
            <a:ext cx="7632700" cy="3887788"/>
          </a:xfrm>
        </p:spPr>
        <p:txBody>
          <a:bodyPr/>
          <a:lstStyle/>
          <a:p>
            <a:pPr eaLnBrk="1" hangingPunct="1">
              <a:buFont typeface="Wingdings" panose="05000000000000000000" pitchFamily="2" charset="2"/>
              <a:buNone/>
            </a:pPr>
            <a:r>
              <a:rPr lang="zh-CN" altLang="en-US" dirty="0" smtClean="0">
                <a:latin typeface="宋体" panose="02010600030101010101" pitchFamily="2" charset="-122"/>
              </a:rPr>
              <a:t>五、总线仲裁</a:t>
            </a:r>
            <a:endParaRPr lang="zh-CN" altLang="en-US" dirty="0" smtClean="0">
              <a:latin typeface="宋体" panose="02010600030101010101" pitchFamily="2" charset="-122"/>
            </a:endParaRPr>
          </a:p>
          <a:p>
            <a:pPr eaLnBrk="1" hangingPunct="1"/>
            <a:r>
              <a:rPr lang="en-US" altLang="zh-CN" dirty="0" smtClean="0">
                <a:latin typeface="宋体" panose="02010600030101010101" pitchFamily="2" charset="-122"/>
              </a:rPr>
              <a:t>PCI</a:t>
            </a:r>
            <a:r>
              <a:rPr lang="zh-CN" altLang="en-US" dirty="0" smtClean="0">
                <a:latin typeface="宋体" panose="02010600030101010101" pitchFamily="2" charset="-122"/>
              </a:rPr>
              <a:t>总线采用集中式仲裁方式，每个</a:t>
            </a:r>
            <a:r>
              <a:rPr lang="en-US" altLang="zh-CN" dirty="0" smtClean="0">
                <a:latin typeface="宋体" panose="02010600030101010101" pitchFamily="2" charset="-122"/>
              </a:rPr>
              <a:t>PCI</a:t>
            </a:r>
            <a:r>
              <a:rPr lang="zh-CN" altLang="en-US" dirty="0" smtClean="0">
                <a:latin typeface="宋体" panose="02010600030101010101" pitchFamily="2" charset="-122"/>
              </a:rPr>
              <a:t>主设备都有独立的</a:t>
            </a:r>
            <a:r>
              <a:rPr lang="en-US" altLang="zh-CN" dirty="0" smtClean="0">
                <a:latin typeface="宋体" panose="02010600030101010101" pitchFamily="2" charset="-122"/>
              </a:rPr>
              <a:t>REQ#</a:t>
            </a:r>
            <a:r>
              <a:rPr lang="zh-CN" altLang="en-US" dirty="0" smtClean="0">
                <a:latin typeface="宋体" panose="02010600030101010101" pitchFamily="2" charset="-122"/>
              </a:rPr>
              <a:t>（总线请求）和</a:t>
            </a:r>
            <a:r>
              <a:rPr lang="en-US" altLang="zh-CN" dirty="0" smtClean="0">
                <a:latin typeface="宋体" panose="02010600030101010101" pitchFamily="2" charset="-122"/>
              </a:rPr>
              <a:t>GNT#</a:t>
            </a:r>
            <a:r>
              <a:rPr lang="zh-CN" altLang="en-US" dirty="0" smtClean="0">
                <a:latin typeface="宋体" panose="02010600030101010101" pitchFamily="2" charset="-122"/>
              </a:rPr>
              <a:t>（总线授权）两条信号线与中央仲裁器相连。由中央仲裁器根据一定的算法对各主设备的申请进行仲裁，决定把总线使用权授予谁。但</a:t>
            </a:r>
            <a:r>
              <a:rPr lang="en-US" altLang="zh-CN" dirty="0" smtClean="0">
                <a:latin typeface="宋体" panose="02010600030101010101" pitchFamily="2" charset="-122"/>
              </a:rPr>
              <a:t>PCI</a:t>
            </a:r>
            <a:r>
              <a:rPr lang="zh-CN" altLang="en-US" dirty="0" smtClean="0">
                <a:latin typeface="宋体" panose="02010600030101010101" pitchFamily="2" charset="-122"/>
              </a:rPr>
              <a:t>标准并没有规定仲裁算法。</a:t>
            </a:r>
            <a:endParaRPr lang="zh-CN" altLang="en-US" dirty="0" smtClean="0">
              <a:latin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fld id="{082CD9DE-6C68-44D5-A5DD-298A7CEA87E7}" type="slidenum">
              <a:rPr lang="en-US" altLang="zh-CN" sz="1400" smtClean="0">
                <a:latin typeface="+mn-ea"/>
                <a:ea typeface="+mn-ea"/>
              </a:rPr>
            </a:fld>
            <a:endParaRPr lang="en-US" altLang="zh-CN" sz="1400" dirty="0" smtClean="0">
              <a:latin typeface="+mn-ea"/>
              <a:ea typeface="+mn-ea"/>
            </a:endParaRPr>
          </a:p>
        </p:txBody>
      </p:sp>
      <p:sp>
        <p:nvSpPr>
          <p:cNvPr id="60419" name="Rectangle 2"/>
          <p:cNvSpPr>
            <a:spLocks noGrp="1" noChangeArrowheads="1"/>
          </p:cNvSpPr>
          <p:nvPr>
            <p:ph type="title"/>
          </p:nvPr>
        </p:nvSpPr>
        <p:spPr/>
        <p:txBody>
          <a:bodyPr/>
          <a:lstStyle/>
          <a:p>
            <a:pPr eaLnBrk="1" hangingPunct="1"/>
            <a:r>
              <a:rPr lang="en-US" altLang="zh-CN" dirty="0" smtClean="0"/>
              <a:t>6.5.6 </a:t>
            </a:r>
            <a:r>
              <a:rPr lang="en-US" altLang="zh-CN" dirty="0" err="1" smtClean="0"/>
              <a:t>PCIe</a:t>
            </a:r>
            <a:r>
              <a:rPr lang="zh-CN" altLang="en-US" dirty="0" smtClean="0"/>
              <a:t>总线</a:t>
            </a:r>
            <a:endParaRPr lang="zh-CN" altLang="en-US" dirty="0" smtClean="0"/>
          </a:p>
        </p:txBody>
      </p:sp>
      <p:sp>
        <p:nvSpPr>
          <p:cNvPr id="60420" name="Rectangle 3"/>
          <p:cNvSpPr>
            <a:spLocks noGrp="1" noChangeArrowheads="1"/>
          </p:cNvSpPr>
          <p:nvPr>
            <p:ph type="body" idx="1"/>
          </p:nvPr>
        </p:nvSpPr>
        <p:spPr/>
        <p:txBody>
          <a:bodyPr/>
          <a:lstStyle/>
          <a:p>
            <a:pPr eaLnBrk="1" hangingPunct="1"/>
            <a:r>
              <a:rPr lang="en-US" altLang="zh-CN" sz="2800" dirty="0" err="1" smtClean="0">
                <a:latin typeface="+mn-ea"/>
              </a:rPr>
              <a:t>PCIe</a:t>
            </a:r>
            <a:r>
              <a:rPr lang="zh-CN" altLang="en-US" sz="2800" dirty="0" smtClean="0">
                <a:latin typeface="+mn-ea"/>
              </a:rPr>
              <a:t>总线全称为</a:t>
            </a:r>
            <a:r>
              <a:rPr lang="en-US" altLang="zh-CN" sz="2800" dirty="0" smtClean="0">
                <a:latin typeface="+mn-ea"/>
              </a:rPr>
              <a:t>PCI-Express</a:t>
            </a:r>
            <a:r>
              <a:rPr lang="zh-CN" altLang="en-US" sz="2800" dirty="0" smtClean="0">
                <a:latin typeface="+mn-ea"/>
              </a:rPr>
              <a:t>，是基于</a:t>
            </a:r>
            <a:r>
              <a:rPr lang="en-US" altLang="zh-CN" sz="2800" dirty="0" smtClean="0">
                <a:latin typeface="+mn-ea"/>
              </a:rPr>
              <a:t>PCI</a:t>
            </a:r>
            <a:r>
              <a:rPr lang="zh-CN" altLang="en-US" sz="2800" dirty="0" smtClean="0">
                <a:latin typeface="+mn-ea"/>
              </a:rPr>
              <a:t>总线技术发展起来的总线标准。</a:t>
            </a:r>
            <a:endParaRPr lang="en-US" altLang="zh-CN" sz="2800" dirty="0" smtClean="0">
              <a:latin typeface="+mn-ea"/>
            </a:endParaRPr>
          </a:p>
          <a:p>
            <a:pPr eaLnBrk="1" hangingPunct="1"/>
            <a:r>
              <a:rPr lang="zh-CN" altLang="en-US" sz="2800" dirty="0" smtClean="0">
                <a:latin typeface="+mn-ea"/>
              </a:rPr>
              <a:t>对</a:t>
            </a:r>
            <a:r>
              <a:rPr lang="en-US" altLang="zh-CN" sz="2800" dirty="0" smtClean="0">
                <a:latin typeface="+mn-ea"/>
              </a:rPr>
              <a:t>PCI</a:t>
            </a:r>
            <a:r>
              <a:rPr lang="zh-CN" altLang="en-US" sz="2800" dirty="0" smtClean="0">
                <a:latin typeface="+mn-ea"/>
              </a:rPr>
              <a:t>总线有良好的继承性，在软件应用上兼容</a:t>
            </a:r>
            <a:r>
              <a:rPr lang="en-US" altLang="zh-CN" sz="2800" dirty="0" smtClean="0">
                <a:latin typeface="+mn-ea"/>
              </a:rPr>
              <a:t>PCI</a:t>
            </a:r>
            <a:r>
              <a:rPr lang="zh-CN" altLang="en-US" sz="2800" dirty="0" smtClean="0">
                <a:latin typeface="+mn-ea"/>
              </a:rPr>
              <a:t>总线。</a:t>
            </a:r>
            <a:endParaRPr lang="en-US" altLang="zh-CN" sz="2800" dirty="0" smtClean="0">
              <a:latin typeface="+mn-ea"/>
            </a:endParaRPr>
          </a:p>
          <a:p>
            <a:pPr eaLnBrk="1" hangingPunct="1"/>
            <a:r>
              <a:rPr lang="en-US" altLang="zh-CN" sz="2800" dirty="0" err="1" smtClean="0">
                <a:latin typeface="+mn-ea"/>
              </a:rPr>
              <a:t>PCIe</a:t>
            </a:r>
            <a:r>
              <a:rPr lang="zh-CN" altLang="en-US" sz="2800" dirty="0" smtClean="0">
                <a:latin typeface="+mn-ea"/>
              </a:rPr>
              <a:t>总线的主要改进有如下几点：</a:t>
            </a:r>
            <a:br>
              <a:rPr lang="en-US" altLang="zh-CN" sz="2800" dirty="0" smtClean="0">
                <a:latin typeface="+mn-ea"/>
              </a:rPr>
            </a:br>
            <a:r>
              <a:rPr lang="en-US" altLang="zh-CN" sz="2800" dirty="0" smtClean="0">
                <a:latin typeface="+mn-ea"/>
              </a:rPr>
              <a:t>1</a:t>
            </a:r>
            <a:r>
              <a:rPr lang="zh-CN" altLang="en-US" sz="2800" dirty="0" smtClean="0">
                <a:latin typeface="+mn-ea"/>
              </a:rPr>
              <a:t>、高速差分传输</a:t>
            </a:r>
            <a:br>
              <a:rPr lang="en-US" altLang="zh-CN" sz="2800" dirty="0" smtClean="0">
                <a:latin typeface="+mn-ea"/>
              </a:rPr>
            </a:br>
            <a:r>
              <a:rPr lang="en-US" altLang="zh-CN" sz="2800" dirty="0" smtClean="0">
                <a:latin typeface="+mn-ea"/>
              </a:rPr>
              <a:t>2</a:t>
            </a:r>
            <a:r>
              <a:rPr lang="zh-CN" altLang="en-US" sz="2800" dirty="0" smtClean="0">
                <a:latin typeface="+mn-ea"/>
              </a:rPr>
              <a:t>、串行传输</a:t>
            </a:r>
            <a:br>
              <a:rPr lang="en-US" altLang="zh-CN" sz="2800" dirty="0" smtClean="0">
                <a:latin typeface="+mn-ea"/>
              </a:rPr>
            </a:br>
            <a:r>
              <a:rPr lang="en-US" altLang="zh-CN" sz="2800" dirty="0" smtClean="0">
                <a:latin typeface="+mn-ea"/>
              </a:rPr>
              <a:t>3</a:t>
            </a:r>
            <a:r>
              <a:rPr lang="zh-CN" altLang="en-US" sz="2800" dirty="0" smtClean="0">
                <a:latin typeface="+mn-ea"/>
              </a:rPr>
              <a:t>、全双工端到端连接</a:t>
            </a:r>
            <a:br>
              <a:rPr lang="en-US" altLang="zh-CN" sz="2800" dirty="0" smtClean="0">
                <a:latin typeface="+mn-ea"/>
              </a:rPr>
            </a:br>
            <a:r>
              <a:rPr lang="en-US" altLang="zh-CN" sz="2800" dirty="0" smtClean="0">
                <a:latin typeface="+mn-ea"/>
              </a:rPr>
              <a:t>4</a:t>
            </a:r>
            <a:r>
              <a:rPr lang="zh-CN" altLang="en-US" sz="2800" dirty="0" smtClean="0">
                <a:latin typeface="+mn-ea"/>
              </a:rPr>
              <a:t>、基于多通道的数据传输方式</a:t>
            </a:r>
            <a:br>
              <a:rPr lang="en-US" altLang="zh-CN" sz="2800" dirty="0" smtClean="0">
                <a:latin typeface="+mn-ea"/>
              </a:rPr>
            </a:br>
            <a:r>
              <a:rPr lang="en-US" altLang="zh-CN" sz="2800" dirty="0" smtClean="0">
                <a:latin typeface="+mn-ea"/>
              </a:rPr>
              <a:t>5</a:t>
            </a:r>
            <a:r>
              <a:rPr lang="zh-CN" altLang="en-US" sz="2800" dirty="0" smtClean="0">
                <a:latin typeface="+mn-ea"/>
              </a:rPr>
              <a:t>、基于数据包的传输</a:t>
            </a:r>
            <a:endParaRPr lang="zh-CN" altLang="zh-CN" sz="2800" dirty="0" smtClean="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8487586-5AF4-4F5C-8632-DB20D18A6111}" type="slidenum">
              <a:rPr lang="en-US" altLang="zh-CN"/>
            </a:fld>
            <a:endParaRPr lang="en-US" altLang="zh-CN"/>
          </a:p>
        </p:txBody>
      </p:sp>
      <p:sp>
        <p:nvSpPr>
          <p:cNvPr id="55299" name="Rectangle 3"/>
          <p:cNvSpPr>
            <a:spLocks noChangeArrowheads="1"/>
          </p:cNvSpPr>
          <p:nvPr/>
        </p:nvSpPr>
        <p:spPr bwMode="auto">
          <a:xfrm>
            <a:off x="156030" y="147040"/>
            <a:ext cx="8884096" cy="6540252"/>
          </a:xfrm>
          <a:prstGeom prst="rect">
            <a:avLst/>
          </a:prstGeom>
          <a:solidFill>
            <a:srgbClr val="CCFFFF"/>
          </a:solidFill>
          <a:ln w="9525" algn="ctr">
            <a:noFill/>
            <a:miter lim="800000"/>
          </a:ln>
        </p:spPr>
        <p:txBody>
          <a:bodyPr wrap="square">
            <a:spAutoFit/>
          </a:bodyPr>
          <a:lstStyle/>
          <a:p>
            <a:pPr algn="ctr">
              <a:lnSpc>
                <a:spcPct val="100000"/>
              </a:lnSpc>
              <a:spcBef>
                <a:spcPts val="1200"/>
              </a:spcBef>
              <a:spcAft>
                <a:spcPts val="600"/>
              </a:spcAft>
            </a:pPr>
            <a:r>
              <a:rPr lang="zh-CN" altLang="en-US" sz="5400" b="1" dirty="0" smtClean="0">
                <a:solidFill>
                  <a:srgbClr val="FF0000"/>
                </a:solidFill>
                <a:latin typeface="华文隶书" panose="02010800040101010101" pitchFamily="2" charset="-122"/>
                <a:ea typeface="华文隶书" panose="02010800040101010101" pitchFamily="2" charset="-122"/>
              </a:rPr>
              <a:t>作业</a:t>
            </a:r>
            <a:r>
              <a:rPr lang="en-US" altLang="zh-CN" sz="5400" b="1" dirty="0" smtClean="0">
                <a:solidFill>
                  <a:srgbClr val="FF0000"/>
                </a:solidFill>
                <a:latin typeface="华文隶书" panose="02010800040101010101" pitchFamily="2" charset="-122"/>
                <a:ea typeface="华文隶书" panose="02010800040101010101" pitchFamily="2" charset="-122"/>
              </a:rPr>
              <a:t>7</a:t>
            </a:r>
            <a:endParaRPr lang="zh-CN" altLang="en-US" sz="5400" b="1" dirty="0">
              <a:solidFill>
                <a:srgbClr val="FF0000"/>
              </a:solidFill>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1</a:t>
            </a:r>
            <a:r>
              <a:rPr lang="zh-CN" altLang="en-US" sz="4000" dirty="0">
                <a:latin typeface="华文隶书" panose="02010800040101010101" pitchFamily="2" charset="-122"/>
                <a:ea typeface="华文隶书" panose="02010800040101010101" pitchFamily="2" charset="-122"/>
              </a:rPr>
              <a:t>、简述单处理器系统中的总线。</a:t>
            </a:r>
            <a:endParaRPr lang="zh-CN" altLang="en-US"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2</a:t>
            </a:r>
            <a:r>
              <a:rPr lang="zh-CN" altLang="en-US" sz="4000" dirty="0">
                <a:latin typeface="华文隶书" panose="02010800040101010101" pitchFamily="2" charset="-122"/>
                <a:ea typeface="华文隶书" panose="02010800040101010101" pitchFamily="2" charset="-122"/>
              </a:rPr>
              <a:t>、说明总线的特性。</a:t>
            </a:r>
            <a:endParaRPr lang="zh-CN" altLang="en-US"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a:latin typeface="华文隶书" panose="02010800040101010101" pitchFamily="2" charset="-122"/>
                <a:ea typeface="华文隶书" panose="02010800040101010101" pitchFamily="2" charset="-122"/>
              </a:rPr>
              <a:t>3</a:t>
            </a:r>
            <a:r>
              <a:rPr lang="zh-CN" altLang="en-US" sz="4000" dirty="0">
                <a:latin typeface="华文隶书" panose="02010800040101010101" pitchFamily="2" charset="-122"/>
                <a:ea typeface="华文隶书" panose="02010800040101010101" pitchFamily="2" charset="-122"/>
              </a:rPr>
              <a:t>、单总线、多总线结构的性能特点。</a:t>
            </a:r>
            <a:endParaRPr lang="zh-CN" altLang="en-US"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b="1" dirty="0" smtClean="0">
                <a:latin typeface="华文隶书" panose="02010800040101010101" pitchFamily="2" charset="-122"/>
                <a:ea typeface="华文隶书" panose="02010800040101010101" pitchFamily="2" charset="-122"/>
              </a:rPr>
              <a:t>4</a:t>
            </a:r>
            <a:r>
              <a:rPr lang="zh-CN" altLang="en-US" sz="4000" b="1" dirty="0" smtClean="0">
                <a:latin typeface="华文隶书" panose="02010800040101010101" pitchFamily="2" charset="-122"/>
                <a:ea typeface="华文隶书" panose="02010800040101010101" pitchFamily="2" charset="-122"/>
              </a:rPr>
              <a:t>、</a:t>
            </a:r>
            <a:r>
              <a:rPr lang="zh-CN" altLang="en-US" sz="4000" b="1" dirty="0">
                <a:latin typeface="华文隶书" panose="02010800040101010101" pitchFamily="2" charset="-122"/>
                <a:ea typeface="华文隶书" panose="02010800040101010101" pitchFamily="2" charset="-122"/>
              </a:rPr>
              <a:t>说明总线结构对计算机性能的影响。</a:t>
            </a:r>
            <a:endParaRPr lang="zh-CN" altLang="en-US" sz="4000" dirty="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smtClean="0">
                <a:latin typeface="华文隶书" panose="02010800040101010101" pitchFamily="2" charset="-122"/>
                <a:ea typeface="华文隶书" panose="02010800040101010101" pitchFamily="2" charset="-122"/>
              </a:rPr>
              <a:t>5</a:t>
            </a:r>
            <a:r>
              <a:rPr lang="zh-CN" altLang="en-US" sz="4000" dirty="0" smtClean="0">
                <a:latin typeface="华文隶书" panose="02010800040101010101" pitchFamily="2" charset="-122"/>
                <a:ea typeface="华文隶书" panose="02010800040101010101" pitchFamily="2" charset="-122"/>
              </a:rPr>
              <a:t>、集中式</a:t>
            </a:r>
            <a:r>
              <a:rPr lang="zh-CN" altLang="en-US" sz="4000" dirty="0">
                <a:latin typeface="华文隶书" panose="02010800040101010101" pitchFamily="2" charset="-122"/>
                <a:ea typeface="华文隶书" panose="02010800040101010101" pitchFamily="2" charset="-122"/>
              </a:rPr>
              <a:t>仲裁的各个方式的</a:t>
            </a:r>
            <a:r>
              <a:rPr lang="zh-CN" altLang="en-US" sz="4000" dirty="0" smtClean="0">
                <a:latin typeface="华文隶书" panose="02010800040101010101" pitchFamily="2" charset="-122"/>
                <a:ea typeface="华文隶书" panose="02010800040101010101" pitchFamily="2" charset="-122"/>
              </a:rPr>
              <a:t>优缺点。</a:t>
            </a:r>
            <a:endParaRPr lang="en-US" altLang="zh-CN" sz="4000" dirty="0" smtClean="0">
              <a:latin typeface="华文隶书" panose="02010800040101010101" pitchFamily="2" charset="-122"/>
              <a:ea typeface="华文隶书" panose="02010800040101010101" pitchFamily="2" charset="-122"/>
            </a:endParaRPr>
          </a:p>
          <a:p>
            <a:pPr>
              <a:lnSpc>
                <a:spcPct val="150000"/>
              </a:lnSpc>
              <a:spcBef>
                <a:spcPts val="0"/>
              </a:spcBef>
            </a:pPr>
            <a:r>
              <a:rPr lang="en-US" altLang="zh-CN" sz="4000" dirty="0" smtClean="0">
                <a:latin typeface="华文隶书" panose="02010800040101010101" pitchFamily="2" charset="-122"/>
                <a:ea typeface="华文隶书" panose="02010800040101010101" pitchFamily="2" charset="-122"/>
              </a:rPr>
              <a:t>6</a:t>
            </a:r>
            <a:r>
              <a:rPr lang="zh-CN" altLang="en-US" sz="4000" dirty="0" smtClean="0">
                <a:latin typeface="华文隶书" panose="02010800040101010101" pitchFamily="2" charset="-122"/>
                <a:ea typeface="华文隶书" panose="02010800040101010101" pitchFamily="2" charset="-122"/>
              </a:rPr>
              <a:t>、</a:t>
            </a:r>
            <a:r>
              <a:rPr lang="zh-CN" altLang="en-US" sz="4000" dirty="0" smtClean="0">
                <a:latin typeface="隶书" panose="02010509060101010101" pitchFamily="49" charset="-122"/>
                <a:ea typeface="隶书" panose="02010509060101010101" pitchFamily="49" charset="-122"/>
              </a:rPr>
              <a:t>简述总线的</a:t>
            </a:r>
            <a:r>
              <a:rPr lang="zh-CN" altLang="en-US" sz="4000" dirty="0" smtClean="0">
                <a:latin typeface="隶书" panose="02010509060101010101" pitchFamily="49" charset="-122"/>
                <a:ea typeface="隶书" panose="02010509060101010101" pitchFamily="49" charset="-122"/>
              </a:rPr>
              <a:t>同步和异步</a:t>
            </a:r>
            <a:r>
              <a:rPr lang="zh-CN" altLang="en-US" sz="4000" dirty="0" smtClean="0">
                <a:latin typeface="隶书" panose="02010509060101010101" pitchFamily="49" charset="-122"/>
                <a:ea typeface="隶书" panose="02010509060101010101" pitchFamily="49" charset="-122"/>
              </a:rPr>
              <a:t>定时协定。</a:t>
            </a:r>
            <a:endParaRPr lang="zh-CN" altLang="en-US" sz="4000" dirty="0">
              <a:latin typeface="隶书" panose="02010509060101010101" pitchFamily="49" charset="-122"/>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98487586-5AF4-4F5C-8632-DB20D18A6111}" type="slidenum">
              <a:rPr lang="en-US" altLang="zh-CN"/>
            </a:fld>
            <a:endParaRPr lang="en-US" altLang="zh-CN"/>
          </a:p>
        </p:txBody>
      </p:sp>
      <p:sp>
        <p:nvSpPr>
          <p:cNvPr id="55299" name="Rectangle 3"/>
          <p:cNvSpPr>
            <a:spLocks noChangeArrowheads="1"/>
          </p:cNvSpPr>
          <p:nvPr/>
        </p:nvSpPr>
        <p:spPr bwMode="auto">
          <a:xfrm>
            <a:off x="111124" y="73069"/>
            <a:ext cx="8925371" cy="6740307"/>
          </a:xfrm>
          <a:prstGeom prst="rect">
            <a:avLst/>
          </a:prstGeom>
          <a:solidFill>
            <a:srgbClr val="CCFFFF"/>
          </a:solidFill>
          <a:ln w="9525" algn="ctr">
            <a:noFill/>
            <a:miter lim="800000"/>
          </a:ln>
        </p:spPr>
        <p:txBody>
          <a:bodyPr wrap="square">
            <a:spAutoFit/>
          </a:bodyPr>
          <a:lstStyle/>
          <a:p>
            <a:pPr>
              <a:lnSpc>
                <a:spcPct val="100000"/>
              </a:lnSpc>
              <a:spcBef>
                <a:spcPts val="0"/>
              </a:spcBef>
            </a:pPr>
            <a:r>
              <a:rPr lang="zh-CN" altLang="en-US" sz="1200" dirty="0" smtClean="0">
                <a:solidFill>
                  <a:srgbClr val="FF0000"/>
                </a:solidFill>
                <a:latin typeface="微软雅黑" panose="020B0503020204020204" charset="-122"/>
                <a:ea typeface="微软雅黑" panose="020B0503020204020204" charset="-122"/>
              </a:rPr>
              <a:t>答案</a:t>
            </a:r>
            <a:endParaRPr lang="zh-CN" altLang="en-US" sz="1200" dirty="0">
              <a:solidFill>
                <a:srgbClr val="FF0000"/>
              </a:solidFill>
              <a:latin typeface="微软雅黑" panose="020B0503020204020204" charset="-122"/>
              <a:ea typeface="微软雅黑" panose="020B0503020204020204" charset="-122"/>
            </a:endParaRPr>
          </a:p>
          <a:p>
            <a:pPr>
              <a:lnSpc>
                <a:spcPct val="100000"/>
              </a:lnSpc>
              <a:spcBef>
                <a:spcPts val="0"/>
              </a:spcBef>
            </a:pPr>
            <a:r>
              <a:rPr lang="en-US" altLang="zh-CN" sz="1200" dirty="0">
                <a:latin typeface="微软雅黑" panose="020B0503020204020204" charset="-122"/>
                <a:ea typeface="微软雅黑" panose="020B0503020204020204" charset="-122"/>
              </a:rPr>
              <a:t>1</a:t>
            </a:r>
            <a:r>
              <a:rPr lang="zh-CN" altLang="en-US" sz="1200" dirty="0" smtClean="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一个单处理器系统中的总线，大致分为三类：</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(1)</a:t>
            </a:r>
            <a:r>
              <a:rPr lang="zh-CN" altLang="en-US" sz="1200" dirty="0">
                <a:latin typeface="微软雅黑" panose="020B0503020204020204" charset="-122"/>
                <a:ea typeface="微软雅黑" panose="020B0503020204020204" charset="-122"/>
              </a:rPr>
              <a:t>内部总线：</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内部连接各寄存器及运算部件之间的总线。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系统总线：</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同计算机系统的其他高速功能部件，如存储器、通道等互相连接的总线。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(3)I/O</a:t>
            </a:r>
            <a:r>
              <a:rPr lang="zh-CN" altLang="en-US" sz="1200" dirty="0">
                <a:latin typeface="微软雅黑" panose="020B0503020204020204" charset="-122"/>
                <a:ea typeface="微软雅黑" panose="020B0503020204020204" charset="-122"/>
              </a:rPr>
              <a:t>总线：中、低速</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设备之间互相连接的总线。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en-US" altLang="zh-CN" sz="1200" dirty="0">
                <a:latin typeface="微软雅黑" panose="020B0503020204020204" charset="-122"/>
                <a:ea typeface="微软雅黑" panose="020B0503020204020204" charset="-122"/>
              </a:rPr>
              <a:t>2</a:t>
            </a:r>
            <a:r>
              <a:rPr lang="zh-CN" altLang="en-US" sz="1200" dirty="0" smtClean="0">
                <a:latin typeface="微软雅黑" panose="020B0503020204020204" charset="-122"/>
                <a:ea typeface="微软雅黑" panose="020B0503020204020204" charset="-122"/>
              </a:rPr>
              <a:t>、物理</a:t>
            </a:r>
            <a:r>
              <a:rPr lang="zh-CN" altLang="en-US" sz="1200" dirty="0">
                <a:latin typeface="微软雅黑" panose="020B0503020204020204" charset="-122"/>
                <a:ea typeface="微软雅黑" panose="020B0503020204020204" charset="-122"/>
              </a:rPr>
              <a:t>特性：指总线的物理连接方式，包括总线的根数，总线的插头、插座的形状，引脚线的排列方式等。</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功能</a:t>
            </a:r>
            <a:r>
              <a:rPr lang="zh-CN" altLang="en-US" sz="1200" dirty="0">
                <a:latin typeface="微软雅黑" panose="020B0503020204020204" charset="-122"/>
                <a:ea typeface="微软雅黑" panose="020B0503020204020204" charset="-122"/>
              </a:rPr>
              <a:t>特性：描述总线中每一根线的功能。</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电气</a:t>
            </a:r>
            <a:r>
              <a:rPr lang="zh-CN" altLang="en-US" sz="1200" dirty="0">
                <a:latin typeface="微软雅黑" panose="020B0503020204020204" charset="-122"/>
                <a:ea typeface="微软雅黑" panose="020B0503020204020204" charset="-122"/>
              </a:rPr>
              <a:t>特性：定义每一根线上信号的传递方向及有效电平范围。送入</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的信号叫</a:t>
            </a:r>
            <a:r>
              <a:rPr lang="zh-CN" altLang="en-US" sz="1200" dirty="0" smtClean="0">
                <a:latin typeface="微软雅黑" panose="020B0503020204020204" charset="-122"/>
                <a:ea typeface="微软雅黑" panose="020B0503020204020204" charset="-122"/>
              </a:rPr>
              <a:t>输入信号，</a:t>
            </a:r>
            <a:r>
              <a:rPr lang="zh-CN" altLang="en-US" sz="1200" dirty="0">
                <a:latin typeface="微软雅黑" panose="020B0503020204020204" charset="-122"/>
                <a:ea typeface="微软雅黑" panose="020B0503020204020204" charset="-122"/>
              </a:rPr>
              <a:t>从</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发出的信号叫</a:t>
            </a:r>
            <a:r>
              <a:rPr lang="zh-CN" altLang="en-US" sz="1200" dirty="0" smtClean="0">
                <a:latin typeface="微软雅黑" panose="020B0503020204020204" charset="-122"/>
                <a:ea typeface="微软雅黑" panose="020B0503020204020204" charset="-122"/>
              </a:rPr>
              <a:t>输出信号。</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时间</a:t>
            </a:r>
            <a:r>
              <a:rPr lang="zh-CN" altLang="en-US" sz="1200" dirty="0">
                <a:latin typeface="微软雅黑" panose="020B0503020204020204" charset="-122"/>
                <a:ea typeface="微软雅黑" panose="020B0503020204020204" charset="-122"/>
              </a:rPr>
              <a:t>特性</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定义了每根线在什么时间有效。规定了总线上各信号有效的时序关系，</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才能正确无误地使用。</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en-US" altLang="zh-CN" sz="1200" dirty="0" smtClean="0">
                <a:latin typeface="微软雅黑" panose="020B0503020204020204" charset="-122"/>
                <a:ea typeface="微软雅黑" panose="020B0503020204020204" charset="-122"/>
              </a:rPr>
              <a:t>3</a:t>
            </a:r>
            <a:r>
              <a:rPr lang="zh-CN" altLang="en-US" sz="1200" dirty="0" smtClean="0">
                <a:latin typeface="微软雅黑" panose="020B0503020204020204" charset="-122"/>
                <a:ea typeface="微软雅黑" panose="020B0503020204020204" charset="-122"/>
              </a:rPr>
              <a:t>、单总线</a:t>
            </a:r>
            <a:r>
              <a:rPr lang="zh-CN" altLang="en-US" sz="1200" dirty="0">
                <a:latin typeface="微软雅黑" panose="020B0503020204020204" charset="-122"/>
                <a:ea typeface="微软雅黑" panose="020B0503020204020204" charset="-122"/>
              </a:rPr>
              <a:t>结构：使用一条单一的总线连接计算机系统的各大功能部件，各大部件之间的所有信息传送都通过这组总线。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优点</a:t>
            </a:r>
            <a:r>
              <a:rPr lang="zh-CN" altLang="en-US" sz="1200" dirty="0">
                <a:latin typeface="微软雅黑" panose="020B0503020204020204" charset="-122"/>
                <a:ea typeface="微软雅黑" panose="020B0503020204020204" charset="-122"/>
              </a:rPr>
              <a:t>：允许</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设备之间或</a:t>
            </a:r>
            <a:r>
              <a:rPr lang="en-US" altLang="zh-CN" sz="1200" dirty="0">
                <a:latin typeface="微软雅黑" panose="020B0503020204020204" charset="-122"/>
                <a:ea typeface="微软雅黑" panose="020B0503020204020204" charset="-122"/>
              </a:rPr>
              <a:t>I/O</a:t>
            </a:r>
            <a:r>
              <a:rPr lang="zh-CN" altLang="en-US" sz="1200" dirty="0">
                <a:latin typeface="微软雅黑" panose="020B0503020204020204" charset="-122"/>
                <a:ea typeface="微软雅黑" panose="020B0503020204020204" charset="-122"/>
              </a:rPr>
              <a:t>设备与内存之间直接交换信息，只需</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分配总线使用权，不需要</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干预信息的交换。所以总线资源是由各大功能部件分时共享的。</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缺点</a:t>
            </a:r>
            <a:r>
              <a:rPr lang="zh-CN" altLang="en-US" sz="1200" dirty="0">
                <a:latin typeface="微软雅黑" panose="020B0503020204020204" charset="-122"/>
                <a:ea typeface="微软雅黑" panose="020B0503020204020204" charset="-122"/>
              </a:rPr>
              <a:t>：由于全部系统部件都连接在一组总线上，所以总线的负载很重，可能使其吞吐量达到饱和甚至不能胜任的程度。故多为小型机和微机采用。</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smtClean="0">
                <a:latin typeface="微软雅黑" panose="020B0503020204020204" charset="-122"/>
                <a:ea typeface="微软雅黑" panose="020B0503020204020204" charset="-122"/>
              </a:rPr>
              <a:t>       多总线</a:t>
            </a:r>
            <a:r>
              <a:rPr lang="zh-CN" altLang="en-US" sz="1200" dirty="0">
                <a:latin typeface="微软雅黑" panose="020B0503020204020204" charset="-122"/>
                <a:ea typeface="微软雅黑" panose="020B0503020204020204" charset="-122"/>
              </a:rPr>
              <a:t>结构：多总线系统结构是通过桥，</a:t>
            </a:r>
            <a:r>
              <a:rPr lang="en-US" altLang="zh-CN" sz="1200" dirty="0">
                <a:latin typeface="微软雅黑" panose="020B0503020204020204" charset="-122"/>
                <a:ea typeface="微软雅黑" panose="020B0503020204020204" charset="-122"/>
              </a:rPr>
              <a:t>CPU</a:t>
            </a:r>
            <a:r>
              <a:rPr lang="zh-CN" altLang="en-US" sz="1200" dirty="0">
                <a:latin typeface="微软雅黑" panose="020B0503020204020204" charset="-122"/>
                <a:ea typeface="微软雅黑" panose="020B0503020204020204" charset="-122"/>
              </a:rPr>
              <a:t>总线，系统总线和高速总线彼此相连，各大部件的信息传送不是通过系统总线。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多总线</a:t>
            </a:r>
            <a:r>
              <a:rPr lang="zh-CN" altLang="en-US" sz="1200" dirty="0">
                <a:latin typeface="微软雅黑" panose="020B0503020204020204" charset="-122"/>
                <a:ea typeface="微软雅黑" panose="020B0503020204020204" charset="-122"/>
              </a:rPr>
              <a:t>系统结构中高速，中速，低速设备连接到不同的总线上，同时进行工作，以提高总线的效率和吞吐量，而且处理器结构的变化不影响高速总线。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en-US" altLang="zh-CN" sz="1200" dirty="0" smtClean="0">
                <a:latin typeface="微软雅黑" panose="020B0503020204020204" charset="-122"/>
                <a:ea typeface="微软雅黑" panose="020B0503020204020204" charset="-122"/>
              </a:rPr>
              <a:t>4</a:t>
            </a:r>
            <a:r>
              <a:rPr lang="zh-CN" altLang="en-US" sz="1200" dirty="0" smtClean="0">
                <a:latin typeface="微软雅黑" panose="020B0503020204020204" charset="-122"/>
                <a:ea typeface="微软雅黑" panose="020B0503020204020204" charset="-122"/>
              </a:rPr>
              <a:t>、</a:t>
            </a:r>
            <a:r>
              <a:rPr lang="en-US" altLang="zh-CN" sz="1200" dirty="0" smtClean="0">
                <a:latin typeface="微软雅黑" panose="020B0503020204020204" charset="-122"/>
                <a:ea typeface="微软雅黑" panose="020B0503020204020204" charset="-122"/>
              </a:rPr>
              <a:t>(1</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简化了硬件的</a:t>
            </a:r>
            <a:r>
              <a:rPr lang="zh-CN" altLang="en-US" sz="1200" dirty="0" smtClean="0">
                <a:latin typeface="微软雅黑" panose="020B0503020204020204" charset="-122"/>
                <a:ea typeface="微软雅黑" panose="020B0503020204020204" charset="-122"/>
              </a:rPr>
              <a:t>设计；</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(2)</a:t>
            </a:r>
            <a:r>
              <a:rPr lang="zh-CN" altLang="en-US" sz="1200" dirty="0">
                <a:latin typeface="微软雅黑" panose="020B0503020204020204" charset="-122"/>
                <a:ea typeface="微软雅黑" panose="020B0503020204020204" charset="-122"/>
              </a:rPr>
              <a:t>简化了系统</a:t>
            </a:r>
            <a:r>
              <a:rPr lang="zh-CN" altLang="en-US" sz="1200" dirty="0" smtClean="0">
                <a:latin typeface="微软雅黑" panose="020B0503020204020204" charset="-122"/>
                <a:ea typeface="微软雅黑" panose="020B0503020204020204" charset="-122"/>
              </a:rPr>
              <a:t>结构；</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a:t>
            </a:r>
            <a:r>
              <a:rPr lang="en-US" altLang="zh-CN" sz="1200" dirty="0">
                <a:latin typeface="微软雅黑" panose="020B0503020204020204" charset="-122"/>
                <a:ea typeface="微软雅黑" panose="020B0503020204020204" charset="-122"/>
              </a:rPr>
              <a:t>(3)</a:t>
            </a:r>
            <a:r>
              <a:rPr lang="zh-CN" altLang="en-US" sz="1200" dirty="0">
                <a:latin typeface="微软雅黑" panose="020B0503020204020204" charset="-122"/>
                <a:ea typeface="微软雅黑" panose="020B0503020204020204" charset="-122"/>
              </a:rPr>
              <a:t>系统扩充性好，一是规模扩充，二是功能</a:t>
            </a:r>
            <a:r>
              <a:rPr lang="zh-CN" altLang="en-US" sz="1200" dirty="0" smtClean="0">
                <a:latin typeface="微软雅黑" panose="020B0503020204020204" charset="-122"/>
                <a:ea typeface="微软雅黑" panose="020B0503020204020204" charset="-122"/>
              </a:rPr>
              <a:t>扩充；</a:t>
            </a:r>
            <a:endParaRPr lang="en-US" altLang="zh-CN" sz="1200" dirty="0">
              <a:latin typeface="微软雅黑" panose="020B0503020204020204" charset="-122"/>
              <a:ea typeface="微软雅黑" panose="020B0503020204020204" charset="-122"/>
            </a:endParaRPr>
          </a:p>
          <a:p>
            <a:pPr>
              <a:lnSpc>
                <a:spcPct val="100000"/>
              </a:lnSpc>
              <a:spcBef>
                <a:spcPts val="0"/>
              </a:spcBef>
            </a:pPr>
            <a:r>
              <a:rPr lang="en-US" altLang="zh-CN" sz="1200" dirty="0">
                <a:latin typeface="微软雅黑" panose="020B0503020204020204" charset="-122"/>
                <a:ea typeface="微软雅黑" panose="020B0503020204020204" charset="-122"/>
              </a:rPr>
              <a:t>    (4)</a:t>
            </a:r>
            <a:r>
              <a:rPr lang="zh-CN" altLang="en-US" sz="1200" dirty="0">
                <a:latin typeface="微软雅黑" panose="020B0503020204020204" charset="-122"/>
                <a:ea typeface="微软雅黑" panose="020B0503020204020204" charset="-122"/>
              </a:rPr>
              <a:t>系统更新性能好</a:t>
            </a:r>
            <a:r>
              <a:rPr lang="zh-CN" altLang="en-US" sz="1200" dirty="0" smtClean="0">
                <a:latin typeface="微软雅黑" panose="020B0503020204020204" charset="-122"/>
                <a:ea typeface="微软雅黑" panose="020B0503020204020204" charset="-122"/>
              </a:rPr>
              <a:t>。</a:t>
            </a:r>
            <a:endParaRPr lang="en-US" altLang="zh-CN" sz="1200" dirty="0" smtClean="0">
              <a:latin typeface="微软雅黑" panose="020B0503020204020204" charset="-122"/>
              <a:ea typeface="微软雅黑" panose="020B0503020204020204" charset="-122"/>
            </a:endParaRPr>
          </a:p>
          <a:p>
            <a:pPr>
              <a:lnSpc>
                <a:spcPct val="100000"/>
              </a:lnSpc>
              <a:spcBef>
                <a:spcPts val="0"/>
              </a:spcBef>
            </a:pPr>
            <a:r>
              <a:rPr lang="en-US" altLang="zh-CN" sz="1200" dirty="0" smtClean="0">
                <a:latin typeface="微软雅黑" panose="020B0503020204020204" charset="-122"/>
                <a:ea typeface="微软雅黑" panose="020B0503020204020204" charset="-122"/>
              </a:rPr>
              <a:t>5</a:t>
            </a:r>
            <a:r>
              <a:rPr lang="zh-CN" altLang="en-US" sz="1200" dirty="0" smtClean="0">
                <a:latin typeface="微软雅黑" panose="020B0503020204020204" charset="-122"/>
                <a:ea typeface="微软雅黑" panose="020B0503020204020204" charset="-122"/>
              </a:rPr>
              <a:t>、链式方式</a:t>
            </a:r>
            <a:r>
              <a:rPr lang="zh-CN" altLang="en-US" sz="1200" dirty="0">
                <a:latin typeface="微软雅黑" panose="020B0503020204020204" charset="-122"/>
                <a:ea typeface="微软雅黑" panose="020B0503020204020204" charset="-122"/>
              </a:rPr>
              <a:t>的优点</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只用很少几根线就能按一定优先次序实现总线仲裁，很容易扩充设备。</a:t>
            </a:r>
            <a:endParaRPr lang="zh-CN" altLang="en-US" sz="1200" dirty="0">
              <a:latin typeface="微软雅黑" panose="020B0503020204020204" charset="-122"/>
              <a:ea typeface="微软雅黑" panose="020B0503020204020204" charset="-122"/>
            </a:endParaRPr>
          </a:p>
          <a:p>
            <a:pPr>
              <a:lnSpc>
                <a:spcPct val="100000"/>
              </a:lnSpc>
              <a:spcBef>
                <a:spcPts val="0"/>
              </a:spcBef>
              <a:tabLst>
                <a:tab pos="400050" algn="l"/>
              </a:tabLst>
            </a:pPr>
            <a:r>
              <a:rPr lang="zh-CN" altLang="en-US" sz="1200" dirty="0">
                <a:latin typeface="微软雅黑" panose="020B0503020204020204" charset="-122"/>
                <a:ea typeface="微软雅黑" panose="020B0503020204020204" charset="-122"/>
              </a:rPr>
              <a:t>    </a:t>
            </a:r>
            <a:r>
              <a:rPr lang="zh-CN" altLang="en-US" sz="1200" dirty="0" smtClean="0">
                <a:latin typeface="微软雅黑" panose="020B0503020204020204" charset="-122"/>
                <a:ea typeface="微软雅黑" panose="020B0503020204020204" charset="-122"/>
              </a:rPr>
              <a:t>   链式</a:t>
            </a:r>
            <a:r>
              <a:rPr lang="zh-CN" altLang="en-US" sz="1200" dirty="0">
                <a:latin typeface="微软雅黑" panose="020B0503020204020204" charset="-122"/>
                <a:ea typeface="微软雅黑" panose="020B0503020204020204" charset="-122"/>
              </a:rPr>
              <a:t>查询方式的缺点</a:t>
            </a:r>
            <a:r>
              <a:rPr lang="en-US" altLang="zh-CN" sz="1200" dirty="0">
                <a:latin typeface="微软雅黑" panose="020B0503020204020204" charset="-122"/>
                <a:ea typeface="微软雅黑" panose="020B0503020204020204" charset="-122"/>
              </a:rPr>
              <a:t>: </a:t>
            </a:r>
            <a:r>
              <a:rPr lang="zh-CN" altLang="en-US" sz="1200" dirty="0">
                <a:latin typeface="微软雅黑" panose="020B0503020204020204" charset="-122"/>
                <a:ea typeface="微软雅黑" panose="020B0503020204020204" charset="-122"/>
              </a:rPr>
              <a:t>对询问链的电路故障很敏感，如果第</a:t>
            </a:r>
            <a:r>
              <a:rPr lang="en-US" altLang="zh-CN" sz="1200" dirty="0" err="1">
                <a:latin typeface="微软雅黑" panose="020B0503020204020204" charset="-122"/>
                <a:ea typeface="微软雅黑" panose="020B0503020204020204" charset="-122"/>
              </a:rPr>
              <a:t>i</a:t>
            </a:r>
            <a:r>
              <a:rPr lang="zh-CN" altLang="en-US" sz="1200" dirty="0">
                <a:latin typeface="微软雅黑" panose="020B0503020204020204" charset="-122"/>
                <a:ea typeface="微软雅黑" panose="020B0503020204020204" charset="-122"/>
              </a:rPr>
              <a:t>个设备的接口中有关链的电路有故障，那么第</a:t>
            </a:r>
            <a:r>
              <a:rPr lang="en-US" altLang="zh-CN" sz="1200" dirty="0" err="1">
                <a:latin typeface="微软雅黑" panose="020B0503020204020204" charset="-122"/>
                <a:ea typeface="微软雅黑" panose="020B0503020204020204" charset="-122"/>
              </a:rPr>
              <a:t>i</a:t>
            </a:r>
            <a:r>
              <a:rPr lang="zh-CN" altLang="en-US" sz="1200" dirty="0">
                <a:latin typeface="微软雅黑" panose="020B0503020204020204" charset="-122"/>
                <a:ea typeface="微软雅黑" panose="020B0503020204020204" charset="-122"/>
              </a:rPr>
              <a:t>个以后的设备都不能进行工作。查询链的优先级是固定的，如果优先级高的设备出现频繁的请求时，优先级较低的设备可能长期不能使用总线。</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smtClean="0">
                <a:latin typeface="微软雅黑" panose="020B0503020204020204" charset="-122"/>
                <a:ea typeface="微软雅黑" panose="020B0503020204020204" charset="-122"/>
              </a:rPr>
              <a:t>       计数器</a:t>
            </a:r>
            <a:r>
              <a:rPr lang="zh-CN" altLang="en-US" sz="1200" dirty="0">
                <a:latin typeface="微软雅黑" panose="020B0503020204020204" charset="-122"/>
                <a:ea typeface="微软雅黑" panose="020B0503020204020204" charset="-122"/>
              </a:rPr>
              <a:t>定时查询</a:t>
            </a:r>
            <a:r>
              <a:rPr lang="zh-CN" altLang="en-US" sz="1200" dirty="0" smtClean="0">
                <a:latin typeface="微软雅黑" panose="020B0503020204020204" charset="-122"/>
                <a:ea typeface="微软雅黑" panose="020B0503020204020204" charset="-122"/>
              </a:rPr>
              <a:t>方式：每次</a:t>
            </a:r>
            <a:r>
              <a:rPr lang="zh-CN" altLang="en-US" sz="1200" dirty="0">
                <a:latin typeface="微软雅黑" panose="020B0503020204020204" charset="-122"/>
                <a:ea typeface="微软雅黑" panose="020B0503020204020204" charset="-122"/>
              </a:rPr>
              <a:t>计数可以从“</a:t>
            </a:r>
            <a:r>
              <a:rPr lang="en-US" altLang="zh-CN" sz="1200" dirty="0">
                <a:latin typeface="微软雅黑" panose="020B0503020204020204" charset="-122"/>
                <a:ea typeface="微软雅黑" panose="020B0503020204020204" charset="-122"/>
              </a:rPr>
              <a:t>0”</a:t>
            </a:r>
            <a:r>
              <a:rPr lang="zh-CN" altLang="en-US" sz="1200" dirty="0">
                <a:latin typeface="微软雅黑" panose="020B0503020204020204" charset="-122"/>
                <a:ea typeface="微软雅黑" panose="020B0503020204020204" charset="-122"/>
              </a:rPr>
              <a:t>开始，也可以从中止点开始。如果从“</a:t>
            </a:r>
            <a:r>
              <a:rPr lang="en-US" altLang="zh-CN" sz="1200" dirty="0">
                <a:latin typeface="微软雅黑" panose="020B0503020204020204" charset="-122"/>
                <a:ea typeface="微软雅黑" panose="020B0503020204020204" charset="-122"/>
              </a:rPr>
              <a:t>0”</a:t>
            </a:r>
            <a:r>
              <a:rPr lang="zh-CN" altLang="en-US" sz="1200" dirty="0">
                <a:latin typeface="微软雅黑" panose="020B0503020204020204" charset="-122"/>
                <a:ea typeface="微软雅黑" panose="020B0503020204020204" charset="-122"/>
              </a:rPr>
              <a:t>开始，各设备的优先次序与链式查询法相同，优先级的顺序是固定的。如果从中止点开始，则每个设备使用总线的优先级相等。</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a:latin typeface="微软雅黑" panose="020B0503020204020204" charset="-122"/>
                <a:ea typeface="微软雅黑" panose="020B0503020204020204" charset="-122"/>
              </a:rPr>
              <a:t>　　计数器的初值也可用程序来设置，这可以方便地改变优先次序，但这种灵活性是以增加线数为代价的。</a:t>
            </a:r>
            <a:endParaRPr lang="zh-CN" altLang="en-US" sz="1200" dirty="0">
              <a:latin typeface="微软雅黑" panose="020B0503020204020204" charset="-122"/>
              <a:ea typeface="微软雅黑" panose="020B0503020204020204" charset="-122"/>
            </a:endParaRPr>
          </a:p>
          <a:p>
            <a:pPr>
              <a:lnSpc>
                <a:spcPct val="100000"/>
              </a:lnSpc>
              <a:spcBef>
                <a:spcPts val="0"/>
              </a:spcBef>
            </a:pPr>
            <a:r>
              <a:rPr lang="zh-CN" altLang="en-US" sz="1200" dirty="0" smtClean="0">
                <a:latin typeface="微软雅黑" panose="020B0503020204020204" charset="-122"/>
                <a:ea typeface="微软雅黑" panose="020B0503020204020204" charset="-122"/>
              </a:rPr>
              <a:t>       独立</a:t>
            </a:r>
            <a:r>
              <a:rPr lang="zh-CN" altLang="en-US" sz="1200" dirty="0">
                <a:latin typeface="微软雅黑" panose="020B0503020204020204" charset="-122"/>
                <a:ea typeface="微软雅黑" panose="020B0503020204020204" charset="-122"/>
              </a:rPr>
              <a:t>请求方式的优点：响应时间快，确定优先响应的设备所花费的时间少，用不着一个设备接一个设备地查询。其次，对优先次序的控制相当灵活，可以预先固定也可以通过程序来改变优先次序；还可以用屏蔽</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禁止</a:t>
            </a:r>
            <a:r>
              <a:rPr lang="en-US" altLang="zh-CN" sz="1200" dirty="0">
                <a:latin typeface="微软雅黑" panose="020B0503020204020204" charset="-122"/>
                <a:ea typeface="微软雅黑" panose="020B0503020204020204" charset="-122"/>
              </a:rPr>
              <a:t>)</a:t>
            </a:r>
            <a:r>
              <a:rPr lang="zh-CN" altLang="en-US" sz="1200" dirty="0">
                <a:latin typeface="微软雅黑" panose="020B0503020204020204" charset="-122"/>
                <a:ea typeface="微软雅黑" panose="020B0503020204020204" charset="-122"/>
              </a:rPr>
              <a:t>某个请求的办法，不响应来自无效设备的请求。</a:t>
            </a:r>
            <a:endParaRPr lang="zh-CN" altLang="en-US" sz="1200" dirty="0">
              <a:latin typeface="微软雅黑" panose="020B0503020204020204" charset="-122"/>
              <a:ea typeface="微软雅黑" panose="020B0503020204020204" charset="-122"/>
            </a:endParaRPr>
          </a:p>
          <a:p>
            <a:pPr>
              <a:lnSpc>
                <a:spcPct val="100000"/>
              </a:lnSpc>
              <a:spcBef>
                <a:spcPts val="0"/>
              </a:spcBef>
              <a:tabLst>
                <a:tab pos="400050" algn="l"/>
              </a:tabLst>
            </a:pPr>
            <a:r>
              <a:rPr lang="en-US" altLang="zh-CN" sz="1200" dirty="0" smtClean="0">
                <a:latin typeface="微软雅黑" panose="020B0503020204020204" charset="-122"/>
                <a:ea typeface="微软雅黑" panose="020B0503020204020204" charset="-122"/>
              </a:rPr>
              <a:t>6</a:t>
            </a:r>
            <a:r>
              <a:rPr lang="zh-CN" altLang="en-US" sz="1200" dirty="0" smtClean="0">
                <a:latin typeface="微软雅黑" panose="020B0503020204020204" charset="-122"/>
                <a:ea typeface="微软雅黑" panose="020B0503020204020204" charset="-122"/>
              </a:rPr>
              <a:t>、同步定时：在</a:t>
            </a:r>
            <a:r>
              <a:rPr lang="zh-CN" altLang="en-US" sz="1200" dirty="0">
                <a:latin typeface="微软雅黑" panose="020B0503020204020204" charset="-122"/>
                <a:ea typeface="微软雅黑" panose="020B0503020204020204" charset="-122"/>
              </a:rPr>
              <a:t>同步定时协议中，事件出现在总线上的时刻由总线时钟信号来确定。由于采用了公共时钟，每个功能模块什么时候发送或接收信息都由统一时钟规定，因此，同步定时具有较高的传输频率。同步定时适用于总线长度较短、各功能模块存取时间比较接近的情况。 </a:t>
            </a:r>
            <a:endParaRPr lang="zh-CN" altLang="en-US" sz="1200" dirty="0">
              <a:latin typeface="微软雅黑" panose="020B0503020204020204" charset="-122"/>
              <a:ea typeface="微软雅黑" panose="020B0503020204020204" charset="-122"/>
            </a:endParaRPr>
          </a:p>
          <a:p>
            <a:pPr eaLnBrk="1" hangingPunct="1">
              <a:lnSpc>
                <a:spcPct val="100000"/>
              </a:lnSpc>
              <a:spcBef>
                <a:spcPts val="0"/>
              </a:spcBef>
            </a:pPr>
            <a:r>
              <a:rPr lang="zh-CN" altLang="en-US" sz="1200" dirty="0" smtClean="0">
                <a:latin typeface="微软雅黑" panose="020B0503020204020204" charset="-122"/>
                <a:ea typeface="微软雅黑" panose="020B0503020204020204" charset="-122"/>
              </a:rPr>
              <a:t>      异步定时：异步</a:t>
            </a:r>
            <a:r>
              <a:rPr lang="zh-CN" altLang="en-US" sz="1200" dirty="0">
                <a:latin typeface="微软雅黑" panose="020B0503020204020204" charset="-122"/>
                <a:ea typeface="微软雅黑" panose="020B0503020204020204" charset="-122"/>
              </a:rPr>
              <a:t>定时协议中，后一事件出现在总线上的时刻取决于前一事件的出现，即建立在应答式或互锁机制基础上。在这种系统中，不需要统一的共公时钟信号。总线周期的长度是可变的。异步定时的优点是总线周期长度可变，不把响应时间强加到功能模块上，因而允许快速和慢速的功能模块都能连接到同一总线上。但这以增加总线的复杂性和成本为代价</a:t>
            </a:r>
            <a:r>
              <a:rPr lang="zh-CN" altLang="en-US" sz="1200" dirty="0" smtClean="0">
                <a:latin typeface="微软雅黑" panose="020B0503020204020204" charset="-122"/>
                <a:ea typeface="微软雅黑" panose="020B0503020204020204" charset="-122"/>
              </a:rPr>
              <a:t>。</a:t>
            </a:r>
            <a:endParaRPr lang="zh-CN" altLang="en-US" sz="12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12B5E03-782F-466B-8BA0-E320AC5A0B70}" type="slidenum">
              <a:rPr lang="en-US" altLang="zh-CN"/>
            </a:fld>
            <a:endParaRPr lang="en-US" altLang="zh-CN"/>
          </a:p>
        </p:txBody>
      </p:sp>
      <p:sp>
        <p:nvSpPr>
          <p:cNvPr id="39939" name="Rectangle 3"/>
          <p:cNvSpPr>
            <a:spLocks noGrp="1" noChangeArrowheads="1"/>
          </p:cNvSpPr>
          <p:nvPr>
            <p:ph type="body" idx="1"/>
          </p:nvPr>
        </p:nvSpPr>
        <p:spPr>
          <a:xfrm>
            <a:off x="179388" y="692150"/>
            <a:ext cx="8713787" cy="5976938"/>
          </a:xfrm>
          <a:solidFill>
            <a:srgbClr val="CCFFFF"/>
          </a:solidFill>
        </p:spPr>
        <p:txBody>
          <a:bodyPr/>
          <a:lstStyle/>
          <a:p>
            <a:pPr eaLnBrk="1" hangingPunct="1">
              <a:lnSpc>
                <a:spcPct val="80000"/>
              </a:lnSpc>
            </a:pPr>
            <a:r>
              <a:rPr lang="zh-CN" altLang="en-US" sz="2400" smtClean="0">
                <a:latin typeface="宋体" panose="02010600030101010101" pitchFamily="2" charset="-122"/>
              </a:rPr>
              <a:t>总线是构成计算机系统的互联机构，是多个系统功能部件间进行数据传送的公共通道，并在争用资源的基础上进行工作。</a:t>
            </a:r>
            <a:endParaRPr lang="zh-CN" altLang="en-US" sz="2400" smtClean="0">
              <a:latin typeface="宋体" panose="02010600030101010101" pitchFamily="2" charset="-122"/>
            </a:endParaRPr>
          </a:p>
          <a:p>
            <a:pPr eaLnBrk="1" hangingPunct="1">
              <a:lnSpc>
                <a:spcPct val="80000"/>
              </a:lnSpc>
            </a:pPr>
            <a:r>
              <a:rPr lang="zh-CN" altLang="en-US" sz="2400" smtClean="0">
                <a:latin typeface="宋体" panose="02010600030101010101" pitchFamily="2" charset="-122"/>
              </a:rPr>
              <a:t>总线有物理特性、功能特性、电气特性、</a:t>
            </a:r>
            <a:r>
              <a:rPr lang="zh-CN" altLang="en-US" sz="2400" smtClean="0">
                <a:latin typeface="宋体" panose="02010600030101010101" pitchFamily="2" charset="-122"/>
              </a:rPr>
              <a:t>时间特性，因此必须标准化。</a:t>
            </a:r>
            <a:endParaRPr lang="zh-CN" altLang="en-US" sz="2400" smtClean="0">
              <a:latin typeface="宋体" panose="02010600030101010101" pitchFamily="2" charset="-122"/>
            </a:endParaRPr>
          </a:p>
          <a:p>
            <a:pPr eaLnBrk="1" hangingPunct="1">
              <a:lnSpc>
                <a:spcPct val="80000"/>
              </a:lnSpc>
            </a:pPr>
            <a:r>
              <a:rPr lang="zh-CN" altLang="en-US" sz="2400" smtClean="0">
                <a:latin typeface="宋体" panose="02010600030101010101" pitchFamily="2" charset="-122"/>
              </a:rPr>
              <a:t>微型计算机系统的标准总线从</a:t>
            </a:r>
            <a:r>
              <a:rPr lang="en-US" altLang="zh-CN" sz="2400" smtClean="0">
                <a:latin typeface="宋体" panose="02010600030101010101" pitchFamily="2" charset="-122"/>
              </a:rPr>
              <a:t>ISA</a:t>
            </a:r>
            <a:r>
              <a:rPr lang="zh-CN" altLang="en-US" sz="2400" smtClean="0">
                <a:latin typeface="宋体" panose="02010600030101010101" pitchFamily="2" charset="-122"/>
              </a:rPr>
              <a:t>总线（</a:t>
            </a:r>
            <a:r>
              <a:rPr lang="en-US" altLang="zh-CN" sz="2400" smtClean="0">
                <a:latin typeface="宋体" panose="02010600030101010101" pitchFamily="2" charset="-122"/>
              </a:rPr>
              <a:t>16</a:t>
            </a:r>
            <a:r>
              <a:rPr lang="zh-CN" altLang="en-US" sz="2400" smtClean="0">
                <a:latin typeface="宋体" panose="02010600030101010101" pitchFamily="2" charset="-122"/>
              </a:rPr>
              <a:t>位，带宽</a:t>
            </a:r>
            <a:r>
              <a:rPr lang="en-US" altLang="zh-CN" sz="2400" smtClean="0">
                <a:latin typeface="宋体" panose="02010600030101010101" pitchFamily="2" charset="-122"/>
              </a:rPr>
              <a:t>8MB/s</a:t>
            </a:r>
            <a:r>
              <a:rPr lang="zh-CN" altLang="en-US" sz="2400" smtClean="0">
                <a:latin typeface="宋体" panose="02010600030101010101" pitchFamily="2" charset="-122"/>
              </a:rPr>
              <a:t>）发展到</a:t>
            </a:r>
            <a:r>
              <a:rPr lang="en-US" altLang="zh-CN" sz="2400" smtClean="0">
                <a:latin typeface="宋体" panose="02010600030101010101" pitchFamily="2" charset="-122"/>
              </a:rPr>
              <a:t>EISA</a:t>
            </a:r>
            <a:r>
              <a:rPr lang="zh-CN" altLang="en-US" sz="2400" smtClean="0">
                <a:latin typeface="宋体" panose="02010600030101010101" pitchFamily="2" charset="-122"/>
              </a:rPr>
              <a:t>总线（</a:t>
            </a:r>
            <a:r>
              <a:rPr lang="en-US" altLang="zh-CN" sz="2400" smtClean="0">
                <a:latin typeface="宋体" panose="02010600030101010101" pitchFamily="2" charset="-122"/>
              </a:rPr>
              <a:t>32</a:t>
            </a:r>
            <a:r>
              <a:rPr lang="zh-CN" altLang="en-US" sz="2400" smtClean="0">
                <a:latin typeface="宋体" panose="02010600030101010101" pitchFamily="2" charset="-122"/>
              </a:rPr>
              <a:t>位，带宽</a:t>
            </a:r>
            <a:r>
              <a:rPr lang="en-US" altLang="zh-CN" sz="2400" smtClean="0">
                <a:latin typeface="宋体" panose="02010600030101010101" pitchFamily="2" charset="-122"/>
              </a:rPr>
              <a:t>33.3MB/s</a:t>
            </a:r>
            <a:r>
              <a:rPr lang="zh-CN" altLang="en-US" sz="2400" smtClean="0">
                <a:latin typeface="宋体" panose="02010600030101010101" pitchFamily="2" charset="-122"/>
              </a:rPr>
              <a:t>）和</a:t>
            </a:r>
            <a:r>
              <a:rPr lang="en-US" altLang="zh-CN" sz="2400" smtClean="0">
                <a:latin typeface="宋体" panose="02010600030101010101" pitchFamily="2" charset="-122"/>
              </a:rPr>
              <a:t>VESA</a:t>
            </a:r>
            <a:r>
              <a:rPr lang="zh-CN" altLang="en-US" sz="2400" smtClean="0">
                <a:latin typeface="宋体" panose="02010600030101010101" pitchFamily="2" charset="-122"/>
              </a:rPr>
              <a:t>总线（</a:t>
            </a:r>
            <a:r>
              <a:rPr lang="en-US" altLang="zh-CN" sz="2400" smtClean="0">
                <a:latin typeface="宋体" panose="02010600030101010101" pitchFamily="2" charset="-122"/>
              </a:rPr>
              <a:t>32</a:t>
            </a:r>
            <a:r>
              <a:rPr lang="zh-CN" altLang="en-US" sz="2400" smtClean="0">
                <a:latin typeface="宋体" panose="02010600030101010101" pitchFamily="2" charset="-122"/>
              </a:rPr>
              <a:t>位，带宽</a:t>
            </a:r>
            <a:r>
              <a:rPr lang="en-US" altLang="zh-CN" sz="2400" smtClean="0">
                <a:latin typeface="宋体" panose="02010600030101010101" pitchFamily="2" charset="-122"/>
              </a:rPr>
              <a:t>132MB/s</a:t>
            </a:r>
            <a:r>
              <a:rPr lang="zh-CN" altLang="en-US" sz="2400" smtClean="0">
                <a:latin typeface="宋体" panose="02010600030101010101" pitchFamily="2" charset="-122"/>
              </a:rPr>
              <a:t>），又进一步发展到</a:t>
            </a:r>
            <a:r>
              <a:rPr lang="en-US" altLang="zh-CN" sz="2400" smtClean="0">
                <a:latin typeface="宋体" panose="02010600030101010101" pitchFamily="2" charset="-122"/>
              </a:rPr>
              <a:t>PCI</a:t>
            </a:r>
            <a:r>
              <a:rPr lang="zh-CN" altLang="en-US" sz="2400" smtClean="0">
                <a:latin typeface="宋体" panose="02010600030101010101" pitchFamily="2" charset="-122"/>
              </a:rPr>
              <a:t>总线（</a:t>
            </a:r>
            <a:r>
              <a:rPr lang="en-US" altLang="zh-CN" sz="2400" smtClean="0">
                <a:latin typeface="宋体" panose="02010600030101010101" pitchFamily="2" charset="-122"/>
              </a:rPr>
              <a:t>64</a:t>
            </a:r>
            <a:r>
              <a:rPr lang="zh-CN" altLang="en-US" sz="2400" smtClean="0">
                <a:latin typeface="宋体" panose="02010600030101010101" pitchFamily="2" charset="-122"/>
              </a:rPr>
              <a:t>位，带宽</a:t>
            </a:r>
            <a:r>
              <a:rPr lang="en-US" altLang="zh-CN" sz="2400" smtClean="0">
                <a:latin typeface="宋体" panose="02010600030101010101" pitchFamily="2" charset="-122"/>
              </a:rPr>
              <a:t>264MB/s</a:t>
            </a:r>
            <a:r>
              <a:rPr lang="zh-CN" altLang="en-US" sz="2400" smtClean="0">
                <a:latin typeface="宋体" panose="02010600030101010101" pitchFamily="2" charset="-122"/>
              </a:rPr>
              <a:t>）。衡量总线性能的重要指标是总线带宽，它定义为总线本身所能达到的最高传输速率。</a:t>
            </a:r>
            <a:endParaRPr lang="zh-CN" altLang="en-US" sz="2400" smtClean="0">
              <a:latin typeface="宋体" panose="02010600030101010101" pitchFamily="2" charset="-122"/>
            </a:endParaRPr>
          </a:p>
          <a:p>
            <a:pPr eaLnBrk="1" hangingPunct="1">
              <a:lnSpc>
                <a:spcPct val="80000"/>
              </a:lnSpc>
            </a:pPr>
            <a:r>
              <a:rPr lang="zh-CN" altLang="en-US" sz="2400" smtClean="0">
                <a:latin typeface="宋体" panose="02010600030101010101" pitchFamily="2" charset="-122"/>
              </a:rPr>
              <a:t>当代流行的标准总线追求与结构、</a:t>
            </a:r>
            <a:r>
              <a:rPr lang="en-US" altLang="zh-CN" sz="2400" smtClean="0">
                <a:latin typeface="宋体" panose="02010600030101010101" pitchFamily="2" charset="-122"/>
              </a:rPr>
              <a:t>CPU</a:t>
            </a:r>
            <a:r>
              <a:rPr lang="zh-CN" altLang="en-US" sz="2400" smtClean="0">
                <a:latin typeface="宋体" panose="02010600030101010101" pitchFamily="2" charset="-122"/>
              </a:rPr>
              <a:t>、技术无关的开发标准。其总线内部结构包含：</a:t>
            </a:r>
            <a:endParaRPr lang="zh-CN" altLang="en-US" sz="2400" smtClean="0">
              <a:latin typeface="宋体" panose="02010600030101010101" pitchFamily="2" charset="-122"/>
            </a:endParaRPr>
          </a:p>
          <a:p>
            <a:pPr lvl="1" eaLnBrk="1" hangingPunct="1">
              <a:lnSpc>
                <a:spcPct val="80000"/>
              </a:lnSpc>
              <a:buFont typeface="Wingdings" panose="05000000000000000000" pitchFamily="2" charset="2"/>
              <a:buNone/>
            </a:pPr>
            <a:r>
              <a:rPr lang="zh-CN" altLang="en-US" sz="2400" smtClean="0">
                <a:latin typeface="宋体" panose="02010600030101010101" pitchFamily="2" charset="-122"/>
              </a:rPr>
              <a:t>①数据传送总线（由地址线、数据线、控制线组成）；</a:t>
            </a:r>
            <a:endParaRPr lang="zh-CN" altLang="en-US" sz="2400" smtClean="0">
              <a:latin typeface="宋体" panose="02010600030101010101" pitchFamily="2" charset="-122"/>
            </a:endParaRPr>
          </a:p>
          <a:p>
            <a:pPr lvl="1" eaLnBrk="1" hangingPunct="1">
              <a:lnSpc>
                <a:spcPct val="80000"/>
              </a:lnSpc>
              <a:buFont typeface="Wingdings" panose="05000000000000000000" pitchFamily="2" charset="2"/>
              <a:buNone/>
            </a:pPr>
            <a:r>
              <a:rPr lang="zh-CN" altLang="en-US" sz="2400" smtClean="0">
                <a:latin typeface="宋体" panose="02010600030101010101" pitchFamily="2" charset="-122"/>
              </a:rPr>
              <a:t>②仲裁总线；</a:t>
            </a:r>
            <a:endParaRPr lang="zh-CN" altLang="en-US" sz="2400" smtClean="0">
              <a:latin typeface="宋体" panose="02010600030101010101" pitchFamily="2" charset="-122"/>
            </a:endParaRPr>
          </a:p>
          <a:p>
            <a:pPr lvl="1" eaLnBrk="1" hangingPunct="1">
              <a:lnSpc>
                <a:spcPct val="80000"/>
              </a:lnSpc>
              <a:buFont typeface="Wingdings" panose="05000000000000000000" pitchFamily="2" charset="2"/>
              <a:buNone/>
            </a:pPr>
            <a:r>
              <a:rPr lang="zh-CN" altLang="en-US" sz="2400" smtClean="0">
                <a:latin typeface="宋体" panose="02010600030101010101" pitchFamily="2" charset="-122"/>
              </a:rPr>
              <a:t>③中断和同步总线；</a:t>
            </a:r>
            <a:endParaRPr lang="zh-CN" altLang="en-US" sz="2400" smtClean="0">
              <a:latin typeface="宋体" panose="02010600030101010101" pitchFamily="2" charset="-122"/>
            </a:endParaRPr>
          </a:p>
          <a:p>
            <a:pPr lvl="1" eaLnBrk="1" hangingPunct="1">
              <a:lnSpc>
                <a:spcPct val="80000"/>
              </a:lnSpc>
              <a:buFont typeface="Wingdings" panose="05000000000000000000" pitchFamily="2" charset="2"/>
              <a:buNone/>
            </a:pPr>
            <a:r>
              <a:rPr lang="zh-CN" altLang="en-US" sz="2400" smtClean="0">
                <a:latin typeface="宋体" panose="02010600030101010101" pitchFamily="2" charset="-122"/>
              </a:rPr>
              <a:t>④公用线（电源、地线、时钟、复位等信号线）。</a:t>
            </a:r>
            <a:endParaRPr lang="zh-CN" altLang="en-US" sz="2400" smtClean="0">
              <a:latin typeface="宋体" panose="02010600030101010101" pitchFamily="2" charset="-122"/>
            </a:endParaRPr>
          </a:p>
          <a:p>
            <a:pPr eaLnBrk="1" hangingPunct="1">
              <a:lnSpc>
                <a:spcPct val="80000"/>
              </a:lnSpc>
            </a:pPr>
            <a:r>
              <a:rPr lang="zh-CN" altLang="en-US" sz="2400" smtClean="0">
                <a:latin typeface="宋体" panose="02010600030101010101" pitchFamily="2" charset="-122"/>
              </a:rPr>
              <a:t>计算机系统中，根据应用条件和硬件资源不同，信息的传输方式可采用：</a:t>
            </a:r>
            <a:endParaRPr lang="zh-CN" altLang="en-US" sz="2400" smtClean="0">
              <a:latin typeface="宋体" panose="02010600030101010101" pitchFamily="2" charset="-122"/>
            </a:endParaRPr>
          </a:p>
          <a:p>
            <a:pPr lvl="1" eaLnBrk="1" hangingPunct="1">
              <a:lnSpc>
                <a:spcPct val="80000"/>
              </a:lnSpc>
              <a:buFont typeface="Wingdings" panose="05000000000000000000" pitchFamily="2" charset="2"/>
              <a:buNone/>
            </a:pPr>
            <a:r>
              <a:rPr lang="zh-CN" altLang="en-US" sz="2400" smtClean="0">
                <a:latin typeface="宋体" panose="02010600030101010101" pitchFamily="2" charset="-122"/>
              </a:rPr>
              <a:t>①并行传送；②串行传送；③ 复用传送。</a:t>
            </a:r>
            <a:endParaRPr lang="zh-CN" altLang="en-US" sz="2400" smtClean="0">
              <a:latin typeface="宋体" panose="02010600030101010101" pitchFamily="2" charset="-122"/>
            </a:endParaRPr>
          </a:p>
        </p:txBody>
      </p:sp>
      <p:sp>
        <p:nvSpPr>
          <p:cNvPr id="39940" name="Rectangle 5"/>
          <p:cNvSpPr>
            <a:spLocks noChangeArrowheads="1"/>
          </p:cNvSpPr>
          <p:nvPr/>
        </p:nvSpPr>
        <p:spPr bwMode="auto">
          <a:xfrm>
            <a:off x="395288" y="95250"/>
            <a:ext cx="2430462" cy="530225"/>
          </a:xfrm>
          <a:prstGeom prst="rect">
            <a:avLst/>
          </a:prstGeom>
          <a:noFill/>
          <a:ln w="9525" algn="ctr">
            <a:noFill/>
            <a:miter lim="800000"/>
          </a:ln>
        </p:spPr>
        <p:txBody>
          <a:bodyPr wrap="none">
            <a:spAutoFit/>
          </a:bodyPr>
          <a:lstStyle/>
          <a:p>
            <a:r>
              <a:rPr lang="zh-CN" altLang="en-US" sz="3200" b="1">
                <a:solidFill>
                  <a:schemeClr val="tx2"/>
                </a:solidFill>
              </a:rPr>
              <a:t>本 章 小 结</a:t>
            </a:r>
            <a:endParaRPr lang="zh-CN" altLang="en-US" sz="3200" b="1">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E8ABA83-1E60-4716-A004-AD1A37A26176}" type="slidenum">
              <a:rPr lang="en-US" altLang="zh-CN"/>
            </a:fld>
            <a:endParaRPr lang="en-US" altLang="zh-CN"/>
          </a:p>
        </p:txBody>
      </p:sp>
      <p:sp>
        <p:nvSpPr>
          <p:cNvPr id="40963" name="Rectangle 3"/>
          <p:cNvSpPr>
            <a:spLocks noGrp="1" noChangeArrowheads="1"/>
          </p:cNvSpPr>
          <p:nvPr>
            <p:ph type="body" idx="1"/>
          </p:nvPr>
        </p:nvSpPr>
        <p:spPr>
          <a:xfrm>
            <a:off x="250825" y="765175"/>
            <a:ext cx="8353425" cy="4176713"/>
          </a:xfrm>
          <a:solidFill>
            <a:srgbClr val="CCFFFF"/>
          </a:solidFill>
        </p:spPr>
        <p:txBody>
          <a:bodyPr/>
          <a:lstStyle/>
          <a:p>
            <a:pPr eaLnBrk="1" hangingPunct="1">
              <a:lnSpc>
                <a:spcPct val="80000"/>
              </a:lnSpc>
            </a:pPr>
            <a:r>
              <a:rPr lang="zh-CN" altLang="en-US" sz="2400" smtClean="0">
                <a:latin typeface="宋体" panose="02010600030101010101" pitchFamily="2" charset="-122"/>
              </a:rPr>
              <a:t>各种外围设备必须通过</a:t>
            </a:r>
            <a:r>
              <a:rPr lang="en-US" altLang="zh-CN" sz="2400" smtClean="0">
                <a:latin typeface="宋体" panose="02010600030101010101" pitchFamily="2" charset="-122"/>
              </a:rPr>
              <a:t>I/O</a:t>
            </a:r>
            <a:r>
              <a:rPr lang="zh-CN" altLang="en-US" sz="2400" smtClean="0">
                <a:latin typeface="宋体" panose="02010600030101010101" pitchFamily="2" charset="-122"/>
              </a:rPr>
              <a:t>接口与总线相连。</a:t>
            </a:r>
            <a:r>
              <a:rPr lang="en-US" altLang="zh-CN" sz="2400" smtClean="0">
                <a:latin typeface="宋体" panose="02010600030101010101" pitchFamily="2" charset="-122"/>
              </a:rPr>
              <a:t>I/O</a:t>
            </a:r>
            <a:r>
              <a:rPr lang="zh-CN" altLang="en-US" sz="2400" smtClean="0">
                <a:latin typeface="宋体" panose="02010600030101010101" pitchFamily="2" charset="-122"/>
              </a:rPr>
              <a:t>接口是指</a:t>
            </a:r>
            <a:r>
              <a:rPr lang="en-US" altLang="zh-CN" sz="2400" smtClean="0">
                <a:latin typeface="宋体" panose="02010600030101010101" pitchFamily="2" charset="-122"/>
              </a:rPr>
              <a:t>CPU</a:t>
            </a:r>
            <a:r>
              <a:rPr lang="zh-CN" altLang="en-US" sz="2400" smtClean="0">
                <a:latin typeface="宋体" panose="02010600030101010101" pitchFamily="2" charset="-122"/>
              </a:rPr>
              <a:t>、主存、外围设备之间通过总线进行连接的逻辑部件。接口部件在它动态联结的两个功能部件间起着缓冲器和转换器的作用，以便实现彼此之间的信息传送。</a:t>
            </a:r>
            <a:endParaRPr lang="zh-CN" altLang="en-US" sz="2400" smtClean="0">
              <a:latin typeface="宋体" panose="02010600030101010101" pitchFamily="2" charset="-122"/>
            </a:endParaRPr>
          </a:p>
          <a:p>
            <a:pPr eaLnBrk="1" hangingPunct="1">
              <a:lnSpc>
                <a:spcPct val="80000"/>
              </a:lnSpc>
            </a:pPr>
            <a:r>
              <a:rPr lang="zh-CN" altLang="en-US" sz="2400" smtClean="0">
                <a:latin typeface="宋体" panose="02010600030101010101" pitchFamily="2" charset="-122"/>
              </a:rPr>
              <a:t>总线仲裁是总线系统的核心问题之一。为了解决多个主设备同时竞争总线控制权的问题，必须具有总线仲裁部件。它通过采用优先级策略或公平策略，选择其中一个主设备作为总线的下一次主方，接管总线控制权。按照总线仲裁电路的位置不同，总线仲裁分为集中式仲裁和分布式仲裁。 </a:t>
            </a:r>
            <a:endParaRPr lang="zh-CN" altLang="en-US" sz="2400" smtClean="0">
              <a:latin typeface="宋体" panose="02010600030101010101" pitchFamily="2" charset="-122"/>
            </a:endParaRPr>
          </a:p>
          <a:p>
            <a:pPr lvl="1" eaLnBrk="1" hangingPunct="1">
              <a:lnSpc>
                <a:spcPct val="80000"/>
              </a:lnSpc>
            </a:pPr>
            <a:r>
              <a:rPr lang="zh-CN" altLang="en-US" sz="2400" smtClean="0">
                <a:latin typeface="宋体" panose="02010600030101010101" pitchFamily="2" charset="-122"/>
              </a:rPr>
              <a:t>集中式仲裁</a:t>
            </a:r>
            <a:r>
              <a:rPr lang="en-US" altLang="zh-CN" sz="2400" smtClean="0">
                <a:latin typeface="宋体" panose="02010600030101010101" pitchFamily="2" charset="-122"/>
              </a:rPr>
              <a:t>:</a:t>
            </a:r>
            <a:r>
              <a:rPr lang="zh-CN" altLang="en-US" sz="2400" smtClean="0">
                <a:latin typeface="宋体" panose="02010600030101010101" pitchFamily="2" charset="-122"/>
              </a:rPr>
              <a:t>仲裁方式必有一个中央仲裁器，它受理所有功能模块的总线请求，按优先原则或公平原则。</a:t>
            </a:r>
            <a:endParaRPr lang="zh-CN" altLang="en-US" sz="2400" smtClean="0">
              <a:latin typeface="宋体" panose="02010600030101010101" pitchFamily="2" charset="-122"/>
            </a:endParaRPr>
          </a:p>
          <a:p>
            <a:pPr lvl="1" eaLnBrk="1" hangingPunct="1">
              <a:lnSpc>
                <a:spcPct val="80000"/>
              </a:lnSpc>
            </a:pPr>
            <a:r>
              <a:rPr lang="zh-CN" altLang="en-US" sz="2400" smtClean="0">
                <a:latin typeface="宋体" panose="02010600030101010101" pitchFamily="2" charset="-122"/>
              </a:rPr>
              <a:t>分布式仲裁。分布式仲裁不需要中央仲裁器，每个功能模块都有自己的仲裁号和仲裁器。</a:t>
            </a:r>
            <a:endParaRPr lang="zh-CN" altLang="en-US" sz="2400" smtClean="0">
              <a:latin typeface="宋体" panose="02010600030101010101" pitchFamily="2" charset="-122"/>
            </a:endParaRPr>
          </a:p>
        </p:txBody>
      </p:sp>
      <p:sp>
        <p:nvSpPr>
          <p:cNvPr id="40964" name="Rectangle 6"/>
          <p:cNvSpPr>
            <a:spLocks noChangeArrowheads="1"/>
          </p:cNvSpPr>
          <p:nvPr/>
        </p:nvSpPr>
        <p:spPr bwMode="auto">
          <a:xfrm>
            <a:off x="395288" y="95250"/>
            <a:ext cx="2430462" cy="530225"/>
          </a:xfrm>
          <a:prstGeom prst="rect">
            <a:avLst/>
          </a:prstGeom>
          <a:noFill/>
          <a:ln w="9525" algn="ctr">
            <a:noFill/>
            <a:miter lim="800000"/>
          </a:ln>
        </p:spPr>
        <p:txBody>
          <a:bodyPr wrap="none">
            <a:spAutoFit/>
          </a:bodyPr>
          <a:lstStyle/>
          <a:p>
            <a:r>
              <a:rPr lang="zh-CN" altLang="en-US" sz="3200" b="1">
                <a:solidFill>
                  <a:schemeClr val="tx2"/>
                </a:solidFill>
              </a:rPr>
              <a:t>本 章 小 结</a:t>
            </a:r>
            <a:endParaRPr lang="zh-CN" altLang="en-US" sz="3200" b="1">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F2A2669-C557-410C-9E49-E33EA6491606}" type="slidenum">
              <a:rPr lang="en-US" altLang="zh-CN"/>
            </a:fld>
            <a:endParaRPr lang="en-US" altLang="zh-CN"/>
          </a:p>
        </p:txBody>
      </p:sp>
      <p:sp>
        <p:nvSpPr>
          <p:cNvPr id="41987" name="Rectangle 3"/>
          <p:cNvSpPr>
            <a:spLocks noGrp="1" noChangeArrowheads="1"/>
          </p:cNvSpPr>
          <p:nvPr>
            <p:ph type="body" idx="1"/>
          </p:nvPr>
        </p:nvSpPr>
        <p:spPr>
          <a:xfrm>
            <a:off x="250825" y="549275"/>
            <a:ext cx="8642350" cy="6092825"/>
          </a:xfrm>
          <a:solidFill>
            <a:srgbClr val="CCFFFF"/>
          </a:solidFill>
        </p:spPr>
        <p:txBody>
          <a:bodyPr/>
          <a:lstStyle/>
          <a:p>
            <a:pPr eaLnBrk="1" hangingPunct="1">
              <a:lnSpc>
                <a:spcPct val="80000"/>
              </a:lnSpc>
            </a:pPr>
            <a:r>
              <a:rPr lang="zh-CN" altLang="en-US" sz="2400" smtClean="0">
                <a:latin typeface="宋体" panose="02010600030101010101" pitchFamily="2" charset="-122"/>
              </a:rPr>
              <a:t>总线定时是总线系统的又一核心问题之一。为了同步主方、从方的操作，必须制订定时协议，通常采用同步定时与异步定时两种方式。</a:t>
            </a:r>
            <a:endParaRPr lang="zh-CN" altLang="en-US" sz="2400" smtClean="0">
              <a:latin typeface="宋体" panose="02010600030101010101" pitchFamily="2" charset="-122"/>
            </a:endParaRPr>
          </a:p>
          <a:p>
            <a:pPr lvl="1" eaLnBrk="1" hangingPunct="1">
              <a:lnSpc>
                <a:spcPct val="80000"/>
              </a:lnSpc>
            </a:pPr>
            <a:r>
              <a:rPr lang="zh-CN" altLang="en-US" sz="2400" smtClean="0">
                <a:latin typeface="宋体" panose="02010600030101010101" pitchFamily="2" charset="-122"/>
              </a:rPr>
              <a:t>在同步定时协议中，事件出现在总线上的时刻由总线时钟信号来确定，总线周期的长度是固定的。</a:t>
            </a:r>
            <a:endParaRPr lang="zh-CN" altLang="en-US" sz="2400" smtClean="0">
              <a:latin typeface="宋体" panose="02010600030101010101" pitchFamily="2" charset="-122"/>
            </a:endParaRPr>
          </a:p>
          <a:p>
            <a:pPr lvl="1" eaLnBrk="1" hangingPunct="1">
              <a:lnSpc>
                <a:spcPct val="80000"/>
              </a:lnSpc>
            </a:pPr>
            <a:r>
              <a:rPr lang="zh-CN" altLang="en-US" sz="2400" smtClean="0">
                <a:latin typeface="宋体" panose="02010600030101010101" pitchFamily="2" charset="-122"/>
              </a:rPr>
              <a:t>在异步定时协议中，后一事件出现在总线上的时刻取决于前一事件的出现，即建立在应答式或互锁机制基础上，不需要统一的公共时钟信号。</a:t>
            </a:r>
            <a:endParaRPr lang="zh-CN" altLang="en-US" sz="2400" smtClean="0">
              <a:latin typeface="宋体" panose="02010600030101010101" pitchFamily="2" charset="-122"/>
            </a:endParaRPr>
          </a:p>
          <a:p>
            <a:pPr lvl="1" eaLnBrk="1" hangingPunct="1">
              <a:lnSpc>
                <a:spcPct val="80000"/>
              </a:lnSpc>
            </a:pPr>
            <a:r>
              <a:rPr lang="zh-CN" altLang="en-US" sz="2400" smtClean="0">
                <a:latin typeface="宋体" panose="02010600030101010101" pitchFamily="2" charset="-122"/>
              </a:rPr>
              <a:t>在异步定时中，总线周期的长度是可变的。当代的总线标准大都能支持以下数据传送模式：①读</a:t>
            </a:r>
            <a:r>
              <a:rPr lang="en-US" altLang="zh-CN" sz="2400" smtClean="0">
                <a:latin typeface="宋体" panose="02010600030101010101" pitchFamily="2" charset="-122"/>
              </a:rPr>
              <a:t>/</a:t>
            </a:r>
            <a:r>
              <a:rPr lang="zh-CN" altLang="en-US" sz="2400" smtClean="0">
                <a:latin typeface="宋体" panose="02010600030101010101" pitchFamily="2" charset="-122"/>
              </a:rPr>
              <a:t>写操作；②块传送操作；③写后读、读修改写操作；④广播、广集操作。</a:t>
            </a:r>
            <a:endParaRPr lang="zh-CN" altLang="en-US" sz="2400" smtClean="0">
              <a:latin typeface="宋体" panose="02010600030101010101" pitchFamily="2" charset="-122"/>
            </a:endParaRPr>
          </a:p>
          <a:p>
            <a:pPr eaLnBrk="1" hangingPunct="1">
              <a:lnSpc>
                <a:spcPct val="80000"/>
              </a:lnSpc>
            </a:pPr>
            <a:r>
              <a:rPr lang="en-US" altLang="zh-CN" sz="2400" b="1" smtClean="0">
                <a:latin typeface="宋体" panose="02010600030101010101" pitchFamily="2" charset="-122"/>
              </a:rPr>
              <a:t>PCI</a:t>
            </a:r>
            <a:r>
              <a:rPr lang="zh-CN" altLang="en-US" sz="2400" b="1" smtClean="0">
                <a:latin typeface="宋体" panose="02010600030101010101" pitchFamily="2" charset="-122"/>
              </a:rPr>
              <a:t>总线</a:t>
            </a:r>
            <a:r>
              <a:rPr lang="zh-CN" altLang="en-US" sz="2400" smtClean="0">
                <a:latin typeface="宋体" panose="02010600030101010101" pitchFamily="2" charset="-122"/>
              </a:rPr>
              <a:t>是当前实用的总线，是一个高带宽且与处理器无关的标准总线，又是重要的层次总线。它采用同步定时协议和集中式仲裁策略，并具有自动配置能力。</a:t>
            </a:r>
            <a:r>
              <a:rPr lang="en-US" altLang="zh-CN" sz="2400" smtClean="0">
                <a:latin typeface="宋体" panose="02010600030101010101" pitchFamily="2" charset="-122"/>
              </a:rPr>
              <a:t>PCI</a:t>
            </a:r>
            <a:r>
              <a:rPr lang="zh-CN" altLang="en-US" sz="2400" smtClean="0">
                <a:latin typeface="宋体" panose="02010600030101010101" pitchFamily="2" charset="-122"/>
              </a:rPr>
              <a:t>适合于低成本的小系统，因此在微型机系统中得到了广泛的应用。</a:t>
            </a:r>
            <a:endParaRPr lang="zh-CN" altLang="en-US" sz="2400" smtClean="0">
              <a:latin typeface="宋体" panose="02010600030101010101" pitchFamily="2" charset="-122"/>
            </a:endParaRPr>
          </a:p>
          <a:p>
            <a:pPr eaLnBrk="1" hangingPunct="1">
              <a:lnSpc>
                <a:spcPct val="80000"/>
              </a:lnSpc>
            </a:pPr>
            <a:r>
              <a:rPr lang="en-US" altLang="zh-CN" sz="2400" b="1" smtClean="0">
                <a:latin typeface="宋体" panose="02010600030101010101" pitchFamily="2" charset="-122"/>
              </a:rPr>
              <a:t>InfiniBand</a:t>
            </a:r>
            <a:r>
              <a:rPr lang="zh-CN" altLang="en-US" sz="2400" b="1" smtClean="0">
                <a:latin typeface="宋体" panose="02010600030101010101" pitchFamily="2" charset="-122"/>
              </a:rPr>
              <a:t>标准</a:t>
            </a:r>
            <a:r>
              <a:rPr lang="zh-CN" altLang="en-US" sz="2400" smtClean="0">
                <a:latin typeface="宋体" panose="02010600030101010101" pitchFamily="2" charset="-122"/>
              </a:rPr>
              <a:t>，瞄准了高端服务器市场的最新</a:t>
            </a:r>
            <a:r>
              <a:rPr lang="en-US" altLang="zh-CN" sz="2400" smtClean="0">
                <a:latin typeface="宋体" panose="02010600030101010101" pitchFamily="2" charset="-122"/>
              </a:rPr>
              <a:t>I/O</a:t>
            </a:r>
            <a:r>
              <a:rPr lang="zh-CN" altLang="en-US" sz="2400" smtClean="0">
                <a:latin typeface="宋体" panose="02010600030101010101" pitchFamily="2" charset="-122"/>
              </a:rPr>
              <a:t>规范，它是一种基于开关的体系结构，可连接多达</a:t>
            </a:r>
            <a:r>
              <a:rPr lang="en-US" altLang="zh-CN" sz="2400" smtClean="0">
                <a:latin typeface="宋体" panose="02010600030101010101" pitchFamily="2" charset="-122"/>
              </a:rPr>
              <a:t>64000</a:t>
            </a:r>
            <a:r>
              <a:rPr lang="zh-CN" altLang="en-US" sz="2400" smtClean="0">
                <a:latin typeface="宋体" panose="02010600030101010101" pitchFamily="2" charset="-122"/>
              </a:rPr>
              <a:t>个服务器、存储系统、网络设备，能替代当前服务器中的</a:t>
            </a:r>
            <a:r>
              <a:rPr lang="en-US" altLang="zh-CN" sz="2400" smtClean="0">
                <a:latin typeface="宋体" panose="02010600030101010101" pitchFamily="2" charset="-122"/>
              </a:rPr>
              <a:t>PCI</a:t>
            </a:r>
            <a:r>
              <a:rPr lang="zh-CN" altLang="en-US" sz="2400" smtClean="0">
                <a:latin typeface="宋体" panose="02010600030101010101" pitchFamily="2" charset="-122"/>
              </a:rPr>
              <a:t>总线，数据传输率高达</a:t>
            </a:r>
            <a:r>
              <a:rPr lang="en-US" altLang="zh-CN" sz="2400" smtClean="0">
                <a:latin typeface="宋体" panose="02010600030101010101" pitchFamily="2" charset="-122"/>
              </a:rPr>
              <a:t>30GB/s</a:t>
            </a:r>
            <a:r>
              <a:rPr lang="zh-CN" altLang="en-US" sz="2400" smtClean="0">
                <a:latin typeface="宋体" panose="02010600030101010101" pitchFamily="2" charset="-122"/>
              </a:rPr>
              <a:t>。因此适合于高成本的较大规模计算机系统。</a:t>
            </a:r>
            <a:endParaRPr lang="zh-CN" altLang="en-US" sz="2400" smtClean="0">
              <a:latin typeface="宋体" panose="02010600030101010101" pitchFamily="2" charset="-122"/>
            </a:endParaRPr>
          </a:p>
        </p:txBody>
      </p:sp>
      <p:sp>
        <p:nvSpPr>
          <p:cNvPr id="41988" name="Rectangle 6"/>
          <p:cNvSpPr>
            <a:spLocks noChangeArrowheads="1"/>
          </p:cNvSpPr>
          <p:nvPr/>
        </p:nvSpPr>
        <p:spPr bwMode="auto">
          <a:xfrm>
            <a:off x="395288" y="0"/>
            <a:ext cx="2430462" cy="530225"/>
          </a:xfrm>
          <a:prstGeom prst="rect">
            <a:avLst/>
          </a:prstGeom>
          <a:noFill/>
          <a:ln w="9525" algn="ctr">
            <a:noFill/>
            <a:miter lim="800000"/>
          </a:ln>
        </p:spPr>
        <p:txBody>
          <a:bodyPr wrap="none">
            <a:spAutoFit/>
          </a:bodyPr>
          <a:lstStyle/>
          <a:p>
            <a:r>
              <a:rPr lang="zh-CN" altLang="en-US" sz="3200" b="1">
                <a:solidFill>
                  <a:schemeClr val="tx2"/>
                </a:solidFill>
              </a:rPr>
              <a:t>本 章 小 结</a:t>
            </a:r>
            <a:endParaRPr lang="zh-CN" altLang="en-US" sz="3200" b="1">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7345C2A-D194-40BC-B3C9-4B59B66D0FDE}" type="slidenum">
              <a:rPr lang="en-US" altLang="zh-CN"/>
            </a:fld>
            <a:endParaRPr lang="en-US" altLang="zh-CN"/>
          </a:p>
        </p:txBody>
      </p:sp>
      <p:sp>
        <p:nvSpPr>
          <p:cNvPr id="46083" name="Rectangle 3"/>
          <p:cNvSpPr>
            <a:spLocks noChangeArrowheads="1"/>
          </p:cNvSpPr>
          <p:nvPr/>
        </p:nvSpPr>
        <p:spPr bwMode="auto">
          <a:xfrm>
            <a:off x="395288" y="160112"/>
            <a:ext cx="2808287" cy="585787"/>
          </a:xfrm>
          <a:prstGeom prst="rect">
            <a:avLst/>
          </a:prstGeom>
          <a:noFill/>
          <a:ln w="9525" algn="ctr">
            <a:noFill/>
            <a:miter lim="800000"/>
          </a:ln>
        </p:spPr>
        <p:txBody>
          <a:bodyPr>
            <a:spAutoFit/>
          </a:bodyPr>
          <a:lstStyle/>
          <a:p>
            <a:r>
              <a:rPr lang="zh-CN" altLang="en-US" sz="3600" b="1" dirty="0">
                <a:solidFill>
                  <a:schemeClr val="tx2"/>
                </a:solidFill>
              </a:rPr>
              <a:t>主要概念</a:t>
            </a:r>
            <a:endParaRPr lang="zh-CN" altLang="en-US" sz="3600" b="1" dirty="0">
              <a:solidFill>
                <a:schemeClr val="tx2"/>
              </a:solidFill>
            </a:endParaRPr>
          </a:p>
        </p:txBody>
      </p:sp>
      <p:sp>
        <p:nvSpPr>
          <p:cNvPr id="46084" name="Rectangle 5"/>
          <p:cNvSpPr>
            <a:spLocks noChangeArrowheads="1"/>
          </p:cNvSpPr>
          <p:nvPr/>
        </p:nvSpPr>
        <p:spPr bwMode="auto">
          <a:xfrm>
            <a:off x="395288" y="745899"/>
            <a:ext cx="8064500" cy="6038576"/>
          </a:xfrm>
          <a:prstGeom prst="rect">
            <a:avLst/>
          </a:prstGeom>
          <a:solidFill>
            <a:srgbClr val="CCFFFF"/>
          </a:solidFill>
          <a:ln w="9525" algn="ctr">
            <a:noFill/>
            <a:miter lim="800000"/>
          </a:ln>
        </p:spPr>
        <p:txBody>
          <a:bodyPr>
            <a:spAutoFit/>
          </a:bodyPr>
          <a:lstStyle/>
          <a:p>
            <a:r>
              <a:rPr lang="en-US" altLang="zh-CN" sz="2800" b="1" dirty="0"/>
              <a:t>1</a:t>
            </a:r>
            <a:r>
              <a:rPr lang="zh-CN" altLang="en-US" sz="2800" b="1" dirty="0"/>
              <a:t>、总线的概念。</a:t>
            </a:r>
            <a:endParaRPr lang="zh-CN" altLang="en-US" sz="2800" b="1" dirty="0"/>
          </a:p>
          <a:p>
            <a:pPr marL="0" lvl="1"/>
            <a:r>
              <a:rPr lang="zh-CN" altLang="en-US" sz="2800" dirty="0" smtClean="0"/>
              <a:t>    总线</a:t>
            </a:r>
            <a:r>
              <a:rPr lang="zh-CN" altLang="en-US" sz="2800" dirty="0"/>
              <a:t>是构成计算机系统的互联机构，是多个系统功能部件之间进行数据传送的公共通路。借助于总线连接，计算机在各系统功能部件之间实现地址、数据和控制信息的交换，并在争用资源的基础上进行工作</a:t>
            </a:r>
            <a:r>
              <a:rPr lang="zh-CN" altLang="en-US" sz="2800" dirty="0" smtClean="0"/>
              <a:t>。</a:t>
            </a:r>
            <a:endParaRPr lang="zh-CN" altLang="en-US" sz="2800" dirty="0"/>
          </a:p>
          <a:p>
            <a:r>
              <a:rPr lang="en-US" altLang="zh-CN" sz="2800" dirty="0"/>
              <a:t>2</a:t>
            </a:r>
            <a:r>
              <a:rPr lang="zh-CN" altLang="en-US" sz="2800" dirty="0"/>
              <a:t>、</a:t>
            </a:r>
            <a:r>
              <a:rPr lang="zh-CN" altLang="en-US" sz="2800" b="1" dirty="0"/>
              <a:t>单处理器系统中的总线。</a:t>
            </a:r>
            <a:endParaRPr lang="zh-CN" altLang="en-US" sz="2800" dirty="0"/>
          </a:p>
          <a:p>
            <a:r>
              <a:rPr lang="zh-CN" altLang="en-US" sz="2800" dirty="0"/>
              <a:t>    一个单处理器系统中的总线，大致分为三类：</a:t>
            </a:r>
            <a:endParaRPr lang="zh-CN" altLang="en-US" sz="2800" dirty="0"/>
          </a:p>
          <a:p>
            <a:r>
              <a:rPr lang="zh-CN" altLang="en-US" sz="2800" dirty="0"/>
              <a:t>　  </a:t>
            </a:r>
            <a:r>
              <a:rPr lang="en-US" altLang="zh-CN" sz="2800" dirty="0"/>
              <a:t>(1)</a:t>
            </a:r>
            <a:r>
              <a:rPr lang="zh-CN" altLang="en-US" sz="2800" dirty="0"/>
              <a:t>内部总线：</a:t>
            </a:r>
            <a:r>
              <a:rPr lang="en-US" altLang="zh-CN" sz="2800" dirty="0"/>
              <a:t>CPU</a:t>
            </a:r>
            <a:r>
              <a:rPr lang="zh-CN" altLang="en-US" sz="2800" dirty="0"/>
              <a:t>内部连接各寄存器及运算部件之间的总线。</a:t>
            </a:r>
            <a:endParaRPr lang="zh-CN" altLang="en-US" sz="2800" dirty="0"/>
          </a:p>
          <a:p>
            <a:r>
              <a:rPr lang="zh-CN" altLang="en-US" sz="2800" dirty="0"/>
              <a:t>　  </a:t>
            </a:r>
            <a:r>
              <a:rPr lang="en-US" altLang="zh-CN" sz="2800" dirty="0"/>
              <a:t>(2)</a:t>
            </a:r>
            <a:r>
              <a:rPr lang="zh-CN" altLang="en-US" sz="2800" dirty="0"/>
              <a:t>系统总线：</a:t>
            </a:r>
            <a:r>
              <a:rPr lang="en-US" altLang="zh-CN" sz="2800" dirty="0"/>
              <a:t>CPU</a:t>
            </a:r>
            <a:r>
              <a:rPr lang="zh-CN" altLang="en-US" sz="2800" dirty="0"/>
              <a:t>同计算机系统的其他高速功能部件，如存储器、通道等互相连接的总线。</a:t>
            </a:r>
            <a:endParaRPr lang="zh-CN" altLang="en-US" sz="2800" dirty="0"/>
          </a:p>
          <a:p>
            <a:r>
              <a:rPr lang="zh-CN" altLang="en-US" sz="2800" dirty="0"/>
              <a:t>　  </a:t>
            </a:r>
            <a:r>
              <a:rPr lang="en-US" altLang="zh-CN" sz="2800" dirty="0"/>
              <a:t>(3)I/O</a:t>
            </a:r>
            <a:r>
              <a:rPr lang="zh-CN" altLang="en-US" sz="2800" dirty="0"/>
              <a:t>总线：中、低速</a:t>
            </a:r>
            <a:r>
              <a:rPr lang="en-US" altLang="zh-CN" sz="2800" dirty="0"/>
              <a:t>I/O</a:t>
            </a:r>
            <a:r>
              <a:rPr lang="zh-CN" altLang="en-US" sz="2800" dirty="0"/>
              <a:t>设备之间互相连接的总线。</a:t>
            </a:r>
            <a:endParaRPr lang="zh-CN" alt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4657AEF-93F1-40AE-A1CF-4F4B0F732673}" type="slidenum">
              <a:rPr lang="en-US" altLang="zh-CN"/>
            </a:fld>
            <a:endParaRPr lang="en-US" altLang="zh-CN"/>
          </a:p>
        </p:txBody>
      </p:sp>
      <p:sp>
        <p:nvSpPr>
          <p:cNvPr id="47107" name="Rectangle 4"/>
          <p:cNvSpPr>
            <a:spLocks noChangeArrowheads="1"/>
          </p:cNvSpPr>
          <p:nvPr/>
        </p:nvSpPr>
        <p:spPr bwMode="auto">
          <a:xfrm>
            <a:off x="395288" y="692150"/>
            <a:ext cx="8137525" cy="4660900"/>
          </a:xfrm>
          <a:prstGeom prst="rect">
            <a:avLst/>
          </a:prstGeom>
          <a:solidFill>
            <a:srgbClr val="CCFFFF"/>
          </a:solidFill>
          <a:ln w="9525" algn="ctr">
            <a:noFill/>
            <a:miter lim="800000"/>
          </a:ln>
        </p:spPr>
        <p:txBody>
          <a:bodyPr>
            <a:spAutoFit/>
          </a:bodyPr>
          <a:lstStyle/>
          <a:p>
            <a:r>
              <a:rPr lang="en-US" altLang="zh-CN" sz="2800" b="1" dirty="0"/>
              <a:t>3</a:t>
            </a:r>
            <a:r>
              <a:rPr lang="zh-CN" altLang="en-US" sz="2800" b="1" dirty="0"/>
              <a:t>、总线的特性。</a:t>
            </a:r>
            <a:endParaRPr lang="zh-CN" altLang="en-US" sz="2800" b="1" dirty="0"/>
          </a:p>
          <a:p>
            <a:r>
              <a:rPr lang="zh-CN" altLang="en-US" sz="2800" dirty="0"/>
              <a:t>    物理特性：指总线的物理连接方式，包括总线的根数，总线的插头、插座的形状，引脚线的排列方式等。</a:t>
            </a:r>
            <a:endParaRPr lang="zh-CN" altLang="en-US" sz="2800" dirty="0"/>
          </a:p>
          <a:p>
            <a:r>
              <a:rPr lang="zh-CN" altLang="en-US" sz="2800" dirty="0"/>
              <a:t>    功能特性：描述总线中每一根线的功能。</a:t>
            </a:r>
            <a:endParaRPr lang="zh-CN" altLang="en-US" sz="2800" dirty="0"/>
          </a:p>
          <a:p>
            <a:r>
              <a:rPr lang="zh-CN" altLang="en-US" sz="2800" dirty="0"/>
              <a:t>    电气特性：定义每一根线上信号的传递方向及有效电平范围。送入</a:t>
            </a:r>
            <a:r>
              <a:rPr lang="en-US" altLang="zh-CN" sz="2800" dirty="0"/>
              <a:t>CPU</a:t>
            </a:r>
            <a:r>
              <a:rPr lang="zh-CN" altLang="en-US" sz="2800" dirty="0"/>
              <a:t>的信号叫输入信号</a:t>
            </a:r>
            <a:r>
              <a:rPr lang="en-US" altLang="zh-CN" sz="2800" dirty="0"/>
              <a:t>(IN)</a:t>
            </a:r>
            <a:r>
              <a:rPr lang="zh-CN" altLang="en-US" sz="2800" dirty="0"/>
              <a:t>，从</a:t>
            </a:r>
            <a:r>
              <a:rPr lang="en-US" altLang="zh-CN" sz="2800" dirty="0"/>
              <a:t>CPU</a:t>
            </a:r>
            <a:r>
              <a:rPr lang="zh-CN" altLang="en-US" sz="2800" dirty="0"/>
              <a:t>发出的信号叫输出信号</a:t>
            </a:r>
            <a:r>
              <a:rPr lang="en-US" altLang="zh-CN" sz="2800" dirty="0"/>
              <a:t>(OUT)</a:t>
            </a:r>
            <a:r>
              <a:rPr lang="zh-CN" altLang="en-US" sz="2800" dirty="0"/>
              <a:t>。</a:t>
            </a:r>
            <a:endParaRPr lang="zh-CN" altLang="en-US" sz="2800" dirty="0"/>
          </a:p>
          <a:p>
            <a:r>
              <a:rPr lang="zh-CN" altLang="en-US" sz="2800" dirty="0"/>
              <a:t>    时间特性</a:t>
            </a:r>
            <a:r>
              <a:rPr lang="en-US" altLang="zh-CN" sz="2800" dirty="0"/>
              <a:t>:</a:t>
            </a:r>
            <a:r>
              <a:rPr lang="zh-CN" altLang="en-US" sz="2800" dirty="0"/>
              <a:t>定义了每根线在什么时间有效。规定了总线上各信号有效的时序关系，</a:t>
            </a:r>
            <a:r>
              <a:rPr lang="en-US" altLang="zh-CN" sz="2800" dirty="0"/>
              <a:t>CPU</a:t>
            </a:r>
            <a:r>
              <a:rPr lang="zh-CN" altLang="en-US" sz="2800" dirty="0"/>
              <a:t>才能正确无误地使用。</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41E0788-C7CC-4F18-BA25-4883F89E4AE7}" type="slidenum">
              <a:rPr lang="en-US" altLang="zh-CN"/>
            </a:fld>
            <a:endParaRPr lang="en-US" altLang="zh-CN"/>
          </a:p>
        </p:txBody>
      </p:sp>
      <p:sp>
        <p:nvSpPr>
          <p:cNvPr id="48131" name="Rectangle 4"/>
          <p:cNvSpPr>
            <a:spLocks noChangeArrowheads="1"/>
          </p:cNvSpPr>
          <p:nvPr/>
        </p:nvSpPr>
        <p:spPr bwMode="auto">
          <a:xfrm>
            <a:off x="179388" y="333375"/>
            <a:ext cx="8713787" cy="4575175"/>
          </a:xfrm>
          <a:prstGeom prst="rect">
            <a:avLst/>
          </a:prstGeom>
          <a:solidFill>
            <a:srgbClr val="CCFFFF"/>
          </a:solidFill>
          <a:ln w="9525" algn="ctr">
            <a:noFill/>
            <a:miter lim="800000"/>
          </a:ln>
        </p:spPr>
        <p:txBody>
          <a:bodyPr>
            <a:spAutoFit/>
          </a:bodyPr>
          <a:lstStyle/>
          <a:p>
            <a:r>
              <a:rPr lang="en-US" altLang="zh-CN" sz="2800" b="1" dirty="0" smtClean="0"/>
              <a:t>   4</a:t>
            </a:r>
            <a:r>
              <a:rPr lang="zh-CN" altLang="en-US" sz="2800" b="1" dirty="0"/>
              <a:t>、单总线、多总线结构的性能特点。</a:t>
            </a:r>
            <a:endParaRPr lang="zh-CN" altLang="en-US" sz="2800" b="1" dirty="0"/>
          </a:p>
          <a:p>
            <a:r>
              <a:rPr lang="zh-CN" altLang="en-US" sz="2800" dirty="0"/>
              <a:t>    </a:t>
            </a:r>
            <a:r>
              <a:rPr lang="zh-CN" altLang="en-US" sz="2800" b="1" dirty="0"/>
              <a:t>单总线结构：</a:t>
            </a:r>
            <a:r>
              <a:rPr lang="zh-CN" altLang="en-US" sz="2800" dirty="0"/>
              <a:t>使用一条单一的总线连接计算机系统的各大功能部件，各大部件之间的所有信息传送都通过这组总线。</a:t>
            </a:r>
            <a:endParaRPr lang="zh-CN" altLang="en-US" sz="2800" dirty="0"/>
          </a:p>
          <a:p>
            <a:r>
              <a:rPr lang="zh-CN" altLang="en-US" sz="2800" dirty="0"/>
              <a:t>    </a:t>
            </a:r>
            <a:r>
              <a:rPr lang="zh-CN" altLang="en-US" sz="2800" b="1" dirty="0"/>
              <a:t>优点：</a:t>
            </a:r>
            <a:r>
              <a:rPr lang="zh-CN" altLang="en-US" sz="2800" dirty="0"/>
              <a:t>允许</a:t>
            </a:r>
            <a:r>
              <a:rPr lang="en-US" altLang="zh-CN" sz="2800" dirty="0"/>
              <a:t>I/O</a:t>
            </a:r>
            <a:r>
              <a:rPr lang="zh-CN" altLang="en-US" sz="2800" dirty="0"/>
              <a:t>设备之间或</a:t>
            </a:r>
            <a:r>
              <a:rPr lang="en-US" altLang="zh-CN" sz="2800" dirty="0"/>
              <a:t>I/O</a:t>
            </a:r>
            <a:r>
              <a:rPr lang="zh-CN" altLang="en-US" sz="2800" dirty="0"/>
              <a:t>设备与内存之间直接交换信息，只需</a:t>
            </a:r>
            <a:r>
              <a:rPr lang="en-US" altLang="zh-CN" sz="2800" dirty="0"/>
              <a:t>CPU</a:t>
            </a:r>
            <a:r>
              <a:rPr lang="zh-CN" altLang="en-US" sz="2800" dirty="0"/>
              <a:t>分配总线使用权，不需要</a:t>
            </a:r>
            <a:r>
              <a:rPr lang="en-US" altLang="zh-CN" sz="2800" dirty="0"/>
              <a:t>CPU</a:t>
            </a:r>
            <a:r>
              <a:rPr lang="zh-CN" altLang="en-US" sz="2800" dirty="0"/>
              <a:t>干预信息的交换。所以总线资源是由各大功能部件分时共享的。</a:t>
            </a:r>
            <a:endParaRPr lang="zh-CN" altLang="en-US" sz="2800" dirty="0"/>
          </a:p>
          <a:p>
            <a:r>
              <a:rPr lang="zh-CN" altLang="en-US" sz="2800" dirty="0"/>
              <a:t>    </a:t>
            </a:r>
            <a:r>
              <a:rPr lang="zh-CN" altLang="en-US" sz="2800" b="1" dirty="0"/>
              <a:t>缺点：</a:t>
            </a:r>
            <a:r>
              <a:rPr lang="zh-CN" altLang="en-US" sz="2800" dirty="0"/>
              <a:t>由于全部系统部件都连接在一组总线上，所以总线的负载很重，可能使其吞吐量达到饱和甚至不能胜任的程度。故多为小型机和微机采用。</a:t>
            </a:r>
            <a:endParaRPr lang="zh-CN" altLang="en-US" sz="2800" dirty="0"/>
          </a:p>
        </p:txBody>
      </p:sp>
      <p:pic>
        <p:nvPicPr>
          <p:cNvPr id="48132" name="Picture 6"/>
          <p:cNvPicPr>
            <a:picLocks noChangeAspect="1" noChangeArrowheads="1"/>
          </p:cNvPicPr>
          <p:nvPr/>
        </p:nvPicPr>
        <p:blipFill>
          <a:blip r:embed="rId1"/>
          <a:srcRect/>
          <a:stretch>
            <a:fillRect/>
          </a:stretch>
        </p:blipFill>
        <p:spPr bwMode="auto">
          <a:xfrm>
            <a:off x="395288" y="5013325"/>
            <a:ext cx="7848600" cy="14922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019B3C07-CAAC-4153-8E76-14180F8563EC}" type="slidenum">
              <a:rPr lang="en-US" altLang="zh-CN"/>
            </a:fld>
            <a:endParaRPr lang="en-US" altLang="zh-CN"/>
          </a:p>
        </p:txBody>
      </p:sp>
      <p:pic>
        <p:nvPicPr>
          <p:cNvPr id="49155" name="Picture 4" descr="6a2"/>
          <p:cNvPicPr>
            <a:picLocks noChangeAspect="1" noChangeArrowheads="1"/>
          </p:cNvPicPr>
          <p:nvPr/>
        </p:nvPicPr>
        <p:blipFill>
          <a:blip r:embed="rId1"/>
          <a:srcRect/>
          <a:stretch>
            <a:fillRect/>
          </a:stretch>
        </p:blipFill>
        <p:spPr bwMode="auto">
          <a:xfrm>
            <a:off x="395288" y="3068638"/>
            <a:ext cx="7416800" cy="3411537"/>
          </a:xfrm>
          <a:prstGeom prst="rect">
            <a:avLst/>
          </a:prstGeom>
          <a:noFill/>
          <a:ln w="9525">
            <a:noFill/>
            <a:miter lim="800000"/>
            <a:headEnd/>
            <a:tailEnd/>
          </a:ln>
        </p:spPr>
      </p:pic>
      <p:sp>
        <p:nvSpPr>
          <p:cNvPr id="49156" name="Rectangle 6"/>
          <p:cNvSpPr>
            <a:spLocks noChangeArrowheads="1"/>
          </p:cNvSpPr>
          <p:nvPr/>
        </p:nvSpPr>
        <p:spPr bwMode="auto">
          <a:xfrm>
            <a:off x="179388" y="333375"/>
            <a:ext cx="8713787" cy="2482850"/>
          </a:xfrm>
          <a:prstGeom prst="rect">
            <a:avLst/>
          </a:prstGeom>
          <a:solidFill>
            <a:srgbClr val="CCFFFF"/>
          </a:solidFill>
          <a:ln w="9525" algn="ctr">
            <a:noFill/>
            <a:miter lim="800000"/>
          </a:ln>
        </p:spPr>
        <p:txBody>
          <a:bodyPr>
            <a:spAutoFit/>
          </a:bodyPr>
          <a:lstStyle/>
          <a:p>
            <a:r>
              <a:rPr lang="en-US" altLang="zh-CN" sz="2800" dirty="0"/>
              <a:t>    </a:t>
            </a:r>
            <a:r>
              <a:rPr lang="zh-CN" altLang="en-US" sz="2800" b="1" dirty="0"/>
              <a:t>多总线结构：</a:t>
            </a:r>
            <a:r>
              <a:rPr lang="zh-CN" altLang="en-US" sz="2800" dirty="0"/>
              <a:t>多总线系统结构是通过桥，</a:t>
            </a:r>
            <a:r>
              <a:rPr lang="en-US" altLang="zh-CN" sz="2800" dirty="0"/>
              <a:t>CPU</a:t>
            </a:r>
            <a:r>
              <a:rPr lang="zh-CN" altLang="en-US" sz="2800" dirty="0"/>
              <a:t>总线，系统总线和高速总线彼此相连，各大部件的信息传送不是通过系统总线。</a:t>
            </a:r>
            <a:endParaRPr lang="zh-CN" altLang="en-US" sz="2800" dirty="0"/>
          </a:p>
          <a:p>
            <a:r>
              <a:rPr lang="zh-CN" altLang="en-US" sz="2800" dirty="0"/>
              <a:t>    多总线系统结构中高速，中速，低速设备连接到不同的总线上，同时进行工作，以提高总线的效率和吞吐量，而且处理器结构的变化不影响高速总线。</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0758740D-5FF7-448D-899A-EE1B611132D0}" type="slidenum">
              <a:rPr lang="en-US" altLang="zh-CN"/>
            </a:fld>
            <a:endParaRPr lang="en-US" altLang="zh-CN"/>
          </a:p>
        </p:txBody>
      </p:sp>
      <p:sp>
        <p:nvSpPr>
          <p:cNvPr id="50179" name="Rectangle 4"/>
          <p:cNvSpPr>
            <a:spLocks noChangeArrowheads="1"/>
          </p:cNvSpPr>
          <p:nvPr/>
        </p:nvSpPr>
        <p:spPr bwMode="auto">
          <a:xfrm>
            <a:off x="323850" y="260350"/>
            <a:ext cx="8424863" cy="476250"/>
          </a:xfrm>
          <a:prstGeom prst="rect">
            <a:avLst/>
          </a:prstGeom>
          <a:solidFill>
            <a:srgbClr val="CCFFFF"/>
          </a:solidFill>
          <a:ln w="9525" algn="ctr">
            <a:noFill/>
            <a:miter lim="800000"/>
          </a:ln>
        </p:spPr>
        <p:txBody>
          <a:bodyPr>
            <a:spAutoFit/>
          </a:bodyPr>
          <a:lstStyle/>
          <a:p>
            <a:r>
              <a:rPr lang="en-US" altLang="zh-CN" sz="2800" b="1" dirty="0"/>
              <a:t>5</a:t>
            </a:r>
            <a:r>
              <a:rPr lang="zh-CN" altLang="en-US" sz="2800" b="1" dirty="0"/>
              <a:t>、说明总线结构对计算机性能的影响。</a:t>
            </a:r>
            <a:endParaRPr lang="zh-CN" altLang="en-US" sz="2000" dirty="0"/>
          </a:p>
        </p:txBody>
      </p:sp>
      <p:sp>
        <p:nvSpPr>
          <p:cNvPr id="50180" name="Rectangle 6"/>
          <p:cNvSpPr>
            <a:spLocks noChangeArrowheads="1"/>
          </p:cNvSpPr>
          <p:nvPr/>
        </p:nvSpPr>
        <p:spPr bwMode="auto">
          <a:xfrm>
            <a:off x="323850" y="769938"/>
            <a:ext cx="8424863" cy="6019800"/>
          </a:xfrm>
          <a:prstGeom prst="rect">
            <a:avLst/>
          </a:prstGeom>
          <a:solidFill>
            <a:srgbClr val="CCFFFF"/>
          </a:solidFill>
          <a:ln w="9525" algn="ctr">
            <a:noFill/>
            <a:miter lim="800000"/>
          </a:ln>
        </p:spPr>
        <p:txBody>
          <a:bodyPr>
            <a:spAutoFit/>
          </a:bodyPr>
          <a:lstStyle/>
          <a:p>
            <a:r>
              <a:rPr lang="en-US" altLang="zh-CN" sz="2800" dirty="0"/>
              <a:t>    </a:t>
            </a:r>
            <a:r>
              <a:rPr lang="en-US" altLang="zh-CN" sz="2400" dirty="0"/>
              <a:t>(1)</a:t>
            </a:r>
            <a:r>
              <a:rPr lang="zh-CN" altLang="en-US" sz="2400" dirty="0"/>
              <a:t>简化了硬件的设计。从硬件的角度看，由总线接口代管了专门的</a:t>
            </a:r>
            <a:r>
              <a:rPr lang="en-US" altLang="zh-CN" sz="2400" dirty="0"/>
              <a:t>I/O</a:t>
            </a:r>
            <a:r>
              <a:rPr lang="zh-CN" altLang="en-US" sz="2400" dirty="0"/>
              <a:t>接口，由总线规范给出了传输线和信号的规定，并对存储器、</a:t>
            </a:r>
            <a:r>
              <a:rPr lang="en-US" altLang="zh-CN" sz="2400" dirty="0"/>
              <a:t>I/O</a:t>
            </a:r>
            <a:r>
              <a:rPr lang="zh-CN" altLang="en-US" sz="2400" dirty="0"/>
              <a:t>设备和</a:t>
            </a:r>
            <a:r>
              <a:rPr lang="en-US" altLang="zh-CN" sz="2400" dirty="0"/>
              <a:t>CPU</a:t>
            </a:r>
            <a:r>
              <a:rPr lang="zh-CN" altLang="en-US" sz="2400" dirty="0"/>
              <a:t>如何挂在总线上都作了具体的规定，所以，对于面向总线的微型计算机设计，只要按照这些规定制作</a:t>
            </a:r>
            <a:r>
              <a:rPr lang="en-US" altLang="zh-CN" sz="2400" dirty="0"/>
              <a:t>CPU</a:t>
            </a:r>
            <a:r>
              <a:rPr lang="zh-CN" altLang="en-US" sz="2400" dirty="0"/>
              <a:t>插件、存储器插件以及</a:t>
            </a:r>
            <a:r>
              <a:rPr lang="en-US" altLang="zh-CN" sz="2400" dirty="0"/>
              <a:t>I/O</a:t>
            </a:r>
            <a:r>
              <a:rPr lang="zh-CN" altLang="en-US" sz="2400" dirty="0"/>
              <a:t>插件等，将它们连入总线即可工作，而不必考虑总线的详细操作。</a:t>
            </a:r>
            <a:endParaRPr lang="zh-CN" altLang="en-US" sz="2400" dirty="0"/>
          </a:p>
          <a:p>
            <a:r>
              <a:rPr lang="zh-CN" altLang="en-US" sz="2400" dirty="0"/>
              <a:t>    </a:t>
            </a:r>
            <a:r>
              <a:rPr lang="en-US" altLang="zh-CN" sz="2400" dirty="0"/>
              <a:t>(2)</a:t>
            </a:r>
            <a:r>
              <a:rPr lang="zh-CN" altLang="en-US" sz="2400" dirty="0"/>
              <a:t>简化了系统结构。整个系统结构清晰，连线少，底板连线可以印刷化。</a:t>
            </a:r>
            <a:endParaRPr lang="zh-CN" altLang="en-US" sz="2400" dirty="0"/>
          </a:p>
          <a:p>
            <a:r>
              <a:rPr lang="zh-CN" altLang="en-US" sz="2400" dirty="0"/>
              <a:t>    </a:t>
            </a:r>
            <a:r>
              <a:rPr lang="en-US" altLang="zh-CN" sz="2400" dirty="0"/>
              <a:t>(3)</a:t>
            </a:r>
            <a:r>
              <a:rPr lang="zh-CN" altLang="en-US" sz="2400" dirty="0"/>
              <a:t>系统扩充性好，一是规模扩充，二是功能扩充。规模扩充仅仅需要多插一些同类型的插件；功能扩充仅仅需要按总线标准设计一些新插件。插件插入机器的位置往往没有严格的限制。这就使系统扩充既简单又快速可靠，而且也便于查错。  </a:t>
            </a:r>
            <a:endParaRPr lang="en-US" altLang="zh-CN" sz="2400" dirty="0"/>
          </a:p>
          <a:p>
            <a:r>
              <a:rPr lang="en-US" altLang="zh-CN" sz="2400" dirty="0"/>
              <a:t>    (4)</a:t>
            </a:r>
            <a:r>
              <a:rPr lang="zh-CN" altLang="en-US" sz="2400" dirty="0"/>
              <a:t>系统更新性能好。因为</a:t>
            </a:r>
            <a:r>
              <a:rPr lang="en-US" altLang="zh-CN" sz="2400" dirty="0"/>
              <a:t>CPU</a:t>
            </a:r>
            <a:r>
              <a:rPr lang="zh-CN" altLang="en-US" sz="2400" dirty="0"/>
              <a:t>、存储器、</a:t>
            </a:r>
            <a:r>
              <a:rPr lang="en-US" altLang="zh-CN" sz="2400" dirty="0"/>
              <a:t>I/O</a:t>
            </a:r>
            <a:r>
              <a:rPr lang="zh-CN" altLang="en-US" sz="2400" dirty="0"/>
              <a:t>接口等都是按总线规约挂到总线上的，因而只要总线设计恰当，可以随时随着处理器芯片以及其他有关芯片的进展设计新的插件，新的插件插到底板上对系统进行更新，而这种更新只需更新需要更新的插件，其他插件和底板连线一般不需更改。</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B884D232-1E45-4064-B029-F622AA8C5B45}" type="slidenum">
              <a:rPr lang="en-US" altLang="zh-CN"/>
            </a:fld>
            <a:endParaRPr lang="en-US" altLang="zh-CN"/>
          </a:p>
        </p:txBody>
      </p:sp>
      <p:sp>
        <p:nvSpPr>
          <p:cNvPr id="51203" name="Rectangle 4"/>
          <p:cNvSpPr>
            <a:spLocks noChangeArrowheads="1"/>
          </p:cNvSpPr>
          <p:nvPr/>
        </p:nvSpPr>
        <p:spPr bwMode="auto">
          <a:xfrm>
            <a:off x="250825" y="333375"/>
            <a:ext cx="8569325" cy="3336925"/>
          </a:xfrm>
          <a:prstGeom prst="rect">
            <a:avLst/>
          </a:prstGeom>
          <a:solidFill>
            <a:srgbClr val="CCFFFF"/>
          </a:solidFill>
          <a:ln w="9525" algn="ctr">
            <a:noFill/>
            <a:miter lim="800000"/>
          </a:ln>
        </p:spPr>
        <p:txBody>
          <a:bodyPr anchor="ctr">
            <a:spAutoFit/>
          </a:bodyPr>
          <a:lstStyle/>
          <a:p>
            <a:pPr>
              <a:tabLst>
                <a:tab pos="400050" algn="l"/>
              </a:tabLst>
            </a:pPr>
            <a:r>
              <a:rPr lang="en-US" altLang="zh-CN" sz="2800" b="1"/>
              <a:t>6.</a:t>
            </a:r>
            <a:r>
              <a:rPr lang="zh-CN" altLang="en-US" sz="2800" b="1"/>
              <a:t>集中式仲裁方式分析。</a:t>
            </a:r>
            <a:endParaRPr lang="zh-CN" altLang="en-US" sz="2800" b="1"/>
          </a:p>
          <a:p>
            <a:pPr>
              <a:tabLst>
                <a:tab pos="400050" algn="l"/>
              </a:tabLst>
            </a:pPr>
            <a:r>
              <a:rPr lang="zh-CN" altLang="en-US" sz="2800"/>
              <a:t>    </a:t>
            </a:r>
            <a:r>
              <a:rPr lang="en-US" altLang="zh-CN" sz="2800"/>
              <a:t>(1) </a:t>
            </a:r>
            <a:r>
              <a:rPr lang="zh-CN" altLang="en-US" sz="2800"/>
              <a:t>链式查询方式</a:t>
            </a:r>
            <a:endParaRPr lang="zh-CN" altLang="en-US" sz="2800"/>
          </a:p>
          <a:p>
            <a:pPr>
              <a:tabLst>
                <a:tab pos="400050" algn="l"/>
              </a:tabLst>
            </a:pPr>
            <a:r>
              <a:rPr lang="zh-CN" altLang="en-US" sz="2800"/>
              <a:t>　　链式查询方式的主要特点：总线授权信号</a:t>
            </a:r>
            <a:r>
              <a:rPr lang="en-US" altLang="zh-CN" sz="2800"/>
              <a:t>BG</a:t>
            </a:r>
            <a:r>
              <a:rPr lang="zh-CN" altLang="en-US" sz="2800"/>
              <a:t>串行地从一个</a:t>
            </a:r>
            <a:r>
              <a:rPr lang="en-US" altLang="zh-CN" sz="2800"/>
              <a:t>I/O</a:t>
            </a:r>
            <a:r>
              <a:rPr lang="zh-CN" altLang="en-US" sz="2800"/>
              <a:t>接口传送到下一个</a:t>
            </a:r>
            <a:r>
              <a:rPr lang="en-US" altLang="zh-CN" sz="2800"/>
              <a:t>I/O</a:t>
            </a:r>
            <a:r>
              <a:rPr lang="zh-CN" altLang="en-US" sz="2800"/>
              <a:t>接口。假如</a:t>
            </a:r>
            <a:r>
              <a:rPr lang="en-US" altLang="zh-CN" sz="2800"/>
              <a:t>BG</a:t>
            </a:r>
            <a:r>
              <a:rPr lang="zh-CN" altLang="en-US" sz="2800"/>
              <a:t>到达的接口无总线请求，则继续往下查询；假如</a:t>
            </a:r>
            <a:r>
              <a:rPr lang="en-US" altLang="zh-CN" sz="2800"/>
              <a:t>BG</a:t>
            </a:r>
            <a:r>
              <a:rPr lang="zh-CN" altLang="en-US" sz="2800"/>
              <a:t>到达的接口有总线请求，</a:t>
            </a:r>
            <a:r>
              <a:rPr lang="en-US" altLang="zh-CN" sz="2800"/>
              <a:t>BG</a:t>
            </a:r>
            <a:r>
              <a:rPr lang="zh-CN" altLang="en-US" sz="2800"/>
              <a:t>信号便不再往下查询，该</a:t>
            </a:r>
            <a:r>
              <a:rPr lang="en-US" altLang="zh-CN" sz="2800"/>
              <a:t>I/O</a:t>
            </a:r>
            <a:r>
              <a:rPr lang="zh-CN" altLang="en-US" sz="2800"/>
              <a:t>接口获得了总线控制权。离中央仲裁器最近的设备具有最高优先级，通过接口的优先级排队电路来实现。</a:t>
            </a:r>
            <a:endParaRPr lang="zh-CN" altLang="en-US" sz="2800">
              <a:latin typeface="Arial" panose="020B0604020202020204" pitchFamily="34" charset="0"/>
            </a:endParaRPr>
          </a:p>
        </p:txBody>
      </p:sp>
      <p:pic>
        <p:nvPicPr>
          <p:cNvPr id="51204" name="Picture 5"/>
          <p:cNvPicPr>
            <a:picLocks noChangeAspect="1" noChangeArrowheads="1"/>
          </p:cNvPicPr>
          <p:nvPr/>
        </p:nvPicPr>
        <p:blipFill>
          <a:blip r:embed="rId1"/>
          <a:srcRect/>
          <a:stretch>
            <a:fillRect/>
          </a:stretch>
        </p:blipFill>
        <p:spPr bwMode="auto">
          <a:xfrm>
            <a:off x="323850" y="3789363"/>
            <a:ext cx="8353425" cy="2735262"/>
          </a:xfrm>
          <a:prstGeom prst="rect">
            <a:avLst/>
          </a:prstGeom>
          <a:noFill/>
          <a:ln w="9525">
            <a:noFill/>
            <a:miter lim="800000"/>
            <a:headEnd/>
            <a:tailEnd/>
          </a:ln>
        </p:spPr>
      </p:pic>
      <p:sp>
        <p:nvSpPr>
          <p:cNvPr id="74758" name="Rectangle 6"/>
          <p:cNvSpPr>
            <a:spLocks noChangeArrowheads="1"/>
          </p:cNvSpPr>
          <p:nvPr/>
        </p:nvSpPr>
        <p:spPr bwMode="auto">
          <a:xfrm>
            <a:off x="228600" y="838200"/>
            <a:ext cx="8569325" cy="2867025"/>
          </a:xfrm>
          <a:prstGeom prst="rect">
            <a:avLst/>
          </a:prstGeom>
          <a:solidFill>
            <a:srgbClr val="CCFFFF"/>
          </a:solidFill>
          <a:ln w="9525" algn="ctr">
            <a:noFill/>
            <a:miter lim="800000"/>
          </a:ln>
        </p:spPr>
        <p:txBody>
          <a:bodyPr anchor="ctr">
            <a:spAutoFit/>
          </a:bodyPr>
          <a:lstStyle/>
          <a:p>
            <a:pPr>
              <a:tabLst>
                <a:tab pos="400050" algn="l"/>
              </a:tabLst>
            </a:pPr>
            <a:r>
              <a:rPr lang="zh-CN" altLang="en-US" sz="2800" dirty="0"/>
              <a:t>　　链式查询方式的优点</a:t>
            </a:r>
            <a:r>
              <a:rPr lang="en-US" altLang="zh-CN" sz="2800" dirty="0"/>
              <a:t>: </a:t>
            </a:r>
            <a:r>
              <a:rPr lang="zh-CN" altLang="en-US" sz="2800" dirty="0"/>
              <a:t>只用很少几根线就能按一定优先次序实现总线仲裁，很容易扩充设备。</a:t>
            </a:r>
            <a:endParaRPr lang="zh-CN" altLang="en-US" sz="2800" dirty="0"/>
          </a:p>
          <a:p>
            <a:pPr>
              <a:tabLst>
                <a:tab pos="400050" algn="l"/>
              </a:tabLst>
            </a:pPr>
            <a:r>
              <a:rPr lang="zh-CN" altLang="en-US" sz="2800" dirty="0"/>
              <a:t>    链式查询方式的缺点</a:t>
            </a:r>
            <a:r>
              <a:rPr lang="en-US" altLang="zh-CN" sz="2800" dirty="0"/>
              <a:t>: </a:t>
            </a:r>
            <a:r>
              <a:rPr lang="zh-CN" altLang="en-US" sz="2800" dirty="0"/>
              <a:t>对询问链的电路故障很敏感，如果第</a:t>
            </a:r>
            <a:r>
              <a:rPr lang="en-US" altLang="zh-CN" sz="2800" dirty="0" err="1"/>
              <a:t>i</a:t>
            </a:r>
            <a:r>
              <a:rPr lang="zh-CN" altLang="en-US" sz="2800" dirty="0"/>
              <a:t>个设备的接口中有关链的电路有故障，那么第</a:t>
            </a:r>
            <a:r>
              <a:rPr lang="en-US" altLang="zh-CN" sz="2800" dirty="0" err="1"/>
              <a:t>i</a:t>
            </a:r>
            <a:r>
              <a:rPr lang="zh-CN" altLang="en-US" sz="2800" dirty="0"/>
              <a:t>个以后的设备都不能进行工作。查询链的优先级是固定的，如果优先级高的设备出现频繁的请求时，优先级较低的设备可能长期不能使用总线。</a:t>
            </a:r>
            <a:endParaRPr lang="zh-CN" altLang="en-US" sz="2800" dirty="0">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4758"/>
                                        </p:tgtEl>
                                        <p:attrNameLst>
                                          <p:attrName>style.visibility</p:attrName>
                                        </p:attrNameLst>
                                      </p:cBhvr>
                                      <p:to>
                                        <p:strVal val="visible"/>
                                      </p:to>
                                    </p:set>
                                    <p:animEffect transition="in" filter="dissolve">
                                      <p:cBhvr>
                                        <p:cTn id="7"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34614432-BC5C-4243-ADBA-1B964BA37058}" type="slidenum">
              <a:rPr lang="en-US" altLang="zh-CN"/>
            </a:fld>
            <a:endParaRPr lang="en-US" altLang="zh-CN"/>
          </a:p>
        </p:txBody>
      </p:sp>
      <p:sp>
        <p:nvSpPr>
          <p:cNvPr id="52227" name="Rectangle 4"/>
          <p:cNvSpPr>
            <a:spLocks noChangeArrowheads="1"/>
          </p:cNvSpPr>
          <p:nvPr/>
        </p:nvSpPr>
        <p:spPr bwMode="auto">
          <a:xfrm>
            <a:off x="323850" y="260350"/>
            <a:ext cx="8280400" cy="3251200"/>
          </a:xfrm>
          <a:prstGeom prst="rect">
            <a:avLst/>
          </a:prstGeom>
          <a:solidFill>
            <a:srgbClr val="CCFFFF"/>
          </a:solidFill>
          <a:ln w="9525" algn="ctr">
            <a:noFill/>
            <a:miter lim="800000"/>
          </a:ln>
        </p:spPr>
        <p:txBody>
          <a:bodyPr>
            <a:spAutoFit/>
          </a:bodyPr>
          <a:lstStyle/>
          <a:p>
            <a:r>
              <a:rPr lang="en-US" altLang="zh-CN" sz="2800" dirty="0"/>
              <a:t>(2)</a:t>
            </a:r>
            <a:r>
              <a:rPr lang="zh-CN" altLang="en-US" sz="2800" dirty="0"/>
              <a:t>计数器定时查询方式</a:t>
            </a:r>
            <a:endParaRPr lang="zh-CN" altLang="en-US" sz="2800" dirty="0"/>
          </a:p>
          <a:p>
            <a:r>
              <a:rPr lang="zh-CN" altLang="en-US" sz="2800" dirty="0"/>
              <a:t>　　总线上的任一设备要求使用总线时，通过</a:t>
            </a:r>
            <a:r>
              <a:rPr lang="en-US" altLang="zh-CN" sz="2800" dirty="0"/>
              <a:t>BR</a:t>
            </a:r>
            <a:r>
              <a:rPr lang="zh-CN" altLang="en-US" sz="2800" dirty="0"/>
              <a:t>线发出总线请求。中央仲裁器接到请求信号以后，在</a:t>
            </a:r>
            <a:r>
              <a:rPr lang="en-US" altLang="zh-CN" sz="2800" dirty="0"/>
              <a:t>BS</a:t>
            </a:r>
            <a:r>
              <a:rPr lang="zh-CN" altLang="en-US" sz="2800" dirty="0"/>
              <a:t>线为“</a:t>
            </a:r>
            <a:r>
              <a:rPr lang="en-US" altLang="zh-CN" sz="2800" dirty="0"/>
              <a:t>0”</a:t>
            </a:r>
            <a:r>
              <a:rPr lang="zh-CN" altLang="en-US" sz="2800" dirty="0"/>
              <a:t>的情况下让计数器开始计数，计数值通过一组地址线发向各设备。每个设备接口都有一个设备地址判别电路，当地址线上的计数值与请求总线的设备地址相一致时，该设备 置“</a:t>
            </a:r>
            <a:r>
              <a:rPr lang="en-US" altLang="zh-CN" sz="2800" dirty="0"/>
              <a:t>1”BS</a:t>
            </a:r>
            <a:r>
              <a:rPr lang="zh-CN" altLang="en-US" sz="2800" dirty="0"/>
              <a:t>线，获得了总线使用权，此时中止计数查询。</a:t>
            </a:r>
            <a:endParaRPr lang="zh-CN" altLang="en-US" sz="2800" dirty="0"/>
          </a:p>
        </p:txBody>
      </p:sp>
      <p:sp>
        <p:nvSpPr>
          <p:cNvPr id="89093" name="Rectangle 5"/>
          <p:cNvSpPr>
            <a:spLocks noChangeArrowheads="1"/>
          </p:cNvSpPr>
          <p:nvPr/>
        </p:nvSpPr>
        <p:spPr bwMode="auto">
          <a:xfrm>
            <a:off x="323850" y="765175"/>
            <a:ext cx="8280400" cy="2867025"/>
          </a:xfrm>
          <a:prstGeom prst="rect">
            <a:avLst/>
          </a:prstGeom>
          <a:solidFill>
            <a:srgbClr val="CCFFFF"/>
          </a:solidFill>
          <a:ln w="9525" algn="ctr">
            <a:noFill/>
            <a:miter lim="800000"/>
          </a:ln>
        </p:spPr>
        <p:txBody>
          <a:bodyPr>
            <a:spAutoFit/>
          </a:bodyPr>
          <a:lstStyle/>
          <a:p>
            <a:r>
              <a:rPr lang="zh-CN" altLang="en-US" sz="2800" dirty="0"/>
              <a:t>　  每次计数可以从“</a:t>
            </a:r>
            <a:r>
              <a:rPr lang="en-US" altLang="zh-CN" sz="2800" dirty="0"/>
              <a:t>0”</a:t>
            </a:r>
            <a:r>
              <a:rPr lang="zh-CN" altLang="en-US" sz="2800" dirty="0"/>
              <a:t>开始，也可以从中止点开始。如果从“</a:t>
            </a:r>
            <a:r>
              <a:rPr lang="en-US" altLang="zh-CN" sz="2800" dirty="0"/>
              <a:t>0”</a:t>
            </a:r>
            <a:r>
              <a:rPr lang="zh-CN" altLang="en-US" sz="2800" dirty="0"/>
              <a:t>开始，各设备的优先次序与链式查询法相同，优先级的顺序是固定的。如果从中止点开始，则每个设备使用总线的优先级相等。</a:t>
            </a:r>
            <a:endParaRPr lang="zh-CN" altLang="en-US" sz="2800" dirty="0"/>
          </a:p>
          <a:p>
            <a:r>
              <a:rPr lang="zh-CN" altLang="en-US" sz="2800" dirty="0"/>
              <a:t>　　计数器的初值也可用程序来设置，这可以方便地改变优先次序，但这种灵活性是以增加线数为代价的。</a:t>
            </a:r>
            <a:endParaRPr lang="zh-CN" altLang="en-US" sz="2800" dirty="0"/>
          </a:p>
        </p:txBody>
      </p:sp>
      <p:pic>
        <p:nvPicPr>
          <p:cNvPr id="52229" name="Picture 6"/>
          <p:cNvPicPr>
            <a:picLocks noChangeAspect="1" noChangeArrowheads="1"/>
          </p:cNvPicPr>
          <p:nvPr/>
        </p:nvPicPr>
        <p:blipFill>
          <a:blip r:embed="rId1"/>
          <a:srcRect/>
          <a:stretch>
            <a:fillRect/>
          </a:stretch>
        </p:blipFill>
        <p:spPr bwMode="auto">
          <a:xfrm>
            <a:off x="395288" y="3789363"/>
            <a:ext cx="8280400" cy="2808287"/>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9093"/>
                                        </p:tgtEl>
                                        <p:attrNameLst>
                                          <p:attrName>style.visibility</p:attrName>
                                        </p:attrNameLst>
                                      </p:cBhvr>
                                      <p:to>
                                        <p:strVal val="visible"/>
                                      </p:to>
                                    </p:set>
                                    <p:animEffect transition="in" filter="dissolve">
                                      <p:cBhvr>
                                        <p:cTn id="7" dur="500"/>
                                        <p:tgtEl>
                                          <p:spTgt spid="89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EB742E7-EDFB-4BA6-9BE8-8483CE93B573}" type="slidenum">
              <a:rPr lang="en-US" altLang="zh-CN"/>
            </a:fld>
            <a:endParaRPr lang="en-US" altLang="zh-CN"/>
          </a:p>
        </p:txBody>
      </p:sp>
      <p:sp>
        <p:nvSpPr>
          <p:cNvPr id="53251" name="Rectangle 4"/>
          <p:cNvSpPr>
            <a:spLocks noChangeArrowheads="1"/>
          </p:cNvSpPr>
          <p:nvPr/>
        </p:nvSpPr>
        <p:spPr bwMode="auto">
          <a:xfrm>
            <a:off x="250825" y="333375"/>
            <a:ext cx="8642350" cy="2098675"/>
          </a:xfrm>
          <a:prstGeom prst="rect">
            <a:avLst/>
          </a:prstGeom>
          <a:solidFill>
            <a:srgbClr val="CCFFFF"/>
          </a:solidFill>
          <a:ln w="9525" algn="ctr">
            <a:noFill/>
            <a:miter lim="800000"/>
          </a:ln>
        </p:spPr>
        <p:txBody>
          <a:bodyPr anchor="ctr">
            <a:spAutoFit/>
          </a:bodyPr>
          <a:lstStyle/>
          <a:p>
            <a:pPr>
              <a:tabLst>
                <a:tab pos="400050" algn="l"/>
              </a:tabLst>
            </a:pPr>
            <a:r>
              <a:rPr lang="en-US" altLang="zh-CN" sz="2200"/>
              <a:t>    </a:t>
            </a:r>
            <a:r>
              <a:rPr lang="en-US" altLang="zh-CN" sz="2800"/>
              <a:t>(3)</a:t>
            </a:r>
            <a:r>
              <a:rPr lang="zh-CN" altLang="en-US" sz="2800"/>
              <a:t>独立请求方式</a:t>
            </a:r>
            <a:endParaRPr lang="zh-CN" altLang="en-US" sz="2800"/>
          </a:p>
          <a:p>
            <a:pPr>
              <a:tabLst>
                <a:tab pos="400050" algn="l"/>
              </a:tabLst>
            </a:pPr>
            <a:r>
              <a:rPr lang="zh-CN" altLang="en-US" sz="2800"/>
              <a:t>　　每一个共享总线的设备均有一对总线请求线</a:t>
            </a:r>
            <a:r>
              <a:rPr lang="en-US" altLang="zh-CN" sz="2800"/>
              <a:t>BRi</a:t>
            </a:r>
            <a:r>
              <a:rPr lang="zh-CN" altLang="en-US" sz="2800"/>
              <a:t>和总线授权线</a:t>
            </a:r>
            <a:r>
              <a:rPr lang="en-US" altLang="zh-CN" sz="2800"/>
              <a:t>BGi</a:t>
            </a:r>
            <a:r>
              <a:rPr lang="zh-CN" altLang="en-US" sz="2800"/>
              <a:t>。当设备要求使用总线时，便发出该设备的请求信号。中央仲裁器中的排队电路决定首先响应哪个设备的请求，给设备以授权信号</a:t>
            </a:r>
            <a:r>
              <a:rPr lang="en-US" altLang="zh-CN" sz="2800"/>
              <a:t>BGi</a:t>
            </a:r>
            <a:r>
              <a:rPr lang="zh-CN" altLang="en-US" sz="2800"/>
              <a:t>。</a:t>
            </a:r>
            <a:endParaRPr lang="zh-CN" altLang="en-US" sz="2800"/>
          </a:p>
        </p:txBody>
      </p:sp>
      <p:pic>
        <p:nvPicPr>
          <p:cNvPr id="53252" name="Picture 5"/>
          <p:cNvPicPr>
            <a:picLocks noChangeAspect="1" noChangeArrowheads="1"/>
          </p:cNvPicPr>
          <p:nvPr/>
        </p:nvPicPr>
        <p:blipFill>
          <a:blip r:embed="rId1"/>
          <a:srcRect/>
          <a:stretch>
            <a:fillRect/>
          </a:stretch>
        </p:blipFill>
        <p:spPr bwMode="auto">
          <a:xfrm>
            <a:off x="323850" y="2924175"/>
            <a:ext cx="8497888" cy="3313113"/>
          </a:xfrm>
          <a:prstGeom prst="rect">
            <a:avLst/>
          </a:prstGeom>
          <a:noFill/>
          <a:ln w="9525">
            <a:noFill/>
            <a:miter lim="800000"/>
            <a:headEnd/>
            <a:tailEnd/>
          </a:ln>
        </p:spPr>
      </p:pic>
      <p:sp>
        <p:nvSpPr>
          <p:cNvPr id="79878" name="Rectangle 6"/>
          <p:cNvSpPr>
            <a:spLocks noChangeArrowheads="1"/>
          </p:cNvSpPr>
          <p:nvPr/>
        </p:nvSpPr>
        <p:spPr bwMode="auto">
          <a:xfrm>
            <a:off x="250825" y="260350"/>
            <a:ext cx="8642350" cy="2397125"/>
          </a:xfrm>
          <a:prstGeom prst="rect">
            <a:avLst/>
          </a:prstGeom>
          <a:solidFill>
            <a:srgbClr val="CCFFFF"/>
          </a:solidFill>
          <a:ln w="9525" algn="ctr">
            <a:noFill/>
            <a:miter lim="800000"/>
          </a:ln>
        </p:spPr>
        <p:txBody>
          <a:bodyPr anchor="ctr">
            <a:spAutoFit/>
          </a:bodyPr>
          <a:lstStyle/>
          <a:p>
            <a:pPr>
              <a:tabLst>
                <a:tab pos="400050" algn="l"/>
              </a:tabLst>
            </a:pPr>
            <a:r>
              <a:rPr lang="zh-CN" altLang="en-US" sz="2800" dirty="0"/>
              <a:t>　　独立请求方式的优点：响应时间快，确定优先响应的设备所花费的时间少，用不着一个设备接一个设备地查询。其次，对优先次序的控制相当灵活，可以预先固定也可以通过程序来改变优先次序；还可以用屏蔽</a:t>
            </a:r>
            <a:r>
              <a:rPr lang="en-US" altLang="zh-CN" sz="2800" dirty="0"/>
              <a:t>(</a:t>
            </a:r>
            <a:r>
              <a:rPr lang="zh-CN" altLang="en-US" sz="2800" dirty="0"/>
              <a:t>禁止</a:t>
            </a:r>
            <a:r>
              <a:rPr lang="en-US" altLang="zh-CN" sz="2800" dirty="0"/>
              <a:t>)</a:t>
            </a:r>
            <a:r>
              <a:rPr lang="zh-CN" altLang="en-US" sz="2800" dirty="0"/>
              <a:t>某个请求的办法，不响应来自无效设备的请求。</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dissolve">
                                      <p:cBhvr>
                                        <p:cTn id="7" dur="500"/>
                                        <p:tgtEl>
                                          <p:spTgt spid="79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214AB02-729F-412E-AC5C-F1C330F73CF6}" type="slidenum">
              <a:rPr lang="en-US" altLang="zh-CN"/>
            </a:fld>
            <a:endParaRPr lang="en-US" altLang="zh-CN"/>
          </a:p>
        </p:txBody>
      </p:sp>
      <p:sp>
        <p:nvSpPr>
          <p:cNvPr id="54275" name="Rectangle 4"/>
          <p:cNvSpPr>
            <a:spLocks noChangeArrowheads="1"/>
          </p:cNvSpPr>
          <p:nvPr/>
        </p:nvSpPr>
        <p:spPr bwMode="auto">
          <a:xfrm>
            <a:off x="395288" y="260350"/>
            <a:ext cx="8281987" cy="1330325"/>
          </a:xfrm>
          <a:prstGeom prst="rect">
            <a:avLst/>
          </a:prstGeom>
          <a:solidFill>
            <a:srgbClr val="CCFFFF"/>
          </a:solidFill>
          <a:ln w="9525" algn="ctr">
            <a:noFill/>
            <a:miter lim="800000"/>
          </a:ln>
        </p:spPr>
        <p:txBody>
          <a:bodyPr anchor="ctr">
            <a:spAutoFit/>
          </a:bodyPr>
          <a:lstStyle/>
          <a:p>
            <a:pPr>
              <a:tabLst>
                <a:tab pos="400050" algn="l"/>
              </a:tabLst>
            </a:pPr>
            <a:r>
              <a:rPr lang="en-US" altLang="zh-CN" sz="2800" b="1" dirty="0"/>
              <a:t>7.</a:t>
            </a:r>
            <a:r>
              <a:rPr lang="zh-CN" altLang="en-US" sz="2800" b="1" dirty="0"/>
              <a:t>总线的定时方式分析。</a:t>
            </a:r>
            <a:endParaRPr lang="zh-CN" altLang="en-US" sz="2800" b="1" dirty="0"/>
          </a:p>
          <a:p>
            <a:pPr>
              <a:tabLst>
                <a:tab pos="400050" algn="l"/>
              </a:tabLst>
            </a:pPr>
            <a:r>
              <a:rPr lang="zh-CN" altLang="en-US" sz="2800" dirty="0"/>
              <a:t>    总线的定时方式分为同步定时和异步定时方式两种方式。    </a:t>
            </a:r>
            <a:endParaRPr lang="zh-CN" altLang="en-US" sz="2800" dirty="0"/>
          </a:p>
        </p:txBody>
      </p:sp>
      <p:sp>
        <p:nvSpPr>
          <p:cNvPr id="80902" name="Rectangle 6"/>
          <p:cNvSpPr>
            <a:spLocks noChangeArrowheads="1"/>
          </p:cNvSpPr>
          <p:nvPr/>
        </p:nvSpPr>
        <p:spPr bwMode="auto">
          <a:xfrm>
            <a:off x="426338" y="1725624"/>
            <a:ext cx="8281987" cy="2160591"/>
          </a:xfrm>
          <a:prstGeom prst="rect">
            <a:avLst/>
          </a:prstGeom>
          <a:solidFill>
            <a:srgbClr val="CCFFFF"/>
          </a:solidFill>
          <a:ln w="9525" algn="ctr">
            <a:noFill/>
            <a:miter lim="800000"/>
          </a:ln>
        </p:spPr>
        <p:txBody>
          <a:bodyPr anchor="ctr">
            <a:spAutoFit/>
          </a:bodyPr>
          <a:lstStyle/>
          <a:p>
            <a:pPr>
              <a:tabLst>
                <a:tab pos="400050" algn="l"/>
              </a:tabLst>
            </a:pPr>
            <a:r>
              <a:rPr lang="zh-CN" altLang="en-US" sz="2400" b="1" dirty="0"/>
              <a:t>同步定时</a:t>
            </a:r>
            <a:endParaRPr lang="zh-CN" altLang="en-US" sz="2400" b="1" dirty="0"/>
          </a:p>
          <a:p>
            <a:pPr>
              <a:tabLst>
                <a:tab pos="400050" algn="l"/>
              </a:tabLst>
            </a:pPr>
            <a:r>
              <a:rPr lang="zh-CN" altLang="en-US" sz="2400" dirty="0"/>
              <a:t>    在同步定时协议中，事件出现在总线上的时刻由总线时钟信号来确定。由于采用了公共时钟，每个功能模块什么时候发送或接收信息都由统一时钟规定，因此，同步定时具有较高的传输频率。同步定时适用于总线长度较短、各功能模块存取时间比较接近的情况。 </a:t>
            </a:r>
            <a:endParaRPr lang="zh-CN" altLang="en-US" sz="2400" dirty="0"/>
          </a:p>
        </p:txBody>
      </p:sp>
      <p:pic>
        <p:nvPicPr>
          <p:cNvPr id="6" name="Picture 4" descr="6a12">
            <a:hlinkClick r:id="rId1" action="ppaction://hlinkfile"/>
          </p:cNvPr>
          <p:cNvPicPr>
            <a:picLocks noChangeAspect="1" noChangeArrowheads="1"/>
          </p:cNvPicPr>
          <p:nvPr/>
        </p:nvPicPr>
        <p:blipFill>
          <a:blip r:embed="rId2"/>
          <a:srcRect/>
          <a:stretch>
            <a:fillRect/>
          </a:stretch>
        </p:blipFill>
        <p:spPr bwMode="auto">
          <a:xfrm>
            <a:off x="899592" y="4005064"/>
            <a:ext cx="7416800" cy="2679288"/>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0902"/>
                                        </p:tgtEl>
                                        <p:attrNameLst>
                                          <p:attrName>style.visibility</p:attrName>
                                        </p:attrNameLst>
                                      </p:cBhvr>
                                      <p:to>
                                        <p:strVal val="visible"/>
                                      </p:to>
                                    </p:set>
                                    <p:animEffect transition="in" filter="dissolve">
                                      <p:cBhvr>
                                        <p:cTn id="7" dur="500"/>
                                        <p:tgtEl>
                                          <p:spTgt spid="80902"/>
                                        </p:tgtEl>
                                      </p:cBhvr>
                                    </p:animEffect>
                                  </p:childTnLst>
                                  <p:subTnLst>
                                    <p:set>
                                      <p:cBhvr override="childStyle">
                                        <p:cTn dur="1" fill="hold" display="0" masterRel="nextClick" afterEffect="1"/>
                                        <p:tgtEl>
                                          <p:spTgt spid="8090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214AB02-729F-412E-AC5C-F1C330F73CF6}" type="slidenum">
              <a:rPr lang="en-US" altLang="zh-CN"/>
            </a:fld>
            <a:endParaRPr lang="en-US" altLang="zh-CN"/>
          </a:p>
        </p:txBody>
      </p:sp>
      <p:pic>
        <p:nvPicPr>
          <p:cNvPr id="6" name="Picture 4" descr="6a13">
            <a:hlinkClick r:id="rId1" action="ppaction://hlinkfile"/>
          </p:cNvPr>
          <p:cNvPicPr>
            <a:picLocks noChangeAspect="1" noChangeArrowheads="1"/>
          </p:cNvPicPr>
          <p:nvPr/>
        </p:nvPicPr>
        <p:blipFill>
          <a:blip r:embed="rId2"/>
          <a:srcRect/>
          <a:stretch>
            <a:fillRect/>
          </a:stretch>
        </p:blipFill>
        <p:spPr bwMode="auto">
          <a:xfrm>
            <a:off x="323850" y="188913"/>
            <a:ext cx="7561263" cy="3672135"/>
          </a:xfrm>
          <a:prstGeom prst="rect">
            <a:avLst/>
          </a:prstGeom>
          <a:noFill/>
          <a:ln w="9525">
            <a:noFill/>
            <a:miter lim="800000"/>
            <a:headEnd/>
            <a:tailEnd/>
          </a:ln>
        </p:spPr>
      </p:pic>
      <p:sp>
        <p:nvSpPr>
          <p:cNvPr id="8" name="Rectangle 5"/>
          <p:cNvSpPr>
            <a:spLocks noChangeArrowheads="1"/>
          </p:cNvSpPr>
          <p:nvPr/>
        </p:nvSpPr>
        <p:spPr bwMode="auto">
          <a:xfrm>
            <a:off x="323850" y="3875574"/>
            <a:ext cx="8280400" cy="2825389"/>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tabLst>
                <a:tab pos="400050" algn="l"/>
              </a:tabLst>
              <a:defRPr>
                <a:solidFill>
                  <a:schemeClr val="tx1"/>
                </a:solidFill>
                <a:latin typeface="宋体" panose="02010600030101010101" pitchFamily="2" charset="-122"/>
                <a:ea typeface="宋体" panose="02010600030101010101" pitchFamily="2" charset="-122"/>
              </a:defRPr>
            </a:lvl1pPr>
            <a:lvl2pPr marL="742950" indent="-285750" eaLnBrk="0" hangingPunct="0">
              <a:tabLst>
                <a:tab pos="400050" algn="l"/>
              </a:tabLst>
              <a:defRPr>
                <a:solidFill>
                  <a:schemeClr val="tx1"/>
                </a:solidFill>
                <a:latin typeface="宋体" panose="02010600030101010101" pitchFamily="2" charset="-122"/>
                <a:ea typeface="宋体" panose="02010600030101010101" pitchFamily="2" charset="-122"/>
              </a:defRPr>
            </a:lvl2pPr>
            <a:lvl3pPr marL="1143000" indent="-228600" eaLnBrk="0" hangingPunct="0">
              <a:tabLst>
                <a:tab pos="400050" algn="l"/>
              </a:tabLst>
              <a:defRPr>
                <a:solidFill>
                  <a:schemeClr val="tx1"/>
                </a:solidFill>
                <a:latin typeface="宋体" panose="02010600030101010101" pitchFamily="2" charset="-122"/>
                <a:ea typeface="宋体" panose="02010600030101010101" pitchFamily="2" charset="-122"/>
              </a:defRPr>
            </a:lvl3pPr>
            <a:lvl4pPr marL="1600200" indent="-228600" eaLnBrk="0" hangingPunct="0">
              <a:tabLst>
                <a:tab pos="400050" algn="l"/>
              </a:tabLst>
              <a:defRPr>
                <a:solidFill>
                  <a:schemeClr val="tx1"/>
                </a:solidFill>
                <a:latin typeface="宋体" panose="02010600030101010101" pitchFamily="2" charset="-122"/>
                <a:ea typeface="宋体" panose="02010600030101010101" pitchFamily="2" charset="-122"/>
              </a:defRPr>
            </a:lvl4pPr>
            <a:lvl5pPr marL="2057400" indent="-228600" eaLnBrk="0" hangingPunct="0">
              <a:tabLst>
                <a:tab pos="400050" algn="l"/>
              </a:tabLst>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lnSpc>
                <a:spcPct val="90000"/>
              </a:lnSpc>
              <a:spcBef>
                <a:spcPct val="20000"/>
              </a:spcBef>
              <a:spcAft>
                <a:spcPct val="0"/>
              </a:spcAft>
              <a:buClr>
                <a:schemeClr val="bg1"/>
              </a:buClr>
              <a:buSzPct val="70000"/>
              <a:buFont typeface="Wingdings" panose="05000000000000000000" pitchFamily="2" charset="2"/>
              <a:tabLst>
                <a:tab pos="400050" algn="l"/>
              </a:tabLst>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lnSpc>
                <a:spcPct val="90000"/>
              </a:lnSpc>
              <a:spcBef>
                <a:spcPct val="20000"/>
              </a:spcBef>
              <a:spcAft>
                <a:spcPct val="0"/>
              </a:spcAft>
              <a:buClr>
                <a:schemeClr val="bg1"/>
              </a:buClr>
              <a:buSzPct val="70000"/>
              <a:buFont typeface="Wingdings" panose="05000000000000000000" pitchFamily="2" charset="2"/>
              <a:tabLst>
                <a:tab pos="400050" algn="l"/>
              </a:tabLst>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lnSpc>
                <a:spcPct val="90000"/>
              </a:lnSpc>
              <a:spcBef>
                <a:spcPct val="20000"/>
              </a:spcBef>
              <a:spcAft>
                <a:spcPct val="0"/>
              </a:spcAft>
              <a:buClr>
                <a:schemeClr val="bg1"/>
              </a:buClr>
              <a:buSzPct val="70000"/>
              <a:buFont typeface="Wingdings" panose="05000000000000000000" pitchFamily="2" charset="2"/>
              <a:tabLst>
                <a:tab pos="400050" algn="l"/>
              </a:tabLst>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lnSpc>
                <a:spcPct val="90000"/>
              </a:lnSpc>
              <a:spcBef>
                <a:spcPct val="20000"/>
              </a:spcBef>
              <a:spcAft>
                <a:spcPct val="0"/>
              </a:spcAft>
              <a:buClr>
                <a:schemeClr val="bg1"/>
              </a:buClr>
              <a:buSzPct val="70000"/>
              <a:buFont typeface="Wingdings" panose="05000000000000000000" pitchFamily="2" charset="2"/>
              <a:tabLst>
                <a:tab pos="400050" algn="l"/>
              </a:tabLst>
              <a:defRPr>
                <a:solidFill>
                  <a:schemeClr val="tx1"/>
                </a:solidFill>
                <a:latin typeface="宋体" panose="02010600030101010101" pitchFamily="2" charset="-122"/>
                <a:ea typeface="宋体" panose="02010600030101010101" pitchFamily="2" charset="-122"/>
              </a:defRPr>
            </a:lvl9pPr>
          </a:lstStyle>
          <a:p>
            <a:pPr eaLnBrk="1" hangingPunct="1"/>
            <a:r>
              <a:rPr lang="zh-CN" altLang="en-US" sz="2400" b="1" dirty="0"/>
              <a:t>异步定时</a:t>
            </a:r>
            <a:endParaRPr lang="zh-CN" altLang="en-US" sz="2400" b="1" dirty="0"/>
          </a:p>
          <a:p>
            <a:pPr eaLnBrk="1" hangingPunct="1"/>
            <a:r>
              <a:rPr lang="zh-CN" altLang="en-US" sz="2400" dirty="0"/>
              <a:t>　　在异步定时协议中，后一事件出现在总线上的时刻取决于前一事件的出现，即建立在应答式或互锁机制基础上。在这种系统中，不需要统一的共公时钟信号。总线周期的长度是可变的。异步定时的优点是总线周期长度可变，不把响应时间强加到功能模块上，因而允许快速和慢速的功能模块都能连接到同一总线上。但这以增加总线的复杂性和成本为代价。</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Body"/>
</p:tagLst>
</file>

<file path=ppt/tags/tag4.xml><?xml version="1.0" encoding="utf-8"?>
<p:tagLst xmlns:p="http://schemas.openxmlformats.org/presentationml/2006/main">
  <p:tag name="RAINPROBLEM" val="ProblemBody"/>
</p:tagLst>
</file>

<file path=ppt/tags/tag5.xml><?xml version="1.0" encoding="utf-8"?>
<p:tagLst xmlns:p="http://schemas.openxmlformats.org/presentationml/2006/main">
  <p:tag name="RAINPROBLEM" val="ProblemBody"/>
</p:tagLst>
</file>

<file path=ppt/tags/tag6.xml><?xml version="1.0" encoding="utf-8"?>
<p:tagLst xmlns:p="http://schemas.openxmlformats.org/presentationml/2006/main">
  <p:tag name="RAINPROBLEM" val="ProblemBody"/>
</p:tagLst>
</file>

<file path=ppt/tags/tag7.xml><?xml version="1.0" encoding="utf-8"?>
<p:tagLst xmlns:p="http://schemas.openxmlformats.org/presentationml/2006/main">
  <p:tag name="RAINPROBLEM" val="ProblemBody"/>
</p:tagLst>
</file>

<file path=ppt/tags/tag8.xml><?xml version="1.0" encoding="utf-8"?>
<p:tagLst xmlns:p="http://schemas.openxmlformats.org/presentationml/2006/main">
  <p:tag name="RAINPROBLEM" val="ProblemBody"/>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
            <a:schemeClr val="bg1"/>
          </a:buClr>
          <a:buSzPct val="70000"/>
          <a:buFont typeface="Wingdings" panose="05000000000000000000" pitchFamily="2" charset="2"/>
          <a:buNone/>
          <a:def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0" marR="0" indent="0" algn="l" defTabSz="914400" rtl="0" eaLnBrk="1" fontAlgn="base" latinLnBrk="0" hangingPunct="1">
          <a:lnSpc>
            <a:spcPct val="90000"/>
          </a:lnSpc>
          <a:spcBef>
            <a:spcPct val="20000"/>
          </a:spcBef>
          <a:spcAft>
            <a:spcPct val="0"/>
          </a:spcAft>
          <a:buClr>
            <a:schemeClr val="bg1"/>
          </a:buClr>
          <a:buSzPct val="70000"/>
          <a:buFont typeface="Wingdings" panose="05000000000000000000" pitchFamily="2" charset="2"/>
          <a:buNone/>
          <a:defRPr kumimoji="0" lang="zh-CN" altLang="en-US" sz="18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0</TotalTime>
  <Words>16118</Words>
  <Application>WPS 演示</Application>
  <PresentationFormat>全屏显示(4:3)</PresentationFormat>
  <Paragraphs>640</Paragraphs>
  <Slides>60</Slides>
  <Notes>0</Notes>
  <HiddenSlides>4</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3" baseType="lpstr">
      <vt:lpstr>Arial</vt:lpstr>
      <vt:lpstr>宋体</vt:lpstr>
      <vt:lpstr>Wingdings</vt:lpstr>
      <vt:lpstr>Times New Roman</vt:lpstr>
      <vt:lpstr>微软雅黑</vt:lpstr>
      <vt:lpstr>Arial Unicode MS</vt:lpstr>
      <vt:lpstr>楷体_GB2312</vt:lpstr>
      <vt:lpstr>黑体</vt:lpstr>
      <vt:lpstr>华文隶书</vt:lpstr>
      <vt:lpstr>隶书</vt:lpstr>
      <vt:lpstr>新宋体</vt:lpstr>
      <vt:lpstr>Network</vt:lpstr>
      <vt:lpstr>PBrush</vt:lpstr>
      <vt:lpstr>第六章  总线系统</vt:lpstr>
      <vt:lpstr>PowerPoint 演示文稿</vt:lpstr>
      <vt:lpstr>6.1.1总线的基本概念</vt:lpstr>
      <vt:lpstr>6.1.1总线的基本概念</vt:lpstr>
      <vt:lpstr>6.1.1总线的基本概念</vt:lpstr>
      <vt:lpstr>6.1.1总线的基本概念</vt:lpstr>
      <vt:lpstr>PowerPoint 演示文稿</vt:lpstr>
      <vt:lpstr>6.1.2 总线的连接方式 </vt:lpstr>
      <vt:lpstr>PowerPoint 演示文稿</vt:lpstr>
      <vt:lpstr>PowerPoint 演示文稿</vt:lpstr>
      <vt:lpstr>6.1.3总线的内部结构</vt:lpstr>
      <vt:lpstr>PowerPoint 演示文稿</vt:lpstr>
      <vt:lpstr>6.1.4 总线结构实例</vt:lpstr>
      <vt:lpstr>PowerPoint 演示文稿</vt:lpstr>
      <vt:lpstr>PowerPoint 演示文稿</vt:lpstr>
      <vt:lpstr>PowerPoint 演示文稿</vt:lpstr>
      <vt:lpstr>6.2  总线接口</vt:lpstr>
      <vt:lpstr>PowerPoint 演示文稿</vt:lpstr>
      <vt:lpstr>PowerPoint 演示文稿</vt:lpstr>
      <vt:lpstr>PowerPoint 演示文稿</vt:lpstr>
      <vt:lpstr>PowerPoint 演示文稿</vt:lpstr>
      <vt:lpstr>PowerPoint 演示文稿</vt:lpstr>
      <vt:lpstr>6.3  总线的仲裁</vt:lpstr>
      <vt:lpstr>6.3.1 集中式仲裁</vt:lpstr>
      <vt:lpstr>PowerPoint 演示文稿</vt:lpstr>
      <vt:lpstr>PowerPoint 演示文稿</vt:lpstr>
      <vt:lpstr>PowerPoint 演示文稿</vt:lpstr>
      <vt:lpstr>6.3.2分布式仲裁</vt:lpstr>
      <vt:lpstr>PowerPoint 演示文稿</vt:lpstr>
      <vt:lpstr>PowerPoint 演示文稿</vt:lpstr>
      <vt:lpstr>PowerPoint 演示文稿</vt:lpstr>
      <vt:lpstr>6.4 总线的定时和数据传送模式</vt:lpstr>
      <vt:lpstr>6.4总线的定时和数据传送模式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6.5 PCI总线和PCIe总线</vt:lpstr>
      <vt:lpstr>PowerPoint 演示文稿</vt:lpstr>
      <vt:lpstr>PowerPoint 演示文稿</vt:lpstr>
      <vt:lpstr>PowerPoint 演示文稿</vt:lpstr>
      <vt:lpstr>6.5.6 PCIe总线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Ningbo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第六章  总线系统</dc:title>
  <dc:creator>杨旭东</dc:creator>
  <cp:lastModifiedBy>泥人</cp:lastModifiedBy>
  <cp:revision>240</cp:revision>
  <dcterms:created xsi:type="dcterms:W3CDTF">2008-05-19T20:46:00Z</dcterms:created>
  <dcterms:modified xsi:type="dcterms:W3CDTF">2021-12-18T09:36:09Z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59505F9FD88841BFBF93333A96C6A0E2</vt:lpwstr>
  </property>
  <property fmtid="{D5CDD505-2E9C-101B-9397-08002B2CF9AE}" pid="3" name="KSOProductBuildVer">
    <vt:lpwstr>2052-11.1.0.11115</vt:lpwstr>
  </property>
</Properties>
</file>
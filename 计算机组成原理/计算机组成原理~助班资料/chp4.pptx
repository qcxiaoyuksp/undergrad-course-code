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handoutMasterIdLst>
    <p:handoutMasterId r:id="rId54"/>
  </p:handoutMasterIdLst>
  <p:sldIdLst>
    <p:sldId id="256" r:id="rId2"/>
    <p:sldId id="319" r:id="rId3"/>
    <p:sldId id="257" r:id="rId4"/>
    <p:sldId id="261" r:id="rId5"/>
    <p:sldId id="327" r:id="rId6"/>
    <p:sldId id="320" r:id="rId7"/>
    <p:sldId id="328" r:id="rId8"/>
    <p:sldId id="262" r:id="rId9"/>
    <p:sldId id="263" r:id="rId10"/>
    <p:sldId id="329" r:id="rId11"/>
    <p:sldId id="264" r:id="rId12"/>
    <p:sldId id="307" r:id="rId13"/>
    <p:sldId id="268" r:id="rId14"/>
    <p:sldId id="269" r:id="rId15"/>
    <p:sldId id="272" r:id="rId16"/>
    <p:sldId id="270" r:id="rId17"/>
    <p:sldId id="271" r:id="rId18"/>
    <p:sldId id="273" r:id="rId19"/>
    <p:sldId id="275" r:id="rId20"/>
    <p:sldId id="318" r:id="rId21"/>
    <p:sldId id="277" r:id="rId22"/>
    <p:sldId id="278" r:id="rId23"/>
    <p:sldId id="315" r:id="rId24"/>
    <p:sldId id="317" r:id="rId25"/>
    <p:sldId id="280" r:id="rId26"/>
    <p:sldId id="305" r:id="rId27"/>
    <p:sldId id="312" r:id="rId28"/>
    <p:sldId id="282" r:id="rId29"/>
    <p:sldId id="283" r:id="rId30"/>
    <p:sldId id="284" r:id="rId31"/>
    <p:sldId id="287" r:id="rId32"/>
    <p:sldId id="286" r:id="rId33"/>
    <p:sldId id="288" r:id="rId34"/>
    <p:sldId id="291" r:id="rId35"/>
    <p:sldId id="292" r:id="rId36"/>
    <p:sldId id="293" r:id="rId37"/>
    <p:sldId id="294" r:id="rId38"/>
    <p:sldId id="295" r:id="rId39"/>
    <p:sldId id="296" r:id="rId40"/>
    <p:sldId id="297" r:id="rId41"/>
    <p:sldId id="298" r:id="rId42"/>
    <p:sldId id="350" r:id="rId43"/>
    <p:sldId id="351" r:id="rId44"/>
    <p:sldId id="352" r:id="rId45"/>
    <p:sldId id="353" r:id="rId46"/>
    <p:sldId id="301" r:id="rId47"/>
    <p:sldId id="331" r:id="rId48"/>
    <p:sldId id="302" r:id="rId49"/>
    <p:sldId id="303" r:id="rId50"/>
    <p:sldId id="349" r:id="rId51"/>
    <p:sldId id="354" r:id="rId52"/>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3300"/>
    <a:srgbClr val="F0E626"/>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97" autoAdjust="0"/>
    <p:restoredTop sz="94660"/>
  </p:normalViewPr>
  <p:slideViewPr>
    <p:cSldViewPr>
      <p:cViewPr>
        <p:scale>
          <a:sx n="70" d="100"/>
          <a:sy n="70" d="100"/>
        </p:scale>
        <p:origin x="-1925" y="-39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9091"/>
    </p:cViewPr>
  </p:sorterViewPr>
  <p:notesViewPr>
    <p:cSldViewPr>
      <p:cViewPr varScale="1">
        <p:scale>
          <a:sx n="63" d="100"/>
          <a:sy n="63" d="100"/>
        </p:scale>
        <p:origin x="-2947"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1" sz="1200" smtClean="0">
                <a:latin typeface="Times New Roman" pitchFamily="18" charset="0"/>
              </a:defRPr>
            </a:lvl1pPr>
          </a:lstStyle>
          <a:p>
            <a:pPr>
              <a:defRPr/>
            </a:pPr>
            <a:endParaRPr lang="en-US" altLang="zh-CN"/>
          </a:p>
        </p:txBody>
      </p:sp>
      <p:sp>
        <p:nvSpPr>
          <p:cNvPr id="307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sz="1200" smtClean="0">
                <a:latin typeface="Times New Roman" pitchFamily="18" charset="0"/>
              </a:defRPr>
            </a:lvl1pPr>
          </a:lstStyle>
          <a:p>
            <a:pPr>
              <a:defRPr/>
            </a:pPr>
            <a:endParaRPr lang="en-US" altLang="zh-CN"/>
          </a:p>
        </p:txBody>
      </p:sp>
      <p:sp>
        <p:nvSpPr>
          <p:cNvPr id="307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1" sz="1200" smtClean="0">
                <a:latin typeface="Times New Roman" pitchFamily="18" charset="0"/>
              </a:defRPr>
            </a:lvl1pPr>
          </a:lstStyle>
          <a:p>
            <a:pPr>
              <a:defRPr/>
            </a:pPr>
            <a:endParaRPr lang="en-US" altLang="zh-CN"/>
          </a:p>
        </p:txBody>
      </p:sp>
      <p:sp>
        <p:nvSpPr>
          <p:cNvPr id="307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sz="1200" smtClean="0">
                <a:latin typeface="Times New Roman" pitchFamily="18" charset="0"/>
              </a:defRPr>
            </a:lvl1pPr>
          </a:lstStyle>
          <a:p>
            <a:pPr>
              <a:defRPr/>
            </a:pPr>
            <a:fld id="{5D5C5D8C-A87C-483A-94DD-8FCE262D4B91}" type="slidenum">
              <a:rPr lang="en-US" altLang="zh-CN"/>
              <a:pPr>
                <a:defRPr/>
              </a:pPr>
              <a:t>‹#›</a:t>
            </a:fld>
            <a:endParaRPr lang="en-US" altLang="zh-CN"/>
          </a:p>
        </p:txBody>
      </p:sp>
    </p:spTree>
    <p:extLst>
      <p:ext uri="{BB962C8B-B14F-4D97-AF65-F5344CB8AC3E}">
        <p14:creationId xmlns:p14="http://schemas.microsoft.com/office/powerpoint/2010/main" val="21450914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1" sz="1200" smtClean="0">
                <a:latin typeface="Times New Roman" pitchFamily="18" charset="0"/>
              </a:defRPr>
            </a:lvl1pPr>
          </a:lstStyle>
          <a:p>
            <a:pPr>
              <a:defRPr/>
            </a:pPr>
            <a:endParaRPr lang="en-US" altLang="zh-CN"/>
          </a:p>
        </p:txBody>
      </p:sp>
      <p:sp>
        <p:nvSpPr>
          <p:cNvPr id="40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sz="1200" smtClean="0">
                <a:latin typeface="Times New Roman" pitchFamily="18" charset="0"/>
              </a:defRPr>
            </a:lvl1pPr>
          </a:lstStyle>
          <a:p>
            <a:pPr>
              <a:defRPr/>
            </a:pPr>
            <a:endParaRPr lang="en-US" altLang="zh-CN"/>
          </a:p>
        </p:txBody>
      </p:sp>
      <p:sp>
        <p:nvSpPr>
          <p:cNvPr id="6349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1" sz="1200" smtClean="0">
                <a:latin typeface="Times New Roman" pitchFamily="18" charset="0"/>
              </a:defRPr>
            </a:lvl1pPr>
          </a:lstStyle>
          <a:p>
            <a:pPr>
              <a:defRPr/>
            </a:pPr>
            <a:endParaRPr lang="en-US" altLang="zh-CN"/>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sz="1200" smtClean="0">
                <a:latin typeface="Times New Roman" pitchFamily="18" charset="0"/>
              </a:defRPr>
            </a:lvl1pPr>
          </a:lstStyle>
          <a:p>
            <a:pPr>
              <a:defRPr/>
            </a:pPr>
            <a:fld id="{C30654E8-4F70-417B-8D37-6A7E5D96248B}" type="slidenum">
              <a:rPr lang="en-US" altLang="zh-CN"/>
              <a:pPr>
                <a:defRPr/>
              </a:pPr>
              <a:t>‹#›</a:t>
            </a:fld>
            <a:endParaRPr lang="en-US" altLang="zh-CN"/>
          </a:p>
        </p:txBody>
      </p:sp>
    </p:spTree>
    <p:extLst>
      <p:ext uri="{BB962C8B-B14F-4D97-AF65-F5344CB8AC3E}">
        <p14:creationId xmlns:p14="http://schemas.microsoft.com/office/powerpoint/2010/main" val="26965214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30654E8-4F70-417B-8D37-6A7E5D96248B}" type="slidenum">
              <a:rPr lang="en-US" altLang="zh-CN" smtClean="0"/>
              <a:pPr>
                <a:defRPr/>
              </a:pPr>
              <a:t>47</a:t>
            </a:fld>
            <a:endParaRPr lang="en-US" altLang="zh-CN"/>
          </a:p>
        </p:txBody>
      </p:sp>
    </p:spTree>
    <p:extLst>
      <p:ext uri="{BB962C8B-B14F-4D97-AF65-F5344CB8AC3E}">
        <p14:creationId xmlns:p14="http://schemas.microsoft.com/office/powerpoint/2010/main" val="24811814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30654E8-4F70-417B-8D37-6A7E5D96248B}" type="slidenum">
              <a:rPr lang="en-US" altLang="zh-CN" smtClean="0"/>
              <a:pPr>
                <a:defRPr/>
              </a:pPr>
              <a:t>48</a:t>
            </a:fld>
            <a:endParaRPr lang="en-US" altLang="zh-CN"/>
          </a:p>
        </p:txBody>
      </p:sp>
    </p:spTree>
    <p:extLst>
      <p:ext uri="{BB962C8B-B14F-4D97-AF65-F5344CB8AC3E}">
        <p14:creationId xmlns:p14="http://schemas.microsoft.com/office/powerpoint/2010/main" val="2213779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30654E8-4F70-417B-8D37-6A7E5D96248B}" type="slidenum">
              <a:rPr lang="en-US" altLang="zh-CN" smtClean="0"/>
              <a:pPr>
                <a:defRPr/>
              </a:pPr>
              <a:t>49</a:t>
            </a:fld>
            <a:endParaRPr lang="en-US" altLang="zh-CN"/>
          </a:p>
        </p:txBody>
      </p:sp>
    </p:spTree>
    <p:extLst>
      <p:ext uri="{BB962C8B-B14F-4D97-AF65-F5344CB8AC3E}">
        <p14:creationId xmlns:p14="http://schemas.microsoft.com/office/powerpoint/2010/main" val="2969204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4" name="灯片编号占位符 3"/>
          <p:cNvSpPr>
            <a:spLocks noGrp="1"/>
          </p:cNvSpPr>
          <p:nvPr>
            <p:ph type="sldNum" sz="quarter" idx="10"/>
          </p:nvPr>
        </p:nvSpPr>
        <p:spPr/>
        <p:txBody>
          <a:bodyPr/>
          <a:lstStyle/>
          <a:p>
            <a:pPr>
              <a:defRPr/>
            </a:pPr>
            <a:fld id="{C30654E8-4F70-417B-8D37-6A7E5D96248B}" type="slidenum">
              <a:rPr lang="en-US" altLang="zh-CN" smtClean="0"/>
              <a:pPr>
                <a:defRPr/>
              </a:pPr>
              <a:t>50</a:t>
            </a:fld>
            <a:endParaRPr lang="en-US" altLang="zh-CN"/>
          </a:p>
        </p:txBody>
      </p:sp>
      <p:sp>
        <p:nvSpPr>
          <p:cNvPr id="6" name="备注占位符 5"/>
          <p:cNvSpPr>
            <a:spLocks noGrp="1"/>
          </p:cNvSpPr>
          <p:nvPr>
            <p:ph type="body" sz="quarter" idx="11"/>
          </p:nvPr>
        </p:nvSpPr>
        <p:spPr/>
        <p:txBody>
          <a:bodyPr/>
          <a:lstStyle/>
          <a:p>
            <a:endParaRPr lang="zh-CN" altLang="en-US"/>
          </a:p>
        </p:txBody>
      </p:sp>
    </p:spTree>
    <p:extLst>
      <p:ext uri="{BB962C8B-B14F-4D97-AF65-F5344CB8AC3E}">
        <p14:creationId xmlns:p14="http://schemas.microsoft.com/office/powerpoint/2010/main" val="128884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4" name="灯片编号占位符 3"/>
          <p:cNvSpPr>
            <a:spLocks noGrp="1"/>
          </p:cNvSpPr>
          <p:nvPr>
            <p:ph type="sldNum" sz="quarter" idx="10"/>
          </p:nvPr>
        </p:nvSpPr>
        <p:spPr/>
        <p:txBody>
          <a:bodyPr/>
          <a:lstStyle/>
          <a:p>
            <a:pPr>
              <a:defRPr/>
            </a:pPr>
            <a:fld id="{C30654E8-4F70-417B-8D37-6A7E5D96248B}" type="slidenum">
              <a:rPr lang="en-US" altLang="zh-CN" smtClean="0"/>
              <a:pPr>
                <a:defRPr/>
              </a:pPr>
              <a:t>51</a:t>
            </a:fld>
            <a:endParaRPr lang="en-US" altLang="zh-CN"/>
          </a:p>
        </p:txBody>
      </p:sp>
      <p:sp>
        <p:nvSpPr>
          <p:cNvPr id="6" name="备注占位符 5"/>
          <p:cNvSpPr>
            <a:spLocks noGrp="1"/>
          </p:cNvSpPr>
          <p:nvPr>
            <p:ph type="body" sz="quarter" idx="11"/>
          </p:nvPr>
        </p:nvSpPr>
        <p:spPr/>
        <p:txBody>
          <a:bodyPr/>
          <a:lstStyle/>
          <a:p>
            <a:endParaRPr lang="zh-CN" altLang="en-US"/>
          </a:p>
        </p:txBody>
      </p:sp>
    </p:spTree>
    <p:extLst>
      <p:ext uri="{BB962C8B-B14F-4D97-AF65-F5344CB8AC3E}">
        <p14:creationId xmlns:p14="http://schemas.microsoft.com/office/powerpoint/2010/main" val="12888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ffectLst/>
        </p:spPr>
        <p:txBody>
          <a:bodyPr/>
          <a:lstStyle/>
          <a:p>
            <a:pPr>
              <a:defRPr/>
            </a:pPr>
            <a:endParaRPr lang="zh-CN" alt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w="9525">
              <a:noFill/>
              <a:round/>
              <a:headEnd/>
              <a:tailEnd/>
            </a:ln>
            <a:effectLst/>
          </p:spPr>
          <p:txBody>
            <a:bodyPr wrap="none" anchor="ctr"/>
            <a:lstStyle/>
            <a:p>
              <a:pPr>
                <a:defRPr/>
              </a:pPr>
              <a:endParaRPr lang="zh-CN" altLang="en-US"/>
            </a:p>
          </p:txBody>
        </p:sp>
        <p:sp>
          <p:nvSpPr>
            <p:cNvPr id="7" name="Oval 10"/>
            <p:cNvSpPr>
              <a:spLocks noChangeArrowheads="1"/>
            </p:cNvSpPr>
            <p:nvPr/>
          </p:nvSpPr>
          <p:spPr bwMode="auto">
            <a:xfrm>
              <a:off x="4883" y="1885"/>
              <a:ext cx="127" cy="127"/>
            </a:xfrm>
            <a:prstGeom prst="ellipse">
              <a:avLst/>
            </a:prstGeom>
            <a:solidFill>
              <a:schemeClr val="tx2"/>
            </a:solidFill>
            <a:ln w="9525">
              <a:noFill/>
              <a:round/>
              <a:headEnd/>
              <a:tailEnd/>
            </a:ln>
            <a:effectLst/>
          </p:spPr>
          <p:txBody>
            <a:bodyPr wrap="none" anchor="ctr"/>
            <a:lstStyle/>
            <a:p>
              <a:pPr>
                <a:defRPr/>
              </a:pPr>
              <a:endParaRPr lang="zh-CN" altLang="en-US"/>
            </a:p>
          </p:txBody>
        </p:sp>
        <p:sp>
          <p:nvSpPr>
            <p:cNvPr id="8" name="Oval 11"/>
            <p:cNvSpPr>
              <a:spLocks noChangeArrowheads="1"/>
            </p:cNvSpPr>
            <p:nvPr/>
          </p:nvSpPr>
          <p:spPr bwMode="auto">
            <a:xfrm>
              <a:off x="5062" y="1885"/>
              <a:ext cx="127" cy="127"/>
            </a:xfrm>
            <a:prstGeom prst="ellipse">
              <a:avLst/>
            </a:prstGeom>
            <a:solidFill>
              <a:schemeClr val="tx2"/>
            </a:solidFill>
            <a:ln w="9525">
              <a:noFill/>
              <a:round/>
              <a:headEnd/>
              <a:tailEnd/>
            </a:ln>
            <a:effectLst/>
          </p:spPr>
          <p:txBody>
            <a:bodyPr wrap="none" anchor="ctr"/>
            <a:lstStyle/>
            <a:p>
              <a:pPr>
                <a:defRPr/>
              </a:pPr>
              <a:endParaRPr lang="zh-CN" altLang="en-US"/>
            </a:p>
          </p:txBody>
        </p:sp>
        <p:sp>
          <p:nvSpPr>
            <p:cNvPr id="9" name="Oval 12"/>
            <p:cNvSpPr>
              <a:spLocks noChangeArrowheads="1"/>
            </p:cNvSpPr>
            <p:nvPr/>
          </p:nvSpPr>
          <p:spPr bwMode="auto">
            <a:xfrm>
              <a:off x="4704" y="2064"/>
              <a:ext cx="127" cy="127"/>
            </a:xfrm>
            <a:prstGeom prst="ellipse">
              <a:avLst/>
            </a:prstGeom>
            <a:solidFill>
              <a:schemeClr val="tx2"/>
            </a:solidFill>
            <a:ln w="9525">
              <a:noFill/>
              <a:round/>
              <a:headEnd/>
              <a:tailEnd/>
            </a:ln>
            <a:effectLst/>
          </p:spPr>
          <p:txBody>
            <a:bodyPr wrap="none" anchor="ctr"/>
            <a:lstStyle/>
            <a:p>
              <a:pPr>
                <a:defRPr/>
              </a:pPr>
              <a:endParaRPr lang="zh-CN" altLang="en-US"/>
            </a:p>
          </p:txBody>
        </p:sp>
        <p:sp>
          <p:nvSpPr>
            <p:cNvPr id="10" name="Oval 13"/>
            <p:cNvSpPr>
              <a:spLocks noChangeArrowheads="1"/>
            </p:cNvSpPr>
            <p:nvPr/>
          </p:nvSpPr>
          <p:spPr bwMode="auto">
            <a:xfrm>
              <a:off x="4883" y="2064"/>
              <a:ext cx="127" cy="127"/>
            </a:xfrm>
            <a:prstGeom prst="ellipse">
              <a:avLst/>
            </a:prstGeom>
            <a:solidFill>
              <a:schemeClr val="tx2"/>
            </a:solidFill>
            <a:ln w="9525">
              <a:noFill/>
              <a:round/>
              <a:headEnd/>
              <a:tailEnd/>
            </a:ln>
            <a:effectLst/>
          </p:spPr>
          <p:txBody>
            <a:bodyPr wrap="none" anchor="ctr"/>
            <a:lstStyle/>
            <a:p>
              <a:pPr>
                <a:defRPr/>
              </a:pPr>
              <a:endParaRPr lang="zh-CN" altLang="en-US"/>
            </a:p>
          </p:txBody>
        </p:sp>
        <p:sp>
          <p:nvSpPr>
            <p:cNvPr id="11" name="Oval 14"/>
            <p:cNvSpPr>
              <a:spLocks noChangeArrowheads="1"/>
            </p:cNvSpPr>
            <p:nvPr/>
          </p:nvSpPr>
          <p:spPr bwMode="auto">
            <a:xfrm>
              <a:off x="5062" y="2064"/>
              <a:ext cx="127" cy="127"/>
            </a:xfrm>
            <a:prstGeom prst="ellipse">
              <a:avLst/>
            </a:prstGeom>
            <a:solidFill>
              <a:schemeClr val="tx2"/>
            </a:solidFill>
            <a:ln w="9525">
              <a:noFill/>
              <a:round/>
              <a:headEnd/>
              <a:tailEnd/>
            </a:ln>
            <a:effectLst/>
          </p:spPr>
          <p:txBody>
            <a:bodyPr wrap="none" anchor="ctr"/>
            <a:lstStyle/>
            <a:p>
              <a:pPr>
                <a:defRPr/>
              </a:pPr>
              <a:endParaRPr lang="zh-CN" altLang="en-US"/>
            </a:p>
          </p:txBody>
        </p:sp>
        <p:sp>
          <p:nvSpPr>
            <p:cNvPr id="12" name="Oval 15"/>
            <p:cNvSpPr>
              <a:spLocks noChangeArrowheads="1"/>
            </p:cNvSpPr>
            <p:nvPr/>
          </p:nvSpPr>
          <p:spPr bwMode="auto">
            <a:xfrm>
              <a:off x="5241" y="2064"/>
              <a:ext cx="127" cy="127"/>
            </a:xfrm>
            <a:prstGeom prst="ellipse">
              <a:avLst/>
            </a:prstGeom>
            <a:solidFill>
              <a:schemeClr val="accent2"/>
            </a:solidFill>
            <a:ln w="9525">
              <a:noFill/>
              <a:round/>
              <a:headEnd/>
              <a:tailEnd/>
            </a:ln>
            <a:effectLst/>
          </p:spPr>
          <p:txBody>
            <a:bodyPr wrap="none" anchor="ctr"/>
            <a:lstStyle/>
            <a:p>
              <a:pPr>
                <a:defRPr/>
              </a:pPr>
              <a:endParaRPr lang="zh-CN" altLang="en-US"/>
            </a:p>
          </p:txBody>
        </p:sp>
        <p:sp>
          <p:nvSpPr>
            <p:cNvPr id="13" name="Oval 16"/>
            <p:cNvSpPr>
              <a:spLocks noChangeArrowheads="1"/>
            </p:cNvSpPr>
            <p:nvPr/>
          </p:nvSpPr>
          <p:spPr bwMode="auto">
            <a:xfrm>
              <a:off x="4704" y="2243"/>
              <a:ext cx="127" cy="127"/>
            </a:xfrm>
            <a:prstGeom prst="ellipse">
              <a:avLst/>
            </a:prstGeom>
            <a:solidFill>
              <a:schemeClr val="tx2"/>
            </a:solidFill>
            <a:ln w="9525">
              <a:noFill/>
              <a:round/>
              <a:headEnd/>
              <a:tailEnd/>
            </a:ln>
            <a:effectLst/>
          </p:spPr>
          <p:txBody>
            <a:bodyPr wrap="none" anchor="ctr"/>
            <a:lstStyle/>
            <a:p>
              <a:pPr>
                <a:defRPr/>
              </a:pPr>
              <a:endParaRPr lang="zh-CN" altLang="en-US"/>
            </a:p>
          </p:txBody>
        </p:sp>
        <p:sp>
          <p:nvSpPr>
            <p:cNvPr id="14" name="Oval 17"/>
            <p:cNvSpPr>
              <a:spLocks noChangeArrowheads="1"/>
            </p:cNvSpPr>
            <p:nvPr/>
          </p:nvSpPr>
          <p:spPr bwMode="auto">
            <a:xfrm>
              <a:off x="4883" y="2243"/>
              <a:ext cx="127" cy="127"/>
            </a:xfrm>
            <a:prstGeom prst="ellipse">
              <a:avLst/>
            </a:prstGeom>
            <a:solidFill>
              <a:schemeClr val="tx2"/>
            </a:solidFill>
            <a:ln w="9525">
              <a:noFill/>
              <a:round/>
              <a:headEnd/>
              <a:tailEnd/>
            </a:ln>
            <a:effectLst/>
          </p:spPr>
          <p:txBody>
            <a:bodyPr wrap="none" anchor="ctr"/>
            <a:lstStyle/>
            <a:p>
              <a:pPr>
                <a:defRPr/>
              </a:pPr>
              <a:endParaRPr lang="zh-CN" altLang="en-US"/>
            </a:p>
          </p:txBody>
        </p:sp>
        <p:sp>
          <p:nvSpPr>
            <p:cNvPr id="15" name="Oval 18"/>
            <p:cNvSpPr>
              <a:spLocks noChangeArrowheads="1"/>
            </p:cNvSpPr>
            <p:nvPr/>
          </p:nvSpPr>
          <p:spPr bwMode="auto">
            <a:xfrm>
              <a:off x="5062" y="2243"/>
              <a:ext cx="127" cy="127"/>
            </a:xfrm>
            <a:prstGeom prst="ellipse">
              <a:avLst/>
            </a:prstGeom>
            <a:solidFill>
              <a:schemeClr val="accent2"/>
            </a:solidFill>
            <a:ln w="9525">
              <a:noFill/>
              <a:round/>
              <a:headEnd/>
              <a:tailEnd/>
            </a:ln>
            <a:effectLst/>
          </p:spPr>
          <p:txBody>
            <a:bodyPr wrap="none" anchor="ctr"/>
            <a:lstStyle/>
            <a:p>
              <a:pPr>
                <a:defRPr/>
              </a:pPr>
              <a:endParaRPr lang="zh-CN" altLang="en-US"/>
            </a:p>
          </p:txBody>
        </p:sp>
        <p:sp>
          <p:nvSpPr>
            <p:cNvPr id="16" name="Oval 19"/>
            <p:cNvSpPr>
              <a:spLocks noChangeArrowheads="1"/>
            </p:cNvSpPr>
            <p:nvPr/>
          </p:nvSpPr>
          <p:spPr bwMode="auto">
            <a:xfrm>
              <a:off x="5241" y="2243"/>
              <a:ext cx="127" cy="127"/>
            </a:xfrm>
            <a:prstGeom prst="ellipse">
              <a:avLst/>
            </a:prstGeom>
            <a:solidFill>
              <a:schemeClr val="accent2"/>
            </a:solidFill>
            <a:ln w="9525">
              <a:noFill/>
              <a:round/>
              <a:headEnd/>
              <a:tailEnd/>
            </a:ln>
            <a:effectLst/>
          </p:spPr>
          <p:txBody>
            <a:bodyPr wrap="none" anchor="ctr"/>
            <a:lstStyle/>
            <a:p>
              <a:pPr>
                <a:defRPr/>
              </a:pPr>
              <a:endParaRPr lang="zh-CN" altLang="en-US"/>
            </a:p>
          </p:txBody>
        </p:sp>
        <p:sp>
          <p:nvSpPr>
            <p:cNvPr id="17" name="Oval 20"/>
            <p:cNvSpPr>
              <a:spLocks noChangeArrowheads="1"/>
            </p:cNvSpPr>
            <p:nvPr/>
          </p:nvSpPr>
          <p:spPr bwMode="auto">
            <a:xfrm>
              <a:off x="5420" y="2243"/>
              <a:ext cx="127" cy="127"/>
            </a:xfrm>
            <a:prstGeom prst="ellipse">
              <a:avLst/>
            </a:prstGeom>
            <a:solidFill>
              <a:schemeClr val="accent1"/>
            </a:solidFill>
            <a:ln w="9525">
              <a:noFill/>
              <a:round/>
              <a:headEnd/>
              <a:tailEnd/>
            </a:ln>
            <a:effectLst/>
          </p:spPr>
          <p:txBody>
            <a:bodyPr wrap="none" anchor="ctr"/>
            <a:lstStyle/>
            <a:p>
              <a:pPr>
                <a:defRPr/>
              </a:pPr>
              <a:endParaRPr lang="zh-CN" altLang="en-US"/>
            </a:p>
          </p:txBody>
        </p:sp>
        <p:sp>
          <p:nvSpPr>
            <p:cNvPr id="18" name="Oval 21"/>
            <p:cNvSpPr>
              <a:spLocks noChangeArrowheads="1"/>
            </p:cNvSpPr>
            <p:nvPr/>
          </p:nvSpPr>
          <p:spPr bwMode="auto">
            <a:xfrm>
              <a:off x="4704" y="2421"/>
              <a:ext cx="127" cy="128"/>
            </a:xfrm>
            <a:prstGeom prst="ellipse">
              <a:avLst/>
            </a:prstGeom>
            <a:solidFill>
              <a:schemeClr val="tx2"/>
            </a:solidFill>
            <a:ln w="9525">
              <a:noFill/>
              <a:round/>
              <a:headEnd/>
              <a:tailEnd/>
            </a:ln>
            <a:effectLst/>
          </p:spPr>
          <p:txBody>
            <a:bodyPr wrap="none" anchor="ctr"/>
            <a:lstStyle/>
            <a:p>
              <a:pPr>
                <a:defRPr/>
              </a:pPr>
              <a:endParaRPr lang="zh-CN" altLang="en-US"/>
            </a:p>
          </p:txBody>
        </p:sp>
        <p:sp>
          <p:nvSpPr>
            <p:cNvPr id="19" name="Oval 22"/>
            <p:cNvSpPr>
              <a:spLocks noChangeArrowheads="1"/>
            </p:cNvSpPr>
            <p:nvPr/>
          </p:nvSpPr>
          <p:spPr bwMode="auto">
            <a:xfrm>
              <a:off x="4883" y="2421"/>
              <a:ext cx="127" cy="128"/>
            </a:xfrm>
            <a:prstGeom prst="ellipse">
              <a:avLst/>
            </a:prstGeom>
            <a:solidFill>
              <a:schemeClr val="accent2"/>
            </a:solidFill>
            <a:ln w="9525">
              <a:noFill/>
              <a:round/>
              <a:headEnd/>
              <a:tailEnd/>
            </a:ln>
            <a:effectLst/>
          </p:spPr>
          <p:txBody>
            <a:bodyPr wrap="none" anchor="ctr"/>
            <a:lstStyle/>
            <a:p>
              <a:pPr>
                <a:defRPr/>
              </a:pPr>
              <a:endParaRPr lang="zh-CN" altLang="en-US"/>
            </a:p>
          </p:txBody>
        </p:sp>
        <p:sp>
          <p:nvSpPr>
            <p:cNvPr id="20" name="Oval 23"/>
            <p:cNvSpPr>
              <a:spLocks noChangeArrowheads="1"/>
            </p:cNvSpPr>
            <p:nvPr/>
          </p:nvSpPr>
          <p:spPr bwMode="auto">
            <a:xfrm>
              <a:off x="5062" y="2421"/>
              <a:ext cx="127" cy="128"/>
            </a:xfrm>
            <a:prstGeom prst="ellipse">
              <a:avLst/>
            </a:prstGeom>
            <a:solidFill>
              <a:schemeClr val="accent2"/>
            </a:solidFill>
            <a:ln w="9525">
              <a:noFill/>
              <a:round/>
              <a:headEnd/>
              <a:tailEnd/>
            </a:ln>
            <a:effectLst/>
          </p:spPr>
          <p:txBody>
            <a:bodyPr wrap="none" anchor="ctr"/>
            <a:lstStyle/>
            <a:p>
              <a:pPr>
                <a:defRPr/>
              </a:pPr>
              <a:endParaRPr lang="zh-CN" altLang="en-US"/>
            </a:p>
          </p:txBody>
        </p:sp>
        <p:sp>
          <p:nvSpPr>
            <p:cNvPr id="21" name="Oval 24"/>
            <p:cNvSpPr>
              <a:spLocks noChangeArrowheads="1"/>
            </p:cNvSpPr>
            <p:nvPr/>
          </p:nvSpPr>
          <p:spPr bwMode="auto">
            <a:xfrm>
              <a:off x="5241" y="2421"/>
              <a:ext cx="127" cy="128"/>
            </a:xfrm>
            <a:prstGeom prst="ellipse">
              <a:avLst/>
            </a:prstGeom>
            <a:solidFill>
              <a:schemeClr val="accent1"/>
            </a:solidFill>
            <a:ln w="9525">
              <a:noFill/>
              <a:round/>
              <a:headEnd/>
              <a:tailEnd/>
            </a:ln>
            <a:effectLst/>
          </p:spPr>
          <p:txBody>
            <a:bodyPr wrap="none" anchor="ctr"/>
            <a:lstStyle/>
            <a:p>
              <a:pPr>
                <a:defRPr/>
              </a:pPr>
              <a:endParaRPr lang="zh-CN" altLang="en-US"/>
            </a:p>
          </p:txBody>
        </p:sp>
        <p:sp>
          <p:nvSpPr>
            <p:cNvPr id="22" name="Oval 25"/>
            <p:cNvSpPr>
              <a:spLocks noChangeArrowheads="1"/>
            </p:cNvSpPr>
            <p:nvPr/>
          </p:nvSpPr>
          <p:spPr bwMode="auto">
            <a:xfrm>
              <a:off x="4704" y="2600"/>
              <a:ext cx="127" cy="128"/>
            </a:xfrm>
            <a:prstGeom prst="ellipse">
              <a:avLst/>
            </a:prstGeom>
            <a:solidFill>
              <a:schemeClr val="accent2"/>
            </a:solidFill>
            <a:ln w="9525">
              <a:noFill/>
              <a:round/>
              <a:headEnd/>
              <a:tailEnd/>
            </a:ln>
            <a:effectLst/>
          </p:spPr>
          <p:txBody>
            <a:bodyPr wrap="none" anchor="ctr"/>
            <a:lstStyle/>
            <a:p>
              <a:pPr>
                <a:defRPr/>
              </a:pPr>
              <a:endParaRPr lang="zh-CN" altLang="en-US"/>
            </a:p>
          </p:txBody>
        </p:sp>
        <p:sp>
          <p:nvSpPr>
            <p:cNvPr id="23" name="Oval 26"/>
            <p:cNvSpPr>
              <a:spLocks noChangeArrowheads="1"/>
            </p:cNvSpPr>
            <p:nvPr/>
          </p:nvSpPr>
          <p:spPr bwMode="auto">
            <a:xfrm>
              <a:off x="4883" y="2600"/>
              <a:ext cx="127" cy="128"/>
            </a:xfrm>
            <a:prstGeom prst="ellipse">
              <a:avLst/>
            </a:prstGeom>
            <a:solidFill>
              <a:schemeClr val="accent2"/>
            </a:solidFill>
            <a:ln w="9525">
              <a:noFill/>
              <a:round/>
              <a:headEnd/>
              <a:tailEnd/>
            </a:ln>
            <a:effectLst/>
          </p:spPr>
          <p:txBody>
            <a:bodyPr wrap="none" anchor="ctr"/>
            <a:lstStyle/>
            <a:p>
              <a:pPr>
                <a:defRPr/>
              </a:pPr>
              <a:endParaRPr lang="zh-CN" altLang="en-US"/>
            </a:p>
          </p:txBody>
        </p:sp>
        <p:sp>
          <p:nvSpPr>
            <p:cNvPr id="24" name="Oval 27"/>
            <p:cNvSpPr>
              <a:spLocks noChangeArrowheads="1"/>
            </p:cNvSpPr>
            <p:nvPr/>
          </p:nvSpPr>
          <p:spPr bwMode="auto">
            <a:xfrm>
              <a:off x="5062" y="2600"/>
              <a:ext cx="127" cy="128"/>
            </a:xfrm>
            <a:prstGeom prst="ellipse">
              <a:avLst/>
            </a:prstGeom>
            <a:solidFill>
              <a:schemeClr val="accent1"/>
            </a:solidFill>
            <a:ln w="9525">
              <a:noFill/>
              <a:round/>
              <a:headEnd/>
              <a:tailEnd/>
            </a:ln>
            <a:effectLst/>
          </p:spPr>
          <p:txBody>
            <a:bodyPr wrap="none" anchor="ctr"/>
            <a:lstStyle/>
            <a:p>
              <a:pPr>
                <a:defRPr/>
              </a:pPr>
              <a:endParaRPr lang="zh-CN" altLang="en-US"/>
            </a:p>
          </p:txBody>
        </p:sp>
        <p:sp>
          <p:nvSpPr>
            <p:cNvPr id="25" name="Oval 28"/>
            <p:cNvSpPr>
              <a:spLocks noChangeArrowheads="1"/>
            </p:cNvSpPr>
            <p:nvPr/>
          </p:nvSpPr>
          <p:spPr bwMode="auto">
            <a:xfrm>
              <a:off x="5241" y="2600"/>
              <a:ext cx="127" cy="128"/>
            </a:xfrm>
            <a:prstGeom prst="ellipse">
              <a:avLst/>
            </a:prstGeom>
            <a:solidFill>
              <a:schemeClr val="accent1"/>
            </a:solidFill>
            <a:ln w="9525">
              <a:noFill/>
              <a:round/>
              <a:headEnd/>
              <a:tailEnd/>
            </a:ln>
            <a:effectLst/>
          </p:spPr>
          <p:txBody>
            <a:bodyPr wrap="none" anchor="ctr"/>
            <a:lstStyle/>
            <a:p>
              <a:pPr>
                <a:defRPr/>
              </a:pPr>
              <a:endParaRPr lang="zh-CN" altLang="en-US"/>
            </a:p>
          </p:txBody>
        </p:sp>
        <p:sp>
          <p:nvSpPr>
            <p:cNvPr id="26" name="Oval 29"/>
            <p:cNvSpPr>
              <a:spLocks noChangeArrowheads="1"/>
            </p:cNvSpPr>
            <p:nvPr/>
          </p:nvSpPr>
          <p:spPr bwMode="auto">
            <a:xfrm>
              <a:off x="5420" y="2600"/>
              <a:ext cx="127" cy="128"/>
            </a:xfrm>
            <a:prstGeom prst="ellipse">
              <a:avLst/>
            </a:prstGeom>
            <a:solidFill>
              <a:schemeClr val="folHlink"/>
            </a:solidFill>
            <a:ln w="9525">
              <a:noFill/>
              <a:round/>
              <a:headEnd/>
              <a:tailEnd/>
            </a:ln>
            <a:effectLst/>
          </p:spPr>
          <p:txBody>
            <a:bodyPr wrap="none" anchor="ctr"/>
            <a:lstStyle/>
            <a:p>
              <a:pPr>
                <a:defRPr/>
              </a:pPr>
              <a:endParaRPr lang="zh-CN" altLang="en-US"/>
            </a:p>
          </p:txBody>
        </p:sp>
        <p:sp>
          <p:nvSpPr>
            <p:cNvPr id="27" name="Oval 30"/>
            <p:cNvSpPr>
              <a:spLocks noChangeArrowheads="1"/>
            </p:cNvSpPr>
            <p:nvPr/>
          </p:nvSpPr>
          <p:spPr bwMode="auto">
            <a:xfrm>
              <a:off x="4704" y="2779"/>
              <a:ext cx="127" cy="127"/>
            </a:xfrm>
            <a:prstGeom prst="ellipse">
              <a:avLst/>
            </a:prstGeom>
            <a:solidFill>
              <a:schemeClr val="accent2"/>
            </a:solidFill>
            <a:ln w="9525">
              <a:noFill/>
              <a:round/>
              <a:headEnd/>
              <a:tailEnd/>
            </a:ln>
            <a:effectLst/>
          </p:spPr>
          <p:txBody>
            <a:bodyPr wrap="none" anchor="ctr"/>
            <a:lstStyle/>
            <a:p>
              <a:pPr>
                <a:defRPr/>
              </a:pPr>
              <a:endParaRPr lang="zh-CN" altLang="en-US"/>
            </a:p>
          </p:txBody>
        </p:sp>
        <p:sp>
          <p:nvSpPr>
            <p:cNvPr id="28" name="Oval 31"/>
            <p:cNvSpPr>
              <a:spLocks noChangeArrowheads="1"/>
            </p:cNvSpPr>
            <p:nvPr/>
          </p:nvSpPr>
          <p:spPr bwMode="auto">
            <a:xfrm>
              <a:off x="4883" y="2779"/>
              <a:ext cx="127" cy="127"/>
            </a:xfrm>
            <a:prstGeom prst="ellipse">
              <a:avLst/>
            </a:prstGeom>
            <a:solidFill>
              <a:schemeClr val="accent1"/>
            </a:solidFill>
            <a:ln w="9525">
              <a:noFill/>
              <a:round/>
              <a:headEnd/>
              <a:tailEnd/>
            </a:ln>
            <a:effectLst/>
          </p:spPr>
          <p:txBody>
            <a:bodyPr wrap="none" anchor="ctr"/>
            <a:lstStyle/>
            <a:p>
              <a:pPr>
                <a:defRPr/>
              </a:pPr>
              <a:endParaRPr lang="zh-CN" altLang="en-US"/>
            </a:p>
          </p:txBody>
        </p:sp>
        <p:sp>
          <p:nvSpPr>
            <p:cNvPr id="29" name="Oval 32"/>
            <p:cNvSpPr>
              <a:spLocks noChangeArrowheads="1"/>
            </p:cNvSpPr>
            <p:nvPr/>
          </p:nvSpPr>
          <p:spPr bwMode="auto">
            <a:xfrm>
              <a:off x="5062" y="2779"/>
              <a:ext cx="127" cy="127"/>
            </a:xfrm>
            <a:prstGeom prst="ellipse">
              <a:avLst/>
            </a:prstGeom>
            <a:solidFill>
              <a:schemeClr val="accent1"/>
            </a:solidFill>
            <a:ln w="9525">
              <a:noFill/>
              <a:round/>
              <a:headEnd/>
              <a:tailEnd/>
            </a:ln>
            <a:effectLst/>
          </p:spPr>
          <p:txBody>
            <a:bodyPr wrap="none" anchor="ctr"/>
            <a:lstStyle/>
            <a:p>
              <a:pPr>
                <a:defRPr/>
              </a:pPr>
              <a:endParaRPr lang="zh-CN" altLang="en-US"/>
            </a:p>
          </p:txBody>
        </p:sp>
        <p:sp>
          <p:nvSpPr>
            <p:cNvPr id="30" name="Oval 33"/>
            <p:cNvSpPr>
              <a:spLocks noChangeArrowheads="1"/>
            </p:cNvSpPr>
            <p:nvPr/>
          </p:nvSpPr>
          <p:spPr bwMode="auto">
            <a:xfrm>
              <a:off x="5241" y="2779"/>
              <a:ext cx="127" cy="127"/>
            </a:xfrm>
            <a:prstGeom prst="ellipse">
              <a:avLst/>
            </a:prstGeom>
            <a:solidFill>
              <a:schemeClr val="folHlink"/>
            </a:solidFill>
            <a:ln w="9525">
              <a:noFill/>
              <a:round/>
              <a:headEnd/>
              <a:tailEnd/>
            </a:ln>
            <a:effectLst/>
          </p:spPr>
          <p:txBody>
            <a:bodyPr wrap="none" anchor="ctr"/>
            <a:lstStyle/>
            <a:p>
              <a:pPr>
                <a:defRPr/>
              </a:pPr>
              <a:endParaRPr lang="zh-CN" altLang="en-US"/>
            </a:p>
          </p:txBody>
        </p:sp>
        <p:sp>
          <p:nvSpPr>
            <p:cNvPr id="31" name="Oval 34"/>
            <p:cNvSpPr>
              <a:spLocks noChangeArrowheads="1"/>
            </p:cNvSpPr>
            <p:nvPr/>
          </p:nvSpPr>
          <p:spPr bwMode="auto">
            <a:xfrm>
              <a:off x="4704" y="2958"/>
              <a:ext cx="127" cy="127"/>
            </a:xfrm>
            <a:prstGeom prst="ellipse">
              <a:avLst/>
            </a:prstGeom>
            <a:solidFill>
              <a:schemeClr val="accent1"/>
            </a:solidFill>
            <a:ln w="9525">
              <a:noFill/>
              <a:round/>
              <a:headEnd/>
              <a:tailEnd/>
            </a:ln>
            <a:effectLst/>
          </p:spPr>
          <p:txBody>
            <a:bodyPr wrap="none" anchor="ctr"/>
            <a:lstStyle/>
            <a:p>
              <a:pPr>
                <a:defRPr/>
              </a:pPr>
              <a:endParaRPr lang="zh-CN" altLang="en-US"/>
            </a:p>
          </p:txBody>
        </p:sp>
        <p:sp>
          <p:nvSpPr>
            <p:cNvPr id="32" name="Oval 35"/>
            <p:cNvSpPr>
              <a:spLocks noChangeArrowheads="1"/>
            </p:cNvSpPr>
            <p:nvPr/>
          </p:nvSpPr>
          <p:spPr bwMode="auto">
            <a:xfrm>
              <a:off x="4883" y="2958"/>
              <a:ext cx="127" cy="127"/>
            </a:xfrm>
            <a:prstGeom prst="ellipse">
              <a:avLst/>
            </a:prstGeom>
            <a:solidFill>
              <a:schemeClr val="accent1"/>
            </a:solidFill>
            <a:ln w="9525">
              <a:noFill/>
              <a:round/>
              <a:headEnd/>
              <a:tailEnd/>
            </a:ln>
            <a:effectLst/>
          </p:spPr>
          <p:txBody>
            <a:bodyPr wrap="none" anchor="ctr"/>
            <a:lstStyle/>
            <a:p>
              <a:pPr>
                <a:defRPr/>
              </a:pPr>
              <a:endParaRPr lang="zh-CN" altLang="en-US"/>
            </a:p>
          </p:txBody>
        </p:sp>
        <p:sp>
          <p:nvSpPr>
            <p:cNvPr id="33" name="Oval 36"/>
            <p:cNvSpPr>
              <a:spLocks noChangeArrowheads="1"/>
            </p:cNvSpPr>
            <p:nvPr/>
          </p:nvSpPr>
          <p:spPr bwMode="auto">
            <a:xfrm>
              <a:off x="5062" y="2958"/>
              <a:ext cx="127" cy="127"/>
            </a:xfrm>
            <a:prstGeom prst="ellipse">
              <a:avLst/>
            </a:prstGeom>
            <a:solidFill>
              <a:schemeClr val="folHlink"/>
            </a:solidFill>
            <a:ln w="9525">
              <a:noFill/>
              <a:round/>
              <a:headEnd/>
              <a:tailEnd/>
            </a:ln>
            <a:effectLst/>
          </p:spPr>
          <p:txBody>
            <a:bodyPr wrap="none" anchor="ctr"/>
            <a:lstStyle/>
            <a:p>
              <a:pPr>
                <a:defRPr/>
              </a:pPr>
              <a:endParaRPr lang="zh-CN" altLang="en-US"/>
            </a:p>
          </p:txBody>
        </p:sp>
        <p:sp>
          <p:nvSpPr>
            <p:cNvPr id="34" name="Oval 37"/>
            <p:cNvSpPr>
              <a:spLocks noChangeArrowheads="1"/>
            </p:cNvSpPr>
            <p:nvPr/>
          </p:nvSpPr>
          <p:spPr bwMode="auto">
            <a:xfrm>
              <a:off x="5241" y="2958"/>
              <a:ext cx="127" cy="127"/>
            </a:xfrm>
            <a:prstGeom prst="ellipse">
              <a:avLst/>
            </a:prstGeom>
            <a:solidFill>
              <a:schemeClr val="folHlink"/>
            </a:solidFill>
            <a:ln w="9525">
              <a:noFill/>
              <a:round/>
              <a:headEnd/>
              <a:tailEnd/>
            </a:ln>
            <a:effectLst/>
          </p:spPr>
          <p:txBody>
            <a:bodyPr wrap="none" anchor="ctr"/>
            <a:lstStyle/>
            <a:p>
              <a:pPr>
                <a:defRPr/>
              </a:pPr>
              <a:endParaRPr lang="zh-CN" altLang="en-US"/>
            </a:p>
          </p:txBody>
        </p:sp>
        <p:sp>
          <p:nvSpPr>
            <p:cNvPr id="35" name="Oval 38"/>
            <p:cNvSpPr>
              <a:spLocks noChangeArrowheads="1"/>
            </p:cNvSpPr>
            <p:nvPr/>
          </p:nvSpPr>
          <p:spPr bwMode="auto">
            <a:xfrm>
              <a:off x="4883" y="3137"/>
              <a:ext cx="127" cy="127"/>
            </a:xfrm>
            <a:prstGeom prst="ellipse">
              <a:avLst/>
            </a:prstGeom>
            <a:solidFill>
              <a:schemeClr val="folHlink"/>
            </a:solidFill>
            <a:ln w="9525">
              <a:noFill/>
              <a:round/>
              <a:headEnd/>
              <a:tailEnd/>
            </a:ln>
            <a:effectLst/>
          </p:spPr>
          <p:txBody>
            <a:bodyPr wrap="none" anchor="ctr"/>
            <a:lstStyle/>
            <a:p>
              <a:pPr>
                <a:defRPr/>
              </a:pPr>
              <a:endParaRPr lang="zh-CN" altLang="en-US"/>
            </a:p>
          </p:txBody>
        </p:sp>
        <p:sp>
          <p:nvSpPr>
            <p:cNvPr id="36" name="Oval 39"/>
            <p:cNvSpPr>
              <a:spLocks noChangeArrowheads="1"/>
            </p:cNvSpPr>
            <p:nvPr/>
          </p:nvSpPr>
          <p:spPr bwMode="auto">
            <a:xfrm>
              <a:off x="5241" y="3137"/>
              <a:ext cx="127" cy="127"/>
            </a:xfrm>
            <a:prstGeom prst="ellipse">
              <a:avLst/>
            </a:prstGeom>
            <a:solidFill>
              <a:schemeClr val="folHlink"/>
            </a:solidFill>
            <a:ln w="9525">
              <a:noFill/>
              <a:round/>
              <a:headEnd/>
              <a:tailEnd/>
            </a:ln>
            <a:effectLst/>
          </p:spPr>
          <p:txBody>
            <a:bodyPr wrap="none" anchor="ctr"/>
            <a:lstStyle/>
            <a:p>
              <a:pPr>
                <a:defRPr/>
              </a:pPr>
              <a:endParaRPr lang="zh-CN"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ffectLst/>
        </p:spPr>
        <p:txBody>
          <a:bodyPr/>
          <a:lstStyle/>
          <a:p>
            <a:pPr>
              <a:defRPr/>
            </a:pPr>
            <a:endParaRPr lang="zh-CN" altLang="en-US"/>
          </a:p>
        </p:txBody>
      </p:sp>
      <p:sp>
        <p:nvSpPr>
          <p:cNvPr id="2051" name="Rectangle 3"/>
          <p:cNvSpPr>
            <a:spLocks noGrp="1" noChangeArrowheads="1"/>
          </p:cNvSpPr>
          <p:nvPr>
            <p:ph type="ctrTitle"/>
          </p:nvPr>
        </p:nvSpPr>
        <p:spPr>
          <a:xfrm>
            <a:off x="315913" y="466725"/>
            <a:ext cx="6781800" cy="2133600"/>
          </a:xfrm>
        </p:spPr>
        <p:txBody>
          <a:bodyPr/>
          <a:lstStyle>
            <a:lvl1pPr algn="r">
              <a:defRPr sz="4800"/>
            </a:lvl1pPr>
          </a:lstStyle>
          <a:p>
            <a:r>
              <a:rPr lang="zh-CN" altLang="en-US"/>
              <a:t>单击此处编辑母版标题样式</a:t>
            </a:r>
          </a:p>
        </p:txBody>
      </p:sp>
      <p:sp>
        <p:nvSpPr>
          <p:cNvPr id="2052"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200"/>
            </a:lvl1pPr>
          </a:lstStyle>
          <a:p>
            <a:r>
              <a:rPr lang="zh-CN" altLang="en-US"/>
              <a:t>单击此处编辑母版副标题样式</a:t>
            </a:r>
          </a:p>
        </p:txBody>
      </p:sp>
      <p:sp>
        <p:nvSpPr>
          <p:cNvPr id="38" name="Rectangle 5"/>
          <p:cNvSpPr>
            <a:spLocks noGrp="1" noChangeArrowheads="1"/>
          </p:cNvSpPr>
          <p:nvPr>
            <p:ph type="dt" sz="half" idx="10"/>
          </p:nvPr>
        </p:nvSpPr>
        <p:spPr/>
        <p:txBody>
          <a:bodyPr/>
          <a:lstStyle>
            <a:lvl1pPr>
              <a:defRPr smtClean="0"/>
            </a:lvl1pPr>
          </a:lstStyle>
          <a:p>
            <a:pPr>
              <a:defRPr/>
            </a:pPr>
            <a:endParaRPr lang="en-US" altLang="zh-CN"/>
          </a:p>
        </p:txBody>
      </p:sp>
      <p:sp>
        <p:nvSpPr>
          <p:cNvPr id="39" name="Rectangle 6"/>
          <p:cNvSpPr>
            <a:spLocks noGrp="1" noChangeArrowheads="1"/>
          </p:cNvSpPr>
          <p:nvPr>
            <p:ph type="ftr" sz="quarter" idx="11"/>
          </p:nvPr>
        </p:nvSpPr>
        <p:spPr/>
        <p:txBody>
          <a:bodyPr/>
          <a:lstStyle>
            <a:lvl1pPr>
              <a:defRPr smtClean="0"/>
            </a:lvl1pPr>
          </a:lstStyle>
          <a:p>
            <a:pPr>
              <a:defRPr/>
            </a:pPr>
            <a:endParaRPr lang="en-US" altLang="zh-CN"/>
          </a:p>
        </p:txBody>
      </p:sp>
      <p:sp>
        <p:nvSpPr>
          <p:cNvPr id="40" name="Rectangle 7"/>
          <p:cNvSpPr>
            <a:spLocks noGrp="1" noChangeArrowheads="1"/>
          </p:cNvSpPr>
          <p:nvPr>
            <p:ph type="sldNum" sz="quarter" idx="12"/>
          </p:nvPr>
        </p:nvSpPr>
        <p:spPr/>
        <p:txBody>
          <a:bodyPr/>
          <a:lstStyle>
            <a:lvl1pPr>
              <a:defRPr smtClean="0"/>
            </a:lvl1pPr>
          </a:lstStyle>
          <a:p>
            <a:pPr>
              <a:defRPr/>
            </a:pPr>
            <a:fld id="{FF969940-20D1-4A31-8690-9AF7FDC4E451}" type="slidenum">
              <a:rPr lang="en-US" altLang="zh-CN"/>
              <a:pPr>
                <a:defRPr/>
              </a:pPr>
              <a:t>‹#›</a:t>
            </a:fld>
            <a:endParaRPr lang="en-US" altLang="zh-CN"/>
          </a:p>
        </p:txBody>
      </p:sp>
    </p:spTree>
    <p:extLst>
      <p:ext uri="{BB962C8B-B14F-4D97-AF65-F5344CB8AC3E}">
        <p14:creationId xmlns:p14="http://schemas.microsoft.com/office/powerpoint/2010/main" val="3425698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B2945A67-E6CF-4C64-933C-E4A2A16CF39A}" type="slidenum">
              <a:rPr lang="en-US" altLang="zh-CN"/>
              <a:pPr>
                <a:defRPr/>
              </a:pPr>
              <a:t>‹#›</a:t>
            </a:fld>
            <a:endParaRPr lang="en-US" altLang="zh-CN"/>
          </a:p>
        </p:txBody>
      </p:sp>
    </p:spTree>
    <p:extLst>
      <p:ext uri="{BB962C8B-B14F-4D97-AF65-F5344CB8AC3E}">
        <p14:creationId xmlns:p14="http://schemas.microsoft.com/office/powerpoint/2010/main" val="592010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4EC88D61-407E-4642-A1E3-74F418BA5938}" type="slidenum">
              <a:rPr lang="en-US" altLang="zh-CN"/>
              <a:pPr>
                <a:defRPr/>
              </a:pPr>
              <a:t>‹#›</a:t>
            </a:fld>
            <a:endParaRPr lang="en-US" altLang="zh-CN"/>
          </a:p>
        </p:txBody>
      </p:sp>
    </p:spTree>
    <p:extLst>
      <p:ext uri="{BB962C8B-B14F-4D97-AF65-F5344CB8AC3E}">
        <p14:creationId xmlns:p14="http://schemas.microsoft.com/office/powerpoint/2010/main" val="3370625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9D140D52-FF53-4D15-9063-E31DC71F4F13}" type="slidenum">
              <a:rPr lang="en-US" altLang="zh-CN"/>
              <a:pPr>
                <a:defRPr/>
              </a:pPr>
              <a:t>‹#›</a:t>
            </a:fld>
            <a:endParaRPr lang="en-US" altLang="zh-CN"/>
          </a:p>
        </p:txBody>
      </p:sp>
    </p:spTree>
    <p:extLst>
      <p:ext uri="{BB962C8B-B14F-4D97-AF65-F5344CB8AC3E}">
        <p14:creationId xmlns:p14="http://schemas.microsoft.com/office/powerpoint/2010/main" val="949372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a:ln/>
        </p:spPr>
        <p:txBody>
          <a:bodyPr/>
          <a:lstStyle>
            <a:lvl1pPr>
              <a:defRPr/>
            </a:lvl1pPr>
          </a:lstStyle>
          <a:p>
            <a:pPr>
              <a:defRPr/>
            </a:pPr>
            <a:fld id="{45036069-6DEB-4608-9784-947EE3E9CEAB}" type="slidenum">
              <a:rPr lang="en-US" altLang="zh-CN"/>
              <a:pPr>
                <a:defRPr/>
              </a:pPr>
              <a:t>‹#›</a:t>
            </a:fld>
            <a:endParaRPr lang="en-US" altLang="zh-CN"/>
          </a:p>
        </p:txBody>
      </p:sp>
    </p:spTree>
    <p:extLst>
      <p:ext uri="{BB962C8B-B14F-4D97-AF65-F5344CB8AC3E}">
        <p14:creationId xmlns:p14="http://schemas.microsoft.com/office/powerpoint/2010/main" val="425485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a:ln/>
        </p:spPr>
        <p:txBody>
          <a:bodyPr/>
          <a:lstStyle>
            <a:lvl1pPr>
              <a:defRPr/>
            </a:lvl1pPr>
          </a:lstStyle>
          <a:p>
            <a:pPr>
              <a:defRPr/>
            </a:pPr>
            <a:fld id="{2083D23E-6E4A-4AB5-9407-9987CB7FFB93}" type="slidenum">
              <a:rPr lang="en-US" altLang="zh-CN"/>
              <a:pPr>
                <a:defRPr/>
              </a:pPr>
              <a:t>‹#›</a:t>
            </a:fld>
            <a:endParaRPr lang="en-US" altLang="zh-CN"/>
          </a:p>
        </p:txBody>
      </p:sp>
    </p:spTree>
    <p:extLst>
      <p:ext uri="{BB962C8B-B14F-4D97-AF65-F5344CB8AC3E}">
        <p14:creationId xmlns:p14="http://schemas.microsoft.com/office/powerpoint/2010/main" val="2426524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a:ln/>
        </p:spPr>
        <p:txBody>
          <a:bodyPr/>
          <a:lstStyle>
            <a:lvl1pPr>
              <a:defRPr/>
            </a:lvl1pPr>
          </a:lstStyle>
          <a:p>
            <a:pPr>
              <a:defRPr/>
            </a:pPr>
            <a:fld id="{5160E9E1-A074-4BE6-9C73-675841B9C8E1}" type="slidenum">
              <a:rPr lang="en-US" altLang="zh-CN"/>
              <a:pPr>
                <a:defRPr/>
              </a:pPr>
              <a:t>‹#›</a:t>
            </a:fld>
            <a:endParaRPr lang="en-US" altLang="zh-CN"/>
          </a:p>
        </p:txBody>
      </p:sp>
    </p:spTree>
    <p:extLst>
      <p:ext uri="{BB962C8B-B14F-4D97-AF65-F5344CB8AC3E}">
        <p14:creationId xmlns:p14="http://schemas.microsoft.com/office/powerpoint/2010/main" val="2869842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E8872A49-5B00-428F-8483-F56C295BABF4}" type="slidenum">
              <a:rPr lang="en-US" altLang="zh-CN"/>
              <a:pPr>
                <a:defRPr/>
              </a:pPr>
              <a:t>‹#›</a:t>
            </a:fld>
            <a:endParaRPr lang="en-US" altLang="zh-CN"/>
          </a:p>
        </p:txBody>
      </p:sp>
    </p:spTree>
    <p:extLst>
      <p:ext uri="{BB962C8B-B14F-4D97-AF65-F5344CB8AC3E}">
        <p14:creationId xmlns:p14="http://schemas.microsoft.com/office/powerpoint/2010/main" val="3777119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0311C630-C01C-415C-B216-FCB94B0DB158}" type="slidenum">
              <a:rPr lang="en-US" altLang="zh-CN"/>
              <a:pPr>
                <a:defRPr/>
              </a:pPr>
              <a:t>‹#›</a:t>
            </a:fld>
            <a:endParaRPr lang="en-US" altLang="zh-CN"/>
          </a:p>
        </p:txBody>
      </p:sp>
    </p:spTree>
    <p:extLst>
      <p:ext uri="{BB962C8B-B14F-4D97-AF65-F5344CB8AC3E}">
        <p14:creationId xmlns:p14="http://schemas.microsoft.com/office/powerpoint/2010/main" val="2266996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31E385B1-6EB0-4BC1-B331-F474D3C2CD74}" type="slidenum">
              <a:rPr lang="en-US" altLang="zh-CN"/>
              <a:pPr>
                <a:defRPr/>
              </a:pPr>
              <a:t>‹#›</a:t>
            </a:fld>
            <a:endParaRPr lang="en-US" altLang="zh-CN"/>
          </a:p>
        </p:txBody>
      </p:sp>
    </p:spTree>
    <p:extLst>
      <p:ext uri="{BB962C8B-B14F-4D97-AF65-F5344CB8AC3E}">
        <p14:creationId xmlns:p14="http://schemas.microsoft.com/office/powerpoint/2010/main" val="2099046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89BE975A-A955-41CF-9701-331203D5AF2A}" type="slidenum">
              <a:rPr lang="en-US" altLang="zh-CN"/>
              <a:pPr>
                <a:defRPr/>
              </a:pPr>
              <a:t>‹#›</a:t>
            </a:fld>
            <a:endParaRPr lang="en-US" altLang="zh-CN"/>
          </a:p>
        </p:txBody>
      </p:sp>
    </p:spTree>
    <p:extLst>
      <p:ext uri="{BB962C8B-B14F-4D97-AF65-F5344CB8AC3E}">
        <p14:creationId xmlns:p14="http://schemas.microsoft.com/office/powerpoint/2010/main" val="35486083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719263"/>
            <a:ext cx="4038600" cy="44116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67D8280B-22D9-4A52-8F4D-BA1D883287B9}" type="slidenum">
              <a:rPr lang="en-US" altLang="zh-CN"/>
              <a:pPr>
                <a:defRPr/>
              </a:pPr>
              <a:t>‹#›</a:t>
            </a:fld>
            <a:endParaRPr lang="en-US" altLang="zh-CN"/>
          </a:p>
        </p:txBody>
      </p:sp>
    </p:spTree>
    <p:extLst>
      <p:ext uri="{BB962C8B-B14F-4D97-AF65-F5344CB8AC3E}">
        <p14:creationId xmlns:p14="http://schemas.microsoft.com/office/powerpoint/2010/main" val="818754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ffectLst/>
        </p:spPr>
        <p:txBody>
          <a:bodyPr/>
          <a:lstStyle/>
          <a:p>
            <a:pPr>
              <a:defRPr/>
            </a:pPr>
            <a:endParaRPr lang="zh-CN" alt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9"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smtClean="0"/>
            </a:lvl1pPr>
          </a:lstStyle>
          <a:p>
            <a:pPr>
              <a:defRPr/>
            </a:pPr>
            <a:endParaRPr lang="en-US" altLang="zh-CN"/>
          </a:p>
        </p:txBody>
      </p:sp>
      <p:sp>
        <p:nvSpPr>
          <p:cNvPr id="1030"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smtClean="0"/>
            </a:lvl1pPr>
          </a:lstStyle>
          <a:p>
            <a:pPr>
              <a:defRPr/>
            </a:pPr>
            <a:endParaRPr lang="en-US" altLang="zh-CN"/>
          </a:p>
        </p:txBody>
      </p:sp>
      <p:sp>
        <p:nvSpPr>
          <p:cNvPr id="1031"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smtClean="0"/>
            </a:lvl1pPr>
          </a:lstStyle>
          <a:p>
            <a:pPr>
              <a:defRPr/>
            </a:pPr>
            <a:fld id="{CF0CBAE4-66AF-4E95-AD85-6BC27329C241}" type="slidenum">
              <a:rPr lang="en-US" altLang="zh-CN"/>
              <a:pPr>
                <a:defRPr/>
              </a:pPr>
              <a:t>‹#›</a:t>
            </a:fld>
            <a:endParaRPr lang="en-US" altLang="zh-CN"/>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w="9525">
              <a:noFill/>
              <a:round/>
              <a:headEnd/>
              <a:tailEnd/>
            </a:ln>
            <a:effectLst/>
          </p:spPr>
          <p:txBody>
            <a:bodyPr wrap="none" anchor="ctr"/>
            <a:lstStyle/>
            <a:p>
              <a:pPr>
                <a:defRPr/>
              </a:pPr>
              <a:endParaRPr lang="zh-CN" altLang="en-US"/>
            </a:p>
          </p:txBody>
        </p:sp>
        <p:sp>
          <p:nvSpPr>
            <p:cNvPr id="1034" name="Oval 10"/>
            <p:cNvSpPr>
              <a:spLocks noChangeArrowheads="1"/>
            </p:cNvSpPr>
            <p:nvPr/>
          </p:nvSpPr>
          <p:spPr bwMode="auto">
            <a:xfrm>
              <a:off x="5248" y="960"/>
              <a:ext cx="79" cy="80"/>
            </a:xfrm>
            <a:prstGeom prst="ellipse">
              <a:avLst/>
            </a:prstGeom>
            <a:solidFill>
              <a:schemeClr val="tx2"/>
            </a:solidFill>
            <a:ln w="9525">
              <a:noFill/>
              <a:round/>
              <a:headEnd/>
              <a:tailEnd/>
            </a:ln>
            <a:effectLst/>
          </p:spPr>
          <p:txBody>
            <a:bodyPr wrap="none" anchor="ctr"/>
            <a:lstStyle/>
            <a:p>
              <a:pPr>
                <a:defRPr/>
              </a:pPr>
              <a:endParaRPr lang="zh-CN" altLang="en-US"/>
            </a:p>
          </p:txBody>
        </p:sp>
        <p:sp>
          <p:nvSpPr>
            <p:cNvPr id="1035" name="Oval 11"/>
            <p:cNvSpPr>
              <a:spLocks noChangeArrowheads="1"/>
            </p:cNvSpPr>
            <p:nvPr/>
          </p:nvSpPr>
          <p:spPr bwMode="auto">
            <a:xfrm>
              <a:off x="5360" y="960"/>
              <a:ext cx="79" cy="80"/>
            </a:xfrm>
            <a:prstGeom prst="ellipse">
              <a:avLst/>
            </a:prstGeom>
            <a:solidFill>
              <a:schemeClr val="tx2"/>
            </a:solidFill>
            <a:ln w="9525">
              <a:noFill/>
              <a:round/>
              <a:headEnd/>
              <a:tailEnd/>
            </a:ln>
            <a:effectLst/>
          </p:spPr>
          <p:txBody>
            <a:bodyPr wrap="none" anchor="ctr"/>
            <a:lstStyle/>
            <a:p>
              <a:pPr>
                <a:defRPr/>
              </a:pPr>
              <a:endParaRPr lang="zh-CN" altLang="en-US"/>
            </a:p>
          </p:txBody>
        </p:sp>
        <p:sp>
          <p:nvSpPr>
            <p:cNvPr id="1036" name="Oval 12"/>
            <p:cNvSpPr>
              <a:spLocks noChangeArrowheads="1"/>
            </p:cNvSpPr>
            <p:nvPr/>
          </p:nvSpPr>
          <p:spPr bwMode="auto">
            <a:xfrm>
              <a:off x="5136" y="1072"/>
              <a:ext cx="80" cy="79"/>
            </a:xfrm>
            <a:prstGeom prst="ellipse">
              <a:avLst/>
            </a:prstGeom>
            <a:solidFill>
              <a:schemeClr val="tx2"/>
            </a:solidFill>
            <a:ln w="9525">
              <a:noFill/>
              <a:round/>
              <a:headEnd/>
              <a:tailEnd/>
            </a:ln>
            <a:effectLst/>
          </p:spPr>
          <p:txBody>
            <a:bodyPr wrap="none" anchor="ctr"/>
            <a:lstStyle/>
            <a:p>
              <a:pPr>
                <a:defRPr/>
              </a:pPr>
              <a:endParaRPr lang="zh-CN" altLang="en-US"/>
            </a:p>
          </p:txBody>
        </p:sp>
        <p:sp>
          <p:nvSpPr>
            <p:cNvPr id="1037" name="Oval 13"/>
            <p:cNvSpPr>
              <a:spLocks noChangeArrowheads="1"/>
            </p:cNvSpPr>
            <p:nvPr/>
          </p:nvSpPr>
          <p:spPr bwMode="auto">
            <a:xfrm>
              <a:off x="5248" y="1072"/>
              <a:ext cx="79" cy="79"/>
            </a:xfrm>
            <a:prstGeom prst="ellipse">
              <a:avLst/>
            </a:prstGeom>
            <a:solidFill>
              <a:schemeClr val="tx2"/>
            </a:solidFill>
            <a:ln w="9525">
              <a:noFill/>
              <a:round/>
              <a:headEnd/>
              <a:tailEnd/>
            </a:ln>
            <a:effectLst/>
          </p:spPr>
          <p:txBody>
            <a:bodyPr wrap="none" anchor="ctr"/>
            <a:lstStyle/>
            <a:p>
              <a:pPr>
                <a:defRPr/>
              </a:pPr>
              <a:endParaRPr lang="zh-CN" altLang="en-US"/>
            </a:p>
          </p:txBody>
        </p:sp>
        <p:sp>
          <p:nvSpPr>
            <p:cNvPr id="1038" name="Oval 14"/>
            <p:cNvSpPr>
              <a:spLocks noChangeArrowheads="1"/>
            </p:cNvSpPr>
            <p:nvPr/>
          </p:nvSpPr>
          <p:spPr bwMode="auto">
            <a:xfrm>
              <a:off x="5360" y="1072"/>
              <a:ext cx="79" cy="79"/>
            </a:xfrm>
            <a:prstGeom prst="ellipse">
              <a:avLst/>
            </a:prstGeom>
            <a:solidFill>
              <a:schemeClr val="tx2"/>
            </a:solidFill>
            <a:ln w="9525">
              <a:noFill/>
              <a:round/>
              <a:headEnd/>
              <a:tailEnd/>
            </a:ln>
            <a:effectLst/>
          </p:spPr>
          <p:txBody>
            <a:bodyPr wrap="none" anchor="ctr"/>
            <a:lstStyle/>
            <a:p>
              <a:pPr>
                <a:defRPr/>
              </a:pPr>
              <a:endParaRPr lang="zh-CN" altLang="en-US"/>
            </a:p>
          </p:txBody>
        </p:sp>
        <p:sp>
          <p:nvSpPr>
            <p:cNvPr id="1039" name="Oval 15"/>
            <p:cNvSpPr>
              <a:spLocks noChangeArrowheads="1"/>
            </p:cNvSpPr>
            <p:nvPr/>
          </p:nvSpPr>
          <p:spPr bwMode="auto">
            <a:xfrm>
              <a:off x="5472" y="1072"/>
              <a:ext cx="79" cy="79"/>
            </a:xfrm>
            <a:prstGeom prst="ellipse">
              <a:avLst/>
            </a:prstGeom>
            <a:solidFill>
              <a:schemeClr val="accent2"/>
            </a:solidFill>
            <a:ln w="9525">
              <a:noFill/>
              <a:round/>
              <a:headEnd/>
              <a:tailEnd/>
            </a:ln>
            <a:effectLst/>
          </p:spPr>
          <p:txBody>
            <a:bodyPr wrap="none" anchor="ctr"/>
            <a:lstStyle/>
            <a:p>
              <a:pPr>
                <a:defRPr/>
              </a:pPr>
              <a:endParaRPr lang="zh-CN" altLang="en-US"/>
            </a:p>
          </p:txBody>
        </p:sp>
        <p:sp>
          <p:nvSpPr>
            <p:cNvPr id="1040" name="Oval 16"/>
            <p:cNvSpPr>
              <a:spLocks noChangeArrowheads="1"/>
            </p:cNvSpPr>
            <p:nvPr/>
          </p:nvSpPr>
          <p:spPr bwMode="auto">
            <a:xfrm>
              <a:off x="5136" y="1184"/>
              <a:ext cx="80" cy="79"/>
            </a:xfrm>
            <a:prstGeom prst="ellipse">
              <a:avLst/>
            </a:prstGeom>
            <a:solidFill>
              <a:schemeClr val="tx2"/>
            </a:solidFill>
            <a:ln w="9525">
              <a:noFill/>
              <a:round/>
              <a:headEnd/>
              <a:tailEnd/>
            </a:ln>
            <a:effectLst/>
          </p:spPr>
          <p:txBody>
            <a:bodyPr wrap="none" anchor="ctr"/>
            <a:lstStyle/>
            <a:p>
              <a:pPr>
                <a:defRPr/>
              </a:pPr>
              <a:endParaRPr lang="zh-CN" altLang="en-US"/>
            </a:p>
          </p:txBody>
        </p:sp>
        <p:sp>
          <p:nvSpPr>
            <p:cNvPr id="1041" name="Oval 17"/>
            <p:cNvSpPr>
              <a:spLocks noChangeArrowheads="1"/>
            </p:cNvSpPr>
            <p:nvPr/>
          </p:nvSpPr>
          <p:spPr bwMode="auto">
            <a:xfrm>
              <a:off x="5248" y="1184"/>
              <a:ext cx="79" cy="79"/>
            </a:xfrm>
            <a:prstGeom prst="ellipse">
              <a:avLst/>
            </a:prstGeom>
            <a:solidFill>
              <a:schemeClr val="tx2"/>
            </a:solidFill>
            <a:ln w="9525">
              <a:noFill/>
              <a:round/>
              <a:headEnd/>
              <a:tailEnd/>
            </a:ln>
            <a:effectLst/>
          </p:spPr>
          <p:txBody>
            <a:bodyPr wrap="none" anchor="ctr"/>
            <a:lstStyle/>
            <a:p>
              <a:pPr>
                <a:defRPr/>
              </a:pPr>
              <a:endParaRPr lang="zh-CN" altLang="en-US"/>
            </a:p>
          </p:txBody>
        </p:sp>
        <p:sp>
          <p:nvSpPr>
            <p:cNvPr id="1042" name="Oval 18"/>
            <p:cNvSpPr>
              <a:spLocks noChangeArrowheads="1"/>
            </p:cNvSpPr>
            <p:nvPr/>
          </p:nvSpPr>
          <p:spPr bwMode="auto">
            <a:xfrm>
              <a:off x="5360" y="1184"/>
              <a:ext cx="79" cy="79"/>
            </a:xfrm>
            <a:prstGeom prst="ellipse">
              <a:avLst/>
            </a:prstGeom>
            <a:solidFill>
              <a:schemeClr val="accent2"/>
            </a:solidFill>
            <a:ln w="9525">
              <a:noFill/>
              <a:round/>
              <a:headEnd/>
              <a:tailEnd/>
            </a:ln>
            <a:effectLst/>
          </p:spPr>
          <p:txBody>
            <a:bodyPr wrap="none" anchor="ctr"/>
            <a:lstStyle/>
            <a:p>
              <a:pPr>
                <a:defRPr/>
              </a:pPr>
              <a:endParaRPr lang="zh-CN" altLang="en-US"/>
            </a:p>
          </p:txBody>
        </p:sp>
        <p:sp>
          <p:nvSpPr>
            <p:cNvPr id="1043" name="Oval 19"/>
            <p:cNvSpPr>
              <a:spLocks noChangeArrowheads="1"/>
            </p:cNvSpPr>
            <p:nvPr/>
          </p:nvSpPr>
          <p:spPr bwMode="auto">
            <a:xfrm>
              <a:off x="5472" y="1184"/>
              <a:ext cx="79" cy="79"/>
            </a:xfrm>
            <a:prstGeom prst="ellipse">
              <a:avLst/>
            </a:prstGeom>
            <a:solidFill>
              <a:schemeClr val="accent2"/>
            </a:solidFill>
            <a:ln w="9525">
              <a:noFill/>
              <a:round/>
              <a:headEnd/>
              <a:tailEnd/>
            </a:ln>
            <a:effectLst/>
          </p:spPr>
          <p:txBody>
            <a:bodyPr wrap="none" anchor="ctr"/>
            <a:lstStyle/>
            <a:p>
              <a:pPr>
                <a:defRPr/>
              </a:pPr>
              <a:endParaRPr lang="zh-CN" altLang="en-US"/>
            </a:p>
          </p:txBody>
        </p:sp>
        <p:sp>
          <p:nvSpPr>
            <p:cNvPr id="1044" name="Oval 20"/>
            <p:cNvSpPr>
              <a:spLocks noChangeArrowheads="1"/>
            </p:cNvSpPr>
            <p:nvPr/>
          </p:nvSpPr>
          <p:spPr bwMode="auto">
            <a:xfrm>
              <a:off x="5584" y="1184"/>
              <a:ext cx="80" cy="79"/>
            </a:xfrm>
            <a:prstGeom prst="ellipse">
              <a:avLst/>
            </a:prstGeom>
            <a:solidFill>
              <a:schemeClr val="accent1"/>
            </a:solidFill>
            <a:ln w="9525">
              <a:noFill/>
              <a:round/>
              <a:headEnd/>
              <a:tailEnd/>
            </a:ln>
            <a:effectLst/>
          </p:spPr>
          <p:txBody>
            <a:bodyPr wrap="none" anchor="ctr"/>
            <a:lstStyle/>
            <a:p>
              <a:pPr>
                <a:defRPr/>
              </a:pPr>
              <a:endParaRPr lang="zh-CN" altLang="en-US"/>
            </a:p>
          </p:txBody>
        </p:sp>
        <p:sp>
          <p:nvSpPr>
            <p:cNvPr id="1045" name="Oval 21"/>
            <p:cNvSpPr>
              <a:spLocks noChangeArrowheads="1"/>
            </p:cNvSpPr>
            <p:nvPr/>
          </p:nvSpPr>
          <p:spPr bwMode="auto">
            <a:xfrm>
              <a:off x="5136" y="1296"/>
              <a:ext cx="80" cy="80"/>
            </a:xfrm>
            <a:prstGeom prst="ellipse">
              <a:avLst/>
            </a:prstGeom>
            <a:solidFill>
              <a:schemeClr val="tx2"/>
            </a:solidFill>
            <a:ln w="9525">
              <a:noFill/>
              <a:round/>
              <a:headEnd/>
              <a:tailEnd/>
            </a:ln>
            <a:effectLst/>
          </p:spPr>
          <p:txBody>
            <a:bodyPr wrap="none" anchor="ctr"/>
            <a:lstStyle/>
            <a:p>
              <a:pPr>
                <a:defRPr/>
              </a:pPr>
              <a:endParaRPr lang="zh-CN" altLang="en-US"/>
            </a:p>
          </p:txBody>
        </p:sp>
        <p:sp>
          <p:nvSpPr>
            <p:cNvPr id="1046" name="Oval 22"/>
            <p:cNvSpPr>
              <a:spLocks noChangeArrowheads="1"/>
            </p:cNvSpPr>
            <p:nvPr/>
          </p:nvSpPr>
          <p:spPr bwMode="auto">
            <a:xfrm>
              <a:off x="5248" y="1296"/>
              <a:ext cx="79" cy="80"/>
            </a:xfrm>
            <a:prstGeom prst="ellipse">
              <a:avLst/>
            </a:prstGeom>
            <a:solidFill>
              <a:schemeClr val="accent2"/>
            </a:solidFill>
            <a:ln w="9525">
              <a:noFill/>
              <a:round/>
              <a:headEnd/>
              <a:tailEnd/>
            </a:ln>
            <a:effectLst/>
          </p:spPr>
          <p:txBody>
            <a:bodyPr wrap="none" anchor="ctr"/>
            <a:lstStyle/>
            <a:p>
              <a:pPr>
                <a:defRPr/>
              </a:pPr>
              <a:endParaRPr lang="zh-CN" altLang="en-US"/>
            </a:p>
          </p:txBody>
        </p:sp>
        <p:sp>
          <p:nvSpPr>
            <p:cNvPr id="1047" name="Oval 23"/>
            <p:cNvSpPr>
              <a:spLocks noChangeArrowheads="1"/>
            </p:cNvSpPr>
            <p:nvPr/>
          </p:nvSpPr>
          <p:spPr bwMode="auto">
            <a:xfrm>
              <a:off x="5360" y="1296"/>
              <a:ext cx="79" cy="80"/>
            </a:xfrm>
            <a:prstGeom prst="ellipse">
              <a:avLst/>
            </a:prstGeom>
            <a:solidFill>
              <a:schemeClr val="accent2"/>
            </a:solidFill>
            <a:ln w="9525">
              <a:noFill/>
              <a:round/>
              <a:headEnd/>
              <a:tailEnd/>
            </a:ln>
            <a:effectLst/>
          </p:spPr>
          <p:txBody>
            <a:bodyPr wrap="none" anchor="ctr"/>
            <a:lstStyle/>
            <a:p>
              <a:pPr>
                <a:defRPr/>
              </a:pPr>
              <a:endParaRPr lang="zh-CN" altLang="en-US"/>
            </a:p>
          </p:txBody>
        </p:sp>
        <p:sp>
          <p:nvSpPr>
            <p:cNvPr id="1048" name="Oval 24"/>
            <p:cNvSpPr>
              <a:spLocks noChangeArrowheads="1"/>
            </p:cNvSpPr>
            <p:nvPr/>
          </p:nvSpPr>
          <p:spPr bwMode="auto">
            <a:xfrm>
              <a:off x="5472" y="1296"/>
              <a:ext cx="79" cy="80"/>
            </a:xfrm>
            <a:prstGeom prst="ellipse">
              <a:avLst/>
            </a:prstGeom>
            <a:solidFill>
              <a:schemeClr val="accent1"/>
            </a:solidFill>
            <a:ln w="9525">
              <a:noFill/>
              <a:round/>
              <a:headEnd/>
              <a:tailEnd/>
            </a:ln>
            <a:effectLst/>
          </p:spPr>
          <p:txBody>
            <a:bodyPr wrap="none" anchor="ctr"/>
            <a:lstStyle/>
            <a:p>
              <a:pPr>
                <a:defRPr/>
              </a:pPr>
              <a:endParaRPr lang="zh-CN" altLang="en-US"/>
            </a:p>
          </p:txBody>
        </p:sp>
        <p:sp>
          <p:nvSpPr>
            <p:cNvPr id="1049" name="Oval 25"/>
            <p:cNvSpPr>
              <a:spLocks noChangeArrowheads="1"/>
            </p:cNvSpPr>
            <p:nvPr/>
          </p:nvSpPr>
          <p:spPr bwMode="auto">
            <a:xfrm>
              <a:off x="5136" y="1408"/>
              <a:ext cx="80" cy="80"/>
            </a:xfrm>
            <a:prstGeom prst="ellipse">
              <a:avLst/>
            </a:prstGeom>
            <a:solidFill>
              <a:schemeClr val="accent2"/>
            </a:solidFill>
            <a:ln w="9525">
              <a:noFill/>
              <a:round/>
              <a:headEnd/>
              <a:tailEnd/>
            </a:ln>
            <a:effectLst/>
          </p:spPr>
          <p:txBody>
            <a:bodyPr wrap="none" anchor="ctr"/>
            <a:lstStyle/>
            <a:p>
              <a:pPr>
                <a:defRPr/>
              </a:pPr>
              <a:endParaRPr lang="zh-CN" altLang="en-US"/>
            </a:p>
          </p:txBody>
        </p:sp>
        <p:sp>
          <p:nvSpPr>
            <p:cNvPr id="1050" name="Oval 26"/>
            <p:cNvSpPr>
              <a:spLocks noChangeArrowheads="1"/>
            </p:cNvSpPr>
            <p:nvPr/>
          </p:nvSpPr>
          <p:spPr bwMode="auto">
            <a:xfrm>
              <a:off x="5248" y="1408"/>
              <a:ext cx="79" cy="80"/>
            </a:xfrm>
            <a:prstGeom prst="ellipse">
              <a:avLst/>
            </a:prstGeom>
            <a:solidFill>
              <a:schemeClr val="accent2"/>
            </a:solidFill>
            <a:ln w="9525">
              <a:noFill/>
              <a:round/>
              <a:headEnd/>
              <a:tailEnd/>
            </a:ln>
            <a:effectLst/>
          </p:spPr>
          <p:txBody>
            <a:bodyPr wrap="none" anchor="ctr"/>
            <a:lstStyle/>
            <a:p>
              <a:pPr>
                <a:defRPr/>
              </a:pPr>
              <a:endParaRPr lang="zh-CN" altLang="en-US"/>
            </a:p>
          </p:txBody>
        </p:sp>
        <p:sp>
          <p:nvSpPr>
            <p:cNvPr id="1051" name="Oval 27"/>
            <p:cNvSpPr>
              <a:spLocks noChangeArrowheads="1"/>
            </p:cNvSpPr>
            <p:nvPr/>
          </p:nvSpPr>
          <p:spPr bwMode="auto">
            <a:xfrm>
              <a:off x="5360" y="1408"/>
              <a:ext cx="79" cy="80"/>
            </a:xfrm>
            <a:prstGeom prst="ellipse">
              <a:avLst/>
            </a:prstGeom>
            <a:solidFill>
              <a:schemeClr val="accent1"/>
            </a:solidFill>
            <a:ln w="9525">
              <a:noFill/>
              <a:round/>
              <a:headEnd/>
              <a:tailEnd/>
            </a:ln>
            <a:effectLst/>
          </p:spPr>
          <p:txBody>
            <a:bodyPr wrap="none" anchor="ctr"/>
            <a:lstStyle/>
            <a:p>
              <a:pPr>
                <a:defRPr/>
              </a:pPr>
              <a:endParaRPr lang="zh-CN" altLang="en-US"/>
            </a:p>
          </p:txBody>
        </p:sp>
        <p:sp>
          <p:nvSpPr>
            <p:cNvPr id="1052" name="Oval 28"/>
            <p:cNvSpPr>
              <a:spLocks noChangeArrowheads="1"/>
            </p:cNvSpPr>
            <p:nvPr/>
          </p:nvSpPr>
          <p:spPr bwMode="auto">
            <a:xfrm>
              <a:off x="5472" y="1408"/>
              <a:ext cx="79" cy="80"/>
            </a:xfrm>
            <a:prstGeom prst="ellipse">
              <a:avLst/>
            </a:prstGeom>
            <a:solidFill>
              <a:schemeClr val="accent1"/>
            </a:solidFill>
            <a:ln w="9525">
              <a:noFill/>
              <a:round/>
              <a:headEnd/>
              <a:tailEnd/>
            </a:ln>
            <a:effectLst/>
          </p:spPr>
          <p:txBody>
            <a:bodyPr wrap="none" anchor="ctr"/>
            <a:lstStyle/>
            <a:p>
              <a:pPr>
                <a:defRPr/>
              </a:pPr>
              <a:endParaRPr lang="zh-CN" altLang="en-US"/>
            </a:p>
          </p:txBody>
        </p:sp>
        <p:sp>
          <p:nvSpPr>
            <p:cNvPr id="1053" name="Oval 29"/>
            <p:cNvSpPr>
              <a:spLocks noChangeArrowheads="1"/>
            </p:cNvSpPr>
            <p:nvPr/>
          </p:nvSpPr>
          <p:spPr bwMode="auto">
            <a:xfrm>
              <a:off x="5584" y="1408"/>
              <a:ext cx="80" cy="80"/>
            </a:xfrm>
            <a:prstGeom prst="ellipse">
              <a:avLst/>
            </a:prstGeom>
            <a:solidFill>
              <a:schemeClr val="folHlink"/>
            </a:solidFill>
            <a:ln w="9525">
              <a:noFill/>
              <a:round/>
              <a:headEnd/>
              <a:tailEnd/>
            </a:ln>
            <a:effectLst/>
          </p:spPr>
          <p:txBody>
            <a:bodyPr wrap="none" anchor="ctr"/>
            <a:lstStyle/>
            <a:p>
              <a:pPr>
                <a:defRPr/>
              </a:pPr>
              <a:endParaRPr lang="zh-CN" altLang="en-US"/>
            </a:p>
          </p:txBody>
        </p:sp>
        <p:sp>
          <p:nvSpPr>
            <p:cNvPr id="1054" name="Oval 30"/>
            <p:cNvSpPr>
              <a:spLocks noChangeArrowheads="1"/>
            </p:cNvSpPr>
            <p:nvPr/>
          </p:nvSpPr>
          <p:spPr bwMode="auto">
            <a:xfrm>
              <a:off x="5136" y="1520"/>
              <a:ext cx="80" cy="79"/>
            </a:xfrm>
            <a:prstGeom prst="ellipse">
              <a:avLst/>
            </a:prstGeom>
            <a:solidFill>
              <a:schemeClr val="accent2"/>
            </a:solidFill>
            <a:ln w="9525">
              <a:noFill/>
              <a:round/>
              <a:headEnd/>
              <a:tailEnd/>
            </a:ln>
            <a:effectLst/>
          </p:spPr>
          <p:txBody>
            <a:bodyPr wrap="none" anchor="ctr"/>
            <a:lstStyle/>
            <a:p>
              <a:pPr>
                <a:defRPr/>
              </a:pPr>
              <a:endParaRPr lang="zh-CN" altLang="en-US"/>
            </a:p>
          </p:txBody>
        </p:sp>
        <p:sp>
          <p:nvSpPr>
            <p:cNvPr id="1055" name="Oval 31"/>
            <p:cNvSpPr>
              <a:spLocks noChangeArrowheads="1"/>
            </p:cNvSpPr>
            <p:nvPr/>
          </p:nvSpPr>
          <p:spPr bwMode="auto">
            <a:xfrm>
              <a:off x="5248" y="1520"/>
              <a:ext cx="79" cy="79"/>
            </a:xfrm>
            <a:prstGeom prst="ellipse">
              <a:avLst/>
            </a:prstGeom>
            <a:solidFill>
              <a:schemeClr val="accent1"/>
            </a:solidFill>
            <a:ln w="9525">
              <a:noFill/>
              <a:round/>
              <a:headEnd/>
              <a:tailEnd/>
            </a:ln>
            <a:effectLst/>
          </p:spPr>
          <p:txBody>
            <a:bodyPr wrap="none" anchor="ctr"/>
            <a:lstStyle/>
            <a:p>
              <a:pPr>
                <a:defRPr/>
              </a:pPr>
              <a:endParaRPr lang="zh-CN" altLang="en-US"/>
            </a:p>
          </p:txBody>
        </p:sp>
        <p:sp>
          <p:nvSpPr>
            <p:cNvPr id="1056" name="Oval 32"/>
            <p:cNvSpPr>
              <a:spLocks noChangeArrowheads="1"/>
            </p:cNvSpPr>
            <p:nvPr/>
          </p:nvSpPr>
          <p:spPr bwMode="auto">
            <a:xfrm>
              <a:off x="5360" y="1520"/>
              <a:ext cx="79" cy="79"/>
            </a:xfrm>
            <a:prstGeom prst="ellipse">
              <a:avLst/>
            </a:prstGeom>
            <a:solidFill>
              <a:schemeClr val="accent1"/>
            </a:solidFill>
            <a:ln w="9525">
              <a:noFill/>
              <a:round/>
              <a:headEnd/>
              <a:tailEnd/>
            </a:ln>
            <a:effectLst/>
          </p:spPr>
          <p:txBody>
            <a:bodyPr wrap="none" anchor="ctr"/>
            <a:lstStyle/>
            <a:p>
              <a:pPr>
                <a:defRPr/>
              </a:pPr>
              <a:endParaRPr lang="zh-CN" altLang="en-US"/>
            </a:p>
          </p:txBody>
        </p:sp>
        <p:sp>
          <p:nvSpPr>
            <p:cNvPr id="1057" name="Oval 33"/>
            <p:cNvSpPr>
              <a:spLocks noChangeArrowheads="1"/>
            </p:cNvSpPr>
            <p:nvPr/>
          </p:nvSpPr>
          <p:spPr bwMode="auto">
            <a:xfrm>
              <a:off x="5472" y="1520"/>
              <a:ext cx="79" cy="79"/>
            </a:xfrm>
            <a:prstGeom prst="ellipse">
              <a:avLst/>
            </a:prstGeom>
            <a:solidFill>
              <a:schemeClr val="folHlink"/>
            </a:solidFill>
            <a:ln w="9525">
              <a:noFill/>
              <a:round/>
              <a:headEnd/>
              <a:tailEnd/>
            </a:ln>
            <a:effectLst/>
          </p:spPr>
          <p:txBody>
            <a:bodyPr wrap="none" anchor="ctr"/>
            <a:lstStyle/>
            <a:p>
              <a:pPr>
                <a:defRPr/>
              </a:pPr>
              <a:endParaRPr lang="zh-CN" altLang="en-US"/>
            </a:p>
          </p:txBody>
        </p:sp>
        <p:sp>
          <p:nvSpPr>
            <p:cNvPr id="1058" name="Oval 34"/>
            <p:cNvSpPr>
              <a:spLocks noChangeArrowheads="1"/>
            </p:cNvSpPr>
            <p:nvPr/>
          </p:nvSpPr>
          <p:spPr bwMode="auto">
            <a:xfrm>
              <a:off x="5136" y="1632"/>
              <a:ext cx="80" cy="79"/>
            </a:xfrm>
            <a:prstGeom prst="ellipse">
              <a:avLst/>
            </a:prstGeom>
            <a:solidFill>
              <a:schemeClr val="accent1"/>
            </a:solidFill>
            <a:ln w="9525">
              <a:noFill/>
              <a:round/>
              <a:headEnd/>
              <a:tailEnd/>
            </a:ln>
            <a:effectLst/>
          </p:spPr>
          <p:txBody>
            <a:bodyPr wrap="none" anchor="ctr"/>
            <a:lstStyle/>
            <a:p>
              <a:pPr>
                <a:defRPr/>
              </a:pPr>
              <a:endParaRPr lang="zh-CN" altLang="en-US"/>
            </a:p>
          </p:txBody>
        </p:sp>
        <p:sp>
          <p:nvSpPr>
            <p:cNvPr id="1059" name="Oval 35"/>
            <p:cNvSpPr>
              <a:spLocks noChangeArrowheads="1"/>
            </p:cNvSpPr>
            <p:nvPr/>
          </p:nvSpPr>
          <p:spPr bwMode="auto">
            <a:xfrm>
              <a:off x="5248" y="1632"/>
              <a:ext cx="79" cy="79"/>
            </a:xfrm>
            <a:prstGeom prst="ellipse">
              <a:avLst/>
            </a:prstGeom>
            <a:solidFill>
              <a:schemeClr val="accent1"/>
            </a:solidFill>
            <a:ln w="9525">
              <a:noFill/>
              <a:round/>
              <a:headEnd/>
              <a:tailEnd/>
            </a:ln>
            <a:effectLst/>
          </p:spPr>
          <p:txBody>
            <a:bodyPr wrap="none" anchor="ctr"/>
            <a:lstStyle/>
            <a:p>
              <a:pPr>
                <a:defRPr/>
              </a:pPr>
              <a:endParaRPr lang="zh-CN" altLang="en-US"/>
            </a:p>
          </p:txBody>
        </p:sp>
        <p:sp>
          <p:nvSpPr>
            <p:cNvPr id="1060" name="Oval 36"/>
            <p:cNvSpPr>
              <a:spLocks noChangeArrowheads="1"/>
            </p:cNvSpPr>
            <p:nvPr/>
          </p:nvSpPr>
          <p:spPr bwMode="auto">
            <a:xfrm>
              <a:off x="5360" y="1632"/>
              <a:ext cx="79" cy="79"/>
            </a:xfrm>
            <a:prstGeom prst="ellipse">
              <a:avLst/>
            </a:prstGeom>
            <a:solidFill>
              <a:schemeClr val="folHlink"/>
            </a:solidFill>
            <a:ln w="9525">
              <a:noFill/>
              <a:round/>
              <a:headEnd/>
              <a:tailEnd/>
            </a:ln>
            <a:effectLst/>
          </p:spPr>
          <p:txBody>
            <a:bodyPr wrap="none" anchor="ctr"/>
            <a:lstStyle/>
            <a:p>
              <a:pPr>
                <a:defRPr/>
              </a:pPr>
              <a:endParaRPr lang="zh-CN" altLang="en-US"/>
            </a:p>
          </p:txBody>
        </p:sp>
        <p:sp>
          <p:nvSpPr>
            <p:cNvPr id="1061" name="Oval 37"/>
            <p:cNvSpPr>
              <a:spLocks noChangeArrowheads="1"/>
            </p:cNvSpPr>
            <p:nvPr/>
          </p:nvSpPr>
          <p:spPr bwMode="auto">
            <a:xfrm>
              <a:off x="5472" y="1632"/>
              <a:ext cx="79" cy="79"/>
            </a:xfrm>
            <a:prstGeom prst="ellipse">
              <a:avLst/>
            </a:prstGeom>
            <a:solidFill>
              <a:schemeClr val="folHlink"/>
            </a:solidFill>
            <a:ln w="9525">
              <a:noFill/>
              <a:round/>
              <a:headEnd/>
              <a:tailEnd/>
            </a:ln>
            <a:effectLst/>
          </p:spPr>
          <p:txBody>
            <a:bodyPr wrap="none" anchor="ctr"/>
            <a:lstStyle/>
            <a:p>
              <a:pPr>
                <a:defRPr/>
              </a:pPr>
              <a:endParaRPr lang="zh-CN" altLang="en-US"/>
            </a:p>
          </p:txBody>
        </p:sp>
        <p:sp>
          <p:nvSpPr>
            <p:cNvPr id="1062" name="Oval 38"/>
            <p:cNvSpPr>
              <a:spLocks noChangeArrowheads="1"/>
            </p:cNvSpPr>
            <p:nvPr/>
          </p:nvSpPr>
          <p:spPr bwMode="auto">
            <a:xfrm>
              <a:off x="5248" y="1744"/>
              <a:ext cx="79" cy="80"/>
            </a:xfrm>
            <a:prstGeom prst="ellipse">
              <a:avLst/>
            </a:prstGeom>
            <a:solidFill>
              <a:schemeClr val="folHlink"/>
            </a:solidFill>
            <a:ln w="9525">
              <a:noFill/>
              <a:round/>
              <a:headEnd/>
              <a:tailEnd/>
            </a:ln>
            <a:effectLst/>
          </p:spPr>
          <p:txBody>
            <a:bodyPr wrap="none" anchor="ctr"/>
            <a:lstStyle/>
            <a:p>
              <a:pPr>
                <a:defRPr/>
              </a:pPr>
              <a:endParaRPr lang="zh-CN" altLang="en-US"/>
            </a:p>
          </p:txBody>
        </p:sp>
        <p:sp>
          <p:nvSpPr>
            <p:cNvPr id="1063" name="Oval 39"/>
            <p:cNvSpPr>
              <a:spLocks noChangeArrowheads="1"/>
            </p:cNvSpPr>
            <p:nvPr/>
          </p:nvSpPr>
          <p:spPr bwMode="auto">
            <a:xfrm>
              <a:off x="5472" y="1744"/>
              <a:ext cx="79" cy="80"/>
            </a:xfrm>
            <a:prstGeom prst="ellipse">
              <a:avLst/>
            </a:prstGeom>
            <a:solidFill>
              <a:schemeClr val="folHlink"/>
            </a:solidFill>
            <a:ln w="9525">
              <a:noFill/>
              <a:round/>
              <a:headEnd/>
              <a:tailEnd/>
            </a:ln>
            <a:effectLst/>
          </p:spPr>
          <p:txBody>
            <a:bodyPr wrap="none" anchor="ctr"/>
            <a:lstStyle/>
            <a:p>
              <a:pPr>
                <a:defRPr/>
              </a:pPr>
              <a:endParaRPr lang="zh-CN" altLang="en-US"/>
            </a:p>
          </p:txBody>
        </p:sp>
      </p:grpSp>
    </p:spTree>
  </p:cSld>
  <p:clrMap bg1="lt1" tx1="dk1" bg2="lt2" tx2="dk2" accent1="accent1" accent2="accent2" accent3="accent3" accent4="accent4" accent5="accent5" accent6="accent6" hlink="hlink" folHlink="folHlink"/>
  <p:sldLayoutIdLst>
    <p:sldLayoutId id="2147483673"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hf hdr="0" ft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ea typeface="宋体" pitchFamily="2" charset="-122"/>
        </a:defRPr>
      </a:lvl2pPr>
      <a:lvl3pPr algn="l" rtl="0" eaLnBrk="0" fontAlgn="base" hangingPunct="0">
        <a:spcBef>
          <a:spcPct val="0"/>
        </a:spcBef>
        <a:spcAft>
          <a:spcPct val="0"/>
        </a:spcAft>
        <a:defRPr sz="3900" b="1">
          <a:solidFill>
            <a:schemeClr val="tx2"/>
          </a:solidFill>
          <a:latin typeface="Arial" charset="0"/>
          <a:ea typeface="宋体" pitchFamily="2" charset="-122"/>
        </a:defRPr>
      </a:lvl3pPr>
      <a:lvl4pPr algn="l" rtl="0" eaLnBrk="0" fontAlgn="base" hangingPunct="0">
        <a:spcBef>
          <a:spcPct val="0"/>
        </a:spcBef>
        <a:spcAft>
          <a:spcPct val="0"/>
        </a:spcAft>
        <a:defRPr sz="3900" b="1">
          <a:solidFill>
            <a:schemeClr val="tx2"/>
          </a:solidFill>
          <a:latin typeface="Arial" charset="0"/>
          <a:ea typeface="宋体" pitchFamily="2" charset="-122"/>
        </a:defRPr>
      </a:lvl4pPr>
      <a:lvl5pPr algn="l" rtl="0" eaLnBrk="0" fontAlgn="base" hangingPunct="0">
        <a:spcBef>
          <a:spcPct val="0"/>
        </a:spcBef>
        <a:spcAft>
          <a:spcPct val="0"/>
        </a:spcAft>
        <a:defRPr sz="3900" b="1">
          <a:solidFill>
            <a:schemeClr val="tx2"/>
          </a:solidFill>
          <a:latin typeface="Arial" charset="0"/>
          <a:ea typeface="宋体" pitchFamily="2" charset="-122"/>
        </a:defRPr>
      </a:lvl5pPr>
      <a:lvl6pPr marL="457200" algn="l" rtl="0" fontAlgn="base">
        <a:spcBef>
          <a:spcPct val="0"/>
        </a:spcBef>
        <a:spcAft>
          <a:spcPct val="0"/>
        </a:spcAft>
        <a:defRPr sz="3900" b="1">
          <a:solidFill>
            <a:schemeClr val="tx2"/>
          </a:solidFill>
          <a:latin typeface="Arial" charset="0"/>
          <a:ea typeface="宋体" pitchFamily="2" charset="-122"/>
        </a:defRPr>
      </a:lvl6pPr>
      <a:lvl7pPr marL="914400" algn="l" rtl="0" fontAlgn="base">
        <a:spcBef>
          <a:spcPct val="0"/>
        </a:spcBef>
        <a:spcAft>
          <a:spcPct val="0"/>
        </a:spcAft>
        <a:defRPr sz="3900" b="1">
          <a:solidFill>
            <a:schemeClr val="tx2"/>
          </a:solidFill>
          <a:latin typeface="Arial" charset="0"/>
          <a:ea typeface="宋体" pitchFamily="2" charset="-122"/>
        </a:defRPr>
      </a:lvl7pPr>
      <a:lvl8pPr marL="1371600" algn="l" rtl="0" fontAlgn="base">
        <a:spcBef>
          <a:spcPct val="0"/>
        </a:spcBef>
        <a:spcAft>
          <a:spcPct val="0"/>
        </a:spcAft>
        <a:defRPr sz="3900" b="1">
          <a:solidFill>
            <a:schemeClr val="tx2"/>
          </a:solidFill>
          <a:latin typeface="Arial" charset="0"/>
          <a:ea typeface="宋体" pitchFamily="2" charset="-122"/>
        </a:defRPr>
      </a:lvl8pPr>
      <a:lvl9pPr marL="1828800" algn="l" rtl="0" fontAlgn="base">
        <a:spcBef>
          <a:spcPct val="0"/>
        </a:spcBef>
        <a:spcAft>
          <a:spcPct val="0"/>
        </a:spcAft>
        <a:defRPr sz="3900" b="1">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ea typeface="+mn-ea"/>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ea typeface="+mn-ea"/>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ea typeface="+mn-ea"/>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4.1.swf"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4.2.swf"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7"/>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43E79CB-ED4B-4307-89A0-E1EB40F9F66B}" type="slidenum">
              <a:rPr lang="en-US" altLang="zh-CN"/>
              <a:pPr eaLnBrk="1" hangingPunct="1"/>
              <a:t>1</a:t>
            </a:fld>
            <a:endParaRPr lang="en-US" altLang="zh-CN" dirty="0"/>
          </a:p>
        </p:txBody>
      </p:sp>
      <p:sp>
        <p:nvSpPr>
          <p:cNvPr id="3075" name="Rectangle 2"/>
          <p:cNvSpPr>
            <a:spLocks noGrp="1" noChangeArrowheads="1"/>
          </p:cNvSpPr>
          <p:nvPr>
            <p:ph type="ctrTitle"/>
          </p:nvPr>
        </p:nvSpPr>
        <p:spPr>
          <a:xfrm>
            <a:off x="315913" y="1465263"/>
            <a:ext cx="6781800" cy="1135062"/>
          </a:xfrm>
        </p:spPr>
        <p:txBody>
          <a:bodyPr/>
          <a:lstStyle/>
          <a:p>
            <a:pPr eaLnBrk="1" hangingPunct="1"/>
            <a:r>
              <a:rPr lang="zh-CN" altLang="en-US" smtClean="0"/>
              <a:t>第四章  指令系统</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927C470-1C5E-4B90-B9DF-05F34431ABC5}" type="slidenum">
              <a:rPr lang="en-US" altLang="zh-CN"/>
              <a:pPr eaLnBrk="1" hangingPunct="1"/>
              <a:t>2</a:t>
            </a:fld>
            <a:endParaRPr lang="en-US" altLang="zh-CN" dirty="0"/>
          </a:p>
        </p:txBody>
      </p:sp>
      <p:sp>
        <p:nvSpPr>
          <p:cNvPr id="4099" name="Rectangle 2"/>
          <p:cNvSpPr>
            <a:spLocks noGrp="1" noChangeArrowheads="1"/>
          </p:cNvSpPr>
          <p:nvPr>
            <p:ph type="title"/>
          </p:nvPr>
        </p:nvSpPr>
        <p:spPr>
          <a:xfrm>
            <a:off x="395288" y="260350"/>
            <a:ext cx="7543800" cy="1008063"/>
          </a:xfrm>
        </p:spPr>
        <p:txBody>
          <a:bodyPr/>
          <a:lstStyle/>
          <a:p>
            <a:pPr eaLnBrk="1" hangingPunct="1"/>
            <a:r>
              <a:rPr lang="en-US" altLang="zh-CN" dirty="0" smtClean="0">
                <a:latin typeface="微软雅黑" pitchFamily="34" charset="-122"/>
                <a:ea typeface="微软雅黑" pitchFamily="34" charset="-122"/>
                <a:cs typeface="Times New Roman" pitchFamily="18" charset="0"/>
              </a:rPr>
              <a:t>4.1 </a:t>
            </a:r>
            <a:r>
              <a:rPr lang="zh-CN" altLang="en-US" dirty="0" smtClean="0">
                <a:latin typeface="微软雅黑" pitchFamily="34" charset="-122"/>
                <a:ea typeface="微软雅黑" pitchFamily="34" charset="-122"/>
              </a:rPr>
              <a:t>指令系统的发展与性能要求</a:t>
            </a:r>
          </a:p>
        </p:txBody>
      </p:sp>
      <p:sp>
        <p:nvSpPr>
          <p:cNvPr id="4100" name="Rectangle 3"/>
          <p:cNvSpPr>
            <a:spLocks noGrp="1" noChangeArrowheads="1"/>
          </p:cNvSpPr>
          <p:nvPr>
            <p:ph type="body" idx="1"/>
          </p:nvPr>
        </p:nvSpPr>
        <p:spPr>
          <a:xfrm>
            <a:off x="395288" y="1628775"/>
            <a:ext cx="8229600" cy="4411663"/>
          </a:xfrm>
        </p:spPr>
        <p:txBody>
          <a:bodyPr/>
          <a:lstStyle/>
          <a:p>
            <a:pPr eaLnBrk="1" hangingPunct="1">
              <a:lnSpc>
                <a:spcPct val="120000"/>
              </a:lnSpc>
              <a:buFont typeface="Wingdings" pitchFamily="2" charset="2"/>
              <a:buNone/>
            </a:pPr>
            <a:r>
              <a:rPr lang="en-US" altLang="zh-CN" dirty="0" smtClean="0">
                <a:latin typeface="微软雅黑" pitchFamily="34" charset="-122"/>
                <a:ea typeface="微软雅黑" pitchFamily="34" charset="-122"/>
              </a:rPr>
              <a:t>1</a:t>
            </a:r>
            <a:r>
              <a:rPr lang="zh-CN" altLang="en-US" dirty="0" smtClean="0">
                <a:latin typeface="微软雅黑" pitchFamily="34" charset="-122"/>
                <a:ea typeface="微软雅黑" pitchFamily="34" charset="-122"/>
              </a:rPr>
              <a:t>、指令在计算机系统中的地位</a:t>
            </a:r>
          </a:p>
          <a:p>
            <a:pPr eaLnBrk="1" hangingPunct="1">
              <a:lnSpc>
                <a:spcPct val="120000"/>
              </a:lnSpc>
              <a:buFont typeface="Wingdings" pitchFamily="2" charset="2"/>
              <a:buNone/>
            </a:pPr>
            <a:r>
              <a:rPr lang="zh-CN" altLang="en-US" dirty="0" smtClean="0">
                <a:latin typeface="微软雅黑" pitchFamily="34" charset="-122"/>
                <a:ea typeface="微软雅黑" pitchFamily="34" charset="-122"/>
              </a:rPr>
              <a:t>（</a:t>
            </a:r>
            <a:r>
              <a:rPr lang="en-US" altLang="zh-CN" dirty="0" smtClean="0">
                <a:latin typeface="微软雅黑" pitchFamily="34" charset="-122"/>
                <a:ea typeface="微软雅黑" pitchFamily="34" charset="-122"/>
              </a:rPr>
              <a:t>1</a:t>
            </a:r>
            <a:r>
              <a:rPr lang="zh-CN" altLang="en-US" dirty="0" smtClean="0">
                <a:latin typeface="微软雅黑" pitchFamily="34" charset="-122"/>
                <a:ea typeface="微软雅黑" pitchFamily="34" charset="-122"/>
              </a:rPr>
              <a:t>）是软件和硬件分界面的一个主要标志</a:t>
            </a:r>
          </a:p>
          <a:p>
            <a:pPr lvl="1" eaLnBrk="1" hangingPunct="1">
              <a:lnSpc>
                <a:spcPct val="120000"/>
              </a:lnSpc>
            </a:pPr>
            <a:r>
              <a:rPr lang="zh-CN" altLang="en-US" dirty="0" smtClean="0">
                <a:latin typeface="微软雅黑" pitchFamily="34" charset="-122"/>
                <a:ea typeface="微软雅黑" pitchFamily="34" charset="-122"/>
              </a:rPr>
              <a:t>硬件设计人员采用各种手段实现它；</a:t>
            </a:r>
          </a:p>
          <a:p>
            <a:pPr lvl="1" eaLnBrk="1" hangingPunct="1">
              <a:lnSpc>
                <a:spcPct val="120000"/>
              </a:lnSpc>
            </a:pPr>
            <a:r>
              <a:rPr lang="zh-CN" altLang="en-US" dirty="0" smtClean="0">
                <a:latin typeface="微软雅黑" pitchFamily="34" charset="-122"/>
                <a:ea typeface="微软雅黑" pitchFamily="34" charset="-122"/>
              </a:rPr>
              <a:t>软件设计人员则利用它编制各种各样的系统软件和应用软件</a:t>
            </a:r>
          </a:p>
          <a:p>
            <a:pPr eaLnBrk="1" hangingPunct="1">
              <a:lnSpc>
                <a:spcPct val="120000"/>
              </a:lnSpc>
              <a:buFont typeface="Wingdings" pitchFamily="2" charset="2"/>
              <a:buNone/>
            </a:pPr>
            <a:r>
              <a:rPr lang="zh-CN" altLang="en-US" dirty="0" smtClean="0">
                <a:latin typeface="微软雅黑" pitchFamily="34" charset="-122"/>
                <a:ea typeface="微软雅黑" pitchFamily="34" charset="-122"/>
              </a:rPr>
              <a:t>（</a:t>
            </a:r>
            <a:r>
              <a:rPr lang="en-US" altLang="zh-CN" dirty="0" smtClean="0">
                <a:latin typeface="微软雅黑" pitchFamily="34" charset="-122"/>
                <a:ea typeface="微软雅黑" pitchFamily="34" charset="-122"/>
              </a:rPr>
              <a:t>2</a:t>
            </a:r>
            <a:r>
              <a:rPr lang="zh-CN" altLang="en-US" dirty="0" smtClean="0">
                <a:latin typeface="微软雅黑" pitchFamily="34" charset="-122"/>
                <a:ea typeface="微软雅黑" pitchFamily="34" charset="-122"/>
              </a:rPr>
              <a:t>）是硬件设计人员和软件设计人员之间的分界面，也是他们之间沟通的桥梁。</a:t>
            </a:r>
          </a:p>
          <a:p>
            <a:pPr lvl="1" eaLnBrk="1" hangingPunct="1"/>
            <a:endParaRPr lang="en-US" altLang="zh-CN"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9B1ABAA-1DB7-48EA-BCFA-241C9C9A30E1}" type="slidenum">
              <a:rPr lang="en-US" altLang="zh-CN">
                <a:latin typeface="微软雅黑" pitchFamily="34" charset="-122"/>
                <a:ea typeface="微软雅黑" pitchFamily="34" charset="-122"/>
              </a:rPr>
              <a:pPr eaLnBrk="1" hangingPunct="1"/>
              <a:t>3</a:t>
            </a:fld>
            <a:endParaRPr lang="en-US" altLang="zh-CN" dirty="0">
              <a:latin typeface="微软雅黑" pitchFamily="34" charset="-122"/>
              <a:ea typeface="微软雅黑" pitchFamily="34" charset="-122"/>
            </a:endParaRPr>
          </a:p>
        </p:txBody>
      </p:sp>
      <p:sp>
        <p:nvSpPr>
          <p:cNvPr id="5123" name="Rectangle 2"/>
          <p:cNvSpPr>
            <a:spLocks noGrp="1" noChangeArrowheads="1"/>
          </p:cNvSpPr>
          <p:nvPr>
            <p:ph type="title"/>
          </p:nvPr>
        </p:nvSpPr>
        <p:spPr>
          <a:xfrm>
            <a:off x="468313" y="246291"/>
            <a:ext cx="7543800" cy="714375"/>
          </a:xfrm>
        </p:spPr>
        <p:txBody>
          <a:bodyPr/>
          <a:lstStyle/>
          <a:p>
            <a:pPr eaLnBrk="1" hangingPunct="1"/>
            <a:r>
              <a:rPr lang="en-US" altLang="zh-CN" dirty="0" smtClean="0">
                <a:latin typeface="微软雅黑" pitchFamily="34" charset="-122"/>
                <a:ea typeface="微软雅黑" pitchFamily="34" charset="-122"/>
                <a:cs typeface="Times New Roman" pitchFamily="18" charset="0"/>
              </a:rPr>
              <a:t>4.1 </a:t>
            </a:r>
            <a:r>
              <a:rPr lang="zh-CN" altLang="en-US" dirty="0" smtClean="0">
                <a:latin typeface="微软雅黑" pitchFamily="34" charset="-122"/>
                <a:ea typeface="微软雅黑" pitchFamily="34" charset="-122"/>
              </a:rPr>
              <a:t>指令系统的发展与性能要求</a:t>
            </a:r>
          </a:p>
        </p:txBody>
      </p:sp>
      <p:sp>
        <p:nvSpPr>
          <p:cNvPr id="5124" name="Rectangle 3"/>
          <p:cNvSpPr>
            <a:spLocks noGrp="1" noChangeArrowheads="1"/>
          </p:cNvSpPr>
          <p:nvPr>
            <p:ph type="body" idx="1"/>
          </p:nvPr>
        </p:nvSpPr>
        <p:spPr>
          <a:xfrm>
            <a:off x="251520" y="1008293"/>
            <a:ext cx="8713093" cy="5733075"/>
          </a:xfrm>
        </p:spPr>
        <p:txBody>
          <a:bodyPr/>
          <a:lstStyle/>
          <a:p>
            <a:pPr eaLnBrk="1" hangingPunct="1">
              <a:lnSpc>
                <a:spcPct val="110000"/>
              </a:lnSpc>
              <a:spcBef>
                <a:spcPts val="0"/>
              </a:spcBef>
              <a:buFont typeface="Wingdings" pitchFamily="2" charset="2"/>
              <a:buNone/>
            </a:pPr>
            <a:r>
              <a:rPr lang="en-US" altLang="zh-CN" sz="2400" dirty="0" smtClean="0">
                <a:latin typeface="微软雅黑" pitchFamily="34" charset="-122"/>
                <a:ea typeface="微软雅黑" pitchFamily="34" charset="-122"/>
              </a:rPr>
              <a:t>2</a:t>
            </a:r>
            <a:r>
              <a:rPr lang="zh-CN" altLang="en-US" sz="2400" dirty="0" smtClean="0">
                <a:latin typeface="微软雅黑" pitchFamily="34" charset="-122"/>
                <a:ea typeface="微软雅黑" pitchFamily="34" charset="-122"/>
              </a:rPr>
              <a:t>、指令系统基本概念</a:t>
            </a:r>
          </a:p>
          <a:p>
            <a:pPr eaLnBrk="1" hangingPunct="1">
              <a:lnSpc>
                <a:spcPct val="110000"/>
              </a:lnSpc>
              <a:spcBef>
                <a:spcPts val="0"/>
              </a:spcBef>
            </a:pPr>
            <a:r>
              <a:rPr lang="zh-CN" altLang="en-US" sz="2400" dirty="0" smtClean="0">
                <a:latin typeface="微软雅黑" pitchFamily="34" charset="-122"/>
                <a:ea typeface="微软雅黑" pitchFamily="34" charset="-122"/>
              </a:rPr>
              <a:t>指令：就是要计算机执行某种操作的命令。从计算机组成的层次结构来说，计算机的指令有微指令、机器指令和宏指令之分。</a:t>
            </a:r>
          </a:p>
          <a:p>
            <a:pPr eaLnBrk="1" hangingPunct="1">
              <a:lnSpc>
                <a:spcPct val="110000"/>
              </a:lnSpc>
              <a:spcBef>
                <a:spcPts val="0"/>
              </a:spcBef>
            </a:pPr>
            <a:r>
              <a:rPr lang="zh-CN" altLang="en-US" sz="2400" dirty="0" smtClean="0">
                <a:latin typeface="微软雅黑" pitchFamily="34" charset="-122"/>
                <a:ea typeface="微软雅黑" pitchFamily="34" charset="-122"/>
              </a:rPr>
              <a:t>微指令是微程序级的命令，它属于硬件；</a:t>
            </a:r>
          </a:p>
          <a:p>
            <a:pPr eaLnBrk="1" hangingPunct="1">
              <a:lnSpc>
                <a:spcPct val="110000"/>
              </a:lnSpc>
              <a:spcBef>
                <a:spcPts val="0"/>
              </a:spcBef>
            </a:pPr>
            <a:r>
              <a:rPr lang="zh-CN" altLang="en-US" sz="2400" dirty="0" smtClean="0">
                <a:latin typeface="微软雅黑" pitchFamily="34" charset="-122"/>
                <a:ea typeface="微软雅黑" pitchFamily="34" charset="-122"/>
              </a:rPr>
              <a:t>宏指令：由若干条机器指令组成的软件指令，它属于软件；</a:t>
            </a:r>
          </a:p>
          <a:p>
            <a:pPr eaLnBrk="1" hangingPunct="1">
              <a:lnSpc>
                <a:spcPct val="110000"/>
              </a:lnSpc>
              <a:spcBef>
                <a:spcPts val="0"/>
              </a:spcBef>
            </a:pPr>
            <a:r>
              <a:rPr lang="zh-CN" altLang="en-US" sz="2400" dirty="0" smtClean="0">
                <a:latin typeface="微软雅黑" pitchFamily="34" charset="-122"/>
                <a:ea typeface="微软雅黑" pitchFamily="34" charset="-122"/>
              </a:rPr>
              <a:t>机器指令：介于微指令与宏指令之间，通常简称为指令，每一条指令可完成一个独立的算术运算或逻辑运算操作。</a:t>
            </a:r>
          </a:p>
          <a:p>
            <a:pPr eaLnBrk="1" hangingPunct="1">
              <a:lnSpc>
                <a:spcPct val="110000"/>
              </a:lnSpc>
              <a:spcBef>
                <a:spcPts val="0"/>
              </a:spcBef>
            </a:pPr>
            <a:r>
              <a:rPr lang="zh-CN" altLang="en-US" sz="2400" dirty="0" smtClean="0">
                <a:latin typeface="微软雅黑" pitchFamily="34" charset="-122"/>
                <a:ea typeface="微软雅黑" pitchFamily="34" charset="-122"/>
              </a:rPr>
              <a:t>本章所讨论的指令，是机器指令。</a:t>
            </a:r>
          </a:p>
          <a:p>
            <a:pPr eaLnBrk="1" hangingPunct="1">
              <a:lnSpc>
                <a:spcPct val="110000"/>
              </a:lnSpc>
              <a:spcBef>
                <a:spcPts val="0"/>
              </a:spcBef>
            </a:pPr>
            <a:r>
              <a:rPr lang="zh-CN" altLang="en-US" sz="2400" b="1" dirty="0" smtClean="0">
                <a:solidFill>
                  <a:srgbClr val="FF0000"/>
                </a:solidFill>
                <a:latin typeface="微软雅黑" pitchFamily="34" charset="-122"/>
                <a:ea typeface="微软雅黑" pitchFamily="34" charset="-122"/>
              </a:rPr>
              <a:t>一台计算机中所有机器指令的集合，称为这台计算机的指令系统。</a:t>
            </a:r>
          </a:p>
          <a:p>
            <a:pPr lvl="1" eaLnBrk="1" hangingPunct="1">
              <a:lnSpc>
                <a:spcPct val="110000"/>
              </a:lnSpc>
              <a:spcBef>
                <a:spcPts val="0"/>
              </a:spcBef>
            </a:pPr>
            <a:r>
              <a:rPr lang="zh-CN" altLang="en-US" sz="2400" b="1" dirty="0" smtClean="0">
                <a:solidFill>
                  <a:srgbClr val="FF0000"/>
                </a:solidFill>
                <a:latin typeface="微软雅黑" pitchFamily="34" charset="-122"/>
                <a:ea typeface="微软雅黑" pitchFamily="34" charset="-122"/>
              </a:rPr>
              <a:t>指令系统是表征一台计算机性能的重要因素，它的格式与功能不仅直接影响到机器的硬件结构，而且也直接影响到系统软件，影响到机器的适用范围。</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xfrm>
            <a:off x="6553200" y="6248400"/>
            <a:ext cx="2266192"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A9BEDFE-AE36-4428-A285-0E06DC22DF1C}" type="slidenum">
              <a:rPr lang="en-US" altLang="zh-CN">
                <a:latin typeface="微软雅黑" pitchFamily="34" charset="-122"/>
                <a:ea typeface="微软雅黑" pitchFamily="34" charset="-122"/>
              </a:rPr>
              <a:pPr eaLnBrk="1" hangingPunct="1"/>
              <a:t>4</a:t>
            </a:fld>
            <a:endParaRPr lang="en-US" altLang="zh-CN" dirty="0">
              <a:latin typeface="微软雅黑" pitchFamily="34" charset="-122"/>
              <a:ea typeface="微软雅黑" pitchFamily="34" charset="-122"/>
            </a:endParaRPr>
          </a:p>
        </p:txBody>
      </p:sp>
      <p:sp>
        <p:nvSpPr>
          <p:cNvPr id="6147" name="Rectangle 2"/>
          <p:cNvSpPr>
            <a:spLocks noGrp="1" noChangeArrowheads="1"/>
          </p:cNvSpPr>
          <p:nvPr>
            <p:ph type="title"/>
          </p:nvPr>
        </p:nvSpPr>
        <p:spPr>
          <a:xfrm>
            <a:off x="457199" y="145371"/>
            <a:ext cx="8012607" cy="647700"/>
          </a:xfrm>
        </p:spPr>
        <p:txBody>
          <a:bodyPr/>
          <a:lstStyle/>
          <a:p>
            <a:pPr eaLnBrk="1" hangingPunct="1"/>
            <a:r>
              <a:rPr lang="en-US" altLang="zh-CN" sz="3500" dirty="0" smtClean="0">
                <a:latin typeface="微软雅黑" pitchFamily="34" charset="-122"/>
                <a:ea typeface="微软雅黑" pitchFamily="34" charset="-122"/>
                <a:cs typeface="Times New Roman" pitchFamily="18" charset="0"/>
              </a:rPr>
              <a:t>4.1  </a:t>
            </a:r>
            <a:r>
              <a:rPr lang="zh-CN" altLang="en-US" sz="3500" dirty="0" smtClean="0">
                <a:latin typeface="微软雅黑" pitchFamily="34" charset="-122"/>
                <a:ea typeface="微软雅黑" pitchFamily="34" charset="-122"/>
              </a:rPr>
              <a:t>指令系统的发展与性能要求</a:t>
            </a:r>
          </a:p>
        </p:txBody>
      </p:sp>
      <p:sp>
        <p:nvSpPr>
          <p:cNvPr id="6148" name="Rectangle 3"/>
          <p:cNvSpPr>
            <a:spLocks noGrp="1" noChangeArrowheads="1"/>
          </p:cNvSpPr>
          <p:nvPr>
            <p:ph type="body" idx="1"/>
          </p:nvPr>
        </p:nvSpPr>
        <p:spPr>
          <a:xfrm>
            <a:off x="71446" y="806452"/>
            <a:ext cx="8677018" cy="6022520"/>
          </a:xfrm>
        </p:spPr>
        <p:txBody>
          <a:bodyPr/>
          <a:lstStyle/>
          <a:p>
            <a:pPr eaLnBrk="1" hangingPunct="1">
              <a:lnSpc>
                <a:spcPct val="95000"/>
              </a:lnSpc>
              <a:spcBef>
                <a:spcPts val="0"/>
              </a:spcBef>
              <a:buFont typeface="Wingdings" pitchFamily="2" charset="2"/>
              <a:buNone/>
            </a:pPr>
            <a:r>
              <a:rPr lang="en-US" altLang="zh-CN" sz="2400" dirty="0" smtClean="0">
                <a:latin typeface="微软雅黑" pitchFamily="34" charset="-122"/>
                <a:ea typeface="微软雅黑" pitchFamily="34" charset="-122"/>
              </a:rPr>
              <a:t>  3</a:t>
            </a:r>
            <a:r>
              <a:rPr lang="zh-CN" altLang="en-US" sz="2400" dirty="0" smtClean="0">
                <a:latin typeface="微软雅黑" pitchFamily="34" charset="-122"/>
                <a:ea typeface="微软雅黑" pitchFamily="34" charset="-122"/>
              </a:rPr>
              <a:t>、发展情况</a:t>
            </a:r>
          </a:p>
          <a:p>
            <a:pPr lvl="1" eaLnBrk="1" hangingPunct="1">
              <a:lnSpc>
                <a:spcPct val="95000"/>
              </a:lnSpc>
              <a:spcBef>
                <a:spcPts val="0"/>
              </a:spcBef>
            </a:pPr>
            <a:r>
              <a:rPr lang="en-US" altLang="zh-CN" sz="2400" b="1" dirty="0" smtClean="0">
                <a:latin typeface="微软雅黑" pitchFamily="34" charset="-122"/>
                <a:ea typeface="微软雅黑" pitchFamily="34" charset="-122"/>
              </a:rPr>
              <a:t>50</a:t>
            </a:r>
            <a:r>
              <a:rPr lang="zh-CN" altLang="en-US" sz="2400" b="1" dirty="0" smtClean="0">
                <a:latin typeface="微软雅黑" pitchFamily="34" charset="-122"/>
                <a:ea typeface="微软雅黑" pitchFamily="34" charset="-122"/>
              </a:rPr>
              <a:t>年代</a:t>
            </a:r>
            <a:r>
              <a:rPr lang="zh-CN" altLang="en-US" sz="2400" dirty="0" smtClean="0">
                <a:latin typeface="微软雅黑" pitchFamily="34" charset="-122"/>
                <a:ea typeface="微软雅黑" pitchFamily="34" charset="-122"/>
              </a:rPr>
              <a:t>：指令系统只有定点加减、逻辑运算、数据传送、转移等十几至几十条指令。 </a:t>
            </a:r>
            <a:r>
              <a:rPr lang="zh-CN" altLang="en-US" sz="2400" b="1" dirty="0" smtClean="0">
                <a:latin typeface="微软雅黑" pitchFamily="34" charset="-122"/>
                <a:ea typeface="微软雅黑" pitchFamily="34" charset="-122"/>
              </a:rPr>
              <a:t>　　 </a:t>
            </a:r>
          </a:p>
          <a:p>
            <a:pPr lvl="1" eaLnBrk="1" hangingPunct="1">
              <a:lnSpc>
                <a:spcPct val="95000"/>
              </a:lnSpc>
              <a:spcBef>
                <a:spcPts val="0"/>
              </a:spcBef>
            </a:pPr>
            <a:r>
              <a:rPr lang="en-US" altLang="zh-CN" sz="2400" b="1" dirty="0" smtClean="0">
                <a:latin typeface="微软雅黑" pitchFamily="34" charset="-122"/>
                <a:ea typeface="微软雅黑" pitchFamily="34" charset="-122"/>
              </a:rPr>
              <a:t>60</a:t>
            </a:r>
            <a:r>
              <a:rPr lang="zh-CN" altLang="en-US" sz="2400" b="1" dirty="0" smtClean="0">
                <a:latin typeface="微软雅黑" pitchFamily="34" charset="-122"/>
                <a:ea typeface="微软雅黑" pitchFamily="34" charset="-122"/>
              </a:rPr>
              <a:t>年代后期</a:t>
            </a:r>
            <a:r>
              <a:rPr lang="zh-CN" altLang="en-US" sz="2400" dirty="0" smtClean="0">
                <a:latin typeface="微软雅黑" pitchFamily="34" charset="-122"/>
                <a:ea typeface="微软雅黑" pitchFamily="34" charset="-122"/>
              </a:rPr>
              <a:t>：增加了乘除运算、浮点运算、十进制运算、字符串处理等指令，指令数目多达一二百条，寻址方式也趋多样化。 </a:t>
            </a:r>
          </a:p>
          <a:p>
            <a:pPr lvl="1" eaLnBrk="1" hangingPunct="1">
              <a:lnSpc>
                <a:spcPct val="95000"/>
              </a:lnSpc>
              <a:spcBef>
                <a:spcPts val="0"/>
              </a:spcBef>
            </a:pPr>
            <a:r>
              <a:rPr lang="en-US" altLang="zh-CN" sz="2400" dirty="0" smtClean="0">
                <a:latin typeface="微软雅黑" pitchFamily="34" charset="-122"/>
                <a:ea typeface="微软雅黑" pitchFamily="34" charset="-122"/>
              </a:rPr>
              <a:t>60</a:t>
            </a:r>
            <a:r>
              <a:rPr lang="zh-CN" altLang="en-US" sz="2400" dirty="0" smtClean="0">
                <a:latin typeface="微软雅黑" pitchFamily="34" charset="-122"/>
                <a:ea typeface="微软雅黑" pitchFamily="34" charset="-122"/>
              </a:rPr>
              <a:t>年代后期开始出现系列计算机</a:t>
            </a:r>
            <a:r>
              <a:rPr lang="en-US" altLang="zh-CN" sz="2400" dirty="0" smtClean="0">
                <a:latin typeface="微软雅黑" pitchFamily="34" charset="-122"/>
                <a:ea typeface="微软雅黑" pitchFamily="34" charset="-122"/>
              </a:rPr>
              <a:t>(</a:t>
            </a:r>
            <a:r>
              <a:rPr lang="zh-CN" altLang="en-US" sz="2400" dirty="0" smtClean="0">
                <a:latin typeface="微软雅黑" pitchFamily="34" charset="-122"/>
                <a:ea typeface="微软雅黑" pitchFamily="34" charset="-122"/>
              </a:rPr>
              <a:t>指基本指令系统相同、基本体系结构相同的一系列计算机</a:t>
            </a:r>
            <a:r>
              <a:rPr lang="en-US" altLang="zh-CN" sz="2400" dirty="0" smtClean="0">
                <a:latin typeface="微软雅黑" pitchFamily="34" charset="-122"/>
                <a:ea typeface="微软雅黑" pitchFamily="34" charset="-122"/>
              </a:rPr>
              <a:t>)</a:t>
            </a:r>
            <a:r>
              <a:rPr lang="zh-CN" altLang="en-US" sz="2400" dirty="0" smtClean="0">
                <a:latin typeface="微软雅黑" pitchFamily="34" charset="-122"/>
                <a:ea typeface="微软雅黑" pitchFamily="34" charset="-122"/>
              </a:rPr>
              <a:t>。一个系列往往有多种型号，它们在结构和性能上有所差异。同一系列的各机种有共同的指令集而且新推出的机种指令系统一定包含所有旧机种的全部指令</a:t>
            </a:r>
            <a:r>
              <a:rPr lang="en-US" altLang="zh-CN" sz="2400" dirty="0" smtClean="0">
                <a:latin typeface="微软雅黑" pitchFamily="34" charset="-122"/>
                <a:ea typeface="微软雅黑" pitchFamily="34" charset="-122"/>
              </a:rPr>
              <a:t>,</a:t>
            </a:r>
            <a:r>
              <a:rPr lang="zh-CN" altLang="en-US" sz="2400" dirty="0" smtClean="0">
                <a:latin typeface="微软雅黑" pitchFamily="34" charset="-122"/>
                <a:ea typeface="微软雅黑" pitchFamily="34" charset="-122"/>
              </a:rPr>
              <a:t>旧机种上运行的各种软件可以不加任何修改便可在新机种上运行，大大减少了软件开发费用。 </a:t>
            </a:r>
            <a:endParaRPr lang="zh-CN" altLang="en-US" sz="2400" b="1" dirty="0" smtClean="0">
              <a:latin typeface="微软雅黑" pitchFamily="34" charset="-122"/>
              <a:ea typeface="微软雅黑" pitchFamily="34" charset="-122"/>
            </a:endParaRPr>
          </a:p>
          <a:p>
            <a:pPr lvl="1" eaLnBrk="1" hangingPunct="1">
              <a:lnSpc>
                <a:spcPct val="95000"/>
              </a:lnSpc>
              <a:spcBef>
                <a:spcPts val="0"/>
              </a:spcBef>
            </a:pPr>
            <a:r>
              <a:rPr lang="en-US" altLang="zh-CN" sz="2400" b="1" dirty="0" smtClean="0">
                <a:latin typeface="微软雅黑" pitchFamily="34" charset="-122"/>
                <a:ea typeface="微软雅黑" pitchFamily="34" charset="-122"/>
              </a:rPr>
              <a:t>70</a:t>
            </a:r>
            <a:r>
              <a:rPr lang="zh-CN" altLang="en-US" sz="2400" b="1" dirty="0" smtClean="0">
                <a:latin typeface="微软雅黑" pitchFamily="34" charset="-122"/>
                <a:ea typeface="微软雅黑" pitchFamily="34" charset="-122"/>
              </a:rPr>
              <a:t>年代末期</a:t>
            </a:r>
            <a:r>
              <a:rPr lang="en-US" altLang="zh-CN" sz="2400" dirty="0" smtClean="0">
                <a:latin typeface="微软雅黑" pitchFamily="34" charset="-122"/>
                <a:ea typeface="微软雅黑" pitchFamily="34" charset="-122"/>
              </a:rPr>
              <a:t>:</a:t>
            </a:r>
            <a:r>
              <a:rPr lang="zh-CN" altLang="en-US" sz="2400" dirty="0" smtClean="0">
                <a:latin typeface="微软雅黑" pitchFamily="34" charset="-122"/>
                <a:ea typeface="微软雅黑" pitchFamily="34" charset="-122"/>
              </a:rPr>
              <a:t>大多数计算机的指令系统多达几百条。我们称这些计算机为复杂指令系统计算机</a:t>
            </a:r>
            <a:r>
              <a:rPr lang="en-US" altLang="zh-CN" sz="2400" dirty="0" smtClean="0">
                <a:latin typeface="微软雅黑" pitchFamily="34" charset="-122"/>
                <a:ea typeface="微软雅黑" pitchFamily="34" charset="-122"/>
              </a:rPr>
              <a:t>(CISC)</a:t>
            </a:r>
            <a:r>
              <a:rPr lang="zh-CN" altLang="en-US" sz="2400" dirty="0" smtClean="0">
                <a:latin typeface="微软雅黑" pitchFamily="34" charset="-122"/>
                <a:ea typeface="微软雅黑" pitchFamily="34" charset="-122"/>
              </a:rPr>
              <a:t>。</a:t>
            </a:r>
          </a:p>
          <a:p>
            <a:pPr lvl="1" eaLnBrk="1" hangingPunct="1">
              <a:lnSpc>
                <a:spcPct val="95000"/>
              </a:lnSpc>
              <a:spcBef>
                <a:spcPts val="0"/>
              </a:spcBef>
            </a:pPr>
            <a:r>
              <a:rPr lang="zh-CN" altLang="en-US" sz="2400" dirty="0" smtClean="0">
                <a:latin typeface="微软雅黑" pitchFamily="34" charset="-122"/>
                <a:ea typeface="微软雅黑" pitchFamily="34" charset="-122"/>
              </a:rPr>
              <a:t>但是如此庞大的指令系统难以保证正确性，不易调试维护，造成硬件资源浪费。为此人们又提出了便于</a:t>
            </a:r>
            <a:r>
              <a:rPr lang="en-US" altLang="zh-CN" sz="2400" dirty="0" smtClean="0">
                <a:latin typeface="微软雅黑" pitchFamily="34" charset="-122"/>
                <a:ea typeface="微软雅黑" pitchFamily="34" charset="-122"/>
              </a:rPr>
              <a:t>VLSI</a:t>
            </a:r>
            <a:r>
              <a:rPr lang="zh-CN" altLang="en-US" sz="2400" dirty="0" smtClean="0">
                <a:latin typeface="微软雅黑" pitchFamily="34" charset="-122"/>
                <a:ea typeface="微软雅黑" pitchFamily="34" charset="-122"/>
              </a:rPr>
              <a:t>技术实现的精简指令系统计算机（</a:t>
            </a:r>
            <a:r>
              <a:rPr lang="en-US" altLang="zh-CN" sz="2400" dirty="0" smtClean="0">
                <a:latin typeface="微软雅黑" pitchFamily="34" charset="-122"/>
                <a:ea typeface="微软雅黑" pitchFamily="34" charset="-122"/>
              </a:rPr>
              <a:t>RISC</a:t>
            </a:r>
            <a:r>
              <a:rPr lang="zh-CN" altLang="en-US" sz="2400" dirty="0" smtClean="0">
                <a:latin typeface="微软雅黑" pitchFamily="34" charset="-122"/>
                <a:ea typeface="微软雅黑" pitchFamily="34" charset="-122"/>
              </a:rPr>
              <a: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092650F8-062D-4802-B457-9CB8AE4EE060}" type="slidenum">
              <a:rPr lang="en-US" altLang="zh-CN"/>
              <a:pPr eaLnBrk="1" hangingPunct="1"/>
              <a:t>5</a:t>
            </a:fld>
            <a:endParaRPr lang="en-US" altLang="zh-CN" dirty="0"/>
          </a:p>
        </p:txBody>
      </p:sp>
      <p:sp>
        <p:nvSpPr>
          <p:cNvPr id="7171" name="Rectangle 4"/>
          <p:cNvSpPr>
            <a:spLocks noChangeArrowheads="1"/>
          </p:cNvSpPr>
          <p:nvPr/>
        </p:nvSpPr>
        <p:spPr bwMode="auto">
          <a:xfrm>
            <a:off x="101598" y="246176"/>
            <a:ext cx="8892480" cy="6495192"/>
          </a:xfrm>
          <a:prstGeom prst="rect">
            <a:avLst/>
          </a:prstGeom>
          <a:ln/>
        </p:spPr>
        <p:style>
          <a:lnRef idx="3">
            <a:schemeClr val="lt1"/>
          </a:lnRef>
          <a:fillRef idx="1">
            <a:schemeClr val="accent3"/>
          </a:fillRef>
          <a:effectRef idx="1">
            <a:schemeClr val="accent3"/>
          </a:effectRef>
          <a:fontRef idx="minor">
            <a:schemeClr val="lt1"/>
          </a:fontRef>
        </p:style>
        <p:txBody>
          <a:bodyPr/>
          <a:lstStyle/>
          <a:p>
            <a:pPr marL="692150" lvl="1" indent="-347663">
              <a:lnSpc>
                <a:spcPct val="110000"/>
              </a:lnSpc>
              <a:spcBef>
                <a:spcPts val="0"/>
              </a:spcBef>
              <a:buClr>
                <a:schemeClr val="accent2"/>
              </a:buClr>
              <a:buSzPct val="70000"/>
              <a:buFont typeface="Wingdings" pitchFamily="2" charset="2"/>
              <a:buNone/>
            </a:pPr>
            <a:r>
              <a:rPr lang="en-US" altLang="zh-CN" sz="3200" dirty="0">
                <a:solidFill>
                  <a:schemeClr val="tx1"/>
                </a:solidFill>
                <a:latin typeface="微软雅黑" pitchFamily="34" charset="-122"/>
                <a:ea typeface="微软雅黑" pitchFamily="34" charset="-122"/>
              </a:rPr>
              <a:t>4</a:t>
            </a:r>
            <a:r>
              <a:rPr lang="zh-CN" altLang="en-US" sz="3200" dirty="0">
                <a:solidFill>
                  <a:schemeClr val="tx1"/>
                </a:solidFill>
                <a:latin typeface="微软雅黑" pitchFamily="34" charset="-122"/>
                <a:ea typeface="微软雅黑" pitchFamily="34" charset="-122"/>
              </a:rPr>
              <a:t>、为什么会出现</a:t>
            </a:r>
            <a:r>
              <a:rPr lang="en-US" altLang="zh-CN" sz="3200" dirty="0">
                <a:solidFill>
                  <a:schemeClr val="tx1"/>
                </a:solidFill>
                <a:latin typeface="微软雅黑" pitchFamily="34" charset="-122"/>
                <a:ea typeface="微软雅黑" pitchFamily="34" charset="-122"/>
              </a:rPr>
              <a:t>CISC</a:t>
            </a:r>
            <a:r>
              <a:rPr lang="zh-CN" altLang="en-US" sz="3200" dirty="0">
                <a:solidFill>
                  <a:schemeClr val="tx1"/>
                </a:solidFill>
                <a:latin typeface="微软雅黑" pitchFamily="34" charset="-122"/>
                <a:ea typeface="微软雅黑" pitchFamily="34" charset="-122"/>
              </a:rPr>
              <a:t>到</a:t>
            </a:r>
            <a:r>
              <a:rPr lang="en-US" altLang="zh-CN" sz="3200" dirty="0">
                <a:solidFill>
                  <a:schemeClr val="tx1"/>
                </a:solidFill>
                <a:latin typeface="微软雅黑" pitchFamily="34" charset="-122"/>
                <a:ea typeface="微软雅黑" pitchFamily="34" charset="-122"/>
              </a:rPr>
              <a:t>RISC</a:t>
            </a:r>
            <a:r>
              <a:rPr lang="zh-CN" altLang="en-US" sz="3200" dirty="0">
                <a:solidFill>
                  <a:schemeClr val="tx1"/>
                </a:solidFill>
                <a:latin typeface="微软雅黑" pitchFamily="34" charset="-122"/>
                <a:ea typeface="微软雅黑" pitchFamily="34" charset="-122"/>
              </a:rPr>
              <a:t>的转变</a:t>
            </a:r>
          </a:p>
          <a:p>
            <a:pPr marL="692150" lvl="1" indent="-347663">
              <a:lnSpc>
                <a:spcPct val="110000"/>
              </a:lnSpc>
              <a:spcBef>
                <a:spcPts val="0"/>
              </a:spcBef>
              <a:buClr>
                <a:schemeClr val="accent2"/>
              </a:buClr>
              <a:buSzPct val="70000"/>
              <a:buFont typeface="Wingdings" pitchFamily="2" charset="2"/>
              <a:buChar char="l"/>
            </a:pPr>
            <a:r>
              <a:rPr lang="zh-CN" altLang="en-US" sz="3200" dirty="0">
                <a:solidFill>
                  <a:schemeClr val="tx1"/>
                </a:solidFill>
                <a:latin typeface="微软雅黑" pitchFamily="34" charset="-122"/>
                <a:ea typeface="微软雅黑" pitchFamily="34" charset="-122"/>
              </a:rPr>
              <a:t>复杂指令系统</a:t>
            </a:r>
            <a:r>
              <a:rPr lang="zh-CN" altLang="en-US" sz="3200" dirty="0" smtClean="0">
                <a:solidFill>
                  <a:schemeClr val="tx1"/>
                </a:solidFill>
                <a:latin typeface="微软雅黑" pitchFamily="34" charset="-122"/>
                <a:ea typeface="微软雅黑" pitchFamily="34" charset="-122"/>
              </a:rPr>
              <a:t>计算机（</a:t>
            </a:r>
            <a:r>
              <a:rPr lang="en-US" altLang="zh-CN" sz="3200" dirty="0" smtClean="0">
                <a:solidFill>
                  <a:schemeClr val="tx1"/>
                </a:solidFill>
                <a:latin typeface="微软雅黑" pitchFamily="34" charset="-122"/>
                <a:ea typeface="微软雅黑" pitchFamily="34" charset="-122"/>
              </a:rPr>
              <a:t>CISC</a:t>
            </a:r>
            <a:r>
              <a:rPr lang="zh-CN" altLang="en-US" sz="3200" dirty="0" smtClean="0">
                <a:solidFill>
                  <a:schemeClr val="tx1"/>
                </a:solidFill>
                <a:latin typeface="微软雅黑" pitchFamily="34" charset="-122"/>
                <a:ea typeface="微软雅黑" pitchFamily="34" charset="-122"/>
              </a:rPr>
              <a:t>），但是</a:t>
            </a:r>
            <a:r>
              <a:rPr lang="zh-CN" altLang="en-US" sz="3200" dirty="0">
                <a:solidFill>
                  <a:schemeClr val="tx1"/>
                </a:solidFill>
                <a:latin typeface="微软雅黑" pitchFamily="34" charset="-122"/>
                <a:ea typeface="微软雅黑" pitchFamily="34" charset="-122"/>
              </a:rPr>
              <a:t>如此庞大的指令系统不但使计算机的研制周期变长，难以保证正确性，不易调试维护，而且由于采用了大量使用频率很低的复杂指令而造成硬件资源浪费。</a:t>
            </a:r>
          </a:p>
          <a:p>
            <a:pPr marL="692150" lvl="1" indent="-347663">
              <a:lnSpc>
                <a:spcPct val="110000"/>
              </a:lnSpc>
              <a:spcBef>
                <a:spcPts val="0"/>
              </a:spcBef>
              <a:buClr>
                <a:schemeClr val="accent2"/>
              </a:buClr>
              <a:buSzPct val="70000"/>
              <a:buFont typeface="Wingdings" pitchFamily="2" charset="2"/>
              <a:buNone/>
            </a:pPr>
            <a:r>
              <a:rPr lang="zh-CN" altLang="en-US" sz="3200" dirty="0">
                <a:solidFill>
                  <a:schemeClr val="tx1"/>
                </a:solidFill>
                <a:latin typeface="微软雅黑" pitchFamily="34" charset="-122"/>
                <a:ea typeface="微软雅黑" pitchFamily="34" charset="-122"/>
              </a:rPr>
              <a:t>   </a:t>
            </a:r>
            <a:r>
              <a:rPr lang="en-US" altLang="zh-CN" sz="3200" b="1" dirty="0" smtClean="0">
                <a:solidFill>
                  <a:schemeClr val="tx1"/>
                </a:solidFill>
                <a:latin typeface="微软雅黑" pitchFamily="34" charset="-122"/>
                <a:ea typeface="微软雅黑" pitchFamily="34" charset="-122"/>
              </a:rPr>
              <a:t>2/8</a:t>
            </a:r>
            <a:r>
              <a:rPr lang="zh-CN" altLang="en-US" sz="3200" b="1" dirty="0" smtClean="0">
                <a:solidFill>
                  <a:schemeClr val="tx1"/>
                </a:solidFill>
                <a:latin typeface="微软雅黑" pitchFamily="34" charset="-122"/>
                <a:ea typeface="微软雅黑" pitchFamily="34" charset="-122"/>
              </a:rPr>
              <a:t>规则</a:t>
            </a:r>
            <a:r>
              <a:rPr lang="zh-CN" altLang="en-US" sz="3200" dirty="0" smtClean="0">
                <a:solidFill>
                  <a:schemeClr val="tx1"/>
                </a:solidFill>
                <a:latin typeface="微软雅黑" pitchFamily="34" charset="-122"/>
                <a:ea typeface="微软雅黑" pitchFamily="34" charset="-122"/>
              </a:rPr>
              <a:t>（</a:t>
            </a:r>
            <a:r>
              <a:rPr lang="en-US" altLang="zh-CN" sz="3200" dirty="0" smtClean="0">
                <a:solidFill>
                  <a:schemeClr val="tx1"/>
                </a:solidFill>
                <a:latin typeface="微软雅黑" pitchFamily="34" charset="-122"/>
                <a:ea typeface="微软雅黑" pitchFamily="34" charset="-122"/>
              </a:rPr>
              <a:t>20%</a:t>
            </a:r>
            <a:r>
              <a:rPr lang="zh-CN" altLang="en-US" sz="3200" dirty="0" smtClean="0">
                <a:solidFill>
                  <a:schemeClr val="tx1"/>
                </a:solidFill>
                <a:latin typeface="微软雅黑" pitchFamily="34" charset="-122"/>
                <a:ea typeface="微软雅黑" pitchFamily="34" charset="-122"/>
              </a:rPr>
              <a:t>指令使用频率高，占</a:t>
            </a:r>
            <a:r>
              <a:rPr lang="en-US" altLang="zh-CN" sz="3200" dirty="0" smtClean="0">
                <a:solidFill>
                  <a:schemeClr val="tx1"/>
                </a:solidFill>
                <a:latin typeface="微软雅黑" pitchFamily="34" charset="-122"/>
                <a:ea typeface="微软雅黑" pitchFamily="34" charset="-122"/>
              </a:rPr>
              <a:t>80%</a:t>
            </a:r>
            <a:r>
              <a:rPr lang="zh-CN" altLang="en-US" sz="3200" dirty="0" smtClean="0">
                <a:solidFill>
                  <a:schemeClr val="tx1"/>
                </a:solidFill>
                <a:latin typeface="微软雅黑" pitchFamily="34" charset="-122"/>
                <a:ea typeface="微软雅黑" pitchFamily="34" charset="-122"/>
              </a:rPr>
              <a:t>处理机时间，</a:t>
            </a:r>
            <a:r>
              <a:rPr lang="en-US" altLang="zh-CN" sz="3200" dirty="0" smtClean="0">
                <a:solidFill>
                  <a:schemeClr val="tx1"/>
                </a:solidFill>
                <a:latin typeface="微软雅黑" pitchFamily="34" charset="-122"/>
                <a:ea typeface="微软雅黑" pitchFamily="34" charset="-122"/>
              </a:rPr>
              <a:t>80%</a:t>
            </a:r>
            <a:r>
              <a:rPr lang="zh-CN" altLang="en-US" sz="3200" dirty="0" smtClean="0">
                <a:solidFill>
                  <a:schemeClr val="tx1"/>
                </a:solidFill>
                <a:latin typeface="微软雅黑" pitchFamily="34" charset="-122"/>
                <a:ea typeface="微软雅黑" pitchFamily="34" charset="-122"/>
              </a:rPr>
              <a:t>不常用指令占</a:t>
            </a:r>
            <a:r>
              <a:rPr lang="en-US" altLang="zh-CN" sz="3200" dirty="0" smtClean="0">
                <a:solidFill>
                  <a:schemeClr val="tx1"/>
                </a:solidFill>
                <a:latin typeface="微软雅黑" pitchFamily="34" charset="-122"/>
                <a:ea typeface="微软雅黑" pitchFamily="34" charset="-122"/>
              </a:rPr>
              <a:t>20%</a:t>
            </a:r>
            <a:r>
              <a:rPr lang="zh-CN" altLang="en-US" sz="3200" dirty="0" smtClean="0">
                <a:solidFill>
                  <a:schemeClr val="tx1"/>
                </a:solidFill>
                <a:latin typeface="微软雅黑" pitchFamily="34" charset="-122"/>
                <a:ea typeface="微软雅黑" pitchFamily="34" charset="-122"/>
              </a:rPr>
              <a:t>处理机时间</a:t>
            </a:r>
            <a:endParaRPr lang="zh-CN" altLang="en-US" sz="3200" dirty="0">
              <a:solidFill>
                <a:schemeClr val="tx1"/>
              </a:solidFill>
              <a:latin typeface="微软雅黑" pitchFamily="34" charset="-122"/>
              <a:ea typeface="微软雅黑" pitchFamily="34" charset="-122"/>
            </a:endParaRPr>
          </a:p>
          <a:p>
            <a:pPr marL="692150" lvl="1" indent="-347663">
              <a:lnSpc>
                <a:spcPct val="110000"/>
              </a:lnSpc>
              <a:spcBef>
                <a:spcPts val="0"/>
              </a:spcBef>
              <a:buClr>
                <a:schemeClr val="accent2"/>
              </a:buClr>
              <a:buSzPct val="70000"/>
              <a:buFont typeface="Wingdings" pitchFamily="2" charset="2"/>
              <a:buChar char="l"/>
            </a:pPr>
            <a:r>
              <a:rPr lang="zh-CN" altLang="en-US" sz="3200" dirty="0">
                <a:solidFill>
                  <a:schemeClr val="tx1"/>
                </a:solidFill>
                <a:latin typeface="微软雅黑" pitchFamily="34" charset="-122"/>
                <a:ea typeface="微软雅黑" pitchFamily="34" charset="-122"/>
              </a:rPr>
              <a:t>精简指令系统</a:t>
            </a:r>
            <a:r>
              <a:rPr lang="zh-CN" altLang="en-US" sz="3200" dirty="0" smtClean="0">
                <a:solidFill>
                  <a:schemeClr val="tx1"/>
                </a:solidFill>
                <a:latin typeface="微软雅黑" pitchFamily="34" charset="-122"/>
                <a:ea typeface="微软雅黑" pitchFamily="34" charset="-122"/>
              </a:rPr>
              <a:t>计算机（</a:t>
            </a:r>
            <a:r>
              <a:rPr lang="en-US" altLang="zh-CN" sz="3200" dirty="0" smtClean="0">
                <a:solidFill>
                  <a:schemeClr val="tx1"/>
                </a:solidFill>
                <a:latin typeface="微软雅黑" pitchFamily="34" charset="-122"/>
                <a:ea typeface="微软雅黑" pitchFamily="34" charset="-122"/>
              </a:rPr>
              <a:t>RISC</a:t>
            </a:r>
            <a:r>
              <a:rPr lang="zh-CN" altLang="en-US" sz="3200" dirty="0" smtClean="0">
                <a:solidFill>
                  <a:schemeClr val="tx1"/>
                </a:solidFill>
                <a:latin typeface="微软雅黑" pitchFamily="34" charset="-122"/>
                <a:ea typeface="微软雅黑" pitchFamily="34" charset="-122"/>
              </a:rPr>
              <a:t>），</a:t>
            </a:r>
            <a:r>
              <a:rPr lang="zh-CN" altLang="en-US" sz="3200" dirty="0">
                <a:solidFill>
                  <a:schemeClr val="tx1"/>
                </a:solidFill>
                <a:latin typeface="微软雅黑" pitchFamily="34" charset="-122"/>
                <a:ea typeface="微软雅黑" pitchFamily="34" charset="-122"/>
              </a:rPr>
              <a:t>人们又提出了便于</a:t>
            </a:r>
            <a:r>
              <a:rPr lang="en-US" altLang="zh-CN" sz="3200" dirty="0">
                <a:solidFill>
                  <a:schemeClr val="tx1"/>
                </a:solidFill>
                <a:latin typeface="微软雅黑" pitchFamily="34" charset="-122"/>
                <a:ea typeface="微软雅黑" pitchFamily="34" charset="-122"/>
              </a:rPr>
              <a:t>VLSI</a:t>
            </a:r>
            <a:r>
              <a:rPr lang="zh-CN" altLang="en-US" sz="3200" dirty="0">
                <a:solidFill>
                  <a:schemeClr val="tx1"/>
                </a:solidFill>
                <a:latin typeface="微软雅黑" pitchFamily="34" charset="-122"/>
                <a:ea typeface="微软雅黑" pitchFamily="34" charset="-122"/>
              </a:rPr>
              <a:t>技术实现的精简指令系统计算机。</a:t>
            </a:r>
          </a:p>
          <a:p>
            <a:pPr marL="692150" lvl="1" indent="-347663">
              <a:lnSpc>
                <a:spcPct val="110000"/>
              </a:lnSpc>
              <a:spcBef>
                <a:spcPts val="0"/>
              </a:spcBef>
              <a:buClr>
                <a:schemeClr val="accent2"/>
              </a:buClr>
              <a:buSzPct val="70000"/>
              <a:buFont typeface="Wingdings" pitchFamily="2" charset="2"/>
              <a:buNone/>
            </a:pPr>
            <a:r>
              <a:rPr lang="zh-CN" altLang="en-US" sz="3200" dirty="0">
                <a:solidFill>
                  <a:schemeClr val="tx1"/>
                </a:solidFill>
                <a:latin typeface="微软雅黑" pitchFamily="34" charset="-122"/>
                <a:ea typeface="微软雅黑" pitchFamily="34" charset="-122"/>
              </a:rPr>
              <a:t>      </a:t>
            </a:r>
            <a:r>
              <a:rPr lang="zh-CN" altLang="en-US" sz="3200" b="1" dirty="0">
                <a:solidFill>
                  <a:schemeClr val="tx1"/>
                </a:solidFill>
                <a:latin typeface="微软雅黑" pitchFamily="34" charset="-122"/>
                <a:ea typeface="微软雅黑" pitchFamily="34" charset="-122"/>
              </a:rPr>
              <a:t>控制器设计难度下降</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3E2203C-5A16-4235-8E4D-6C9FFCC141A0}" type="slidenum">
              <a:rPr lang="en-US" altLang="zh-CN">
                <a:latin typeface="微软雅黑" pitchFamily="34" charset="-122"/>
                <a:ea typeface="微软雅黑" pitchFamily="34" charset="-122"/>
              </a:rPr>
              <a:pPr eaLnBrk="1" hangingPunct="1"/>
              <a:t>6</a:t>
            </a:fld>
            <a:endParaRPr lang="en-US" altLang="zh-CN" dirty="0">
              <a:latin typeface="微软雅黑" pitchFamily="34" charset="-122"/>
              <a:ea typeface="微软雅黑" pitchFamily="34" charset="-122"/>
            </a:endParaRPr>
          </a:p>
        </p:txBody>
      </p:sp>
      <p:sp>
        <p:nvSpPr>
          <p:cNvPr id="8195" name="Rectangle 2"/>
          <p:cNvSpPr>
            <a:spLocks noGrp="1" noChangeArrowheads="1"/>
          </p:cNvSpPr>
          <p:nvPr>
            <p:ph type="title"/>
          </p:nvPr>
        </p:nvSpPr>
        <p:spPr>
          <a:xfrm>
            <a:off x="395288" y="230645"/>
            <a:ext cx="7543800" cy="642937"/>
          </a:xfrm>
        </p:spPr>
        <p:txBody>
          <a:bodyPr/>
          <a:lstStyle/>
          <a:p>
            <a:pPr eaLnBrk="1" hangingPunct="1"/>
            <a:r>
              <a:rPr lang="en-US" altLang="zh-CN" sz="3500" dirty="0" smtClean="0">
                <a:latin typeface="微软雅黑" pitchFamily="34" charset="-122"/>
                <a:ea typeface="微软雅黑" pitchFamily="34" charset="-122"/>
                <a:cs typeface="Times New Roman" pitchFamily="18" charset="0"/>
              </a:rPr>
              <a:t>4.1  </a:t>
            </a:r>
            <a:r>
              <a:rPr lang="zh-CN" altLang="en-US" sz="3500" dirty="0" smtClean="0">
                <a:latin typeface="微软雅黑" pitchFamily="34" charset="-122"/>
                <a:ea typeface="微软雅黑" pitchFamily="34" charset="-122"/>
              </a:rPr>
              <a:t>指令系统的发展与性能要求</a:t>
            </a:r>
          </a:p>
        </p:txBody>
      </p:sp>
      <p:sp>
        <p:nvSpPr>
          <p:cNvPr id="8196" name="Rectangle 3"/>
          <p:cNvSpPr>
            <a:spLocks noGrp="1" noChangeArrowheads="1"/>
          </p:cNvSpPr>
          <p:nvPr>
            <p:ph type="body" idx="1"/>
          </p:nvPr>
        </p:nvSpPr>
        <p:spPr>
          <a:xfrm>
            <a:off x="250825" y="1036188"/>
            <a:ext cx="8209607" cy="5633171"/>
          </a:xfrm>
        </p:spPr>
        <p:txBody>
          <a:bodyPr/>
          <a:lstStyle/>
          <a:p>
            <a:pPr eaLnBrk="1" hangingPunct="1">
              <a:lnSpc>
                <a:spcPct val="80000"/>
              </a:lnSpc>
              <a:buFont typeface="Wingdings" pitchFamily="2" charset="2"/>
              <a:buNone/>
            </a:pPr>
            <a:r>
              <a:rPr lang="en-US" altLang="zh-CN" sz="2400" dirty="0" smtClean="0">
                <a:latin typeface="微软雅黑" pitchFamily="34" charset="-122"/>
                <a:ea typeface="微软雅黑" pitchFamily="34" charset="-122"/>
              </a:rPr>
              <a:t>5</a:t>
            </a:r>
            <a:r>
              <a:rPr lang="zh-CN" altLang="en-US" sz="2400" dirty="0" smtClean="0">
                <a:latin typeface="微软雅黑" pitchFamily="34" charset="-122"/>
                <a:ea typeface="微软雅黑" pitchFamily="34" charset="-122"/>
              </a:rPr>
              <a:t>、对指令系统性能的要求</a:t>
            </a:r>
          </a:p>
          <a:p>
            <a:pPr eaLnBrk="1" hangingPunct="1">
              <a:lnSpc>
                <a:spcPct val="80000"/>
              </a:lnSpc>
              <a:buFont typeface="Wingdings" pitchFamily="2" charset="2"/>
              <a:buNone/>
            </a:pPr>
            <a:r>
              <a:rPr lang="zh-CN" altLang="en-US" sz="2400" dirty="0" smtClean="0">
                <a:latin typeface="微软雅黑" pitchFamily="34" charset="-122"/>
                <a:ea typeface="微软雅黑" pitchFamily="34" charset="-122"/>
              </a:rPr>
              <a:t>      指令系统的性能决定了计算机的基本功能，它的设计直接关系到计算机的硬件结构和用户的需要。</a:t>
            </a:r>
            <a:r>
              <a:rPr lang="zh-CN" altLang="en-US" sz="2400" b="1" dirty="0" smtClean="0">
                <a:solidFill>
                  <a:srgbClr val="FF0000"/>
                </a:solidFill>
                <a:latin typeface="微软雅黑" pitchFamily="34" charset="-122"/>
                <a:ea typeface="微软雅黑" pitchFamily="34" charset="-122"/>
              </a:rPr>
              <a:t>一个完善的指令系统应满足如下四方面的要求： </a:t>
            </a:r>
          </a:p>
          <a:p>
            <a:pPr eaLnBrk="1" hangingPunct="1">
              <a:spcBef>
                <a:spcPts val="0"/>
              </a:spcBef>
            </a:pPr>
            <a:r>
              <a:rPr lang="zh-CN" altLang="en-US" sz="2400" b="1" dirty="0" smtClean="0">
                <a:solidFill>
                  <a:srgbClr val="FF0000"/>
                </a:solidFill>
                <a:latin typeface="微软雅黑" pitchFamily="34" charset="-122"/>
                <a:ea typeface="微软雅黑" pitchFamily="34" charset="-122"/>
              </a:rPr>
              <a:t>完备性</a:t>
            </a:r>
            <a:r>
              <a:rPr lang="zh-CN" altLang="en-US" sz="2400" b="1" dirty="0" smtClean="0">
                <a:latin typeface="微软雅黑" pitchFamily="34" charset="-122"/>
                <a:ea typeface="微软雅黑" pitchFamily="34" charset="-122"/>
              </a:rPr>
              <a:t>：</a:t>
            </a:r>
            <a:r>
              <a:rPr lang="zh-CN" altLang="en-US" sz="2400" dirty="0" smtClean="0">
                <a:latin typeface="微软雅黑" pitchFamily="34" charset="-122"/>
                <a:ea typeface="微软雅黑" pitchFamily="34" charset="-122"/>
              </a:rPr>
              <a:t>完备性是指用汇编语言编写各种程序时，指令系统直接提供的指令足够使用，而不必用软件来实现。完备性要求指令系统丰富、功能齐全、使用方便。一台计算机中最基本、必不可少的指令是不多的。许多指令可用最基本的指令编程来实现。例如，乘除运算指令、浮点运算指令可直接用硬件来实现，也可用基本指令编写的程序来实现。采用硬件指令的目的是提高程序执行速度，便于用户编写程序。</a:t>
            </a:r>
          </a:p>
          <a:p>
            <a:pPr eaLnBrk="1" hangingPunct="1">
              <a:lnSpc>
                <a:spcPct val="80000"/>
              </a:lnSpc>
            </a:pPr>
            <a:r>
              <a:rPr lang="zh-CN" altLang="en-US" sz="2400" b="1" dirty="0" smtClean="0">
                <a:solidFill>
                  <a:srgbClr val="FF0000"/>
                </a:solidFill>
                <a:latin typeface="微软雅黑" pitchFamily="34" charset="-122"/>
                <a:ea typeface="微软雅黑" pitchFamily="34" charset="-122"/>
              </a:rPr>
              <a:t>有效性</a:t>
            </a:r>
            <a:r>
              <a:rPr lang="zh-CN" altLang="en-US" sz="2400" b="1" dirty="0" smtClean="0">
                <a:latin typeface="微软雅黑" pitchFamily="34" charset="-122"/>
                <a:ea typeface="微软雅黑" pitchFamily="34" charset="-122"/>
              </a:rPr>
              <a:t>：</a:t>
            </a:r>
            <a:r>
              <a:rPr lang="zh-CN" altLang="en-US" sz="2400" dirty="0" smtClean="0">
                <a:latin typeface="微软雅黑" pitchFamily="34" charset="-122"/>
                <a:ea typeface="微软雅黑" pitchFamily="34" charset="-122"/>
              </a:rPr>
              <a:t>有效性是指利用该指令系统所编写的程序能够高效率地运行。高效率主要表现在程序占据存储空间小、执行速度快。一般来说，一个功能更强、更完善的指令系统，必定有更好的有效性。</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44D0AF6-92BA-4315-9134-654BCD02791A}" type="slidenum">
              <a:rPr lang="en-US" altLang="zh-CN"/>
              <a:pPr eaLnBrk="1" hangingPunct="1"/>
              <a:t>7</a:t>
            </a:fld>
            <a:endParaRPr lang="en-US" altLang="zh-CN" dirty="0"/>
          </a:p>
        </p:txBody>
      </p:sp>
      <p:sp>
        <p:nvSpPr>
          <p:cNvPr id="9219" name="Rectangle 4"/>
          <p:cNvSpPr>
            <a:spLocks noChangeArrowheads="1"/>
          </p:cNvSpPr>
          <p:nvPr/>
        </p:nvSpPr>
        <p:spPr bwMode="auto">
          <a:xfrm>
            <a:off x="179388" y="346078"/>
            <a:ext cx="8641084" cy="6395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20000"/>
              </a:spcBef>
              <a:buClr>
                <a:schemeClr val="tx2"/>
              </a:buClr>
              <a:buSzPct val="70000"/>
              <a:buFont typeface="Wingdings" pitchFamily="2" charset="2"/>
              <a:buChar char="l"/>
            </a:pPr>
            <a:r>
              <a:rPr lang="zh-CN" altLang="en-US" sz="2400" b="1" dirty="0">
                <a:solidFill>
                  <a:srgbClr val="FF0000"/>
                </a:solidFill>
                <a:latin typeface="微软雅黑" pitchFamily="34" charset="-122"/>
                <a:ea typeface="微软雅黑" pitchFamily="34" charset="-122"/>
              </a:rPr>
              <a:t>规整性</a:t>
            </a:r>
            <a:r>
              <a:rPr lang="zh-CN" altLang="en-US" sz="2400" b="1" dirty="0">
                <a:latin typeface="微软雅黑" pitchFamily="34" charset="-122"/>
                <a:ea typeface="微软雅黑" pitchFamily="34" charset="-122"/>
              </a:rPr>
              <a:t>：</a:t>
            </a:r>
            <a:r>
              <a:rPr lang="zh-CN" altLang="en-US" sz="2400" dirty="0">
                <a:latin typeface="微软雅黑" pitchFamily="34" charset="-122"/>
                <a:ea typeface="微软雅黑" pitchFamily="34" charset="-122"/>
              </a:rPr>
              <a:t>规整性包括指令系统的对称性、匀齐性、指令格式和数据格式的一致性。对称性是指：在指令系统中所有的寄存器和存储器单元都可同等对待，所有的指令都可使用各种寻址方式；匀齐性是指：一种操作性质的指令可以支持各种数据类型，如算术运算指令可支持字节、字、双字整数的运算，十进制数运算和单、双精度浮点数运算等；指令格式和数据格式的一致性是指：指令长度和数据长度有一定的关系，以方便处理和存取。例如指令长度和数据长度通常是字节长度的整数倍。</a:t>
            </a:r>
          </a:p>
          <a:p>
            <a:pPr marL="342900" indent="-342900">
              <a:lnSpc>
                <a:spcPct val="120000"/>
              </a:lnSpc>
              <a:spcBef>
                <a:spcPct val="20000"/>
              </a:spcBef>
              <a:buClr>
                <a:schemeClr val="tx2"/>
              </a:buClr>
              <a:buSzPct val="70000"/>
              <a:buFont typeface="Wingdings" pitchFamily="2" charset="2"/>
              <a:buChar char="l"/>
            </a:pPr>
            <a:r>
              <a:rPr lang="zh-CN" altLang="en-US" sz="2400" b="1" dirty="0">
                <a:solidFill>
                  <a:srgbClr val="FF0000"/>
                </a:solidFill>
                <a:latin typeface="微软雅黑" pitchFamily="34" charset="-122"/>
                <a:ea typeface="微软雅黑" pitchFamily="34" charset="-122"/>
              </a:rPr>
              <a:t>兼容性</a:t>
            </a:r>
            <a:r>
              <a:rPr lang="zh-CN" altLang="en-US" sz="2400" b="1" dirty="0">
                <a:latin typeface="微软雅黑" pitchFamily="34" charset="-122"/>
                <a:ea typeface="微软雅黑" pitchFamily="34" charset="-122"/>
              </a:rPr>
              <a:t>：</a:t>
            </a:r>
            <a:r>
              <a:rPr lang="zh-CN" altLang="en-US" sz="2400" dirty="0">
                <a:latin typeface="微软雅黑" pitchFamily="34" charset="-122"/>
                <a:ea typeface="微软雅黑" pitchFamily="34" charset="-122"/>
              </a:rPr>
              <a:t>系列机各机种之间具有相同的基本结构和共同的基本指令集，因而指令系统是兼容的，即各机种上基本软件可以通用。但由于不同机种推出的时间不同，在结构和性能上有差异，做到所有软件都完全兼容是不可能的，只能做到“向上兼容”，即低档机上运行的软件可以在高档机上运行。</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FB5BBB2-B406-49CE-81EC-707C28E6741A}" type="slidenum">
              <a:rPr lang="en-US" altLang="zh-CN">
                <a:latin typeface="微软雅黑" pitchFamily="34" charset="-122"/>
                <a:ea typeface="微软雅黑" pitchFamily="34" charset="-122"/>
              </a:rPr>
              <a:pPr eaLnBrk="1" hangingPunct="1"/>
              <a:t>8</a:t>
            </a:fld>
            <a:endParaRPr lang="en-US" altLang="zh-CN" dirty="0">
              <a:latin typeface="微软雅黑" pitchFamily="34" charset="-122"/>
              <a:ea typeface="微软雅黑" pitchFamily="34" charset="-122"/>
            </a:endParaRPr>
          </a:p>
        </p:txBody>
      </p:sp>
      <p:sp>
        <p:nvSpPr>
          <p:cNvPr id="10243" name="Rectangle 2"/>
          <p:cNvSpPr>
            <a:spLocks noGrp="1" noChangeArrowheads="1"/>
          </p:cNvSpPr>
          <p:nvPr>
            <p:ph type="title" idx="4294967295"/>
          </p:nvPr>
        </p:nvSpPr>
        <p:spPr>
          <a:xfrm>
            <a:off x="250825" y="260350"/>
            <a:ext cx="7543800" cy="569913"/>
          </a:xfrm>
        </p:spPr>
        <p:txBody>
          <a:bodyPr/>
          <a:lstStyle/>
          <a:p>
            <a:pPr eaLnBrk="1" hangingPunct="1"/>
            <a:r>
              <a:rPr lang="en-US" altLang="zh-CN" sz="3500" dirty="0" smtClean="0">
                <a:latin typeface="微软雅黑" pitchFamily="34" charset="-122"/>
                <a:ea typeface="微软雅黑" pitchFamily="34" charset="-122"/>
                <a:cs typeface="Times New Roman" pitchFamily="18" charset="0"/>
              </a:rPr>
              <a:t>4.1  </a:t>
            </a:r>
            <a:r>
              <a:rPr lang="zh-CN" altLang="en-US" sz="3500" smtClean="0">
                <a:latin typeface="微软雅黑" pitchFamily="34" charset="-122"/>
                <a:ea typeface="微软雅黑" pitchFamily="34" charset="-122"/>
              </a:rPr>
              <a:t>指令系统的发展与性能要求</a:t>
            </a:r>
          </a:p>
        </p:txBody>
      </p:sp>
      <p:sp>
        <p:nvSpPr>
          <p:cNvPr id="10244" name="Rectangle 3"/>
          <p:cNvSpPr>
            <a:spLocks noGrp="1" noChangeArrowheads="1"/>
          </p:cNvSpPr>
          <p:nvPr>
            <p:ph type="body" idx="4294967295"/>
          </p:nvPr>
        </p:nvSpPr>
        <p:spPr>
          <a:xfrm>
            <a:off x="323850" y="908050"/>
            <a:ext cx="5867400" cy="431800"/>
          </a:xfrm>
        </p:spPr>
        <p:txBody>
          <a:bodyPr/>
          <a:lstStyle/>
          <a:p>
            <a:pPr eaLnBrk="1" hangingPunct="1">
              <a:buFont typeface="Wingdings" pitchFamily="2" charset="2"/>
              <a:buNone/>
            </a:pPr>
            <a:r>
              <a:rPr lang="en-US" altLang="zh-CN" sz="2600" dirty="0" smtClean="0">
                <a:latin typeface="微软雅黑" pitchFamily="34" charset="-122"/>
                <a:ea typeface="微软雅黑" pitchFamily="34" charset="-122"/>
              </a:rPr>
              <a:t>6</a:t>
            </a:r>
            <a:r>
              <a:rPr lang="zh-CN" altLang="en-US" sz="2600" smtClean="0">
                <a:latin typeface="微软雅黑" pitchFamily="34" charset="-122"/>
                <a:ea typeface="微软雅黑" pitchFamily="34" charset="-122"/>
              </a:rPr>
              <a:t>、低级语言与高级语言关系</a:t>
            </a:r>
          </a:p>
        </p:txBody>
      </p:sp>
      <p:grpSp>
        <p:nvGrpSpPr>
          <p:cNvPr id="10245" name="Group 4"/>
          <p:cNvGrpSpPr>
            <a:grpSpLocks/>
          </p:cNvGrpSpPr>
          <p:nvPr/>
        </p:nvGrpSpPr>
        <p:grpSpPr bwMode="auto">
          <a:xfrm>
            <a:off x="250825" y="1557338"/>
            <a:ext cx="8066088" cy="4922837"/>
            <a:chOff x="-3" y="-3"/>
            <a:chExt cx="3239" cy="6772"/>
          </a:xfrm>
        </p:grpSpPr>
        <p:grpSp>
          <p:nvGrpSpPr>
            <p:cNvPr id="10246" name="Group 5"/>
            <p:cNvGrpSpPr>
              <a:grpSpLocks/>
            </p:cNvGrpSpPr>
            <p:nvPr/>
          </p:nvGrpSpPr>
          <p:grpSpPr bwMode="auto">
            <a:xfrm>
              <a:off x="0" y="0"/>
              <a:ext cx="3233" cy="6766"/>
              <a:chOff x="0" y="0"/>
              <a:chExt cx="3233" cy="6766"/>
            </a:xfrm>
          </p:grpSpPr>
          <p:grpSp>
            <p:nvGrpSpPr>
              <p:cNvPr id="10248" name="Group 6"/>
              <p:cNvGrpSpPr>
                <a:grpSpLocks/>
              </p:cNvGrpSpPr>
              <p:nvPr/>
            </p:nvGrpSpPr>
            <p:grpSpPr bwMode="auto">
              <a:xfrm>
                <a:off x="0" y="0"/>
                <a:ext cx="294" cy="1038"/>
                <a:chOff x="0" y="0"/>
                <a:chExt cx="294" cy="1038"/>
              </a:xfrm>
            </p:grpSpPr>
            <p:sp>
              <p:nvSpPr>
                <p:cNvPr id="10330" name="Rectangle 7"/>
                <p:cNvSpPr>
                  <a:spLocks noChangeArrowheads="1"/>
                </p:cNvSpPr>
                <p:nvPr/>
              </p:nvSpPr>
              <p:spPr bwMode="auto">
                <a:xfrm>
                  <a:off x="43" y="0"/>
                  <a:ext cx="208" cy="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000" dirty="0">
                      <a:latin typeface="微软雅黑" pitchFamily="34" charset="-122"/>
                      <a:ea typeface="微软雅黑" pitchFamily="34" charset="-122"/>
                    </a:rPr>
                    <a:t> </a:t>
                  </a:r>
                </a:p>
                <a:p>
                  <a:pPr algn="just" eaLnBrk="0" hangingPunct="0"/>
                  <a:endParaRPr kumimoji="1" lang="en-US" altLang="zh-CN" sz="2400" dirty="0">
                    <a:latin typeface="微软雅黑" pitchFamily="34" charset="-122"/>
                    <a:ea typeface="微软雅黑" pitchFamily="34" charset="-122"/>
                  </a:endParaRPr>
                </a:p>
              </p:txBody>
            </p:sp>
            <p:sp>
              <p:nvSpPr>
                <p:cNvPr id="10331" name="Rectangle 8"/>
                <p:cNvSpPr>
                  <a:spLocks noChangeArrowheads="1"/>
                </p:cNvSpPr>
                <p:nvPr/>
              </p:nvSpPr>
              <p:spPr bwMode="auto">
                <a:xfrm>
                  <a:off x="0" y="0"/>
                  <a:ext cx="294" cy="103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49" name="Group 9"/>
              <p:cNvGrpSpPr>
                <a:grpSpLocks/>
              </p:cNvGrpSpPr>
              <p:nvPr/>
            </p:nvGrpSpPr>
            <p:grpSpPr bwMode="auto">
              <a:xfrm>
                <a:off x="294" y="0"/>
                <a:ext cx="1239" cy="1038"/>
                <a:chOff x="294" y="0"/>
                <a:chExt cx="1239" cy="1038"/>
              </a:xfrm>
            </p:grpSpPr>
            <p:sp>
              <p:nvSpPr>
                <p:cNvPr id="10328" name="Rectangle 10"/>
                <p:cNvSpPr>
                  <a:spLocks noChangeArrowheads="1"/>
                </p:cNvSpPr>
                <p:nvPr/>
              </p:nvSpPr>
              <p:spPr bwMode="auto">
                <a:xfrm>
                  <a:off x="337" y="0"/>
                  <a:ext cx="1153" cy="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2600">
                      <a:latin typeface="微软雅黑" pitchFamily="34" charset="-122"/>
                      <a:ea typeface="微软雅黑" pitchFamily="34" charset="-122"/>
                    </a:rPr>
                    <a:t>　比较内容</a:t>
                  </a:r>
                  <a:endParaRPr kumimoji="1" lang="zh-CN" altLang="en-US" sz="2400">
                    <a:latin typeface="微软雅黑" pitchFamily="34" charset="-122"/>
                    <a:ea typeface="微软雅黑" pitchFamily="34" charset="-122"/>
                  </a:endParaRPr>
                </a:p>
              </p:txBody>
            </p:sp>
            <p:sp>
              <p:nvSpPr>
                <p:cNvPr id="10329" name="Rectangle 11"/>
                <p:cNvSpPr>
                  <a:spLocks noChangeArrowheads="1"/>
                </p:cNvSpPr>
                <p:nvPr/>
              </p:nvSpPr>
              <p:spPr bwMode="auto">
                <a:xfrm>
                  <a:off x="294" y="0"/>
                  <a:ext cx="1239" cy="103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50" name="Group 12"/>
              <p:cNvGrpSpPr>
                <a:grpSpLocks/>
              </p:cNvGrpSpPr>
              <p:nvPr/>
            </p:nvGrpSpPr>
            <p:grpSpPr bwMode="auto">
              <a:xfrm>
                <a:off x="1533" y="0"/>
                <a:ext cx="850" cy="1038"/>
                <a:chOff x="1533" y="0"/>
                <a:chExt cx="850" cy="1038"/>
              </a:xfrm>
            </p:grpSpPr>
            <p:sp>
              <p:nvSpPr>
                <p:cNvPr id="10326" name="Rectangle 13"/>
                <p:cNvSpPr>
                  <a:spLocks noChangeArrowheads="1"/>
                </p:cNvSpPr>
                <p:nvPr/>
              </p:nvSpPr>
              <p:spPr bwMode="auto">
                <a:xfrm>
                  <a:off x="1576" y="0"/>
                  <a:ext cx="764" cy="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2600">
                      <a:latin typeface="微软雅黑" pitchFamily="34" charset="-122"/>
                      <a:ea typeface="微软雅黑" pitchFamily="34" charset="-122"/>
                    </a:rPr>
                    <a:t>高级语言</a:t>
                  </a:r>
                  <a:endParaRPr kumimoji="1" lang="zh-CN" altLang="en-US" sz="2400">
                    <a:latin typeface="微软雅黑" pitchFamily="34" charset="-122"/>
                    <a:ea typeface="微软雅黑" pitchFamily="34" charset="-122"/>
                  </a:endParaRPr>
                </a:p>
              </p:txBody>
            </p:sp>
            <p:sp>
              <p:nvSpPr>
                <p:cNvPr id="10327" name="Rectangle 14"/>
                <p:cNvSpPr>
                  <a:spLocks noChangeArrowheads="1"/>
                </p:cNvSpPr>
                <p:nvPr/>
              </p:nvSpPr>
              <p:spPr bwMode="auto">
                <a:xfrm>
                  <a:off x="1533" y="0"/>
                  <a:ext cx="850" cy="103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51" name="Group 15"/>
              <p:cNvGrpSpPr>
                <a:grpSpLocks/>
              </p:cNvGrpSpPr>
              <p:nvPr/>
            </p:nvGrpSpPr>
            <p:grpSpPr bwMode="auto">
              <a:xfrm>
                <a:off x="2383" y="0"/>
                <a:ext cx="850" cy="1038"/>
                <a:chOff x="2383" y="0"/>
                <a:chExt cx="850" cy="1038"/>
              </a:xfrm>
            </p:grpSpPr>
            <p:sp>
              <p:nvSpPr>
                <p:cNvPr id="10324" name="Rectangle 16"/>
                <p:cNvSpPr>
                  <a:spLocks noChangeArrowheads="1"/>
                </p:cNvSpPr>
                <p:nvPr/>
              </p:nvSpPr>
              <p:spPr bwMode="auto">
                <a:xfrm>
                  <a:off x="2426" y="0"/>
                  <a:ext cx="764" cy="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2600">
                      <a:latin typeface="微软雅黑" pitchFamily="34" charset="-122"/>
                      <a:ea typeface="微软雅黑" pitchFamily="34" charset="-122"/>
                    </a:rPr>
                    <a:t>低级语言</a:t>
                  </a:r>
                  <a:endParaRPr kumimoji="1" lang="zh-CN" altLang="en-US" sz="2400">
                    <a:latin typeface="微软雅黑" pitchFamily="34" charset="-122"/>
                    <a:ea typeface="微软雅黑" pitchFamily="34" charset="-122"/>
                  </a:endParaRPr>
                </a:p>
              </p:txBody>
            </p:sp>
            <p:sp>
              <p:nvSpPr>
                <p:cNvPr id="10325" name="Rectangle 17"/>
                <p:cNvSpPr>
                  <a:spLocks noChangeArrowheads="1"/>
                </p:cNvSpPr>
                <p:nvPr/>
              </p:nvSpPr>
              <p:spPr bwMode="auto">
                <a:xfrm>
                  <a:off x="2383" y="0"/>
                  <a:ext cx="850" cy="103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52" name="Group 18"/>
              <p:cNvGrpSpPr>
                <a:grpSpLocks/>
              </p:cNvGrpSpPr>
              <p:nvPr/>
            </p:nvGrpSpPr>
            <p:grpSpPr bwMode="auto">
              <a:xfrm>
                <a:off x="0" y="1038"/>
                <a:ext cx="294" cy="1538"/>
                <a:chOff x="0" y="1038"/>
                <a:chExt cx="294" cy="1538"/>
              </a:xfrm>
            </p:grpSpPr>
            <p:sp>
              <p:nvSpPr>
                <p:cNvPr id="10322" name="Rectangle 19"/>
                <p:cNvSpPr>
                  <a:spLocks noChangeArrowheads="1"/>
                </p:cNvSpPr>
                <p:nvPr/>
              </p:nvSpPr>
              <p:spPr bwMode="auto">
                <a:xfrm>
                  <a:off x="43" y="1038"/>
                  <a:ext cx="208" cy="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2600">
                      <a:latin typeface="微软雅黑" pitchFamily="34" charset="-122"/>
                      <a:ea typeface="微软雅黑" pitchFamily="34" charset="-122"/>
                    </a:rPr>
                    <a:t>　</a:t>
                  </a:r>
                  <a:r>
                    <a:rPr kumimoji="1" lang="en-US" altLang="zh-CN" sz="2600" dirty="0">
                      <a:latin typeface="微软雅黑" pitchFamily="34" charset="-122"/>
                      <a:ea typeface="微软雅黑" pitchFamily="34" charset="-122"/>
                    </a:rPr>
                    <a:t>1</a:t>
                  </a:r>
                  <a:endParaRPr kumimoji="1" lang="en-US" altLang="zh-CN" sz="1000" dirty="0">
                    <a:latin typeface="微软雅黑" pitchFamily="34" charset="-122"/>
                    <a:ea typeface="微软雅黑" pitchFamily="34" charset="-122"/>
                  </a:endParaRPr>
                </a:p>
                <a:p>
                  <a:pPr algn="just" eaLnBrk="0" hangingPunct="0"/>
                  <a:endParaRPr kumimoji="1" lang="en-US" altLang="zh-CN" sz="2400" dirty="0">
                    <a:latin typeface="微软雅黑" pitchFamily="34" charset="-122"/>
                    <a:ea typeface="微软雅黑" pitchFamily="34" charset="-122"/>
                  </a:endParaRPr>
                </a:p>
              </p:txBody>
            </p:sp>
            <p:sp>
              <p:nvSpPr>
                <p:cNvPr id="10323" name="Rectangle 20"/>
                <p:cNvSpPr>
                  <a:spLocks noChangeArrowheads="1"/>
                </p:cNvSpPr>
                <p:nvPr/>
              </p:nvSpPr>
              <p:spPr bwMode="auto">
                <a:xfrm>
                  <a:off x="0" y="1038"/>
                  <a:ext cx="294" cy="153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53" name="Group 21"/>
              <p:cNvGrpSpPr>
                <a:grpSpLocks/>
              </p:cNvGrpSpPr>
              <p:nvPr/>
            </p:nvGrpSpPr>
            <p:grpSpPr bwMode="auto">
              <a:xfrm>
                <a:off x="294" y="1038"/>
                <a:ext cx="1239" cy="1538"/>
                <a:chOff x="294" y="1038"/>
                <a:chExt cx="1239" cy="1538"/>
              </a:xfrm>
            </p:grpSpPr>
            <p:sp>
              <p:nvSpPr>
                <p:cNvPr id="10320" name="Rectangle 22"/>
                <p:cNvSpPr>
                  <a:spLocks noChangeArrowheads="1"/>
                </p:cNvSpPr>
                <p:nvPr/>
              </p:nvSpPr>
              <p:spPr bwMode="auto">
                <a:xfrm>
                  <a:off x="337" y="1038"/>
                  <a:ext cx="1153" cy="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a:latin typeface="微软雅黑" pitchFamily="34" charset="-122"/>
                      <a:ea typeface="微软雅黑" pitchFamily="34" charset="-122"/>
                    </a:rPr>
                    <a:t>对程序员的训练要求</a:t>
                  </a:r>
                </a:p>
                <a:p>
                  <a:pPr algn="just"/>
                  <a:r>
                    <a:rPr kumimoji="1" lang="en-US" altLang="zh-CN" dirty="0">
                      <a:latin typeface="微软雅黑" pitchFamily="34" charset="-122"/>
                      <a:ea typeface="微软雅黑" pitchFamily="34" charset="-122"/>
                    </a:rPr>
                    <a:t>(1)</a:t>
                  </a:r>
                  <a:r>
                    <a:rPr kumimoji="1" lang="zh-CN" altLang="en-US">
                      <a:latin typeface="微软雅黑" pitchFamily="34" charset="-122"/>
                      <a:ea typeface="微软雅黑" pitchFamily="34" charset="-122"/>
                    </a:rPr>
                    <a:t>通用算法</a:t>
                  </a:r>
                </a:p>
                <a:p>
                  <a:pPr algn="just" eaLnBrk="0" hangingPunct="0"/>
                  <a:r>
                    <a:rPr kumimoji="1" lang="en-US" altLang="zh-CN" dirty="0">
                      <a:latin typeface="微软雅黑" pitchFamily="34" charset="-122"/>
                      <a:ea typeface="微软雅黑" pitchFamily="34" charset="-122"/>
                    </a:rPr>
                    <a:t>(2)</a:t>
                  </a:r>
                  <a:r>
                    <a:rPr kumimoji="1" lang="zh-CN" altLang="en-US">
                      <a:latin typeface="微软雅黑" pitchFamily="34" charset="-122"/>
                      <a:ea typeface="微软雅黑" pitchFamily="34" charset="-122"/>
                    </a:rPr>
                    <a:t>语言规则</a:t>
                  </a:r>
                </a:p>
                <a:p>
                  <a:pPr algn="just" eaLnBrk="0" hangingPunct="0"/>
                  <a:r>
                    <a:rPr kumimoji="1" lang="en-US" altLang="zh-CN" dirty="0">
                      <a:latin typeface="微软雅黑" pitchFamily="34" charset="-122"/>
                      <a:ea typeface="微软雅黑" pitchFamily="34" charset="-122"/>
                    </a:rPr>
                    <a:t>(3)</a:t>
                  </a:r>
                  <a:r>
                    <a:rPr kumimoji="1" lang="zh-CN" altLang="en-US">
                      <a:latin typeface="微软雅黑" pitchFamily="34" charset="-122"/>
                      <a:ea typeface="微软雅黑" pitchFamily="34" charset="-122"/>
                    </a:rPr>
                    <a:t>硬件知识</a:t>
                  </a:r>
                </a:p>
              </p:txBody>
            </p:sp>
            <p:sp>
              <p:nvSpPr>
                <p:cNvPr id="10321" name="Rectangle 23"/>
                <p:cNvSpPr>
                  <a:spLocks noChangeArrowheads="1"/>
                </p:cNvSpPr>
                <p:nvPr/>
              </p:nvSpPr>
              <p:spPr bwMode="auto">
                <a:xfrm>
                  <a:off x="294" y="1038"/>
                  <a:ext cx="1239" cy="153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54" name="Group 24"/>
              <p:cNvGrpSpPr>
                <a:grpSpLocks/>
              </p:cNvGrpSpPr>
              <p:nvPr/>
            </p:nvGrpSpPr>
            <p:grpSpPr bwMode="auto">
              <a:xfrm>
                <a:off x="1533" y="1038"/>
                <a:ext cx="850" cy="1538"/>
                <a:chOff x="1533" y="1038"/>
                <a:chExt cx="850" cy="1538"/>
              </a:xfrm>
            </p:grpSpPr>
            <p:sp>
              <p:nvSpPr>
                <p:cNvPr id="10318" name="Rectangle 25"/>
                <p:cNvSpPr>
                  <a:spLocks noChangeArrowheads="1"/>
                </p:cNvSpPr>
                <p:nvPr/>
              </p:nvSpPr>
              <p:spPr bwMode="auto">
                <a:xfrm>
                  <a:off x="1576" y="1038"/>
                  <a:ext cx="764" cy="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2600" dirty="0">
                      <a:latin typeface="微软雅黑" pitchFamily="34" charset="-122"/>
                      <a:ea typeface="微软雅黑" pitchFamily="34" charset="-122"/>
                    </a:rPr>
                    <a:t> </a:t>
                  </a:r>
                  <a:endParaRPr kumimoji="1" lang="en-US" altLang="zh-CN" sz="1000" dirty="0">
                    <a:latin typeface="微软雅黑" pitchFamily="34" charset="-122"/>
                    <a:ea typeface="微软雅黑" pitchFamily="34" charset="-122"/>
                  </a:endParaRPr>
                </a:p>
                <a:p>
                  <a:pPr algn="just" eaLnBrk="0" hangingPunct="0"/>
                  <a:endParaRPr kumimoji="1" lang="en-US" altLang="zh-CN" dirty="0">
                    <a:latin typeface="微软雅黑" pitchFamily="34" charset="-122"/>
                    <a:ea typeface="微软雅黑" pitchFamily="34" charset="-122"/>
                  </a:endParaRPr>
                </a:p>
                <a:p>
                  <a:pPr algn="just" eaLnBrk="0" hangingPunct="0"/>
                  <a:r>
                    <a:rPr kumimoji="1" lang="zh-CN" altLang="en-US">
                      <a:latin typeface="微软雅黑" pitchFamily="34" charset="-122"/>
                      <a:ea typeface="微软雅黑" pitchFamily="34" charset="-122"/>
                    </a:rPr>
                    <a:t>有</a:t>
                  </a:r>
                </a:p>
                <a:p>
                  <a:pPr algn="just" eaLnBrk="0" hangingPunct="0"/>
                  <a:r>
                    <a:rPr kumimoji="1" lang="zh-CN" altLang="en-US">
                      <a:latin typeface="微软雅黑" pitchFamily="34" charset="-122"/>
                      <a:ea typeface="微软雅黑" pitchFamily="34" charset="-122"/>
                    </a:rPr>
                    <a:t>较少</a:t>
                  </a:r>
                </a:p>
                <a:p>
                  <a:pPr algn="just" eaLnBrk="0" hangingPunct="0"/>
                  <a:r>
                    <a:rPr kumimoji="1" lang="zh-CN" altLang="en-US">
                      <a:latin typeface="微软雅黑" pitchFamily="34" charset="-122"/>
                      <a:ea typeface="微软雅黑" pitchFamily="34" charset="-122"/>
                    </a:rPr>
                    <a:t>不要</a:t>
                  </a:r>
                </a:p>
                <a:p>
                  <a:pPr algn="just" eaLnBrk="0" hangingPunct="0"/>
                  <a:endParaRPr kumimoji="1" lang="en-US" altLang="zh-CN" sz="2400" dirty="0">
                    <a:latin typeface="微软雅黑" pitchFamily="34" charset="-122"/>
                    <a:ea typeface="微软雅黑" pitchFamily="34" charset="-122"/>
                  </a:endParaRPr>
                </a:p>
              </p:txBody>
            </p:sp>
            <p:sp>
              <p:nvSpPr>
                <p:cNvPr id="10319" name="Rectangle 26"/>
                <p:cNvSpPr>
                  <a:spLocks noChangeArrowheads="1"/>
                </p:cNvSpPr>
                <p:nvPr/>
              </p:nvSpPr>
              <p:spPr bwMode="auto">
                <a:xfrm>
                  <a:off x="1533" y="1038"/>
                  <a:ext cx="850" cy="153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55" name="Group 27"/>
              <p:cNvGrpSpPr>
                <a:grpSpLocks/>
              </p:cNvGrpSpPr>
              <p:nvPr/>
            </p:nvGrpSpPr>
            <p:grpSpPr bwMode="auto">
              <a:xfrm>
                <a:off x="2383" y="1038"/>
                <a:ext cx="850" cy="1538"/>
                <a:chOff x="2383" y="1038"/>
                <a:chExt cx="850" cy="1538"/>
              </a:xfrm>
            </p:grpSpPr>
            <p:sp>
              <p:nvSpPr>
                <p:cNvPr id="10316" name="Rectangle 28"/>
                <p:cNvSpPr>
                  <a:spLocks noChangeArrowheads="1"/>
                </p:cNvSpPr>
                <p:nvPr/>
              </p:nvSpPr>
              <p:spPr bwMode="auto">
                <a:xfrm>
                  <a:off x="2426" y="1038"/>
                  <a:ext cx="764" cy="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endParaRPr kumimoji="1" lang="en-US" altLang="zh-CN" dirty="0">
                    <a:latin typeface="微软雅黑" pitchFamily="34" charset="-122"/>
                    <a:ea typeface="微软雅黑" pitchFamily="34" charset="-122"/>
                  </a:endParaRPr>
                </a:p>
                <a:p>
                  <a:pPr algn="just"/>
                  <a:r>
                    <a:rPr kumimoji="1" lang="zh-CN" altLang="en-US">
                      <a:latin typeface="微软雅黑" pitchFamily="34" charset="-122"/>
                      <a:ea typeface="微软雅黑" pitchFamily="34" charset="-122"/>
                    </a:rPr>
                    <a:t>有</a:t>
                  </a:r>
                </a:p>
                <a:p>
                  <a:pPr algn="just" eaLnBrk="0" hangingPunct="0"/>
                  <a:r>
                    <a:rPr kumimoji="1" lang="zh-CN" altLang="en-US">
                      <a:latin typeface="微软雅黑" pitchFamily="34" charset="-122"/>
                      <a:ea typeface="微软雅黑" pitchFamily="34" charset="-122"/>
                    </a:rPr>
                    <a:t>较多</a:t>
                  </a:r>
                </a:p>
                <a:p>
                  <a:pPr algn="just" eaLnBrk="0" hangingPunct="0"/>
                  <a:r>
                    <a:rPr kumimoji="1" lang="zh-CN" altLang="en-US">
                      <a:latin typeface="微软雅黑" pitchFamily="34" charset="-122"/>
                      <a:ea typeface="微软雅黑" pitchFamily="34" charset="-122"/>
                    </a:rPr>
                    <a:t>要</a:t>
                  </a:r>
                </a:p>
              </p:txBody>
            </p:sp>
            <p:sp>
              <p:nvSpPr>
                <p:cNvPr id="10317" name="Rectangle 29"/>
                <p:cNvSpPr>
                  <a:spLocks noChangeArrowheads="1"/>
                </p:cNvSpPr>
                <p:nvPr/>
              </p:nvSpPr>
              <p:spPr bwMode="auto">
                <a:xfrm>
                  <a:off x="2383" y="1038"/>
                  <a:ext cx="850" cy="153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56" name="Group 30"/>
              <p:cNvGrpSpPr>
                <a:grpSpLocks/>
              </p:cNvGrpSpPr>
              <p:nvPr/>
            </p:nvGrpSpPr>
            <p:grpSpPr bwMode="auto">
              <a:xfrm>
                <a:off x="0" y="2576"/>
                <a:ext cx="294" cy="788"/>
                <a:chOff x="0" y="2576"/>
                <a:chExt cx="294" cy="788"/>
              </a:xfrm>
            </p:grpSpPr>
            <p:sp>
              <p:nvSpPr>
                <p:cNvPr id="10314" name="Rectangle 31"/>
                <p:cNvSpPr>
                  <a:spLocks noChangeArrowheads="1"/>
                </p:cNvSpPr>
                <p:nvPr/>
              </p:nvSpPr>
              <p:spPr bwMode="auto">
                <a:xfrm>
                  <a:off x="43" y="2576"/>
                  <a:ext cx="20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2600">
                      <a:latin typeface="微软雅黑" pitchFamily="34" charset="-122"/>
                      <a:ea typeface="微软雅黑" pitchFamily="34" charset="-122"/>
                    </a:rPr>
                    <a:t>　</a:t>
                  </a:r>
                  <a:r>
                    <a:rPr kumimoji="1" lang="en-US" altLang="zh-CN" sz="2600" dirty="0">
                      <a:latin typeface="微软雅黑" pitchFamily="34" charset="-122"/>
                      <a:ea typeface="微软雅黑" pitchFamily="34" charset="-122"/>
                    </a:rPr>
                    <a:t>2</a:t>
                  </a:r>
                  <a:endParaRPr kumimoji="1" lang="en-US" altLang="zh-CN" sz="1000" dirty="0">
                    <a:latin typeface="微软雅黑" pitchFamily="34" charset="-122"/>
                    <a:ea typeface="微软雅黑" pitchFamily="34" charset="-122"/>
                  </a:endParaRPr>
                </a:p>
                <a:p>
                  <a:pPr algn="just" eaLnBrk="0" hangingPunct="0"/>
                  <a:endParaRPr kumimoji="1" lang="en-US" altLang="zh-CN" sz="2400" dirty="0">
                    <a:latin typeface="微软雅黑" pitchFamily="34" charset="-122"/>
                    <a:ea typeface="微软雅黑" pitchFamily="34" charset="-122"/>
                  </a:endParaRPr>
                </a:p>
              </p:txBody>
            </p:sp>
            <p:sp>
              <p:nvSpPr>
                <p:cNvPr id="10315" name="Rectangle 32"/>
                <p:cNvSpPr>
                  <a:spLocks noChangeArrowheads="1"/>
                </p:cNvSpPr>
                <p:nvPr/>
              </p:nvSpPr>
              <p:spPr bwMode="auto">
                <a:xfrm>
                  <a:off x="0" y="2576"/>
                  <a:ext cx="29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57" name="Group 33"/>
              <p:cNvGrpSpPr>
                <a:grpSpLocks/>
              </p:cNvGrpSpPr>
              <p:nvPr/>
            </p:nvGrpSpPr>
            <p:grpSpPr bwMode="auto">
              <a:xfrm>
                <a:off x="294" y="2576"/>
                <a:ext cx="1239" cy="788"/>
                <a:chOff x="294" y="2576"/>
                <a:chExt cx="1239" cy="788"/>
              </a:xfrm>
            </p:grpSpPr>
            <p:sp>
              <p:nvSpPr>
                <p:cNvPr id="10312" name="Rectangle 34"/>
                <p:cNvSpPr>
                  <a:spLocks noChangeArrowheads="1"/>
                </p:cNvSpPr>
                <p:nvPr/>
              </p:nvSpPr>
              <p:spPr bwMode="auto">
                <a:xfrm>
                  <a:off x="337" y="2576"/>
                  <a:ext cx="1153"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2000">
                      <a:latin typeface="微软雅黑" pitchFamily="34" charset="-122"/>
                      <a:ea typeface="微软雅黑" pitchFamily="34" charset="-122"/>
                    </a:rPr>
                    <a:t>对机器独立的程度</a:t>
                  </a:r>
                </a:p>
              </p:txBody>
            </p:sp>
            <p:sp>
              <p:nvSpPr>
                <p:cNvPr id="10313" name="Rectangle 35"/>
                <p:cNvSpPr>
                  <a:spLocks noChangeArrowheads="1"/>
                </p:cNvSpPr>
                <p:nvPr/>
              </p:nvSpPr>
              <p:spPr bwMode="auto">
                <a:xfrm>
                  <a:off x="294" y="2576"/>
                  <a:ext cx="1239"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58" name="Group 36"/>
              <p:cNvGrpSpPr>
                <a:grpSpLocks/>
              </p:cNvGrpSpPr>
              <p:nvPr/>
            </p:nvGrpSpPr>
            <p:grpSpPr bwMode="auto">
              <a:xfrm>
                <a:off x="1533" y="2576"/>
                <a:ext cx="850" cy="788"/>
                <a:chOff x="1533" y="2576"/>
                <a:chExt cx="850" cy="788"/>
              </a:xfrm>
            </p:grpSpPr>
            <p:sp>
              <p:nvSpPr>
                <p:cNvPr id="10310" name="Rectangle 37"/>
                <p:cNvSpPr>
                  <a:spLocks noChangeArrowheads="1"/>
                </p:cNvSpPr>
                <p:nvPr/>
              </p:nvSpPr>
              <p:spPr bwMode="auto">
                <a:xfrm>
                  <a:off x="1576" y="2576"/>
                  <a:ext cx="764"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a:latin typeface="微软雅黑" pitchFamily="34" charset="-122"/>
                      <a:ea typeface="微软雅黑" pitchFamily="34" charset="-122"/>
                    </a:rPr>
                    <a:t>独立</a:t>
                  </a:r>
                </a:p>
              </p:txBody>
            </p:sp>
            <p:sp>
              <p:nvSpPr>
                <p:cNvPr id="10311" name="Rectangle 38"/>
                <p:cNvSpPr>
                  <a:spLocks noChangeArrowheads="1"/>
                </p:cNvSpPr>
                <p:nvPr/>
              </p:nvSpPr>
              <p:spPr bwMode="auto">
                <a:xfrm>
                  <a:off x="1533" y="2576"/>
                  <a:ext cx="850"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59" name="Group 39"/>
              <p:cNvGrpSpPr>
                <a:grpSpLocks/>
              </p:cNvGrpSpPr>
              <p:nvPr/>
            </p:nvGrpSpPr>
            <p:grpSpPr bwMode="auto">
              <a:xfrm>
                <a:off x="2383" y="2576"/>
                <a:ext cx="850" cy="788"/>
                <a:chOff x="2383" y="2576"/>
                <a:chExt cx="850" cy="788"/>
              </a:xfrm>
            </p:grpSpPr>
            <p:sp>
              <p:nvSpPr>
                <p:cNvPr id="10308" name="Rectangle 40"/>
                <p:cNvSpPr>
                  <a:spLocks noChangeArrowheads="1"/>
                </p:cNvSpPr>
                <p:nvPr/>
              </p:nvSpPr>
              <p:spPr bwMode="auto">
                <a:xfrm>
                  <a:off x="2426" y="2576"/>
                  <a:ext cx="764"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a:latin typeface="微软雅黑" pitchFamily="34" charset="-122"/>
                      <a:ea typeface="微软雅黑" pitchFamily="34" charset="-122"/>
                    </a:rPr>
                    <a:t>不独立</a:t>
                  </a:r>
                </a:p>
              </p:txBody>
            </p:sp>
            <p:sp>
              <p:nvSpPr>
                <p:cNvPr id="10309" name="Rectangle 41"/>
                <p:cNvSpPr>
                  <a:spLocks noChangeArrowheads="1"/>
                </p:cNvSpPr>
                <p:nvPr/>
              </p:nvSpPr>
              <p:spPr bwMode="auto">
                <a:xfrm>
                  <a:off x="2383" y="2576"/>
                  <a:ext cx="850"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60" name="Group 42"/>
              <p:cNvGrpSpPr>
                <a:grpSpLocks/>
              </p:cNvGrpSpPr>
              <p:nvPr/>
            </p:nvGrpSpPr>
            <p:grpSpPr bwMode="auto">
              <a:xfrm>
                <a:off x="0" y="3364"/>
                <a:ext cx="294" cy="788"/>
                <a:chOff x="0" y="3364"/>
                <a:chExt cx="294" cy="788"/>
              </a:xfrm>
            </p:grpSpPr>
            <p:sp>
              <p:nvSpPr>
                <p:cNvPr id="10306" name="Rectangle 43"/>
                <p:cNvSpPr>
                  <a:spLocks noChangeArrowheads="1"/>
                </p:cNvSpPr>
                <p:nvPr/>
              </p:nvSpPr>
              <p:spPr bwMode="auto">
                <a:xfrm>
                  <a:off x="43" y="3364"/>
                  <a:ext cx="20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2600">
                      <a:latin typeface="微软雅黑" pitchFamily="34" charset="-122"/>
                      <a:ea typeface="微软雅黑" pitchFamily="34" charset="-122"/>
                    </a:rPr>
                    <a:t>　</a:t>
                  </a:r>
                  <a:r>
                    <a:rPr kumimoji="1" lang="en-US" altLang="zh-CN" sz="2600" dirty="0">
                      <a:latin typeface="微软雅黑" pitchFamily="34" charset="-122"/>
                      <a:ea typeface="微软雅黑" pitchFamily="34" charset="-122"/>
                    </a:rPr>
                    <a:t>3</a:t>
                  </a:r>
                  <a:endParaRPr kumimoji="1" lang="en-US" altLang="zh-CN" sz="1000" dirty="0">
                    <a:latin typeface="微软雅黑" pitchFamily="34" charset="-122"/>
                    <a:ea typeface="微软雅黑" pitchFamily="34" charset="-122"/>
                  </a:endParaRPr>
                </a:p>
                <a:p>
                  <a:pPr algn="just" eaLnBrk="0" hangingPunct="0"/>
                  <a:endParaRPr kumimoji="1" lang="en-US" altLang="zh-CN" sz="2400" dirty="0">
                    <a:latin typeface="微软雅黑" pitchFamily="34" charset="-122"/>
                    <a:ea typeface="微软雅黑" pitchFamily="34" charset="-122"/>
                  </a:endParaRPr>
                </a:p>
              </p:txBody>
            </p:sp>
            <p:sp>
              <p:nvSpPr>
                <p:cNvPr id="10307" name="Rectangle 44"/>
                <p:cNvSpPr>
                  <a:spLocks noChangeArrowheads="1"/>
                </p:cNvSpPr>
                <p:nvPr/>
              </p:nvSpPr>
              <p:spPr bwMode="auto">
                <a:xfrm>
                  <a:off x="0" y="3364"/>
                  <a:ext cx="29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61" name="Group 45"/>
              <p:cNvGrpSpPr>
                <a:grpSpLocks/>
              </p:cNvGrpSpPr>
              <p:nvPr/>
            </p:nvGrpSpPr>
            <p:grpSpPr bwMode="auto">
              <a:xfrm>
                <a:off x="294" y="3364"/>
                <a:ext cx="1239" cy="788"/>
                <a:chOff x="294" y="3364"/>
                <a:chExt cx="1239" cy="788"/>
              </a:xfrm>
            </p:grpSpPr>
            <p:sp>
              <p:nvSpPr>
                <p:cNvPr id="10304" name="Rectangle 46"/>
                <p:cNvSpPr>
                  <a:spLocks noChangeArrowheads="1"/>
                </p:cNvSpPr>
                <p:nvPr/>
              </p:nvSpPr>
              <p:spPr bwMode="auto">
                <a:xfrm>
                  <a:off x="337" y="3364"/>
                  <a:ext cx="1153"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a:latin typeface="微软雅黑" pitchFamily="34" charset="-122"/>
                      <a:ea typeface="微软雅黑" pitchFamily="34" charset="-122"/>
                    </a:rPr>
                    <a:t>编制程序的难易程度</a:t>
                  </a:r>
                </a:p>
              </p:txBody>
            </p:sp>
            <p:sp>
              <p:nvSpPr>
                <p:cNvPr id="10305" name="Rectangle 47"/>
                <p:cNvSpPr>
                  <a:spLocks noChangeArrowheads="1"/>
                </p:cNvSpPr>
                <p:nvPr/>
              </p:nvSpPr>
              <p:spPr bwMode="auto">
                <a:xfrm>
                  <a:off x="294" y="3364"/>
                  <a:ext cx="1239"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62" name="Group 48"/>
              <p:cNvGrpSpPr>
                <a:grpSpLocks/>
              </p:cNvGrpSpPr>
              <p:nvPr/>
            </p:nvGrpSpPr>
            <p:grpSpPr bwMode="auto">
              <a:xfrm>
                <a:off x="1533" y="3364"/>
                <a:ext cx="850" cy="788"/>
                <a:chOff x="1533" y="3364"/>
                <a:chExt cx="850" cy="788"/>
              </a:xfrm>
            </p:grpSpPr>
            <p:sp>
              <p:nvSpPr>
                <p:cNvPr id="10302" name="Rectangle 49"/>
                <p:cNvSpPr>
                  <a:spLocks noChangeArrowheads="1"/>
                </p:cNvSpPr>
                <p:nvPr/>
              </p:nvSpPr>
              <p:spPr bwMode="auto">
                <a:xfrm>
                  <a:off x="1576" y="3364"/>
                  <a:ext cx="764"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a:latin typeface="微软雅黑" pitchFamily="34" charset="-122"/>
                      <a:ea typeface="微软雅黑" pitchFamily="34" charset="-122"/>
                    </a:rPr>
                    <a:t>易</a:t>
                  </a:r>
                </a:p>
              </p:txBody>
            </p:sp>
            <p:sp>
              <p:nvSpPr>
                <p:cNvPr id="10303" name="Rectangle 50"/>
                <p:cNvSpPr>
                  <a:spLocks noChangeArrowheads="1"/>
                </p:cNvSpPr>
                <p:nvPr/>
              </p:nvSpPr>
              <p:spPr bwMode="auto">
                <a:xfrm>
                  <a:off x="1533" y="3364"/>
                  <a:ext cx="850"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63" name="Group 51"/>
              <p:cNvGrpSpPr>
                <a:grpSpLocks/>
              </p:cNvGrpSpPr>
              <p:nvPr/>
            </p:nvGrpSpPr>
            <p:grpSpPr bwMode="auto">
              <a:xfrm>
                <a:off x="2383" y="3364"/>
                <a:ext cx="850" cy="788"/>
                <a:chOff x="2383" y="3364"/>
                <a:chExt cx="850" cy="788"/>
              </a:xfrm>
            </p:grpSpPr>
            <p:sp>
              <p:nvSpPr>
                <p:cNvPr id="10300" name="Rectangle 52"/>
                <p:cNvSpPr>
                  <a:spLocks noChangeArrowheads="1"/>
                </p:cNvSpPr>
                <p:nvPr/>
              </p:nvSpPr>
              <p:spPr bwMode="auto">
                <a:xfrm>
                  <a:off x="2426" y="3364"/>
                  <a:ext cx="764"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a:latin typeface="微软雅黑" pitchFamily="34" charset="-122"/>
                      <a:ea typeface="微软雅黑" pitchFamily="34" charset="-122"/>
                    </a:rPr>
                    <a:t>难</a:t>
                  </a:r>
                </a:p>
              </p:txBody>
            </p:sp>
            <p:sp>
              <p:nvSpPr>
                <p:cNvPr id="10301" name="Rectangle 53"/>
                <p:cNvSpPr>
                  <a:spLocks noChangeArrowheads="1"/>
                </p:cNvSpPr>
                <p:nvPr/>
              </p:nvSpPr>
              <p:spPr bwMode="auto">
                <a:xfrm>
                  <a:off x="2383" y="3364"/>
                  <a:ext cx="850"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64" name="Group 54"/>
              <p:cNvGrpSpPr>
                <a:grpSpLocks/>
              </p:cNvGrpSpPr>
              <p:nvPr/>
            </p:nvGrpSpPr>
            <p:grpSpPr bwMode="auto">
              <a:xfrm>
                <a:off x="0" y="4152"/>
                <a:ext cx="294" cy="788"/>
                <a:chOff x="0" y="4152"/>
                <a:chExt cx="294" cy="788"/>
              </a:xfrm>
            </p:grpSpPr>
            <p:sp>
              <p:nvSpPr>
                <p:cNvPr id="10298" name="Rectangle 55"/>
                <p:cNvSpPr>
                  <a:spLocks noChangeArrowheads="1"/>
                </p:cNvSpPr>
                <p:nvPr/>
              </p:nvSpPr>
              <p:spPr bwMode="auto">
                <a:xfrm>
                  <a:off x="43" y="4152"/>
                  <a:ext cx="20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2600">
                      <a:latin typeface="微软雅黑" pitchFamily="34" charset="-122"/>
                      <a:ea typeface="微软雅黑" pitchFamily="34" charset="-122"/>
                    </a:rPr>
                    <a:t>　</a:t>
                  </a:r>
                  <a:r>
                    <a:rPr kumimoji="1" lang="en-US" altLang="zh-CN" sz="2600" dirty="0">
                      <a:latin typeface="微软雅黑" pitchFamily="34" charset="-122"/>
                      <a:ea typeface="微软雅黑" pitchFamily="34" charset="-122"/>
                    </a:rPr>
                    <a:t>4</a:t>
                  </a:r>
                  <a:endParaRPr kumimoji="1" lang="en-US" altLang="zh-CN" sz="1000" dirty="0">
                    <a:latin typeface="微软雅黑" pitchFamily="34" charset="-122"/>
                    <a:ea typeface="微软雅黑" pitchFamily="34" charset="-122"/>
                  </a:endParaRPr>
                </a:p>
                <a:p>
                  <a:pPr algn="just" eaLnBrk="0" hangingPunct="0"/>
                  <a:endParaRPr kumimoji="1" lang="en-US" altLang="zh-CN" sz="2400" dirty="0">
                    <a:latin typeface="微软雅黑" pitchFamily="34" charset="-122"/>
                    <a:ea typeface="微软雅黑" pitchFamily="34" charset="-122"/>
                  </a:endParaRPr>
                </a:p>
              </p:txBody>
            </p:sp>
            <p:sp>
              <p:nvSpPr>
                <p:cNvPr id="10299" name="Rectangle 56"/>
                <p:cNvSpPr>
                  <a:spLocks noChangeArrowheads="1"/>
                </p:cNvSpPr>
                <p:nvPr/>
              </p:nvSpPr>
              <p:spPr bwMode="auto">
                <a:xfrm>
                  <a:off x="0" y="4152"/>
                  <a:ext cx="29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65" name="Group 57"/>
              <p:cNvGrpSpPr>
                <a:grpSpLocks/>
              </p:cNvGrpSpPr>
              <p:nvPr/>
            </p:nvGrpSpPr>
            <p:grpSpPr bwMode="auto">
              <a:xfrm>
                <a:off x="294" y="4152"/>
                <a:ext cx="1239" cy="788"/>
                <a:chOff x="294" y="4152"/>
                <a:chExt cx="1239" cy="788"/>
              </a:xfrm>
            </p:grpSpPr>
            <p:sp>
              <p:nvSpPr>
                <p:cNvPr id="10296" name="Rectangle 58"/>
                <p:cNvSpPr>
                  <a:spLocks noChangeArrowheads="1"/>
                </p:cNvSpPr>
                <p:nvPr/>
              </p:nvSpPr>
              <p:spPr bwMode="auto">
                <a:xfrm>
                  <a:off x="337" y="4152"/>
                  <a:ext cx="1153"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2000">
                      <a:latin typeface="微软雅黑" pitchFamily="34" charset="-122"/>
                      <a:ea typeface="微软雅黑" pitchFamily="34" charset="-122"/>
                    </a:rPr>
                    <a:t>编制程序所需时间</a:t>
                  </a:r>
                </a:p>
              </p:txBody>
            </p:sp>
            <p:sp>
              <p:nvSpPr>
                <p:cNvPr id="10297" name="Rectangle 59"/>
                <p:cNvSpPr>
                  <a:spLocks noChangeArrowheads="1"/>
                </p:cNvSpPr>
                <p:nvPr/>
              </p:nvSpPr>
              <p:spPr bwMode="auto">
                <a:xfrm>
                  <a:off x="294" y="4152"/>
                  <a:ext cx="1239"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66" name="Group 60"/>
              <p:cNvGrpSpPr>
                <a:grpSpLocks/>
              </p:cNvGrpSpPr>
              <p:nvPr/>
            </p:nvGrpSpPr>
            <p:grpSpPr bwMode="auto">
              <a:xfrm>
                <a:off x="1533" y="4152"/>
                <a:ext cx="850" cy="788"/>
                <a:chOff x="1533" y="4152"/>
                <a:chExt cx="850" cy="788"/>
              </a:xfrm>
            </p:grpSpPr>
            <p:sp>
              <p:nvSpPr>
                <p:cNvPr id="10294" name="Rectangle 61"/>
                <p:cNvSpPr>
                  <a:spLocks noChangeArrowheads="1"/>
                </p:cNvSpPr>
                <p:nvPr/>
              </p:nvSpPr>
              <p:spPr bwMode="auto">
                <a:xfrm>
                  <a:off x="1576" y="4152"/>
                  <a:ext cx="764"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a:latin typeface="微软雅黑" pitchFamily="34" charset="-122"/>
                      <a:ea typeface="微软雅黑" pitchFamily="34" charset="-122"/>
                    </a:rPr>
                    <a:t>短</a:t>
                  </a:r>
                </a:p>
              </p:txBody>
            </p:sp>
            <p:sp>
              <p:nvSpPr>
                <p:cNvPr id="10295" name="Rectangle 62"/>
                <p:cNvSpPr>
                  <a:spLocks noChangeArrowheads="1"/>
                </p:cNvSpPr>
                <p:nvPr/>
              </p:nvSpPr>
              <p:spPr bwMode="auto">
                <a:xfrm>
                  <a:off x="1533" y="4152"/>
                  <a:ext cx="850"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67" name="Group 63"/>
              <p:cNvGrpSpPr>
                <a:grpSpLocks/>
              </p:cNvGrpSpPr>
              <p:nvPr/>
            </p:nvGrpSpPr>
            <p:grpSpPr bwMode="auto">
              <a:xfrm>
                <a:off x="2383" y="4152"/>
                <a:ext cx="850" cy="788"/>
                <a:chOff x="2383" y="4152"/>
                <a:chExt cx="850" cy="788"/>
              </a:xfrm>
            </p:grpSpPr>
            <p:sp>
              <p:nvSpPr>
                <p:cNvPr id="10292" name="Rectangle 64"/>
                <p:cNvSpPr>
                  <a:spLocks noChangeArrowheads="1"/>
                </p:cNvSpPr>
                <p:nvPr/>
              </p:nvSpPr>
              <p:spPr bwMode="auto">
                <a:xfrm>
                  <a:off x="2426" y="4152"/>
                  <a:ext cx="764"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a:latin typeface="微软雅黑" pitchFamily="34" charset="-122"/>
                      <a:ea typeface="微软雅黑" pitchFamily="34" charset="-122"/>
                    </a:rPr>
                    <a:t>较长</a:t>
                  </a:r>
                </a:p>
              </p:txBody>
            </p:sp>
            <p:sp>
              <p:nvSpPr>
                <p:cNvPr id="10293" name="Rectangle 65"/>
                <p:cNvSpPr>
                  <a:spLocks noChangeArrowheads="1"/>
                </p:cNvSpPr>
                <p:nvPr/>
              </p:nvSpPr>
              <p:spPr bwMode="auto">
                <a:xfrm>
                  <a:off x="2383" y="4152"/>
                  <a:ext cx="850"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68" name="Group 66"/>
              <p:cNvGrpSpPr>
                <a:grpSpLocks/>
              </p:cNvGrpSpPr>
              <p:nvPr/>
            </p:nvGrpSpPr>
            <p:grpSpPr bwMode="auto">
              <a:xfrm>
                <a:off x="0" y="4940"/>
                <a:ext cx="294" cy="788"/>
                <a:chOff x="0" y="4940"/>
                <a:chExt cx="294" cy="788"/>
              </a:xfrm>
            </p:grpSpPr>
            <p:sp>
              <p:nvSpPr>
                <p:cNvPr id="10290" name="Rectangle 67"/>
                <p:cNvSpPr>
                  <a:spLocks noChangeArrowheads="1"/>
                </p:cNvSpPr>
                <p:nvPr/>
              </p:nvSpPr>
              <p:spPr bwMode="auto">
                <a:xfrm>
                  <a:off x="43" y="4940"/>
                  <a:ext cx="20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2600">
                      <a:latin typeface="微软雅黑" pitchFamily="34" charset="-122"/>
                      <a:ea typeface="微软雅黑" pitchFamily="34" charset="-122"/>
                    </a:rPr>
                    <a:t>　</a:t>
                  </a:r>
                  <a:r>
                    <a:rPr kumimoji="1" lang="en-US" altLang="zh-CN" sz="2600" dirty="0">
                      <a:latin typeface="微软雅黑" pitchFamily="34" charset="-122"/>
                      <a:ea typeface="微软雅黑" pitchFamily="34" charset="-122"/>
                    </a:rPr>
                    <a:t>5</a:t>
                  </a:r>
                  <a:endParaRPr kumimoji="1" lang="en-US" altLang="zh-CN" sz="1000" dirty="0">
                    <a:latin typeface="微软雅黑" pitchFamily="34" charset="-122"/>
                    <a:ea typeface="微软雅黑" pitchFamily="34" charset="-122"/>
                  </a:endParaRPr>
                </a:p>
                <a:p>
                  <a:pPr algn="just" eaLnBrk="0" hangingPunct="0"/>
                  <a:endParaRPr kumimoji="1" lang="en-US" altLang="zh-CN" sz="2400" dirty="0">
                    <a:latin typeface="微软雅黑" pitchFamily="34" charset="-122"/>
                    <a:ea typeface="微软雅黑" pitchFamily="34" charset="-122"/>
                  </a:endParaRPr>
                </a:p>
              </p:txBody>
            </p:sp>
            <p:sp>
              <p:nvSpPr>
                <p:cNvPr id="10291" name="Rectangle 68"/>
                <p:cNvSpPr>
                  <a:spLocks noChangeArrowheads="1"/>
                </p:cNvSpPr>
                <p:nvPr/>
              </p:nvSpPr>
              <p:spPr bwMode="auto">
                <a:xfrm>
                  <a:off x="0" y="4940"/>
                  <a:ext cx="29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69" name="Group 69"/>
              <p:cNvGrpSpPr>
                <a:grpSpLocks/>
              </p:cNvGrpSpPr>
              <p:nvPr/>
            </p:nvGrpSpPr>
            <p:grpSpPr bwMode="auto">
              <a:xfrm>
                <a:off x="294" y="4940"/>
                <a:ext cx="1239" cy="788"/>
                <a:chOff x="294" y="4940"/>
                <a:chExt cx="1239" cy="788"/>
              </a:xfrm>
            </p:grpSpPr>
            <p:sp>
              <p:nvSpPr>
                <p:cNvPr id="10288" name="Rectangle 70"/>
                <p:cNvSpPr>
                  <a:spLocks noChangeArrowheads="1"/>
                </p:cNvSpPr>
                <p:nvPr/>
              </p:nvSpPr>
              <p:spPr bwMode="auto">
                <a:xfrm>
                  <a:off x="337" y="4940"/>
                  <a:ext cx="1153"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2000">
                      <a:latin typeface="微软雅黑" pitchFamily="34" charset="-122"/>
                      <a:ea typeface="微软雅黑" pitchFamily="34" charset="-122"/>
                    </a:rPr>
                    <a:t>程序执行时间</a:t>
                  </a:r>
                </a:p>
              </p:txBody>
            </p:sp>
            <p:sp>
              <p:nvSpPr>
                <p:cNvPr id="10289" name="Rectangle 71"/>
                <p:cNvSpPr>
                  <a:spLocks noChangeArrowheads="1"/>
                </p:cNvSpPr>
                <p:nvPr/>
              </p:nvSpPr>
              <p:spPr bwMode="auto">
                <a:xfrm>
                  <a:off x="294" y="4940"/>
                  <a:ext cx="1239"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70" name="Group 72"/>
              <p:cNvGrpSpPr>
                <a:grpSpLocks/>
              </p:cNvGrpSpPr>
              <p:nvPr/>
            </p:nvGrpSpPr>
            <p:grpSpPr bwMode="auto">
              <a:xfrm>
                <a:off x="1533" y="4940"/>
                <a:ext cx="850" cy="788"/>
                <a:chOff x="1533" y="4940"/>
                <a:chExt cx="850" cy="788"/>
              </a:xfrm>
            </p:grpSpPr>
            <p:sp>
              <p:nvSpPr>
                <p:cNvPr id="10286" name="Rectangle 73"/>
                <p:cNvSpPr>
                  <a:spLocks noChangeArrowheads="1"/>
                </p:cNvSpPr>
                <p:nvPr/>
              </p:nvSpPr>
              <p:spPr bwMode="auto">
                <a:xfrm>
                  <a:off x="1576" y="4940"/>
                  <a:ext cx="764"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a:latin typeface="微软雅黑" pitchFamily="34" charset="-122"/>
                      <a:ea typeface="微软雅黑" pitchFamily="34" charset="-122"/>
                    </a:rPr>
                    <a:t>较长</a:t>
                  </a:r>
                </a:p>
              </p:txBody>
            </p:sp>
            <p:sp>
              <p:nvSpPr>
                <p:cNvPr id="10287" name="Rectangle 74"/>
                <p:cNvSpPr>
                  <a:spLocks noChangeArrowheads="1"/>
                </p:cNvSpPr>
                <p:nvPr/>
              </p:nvSpPr>
              <p:spPr bwMode="auto">
                <a:xfrm>
                  <a:off x="1533" y="4940"/>
                  <a:ext cx="850"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71" name="Group 75"/>
              <p:cNvGrpSpPr>
                <a:grpSpLocks/>
              </p:cNvGrpSpPr>
              <p:nvPr/>
            </p:nvGrpSpPr>
            <p:grpSpPr bwMode="auto">
              <a:xfrm>
                <a:off x="2383" y="4940"/>
                <a:ext cx="850" cy="788"/>
                <a:chOff x="2383" y="4940"/>
                <a:chExt cx="850" cy="788"/>
              </a:xfrm>
            </p:grpSpPr>
            <p:sp>
              <p:nvSpPr>
                <p:cNvPr id="10284" name="Rectangle 76"/>
                <p:cNvSpPr>
                  <a:spLocks noChangeArrowheads="1"/>
                </p:cNvSpPr>
                <p:nvPr/>
              </p:nvSpPr>
              <p:spPr bwMode="auto">
                <a:xfrm>
                  <a:off x="2426" y="4940"/>
                  <a:ext cx="764"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a:latin typeface="微软雅黑" pitchFamily="34" charset="-122"/>
                      <a:ea typeface="微软雅黑" pitchFamily="34" charset="-122"/>
                    </a:rPr>
                    <a:t>短</a:t>
                  </a:r>
                </a:p>
              </p:txBody>
            </p:sp>
            <p:sp>
              <p:nvSpPr>
                <p:cNvPr id="10285" name="Rectangle 77"/>
                <p:cNvSpPr>
                  <a:spLocks noChangeArrowheads="1"/>
                </p:cNvSpPr>
                <p:nvPr/>
              </p:nvSpPr>
              <p:spPr bwMode="auto">
                <a:xfrm>
                  <a:off x="2383" y="4940"/>
                  <a:ext cx="850"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72" name="Group 78"/>
              <p:cNvGrpSpPr>
                <a:grpSpLocks/>
              </p:cNvGrpSpPr>
              <p:nvPr/>
            </p:nvGrpSpPr>
            <p:grpSpPr bwMode="auto">
              <a:xfrm>
                <a:off x="0" y="5728"/>
                <a:ext cx="294" cy="1038"/>
                <a:chOff x="0" y="5728"/>
                <a:chExt cx="294" cy="1038"/>
              </a:xfrm>
            </p:grpSpPr>
            <p:sp>
              <p:nvSpPr>
                <p:cNvPr id="10282" name="Rectangle 79"/>
                <p:cNvSpPr>
                  <a:spLocks noChangeArrowheads="1"/>
                </p:cNvSpPr>
                <p:nvPr/>
              </p:nvSpPr>
              <p:spPr bwMode="auto">
                <a:xfrm>
                  <a:off x="43" y="5728"/>
                  <a:ext cx="208" cy="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2600">
                      <a:latin typeface="微软雅黑" pitchFamily="34" charset="-122"/>
                      <a:ea typeface="微软雅黑" pitchFamily="34" charset="-122"/>
                    </a:rPr>
                    <a:t>　</a:t>
                  </a:r>
                  <a:r>
                    <a:rPr kumimoji="1" lang="en-US" altLang="zh-CN" sz="2600" dirty="0">
                      <a:latin typeface="微软雅黑" pitchFamily="34" charset="-122"/>
                      <a:ea typeface="微软雅黑" pitchFamily="34" charset="-122"/>
                    </a:rPr>
                    <a:t>6</a:t>
                  </a:r>
                  <a:endParaRPr kumimoji="1" lang="en-US" altLang="zh-CN" sz="1000" dirty="0">
                    <a:latin typeface="微软雅黑" pitchFamily="34" charset="-122"/>
                    <a:ea typeface="微软雅黑" pitchFamily="34" charset="-122"/>
                  </a:endParaRPr>
                </a:p>
                <a:p>
                  <a:pPr algn="just" eaLnBrk="0" hangingPunct="0"/>
                  <a:endParaRPr kumimoji="1" lang="en-US" altLang="zh-CN" sz="2400" dirty="0">
                    <a:latin typeface="微软雅黑" pitchFamily="34" charset="-122"/>
                    <a:ea typeface="微软雅黑" pitchFamily="34" charset="-122"/>
                  </a:endParaRPr>
                </a:p>
              </p:txBody>
            </p:sp>
            <p:sp>
              <p:nvSpPr>
                <p:cNvPr id="10283" name="Rectangle 80"/>
                <p:cNvSpPr>
                  <a:spLocks noChangeArrowheads="1"/>
                </p:cNvSpPr>
                <p:nvPr/>
              </p:nvSpPr>
              <p:spPr bwMode="auto">
                <a:xfrm>
                  <a:off x="0" y="5728"/>
                  <a:ext cx="294" cy="103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73" name="Group 81"/>
              <p:cNvGrpSpPr>
                <a:grpSpLocks/>
              </p:cNvGrpSpPr>
              <p:nvPr/>
            </p:nvGrpSpPr>
            <p:grpSpPr bwMode="auto">
              <a:xfrm>
                <a:off x="294" y="5728"/>
                <a:ext cx="1239" cy="1038"/>
                <a:chOff x="294" y="5728"/>
                <a:chExt cx="1239" cy="1038"/>
              </a:xfrm>
            </p:grpSpPr>
            <p:sp>
              <p:nvSpPr>
                <p:cNvPr id="10280" name="Rectangle 82"/>
                <p:cNvSpPr>
                  <a:spLocks noChangeArrowheads="1"/>
                </p:cNvSpPr>
                <p:nvPr/>
              </p:nvSpPr>
              <p:spPr bwMode="auto">
                <a:xfrm>
                  <a:off x="337" y="5728"/>
                  <a:ext cx="1153" cy="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2000">
                      <a:latin typeface="微软雅黑" pitchFamily="34" charset="-122"/>
                      <a:ea typeface="微软雅黑" pitchFamily="34" charset="-122"/>
                    </a:rPr>
                    <a:t>编译过程中对计算机资源的要求</a:t>
                  </a:r>
                </a:p>
              </p:txBody>
            </p:sp>
            <p:sp>
              <p:nvSpPr>
                <p:cNvPr id="10281" name="Rectangle 83"/>
                <p:cNvSpPr>
                  <a:spLocks noChangeArrowheads="1"/>
                </p:cNvSpPr>
                <p:nvPr/>
              </p:nvSpPr>
              <p:spPr bwMode="auto">
                <a:xfrm>
                  <a:off x="294" y="5728"/>
                  <a:ext cx="1239" cy="103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74" name="Group 84"/>
              <p:cNvGrpSpPr>
                <a:grpSpLocks/>
              </p:cNvGrpSpPr>
              <p:nvPr/>
            </p:nvGrpSpPr>
            <p:grpSpPr bwMode="auto">
              <a:xfrm>
                <a:off x="1533" y="5728"/>
                <a:ext cx="850" cy="1038"/>
                <a:chOff x="1533" y="5728"/>
                <a:chExt cx="850" cy="1038"/>
              </a:xfrm>
            </p:grpSpPr>
            <p:sp>
              <p:nvSpPr>
                <p:cNvPr id="10278" name="Rectangle 85"/>
                <p:cNvSpPr>
                  <a:spLocks noChangeArrowheads="1"/>
                </p:cNvSpPr>
                <p:nvPr/>
              </p:nvSpPr>
              <p:spPr bwMode="auto">
                <a:xfrm>
                  <a:off x="1576" y="5728"/>
                  <a:ext cx="764" cy="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a:latin typeface="微软雅黑" pitchFamily="34" charset="-122"/>
                      <a:ea typeface="微软雅黑" pitchFamily="34" charset="-122"/>
                    </a:rPr>
                    <a:t>多</a:t>
                  </a:r>
                </a:p>
              </p:txBody>
            </p:sp>
            <p:sp>
              <p:nvSpPr>
                <p:cNvPr id="10279" name="Rectangle 86"/>
                <p:cNvSpPr>
                  <a:spLocks noChangeArrowheads="1"/>
                </p:cNvSpPr>
                <p:nvPr/>
              </p:nvSpPr>
              <p:spPr bwMode="auto">
                <a:xfrm>
                  <a:off x="1533" y="5728"/>
                  <a:ext cx="850" cy="103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nvGrpSpPr>
              <p:cNvPr id="10275" name="Group 87"/>
              <p:cNvGrpSpPr>
                <a:grpSpLocks/>
              </p:cNvGrpSpPr>
              <p:nvPr/>
            </p:nvGrpSpPr>
            <p:grpSpPr bwMode="auto">
              <a:xfrm>
                <a:off x="2383" y="5728"/>
                <a:ext cx="850" cy="1038"/>
                <a:chOff x="2383" y="5728"/>
                <a:chExt cx="850" cy="1038"/>
              </a:xfrm>
            </p:grpSpPr>
            <p:sp>
              <p:nvSpPr>
                <p:cNvPr id="10276" name="Rectangle 88"/>
                <p:cNvSpPr>
                  <a:spLocks noChangeArrowheads="1"/>
                </p:cNvSpPr>
                <p:nvPr/>
              </p:nvSpPr>
              <p:spPr bwMode="auto">
                <a:xfrm>
                  <a:off x="2426" y="5728"/>
                  <a:ext cx="764" cy="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2000">
                      <a:latin typeface="微软雅黑" pitchFamily="34" charset="-122"/>
                      <a:ea typeface="微软雅黑" pitchFamily="34" charset="-122"/>
                    </a:rPr>
                    <a:t>少</a:t>
                  </a:r>
                </a:p>
              </p:txBody>
            </p:sp>
            <p:sp>
              <p:nvSpPr>
                <p:cNvPr id="10277" name="Rectangle 89"/>
                <p:cNvSpPr>
                  <a:spLocks noChangeArrowheads="1"/>
                </p:cNvSpPr>
                <p:nvPr/>
              </p:nvSpPr>
              <p:spPr bwMode="auto">
                <a:xfrm>
                  <a:off x="2383" y="5728"/>
                  <a:ext cx="850" cy="103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grpSp>
        <p:sp>
          <p:nvSpPr>
            <p:cNvPr id="10247" name="Rectangle 90"/>
            <p:cNvSpPr>
              <a:spLocks noChangeArrowheads="1"/>
            </p:cNvSpPr>
            <p:nvPr/>
          </p:nvSpPr>
          <p:spPr bwMode="auto">
            <a:xfrm>
              <a:off x="-3" y="-3"/>
              <a:ext cx="3239" cy="6772"/>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微软雅黑" pitchFamily="34" charset="-122"/>
                <a:ea typeface="微软雅黑" pitchFamily="34" charset="-122"/>
              </a:endParaRP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5B19AE0-1065-4C3F-AEE5-3A38BD08A74B}" type="slidenum">
              <a:rPr lang="en-US" altLang="zh-CN">
                <a:latin typeface="微软雅黑" pitchFamily="34" charset="-122"/>
                <a:ea typeface="微软雅黑" pitchFamily="34" charset="-122"/>
              </a:rPr>
              <a:pPr eaLnBrk="1" hangingPunct="1"/>
              <a:t>9</a:t>
            </a:fld>
            <a:endParaRPr lang="en-US" altLang="zh-CN" dirty="0">
              <a:latin typeface="微软雅黑" pitchFamily="34" charset="-122"/>
              <a:ea typeface="微软雅黑" pitchFamily="34" charset="-122"/>
            </a:endParaRPr>
          </a:p>
        </p:txBody>
      </p:sp>
      <p:sp>
        <p:nvSpPr>
          <p:cNvPr id="11267" name="Rectangle 2"/>
          <p:cNvSpPr>
            <a:spLocks noGrp="1" noChangeArrowheads="1"/>
          </p:cNvSpPr>
          <p:nvPr>
            <p:ph type="title"/>
          </p:nvPr>
        </p:nvSpPr>
        <p:spPr>
          <a:xfrm>
            <a:off x="457200" y="223838"/>
            <a:ext cx="7543800" cy="828675"/>
          </a:xfrm>
        </p:spPr>
        <p:txBody>
          <a:bodyPr/>
          <a:lstStyle/>
          <a:p>
            <a:pPr eaLnBrk="1" hangingPunct="1"/>
            <a:r>
              <a:rPr lang="en-US" altLang="zh-CN" sz="3500" dirty="0" smtClean="0">
                <a:latin typeface="微软雅黑" pitchFamily="34" charset="-122"/>
                <a:ea typeface="微软雅黑" pitchFamily="34" charset="-122"/>
                <a:cs typeface="Times New Roman" pitchFamily="18" charset="0"/>
              </a:rPr>
              <a:t>4.2 </a:t>
            </a:r>
            <a:r>
              <a:rPr lang="zh-CN" altLang="en-US" sz="3500" smtClean="0">
                <a:latin typeface="微软雅黑" pitchFamily="34" charset="-122"/>
                <a:ea typeface="微软雅黑" pitchFamily="34" charset="-122"/>
              </a:rPr>
              <a:t>指令格式</a:t>
            </a:r>
          </a:p>
        </p:txBody>
      </p:sp>
      <p:sp>
        <p:nvSpPr>
          <p:cNvPr id="11268" name="Rectangle 3"/>
          <p:cNvSpPr>
            <a:spLocks noGrp="1" noChangeArrowheads="1"/>
          </p:cNvSpPr>
          <p:nvPr>
            <p:ph type="body" idx="1"/>
          </p:nvPr>
        </p:nvSpPr>
        <p:spPr>
          <a:xfrm>
            <a:off x="395288" y="1341438"/>
            <a:ext cx="8207375" cy="4895850"/>
          </a:xfrm>
        </p:spPr>
        <p:txBody>
          <a:bodyPr/>
          <a:lstStyle/>
          <a:p>
            <a:pPr eaLnBrk="1" hangingPunct="1"/>
            <a:r>
              <a:rPr lang="zh-CN" altLang="en-US" sz="2800" dirty="0" smtClean="0">
                <a:latin typeface="微软雅黑" pitchFamily="34" charset="-122"/>
                <a:ea typeface="微软雅黑" pitchFamily="34" charset="-122"/>
              </a:rPr>
              <a:t>影响计算机指令格式的因素</a:t>
            </a:r>
          </a:p>
          <a:p>
            <a:pPr lvl="1" eaLnBrk="1" hangingPunct="1">
              <a:lnSpc>
                <a:spcPct val="80000"/>
              </a:lnSpc>
            </a:pPr>
            <a:r>
              <a:rPr lang="zh-CN" altLang="en-US" sz="2800" dirty="0" smtClean="0">
                <a:latin typeface="微软雅黑" pitchFamily="34" charset="-122"/>
                <a:ea typeface="微软雅黑" pitchFamily="34" charset="-122"/>
              </a:rPr>
              <a:t>机器的字长</a:t>
            </a:r>
          </a:p>
          <a:p>
            <a:pPr lvl="1" eaLnBrk="1" hangingPunct="1">
              <a:lnSpc>
                <a:spcPct val="80000"/>
              </a:lnSpc>
            </a:pPr>
            <a:r>
              <a:rPr lang="zh-CN" altLang="en-US" sz="2800" dirty="0" smtClean="0">
                <a:latin typeface="微软雅黑" pitchFamily="34" charset="-122"/>
                <a:ea typeface="微软雅黑" pitchFamily="34" charset="-122"/>
              </a:rPr>
              <a:t>存储器的容量</a:t>
            </a:r>
          </a:p>
          <a:p>
            <a:pPr lvl="1" eaLnBrk="1" hangingPunct="1">
              <a:lnSpc>
                <a:spcPct val="80000"/>
              </a:lnSpc>
            </a:pPr>
            <a:r>
              <a:rPr lang="zh-CN" altLang="en-US" sz="2800" dirty="0" smtClean="0">
                <a:latin typeface="微软雅黑" pitchFamily="34" charset="-122"/>
                <a:ea typeface="微软雅黑" pitchFamily="34" charset="-122"/>
              </a:rPr>
              <a:t>指令的功能</a:t>
            </a:r>
          </a:p>
          <a:p>
            <a:pPr eaLnBrk="1" hangingPunct="1">
              <a:lnSpc>
                <a:spcPct val="80000"/>
              </a:lnSpc>
            </a:pPr>
            <a:r>
              <a:rPr lang="zh-CN" altLang="en-US" sz="2800" dirty="0" smtClean="0">
                <a:latin typeface="微软雅黑" pitchFamily="34" charset="-122"/>
                <a:ea typeface="微软雅黑" pitchFamily="34" charset="-122"/>
              </a:rPr>
              <a:t>指令能反映以下信息</a:t>
            </a:r>
          </a:p>
          <a:p>
            <a:pPr lvl="1" eaLnBrk="1" hangingPunct="1">
              <a:lnSpc>
                <a:spcPct val="80000"/>
              </a:lnSpc>
            </a:pPr>
            <a:r>
              <a:rPr lang="zh-CN" altLang="en-US" sz="2800" dirty="0" smtClean="0">
                <a:latin typeface="微软雅黑" pitchFamily="34" charset="-122"/>
                <a:ea typeface="微软雅黑" pitchFamily="34" charset="-122"/>
              </a:rPr>
              <a:t>做什么操作</a:t>
            </a:r>
          </a:p>
          <a:p>
            <a:pPr lvl="1" eaLnBrk="1" hangingPunct="1">
              <a:lnSpc>
                <a:spcPct val="80000"/>
              </a:lnSpc>
            </a:pPr>
            <a:r>
              <a:rPr lang="zh-CN" altLang="en-US" sz="2800" dirty="0" smtClean="0">
                <a:latin typeface="微软雅黑" pitchFamily="34" charset="-122"/>
                <a:ea typeface="微软雅黑" pitchFamily="34" charset="-122"/>
              </a:rPr>
              <a:t>如果需要操作数，从哪里取</a:t>
            </a:r>
          </a:p>
          <a:p>
            <a:pPr lvl="1" eaLnBrk="1" hangingPunct="1">
              <a:lnSpc>
                <a:spcPct val="80000"/>
              </a:lnSpc>
            </a:pPr>
            <a:r>
              <a:rPr lang="zh-CN" altLang="en-US" sz="2800" dirty="0" smtClean="0">
                <a:latin typeface="微软雅黑" pitchFamily="34" charset="-122"/>
                <a:ea typeface="微软雅黑" pitchFamily="34" charset="-122"/>
              </a:rPr>
              <a:t>结果送哪里</a:t>
            </a:r>
          </a:p>
          <a:p>
            <a:pPr lvl="1" eaLnBrk="1" hangingPunct="1">
              <a:lnSpc>
                <a:spcPct val="80000"/>
              </a:lnSpc>
            </a:pPr>
            <a:r>
              <a:rPr lang="zh-CN" altLang="en-US" sz="2800" dirty="0" smtClean="0">
                <a:latin typeface="微软雅黑" pitchFamily="34" charset="-122"/>
                <a:ea typeface="微软雅黑" pitchFamily="34" charset="-122"/>
              </a:rPr>
              <a:t>下一条指令从哪里取</a:t>
            </a:r>
          </a:p>
          <a:p>
            <a:pPr eaLnBrk="1" hangingPunct="1">
              <a:spcBef>
                <a:spcPct val="0"/>
              </a:spcBef>
              <a:buClrTx/>
              <a:buSzTx/>
              <a:buFontTx/>
              <a:buNone/>
            </a:pPr>
            <a:r>
              <a:rPr lang="zh-CN" altLang="en-US" sz="2800" dirty="0" smtClean="0">
                <a:latin typeface="微软雅黑" pitchFamily="34" charset="-122"/>
                <a:ea typeface="微软雅黑" pitchFamily="34" charset="-122"/>
              </a:rPr>
              <a:t>  </a:t>
            </a:r>
          </a:p>
          <a:p>
            <a:pPr eaLnBrk="1" hangingPunct="1">
              <a:spcBef>
                <a:spcPct val="0"/>
              </a:spcBef>
              <a:buClrTx/>
              <a:buSzTx/>
              <a:buFontTx/>
              <a:buNone/>
            </a:pPr>
            <a:r>
              <a:rPr lang="zh-CN" altLang="en-US" sz="2800" dirty="0" smtClean="0">
                <a:latin typeface="微软雅黑" pitchFamily="34" charset="-122"/>
                <a:ea typeface="微软雅黑" pitchFamily="34" charset="-122"/>
              </a:rPr>
              <a:t>   所以指令格式包括两个方面：</a:t>
            </a:r>
            <a:endParaRPr lang="zh-CN" altLang="en-US" sz="3200" dirty="0" smtClean="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2162569-7E68-4009-A605-60AE54669FB3}" type="slidenum">
              <a:rPr lang="en-US" altLang="zh-CN"/>
              <a:pPr eaLnBrk="1" hangingPunct="1"/>
              <a:t>10</a:t>
            </a:fld>
            <a:endParaRPr lang="en-US" altLang="zh-CN" dirty="0"/>
          </a:p>
        </p:txBody>
      </p:sp>
      <p:sp>
        <p:nvSpPr>
          <p:cNvPr id="12291" name="Rectangle 5"/>
          <p:cNvSpPr>
            <a:spLocks noChangeArrowheads="1"/>
          </p:cNvSpPr>
          <p:nvPr/>
        </p:nvSpPr>
        <p:spPr bwMode="auto">
          <a:xfrm>
            <a:off x="250825" y="1773238"/>
            <a:ext cx="8424863" cy="377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1"/>
            <a:endParaRPr lang="en-US" altLang="zh-CN" dirty="0"/>
          </a:p>
          <a:p>
            <a:pPr lvl="1"/>
            <a:r>
              <a:rPr lang="en-US" altLang="zh-CN" sz="3200" dirty="0"/>
              <a:t>       </a:t>
            </a:r>
            <a:r>
              <a:rPr lang="zh-CN" altLang="en-US" sz="3200"/>
              <a:t>机器指令用机器字来表示。表示一条指令的机器字称为指令字（简称指令）。</a:t>
            </a:r>
          </a:p>
          <a:p>
            <a:r>
              <a:rPr lang="zh-CN" altLang="en-US" sz="3200"/>
              <a:t>　　指令格式则是指令字用二进制代码表示的结构形式，由操作码字段和地址码字段组成。</a:t>
            </a:r>
          </a:p>
          <a:p>
            <a:endParaRPr lang="zh-CN" altLang="en-US" sz="3200"/>
          </a:p>
          <a:p>
            <a:r>
              <a:rPr lang="zh-CN" altLang="en-US" sz="3200" b="1"/>
              <a:t>操作码字段：表征指令的操作特性与功能；</a:t>
            </a:r>
          </a:p>
          <a:p>
            <a:r>
              <a:rPr lang="zh-CN" altLang="en-US" sz="3200" b="1"/>
              <a:t>地址码字段：指定参与操作的操作数的地址。</a:t>
            </a:r>
          </a:p>
        </p:txBody>
      </p:sp>
      <p:grpSp>
        <p:nvGrpSpPr>
          <p:cNvPr id="12292" name="Group 6"/>
          <p:cNvGrpSpPr>
            <a:grpSpLocks/>
          </p:cNvGrpSpPr>
          <p:nvPr/>
        </p:nvGrpSpPr>
        <p:grpSpPr bwMode="auto">
          <a:xfrm>
            <a:off x="395288" y="620713"/>
            <a:ext cx="7416800" cy="1008062"/>
            <a:chOff x="1056" y="1728"/>
            <a:chExt cx="4416" cy="432"/>
          </a:xfrm>
        </p:grpSpPr>
        <p:sp>
          <p:nvSpPr>
            <p:cNvPr id="12293" name="Rectangle 7"/>
            <p:cNvSpPr>
              <a:spLocks noChangeArrowheads="1"/>
            </p:cNvSpPr>
            <p:nvPr/>
          </p:nvSpPr>
          <p:spPr bwMode="auto">
            <a:xfrm>
              <a:off x="1056" y="1728"/>
              <a:ext cx="4416" cy="432"/>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2294" name="Line 8"/>
            <p:cNvSpPr>
              <a:spLocks noChangeShapeType="1"/>
            </p:cNvSpPr>
            <p:nvPr/>
          </p:nvSpPr>
          <p:spPr bwMode="auto">
            <a:xfrm>
              <a:off x="3120" y="1728"/>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95" name="Rectangle 9"/>
            <p:cNvSpPr>
              <a:spLocks noChangeArrowheads="1"/>
            </p:cNvSpPr>
            <p:nvPr/>
          </p:nvSpPr>
          <p:spPr bwMode="auto">
            <a:xfrm>
              <a:off x="1488" y="1776"/>
              <a:ext cx="1200" cy="288"/>
            </a:xfrm>
            <a:prstGeom prst="rect">
              <a:avLst/>
            </a:prstGeom>
            <a:solidFill>
              <a:schemeClr val="accent1"/>
            </a:solidFill>
            <a:ln w="9525">
              <a:solidFill>
                <a:schemeClr val="tx1"/>
              </a:solidFill>
              <a:miter lim="800000"/>
              <a:headEnd/>
              <a:tailEnd/>
            </a:ln>
          </p:spPr>
          <p:txBody>
            <a:bodyPr wrap="none" anchor="ctr"/>
            <a:lstStyle/>
            <a:p>
              <a:pPr algn="ctr"/>
              <a:r>
                <a:rPr kumimoji="1" lang="zh-CN" altLang="en-US" sz="2800" b="1">
                  <a:solidFill>
                    <a:srgbClr val="3333FF"/>
                  </a:solidFill>
                  <a:latin typeface="Times New Roman" pitchFamily="18" charset="0"/>
                </a:rPr>
                <a:t>操作码字段</a:t>
              </a:r>
            </a:p>
          </p:txBody>
        </p:sp>
        <p:sp>
          <p:nvSpPr>
            <p:cNvPr id="12296" name="Rectangle 10"/>
            <p:cNvSpPr>
              <a:spLocks noChangeArrowheads="1"/>
            </p:cNvSpPr>
            <p:nvPr/>
          </p:nvSpPr>
          <p:spPr bwMode="auto">
            <a:xfrm>
              <a:off x="3648" y="1776"/>
              <a:ext cx="1200" cy="288"/>
            </a:xfrm>
            <a:prstGeom prst="rect">
              <a:avLst/>
            </a:prstGeom>
            <a:solidFill>
              <a:schemeClr val="accent1"/>
            </a:solidFill>
            <a:ln w="9525">
              <a:solidFill>
                <a:schemeClr val="tx1"/>
              </a:solidFill>
              <a:miter lim="800000"/>
              <a:headEnd/>
              <a:tailEnd/>
            </a:ln>
          </p:spPr>
          <p:txBody>
            <a:bodyPr wrap="none" anchor="ctr"/>
            <a:lstStyle/>
            <a:p>
              <a:pPr algn="ctr"/>
              <a:r>
                <a:rPr kumimoji="1" lang="zh-CN" altLang="en-US" sz="2800" b="1">
                  <a:solidFill>
                    <a:srgbClr val="3333FF"/>
                  </a:solidFill>
                  <a:latin typeface="Times New Roman" pitchFamily="18" charset="0"/>
                </a:rPr>
                <a:t>地址码字段</a:t>
              </a:r>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57CA00C-16FD-4790-B001-4447E75FFB44}" type="slidenum">
              <a:rPr lang="en-US" altLang="zh-CN"/>
              <a:pPr eaLnBrk="1" hangingPunct="1"/>
              <a:t>11</a:t>
            </a:fld>
            <a:endParaRPr lang="en-US" altLang="zh-CN" dirty="0"/>
          </a:p>
        </p:txBody>
      </p:sp>
      <p:sp>
        <p:nvSpPr>
          <p:cNvPr id="13315" name="Rectangle 2"/>
          <p:cNvSpPr>
            <a:spLocks noGrp="1" noChangeArrowheads="1"/>
          </p:cNvSpPr>
          <p:nvPr>
            <p:ph type="title"/>
          </p:nvPr>
        </p:nvSpPr>
        <p:spPr>
          <a:xfrm>
            <a:off x="457200" y="223838"/>
            <a:ext cx="7543800" cy="684212"/>
          </a:xfrm>
        </p:spPr>
        <p:txBody>
          <a:bodyPr/>
          <a:lstStyle/>
          <a:p>
            <a:pPr eaLnBrk="1" hangingPunct="1"/>
            <a:r>
              <a:rPr lang="en-US" altLang="zh-CN" sz="3500" dirty="0" smtClean="0">
                <a:cs typeface="Times New Roman" pitchFamily="18" charset="0"/>
              </a:rPr>
              <a:t>4.2 </a:t>
            </a:r>
            <a:r>
              <a:rPr lang="zh-CN" altLang="en-US" sz="3500" smtClean="0"/>
              <a:t>指令格式</a:t>
            </a:r>
          </a:p>
        </p:txBody>
      </p:sp>
      <p:sp>
        <p:nvSpPr>
          <p:cNvPr id="13316" name="Rectangle 3"/>
          <p:cNvSpPr>
            <a:spLocks noGrp="1" noChangeArrowheads="1"/>
          </p:cNvSpPr>
          <p:nvPr>
            <p:ph type="body" idx="1"/>
          </p:nvPr>
        </p:nvSpPr>
        <p:spPr>
          <a:xfrm>
            <a:off x="323850" y="981075"/>
            <a:ext cx="7561263" cy="5545138"/>
          </a:xfrm>
        </p:spPr>
        <p:txBody>
          <a:bodyPr/>
          <a:lstStyle/>
          <a:p>
            <a:pPr eaLnBrk="1" hangingPunct="1">
              <a:lnSpc>
                <a:spcPct val="90000"/>
              </a:lnSpc>
              <a:buFont typeface="Wingdings" pitchFamily="2" charset="2"/>
              <a:buNone/>
            </a:pPr>
            <a:r>
              <a:rPr lang="en-US" altLang="zh-CN" sz="3200" dirty="0" smtClean="0">
                <a:latin typeface="宋体" pitchFamily="2" charset="-122"/>
                <a:cs typeface="Times New Roman" pitchFamily="18" charset="0"/>
              </a:rPr>
              <a:t> </a:t>
            </a:r>
            <a:r>
              <a:rPr lang="zh-CN" altLang="en-US" sz="3200" smtClean="0">
                <a:latin typeface="宋体" pitchFamily="2" charset="-122"/>
                <a:cs typeface="Times New Roman" pitchFamily="18" charset="0"/>
              </a:rPr>
              <a:t>一</a:t>
            </a:r>
            <a:r>
              <a:rPr lang="zh-CN" altLang="en-US" sz="3200" smtClean="0">
                <a:latin typeface="宋体" pitchFamily="2" charset="-122"/>
              </a:rPr>
              <a:t>、操作码</a:t>
            </a:r>
          </a:p>
          <a:p>
            <a:pPr eaLnBrk="1" hangingPunct="1">
              <a:lnSpc>
                <a:spcPct val="90000"/>
              </a:lnSpc>
            </a:pPr>
            <a:r>
              <a:rPr lang="zh-CN" altLang="en-US" sz="3200" smtClean="0">
                <a:latin typeface="宋体" pitchFamily="2" charset="-122"/>
              </a:rPr>
              <a:t>设计计算机时，对指令系统的每一条指令都要规定一个操作码。指令的操作码</a:t>
            </a:r>
            <a:r>
              <a:rPr lang="en-US" altLang="zh-CN" sz="3200" dirty="0" smtClean="0">
                <a:latin typeface="宋体" pitchFamily="2" charset="-122"/>
              </a:rPr>
              <a:t>OP</a:t>
            </a:r>
            <a:r>
              <a:rPr lang="zh-CN" altLang="en-US" sz="3200" smtClean="0">
                <a:latin typeface="宋体" pitchFamily="2" charset="-122"/>
              </a:rPr>
              <a:t>表示该指令应进行什么性质的操作，如进行加法、减法、乘法、除法、取数、存数等等。不同的指令用操作码字段的不同编码来表示，每一种编码代表一种指令。</a:t>
            </a:r>
          </a:p>
          <a:p>
            <a:pPr eaLnBrk="1" hangingPunct="1">
              <a:lnSpc>
                <a:spcPct val="90000"/>
              </a:lnSpc>
            </a:pPr>
            <a:r>
              <a:rPr lang="zh-CN" altLang="en-US" sz="3200" smtClean="0">
                <a:latin typeface="宋体" pitchFamily="2" charset="-122"/>
              </a:rPr>
              <a:t>组成操作码字段的位数一般取决于计算机指令系统的规模。较大的指令系统就需要更多的位数来表示每条特定的指令。</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06143AD-FAC9-4996-811F-B212EFF7CFB7}" type="slidenum">
              <a:rPr lang="en-US" altLang="zh-CN">
                <a:latin typeface="微软雅黑" pitchFamily="34" charset="-122"/>
                <a:ea typeface="微软雅黑" pitchFamily="34" charset="-122"/>
              </a:rPr>
              <a:pPr eaLnBrk="1" hangingPunct="1"/>
              <a:t>12</a:t>
            </a:fld>
            <a:endParaRPr lang="en-US" altLang="zh-CN" dirty="0">
              <a:latin typeface="微软雅黑" pitchFamily="34" charset="-122"/>
              <a:ea typeface="微软雅黑" pitchFamily="34" charset="-122"/>
            </a:endParaRPr>
          </a:p>
        </p:txBody>
      </p:sp>
      <p:sp>
        <p:nvSpPr>
          <p:cNvPr id="14339" name="Rectangle 2"/>
          <p:cNvSpPr>
            <a:spLocks noGrp="1" noChangeArrowheads="1"/>
          </p:cNvSpPr>
          <p:nvPr>
            <p:ph type="title"/>
          </p:nvPr>
        </p:nvSpPr>
        <p:spPr>
          <a:xfrm>
            <a:off x="457200" y="122238"/>
            <a:ext cx="7543800" cy="858837"/>
          </a:xfrm>
        </p:spPr>
        <p:txBody>
          <a:bodyPr/>
          <a:lstStyle/>
          <a:p>
            <a:pPr eaLnBrk="1" hangingPunct="1"/>
            <a:r>
              <a:rPr lang="zh-CN" altLang="en-US" sz="3500" smtClean="0">
                <a:solidFill>
                  <a:schemeClr val="tx1"/>
                </a:solidFill>
                <a:latin typeface="微软雅黑" pitchFamily="34" charset="-122"/>
                <a:ea typeface="微软雅黑" pitchFamily="34" charset="-122"/>
              </a:rPr>
              <a:t>二、地址码</a:t>
            </a:r>
          </a:p>
        </p:txBody>
      </p:sp>
      <p:sp>
        <p:nvSpPr>
          <p:cNvPr id="14340" name="Rectangle 3"/>
          <p:cNvSpPr>
            <a:spLocks noGrp="1" noChangeArrowheads="1"/>
          </p:cNvSpPr>
          <p:nvPr>
            <p:ph type="body" idx="1"/>
          </p:nvPr>
        </p:nvSpPr>
        <p:spPr>
          <a:xfrm>
            <a:off x="395288" y="1268412"/>
            <a:ext cx="7489825" cy="4803793"/>
          </a:xfrm>
        </p:spPr>
        <p:txBody>
          <a:bodyPr/>
          <a:lstStyle/>
          <a:p>
            <a:pPr algn="just" eaLnBrk="1" hangingPunct="1">
              <a:lnSpc>
                <a:spcPct val="120000"/>
              </a:lnSpc>
            </a:pPr>
            <a:r>
              <a:rPr lang="zh-CN" altLang="en-US" sz="3600" dirty="0" smtClean="0">
                <a:latin typeface="微软雅黑" pitchFamily="34" charset="-122"/>
                <a:ea typeface="微软雅黑" pitchFamily="34" charset="-122"/>
              </a:rPr>
              <a:t>根据一条指令中有几个操作数地址，可将该指令称为几操作数指令或几地址指令。</a:t>
            </a:r>
          </a:p>
          <a:p>
            <a:pPr lvl="1" algn="just" eaLnBrk="1" hangingPunct="1">
              <a:lnSpc>
                <a:spcPct val="90000"/>
              </a:lnSpc>
              <a:buFont typeface="Wingdings" pitchFamily="2" charset="2"/>
              <a:buChar char="Ø"/>
            </a:pPr>
            <a:r>
              <a:rPr lang="zh-CN" altLang="en-US" sz="3600" dirty="0" smtClean="0">
                <a:latin typeface="微软雅黑" pitchFamily="34" charset="-122"/>
                <a:ea typeface="微软雅黑" pitchFamily="34" charset="-122"/>
              </a:rPr>
              <a:t>三地址指令</a:t>
            </a:r>
          </a:p>
          <a:p>
            <a:pPr lvl="1" algn="just" eaLnBrk="1" hangingPunct="1">
              <a:lnSpc>
                <a:spcPct val="90000"/>
              </a:lnSpc>
              <a:buFont typeface="Wingdings" pitchFamily="2" charset="2"/>
              <a:buChar char="Ø"/>
            </a:pPr>
            <a:r>
              <a:rPr lang="zh-CN" altLang="en-US" sz="3600" dirty="0" smtClean="0">
                <a:latin typeface="微软雅黑" pitchFamily="34" charset="-122"/>
                <a:ea typeface="微软雅黑" pitchFamily="34" charset="-122"/>
              </a:rPr>
              <a:t>二地址指令</a:t>
            </a:r>
          </a:p>
          <a:p>
            <a:pPr lvl="1" algn="just" eaLnBrk="1" hangingPunct="1">
              <a:lnSpc>
                <a:spcPct val="90000"/>
              </a:lnSpc>
              <a:buFont typeface="Wingdings" pitchFamily="2" charset="2"/>
              <a:buChar char="Ø"/>
            </a:pPr>
            <a:r>
              <a:rPr lang="zh-CN" altLang="en-US" sz="3600" dirty="0" smtClean="0">
                <a:latin typeface="微软雅黑" pitchFamily="34" charset="-122"/>
                <a:ea typeface="微软雅黑" pitchFamily="34" charset="-122"/>
              </a:rPr>
              <a:t>单地址指令</a:t>
            </a:r>
          </a:p>
          <a:p>
            <a:pPr lvl="1" algn="just" eaLnBrk="1" hangingPunct="1">
              <a:lnSpc>
                <a:spcPct val="90000"/>
              </a:lnSpc>
              <a:buFont typeface="Wingdings" pitchFamily="2" charset="2"/>
              <a:buChar char="Ø"/>
            </a:pPr>
            <a:r>
              <a:rPr lang="zh-CN" altLang="en-US" sz="3600" dirty="0" smtClean="0">
                <a:latin typeface="微软雅黑" pitchFamily="34" charset="-122"/>
                <a:ea typeface="微软雅黑" pitchFamily="34" charset="-122"/>
              </a:rPr>
              <a:t>零地址指令</a:t>
            </a:r>
          </a:p>
        </p:txBody>
      </p:sp>
      <p:grpSp>
        <p:nvGrpSpPr>
          <p:cNvPr id="14341" name="Group 35"/>
          <p:cNvGrpSpPr>
            <a:grpSpLocks/>
          </p:cNvGrpSpPr>
          <p:nvPr/>
        </p:nvGrpSpPr>
        <p:grpSpPr bwMode="auto">
          <a:xfrm>
            <a:off x="3929058" y="3143248"/>
            <a:ext cx="4000528" cy="2643206"/>
            <a:chOff x="2336" y="1842"/>
            <a:chExt cx="2948" cy="1467"/>
          </a:xfrm>
        </p:grpSpPr>
        <p:grpSp>
          <p:nvGrpSpPr>
            <p:cNvPr id="14342" name="Group 18"/>
            <p:cNvGrpSpPr>
              <a:grpSpLocks/>
            </p:cNvGrpSpPr>
            <p:nvPr/>
          </p:nvGrpSpPr>
          <p:grpSpPr bwMode="auto">
            <a:xfrm>
              <a:off x="2336" y="1842"/>
              <a:ext cx="2948" cy="333"/>
              <a:chOff x="2245" y="1842"/>
              <a:chExt cx="2948" cy="333"/>
            </a:xfrm>
          </p:grpSpPr>
          <p:sp>
            <p:nvSpPr>
              <p:cNvPr id="14351" name="Line 11"/>
              <p:cNvSpPr>
                <a:spLocks noChangeShapeType="1"/>
              </p:cNvSpPr>
              <p:nvPr/>
            </p:nvSpPr>
            <p:spPr bwMode="auto">
              <a:xfrm>
                <a:off x="3107" y="1842"/>
                <a:ext cx="0"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latin typeface="微软雅黑" pitchFamily="34" charset="-122"/>
                  <a:ea typeface="微软雅黑" pitchFamily="34" charset="-122"/>
                </a:endParaRPr>
              </a:p>
            </p:txBody>
          </p:sp>
          <p:sp>
            <p:nvSpPr>
              <p:cNvPr id="14352" name="Line 12"/>
              <p:cNvSpPr>
                <a:spLocks noChangeShapeType="1"/>
              </p:cNvSpPr>
              <p:nvPr/>
            </p:nvSpPr>
            <p:spPr bwMode="auto">
              <a:xfrm>
                <a:off x="3833" y="1842"/>
                <a:ext cx="0"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latin typeface="微软雅黑" pitchFamily="34" charset="-122"/>
                  <a:ea typeface="微软雅黑" pitchFamily="34" charset="-122"/>
                </a:endParaRPr>
              </a:p>
            </p:txBody>
          </p:sp>
          <p:sp>
            <p:nvSpPr>
              <p:cNvPr id="2" name="Text Box 13"/>
              <p:cNvSpPr txBox="1">
                <a:spLocks noChangeArrowheads="1"/>
              </p:cNvSpPr>
              <p:nvPr/>
            </p:nvSpPr>
            <p:spPr bwMode="auto">
              <a:xfrm>
                <a:off x="2245" y="1842"/>
                <a:ext cx="2948" cy="333"/>
              </a:xfrm>
              <a:prstGeom prst="rect">
                <a:avLst/>
              </a:prstGeom>
              <a:noFill/>
              <a:ln w="9525">
                <a:solidFill>
                  <a:schemeClr val="tx1"/>
                </a:solidFill>
                <a:miter lim="800000"/>
                <a:headEnd/>
                <a:tailEnd/>
              </a:ln>
              <a:effectLst/>
            </p:spPr>
            <p:txBody>
              <a:bodyPr>
                <a:spAutoFit/>
              </a:bodyPr>
              <a:lstStyle/>
              <a:p>
                <a:pPr>
                  <a:spcBef>
                    <a:spcPct val="50000"/>
                  </a:spcBef>
                  <a:defRPr/>
                </a:pPr>
                <a:r>
                  <a:rPr kumimoji="1" lang="zh-CN" altLang="en-US" sz="2800" dirty="0">
                    <a:effectLst>
                      <a:outerShdw blurRad="38100" dist="38100" dir="2700000" algn="tl">
                        <a:srgbClr val="C0C0C0"/>
                      </a:outerShdw>
                    </a:effectLst>
                    <a:latin typeface="微软雅黑" pitchFamily="34" charset="-122"/>
                    <a:ea typeface="微软雅黑" pitchFamily="34" charset="-122"/>
                  </a:rPr>
                  <a:t>操作码  Ａ</a:t>
                </a:r>
                <a:r>
                  <a:rPr kumimoji="1" lang="en-US" altLang="zh-CN" sz="2800" dirty="0">
                    <a:effectLst>
                      <a:outerShdw blurRad="38100" dist="38100" dir="2700000" algn="tl">
                        <a:srgbClr val="C0C0C0"/>
                      </a:outerShdw>
                    </a:effectLst>
                    <a:latin typeface="微软雅黑" pitchFamily="34" charset="-122"/>
                    <a:ea typeface="微软雅黑" pitchFamily="34" charset="-122"/>
                  </a:rPr>
                  <a:t>1    </a:t>
                </a:r>
                <a:r>
                  <a:rPr kumimoji="1" lang="zh-CN" altLang="en-US" sz="2800" dirty="0">
                    <a:effectLst>
                      <a:outerShdw blurRad="38100" dist="38100" dir="2700000" algn="tl">
                        <a:srgbClr val="C0C0C0"/>
                      </a:outerShdw>
                    </a:effectLst>
                    <a:latin typeface="微软雅黑" pitchFamily="34" charset="-122"/>
                    <a:ea typeface="微软雅黑" pitchFamily="34" charset="-122"/>
                  </a:rPr>
                  <a:t>Ａ</a:t>
                </a:r>
                <a:r>
                  <a:rPr kumimoji="1" lang="en-US" altLang="zh-CN" sz="2800" dirty="0">
                    <a:effectLst>
                      <a:outerShdw blurRad="38100" dist="38100" dir="2700000" algn="tl">
                        <a:srgbClr val="C0C0C0"/>
                      </a:outerShdw>
                    </a:effectLst>
                    <a:latin typeface="微软雅黑" pitchFamily="34" charset="-122"/>
                    <a:ea typeface="微软雅黑" pitchFamily="34" charset="-122"/>
                  </a:rPr>
                  <a:t>2    A3</a:t>
                </a:r>
              </a:p>
            </p:txBody>
          </p:sp>
          <p:sp>
            <p:nvSpPr>
              <p:cNvPr id="14354" name="Line 17"/>
              <p:cNvSpPr>
                <a:spLocks noChangeShapeType="1"/>
              </p:cNvSpPr>
              <p:nvPr/>
            </p:nvSpPr>
            <p:spPr bwMode="auto">
              <a:xfrm>
                <a:off x="4513" y="1842"/>
                <a:ext cx="0"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latin typeface="微软雅黑" pitchFamily="34" charset="-122"/>
                  <a:ea typeface="微软雅黑" pitchFamily="34" charset="-122"/>
                </a:endParaRPr>
              </a:p>
            </p:txBody>
          </p:sp>
        </p:grpSp>
        <p:grpSp>
          <p:nvGrpSpPr>
            <p:cNvPr id="14343" name="Group 34"/>
            <p:cNvGrpSpPr>
              <a:grpSpLocks/>
            </p:cNvGrpSpPr>
            <p:nvPr/>
          </p:nvGrpSpPr>
          <p:grpSpPr bwMode="auto">
            <a:xfrm>
              <a:off x="2336" y="2205"/>
              <a:ext cx="2948" cy="333"/>
              <a:chOff x="2336" y="2205"/>
              <a:chExt cx="2948" cy="333"/>
            </a:xfrm>
          </p:grpSpPr>
          <p:sp>
            <p:nvSpPr>
              <p:cNvPr id="14348" name="Line 20"/>
              <p:cNvSpPr>
                <a:spLocks noChangeShapeType="1"/>
              </p:cNvSpPr>
              <p:nvPr/>
            </p:nvSpPr>
            <p:spPr bwMode="auto">
              <a:xfrm>
                <a:off x="3198" y="2205"/>
                <a:ext cx="0"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latin typeface="微软雅黑" pitchFamily="34" charset="-122"/>
                  <a:ea typeface="微软雅黑" pitchFamily="34" charset="-122"/>
                </a:endParaRPr>
              </a:p>
            </p:txBody>
          </p:sp>
          <p:sp>
            <p:nvSpPr>
              <p:cNvPr id="14349" name="Line 21"/>
              <p:cNvSpPr>
                <a:spLocks noChangeShapeType="1"/>
              </p:cNvSpPr>
              <p:nvPr/>
            </p:nvSpPr>
            <p:spPr bwMode="auto">
              <a:xfrm>
                <a:off x="4195" y="2205"/>
                <a:ext cx="0"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latin typeface="微软雅黑" pitchFamily="34" charset="-122"/>
                  <a:ea typeface="微软雅黑" pitchFamily="34" charset="-122"/>
                </a:endParaRPr>
              </a:p>
            </p:txBody>
          </p:sp>
          <p:sp>
            <p:nvSpPr>
              <p:cNvPr id="14358" name="Text Box 22"/>
              <p:cNvSpPr txBox="1">
                <a:spLocks noChangeArrowheads="1"/>
              </p:cNvSpPr>
              <p:nvPr/>
            </p:nvSpPr>
            <p:spPr bwMode="auto">
              <a:xfrm>
                <a:off x="2336" y="2205"/>
                <a:ext cx="2948" cy="333"/>
              </a:xfrm>
              <a:prstGeom prst="rect">
                <a:avLst/>
              </a:prstGeom>
              <a:noFill/>
              <a:ln w="9525">
                <a:solidFill>
                  <a:schemeClr val="tx1"/>
                </a:solidFill>
                <a:miter lim="800000"/>
                <a:headEnd/>
                <a:tailEnd/>
              </a:ln>
              <a:effectLst/>
            </p:spPr>
            <p:txBody>
              <a:bodyPr>
                <a:spAutoFit/>
              </a:bodyPr>
              <a:lstStyle/>
              <a:p>
                <a:pPr>
                  <a:spcBef>
                    <a:spcPct val="50000"/>
                  </a:spcBef>
                  <a:defRPr/>
                </a:pPr>
                <a:r>
                  <a:rPr kumimoji="1" lang="zh-CN" altLang="en-US" sz="2800">
                    <a:effectLst>
                      <a:outerShdw blurRad="38100" dist="38100" dir="2700000" algn="tl">
                        <a:srgbClr val="C0C0C0"/>
                      </a:outerShdw>
                    </a:effectLst>
                    <a:latin typeface="微软雅黑" pitchFamily="34" charset="-122"/>
                    <a:ea typeface="微软雅黑" pitchFamily="34" charset="-122"/>
                  </a:rPr>
                  <a:t>操作码    Ａ</a:t>
                </a:r>
                <a:r>
                  <a:rPr kumimoji="1" lang="en-US" altLang="zh-CN" sz="2800" dirty="0">
                    <a:effectLst>
                      <a:outerShdw blurRad="38100" dist="38100" dir="2700000" algn="tl">
                        <a:srgbClr val="C0C0C0"/>
                      </a:outerShdw>
                    </a:effectLst>
                    <a:latin typeface="微软雅黑" pitchFamily="34" charset="-122"/>
                    <a:ea typeface="微软雅黑" pitchFamily="34" charset="-122"/>
                  </a:rPr>
                  <a:t>1      </a:t>
                </a:r>
                <a:r>
                  <a:rPr kumimoji="1" lang="zh-CN" altLang="en-US" sz="2800">
                    <a:effectLst>
                      <a:outerShdw blurRad="38100" dist="38100" dir="2700000" algn="tl">
                        <a:srgbClr val="C0C0C0"/>
                      </a:outerShdw>
                    </a:effectLst>
                    <a:latin typeface="微软雅黑" pitchFamily="34" charset="-122"/>
                    <a:ea typeface="微软雅黑" pitchFamily="34" charset="-122"/>
                  </a:rPr>
                  <a:t>Ａ</a:t>
                </a:r>
                <a:r>
                  <a:rPr kumimoji="1" lang="en-US" altLang="zh-CN" sz="2800" dirty="0">
                    <a:effectLst>
                      <a:outerShdw blurRad="38100" dist="38100" dir="2700000" algn="tl">
                        <a:srgbClr val="C0C0C0"/>
                      </a:outerShdw>
                    </a:effectLst>
                    <a:latin typeface="微软雅黑" pitchFamily="34" charset="-122"/>
                    <a:ea typeface="微软雅黑" pitchFamily="34" charset="-122"/>
                  </a:rPr>
                  <a:t>2   </a:t>
                </a:r>
              </a:p>
            </p:txBody>
          </p:sp>
        </p:grpSp>
        <p:sp>
          <p:nvSpPr>
            <p:cNvPr id="14344" name="Line 25"/>
            <p:cNvSpPr>
              <a:spLocks noChangeShapeType="1"/>
            </p:cNvSpPr>
            <p:nvPr/>
          </p:nvSpPr>
          <p:spPr bwMode="auto">
            <a:xfrm>
              <a:off x="3198" y="2614"/>
              <a:ext cx="0"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latin typeface="微软雅黑" pitchFamily="34" charset="-122"/>
                <a:ea typeface="微软雅黑" pitchFamily="34" charset="-122"/>
              </a:endParaRPr>
            </a:p>
          </p:txBody>
        </p:sp>
        <p:sp>
          <p:nvSpPr>
            <p:cNvPr id="14363" name="Text Box 27"/>
            <p:cNvSpPr txBox="1">
              <a:spLocks noChangeArrowheads="1"/>
            </p:cNvSpPr>
            <p:nvPr/>
          </p:nvSpPr>
          <p:spPr bwMode="auto">
            <a:xfrm>
              <a:off x="2336" y="2614"/>
              <a:ext cx="2948" cy="333"/>
            </a:xfrm>
            <a:prstGeom prst="rect">
              <a:avLst/>
            </a:prstGeom>
            <a:noFill/>
            <a:ln w="9525">
              <a:solidFill>
                <a:schemeClr val="tx1"/>
              </a:solidFill>
              <a:miter lim="800000"/>
              <a:headEnd/>
              <a:tailEnd/>
            </a:ln>
            <a:effectLst/>
          </p:spPr>
          <p:txBody>
            <a:bodyPr>
              <a:spAutoFit/>
            </a:bodyPr>
            <a:lstStyle/>
            <a:p>
              <a:pPr>
                <a:spcBef>
                  <a:spcPct val="50000"/>
                </a:spcBef>
                <a:defRPr/>
              </a:pPr>
              <a:r>
                <a:rPr kumimoji="1" lang="zh-CN" altLang="en-US" sz="2800">
                  <a:effectLst>
                    <a:outerShdw blurRad="38100" dist="38100" dir="2700000" algn="tl">
                      <a:srgbClr val="C0C0C0"/>
                    </a:outerShdw>
                  </a:effectLst>
                  <a:latin typeface="微软雅黑" pitchFamily="34" charset="-122"/>
                  <a:ea typeface="微软雅黑" pitchFamily="34" charset="-122"/>
                </a:rPr>
                <a:t>操作码        Ａ    </a:t>
              </a:r>
            </a:p>
          </p:txBody>
        </p:sp>
        <p:sp>
          <p:nvSpPr>
            <p:cNvPr id="14346" name="Line 30"/>
            <p:cNvSpPr>
              <a:spLocks noChangeShapeType="1"/>
            </p:cNvSpPr>
            <p:nvPr/>
          </p:nvSpPr>
          <p:spPr bwMode="auto">
            <a:xfrm>
              <a:off x="3198" y="2976"/>
              <a:ext cx="0"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latin typeface="微软雅黑" pitchFamily="34" charset="-122"/>
                <a:ea typeface="微软雅黑" pitchFamily="34" charset="-122"/>
              </a:endParaRPr>
            </a:p>
          </p:txBody>
        </p:sp>
        <p:sp>
          <p:nvSpPr>
            <p:cNvPr id="14368" name="Text Box 32"/>
            <p:cNvSpPr txBox="1">
              <a:spLocks noChangeArrowheads="1"/>
            </p:cNvSpPr>
            <p:nvPr/>
          </p:nvSpPr>
          <p:spPr bwMode="auto">
            <a:xfrm>
              <a:off x="2336" y="2976"/>
              <a:ext cx="2948" cy="333"/>
            </a:xfrm>
            <a:prstGeom prst="rect">
              <a:avLst/>
            </a:prstGeom>
            <a:noFill/>
            <a:ln w="9525">
              <a:solidFill>
                <a:schemeClr val="tx1"/>
              </a:solidFill>
              <a:miter lim="800000"/>
              <a:headEnd/>
              <a:tailEnd/>
            </a:ln>
            <a:effectLst/>
          </p:spPr>
          <p:txBody>
            <a:bodyPr>
              <a:spAutoFit/>
            </a:bodyPr>
            <a:lstStyle/>
            <a:p>
              <a:pPr>
                <a:spcBef>
                  <a:spcPct val="50000"/>
                </a:spcBef>
                <a:defRPr/>
              </a:pPr>
              <a:r>
                <a:rPr kumimoji="1" lang="zh-CN" altLang="en-US" sz="2800">
                  <a:effectLst>
                    <a:outerShdw blurRad="38100" dist="38100" dir="2700000" algn="tl">
                      <a:srgbClr val="C0C0C0"/>
                    </a:outerShdw>
                  </a:effectLst>
                  <a:latin typeface="微软雅黑" pitchFamily="34" charset="-122"/>
                  <a:ea typeface="微软雅黑" pitchFamily="34" charset="-122"/>
                </a:rPr>
                <a:t>操作码</a:t>
              </a:r>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50000"/>
              </a:lnSpc>
              <a:spcBef>
                <a:spcPts val="600"/>
              </a:spcBef>
            </a:pPr>
            <a:fld id="{51D47758-6824-457F-9F89-597315DE9413}" type="slidenum">
              <a:rPr lang="en-US" altLang="zh-CN">
                <a:latin typeface="微软雅黑" pitchFamily="34" charset="-122"/>
                <a:ea typeface="微软雅黑" pitchFamily="34" charset="-122"/>
              </a:rPr>
              <a:pPr eaLnBrk="1" hangingPunct="1">
                <a:lnSpc>
                  <a:spcPct val="150000"/>
                </a:lnSpc>
                <a:spcBef>
                  <a:spcPts val="600"/>
                </a:spcBef>
              </a:pPr>
              <a:t>13</a:t>
            </a:fld>
            <a:endParaRPr lang="en-US" altLang="zh-CN" dirty="0">
              <a:latin typeface="微软雅黑" pitchFamily="34" charset="-122"/>
              <a:ea typeface="微软雅黑" pitchFamily="34" charset="-122"/>
            </a:endParaRPr>
          </a:p>
        </p:txBody>
      </p:sp>
      <p:sp>
        <p:nvSpPr>
          <p:cNvPr id="15363" name="Rectangle 2"/>
          <p:cNvSpPr>
            <a:spLocks noGrp="1" noChangeArrowheads="1"/>
          </p:cNvSpPr>
          <p:nvPr>
            <p:ph type="title"/>
          </p:nvPr>
        </p:nvSpPr>
        <p:spPr>
          <a:xfrm>
            <a:off x="457200" y="223838"/>
            <a:ext cx="7543800" cy="684212"/>
          </a:xfrm>
        </p:spPr>
        <p:txBody>
          <a:bodyPr/>
          <a:lstStyle/>
          <a:p>
            <a:pPr eaLnBrk="1" hangingPunct="1">
              <a:lnSpc>
                <a:spcPct val="150000"/>
              </a:lnSpc>
              <a:spcBef>
                <a:spcPts val="600"/>
              </a:spcBef>
            </a:pPr>
            <a:r>
              <a:rPr lang="zh-CN" altLang="en-US" sz="3500" smtClean="0">
                <a:latin typeface="微软雅黑" pitchFamily="34" charset="-122"/>
                <a:ea typeface="微软雅黑" pitchFamily="34" charset="-122"/>
              </a:rPr>
              <a:t>二、地址码</a:t>
            </a:r>
          </a:p>
        </p:txBody>
      </p:sp>
      <p:sp>
        <p:nvSpPr>
          <p:cNvPr id="15364" name="Rectangle 3"/>
          <p:cNvSpPr>
            <a:spLocks noGrp="1" noChangeArrowheads="1"/>
          </p:cNvSpPr>
          <p:nvPr>
            <p:ph type="body" idx="1"/>
          </p:nvPr>
        </p:nvSpPr>
        <p:spPr>
          <a:xfrm>
            <a:off x="323850" y="1052513"/>
            <a:ext cx="8229600" cy="5184775"/>
          </a:xfrm>
        </p:spPr>
        <p:txBody>
          <a:bodyPr/>
          <a:lstStyle/>
          <a:p>
            <a:pPr eaLnBrk="1" hangingPunct="1">
              <a:lnSpc>
                <a:spcPct val="150000"/>
              </a:lnSpc>
              <a:spcBef>
                <a:spcPts val="600"/>
              </a:spcBef>
            </a:pPr>
            <a:r>
              <a:rPr lang="zh-CN" altLang="en-US" dirty="0" smtClean="0">
                <a:latin typeface="微软雅黑" pitchFamily="34" charset="-122"/>
                <a:ea typeface="微软雅黑" pitchFamily="34" charset="-122"/>
              </a:rPr>
              <a:t>三地址指令</a:t>
            </a:r>
          </a:p>
          <a:p>
            <a:pPr lvl="1" eaLnBrk="1" hangingPunct="1">
              <a:lnSpc>
                <a:spcPct val="150000"/>
              </a:lnSpc>
              <a:spcBef>
                <a:spcPts val="600"/>
              </a:spcBef>
            </a:pPr>
            <a:r>
              <a:rPr lang="zh-CN" altLang="en-US" dirty="0" smtClean="0">
                <a:latin typeface="微软雅黑" pitchFamily="34" charset="-122"/>
                <a:ea typeface="微软雅黑" pitchFamily="34" charset="-122"/>
              </a:rPr>
              <a:t>指令格式如下：</a:t>
            </a:r>
          </a:p>
          <a:p>
            <a:pPr lvl="1" eaLnBrk="1" hangingPunct="1">
              <a:lnSpc>
                <a:spcPct val="150000"/>
              </a:lnSpc>
              <a:spcBef>
                <a:spcPts val="600"/>
              </a:spcBef>
              <a:buFont typeface="Wingdings" pitchFamily="2" charset="2"/>
              <a:buNone/>
            </a:pPr>
            <a:endParaRPr lang="zh-CN" altLang="en-US" dirty="0" smtClean="0">
              <a:latin typeface="微软雅黑" pitchFamily="34" charset="-122"/>
              <a:ea typeface="微软雅黑" pitchFamily="34" charset="-122"/>
            </a:endParaRPr>
          </a:p>
          <a:p>
            <a:pPr lvl="1" eaLnBrk="1" hangingPunct="1">
              <a:lnSpc>
                <a:spcPct val="150000"/>
              </a:lnSpc>
              <a:spcBef>
                <a:spcPts val="600"/>
              </a:spcBef>
              <a:buFont typeface="Wingdings" pitchFamily="2" charset="2"/>
              <a:buNone/>
            </a:pPr>
            <a:endParaRPr lang="zh-CN" altLang="en-US" dirty="0" smtClean="0">
              <a:latin typeface="微软雅黑" pitchFamily="34" charset="-122"/>
              <a:ea typeface="微软雅黑" pitchFamily="34" charset="-122"/>
            </a:endParaRPr>
          </a:p>
          <a:p>
            <a:pPr lvl="1" eaLnBrk="1" hangingPunct="1">
              <a:lnSpc>
                <a:spcPct val="150000"/>
              </a:lnSpc>
              <a:spcBef>
                <a:spcPts val="600"/>
              </a:spcBef>
              <a:buFont typeface="Wingdings" pitchFamily="2" charset="2"/>
              <a:buNone/>
            </a:pPr>
            <a:r>
              <a:rPr lang="zh-CN" altLang="en-US" dirty="0" smtClean="0">
                <a:latin typeface="微软雅黑" pitchFamily="34" charset="-122"/>
                <a:ea typeface="微软雅黑" pitchFamily="34" charset="-122"/>
              </a:rPr>
              <a:t>操作码</a:t>
            </a:r>
            <a:r>
              <a:rPr lang="en-US" altLang="zh-CN" dirty="0" smtClean="0">
                <a:latin typeface="微软雅黑" pitchFamily="34" charset="-122"/>
                <a:ea typeface="微软雅黑" pitchFamily="34" charset="-122"/>
              </a:rPr>
              <a:t>OP   </a:t>
            </a:r>
            <a:r>
              <a:rPr lang="zh-CN" altLang="en-US" dirty="0" smtClean="0">
                <a:latin typeface="微软雅黑" pitchFamily="34" charset="-122"/>
                <a:ea typeface="微软雅黑" pitchFamily="34" charset="-122"/>
              </a:rPr>
              <a:t>第一操作数</a:t>
            </a:r>
            <a:r>
              <a:rPr lang="en-US" altLang="zh-CN" dirty="0" smtClean="0">
                <a:latin typeface="微软雅黑" pitchFamily="34" charset="-122"/>
                <a:ea typeface="微软雅黑" pitchFamily="34" charset="-122"/>
              </a:rPr>
              <a:t>A1  </a:t>
            </a:r>
            <a:r>
              <a:rPr lang="zh-CN" altLang="en-US" dirty="0" smtClean="0">
                <a:latin typeface="微软雅黑" pitchFamily="34" charset="-122"/>
                <a:ea typeface="微软雅黑" pitchFamily="34" charset="-122"/>
              </a:rPr>
              <a:t>第二操作数</a:t>
            </a:r>
            <a:r>
              <a:rPr lang="en-US" altLang="zh-CN" dirty="0" smtClean="0">
                <a:latin typeface="微软雅黑" pitchFamily="34" charset="-122"/>
                <a:ea typeface="微软雅黑" pitchFamily="34" charset="-122"/>
              </a:rPr>
              <a:t>A2   </a:t>
            </a:r>
            <a:r>
              <a:rPr lang="zh-CN" altLang="en-US" dirty="0" smtClean="0">
                <a:latin typeface="微软雅黑" pitchFamily="34" charset="-122"/>
                <a:ea typeface="微软雅黑" pitchFamily="34" charset="-122"/>
              </a:rPr>
              <a:t>结果</a:t>
            </a:r>
            <a:r>
              <a:rPr lang="en-US" altLang="zh-CN" dirty="0" smtClean="0">
                <a:latin typeface="微软雅黑" pitchFamily="34" charset="-122"/>
                <a:ea typeface="微软雅黑" pitchFamily="34" charset="-122"/>
              </a:rPr>
              <a:t>A3 </a:t>
            </a:r>
          </a:p>
          <a:p>
            <a:pPr lvl="1" eaLnBrk="1" hangingPunct="1">
              <a:lnSpc>
                <a:spcPct val="150000"/>
              </a:lnSpc>
              <a:spcBef>
                <a:spcPts val="600"/>
              </a:spcBef>
            </a:pPr>
            <a:r>
              <a:rPr lang="zh-CN" altLang="en-US" dirty="0" smtClean="0">
                <a:latin typeface="微软雅黑" pitchFamily="34" charset="-122"/>
                <a:ea typeface="微软雅黑" pitchFamily="34" charset="-122"/>
              </a:rPr>
              <a:t>功能描述： </a:t>
            </a:r>
          </a:p>
          <a:p>
            <a:pPr lvl="1" eaLnBrk="1" hangingPunct="1">
              <a:lnSpc>
                <a:spcPct val="150000"/>
              </a:lnSpc>
              <a:spcBef>
                <a:spcPts val="600"/>
              </a:spcBef>
            </a:pPr>
            <a:r>
              <a:rPr lang="en-US" altLang="zh-CN" dirty="0" smtClean="0">
                <a:latin typeface="微软雅黑" pitchFamily="34" charset="-122"/>
                <a:ea typeface="微软雅黑" pitchFamily="34" charset="-122"/>
              </a:rPr>
              <a:t>(A1) OP (A2)→A3</a:t>
            </a:r>
          </a:p>
          <a:p>
            <a:pPr lvl="1" eaLnBrk="1" hangingPunct="1">
              <a:lnSpc>
                <a:spcPct val="150000"/>
              </a:lnSpc>
              <a:spcBef>
                <a:spcPts val="600"/>
              </a:spcBef>
            </a:pPr>
            <a:r>
              <a:rPr lang="en-US" altLang="zh-CN" dirty="0" smtClean="0">
                <a:latin typeface="微软雅黑" pitchFamily="34" charset="-122"/>
                <a:ea typeface="微软雅黑" pitchFamily="34" charset="-122"/>
              </a:rPr>
              <a:t>(PC) +1→PC</a:t>
            </a:r>
          </a:p>
        </p:txBody>
      </p:sp>
      <p:grpSp>
        <p:nvGrpSpPr>
          <p:cNvPr id="15365" name="Group 4"/>
          <p:cNvGrpSpPr>
            <a:grpSpLocks/>
          </p:cNvGrpSpPr>
          <p:nvPr/>
        </p:nvGrpSpPr>
        <p:grpSpPr bwMode="auto">
          <a:xfrm>
            <a:off x="1071538" y="2668320"/>
            <a:ext cx="7500990" cy="901706"/>
            <a:chOff x="1344" y="1824"/>
            <a:chExt cx="2880" cy="934"/>
          </a:xfrm>
        </p:grpSpPr>
        <p:sp>
          <p:nvSpPr>
            <p:cNvPr id="15366" name="Rectangle 5"/>
            <p:cNvSpPr>
              <a:spLocks noChangeArrowheads="1"/>
            </p:cNvSpPr>
            <p:nvPr/>
          </p:nvSpPr>
          <p:spPr bwMode="auto">
            <a:xfrm>
              <a:off x="1344" y="1824"/>
              <a:ext cx="2880" cy="888"/>
            </a:xfrm>
            <a:prstGeom prst="rect">
              <a:avLst/>
            </a:prstGeom>
            <a:solidFill>
              <a:schemeClr val="accent1"/>
            </a:solidFill>
            <a:ln w="9525">
              <a:solidFill>
                <a:schemeClr val="tx1"/>
              </a:solidFill>
              <a:miter lim="800000"/>
              <a:headEnd/>
              <a:tailEnd/>
            </a:ln>
          </p:spPr>
          <p:txBody>
            <a:bodyPr wrap="none" anchor="ctr"/>
            <a:lstStyle/>
            <a:p>
              <a:pPr>
                <a:lnSpc>
                  <a:spcPct val="150000"/>
                </a:lnSpc>
                <a:spcBef>
                  <a:spcPts val="600"/>
                </a:spcBef>
              </a:pPr>
              <a:endParaRPr lang="zh-CN" altLang="en-US">
                <a:latin typeface="微软雅黑" pitchFamily="34" charset="-122"/>
                <a:ea typeface="微软雅黑" pitchFamily="34" charset="-122"/>
              </a:endParaRPr>
            </a:p>
          </p:txBody>
        </p:sp>
        <p:sp>
          <p:nvSpPr>
            <p:cNvPr id="15367" name="Line 6"/>
            <p:cNvSpPr>
              <a:spLocks noChangeShapeType="1"/>
            </p:cNvSpPr>
            <p:nvPr/>
          </p:nvSpPr>
          <p:spPr bwMode="auto">
            <a:xfrm>
              <a:off x="1968" y="1824"/>
              <a:ext cx="0" cy="8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a:lnSpc>
                  <a:spcPct val="150000"/>
                </a:lnSpc>
                <a:spcBef>
                  <a:spcPts val="600"/>
                </a:spcBef>
              </a:pPr>
              <a:endParaRPr lang="zh-CN" altLang="en-US">
                <a:latin typeface="微软雅黑" pitchFamily="34" charset="-122"/>
                <a:ea typeface="微软雅黑" pitchFamily="34" charset="-122"/>
              </a:endParaRPr>
            </a:p>
          </p:txBody>
        </p:sp>
        <p:sp>
          <p:nvSpPr>
            <p:cNvPr id="15368" name="Line 7"/>
            <p:cNvSpPr>
              <a:spLocks noChangeShapeType="1"/>
            </p:cNvSpPr>
            <p:nvPr/>
          </p:nvSpPr>
          <p:spPr bwMode="auto">
            <a:xfrm>
              <a:off x="3456" y="1824"/>
              <a:ext cx="0" cy="8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a:lnSpc>
                  <a:spcPct val="150000"/>
                </a:lnSpc>
                <a:spcBef>
                  <a:spcPts val="600"/>
                </a:spcBef>
              </a:pPr>
              <a:endParaRPr lang="zh-CN" altLang="en-US">
                <a:latin typeface="微软雅黑" pitchFamily="34" charset="-122"/>
                <a:ea typeface="微软雅黑" pitchFamily="34" charset="-122"/>
              </a:endParaRPr>
            </a:p>
          </p:txBody>
        </p:sp>
        <p:sp>
          <p:nvSpPr>
            <p:cNvPr id="15369" name="Line 8"/>
            <p:cNvSpPr>
              <a:spLocks noChangeShapeType="1"/>
            </p:cNvSpPr>
            <p:nvPr/>
          </p:nvSpPr>
          <p:spPr bwMode="auto">
            <a:xfrm>
              <a:off x="2688" y="1824"/>
              <a:ext cx="0" cy="8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a:lnSpc>
                  <a:spcPct val="150000"/>
                </a:lnSpc>
                <a:spcBef>
                  <a:spcPts val="600"/>
                </a:spcBef>
              </a:pPr>
              <a:endParaRPr lang="zh-CN" altLang="en-US">
                <a:latin typeface="微软雅黑" pitchFamily="34" charset="-122"/>
                <a:ea typeface="微软雅黑" pitchFamily="34" charset="-122"/>
              </a:endParaRPr>
            </a:p>
          </p:txBody>
        </p:sp>
        <p:sp>
          <p:nvSpPr>
            <p:cNvPr id="2" name="Text Box 9"/>
            <p:cNvSpPr txBox="1">
              <a:spLocks noChangeArrowheads="1"/>
            </p:cNvSpPr>
            <p:nvPr/>
          </p:nvSpPr>
          <p:spPr bwMode="auto">
            <a:xfrm>
              <a:off x="1368" y="1824"/>
              <a:ext cx="480" cy="934"/>
            </a:xfrm>
            <a:prstGeom prst="rect">
              <a:avLst/>
            </a:prstGeom>
            <a:noFill/>
            <a:ln w="9525">
              <a:noFill/>
              <a:miter lim="800000"/>
              <a:headEnd/>
              <a:tailEnd/>
            </a:ln>
            <a:effectLst/>
          </p:spPr>
          <p:txBody>
            <a:bodyPr>
              <a:spAutoFit/>
            </a:bodyPr>
            <a:lstStyle/>
            <a:p>
              <a:pPr>
                <a:lnSpc>
                  <a:spcPct val="150000"/>
                </a:lnSpc>
                <a:spcBef>
                  <a:spcPts val="600"/>
                </a:spcBef>
                <a:defRPr/>
              </a:pPr>
              <a:r>
                <a:rPr kumimoji="1" lang="en-US" altLang="zh-CN" sz="3200" b="1" dirty="0">
                  <a:solidFill>
                    <a:srgbClr val="3333FF"/>
                  </a:solidFill>
                  <a:effectLst>
                    <a:outerShdw blurRad="38100" dist="38100" dir="2700000" algn="tl">
                      <a:srgbClr val="C0C0C0"/>
                    </a:outerShdw>
                  </a:effectLst>
                  <a:latin typeface="微软雅黑" pitchFamily="34" charset="-122"/>
                  <a:ea typeface="微软雅黑" pitchFamily="34" charset="-122"/>
                </a:rPr>
                <a:t>OP</a:t>
              </a:r>
              <a:r>
                <a:rPr kumimoji="1" lang="zh-CN" altLang="en-US" sz="3200" b="1" dirty="0">
                  <a:solidFill>
                    <a:srgbClr val="3333FF"/>
                  </a:solidFill>
                  <a:effectLst>
                    <a:outerShdw blurRad="38100" dist="38100" dir="2700000" algn="tl">
                      <a:srgbClr val="C0C0C0"/>
                    </a:outerShdw>
                  </a:effectLst>
                  <a:latin typeface="微软雅黑" pitchFamily="34" charset="-122"/>
                  <a:ea typeface="微软雅黑" pitchFamily="34" charset="-122"/>
                </a:rPr>
                <a:t>码</a:t>
              </a:r>
            </a:p>
          </p:txBody>
        </p:sp>
        <p:sp>
          <p:nvSpPr>
            <p:cNvPr id="15370" name="Text Box 10"/>
            <p:cNvSpPr txBox="1">
              <a:spLocks noChangeArrowheads="1"/>
            </p:cNvSpPr>
            <p:nvPr/>
          </p:nvSpPr>
          <p:spPr bwMode="auto">
            <a:xfrm>
              <a:off x="3675" y="1872"/>
              <a:ext cx="501" cy="765"/>
            </a:xfrm>
            <a:prstGeom prst="rect">
              <a:avLst/>
            </a:prstGeom>
            <a:noFill/>
            <a:ln w="9525">
              <a:noFill/>
              <a:miter lim="800000"/>
              <a:headEnd/>
              <a:tailEnd/>
            </a:ln>
            <a:effectLst/>
          </p:spPr>
          <p:txBody>
            <a:bodyPr wrap="square">
              <a:spAutoFit/>
            </a:bodyPr>
            <a:lstStyle/>
            <a:p>
              <a:pPr>
                <a:lnSpc>
                  <a:spcPct val="150000"/>
                </a:lnSpc>
                <a:spcBef>
                  <a:spcPts val="600"/>
                </a:spcBef>
                <a:defRPr/>
              </a:pPr>
              <a:r>
                <a:rPr kumimoji="1" lang="en-US" altLang="zh-CN" sz="2800" dirty="0">
                  <a:solidFill>
                    <a:srgbClr val="3333FF"/>
                  </a:solidFill>
                  <a:effectLst>
                    <a:outerShdw blurRad="38100" dist="38100" dir="2700000" algn="tl">
                      <a:srgbClr val="C0C0C0"/>
                    </a:outerShdw>
                  </a:effectLst>
                  <a:latin typeface="微软雅黑" pitchFamily="34" charset="-122"/>
                  <a:ea typeface="微软雅黑" pitchFamily="34" charset="-122"/>
                </a:rPr>
                <a:t>A3</a:t>
              </a:r>
            </a:p>
          </p:txBody>
        </p:sp>
        <p:sp>
          <p:nvSpPr>
            <p:cNvPr id="15371" name="Text Box 11"/>
            <p:cNvSpPr txBox="1">
              <a:spLocks noChangeArrowheads="1"/>
            </p:cNvSpPr>
            <p:nvPr/>
          </p:nvSpPr>
          <p:spPr bwMode="auto">
            <a:xfrm>
              <a:off x="2935" y="1872"/>
              <a:ext cx="329" cy="765"/>
            </a:xfrm>
            <a:prstGeom prst="rect">
              <a:avLst/>
            </a:prstGeom>
            <a:noFill/>
            <a:ln w="9525">
              <a:noFill/>
              <a:miter lim="800000"/>
              <a:headEnd/>
              <a:tailEnd/>
            </a:ln>
            <a:effectLst/>
          </p:spPr>
          <p:txBody>
            <a:bodyPr wrap="square">
              <a:spAutoFit/>
            </a:bodyPr>
            <a:lstStyle/>
            <a:p>
              <a:pPr>
                <a:lnSpc>
                  <a:spcPct val="150000"/>
                </a:lnSpc>
                <a:spcBef>
                  <a:spcPts val="600"/>
                </a:spcBef>
                <a:defRPr/>
              </a:pPr>
              <a:r>
                <a:rPr kumimoji="1" lang="en-US" altLang="zh-CN" sz="2800" dirty="0">
                  <a:solidFill>
                    <a:srgbClr val="3333FF"/>
                  </a:solidFill>
                  <a:effectLst>
                    <a:outerShdw blurRad="38100" dist="38100" dir="2700000" algn="tl">
                      <a:srgbClr val="C0C0C0"/>
                    </a:outerShdw>
                  </a:effectLst>
                  <a:latin typeface="微软雅黑" pitchFamily="34" charset="-122"/>
                  <a:ea typeface="微软雅黑" pitchFamily="34" charset="-122"/>
                </a:rPr>
                <a:t>A2</a:t>
              </a:r>
            </a:p>
          </p:txBody>
        </p:sp>
        <p:sp>
          <p:nvSpPr>
            <p:cNvPr id="15372" name="Text Box 12"/>
            <p:cNvSpPr txBox="1">
              <a:spLocks noChangeArrowheads="1"/>
            </p:cNvSpPr>
            <p:nvPr/>
          </p:nvSpPr>
          <p:spPr bwMode="auto">
            <a:xfrm>
              <a:off x="2194" y="1872"/>
              <a:ext cx="418" cy="765"/>
            </a:xfrm>
            <a:prstGeom prst="rect">
              <a:avLst/>
            </a:prstGeom>
            <a:noFill/>
            <a:ln w="9525">
              <a:noFill/>
              <a:miter lim="800000"/>
              <a:headEnd/>
              <a:tailEnd/>
            </a:ln>
            <a:effectLst/>
          </p:spPr>
          <p:txBody>
            <a:bodyPr wrap="square">
              <a:spAutoFit/>
            </a:bodyPr>
            <a:lstStyle/>
            <a:p>
              <a:pPr>
                <a:lnSpc>
                  <a:spcPct val="150000"/>
                </a:lnSpc>
                <a:spcBef>
                  <a:spcPts val="600"/>
                </a:spcBef>
                <a:defRPr/>
              </a:pPr>
              <a:r>
                <a:rPr kumimoji="1" lang="en-US" altLang="zh-CN" sz="2800" dirty="0">
                  <a:solidFill>
                    <a:srgbClr val="3333FF"/>
                  </a:solidFill>
                  <a:effectLst>
                    <a:outerShdw blurRad="38100" dist="38100" dir="2700000" algn="tl">
                      <a:srgbClr val="C0C0C0"/>
                    </a:outerShdw>
                  </a:effectLst>
                  <a:latin typeface="微软雅黑" pitchFamily="34" charset="-122"/>
                  <a:ea typeface="微软雅黑" pitchFamily="34" charset="-122"/>
                </a:rPr>
                <a:t>A1</a:t>
              </a:r>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2AA83D8-5E5E-475D-B60A-85FC60122FCD}" type="slidenum">
              <a:rPr lang="en-US" altLang="zh-CN"/>
              <a:pPr eaLnBrk="1" hangingPunct="1"/>
              <a:t>14</a:t>
            </a:fld>
            <a:endParaRPr lang="en-US" altLang="zh-CN" dirty="0"/>
          </a:p>
        </p:txBody>
      </p:sp>
      <p:sp>
        <p:nvSpPr>
          <p:cNvPr id="16387" name="Rectangle 2"/>
          <p:cNvSpPr>
            <a:spLocks noGrp="1" noChangeArrowheads="1"/>
          </p:cNvSpPr>
          <p:nvPr>
            <p:ph type="title"/>
          </p:nvPr>
        </p:nvSpPr>
        <p:spPr>
          <a:xfrm>
            <a:off x="457200" y="223838"/>
            <a:ext cx="7543800" cy="901700"/>
          </a:xfrm>
        </p:spPr>
        <p:txBody>
          <a:bodyPr/>
          <a:lstStyle/>
          <a:p>
            <a:pPr eaLnBrk="1" hangingPunct="1"/>
            <a:r>
              <a:rPr lang="zh-CN" altLang="en-US" sz="3500" smtClean="0"/>
              <a:t>二、地址码</a:t>
            </a:r>
          </a:p>
        </p:txBody>
      </p:sp>
      <p:sp>
        <p:nvSpPr>
          <p:cNvPr id="16388" name="Rectangle 3"/>
          <p:cNvSpPr>
            <a:spLocks noGrp="1" noChangeArrowheads="1"/>
          </p:cNvSpPr>
          <p:nvPr>
            <p:ph type="body" idx="1"/>
          </p:nvPr>
        </p:nvSpPr>
        <p:spPr>
          <a:xfrm>
            <a:off x="468313" y="1341438"/>
            <a:ext cx="8280400" cy="4824412"/>
          </a:xfrm>
        </p:spPr>
        <p:txBody>
          <a:bodyPr/>
          <a:lstStyle/>
          <a:p>
            <a:pPr eaLnBrk="1" hangingPunct="1">
              <a:lnSpc>
                <a:spcPct val="90000"/>
              </a:lnSpc>
            </a:pPr>
            <a:r>
              <a:rPr lang="zh-CN" altLang="en-US" smtClean="0"/>
              <a:t>二地址指令</a:t>
            </a:r>
          </a:p>
          <a:p>
            <a:pPr lvl="1" eaLnBrk="1" hangingPunct="1">
              <a:lnSpc>
                <a:spcPct val="90000"/>
              </a:lnSpc>
            </a:pPr>
            <a:r>
              <a:rPr lang="zh-CN" altLang="en-US" smtClean="0"/>
              <a:t>其格式如下：</a:t>
            </a:r>
          </a:p>
          <a:p>
            <a:pPr lvl="1" eaLnBrk="1" hangingPunct="1">
              <a:lnSpc>
                <a:spcPct val="90000"/>
              </a:lnSpc>
              <a:buFont typeface="Wingdings" pitchFamily="2" charset="2"/>
              <a:buNone/>
            </a:pPr>
            <a:endParaRPr lang="zh-CN" altLang="en-US" smtClean="0"/>
          </a:p>
          <a:p>
            <a:pPr lvl="1" eaLnBrk="1" hangingPunct="1">
              <a:lnSpc>
                <a:spcPct val="90000"/>
              </a:lnSpc>
              <a:buFont typeface="Wingdings" pitchFamily="2" charset="2"/>
              <a:buNone/>
            </a:pPr>
            <a:endParaRPr lang="zh-CN" altLang="en-US" smtClean="0"/>
          </a:p>
          <a:p>
            <a:pPr lvl="1" eaLnBrk="1" hangingPunct="1">
              <a:lnSpc>
                <a:spcPct val="90000"/>
              </a:lnSpc>
            </a:pPr>
            <a:r>
              <a:rPr lang="zh-CN" altLang="en-US" smtClean="0"/>
              <a:t>操作码</a:t>
            </a:r>
            <a:r>
              <a:rPr lang="en-US" altLang="zh-CN" dirty="0" smtClean="0"/>
              <a:t>OP  </a:t>
            </a:r>
            <a:r>
              <a:rPr lang="zh-CN" altLang="en-US" smtClean="0"/>
              <a:t>第一操作数</a:t>
            </a:r>
            <a:r>
              <a:rPr lang="en-US" altLang="zh-CN" dirty="0" smtClean="0"/>
              <a:t>A1  </a:t>
            </a:r>
            <a:r>
              <a:rPr lang="zh-CN" altLang="en-US" smtClean="0"/>
              <a:t>第二操作数</a:t>
            </a:r>
            <a:r>
              <a:rPr lang="en-US" altLang="zh-CN" dirty="0" smtClean="0"/>
              <a:t>A2</a:t>
            </a:r>
          </a:p>
          <a:p>
            <a:pPr lvl="1" eaLnBrk="1" hangingPunct="1">
              <a:lnSpc>
                <a:spcPct val="90000"/>
              </a:lnSpc>
            </a:pPr>
            <a:r>
              <a:rPr lang="zh-CN" altLang="en-US" smtClean="0"/>
              <a:t>功能描述：</a:t>
            </a:r>
          </a:p>
          <a:p>
            <a:pPr lvl="1" eaLnBrk="1" hangingPunct="1">
              <a:lnSpc>
                <a:spcPct val="90000"/>
              </a:lnSpc>
            </a:pPr>
            <a:r>
              <a:rPr lang="en-US" altLang="zh-CN" dirty="0" smtClean="0"/>
              <a:t>(A1) OP (A2)→A1</a:t>
            </a:r>
          </a:p>
          <a:p>
            <a:pPr lvl="1" eaLnBrk="1" hangingPunct="1">
              <a:lnSpc>
                <a:spcPct val="90000"/>
              </a:lnSpc>
            </a:pPr>
            <a:r>
              <a:rPr lang="en-US" altLang="zh-CN" dirty="0" smtClean="0"/>
              <a:t>(PC)+1→PC</a:t>
            </a:r>
          </a:p>
          <a:p>
            <a:pPr lvl="1" eaLnBrk="1" hangingPunct="1">
              <a:lnSpc>
                <a:spcPct val="90000"/>
              </a:lnSpc>
            </a:pPr>
            <a:r>
              <a:rPr lang="zh-CN" altLang="en-US" smtClean="0"/>
              <a:t>二地址指令在计算机中得到了广泛的应用，但是在使用时有一点必须注意：指令执行之后，</a:t>
            </a:r>
            <a:r>
              <a:rPr lang="en-US" altLang="zh-CN" dirty="0" smtClean="0"/>
              <a:t>A1</a:t>
            </a:r>
            <a:r>
              <a:rPr lang="zh-CN" altLang="en-US" smtClean="0"/>
              <a:t>中原存的内容已经被新的运算结果替换了。</a:t>
            </a:r>
          </a:p>
        </p:txBody>
      </p:sp>
      <p:grpSp>
        <p:nvGrpSpPr>
          <p:cNvPr id="16389" name="Group 4"/>
          <p:cNvGrpSpPr>
            <a:grpSpLocks/>
          </p:cNvGrpSpPr>
          <p:nvPr/>
        </p:nvGrpSpPr>
        <p:grpSpPr bwMode="auto">
          <a:xfrm>
            <a:off x="1835150" y="2420938"/>
            <a:ext cx="5327650" cy="579437"/>
            <a:chOff x="1344" y="1824"/>
            <a:chExt cx="2064" cy="365"/>
          </a:xfrm>
        </p:grpSpPr>
        <p:sp>
          <p:nvSpPr>
            <p:cNvPr id="16390" name="Rectangle 5"/>
            <p:cNvSpPr>
              <a:spLocks noChangeArrowheads="1"/>
            </p:cNvSpPr>
            <p:nvPr/>
          </p:nvSpPr>
          <p:spPr bwMode="auto">
            <a:xfrm>
              <a:off x="1344" y="1824"/>
              <a:ext cx="2064" cy="336"/>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6391" name="Line 6"/>
            <p:cNvSpPr>
              <a:spLocks noChangeShapeType="1"/>
            </p:cNvSpPr>
            <p:nvPr/>
          </p:nvSpPr>
          <p:spPr bwMode="auto">
            <a:xfrm>
              <a:off x="1968" y="182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392" name="Line 7"/>
            <p:cNvSpPr>
              <a:spLocks noChangeShapeType="1"/>
            </p:cNvSpPr>
            <p:nvPr/>
          </p:nvSpPr>
          <p:spPr bwMode="auto">
            <a:xfrm>
              <a:off x="2688" y="182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 name="Text Box 8"/>
            <p:cNvSpPr txBox="1">
              <a:spLocks noChangeArrowheads="1"/>
            </p:cNvSpPr>
            <p:nvPr/>
          </p:nvSpPr>
          <p:spPr bwMode="auto">
            <a:xfrm>
              <a:off x="1536" y="1824"/>
              <a:ext cx="480" cy="365"/>
            </a:xfrm>
            <a:prstGeom prst="rect">
              <a:avLst/>
            </a:prstGeom>
            <a:noFill/>
            <a:ln w="9525">
              <a:noFill/>
              <a:miter lim="800000"/>
              <a:headEnd/>
              <a:tailEnd/>
            </a:ln>
            <a:effectLst/>
          </p:spPr>
          <p:txBody>
            <a:bodyPr>
              <a:spAutoFit/>
            </a:bodyPr>
            <a:lstStyle/>
            <a:p>
              <a:pPr>
                <a:spcBef>
                  <a:spcPct val="50000"/>
                </a:spcBef>
                <a:defRPr/>
              </a:pPr>
              <a:r>
                <a:rPr kumimoji="1" lang="en-US" altLang="zh-CN" sz="3200" b="1" dirty="0">
                  <a:solidFill>
                    <a:srgbClr val="3333FF"/>
                  </a:solidFill>
                  <a:effectLst>
                    <a:outerShdw blurRad="38100" dist="38100" dir="2700000" algn="tl">
                      <a:srgbClr val="C0C0C0"/>
                    </a:outerShdw>
                  </a:effectLst>
                  <a:latin typeface="黑体" pitchFamily="2" charset="-122"/>
                  <a:ea typeface="黑体" pitchFamily="2" charset="-122"/>
                </a:rPr>
                <a:t>OP</a:t>
              </a:r>
              <a:r>
                <a:rPr kumimoji="1" lang="zh-CN" altLang="en-US" sz="3200" b="1">
                  <a:solidFill>
                    <a:srgbClr val="3333FF"/>
                  </a:solidFill>
                  <a:effectLst>
                    <a:outerShdw blurRad="38100" dist="38100" dir="2700000" algn="tl">
                      <a:srgbClr val="C0C0C0"/>
                    </a:outerShdw>
                  </a:effectLst>
                  <a:latin typeface="黑体" pitchFamily="2" charset="-122"/>
                  <a:ea typeface="黑体" pitchFamily="2" charset="-122"/>
                </a:rPr>
                <a:t>码</a:t>
              </a:r>
            </a:p>
          </p:txBody>
        </p:sp>
        <p:sp>
          <p:nvSpPr>
            <p:cNvPr id="16393" name="Text Box 9"/>
            <p:cNvSpPr txBox="1">
              <a:spLocks noChangeArrowheads="1"/>
            </p:cNvSpPr>
            <p:nvPr/>
          </p:nvSpPr>
          <p:spPr bwMode="auto">
            <a:xfrm>
              <a:off x="2784" y="1824"/>
              <a:ext cx="480" cy="327"/>
            </a:xfrm>
            <a:prstGeom prst="rect">
              <a:avLst/>
            </a:prstGeom>
            <a:noFill/>
            <a:ln w="9525">
              <a:noFill/>
              <a:miter lim="800000"/>
              <a:headEnd/>
              <a:tailEnd/>
            </a:ln>
            <a:effectLst/>
          </p:spPr>
          <p:txBody>
            <a:bodyPr>
              <a:spAutoFit/>
            </a:bodyPr>
            <a:lstStyle/>
            <a:p>
              <a:pPr>
                <a:spcBef>
                  <a:spcPct val="50000"/>
                </a:spcBef>
                <a:defRPr/>
              </a:pPr>
              <a:r>
                <a:rPr kumimoji="1" lang="en-US" altLang="zh-CN" sz="2800" dirty="0">
                  <a:solidFill>
                    <a:srgbClr val="3333FF"/>
                  </a:solidFill>
                  <a:effectLst>
                    <a:outerShdw blurRad="38100" dist="38100" dir="2700000" algn="tl">
                      <a:srgbClr val="C0C0C0"/>
                    </a:outerShdw>
                  </a:effectLst>
                  <a:latin typeface="Arial Black" pitchFamily="34" charset="0"/>
                </a:rPr>
                <a:t>A2</a:t>
              </a:r>
            </a:p>
          </p:txBody>
        </p:sp>
        <p:sp>
          <p:nvSpPr>
            <p:cNvPr id="16394" name="Text Box 10"/>
            <p:cNvSpPr txBox="1">
              <a:spLocks noChangeArrowheads="1"/>
            </p:cNvSpPr>
            <p:nvPr/>
          </p:nvSpPr>
          <p:spPr bwMode="auto">
            <a:xfrm>
              <a:off x="2160" y="1824"/>
              <a:ext cx="480" cy="327"/>
            </a:xfrm>
            <a:prstGeom prst="rect">
              <a:avLst/>
            </a:prstGeom>
            <a:noFill/>
            <a:ln w="9525">
              <a:noFill/>
              <a:miter lim="800000"/>
              <a:headEnd/>
              <a:tailEnd/>
            </a:ln>
            <a:effectLst/>
          </p:spPr>
          <p:txBody>
            <a:bodyPr>
              <a:spAutoFit/>
            </a:bodyPr>
            <a:lstStyle/>
            <a:p>
              <a:pPr>
                <a:spcBef>
                  <a:spcPct val="50000"/>
                </a:spcBef>
                <a:defRPr/>
              </a:pPr>
              <a:r>
                <a:rPr kumimoji="1" lang="en-US" altLang="zh-CN" sz="2800" dirty="0">
                  <a:solidFill>
                    <a:srgbClr val="3333FF"/>
                  </a:solidFill>
                  <a:effectLst>
                    <a:outerShdw blurRad="38100" dist="38100" dir="2700000" algn="tl">
                      <a:srgbClr val="C0C0C0"/>
                    </a:outerShdw>
                  </a:effectLst>
                  <a:latin typeface="Arial Black" pitchFamily="34" charset="0"/>
                </a:rPr>
                <a:t>A1</a:t>
              </a:r>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50000"/>
              </a:lnSpc>
            </a:pPr>
            <a:fld id="{7F332FD5-D577-44A2-8647-48870CA6C345}" type="slidenum">
              <a:rPr lang="en-US" altLang="zh-CN">
                <a:latin typeface="微软雅黑" pitchFamily="34" charset="-122"/>
                <a:ea typeface="微软雅黑" pitchFamily="34" charset="-122"/>
              </a:rPr>
              <a:pPr eaLnBrk="1" hangingPunct="1">
                <a:lnSpc>
                  <a:spcPct val="150000"/>
                </a:lnSpc>
              </a:pPr>
              <a:t>15</a:t>
            </a:fld>
            <a:endParaRPr lang="en-US" altLang="zh-CN" dirty="0">
              <a:latin typeface="微软雅黑" pitchFamily="34" charset="-122"/>
              <a:ea typeface="微软雅黑" pitchFamily="34" charset="-122"/>
            </a:endParaRPr>
          </a:p>
        </p:txBody>
      </p:sp>
      <p:sp>
        <p:nvSpPr>
          <p:cNvPr id="17411" name="Rectangle 2"/>
          <p:cNvSpPr>
            <a:spLocks noGrp="1" noChangeArrowheads="1"/>
          </p:cNvSpPr>
          <p:nvPr>
            <p:ph type="title"/>
          </p:nvPr>
        </p:nvSpPr>
        <p:spPr>
          <a:xfrm>
            <a:off x="457224" y="601647"/>
            <a:ext cx="7543800" cy="612775"/>
          </a:xfrm>
        </p:spPr>
        <p:txBody>
          <a:bodyPr/>
          <a:lstStyle/>
          <a:p>
            <a:pPr eaLnBrk="1" hangingPunct="1">
              <a:lnSpc>
                <a:spcPct val="150000"/>
              </a:lnSpc>
            </a:pPr>
            <a:r>
              <a:rPr lang="zh-CN" altLang="en-US" sz="3500" dirty="0" smtClean="0">
                <a:latin typeface="微软雅黑" pitchFamily="34" charset="-122"/>
                <a:ea typeface="微软雅黑" pitchFamily="34" charset="-122"/>
              </a:rPr>
              <a:t>二、地址码</a:t>
            </a:r>
          </a:p>
        </p:txBody>
      </p:sp>
      <p:sp>
        <p:nvSpPr>
          <p:cNvPr id="17412" name="Rectangle 3"/>
          <p:cNvSpPr>
            <a:spLocks noGrp="1" noChangeArrowheads="1"/>
          </p:cNvSpPr>
          <p:nvPr>
            <p:ph type="body" idx="1"/>
          </p:nvPr>
        </p:nvSpPr>
        <p:spPr>
          <a:xfrm>
            <a:off x="357158" y="1517668"/>
            <a:ext cx="8229600" cy="4411662"/>
          </a:xfrm>
        </p:spPr>
        <p:txBody>
          <a:bodyPr/>
          <a:lstStyle/>
          <a:p>
            <a:pPr lvl="1" eaLnBrk="1" hangingPunct="1">
              <a:lnSpc>
                <a:spcPct val="150000"/>
              </a:lnSpc>
            </a:pPr>
            <a:r>
              <a:rPr lang="zh-CN" altLang="en-US" sz="2800" dirty="0" smtClean="0">
                <a:latin typeface="微软雅黑" pitchFamily="34" charset="-122"/>
                <a:ea typeface="微软雅黑" pitchFamily="34" charset="-122"/>
              </a:rPr>
              <a:t>二地址地址根据操作数的物理位置分为：</a:t>
            </a:r>
          </a:p>
          <a:p>
            <a:pPr lvl="2" eaLnBrk="1" hangingPunct="1">
              <a:lnSpc>
                <a:spcPct val="150000"/>
              </a:lnSpc>
            </a:pPr>
            <a:r>
              <a:rPr lang="en-US" altLang="zh-CN" sz="2800" dirty="0" smtClean="0">
                <a:latin typeface="微软雅黑" pitchFamily="34" charset="-122"/>
                <a:ea typeface="微软雅黑" pitchFamily="34" charset="-122"/>
              </a:rPr>
              <a:t>SS   </a:t>
            </a:r>
            <a:r>
              <a:rPr lang="zh-CN" altLang="en-US" sz="2800" dirty="0" smtClean="0">
                <a:latin typeface="微软雅黑" pitchFamily="34" charset="-122"/>
                <a:ea typeface="微软雅黑" pitchFamily="34" charset="-122"/>
              </a:rPr>
              <a:t>存储器</a:t>
            </a:r>
            <a:r>
              <a:rPr lang="en-US" altLang="zh-CN" sz="2800" dirty="0" smtClean="0">
                <a:latin typeface="微软雅黑" pitchFamily="34" charset="-122"/>
                <a:ea typeface="微软雅黑" pitchFamily="34" charset="-122"/>
              </a:rPr>
              <a:t>-</a:t>
            </a:r>
            <a:r>
              <a:rPr lang="zh-CN" altLang="en-US" sz="2800" dirty="0" smtClean="0">
                <a:latin typeface="微软雅黑" pitchFamily="34" charset="-122"/>
                <a:ea typeface="微软雅黑" pitchFamily="34" charset="-122"/>
              </a:rPr>
              <a:t>存储器类型</a:t>
            </a:r>
          </a:p>
          <a:p>
            <a:pPr lvl="2" eaLnBrk="1" hangingPunct="1">
              <a:lnSpc>
                <a:spcPct val="150000"/>
              </a:lnSpc>
            </a:pPr>
            <a:r>
              <a:rPr lang="en-US" altLang="zh-CN" sz="2800" dirty="0" smtClean="0">
                <a:latin typeface="微软雅黑" pitchFamily="34" charset="-122"/>
                <a:ea typeface="微软雅黑" pitchFamily="34" charset="-122"/>
              </a:rPr>
              <a:t>RS   </a:t>
            </a:r>
            <a:r>
              <a:rPr lang="zh-CN" altLang="en-US" sz="2800" dirty="0" smtClean="0">
                <a:latin typeface="微软雅黑" pitchFamily="34" charset="-122"/>
                <a:ea typeface="微软雅黑" pitchFamily="34" charset="-122"/>
              </a:rPr>
              <a:t>寄存器</a:t>
            </a:r>
            <a:r>
              <a:rPr lang="en-US" altLang="zh-CN" sz="2800" dirty="0" smtClean="0">
                <a:latin typeface="微软雅黑" pitchFamily="34" charset="-122"/>
                <a:ea typeface="微软雅黑" pitchFamily="34" charset="-122"/>
              </a:rPr>
              <a:t>-</a:t>
            </a:r>
            <a:r>
              <a:rPr lang="zh-CN" altLang="en-US" sz="2800" dirty="0" smtClean="0">
                <a:latin typeface="微软雅黑" pitchFamily="34" charset="-122"/>
                <a:ea typeface="微软雅黑" pitchFamily="34" charset="-122"/>
              </a:rPr>
              <a:t>存储器类型</a:t>
            </a:r>
          </a:p>
          <a:p>
            <a:pPr lvl="2" eaLnBrk="1" hangingPunct="1">
              <a:lnSpc>
                <a:spcPct val="150000"/>
              </a:lnSpc>
            </a:pPr>
            <a:r>
              <a:rPr lang="en-US" altLang="zh-CN" sz="2800" dirty="0" smtClean="0">
                <a:latin typeface="微软雅黑" pitchFamily="34" charset="-122"/>
                <a:ea typeface="微软雅黑" pitchFamily="34" charset="-122"/>
              </a:rPr>
              <a:t>RR   </a:t>
            </a:r>
            <a:r>
              <a:rPr lang="zh-CN" altLang="en-US" sz="2800" dirty="0" smtClean="0">
                <a:latin typeface="微软雅黑" pitchFamily="34" charset="-122"/>
                <a:ea typeface="微软雅黑" pitchFamily="34" charset="-122"/>
              </a:rPr>
              <a:t>寄存器</a:t>
            </a:r>
            <a:r>
              <a:rPr lang="en-US" altLang="zh-CN" sz="2800" dirty="0" smtClean="0">
                <a:latin typeface="微软雅黑" pitchFamily="34" charset="-122"/>
                <a:ea typeface="微软雅黑" pitchFamily="34" charset="-122"/>
              </a:rPr>
              <a:t>-</a:t>
            </a:r>
            <a:r>
              <a:rPr lang="zh-CN" altLang="en-US" sz="2800" dirty="0" smtClean="0">
                <a:latin typeface="微软雅黑" pitchFamily="34" charset="-122"/>
                <a:ea typeface="微软雅黑" pitchFamily="34" charset="-122"/>
              </a:rPr>
              <a:t>寄存器类型	</a:t>
            </a:r>
          </a:p>
        </p:txBody>
      </p:sp>
      <p:sp>
        <p:nvSpPr>
          <p:cNvPr id="17413" name="AutoShape 4"/>
          <p:cNvSpPr>
            <a:spLocks noChangeArrowheads="1"/>
          </p:cNvSpPr>
          <p:nvPr/>
        </p:nvSpPr>
        <p:spPr bwMode="auto">
          <a:xfrm>
            <a:off x="5818167" y="2678123"/>
            <a:ext cx="457200" cy="1295400"/>
          </a:xfrm>
          <a:prstGeom prst="upArrow">
            <a:avLst>
              <a:gd name="adj1" fmla="val 50000"/>
              <a:gd name="adj2" fmla="val 70833"/>
            </a:avLst>
          </a:prstGeom>
          <a:solidFill>
            <a:schemeClr val="accent1"/>
          </a:solidFill>
          <a:ln w="9525">
            <a:solidFill>
              <a:schemeClr val="tx1"/>
            </a:solidFill>
            <a:miter lim="800000"/>
            <a:headEnd/>
            <a:tailEnd/>
          </a:ln>
        </p:spPr>
        <p:txBody>
          <a:bodyPr vert="eaVert" wrap="none" anchor="ctr"/>
          <a:lstStyle/>
          <a:p>
            <a:pPr>
              <a:lnSpc>
                <a:spcPct val="150000"/>
              </a:lnSpc>
            </a:pPr>
            <a:endParaRPr lang="zh-CN" altLang="en-US">
              <a:latin typeface="微软雅黑" pitchFamily="34" charset="-122"/>
              <a:ea typeface="微软雅黑" pitchFamily="34" charset="-122"/>
            </a:endParaRPr>
          </a:p>
        </p:txBody>
      </p:sp>
      <p:sp>
        <p:nvSpPr>
          <p:cNvPr id="17414" name="Text Box 5"/>
          <p:cNvSpPr txBox="1">
            <a:spLocks noChangeArrowheads="1"/>
          </p:cNvSpPr>
          <p:nvPr/>
        </p:nvSpPr>
        <p:spPr bwMode="auto">
          <a:xfrm>
            <a:off x="6603985" y="2820999"/>
            <a:ext cx="838200" cy="825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50000"/>
              </a:lnSpc>
              <a:spcBef>
                <a:spcPct val="50000"/>
              </a:spcBef>
            </a:pPr>
            <a:r>
              <a:rPr kumimoji="1" lang="zh-CN" altLang="en-US" sz="3600" dirty="0">
                <a:latin typeface="微软雅黑" pitchFamily="34" charset="-122"/>
                <a:ea typeface="微软雅黑" pitchFamily="34" charset="-122"/>
              </a:rPr>
              <a:t>慢</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83CCD5D-F851-45BD-B98B-9D3BC0FADCDC}" type="slidenum">
              <a:rPr lang="en-US" altLang="zh-CN">
                <a:latin typeface="微软雅黑" pitchFamily="34" charset="-122"/>
                <a:ea typeface="微软雅黑" pitchFamily="34" charset="-122"/>
              </a:rPr>
              <a:pPr eaLnBrk="1" hangingPunct="1"/>
              <a:t>16</a:t>
            </a:fld>
            <a:endParaRPr lang="en-US" altLang="zh-CN" dirty="0">
              <a:latin typeface="微软雅黑" pitchFamily="34" charset="-122"/>
              <a:ea typeface="微软雅黑" pitchFamily="34" charset="-122"/>
            </a:endParaRPr>
          </a:p>
        </p:txBody>
      </p:sp>
      <p:sp>
        <p:nvSpPr>
          <p:cNvPr id="18435" name="Rectangle 2"/>
          <p:cNvSpPr>
            <a:spLocks noGrp="1" noChangeArrowheads="1"/>
          </p:cNvSpPr>
          <p:nvPr>
            <p:ph type="title"/>
          </p:nvPr>
        </p:nvSpPr>
        <p:spPr>
          <a:xfrm>
            <a:off x="457200" y="223838"/>
            <a:ext cx="7543800" cy="901700"/>
          </a:xfrm>
        </p:spPr>
        <p:txBody>
          <a:bodyPr/>
          <a:lstStyle/>
          <a:p>
            <a:pPr eaLnBrk="1" hangingPunct="1"/>
            <a:r>
              <a:rPr lang="zh-CN" altLang="en-US" sz="3500" smtClean="0">
                <a:latin typeface="微软雅黑" pitchFamily="34" charset="-122"/>
                <a:ea typeface="微软雅黑" pitchFamily="34" charset="-122"/>
              </a:rPr>
              <a:t>二、地址码</a:t>
            </a:r>
          </a:p>
        </p:txBody>
      </p:sp>
      <p:sp>
        <p:nvSpPr>
          <p:cNvPr id="18436" name="Rectangle 3"/>
          <p:cNvSpPr>
            <a:spLocks noGrp="1" noChangeArrowheads="1"/>
          </p:cNvSpPr>
          <p:nvPr>
            <p:ph type="body" idx="1"/>
          </p:nvPr>
        </p:nvSpPr>
        <p:spPr>
          <a:xfrm>
            <a:off x="357158" y="1285860"/>
            <a:ext cx="8229600" cy="5143536"/>
          </a:xfrm>
        </p:spPr>
        <p:txBody>
          <a:bodyPr/>
          <a:lstStyle/>
          <a:p>
            <a:pPr eaLnBrk="1" hangingPunct="1">
              <a:lnSpc>
                <a:spcPct val="120000"/>
              </a:lnSpc>
              <a:spcBef>
                <a:spcPts val="0"/>
              </a:spcBef>
            </a:pPr>
            <a:r>
              <a:rPr lang="zh-CN" altLang="en-US" dirty="0" smtClean="0">
                <a:latin typeface="微软雅黑" pitchFamily="34" charset="-122"/>
                <a:ea typeface="微软雅黑" pitchFamily="34" charset="-122"/>
              </a:rPr>
              <a:t>一地址指令</a:t>
            </a:r>
          </a:p>
          <a:p>
            <a:pPr lvl="1" eaLnBrk="1" hangingPunct="1">
              <a:lnSpc>
                <a:spcPct val="120000"/>
              </a:lnSpc>
              <a:spcBef>
                <a:spcPts val="0"/>
              </a:spcBef>
            </a:pPr>
            <a:r>
              <a:rPr lang="zh-CN" altLang="en-US" dirty="0" smtClean="0">
                <a:latin typeface="微软雅黑" pitchFamily="34" charset="-122"/>
                <a:ea typeface="微软雅黑" pitchFamily="34" charset="-122"/>
              </a:rPr>
              <a:t>指令格式为：</a:t>
            </a:r>
          </a:p>
          <a:p>
            <a:pPr lvl="1" eaLnBrk="1" hangingPunct="1">
              <a:lnSpc>
                <a:spcPct val="120000"/>
              </a:lnSpc>
              <a:spcBef>
                <a:spcPts val="0"/>
              </a:spcBef>
            </a:pPr>
            <a:endParaRPr lang="zh-CN" altLang="en-US" dirty="0" smtClean="0">
              <a:latin typeface="微软雅黑" pitchFamily="34" charset="-122"/>
              <a:ea typeface="微软雅黑" pitchFamily="34" charset="-122"/>
            </a:endParaRPr>
          </a:p>
          <a:p>
            <a:pPr lvl="1" eaLnBrk="1" hangingPunct="1">
              <a:lnSpc>
                <a:spcPct val="120000"/>
              </a:lnSpc>
              <a:spcBef>
                <a:spcPts val="0"/>
              </a:spcBef>
            </a:pPr>
            <a:endParaRPr lang="zh-CN" altLang="en-US" dirty="0" smtClean="0">
              <a:latin typeface="微软雅黑" pitchFamily="34" charset="-122"/>
              <a:ea typeface="微软雅黑" pitchFamily="34" charset="-122"/>
            </a:endParaRPr>
          </a:p>
          <a:p>
            <a:pPr lvl="1" eaLnBrk="1" hangingPunct="1">
              <a:lnSpc>
                <a:spcPct val="120000"/>
              </a:lnSpc>
              <a:spcBef>
                <a:spcPts val="0"/>
              </a:spcBef>
            </a:pPr>
            <a:r>
              <a:rPr lang="zh-CN" altLang="en-US" dirty="0" smtClean="0">
                <a:latin typeface="微软雅黑" pitchFamily="34" charset="-122"/>
                <a:ea typeface="微软雅黑" pitchFamily="34" charset="-122"/>
              </a:rPr>
              <a:t> 操作码 </a:t>
            </a:r>
            <a:r>
              <a:rPr lang="en-US" altLang="zh-CN" dirty="0" smtClean="0">
                <a:latin typeface="微软雅黑" pitchFamily="34" charset="-122"/>
                <a:ea typeface="微软雅黑" pitchFamily="34" charset="-122"/>
              </a:rPr>
              <a:t>OP    </a:t>
            </a:r>
            <a:r>
              <a:rPr lang="zh-CN" altLang="en-US" dirty="0" smtClean="0">
                <a:latin typeface="微软雅黑" pitchFamily="34" charset="-122"/>
                <a:ea typeface="微软雅黑" pitchFamily="34" charset="-122"/>
              </a:rPr>
              <a:t>第一操作数</a:t>
            </a:r>
            <a:r>
              <a:rPr lang="en-US" altLang="zh-CN" dirty="0" smtClean="0">
                <a:latin typeface="微软雅黑" pitchFamily="34" charset="-122"/>
                <a:ea typeface="微软雅黑" pitchFamily="34" charset="-122"/>
              </a:rPr>
              <a:t>A1</a:t>
            </a:r>
          </a:p>
          <a:p>
            <a:pPr lvl="1" eaLnBrk="1" hangingPunct="1">
              <a:lnSpc>
                <a:spcPct val="120000"/>
              </a:lnSpc>
              <a:spcBef>
                <a:spcPts val="0"/>
              </a:spcBef>
            </a:pPr>
            <a:r>
              <a:rPr lang="zh-CN" altLang="en-US" dirty="0" smtClean="0">
                <a:latin typeface="微软雅黑" pitchFamily="34" charset="-122"/>
                <a:ea typeface="微软雅黑" pitchFamily="34" charset="-122"/>
              </a:rPr>
              <a:t>功能描述：</a:t>
            </a:r>
          </a:p>
          <a:p>
            <a:pPr lvl="1" eaLnBrk="1" hangingPunct="1">
              <a:lnSpc>
                <a:spcPct val="120000"/>
              </a:lnSpc>
              <a:spcBef>
                <a:spcPts val="0"/>
              </a:spcBef>
            </a:pPr>
            <a:r>
              <a:rPr lang="en-US" altLang="zh-CN" dirty="0" smtClean="0">
                <a:latin typeface="微软雅黑" pitchFamily="34" charset="-122"/>
                <a:ea typeface="微软雅黑" pitchFamily="34" charset="-122"/>
              </a:rPr>
              <a:t>(AC) OP (A1) →AC</a:t>
            </a:r>
          </a:p>
          <a:p>
            <a:pPr lvl="1" eaLnBrk="1" hangingPunct="1">
              <a:lnSpc>
                <a:spcPct val="120000"/>
              </a:lnSpc>
              <a:spcBef>
                <a:spcPts val="0"/>
              </a:spcBef>
            </a:pPr>
            <a:r>
              <a:rPr lang="en-US" altLang="zh-CN" dirty="0" smtClean="0">
                <a:latin typeface="微软雅黑" pitchFamily="34" charset="-122"/>
                <a:ea typeface="微软雅黑" pitchFamily="34" charset="-122"/>
              </a:rPr>
              <a:t>(PC)+1→PC</a:t>
            </a:r>
          </a:p>
          <a:p>
            <a:pPr lvl="1" eaLnBrk="1" hangingPunct="1">
              <a:lnSpc>
                <a:spcPct val="120000"/>
              </a:lnSpc>
              <a:spcBef>
                <a:spcPts val="0"/>
              </a:spcBef>
            </a:pPr>
            <a:r>
              <a:rPr lang="zh-CN" altLang="en-US" dirty="0" smtClean="0">
                <a:latin typeface="微软雅黑" pitchFamily="34" charset="-122"/>
                <a:ea typeface="微软雅黑" pitchFamily="34" charset="-122"/>
              </a:rPr>
              <a:t>单操作数运算指令，如“</a:t>
            </a:r>
            <a:r>
              <a:rPr lang="en-US" altLang="zh-CN" dirty="0" smtClean="0">
                <a:latin typeface="微软雅黑" pitchFamily="34" charset="-122"/>
                <a:ea typeface="微软雅黑" pitchFamily="34" charset="-122"/>
              </a:rPr>
              <a:t>+1”</a:t>
            </a:r>
            <a:r>
              <a:rPr lang="zh-CN" altLang="en-US" dirty="0" smtClean="0">
                <a:latin typeface="微软雅黑" pitchFamily="34" charset="-122"/>
                <a:ea typeface="微软雅黑" pitchFamily="34" charset="-122"/>
              </a:rPr>
              <a:t>、“</a:t>
            </a:r>
            <a:r>
              <a:rPr lang="en-US" altLang="zh-CN" dirty="0" smtClean="0">
                <a:latin typeface="微软雅黑" pitchFamily="34" charset="-122"/>
                <a:ea typeface="微软雅黑" pitchFamily="34" charset="-122"/>
              </a:rPr>
              <a:t>-1”</a:t>
            </a:r>
            <a:r>
              <a:rPr lang="zh-CN" altLang="en-US" dirty="0" smtClean="0">
                <a:latin typeface="微软雅黑" pitchFamily="34" charset="-122"/>
                <a:ea typeface="微软雅黑" pitchFamily="34" charset="-122"/>
              </a:rPr>
              <a:t>、“求反”</a:t>
            </a:r>
          </a:p>
          <a:p>
            <a:pPr lvl="1" eaLnBrk="1" hangingPunct="1">
              <a:lnSpc>
                <a:spcPct val="120000"/>
              </a:lnSpc>
              <a:spcBef>
                <a:spcPts val="0"/>
              </a:spcBef>
            </a:pPr>
            <a:r>
              <a:rPr lang="zh-CN" altLang="en-US" dirty="0" smtClean="0">
                <a:latin typeface="微软雅黑" pitchFamily="34" charset="-122"/>
                <a:ea typeface="微软雅黑" pitchFamily="34" charset="-122"/>
              </a:rPr>
              <a:t>指令中给出一个源操作数的地址</a:t>
            </a:r>
          </a:p>
        </p:txBody>
      </p:sp>
      <p:grpSp>
        <p:nvGrpSpPr>
          <p:cNvPr id="18437" name="Group 4"/>
          <p:cNvGrpSpPr>
            <a:grpSpLocks/>
          </p:cNvGrpSpPr>
          <p:nvPr/>
        </p:nvGrpSpPr>
        <p:grpSpPr bwMode="auto">
          <a:xfrm>
            <a:off x="2428860" y="2428868"/>
            <a:ext cx="3505200" cy="579438"/>
            <a:chOff x="1392" y="1824"/>
            <a:chExt cx="1392" cy="365"/>
          </a:xfrm>
        </p:grpSpPr>
        <p:sp>
          <p:nvSpPr>
            <p:cNvPr id="18438" name="Rectangle 5"/>
            <p:cNvSpPr>
              <a:spLocks noChangeArrowheads="1"/>
            </p:cNvSpPr>
            <p:nvPr/>
          </p:nvSpPr>
          <p:spPr bwMode="auto">
            <a:xfrm>
              <a:off x="1392" y="1824"/>
              <a:ext cx="1392" cy="336"/>
            </a:xfrm>
            <a:prstGeom prst="rect">
              <a:avLst/>
            </a:prstGeom>
            <a:solidFill>
              <a:schemeClr val="accent1"/>
            </a:solidFill>
            <a:ln w="9525">
              <a:solidFill>
                <a:schemeClr val="tx1"/>
              </a:solidFill>
              <a:miter lim="800000"/>
              <a:headEnd/>
              <a:tailEnd/>
            </a:ln>
          </p:spPr>
          <p:txBody>
            <a:bodyPr wrap="none" anchor="ctr"/>
            <a:lstStyle/>
            <a:p>
              <a:endParaRPr lang="zh-CN" altLang="en-US">
                <a:latin typeface="微软雅黑" pitchFamily="34" charset="-122"/>
                <a:ea typeface="微软雅黑" pitchFamily="34" charset="-122"/>
              </a:endParaRPr>
            </a:p>
          </p:txBody>
        </p:sp>
        <p:sp>
          <p:nvSpPr>
            <p:cNvPr id="18439" name="Line 6"/>
            <p:cNvSpPr>
              <a:spLocks noChangeShapeType="1"/>
            </p:cNvSpPr>
            <p:nvPr/>
          </p:nvSpPr>
          <p:spPr bwMode="auto">
            <a:xfrm>
              <a:off x="2016" y="182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latin typeface="微软雅黑" pitchFamily="34" charset="-122"/>
                <a:ea typeface="微软雅黑" pitchFamily="34" charset="-122"/>
              </a:endParaRPr>
            </a:p>
          </p:txBody>
        </p:sp>
        <p:sp>
          <p:nvSpPr>
            <p:cNvPr id="2" name="Text Box 7"/>
            <p:cNvSpPr txBox="1">
              <a:spLocks noChangeArrowheads="1"/>
            </p:cNvSpPr>
            <p:nvPr/>
          </p:nvSpPr>
          <p:spPr bwMode="auto">
            <a:xfrm>
              <a:off x="1477" y="1824"/>
              <a:ext cx="587" cy="365"/>
            </a:xfrm>
            <a:prstGeom prst="rect">
              <a:avLst/>
            </a:prstGeom>
            <a:noFill/>
            <a:ln w="9525">
              <a:noFill/>
              <a:miter lim="800000"/>
              <a:headEnd/>
              <a:tailEnd/>
            </a:ln>
            <a:effectLst/>
          </p:spPr>
          <p:txBody>
            <a:bodyPr wrap="square">
              <a:spAutoFit/>
            </a:bodyPr>
            <a:lstStyle/>
            <a:p>
              <a:pPr>
                <a:spcBef>
                  <a:spcPct val="50000"/>
                </a:spcBef>
                <a:defRPr/>
              </a:pPr>
              <a:r>
                <a:rPr kumimoji="1" lang="en-US" altLang="zh-CN" sz="3200" b="1" dirty="0">
                  <a:solidFill>
                    <a:srgbClr val="3333FF"/>
                  </a:solidFill>
                  <a:effectLst>
                    <a:outerShdw blurRad="38100" dist="38100" dir="2700000" algn="tl">
                      <a:srgbClr val="C0C0C0"/>
                    </a:outerShdw>
                  </a:effectLst>
                  <a:latin typeface="微软雅黑" pitchFamily="34" charset="-122"/>
                  <a:ea typeface="微软雅黑" pitchFamily="34" charset="-122"/>
                </a:rPr>
                <a:t>OP</a:t>
              </a:r>
              <a:r>
                <a:rPr kumimoji="1" lang="zh-CN" altLang="en-US" sz="3200" b="1" dirty="0">
                  <a:solidFill>
                    <a:srgbClr val="3333FF"/>
                  </a:solidFill>
                  <a:effectLst>
                    <a:outerShdw blurRad="38100" dist="38100" dir="2700000" algn="tl">
                      <a:srgbClr val="C0C0C0"/>
                    </a:outerShdw>
                  </a:effectLst>
                  <a:latin typeface="微软雅黑" pitchFamily="34" charset="-122"/>
                  <a:ea typeface="微软雅黑" pitchFamily="34" charset="-122"/>
                </a:rPr>
                <a:t>码</a:t>
              </a:r>
            </a:p>
          </p:txBody>
        </p:sp>
        <p:sp>
          <p:nvSpPr>
            <p:cNvPr id="18440" name="Text Box 8"/>
            <p:cNvSpPr txBox="1">
              <a:spLocks noChangeArrowheads="1"/>
            </p:cNvSpPr>
            <p:nvPr/>
          </p:nvSpPr>
          <p:spPr bwMode="auto">
            <a:xfrm>
              <a:off x="2208" y="1824"/>
              <a:ext cx="480" cy="327"/>
            </a:xfrm>
            <a:prstGeom prst="rect">
              <a:avLst/>
            </a:prstGeom>
            <a:noFill/>
            <a:ln w="9525">
              <a:noFill/>
              <a:miter lim="800000"/>
              <a:headEnd/>
              <a:tailEnd/>
            </a:ln>
            <a:effectLst/>
          </p:spPr>
          <p:txBody>
            <a:bodyPr>
              <a:spAutoFit/>
            </a:bodyPr>
            <a:lstStyle/>
            <a:p>
              <a:pPr>
                <a:spcBef>
                  <a:spcPct val="50000"/>
                </a:spcBef>
                <a:defRPr/>
              </a:pPr>
              <a:r>
                <a:rPr kumimoji="1" lang="en-US" altLang="zh-CN" sz="2800" dirty="0">
                  <a:solidFill>
                    <a:srgbClr val="3333FF"/>
                  </a:solidFill>
                  <a:effectLst>
                    <a:outerShdw blurRad="38100" dist="38100" dir="2700000" algn="tl">
                      <a:srgbClr val="C0C0C0"/>
                    </a:outerShdw>
                  </a:effectLst>
                  <a:latin typeface="微软雅黑" pitchFamily="34" charset="-122"/>
                  <a:ea typeface="微软雅黑" pitchFamily="34" charset="-122"/>
                </a:rPr>
                <a:t>A1</a:t>
              </a:r>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xfrm>
            <a:off x="6553199" y="6248400"/>
            <a:ext cx="2151991"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98D7ECA-7D7B-4343-8B73-29C5F6B9C8E8}" type="slidenum">
              <a:rPr lang="en-US" altLang="zh-CN">
                <a:latin typeface="微软雅黑" pitchFamily="34" charset="-122"/>
                <a:ea typeface="微软雅黑" pitchFamily="34" charset="-122"/>
              </a:rPr>
              <a:pPr eaLnBrk="1" hangingPunct="1"/>
              <a:t>17</a:t>
            </a:fld>
            <a:endParaRPr lang="en-US" altLang="zh-CN" dirty="0">
              <a:latin typeface="微软雅黑" pitchFamily="34" charset="-122"/>
              <a:ea typeface="微软雅黑" pitchFamily="34" charset="-122"/>
            </a:endParaRPr>
          </a:p>
        </p:txBody>
      </p:sp>
      <p:sp>
        <p:nvSpPr>
          <p:cNvPr id="19459" name="Rectangle 2"/>
          <p:cNvSpPr>
            <a:spLocks noGrp="1" noChangeArrowheads="1"/>
          </p:cNvSpPr>
          <p:nvPr>
            <p:ph type="title"/>
          </p:nvPr>
        </p:nvSpPr>
        <p:spPr>
          <a:xfrm>
            <a:off x="457200" y="223838"/>
            <a:ext cx="7608826" cy="1193800"/>
          </a:xfrm>
        </p:spPr>
        <p:txBody>
          <a:bodyPr/>
          <a:lstStyle/>
          <a:p>
            <a:pPr eaLnBrk="1" hangingPunct="1"/>
            <a:r>
              <a:rPr lang="zh-CN" altLang="en-US" sz="3500" smtClean="0">
                <a:latin typeface="微软雅黑" pitchFamily="34" charset="-122"/>
                <a:ea typeface="微软雅黑" pitchFamily="34" charset="-122"/>
              </a:rPr>
              <a:t>二、地址码</a:t>
            </a:r>
          </a:p>
        </p:txBody>
      </p:sp>
      <p:sp>
        <p:nvSpPr>
          <p:cNvPr id="19460" name="Rectangle 3"/>
          <p:cNvSpPr>
            <a:spLocks noGrp="1" noChangeArrowheads="1"/>
          </p:cNvSpPr>
          <p:nvPr>
            <p:ph type="body" idx="1"/>
          </p:nvPr>
        </p:nvSpPr>
        <p:spPr>
          <a:xfrm>
            <a:off x="428596" y="1731982"/>
            <a:ext cx="8300537" cy="4411662"/>
          </a:xfrm>
        </p:spPr>
        <p:txBody>
          <a:bodyPr/>
          <a:lstStyle/>
          <a:p>
            <a:pPr eaLnBrk="1" hangingPunct="1"/>
            <a:r>
              <a:rPr lang="zh-CN" altLang="en-US" sz="3400" smtClean="0">
                <a:latin typeface="微软雅黑" pitchFamily="34" charset="-122"/>
                <a:ea typeface="微软雅黑" pitchFamily="34" charset="-122"/>
              </a:rPr>
              <a:t>零地址指令 </a:t>
            </a:r>
            <a:r>
              <a:rPr lang="zh-CN" altLang="en-US" sz="2100" smtClean="0">
                <a:latin typeface="微软雅黑" pitchFamily="34" charset="-122"/>
                <a:ea typeface="微软雅黑" pitchFamily="34" charset="-122"/>
              </a:rPr>
              <a:t> </a:t>
            </a:r>
          </a:p>
          <a:p>
            <a:pPr lvl="1" eaLnBrk="1" hangingPunct="1"/>
            <a:r>
              <a:rPr lang="zh-CN" altLang="en-US" sz="3000" smtClean="0">
                <a:latin typeface="微软雅黑" pitchFamily="34" charset="-122"/>
                <a:ea typeface="微软雅黑" pitchFamily="34" charset="-122"/>
              </a:rPr>
              <a:t>其格式为：</a:t>
            </a:r>
          </a:p>
          <a:p>
            <a:pPr lvl="1" eaLnBrk="1" hangingPunct="1"/>
            <a:endParaRPr lang="zh-CN" altLang="en-US" sz="3000" smtClean="0">
              <a:latin typeface="微软雅黑" pitchFamily="34" charset="-122"/>
              <a:ea typeface="微软雅黑" pitchFamily="34" charset="-122"/>
            </a:endParaRPr>
          </a:p>
          <a:p>
            <a:pPr lvl="1" eaLnBrk="1" hangingPunct="1"/>
            <a:endParaRPr lang="zh-CN" altLang="en-US" sz="3000" smtClean="0">
              <a:latin typeface="微软雅黑" pitchFamily="34" charset="-122"/>
              <a:ea typeface="微软雅黑" pitchFamily="34" charset="-122"/>
            </a:endParaRPr>
          </a:p>
          <a:p>
            <a:pPr lvl="1" eaLnBrk="1" hangingPunct="1"/>
            <a:r>
              <a:rPr lang="zh-CN" altLang="en-US" sz="3000" smtClean="0">
                <a:latin typeface="微软雅黑" pitchFamily="34" charset="-122"/>
                <a:ea typeface="微软雅黑" pitchFamily="34" charset="-122"/>
              </a:rPr>
              <a:t> 操作码</a:t>
            </a:r>
            <a:r>
              <a:rPr lang="en-US" altLang="zh-CN" sz="3000" dirty="0" smtClean="0">
                <a:latin typeface="微软雅黑" pitchFamily="34" charset="-122"/>
                <a:ea typeface="微软雅黑" pitchFamily="34" charset="-122"/>
              </a:rPr>
              <a:t>OP</a:t>
            </a:r>
          </a:p>
          <a:p>
            <a:pPr lvl="1" eaLnBrk="1" hangingPunct="1"/>
            <a:r>
              <a:rPr lang="en-US" altLang="zh-CN" sz="3000" dirty="0" smtClean="0">
                <a:latin typeface="微软雅黑" pitchFamily="34" charset="-122"/>
                <a:ea typeface="微软雅黑" pitchFamily="34" charset="-122"/>
              </a:rPr>
              <a:t>“</a:t>
            </a:r>
            <a:r>
              <a:rPr lang="zh-CN" altLang="en-US" sz="3000" smtClean="0">
                <a:latin typeface="微软雅黑" pitchFamily="34" charset="-122"/>
                <a:ea typeface="微软雅黑" pitchFamily="34" charset="-122"/>
              </a:rPr>
              <a:t>停机”、“空操作”、“清除”等控制类指令。</a:t>
            </a:r>
          </a:p>
        </p:txBody>
      </p:sp>
      <p:grpSp>
        <p:nvGrpSpPr>
          <p:cNvPr id="19461" name="Group 4"/>
          <p:cNvGrpSpPr>
            <a:grpSpLocks/>
          </p:cNvGrpSpPr>
          <p:nvPr/>
        </p:nvGrpSpPr>
        <p:grpSpPr bwMode="auto">
          <a:xfrm>
            <a:off x="2057400" y="3162298"/>
            <a:ext cx="2228848" cy="584200"/>
            <a:chOff x="1344" y="1632"/>
            <a:chExt cx="960" cy="368"/>
          </a:xfrm>
        </p:grpSpPr>
        <p:sp>
          <p:nvSpPr>
            <p:cNvPr id="19462" name="Rectangle 5"/>
            <p:cNvSpPr>
              <a:spLocks noChangeArrowheads="1"/>
            </p:cNvSpPr>
            <p:nvPr/>
          </p:nvSpPr>
          <p:spPr bwMode="auto">
            <a:xfrm>
              <a:off x="1344" y="1632"/>
              <a:ext cx="960" cy="336"/>
            </a:xfrm>
            <a:prstGeom prst="rect">
              <a:avLst/>
            </a:prstGeom>
            <a:solidFill>
              <a:schemeClr val="accent1"/>
            </a:solidFill>
            <a:ln w="9525">
              <a:solidFill>
                <a:schemeClr val="tx1"/>
              </a:solidFill>
              <a:miter lim="800000"/>
              <a:headEnd/>
              <a:tailEnd/>
            </a:ln>
          </p:spPr>
          <p:txBody>
            <a:bodyPr wrap="none" anchor="ctr"/>
            <a:lstStyle/>
            <a:p>
              <a:endParaRPr lang="zh-CN" altLang="en-US">
                <a:latin typeface="微软雅黑" pitchFamily="34" charset="-122"/>
                <a:ea typeface="微软雅黑" pitchFamily="34" charset="-122"/>
              </a:endParaRPr>
            </a:p>
          </p:txBody>
        </p:sp>
        <p:sp>
          <p:nvSpPr>
            <p:cNvPr id="2" name="Text Box 6"/>
            <p:cNvSpPr txBox="1">
              <a:spLocks noChangeArrowheads="1"/>
            </p:cNvSpPr>
            <p:nvPr/>
          </p:nvSpPr>
          <p:spPr bwMode="auto">
            <a:xfrm>
              <a:off x="1488" y="1632"/>
              <a:ext cx="693" cy="368"/>
            </a:xfrm>
            <a:prstGeom prst="rect">
              <a:avLst/>
            </a:prstGeom>
            <a:noFill/>
            <a:ln w="9525">
              <a:noFill/>
              <a:miter lim="800000"/>
              <a:headEnd/>
              <a:tailEnd/>
            </a:ln>
            <a:effectLst/>
          </p:spPr>
          <p:txBody>
            <a:bodyPr wrap="square">
              <a:spAutoFit/>
            </a:bodyPr>
            <a:lstStyle/>
            <a:p>
              <a:pPr>
                <a:spcBef>
                  <a:spcPct val="50000"/>
                </a:spcBef>
                <a:defRPr/>
              </a:pPr>
              <a:r>
                <a:rPr kumimoji="1" lang="en-US" altLang="zh-CN" sz="3200" b="1" dirty="0">
                  <a:solidFill>
                    <a:srgbClr val="3333FF"/>
                  </a:solidFill>
                  <a:effectLst>
                    <a:outerShdw blurRad="38100" dist="38100" dir="2700000" algn="tl">
                      <a:srgbClr val="C0C0C0"/>
                    </a:outerShdw>
                  </a:effectLst>
                  <a:latin typeface="微软雅黑" pitchFamily="34" charset="-122"/>
                  <a:ea typeface="微软雅黑" pitchFamily="34" charset="-122"/>
                </a:rPr>
                <a:t>OP</a:t>
              </a:r>
              <a:r>
                <a:rPr kumimoji="1" lang="zh-CN" altLang="en-US" sz="3200" b="1" dirty="0">
                  <a:solidFill>
                    <a:srgbClr val="3333FF"/>
                  </a:solidFill>
                  <a:effectLst>
                    <a:outerShdw blurRad="38100" dist="38100" dir="2700000" algn="tl">
                      <a:srgbClr val="C0C0C0"/>
                    </a:outerShdw>
                  </a:effectLst>
                  <a:latin typeface="微软雅黑" pitchFamily="34" charset="-122"/>
                  <a:ea typeface="微软雅黑" pitchFamily="34" charset="-122"/>
                </a:rPr>
                <a:t>码</a:t>
              </a:r>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xfrm>
            <a:off x="6553200" y="6429396"/>
            <a:ext cx="2133600" cy="27620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10000"/>
              </a:lnSpc>
              <a:spcBef>
                <a:spcPts val="0"/>
              </a:spcBef>
            </a:pPr>
            <a:fld id="{685215D5-22CF-4AB9-B6A8-035784BD8BA4}" type="slidenum">
              <a:rPr lang="en-US" altLang="zh-CN">
                <a:latin typeface="微软雅黑" pitchFamily="34" charset="-122"/>
                <a:ea typeface="微软雅黑" pitchFamily="34" charset="-122"/>
              </a:rPr>
              <a:pPr eaLnBrk="1" hangingPunct="1">
                <a:lnSpc>
                  <a:spcPct val="110000"/>
                </a:lnSpc>
                <a:spcBef>
                  <a:spcPts val="0"/>
                </a:spcBef>
              </a:pPr>
              <a:t>18</a:t>
            </a:fld>
            <a:endParaRPr lang="en-US" altLang="zh-CN" dirty="0">
              <a:latin typeface="微软雅黑" pitchFamily="34" charset="-122"/>
              <a:ea typeface="微软雅黑" pitchFamily="34" charset="-122"/>
            </a:endParaRPr>
          </a:p>
        </p:txBody>
      </p:sp>
      <p:sp>
        <p:nvSpPr>
          <p:cNvPr id="20483" name="Rectangle 2"/>
          <p:cNvSpPr>
            <a:spLocks noGrp="1" noChangeArrowheads="1"/>
          </p:cNvSpPr>
          <p:nvPr>
            <p:ph type="title"/>
          </p:nvPr>
        </p:nvSpPr>
        <p:spPr>
          <a:xfrm>
            <a:off x="457200" y="223838"/>
            <a:ext cx="7543800" cy="541337"/>
          </a:xfrm>
        </p:spPr>
        <p:txBody>
          <a:bodyPr/>
          <a:lstStyle/>
          <a:p>
            <a:pPr eaLnBrk="1" hangingPunct="1">
              <a:lnSpc>
                <a:spcPct val="110000"/>
              </a:lnSpc>
              <a:spcBef>
                <a:spcPts val="0"/>
              </a:spcBef>
            </a:pPr>
            <a:r>
              <a:rPr lang="zh-CN" altLang="en-US" sz="3500" dirty="0" smtClean="0">
                <a:latin typeface="微软雅黑" pitchFamily="34" charset="-122"/>
                <a:ea typeface="微软雅黑" pitchFamily="34" charset="-122"/>
                <a:cs typeface="Times New Roman" pitchFamily="18" charset="0"/>
              </a:rPr>
              <a:t>三</a:t>
            </a:r>
            <a:r>
              <a:rPr lang="zh-CN" altLang="en-US" sz="3500" dirty="0" smtClean="0">
                <a:latin typeface="微软雅黑" pitchFamily="34" charset="-122"/>
                <a:ea typeface="微软雅黑" pitchFamily="34" charset="-122"/>
              </a:rPr>
              <a:t>、指令长度</a:t>
            </a:r>
            <a:endParaRPr lang="zh-CN" altLang="en-US" sz="3500" dirty="0" smtClean="0">
              <a:latin typeface="微软雅黑" pitchFamily="34" charset="-122"/>
              <a:ea typeface="微软雅黑" pitchFamily="34" charset="-122"/>
              <a:cs typeface="Times New Roman" pitchFamily="18" charset="0"/>
            </a:endParaRPr>
          </a:p>
        </p:txBody>
      </p:sp>
      <p:sp>
        <p:nvSpPr>
          <p:cNvPr id="20484" name="Rectangle 3"/>
          <p:cNvSpPr>
            <a:spLocks noGrp="1" noChangeArrowheads="1"/>
          </p:cNvSpPr>
          <p:nvPr>
            <p:ph type="body" idx="1"/>
          </p:nvPr>
        </p:nvSpPr>
        <p:spPr>
          <a:xfrm>
            <a:off x="142844" y="836613"/>
            <a:ext cx="9001156" cy="5807097"/>
          </a:xfrm>
        </p:spPr>
        <p:txBody>
          <a:bodyPr/>
          <a:lstStyle/>
          <a:p>
            <a:pPr eaLnBrk="1" hangingPunct="1">
              <a:lnSpc>
                <a:spcPct val="110000"/>
              </a:lnSpc>
              <a:spcBef>
                <a:spcPts val="0"/>
              </a:spcBef>
            </a:pPr>
            <a:r>
              <a:rPr lang="zh-CN" altLang="en-US" sz="2400" dirty="0" smtClean="0">
                <a:latin typeface="微软雅黑" pitchFamily="34" charset="-122"/>
                <a:ea typeface="微软雅黑" pitchFamily="34" charset="-122"/>
              </a:rPr>
              <a:t>概念</a:t>
            </a:r>
          </a:p>
          <a:p>
            <a:pPr lvl="1" eaLnBrk="1" hangingPunct="1">
              <a:lnSpc>
                <a:spcPct val="110000"/>
              </a:lnSpc>
              <a:spcBef>
                <a:spcPts val="0"/>
              </a:spcBef>
            </a:pPr>
            <a:r>
              <a:rPr lang="zh-CN" altLang="en-US" sz="2400" dirty="0" smtClean="0">
                <a:latin typeface="微软雅黑" pitchFamily="34" charset="-122"/>
                <a:ea typeface="微软雅黑" pitchFamily="34" charset="-122"/>
              </a:rPr>
              <a:t>指令字长度（一个指令字包含二进制代码的位数）</a:t>
            </a:r>
          </a:p>
          <a:p>
            <a:pPr lvl="1" eaLnBrk="1" hangingPunct="1">
              <a:lnSpc>
                <a:spcPct val="110000"/>
              </a:lnSpc>
              <a:spcBef>
                <a:spcPts val="0"/>
              </a:spcBef>
            </a:pPr>
            <a:r>
              <a:rPr lang="zh-CN" altLang="en-US" sz="2400" dirty="0" smtClean="0">
                <a:latin typeface="微软雅黑" pitchFamily="34" charset="-122"/>
                <a:ea typeface="微软雅黑" pitchFamily="34" charset="-122"/>
              </a:rPr>
              <a:t>机器字长：计算机能直接处理的二进制数据的位数。</a:t>
            </a:r>
          </a:p>
          <a:p>
            <a:pPr lvl="1" eaLnBrk="1" hangingPunct="1">
              <a:lnSpc>
                <a:spcPct val="110000"/>
              </a:lnSpc>
              <a:spcBef>
                <a:spcPts val="0"/>
              </a:spcBef>
            </a:pPr>
            <a:r>
              <a:rPr lang="zh-CN" altLang="en-US" sz="2400" dirty="0" smtClean="0">
                <a:latin typeface="微软雅黑" pitchFamily="34" charset="-122"/>
                <a:ea typeface="微软雅黑" pitchFamily="34" charset="-122"/>
              </a:rPr>
              <a:t>单字长指令</a:t>
            </a:r>
          </a:p>
          <a:p>
            <a:pPr lvl="1" eaLnBrk="1" hangingPunct="1">
              <a:lnSpc>
                <a:spcPct val="110000"/>
              </a:lnSpc>
              <a:spcBef>
                <a:spcPts val="0"/>
              </a:spcBef>
            </a:pPr>
            <a:r>
              <a:rPr lang="zh-CN" altLang="en-US" sz="2400" dirty="0" smtClean="0">
                <a:latin typeface="微软雅黑" pitchFamily="34" charset="-122"/>
                <a:ea typeface="微软雅黑" pitchFamily="34" charset="-122"/>
              </a:rPr>
              <a:t>半字长指令</a:t>
            </a:r>
          </a:p>
          <a:p>
            <a:pPr lvl="1" eaLnBrk="1" hangingPunct="1">
              <a:lnSpc>
                <a:spcPct val="110000"/>
              </a:lnSpc>
              <a:spcBef>
                <a:spcPts val="0"/>
              </a:spcBef>
            </a:pPr>
            <a:r>
              <a:rPr lang="zh-CN" altLang="en-US" sz="2400" dirty="0" smtClean="0">
                <a:latin typeface="微软雅黑" pitchFamily="34" charset="-122"/>
                <a:ea typeface="微软雅黑" pitchFamily="34" charset="-122"/>
              </a:rPr>
              <a:t>双字长指令</a:t>
            </a:r>
          </a:p>
          <a:p>
            <a:pPr eaLnBrk="1" hangingPunct="1">
              <a:lnSpc>
                <a:spcPct val="110000"/>
              </a:lnSpc>
              <a:spcBef>
                <a:spcPts val="0"/>
              </a:spcBef>
            </a:pPr>
            <a:r>
              <a:rPr lang="zh-CN" altLang="en-US" sz="2400" b="1" dirty="0" smtClean="0">
                <a:latin typeface="微软雅黑" pitchFamily="34" charset="-122"/>
                <a:ea typeface="微软雅黑" pitchFamily="34" charset="-122"/>
              </a:rPr>
              <a:t>多字长指令</a:t>
            </a:r>
            <a:r>
              <a:rPr lang="zh-CN" altLang="en-US" sz="2400" dirty="0" smtClean="0">
                <a:latin typeface="微软雅黑" pitchFamily="34" charset="-122"/>
                <a:ea typeface="微软雅黑" pitchFamily="34" charset="-122"/>
              </a:rPr>
              <a:t>的优缺点</a:t>
            </a:r>
          </a:p>
          <a:p>
            <a:pPr lvl="1" eaLnBrk="1" hangingPunct="1">
              <a:lnSpc>
                <a:spcPct val="110000"/>
              </a:lnSpc>
              <a:spcBef>
                <a:spcPts val="0"/>
              </a:spcBef>
            </a:pPr>
            <a:r>
              <a:rPr lang="zh-CN" altLang="en-US" sz="2400" dirty="0" smtClean="0">
                <a:latin typeface="微软雅黑" pitchFamily="34" charset="-122"/>
                <a:ea typeface="微软雅黑" pitchFamily="34" charset="-122"/>
              </a:rPr>
              <a:t>优点提供足够的地址位来解决访问内存任何单元的寻址问题；</a:t>
            </a:r>
          </a:p>
          <a:p>
            <a:pPr lvl="1" eaLnBrk="1" hangingPunct="1">
              <a:lnSpc>
                <a:spcPct val="110000"/>
              </a:lnSpc>
              <a:spcBef>
                <a:spcPts val="0"/>
              </a:spcBef>
            </a:pPr>
            <a:r>
              <a:rPr lang="zh-CN" altLang="en-US" sz="2400" dirty="0" smtClean="0">
                <a:latin typeface="微软雅黑" pitchFamily="34" charset="-122"/>
                <a:ea typeface="微软雅黑" pitchFamily="34" charset="-122"/>
              </a:rPr>
              <a:t>缺点必须两次或多次访问内存以取出一整条指令，降低了</a:t>
            </a:r>
          </a:p>
          <a:p>
            <a:pPr lvl="1" eaLnBrk="1" hangingPunct="1">
              <a:lnSpc>
                <a:spcPct val="110000"/>
              </a:lnSpc>
              <a:spcBef>
                <a:spcPts val="0"/>
              </a:spcBef>
              <a:buFont typeface="Wingdings" pitchFamily="2" charset="2"/>
              <a:buNone/>
            </a:pPr>
            <a:r>
              <a:rPr lang="zh-CN" altLang="en-US" sz="2400" dirty="0" smtClean="0">
                <a:latin typeface="微软雅黑" pitchFamily="34" charset="-122"/>
                <a:ea typeface="微软雅黑" pitchFamily="34" charset="-122"/>
              </a:rPr>
              <a:t>  </a:t>
            </a:r>
            <a:r>
              <a:rPr lang="en-US" altLang="zh-CN" sz="2400" dirty="0" smtClean="0">
                <a:latin typeface="微软雅黑" pitchFamily="34" charset="-122"/>
                <a:ea typeface="微软雅黑" pitchFamily="34" charset="-122"/>
              </a:rPr>
              <a:t>CPU</a:t>
            </a:r>
            <a:r>
              <a:rPr lang="zh-CN" altLang="en-US" sz="2400" dirty="0" smtClean="0">
                <a:latin typeface="微软雅黑" pitchFamily="34" charset="-122"/>
                <a:ea typeface="微软雅黑" pitchFamily="34" charset="-122"/>
              </a:rPr>
              <a:t>的运算速度，又占用了更多的存储空间。</a:t>
            </a:r>
          </a:p>
          <a:p>
            <a:pPr eaLnBrk="1" hangingPunct="1">
              <a:lnSpc>
                <a:spcPct val="110000"/>
              </a:lnSpc>
              <a:spcBef>
                <a:spcPts val="0"/>
              </a:spcBef>
            </a:pPr>
            <a:r>
              <a:rPr lang="zh-CN" altLang="en-US" sz="2400" dirty="0" smtClean="0">
                <a:latin typeface="微软雅黑" pitchFamily="34" charset="-122"/>
                <a:ea typeface="微软雅黑" pitchFamily="34" charset="-122"/>
              </a:rPr>
              <a:t>指令系统中指令采用</a:t>
            </a:r>
            <a:r>
              <a:rPr lang="zh-CN" altLang="en-US" sz="2400" b="1" dirty="0" smtClean="0">
                <a:latin typeface="微软雅黑" pitchFamily="34" charset="-122"/>
                <a:ea typeface="微软雅黑" pitchFamily="34" charset="-122"/>
              </a:rPr>
              <a:t>等长指令</a:t>
            </a:r>
            <a:r>
              <a:rPr lang="zh-CN" altLang="en-US" sz="2400" dirty="0" smtClean="0">
                <a:latin typeface="微软雅黑" pitchFamily="34" charset="-122"/>
                <a:ea typeface="微软雅黑" pitchFamily="34" charset="-122"/>
              </a:rPr>
              <a:t>的优点：各种指令字长度是相等的，指令字结构简单，且指令字长度是不变的 ；</a:t>
            </a:r>
          </a:p>
          <a:p>
            <a:pPr eaLnBrk="1" hangingPunct="1">
              <a:lnSpc>
                <a:spcPct val="110000"/>
              </a:lnSpc>
              <a:spcBef>
                <a:spcPts val="0"/>
              </a:spcBef>
            </a:pPr>
            <a:r>
              <a:rPr lang="zh-CN" altLang="en-US" sz="2400" dirty="0" smtClean="0">
                <a:latin typeface="微软雅黑" pitchFamily="34" charset="-122"/>
                <a:ea typeface="微软雅黑" pitchFamily="34" charset="-122"/>
              </a:rPr>
              <a:t>采用</a:t>
            </a:r>
            <a:r>
              <a:rPr lang="zh-CN" altLang="en-US" sz="2400" b="1" dirty="0" smtClean="0">
                <a:latin typeface="微软雅黑" pitchFamily="34" charset="-122"/>
                <a:ea typeface="微软雅黑" pitchFamily="34" charset="-122"/>
              </a:rPr>
              <a:t>非等长指令</a:t>
            </a:r>
            <a:r>
              <a:rPr lang="zh-CN" altLang="en-US" sz="2400" dirty="0" smtClean="0">
                <a:latin typeface="微软雅黑" pitchFamily="34" charset="-122"/>
                <a:ea typeface="微软雅黑" pitchFamily="34" charset="-122"/>
              </a:rPr>
              <a:t>的的优点：各种指令字长度随指令功能而异，</a:t>
            </a:r>
          </a:p>
          <a:p>
            <a:pPr eaLnBrk="1" hangingPunct="1">
              <a:lnSpc>
                <a:spcPct val="110000"/>
              </a:lnSpc>
              <a:spcBef>
                <a:spcPts val="0"/>
              </a:spcBef>
              <a:buFont typeface="Wingdings" pitchFamily="2" charset="2"/>
              <a:buNone/>
            </a:pPr>
            <a:r>
              <a:rPr lang="zh-CN" altLang="en-US" sz="2400" dirty="0" smtClean="0">
                <a:latin typeface="微软雅黑" pitchFamily="34" charset="-122"/>
                <a:ea typeface="微软雅黑" pitchFamily="34" charset="-122"/>
              </a:rPr>
              <a:t>  结构灵活，能充分利用指令长度，但指令的控制较复杂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3707E02-7213-4FC0-8E8B-8D5D76BA24C6}" type="slidenum">
              <a:rPr lang="en-US" altLang="zh-CN">
                <a:latin typeface="微软雅黑" pitchFamily="34" charset="-122"/>
                <a:ea typeface="微软雅黑" pitchFamily="34" charset="-122"/>
              </a:rPr>
              <a:pPr eaLnBrk="1" hangingPunct="1"/>
              <a:t>19</a:t>
            </a:fld>
            <a:endParaRPr lang="en-US" altLang="zh-CN" dirty="0">
              <a:latin typeface="微软雅黑" pitchFamily="34" charset="-122"/>
              <a:ea typeface="微软雅黑" pitchFamily="34" charset="-122"/>
            </a:endParaRPr>
          </a:p>
        </p:txBody>
      </p:sp>
      <p:sp>
        <p:nvSpPr>
          <p:cNvPr id="21507" name="Rectangle 2"/>
          <p:cNvSpPr>
            <a:spLocks noGrp="1" noChangeArrowheads="1"/>
          </p:cNvSpPr>
          <p:nvPr>
            <p:ph type="title"/>
          </p:nvPr>
        </p:nvSpPr>
        <p:spPr>
          <a:xfrm>
            <a:off x="457200" y="223838"/>
            <a:ext cx="7543800" cy="612775"/>
          </a:xfrm>
        </p:spPr>
        <p:txBody>
          <a:bodyPr/>
          <a:lstStyle/>
          <a:p>
            <a:pPr eaLnBrk="1" hangingPunct="1"/>
            <a:r>
              <a:rPr lang="zh-CN" altLang="en-US" sz="3500" smtClean="0">
                <a:latin typeface="微软雅黑" pitchFamily="34" charset="-122"/>
                <a:ea typeface="微软雅黑" pitchFamily="34" charset="-122"/>
              </a:rPr>
              <a:t>四、指令助记符</a:t>
            </a:r>
          </a:p>
        </p:txBody>
      </p:sp>
      <p:sp>
        <p:nvSpPr>
          <p:cNvPr id="21508" name="Rectangle 3"/>
          <p:cNvSpPr>
            <a:spLocks noGrp="1" noChangeArrowheads="1"/>
          </p:cNvSpPr>
          <p:nvPr>
            <p:ph type="body" idx="1"/>
          </p:nvPr>
        </p:nvSpPr>
        <p:spPr>
          <a:xfrm>
            <a:off x="323850" y="1052513"/>
            <a:ext cx="7704138" cy="5472112"/>
          </a:xfrm>
        </p:spPr>
        <p:txBody>
          <a:bodyPr/>
          <a:lstStyle/>
          <a:p>
            <a:pPr eaLnBrk="1" hangingPunct="1"/>
            <a:r>
              <a:rPr lang="zh-CN" altLang="en-US" sz="3200" smtClean="0">
                <a:latin typeface="微软雅黑" pitchFamily="34" charset="-122"/>
                <a:ea typeface="微软雅黑" pitchFamily="34" charset="-122"/>
              </a:rPr>
              <a:t>由于硬件只能识别</a:t>
            </a:r>
            <a:r>
              <a:rPr lang="en-US" altLang="zh-CN" sz="3200" dirty="0" smtClean="0">
                <a:latin typeface="微软雅黑" pitchFamily="34" charset="-122"/>
                <a:ea typeface="微软雅黑" pitchFamily="34" charset="-122"/>
              </a:rPr>
              <a:t>1</a:t>
            </a:r>
            <a:r>
              <a:rPr lang="zh-CN" altLang="en-US" sz="3200" smtClean="0">
                <a:latin typeface="微软雅黑" pitchFamily="34" charset="-122"/>
                <a:ea typeface="微软雅黑" pitchFamily="34" charset="-122"/>
              </a:rPr>
              <a:t>和</a:t>
            </a:r>
            <a:r>
              <a:rPr lang="en-US" altLang="zh-CN" sz="3200" dirty="0" smtClean="0">
                <a:latin typeface="微软雅黑" pitchFamily="34" charset="-122"/>
                <a:ea typeface="微软雅黑" pitchFamily="34" charset="-122"/>
              </a:rPr>
              <a:t>0</a:t>
            </a:r>
            <a:r>
              <a:rPr lang="zh-CN" altLang="en-US" sz="3200" smtClean="0">
                <a:latin typeface="微软雅黑" pitchFamily="34" charset="-122"/>
                <a:ea typeface="微软雅黑" pitchFamily="34" charset="-122"/>
              </a:rPr>
              <a:t>，所以采用二进制操作码是必要的，但是我们用二进制来书写程序却非常麻烦。</a:t>
            </a:r>
          </a:p>
          <a:p>
            <a:pPr eaLnBrk="1" hangingPunct="1"/>
            <a:r>
              <a:rPr lang="zh-CN" altLang="en-US" sz="3200" smtClean="0">
                <a:latin typeface="微软雅黑" pitchFamily="34" charset="-122"/>
                <a:ea typeface="微软雅黑" pitchFamily="34" charset="-122"/>
              </a:rPr>
              <a:t>为了便于书写和阅读程序，每条指令通常用</a:t>
            </a:r>
            <a:r>
              <a:rPr lang="en-US" altLang="zh-CN" sz="3200" dirty="0" smtClean="0">
                <a:latin typeface="微软雅黑" pitchFamily="34" charset="-122"/>
                <a:ea typeface="微软雅黑" pitchFamily="34" charset="-122"/>
              </a:rPr>
              <a:t>3</a:t>
            </a:r>
            <a:r>
              <a:rPr lang="zh-CN" altLang="en-US" sz="3200" smtClean="0">
                <a:latin typeface="微软雅黑" pitchFamily="34" charset="-122"/>
                <a:ea typeface="微软雅黑" pitchFamily="34" charset="-122"/>
              </a:rPr>
              <a:t>个或</a:t>
            </a:r>
            <a:r>
              <a:rPr lang="en-US" altLang="zh-CN" sz="3200" dirty="0" smtClean="0">
                <a:latin typeface="微软雅黑" pitchFamily="34" charset="-122"/>
                <a:ea typeface="微软雅黑" pitchFamily="34" charset="-122"/>
              </a:rPr>
              <a:t>4</a:t>
            </a:r>
            <a:r>
              <a:rPr lang="zh-CN" altLang="en-US" sz="3200" smtClean="0">
                <a:latin typeface="微软雅黑" pitchFamily="34" charset="-122"/>
                <a:ea typeface="微软雅黑" pitchFamily="34" charset="-122"/>
              </a:rPr>
              <a:t>个英文缩写字母来表示。这种缩写码叫做指令助记符</a:t>
            </a:r>
          </a:p>
          <a:p>
            <a:pPr lvl="1" eaLnBrk="1" hangingPunct="1">
              <a:buFont typeface="Wingdings" pitchFamily="2" charset="2"/>
              <a:buChar char="Ø"/>
            </a:pPr>
            <a:r>
              <a:rPr lang="zh-CN" altLang="en-US" sz="3200" smtClean="0">
                <a:latin typeface="微软雅黑" pitchFamily="34" charset="-122"/>
                <a:ea typeface="微软雅黑" pitchFamily="34" charset="-122"/>
              </a:rPr>
              <a:t>用</a:t>
            </a:r>
            <a:r>
              <a:rPr lang="en-US" altLang="zh-CN" sz="3200" dirty="0" smtClean="0">
                <a:latin typeface="微软雅黑" pitchFamily="34" charset="-122"/>
                <a:ea typeface="微软雅黑" pitchFamily="34" charset="-122"/>
              </a:rPr>
              <a:t>3</a:t>
            </a:r>
            <a:r>
              <a:rPr lang="zh-CN" altLang="en-US" sz="3200" smtClean="0">
                <a:latin typeface="微软雅黑" pitchFamily="34" charset="-122"/>
                <a:ea typeface="微软雅黑" pitchFamily="34" charset="-122"/>
              </a:rPr>
              <a:t>～</a:t>
            </a:r>
            <a:r>
              <a:rPr lang="en-US" altLang="zh-CN" sz="3200" dirty="0" smtClean="0">
                <a:latin typeface="微软雅黑" pitchFamily="34" charset="-122"/>
                <a:ea typeface="微软雅黑" pitchFamily="34" charset="-122"/>
              </a:rPr>
              <a:t>4</a:t>
            </a:r>
            <a:r>
              <a:rPr lang="zh-CN" altLang="en-US" sz="3200" smtClean="0">
                <a:latin typeface="微软雅黑" pitchFamily="34" charset="-122"/>
                <a:ea typeface="微软雅黑" pitchFamily="34" charset="-122"/>
              </a:rPr>
              <a:t>个英文字母来表示操作码，一般为英文缩写</a:t>
            </a:r>
          </a:p>
          <a:p>
            <a:pPr lvl="1" eaLnBrk="1" hangingPunct="1">
              <a:buFont typeface="Wingdings" pitchFamily="2" charset="2"/>
              <a:buChar char="Ø"/>
            </a:pPr>
            <a:r>
              <a:rPr lang="zh-CN" altLang="en-US" sz="3200" smtClean="0">
                <a:latin typeface="微软雅黑" pitchFamily="34" charset="-122"/>
                <a:ea typeface="微软雅黑" pitchFamily="34" charset="-122"/>
              </a:rPr>
              <a:t>不同的计算机系统，规定不一样</a:t>
            </a:r>
          </a:p>
          <a:p>
            <a:pPr lvl="1" eaLnBrk="1" hangingPunct="1">
              <a:buFont typeface="Wingdings" pitchFamily="2" charset="2"/>
              <a:buChar char="Ø"/>
            </a:pPr>
            <a:r>
              <a:rPr lang="zh-CN" altLang="en-US" sz="3200" smtClean="0">
                <a:latin typeface="微软雅黑" pitchFamily="34" charset="-122"/>
                <a:ea typeface="微软雅黑" pitchFamily="34" charset="-122"/>
              </a:rPr>
              <a:t>必须用汇编语言翻译成二进制代码</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A95D286-DD6D-4850-BA46-5EDBE0192D92}" type="slidenum">
              <a:rPr lang="en-US" altLang="zh-CN">
                <a:latin typeface="微软雅黑" pitchFamily="34" charset="-122"/>
                <a:ea typeface="微软雅黑" pitchFamily="34" charset="-122"/>
              </a:rPr>
              <a:pPr eaLnBrk="1" hangingPunct="1"/>
              <a:t>20</a:t>
            </a:fld>
            <a:endParaRPr lang="en-US" altLang="zh-CN" dirty="0">
              <a:latin typeface="微软雅黑" pitchFamily="34" charset="-122"/>
              <a:ea typeface="微软雅黑" pitchFamily="34" charset="-122"/>
            </a:endParaRPr>
          </a:p>
        </p:txBody>
      </p:sp>
      <p:sp>
        <p:nvSpPr>
          <p:cNvPr id="25603" name="Rectangle 2"/>
          <p:cNvSpPr>
            <a:spLocks noGrp="1" noChangeArrowheads="1"/>
          </p:cNvSpPr>
          <p:nvPr>
            <p:ph type="title"/>
          </p:nvPr>
        </p:nvSpPr>
        <p:spPr>
          <a:xfrm>
            <a:off x="395288" y="350822"/>
            <a:ext cx="7543800" cy="792162"/>
          </a:xfrm>
        </p:spPr>
        <p:txBody>
          <a:bodyPr/>
          <a:lstStyle/>
          <a:p>
            <a:pPr eaLnBrk="1" hangingPunct="1"/>
            <a:r>
              <a:rPr lang="en-US" altLang="zh-CN" sz="4400" dirty="0" smtClean="0">
                <a:latin typeface="微软雅黑" pitchFamily="34" charset="-122"/>
                <a:ea typeface="微软雅黑" pitchFamily="34" charset="-122"/>
                <a:cs typeface="Times New Roman" pitchFamily="18" charset="0"/>
              </a:rPr>
              <a:t>4.3 </a:t>
            </a:r>
            <a:r>
              <a:rPr lang="zh-CN" altLang="en-US" sz="4400" dirty="0" smtClean="0">
                <a:latin typeface="微软雅黑" pitchFamily="34" charset="-122"/>
                <a:ea typeface="微软雅黑" pitchFamily="34" charset="-122"/>
              </a:rPr>
              <a:t>操作数类型</a:t>
            </a:r>
          </a:p>
        </p:txBody>
      </p:sp>
      <p:sp>
        <p:nvSpPr>
          <p:cNvPr id="25604" name="Rectangle 3"/>
          <p:cNvSpPr>
            <a:spLocks noGrp="1" noChangeArrowheads="1"/>
          </p:cNvSpPr>
          <p:nvPr>
            <p:ph type="body" idx="1"/>
          </p:nvPr>
        </p:nvSpPr>
        <p:spPr>
          <a:xfrm>
            <a:off x="323850" y="1357298"/>
            <a:ext cx="8136582" cy="5087959"/>
          </a:xfrm>
        </p:spPr>
        <p:txBody>
          <a:bodyPr/>
          <a:lstStyle/>
          <a:p>
            <a:pPr eaLnBrk="1" hangingPunct="1">
              <a:lnSpc>
                <a:spcPct val="120000"/>
              </a:lnSpc>
            </a:pPr>
            <a:r>
              <a:rPr lang="zh-CN" altLang="en-US" sz="2800" dirty="0" smtClean="0">
                <a:latin typeface="微软雅黑" pitchFamily="34" charset="-122"/>
                <a:ea typeface="微软雅黑" pitchFamily="34" charset="-122"/>
              </a:rPr>
              <a:t>操作数类型</a:t>
            </a:r>
          </a:p>
          <a:p>
            <a:pPr lvl="1" eaLnBrk="1" hangingPunct="1">
              <a:lnSpc>
                <a:spcPct val="120000"/>
              </a:lnSpc>
            </a:pPr>
            <a:r>
              <a:rPr lang="zh-CN" altLang="en-US" sz="2800" dirty="0" smtClean="0">
                <a:latin typeface="微软雅黑" pitchFamily="34" charset="-122"/>
                <a:ea typeface="微软雅黑" pitchFamily="34" charset="-122"/>
              </a:rPr>
              <a:t>地址数据</a:t>
            </a:r>
            <a:r>
              <a:rPr lang="en-US" altLang="zh-CN" sz="2800" dirty="0" smtClean="0">
                <a:latin typeface="微软雅黑" pitchFamily="34" charset="-122"/>
                <a:ea typeface="微软雅黑" pitchFamily="34" charset="-122"/>
              </a:rPr>
              <a:t>: </a:t>
            </a:r>
            <a:r>
              <a:rPr lang="zh-CN" altLang="en-US" sz="2800" dirty="0" smtClean="0">
                <a:latin typeface="微软雅黑" pitchFamily="34" charset="-122"/>
                <a:ea typeface="微软雅黑" pitchFamily="34" charset="-122"/>
              </a:rPr>
              <a:t>地址实际上也是一种形式的数据。</a:t>
            </a:r>
          </a:p>
          <a:p>
            <a:pPr lvl="1" eaLnBrk="1" hangingPunct="1">
              <a:lnSpc>
                <a:spcPct val="120000"/>
              </a:lnSpc>
            </a:pPr>
            <a:r>
              <a:rPr lang="zh-CN" altLang="en-US" sz="2800" dirty="0" smtClean="0">
                <a:latin typeface="微软雅黑" pitchFamily="34" charset="-122"/>
                <a:ea typeface="微软雅黑" pitchFamily="34" charset="-122"/>
              </a:rPr>
              <a:t>数值数据</a:t>
            </a:r>
            <a:r>
              <a:rPr lang="en-US" altLang="zh-CN" sz="2800" dirty="0" smtClean="0">
                <a:latin typeface="微软雅黑" pitchFamily="34" charset="-122"/>
                <a:ea typeface="微软雅黑" pitchFamily="34" charset="-122"/>
              </a:rPr>
              <a:t>: </a:t>
            </a:r>
            <a:r>
              <a:rPr lang="zh-CN" altLang="en-US" sz="2800" dirty="0" smtClean="0">
                <a:latin typeface="微软雅黑" pitchFamily="34" charset="-122"/>
                <a:ea typeface="微软雅黑" pitchFamily="34" charset="-122"/>
              </a:rPr>
              <a:t>计算机中普遍使用的三种类型的数值数据（定点数、浮点数、压缩十进制数）。</a:t>
            </a:r>
          </a:p>
          <a:p>
            <a:pPr lvl="1" eaLnBrk="1" hangingPunct="1">
              <a:lnSpc>
                <a:spcPct val="120000"/>
              </a:lnSpc>
              <a:spcBef>
                <a:spcPts val="0"/>
              </a:spcBef>
            </a:pPr>
            <a:r>
              <a:rPr lang="zh-CN" altLang="en-US" sz="2800" dirty="0" smtClean="0">
                <a:latin typeface="微软雅黑" pitchFamily="34" charset="-122"/>
                <a:ea typeface="微软雅黑" pitchFamily="34" charset="-122"/>
              </a:rPr>
              <a:t>字符数据</a:t>
            </a:r>
            <a:r>
              <a:rPr lang="en-US" altLang="zh-CN" sz="2800" dirty="0" smtClean="0">
                <a:latin typeface="微软雅黑" pitchFamily="34" charset="-122"/>
                <a:ea typeface="微软雅黑" pitchFamily="34" charset="-122"/>
              </a:rPr>
              <a:t>: </a:t>
            </a:r>
            <a:r>
              <a:rPr lang="zh-CN" altLang="en-US" sz="2800" dirty="0" smtClean="0">
                <a:latin typeface="微软雅黑" pitchFamily="34" charset="-122"/>
                <a:ea typeface="微软雅黑" pitchFamily="34" charset="-122"/>
              </a:rPr>
              <a:t>文本数据或字符串，目前广泛使用</a:t>
            </a:r>
            <a:r>
              <a:rPr lang="en-US" altLang="zh-CN" sz="2800" dirty="0" smtClean="0">
                <a:latin typeface="微软雅黑" pitchFamily="34" charset="-122"/>
                <a:ea typeface="微软雅黑" pitchFamily="34" charset="-122"/>
              </a:rPr>
              <a:t>ASCII</a:t>
            </a:r>
            <a:r>
              <a:rPr lang="zh-CN" altLang="en-US" sz="2800" dirty="0" smtClean="0">
                <a:latin typeface="微软雅黑" pitchFamily="34" charset="-122"/>
                <a:ea typeface="微软雅黑" pitchFamily="34" charset="-122"/>
              </a:rPr>
              <a:t>码。</a:t>
            </a:r>
          </a:p>
          <a:p>
            <a:pPr lvl="1" eaLnBrk="1" hangingPunct="1">
              <a:lnSpc>
                <a:spcPct val="120000"/>
              </a:lnSpc>
            </a:pPr>
            <a:r>
              <a:rPr lang="zh-CN" altLang="en-US" sz="2800" dirty="0" smtClean="0">
                <a:latin typeface="微软雅黑" pitchFamily="34" charset="-122"/>
                <a:ea typeface="微软雅黑" pitchFamily="34" charset="-122"/>
              </a:rPr>
              <a:t>逻辑数据</a:t>
            </a:r>
            <a:r>
              <a:rPr lang="en-US" altLang="zh-CN" sz="2800" dirty="0" smtClean="0">
                <a:latin typeface="微软雅黑" pitchFamily="34" charset="-122"/>
                <a:ea typeface="微软雅黑" pitchFamily="34" charset="-122"/>
              </a:rPr>
              <a:t>: </a:t>
            </a:r>
            <a:r>
              <a:rPr lang="zh-CN" altLang="en-US" sz="2800" dirty="0" smtClean="0">
                <a:latin typeface="微软雅黑" pitchFamily="34" charset="-122"/>
                <a:ea typeface="微软雅黑" pitchFamily="34" charset="-122"/>
              </a:rPr>
              <a:t>一个单元中有几位二进制</a:t>
            </a:r>
            <a:r>
              <a:rPr lang="en-US" altLang="zh-CN" sz="2800" dirty="0" smtClean="0">
                <a:latin typeface="微软雅黑" pitchFamily="34" charset="-122"/>
                <a:ea typeface="微软雅黑" pitchFamily="34" charset="-122"/>
              </a:rPr>
              <a:t>bit</a:t>
            </a:r>
            <a:r>
              <a:rPr lang="zh-CN" altLang="en-US" sz="2800" dirty="0" smtClean="0">
                <a:latin typeface="微软雅黑" pitchFamily="34" charset="-122"/>
                <a:ea typeface="微软雅黑" pitchFamily="34" charset="-122"/>
              </a:rPr>
              <a:t>项组成，每个</a:t>
            </a:r>
            <a:r>
              <a:rPr lang="en-US" altLang="zh-CN" sz="2800" dirty="0" smtClean="0">
                <a:latin typeface="微软雅黑" pitchFamily="34" charset="-122"/>
                <a:ea typeface="微软雅黑" pitchFamily="34" charset="-122"/>
              </a:rPr>
              <a:t>bit</a:t>
            </a:r>
            <a:r>
              <a:rPr lang="zh-CN" altLang="en-US" sz="2800" dirty="0" smtClean="0">
                <a:latin typeface="微软雅黑" pitchFamily="34" charset="-122"/>
                <a:ea typeface="微软雅黑" pitchFamily="34" charset="-122"/>
              </a:rPr>
              <a:t>的值可以是</a:t>
            </a:r>
            <a:r>
              <a:rPr lang="en-US" altLang="zh-CN" sz="2800" dirty="0" smtClean="0">
                <a:latin typeface="微软雅黑" pitchFamily="34" charset="-122"/>
                <a:ea typeface="微软雅黑" pitchFamily="34" charset="-122"/>
              </a:rPr>
              <a:t>1</a:t>
            </a:r>
            <a:r>
              <a:rPr lang="zh-CN" altLang="en-US" sz="2800" dirty="0" smtClean="0">
                <a:latin typeface="微软雅黑" pitchFamily="34" charset="-122"/>
                <a:ea typeface="微软雅黑" pitchFamily="34" charset="-122"/>
              </a:rPr>
              <a:t>或</a:t>
            </a:r>
            <a:r>
              <a:rPr lang="en-US" altLang="zh-CN" sz="2800" dirty="0" smtClean="0">
                <a:latin typeface="微软雅黑" pitchFamily="34" charset="-122"/>
                <a:ea typeface="微软雅黑" pitchFamily="34" charset="-122"/>
              </a:rPr>
              <a:t>0</a:t>
            </a:r>
            <a:r>
              <a:rPr lang="zh-CN" altLang="en-US" sz="2800" dirty="0" smtClean="0">
                <a:latin typeface="微软雅黑" pitchFamily="34" charset="-122"/>
                <a:ea typeface="微软雅黑" pitchFamily="34" charset="-122"/>
              </a:rPr>
              <a:t>。当数据以这种方式看待时，称为逻辑性数据。</a:t>
            </a:r>
            <a:r>
              <a:rPr lang="en-US" altLang="zh-CN" sz="2800" dirty="0" smtClean="0">
                <a:latin typeface="微软雅黑" pitchFamily="34" charset="-122"/>
                <a:ea typeface="微软雅黑" pitchFamily="34" charset="-122"/>
              </a:rPr>
              <a:t>……</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E8CB93F-E544-4917-A952-D7FD4B2EB5AA}" type="slidenum">
              <a:rPr lang="en-US" altLang="zh-CN">
                <a:latin typeface="微软雅黑" pitchFamily="34" charset="-122"/>
                <a:ea typeface="微软雅黑" pitchFamily="34" charset="-122"/>
              </a:rPr>
              <a:pPr eaLnBrk="1" hangingPunct="1"/>
              <a:t>21</a:t>
            </a:fld>
            <a:endParaRPr lang="en-US" altLang="zh-CN" dirty="0">
              <a:latin typeface="微软雅黑" pitchFamily="34" charset="-122"/>
              <a:ea typeface="微软雅黑" pitchFamily="34" charset="-122"/>
            </a:endParaRPr>
          </a:p>
        </p:txBody>
      </p:sp>
      <p:sp>
        <p:nvSpPr>
          <p:cNvPr id="26627" name="Rectangle 2"/>
          <p:cNvSpPr>
            <a:spLocks noGrp="1" noChangeArrowheads="1"/>
          </p:cNvSpPr>
          <p:nvPr>
            <p:ph type="title"/>
          </p:nvPr>
        </p:nvSpPr>
        <p:spPr>
          <a:xfrm>
            <a:off x="428596" y="387333"/>
            <a:ext cx="7543800" cy="612775"/>
          </a:xfrm>
        </p:spPr>
        <p:txBody>
          <a:bodyPr/>
          <a:lstStyle/>
          <a:p>
            <a:pPr eaLnBrk="1" hangingPunct="1"/>
            <a:r>
              <a:rPr lang="en-US" altLang="zh-CN" sz="4000" dirty="0" smtClean="0">
                <a:latin typeface="微软雅黑" pitchFamily="34" charset="-122"/>
                <a:ea typeface="微软雅黑" pitchFamily="34" charset="-122"/>
                <a:cs typeface="Times New Roman" pitchFamily="18" charset="0"/>
              </a:rPr>
              <a:t>4.4 </a:t>
            </a:r>
            <a:r>
              <a:rPr lang="zh-CN" altLang="en-US" sz="4000" dirty="0" smtClean="0">
                <a:latin typeface="微软雅黑" pitchFamily="34" charset="-122"/>
                <a:ea typeface="微软雅黑" pitchFamily="34" charset="-122"/>
              </a:rPr>
              <a:t>指令和数据的寻址方式</a:t>
            </a:r>
          </a:p>
        </p:txBody>
      </p:sp>
      <p:sp>
        <p:nvSpPr>
          <p:cNvPr id="26628" name="Rectangle 4"/>
          <p:cNvSpPr>
            <a:spLocks noChangeArrowheads="1"/>
          </p:cNvSpPr>
          <p:nvPr/>
        </p:nvSpPr>
        <p:spPr bwMode="auto">
          <a:xfrm>
            <a:off x="323850" y="1196975"/>
            <a:ext cx="8280400" cy="544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buClr>
                <a:schemeClr val="tx2"/>
              </a:buClr>
              <a:buSzPct val="70000"/>
              <a:buFont typeface="Wingdings" pitchFamily="2" charset="2"/>
              <a:buNone/>
            </a:pPr>
            <a:r>
              <a:rPr lang="en-US" altLang="zh-CN" sz="3200" dirty="0">
                <a:latin typeface="微软雅黑" pitchFamily="34" charset="-122"/>
                <a:ea typeface="微软雅黑" pitchFamily="34" charset="-122"/>
              </a:rPr>
              <a:t>    </a:t>
            </a:r>
            <a:r>
              <a:rPr lang="zh-CN" altLang="en-US" sz="2800" dirty="0">
                <a:latin typeface="微软雅黑" pitchFamily="34" charset="-122"/>
                <a:ea typeface="微软雅黑" pitchFamily="34" charset="-122"/>
              </a:rPr>
              <a:t>某个操作数或某条指令存放在某个存储单元时其存储单元的编号，就是操作数或指令在存储器中的地址。</a:t>
            </a:r>
          </a:p>
          <a:p>
            <a:pPr>
              <a:spcBef>
                <a:spcPct val="20000"/>
              </a:spcBef>
              <a:buClr>
                <a:schemeClr val="tx2"/>
              </a:buClr>
              <a:buSzPct val="70000"/>
              <a:buFont typeface="Wingdings" pitchFamily="2" charset="2"/>
              <a:buNone/>
            </a:pPr>
            <a:r>
              <a:rPr lang="zh-CN" altLang="en-US" sz="2800" dirty="0">
                <a:latin typeface="微软雅黑" pitchFamily="34" charset="-122"/>
                <a:ea typeface="微软雅黑" pitchFamily="34" charset="-122"/>
              </a:rPr>
              <a:t>    在存储器中，操作数或指令字写入或读出的方式，有地址指定方式、相联存储方式和堆栈存取方式。当采用地址指定方式时，形成操作数或指令地址的方式，称为寻址方式，即指</a:t>
            </a:r>
            <a:r>
              <a:rPr lang="en-US" altLang="zh-CN" sz="2800" dirty="0">
                <a:latin typeface="微软雅黑" pitchFamily="34" charset="-122"/>
                <a:ea typeface="微软雅黑" pitchFamily="34" charset="-122"/>
              </a:rPr>
              <a:t>CPU</a:t>
            </a:r>
            <a:r>
              <a:rPr lang="zh-CN" altLang="en-US" sz="2800" dirty="0">
                <a:latin typeface="微软雅黑" pitchFamily="34" charset="-122"/>
                <a:ea typeface="微软雅黑" pitchFamily="34" charset="-122"/>
              </a:rPr>
              <a:t>根据指令中给出的地址码字段寻找相应的操作数的方式，它与计算机硬件结构紧密相关，而且对指令的格式和功能有很大的影响。</a:t>
            </a:r>
          </a:p>
          <a:p>
            <a:pPr>
              <a:spcBef>
                <a:spcPct val="20000"/>
              </a:spcBef>
              <a:buClr>
                <a:schemeClr val="tx2"/>
              </a:buClr>
              <a:buSzPct val="70000"/>
              <a:buFont typeface="Wingdings" pitchFamily="2" charset="2"/>
              <a:buNone/>
            </a:pPr>
            <a:r>
              <a:rPr lang="zh-CN" altLang="en-US" sz="2800" dirty="0">
                <a:latin typeface="微软雅黑" pitchFamily="34" charset="-122"/>
                <a:ea typeface="微软雅黑" pitchFamily="34" charset="-122"/>
              </a:rPr>
              <a:t>    寻址方式分为两类，既指令寻址方式和数据寻址方式，前者比较简单，后者比较复杂。</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16322CF-A742-466E-A1A9-A9F1C8BB26E5}" type="slidenum">
              <a:rPr lang="en-US" altLang="zh-CN">
                <a:latin typeface="微软雅黑" pitchFamily="34" charset="-122"/>
                <a:ea typeface="微软雅黑" pitchFamily="34" charset="-122"/>
              </a:rPr>
              <a:pPr eaLnBrk="1" hangingPunct="1"/>
              <a:t>22</a:t>
            </a:fld>
            <a:endParaRPr lang="en-US" altLang="zh-CN" dirty="0">
              <a:latin typeface="微软雅黑" pitchFamily="34" charset="-122"/>
              <a:ea typeface="微软雅黑" pitchFamily="34" charset="-122"/>
            </a:endParaRPr>
          </a:p>
        </p:txBody>
      </p:sp>
      <p:sp>
        <p:nvSpPr>
          <p:cNvPr id="27651" name="Rectangle 2"/>
          <p:cNvSpPr>
            <a:spLocks noGrp="1" noChangeArrowheads="1"/>
          </p:cNvSpPr>
          <p:nvPr>
            <p:ph type="title"/>
          </p:nvPr>
        </p:nvSpPr>
        <p:spPr>
          <a:xfrm>
            <a:off x="457200" y="223838"/>
            <a:ext cx="7543800" cy="757237"/>
          </a:xfrm>
        </p:spPr>
        <p:txBody>
          <a:bodyPr/>
          <a:lstStyle/>
          <a:p>
            <a:pPr eaLnBrk="1" hangingPunct="1"/>
            <a:r>
              <a:rPr lang="en-US" altLang="zh-CN" sz="3500" dirty="0" smtClean="0">
                <a:latin typeface="微软雅黑" pitchFamily="34" charset="-122"/>
                <a:ea typeface="微软雅黑" pitchFamily="34" charset="-122"/>
                <a:cs typeface="Times New Roman" pitchFamily="18" charset="0"/>
              </a:rPr>
              <a:t>4.4.1 </a:t>
            </a:r>
            <a:r>
              <a:rPr lang="zh-CN" altLang="en-US" sz="3500" smtClean="0">
                <a:latin typeface="微软雅黑" pitchFamily="34" charset="-122"/>
                <a:ea typeface="微软雅黑" pitchFamily="34" charset="-122"/>
              </a:rPr>
              <a:t>指令的寻址方式</a:t>
            </a:r>
          </a:p>
        </p:txBody>
      </p:sp>
      <p:pic>
        <p:nvPicPr>
          <p:cNvPr id="27652" name="Picture 4" descr="4a1">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268413"/>
            <a:ext cx="8893175" cy="475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F4DDE21-737A-4EF4-B9DB-3E8D0A6C347D}" type="slidenum">
              <a:rPr lang="en-US" altLang="zh-CN">
                <a:latin typeface="微软雅黑" pitchFamily="34" charset="-122"/>
                <a:ea typeface="微软雅黑" pitchFamily="34" charset="-122"/>
              </a:rPr>
              <a:pPr eaLnBrk="1" hangingPunct="1"/>
              <a:t>23</a:t>
            </a:fld>
            <a:endParaRPr lang="en-US" altLang="zh-CN" dirty="0">
              <a:latin typeface="微软雅黑" pitchFamily="34" charset="-122"/>
              <a:ea typeface="微软雅黑" pitchFamily="34" charset="-122"/>
            </a:endParaRPr>
          </a:p>
        </p:txBody>
      </p:sp>
      <p:sp>
        <p:nvSpPr>
          <p:cNvPr id="28675" name="Rectangle 2"/>
          <p:cNvSpPr>
            <a:spLocks noGrp="1" noChangeArrowheads="1"/>
          </p:cNvSpPr>
          <p:nvPr>
            <p:ph type="title"/>
          </p:nvPr>
        </p:nvSpPr>
        <p:spPr>
          <a:xfrm>
            <a:off x="468313" y="265135"/>
            <a:ext cx="7543800" cy="642938"/>
          </a:xfrm>
        </p:spPr>
        <p:txBody>
          <a:bodyPr/>
          <a:lstStyle/>
          <a:p>
            <a:pPr eaLnBrk="1" hangingPunct="1"/>
            <a:r>
              <a:rPr lang="en-US" altLang="zh-CN" sz="3500" dirty="0" smtClean="0">
                <a:latin typeface="微软雅黑" pitchFamily="34" charset="-122"/>
                <a:ea typeface="微软雅黑" pitchFamily="34" charset="-122"/>
                <a:cs typeface="Times New Roman" pitchFamily="18" charset="0"/>
              </a:rPr>
              <a:t>4.4.2  </a:t>
            </a:r>
            <a:r>
              <a:rPr lang="zh-CN" altLang="en-US" sz="3500" dirty="0" smtClean="0">
                <a:latin typeface="微软雅黑" pitchFamily="34" charset="-122"/>
                <a:ea typeface="微软雅黑" pitchFamily="34" charset="-122"/>
              </a:rPr>
              <a:t>操作数的寻址方式</a:t>
            </a:r>
          </a:p>
        </p:txBody>
      </p:sp>
      <p:sp>
        <p:nvSpPr>
          <p:cNvPr id="28676" name="Rectangle 3"/>
          <p:cNvSpPr>
            <a:spLocks noGrp="1" noChangeArrowheads="1"/>
          </p:cNvSpPr>
          <p:nvPr>
            <p:ph type="body" idx="1"/>
          </p:nvPr>
        </p:nvSpPr>
        <p:spPr>
          <a:xfrm>
            <a:off x="395288" y="1016354"/>
            <a:ext cx="8137525" cy="5725014"/>
          </a:xfrm>
        </p:spPr>
        <p:txBody>
          <a:bodyPr/>
          <a:lstStyle/>
          <a:p>
            <a:pPr eaLnBrk="1" hangingPunct="1">
              <a:lnSpc>
                <a:spcPct val="120000"/>
              </a:lnSpc>
              <a:spcBef>
                <a:spcPts val="0"/>
              </a:spcBef>
              <a:buFont typeface="Wingdings" pitchFamily="2" charset="2"/>
              <a:buChar char="u"/>
            </a:pPr>
            <a:r>
              <a:rPr lang="zh-CN" altLang="en-US" sz="2800" dirty="0" smtClean="0">
                <a:latin typeface="微软雅黑" pitchFamily="34" charset="-122"/>
                <a:ea typeface="微软雅黑" pitchFamily="34" charset="-122"/>
              </a:rPr>
              <a:t>操作数的寻址方式：形成操作数</a:t>
            </a:r>
            <a:r>
              <a:rPr lang="zh-CN" altLang="en-US" sz="28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有效地址</a:t>
            </a:r>
            <a:r>
              <a:rPr lang="zh-CN" altLang="en-US" sz="2800" dirty="0" smtClean="0">
                <a:latin typeface="微软雅黑" pitchFamily="34" charset="-122"/>
                <a:ea typeface="微软雅黑" pitchFamily="34" charset="-122"/>
              </a:rPr>
              <a:t>的</a:t>
            </a:r>
            <a:endParaRPr lang="en-US" altLang="zh-CN" sz="2800" dirty="0" smtClean="0">
              <a:latin typeface="微软雅黑" pitchFamily="34" charset="-122"/>
              <a:ea typeface="微软雅黑" pitchFamily="34" charset="-122"/>
            </a:endParaRPr>
          </a:p>
          <a:p>
            <a:pPr marL="0" indent="0" eaLnBrk="1" hangingPunct="1">
              <a:lnSpc>
                <a:spcPct val="120000"/>
              </a:lnSpc>
              <a:spcBef>
                <a:spcPts val="0"/>
              </a:spcBef>
              <a:buNone/>
            </a:pPr>
            <a:r>
              <a:rPr lang="en-US" altLang="zh-CN" sz="2800" dirty="0">
                <a:latin typeface="微软雅黑" pitchFamily="34" charset="-122"/>
                <a:ea typeface="微软雅黑" pitchFamily="34" charset="-122"/>
              </a:rPr>
              <a:t> </a:t>
            </a:r>
            <a:r>
              <a:rPr lang="en-US" altLang="zh-CN" sz="2800" dirty="0" smtClean="0">
                <a:latin typeface="微软雅黑" pitchFamily="34" charset="-122"/>
                <a:ea typeface="微软雅黑" pitchFamily="34" charset="-122"/>
              </a:rPr>
              <a:t>                                </a:t>
            </a:r>
            <a:r>
              <a:rPr lang="zh-CN" altLang="en-US" sz="2800" dirty="0" smtClean="0">
                <a:latin typeface="微软雅黑" pitchFamily="34" charset="-122"/>
                <a:ea typeface="微软雅黑" pitchFamily="34" charset="-122"/>
              </a:rPr>
              <a:t>方法，称为寻址方式。</a:t>
            </a:r>
            <a:endParaRPr lang="en-US" altLang="zh-CN" sz="2800" dirty="0" smtClean="0">
              <a:latin typeface="微软雅黑" pitchFamily="34" charset="-122"/>
              <a:ea typeface="微软雅黑" pitchFamily="34" charset="-122"/>
            </a:endParaRPr>
          </a:p>
          <a:p>
            <a:pPr eaLnBrk="1" hangingPunct="1">
              <a:lnSpc>
                <a:spcPct val="120000"/>
              </a:lnSpc>
              <a:spcBef>
                <a:spcPts val="0"/>
              </a:spcBef>
              <a:buFont typeface="Wingdings" pitchFamily="2" charset="2"/>
              <a:buChar char="u"/>
            </a:pPr>
            <a:r>
              <a:rPr lang="zh-CN" altLang="en-US" sz="2800" dirty="0" smtClean="0">
                <a:latin typeface="微软雅黑" pitchFamily="34" charset="-122"/>
                <a:ea typeface="微软雅黑" pitchFamily="34" charset="-122"/>
              </a:rPr>
              <a:t>操作数通常放在哪儿呢？</a:t>
            </a:r>
          </a:p>
          <a:p>
            <a:pPr marL="344487" lvl="1" indent="0" eaLnBrk="1" hangingPunct="1">
              <a:lnSpc>
                <a:spcPct val="120000"/>
              </a:lnSpc>
              <a:spcBef>
                <a:spcPts val="0"/>
              </a:spcBef>
              <a:buNone/>
            </a:pPr>
            <a:r>
              <a:rPr lang="zh-CN" altLang="en-US" sz="2800" dirty="0" smtClean="0">
                <a:latin typeface="微软雅黑" pitchFamily="34" charset="-122"/>
                <a:ea typeface="微软雅黑" pitchFamily="34" charset="-122"/>
              </a:rPr>
              <a:t>操作数包含在指令中；</a:t>
            </a:r>
          </a:p>
          <a:p>
            <a:pPr marL="0" indent="0" eaLnBrk="1" hangingPunct="1">
              <a:lnSpc>
                <a:spcPct val="120000"/>
              </a:lnSpc>
              <a:spcBef>
                <a:spcPts val="0"/>
              </a:spcBef>
              <a:buNone/>
            </a:pPr>
            <a:r>
              <a:rPr lang="zh-CN" altLang="en-US" sz="2800" dirty="0" smtClean="0">
                <a:latin typeface="微软雅黑" pitchFamily="34" charset="-122"/>
                <a:ea typeface="微软雅黑" pitchFamily="34" charset="-122"/>
              </a:rPr>
              <a:t>   操作数包含在</a:t>
            </a:r>
            <a:r>
              <a:rPr lang="en-US" altLang="zh-CN" sz="2800" dirty="0" smtClean="0">
                <a:latin typeface="微软雅黑" pitchFamily="34" charset="-122"/>
                <a:ea typeface="微软雅黑" pitchFamily="34" charset="-122"/>
              </a:rPr>
              <a:t>CPU</a:t>
            </a:r>
            <a:r>
              <a:rPr lang="zh-CN" altLang="en-US" sz="2800" dirty="0" smtClean="0">
                <a:latin typeface="微软雅黑" pitchFamily="34" charset="-122"/>
                <a:ea typeface="微软雅黑" pitchFamily="34" charset="-122"/>
              </a:rPr>
              <a:t>的某一个内部寄存器中；</a:t>
            </a:r>
          </a:p>
          <a:p>
            <a:pPr marL="0" indent="0" eaLnBrk="1" hangingPunct="1">
              <a:lnSpc>
                <a:spcPct val="120000"/>
              </a:lnSpc>
              <a:spcBef>
                <a:spcPts val="0"/>
              </a:spcBef>
              <a:buNone/>
            </a:pPr>
            <a:r>
              <a:rPr lang="zh-CN" altLang="en-US" sz="2800" dirty="0" smtClean="0">
                <a:latin typeface="微软雅黑" pitchFamily="34" charset="-122"/>
                <a:ea typeface="微软雅黑" pitchFamily="34" charset="-122"/>
              </a:rPr>
              <a:t>   操作数包含在主存储器中；</a:t>
            </a:r>
          </a:p>
          <a:p>
            <a:pPr marL="0" indent="0" eaLnBrk="1" hangingPunct="1">
              <a:lnSpc>
                <a:spcPct val="120000"/>
              </a:lnSpc>
              <a:spcBef>
                <a:spcPts val="0"/>
              </a:spcBef>
              <a:buNone/>
            </a:pPr>
            <a:r>
              <a:rPr lang="zh-CN" altLang="en-US" sz="2800" dirty="0" smtClean="0">
                <a:latin typeface="微软雅黑" pitchFamily="34" charset="-122"/>
                <a:ea typeface="微软雅黑" pitchFamily="34" charset="-122"/>
              </a:rPr>
              <a:t>   操作数包含在</a:t>
            </a:r>
            <a:r>
              <a:rPr lang="en-US" altLang="zh-CN" sz="2800" dirty="0" smtClean="0">
                <a:latin typeface="微软雅黑" pitchFamily="34" charset="-122"/>
                <a:ea typeface="微软雅黑" pitchFamily="34" charset="-122"/>
              </a:rPr>
              <a:t>I/O</a:t>
            </a:r>
            <a:r>
              <a:rPr lang="zh-CN" altLang="en-US" sz="2800" dirty="0" smtClean="0">
                <a:latin typeface="微软雅黑" pitchFamily="34" charset="-122"/>
                <a:ea typeface="微软雅黑" pitchFamily="34" charset="-122"/>
              </a:rPr>
              <a:t>设备的端口中</a:t>
            </a:r>
          </a:p>
          <a:p>
            <a:pPr eaLnBrk="1" hangingPunct="1">
              <a:lnSpc>
                <a:spcPct val="120000"/>
              </a:lnSpc>
              <a:spcBef>
                <a:spcPts val="0"/>
              </a:spcBef>
              <a:buFont typeface="Wingdings" pitchFamily="2" charset="2"/>
              <a:buChar char="u"/>
            </a:pPr>
            <a:r>
              <a:rPr lang="zh-CN" altLang="en-US" sz="2800" dirty="0" smtClean="0">
                <a:latin typeface="微软雅黑" pitchFamily="34" charset="-122"/>
                <a:ea typeface="微软雅黑" pitchFamily="34" charset="-122"/>
              </a:rPr>
              <a:t>根据操作数放在不同的地方，从而派生各种不同的寻址方式，往往不同的计算机具有不同的寻址方式。寻址过程就是把操作数的形式地址变换为操作数有效地址的过程。</a:t>
            </a:r>
          </a:p>
        </p:txBody>
      </p:sp>
      <p:sp>
        <p:nvSpPr>
          <p:cNvPr id="28677" name="Rectangle 4"/>
          <p:cNvSpPr>
            <a:spLocks noChangeArrowheads="1"/>
          </p:cNvSpPr>
          <p:nvPr/>
        </p:nvSpPr>
        <p:spPr bwMode="auto">
          <a:xfrm>
            <a:off x="395288" y="4076700"/>
            <a:ext cx="8229600" cy="318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Clr>
                <a:schemeClr val="tx2"/>
              </a:buClr>
              <a:buSzPct val="70000"/>
              <a:buFont typeface="Wingdings" pitchFamily="2" charset="2"/>
              <a:buChar char="l"/>
            </a:pPr>
            <a:endParaRPr lang="zh-CN" altLang="zh-CN" sz="300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BF561A3-FF41-4230-8C8B-F136CF736442}" type="slidenum">
              <a:rPr lang="en-US" altLang="zh-CN"/>
              <a:pPr eaLnBrk="1" hangingPunct="1"/>
              <a:t>24</a:t>
            </a:fld>
            <a:endParaRPr lang="en-US" altLang="zh-CN" dirty="0"/>
          </a:p>
        </p:txBody>
      </p:sp>
      <p:pic>
        <p:nvPicPr>
          <p:cNvPr id="29699" name="Picture 2" descr="4a2">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5536" y="484370"/>
            <a:ext cx="7488832" cy="6070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9389AC5-DEE6-4A4E-8408-C4B95BC2BA27}" type="slidenum">
              <a:rPr lang="en-US" altLang="zh-CN" sz="2800">
                <a:latin typeface="微软雅黑" pitchFamily="34" charset="-122"/>
                <a:ea typeface="微软雅黑" pitchFamily="34" charset="-122"/>
              </a:rPr>
              <a:pPr eaLnBrk="1" hangingPunct="1"/>
              <a:t>25</a:t>
            </a:fld>
            <a:endParaRPr lang="en-US" altLang="zh-CN" sz="2800" dirty="0">
              <a:latin typeface="微软雅黑" pitchFamily="34" charset="-122"/>
              <a:ea typeface="微软雅黑" pitchFamily="34" charset="-122"/>
            </a:endParaRPr>
          </a:p>
        </p:txBody>
      </p:sp>
      <p:sp>
        <p:nvSpPr>
          <p:cNvPr id="30723" name="Rectangle 2"/>
          <p:cNvSpPr>
            <a:spLocks noGrp="1" noChangeArrowheads="1"/>
          </p:cNvSpPr>
          <p:nvPr>
            <p:ph type="title"/>
          </p:nvPr>
        </p:nvSpPr>
        <p:spPr>
          <a:xfrm>
            <a:off x="457200" y="571480"/>
            <a:ext cx="7543800" cy="846158"/>
          </a:xfrm>
        </p:spPr>
        <p:txBody>
          <a:bodyPr/>
          <a:lstStyle/>
          <a:p>
            <a:pPr eaLnBrk="1" hangingPunct="1"/>
            <a:r>
              <a:rPr lang="en-US" altLang="zh-CN" sz="3600" dirty="0" smtClean="0">
                <a:latin typeface="微软雅黑" pitchFamily="34" charset="-122"/>
                <a:ea typeface="微软雅黑" pitchFamily="34" charset="-122"/>
              </a:rPr>
              <a:t>1</a:t>
            </a:r>
            <a:r>
              <a:rPr lang="zh-CN" altLang="en-US" sz="3600" dirty="0" smtClean="0">
                <a:latin typeface="微软雅黑" pitchFamily="34" charset="-122"/>
                <a:ea typeface="微软雅黑" pitchFamily="34" charset="-122"/>
              </a:rPr>
              <a:t>、隐含寻址</a:t>
            </a:r>
          </a:p>
        </p:txBody>
      </p:sp>
      <p:sp>
        <p:nvSpPr>
          <p:cNvPr id="30724" name="Rectangle 3"/>
          <p:cNvSpPr>
            <a:spLocks noGrp="1" noChangeArrowheads="1"/>
          </p:cNvSpPr>
          <p:nvPr>
            <p:ph type="body" idx="1"/>
          </p:nvPr>
        </p:nvSpPr>
        <p:spPr>
          <a:xfrm>
            <a:off x="285720" y="1719263"/>
            <a:ext cx="8572560" cy="4411662"/>
          </a:xfrm>
        </p:spPr>
        <p:txBody>
          <a:bodyPr/>
          <a:lstStyle/>
          <a:p>
            <a:pPr eaLnBrk="1" hangingPunct="1">
              <a:lnSpc>
                <a:spcPct val="150000"/>
              </a:lnSpc>
              <a:spcBef>
                <a:spcPts val="0"/>
              </a:spcBef>
            </a:pPr>
            <a:r>
              <a:rPr lang="zh-CN" altLang="en-US" sz="2800" dirty="0" smtClean="0">
                <a:latin typeface="微软雅黑" pitchFamily="34" charset="-122"/>
                <a:ea typeface="微软雅黑" pitchFamily="34" charset="-122"/>
              </a:rPr>
              <a:t>指令中隐含着操作数的地址</a:t>
            </a:r>
          </a:p>
          <a:p>
            <a:pPr eaLnBrk="1" hangingPunct="1">
              <a:lnSpc>
                <a:spcPct val="150000"/>
              </a:lnSpc>
              <a:spcBef>
                <a:spcPts val="0"/>
              </a:spcBef>
            </a:pPr>
            <a:r>
              <a:rPr lang="zh-CN" altLang="en-US" sz="2800" dirty="0" smtClean="0">
                <a:latin typeface="微软雅黑" pitchFamily="34" charset="-122"/>
                <a:ea typeface="微软雅黑" pitchFamily="34" charset="-122"/>
              </a:rPr>
              <a:t>如某些运算，隐含了累加器</a:t>
            </a:r>
            <a:r>
              <a:rPr lang="en-US" altLang="zh-CN" sz="2800" dirty="0" smtClean="0">
                <a:latin typeface="微软雅黑" pitchFamily="34" charset="-122"/>
                <a:ea typeface="微软雅黑" pitchFamily="34" charset="-122"/>
              </a:rPr>
              <a:t>AC</a:t>
            </a:r>
            <a:r>
              <a:rPr lang="zh-CN" altLang="en-US" sz="2800" dirty="0" smtClean="0">
                <a:latin typeface="微软雅黑" pitchFamily="34" charset="-122"/>
                <a:ea typeface="微软雅黑" pitchFamily="34" charset="-122"/>
              </a:rPr>
              <a:t>作为源和目的寄存器</a:t>
            </a:r>
          </a:p>
          <a:p>
            <a:pPr lvl="1" eaLnBrk="1" hangingPunct="1">
              <a:lnSpc>
                <a:spcPct val="150000"/>
              </a:lnSpc>
              <a:spcBef>
                <a:spcPts val="0"/>
              </a:spcBef>
            </a:pPr>
            <a:r>
              <a:rPr lang="zh-CN" altLang="en-US" sz="2800" dirty="0" smtClean="0">
                <a:latin typeface="微软雅黑" pitchFamily="34" charset="-122"/>
                <a:ea typeface="微软雅黑" pitchFamily="34" charset="-122"/>
              </a:rPr>
              <a:t>如</a:t>
            </a:r>
            <a:r>
              <a:rPr lang="en-US" altLang="zh-CN" sz="2800" dirty="0" smtClean="0">
                <a:latin typeface="微软雅黑" pitchFamily="34" charset="-122"/>
                <a:ea typeface="微软雅黑" pitchFamily="34" charset="-122"/>
              </a:rPr>
              <a:t>8086</a:t>
            </a:r>
            <a:r>
              <a:rPr lang="zh-CN" altLang="en-US" sz="2800" dirty="0" smtClean="0">
                <a:latin typeface="微软雅黑" pitchFamily="34" charset="-122"/>
                <a:ea typeface="微软雅黑" pitchFamily="34" charset="-122"/>
              </a:rPr>
              <a:t>汇编中的</a:t>
            </a:r>
            <a:r>
              <a:rPr lang="en-US" altLang="zh-CN" sz="2800" dirty="0" smtClean="0">
                <a:latin typeface="微软雅黑" pitchFamily="34" charset="-122"/>
                <a:ea typeface="微软雅黑" pitchFamily="34" charset="-122"/>
              </a:rPr>
              <a:t>STC</a:t>
            </a:r>
            <a:r>
              <a:rPr lang="zh-CN" altLang="en-US" sz="2800" dirty="0" smtClean="0">
                <a:latin typeface="微软雅黑" pitchFamily="34" charset="-122"/>
                <a:ea typeface="微软雅黑" pitchFamily="34" charset="-122"/>
              </a:rPr>
              <a:t>指令，设置标志寄存器的</a:t>
            </a:r>
            <a:r>
              <a:rPr lang="en-US" altLang="zh-CN" sz="2800" dirty="0" smtClean="0">
                <a:latin typeface="微软雅黑" pitchFamily="34" charset="-122"/>
                <a:ea typeface="微软雅黑" pitchFamily="34" charset="-122"/>
              </a:rPr>
              <a:t>C</a:t>
            </a:r>
            <a:r>
              <a:rPr lang="zh-CN" altLang="en-US" sz="2800" dirty="0" smtClean="0">
                <a:latin typeface="微软雅黑" pitchFamily="34" charset="-122"/>
                <a:ea typeface="微软雅黑" pitchFamily="34" charset="-122"/>
              </a:rPr>
              <a:t>为</a:t>
            </a:r>
            <a:r>
              <a:rPr lang="en-US" altLang="zh-CN" sz="2800" dirty="0" smtClean="0">
                <a:latin typeface="微软雅黑" pitchFamily="34" charset="-122"/>
                <a:ea typeface="微软雅黑" pitchFamily="34" charset="-122"/>
              </a:rPr>
              <a:t>1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920" y="4077072"/>
            <a:ext cx="2808312" cy="1998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a:spLocks noGrp="1"/>
          </p:cNvSpPr>
          <p:nvPr>
            <p:ph type="sldNum" sz="quarter" idx="12"/>
          </p:nvPr>
        </p:nvSpPr>
        <p:spPr>
          <a:xfrm>
            <a:off x="6553200" y="6085929"/>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3CC8E81-7EAD-4CF3-BC25-C086B3874CF1}" type="slidenum">
              <a:rPr lang="en-US" altLang="zh-CN">
                <a:latin typeface="微软雅黑" pitchFamily="34" charset="-122"/>
                <a:ea typeface="微软雅黑" pitchFamily="34" charset="-122"/>
              </a:rPr>
              <a:pPr eaLnBrk="1" hangingPunct="1"/>
              <a:t>26</a:t>
            </a:fld>
            <a:endParaRPr lang="en-US" altLang="zh-CN" dirty="0">
              <a:latin typeface="微软雅黑" pitchFamily="34" charset="-122"/>
              <a:ea typeface="微软雅黑" pitchFamily="34" charset="-122"/>
            </a:endParaRPr>
          </a:p>
        </p:txBody>
      </p:sp>
      <p:sp>
        <p:nvSpPr>
          <p:cNvPr id="31747" name="Rectangle 2"/>
          <p:cNvSpPr>
            <a:spLocks noGrp="1" noChangeArrowheads="1"/>
          </p:cNvSpPr>
          <p:nvPr>
            <p:ph type="title"/>
          </p:nvPr>
        </p:nvSpPr>
        <p:spPr>
          <a:xfrm>
            <a:off x="457200" y="223838"/>
            <a:ext cx="7543800" cy="900906"/>
          </a:xfrm>
        </p:spPr>
        <p:txBody>
          <a:bodyPr/>
          <a:lstStyle/>
          <a:p>
            <a:pPr eaLnBrk="1" hangingPunct="1"/>
            <a:r>
              <a:rPr lang="en-US" altLang="zh-CN" sz="3500" dirty="0" smtClean="0">
                <a:latin typeface="微软雅黑" pitchFamily="34" charset="-122"/>
                <a:ea typeface="微软雅黑" pitchFamily="34" charset="-122"/>
              </a:rPr>
              <a:t>2</a:t>
            </a:r>
            <a:r>
              <a:rPr lang="zh-CN" altLang="en-US" sz="3500" dirty="0" smtClean="0">
                <a:latin typeface="微软雅黑" pitchFamily="34" charset="-122"/>
                <a:ea typeface="微软雅黑" pitchFamily="34" charset="-122"/>
              </a:rPr>
              <a:t>、立即寻址</a:t>
            </a:r>
          </a:p>
        </p:txBody>
      </p:sp>
      <p:sp>
        <p:nvSpPr>
          <p:cNvPr id="31748" name="Rectangle 3"/>
          <p:cNvSpPr>
            <a:spLocks noGrp="1" noChangeArrowheads="1"/>
          </p:cNvSpPr>
          <p:nvPr>
            <p:ph type="body" idx="1"/>
          </p:nvPr>
        </p:nvSpPr>
        <p:spPr>
          <a:xfrm>
            <a:off x="457200" y="1556792"/>
            <a:ext cx="8229600" cy="4281505"/>
          </a:xfrm>
        </p:spPr>
        <p:txBody>
          <a:bodyPr/>
          <a:lstStyle/>
          <a:p>
            <a:pPr eaLnBrk="1" hangingPunct="1">
              <a:lnSpc>
                <a:spcPct val="130000"/>
              </a:lnSpc>
              <a:spcBef>
                <a:spcPts val="0"/>
              </a:spcBef>
            </a:pPr>
            <a:r>
              <a:rPr lang="zh-CN" altLang="en-US" sz="2800" dirty="0" smtClean="0">
                <a:latin typeface="微软雅黑" pitchFamily="34" charset="-122"/>
                <a:ea typeface="微软雅黑" pitchFamily="34" charset="-122"/>
              </a:rPr>
              <a:t>立即寻址是一种特殊的寻址方式，指令中在操作码字段后面的部分不是通常意义上的操作数地址，而是操作数本身，也就是说数据就包含在指令中，只要取出指令，就取出了可以立即使用的操作数，因此，这样的操作数被称为立即数。</a:t>
            </a:r>
          </a:p>
          <a:p>
            <a:pPr eaLnBrk="1" hangingPunct="1">
              <a:lnSpc>
                <a:spcPct val="130000"/>
              </a:lnSpc>
              <a:spcBef>
                <a:spcPts val="0"/>
              </a:spcBef>
            </a:pPr>
            <a:r>
              <a:rPr lang="zh-CN" altLang="en-US" sz="2800" dirty="0" smtClean="0">
                <a:latin typeface="微软雅黑" pitchFamily="34" charset="-122"/>
                <a:ea typeface="微软雅黑" pitchFamily="34" charset="-122"/>
              </a:rPr>
              <a:t>指令格式：操作码</a:t>
            </a:r>
            <a:r>
              <a:rPr lang="en-US" altLang="zh-CN" sz="2800" dirty="0" smtClean="0">
                <a:latin typeface="微软雅黑" pitchFamily="34" charset="-122"/>
                <a:ea typeface="微软雅黑" pitchFamily="34" charset="-122"/>
              </a:rPr>
              <a:t>θ  </a:t>
            </a:r>
            <a:r>
              <a:rPr lang="zh-CN" altLang="en-US" sz="2800" dirty="0" smtClean="0">
                <a:latin typeface="微软雅黑" pitchFamily="34" charset="-122"/>
                <a:ea typeface="微软雅黑" pitchFamily="34" charset="-122"/>
              </a:rPr>
              <a:t>操作数</a:t>
            </a:r>
            <a:r>
              <a:rPr lang="en-US" altLang="zh-CN" sz="2800" dirty="0" smtClean="0">
                <a:latin typeface="微软雅黑" pitchFamily="34" charset="-122"/>
                <a:ea typeface="微软雅黑" pitchFamily="34" charset="-122"/>
              </a:rPr>
              <a:t>A </a:t>
            </a:r>
          </a:p>
          <a:p>
            <a:pPr eaLnBrk="1" hangingPunct="1">
              <a:lnSpc>
                <a:spcPct val="130000"/>
              </a:lnSpc>
              <a:spcBef>
                <a:spcPts val="0"/>
              </a:spcBef>
            </a:pPr>
            <a:endParaRPr lang="en-US" altLang="zh-CN" dirty="0" smtClean="0">
              <a:latin typeface="微软雅黑" pitchFamily="34" charset="-122"/>
              <a:ea typeface="微软雅黑" pitchFamily="34" charset="-122"/>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4128" y="4869160"/>
            <a:ext cx="2402601" cy="100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7AFADE1-7485-4688-877E-A550595F16A8}" type="slidenum">
              <a:rPr lang="en-US" altLang="zh-CN">
                <a:latin typeface="微软雅黑" pitchFamily="34" charset="-122"/>
                <a:ea typeface="微软雅黑" pitchFamily="34" charset="-122"/>
              </a:rPr>
              <a:pPr eaLnBrk="1" hangingPunct="1"/>
              <a:t>27</a:t>
            </a:fld>
            <a:endParaRPr lang="en-US" altLang="zh-CN" dirty="0">
              <a:latin typeface="微软雅黑" pitchFamily="34" charset="-122"/>
              <a:ea typeface="微软雅黑" pitchFamily="34" charset="-122"/>
            </a:endParaRPr>
          </a:p>
        </p:txBody>
      </p:sp>
      <p:sp>
        <p:nvSpPr>
          <p:cNvPr id="32771" name="Rectangle 2"/>
          <p:cNvSpPr>
            <a:spLocks noGrp="1" noChangeArrowheads="1"/>
          </p:cNvSpPr>
          <p:nvPr>
            <p:ph type="title"/>
          </p:nvPr>
        </p:nvSpPr>
        <p:spPr>
          <a:xfrm>
            <a:off x="457200" y="122238"/>
            <a:ext cx="7543800" cy="1092184"/>
          </a:xfrm>
        </p:spPr>
        <p:txBody>
          <a:bodyPr/>
          <a:lstStyle/>
          <a:p>
            <a:pPr eaLnBrk="1" hangingPunct="1"/>
            <a:r>
              <a:rPr lang="en-US" altLang="zh-CN" sz="3500" dirty="0" smtClean="0">
                <a:latin typeface="微软雅黑" pitchFamily="34" charset="-122"/>
                <a:ea typeface="微软雅黑" pitchFamily="34" charset="-122"/>
              </a:rPr>
              <a:t>2</a:t>
            </a:r>
            <a:r>
              <a:rPr lang="zh-CN" altLang="en-US" sz="3500" dirty="0" smtClean="0">
                <a:latin typeface="微软雅黑" pitchFamily="34" charset="-122"/>
                <a:ea typeface="微软雅黑" pitchFamily="34" charset="-122"/>
              </a:rPr>
              <a:t>、立即寻址</a:t>
            </a:r>
          </a:p>
        </p:txBody>
      </p:sp>
      <p:sp>
        <p:nvSpPr>
          <p:cNvPr id="32772" name="Rectangle 3"/>
          <p:cNvSpPr>
            <a:spLocks noGrp="1" noChangeArrowheads="1"/>
          </p:cNvSpPr>
          <p:nvPr>
            <p:ph type="body" idx="1"/>
          </p:nvPr>
        </p:nvSpPr>
        <p:spPr>
          <a:xfrm>
            <a:off x="457200" y="1571612"/>
            <a:ext cx="8229600" cy="4429156"/>
          </a:xfrm>
        </p:spPr>
        <p:txBody>
          <a:bodyPr/>
          <a:lstStyle/>
          <a:p>
            <a:pPr eaLnBrk="1" hangingPunct="1">
              <a:lnSpc>
                <a:spcPct val="150000"/>
              </a:lnSpc>
            </a:pPr>
            <a:r>
              <a:rPr lang="zh-CN" altLang="en-US" sz="2600" dirty="0" smtClean="0">
                <a:latin typeface="微软雅黑" pitchFamily="34" charset="-122"/>
                <a:ea typeface="微软雅黑" pitchFamily="34" charset="-122"/>
              </a:rPr>
              <a:t>特点：在取指令时，操作码和操作数被同时取出，不必再次访问存储器，从而提高了指令的执行速度。</a:t>
            </a:r>
          </a:p>
          <a:p>
            <a:pPr eaLnBrk="1" hangingPunct="1">
              <a:lnSpc>
                <a:spcPct val="150000"/>
              </a:lnSpc>
            </a:pPr>
            <a:r>
              <a:rPr lang="zh-CN" altLang="en-US" sz="2600" dirty="0" smtClean="0">
                <a:latin typeface="微软雅黑" pitchFamily="34" charset="-122"/>
                <a:ea typeface="微软雅黑" pitchFamily="34" charset="-122"/>
              </a:rPr>
              <a:t>但是，因为操作数是指令的一部分，不能被修改；</a:t>
            </a:r>
          </a:p>
          <a:p>
            <a:pPr eaLnBrk="1" hangingPunct="1">
              <a:lnSpc>
                <a:spcPct val="150000"/>
              </a:lnSpc>
            </a:pPr>
            <a:r>
              <a:rPr lang="zh-CN" altLang="en-US" sz="2600" dirty="0" smtClean="0">
                <a:latin typeface="微软雅黑" pitchFamily="34" charset="-122"/>
                <a:ea typeface="微软雅黑" pitchFamily="34" charset="-122"/>
              </a:rPr>
              <a:t>而且对于定长指令格式，操作数的大小将受到指令长度的限制，所以这种寻址方式灵活性最差</a:t>
            </a:r>
          </a:p>
          <a:p>
            <a:pPr eaLnBrk="1" hangingPunct="1">
              <a:lnSpc>
                <a:spcPct val="150000"/>
              </a:lnSpc>
            </a:pPr>
            <a:r>
              <a:rPr lang="zh-CN" altLang="en-US" sz="2600" dirty="0" smtClean="0">
                <a:latin typeface="微软雅黑" pitchFamily="34" charset="-122"/>
                <a:ea typeface="微软雅黑" pitchFamily="34" charset="-122"/>
              </a:rPr>
              <a:t>通常用于给某一寄存器或主存单元赋初值，或者用于提供一个常数。</a:t>
            </a:r>
          </a:p>
          <a:p>
            <a:pPr eaLnBrk="1" hangingPunct="1"/>
            <a:endParaRPr lang="en-US" altLang="zh-CN" dirty="0" smtClean="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D24947B-F4A3-43BA-8F2B-BF32FDADD071}" type="slidenum">
              <a:rPr lang="en-US" altLang="zh-CN">
                <a:latin typeface="微软雅黑" pitchFamily="34" charset="-122"/>
                <a:ea typeface="微软雅黑" pitchFamily="34" charset="-122"/>
              </a:rPr>
              <a:pPr eaLnBrk="1" hangingPunct="1"/>
              <a:t>28</a:t>
            </a:fld>
            <a:endParaRPr lang="en-US" altLang="zh-CN" dirty="0">
              <a:latin typeface="微软雅黑" pitchFamily="34" charset="-122"/>
              <a:ea typeface="微软雅黑" pitchFamily="34" charset="-122"/>
            </a:endParaRPr>
          </a:p>
        </p:txBody>
      </p:sp>
      <p:sp>
        <p:nvSpPr>
          <p:cNvPr id="33795" name="Rectangle 2"/>
          <p:cNvSpPr>
            <a:spLocks noGrp="1" noChangeArrowheads="1"/>
          </p:cNvSpPr>
          <p:nvPr>
            <p:ph type="title"/>
          </p:nvPr>
        </p:nvSpPr>
        <p:spPr>
          <a:xfrm>
            <a:off x="457200" y="122238"/>
            <a:ext cx="7543800" cy="1092184"/>
          </a:xfrm>
        </p:spPr>
        <p:txBody>
          <a:bodyPr/>
          <a:lstStyle/>
          <a:p>
            <a:pPr eaLnBrk="1" hangingPunct="1"/>
            <a:r>
              <a:rPr lang="en-US" altLang="zh-CN" sz="3500" dirty="0" smtClean="0">
                <a:latin typeface="微软雅黑" pitchFamily="34" charset="-122"/>
                <a:ea typeface="微软雅黑" pitchFamily="34" charset="-122"/>
                <a:cs typeface="Times New Roman" pitchFamily="18" charset="0"/>
              </a:rPr>
              <a:t>3</a:t>
            </a:r>
            <a:r>
              <a:rPr lang="zh-CN" altLang="en-US" sz="3500" dirty="0" smtClean="0">
                <a:latin typeface="微软雅黑" pitchFamily="34" charset="-122"/>
                <a:ea typeface="微软雅黑" pitchFamily="34" charset="-122"/>
              </a:rPr>
              <a:t>、</a:t>
            </a:r>
            <a:r>
              <a:rPr lang="zh-CN" altLang="en-US" b="0" dirty="0" smtClean="0">
                <a:latin typeface="微软雅黑" pitchFamily="34" charset="-122"/>
                <a:ea typeface="微软雅黑" pitchFamily="34" charset="-122"/>
              </a:rPr>
              <a:t>直接寻址</a:t>
            </a:r>
            <a:endParaRPr lang="zh-CN" altLang="en-US" sz="3500" dirty="0" smtClean="0">
              <a:latin typeface="微软雅黑" pitchFamily="34" charset="-122"/>
              <a:ea typeface="微软雅黑" pitchFamily="34" charset="-122"/>
            </a:endParaRPr>
          </a:p>
        </p:txBody>
      </p:sp>
      <p:sp>
        <p:nvSpPr>
          <p:cNvPr id="33796" name="Rectangle 3"/>
          <p:cNvSpPr>
            <a:spLocks noGrp="1" noChangeArrowheads="1"/>
          </p:cNvSpPr>
          <p:nvPr>
            <p:ph type="body" idx="1"/>
          </p:nvPr>
        </p:nvSpPr>
        <p:spPr>
          <a:xfrm>
            <a:off x="357158" y="1428736"/>
            <a:ext cx="8229600" cy="4411662"/>
          </a:xfrm>
        </p:spPr>
        <p:txBody>
          <a:bodyPr/>
          <a:lstStyle/>
          <a:p>
            <a:pPr eaLnBrk="1" hangingPunct="1">
              <a:lnSpc>
                <a:spcPct val="150000"/>
              </a:lnSpc>
            </a:pPr>
            <a:r>
              <a:rPr lang="en-US" altLang="zh-CN" b="1"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指令中地址码字段给出的地址</a:t>
            </a:r>
            <a:r>
              <a:rPr lang="en-US" altLang="zh-CN" dirty="0" smtClean="0">
                <a:latin typeface="微软雅黑" pitchFamily="34" charset="-122"/>
                <a:ea typeface="微软雅黑" pitchFamily="34" charset="-122"/>
              </a:rPr>
              <a:t>A</a:t>
            </a:r>
            <a:r>
              <a:rPr lang="zh-CN" altLang="en-US" dirty="0" smtClean="0">
                <a:latin typeface="微软雅黑" pitchFamily="34" charset="-122"/>
                <a:ea typeface="微软雅黑" pitchFamily="34" charset="-122"/>
              </a:rPr>
              <a:t>就是操作数的有效地址</a:t>
            </a:r>
            <a:r>
              <a:rPr lang="en-US" altLang="zh-CN" dirty="0" smtClean="0">
                <a:latin typeface="微软雅黑" pitchFamily="34" charset="-122"/>
                <a:ea typeface="微软雅黑" pitchFamily="34" charset="-122"/>
              </a:rPr>
              <a:t>EA(Effective Address)</a:t>
            </a:r>
            <a:r>
              <a:rPr lang="zh-CN" altLang="en-US" dirty="0" smtClean="0">
                <a:latin typeface="微软雅黑" pitchFamily="34" charset="-122"/>
                <a:ea typeface="微软雅黑" pitchFamily="34" charset="-122"/>
              </a:rPr>
              <a:t>，即</a:t>
            </a:r>
            <a:r>
              <a:rPr lang="en-US" altLang="zh-CN" dirty="0" smtClean="0">
                <a:latin typeface="微软雅黑" pitchFamily="34" charset="-122"/>
                <a:ea typeface="微软雅黑" pitchFamily="34" charset="-122"/>
              </a:rPr>
              <a:t>EA</a:t>
            </a:r>
            <a:r>
              <a:rPr lang="zh-CN" altLang="en-US" dirty="0" smtClean="0">
                <a:latin typeface="微软雅黑" pitchFamily="34" charset="-122"/>
                <a:ea typeface="微软雅黑" pitchFamily="34" charset="-122"/>
              </a:rPr>
              <a:t>＝</a:t>
            </a:r>
            <a:r>
              <a:rPr lang="en-US" altLang="zh-CN" dirty="0" smtClean="0">
                <a:latin typeface="微软雅黑" pitchFamily="34" charset="-122"/>
                <a:ea typeface="微软雅黑" pitchFamily="34" charset="-122"/>
              </a:rPr>
              <a:t>A</a:t>
            </a:r>
            <a:r>
              <a:rPr lang="zh-CN" altLang="en-US" dirty="0" smtClean="0">
                <a:latin typeface="微软雅黑" pitchFamily="34" charset="-122"/>
                <a:ea typeface="微软雅黑" pitchFamily="34" charset="-122"/>
              </a:rPr>
              <a:t>。</a:t>
            </a:r>
          </a:p>
          <a:p>
            <a:pPr lvl="1" eaLnBrk="1" hangingPunct="1"/>
            <a:endParaRPr lang="en-US" altLang="zh-CN" dirty="0" smtClean="0">
              <a:latin typeface="微软雅黑" pitchFamily="34" charset="-122"/>
              <a:ea typeface="微软雅黑" pitchFamily="34" charset="-122"/>
            </a:endParaRPr>
          </a:p>
        </p:txBody>
      </p:sp>
      <p:pic>
        <p:nvPicPr>
          <p:cNvPr id="33797" name="Picture 4" descr="jxnr5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10" y="3214686"/>
            <a:ext cx="7572428" cy="3286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FBA1E97-B6E1-4049-AF5F-017D5F0B0E63}" type="slidenum">
              <a:rPr lang="en-US" altLang="zh-CN">
                <a:latin typeface="微软雅黑" pitchFamily="34" charset="-122"/>
                <a:ea typeface="微软雅黑" pitchFamily="34" charset="-122"/>
              </a:rPr>
              <a:pPr eaLnBrk="1" hangingPunct="1"/>
              <a:t>29</a:t>
            </a:fld>
            <a:endParaRPr lang="en-US" altLang="zh-CN" dirty="0">
              <a:latin typeface="微软雅黑" pitchFamily="34" charset="-122"/>
              <a:ea typeface="微软雅黑" pitchFamily="34" charset="-122"/>
            </a:endParaRPr>
          </a:p>
        </p:txBody>
      </p:sp>
      <p:sp>
        <p:nvSpPr>
          <p:cNvPr id="34819" name="Rectangle 2"/>
          <p:cNvSpPr>
            <a:spLocks noGrp="1" noChangeArrowheads="1"/>
          </p:cNvSpPr>
          <p:nvPr>
            <p:ph type="title"/>
          </p:nvPr>
        </p:nvSpPr>
        <p:spPr>
          <a:xfrm>
            <a:off x="457200" y="122238"/>
            <a:ext cx="7543800" cy="949308"/>
          </a:xfrm>
        </p:spPr>
        <p:txBody>
          <a:bodyPr/>
          <a:lstStyle/>
          <a:p>
            <a:pPr eaLnBrk="1" hangingPunct="1"/>
            <a:r>
              <a:rPr lang="en-US" altLang="zh-CN" sz="3500" dirty="0" smtClean="0">
                <a:latin typeface="微软雅黑" pitchFamily="34" charset="-122"/>
                <a:ea typeface="微软雅黑" pitchFamily="34" charset="-122"/>
                <a:cs typeface="Times New Roman" pitchFamily="18" charset="0"/>
              </a:rPr>
              <a:t>3</a:t>
            </a:r>
            <a:r>
              <a:rPr lang="zh-CN" altLang="en-US" sz="3500" dirty="0" smtClean="0">
                <a:latin typeface="微软雅黑" pitchFamily="34" charset="-122"/>
                <a:ea typeface="微软雅黑" pitchFamily="34" charset="-122"/>
              </a:rPr>
              <a:t>、</a:t>
            </a:r>
            <a:r>
              <a:rPr lang="zh-CN" altLang="en-US" b="0" dirty="0" smtClean="0">
                <a:latin typeface="微软雅黑" pitchFamily="34" charset="-122"/>
                <a:ea typeface="微软雅黑" pitchFamily="34" charset="-122"/>
              </a:rPr>
              <a:t>直接寻址</a:t>
            </a:r>
          </a:p>
        </p:txBody>
      </p:sp>
      <p:sp>
        <p:nvSpPr>
          <p:cNvPr id="34820" name="Rectangle 3"/>
          <p:cNvSpPr>
            <a:spLocks noGrp="1" noChangeArrowheads="1"/>
          </p:cNvSpPr>
          <p:nvPr>
            <p:ph type="body" idx="1"/>
          </p:nvPr>
        </p:nvSpPr>
        <p:spPr>
          <a:xfrm>
            <a:off x="285720" y="1142984"/>
            <a:ext cx="8229600" cy="5429288"/>
          </a:xfrm>
        </p:spPr>
        <p:txBody>
          <a:bodyPr/>
          <a:lstStyle/>
          <a:p>
            <a:pPr lvl="1" eaLnBrk="1" hangingPunct="1">
              <a:lnSpc>
                <a:spcPct val="110000"/>
              </a:lnSpc>
            </a:pPr>
            <a:r>
              <a:rPr lang="zh-CN" altLang="en-US" dirty="0" smtClean="0">
                <a:latin typeface="微软雅黑" pitchFamily="34" charset="-122"/>
                <a:ea typeface="微软雅黑" pitchFamily="34" charset="-122"/>
              </a:rPr>
              <a:t>操作数地址是不能修改的，与程序本身所在的位置无关，所以又叫做绝对寻址方式</a:t>
            </a:r>
          </a:p>
          <a:p>
            <a:pPr lvl="1" eaLnBrk="1" hangingPunct="1">
              <a:lnSpc>
                <a:spcPct val="110000"/>
              </a:lnSpc>
            </a:pPr>
            <a:r>
              <a:rPr lang="zh-CN" altLang="en-US" dirty="0" smtClean="0">
                <a:latin typeface="微软雅黑" pitchFamily="34" charset="-122"/>
                <a:ea typeface="微软雅黑" pitchFamily="34" charset="-122"/>
              </a:rPr>
              <a:t>在早期的计算机中，主存储器的容量较小，指令中地址码的位数要求不长，采用直接寻址方式简单快速，也便于硬件实现，因此，常被作为主要的寻址方式。</a:t>
            </a:r>
          </a:p>
          <a:p>
            <a:pPr lvl="1" eaLnBrk="1" hangingPunct="1">
              <a:lnSpc>
                <a:spcPct val="110000"/>
              </a:lnSpc>
            </a:pPr>
            <a:r>
              <a:rPr lang="zh-CN" altLang="en-US" dirty="0" smtClean="0">
                <a:latin typeface="微软雅黑" pitchFamily="34" charset="-122"/>
                <a:ea typeface="微软雅黑" pitchFamily="34" charset="-122"/>
              </a:rPr>
              <a:t>但在现代，随着计算机主存容量的不断扩大，所需的地址码将会越来越长。指令中地址码的位数将不能满足整个主存空间寻址的要求，因此直接寻址方式受到了很大的限制。另外，在指令的执行过程中，为了取得操作数，必须进行访存操作，降低了指令的执行速度。</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6A90895-8D35-4314-BBEA-963C711C4E2A}" type="slidenum">
              <a:rPr lang="en-US" altLang="zh-CN">
                <a:latin typeface="微软雅黑" pitchFamily="34" charset="-122"/>
                <a:ea typeface="微软雅黑" pitchFamily="34" charset="-122"/>
              </a:rPr>
              <a:pPr eaLnBrk="1" hangingPunct="1"/>
              <a:t>30</a:t>
            </a:fld>
            <a:endParaRPr lang="en-US" altLang="zh-CN" dirty="0">
              <a:latin typeface="微软雅黑" pitchFamily="34" charset="-122"/>
              <a:ea typeface="微软雅黑" pitchFamily="34" charset="-122"/>
            </a:endParaRPr>
          </a:p>
        </p:txBody>
      </p:sp>
      <p:sp>
        <p:nvSpPr>
          <p:cNvPr id="35843" name="Rectangle 2"/>
          <p:cNvSpPr>
            <a:spLocks noGrp="1" noChangeArrowheads="1"/>
          </p:cNvSpPr>
          <p:nvPr>
            <p:ph type="title"/>
          </p:nvPr>
        </p:nvSpPr>
        <p:spPr>
          <a:xfrm>
            <a:off x="457200" y="122238"/>
            <a:ext cx="7543800" cy="949308"/>
          </a:xfrm>
        </p:spPr>
        <p:txBody>
          <a:bodyPr/>
          <a:lstStyle/>
          <a:p>
            <a:pPr eaLnBrk="1" hangingPunct="1"/>
            <a:r>
              <a:rPr lang="en-US" altLang="zh-CN" sz="3500" dirty="0" smtClean="0">
                <a:latin typeface="微软雅黑" pitchFamily="34" charset="-122"/>
                <a:ea typeface="微软雅黑" pitchFamily="34" charset="-122"/>
                <a:cs typeface="Times New Roman" pitchFamily="18" charset="0"/>
              </a:rPr>
              <a:t>4</a:t>
            </a:r>
            <a:r>
              <a:rPr lang="zh-CN" altLang="en-US" sz="3500" dirty="0" smtClean="0">
                <a:latin typeface="微软雅黑" pitchFamily="34" charset="-122"/>
                <a:ea typeface="微软雅黑" pitchFamily="34" charset="-122"/>
              </a:rPr>
              <a:t>、</a:t>
            </a:r>
            <a:r>
              <a:rPr lang="zh-CN" altLang="en-US" b="0" dirty="0" smtClean="0">
                <a:latin typeface="微软雅黑" pitchFamily="34" charset="-122"/>
                <a:ea typeface="微软雅黑" pitchFamily="34" charset="-122"/>
              </a:rPr>
              <a:t>间接寻址</a:t>
            </a:r>
            <a:endParaRPr lang="zh-CN" altLang="en-US" sz="3500" dirty="0" smtClean="0">
              <a:latin typeface="微软雅黑" pitchFamily="34" charset="-122"/>
              <a:ea typeface="微软雅黑" pitchFamily="34" charset="-122"/>
            </a:endParaRPr>
          </a:p>
        </p:txBody>
      </p:sp>
      <p:sp>
        <p:nvSpPr>
          <p:cNvPr id="35844" name="Rectangle 3"/>
          <p:cNvSpPr>
            <a:spLocks noGrp="1" noChangeArrowheads="1"/>
          </p:cNvSpPr>
          <p:nvPr>
            <p:ph type="body" idx="1"/>
          </p:nvPr>
        </p:nvSpPr>
        <p:spPr>
          <a:xfrm>
            <a:off x="428596" y="1142984"/>
            <a:ext cx="7848600" cy="2571768"/>
          </a:xfrm>
        </p:spPr>
        <p:txBody>
          <a:bodyPr/>
          <a:lstStyle/>
          <a:p>
            <a:pPr eaLnBrk="1" hangingPunct="1">
              <a:lnSpc>
                <a:spcPct val="110000"/>
              </a:lnSpc>
            </a:pPr>
            <a:r>
              <a:rPr lang="en-US" altLang="zh-CN" b="1"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间接寻址意味着指令的地址码部分给出的地址</a:t>
            </a:r>
            <a:r>
              <a:rPr lang="en-US" altLang="zh-CN" dirty="0" smtClean="0">
                <a:latin typeface="微软雅黑" pitchFamily="34" charset="-122"/>
                <a:ea typeface="微软雅黑" pitchFamily="34" charset="-122"/>
              </a:rPr>
              <a:t>A</a:t>
            </a:r>
            <a:r>
              <a:rPr lang="zh-CN" altLang="en-US" dirty="0" smtClean="0">
                <a:latin typeface="微软雅黑" pitchFamily="34" charset="-122"/>
                <a:ea typeface="微软雅黑" pitchFamily="34" charset="-122"/>
              </a:rPr>
              <a:t>不是操作数的地址，而是存放操作数地址的主存单元的地址，简称操作数地址的地址。操作数的有效地址的计算公式为：</a:t>
            </a:r>
            <a:r>
              <a:rPr lang="en-US" altLang="zh-CN" dirty="0" smtClean="0">
                <a:latin typeface="微软雅黑" pitchFamily="34" charset="-122"/>
                <a:ea typeface="微软雅黑" pitchFamily="34" charset="-122"/>
              </a:rPr>
              <a:t>EA</a:t>
            </a:r>
            <a:r>
              <a:rPr lang="zh-CN" altLang="en-US" dirty="0" smtClean="0">
                <a:latin typeface="微软雅黑" pitchFamily="34" charset="-122"/>
                <a:ea typeface="微软雅黑" pitchFamily="34" charset="-122"/>
              </a:rPr>
              <a:t>＝</a:t>
            </a:r>
            <a:r>
              <a:rPr lang="en-US" altLang="zh-CN" dirty="0" smtClean="0">
                <a:latin typeface="微软雅黑" pitchFamily="34" charset="-122"/>
                <a:ea typeface="微软雅黑" pitchFamily="34" charset="-122"/>
              </a:rPr>
              <a:t>(A)</a:t>
            </a:r>
          </a:p>
        </p:txBody>
      </p:sp>
      <p:pic>
        <p:nvPicPr>
          <p:cNvPr id="35845" name="Picture 4" descr="jxnr53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290" y="3737902"/>
            <a:ext cx="6429420" cy="2701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B8624A1-F2B5-4770-8DBD-E676A73E044F}" type="slidenum">
              <a:rPr lang="en-US" altLang="zh-CN">
                <a:latin typeface="微软雅黑" pitchFamily="34" charset="-122"/>
                <a:ea typeface="微软雅黑" pitchFamily="34" charset="-122"/>
              </a:rPr>
              <a:pPr eaLnBrk="1" hangingPunct="1"/>
              <a:t>31</a:t>
            </a:fld>
            <a:endParaRPr lang="en-US" altLang="zh-CN" dirty="0">
              <a:latin typeface="微软雅黑" pitchFamily="34" charset="-122"/>
              <a:ea typeface="微软雅黑" pitchFamily="34" charset="-122"/>
            </a:endParaRPr>
          </a:p>
        </p:txBody>
      </p:sp>
      <p:sp>
        <p:nvSpPr>
          <p:cNvPr id="36867" name="Rectangle 2"/>
          <p:cNvSpPr>
            <a:spLocks noGrp="1" noChangeArrowheads="1"/>
          </p:cNvSpPr>
          <p:nvPr>
            <p:ph type="title"/>
          </p:nvPr>
        </p:nvSpPr>
        <p:spPr>
          <a:xfrm>
            <a:off x="457200" y="223838"/>
            <a:ext cx="7543800" cy="990584"/>
          </a:xfrm>
        </p:spPr>
        <p:txBody>
          <a:bodyPr/>
          <a:lstStyle/>
          <a:p>
            <a:pPr eaLnBrk="1" hangingPunct="1"/>
            <a:r>
              <a:rPr lang="en-US" altLang="zh-CN" sz="3500" dirty="0" smtClean="0">
                <a:latin typeface="微软雅黑" pitchFamily="34" charset="-122"/>
                <a:ea typeface="微软雅黑" pitchFamily="34" charset="-122"/>
                <a:cs typeface="Times New Roman" pitchFamily="18" charset="0"/>
              </a:rPr>
              <a:t>4</a:t>
            </a:r>
            <a:r>
              <a:rPr lang="zh-CN" altLang="en-US" sz="3500" dirty="0" smtClean="0">
                <a:latin typeface="微软雅黑" pitchFamily="34" charset="-122"/>
                <a:ea typeface="微软雅黑" pitchFamily="34" charset="-122"/>
              </a:rPr>
              <a:t>、</a:t>
            </a:r>
            <a:r>
              <a:rPr lang="zh-CN" altLang="en-US" b="0" dirty="0" smtClean="0">
                <a:latin typeface="微软雅黑" pitchFamily="34" charset="-122"/>
                <a:ea typeface="微软雅黑" pitchFamily="34" charset="-122"/>
              </a:rPr>
              <a:t>间接寻址</a:t>
            </a:r>
          </a:p>
        </p:txBody>
      </p:sp>
      <p:sp>
        <p:nvSpPr>
          <p:cNvPr id="36868" name="Rectangle 3"/>
          <p:cNvSpPr>
            <a:spLocks noGrp="1" noChangeArrowheads="1"/>
          </p:cNvSpPr>
          <p:nvPr>
            <p:ph type="body" idx="1"/>
          </p:nvPr>
        </p:nvSpPr>
        <p:spPr>
          <a:xfrm>
            <a:off x="385762" y="1571612"/>
            <a:ext cx="7472386" cy="4411662"/>
          </a:xfrm>
        </p:spPr>
        <p:txBody>
          <a:bodyPr/>
          <a:lstStyle/>
          <a:p>
            <a:pPr lvl="1" eaLnBrk="1" hangingPunct="1">
              <a:lnSpc>
                <a:spcPct val="150000"/>
              </a:lnSpc>
            </a:pPr>
            <a:r>
              <a:rPr lang="zh-CN" altLang="en-US" sz="2800" dirty="0" smtClean="0">
                <a:latin typeface="微软雅黑" pitchFamily="34" charset="-122"/>
                <a:ea typeface="微软雅黑" pitchFamily="34" charset="-122"/>
              </a:rPr>
              <a:t>特点：因为操作数的有效地址在主存储器中，可以被灵活的修改而不必修改指令，从而使间接寻址要比直接寻址灵活得多。但是，间接寻址在指令执行过程中至少需要两次访问主存储器才能取出操作数，严重降低了指令执行的速度。</a:t>
            </a:r>
          </a:p>
          <a:p>
            <a:pPr eaLnBrk="1" hangingPunct="1">
              <a:buFont typeface="Wingdings" pitchFamily="2" charset="2"/>
              <a:buNone/>
            </a:pPr>
            <a:endParaRPr lang="en-US" altLang="zh-CN" dirty="0" smtClean="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9EA53F2-4D6A-4680-93BB-83AB7A5F3026}" type="slidenum">
              <a:rPr lang="en-US" altLang="zh-CN">
                <a:latin typeface="微软雅黑" pitchFamily="34" charset="-122"/>
                <a:ea typeface="微软雅黑" pitchFamily="34" charset="-122"/>
              </a:rPr>
              <a:pPr eaLnBrk="1" hangingPunct="1"/>
              <a:t>32</a:t>
            </a:fld>
            <a:endParaRPr lang="en-US" altLang="zh-CN" dirty="0">
              <a:latin typeface="微软雅黑" pitchFamily="34" charset="-122"/>
              <a:ea typeface="微软雅黑" pitchFamily="34" charset="-122"/>
            </a:endParaRPr>
          </a:p>
        </p:txBody>
      </p:sp>
      <p:sp>
        <p:nvSpPr>
          <p:cNvPr id="37891" name="Rectangle 2"/>
          <p:cNvSpPr>
            <a:spLocks noGrp="1" noChangeArrowheads="1"/>
          </p:cNvSpPr>
          <p:nvPr>
            <p:ph type="title"/>
          </p:nvPr>
        </p:nvSpPr>
        <p:spPr>
          <a:xfrm>
            <a:off x="357158" y="357166"/>
            <a:ext cx="7543800" cy="806432"/>
          </a:xfrm>
        </p:spPr>
        <p:txBody>
          <a:bodyPr/>
          <a:lstStyle/>
          <a:p>
            <a:pPr eaLnBrk="1" hangingPunct="1"/>
            <a:r>
              <a:rPr lang="en-US" altLang="zh-CN" b="0" dirty="0" smtClean="0">
                <a:latin typeface="微软雅黑" pitchFamily="34" charset="-122"/>
                <a:ea typeface="微软雅黑" pitchFamily="34" charset="-122"/>
              </a:rPr>
              <a:t>5</a:t>
            </a:r>
            <a:r>
              <a:rPr lang="zh-CN" altLang="en-US" b="0" dirty="0" smtClean="0">
                <a:latin typeface="微软雅黑" pitchFamily="34" charset="-122"/>
                <a:ea typeface="微软雅黑" pitchFamily="34" charset="-122"/>
              </a:rPr>
              <a:t>、寄存器寻址   </a:t>
            </a:r>
            <a:endParaRPr lang="zh-CN" altLang="en-US" dirty="0" smtClean="0">
              <a:latin typeface="微软雅黑" pitchFamily="34" charset="-122"/>
              <a:ea typeface="微软雅黑" pitchFamily="34" charset="-122"/>
            </a:endParaRPr>
          </a:p>
        </p:txBody>
      </p:sp>
      <p:sp>
        <p:nvSpPr>
          <p:cNvPr id="37892" name="Rectangle 3"/>
          <p:cNvSpPr>
            <a:spLocks noGrp="1" noChangeArrowheads="1"/>
          </p:cNvSpPr>
          <p:nvPr>
            <p:ph type="body" idx="1"/>
          </p:nvPr>
        </p:nvSpPr>
        <p:spPr>
          <a:xfrm>
            <a:off x="73394" y="1432359"/>
            <a:ext cx="8786874" cy="4987450"/>
          </a:xfrm>
        </p:spPr>
        <p:txBody>
          <a:bodyPr/>
          <a:lstStyle/>
          <a:p>
            <a:pPr lvl="1" eaLnBrk="1" hangingPunct="1">
              <a:lnSpc>
                <a:spcPct val="110000"/>
              </a:lnSpc>
            </a:pPr>
            <a:r>
              <a:rPr lang="zh-CN" altLang="en-US" dirty="0" smtClean="0">
                <a:latin typeface="微软雅黑" pitchFamily="34" charset="-122"/>
                <a:ea typeface="微软雅黑" pitchFamily="34" charset="-122"/>
              </a:rPr>
              <a:t>在指令的地址码部分给出</a:t>
            </a:r>
            <a:r>
              <a:rPr lang="en-US" altLang="zh-CN" dirty="0" smtClean="0">
                <a:latin typeface="微软雅黑" pitchFamily="34" charset="-122"/>
                <a:ea typeface="微软雅黑" pitchFamily="34" charset="-122"/>
              </a:rPr>
              <a:t>CPU</a:t>
            </a:r>
            <a:r>
              <a:rPr lang="zh-CN" altLang="en-US" dirty="0" smtClean="0">
                <a:latin typeface="微软雅黑" pitchFamily="34" charset="-122"/>
                <a:ea typeface="微软雅黑" pitchFamily="34" charset="-122"/>
              </a:rPr>
              <a:t>内某一通用寄存器的编号，指令的操作数存放在相应的寄存器中，即</a:t>
            </a:r>
            <a:r>
              <a:rPr lang="en-US" altLang="zh-CN" dirty="0" smtClean="0">
                <a:latin typeface="微软雅黑" pitchFamily="34" charset="-122"/>
                <a:ea typeface="微软雅黑" pitchFamily="34" charset="-122"/>
              </a:rPr>
              <a:t>EA=</a:t>
            </a:r>
            <a:r>
              <a:rPr lang="en-US" altLang="zh-CN" dirty="0" err="1" smtClean="0">
                <a:latin typeface="微软雅黑" pitchFamily="34" charset="-122"/>
                <a:ea typeface="微软雅黑" pitchFamily="34" charset="-122"/>
              </a:rPr>
              <a:t>Ri</a:t>
            </a:r>
            <a:r>
              <a:rPr lang="en-US" altLang="zh-CN" dirty="0" smtClean="0">
                <a:latin typeface="微软雅黑" pitchFamily="34" charset="-122"/>
                <a:ea typeface="微软雅黑" pitchFamily="34" charset="-122"/>
              </a:rPr>
              <a:t> </a:t>
            </a:r>
          </a:p>
          <a:p>
            <a:pPr lvl="1" eaLnBrk="1" hangingPunct="1">
              <a:lnSpc>
                <a:spcPct val="110000"/>
              </a:lnSpc>
              <a:buFont typeface="Wingdings" pitchFamily="2" charset="2"/>
              <a:buNone/>
            </a:pPr>
            <a:endParaRPr lang="en-US" altLang="zh-CN" dirty="0" smtClean="0">
              <a:latin typeface="微软雅黑" pitchFamily="34" charset="-122"/>
              <a:ea typeface="微软雅黑" pitchFamily="34" charset="-122"/>
            </a:endParaRPr>
          </a:p>
          <a:p>
            <a:pPr lvl="1" eaLnBrk="1" hangingPunct="1">
              <a:lnSpc>
                <a:spcPct val="110000"/>
              </a:lnSpc>
              <a:buFont typeface="Wingdings" pitchFamily="2" charset="2"/>
              <a:buNone/>
            </a:pPr>
            <a:endParaRPr lang="en-US" altLang="zh-CN" dirty="0" smtClean="0">
              <a:latin typeface="微软雅黑" pitchFamily="34" charset="-122"/>
              <a:ea typeface="微软雅黑" pitchFamily="34" charset="-122"/>
            </a:endParaRPr>
          </a:p>
          <a:p>
            <a:pPr lvl="1" eaLnBrk="1" hangingPunct="1">
              <a:lnSpc>
                <a:spcPct val="110000"/>
              </a:lnSpc>
              <a:buFont typeface="Wingdings" pitchFamily="2" charset="2"/>
              <a:buNone/>
            </a:pPr>
            <a:endParaRPr lang="en-US" altLang="zh-CN" dirty="0" smtClean="0">
              <a:latin typeface="微软雅黑" pitchFamily="34" charset="-122"/>
              <a:ea typeface="微软雅黑" pitchFamily="34" charset="-122"/>
            </a:endParaRPr>
          </a:p>
          <a:p>
            <a:pPr lvl="1" eaLnBrk="1" hangingPunct="1">
              <a:lnSpc>
                <a:spcPct val="110000"/>
              </a:lnSpc>
              <a:buFont typeface="Wingdings" pitchFamily="2" charset="2"/>
              <a:buNone/>
            </a:pPr>
            <a:r>
              <a:rPr lang="zh-CN" altLang="en-US" dirty="0" smtClean="0">
                <a:latin typeface="微软雅黑" pitchFamily="34" charset="-122"/>
                <a:ea typeface="微软雅黑" pitchFamily="34" charset="-122"/>
              </a:rPr>
              <a:t>优点：</a:t>
            </a:r>
          </a:p>
          <a:p>
            <a:pPr lvl="1" eaLnBrk="1" hangingPunct="1">
              <a:lnSpc>
                <a:spcPct val="110000"/>
              </a:lnSpc>
              <a:buFont typeface="Wingdings" pitchFamily="2" charset="2"/>
              <a:buNone/>
            </a:pPr>
            <a:r>
              <a:rPr lang="en-US" altLang="zh-CN" dirty="0" smtClean="0">
                <a:latin typeface="微软雅黑" pitchFamily="34" charset="-122"/>
                <a:ea typeface="微软雅黑" pitchFamily="34" charset="-122"/>
              </a:rPr>
              <a:t>(1)</a:t>
            </a:r>
            <a:r>
              <a:rPr lang="zh-CN" altLang="en-US" dirty="0" smtClean="0">
                <a:latin typeface="微软雅黑" pitchFamily="34" charset="-122"/>
                <a:ea typeface="微软雅黑" pitchFamily="34" charset="-122"/>
              </a:rPr>
              <a:t>由于寄存器在</a:t>
            </a:r>
            <a:r>
              <a:rPr lang="en-US" altLang="zh-CN" dirty="0" smtClean="0">
                <a:latin typeface="微软雅黑" pitchFamily="34" charset="-122"/>
                <a:ea typeface="微软雅黑" pitchFamily="34" charset="-122"/>
              </a:rPr>
              <a:t>CPU</a:t>
            </a:r>
            <a:r>
              <a:rPr lang="zh-CN" altLang="en-US" dirty="0" smtClean="0">
                <a:latin typeface="微软雅黑" pitchFamily="34" charset="-122"/>
                <a:ea typeface="微软雅黑" pitchFamily="34" charset="-122"/>
              </a:rPr>
              <a:t>的内部，指令在执行时从寄存器中取操作数比访问主存要快得多；</a:t>
            </a:r>
          </a:p>
          <a:p>
            <a:pPr lvl="1" eaLnBrk="1" hangingPunct="1">
              <a:lnSpc>
                <a:spcPct val="110000"/>
              </a:lnSpc>
              <a:buFont typeface="Wingdings" pitchFamily="2" charset="2"/>
              <a:buNone/>
            </a:pPr>
            <a:r>
              <a:rPr lang="en-US" altLang="zh-CN" dirty="0" smtClean="0">
                <a:latin typeface="微软雅黑" pitchFamily="34" charset="-122"/>
                <a:ea typeface="微软雅黑" pitchFamily="34" charset="-122"/>
              </a:rPr>
              <a:t>(2)</a:t>
            </a:r>
            <a:r>
              <a:rPr lang="zh-CN" altLang="en-US" dirty="0" smtClean="0">
                <a:latin typeface="微软雅黑" pitchFamily="34" charset="-122"/>
                <a:ea typeface="微软雅黑" pitchFamily="34" charset="-122"/>
              </a:rPr>
              <a:t>由于寄存器的数量较少，因此寄存器编号所占位数也较少，从而可以有效减少指令的地址码字段的长度。</a:t>
            </a:r>
          </a:p>
        </p:txBody>
      </p:sp>
      <p:pic>
        <p:nvPicPr>
          <p:cNvPr id="37893" name="Picture 4" descr="jxnr5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5777" y="2249279"/>
            <a:ext cx="6500858"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a:spLocks noGrp="1"/>
          </p:cNvSpPr>
          <p:nvPr>
            <p:ph type="sldNum" sz="quarter" idx="12"/>
          </p:nvPr>
        </p:nvSpPr>
        <p:spPr>
          <a:xfrm>
            <a:off x="6553200" y="6429396"/>
            <a:ext cx="2133600" cy="27620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6E9A94D-A282-44D3-9AC0-F23ECCF2E495}" type="slidenum">
              <a:rPr lang="en-US" altLang="zh-CN">
                <a:latin typeface="微软雅黑" pitchFamily="34" charset="-122"/>
                <a:ea typeface="微软雅黑" pitchFamily="34" charset="-122"/>
              </a:rPr>
              <a:pPr eaLnBrk="1" hangingPunct="1"/>
              <a:t>33</a:t>
            </a:fld>
            <a:endParaRPr lang="en-US" altLang="zh-CN">
              <a:latin typeface="微软雅黑" pitchFamily="34" charset="-122"/>
              <a:ea typeface="微软雅黑" pitchFamily="34" charset="-122"/>
            </a:endParaRPr>
          </a:p>
        </p:txBody>
      </p:sp>
      <p:sp>
        <p:nvSpPr>
          <p:cNvPr id="38915" name="Rectangle 2"/>
          <p:cNvSpPr>
            <a:spLocks noGrp="1" noChangeArrowheads="1"/>
          </p:cNvSpPr>
          <p:nvPr>
            <p:ph type="title"/>
          </p:nvPr>
        </p:nvSpPr>
        <p:spPr>
          <a:xfrm>
            <a:off x="457200" y="122238"/>
            <a:ext cx="7543800" cy="949308"/>
          </a:xfrm>
        </p:spPr>
        <p:txBody>
          <a:bodyPr/>
          <a:lstStyle/>
          <a:p>
            <a:pPr eaLnBrk="1" hangingPunct="1"/>
            <a:r>
              <a:rPr lang="en-US" altLang="zh-CN" b="0" dirty="0" smtClean="0">
                <a:latin typeface="微软雅黑" pitchFamily="34" charset="-122"/>
                <a:ea typeface="微软雅黑" pitchFamily="34" charset="-122"/>
              </a:rPr>
              <a:t>6</a:t>
            </a:r>
            <a:r>
              <a:rPr lang="zh-CN" altLang="en-US" b="0" dirty="0" smtClean="0">
                <a:latin typeface="微软雅黑" pitchFamily="34" charset="-122"/>
                <a:ea typeface="微软雅黑" pitchFamily="34" charset="-122"/>
              </a:rPr>
              <a:t>、寄存器间接寻址  </a:t>
            </a:r>
          </a:p>
        </p:txBody>
      </p:sp>
      <p:sp>
        <p:nvSpPr>
          <p:cNvPr id="38916" name="Rectangle 3"/>
          <p:cNvSpPr>
            <a:spLocks noGrp="1" noChangeArrowheads="1"/>
          </p:cNvSpPr>
          <p:nvPr>
            <p:ph type="body" idx="1"/>
          </p:nvPr>
        </p:nvSpPr>
        <p:spPr>
          <a:xfrm>
            <a:off x="214282" y="1214422"/>
            <a:ext cx="8358246" cy="5286412"/>
          </a:xfrm>
        </p:spPr>
        <p:txBody>
          <a:bodyPr/>
          <a:lstStyle/>
          <a:p>
            <a:pPr eaLnBrk="1" hangingPunct="1">
              <a:spcBef>
                <a:spcPts val="0"/>
              </a:spcBef>
            </a:pPr>
            <a:r>
              <a:rPr lang="zh-CN" altLang="en-US" sz="2400" dirty="0" smtClean="0">
                <a:latin typeface="微软雅黑" pitchFamily="34" charset="-122"/>
                <a:ea typeface="微软雅黑" pitchFamily="34" charset="-122"/>
              </a:rPr>
              <a:t>为了克服间接寻址中多次访存的缺点，可采用寄存器间接寻址，即将操作数放在主存储器中，而操作数的地址放在某一通用寄存器中，然后在指令的地址码部分给出该通用寄存器的编号，这时有</a:t>
            </a:r>
            <a:r>
              <a:rPr lang="en-US" altLang="zh-CN" sz="2400" dirty="0" smtClean="0">
                <a:latin typeface="微软雅黑" pitchFamily="34" charset="-122"/>
                <a:ea typeface="微软雅黑" pitchFamily="34" charset="-122"/>
              </a:rPr>
              <a:t>EA=(</a:t>
            </a:r>
            <a:r>
              <a:rPr lang="en-US" altLang="zh-CN" sz="2400" dirty="0" err="1" smtClean="0">
                <a:latin typeface="微软雅黑" pitchFamily="34" charset="-122"/>
                <a:ea typeface="微软雅黑" pitchFamily="34" charset="-122"/>
              </a:rPr>
              <a:t>Ri</a:t>
            </a:r>
            <a:r>
              <a:rPr lang="en-US" altLang="zh-CN" sz="2400" dirty="0" smtClean="0">
                <a:latin typeface="微软雅黑" pitchFamily="34" charset="-122"/>
                <a:ea typeface="微软雅黑" pitchFamily="34" charset="-122"/>
              </a:rPr>
              <a:t>)</a:t>
            </a:r>
          </a:p>
          <a:p>
            <a:pPr eaLnBrk="1" hangingPunct="1">
              <a:spcBef>
                <a:spcPts val="0"/>
              </a:spcBef>
            </a:pPr>
            <a:endParaRPr lang="en-US" altLang="zh-CN" sz="2400" dirty="0" smtClean="0">
              <a:latin typeface="微软雅黑" pitchFamily="34" charset="-122"/>
              <a:ea typeface="微软雅黑" pitchFamily="34" charset="-122"/>
            </a:endParaRPr>
          </a:p>
          <a:p>
            <a:pPr eaLnBrk="1" hangingPunct="1">
              <a:spcBef>
                <a:spcPts val="0"/>
              </a:spcBef>
            </a:pPr>
            <a:endParaRPr lang="en-US" altLang="zh-CN" sz="2400" dirty="0" smtClean="0">
              <a:latin typeface="微软雅黑" pitchFamily="34" charset="-122"/>
              <a:ea typeface="微软雅黑" pitchFamily="34" charset="-122"/>
            </a:endParaRPr>
          </a:p>
          <a:p>
            <a:pPr eaLnBrk="1" hangingPunct="1">
              <a:spcBef>
                <a:spcPts val="0"/>
              </a:spcBef>
            </a:pPr>
            <a:endParaRPr lang="en-US" altLang="zh-CN" sz="2400" dirty="0" smtClean="0">
              <a:latin typeface="微软雅黑" pitchFamily="34" charset="-122"/>
              <a:ea typeface="微软雅黑" pitchFamily="34" charset="-122"/>
            </a:endParaRPr>
          </a:p>
          <a:p>
            <a:pPr eaLnBrk="1" hangingPunct="1">
              <a:spcBef>
                <a:spcPts val="0"/>
              </a:spcBef>
            </a:pPr>
            <a:endParaRPr lang="en-US" altLang="zh-CN" sz="2400" dirty="0" smtClean="0">
              <a:latin typeface="微软雅黑" pitchFamily="34" charset="-122"/>
              <a:ea typeface="微软雅黑" pitchFamily="34" charset="-122"/>
            </a:endParaRPr>
          </a:p>
          <a:p>
            <a:pPr eaLnBrk="1" hangingPunct="1">
              <a:spcBef>
                <a:spcPts val="0"/>
              </a:spcBef>
            </a:pPr>
            <a:endParaRPr lang="en-US" altLang="zh-CN" sz="2400" dirty="0" smtClean="0">
              <a:latin typeface="微软雅黑" pitchFamily="34" charset="-122"/>
              <a:ea typeface="微软雅黑" pitchFamily="34" charset="-122"/>
            </a:endParaRPr>
          </a:p>
          <a:p>
            <a:pPr eaLnBrk="1" hangingPunct="1">
              <a:spcBef>
                <a:spcPts val="0"/>
              </a:spcBef>
            </a:pPr>
            <a:endParaRPr lang="en-US" altLang="zh-CN" sz="2400" dirty="0" smtClean="0">
              <a:latin typeface="微软雅黑" pitchFamily="34" charset="-122"/>
              <a:ea typeface="微软雅黑" pitchFamily="34" charset="-122"/>
            </a:endParaRPr>
          </a:p>
          <a:p>
            <a:pPr eaLnBrk="1" hangingPunct="1">
              <a:spcBef>
                <a:spcPts val="0"/>
              </a:spcBef>
            </a:pPr>
            <a:endParaRPr lang="en-US" altLang="zh-CN" sz="2400" dirty="0" smtClean="0">
              <a:latin typeface="微软雅黑" pitchFamily="34" charset="-122"/>
              <a:ea typeface="微软雅黑" pitchFamily="34" charset="-122"/>
            </a:endParaRPr>
          </a:p>
          <a:p>
            <a:pPr eaLnBrk="1" hangingPunct="1">
              <a:spcBef>
                <a:spcPts val="0"/>
              </a:spcBef>
            </a:pPr>
            <a:r>
              <a:rPr lang="zh-CN" altLang="en-US" sz="2400" dirty="0" smtClean="0">
                <a:latin typeface="微软雅黑" pitchFamily="34" charset="-122"/>
                <a:ea typeface="微软雅黑" pitchFamily="34" charset="-122"/>
              </a:rPr>
              <a:t>这种寻址方式的指令较短，并且在取指后只需一次访存便可得到操作数，因此指令执行速度较前述的间接寻址方式要快，也是目前在计算机中使用较为广泛的一种寻址方式。</a:t>
            </a:r>
          </a:p>
          <a:p>
            <a:pPr eaLnBrk="1" hangingPunct="1">
              <a:lnSpc>
                <a:spcPct val="90000"/>
              </a:lnSpc>
            </a:pPr>
            <a:endParaRPr lang="en-US" altLang="zh-CN" sz="1900" dirty="0" smtClean="0">
              <a:latin typeface="微软雅黑" pitchFamily="34" charset="-122"/>
              <a:ea typeface="微软雅黑" pitchFamily="34" charset="-122"/>
            </a:endParaRPr>
          </a:p>
        </p:txBody>
      </p:sp>
      <p:pic>
        <p:nvPicPr>
          <p:cNvPr id="38917" name="Picture 4" descr="jxnr5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100" y="2857496"/>
            <a:ext cx="7010400" cy="2286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EE25137-CB91-49BF-8FBF-882210918091}" type="slidenum">
              <a:rPr lang="en-US" altLang="zh-CN">
                <a:latin typeface="微软雅黑" pitchFamily="34" charset="-122"/>
                <a:ea typeface="微软雅黑" pitchFamily="34" charset="-122"/>
              </a:rPr>
              <a:pPr eaLnBrk="1" hangingPunct="1"/>
              <a:t>34</a:t>
            </a:fld>
            <a:endParaRPr lang="en-US" altLang="zh-CN">
              <a:latin typeface="微软雅黑" pitchFamily="34" charset="-122"/>
              <a:ea typeface="微软雅黑" pitchFamily="34" charset="-122"/>
            </a:endParaRPr>
          </a:p>
        </p:txBody>
      </p:sp>
      <p:sp>
        <p:nvSpPr>
          <p:cNvPr id="39939" name="Rectangle 2"/>
          <p:cNvSpPr>
            <a:spLocks noGrp="1" noChangeArrowheads="1"/>
          </p:cNvSpPr>
          <p:nvPr>
            <p:ph type="title"/>
          </p:nvPr>
        </p:nvSpPr>
        <p:spPr>
          <a:xfrm>
            <a:off x="457200" y="122238"/>
            <a:ext cx="7543800" cy="1020746"/>
          </a:xfrm>
        </p:spPr>
        <p:txBody>
          <a:bodyPr/>
          <a:lstStyle/>
          <a:p>
            <a:pPr eaLnBrk="1" hangingPunct="1"/>
            <a:r>
              <a:rPr lang="en-US" altLang="zh-CN" b="0" dirty="0" smtClean="0">
                <a:latin typeface="微软雅黑" pitchFamily="34" charset="-122"/>
                <a:ea typeface="微软雅黑" pitchFamily="34" charset="-122"/>
              </a:rPr>
              <a:t>7</a:t>
            </a:r>
            <a:r>
              <a:rPr lang="zh-CN" altLang="en-US" b="0" dirty="0" smtClean="0">
                <a:latin typeface="微软雅黑" pitchFamily="34" charset="-122"/>
                <a:ea typeface="微软雅黑" pitchFamily="34" charset="-122"/>
              </a:rPr>
              <a:t>、偏移寻址 </a:t>
            </a:r>
            <a:r>
              <a:rPr lang="en-US" altLang="zh-CN" b="0" dirty="0" smtClean="0">
                <a:latin typeface="微软雅黑" pitchFamily="34" charset="-122"/>
                <a:ea typeface="微软雅黑" pitchFamily="34" charset="-122"/>
              </a:rPr>
              <a:t>- </a:t>
            </a:r>
            <a:r>
              <a:rPr lang="zh-CN" altLang="en-US" b="0" dirty="0" smtClean="0">
                <a:latin typeface="微软雅黑" pitchFamily="34" charset="-122"/>
                <a:ea typeface="微软雅黑" pitchFamily="34" charset="-122"/>
              </a:rPr>
              <a:t>相对寻址</a:t>
            </a:r>
          </a:p>
        </p:txBody>
      </p:sp>
      <p:sp>
        <p:nvSpPr>
          <p:cNvPr id="39940" name="Rectangle 3"/>
          <p:cNvSpPr>
            <a:spLocks noGrp="1" noChangeArrowheads="1"/>
          </p:cNvSpPr>
          <p:nvPr>
            <p:ph type="body" idx="1"/>
          </p:nvPr>
        </p:nvSpPr>
        <p:spPr>
          <a:xfrm>
            <a:off x="214282" y="1357298"/>
            <a:ext cx="7929618" cy="4411662"/>
          </a:xfrm>
        </p:spPr>
        <p:txBody>
          <a:bodyPr/>
          <a:lstStyle/>
          <a:p>
            <a:pPr lvl="1" eaLnBrk="1" hangingPunct="1">
              <a:lnSpc>
                <a:spcPct val="120000"/>
              </a:lnSpc>
            </a:pPr>
            <a:r>
              <a:rPr lang="zh-CN" altLang="en-US" sz="2800" dirty="0" smtClean="0">
                <a:latin typeface="微软雅黑" pitchFamily="34" charset="-122"/>
                <a:ea typeface="微软雅黑" pitchFamily="34" charset="-122"/>
              </a:rPr>
              <a:t>由程序计数器</a:t>
            </a:r>
            <a:r>
              <a:rPr lang="en-US" altLang="zh-CN" sz="2800" dirty="0" smtClean="0">
                <a:latin typeface="微软雅黑" pitchFamily="34" charset="-122"/>
                <a:ea typeface="微软雅黑" pitchFamily="34" charset="-122"/>
              </a:rPr>
              <a:t>PC</a:t>
            </a:r>
            <a:r>
              <a:rPr lang="zh-CN" altLang="en-US" sz="2800" dirty="0" smtClean="0">
                <a:latin typeface="微软雅黑" pitchFamily="34" charset="-122"/>
                <a:ea typeface="微软雅黑" pitchFamily="34" charset="-122"/>
              </a:rPr>
              <a:t>提供基准地址，而指令的地址码部分给出相对的位移量</a:t>
            </a:r>
            <a:r>
              <a:rPr lang="en-US" altLang="zh-CN" sz="2800" dirty="0" smtClean="0">
                <a:latin typeface="微软雅黑" pitchFamily="34" charset="-122"/>
                <a:ea typeface="微软雅黑" pitchFamily="34" charset="-122"/>
              </a:rPr>
              <a:t>D</a:t>
            </a:r>
            <a:r>
              <a:rPr lang="zh-CN" altLang="en-US" sz="2800" dirty="0" smtClean="0">
                <a:latin typeface="微软雅黑" pitchFamily="34" charset="-122"/>
                <a:ea typeface="微软雅黑" pitchFamily="34" charset="-122"/>
              </a:rPr>
              <a:t>，两者相加后作为操作数的有效地址，即：</a:t>
            </a:r>
            <a:r>
              <a:rPr lang="en-US" altLang="zh-CN" sz="2800" dirty="0" smtClean="0">
                <a:latin typeface="微软雅黑" pitchFamily="34" charset="-122"/>
                <a:ea typeface="微软雅黑" pitchFamily="34" charset="-122"/>
              </a:rPr>
              <a:t>EA</a:t>
            </a:r>
            <a:r>
              <a:rPr lang="zh-CN" altLang="en-US" sz="2800" dirty="0" smtClean="0">
                <a:latin typeface="微软雅黑" pitchFamily="34" charset="-122"/>
                <a:ea typeface="微软雅黑" pitchFamily="34" charset="-122"/>
              </a:rPr>
              <a:t>＝</a:t>
            </a:r>
            <a:r>
              <a:rPr lang="en-US" altLang="zh-CN" sz="2800" dirty="0" smtClean="0">
                <a:latin typeface="微软雅黑" pitchFamily="34" charset="-122"/>
                <a:ea typeface="微软雅黑" pitchFamily="34" charset="-122"/>
              </a:rPr>
              <a:t>(PC)</a:t>
            </a:r>
            <a:r>
              <a:rPr lang="zh-CN" altLang="en-US" sz="2800" dirty="0" smtClean="0">
                <a:latin typeface="微软雅黑" pitchFamily="34" charset="-122"/>
                <a:ea typeface="微软雅黑" pitchFamily="34" charset="-122"/>
              </a:rPr>
              <a:t>＋</a:t>
            </a:r>
            <a:r>
              <a:rPr lang="en-US" altLang="zh-CN" sz="2800" dirty="0" smtClean="0">
                <a:latin typeface="微软雅黑" pitchFamily="34" charset="-122"/>
                <a:ea typeface="微软雅黑" pitchFamily="34" charset="-122"/>
              </a:rPr>
              <a:t>D</a:t>
            </a:r>
            <a:r>
              <a:rPr lang="zh-CN" altLang="en-US" sz="2800" dirty="0" smtClean="0">
                <a:latin typeface="微软雅黑" pitchFamily="34" charset="-122"/>
                <a:ea typeface="微软雅黑" pitchFamily="34" charset="-122"/>
              </a:rPr>
              <a:t>。</a:t>
            </a:r>
          </a:p>
          <a:p>
            <a:pPr lvl="1" eaLnBrk="1" hangingPunct="1">
              <a:lnSpc>
                <a:spcPct val="120000"/>
              </a:lnSpc>
            </a:pPr>
            <a:endParaRPr lang="en-US" altLang="zh-CN" sz="2800" dirty="0" smtClean="0">
              <a:latin typeface="微软雅黑" pitchFamily="34" charset="-122"/>
              <a:ea typeface="微软雅黑" pitchFamily="34" charset="-122"/>
            </a:endParaRPr>
          </a:p>
        </p:txBody>
      </p:sp>
      <p:pic>
        <p:nvPicPr>
          <p:cNvPr id="39941" name="Picture 4" descr="jxnr5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48" y="3155968"/>
            <a:ext cx="7572428" cy="284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D8487C0-C311-4C43-9A5C-1A1E41B4DC1E}" type="slidenum">
              <a:rPr lang="en-US" altLang="zh-CN">
                <a:latin typeface="微软雅黑" pitchFamily="34" charset="-122"/>
                <a:ea typeface="微软雅黑" pitchFamily="34" charset="-122"/>
              </a:rPr>
              <a:pPr eaLnBrk="1" hangingPunct="1"/>
              <a:t>35</a:t>
            </a:fld>
            <a:endParaRPr lang="en-US" altLang="zh-CN">
              <a:latin typeface="微软雅黑" pitchFamily="34" charset="-122"/>
              <a:ea typeface="微软雅黑" pitchFamily="34" charset="-122"/>
            </a:endParaRPr>
          </a:p>
        </p:txBody>
      </p:sp>
      <p:sp>
        <p:nvSpPr>
          <p:cNvPr id="40963" name="Rectangle 2"/>
          <p:cNvSpPr>
            <a:spLocks noGrp="1" noChangeArrowheads="1"/>
          </p:cNvSpPr>
          <p:nvPr>
            <p:ph type="title"/>
          </p:nvPr>
        </p:nvSpPr>
        <p:spPr>
          <a:xfrm>
            <a:off x="457200" y="223838"/>
            <a:ext cx="7543800" cy="847708"/>
          </a:xfrm>
        </p:spPr>
        <p:txBody>
          <a:bodyPr/>
          <a:lstStyle/>
          <a:p>
            <a:pPr eaLnBrk="1" hangingPunct="1"/>
            <a:r>
              <a:rPr lang="en-US" altLang="zh-CN" sz="3600" b="0" dirty="0" smtClean="0">
                <a:latin typeface="微软雅黑" pitchFamily="34" charset="-122"/>
                <a:ea typeface="微软雅黑" pitchFamily="34" charset="-122"/>
              </a:rPr>
              <a:t>7</a:t>
            </a:r>
            <a:r>
              <a:rPr lang="zh-CN" altLang="en-US" sz="3600" b="0" dirty="0" smtClean="0">
                <a:latin typeface="微软雅黑" pitchFamily="34" charset="-122"/>
                <a:ea typeface="微软雅黑" pitchFamily="34" charset="-122"/>
              </a:rPr>
              <a:t>、偏移寻址 </a:t>
            </a:r>
            <a:r>
              <a:rPr lang="en-US" altLang="zh-CN" sz="3600" b="0" dirty="0" smtClean="0">
                <a:latin typeface="微软雅黑" pitchFamily="34" charset="-122"/>
                <a:ea typeface="微软雅黑" pitchFamily="34" charset="-122"/>
              </a:rPr>
              <a:t>- </a:t>
            </a:r>
            <a:r>
              <a:rPr lang="zh-CN" altLang="en-US" sz="3600" b="0" dirty="0" smtClean="0">
                <a:latin typeface="微软雅黑" pitchFamily="34" charset="-122"/>
                <a:ea typeface="微软雅黑" pitchFamily="34" charset="-122"/>
              </a:rPr>
              <a:t>相对寻址</a:t>
            </a:r>
          </a:p>
        </p:txBody>
      </p:sp>
      <p:sp>
        <p:nvSpPr>
          <p:cNvPr id="40964" name="Rectangle 3"/>
          <p:cNvSpPr>
            <a:spLocks noGrp="1" noChangeArrowheads="1"/>
          </p:cNvSpPr>
          <p:nvPr>
            <p:ph type="body" idx="1"/>
          </p:nvPr>
        </p:nvSpPr>
        <p:spPr>
          <a:xfrm>
            <a:off x="285720" y="1357298"/>
            <a:ext cx="7572428" cy="4411662"/>
          </a:xfrm>
        </p:spPr>
        <p:txBody>
          <a:bodyPr/>
          <a:lstStyle/>
          <a:p>
            <a:pPr lvl="1" eaLnBrk="1" hangingPunct="1">
              <a:lnSpc>
                <a:spcPct val="150000"/>
              </a:lnSpc>
            </a:pPr>
            <a:r>
              <a:rPr lang="zh-CN" altLang="en-US" sz="3200" dirty="0" smtClean="0">
                <a:latin typeface="微软雅黑" pitchFamily="34" charset="-122"/>
                <a:ea typeface="微软雅黑" pitchFamily="34" charset="-122"/>
              </a:rPr>
              <a:t>相对寻址方式使程序模块可采用浮动地址，编程时只要确定程序内部操作数与指令之间的相对距离，而无需确定操作数在主存储器中的绝对地址，这样，将程序安排在主存储器的任意位置都不会影响程序执行的正确性。</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CB090A0-10D7-47D0-9468-53EF2D22E027}" type="slidenum">
              <a:rPr lang="en-US" altLang="zh-CN">
                <a:latin typeface="微软雅黑" pitchFamily="34" charset="-122"/>
                <a:ea typeface="微软雅黑" pitchFamily="34" charset="-122"/>
              </a:rPr>
              <a:pPr eaLnBrk="1" hangingPunct="1"/>
              <a:t>36</a:t>
            </a:fld>
            <a:endParaRPr lang="en-US" altLang="zh-CN">
              <a:latin typeface="微软雅黑" pitchFamily="34" charset="-122"/>
              <a:ea typeface="微软雅黑" pitchFamily="34" charset="-122"/>
            </a:endParaRPr>
          </a:p>
        </p:txBody>
      </p:sp>
      <p:sp>
        <p:nvSpPr>
          <p:cNvPr id="41987" name="Rectangle 2"/>
          <p:cNvSpPr>
            <a:spLocks noGrp="1" noChangeArrowheads="1"/>
          </p:cNvSpPr>
          <p:nvPr>
            <p:ph type="title"/>
          </p:nvPr>
        </p:nvSpPr>
        <p:spPr>
          <a:xfrm>
            <a:off x="457200" y="122238"/>
            <a:ext cx="7543800" cy="1020746"/>
          </a:xfrm>
        </p:spPr>
        <p:txBody>
          <a:bodyPr/>
          <a:lstStyle/>
          <a:p>
            <a:pPr eaLnBrk="1" hangingPunct="1"/>
            <a:r>
              <a:rPr lang="en-US" altLang="zh-CN" sz="4000" b="0" dirty="0" smtClean="0">
                <a:latin typeface="微软雅黑" pitchFamily="34" charset="-122"/>
                <a:ea typeface="微软雅黑" pitchFamily="34" charset="-122"/>
              </a:rPr>
              <a:t>7</a:t>
            </a:r>
            <a:r>
              <a:rPr lang="zh-CN" altLang="en-US" sz="4000" b="0" dirty="0" smtClean="0">
                <a:latin typeface="微软雅黑" pitchFamily="34" charset="-122"/>
                <a:ea typeface="微软雅黑" pitchFamily="34" charset="-122"/>
              </a:rPr>
              <a:t>、偏移寻址 </a:t>
            </a:r>
            <a:r>
              <a:rPr lang="en-US" altLang="zh-CN" sz="4000" b="0" dirty="0" smtClean="0">
                <a:latin typeface="微软雅黑" pitchFamily="34" charset="-122"/>
                <a:ea typeface="微软雅黑" pitchFamily="34" charset="-122"/>
              </a:rPr>
              <a:t>- </a:t>
            </a:r>
            <a:r>
              <a:rPr lang="zh-CN" altLang="en-US" sz="4000" b="0" dirty="0" smtClean="0">
                <a:latin typeface="微软雅黑" pitchFamily="34" charset="-122"/>
                <a:ea typeface="微软雅黑" pitchFamily="34" charset="-122"/>
              </a:rPr>
              <a:t>基址寻址</a:t>
            </a:r>
          </a:p>
        </p:txBody>
      </p:sp>
      <p:sp>
        <p:nvSpPr>
          <p:cNvPr id="41988" name="Rectangle 3"/>
          <p:cNvSpPr>
            <a:spLocks noGrp="1" noChangeArrowheads="1"/>
          </p:cNvSpPr>
          <p:nvPr>
            <p:ph type="body" idx="1"/>
          </p:nvPr>
        </p:nvSpPr>
        <p:spPr>
          <a:xfrm>
            <a:off x="357158" y="1357298"/>
            <a:ext cx="7786742" cy="5000660"/>
          </a:xfrm>
        </p:spPr>
        <p:txBody>
          <a:bodyPr/>
          <a:lstStyle/>
          <a:p>
            <a:pPr eaLnBrk="1" hangingPunct="1">
              <a:lnSpc>
                <a:spcPct val="120000"/>
              </a:lnSpc>
            </a:pPr>
            <a:r>
              <a:rPr lang="zh-CN" altLang="en-US" sz="3200" dirty="0" smtClean="0">
                <a:latin typeface="微软雅黑" pitchFamily="34" charset="-122"/>
                <a:ea typeface="微软雅黑" pitchFamily="34" charset="-122"/>
              </a:rPr>
              <a:t>在基址寻址方式中，指令的地址码部分给出偏移量</a:t>
            </a:r>
            <a:r>
              <a:rPr lang="en-US" altLang="zh-CN" sz="3200" dirty="0" smtClean="0">
                <a:latin typeface="微软雅黑" pitchFamily="34" charset="-122"/>
                <a:ea typeface="微软雅黑" pitchFamily="34" charset="-122"/>
              </a:rPr>
              <a:t>D</a:t>
            </a:r>
            <a:r>
              <a:rPr lang="zh-CN" altLang="en-US" sz="3200" dirty="0" smtClean="0">
                <a:latin typeface="微软雅黑" pitchFamily="34" charset="-122"/>
                <a:ea typeface="微软雅黑" pitchFamily="34" charset="-122"/>
              </a:rPr>
              <a:t>，而基准地址放在基址寄存器</a:t>
            </a:r>
            <a:r>
              <a:rPr lang="en-US" altLang="zh-CN" sz="3200" dirty="0" err="1" smtClean="0">
                <a:latin typeface="微软雅黑" pitchFamily="34" charset="-122"/>
                <a:ea typeface="微软雅黑" pitchFamily="34" charset="-122"/>
              </a:rPr>
              <a:t>Rb</a:t>
            </a:r>
            <a:r>
              <a:rPr lang="zh-CN" altLang="en-US" sz="3200" dirty="0" smtClean="0">
                <a:latin typeface="微软雅黑" pitchFamily="34" charset="-122"/>
                <a:ea typeface="微软雅黑" pitchFamily="34" charset="-122"/>
              </a:rPr>
              <a:t>中，最后操作数的有效地址仍然是由基准地址</a:t>
            </a:r>
            <a:r>
              <a:rPr lang="en-US" altLang="zh-CN" sz="3200" dirty="0" smtClean="0">
                <a:latin typeface="微软雅黑" pitchFamily="34" charset="-122"/>
                <a:ea typeface="微软雅黑" pitchFamily="34" charset="-122"/>
              </a:rPr>
              <a:t>A</a:t>
            </a:r>
            <a:r>
              <a:rPr lang="zh-CN" altLang="en-US" sz="3200" dirty="0" smtClean="0">
                <a:latin typeface="微软雅黑" pitchFamily="34" charset="-122"/>
                <a:ea typeface="微软雅黑" pitchFamily="34" charset="-122"/>
              </a:rPr>
              <a:t>与偏移量</a:t>
            </a:r>
            <a:r>
              <a:rPr lang="en-US" altLang="zh-CN" sz="3200" dirty="0" smtClean="0">
                <a:latin typeface="微软雅黑" pitchFamily="34" charset="-122"/>
                <a:ea typeface="微软雅黑" pitchFamily="34" charset="-122"/>
              </a:rPr>
              <a:t>D</a:t>
            </a:r>
            <a:r>
              <a:rPr lang="zh-CN" altLang="en-US" sz="3200" dirty="0" smtClean="0">
                <a:latin typeface="微软雅黑" pitchFamily="34" charset="-122"/>
                <a:ea typeface="微软雅黑" pitchFamily="34" charset="-122"/>
              </a:rPr>
              <a:t>相加而成，即：</a:t>
            </a:r>
            <a:r>
              <a:rPr lang="en-US" altLang="zh-CN" sz="3200" dirty="0" smtClean="0">
                <a:latin typeface="微软雅黑" pitchFamily="34" charset="-122"/>
                <a:ea typeface="微软雅黑" pitchFamily="34" charset="-122"/>
              </a:rPr>
              <a:t>EA</a:t>
            </a:r>
            <a:r>
              <a:rPr lang="zh-CN" altLang="en-US" sz="3200" dirty="0" smtClean="0">
                <a:latin typeface="微软雅黑" pitchFamily="34" charset="-122"/>
                <a:ea typeface="微软雅黑" pitchFamily="34" charset="-122"/>
              </a:rPr>
              <a:t>＝</a:t>
            </a:r>
            <a:r>
              <a:rPr lang="en-US" altLang="zh-CN" sz="3200" dirty="0" smtClean="0">
                <a:latin typeface="微软雅黑" pitchFamily="34" charset="-122"/>
                <a:ea typeface="微软雅黑" pitchFamily="34" charset="-122"/>
              </a:rPr>
              <a:t>(</a:t>
            </a:r>
            <a:r>
              <a:rPr lang="en-US" altLang="zh-CN" sz="3200" dirty="0" err="1" smtClean="0">
                <a:latin typeface="微软雅黑" pitchFamily="34" charset="-122"/>
                <a:ea typeface="微软雅黑" pitchFamily="34" charset="-122"/>
              </a:rPr>
              <a:t>Rb</a:t>
            </a:r>
            <a:r>
              <a:rPr lang="en-US" altLang="zh-CN" sz="3200" dirty="0" smtClean="0">
                <a:latin typeface="微软雅黑" pitchFamily="34" charset="-122"/>
                <a:ea typeface="微软雅黑" pitchFamily="34" charset="-122"/>
              </a:rPr>
              <a:t>)</a:t>
            </a:r>
            <a:r>
              <a:rPr lang="zh-CN" altLang="en-US" sz="3200" dirty="0" smtClean="0">
                <a:latin typeface="微软雅黑" pitchFamily="34" charset="-122"/>
                <a:ea typeface="微软雅黑" pitchFamily="34" charset="-122"/>
              </a:rPr>
              <a:t>＋</a:t>
            </a:r>
            <a:r>
              <a:rPr lang="en-US" altLang="zh-CN" sz="3200" dirty="0" smtClean="0">
                <a:latin typeface="微软雅黑" pitchFamily="34" charset="-122"/>
                <a:ea typeface="微软雅黑" pitchFamily="34" charset="-122"/>
              </a:rPr>
              <a:t>D</a:t>
            </a:r>
            <a:r>
              <a:rPr lang="zh-CN" altLang="en-US" sz="3200" dirty="0" smtClean="0">
                <a:latin typeface="微软雅黑" pitchFamily="34" charset="-122"/>
                <a:ea typeface="微软雅黑" pitchFamily="34" charset="-122"/>
              </a:rPr>
              <a:t>。用哪一个寄存器作为基址寄存器也必须在硬件设计时就事先规定，基址寄存器</a:t>
            </a:r>
            <a:r>
              <a:rPr lang="en-US" altLang="zh-CN" sz="3200" dirty="0" err="1" smtClean="0">
                <a:latin typeface="微软雅黑" pitchFamily="34" charset="-122"/>
                <a:ea typeface="微软雅黑" pitchFamily="34" charset="-122"/>
              </a:rPr>
              <a:t>Rb</a:t>
            </a:r>
            <a:r>
              <a:rPr lang="zh-CN" altLang="en-US" sz="3200" dirty="0" smtClean="0">
                <a:latin typeface="微软雅黑" pitchFamily="34" charset="-122"/>
                <a:ea typeface="微软雅黑" pitchFamily="34" charset="-122"/>
              </a:rPr>
              <a:t>中的内容称为基准地址，该值可正可负。</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CEFAE7C-966F-471C-A1CB-2BAC606EF625}" type="slidenum">
              <a:rPr lang="en-US" altLang="zh-CN">
                <a:latin typeface="微软雅黑" pitchFamily="34" charset="-122"/>
                <a:ea typeface="微软雅黑" pitchFamily="34" charset="-122"/>
              </a:rPr>
              <a:pPr eaLnBrk="1" hangingPunct="1"/>
              <a:t>37</a:t>
            </a:fld>
            <a:endParaRPr lang="en-US" altLang="zh-CN">
              <a:latin typeface="微软雅黑" pitchFamily="34" charset="-122"/>
              <a:ea typeface="微软雅黑" pitchFamily="34" charset="-122"/>
            </a:endParaRPr>
          </a:p>
        </p:txBody>
      </p:sp>
      <p:sp>
        <p:nvSpPr>
          <p:cNvPr id="43011" name="Rectangle 2"/>
          <p:cNvSpPr>
            <a:spLocks noGrp="1" noChangeArrowheads="1"/>
          </p:cNvSpPr>
          <p:nvPr>
            <p:ph type="title"/>
          </p:nvPr>
        </p:nvSpPr>
        <p:spPr>
          <a:xfrm>
            <a:off x="457200" y="214290"/>
            <a:ext cx="7543800" cy="949308"/>
          </a:xfrm>
        </p:spPr>
        <p:txBody>
          <a:bodyPr/>
          <a:lstStyle/>
          <a:p>
            <a:pPr eaLnBrk="1" hangingPunct="1"/>
            <a:r>
              <a:rPr lang="en-US" altLang="zh-CN" sz="4000" b="0" dirty="0" smtClean="0">
                <a:latin typeface="微软雅黑" pitchFamily="34" charset="-122"/>
                <a:ea typeface="微软雅黑" pitchFamily="34" charset="-122"/>
              </a:rPr>
              <a:t>7</a:t>
            </a:r>
            <a:r>
              <a:rPr lang="zh-CN" altLang="en-US" sz="4000" b="0" dirty="0" smtClean="0">
                <a:latin typeface="微软雅黑" pitchFamily="34" charset="-122"/>
                <a:ea typeface="微软雅黑" pitchFamily="34" charset="-122"/>
              </a:rPr>
              <a:t>、偏移寻址 </a:t>
            </a:r>
            <a:r>
              <a:rPr lang="en-US" altLang="zh-CN" sz="4000" b="0" dirty="0" smtClean="0">
                <a:latin typeface="微软雅黑" pitchFamily="34" charset="-122"/>
                <a:ea typeface="微软雅黑" pitchFamily="34" charset="-122"/>
              </a:rPr>
              <a:t>- </a:t>
            </a:r>
            <a:r>
              <a:rPr lang="zh-CN" altLang="en-US" sz="4000" b="0" dirty="0" smtClean="0">
                <a:latin typeface="微软雅黑" pitchFamily="34" charset="-122"/>
                <a:ea typeface="微软雅黑" pitchFamily="34" charset="-122"/>
              </a:rPr>
              <a:t>基址寻址</a:t>
            </a:r>
          </a:p>
        </p:txBody>
      </p:sp>
      <p:sp>
        <p:nvSpPr>
          <p:cNvPr id="43012" name="Rectangle 3"/>
          <p:cNvSpPr>
            <a:spLocks noGrp="1" noChangeArrowheads="1"/>
          </p:cNvSpPr>
          <p:nvPr>
            <p:ph type="body" idx="1"/>
          </p:nvPr>
        </p:nvSpPr>
        <p:spPr>
          <a:xfrm>
            <a:off x="214282" y="5076849"/>
            <a:ext cx="8229600" cy="1495423"/>
          </a:xfrm>
        </p:spPr>
        <p:txBody>
          <a:bodyPr/>
          <a:lstStyle/>
          <a:p>
            <a:pPr lvl="1" eaLnBrk="1" hangingPunct="1">
              <a:lnSpc>
                <a:spcPct val="120000"/>
              </a:lnSpc>
            </a:pPr>
            <a:r>
              <a:rPr lang="zh-CN" altLang="en-US" sz="3200" dirty="0" smtClean="0">
                <a:latin typeface="微软雅黑" pitchFamily="34" charset="-122"/>
                <a:ea typeface="微软雅黑" pitchFamily="34" charset="-122"/>
              </a:rPr>
              <a:t>基址寄存器的位数可以设置得很长，从而可以在较大的存储空间中寻址。</a:t>
            </a:r>
          </a:p>
        </p:txBody>
      </p:sp>
      <p:pic>
        <p:nvPicPr>
          <p:cNvPr id="43013" name="Picture 4" descr="jxnr53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786" y="1500174"/>
            <a:ext cx="7000924" cy="3357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6CB6F3D-73F8-4C75-8457-485570241A24}" type="slidenum">
              <a:rPr lang="en-US" altLang="zh-CN">
                <a:latin typeface="微软雅黑" pitchFamily="34" charset="-122"/>
                <a:ea typeface="微软雅黑" pitchFamily="34" charset="-122"/>
              </a:rPr>
              <a:pPr eaLnBrk="1" hangingPunct="1"/>
              <a:t>38</a:t>
            </a:fld>
            <a:endParaRPr lang="en-US" altLang="zh-CN">
              <a:latin typeface="微软雅黑" pitchFamily="34" charset="-122"/>
              <a:ea typeface="微软雅黑" pitchFamily="34" charset="-122"/>
            </a:endParaRPr>
          </a:p>
        </p:txBody>
      </p:sp>
      <p:sp>
        <p:nvSpPr>
          <p:cNvPr id="44035" name="Rectangle 2"/>
          <p:cNvSpPr>
            <a:spLocks noGrp="1" noChangeArrowheads="1"/>
          </p:cNvSpPr>
          <p:nvPr>
            <p:ph type="title"/>
          </p:nvPr>
        </p:nvSpPr>
        <p:spPr>
          <a:xfrm>
            <a:off x="457200" y="122238"/>
            <a:ext cx="7543800" cy="877870"/>
          </a:xfrm>
        </p:spPr>
        <p:txBody>
          <a:bodyPr/>
          <a:lstStyle/>
          <a:p>
            <a:pPr eaLnBrk="1" hangingPunct="1"/>
            <a:r>
              <a:rPr lang="en-US" altLang="zh-CN" sz="4000" b="0" dirty="0" smtClean="0">
                <a:latin typeface="微软雅黑" pitchFamily="34" charset="-122"/>
                <a:ea typeface="微软雅黑" pitchFamily="34" charset="-122"/>
              </a:rPr>
              <a:t>7</a:t>
            </a:r>
            <a:r>
              <a:rPr lang="zh-CN" altLang="en-US" sz="4000" b="0" dirty="0" smtClean="0">
                <a:latin typeface="微软雅黑" pitchFamily="34" charset="-122"/>
                <a:ea typeface="微软雅黑" pitchFamily="34" charset="-122"/>
              </a:rPr>
              <a:t>、偏移寻址 </a:t>
            </a:r>
            <a:r>
              <a:rPr lang="en-US" altLang="zh-CN" sz="4000" b="0" dirty="0" smtClean="0">
                <a:latin typeface="微软雅黑" pitchFamily="34" charset="-122"/>
                <a:ea typeface="微软雅黑" pitchFamily="34" charset="-122"/>
              </a:rPr>
              <a:t>- </a:t>
            </a:r>
            <a:r>
              <a:rPr lang="zh-CN" altLang="en-US" sz="4000" b="0" dirty="0" smtClean="0">
                <a:latin typeface="微软雅黑" pitchFamily="34" charset="-122"/>
                <a:ea typeface="微软雅黑" pitchFamily="34" charset="-122"/>
              </a:rPr>
              <a:t>变址寻址</a:t>
            </a:r>
          </a:p>
        </p:txBody>
      </p:sp>
      <p:sp>
        <p:nvSpPr>
          <p:cNvPr id="44036" name="Rectangle 3"/>
          <p:cNvSpPr>
            <a:spLocks noGrp="1" noChangeArrowheads="1"/>
          </p:cNvSpPr>
          <p:nvPr>
            <p:ph type="body" idx="1"/>
          </p:nvPr>
        </p:nvSpPr>
        <p:spPr>
          <a:xfrm>
            <a:off x="357158" y="1214422"/>
            <a:ext cx="7500990" cy="5286412"/>
          </a:xfrm>
        </p:spPr>
        <p:txBody>
          <a:bodyPr/>
          <a:lstStyle/>
          <a:p>
            <a:pPr eaLnBrk="1" hangingPunct="1">
              <a:lnSpc>
                <a:spcPct val="150000"/>
              </a:lnSpc>
            </a:pPr>
            <a:r>
              <a:rPr lang="zh-CN" altLang="en-US" sz="3200" dirty="0" smtClean="0">
                <a:latin typeface="微软雅黑" pitchFamily="34" charset="-122"/>
                <a:ea typeface="微软雅黑" pitchFamily="34" charset="-122"/>
              </a:rPr>
              <a:t>变址寻址就是将指令的地址码部分给出的基准地址</a:t>
            </a:r>
            <a:r>
              <a:rPr lang="en-US" altLang="zh-CN" sz="3200" dirty="0" smtClean="0">
                <a:latin typeface="微软雅黑" pitchFamily="34" charset="-122"/>
                <a:ea typeface="微软雅黑" pitchFamily="34" charset="-122"/>
              </a:rPr>
              <a:t>A</a:t>
            </a:r>
            <a:r>
              <a:rPr lang="zh-CN" altLang="en-US" sz="3200" dirty="0" smtClean="0">
                <a:latin typeface="微软雅黑" pitchFamily="34" charset="-122"/>
                <a:ea typeface="微软雅黑" pitchFamily="34" charset="-122"/>
              </a:rPr>
              <a:t>与</a:t>
            </a:r>
            <a:r>
              <a:rPr lang="en-US" altLang="zh-CN" sz="3200" dirty="0" smtClean="0">
                <a:latin typeface="微软雅黑" pitchFamily="34" charset="-122"/>
                <a:ea typeface="微软雅黑" pitchFamily="34" charset="-122"/>
              </a:rPr>
              <a:t>CPU</a:t>
            </a:r>
            <a:r>
              <a:rPr lang="zh-CN" altLang="en-US" sz="3200" dirty="0" smtClean="0">
                <a:latin typeface="微软雅黑" pitchFamily="34" charset="-122"/>
                <a:ea typeface="微软雅黑" pitchFamily="34" charset="-122"/>
              </a:rPr>
              <a:t>内某特定的变址寄存器</a:t>
            </a:r>
            <a:r>
              <a:rPr lang="en-US" altLang="zh-CN" sz="3200" dirty="0" smtClean="0">
                <a:latin typeface="微软雅黑" pitchFamily="34" charset="-122"/>
                <a:ea typeface="微软雅黑" pitchFamily="34" charset="-122"/>
              </a:rPr>
              <a:t>Rx</a:t>
            </a:r>
            <a:r>
              <a:rPr lang="zh-CN" altLang="en-US" sz="3200" dirty="0" smtClean="0">
                <a:latin typeface="微软雅黑" pitchFamily="34" charset="-122"/>
                <a:ea typeface="微软雅黑" pitchFamily="34" charset="-122"/>
              </a:rPr>
              <a:t>中的内容相加，以形成操作数的有效地址，即：</a:t>
            </a:r>
            <a:r>
              <a:rPr lang="en-US" altLang="zh-CN" sz="3200" dirty="0" smtClean="0">
                <a:latin typeface="微软雅黑" pitchFamily="34" charset="-122"/>
                <a:ea typeface="微软雅黑" pitchFamily="34" charset="-122"/>
              </a:rPr>
              <a:t>EA</a:t>
            </a:r>
            <a:r>
              <a:rPr lang="zh-CN" altLang="en-US" sz="3200" dirty="0" smtClean="0">
                <a:latin typeface="微软雅黑" pitchFamily="34" charset="-122"/>
                <a:ea typeface="微软雅黑" pitchFamily="34" charset="-122"/>
              </a:rPr>
              <a:t>＝</a:t>
            </a:r>
            <a:r>
              <a:rPr lang="en-US" altLang="zh-CN" sz="3200" dirty="0" smtClean="0">
                <a:latin typeface="微软雅黑" pitchFamily="34" charset="-122"/>
                <a:ea typeface="微软雅黑" pitchFamily="34" charset="-122"/>
              </a:rPr>
              <a:t>A</a:t>
            </a:r>
            <a:r>
              <a:rPr lang="zh-CN" altLang="en-US" sz="3200" dirty="0" smtClean="0">
                <a:latin typeface="微软雅黑" pitchFamily="34" charset="-122"/>
                <a:ea typeface="微软雅黑" pitchFamily="34" charset="-122"/>
              </a:rPr>
              <a:t>＋</a:t>
            </a:r>
            <a:r>
              <a:rPr lang="en-US" altLang="zh-CN" sz="3200" dirty="0" smtClean="0">
                <a:latin typeface="微软雅黑" pitchFamily="34" charset="-122"/>
                <a:ea typeface="微软雅黑" pitchFamily="34" charset="-122"/>
              </a:rPr>
              <a:t>(Rx)</a:t>
            </a:r>
            <a:r>
              <a:rPr lang="zh-CN" altLang="en-US" sz="3200" dirty="0" smtClean="0">
                <a:latin typeface="微软雅黑" pitchFamily="34" charset="-122"/>
                <a:ea typeface="微软雅黑" pitchFamily="34" charset="-122"/>
              </a:rPr>
              <a:t>。用哪一个寄存器作为变址寄存器必须在硬件设计时就事先规定，变址寄存器</a:t>
            </a:r>
            <a:r>
              <a:rPr lang="en-US" altLang="zh-CN" sz="3200" dirty="0" smtClean="0">
                <a:latin typeface="微软雅黑" pitchFamily="34" charset="-122"/>
                <a:ea typeface="微软雅黑" pitchFamily="34" charset="-122"/>
              </a:rPr>
              <a:t>Rx</a:t>
            </a:r>
            <a:r>
              <a:rPr lang="zh-CN" altLang="en-US" sz="3200" dirty="0" smtClean="0">
                <a:latin typeface="微软雅黑" pitchFamily="34" charset="-122"/>
                <a:ea typeface="微软雅黑" pitchFamily="34" charset="-122"/>
              </a:rPr>
              <a:t>中的内容称为变址值，该值可正可负。</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F315E2E-6F52-4A8E-A19C-64C9209ACD5B}" type="slidenum">
              <a:rPr lang="en-US" altLang="zh-CN">
                <a:latin typeface="微软雅黑" pitchFamily="34" charset="-122"/>
                <a:ea typeface="微软雅黑" pitchFamily="34" charset="-122"/>
              </a:rPr>
              <a:pPr eaLnBrk="1" hangingPunct="1"/>
              <a:t>39</a:t>
            </a:fld>
            <a:endParaRPr lang="en-US" altLang="zh-CN">
              <a:latin typeface="微软雅黑" pitchFamily="34" charset="-122"/>
              <a:ea typeface="微软雅黑" pitchFamily="34" charset="-122"/>
            </a:endParaRPr>
          </a:p>
        </p:txBody>
      </p:sp>
      <p:sp>
        <p:nvSpPr>
          <p:cNvPr id="45059" name="Rectangle 2"/>
          <p:cNvSpPr>
            <a:spLocks noGrp="1" noChangeArrowheads="1"/>
          </p:cNvSpPr>
          <p:nvPr>
            <p:ph type="title"/>
          </p:nvPr>
        </p:nvSpPr>
        <p:spPr>
          <a:xfrm>
            <a:off x="457200" y="295276"/>
            <a:ext cx="7543800" cy="990584"/>
          </a:xfrm>
        </p:spPr>
        <p:txBody>
          <a:bodyPr/>
          <a:lstStyle/>
          <a:p>
            <a:pPr eaLnBrk="1" hangingPunct="1"/>
            <a:r>
              <a:rPr lang="en-US" altLang="zh-CN" sz="4000" b="0" dirty="0" smtClean="0">
                <a:latin typeface="微软雅黑" pitchFamily="34" charset="-122"/>
                <a:ea typeface="微软雅黑" pitchFamily="34" charset="-122"/>
              </a:rPr>
              <a:t>7</a:t>
            </a:r>
            <a:r>
              <a:rPr lang="zh-CN" altLang="en-US" sz="4000" b="0" dirty="0" smtClean="0">
                <a:latin typeface="微软雅黑" pitchFamily="34" charset="-122"/>
                <a:ea typeface="微软雅黑" pitchFamily="34" charset="-122"/>
              </a:rPr>
              <a:t>、偏移寻址 </a:t>
            </a:r>
            <a:r>
              <a:rPr lang="en-US" altLang="zh-CN" sz="4000" b="0" dirty="0" smtClean="0">
                <a:latin typeface="微软雅黑" pitchFamily="34" charset="-122"/>
                <a:ea typeface="微软雅黑" pitchFamily="34" charset="-122"/>
              </a:rPr>
              <a:t>- </a:t>
            </a:r>
            <a:r>
              <a:rPr lang="zh-CN" altLang="en-US" sz="4000" b="0" dirty="0" smtClean="0">
                <a:latin typeface="微软雅黑" pitchFamily="34" charset="-122"/>
                <a:ea typeface="微软雅黑" pitchFamily="34" charset="-122"/>
              </a:rPr>
              <a:t>变址寻址</a:t>
            </a:r>
          </a:p>
        </p:txBody>
      </p:sp>
      <p:pic>
        <p:nvPicPr>
          <p:cNvPr id="45060" name="Picture 4" descr="jxnr5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596" y="1785926"/>
            <a:ext cx="7572428" cy="3286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0EA4F0C-71D2-4A6C-8491-50250D290200}" type="slidenum">
              <a:rPr lang="en-US" altLang="zh-CN">
                <a:latin typeface="微软雅黑" pitchFamily="34" charset="-122"/>
                <a:ea typeface="微软雅黑" pitchFamily="34" charset="-122"/>
              </a:rPr>
              <a:pPr eaLnBrk="1" hangingPunct="1"/>
              <a:t>40</a:t>
            </a:fld>
            <a:endParaRPr lang="en-US" altLang="zh-CN">
              <a:latin typeface="微软雅黑" pitchFamily="34" charset="-122"/>
              <a:ea typeface="微软雅黑" pitchFamily="34" charset="-122"/>
            </a:endParaRPr>
          </a:p>
        </p:txBody>
      </p:sp>
      <p:sp>
        <p:nvSpPr>
          <p:cNvPr id="46083" name="Rectangle 2"/>
          <p:cNvSpPr>
            <a:spLocks noGrp="1" noChangeArrowheads="1"/>
          </p:cNvSpPr>
          <p:nvPr>
            <p:ph type="title"/>
          </p:nvPr>
        </p:nvSpPr>
        <p:spPr>
          <a:xfrm>
            <a:off x="457200" y="223838"/>
            <a:ext cx="7543800" cy="847708"/>
          </a:xfrm>
        </p:spPr>
        <p:txBody>
          <a:bodyPr/>
          <a:lstStyle/>
          <a:p>
            <a:pPr eaLnBrk="1" hangingPunct="1"/>
            <a:r>
              <a:rPr lang="en-US" altLang="zh-CN" sz="4000" b="0" dirty="0" smtClean="0">
                <a:latin typeface="微软雅黑" pitchFamily="34" charset="-122"/>
                <a:ea typeface="微软雅黑" pitchFamily="34" charset="-122"/>
              </a:rPr>
              <a:t>7</a:t>
            </a:r>
            <a:r>
              <a:rPr lang="zh-CN" altLang="en-US" sz="4000" b="0" dirty="0" smtClean="0">
                <a:latin typeface="微软雅黑" pitchFamily="34" charset="-122"/>
                <a:ea typeface="微软雅黑" pitchFamily="34" charset="-122"/>
              </a:rPr>
              <a:t>、偏移寻址 </a:t>
            </a:r>
            <a:r>
              <a:rPr lang="en-US" altLang="zh-CN" sz="4000" b="0" dirty="0" smtClean="0">
                <a:latin typeface="微软雅黑" pitchFamily="34" charset="-122"/>
                <a:ea typeface="微软雅黑" pitchFamily="34" charset="-122"/>
              </a:rPr>
              <a:t>- </a:t>
            </a:r>
            <a:r>
              <a:rPr lang="zh-CN" altLang="en-US" sz="4000" b="0" dirty="0" smtClean="0">
                <a:latin typeface="微软雅黑" pitchFamily="34" charset="-122"/>
                <a:ea typeface="微软雅黑" pitchFamily="34" charset="-122"/>
              </a:rPr>
              <a:t>变址寻址</a:t>
            </a:r>
          </a:p>
        </p:txBody>
      </p:sp>
      <p:sp>
        <p:nvSpPr>
          <p:cNvPr id="46084" name="Rectangle 3"/>
          <p:cNvSpPr>
            <a:spLocks noGrp="1" noChangeArrowheads="1"/>
          </p:cNvSpPr>
          <p:nvPr>
            <p:ph type="body" idx="1"/>
          </p:nvPr>
        </p:nvSpPr>
        <p:spPr>
          <a:xfrm>
            <a:off x="214282" y="1214422"/>
            <a:ext cx="7643866" cy="5214974"/>
          </a:xfrm>
        </p:spPr>
        <p:txBody>
          <a:bodyPr/>
          <a:lstStyle/>
          <a:p>
            <a:pPr lvl="1" eaLnBrk="1" hangingPunct="1">
              <a:lnSpc>
                <a:spcPct val="150000"/>
              </a:lnSpc>
            </a:pPr>
            <a:r>
              <a:rPr lang="zh-CN" altLang="en-US" sz="2800" dirty="0" smtClean="0">
                <a:latin typeface="微软雅黑" pitchFamily="34" charset="-122"/>
                <a:ea typeface="微软雅黑" pitchFamily="34" charset="-122"/>
              </a:rPr>
              <a:t>变址寻址方式是一种被广泛采用的寻址方式，最典型的应用就是将指令的地址码部分给出的地址</a:t>
            </a:r>
            <a:r>
              <a:rPr lang="en-US" altLang="zh-CN" sz="2800" dirty="0" smtClean="0">
                <a:latin typeface="微软雅黑" pitchFamily="34" charset="-122"/>
                <a:ea typeface="微软雅黑" pitchFamily="34" charset="-122"/>
              </a:rPr>
              <a:t>A</a:t>
            </a:r>
            <a:r>
              <a:rPr lang="zh-CN" altLang="en-US" sz="2800" dirty="0" smtClean="0">
                <a:latin typeface="微软雅黑" pitchFamily="34" charset="-122"/>
                <a:ea typeface="微软雅黑" pitchFamily="34" charset="-122"/>
              </a:rPr>
              <a:t>作为基准地址，而将变址寄存器</a:t>
            </a:r>
            <a:r>
              <a:rPr lang="en-US" altLang="zh-CN" sz="2800" dirty="0" smtClean="0">
                <a:latin typeface="微软雅黑" pitchFamily="34" charset="-122"/>
                <a:ea typeface="微软雅黑" pitchFamily="34" charset="-122"/>
              </a:rPr>
              <a:t>Rx</a:t>
            </a:r>
            <a:r>
              <a:rPr lang="zh-CN" altLang="en-US" sz="2800" dirty="0" smtClean="0">
                <a:latin typeface="微软雅黑" pitchFamily="34" charset="-122"/>
                <a:ea typeface="微软雅黑" pitchFamily="34" charset="-122"/>
              </a:rPr>
              <a:t>中的内容作为修改量。在遇到需要频繁修改操作数地址时，无须修改指令，只要修改</a:t>
            </a:r>
            <a:r>
              <a:rPr lang="en-US" altLang="zh-CN" sz="2800" dirty="0" smtClean="0">
                <a:latin typeface="微软雅黑" pitchFamily="34" charset="-122"/>
                <a:ea typeface="微软雅黑" pitchFamily="34" charset="-122"/>
              </a:rPr>
              <a:t>Rx</a:t>
            </a:r>
            <a:r>
              <a:rPr lang="zh-CN" altLang="en-US" sz="2800" dirty="0" smtClean="0">
                <a:latin typeface="微软雅黑" pitchFamily="34" charset="-122"/>
                <a:ea typeface="微软雅黑" pitchFamily="34" charset="-122"/>
              </a:rPr>
              <a:t>中的变址值就可以了，这对于数组运算、字符串操作等一些进行成批数据处理的指令是很有用的。</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8EA0CA4-8E49-4E8F-BB59-F0A32891A25E}" type="slidenum">
              <a:rPr lang="en-US" altLang="zh-CN">
                <a:latin typeface="微软雅黑" pitchFamily="34" charset="-122"/>
                <a:ea typeface="微软雅黑" pitchFamily="34" charset="-122"/>
              </a:rPr>
              <a:pPr eaLnBrk="1" hangingPunct="1"/>
              <a:t>41</a:t>
            </a:fld>
            <a:endParaRPr lang="en-US" altLang="zh-CN">
              <a:latin typeface="微软雅黑" pitchFamily="34" charset="-122"/>
              <a:ea typeface="微软雅黑" pitchFamily="34" charset="-122"/>
            </a:endParaRPr>
          </a:p>
        </p:txBody>
      </p:sp>
      <p:sp>
        <p:nvSpPr>
          <p:cNvPr id="47107" name="Rectangle 2"/>
          <p:cNvSpPr>
            <a:spLocks noGrp="1" noChangeArrowheads="1"/>
          </p:cNvSpPr>
          <p:nvPr>
            <p:ph type="title"/>
          </p:nvPr>
        </p:nvSpPr>
        <p:spPr>
          <a:xfrm>
            <a:off x="457200" y="500042"/>
            <a:ext cx="3543296" cy="642942"/>
          </a:xfrm>
        </p:spPr>
        <p:txBody>
          <a:bodyPr/>
          <a:lstStyle/>
          <a:p>
            <a:pPr eaLnBrk="1" hangingPunct="1"/>
            <a:r>
              <a:rPr lang="en-US" altLang="zh-CN" sz="3500" dirty="0" smtClean="0">
                <a:latin typeface="微软雅黑" pitchFamily="34" charset="-122"/>
                <a:ea typeface="微软雅黑" pitchFamily="34" charset="-122"/>
              </a:rPr>
              <a:t>8</a:t>
            </a:r>
            <a:r>
              <a:rPr lang="zh-CN" altLang="en-US" sz="3500" dirty="0" smtClean="0">
                <a:latin typeface="微软雅黑" pitchFamily="34" charset="-122"/>
                <a:ea typeface="微软雅黑" pitchFamily="34" charset="-122"/>
              </a:rPr>
              <a:t>、段寻址方式</a:t>
            </a:r>
          </a:p>
        </p:txBody>
      </p:sp>
      <p:pic>
        <p:nvPicPr>
          <p:cNvPr id="47108" name="Picture 3" descr="4a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14810" y="500042"/>
            <a:ext cx="2571768" cy="2886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p:cNvPicPr>
            <a:picLocks noChangeAspect="1" noChangeArrowheads="1"/>
          </p:cNvPicPr>
          <p:nvPr/>
        </p:nvPicPr>
        <p:blipFill>
          <a:blip r:embed="rId3"/>
          <a:srcRect/>
          <a:stretch>
            <a:fillRect/>
          </a:stretch>
        </p:blipFill>
        <p:spPr bwMode="auto">
          <a:xfrm>
            <a:off x="4214810" y="3643314"/>
            <a:ext cx="3357586" cy="2714644"/>
          </a:xfrm>
          <a:prstGeom prst="rect">
            <a:avLst/>
          </a:prstGeom>
          <a:noFill/>
          <a:ln w="9525">
            <a:noFill/>
            <a:miter lim="800000"/>
            <a:headEnd/>
            <a:tailEnd/>
          </a:ln>
          <a:effectLst/>
        </p:spPr>
      </p:pic>
      <p:sp>
        <p:nvSpPr>
          <p:cNvPr id="6" name="Rectangle 2"/>
          <p:cNvSpPr txBox="1">
            <a:spLocks noChangeArrowheads="1"/>
          </p:cNvSpPr>
          <p:nvPr/>
        </p:nvSpPr>
        <p:spPr bwMode="auto">
          <a:xfrm>
            <a:off x="500034" y="3714752"/>
            <a:ext cx="3543296" cy="642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500" b="1" i="0" u="none" strike="noStrike" kern="0" cap="none" spc="0" normalizeH="0" baseline="0" noProof="0" dirty="0" smtClean="0">
                <a:ln>
                  <a:noFill/>
                </a:ln>
                <a:solidFill>
                  <a:schemeClr val="tx2"/>
                </a:solidFill>
                <a:effectLst/>
                <a:uLnTx/>
                <a:uFillTx/>
                <a:latin typeface="微软雅黑" pitchFamily="34" charset="-122"/>
                <a:ea typeface="微软雅黑" pitchFamily="34" charset="-122"/>
                <a:cs typeface="+mj-cs"/>
              </a:rPr>
              <a:t>9</a:t>
            </a:r>
            <a:r>
              <a:rPr kumimoji="0" lang="zh-CN" altLang="en-US" sz="3500" b="1" i="0" u="none" strike="noStrike" kern="0" cap="none" spc="0" normalizeH="0" baseline="0" noProof="0" dirty="0" smtClean="0">
                <a:ln>
                  <a:noFill/>
                </a:ln>
                <a:solidFill>
                  <a:schemeClr val="tx2"/>
                </a:solidFill>
                <a:effectLst/>
                <a:uLnTx/>
                <a:uFillTx/>
                <a:latin typeface="微软雅黑" pitchFamily="34" charset="-122"/>
                <a:ea typeface="微软雅黑" pitchFamily="34" charset="-122"/>
                <a:cs typeface="+mj-cs"/>
              </a:rPr>
              <a:t>、堆栈址方式</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5160E9E1-A074-4BE6-9C73-675841B9C8E1}" type="slidenum">
              <a:rPr lang="en-US" altLang="zh-CN" smtClean="0"/>
              <a:pPr>
                <a:defRPr/>
              </a:pPr>
              <a:t>42</a:t>
            </a:fld>
            <a:endParaRPr lang="en-US" altLang="zh-CN"/>
          </a:p>
        </p:txBody>
      </p:sp>
      <p:sp>
        <p:nvSpPr>
          <p:cNvPr id="3" name="Rectangle 2"/>
          <p:cNvSpPr>
            <a:spLocks noChangeArrowheads="1"/>
          </p:cNvSpPr>
          <p:nvPr/>
        </p:nvSpPr>
        <p:spPr bwMode="auto">
          <a:xfrm>
            <a:off x="167283" y="228740"/>
            <a:ext cx="774677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00050">
              <a:defRPr>
                <a:solidFill>
                  <a:schemeClr val="tx1"/>
                </a:solidFill>
                <a:latin typeface="Arial" pitchFamily="34" charset="0"/>
                <a:ea typeface="宋体" pitchFamily="2" charset="-122"/>
                <a:cs typeface="宋体" pitchFamily="2" charset="-122"/>
              </a:defRPr>
            </a:lvl1pPr>
            <a:lvl2pPr>
              <a:defRPr>
                <a:solidFill>
                  <a:schemeClr val="tx1"/>
                </a:solidFill>
                <a:latin typeface="Arial" pitchFamily="34" charset="0"/>
                <a:ea typeface="宋体" pitchFamily="2" charset="-122"/>
                <a:cs typeface="宋体" pitchFamily="2" charset="-122"/>
              </a:defRPr>
            </a:lvl2pPr>
            <a:lvl3pPr>
              <a:defRPr>
                <a:solidFill>
                  <a:schemeClr val="tx1"/>
                </a:solidFill>
                <a:latin typeface="Arial" pitchFamily="34" charset="0"/>
                <a:ea typeface="宋体" pitchFamily="2" charset="-122"/>
                <a:cs typeface="宋体" pitchFamily="2" charset="-122"/>
              </a:defRPr>
            </a:lvl3pPr>
            <a:lvl4pPr>
              <a:defRPr>
                <a:solidFill>
                  <a:schemeClr val="tx1"/>
                </a:solidFill>
                <a:latin typeface="Arial" pitchFamily="34" charset="0"/>
                <a:ea typeface="宋体" pitchFamily="2" charset="-122"/>
                <a:cs typeface="宋体" pitchFamily="2" charset="-122"/>
              </a:defRPr>
            </a:lvl4pPr>
            <a:lvl5pPr>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R="0" lvl="0" indent="0" algn="l" defTabSz="914400" rtl="0" eaLnBrk="1" fontAlgn="base" latinLnBrk="0" hangingPunct="1">
              <a:lnSpc>
                <a:spcPct val="100000"/>
              </a:lnSpc>
              <a:spcBef>
                <a:spcPct val="0"/>
              </a:spcBef>
              <a:spcAft>
                <a:spcPct val="0"/>
              </a:spcAft>
              <a:buClrTx/>
              <a:buSzTx/>
              <a:tabLst/>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例</a:t>
            </a:r>
            <a:r>
              <a:rPr kumimoji="0" lang="en-US" altLang="zh-CN"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1. </a:t>
            </a: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某机的字长为</a:t>
            </a:r>
            <a:r>
              <a:rPr kumimoji="0" lang="en-US" altLang="zh-CN"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16</a:t>
            </a: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位，设有单地址指令和双地址指令</a:t>
            </a:r>
            <a:endParaRPr kumimoji="0" lang="en-US" altLang="zh-CN"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p>
            <a:pPr marR="0" lvl="0" indent="0" algn="l" defTabSz="914400" rtl="0" eaLnBrk="1" fontAlgn="base" latinLnBrk="0" hangingPunct="1">
              <a:lnSpc>
                <a:spcPct val="100000"/>
              </a:lnSpc>
              <a:spcBef>
                <a:spcPct val="0"/>
              </a:spcBef>
              <a:spcAft>
                <a:spcPct val="0"/>
              </a:spcAft>
              <a:buClrTx/>
              <a:buSzTx/>
              <a:tabLst/>
            </a:pPr>
            <a:r>
              <a:rPr lang="en-US" altLang="zh-CN" sz="2400" dirty="0">
                <a:latin typeface="微软雅黑" panose="020B0503020204020204" pitchFamily="34" charset="-122"/>
                <a:ea typeface="微软雅黑" panose="020B0503020204020204" pitchFamily="34" charset="-122"/>
                <a:cs typeface="Times New Roman" pitchFamily="18" charset="0"/>
              </a:rPr>
              <a:t> </a:t>
            </a:r>
            <a:r>
              <a:rPr lang="en-US" altLang="zh-CN" sz="2400" dirty="0" smtClean="0">
                <a:latin typeface="微软雅黑" panose="020B0503020204020204" pitchFamily="34" charset="-122"/>
                <a:ea typeface="微软雅黑" panose="020B0503020204020204" pitchFamily="34" charset="-122"/>
                <a:cs typeface="Times New Roman" pitchFamily="18" charset="0"/>
              </a:rPr>
              <a:t>      </a:t>
            </a: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两类，若每个地址字段均为</a:t>
            </a:r>
            <a:r>
              <a:rPr kumimoji="0" lang="en-US" altLang="zh-CN"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6</a:t>
            </a: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位，且双地址指令有</a:t>
            </a:r>
            <a:r>
              <a:rPr kumimoji="0" lang="en-US" altLang="zh-CN"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X</a:t>
            </a:r>
          </a:p>
          <a:p>
            <a:pPr marR="0" lvl="0" indent="0" algn="l" defTabSz="914400" rtl="0" eaLnBrk="1" fontAlgn="base" latinLnBrk="0" hangingPunct="1">
              <a:lnSpc>
                <a:spcPct val="100000"/>
              </a:lnSpc>
              <a:spcBef>
                <a:spcPct val="0"/>
              </a:spcBef>
              <a:spcAft>
                <a:spcPct val="0"/>
              </a:spcAft>
              <a:buClrTx/>
              <a:buSzTx/>
              <a:tabLst/>
            </a:pPr>
            <a:r>
              <a:rPr lang="en-US" altLang="zh-CN" sz="2400" dirty="0">
                <a:latin typeface="微软雅黑" panose="020B0503020204020204" pitchFamily="34" charset="-122"/>
                <a:ea typeface="微软雅黑" panose="020B0503020204020204" pitchFamily="34" charset="-122"/>
                <a:cs typeface="Times New Roman" pitchFamily="18" charset="0"/>
              </a:rPr>
              <a:t> </a:t>
            </a:r>
            <a:r>
              <a:rPr lang="en-US" altLang="zh-CN" sz="2400" dirty="0" smtClean="0">
                <a:latin typeface="微软雅黑" panose="020B0503020204020204" pitchFamily="34" charset="-122"/>
                <a:ea typeface="微软雅黑" panose="020B0503020204020204" pitchFamily="34" charset="-122"/>
                <a:cs typeface="Times New Roman" pitchFamily="18" charset="0"/>
              </a:rPr>
              <a:t>      </a:t>
            </a: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类，问单地址指令最多可以有多少类</a:t>
            </a:r>
            <a:r>
              <a:rPr kumimoji="0" lang="en-US" altLang="zh-CN"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 </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p:txBody>
      </p:sp>
      <p:pic>
        <p:nvPicPr>
          <p:cNvPr id="1025"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768" y="1958360"/>
            <a:ext cx="3149870" cy="151796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a:spLocks noChangeArrowheads="1"/>
          </p:cNvSpPr>
          <p:nvPr/>
        </p:nvSpPr>
        <p:spPr bwMode="auto">
          <a:xfrm>
            <a:off x="183659" y="1523033"/>
            <a:ext cx="756084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a:defRPr>
                <a:solidFill>
                  <a:schemeClr val="tx1"/>
                </a:solidFill>
                <a:latin typeface="Arial" pitchFamily="34" charset="0"/>
                <a:ea typeface="宋体" pitchFamily="2" charset="-122"/>
                <a:cs typeface="宋体" pitchFamily="2" charset="-122"/>
              </a:defRPr>
            </a:lvl1pPr>
            <a:lvl2pPr>
              <a:defRPr>
                <a:solidFill>
                  <a:schemeClr val="tx1"/>
                </a:solidFill>
                <a:latin typeface="Arial" pitchFamily="34" charset="0"/>
                <a:ea typeface="宋体" pitchFamily="2" charset="-122"/>
                <a:cs typeface="宋体" pitchFamily="2" charset="-122"/>
              </a:defRPr>
            </a:lvl2pPr>
            <a:lvl3pPr>
              <a:defRPr>
                <a:solidFill>
                  <a:schemeClr val="tx1"/>
                </a:solidFill>
                <a:latin typeface="Arial" pitchFamily="34" charset="0"/>
                <a:ea typeface="宋体" pitchFamily="2" charset="-122"/>
                <a:cs typeface="宋体" pitchFamily="2" charset="-122"/>
              </a:defRPr>
            </a:lvl3pPr>
            <a:lvl4pPr>
              <a:defRPr>
                <a:solidFill>
                  <a:schemeClr val="tx1"/>
                </a:solidFill>
                <a:latin typeface="Arial" pitchFamily="34" charset="0"/>
                <a:ea typeface="宋体" pitchFamily="2" charset="-122"/>
                <a:cs typeface="宋体" pitchFamily="2" charset="-122"/>
              </a:defRPr>
            </a:lvl4pPr>
            <a:lvl5pPr>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indent="0"/>
            <a:r>
              <a:rPr lang="zh-CN" altLang="en-US" dirty="0">
                <a:latin typeface="微软雅黑" panose="020B0503020204020204" pitchFamily="34" charset="-122"/>
                <a:ea typeface="微软雅黑" panose="020B0503020204020204" pitchFamily="34" charset="-122"/>
                <a:cs typeface="Times New Roman" pitchFamily="18" charset="0"/>
              </a:rPr>
              <a:t>答：由已知条件可以得到单地址和双地址的指令格式如下</a:t>
            </a:r>
            <a:r>
              <a:rPr lang="zh-CN" altLang="en-US" dirty="0" smtClean="0">
                <a:latin typeface="微软雅黑" panose="020B0503020204020204" pitchFamily="34" charset="-122"/>
                <a:ea typeface="微软雅黑" panose="020B0503020204020204" pitchFamily="34" charset="-122"/>
                <a:cs typeface="Times New Roman" pitchFamily="18" charset="0"/>
              </a:rPr>
              <a:t>：</a:t>
            </a:r>
            <a:endParaRPr kumimoji="0" lang="zh-CN" altLang="en-US"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p:txBody>
      </p:sp>
      <p:sp>
        <p:nvSpPr>
          <p:cNvPr id="6" name="Rectangle 3"/>
          <p:cNvSpPr>
            <a:spLocks noChangeArrowheads="1"/>
          </p:cNvSpPr>
          <p:nvPr/>
        </p:nvSpPr>
        <p:spPr bwMode="auto">
          <a:xfrm>
            <a:off x="539552" y="3681958"/>
            <a:ext cx="7704856" cy="2788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a:defRPr>
                <a:solidFill>
                  <a:schemeClr val="tx1"/>
                </a:solidFill>
                <a:latin typeface="Arial" pitchFamily="34" charset="0"/>
                <a:ea typeface="宋体" pitchFamily="2" charset="-122"/>
                <a:cs typeface="宋体" pitchFamily="2" charset="-122"/>
              </a:defRPr>
            </a:lvl1pPr>
            <a:lvl2pPr>
              <a:defRPr>
                <a:solidFill>
                  <a:schemeClr val="tx1"/>
                </a:solidFill>
                <a:latin typeface="Arial" pitchFamily="34" charset="0"/>
                <a:ea typeface="宋体" pitchFamily="2" charset="-122"/>
                <a:cs typeface="宋体" pitchFamily="2" charset="-122"/>
              </a:defRPr>
            </a:lvl2pPr>
            <a:lvl3pPr>
              <a:defRPr>
                <a:solidFill>
                  <a:schemeClr val="tx1"/>
                </a:solidFill>
                <a:latin typeface="Arial" pitchFamily="34" charset="0"/>
                <a:ea typeface="宋体" pitchFamily="2" charset="-122"/>
                <a:cs typeface="宋体" pitchFamily="2" charset="-122"/>
              </a:defRPr>
            </a:lvl3pPr>
            <a:lvl4pPr>
              <a:defRPr>
                <a:solidFill>
                  <a:schemeClr val="tx1"/>
                </a:solidFill>
                <a:latin typeface="Arial" pitchFamily="34" charset="0"/>
                <a:ea typeface="宋体" pitchFamily="2" charset="-122"/>
                <a:cs typeface="宋体" pitchFamily="2" charset="-122"/>
              </a:defRPr>
            </a:lvl4pPr>
            <a:lvl5pPr>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      </a:t>
            </a:r>
            <a:r>
              <a:rPr kumimoji="0" lang="zh-CN"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由于每个地址码字段占</a:t>
            </a:r>
            <a:r>
              <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6</a:t>
            </a:r>
            <a:r>
              <a:rPr kumimoji="0" lang="zh-CN" altLang="en-US"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位，指令字长为</a:t>
            </a:r>
            <a:r>
              <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16</a:t>
            </a:r>
            <a:r>
              <a:rPr kumimoji="0" lang="zh-CN" altLang="en-US"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位，所以在单地址指令的操作码字段有</a:t>
            </a:r>
            <a:r>
              <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(16-6)=10</a:t>
            </a:r>
            <a:r>
              <a:rPr kumimoji="0" lang="zh-CN" altLang="en-US"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位，双地址指令的操作码字段有</a:t>
            </a:r>
            <a:r>
              <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4</a:t>
            </a:r>
            <a:r>
              <a:rPr kumimoji="0" lang="zh-CN" altLang="en-US"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位</a:t>
            </a:r>
            <a:r>
              <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(16-6x2=4)</a:t>
            </a:r>
            <a:r>
              <a:rPr kumimoji="0" lang="zh-CN" altLang="en-US"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endPar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endParaRPr>
          </a:p>
          <a:p>
            <a:pPr marL="0" marR="0" lvl="0" indent="0" algn="l" defTabSz="914400" rtl="0" eaLnBrk="1" fontAlgn="base" latinLnBrk="0" hangingPunct="1">
              <a:lnSpc>
                <a:spcPct val="120000"/>
              </a:lnSpc>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       为了将单地址指令与双地址指令区别开，它们的操作码部分必须不同。</a:t>
            </a:r>
            <a:endParaRPr kumimoji="0" lang="zh-CN" altLang="en-US"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20000"/>
              </a:lnSpc>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       由于双地址指令总共有</a:t>
            </a:r>
            <a:r>
              <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X</a:t>
            </a:r>
            <a:r>
              <a:rPr kumimoji="0" lang="zh-CN" altLang="en-US"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类，所以在</a:t>
            </a:r>
            <a:r>
              <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4</a:t>
            </a:r>
            <a:r>
              <a:rPr kumimoji="0" lang="zh-CN" altLang="en-US"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位操作码字段中，还能被单地址指令使用前</a:t>
            </a:r>
            <a:r>
              <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4</a:t>
            </a:r>
            <a:r>
              <a:rPr kumimoji="0" lang="zh-CN" altLang="en-US"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位指令前缀的总数为</a:t>
            </a:r>
            <a:r>
              <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2</a:t>
            </a:r>
            <a:r>
              <a:rPr kumimoji="0" lang="en-US" altLang="zh-CN" b="0" i="0" u="none" strike="noStrike" cap="none" normalizeH="0" baseline="30000" dirty="0" smtClean="0">
                <a:ln>
                  <a:noFill/>
                </a:ln>
                <a:solidFill>
                  <a:schemeClr val="tx1"/>
                </a:solidFill>
                <a:effectLst/>
                <a:latin typeface="微软雅黑" pitchFamily="34" charset="-122"/>
                <a:ea typeface="微软雅黑" pitchFamily="34" charset="-122"/>
                <a:cs typeface="Times New Roman" pitchFamily="18" charset="0"/>
              </a:rPr>
              <a:t>4</a:t>
            </a:r>
            <a:r>
              <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-X</a:t>
            </a:r>
            <a:r>
              <a:rPr kumimoji="0" lang="zh-CN" altLang="en-US"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 </a:t>
            </a:r>
            <a:endParaRPr kumimoji="0" lang="zh-CN" altLang="en-US"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20000"/>
              </a:lnSpc>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       单地址指令的操作码长度为</a:t>
            </a:r>
            <a:r>
              <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10</a:t>
            </a:r>
            <a:r>
              <a:rPr kumimoji="0" lang="zh-CN" altLang="en-US"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位，在</a:t>
            </a:r>
            <a:r>
              <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4</a:t>
            </a:r>
            <a:r>
              <a:rPr kumimoji="0" lang="zh-CN" altLang="en-US"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位指令前缀之后，余下的</a:t>
            </a:r>
            <a:r>
              <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(10-4=6)</a:t>
            </a:r>
            <a:r>
              <a:rPr kumimoji="0" lang="zh-CN" altLang="en-US"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位总共可以表示的不同二进制数种类为</a:t>
            </a:r>
            <a:r>
              <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2</a:t>
            </a:r>
            <a:r>
              <a:rPr kumimoji="0" lang="en-US" altLang="zh-CN" b="0" i="0" u="none" strike="noStrike" cap="none" normalizeH="0" baseline="30000" dirty="0" smtClean="0">
                <a:ln>
                  <a:noFill/>
                </a:ln>
                <a:solidFill>
                  <a:schemeClr val="tx1"/>
                </a:solidFill>
                <a:effectLst/>
                <a:latin typeface="微软雅黑" pitchFamily="34" charset="-122"/>
                <a:ea typeface="微软雅黑" pitchFamily="34" charset="-122"/>
                <a:cs typeface="Times New Roman" pitchFamily="18" charset="0"/>
              </a:rPr>
              <a:t>6</a:t>
            </a:r>
            <a:r>
              <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=64</a:t>
            </a:r>
            <a:r>
              <a:rPr kumimoji="0" lang="zh-CN" altLang="en-US"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种。</a:t>
            </a:r>
            <a:endPar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endParaRPr>
          </a:p>
          <a:p>
            <a:pPr marL="0" marR="0" lvl="0" indent="0" algn="l" defTabSz="914400" rtl="0" eaLnBrk="0" fontAlgn="base" latinLnBrk="0" hangingPunct="0">
              <a:lnSpc>
                <a:spcPct val="120000"/>
              </a:lnSpc>
              <a:spcBef>
                <a:spcPct val="0"/>
              </a:spcBef>
              <a:spcAft>
                <a:spcPct val="0"/>
              </a:spcAft>
              <a:buClrTx/>
              <a:buSzTx/>
              <a:buFontTx/>
              <a:buNone/>
              <a:tabLst/>
            </a:pPr>
            <a:r>
              <a:rPr lang="en-US" altLang="zh-CN" dirty="0">
                <a:latin typeface="微软雅黑" pitchFamily="34" charset="-122"/>
                <a:ea typeface="微软雅黑" pitchFamily="34" charset="-122"/>
                <a:cs typeface="Times New Roman" pitchFamily="18" charset="0"/>
              </a:rPr>
              <a:t> </a:t>
            </a:r>
            <a:r>
              <a:rPr lang="en-US" altLang="zh-CN" dirty="0" smtClean="0">
                <a:latin typeface="微软雅黑" pitchFamily="34" charset="-122"/>
                <a:ea typeface="微软雅黑" pitchFamily="34" charset="-122"/>
                <a:cs typeface="Times New Roman" pitchFamily="18" charset="0"/>
              </a:rPr>
              <a:t>      </a:t>
            </a:r>
            <a:r>
              <a:rPr kumimoji="0" lang="zh-CN" altLang="en-US"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所以单地址指令最多可以有</a:t>
            </a:r>
            <a:r>
              <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(2</a:t>
            </a:r>
            <a:r>
              <a:rPr kumimoji="0" lang="en-US" altLang="zh-CN" b="0" i="0" u="none" strike="noStrike" cap="none" normalizeH="0" baseline="30000" dirty="0" smtClean="0">
                <a:ln>
                  <a:noFill/>
                </a:ln>
                <a:solidFill>
                  <a:schemeClr val="tx1"/>
                </a:solidFill>
                <a:effectLst/>
                <a:latin typeface="微软雅黑" pitchFamily="34" charset="-122"/>
                <a:ea typeface="微软雅黑" pitchFamily="34" charset="-122"/>
                <a:cs typeface="Times New Roman" pitchFamily="18" charset="0"/>
              </a:rPr>
              <a:t>4</a:t>
            </a:r>
            <a:r>
              <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-X)*64</a:t>
            </a:r>
            <a:r>
              <a:rPr kumimoji="0" lang="zh-CN" altLang="en-US"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类。</a:t>
            </a:r>
            <a:endParaRPr kumimoji="0" lang="zh-CN" altLang="en-US"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94702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6553200" y="6357260"/>
            <a:ext cx="2133600" cy="457200"/>
          </a:xfrm>
        </p:spPr>
        <p:txBody>
          <a:bodyPr/>
          <a:lstStyle/>
          <a:p>
            <a:pPr>
              <a:defRPr/>
            </a:pPr>
            <a:fld id="{5160E9E1-A074-4BE6-9C73-675841B9C8E1}" type="slidenum">
              <a:rPr lang="en-US" altLang="zh-CN" smtClean="0"/>
              <a:pPr>
                <a:defRPr/>
              </a:pPr>
              <a:t>43</a:t>
            </a:fld>
            <a:endParaRPr lang="en-US" altLang="zh-CN"/>
          </a:p>
        </p:txBody>
      </p:sp>
      <p:sp>
        <p:nvSpPr>
          <p:cNvPr id="3" name="Rectangle 2"/>
          <p:cNvSpPr>
            <a:spLocks noChangeArrowheads="1"/>
          </p:cNvSpPr>
          <p:nvPr/>
        </p:nvSpPr>
        <p:spPr bwMode="auto">
          <a:xfrm>
            <a:off x="90691" y="188640"/>
            <a:ext cx="774677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00050">
              <a:defRPr>
                <a:solidFill>
                  <a:schemeClr val="tx1"/>
                </a:solidFill>
                <a:latin typeface="Arial" pitchFamily="34" charset="0"/>
                <a:ea typeface="宋体" pitchFamily="2" charset="-122"/>
                <a:cs typeface="宋体" pitchFamily="2" charset="-122"/>
              </a:defRPr>
            </a:lvl1pPr>
            <a:lvl2pPr>
              <a:defRPr>
                <a:solidFill>
                  <a:schemeClr val="tx1"/>
                </a:solidFill>
                <a:latin typeface="Arial" pitchFamily="34" charset="0"/>
                <a:ea typeface="宋体" pitchFamily="2" charset="-122"/>
                <a:cs typeface="宋体" pitchFamily="2" charset="-122"/>
              </a:defRPr>
            </a:lvl2pPr>
            <a:lvl3pPr>
              <a:defRPr>
                <a:solidFill>
                  <a:schemeClr val="tx1"/>
                </a:solidFill>
                <a:latin typeface="Arial" pitchFamily="34" charset="0"/>
                <a:ea typeface="宋体" pitchFamily="2" charset="-122"/>
                <a:cs typeface="宋体" pitchFamily="2" charset="-122"/>
              </a:defRPr>
            </a:lvl3pPr>
            <a:lvl4pPr>
              <a:defRPr>
                <a:solidFill>
                  <a:schemeClr val="tx1"/>
                </a:solidFill>
                <a:latin typeface="Arial" pitchFamily="34" charset="0"/>
                <a:ea typeface="宋体" pitchFamily="2" charset="-122"/>
                <a:cs typeface="宋体" pitchFamily="2" charset="-122"/>
              </a:defRPr>
            </a:lvl4pPr>
            <a:lvl5pPr>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indent="0"/>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例</a:t>
            </a:r>
            <a:r>
              <a:rPr lang="en-US" altLang="zh-CN" sz="2400" dirty="0">
                <a:latin typeface="微软雅黑" panose="020B0503020204020204" pitchFamily="34" charset="-122"/>
                <a:ea typeface="微软雅黑" panose="020B0503020204020204" pitchFamily="34" charset="-122"/>
              </a:rPr>
              <a:t>2. </a:t>
            </a:r>
            <a:r>
              <a:rPr lang="zh-CN" altLang="zh-CN" sz="2400" dirty="0">
                <a:latin typeface="微软雅黑" panose="020B0503020204020204" pitchFamily="34" charset="-122"/>
                <a:ea typeface="微软雅黑" panose="020B0503020204020204" pitchFamily="34" charset="-122"/>
              </a:rPr>
              <a:t>某计算机的字长为</a:t>
            </a:r>
            <a:r>
              <a:rPr lang="en-US" altLang="zh-CN" sz="2400" dirty="0">
                <a:latin typeface="微软雅黑" panose="020B0503020204020204" pitchFamily="34" charset="-122"/>
                <a:ea typeface="微软雅黑" panose="020B0503020204020204" pitchFamily="34" charset="-122"/>
              </a:rPr>
              <a:t>16</a:t>
            </a:r>
            <a:r>
              <a:rPr lang="zh-CN" altLang="zh-CN" sz="2400" dirty="0">
                <a:latin typeface="微软雅黑" panose="020B0503020204020204" pitchFamily="34" charset="-122"/>
                <a:ea typeface="微软雅黑" panose="020B0503020204020204" pitchFamily="34" charset="-122"/>
              </a:rPr>
              <a:t>位，存储器按字编址，访问</a:t>
            </a:r>
            <a:r>
              <a:rPr lang="zh-CN" altLang="zh-CN" sz="2400" dirty="0" smtClean="0">
                <a:latin typeface="微软雅黑" panose="020B0503020204020204" pitchFamily="34" charset="-122"/>
                <a:ea typeface="微软雅黑" panose="020B0503020204020204" pitchFamily="34" charset="-122"/>
              </a:rPr>
              <a:t>指</a:t>
            </a:r>
            <a:endParaRPr lang="en-US" altLang="zh-CN" sz="2400" dirty="0" smtClean="0">
              <a:latin typeface="微软雅黑" panose="020B0503020204020204" pitchFamily="34" charset="-122"/>
              <a:ea typeface="微软雅黑" panose="020B0503020204020204" pitchFamily="34" charset="-122"/>
            </a:endParaRPr>
          </a:p>
          <a:p>
            <a:pPr indent="0"/>
            <a:r>
              <a:rPr lang="en-US" altLang="zh-CN" sz="2400" dirty="0">
                <a:latin typeface="微软雅黑" panose="020B0503020204020204" pitchFamily="34" charset="-122"/>
                <a:ea typeface="微软雅黑" panose="020B0503020204020204" pitchFamily="34" charset="-122"/>
              </a:rPr>
              <a:t> </a:t>
            </a:r>
            <a:r>
              <a:rPr lang="en-US" altLang="zh-CN" sz="2400" dirty="0" smtClean="0">
                <a:latin typeface="微软雅黑" panose="020B0503020204020204" pitchFamily="34" charset="-122"/>
                <a:ea typeface="微软雅黑" panose="020B0503020204020204" pitchFamily="34" charset="-122"/>
              </a:rPr>
              <a:t>      </a:t>
            </a:r>
            <a:r>
              <a:rPr lang="zh-CN" altLang="zh-CN" sz="2400" dirty="0" smtClean="0">
                <a:latin typeface="微软雅黑" panose="020B0503020204020204" pitchFamily="34" charset="-122"/>
                <a:ea typeface="微软雅黑" panose="020B0503020204020204" pitchFamily="34" charset="-122"/>
              </a:rPr>
              <a:t>令</a:t>
            </a:r>
            <a:r>
              <a:rPr lang="zh-CN" altLang="zh-CN" sz="2400" dirty="0">
                <a:latin typeface="微软雅黑" panose="020B0503020204020204" pitchFamily="34" charset="-122"/>
                <a:ea typeface="微软雅黑" panose="020B0503020204020204" pitchFamily="34" charset="-122"/>
              </a:rPr>
              <a:t>格式如图所示。</a:t>
            </a:r>
          </a:p>
        </p:txBody>
      </p:sp>
      <p:pic>
        <p:nvPicPr>
          <p:cNvPr id="11" name="图片 10"/>
          <p:cNvPicPr/>
          <p:nvPr/>
        </p:nvPicPr>
        <p:blipFill>
          <a:blip r:embed="rId2">
            <a:extLst>
              <a:ext uri="{28A0092B-C50C-407E-A947-70E740481C1C}">
                <a14:useLocalDpi xmlns:a14="http://schemas.microsoft.com/office/drawing/2010/main" val="0"/>
              </a:ext>
            </a:extLst>
          </a:blip>
          <a:srcRect/>
          <a:stretch>
            <a:fillRect/>
          </a:stretch>
        </p:blipFill>
        <p:spPr bwMode="auto">
          <a:xfrm>
            <a:off x="899592" y="1095162"/>
            <a:ext cx="3960441" cy="825188"/>
          </a:xfrm>
          <a:prstGeom prst="rect">
            <a:avLst/>
          </a:prstGeom>
          <a:noFill/>
          <a:ln>
            <a:noFill/>
          </a:ln>
        </p:spPr>
      </p:pic>
      <p:sp>
        <p:nvSpPr>
          <p:cNvPr id="10" name="Rectangle 4"/>
          <p:cNvSpPr>
            <a:spLocks noChangeArrowheads="1"/>
          </p:cNvSpPr>
          <p:nvPr/>
        </p:nvSpPr>
        <p:spPr bwMode="auto">
          <a:xfrm>
            <a:off x="251521" y="1953684"/>
            <a:ext cx="864096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400050" algn="l"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其中：</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0P</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是操作码； </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M</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是按下表定义寻址方式；</a:t>
            </a:r>
            <a:endPar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endParaRPr>
          </a:p>
          <a:p>
            <a:pPr marL="0" marR="0" lvl="0" indent="400050" algn="l" defTabSz="914400" rtl="0" eaLnBrk="1" fontAlgn="base" latinLnBrk="0" hangingPunct="1">
              <a:lnSpc>
                <a:spcPct val="100000"/>
              </a:lnSpc>
              <a:spcBef>
                <a:spcPct val="0"/>
              </a:spcBef>
              <a:spcAft>
                <a:spcPct val="0"/>
              </a:spcAft>
              <a:buClrTx/>
              <a:buSzTx/>
              <a:buFontTx/>
              <a:buNone/>
              <a:tabLst/>
            </a:pPr>
            <a:endParaRPr lang="en-US" altLang="zh-CN" sz="2400" dirty="0">
              <a:latin typeface="微软雅黑" pitchFamily="34" charset="-122"/>
              <a:ea typeface="微软雅黑" pitchFamily="34" charset="-122"/>
              <a:cs typeface="Times New Roman" pitchFamily="18" charset="0"/>
            </a:endParaRPr>
          </a:p>
          <a:p>
            <a:pPr marL="0" marR="0" lvl="0" indent="400050" algn="l" defTabSz="914400" rtl="0" eaLnBrk="1" fontAlgn="base" latinLnBrk="0" hangingPunct="1">
              <a:lnSpc>
                <a:spcPct val="100000"/>
              </a:lnSpc>
              <a:spcBef>
                <a:spcPct val="0"/>
              </a:spcBef>
              <a:spcAft>
                <a:spcPct val="0"/>
              </a:spcAft>
              <a:buClrTx/>
              <a:buSzTx/>
              <a:buFontTx/>
              <a:buNone/>
              <a:tabLst/>
            </a:pPr>
            <a:endPar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endParaRPr>
          </a:p>
          <a:p>
            <a:pPr marL="0" marR="0" lvl="0" indent="400050" algn="l" defTabSz="914400" rtl="0" eaLnBrk="1" fontAlgn="base" latinLnBrk="0" hangingPunct="1">
              <a:lnSpc>
                <a:spcPct val="100000"/>
              </a:lnSpc>
              <a:spcBef>
                <a:spcPct val="0"/>
              </a:spcBef>
              <a:spcAft>
                <a:spcPct val="0"/>
              </a:spcAft>
              <a:buClrTx/>
              <a:buSzTx/>
              <a:buFontTx/>
              <a:buNone/>
              <a:tabLst/>
            </a:pPr>
            <a:endParaRPr lang="en-US" altLang="zh-CN" sz="2400" dirty="0">
              <a:latin typeface="微软雅黑" pitchFamily="34" charset="-122"/>
              <a:ea typeface="微软雅黑" pitchFamily="34" charset="-122"/>
              <a:cs typeface="Times New Roman" pitchFamily="18" charset="0"/>
            </a:endParaRPr>
          </a:p>
          <a:p>
            <a:pPr marL="0" marR="0" lvl="0" indent="400050" algn="l" defTabSz="914400" rtl="0" eaLnBrk="1" fontAlgn="base" latinLnBrk="0" hangingPunct="1">
              <a:lnSpc>
                <a:spcPct val="100000"/>
              </a:lnSpc>
              <a:spcBef>
                <a:spcPct val="0"/>
              </a:spcBef>
              <a:spcAft>
                <a:spcPct val="0"/>
              </a:spcAft>
              <a:buClrTx/>
              <a:buSzTx/>
              <a:buFontTx/>
              <a:buNone/>
              <a:tabLst/>
            </a:pPr>
            <a:endPar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endParaRPr>
          </a:p>
          <a:p>
            <a:pPr marL="0" marR="0" lvl="0" indent="400050" algn="l" defTabSz="914400" rtl="0" eaLnBrk="1" fontAlgn="base" latinLnBrk="0" hangingPunct="1">
              <a:lnSpc>
                <a:spcPct val="100000"/>
              </a:lnSpc>
              <a:spcBef>
                <a:spcPct val="0"/>
              </a:spcBef>
              <a:spcAft>
                <a:spcPct val="0"/>
              </a:spcAft>
              <a:buClrTx/>
              <a:buSzTx/>
              <a:buFontTx/>
              <a:buNone/>
              <a:tabLst/>
            </a:pPr>
            <a:endPar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endParaRPr>
          </a:p>
          <a:p>
            <a:pPr marL="0" marR="0" lvl="0" indent="400050" algn="l" defTabSz="914400" rtl="0" eaLnBrk="1" fontAlgn="base" latinLnBrk="0" hangingPunct="1">
              <a:lnSpc>
                <a:spcPct val="100000"/>
              </a:lnSpc>
              <a:spcBef>
                <a:spcPct val="0"/>
              </a:spcBef>
              <a:spcAft>
                <a:spcPct val="0"/>
              </a:spcAft>
              <a:buClrTx/>
              <a:buSzTx/>
              <a:buFontTx/>
              <a:buNone/>
              <a:tabLst/>
            </a:pPr>
            <a:endParaRPr lang="en-US" altLang="zh-CN" sz="2400" dirty="0">
              <a:latin typeface="微软雅黑" pitchFamily="34" charset="-122"/>
              <a:ea typeface="微软雅黑" pitchFamily="34" charset="-122"/>
              <a:cs typeface="Times New Roman" pitchFamily="18" charset="0"/>
            </a:endParaRPr>
          </a:p>
          <a:p>
            <a:pPr marL="0" marR="0" lvl="0" indent="400050" algn="l" defTabSz="914400" rtl="0" eaLnBrk="1" fontAlgn="base" latinLnBrk="0" hangingPunct="1">
              <a:lnSpc>
                <a:spcPct val="100000"/>
              </a:lnSpc>
              <a:spcBef>
                <a:spcPct val="0"/>
              </a:spcBef>
              <a:spcAft>
                <a:spcPct val="0"/>
              </a:spcAft>
              <a:buClrTx/>
              <a:buSzTx/>
              <a:buFontTx/>
              <a:buNone/>
              <a:tabLst/>
            </a:pPr>
            <a:endParaRPr kumimoji="0" lang="en-US" altLang="zh-CN"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p>
            <a:pPr marL="0" marR="0" lvl="0" indent="40005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 A</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为形式地址；设</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PC</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和</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Rx</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分别为程序计数器和变址寄存器，</a:t>
            </a:r>
            <a:endPar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endParaRPr>
          </a:p>
          <a:p>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字长为</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16</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位，问</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 </a:t>
            </a:r>
          </a:p>
          <a:p>
            <a:r>
              <a:rPr lang="en-US" altLang="zh-CN" sz="2400" dirty="0">
                <a:latin typeface="微软雅黑" pitchFamily="34" charset="-122"/>
                <a:ea typeface="微软雅黑" pitchFamily="34" charset="-122"/>
                <a:cs typeface="Times New Roman" pitchFamily="18" charset="0"/>
              </a:rPr>
              <a:t> </a:t>
            </a:r>
            <a:r>
              <a:rPr lang="en-US" altLang="zh-CN" sz="2400" dirty="0" smtClean="0">
                <a:latin typeface="微软雅黑" pitchFamily="34" charset="-122"/>
                <a:ea typeface="微软雅黑" pitchFamily="34" charset="-122"/>
                <a:cs typeface="Times New Roman" pitchFamily="18" charset="0"/>
              </a:rPr>
              <a:t> </a:t>
            </a:r>
            <a:r>
              <a:rPr lang="zh-CN" altLang="zh-CN" sz="2400" dirty="0" smtClean="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zh-CN" sz="2400" dirty="0">
                <a:latin typeface="微软雅黑" panose="020B0503020204020204" pitchFamily="34" charset="-122"/>
                <a:ea typeface="微软雅黑" panose="020B0503020204020204" pitchFamily="34" charset="-122"/>
              </a:rPr>
              <a:t>）此指令格式能定义多少种指令</a:t>
            </a:r>
            <a:r>
              <a:rPr lang="en-US" altLang="zh-CN" sz="2400" dirty="0">
                <a:latin typeface="微软雅黑" panose="020B0503020204020204" pitchFamily="34" charset="-122"/>
                <a:ea typeface="微软雅黑" panose="020B0503020204020204" pitchFamily="34" charset="-122"/>
              </a:rPr>
              <a:t>?</a:t>
            </a:r>
            <a:endParaRPr lang="zh-CN" altLang="zh-CN" sz="2400" dirty="0">
              <a:latin typeface="微软雅黑" panose="020B0503020204020204" pitchFamily="34" charset="-122"/>
              <a:ea typeface="微软雅黑" panose="020B0503020204020204" pitchFamily="34" charset="-122"/>
            </a:endParaRPr>
          </a:p>
          <a:p>
            <a:r>
              <a:rPr lang="en-US" altLang="zh-CN" sz="2400" dirty="0" smtClean="0">
                <a:latin typeface="微软雅黑" panose="020B0503020204020204" pitchFamily="34" charset="-122"/>
                <a:ea typeface="微软雅黑" panose="020B0503020204020204" pitchFamily="34" charset="-122"/>
              </a:rPr>
              <a:t>  </a:t>
            </a:r>
            <a:r>
              <a:rPr lang="zh-CN" altLang="zh-CN" sz="2400" dirty="0" smtClean="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zh-CN" sz="2400" dirty="0">
                <a:latin typeface="微软雅黑" panose="020B0503020204020204" pitchFamily="34" charset="-122"/>
                <a:ea typeface="微软雅黑" panose="020B0503020204020204" pitchFamily="34" charset="-122"/>
              </a:rPr>
              <a:t>）各种寻址方式的寻址范围和有效地址</a:t>
            </a:r>
            <a:r>
              <a:rPr lang="en-US" altLang="zh-CN" sz="2400" dirty="0">
                <a:latin typeface="微软雅黑" panose="020B0503020204020204" pitchFamily="34" charset="-122"/>
                <a:ea typeface="微软雅黑" panose="020B0503020204020204" pitchFamily="34" charset="-122"/>
              </a:rPr>
              <a:t>EA</a:t>
            </a:r>
            <a:r>
              <a:rPr lang="zh-CN" altLang="zh-CN" sz="2400" dirty="0">
                <a:latin typeface="微软雅黑" panose="020B0503020204020204" pitchFamily="34" charset="-122"/>
                <a:ea typeface="微软雅黑" panose="020B0503020204020204" pitchFamily="34" charset="-122"/>
              </a:rPr>
              <a:t>的计算式。</a:t>
            </a:r>
          </a:p>
          <a:p>
            <a:pPr marL="0" marR="0" lvl="0" indent="400050" algn="l" defTabSz="914400" rtl="0" eaLnBrk="0" fontAlgn="base" latinLnBrk="0" hangingPunct="0">
              <a:lnSpc>
                <a:spcPct val="100000"/>
              </a:lnSpc>
              <a:spcBef>
                <a:spcPct val="0"/>
              </a:spcBef>
              <a:spcAft>
                <a:spcPct val="0"/>
              </a:spcAft>
              <a:buClrTx/>
              <a:buSzTx/>
              <a:buFontTx/>
              <a:buNone/>
              <a:tabLst/>
            </a:pPr>
            <a:endParaRPr kumimoji="0" lang="en-US" altLang="zh-CN"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宋体" pitchFamily="2" charset="-122"/>
            </a:endParaRPr>
          </a:p>
        </p:txBody>
      </p:sp>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2523056"/>
            <a:ext cx="6055270" cy="2232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0543832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6553200" y="6357260"/>
            <a:ext cx="2133600" cy="457200"/>
          </a:xfrm>
        </p:spPr>
        <p:txBody>
          <a:bodyPr/>
          <a:lstStyle/>
          <a:p>
            <a:pPr>
              <a:defRPr/>
            </a:pPr>
            <a:fld id="{5160E9E1-A074-4BE6-9C73-675841B9C8E1}" type="slidenum">
              <a:rPr lang="en-US" altLang="zh-CN" smtClean="0"/>
              <a:pPr>
                <a:defRPr/>
              </a:pPr>
              <a:t>44</a:t>
            </a:fld>
            <a:endParaRPr lang="en-US" altLang="zh-CN"/>
          </a:p>
        </p:txBody>
      </p:sp>
      <p:pic>
        <p:nvPicPr>
          <p:cNvPr id="11" name="图片 10"/>
          <p:cNvPicPr/>
          <p:nvPr/>
        </p:nvPicPr>
        <p:blipFill>
          <a:blip r:embed="rId2">
            <a:extLst>
              <a:ext uri="{28A0092B-C50C-407E-A947-70E740481C1C}">
                <a14:useLocalDpi xmlns:a14="http://schemas.microsoft.com/office/drawing/2010/main" val="0"/>
              </a:ext>
            </a:extLst>
          </a:blip>
          <a:srcRect/>
          <a:stretch>
            <a:fillRect/>
          </a:stretch>
        </p:blipFill>
        <p:spPr bwMode="auto">
          <a:xfrm>
            <a:off x="683568" y="692696"/>
            <a:ext cx="3960441" cy="648072"/>
          </a:xfrm>
          <a:prstGeom prst="rect">
            <a:avLst/>
          </a:prstGeom>
          <a:noFill/>
          <a:ln>
            <a:noFill/>
          </a:ln>
        </p:spPr>
      </p:pic>
      <p:sp>
        <p:nvSpPr>
          <p:cNvPr id="4" name="矩形 3"/>
          <p:cNvSpPr/>
          <p:nvPr/>
        </p:nvSpPr>
        <p:spPr>
          <a:xfrm>
            <a:off x="395536" y="1556792"/>
            <a:ext cx="7704856" cy="1938992"/>
          </a:xfrm>
          <a:prstGeom prst="rect">
            <a:avLst/>
          </a:prstGeom>
        </p:spPr>
        <p:txBody>
          <a:bodyPr wrap="square">
            <a:spAutoFit/>
          </a:bodyPr>
          <a:lstStyle/>
          <a:p>
            <a:pPr>
              <a:lnSpc>
                <a:spcPct val="150000"/>
              </a:lnSpc>
            </a:pPr>
            <a:r>
              <a:rPr lang="zh-CN" altLang="zh-CN" sz="2000" dirty="0">
                <a:latin typeface="微软雅黑" panose="020B0503020204020204" pitchFamily="34" charset="-122"/>
                <a:ea typeface="微软雅黑" panose="020B0503020204020204" pitchFamily="34" charset="-122"/>
              </a:rPr>
              <a:t>答：（</a:t>
            </a:r>
            <a:r>
              <a:rPr lang="en-US" altLang="zh-CN" sz="2000" dirty="0">
                <a:latin typeface="微软雅黑" panose="020B0503020204020204" pitchFamily="34" charset="-122"/>
                <a:ea typeface="微软雅黑" panose="020B0503020204020204" pitchFamily="34" charset="-122"/>
              </a:rPr>
              <a:t>1</a:t>
            </a:r>
            <a:r>
              <a:rPr lang="zh-CN" altLang="zh-CN" sz="2000" dirty="0">
                <a:latin typeface="微软雅黑" panose="020B0503020204020204" pitchFamily="34" charset="-122"/>
                <a:ea typeface="微软雅黑" panose="020B0503020204020204" pitchFamily="34" charset="-122"/>
              </a:rPr>
              <a:t>）由于此指令格式使用第</a:t>
            </a:r>
            <a:r>
              <a:rPr lang="en-US" altLang="zh-CN" sz="2000" dirty="0">
                <a:latin typeface="微软雅黑" panose="020B0503020204020204" pitchFamily="34" charset="-122"/>
                <a:ea typeface="微软雅黑" panose="020B0503020204020204" pitchFamily="34" charset="-122"/>
              </a:rPr>
              <a:t>11</a:t>
            </a:r>
            <a:r>
              <a:rPr lang="zh-CN" altLang="zh-CN" sz="2000" dirty="0">
                <a:latin typeface="微软雅黑" panose="020B0503020204020204" pitchFamily="34" charset="-122"/>
                <a:ea typeface="微软雅黑" panose="020B0503020204020204" pitchFamily="34" charset="-122"/>
              </a:rPr>
              <a:t>到第</a:t>
            </a:r>
            <a:r>
              <a:rPr lang="en-US" altLang="zh-CN" sz="2000" dirty="0">
                <a:latin typeface="微软雅黑" panose="020B0503020204020204" pitchFamily="34" charset="-122"/>
                <a:ea typeface="微软雅黑" panose="020B0503020204020204" pitchFamily="34" charset="-122"/>
              </a:rPr>
              <a:t>15</a:t>
            </a:r>
            <a:r>
              <a:rPr lang="zh-CN" altLang="zh-CN" sz="2000" dirty="0">
                <a:latin typeface="微软雅黑" panose="020B0503020204020204" pitchFamily="34" charset="-122"/>
                <a:ea typeface="微软雅黑" panose="020B0503020204020204" pitchFamily="34" charset="-122"/>
              </a:rPr>
              <a:t>位来表示指令类型</a:t>
            </a:r>
            <a:r>
              <a:rPr lang="zh-CN" altLang="zh-CN"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a:t>
            </a:r>
            <a:r>
              <a:rPr lang="en-US" altLang="zh-CN" sz="2000" dirty="0" smtClean="0">
                <a:latin typeface="微软雅黑" panose="020B0503020204020204" pitchFamily="34" charset="-122"/>
                <a:ea typeface="微软雅黑" panose="020B0503020204020204" pitchFamily="34" charset="-122"/>
              </a:rPr>
              <a:t>               </a:t>
            </a:r>
            <a:r>
              <a:rPr lang="zh-CN" altLang="zh-CN" sz="2000" dirty="0" smtClean="0">
                <a:latin typeface="微软雅黑" panose="020B0503020204020204" pitchFamily="34" charset="-122"/>
                <a:ea typeface="微软雅黑" panose="020B0503020204020204" pitchFamily="34" charset="-122"/>
              </a:rPr>
              <a:t>则</a:t>
            </a:r>
            <a:r>
              <a:rPr lang="zh-CN" altLang="zh-CN" sz="2000" dirty="0">
                <a:latin typeface="微软雅黑" panose="020B0503020204020204" pitchFamily="34" charset="-122"/>
                <a:ea typeface="微软雅黑" panose="020B0503020204020204" pitchFamily="34" charset="-122"/>
              </a:rPr>
              <a:t>总指令类型为</a:t>
            </a:r>
            <a:r>
              <a:rPr lang="en-US" altLang="zh-CN" sz="2000" dirty="0">
                <a:latin typeface="微软雅黑" panose="020B0503020204020204" pitchFamily="34" charset="-122"/>
                <a:ea typeface="微软雅黑" panose="020B0503020204020204" pitchFamily="34" charset="-122"/>
              </a:rPr>
              <a:t>2</a:t>
            </a:r>
            <a:r>
              <a:rPr lang="en-US" altLang="zh-CN" sz="2000" baseline="30000" dirty="0">
                <a:latin typeface="微软雅黑" panose="020B0503020204020204" pitchFamily="34" charset="-122"/>
                <a:ea typeface="微软雅黑" panose="020B0503020204020204" pitchFamily="34" charset="-122"/>
              </a:rPr>
              <a:t>5</a:t>
            </a:r>
            <a:r>
              <a:rPr lang="en-US" altLang="zh-CN" sz="2000" dirty="0">
                <a:latin typeface="微软雅黑" panose="020B0503020204020204" pitchFamily="34" charset="-122"/>
                <a:ea typeface="微软雅黑" panose="020B0503020204020204" pitchFamily="34" charset="-122"/>
              </a:rPr>
              <a:t>=32</a:t>
            </a:r>
            <a:endParaRPr lang="zh-CN"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smtClean="0">
                <a:latin typeface="微软雅黑" panose="020B0503020204020204" pitchFamily="34" charset="-122"/>
                <a:ea typeface="微软雅黑" panose="020B0503020204020204" pitchFamily="34" charset="-122"/>
              </a:rPr>
              <a:t>      </a:t>
            </a:r>
            <a:r>
              <a:rPr lang="zh-CN" altLang="zh-CN" sz="2000" dirty="0" smtClean="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2</a:t>
            </a:r>
            <a:r>
              <a:rPr lang="zh-CN" altLang="zh-CN" sz="2000" dirty="0">
                <a:latin typeface="微软雅黑" panose="020B0503020204020204" pitchFamily="34" charset="-122"/>
                <a:ea typeface="微软雅黑" panose="020B0503020204020204" pitchFamily="34" charset="-122"/>
              </a:rPr>
              <a:t>）如果机器字长为</a:t>
            </a:r>
            <a:r>
              <a:rPr lang="en-US" altLang="zh-CN" sz="2000" dirty="0">
                <a:latin typeface="微软雅黑" panose="020B0503020204020204" pitchFamily="34" charset="-122"/>
                <a:ea typeface="微软雅黑" panose="020B0503020204020204" pitchFamily="34" charset="-122"/>
              </a:rPr>
              <a:t>16</a:t>
            </a:r>
            <a:r>
              <a:rPr lang="zh-CN" altLang="zh-CN" sz="2000" dirty="0">
                <a:latin typeface="微软雅黑" panose="020B0503020204020204" pitchFamily="34" charset="-122"/>
                <a:ea typeface="微软雅黑" panose="020B0503020204020204" pitchFamily="34" charset="-122"/>
              </a:rPr>
              <a:t>位，指令的地址位</a:t>
            </a:r>
            <a:r>
              <a:rPr lang="en-US" altLang="zh-CN" sz="2000" dirty="0">
                <a:latin typeface="微软雅黑" panose="020B0503020204020204" pitchFamily="34" charset="-122"/>
                <a:ea typeface="微软雅黑" panose="020B0503020204020204" pitchFamily="34" charset="-122"/>
              </a:rPr>
              <a:t>A</a:t>
            </a:r>
            <a:r>
              <a:rPr lang="zh-CN" altLang="zh-CN" sz="2000" dirty="0">
                <a:latin typeface="微软雅黑" panose="020B0503020204020204" pitchFamily="34" charset="-122"/>
                <a:ea typeface="微软雅黑" panose="020B0503020204020204" pitchFamily="34" charset="-122"/>
              </a:rPr>
              <a:t>长为</a:t>
            </a:r>
            <a:r>
              <a:rPr lang="en-US" altLang="zh-CN" sz="2000" dirty="0">
                <a:latin typeface="微软雅黑" panose="020B0503020204020204" pitchFamily="34" charset="-122"/>
                <a:ea typeface="微软雅黑" panose="020B0503020204020204" pitchFamily="34" charset="-122"/>
              </a:rPr>
              <a:t>8</a:t>
            </a:r>
            <a:r>
              <a:rPr lang="zh-CN" altLang="zh-CN"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a:t>
            </a:r>
            <a:r>
              <a:rPr lang="en-US" altLang="zh-CN" sz="2000" dirty="0" smtClean="0">
                <a:latin typeface="微软雅黑" panose="020B0503020204020204" pitchFamily="34" charset="-122"/>
                <a:ea typeface="微软雅黑" panose="020B0503020204020204" pitchFamily="34" charset="-122"/>
              </a:rPr>
              <a:t>              </a:t>
            </a:r>
            <a:r>
              <a:rPr lang="zh-CN" altLang="zh-CN" sz="2000" dirty="0" smtClean="0">
                <a:latin typeface="微软雅黑" panose="020B0503020204020204" pitchFamily="34" charset="-122"/>
                <a:ea typeface="微软雅黑" panose="020B0503020204020204" pitchFamily="34" charset="-122"/>
              </a:rPr>
              <a:t>则</a:t>
            </a:r>
            <a:r>
              <a:rPr lang="zh-CN" altLang="zh-CN" sz="2000" dirty="0">
                <a:latin typeface="微软雅黑" panose="020B0503020204020204" pitchFamily="34" charset="-122"/>
                <a:ea typeface="微软雅黑" panose="020B0503020204020204" pitchFamily="34" charset="-122"/>
              </a:rPr>
              <a:t>各寻址方式的寻址范围如下：</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4838" y="3645024"/>
            <a:ext cx="6626252" cy="21602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2447936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6553200" y="6346374"/>
            <a:ext cx="2133600" cy="457200"/>
          </a:xfrm>
        </p:spPr>
        <p:txBody>
          <a:bodyPr/>
          <a:lstStyle/>
          <a:p>
            <a:pPr>
              <a:defRPr/>
            </a:pPr>
            <a:fld id="{5160E9E1-A074-4BE6-9C73-675841B9C8E1}" type="slidenum">
              <a:rPr lang="en-US" altLang="zh-CN" smtClean="0"/>
              <a:pPr>
                <a:defRPr/>
              </a:pPr>
              <a:t>45</a:t>
            </a:fld>
            <a:endParaRPr lang="en-US" altLang="zh-CN"/>
          </a:p>
        </p:txBody>
      </p:sp>
      <p:sp>
        <p:nvSpPr>
          <p:cNvPr id="3" name="Rectangle 2"/>
          <p:cNvSpPr>
            <a:spLocks noChangeArrowheads="1"/>
          </p:cNvSpPr>
          <p:nvPr/>
        </p:nvSpPr>
        <p:spPr bwMode="auto">
          <a:xfrm>
            <a:off x="0" y="329120"/>
            <a:ext cx="342754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266700">
              <a:defRPr>
                <a:solidFill>
                  <a:schemeClr val="tx1"/>
                </a:solidFill>
                <a:latin typeface="Arial" pitchFamily="34" charset="0"/>
                <a:ea typeface="宋体" pitchFamily="2" charset="-122"/>
                <a:cs typeface="宋体" pitchFamily="2" charset="-122"/>
              </a:defRPr>
            </a:lvl1pPr>
            <a:lvl2pPr>
              <a:defRPr>
                <a:solidFill>
                  <a:schemeClr val="tx1"/>
                </a:solidFill>
                <a:latin typeface="Arial" pitchFamily="34" charset="0"/>
                <a:ea typeface="宋体" pitchFamily="2" charset="-122"/>
                <a:cs typeface="宋体" pitchFamily="2" charset="-122"/>
              </a:defRPr>
            </a:lvl2pPr>
            <a:lvl3pPr>
              <a:defRPr>
                <a:solidFill>
                  <a:schemeClr val="tx1"/>
                </a:solidFill>
                <a:latin typeface="Arial" pitchFamily="34" charset="0"/>
                <a:ea typeface="宋体" pitchFamily="2" charset="-122"/>
                <a:cs typeface="宋体" pitchFamily="2" charset="-122"/>
              </a:defRPr>
            </a:lvl3pPr>
            <a:lvl4pPr>
              <a:defRPr>
                <a:solidFill>
                  <a:schemeClr val="tx1"/>
                </a:solidFill>
                <a:latin typeface="Arial" pitchFamily="34" charset="0"/>
                <a:ea typeface="宋体" pitchFamily="2" charset="-122"/>
                <a:cs typeface="宋体" pitchFamily="2" charset="-122"/>
              </a:defRPr>
            </a:lvl4pPr>
            <a:lvl5pPr>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26670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例</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3. </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某机指令格式为</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 </a:t>
            </a:r>
            <a:endParaRPr kumimoji="0" lang="en-US" altLang="zh-CN" sz="2400" b="0" i="0" u="none" strike="noStrike" cap="none" normalizeH="0" baseline="0" dirty="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en-US" altLang="zh-CN" sz="2400" b="0" i="0" u="none" strike="noStrike" cap="none" normalizeH="0" baseline="0" dirty="0" smtClean="0">
              <a:ln>
                <a:noFill/>
              </a:ln>
              <a:solidFill>
                <a:schemeClr val="tx1"/>
              </a:solidFill>
              <a:effectLst/>
            </a:endParaRPr>
          </a:p>
        </p:txBody>
      </p:sp>
      <p:pic>
        <p:nvPicPr>
          <p:cNvPr id="4097"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398" y="980728"/>
            <a:ext cx="5064458" cy="79208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a:spLocks noChangeArrowheads="1"/>
          </p:cNvSpPr>
          <p:nvPr/>
        </p:nvSpPr>
        <p:spPr bwMode="auto">
          <a:xfrm>
            <a:off x="395536" y="2008687"/>
            <a:ext cx="8424936" cy="3453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30000"/>
              </a:lnSpc>
              <a:spcBef>
                <a:spcPct val="0"/>
              </a:spcBef>
              <a:spcAft>
                <a:spcPct val="0"/>
              </a:spcAft>
              <a:buClrTx/>
              <a:buSzTx/>
              <a:buFontTx/>
              <a:buNone/>
              <a:tabLst/>
            </a:pPr>
            <a:r>
              <a:rPr kumimoji="0" lang="zh-CN"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其中：</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X</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为寻址特征位，且</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X=0</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时，直接寻址；</a:t>
            </a:r>
            <a:endPar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endParaRPr>
          </a:p>
          <a:p>
            <a:pPr marL="0" marR="0" lvl="0" indent="0" algn="l" defTabSz="914400" rtl="0" eaLnBrk="1" fontAlgn="base" latinLnBrk="0" hangingPunct="1">
              <a:lnSpc>
                <a:spcPct val="130000"/>
              </a:lnSpc>
              <a:spcBef>
                <a:spcPct val="0"/>
              </a:spcBef>
              <a:spcAft>
                <a:spcPct val="0"/>
              </a:spcAft>
              <a:buClrTx/>
              <a:buSzTx/>
              <a:buFontTx/>
              <a:buNone/>
              <a:tabLst/>
            </a:pPr>
            <a:r>
              <a:rPr lang="en-US" altLang="zh-CN" sz="2400" dirty="0">
                <a:latin typeface="微软雅黑" pitchFamily="34" charset="-122"/>
                <a:ea typeface="微软雅黑" pitchFamily="34" charset="-122"/>
                <a:cs typeface="Times New Roman" pitchFamily="18" charset="0"/>
              </a:rPr>
              <a:t> </a:t>
            </a:r>
            <a:r>
              <a:rPr lang="en-US" altLang="zh-CN" sz="2400" dirty="0" smtClean="0">
                <a:latin typeface="微软雅黑" pitchFamily="34" charset="-122"/>
                <a:ea typeface="微软雅黑" pitchFamily="34" charset="-122"/>
                <a:cs typeface="Times New Roman" pitchFamily="18" charset="0"/>
              </a:rPr>
              <a:t>         </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X=1</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时，用变址寄存器</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X1</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进行变址；</a:t>
            </a:r>
            <a:endPar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endParaRPr>
          </a:p>
          <a:p>
            <a:pPr marL="0" marR="0" lvl="0" indent="0" algn="l" defTabSz="914400" rtl="0" eaLnBrk="1" fontAlgn="base" latinLnBrk="0" hangingPunct="1">
              <a:lnSpc>
                <a:spcPct val="130000"/>
              </a:lnSpc>
              <a:spcBef>
                <a:spcPct val="0"/>
              </a:spcBef>
              <a:spcAft>
                <a:spcPct val="0"/>
              </a:spcAft>
              <a:buClrTx/>
              <a:buSzTx/>
              <a:buFontTx/>
              <a:buNone/>
              <a:tabLst/>
            </a:pPr>
            <a:r>
              <a:rPr lang="en-US" altLang="zh-CN" sz="2400" dirty="0">
                <a:latin typeface="微软雅黑" pitchFamily="34" charset="-122"/>
                <a:ea typeface="微软雅黑" pitchFamily="34" charset="-122"/>
                <a:cs typeface="Times New Roman" pitchFamily="18" charset="0"/>
              </a:rPr>
              <a:t> </a:t>
            </a:r>
            <a:r>
              <a:rPr lang="en-US" altLang="zh-CN" sz="2400" dirty="0" smtClean="0">
                <a:latin typeface="微软雅黑" pitchFamily="34" charset="-122"/>
                <a:ea typeface="微软雅黑" pitchFamily="34" charset="-122"/>
                <a:cs typeface="Times New Roman" pitchFamily="18" charset="0"/>
              </a:rPr>
              <a:t>         </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X=2</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时，用变址寄存器</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X2</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进行变址；</a:t>
            </a:r>
            <a:endPar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endParaRPr>
          </a:p>
          <a:p>
            <a:pPr marL="0" marR="0" lvl="0" indent="0" algn="l" defTabSz="914400" rtl="0" eaLnBrk="1" fontAlgn="base" latinLnBrk="0" hangingPunct="1">
              <a:lnSpc>
                <a:spcPct val="130000"/>
              </a:lnSpc>
              <a:spcBef>
                <a:spcPct val="0"/>
              </a:spcBef>
              <a:spcAft>
                <a:spcPct val="0"/>
              </a:spcAft>
              <a:buClrTx/>
              <a:buSzTx/>
              <a:buFontTx/>
              <a:buNone/>
              <a:tabLst/>
            </a:pPr>
            <a:r>
              <a:rPr lang="en-US" altLang="zh-CN" sz="2400" dirty="0">
                <a:latin typeface="微软雅黑" pitchFamily="34" charset="-122"/>
                <a:ea typeface="微软雅黑" pitchFamily="34" charset="-122"/>
                <a:cs typeface="Times New Roman" pitchFamily="18" charset="0"/>
              </a:rPr>
              <a:t> </a:t>
            </a:r>
            <a:r>
              <a:rPr lang="en-US" altLang="zh-CN" sz="2400" dirty="0" smtClean="0">
                <a:latin typeface="微软雅黑" pitchFamily="34" charset="-122"/>
                <a:ea typeface="微软雅黑" pitchFamily="34" charset="-122"/>
                <a:cs typeface="Times New Roman" pitchFamily="18" charset="0"/>
              </a:rPr>
              <a:t>         </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X=3</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时，采用相对寻址。</a:t>
            </a:r>
            <a:endPar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endParaRPr>
          </a:p>
          <a:p>
            <a:pPr marL="0" marR="0" lvl="0" indent="0" algn="l" defTabSz="914400" rtl="0" eaLnBrk="1" fontAlgn="base" latinLnBrk="0" hangingPunct="1">
              <a:lnSpc>
                <a:spcPct val="130000"/>
              </a:lnSpc>
              <a:spcBef>
                <a:spcPct val="0"/>
              </a:spcBef>
              <a:spcAft>
                <a:spcPct val="0"/>
              </a:spcAft>
              <a:buClrTx/>
              <a:buSzTx/>
              <a:buFontTx/>
              <a:buNone/>
              <a:tabLst/>
            </a:pPr>
            <a:r>
              <a:rPr lang="en-US" altLang="zh-CN" sz="2400" dirty="0">
                <a:latin typeface="微软雅黑" pitchFamily="34" charset="-122"/>
                <a:ea typeface="微软雅黑" pitchFamily="34" charset="-122"/>
                <a:cs typeface="Times New Roman" pitchFamily="18" charset="0"/>
              </a:rPr>
              <a:t> </a:t>
            </a:r>
            <a:r>
              <a:rPr lang="en-US" altLang="zh-CN" sz="2400" dirty="0" smtClean="0">
                <a:latin typeface="微软雅黑" pitchFamily="34" charset="-122"/>
                <a:ea typeface="微软雅黑" pitchFamily="34" charset="-122"/>
                <a:cs typeface="Times New Roman" pitchFamily="18" charset="0"/>
              </a:rPr>
              <a:t>        </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设</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(PC) =1234H</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(X1)=0037H</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(X2)=1122H</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endPar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endParaRPr>
          </a:p>
          <a:p>
            <a:pPr marL="0" marR="0" lvl="0" indent="0" algn="l" defTabSz="914400" rtl="0" eaLnBrk="1" fontAlgn="base" latinLnBrk="0" hangingPunct="1">
              <a:lnSpc>
                <a:spcPct val="130000"/>
              </a:lnSpc>
              <a:spcBef>
                <a:spcPct val="0"/>
              </a:spcBef>
              <a:spcAft>
                <a:spcPct val="0"/>
              </a:spcAft>
              <a:buClrTx/>
              <a:buSzTx/>
              <a:buFontTx/>
              <a:buNone/>
              <a:tabLst/>
            </a:pPr>
            <a:r>
              <a:rPr lang="en-US" altLang="zh-CN" sz="2400" dirty="0">
                <a:latin typeface="微软雅黑" pitchFamily="34" charset="-122"/>
                <a:ea typeface="微软雅黑" pitchFamily="34" charset="-122"/>
                <a:cs typeface="Times New Roman" pitchFamily="18" charset="0"/>
              </a:rPr>
              <a:t> </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请确定下列指令的有效地址。（</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1</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4420H</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2</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2244H</a:t>
            </a:r>
          </a:p>
          <a:p>
            <a:pPr marL="0" marR="0" lvl="0" indent="0" algn="l" defTabSz="914400" rtl="0" eaLnBrk="1" fontAlgn="base" latinLnBrk="0" hangingPunct="1">
              <a:lnSpc>
                <a:spcPct val="130000"/>
              </a:lnSpc>
              <a:spcBef>
                <a:spcPct val="0"/>
              </a:spcBef>
              <a:spcAft>
                <a:spcPct val="0"/>
              </a:spcAft>
              <a:buClrTx/>
              <a:buSzTx/>
              <a:buFontTx/>
              <a:buNone/>
              <a:tabLst/>
            </a:pP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3</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1322H</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  </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4</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3521H</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  </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5</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6723H</a:t>
            </a:r>
            <a:endParaRPr kumimoji="0" lang="en-US" altLang="zh-CN" sz="2400" b="0" i="0" u="none" strike="noStrike" cap="none" normalizeH="0" baseline="0" dirty="0" smtClean="0">
              <a:ln>
                <a:noFill/>
              </a:ln>
              <a:solidFill>
                <a:schemeClr val="tx1"/>
              </a:solidFill>
              <a:effectLst/>
              <a:latin typeface="Arial" pitchFamily="34" charset="0"/>
              <a:cs typeface="宋体" pitchFamily="2" charset="-122"/>
            </a:endParaRPr>
          </a:p>
        </p:txBody>
      </p:sp>
      <p:sp>
        <p:nvSpPr>
          <p:cNvPr id="5" name="矩形 4"/>
          <p:cNvSpPr/>
          <p:nvPr/>
        </p:nvSpPr>
        <p:spPr>
          <a:xfrm>
            <a:off x="103701" y="5511975"/>
            <a:ext cx="9000492" cy="1200329"/>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nSpc>
                <a:spcPct val="150000"/>
              </a:lnSpc>
            </a:pPr>
            <a:r>
              <a:rPr lang="zh-CN" altLang="zh-CN" sz="2400" dirty="0" smtClean="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1</a:t>
            </a:r>
            <a:r>
              <a:rPr lang="zh-CN" altLang="zh-CN" sz="2400" dirty="0">
                <a:solidFill>
                  <a:schemeClr val="tx1"/>
                </a:solidFill>
                <a:latin typeface="微软雅黑" panose="020B0503020204020204" pitchFamily="34" charset="-122"/>
                <a:ea typeface="微软雅黑" panose="020B0503020204020204" pitchFamily="34" charset="-122"/>
              </a:rPr>
              <a:t>）指令</a:t>
            </a:r>
            <a:r>
              <a:rPr lang="en-US" altLang="zh-CN" sz="2400" dirty="0">
                <a:solidFill>
                  <a:schemeClr val="tx1"/>
                </a:solidFill>
                <a:latin typeface="微软雅黑" panose="020B0503020204020204" pitchFamily="34" charset="-122"/>
                <a:ea typeface="微软雅黑" panose="020B0503020204020204" pitchFamily="34" charset="-122"/>
              </a:rPr>
              <a:t>4420H</a:t>
            </a:r>
            <a:r>
              <a:rPr lang="zh-CN" altLang="zh-CN" sz="2400" dirty="0">
                <a:solidFill>
                  <a:schemeClr val="tx1"/>
                </a:solidFill>
                <a:latin typeface="微软雅黑" panose="020B0503020204020204" pitchFamily="34" charset="-122"/>
                <a:ea typeface="微软雅黑" panose="020B0503020204020204" pitchFamily="34" charset="-122"/>
              </a:rPr>
              <a:t>展开为</a:t>
            </a:r>
            <a:r>
              <a:rPr lang="en-US" altLang="zh-CN" sz="2400" dirty="0">
                <a:solidFill>
                  <a:schemeClr val="tx1"/>
                </a:solidFill>
                <a:latin typeface="微软雅黑" panose="020B0503020204020204" pitchFamily="34" charset="-122"/>
                <a:ea typeface="微软雅黑" panose="020B0503020204020204" pitchFamily="34" charset="-122"/>
              </a:rPr>
              <a:t>010001 00 00100000B</a:t>
            </a:r>
            <a:endParaRPr lang="zh-CN" altLang="zh-CN" sz="24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400" dirty="0" smtClean="0">
                <a:solidFill>
                  <a:schemeClr val="tx1"/>
                </a:solidFill>
                <a:latin typeface="微软雅黑" panose="020B0503020204020204" pitchFamily="34" charset="-122"/>
                <a:ea typeface="微软雅黑" panose="020B0503020204020204" pitchFamily="34" charset="-122"/>
              </a:rPr>
              <a:t>        X=00</a:t>
            </a:r>
            <a:r>
              <a:rPr lang="zh-CN" altLang="zh-CN" sz="2400" dirty="0">
                <a:solidFill>
                  <a:schemeClr val="tx1"/>
                </a:solidFill>
                <a:latin typeface="微软雅黑" panose="020B0503020204020204" pitchFamily="34" charset="-122"/>
                <a:ea typeface="微软雅黑" panose="020B0503020204020204" pitchFamily="34" charset="-122"/>
              </a:rPr>
              <a:t>直接寻址，有效地址</a:t>
            </a:r>
            <a:r>
              <a:rPr lang="en-US" altLang="zh-CN" sz="2400" dirty="0" smtClean="0">
                <a:solidFill>
                  <a:schemeClr val="tx1"/>
                </a:solidFill>
                <a:latin typeface="微软雅黑" panose="020B0503020204020204" pitchFamily="34" charset="-122"/>
                <a:ea typeface="微软雅黑" panose="020B0503020204020204" pitchFamily="34" charset="-122"/>
              </a:rPr>
              <a:t>EA=D=00100000B=0020H</a:t>
            </a:r>
            <a:endParaRPr lang="zh-CN" altLang="zh-CN" sz="2400" dirty="0">
              <a:solidFill>
                <a:schemeClr val="tx1"/>
              </a:solidFill>
              <a:latin typeface="微软雅黑" panose="020B0503020204020204" pitchFamily="34" charset="-122"/>
              <a:ea typeface="微软雅黑" panose="020B0503020204020204" pitchFamily="34" charset="-122"/>
            </a:endParaRPr>
          </a:p>
        </p:txBody>
      </p:sp>
      <p:sp>
        <p:nvSpPr>
          <p:cNvPr id="7" name="矩形 6"/>
          <p:cNvSpPr/>
          <p:nvPr/>
        </p:nvSpPr>
        <p:spPr>
          <a:xfrm>
            <a:off x="101963" y="4938657"/>
            <a:ext cx="9000492" cy="175432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nSpc>
                <a:spcPct val="150000"/>
              </a:lnSpc>
            </a:pPr>
            <a:r>
              <a:rPr lang="zh-CN" altLang="zh-CN" sz="2400" dirty="0" smtClean="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2</a:t>
            </a:r>
            <a:r>
              <a:rPr lang="zh-CN" altLang="zh-CN" sz="2400" dirty="0">
                <a:solidFill>
                  <a:schemeClr val="tx1"/>
                </a:solidFill>
                <a:latin typeface="微软雅黑" panose="020B0503020204020204" pitchFamily="34" charset="-122"/>
                <a:ea typeface="微软雅黑" panose="020B0503020204020204" pitchFamily="34" charset="-122"/>
              </a:rPr>
              <a:t>）指令</a:t>
            </a:r>
            <a:r>
              <a:rPr lang="en-US" altLang="zh-CN" sz="2400" dirty="0">
                <a:solidFill>
                  <a:schemeClr val="tx1"/>
                </a:solidFill>
                <a:latin typeface="微软雅黑" panose="020B0503020204020204" pitchFamily="34" charset="-122"/>
                <a:ea typeface="微软雅黑" panose="020B0503020204020204" pitchFamily="34" charset="-122"/>
              </a:rPr>
              <a:t>2244H</a:t>
            </a:r>
            <a:r>
              <a:rPr lang="zh-CN" altLang="zh-CN" sz="2400" dirty="0">
                <a:solidFill>
                  <a:schemeClr val="tx1"/>
                </a:solidFill>
                <a:latin typeface="微软雅黑" panose="020B0503020204020204" pitchFamily="34" charset="-122"/>
                <a:ea typeface="微软雅黑" panose="020B0503020204020204" pitchFamily="34" charset="-122"/>
              </a:rPr>
              <a:t>展开为</a:t>
            </a:r>
            <a:r>
              <a:rPr lang="en-US" altLang="zh-CN" sz="2400" dirty="0">
                <a:solidFill>
                  <a:schemeClr val="tx1"/>
                </a:solidFill>
                <a:latin typeface="微软雅黑" panose="020B0503020204020204" pitchFamily="34" charset="-122"/>
                <a:ea typeface="微软雅黑" panose="020B0503020204020204" pitchFamily="34" charset="-122"/>
              </a:rPr>
              <a:t>001000 10 01000100B</a:t>
            </a:r>
            <a:endParaRPr lang="zh-CN" altLang="zh-CN" sz="24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400" dirty="0" smtClean="0">
                <a:solidFill>
                  <a:schemeClr val="tx1"/>
                </a:solidFill>
                <a:latin typeface="微软雅黑" panose="020B0503020204020204" pitchFamily="34" charset="-122"/>
                <a:ea typeface="微软雅黑" panose="020B0503020204020204" pitchFamily="34" charset="-122"/>
              </a:rPr>
              <a:t>         X=10</a:t>
            </a:r>
            <a:r>
              <a:rPr lang="zh-CN" altLang="zh-CN" sz="2400" dirty="0">
                <a:solidFill>
                  <a:schemeClr val="tx1"/>
                </a:solidFill>
                <a:latin typeface="微软雅黑" panose="020B0503020204020204" pitchFamily="34" charset="-122"/>
                <a:ea typeface="微软雅黑" panose="020B0503020204020204" pitchFamily="34" charset="-122"/>
              </a:rPr>
              <a:t>用变址寄存器</a:t>
            </a:r>
            <a:r>
              <a:rPr lang="en-US" altLang="zh-CN" sz="2400" dirty="0">
                <a:solidFill>
                  <a:schemeClr val="tx1"/>
                </a:solidFill>
                <a:latin typeface="微软雅黑" panose="020B0503020204020204" pitchFamily="34" charset="-122"/>
                <a:ea typeface="微软雅黑" panose="020B0503020204020204" pitchFamily="34" charset="-122"/>
              </a:rPr>
              <a:t>X2</a:t>
            </a:r>
            <a:r>
              <a:rPr lang="zh-CN" altLang="zh-CN" sz="2400" dirty="0">
                <a:solidFill>
                  <a:schemeClr val="tx1"/>
                </a:solidFill>
                <a:latin typeface="微软雅黑" panose="020B0503020204020204" pitchFamily="34" charset="-122"/>
                <a:ea typeface="微软雅黑" panose="020B0503020204020204" pitchFamily="34" charset="-122"/>
              </a:rPr>
              <a:t>进行变址，</a:t>
            </a:r>
            <a:r>
              <a:rPr lang="zh-CN" altLang="zh-CN" sz="2400" dirty="0" smtClean="0">
                <a:solidFill>
                  <a:schemeClr val="tx1"/>
                </a:solidFill>
                <a:latin typeface="微软雅黑" panose="020B0503020204020204" pitchFamily="34" charset="-122"/>
                <a:ea typeface="微软雅黑" panose="020B0503020204020204" pitchFamily="34" charset="-122"/>
              </a:rPr>
              <a:t>有效地址</a:t>
            </a:r>
            <a:r>
              <a:rPr lang="en-US" altLang="zh-CN" sz="2400" dirty="0" smtClean="0">
                <a:solidFill>
                  <a:schemeClr val="tx1"/>
                </a:solidFill>
                <a:latin typeface="微软雅黑" panose="020B0503020204020204" pitchFamily="34" charset="-122"/>
                <a:ea typeface="微软雅黑" panose="020B0503020204020204" pitchFamily="34" charset="-122"/>
              </a:rPr>
              <a:t>  </a:t>
            </a:r>
          </a:p>
          <a:p>
            <a:pPr>
              <a:lnSpc>
                <a:spcPct val="150000"/>
              </a:lnSpc>
            </a:pP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EA</a:t>
            </a:r>
            <a:r>
              <a:rPr lang="en-US" altLang="zh-CN" sz="2400" dirty="0">
                <a:solidFill>
                  <a:schemeClr val="tx1"/>
                </a:solidFill>
                <a:latin typeface="微软雅黑" panose="020B0503020204020204" pitchFamily="34" charset="-122"/>
                <a:ea typeface="微软雅黑" panose="020B0503020204020204" pitchFamily="34" charset="-122"/>
              </a:rPr>
              <a:t>=(X2)+</a:t>
            </a:r>
            <a:r>
              <a:rPr lang="en-US" altLang="zh-CN" sz="2400" dirty="0" smtClean="0">
                <a:solidFill>
                  <a:schemeClr val="tx1"/>
                </a:solidFill>
                <a:latin typeface="微软雅黑" panose="020B0503020204020204" pitchFamily="34" charset="-122"/>
                <a:ea typeface="微软雅黑" panose="020B0503020204020204" pitchFamily="34" charset="-122"/>
              </a:rPr>
              <a:t>D=1122H+44H=1166H</a:t>
            </a:r>
            <a:endParaRPr lang="zh-CN" altLang="zh-CN" sz="2400" dirty="0">
              <a:solidFill>
                <a:schemeClr val="tx1"/>
              </a:solidFill>
              <a:latin typeface="微软雅黑" panose="020B0503020204020204" pitchFamily="34" charset="-122"/>
              <a:ea typeface="微软雅黑" panose="020B0503020204020204" pitchFamily="34" charset="-122"/>
            </a:endParaRPr>
          </a:p>
        </p:txBody>
      </p:sp>
      <p:sp>
        <p:nvSpPr>
          <p:cNvPr id="8" name="矩形 7"/>
          <p:cNvSpPr/>
          <p:nvPr/>
        </p:nvSpPr>
        <p:spPr>
          <a:xfrm>
            <a:off x="78192" y="5490137"/>
            <a:ext cx="9000492" cy="1200329"/>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nSpc>
                <a:spcPct val="150000"/>
              </a:lnSpc>
            </a:pPr>
            <a:r>
              <a:rPr lang="zh-CN" altLang="zh-CN" sz="2400" dirty="0" smtClean="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3</a:t>
            </a:r>
            <a:r>
              <a:rPr lang="zh-CN" altLang="zh-CN" sz="2400" dirty="0">
                <a:solidFill>
                  <a:schemeClr val="tx1"/>
                </a:solidFill>
                <a:latin typeface="微软雅黑" panose="020B0503020204020204" pitchFamily="34" charset="-122"/>
                <a:ea typeface="微软雅黑" panose="020B0503020204020204" pitchFamily="34" charset="-122"/>
              </a:rPr>
              <a:t>）指令</a:t>
            </a:r>
            <a:r>
              <a:rPr lang="en-US" altLang="zh-CN" sz="2400" dirty="0">
                <a:solidFill>
                  <a:schemeClr val="tx1"/>
                </a:solidFill>
                <a:latin typeface="微软雅黑" panose="020B0503020204020204" pitchFamily="34" charset="-122"/>
                <a:ea typeface="微软雅黑" panose="020B0503020204020204" pitchFamily="34" charset="-122"/>
              </a:rPr>
              <a:t>1322H</a:t>
            </a:r>
            <a:r>
              <a:rPr lang="zh-CN" altLang="zh-CN" sz="2400" dirty="0">
                <a:solidFill>
                  <a:schemeClr val="tx1"/>
                </a:solidFill>
                <a:latin typeface="微软雅黑" panose="020B0503020204020204" pitchFamily="34" charset="-122"/>
                <a:ea typeface="微软雅黑" panose="020B0503020204020204" pitchFamily="34" charset="-122"/>
              </a:rPr>
              <a:t>展开为</a:t>
            </a:r>
            <a:r>
              <a:rPr lang="en-US" altLang="zh-CN" sz="2400" dirty="0">
                <a:solidFill>
                  <a:schemeClr val="tx1"/>
                </a:solidFill>
                <a:latin typeface="微软雅黑" panose="020B0503020204020204" pitchFamily="34" charset="-122"/>
                <a:ea typeface="微软雅黑" panose="020B0503020204020204" pitchFamily="34" charset="-122"/>
              </a:rPr>
              <a:t>000100 11 00100010B</a:t>
            </a:r>
            <a:endParaRPr lang="zh-CN" altLang="zh-CN" sz="24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400" dirty="0">
                <a:solidFill>
                  <a:schemeClr val="tx1"/>
                </a:solidFill>
                <a:latin typeface="微软雅黑" panose="020B0503020204020204" pitchFamily="34" charset="-122"/>
                <a:ea typeface="微软雅黑" panose="020B0503020204020204" pitchFamily="34" charset="-122"/>
              </a:rPr>
              <a:t>X=11</a:t>
            </a:r>
            <a:r>
              <a:rPr lang="zh-CN" altLang="zh-CN" sz="2400" dirty="0">
                <a:solidFill>
                  <a:schemeClr val="tx1"/>
                </a:solidFill>
                <a:latin typeface="微软雅黑" panose="020B0503020204020204" pitchFamily="34" charset="-122"/>
                <a:ea typeface="微软雅黑" panose="020B0503020204020204" pitchFamily="34" charset="-122"/>
              </a:rPr>
              <a:t>相对寻址，有效地址</a:t>
            </a:r>
            <a:r>
              <a:rPr lang="en-US" altLang="zh-CN" sz="2400" dirty="0">
                <a:solidFill>
                  <a:schemeClr val="tx1"/>
                </a:solidFill>
                <a:latin typeface="微软雅黑" panose="020B0503020204020204" pitchFamily="34" charset="-122"/>
                <a:ea typeface="微软雅黑" panose="020B0503020204020204" pitchFamily="34" charset="-122"/>
              </a:rPr>
              <a:t>EA=(PC)+</a:t>
            </a:r>
            <a:r>
              <a:rPr lang="en-US" altLang="zh-CN" sz="2400" dirty="0" smtClean="0">
                <a:solidFill>
                  <a:schemeClr val="tx1"/>
                </a:solidFill>
                <a:latin typeface="微软雅黑" panose="020B0503020204020204" pitchFamily="34" charset="-122"/>
                <a:ea typeface="微软雅黑" panose="020B0503020204020204" pitchFamily="34" charset="-122"/>
              </a:rPr>
              <a:t>D=1234H+22H=1256H</a:t>
            </a:r>
            <a:endParaRPr lang="zh-CN" altLang="zh-CN" sz="2400" dirty="0">
              <a:solidFill>
                <a:schemeClr val="tx1"/>
              </a:solidFill>
              <a:latin typeface="微软雅黑" panose="020B0503020204020204" pitchFamily="34" charset="-122"/>
              <a:ea typeface="微软雅黑" panose="020B0503020204020204" pitchFamily="34" charset="-122"/>
            </a:endParaRPr>
          </a:p>
        </p:txBody>
      </p:sp>
      <p:sp>
        <p:nvSpPr>
          <p:cNvPr id="9" name="矩形 8"/>
          <p:cNvSpPr/>
          <p:nvPr/>
        </p:nvSpPr>
        <p:spPr>
          <a:xfrm>
            <a:off x="87253" y="3127674"/>
            <a:ext cx="9000492" cy="175432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nSpc>
                <a:spcPct val="150000"/>
              </a:lnSpc>
            </a:pPr>
            <a:r>
              <a:rPr lang="zh-CN" altLang="zh-CN" sz="2400" dirty="0" smtClean="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4</a:t>
            </a:r>
            <a:r>
              <a:rPr lang="zh-CN" altLang="zh-CN" sz="2400" dirty="0">
                <a:solidFill>
                  <a:schemeClr val="tx1"/>
                </a:solidFill>
                <a:latin typeface="微软雅黑" panose="020B0503020204020204" pitchFamily="34" charset="-122"/>
                <a:ea typeface="微软雅黑" panose="020B0503020204020204" pitchFamily="34" charset="-122"/>
              </a:rPr>
              <a:t>）指令</a:t>
            </a:r>
            <a:r>
              <a:rPr lang="en-US" altLang="zh-CN" sz="2400" dirty="0">
                <a:solidFill>
                  <a:schemeClr val="tx1"/>
                </a:solidFill>
                <a:latin typeface="微软雅黑" panose="020B0503020204020204" pitchFamily="34" charset="-122"/>
                <a:ea typeface="微软雅黑" panose="020B0503020204020204" pitchFamily="34" charset="-122"/>
              </a:rPr>
              <a:t>3521H</a:t>
            </a:r>
            <a:r>
              <a:rPr lang="zh-CN" altLang="zh-CN" sz="2400" dirty="0">
                <a:solidFill>
                  <a:schemeClr val="tx1"/>
                </a:solidFill>
                <a:latin typeface="微软雅黑" panose="020B0503020204020204" pitchFamily="34" charset="-122"/>
                <a:ea typeface="微软雅黑" panose="020B0503020204020204" pitchFamily="34" charset="-122"/>
              </a:rPr>
              <a:t>展开为</a:t>
            </a:r>
            <a:r>
              <a:rPr lang="en-US" altLang="zh-CN" sz="2400" dirty="0">
                <a:solidFill>
                  <a:schemeClr val="tx1"/>
                </a:solidFill>
                <a:latin typeface="微软雅黑" panose="020B0503020204020204" pitchFamily="34" charset="-122"/>
                <a:ea typeface="微软雅黑" panose="020B0503020204020204" pitchFamily="34" charset="-122"/>
              </a:rPr>
              <a:t>001101 01 00100001B</a:t>
            </a:r>
            <a:endParaRPr lang="zh-CN" altLang="zh-CN" sz="24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400" dirty="0" smtClean="0">
                <a:solidFill>
                  <a:schemeClr val="tx1"/>
                </a:solidFill>
                <a:latin typeface="微软雅黑" panose="020B0503020204020204" pitchFamily="34" charset="-122"/>
                <a:ea typeface="微软雅黑" panose="020B0503020204020204" pitchFamily="34" charset="-122"/>
              </a:rPr>
              <a:t>        X=01</a:t>
            </a:r>
            <a:r>
              <a:rPr lang="zh-CN" altLang="zh-CN" sz="2400" dirty="0">
                <a:solidFill>
                  <a:schemeClr val="tx1"/>
                </a:solidFill>
                <a:latin typeface="微软雅黑" panose="020B0503020204020204" pitchFamily="34" charset="-122"/>
                <a:ea typeface="微软雅黑" panose="020B0503020204020204" pitchFamily="34" charset="-122"/>
              </a:rPr>
              <a:t>用变址寄存器</a:t>
            </a:r>
            <a:r>
              <a:rPr lang="en-US" altLang="zh-CN" sz="2400" dirty="0">
                <a:solidFill>
                  <a:schemeClr val="tx1"/>
                </a:solidFill>
                <a:latin typeface="微软雅黑" panose="020B0503020204020204" pitchFamily="34" charset="-122"/>
                <a:ea typeface="微软雅黑" panose="020B0503020204020204" pitchFamily="34" charset="-122"/>
              </a:rPr>
              <a:t>X1</a:t>
            </a:r>
            <a:r>
              <a:rPr lang="zh-CN" altLang="zh-CN" sz="2400" dirty="0">
                <a:solidFill>
                  <a:schemeClr val="tx1"/>
                </a:solidFill>
                <a:latin typeface="微软雅黑" panose="020B0503020204020204" pitchFamily="34" charset="-122"/>
                <a:ea typeface="微软雅黑" panose="020B0503020204020204" pitchFamily="34" charset="-122"/>
              </a:rPr>
              <a:t>进行变址，</a:t>
            </a:r>
            <a:r>
              <a:rPr lang="zh-CN" altLang="zh-CN" sz="2400" dirty="0" smtClean="0">
                <a:solidFill>
                  <a:schemeClr val="tx1"/>
                </a:solidFill>
                <a:latin typeface="微软雅黑" panose="020B0503020204020204" pitchFamily="34" charset="-122"/>
                <a:ea typeface="微软雅黑" panose="020B0503020204020204" pitchFamily="34" charset="-122"/>
              </a:rPr>
              <a:t>有效地址</a:t>
            </a:r>
            <a:r>
              <a:rPr lang="en-US" altLang="zh-CN" sz="2400" dirty="0" smtClean="0">
                <a:solidFill>
                  <a:schemeClr val="tx1"/>
                </a:solidFill>
                <a:latin typeface="微软雅黑" panose="020B0503020204020204" pitchFamily="34" charset="-122"/>
                <a:ea typeface="微软雅黑" panose="020B0503020204020204" pitchFamily="34" charset="-122"/>
              </a:rPr>
              <a:t>   </a:t>
            </a:r>
          </a:p>
          <a:p>
            <a:pPr>
              <a:lnSpc>
                <a:spcPct val="150000"/>
              </a:lnSpc>
            </a:pP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EA</a:t>
            </a:r>
            <a:r>
              <a:rPr lang="en-US" altLang="zh-CN" sz="2400" dirty="0">
                <a:solidFill>
                  <a:schemeClr val="tx1"/>
                </a:solidFill>
                <a:latin typeface="微软雅黑" panose="020B0503020204020204" pitchFamily="34" charset="-122"/>
                <a:ea typeface="微软雅黑" panose="020B0503020204020204" pitchFamily="34" charset="-122"/>
              </a:rPr>
              <a:t>=(X1)+</a:t>
            </a:r>
            <a:r>
              <a:rPr lang="en-US" altLang="zh-CN" sz="2400" dirty="0" smtClean="0">
                <a:solidFill>
                  <a:schemeClr val="tx1"/>
                </a:solidFill>
                <a:latin typeface="微软雅黑" panose="020B0503020204020204" pitchFamily="34" charset="-122"/>
                <a:ea typeface="微软雅黑" panose="020B0503020204020204" pitchFamily="34" charset="-122"/>
              </a:rPr>
              <a:t>D=0037H+21H=0058H</a:t>
            </a:r>
            <a:endParaRPr lang="zh-CN" altLang="zh-CN" sz="2400" dirty="0">
              <a:solidFill>
                <a:schemeClr val="tx1"/>
              </a:solidFill>
              <a:latin typeface="微软雅黑" panose="020B0503020204020204" pitchFamily="34" charset="-122"/>
              <a:ea typeface="微软雅黑" panose="020B0503020204020204" pitchFamily="34" charset="-122"/>
            </a:endParaRPr>
          </a:p>
        </p:txBody>
      </p:sp>
      <p:sp>
        <p:nvSpPr>
          <p:cNvPr id="10" name="矩形 9"/>
          <p:cNvSpPr/>
          <p:nvPr/>
        </p:nvSpPr>
        <p:spPr>
          <a:xfrm>
            <a:off x="108398" y="5489236"/>
            <a:ext cx="9000492" cy="1200329"/>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nSpc>
                <a:spcPct val="150000"/>
              </a:lnSpc>
            </a:pPr>
            <a:r>
              <a:rPr lang="zh-CN" altLang="zh-CN" sz="2400" dirty="0" smtClean="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5</a:t>
            </a:r>
            <a:r>
              <a:rPr lang="zh-CN" altLang="zh-CN" sz="2400" dirty="0">
                <a:solidFill>
                  <a:schemeClr val="tx1"/>
                </a:solidFill>
                <a:latin typeface="微软雅黑" panose="020B0503020204020204" pitchFamily="34" charset="-122"/>
                <a:ea typeface="微软雅黑" panose="020B0503020204020204" pitchFamily="34" charset="-122"/>
              </a:rPr>
              <a:t>）指令</a:t>
            </a:r>
            <a:r>
              <a:rPr lang="en-US" altLang="zh-CN" sz="2400" dirty="0">
                <a:solidFill>
                  <a:schemeClr val="tx1"/>
                </a:solidFill>
                <a:latin typeface="微软雅黑" panose="020B0503020204020204" pitchFamily="34" charset="-122"/>
                <a:ea typeface="微软雅黑" panose="020B0503020204020204" pitchFamily="34" charset="-122"/>
              </a:rPr>
              <a:t>6723H</a:t>
            </a:r>
            <a:r>
              <a:rPr lang="zh-CN" altLang="zh-CN" sz="2400" dirty="0">
                <a:solidFill>
                  <a:schemeClr val="tx1"/>
                </a:solidFill>
                <a:latin typeface="微软雅黑" panose="020B0503020204020204" pitchFamily="34" charset="-122"/>
                <a:ea typeface="微软雅黑" panose="020B0503020204020204" pitchFamily="34" charset="-122"/>
              </a:rPr>
              <a:t>展开为</a:t>
            </a:r>
            <a:r>
              <a:rPr lang="en-US" altLang="zh-CN" sz="2400" dirty="0">
                <a:solidFill>
                  <a:schemeClr val="tx1"/>
                </a:solidFill>
                <a:latin typeface="微软雅黑" panose="020B0503020204020204" pitchFamily="34" charset="-122"/>
                <a:ea typeface="微软雅黑" panose="020B0503020204020204" pitchFamily="34" charset="-122"/>
              </a:rPr>
              <a:t>011001 11 00100011B </a:t>
            </a:r>
            <a:endParaRPr lang="zh-CN" altLang="zh-CN" sz="24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400" dirty="0">
                <a:solidFill>
                  <a:schemeClr val="tx1"/>
                </a:solidFill>
                <a:latin typeface="微软雅黑" panose="020B0503020204020204" pitchFamily="34" charset="-122"/>
                <a:ea typeface="微软雅黑" panose="020B0503020204020204" pitchFamily="34" charset="-122"/>
              </a:rPr>
              <a:t>X=11</a:t>
            </a:r>
            <a:r>
              <a:rPr lang="zh-CN" altLang="zh-CN" sz="2400" dirty="0">
                <a:solidFill>
                  <a:schemeClr val="tx1"/>
                </a:solidFill>
                <a:latin typeface="微软雅黑" panose="020B0503020204020204" pitchFamily="34" charset="-122"/>
                <a:ea typeface="微软雅黑" panose="020B0503020204020204" pitchFamily="34" charset="-122"/>
              </a:rPr>
              <a:t>相对寻址，有效地址</a:t>
            </a:r>
            <a:r>
              <a:rPr lang="en-US" altLang="zh-CN" sz="2400" dirty="0">
                <a:solidFill>
                  <a:schemeClr val="tx1"/>
                </a:solidFill>
                <a:latin typeface="微软雅黑" panose="020B0503020204020204" pitchFamily="34" charset="-122"/>
                <a:ea typeface="微软雅黑" panose="020B0503020204020204" pitchFamily="34" charset="-122"/>
              </a:rPr>
              <a:t>EA=(PC)+D=1234H+23H=1257H</a:t>
            </a:r>
            <a:endParaRPr lang="zh-CN" altLang="zh-CN" sz="240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97031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91E4FF5-0DB4-4070-B607-A4F0D89C2F7C}" type="slidenum">
              <a:rPr lang="en-US" altLang="zh-CN">
                <a:latin typeface="微软雅黑" pitchFamily="34" charset="-122"/>
                <a:ea typeface="微软雅黑" pitchFamily="34" charset="-122"/>
              </a:rPr>
              <a:pPr eaLnBrk="1" hangingPunct="1"/>
              <a:t>46</a:t>
            </a:fld>
            <a:endParaRPr lang="en-US" altLang="zh-CN">
              <a:latin typeface="微软雅黑" pitchFamily="34" charset="-122"/>
              <a:ea typeface="微软雅黑" pitchFamily="34" charset="-122"/>
            </a:endParaRPr>
          </a:p>
        </p:txBody>
      </p:sp>
      <p:sp>
        <p:nvSpPr>
          <p:cNvPr id="52227" name="Rectangle 2"/>
          <p:cNvSpPr>
            <a:spLocks noGrp="1" noChangeArrowheads="1"/>
          </p:cNvSpPr>
          <p:nvPr>
            <p:ph type="title"/>
          </p:nvPr>
        </p:nvSpPr>
        <p:spPr>
          <a:xfrm>
            <a:off x="457200" y="223838"/>
            <a:ext cx="7543800" cy="828675"/>
          </a:xfrm>
        </p:spPr>
        <p:txBody>
          <a:bodyPr/>
          <a:lstStyle/>
          <a:p>
            <a:pPr eaLnBrk="1" hangingPunct="1"/>
            <a:r>
              <a:rPr lang="en-US" altLang="zh-CN" sz="3500" smtClean="0">
                <a:latin typeface="微软雅黑" pitchFamily="34" charset="-122"/>
                <a:ea typeface="微软雅黑" pitchFamily="34" charset="-122"/>
                <a:cs typeface="Times New Roman" pitchFamily="18" charset="0"/>
              </a:rPr>
              <a:t>4.5 </a:t>
            </a:r>
            <a:r>
              <a:rPr lang="zh-CN" altLang="en-US" sz="3500" smtClean="0">
                <a:latin typeface="微软雅黑" pitchFamily="34" charset="-122"/>
                <a:ea typeface="微软雅黑" pitchFamily="34" charset="-122"/>
              </a:rPr>
              <a:t>典型指令</a:t>
            </a:r>
          </a:p>
        </p:txBody>
      </p:sp>
      <p:sp>
        <p:nvSpPr>
          <p:cNvPr id="52228" name="Rectangle 5"/>
          <p:cNvSpPr>
            <a:spLocks noChangeArrowheads="1"/>
          </p:cNvSpPr>
          <p:nvPr/>
        </p:nvSpPr>
        <p:spPr bwMode="auto">
          <a:xfrm>
            <a:off x="323850" y="1268413"/>
            <a:ext cx="7777163"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600" dirty="0">
                <a:latin typeface="微软雅黑" pitchFamily="34" charset="-122"/>
                <a:ea typeface="微软雅黑" pitchFamily="34" charset="-122"/>
              </a:rPr>
              <a:t>    </a:t>
            </a:r>
            <a:r>
              <a:rPr lang="zh-CN" altLang="en-US" sz="3600" dirty="0">
                <a:latin typeface="微软雅黑" pitchFamily="34" charset="-122"/>
                <a:ea typeface="微软雅黑" pitchFamily="34" charset="-122"/>
              </a:rPr>
              <a:t>不同机器有不同的指令系统。一个较完善的指令系统，应当有数据处理、数据存储、数据传送、程序控制四大类指令，具体有数据传送类指令、算术运算类指令、逻辑运算类指令、程序控制类指令、</a:t>
            </a:r>
            <a:r>
              <a:rPr lang="en-US" altLang="zh-CN" sz="3600" dirty="0">
                <a:latin typeface="微软雅黑" pitchFamily="34" charset="-122"/>
                <a:ea typeface="微软雅黑" pitchFamily="34" charset="-122"/>
              </a:rPr>
              <a:t>I/O</a:t>
            </a:r>
            <a:r>
              <a:rPr lang="zh-CN" altLang="en-US" sz="3600" dirty="0">
                <a:latin typeface="微软雅黑" pitchFamily="34" charset="-122"/>
                <a:ea typeface="微软雅黑" pitchFamily="34" charset="-122"/>
              </a:rPr>
              <a:t>类指令、字符串类指令、系统控制类指令。</a:t>
            </a:r>
          </a:p>
          <a:p>
            <a:r>
              <a:rPr lang="zh-CN" altLang="en-US" sz="3600" dirty="0">
                <a:latin typeface="微软雅黑" pitchFamily="34" charset="-122"/>
                <a:ea typeface="微软雅黑" pitchFamily="34" charset="-122"/>
              </a:rPr>
              <a:t>    </a:t>
            </a:r>
            <a:r>
              <a:rPr lang="en-US" altLang="zh-CN" sz="3600" dirty="0">
                <a:latin typeface="微软雅黑" pitchFamily="34" charset="-122"/>
                <a:ea typeface="微软雅黑" pitchFamily="34" charset="-122"/>
              </a:rPr>
              <a:t>RISC</a:t>
            </a:r>
            <a:r>
              <a:rPr lang="zh-CN" altLang="en-US" sz="3600" dirty="0">
                <a:latin typeface="微软雅黑" pitchFamily="34" charset="-122"/>
                <a:ea typeface="微软雅黑" pitchFamily="34" charset="-122"/>
              </a:rPr>
              <a:t>指令系统是目前计算机发展的主流，也是</a:t>
            </a:r>
            <a:r>
              <a:rPr lang="en-US" altLang="zh-CN" sz="3600" dirty="0">
                <a:latin typeface="微软雅黑" pitchFamily="34" charset="-122"/>
                <a:ea typeface="微软雅黑" pitchFamily="34" charset="-122"/>
              </a:rPr>
              <a:t>CISC</a:t>
            </a:r>
            <a:r>
              <a:rPr lang="zh-CN" altLang="en-US" sz="3600" dirty="0">
                <a:latin typeface="微软雅黑" pitchFamily="34" charset="-122"/>
                <a:ea typeface="微软雅黑" pitchFamily="34" charset="-122"/>
              </a:rPr>
              <a:t>指令系统的改进。</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AEC3D70-834A-482A-833C-746990C146D7}" type="slidenum">
              <a:rPr lang="en-US" altLang="zh-CN">
                <a:latin typeface="微软雅黑" pitchFamily="34" charset="-122"/>
                <a:ea typeface="微软雅黑" pitchFamily="34" charset="-122"/>
              </a:rPr>
              <a:pPr eaLnBrk="1" hangingPunct="1"/>
              <a:t>47</a:t>
            </a:fld>
            <a:endParaRPr lang="en-US" altLang="zh-CN">
              <a:latin typeface="微软雅黑" pitchFamily="34" charset="-122"/>
              <a:ea typeface="微软雅黑" pitchFamily="34" charset="-122"/>
            </a:endParaRPr>
          </a:p>
        </p:txBody>
      </p:sp>
      <p:sp>
        <p:nvSpPr>
          <p:cNvPr id="53251" name="Rectangle 4"/>
          <p:cNvSpPr>
            <a:spLocks noChangeArrowheads="1"/>
          </p:cNvSpPr>
          <p:nvPr/>
        </p:nvSpPr>
        <p:spPr bwMode="auto">
          <a:xfrm>
            <a:off x="0" y="620713"/>
            <a:ext cx="9144000" cy="554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Clr>
                <a:schemeClr val="tx2"/>
              </a:buClr>
              <a:buSzPct val="70000"/>
              <a:buFont typeface="Wingdings" pitchFamily="2" charset="2"/>
              <a:buChar char="l"/>
            </a:pPr>
            <a:r>
              <a:rPr lang="zh-CN" altLang="en-US" sz="2600" b="1">
                <a:latin typeface="微软雅黑" pitchFamily="34" charset="-122"/>
                <a:ea typeface="微软雅黑" pitchFamily="34" charset="-122"/>
              </a:rPr>
              <a:t>指令分类与基本指令类型   </a:t>
            </a:r>
            <a:endParaRPr lang="zh-CN" altLang="en-US" sz="2600">
              <a:latin typeface="微软雅黑" pitchFamily="34" charset="-122"/>
              <a:ea typeface="微软雅黑" pitchFamily="34" charset="-122"/>
            </a:endParaRPr>
          </a:p>
          <a:p>
            <a:pPr marL="692150" lvl="1" indent="-347663">
              <a:lnSpc>
                <a:spcPct val="90000"/>
              </a:lnSpc>
              <a:spcBef>
                <a:spcPct val="20000"/>
              </a:spcBef>
              <a:buClr>
                <a:schemeClr val="accent2"/>
              </a:buClr>
              <a:buSzPct val="70000"/>
              <a:buFont typeface="Wingdings" pitchFamily="2" charset="2"/>
              <a:buChar char="l"/>
            </a:pPr>
            <a:r>
              <a:rPr lang="zh-CN" altLang="en-US" sz="2600">
                <a:latin typeface="微软雅黑" pitchFamily="34" charset="-122"/>
                <a:ea typeface="微软雅黑" pitchFamily="34" charset="-122"/>
              </a:rPr>
              <a:t>数据传送类指令</a:t>
            </a:r>
          </a:p>
          <a:p>
            <a:pPr marL="987425" lvl="2" indent="-293688">
              <a:lnSpc>
                <a:spcPct val="90000"/>
              </a:lnSpc>
              <a:spcBef>
                <a:spcPct val="20000"/>
              </a:spcBef>
              <a:buClr>
                <a:schemeClr val="accent1"/>
              </a:buClr>
              <a:buSzPct val="70000"/>
              <a:buFont typeface="Wingdings" pitchFamily="2" charset="2"/>
              <a:buChar char="l"/>
            </a:pPr>
            <a:r>
              <a:rPr lang="zh-CN" altLang="en-US" sz="2600">
                <a:latin typeface="微软雅黑" pitchFamily="34" charset="-122"/>
                <a:ea typeface="微软雅黑" pitchFamily="34" charset="-122"/>
              </a:rPr>
              <a:t>一般传送指令：   </a:t>
            </a:r>
            <a:r>
              <a:rPr lang="en-US" altLang="zh-CN" sz="2600">
                <a:latin typeface="微软雅黑" pitchFamily="34" charset="-122"/>
                <a:ea typeface="微软雅黑" pitchFamily="34" charset="-122"/>
              </a:rPr>
              <a:t>MOV   AX</a:t>
            </a:r>
            <a:r>
              <a:rPr lang="zh-CN" altLang="en-US" sz="2600">
                <a:latin typeface="微软雅黑" pitchFamily="34" charset="-122"/>
                <a:ea typeface="微软雅黑" pitchFamily="34" charset="-122"/>
              </a:rPr>
              <a:t>，</a:t>
            </a:r>
            <a:r>
              <a:rPr lang="en-US" altLang="zh-CN" sz="2600">
                <a:latin typeface="微软雅黑" pitchFamily="34" charset="-122"/>
                <a:ea typeface="微软雅黑" pitchFamily="34" charset="-122"/>
              </a:rPr>
              <a:t>BX</a:t>
            </a:r>
          </a:p>
          <a:p>
            <a:pPr marL="987425" lvl="2" indent="-293688">
              <a:lnSpc>
                <a:spcPct val="90000"/>
              </a:lnSpc>
              <a:spcBef>
                <a:spcPct val="20000"/>
              </a:spcBef>
              <a:buClr>
                <a:schemeClr val="accent1"/>
              </a:buClr>
              <a:buSzPct val="70000"/>
              <a:buFont typeface="Wingdings" pitchFamily="2" charset="2"/>
              <a:buChar char="l"/>
            </a:pPr>
            <a:r>
              <a:rPr lang="zh-CN" altLang="en-US" sz="2600">
                <a:latin typeface="微软雅黑" pitchFamily="34" charset="-122"/>
                <a:ea typeface="微软雅黑" pitchFamily="34" charset="-122"/>
              </a:rPr>
              <a:t>数据交换指令：   </a:t>
            </a:r>
            <a:r>
              <a:rPr lang="en-US" altLang="zh-CN" sz="2600">
                <a:latin typeface="微软雅黑" pitchFamily="34" charset="-122"/>
                <a:ea typeface="微软雅黑" pitchFamily="34" charset="-122"/>
              </a:rPr>
              <a:t>XCHG</a:t>
            </a:r>
          </a:p>
          <a:p>
            <a:pPr marL="987425" lvl="2" indent="-293688">
              <a:lnSpc>
                <a:spcPct val="90000"/>
              </a:lnSpc>
              <a:spcBef>
                <a:spcPct val="20000"/>
              </a:spcBef>
              <a:buClr>
                <a:schemeClr val="accent1"/>
              </a:buClr>
              <a:buSzPct val="70000"/>
              <a:buFont typeface="Wingdings" pitchFamily="2" charset="2"/>
              <a:buChar char="l"/>
            </a:pPr>
            <a:r>
              <a:rPr lang="zh-CN" altLang="en-US" sz="2600">
                <a:latin typeface="微软雅黑" pitchFamily="34" charset="-122"/>
                <a:ea typeface="微软雅黑" pitchFamily="34" charset="-122"/>
              </a:rPr>
              <a:t>堆栈操作指令：   </a:t>
            </a:r>
            <a:r>
              <a:rPr lang="en-US" altLang="zh-CN" sz="2600">
                <a:latin typeface="微软雅黑" pitchFamily="34" charset="-122"/>
                <a:ea typeface="微软雅黑" pitchFamily="34" charset="-122"/>
              </a:rPr>
              <a:t>PUSH</a:t>
            </a:r>
            <a:r>
              <a:rPr lang="zh-CN" altLang="en-US" sz="2600">
                <a:latin typeface="微软雅黑" pitchFamily="34" charset="-122"/>
                <a:ea typeface="微软雅黑" pitchFamily="34" charset="-122"/>
              </a:rPr>
              <a:t>，</a:t>
            </a:r>
            <a:r>
              <a:rPr lang="en-US" altLang="zh-CN" sz="2600">
                <a:latin typeface="微软雅黑" pitchFamily="34" charset="-122"/>
                <a:ea typeface="微软雅黑" pitchFamily="34" charset="-122"/>
              </a:rPr>
              <a:t>POP</a:t>
            </a:r>
          </a:p>
          <a:p>
            <a:pPr marL="692150" lvl="1" indent="-347663">
              <a:lnSpc>
                <a:spcPct val="90000"/>
              </a:lnSpc>
              <a:spcBef>
                <a:spcPct val="20000"/>
              </a:spcBef>
              <a:buClr>
                <a:schemeClr val="accent2"/>
              </a:buClr>
              <a:buSzPct val="70000"/>
              <a:buFont typeface="Wingdings" pitchFamily="2" charset="2"/>
              <a:buChar char="l"/>
            </a:pPr>
            <a:r>
              <a:rPr lang="zh-CN" altLang="en-US" sz="2600">
                <a:latin typeface="微软雅黑" pitchFamily="34" charset="-122"/>
                <a:ea typeface="微软雅黑" pitchFamily="34" charset="-122"/>
              </a:rPr>
              <a:t>运算类指令</a:t>
            </a:r>
          </a:p>
          <a:p>
            <a:pPr marL="987425" lvl="2" indent="-293688">
              <a:lnSpc>
                <a:spcPct val="90000"/>
              </a:lnSpc>
              <a:spcBef>
                <a:spcPct val="20000"/>
              </a:spcBef>
              <a:buClr>
                <a:schemeClr val="accent1"/>
              </a:buClr>
              <a:buSzPct val="70000"/>
              <a:buFont typeface="Wingdings" pitchFamily="2" charset="2"/>
              <a:buChar char="l"/>
            </a:pPr>
            <a:r>
              <a:rPr lang="zh-CN" altLang="en-US" sz="2600">
                <a:latin typeface="微软雅黑" pitchFamily="34" charset="-122"/>
                <a:ea typeface="微软雅黑" pitchFamily="34" charset="-122"/>
              </a:rPr>
              <a:t>算术运算指令： 加、减、乘、除以及加</a:t>
            </a:r>
            <a:r>
              <a:rPr lang="en-US" altLang="zh-CN" sz="2600">
                <a:latin typeface="微软雅黑" pitchFamily="34" charset="-122"/>
                <a:ea typeface="微软雅黑" pitchFamily="34" charset="-122"/>
              </a:rPr>
              <a:t>1</a:t>
            </a:r>
            <a:r>
              <a:rPr lang="zh-CN" altLang="en-US" sz="2600">
                <a:latin typeface="微软雅黑" pitchFamily="34" charset="-122"/>
                <a:ea typeface="微软雅黑" pitchFamily="34" charset="-122"/>
              </a:rPr>
              <a:t>、减</a:t>
            </a:r>
            <a:r>
              <a:rPr lang="en-US" altLang="zh-CN" sz="2600">
                <a:latin typeface="微软雅黑" pitchFamily="34" charset="-122"/>
                <a:ea typeface="微软雅黑" pitchFamily="34" charset="-122"/>
              </a:rPr>
              <a:t>1</a:t>
            </a:r>
            <a:r>
              <a:rPr lang="zh-CN" altLang="en-US" sz="2600">
                <a:latin typeface="微软雅黑" pitchFamily="34" charset="-122"/>
                <a:ea typeface="微软雅黑" pitchFamily="34" charset="-122"/>
              </a:rPr>
              <a:t>、比较</a:t>
            </a:r>
          </a:p>
          <a:p>
            <a:pPr marL="987425" lvl="2" indent="-293688">
              <a:lnSpc>
                <a:spcPct val="90000"/>
              </a:lnSpc>
              <a:spcBef>
                <a:spcPct val="20000"/>
              </a:spcBef>
              <a:buClr>
                <a:schemeClr val="accent1"/>
              </a:buClr>
              <a:buSzPct val="70000"/>
              <a:buFont typeface="Wingdings" pitchFamily="2" charset="2"/>
              <a:buChar char="l"/>
            </a:pPr>
            <a:r>
              <a:rPr lang="zh-CN" altLang="en-US" sz="2600">
                <a:latin typeface="微软雅黑" pitchFamily="34" charset="-122"/>
                <a:ea typeface="微软雅黑" pitchFamily="34" charset="-122"/>
              </a:rPr>
              <a:t>逻辑运算指令：  </a:t>
            </a:r>
          </a:p>
          <a:p>
            <a:pPr marL="987425" lvl="2" indent="-293688">
              <a:lnSpc>
                <a:spcPct val="90000"/>
              </a:lnSpc>
              <a:spcBef>
                <a:spcPct val="20000"/>
              </a:spcBef>
              <a:buClr>
                <a:schemeClr val="accent1"/>
              </a:buClr>
              <a:buSzPct val="70000"/>
              <a:buFont typeface="Wingdings" pitchFamily="2" charset="2"/>
              <a:buChar char="l"/>
            </a:pPr>
            <a:r>
              <a:rPr lang="zh-CN" altLang="en-US" sz="2600">
                <a:latin typeface="微软雅黑" pitchFamily="34" charset="-122"/>
                <a:ea typeface="微软雅黑" pitchFamily="34" charset="-122"/>
              </a:rPr>
              <a:t>移位指令   </a:t>
            </a:r>
          </a:p>
          <a:p>
            <a:pPr marL="692150" lvl="1" indent="-347663">
              <a:lnSpc>
                <a:spcPct val="90000"/>
              </a:lnSpc>
              <a:spcBef>
                <a:spcPct val="20000"/>
              </a:spcBef>
              <a:buClr>
                <a:schemeClr val="accent2"/>
              </a:buClr>
              <a:buSzPct val="70000"/>
              <a:buFont typeface="Wingdings" pitchFamily="2" charset="2"/>
              <a:buChar char="l"/>
            </a:pPr>
            <a:r>
              <a:rPr lang="zh-CN" altLang="en-US" sz="2600">
                <a:latin typeface="微软雅黑" pitchFamily="34" charset="-122"/>
                <a:ea typeface="微软雅黑" pitchFamily="34" charset="-122"/>
              </a:rPr>
              <a:t>程序控制类指令   </a:t>
            </a:r>
          </a:p>
          <a:p>
            <a:pPr marL="987425" lvl="2" indent="-293688">
              <a:lnSpc>
                <a:spcPct val="90000"/>
              </a:lnSpc>
              <a:spcBef>
                <a:spcPct val="20000"/>
              </a:spcBef>
              <a:buClr>
                <a:schemeClr val="accent1"/>
              </a:buClr>
              <a:buSzPct val="70000"/>
              <a:buFont typeface="Wingdings" pitchFamily="2" charset="2"/>
              <a:buChar char="l"/>
            </a:pPr>
            <a:r>
              <a:rPr lang="zh-CN" altLang="en-US" sz="2600">
                <a:latin typeface="微软雅黑" pitchFamily="34" charset="-122"/>
                <a:ea typeface="微软雅黑" pitchFamily="34" charset="-122"/>
              </a:rPr>
              <a:t>程序控制类指令用于控制程序的执行方向，并使程序具有测试、分析与判断的能力。</a:t>
            </a:r>
          </a:p>
          <a:p>
            <a:pPr marL="692150" lvl="1" indent="-347663">
              <a:lnSpc>
                <a:spcPct val="90000"/>
              </a:lnSpc>
              <a:spcBef>
                <a:spcPct val="20000"/>
              </a:spcBef>
              <a:buClr>
                <a:schemeClr val="accent2"/>
              </a:buClr>
              <a:buSzPct val="70000"/>
              <a:buFont typeface="Wingdings" pitchFamily="2" charset="2"/>
              <a:buChar char="l"/>
            </a:pPr>
            <a:r>
              <a:rPr lang="zh-CN" altLang="en-US" sz="2600">
                <a:latin typeface="微软雅黑" pitchFamily="34" charset="-122"/>
                <a:ea typeface="微软雅黑" pitchFamily="34" charset="-122"/>
              </a:rPr>
              <a:t>输入和输出指令、字符串处理指令、特权指令、其他指令</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75CA0BF-687D-4133-9A5B-35F0C45C4BCC}" type="slidenum">
              <a:rPr lang="en-US" altLang="zh-CN"/>
              <a:pPr eaLnBrk="1" hangingPunct="1"/>
              <a:t>48</a:t>
            </a:fld>
            <a:endParaRPr lang="en-US" altLang="zh-CN"/>
          </a:p>
        </p:txBody>
      </p:sp>
      <p:sp>
        <p:nvSpPr>
          <p:cNvPr id="54275" name="Rectangle 3"/>
          <p:cNvSpPr>
            <a:spLocks noGrp="1" noChangeArrowheads="1"/>
          </p:cNvSpPr>
          <p:nvPr>
            <p:ph type="body" idx="1"/>
          </p:nvPr>
        </p:nvSpPr>
        <p:spPr>
          <a:xfrm>
            <a:off x="0" y="476250"/>
            <a:ext cx="8748464" cy="6119813"/>
          </a:xfrm>
        </p:spPr>
        <p:txBody>
          <a:bodyPr/>
          <a:lstStyle/>
          <a:p>
            <a:pPr eaLnBrk="1" hangingPunct="1"/>
            <a:r>
              <a:rPr lang="zh-CN" altLang="en-US" sz="2400" dirty="0" smtClean="0">
                <a:latin typeface="微软雅黑" pitchFamily="34" charset="-122"/>
                <a:ea typeface="微软雅黑" pitchFamily="34" charset="-122"/>
              </a:rPr>
              <a:t>基本指令系统</a:t>
            </a:r>
          </a:p>
          <a:p>
            <a:pPr lvl="1" eaLnBrk="1" hangingPunct="1"/>
            <a:r>
              <a:rPr lang="en-US" altLang="zh-CN" sz="2400" dirty="0" smtClean="0">
                <a:latin typeface="微软雅黑" pitchFamily="34" charset="-122"/>
                <a:ea typeface="微软雅黑" pitchFamily="34" charset="-122"/>
              </a:rPr>
              <a:t>P137</a:t>
            </a:r>
            <a:r>
              <a:rPr lang="zh-CN" altLang="en-US" sz="2400" dirty="0" smtClean="0">
                <a:latin typeface="微软雅黑" pitchFamily="34" charset="-122"/>
                <a:ea typeface="微软雅黑" pitchFamily="34" charset="-122"/>
              </a:rPr>
              <a:t>表</a:t>
            </a:r>
            <a:r>
              <a:rPr lang="en-US" altLang="zh-CN" sz="2400" dirty="0" smtClean="0">
                <a:latin typeface="微软雅黑" pitchFamily="34" charset="-122"/>
                <a:ea typeface="微软雅黑" pitchFamily="34" charset="-122"/>
              </a:rPr>
              <a:t>4.12</a:t>
            </a:r>
            <a:r>
              <a:rPr lang="zh-CN" altLang="en-US" sz="2400" dirty="0" smtClean="0">
                <a:latin typeface="微软雅黑" pitchFamily="34" charset="-122"/>
                <a:ea typeface="微软雅黑" pitchFamily="34" charset="-122"/>
              </a:rPr>
              <a:t>介绍</a:t>
            </a:r>
          </a:p>
          <a:p>
            <a:pPr lvl="1" eaLnBrk="1" hangingPunct="1"/>
            <a:r>
              <a:rPr lang="en-US" altLang="zh-CN" sz="2400" dirty="0" smtClean="0">
                <a:latin typeface="微软雅黑" pitchFamily="34" charset="-122"/>
                <a:ea typeface="微软雅黑" pitchFamily="34" charset="-122"/>
              </a:rPr>
              <a:t>20%</a:t>
            </a:r>
            <a:r>
              <a:rPr lang="zh-CN" altLang="en-US" sz="2400" dirty="0" smtClean="0">
                <a:latin typeface="微软雅黑" pitchFamily="34" charset="-122"/>
                <a:ea typeface="微软雅黑" pitchFamily="34" charset="-122"/>
              </a:rPr>
              <a:t>和</a:t>
            </a:r>
            <a:r>
              <a:rPr lang="en-US" altLang="zh-CN" sz="2400" dirty="0" smtClean="0">
                <a:latin typeface="微软雅黑" pitchFamily="34" charset="-122"/>
                <a:ea typeface="微软雅黑" pitchFamily="34" charset="-122"/>
              </a:rPr>
              <a:t>80%</a:t>
            </a:r>
            <a:r>
              <a:rPr lang="zh-CN" altLang="en-US" sz="2400" dirty="0" smtClean="0">
                <a:latin typeface="微软雅黑" pitchFamily="34" charset="-122"/>
                <a:ea typeface="微软雅黑" pitchFamily="34" charset="-122"/>
              </a:rPr>
              <a:t>规律：</a:t>
            </a:r>
            <a:r>
              <a:rPr lang="en-US" altLang="zh-CN" sz="2400" dirty="0" smtClean="0">
                <a:latin typeface="微软雅黑" pitchFamily="34" charset="-122"/>
                <a:ea typeface="微软雅黑" pitchFamily="34" charset="-122"/>
              </a:rPr>
              <a:t>CISC</a:t>
            </a:r>
            <a:r>
              <a:rPr lang="zh-CN" altLang="en-US" sz="2400" dirty="0" smtClean="0">
                <a:latin typeface="微软雅黑" pitchFamily="34" charset="-122"/>
                <a:ea typeface="微软雅黑" pitchFamily="34" charset="-122"/>
              </a:rPr>
              <a:t>中大约有</a:t>
            </a:r>
            <a:r>
              <a:rPr lang="en-US" altLang="zh-CN" sz="2400" dirty="0" smtClean="0">
                <a:latin typeface="微软雅黑" pitchFamily="34" charset="-122"/>
                <a:ea typeface="微软雅黑" pitchFamily="34" charset="-122"/>
              </a:rPr>
              <a:t>20%</a:t>
            </a:r>
            <a:r>
              <a:rPr lang="zh-CN" altLang="en-US" sz="2400" dirty="0" smtClean="0">
                <a:latin typeface="微软雅黑" pitchFamily="34" charset="-122"/>
                <a:ea typeface="微软雅黑" pitchFamily="34" charset="-122"/>
              </a:rPr>
              <a:t>的指令使用频率高，占据了</a:t>
            </a:r>
            <a:r>
              <a:rPr lang="en-US" altLang="zh-CN" sz="2400" dirty="0" smtClean="0">
                <a:latin typeface="微软雅黑" pitchFamily="34" charset="-122"/>
                <a:ea typeface="微软雅黑" pitchFamily="34" charset="-122"/>
              </a:rPr>
              <a:t>80%</a:t>
            </a:r>
            <a:r>
              <a:rPr lang="zh-CN" altLang="en-US" sz="2400" dirty="0" smtClean="0">
                <a:latin typeface="微软雅黑" pitchFamily="34" charset="-122"/>
                <a:ea typeface="微软雅黑" pitchFamily="34" charset="-122"/>
              </a:rPr>
              <a:t>的处理机时间，而有</a:t>
            </a:r>
            <a:r>
              <a:rPr lang="en-US" altLang="zh-CN" sz="2400" dirty="0" smtClean="0">
                <a:latin typeface="微软雅黑" pitchFamily="34" charset="-122"/>
                <a:ea typeface="微软雅黑" pitchFamily="34" charset="-122"/>
              </a:rPr>
              <a:t>80%</a:t>
            </a:r>
            <a:r>
              <a:rPr lang="zh-CN" altLang="en-US" sz="2400" dirty="0" smtClean="0">
                <a:latin typeface="微软雅黑" pitchFamily="34" charset="-122"/>
                <a:ea typeface="微软雅黑" pitchFamily="34" charset="-122"/>
              </a:rPr>
              <a:t>的不常用指令只占用处理机的</a:t>
            </a:r>
            <a:r>
              <a:rPr lang="en-US" altLang="zh-CN" sz="2400" dirty="0" smtClean="0">
                <a:latin typeface="微软雅黑" pitchFamily="34" charset="-122"/>
                <a:ea typeface="微软雅黑" pitchFamily="34" charset="-122"/>
              </a:rPr>
              <a:t>20%</a:t>
            </a:r>
            <a:r>
              <a:rPr lang="zh-CN" altLang="en-US" sz="2400" dirty="0" smtClean="0">
                <a:latin typeface="微软雅黑" pitchFamily="34" charset="-122"/>
                <a:ea typeface="微软雅黑" pitchFamily="34" charset="-122"/>
              </a:rPr>
              <a:t>时间。</a:t>
            </a:r>
          </a:p>
          <a:p>
            <a:pPr lvl="1" eaLnBrk="1" hangingPunct="1"/>
            <a:r>
              <a:rPr lang="en-US" altLang="zh-CN" sz="2400" dirty="0" smtClean="0">
                <a:latin typeface="微软雅黑" pitchFamily="34" charset="-122"/>
                <a:ea typeface="微软雅黑" pitchFamily="34" charset="-122"/>
              </a:rPr>
              <a:t>VLSI</a:t>
            </a:r>
            <a:r>
              <a:rPr lang="zh-CN" altLang="en-US" sz="2400" dirty="0" smtClean="0">
                <a:latin typeface="微软雅黑" pitchFamily="34" charset="-122"/>
                <a:ea typeface="微软雅黑" pitchFamily="34" charset="-122"/>
              </a:rPr>
              <a:t>技术发展引起的问题</a:t>
            </a:r>
          </a:p>
          <a:p>
            <a:pPr lvl="2" eaLnBrk="1" hangingPunct="1"/>
            <a:r>
              <a:rPr lang="en-US" altLang="zh-CN" sz="2400" dirty="0" smtClean="0">
                <a:latin typeface="微软雅黑" pitchFamily="34" charset="-122"/>
                <a:ea typeface="微软雅黑" pitchFamily="34" charset="-122"/>
              </a:rPr>
              <a:t>VLSI</a:t>
            </a:r>
            <a:r>
              <a:rPr lang="zh-CN" altLang="en-US" sz="2400" dirty="0" smtClean="0">
                <a:latin typeface="微软雅黑" pitchFamily="34" charset="-122"/>
                <a:ea typeface="微软雅黑" pitchFamily="34" charset="-122"/>
              </a:rPr>
              <a:t>工艺要求规整性，而大量复杂指令控制逻辑极其不规整，给</a:t>
            </a:r>
            <a:r>
              <a:rPr lang="en-US" altLang="zh-CN" sz="2400" dirty="0" smtClean="0">
                <a:latin typeface="微软雅黑" pitchFamily="34" charset="-122"/>
                <a:ea typeface="微软雅黑" pitchFamily="34" charset="-122"/>
              </a:rPr>
              <a:t>VLSI</a:t>
            </a:r>
            <a:r>
              <a:rPr lang="zh-CN" altLang="en-US" sz="2400" dirty="0" smtClean="0">
                <a:latin typeface="微软雅黑" pitchFamily="34" charset="-122"/>
                <a:ea typeface="微软雅黑" pitchFamily="34" charset="-122"/>
              </a:rPr>
              <a:t>工艺造成了很大的困难。</a:t>
            </a:r>
          </a:p>
          <a:p>
            <a:pPr lvl="2" eaLnBrk="1" hangingPunct="1"/>
            <a:r>
              <a:rPr lang="zh-CN" altLang="en-US" sz="2400" dirty="0" smtClean="0">
                <a:latin typeface="微软雅黑" pitchFamily="34" charset="-122"/>
                <a:ea typeface="微软雅黑" pitchFamily="34" charset="-122"/>
              </a:rPr>
              <a:t>现在用微程序实现复杂指令与用简单指令组成的子程序相比，没有多大的区别。因为现在控制存储器和主存的速度差缩小。</a:t>
            </a:r>
          </a:p>
          <a:p>
            <a:pPr lvl="1" eaLnBrk="1" hangingPunct="1"/>
            <a:r>
              <a:rPr lang="en-US" altLang="zh-CN" sz="2400" dirty="0" smtClean="0">
                <a:latin typeface="微软雅黑" pitchFamily="34" charset="-122"/>
                <a:ea typeface="微软雅黑" pitchFamily="34" charset="-122"/>
              </a:rPr>
              <a:t>CISC</a:t>
            </a:r>
            <a:r>
              <a:rPr lang="zh-CN" altLang="en-US" sz="2400" dirty="0" smtClean="0">
                <a:latin typeface="微软雅黑" pitchFamily="34" charset="-122"/>
                <a:ea typeface="微软雅黑" pitchFamily="34" charset="-122"/>
              </a:rPr>
              <a:t>中，通过增强指令系统的功能，简化了软件，增加了硬件的复杂程度。然而指令复杂了，指令的执行时间必然加长，从而使整个系统的执行时间反而增加，因而在计算机体系结构设计中，软硬件的功能分配必须恰当</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07B0306D-0B39-435D-B35E-E4C0A0BEC3A2}" type="slidenum">
              <a:rPr lang="en-US" altLang="zh-CN">
                <a:latin typeface="微软雅黑" pitchFamily="34" charset="-122"/>
                <a:ea typeface="微软雅黑" pitchFamily="34" charset="-122"/>
              </a:rPr>
              <a:pPr eaLnBrk="1" hangingPunct="1"/>
              <a:t>49</a:t>
            </a:fld>
            <a:endParaRPr lang="en-US" altLang="zh-CN">
              <a:latin typeface="微软雅黑" pitchFamily="34" charset="-122"/>
              <a:ea typeface="微软雅黑" pitchFamily="34" charset="-122"/>
            </a:endParaRPr>
          </a:p>
        </p:txBody>
      </p:sp>
      <p:sp>
        <p:nvSpPr>
          <p:cNvPr id="55299" name="Rectangle 3"/>
          <p:cNvSpPr>
            <a:spLocks noGrp="1" noChangeArrowheads="1"/>
          </p:cNvSpPr>
          <p:nvPr>
            <p:ph type="body" idx="1"/>
          </p:nvPr>
        </p:nvSpPr>
        <p:spPr>
          <a:xfrm>
            <a:off x="251520" y="692696"/>
            <a:ext cx="8425184" cy="5689600"/>
          </a:xfrm>
        </p:spPr>
        <p:txBody>
          <a:bodyPr/>
          <a:lstStyle/>
          <a:p>
            <a:pPr eaLnBrk="1" hangingPunct="1">
              <a:lnSpc>
                <a:spcPct val="150000"/>
              </a:lnSpc>
              <a:spcBef>
                <a:spcPts val="0"/>
              </a:spcBef>
            </a:pPr>
            <a:r>
              <a:rPr lang="en-US" altLang="zh-CN" sz="2800" dirty="0" smtClean="0">
                <a:latin typeface="微软雅黑" pitchFamily="34" charset="-122"/>
                <a:ea typeface="微软雅黑" pitchFamily="34" charset="-122"/>
              </a:rPr>
              <a:t>RISC </a:t>
            </a:r>
            <a:r>
              <a:rPr lang="zh-CN" altLang="en-US" sz="2800" dirty="0" smtClean="0">
                <a:latin typeface="微软雅黑" pitchFamily="34" charset="-122"/>
                <a:ea typeface="微软雅黑" pitchFamily="34" charset="-122"/>
              </a:rPr>
              <a:t>特点</a:t>
            </a:r>
            <a:r>
              <a:rPr lang="en-US" altLang="zh-CN" sz="2800" dirty="0" smtClean="0">
                <a:latin typeface="微软雅黑" pitchFamily="34" charset="-122"/>
                <a:ea typeface="微软雅黑" pitchFamily="34" charset="-122"/>
              </a:rPr>
              <a:t>RISC</a:t>
            </a:r>
            <a:r>
              <a:rPr lang="zh-CN" altLang="en-US" sz="2800" dirty="0" smtClean="0">
                <a:latin typeface="微软雅黑" pitchFamily="34" charset="-122"/>
                <a:ea typeface="微软雅黑" pitchFamily="34" charset="-122"/>
              </a:rPr>
              <a:t>指令系统</a:t>
            </a:r>
            <a:r>
              <a:rPr lang="zh-CN" altLang="en-US" sz="2800" dirty="0">
                <a:latin typeface="微软雅黑" pitchFamily="34" charset="-122"/>
                <a:ea typeface="微软雅黑" pitchFamily="34" charset="-122"/>
              </a:rPr>
              <a:t>采用流水线</a:t>
            </a:r>
            <a:r>
              <a:rPr lang="zh-CN" altLang="en-US" sz="2800" dirty="0" smtClean="0">
                <a:latin typeface="微软雅黑" pitchFamily="34" charset="-122"/>
                <a:ea typeface="微软雅黑" pitchFamily="34" charset="-122"/>
              </a:rPr>
              <a:t>技术，是</a:t>
            </a:r>
            <a:endParaRPr lang="en-US" altLang="zh-CN" sz="2800" dirty="0" smtClean="0">
              <a:latin typeface="微软雅黑" pitchFamily="34" charset="-122"/>
              <a:ea typeface="微软雅黑" pitchFamily="34" charset="-122"/>
            </a:endParaRPr>
          </a:p>
          <a:p>
            <a:pPr marL="0" indent="0" eaLnBrk="1" hangingPunct="1">
              <a:lnSpc>
                <a:spcPct val="150000"/>
              </a:lnSpc>
              <a:spcBef>
                <a:spcPts val="0"/>
              </a:spcBef>
              <a:buNone/>
            </a:pPr>
            <a:r>
              <a:rPr lang="zh-CN" altLang="en-US" sz="2800" dirty="0" smtClean="0">
                <a:latin typeface="微软雅黑" pitchFamily="34" charset="-122"/>
                <a:ea typeface="微软雅黑" pitchFamily="34" charset="-122"/>
              </a:rPr>
              <a:t>   目前</a:t>
            </a:r>
            <a:r>
              <a:rPr lang="zh-CN" altLang="en-US" sz="2800" dirty="0">
                <a:latin typeface="微软雅黑" pitchFamily="34" charset="-122"/>
                <a:ea typeface="微软雅黑" pitchFamily="34" charset="-122"/>
              </a:rPr>
              <a:t>计算机发展的主流，也是</a:t>
            </a:r>
            <a:r>
              <a:rPr lang="en-US" altLang="zh-CN" sz="2800" dirty="0">
                <a:latin typeface="微软雅黑" pitchFamily="34" charset="-122"/>
                <a:ea typeface="微软雅黑" pitchFamily="34" charset="-122"/>
              </a:rPr>
              <a:t>CISC</a:t>
            </a:r>
            <a:r>
              <a:rPr lang="zh-CN" altLang="en-US" sz="2800" dirty="0" smtClean="0">
                <a:latin typeface="微软雅黑" pitchFamily="34" charset="-122"/>
                <a:ea typeface="微软雅黑" pitchFamily="34" charset="-122"/>
              </a:rPr>
              <a:t>指令系统</a:t>
            </a:r>
            <a:endParaRPr lang="en-US" altLang="zh-CN" sz="2800" dirty="0" smtClean="0">
              <a:latin typeface="微软雅黑" pitchFamily="34" charset="-122"/>
              <a:ea typeface="微软雅黑" pitchFamily="34" charset="-122"/>
            </a:endParaRPr>
          </a:p>
          <a:p>
            <a:pPr marL="0" indent="0" eaLnBrk="1" hangingPunct="1">
              <a:lnSpc>
                <a:spcPct val="150000"/>
              </a:lnSpc>
              <a:spcBef>
                <a:spcPts val="0"/>
              </a:spcBef>
              <a:buNone/>
            </a:pPr>
            <a:r>
              <a:rPr lang="zh-CN" altLang="en-US" sz="2800" dirty="0" smtClean="0">
                <a:latin typeface="微软雅黑" pitchFamily="34" charset="-122"/>
                <a:ea typeface="微软雅黑" pitchFamily="34" charset="-122"/>
              </a:rPr>
              <a:t>   的</a:t>
            </a:r>
            <a:r>
              <a:rPr lang="zh-CN" altLang="en-US" sz="2800" dirty="0">
                <a:latin typeface="微软雅黑" pitchFamily="34" charset="-122"/>
                <a:ea typeface="微软雅黑" pitchFamily="34" charset="-122"/>
              </a:rPr>
              <a:t>改进，它的最大特点是：</a:t>
            </a:r>
            <a:endParaRPr lang="en-US" altLang="zh-CN" sz="2800" dirty="0">
              <a:latin typeface="微软雅黑" pitchFamily="34" charset="-122"/>
              <a:ea typeface="微软雅黑" pitchFamily="34" charset="-122"/>
            </a:endParaRPr>
          </a:p>
          <a:p>
            <a:pPr marL="349250" lvl="1" indent="0" eaLnBrk="1" hangingPunct="1">
              <a:lnSpc>
                <a:spcPct val="150000"/>
              </a:lnSpc>
              <a:spcBef>
                <a:spcPts val="0"/>
              </a:spcBef>
              <a:buNone/>
            </a:pPr>
            <a:r>
              <a:rPr lang="en-US" altLang="zh-CN" sz="2400" dirty="0">
                <a:latin typeface="微软雅黑" pitchFamily="34" charset="-122"/>
                <a:ea typeface="微软雅黑" pitchFamily="34" charset="-122"/>
              </a:rPr>
              <a:t>    </a:t>
            </a:r>
            <a:r>
              <a:rPr lang="zh-CN" altLang="en-US" sz="2800" dirty="0">
                <a:latin typeface="微软雅黑" pitchFamily="34" charset="-122"/>
                <a:ea typeface="微软雅黑" pitchFamily="34" charset="-122"/>
              </a:rPr>
              <a:t>①指令条数少；</a:t>
            </a:r>
            <a:endParaRPr lang="en-US" altLang="zh-CN" sz="2800" dirty="0">
              <a:latin typeface="微软雅黑" pitchFamily="34" charset="-122"/>
              <a:ea typeface="微软雅黑" pitchFamily="34" charset="-122"/>
            </a:endParaRPr>
          </a:p>
          <a:p>
            <a:pPr marL="349250" lvl="1" indent="0" eaLnBrk="1" hangingPunct="1">
              <a:lnSpc>
                <a:spcPct val="150000"/>
              </a:lnSpc>
              <a:spcBef>
                <a:spcPts val="0"/>
              </a:spcBef>
              <a:buNone/>
            </a:pPr>
            <a:r>
              <a:rPr lang="en-US" altLang="zh-CN" sz="2800" dirty="0">
                <a:latin typeface="微软雅黑" pitchFamily="34" charset="-122"/>
                <a:ea typeface="微软雅黑" pitchFamily="34" charset="-122"/>
              </a:rPr>
              <a:t>    </a:t>
            </a:r>
            <a:r>
              <a:rPr lang="zh-CN" altLang="en-US" sz="2800" dirty="0">
                <a:latin typeface="微软雅黑" pitchFamily="34" charset="-122"/>
                <a:ea typeface="微软雅黑" pitchFamily="34" charset="-122"/>
              </a:rPr>
              <a:t>②指令长度固定，指令格式和寻址方式种类少；</a:t>
            </a:r>
            <a:endParaRPr lang="en-US" altLang="zh-CN" sz="2800" dirty="0">
              <a:latin typeface="微软雅黑" pitchFamily="34" charset="-122"/>
              <a:ea typeface="微软雅黑" pitchFamily="34" charset="-122"/>
            </a:endParaRPr>
          </a:p>
          <a:p>
            <a:pPr marL="349250" lvl="1" indent="0" eaLnBrk="1" hangingPunct="1">
              <a:lnSpc>
                <a:spcPct val="150000"/>
              </a:lnSpc>
              <a:spcBef>
                <a:spcPts val="0"/>
              </a:spcBef>
              <a:buNone/>
            </a:pPr>
            <a:r>
              <a:rPr lang="en-US" altLang="zh-CN" sz="2800" dirty="0">
                <a:latin typeface="微软雅黑" pitchFamily="34" charset="-122"/>
                <a:ea typeface="微软雅黑" pitchFamily="34" charset="-122"/>
              </a:rPr>
              <a:t>    </a:t>
            </a:r>
            <a:r>
              <a:rPr lang="zh-CN" altLang="en-US" sz="2800" dirty="0">
                <a:latin typeface="微软雅黑" pitchFamily="34" charset="-122"/>
                <a:ea typeface="微软雅黑" pitchFamily="34" charset="-122"/>
              </a:rPr>
              <a:t>③只有取数</a:t>
            </a:r>
            <a:r>
              <a:rPr lang="en-US" altLang="zh-CN" sz="2800" dirty="0">
                <a:latin typeface="微软雅黑" pitchFamily="34" charset="-122"/>
                <a:ea typeface="微软雅黑" pitchFamily="34" charset="-122"/>
              </a:rPr>
              <a:t>/</a:t>
            </a:r>
            <a:r>
              <a:rPr lang="zh-CN" altLang="en-US" sz="2800" dirty="0">
                <a:latin typeface="微软雅黑" pitchFamily="34" charset="-122"/>
                <a:ea typeface="微软雅黑" pitchFamily="34" charset="-122"/>
              </a:rPr>
              <a:t>存数指令访问存储器，其余指令的操作均在寄存器之间进行。</a:t>
            </a:r>
            <a:endParaRPr lang="en-US" altLang="zh-CN" sz="2800"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4"/>
          <p:cNvSpPr>
            <a:spLocks noChangeArrowheads="1"/>
          </p:cNvSpPr>
          <p:nvPr/>
        </p:nvSpPr>
        <p:spPr bwMode="auto">
          <a:xfrm>
            <a:off x="323850" y="549275"/>
            <a:ext cx="7210425" cy="441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80000"/>
              </a:lnSpc>
              <a:spcBef>
                <a:spcPct val="20000"/>
              </a:spcBef>
              <a:buClr>
                <a:schemeClr val="tx2"/>
              </a:buClr>
              <a:buSzPct val="70000"/>
              <a:buFont typeface="Wingdings" pitchFamily="2" charset="2"/>
              <a:buChar char="l"/>
            </a:pPr>
            <a:endParaRPr lang="zh-CN" altLang="zh-CN" sz="2000"/>
          </a:p>
        </p:txBody>
      </p:sp>
      <p:sp>
        <p:nvSpPr>
          <p:cNvPr id="4" name="Rectangle 5"/>
          <p:cNvSpPr>
            <a:spLocks noChangeArrowheads="1"/>
          </p:cNvSpPr>
          <p:nvPr/>
        </p:nvSpPr>
        <p:spPr bwMode="auto">
          <a:xfrm>
            <a:off x="24543" y="104234"/>
            <a:ext cx="4079963" cy="1046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133350">
              <a:defRPr>
                <a:solidFill>
                  <a:schemeClr val="tx1"/>
                </a:solidFill>
                <a:latin typeface="Arial" pitchFamily="34" charset="0"/>
                <a:ea typeface="宋体" pitchFamily="2" charset="-122"/>
                <a:cs typeface="宋体" pitchFamily="2" charset="-122"/>
              </a:defRPr>
            </a:lvl1pPr>
            <a:lvl2pPr>
              <a:defRPr>
                <a:solidFill>
                  <a:schemeClr val="tx1"/>
                </a:solidFill>
                <a:latin typeface="Arial" pitchFamily="34" charset="0"/>
                <a:ea typeface="宋体" pitchFamily="2" charset="-122"/>
                <a:cs typeface="宋体" pitchFamily="2" charset="-122"/>
              </a:defRPr>
            </a:lvl2pPr>
            <a:lvl3pPr>
              <a:defRPr>
                <a:solidFill>
                  <a:schemeClr val="tx1"/>
                </a:solidFill>
                <a:latin typeface="Arial" pitchFamily="34" charset="0"/>
                <a:ea typeface="宋体" pitchFamily="2" charset="-122"/>
                <a:cs typeface="宋体" pitchFamily="2" charset="-122"/>
              </a:defRPr>
            </a:lvl3pPr>
            <a:lvl4pPr>
              <a:defRPr>
                <a:solidFill>
                  <a:schemeClr val="tx1"/>
                </a:solidFill>
                <a:latin typeface="Arial" pitchFamily="34" charset="0"/>
                <a:ea typeface="宋体" pitchFamily="2" charset="-122"/>
                <a:cs typeface="宋体" pitchFamily="2" charset="-122"/>
              </a:defRPr>
            </a:lvl4pPr>
            <a:lvl5pPr>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133350" algn="l" defTabSz="914400" rtl="0" eaLnBrk="1" fontAlgn="base" latinLnBrk="0" hangingPunct="1">
              <a:lnSpc>
                <a:spcPct val="100000"/>
              </a:lnSpc>
              <a:spcBef>
                <a:spcPct val="0"/>
              </a:spcBef>
              <a:spcAft>
                <a:spcPct val="0"/>
              </a:spcAft>
              <a:buClrTx/>
              <a:buSzTx/>
              <a:buFontTx/>
              <a:buNone/>
              <a:tabLst/>
            </a:pPr>
            <a:r>
              <a:rPr kumimoji="0" lang="zh-CN" altLang="en-US" sz="3200" b="1" i="0" u="none" strike="noStrike" cap="none" normalizeH="0" baseline="0" dirty="0" smtClean="0">
                <a:ln>
                  <a:noFill/>
                </a:ln>
                <a:solidFill>
                  <a:srgbClr val="FF0000"/>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 作业</a:t>
            </a:r>
            <a:r>
              <a:rPr kumimoji="0" lang="en-US" altLang="zh-CN" sz="3200" b="1" i="0" u="none" strike="noStrike" cap="none" normalizeH="0" baseline="0" smtClean="0">
                <a:ln>
                  <a:noFill/>
                </a:ln>
                <a:solidFill>
                  <a:srgbClr val="FF0000"/>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5</a:t>
            </a:r>
            <a:endParaRPr kumimoji="0" lang="en-US" altLang="zh-CN" sz="3200" b="1" i="0" u="none" strike="noStrike" cap="none" normalizeH="0" baseline="0" dirty="0" smtClean="0">
              <a:ln>
                <a:noFill/>
              </a:ln>
              <a:solidFill>
                <a:srgbClr val="FF0000"/>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endParaRPr>
          </a:p>
          <a:p>
            <a:pPr marL="0" marR="0" lvl="0" indent="133350" algn="l" defTabSz="914400" rtl="0" eaLnBrk="1" fontAlgn="base" latinLnBrk="0" hangingPunct="1">
              <a:lnSpc>
                <a:spcPct val="150000"/>
              </a:lnSpc>
              <a:spcBef>
                <a:spcPct val="0"/>
              </a:spcBef>
              <a:spcAft>
                <a:spcPct val="0"/>
              </a:spcAft>
              <a:buClrTx/>
              <a:buSzTx/>
              <a:buFontTx/>
              <a:buNone/>
              <a:tabLst/>
            </a:pP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1. </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一台处理机具有如下指令格式</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 </a:t>
            </a: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p:txBody>
      </p:sp>
      <p:pic>
        <p:nvPicPr>
          <p:cNvPr id="5124" name="图片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1923" y="481584"/>
            <a:ext cx="4847599" cy="607744"/>
          </a:xfrm>
          <a:prstGeom prst="rect">
            <a:avLst/>
          </a:prstGeom>
          <a:solidFill>
            <a:schemeClr val="bg1"/>
          </a:solidFill>
          <a:extLst/>
        </p:spPr>
      </p:pic>
      <p:sp>
        <p:nvSpPr>
          <p:cNvPr id="5" name="Rectangle 6"/>
          <p:cNvSpPr>
            <a:spLocks noChangeArrowheads="1"/>
          </p:cNvSpPr>
          <p:nvPr/>
        </p:nvSpPr>
        <p:spPr bwMode="auto">
          <a:xfrm>
            <a:off x="229748" y="1136460"/>
            <a:ext cx="8818577" cy="1569660"/>
          </a:xfrm>
          <a:prstGeom prst="rect">
            <a:avLst/>
          </a:prstGeom>
          <a:ln>
            <a:noFill/>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       </a:t>
            </a:r>
            <a:r>
              <a:rPr kumimoji="0" lang="zh-CN"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以上格式表明有</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8</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个通用寄存器</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长度</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16</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位</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X</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指定寻址模式，主存实际容量为</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256K</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字。</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宋体" pitchFamily="2" charset="-122"/>
            </a:endParaRPr>
          </a:p>
          <a:p>
            <a:pPr marL="0" marR="0" lvl="0" indent="0" algn="l"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       假设不用通用寄存器也能直接访问主存中的每一个单元，并假设操作码域</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0P=6</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位，请问地址码域应分配多少位，指令字长度应有多少位</a:t>
            </a:r>
            <a:r>
              <a:rPr lang="zh-CN" altLang="en-US" sz="2000" dirty="0">
                <a:latin typeface="微软雅黑" pitchFamily="34" charset="-122"/>
                <a:ea typeface="微软雅黑" pitchFamily="34" charset="-122"/>
                <a:cs typeface="Times New Roman" pitchFamily="18" charset="0"/>
              </a:rPr>
              <a:t>。</a:t>
            </a: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宋体" pitchFamily="2" charset="-122"/>
            </a:endParaRPr>
          </a:p>
        </p:txBody>
      </p:sp>
      <p:sp>
        <p:nvSpPr>
          <p:cNvPr id="7" name="Rectangle 2"/>
          <p:cNvSpPr>
            <a:spLocks noChangeArrowheads="1"/>
          </p:cNvSpPr>
          <p:nvPr/>
        </p:nvSpPr>
        <p:spPr bwMode="auto">
          <a:xfrm>
            <a:off x="212170" y="3026600"/>
            <a:ext cx="50289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533400">
              <a:defRPr>
                <a:solidFill>
                  <a:schemeClr val="tx1"/>
                </a:solidFill>
                <a:latin typeface="Arial" pitchFamily="34" charset="0"/>
                <a:ea typeface="宋体" pitchFamily="2" charset="-122"/>
                <a:cs typeface="宋体" pitchFamily="2" charset="-122"/>
              </a:defRPr>
            </a:lvl1pPr>
            <a:lvl2pPr>
              <a:defRPr>
                <a:solidFill>
                  <a:schemeClr val="tx1"/>
                </a:solidFill>
                <a:latin typeface="Arial" pitchFamily="34" charset="0"/>
                <a:ea typeface="宋体" pitchFamily="2" charset="-122"/>
                <a:cs typeface="宋体" pitchFamily="2" charset="-122"/>
              </a:defRPr>
            </a:lvl2pPr>
            <a:lvl3pPr>
              <a:defRPr>
                <a:solidFill>
                  <a:schemeClr val="tx1"/>
                </a:solidFill>
                <a:latin typeface="Arial" pitchFamily="34" charset="0"/>
                <a:ea typeface="宋体" pitchFamily="2" charset="-122"/>
                <a:cs typeface="宋体" pitchFamily="2" charset="-122"/>
              </a:defRPr>
            </a:lvl3pPr>
            <a:lvl4pPr>
              <a:defRPr>
                <a:solidFill>
                  <a:schemeClr val="tx1"/>
                </a:solidFill>
                <a:latin typeface="Arial" pitchFamily="34" charset="0"/>
                <a:ea typeface="宋体" pitchFamily="2" charset="-122"/>
                <a:cs typeface="宋体" pitchFamily="2" charset="-122"/>
              </a:defRPr>
            </a:lvl4pPr>
            <a:lvl5pPr>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2. </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某机的</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16</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位单字长访内指令格式如下：</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p:txBody>
      </p:sp>
      <p:pic>
        <p:nvPicPr>
          <p:cNvPr id="8" name="图片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1091" y="2701695"/>
            <a:ext cx="3888432" cy="665431"/>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3"/>
          <p:cNvSpPr>
            <a:spLocks noChangeArrowheads="1"/>
          </p:cNvSpPr>
          <p:nvPr/>
        </p:nvSpPr>
        <p:spPr bwMode="auto">
          <a:xfrm>
            <a:off x="229748" y="3399055"/>
            <a:ext cx="8640959" cy="3385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a:defRPr>
                <a:solidFill>
                  <a:schemeClr val="tx1"/>
                </a:solidFill>
                <a:latin typeface="Arial" pitchFamily="34" charset="0"/>
                <a:ea typeface="宋体" pitchFamily="2" charset="-122"/>
                <a:cs typeface="宋体" pitchFamily="2" charset="-122"/>
              </a:defRPr>
            </a:lvl1pPr>
            <a:lvl2pPr>
              <a:defRPr>
                <a:solidFill>
                  <a:schemeClr val="tx1"/>
                </a:solidFill>
                <a:latin typeface="Arial" pitchFamily="34" charset="0"/>
                <a:ea typeface="宋体" pitchFamily="2" charset="-122"/>
                <a:cs typeface="宋体" pitchFamily="2" charset="-122"/>
              </a:defRPr>
            </a:lvl2pPr>
            <a:lvl3pPr>
              <a:defRPr>
                <a:solidFill>
                  <a:schemeClr val="tx1"/>
                </a:solidFill>
                <a:latin typeface="Arial" pitchFamily="34" charset="0"/>
                <a:ea typeface="宋体" pitchFamily="2" charset="-122"/>
                <a:cs typeface="宋体" pitchFamily="2" charset="-122"/>
              </a:defRPr>
            </a:lvl3pPr>
            <a:lvl4pPr>
              <a:defRPr>
                <a:solidFill>
                  <a:schemeClr val="tx1"/>
                </a:solidFill>
                <a:latin typeface="Arial" pitchFamily="34" charset="0"/>
                <a:ea typeface="宋体" pitchFamily="2" charset="-122"/>
                <a:cs typeface="宋体" pitchFamily="2" charset="-122"/>
              </a:defRPr>
            </a:lvl4pPr>
            <a:lvl5pPr>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266700" algn="l"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 </a:t>
            </a:r>
            <a:r>
              <a:rPr kumimoji="0" lang="zh-CN"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其中</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D</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为形式地址，补码表示</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其中一位符号位</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I</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为直接</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间接寻址方式；</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I=1</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为间接寻址方式，</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I=0</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为直接寻址方式；</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M</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为寻址模式；</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0</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为直接寻址，</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1</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为基址寻址，</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2</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为相对寻址，</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3</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为立即寻址；</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X</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为变址寻址。设</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PC</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Rx</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000" b="0" i="0" u="none" strike="noStrike" cap="none" normalizeH="0" baseline="0" dirty="0" err="1" smtClean="0">
                <a:ln>
                  <a:noFill/>
                </a:ln>
                <a:solidFill>
                  <a:schemeClr val="tx1"/>
                </a:solidFill>
                <a:effectLst/>
                <a:latin typeface="微软雅黑" pitchFamily="34" charset="-122"/>
                <a:ea typeface="微软雅黑" pitchFamily="34" charset="-122"/>
                <a:cs typeface="Times New Roman" pitchFamily="18" charset="0"/>
              </a:rPr>
              <a:t>Rb</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分别为指令计数器、变址寄存器、基址寄存器，</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E</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为有效地址，请回答以下问题：</a:t>
            </a:r>
            <a:endParaRPr lang="en-US" altLang="zh-CN" sz="2000" dirty="0">
              <a:latin typeface="微软雅黑" pitchFamily="34" charset="-122"/>
              <a:ea typeface="微软雅黑" pitchFamily="34" charset="-122"/>
              <a:cs typeface="Times New Roman" pitchFamily="18" charset="0"/>
            </a:endParaRPr>
          </a:p>
          <a:p>
            <a:pPr marL="0" marR="0" lvl="0" indent="0" algn="l" defTabSz="914400" rtl="0" eaLnBrk="1" fontAlgn="base" latinLnBrk="0" hangingPunct="1">
              <a:lnSpc>
                <a:spcPct val="120000"/>
              </a:lnSpc>
              <a:spcBef>
                <a:spcPct val="0"/>
              </a:spcBef>
              <a:spcAft>
                <a:spcPct val="0"/>
              </a:spcAft>
              <a:buClrTx/>
              <a:buSzTx/>
              <a:buFontTx/>
              <a:buNone/>
              <a:tabLst/>
            </a:pP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1</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）该指令格式能定义多少种不同的操作，立即寻址操作数的范围是多少。（</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2</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）在非间接寻址情况下，写出各计算有效地址的表达式。</a:t>
            </a:r>
            <a:endPar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endParaRPr>
          </a:p>
          <a:p>
            <a:pPr marL="0" marR="0" lvl="0" indent="0" algn="l" defTabSz="914400" rtl="0" eaLnBrk="1" fontAlgn="base" latinLnBrk="0" hangingPunct="1">
              <a:lnSpc>
                <a:spcPct val="120000"/>
              </a:lnSpc>
              <a:spcBef>
                <a:spcPct val="0"/>
              </a:spcBef>
              <a:spcAft>
                <a:spcPct val="0"/>
              </a:spcAft>
              <a:buClrTx/>
              <a:buSzTx/>
              <a:buFontTx/>
              <a:buNone/>
              <a:tabLst/>
            </a:pP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3</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）设基址寄存器为</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14</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位，直接基址寻址时存储器可寻址的地址范围。</a:t>
            </a:r>
            <a:endParaRPr lang="en-US" altLang="zh-CN" sz="2000" dirty="0">
              <a:latin typeface="微软雅黑" pitchFamily="34" charset="-122"/>
              <a:ea typeface="微软雅黑" pitchFamily="34" charset="-122"/>
              <a:cs typeface="Times New Roman" pitchFamily="18" charset="0"/>
            </a:endParaRPr>
          </a:p>
          <a:p>
            <a:pPr marL="0" marR="0" lvl="0" indent="0" algn="l" defTabSz="914400" rtl="0" eaLnBrk="1" fontAlgn="base" latinLnBrk="0" hangingPunct="1">
              <a:lnSpc>
                <a:spcPct val="120000"/>
              </a:lnSpc>
              <a:spcBef>
                <a:spcPct val="0"/>
              </a:spcBef>
              <a:spcAft>
                <a:spcPct val="0"/>
              </a:spcAft>
              <a:buClrTx/>
              <a:buSzTx/>
              <a:buFontTx/>
              <a:buNone/>
              <a:tabLst/>
            </a:pP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4</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）间接寻址时，寻址范围是多少。</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9975823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4"/>
          <p:cNvSpPr>
            <a:spLocks noChangeArrowheads="1"/>
          </p:cNvSpPr>
          <p:nvPr/>
        </p:nvSpPr>
        <p:spPr bwMode="auto">
          <a:xfrm>
            <a:off x="323850" y="549275"/>
            <a:ext cx="7210425" cy="441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80000"/>
              </a:lnSpc>
              <a:spcBef>
                <a:spcPct val="20000"/>
              </a:spcBef>
              <a:buClr>
                <a:schemeClr val="tx2"/>
              </a:buClr>
              <a:buSzPct val="70000"/>
              <a:buFont typeface="Wingdings" pitchFamily="2" charset="2"/>
              <a:buChar char="l"/>
            </a:pPr>
            <a:endParaRPr lang="zh-CN" altLang="zh-CN" sz="2000"/>
          </a:p>
        </p:txBody>
      </p:sp>
      <p:sp>
        <p:nvSpPr>
          <p:cNvPr id="4" name="Rectangle 5"/>
          <p:cNvSpPr>
            <a:spLocks noChangeArrowheads="1"/>
          </p:cNvSpPr>
          <p:nvPr/>
        </p:nvSpPr>
        <p:spPr bwMode="auto">
          <a:xfrm>
            <a:off x="24543" y="104234"/>
            <a:ext cx="4079963" cy="1046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133350">
              <a:defRPr>
                <a:solidFill>
                  <a:schemeClr val="tx1"/>
                </a:solidFill>
                <a:latin typeface="Arial" pitchFamily="34" charset="0"/>
                <a:ea typeface="宋体" pitchFamily="2" charset="-122"/>
                <a:cs typeface="宋体" pitchFamily="2" charset="-122"/>
              </a:defRPr>
            </a:lvl1pPr>
            <a:lvl2pPr>
              <a:defRPr>
                <a:solidFill>
                  <a:schemeClr val="tx1"/>
                </a:solidFill>
                <a:latin typeface="Arial" pitchFamily="34" charset="0"/>
                <a:ea typeface="宋体" pitchFamily="2" charset="-122"/>
                <a:cs typeface="宋体" pitchFamily="2" charset="-122"/>
              </a:defRPr>
            </a:lvl2pPr>
            <a:lvl3pPr>
              <a:defRPr>
                <a:solidFill>
                  <a:schemeClr val="tx1"/>
                </a:solidFill>
                <a:latin typeface="Arial" pitchFamily="34" charset="0"/>
                <a:ea typeface="宋体" pitchFamily="2" charset="-122"/>
                <a:cs typeface="宋体" pitchFamily="2" charset="-122"/>
              </a:defRPr>
            </a:lvl3pPr>
            <a:lvl4pPr>
              <a:defRPr>
                <a:solidFill>
                  <a:schemeClr val="tx1"/>
                </a:solidFill>
                <a:latin typeface="Arial" pitchFamily="34" charset="0"/>
                <a:ea typeface="宋体" pitchFamily="2" charset="-122"/>
                <a:cs typeface="宋体" pitchFamily="2" charset="-122"/>
              </a:defRPr>
            </a:lvl4pPr>
            <a:lvl5pPr>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133350" algn="l" defTabSz="914400" rtl="0" eaLnBrk="1" fontAlgn="base" latinLnBrk="0" hangingPunct="1">
              <a:lnSpc>
                <a:spcPct val="100000"/>
              </a:lnSpc>
              <a:spcBef>
                <a:spcPct val="0"/>
              </a:spcBef>
              <a:spcAft>
                <a:spcPct val="0"/>
              </a:spcAft>
              <a:buClrTx/>
              <a:buSzTx/>
              <a:buFontTx/>
              <a:buNone/>
              <a:tabLst/>
            </a:pPr>
            <a:r>
              <a:rPr kumimoji="0" lang="zh-CN" altLang="en-US" sz="3200" b="1" i="0" u="none" strike="noStrike" cap="none" normalizeH="0" baseline="0" dirty="0" smtClean="0">
                <a:ln>
                  <a:noFill/>
                </a:ln>
                <a:solidFill>
                  <a:srgbClr val="FF0000"/>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 作业答案</a:t>
            </a:r>
            <a:endParaRPr kumimoji="0" lang="en-US" altLang="zh-CN" sz="3200" b="1" i="0" u="none" strike="noStrike" cap="none" normalizeH="0" baseline="0" dirty="0" smtClean="0">
              <a:ln>
                <a:noFill/>
              </a:ln>
              <a:solidFill>
                <a:srgbClr val="FF0000"/>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endParaRPr>
          </a:p>
          <a:p>
            <a:pPr marL="0" marR="0" lvl="0" indent="133350" algn="l" defTabSz="914400" rtl="0" eaLnBrk="1" fontAlgn="base" latinLnBrk="0" hangingPunct="1">
              <a:lnSpc>
                <a:spcPct val="150000"/>
              </a:lnSpc>
              <a:spcBef>
                <a:spcPct val="0"/>
              </a:spcBef>
              <a:spcAft>
                <a:spcPct val="0"/>
              </a:spcAft>
              <a:buClrTx/>
              <a:buSzTx/>
              <a:buFontTx/>
              <a:buNone/>
              <a:tabLst/>
            </a:pP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1. </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一台处理机具有如下指令格式</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 </a:t>
            </a: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p:txBody>
      </p:sp>
      <p:pic>
        <p:nvPicPr>
          <p:cNvPr id="5124" name="图片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1923" y="481584"/>
            <a:ext cx="4847599" cy="607744"/>
          </a:xfrm>
          <a:prstGeom prst="rect">
            <a:avLst/>
          </a:prstGeom>
          <a:solidFill>
            <a:schemeClr val="bg1"/>
          </a:solidFill>
          <a:extLst/>
        </p:spPr>
      </p:pic>
      <p:sp>
        <p:nvSpPr>
          <p:cNvPr id="5" name="Rectangle 6"/>
          <p:cNvSpPr>
            <a:spLocks noChangeArrowheads="1"/>
          </p:cNvSpPr>
          <p:nvPr/>
        </p:nvSpPr>
        <p:spPr bwMode="auto">
          <a:xfrm>
            <a:off x="229748" y="1136460"/>
            <a:ext cx="8818577" cy="1569660"/>
          </a:xfrm>
          <a:prstGeom prst="rect">
            <a:avLst/>
          </a:prstGeom>
          <a:ln>
            <a:noFill/>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       </a:t>
            </a:r>
            <a:r>
              <a:rPr kumimoji="0" lang="zh-CN"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以上格式表明有</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8</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位通用寄存器</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长度</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16</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位</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X</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指定寻址模式，主存实际容量为</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256K</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字。</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宋体" pitchFamily="2" charset="-122"/>
            </a:endParaRPr>
          </a:p>
          <a:p>
            <a:pPr marL="0" marR="0" lvl="0" indent="0" algn="l" defTabSz="914400" rtl="0" eaLnBrk="0" fontAlgn="base" latinLnBrk="0" hangingPunct="0">
              <a:lnSpc>
                <a:spcPct val="120000"/>
              </a:lnSpc>
              <a:spcBef>
                <a:spcPct val="0"/>
              </a:spcBef>
              <a:spcAft>
                <a:spcPct val="0"/>
              </a:spcAft>
              <a:buClrTx/>
              <a:buSzTx/>
              <a:buFontTx/>
              <a:buNone/>
              <a:tabLst/>
            </a:pP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       假设不用通用寄存器也能直接访问主存中的每一个单元，并假设操作码域</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0P=6</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位，请问地址码域应分配多少位，指令字长度应有多少位</a:t>
            </a:r>
            <a:r>
              <a:rPr lang="zh-CN" altLang="en-US" sz="2000" dirty="0">
                <a:latin typeface="微软雅黑" pitchFamily="34" charset="-122"/>
                <a:ea typeface="微软雅黑" pitchFamily="34" charset="-122"/>
                <a:cs typeface="Times New Roman" pitchFamily="18" charset="0"/>
              </a:rPr>
              <a:t>。</a:t>
            </a: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宋体" pitchFamily="2" charset="-122"/>
            </a:endParaRPr>
          </a:p>
        </p:txBody>
      </p:sp>
      <p:sp>
        <p:nvSpPr>
          <p:cNvPr id="7" name="Rectangle 2"/>
          <p:cNvSpPr>
            <a:spLocks noChangeArrowheads="1"/>
          </p:cNvSpPr>
          <p:nvPr/>
        </p:nvSpPr>
        <p:spPr bwMode="auto">
          <a:xfrm>
            <a:off x="212170" y="3026600"/>
            <a:ext cx="50289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533400">
              <a:defRPr>
                <a:solidFill>
                  <a:schemeClr val="tx1"/>
                </a:solidFill>
                <a:latin typeface="Arial" pitchFamily="34" charset="0"/>
                <a:ea typeface="宋体" pitchFamily="2" charset="-122"/>
                <a:cs typeface="宋体" pitchFamily="2" charset="-122"/>
              </a:defRPr>
            </a:lvl1pPr>
            <a:lvl2pPr>
              <a:defRPr>
                <a:solidFill>
                  <a:schemeClr val="tx1"/>
                </a:solidFill>
                <a:latin typeface="Arial" pitchFamily="34" charset="0"/>
                <a:ea typeface="宋体" pitchFamily="2" charset="-122"/>
                <a:cs typeface="宋体" pitchFamily="2" charset="-122"/>
              </a:defRPr>
            </a:lvl2pPr>
            <a:lvl3pPr>
              <a:defRPr>
                <a:solidFill>
                  <a:schemeClr val="tx1"/>
                </a:solidFill>
                <a:latin typeface="Arial" pitchFamily="34" charset="0"/>
                <a:ea typeface="宋体" pitchFamily="2" charset="-122"/>
                <a:cs typeface="宋体" pitchFamily="2" charset="-122"/>
              </a:defRPr>
            </a:lvl3pPr>
            <a:lvl4pPr>
              <a:defRPr>
                <a:solidFill>
                  <a:schemeClr val="tx1"/>
                </a:solidFill>
                <a:latin typeface="Arial" pitchFamily="34" charset="0"/>
                <a:ea typeface="宋体" pitchFamily="2" charset="-122"/>
                <a:cs typeface="宋体" pitchFamily="2" charset="-122"/>
              </a:defRPr>
            </a:lvl4pPr>
            <a:lvl5pPr>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2. </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某机的</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16</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位单字长访内指令格式如下：</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p:txBody>
      </p:sp>
      <p:pic>
        <p:nvPicPr>
          <p:cNvPr id="8" name="图片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1091" y="2701695"/>
            <a:ext cx="3888432" cy="665431"/>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3"/>
          <p:cNvSpPr>
            <a:spLocks noChangeArrowheads="1"/>
          </p:cNvSpPr>
          <p:nvPr/>
        </p:nvSpPr>
        <p:spPr bwMode="auto">
          <a:xfrm>
            <a:off x="229748" y="3399055"/>
            <a:ext cx="8640959" cy="3385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a:defRPr>
                <a:solidFill>
                  <a:schemeClr val="tx1"/>
                </a:solidFill>
                <a:latin typeface="Arial" pitchFamily="34" charset="0"/>
                <a:ea typeface="宋体" pitchFamily="2" charset="-122"/>
                <a:cs typeface="宋体" pitchFamily="2" charset="-122"/>
              </a:defRPr>
            </a:lvl1pPr>
            <a:lvl2pPr>
              <a:defRPr>
                <a:solidFill>
                  <a:schemeClr val="tx1"/>
                </a:solidFill>
                <a:latin typeface="Arial" pitchFamily="34" charset="0"/>
                <a:ea typeface="宋体" pitchFamily="2" charset="-122"/>
                <a:cs typeface="宋体" pitchFamily="2" charset="-122"/>
              </a:defRPr>
            </a:lvl2pPr>
            <a:lvl3pPr>
              <a:defRPr>
                <a:solidFill>
                  <a:schemeClr val="tx1"/>
                </a:solidFill>
                <a:latin typeface="Arial" pitchFamily="34" charset="0"/>
                <a:ea typeface="宋体" pitchFamily="2" charset="-122"/>
                <a:cs typeface="宋体" pitchFamily="2" charset="-122"/>
              </a:defRPr>
            </a:lvl3pPr>
            <a:lvl4pPr>
              <a:defRPr>
                <a:solidFill>
                  <a:schemeClr val="tx1"/>
                </a:solidFill>
                <a:latin typeface="Arial" pitchFamily="34" charset="0"/>
                <a:ea typeface="宋体" pitchFamily="2" charset="-122"/>
                <a:cs typeface="宋体" pitchFamily="2" charset="-122"/>
              </a:defRPr>
            </a:lvl4pPr>
            <a:lvl5pPr>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266700" algn="l"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 </a:t>
            </a:r>
            <a:r>
              <a:rPr kumimoji="0" lang="zh-CN"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其中</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D</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为形式地址，补码表示</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其中一位符号位</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I</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为直接</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间接寻址方式；</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I=1</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为间接寻址方式，</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I=0</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为直接寻址方式；</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M</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为寻址模式；</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0</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为直接寻址，</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1</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为基址寻址，</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2</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为相对寻址，</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3</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为立即寻址；</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X</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为变址寻址。设</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PC</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Rx</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000" b="0" i="0" u="none" strike="noStrike" cap="none" normalizeH="0" baseline="0" dirty="0" err="1" smtClean="0">
                <a:ln>
                  <a:noFill/>
                </a:ln>
                <a:solidFill>
                  <a:schemeClr val="tx1"/>
                </a:solidFill>
                <a:effectLst/>
                <a:latin typeface="微软雅黑" pitchFamily="34" charset="-122"/>
                <a:ea typeface="微软雅黑" pitchFamily="34" charset="-122"/>
                <a:cs typeface="Times New Roman" pitchFamily="18" charset="0"/>
              </a:rPr>
              <a:t>Rb</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分别为指令计数器、变址寄存器、基址寄存器，</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E</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为有效地址，请回答以下问题：</a:t>
            </a:r>
            <a:endParaRPr lang="en-US" altLang="zh-CN" sz="2000" dirty="0">
              <a:latin typeface="微软雅黑" pitchFamily="34" charset="-122"/>
              <a:ea typeface="微软雅黑" pitchFamily="34" charset="-122"/>
              <a:cs typeface="Times New Roman" pitchFamily="18" charset="0"/>
            </a:endParaRPr>
          </a:p>
          <a:p>
            <a:pPr marL="0" marR="0" lvl="0" indent="0" algn="l" defTabSz="914400" rtl="0" eaLnBrk="1" fontAlgn="base" latinLnBrk="0" hangingPunct="1">
              <a:lnSpc>
                <a:spcPct val="120000"/>
              </a:lnSpc>
              <a:spcBef>
                <a:spcPct val="0"/>
              </a:spcBef>
              <a:spcAft>
                <a:spcPct val="0"/>
              </a:spcAft>
              <a:buClrTx/>
              <a:buSzTx/>
              <a:buFontTx/>
              <a:buNone/>
              <a:tabLst/>
            </a:pP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1</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）该指令格式能定义多少种不同的操作，立即寻址操作数的范围是多少。（</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2</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）在非间接寻址情况下，写出各计算有效地址的表达式。</a:t>
            </a:r>
            <a:endPar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endParaRPr>
          </a:p>
          <a:p>
            <a:pPr marL="0" marR="0" lvl="0" indent="0" algn="l" defTabSz="914400" rtl="0" eaLnBrk="1" fontAlgn="base" latinLnBrk="0" hangingPunct="1">
              <a:lnSpc>
                <a:spcPct val="120000"/>
              </a:lnSpc>
              <a:spcBef>
                <a:spcPct val="0"/>
              </a:spcBef>
              <a:spcAft>
                <a:spcPct val="0"/>
              </a:spcAft>
              <a:buClrTx/>
              <a:buSzTx/>
              <a:buFontTx/>
              <a:buNone/>
              <a:tabLst/>
            </a:pP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3</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）设基址寄存器为</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14</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位，直接基址寻址时存储器可寻址的地址范围。</a:t>
            </a:r>
            <a:endParaRPr lang="en-US" altLang="zh-CN" sz="2000" dirty="0">
              <a:latin typeface="微软雅黑" pitchFamily="34" charset="-122"/>
              <a:ea typeface="微软雅黑" pitchFamily="34" charset="-122"/>
              <a:cs typeface="Times New Roman" pitchFamily="18" charset="0"/>
            </a:endParaRPr>
          </a:p>
          <a:p>
            <a:pPr marL="0" marR="0" lvl="0" indent="0" algn="l" defTabSz="914400" rtl="0" eaLnBrk="1" fontAlgn="base" latinLnBrk="0" hangingPunct="1">
              <a:lnSpc>
                <a:spcPct val="120000"/>
              </a:lnSpc>
              <a:spcBef>
                <a:spcPct val="0"/>
              </a:spcBef>
              <a:spcAft>
                <a:spcPct val="0"/>
              </a:spcAft>
              <a:buClrTx/>
              <a:buSzTx/>
              <a:buFontTx/>
              <a:buNone/>
              <a:tabLst/>
            </a:pP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4</a:t>
            </a:r>
            <a:r>
              <a:rPr kumimoji="0" lang="zh-CN" altLang="en-US" sz="20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）间接寻址时，寻址范围是多少。</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p:txBody>
      </p:sp>
      <p:sp>
        <p:nvSpPr>
          <p:cNvPr id="2" name="矩形 1"/>
          <p:cNvSpPr/>
          <p:nvPr/>
        </p:nvSpPr>
        <p:spPr>
          <a:xfrm>
            <a:off x="290449" y="2913325"/>
            <a:ext cx="8580258" cy="120032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nSpc>
                <a:spcPct val="150000"/>
              </a:lnSpc>
            </a:pPr>
            <a:r>
              <a:rPr lang="en-US" altLang="zh-CN" sz="2400" dirty="0" smtClean="0">
                <a:latin typeface="微软雅黑" panose="020B0503020204020204" pitchFamily="34" charset="-122"/>
                <a:ea typeface="微软雅黑" panose="020B0503020204020204" pitchFamily="34" charset="-122"/>
              </a:rPr>
              <a:t>1. </a:t>
            </a:r>
            <a:r>
              <a:rPr lang="zh-CN" altLang="zh-CN" sz="2400" dirty="0" smtClean="0">
                <a:latin typeface="微软雅黑" panose="020B0503020204020204" pitchFamily="34" charset="-122"/>
                <a:ea typeface="微软雅黑" panose="020B0503020204020204" pitchFamily="34" charset="-122"/>
              </a:rPr>
              <a:t>答</a:t>
            </a:r>
            <a:r>
              <a:rPr lang="zh-CN" altLang="zh-CN" sz="2400" dirty="0">
                <a:latin typeface="微软雅黑" panose="020B0503020204020204" pitchFamily="34" charset="-122"/>
                <a:ea typeface="微软雅黑" panose="020B0503020204020204" pitchFamily="34" charset="-122"/>
              </a:rPr>
              <a:t>：因为</a:t>
            </a:r>
            <a:r>
              <a:rPr lang="en-US" altLang="zh-CN" sz="2400" dirty="0">
                <a:latin typeface="微软雅黑" panose="020B0503020204020204" pitchFamily="34" charset="-122"/>
                <a:ea typeface="微软雅黑" panose="020B0503020204020204" pitchFamily="34" charset="-122"/>
              </a:rPr>
              <a:t>2</a:t>
            </a:r>
            <a:r>
              <a:rPr lang="en-US" altLang="zh-CN" sz="2400" baseline="30000" dirty="0">
                <a:latin typeface="微软雅黑" panose="020B0503020204020204" pitchFamily="34" charset="-122"/>
                <a:ea typeface="微软雅黑" panose="020B0503020204020204" pitchFamily="34" charset="-122"/>
              </a:rPr>
              <a:t>18</a:t>
            </a:r>
            <a:r>
              <a:rPr lang="en-US" altLang="zh-CN" sz="2400" dirty="0">
                <a:latin typeface="微软雅黑" panose="020B0503020204020204" pitchFamily="34" charset="-122"/>
                <a:ea typeface="微软雅黑" panose="020B0503020204020204" pitchFamily="34" charset="-122"/>
              </a:rPr>
              <a:t>=256K</a:t>
            </a:r>
            <a:r>
              <a:rPr lang="zh-CN" altLang="zh-CN" sz="2400" dirty="0">
                <a:latin typeface="微软雅黑" panose="020B0503020204020204" pitchFamily="34" charset="-122"/>
                <a:ea typeface="微软雅黑" panose="020B0503020204020204" pitchFamily="34" charset="-122"/>
              </a:rPr>
              <a:t>，所以地址码域</a:t>
            </a:r>
            <a:r>
              <a:rPr lang="en-US" altLang="zh-CN" sz="2400" dirty="0">
                <a:latin typeface="微软雅黑" panose="020B0503020204020204" pitchFamily="34" charset="-122"/>
                <a:ea typeface="微软雅黑" panose="020B0503020204020204" pitchFamily="34" charset="-122"/>
              </a:rPr>
              <a:t>=18</a:t>
            </a:r>
            <a:r>
              <a:rPr lang="zh-CN" altLang="zh-CN" sz="2400" dirty="0">
                <a:latin typeface="微软雅黑" panose="020B0503020204020204" pitchFamily="34" charset="-122"/>
                <a:ea typeface="微软雅黑" panose="020B0503020204020204" pitchFamily="34" charset="-122"/>
              </a:rPr>
              <a:t>位，操作码域</a:t>
            </a:r>
            <a:r>
              <a:rPr lang="en-US" altLang="zh-CN" sz="2400" dirty="0">
                <a:latin typeface="微软雅黑" panose="020B0503020204020204" pitchFamily="34" charset="-122"/>
                <a:ea typeface="微软雅黑" panose="020B0503020204020204" pitchFamily="34" charset="-122"/>
              </a:rPr>
              <a:t>=6</a:t>
            </a:r>
            <a:r>
              <a:rPr lang="zh-CN" altLang="zh-CN" sz="2400" dirty="0">
                <a:latin typeface="微软雅黑" panose="020B0503020204020204" pitchFamily="34" charset="-122"/>
                <a:ea typeface="微软雅黑" panose="020B0503020204020204" pitchFamily="34" charset="-122"/>
              </a:rPr>
              <a:t>位。</a:t>
            </a:r>
          </a:p>
          <a:p>
            <a:pPr>
              <a:lnSpc>
                <a:spcPct val="150000"/>
              </a:lnSpc>
            </a:pPr>
            <a:r>
              <a:rPr lang="en-US" altLang="zh-CN" sz="2400" dirty="0" smtClean="0">
                <a:latin typeface="微软雅黑" panose="020B0503020204020204" pitchFamily="34" charset="-122"/>
                <a:ea typeface="微软雅黑" panose="020B0503020204020204" pitchFamily="34" charset="-122"/>
              </a:rPr>
              <a:t>          </a:t>
            </a:r>
            <a:r>
              <a:rPr lang="zh-CN" altLang="zh-CN" sz="2400" dirty="0" smtClean="0">
                <a:latin typeface="微软雅黑" panose="020B0503020204020204" pitchFamily="34" charset="-122"/>
                <a:ea typeface="微软雅黑" panose="020B0503020204020204" pitchFamily="34" charset="-122"/>
              </a:rPr>
              <a:t>指令长度</a:t>
            </a:r>
            <a:r>
              <a:rPr lang="en-US" altLang="zh-CN" sz="2400" dirty="0">
                <a:latin typeface="微软雅黑" panose="020B0503020204020204" pitchFamily="34" charset="-122"/>
                <a:ea typeface="微软雅黑" panose="020B0503020204020204" pitchFamily="34" charset="-122"/>
              </a:rPr>
              <a:t>=18+3+3+6+2-32</a:t>
            </a:r>
            <a:r>
              <a:rPr lang="zh-CN" altLang="zh-CN" sz="2400" dirty="0">
                <a:latin typeface="微软雅黑" panose="020B0503020204020204" pitchFamily="34" charset="-122"/>
                <a:ea typeface="微软雅黑" panose="020B0503020204020204" pitchFamily="34" charset="-122"/>
              </a:rPr>
              <a:t>位。</a:t>
            </a:r>
          </a:p>
        </p:txBody>
      </p:sp>
      <p:sp>
        <p:nvSpPr>
          <p:cNvPr id="10" name="矩形 9"/>
          <p:cNvSpPr/>
          <p:nvPr/>
        </p:nvSpPr>
        <p:spPr>
          <a:xfrm>
            <a:off x="303365" y="200561"/>
            <a:ext cx="8580258" cy="2554545"/>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US" altLang="zh-CN" sz="2000" dirty="0" smtClean="0">
                <a:latin typeface="微软雅黑" panose="020B0503020204020204" pitchFamily="34" charset="-122"/>
                <a:ea typeface="微软雅黑" panose="020B0503020204020204" pitchFamily="34" charset="-122"/>
              </a:rPr>
              <a:t>2. </a:t>
            </a:r>
            <a:r>
              <a:rPr lang="zh-CN" altLang="zh-CN"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1</a:t>
            </a:r>
            <a:r>
              <a:rPr lang="zh-CN" altLang="zh-CN" sz="2000" dirty="0">
                <a:latin typeface="微软雅黑" panose="020B0503020204020204" pitchFamily="34" charset="-122"/>
                <a:ea typeface="微软雅黑" panose="020B0503020204020204" pitchFamily="34" charset="-122"/>
              </a:rPr>
              <a:t>）该指令格式可定义</a:t>
            </a:r>
            <a:r>
              <a:rPr lang="en-US" altLang="zh-CN" sz="2000" dirty="0">
                <a:latin typeface="微软雅黑" panose="020B0503020204020204" pitchFamily="34" charset="-122"/>
                <a:ea typeface="微软雅黑" panose="020B0503020204020204" pitchFamily="34" charset="-122"/>
              </a:rPr>
              <a:t>16</a:t>
            </a:r>
            <a:r>
              <a:rPr lang="zh-CN" altLang="zh-CN" sz="2000" dirty="0">
                <a:latin typeface="微软雅黑" panose="020B0503020204020204" pitchFamily="34" charset="-122"/>
                <a:ea typeface="微软雅黑" panose="020B0503020204020204" pitchFamily="34" charset="-122"/>
              </a:rPr>
              <a:t>种不同的操作</a:t>
            </a:r>
            <a:r>
              <a:rPr lang="zh-CN" altLang="zh-CN"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smtClean="0">
                <a:latin typeface="微软雅黑" panose="020B0503020204020204" pitchFamily="34" charset="-122"/>
                <a:ea typeface="微软雅黑" panose="020B0503020204020204" pitchFamily="34" charset="-122"/>
              </a:rPr>
              <a:t>           </a:t>
            </a:r>
            <a:r>
              <a:rPr lang="zh-CN" altLang="zh-CN" sz="2000" dirty="0" smtClean="0">
                <a:latin typeface="微软雅黑" panose="020B0503020204020204" pitchFamily="34" charset="-122"/>
                <a:ea typeface="微软雅黑" panose="020B0503020204020204" pitchFamily="34" charset="-122"/>
              </a:rPr>
              <a:t>立即寻址</a:t>
            </a:r>
            <a:r>
              <a:rPr lang="zh-CN" altLang="zh-CN" sz="2000" dirty="0">
                <a:latin typeface="微软雅黑" panose="020B0503020204020204" pitchFamily="34" charset="-122"/>
                <a:ea typeface="微软雅黑" panose="020B0503020204020204" pitchFamily="34" charset="-122"/>
              </a:rPr>
              <a:t>操作数的范围是</a:t>
            </a:r>
            <a:r>
              <a:rPr lang="en-US" altLang="zh-CN" sz="2000" dirty="0">
                <a:latin typeface="微软雅黑" panose="020B0503020204020204" pitchFamily="34" charset="-122"/>
                <a:ea typeface="微软雅黑" panose="020B0503020204020204" pitchFamily="34" charset="-122"/>
              </a:rPr>
              <a:t>-128~+127</a:t>
            </a:r>
            <a:r>
              <a:rPr lang="zh-CN" altLang="zh-CN" sz="2000" dirty="0">
                <a:latin typeface="微软雅黑" panose="020B0503020204020204" pitchFamily="34" charset="-122"/>
                <a:ea typeface="微软雅黑" panose="020B0503020204020204" pitchFamily="34" charset="-122"/>
              </a:rPr>
              <a:t>。</a:t>
            </a:r>
          </a:p>
          <a:p>
            <a:r>
              <a:rPr lang="en-US" altLang="zh-CN" sz="2000" dirty="0" smtClean="0">
                <a:latin typeface="微软雅黑" panose="020B0503020204020204" pitchFamily="34" charset="-122"/>
                <a:ea typeface="微软雅黑" panose="020B0503020204020204" pitchFamily="34" charset="-122"/>
              </a:rPr>
              <a:t>    </a:t>
            </a:r>
            <a:r>
              <a:rPr lang="zh-CN" altLang="zh-CN" sz="2000" dirty="0" smtClean="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2</a:t>
            </a:r>
            <a:r>
              <a:rPr lang="zh-CN" altLang="zh-CN" sz="2000" dirty="0">
                <a:latin typeface="微软雅黑" panose="020B0503020204020204" pitchFamily="34" charset="-122"/>
                <a:ea typeface="微软雅黑" panose="020B0503020204020204" pitchFamily="34" charset="-122"/>
              </a:rPr>
              <a:t>）直接寻址</a:t>
            </a:r>
            <a:r>
              <a:rPr lang="en-US" altLang="zh-CN" sz="2000" dirty="0">
                <a:latin typeface="微软雅黑" panose="020B0503020204020204" pitchFamily="34" charset="-122"/>
                <a:ea typeface="微软雅黑" panose="020B0503020204020204" pitchFamily="34" charset="-122"/>
              </a:rPr>
              <a:t> E =D</a:t>
            </a:r>
            <a:r>
              <a:rPr lang="zh-CN" altLang="zh-CN" sz="2000" dirty="0">
                <a:latin typeface="微软雅黑" panose="020B0503020204020204" pitchFamily="34" charset="-122"/>
                <a:ea typeface="微软雅黑" panose="020B0503020204020204" pitchFamily="34" charset="-122"/>
              </a:rPr>
              <a:t>、基址寻址</a:t>
            </a:r>
            <a:r>
              <a:rPr lang="en-US" altLang="zh-CN" sz="2000" dirty="0">
                <a:latin typeface="微软雅黑" panose="020B0503020204020204" pitchFamily="34" charset="-122"/>
                <a:ea typeface="微软雅黑" panose="020B0503020204020204" pitchFamily="34" charset="-122"/>
              </a:rPr>
              <a:t>E=(</a:t>
            </a:r>
            <a:r>
              <a:rPr lang="en-US" altLang="zh-CN" sz="2000" dirty="0" err="1">
                <a:latin typeface="微软雅黑" panose="020B0503020204020204" pitchFamily="34" charset="-122"/>
                <a:ea typeface="微软雅黑" panose="020B0503020204020204" pitchFamily="34" charset="-122"/>
              </a:rPr>
              <a:t>Rb</a:t>
            </a:r>
            <a:r>
              <a:rPr lang="en-US" altLang="zh-CN" sz="2000" dirty="0">
                <a:latin typeface="微软雅黑" panose="020B0503020204020204" pitchFamily="34" charset="-122"/>
                <a:ea typeface="微软雅黑" panose="020B0503020204020204" pitchFamily="34" charset="-122"/>
              </a:rPr>
              <a:t>)+D</a:t>
            </a:r>
            <a:r>
              <a:rPr lang="zh-CN" altLang="zh-CN" sz="2000" dirty="0">
                <a:latin typeface="微软雅黑" panose="020B0503020204020204" pitchFamily="34" charset="-122"/>
                <a:ea typeface="微软雅黑" panose="020B0503020204020204" pitchFamily="34" charset="-122"/>
              </a:rPr>
              <a:t>、相对寻址</a:t>
            </a:r>
            <a:r>
              <a:rPr lang="en-US" altLang="zh-CN" sz="2000" dirty="0">
                <a:latin typeface="微软雅黑" panose="020B0503020204020204" pitchFamily="34" charset="-122"/>
                <a:ea typeface="微软雅黑" panose="020B0503020204020204" pitchFamily="34" charset="-122"/>
              </a:rPr>
              <a:t>E=(PC)+D</a:t>
            </a:r>
            <a:endParaRPr lang="zh-CN" altLang="zh-CN" sz="2000" dirty="0">
              <a:latin typeface="微软雅黑" panose="020B0503020204020204" pitchFamily="34" charset="-122"/>
              <a:ea typeface="微软雅黑" panose="020B0503020204020204" pitchFamily="34" charset="-122"/>
            </a:endParaRPr>
          </a:p>
          <a:p>
            <a:r>
              <a:rPr lang="en-US" altLang="zh-CN" sz="2000" dirty="0" smtClean="0">
                <a:latin typeface="微软雅黑" panose="020B0503020204020204" pitchFamily="34" charset="-122"/>
                <a:ea typeface="微软雅黑" panose="020B0503020204020204" pitchFamily="34" charset="-122"/>
              </a:rPr>
              <a:t>             </a:t>
            </a:r>
            <a:r>
              <a:rPr lang="zh-CN" altLang="zh-CN" sz="2000" dirty="0" smtClean="0">
                <a:latin typeface="微软雅黑" panose="020B0503020204020204" pitchFamily="34" charset="-122"/>
                <a:ea typeface="微软雅黑" panose="020B0503020204020204" pitchFamily="34" charset="-122"/>
              </a:rPr>
              <a:t>立即寻址</a:t>
            </a:r>
            <a:r>
              <a:rPr lang="en-US" altLang="zh-CN" sz="2000" dirty="0" smtClean="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E=PC</a:t>
            </a:r>
            <a:r>
              <a:rPr lang="zh-CN" altLang="zh-CN" sz="2000" dirty="0">
                <a:latin typeface="微软雅黑" panose="020B0503020204020204" pitchFamily="34" charset="-122"/>
                <a:ea typeface="微软雅黑" panose="020B0503020204020204" pitchFamily="34" charset="-122"/>
              </a:rPr>
              <a:t>、变址寻址</a:t>
            </a:r>
            <a:r>
              <a:rPr lang="en-US" altLang="zh-CN" sz="2000" dirty="0">
                <a:latin typeface="微软雅黑" panose="020B0503020204020204" pitchFamily="34" charset="-122"/>
                <a:ea typeface="微软雅黑" panose="020B0503020204020204" pitchFamily="34" charset="-122"/>
              </a:rPr>
              <a:t>E=(Rx)+D</a:t>
            </a:r>
            <a:endParaRPr lang="zh-CN" altLang="zh-CN" sz="2000" dirty="0">
              <a:latin typeface="微软雅黑" panose="020B0503020204020204" pitchFamily="34" charset="-122"/>
              <a:ea typeface="微软雅黑" panose="020B0503020204020204" pitchFamily="34" charset="-122"/>
            </a:endParaRPr>
          </a:p>
          <a:p>
            <a:r>
              <a:rPr lang="en-US" altLang="zh-CN" sz="2000" dirty="0" smtClean="0">
                <a:latin typeface="微软雅黑" panose="020B0503020204020204" pitchFamily="34" charset="-122"/>
                <a:ea typeface="微软雅黑" panose="020B0503020204020204" pitchFamily="34" charset="-122"/>
              </a:rPr>
              <a:t>    </a:t>
            </a:r>
            <a:r>
              <a:rPr lang="zh-CN" altLang="zh-CN" sz="2000" dirty="0" smtClean="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3</a:t>
            </a:r>
            <a:r>
              <a:rPr lang="zh-CN" altLang="zh-CN" sz="2000" dirty="0">
                <a:latin typeface="微软雅黑" panose="020B0503020204020204" pitchFamily="34" charset="-122"/>
                <a:ea typeface="微软雅黑" panose="020B0503020204020204" pitchFamily="34" charset="-122"/>
              </a:rPr>
              <a:t>）由于</a:t>
            </a:r>
            <a:r>
              <a:rPr lang="en-US" altLang="zh-CN" sz="2000" dirty="0">
                <a:latin typeface="微软雅黑" panose="020B0503020204020204" pitchFamily="34" charset="-122"/>
                <a:ea typeface="微软雅黑" panose="020B0503020204020204" pitchFamily="34" charset="-122"/>
              </a:rPr>
              <a:t>E=(</a:t>
            </a:r>
            <a:r>
              <a:rPr lang="en-US" altLang="zh-CN" sz="2000" dirty="0" err="1">
                <a:latin typeface="微软雅黑" panose="020B0503020204020204" pitchFamily="34" charset="-122"/>
                <a:ea typeface="微软雅黑" panose="020B0503020204020204" pitchFamily="34" charset="-122"/>
              </a:rPr>
              <a:t>Rb</a:t>
            </a:r>
            <a:r>
              <a:rPr lang="en-US" altLang="zh-CN" sz="2000" dirty="0">
                <a:latin typeface="微软雅黑" panose="020B0503020204020204" pitchFamily="34" charset="-122"/>
                <a:ea typeface="微软雅黑" panose="020B0503020204020204" pitchFamily="34" charset="-122"/>
              </a:rPr>
              <a:t>)+D</a:t>
            </a:r>
            <a:r>
              <a:rPr lang="zh-CN"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Rb</a:t>
            </a:r>
            <a:r>
              <a:rPr lang="en-US" altLang="zh-CN" sz="2000" dirty="0">
                <a:latin typeface="微软雅黑" panose="020B0503020204020204" pitchFamily="34" charset="-122"/>
                <a:ea typeface="微软雅黑" panose="020B0503020204020204" pitchFamily="34" charset="-122"/>
              </a:rPr>
              <a:t>=14</a:t>
            </a:r>
            <a:r>
              <a:rPr lang="zh-CN" altLang="zh-CN" sz="2000" dirty="0">
                <a:latin typeface="微软雅黑" panose="020B0503020204020204" pitchFamily="34" charset="-122"/>
                <a:ea typeface="微软雅黑" panose="020B0503020204020204" pitchFamily="34" charset="-122"/>
              </a:rPr>
              <a:t>位，故存储器可寻址的</a:t>
            </a:r>
            <a:r>
              <a:rPr lang="zh-CN" altLang="zh-CN" sz="2000" dirty="0" smtClean="0">
                <a:latin typeface="微软雅黑" panose="020B0503020204020204" pitchFamily="34" charset="-122"/>
                <a:ea typeface="微软雅黑" panose="020B0503020204020204" pitchFamily="34" charset="-122"/>
              </a:rPr>
              <a:t>地址</a:t>
            </a:r>
            <a:endParaRPr lang="en-US" altLang="zh-CN" sz="2000" dirty="0" smtClean="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smtClean="0">
                <a:latin typeface="微软雅黑" panose="020B0503020204020204" pitchFamily="34" charset="-122"/>
                <a:ea typeface="微软雅黑" panose="020B0503020204020204" pitchFamily="34" charset="-122"/>
              </a:rPr>
              <a:t>           </a:t>
            </a:r>
            <a:r>
              <a:rPr lang="zh-CN" altLang="zh-CN" sz="2000" dirty="0" smtClean="0">
                <a:latin typeface="微软雅黑" panose="020B0503020204020204" pitchFamily="34" charset="-122"/>
                <a:ea typeface="微软雅黑" panose="020B0503020204020204" pitchFamily="34" charset="-122"/>
              </a:rPr>
              <a:t>范围为</a:t>
            </a:r>
            <a:r>
              <a:rPr lang="en-US" altLang="zh-CN" sz="2000" dirty="0" smtClean="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2</a:t>
            </a:r>
            <a:r>
              <a:rPr lang="en-US" altLang="zh-CN" sz="2000" baseline="30000" dirty="0">
                <a:latin typeface="微软雅黑" panose="020B0503020204020204" pitchFamily="34" charset="-122"/>
                <a:ea typeface="微软雅黑" panose="020B0503020204020204" pitchFamily="34" charset="-122"/>
              </a:rPr>
              <a:t>14</a:t>
            </a:r>
            <a:r>
              <a:rPr lang="en-US" altLang="zh-CN" sz="2000" dirty="0">
                <a:latin typeface="微软雅黑" panose="020B0503020204020204" pitchFamily="34" charset="-122"/>
                <a:ea typeface="微软雅黑" panose="020B0503020204020204" pitchFamily="34" charset="-122"/>
              </a:rPr>
              <a:t>-128)~(2</a:t>
            </a:r>
            <a:r>
              <a:rPr lang="en-US" altLang="zh-CN" sz="2000" baseline="30000" dirty="0">
                <a:latin typeface="微软雅黑" panose="020B0503020204020204" pitchFamily="34" charset="-122"/>
                <a:ea typeface="微软雅黑" panose="020B0503020204020204" pitchFamily="34" charset="-122"/>
              </a:rPr>
              <a:t>14</a:t>
            </a:r>
            <a:r>
              <a:rPr lang="en-US" altLang="zh-CN" sz="2000" dirty="0">
                <a:latin typeface="微软雅黑" panose="020B0503020204020204" pitchFamily="34" charset="-122"/>
                <a:ea typeface="微软雅黑" panose="020B0503020204020204" pitchFamily="34" charset="-122"/>
              </a:rPr>
              <a:t>+127)</a:t>
            </a:r>
            <a:endParaRPr lang="zh-CN" altLang="zh-CN" sz="2000" dirty="0">
              <a:latin typeface="微软雅黑" panose="020B0503020204020204" pitchFamily="34" charset="-122"/>
              <a:ea typeface="微软雅黑" panose="020B0503020204020204" pitchFamily="34" charset="-122"/>
            </a:endParaRPr>
          </a:p>
          <a:p>
            <a:r>
              <a:rPr lang="en-US" altLang="zh-CN" sz="2000" dirty="0" smtClean="0">
                <a:latin typeface="微软雅黑" panose="020B0503020204020204" pitchFamily="34" charset="-122"/>
                <a:ea typeface="微软雅黑" panose="020B0503020204020204" pitchFamily="34" charset="-122"/>
              </a:rPr>
              <a:t>   </a:t>
            </a:r>
            <a:r>
              <a:rPr lang="zh-CN" altLang="zh-CN" sz="2000" dirty="0" smtClean="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4</a:t>
            </a:r>
            <a:r>
              <a:rPr lang="zh-CN" altLang="zh-CN" sz="2000" dirty="0">
                <a:latin typeface="微软雅黑" panose="020B0503020204020204" pitchFamily="34" charset="-122"/>
                <a:ea typeface="微软雅黑" panose="020B0503020204020204" pitchFamily="34" charset="-122"/>
              </a:rPr>
              <a:t>）间接寻址时，寻址范围为</a:t>
            </a:r>
            <a:r>
              <a:rPr lang="en-US" altLang="zh-CN" sz="2000" dirty="0">
                <a:latin typeface="微软雅黑" panose="020B0503020204020204" pitchFamily="34" charset="-122"/>
                <a:ea typeface="微软雅黑" panose="020B0503020204020204" pitchFamily="34" charset="-122"/>
              </a:rPr>
              <a:t>64K</a:t>
            </a:r>
            <a:r>
              <a:rPr lang="zh-CN" altLang="zh-CN" sz="2000" dirty="0">
                <a:latin typeface="微软雅黑" panose="020B0503020204020204" pitchFamily="34" charset="-122"/>
                <a:ea typeface="微软雅黑" panose="020B0503020204020204" pitchFamily="34" charset="-122"/>
              </a:rPr>
              <a:t>，因为此时从主存读出的数</a:t>
            </a:r>
            <a:r>
              <a:rPr lang="zh-CN" altLang="zh-CN" sz="2000" dirty="0" smtClean="0">
                <a:latin typeface="微软雅黑" panose="020B0503020204020204" pitchFamily="34" charset="-122"/>
                <a:ea typeface="微软雅黑" panose="020B0503020204020204" pitchFamily="34" charset="-122"/>
              </a:rPr>
              <a:t>作为</a:t>
            </a:r>
            <a:endParaRPr lang="en-US" altLang="zh-CN" sz="2000" dirty="0" smtClean="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smtClean="0">
                <a:latin typeface="微软雅黑" panose="020B0503020204020204" pitchFamily="34" charset="-122"/>
                <a:ea typeface="微软雅黑" panose="020B0503020204020204" pitchFamily="34" charset="-122"/>
              </a:rPr>
              <a:t>          </a:t>
            </a:r>
            <a:r>
              <a:rPr lang="zh-CN" altLang="zh-CN" sz="2000" dirty="0" smtClean="0">
                <a:latin typeface="微软雅黑" panose="020B0503020204020204" pitchFamily="34" charset="-122"/>
                <a:ea typeface="微软雅黑" panose="020B0503020204020204" pitchFamily="34" charset="-122"/>
              </a:rPr>
              <a:t>有效地址</a:t>
            </a:r>
            <a:r>
              <a:rPr lang="en-US" altLang="zh-CN" sz="2000" dirty="0">
                <a:latin typeface="微软雅黑" panose="020B0503020204020204" pitchFamily="34" charset="-122"/>
                <a:ea typeface="微软雅黑" panose="020B0503020204020204" pitchFamily="34" charset="-122"/>
              </a:rPr>
              <a:t>(16</a:t>
            </a:r>
            <a:r>
              <a:rPr lang="zh-CN" altLang="zh-CN" sz="2000" dirty="0">
                <a:latin typeface="微软雅黑" panose="020B0503020204020204" pitchFamily="34" charset="-122"/>
                <a:ea typeface="微软雅黑" panose="020B0503020204020204" pitchFamily="34" charset="-122"/>
              </a:rPr>
              <a:t>位</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985657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Lst>
  </p:timing>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2027</TotalTime>
  <Words>4322</Words>
  <Application>Microsoft Office PowerPoint</Application>
  <PresentationFormat>全屏显示(4:3)</PresentationFormat>
  <Paragraphs>414</Paragraphs>
  <Slides>51</Slides>
  <Notes>5</Notes>
  <HiddenSlides>0</HiddenSlides>
  <MMClips>0</MMClips>
  <ScaleCrop>false</ScaleCrop>
  <HeadingPairs>
    <vt:vector size="4" baseType="variant">
      <vt:variant>
        <vt:lpstr>主题</vt:lpstr>
      </vt:variant>
      <vt:variant>
        <vt:i4>1</vt:i4>
      </vt:variant>
      <vt:variant>
        <vt:lpstr>幻灯片标题</vt:lpstr>
      </vt:variant>
      <vt:variant>
        <vt:i4>51</vt:i4>
      </vt:variant>
    </vt:vector>
  </HeadingPairs>
  <TitlesOfParts>
    <vt:vector size="52" baseType="lpstr">
      <vt:lpstr>Network</vt:lpstr>
      <vt:lpstr>第四章  指令系统</vt:lpstr>
      <vt:lpstr>4.1 指令系统的发展与性能要求</vt:lpstr>
      <vt:lpstr>4.1 指令系统的发展与性能要求</vt:lpstr>
      <vt:lpstr>4.1  指令系统的发展与性能要求</vt:lpstr>
      <vt:lpstr>PowerPoint 演示文稿</vt:lpstr>
      <vt:lpstr>4.1  指令系统的发展与性能要求</vt:lpstr>
      <vt:lpstr>PowerPoint 演示文稿</vt:lpstr>
      <vt:lpstr>4.1  指令系统的发展与性能要求</vt:lpstr>
      <vt:lpstr>4.2 指令格式</vt:lpstr>
      <vt:lpstr>PowerPoint 演示文稿</vt:lpstr>
      <vt:lpstr>4.2 指令格式</vt:lpstr>
      <vt:lpstr>二、地址码</vt:lpstr>
      <vt:lpstr>二、地址码</vt:lpstr>
      <vt:lpstr>二、地址码</vt:lpstr>
      <vt:lpstr>二、地址码</vt:lpstr>
      <vt:lpstr>二、地址码</vt:lpstr>
      <vt:lpstr>二、地址码</vt:lpstr>
      <vt:lpstr>三、指令长度</vt:lpstr>
      <vt:lpstr>四、指令助记符</vt:lpstr>
      <vt:lpstr>4.3 操作数类型</vt:lpstr>
      <vt:lpstr>4.4 指令和数据的寻址方式</vt:lpstr>
      <vt:lpstr>4.4.1 指令的寻址方式</vt:lpstr>
      <vt:lpstr>4.4.2  操作数的寻址方式</vt:lpstr>
      <vt:lpstr>PowerPoint 演示文稿</vt:lpstr>
      <vt:lpstr>1、隐含寻址</vt:lpstr>
      <vt:lpstr>2、立即寻址</vt:lpstr>
      <vt:lpstr>2、立即寻址</vt:lpstr>
      <vt:lpstr>3、直接寻址</vt:lpstr>
      <vt:lpstr>3、直接寻址</vt:lpstr>
      <vt:lpstr>4、间接寻址</vt:lpstr>
      <vt:lpstr>4、间接寻址</vt:lpstr>
      <vt:lpstr>5、寄存器寻址   </vt:lpstr>
      <vt:lpstr>6、寄存器间接寻址  </vt:lpstr>
      <vt:lpstr>7、偏移寻址 - 相对寻址</vt:lpstr>
      <vt:lpstr>7、偏移寻址 - 相对寻址</vt:lpstr>
      <vt:lpstr>7、偏移寻址 - 基址寻址</vt:lpstr>
      <vt:lpstr>7、偏移寻址 - 基址寻址</vt:lpstr>
      <vt:lpstr>7、偏移寻址 - 变址寻址</vt:lpstr>
      <vt:lpstr>7、偏移寻址 - 变址寻址</vt:lpstr>
      <vt:lpstr>7、偏移寻址 - 变址寻址</vt:lpstr>
      <vt:lpstr>8、段寻址方式</vt:lpstr>
      <vt:lpstr>PowerPoint 演示文稿</vt:lpstr>
      <vt:lpstr>PowerPoint 演示文稿</vt:lpstr>
      <vt:lpstr>PowerPoint 演示文稿</vt:lpstr>
      <vt:lpstr>PowerPoint 演示文稿</vt:lpstr>
      <vt:lpstr>4.5 典型指令</vt:lpstr>
      <vt:lpstr>PowerPoint 演示文稿</vt:lpstr>
      <vt:lpstr>PowerPoint 演示文稿</vt:lpstr>
      <vt:lpstr>PowerPoint 演示文稿</vt:lpstr>
      <vt:lpstr>PowerPoint 演示文稿</vt:lpstr>
      <vt:lpstr>PowerPoint 演示文稿</vt:lpstr>
    </vt:vector>
  </TitlesOfParts>
  <Company>Ningbo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指令系统</dc:title>
  <dc:creator>杨旭东</dc:creator>
  <cp:lastModifiedBy>msi</cp:lastModifiedBy>
  <cp:revision>245</cp:revision>
  <dcterms:created xsi:type="dcterms:W3CDTF">2008-05-19T20:46:08Z</dcterms:created>
  <dcterms:modified xsi:type="dcterms:W3CDTF">2021-10-12T11:42:37Z</dcterms:modified>
</cp:coreProperties>
</file>